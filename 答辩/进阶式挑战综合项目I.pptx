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6" r:id="rId7"/>
    <p:sldId id="260" r:id="rId8"/>
    <p:sldId id="263" r:id="rId9"/>
    <p:sldId id="264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4" d="100"/>
          <a:sy n="54" d="100"/>
        </p:scale>
        <p:origin x="77" y="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22CFC-1622-EBCD-9205-B67FD8E04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进阶式挑战综合项目</a:t>
            </a:r>
            <a: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 </a:t>
            </a:r>
            <a:r>
              <a:rPr lang="zh-CN" altLang="en-US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答辩</a:t>
            </a:r>
            <a:b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2800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主机与目标机间</a:t>
            </a:r>
            <a:r>
              <a:rPr lang="en-US" altLang="zh-CN" sz="2800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UART</a:t>
            </a:r>
            <a:r>
              <a:rPr lang="zh-CN" altLang="zh-CN" sz="2800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串口通信电路设计实现</a:t>
            </a:r>
            <a:endParaRPr lang="zh-CN" altLang="en-US" sz="115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9F7D0-BADF-829B-A8A3-A1A14DEBD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5969" y="4449326"/>
            <a:ext cx="6467985" cy="1655762"/>
          </a:xfrm>
        </p:spPr>
        <p:txBody>
          <a:bodyPr/>
          <a:lstStyle/>
          <a:p>
            <a:r>
              <a:rPr lang="zh-CN" altLang="en-US" dirty="0"/>
              <a:t>主讲人：白步兆（组长）</a:t>
            </a:r>
            <a:endParaRPr lang="en-US" altLang="zh-CN" dirty="0"/>
          </a:p>
          <a:p>
            <a:r>
              <a:rPr lang="zh-CN" altLang="en-US" dirty="0"/>
              <a:t>组员：王志轩、谢羽恒、肖世昱、韦柳如、代子祥</a:t>
            </a:r>
          </a:p>
        </p:txBody>
      </p:sp>
    </p:spTree>
    <p:extLst>
      <p:ext uri="{BB962C8B-B14F-4D97-AF65-F5344CB8AC3E}">
        <p14:creationId xmlns:p14="http://schemas.microsoft.com/office/powerpoint/2010/main" val="4070491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F2E87-7D21-4EA2-BE95-2CC6295A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>
                <a:solidFill>
                  <a:srgbClr val="1A2029"/>
                </a:solidFill>
                <a:latin typeface="ui-monospace"/>
              </a:rPr>
              <a:t>需求分析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708C4D-5C24-5BB1-137E-06B44C00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00238"/>
            <a:ext cx="9905999" cy="4486275"/>
          </a:xfrm>
        </p:spPr>
        <p:txBody>
          <a:bodyPr>
            <a:normAutofit/>
          </a:bodyPr>
          <a:lstStyle/>
          <a:p>
            <a:pPr lvl="1"/>
            <a:r>
              <a:rPr lang="zh-CN" altLang="en-US" sz="3200" dirty="0">
                <a:latin typeface="ui-monospace"/>
              </a:rPr>
              <a:t>通信</a:t>
            </a:r>
            <a:endParaRPr lang="en-US" altLang="zh-CN" sz="3200" dirty="0">
              <a:latin typeface="ui-monospace"/>
            </a:endParaRP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r>
              <a:rPr lang="zh-CN" altLang="en-US" sz="2800" b="0" i="0" dirty="0">
                <a:effectLst/>
                <a:latin typeface="-apple-system"/>
              </a:rPr>
              <a:t>方式：</a:t>
            </a:r>
            <a:r>
              <a:rPr lang="en-US" altLang="zh-CN" sz="2800" b="0" i="0" dirty="0">
                <a:effectLst/>
                <a:latin typeface="-apple-system"/>
              </a:rPr>
              <a:t>UART</a:t>
            </a:r>
            <a:r>
              <a:rPr lang="zh-CN" altLang="en-US" sz="2800" b="0" i="0" dirty="0">
                <a:effectLst/>
                <a:latin typeface="-apple-system"/>
              </a:rPr>
              <a:t>串口通信。</a:t>
            </a: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r>
              <a:rPr lang="zh-CN" altLang="en-US" sz="2800" b="0" i="0" dirty="0">
                <a:effectLst/>
                <a:latin typeface="-apple-system"/>
              </a:rPr>
              <a:t>速率：</a:t>
            </a:r>
            <a:r>
              <a:rPr lang="en-US" altLang="zh-CN" sz="2800" b="0" i="0" dirty="0">
                <a:effectLst/>
                <a:latin typeface="-apple-system"/>
              </a:rPr>
              <a:t>9600bps/19200bps</a:t>
            </a:r>
            <a:r>
              <a:rPr lang="zh-CN" altLang="en-US" sz="2800" b="0" i="0" dirty="0">
                <a:effectLst/>
                <a:latin typeface="-apple-system"/>
              </a:rPr>
              <a:t>等。</a:t>
            </a: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r>
              <a:rPr lang="zh-CN" altLang="en-US" sz="2800" b="0" i="0" dirty="0">
                <a:effectLst/>
                <a:latin typeface="-apple-system"/>
              </a:rPr>
              <a:t>格式：含起始位、数据位、可选校验位和停止位。</a:t>
            </a:r>
            <a:endParaRPr lang="en-US" altLang="zh-CN" sz="3200" dirty="0">
              <a:latin typeface="ui-monospace"/>
            </a:endParaRPr>
          </a:p>
          <a:p>
            <a:pPr lvl="1"/>
            <a:r>
              <a:rPr lang="zh-CN" altLang="en-US" sz="3200" b="0" i="0" dirty="0">
                <a:effectLst/>
                <a:latin typeface="ui-monospace"/>
              </a:rPr>
              <a:t>功能</a:t>
            </a:r>
            <a:endParaRPr lang="en-US" altLang="zh-CN" sz="3200" b="0" i="0" dirty="0">
              <a:effectLst/>
              <a:latin typeface="ui-monospace"/>
            </a:endParaRP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r>
              <a:rPr lang="zh-CN" altLang="en-US" sz="2800" b="0" i="0" dirty="0">
                <a:effectLst/>
                <a:latin typeface="-apple-system"/>
              </a:rPr>
              <a:t>发送与接收：主机发数据，目标机接收处理。</a:t>
            </a: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r>
              <a:rPr lang="zh-CN" altLang="en-US" sz="2800" b="0" i="0" dirty="0">
                <a:effectLst/>
                <a:latin typeface="-apple-system"/>
              </a:rPr>
              <a:t>错误处理：检测并处理通信错误。</a:t>
            </a: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r>
              <a:rPr lang="zh-CN" altLang="en-US" sz="2800" b="0" i="0" dirty="0">
                <a:effectLst/>
                <a:latin typeface="-apple-system"/>
              </a:rPr>
              <a:t>稳定性：保证通信稳定可靠。</a:t>
            </a:r>
          </a:p>
        </p:txBody>
      </p:sp>
    </p:spTree>
    <p:extLst>
      <p:ext uri="{BB962C8B-B14F-4D97-AF65-F5344CB8AC3E}">
        <p14:creationId xmlns:p14="http://schemas.microsoft.com/office/powerpoint/2010/main" val="105513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2604EE3-F08A-9D3B-AA55-5AF51EF441BC}"/>
              </a:ext>
            </a:extLst>
          </p:cNvPr>
          <p:cNvSpPr txBox="1">
            <a:spLocks/>
          </p:cNvSpPr>
          <p:nvPr/>
        </p:nvSpPr>
        <p:spPr>
          <a:xfrm>
            <a:off x="1143000" y="1157288"/>
            <a:ext cx="9905999" cy="4629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3200" dirty="0">
                <a:latin typeface="ui-monospace"/>
              </a:rPr>
              <a:t>性能</a:t>
            </a:r>
            <a:endParaRPr lang="en-US" altLang="zh-CN" sz="3200" dirty="0">
              <a:latin typeface="ui-monospace"/>
            </a:endParaRP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r>
              <a:rPr lang="zh-CN" altLang="en-US" sz="2800" b="0" i="0" dirty="0">
                <a:effectLst/>
                <a:latin typeface="-apple-system"/>
              </a:rPr>
              <a:t>距离：适应短或长距离通信。</a:t>
            </a: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r>
              <a:rPr lang="zh-CN" altLang="en-US" sz="2800" b="0" i="0" dirty="0">
                <a:effectLst/>
                <a:latin typeface="-apple-system"/>
              </a:rPr>
              <a:t>功耗：低功耗设计。</a:t>
            </a: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r>
              <a:rPr lang="zh-CN" altLang="en-US" sz="2800" b="0" i="0" dirty="0">
                <a:effectLst/>
                <a:latin typeface="-apple-system"/>
              </a:rPr>
              <a:t>环境：适应不同温湿度。</a:t>
            </a:r>
            <a:endParaRPr lang="en-US" altLang="zh-CN" sz="2800" b="0" i="0" dirty="0">
              <a:effectLst/>
              <a:latin typeface="-apple-system"/>
            </a:endParaRPr>
          </a:p>
          <a:p>
            <a:pPr lvl="2" fontAlgn="base">
              <a:lnSpc>
                <a:spcPts val="2025"/>
              </a:lnSpc>
              <a:spcAft>
                <a:spcPts val="1200"/>
              </a:spcAft>
            </a:pPr>
            <a:endParaRPr lang="zh-CN" altLang="en-US" sz="2800" b="0" i="0" dirty="0">
              <a:effectLst/>
              <a:latin typeface="-apple-system"/>
            </a:endParaRPr>
          </a:p>
          <a:p>
            <a:pPr lvl="1"/>
            <a:r>
              <a:rPr lang="zh-CN" altLang="en-US" sz="3200" dirty="0">
                <a:latin typeface="ui-monospace"/>
              </a:rPr>
              <a:t>系统架构</a:t>
            </a:r>
            <a:endParaRPr lang="en-US" altLang="zh-CN" sz="3200" dirty="0">
              <a:latin typeface="ui-monospace"/>
            </a:endParaRPr>
          </a:p>
          <a:p>
            <a:pPr lvl="2" fontAlgn="base">
              <a:lnSpc>
                <a:spcPts val="2025"/>
              </a:lnSpc>
            </a:pPr>
            <a:r>
              <a:rPr lang="zh-CN" altLang="en-US" sz="2800" b="0" i="0" dirty="0">
                <a:effectLst/>
                <a:latin typeface="-apple-system"/>
              </a:rPr>
              <a:t>硬件：处理器、存储、通信接口等。</a:t>
            </a:r>
            <a:endParaRPr lang="en-US" altLang="zh-CN" sz="2800" b="0" i="0" dirty="0">
              <a:effectLst/>
              <a:latin typeface="-apple-system"/>
            </a:endParaRPr>
          </a:p>
          <a:p>
            <a:pPr lvl="2" fontAlgn="base">
              <a:lnSpc>
                <a:spcPts val="2025"/>
              </a:lnSpc>
            </a:pPr>
            <a:endParaRPr lang="zh-CN" altLang="en-US" sz="2800" b="0" i="0" dirty="0">
              <a:effectLst/>
              <a:latin typeface="-apple-system"/>
            </a:endParaRPr>
          </a:p>
          <a:p>
            <a:pPr lvl="2" fontAlgn="base">
              <a:lnSpc>
                <a:spcPts val="2025"/>
              </a:lnSpc>
            </a:pPr>
            <a:r>
              <a:rPr lang="zh-CN" altLang="en-US" sz="2800" b="0" i="0" dirty="0">
                <a:effectLst/>
                <a:latin typeface="-apple-system"/>
              </a:rPr>
              <a:t>软件：驱动、协议栈、应用等。</a:t>
            </a:r>
          </a:p>
          <a:p>
            <a:pPr lvl="2"/>
            <a:endParaRPr lang="en-US" altLang="zh-CN" sz="2200" dirty="0">
              <a:latin typeface="ui-monospace"/>
            </a:endParaRPr>
          </a:p>
        </p:txBody>
      </p:sp>
    </p:spTree>
    <p:extLst>
      <p:ext uri="{BB962C8B-B14F-4D97-AF65-F5344CB8AC3E}">
        <p14:creationId xmlns:p14="http://schemas.microsoft.com/office/powerpoint/2010/main" val="243684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61DA2A-BAC9-6FA3-7D1A-3D923315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71" y="665046"/>
            <a:ext cx="9905998" cy="1478570"/>
          </a:xfrm>
        </p:spPr>
        <p:txBody>
          <a:bodyPr/>
          <a:lstStyle/>
          <a:p>
            <a:r>
              <a:rPr lang="zh-CN" altLang="en-US" sz="4400" dirty="0">
                <a:solidFill>
                  <a:srgbClr val="1A2029"/>
                </a:solidFill>
                <a:latin typeface="ui-monospace"/>
              </a:rPr>
              <a:t>复杂工程问题归纳</a:t>
            </a:r>
            <a:r>
              <a:rPr lang="zh-CN" altLang="en-US" sz="4400" b="0" i="0" dirty="0">
                <a:solidFill>
                  <a:srgbClr val="1A2029"/>
                </a:solidFill>
                <a:effectLst/>
                <a:latin typeface="ui-monospace"/>
              </a:rPr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ED08F4-A256-CED5-A225-754F7357F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40" y="1685925"/>
            <a:ext cx="4116387" cy="4208465"/>
          </a:xfrm>
        </p:spPr>
        <p:txBody>
          <a:bodyPr>
            <a:normAutofit fontScale="92500" lnSpcReduction="10000"/>
          </a:bodyPr>
          <a:lstStyle/>
          <a:p>
            <a:r>
              <a:rPr lang="zh-CN" altLang="zh-CN" sz="32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信号完整性问题</a:t>
            </a:r>
            <a:endParaRPr lang="en-US" altLang="zh-CN" sz="32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spcBef>
                <a:spcPts val="300"/>
              </a:spcBef>
            </a:pP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差分信号传输</a:t>
            </a:r>
            <a:r>
              <a:rPr lang="zh-CN" altLang="en-US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spcBef>
                <a:spcPts val="300"/>
              </a:spcBef>
            </a:pP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阻抗匹配</a:t>
            </a:r>
            <a:r>
              <a:rPr lang="zh-CN" altLang="en-US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spcBef>
                <a:spcPts val="300"/>
              </a:spcBef>
            </a:pPr>
            <a:r>
              <a:rPr lang="zh-CN" altLang="zh-CN" sz="2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信号缓冲与放大</a:t>
            </a:r>
            <a:endParaRPr lang="en-US" altLang="zh-CN" sz="28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32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电磁干扰问题</a:t>
            </a:r>
            <a:endParaRPr lang="en-US" altLang="zh-CN" sz="32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电磁屏蔽</a:t>
            </a:r>
            <a:endParaRPr lang="en-US" altLang="zh-CN" sz="28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滤波与去耦</a:t>
            </a:r>
            <a:endParaRPr lang="en-US" altLang="zh-CN" sz="28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布局与布线优化</a:t>
            </a:r>
            <a:endParaRPr lang="zh-CN" altLang="en-US" sz="44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C1FEF57-4937-32AB-6A53-0C1CB148C3A4}"/>
              </a:ext>
            </a:extLst>
          </p:cNvPr>
          <p:cNvSpPr txBox="1">
            <a:spLocks/>
          </p:cNvSpPr>
          <p:nvPr/>
        </p:nvSpPr>
        <p:spPr>
          <a:xfrm>
            <a:off x="3897311" y="1570223"/>
            <a:ext cx="5564188" cy="4490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32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电源稳定性问题</a:t>
            </a:r>
            <a:endParaRPr lang="en-US" altLang="zh-CN" sz="32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sz="2800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稳压电源；</a:t>
            </a:r>
            <a:endParaRPr lang="en-US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spcBef>
                <a:spcPts val="300"/>
              </a:spcBef>
            </a:pPr>
            <a:r>
              <a:rPr lang="zh-CN" altLang="en-US" sz="2800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电源滤波；</a:t>
            </a:r>
            <a:endParaRPr lang="en-US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spcBef>
                <a:spcPts val="300"/>
              </a:spcBef>
            </a:pPr>
            <a:r>
              <a:rPr lang="zh-CN" altLang="en-US" sz="2800" kern="100" dirty="0">
                <a:ea typeface="宋体" panose="02010600030101010101" pitchFamily="2" charset="-122"/>
                <a:cs typeface="宋体" panose="02010600030101010101" pitchFamily="2" charset="-122"/>
              </a:rPr>
              <a:t>电源监控与保护</a:t>
            </a:r>
            <a:endParaRPr lang="en-US" altLang="zh-CN" sz="28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32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通信协议与数据格式问题</a:t>
            </a:r>
            <a:endParaRPr lang="en-US" altLang="zh-CN" sz="44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统一通信协议</a:t>
            </a:r>
            <a:endParaRPr lang="en-US" altLang="zh-CN" sz="28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协议转换与适配</a:t>
            </a:r>
            <a:endParaRPr lang="zh-CN" altLang="en-US" sz="54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98B403B-5EC2-07B9-98F4-8834FFBA557F}"/>
              </a:ext>
            </a:extLst>
          </p:cNvPr>
          <p:cNvSpPr txBox="1">
            <a:spLocks/>
          </p:cNvSpPr>
          <p:nvPr/>
        </p:nvSpPr>
        <p:spPr>
          <a:xfrm>
            <a:off x="8321676" y="1570223"/>
            <a:ext cx="4116387" cy="360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800" kern="100" dirty="0">
                <a:ea typeface="宋体" panose="02010600030101010101" pitchFamily="2" charset="-122"/>
                <a:cs typeface="宋体" panose="02010600030101010101" pitchFamily="2" charset="-122"/>
              </a:rPr>
              <a:t>硬件与软件协同设计问</a:t>
            </a:r>
            <a:r>
              <a:rPr lang="zh-CN" altLang="en-US" sz="2800" kern="100" dirty="0">
                <a:ea typeface="宋体" panose="02010600030101010101" pitchFamily="2" charset="-122"/>
                <a:cs typeface="宋体" panose="02010600030101010101" pitchFamily="2" charset="-122"/>
              </a:rPr>
              <a:t>题</a:t>
            </a:r>
            <a:endParaRPr lang="en-US" altLang="zh-CN" sz="28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400" kern="100" dirty="0">
                <a:ea typeface="宋体" panose="02010600030101010101" pitchFamily="2" charset="-122"/>
                <a:cs typeface="宋体" panose="02010600030101010101" pitchFamily="2" charset="-122"/>
              </a:rPr>
              <a:t>硬件与软件协同设计</a:t>
            </a:r>
            <a:r>
              <a:rPr lang="zh-CN" altLang="en-US" sz="3200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3200" kern="100" dirty="0"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spcBef>
                <a:spcPts val="300"/>
              </a:spcBef>
            </a:pPr>
            <a:r>
              <a:rPr lang="zh-CN" altLang="zh-CN" sz="2400" kern="100" dirty="0">
                <a:ea typeface="宋体" panose="02010600030101010101" pitchFamily="2" charset="-122"/>
                <a:cs typeface="宋体" panose="02010600030101010101" pitchFamily="2" charset="-122"/>
              </a:rPr>
              <a:t>模块化设计</a:t>
            </a:r>
            <a:endParaRPr lang="en-US" altLang="zh-CN" sz="24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spcBef>
                <a:spcPts val="300"/>
              </a:spcBef>
            </a:pPr>
            <a:r>
              <a:rPr lang="zh-CN" altLang="zh-CN" sz="2400" kern="100" dirty="0">
                <a:ea typeface="宋体" panose="02010600030101010101" pitchFamily="2" charset="-122"/>
                <a:cs typeface="宋体" panose="02010600030101010101" pitchFamily="2" charset="-122"/>
              </a:rPr>
              <a:t>测试与验证</a:t>
            </a:r>
            <a:endParaRPr lang="zh-CN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038487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58085-396D-39BE-D1C8-595B3EC9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6" y="442912"/>
            <a:ext cx="9905998" cy="1478570"/>
          </a:xfrm>
        </p:spPr>
        <p:txBody>
          <a:bodyPr>
            <a:normAutofit/>
          </a:bodyPr>
          <a:lstStyle/>
          <a:p>
            <a:r>
              <a:rPr lang="zh-CN" altLang="en-US" sz="4400" b="0" i="0" dirty="0">
                <a:solidFill>
                  <a:srgbClr val="1A2029"/>
                </a:solidFill>
                <a:effectLst/>
                <a:latin typeface="ui-monospace"/>
              </a:rPr>
              <a:t>实施方案（</a:t>
            </a:r>
            <a:r>
              <a:rPr lang="en-US" altLang="zh-CN" sz="4400" b="0" i="0" dirty="0">
                <a:effectLst/>
                <a:latin typeface="ui-monospace"/>
              </a:rPr>
              <a:t>UART</a:t>
            </a:r>
            <a:r>
              <a:rPr lang="zh-CN" altLang="en-US" sz="4400" b="0" i="0" dirty="0">
                <a:effectLst/>
                <a:latin typeface="ui-monospace"/>
              </a:rPr>
              <a:t>串口通信方案</a:t>
            </a:r>
            <a:r>
              <a:rPr lang="zh-CN" altLang="en-US" sz="4400" b="0" i="0" dirty="0">
                <a:solidFill>
                  <a:srgbClr val="1A2029"/>
                </a:solidFill>
                <a:effectLst/>
                <a:latin typeface="ui-monospace"/>
              </a:rPr>
              <a:t>）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075A2F-7593-ACBE-9FE2-8AD03BAA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28774"/>
            <a:ext cx="9905999" cy="4786313"/>
          </a:xfrm>
        </p:spPr>
        <p:txBody>
          <a:bodyPr>
            <a:normAutofit lnSpcReduction="10000"/>
          </a:bodyPr>
          <a:lstStyle/>
          <a:p>
            <a:r>
              <a:rPr lang="zh-CN" altLang="en-US" sz="2800" b="0" i="0" dirty="0">
                <a:solidFill>
                  <a:srgbClr val="1A2029"/>
                </a:solidFill>
                <a:effectLst/>
                <a:latin typeface="ui-monospace"/>
              </a:rPr>
              <a:t>硬件选择与驱动程序</a:t>
            </a:r>
            <a:endParaRPr lang="en-US" altLang="zh-CN" sz="2800" b="0" i="0" dirty="0">
              <a:solidFill>
                <a:srgbClr val="1A2029"/>
              </a:solidFill>
              <a:effectLst/>
              <a:latin typeface="ui-monospace"/>
            </a:endParaRPr>
          </a:p>
          <a:p>
            <a:pPr lvl="1"/>
            <a:r>
              <a:rPr lang="en-US" altLang="zh-CN" sz="2400" b="1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芯片</a:t>
            </a:r>
            <a:endParaRPr lang="en-US" altLang="zh-CN" sz="24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4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驱动程序应能够初始化</a:t>
            </a:r>
            <a:r>
              <a:rPr lang="en-US" altLang="zh-CN" sz="24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sz="24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芯片、配置通信参数（如波特率、数据位、停止位、校验位等）、发送和接收数据等</a:t>
            </a:r>
            <a:endParaRPr lang="en-US" altLang="zh-CN" sz="2800" b="0" i="0" dirty="0">
              <a:solidFill>
                <a:srgbClr val="1A2029"/>
              </a:solidFill>
              <a:effectLst/>
              <a:latin typeface="ui-monospace"/>
            </a:endParaRPr>
          </a:p>
          <a:p>
            <a:r>
              <a:rPr lang="zh-CN" altLang="en-US" sz="2800" b="0" i="0" dirty="0">
                <a:solidFill>
                  <a:srgbClr val="1A2029"/>
                </a:solidFill>
                <a:effectLst/>
                <a:latin typeface="ui-monospace"/>
              </a:rPr>
              <a:t>通信协议开发 </a:t>
            </a:r>
            <a:endParaRPr lang="en-US" altLang="zh-CN" sz="2800" b="0" i="0" dirty="0">
              <a:solidFill>
                <a:srgbClr val="1A2029"/>
              </a:solidFill>
              <a:effectLst/>
              <a:latin typeface="ui-monospace"/>
            </a:endParaRPr>
          </a:p>
          <a:p>
            <a:pPr lvl="1"/>
            <a:r>
              <a:rPr lang="zh-CN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制定主机与目标机之间的通信协议。明确数据帧的结构、指令格式、通信状态、通信控制等内容。确保双方能够正确解析和执行命令。</a:t>
            </a:r>
            <a:endParaRPr lang="en-US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rgbClr val="1A2029"/>
                </a:solidFill>
                <a:latin typeface="ui-monospace"/>
              </a:rPr>
              <a:t>应用</a:t>
            </a:r>
            <a:r>
              <a:rPr lang="zh-CN" altLang="en-US" sz="2800" b="0" i="0" dirty="0">
                <a:solidFill>
                  <a:srgbClr val="1A2029"/>
                </a:solidFill>
                <a:effectLst/>
                <a:latin typeface="ui-monospace"/>
              </a:rPr>
              <a:t>程序</a:t>
            </a:r>
            <a:endParaRPr lang="en-US" altLang="zh-CN" sz="2800" b="0" i="0" dirty="0">
              <a:solidFill>
                <a:srgbClr val="1A2029"/>
              </a:solidFill>
              <a:effectLst/>
              <a:latin typeface="ui-monospace"/>
            </a:endParaRPr>
          </a:p>
          <a:p>
            <a:pPr lvl="1"/>
            <a:r>
              <a:rPr lang="zh-CN" altLang="zh-CN" sz="2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应用程序应能够调用驱动程序进行数据的发送和接收，并实现相应的数据处理和逻辑控制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zh-CN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zh-CN" altLang="zh-CN" sz="2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solidFill>
                <a:srgbClr val="1A2029"/>
              </a:solidFill>
              <a:latin typeface="ui-monospace"/>
            </a:endParaRPr>
          </a:p>
        </p:txBody>
      </p:sp>
    </p:spTree>
    <p:extLst>
      <p:ext uri="{BB962C8B-B14F-4D97-AF65-F5344CB8AC3E}">
        <p14:creationId xmlns:p14="http://schemas.microsoft.com/office/powerpoint/2010/main" val="4205513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0FE1-DDC5-BE0C-E4A2-E1812504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可行性研究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CE33B7-FEC6-689D-7482-7B5EF4CD1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技术可行性</a:t>
            </a:r>
            <a:endParaRPr lang="en-US" altLang="zh-CN" sz="3200" dirty="0">
              <a:solidFill>
                <a:schemeClr val="bg1"/>
              </a:solidFill>
            </a:endParaRPr>
          </a:p>
          <a:p>
            <a:pPr lvl="1"/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技术是一种成熟且广泛应用的异步串行通信技术。具有简单、可靠、成本低等优点。</a:t>
            </a:r>
            <a:endParaRPr lang="zh-CN" altLang="zh-CN" sz="2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4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电路设计</a:t>
            </a:r>
            <a:r>
              <a:rPr lang="zh-CN" altLang="en-US" sz="2400" kern="100" dirty="0">
                <a:ea typeface="宋体" panose="02010600030101010101" pitchFamily="2" charset="-122"/>
                <a:cs typeface="宋体" panose="02010600030101010101" pitchFamily="2" charset="-122"/>
              </a:rPr>
              <a:t>以及</a:t>
            </a:r>
            <a:r>
              <a:rPr lang="zh-CN" altLang="zh-CN" sz="24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驱动程序和应用程序的编写相对简单</a:t>
            </a:r>
            <a:endParaRPr lang="en-US" altLang="zh-CN" sz="24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3200" kern="100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经济</a:t>
            </a:r>
            <a:r>
              <a:rPr lang="zh-CN" altLang="en-US" sz="3200" kern="100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与社会环境</a:t>
            </a:r>
            <a:r>
              <a:rPr lang="zh-CN" altLang="zh-CN" sz="3200" kern="100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可行性</a:t>
            </a:r>
            <a:endParaRPr lang="en-US" altLang="zh-CN" sz="3200" kern="100" dirty="0">
              <a:solidFill>
                <a:schemeClr val="bg1"/>
              </a:solidFill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sz="2200" kern="1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sz="22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芯片和模块的价格相对较低</a:t>
            </a:r>
            <a:endParaRPr lang="en-US" altLang="zh-CN" sz="2200" kern="100" dirty="0">
              <a:solidFill>
                <a:schemeClr val="bg1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2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电路设计和实现不需要复杂的工艺和设备</a:t>
            </a:r>
            <a:endParaRPr lang="en-US" altLang="zh-CN" sz="2200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sz="22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sz="2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串口通信在嵌入式系统、工业自动化等领域具有广泛的应用需求。</a:t>
            </a:r>
            <a:endParaRPr lang="zh-CN" altLang="zh-CN" sz="22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zh-CN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00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A0EF-5884-15B4-DA50-DB118B2D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b="0" i="0" dirty="0">
                <a:solidFill>
                  <a:srgbClr val="1A2029"/>
                </a:solidFill>
                <a:effectLst/>
                <a:latin typeface="ui-monospace"/>
              </a:rPr>
              <a:t>执行情况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D07BA-FFE6-F20D-8EF9-F1EC7CA40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按计划完成电路搭建 </a:t>
            </a:r>
            <a:endParaRPr lang="en-US" altLang="zh-CN" dirty="0">
              <a:solidFill>
                <a:srgbClr val="1A2029"/>
              </a:solidFill>
              <a:latin typeface="ui-monospace"/>
            </a:endParaRPr>
          </a:p>
          <a:p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 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软件编程与调试 </a:t>
            </a:r>
            <a:endParaRPr lang="en-US" altLang="zh-CN" dirty="0">
              <a:solidFill>
                <a:srgbClr val="1A2029"/>
              </a:solidFill>
              <a:latin typeface="ui-monospace"/>
            </a:endParaRPr>
          </a:p>
          <a:p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 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性能优化与测试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7176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e26fabdc3634f6f3e1be45d322274fa">
            <a:extLst>
              <a:ext uri="{FF2B5EF4-FFF2-40B4-BE49-F238E27FC236}">
                <a16:creationId xmlns:a16="http://schemas.microsoft.com/office/drawing/2014/main" id="{E9DA1205-1938-D4A3-AA13-6AD745809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938" y="1428749"/>
            <a:ext cx="9896124" cy="400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11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3CA9A61-B656-DD9B-7E5C-0528E75BC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597" y="857170"/>
            <a:ext cx="9036805" cy="5557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1897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46A14-CE3D-E2D1-9200-6DB3EDEC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b="0" i="0" dirty="0">
                <a:solidFill>
                  <a:srgbClr val="1A2029"/>
                </a:solidFill>
                <a:effectLst/>
                <a:latin typeface="ui-monospace"/>
              </a:rPr>
              <a:t>团队分工协作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E939E-DAE3-8364-B8A8-6A35A239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765551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3200" b="0" i="0" dirty="0">
                <a:solidFill>
                  <a:srgbClr val="1A2029"/>
                </a:solidFill>
                <a:effectLst/>
                <a:latin typeface="ui-monospace"/>
              </a:rPr>
              <a:t>职责明确 </a:t>
            </a:r>
            <a:endParaRPr lang="en-US" altLang="zh-CN" sz="3200" b="0" i="0" dirty="0">
              <a:solidFill>
                <a:srgbClr val="1A2029"/>
              </a:solidFill>
              <a:effectLst/>
              <a:latin typeface="ui-monospace"/>
            </a:endParaRPr>
          </a:p>
          <a:p>
            <a:pPr lvl="1"/>
            <a:r>
              <a:rPr lang="zh-CN" altLang="zh-CN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负责人</a:t>
            </a:r>
            <a:r>
              <a:rPr lang="zh-CN" altLang="en-US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白步兆</a:t>
            </a:r>
            <a:r>
              <a:rPr lang="zh-CN" altLang="en-US" sz="2600" b="1" dirty="0"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zh-CN" altLang="zh-CN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项目规划</a:t>
            </a:r>
            <a:r>
              <a:rPr lang="zh-CN" altLang="en-US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团队协调</a:t>
            </a:r>
            <a:r>
              <a:rPr lang="zh-CN" altLang="en-US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资源管理</a:t>
            </a:r>
            <a:r>
              <a:rPr lang="zh-CN" altLang="en-US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质量把控</a:t>
            </a:r>
            <a:endParaRPr lang="en-US" altLang="zh-CN" sz="2600" b="1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600" b="1" dirty="0">
                <a:ea typeface="宋体" panose="02010600030101010101" pitchFamily="2" charset="-122"/>
                <a:cs typeface="Times New Roman" panose="02020603050405020304" pitchFamily="18" charset="0"/>
              </a:rPr>
              <a:t>开发组（</a:t>
            </a:r>
            <a:r>
              <a:rPr lang="zh-CN" altLang="zh-CN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王志轩，韦柳如，代子祥</a:t>
            </a:r>
            <a:r>
              <a:rPr lang="zh-CN" altLang="en-US" sz="2600" b="1" dirty="0">
                <a:ea typeface="宋体" panose="02010600030101010101" pitchFamily="2" charset="-122"/>
                <a:cs typeface="Times New Roman" panose="02020603050405020304" pitchFamily="18" charset="0"/>
              </a:rPr>
              <a:t>）：系统设计、模块开发、仿真验证、硬件部署</a:t>
            </a:r>
            <a:endParaRPr lang="en-US" altLang="zh-CN" sz="26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测试组</a:t>
            </a:r>
            <a:r>
              <a:rPr lang="zh-CN" altLang="en-US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谢羽恒，肖世昱</a:t>
            </a:r>
            <a:r>
              <a:rPr lang="zh-CN" altLang="en-US" sz="2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）：功能验证、仿真测试、硬件测试、性能评估</a:t>
            </a:r>
            <a:endParaRPr lang="en-US" altLang="zh-CN" sz="2600" b="1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200" b="0" i="0" dirty="0">
                <a:solidFill>
                  <a:srgbClr val="1A2029"/>
                </a:solidFill>
                <a:effectLst/>
                <a:latin typeface="ui-monospace"/>
              </a:rPr>
              <a:t>有效沟通 </a:t>
            </a:r>
            <a:endParaRPr lang="en-US" altLang="zh-CN" sz="3200" dirty="0">
              <a:solidFill>
                <a:srgbClr val="1A2029"/>
              </a:solidFill>
              <a:latin typeface="ui-monospace"/>
            </a:endParaRPr>
          </a:p>
          <a:p>
            <a:r>
              <a:rPr lang="zh-CN" altLang="en-US" sz="3200" b="0" i="0" dirty="0">
                <a:solidFill>
                  <a:srgbClr val="1A2029"/>
                </a:solidFill>
                <a:effectLst/>
                <a:latin typeface="ui-monospace"/>
              </a:rPr>
              <a:t>协作实施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8716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9AE88-08B4-C122-9A35-A957AC9C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b="0" i="0" dirty="0">
                <a:solidFill>
                  <a:srgbClr val="1A2029"/>
                </a:solidFill>
                <a:effectLst/>
                <a:latin typeface="ui-monospace"/>
              </a:rPr>
              <a:t>最终成果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213249-7DC4-FE2A-380E-F18D9BA07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通信电路稳定运行 </a:t>
            </a:r>
            <a:endParaRPr lang="en-US" altLang="zh-CN" dirty="0">
              <a:solidFill>
                <a:srgbClr val="1A2029"/>
              </a:solidFill>
              <a:latin typeface="ui-monospace"/>
            </a:endParaRPr>
          </a:p>
          <a:p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 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满足项目需求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02587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TM04033919[[fn=电路]]</Template>
  <TotalTime>52</TotalTime>
  <Words>478</Words>
  <Application>Microsoft Office PowerPoint</Application>
  <PresentationFormat>宽屏</PresentationFormat>
  <Paragraphs>71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-apple-system</vt:lpstr>
      <vt:lpstr>ui-monospace</vt:lpstr>
      <vt:lpstr>宋体</vt:lpstr>
      <vt:lpstr>Arial</vt:lpstr>
      <vt:lpstr>Calibri</vt:lpstr>
      <vt:lpstr>Times</vt:lpstr>
      <vt:lpstr>Tw Cen MT</vt:lpstr>
      <vt:lpstr>电路</vt:lpstr>
      <vt:lpstr>  进阶式挑战综合项目I  答辩         主机与目标机间UART串口通信电路设计实现</vt:lpstr>
      <vt:lpstr>需求分析</vt:lpstr>
      <vt:lpstr>PowerPoint 演示文稿</vt:lpstr>
      <vt:lpstr>复杂工程问题归纳  </vt:lpstr>
      <vt:lpstr>实施方案（UART串口通信方案）</vt:lpstr>
      <vt:lpstr>可行性研究</vt:lpstr>
      <vt:lpstr>执行情况</vt:lpstr>
      <vt:lpstr>PowerPoint 演示文稿</vt:lpstr>
      <vt:lpstr>PowerPoint 演示文稿</vt:lpstr>
      <vt:lpstr>团队分工协作</vt:lpstr>
      <vt:lpstr>最终成果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柳如 韦</dc:creator>
  <cp:lastModifiedBy>柳如 韦</cp:lastModifiedBy>
  <cp:revision>2</cp:revision>
  <dcterms:created xsi:type="dcterms:W3CDTF">2025-01-08T05:17:22Z</dcterms:created>
  <dcterms:modified xsi:type="dcterms:W3CDTF">2025-01-08T06:09:27Z</dcterms:modified>
</cp:coreProperties>
</file>