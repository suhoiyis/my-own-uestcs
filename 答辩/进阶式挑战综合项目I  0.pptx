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3849" r:id="rId6"/>
    <p:sldId id="3860" r:id="rId7"/>
    <p:sldId id="3844" r:id="rId8"/>
    <p:sldId id="3854" r:id="rId9"/>
    <p:sldId id="3852" r:id="rId10"/>
    <p:sldId id="3850" r:id="rId11"/>
    <p:sldId id="3851" r:id="rId12"/>
    <p:sldId id="3861" r:id="rId13"/>
    <p:sldId id="3857" r:id="rId14"/>
    <p:sldId id="3862" r:id="rId15"/>
    <p:sldId id="3858" r:id="rId16"/>
    <p:sldId id="3859" r:id="rId17"/>
    <p:sldId id="3856" r:id="rId18"/>
    <p:sldId id="3847" r:id="rId19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94" autoAdjust="0"/>
  </p:normalViewPr>
  <p:slideViewPr>
    <p:cSldViewPr snapToGrid="0">
      <p:cViewPr varScale="1">
        <p:scale>
          <a:sx n="100" d="100"/>
          <a:sy n="100" d="100"/>
        </p:scale>
        <p:origin x="86" y="82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882" y="13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A33343B1-0600-41B7-901E-2759A7EB743B}" type="datetime1">
              <a:rPr lang="zh-CN" altLang="en-US" smtClean="0"/>
              <a:t>2025/1/8</a:t>
            </a:fld>
            <a:endParaRPr 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EF757874-EF65-4B61-B062-40C932C81294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8387769B-70AD-43B4-BE07-FAFF1DE13133}" type="datetime1">
              <a:rPr lang="zh-CN" altLang="en-US" smtClean="0"/>
              <a:t>2025/1/8</a:t>
            </a:fld>
            <a:endParaRPr lang="zh-CN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zh-CN"/>
            </a:defPPr>
          </a:lstStyle>
          <a:p>
            <a:pPr lvl="0" rtl="0"/>
            <a:r>
              <a:rPr lang="zh-CN" dirty="0"/>
              <a:t>单击此处编辑母版文本样式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8B57D50D-BAA9-464B-B391-243138E078D8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zh-CN" smtClean="0"/>
              <a:t>1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38822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zh-CN" smtClean="0"/>
              <a:t>2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951919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FC256-2575-A820-E476-344BA41A6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7505F6-04C9-CDFC-6E4F-104A7EF69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317C3B-A53A-1393-0551-C7110FB17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719F9C29-D3E5-0862-E3B5-1ED3B032DA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3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373826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4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507562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1D277-9184-1248-EB76-032CE17DE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A6FE87-6FAB-AB01-CB4B-6E395E354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EF3867-BBE1-7446-2667-8C5B1CBDC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7D6170CD-697D-C9F4-B65A-F876B1DFD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5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227046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3E759-DE36-A7AA-20CD-2404878EC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AC58F4-4A6B-9784-07C2-396B5D776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8205D6-10E3-57F7-58EF-519D987BD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C8DEEF5F-E4DF-A959-8886-ADDF3EC12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6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576550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7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522538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8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922949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ED970-3FD3-4C63-F24F-C8915598B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3E8D8A-C0AA-9395-19B3-201015384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6B06CC-049D-693F-9100-3B557F4FA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EE448D93-EDEE-6BDB-6403-97634FF770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9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145105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F4174-93FA-C0B4-1FE4-1279DC830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4647C93-3CBA-E10C-E54A-F8D5DB9F9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36E2D6-8477-B69A-D565-C53113041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25B60D07-6C69-2E28-6314-170BED063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10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73278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17BBA-7727-4565-99EC-4C104AC7F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AE5755-BA92-A1F3-4BB4-5F61CFBF7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0AB1A0-8D72-ACAA-0445-C280C29B8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1F7DF01F-26B5-B5A6-C50C-FCA443CE3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11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740717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2B35E-0F1A-2D66-868F-C01C6B729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69D6D3-20B8-0400-16F0-9CED0E07F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8C2372-975A-1463-EF2C-E03F2B1BC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896E572E-8798-16CA-3036-FFB2E0852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12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2831029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C53FD-5889-D2F1-E3ED-B6C3668B6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09D84B-0DC8-EABF-51B4-AC05CBB43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23366C-D68F-CC6B-CC9D-A596DB12C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F9FCA374-46E2-AAB4-2777-1769781B1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13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8072950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8B1CC-2BE9-26A8-D062-11011832D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980484-7D5F-BAF8-55D9-E86BFEACC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D52145-0F2F-D45B-0745-BBA3F35E3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6F86E93B-DDC4-F79C-E098-5E1545F47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14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7739045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15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4151229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任意多边形(F)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cxnSp>
          <p:nvCxnSpPr>
            <p:cNvPr id="8" name="直接连接符​​(S)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任意多边形：形状 13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0" name="任意多边形：形状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1" name="椭圆形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2" name="任意多边形：形状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3" name="弧形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</p:grpSp>
      <p:sp>
        <p:nvSpPr>
          <p:cNvPr id="6" name="标题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rtlCol="0" anchor="b" anchorCtr="0">
            <a:noAutofit/>
          </a:bodyPr>
          <a:lstStyle>
            <a:lvl1pPr algn="r">
              <a:defRPr lang="zh-CN"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椭圆形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9" name="弧形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0" name="椭圆形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 rtlCol="0">
            <a:noAutofit/>
          </a:bodyPr>
          <a:lstStyle>
            <a:lvl1pPr algn="ctr">
              <a:defRPr lang="zh-CN">
                <a:solidFill>
                  <a:schemeClr val="bg1"/>
                </a:solidFill>
              </a:defRPr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rtlCol="0"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图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rtlCol="0">
            <a:noAutofit/>
          </a:bodyPr>
          <a:lstStyle>
            <a:lvl1pPr marL="0" indent="0" algn="l">
              <a:buNone/>
              <a:defRPr lang="zh-CN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zh-CN" altLang="en-US" noProof="0" dirty="0"/>
              <a:t>单击图标插入图片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 rtlCol="0">
            <a:normAutofit/>
          </a:bodyPr>
          <a:lstStyle>
            <a:lvl1pPr algn="ctr">
              <a:defRPr lang="zh-CN" sz="6000"/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4" name="任意多边形：形状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rtlCol="0" anchor="ctr" anchorCtr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zh-CN"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zh-CN"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zh-CN"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zh-CN"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zh-CN" sz="12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1BCB7CC9-ECD4-4D8B-B0BE-EF962741C7ED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sp>
        <p:nvSpPr>
          <p:cNvPr id="7" name="任意多边形：形状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  <p:sp>
        <p:nvSpPr>
          <p:cNvPr id="8" name="任意多边形：形状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  <p:sp>
        <p:nvSpPr>
          <p:cNvPr id="11" name="任意多边形：形状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形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  <p:grpSp>
        <p:nvGrpSpPr>
          <p:cNvPr id="8" name="组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椭圆形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0" name="弧形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1" name="椭圆形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</p:grpSp>
      <p:sp>
        <p:nvSpPr>
          <p:cNvPr id="14" name="任意多边形：形状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  <p:cxnSp>
        <p:nvCxnSpPr>
          <p:cNvPr id="15" name="直接连接符​​(S)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rtlCol="0" anchor="ctr">
            <a:noAutofit/>
          </a:bodyPr>
          <a:lstStyle>
            <a:lvl1pPr algn="ctr">
              <a:defRPr lang="zh-CN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 rtlCol="0">
            <a:noAutofit/>
          </a:bodyPr>
          <a:lstStyle>
            <a:lvl1pPr marL="0" indent="0" algn="ctr">
              <a:buNone/>
              <a:defRPr lang="zh-CN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zh-CN" sz="2000"/>
            </a:lvl2pPr>
            <a:lvl3pPr marL="914400" indent="0" algn="ctr">
              <a:buNone/>
              <a:defRPr lang="zh-CN" sz="1800"/>
            </a:lvl3pPr>
            <a:lvl4pPr marL="1371600" indent="0" algn="ctr">
              <a:buNone/>
              <a:defRPr lang="zh-CN" sz="1600"/>
            </a:lvl4pPr>
            <a:lvl5pPr marL="1828800" indent="0" algn="ctr">
              <a:buNone/>
              <a:defRPr lang="zh-CN" sz="1600"/>
            </a:lvl5pPr>
            <a:lvl6pPr marL="2286000" indent="0" algn="ctr">
              <a:buNone/>
              <a:defRPr lang="zh-CN" sz="1600"/>
            </a:lvl6pPr>
            <a:lvl7pPr marL="2743200" indent="0" algn="ctr">
              <a:buNone/>
              <a:defRPr lang="zh-CN" sz="1600"/>
            </a:lvl7pPr>
            <a:lvl8pPr marL="3200400" indent="0" algn="ctr">
              <a:buNone/>
              <a:defRPr lang="zh-CN" sz="1600"/>
            </a:lvl8pPr>
            <a:lvl9pPr marL="3657600" indent="0" algn="ctr">
              <a:buNone/>
              <a:defRPr lang="zh-CN" sz="1600"/>
            </a:lvl9pPr>
          </a:lstStyle>
          <a:p>
            <a:pPr rtl="0"/>
            <a:r>
              <a:rPr lang="zh-CN" altLang="en-US" noProof="0" dirty="0"/>
              <a:t>单击此处添加副标题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5C72E33F-8A6D-4BE2-91A3-EF85265E6994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lvl1pPr>
              <a:defRPr lang="zh-CN"/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grpSp>
        <p:nvGrpSpPr>
          <p:cNvPr id="11" name="组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任意多边形：形状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3" name="任意多边形：形状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4" name="任意多边形：形状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</p:grp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94A765C8-4DBE-419E-9AC9-2933E58D5301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 rtlCol="0"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72FE26A0-778B-4144-BD4A-CE98EDC045B5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sp>
        <p:nvSpPr>
          <p:cNvPr id="8" name="任意多边形：形状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  <p:sp>
        <p:nvSpPr>
          <p:cNvPr id="9" name="任意多边形：形状 13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  <p:cxnSp>
        <p:nvCxnSpPr>
          <p:cNvPr id="10" name="直接连接符​​(S)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和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任意多边形：形状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0" name="任意多边形：形状 13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rtlCol="0" anchor="b" anchorCtr="0">
            <a:noAutofit/>
          </a:bodyPr>
          <a:lstStyle>
            <a:lvl1pPr>
              <a:defRPr lang="zh-CN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2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8" name="图片占位符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zh-CN"/>
            </a:lvl1pPr>
          </a:lstStyle>
          <a:p>
            <a:pPr rtl="0"/>
            <a:r>
              <a:rPr lang="zh-CN" altLang="en-US" noProof="0" dirty="0"/>
              <a:t>单击图标以添加图片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44058872-EDB6-4BF5-ADE7-D8BB03CD7A6B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任意多边形：形状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3" name="任意多边形：形状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lvl1pPr>
              <a:defRPr lang="zh-CN"/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2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8" name="表格占位符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038599" y="1825625"/>
            <a:ext cx="7315199" cy="4297680"/>
          </a:xfrm>
        </p:spPr>
        <p:txBody>
          <a:bodyPr rtlCol="0">
            <a:normAutofit/>
          </a:bodyPr>
          <a:lstStyle>
            <a:lvl1pPr marL="0" indent="0">
              <a:buNone/>
              <a:defRPr lang="zh-CN" sz="2400"/>
            </a:lvl1pPr>
          </a:lstStyle>
          <a:p>
            <a:pPr rtl="0"/>
            <a:r>
              <a:rPr lang="zh-CN" altLang="en-US" noProof="0" dirty="0"/>
              <a:t>单击图标以添加表格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BE288138-B1B8-42C0-9651-A87C59CE640D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长方形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  <p:sp>
        <p:nvSpPr>
          <p:cNvPr id="12" name="弧形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  <p:sp>
        <p:nvSpPr>
          <p:cNvPr id="13" name="任意多边形(F)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</a:lstStyle>
          <a:p>
            <a:pPr algn="ctr" rtl="0"/>
            <a:endParaRPr lang="zh-CN" altLang="en-US" noProof="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lvl1pPr>
              <a:defRPr lang="zh-CN"/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lang="zh-CN" sz="1800"/>
            </a:lvl2pPr>
            <a:lvl3pPr>
              <a:spcBef>
                <a:spcPts val="1000"/>
              </a:spcBef>
              <a:buClr>
                <a:schemeClr val="accent2"/>
              </a:buClr>
              <a:defRPr lang="zh-CN" sz="1800"/>
            </a:lvl3pPr>
            <a:lvl4pPr>
              <a:spcBef>
                <a:spcPts val="1000"/>
              </a:spcBef>
              <a:buClr>
                <a:schemeClr val="accent2"/>
              </a:buClr>
              <a:defRPr lang="zh-CN" sz="1800"/>
            </a:lvl4pPr>
            <a:lvl5pPr>
              <a:spcBef>
                <a:spcPts val="1000"/>
              </a:spcBef>
              <a:buClr>
                <a:schemeClr val="accent2"/>
              </a:buClr>
              <a:defRPr lang="zh-CN" sz="18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  <a:endParaRPr lang="zh-CN" altLang="en-US" sz="1800" noProof="0" dirty="0">
              <a:latin typeface="Microsoft YaHei UI" panose="020B0504020202020204" pitchFamily="34" charset="77"/>
              <a:ea typeface="Microsoft YaHei UI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2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913543C6-85CF-4CC8-A359-0E6AA87440B6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14804DBD-C6A1-4240-BA65-41C3AB3ECA7D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sp>
        <p:nvSpPr>
          <p:cNvPr id="8" name="表格占位符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838199" y="1825625"/>
            <a:ext cx="10515600" cy="4297680"/>
          </a:xfrm>
        </p:spPr>
        <p:txBody>
          <a:bodyPr rtlCol="0">
            <a:normAutofit/>
          </a:bodyPr>
          <a:lstStyle>
            <a:lvl1pPr>
              <a:defRPr lang="zh-CN" sz="2400"/>
            </a:lvl1pPr>
          </a:lstStyle>
          <a:p>
            <a:pPr rtl="0"/>
            <a:r>
              <a:rPr lang="zh-CN" altLang="en-US" noProof="0" dirty="0"/>
              <a:t>单击图标以添加表格</a:t>
            </a:r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椭圆形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9" name="任意多边形：形状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0" name="任意多边形：形状 13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1" name="任意多边形：形状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2" name="任意多边形：形状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3" name="任意多边形：形状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 rtlCol="0">
            <a:noAutofit/>
          </a:bodyPr>
          <a:lstStyle>
            <a:lvl1pPr algn="ctr">
              <a:defRPr lang="zh-CN"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rtlCol="0"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626E6649-7F29-4ECB-AB03-3C2AED5D8734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547A8011-E53E-44F0-B43D-4154682EF7DE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sz="4400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CN"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5042" y="2680382"/>
            <a:ext cx="7431677" cy="1497236"/>
          </a:xfrm>
          <a:noFill/>
        </p:spPr>
        <p:txBody>
          <a:bodyPr rtlCol="0" anchor="b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zh-CN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进阶式挑战综合项目</a:t>
            </a:r>
            <a:r>
              <a:rPr lang="en-US" altLang="zh-CN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 </a:t>
            </a:r>
            <a:r>
              <a:rPr lang="zh-CN" altLang="en-US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答辩</a:t>
            </a:r>
            <a:br>
              <a:rPr lang="en-US" altLang="zh-CN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主机与目标机间</a:t>
            </a:r>
            <a:r>
              <a:rPr lang="en-US" altLang="zh-CN" sz="2800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UART</a:t>
            </a:r>
            <a:r>
              <a:rPr lang="zh-CN" altLang="zh-CN" sz="2800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串口通信电路设计实现</a:t>
            </a:r>
            <a:endParaRPr lang="zh-CN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0DDACE4B-74C7-A46F-4C7F-13E82446FC41}"/>
              </a:ext>
            </a:extLst>
          </p:cNvPr>
          <p:cNvSpPr txBox="1">
            <a:spLocks/>
          </p:cNvSpPr>
          <p:nvPr/>
        </p:nvSpPr>
        <p:spPr>
          <a:xfrm>
            <a:off x="4676502" y="4999055"/>
            <a:ext cx="7248798" cy="1279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sz="2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bg1"/>
                </a:solidFill>
              </a:rPr>
              <a:t>主讲人：白步兆（组长）</a:t>
            </a:r>
          </a:p>
          <a:p>
            <a:r>
              <a:rPr lang="zh-CN" altLang="en-US" sz="2400" dirty="0">
                <a:solidFill>
                  <a:schemeClr val="bg1"/>
                </a:solidFill>
              </a:rPr>
              <a:t>组员：王志轩、谢羽恒、肖世昱、韦柳如、代子祥</a:t>
            </a:r>
          </a:p>
        </p:txBody>
      </p:sp>
    </p:spTree>
    <p:extLst>
      <p:ext uri="{BB962C8B-B14F-4D97-AF65-F5344CB8AC3E}">
        <p14:creationId xmlns:p14="http://schemas.microsoft.com/office/powerpoint/2010/main" val="517426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1119031"/>
            <a:ext cx="4632959" cy="4619938"/>
          </a:xfrm>
          <a:noFill/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8000" dirty="0"/>
              <a:t>目录</a:t>
            </a:r>
            <a:r>
              <a:rPr lang="zh-CN" sz="5400" dirty="0"/>
              <a:t>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0748" y="2132941"/>
            <a:ext cx="5552091" cy="2592118"/>
          </a:xfrm>
          <a:noFill/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3200" dirty="0"/>
              <a:t>团队分工</a:t>
            </a:r>
            <a:endParaRPr lang="en-US" altLang="zh-CN" sz="32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zh-CN" altLang="en-US" sz="3200" dirty="0"/>
              <a:t>需求分析与问题归纳</a:t>
            </a:r>
            <a:endParaRPr lang="zh-CN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3200" dirty="0"/>
              <a:t>项目设计与执行 </a:t>
            </a:r>
            <a:endParaRPr lang="en-US" altLang="zh-CN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3200" dirty="0"/>
              <a:t>难题发现与解决</a:t>
            </a:r>
            <a:endParaRPr lang="zh-CN" sz="3200" dirty="0"/>
          </a:p>
        </p:txBody>
      </p:sp>
    </p:spTree>
    <p:extLst>
      <p:ext uri="{BB962C8B-B14F-4D97-AF65-F5344CB8AC3E}">
        <p14:creationId xmlns:p14="http://schemas.microsoft.com/office/powerpoint/2010/main" val="3920724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6A9D3-EEA5-2DC9-14B7-8822CDB1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7F34C-4973-65CE-5130-2C29FCD39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57" y="1119031"/>
            <a:ext cx="4384736" cy="4619938"/>
          </a:xfrm>
          <a:noFill/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6000" dirty="0"/>
              <a:t>团队分工</a:t>
            </a:r>
            <a:r>
              <a:rPr lang="zh-CN" dirty="0"/>
              <a:t>​​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D22749F-5541-E6A1-7CE7-92CBEEACD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5764" y="545306"/>
            <a:ext cx="6543316" cy="576738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zh-CN" altLang="zh-CN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负责人</a:t>
            </a:r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zh-CN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白步兆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）：</a:t>
            </a:r>
            <a:r>
              <a:rPr lang="zh-CN" altLang="zh-CN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项目规划</a:t>
            </a:r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团队协调</a:t>
            </a:r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资源管理</a:t>
            </a:r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质量把控</a:t>
            </a:r>
            <a:endParaRPr lang="en-US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开发组（</a:t>
            </a:r>
            <a:r>
              <a:rPr lang="zh-CN" altLang="zh-CN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王志轩，韦柳如，代子祥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）：系统设计、模块开发、仿真验证、硬件部署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zh-CN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测试组</a:t>
            </a:r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zh-CN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谢羽恒，肖世昱</a:t>
            </a:r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）：功能验证、仿真测试、硬件测试、性能评估</a:t>
            </a:r>
            <a:endParaRPr lang="en-US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498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71BCE4F-98AB-BC4D-28A2-FDB9B0CBEE4B}"/>
              </a:ext>
            </a:extLst>
          </p:cNvPr>
          <p:cNvSpPr/>
          <p:nvPr/>
        </p:nvSpPr>
        <p:spPr>
          <a:xfrm>
            <a:off x="0" y="0"/>
            <a:ext cx="12192000" cy="68549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173AC21-AAB4-C481-99D8-CFD552AF3CA1}"/>
              </a:ext>
            </a:extLst>
          </p:cNvPr>
          <p:cNvSpPr/>
          <p:nvPr/>
        </p:nvSpPr>
        <p:spPr>
          <a:xfrm>
            <a:off x="2997396" y="539262"/>
            <a:ext cx="6040296" cy="575485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014" y="2902458"/>
            <a:ext cx="3585972" cy="1050036"/>
          </a:xfrm>
          <a:noFill/>
        </p:spPr>
        <p:txBody>
          <a:bodyPr rtlCol="0" anchor="ctr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00000"/>
              </a:lnSpc>
            </a:pPr>
            <a:r>
              <a:rPr lang="zh-CN" altLang="en-US" sz="6600" dirty="0">
                <a:solidFill>
                  <a:schemeClr val="bg1"/>
                </a:solidFill>
              </a:rPr>
              <a:t>需求分析</a:t>
            </a:r>
            <a:br>
              <a:rPr lang="en-US" altLang="zh-CN" sz="6600" dirty="0">
                <a:solidFill>
                  <a:schemeClr val="bg1"/>
                </a:solidFill>
              </a:rPr>
            </a:br>
            <a:r>
              <a:rPr lang="zh-CN" altLang="en-US" sz="6600" dirty="0">
                <a:solidFill>
                  <a:schemeClr val="bg1"/>
                </a:solidFill>
              </a:rPr>
              <a:t>与</a:t>
            </a:r>
            <a:br>
              <a:rPr lang="en-US" altLang="zh-CN" sz="6600" dirty="0">
                <a:solidFill>
                  <a:schemeClr val="bg1"/>
                </a:solidFill>
              </a:rPr>
            </a:br>
            <a:r>
              <a:rPr lang="zh-CN" altLang="en-US" sz="6600" dirty="0">
                <a:solidFill>
                  <a:schemeClr val="bg1"/>
                </a:solidFill>
              </a:rPr>
              <a:t>问题归纳</a:t>
            </a:r>
            <a:endParaRPr lang="zh-CN" sz="6600" dirty="0">
              <a:solidFill>
                <a:schemeClr val="bg1"/>
              </a:solidFill>
            </a:endParaRPr>
          </a:p>
        </p:txBody>
      </p:sp>
      <p:sp>
        <p:nvSpPr>
          <p:cNvPr id="8" name="思想气泡: 云 7">
            <a:extLst>
              <a:ext uri="{FF2B5EF4-FFF2-40B4-BE49-F238E27FC236}">
                <a16:creationId xmlns:a16="http://schemas.microsoft.com/office/drawing/2014/main" id="{D7189A53-9E35-A23D-E2A1-514F123EAB0D}"/>
              </a:ext>
            </a:extLst>
          </p:cNvPr>
          <p:cNvSpPr/>
          <p:nvPr/>
        </p:nvSpPr>
        <p:spPr>
          <a:xfrm>
            <a:off x="-563880" y="5695188"/>
            <a:ext cx="2034540" cy="1592580"/>
          </a:xfrm>
          <a:prstGeom prst="cloudCallou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86C8A43-7D76-55BF-B8E4-2B485E26A15A}"/>
              </a:ext>
            </a:extLst>
          </p:cNvPr>
          <p:cNvSpPr/>
          <p:nvPr/>
        </p:nvSpPr>
        <p:spPr>
          <a:xfrm>
            <a:off x="10146792" y="6294120"/>
            <a:ext cx="1615440" cy="92964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F7A087B-9465-9D23-8697-ADA341BE4C09}"/>
              </a:ext>
            </a:extLst>
          </p:cNvPr>
          <p:cNvSpPr/>
          <p:nvPr/>
        </p:nvSpPr>
        <p:spPr>
          <a:xfrm>
            <a:off x="7749540" y="769620"/>
            <a:ext cx="1059180" cy="1005840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8F4C648E-B079-3481-DD37-71F84EE1C136}"/>
              </a:ext>
            </a:extLst>
          </p:cNvPr>
          <p:cNvSpPr/>
          <p:nvPr/>
        </p:nvSpPr>
        <p:spPr>
          <a:xfrm>
            <a:off x="11082899" y="403860"/>
            <a:ext cx="2218202" cy="1315974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BFF1DD23-BC79-853E-1F6D-E993B9D27312}"/>
              </a:ext>
            </a:extLst>
          </p:cNvPr>
          <p:cNvSpPr/>
          <p:nvPr/>
        </p:nvSpPr>
        <p:spPr>
          <a:xfrm>
            <a:off x="-529933" y="0"/>
            <a:ext cx="1059863" cy="15925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128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61D0A-C589-C002-1A66-FF15B751C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D96EF9B6-E514-3510-EDA2-F20DA5EEC657}"/>
              </a:ext>
            </a:extLst>
          </p:cNvPr>
          <p:cNvSpPr txBox="1">
            <a:spLocks/>
          </p:cNvSpPr>
          <p:nvPr/>
        </p:nvSpPr>
        <p:spPr>
          <a:xfrm>
            <a:off x="313491" y="793345"/>
            <a:ext cx="5284952" cy="591051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sz="2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70000"/>
              </a:lnSpc>
              <a:buNone/>
            </a:pP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通信需求</a:t>
            </a:r>
          </a:p>
          <a:p>
            <a:pPr lvl="2" fontAlgn="base">
              <a:lnSpc>
                <a:spcPct val="170000"/>
              </a:lnSpc>
              <a:spcAft>
                <a:spcPts val="1200"/>
              </a:spcAft>
            </a:pPr>
            <a:r>
              <a:rPr lang="zh-CN" altLang="en-US" sz="1900" dirty="0">
                <a:latin typeface="宋体" panose="02010600030101010101" pitchFamily="2" charset="-122"/>
                <a:ea typeface="宋体" panose="02010600030101010101" pitchFamily="2" charset="-122"/>
              </a:rPr>
              <a:t>通信方式：</a:t>
            </a:r>
            <a:r>
              <a:rPr lang="en-US" altLang="zh-CN" sz="1900" dirty="0">
                <a:latin typeface="宋体" panose="02010600030101010101" pitchFamily="2" charset="-122"/>
                <a:ea typeface="宋体" panose="02010600030101010101" pitchFamily="2" charset="-122"/>
              </a:rPr>
              <a:t>UART</a:t>
            </a:r>
            <a:r>
              <a:rPr lang="zh-CN" altLang="en-US" sz="1900" dirty="0">
                <a:latin typeface="宋体" panose="02010600030101010101" pitchFamily="2" charset="-122"/>
                <a:ea typeface="宋体" panose="02010600030101010101" pitchFamily="2" charset="-122"/>
              </a:rPr>
              <a:t>串口通信</a:t>
            </a:r>
          </a:p>
          <a:p>
            <a:pPr lvl="2" fontAlgn="base">
              <a:lnSpc>
                <a:spcPct val="170000"/>
              </a:lnSpc>
              <a:spcAft>
                <a:spcPts val="1200"/>
              </a:spcAft>
            </a:pPr>
            <a:r>
              <a:rPr lang="zh-CN" altLang="en-US" sz="1900" dirty="0">
                <a:latin typeface="宋体" panose="02010600030101010101" pitchFamily="2" charset="-122"/>
                <a:ea typeface="宋体" panose="02010600030101010101" pitchFamily="2" charset="-122"/>
              </a:rPr>
              <a:t>速率：</a:t>
            </a:r>
            <a:r>
              <a:rPr lang="en-US" altLang="zh-CN" sz="1900" dirty="0">
                <a:latin typeface="宋体" panose="02010600030101010101" pitchFamily="2" charset="-122"/>
                <a:ea typeface="宋体" panose="02010600030101010101" pitchFamily="2" charset="-122"/>
              </a:rPr>
              <a:t>9600bps/19200bps</a:t>
            </a:r>
            <a:r>
              <a:rPr lang="zh-CN" altLang="en-US" sz="1900" dirty="0"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</a:p>
          <a:p>
            <a:pPr lvl="2" fontAlgn="base">
              <a:lnSpc>
                <a:spcPct val="170000"/>
              </a:lnSpc>
              <a:spcAft>
                <a:spcPts val="1200"/>
              </a:spcAft>
            </a:pPr>
            <a:r>
              <a:rPr lang="zh-CN" altLang="en-US" sz="1900" dirty="0">
                <a:latin typeface="宋体" panose="02010600030101010101" pitchFamily="2" charset="-122"/>
                <a:ea typeface="宋体" panose="02010600030101010101" pitchFamily="2" charset="-122"/>
              </a:rPr>
              <a:t>格式：含起始位、数据位、可选校验位和停止位</a:t>
            </a:r>
            <a:endParaRPr lang="en-US" altLang="zh-CN" sz="19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70000"/>
              </a:lnSpc>
            </a:pP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3. 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性能指标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57300" lvl="2" indent="-342900" fontAlgn="base">
              <a:lnSpc>
                <a:spcPct val="17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9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距离：适应短或长距离通信</a:t>
            </a:r>
          </a:p>
          <a:p>
            <a:pPr marL="1257300" lvl="2" indent="-342900" fontAlgn="base">
              <a:lnSpc>
                <a:spcPct val="17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9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功耗：低功耗设计</a:t>
            </a:r>
          </a:p>
          <a:p>
            <a:pPr marL="1257300" lvl="2" indent="-342900" fontAlgn="base">
              <a:lnSpc>
                <a:spcPct val="17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9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环境：适应不同温湿度</a:t>
            </a:r>
            <a:endParaRPr lang="en-US" altLang="zh-CN" sz="19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 fontAlgn="base">
              <a:lnSpc>
                <a:spcPct val="120000"/>
              </a:lnSpc>
              <a:spcAft>
                <a:spcPts val="1200"/>
              </a:spcAft>
            </a:pPr>
            <a:endParaRPr lang="en-US" altLang="zh-CN" sz="19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 fontAlgn="base">
              <a:lnSpc>
                <a:spcPct val="120000"/>
              </a:lnSpc>
              <a:spcAft>
                <a:spcPts val="1200"/>
              </a:spcAft>
            </a:pPr>
            <a:endParaRPr lang="zh-CN" altLang="en-US" sz="19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35143C-D362-AC7D-188B-D4708689B283}"/>
              </a:ext>
            </a:extLst>
          </p:cNvPr>
          <p:cNvSpPr txBox="1"/>
          <p:nvPr/>
        </p:nvSpPr>
        <p:spPr>
          <a:xfrm>
            <a:off x="5455920" y="793345"/>
            <a:ext cx="5631180" cy="5602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0" algn="l" rtl="0" eaLnBrk="1" latinLnBrk="0" hangingPunct="1">
              <a:lnSpc>
                <a:spcPct val="150000"/>
              </a:lnSpc>
            </a:pPr>
            <a:r>
              <a:rPr lang="en-US" altLang="zh-CN" sz="2200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2. </a:t>
            </a:r>
            <a:r>
              <a:rPr lang="zh-CN" altLang="zh-CN" sz="2200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功能要求</a:t>
            </a:r>
            <a:endParaRPr lang="zh-CN" altLang="zh-CN" sz="2200" dirty="0">
              <a:effectLst/>
            </a:endParaRPr>
          </a:p>
          <a:p>
            <a:pPr marL="914400" algn="l" rtl="0" eaLnBrk="1" fontAlgn="base" latinLnBrk="0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zh-CN" sz="1900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发送与接收：主机发数据，目标机接收处理</a:t>
            </a:r>
            <a:endParaRPr lang="zh-CN" altLang="zh-CN" sz="1900" dirty="0">
              <a:effectLst/>
            </a:endParaRPr>
          </a:p>
          <a:p>
            <a:pPr marL="914400" algn="l" rtl="0" eaLnBrk="1" fontAlgn="base" latinLnBrk="0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zh-CN" sz="1900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错误处理：检测并处理通信错误</a:t>
            </a:r>
            <a:endParaRPr lang="zh-CN" altLang="zh-CN" sz="1900" dirty="0">
              <a:effectLst/>
            </a:endParaRPr>
          </a:p>
          <a:p>
            <a:pPr marL="914400" algn="l" rtl="0" eaLnBrk="1" fontAlgn="base" latinLnBrk="0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zh-CN" sz="1900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稳定性：保证通信稳定可靠</a:t>
            </a:r>
            <a:endParaRPr lang="zh-CN" altLang="zh-CN" sz="1900" dirty="0">
              <a:effectLst/>
            </a:endParaRPr>
          </a:p>
          <a:p>
            <a:pPr lvl="2" fontAlgn="base">
              <a:lnSpc>
                <a:spcPct val="150000"/>
              </a:lnSpc>
              <a:spcAft>
                <a:spcPts val="1200"/>
              </a:spcAft>
            </a:pPr>
            <a:endParaRPr lang="zh-CN" altLang="en-US" sz="19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4. 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系统架构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57300" lvl="2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9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确定硬件架构：处理器、存储、通信接口等</a:t>
            </a:r>
          </a:p>
          <a:p>
            <a:pPr marL="1257300" lvl="2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9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定义软件层次：驱动、协议栈、应用等</a:t>
            </a:r>
          </a:p>
          <a:p>
            <a:pPr>
              <a:lnSpc>
                <a:spcPct val="150000"/>
              </a:lnSpc>
            </a:pPr>
            <a:endParaRPr lang="zh-CN" altLang="en-US" sz="19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DA4974-3D22-3EFE-C3C0-8B2C8D230CA2}"/>
              </a:ext>
            </a:extLst>
          </p:cNvPr>
          <p:cNvSpPr txBox="1"/>
          <p:nvPr/>
        </p:nvSpPr>
        <p:spPr>
          <a:xfrm>
            <a:off x="313491" y="218830"/>
            <a:ext cx="2328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需求分析</a:t>
            </a:r>
          </a:p>
        </p:txBody>
      </p:sp>
    </p:spTree>
    <p:extLst>
      <p:ext uri="{BB962C8B-B14F-4D97-AF65-F5344CB8AC3E}">
        <p14:creationId xmlns:p14="http://schemas.microsoft.com/office/powerpoint/2010/main" val="3256577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3C8C6-BB35-0AB8-8309-6D087ED9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72480BA-C7D1-DDF5-1B07-1743488C3A43}"/>
              </a:ext>
            </a:extLst>
          </p:cNvPr>
          <p:cNvSpPr txBox="1">
            <a:spLocks/>
          </p:cNvSpPr>
          <p:nvPr/>
        </p:nvSpPr>
        <p:spPr>
          <a:xfrm>
            <a:off x="322618" y="1290975"/>
            <a:ext cx="4180802" cy="407350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sz="2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400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lang="zh-CN" altLang="en-US" sz="2400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信号完整性问题</a:t>
            </a:r>
          </a:p>
          <a:p>
            <a:pPr lvl="1" algn="just">
              <a:lnSpc>
                <a:spcPct val="150000"/>
              </a:lnSpc>
              <a:spcBef>
                <a:spcPts val="300"/>
              </a:spcBef>
            </a:pP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差分信号传输</a:t>
            </a:r>
          </a:p>
          <a:p>
            <a:pPr lvl="1" algn="just">
              <a:lnSpc>
                <a:spcPct val="150000"/>
              </a:lnSpc>
              <a:spcBef>
                <a:spcPts val="300"/>
              </a:spcBef>
            </a:pP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阻抗匹配</a:t>
            </a:r>
          </a:p>
          <a:p>
            <a:pPr lvl="1" algn="just">
              <a:lnSpc>
                <a:spcPct val="150000"/>
              </a:lnSpc>
              <a:spcBef>
                <a:spcPts val="300"/>
              </a:spcBef>
            </a:pP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信号缓冲与放大</a:t>
            </a:r>
            <a:endParaRPr lang="en-US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rtl="0" eaLnBrk="1" latinLnBrk="0" hangingPunct="1">
              <a:lnSpc>
                <a:spcPct val="150000"/>
              </a:lnSpc>
              <a:buNone/>
            </a:pPr>
            <a:r>
              <a:rPr lang="en-US" altLang="zh-CN" sz="24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</a:t>
            </a:r>
            <a:r>
              <a:rPr lang="zh-CN" altLang="zh-CN" sz="24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通信协议与数据格式问题</a:t>
            </a:r>
            <a:endParaRPr lang="zh-CN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algn="l" rtl="0" eaLnBrk="1" latinLnBrk="0" hangingPunct="1">
              <a:lnSpc>
                <a:spcPct val="150000"/>
              </a:lnSpc>
            </a:pPr>
            <a:r>
              <a:rPr lang="zh-CN" altLang="zh-CN" sz="20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统一通信协议</a:t>
            </a:r>
            <a:endParaRPr lang="zh-CN" altLang="zh-CN" sz="20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algn="l" rtl="0" eaLnBrk="1" latinLnBrk="0" hangingPunct="1">
              <a:lnSpc>
                <a:spcPct val="150000"/>
              </a:lnSpc>
            </a:pPr>
            <a:r>
              <a:rPr lang="zh-CN" altLang="zh-CN" sz="20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协议转换与适配</a:t>
            </a:r>
            <a:endParaRPr lang="zh-CN" altLang="zh-CN" sz="20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1900" kern="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C9D0CEF-F893-0826-A1EB-D9B98EBBFCD6}"/>
              </a:ext>
            </a:extLst>
          </p:cNvPr>
          <p:cNvSpPr txBox="1">
            <a:spLocks/>
          </p:cNvSpPr>
          <p:nvPr/>
        </p:nvSpPr>
        <p:spPr>
          <a:xfrm>
            <a:off x="4937760" y="1285320"/>
            <a:ext cx="4267200" cy="46201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eaLnBrk="1" latinLnBrk="0" hangingPunct="1">
              <a:lnSpc>
                <a:spcPct val="150000"/>
              </a:lnSpc>
              <a:buNone/>
            </a:pPr>
            <a:r>
              <a:rPr lang="en-US" altLang="zh-CN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电磁干扰问题</a:t>
            </a:r>
            <a:endParaRPr lang="zh-CN" altLang="zh-CN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algn="l" rtl="0" eaLnBrk="1" latinLnBrk="0" hangingPunct="1">
              <a:lnSpc>
                <a:spcPct val="150000"/>
              </a:lnSpc>
            </a:pPr>
            <a:r>
              <a:rPr lang="zh-CN" altLang="zh-CN" sz="20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电磁屏蔽</a:t>
            </a:r>
            <a:endParaRPr lang="zh-CN" altLang="zh-CN" sz="20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algn="l" rtl="0" eaLnBrk="1" latinLnBrk="0" hangingPunct="1">
              <a:lnSpc>
                <a:spcPct val="150000"/>
              </a:lnSpc>
            </a:pPr>
            <a:r>
              <a:rPr lang="zh-CN" altLang="zh-CN" sz="20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滤波与去耦</a:t>
            </a:r>
            <a:endParaRPr lang="zh-CN" altLang="zh-CN" sz="20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algn="l" rtl="0" eaLnBrk="1" latinLnBrk="0" hangingPunct="1">
              <a:lnSpc>
                <a:spcPct val="150000"/>
              </a:lnSpc>
            </a:pPr>
            <a:r>
              <a:rPr lang="zh-CN" altLang="zh-CN" sz="20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布局与布线优化</a:t>
            </a:r>
            <a:endParaRPr lang="zh-CN" altLang="zh-CN" sz="20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rtl="0" eaLnBrk="1" latinLnBrk="0" hangingPunct="1">
              <a:lnSpc>
                <a:spcPct val="150000"/>
              </a:lnSpc>
              <a:buNone/>
            </a:pPr>
            <a:r>
              <a:rPr lang="en-US" altLang="zh-CN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 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硬件与软件协同设计问题</a:t>
            </a:r>
            <a:endParaRPr lang="zh-CN" altLang="zh-CN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4672" indent="-347472" algn="l" rtl="0" eaLnBrk="1" latinLnBrk="0" hangingPunct="1">
              <a:lnSpc>
                <a:spcPct val="150000"/>
              </a:lnSpc>
            </a:pPr>
            <a:r>
              <a:rPr lang="zh-CN" altLang="zh-CN" sz="20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硬件与软件协同设计</a:t>
            </a:r>
            <a:endParaRPr lang="zh-CN" altLang="zh-CN" sz="20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4672" indent="-347472" algn="just" rtl="0" eaLnBrk="1" latinLnBrk="0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zh-CN" sz="20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模块化设计</a:t>
            </a:r>
            <a:endParaRPr lang="zh-CN" altLang="zh-CN" sz="20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4672" indent="-347472" algn="just" rtl="0" eaLnBrk="1" latinLnBrk="0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zh-CN" sz="20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测试与验证</a:t>
            </a:r>
            <a:endParaRPr lang="zh-CN" altLang="zh-CN" sz="20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E51E00B-69D5-A87C-38CB-BEDC2A779BD3}"/>
              </a:ext>
            </a:extLst>
          </p:cNvPr>
          <p:cNvSpPr txBox="1"/>
          <p:nvPr/>
        </p:nvSpPr>
        <p:spPr>
          <a:xfrm>
            <a:off x="8501342" y="1285320"/>
            <a:ext cx="2800767" cy="24160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l" rtl="0" eaLnBrk="1" latinLnBrk="0" hangingPunct="1">
              <a:lnSpc>
                <a:spcPct val="150000"/>
              </a:lnSpc>
            </a:pPr>
            <a:r>
              <a:rPr lang="en-US" altLang="zh-CN" sz="24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lang="zh-CN" altLang="zh-CN" sz="24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电源稳定性问题</a:t>
            </a:r>
            <a:endParaRPr lang="zh-CN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algn="l" rtl="0" eaLnBrk="1" latinLnBrk="0" hangingPunct="1">
              <a:lnSpc>
                <a:spcPct val="150000"/>
              </a:lnSpc>
            </a:pPr>
            <a:r>
              <a:rPr lang="zh-CN" altLang="zh-CN" sz="20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稳压电源</a:t>
            </a:r>
            <a:endParaRPr lang="zh-CN" altLang="zh-CN" sz="20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algn="just" rtl="0" eaLnBrk="1" latinLnBrk="0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zh-CN" sz="20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电源滤波</a:t>
            </a:r>
            <a:endParaRPr lang="zh-CN" altLang="zh-CN" sz="20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algn="just" rtl="0" eaLnBrk="1" latinLnBrk="0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zh-CN" sz="20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电源监控与保护</a:t>
            </a:r>
            <a:endParaRPr lang="zh-CN" altLang="zh-CN" sz="20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67A128-F628-F843-9895-756C2E4F7137}"/>
              </a:ext>
            </a:extLst>
          </p:cNvPr>
          <p:cNvSpPr txBox="1"/>
          <p:nvPr/>
        </p:nvSpPr>
        <p:spPr>
          <a:xfrm>
            <a:off x="396240" y="289560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复杂工程问题归纳</a:t>
            </a:r>
          </a:p>
        </p:txBody>
      </p:sp>
    </p:spTree>
    <p:extLst>
      <p:ext uri="{BB962C8B-B14F-4D97-AF65-F5344CB8AC3E}">
        <p14:creationId xmlns:p14="http://schemas.microsoft.com/office/powerpoint/2010/main" val="2947617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7232" y="2218633"/>
            <a:ext cx="6317536" cy="3063149"/>
          </a:xfrm>
          <a:noFill/>
        </p:spPr>
        <p:txBody>
          <a:bodyPr rtlCol="0"/>
          <a:lstStyle>
            <a:defPPr>
              <a:defRPr lang="zh-CN"/>
            </a:defPPr>
          </a:lstStyle>
          <a:p>
            <a:pPr rtl="0">
              <a:lnSpc>
                <a:spcPct val="100000"/>
              </a:lnSpc>
            </a:pPr>
            <a:r>
              <a:rPr lang="zh-CN" altLang="en-US" sz="6600" dirty="0"/>
              <a:t>项目设计与执行</a:t>
            </a:r>
            <a:br>
              <a:rPr lang="en-US" altLang="zh-CN" sz="6600" dirty="0"/>
            </a:br>
            <a:endParaRPr lang="zh-CN" sz="6600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C7C60C60-0772-0D9E-176C-D28BED47F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5929" y="4842290"/>
            <a:ext cx="6560142" cy="623847"/>
          </a:xfrm>
        </p:spPr>
        <p:txBody>
          <a:bodyPr/>
          <a:lstStyle/>
          <a:p>
            <a:r>
              <a:rPr lang="en-US" altLang="zh-CN" sz="3600" b="0" i="0" dirty="0">
                <a:effectLst/>
                <a:latin typeface="ui-monospace"/>
              </a:rPr>
              <a:t>UART</a:t>
            </a:r>
            <a:r>
              <a:rPr lang="zh-CN" altLang="en-US" sz="3600" b="0" i="0" dirty="0">
                <a:effectLst/>
                <a:latin typeface="ui-monospace"/>
              </a:rPr>
              <a:t>串口通信方案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63098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34F6C5-22A1-07C3-7D30-83B76D9939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435135"/>
            <a:ext cx="5212080" cy="1451065"/>
          </a:xfrm>
        </p:spPr>
        <p:txBody>
          <a:bodyPr>
            <a:normAutofit/>
          </a:bodyPr>
          <a:lstStyle/>
          <a:p>
            <a:pPr marL="685800" lvl="1" indent="-457200"/>
            <a:endParaRPr lang="en-US" altLang="zh-CN" sz="2400" b="1" i="0" kern="100" dirty="0">
              <a:solidFill>
                <a:srgbClr val="1A2029"/>
              </a:solidFill>
              <a:effectLst/>
              <a:latin typeface="ui-monospace"/>
              <a:ea typeface="宋体" panose="02010600030101010101" pitchFamily="2" charset="-122"/>
            </a:endParaRPr>
          </a:p>
          <a:p>
            <a:pPr marL="685800" lvl="1" indent="-457200"/>
            <a:endParaRPr lang="en-US" altLang="zh-CN" sz="3200" b="1" i="0" dirty="0">
              <a:solidFill>
                <a:srgbClr val="1A2029"/>
              </a:solidFill>
              <a:effectLst/>
              <a:latin typeface="ui-monospac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0718DA99-DD8F-6CB3-8CB7-A8E49AF25D0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09600" y="1074045"/>
            <a:ext cx="11459497" cy="470991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项目规划阶段</a:t>
            </a:r>
            <a:endParaRPr lang="zh-CN" altLang="zh-CN" sz="2400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	</a:t>
            </a:r>
            <a:r>
              <a:rPr lang="zh-CN" altLang="zh-CN" sz="24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任务分解：</a:t>
            </a:r>
            <a:r>
              <a:rPr lang="zh-CN" altLang="en-US" sz="2400" kern="100" dirty="0">
                <a:latin typeface="宋体" panose="02010600030101010101" pitchFamily="2" charset="-122"/>
                <a:ea typeface="宋体" panose="02010600030101010101" pitchFamily="2" charset="-122"/>
              </a:rPr>
              <a:t>将项目分为波特率生成器、发送、接收和测试平台等子模块</a:t>
            </a:r>
            <a:endParaRPr lang="en-US" altLang="zh-CN" sz="2400" i="1" kern="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i="1" kern="1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24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时间管理：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制定时间表，合理规划设计、仿真、调试顺序</a:t>
            </a:r>
            <a:r>
              <a:rPr lang="en-US" altLang="zh-CN" sz="24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zh-CN" sz="2400" i="1" kern="1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24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资源准备：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准备好 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FPGA 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开发板、串口转 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USB 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模块、示波器等硬件配置，以及 </a:t>
            </a:r>
            <a:r>
              <a:rPr lang="en-US" altLang="zh-CN" sz="24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Vivado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和串口调试工具等软件开发环境</a:t>
            </a:r>
          </a:p>
          <a:p>
            <a:pPr marL="571500" lvl="1" indent="-342900">
              <a:lnSpc>
                <a:spcPct val="160000"/>
              </a:lnSpc>
            </a:pP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7649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A524E-33C6-4164-8CCC-1A565C45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A605BED-9D5D-0816-50D5-45B9B00A22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435135"/>
            <a:ext cx="5212080" cy="1451065"/>
          </a:xfrm>
        </p:spPr>
        <p:txBody>
          <a:bodyPr>
            <a:normAutofit/>
          </a:bodyPr>
          <a:lstStyle/>
          <a:p>
            <a:pPr marL="685800" lvl="1" indent="-457200"/>
            <a:endParaRPr lang="en-US" altLang="zh-CN" sz="2400" b="1" i="0" kern="100" dirty="0">
              <a:solidFill>
                <a:srgbClr val="1A2029"/>
              </a:solidFill>
              <a:effectLst/>
              <a:latin typeface="ui-monospace"/>
              <a:ea typeface="宋体" panose="02010600030101010101" pitchFamily="2" charset="-122"/>
            </a:endParaRPr>
          </a:p>
          <a:p>
            <a:pPr marL="685800" lvl="1" indent="-457200"/>
            <a:endParaRPr lang="en-US" altLang="zh-CN" sz="3200" b="1" i="0" dirty="0">
              <a:solidFill>
                <a:srgbClr val="1A2029"/>
              </a:solidFill>
              <a:effectLst/>
              <a:latin typeface="ui-monospac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C913A1CC-71BC-20AB-904E-8AFED016590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66251" y="1234065"/>
            <a:ext cx="11459497" cy="530427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模块设计阶段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55600" algn="just">
              <a:lnSpc>
                <a:spcPct val="150000"/>
              </a:lnSpc>
            </a:pP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波特率生成器：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使用参数化设计方法，实现可调波特率生成器，根据主时钟频率产生不同的波特率时钟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55600" algn="just">
              <a:lnSpc>
                <a:spcPct val="100000"/>
              </a:lnSpc>
            </a:pPr>
            <a:r>
              <a:rPr lang="en-US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UART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发送模块：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基于状态机设计发送逻辑，涵盖起始位、数据位、校验位和停止位生成</a:t>
            </a:r>
            <a:endParaRPr lang="en-US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55600" algn="just">
              <a:lnSpc>
                <a:spcPct val="100000"/>
              </a:lnSpc>
            </a:pPr>
            <a:r>
              <a:rPr lang="en-US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UART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接收模块：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以状态机为基础构建接收逻辑，准确识别起始位、提取数据位并进行校验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55600" algn="just">
              <a:lnSpc>
                <a:spcPct val="100000"/>
              </a:lnSpc>
            </a:pP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顶层模块交互：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设计顶层模块，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整合发送与接收模块，支持完整通信流程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55600" algn="just">
              <a:lnSpc>
                <a:spcPct val="100000"/>
              </a:lnSpc>
            </a:pP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模块接口定义：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确定各模块的输入输出信号及时序要求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5764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EEB72-1FD1-BB7E-E754-E8425971F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4674E77-5AD3-B154-C350-AF9ACC544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435135"/>
            <a:ext cx="5212080" cy="1451065"/>
          </a:xfrm>
        </p:spPr>
        <p:txBody>
          <a:bodyPr>
            <a:normAutofit/>
          </a:bodyPr>
          <a:lstStyle/>
          <a:p>
            <a:pPr marL="685800" lvl="1" indent="-457200"/>
            <a:endParaRPr lang="en-US" altLang="zh-CN" sz="2400" b="1" i="0" kern="100" dirty="0">
              <a:solidFill>
                <a:srgbClr val="1A2029"/>
              </a:solidFill>
              <a:effectLst/>
              <a:latin typeface="ui-monospace"/>
              <a:ea typeface="宋体" panose="02010600030101010101" pitchFamily="2" charset="-122"/>
            </a:endParaRPr>
          </a:p>
          <a:p>
            <a:pPr marL="685800" lvl="1" indent="-457200"/>
            <a:endParaRPr lang="en-US" altLang="zh-CN" sz="3200" b="1" i="0" dirty="0">
              <a:solidFill>
                <a:srgbClr val="1A2029"/>
              </a:solidFill>
              <a:effectLst/>
              <a:latin typeface="ui-monospac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F1A5D6C4-1094-6535-B069-5E2078D34E1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48401" y="655320"/>
            <a:ext cx="11695198" cy="5029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3. </a:t>
            </a:r>
            <a:r>
              <a:rPr lang="zh-CN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仿真验证阶段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模块单独仿真：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对波特率生成器、发送模块和接收模块分别进行功能仿真，验证逻辑正确性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联合仿真：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将各模块组合后进行顶层联合仿真，在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Vivado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仿真工具中验证串口数据的发送与接收功能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边界情况测试：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测试高低波特率通信、长短数据包传输等场景，确保系统稳定性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难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题发现和解决：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初期发现波特率生成器的分频值错误，导致接收端无法正确识别数据，后通过重新计算解决</a:t>
            </a:r>
            <a:endParaRPr lang="en-US" altLang="zh-CN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接收模块中发现状态机跳转不当的问题，通过优化状态转移逻辑解决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2236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28178-D79E-62C1-637D-F9F572D5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94C56B-A10D-16D8-70A2-03B84D5FB8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435135"/>
            <a:ext cx="5212080" cy="1451065"/>
          </a:xfrm>
        </p:spPr>
        <p:txBody>
          <a:bodyPr>
            <a:normAutofit/>
          </a:bodyPr>
          <a:lstStyle/>
          <a:p>
            <a:pPr marL="685800" lvl="1" indent="-457200"/>
            <a:endParaRPr lang="en-US" altLang="zh-CN" sz="2400" b="1" i="0" kern="100" dirty="0">
              <a:solidFill>
                <a:srgbClr val="1A2029"/>
              </a:solidFill>
              <a:effectLst/>
              <a:latin typeface="ui-monospace"/>
              <a:ea typeface="宋体" panose="02010600030101010101" pitchFamily="2" charset="-122"/>
            </a:endParaRPr>
          </a:p>
          <a:p>
            <a:pPr marL="685800" lvl="1" indent="-457200"/>
            <a:endParaRPr lang="en-US" altLang="zh-CN" sz="3200" b="1" i="0" dirty="0">
              <a:solidFill>
                <a:srgbClr val="1A2029"/>
              </a:solidFill>
              <a:effectLst/>
              <a:latin typeface="ui-monospac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C013EF56-9BC8-6137-F5A4-0262A05F0F6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38749" y="496699"/>
            <a:ext cx="3684611" cy="586460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4. </a:t>
            </a:r>
            <a:r>
              <a:rPr lang="zh-CN" altLang="zh-CN" sz="18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硬件实现阶段</a:t>
            </a:r>
            <a:endParaRPr lang="zh-CN" altLang="zh-CN" sz="1800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00000"/>
              </a:lnSpc>
              <a:buSzPts val="1000"/>
              <a:tabLst>
                <a:tab pos="457200" algn="l"/>
              </a:tabLst>
            </a:pPr>
            <a:r>
              <a:rPr lang="en-US" altLang="zh-CN" sz="18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18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引脚分配：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r>
              <a:rPr lang="en-US" altLang="zh-CN" sz="18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Vivado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约束文件（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18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xdc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）的编写，正确分配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UART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发送（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TX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）和接收（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RX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）引脚</a:t>
            </a:r>
            <a:endParaRPr lang="zh-CN" altLang="zh-CN" sz="1800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00000"/>
              </a:lnSpc>
              <a:buSzPts val="1000"/>
              <a:tabLst>
                <a:tab pos="457200" algn="l"/>
              </a:tabLst>
            </a:pPr>
            <a:r>
              <a:rPr lang="en-US" altLang="zh-CN" sz="18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FPGA</a:t>
            </a:r>
            <a:r>
              <a:rPr lang="zh-CN" altLang="zh-CN" sz="18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烧录：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将设计下载到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FPGA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开发板中，并通过硬件测试验证每个模块的功能</a:t>
            </a:r>
            <a:endParaRPr lang="zh-CN" altLang="zh-CN" sz="1800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lnSpc>
                <a:spcPts val="2025"/>
              </a:lnSpc>
            </a:pPr>
            <a:r>
              <a:rPr lang="en-US" altLang="zh-CN" sz="1800" i="1" kern="1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zh-CN" sz="18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硬件调试：</a:t>
            </a:r>
            <a:endParaRPr lang="en-US" altLang="zh-CN" sz="1800" i="1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lnSpc>
                <a:spcPts val="2025"/>
              </a:lnSpc>
            </a:pPr>
            <a:r>
              <a:rPr lang="zh-CN" altLang="en-US" sz="16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使用串口调试工具验证主机与目标机间的通信，发送与接收数据均符合预期</a:t>
            </a:r>
            <a:endParaRPr lang="en-US" altLang="zh-CN" sz="16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lnSpc>
                <a:spcPts val="2025"/>
              </a:lnSpc>
            </a:pPr>
            <a:r>
              <a:rPr lang="zh-CN" altLang="en-US" sz="16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通过示波器观测</a:t>
            </a:r>
            <a:r>
              <a:rPr lang="en-US" altLang="zh-CN" sz="16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TX</a:t>
            </a:r>
            <a:r>
              <a:rPr lang="zh-CN" altLang="en-US" sz="16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RX</a:t>
            </a:r>
            <a:r>
              <a:rPr lang="zh-CN" altLang="en-US" sz="16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信号波形，确认其符合</a:t>
            </a:r>
            <a:r>
              <a:rPr lang="en-US" altLang="zh-CN" sz="16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UART</a:t>
            </a:r>
            <a:r>
              <a:rPr lang="zh-CN" altLang="en-US" sz="16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通信规范</a:t>
            </a:r>
          </a:p>
          <a:p>
            <a:pPr algn="l" fontAlgn="base">
              <a:lnSpc>
                <a:spcPts val="2025"/>
              </a:lnSpc>
            </a:pPr>
            <a:r>
              <a:rPr lang="zh-CN" altLang="en-US" sz="16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发现接收端偶有数据丢失现象，经增加</a:t>
            </a:r>
            <a:r>
              <a:rPr lang="en-US" altLang="zh-CN" sz="16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FIFO</a:t>
            </a:r>
            <a:r>
              <a:rPr lang="zh-CN" altLang="en-US" sz="16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缓冲区后得以解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决</a:t>
            </a:r>
            <a:endParaRPr lang="zh-CN" altLang="en-US" sz="16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00000"/>
              </a:lnSpc>
              <a:buSzPts val="1000"/>
              <a:tabLst>
                <a:tab pos="457200" algn="l"/>
              </a:tabLst>
            </a:pPr>
            <a:endParaRPr lang="zh-CN" altLang="zh-CN" sz="1800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93C2F65-1674-5BE3-779E-CFB71E766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798116"/>
            <a:ext cx="7886700" cy="48505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1296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5B199-E238-51EC-8BCB-34A75E75C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95EBCE-2396-37E6-832F-4BBCC505F5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435135"/>
            <a:ext cx="5212080" cy="1451065"/>
          </a:xfrm>
        </p:spPr>
        <p:txBody>
          <a:bodyPr>
            <a:normAutofit/>
          </a:bodyPr>
          <a:lstStyle/>
          <a:p>
            <a:pPr marL="685800" lvl="1" indent="-457200"/>
            <a:endParaRPr lang="en-US" altLang="zh-CN" sz="2400" b="1" i="0" kern="100" dirty="0">
              <a:solidFill>
                <a:srgbClr val="1A2029"/>
              </a:solidFill>
              <a:effectLst/>
              <a:latin typeface="ui-monospace"/>
              <a:ea typeface="宋体" panose="02010600030101010101" pitchFamily="2" charset="-122"/>
            </a:endParaRPr>
          </a:p>
          <a:p>
            <a:pPr marL="685800" lvl="1" indent="-457200"/>
            <a:endParaRPr lang="en-US" altLang="zh-CN" sz="3200" b="1" i="0" dirty="0">
              <a:solidFill>
                <a:srgbClr val="1A2029"/>
              </a:solidFill>
              <a:effectLst/>
              <a:latin typeface="ui-monospac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8C71D1E8-1ACA-3324-9D4F-E38AB2B1A0D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42950" y="1196340"/>
            <a:ext cx="10706100" cy="44653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5. </a:t>
            </a:r>
            <a:r>
              <a:rPr lang="zh-CN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成果总结阶段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功能验证：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成功实现主机与目标机间的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UART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串口通信，能够在指定波特率下稳定发送和接收数据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性能评估：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分析系统传输稳定性、波特率精度和错误率，性能达设计要求</a:t>
            </a:r>
            <a:r>
              <a:rPr lang="en-US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</a:p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i="1" kern="1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文档与报告：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撰写详尽项目报告，含复杂工程问题总结、现存问题及解决方案、执行状况、分工交流详情</a:t>
            </a:r>
            <a:r>
              <a:rPr lang="en-US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</a:p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i="1" kern="1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展示与反馈：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展示项目成果，收集指导老师及小组成员反馈意见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71500" lvl="1" indent="-342900">
              <a:lnSpc>
                <a:spcPct val="150000"/>
              </a:lnSpc>
            </a:pP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1181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A7E96-1938-2BDA-606F-19BFBD40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51AAD7F-7D05-A29C-3251-6D47D2BA57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435135"/>
            <a:ext cx="5212080" cy="1451065"/>
          </a:xfrm>
        </p:spPr>
        <p:txBody>
          <a:bodyPr>
            <a:normAutofit/>
          </a:bodyPr>
          <a:lstStyle/>
          <a:p>
            <a:pPr marL="685800" lvl="1" indent="-457200"/>
            <a:endParaRPr lang="en-US" altLang="zh-CN" sz="2400" b="1" i="0" kern="100" dirty="0">
              <a:solidFill>
                <a:srgbClr val="1A2029"/>
              </a:solidFill>
              <a:effectLst/>
              <a:latin typeface="ui-monospace"/>
              <a:ea typeface="宋体" panose="02010600030101010101" pitchFamily="2" charset="-122"/>
            </a:endParaRPr>
          </a:p>
          <a:p>
            <a:pPr marL="685800" lvl="1" indent="-457200"/>
            <a:endParaRPr lang="en-US" altLang="zh-CN" sz="3200" b="1" i="0" dirty="0">
              <a:solidFill>
                <a:srgbClr val="1A2029"/>
              </a:solidFill>
              <a:effectLst/>
              <a:latin typeface="ui-monospac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15" name="内容占位符 14">
            <a:extLst>
              <a:ext uri="{FF2B5EF4-FFF2-40B4-BE49-F238E27FC236}">
                <a16:creationId xmlns:a16="http://schemas.microsoft.com/office/drawing/2014/main" id="{5D300EE5-7D65-1655-885F-59B850B5BE6A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2" y="2014189"/>
            <a:ext cx="5211762" cy="3744022"/>
          </a:xfr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27F7B26-D684-5D72-8FBB-E10C7F1BE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762" y="2743199"/>
            <a:ext cx="3085498" cy="411480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8C13C83F-8341-A984-6919-51267A908C6C}"/>
              </a:ext>
            </a:extLst>
          </p:cNvPr>
          <p:cNvSpPr txBox="1"/>
          <p:nvPr/>
        </p:nvSpPr>
        <p:spPr>
          <a:xfrm>
            <a:off x="807720" y="62484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最终效果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C5DFE3C-5898-A927-12A8-1CE4044A63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502" y="-685801"/>
            <a:ext cx="3085498" cy="411480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2FD6564-493E-C980-35FE-5662B94253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904" y="-685800"/>
            <a:ext cx="3085498" cy="4114800"/>
          </a:xfrm>
          <a:prstGeom prst="rect">
            <a:avLst/>
          </a:prstGeom>
        </p:spPr>
      </p:pic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DB5B9D8B-2336-D9FE-0698-2B14E50CB4AE}"/>
              </a:ext>
            </a:extLst>
          </p:cNvPr>
          <p:cNvCxnSpPr/>
          <p:nvPr/>
        </p:nvCxnSpPr>
        <p:spPr>
          <a:xfrm flipV="1">
            <a:off x="1036320" y="2209800"/>
            <a:ext cx="5554980" cy="6934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31C5529-E3F6-C85D-1EAB-3ECAFD5A633D}"/>
              </a:ext>
            </a:extLst>
          </p:cNvPr>
          <p:cNvCxnSpPr/>
          <p:nvPr/>
        </p:nvCxnSpPr>
        <p:spPr>
          <a:xfrm flipV="1">
            <a:off x="982980" y="2435135"/>
            <a:ext cx="9044940" cy="15196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8394ED7-FEDA-FE94-D941-04529BB73BFF}"/>
              </a:ext>
            </a:extLst>
          </p:cNvPr>
          <p:cNvCxnSpPr>
            <a:cxnSpLocks/>
          </p:cNvCxnSpPr>
          <p:nvPr/>
        </p:nvCxnSpPr>
        <p:spPr>
          <a:xfrm>
            <a:off x="1143000" y="4983480"/>
            <a:ext cx="7109460" cy="7162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1F8C88F-DFDA-444A-F6AC-B4E5FFFFCA6C}"/>
              </a:ext>
            </a:extLst>
          </p:cNvPr>
          <p:cNvSpPr/>
          <p:nvPr/>
        </p:nvSpPr>
        <p:spPr>
          <a:xfrm>
            <a:off x="609600" y="2793415"/>
            <a:ext cx="426720" cy="2012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0D86BF4F-46D0-5641-EEB0-8D1A1B0726B1}"/>
              </a:ext>
            </a:extLst>
          </p:cNvPr>
          <p:cNvSpPr/>
          <p:nvPr/>
        </p:nvSpPr>
        <p:spPr>
          <a:xfrm>
            <a:off x="609600" y="3863340"/>
            <a:ext cx="373380" cy="20124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138D9680-4D1C-CDC3-BACD-CE810B4491AC}"/>
              </a:ext>
            </a:extLst>
          </p:cNvPr>
          <p:cNvSpPr/>
          <p:nvPr/>
        </p:nvSpPr>
        <p:spPr>
          <a:xfrm>
            <a:off x="609600" y="4882856"/>
            <a:ext cx="533400" cy="2149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BA69F283-4782-EAFC-68BA-591448DC2074}"/>
              </a:ext>
            </a:extLst>
          </p:cNvPr>
          <p:cNvSpPr/>
          <p:nvPr/>
        </p:nvSpPr>
        <p:spPr>
          <a:xfrm>
            <a:off x="6591300" y="2014189"/>
            <a:ext cx="739140" cy="42094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740EF216-06CA-093D-BE15-4CFE07C8FA91}"/>
              </a:ext>
            </a:extLst>
          </p:cNvPr>
          <p:cNvSpPr/>
          <p:nvPr/>
        </p:nvSpPr>
        <p:spPr>
          <a:xfrm>
            <a:off x="8252460" y="5518513"/>
            <a:ext cx="739140" cy="42094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0EBD206A-7F45-50F2-8989-B5963E68EF8D}"/>
              </a:ext>
            </a:extLst>
          </p:cNvPr>
          <p:cNvSpPr/>
          <p:nvPr/>
        </p:nvSpPr>
        <p:spPr>
          <a:xfrm>
            <a:off x="10035540" y="2135564"/>
            <a:ext cx="739140" cy="42094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D85CBA4-927C-1D6A-BBD4-DE71493740BF}"/>
              </a:ext>
            </a:extLst>
          </p:cNvPr>
          <p:cNvCxnSpPr/>
          <p:nvPr/>
        </p:nvCxnSpPr>
        <p:spPr>
          <a:xfrm>
            <a:off x="194092" y="3162300"/>
            <a:ext cx="5211762" cy="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A337A6E-990D-7323-5A19-8B110F3B84CA}"/>
              </a:ext>
            </a:extLst>
          </p:cNvPr>
          <p:cNvCxnSpPr/>
          <p:nvPr/>
        </p:nvCxnSpPr>
        <p:spPr>
          <a:xfrm>
            <a:off x="194092" y="4206240"/>
            <a:ext cx="5211762" cy="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14D8BE0-2E15-F057-7631-65F4B5CB0150}"/>
              </a:ext>
            </a:extLst>
          </p:cNvPr>
          <p:cNvCxnSpPr/>
          <p:nvPr/>
        </p:nvCxnSpPr>
        <p:spPr>
          <a:xfrm>
            <a:off x="233164" y="5265420"/>
            <a:ext cx="5211762" cy="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851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22804-503F-7A94-0991-DD1D7ED64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EBDE74-0EA4-C7CE-E649-EE4694063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57" y="1119031"/>
            <a:ext cx="4384736" cy="4619938"/>
          </a:xfrm>
          <a:noFill/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dirty="0"/>
              <a:t>难题发现与解决</a:t>
            </a:r>
            <a:r>
              <a:rPr lang="zh-CN" dirty="0"/>
              <a:t>​​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3675F57-37BB-9F83-AB32-B8DE397BD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1984" y="0"/>
            <a:ext cx="6810016" cy="685800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输入模块无法将数据正常传输到计算模块</a:t>
            </a:r>
          </a:p>
          <a:p>
            <a:pPr>
              <a:lnSpc>
                <a:spcPct val="16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未考虑到创建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位的数据变量存储四次的输入信息，并将该变量的高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位和低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位的分别赋值到计算模块的被除数和除数</a:t>
            </a:r>
          </a:p>
          <a:p>
            <a:pPr>
              <a:lnSpc>
                <a:spcPct val="160000"/>
              </a:lnSpc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仿真图像正常，板子无法接收数据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端口选取和数据格式选取错误</a:t>
            </a:r>
          </a:p>
          <a:p>
            <a:pPr>
              <a:lnSpc>
                <a:spcPct val="160000"/>
              </a:lnSpc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仿真图像正常，主机显示的商和余数位数缺失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原因：输出模块停止逻辑有误，传出最后一位数据的同时就停止，数据还未从板子传到主机，就接收到了结束信号，被迫停止，导致数据丢失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解决：更改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bit_cnt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的值，使其完成最后一位数据的传出后再发送结束信号</a:t>
            </a:r>
          </a:p>
        </p:txBody>
      </p:sp>
    </p:spTree>
    <p:extLst>
      <p:ext uri="{BB962C8B-B14F-4D97-AF65-F5344CB8AC3E}">
        <p14:creationId xmlns:p14="http://schemas.microsoft.com/office/powerpoint/2010/main" val="2787637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19015"/>
            <a:ext cx="5837310" cy="5619969"/>
          </a:xfrm>
          <a:noFill/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sz="6600" dirty="0"/>
              <a:t>谢谢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A8A0DF-1D29-167B-909A-FF9E7A589CF1}"/>
              </a:ext>
            </a:extLst>
          </p:cNvPr>
          <p:cNvSpPr txBox="1"/>
          <p:nvPr/>
        </p:nvSpPr>
        <p:spPr>
          <a:xfrm>
            <a:off x="8153400" y="6008151"/>
            <a:ext cx="3137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2025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年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日星期三</a:t>
            </a:r>
          </a:p>
        </p:txBody>
      </p:sp>
    </p:spTree>
    <p:extLst>
      <p:ext uri="{BB962C8B-B14F-4D97-AF65-F5344CB8AC3E}">
        <p14:creationId xmlns:p14="http://schemas.microsoft.com/office/powerpoint/2010/main" val="1562484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自定义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Microsoft YaHei UI"/>
        <a:ea typeface="Microsoft YaHei UI"/>
        <a:cs typeface=""/>
      </a:majorFont>
      <a:minorFont>
        <a:latin typeface="Microsoft YaHei UI Light"/>
        <a:ea typeface="Microsoft YaHei UI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344883_TF78504181_Win32.potx" id="{D74ED88D-BE59-4E33-9B75-AC9C4C1C1D9E}" vid="{B44A1059-95CD-452C-B37C-186B0B797073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 Light" panose="020F0302020204030204"/>
        <a:ea typeface=""/>
        <a:cs typeface=""/>
        <a:font script="Jpan" typeface="游ゴシック Light"/>
        <a:font script="Hang" typeface="맑은 고딕"/>
        <a:font script="Hans" typeface="Microsoft YaHei UI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 panose="020F0502020204030204"/>
        <a:ea typeface=""/>
        <a:cs typeface=""/>
        <a:font script="Jpan" typeface="游ゴシック"/>
        <a:font script="Hang" typeface="맑은 고딕"/>
        <a:font script="Hans" typeface="Microsoft YaHei U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YaHei UI" panose="02110004020202020204"/>
        <a:ea typeface=""/>
        <a:cs typeface=""/>
        <a:font script="Jpan" typeface="游ゴシック Light"/>
        <a:font script="Hang" typeface="맑은 고딕"/>
        <a:font script="Hans" typeface="Microsoft YaHei U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 panose="02110004020202020204"/>
        <a:ea typeface=""/>
        <a:cs typeface=""/>
        <a:font script="Jpan" typeface="游ゴシック"/>
        <a:font script="Hang" typeface="맑은 고딕"/>
        <a:font script="Hans" typeface="Microsoft YaHei U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E60708A-6461-4D7F-883F-7E25D731D3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BC90B52-91C7-4BE9-8AE0-180FFFE110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130005B-6102-4F3C-A26F-485DF1BF971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形状​​演示文稿</Template>
  <TotalTime>251</TotalTime>
  <Words>971</Words>
  <Application>Microsoft Office PowerPoint</Application>
  <PresentationFormat>宽屏</PresentationFormat>
  <Paragraphs>119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Microsoft YaHei UI</vt:lpstr>
      <vt:lpstr>Microsoft YaHei UI Light</vt:lpstr>
      <vt:lpstr>ui-monospace</vt:lpstr>
      <vt:lpstr>宋体</vt:lpstr>
      <vt:lpstr>Arial</vt:lpstr>
      <vt:lpstr>Times</vt:lpstr>
      <vt:lpstr>自定义</vt:lpstr>
      <vt:lpstr>进阶式挑战综合项目I  答辩  主机与目标机间UART串口通信电路设计实现</vt:lpstr>
      <vt:lpstr>目录​</vt:lpstr>
      <vt:lpstr>团队分工​​</vt:lpstr>
      <vt:lpstr>需求分析 与 问题归纳</vt:lpstr>
      <vt:lpstr>PowerPoint 演示文稿</vt:lpstr>
      <vt:lpstr>PowerPoint 演示文稿</vt:lpstr>
      <vt:lpstr>项目设计与执行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难题发现与解决​​</vt:lpstr>
      <vt:lpstr>谢谢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柳如 韦</dc:creator>
  <cp:lastModifiedBy>路 季</cp:lastModifiedBy>
  <cp:revision>78</cp:revision>
  <dcterms:created xsi:type="dcterms:W3CDTF">2025-01-08T06:16:04Z</dcterms:created>
  <dcterms:modified xsi:type="dcterms:W3CDTF">2025-01-08T11:20:41Z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