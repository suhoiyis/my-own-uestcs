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537" r:id="rId3"/>
    <p:sldId id="2496" r:id="rId4"/>
    <p:sldId id="2599" r:id="rId5"/>
    <p:sldId id="2584" r:id="rId6"/>
    <p:sldId id="2585" r:id="rId7"/>
    <p:sldId id="2588" r:id="rId8"/>
    <p:sldId id="2589" r:id="rId9"/>
    <p:sldId id="2590" r:id="rId10"/>
    <p:sldId id="2591" r:id="rId11"/>
    <p:sldId id="2597" r:id="rId12"/>
    <p:sldId id="2596" r:id="rId13"/>
    <p:sldId id="2593" r:id="rId14"/>
    <p:sldId id="2598" r:id="rId15"/>
    <p:sldId id="2583" r:id="rId16"/>
  </p:sldIdLst>
  <p:sldSz cx="12192000" cy="6858000"/>
  <p:notesSz cx="6669088" cy="9928225"/>
  <p:defaultTextStyle>
    <a:defPPr>
      <a:defRPr lang="ko-KR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黑体" panose="02010609060101010101" pitchFamily="49" charset="-122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4">
          <p15:clr>
            <a:srgbClr val="A4A3A4"/>
          </p15:clr>
        </p15:guide>
        <p15:guide id="2" orient="horz" pos="1071">
          <p15:clr>
            <a:srgbClr val="A4A3A4"/>
          </p15:clr>
        </p15:guide>
        <p15:guide id="3" pos="219">
          <p15:clr>
            <a:srgbClr val="A4A3A4"/>
          </p15:clr>
        </p15:guide>
        <p15:guide id="4" pos="7461">
          <p15:clr>
            <a:srgbClr val="A4A3A4"/>
          </p15:clr>
        </p15:guide>
        <p15:guide id="5" pos="3840">
          <p15:clr>
            <a:srgbClr val="A4A3A4"/>
          </p15:clr>
        </p15:guide>
        <p15:guide id="6" pos="13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66FFFF"/>
    <a:srgbClr val="FFFFCC"/>
    <a:srgbClr val="41D5E5"/>
    <a:srgbClr val="FF9900"/>
    <a:srgbClr val="00FFFF"/>
    <a:srgbClr val="CC33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3"/>
    <p:restoredTop sz="92803"/>
  </p:normalViewPr>
  <p:slideViewPr>
    <p:cSldViewPr snapToObjects="1" showGuides="1">
      <p:cViewPr varScale="1">
        <p:scale>
          <a:sx n="75" d="100"/>
          <a:sy n="75" d="100"/>
        </p:scale>
        <p:origin x="246" y="78"/>
      </p:cViewPr>
      <p:guideLst>
        <p:guide orient="horz" pos="3884"/>
        <p:guide orient="horz" pos="1071"/>
        <p:guide pos="219"/>
        <p:guide pos="7461"/>
        <p:guide pos="3840"/>
        <p:guide pos="13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l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latinLnBrk="1" hangingPunct="1">
              <a:lnSpc>
                <a:spcPct val="80000"/>
              </a:lnSpc>
              <a:spcBef>
                <a:spcPct val="50000"/>
              </a:spcBef>
              <a:buClr>
                <a:srgbClr val="FF0000"/>
              </a:buClr>
              <a:buFont typeface="Wingdings" panose="05000000000000000000" pitchFamily="2" charset="2"/>
              <a:buNone/>
              <a:defRPr sz="1200"/>
            </a:lvl1pPr>
          </a:lstStyle>
          <a:p>
            <a:pPr marL="0" marR="0" lvl="0" indent="0" algn="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fld id="{9600AC2D-FFE4-42EF-A4C2-4F6C0D659C59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51" tIns="47326" rIns="94651" bIns="47326" numCol="1" anchor="t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anose="020B0600000101010101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51" tIns="47326" rIns="94651" bIns="47326" numCol="1" anchor="t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anose="020B0600000101010101" pitchFamily="34" charset="-127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33338" y="746125"/>
            <a:ext cx="6610350" cy="3719513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90588" y="4714875"/>
            <a:ext cx="4887913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51" tIns="47326" rIns="94651" bIns="47326" numCol="1" anchor="ctr" anchorCtr="0" compatLnSpc="1"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마스터 텍스트 스타일을 편집합니다</a:t>
            </a:r>
          </a:p>
          <a:p>
            <a:pPr marL="457200" marR="0" lvl="1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둘째 수준</a:t>
            </a:r>
          </a:p>
          <a:p>
            <a:pPr marL="914400" marR="0" lvl="2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셋째 수준</a:t>
            </a:r>
          </a:p>
          <a:p>
            <a:pPr marL="1371600" marR="0" lvl="3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넷째 수준</a:t>
            </a:r>
          </a:p>
          <a:p>
            <a:pPr marL="1828800" marR="0" lvl="4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rPr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892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51" tIns="47326" rIns="94651" bIns="47326" numCol="1" anchor="b" anchorCtr="0" compatLnSpc="1"/>
          <a:lstStyle>
            <a:lvl1pPr algn="l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anose="020B0600000101010101" pitchFamily="34" charset="-127"/>
              </a:defRPr>
            </a:lvl1pPr>
          </a:lstStyle>
          <a:p>
            <a:pPr marL="0" marR="0" lvl="0" indent="0" algn="l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8250" y="9431338"/>
            <a:ext cx="28908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4651" tIns="47326" rIns="94651" bIns="47326" numCol="1" anchor="b" anchorCtr="0" compatLnSpc="1"/>
          <a:lstStyle>
            <a:lvl1pPr algn="r" defTabSz="946150" eaLnBrk="1" latinLnBrk="1" hangingPunct="1">
              <a:lnSpc>
                <a:spcPct val="100000"/>
              </a:lnSpc>
              <a:spcBef>
                <a:spcPct val="50000"/>
              </a:spcBef>
              <a:buClrTx/>
              <a:buFontTx/>
              <a:buNone/>
              <a:defRPr sz="1300">
                <a:latin typeface="Tahoma" panose="020B0604030504040204" pitchFamily="34" charset="0"/>
                <a:ea typeface="Gulim" panose="020B0600000101010101" pitchFamily="34" charset="-127"/>
              </a:defRPr>
            </a:lvl1pPr>
          </a:lstStyle>
          <a:p>
            <a:pPr marL="0" marR="0" lvl="0" indent="0" algn="r" defTabSz="946150" rtl="0" eaLnBrk="1" fontAlgn="base" latinLnBrk="1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1887B6-D3EF-4176-B009-F3D10618EF3B}" type="slidenum">
              <a:rPr kumimoji="0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Gulim" panose="020B0600000101010101" pitchFamily="34" charset="-127"/>
                <a:cs typeface="+mn-cs"/>
              </a:rPr>
              <a:t>‹#›</a:t>
            </a:fld>
            <a:endParaRPr kumimoji="0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Gulim" panose="020B0600000101010101" pitchFamily="34" charset="-127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Gulim" panose="020B0600000101010101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0727F6-D5CB-CEC1-9172-1D6C7D710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87BF432-3C0D-7499-3FA9-DE7C927D9B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B0D728E9-D353-8BFB-9486-73973AFA5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565598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6185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89148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77025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3953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44182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925475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6905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1403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8660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8575" y="746125"/>
            <a:ext cx="6613525" cy="3721100"/>
          </a:xfrm>
        </p:spPr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889000" y="4714875"/>
            <a:ext cx="4891088" cy="4467225"/>
          </a:xfrm>
        </p:spPr>
        <p:txBody>
          <a:bodyPr wrap="square" lIns="94651" tIns="47326" rIns="94651" bIns="47326" anchor="ctr"/>
          <a:lstStyle/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341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8"/>
            <a:ext cx="1036416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2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1" y="1600203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1" y="4406903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1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1" y="1600203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3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1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1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1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1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3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1" y="1435103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algun Gothic" panose="020B0503020000020004" pitchFamily="34" charset="-127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1" y="1600203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41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1" y="274641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3921" y="2130428"/>
            <a:ext cx="1036416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9762" y="3886200"/>
            <a:ext cx="8534399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0561" y="1600203"/>
            <a:ext cx="109728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841" y="4406903"/>
            <a:ext cx="10362241" cy="1362075"/>
          </a:xfrm>
          <a:prstGeom prst="rect">
            <a:avLst/>
          </a:prstGeo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841" y="2906713"/>
            <a:ext cx="1036224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10561" y="1600203"/>
            <a:ext cx="5393281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161" y="1600203"/>
            <a:ext cx="53952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10561" y="1535113"/>
            <a:ext cx="53856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0561" y="2174875"/>
            <a:ext cx="538560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921" y="1535113"/>
            <a:ext cx="538944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921" y="2174875"/>
            <a:ext cx="5389441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3050"/>
            <a:ext cx="4010881" cy="1162050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7361" y="273053"/>
            <a:ext cx="681600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0561" y="1435103"/>
            <a:ext cx="401088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401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401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401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0561" y="274638"/>
            <a:ext cx="10972801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1" y="1600203"/>
            <a:ext cx="109728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1601" y="274641"/>
            <a:ext cx="274176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10561" y="274641"/>
            <a:ext cx="804672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5"/>
          <p:cNvSpPr>
            <a:spLocks noChangeArrowheads="1"/>
          </p:cNvSpPr>
          <p:nvPr/>
        </p:nvSpPr>
        <p:spPr bwMode="auto">
          <a:xfrm>
            <a:off x="11750675" y="6619875"/>
            <a:ext cx="347663" cy="238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34529" rIns="0" bIns="34529" anchor="ctr"/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FF52876-DD73-4AB6-9079-099B179D0F54}" type="slidenum">
              <a:rPr kumimoji="0" lang="en-GB" altLang="en-US" sz="675" b="0" i="1" u="none" strike="noStrike" kern="1200" cap="none" spc="0" normalizeH="0" baseline="0" noProof="0" smtClean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ea typeface="Gulim" panose="020B0600000101010101" pitchFamily="34" charset="-127"/>
                <a:cs typeface="+mn-cs"/>
              </a:rPr>
              <a:t>‹#›</a:t>
            </a:fld>
            <a:r>
              <a:rPr kumimoji="0" lang="en-GB" altLang="en-US" sz="675" b="0" i="1" u="none" strike="noStrike" kern="1200" cap="none" spc="0" normalizeH="0" baseline="0" noProof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Tahoma" panose="020B0604030504040204" pitchFamily="34" charset="0"/>
                <a:ea typeface="Gulim" panose="020B0600000101010101" pitchFamily="34" charset="-127"/>
                <a:cs typeface="+mn-cs"/>
              </a:rPr>
              <a:t> </a:t>
            </a:r>
            <a:endParaRPr kumimoji="0" lang="ko-KR" altLang="en-US" sz="675" b="0" i="1" u="none" strike="noStrike" kern="1200" cap="none" spc="0" normalizeH="0" baseline="0" noProof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Tahoma" panose="020B0604030504040204" pitchFamily="34" charset="0"/>
              <a:ea typeface="Gulim" panose="020B0600000101010101" pitchFamily="34" charset="-127"/>
              <a:cs typeface="+mn-cs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0477500" y="46038"/>
            <a:ext cx="1416050" cy="239713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anose="020B0600000101010101" pitchFamily="34" charset="-127"/>
                <a:ea typeface="宋体" panose="02010600030101010101" pitchFamily="2" charset="-122"/>
                <a:cs typeface="+mn-cs"/>
              </a:rPr>
              <a:t>数据库原理及应用</a:t>
            </a:r>
          </a:p>
        </p:txBody>
      </p:sp>
      <p:pic>
        <p:nvPicPr>
          <p:cNvPr id="1028" name="Picture 2" descr="subbar"/>
          <p:cNvPicPr>
            <a:picLocks noChangeAspect="1"/>
          </p:cNvPicPr>
          <p:nvPr userDrawn="1"/>
        </p:nvPicPr>
        <p:blipFill>
          <a:blip r:embed="rId13"/>
          <a:srcRect l="189" r="267"/>
          <a:stretch>
            <a:fillRect/>
          </a:stretch>
        </p:blipFill>
        <p:spPr>
          <a:xfrm>
            <a:off x="0" y="-7937"/>
            <a:ext cx="12192000" cy="339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4126" y="4763"/>
            <a:ext cx="2364750" cy="30098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anose="020B0600000101010101" pitchFamily="34" charset="-127"/>
                <a:ea typeface="宋体" panose="02010600030101010101" pitchFamily="2" charset="-122"/>
                <a:cs typeface="+mn-cs"/>
              </a:rPr>
              <a:t>数据库系统原理及应用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0030000" y="44450"/>
            <a:ext cx="2064989" cy="300980"/>
          </a:xfrm>
          <a:prstGeom prst="rect">
            <a:avLst/>
          </a:prstGeom>
          <a:noFill/>
          <a:ln>
            <a:noFill/>
          </a:ln>
          <a:effectLst>
            <a:prstShdw prst="shdw13" dist="53882" dir="13500000">
              <a:schemeClr val="bg2">
                <a:alpha val="50000"/>
              </a:schemeClr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algn="ctr" eaLnBrk="0" fontAlgn="base" latinLnBrk="1" hangingPunct="0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16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anose="020B0600000101010101" pitchFamily="34" charset="-127"/>
                <a:ea typeface="宋体" panose="02010600030101010101" pitchFamily="2" charset="-122"/>
                <a:cs typeface="+mn-cs"/>
              </a:rPr>
              <a:t>电子科技大学</a:t>
            </a:r>
            <a:r>
              <a:rPr kumimoji="0" lang="en-US" altLang="zh-CN" sz="16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anose="020B0600000101010101" pitchFamily="34" charset="-127"/>
                <a:ea typeface="宋体" panose="02010600030101010101" pitchFamily="2" charset="-122"/>
                <a:cs typeface="+mn-cs"/>
              </a:rPr>
              <a:t>-</a:t>
            </a:r>
            <a:r>
              <a:rPr kumimoji="0" lang="zh-CN" altLang="en-US" sz="169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ulim" panose="020B0600000101010101" pitchFamily="34" charset="-127"/>
                <a:ea typeface="宋体" panose="02010600030101010101" pitchFamily="2" charset="-122"/>
                <a:cs typeface="+mn-cs"/>
              </a:rPr>
              <a:t>张宁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Malgun Gothic" panose="020B0503020000020004" pitchFamily="34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Calibri" panose="020F0502020204030204" pitchFamily="34" charset="0"/>
          <a:ea typeface="Malgun Gothic" panose="020B0503020000020004" pitchFamily="34" charset="-127"/>
        </a:defRPr>
      </a:lvl5pPr>
      <a:lvl6pPr marL="3429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6pPr>
      <a:lvl7pPr marL="6858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7pPr>
      <a:lvl8pPr marL="10287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8pPr>
      <a:lvl9pPr marL="13716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9pPr>
    </p:titleStyle>
    <p:bodyStyle>
      <a:lvl1pPr marL="335280" indent="-3352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Malgun Gothic" panose="020B0503020000020004" pitchFamily="34" charset="-127"/>
          <a:cs typeface="+mn-cs"/>
        </a:defRPr>
      </a:lvl1pPr>
      <a:lvl2pPr marL="666750" indent="-3289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1900">
          <a:solidFill>
            <a:schemeClr val="tx1"/>
          </a:solidFill>
          <a:latin typeface="+mn-lt"/>
          <a:ea typeface="Malgun Gothic" panose="020B0503020000020004" pitchFamily="34" charset="-127"/>
        </a:defRPr>
      </a:lvl2pPr>
      <a:lvl3pPr marL="970280" indent="-3016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600">
          <a:solidFill>
            <a:schemeClr val="tx1"/>
          </a:solidFill>
          <a:latin typeface="+mn-lt"/>
          <a:ea typeface="Malgun Gothic" panose="020B0503020000020004" pitchFamily="34" charset="-127"/>
        </a:defRPr>
      </a:lvl3pPr>
      <a:lvl4pPr marL="1260475" indent="-28892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Malgun Gothic" panose="020B0503020000020004" pitchFamily="34" charset="-127"/>
        </a:defRPr>
      </a:lvl4pPr>
      <a:lvl5pPr marL="15525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Malgun Gothic" panose="020B0503020000020004" pitchFamily="34" charset="-127"/>
        </a:defRPr>
      </a:lvl5pPr>
      <a:lvl6pPr marL="18954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6pPr>
      <a:lvl7pPr marL="22383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7pPr>
      <a:lvl8pPr marL="25812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8pPr>
      <a:lvl9pPr marL="29241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2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4343400"/>
            <a:ext cx="12192000" cy="2528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51" name="Picture 121" descr="Untitled-5 copy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268922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2" name="Group 4"/>
          <p:cNvGrpSpPr/>
          <p:nvPr userDrawn="1"/>
        </p:nvGrpSpPr>
        <p:grpSpPr>
          <a:xfrm>
            <a:off x="4244975" y="1300163"/>
            <a:ext cx="6967538" cy="912812"/>
            <a:chOff x="0" y="0"/>
            <a:chExt cx="3629" cy="575"/>
          </a:xfrm>
        </p:grpSpPr>
        <p:sp>
          <p:nvSpPr>
            <p:cNvPr id="2054" name="Oval 10"/>
            <p:cNvSpPr>
              <a:spLocks noChangeArrowheads="1"/>
            </p:cNvSpPr>
            <p:nvPr/>
          </p:nvSpPr>
          <p:spPr bwMode="auto">
            <a:xfrm>
              <a:off x="0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55" name="Oval 11"/>
            <p:cNvSpPr>
              <a:spLocks noChangeArrowheads="1"/>
            </p:cNvSpPr>
            <p:nvPr/>
          </p:nvSpPr>
          <p:spPr bwMode="auto">
            <a:xfrm>
              <a:off x="117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56" name="Oval 12"/>
            <p:cNvSpPr>
              <a:spLocks noChangeArrowheads="1"/>
            </p:cNvSpPr>
            <p:nvPr/>
          </p:nvSpPr>
          <p:spPr bwMode="auto">
            <a:xfrm>
              <a:off x="234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57" name="Oval 13"/>
            <p:cNvSpPr>
              <a:spLocks noChangeArrowheads="1"/>
            </p:cNvSpPr>
            <p:nvPr/>
          </p:nvSpPr>
          <p:spPr bwMode="auto">
            <a:xfrm>
              <a:off x="351" y="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58" name="Oval 14"/>
            <p:cNvSpPr>
              <a:spLocks noChangeArrowheads="1"/>
            </p:cNvSpPr>
            <p:nvPr/>
          </p:nvSpPr>
          <p:spPr bwMode="auto">
            <a:xfrm>
              <a:off x="467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59" name="Oval 15"/>
            <p:cNvSpPr>
              <a:spLocks noChangeArrowheads="1"/>
            </p:cNvSpPr>
            <p:nvPr/>
          </p:nvSpPr>
          <p:spPr bwMode="auto">
            <a:xfrm>
              <a:off x="584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0" name="Oval 16"/>
            <p:cNvSpPr>
              <a:spLocks noChangeArrowheads="1"/>
            </p:cNvSpPr>
            <p:nvPr/>
          </p:nvSpPr>
          <p:spPr bwMode="auto">
            <a:xfrm>
              <a:off x="709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1" name="Oval 17"/>
            <p:cNvSpPr>
              <a:spLocks noChangeArrowheads="1"/>
            </p:cNvSpPr>
            <p:nvPr/>
          </p:nvSpPr>
          <p:spPr bwMode="auto">
            <a:xfrm>
              <a:off x="826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2" name="Oval 18"/>
            <p:cNvSpPr>
              <a:spLocks noChangeArrowheads="1"/>
            </p:cNvSpPr>
            <p:nvPr/>
          </p:nvSpPr>
          <p:spPr bwMode="auto">
            <a:xfrm>
              <a:off x="943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3" name="Oval 19"/>
            <p:cNvSpPr>
              <a:spLocks noChangeArrowheads="1"/>
            </p:cNvSpPr>
            <p:nvPr/>
          </p:nvSpPr>
          <p:spPr bwMode="auto">
            <a:xfrm>
              <a:off x="1059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4" name="Oval 20"/>
            <p:cNvSpPr>
              <a:spLocks noChangeArrowheads="1"/>
            </p:cNvSpPr>
            <p:nvPr/>
          </p:nvSpPr>
          <p:spPr bwMode="auto">
            <a:xfrm>
              <a:off x="1176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5" name="Oval 21"/>
            <p:cNvSpPr>
              <a:spLocks noChangeArrowheads="1"/>
            </p:cNvSpPr>
            <p:nvPr/>
          </p:nvSpPr>
          <p:spPr bwMode="auto">
            <a:xfrm>
              <a:off x="1293" y="0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6" name="Oval 22"/>
            <p:cNvSpPr>
              <a:spLocks noChangeArrowheads="1"/>
            </p:cNvSpPr>
            <p:nvPr/>
          </p:nvSpPr>
          <p:spPr bwMode="auto">
            <a:xfrm>
              <a:off x="1418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7" name="Oval 23"/>
            <p:cNvSpPr>
              <a:spLocks noChangeArrowheads="1"/>
            </p:cNvSpPr>
            <p:nvPr/>
          </p:nvSpPr>
          <p:spPr bwMode="auto">
            <a:xfrm>
              <a:off x="1534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8" name="Oval 24"/>
            <p:cNvSpPr>
              <a:spLocks noChangeArrowheads="1"/>
            </p:cNvSpPr>
            <p:nvPr/>
          </p:nvSpPr>
          <p:spPr bwMode="auto">
            <a:xfrm>
              <a:off x="1651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69" name="Oval 25"/>
            <p:cNvSpPr>
              <a:spLocks noChangeArrowheads="1"/>
            </p:cNvSpPr>
            <p:nvPr/>
          </p:nvSpPr>
          <p:spPr bwMode="auto">
            <a:xfrm>
              <a:off x="1768" y="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0" name="Oval 26"/>
            <p:cNvSpPr>
              <a:spLocks noChangeArrowheads="1"/>
            </p:cNvSpPr>
            <p:nvPr/>
          </p:nvSpPr>
          <p:spPr bwMode="auto">
            <a:xfrm>
              <a:off x="1885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1" name="Oval 27"/>
            <p:cNvSpPr>
              <a:spLocks noChangeArrowheads="1"/>
            </p:cNvSpPr>
            <p:nvPr/>
          </p:nvSpPr>
          <p:spPr bwMode="auto">
            <a:xfrm>
              <a:off x="2002" y="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2" name="Oval 28"/>
            <p:cNvSpPr>
              <a:spLocks noChangeArrowheads="1"/>
            </p:cNvSpPr>
            <p:nvPr/>
          </p:nvSpPr>
          <p:spPr bwMode="auto">
            <a:xfrm>
              <a:off x="2126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3" name="Oval 29"/>
            <p:cNvSpPr>
              <a:spLocks noChangeArrowheads="1"/>
            </p:cNvSpPr>
            <p:nvPr/>
          </p:nvSpPr>
          <p:spPr bwMode="auto">
            <a:xfrm>
              <a:off x="2243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4" name="Oval 30"/>
            <p:cNvSpPr>
              <a:spLocks noChangeArrowheads="1"/>
            </p:cNvSpPr>
            <p:nvPr/>
          </p:nvSpPr>
          <p:spPr bwMode="auto">
            <a:xfrm>
              <a:off x="2360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5" name="Oval 31"/>
            <p:cNvSpPr>
              <a:spLocks noChangeArrowheads="1"/>
            </p:cNvSpPr>
            <p:nvPr/>
          </p:nvSpPr>
          <p:spPr bwMode="auto">
            <a:xfrm>
              <a:off x="2477" y="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6" name="Oval 32"/>
            <p:cNvSpPr>
              <a:spLocks noChangeArrowheads="1"/>
            </p:cNvSpPr>
            <p:nvPr/>
          </p:nvSpPr>
          <p:spPr bwMode="auto">
            <a:xfrm>
              <a:off x="2594" y="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7" name="Oval 33"/>
            <p:cNvSpPr>
              <a:spLocks noChangeArrowheads="1"/>
            </p:cNvSpPr>
            <p:nvPr/>
          </p:nvSpPr>
          <p:spPr bwMode="auto">
            <a:xfrm>
              <a:off x="2711" y="2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8" name="Oval 34"/>
            <p:cNvSpPr>
              <a:spLocks noChangeArrowheads="1"/>
            </p:cNvSpPr>
            <p:nvPr/>
          </p:nvSpPr>
          <p:spPr bwMode="auto">
            <a:xfrm>
              <a:off x="2835" y="7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79" name="Oval 35"/>
            <p:cNvSpPr>
              <a:spLocks noChangeArrowheads="1"/>
            </p:cNvSpPr>
            <p:nvPr/>
          </p:nvSpPr>
          <p:spPr bwMode="auto">
            <a:xfrm>
              <a:off x="2952" y="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0" name="Oval 36"/>
            <p:cNvSpPr>
              <a:spLocks noChangeArrowheads="1"/>
            </p:cNvSpPr>
            <p:nvPr/>
          </p:nvSpPr>
          <p:spPr bwMode="auto">
            <a:xfrm>
              <a:off x="3069" y="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1" name="Oval 37"/>
            <p:cNvSpPr>
              <a:spLocks noChangeArrowheads="1"/>
            </p:cNvSpPr>
            <p:nvPr/>
          </p:nvSpPr>
          <p:spPr bwMode="auto">
            <a:xfrm>
              <a:off x="3186" y="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2" name="Oval 38"/>
            <p:cNvSpPr>
              <a:spLocks noChangeArrowheads="1"/>
            </p:cNvSpPr>
            <p:nvPr/>
          </p:nvSpPr>
          <p:spPr bwMode="auto">
            <a:xfrm>
              <a:off x="3303" y="5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3" name="Oval 39"/>
            <p:cNvSpPr>
              <a:spLocks noChangeArrowheads="1"/>
            </p:cNvSpPr>
            <p:nvPr/>
          </p:nvSpPr>
          <p:spPr bwMode="auto">
            <a:xfrm>
              <a:off x="0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4" name="Oval 40"/>
            <p:cNvSpPr>
              <a:spLocks noChangeArrowheads="1"/>
            </p:cNvSpPr>
            <p:nvPr/>
          </p:nvSpPr>
          <p:spPr bwMode="auto">
            <a:xfrm>
              <a:off x="117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5" name="Oval 41"/>
            <p:cNvSpPr>
              <a:spLocks noChangeArrowheads="1"/>
            </p:cNvSpPr>
            <p:nvPr/>
          </p:nvSpPr>
          <p:spPr bwMode="auto">
            <a:xfrm>
              <a:off x="234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6" name="Oval 42"/>
            <p:cNvSpPr>
              <a:spLocks noChangeArrowheads="1"/>
            </p:cNvSpPr>
            <p:nvPr/>
          </p:nvSpPr>
          <p:spPr bwMode="auto">
            <a:xfrm>
              <a:off x="351" y="12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7" name="Oval 43"/>
            <p:cNvSpPr>
              <a:spLocks noChangeArrowheads="1"/>
            </p:cNvSpPr>
            <p:nvPr/>
          </p:nvSpPr>
          <p:spPr bwMode="auto">
            <a:xfrm>
              <a:off x="467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8" name="Oval 44"/>
            <p:cNvSpPr>
              <a:spLocks noChangeArrowheads="1"/>
            </p:cNvSpPr>
            <p:nvPr/>
          </p:nvSpPr>
          <p:spPr bwMode="auto">
            <a:xfrm>
              <a:off x="584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89" name="Oval 45"/>
            <p:cNvSpPr>
              <a:spLocks noChangeArrowheads="1"/>
            </p:cNvSpPr>
            <p:nvPr/>
          </p:nvSpPr>
          <p:spPr bwMode="auto">
            <a:xfrm>
              <a:off x="709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0" name="Oval 46"/>
            <p:cNvSpPr>
              <a:spLocks noChangeArrowheads="1"/>
            </p:cNvSpPr>
            <p:nvPr/>
          </p:nvSpPr>
          <p:spPr bwMode="auto">
            <a:xfrm>
              <a:off x="826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1" name="Oval 47"/>
            <p:cNvSpPr>
              <a:spLocks noChangeArrowheads="1"/>
            </p:cNvSpPr>
            <p:nvPr/>
          </p:nvSpPr>
          <p:spPr bwMode="auto">
            <a:xfrm>
              <a:off x="943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2" name="Oval 48"/>
            <p:cNvSpPr>
              <a:spLocks noChangeArrowheads="1"/>
            </p:cNvSpPr>
            <p:nvPr/>
          </p:nvSpPr>
          <p:spPr bwMode="auto">
            <a:xfrm>
              <a:off x="1059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3" name="Oval 49"/>
            <p:cNvSpPr>
              <a:spLocks noChangeArrowheads="1"/>
            </p:cNvSpPr>
            <p:nvPr/>
          </p:nvSpPr>
          <p:spPr bwMode="auto">
            <a:xfrm>
              <a:off x="1176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4" name="Oval 50"/>
            <p:cNvSpPr>
              <a:spLocks noChangeArrowheads="1"/>
            </p:cNvSpPr>
            <p:nvPr/>
          </p:nvSpPr>
          <p:spPr bwMode="auto">
            <a:xfrm>
              <a:off x="1293" y="120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5" name="Oval 51"/>
            <p:cNvSpPr>
              <a:spLocks noChangeArrowheads="1"/>
            </p:cNvSpPr>
            <p:nvPr/>
          </p:nvSpPr>
          <p:spPr bwMode="auto">
            <a:xfrm>
              <a:off x="1418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6" name="Oval 52"/>
            <p:cNvSpPr>
              <a:spLocks noChangeArrowheads="1"/>
            </p:cNvSpPr>
            <p:nvPr/>
          </p:nvSpPr>
          <p:spPr bwMode="auto">
            <a:xfrm>
              <a:off x="1534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7" name="Oval 53"/>
            <p:cNvSpPr>
              <a:spLocks noChangeArrowheads="1"/>
            </p:cNvSpPr>
            <p:nvPr/>
          </p:nvSpPr>
          <p:spPr bwMode="auto">
            <a:xfrm>
              <a:off x="1651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8" name="Oval 54"/>
            <p:cNvSpPr>
              <a:spLocks noChangeArrowheads="1"/>
            </p:cNvSpPr>
            <p:nvPr/>
          </p:nvSpPr>
          <p:spPr bwMode="auto">
            <a:xfrm>
              <a:off x="1768" y="12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099" name="Oval 55"/>
            <p:cNvSpPr>
              <a:spLocks noChangeArrowheads="1"/>
            </p:cNvSpPr>
            <p:nvPr/>
          </p:nvSpPr>
          <p:spPr bwMode="auto">
            <a:xfrm>
              <a:off x="1885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0" name="Oval 56"/>
            <p:cNvSpPr>
              <a:spLocks noChangeArrowheads="1"/>
            </p:cNvSpPr>
            <p:nvPr/>
          </p:nvSpPr>
          <p:spPr bwMode="auto">
            <a:xfrm>
              <a:off x="2002" y="12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1" name="Oval 57"/>
            <p:cNvSpPr>
              <a:spLocks noChangeArrowheads="1"/>
            </p:cNvSpPr>
            <p:nvPr/>
          </p:nvSpPr>
          <p:spPr bwMode="auto">
            <a:xfrm>
              <a:off x="2126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2" name="Oval 58"/>
            <p:cNvSpPr>
              <a:spLocks noChangeArrowheads="1"/>
            </p:cNvSpPr>
            <p:nvPr/>
          </p:nvSpPr>
          <p:spPr bwMode="auto">
            <a:xfrm>
              <a:off x="2243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3" name="Oval 59"/>
            <p:cNvSpPr>
              <a:spLocks noChangeArrowheads="1"/>
            </p:cNvSpPr>
            <p:nvPr/>
          </p:nvSpPr>
          <p:spPr bwMode="auto">
            <a:xfrm>
              <a:off x="2360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4" name="Oval 60"/>
            <p:cNvSpPr>
              <a:spLocks noChangeArrowheads="1"/>
            </p:cNvSpPr>
            <p:nvPr/>
          </p:nvSpPr>
          <p:spPr bwMode="auto">
            <a:xfrm>
              <a:off x="2477" y="12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5" name="Oval 61"/>
            <p:cNvSpPr>
              <a:spLocks noChangeArrowheads="1"/>
            </p:cNvSpPr>
            <p:nvPr/>
          </p:nvSpPr>
          <p:spPr bwMode="auto">
            <a:xfrm>
              <a:off x="2594" y="12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6" name="Oval 62"/>
            <p:cNvSpPr>
              <a:spLocks noChangeArrowheads="1"/>
            </p:cNvSpPr>
            <p:nvPr/>
          </p:nvSpPr>
          <p:spPr bwMode="auto">
            <a:xfrm>
              <a:off x="2711" y="122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7" name="Oval 63"/>
            <p:cNvSpPr>
              <a:spLocks noChangeArrowheads="1"/>
            </p:cNvSpPr>
            <p:nvPr/>
          </p:nvSpPr>
          <p:spPr bwMode="auto">
            <a:xfrm>
              <a:off x="2835" y="127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8" name="Oval 64"/>
            <p:cNvSpPr>
              <a:spLocks noChangeArrowheads="1"/>
            </p:cNvSpPr>
            <p:nvPr/>
          </p:nvSpPr>
          <p:spPr bwMode="auto">
            <a:xfrm>
              <a:off x="2952" y="12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09" name="Oval 65"/>
            <p:cNvSpPr>
              <a:spLocks noChangeArrowheads="1"/>
            </p:cNvSpPr>
            <p:nvPr/>
          </p:nvSpPr>
          <p:spPr bwMode="auto">
            <a:xfrm>
              <a:off x="3069" y="12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0" name="Oval 66"/>
            <p:cNvSpPr>
              <a:spLocks noChangeArrowheads="1"/>
            </p:cNvSpPr>
            <p:nvPr/>
          </p:nvSpPr>
          <p:spPr bwMode="auto">
            <a:xfrm>
              <a:off x="3186" y="12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1" name="Oval 67"/>
            <p:cNvSpPr>
              <a:spLocks noChangeArrowheads="1"/>
            </p:cNvSpPr>
            <p:nvPr/>
          </p:nvSpPr>
          <p:spPr bwMode="auto">
            <a:xfrm>
              <a:off x="3303" y="125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2" name="Oval 68"/>
            <p:cNvSpPr>
              <a:spLocks noChangeArrowheads="1"/>
            </p:cNvSpPr>
            <p:nvPr/>
          </p:nvSpPr>
          <p:spPr bwMode="auto">
            <a:xfrm>
              <a:off x="234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3" name="Oval 69"/>
            <p:cNvSpPr>
              <a:spLocks noChangeArrowheads="1"/>
            </p:cNvSpPr>
            <p:nvPr/>
          </p:nvSpPr>
          <p:spPr bwMode="auto">
            <a:xfrm>
              <a:off x="351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4" name="Oval 70"/>
            <p:cNvSpPr>
              <a:spLocks noChangeArrowheads="1"/>
            </p:cNvSpPr>
            <p:nvPr/>
          </p:nvSpPr>
          <p:spPr bwMode="auto">
            <a:xfrm>
              <a:off x="467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5" name="Oval 71"/>
            <p:cNvSpPr>
              <a:spLocks noChangeArrowheads="1"/>
            </p:cNvSpPr>
            <p:nvPr/>
          </p:nvSpPr>
          <p:spPr bwMode="auto">
            <a:xfrm>
              <a:off x="584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6" name="Oval 72"/>
            <p:cNvSpPr>
              <a:spLocks noChangeArrowheads="1"/>
            </p:cNvSpPr>
            <p:nvPr/>
          </p:nvSpPr>
          <p:spPr bwMode="auto">
            <a:xfrm>
              <a:off x="701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7" name="Oval 73"/>
            <p:cNvSpPr>
              <a:spLocks noChangeArrowheads="1"/>
            </p:cNvSpPr>
            <p:nvPr/>
          </p:nvSpPr>
          <p:spPr bwMode="auto">
            <a:xfrm>
              <a:off x="818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8" name="Oval 74"/>
            <p:cNvSpPr>
              <a:spLocks noChangeArrowheads="1"/>
            </p:cNvSpPr>
            <p:nvPr/>
          </p:nvSpPr>
          <p:spPr bwMode="auto">
            <a:xfrm>
              <a:off x="943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19" name="Oval 75"/>
            <p:cNvSpPr>
              <a:spLocks noChangeArrowheads="1"/>
            </p:cNvSpPr>
            <p:nvPr/>
          </p:nvSpPr>
          <p:spPr bwMode="auto">
            <a:xfrm>
              <a:off x="1059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0" name="Oval 76"/>
            <p:cNvSpPr>
              <a:spLocks noChangeArrowheads="1"/>
            </p:cNvSpPr>
            <p:nvPr/>
          </p:nvSpPr>
          <p:spPr bwMode="auto">
            <a:xfrm>
              <a:off x="1176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1" name="Oval 77"/>
            <p:cNvSpPr>
              <a:spLocks noChangeArrowheads="1"/>
            </p:cNvSpPr>
            <p:nvPr/>
          </p:nvSpPr>
          <p:spPr bwMode="auto">
            <a:xfrm>
              <a:off x="1293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2" name="Oval 78"/>
            <p:cNvSpPr>
              <a:spLocks noChangeArrowheads="1"/>
            </p:cNvSpPr>
            <p:nvPr/>
          </p:nvSpPr>
          <p:spPr bwMode="auto">
            <a:xfrm>
              <a:off x="1410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3" name="Oval 79"/>
            <p:cNvSpPr>
              <a:spLocks noChangeArrowheads="1"/>
            </p:cNvSpPr>
            <p:nvPr/>
          </p:nvSpPr>
          <p:spPr bwMode="auto">
            <a:xfrm>
              <a:off x="1527" y="249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4" name="Oval 80"/>
            <p:cNvSpPr>
              <a:spLocks noChangeArrowheads="1"/>
            </p:cNvSpPr>
            <p:nvPr/>
          </p:nvSpPr>
          <p:spPr bwMode="auto">
            <a:xfrm>
              <a:off x="1651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5" name="Oval 81"/>
            <p:cNvSpPr>
              <a:spLocks noChangeArrowheads="1"/>
            </p:cNvSpPr>
            <p:nvPr/>
          </p:nvSpPr>
          <p:spPr bwMode="auto">
            <a:xfrm>
              <a:off x="1768" y="252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6" name="Oval 82"/>
            <p:cNvSpPr>
              <a:spLocks noChangeArrowheads="1"/>
            </p:cNvSpPr>
            <p:nvPr/>
          </p:nvSpPr>
          <p:spPr bwMode="auto">
            <a:xfrm>
              <a:off x="1885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7" name="Oval 83"/>
            <p:cNvSpPr>
              <a:spLocks noChangeArrowheads="1"/>
            </p:cNvSpPr>
            <p:nvPr/>
          </p:nvSpPr>
          <p:spPr bwMode="auto">
            <a:xfrm>
              <a:off x="2002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8" name="Oval 84"/>
            <p:cNvSpPr>
              <a:spLocks noChangeArrowheads="1"/>
            </p:cNvSpPr>
            <p:nvPr/>
          </p:nvSpPr>
          <p:spPr bwMode="auto">
            <a:xfrm>
              <a:off x="2119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29" name="Oval 85"/>
            <p:cNvSpPr>
              <a:spLocks noChangeArrowheads="1"/>
            </p:cNvSpPr>
            <p:nvPr/>
          </p:nvSpPr>
          <p:spPr bwMode="auto">
            <a:xfrm>
              <a:off x="2236" y="250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0" name="Oval 86"/>
            <p:cNvSpPr>
              <a:spLocks noChangeArrowheads="1"/>
            </p:cNvSpPr>
            <p:nvPr/>
          </p:nvSpPr>
          <p:spPr bwMode="auto">
            <a:xfrm>
              <a:off x="2360" y="255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1" name="Oval 87"/>
            <p:cNvSpPr>
              <a:spLocks noChangeArrowheads="1"/>
            </p:cNvSpPr>
            <p:nvPr/>
          </p:nvSpPr>
          <p:spPr bwMode="auto">
            <a:xfrm>
              <a:off x="2477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2" name="Oval 88"/>
            <p:cNvSpPr>
              <a:spLocks noChangeArrowheads="1"/>
            </p:cNvSpPr>
            <p:nvPr/>
          </p:nvSpPr>
          <p:spPr bwMode="auto">
            <a:xfrm>
              <a:off x="2594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3" name="Oval 89"/>
            <p:cNvSpPr>
              <a:spLocks noChangeArrowheads="1"/>
            </p:cNvSpPr>
            <p:nvPr/>
          </p:nvSpPr>
          <p:spPr bwMode="auto">
            <a:xfrm>
              <a:off x="2711" y="252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4" name="Oval 90"/>
            <p:cNvSpPr>
              <a:spLocks noChangeArrowheads="1"/>
            </p:cNvSpPr>
            <p:nvPr/>
          </p:nvSpPr>
          <p:spPr bwMode="auto">
            <a:xfrm>
              <a:off x="2828" y="253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5" name="Oval 91"/>
            <p:cNvSpPr>
              <a:spLocks noChangeArrowheads="1"/>
            </p:cNvSpPr>
            <p:nvPr/>
          </p:nvSpPr>
          <p:spPr bwMode="auto">
            <a:xfrm>
              <a:off x="2944" y="251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6" name="Oval 92"/>
            <p:cNvSpPr>
              <a:spLocks noChangeArrowheads="1"/>
            </p:cNvSpPr>
            <p:nvPr/>
          </p:nvSpPr>
          <p:spPr bwMode="auto">
            <a:xfrm>
              <a:off x="3069" y="256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7" name="Oval 93"/>
            <p:cNvSpPr>
              <a:spLocks noChangeArrowheads="1"/>
            </p:cNvSpPr>
            <p:nvPr/>
          </p:nvSpPr>
          <p:spPr bwMode="auto">
            <a:xfrm>
              <a:off x="3186" y="254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8" name="Oval 94"/>
            <p:cNvSpPr>
              <a:spLocks noChangeArrowheads="1"/>
            </p:cNvSpPr>
            <p:nvPr/>
          </p:nvSpPr>
          <p:spPr bwMode="auto">
            <a:xfrm>
              <a:off x="3303" y="255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39" name="Oval 95"/>
            <p:cNvSpPr>
              <a:spLocks noChangeArrowheads="1"/>
            </p:cNvSpPr>
            <p:nvPr/>
          </p:nvSpPr>
          <p:spPr bwMode="auto">
            <a:xfrm>
              <a:off x="3420" y="253"/>
              <a:ext cx="92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0" name="Oval 96"/>
            <p:cNvSpPr>
              <a:spLocks noChangeArrowheads="1"/>
            </p:cNvSpPr>
            <p:nvPr/>
          </p:nvSpPr>
          <p:spPr bwMode="auto">
            <a:xfrm>
              <a:off x="3536" y="254"/>
              <a:ext cx="93" cy="84"/>
            </a:xfrm>
            <a:prstGeom prst="ellipse">
              <a:avLst/>
            </a:prstGeom>
            <a:solidFill>
              <a:srgbClr val="3D76C1">
                <a:alpha val="29803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1" name="Oval 97"/>
            <p:cNvSpPr>
              <a:spLocks noChangeArrowheads="1"/>
            </p:cNvSpPr>
            <p:nvPr/>
          </p:nvSpPr>
          <p:spPr bwMode="auto">
            <a:xfrm>
              <a:off x="476" y="371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2" name="Oval 98"/>
            <p:cNvSpPr>
              <a:spLocks noChangeArrowheads="1"/>
            </p:cNvSpPr>
            <p:nvPr/>
          </p:nvSpPr>
          <p:spPr bwMode="auto">
            <a:xfrm>
              <a:off x="593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3" name="Oval 99"/>
            <p:cNvSpPr>
              <a:spLocks noChangeArrowheads="1"/>
            </p:cNvSpPr>
            <p:nvPr/>
          </p:nvSpPr>
          <p:spPr bwMode="auto">
            <a:xfrm>
              <a:off x="710" y="37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4" name="Oval 100"/>
            <p:cNvSpPr>
              <a:spLocks noChangeArrowheads="1"/>
            </p:cNvSpPr>
            <p:nvPr/>
          </p:nvSpPr>
          <p:spPr bwMode="auto">
            <a:xfrm>
              <a:off x="827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5" name="Oval 101"/>
            <p:cNvSpPr>
              <a:spLocks noChangeArrowheads="1"/>
            </p:cNvSpPr>
            <p:nvPr/>
          </p:nvSpPr>
          <p:spPr bwMode="auto">
            <a:xfrm>
              <a:off x="944" y="36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6" name="Oval 102"/>
            <p:cNvSpPr>
              <a:spLocks noChangeArrowheads="1"/>
            </p:cNvSpPr>
            <p:nvPr/>
          </p:nvSpPr>
          <p:spPr bwMode="auto">
            <a:xfrm>
              <a:off x="1060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7" name="Oval 103"/>
            <p:cNvSpPr>
              <a:spLocks noChangeArrowheads="1"/>
            </p:cNvSpPr>
            <p:nvPr/>
          </p:nvSpPr>
          <p:spPr bwMode="auto">
            <a:xfrm>
              <a:off x="1185" y="36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8" name="Oval 104"/>
            <p:cNvSpPr>
              <a:spLocks noChangeArrowheads="1"/>
            </p:cNvSpPr>
            <p:nvPr/>
          </p:nvSpPr>
          <p:spPr bwMode="auto">
            <a:xfrm>
              <a:off x="1302" y="36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49" name="Oval 105"/>
            <p:cNvSpPr>
              <a:spLocks noChangeArrowheads="1"/>
            </p:cNvSpPr>
            <p:nvPr/>
          </p:nvSpPr>
          <p:spPr bwMode="auto">
            <a:xfrm>
              <a:off x="1419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0" name="Oval 106"/>
            <p:cNvSpPr>
              <a:spLocks noChangeArrowheads="1"/>
            </p:cNvSpPr>
            <p:nvPr/>
          </p:nvSpPr>
          <p:spPr bwMode="auto">
            <a:xfrm>
              <a:off x="1536" y="36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1" name="Oval 107"/>
            <p:cNvSpPr>
              <a:spLocks noChangeArrowheads="1"/>
            </p:cNvSpPr>
            <p:nvPr/>
          </p:nvSpPr>
          <p:spPr bwMode="auto">
            <a:xfrm>
              <a:off x="1652" y="367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2" name="Oval 108"/>
            <p:cNvSpPr>
              <a:spLocks noChangeArrowheads="1"/>
            </p:cNvSpPr>
            <p:nvPr/>
          </p:nvSpPr>
          <p:spPr bwMode="auto">
            <a:xfrm>
              <a:off x="1769" y="365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3" name="Oval 109"/>
            <p:cNvSpPr>
              <a:spLocks noChangeArrowheads="1"/>
            </p:cNvSpPr>
            <p:nvPr/>
          </p:nvSpPr>
          <p:spPr bwMode="auto">
            <a:xfrm>
              <a:off x="1894" y="370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4" name="Oval 110"/>
            <p:cNvSpPr>
              <a:spLocks noChangeArrowheads="1"/>
            </p:cNvSpPr>
            <p:nvPr/>
          </p:nvSpPr>
          <p:spPr bwMode="auto">
            <a:xfrm>
              <a:off x="2011" y="368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5" name="Oval 111"/>
            <p:cNvSpPr>
              <a:spLocks noChangeArrowheads="1"/>
            </p:cNvSpPr>
            <p:nvPr/>
          </p:nvSpPr>
          <p:spPr bwMode="auto">
            <a:xfrm>
              <a:off x="485" y="491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6" name="Oval 112"/>
            <p:cNvSpPr>
              <a:spLocks noChangeArrowheads="1"/>
            </p:cNvSpPr>
            <p:nvPr/>
          </p:nvSpPr>
          <p:spPr bwMode="auto">
            <a:xfrm>
              <a:off x="602" y="489"/>
              <a:ext cx="92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7" name="Oval 113"/>
            <p:cNvSpPr>
              <a:spLocks noChangeArrowheads="1"/>
            </p:cNvSpPr>
            <p:nvPr/>
          </p:nvSpPr>
          <p:spPr bwMode="auto">
            <a:xfrm>
              <a:off x="1060" y="486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  <p:sp>
          <p:nvSpPr>
            <p:cNvPr id="2158" name="Oval 114"/>
            <p:cNvSpPr>
              <a:spLocks noChangeArrowheads="1"/>
            </p:cNvSpPr>
            <p:nvPr/>
          </p:nvSpPr>
          <p:spPr bwMode="auto">
            <a:xfrm>
              <a:off x="1200" y="485"/>
              <a:ext cx="93" cy="84"/>
            </a:xfrm>
            <a:prstGeom prst="ellipse">
              <a:avLst/>
            </a:prstGeom>
            <a:solidFill>
              <a:srgbClr val="3D9CCD">
                <a:alpha val="9804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5pPr>
              <a:lvl6pPr marL="25146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6pPr>
              <a:lvl7pPr marL="29718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7pPr>
              <a:lvl8pPr marL="34290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8pPr>
              <a:lvl9pPr marL="3886200" indent="-228600" algn="ctr" eaLnBrk="0" fontAlgn="base" latinLnBrk="1" hangingPunct="0">
                <a:lnSpc>
                  <a:spcPct val="80000"/>
                </a:lnSpc>
                <a:spcBef>
                  <a:spcPct val="50000"/>
                </a:spcBef>
                <a:spcAft>
                  <a:spcPct val="0"/>
                </a:spcAft>
                <a:buClr>
                  <a:srgbClr val="FF0000"/>
                </a:buClr>
                <a:buFont typeface="Wingdings" panose="05000000000000000000" pitchFamily="2" charset="2"/>
                <a:defRPr sz="240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TW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ulim" panose="020B0600000101010101" pitchFamily="34" charset="-127"/>
                <a:ea typeface="Gulim" panose="020B0600000101010101" pitchFamily="34" charset="-127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5pPr>
      <a:lvl6pPr marL="3429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6pPr>
      <a:lvl7pPr marL="6858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7pPr>
      <a:lvl8pPr marL="10287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8pPr>
      <a:lvl9pPr marL="1371600" algn="ctr" rtl="0" eaLnBrk="0" fontAlgn="base" latinLnBrk="1" hangingPunct="0"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Gulim" panose="020B0600000101010101" pitchFamily="34" charset="-127"/>
          <a:ea typeface="Gulim" panose="020B0600000101010101" pitchFamily="34" charset="-127"/>
        </a:defRPr>
      </a:lvl9pPr>
    </p:titleStyle>
    <p:bodyStyle>
      <a:lvl1pPr marL="335280" indent="-33528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66750" indent="-328930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1900">
          <a:solidFill>
            <a:schemeClr val="tx1"/>
          </a:solidFill>
          <a:latin typeface="+mn-lt"/>
          <a:ea typeface="+mn-ea"/>
        </a:defRPr>
      </a:lvl2pPr>
      <a:lvl3pPr marL="970280" indent="-301625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600">
          <a:solidFill>
            <a:schemeClr val="tx1"/>
          </a:solidFill>
          <a:latin typeface="+mn-lt"/>
          <a:ea typeface="+mn-ea"/>
        </a:defRPr>
      </a:lvl3pPr>
      <a:lvl4pPr marL="1260475" indent="-288925"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4pPr>
      <a:lvl5pPr marL="15525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5pPr>
      <a:lvl6pPr marL="18954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6pPr>
      <a:lvl7pPr marL="22383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7pPr>
      <a:lvl8pPr marL="25812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8pPr>
      <a:lvl9pPr marL="2924175" indent="-29083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anose="05000000000000000000" pitchFamily="2" charset="2"/>
        <a:buChar char="v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1703387" y="2564904"/>
            <a:ext cx="8785225" cy="804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4802" tIns="32401" rIns="64802" bIns="32401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《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数据库原理及应用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》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课程介绍</a:t>
            </a:r>
          </a:p>
        </p:txBody>
      </p:sp>
      <p:sp>
        <p:nvSpPr>
          <p:cNvPr id="2" name="矩形 1"/>
          <p:cNvSpPr/>
          <p:nvPr/>
        </p:nvSpPr>
        <p:spPr>
          <a:xfrm>
            <a:off x="4762943" y="3278158"/>
            <a:ext cx="2821606" cy="16850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0070C0"/>
                </a:solidFill>
                <a:latin typeface="仿宋_GB2312" pitchFamily="1" charset="-122"/>
                <a:ea typeface="仿宋_GB2312" pitchFamily="1" charset="-122"/>
              </a:rPr>
              <a:t>授课教师：张宁</a:t>
            </a:r>
            <a:endParaRPr lang="en-US" altLang="zh-CN" b="1" dirty="0">
              <a:solidFill>
                <a:srgbClr val="0070C0"/>
              </a:solidFill>
              <a:latin typeface="仿宋_GB2312" pitchFamily="1" charset="-122"/>
              <a:ea typeface="仿宋_GB2312" pitchFamily="1" charset="-122"/>
            </a:endParaRPr>
          </a:p>
          <a:p>
            <a:pPr algn="l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ea typeface="仿宋_GB2312" pitchFamily="1" charset="-122"/>
              </a:rPr>
              <a:t>18615722994</a:t>
            </a:r>
          </a:p>
          <a:p>
            <a:pPr algn="l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rgbClr val="0070C0"/>
                </a:solidFill>
                <a:ea typeface="仿宋_GB2312" pitchFamily="1" charset="-122"/>
              </a:rPr>
              <a:t>QQ</a:t>
            </a:r>
            <a:r>
              <a:rPr lang="zh-CN" altLang="en-US" b="1" dirty="0">
                <a:solidFill>
                  <a:srgbClr val="0070C0"/>
                </a:solidFill>
                <a:ea typeface="仿宋_GB2312" pitchFamily="1" charset="-122"/>
              </a:rPr>
              <a:t>群：</a:t>
            </a:r>
            <a:r>
              <a:rPr lang="en-US" altLang="zh-CN" b="1" dirty="0">
                <a:solidFill>
                  <a:srgbClr val="0070C0"/>
                </a:solidFill>
                <a:ea typeface="仿宋_GB2312" pitchFamily="1" charset="-122"/>
              </a:rPr>
              <a:t>1032594760</a:t>
            </a:r>
            <a:r>
              <a:rPr lang="zh-CN" altLang="en-US" b="1" dirty="0">
                <a:solidFill>
                  <a:srgbClr val="0070C0"/>
                </a:solidFill>
                <a:ea typeface="仿宋_GB2312" pitchFamily="1" charset="-122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6939012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一、本课程简介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8112" y="1268760"/>
            <a:ext cx="10416480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500"/>
              </a:lnSpc>
            </a:pPr>
            <a:r>
              <a:rPr lang="zh-CN" altLang="en-US" sz="2800" dirty="0">
                <a:solidFill>
                  <a:srgbClr val="FF0000"/>
                </a:solidFill>
              </a:rPr>
              <a:t>数据库</a:t>
            </a:r>
            <a:r>
              <a:rPr lang="zh-CN" altLang="en-US" sz="2800" dirty="0"/>
              <a:t>是信息系统重要的支撑基础。掌握</a:t>
            </a:r>
            <a:r>
              <a:rPr lang="zh-CN" altLang="en-US" sz="2800" dirty="0">
                <a:solidFill>
                  <a:srgbClr val="FF0000"/>
                </a:solidFill>
              </a:rPr>
              <a:t>数据库原理及应用</a:t>
            </a:r>
            <a:r>
              <a:rPr lang="zh-CN" altLang="en-US" sz="2800" dirty="0"/>
              <a:t>开发技术是打开通向各类信息系统、互联网信息服务、大数据技术应用之门的钥匙。</a:t>
            </a:r>
          </a:p>
        </p:txBody>
      </p:sp>
      <p:sp>
        <p:nvSpPr>
          <p:cNvPr id="4" name="矩形 3"/>
          <p:cNvSpPr/>
          <p:nvPr/>
        </p:nvSpPr>
        <p:spPr>
          <a:xfrm>
            <a:off x="1008112" y="3026360"/>
            <a:ext cx="10560496" cy="1438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ts val="3500"/>
              </a:lnSpc>
            </a:pPr>
            <a:r>
              <a:rPr lang="zh-CN" altLang="en-US" sz="2800" dirty="0"/>
              <a:t>欢迎大家学习“</a:t>
            </a:r>
            <a:r>
              <a:rPr lang="zh-CN" altLang="en-US" sz="2800" dirty="0">
                <a:solidFill>
                  <a:srgbClr val="FF0000"/>
                </a:solidFill>
              </a:rPr>
              <a:t>数据库原理及应用</a:t>
            </a:r>
            <a:r>
              <a:rPr lang="zh-CN" altLang="en-US" sz="2800" dirty="0"/>
              <a:t>”</a:t>
            </a:r>
            <a:r>
              <a:rPr lang="zh-CN" altLang="en-US" sz="2800" dirty="0">
                <a:solidFill>
                  <a:srgbClr val="FF0000"/>
                </a:solidFill>
              </a:rPr>
              <a:t>课程</a:t>
            </a:r>
            <a:r>
              <a:rPr lang="zh-CN" altLang="en-US" sz="2800" dirty="0"/>
              <a:t>。熟练掌握数据库技术方法，培养数据库应用系统开发能力，为未来从事IT职业，奠定自己的专业基础与工程能力。</a:t>
            </a: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2F839-A5B0-68A9-ACAD-C1F06631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7016324D-59D4-E5A3-26B7-1F54F04019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332656"/>
            <a:ext cx="6939012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、本课程目标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E01410-EC3E-BCCA-691A-00DD9408E16D}"/>
              </a:ext>
            </a:extLst>
          </p:cNvPr>
          <p:cNvSpPr/>
          <p:nvPr/>
        </p:nvSpPr>
        <p:spPr>
          <a:xfrm>
            <a:off x="983432" y="1268760"/>
            <a:ext cx="10369152" cy="5418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00"/>
              </a:lnSpc>
              <a:buClr>
                <a:srgbClr val="FF0000"/>
              </a:buClr>
            </a:pPr>
            <a:r>
              <a:rPr lang="en-US" altLang="zh-CN" sz="2800" b="1" dirty="0">
                <a:solidFill>
                  <a:srgbClr val="0070C0"/>
                </a:solidFill>
              </a:rPr>
              <a:t>CO1: </a:t>
            </a:r>
            <a:r>
              <a:rPr lang="zh-CN" altLang="zh-CN" sz="2800" dirty="0"/>
              <a:t>掌握数据库系统基本概念、数据库模型原理、数据库设计方法、数据库编程语言、数据库系统管理等基础知识</a:t>
            </a:r>
            <a:endParaRPr lang="zh-CN" altLang="en-US" sz="2800" dirty="0"/>
          </a:p>
          <a:p>
            <a:pPr>
              <a:lnSpc>
                <a:spcPts val="3500"/>
              </a:lnSpc>
              <a:buClr>
                <a:srgbClr val="FF0000"/>
              </a:buClr>
            </a:pPr>
            <a:r>
              <a:rPr lang="en-US" altLang="zh-CN" sz="2800" b="1" dirty="0">
                <a:solidFill>
                  <a:srgbClr val="0070C0"/>
                </a:solidFill>
              </a:rPr>
              <a:t>CO2: </a:t>
            </a:r>
            <a:r>
              <a:rPr lang="zh-CN" altLang="zh-CN" sz="2800" dirty="0"/>
              <a:t>掌握数据库建模设计技术，能够合理优化地给出数据库设计方案，</a:t>
            </a:r>
            <a:r>
              <a:rPr lang="zh-CN" altLang="zh-CN" sz="2800" dirty="0">
                <a:solidFill>
                  <a:srgbClr val="FF0000"/>
                </a:solidFill>
              </a:rPr>
              <a:t>培养数据库设计能力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  <a:buClr>
                <a:srgbClr val="FF0000"/>
              </a:buClr>
            </a:pPr>
            <a:r>
              <a:rPr lang="en-US" altLang="zh-CN" sz="2800" b="1" dirty="0">
                <a:solidFill>
                  <a:srgbClr val="0070C0"/>
                </a:solidFill>
              </a:rPr>
              <a:t>CO3: </a:t>
            </a:r>
            <a:r>
              <a:rPr lang="zh-CN" altLang="zh-CN" sz="2800" dirty="0"/>
              <a:t>掌握数据库</a:t>
            </a:r>
            <a:r>
              <a:rPr lang="en-US" altLang="zh-CN" sz="2800" dirty="0"/>
              <a:t>SQL</a:t>
            </a:r>
            <a:r>
              <a:rPr lang="zh-CN" altLang="zh-CN" sz="2800" dirty="0"/>
              <a:t>操作访问和数据库管理技术方法，能够对实现结果给出合理性说明，从而</a:t>
            </a:r>
            <a:r>
              <a:rPr lang="zh-CN" altLang="zh-CN" sz="2800" dirty="0">
                <a:solidFill>
                  <a:srgbClr val="FF0000"/>
                </a:solidFill>
              </a:rPr>
              <a:t>培养数据库操作访问与数据库系统管理能力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  <a:buClr>
                <a:srgbClr val="FF0000"/>
              </a:buClr>
            </a:pPr>
            <a:r>
              <a:rPr lang="en-US" altLang="zh-CN" sz="2800" b="1" dirty="0">
                <a:solidFill>
                  <a:srgbClr val="0070C0"/>
                </a:solidFill>
              </a:rPr>
              <a:t>CO4: </a:t>
            </a:r>
            <a:r>
              <a:rPr lang="zh-CN" altLang="zh-CN" sz="2800" dirty="0"/>
              <a:t>掌握基本的数据库应用编程技术方法及其开发工具使用，</a:t>
            </a:r>
            <a:r>
              <a:rPr lang="zh-CN" altLang="zh-CN" sz="2800" dirty="0">
                <a:solidFill>
                  <a:srgbClr val="FF0000"/>
                </a:solidFill>
              </a:rPr>
              <a:t>建立数据库应用编程的复杂工程问题解决能力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>
              <a:lnSpc>
                <a:spcPts val="3500"/>
              </a:lnSpc>
              <a:buClr>
                <a:srgbClr val="FF0000"/>
              </a:buClr>
            </a:pPr>
            <a:r>
              <a:rPr lang="en-US" altLang="zh-CN" sz="2800" b="1" dirty="0">
                <a:solidFill>
                  <a:srgbClr val="0070C0"/>
                </a:solidFill>
              </a:rPr>
              <a:t>CO5: </a:t>
            </a:r>
            <a:r>
              <a:rPr lang="zh-CN" altLang="zh-CN" sz="2800" dirty="0"/>
              <a:t>培养较高的工程学科素养、科学精神素养、工程伦理素养，在数据库应用方案设计中能够考虑公共健康与安全、节能减排与环境保护、法律与伦理，以及社会与文化等制约因素。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01415601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6939012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三、本课程教学内容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3432" y="1268760"/>
            <a:ext cx="6624736" cy="2733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/>
              <a:t>CM1:</a:t>
            </a:r>
            <a:r>
              <a:rPr lang="zh-CN" altLang="en-US" sz="2800" dirty="0"/>
              <a:t>数据库系统概论    </a:t>
            </a:r>
            <a:r>
              <a:rPr lang="en-US" altLang="zh-CN" sz="2800" dirty="0"/>
              <a:t>	4</a:t>
            </a:r>
            <a:r>
              <a:rPr lang="zh-CN" altLang="en-US" sz="2800" dirty="0"/>
              <a:t>学时</a:t>
            </a:r>
          </a:p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/>
              <a:t>CM2:</a:t>
            </a:r>
            <a:r>
              <a:rPr lang="zh-CN" altLang="en-US" sz="2800" dirty="0"/>
              <a:t>数据库关系模型	</a:t>
            </a:r>
            <a:r>
              <a:rPr lang="en-US" altLang="zh-CN" sz="2800" dirty="0"/>
              <a:t>3</a:t>
            </a:r>
            <a:r>
              <a:rPr lang="zh-CN" altLang="en-US" sz="2800" dirty="0"/>
              <a:t>学时</a:t>
            </a:r>
          </a:p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/>
              <a:t>CM3:</a:t>
            </a:r>
            <a:r>
              <a:rPr lang="zh-CN" altLang="en-US" sz="2800" dirty="0"/>
              <a:t>结构化查询语言	</a:t>
            </a:r>
            <a:r>
              <a:rPr lang="en-US" altLang="zh-CN" sz="2800" dirty="0"/>
              <a:t>6</a:t>
            </a:r>
            <a:r>
              <a:rPr lang="zh-CN" altLang="en-US" sz="2800" dirty="0"/>
              <a:t>学时</a:t>
            </a:r>
          </a:p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/>
              <a:t>CM4:</a:t>
            </a:r>
            <a:r>
              <a:rPr lang="zh-CN" altLang="en-US" sz="2800" dirty="0"/>
              <a:t>数据库设计与实现	</a:t>
            </a:r>
            <a:r>
              <a:rPr lang="en-US" altLang="zh-CN" sz="2800" dirty="0"/>
              <a:t>5</a:t>
            </a:r>
            <a:r>
              <a:rPr lang="zh-CN" altLang="en-US" sz="2800" dirty="0"/>
              <a:t>学时</a:t>
            </a:r>
          </a:p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/>
              <a:t>CM5:</a:t>
            </a:r>
            <a:r>
              <a:rPr lang="zh-CN" altLang="en-US" sz="2800" dirty="0"/>
              <a:t>数据库管理		</a:t>
            </a:r>
            <a:r>
              <a:rPr lang="en-US" altLang="zh-CN" sz="2800" dirty="0"/>
              <a:t>7</a:t>
            </a:r>
            <a:r>
              <a:rPr lang="zh-CN" altLang="en-US" sz="2800" dirty="0"/>
              <a:t>学时</a:t>
            </a:r>
          </a:p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en-US" altLang="zh-CN" sz="2800" dirty="0"/>
              <a:t>CM6:</a:t>
            </a:r>
            <a:r>
              <a:rPr lang="zh-CN" altLang="en-US" sz="2800" dirty="0"/>
              <a:t>数据库编程	     7学时</a:t>
            </a:r>
          </a:p>
        </p:txBody>
      </p:sp>
    </p:spTree>
    <p:extLst>
      <p:ext uri="{BB962C8B-B14F-4D97-AF65-F5344CB8AC3E}">
        <p14:creationId xmlns:p14="http://schemas.microsoft.com/office/powerpoint/2010/main" val="4192096863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6939012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四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、本课程学习</a:t>
            </a:r>
            <a:r>
              <a:rPr lang="zh-CN" altLang="en-US" sz="3200" noProof="0" dirty="0">
                <a:solidFill>
                  <a:srgbClr val="0033CC"/>
                </a:solidFill>
                <a:latin typeface="+mn-ea"/>
                <a:ea typeface="+mn-ea"/>
              </a:rPr>
              <a:t>对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毕业要求的支撑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6" y="1124744"/>
            <a:ext cx="10369152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25276"/>
      </p:ext>
    </p:extLst>
  </p:cSld>
  <p:clrMapOvr>
    <a:masterClrMapping/>
  </p:clrMapOvr>
  <p:transition spd="slow">
    <p:zoom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五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、本课程在专业培养方案中的定位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83432" y="1105580"/>
            <a:ext cx="44935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软件工程学科专业核心课程</a:t>
            </a:r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165100" y="1916832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六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、本课程学分与学时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83432" y="2689756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课程</a:t>
            </a:r>
            <a:r>
              <a:rPr lang="en-US" altLang="zh-CN" sz="2800" dirty="0"/>
              <a:t>2</a:t>
            </a:r>
            <a:r>
              <a:rPr lang="zh-CN" altLang="en-US" sz="2800" dirty="0"/>
              <a:t>个学分，</a:t>
            </a:r>
            <a:r>
              <a:rPr lang="en-US" altLang="zh-CN" sz="2800" dirty="0"/>
              <a:t>32</a:t>
            </a:r>
            <a:r>
              <a:rPr lang="zh-CN" altLang="en-US" sz="2800" dirty="0"/>
              <a:t>学时。</a:t>
            </a: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91344" y="357301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七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、本课程教学方式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983432" y="4498799"/>
            <a:ext cx="11208568" cy="2284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/>
              <a:t>采用“</a:t>
            </a:r>
            <a:r>
              <a:rPr lang="zh-CN" altLang="en-US" sz="2800" dirty="0">
                <a:solidFill>
                  <a:srgbClr val="FF0000"/>
                </a:solidFill>
              </a:rPr>
              <a:t>线上线下混合式教学</a:t>
            </a:r>
            <a:r>
              <a:rPr lang="zh-CN" altLang="en-US" sz="2800" dirty="0"/>
              <a:t>”方式进行课程教学，并以“</a:t>
            </a:r>
            <a:r>
              <a:rPr lang="zh-CN" altLang="en-US" sz="2800" dirty="0">
                <a:solidFill>
                  <a:srgbClr val="FF0000"/>
                </a:solidFill>
              </a:rPr>
              <a:t>项目案例学习</a:t>
            </a:r>
            <a:r>
              <a:rPr lang="zh-CN" altLang="en-US" sz="2800" dirty="0"/>
              <a:t>”、“</a:t>
            </a:r>
            <a:r>
              <a:rPr lang="zh-CN" altLang="en-US" sz="2800" dirty="0">
                <a:solidFill>
                  <a:srgbClr val="FF0000"/>
                </a:solidFill>
              </a:rPr>
              <a:t>挑战性问题研讨</a:t>
            </a:r>
            <a:r>
              <a:rPr lang="zh-CN" altLang="en-US" sz="2800" dirty="0"/>
              <a:t>”、“</a:t>
            </a:r>
            <a:r>
              <a:rPr lang="zh-CN" altLang="en-US" sz="2800" dirty="0">
                <a:solidFill>
                  <a:srgbClr val="FF0000"/>
                </a:solidFill>
              </a:rPr>
              <a:t>做中学</a:t>
            </a:r>
            <a:r>
              <a:rPr lang="zh-CN" altLang="en-US" sz="2800" dirty="0"/>
              <a:t>”等方式掌握数据库原理及应用技术。 </a:t>
            </a:r>
          </a:p>
          <a:p>
            <a:pPr marL="457200" indent="-457200">
              <a:lnSpc>
                <a:spcPts val="3500"/>
              </a:lnSpc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zh-CN" altLang="en-US" sz="2800" dirty="0"/>
              <a:t>学生还需基于</a:t>
            </a:r>
            <a:r>
              <a:rPr lang="en-US" altLang="zh-CN" sz="2800" dirty="0" err="1"/>
              <a:t>Mooc</a:t>
            </a:r>
            <a:r>
              <a:rPr lang="zh-CN" altLang="en-US" sz="2800" dirty="0"/>
              <a:t>自主学习，参与课堂讨论，并需要完成一定的课外上机实践作业。</a:t>
            </a:r>
          </a:p>
        </p:txBody>
      </p:sp>
    </p:spTree>
    <p:extLst>
      <p:ext uri="{BB962C8B-B14F-4D97-AF65-F5344CB8AC3E}">
        <p14:creationId xmlns:p14="http://schemas.microsoft.com/office/powerpoint/2010/main" val="2328645277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八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、本课程考核与评价方式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81112" y="1207073"/>
            <a:ext cx="10801200" cy="637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zh-CN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本课程考核评价环节组成：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0948C26F-20E4-EF2E-0710-2D8E24A6B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376" y="2091556"/>
            <a:ext cx="10801200" cy="61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</a:t>
            </a:r>
            <a:r>
              <a:rPr lang="en-US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MOOC</a:t>
            </a: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学习评价（占</a:t>
            </a:r>
            <a:r>
              <a:rPr lang="en-US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20%</a:t>
            </a: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FC66FBB-3EFE-A69D-CDCD-7C2F4BAFCA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36" y="2708920"/>
            <a:ext cx="10801200" cy="61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zh-CN" altLang="en-US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四次</a:t>
            </a: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课程大作业评价（占</a:t>
            </a:r>
            <a:r>
              <a:rPr lang="en-US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20%</a:t>
            </a: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缺勤次数</a:t>
            </a:r>
            <a:r>
              <a:rPr lang="en-US" altLang="zh-CN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按百分制每缺勤</a:t>
            </a:r>
            <a:r>
              <a:rPr lang="en-US" altLang="zh-CN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次扣</a:t>
            </a:r>
            <a:r>
              <a:rPr lang="en-US" altLang="zh-CN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</a:t>
            </a:r>
            <a:r>
              <a:rPr lang="en-US" altLang="zh-CN" sz="28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6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E46813-A27E-A5B6-BC0B-26164BFD1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12" y="3356992"/>
            <a:ext cx="10801200" cy="617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期末考试评价（占</a:t>
            </a:r>
            <a:r>
              <a:rPr lang="en-US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60%</a:t>
            </a:r>
            <a:r>
              <a:rPr lang="zh-CN" altLang="zh-CN" sz="26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6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03740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九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、本课程教材与参考书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479376" y="1124744"/>
            <a:ext cx="5040560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、课程教材</a:t>
            </a:r>
          </a:p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</a:rPr>
              <a:t>“数据库系统原理与实践”，陆鑫，张凤荔，陈安龙编著，机械工业出版社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</a:rPr>
              <a:t>, 2024.3</a:t>
            </a:r>
            <a:endParaRPr lang="zh-CN" altLang="en-US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735960" y="1124744"/>
            <a:ext cx="6192688" cy="562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35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6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、参考书</a:t>
            </a:r>
            <a:endParaRPr lang="en-US" altLang="zh-CN" sz="2600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[1]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数据库系统概念（原书第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版），（美）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Abraham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Siberschatz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Henry F.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Korth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en-US" altLang="zh-CN" sz="2400" dirty="0" err="1">
                <a:latin typeface="黑体" panose="02010609060101010101" pitchFamily="49" charset="-122"/>
                <a:ea typeface="黑体" panose="02010609060101010101" pitchFamily="49" charset="-122"/>
              </a:rPr>
              <a:t>S.Sudarshan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著， 杨冬青，李红艳等译，机械工业出版社，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 2021.12</a:t>
            </a:r>
          </a:p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[2]PostgreSQL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技术内幕：查询优化深度探索，张树杰 著，电子工业出版社，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2018.6</a:t>
            </a:r>
          </a:p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[3]Power Designer 16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从入门到精通，李波，孙宪丽，关颖 著，清华大学出版社，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2016.1</a:t>
            </a:r>
          </a:p>
          <a:p>
            <a:pPr algn="just" eaLnBrk="1" hangingPunct="1">
              <a:lnSpc>
                <a:spcPts val="35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[4]NoSQL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权威指南，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美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] </a:t>
            </a:r>
            <a:r>
              <a:rPr lang="zh-CN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乔·塞科著，王春生，范东来 译，人民邮电出版社，</a:t>
            </a:r>
            <a:r>
              <a:rPr lang="en-US" altLang="zh-CN" sz="2400" dirty="0">
                <a:latin typeface="黑体" panose="02010609060101010101" pitchFamily="49" charset="-122"/>
                <a:ea typeface="黑体" panose="02010609060101010101" pitchFamily="49" charset="-122"/>
              </a:rPr>
              <a:t>2016.7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93B723-A835-7892-F704-90503B18A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292" y="2990210"/>
            <a:ext cx="2714728" cy="3761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995636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十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</a:t>
            </a:r>
            <a:r>
              <a:rPr lang="en-US" altLang="zh-CN" sz="3200" dirty="0">
                <a:solidFill>
                  <a:srgbClr val="0033CC"/>
                </a:solidFill>
                <a:latin typeface="+mn-ea"/>
                <a:ea typeface="+mn-ea"/>
              </a:rPr>
              <a:t>MOOC</a:t>
            </a: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学习平台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3392" y="1052736"/>
            <a:ext cx="11089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600" dirty="0"/>
              <a:t>学堂在线课程学习平台</a:t>
            </a:r>
            <a:endParaRPr lang="zh-CN" altLang="zh-CN" sz="2600" dirty="0"/>
          </a:p>
          <a:p>
            <a:pPr eaLnBrk="1" hangingPunct="1"/>
            <a:r>
              <a:rPr lang="en-US" altLang="zh-CN" sz="2800" dirty="0">
                <a:solidFill>
                  <a:srgbClr val="0070C0"/>
                </a:solidFill>
              </a:rPr>
              <a:t>https://www.xuetangx.com/course/EST08091001150/23895177</a:t>
            </a:r>
            <a:endParaRPr lang="zh-CN" altLang="zh-CN" sz="2800" dirty="0">
              <a:solidFill>
                <a:srgbClr val="0070C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BC77BEB-83C3-17B4-87CB-296B0DF51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0" y="1974001"/>
            <a:ext cx="12069859" cy="483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91069"/>
      </p:ext>
    </p:extLst>
  </p:cSld>
  <p:clrMapOvr>
    <a:masterClrMapping/>
  </p:clrMapOvr>
  <p:transition spd="slow">
    <p:zoom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lvl="0" eaLnBrk="1" hangingPunct="1">
              <a:defRPr/>
            </a:pPr>
            <a:r>
              <a:rPr lang="en-US" altLang="zh-CN" sz="3200" dirty="0"/>
              <a:t>MOOC</a:t>
            </a:r>
            <a:r>
              <a:rPr lang="zh-CN" altLang="en-US" sz="3200" dirty="0"/>
              <a:t>学习成绩需要实名制导出留档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306A02-47F3-CAF6-57FE-0F5902DE0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1" y="1052736"/>
            <a:ext cx="11012437" cy="563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05965"/>
      </p:ext>
    </p:extLst>
  </p:cSld>
  <p:clrMapOvr>
    <a:masterClrMapping/>
  </p:clrMapOvr>
  <p:transition spd="slow">
    <p:zoom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十一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、本课程辅助教学平台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85C2BD9-BF89-499D-8209-9F6C326381BB}"/>
              </a:ext>
            </a:extLst>
          </p:cNvPr>
          <p:cNvSpPr txBox="1"/>
          <p:nvPr/>
        </p:nvSpPr>
        <p:spPr>
          <a:xfrm>
            <a:off x="9192344" y="1070248"/>
            <a:ext cx="28803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1.MOOC</a:t>
            </a:r>
            <a:r>
              <a:rPr lang="zh-CN" altLang="en-US" b="1" dirty="0"/>
              <a:t>学习包含讨论发帖。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注册用户时要实名制，把用户名设为学号</a:t>
            </a:r>
            <a:r>
              <a:rPr lang="en-US" altLang="zh-CN" b="1" dirty="0"/>
              <a:t>+</a:t>
            </a:r>
            <a:r>
              <a:rPr lang="zh-CN" altLang="en-US" b="1" dirty="0"/>
              <a:t>姓名。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3.MOOC</a:t>
            </a:r>
            <a:r>
              <a:rPr lang="zh-CN" altLang="en-US" b="1" dirty="0"/>
              <a:t>成绩的截止时间为第九周</a:t>
            </a:r>
            <a:r>
              <a:rPr lang="en-US" altLang="zh-CN" b="1" dirty="0"/>
              <a:t>4</a:t>
            </a:r>
            <a:r>
              <a:rPr lang="zh-CN" altLang="en-US" b="1" dirty="0"/>
              <a:t>月</a:t>
            </a:r>
            <a:r>
              <a:rPr lang="en-US" altLang="zh-CN" b="1" dirty="0"/>
              <a:t>27</a:t>
            </a:r>
            <a:r>
              <a:rPr lang="zh-CN" altLang="en-US" b="1" dirty="0"/>
              <a:t>日晚。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FF01AA-EB61-BBB0-DD45-1A0AF2F12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820" y="1070248"/>
            <a:ext cx="9016500" cy="480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94916"/>
      </p:ext>
    </p:extLst>
  </p:cSld>
  <p:clrMapOvr>
    <a:masterClrMapping/>
  </p:clrMapOvr>
  <p:transition spd="slow">
    <p:zoom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165100" y="332656"/>
            <a:ext cx="8811220" cy="5657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72591" tIns="36296" rIns="72591" bIns="36296">
            <a:spAutoFit/>
          </a:bodyPr>
          <a:lstStyle>
            <a:lvl1pPr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defTabSz="966470"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defTabSz="96647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marR="0" lvl="0" indent="0" algn="l" defTabSz="9664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十二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、本课程数据库</a:t>
            </a:r>
            <a:r>
              <a:rPr lang="zh-CN" altLang="en-US" sz="3200" dirty="0">
                <a:solidFill>
                  <a:srgbClr val="0033CC"/>
                </a:solidFill>
                <a:latin typeface="+mn-ea"/>
                <a:ea typeface="+mn-ea"/>
              </a:rPr>
              <a:t>学习软件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51384" y="1268760"/>
            <a:ext cx="8918376" cy="3024336"/>
          </a:xfrm>
          <a:prstGeom prst="rect">
            <a:avLst/>
          </a:prstGeom>
        </p:spPr>
        <p:txBody>
          <a:bodyPr/>
          <a:lstStyle>
            <a:lvl1pPr marL="335280" indent="-33528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200">
                <a:solidFill>
                  <a:schemeClr val="tx1"/>
                </a:solidFill>
                <a:latin typeface="+mn-lt"/>
                <a:ea typeface="Malgun Gothic" panose="020B0503020000020004" pitchFamily="34" charset="-127"/>
                <a:cs typeface="+mn-cs"/>
              </a:defRPr>
            </a:lvl1pPr>
            <a:lvl2pPr marL="666750" indent="-3289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19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2pPr>
            <a:lvl3pPr marL="970280" indent="-3016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3pPr>
            <a:lvl4pPr marL="1260475" indent="-2889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4pPr>
            <a:lvl5pPr marL="15525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5pPr>
            <a:lvl6pPr marL="18954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383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812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241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课程实践使用的</a:t>
            </a:r>
            <a:r>
              <a:rPr lang="zh-CN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数据库软件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[1]</a:t>
            </a:r>
            <a:r>
              <a:rPr lang="en-US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PostgreSQL</a:t>
            </a:r>
            <a:r>
              <a:rPr lang="zh-CN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11 </a:t>
            </a:r>
            <a:r>
              <a:rPr lang="zh-CN" altLang="en-US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以上版本</a:t>
            </a:r>
            <a:endParaRPr lang="zh-CN" altLang="zh-CN" sz="2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[2]</a:t>
            </a:r>
            <a:r>
              <a:rPr lang="en-US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pgAdmin4</a:t>
            </a:r>
            <a:endParaRPr lang="zh-CN" altLang="zh-CN" sz="2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zh-CN" sz="2800" kern="0" dirty="0">
                <a:latin typeface="黑体" panose="02010609060101010101" pitchFamily="49" charset="-122"/>
                <a:ea typeface="黑体" panose="02010609060101010101" pitchFamily="49" charset="-122"/>
              </a:rPr>
              <a:t>[3]Sybase PowerDesigner16.5</a:t>
            </a:r>
            <a:endParaRPr lang="zh-CN" altLang="zh-CN" sz="2800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5646732"/>
      </p:ext>
    </p:extLst>
  </p:cSld>
  <p:clrMapOvr>
    <a:masterClrMapping/>
  </p:clrMapOvr>
  <p:transition spd="slow">
    <p:zoom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6550EA0D-268B-4506-B936-23AA8D25F402}"/>
              </a:ext>
            </a:extLst>
          </p:cNvPr>
          <p:cNvSpPr txBox="1">
            <a:spLocks noChangeArrowheads="1"/>
          </p:cNvSpPr>
          <p:nvPr/>
        </p:nvSpPr>
        <p:spPr>
          <a:xfrm>
            <a:off x="479376" y="332656"/>
            <a:ext cx="8928992" cy="3240360"/>
          </a:xfrm>
          <a:prstGeom prst="rect">
            <a:avLst/>
          </a:prstGeom>
        </p:spPr>
        <p:txBody>
          <a:bodyPr/>
          <a:lstStyle>
            <a:lvl1pPr marL="335280" indent="-33528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200">
                <a:solidFill>
                  <a:schemeClr val="tx1"/>
                </a:solidFill>
                <a:latin typeface="+mn-lt"/>
                <a:ea typeface="Malgun Gothic" panose="020B0503020000020004" pitchFamily="34" charset="-127"/>
                <a:cs typeface="+mn-cs"/>
              </a:defRPr>
            </a:lvl1pPr>
            <a:lvl2pPr marL="666750" indent="-3289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19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2pPr>
            <a:lvl3pPr marL="970280" indent="-3016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6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3pPr>
            <a:lvl4pPr marL="1260475" indent="-288925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4pPr>
            <a:lvl5pPr marL="15525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Malgun Gothic" panose="020B0503020000020004" pitchFamily="34" charset="-127"/>
              </a:defRPr>
            </a:lvl5pPr>
            <a:lvl6pPr marL="18954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383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812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24175" indent="-290830" algn="l" rtl="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v"/>
              <a:defRPr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课外工作：</a:t>
            </a:r>
            <a:endParaRPr lang="en-US" altLang="zh-CN" sz="2600" dirty="0">
              <a:solidFill>
                <a:srgbClr val="0033CC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看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视频（上课前）</a:t>
            </a:r>
            <a:r>
              <a:rPr lang="zh-CN" altLang="zh-CN" sz="2600" dirty="0">
                <a:solidFill>
                  <a:srgbClr val="0033CC"/>
                </a:solidFill>
                <a:latin typeface="+mn-ea"/>
                <a:ea typeface="+mn-ea"/>
              </a:rPr>
              <a:t> </a:t>
            </a:r>
          </a:p>
          <a:p>
            <a:pPr algn="just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答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题（</a:t>
            </a:r>
            <a:r>
              <a:rPr lang="en-US" altLang="zh-CN" sz="2600" dirty="0">
                <a:solidFill>
                  <a:srgbClr val="0033CC"/>
                </a:solidFill>
                <a:latin typeface="+mn-ea"/>
                <a:ea typeface="+mn-ea"/>
              </a:rPr>
              <a:t>	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教材</a:t>
            </a:r>
            <a:r>
              <a:rPr lang="en-US" altLang="zh-CN" sz="2600" dirty="0">
                <a:solidFill>
                  <a:srgbClr val="0033CC"/>
                </a:solidFill>
                <a:latin typeface="+mn-ea"/>
                <a:ea typeface="+mn-ea"/>
              </a:rPr>
              <a:t>——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每小节后讨论题、每章后练习题；</a:t>
            </a:r>
            <a:endParaRPr lang="en-US" altLang="zh-CN" sz="2600" dirty="0">
              <a:solidFill>
                <a:srgbClr val="0033CC"/>
              </a:solidFill>
              <a:latin typeface="+mn-ea"/>
              <a:ea typeface="+mn-ea"/>
            </a:endParaRPr>
          </a:p>
          <a:p>
            <a:pPr marL="0" indent="0" algn="just" eaLnBrk="1" hangingPunct="1">
              <a:lnSpc>
                <a:spcPct val="130000"/>
              </a:lnSpc>
              <a:buNone/>
            </a:pPr>
            <a:r>
              <a:rPr lang="en-US" altLang="zh-CN" sz="2600" dirty="0">
                <a:solidFill>
                  <a:srgbClr val="0033CC"/>
                </a:solidFill>
                <a:latin typeface="+mn-ea"/>
                <a:ea typeface="+mn-ea"/>
              </a:rPr>
              <a:t>		MOOC——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测试题；</a:t>
            </a:r>
            <a:r>
              <a:rPr lang="en-US" altLang="zh-CN" sz="2600" dirty="0">
                <a:solidFill>
                  <a:srgbClr val="0033CC"/>
                </a:solidFill>
                <a:latin typeface="+mn-ea"/>
                <a:ea typeface="+mn-ea"/>
              </a:rPr>
              <a:t>	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）</a:t>
            </a:r>
            <a:endParaRPr lang="en-US" altLang="zh-CN" sz="2600" dirty="0">
              <a:solidFill>
                <a:srgbClr val="0033CC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600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做</a:t>
            </a:r>
            <a:r>
              <a:rPr lang="zh-CN" altLang="en-US" sz="2600" dirty="0">
                <a:solidFill>
                  <a:srgbClr val="0033CC"/>
                </a:solidFill>
                <a:latin typeface="+mn-ea"/>
                <a:ea typeface="+mn-ea"/>
              </a:rPr>
              <a:t>实践作业</a:t>
            </a:r>
            <a:endParaRPr lang="zh-CN" altLang="zh-CN" sz="2600" dirty="0">
              <a:solidFill>
                <a:srgbClr val="0033CC"/>
              </a:solidFill>
              <a:latin typeface="+mn-ea"/>
              <a:ea typeface="+mn-ea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0C3A28B-0ED3-44A5-8E58-3E4D41667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376" y="3510101"/>
            <a:ext cx="8928992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|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z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]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0000"/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solidFill>
                  <a:srgbClr val="0033CC"/>
                </a:solidFill>
                <a:latin typeface="+mn-ea"/>
              </a:rPr>
              <a:t>课上：</a:t>
            </a:r>
            <a:endParaRPr lang="zh-CN" altLang="zh-CN" sz="2600" dirty="0">
              <a:solidFill>
                <a:srgbClr val="0033CC"/>
              </a:solidFill>
              <a:latin typeface="+mn-ea"/>
            </a:endParaRPr>
          </a:p>
          <a:p>
            <a:pPr algn="just" eaLnBrk="1" hangingPunct="1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0033CC"/>
                </a:solidFill>
                <a:latin typeface="+mn-ea"/>
              </a:rPr>
              <a:t>签到</a:t>
            </a:r>
            <a:endParaRPr lang="en-US" altLang="zh-CN" sz="2600" dirty="0">
              <a:solidFill>
                <a:srgbClr val="0033CC"/>
              </a:solidFill>
              <a:latin typeface="+mn-ea"/>
            </a:endParaRPr>
          </a:p>
          <a:p>
            <a:pPr algn="just" eaLnBrk="1" hangingPunct="1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0033CC"/>
                </a:solidFill>
                <a:latin typeface="+mn-ea"/>
              </a:rPr>
              <a:t>教师复习、讲解重点难点帮助理解</a:t>
            </a:r>
            <a:endParaRPr lang="en-US" altLang="zh-CN" sz="2600" dirty="0">
              <a:solidFill>
                <a:srgbClr val="0033CC"/>
              </a:solidFill>
              <a:latin typeface="+mn-ea"/>
            </a:endParaRPr>
          </a:p>
          <a:p>
            <a:pPr algn="just" eaLnBrk="1" hangingPunct="1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0033CC"/>
                </a:solidFill>
                <a:latin typeface="+mn-ea"/>
              </a:rPr>
              <a:t>课堂讨论</a:t>
            </a:r>
            <a:endParaRPr lang="en-US" altLang="zh-CN" sz="2600" dirty="0">
              <a:solidFill>
                <a:srgbClr val="0033C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369722"/>
      </p:ext>
    </p:extLst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64000" y="2924175"/>
            <a:ext cx="449353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课程介绍结束！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5_색종이 상자_2">
  <a:themeElements>
    <a:clrScheme name="4_색종이 상자_2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4_색종이 상자_2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_2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색종이 상자">
  <a:themeElements>
    <a:clrScheme name="5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5_색종이 상자">
      <a:majorFont>
        <a:latin typeface="Gulim"/>
        <a:ea typeface="Gulim"/>
        <a:cs typeface=""/>
      </a:majorFont>
      <a:minorFont>
        <a:latin typeface="Gulim"/>
        <a:ea typeface="Guli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53882" dir="13500000" algn="ctr" rotWithShape="0">
            <a:schemeClr val="bg2">
              <a:alpha val="50000"/>
            </a:schemeClr>
          </a:outerShdw>
        </a:effectLst>
      </a:spPr>
      <a:bodyPr vert="horz" wrap="none" lIns="91440" tIns="45720" rIns="91440" bIns="45720" numCol="1" anchor="ctr" anchorCtr="0" compatLnSpc="1"/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anose="05000000000000000000" pitchFamily="2" charset="2"/>
          <a:buNone/>
          <a:defRPr kumimoji="0" lang="ko-K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黑体" panose="02010609060101010101" pitchFamily="49" charset="-122"/>
            <a:ea typeface="黑体" panose="02010609060101010101" pitchFamily="49" charset="-122"/>
          </a:defRPr>
        </a:defPPr>
      </a:lstStyle>
    </a:lnDef>
  </a:objectDefaults>
  <a:extraClrSchemeLst>
    <a:extraClrScheme>
      <a:clrScheme name="5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3251</TotalTime>
  <Words>751</Words>
  <Application>Microsoft Office PowerPoint</Application>
  <PresentationFormat>宽屏</PresentationFormat>
  <Paragraphs>66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Gulim</vt:lpstr>
      <vt:lpstr>仿宋_GB2312</vt:lpstr>
      <vt:lpstr>黑体</vt:lpstr>
      <vt:lpstr>隶书</vt:lpstr>
      <vt:lpstr>Arial</vt:lpstr>
      <vt:lpstr>Calibri</vt:lpstr>
      <vt:lpstr>Tahoma</vt:lpstr>
      <vt:lpstr>Times New Roman</vt:lpstr>
      <vt:lpstr>Wingdings</vt:lpstr>
      <vt:lpstr>5_색종이 상자_2</vt:lpstr>
      <vt:lpstr>5_색종이 상자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頂勲爤鞝犿厡鞚挫厴</dc:title>
  <dc:creator>kmac</dc:creator>
  <cp:lastModifiedBy>ning zhang</cp:lastModifiedBy>
  <cp:revision>3101</cp:revision>
  <dcterms:created xsi:type="dcterms:W3CDTF">2001-08-06T11:10:00Z</dcterms:created>
  <dcterms:modified xsi:type="dcterms:W3CDTF">2025-02-26T10:07:31Z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2052-11.1.0.8205</vt:lpwstr>
  </property>
</Properties>
</file>