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61" r:id="rId3"/>
    <p:sldId id="257" r:id="rId4"/>
    <p:sldId id="258" r:id="rId5"/>
    <p:sldId id="259" r:id="rId6"/>
    <p:sldId id="260" r:id="rId7"/>
    <p:sldId id="262" r:id="rId8"/>
    <p:sldId id="283"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1" r:id="rId26"/>
    <p:sldId id="282" r:id="rId27"/>
    <p:sldId id="280" r:id="rId28"/>
    <p:sldId id="279"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38CFB18-2ACD-415F-967C-317FC62ECE32}">
          <p14:sldIdLst>
            <p14:sldId id="256"/>
            <p14:sldId id="261"/>
            <p14:sldId id="257"/>
            <p14:sldId id="258"/>
            <p14:sldId id="259"/>
            <p14:sldId id="260"/>
            <p14:sldId id="262"/>
            <p14:sldId id="283"/>
            <p14:sldId id="263"/>
            <p14:sldId id="264"/>
            <p14:sldId id="265"/>
            <p14:sldId id="266"/>
            <p14:sldId id="267"/>
            <p14:sldId id="268"/>
            <p14:sldId id="269"/>
            <p14:sldId id="270"/>
            <p14:sldId id="271"/>
            <p14:sldId id="272"/>
            <p14:sldId id="273"/>
            <p14:sldId id="274"/>
            <p14:sldId id="275"/>
            <p14:sldId id="276"/>
            <p14:sldId id="277"/>
          </p14:sldIdLst>
        </p14:section>
        <p14:section name="无标题节" id="{C0561256-2D84-49E8-AA4C-D87CCBEBA28C}">
          <p14:sldIdLst>
            <p14:sldId id="278"/>
            <p14:sldId id="281"/>
            <p14:sldId id="282"/>
            <p14:sldId id="280"/>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8530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94AB3-7366-39AC-04AF-A61C1FDE1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43A8E-A04B-69EC-4967-06F5263A4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5245A-FAF2-93B4-DDBE-7F9C2EA6A3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135731-F070-C77D-25A7-D7B2DC42BD9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13762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1166813"/>
            <a:ext cx="8001000" cy="1333500"/>
          </a:xfrm>
          <a:prstGeom prst="rect">
            <a:avLst/>
          </a:prstGeom>
          <a:noFill/>
          <a:ln/>
        </p:spPr>
        <p:txBody>
          <a:bodyPr vert="horz" wrap="square" lIns="0" tIns="0" rIns="0" bIns="0" rtlCol="0" anchor="ctr"/>
          <a:lstStyle/>
          <a:p>
            <a:pPr marL="0" indent="0" algn="ctr">
              <a:lnSpc>
                <a:spcPts val="5250"/>
              </a:lnSpc>
              <a:buNone/>
            </a:pPr>
            <a:r>
              <a:rPr lang="en-US" sz="3750" b="1" dirty="0">
                <a:solidFill>
                  <a:srgbClr val="333333"/>
                </a:solidFill>
                <a:latin typeface="Microsoft YaHei" pitchFamily="34" charset="0"/>
                <a:ea typeface="Microsoft YaHei" pitchFamily="34" charset="-122"/>
                <a:cs typeface="Microsoft YaHei" pitchFamily="34" charset="-120"/>
              </a:rPr>
              <a:t>EEG数据分析中的数据增强技术演进与前沿综述</a:t>
            </a:r>
            <a:endParaRPr lang="en-US" sz="3750" dirty="0"/>
          </a:p>
        </p:txBody>
      </p:sp>
      <p:sp>
        <p:nvSpPr>
          <p:cNvPr id="4" name="Text 1"/>
          <p:cNvSpPr/>
          <p:nvPr/>
        </p:nvSpPr>
        <p:spPr>
          <a:xfrm>
            <a:off x="571500" y="2576513"/>
            <a:ext cx="8001000" cy="400050"/>
          </a:xfrm>
          <a:prstGeom prst="rect">
            <a:avLst/>
          </a:prstGeom>
          <a:noFill/>
          <a:ln/>
        </p:spPr>
        <p:txBody>
          <a:bodyPr vert="horz" wrap="square" lIns="0" tIns="0" rIns="0" bIns="0" rtlCol="0" anchor="ctr"/>
          <a:lstStyle/>
          <a:p>
            <a:pPr marL="0" indent="0" algn="ctr">
              <a:lnSpc>
                <a:spcPts val="3150"/>
              </a:lnSpc>
              <a:buNone/>
            </a:pPr>
            <a:endParaRPr lang="en-US" sz="2250" dirty="0"/>
          </a:p>
        </p:txBody>
      </p:sp>
      <p:sp>
        <p:nvSpPr>
          <p:cNvPr id="5" name="Shape 2"/>
          <p:cNvSpPr/>
          <p:nvPr/>
        </p:nvSpPr>
        <p:spPr>
          <a:xfrm>
            <a:off x="4269581" y="3309938"/>
            <a:ext cx="604838" cy="114300"/>
          </a:xfrm>
          <a:prstGeom prst="rect">
            <a:avLst/>
          </a:prstGeom>
          <a:solidFill>
            <a:srgbClr val="3C75AA"/>
          </a:solidFill>
          <a:ln/>
        </p:spPr>
      </p:sp>
      <p:sp>
        <p:nvSpPr>
          <p:cNvPr id="6" name="Text 3"/>
          <p:cNvSpPr/>
          <p:nvPr/>
        </p:nvSpPr>
        <p:spPr>
          <a:xfrm>
            <a:off x="571500" y="3757613"/>
            <a:ext cx="8001000" cy="219075"/>
          </a:xfrm>
          <a:prstGeom prst="rect">
            <a:avLst/>
          </a:prstGeom>
          <a:noFill/>
          <a:ln/>
        </p:spPr>
        <p:txBody>
          <a:bodyPr vert="horz" wrap="square" lIns="0" tIns="0" rIns="0" bIns="0" rtlCol="0" anchor="ctr"/>
          <a:lstStyle/>
          <a:p>
            <a:pPr marL="0" indent="0" algn="ctr">
              <a:lnSpc>
                <a:spcPts val="1725"/>
              </a:lnSpc>
              <a:buNone/>
            </a:pPr>
            <a:r>
              <a:rPr lang="zh-CN" altLang="en-US" sz="1200" dirty="0">
                <a:solidFill>
                  <a:srgbClr val="666666"/>
                </a:solidFill>
                <a:latin typeface="Microsoft YaHei" pitchFamily="34" charset="0"/>
                <a:ea typeface="Microsoft YaHei" pitchFamily="34" charset="-122"/>
              </a:rPr>
              <a:t>第二组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381750"/>
          </a:xfrm>
          <a:prstGeom prst="rect">
            <a:avLst/>
          </a:prstGeom>
          <a:solidFill>
            <a:srgbClr val="FFFFFF"/>
          </a:solidFill>
          <a:ln/>
        </p:spPr>
      </p:sp>
      <p:pic>
        <p:nvPicPr>
          <p:cNvPr id="3" name="Image 0" descr="preencoded.png"/>
          <p:cNvPicPr>
            <a:picLocks noChangeAspect="1"/>
          </p:cNvPicPr>
          <p:nvPr/>
        </p:nvPicPr>
        <p:blipFill>
          <a:blip r:embed="rId3"/>
          <a:srcRect l="9701" r="9701"/>
          <a:stretch/>
        </p:blipFill>
        <p:spPr>
          <a:xfrm>
            <a:off x="0" y="0"/>
            <a:ext cx="9144000" cy="638175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a:lnSpc>
                <a:spcPts val="3150"/>
              </a:lnSpc>
            </a:pPr>
            <a:r>
              <a:rPr lang="en-US" sz="2250" b="1" dirty="0" err="1">
                <a:solidFill>
                  <a:srgbClr val="333333"/>
                </a:solidFill>
                <a:latin typeface="Microsoft YaHei" pitchFamily="34" charset="0"/>
                <a:ea typeface="Microsoft YaHei" pitchFamily="34" charset="-122"/>
                <a:cs typeface="Microsoft YaHei" pitchFamily="34" charset="-120"/>
              </a:rPr>
              <a:t>本文采用</a:t>
            </a:r>
            <a:r>
              <a:rPr lang="zh-CN" altLang="en-US" sz="2250" b="1" dirty="0">
                <a:solidFill>
                  <a:srgbClr val="333333"/>
                </a:solidFill>
                <a:latin typeface="Microsoft YaHei" pitchFamily="34" charset="0"/>
                <a:ea typeface="Microsoft YaHei" pitchFamily="34" charset="-122"/>
                <a:cs typeface="Microsoft YaHei" pitchFamily="34" charset="-120"/>
              </a:rPr>
              <a:t>以下</a:t>
            </a:r>
            <a:r>
              <a:rPr lang="en-US" sz="2250" b="1" dirty="0" err="1">
                <a:solidFill>
                  <a:srgbClr val="333333"/>
                </a:solidFill>
                <a:latin typeface="Microsoft YaHei" pitchFamily="34" charset="0"/>
                <a:ea typeface="Microsoft YaHei" pitchFamily="34" charset="-122"/>
                <a:cs typeface="Microsoft YaHei" pitchFamily="34" charset="-120"/>
              </a:rPr>
              <a:t>主线的组织架构，逐层解构</a:t>
            </a:r>
            <a:r>
              <a:rPr lang="en-US" altLang="zh-CN" sz="2400" b="1" dirty="0" err="1">
                <a:solidFill>
                  <a:srgbClr val="333333"/>
                </a:solidFill>
                <a:latin typeface="Microsoft YaHei" pitchFamily="34" charset="0"/>
                <a:ea typeface="Microsoft YaHei" pitchFamily="34" charset="-122"/>
                <a:cs typeface="Microsoft YaHei" pitchFamily="34" charset="-120"/>
              </a:rPr>
              <a:t>EEG</a:t>
            </a:r>
            <a:r>
              <a:rPr lang="en-US" altLang="zh-CN" sz="2250" b="1" dirty="0" err="1">
                <a:solidFill>
                  <a:srgbClr val="333333"/>
                </a:solidFill>
                <a:latin typeface="Microsoft YaHei" pitchFamily="34" charset="0"/>
                <a:ea typeface="Microsoft YaHei" pitchFamily="34" charset="-122"/>
                <a:cs typeface="Microsoft YaHei" pitchFamily="34" charset="-120"/>
              </a:rPr>
              <a:t>数据分析中的数据增强技术</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8" name="Text 4"/>
          <p:cNvSpPr/>
          <p:nvPr/>
        </p:nvSpPr>
        <p:spPr>
          <a:xfrm>
            <a:off x="595313" y="5276552"/>
            <a:ext cx="2362200" cy="87630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0" name="Text 6"/>
          <p:cNvSpPr/>
          <p:nvPr/>
        </p:nvSpPr>
        <p:spPr>
          <a:xfrm>
            <a:off x="595313" y="4084439"/>
            <a:ext cx="2362200" cy="87630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2" name="Text 8"/>
          <p:cNvSpPr/>
          <p:nvPr/>
        </p:nvSpPr>
        <p:spPr>
          <a:xfrm>
            <a:off x="595313" y="3101876"/>
            <a:ext cx="2362200" cy="66675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4" name="Text 10"/>
          <p:cNvSpPr/>
          <p:nvPr/>
        </p:nvSpPr>
        <p:spPr>
          <a:xfrm>
            <a:off x="595313" y="2119313"/>
            <a:ext cx="2362200" cy="66675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6" name="Text 12"/>
          <p:cNvSpPr/>
          <p:nvPr/>
        </p:nvSpPr>
        <p:spPr>
          <a:xfrm>
            <a:off x="6186488" y="2328863"/>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8" name="Text 14"/>
          <p:cNvSpPr/>
          <p:nvPr/>
        </p:nvSpPr>
        <p:spPr>
          <a:xfrm>
            <a:off x="6186488" y="3311426"/>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20" name="Text 16"/>
          <p:cNvSpPr/>
          <p:nvPr/>
        </p:nvSpPr>
        <p:spPr>
          <a:xfrm>
            <a:off x="6186488" y="4293989"/>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22" name="Text 18"/>
          <p:cNvSpPr/>
          <p:nvPr/>
        </p:nvSpPr>
        <p:spPr>
          <a:xfrm>
            <a:off x="6186488" y="5276552"/>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pic>
        <p:nvPicPr>
          <p:cNvPr id="36" name="Image 1" descr="preencoded.png">
            <a:extLst>
              <a:ext uri="{FF2B5EF4-FFF2-40B4-BE49-F238E27FC236}">
                <a16:creationId xmlns:a16="http://schemas.microsoft.com/office/drawing/2014/main" id="{6D17C0C6-7430-F1D9-9CF5-682E561167F6}"/>
              </a:ext>
            </a:extLst>
          </p:cNvPr>
          <p:cNvPicPr>
            <a:picLocks noChangeAspect="1"/>
          </p:cNvPicPr>
          <p:nvPr/>
        </p:nvPicPr>
        <p:blipFill>
          <a:blip r:embed="rId4"/>
          <a:srcRect/>
          <a:stretch/>
        </p:blipFill>
        <p:spPr>
          <a:xfrm>
            <a:off x="125435" y="1777164"/>
            <a:ext cx="8382000" cy="2390775"/>
          </a:xfrm>
          <a:prstGeom prst="rect">
            <a:avLst/>
          </a:prstGeom>
        </p:spPr>
      </p:pic>
      <p:sp>
        <p:nvSpPr>
          <p:cNvPr id="38" name="Text 3">
            <a:extLst>
              <a:ext uri="{FF2B5EF4-FFF2-40B4-BE49-F238E27FC236}">
                <a16:creationId xmlns:a16="http://schemas.microsoft.com/office/drawing/2014/main" id="{9E330125-29C9-70EB-7EAC-0DE3F2D80B95}"/>
              </a:ext>
            </a:extLst>
          </p:cNvPr>
          <p:cNvSpPr/>
          <p:nvPr/>
        </p:nvSpPr>
        <p:spPr>
          <a:xfrm>
            <a:off x="8044" y="2328863"/>
            <a:ext cx="2362200" cy="252413"/>
          </a:xfrm>
          <a:prstGeom prst="rect">
            <a:avLst/>
          </a:prstGeom>
          <a:noFill/>
          <a:ln/>
        </p:spPr>
        <p:txBody>
          <a:bodyPr vert="horz" wrap="square" lIns="0" tIns="0" rIns="0" bIns="0" rtlCol="0" anchor="ctr"/>
          <a:lstStyle/>
          <a:p>
            <a:pPr marL="0" indent="0" algn="ctr">
              <a:lnSpc>
                <a:spcPts val="1688"/>
              </a:lnSpc>
              <a:buNone/>
            </a:pPr>
            <a:r>
              <a:rPr lang="zh-CN" altLang="en-US" sz="1200" dirty="0">
                <a:latin typeface="微软雅黑" panose="020B0503020204020204" pitchFamily="34" charset="-122"/>
                <a:ea typeface="微软雅黑" panose="020B0503020204020204" pitchFamily="34" charset="-122"/>
              </a:rPr>
              <a:t>目标，挑战与必要性</a:t>
            </a:r>
            <a:endParaRPr lang="en-US" sz="1200" dirty="0">
              <a:latin typeface="微软雅黑" panose="020B0503020204020204" pitchFamily="34" charset="-122"/>
              <a:ea typeface="微软雅黑" panose="020B0503020204020204" pitchFamily="34" charset="-122"/>
            </a:endParaRPr>
          </a:p>
        </p:txBody>
      </p:sp>
      <p:sp>
        <p:nvSpPr>
          <p:cNvPr id="39" name="Text 3">
            <a:extLst>
              <a:ext uri="{FF2B5EF4-FFF2-40B4-BE49-F238E27FC236}">
                <a16:creationId xmlns:a16="http://schemas.microsoft.com/office/drawing/2014/main" id="{4DB84D19-BB3B-0039-F067-6709D640C8EC}"/>
              </a:ext>
            </a:extLst>
          </p:cNvPr>
          <p:cNvSpPr/>
          <p:nvPr/>
        </p:nvSpPr>
        <p:spPr>
          <a:xfrm>
            <a:off x="2094696" y="2292892"/>
            <a:ext cx="2362200" cy="252413"/>
          </a:xfrm>
          <a:prstGeom prst="rect">
            <a:avLst/>
          </a:prstGeom>
          <a:noFill/>
          <a:ln/>
        </p:spPr>
        <p:txBody>
          <a:bodyPr vert="horz" wrap="square" lIns="0" tIns="0" rIns="0" bIns="0" rtlCol="0" anchor="ctr"/>
          <a:lstStyle/>
          <a:p>
            <a:pPr marL="0" indent="0" algn="ctr">
              <a:lnSpc>
                <a:spcPts val="1688"/>
              </a:lnSpc>
              <a:buNone/>
            </a:pPr>
            <a:r>
              <a:rPr lang="zh-CN" altLang="en-US" sz="1200" dirty="0">
                <a:latin typeface="微软雅黑" panose="020B0503020204020204" pitchFamily="34" charset="-122"/>
                <a:ea typeface="微软雅黑" panose="020B0503020204020204" pitchFamily="34" charset="-122"/>
              </a:rPr>
              <a:t>分类与演进</a:t>
            </a:r>
            <a:endParaRPr lang="en-US" sz="1200" dirty="0">
              <a:latin typeface="微软雅黑" panose="020B0503020204020204" pitchFamily="34" charset="-122"/>
              <a:ea typeface="微软雅黑" panose="020B0503020204020204" pitchFamily="34" charset="-122"/>
            </a:endParaRPr>
          </a:p>
        </p:txBody>
      </p:sp>
      <p:sp>
        <p:nvSpPr>
          <p:cNvPr id="40" name="Text 3">
            <a:extLst>
              <a:ext uri="{FF2B5EF4-FFF2-40B4-BE49-F238E27FC236}">
                <a16:creationId xmlns:a16="http://schemas.microsoft.com/office/drawing/2014/main" id="{01A168F1-7B5E-C877-D70A-B0C369CD329C}"/>
              </a:ext>
            </a:extLst>
          </p:cNvPr>
          <p:cNvSpPr/>
          <p:nvPr/>
        </p:nvSpPr>
        <p:spPr>
          <a:xfrm>
            <a:off x="4062107" y="2264773"/>
            <a:ext cx="2362200" cy="252413"/>
          </a:xfrm>
          <a:prstGeom prst="rect">
            <a:avLst/>
          </a:prstGeom>
          <a:noFill/>
          <a:ln/>
        </p:spPr>
        <p:txBody>
          <a:bodyPr vert="horz" wrap="square" lIns="0" tIns="0" rIns="0" bIns="0" rtlCol="0" anchor="ctr"/>
          <a:lstStyle/>
          <a:p>
            <a:pPr marL="0" indent="0" algn="ctr">
              <a:lnSpc>
                <a:spcPts val="1688"/>
              </a:lnSpc>
              <a:buNone/>
            </a:pPr>
            <a:r>
              <a:rPr lang="zh-CN" altLang="en-US" sz="1200" dirty="0">
                <a:latin typeface="微软雅黑" panose="020B0503020204020204" pitchFamily="34" charset="-122"/>
                <a:ea typeface="微软雅黑" panose="020B0503020204020204" pitchFamily="34" charset="-122"/>
              </a:rPr>
              <a:t>实践与挑战</a:t>
            </a:r>
            <a:endParaRPr lang="en-US" sz="1200" dirty="0">
              <a:latin typeface="微软雅黑" panose="020B0503020204020204" pitchFamily="34" charset="-122"/>
              <a:ea typeface="微软雅黑" panose="020B0503020204020204" pitchFamily="34" charset="-122"/>
            </a:endParaRPr>
          </a:p>
        </p:txBody>
      </p:sp>
      <p:sp>
        <p:nvSpPr>
          <p:cNvPr id="41" name="Text 3">
            <a:extLst>
              <a:ext uri="{FF2B5EF4-FFF2-40B4-BE49-F238E27FC236}">
                <a16:creationId xmlns:a16="http://schemas.microsoft.com/office/drawing/2014/main" id="{3DD59054-5AAD-9D3A-564F-9E814BDFE49B}"/>
              </a:ext>
            </a:extLst>
          </p:cNvPr>
          <p:cNvSpPr/>
          <p:nvPr/>
        </p:nvSpPr>
        <p:spPr>
          <a:xfrm>
            <a:off x="5894335" y="2292891"/>
            <a:ext cx="2362200" cy="252413"/>
          </a:xfrm>
          <a:prstGeom prst="rect">
            <a:avLst/>
          </a:prstGeom>
          <a:noFill/>
          <a:ln/>
        </p:spPr>
        <p:txBody>
          <a:bodyPr vert="horz" wrap="square" lIns="0" tIns="0" rIns="0" bIns="0" rtlCol="0" anchor="ctr"/>
          <a:lstStyle/>
          <a:p>
            <a:pPr marL="0" indent="0" algn="ctr">
              <a:lnSpc>
                <a:spcPts val="1688"/>
              </a:lnSpc>
              <a:buNone/>
            </a:pPr>
            <a:r>
              <a:rPr lang="zh-CN" altLang="en-US" sz="1200" dirty="0">
                <a:latin typeface="微软雅黑" panose="020B0503020204020204" pitchFamily="34" charset="-122"/>
                <a:ea typeface="微软雅黑" panose="020B0503020204020204" pitchFamily="34" charset="-122"/>
              </a:rPr>
              <a:t>应用场景</a:t>
            </a:r>
            <a:endParaRPr lang="en-US" sz="1200" dirty="0">
              <a:latin typeface="微软雅黑" panose="020B0503020204020204" pitchFamily="34" charset="-122"/>
              <a:ea typeface="微软雅黑" panose="020B0503020204020204" pitchFamily="34" charset="-122"/>
            </a:endParaRPr>
          </a:p>
        </p:txBody>
      </p:sp>
      <p:sp>
        <p:nvSpPr>
          <p:cNvPr id="43" name="Text 3">
            <a:extLst>
              <a:ext uri="{FF2B5EF4-FFF2-40B4-BE49-F238E27FC236}">
                <a16:creationId xmlns:a16="http://schemas.microsoft.com/office/drawing/2014/main" id="{00069360-C792-B1A7-4C01-61C81B08A343}"/>
              </a:ext>
            </a:extLst>
          </p:cNvPr>
          <p:cNvSpPr/>
          <p:nvPr/>
        </p:nvSpPr>
        <p:spPr>
          <a:xfrm>
            <a:off x="3074904" y="3768626"/>
            <a:ext cx="2362200" cy="252413"/>
          </a:xfrm>
          <a:prstGeom prst="rect">
            <a:avLst/>
          </a:prstGeom>
          <a:noFill/>
          <a:ln/>
        </p:spPr>
        <p:txBody>
          <a:bodyPr vert="horz" wrap="square" lIns="0" tIns="0" rIns="0" bIns="0" rtlCol="0" anchor="ctr"/>
          <a:lstStyle/>
          <a:p>
            <a:pPr marL="0" indent="0" algn="ctr">
              <a:lnSpc>
                <a:spcPts val="1688"/>
              </a:lnSpc>
              <a:buNone/>
            </a:pPr>
            <a:r>
              <a:rPr lang="zh-CN" altLang="en-US" sz="1200" dirty="0">
                <a:latin typeface="微软雅黑" panose="020B0503020204020204" pitchFamily="34" charset="-122"/>
                <a:ea typeface="微软雅黑" panose="020B0503020204020204" pitchFamily="34" charset="-122"/>
              </a:rPr>
              <a:t>总结与展望</a:t>
            </a:r>
            <a:endParaRPr 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2952750" cy="5143500"/>
          </a:xfrm>
          <a:prstGeom prst="rect">
            <a:avLst/>
          </a:prstGeom>
        </p:spPr>
      </p:pic>
      <p:sp>
        <p:nvSpPr>
          <p:cNvPr id="4" name="Text 1"/>
          <p:cNvSpPr/>
          <p:nvPr/>
        </p:nvSpPr>
        <p:spPr>
          <a:xfrm>
            <a:off x="571500" y="3433763"/>
            <a:ext cx="1857375"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333333"/>
                </a:solidFill>
                <a:latin typeface="Microsoft YaHei" pitchFamily="34" charset="0"/>
                <a:ea typeface="Microsoft YaHei" pitchFamily="34" charset="-122"/>
                <a:cs typeface="Microsoft YaHei" pitchFamily="34" charset="-120"/>
              </a:rPr>
              <a:t>content</a:t>
            </a:r>
            <a:endParaRPr lang="en-US" sz="3750" dirty="0"/>
          </a:p>
        </p:txBody>
      </p:sp>
      <p:sp>
        <p:nvSpPr>
          <p:cNvPr id="5" name="Text 2"/>
          <p:cNvSpPr/>
          <p:nvPr/>
        </p:nvSpPr>
        <p:spPr>
          <a:xfrm>
            <a:off x="571500" y="4176713"/>
            <a:ext cx="1809750" cy="400050"/>
          </a:xfrm>
          <a:prstGeom prst="rect">
            <a:avLst/>
          </a:prstGeom>
          <a:noFill/>
          <a:ln/>
        </p:spPr>
        <p:txBody>
          <a:bodyPr vert="horz" wrap="square" lIns="0" tIns="0" rIns="0" bIns="0" rtlCol="0" anchor="ctr"/>
          <a:lstStyle/>
          <a:p>
            <a:pPr marL="0" indent="0" algn="l">
              <a:lnSpc>
                <a:spcPts val="3150"/>
              </a:lnSpc>
              <a:buNone/>
            </a:pPr>
            <a:r>
              <a:rPr lang="en-US" sz="2250" dirty="0">
                <a:solidFill>
                  <a:srgbClr val="666666"/>
                </a:solidFill>
                <a:latin typeface="Microsoft YaHei" pitchFamily="34" charset="0"/>
                <a:ea typeface="Microsoft YaHei" pitchFamily="34" charset="-122"/>
                <a:cs typeface="Microsoft YaHei" pitchFamily="34" charset="-120"/>
              </a:rPr>
              <a:t>目录</a:t>
            </a:r>
            <a:endParaRPr lang="en-US" sz="2250" dirty="0"/>
          </a:p>
        </p:txBody>
      </p:sp>
      <p:sp>
        <p:nvSpPr>
          <p:cNvPr id="6" name="Text 3"/>
          <p:cNvSpPr/>
          <p:nvPr/>
        </p:nvSpPr>
        <p:spPr>
          <a:xfrm>
            <a:off x="3524250" y="988219"/>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3C75AA"/>
                </a:solidFill>
                <a:latin typeface="Microsoft YaHei" pitchFamily="34" charset="0"/>
                <a:ea typeface="Microsoft YaHei" pitchFamily="34" charset="-122"/>
                <a:cs typeface="Microsoft YaHei" pitchFamily="34" charset="-120"/>
              </a:rPr>
              <a:t>01</a:t>
            </a:r>
            <a:endParaRPr lang="en-US" sz="1875" dirty="0"/>
          </a:p>
        </p:txBody>
      </p:sp>
      <p:sp>
        <p:nvSpPr>
          <p:cNvPr id="7" name="Text 4"/>
          <p:cNvSpPr/>
          <p:nvPr/>
        </p:nvSpPr>
        <p:spPr>
          <a:xfrm>
            <a:off x="3990975" y="1059656"/>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引言：EEG分析的困境与增强之必要</a:t>
            </a:r>
            <a:endParaRPr lang="en-US" sz="1200" dirty="0"/>
          </a:p>
        </p:txBody>
      </p:sp>
      <p:sp>
        <p:nvSpPr>
          <p:cNvPr id="8" name="Text 5"/>
          <p:cNvSpPr/>
          <p:nvPr/>
        </p:nvSpPr>
        <p:spPr>
          <a:xfrm>
            <a:off x="3990975" y="1307306"/>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9" name="Text 6"/>
          <p:cNvSpPr/>
          <p:nvPr/>
        </p:nvSpPr>
        <p:spPr>
          <a:xfrm>
            <a:off x="3524250" y="1616869"/>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3C75AA"/>
                </a:solidFill>
                <a:latin typeface="Microsoft YaHei" pitchFamily="34" charset="0"/>
                <a:ea typeface="Microsoft YaHei" pitchFamily="34" charset="-122"/>
                <a:cs typeface="Microsoft YaHei" pitchFamily="34" charset="-120"/>
              </a:rPr>
              <a:t>02</a:t>
            </a:r>
            <a:endParaRPr lang="en-US" sz="1875" dirty="0"/>
          </a:p>
        </p:txBody>
      </p:sp>
      <p:sp>
        <p:nvSpPr>
          <p:cNvPr id="10" name="Text 7"/>
          <p:cNvSpPr/>
          <p:nvPr/>
        </p:nvSpPr>
        <p:spPr>
          <a:xfrm>
            <a:off x="3990975" y="1688306"/>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技术谱系：从确定性变换到隐式学习</a:t>
            </a:r>
            <a:endParaRPr lang="en-US" sz="1200" dirty="0"/>
          </a:p>
        </p:txBody>
      </p:sp>
      <p:sp>
        <p:nvSpPr>
          <p:cNvPr id="11" name="Text 8"/>
          <p:cNvSpPr/>
          <p:nvPr/>
        </p:nvSpPr>
        <p:spPr>
          <a:xfrm>
            <a:off x="3990975" y="1935956"/>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2" name="Text 9"/>
          <p:cNvSpPr/>
          <p:nvPr/>
        </p:nvSpPr>
        <p:spPr>
          <a:xfrm>
            <a:off x="3524250" y="2245519"/>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3C75AA"/>
                </a:solidFill>
                <a:latin typeface="Microsoft YaHei" pitchFamily="34" charset="0"/>
                <a:ea typeface="Microsoft YaHei" pitchFamily="34" charset="-122"/>
                <a:cs typeface="Microsoft YaHei" pitchFamily="34" charset="-120"/>
              </a:rPr>
              <a:t>03</a:t>
            </a:r>
            <a:endParaRPr lang="en-US" sz="1875" dirty="0"/>
          </a:p>
        </p:txBody>
      </p:sp>
      <p:sp>
        <p:nvSpPr>
          <p:cNvPr id="13" name="Text 10"/>
          <p:cNvSpPr/>
          <p:nvPr/>
        </p:nvSpPr>
        <p:spPr>
          <a:xfrm>
            <a:off x="3990975" y="2316956"/>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挑战剖析：评估、耦合与工程落地</a:t>
            </a:r>
            <a:endParaRPr lang="en-US" sz="1200" dirty="0"/>
          </a:p>
        </p:txBody>
      </p:sp>
      <p:sp>
        <p:nvSpPr>
          <p:cNvPr id="14" name="Text 11"/>
          <p:cNvSpPr/>
          <p:nvPr/>
        </p:nvSpPr>
        <p:spPr>
          <a:xfrm>
            <a:off x="3990975" y="2564606"/>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5" name="Text 12"/>
          <p:cNvSpPr/>
          <p:nvPr/>
        </p:nvSpPr>
        <p:spPr>
          <a:xfrm>
            <a:off x="3524250" y="2874169"/>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3C75AA"/>
                </a:solidFill>
                <a:latin typeface="Microsoft YaHei" pitchFamily="34" charset="0"/>
                <a:ea typeface="Microsoft YaHei" pitchFamily="34" charset="-122"/>
                <a:cs typeface="Microsoft YaHei" pitchFamily="34" charset="-120"/>
              </a:rPr>
              <a:t>04</a:t>
            </a:r>
            <a:endParaRPr lang="en-US" sz="1875" dirty="0"/>
          </a:p>
        </p:txBody>
      </p:sp>
      <p:sp>
        <p:nvSpPr>
          <p:cNvPr id="16" name="Text 13"/>
          <p:cNvSpPr/>
          <p:nvPr/>
        </p:nvSpPr>
        <p:spPr>
          <a:xfrm>
            <a:off x="3990975" y="2945606"/>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应用透视：跨领域实践效果观察</a:t>
            </a:r>
            <a:endParaRPr lang="en-US" sz="1200" dirty="0"/>
          </a:p>
        </p:txBody>
      </p:sp>
      <p:sp>
        <p:nvSpPr>
          <p:cNvPr id="17" name="Text 14"/>
          <p:cNvSpPr/>
          <p:nvPr/>
        </p:nvSpPr>
        <p:spPr>
          <a:xfrm>
            <a:off x="3990975" y="3193256"/>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8" name="Text 15"/>
          <p:cNvSpPr/>
          <p:nvPr/>
        </p:nvSpPr>
        <p:spPr>
          <a:xfrm>
            <a:off x="3524250" y="3502819"/>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3C75AA"/>
                </a:solidFill>
                <a:latin typeface="Microsoft YaHei" pitchFamily="34" charset="0"/>
                <a:ea typeface="Microsoft YaHei" pitchFamily="34" charset="-122"/>
                <a:cs typeface="Microsoft YaHei" pitchFamily="34" charset="-120"/>
              </a:rPr>
              <a:t>05</a:t>
            </a:r>
            <a:endParaRPr lang="en-US" sz="1875" dirty="0"/>
          </a:p>
        </p:txBody>
      </p:sp>
      <p:sp>
        <p:nvSpPr>
          <p:cNvPr id="19" name="Text 16"/>
          <p:cNvSpPr/>
          <p:nvPr/>
        </p:nvSpPr>
        <p:spPr>
          <a:xfrm>
            <a:off x="3990975" y="3574256"/>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总结与未来展望</a:t>
            </a:r>
            <a:endParaRPr lang="en-US" sz="1200" dirty="0"/>
          </a:p>
        </p:txBody>
      </p:sp>
      <p:sp>
        <p:nvSpPr>
          <p:cNvPr id="20" name="Text 17"/>
          <p:cNvSpPr/>
          <p:nvPr/>
        </p:nvSpPr>
        <p:spPr>
          <a:xfrm>
            <a:off x="3990975" y="3821906"/>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485768"/>
            <a:ext cx="4762500" cy="1333500"/>
          </a:xfrm>
          <a:prstGeom prst="rect">
            <a:avLst/>
          </a:prstGeom>
          <a:noFill/>
          <a:ln/>
        </p:spPr>
        <p:txBody>
          <a:bodyPr vert="horz" wrap="square" lIns="0" tIns="0" rIns="0" bIns="0" rtlCol="0" anchor="ctr"/>
          <a:lstStyle/>
          <a:p>
            <a:pPr marL="0" indent="0" algn="l">
              <a:lnSpc>
                <a:spcPts val="5250"/>
              </a:lnSpc>
              <a:buNone/>
            </a:pPr>
            <a:r>
              <a:rPr lang="en-US" sz="3750" b="1" dirty="0" err="1">
                <a:solidFill>
                  <a:srgbClr val="333333"/>
                </a:solidFill>
                <a:latin typeface="Microsoft YaHei" pitchFamily="34" charset="0"/>
                <a:ea typeface="Microsoft YaHei" pitchFamily="34" charset="-122"/>
                <a:cs typeface="Microsoft YaHei" pitchFamily="34" charset="-120"/>
              </a:rPr>
              <a:t>引言</a:t>
            </a:r>
            <a:r>
              <a:rPr lang="en-US" sz="3750" b="1" dirty="0">
                <a:solidFill>
                  <a:srgbClr val="333333"/>
                </a:solidFill>
                <a:latin typeface="Microsoft YaHei" pitchFamily="34" charset="0"/>
                <a:ea typeface="Microsoft YaHei" pitchFamily="34" charset="-122"/>
                <a:cs typeface="Microsoft YaHei" pitchFamily="34" charset="-120"/>
              </a:rPr>
              <a:t>：</a:t>
            </a:r>
            <a:r>
              <a:rPr lang="zh-CN" altLang="en-US" sz="3750" b="1" dirty="0">
                <a:solidFill>
                  <a:srgbClr val="333333"/>
                </a:solidFill>
                <a:latin typeface="Microsoft YaHei" pitchFamily="34" charset="0"/>
                <a:ea typeface="Microsoft YaHei" pitchFamily="34" charset="-122"/>
                <a:cs typeface="Microsoft YaHei" pitchFamily="34" charset="-120"/>
              </a:rPr>
              <a:t>目标课题所面临的独特挑战和必要性与目标</a:t>
            </a:r>
            <a:endParaRPr lang="en-US" altLang="zh-CN" sz="3750" b="1" dirty="0">
              <a:solidFill>
                <a:srgbClr val="333333"/>
              </a:solidFill>
              <a:latin typeface="Microsoft YaHei" pitchFamily="34" charset="0"/>
              <a:ea typeface="Microsoft YaHei" pitchFamily="34" charset="-122"/>
              <a:cs typeface="Microsoft YaHei" pitchFamily="34" charset="-120"/>
            </a:endParaRPr>
          </a:p>
        </p:txBody>
      </p:sp>
      <p:sp>
        <p:nvSpPr>
          <p:cNvPr id="4" name="Shape 1"/>
          <p:cNvSpPr/>
          <p:nvPr/>
        </p:nvSpPr>
        <p:spPr>
          <a:xfrm>
            <a:off x="571500" y="4157662"/>
            <a:ext cx="4762500" cy="14288"/>
          </a:xfrm>
          <a:prstGeom prst="rect">
            <a:avLst/>
          </a:prstGeom>
          <a:solidFill>
            <a:srgbClr val="333333">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D8D8D8"/>
                </a:solidFill>
                <a:latin typeface="Microsoft YaHei" pitchFamily="34" charset="0"/>
                <a:ea typeface="Microsoft YaHei" pitchFamily="34" charset="-122"/>
                <a:cs typeface="Microsoft YaHei" pitchFamily="34" charset="-120"/>
              </a:rPr>
              <a:t>01</a:t>
            </a:r>
            <a:endParaRPr lang="en-US" sz="2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EEG数据分析的独特挑战</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1447800"/>
            <a:ext cx="4171950" cy="1409700"/>
          </a:xfrm>
          <a:prstGeom prst="rect">
            <a:avLst/>
          </a:prstGeom>
        </p:spPr>
      </p:pic>
      <p:sp>
        <p:nvSpPr>
          <p:cNvPr id="7" name="Text 3"/>
          <p:cNvSpPr/>
          <p:nvPr/>
        </p:nvSpPr>
        <p:spPr>
          <a:xfrm>
            <a:off x="600075" y="1759744"/>
            <a:ext cx="257175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信号高噪声</a:t>
            </a:r>
            <a:endParaRPr lang="en-US" sz="1200" dirty="0"/>
          </a:p>
        </p:txBody>
      </p:sp>
      <p:sp>
        <p:nvSpPr>
          <p:cNvPr id="8" name="Text 4"/>
          <p:cNvSpPr/>
          <p:nvPr/>
        </p:nvSpPr>
        <p:spPr>
          <a:xfrm>
            <a:off x="600075" y="2050256"/>
            <a:ext cx="2571750"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EEG信号易受环境与生理干扰，信噪比低，有效脑电成分难以分离。</a:t>
            </a:r>
            <a:endParaRPr lang="en-US" sz="1050" dirty="0"/>
          </a:p>
        </p:txBody>
      </p:sp>
      <p:pic>
        <p:nvPicPr>
          <p:cNvPr id="9" name="Image 2" descr="preencoded.png"/>
          <p:cNvPicPr>
            <a:picLocks noChangeAspect="1"/>
          </p:cNvPicPr>
          <p:nvPr/>
        </p:nvPicPr>
        <p:blipFill>
          <a:blip r:embed="rId5"/>
          <a:srcRect/>
          <a:stretch/>
        </p:blipFill>
        <p:spPr>
          <a:xfrm>
            <a:off x="4572000" y="1447800"/>
            <a:ext cx="4171950" cy="1409700"/>
          </a:xfrm>
          <a:prstGeom prst="rect">
            <a:avLst/>
          </a:prstGeom>
        </p:spPr>
      </p:pic>
      <p:sp>
        <p:nvSpPr>
          <p:cNvPr id="10" name="Text 5"/>
          <p:cNvSpPr/>
          <p:nvPr/>
        </p:nvSpPr>
        <p:spPr>
          <a:xfrm>
            <a:off x="5972175" y="1759744"/>
            <a:ext cx="2571750" cy="252413"/>
          </a:xfrm>
          <a:prstGeom prst="rect">
            <a:avLst/>
          </a:prstGeom>
          <a:noFill/>
          <a:ln/>
        </p:spPr>
        <p:txBody>
          <a:bodyPr vert="horz" wrap="square" lIns="0" tIns="0" rIns="0" bIns="0" rtlCol="0" anchor="ctr"/>
          <a:lstStyle/>
          <a:p>
            <a:pPr marL="0" indent="0">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非平稳特性</a:t>
            </a:r>
            <a:endParaRPr lang="en-US" sz="1200" dirty="0"/>
          </a:p>
        </p:txBody>
      </p:sp>
      <p:sp>
        <p:nvSpPr>
          <p:cNvPr id="11" name="Text 6"/>
          <p:cNvSpPr/>
          <p:nvPr/>
        </p:nvSpPr>
        <p:spPr>
          <a:xfrm>
            <a:off x="5972175" y="2050256"/>
            <a:ext cx="2571750" cy="4572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脑电信号随时间快速变化，传统稳态假设难以适用，建模复杂度高。</a:t>
            </a:r>
            <a:endParaRPr lang="en-US" sz="1050" dirty="0"/>
          </a:p>
        </p:txBody>
      </p:sp>
      <p:pic>
        <p:nvPicPr>
          <p:cNvPr id="12" name="Image 3" descr="preencoded.png"/>
          <p:cNvPicPr>
            <a:picLocks noChangeAspect="1"/>
          </p:cNvPicPr>
          <p:nvPr/>
        </p:nvPicPr>
        <p:blipFill>
          <a:blip r:embed="rId6"/>
          <a:srcRect/>
          <a:stretch/>
        </p:blipFill>
        <p:spPr>
          <a:xfrm>
            <a:off x="400050" y="2857500"/>
            <a:ext cx="4171950" cy="1409700"/>
          </a:xfrm>
          <a:prstGeom prst="rect">
            <a:avLst/>
          </a:prstGeom>
        </p:spPr>
      </p:pic>
      <p:sp>
        <p:nvSpPr>
          <p:cNvPr id="13" name="Text 7"/>
          <p:cNvSpPr/>
          <p:nvPr/>
        </p:nvSpPr>
        <p:spPr>
          <a:xfrm>
            <a:off x="600075" y="3169444"/>
            <a:ext cx="257175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个体差异大</a:t>
            </a:r>
            <a:endParaRPr lang="en-US" sz="1200" dirty="0"/>
          </a:p>
        </p:txBody>
      </p:sp>
      <p:sp>
        <p:nvSpPr>
          <p:cNvPr id="14" name="Text 8"/>
          <p:cNvSpPr/>
          <p:nvPr/>
        </p:nvSpPr>
        <p:spPr>
          <a:xfrm>
            <a:off x="600075" y="3459956"/>
            <a:ext cx="2571750"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不同被试间脑电模式差异显著，跨个体泛化能力面临严峻挑战。</a:t>
            </a:r>
            <a:endParaRPr lang="en-US" sz="1050" dirty="0"/>
          </a:p>
        </p:txBody>
      </p:sp>
      <p:pic>
        <p:nvPicPr>
          <p:cNvPr id="15" name="Image 4" descr="preencoded.png"/>
          <p:cNvPicPr>
            <a:picLocks noChangeAspect="1"/>
          </p:cNvPicPr>
          <p:nvPr/>
        </p:nvPicPr>
        <p:blipFill>
          <a:blip r:embed="rId7"/>
          <a:srcRect/>
          <a:stretch/>
        </p:blipFill>
        <p:spPr>
          <a:xfrm>
            <a:off x="4572000" y="2857500"/>
            <a:ext cx="4171950" cy="1409700"/>
          </a:xfrm>
          <a:prstGeom prst="rect">
            <a:avLst/>
          </a:prstGeom>
        </p:spPr>
      </p:pic>
      <p:sp>
        <p:nvSpPr>
          <p:cNvPr id="16" name="Text 9"/>
          <p:cNvSpPr/>
          <p:nvPr/>
        </p:nvSpPr>
        <p:spPr>
          <a:xfrm>
            <a:off x="5972175" y="3169444"/>
            <a:ext cx="2571750" cy="252413"/>
          </a:xfrm>
          <a:prstGeom prst="rect">
            <a:avLst/>
          </a:prstGeom>
          <a:noFill/>
          <a:ln/>
        </p:spPr>
        <p:txBody>
          <a:bodyPr vert="horz" wrap="square" lIns="0" tIns="0" rIns="0" bIns="0" rtlCol="0" anchor="ctr"/>
          <a:lstStyle/>
          <a:p>
            <a:pPr marL="0" indent="0">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数据获取难</a:t>
            </a:r>
            <a:endParaRPr lang="en-US" sz="1200" dirty="0"/>
          </a:p>
        </p:txBody>
      </p:sp>
      <p:sp>
        <p:nvSpPr>
          <p:cNvPr id="17" name="Text 10"/>
          <p:cNvSpPr/>
          <p:nvPr/>
        </p:nvSpPr>
        <p:spPr>
          <a:xfrm>
            <a:off x="5972175" y="3459956"/>
            <a:ext cx="2571750" cy="4572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高质量EEG标注数据采集成本高、周期长，制约模型训练与验证。</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t="3571" b="3571"/>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数据增强的必要性与目标</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2019300"/>
            <a:ext cx="2781151" cy="2266950"/>
          </a:xfrm>
          <a:prstGeom prst="rect">
            <a:avLst/>
          </a:prstGeom>
        </p:spPr>
      </p:pic>
      <p:sp>
        <p:nvSpPr>
          <p:cNvPr id="7" name="Text 3"/>
          <p:cNvSpPr/>
          <p:nvPr/>
        </p:nvSpPr>
        <p:spPr>
          <a:xfrm>
            <a:off x="752475"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缓解过拟合</a:t>
            </a:r>
            <a:endParaRPr lang="en-US" sz="1200" dirty="0"/>
          </a:p>
        </p:txBody>
      </p:sp>
      <p:sp>
        <p:nvSpPr>
          <p:cNvPr id="8" name="Text 4"/>
          <p:cNvSpPr/>
          <p:nvPr/>
        </p:nvSpPr>
        <p:spPr>
          <a:xfrm>
            <a:off x="752475"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通过扩充训练样本多样性，降低模型对有限EEG数据的过度依赖，提升训练稳定性。</a:t>
            </a:r>
            <a:endParaRPr lang="en-US" sz="1050" dirty="0"/>
          </a:p>
        </p:txBody>
      </p:sp>
      <p:pic>
        <p:nvPicPr>
          <p:cNvPr id="9" name="Image 2" descr="preencoded.png"/>
          <p:cNvPicPr>
            <a:picLocks noChangeAspect="1"/>
          </p:cNvPicPr>
          <p:nvPr/>
        </p:nvPicPr>
        <p:blipFill>
          <a:blip r:embed="rId5"/>
          <a:srcRect/>
          <a:stretch/>
        </p:blipFill>
        <p:spPr>
          <a:xfrm>
            <a:off x="3181201" y="2019300"/>
            <a:ext cx="2781151" cy="2266950"/>
          </a:xfrm>
          <a:prstGeom prst="rect">
            <a:avLst/>
          </a:prstGeom>
        </p:spPr>
      </p:pic>
      <p:sp>
        <p:nvSpPr>
          <p:cNvPr id="10" name="Text 5"/>
          <p:cNvSpPr/>
          <p:nvPr/>
        </p:nvSpPr>
        <p:spPr>
          <a:xfrm>
            <a:off x="3533626"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提升泛化能力</a:t>
            </a:r>
            <a:endParaRPr lang="en-US" sz="1200" dirty="0"/>
          </a:p>
        </p:txBody>
      </p:sp>
      <p:sp>
        <p:nvSpPr>
          <p:cNvPr id="11" name="Text 6"/>
          <p:cNvSpPr/>
          <p:nvPr/>
        </p:nvSpPr>
        <p:spPr>
          <a:xfrm>
            <a:off x="3533626"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增强数据覆盖更多生理变异与噪声模式，使模型更好适应不同个体与实验条件。</a:t>
            </a:r>
            <a:endParaRPr lang="en-US" sz="1050" dirty="0"/>
          </a:p>
        </p:txBody>
      </p:sp>
      <p:pic>
        <p:nvPicPr>
          <p:cNvPr id="12" name="Image 3" descr="preencoded.png"/>
          <p:cNvPicPr>
            <a:picLocks noChangeAspect="1"/>
          </p:cNvPicPr>
          <p:nvPr/>
        </p:nvPicPr>
        <p:blipFill>
          <a:blip r:embed="rId6"/>
          <a:srcRect/>
          <a:stretch/>
        </p:blipFill>
        <p:spPr>
          <a:xfrm>
            <a:off x="5962352" y="2019300"/>
            <a:ext cx="2781151" cy="2266950"/>
          </a:xfrm>
          <a:prstGeom prst="rect">
            <a:avLst/>
          </a:prstGeom>
        </p:spPr>
      </p:pic>
      <p:sp>
        <p:nvSpPr>
          <p:cNvPr id="13" name="Text 7"/>
          <p:cNvSpPr/>
          <p:nvPr/>
        </p:nvSpPr>
        <p:spPr>
          <a:xfrm>
            <a:off x="6314777"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支持小样本学习</a:t>
            </a:r>
            <a:endParaRPr lang="en-US" sz="1200" dirty="0"/>
          </a:p>
        </p:txBody>
      </p:sp>
      <p:sp>
        <p:nvSpPr>
          <p:cNvPr id="14" name="Text 8"/>
          <p:cNvSpPr/>
          <p:nvPr/>
        </p:nvSpPr>
        <p:spPr>
          <a:xfrm>
            <a:off x="6314777"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在临床等标注成本高的场景下，以数据驱动方式弥补样本不足，保障模型性能。</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647950"/>
            <a:ext cx="4762500" cy="1333500"/>
          </a:xfrm>
          <a:prstGeom prst="rect">
            <a:avLst/>
          </a:prstGeom>
          <a:noFill/>
          <a:ln/>
        </p:spPr>
        <p:txBody>
          <a:bodyPr vert="horz" wrap="square" lIns="0" tIns="0" rIns="0" bIns="0" rtlCol="0" anchor="ctr"/>
          <a:lstStyle/>
          <a:p>
            <a:pPr marL="0" indent="0" algn="l">
              <a:lnSpc>
                <a:spcPts val="5250"/>
              </a:lnSpc>
              <a:buNone/>
            </a:pPr>
            <a:r>
              <a:rPr lang="en-US" sz="3750" b="1" dirty="0" err="1">
                <a:solidFill>
                  <a:srgbClr val="333333"/>
                </a:solidFill>
                <a:latin typeface="Microsoft YaHei" pitchFamily="34" charset="0"/>
                <a:ea typeface="Microsoft YaHei" pitchFamily="34" charset="-122"/>
                <a:cs typeface="Microsoft YaHei" pitchFamily="34" charset="-120"/>
              </a:rPr>
              <a:t>技术谱系</a:t>
            </a:r>
            <a:r>
              <a:rPr lang="en-US" sz="3750" b="1" dirty="0">
                <a:solidFill>
                  <a:srgbClr val="333333"/>
                </a:solidFill>
                <a:latin typeface="Microsoft YaHei" pitchFamily="34" charset="0"/>
                <a:ea typeface="Microsoft YaHei" pitchFamily="34" charset="-122"/>
                <a:cs typeface="Microsoft YaHei" pitchFamily="34" charset="-120"/>
              </a:rPr>
              <a:t>：</a:t>
            </a:r>
            <a:r>
              <a:rPr lang="zh-CN" altLang="en-US" sz="3750" b="1" dirty="0">
                <a:solidFill>
                  <a:srgbClr val="333333"/>
                </a:solidFill>
                <a:latin typeface="Microsoft YaHei" pitchFamily="34" charset="0"/>
                <a:ea typeface="Microsoft YaHei" pitchFamily="34" charset="-122"/>
                <a:cs typeface="Microsoft YaHei" pitchFamily="34" charset="-120"/>
              </a:rPr>
              <a:t>目标课题的分类与演进</a:t>
            </a:r>
            <a:endParaRPr lang="en-US" sz="3750" dirty="0"/>
          </a:p>
        </p:txBody>
      </p:sp>
      <p:sp>
        <p:nvSpPr>
          <p:cNvPr id="4" name="Shape 1"/>
          <p:cNvSpPr/>
          <p:nvPr/>
        </p:nvSpPr>
        <p:spPr>
          <a:xfrm>
            <a:off x="571500" y="4157662"/>
            <a:ext cx="4762500" cy="14288"/>
          </a:xfrm>
          <a:prstGeom prst="rect">
            <a:avLst/>
          </a:prstGeom>
          <a:solidFill>
            <a:srgbClr val="333333">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D8D8D8"/>
                </a:solidFill>
                <a:latin typeface="Microsoft YaHei" pitchFamily="34" charset="0"/>
                <a:ea typeface="Microsoft YaHei" pitchFamily="34" charset="-122"/>
                <a:cs typeface="Microsoft YaHei" pitchFamily="34" charset="-120"/>
              </a:rPr>
              <a:t>02</a:t>
            </a:r>
            <a:endParaRPr lang="en-US" sz="22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7B9EC-0A7D-17FC-A8C4-BF85932C009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24ED09-0081-BC6C-62D3-9B2708DFC9F1}"/>
              </a:ext>
            </a:extLst>
          </p:cNvPr>
          <p:cNvSpPr/>
          <p:nvPr/>
        </p:nvSpPr>
        <p:spPr>
          <a:xfrm>
            <a:off x="0" y="0"/>
            <a:ext cx="9144000" cy="6381750"/>
          </a:xfrm>
          <a:prstGeom prst="rect">
            <a:avLst/>
          </a:prstGeom>
          <a:solidFill>
            <a:srgbClr val="FFFFFF"/>
          </a:solidFill>
          <a:ln/>
        </p:spPr>
      </p:sp>
      <p:pic>
        <p:nvPicPr>
          <p:cNvPr id="3" name="Image 0" descr="preencoded.png">
            <a:extLst>
              <a:ext uri="{FF2B5EF4-FFF2-40B4-BE49-F238E27FC236}">
                <a16:creationId xmlns:a16="http://schemas.microsoft.com/office/drawing/2014/main" id="{EF405247-42C3-E8AE-58E3-F511607919F6}"/>
              </a:ext>
            </a:extLst>
          </p:cNvPr>
          <p:cNvPicPr>
            <a:picLocks noChangeAspect="1"/>
          </p:cNvPicPr>
          <p:nvPr/>
        </p:nvPicPr>
        <p:blipFill>
          <a:blip r:embed="rId3"/>
          <a:srcRect l="9701" r="9701"/>
          <a:stretch/>
        </p:blipFill>
        <p:spPr>
          <a:xfrm>
            <a:off x="0" y="0"/>
            <a:ext cx="9144000" cy="6381750"/>
          </a:xfrm>
          <a:prstGeom prst="rect">
            <a:avLst/>
          </a:prstGeom>
        </p:spPr>
      </p:pic>
      <p:sp>
        <p:nvSpPr>
          <p:cNvPr id="4" name="Text 1">
            <a:extLst>
              <a:ext uri="{FF2B5EF4-FFF2-40B4-BE49-F238E27FC236}">
                <a16:creationId xmlns:a16="http://schemas.microsoft.com/office/drawing/2014/main" id="{FD714DD1-4D64-72F6-C2DC-35DBCED6771E}"/>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本</a:t>
            </a:r>
            <a:r>
              <a:rPr lang="zh-CN" altLang="en-US" sz="2250" b="1" dirty="0">
                <a:solidFill>
                  <a:srgbClr val="333333"/>
                </a:solidFill>
                <a:latin typeface="Microsoft YaHei" pitchFamily="34" charset="0"/>
                <a:ea typeface="Microsoft YaHei" pitchFamily="34" charset="-122"/>
                <a:cs typeface="Microsoft YaHei" pitchFamily="34" charset="-120"/>
              </a:rPr>
              <a:t>章</a:t>
            </a:r>
            <a:r>
              <a:rPr lang="en-US" sz="2250" b="1" dirty="0" err="1">
                <a:solidFill>
                  <a:srgbClr val="333333"/>
                </a:solidFill>
                <a:latin typeface="Microsoft YaHei" pitchFamily="34" charset="0"/>
                <a:ea typeface="Microsoft YaHei" pitchFamily="34" charset="-122"/>
                <a:cs typeface="Microsoft YaHei" pitchFamily="34" charset="-120"/>
              </a:rPr>
              <a:t>采用技术范式演进为主线的组织架构，逐层解构四类主流增强路径</a:t>
            </a:r>
            <a:endParaRPr lang="en-US" sz="2250" dirty="0"/>
          </a:p>
        </p:txBody>
      </p:sp>
      <p:sp>
        <p:nvSpPr>
          <p:cNvPr id="5" name="Text 2">
            <a:extLst>
              <a:ext uri="{FF2B5EF4-FFF2-40B4-BE49-F238E27FC236}">
                <a16:creationId xmlns:a16="http://schemas.microsoft.com/office/drawing/2014/main" id="{7E567C74-C6FA-A041-63E1-0100DAC2972F}"/>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8" name="Text 4">
            <a:extLst>
              <a:ext uri="{FF2B5EF4-FFF2-40B4-BE49-F238E27FC236}">
                <a16:creationId xmlns:a16="http://schemas.microsoft.com/office/drawing/2014/main" id="{5882549A-477F-58E4-81DF-32F1554F1ADF}"/>
              </a:ext>
            </a:extLst>
          </p:cNvPr>
          <p:cNvSpPr/>
          <p:nvPr/>
        </p:nvSpPr>
        <p:spPr>
          <a:xfrm>
            <a:off x="595313" y="5276552"/>
            <a:ext cx="2362200" cy="87630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0" name="Text 6">
            <a:extLst>
              <a:ext uri="{FF2B5EF4-FFF2-40B4-BE49-F238E27FC236}">
                <a16:creationId xmlns:a16="http://schemas.microsoft.com/office/drawing/2014/main" id="{99FB9F8A-D315-1F9D-A51C-C0FEAA855BAB}"/>
              </a:ext>
            </a:extLst>
          </p:cNvPr>
          <p:cNvSpPr/>
          <p:nvPr/>
        </p:nvSpPr>
        <p:spPr>
          <a:xfrm>
            <a:off x="595313" y="4084439"/>
            <a:ext cx="2362200" cy="87630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2" name="Text 8">
            <a:extLst>
              <a:ext uri="{FF2B5EF4-FFF2-40B4-BE49-F238E27FC236}">
                <a16:creationId xmlns:a16="http://schemas.microsoft.com/office/drawing/2014/main" id="{5B9F3A5B-19B5-2931-35DC-6164BAEF202A}"/>
              </a:ext>
            </a:extLst>
          </p:cNvPr>
          <p:cNvSpPr/>
          <p:nvPr/>
        </p:nvSpPr>
        <p:spPr>
          <a:xfrm>
            <a:off x="595313" y="3101876"/>
            <a:ext cx="2362200" cy="66675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4" name="Text 10">
            <a:extLst>
              <a:ext uri="{FF2B5EF4-FFF2-40B4-BE49-F238E27FC236}">
                <a16:creationId xmlns:a16="http://schemas.microsoft.com/office/drawing/2014/main" id="{D14D59B6-3D3D-2B7E-515D-C78FD47A6EF1}"/>
              </a:ext>
            </a:extLst>
          </p:cNvPr>
          <p:cNvSpPr/>
          <p:nvPr/>
        </p:nvSpPr>
        <p:spPr>
          <a:xfrm>
            <a:off x="595313" y="2119313"/>
            <a:ext cx="2362200" cy="66675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16" name="Text 12">
            <a:extLst>
              <a:ext uri="{FF2B5EF4-FFF2-40B4-BE49-F238E27FC236}">
                <a16:creationId xmlns:a16="http://schemas.microsoft.com/office/drawing/2014/main" id="{6247BA7E-A3BB-368A-CBF0-EA9F1FB89A79}"/>
              </a:ext>
            </a:extLst>
          </p:cNvPr>
          <p:cNvSpPr/>
          <p:nvPr/>
        </p:nvSpPr>
        <p:spPr>
          <a:xfrm>
            <a:off x="6186488" y="2328863"/>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8" name="Text 14">
            <a:extLst>
              <a:ext uri="{FF2B5EF4-FFF2-40B4-BE49-F238E27FC236}">
                <a16:creationId xmlns:a16="http://schemas.microsoft.com/office/drawing/2014/main" id="{5965181F-185F-EACD-D149-83D5E4D3C128}"/>
              </a:ext>
            </a:extLst>
          </p:cNvPr>
          <p:cNvSpPr/>
          <p:nvPr/>
        </p:nvSpPr>
        <p:spPr>
          <a:xfrm>
            <a:off x="6186488" y="3311426"/>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20" name="Text 16">
            <a:extLst>
              <a:ext uri="{FF2B5EF4-FFF2-40B4-BE49-F238E27FC236}">
                <a16:creationId xmlns:a16="http://schemas.microsoft.com/office/drawing/2014/main" id="{87AF7119-8E61-CAAE-1C3E-EC8614BED0DA}"/>
              </a:ext>
            </a:extLst>
          </p:cNvPr>
          <p:cNvSpPr/>
          <p:nvPr/>
        </p:nvSpPr>
        <p:spPr>
          <a:xfrm>
            <a:off x="6186488" y="4293989"/>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22" name="Text 18">
            <a:extLst>
              <a:ext uri="{FF2B5EF4-FFF2-40B4-BE49-F238E27FC236}">
                <a16:creationId xmlns:a16="http://schemas.microsoft.com/office/drawing/2014/main" id="{C5E9CFD3-1238-97BD-28DF-421D6E542D72}"/>
              </a:ext>
            </a:extLst>
          </p:cNvPr>
          <p:cNvSpPr/>
          <p:nvPr/>
        </p:nvSpPr>
        <p:spPr>
          <a:xfrm>
            <a:off x="6186488" y="5276552"/>
            <a:ext cx="2362200" cy="6667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23" name="椭圆 22">
            <a:extLst>
              <a:ext uri="{FF2B5EF4-FFF2-40B4-BE49-F238E27FC236}">
                <a16:creationId xmlns:a16="http://schemas.microsoft.com/office/drawing/2014/main" id="{0E000B5D-1050-C15B-DDE7-8C77FD84538C}"/>
              </a:ext>
            </a:extLst>
          </p:cNvPr>
          <p:cNvSpPr/>
          <p:nvPr/>
        </p:nvSpPr>
        <p:spPr>
          <a:xfrm>
            <a:off x="670033" y="1705232"/>
            <a:ext cx="1359243" cy="6236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微软雅黑" panose="020B0503020204020204" pitchFamily="34" charset="-122"/>
                <a:ea typeface="微软雅黑" panose="020B0503020204020204" pitchFamily="34" charset="-122"/>
              </a:rPr>
              <a:t>确定性增强</a:t>
            </a:r>
          </a:p>
        </p:txBody>
      </p:sp>
      <p:sp>
        <p:nvSpPr>
          <p:cNvPr id="26" name="椭圆 25">
            <a:extLst>
              <a:ext uri="{FF2B5EF4-FFF2-40B4-BE49-F238E27FC236}">
                <a16:creationId xmlns:a16="http://schemas.microsoft.com/office/drawing/2014/main" id="{08C782F6-1B59-D5CB-5AF6-D4002B53E2FE}"/>
              </a:ext>
            </a:extLst>
          </p:cNvPr>
          <p:cNvSpPr/>
          <p:nvPr/>
        </p:nvSpPr>
        <p:spPr>
          <a:xfrm>
            <a:off x="3118214" y="1705231"/>
            <a:ext cx="1359243" cy="6236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微软雅黑" panose="020B0503020204020204" pitchFamily="34" charset="-122"/>
                <a:ea typeface="微软雅黑" panose="020B0503020204020204" pitchFamily="34" charset="-122"/>
              </a:rPr>
              <a:t>正则化增强</a:t>
            </a:r>
          </a:p>
        </p:txBody>
      </p:sp>
      <p:sp>
        <p:nvSpPr>
          <p:cNvPr id="27" name="椭圆 26">
            <a:extLst>
              <a:ext uri="{FF2B5EF4-FFF2-40B4-BE49-F238E27FC236}">
                <a16:creationId xmlns:a16="http://schemas.microsoft.com/office/drawing/2014/main" id="{99B73861-4F1E-730C-0C81-86A368D66D6D}"/>
              </a:ext>
            </a:extLst>
          </p:cNvPr>
          <p:cNvSpPr/>
          <p:nvPr/>
        </p:nvSpPr>
        <p:spPr>
          <a:xfrm>
            <a:off x="5535440" y="1729945"/>
            <a:ext cx="1359243" cy="6236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微软雅黑" panose="020B0503020204020204" pitchFamily="34" charset="-122"/>
                <a:ea typeface="微软雅黑" panose="020B0503020204020204" pitchFamily="34" charset="-122"/>
              </a:rPr>
              <a:t>概率性建模</a:t>
            </a:r>
          </a:p>
        </p:txBody>
      </p:sp>
      <p:sp>
        <p:nvSpPr>
          <p:cNvPr id="28" name="椭圆 27">
            <a:extLst>
              <a:ext uri="{FF2B5EF4-FFF2-40B4-BE49-F238E27FC236}">
                <a16:creationId xmlns:a16="http://schemas.microsoft.com/office/drawing/2014/main" id="{013E9580-E68E-202D-31A6-3B5A69C11E5F}"/>
              </a:ext>
            </a:extLst>
          </p:cNvPr>
          <p:cNvSpPr/>
          <p:nvPr/>
        </p:nvSpPr>
        <p:spPr>
          <a:xfrm>
            <a:off x="7676443" y="1720135"/>
            <a:ext cx="1359243" cy="6236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微软雅黑" panose="020B0503020204020204" pitchFamily="34" charset="-122"/>
                <a:ea typeface="微软雅黑" panose="020B0503020204020204" pitchFamily="34" charset="-122"/>
              </a:rPr>
              <a:t>隐式学习生成</a:t>
            </a:r>
          </a:p>
        </p:txBody>
      </p:sp>
      <p:cxnSp>
        <p:nvCxnSpPr>
          <p:cNvPr id="30" name="直接箭头连接符 29">
            <a:extLst>
              <a:ext uri="{FF2B5EF4-FFF2-40B4-BE49-F238E27FC236}">
                <a16:creationId xmlns:a16="http://schemas.microsoft.com/office/drawing/2014/main" id="{AA3E177A-F26A-1A88-E268-62DF07DE4AFF}"/>
              </a:ext>
            </a:extLst>
          </p:cNvPr>
          <p:cNvCxnSpPr>
            <a:stCxn id="23" idx="6"/>
          </p:cNvCxnSpPr>
          <p:nvPr/>
        </p:nvCxnSpPr>
        <p:spPr>
          <a:xfrm flipV="1">
            <a:off x="2029276" y="2017047"/>
            <a:ext cx="109254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AAC726B-F6F1-BBA6-9C6B-277DCB1C2F6C}"/>
              </a:ext>
            </a:extLst>
          </p:cNvPr>
          <p:cNvCxnSpPr/>
          <p:nvPr/>
        </p:nvCxnSpPr>
        <p:spPr>
          <a:xfrm flipV="1">
            <a:off x="4442897" y="2024061"/>
            <a:ext cx="109254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EDB01BC3-B899-4C5D-40EA-69538CDB9B6A}"/>
              </a:ext>
            </a:extLst>
          </p:cNvPr>
          <p:cNvCxnSpPr/>
          <p:nvPr/>
        </p:nvCxnSpPr>
        <p:spPr>
          <a:xfrm flipV="1">
            <a:off x="6558864" y="2031950"/>
            <a:ext cx="109254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22429709-FBBB-A169-A537-38101D5ABD00}"/>
              </a:ext>
            </a:extLst>
          </p:cNvPr>
          <p:cNvCxnSpPr/>
          <p:nvPr/>
        </p:nvCxnSpPr>
        <p:spPr>
          <a:xfrm flipV="1">
            <a:off x="1322173" y="2236573"/>
            <a:ext cx="123568" cy="9229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1974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t="3571" b="3571"/>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基于信号处理的确定性增强</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Text 3"/>
          <p:cNvSpPr/>
          <p:nvPr/>
        </p:nvSpPr>
        <p:spPr>
          <a:xfrm>
            <a:off x="571500" y="2000250"/>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起源与本质</a:t>
            </a:r>
            <a:endParaRPr lang="en-US" sz="1200" dirty="0"/>
          </a:p>
        </p:txBody>
      </p:sp>
      <p:sp>
        <p:nvSpPr>
          <p:cNvPr id="7" name="Text 4"/>
          <p:cNvSpPr/>
          <p:nvPr/>
        </p:nvSpPr>
        <p:spPr>
          <a:xfrm>
            <a:off x="571500" y="2247900"/>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最早期的EEG数据增强方法，依赖明确的信号处理规则进行数据扩充。</a:t>
            </a:r>
            <a:endParaRPr lang="en-US" sz="1050" dirty="0"/>
          </a:p>
        </p:txBody>
      </p:sp>
      <p:sp>
        <p:nvSpPr>
          <p:cNvPr id="8" name="Text 5"/>
          <p:cNvSpPr/>
          <p:nvPr/>
        </p:nvSpPr>
        <p:spPr>
          <a:xfrm>
            <a:off x="2667000" y="2000250"/>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时域操作</a:t>
            </a:r>
            <a:endParaRPr lang="en-US" sz="1200" dirty="0"/>
          </a:p>
        </p:txBody>
      </p:sp>
      <p:sp>
        <p:nvSpPr>
          <p:cNvPr id="9" name="Text 6"/>
          <p:cNvSpPr/>
          <p:nvPr/>
        </p:nvSpPr>
        <p:spPr>
          <a:xfrm>
            <a:off x="2667000" y="2247900"/>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通过时间片段裁剪、翻转或平移生成新样本，保留原始生理动态特征。</a:t>
            </a:r>
            <a:endParaRPr lang="en-US" sz="1050" dirty="0"/>
          </a:p>
        </p:txBody>
      </p:sp>
      <p:sp>
        <p:nvSpPr>
          <p:cNvPr id="10" name="Text 7"/>
          <p:cNvSpPr/>
          <p:nvPr/>
        </p:nvSpPr>
        <p:spPr>
          <a:xfrm>
            <a:off x="4762500" y="2000250"/>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频域变换</a:t>
            </a:r>
            <a:endParaRPr lang="en-US" sz="1200" dirty="0"/>
          </a:p>
        </p:txBody>
      </p:sp>
      <p:sp>
        <p:nvSpPr>
          <p:cNvPr id="11" name="Text 8"/>
          <p:cNvSpPr/>
          <p:nvPr/>
        </p:nvSpPr>
        <p:spPr>
          <a:xfrm>
            <a:off x="4762500" y="2247900"/>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利用傅里叶或小波变换在频域扰动信号，增强模型对频率变化的鲁棒性。</a:t>
            </a:r>
            <a:endParaRPr lang="en-US" sz="1050" dirty="0"/>
          </a:p>
        </p:txBody>
      </p:sp>
      <p:sp>
        <p:nvSpPr>
          <p:cNvPr id="12" name="Text 9"/>
          <p:cNvSpPr/>
          <p:nvPr/>
        </p:nvSpPr>
        <p:spPr>
          <a:xfrm>
            <a:off x="6858000" y="2000250"/>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空间滤波</a:t>
            </a:r>
            <a:endParaRPr lang="en-US" sz="1200" dirty="0"/>
          </a:p>
        </p:txBody>
      </p:sp>
      <p:sp>
        <p:nvSpPr>
          <p:cNvPr id="13" name="Text 10"/>
          <p:cNvSpPr/>
          <p:nvPr/>
        </p:nvSpPr>
        <p:spPr>
          <a:xfrm>
            <a:off x="6858000" y="2247900"/>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应用如CAR、LAP等参考技术调整通道间关系，模拟不同采集条件下的数据。</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105525"/>
          </a:xfrm>
          <a:prstGeom prst="rect">
            <a:avLst/>
          </a:prstGeom>
          <a:solidFill>
            <a:srgbClr val="FFFFFF"/>
          </a:solidFill>
          <a:ln/>
        </p:spPr>
      </p:sp>
      <p:pic>
        <p:nvPicPr>
          <p:cNvPr id="3" name="Image 0" descr="preencoded.png"/>
          <p:cNvPicPr>
            <a:picLocks noChangeAspect="1"/>
          </p:cNvPicPr>
          <p:nvPr/>
        </p:nvPicPr>
        <p:blipFill>
          <a:blip r:embed="rId3"/>
          <a:srcRect t="3571" b="3571"/>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基于样本插值与自动化搜索的正则化增强</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81000" y="1428750"/>
            <a:ext cx="8382000" cy="4486275"/>
          </a:xfrm>
          <a:prstGeom prst="rect">
            <a:avLst/>
          </a:prstGeom>
        </p:spPr>
      </p:pic>
      <p:sp>
        <p:nvSpPr>
          <p:cNvPr id="7" name="Text 3"/>
          <p:cNvSpPr/>
          <p:nvPr/>
        </p:nvSpPr>
        <p:spPr>
          <a:xfrm>
            <a:off x="3914775" y="1885950"/>
            <a:ext cx="1314450" cy="276225"/>
          </a:xfrm>
          <a:prstGeom prst="rect">
            <a:avLst/>
          </a:prstGeom>
          <a:noFill/>
          <a:ln/>
        </p:spPr>
        <p:txBody>
          <a:bodyPr vert="horz" wrap="square" lIns="0" tIns="0" rIns="0" bIns="0" rtlCol="0" anchor="ctr"/>
          <a:lstStyle/>
          <a:p>
            <a:pPr marL="0" indent="0" algn="ctr">
              <a:lnSpc>
                <a:spcPts val="1350"/>
              </a:lnSpc>
              <a:buNone/>
            </a:pPr>
            <a:r>
              <a:rPr lang="en-US" sz="1350" b="1" dirty="0">
                <a:solidFill>
                  <a:srgbClr val="95A5BD"/>
                </a:solidFill>
                <a:latin typeface="Microsoft YaHei" pitchFamily="34" charset="0"/>
                <a:ea typeface="Microsoft YaHei" pitchFamily="34" charset="-122"/>
                <a:cs typeface="Microsoft YaHei" pitchFamily="34" charset="-120"/>
              </a:rPr>
              <a:t>数据增强方法</a:t>
            </a:r>
            <a:endParaRPr lang="en-US" sz="1350" dirty="0"/>
          </a:p>
        </p:txBody>
      </p:sp>
      <p:sp>
        <p:nvSpPr>
          <p:cNvPr id="8" name="Text 4"/>
          <p:cNvSpPr/>
          <p:nvPr/>
        </p:nvSpPr>
        <p:spPr>
          <a:xfrm>
            <a:off x="676275" y="3128962"/>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AD8E8E"/>
                </a:solidFill>
                <a:latin typeface="Microsoft YaHei" pitchFamily="34" charset="0"/>
                <a:ea typeface="Microsoft YaHei" pitchFamily="34" charset="-122"/>
                <a:cs typeface="Microsoft YaHei" pitchFamily="34" charset="-120"/>
              </a:rPr>
              <a:t>混合样本训练</a:t>
            </a:r>
            <a:endParaRPr lang="en-US" sz="1200" dirty="0"/>
          </a:p>
        </p:txBody>
      </p:sp>
      <p:sp>
        <p:nvSpPr>
          <p:cNvPr id="9" name="Text 5"/>
          <p:cNvSpPr/>
          <p:nvPr/>
        </p:nvSpPr>
        <p:spPr>
          <a:xfrm>
            <a:off x="876300" y="3457575"/>
            <a:ext cx="1009650" cy="87630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2" name="Text 8"/>
          <p:cNvSpPr/>
          <p:nvPr/>
        </p:nvSpPr>
        <p:spPr>
          <a:xfrm>
            <a:off x="2009775" y="3128962"/>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95A5BD"/>
                </a:solidFill>
                <a:latin typeface="Microsoft YaHei" pitchFamily="34" charset="0"/>
                <a:ea typeface="Microsoft YaHei" pitchFamily="34" charset="-122"/>
                <a:cs typeface="Microsoft YaHei" pitchFamily="34" charset="-120"/>
              </a:rPr>
              <a:t>自动策略搜索</a:t>
            </a:r>
            <a:endParaRPr lang="en-US" sz="1200" dirty="0"/>
          </a:p>
        </p:txBody>
      </p:sp>
      <p:sp>
        <p:nvSpPr>
          <p:cNvPr id="15" name="Text 11"/>
          <p:cNvSpPr/>
          <p:nvPr/>
        </p:nvSpPr>
        <p:spPr>
          <a:xfrm>
            <a:off x="3343275" y="3128962"/>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AD8E8E"/>
                </a:solidFill>
                <a:latin typeface="Microsoft YaHei" pitchFamily="34" charset="0"/>
                <a:ea typeface="Microsoft YaHei" pitchFamily="34" charset="-122"/>
                <a:cs typeface="Microsoft YaHei" pitchFamily="34" charset="-120"/>
              </a:rPr>
              <a:t>正则化机制</a:t>
            </a:r>
            <a:endParaRPr lang="en-US" sz="1200" dirty="0"/>
          </a:p>
        </p:txBody>
      </p:sp>
      <p:sp>
        <p:nvSpPr>
          <p:cNvPr id="18" name="Text 14"/>
          <p:cNvSpPr/>
          <p:nvPr/>
        </p:nvSpPr>
        <p:spPr>
          <a:xfrm>
            <a:off x="4676775" y="3128962"/>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95A5BD"/>
                </a:solidFill>
                <a:latin typeface="Microsoft YaHei" pitchFamily="34" charset="0"/>
                <a:ea typeface="Microsoft YaHei" pitchFamily="34" charset="-122"/>
                <a:cs typeface="Microsoft YaHei" pitchFamily="34" charset="-120"/>
              </a:rPr>
              <a:t>模型鲁棒性</a:t>
            </a:r>
            <a:endParaRPr lang="en-US" sz="1200" dirty="0"/>
          </a:p>
        </p:txBody>
      </p:sp>
      <p:sp>
        <p:nvSpPr>
          <p:cNvPr id="21" name="Text 17"/>
          <p:cNvSpPr/>
          <p:nvPr/>
        </p:nvSpPr>
        <p:spPr>
          <a:xfrm>
            <a:off x="6010275" y="3128962"/>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AD8E8E"/>
                </a:solidFill>
                <a:latin typeface="Microsoft YaHei" pitchFamily="34" charset="0"/>
                <a:ea typeface="Microsoft YaHei" pitchFamily="34" charset="-122"/>
                <a:cs typeface="Microsoft YaHei" pitchFamily="34" charset="-120"/>
              </a:rPr>
              <a:t>泛化能力提升</a:t>
            </a:r>
            <a:endParaRPr lang="en-US" sz="1200" dirty="0"/>
          </a:p>
        </p:txBody>
      </p:sp>
      <p:sp>
        <p:nvSpPr>
          <p:cNvPr id="24" name="Text 20"/>
          <p:cNvSpPr/>
          <p:nvPr/>
        </p:nvSpPr>
        <p:spPr>
          <a:xfrm>
            <a:off x="7343775" y="3128962"/>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95A5BD"/>
                </a:solidFill>
                <a:latin typeface="Microsoft YaHei" pitchFamily="34" charset="0"/>
                <a:ea typeface="Microsoft YaHei" pitchFamily="34" charset="-122"/>
                <a:cs typeface="Microsoft YaHei" pitchFamily="34" charset="-120"/>
              </a:rPr>
              <a:t>自适应优化</a:t>
            </a:r>
            <a:endParaRPr lang="en-US" sz="1200" dirty="0"/>
          </a:p>
        </p:txBody>
      </p:sp>
      <p:sp>
        <p:nvSpPr>
          <p:cNvPr id="10" name="矩形 9">
            <a:extLst>
              <a:ext uri="{FF2B5EF4-FFF2-40B4-BE49-F238E27FC236}">
                <a16:creationId xmlns:a16="http://schemas.microsoft.com/office/drawing/2014/main" id="{85B800D8-C1F3-08DD-BA96-B0D37D8AB2D0}"/>
              </a:ext>
            </a:extLst>
          </p:cNvPr>
          <p:cNvSpPr/>
          <p:nvPr/>
        </p:nvSpPr>
        <p:spPr>
          <a:xfrm>
            <a:off x="571500" y="3457575"/>
            <a:ext cx="8001000" cy="24574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基于生成模型的概率增强</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81000" y="1428750"/>
            <a:ext cx="8382000" cy="2390775"/>
          </a:xfrm>
          <a:prstGeom prst="rect">
            <a:avLst/>
          </a:prstGeom>
        </p:spPr>
      </p:pic>
      <p:sp>
        <p:nvSpPr>
          <p:cNvPr id="7" name="Text 3"/>
          <p:cNvSpPr/>
          <p:nvPr/>
        </p:nvSpPr>
        <p:spPr>
          <a:xfrm>
            <a:off x="781050" y="1466850"/>
            <a:ext cx="1557338"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引入生成模型</a:t>
            </a:r>
            <a:endParaRPr lang="en-US" sz="1200" dirty="0"/>
          </a:p>
        </p:txBody>
      </p:sp>
      <p:sp>
        <p:nvSpPr>
          <p:cNvPr id="8" name="Text 4"/>
          <p:cNvSpPr/>
          <p:nvPr/>
        </p:nvSpPr>
        <p:spPr>
          <a:xfrm>
            <a:off x="781050" y="1843088"/>
            <a:ext cx="1557338" cy="8763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利用GAN和扩散模型增强EEG信号，通过学习真实脑电信号的潜在分布实现高保真合成。</a:t>
            </a:r>
            <a:endParaRPr lang="en-US" sz="1050" dirty="0"/>
          </a:p>
        </p:txBody>
      </p:sp>
      <p:sp>
        <p:nvSpPr>
          <p:cNvPr id="9" name="Text 5"/>
          <p:cNvSpPr/>
          <p:nvPr/>
        </p:nvSpPr>
        <p:spPr>
          <a:xfrm>
            <a:off x="2757488" y="1466850"/>
            <a:ext cx="1557338"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建模数据分布</a:t>
            </a:r>
            <a:endParaRPr lang="en-US" sz="1200" dirty="0"/>
          </a:p>
        </p:txBody>
      </p:sp>
      <p:sp>
        <p:nvSpPr>
          <p:cNvPr id="10" name="Text 6"/>
          <p:cNvSpPr/>
          <p:nvPr/>
        </p:nvSpPr>
        <p:spPr>
          <a:xfrm>
            <a:off x="2757488" y="1843088"/>
            <a:ext cx="1557338" cy="666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捕捉真实EEG数据的统计特性，生成符合生理特征的脑电波形。</a:t>
            </a:r>
            <a:endParaRPr lang="en-US" sz="1050" dirty="0"/>
          </a:p>
        </p:txBody>
      </p:sp>
      <p:sp>
        <p:nvSpPr>
          <p:cNvPr id="11" name="Text 7"/>
          <p:cNvSpPr/>
          <p:nvPr/>
        </p:nvSpPr>
        <p:spPr>
          <a:xfrm>
            <a:off x="4733925" y="1466850"/>
            <a:ext cx="1557338"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缓解个体差异</a:t>
            </a:r>
            <a:endParaRPr lang="en-US" sz="1200" dirty="0"/>
          </a:p>
        </p:txBody>
      </p:sp>
      <p:sp>
        <p:nvSpPr>
          <p:cNvPr id="12" name="Text 8"/>
          <p:cNvSpPr/>
          <p:nvPr/>
        </p:nvSpPr>
        <p:spPr>
          <a:xfrm>
            <a:off x="4733925" y="1843088"/>
            <a:ext cx="1557338" cy="666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减少跨被试变异对模型泛化的影响，提升在未见用户上的适应能力。</a:t>
            </a:r>
            <a:endParaRPr lang="en-US" sz="1050" dirty="0"/>
          </a:p>
        </p:txBody>
      </p:sp>
      <p:sp>
        <p:nvSpPr>
          <p:cNvPr id="13" name="Text 9"/>
          <p:cNvSpPr/>
          <p:nvPr/>
        </p:nvSpPr>
        <p:spPr>
          <a:xfrm>
            <a:off x="6710363" y="1466850"/>
            <a:ext cx="1557338"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提升泛化性能</a:t>
            </a:r>
            <a:endParaRPr lang="en-US" sz="1200" dirty="0"/>
          </a:p>
        </p:txBody>
      </p:sp>
      <p:sp>
        <p:nvSpPr>
          <p:cNvPr id="14" name="Text 10"/>
          <p:cNvSpPr/>
          <p:nvPr/>
        </p:nvSpPr>
        <p:spPr>
          <a:xfrm>
            <a:off x="6710363" y="1843088"/>
            <a:ext cx="1557338" cy="666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生成多样化且生理合理的数据，增强模型在不同个体间的鲁棒性。</a:t>
            </a:r>
            <a:endParaRPr lang="en-US" sz="1050" dirty="0"/>
          </a:p>
        </p:txBody>
      </p:sp>
      <p:sp>
        <p:nvSpPr>
          <p:cNvPr id="15" name="Text 11"/>
          <p:cNvSpPr/>
          <p:nvPr/>
        </p:nvSpPr>
        <p:spPr>
          <a:xfrm>
            <a:off x="781050" y="2852737"/>
            <a:ext cx="3533775"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小样本场景应用</a:t>
            </a:r>
            <a:endParaRPr lang="en-US" sz="1200" dirty="0"/>
          </a:p>
        </p:txBody>
      </p:sp>
      <p:sp>
        <p:nvSpPr>
          <p:cNvPr id="16" name="Text 12"/>
          <p:cNvSpPr/>
          <p:nvPr/>
        </p:nvSpPr>
        <p:spPr>
          <a:xfrm>
            <a:off x="781050" y="3228975"/>
            <a:ext cx="3533775" cy="4572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在标注数据稀缺时，通过数据扩充显著提高分类器训练效果。</a:t>
            </a:r>
            <a:endParaRPr lang="en-US" sz="1050" dirty="0"/>
          </a:p>
        </p:txBody>
      </p:sp>
      <p:sp>
        <p:nvSpPr>
          <p:cNvPr id="17" name="Text 13"/>
          <p:cNvSpPr/>
          <p:nvPr/>
        </p:nvSpPr>
        <p:spPr>
          <a:xfrm>
            <a:off x="4733925" y="2852737"/>
            <a:ext cx="3533775"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增强训练样本</a:t>
            </a:r>
            <a:endParaRPr lang="en-US" sz="1200" dirty="0"/>
          </a:p>
        </p:txBody>
      </p:sp>
      <p:sp>
        <p:nvSpPr>
          <p:cNvPr id="18" name="Text 14"/>
          <p:cNvSpPr/>
          <p:nvPr/>
        </p:nvSpPr>
        <p:spPr>
          <a:xfrm>
            <a:off x="4733925" y="3228975"/>
            <a:ext cx="3533775" cy="4572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生成高质量EEG数据，丰富训练集多样性，改善模型收敛与性能。</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t="3571" b="3571"/>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基于自监督学习的隐式增强</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499654" y="1743075"/>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核心思想</a:t>
            </a:r>
            <a:endParaRPr lang="en-US" sz="1200" dirty="0"/>
          </a:p>
        </p:txBody>
      </p:sp>
      <p:sp>
        <p:nvSpPr>
          <p:cNvPr id="8" name="Text 4"/>
          <p:cNvSpPr/>
          <p:nvPr/>
        </p:nvSpPr>
        <p:spPr>
          <a:xfrm>
            <a:off x="571500" y="2119584"/>
            <a:ext cx="1714500" cy="8382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通过设计预训练任务，让模型从无标签EEG数据中自动学习有效表征，实现隐式数据增强。</a:t>
            </a:r>
            <a:endParaRPr lang="en-US" sz="1050" dirty="0"/>
          </a:p>
        </p:txBody>
      </p:sp>
      <p:sp>
        <p:nvSpPr>
          <p:cNvPr id="10" name="Text 5"/>
          <p:cNvSpPr/>
          <p:nvPr/>
        </p:nvSpPr>
        <p:spPr>
          <a:xfrm>
            <a:off x="2713808" y="1747429"/>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典型方法</a:t>
            </a:r>
            <a:endParaRPr lang="en-US" sz="1200" dirty="0"/>
          </a:p>
        </p:txBody>
      </p:sp>
      <p:sp>
        <p:nvSpPr>
          <p:cNvPr id="11" name="Text 6"/>
          <p:cNvSpPr/>
          <p:nvPr/>
        </p:nvSpPr>
        <p:spPr>
          <a:xfrm>
            <a:off x="2713808" y="2116863"/>
            <a:ext cx="1714500" cy="6286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采用对比学习框架，对同一信号的不同增强视图进行特征对齐，提升表示鲁棒性。</a:t>
            </a:r>
            <a:endParaRPr lang="en-US" sz="1050" dirty="0"/>
          </a:p>
        </p:txBody>
      </p:sp>
      <p:sp>
        <p:nvSpPr>
          <p:cNvPr id="13" name="Text 7"/>
          <p:cNvSpPr/>
          <p:nvPr/>
        </p:nvSpPr>
        <p:spPr>
          <a:xfrm>
            <a:off x="4715694" y="1743075"/>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优势特点</a:t>
            </a:r>
            <a:endParaRPr lang="en-US" sz="1200" dirty="0"/>
          </a:p>
        </p:txBody>
      </p:sp>
      <p:sp>
        <p:nvSpPr>
          <p:cNvPr id="14" name="Text 8"/>
          <p:cNvSpPr/>
          <p:nvPr/>
        </p:nvSpPr>
        <p:spPr>
          <a:xfrm>
            <a:off x="4715694" y="2114142"/>
            <a:ext cx="1714500" cy="6286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减少对人工标注依赖，在小样本场景下显著提升下游任务性能与泛化能力。</a:t>
            </a:r>
            <a:endParaRPr lang="en-US" sz="1050" dirty="0"/>
          </a:p>
        </p:txBody>
      </p:sp>
      <p:sp>
        <p:nvSpPr>
          <p:cNvPr id="16" name="Text 9"/>
          <p:cNvSpPr/>
          <p:nvPr/>
        </p:nvSpPr>
        <p:spPr>
          <a:xfrm>
            <a:off x="6822077" y="1747429"/>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应用趋势</a:t>
            </a:r>
            <a:endParaRPr lang="en-US" sz="1200" dirty="0"/>
          </a:p>
        </p:txBody>
      </p:sp>
      <p:sp>
        <p:nvSpPr>
          <p:cNvPr id="17" name="Text 10"/>
          <p:cNvSpPr/>
          <p:nvPr/>
        </p:nvSpPr>
        <p:spPr>
          <a:xfrm>
            <a:off x="6786154" y="2114142"/>
            <a:ext cx="1714500" cy="6286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结合Transformer架构进行长程依赖建模，推动EEG分析向自监督预训练范式演进。</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647950"/>
            <a:ext cx="4762500" cy="1333500"/>
          </a:xfrm>
          <a:prstGeom prst="rect">
            <a:avLst/>
          </a:prstGeom>
          <a:noFill/>
          <a:ln/>
        </p:spPr>
        <p:txBody>
          <a:bodyPr vert="horz" wrap="square" lIns="0" tIns="0" rIns="0" bIns="0" rtlCol="0" anchor="ctr"/>
          <a:lstStyle/>
          <a:p>
            <a:pPr marL="0" indent="0" algn="l">
              <a:lnSpc>
                <a:spcPts val="5250"/>
              </a:lnSpc>
              <a:buNone/>
            </a:pPr>
            <a:r>
              <a:rPr lang="en-US" sz="3750" b="1" dirty="0">
                <a:solidFill>
                  <a:srgbClr val="333333"/>
                </a:solidFill>
                <a:latin typeface="Microsoft YaHei" pitchFamily="34" charset="0"/>
                <a:ea typeface="Microsoft YaHei" pitchFamily="34" charset="-122"/>
                <a:cs typeface="Microsoft YaHei" pitchFamily="34" charset="-120"/>
              </a:rPr>
              <a:t>挑战剖析：评估、耦合与工程落地</a:t>
            </a:r>
            <a:endParaRPr lang="en-US" sz="3750" dirty="0"/>
          </a:p>
        </p:txBody>
      </p:sp>
      <p:sp>
        <p:nvSpPr>
          <p:cNvPr id="4" name="Shape 1"/>
          <p:cNvSpPr/>
          <p:nvPr/>
        </p:nvSpPr>
        <p:spPr>
          <a:xfrm>
            <a:off x="571500" y="4157662"/>
            <a:ext cx="4762500" cy="14288"/>
          </a:xfrm>
          <a:prstGeom prst="rect">
            <a:avLst/>
          </a:prstGeom>
          <a:solidFill>
            <a:srgbClr val="333333">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D8D8D8"/>
                </a:solidFill>
                <a:latin typeface="Microsoft YaHei" pitchFamily="34" charset="0"/>
                <a:ea typeface="Microsoft YaHei" pitchFamily="34" charset="-122"/>
                <a:cs typeface="Microsoft YaHei" pitchFamily="34" charset="-120"/>
              </a:rPr>
              <a:t>03</a:t>
            </a:r>
            <a:endParaRPr lang="en-US" sz="2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表征演进与增强策略的物理耦合</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1539875" y="2000250"/>
            <a:ext cx="476250" cy="476250"/>
          </a:xfrm>
          <a:prstGeom prst="rect">
            <a:avLst/>
          </a:prstGeom>
        </p:spPr>
      </p:pic>
      <p:sp>
        <p:nvSpPr>
          <p:cNvPr id="7" name="Text 3"/>
          <p:cNvSpPr/>
          <p:nvPr/>
        </p:nvSpPr>
        <p:spPr>
          <a:xfrm>
            <a:off x="571500" y="2590800"/>
            <a:ext cx="24130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表征形态演化</a:t>
            </a:r>
            <a:endParaRPr lang="en-US" sz="1200" dirty="0"/>
          </a:p>
        </p:txBody>
      </p:sp>
      <p:sp>
        <p:nvSpPr>
          <p:cNvPr id="8" name="Text 4"/>
          <p:cNvSpPr/>
          <p:nvPr/>
        </p:nvSpPr>
        <p:spPr>
          <a:xfrm>
            <a:off x="571500" y="2838450"/>
            <a:ext cx="2413000" cy="6286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EEG数据从原始时序发展为2D谱图、3D脑区动态及图结构，不同形态影响增强方法的设计与适用性。</a:t>
            </a:r>
            <a:endParaRPr lang="en-US" sz="1050" dirty="0"/>
          </a:p>
        </p:txBody>
      </p:sp>
      <p:pic>
        <p:nvPicPr>
          <p:cNvPr id="9" name="Image 2" descr="preencoded.png"/>
          <p:cNvPicPr>
            <a:picLocks noChangeAspect="1"/>
          </p:cNvPicPr>
          <p:nvPr/>
        </p:nvPicPr>
        <p:blipFill>
          <a:blip r:embed="rId5"/>
          <a:srcRect/>
          <a:stretch/>
        </p:blipFill>
        <p:spPr>
          <a:xfrm>
            <a:off x="4333875" y="2000250"/>
            <a:ext cx="476250" cy="476250"/>
          </a:xfrm>
          <a:prstGeom prst="rect">
            <a:avLst/>
          </a:prstGeom>
        </p:spPr>
      </p:pic>
      <p:sp>
        <p:nvSpPr>
          <p:cNvPr id="10" name="Text 5"/>
          <p:cNvSpPr/>
          <p:nvPr/>
        </p:nvSpPr>
        <p:spPr>
          <a:xfrm>
            <a:off x="3365500" y="2590800"/>
            <a:ext cx="24130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物理约束耦合</a:t>
            </a:r>
            <a:endParaRPr lang="en-US" sz="1200" dirty="0"/>
          </a:p>
        </p:txBody>
      </p:sp>
      <p:sp>
        <p:nvSpPr>
          <p:cNvPr id="11" name="Text 6"/>
          <p:cNvSpPr/>
          <p:nvPr/>
        </p:nvSpPr>
        <p:spPr>
          <a:xfrm>
            <a:off x="3365500" y="2838450"/>
            <a:ext cx="2413000" cy="6286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增强操作需符合神经信号的空间拓扑与时间动力学特性，避免生成生理不可信的伪影数据。</a:t>
            </a:r>
            <a:endParaRPr lang="en-US" sz="1050" dirty="0"/>
          </a:p>
        </p:txBody>
      </p:sp>
      <p:pic>
        <p:nvPicPr>
          <p:cNvPr id="12" name="Image 3" descr="preencoded.png"/>
          <p:cNvPicPr>
            <a:picLocks noChangeAspect="1"/>
          </p:cNvPicPr>
          <p:nvPr/>
        </p:nvPicPr>
        <p:blipFill>
          <a:blip r:embed="rId6"/>
          <a:srcRect/>
          <a:stretch/>
        </p:blipFill>
        <p:spPr>
          <a:xfrm>
            <a:off x="7127875" y="2000250"/>
            <a:ext cx="476250" cy="476250"/>
          </a:xfrm>
          <a:prstGeom prst="rect">
            <a:avLst/>
          </a:prstGeom>
        </p:spPr>
      </p:pic>
      <p:sp>
        <p:nvSpPr>
          <p:cNvPr id="13" name="Text 7"/>
          <p:cNvSpPr/>
          <p:nvPr/>
        </p:nvSpPr>
        <p:spPr>
          <a:xfrm>
            <a:off x="6159500" y="2590800"/>
            <a:ext cx="24130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策略适配匹配</a:t>
            </a:r>
            <a:endParaRPr lang="en-US" sz="1200" dirty="0"/>
          </a:p>
        </p:txBody>
      </p:sp>
      <p:sp>
        <p:nvSpPr>
          <p:cNvPr id="14" name="Text 8"/>
          <p:cNvSpPr/>
          <p:nvPr/>
        </p:nvSpPr>
        <p:spPr>
          <a:xfrm>
            <a:off x="6159500" y="2838450"/>
            <a:ext cx="2413000" cy="6286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特定表征需匹配相应增强技术，如图神经网络对应图扩散，提升模型对结构化特征的学习能力。</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评估陷阱：跳出单一准确率的误区</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2019300"/>
            <a:ext cx="2781151" cy="2266950"/>
          </a:xfrm>
          <a:prstGeom prst="rect">
            <a:avLst/>
          </a:prstGeom>
        </p:spPr>
      </p:pic>
      <p:sp>
        <p:nvSpPr>
          <p:cNvPr id="7" name="Text 3"/>
          <p:cNvSpPr/>
          <p:nvPr/>
        </p:nvSpPr>
        <p:spPr>
          <a:xfrm>
            <a:off x="752475"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准确率局限</a:t>
            </a:r>
            <a:endParaRPr lang="en-US" sz="1200" dirty="0"/>
          </a:p>
        </p:txBody>
      </p:sp>
      <p:sp>
        <p:nvSpPr>
          <p:cNvPr id="8" name="Text 4"/>
          <p:cNvSpPr/>
          <p:nvPr/>
        </p:nvSpPr>
        <p:spPr>
          <a:xfrm>
            <a:off x="752475"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单一准确率易掩盖模型在个体差异或跨任务场景下的泛化缺陷，无法全面反映增强效果。</a:t>
            </a:r>
            <a:endParaRPr lang="en-US" sz="1050" dirty="0"/>
          </a:p>
        </p:txBody>
      </p:sp>
      <p:pic>
        <p:nvPicPr>
          <p:cNvPr id="9" name="Image 2" descr="preencoded.png"/>
          <p:cNvPicPr>
            <a:picLocks noChangeAspect="1"/>
          </p:cNvPicPr>
          <p:nvPr/>
        </p:nvPicPr>
        <p:blipFill>
          <a:blip r:embed="rId5"/>
          <a:srcRect/>
          <a:stretch/>
        </p:blipFill>
        <p:spPr>
          <a:xfrm>
            <a:off x="3181201" y="2019300"/>
            <a:ext cx="2781151" cy="2266950"/>
          </a:xfrm>
          <a:prstGeom prst="rect">
            <a:avLst/>
          </a:prstGeom>
        </p:spPr>
      </p:pic>
      <p:sp>
        <p:nvSpPr>
          <p:cNvPr id="10" name="Text 5"/>
          <p:cNvSpPr/>
          <p:nvPr/>
        </p:nvSpPr>
        <p:spPr>
          <a:xfrm>
            <a:off x="3533626"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多维评估体系</a:t>
            </a:r>
            <a:endParaRPr lang="en-US" sz="1200" dirty="0"/>
          </a:p>
        </p:txBody>
      </p:sp>
      <p:sp>
        <p:nvSpPr>
          <p:cNvPr id="11" name="Text 6"/>
          <p:cNvSpPr/>
          <p:nvPr/>
        </p:nvSpPr>
        <p:spPr>
          <a:xfrm>
            <a:off x="3533626"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需引入如类别平衡精度、跨被试稳定性、生理一致性等指标，构建综合评价框架。</a:t>
            </a:r>
            <a:endParaRPr lang="en-US" sz="1050" dirty="0"/>
          </a:p>
        </p:txBody>
      </p:sp>
      <p:pic>
        <p:nvPicPr>
          <p:cNvPr id="12" name="Image 3" descr="preencoded.png"/>
          <p:cNvPicPr>
            <a:picLocks noChangeAspect="1"/>
          </p:cNvPicPr>
          <p:nvPr/>
        </p:nvPicPr>
        <p:blipFill>
          <a:blip r:embed="rId6"/>
          <a:srcRect/>
          <a:stretch/>
        </p:blipFill>
        <p:spPr>
          <a:xfrm>
            <a:off x="5962352" y="2019300"/>
            <a:ext cx="2781151" cy="2266950"/>
          </a:xfrm>
          <a:prstGeom prst="rect">
            <a:avLst/>
          </a:prstGeom>
        </p:spPr>
      </p:pic>
      <p:sp>
        <p:nvSpPr>
          <p:cNvPr id="13" name="Text 7"/>
          <p:cNvSpPr/>
          <p:nvPr/>
        </p:nvSpPr>
        <p:spPr>
          <a:xfrm>
            <a:off x="6314777"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真实场景适配</a:t>
            </a:r>
            <a:endParaRPr lang="en-US" sz="1200" dirty="0"/>
          </a:p>
        </p:txBody>
      </p:sp>
      <p:sp>
        <p:nvSpPr>
          <p:cNvPr id="14" name="Text 8"/>
          <p:cNvSpPr/>
          <p:nvPr/>
        </p:nvSpPr>
        <p:spPr>
          <a:xfrm>
            <a:off x="6314777"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评估应覆盖噪声鲁棒性、在线解码延迟等工程指标，贴近实际应用需求。</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562600"/>
          </a:xfrm>
          <a:prstGeom prst="rect">
            <a:avLst/>
          </a:prstGeom>
          <a:solidFill>
            <a:srgbClr val="FFFFFF"/>
          </a:solidFill>
          <a:ln/>
        </p:spPr>
      </p:sp>
      <p:pic>
        <p:nvPicPr>
          <p:cNvPr id="3" name="Image 0" descr="preencoded.png"/>
          <p:cNvPicPr>
            <a:picLocks noChangeAspect="1"/>
          </p:cNvPicPr>
          <p:nvPr/>
        </p:nvPicPr>
        <p:blipFill>
          <a:blip r:embed="rId3"/>
          <a:srcRect t="3571" b="3571"/>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工程实践：防范泄露与资源权衡</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81000" y="1428750"/>
            <a:ext cx="8382000" cy="3943350"/>
          </a:xfrm>
          <a:prstGeom prst="rect">
            <a:avLst/>
          </a:prstGeom>
        </p:spPr>
      </p:pic>
      <p:sp>
        <p:nvSpPr>
          <p:cNvPr id="7" name="Text 3"/>
          <p:cNvSpPr/>
          <p:nvPr/>
        </p:nvSpPr>
        <p:spPr>
          <a:xfrm>
            <a:off x="4129088" y="3357563"/>
            <a:ext cx="885825" cy="514350"/>
          </a:xfrm>
          <a:prstGeom prst="rect">
            <a:avLst/>
          </a:prstGeom>
          <a:noFill/>
          <a:ln/>
        </p:spPr>
        <p:txBody>
          <a:bodyPr vert="horz" wrap="square" lIns="0" tIns="0" rIns="0" bIns="0" rtlCol="0" anchor="ctr"/>
          <a:lstStyle/>
          <a:p>
            <a:pPr marL="0" indent="0" algn="ctr">
              <a:lnSpc>
                <a:spcPts val="1350"/>
              </a:lnSpc>
              <a:buNone/>
            </a:pPr>
            <a:r>
              <a:rPr lang="en-US" sz="1350" b="1" dirty="0">
                <a:solidFill>
                  <a:srgbClr val="95A5BD"/>
                </a:solidFill>
                <a:latin typeface="Microsoft YaHei" pitchFamily="34" charset="0"/>
                <a:ea typeface="Microsoft YaHei" pitchFamily="34" charset="-122"/>
                <a:cs typeface="Microsoft YaHei" pitchFamily="34" charset="-120"/>
              </a:rPr>
              <a:t>数据增强优化</a:t>
            </a:r>
            <a:endParaRPr lang="en-US" sz="1350" dirty="0"/>
          </a:p>
        </p:txBody>
      </p:sp>
      <p:sp>
        <p:nvSpPr>
          <p:cNvPr id="8" name="Text 4"/>
          <p:cNvSpPr/>
          <p:nvPr/>
        </p:nvSpPr>
        <p:spPr>
          <a:xfrm>
            <a:off x="2581275" y="1552575"/>
            <a:ext cx="847725" cy="285750"/>
          </a:xfrm>
          <a:prstGeom prst="rect">
            <a:avLst/>
          </a:prstGeom>
          <a:noFill/>
          <a:ln/>
        </p:spPr>
        <p:txBody>
          <a:bodyPr vert="horz" wrap="square" lIns="0" tIns="0" rIns="0" bIns="0" rtlCol="0" anchor="ctr"/>
          <a:lstStyle/>
          <a:p>
            <a:pPr marL="0" indent="0">
              <a:lnSpc>
                <a:spcPts val="1950"/>
              </a:lnSpc>
              <a:buNone/>
            </a:pPr>
            <a:r>
              <a:rPr lang="en-US" sz="1200" b="1" dirty="0">
                <a:solidFill>
                  <a:srgbClr val="AD8E8E"/>
                </a:solidFill>
                <a:latin typeface="Microsoft YaHei" pitchFamily="34" charset="0"/>
                <a:ea typeface="Microsoft YaHei" pitchFamily="34" charset="-122"/>
                <a:cs typeface="Microsoft YaHei" pitchFamily="34" charset="-120"/>
              </a:rPr>
              <a:t>阶段划分</a:t>
            </a:r>
            <a:endParaRPr lang="en-US" sz="1200" dirty="0"/>
          </a:p>
        </p:txBody>
      </p:sp>
      <p:sp>
        <p:nvSpPr>
          <p:cNvPr id="9" name="Text 5"/>
          <p:cNvSpPr/>
          <p:nvPr/>
        </p:nvSpPr>
        <p:spPr>
          <a:xfrm>
            <a:off x="419100" y="1924050"/>
            <a:ext cx="2595563"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严格区分训练与增强阶段，防止测试信息泄露。</a:t>
            </a:r>
            <a:endParaRPr lang="en-US" sz="1050" dirty="0"/>
          </a:p>
        </p:txBody>
      </p:sp>
      <p:sp>
        <p:nvSpPr>
          <p:cNvPr id="10" name="Text 6"/>
          <p:cNvSpPr/>
          <p:nvPr/>
        </p:nvSpPr>
        <p:spPr>
          <a:xfrm>
            <a:off x="419100" y="2381250"/>
            <a:ext cx="2595563"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确保模型评估过程真实可靠，避免数据污染。</a:t>
            </a:r>
            <a:endParaRPr lang="en-US" sz="1050" dirty="0"/>
          </a:p>
        </p:txBody>
      </p:sp>
      <p:sp>
        <p:nvSpPr>
          <p:cNvPr id="11" name="Text 7"/>
          <p:cNvSpPr/>
          <p:nvPr/>
        </p:nvSpPr>
        <p:spPr>
          <a:xfrm>
            <a:off x="2581275" y="3009900"/>
            <a:ext cx="847725" cy="285750"/>
          </a:xfrm>
          <a:prstGeom prst="rect">
            <a:avLst/>
          </a:prstGeom>
          <a:noFill/>
          <a:ln/>
        </p:spPr>
        <p:txBody>
          <a:bodyPr vert="horz" wrap="square" lIns="0" tIns="0" rIns="0" bIns="0" rtlCol="0" anchor="ctr"/>
          <a:lstStyle/>
          <a:p>
            <a:pPr marL="0" indent="0">
              <a:lnSpc>
                <a:spcPts val="1950"/>
              </a:lnSpc>
              <a:buNone/>
            </a:pPr>
            <a:r>
              <a:rPr lang="en-US" sz="1200" b="1" dirty="0">
                <a:solidFill>
                  <a:srgbClr val="95A5BD"/>
                </a:solidFill>
                <a:latin typeface="Microsoft YaHei" pitchFamily="34" charset="0"/>
                <a:ea typeface="Microsoft YaHei" pitchFamily="34" charset="-122"/>
                <a:cs typeface="Microsoft YaHei" pitchFamily="34" charset="-120"/>
              </a:rPr>
              <a:t>性能平衡</a:t>
            </a:r>
            <a:endParaRPr lang="en-US" sz="1200" dirty="0"/>
          </a:p>
        </p:txBody>
      </p:sp>
      <p:sp>
        <p:nvSpPr>
          <p:cNvPr id="12" name="Text 8"/>
          <p:cNvSpPr/>
          <p:nvPr/>
        </p:nvSpPr>
        <p:spPr>
          <a:xfrm>
            <a:off x="419100" y="3381375"/>
            <a:ext cx="2595563" cy="24765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增强规模增大后，性能提升逐渐趋于平缓。</a:t>
            </a:r>
            <a:endParaRPr lang="en-US" sz="1050" dirty="0"/>
          </a:p>
        </p:txBody>
      </p:sp>
      <p:sp>
        <p:nvSpPr>
          <p:cNvPr id="13" name="Text 9"/>
          <p:cNvSpPr/>
          <p:nvPr/>
        </p:nvSpPr>
        <p:spPr>
          <a:xfrm>
            <a:off x="419100" y="3629025"/>
            <a:ext cx="2595563"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需权衡计算成本与模型性能增益之间的关系。</a:t>
            </a:r>
            <a:endParaRPr lang="en-US" sz="1050" dirty="0"/>
          </a:p>
        </p:txBody>
      </p:sp>
      <p:sp>
        <p:nvSpPr>
          <p:cNvPr id="14" name="Text 10"/>
          <p:cNvSpPr/>
          <p:nvPr/>
        </p:nvSpPr>
        <p:spPr>
          <a:xfrm>
            <a:off x="2581275" y="4257675"/>
            <a:ext cx="847725" cy="285750"/>
          </a:xfrm>
          <a:prstGeom prst="rect">
            <a:avLst/>
          </a:prstGeom>
          <a:noFill/>
          <a:ln/>
        </p:spPr>
        <p:txBody>
          <a:bodyPr vert="horz" wrap="square" lIns="0" tIns="0" rIns="0" bIns="0" rtlCol="0" anchor="ctr"/>
          <a:lstStyle/>
          <a:p>
            <a:pPr marL="0" indent="0">
              <a:lnSpc>
                <a:spcPts val="1950"/>
              </a:lnSpc>
              <a:buNone/>
            </a:pPr>
            <a:r>
              <a:rPr lang="en-US" sz="1200" b="1" dirty="0">
                <a:solidFill>
                  <a:srgbClr val="AD8E8E"/>
                </a:solidFill>
                <a:latin typeface="Microsoft YaHei" pitchFamily="34" charset="0"/>
                <a:ea typeface="Microsoft YaHei" pitchFamily="34" charset="-122"/>
                <a:cs typeface="Microsoft YaHei" pitchFamily="34" charset="-120"/>
              </a:rPr>
              <a:t>资源优化</a:t>
            </a:r>
            <a:endParaRPr lang="en-US" sz="1200" dirty="0"/>
          </a:p>
        </p:txBody>
      </p:sp>
      <p:sp>
        <p:nvSpPr>
          <p:cNvPr id="15" name="Text 11"/>
          <p:cNvSpPr/>
          <p:nvPr/>
        </p:nvSpPr>
        <p:spPr>
          <a:xfrm>
            <a:off x="419100" y="4629150"/>
            <a:ext cx="2595563" cy="24765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合理配置算力与存储资源，提升运行效率。</a:t>
            </a:r>
            <a:endParaRPr lang="en-US" sz="1050" dirty="0"/>
          </a:p>
        </p:txBody>
      </p:sp>
      <p:sp>
        <p:nvSpPr>
          <p:cNvPr id="16" name="Text 12"/>
          <p:cNvSpPr/>
          <p:nvPr/>
        </p:nvSpPr>
        <p:spPr>
          <a:xfrm>
            <a:off x="419100" y="4876800"/>
            <a:ext cx="2595563"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避免生成冗余数据，减少不必要的资源消耗。</a:t>
            </a:r>
            <a:endParaRPr lang="en-US" sz="1050" dirty="0"/>
          </a:p>
        </p:txBody>
      </p:sp>
      <p:sp>
        <p:nvSpPr>
          <p:cNvPr id="17" name="Text 13"/>
          <p:cNvSpPr/>
          <p:nvPr/>
        </p:nvSpPr>
        <p:spPr>
          <a:xfrm>
            <a:off x="6076950" y="1866900"/>
            <a:ext cx="847725" cy="285750"/>
          </a:xfrm>
          <a:prstGeom prst="rect">
            <a:avLst/>
          </a:prstGeom>
          <a:noFill/>
          <a:ln/>
        </p:spPr>
        <p:txBody>
          <a:bodyPr vert="horz" wrap="square" lIns="0" tIns="0" rIns="0" bIns="0" rtlCol="0" anchor="ctr"/>
          <a:lstStyle/>
          <a:p>
            <a:pPr marL="0" indent="0">
              <a:lnSpc>
                <a:spcPts val="1950"/>
              </a:lnSpc>
              <a:buNone/>
            </a:pPr>
            <a:r>
              <a:rPr lang="en-US" sz="1200" b="1" dirty="0">
                <a:solidFill>
                  <a:srgbClr val="95A5BD"/>
                </a:solidFill>
                <a:latin typeface="Microsoft YaHei" pitchFamily="34" charset="0"/>
                <a:ea typeface="Microsoft YaHei" pitchFamily="34" charset="-122"/>
                <a:cs typeface="Microsoft YaHei" pitchFamily="34" charset="-120"/>
              </a:rPr>
              <a:t>效益最大化</a:t>
            </a:r>
            <a:endParaRPr lang="en-US" sz="1200" dirty="0"/>
          </a:p>
        </p:txBody>
      </p:sp>
      <p:sp>
        <p:nvSpPr>
          <p:cNvPr id="18" name="Text 14"/>
          <p:cNvSpPr/>
          <p:nvPr/>
        </p:nvSpPr>
        <p:spPr>
          <a:xfrm>
            <a:off x="6129338" y="2238375"/>
            <a:ext cx="2595563"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在有限资源下追求最优的增强效果。</a:t>
            </a:r>
            <a:endParaRPr lang="en-US" sz="1050" dirty="0"/>
          </a:p>
        </p:txBody>
      </p:sp>
      <p:sp>
        <p:nvSpPr>
          <p:cNvPr id="19" name="Text 15"/>
          <p:cNvSpPr/>
          <p:nvPr/>
        </p:nvSpPr>
        <p:spPr>
          <a:xfrm>
            <a:off x="6129338" y="2486025"/>
            <a:ext cx="2595563" cy="4572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通过策略调整实现增强质量与效率的协同提升。</a:t>
            </a:r>
            <a:endParaRPr lang="en-US" sz="1050" dirty="0"/>
          </a:p>
        </p:txBody>
      </p:sp>
      <p:sp>
        <p:nvSpPr>
          <p:cNvPr id="20" name="Text 16"/>
          <p:cNvSpPr/>
          <p:nvPr/>
        </p:nvSpPr>
        <p:spPr>
          <a:xfrm>
            <a:off x="6076950" y="3114675"/>
            <a:ext cx="847725" cy="285750"/>
          </a:xfrm>
          <a:prstGeom prst="rect">
            <a:avLst/>
          </a:prstGeom>
          <a:noFill/>
          <a:ln/>
        </p:spPr>
        <p:txBody>
          <a:bodyPr vert="horz" wrap="square" lIns="0" tIns="0" rIns="0" bIns="0" rtlCol="0" anchor="ctr"/>
          <a:lstStyle/>
          <a:p>
            <a:pPr marL="0" indent="0">
              <a:lnSpc>
                <a:spcPts val="1950"/>
              </a:lnSpc>
              <a:buNone/>
            </a:pPr>
            <a:r>
              <a:rPr lang="en-US" sz="1200" b="1" dirty="0">
                <a:solidFill>
                  <a:srgbClr val="AD8E8E"/>
                </a:solidFill>
                <a:latin typeface="Microsoft YaHei" pitchFamily="34" charset="0"/>
                <a:ea typeface="Microsoft YaHei" pitchFamily="34" charset="-122"/>
                <a:cs typeface="Microsoft YaHei" pitchFamily="34" charset="-120"/>
              </a:rPr>
              <a:t>评估可靠性</a:t>
            </a:r>
            <a:endParaRPr lang="en-US" sz="1200" dirty="0"/>
          </a:p>
        </p:txBody>
      </p:sp>
      <p:sp>
        <p:nvSpPr>
          <p:cNvPr id="21" name="Text 17"/>
          <p:cNvSpPr/>
          <p:nvPr/>
        </p:nvSpPr>
        <p:spPr>
          <a:xfrm>
            <a:off x="6129338" y="3486150"/>
            <a:ext cx="2595563"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防止信息泄露保障模型评估的公正性。</a:t>
            </a:r>
            <a:endParaRPr lang="en-US" sz="1050" dirty="0"/>
          </a:p>
        </p:txBody>
      </p:sp>
      <p:sp>
        <p:nvSpPr>
          <p:cNvPr id="22" name="Text 18"/>
          <p:cNvSpPr/>
          <p:nvPr/>
        </p:nvSpPr>
        <p:spPr>
          <a:xfrm>
            <a:off x="6129338" y="3733800"/>
            <a:ext cx="2595563"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真实反映模型在未知数据上的泛化能力。</a:t>
            </a:r>
            <a:endParaRPr lang="en-US" sz="1050" dirty="0"/>
          </a:p>
        </p:txBody>
      </p:sp>
      <p:sp>
        <p:nvSpPr>
          <p:cNvPr id="23" name="Text 19"/>
          <p:cNvSpPr/>
          <p:nvPr/>
        </p:nvSpPr>
        <p:spPr>
          <a:xfrm>
            <a:off x="6076950" y="4152900"/>
            <a:ext cx="847725" cy="285750"/>
          </a:xfrm>
          <a:prstGeom prst="rect">
            <a:avLst/>
          </a:prstGeom>
          <a:noFill/>
          <a:ln/>
        </p:spPr>
        <p:txBody>
          <a:bodyPr vert="horz" wrap="square" lIns="0" tIns="0" rIns="0" bIns="0" rtlCol="0" anchor="ctr"/>
          <a:lstStyle/>
          <a:p>
            <a:pPr marL="0" indent="0">
              <a:lnSpc>
                <a:spcPts val="1950"/>
              </a:lnSpc>
              <a:buNone/>
            </a:pPr>
            <a:r>
              <a:rPr lang="en-US" sz="1200" b="1" dirty="0">
                <a:solidFill>
                  <a:srgbClr val="95A5BD"/>
                </a:solidFill>
                <a:latin typeface="Microsoft YaHei" pitchFamily="34" charset="0"/>
                <a:ea typeface="Microsoft YaHei" pitchFamily="34" charset="-122"/>
                <a:cs typeface="Microsoft YaHei" pitchFamily="34" charset="-120"/>
              </a:rPr>
              <a:t>增强策略</a:t>
            </a:r>
            <a:endParaRPr lang="en-US" sz="1200" dirty="0"/>
          </a:p>
        </p:txBody>
      </p:sp>
      <p:sp>
        <p:nvSpPr>
          <p:cNvPr id="24" name="Text 20"/>
          <p:cNvSpPr/>
          <p:nvPr/>
        </p:nvSpPr>
        <p:spPr>
          <a:xfrm>
            <a:off x="6129338" y="4524375"/>
            <a:ext cx="2595563"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根据任务需求选择合适的数据增强方法。</a:t>
            </a:r>
            <a:endParaRPr lang="en-US" sz="1050" dirty="0"/>
          </a:p>
        </p:txBody>
      </p:sp>
      <p:sp>
        <p:nvSpPr>
          <p:cNvPr id="25" name="Text 21"/>
          <p:cNvSpPr/>
          <p:nvPr/>
        </p:nvSpPr>
        <p:spPr>
          <a:xfrm>
            <a:off x="6129338" y="4772025"/>
            <a:ext cx="2595563"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动态调整增强强度以适应模型学习阶段。</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647950"/>
            <a:ext cx="4762500" cy="1333500"/>
          </a:xfrm>
          <a:prstGeom prst="rect">
            <a:avLst/>
          </a:prstGeom>
          <a:noFill/>
          <a:ln/>
        </p:spPr>
        <p:txBody>
          <a:bodyPr vert="horz" wrap="square" lIns="0" tIns="0" rIns="0" bIns="0" rtlCol="0" anchor="ctr"/>
          <a:lstStyle/>
          <a:p>
            <a:pPr marL="0" indent="0" algn="l">
              <a:lnSpc>
                <a:spcPts val="5250"/>
              </a:lnSpc>
              <a:buNone/>
            </a:pPr>
            <a:r>
              <a:rPr lang="en-US" sz="3750" b="1" dirty="0">
                <a:solidFill>
                  <a:srgbClr val="333333"/>
                </a:solidFill>
                <a:latin typeface="Microsoft YaHei" pitchFamily="34" charset="0"/>
                <a:ea typeface="Microsoft YaHei" pitchFamily="34" charset="-122"/>
                <a:cs typeface="Microsoft YaHei" pitchFamily="34" charset="-120"/>
              </a:rPr>
              <a:t>应用透视：跨领域实践效果观察</a:t>
            </a:r>
            <a:endParaRPr lang="en-US" sz="3750" dirty="0"/>
          </a:p>
        </p:txBody>
      </p:sp>
      <p:sp>
        <p:nvSpPr>
          <p:cNvPr id="4" name="Shape 1"/>
          <p:cNvSpPr/>
          <p:nvPr/>
        </p:nvSpPr>
        <p:spPr>
          <a:xfrm>
            <a:off x="571500" y="4157662"/>
            <a:ext cx="4762500" cy="14288"/>
          </a:xfrm>
          <a:prstGeom prst="rect">
            <a:avLst/>
          </a:prstGeom>
          <a:solidFill>
            <a:srgbClr val="333333">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D8D8D8"/>
                </a:solidFill>
                <a:latin typeface="Microsoft YaHei" pitchFamily="34" charset="0"/>
                <a:ea typeface="Microsoft YaHei" pitchFamily="34" charset="-122"/>
                <a:cs typeface="Microsoft YaHei" pitchFamily="34" charset="-120"/>
              </a:rPr>
              <a:t>04</a:t>
            </a:r>
            <a:endParaRPr lang="en-US" sz="2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在运动想象任务中，插值与生成模型有效提升BCI系统的在线解码鲁棒性</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Text 3"/>
          <p:cNvSpPr/>
          <p:nvPr/>
        </p:nvSpPr>
        <p:spPr>
          <a:xfrm>
            <a:off x="571500" y="2400300"/>
            <a:ext cx="1714500" cy="214312"/>
          </a:xfrm>
          <a:prstGeom prst="rect">
            <a:avLst/>
          </a:prstGeom>
          <a:noFill/>
          <a:ln/>
        </p:spPr>
        <p:txBody>
          <a:bodyPr vert="horz" wrap="square" lIns="0" tIns="0" rIns="0" bIns="0" rtlCol="0" anchor="ctr"/>
          <a:lstStyle/>
          <a:p>
            <a:pPr marL="0" indent="0" algn="l">
              <a:lnSpc>
                <a:spcPts val="1650"/>
              </a:lnSpc>
              <a:buNone/>
            </a:pPr>
            <a:r>
              <a:rPr lang="en-US" sz="1200" b="1" dirty="0">
                <a:solidFill>
                  <a:srgbClr val="3C75AA"/>
                </a:solidFill>
                <a:latin typeface="Microsoft YaHei" pitchFamily="34" charset="0"/>
                <a:ea typeface="Microsoft YaHei" pitchFamily="34" charset="-122"/>
                <a:cs typeface="Microsoft YaHei" pitchFamily="34" charset="-120"/>
              </a:rPr>
              <a:t>01</a:t>
            </a:r>
            <a:endParaRPr lang="en-US" sz="1200" dirty="0"/>
          </a:p>
        </p:txBody>
      </p:sp>
      <p:sp>
        <p:nvSpPr>
          <p:cNvPr id="7" name="Text 4"/>
          <p:cNvSpPr/>
          <p:nvPr/>
        </p:nvSpPr>
        <p:spPr>
          <a:xfrm>
            <a:off x="571500" y="2728913"/>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MI任务挑战</a:t>
            </a:r>
            <a:endParaRPr lang="en-US" sz="1200" dirty="0"/>
          </a:p>
        </p:txBody>
      </p:sp>
      <p:sp>
        <p:nvSpPr>
          <p:cNvPr id="8" name="Text 5"/>
          <p:cNvSpPr/>
          <p:nvPr/>
        </p:nvSpPr>
        <p:spPr>
          <a:xfrm>
            <a:off x="571500" y="2976563"/>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运动想象脑电易受噪声干扰，样本稀缺且个体差异大，制约BCI解码性能。</a:t>
            </a:r>
            <a:endParaRPr lang="en-US" sz="1050" dirty="0"/>
          </a:p>
        </p:txBody>
      </p:sp>
      <p:sp>
        <p:nvSpPr>
          <p:cNvPr id="9" name="Text 6"/>
          <p:cNvSpPr/>
          <p:nvPr/>
        </p:nvSpPr>
        <p:spPr>
          <a:xfrm>
            <a:off x="2667000" y="2400300"/>
            <a:ext cx="1714500" cy="214312"/>
          </a:xfrm>
          <a:prstGeom prst="rect">
            <a:avLst/>
          </a:prstGeom>
          <a:noFill/>
          <a:ln/>
        </p:spPr>
        <p:txBody>
          <a:bodyPr vert="horz" wrap="square" lIns="0" tIns="0" rIns="0" bIns="0" rtlCol="0" anchor="ctr"/>
          <a:lstStyle/>
          <a:p>
            <a:pPr marL="0" indent="0" algn="l">
              <a:lnSpc>
                <a:spcPts val="1650"/>
              </a:lnSpc>
              <a:buNone/>
            </a:pPr>
            <a:r>
              <a:rPr lang="en-US" sz="1200" b="1" dirty="0">
                <a:solidFill>
                  <a:srgbClr val="3C75AA"/>
                </a:solidFill>
                <a:latin typeface="Microsoft YaHei" pitchFamily="34" charset="0"/>
                <a:ea typeface="Microsoft YaHei" pitchFamily="34" charset="-122"/>
                <a:cs typeface="Microsoft YaHei" pitchFamily="34" charset="-120"/>
              </a:rPr>
              <a:t>02</a:t>
            </a:r>
            <a:endParaRPr lang="en-US" sz="1200" dirty="0"/>
          </a:p>
        </p:txBody>
      </p:sp>
      <p:sp>
        <p:nvSpPr>
          <p:cNvPr id="10" name="Text 7"/>
          <p:cNvSpPr/>
          <p:nvPr/>
        </p:nvSpPr>
        <p:spPr>
          <a:xfrm>
            <a:off x="2667000" y="2728913"/>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插值增强策略</a:t>
            </a:r>
            <a:endParaRPr lang="en-US" sz="1200" dirty="0"/>
          </a:p>
        </p:txBody>
      </p:sp>
      <p:sp>
        <p:nvSpPr>
          <p:cNvPr id="11" name="Text 8"/>
          <p:cNvSpPr/>
          <p:nvPr/>
        </p:nvSpPr>
        <p:spPr>
          <a:xfrm>
            <a:off x="2667000" y="2976563"/>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Mixup等插值方法合成新样本，提升分类边界清晰度与模型泛化能力。</a:t>
            </a:r>
            <a:endParaRPr lang="en-US" sz="1050" dirty="0"/>
          </a:p>
        </p:txBody>
      </p:sp>
      <p:sp>
        <p:nvSpPr>
          <p:cNvPr id="12" name="Text 9"/>
          <p:cNvSpPr/>
          <p:nvPr/>
        </p:nvSpPr>
        <p:spPr>
          <a:xfrm>
            <a:off x="4762500" y="2400300"/>
            <a:ext cx="1714500" cy="214312"/>
          </a:xfrm>
          <a:prstGeom prst="rect">
            <a:avLst/>
          </a:prstGeom>
          <a:noFill/>
          <a:ln/>
        </p:spPr>
        <p:txBody>
          <a:bodyPr vert="horz" wrap="square" lIns="0" tIns="0" rIns="0" bIns="0" rtlCol="0" anchor="ctr"/>
          <a:lstStyle/>
          <a:p>
            <a:pPr marL="0" indent="0" algn="l">
              <a:lnSpc>
                <a:spcPts val="1650"/>
              </a:lnSpc>
              <a:buNone/>
            </a:pPr>
            <a:r>
              <a:rPr lang="en-US" sz="1200" b="1" dirty="0">
                <a:solidFill>
                  <a:srgbClr val="3C75AA"/>
                </a:solidFill>
                <a:latin typeface="Microsoft YaHei" pitchFamily="34" charset="0"/>
                <a:ea typeface="Microsoft YaHei" pitchFamily="34" charset="-122"/>
                <a:cs typeface="Microsoft YaHei" pitchFamily="34" charset="-120"/>
              </a:rPr>
              <a:t>03</a:t>
            </a:r>
            <a:endParaRPr lang="en-US" sz="1200" dirty="0"/>
          </a:p>
        </p:txBody>
      </p:sp>
      <p:sp>
        <p:nvSpPr>
          <p:cNvPr id="13" name="Text 10"/>
          <p:cNvSpPr/>
          <p:nvPr/>
        </p:nvSpPr>
        <p:spPr>
          <a:xfrm>
            <a:off x="4762500" y="2728913"/>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生成模型应用</a:t>
            </a:r>
            <a:endParaRPr lang="en-US" sz="1200" dirty="0"/>
          </a:p>
        </p:txBody>
      </p:sp>
      <p:sp>
        <p:nvSpPr>
          <p:cNvPr id="14" name="Text 11"/>
          <p:cNvSpPr/>
          <p:nvPr/>
        </p:nvSpPr>
        <p:spPr>
          <a:xfrm>
            <a:off x="4762500" y="2976563"/>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GAN与扩散模型生成高保真EEG信号，显著增加训练数据多样性。</a:t>
            </a:r>
            <a:endParaRPr lang="en-US" sz="1050" dirty="0"/>
          </a:p>
        </p:txBody>
      </p:sp>
      <p:sp>
        <p:nvSpPr>
          <p:cNvPr id="15" name="Text 12"/>
          <p:cNvSpPr/>
          <p:nvPr/>
        </p:nvSpPr>
        <p:spPr>
          <a:xfrm>
            <a:off x="6858000" y="2400300"/>
            <a:ext cx="1714500" cy="214312"/>
          </a:xfrm>
          <a:prstGeom prst="rect">
            <a:avLst/>
          </a:prstGeom>
          <a:noFill/>
          <a:ln/>
        </p:spPr>
        <p:txBody>
          <a:bodyPr vert="horz" wrap="square" lIns="0" tIns="0" rIns="0" bIns="0" rtlCol="0" anchor="ctr"/>
          <a:lstStyle/>
          <a:p>
            <a:pPr marL="0" indent="0" algn="l">
              <a:lnSpc>
                <a:spcPts val="1650"/>
              </a:lnSpc>
              <a:buNone/>
            </a:pPr>
            <a:r>
              <a:rPr lang="en-US" sz="1200" b="1" dirty="0">
                <a:solidFill>
                  <a:srgbClr val="3C75AA"/>
                </a:solidFill>
                <a:latin typeface="Microsoft YaHei" pitchFamily="34" charset="0"/>
                <a:ea typeface="Microsoft YaHei" pitchFamily="34" charset="-122"/>
                <a:cs typeface="Microsoft YaHei" pitchFamily="34" charset="-120"/>
              </a:rPr>
              <a:t>04</a:t>
            </a:r>
            <a:endParaRPr lang="en-US" sz="1200" dirty="0"/>
          </a:p>
        </p:txBody>
      </p:sp>
      <p:sp>
        <p:nvSpPr>
          <p:cNvPr id="16" name="Text 13"/>
          <p:cNvSpPr/>
          <p:nvPr/>
        </p:nvSpPr>
        <p:spPr>
          <a:xfrm>
            <a:off x="6858000" y="2728913"/>
            <a:ext cx="1714500"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在线鲁棒性提升</a:t>
            </a:r>
            <a:endParaRPr lang="en-US" sz="1200" dirty="0"/>
          </a:p>
        </p:txBody>
      </p:sp>
      <p:sp>
        <p:nvSpPr>
          <p:cNvPr id="17" name="Text 14"/>
          <p:cNvSpPr/>
          <p:nvPr/>
        </p:nvSpPr>
        <p:spPr>
          <a:xfrm>
            <a:off x="6858000" y="2976563"/>
            <a:ext cx="1714500" cy="628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结合插值与生成技术，有效降低解码波动，增强系统实时稳定性。</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t="3571" b="3571"/>
          <a:stretch/>
        </p:blipFill>
        <p:spPr>
          <a:xfrm>
            <a:off x="0" y="0"/>
            <a:ext cx="9144000" cy="1238250"/>
          </a:xfrm>
          <a:prstGeom prst="rect">
            <a:avLst/>
          </a:prstGeom>
        </p:spPr>
      </p:pic>
      <p:sp>
        <p:nvSpPr>
          <p:cNvPr id="4" name="Text 1"/>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神经与精神疾病检测</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2019300"/>
            <a:ext cx="2781151" cy="2266950"/>
          </a:xfrm>
          <a:prstGeom prst="rect">
            <a:avLst/>
          </a:prstGeom>
        </p:spPr>
      </p:pic>
      <p:sp>
        <p:nvSpPr>
          <p:cNvPr id="7" name="Text 3"/>
          <p:cNvSpPr/>
          <p:nvPr/>
        </p:nvSpPr>
        <p:spPr>
          <a:xfrm>
            <a:off x="752475"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癫痫检测</a:t>
            </a:r>
            <a:endParaRPr lang="en-US" sz="1200" dirty="0"/>
          </a:p>
        </p:txBody>
      </p:sp>
      <p:sp>
        <p:nvSpPr>
          <p:cNvPr id="8" name="Text 4"/>
          <p:cNvSpPr/>
          <p:nvPr/>
        </p:nvSpPr>
        <p:spPr>
          <a:xfrm>
            <a:off x="752475"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通过时频增强与生成模型扩充发作间期数据，显著提升癫痫检测模型的敏感性与特异性。</a:t>
            </a:r>
            <a:endParaRPr lang="en-US" sz="1050" dirty="0"/>
          </a:p>
        </p:txBody>
      </p:sp>
      <p:pic>
        <p:nvPicPr>
          <p:cNvPr id="9" name="Image 2" descr="preencoded.png"/>
          <p:cNvPicPr>
            <a:picLocks noChangeAspect="1"/>
          </p:cNvPicPr>
          <p:nvPr/>
        </p:nvPicPr>
        <p:blipFill>
          <a:blip r:embed="rId5"/>
          <a:srcRect/>
          <a:stretch/>
        </p:blipFill>
        <p:spPr>
          <a:xfrm>
            <a:off x="3181201" y="2019300"/>
            <a:ext cx="2781151" cy="2266950"/>
          </a:xfrm>
          <a:prstGeom prst="rect">
            <a:avLst/>
          </a:prstGeom>
        </p:spPr>
      </p:pic>
      <p:sp>
        <p:nvSpPr>
          <p:cNvPr id="10" name="Text 5"/>
          <p:cNvSpPr/>
          <p:nvPr/>
        </p:nvSpPr>
        <p:spPr>
          <a:xfrm>
            <a:off x="3533626"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抑郁症识别</a:t>
            </a:r>
            <a:endParaRPr lang="en-US" sz="1200" dirty="0"/>
          </a:p>
        </p:txBody>
      </p:sp>
      <p:sp>
        <p:nvSpPr>
          <p:cNvPr id="11" name="Text 6"/>
          <p:cNvSpPr/>
          <p:nvPr/>
        </p:nvSpPr>
        <p:spPr>
          <a:xfrm>
            <a:off x="3533626"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结合自监督预训练与小样本微调，在跨被试场景下实现更稳定的抑郁状态分类性能。</a:t>
            </a:r>
            <a:endParaRPr lang="en-US" sz="1050" dirty="0"/>
          </a:p>
        </p:txBody>
      </p:sp>
      <p:pic>
        <p:nvPicPr>
          <p:cNvPr id="12" name="Image 3" descr="preencoded.png"/>
          <p:cNvPicPr>
            <a:picLocks noChangeAspect="1"/>
          </p:cNvPicPr>
          <p:nvPr/>
        </p:nvPicPr>
        <p:blipFill>
          <a:blip r:embed="rId6"/>
          <a:srcRect/>
          <a:stretch/>
        </p:blipFill>
        <p:spPr>
          <a:xfrm>
            <a:off x="5962352" y="2019300"/>
            <a:ext cx="2781151" cy="2266950"/>
          </a:xfrm>
          <a:prstGeom prst="rect">
            <a:avLst/>
          </a:prstGeom>
        </p:spPr>
      </p:pic>
      <p:sp>
        <p:nvSpPr>
          <p:cNvPr id="13" name="Text 7"/>
          <p:cNvSpPr/>
          <p:nvPr/>
        </p:nvSpPr>
        <p:spPr>
          <a:xfrm>
            <a:off x="6314777" y="2869406"/>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病理泛化性</a:t>
            </a:r>
            <a:endParaRPr lang="en-US" sz="1200" dirty="0"/>
          </a:p>
        </p:txBody>
      </p:sp>
      <p:sp>
        <p:nvSpPr>
          <p:cNvPr id="14" name="Text 8"/>
          <p:cNvSpPr/>
          <p:nvPr/>
        </p:nvSpPr>
        <p:spPr>
          <a:xfrm>
            <a:off x="6314777" y="3159919"/>
            <a:ext cx="2076301"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数据增强缓解了临床数据稀缺与个体变异问题，增强了模型在多中心环境中的适应能力。</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l="9302" r="9302"/>
          <a:stretch/>
        </p:blipFill>
        <p:spPr>
          <a:xfrm>
            <a:off x="0" y="0"/>
            <a:ext cx="9144000" cy="16383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情感计算与高级认知状态解码借助自监督预训练实现小样本下的高效迁移学习</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1847850"/>
            <a:ext cx="4171950" cy="1409700"/>
          </a:xfrm>
          <a:prstGeom prst="rect">
            <a:avLst/>
          </a:prstGeom>
        </p:spPr>
      </p:pic>
      <p:sp>
        <p:nvSpPr>
          <p:cNvPr id="7" name="Text 3"/>
          <p:cNvSpPr/>
          <p:nvPr/>
        </p:nvSpPr>
        <p:spPr>
          <a:xfrm>
            <a:off x="600075" y="2055019"/>
            <a:ext cx="257175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情感识别挑战</a:t>
            </a:r>
            <a:endParaRPr lang="en-US" sz="1200" dirty="0"/>
          </a:p>
        </p:txBody>
      </p:sp>
      <p:sp>
        <p:nvSpPr>
          <p:cNvPr id="8" name="Text 4"/>
          <p:cNvSpPr/>
          <p:nvPr/>
        </p:nvSpPr>
        <p:spPr>
          <a:xfrm>
            <a:off x="600075" y="2345531"/>
            <a:ext cx="2571750" cy="66675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情感状态具有高度主观性和个体差异，EEG信号微弱且易受干扰，传统方法依赖大量标注数据。</a:t>
            </a:r>
            <a:endParaRPr lang="en-US" sz="1050" dirty="0"/>
          </a:p>
        </p:txBody>
      </p:sp>
      <p:pic>
        <p:nvPicPr>
          <p:cNvPr id="9" name="Image 2" descr="preencoded.png"/>
          <p:cNvPicPr>
            <a:picLocks noChangeAspect="1"/>
          </p:cNvPicPr>
          <p:nvPr/>
        </p:nvPicPr>
        <p:blipFill>
          <a:blip r:embed="rId5"/>
          <a:srcRect/>
          <a:stretch/>
        </p:blipFill>
        <p:spPr>
          <a:xfrm>
            <a:off x="4572000" y="1847850"/>
            <a:ext cx="4171950" cy="2819400"/>
          </a:xfrm>
          <a:prstGeom prst="rect">
            <a:avLst/>
          </a:prstGeom>
        </p:spPr>
      </p:pic>
      <p:sp>
        <p:nvSpPr>
          <p:cNvPr id="10" name="Text 5"/>
          <p:cNvSpPr/>
          <p:nvPr/>
        </p:nvSpPr>
        <p:spPr>
          <a:xfrm>
            <a:off x="5972175" y="2055019"/>
            <a:ext cx="257175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自监督迁移优势</a:t>
            </a:r>
            <a:endParaRPr lang="en-US" sz="1200" dirty="0"/>
          </a:p>
        </p:txBody>
      </p:sp>
      <p:sp>
        <p:nvSpPr>
          <p:cNvPr id="11" name="Text 6"/>
          <p:cNvSpPr/>
          <p:nvPr/>
        </p:nvSpPr>
        <p:spPr>
          <a:xfrm>
            <a:off x="5972175" y="2345531"/>
            <a:ext cx="257175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通过在大规模无标签数据上预训练，模型学习通用神经表征，显著降低对标注样本的依赖。</a:t>
            </a:r>
            <a:endParaRPr lang="en-US" sz="1050" dirty="0"/>
          </a:p>
        </p:txBody>
      </p:sp>
      <p:pic>
        <p:nvPicPr>
          <p:cNvPr id="12" name="Image 3" descr="preencoded.png"/>
          <p:cNvPicPr>
            <a:picLocks noChangeAspect="1"/>
          </p:cNvPicPr>
          <p:nvPr/>
        </p:nvPicPr>
        <p:blipFill>
          <a:blip r:embed="rId6"/>
          <a:srcRect/>
          <a:stretch/>
        </p:blipFill>
        <p:spPr>
          <a:xfrm>
            <a:off x="400050" y="3257550"/>
            <a:ext cx="4171950" cy="1409700"/>
          </a:xfrm>
          <a:prstGeom prst="rect">
            <a:avLst/>
          </a:prstGeom>
        </p:spPr>
      </p:pic>
      <p:sp>
        <p:nvSpPr>
          <p:cNvPr id="13" name="Text 7"/>
          <p:cNvSpPr/>
          <p:nvPr/>
        </p:nvSpPr>
        <p:spPr>
          <a:xfrm>
            <a:off x="600075" y="3464719"/>
            <a:ext cx="257175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小样本高效解码</a:t>
            </a:r>
            <a:endParaRPr lang="en-US" sz="1200" dirty="0"/>
          </a:p>
        </p:txBody>
      </p:sp>
      <p:sp>
        <p:nvSpPr>
          <p:cNvPr id="14" name="Text 8"/>
          <p:cNvSpPr/>
          <p:nvPr/>
        </p:nvSpPr>
        <p:spPr>
          <a:xfrm>
            <a:off x="600075" y="3755231"/>
            <a:ext cx="2571750" cy="66675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冻结主干网络微调头部分类器，即可在少量目标数据上实现高精度情感与认知状态识别。</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333333"/>
                </a:solidFill>
                <a:latin typeface="Microsoft YaHei" pitchFamily="34" charset="0"/>
                <a:ea typeface="Microsoft YaHei" pitchFamily="34" charset="-122"/>
                <a:cs typeface="Microsoft YaHei" pitchFamily="34" charset="-120"/>
              </a:rPr>
              <a:t>总结与未来展望</a:t>
            </a:r>
            <a:endParaRPr lang="en-US" sz="3750" dirty="0"/>
          </a:p>
        </p:txBody>
      </p:sp>
      <p:sp>
        <p:nvSpPr>
          <p:cNvPr id="4" name="Shape 1"/>
          <p:cNvSpPr/>
          <p:nvPr/>
        </p:nvSpPr>
        <p:spPr>
          <a:xfrm>
            <a:off x="571500" y="4157662"/>
            <a:ext cx="4762500" cy="14288"/>
          </a:xfrm>
          <a:prstGeom prst="rect">
            <a:avLst/>
          </a:prstGeom>
          <a:solidFill>
            <a:srgbClr val="333333">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D8D8D8"/>
                </a:solidFill>
                <a:latin typeface="Microsoft YaHei" pitchFamily="34" charset="0"/>
                <a:ea typeface="Microsoft YaHei" pitchFamily="34" charset="-122"/>
                <a:cs typeface="Microsoft YaHei" pitchFamily="34" charset="-120"/>
              </a:rPr>
              <a:t>05</a:t>
            </a:r>
            <a:endParaRPr lang="en-US" sz="22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EEG数据增强历经手工规则、算法优化、生成建模至自监督范式的四级跃迁</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81000" y="2400300"/>
            <a:ext cx="8382000" cy="1943100"/>
          </a:xfrm>
          <a:prstGeom prst="rect">
            <a:avLst/>
          </a:prstGeom>
        </p:spPr>
      </p:pic>
      <p:sp>
        <p:nvSpPr>
          <p:cNvPr id="7" name="Text 3"/>
          <p:cNvSpPr/>
          <p:nvPr/>
        </p:nvSpPr>
        <p:spPr>
          <a:xfrm>
            <a:off x="828675" y="2731294"/>
            <a:ext cx="1643063" cy="361950"/>
          </a:xfrm>
          <a:prstGeom prst="rect">
            <a:avLst/>
          </a:prstGeom>
          <a:noFill/>
          <a:ln/>
        </p:spPr>
        <p:txBody>
          <a:bodyPr vert="horz" wrap="square" lIns="0" tIns="0" rIns="0" bIns="0" rtlCol="0" anchor="ctr"/>
          <a:lstStyle/>
          <a:p>
            <a:pPr marL="0" indent="0" algn="ctr">
              <a:lnSpc>
                <a:spcPts val="2550"/>
              </a:lnSpc>
              <a:buNone/>
            </a:pPr>
            <a:r>
              <a:rPr lang="en-US" sz="1875" b="1" dirty="0">
                <a:solidFill>
                  <a:srgbClr val="95A5BD"/>
                </a:solidFill>
                <a:latin typeface="Microsoft YaHei" pitchFamily="34" charset="0"/>
                <a:ea typeface="Microsoft YaHei" pitchFamily="34" charset="-122"/>
                <a:cs typeface="Microsoft YaHei" pitchFamily="34" charset="-120"/>
              </a:rPr>
              <a:t>01</a:t>
            </a:r>
            <a:endParaRPr lang="en-US" sz="1875" dirty="0"/>
          </a:p>
        </p:txBody>
      </p:sp>
      <p:sp>
        <p:nvSpPr>
          <p:cNvPr id="8" name="Text 4"/>
          <p:cNvSpPr/>
          <p:nvPr/>
        </p:nvSpPr>
        <p:spPr>
          <a:xfrm>
            <a:off x="771525" y="3198019"/>
            <a:ext cx="1700213"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信号处理技术</a:t>
            </a:r>
            <a:endParaRPr lang="en-US" sz="1200" dirty="0"/>
          </a:p>
        </p:txBody>
      </p:sp>
      <p:sp>
        <p:nvSpPr>
          <p:cNvPr id="9" name="Text 5"/>
          <p:cNvSpPr/>
          <p:nvPr/>
        </p:nvSpPr>
        <p:spPr>
          <a:xfrm>
            <a:off x="771525" y="3450431"/>
            <a:ext cx="1700213" cy="666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早期依赖时频变换等方法实现确定性增强，提升脑电数据的多样性与可用性。</a:t>
            </a:r>
            <a:endParaRPr lang="en-US" sz="1050" dirty="0"/>
          </a:p>
        </p:txBody>
      </p:sp>
      <p:sp>
        <p:nvSpPr>
          <p:cNvPr id="10" name="Text 6"/>
          <p:cNvSpPr/>
          <p:nvPr/>
        </p:nvSpPr>
        <p:spPr>
          <a:xfrm>
            <a:off x="2795588" y="2731294"/>
            <a:ext cx="1643063" cy="361950"/>
          </a:xfrm>
          <a:prstGeom prst="rect">
            <a:avLst/>
          </a:prstGeom>
          <a:noFill/>
          <a:ln/>
        </p:spPr>
        <p:txBody>
          <a:bodyPr vert="horz" wrap="square" lIns="0" tIns="0" rIns="0" bIns="0" rtlCol="0" anchor="ctr"/>
          <a:lstStyle/>
          <a:p>
            <a:pPr marL="0" indent="0" algn="ctr">
              <a:lnSpc>
                <a:spcPts val="2550"/>
              </a:lnSpc>
              <a:buNone/>
            </a:pPr>
            <a:r>
              <a:rPr lang="en-US" sz="1875" b="1" dirty="0">
                <a:solidFill>
                  <a:srgbClr val="AD8E8E"/>
                </a:solidFill>
                <a:latin typeface="Microsoft YaHei" pitchFamily="34" charset="0"/>
                <a:ea typeface="Microsoft YaHei" pitchFamily="34" charset="-122"/>
                <a:cs typeface="Microsoft YaHei" pitchFamily="34" charset="-120"/>
              </a:rPr>
              <a:t>02</a:t>
            </a:r>
            <a:endParaRPr lang="en-US" sz="1875" dirty="0"/>
          </a:p>
        </p:txBody>
      </p:sp>
      <p:sp>
        <p:nvSpPr>
          <p:cNvPr id="11" name="Text 7"/>
          <p:cNvSpPr/>
          <p:nvPr/>
        </p:nvSpPr>
        <p:spPr>
          <a:xfrm>
            <a:off x="2738438" y="3198019"/>
            <a:ext cx="1700213"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数据正则化优化</a:t>
            </a:r>
            <a:endParaRPr lang="en-US" sz="1200" dirty="0"/>
          </a:p>
        </p:txBody>
      </p:sp>
      <p:sp>
        <p:nvSpPr>
          <p:cNvPr id="12" name="Text 8"/>
          <p:cNvSpPr/>
          <p:nvPr/>
        </p:nvSpPr>
        <p:spPr>
          <a:xfrm>
            <a:off x="2738438" y="3450431"/>
            <a:ext cx="1700213" cy="666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引入Mixup插值与自动化搜索策略，改进数据分布并增强模型泛化能力。</a:t>
            </a:r>
            <a:endParaRPr lang="en-US" sz="1050" dirty="0"/>
          </a:p>
        </p:txBody>
      </p:sp>
      <p:sp>
        <p:nvSpPr>
          <p:cNvPr id="13" name="Text 9"/>
          <p:cNvSpPr/>
          <p:nvPr/>
        </p:nvSpPr>
        <p:spPr>
          <a:xfrm>
            <a:off x="4762500" y="2731294"/>
            <a:ext cx="1643063" cy="361950"/>
          </a:xfrm>
          <a:prstGeom prst="rect">
            <a:avLst/>
          </a:prstGeom>
          <a:noFill/>
          <a:ln/>
        </p:spPr>
        <p:txBody>
          <a:bodyPr vert="horz" wrap="square" lIns="0" tIns="0" rIns="0" bIns="0" rtlCol="0" anchor="ctr"/>
          <a:lstStyle/>
          <a:p>
            <a:pPr marL="0" indent="0" algn="ctr">
              <a:lnSpc>
                <a:spcPts val="2550"/>
              </a:lnSpc>
              <a:buNone/>
            </a:pPr>
            <a:r>
              <a:rPr lang="en-US" sz="1875" b="1" dirty="0">
                <a:solidFill>
                  <a:srgbClr val="95A5BD"/>
                </a:solidFill>
                <a:latin typeface="Microsoft YaHei" pitchFamily="34" charset="0"/>
                <a:ea typeface="Microsoft YaHei" pitchFamily="34" charset="-122"/>
                <a:cs typeface="Microsoft YaHei" pitchFamily="34" charset="-120"/>
              </a:rPr>
              <a:t>03</a:t>
            </a:r>
            <a:endParaRPr lang="en-US" sz="1875" dirty="0"/>
          </a:p>
        </p:txBody>
      </p:sp>
      <p:sp>
        <p:nvSpPr>
          <p:cNvPr id="14" name="Text 10"/>
          <p:cNvSpPr/>
          <p:nvPr/>
        </p:nvSpPr>
        <p:spPr>
          <a:xfrm>
            <a:off x="4705350" y="3198019"/>
            <a:ext cx="1700213"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生成模型应用</a:t>
            </a:r>
            <a:endParaRPr lang="en-US" sz="1200" dirty="0"/>
          </a:p>
        </p:txBody>
      </p:sp>
      <p:sp>
        <p:nvSpPr>
          <p:cNvPr id="15" name="Text 11"/>
          <p:cNvSpPr/>
          <p:nvPr/>
        </p:nvSpPr>
        <p:spPr>
          <a:xfrm>
            <a:off x="4705350" y="3450431"/>
            <a:ext cx="1700213" cy="666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利用GAN与扩散模型生成高保真EEG样本，实现更真实的數據模拟。</a:t>
            </a:r>
            <a:endParaRPr lang="en-US" sz="1050" dirty="0"/>
          </a:p>
        </p:txBody>
      </p:sp>
      <p:sp>
        <p:nvSpPr>
          <p:cNvPr id="16" name="Text 12"/>
          <p:cNvSpPr/>
          <p:nvPr/>
        </p:nvSpPr>
        <p:spPr>
          <a:xfrm>
            <a:off x="6729413" y="2731294"/>
            <a:ext cx="1643063" cy="361950"/>
          </a:xfrm>
          <a:prstGeom prst="rect">
            <a:avLst/>
          </a:prstGeom>
          <a:noFill/>
          <a:ln/>
        </p:spPr>
        <p:txBody>
          <a:bodyPr vert="horz" wrap="square" lIns="0" tIns="0" rIns="0" bIns="0" rtlCol="0" anchor="ctr"/>
          <a:lstStyle/>
          <a:p>
            <a:pPr marL="0" indent="0" algn="ctr">
              <a:lnSpc>
                <a:spcPts val="2550"/>
              </a:lnSpc>
              <a:buNone/>
            </a:pPr>
            <a:r>
              <a:rPr lang="en-US" sz="1875" b="1" dirty="0">
                <a:solidFill>
                  <a:srgbClr val="AD8E8E"/>
                </a:solidFill>
                <a:latin typeface="Microsoft YaHei" pitchFamily="34" charset="0"/>
                <a:ea typeface="Microsoft YaHei" pitchFamily="34" charset="-122"/>
                <a:cs typeface="Microsoft YaHei" pitchFamily="34" charset="-120"/>
              </a:rPr>
              <a:t>04</a:t>
            </a:r>
            <a:endParaRPr lang="en-US" sz="1875" dirty="0"/>
          </a:p>
        </p:txBody>
      </p:sp>
      <p:sp>
        <p:nvSpPr>
          <p:cNvPr id="17" name="Text 13"/>
          <p:cNvSpPr/>
          <p:nvPr/>
        </p:nvSpPr>
        <p:spPr>
          <a:xfrm>
            <a:off x="6672263" y="3198019"/>
            <a:ext cx="1700213" cy="252413"/>
          </a:xfrm>
          <a:prstGeom prst="rect">
            <a:avLst/>
          </a:prstGeom>
          <a:noFill/>
          <a:ln/>
        </p:spPr>
        <p:txBody>
          <a:bodyPr vert="horz" wrap="square" lIns="0" tIns="0" rIns="0" bIns="0" rtlCol="0" anchor="ctr"/>
          <a:lstStyle/>
          <a:p>
            <a:pPr marL="0" indent="0" algn="ct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迈向概率建模</a:t>
            </a:r>
            <a:endParaRPr lang="en-US" sz="1200" dirty="0"/>
          </a:p>
        </p:txBody>
      </p:sp>
      <p:sp>
        <p:nvSpPr>
          <p:cNvPr id="18" name="Text 14"/>
          <p:cNvSpPr/>
          <p:nvPr/>
        </p:nvSpPr>
        <p:spPr>
          <a:xfrm>
            <a:off x="6672263" y="3450431"/>
            <a:ext cx="1700213" cy="666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数据增强逐步从确定性方法转向概率化建模，推动脑电处理技术创新发展。</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172200"/>
          </a:xfrm>
          <a:prstGeom prst="rect">
            <a:avLst/>
          </a:prstGeom>
          <a:solidFill>
            <a:srgbClr val="FFFFFF"/>
          </a:solidFill>
          <a:ln/>
        </p:spPr>
      </p:sp>
      <p:pic>
        <p:nvPicPr>
          <p:cNvPr id="3" name="Image 0" descr="preencoded.png"/>
          <p:cNvPicPr>
            <a:picLocks noChangeAspect="1"/>
          </p:cNvPicPr>
          <p:nvPr/>
        </p:nvPicPr>
        <p:blipFill>
          <a:blip r:embed="rId3"/>
          <a:srcRect l="9302" r="9302"/>
          <a:stretch/>
        </p:blipFill>
        <p:spPr>
          <a:xfrm>
            <a:off x="0" y="0"/>
            <a:ext cx="9144000" cy="16383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当前仍受限于生理保真度验证难、跨中心泛化弱及计算成本高等现实瓶颈</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81000" y="1828800"/>
            <a:ext cx="8382000" cy="4152900"/>
          </a:xfrm>
          <a:prstGeom prst="rect">
            <a:avLst/>
          </a:prstGeom>
        </p:spPr>
      </p:pic>
      <p:sp>
        <p:nvSpPr>
          <p:cNvPr id="7" name="Text 3"/>
          <p:cNvSpPr/>
          <p:nvPr/>
        </p:nvSpPr>
        <p:spPr>
          <a:xfrm>
            <a:off x="595313" y="4814590"/>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保真度评估</a:t>
            </a:r>
            <a:endParaRPr lang="en-US" sz="1200" dirty="0"/>
          </a:p>
        </p:txBody>
      </p:sp>
      <p:sp>
        <p:nvSpPr>
          <p:cNvPr id="9" name="Text 5"/>
          <p:cNvSpPr/>
          <p:nvPr/>
        </p:nvSpPr>
        <p:spPr>
          <a:xfrm>
            <a:off x="595313" y="3832027"/>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泛化能力弱</a:t>
            </a:r>
            <a:endParaRPr lang="en-US" sz="1200" dirty="0"/>
          </a:p>
        </p:txBody>
      </p:sp>
      <p:sp>
        <p:nvSpPr>
          <p:cNvPr id="11" name="Text 7"/>
          <p:cNvSpPr/>
          <p:nvPr/>
        </p:nvSpPr>
        <p:spPr>
          <a:xfrm>
            <a:off x="595313" y="2849463"/>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计算开销高</a:t>
            </a:r>
            <a:endParaRPr lang="en-US" sz="1200" dirty="0"/>
          </a:p>
        </p:txBody>
      </p:sp>
      <p:sp>
        <p:nvSpPr>
          <p:cNvPr id="13" name="Text 9"/>
          <p:cNvSpPr/>
          <p:nvPr/>
        </p:nvSpPr>
        <p:spPr>
          <a:xfrm>
            <a:off x="595313" y="1866900"/>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多中心验证缺</a:t>
            </a:r>
            <a:endParaRPr lang="en-US" sz="1200" dirty="0"/>
          </a:p>
        </p:txBody>
      </p:sp>
      <p:sp>
        <p:nvSpPr>
          <p:cNvPr id="15" name="Text 11"/>
          <p:cNvSpPr/>
          <p:nvPr/>
        </p:nvSpPr>
        <p:spPr>
          <a:xfrm>
            <a:off x="6186488" y="1971675"/>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临床可靠性</a:t>
            </a:r>
            <a:endParaRPr lang="en-US" sz="1200" dirty="0"/>
          </a:p>
        </p:txBody>
      </p:sp>
      <p:sp>
        <p:nvSpPr>
          <p:cNvPr id="17" name="Text 13"/>
          <p:cNvSpPr/>
          <p:nvPr/>
        </p:nvSpPr>
        <p:spPr>
          <a:xfrm>
            <a:off x="6186488" y="2954238"/>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数据规律吻合</a:t>
            </a:r>
            <a:endParaRPr lang="en-US" sz="1200" dirty="0"/>
          </a:p>
        </p:txBody>
      </p:sp>
      <p:sp>
        <p:nvSpPr>
          <p:cNvPr id="19" name="Text 15"/>
          <p:cNvSpPr/>
          <p:nvPr/>
        </p:nvSpPr>
        <p:spPr>
          <a:xfrm>
            <a:off x="6186488" y="3936802"/>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模型适应性</a:t>
            </a:r>
            <a:endParaRPr lang="en-US" sz="1200" dirty="0"/>
          </a:p>
        </p:txBody>
      </p:sp>
      <p:sp>
        <p:nvSpPr>
          <p:cNvPr id="21" name="Text 17"/>
          <p:cNvSpPr/>
          <p:nvPr/>
        </p:nvSpPr>
        <p:spPr>
          <a:xfrm>
            <a:off x="6186488" y="4919365"/>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落地应用难</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轻量化条件生成、多模态协同引导、神经动力学约束建模或是下一阶段突破方向</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1847850"/>
            <a:ext cx="2085975" cy="2338388"/>
          </a:xfrm>
          <a:prstGeom prst="rect">
            <a:avLst/>
          </a:prstGeom>
        </p:spPr>
      </p:pic>
      <p:sp>
        <p:nvSpPr>
          <p:cNvPr id="7" name="Text 3"/>
          <p:cNvSpPr/>
          <p:nvPr/>
        </p:nvSpPr>
        <p:spPr>
          <a:xfrm>
            <a:off x="752475" y="26289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轻量化生成</a:t>
            </a:r>
            <a:endParaRPr lang="en-US" sz="1200" dirty="0"/>
          </a:p>
        </p:txBody>
      </p:sp>
      <p:sp>
        <p:nvSpPr>
          <p:cNvPr id="8" name="Text 4"/>
          <p:cNvSpPr/>
          <p:nvPr/>
        </p:nvSpPr>
        <p:spPr>
          <a:xfrm>
            <a:off x="752475" y="2919412"/>
            <a:ext cx="1381125"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发展参数更少、推理更快的生成模型，适应边缘设备部署，降低计算开销。</a:t>
            </a:r>
            <a:endParaRPr lang="en-US" sz="1050" dirty="0"/>
          </a:p>
        </p:txBody>
      </p:sp>
      <p:pic>
        <p:nvPicPr>
          <p:cNvPr id="9" name="Image 2" descr="preencoded.png"/>
          <p:cNvPicPr>
            <a:picLocks noChangeAspect="1"/>
          </p:cNvPicPr>
          <p:nvPr/>
        </p:nvPicPr>
        <p:blipFill>
          <a:blip r:embed="rId5"/>
          <a:srcRect/>
          <a:stretch/>
        </p:blipFill>
        <p:spPr>
          <a:xfrm>
            <a:off x="2486025" y="1847850"/>
            <a:ext cx="2085975" cy="2338388"/>
          </a:xfrm>
          <a:prstGeom prst="rect">
            <a:avLst/>
          </a:prstGeom>
        </p:spPr>
      </p:pic>
      <p:sp>
        <p:nvSpPr>
          <p:cNvPr id="10" name="Text 5"/>
          <p:cNvSpPr/>
          <p:nvPr/>
        </p:nvSpPr>
        <p:spPr>
          <a:xfrm>
            <a:off x="2838450" y="26289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多模态引导</a:t>
            </a:r>
            <a:endParaRPr lang="en-US" sz="1200" dirty="0"/>
          </a:p>
        </p:txBody>
      </p:sp>
      <p:sp>
        <p:nvSpPr>
          <p:cNvPr id="11" name="Text 6"/>
          <p:cNvSpPr/>
          <p:nvPr/>
        </p:nvSpPr>
        <p:spPr>
          <a:xfrm>
            <a:off x="2838450" y="2919412"/>
            <a:ext cx="1381125"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融合fMRI、眼动等多模态信号，提升EEG生成数据的生理一致性与上下文关联性。</a:t>
            </a:r>
            <a:endParaRPr lang="en-US" sz="1050" dirty="0"/>
          </a:p>
        </p:txBody>
      </p:sp>
      <p:pic>
        <p:nvPicPr>
          <p:cNvPr id="12" name="Image 3" descr="preencoded.png"/>
          <p:cNvPicPr>
            <a:picLocks noChangeAspect="1"/>
          </p:cNvPicPr>
          <p:nvPr/>
        </p:nvPicPr>
        <p:blipFill>
          <a:blip r:embed="rId6"/>
          <a:srcRect/>
          <a:stretch/>
        </p:blipFill>
        <p:spPr>
          <a:xfrm>
            <a:off x="4572000" y="1847850"/>
            <a:ext cx="2085975" cy="2338388"/>
          </a:xfrm>
          <a:prstGeom prst="rect">
            <a:avLst/>
          </a:prstGeom>
        </p:spPr>
      </p:pic>
      <p:sp>
        <p:nvSpPr>
          <p:cNvPr id="13" name="Text 7"/>
          <p:cNvSpPr/>
          <p:nvPr/>
        </p:nvSpPr>
        <p:spPr>
          <a:xfrm>
            <a:off x="4924425" y="26289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神经约束建模</a:t>
            </a:r>
            <a:endParaRPr lang="en-US" sz="1200" dirty="0"/>
          </a:p>
        </p:txBody>
      </p:sp>
      <p:sp>
        <p:nvSpPr>
          <p:cNvPr id="14" name="Text 8"/>
          <p:cNvSpPr/>
          <p:nvPr/>
        </p:nvSpPr>
        <p:spPr>
          <a:xfrm>
            <a:off x="4924425" y="2919412"/>
            <a:ext cx="1381125"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将大脑节律、传导路径等神经动力学先验嵌入生成过程，增强数据物理可解释性。</a:t>
            </a:r>
            <a:endParaRPr lang="en-US" sz="1050" dirty="0"/>
          </a:p>
        </p:txBody>
      </p:sp>
      <p:pic>
        <p:nvPicPr>
          <p:cNvPr id="15" name="Image 4" descr="preencoded.png"/>
          <p:cNvPicPr>
            <a:picLocks noChangeAspect="1"/>
          </p:cNvPicPr>
          <p:nvPr/>
        </p:nvPicPr>
        <p:blipFill>
          <a:blip r:embed="rId7"/>
          <a:srcRect/>
          <a:stretch/>
        </p:blipFill>
        <p:spPr>
          <a:xfrm>
            <a:off x="6657975" y="1847850"/>
            <a:ext cx="2085975" cy="2338388"/>
          </a:xfrm>
          <a:prstGeom prst="rect">
            <a:avLst/>
          </a:prstGeom>
        </p:spPr>
      </p:pic>
      <p:sp>
        <p:nvSpPr>
          <p:cNvPr id="16" name="Text 9"/>
          <p:cNvSpPr/>
          <p:nvPr/>
        </p:nvSpPr>
        <p:spPr>
          <a:xfrm>
            <a:off x="7010400" y="26289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跨中心泛化</a:t>
            </a:r>
            <a:endParaRPr lang="en-US" sz="1200" dirty="0"/>
          </a:p>
        </p:txBody>
      </p:sp>
      <p:sp>
        <p:nvSpPr>
          <p:cNvPr id="17" name="Text 10"/>
          <p:cNvSpPr/>
          <p:nvPr/>
        </p:nvSpPr>
        <p:spPr>
          <a:xfrm>
            <a:off x="7010400" y="2919412"/>
            <a:ext cx="1381125"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构建标准化增强框架，缓解个体与设备差异，推动临床实际场景落地应用。</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FA83CC20-2A9C-8450-F1AD-CF545E9122CC}"/>
              </a:ext>
            </a:extLst>
          </p:cNvPr>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endParaRPr lang="en-US" sz="2250" dirty="0"/>
          </a:p>
        </p:txBody>
      </p:sp>
      <p:sp>
        <p:nvSpPr>
          <p:cNvPr id="3" name="Text 1">
            <a:extLst>
              <a:ext uri="{FF2B5EF4-FFF2-40B4-BE49-F238E27FC236}">
                <a16:creationId xmlns:a16="http://schemas.microsoft.com/office/drawing/2014/main" id="{3578C959-FC37-D1D7-F211-7D0E22AF754D}"/>
              </a:ext>
            </a:extLst>
          </p:cNvPr>
          <p:cNvSpPr/>
          <p:nvPr/>
        </p:nvSpPr>
        <p:spPr>
          <a:xfrm>
            <a:off x="482237" y="312420"/>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rPr>
              <a:t>文献查找</a:t>
            </a:r>
            <a:endParaRPr lang="en-US" sz="2250" dirty="0"/>
          </a:p>
        </p:txBody>
      </p:sp>
      <p:pic>
        <p:nvPicPr>
          <p:cNvPr id="5" name="图片 4">
            <a:extLst>
              <a:ext uri="{FF2B5EF4-FFF2-40B4-BE49-F238E27FC236}">
                <a16:creationId xmlns:a16="http://schemas.microsoft.com/office/drawing/2014/main" id="{58967729-E995-7608-160D-0C75F6CDFC42}"/>
              </a:ext>
            </a:extLst>
          </p:cNvPr>
          <p:cNvPicPr>
            <a:picLocks noChangeAspect="1"/>
          </p:cNvPicPr>
          <p:nvPr/>
        </p:nvPicPr>
        <p:blipFill>
          <a:blip r:embed="rId2"/>
          <a:stretch>
            <a:fillRect/>
          </a:stretch>
        </p:blipFill>
        <p:spPr>
          <a:xfrm>
            <a:off x="390797" y="1046118"/>
            <a:ext cx="4086269" cy="2180408"/>
          </a:xfrm>
          <a:prstGeom prst="rect">
            <a:avLst/>
          </a:prstGeom>
        </p:spPr>
      </p:pic>
      <p:sp>
        <p:nvSpPr>
          <p:cNvPr id="6" name="Text 1">
            <a:extLst>
              <a:ext uri="{FF2B5EF4-FFF2-40B4-BE49-F238E27FC236}">
                <a16:creationId xmlns:a16="http://schemas.microsoft.com/office/drawing/2014/main" id="{47591521-6CBB-3812-2FF9-BB0A759C4293}"/>
              </a:ext>
            </a:extLst>
          </p:cNvPr>
          <p:cNvSpPr/>
          <p:nvPr/>
        </p:nvSpPr>
        <p:spPr>
          <a:xfrm>
            <a:off x="1893027" y="3387637"/>
            <a:ext cx="948146" cy="308064"/>
          </a:xfrm>
          <a:prstGeom prst="rect">
            <a:avLst/>
          </a:prstGeom>
          <a:noFill/>
          <a:ln/>
        </p:spPr>
        <p:txBody>
          <a:bodyPr vert="horz" wrap="square" lIns="0" tIns="0" rIns="0" bIns="0" rtlCol="0" anchor="ctr"/>
          <a:lstStyle/>
          <a:p>
            <a:pPr marL="0" indent="0" algn="l">
              <a:lnSpc>
                <a:spcPts val="3150"/>
              </a:lnSpc>
              <a:buNone/>
            </a:pPr>
            <a:r>
              <a:rPr lang="zh-CN" altLang="en-US" sz="1200" b="1" dirty="0">
                <a:solidFill>
                  <a:srgbClr val="333333"/>
                </a:solidFill>
                <a:latin typeface="宋体" panose="02010600030101010101" pitchFamily="2" charset="-122"/>
                <a:ea typeface="宋体" panose="02010600030101010101" pitchFamily="2" charset="-122"/>
              </a:rPr>
              <a:t>中文文献查找</a:t>
            </a:r>
            <a:endParaRPr lang="en-US" sz="1200"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E5C5135A-5B50-5075-9DED-177A43E3CFC7}"/>
              </a:ext>
            </a:extLst>
          </p:cNvPr>
          <p:cNvPicPr>
            <a:picLocks noChangeAspect="1"/>
          </p:cNvPicPr>
          <p:nvPr/>
        </p:nvPicPr>
        <p:blipFill>
          <a:blip r:embed="rId3"/>
          <a:stretch>
            <a:fillRect/>
          </a:stretch>
        </p:blipFill>
        <p:spPr>
          <a:xfrm>
            <a:off x="4769309" y="1046118"/>
            <a:ext cx="4237900" cy="2141492"/>
          </a:xfrm>
          <a:prstGeom prst="rect">
            <a:avLst/>
          </a:prstGeom>
        </p:spPr>
      </p:pic>
      <p:sp>
        <p:nvSpPr>
          <p:cNvPr id="9" name="Text 1">
            <a:extLst>
              <a:ext uri="{FF2B5EF4-FFF2-40B4-BE49-F238E27FC236}">
                <a16:creationId xmlns:a16="http://schemas.microsoft.com/office/drawing/2014/main" id="{EAC1DA0A-8E61-680F-E049-91BB72BCC464}"/>
              </a:ext>
            </a:extLst>
          </p:cNvPr>
          <p:cNvSpPr/>
          <p:nvPr/>
        </p:nvSpPr>
        <p:spPr>
          <a:xfrm>
            <a:off x="6414186" y="3387640"/>
            <a:ext cx="948146" cy="308064"/>
          </a:xfrm>
          <a:prstGeom prst="rect">
            <a:avLst/>
          </a:prstGeom>
          <a:noFill/>
          <a:ln/>
        </p:spPr>
        <p:txBody>
          <a:bodyPr vert="horz" wrap="square" lIns="0" tIns="0" rIns="0" bIns="0" rtlCol="0" anchor="ctr"/>
          <a:lstStyle/>
          <a:p>
            <a:pPr marL="0" indent="0" algn="l">
              <a:lnSpc>
                <a:spcPts val="3150"/>
              </a:lnSpc>
              <a:buNone/>
            </a:pPr>
            <a:r>
              <a:rPr lang="zh-CN" altLang="en-US" sz="1200" b="1" dirty="0">
                <a:solidFill>
                  <a:srgbClr val="333333"/>
                </a:solidFill>
                <a:latin typeface="宋体" panose="02010600030101010101" pitchFamily="2" charset="-122"/>
                <a:ea typeface="宋体" panose="02010600030101010101" pitchFamily="2" charset="-122"/>
              </a:rPr>
              <a:t>外文文献查找</a:t>
            </a:r>
            <a:endParaRPr lang="en-US" sz="1200" dirty="0">
              <a:latin typeface="宋体" panose="02010600030101010101" pitchFamily="2" charset="-122"/>
              <a:ea typeface="宋体" panose="02010600030101010101" pitchFamily="2" charset="-122"/>
            </a:endParaRPr>
          </a:p>
        </p:txBody>
      </p:sp>
      <p:sp>
        <p:nvSpPr>
          <p:cNvPr id="10" name="Text 1">
            <a:extLst>
              <a:ext uri="{FF2B5EF4-FFF2-40B4-BE49-F238E27FC236}">
                <a16:creationId xmlns:a16="http://schemas.microsoft.com/office/drawing/2014/main" id="{E10122AC-1850-83CB-B618-2C3616E2D276}"/>
              </a:ext>
            </a:extLst>
          </p:cNvPr>
          <p:cNvSpPr/>
          <p:nvPr/>
        </p:nvSpPr>
        <p:spPr>
          <a:xfrm>
            <a:off x="390797" y="3789318"/>
            <a:ext cx="8393974" cy="227511"/>
          </a:xfrm>
          <a:prstGeom prst="rect">
            <a:avLst/>
          </a:prstGeom>
          <a:noFill/>
          <a:ln/>
        </p:spPr>
        <p:txBody>
          <a:bodyPr vert="horz" wrap="square" lIns="0" tIns="0" rIns="0" bIns="0" rtlCol="0" anchor="ctr"/>
          <a:lstStyle/>
          <a:p>
            <a:pPr marL="0" indent="0" algn="l">
              <a:lnSpc>
                <a:spcPts val="3150"/>
              </a:lnSpc>
              <a:buNone/>
            </a:pPr>
            <a:r>
              <a:rPr lang="zh-CN" altLang="en-US" sz="1200" b="1" dirty="0">
                <a:solidFill>
                  <a:srgbClr val="333333"/>
                </a:solidFill>
                <a:latin typeface="宋体" panose="02010600030101010101" pitchFamily="2" charset="-122"/>
                <a:ea typeface="宋体" panose="02010600030101010101" pitchFamily="2" charset="-122"/>
              </a:rPr>
              <a:t>中文网站：知网，维普，万方等。</a:t>
            </a:r>
            <a:endParaRPr lang="en-US" sz="1200" dirty="0">
              <a:latin typeface="宋体" panose="02010600030101010101" pitchFamily="2" charset="-122"/>
              <a:ea typeface="宋体" panose="02010600030101010101" pitchFamily="2" charset="-122"/>
            </a:endParaRPr>
          </a:p>
        </p:txBody>
      </p:sp>
      <p:sp>
        <p:nvSpPr>
          <p:cNvPr id="11" name="Text 1">
            <a:extLst>
              <a:ext uri="{FF2B5EF4-FFF2-40B4-BE49-F238E27FC236}">
                <a16:creationId xmlns:a16="http://schemas.microsoft.com/office/drawing/2014/main" id="{1340A3C0-DC77-D2FE-F322-BADACB7C1FDA}"/>
              </a:ext>
            </a:extLst>
          </p:cNvPr>
          <p:cNvSpPr/>
          <p:nvPr/>
        </p:nvSpPr>
        <p:spPr>
          <a:xfrm>
            <a:off x="390796" y="4271557"/>
            <a:ext cx="8393973" cy="227511"/>
          </a:xfrm>
          <a:prstGeom prst="rect">
            <a:avLst/>
          </a:prstGeom>
          <a:noFill/>
          <a:ln/>
        </p:spPr>
        <p:txBody>
          <a:bodyPr vert="horz" wrap="square" lIns="0" tIns="0" rIns="0" bIns="0" rtlCol="0" anchor="ctr"/>
          <a:lstStyle/>
          <a:p>
            <a:pPr marL="0" indent="0" algn="l">
              <a:lnSpc>
                <a:spcPts val="3150"/>
              </a:lnSpc>
              <a:buNone/>
            </a:pPr>
            <a:r>
              <a:rPr lang="zh-CN" altLang="en-US" sz="1200" b="1" dirty="0">
                <a:solidFill>
                  <a:srgbClr val="333333"/>
                </a:solidFill>
                <a:latin typeface="宋体" panose="02010600030101010101" pitchFamily="2" charset="-122"/>
                <a:ea typeface="宋体" panose="02010600030101010101" pitchFamily="2" charset="-122"/>
              </a:rPr>
              <a:t>外文网站：</a:t>
            </a:r>
            <a:r>
              <a:rPr lang="en-US" altLang="zh-CN" sz="1200" b="1" dirty="0">
                <a:solidFill>
                  <a:srgbClr val="333333"/>
                </a:solidFill>
                <a:latin typeface="宋体" panose="02010600030101010101" pitchFamily="2" charset="-122"/>
                <a:ea typeface="宋体" panose="02010600030101010101" pitchFamily="2" charset="-122"/>
              </a:rPr>
              <a:t>NIH</a:t>
            </a:r>
            <a:r>
              <a:rPr lang="zh-CN" altLang="en-US" sz="1200" b="1" dirty="0">
                <a:solidFill>
                  <a:srgbClr val="333333"/>
                </a:solidFill>
                <a:latin typeface="宋体" panose="02010600030101010101" pitchFamily="2" charset="-122"/>
                <a:ea typeface="宋体" panose="02010600030101010101" pitchFamily="2" charset="-122"/>
              </a:rPr>
              <a:t>，</a:t>
            </a:r>
            <a:r>
              <a:rPr lang="en-US" altLang="zh-CN" sz="1200" b="1" dirty="0">
                <a:solidFill>
                  <a:srgbClr val="333333"/>
                </a:solidFill>
                <a:latin typeface="宋体" panose="02010600030101010101" pitchFamily="2" charset="-122"/>
                <a:ea typeface="宋体" panose="02010600030101010101" pitchFamily="2" charset="-122"/>
              </a:rPr>
              <a:t>IEEE</a:t>
            </a:r>
            <a:r>
              <a:rPr lang="zh-CN" altLang="en-US" sz="1200" b="1" dirty="0">
                <a:solidFill>
                  <a:srgbClr val="333333"/>
                </a:solidFill>
                <a:latin typeface="宋体" panose="02010600030101010101" pitchFamily="2" charset="-122"/>
                <a:ea typeface="宋体" panose="02010600030101010101" pitchFamily="2" charset="-122"/>
              </a:rPr>
              <a:t>，</a:t>
            </a:r>
            <a:r>
              <a:rPr lang="en-US" altLang="zh-CN" sz="1200" b="1" dirty="0" err="1">
                <a:solidFill>
                  <a:srgbClr val="333333"/>
                </a:solidFill>
                <a:latin typeface="宋体" panose="02010600030101010101" pitchFamily="2" charset="-122"/>
                <a:ea typeface="宋体" panose="02010600030101010101" pitchFamily="2" charset="-122"/>
              </a:rPr>
              <a:t>arxiv</a:t>
            </a:r>
            <a:r>
              <a:rPr lang="zh-CN" altLang="en-US" sz="1200" b="1" dirty="0">
                <a:solidFill>
                  <a:srgbClr val="333333"/>
                </a:solidFill>
                <a:latin typeface="宋体" panose="02010600030101010101" pitchFamily="2" charset="-122"/>
                <a:ea typeface="宋体" panose="02010600030101010101" pitchFamily="2" charset="-122"/>
              </a:rPr>
              <a:t>等。</a:t>
            </a:r>
            <a:endParaRPr lang="en-US" sz="1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654066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FA547003-CFD5-4691-0590-C59111A3CDFA}"/>
              </a:ext>
            </a:extLst>
          </p:cNvPr>
          <p:cNvSpPr/>
          <p:nvPr/>
        </p:nvSpPr>
        <p:spPr>
          <a:xfrm>
            <a:off x="482237" y="312420"/>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rPr>
              <a:t>文献管理：</a:t>
            </a:r>
            <a:r>
              <a:rPr lang="en-US" altLang="zh-CN" sz="2250" b="1" dirty="0">
                <a:solidFill>
                  <a:srgbClr val="333333"/>
                </a:solidFill>
                <a:latin typeface="Microsoft YaHei" pitchFamily="34" charset="0"/>
                <a:ea typeface="Microsoft YaHei" pitchFamily="34" charset="-122"/>
              </a:rPr>
              <a:t>Zotero</a:t>
            </a:r>
            <a:endParaRPr lang="en-US" sz="2250" dirty="0"/>
          </a:p>
        </p:txBody>
      </p:sp>
      <p:pic>
        <p:nvPicPr>
          <p:cNvPr id="4" name="图片 3">
            <a:extLst>
              <a:ext uri="{FF2B5EF4-FFF2-40B4-BE49-F238E27FC236}">
                <a16:creationId xmlns:a16="http://schemas.microsoft.com/office/drawing/2014/main" id="{6BFC1566-1C7B-83DE-7A89-165F5D7B648C}"/>
              </a:ext>
            </a:extLst>
          </p:cNvPr>
          <p:cNvPicPr>
            <a:picLocks noChangeAspect="1"/>
          </p:cNvPicPr>
          <p:nvPr/>
        </p:nvPicPr>
        <p:blipFill>
          <a:blip r:embed="rId2"/>
          <a:stretch>
            <a:fillRect/>
          </a:stretch>
        </p:blipFill>
        <p:spPr>
          <a:xfrm>
            <a:off x="482236" y="877150"/>
            <a:ext cx="6813369" cy="3742030"/>
          </a:xfrm>
          <a:prstGeom prst="rect">
            <a:avLst/>
          </a:prstGeom>
        </p:spPr>
      </p:pic>
    </p:spTree>
    <p:extLst>
      <p:ext uri="{BB962C8B-B14F-4D97-AF65-F5344CB8AC3E}">
        <p14:creationId xmlns:p14="http://schemas.microsoft.com/office/powerpoint/2010/main" val="1419428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4E1696EF-F888-0CE4-8719-765B81370391}"/>
              </a:ext>
            </a:extLst>
          </p:cNvPr>
          <p:cNvGraphicFramePr>
            <a:graphicFrameLocks noGrp="1"/>
          </p:cNvGraphicFramePr>
          <p:nvPr>
            <p:extLst>
              <p:ext uri="{D42A27DB-BD31-4B8C-83A1-F6EECF244321}">
                <p14:modId xmlns:p14="http://schemas.microsoft.com/office/powerpoint/2010/main" val="3449312525"/>
              </p:ext>
            </p:extLst>
          </p:nvPr>
        </p:nvGraphicFramePr>
        <p:xfrm>
          <a:off x="1445622" y="1930944"/>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418829506"/>
                    </a:ext>
                  </a:extLst>
                </a:gridCol>
                <a:gridCol w="3048000">
                  <a:extLst>
                    <a:ext uri="{9D8B030D-6E8A-4147-A177-3AD203B41FA5}">
                      <a16:colId xmlns:a16="http://schemas.microsoft.com/office/drawing/2014/main" val="2550067429"/>
                    </a:ext>
                  </a:extLst>
                </a:gridCol>
              </a:tblGrid>
              <a:tr h="370840">
                <a:tc>
                  <a:txBody>
                    <a:bodyPr/>
                    <a:lstStyle/>
                    <a:p>
                      <a:pPr algn="ctr"/>
                      <a:r>
                        <a:rPr lang="zh-CN" altLang="en-US" dirty="0"/>
                        <a:t>小组成员</a:t>
                      </a:r>
                    </a:p>
                  </a:txBody>
                  <a:tcPr/>
                </a:tc>
                <a:tc>
                  <a:txBody>
                    <a:bodyPr/>
                    <a:lstStyle/>
                    <a:p>
                      <a:pPr algn="ctr"/>
                      <a:r>
                        <a:rPr lang="zh-CN" altLang="en-US" dirty="0"/>
                        <a:t>分工</a:t>
                      </a:r>
                    </a:p>
                  </a:txBody>
                  <a:tcPr/>
                </a:tc>
                <a:extLst>
                  <a:ext uri="{0D108BD9-81ED-4DB2-BD59-A6C34878D82A}">
                    <a16:rowId xmlns:a16="http://schemas.microsoft.com/office/drawing/2014/main" val="34153493"/>
                  </a:ext>
                </a:extLst>
              </a:tr>
              <a:tr h="370840">
                <a:tc>
                  <a:txBody>
                    <a:bodyPr/>
                    <a:lstStyle/>
                    <a:p>
                      <a:pPr algn="ctr"/>
                      <a:r>
                        <a:rPr lang="zh-CN" altLang="en-US" sz="1400" dirty="0"/>
                        <a:t>代子祥</a:t>
                      </a:r>
                    </a:p>
                  </a:txBody>
                  <a:tcPr/>
                </a:tc>
                <a:tc>
                  <a:txBody>
                    <a:bodyPr/>
                    <a:lstStyle/>
                    <a:p>
                      <a:r>
                        <a:rPr lang="zh-CN" altLang="en-US" sz="1400" dirty="0"/>
                        <a:t>撰写大纲和撰写论文</a:t>
                      </a:r>
                    </a:p>
                  </a:txBody>
                  <a:tcPr/>
                </a:tc>
                <a:extLst>
                  <a:ext uri="{0D108BD9-81ED-4DB2-BD59-A6C34878D82A}">
                    <a16:rowId xmlns:a16="http://schemas.microsoft.com/office/drawing/2014/main" val="1415474595"/>
                  </a:ext>
                </a:extLst>
              </a:tr>
              <a:tr h="370840">
                <a:tc>
                  <a:txBody>
                    <a:bodyPr/>
                    <a:lstStyle/>
                    <a:p>
                      <a:pPr algn="ctr"/>
                      <a:r>
                        <a:rPr lang="zh-CN" altLang="en-US" sz="1400" dirty="0"/>
                        <a:t>刘卓函</a:t>
                      </a:r>
                    </a:p>
                  </a:txBody>
                  <a:tcPr/>
                </a:tc>
                <a:tc>
                  <a:txBody>
                    <a:bodyPr/>
                    <a:lstStyle/>
                    <a:p>
                      <a:r>
                        <a:rPr lang="zh-CN" altLang="en-US" sz="1400" dirty="0"/>
                        <a:t>文献搜集和撰写论文</a:t>
                      </a:r>
                    </a:p>
                  </a:txBody>
                  <a:tcPr/>
                </a:tc>
                <a:extLst>
                  <a:ext uri="{0D108BD9-81ED-4DB2-BD59-A6C34878D82A}">
                    <a16:rowId xmlns:a16="http://schemas.microsoft.com/office/drawing/2014/main" val="2351674828"/>
                  </a:ext>
                </a:extLst>
              </a:tr>
              <a:tr h="370840">
                <a:tc>
                  <a:txBody>
                    <a:bodyPr/>
                    <a:lstStyle/>
                    <a:p>
                      <a:pPr algn="ctr"/>
                      <a:r>
                        <a:rPr lang="zh-CN" altLang="en-US" sz="1400" dirty="0"/>
                        <a:t>汤仲宇</a:t>
                      </a:r>
                    </a:p>
                  </a:txBody>
                  <a:tcPr/>
                </a:tc>
                <a:tc>
                  <a:txBody>
                    <a:bodyPr/>
                    <a:lstStyle/>
                    <a:p>
                      <a:r>
                        <a:rPr lang="zh-CN" altLang="en-US" sz="1400" dirty="0"/>
                        <a:t>制作</a:t>
                      </a:r>
                      <a:r>
                        <a:rPr lang="en-US" altLang="zh-CN" sz="1400" dirty="0"/>
                        <a:t>ppt</a:t>
                      </a:r>
                      <a:r>
                        <a:rPr lang="zh-CN" altLang="en-US" sz="1400" dirty="0"/>
                        <a:t>和撰写论文</a:t>
                      </a:r>
                    </a:p>
                  </a:txBody>
                  <a:tcPr/>
                </a:tc>
                <a:extLst>
                  <a:ext uri="{0D108BD9-81ED-4DB2-BD59-A6C34878D82A}">
                    <a16:rowId xmlns:a16="http://schemas.microsoft.com/office/drawing/2014/main" val="3875781564"/>
                  </a:ext>
                </a:extLst>
              </a:tr>
              <a:tr h="370840">
                <a:tc>
                  <a:txBody>
                    <a:bodyPr/>
                    <a:lstStyle/>
                    <a:p>
                      <a:pPr algn="ctr"/>
                      <a:r>
                        <a:rPr lang="zh-CN" altLang="en-US" sz="1400" dirty="0"/>
                        <a:t>施政宇</a:t>
                      </a:r>
                    </a:p>
                  </a:txBody>
                  <a:tcPr/>
                </a:tc>
                <a:tc>
                  <a:txBody>
                    <a:bodyPr/>
                    <a:lstStyle/>
                    <a:p>
                      <a:r>
                        <a:rPr lang="zh-CN" altLang="en-US" sz="1400" dirty="0"/>
                        <a:t>制作</a:t>
                      </a:r>
                      <a:r>
                        <a:rPr lang="en-US" altLang="zh-CN" sz="1400" dirty="0"/>
                        <a:t>PPT</a:t>
                      </a:r>
                      <a:r>
                        <a:rPr lang="zh-CN" altLang="en-US" sz="1400" dirty="0"/>
                        <a:t>和撰写论文</a:t>
                      </a:r>
                    </a:p>
                  </a:txBody>
                  <a:tcPr/>
                </a:tc>
                <a:extLst>
                  <a:ext uri="{0D108BD9-81ED-4DB2-BD59-A6C34878D82A}">
                    <a16:rowId xmlns:a16="http://schemas.microsoft.com/office/drawing/2014/main" val="110375999"/>
                  </a:ext>
                </a:extLst>
              </a:tr>
            </a:tbl>
          </a:graphicData>
        </a:graphic>
      </p:graphicFrame>
      <p:sp>
        <p:nvSpPr>
          <p:cNvPr id="3" name="Text 1">
            <a:extLst>
              <a:ext uri="{FF2B5EF4-FFF2-40B4-BE49-F238E27FC236}">
                <a16:creationId xmlns:a16="http://schemas.microsoft.com/office/drawing/2014/main" id="{E13EC662-0932-26F3-D933-9B6E2450BD8C}"/>
              </a:ext>
            </a:extLst>
          </p:cNvPr>
          <p:cNvSpPr/>
          <p:nvPr/>
        </p:nvSpPr>
        <p:spPr>
          <a:xfrm>
            <a:off x="571500" y="285750"/>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rPr>
              <a:t>小组成员及分工</a:t>
            </a:r>
            <a:endParaRPr lang="en-US" sz="2250" dirty="0"/>
          </a:p>
        </p:txBody>
      </p:sp>
    </p:spTree>
    <p:extLst>
      <p:ext uri="{BB962C8B-B14F-4D97-AF65-F5344CB8AC3E}">
        <p14:creationId xmlns:p14="http://schemas.microsoft.com/office/powerpoint/2010/main" val="3952681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014538"/>
            <a:ext cx="80010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333333"/>
                </a:solidFill>
                <a:latin typeface="Microsoft YaHei" pitchFamily="34" charset="0"/>
                <a:ea typeface="Microsoft YaHei" pitchFamily="34" charset="-122"/>
                <a:cs typeface="Microsoft YaHei" pitchFamily="34" charset="-120"/>
              </a:rPr>
              <a:t>THANKS</a:t>
            </a:r>
            <a:endParaRPr lang="en-US" sz="3750" dirty="0"/>
          </a:p>
        </p:txBody>
      </p:sp>
      <p:sp>
        <p:nvSpPr>
          <p:cNvPr id="4" name="Shape 1"/>
          <p:cNvSpPr/>
          <p:nvPr/>
        </p:nvSpPr>
        <p:spPr>
          <a:xfrm>
            <a:off x="571500" y="3014663"/>
            <a:ext cx="604838" cy="114300"/>
          </a:xfrm>
          <a:prstGeom prst="rect">
            <a:avLst/>
          </a:prstGeom>
          <a:solidFill>
            <a:srgbClr val="3C75AA"/>
          </a:solidFill>
          <a:ln/>
        </p:spPr>
      </p:sp>
      <p:sp>
        <p:nvSpPr>
          <p:cNvPr id="5" name="Text 2"/>
          <p:cNvSpPr/>
          <p:nvPr/>
        </p:nvSpPr>
        <p:spPr>
          <a:xfrm>
            <a:off x="571500" y="3462337"/>
            <a:ext cx="8001000" cy="190500"/>
          </a:xfrm>
          <a:prstGeom prst="rect">
            <a:avLst/>
          </a:prstGeom>
          <a:noFill/>
          <a:ln/>
        </p:spPr>
        <p:txBody>
          <a:bodyPr vert="horz" wrap="square" lIns="0" tIns="0" rIns="0" bIns="0" rtlCol="0" anchor="ctr"/>
          <a:lstStyle/>
          <a:p>
            <a:pPr marL="0" indent="0" algn="l">
              <a:lnSpc>
                <a:spcPts val="1500"/>
              </a:lnSpc>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616</Words>
  <Application>Microsoft Office PowerPoint</Application>
  <PresentationFormat>全屏显示(16:9)</PresentationFormat>
  <Paragraphs>225</Paragraphs>
  <Slides>28</Slides>
  <Notes>25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28</vt:i4>
      </vt:variant>
    </vt:vector>
  </HeadingPairs>
  <TitlesOfParts>
    <vt:vector size="33" baseType="lpstr">
      <vt:lpstr>宋体</vt:lpstr>
      <vt:lpstr>Microsoft YaHei</vt: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仲宇 汤</cp:lastModifiedBy>
  <cp:revision>11</cp:revision>
  <dcterms:created xsi:type="dcterms:W3CDTF">2025-12-01T13:48:38Z</dcterms:created>
  <dcterms:modified xsi:type="dcterms:W3CDTF">2025-12-03T07:11:54Z</dcterms:modified>
</cp:coreProperties>
</file>