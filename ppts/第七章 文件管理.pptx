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7"/>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 id="319" r:id="rId62"/>
    <p:sldId id="320" r:id="rId63"/>
    <p:sldId id="321" r:id="rId64"/>
    <p:sldId id="322" r:id="rId65"/>
    <p:sldId id="323" r:id="rId66"/>
    <p:sldId id="324" r:id="rId67"/>
    <p:sldId id="325" r:id="rId68"/>
    <p:sldId id="326" r:id="rId69"/>
    <p:sldId id="327" r:id="rId70"/>
    <p:sldId id="328" r:id="rId71"/>
    <p:sldId id="329" r:id="rId72"/>
    <p:sldId id="330" r:id="rId73"/>
    <p:sldId id="379" r:id="rId74"/>
    <p:sldId id="380" r:id="rId75"/>
    <p:sldId id="381" r:id="rId76"/>
    <p:sldId id="382" r:id="rId77"/>
    <p:sldId id="383" r:id="rId78"/>
    <p:sldId id="384" r:id="rId79"/>
    <p:sldId id="395" r:id="rId80"/>
    <p:sldId id="385" r:id="rId81"/>
    <p:sldId id="386" r:id="rId82"/>
    <p:sldId id="387" r:id="rId83"/>
    <p:sldId id="388" r:id="rId84"/>
    <p:sldId id="389" r:id="rId85"/>
    <p:sldId id="390" r:id="rId86"/>
    <p:sldId id="391" r:id="rId87"/>
    <p:sldId id="392" r:id="rId88"/>
    <p:sldId id="393" r:id="rId89"/>
    <p:sldId id="394" r:id="rId90"/>
    <p:sldId id="397" r:id="rId91"/>
    <p:sldId id="398" r:id="rId92"/>
    <p:sldId id="399" r:id="rId93"/>
    <p:sldId id="400" r:id="rId94"/>
    <p:sldId id="401" r:id="rId95"/>
    <p:sldId id="402" r:id="rId96"/>
    <p:sldId id="403" r:id="rId97"/>
    <p:sldId id="404" r:id="rId98"/>
    <p:sldId id="405" r:id="rId99"/>
    <p:sldId id="406" r:id="rId100"/>
    <p:sldId id="407" r:id="rId101"/>
    <p:sldId id="408" r:id="rId102"/>
    <p:sldId id="409" r:id="rId103"/>
    <p:sldId id="410" r:id="rId104"/>
    <p:sldId id="411" r:id="rId105"/>
    <p:sldId id="396" r:id="rId106"/>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F0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878" autoAdjust="0"/>
    <p:restoredTop sz="94660"/>
  </p:normalViewPr>
  <p:slideViewPr>
    <p:cSldViewPr>
      <p:cViewPr varScale="1">
        <p:scale>
          <a:sx n="65" d="100"/>
          <a:sy n="65" d="100"/>
        </p:scale>
        <p:origin x="-1506" y="-11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894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0" Type="http://schemas.openxmlformats.org/officeDocument/2006/relationships/tableStyles" Target="tableStyles.xml"/><Relationship Id="rId11" Type="http://schemas.openxmlformats.org/officeDocument/2006/relationships/slide" Target="slides/slide9.xml"/><Relationship Id="rId109" Type="http://schemas.openxmlformats.org/officeDocument/2006/relationships/viewProps" Target="viewProps.xml"/><Relationship Id="rId108" Type="http://schemas.openxmlformats.org/officeDocument/2006/relationships/presProps" Target="presProps.xml"/><Relationship Id="rId107" Type="http://schemas.openxmlformats.org/officeDocument/2006/relationships/notesMaster" Target="notesMasters/notesMaster1.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11355D-CAF1-4DF5-B92A-772D6B09D6E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8A698F9-7806-4D67-9FB2-85C79D655AC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PhAnim="0" showMasterSp="0">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48482" name="Rectangle 2"/>
          <p:cNvSpPr>
            <a:spLocks noGrp="1" noRot="1" noChangeArrowheads="1"/>
          </p:cNvSpPr>
          <p:nvPr>
            <p:ph type="ctrTitle"/>
          </p:nvPr>
        </p:nvSpPr>
        <p:spPr>
          <a:xfrm>
            <a:off x="685800" y="2286000"/>
            <a:ext cx="7772400" cy="1143000"/>
          </a:xfrm>
        </p:spPr>
        <p:txBody>
          <a:bodyPr/>
          <a:lstStyle>
            <a:lvl1pPr>
              <a:defRPr/>
            </a:lvl1pPr>
          </a:lstStyle>
          <a:p>
            <a:r>
              <a:rPr lang="zh-CN" altLang="en-US"/>
              <a:t>单击此处编辑母版标题样式</a:t>
            </a:r>
            <a:endParaRPr lang="zh-CN" altLang="en-US"/>
          </a:p>
        </p:txBody>
      </p:sp>
      <p:sp>
        <p:nvSpPr>
          <p:cNvPr id="148483" name="Rectangle 3"/>
          <p:cNvSpPr>
            <a:spLocks noGrp="1" noRot="1" noChangeArrowheads="1"/>
          </p:cNvSpPr>
          <p:nvPr>
            <p:ph type="subTitle" idx="1"/>
          </p:nvPr>
        </p:nvSpPr>
        <p:spPr>
          <a:xfrm>
            <a:off x="1371600" y="3886200"/>
            <a:ext cx="6400800" cy="1752600"/>
          </a:xfrm>
        </p:spPr>
        <p:txBody>
          <a:bodyPr/>
          <a:lstStyle>
            <a:lvl1pPr marL="0" indent="0" algn="ctr">
              <a:buFont typeface="Wingdings 2" pitchFamily="18" charset="2"/>
              <a:buNone/>
              <a:defRPr/>
            </a:lvl1pPr>
          </a:lstStyle>
          <a:p>
            <a:r>
              <a:rPr lang="zh-CN" altLang="en-US"/>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fld id="{BDBCABF8-F1F4-4951-8356-A16A503C4D6A}" type="datetimeFigureOut">
              <a:rPr lang="zh-CN" altLang="en-US"/>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842EF7E5-BD7E-40F3-B29B-9011192ED278}" type="slidenum">
              <a:rPr lang="zh-CN" altLang="en-US"/>
            </a:fld>
            <a:endParaRPr lang="en-US" altLang="zh-CN"/>
          </a:p>
        </p:txBody>
      </p:sp>
    </p:spTree>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fld id="{14FB5106-5CA7-475F-B4B0-FB1BA80CA341}" type="datetimeFigureOut">
              <a:rPr lang="zh-CN" altLang="en-US"/>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51E7F5A0-D390-447D-A4F9-6E540201F495}" type="slidenum">
              <a:rPr lang="zh-CN" altLang="en-US"/>
            </a:fld>
            <a:endParaRPr lang="en-US" altLang="zh-CN"/>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4"/>
          <p:cNvSpPr>
            <a:spLocks noGrp="1" noChangeArrowheads="1"/>
          </p:cNvSpPr>
          <p:nvPr>
            <p:ph type="dt" sz="half" idx="10"/>
          </p:nvPr>
        </p:nvSpPr>
        <p:spPr/>
        <p:txBody>
          <a:bodyPr/>
          <a:lstStyle>
            <a:lvl1pPr>
              <a:defRPr/>
            </a:lvl1pPr>
          </a:lstStyle>
          <a:p>
            <a:pPr>
              <a:defRPr/>
            </a:pPr>
            <a:fld id="{ADFA9123-494C-4A01-9A33-14629B9DD6F8}" type="datetimeFigureOut">
              <a:rPr lang="zh-CN" altLang="en-US"/>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E6422B7C-C743-41E7-82D2-77F80DB123F5}" type="slidenum">
              <a:rPr lang="zh-CN" altLang="en-US"/>
            </a:fld>
            <a:endParaRPr lang="en-US" altLang="zh-CN"/>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01625" y="1600200"/>
            <a:ext cx="4194175"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194175"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fld id="{2517D794-DBD9-4757-AF0B-B100F767356A}" type="datetimeFigureOut">
              <a:rPr lang="zh-CN" altLang="en-US"/>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F4C3DE5C-8EF1-4F45-9AAE-AE41460B68BC}" type="slidenum">
              <a:rPr lang="zh-CN" altLang="en-US"/>
            </a:fld>
            <a:endParaRPr lang="en-US" altLang="zh-CN"/>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fld id="{0CB784C0-5AC7-4274-AC72-16ADA4782B78}" type="datetimeFigureOut">
              <a:rPr lang="zh-CN" altLang="en-US"/>
            </a:fld>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129C1028-4A54-4030-9CF0-7552AF94BAD0}" type="slidenum">
              <a:rPr lang="zh-CN" altLang="en-US"/>
            </a:fld>
            <a:endParaRPr lang="en-US" altLang="zh-CN"/>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fld id="{78F722C8-7CE0-44CF-AEDD-AE5526C5DF7D}" type="datetimeFigureOut">
              <a:rPr lang="zh-CN" altLang="en-US"/>
            </a:fld>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F186D119-D2F8-47BB-BFDC-BAAA74D11C3E}" type="slidenum">
              <a:rPr lang="zh-CN" altLang="en-US"/>
            </a:fld>
            <a:endParaRPr lang="en-US" altLang="zh-CN"/>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fld id="{0ADE7487-4548-4DC7-B9EC-B166033FB717}" type="datetimeFigureOut">
              <a:rPr lang="zh-CN" altLang="en-US"/>
            </a:fld>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270BD823-CA31-452D-84A3-D92BED5ECAE4}" type="slidenum">
              <a:rPr lang="zh-CN" altLang="en-US"/>
            </a:fld>
            <a:endParaRPr lang="en-US" altLang="zh-CN"/>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pPr>
              <a:defRPr/>
            </a:pPr>
            <a:fld id="{D4472980-3C3C-497C-8B52-6E0261D31563}" type="datetimeFigureOut">
              <a:rPr lang="zh-CN" altLang="en-US"/>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46428492-DFC8-4D48-BD62-3BDB990EB2CC}" type="slidenum">
              <a:rPr lang="zh-CN" altLang="en-US"/>
            </a:fld>
            <a:endParaRPr lang="en-US" altLang="zh-CN"/>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pPr>
              <a:defRPr/>
            </a:pPr>
            <a:fld id="{471B5534-B555-4C25-875F-3DB4DC1D8291}" type="datetimeFigureOut">
              <a:rPr lang="zh-CN" altLang="en-US"/>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1773567E-77F4-446C-A998-E5916EAB335C}" type="slidenum">
              <a:rPr lang="zh-CN" altLang="en-US"/>
            </a:fld>
            <a:endParaRPr lang="en-US" altLang="zh-CN"/>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fld id="{DDA36846-49F6-4488-8C00-6EA5FCBB8232}" type="datetimeFigureOut">
              <a:rPr lang="zh-CN" altLang="en-US"/>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A1BD1504-0F90-4E41-A2E0-FD70C6AF2BF2}" type="slidenum">
              <a:rPr lang="zh-CN" altLang="en-US"/>
            </a:fld>
            <a:endParaRPr lang="en-US" altLang="zh-CN"/>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228600"/>
            <a:ext cx="2135187" cy="58705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1625" y="228600"/>
            <a:ext cx="6253163" cy="587057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fld id="{46BDEF19-C257-4F40-9BC2-7AB98418C2B6}" type="datetimeFigureOut">
              <a:rPr lang="zh-CN" altLang="en-US"/>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E8EF7CAE-E896-40B8-8DB0-D6B7F5EEFA93}" type="slidenum">
              <a:rPr lang="zh-CN" altLang="en-US"/>
            </a:fld>
            <a:endParaRPr lang="en-US" altLang="zh-CN"/>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2"/>
          <a:srcRect/>
          <a:stretch>
            <a:fillRect/>
          </a:stretch>
        </a:blipFill>
        <a:effectLst/>
      </p:bgPr>
    </p:bg>
    <p:spTree>
      <p:nvGrpSpPr>
        <p:cNvPr id="1" name=""/>
        <p:cNvGrpSpPr/>
        <p:nvPr/>
      </p:nvGrpSpPr>
      <p:grpSpPr>
        <a:xfrm>
          <a:off x="0" y="0"/>
          <a:ext cx="0" cy="0"/>
          <a:chOff x="0" y="0"/>
          <a:chExt cx="0" cy="0"/>
        </a:xfrm>
      </p:grpSpPr>
      <p:sp>
        <p:nvSpPr>
          <p:cNvPr id="147458" name="Rectangle 2"/>
          <p:cNvSpPr>
            <a:spLocks noGrp="1" noRot="1" noChangeArrowheads="1"/>
          </p:cNvSpPr>
          <p:nvPr>
            <p:ph type="title"/>
          </p:nvPr>
        </p:nvSpPr>
        <p:spPr bwMode="auto">
          <a:xfrm>
            <a:off x="301625" y="2286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147459" name="Rectangle 3"/>
          <p:cNvSpPr>
            <a:spLocks noGrp="1" noRot="1" noChangeArrowheads="1"/>
          </p:cNvSpPr>
          <p:nvPr>
            <p:ph type="body" idx="1"/>
          </p:nvPr>
        </p:nvSpPr>
        <p:spPr bwMode="auto">
          <a:xfrm>
            <a:off x="301625" y="1600200"/>
            <a:ext cx="8540750"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47460" name="Rectangle 4"/>
          <p:cNvSpPr>
            <a:spLocks noGrp="1" noChangeArrowheads="1"/>
          </p:cNvSpPr>
          <p:nvPr>
            <p:ph type="dt" sz="half" idx="2"/>
          </p:nvPr>
        </p:nvSpPr>
        <p:spPr bwMode="auto">
          <a:xfrm>
            <a:off x="301625" y="6245225"/>
            <a:ext cx="2289175"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Arial" panose="020B0604020202020204" pitchFamily="34" charset="0"/>
                <a:ea typeface="宋体" panose="02010600030101010101" pitchFamily="2" charset="-122"/>
              </a:defRPr>
            </a:lvl1pPr>
          </a:lstStyle>
          <a:p>
            <a:pPr>
              <a:defRPr/>
            </a:pPr>
            <a:fld id="{790DA303-6035-4975-AC22-0D41ADD4275F}" type="datetimeFigureOut">
              <a:rPr lang="zh-CN" altLang="en-US"/>
            </a:fld>
            <a:endParaRPr lang="en-US" altLang="zh-CN"/>
          </a:p>
        </p:txBody>
      </p:sp>
      <p:sp>
        <p:nvSpPr>
          <p:cNvPr id="147461"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ea typeface="宋体" panose="02010600030101010101" pitchFamily="2" charset="-122"/>
              </a:defRPr>
            </a:lvl1pPr>
          </a:lstStyle>
          <a:p>
            <a:pPr>
              <a:defRPr/>
            </a:pPr>
            <a:endParaRPr lang="en-US" altLang="zh-CN"/>
          </a:p>
        </p:txBody>
      </p:sp>
      <p:sp>
        <p:nvSpPr>
          <p:cNvPr id="147462" name="Rectangle 6"/>
          <p:cNvSpPr>
            <a:spLocks noGrp="1" noChangeArrowheads="1"/>
          </p:cNvSpPr>
          <p:nvPr>
            <p:ph type="sldNum" sz="quarter" idx="4"/>
          </p:nvPr>
        </p:nvSpPr>
        <p:spPr bwMode="auto">
          <a:xfrm>
            <a:off x="6553200" y="6245225"/>
            <a:ext cx="2289175"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ea typeface="宋体" panose="02010600030101010101" pitchFamily="2" charset="-122"/>
              </a:defRPr>
            </a:lvl1pPr>
          </a:lstStyle>
          <a:p>
            <a:pPr>
              <a:defRPr/>
            </a:pPr>
            <a:fld id="{462D9237-58E1-4CE0-9734-B216950D84BF}" type="slidenum">
              <a:rPr lang="zh-CN" altLang="en-US"/>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7458"/>
                                        </p:tgtEl>
                                        <p:attrNameLst>
                                          <p:attrName>style.visibility</p:attrName>
                                        </p:attrNameLst>
                                      </p:cBhvr>
                                      <p:to>
                                        <p:strVal val="visible"/>
                                      </p:to>
                                    </p:set>
                                    <p:animEffect transition="in" filter="fade">
                                      <p:cBhvr>
                                        <p:cTn id="7" dur="2000"/>
                                        <p:tgtEl>
                                          <p:spTgt spid="14745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7459">
                                            <p:txEl>
                                              <p:pRg st="0" end="0"/>
                                            </p:txEl>
                                          </p:spTgt>
                                        </p:tgtEl>
                                        <p:attrNameLst>
                                          <p:attrName>style.visibility</p:attrName>
                                        </p:attrNameLst>
                                      </p:cBhvr>
                                      <p:to>
                                        <p:strVal val="visible"/>
                                      </p:to>
                                    </p:set>
                                    <p:animEffect transition="in" filter="fade">
                                      <p:cBhvr>
                                        <p:cTn id="12" dur="2000"/>
                                        <p:tgtEl>
                                          <p:spTgt spid="147459">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47459">
                                            <p:txEl>
                                              <p:pRg st="1" end="1"/>
                                            </p:txEl>
                                          </p:spTgt>
                                        </p:tgtEl>
                                        <p:attrNameLst>
                                          <p:attrName>style.visibility</p:attrName>
                                        </p:attrNameLst>
                                      </p:cBhvr>
                                      <p:to>
                                        <p:strVal val="visible"/>
                                      </p:to>
                                    </p:set>
                                    <p:animEffect transition="in" filter="fade">
                                      <p:cBhvr>
                                        <p:cTn id="15" dur="2000"/>
                                        <p:tgtEl>
                                          <p:spTgt spid="147459">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7459">
                                            <p:txEl>
                                              <p:pRg st="2" end="2"/>
                                            </p:txEl>
                                          </p:spTgt>
                                        </p:tgtEl>
                                        <p:attrNameLst>
                                          <p:attrName>style.visibility</p:attrName>
                                        </p:attrNameLst>
                                      </p:cBhvr>
                                      <p:to>
                                        <p:strVal val="visible"/>
                                      </p:to>
                                    </p:set>
                                    <p:animEffect transition="in" filter="fade">
                                      <p:cBhvr>
                                        <p:cTn id="18" dur="2000"/>
                                        <p:tgtEl>
                                          <p:spTgt spid="147459">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7459">
                                            <p:txEl>
                                              <p:pRg st="3" end="3"/>
                                            </p:txEl>
                                          </p:spTgt>
                                        </p:tgtEl>
                                        <p:attrNameLst>
                                          <p:attrName>style.visibility</p:attrName>
                                        </p:attrNameLst>
                                      </p:cBhvr>
                                      <p:to>
                                        <p:strVal val="visible"/>
                                      </p:to>
                                    </p:set>
                                    <p:animEffect transition="in" filter="fade">
                                      <p:cBhvr>
                                        <p:cTn id="21" dur="2000"/>
                                        <p:tgtEl>
                                          <p:spTgt spid="147459">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7459">
                                            <p:txEl>
                                              <p:pRg st="4" end="4"/>
                                            </p:txEl>
                                          </p:spTgt>
                                        </p:tgtEl>
                                        <p:attrNameLst>
                                          <p:attrName>style.visibility</p:attrName>
                                        </p:attrNameLst>
                                      </p:cBhvr>
                                      <p:to>
                                        <p:strVal val="visible"/>
                                      </p:to>
                                    </p:set>
                                    <p:animEffect transition="in" filter="fade">
                                      <p:cBhvr>
                                        <p:cTn id="24" dur="2000"/>
                                        <p:tgtEl>
                                          <p:spTgt spid="1474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8" grpId="0"/>
      <p:bldP spid="147459" grpId="0" build="p">
        <p:tmplLst>
          <p:tmpl lvl="1">
            <p:tnLst>
              <p:par>
                <p:cTn presetID="10" presetClass="entr" presetSubtype="0" fill="hold" nodeType="clickEffect">
                  <p:stCondLst>
                    <p:cond delay="0"/>
                  </p:stCondLst>
                  <p:childTnLst>
                    <p:set>
                      <p:cBhvr>
                        <p:cTn dur="1" fill="hold">
                          <p:stCondLst>
                            <p:cond delay="0"/>
                          </p:stCondLst>
                        </p:cTn>
                        <p:tgtEl>
                          <p:spTgt spid="147459"/>
                        </p:tgtEl>
                        <p:attrNameLst>
                          <p:attrName>style.visibility</p:attrName>
                        </p:attrNameLst>
                      </p:cBhvr>
                      <p:to>
                        <p:strVal val="visible"/>
                      </p:to>
                    </p:set>
                    <p:animEffect transition="in" filter="fade">
                      <p:cBhvr>
                        <p:cTn dur="2000"/>
                        <p:tgtEl>
                          <p:spTgt spid="147459"/>
                        </p:tgtEl>
                      </p:cBhvr>
                    </p:animEffect>
                  </p:childTnLst>
                </p:cTn>
              </p:par>
            </p:tnLst>
          </p:tmpl>
          <p:tmpl lvl="2">
            <p:tnLst>
              <p:par>
                <p:cTn presetID="10" presetClass="entr" presetSubtype="0" fill="hold" nodeType="withEffect">
                  <p:stCondLst>
                    <p:cond delay="0"/>
                  </p:stCondLst>
                  <p:childTnLst>
                    <p:set>
                      <p:cBhvr>
                        <p:cTn dur="1" fill="hold">
                          <p:stCondLst>
                            <p:cond delay="0"/>
                          </p:stCondLst>
                        </p:cTn>
                        <p:tgtEl>
                          <p:spTgt spid="147459"/>
                        </p:tgtEl>
                        <p:attrNameLst>
                          <p:attrName>style.visibility</p:attrName>
                        </p:attrNameLst>
                      </p:cBhvr>
                      <p:to>
                        <p:strVal val="visible"/>
                      </p:to>
                    </p:set>
                    <p:animEffect transition="in" filter="fade">
                      <p:cBhvr>
                        <p:cTn dur="2000"/>
                        <p:tgtEl>
                          <p:spTgt spid="147459"/>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147459"/>
                        </p:tgtEl>
                        <p:attrNameLst>
                          <p:attrName>style.visibility</p:attrName>
                        </p:attrNameLst>
                      </p:cBhvr>
                      <p:to>
                        <p:strVal val="visible"/>
                      </p:to>
                    </p:set>
                    <p:animEffect transition="in" filter="fade">
                      <p:cBhvr>
                        <p:cTn dur="2000"/>
                        <p:tgtEl>
                          <p:spTgt spid="147459"/>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147459"/>
                        </p:tgtEl>
                        <p:attrNameLst>
                          <p:attrName>style.visibility</p:attrName>
                        </p:attrNameLst>
                      </p:cBhvr>
                      <p:to>
                        <p:strVal val="visible"/>
                      </p:to>
                    </p:set>
                    <p:animEffect transition="in" filter="fade">
                      <p:cBhvr>
                        <p:cTn dur="2000"/>
                        <p:tgtEl>
                          <p:spTgt spid="147459"/>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147459"/>
                        </p:tgtEl>
                        <p:attrNameLst>
                          <p:attrName>style.visibility</p:attrName>
                        </p:attrNameLst>
                      </p:cBhvr>
                      <p:to>
                        <p:strVal val="visible"/>
                      </p:to>
                    </p:set>
                    <p:animEffect transition="in" filter="fade">
                      <p:cBhvr>
                        <p:cTn dur="2000"/>
                        <p:tgtEl>
                          <p:spTgt spid="147459"/>
                        </p:tgtEl>
                      </p:cBhvr>
                    </p:animEffect>
                  </p:childTnLst>
                </p:cTn>
              </p:par>
            </p:tnLst>
          </p:tmpl>
        </p:tmplLst>
      </p:bldP>
    </p:bldLst>
  </p:timing>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85000"/>
        <a:buFont typeface="Wingdings 2"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7.xml"/><Relationship Id="rId4" Type="http://schemas.openxmlformats.org/officeDocument/2006/relationships/image" Target="../media/image4.emf"/><Relationship Id="rId3" Type="http://schemas.openxmlformats.org/officeDocument/2006/relationships/oleObject" Target="../embeddings/oleObject2.bin"/><Relationship Id="rId2" Type="http://schemas.openxmlformats.org/officeDocument/2006/relationships/image" Target="../media/image3.wmf"/><Relationship Id="rId1"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6.wmf"/><Relationship Id="rId1" Type="http://schemas.openxmlformats.org/officeDocument/2006/relationships/oleObject" Target="../embeddings/oleObject3.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wmf"/></Relationships>
</file>

<file path=ppt/slides/_rels/slide61.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8.wmf"/><Relationship Id="rId1" Type="http://schemas.openxmlformats.org/officeDocument/2006/relationships/oleObject" Target="../embeddings/oleObject4.bin"/></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9.wmf"/><Relationship Id="rId1" Type="http://schemas.openxmlformats.org/officeDocument/2006/relationships/oleObject" Target="../embeddings/oleObject5.bin"/></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10.wmf"/><Relationship Id="rId1" Type="http://schemas.openxmlformats.org/officeDocument/2006/relationships/oleObject" Target="../embeddings/oleObject6.bin"/></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11.wmf"/><Relationship Id="rId1" Type="http://schemas.openxmlformats.org/officeDocument/2006/relationships/oleObject" Target="../embeddings/oleObject7.bin"/></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12.wmf"/><Relationship Id="rId1" Type="http://schemas.openxmlformats.org/officeDocument/2006/relationships/oleObject" Target="../embeddings/oleObject8.bin"/></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wmf"/></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http://www.uestc.edu.cn/pub/index.html"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wmf"/></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wmf"/></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wmf"/></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Rot="1" noChangeArrowheads="1"/>
          </p:cNvSpPr>
          <p:nvPr>
            <p:ph type="title" idx="4294967295"/>
          </p:nvPr>
        </p:nvSpPr>
        <p:spPr>
          <a:xfrm>
            <a:off x="762000" y="1524000"/>
            <a:ext cx="7772400" cy="1524000"/>
          </a:xfrm>
          <a:gradFill rotWithShape="0">
            <a:gsLst>
              <a:gs pos="0">
                <a:srgbClr val="404552"/>
              </a:gs>
              <a:gs pos="50000">
                <a:schemeClr val="accent1"/>
              </a:gs>
              <a:gs pos="100000">
                <a:srgbClr val="404552"/>
              </a:gs>
            </a:gsLst>
            <a:lin ang="5400000" scaled="1"/>
          </a:gradFill>
        </p:spPr>
        <p:txBody>
          <a:bodyPr/>
          <a:lstStyle/>
          <a:p>
            <a:pPr eaLnBrk="1" hangingPunct="1">
              <a:defRPr/>
            </a:pPr>
            <a:r>
              <a:rPr lang="zh-CN" b="1" dirty="0" smtClean="0">
                <a:solidFill>
                  <a:schemeClr val="accent2"/>
                </a:solidFill>
                <a:effectLst>
                  <a:outerShdw blurRad="38100" dist="38100" dir="2700000" algn="tl">
                    <a:srgbClr val="000000"/>
                  </a:outerShdw>
                </a:effectLst>
                <a:latin typeface="仿宋_GB2312" pitchFamily="1" charset="-122"/>
                <a:ea typeface="仿宋_GB2312" pitchFamily="1" charset="-122"/>
              </a:rPr>
              <a:t>第</a:t>
            </a:r>
            <a:r>
              <a:rPr lang="zh-CN" altLang="en-US" b="1" dirty="0" smtClean="0">
                <a:solidFill>
                  <a:schemeClr val="accent2"/>
                </a:solidFill>
                <a:effectLst>
                  <a:outerShdw blurRad="38100" dist="38100" dir="2700000" algn="tl">
                    <a:srgbClr val="000000"/>
                  </a:outerShdw>
                </a:effectLst>
                <a:latin typeface="仿宋_GB2312" pitchFamily="1" charset="-122"/>
                <a:ea typeface="仿宋_GB2312" pitchFamily="1" charset="-122"/>
              </a:rPr>
              <a:t>七</a:t>
            </a:r>
            <a:r>
              <a:rPr lang="zh-CN" b="1" dirty="0" smtClean="0">
                <a:solidFill>
                  <a:schemeClr val="accent2"/>
                </a:solidFill>
                <a:effectLst>
                  <a:outerShdw blurRad="38100" dist="38100" dir="2700000" algn="tl">
                    <a:srgbClr val="000000"/>
                  </a:outerShdw>
                </a:effectLst>
                <a:latin typeface="仿宋_GB2312" pitchFamily="1" charset="-122"/>
                <a:ea typeface="仿宋_GB2312" pitchFamily="1" charset="-122"/>
              </a:rPr>
              <a:t>章 文件系统 </a:t>
            </a:r>
            <a:endParaRPr lang="zh-CN" b="1" dirty="0" smtClean="0">
              <a:solidFill>
                <a:schemeClr val="accent2"/>
              </a:solidFill>
              <a:effectLst>
                <a:outerShdw blurRad="38100" dist="38100" dir="2700000" algn="tl">
                  <a:srgbClr val="000000"/>
                </a:outerShdw>
              </a:effectLst>
              <a:latin typeface="仿宋_GB2312" pitchFamily="1" charset="-122"/>
              <a:ea typeface="仿宋_GB2312"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098">
                                            <p:txEl>
                                              <p:charRg st="4294967295" end="4294967295"/>
                                            </p:txEl>
                                          </p:spTgt>
                                        </p:tgtEl>
                                        <p:attrNameLst>
                                          <p:attrName>style.visibility</p:attrName>
                                        </p:attrNameLst>
                                      </p:cBhvr>
                                      <p:to>
                                        <p:strVal val="visible"/>
                                      </p:to>
                                    </p:set>
                                    <p:animEffect transition="in" filter="fade">
                                      <p:cBhvr>
                                        <p:cTn id="7" dur="2000"/>
                                        <p:tgtEl>
                                          <p:spTgt spid="4098">
                                            <p:txEl>
                                              <p:charRg st="4294967295" end="42949672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p:cNvSpPr>
            <a:spLocks noGrp="1" noRot="1" noChangeArrowheads="1"/>
          </p:cNvSpPr>
          <p:nvPr>
            <p:ph type="title" idx="4294967295"/>
          </p:nvPr>
        </p:nvSpPr>
        <p:spPr/>
        <p:txBody>
          <a:bodyPr/>
          <a:lstStyle/>
          <a:p>
            <a:pPr eaLnBrk="1" hangingPunct="1">
              <a:defRPr/>
            </a:pPr>
            <a:r>
              <a:rPr lang="zh-CN" b="1" u="sng" smtClean="0">
                <a:solidFill>
                  <a:schemeClr val="folHlink"/>
                </a:solidFill>
                <a:effectLst>
                  <a:outerShdw blurRad="38100" dist="38100" dir="2700000" algn="tl">
                    <a:srgbClr val="000000"/>
                  </a:outerShdw>
                </a:effectLst>
                <a:ea typeface="仿宋_GB2312" pitchFamily="1" charset="-122"/>
              </a:rPr>
              <a:t>本章要点</a:t>
            </a:r>
            <a:endParaRPr lang="zh-CN" b="1" u="sng" smtClean="0">
              <a:solidFill>
                <a:schemeClr val="folHlink"/>
              </a:solidFill>
              <a:effectLst>
                <a:outerShdw blurRad="38100" dist="38100" dir="2700000" algn="tl">
                  <a:srgbClr val="000000"/>
                </a:outerShdw>
              </a:effectLst>
              <a:ea typeface="仿宋_GB2312" pitchFamily="1" charset="-122"/>
            </a:endParaRPr>
          </a:p>
        </p:txBody>
      </p:sp>
      <p:sp>
        <p:nvSpPr>
          <p:cNvPr id="5123" name="Rectangle 3"/>
          <p:cNvSpPr>
            <a:spLocks noGrp="1" noRot="1" noChangeArrowheads="1"/>
          </p:cNvSpPr>
          <p:nvPr>
            <p:ph type="body" idx="4294967295"/>
          </p:nvPr>
        </p:nvSpPr>
        <p:spPr/>
        <p:txBody>
          <a:bodyPr/>
          <a:lstStyle/>
          <a:p>
            <a:pPr eaLnBrk="1" hangingPunct="1">
              <a:defRPr/>
            </a:pPr>
            <a:r>
              <a:rPr lang="zh-CN" b="1" smtClean="0">
                <a:effectLst>
                  <a:outerShdw blurRad="38100" dist="38100" dir="2700000" algn="tl">
                    <a:srgbClr val="000000"/>
                  </a:outerShdw>
                </a:effectLst>
                <a:latin typeface="仿宋_GB2312" pitchFamily="1" charset="-122"/>
                <a:ea typeface="仿宋_GB2312" pitchFamily="1" charset="-122"/>
              </a:rPr>
              <a:t>文件管理系统</a:t>
            </a:r>
            <a:endParaRPr lang="zh-CN" b="1" smtClean="0">
              <a:effectLst>
                <a:outerShdw blurRad="38100" dist="38100" dir="2700000" algn="tl">
                  <a:srgbClr val="000000"/>
                </a:outerShdw>
              </a:effectLst>
              <a:latin typeface="仿宋_GB2312" pitchFamily="1" charset="-122"/>
              <a:ea typeface="仿宋_GB2312" pitchFamily="1" charset="-122"/>
            </a:endParaRPr>
          </a:p>
          <a:p>
            <a:pPr eaLnBrk="1" hangingPunct="1">
              <a:defRPr/>
            </a:pPr>
            <a:r>
              <a:rPr lang="zh-CN" b="1" smtClean="0">
                <a:effectLst>
                  <a:outerShdw blurRad="38100" dist="38100" dir="2700000" algn="tl">
                    <a:srgbClr val="000000"/>
                  </a:outerShdw>
                </a:effectLst>
                <a:latin typeface="仿宋_GB2312" pitchFamily="1" charset="-122"/>
                <a:ea typeface="仿宋_GB2312" pitchFamily="1" charset="-122"/>
              </a:rPr>
              <a:t>文件的基本概念、操作</a:t>
            </a:r>
            <a:endParaRPr lang="zh-CN" b="1" smtClean="0">
              <a:effectLst>
                <a:outerShdw blurRad="38100" dist="38100" dir="2700000" algn="tl">
                  <a:srgbClr val="000000"/>
                </a:outerShdw>
              </a:effectLst>
              <a:latin typeface="仿宋_GB2312" pitchFamily="1" charset="-122"/>
              <a:ea typeface="仿宋_GB2312" pitchFamily="1" charset="-122"/>
            </a:endParaRPr>
          </a:p>
          <a:p>
            <a:pPr eaLnBrk="1" hangingPunct="1">
              <a:defRPr/>
            </a:pPr>
            <a:r>
              <a:rPr lang="zh-CN" b="1" smtClean="0">
                <a:effectLst>
                  <a:outerShdw blurRad="38100" dist="38100" dir="2700000" algn="tl">
                    <a:srgbClr val="000000"/>
                  </a:outerShdw>
                </a:effectLst>
                <a:latin typeface="仿宋_GB2312" pitchFamily="1" charset="-122"/>
                <a:ea typeface="仿宋_GB2312" pitchFamily="1" charset="-122"/>
              </a:rPr>
              <a:t>文件目录</a:t>
            </a:r>
            <a:endParaRPr lang="zh-CN" b="1" smtClean="0">
              <a:effectLst>
                <a:outerShdw blurRad="38100" dist="38100" dir="2700000" algn="tl">
                  <a:srgbClr val="000000"/>
                </a:outerShdw>
              </a:effectLst>
              <a:latin typeface="仿宋_GB2312" pitchFamily="1" charset="-122"/>
              <a:ea typeface="仿宋_GB2312" pitchFamily="1" charset="-122"/>
            </a:endParaRPr>
          </a:p>
          <a:p>
            <a:pPr eaLnBrk="1" hangingPunct="1">
              <a:defRPr/>
            </a:pPr>
            <a:r>
              <a:rPr lang="zh-CN" b="1" smtClean="0">
                <a:effectLst>
                  <a:outerShdw blurRad="38100" dist="38100" dir="2700000" algn="tl">
                    <a:srgbClr val="000000"/>
                  </a:outerShdw>
                </a:effectLst>
                <a:latin typeface="仿宋_GB2312" pitchFamily="1" charset="-122"/>
                <a:ea typeface="仿宋_GB2312" pitchFamily="1" charset="-122"/>
              </a:rPr>
              <a:t>文件的逻辑组织与访问</a:t>
            </a:r>
            <a:endParaRPr lang="zh-CN" b="1" smtClean="0">
              <a:effectLst>
                <a:outerShdw blurRad="38100" dist="38100" dir="2700000" algn="tl">
                  <a:srgbClr val="000000"/>
                </a:outerShdw>
              </a:effectLst>
              <a:latin typeface="仿宋_GB2312" pitchFamily="1" charset="-122"/>
              <a:ea typeface="仿宋_GB2312" pitchFamily="1" charset="-122"/>
            </a:endParaRPr>
          </a:p>
          <a:p>
            <a:pPr eaLnBrk="1" hangingPunct="1">
              <a:defRPr/>
            </a:pPr>
            <a:r>
              <a:rPr lang="zh-CN" b="1" smtClean="0">
                <a:effectLst>
                  <a:outerShdw blurRad="38100" dist="38100" dir="2700000" algn="tl">
                    <a:srgbClr val="000000"/>
                  </a:outerShdw>
                </a:effectLst>
                <a:latin typeface="仿宋_GB2312" pitchFamily="1" charset="-122"/>
                <a:ea typeface="仿宋_GB2312" pitchFamily="1" charset="-122"/>
              </a:rPr>
              <a:t>文件记录与数据块的关系</a:t>
            </a:r>
            <a:endParaRPr lang="zh-CN" b="1" smtClean="0">
              <a:effectLst>
                <a:outerShdw blurRad="38100" dist="38100" dir="2700000" algn="tl">
                  <a:srgbClr val="000000"/>
                </a:outerShdw>
              </a:effectLst>
              <a:latin typeface="仿宋_GB2312" pitchFamily="1" charset="-122"/>
              <a:ea typeface="仿宋_GB2312" pitchFamily="1" charset="-122"/>
            </a:endParaRPr>
          </a:p>
          <a:p>
            <a:pPr eaLnBrk="1" hangingPunct="1">
              <a:defRPr/>
            </a:pPr>
            <a:r>
              <a:rPr lang="zh-CN" b="1" smtClean="0">
                <a:effectLst>
                  <a:outerShdw blurRad="38100" dist="38100" dir="2700000" algn="tl">
                    <a:srgbClr val="000000"/>
                  </a:outerShdw>
                </a:effectLst>
                <a:latin typeface="仿宋_GB2312" pitchFamily="1" charset="-122"/>
                <a:ea typeface="仿宋_GB2312" pitchFamily="1" charset="-122"/>
              </a:rPr>
              <a:t>文件共享</a:t>
            </a:r>
            <a:endParaRPr lang="zh-CN" b="1" smtClean="0">
              <a:effectLst>
                <a:outerShdw blurRad="38100" dist="38100" dir="2700000" algn="tl">
                  <a:srgbClr val="000000"/>
                </a:outerShdw>
              </a:effectLst>
              <a:latin typeface="仿宋_GB2312" pitchFamily="1" charset="-122"/>
              <a:ea typeface="仿宋_GB2312" pitchFamily="1" charset="-122"/>
            </a:endParaRPr>
          </a:p>
          <a:p>
            <a:pPr eaLnBrk="1" hangingPunct="1">
              <a:defRPr/>
            </a:pPr>
            <a:r>
              <a:rPr lang="zh-CN" b="1" smtClean="0">
                <a:effectLst>
                  <a:outerShdw blurRad="38100" dist="38100" dir="2700000" algn="tl">
                    <a:srgbClr val="000000"/>
                  </a:outerShdw>
                </a:effectLst>
                <a:latin typeface="仿宋_GB2312" pitchFamily="1" charset="-122"/>
                <a:ea typeface="仿宋_GB2312" pitchFamily="1" charset="-122"/>
              </a:rPr>
              <a:t>文件存储空间与空闲空间的管理</a:t>
            </a:r>
            <a:endParaRPr lang="zh-CN" b="1" smtClean="0">
              <a:effectLst>
                <a:outerShdw blurRad="38100" dist="38100" dir="2700000" algn="tl">
                  <a:srgbClr val="000000"/>
                </a:outerShdw>
              </a:effectLst>
              <a:latin typeface="仿宋_GB2312" pitchFamily="1" charset="-122"/>
              <a:ea typeface="仿宋_GB2312"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fade">
                                      <p:cBhvr>
                                        <p:cTn id="7" dur="2000"/>
                                        <p:tgtEl>
                                          <p:spTgt spid="51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123">
                                            <p:txEl>
                                              <p:pRg st="0" end="0"/>
                                            </p:txEl>
                                          </p:spTgt>
                                        </p:tgtEl>
                                        <p:attrNameLst>
                                          <p:attrName>style.visibility</p:attrName>
                                        </p:attrNameLst>
                                      </p:cBhvr>
                                      <p:to>
                                        <p:strVal val="visible"/>
                                      </p:to>
                                    </p:set>
                                    <p:animEffect transition="in" filter="fade">
                                      <p:cBhvr>
                                        <p:cTn id="12" dur="2000"/>
                                        <p:tgtEl>
                                          <p:spTgt spid="512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123">
                                            <p:txEl>
                                              <p:pRg st="1" end="1"/>
                                            </p:txEl>
                                          </p:spTgt>
                                        </p:tgtEl>
                                        <p:attrNameLst>
                                          <p:attrName>style.visibility</p:attrName>
                                        </p:attrNameLst>
                                      </p:cBhvr>
                                      <p:to>
                                        <p:strVal val="visible"/>
                                      </p:to>
                                    </p:set>
                                    <p:animEffect transition="in" filter="fade">
                                      <p:cBhvr>
                                        <p:cTn id="17" dur="2000"/>
                                        <p:tgtEl>
                                          <p:spTgt spid="512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123">
                                            <p:txEl>
                                              <p:pRg st="2" end="2"/>
                                            </p:txEl>
                                          </p:spTgt>
                                        </p:tgtEl>
                                        <p:attrNameLst>
                                          <p:attrName>style.visibility</p:attrName>
                                        </p:attrNameLst>
                                      </p:cBhvr>
                                      <p:to>
                                        <p:strVal val="visible"/>
                                      </p:to>
                                    </p:set>
                                    <p:animEffect transition="in" filter="fade">
                                      <p:cBhvr>
                                        <p:cTn id="22" dur="2000"/>
                                        <p:tgtEl>
                                          <p:spTgt spid="512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123">
                                            <p:txEl>
                                              <p:pRg st="3" end="3"/>
                                            </p:txEl>
                                          </p:spTgt>
                                        </p:tgtEl>
                                        <p:attrNameLst>
                                          <p:attrName>style.visibility</p:attrName>
                                        </p:attrNameLst>
                                      </p:cBhvr>
                                      <p:to>
                                        <p:strVal val="visible"/>
                                      </p:to>
                                    </p:set>
                                    <p:animEffect transition="in" filter="fade">
                                      <p:cBhvr>
                                        <p:cTn id="27" dur="2000"/>
                                        <p:tgtEl>
                                          <p:spTgt spid="512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123">
                                            <p:txEl>
                                              <p:pRg st="4" end="4"/>
                                            </p:txEl>
                                          </p:spTgt>
                                        </p:tgtEl>
                                        <p:attrNameLst>
                                          <p:attrName>style.visibility</p:attrName>
                                        </p:attrNameLst>
                                      </p:cBhvr>
                                      <p:to>
                                        <p:strVal val="visible"/>
                                      </p:to>
                                    </p:set>
                                    <p:animEffect transition="in" filter="fade">
                                      <p:cBhvr>
                                        <p:cTn id="32" dur="2000"/>
                                        <p:tgtEl>
                                          <p:spTgt spid="512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123">
                                            <p:txEl>
                                              <p:pRg st="5" end="5"/>
                                            </p:txEl>
                                          </p:spTgt>
                                        </p:tgtEl>
                                        <p:attrNameLst>
                                          <p:attrName>style.visibility</p:attrName>
                                        </p:attrNameLst>
                                      </p:cBhvr>
                                      <p:to>
                                        <p:strVal val="visible"/>
                                      </p:to>
                                    </p:set>
                                    <p:animEffect transition="in" filter="fade">
                                      <p:cBhvr>
                                        <p:cTn id="37" dur="2000"/>
                                        <p:tgtEl>
                                          <p:spTgt spid="512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123">
                                            <p:txEl>
                                              <p:pRg st="6" end="6"/>
                                            </p:txEl>
                                          </p:spTgt>
                                        </p:tgtEl>
                                        <p:attrNameLst>
                                          <p:attrName>style.visibility</p:attrName>
                                        </p:attrNameLst>
                                      </p:cBhvr>
                                      <p:to>
                                        <p:strVal val="visible"/>
                                      </p:to>
                                    </p:set>
                                    <p:animEffect transition="in" filter="fade">
                                      <p:cBhvr>
                                        <p:cTn id="42" dur="2000"/>
                                        <p:tgtEl>
                                          <p:spTgt spid="512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autoUpdateAnimBg="0"/>
      <p:bldP spid="5123" grpId="0" autoUpdateAnimBg="0" build="p"/>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Rot="1" noChangeArrowheads="1"/>
          </p:cNvSpPr>
          <p:nvPr>
            <p:ph type="title" idx="4294967295"/>
          </p:nvPr>
        </p:nvSpPr>
        <p:spPr/>
        <p:txBody>
          <a:bodyPr/>
          <a:lstStyle/>
          <a:p>
            <a:pPr eaLnBrk="1" hangingPunct="1">
              <a:defRPr/>
            </a:pPr>
            <a:r>
              <a:rPr lang="zh-CN" sz="6000" b="1" i="1" smtClean="0">
                <a:solidFill>
                  <a:schemeClr val="folHlink"/>
                </a:solidFill>
                <a:effectLst>
                  <a:outerShdw blurRad="38100" dist="38100" dir="2700000" algn="tl">
                    <a:srgbClr val="000000"/>
                  </a:outerShdw>
                </a:effectLst>
                <a:latin typeface="仿宋_GB2312" pitchFamily="1" charset="-122"/>
                <a:ea typeface="仿宋_GB2312" pitchFamily="1" charset="-122"/>
              </a:rPr>
              <a:t>？</a:t>
            </a:r>
            <a:r>
              <a:rPr lang="zh-CN" b="1" smtClean="0">
                <a:solidFill>
                  <a:schemeClr val="folHlink"/>
                </a:solidFill>
                <a:effectLst>
                  <a:outerShdw blurRad="38100" dist="38100" dir="2700000" algn="tl">
                    <a:srgbClr val="000000"/>
                  </a:outerShdw>
                </a:effectLst>
                <a:latin typeface="仿宋_GB2312" pitchFamily="1" charset="-122"/>
                <a:ea typeface="仿宋_GB2312" pitchFamily="1" charset="-122"/>
              </a:rPr>
              <a:t> 问题</a:t>
            </a:r>
            <a:endParaRPr lang="zh-CN" b="1" smtClean="0">
              <a:solidFill>
                <a:schemeClr val="folHlink"/>
              </a:solidFill>
              <a:effectLst>
                <a:outerShdw blurRad="38100" dist="38100" dir="2700000" algn="tl">
                  <a:srgbClr val="000000"/>
                </a:outerShdw>
              </a:effectLst>
              <a:latin typeface="仿宋_GB2312" pitchFamily="1" charset="-122"/>
              <a:ea typeface="仿宋_GB2312" pitchFamily="1" charset="-122"/>
            </a:endParaRPr>
          </a:p>
        </p:txBody>
      </p:sp>
      <p:sp>
        <p:nvSpPr>
          <p:cNvPr id="6147" name="Rectangle 3"/>
          <p:cNvSpPr>
            <a:spLocks noGrp="1" noRot="1" noChangeArrowheads="1"/>
          </p:cNvSpPr>
          <p:nvPr>
            <p:ph type="body" idx="4294967295"/>
          </p:nvPr>
        </p:nvSpPr>
        <p:spPr/>
        <p:txBody>
          <a:bodyPr/>
          <a:lstStyle/>
          <a:p>
            <a:pPr eaLnBrk="1" hangingPunct="1">
              <a:defRPr/>
            </a:pPr>
            <a:r>
              <a:rPr lang="zh-CN" b="1" smtClean="0">
                <a:effectLst>
                  <a:outerShdw blurRad="38100" dist="38100" dir="2700000" algn="tl">
                    <a:srgbClr val="000000"/>
                  </a:outerShdw>
                </a:effectLst>
                <a:latin typeface="仿宋_GB2312" pitchFamily="1" charset="-122"/>
                <a:ea typeface="仿宋_GB2312" pitchFamily="1" charset="-122"/>
              </a:rPr>
              <a:t>什么是文件？</a:t>
            </a:r>
            <a:endParaRPr lang="zh-CN" b="1" smtClean="0">
              <a:effectLst>
                <a:outerShdw blurRad="38100" dist="38100" dir="2700000" algn="tl">
                  <a:srgbClr val="000000"/>
                </a:outerShdw>
              </a:effectLst>
              <a:latin typeface="仿宋_GB2312" pitchFamily="1" charset="-122"/>
              <a:ea typeface="仿宋_GB2312" pitchFamily="1" charset="-122"/>
            </a:endParaRPr>
          </a:p>
          <a:p>
            <a:pPr eaLnBrk="1" hangingPunct="1">
              <a:defRPr/>
            </a:pPr>
            <a:r>
              <a:rPr lang="zh-CN" b="1" smtClean="0">
                <a:effectLst>
                  <a:outerShdw blurRad="38100" dist="38100" dir="2700000" algn="tl">
                    <a:srgbClr val="000000"/>
                  </a:outerShdw>
                </a:effectLst>
                <a:latin typeface="仿宋_GB2312" pitchFamily="1" charset="-122"/>
                <a:ea typeface="仿宋_GB2312" pitchFamily="1" charset="-122"/>
              </a:rPr>
              <a:t>文件由什么组成？</a:t>
            </a:r>
            <a:endParaRPr lang="zh-CN" b="1" smtClean="0">
              <a:effectLst>
                <a:outerShdw blurRad="38100" dist="38100" dir="2700000" algn="tl">
                  <a:srgbClr val="000000"/>
                </a:outerShdw>
              </a:effectLst>
              <a:latin typeface="仿宋_GB2312" pitchFamily="1" charset="-122"/>
              <a:ea typeface="仿宋_GB2312" pitchFamily="1" charset="-122"/>
            </a:endParaRPr>
          </a:p>
          <a:p>
            <a:pPr eaLnBrk="1" hangingPunct="1">
              <a:defRPr/>
            </a:pPr>
            <a:r>
              <a:rPr lang="zh-CN" b="1" smtClean="0">
                <a:effectLst>
                  <a:outerShdw blurRad="38100" dist="38100" dir="2700000" algn="tl">
                    <a:srgbClr val="000000"/>
                  </a:outerShdw>
                </a:effectLst>
                <a:latin typeface="仿宋_GB2312" pitchFamily="1" charset="-122"/>
                <a:ea typeface="仿宋_GB2312" pitchFamily="1" charset="-122"/>
              </a:rPr>
              <a:t>文件如何命名？</a:t>
            </a:r>
            <a:endParaRPr lang="zh-CN" b="1" smtClean="0">
              <a:effectLst>
                <a:outerShdw blurRad="38100" dist="38100" dir="2700000" algn="tl">
                  <a:srgbClr val="000000"/>
                </a:outerShdw>
              </a:effectLst>
              <a:latin typeface="仿宋_GB2312" pitchFamily="1" charset="-122"/>
              <a:ea typeface="仿宋_GB2312" pitchFamily="1" charset="-122"/>
            </a:endParaRPr>
          </a:p>
          <a:p>
            <a:pPr eaLnBrk="1" hangingPunct="1">
              <a:defRPr/>
            </a:pPr>
            <a:r>
              <a:rPr lang="zh-CN" b="1" smtClean="0">
                <a:effectLst>
                  <a:outerShdw blurRad="38100" dist="38100" dir="2700000" algn="tl">
                    <a:srgbClr val="000000"/>
                  </a:outerShdw>
                </a:effectLst>
                <a:latin typeface="仿宋_GB2312" pitchFamily="1" charset="-122"/>
                <a:ea typeface="仿宋_GB2312" pitchFamily="1" charset="-122"/>
              </a:rPr>
              <a:t>如何保证文件数据的安全？</a:t>
            </a:r>
            <a:endParaRPr lang="zh-CN" b="1" smtClean="0">
              <a:effectLst>
                <a:outerShdw blurRad="38100" dist="38100" dir="2700000" algn="tl">
                  <a:srgbClr val="000000"/>
                </a:outerShdw>
              </a:effectLst>
              <a:latin typeface="仿宋_GB2312" pitchFamily="1" charset="-122"/>
              <a:ea typeface="仿宋_GB2312" pitchFamily="1" charset="-122"/>
            </a:endParaRPr>
          </a:p>
          <a:p>
            <a:pPr eaLnBrk="1" hangingPunct="1">
              <a:defRPr/>
            </a:pPr>
            <a:r>
              <a:rPr lang="zh-CN" b="1" smtClean="0">
                <a:effectLst>
                  <a:outerShdw blurRad="38100" dist="38100" dir="2700000" algn="tl">
                    <a:srgbClr val="000000"/>
                  </a:outerShdw>
                </a:effectLst>
                <a:latin typeface="仿宋_GB2312" pitchFamily="1" charset="-122"/>
                <a:ea typeface="仿宋_GB2312" pitchFamily="1" charset="-122"/>
              </a:rPr>
              <a:t>对文件可以进行哪些操作？</a:t>
            </a:r>
            <a:endParaRPr lang="zh-CN" b="1" smtClean="0">
              <a:effectLst>
                <a:outerShdw blurRad="38100" dist="38100" dir="2700000" algn="tl">
                  <a:srgbClr val="000000"/>
                </a:outerShdw>
              </a:effectLst>
              <a:latin typeface="仿宋_GB2312" pitchFamily="1" charset="-122"/>
              <a:ea typeface="仿宋_GB2312" pitchFamily="1" charset="-122"/>
            </a:endParaRPr>
          </a:p>
          <a:p>
            <a:pPr eaLnBrk="1" hangingPunct="1">
              <a:defRPr/>
            </a:pPr>
            <a:r>
              <a:rPr lang="zh-CN" b="1" smtClean="0">
                <a:effectLst>
                  <a:outerShdw blurRad="38100" dist="38100" dir="2700000" algn="tl">
                    <a:srgbClr val="000000"/>
                  </a:outerShdw>
                </a:effectLst>
                <a:latin typeface="仿宋_GB2312" pitchFamily="1" charset="-122"/>
                <a:ea typeface="仿宋_GB2312" pitchFamily="1" charset="-122"/>
              </a:rPr>
              <a:t>文件在磁盘上如何存储？</a:t>
            </a:r>
            <a:endParaRPr lang="zh-CN" b="1" smtClean="0">
              <a:effectLst>
                <a:outerShdw blurRad="38100" dist="38100" dir="2700000" algn="tl">
                  <a:srgbClr val="000000"/>
                </a:outerShdw>
              </a:effectLst>
              <a:latin typeface="仿宋_GB2312" pitchFamily="1" charset="-122"/>
              <a:ea typeface="仿宋_GB2312" pitchFamily="1" charset="-122"/>
            </a:endParaRPr>
          </a:p>
          <a:p>
            <a:pPr eaLnBrk="1" hangingPunct="1">
              <a:defRPr/>
            </a:pPr>
            <a:r>
              <a:rPr lang="zh-CN" b="1" smtClean="0">
                <a:effectLst>
                  <a:outerShdw blurRad="38100" dist="38100" dir="2700000" algn="tl">
                    <a:srgbClr val="000000"/>
                  </a:outerShdw>
                </a:effectLst>
                <a:latin typeface="仿宋_GB2312" pitchFamily="1" charset="-122"/>
                <a:ea typeface="仿宋_GB2312" pitchFamily="1" charset="-122"/>
              </a:rPr>
              <a:t>磁盘的空白存储区如何管理 ？</a:t>
            </a:r>
            <a:endParaRPr lang="zh-CN" b="1" smtClean="0">
              <a:effectLst>
                <a:outerShdw blurRad="38100" dist="38100" dir="2700000" algn="tl">
                  <a:srgbClr val="000000"/>
                </a:outerShdw>
              </a:effectLst>
              <a:latin typeface="仿宋_GB2312" pitchFamily="1" charset="-122"/>
              <a:ea typeface="仿宋_GB2312"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fade">
                                      <p:cBhvr>
                                        <p:cTn id="7" dur="2000"/>
                                        <p:tgtEl>
                                          <p:spTgt spid="61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147">
                                            <p:txEl>
                                              <p:pRg st="0" end="0"/>
                                            </p:txEl>
                                          </p:spTgt>
                                        </p:tgtEl>
                                        <p:attrNameLst>
                                          <p:attrName>style.visibility</p:attrName>
                                        </p:attrNameLst>
                                      </p:cBhvr>
                                      <p:to>
                                        <p:strVal val="visible"/>
                                      </p:to>
                                    </p:set>
                                    <p:animEffect transition="in" filter="fade">
                                      <p:cBhvr>
                                        <p:cTn id="12" dur="2000"/>
                                        <p:tgtEl>
                                          <p:spTgt spid="614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147">
                                            <p:txEl>
                                              <p:pRg st="1" end="1"/>
                                            </p:txEl>
                                          </p:spTgt>
                                        </p:tgtEl>
                                        <p:attrNameLst>
                                          <p:attrName>style.visibility</p:attrName>
                                        </p:attrNameLst>
                                      </p:cBhvr>
                                      <p:to>
                                        <p:strVal val="visible"/>
                                      </p:to>
                                    </p:set>
                                    <p:animEffect transition="in" filter="fade">
                                      <p:cBhvr>
                                        <p:cTn id="17" dur="2000"/>
                                        <p:tgtEl>
                                          <p:spTgt spid="614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147">
                                            <p:txEl>
                                              <p:pRg st="2" end="2"/>
                                            </p:txEl>
                                          </p:spTgt>
                                        </p:tgtEl>
                                        <p:attrNameLst>
                                          <p:attrName>style.visibility</p:attrName>
                                        </p:attrNameLst>
                                      </p:cBhvr>
                                      <p:to>
                                        <p:strVal val="visible"/>
                                      </p:to>
                                    </p:set>
                                    <p:animEffect transition="in" filter="fade">
                                      <p:cBhvr>
                                        <p:cTn id="22" dur="2000"/>
                                        <p:tgtEl>
                                          <p:spTgt spid="614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147">
                                            <p:txEl>
                                              <p:pRg st="3" end="3"/>
                                            </p:txEl>
                                          </p:spTgt>
                                        </p:tgtEl>
                                        <p:attrNameLst>
                                          <p:attrName>style.visibility</p:attrName>
                                        </p:attrNameLst>
                                      </p:cBhvr>
                                      <p:to>
                                        <p:strVal val="visible"/>
                                      </p:to>
                                    </p:set>
                                    <p:animEffect transition="in" filter="fade">
                                      <p:cBhvr>
                                        <p:cTn id="27" dur="2000"/>
                                        <p:tgtEl>
                                          <p:spTgt spid="6147">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147">
                                            <p:txEl>
                                              <p:pRg st="4" end="4"/>
                                            </p:txEl>
                                          </p:spTgt>
                                        </p:tgtEl>
                                        <p:attrNameLst>
                                          <p:attrName>style.visibility</p:attrName>
                                        </p:attrNameLst>
                                      </p:cBhvr>
                                      <p:to>
                                        <p:strVal val="visible"/>
                                      </p:to>
                                    </p:set>
                                    <p:animEffect transition="in" filter="fade">
                                      <p:cBhvr>
                                        <p:cTn id="32" dur="2000"/>
                                        <p:tgtEl>
                                          <p:spTgt spid="614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147">
                                            <p:txEl>
                                              <p:pRg st="5" end="5"/>
                                            </p:txEl>
                                          </p:spTgt>
                                        </p:tgtEl>
                                        <p:attrNameLst>
                                          <p:attrName>style.visibility</p:attrName>
                                        </p:attrNameLst>
                                      </p:cBhvr>
                                      <p:to>
                                        <p:strVal val="visible"/>
                                      </p:to>
                                    </p:set>
                                    <p:animEffect transition="in" filter="fade">
                                      <p:cBhvr>
                                        <p:cTn id="37" dur="2000"/>
                                        <p:tgtEl>
                                          <p:spTgt spid="6147">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147">
                                            <p:txEl>
                                              <p:pRg st="6" end="6"/>
                                            </p:txEl>
                                          </p:spTgt>
                                        </p:tgtEl>
                                        <p:attrNameLst>
                                          <p:attrName>style.visibility</p:attrName>
                                        </p:attrNameLst>
                                      </p:cBhvr>
                                      <p:to>
                                        <p:strVal val="visible"/>
                                      </p:to>
                                    </p:set>
                                    <p:animEffect transition="in" filter="fade">
                                      <p:cBhvr>
                                        <p:cTn id="42" dur="2000"/>
                                        <p:tgtEl>
                                          <p:spTgt spid="614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utoUpdateAnimBg="0"/>
      <p:bldP spid="6147" grpId="0" autoUpdateAnimBg="0" build="p"/>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3074"/>
          <p:cNvSpPr>
            <a:spLocks noGrp="1" noRot="1" noChangeArrowheads="1"/>
          </p:cNvSpPr>
          <p:nvPr>
            <p:ph type="title" idx="4294967295"/>
          </p:nvPr>
        </p:nvSpPr>
        <p:spPr>
          <a:xfrm>
            <a:off x="762000" y="1524000"/>
            <a:ext cx="7772400" cy="1524000"/>
          </a:xfrm>
          <a:gradFill rotWithShape="0">
            <a:gsLst>
              <a:gs pos="0">
                <a:srgbClr val="404552"/>
              </a:gs>
              <a:gs pos="50000">
                <a:schemeClr val="accent1"/>
              </a:gs>
              <a:gs pos="100000">
                <a:srgbClr val="404552"/>
              </a:gs>
            </a:gsLst>
            <a:lin ang="5400000" scaled="1"/>
          </a:gradFill>
        </p:spPr>
        <p:txBody>
          <a:bodyPr/>
          <a:lstStyle/>
          <a:p>
            <a:pPr eaLnBrk="1" hangingPunct="1">
              <a:defRPr/>
            </a:pPr>
            <a:r>
              <a:rPr lang="zh-CN" b="1" smtClean="0">
                <a:solidFill>
                  <a:schemeClr val="accent2"/>
                </a:solidFill>
                <a:effectLst>
                  <a:outerShdw blurRad="38100" dist="38100" dir="2700000" algn="tl">
                    <a:srgbClr val="000000"/>
                  </a:outerShdw>
                </a:effectLst>
                <a:latin typeface="仿宋_GB2312" pitchFamily="1" charset="-122"/>
                <a:ea typeface="仿宋_GB2312" pitchFamily="1" charset="-122"/>
              </a:rPr>
              <a:t>文件系统概述 </a:t>
            </a:r>
            <a:endParaRPr lang="zh-CN" b="1" smtClean="0">
              <a:solidFill>
                <a:schemeClr val="accent2"/>
              </a:solidFill>
              <a:effectLst>
                <a:outerShdw blurRad="38100" dist="38100" dir="2700000" algn="tl">
                  <a:srgbClr val="000000"/>
                </a:outerShdw>
              </a:effectLst>
              <a:latin typeface="仿宋_GB2312" pitchFamily="1" charset="-122"/>
              <a:ea typeface="仿宋_GB2312"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170">
                                            <p:txEl>
                                              <p:charRg st="4294967295" end="4294967295"/>
                                            </p:txEl>
                                          </p:spTgt>
                                        </p:tgtEl>
                                        <p:attrNameLst>
                                          <p:attrName>style.visibility</p:attrName>
                                        </p:attrNameLst>
                                      </p:cBhvr>
                                      <p:to>
                                        <p:strVal val="visible"/>
                                      </p:to>
                                    </p:set>
                                    <p:animEffect transition="in" filter="fade">
                                      <p:cBhvr>
                                        <p:cTn id="7" dur="2000"/>
                                        <p:tgtEl>
                                          <p:spTgt spid="7170">
                                            <p:txEl>
                                              <p:charRg st="4294967295" end="42949672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Rot="1" noChangeArrowheads="1"/>
          </p:cNvSpPr>
          <p:nvPr>
            <p:ph type="title" idx="4294967295"/>
          </p:nvPr>
        </p:nvSpPr>
        <p:spPr/>
        <p:txBody>
          <a:bodyPr/>
          <a:lstStyle/>
          <a:p>
            <a:pPr eaLnBrk="1" hangingPunct="1">
              <a:defRPr/>
            </a:pPr>
            <a:r>
              <a:rPr lang="zh-CN" b="1" u="sng" smtClean="0">
                <a:solidFill>
                  <a:schemeClr val="folHlink"/>
                </a:solidFill>
                <a:effectLst>
                  <a:outerShdw blurRad="38100" dist="38100" dir="2700000" algn="tl">
                    <a:srgbClr val="000000"/>
                  </a:outerShdw>
                </a:effectLst>
                <a:ea typeface="仿宋_GB2312" pitchFamily="1" charset="-122"/>
              </a:rPr>
              <a:t>文件系统的功能</a:t>
            </a:r>
            <a:endParaRPr lang="zh-CN" b="1" u="sng" smtClean="0">
              <a:solidFill>
                <a:schemeClr val="folHlink"/>
              </a:solidFill>
              <a:effectLst>
                <a:outerShdw blurRad="38100" dist="38100" dir="2700000" algn="tl">
                  <a:srgbClr val="000000"/>
                </a:outerShdw>
              </a:effectLst>
              <a:ea typeface="仿宋_GB2312" pitchFamily="1" charset="-122"/>
            </a:endParaRPr>
          </a:p>
        </p:txBody>
      </p:sp>
      <p:sp>
        <p:nvSpPr>
          <p:cNvPr id="8195" name="Rectangle 3"/>
          <p:cNvSpPr>
            <a:spLocks noGrp="1" noRot="1" noChangeArrowheads="1"/>
          </p:cNvSpPr>
          <p:nvPr>
            <p:ph type="body" idx="4294967295"/>
          </p:nvPr>
        </p:nvSpPr>
        <p:spPr/>
        <p:txBody>
          <a:bodyPr/>
          <a:lstStyle/>
          <a:p>
            <a:pPr algn="just" eaLnBrk="1" hangingPunct="1">
              <a:defRPr/>
            </a:pPr>
            <a:r>
              <a:rPr lang="zh-CN" altLang="en-US" b="1" dirty="0" smtClean="0"/>
              <a:t>有效地管理文件的存储空间；</a:t>
            </a:r>
            <a:endParaRPr lang="zh-CN" altLang="en-US" b="1" dirty="0" smtClean="0"/>
          </a:p>
          <a:p>
            <a:pPr algn="just" eaLnBrk="1" hangingPunct="1">
              <a:defRPr/>
            </a:pPr>
            <a:r>
              <a:rPr lang="zh-CN" altLang="en-US" b="1" dirty="0" smtClean="0"/>
              <a:t>管理文件目录；</a:t>
            </a:r>
            <a:endParaRPr lang="zh-CN" altLang="en-US" b="1" dirty="0" smtClean="0"/>
          </a:p>
          <a:p>
            <a:pPr algn="just" eaLnBrk="1" hangingPunct="1">
              <a:defRPr/>
            </a:pPr>
            <a:r>
              <a:rPr lang="zh-CN" altLang="en-US" b="1" dirty="0" smtClean="0"/>
              <a:t>完成文件的读</a:t>
            </a:r>
            <a:r>
              <a:rPr lang="en-US" altLang="en-US" b="1" dirty="0" smtClean="0"/>
              <a:t>/</a:t>
            </a:r>
            <a:r>
              <a:rPr lang="zh-CN" altLang="en-US" b="1" dirty="0" smtClean="0"/>
              <a:t>写操作；</a:t>
            </a:r>
            <a:endParaRPr lang="zh-CN" altLang="en-US" b="1" dirty="0" smtClean="0"/>
          </a:p>
          <a:p>
            <a:pPr algn="just" eaLnBrk="1" hangingPunct="1">
              <a:defRPr/>
            </a:pPr>
            <a:r>
              <a:rPr lang="zh-CN" altLang="en-US" b="1" dirty="0" smtClean="0"/>
              <a:t>实现文件共享与保护；</a:t>
            </a:r>
            <a:endParaRPr lang="zh-CN" altLang="en-US" b="1" dirty="0" smtClean="0"/>
          </a:p>
          <a:p>
            <a:pPr algn="just" eaLnBrk="1" hangingPunct="1">
              <a:defRPr/>
            </a:pPr>
            <a:r>
              <a:rPr lang="zh-CN" altLang="en-US" b="1" dirty="0" smtClean="0"/>
              <a:t>为用户提供交互式命令接口和程序调用接口。</a:t>
            </a:r>
            <a:endParaRPr lang="zh-CN" altLang="en-US" b="1" dirty="0" smtClean="0"/>
          </a:p>
          <a:p>
            <a:pPr algn="just" eaLnBrk="1" hangingPunct="1">
              <a:defRPr/>
            </a:pPr>
            <a:endParaRPr lang="en-US" altLang="en-US" b="1"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fade">
                                      <p:cBhvr>
                                        <p:cTn id="7" dur="2000"/>
                                        <p:tgtEl>
                                          <p:spTgt spid="81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195">
                                            <p:txEl>
                                              <p:pRg st="0" end="0"/>
                                            </p:txEl>
                                          </p:spTgt>
                                        </p:tgtEl>
                                        <p:attrNameLst>
                                          <p:attrName>style.visibility</p:attrName>
                                        </p:attrNameLst>
                                      </p:cBhvr>
                                      <p:to>
                                        <p:strVal val="visible"/>
                                      </p:to>
                                    </p:set>
                                    <p:animEffect transition="in" filter="fade">
                                      <p:cBhvr>
                                        <p:cTn id="12" dur="2000"/>
                                        <p:tgtEl>
                                          <p:spTgt spid="819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195">
                                            <p:txEl>
                                              <p:pRg st="1" end="1"/>
                                            </p:txEl>
                                          </p:spTgt>
                                        </p:tgtEl>
                                        <p:attrNameLst>
                                          <p:attrName>style.visibility</p:attrName>
                                        </p:attrNameLst>
                                      </p:cBhvr>
                                      <p:to>
                                        <p:strVal val="visible"/>
                                      </p:to>
                                    </p:set>
                                    <p:animEffect transition="in" filter="fade">
                                      <p:cBhvr>
                                        <p:cTn id="17" dur="2000"/>
                                        <p:tgtEl>
                                          <p:spTgt spid="819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195">
                                            <p:txEl>
                                              <p:pRg st="2" end="2"/>
                                            </p:txEl>
                                          </p:spTgt>
                                        </p:tgtEl>
                                        <p:attrNameLst>
                                          <p:attrName>style.visibility</p:attrName>
                                        </p:attrNameLst>
                                      </p:cBhvr>
                                      <p:to>
                                        <p:strVal val="visible"/>
                                      </p:to>
                                    </p:set>
                                    <p:animEffect transition="in" filter="fade">
                                      <p:cBhvr>
                                        <p:cTn id="22" dur="2000"/>
                                        <p:tgtEl>
                                          <p:spTgt spid="819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195">
                                            <p:txEl>
                                              <p:pRg st="3" end="3"/>
                                            </p:txEl>
                                          </p:spTgt>
                                        </p:tgtEl>
                                        <p:attrNameLst>
                                          <p:attrName>style.visibility</p:attrName>
                                        </p:attrNameLst>
                                      </p:cBhvr>
                                      <p:to>
                                        <p:strVal val="visible"/>
                                      </p:to>
                                    </p:set>
                                    <p:animEffect transition="in" filter="fade">
                                      <p:cBhvr>
                                        <p:cTn id="27" dur="2000"/>
                                        <p:tgtEl>
                                          <p:spTgt spid="819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195">
                                            <p:txEl>
                                              <p:pRg st="4" end="4"/>
                                            </p:txEl>
                                          </p:spTgt>
                                        </p:tgtEl>
                                        <p:attrNameLst>
                                          <p:attrName>style.visibility</p:attrName>
                                        </p:attrNameLst>
                                      </p:cBhvr>
                                      <p:to>
                                        <p:strVal val="visible"/>
                                      </p:to>
                                    </p:set>
                                    <p:animEffect transition="in" filter="fade">
                                      <p:cBhvr>
                                        <p:cTn id="32" dur="2000"/>
                                        <p:tgtEl>
                                          <p:spTgt spid="81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autoUpdateAnimBg="0"/>
      <p:bldP spid="8195" grpId="0" autoUpdateAnimBg="0" build="p"/>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Rot="1" noChangeArrowheads="1"/>
          </p:cNvSpPr>
          <p:nvPr>
            <p:ph type="title" idx="4294967295"/>
          </p:nvPr>
        </p:nvSpPr>
        <p:spPr/>
        <p:txBody>
          <a:bodyPr/>
          <a:lstStyle/>
          <a:p>
            <a:pPr eaLnBrk="1" hangingPunct="1">
              <a:defRPr/>
            </a:pPr>
            <a:r>
              <a:rPr lang="zh-CN" b="1" u="sng" smtClean="0">
                <a:solidFill>
                  <a:schemeClr val="folHlink"/>
                </a:solidFill>
                <a:effectLst>
                  <a:outerShdw blurRad="38100" dist="38100" dir="2700000" algn="tl">
                    <a:srgbClr val="000000"/>
                  </a:outerShdw>
                </a:effectLst>
                <a:ea typeface="仿宋_GB2312" pitchFamily="1" charset="-122"/>
              </a:rPr>
              <a:t>交互式文件系统的基本服务</a:t>
            </a:r>
            <a:endParaRPr lang="zh-CN" b="1" u="sng" smtClean="0">
              <a:solidFill>
                <a:schemeClr val="folHlink"/>
              </a:solidFill>
              <a:effectLst>
                <a:outerShdw blurRad="38100" dist="38100" dir="2700000" algn="tl">
                  <a:srgbClr val="000000"/>
                </a:outerShdw>
              </a:effectLst>
              <a:ea typeface="仿宋_GB2312" pitchFamily="1" charset="-122"/>
            </a:endParaRPr>
          </a:p>
        </p:txBody>
      </p:sp>
      <p:sp>
        <p:nvSpPr>
          <p:cNvPr id="9219" name="Rectangle 3"/>
          <p:cNvSpPr>
            <a:spLocks noGrp="1" noRot="1" noChangeArrowheads="1"/>
          </p:cNvSpPr>
          <p:nvPr>
            <p:ph type="body" idx="4294967295"/>
          </p:nvPr>
        </p:nvSpPr>
        <p:spPr/>
        <p:txBody>
          <a:bodyPr/>
          <a:lstStyle/>
          <a:p>
            <a:pPr algn="just" eaLnBrk="1" hangingPunct="1">
              <a:defRPr/>
            </a:pPr>
            <a:r>
              <a:rPr lang="zh-CN" altLang="en-US" b="1" dirty="0" smtClean="0"/>
              <a:t>用户可以创建、删除、读取或更新文件；</a:t>
            </a:r>
            <a:endParaRPr lang="zh-CN" altLang="en-US" b="1" dirty="0" smtClean="0"/>
          </a:p>
          <a:p>
            <a:pPr algn="just" eaLnBrk="1" hangingPunct="1">
              <a:defRPr/>
            </a:pPr>
            <a:r>
              <a:rPr lang="zh-CN" altLang="en-US" b="1" dirty="0" smtClean="0"/>
              <a:t>一个用户可以受控制地访问其他用户的文件；</a:t>
            </a:r>
            <a:endParaRPr lang="zh-CN" altLang="en-US" b="1" dirty="0" smtClean="0"/>
          </a:p>
          <a:p>
            <a:pPr algn="just" eaLnBrk="1" hangingPunct="1">
              <a:defRPr/>
            </a:pPr>
            <a:r>
              <a:rPr lang="zh-CN" altLang="en-US" b="1" dirty="0" smtClean="0"/>
              <a:t>可以控制不同用户对不同文件的访问权限；</a:t>
            </a:r>
            <a:endParaRPr lang="zh-CN" altLang="en-US" b="1" dirty="0" smtClean="0"/>
          </a:p>
          <a:p>
            <a:pPr algn="just" eaLnBrk="1" hangingPunct="1">
              <a:defRPr/>
            </a:pPr>
            <a:r>
              <a:rPr lang="zh-CN" altLang="en-US" b="1" dirty="0" smtClean="0"/>
              <a:t> 用户可以根据实际需要重新构造文件；</a:t>
            </a:r>
            <a:endParaRPr lang="zh-CN" altLang="en-US" b="1" dirty="0" smtClean="0"/>
          </a:p>
          <a:p>
            <a:pPr algn="just" eaLnBrk="1" hangingPunct="1">
              <a:defRPr/>
            </a:pPr>
            <a:r>
              <a:rPr lang="zh-CN" altLang="en-US" b="1" dirty="0" smtClean="0"/>
              <a:t>允许用户在两个文件之间移动数据；</a:t>
            </a:r>
            <a:endParaRPr lang="zh-CN" altLang="en-US" b="1" dirty="0" smtClean="0"/>
          </a:p>
          <a:p>
            <a:pPr algn="just" eaLnBrk="1" hangingPunct="1">
              <a:defRPr/>
            </a:pPr>
            <a:r>
              <a:rPr lang="zh-CN" altLang="en-US" b="1" dirty="0" smtClean="0"/>
              <a:t>用户能备份文件，且能在文件被毁坏时，恢复文件；</a:t>
            </a:r>
            <a:endParaRPr lang="zh-CN" altLang="en-US" b="1" dirty="0" smtClean="0"/>
          </a:p>
          <a:p>
            <a:pPr algn="just" eaLnBrk="1" hangingPunct="1">
              <a:defRPr/>
            </a:pPr>
            <a:r>
              <a:rPr lang="zh-CN" altLang="en-US" b="1" dirty="0" smtClean="0"/>
              <a:t> 用户可以通过符号名访问文件。 </a:t>
            </a:r>
            <a:endParaRPr lang="zh-CN" altLang="en-US" b="1"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fade">
                                      <p:cBhvr>
                                        <p:cTn id="7" dur="2000"/>
                                        <p:tgtEl>
                                          <p:spTgt spid="92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219">
                                            <p:txEl>
                                              <p:pRg st="0" end="0"/>
                                            </p:txEl>
                                          </p:spTgt>
                                        </p:tgtEl>
                                        <p:attrNameLst>
                                          <p:attrName>style.visibility</p:attrName>
                                        </p:attrNameLst>
                                      </p:cBhvr>
                                      <p:to>
                                        <p:strVal val="visible"/>
                                      </p:to>
                                    </p:set>
                                    <p:animEffect transition="in" filter="fade">
                                      <p:cBhvr>
                                        <p:cTn id="12" dur="2000"/>
                                        <p:tgtEl>
                                          <p:spTgt spid="921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219">
                                            <p:txEl>
                                              <p:pRg st="1" end="1"/>
                                            </p:txEl>
                                          </p:spTgt>
                                        </p:tgtEl>
                                        <p:attrNameLst>
                                          <p:attrName>style.visibility</p:attrName>
                                        </p:attrNameLst>
                                      </p:cBhvr>
                                      <p:to>
                                        <p:strVal val="visible"/>
                                      </p:to>
                                    </p:set>
                                    <p:animEffect transition="in" filter="fade">
                                      <p:cBhvr>
                                        <p:cTn id="17" dur="2000"/>
                                        <p:tgtEl>
                                          <p:spTgt spid="921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219">
                                            <p:txEl>
                                              <p:pRg st="2" end="2"/>
                                            </p:txEl>
                                          </p:spTgt>
                                        </p:tgtEl>
                                        <p:attrNameLst>
                                          <p:attrName>style.visibility</p:attrName>
                                        </p:attrNameLst>
                                      </p:cBhvr>
                                      <p:to>
                                        <p:strVal val="visible"/>
                                      </p:to>
                                    </p:set>
                                    <p:animEffect transition="in" filter="fade">
                                      <p:cBhvr>
                                        <p:cTn id="22" dur="2000"/>
                                        <p:tgtEl>
                                          <p:spTgt spid="921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219">
                                            <p:txEl>
                                              <p:pRg st="3" end="3"/>
                                            </p:txEl>
                                          </p:spTgt>
                                        </p:tgtEl>
                                        <p:attrNameLst>
                                          <p:attrName>style.visibility</p:attrName>
                                        </p:attrNameLst>
                                      </p:cBhvr>
                                      <p:to>
                                        <p:strVal val="visible"/>
                                      </p:to>
                                    </p:set>
                                    <p:animEffect transition="in" filter="fade">
                                      <p:cBhvr>
                                        <p:cTn id="27" dur="2000"/>
                                        <p:tgtEl>
                                          <p:spTgt spid="9219">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219">
                                            <p:txEl>
                                              <p:pRg st="4" end="4"/>
                                            </p:txEl>
                                          </p:spTgt>
                                        </p:tgtEl>
                                        <p:attrNameLst>
                                          <p:attrName>style.visibility</p:attrName>
                                        </p:attrNameLst>
                                      </p:cBhvr>
                                      <p:to>
                                        <p:strVal val="visible"/>
                                      </p:to>
                                    </p:set>
                                    <p:animEffect transition="in" filter="fade">
                                      <p:cBhvr>
                                        <p:cTn id="32" dur="2000"/>
                                        <p:tgtEl>
                                          <p:spTgt spid="9219">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219">
                                            <p:txEl>
                                              <p:pRg st="5" end="5"/>
                                            </p:txEl>
                                          </p:spTgt>
                                        </p:tgtEl>
                                        <p:attrNameLst>
                                          <p:attrName>style.visibility</p:attrName>
                                        </p:attrNameLst>
                                      </p:cBhvr>
                                      <p:to>
                                        <p:strVal val="visible"/>
                                      </p:to>
                                    </p:set>
                                    <p:animEffect transition="in" filter="fade">
                                      <p:cBhvr>
                                        <p:cTn id="37" dur="2000"/>
                                        <p:tgtEl>
                                          <p:spTgt spid="9219">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219">
                                            <p:txEl>
                                              <p:pRg st="6" end="6"/>
                                            </p:txEl>
                                          </p:spTgt>
                                        </p:tgtEl>
                                        <p:attrNameLst>
                                          <p:attrName>style.visibility</p:attrName>
                                        </p:attrNameLst>
                                      </p:cBhvr>
                                      <p:to>
                                        <p:strVal val="visible"/>
                                      </p:to>
                                    </p:set>
                                    <p:animEffect transition="in" filter="fade">
                                      <p:cBhvr>
                                        <p:cTn id="42" dur="2000"/>
                                        <p:tgtEl>
                                          <p:spTgt spid="921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autoUpdateAnimBg="0"/>
      <p:bldP spid="9219" grpId="0" autoUpdateAnimBg="0" build="p"/>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Rot="1" noChangeArrowheads="1"/>
          </p:cNvSpPr>
          <p:nvPr>
            <p:ph type="title" idx="4294967295"/>
          </p:nvPr>
        </p:nvSpPr>
        <p:spPr/>
        <p:txBody>
          <a:bodyPr/>
          <a:lstStyle/>
          <a:p>
            <a:pPr eaLnBrk="1" hangingPunct="1">
              <a:defRPr/>
            </a:pPr>
            <a:r>
              <a:rPr lang="zh-CN" b="1" u="sng" smtClean="0">
                <a:solidFill>
                  <a:schemeClr val="folHlink"/>
                </a:solidFill>
                <a:effectLst>
                  <a:outerShdw blurRad="38100" dist="38100" dir="2700000" algn="tl">
                    <a:srgbClr val="000000"/>
                  </a:outerShdw>
                </a:effectLst>
                <a:ea typeface="仿宋_GB2312" pitchFamily="1" charset="-122"/>
              </a:rPr>
              <a:t>文件系统</a:t>
            </a:r>
            <a:endParaRPr lang="zh-CN" b="1" u="sng" smtClean="0">
              <a:solidFill>
                <a:schemeClr val="folHlink"/>
              </a:solidFill>
              <a:effectLst>
                <a:outerShdw blurRad="38100" dist="38100" dir="2700000" algn="tl">
                  <a:srgbClr val="000000"/>
                </a:outerShdw>
              </a:effectLst>
              <a:ea typeface="仿宋_GB2312" pitchFamily="1" charset="-122"/>
            </a:endParaRPr>
          </a:p>
        </p:txBody>
      </p:sp>
      <p:sp>
        <p:nvSpPr>
          <p:cNvPr id="10243" name="Rectangle 3"/>
          <p:cNvSpPr>
            <a:spLocks noGrp="1" noRot="1" noChangeArrowheads="1"/>
          </p:cNvSpPr>
          <p:nvPr>
            <p:ph type="body" idx="4294967295"/>
          </p:nvPr>
        </p:nvSpPr>
        <p:spPr/>
        <p:txBody>
          <a:bodyPr/>
          <a:lstStyle/>
          <a:p>
            <a:pPr eaLnBrk="1" hangingPunct="1">
              <a:defRPr/>
            </a:pPr>
            <a:r>
              <a:rPr lang="zh-CN" b="1" dirty="0" smtClean="0"/>
              <a:t>是指，操作系统提供的用来组织和管理计算机中存储的大量程序和数据的软件</a:t>
            </a:r>
            <a:r>
              <a:rPr lang="zh-CN" b="1" dirty="0" smtClean="0">
                <a:effectLst>
                  <a:outerShdw blurRad="38100" dist="38100" dir="2700000" algn="tl">
                    <a:srgbClr val="000000"/>
                  </a:outerShdw>
                </a:effectLst>
                <a:ea typeface="仿宋_GB2312" pitchFamily="1" charset="-122"/>
              </a:rPr>
              <a:t>。</a:t>
            </a:r>
            <a:endParaRPr lang="zh-CN" b="1" dirty="0" smtClean="0">
              <a:effectLst>
                <a:outerShdw blurRad="38100" dist="38100" dir="2700000" algn="tl">
                  <a:srgbClr val="000000"/>
                </a:outerShdw>
              </a:effectLst>
              <a:ea typeface="仿宋_GB2312" pitchFamily="1" charset="-122"/>
            </a:endParaRPr>
          </a:p>
          <a:p>
            <a:pPr algn="just" eaLnBrk="1" hangingPunct="1">
              <a:defRPr/>
            </a:pPr>
            <a:r>
              <a:rPr lang="zh-CN" b="1" dirty="0" smtClean="0"/>
              <a:t>有少数实时操作系统没有文件系统功能。</a:t>
            </a:r>
            <a:endParaRPr lang="zh-CN" b="1" dirty="0" smtClean="0"/>
          </a:p>
          <a:p>
            <a:pPr algn="just" eaLnBrk="1" hangingPunct="1">
              <a:defRPr/>
            </a:pPr>
            <a:r>
              <a:rPr lang="zh-CN" b="1" dirty="0" smtClean="0"/>
              <a:t>绝大多数操作系统都包含文件管理系统部分。</a:t>
            </a:r>
            <a:endParaRPr lang="zh-CN" b="1"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fade">
                                      <p:cBhvr>
                                        <p:cTn id="7" dur="2000"/>
                                        <p:tgtEl>
                                          <p:spTgt spid="102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43">
                                            <p:txEl>
                                              <p:pRg st="0" end="0"/>
                                            </p:txEl>
                                          </p:spTgt>
                                        </p:tgtEl>
                                        <p:attrNameLst>
                                          <p:attrName>style.visibility</p:attrName>
                                        </p:attrNameLst>
                                      </p:cBhvr>
                                      <p:to>
                                        <p:strVal val="visible"/>
                                      </p:to>
                                    </p:set>
                                    <p:animEffect transition="in" filter="fade">
                                      <p:cBhvr>
                                        <p:cTn id="12" dur="2000"/>
                                        <p:tgtEl>
                                          <p:spTgt spid="1024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243">
                                            <p:txEl>
                                              <p:pRg st="1" end="1"/>
                                            </p:txEl>
                                          </p:spTgt>
                                        </p:tgtEl>
                                        <p:attrNameLst>
                                          <p:attrName>style.visibility</p:attrName>
                                        </p:attrNameLst>
                                      </p:cBhvr>
                                      <p:to>
                                        <p:strVal val="visible"/>
                                      </p:to>
                                    </p:set>
                                    <p:animEffect transition="in" filter="fade">
                                      <p:cBhvr>
                                        <p:cTn id="17" dur="2000"/>
                                        <p:tgtEl>
                                          <p:spTgt spid="1024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243">
                                            <p:txEl>
                                              <p:pRg st="2" end="2"/>
                                            </p:txEl>
                                          </p:spTgt>
                                        </p:tgtEl>
                                        <p:attrNameLst>
                                          <p:attrName>style.visibility</p:attrName>
                                        </p:attrNameLst>
                                      </p:cBhvr>
                                      <p:to>
                                        <p:strVal val="visible"/>
                                      </p:to>
                                    </p:set>
                                    <p:animEffect transition="in" filter="fade">
                                      <p:cBhvr>
                                        <p:cTn id="22" dur="2000"/>
                                        <p:tgtEl>
                                          <p:spTgt spid="102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autoUpdateAnimBg="0"/>
      <p:bldP spid="10243" grpId="0" autoUpdateAnimBg="0" build="p"/>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Rot="1" noChangeArrowheads="1"/>
          </p:cNvSpPr>
          <p:nvPr>
            <p:ph type="title" idx="4294967295"/>
          </p:nvPr>
        </p:nvSpPr>
        <p:spPr>
          <a:xfrm>
            <a:off x="152400" y="1524000"/>
            <a:ext cx="8839200" cy="1524000"/>
          </a:xfrm>
          <a:gradFill rotWithShape="0">
            <a:gsLst>
              <a:gs pos="0">
                <a:srgbClr val="404552"/>
              </a:gs>
              <a:gs pos="50000">
                <a:schemeClr val="accent1"/>
              </a:gs>
              <a:gs pos="100000">
                <a:srgbClr val="404552"/>
              </a:gs>
            </a:gsLst>
            <a:lin ang="5400000" scaled="1"/>
          </a:gradFill>
        </p:spPr>
        <p:txBody>
          <a:bodyPr/>
          <a:lstStyle/>
          <a:p>
            <a:pPr eaLnBrk="1" hangingPunct="1">
              <a:defRPr/>
            </a:pPr>
            <a:r>
              <a:rPr lang="en-US" altLang="zh-CN" b="1" dirty="0" smtClean="0">
                <a:solidFill>
                  <a:schemeClr val="accent2"/>
                </a:solidFill>
                <a:effectLst>
                  <a:outerShdw blurRad="38100" dist="38100" dir="2700000" algn="tl">
                    <a:srgbClr val="000000"/>
                  </a:outerShdw>
                </a:effectLst>
                <a:latin typeface="仿宋_GB2312" pitchFamily="1" charset="-122"/>
                <a:ea typeface="仿宋_GB2312" pitchFamily="1" charset="-122"/>
              </a:rPr>
              <a:t>7</a:t>
            </a:r>
            <a:r>
              <a:rPr lang="en-US" b="1" dirty="0" smtClean="0">
                <a:solidFill>
                  <a:schemeClr val="accent2"/>
                </a:solidFill>
                <a:effectLst>
                  <a:outerShdw blurRad="38100" dist="38100" dir="2700000" algn="tl">
                    <a:srgbClr val="000000"/>
                  </a:outerShdw>
                </a:effectLst>
                <a:latin typeface="仿宋_GB2312" pitchFamily="1" charset="-122"/>
                <a:ea typeface="仿宋_GB2312" pitchFamily="1" charset="-122"/>
              </a:rPr>
              <a:t>.1 </a:t>
            </a:r>
            <a:r>
              <a:rPr lang="zh-CN" altLang="en-US" b="1" dirty="0" smtClean="0">
                <a:solidFill>
                  <a:schemeClr val="accent2"/>
                </a:solidFill>
                <a:effectLst>
                  <a:outerShdw blurRad="38100" dist="38100" dir="2700000" algn="tl">
                    <a:srgbClr val="000000"/>
                  </a:outerShdw>
                </a:effectLst>
                <a:ea typeface="仿宋_GB2312" pitchFamily="1" charset="-122"/>
              </a:rPr>
              <a:t>文件和文件系统</a:t>
            </a:r>
            <a:endParaRPr lang="zh-CN" altLang="en-US" dirty="0" smtClean="0">
              <a:effectLst>
                <a:outerShdw blurRad="38100" dist="38100" dir="2700000" algn="tl">
                  <a:srgbClr val="000000"/>
                </a:outerShdw>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266">
                                            <p:txEl>
                                              <p:charRg st="4294967295" end="4294967295"/>
                                            </p:txEl>
                                          </p:spTgt>
                                        </p:tgtEl>
                                        <p:attrNameLst>
                                          <p:attrName>style.visibility</p:attrName>
                                        </p:attrNameLst>
                                      </p:cBhvr>
                                      <p:to>
                                        <p:strVal val="visible"/>
                                      </p:to>
                                    </p:set>
                                    <p:animEffect transition="in" filter="fade">
                                      <p:cBhvr>
                                        <p:cTn id="7" dur="2000"/>
                                        <p:tgtEl>
                                          <p:spTgt spid="11266">
                                            <p:txEl>
                                              <p:charRg st="4294967295" end="42949672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8" name="Rectangle 9"/>
          <p:cNvSpPr>
            <a:spLocks noGrp="1" noRot="1" noChangeArrowheads="1"/>
          </p:cNvSpPr>
          <p:nvPr>
            <p:ph type="title" idx="4294967295"/>
          </p:nvPr>
        </p:nvSpPr>
        <p:spPr/>
        <p:txBody>
          <a:bodyPr/>
          <a:lstStyle/>
          <a:p>
            <a:pPr eaLnBrk="1" hangingPunct="1"/>
            <a:r>
              <a:rPr lang="en-US" altLang="zh-CN" b="1" dirty="0" smtClean="0">
                <a:solidFill>
                  <a:schemeClr val="folHlink"/>
                </a:solidFill>
              </a:rPr>
              <a:t>7.1.1</a:t>
            </a:r>
            <a:r>
              <a:rPr lang="zh-CN" altLang="en-US" b="1" dirty="0" smtClean="0">
                <a:solidFill>
                  <a:schemeClr val="folHlink"/>
                </a:solidFill>
              </a:rPr>
              <a:t>文件、记录和数据项</a:t>
            </a:r>
            <a:endParaRPr lang="zh-CN" altLang="en-US" b="1" dirty="0" smtClean="0">
              <a:solidFill>
                <a:schemeClr val="folHlink"/>
              </a:solidFill>
            </a:endParaRPr>
          </a:p>
        </p:txBody>
      </p:sp>
      <p:graphicFrame>
        <p:nvGraphicFramePr>
          <p:cNvPr id="1026" name="Object 4"/>
          <p:cNvGraphicFramePr>
            <a:graphicFrameLocks noGrp="1" noChangeAspect="1"/>
          </p:cNvGraphicFramePr>
          <p:nvPr>
            <p:ph sz="half" idx="4294967295"/>
          </p:nvPr>
        </p:nvGraphicFramePr>
        <p:xfrm>
          <a:off x="1066800" y="1890713"/>
          <a:ext cx="3024188" cy="1350962"/>
        </p:xfrm>
        <a:graphic>
          <a:graphicData uri="http://schemas.openxmlformats.org/presentationml/2006/ole">
            <mc:AlternateContent xmlns:mc="http://schemas.openxmlformats.org/markup-compatibility/2006">
              <mc:Choice xmlns:v="urn:schemas-microsoft-com:vml" Requires="v">
                <p:oleObj spid="_x0000_s1025" name="" r:id="rId1" imgW="2905125" imgH="1295400" progId="Visio.Drawing.11">
                  <p:embed/>
                </p:oleObj>
              </mc:Choice>
              <mc:Fallback>
                <p:oleObj name="" r:id="rId1" imgW="2905125" imgH="1295400" progId="Visio.Drawing.11">
                  <p:embed/>
                  <p:pic>
                    <p:nvPicPr>
                      <p:cNvPr id="0" name="图片 1024"/>
                      <p:cNvPicPr>
                        <a:picLocks noGrp="1" noChangeAspect="1"/>
                      </p:cNvPicPr>
                      <p:nvPr/>
                    </p:nvPicPr>
                    <p:blipFill>
                      <a:blip r:embed="rId2"/>
                      <a:stretch>
                        <a:fillRect/>
                      </a:stretch>
                    </p:blipFill>
                    <p:spPr>
                      <a:xfrm>
                        <a:off x="1066800" y="1890713"/>
                        <a:ext cx="3024188" cy="1350962"/>
                      </a:xfrm>
                      <a:prstGeom prst="rect">
                        <a:avLst/>
                      </a:prstGeom>
                      <a:noFill/>
                      <a:ln w="9525">
                        <a:noFill/>
                      </a:ln>
                    </p:spPr>
                  </p:pic>
                </p:oleObj>
              </mc:Fallback>
            </mc:AlternateContent>
          </a:graphicData>
        </a:graphic>
      </p:graphicFrame>
      <p:sp>
        <p:nvSpPr>
          <p:cNvPr id="1029" name="Rectangle 7"/>
          <p:cNvSpPr>
            <a:spLocks noChangeArrowheads="1"/>
          </p:cNvSpPr>
          <p:nvPr/>
        </p:nvSpPr>
        <p:spPr bwMode="auto">
          <a:xfrm>
            <a:off x="539750" y="1700213"/>
            <a:ext cx="7777163" cy="4751387"/>
          </a:xfrm>
          <a:prstGeom prst="rect">
            <a:avLst/>
          </a:prstGeom>
          <a:solidFill>
            <a:schemeClr val="tx2">
              <a:lumMod val="20000"/>
              <a:lumOff val="80000"/>
            </a:schemeClr>
          </a:solidFill>
          <a:ln w="9525">
            <a:solidFill>
              <a:schemeClr val="tx1"/>
            </a:solidFill>
            <a:miter lim="800000"/>
          </a:ln>
        </p:spPr>
        <p:txBody>
          <a:bodyPr wrap="none" anchor="ctr"/>
          <a:lstStyle/>
          <a:p>
            <a:endParaRPr lang="zh-CN" altLang="en-US"/>
          </a:p>
        </p:txBody>
      </p:sp>
      <p:graphicFrame>
        <p:nvGraphicFramePr>
          <p:cNvPr id="1027" name="Object 8"/>
          <p:cNvGraphicFramePr>
            <a:graphicFrameLocks noGrp="1" noChangeAspect="1"/>
          </p:cNvGraphicFramePr>
          <p:nvPr>
            <p:ph sz="half" idx="4294967295"/>
          </p:nvPr>
        </p:nvGraphicFramePr>
        <p:xfrm>
          <a:off x="288925" y="2060575"/>
          <a:ext cx="7885113" cy="3522663"/>
        </p:xfrm>
        <a:graphic>
          <a:graphicData uri="http://schemas.openxmlformats.org/presentationml/2006/ole">
            <mc:AlternateContent xmlns:mc="http://schemas.openxmlformats.org/markup-compatibility/2006">
              <mc:Choice xmlns:v="urn:schemas-microsoft-com:vml" Requires="v">
                <p:oleObj spid="_x0000_s1030" name="" r:id="rId3" imgW="3111500" imgH="1397000" progId="Visio.Drawing.11">
                  <p:embed/>
                </p:oleObj>
              </mc:Choice>
              <mc:Fallback>
                <p:oleObj name="" r:id="rId3" imgW="3111500" imgH="1397000" progId="Visio.Drawing.11">
                  <p:embed/>
                  <p:pic>
                    <p:nvPicPr>
                      <p:cNvPr id="0" name="图片 1029"/>
                      <p:cNvPicPr>
                        <a:picLocks noGrp="1" noChangeAspect="1"/>
                      </p:cNvPicPr>
                      <p:nvPr/>
                    </p:nvPicPr>
                    <p:blipFill>
                      <a:blip r:embed="rId4"/>
                      <a:stretch>
                        <a:fillRect/>
                      </a:stretch>
                    </p:blipFill>
                    <p:spPr>
                      <a:xfrm>
                        <a:off x="288925" y="2060575"/>
                        <a:ext cx="7885113" cy="3522663"/>
                      </a:xfrm>
                      <a:prstGeom prst="rect">
                        <a:avLst/>
                      </a:prstGeom>
                      <a:noFill/>
                      <a:ln w="9525">
                        <a:no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fade">
                                      <p:cBhvr>
                                        <p:cTn id="7" dur="20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8"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3"/>
          <p:cNvSpPr>
            <a:spLocks noGrp="1" noRot="1" noChangeArrowheads="1"/>
          </p:cNvSpPr>
          <p:nvPr>
            <p:ph type="body" idx="4294967295"/>
          </p:nvPr>
        </p:nvSpPr>
        <p:spPr>
          <a:xfrm>
            <a:off x="468313" y="1628775"/>
            <a:ext cx="8077200" cy="4498975"/>
          </a:xfrm>
        </p:spPr>
        <p:txBody>
          <a:bodyPr/>
          <a:lstStyle/>
          <a:p>
            <a:pPr eaLnBrk="1" hangingPunct="1"/>
            <a:r>
              <a:rPr lang="en-US" altLang="zh-CN" b="1" smtClean="0">
                <a:solidFill>
                  <a:schemeClr val="folHlink"/>
                </a:solidFill>
              </a:rPr>
              <a:t>(1) </a:t>
            </a:r>
            <a:r>
              <a:rPr lang="zh-CN" altLang="en-US" b="1" smtClean="0">
                <a:solidFill>
                  <a:schemeClr val="folHlink"/>
                </a:solidFill>
              </a:rPr>
              <a:t>基本数据项</a:t>
            </a:r>
            <a:endParaRPr lang="zh-CN" altLang="en-US" b="1" smtClean="0">
              <a:solidFill>
                <a:schemeClr val="folHlink"/>
              </a:solidFill>
            </a:endParaRPr>
          </a:p>
          <a:p>
            <a:pPr eaLnBrk="1" hangingPunct="1"/>
            <a:r>
              <a:rPr lang="zh-CN" altLang="en-US" b="1" smtClean="0"/>
              <a:t>这是用于描述一个对象的某种属性的字符集，是数据组织中可以命名的最小逻辑数据单位， 即原子数据，又称为数据元素或字段。它的命名往往与其属性一致。</a:t>
            </a:r>
            <a:endParaRPr lang="zh-CN" altLang="en-US" b="1" smtClean="0"/>
          </a:p>
          <a:p>
            <a:pPr eaLnBrk="1" hangingPunct="1"/>
            <a:r>
              <a:rPr lang="zh-CN" altLang="en-US" b="1" smtClean="0"/>
              <a:t>例如，用于描述一个学生的基本数据项有： 学号、 姓名、 年龄、 所在班级等。</a:t>
            </a:r>
            <a:endParaRPr lang="zh-CN" altLang="en-US" b="1" smtClean="0"/>
          </a:p>
        </p:txBody>
      </p:sp>
      <p:sp>
        <p:nvSpPr>
          <p:cNvPr id="13315" name="Rectangle 5"/>
          <p:cNvSpPr>
            <a:spLocks noGrp="1" noRot="1" noChangeArrowheads="1"/>
          </p:cNvSpPr>
          <p:nvPr>
            <p:ph type="title" idx="4294967295"/>
          </p:nvPr>
        </p:nvSpPr>
        <p:spPr>
          <a:xfrm>
            <a:off x="533400" y="417513"/>
            <a:ext cx="8077200" cy="850900"/>
          </a:xfrm>
        </p:spPr>
        <p:txBody>
          <a:bodyPr/>
          <a:lstStyle/>
          <a:p>
            <a:pPr eaLnBrk="1" hangingPunct="1">
              <a:defRPr/>
            </a:pPr>
            <a:r>
              <a:rPr lang="en-US" b="1" u="sng" smtClean="0">
                <a:solidFill>
                  <a:schemeClr val="folHlink"/>
                </a:solidFill>
                <a:effectLst>
                  <a:outerShdw blurRad="38100" dist="38100" dir="2700000" algn="tl">
                    <a:srgbClr val="000000"/>
                  </a:outerShdw>
                </a:effectLst>
              </a:rPr>
              <a:t>1. </a:t>
            </a:r>
            <a:r>
              <a:rPr lang="zh-CN" altLang="en-US" b="1" u="sng" smtClean="0">
                <a:solidFill>
                  <a:schemeClr val="folHlink"/>
                </a:solidFill>
                <a:effectLst>
                  <a:outerShdw blurRad="38100" dist="38100" dir="2700000" algn="tl">
                    <a:srgbClr val="000000"/>
                  </a:outerShdw>
                </a:effectLst>
              </a:rPr>
              <a:t>数据项</a:t>
            </a:r>
            <a:endParaRPr lang="zh-CN" altLang="en-US" b="1" u="sng" smtClean="0">
              <a:solidFill>
                <a:schemeClr val="folHlink"/>
              </a:solidFill>
              <a:effectLst>
                <a:outerShdw blurRad="38100" dist="38100" dir="2700000" algn="tl">
                  <a:srgbClr val="000000"/>
                </a:outerShdw>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315"/>
                                        </p:tgtEl>
                                        <p:attrNameLst>
                                          <p:attrName>style.visibility</p:attrName>
                                        </p:attrNameLst>
                                      </p:cBhvr>
                                      <p:to>
                                        <p:strVal val="visible"/>
                                      </p:to>
                                    </p:set>
                                    <p:animEffect transition="in" filter="fade">
                                      <p:cBhvr>
                                        <p:cTn id="7" dur="2000"/>
                                        <p:tgtEl>
                                          <p:spTgt spid="133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506">
                                            <p:txEl>
                                              <p:pRg st="0" end="0"/>
                                            </p:txEl>
                                          </p:spTgt>
                                        </p:tgtEl>
                                        <p:attrNameLst>
                                          <p:attrName>style.visibility</p:attrName>
                                        </p:attrNameLst>
                                      </p:cBhvr>
                                      <p:to>
                                        <p:strVal val="visible"/>
                                      </p:to>
                                    </p:set>
                                    <p:animEffect transition="in" filter="fade">
                                      <p:cBhvr>
                                        <p:cTn id="12" dur="2000"/>
                                        <p:tgtEl>
                                          <p:spTgt spid="2150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506">
                                            <p:txEl>
                                              <p:pRg st="1" end="1"/>
                                            </p:txEl>
                                          </p:spTgt>
                                        </p:tgtEl>
                                        <p:attrNameLst>
                                          <p:attrName>style.visibility</p:attrName>
                                        </p:attrNameLst>
                                      </p:cBhvr>
                                      <p:to>
                                        <p:strVal val="visible"/>
                                      </p:to>
                                    </p:set>
                                    <p:animEffect transition="in" filter="fade">
                                      <p:cBhvr>
                                        <p:cTn id="17" dur="2000"/>
                                        <p:tgtEl>
                                          <p:spTgt spid="2150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506">
                                            <p:txEl>
                                              <p:pRg st="2" end="2"/>
                                            </p:txEl>
                                          </p:spTgt>
                                        </p:tgtEl>
                                        <p:attrNameLst>
                                          <p:attrName>style.visibility</p:attrName>
                                        </p:attrNameLst>
                                      </p:cBhvr>
                                      <p:to>
                                        <p:strVal val="visible"/>
                                      </p:to>
                                    </p:set>
                                    <p:animEffect transition="in" filter="fade">
                                      <p:cBhvr>
                                        <p:cTn id="22" dur="2000"/>
                                        <p:tgtEl>
                                          <p:spTgt spid="2150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autoUpdateAnimBg="0" build="p"/>
      <p:bldP spid="13315"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3"/>
          <p:cNvSpPr>
            <a:spLocks noGrp="1" noRot="1" noChangeArrowheads="1"/>
          </p:cNvSpPr>
          <p:nvPr>
            <p:ph type="body" idx="4294967295"/>
          </p:nvPr>
        </p:nvSpPr>
        <p:spPr>
          <a:xfrm>
            <a:off x="533400" y="692150"/>
            <a:ext cx="8077200" cy="5480050"/>
          </a:xfrm>
        </p:spPr>
        <p:txBody>
          <a:bodyPr/>
          <a:lstStyle/>
          <a:p>
            <a:pPr eaLnBrk="1" hangingPunct="1"/>
            <a:r>
              <a:rPr lang="en-US" altLang="zh-CN" b="1" dirty="0" smtClean="0">
                <a:solidFill>
                  <a:schemeClr val="folHlink"/>
                </a:solidFill>
              </a:rPr>
              <a:t>(2) </a:t>
            </a:r>
            <a:r>
              <a:rPr lang="zh-CN" altLang="en-US" b="1" dirty="0" smtClean="0">
                <a:solidFill>
                  <a:schemeClr val="folHlink"/>
                </a:solidFill>
              </a:rPr>
              <a:t>组合数据项</a:t>
            </a:r>
            <a:endParaRPr lang="zh-CN" altLang="en-US" b="1" dirty="0" smtClean="0">
              <a:solidFill>
                <a:schemeClr val="folHlink"/>
              </a:solidFill>
            </a:endParaRPr>
          </a:p>
          <a:p>
            <a:pPr eaLnBrk="1" hangingPunct="1"/>
            <a:r>
              <a:rPr lang="zh-CN" altLang="en-US" sz="2800" b="1" dirty="0" smtClean="0">
                <a:solidFill>
                  <a:srgbClr val="FF0000"/>
                </a:solidFill>
              </a:rPr>
              <a:t>它是由若干个基本数据项组成的，简称组项。</a:t>
            </a:r>
            <a:endParaRPr lang="zh-CN" altLang="en-US" sz="2800" b="1" dirty="0" smtClean="0">
              <a:solidFill>
                <a:srgbClr val="FF0000"/>
              </a:solidFill>
            </a:endParaRPr>
          </a:p>
          <a:p>
            <a:pPr lvl="1" eaLnBrk="1" hangingPunct="1"/>
            <a:r>
              <a:rPr lang="zh-CN" altLang="en-US" b="1" dirty="0" smtClean="0"/>
              <a:t>例如，经理便是个组项，它由正经理和副经理两个基本项组成。又如，工资也是个组项，它可由基本工资、工龄工资和奖励工资等基本项所组成。</a:t>
            </a:r>
            <a:endParaRPr lang="zh-CN" altLang="en-US" b="1" dirty="0" smtClean="0"/>
          </a:p>
          <a:p>
            <a:pPr eaLnBrk="1" hangingPunct="1"/>
            <a:r>
              <a:rPr lang="zh-CN" altLang="en-US" sz="2800" b="1" dirty="0" smtClean="0">
                <a:solidFill>
                  <a:srgbClr val="FF0000"/>
                </a:solidFill>
              </a:rPr>
              <a:t>基本数据项除了数据名外，还应有数据类型。根据属性的不同，需要用不同的数据类型来描述。</a:t>
            </a:r>
            <a:endParaRPr lang="zh-CN" altLang="en-US" sz="2800" b="1" dirty="0" smtClean="0">
              <a:solidFill>
                <a:srgbClr val="FF0000"/>
              </a:solidFill>
            </a:endParaRPr>
          </a:p>
          <a:p>
            <a:pPr lvl="1" eaLnBrk="1" hangingPunct="1"/>
            <a:r>
              <a:rPr lang="zh-CN" altLang="en-US" b="1" dirty="0" smtClean="0"/>
              <a:t>例如，在描述学生的学号时，应使用整数； 描述学生的姓名则应使用字符串</a:t>
            </a:r>
            <a:r>
              <a:rPr lang="en-US" altLang="zh-CN" b="1" dirty="0" smtClean="0"/>
              <a:t>(</a:t>
            </a:r>
            <a:r>
              <a:rPr lang="zh-CN" altLang="en-US" b="1" dirty="0" smtClean="0"/>
              <a:t>含汉字</a:t>
            </a:r>
            <a:r>
              <a:rPr lang="en-US" altLang="zh-CN" b="1" dirty="0" smtClean="0"/>
              <a:t>)</a:t>
            </a:r>
            <a:r>
              <a:rPr lang="zh-CN" altLang="en-US" b="1" dirty="0" smtClean="0"/>
              <a:t>；描述性别时，可用逻辑变量或汉字。</a:t>
            </a:r>
            <a:endParaRPr lang="zh-CN" altLang="en-US" b="1"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fade">
                                      <p:cBhvr>
                                        <p:cTn id="7" dur="20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transition="in" filter="fade">
                                      <p:cBhvr>
                                        <p:cTn id="12" dur="2000"/>
                                        <p:tgtEl>
                                          <p:spTgt spid="22530">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2530">
                                            <p:txEl>
                                              <p:pRg st="2" end="2"/>
                                            </p:txEl>
                                          </p:spTgt>
                                        </p:tgtEl>
                                        <p:attrNameLst>
                                          <p:attrName>style.visibility</p:attrName>
                                        </p:attrNameLst>
                                      </p:cBhvr>
                                      <p:to>
                                        <p:strVal val="visible"/>
                                      </p:to>
                                    </p:set>
                                    <p:animEffect transition="in" filter="fade">
                                      <p:cBhvr>
                                        <p:cTn id="15" dur="2000"/>
                                        <p:tgtEl>
                                          <p:spTgt spid="22530">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2530">
                                            <p:txEl>
                                              <p:pRg st="3" end="3"/>
                                            </p:txEl>
                                          </p:spTgt>
                                        </p:tgtEl>
                                        <p:attrNameLst>
                                          <p:attrName>style.visibility</p:attrName>
                                        </p:attrNameLst>
                                      </p:cBhvr>
                                      <p:to>
                                        <p:strVal val="visible"/>
                                      </p:to>
                                    </p:set>
                                    <p:animEffect transition="in" filter="fade">
                                      <p:cBhvr>
                                        <p:cTn id="20" dur="2000"/>
                                        <p:tgtEl>
                                          <p:spTgt spid="22530">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2530">
                                            <p:txEl>
                                              <p:pRg st="4" end="4"/>
                                            </p:txEl>
                                          </p:spTgt>
                                        </p:tgtEl>
                                        <p:attrNameLst>
                                          <p:attrName>style.visibility</p:attrName>
                                        </p:attrNameLst>
                                      </p:cBhvr>
                                      <p:to>
                                        <p:strVal val="visible"/>
                                      </p:to>
                                    </p:set>
                                    <p:animEffect transition="in" filter="fade">
                                      <p:cBhvr>
                                        <p:cTn id="23" dur="2000"/>
                                        <p:tgtEl>
                                          <p:spTgt spid="2253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autoUpdateAnimBg="0" build="p"/>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3"/>
          <p:cNvSpPr>
            <a:spLocks noGrp="1" noRot="1" noChangeArrowheads="1"/>
          </p:cNvSpPr>
          <p:nvPr>
            <p:ph type="body" idx="4294967295"/>
          </p:nvPr>
        </p:nvSpPr>
        <p:spPr>
          <a:xfrm>
            <a:off x="533400" y="428604"/>
            <a:ext cx="8077200" cy="6024584"/>
          </a:xfrm>
        </p:spPr>
        <p:txBody>
          <a:bodyPr/>
          <a:lstStyle/>
          <a:p>
            <a:pPr eaLnBrk="1" hangingPunct="1">
              <a:lnSpc>
                <a:spcPct val="110000"/>
              </a:lnSpc>
            </a:pPr>
            <a:r>
              <a:rPr lang="en-US" altLang="zh-CN" b="1" dirty="0" smtClean="0">
                <a:solidFill>
                  <a:schemeClr val="folHlink"/>
                </a:solidFill>
              </a:rPr>
              <a:t>2. </a:t>
            </a:r>
            <a:r>
              <a:rPr lang="zh-CN" altLang="en-US" b="1" dirty="0" smtClean="0">
                <a:solidFill>
                  <a:schemeClr val="folHlink"/>
                </a:solidFill>
              </a:rPr>
              <a:t>记录</a:t>
            </a:r>
            <a:endParaRPr lang="zh-CN" altLang="en-US" b="1" dirty="0" smtClean="0">
              <a:solidFill>
                <a:schemeClr val="folHlink"/>
              </a:solidFill>
            </a:endParaRPr>
          </a:p>
          <a:p>
            <a:pPr eaLnBrk="1" hangingPunct="1">
              <a:lnSpc>
                <a:spcPct val="110000"/>
              </a:lnSpc>
            </a:pPr>
            <a:r>
              <a:rPr lang="zh-CN" altLang="en-US" sz="2000" dirty="0" smtClean="0"/>
              <a:t> </a:t>
            </a:r>
            <a:r>
              <a:rPr lang="zh-CN" altLang="en-US" sz="2400" b="1" dirty="0" smtClean="0"/>
              <a:t>记录是一组相关数据项的集合，用于描述一个对象在某方面的属性。</a:t>
            </a:r>
            <a:endParaRPr lang="zh-CN" altLang="en-US" sz="2400" b="1" dirty="0" smtClean="0"/>
          </a:p>
          <a:p>
            <a:pPr eaLnBrk="1" hangingPunct="1">
              <a:lnSpc>
                <a:spcPct val="110000"/>
              </a:lnSpc>
            </a:pPr>
            <a:r>
              <a:rPr lang="zh-CN" altLang="en-US" sz="2400" b="1" dirty="0" smtClean="0"/>
              <a:t>一个记录应包含哪些数据项，取决于需要描述对象的哪个方面。而一个对象，由于他所处的环境不同可把他作为不同的对象。 </a:t>
            </a:r>
            <a:endParaRPr lang="zh-CN" altLang="en-US" sz="2400" b="1" dirty="0" smtClean="0"/>
          </a:p>
          <a:p>
            <a:pPr eaLnBrk="1" hangingPunct="1">
              <a:lnSpc>
                <a:spcPct val="110000"/>
              </a:lnSpc>
            </a:pPr>
            <a:r>
              <a:rPr lang="zh-CN" altLang="en-US" sz="2400" b="1" dirty="0" smtClean="0"/>
              <a:t>例如，一个学生，当把他作为班上的一名学生时， 对他的描述应使用学号、姓名、年龄及所在系班，也可能还包括他所学过的课程的名称、 成绩等数据项。 但若把学生作为一个医疗对象时，对他描述的数据项则应使用诸如病历号、 姓名、 性别、 出生年月、 身高、 体重、 血压及病史等项。</a:t>
            </a:r>
            <a:endParaRPr lang="zh-CN" altLang="en-US" sz="2400" b="1"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animEffect transition="in" filter="fade">
                                      <p:cBhvr>
                                        <p:cTn id="7" dur="2000"/>
                                        <p:tgtEl>
                                          <p:spTgt spid="235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554">
                                            <p:txEl>
                                              <p:pRg st="1" end="1"/>
                                            </p:txEl>
                                          </p:spTgt>
                                        </p:tgtEl>
                                        <p:attrNameLst>
                                          <p:attrName>style.visibility</p:attrName>
                                        </p:attrNameLst>
                                      </p:cBhvr>
                                      <p:to>
                                        <p:strVal val="visible"/>
                                      </p:to>
                                    </p:set>
                                    <p:animEffect transition="in" filter="fade">
                                      <p:cBhvr>
                                        <p:cTn id="12" dur="2000"/>
                                        <p:tgtEl>
                                          <p:spTgt spid="2355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554">
                                            <p:txEl>
                                              <p:pRg st="2" end="2"/>
                                            </p:txEl>
                                          </p:spTgt>
                                        </p:tgtEl>
                                        <p:attrNameLst>
                                          <p:attrName>style.visibility</p:attrName>
                                        </p:attrNameLst>
                                      </p:cBhvr>
                                      <p:to>
                                        <p:strVal val="visible"/>
                                      </p:to>
                                    </p:set>
                                    <p:animEffect transition="in" filter="fade">
                                      <p:cBhvr>
                                        <p:cTn id="17" dur="2000"/>
                                        <p:tgtEl>
                                          <p:spTgt spid="2355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3554">
                                            <p:txEl>
                                              <p:pRg st="3" end="3"/>
                                            </p:txEl>
                                          </p:spTgt>
                                        </p:tgtEl>
                                        <p:attrNameLst>
                                          <p:attrName>style.visibility</p:attrName>
                                        </p:attrNameLst>
                                      </p:cBhvr>
                                      <p:to>
                                        <p:strVal val="visible"/>
                                      </p:to>
                                    </p:set>
                                    <p:animEffect transition="in" filter="fade">
                                      <p:cBhvr>
                                        <p:cTn id="22" dur="2000"/>
                                        <p:tgtEl>
                                          <p:spTgt spid="2355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autoUpdateAnimBg="0" build="p"/>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p:cNvSpPr>
            <a:spLocks noGrp="1" noRot="1" noChangeArrowheads="1"/>
          </p:cNvSpPr>
          <p:nvPr>
            <p:ph type="title" idx="4294967295"/>
          </p:nvPr>
        </p:nvSpPr>
        <p:spPr>
          <a:xfrm>
            <a:off x="533400" y="188913"/>
            <a:ext cx="8077200" cy="850900"/>
          </a:xfrm>
        </p:spPr>
        <p:txBody>
          <a:bodyPr/>
          <a:lstStyle/>
          <a:p>
            <a:pPr eaLnBrk="1" hangingPunct="1">
              <a:defRPr/>
            </a:pPr>
            <a:r>
              <a:rPr lang="en-US" b="1" u="sng" smtClean="0">
                <a:solidFill>
                  <a:schemeClr val="folHlink"/>
                </a:solidFill>
                <a:effectLst>
                  <a:outerShdw blurRad="38100" dist="38100" dir="2700000" algn="tl">
                    <a:srgbClr val="000000"/>
                  </a:outerShdw>
                </a:effectLst>
                <a:ea typeface="仿宋_GB2312" pitchFamily="1" charset="-122"/>
              </a:rPr>
              <a:t>3.</a:t>
            </a:r>
            <a:r>
              <a:rPr lang="zh-CN" altLang="en-US" b="1" u="sng" smtClean="0">
                <a:solidFill>
                  <a:schemeClr val="folHlink"/>
                </a:solidFill>
                <a:effectLst>
                  <a:outerShdw blurRad="38100" dist="38100" dir="2700000" algn="tl">
                    <a:srgbClr val="000000"/>
                  </a:outerShdw>
                </a:effectLst>
                <a:ea typeface="仿宋_GB2312" pitchFamily="1" charset="-122"/>
              </a:rPr>
              <a:t>文件</a:t>
            </a:r>
            <a:endParaRPr lang="zh-CN" altLang="en-US" b="1" u="sng" smtClean="0">
              <a:solidFill>
                <a:schemeClr val="folHlink"/>
              </a:solidFill>
              <a:effectLst>
                <a:outerShdw blurRad="38100" dist="38100" dir="2700000" algn="tl">
                  <a:srgbClr val="000000"/>
                </a:outerShdw>
              </a:effectLst>
              <a:ea typeface="仿宋_GB2312" pitchFamily="1" charset="-122"/>
            </a:endParaRPr>
          </a:p>
        </p:txBody>
      </p:sp>
      <p:sp>
        <p:nvSpPr>
          <p:cNvPr id="16387" name="Rectangle 3"/>
          <p:cNvSpPr>
            <a:spLocks noGrp="1" noRot="1" noChangeArrowheads="1"/>
          </p:cNvSpPr>
          <p:nvPr>
            <p:ph type="body" idx="4294967295"/>
          </p:nvPr>
        </p:nvSpPr>
        <p:spPr>
          <a:xfrm>
            <a:off x="395288" y="1339850"/>
            <a:ext cx="8215312" cy="5257800"/>
          </a:xfrm>
        </p:spPr>
        <p:txBody>
          <a:bodyPr/>
          <a:lstStyle/>
          <a:p>
            <a:pPr eaLnBrk="1" hangingPunct="1">
              <a:lnSpc>
                <a:spcPct val="90000"/>
              </a:lnSpc>
              <a:defRPr/>
            </a:pPr>
            <a:r>
              <a:rPr lang="zh-CN" altLang="en-US" b="1" smtClean="0"/>
              <a:t>文件是指由创建者所定义的、  具有文件名的一组相关元素的集合，可分为有结构文件和无结构文件两种。</a:t>
            </a:r>
            <a:endParaRPr lang="zh-CN" altLang="en-US" b="1" smtClean="0">
              <a:effectLst>
                <a:outerShdw blurRad="38100" dist="38100" dir="2700000" algn="tl">
                  <a:srgbClr val="000000"/>
                </a:outerShdw>
              </a:effectLst>
              <a:latin typeface="仿宋_GB2312" pitchFamily="1" charset="-122"/>
              <a:ea typeface="仿宋_GB2312" pitchFamily="1" charset="-122"/>
            </a:endParaRPr>
          </a:p>
          <a:p>
            <a:pPr lvl="1" eaLnBrk="1" hangingPunct="1">
              <a:lnSpc>
                <a:spcPct val="90000"/>
              </a:lnSpc>
              <a:defRPr/>
            </a:pPr>
            <a:r>
              <a:rPr lang="zh-CN" altLang="en-US" b="1" smtClean="0">
                <a:solidFill>
                  <a:schemeClr val="folHlink"/>
                </a:solidFill>
              </a:rPr>
              <a:t>有结构的文件：文件由若干个相关记录组成；</a:t>
            </a:r>
            <a:endParaRPr lang="zh-CN" altLang="en-US" b="1" smtClean="0">
              <a:solidFill>
                <a:schemeClr val="folHlink"/>
              </a:solidFill>
            </a:endParaRPr>
          </a:p>
          <a:p>
            <a:pPr lvl="1" eaLnBrk="1" hangingPunct="1">
              <a:lnSpc>
                <a:spcPct val="90000"/>
              </a:lnSpc>
              <a:defRPr/>
            </a:pPr>
            <a:r>
              <a:rPr lang="zh-CN" altLang="en-US" b="1" smtClean="0">
                <a:solidFill>
                  <a:schemeClr val="folHlink"/>
                </a:solidFill>
              </a:rPr>
              <a:t>而无结构文件：被看成是一个字符流。</a:t>
            </a:r>
            <a:endParaRPr lang="zh-CN" altLang="en-US" b="1" smtClean="0">
              <a:solidFill>
                <a:schemeClr val="folHlink"/>
              </a:solidFill>
            </a:endParaRPr>
          </a:p>
          <a:p>
            <a:pPr eaLnBrk="1" hangingPunct="1">
              <a:lnSpc>
                <a:spcPct val="90000"/>
              </a:lnSpc>
              <a:defRPr/>
            </a:pPr>
            <a:endParaRPr lang="zh-CN" altLang="en-US" b="1" smtClean="0">
              <a:solidFill>
                <a:schemeClr val="folHlink"/>
              </a:solidFill>
            </a:endParaRPr>
          </a:p>
          <a:p>
            <a:pPr algn="just" eaLnBrk="1" hangingPunct="1">
              <a:lnSpc>
                <a:spcPct val="90000"/>
              </a:lnSpc>
              <a:spcBef>
                <a:spcPct val="50000"/>
              </a:spcBef>
              <a:buClrTx/>
              <a:buSzTx/>
              <a:buFont typeface="Wingdings" panose="05000000000000000000" pitchFamily="2" charset="2"/>
              <a:buNone/>
              <a:defRPr/>
            </a:pPr>
            <a:r>
              <a:rPr lang="zh-CN" altLang="en-US" b="1" smtClean="0"/>
              <a:t>	例如，可以将一个班的学生记录作为一个文件。一个文件必须要有一个文件名， 有的系统中把名字规定为</a:t>
            </a:r>
            <a:r>
              <a:rPr lang="en-US" b="1" smtClean="0"/>
              <a:t>8</a:t>
            </a:r>
            <a:r>
              <a:rPr lang="zh-CN" altLang="en-US" b="1" smtClean="0"/>
              <a:t>个字符，而在有的系统中又规定可用</a:t>
            </a:r>
            <a:r>
              <a:rPr lang="en-US" b="1" smtClean="0"/>
              <a:t>14</a:t>
            </a:r>
            <a:r>
              <a:rPr lang="zh-CN" altLang="en-US" b="1" smtClean="0"/>
              <a:t>个字符。</a:t>
            </a:r>
            <a:r>
              <a:rPr lang="zh-CN" altLang="en-US" smtClean="0"/>
              <a:t> </a:t>
            </a:r>
            <a:endParaRPr lang="zh-CN" altLang="en-US" smtClean="0"/>
          </a:p>
          <a:p>
            <a:pPr eaLnBrk="1" hangingPunct="1">
              <a:lnSpc>
                <a:spcPct val="90000"/>
              </a:lnSpc>
              <a:defRPr/>
            </a:pPr>
            <a:endParaRPr lang="en-US" b="1"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6386"/>
                                        </p:tgtEl>
                                        <p:attrNameLst>
                                          <p:attrName>style.visibility</p:attrName>
                                        </p:attrNameLst>
                                      </p:cBhvr>
                                      <p:to>
                                        <p:strVal val="visible"/>
                                      </p:to>
                                    </p:set>
                                    <p:animEffect transition="in" filter="fade">
                                      <p:cBhvr>
                                        <p:cTn id="7" dur="2000"/>
                                        <p:tgtEl>
                                          <p:spTgt spid="1638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387">
                                            <p:txEl>
                                              <p:pRg st="0" end="0"/>
                                            </p:txEl>
                                          </p:spTgt>
                                        </p:tgtEl>
                                        <p:attrNameLst>
                                          <p:attrName>style.visibility</p:attrName>
                                        </p:attrNameLst>
                                      </p:cBhvr>
                                      <p:to>
                                        <p:strVal val="visible"/>
                                      </p:to>
                                    </p:set>
                                    <p:animEffect transition="in" filter="fade">
                                      <p:cBhvr>
                                        <p:cTn id="12" dur="2000"/>
                                        <p:tgtEl>
                                          <p:spTgt spid="16387">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387">
                                            <p:txEl>
                                              <p:pRg st="1" end="1"/>
                                            </p:txEl>
                                          </p:spTgt>
                                        </p:tgtEl>
                                        <p:attrNameLst>
                                          <p:attrName>style.visibility</p:attrName>
                                        </p:attrNameLst>
                                      </p:cBhvr>
                                      <p:to>
                                        <p:strVal val="visible"/>
                                      </p:to>
                                    </p:set>
                                    <p:animEffect transition="in" filter="fade">
                                      <p:cBhvr>
                                        <p:cTn id="15" dur="2000"/>
                                        <p:tgtEl>
                                          <p:spTgt spid="16387">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6387">
                                            <p:txEl>
                                              <p:pRg st="2" end="2"/>
                                            </p:txEl>
                                          </p:spTgt>
                                        </p:tgtEl>
                                        <p:attrNameLst>
                                          <p:attrName>style.visibility</p:attrName>
                                        </p:attrNameLst>
                                      </p:cBhvr>
                                      <p:to>
                                        <p:strVal val="visible"/>
                                      </p:to>
                                    </p:set>
                                    <p:animEffect transition="in" filter="fade">
                                      <p:cBhvr>
                                        <p:cTn id="18" dur="2000"/>
                                        <p:tgtEl>
                                          <p:spTgt spid="1638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6387">
                                            <p:txEl>
                                              <p:pRg st="4" end="4"/>
                                            </p:txEl>
                                          </p:spTgt>
                                        </p:tgtEl>
                                        <p:attrNameLst>
                                          <p:attrName>style.visibility</p:attrName>
                                        </p:attrNameLst>
                                      </p:cBhvr>
                                      <p:to>
                                        <p:strVal val="visible"/>
                                      </p:to>
                                    </p:set>
                                    <p:animEffect transition="in" filter="fade">
                                      <p:cBhvr>
                                        <p:cTn id="23" dur="2000"/>
                                        <p:tgtEl>
                                          <p:spTgt spid="1638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autoUpdateAnimBg="0"/>
      <p:bldP spid="16387" grpId="0" autoUpdateAnimBg="0" build="p"/>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2"/>
          <p:cNvSpPr>
            <a:spLocks noGrp="1" noRot="1" noChangeArrowheads="1"/>
          </p:cNvSpPr>
          <p:nvPr>
            <p:ph type="title" idx="4294967295"/>
          </p:nvPr>
        </p:nvSpPr>
        <p:spPr/>
        <p:txBody>
          <a:bodyPr/>
          <a:lstStyle/>
          <a:p>
            <a:pPr eaLnBrk="1" hangingPunct="1">
              <a:defRPr/>
            </a:pPr>
            <a:r>
              <a:rPr lang="zh-CN" b="1" smtClean="0">
                <a:solidFill>
                  <a:schemeClr val="folHlink"/>
                </a:solidFill>
                <a:effectLst>
                  <a:outerShdw blurRad="38100" dist="38100" dir="2700000" algn="tl">
                    <a:srgbClr val="000000"/>
                  </a:outerShdw>
                </a:effectLst>
              </a:rPr>
              <a:t>文件的属性</a:t>
            </a:r>
            <a:endParaRPr lang="zh-CN" b="1" smtClean="0">
              <a:solidFill>
                <a:schemeClr val="folHlink"/>
              </a:solidFill>
              <a:effectLst>
                <a:outerShdw blurRad="38100" dist="38100" dir="2700000" algn="tl">
                  <a:srgbClr val="000000"/>
                </a:outerShdw>
              </a:effectLst>
            </a:endParaRPr>
          </a:p>
        </p:txBody>
      </p:sp>
      <p:sp>
        <p:nvSpPr>
          <p:cNvPr id="25603" name="Text Box 4"/>
          <p:cNvSpPr>
            <a:spLocks noGrp="1" noChangeArrowheads="1"/>
          </p:cNvSpPr>
          <p:nvPr>
            <p:ph type="body" idx="4294967295"/>
          </p:nvPr>
        </p:nvSpPr>
        <p:spPr>
          <a:noFill/>
        </p:spPr>
        <p:txBody>
          <a:bodyPr/>
          <a:lstStyle/>
          <a:p>
            <a:pPr marL="457200" indent="-457200" eaLnBrk="1" hangingPunct="1"/>
            <a:r>
              <a:rPr lang="en-US" altLang="zh-CN" b="1" smtClean="0"/>
              <a:t> </a:t>
            </a:r>
            <a:r>
              <a:rPr lang="zh-CN" altLang="en-US" b="1" smtClean="0"/>
              <a:t>文件的属性可以包括：</a:t>
            </a:r>
            <a:endParaRPr lang="zh-CN" altLang="en-US" b="1" smtClean="0"/>
          </a:p>
          <a:p>
            <a:pPr marL="457200" indent="-457200" eaLnBrk="1" hangingPunct="1"/>
            <a:r>
              <a:rPr lang="en-US" altLang="zh-CN" b="1" smtClean="0"/>
              <a:t>(1)</a:t>
            </a:r>
            <a:r>
              <a:rPr lang="zh-CN" altLang="en-US" b="1" smtClean="0"/>
              <a:t>文件类型。</a:t>
            </a:r>
            <a:endParaRPr lang="zh-CN" altLang="en-US" b="1" smtClean="0"/>
          </a:p>
          <a:p>
            <a:pPr marL="457200" indent="-457200" eaLnBrk="1" hangingPunct="1"/>
            <a:r>
              <a:rPr lang="en-US" altLang="zh-CN" b="1" smtClean="0"/>
              <a:t>(2) </a:t>
            </a:r>
            <a:r>
              <a:rPr lang="zh-CN" altLang="en-US" b="1" smtClean="0"/>
              <a:t>文件长度。 </a:t>
            </a:r>
            <a:endParaRPr lang="zh-CN" altLang="en-US" b="1" smtClean="0"/>
          </a:p>
          <a:p>
            <a:pPr marL="457200" indent="-457200" eaLnBrk="1" hangingPunct="1"/>
            <a:r>
              <a:rPr lang="en-US" altLang="zh-CN" b="1" smtClean="0"/>
              <a:t>(3) </a:t>
            </a:r>
            <a:r>
              <a:rPr lang="zh-CN" altLang="en-US" b="1" smtClean="0"/>
              <a:t>文件的物理位置。 </a:t>
            </a:r>
            <a:endParaRPr lang="zh-CN" altLang="en-US" b="1" smtClean="0"/>
          </a:p>
          <a:p>
            <a:pPr marL="457200" indent="-457200" eaLnBrk="1" hangingPunct="1"/>
            <a:r>
              <a:rPr lang="en-US" altLang="zh-CN" b="1" smtClean="0"/>
              <a:t>(4) </a:t>
            </a:r>
            <a:r>
              <a:rPr lang="zh-CN" altLang="en-US" b="1" smtClean="0"/>
              <a:t>文件的建立时间。  </a:t>
            </a:r>
            <a:endParaRPr lang="zh-CN" altLang="en-US" b="1"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fade">
                                      <p:cBhvr>
                                        <p:cTn id="7" dur="2000"/>
                                        <p:tgtEl>
                                          <p:spTgt spid="174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603">
                                            <p:txEl>
                                              <p:pRg st="0" end="0"/>
                                            </p:txEl>
                                          </p:spTgt>
                                        </p:tgtEl>
                                        <p:attrNameLst>
                                          <p:attrName>style.visibility</p:attrName>
                                        </p:attrNameLst>
                                      </p:cBhvr>
                                      <p:to>
                                        <p:strVal val="visible"/>
                                      </p:to>
                                    </p:set>
                                    <p:animEffect transition="in" filter="fade">
                                      <p:cBhvr>
                                        <p:cTn id="12" dur="2000"/>
                                        <p:tgtEl>
                                          <p:spTgt spid="2560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603">
                                            <p:txEl>
                                              <p:pRg st="1" end="1"/>
                                            </p:txEl>
                                          </p:spTgt>
                                        </p:tgtEl>
                                        <p:attrNameLst>
                                          <p:attrName>style.visibility</p:attrName>
                                        </p:attrNameLst>
                                      </p:cBhvr>
                                      <p:to>
                                        <p:strVal val="visible"/>
                                      </p:to>
                                    </p:set>
                                    <p:animEffect transition="in" filter="fade">
                                      <p:cBhvr>
                                        <p:cTn id="17" dur="2000"/>
                                        <p:tgtEl>
                                          <p:spTgt spid="2560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5603">
                                            <p:txEl>
                                              <p:pRg st="2" end="2"/>
                                            </p:txEl>
                                          </p:spTgt>
                                        </p:tgtEl>
                                        <p:attrNameLst>
                                          <p:attrName>style.visibility</p:attrName>
                                        </p:attrNameLst>
                                      </p:cBhvr>
                                      <p:to>
                                        <p:strVal val="visible"/>
                                      </p:to>
                                    </p:set>
                                    <p:animEffect transition="in" filter="fade">
                                      <p:cBhvr>
                                        <p:cTn id="22" dur="2000"/>
                                        <p:tgtEl>
                                          <p:spTgt spid="2560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5603">
                                            <p:txEl>
                                              <p:pRg st="3" end="3"/>
                                            </p:txEl>
                                          </p:spTgt>
                                        </p:tgtEl>
                                        <p:attrNameLst>
                                          <p:attrName>style.visibility</p:attrName>
                                        </p:attrNameLst>
                                      </p:cBhvr>
                                      <p:to>
                                        <p:strVal val="visible"/>
                                      </p:to>
                                    </p:set>
                                    <p:animEffect transition="in" filter="fade">
                                      <p:cBhvr>
                                        <p:cTn id="27" dur="2000"/>
                                        <p:tgtEl>
                                          <p:spTgt spid="2560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5603">
                                            <p:txEl>
                                              <p:pRg st="4" end="4"/>
                                            </p:txEl>
                                          </p:spTgt>
                                        </p:tgtEl>
                                        <p:attrNameLst>
                                          <p:attrName>style.visibility</p:attrName>
                                        </p:attrNameLst>
                                      </p:cBhvr>
                                      <p:to>
                                        <p:strVal val="visible"/>
                                      </p:to>
                                    </p:set>
                                    <p:animEffect transition="in" filter="fade">
                                      <p:cBhvr>
                                        <p:cTn id="32" dur="2000"/>
                                        <p:tgtEl>
                                          <p:spTgt spid="256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autoUpdateAnimBg="0"/>
      <p:bldP spid="25603" grpId="0" autoUpdateAnimBg="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3"/>
          <p:cNvSpPr txBox="1">
            <a:spLocks noChangeArrowheads="1"/>
          </p:cNvSpPr>
          <p:nvPr/>
        </p:nvSpPr>
        <p:spPr bwMode="auto">
          <a:xfrm>
            <a:off x="468313" y="1285875"/>
            <a:ext cx="3024187" cy="641350"/>
          </a:xfrm>
          <a:prstGeom prst="rect">
            <a:avLst/>
          </a:prstGeom>
          <a:noFill/>
          <a:ln w="9525">
            <a:noFill/>
            <a:miter lim="800000"/>
          </a:ln>
        </p:spPr>
        <p:txBody>
          <a:bodyPr>
            <a:spAutoFit/>
          </a:bodyPr>
          <a:lstStyle/>
          <a:p>
            <a:r>
              <a:rPr lang="en-US" altLang="zh-CN" sz="3600" b="1">
                <a:solidFill>
                  <a:schemeClr val="folHlink"/>
                </a:solidFill>
                <a:latin typeface="Times New Roman" panose="02020603050405020304" pitchFamily="18" charset="0"/>
              </a:rPr>
              <a:t>1. </a:t>
            </a:r>
            <a:r>
              <a:rPr lang="zh-CN" altLang="en-US" sz="3600" b="1">
                <a:solidFill>
                  <a:schemeClr val="folHlink"/>
                </a:solidFill>
                <a:latin typeface="Times New Roman" panose="02020603050405020304" pitchFamily="18" charset="0"/>
              </a:rPr>
              <a:t>文件类型</a:t>
            </a:r>
            <a:endParaRPr lang="zh-CN" altLang="en-US" sz="3600" b="1">
              <a:solidFill>
                <a:schemeClr val="folHlink"/>
              </a:solidFill>
              <a:latin typeface="Times New Roman" panose="02020603050405020304" pitchFamily="18" charset="0"/>
            </a:endParaRPr>
          </a:p>
        </p:txBody>
      </p:sp>
      <p:sp>
        <p:nvSpPr>
          <p:cNvPr id="26627" name="Text Box 4"/>
          <p:cNvSpPr txBox="1">
            <a:spLocks noChangeArrowheads="1"/>
          </p:cNvSpPr>
          <p:nvPr/>
        </p:nvSpPr>
        <p:spPr bwMode="auto">
          <a:xfrm>
            <a:off x="539750" y="1701800"/>
            <a:ext cx="7993063" cy="4602163"/>
          </a:xfrm>
          <a:prstGeom prst="rect">
            <a:avLst/>
          </a:prstGeom>
          <a:noFill/>
          <a:ln w="9525">
            <a:noFill/>
            <a:miter lim="800000"/>
          </a:ln>
        </p:spPr>
        <p:txBody>
          <a:bodyPr>
            <a:spAutoFit/>
          </a:bodyPr>
          <a:lstStyle/>
          <a:p>
            <a:pPr marL="457200" indent="-457200">
              <a:lnSpc>
                <a:spcPct val="200000"/>
              </a:lnSpc>
              <a:buFont typeface="Arial" panose="020B0604020202020204" pitchFamily="34" charset="0"/>
              <a:buAutoNum type="arabicParenR"/>
            </a:pPr>
            <a:r>
              <a:rPr lang="zh-CN" altLang="en-US" sz="3200" b="1">
                <a:solidFill>
                  <a:schemeClr val="hlink"/>
                </a:solidFill>
                <a:latin typeface="Times New Roman" panose="02020603050405020304" pitchFamily="18" charset="0"/>
              </a:rPr>
              <a:t>按用途分类</a:t>
            </a:r>
            <a:endParaRPr lang="zh-CN" altLang="en-US" sz="3200" b="1">
              <a:solidFill>
                <a:schemeClr val="hlink"/>
              </a:solidFill>
              <a:latin typeface="Times New Roman" panose="02020603050405020304" pitchFamily="18" charset="0"/>
            </a:endParaRPr>
          </a:p>
          <a:p>
            <a:pPr marL="457200" indent="-457200"/>
            <a:r>
              <a:rPr lang="zh-CN" altLang="en-US" sz="2800" b="1">
                <a:solidFill>
                  <a:schemeClr val="folHlink"/>
                </a:solidFill>
                <a:latin typeface="Times New Roman" panose="02020603050405020304" pitchFamily="18" charset="0"/>
              </a:rPr>
              <a:t>（</a:t>
            </a:r>
            <a:r>
              <a:rPr lang="en-US" altLang="zh-CN" sz="2800" b="1">
                <a:solidFill>
                  <a:schemeClr val="folHlink"/>
                </a:solidFill>
                <a:latin typeface="Times New Roman" panose="02020603050405020304" pitchFamily="18" charset="0"/>
              </a:rPr>
              <a:t>1</a:t>
            </a:r>
            <a:r>
              <a:rPr lang="zh-CN" altLang="en-US" sz="2800" b="1">
                <a:solidFill>
                  <a:schemeClr val="folHlink"/>
                </a:solidFill>
                <a:latin typeface="Times New Roman" panose="02020603050405020304" pitchFamily="18" charset="0"/>
              </a:rPr>
              <a:t>）系统文件  </a:t>
            </a:r>
            <a:r>
              <a:rPr lang="zh-CN" altLang="en-US" sz="2400" b="1"/>
              <a:t>这是指由系统软件构成的文件。大多数的系统文件只允许用户调用，但不允许用户去读，更不允许修改；有的系统文件不直接对用户开放</a:t>
            </a:r>
            <a:r>
              <a:rPr lang="zh-CN" altLang="en-US"/>
              <a:t>。</a:t>
            </a:r>
            <a:endParaRPr lang="zh-CN" altLang="en-US"/>
          </a:p>
          <a:p>
            <a:pPr marL="457200" indent="-457200"/>
            <a:endParaRPr lang="zh-CN" altLang="en-US" sz="2800" b="1">
              <a:latin typeface="Times New Roman" panose="02020603050405020304" pitchFamily="18" charset="0"/>
            </a:endParaRPr>
          </a:p>
          <a:p>
            <a:pPr marL="457200" indent="-457200"/>
            <a:r>
              <a:rPr lang="en-US" altLang="zh-CN" sz="2800" b="1">
                <a:solidFill>
                  <a:schemeClr val="folHlink"/>
                </a:solidFill>
                <a:latin typeface="Times New Roman" panose="02020603050405020304" pitchFamily="18" charset="0"/>
              </a:rPr>
              <a:t>(2) </a:t>
            </a:r>
            <a:r>
              <a:rPr lang="zh-CN" altLang="en-US" sz="2800" b="1">
                <a:solidFill>
                  <a:schemeClr val="folHlink"/>
                </a:solidFill>
                <a:latin typeface="Times New Roman" panose="02020603050405020304" pitchFamily="18" charset="0"/>
              </a:rPr>
              <a:t>用户文件</a:t>
            </a:r>
            <a:r>
              <a:rPr lang="zh-CN" altLang="en-US" sz="2800" b="1">
                <a:latin typeface="Times New Roman" panose="02020603050405020304" pitchFamily="18" charset="0"/>
              </a:rPr>
              <a:t> </a:t>
            </a:r>
            <a:r>
              <a:rPr lang="zh-CN" altLang="en-US" sz="2400" b="1"/>
              <a:t>由用户的源代码、目标文件、可执行文件或数据等所构成的文件。</a:t>
            </a:r>
            <a:endParaRPr lang="zh-CN" altLang="en-US" sz="2400" b="1"/>
          </a:p>
          <a:p>
            <a:pPr marL="457200" indent="-457200"/>
            <a:endParaRPr lang="zh-CN" altLang="en-US" sz="2400" b="1">
              <a:latin typeface="Times New Roman" panose="02020603050405020304" pitchFamily="18" charset="0"/>
            </a:endParaRPr>
          </a:p>
          <a:p>
            <a:pPr marL="457200" indent="-457200"/>
            <a:r>
              <a:rPr lang="en-US" altLang="zh-CN" sz="2800" b="1">
                <a:solidFill>
                  <a:schemeClr val="folHlink"/>
                </a:solidFill>
                <a:latin typeface="Times New Roman" panose="02020603050405020304" pitchFamily="18" charset="0"/>
              </a:rPr>
              <a:t>(3) </a:t>
            </a:r>
            <a:r>
              <a:rPr lang="zh-CN" altLang="en-US" sz="2800" b="1">
                <a:solidFill>
                  <a:schemeClr val="folHlink"/>
                </a:solidFill>
                <a:latin typeface="Times New Roman" panose="02020603050405020304" pitchFamily="18" charset="0"/>
              </a:rPr>
              <a:t>库文件</a:t>
            </a:r>
            <a:r>
              <a:rPr lang="zh-CN" altLang="en-US" sz="2800" b="1">
                <a:latin typeface="Times New Roman" panose="02020603050405020304" pitchFamily="18" charset="0"/>
              </a:rPr>
              <a:t> </a:t>
            </a:r>
            <a:r>
              <a:rPr lang="zh-CN" altLang="en-US"/>
              <a:t> </a:t>
            </a:r>
            <a:r>
              <a:rPr lang="zh-CN" altLang="en-US" sz="2400" b="1"/>
              <a:t>这是由标准子例程及常用的例程等所构成的文件。这类文件允许用户调用，但不允许修改。</a:t>
            </a:r>
            <a:endParaRPr lang="zh-CN" altLang="en-US" sz="2400" b="1"/>
          </a:p>
        </p:txBody>
      </p:sp>
      <p:sp>
        <p:nvSpPr>
          <p:cNvPr id="26628" name="Rectangle 5"/>
          <p:cNvSpPr>
            <a:spLocks noRot="1" noChangeArrowheads="1"/>
          </p:cNvSpPr>
          <p:nvPr/>
        </p:nvSpPr>
        <p:spPr bwMode="auto">
          <a:xfrm>
            <a:off x="254000" y="187325"/>
            <a:ext cx="8077200" cy="1066800"/>
          </a:xfrm>
          <a:prstGeom prst="rect">
            <a:avLst/>
          </a:prstGeom>
          <a:noFill/>
          <a:ln w="9525">
            <a:noFill/>
            <a:miter lim="800000"/>
          </a:ln>
        </p:spPr>
        <p:txBody>
          <a:bodyPr anchor="ctr"/>
          <a:lstStyle/>
          <a:p>
            <a:pPr algn="ctr"/>
            <a:r>
              <a:rPr lang="en-US" altLang="zh-CN" sz="4400" b="1" dirty="0" smtClean="0">
                <a:solidFill>
                  <a:schemeClr val="folHlink"/>
                </a:solidFill>
              </a:rPr>
              <a:t>7.1.2 </a:t>
            </a:r>
            <a:r>
              <a:rPr lang="zh-CN" altLang="en-US" sz="4400" b="1" dirty="0" smtClean="0">
                <a:solidFill>
                  <a:schemeClr val="folHlink"/>
                </a:solidFill>
              </a:rPr>
              <a:t>文件名和类型</a:t>
            </a:r>
            <a:endParaRPr lang="zh-CN" altLang="en-US" sz="4400" b="1" dirty="0">
              <a:solidFill>
                <a:schemeClr val="folHlink"/>
              </a:solidFill>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a:spLocks noChangeArrowheads="1"/>
          </p:cNvSpPr>
          <p:nvPr/>
        </p:nvSpPr>
        <p:spPr bwMode="auto">
          <a:xfrm>
            <a:off x="611188" y="428625"/>
            <a:ext cx="5213350" cy="579438"/>
          </a:xfrm>
          <a:prstGeom prst="rect">
            <a:avLst/>
          </a:prstGeom>
          <a:noFill/>
          <a:ln w="9525">
            <a:noFill/>
            <a:miter lim="800000"/>
          </a:ln>
        </p:spPr>
        <p:txBody>
          <a:bodyPr wrap="none">
            <a:spAutoFit/>
          </a:bodyPr>
          <a:lstStyle/>
          <a:p>
            <a:r>
              <a:rPr lang="en-US" altLang="zh-CN" sz="3200" b="1">
                <a:solidFill>
                  <a:schemeClr val="hlink"/>
                </a:solidFill>
                <a:latin typeface="Times New Roman" panose="02020603050405020304" pitchFamily="18" charset="0"/>
              </a:rPr>
              <a:t>2) </a:t>
            </a:r>
            <a:r>
              <a:rPr lang="zh-CN" altLang="en-US" sz="3200" b="1">
                <a:solidFill>
                  <a:schemeClr val="hlink"/>
                </a:solidFill>
                <a:latin typeface="Times New Roman" panose="02020603050405020304" pitchFamily="18" charset="0"/>
              </a:rPr>
              <a:t>按文件中数据的形式分类 </a:t>
            </a:r>
            <a:endParaRPr lang="zh-CN" altLang="en-US" sz="3200" b="1">
              <a:solidFill>
                <a:schemeClr val="hlink"/>
              </a:solidFill>
              <a:latin typeface="Times New Roman" panose="02020603050405020304" pitchFamily="18" charset="0"/>
            </a:endParaRPr>
          </a:p>
        </p:txBody>
      </p:sp>
      <p:sp>
        <p:nvSpPr>
          <p:cNvPr id="27651" name="Text Box 3"/>
          <p:cNvSpPr txBox="1">
            <a:spLocks noChangeArrowheads="1"/>
          </p:cNvSpPr>
          <p:nvPr/>
        </p:nvSpPr>
        <p:spPr bwMode="auto">
          <a:xfrm>
            <a:off x="468313" y="1196975"/>
            <a:ext cx="8135937" cy="4706938"/>
          </a:xfrm>
          <a:prstGeom prst="rect">
            <a:avLst/>
          </a:prstGeom>
          <a:noFill/>
          <a:ln w="9525">
            <a:noFill/>
            <a:miter lim="800000"/>
          </a:ln>
        </p:spPr>
        <p:txBody>
          <a:bodyPr>
            <a:spAutoFit/>
          </a:bodyPr>
          <a:lstStyle/>
          <a:p>
            <a:pPr marL="457200" indent="-457200">
              <a:lnSpc>
                <a:spcPct val="120000"/>
              </a:lnSpc>
              <a:buFont typeface="Arial" panose="020B0604020202020204" pitchFamily="34" charset="0"/>
              <a:buAutoNum type="arabicParenBoth"/>
            </a:pPr>
            <a:r>
              <a:rPr lang="zh-CN" altLang="en-US" sz="2800" b="1">
                <a:solidFill>
                  <a:schemeClr val="folHlink"/>
                </a:solidFill>
                <a:latin typeface="Times New Roman" panose="02020603050405020304" pitchFamily="18" charset="0"/>
              </a:rPr>
              <a:t>源文件</a:t>
            </a:r>
            <a:endParaRPr lang="zh-CN" altLang="en-US" sz="2800" b="1">
              <a:solidFill>
                <a:schemeClr val="folHlink"/>
              </a:solidFill>
              <a:latin typeface="Times New Roman" panose="02020603050405020304" pitchFamily="18" charset="0"/>
            </a:endParaRPr>
          </a:p>
          <a:p>
            <a:pPr marL="914400" lvl="1" indent="-457200">
              <a:lnSpc>
                <a:spcPct val="120000"/>
              </a:lnSpc>
            </a:pPr>
            <a:r>
              <a:rPr lang="zh-CN" altLang="en-US" sz="2800" b="1"/>
              <a:t>指由源程序和数据构成的文件。</a:t>
            </a:r>
            <a:r>
              <a:rPr lang="zh-CN" altLang="en-US" sz="2800" b="1">
                <a:latin typeface="Times New Roman" panose="02020603050405020304" pitchFamily="18" charset="0"/>
              </a:rPr>
              <a:t> </a:t>
            </a:r>
            <a:endParaRPr lang="zh-CN" altLang="en-US" sz="2800" b="1">
              <a:latin typeface="Times New Roman" panose="02020603050405020304" pitchFamily="18" charset="0"/>
            </a:endParaRPr>
          </a:p>
          <a:p>
            <a:pPr marL="457200" indent="-457200">
              <a:lnSpc>
                <a:spcPct val="120000"/>
              </a:lnSpc>
            </a:pPr>
            <a:r>
              <a:rPr lang="en-US" altLang="zh-CN" sz="2800" b="1">
                <a:solidFill>
                  <a:schemeClr val="folHlink"/>
                </a:solidFill>
                <a:latin typeface="Times New Roman" panose="02020603050405020304" pitchFamily="18" charset="0"/>
              </a:rPr>
              <a:t>(2) </a:t>
            </a:r>
            <a:r>
              <a:rPr lang="zh-CN" altLang="en-US" sz="2800" b="1">
                <a:solidFill>
                  <a:schemeClr val="folHlink"/>
                </a:solidFill>
                <a:latin typeface="Times New Roman" panose="02020603050405020304" pitchFamily="18" charset="0"/>
              </a:rPr>
              <a:t>目标文件</a:t>
            </a:r>
            <a:endParaRPr lang="zh-CN" altLang="en-US" sz="2800" b="1">
              <a:solidFill>
                <a:schemeClr val="folHlink"/>
              </a:solidFill>
              <a:latin typeface="Times New Roman" panose="02020603050405020304" pitchFamily="18" charset="0"/>
            </a:endParaRPr>
          </a:p>
          <a:p>
            <a:pPr marL="457200" indent="-457200">
              <a:lnSpc>
                <a:spcPct val="120000"/>
              </a:lnSpc>
            </a:pPr>
            <a:r>
              <a:rPr lang="zh-CN" altLang="en-US" sz="2800" b="1">
                <a:latin typeface="Times New Roman" panose="02020603050405020304" pitchFamily="18" charset="0"/>
              </a:rPr>
              <a:t>     </a:t>
            </a:r>
            <a:r>
              <a:rPr lang="zh-CN" altLang="en-US" sz="2800" b="1"/>
              <a:t>指把源程序经过相应语言的编译程序编译过，但尚未经过链接程序链接的目标代码所构成的文件。它属于二进制文件。</a:t>
            </a:r>
            <a:r>
              <a:rPr lang="zh-CN" altLang="en-US" sz="2800" b="1">
                <a:latin typeface="Times New Roman" panose="02020603050405020304" pitchFamily="18" charset="0"/>
              </a:rPr>
              <a:t> </a:t>
            </a:r>
            <a:endParaRPr lang="zh-CN" altLang="en-US" sz="2800" b="1">
              <a:latin typeface="Times New Roman" panose="02020603050405020304" pitchFamily="18" charset="0"/>
            </a:endParaRPr>
          </a:p>
          <a:p>
            <a:pPr marL="457200" indent="-457200">
              <a:lnSpc>
                <a:spcPct val="120000"/>
              </a:lnSpc>
            </a:pPr>
            <a:r>
              <a:rPr lang="en-US" altLang="zh-CN" sz="2800" b="1">
                <a:solidFill>
                  <a:schemeClr val="folHlink"/>
                </a:solidFill>
                <a:latin typeface="Times New Roman" panose="02020603050405020304" pitchFamily="18" charset="0"/>
              </a:rPr>
              <a:t>(3) </a:t>
            </a:r>
            <a:r>
              <a:rPr lang="zh-CN" altLang="en-US" sz="2800" b="1">
                <a:solidFill>
                  <a:schemeClr val="folHlink"/>
                </a:solidFill>
                <a:latin typeface="Times New Roman" panose="02020603050405020304" pitchFamily="18" charset="0"/>
              </a:rPr>
              <a:t>可执行文件</a:t>
            </a:r>
            <a:endParaRPr lang="zh-CN" altLang="en-US" sz="2800" b="1">
              <a:solidFill>
                <a:schemeClr val="folHlink"/>
              </a:solidFill>
            </a:endParaRPr>
          </a:p>
          <a:p>
            <a:pPr marL="457200" indent="-457200">
              <a:lnSpc>
                <a:spcPct val="120000"/>
              </a:lnSpc>
            </a:pPr>
            <a:r>
              <a:rPr lang="zh-CN" altLang="en-US" sz="2800" b="1"/>
              <a:t>   指把编译后所产生的目标代码再经过链接程序链接后所形成的文件。</a:t>
            </a:r>
            <a:endParaRPr lang="zh-CN" altLang="en-US" sz="2800" b="1"/>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611188" y="377825"/>
            <a:ext cx="4295775" cy="579438"/>
          </a:xfrm>
          <a:prstGeom prst="rect">
            <a:avLst/>
          </a:prstGeom>
          <a:noFill/>
          <a:ln w="9525">
            <a:noFill/>
            <a:miter lim="800000"/>
          </a:ln>
        </p:spPr>
        <p:txBody>
          <a:bodyPr wrap="none">
            <a:spAutoFit/>
          </a:bodyPr>
          <a:lstStyle/>
          <a:p>
            <a:r>
              <a:rPr lang="en-US" altLang="zh-CN" sz="3200" b="1">
                <a:solidFill>
                  <a:schemeClr val="hlink"/>
                </a:solidFill>
                <a:latin typeface="Times New Roman" panose="02020603050405020304" pitchFamily="18" charset="0"/>
              </a:rPr>
              <a:t>3) </a:t>
            </a:r>
            <a:r>
              <a:rPr lang="zh-CN" altLang="en-US" sz="3200" b="1">
                <a:solidFill>
                  <a:schemeClr val="hlink"/>
                </a:solidFill>
                <a:latin typeface="Times New Roman" panose="02020603050405020304" pitchFamily="18" charset="0"/>
              </a:rPr>
              <a:t>按存取控制属性分类</a:t>
            </a:r>
            <a:endParaRPr lang="zh-CN" altLang="en-US" sz="3200" b="1">
              <a:solidFill>
                <a:schemeClr val="hlink"/>
              </a:solidFill>
              <a:latin typeface="Times New Roman" panose="02020603050405020304" pitchFamily="18" charset="0"/>
            </a:endParaRPr>
          </a:p>
        </p:txBody>
      </p:sp>
      <p:sp>
        <p:nvSpPr>
          <p:cNvPr id="28675" name="Text Box 3"/>
          <p:cNvSpPr txBox="1">
            <a:spLocks noChangeArrowheads="1"/>
          </p:cNvSpPr>
          <p:nvPr/>
        </p:nvSpPr>
        <p:spPr bwMode="auto">
          <a:xfrm>
            <a:off x="395288" y="1106488"/>
            <a:ext cx="8675687" cy="5219700"/>
          </a:xfrm>
          <a:prstGeom prst="rect">
            <a:avLst/>
          </a:prstGeom>
          <a:noFill/>
          <a:ln w="9525">
            <a:noFill/>
            <a:miter lim="800000"/>
          </a:ln>
        </p:spPr>
        <p:txBody>
          <a:bodyPr>
            <a:spAutoFit/>
          </a:bodyPr>
          <a:lstStyle/>
          <a:p>
            <a:pPr marL="457200" indent="-457200">
              <a:lnSpc>
                <a:spcPct val="120000"/>
              </a:lnSpc>
            </a:pPr>
            <a:r>
              <a:rPr lang="zh-CN" altLang="en-US" sz="2800" b="1"/>
              <a:t>根据系统管理员或用户所规定的存取控制属性，</a:t>
            </a:r>
            <a:endParaRPr lang="zh-CN" altLang="en-US" sz="2800" b="1"/>
          </a:p>
          <a:p>
            <a:pPr marL="457200" indent="-457200">
              <a:lnSpc>
                <a:spcPct val="120000"/>
              </a:lnSpc>
            </a:pPr>
            <a:r>
              <a:rPr lang="zh-CN" altLang="en-US" sz="2800" b="1"/>
              <a:t>可将文件分为三类：</a:t>
            </a:r>
            <a:endParaRPr lang="zh-CN" altLang="en-US" sz="2800" b="1"/>
          </a:p>
          <a:p>
            <a:pPr marL="457200" indent="-457200">
              <a:lnSpc>
                <a:spcPct val="120000"/>
              </a:lnSpc>
              <a:buFont typeface="Arial" panose="020B0604020202020204" pitchFamily="34" charset="0"/>
              <a:buAutoNum type="arabicParenBoth"/>
            </a:pPr>
            <a:r>
              <a:rPr lang="zh-CN" altLang="en-US" sz="2800" b="1">
                <a:solidFill>
                  <a:schemeClr val="folHlink"/>
                </a:solidFill>
              </a:rPr>
              <a:t>只执行文件。</a:t>
            </a:r>
            <a:endParaRPr lang="zh-CN" altLang="en-US" sz="2800" b="1">
              <a:solidFill>
                <a:schemeClr val="folHlink"/>
              </a:solidFill>
            </a:endParaRPr>
          </a:p>
          <a:p>
            <a:pPr marL="457200" indent="-457200">
              <a:lnSpc>
                <a:spcPct val="120000"/>
              </a:lnSpc>
            </a:pPr>
            <a:r>
              <a:rPr lang="zh-CN" altLang="en-US" sz="2800" b="1"/>
              <a:t>    该类文件只允许被核准的用户调用执行，既不</a:t>
            </a:r>
            <a:endParaRPr lang="zh-CN" altLang="en-US" sz="2800" b="1"/>
          </a:p>
          <a:p>
            <a:pPr marL="457200" indent="-457200">
              <a:lnSpc>
                <a:spcPct val="120000"/>
              </a:lnSpc>
            </a:pPr>
            <a:r>
              <a:rPr lang="zh-CN" altLang="en-US" sz="2800" b="1"/>
              <a:t>允许读，更不允许写。</a:t>
            </a:r>
            <a:endParaRPr lang="zh-CN" altLang="en-US" sz="2800" b="1"/>
          </a:p>
          <a:p>
            <a:pPr marL="457200" indent="-457200">
              <a:lnSpc>
                <a:spcPct val="120000"/>
              </a:lnSpc>
            </a:pPr>
            <a:r>
              <a:rPr lang="en-US" altLang="zh-CN" sz="2800" b="1">
                <a:solidFill>
                  <a:schemeClr val="folHlink"/>
                </a:solidFill>
              </a:rPr>
              <a:t>(2) </a:t>
            </a:r>
            <a:r>
              <a:rPr lang="zh-CN" altLang="en-US" sz="2800" b="1">
                <a:solidFill>
                  <a:schemeClr val="folHlink"/>
                </a:solidFill>
              </a:rPr>
              <a:t>只读文件。</a:t>
            </a:r>
            <a:endParaRPr lang="zh-CN" altLang="en-US" sz="2800" b="1">
              <a:solidFill>
                <a:schemeClr val="folHlink"/>
              </a:solidFill>
            </a:endParaRPr>
          </a:p>
          <a:p>
            <a:pPr marL="457200" indent="-457200">
              <a:lnSpc>
                <a:spcPct val="120000"/>
              </a:lnSpc>
            </a:pPr>
            <a:r>
              <a:rPr lang="zh-CN" altLang="en-US" sz="2800" b="1"/>
              <a:t>     该类文件只允许文件主及被核准的用户去读，</a:t>
            </a:r>
            <a:endParaRPr lang="zh-CN" altLang="en-US" sz="2800" b="1"/>
          </a:p>
          <a:p>
            <a:pPr marL="457200" indent="-457200">
              <a:lnSpc>
                <a:spcPct val="120000"/>
              </a:lnSpc>
            </a:pPr>
            <a:r>
              <a:rPr lang="zh-CN" altLang="en-US" sz="2800" b="1"/>
              <a:t>但不允许写。</a:t>
            </a:r>
            <a:endParaRPr lang="zh-CN" altLang="en-US" sz="2800" b="1"/>
          </a:p>
          <a:p>
            <a:pPr marL="457200" indent="-457200">
              <a:lnSpc>
                <a:spcPct val="120000"/>
              </a:lnSpc>
            </a:pPr>
            <a:r>
              <a:rPr lang="en-US" altLang="zh-CN" sz="2800" b="1">
                <a:solidFill>
                  <a:schemeClr val="folHlink"/>
                </a:solidFill>
              </a:rPr>
              <a:t>(3) </a:t>
            </a:r>
            <a:r>
              <a:rPr lang="zh-CN" altLang="en-US" sz="2800" b="1">
                <a:solidFill>
                  <a:schemeClr val="folHlink"/>
                </a:solidFill>
              </a:rPr>
              <a:t>读写文件。</a:t>
            </a:r>
            <a:endParaRPr lang="zh-CN" altLang="en-US" sz="2800" b="1">
              <a:solidFill>
                <a:schemeClr val="folHlink"/>
              </a:solidFill>
            </a:endParaRPr>
          </a:p>
          <a:p>
            <a:pPr marL="457200" indent="-457200">
              <a:lnSpc>
                <a:spcPct val="120000"/>
              </a:lnSpc>
            </a:pPr>
            <a:r>
              <a:rPr lang="zh-CN" altLang="en-US" sz="2800" b="1"/>
              <a:t>   这是指允许文件主和被核准的用户去读或写的文件。</a:t>
            </a:r>
            <a:r>
              <a:rPr lang="zh-CN" altLang="en-US" sz="2800" b="1">
                <a:latin typeface="Times New Roman" panose="02020603050405020304" pitchFamily="18" charset="0"/>
              </a:rPr>
              <a:t> </a:t>
            </a:r>
            <a:endParaRPr lang="zh-CN" altLang="en-US" sz="2800" b="1">
              <a:latin typeface="Times New Roman" panose="02020603050405020304" pitchFamily="18" charset="0"/>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3"/>
          <p:cNvSpPr>
            <a:spLocks noGrp="1" noRot="1" noChangeArrowheads="1"/>
          </p:cNvSpPr>
          <p:nvPr>
            <p:ph type="body" idx="4294967295"/>
          </p:nvPr>
        </p:nvSpPr>
        <p:spPr>
          <a:xfrm>
            <a:off x="461963" y="404813"/>
            <a:ext cx="8077200" cy="6524625"/>
          </a:xfrm>
        </p:spPr>
        <p:txBody>
          <a:bodyPr/>
          <a:lstStyle/>
          <a:p>
            <a:pPr eaLnBrk="1" hangingPunct="1">
              <a:lnSpc>
                <a:spcPct val="110000"/>
              </a:lnSpc>
            </a:pPr>
            <a:r>
              <a:rPr lang="en-US" altLang="zh-CN" sz="3600" b="1" smtClean="0">
                <a:solidFill>
                  <a:schemeClr val="folHlink"/>
                </a:solidFill>
              </a:rPr>
              <a:t>4) </a:t>
            </a:r>
            <a:r>
              <a:rPr lang="zh-CN" altLang="en-US" sz="3600" b="1" smtClean="0">
                <a:solidFill>
                  <a:schemeClr val="folHlink"/>
                </a:solidFill>
              </a:rPr>
              <a:t>按组织形式和处理方式分类</a:t>
            </a:r>
            <a:endParaRPr lang="zh-CN" altLang="en-US" sz="3600" b="1" smtClean="0">
              <a:solidFill>
                <a:schemeClr val="folHlink"/>
              </a:solidFill>
            </a:endParaRPr>
          </a:p>
          <a:p>
            <a:pPr eaLnBrk="1" hangingPunct="1">
              <a:lnSpc>
                <a:spcPct val="110000"/>
              </a:lnSpc>
            </a:pPr>
            <a:r>
              <a:rPr lang="zh-CN" altLang="en-US" sz="2800" b="1" smtClean="0"/>
              <a:t>根据文件的组织形式和系统对其的处理方式，可将文件分为三类：</a:t>
            </a:r>
            <a:endParaRPr lang="zh-CN" altLang="en-US" sz="2800" b="1" smtClean="0"/>
          </a:p>
          <a:p>
            <a:pPr eaLnBrk="1" hangingPunct="1">
              <a:lnSpc>
                <a:spcPct val="110000"/>
              </a:lnSpc>
            </a:pPr>
            <a:r>
              <a:rPr lang="en-US" altLang="zh-CN" sz="2800" b="1" smtClean="0">
                <a:solidFill>
                  <a:schemeClr val="folHlink"/>
                </a:solidFill>
              </a:rPr>
              <a:t>(1) </a:t>
            </a:r>
            <a:r>
              <a:rPr lang="zh-CN" altLang="en-US" sz="2800" b="1" smtClean="0">
                <a:solidFill>
                  <a:schemeClr val="folHlink"/>
                </a:solidFill>
              </a:rPr>
              <a:t>普通文件：</a:t>
            </a:r>
            <a:r>
              <a:rPr lang="zh-CN" altLang="en-US" sz="2800" b="1" smtClean="0"/>
              <a:t>由</a:t>
            </a:r>
            <a:r>
              <a:rPr lang="en-US" altLang="zh-CN" sz="2800" b="1" smtClean="0"/>
              <a:t>ASCII</a:t>
            </a:r>
            <a:r>
              <a:rPr lang="zh-CN" altLang="en-US" sz="2800" b="1" smtClean="0"/>
              <a:t>码或二进制码组成的字符文件。一般用户建立的及操作系统的文件都是普通文件，它们通常存储在外存储设备上。</a:t>
            </a:r>
            <a:endParaRPr lang="zh-CN" altLang="en-US" sz="2800" b="1" smtClean="0"/>
          </a:p>
          <a:p>
            <a:pPr eaLnBrk="1" hangingPunct="1">
              <a:lnSpc>
                <a:spcPct val="110000"/>
              </a:lnSpc>
            </a:pPr>
            <a:r>
              <a:rPr lang="en-US" altLang="zh-CN" sz="2800" b="1" smtClean="0">
                <a:solidFill>
                  <a:schemeClr val="folHlink"/>
                </a:solidFill>
              </a:rPr>
              <a:t>(2) </a:t>
            </a:r>
            <a:r>
              <a:rPr lang="zh-CN" altLang="en-US" sz="2800" b="1" smtClean="0">
                <a:solidFill>
                  <a:schemeClr val="folHlink"/>
                </a:solidFill>
              </a:rPr>
              <a:t>目录文件：</a:t>
            </a:r>
            <a:r>
              <a:rPr lang="zh-CN" altLang="en-US" sz="2800" b="1" smtClean="0"/>
              <a:t>由文件目录组成的，用来管理和实现文件系统功能的系统文件。对其可进行与普通文件一样的文件操作。</a:t>
            </a:r>
            <a:endParaRPr lang="zh-CN" altLang="en-US" sz="2800" b="1" smtClean="0"/>
          </a:p>
          <a:p>
            <a:pPr eaLnBrk="1" hangingPunct="1">
              <a:lnSpc>
                <a:spcPct val="110000"/>
              </a:lnSpc>
            </a:pPr>
            <a:r>
              <a:rPr lang="en-US" altLang="zh-CN" sz="2800" b="1" smtClean="0">
                <a:solidFill>
                  <a:schemeClr val="folHlink"/>
                </a:solidFill>
              </a:rPr>
              <a:t>(3) </a:t>
            </a:r>
            <a:r>
              <a:rPr lang="zh-CN" altLang="en-US" sz="2800" b="1" smtClean="0">
                <a:solidFill>
                  <a:schemeClr val="folHlink"/>
                </a:solidFill>
              </a:rPr>
              <a:t>特殊文件：</a:t>
            </a:r>
            <a:r>
              <a:rPr lang="zh-CN" altLang="en-US" sz="2800" b="1" smtClean="0"/>
              <a:t>特指系统中的各类</a:t>
            </a:r>
            <a:r>
              <a:rPr lang="en-US" altLang="zh-CN" sz="2800" b="1" smtClean="0"/>
              <a:t>I/O </a:t>
            </a:r>
            <a:r>
              <a:rPr lang="zh-CN" altLang="en-US" sz="2800" b="1" smtClean="0"/>
              <a:t>设备。为了便于统一管理，系统将所有的输入</a:t>
            </a:r>
            <a:r>
              <a:rPr lang="en-US" altLang="zh-CN" sz="2800" b="1" smtClean="0"/>
              <a:t>/</a:t>
            </a:r>
            <a:r>
              <a:rPr lang="zh-CN" altLang="en-US" sz="2800" b="1" smtClean="0"/>
              <a:t>输出设备都视为文件，按文件方式提供给用户使用。</a:t>
            </a:r>
            <a:endParaRPr lang="zh-CN" altLang="en-US" sz="2800" b="1"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698">
                                            <p:txEl>
                                              <p:pRg st="0" end="0"/>
                                            </p:txEl>
                                          </p:spTgt>
                                        </p:tgtEl>
                                        <p:attrNameLst>
                                          <p:attrName>style.visibility</p:attrName>
                                        </p:attrNameLst>
                                      </p:cBhvr>
                                      <p:to>
                                        <p:strVal val="visible"/>
                                      </p:to>
                                    </p:set>
                                    <p:animEffect transition="in" filter="fade">
                                      <p:cBhvr>
                                        <p:cTn id="7" dur="2000"/>
                                        <p:tgtEl>
                                          <p:spTgt spid="296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9698">
                                            <p:txEl>
                                              <p:pRg st="1" end="1"/>
                                            </p:txEl>
                                          </p:spTgt>
                                        </p:tgtEl>
                                        <p:attrNameLst>
                                          <p:attrName>style.visibility</p:attrName>
                                        </p:attrNameLst>
                                      </p:cBhvr>
                                      <p:to>
                                        <p:strVal val="visible"/>
                                      </p:to>
                                    </p:set>
                                    <p:animEffect transition="in" filter="fade">
                                      <p:cBhvr>
                                        <p:cTn id="12" dur="2000"/>
                                        <p:tgtEl>
                                          <p:spTgt spid="2969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9698">
                                            <p:txEl>
                                              <p:pRg st="2" end="2"/>
                                            </p:txEl>
                                          </p:spTgt>
                                        </p:tgtEl>
                                        <p:attrNameLst>
                                          <p:attrName>style.visibility</p:attrName>
                                        </p:attrNameLst>
                                      </p:cBhvr>
                                      <p:to>
                                        <p:strVal val="visible"/>
                                      </p:to>
                                    </p:set>
                                    <p:animEffect transition="in" filter="fade">
                                      <p:cBhvr>
                                        <p:cTn id="17" dur="2000"/>
                                        <p:tgtEl>
                                          <p:spTgt spid="2969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9698">
                                            <p:txEl>
                                              <p:pRg st="3" end="3"/>
                                            </p:txEl>
                                          </p:spTgt>
                                        </p:tgtEl>
                                        <p:attrNameLst>
                                          <p:attrName>style.visibility</p:attrName>
                                        </p:attrNameLst>
                                      </p:cBhvr>
                                      <p:to>
                                        <p:strVal val="visible"/>
                                      </p:to>
                                    </p:set>
                                    <p:animEffect transition="in" filter="fade">
                                      <p:cBhvr>
                                        <p:cTn id="22" dur="2000"/>
                                        <p:tgtEl>
                                          <p:spTgt spid="2969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9698">
                                            <p:txEl>
                                              <p:pRg st="4" end="4"/>
                                            </p:txEl>
                                          </p:spTgt>
                                        </p:tgtEl>
                                        <p:attrNameLst>
                                          <p:attrName>style.visibility</p:attrName>
                                        </p:attrNameLst>
                                      </p:cBhvr>
                                      <p:to>
                                        <p:strVal val="visible"/>
                                      </p:to>
                                    </p:set>
                                    <p:animEffect transition="in" filter="fade">
                                      <p:cBhvr>
                                        <p:cTn id="27" dur="2000"/>
                                        <p:tgtEl>
                                          <p:spTgt spid="2969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autoUpdateAnimBg="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1928794" y="404813"/>
            <a:ext cx="5623655" cy="646331"/>
          </a:xfrm>
          <a:prstGeom prst="rect">
            <a:avLst/>
          </a:prstGeom>
          <a:noFill/>
          <a:ln w="9525">
            <a:noFill/>
            <a:miter lim="800000"/>
          </a:ln>
        </p:spPr>
        <p:txBody>
          <a:bodyPr wrap="none">
            <a:spAutoFit/>
          </a:bodyPr>
          <a:lstStyle/>
          <a:p>
            <a:r>
              <a:rPr lang="en-US" altLang="zh-CN" sz="3600" b="1" dirty="0" smtClean="0">
                <a:solidFill>
                  <a:schemeClr val="folHlink"/>
                </a:solidFill>
                <a:latin typeface="Times New Roman" panose="02020603050405020304" pitchFamily="18" charset="0"/>
              </a:rPr>
              <a:t>7.1.3. </a:t>
            </a:r>
            <a:r>
              <a:rPr lang="zh-CN" altLang="en-US" sz="3600" b="1" dirty="0" smtClean="0">
                <a:solidFill>
                  <a:schemeClr val="folHlink"/>
                </a:solidFill>
                <a:latin typeface="Times New Roman" panose="02020603050405020304" pitchFamily="18" charset="0"/>
              </a:rPr>
              <a:t>文件系统的层次结构 </a:t>
            </a:r>
            <a:endParaRPr lang="zh-CN" altLang="en-US" sz="3600" b="1" dirty="0">
              <a:solidFill>
                <a:schemeClr val="folHlink"/>
              </a:solidFill>
              <a:latin typeface="Times New Roman" panose="02020603050405020304" pitchFamily="18" charset="0"/>
            </a:endParaRPr>
          </a:p>
        </p:txBody>
      </p:sp>
      <p:pic>
        <p:nvPicPr>
          <p:cNvPr id="22532" name="Picture 4" descr="未标题-1 拷贝"/>
          <p:cNvPicPr>
            <a:picLocks noChangeAspect="1" noChangeArrowheads="1"/>
          </p:cNvPicPr>
          <p:nvPr/>
        </p:nvPicPr>
        <p:blipFill>
          <a:blip r:embed="rId1"/>
          <a:srcRect/>
          <a:stretch>
            <a:fillRect/>
          </a:stretch>
        </p:blipFill>
        <p:spPr bwMode="auto">
          <a:xfrm>
            <a:off x="4429125" y="1412875"/>
            <a:ext cx="4643438" cy="4311650"/>
          </a:xfrm>
          <a:prstGeom prst="rect">
            <a:avLst/>
          </a:prstGeom>
          <a:noFill/>
          <a:ln w="9525">
            <a:noFill/>
            <a:miter lim="800000"/>
            <a:headEnd/>
            <a:tailEnd/>
          </a:ln>
        </p:spPr>
      </p:pic>
      <p:sp>
        <p:nvSpPr>
          <p:cNvPr id="22533" name="AutoShape 5"/>
          <p:cNvSpPr>
            <a:spLocks noChangeArrowheads="1"/>
          </p:cNvSpPr>
          <p:nvPr/>
        </p:nvSpPr>
        <p:spPr bwMode="auto">
          <a:xfrm>
            <a:off x="1401763" y="4941888"/>
            <a:ext cx="2592387" cy="1584325"/>
          </a:xfrm>
          <a:prstGeom prst="wedgeRoundRectCallout">
            <a:avLst>
              <a:gd name="adj1" fmla="val 79884"/>
              <a:gd name="adj2" fmla="val -36773"/>
              <a:gd name="adj3" fmla="val 16667"/>
            </a:avLst>
          </a:prstGeom>
          <a:solidFill>
            <a:schemeClr val="accent1"/>
          </a:solidFill>
          <a:ln w="9525">
            <a:solidFill>
              <a:schemeClr val="tx1"/>
            </a:solidFill>
            <a:miter lim="800000"/>
          </a:ln>
        </p:spPr>
        <p:txBody>
          <a:bodyPr/>
          <a:lstStyle/>
          <a:p>
            <a:r>
              <a:rPr lang="en-US" altLang="zh-CN" sz="2400" b="1"/>
              <a:t>1.</a:t>
            </a:r>
            <a:r>
              <a:rPr lang="zh-CN" altLang="en-US" sz="2400" b="1"/>
              <a:t>文件</a:t>
            </a:r>
            <a:endParaRPr lang="zh-CN" altLang="en-US" sz="2400" b="1"/>
          </a:p>
          <a:p>
            <a:r>
              <a:rPr lang="en-US" altLang="zh-CN" sz="2400" b="1"/>
              <a:t>2.</a:t>
            </a:r>
            <a:r>
              <a:rPr lang="zh-CN" altLang="en-US" sz="2400" b="1"/>
              <a:t>目录</a:t>
            </a:r>
            <a:endParaRPr lang="zh-CN" altLang="en-US" sz="2400" b="1"/>
          </a:p>
          <a:p>
            <a:r>
              <a:rPr lang="en-US" altLang="zh-CN" sz="2400" b="1"/>
              <a:t>3.</a:t>
            </a:r>
            <a:r>
              <a:rPr lang="zh-CN" altLang="en-US" sz="2400" b="1"/>
              <a:t>磁盘存储空间</a:t>
            </a:r>
            <a:endParaRPr lang="zh-CN" altLang="en-US" sz="2400" b="1"/>
          </a:p>
        </p:txBody>
      </p:sp>
      <p:sp>
        <p:nvSpPr>
          <p:cNvPr id="22534" name="AutoShape 6"/>
          <p:cNvSpPr>
            <a:spLocks noChangeArrowheads="1"/>
          </p:cNvSpPr>
          <p:nvPr/>
        </p:nvSpPr>
        <p:spPr bwMode="auto">
          <a:xfrm>
            <a:off x="0" y="1484313"/>
            <a:ext cx="4140200" cy="3168650"/>
          </a:xfrm>
          <a:prstGeom prst="wedgeRoundRectCallout">
            <a:avLst>
              <a:gd name="adj1" fmla="val 64764"/>
              <a:gd name="adj2" fmla="val 32514"/>
              <a:gd name="adj3" fmla="val 16667"/>
            </a:avLst>
          </a:prstGeom>
          <a:solidFill>
            <a:schemeClr val="accent1"/>
          </a:solidFill>
          <a:ln w="9525">
            <a:solidFill>
              <a:schemeClr val="tx1"/>
            </a:solidFill>
            <a:miter lim="800000"/>
          </a:ln>
        </p:spPr>
        <p:txBody>
          <a:bodyPr/>
          <a:lstStyle/>
          <a:p>
            <a:pPr>
              <a:lnSpc>
                <a:spcPct val="110000"/>
              </a:lnSpc>
            </a:pPr>
            <a:r>
              <a:rPr lang="en-US" altLang="zh-CN" sz="2400" b="1"/>
              <a:t>1.</a:t>
            </a:r>
            <a:r>
              <a:rPr lang="zh-CN" altLang="en-US" sz="2400" b="1"/>
              <a:t>对文件存储空间的管理</a:t>
            </a:r>
            <a:endParaRPr lang="zh-CN" altLang="en-US" sz="2400" b="1"/>
          </a:p>
          <a:p>
            <a:pPr>
              <a:lnSpc>
                <a:spcPct val="110000"/>
              </a:lnSpc>
            </a:pPr>
            <a:r>
              <a:rPr lang="en-US" altLang="zh-CN" sz="2400" b="1"/>
              <a:t>2.</a:t>
            </a:r>
            <a:r>
              <a:rPr lang="zh-CN" altLang="en-US" sz="2400" b="1"/>
              <a:t>对文件目录的管理</a:t>
            </a:r>
            <a:endParaRPr lang="zh-CN" altLang="en-US" sz="2400" b="1"/>
          </a:p>
          <a:p>
            <a:pPr>
              <a:lnSpc>
                <a:spcPct val="110000"/>
              </a:lnSpc>
            </a:pPr>
            <a:r>
              <a:rPr lang="en-US" altLang="zh-CN" sz="2400" b="1"/>
              <a:t>3.</a:t>
            </a:r>
            <a:r>
              <a:rPr lang="zh-CN" altLang="en-US" sz="2400" b="1"/>
              <a:t>用于将文件的逻辑地址转换为物理地址的机制</a:t>
            </a:r>
            <a:endParaRPr lang="zh-CN" altLang="en-US" sz="2400" b="1"/>
          </a:p>
          <a:p>
            <a:pPr>
              <a:lnSpc>
                <a:spcPct val="110000"/>
              </a:lnSpc>
            </a:pPr>
            <a:r>
              <a:rPr lang="en-US" altLang="zh-CN" sz="2400" b="1"/>
              <a:t>4.</a:t>
            </a:r>
            <a:r>
              <a:rPr lang="zh-CN" altLang="en-US" sz="2400" b="1"/>
              <a:t>对文件读和写的管理</a:t>
            </a:r>
            <a:endParaRPr lang="zh-CN" altLang="en-US" sz="2400" b="1"/>
          </a:p>
          <a:p>
            <a:pPr>
              <a:lnSpc>
                <a:spcPct val="110000"/>
              </a:lnSpc>
            </a:pPr>
            <a:r>
              <a:rPr lang="en-US" altLang="zh-CN" sz="2400" b="1"/>
              <a:t>5.</a:t>
            </a:r>
            <a:r>
              <a:rPr lang="zh-CN" altLang="en-US" sz="2400" b="1"/>
              <a:t>对文件的共享与保护等功能 </a:t>
            </a:r>
            <a:endParaRPr lang="zh-CN" altLang="en-US" sz="2400" b="1"/>
          </a:p>
          <a:p>
            <a:pPr algn="ctr"/>
            <a:endParaRPr lang="en-US" altLang="zh-CN" sz="24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2532"/>
                                        </p:tgtEl>
                                        <p:attrNameLst>
                                          <p:attrName>style.visibility</p:attrName>
                                        </p:attrNameLst>
                                      </p:cBhvr>
                                      <p:to>
                                        <p:strVal val="visible"/>
                                      </p:to>
                                    </p:set>
                                    <p:animEffect transition="in" filter="box(in)">
                                      <p:cBhvr>
                                        <p:cTn id="7" dur="500"/>
                                        <p:tgtEl>
                                          <p:spTgt spid="2253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2533"/>
                                        </p:tgtEl>
                                        <p:attrNameLst>
                                          <p:attrName>style.visibility</p:attrName>
                                        </p:attrNameLst>
                                      </p:cBhvr>
                                      <p:to>
                                        <p:strVal val="visible"/>
                                      </p:to>
                                    </p:set>
                                    <p:animEffect transition="in" filter="box(in)">
                                      <p:cBhvr>
                                        <p:cTn id="12" dur="500"/>
                                        <p:tgtEl>
                                          <p:spTgt spid="2253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2534"/>
                                        </p:tgtEl>
                                        <p:attrNameLst>
                                          <p:attrName>style.visibility</p:attrName>
                                        </p:attrNameLst>
                                      </p:cBhvr>
                                      <p:to>
                                        <p:strVal val="visible"/>
                                      </p:to>
                                    </p:set>
                                    <p:animEffect transition="in" filter="box(in)">
                                      <p:cBhvr>
                                        <p:cTn id="17" dur="500"/>
                                        <p:tgtEl>
                                          <p:spTgt spid="225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bldLvl="0" animBg="1" autoUpdateAnimBg="0"/>
      <p:bldP spid="22534" grpId="0" bldLvl="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2"/>
          <p:cNvSpPr txBox="1">
            <a:spLocks noChangeArrowheads="1"/>
          </p:cNvSpPr>
          <p:nvPr/>
        </p:nvSpPr>
        <p:spPr bwMode="auto">
          <a:xfrm>
            <a:off x="539750" y="476250"/>
            <a:ext cx="8051800" cy="5757863"/>
          </a:xfrm>
          <a:prstGeom prst="rect">
            <a:avLst/>
          </a:prstGeom>
          <a:noFill/>
          <a:ln w="9525">
            <a:noFill/>
            <a:miter lim="800000"/>
          </a:ln>
        </p:spPr>
        <p:txBody>
          <a:bodyPr>
            <a:spAutoFit/>
          </a:bodyPr>
          <a:lstStyle/>
          <a:p>
            <a:pPr algn="just">
              <a:lnSpc>
                <a:spcPct val="145000"/>
              </a:lnSpc>
              <a:spcBef>
                <a:spcPct val="50000"/>
              </a:spcBef>
            </a:pPr>
            <a:r>
              <a:rPr lang="en-US" altLang="zh-CN" sz="3200" b="1">
                <a:solidFill>
                  <a:schemeClr val="folHlink"/>
                </a:solidFill>
                <a:latin typeface="Times New Roman" panose="02020603050405020304" pitchFamily="18" charset="0"/>
              </a:rPr>
              <a:t> 1) </a:t>
            </a:r>
            <a:r>
              <a:rPr lang="zh-CN" altLang="en-US" sz="3200" b="1">
                <a:solidFill>
                  <a:schemeClr val="folHlink"/>
                </a:solidFill>
                <a:latin typeface="Times New Roman" panose="02020603050405020304" pitchFamily="18" charset="0"/>
              </a:rPr>
              <a:t>对象及其属性</a:t>
            </a:r>
            <a:endParaRPr lang="zh-CN" altLang="en-US" sz="3200" b="1">
              <a:solidFill>
                <a:schemeClr val="folHlink"/>
              </a:solidFill>
              <a:latin typeface="Times New Roman" panose="02020603050405020304" pitchFamily="18" charset="0"/>
            </a:endParaRPr>
          </a:p>
          <a:p>
            <a:pPr algn="just">
              <a:lnSpc>
                <a:spcPct val="120000"/>
              </a:lnSpc>
              <a:spcBef>
                <a:spcPct val="50000"/>
              </a:spcBef>
            </a:pPr>
            <a:r>
              <a:rPr lang="zh-CN" altLang="en-US" sz="2400" b="1">
                <a:latin typeface="Times New Roman" panose="02020603050405020304" pitchFamily="18" charset="0"/>
              </a:rPr>
              <a:t>       </a:t>
            </a:r>
            <a:r>
              <a:rPr lang="zh-CN" altLang="en-US" sz="2800" b="1">
                <a:latin typeface="Times New Roman" panose="02020603050405020304" pitchFamily="18" charset="0"/>
              </a:rPr>
              <a:t>文件管理系统管理的对象有：</a:t>
            </a:r>
            <a:endParaRPr lang="zh-CN" altLang="en-US" sz="2800" b="1">
              <a:latin typeface="Times New Roman" panose="02020603050405020304" pitchFamily="18" charset="0"/>
            </a:endParaRPr>
          </a:p>
          <a:p>
            <a:pPr algn="just">
              <a:lnSpc>
                <a:spcPct val="120000"/>
              </a:lnSpc>
              <a:spcBef>
                <a:spcPct val="50000"/>
              </a:spcBef>
            </a:pPr>
            <a:r>
              <a:rPr lang="zh-CN" altLang="en-US" sz="2800" b="1">
                <a:solidFill>
                  <a:schemeClr val="hlink"/>
                </a:solidFill>
                <a:latin typeface="Times New Roman" panose="02020603050405020304" pitchFamily="18" charset="0"/>
              </a:rPr>
              <a:t> ① 文件。</a:t>
            </a:r>
            <a:r>
              <a:rPr lang="zh-CN" altLang="en-US" sz="2800" b="1">
                <a:latin typeface="Times New Roman" panose="02020603050405020304" pitchFamily="18" charset="0"/>
              </a:rPr>
              <a:t> 它作为文件管理的直接对象。</a:t>
            </a:r>
            <a:endParaRPr lang="zh-CN" altLang="en-US" sz="2800" b="1">
              <a:latin typeface="Times New Roman" panose="02020603050405020304" pitchFamily="18" charset="0"/>
            </a:endParaRPr>
          </a:p>
          <a:p>
            <a:pPr algn="just">
              <a:lnSpc>
                <a:spcPct val="120000"/>
              </a:lnSpc>
              <a:spcBef>
                <a:spcPct val="50000"/>
              </a:spcBef>
            </a:pPr>
            <a:r>
              <a:rPr lang="zh-CN" altLang="en-US" sz="2800" b="1">
                <a:solidFill>
                  <a:schemeClr val="hlink"/>
                </a:solidFill>
                <a:latin typeface="Times New Roman" panose="02020603050405020304" pitchFamily="18" charset="0"/>
              </a:rPr>
              <a:t> ② 目录。</a:t>
            </a:r>
            <a:r>
              <a:rPr lang="zh-CN" altLang="en-US" sz="2800" b="1">
                <a:latin typeface="Times New Roman" panose="02020603050405020304" pitchFamily="18" charset="0"/>
              </a:rPr>
              <a:t>为了方便用户对文件的存取和检索，在文件系统中必须配置目录。对目录的组织和管理是方便用户和提高对文件存取速度的关键。</a:t>
            </a:r>
            <a:endParaRPr lang="zh-CN" altLang="en-US" sz="2800" b="1">
              <a:latin typeface="Times New Roman" panose="02020603050405020304" pitchFamily="18" charset="0"/>
            </a:endParaRPr>
          </a:p>
          <a:p>
            <a:pPr algn="just">
              <a:lnSpc>
                <a:spcPct val="120000"/>
              </a:lnSpc>
              <a:spcBef>
                <a:spcPct val="50000"/>
              </a:spcBef>
            </a:pPr>
            <a:r>
              <a:rPr lang="zh-CN" altLang="en-US" sz="2800" b="1">
                <a:solidFill>
                  <a:schemeClr val="hlink"/>
                </a:solidFill>
                <a:latin typeface="Times New Roman" panose="02020603050405020304" pitchFamily="18" charset="0"/>
              </a:rPr>
              <a:t>③ 磁盘</a:t>
            </a:r>
            <a:r>
              <a:rPr lang="en-US" altLang="zh-CN" sz="2800" b="1">
                <a:solidFill>
                  <a:schemeClr val="hlink"/>
                </a:solidFill>
                <a:latin typeface="Times New Roman" panose="02020603050405020304" pitchFamily="18" charset="0"/>
              </a:rPr>
              <a:t>(</a:t>
            </a:r>
            <a:r>
              <a:rPr lang="zh-CN" altLang="en-US" sz="2800" b="1">
                <a:solidFill>
                  <a:schemeClr val="hlink"/>
                </a:solidFill>
                <a:latin typeface="Times New Roman" panose="02020603050405020304" pitchFamily="18" charset="0"/>
              </a:rPr>
              <a:t>磁带</a:t>
            </a:r>
            <a:r>
              <a:rPr lang="en-US" altLang="zh-CN" sz="2800" b="1">
                <a:solidFill>
                  <a:schemeClr val="hlink"/>
                </a:solidFill>
                <a:latin typeface="Times New Roman" panose="02020603050405020304" pitchFamily="18" charset="0"/>
              </a:rPr>
              <a:t>)</a:t>
            </a:r>
            <a:r>
              <a:rPr lang="zh-CN" altLang="en-US" sz="2800" b="1">
                <a:solidFill>
                  <a:schemeClr val="hlink"/>
                </a:solidFill>
                <a:latin typeface="Times New Roman" panose="02020603050405020304" pitchFamily="18" charset="0"/>
              </a:rPr>
              <a:t>存储空间。</a:t>
            </a:r>
            <a:r>
              <a:rPr lang="zh-CN" altLang="en-US" sz="2800" b="1">
                <a:latin typeface="Times New Roman" panose="02020603050405020304" pitchFamily="18" charset="0"/>
              </a:rPr>
              <a:t> 文件和目录必定占用存储空间，对这部分空间的有效管理，不仅能提高外存的利用率，而且能提高对文件的存取速度。 </a:t>
            </a:r>
            <a:endParaRPr lang="zh-CN" altLang="en-US" sz="2800" b="1">
              <a:latin typeface="Times New Roman" panose="02020603050405020304" pitchFamily="18"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2"/>
          <p:cNvSpPr txBox="1">
            <a:spLocks noChangeArrowheads="1"/>
          </p:cNvSpPr>
          <p:nvPr/>
        </p:nvSpPr>
        <p:spPr bwMode="auto">
          <a:xfrm>
            <a:off x="395288" y="668338"/>
            <a:ext cx="8070850" cy="5612049"/>
          </a:xfrm>
          <a:prstGeom prst="rect">
            <a:avLst/>
          </a:prstGeom>
          <a:noFill/>
          <a:ln w="9525">
            <a:noFill/>
            <a:miter lim="800000"/>
          </a:ln>
        </p:spPr>
        <p:txBody>
          <a:bodyPr>
            <a:spAutoFit/>
          </a:bodyPr>
          <a:lstStyle/>
          <a:p>
            <a:pPr algn="just">
              <a:lnSpc>
                <a:spcPct val="110000"/>
              </a:lnSpc>
              <a:spcBef>
                <a:spcPct val="50000"/>
              </a:spcBef>
            </a:pPr>
            <a:r>
              <a:rPr lang="en-US" altLang="zh-CN" sz="2800" b="1" dirty="0">
                <a:solidFill>
                  <a:schemeClr val="folHlink"/>
                </a:solidFill>
                <a:latin typeface="Times New Roman" panose="02020603050405020304" pitchFamily="18" charset="0"/>
              </a:rPr>
              <a:t>        2) </a:t>
            </a:r>
            <a:r>
              <a:rPr lang="zh-CN" altLang="en-US" sz="2800" b="1" dirty="0">
                <a:solidFill>
                  <a:schemeClr val="folHlink"/>
                </a:solidFill>
                <a:latin typeface="Times New Roman" panose="02020603050405020304" pitchFamily="18" charset="0"/>
              </a:rPr>
              <a:t>对对象操纵和管理的软件集合</a:t>
            </a:r>
            <a:endParaRPr lang="zh-CN" altLang="en-US" sz="2800" b="1" dirty="0">
              <a:solidFill>
                <a:schemeClr val="folHlink"/>
              </a:solidFill>
              <a:latin typeface="Times New Roman" panose="02020603050405020304" pitchFamily="18" charset="0"/>
            </a:endParaRPr>
          </a:p>
          <a:p>
            <a:pPr algn="just">
              <a:lnSpc>
                <a:spcPct val="110000"/>
              </a:lnSpc>
              <a:spcBef>
                <a:spcPct val="50000"/>
              </a:spcBef>
            </a:pPr>
            <a:r>
              <a:rPr lang="zh-CN" altLang="en-US" sz="2800" b="1" dirty="0">
                <a:latin typeface="Times New Roman" panose="02020603050405020304" pitchFamily="18" charset="0"/>
              </a:rPr>
              <a:t> 这是文件管理系统的核心部分。文件系统的功能大多是在这一层实现的，其中包括：</a:t>
            </a:r>
            <a:endParaRPr lang="zh-CN" altLang="en-US" sz="2800" b="1" dirty="0">
              <a:latin typeface="Times New Roman" panose="02020603050405020304" pitchFamily="18" charset="0"/>
            </a:endParaRPr>
          </a:p>
          <a:p>
            <a:pPr algn="just">
              <a:lnSpc>
                <a:spcPct val="110000"/>
              </a:lnSpc>
              <a:spcBef>
                <a:spcPct val="50000"/>
              </a:spcBef>
              <a:buFont typeface="Wingdings" panose="05000000000000000000" pitchFamily="2" charset="2"/>
              <a:buChar char="u"/>
            </a:pPr>
            <a:r>
              <a:rPr lang="zh-CN" altLang="en-US" sz="2800" b="1" dirty="0">
                <a:latin typeface="Times New Roman" panose="02020603050405020304" pitchFamily="18" charset="0"/>
              </a:rPr>
              <a:t> </a:t>
            </a:r>
            <a:r>
              <a:rPr lang="zh-CN" altLang="en-US" sz="2800" b="1" dirty="0" smtClean="0">
                <a:latin typeface="Times New Roman" panose="02020603050405020304" pitchFamily="18" charset="0"/>
              </a:rPr>
              <a:t>对</a:t>
            </a:r>
            <a:r>
              <a:rPr lang="zh-CN" altLang="en-US" sz="2800" b="1" dirty="0">
                <a:latin typeface="Times New Roman" panose="02020603050405020304" pitchFamily="18" charset="0"/>
              </a:rPr>
              <a:t>文件存储空间的管理、</a:t>
            </a:r>
            <a:endParaRPr lang="zh-CN" altLang="en-US" sz="2800" b="1" dirty="0">
              <a:latin typeface="Times New Roman" panose="02020603050405020304" pitchFamily="18" charset="0"/>
            </a:endParaRPr>
          </a:p>
          <a:p>
            <a:pPr lvl="1" algn="just">
              <a:lnSpc>
                <a:spcPct val="110000"/>
              </a:lnSpc>
              <a:spcBef>
                <a:spcPct val="50000"/>
              </a:spcBef>
              <a:buFont typeface="Wingdings" panose="05000000000000000000" pitchFamily="2" charset="2"/>
              <a:buChar char="u"/>
            </a:pPr>
            <a:r>
              <a:rPr lang="zh-CN" altLang="en-US" sz="2800" b="1" dirty="0">
                <a:latin typeface="Times New Roman" panose="02020603050405020304" pitchFamily="18" charset="0"/>
              </a:rPr>
              <a:t>对文件目录的管理、</a:t>
            </a:r>
            <a:endParaRPr lang="zh-CN" altLang="en-US" sz="2800" b="1" dirty="0">
              <a:latin typeface="Times New Roman" panose="02020603050405020304" pitchFamily="18" charset="0"/>
            </a:endParaRPr>
          </a:p>
          <a:p>
            <a:pPr lvl="1" algn="just">
              <a:lnSpc>
                <a:spcPct val="110000"/>
              </a:lnSpc>
              <a:spcBef>
                <a:spcPct val="50000"/>
              </a:spcBef>
              <a:buFont typeface="Wingdings" panose="05000000000000000000" pitchFamily="2" charset="2"/>
              <a:buChar char="u"/>
            </a:pPr>
            <a:r>
              <a:rPr lang="zh-CN" altLang="en-US" sz="2800" b="1" dirty="0">
                <a:latin typeface="Times New Roman" panose="02020603050405020304" pitchFamily="18" charset="0"/>
              </a:rPr>
              <a:t>用于将文件的逻辑地址转换为物理地址的机制、</a:t>
            </a:r>
            <a:endParaRPr lang="zh-CN" altLang="en-US" sz="2800" b="1" dirty="0">
              <a:latin typeface="Times New Roman" panose="02020603050405020304" pitchFamily="18" charset="0"/>
            </a:endParaRPr>
          </a:p>
          <a:p>
            <a:pPr lvl="1" algn="just">
              <a:lnSpc>
                <a:spcPct val="110000"/>
              </a:lnSpc>
              <a:spcBef>
                <a:spcPct val="50000"/>
              </a:spcBef>
              <a:buFont typeface="Wingdings" panose="05000000000000000000" pitchFamily="2" charset="2"/>
              <a:buChar char="u"/>
            </a:pPr>
            <a:r>
              <a:rPr lang="zh-CN" altLang="en-US" sz="2800" b="1" dirty="0">
                <a:latin typeface="Times New Roman" panose="02020603050405020304" pitchFamily="18" charset="0"/>
              </a:rPr>
              <a:t>对文件读和写的管理，</a:t>
            </a:r>
            <a:endParaRPr lang="zh-CN" altLang="en-US" sz="2800" b="1" dirty="0">
              <a:latin typeface="Times New Roman" panose="02020603050405020304" pitchFamily="18" charset="0"/>
            </a:endParaRPr>
          </a:p>
          <a:p>
            <a:pPr lvl="1" algn="just">
              <a:lnSpc>
                <a:spcPct val="110000"/>
              </a:lnSpc>
              <a:spcBef>
                <a:spcPct val="50000"/>
              </a:spcBef>
              <a:buFont typeface="Wingdings" panose="05000000000000000000" pitchFamily="2" charset="2"/>
              <a:buChar char="u"/>
            </a:pPr>
            <a:r>
              <a:rPr lang="zh-CN" altLang="en-US" sz="2800" b="1" dirty="0">
                <a:latin typeface="Times New Roman" panose="02020603050405020304" pitchFamily="18" charset="0"/>
              </a:rPr>
              <a:t>以及对文件的共享与保护等功能。 </a:t>
            </a:r>
            <a:endParaRPr lang="zh-CN" altLang="en-US" sz="2800" b="1" dirty="0">
              <a:latin typeface="Times New Roman" panose="02020603050405020304" pitchFamily="18" charset="0"/>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p:cNvSpPr txBox="1">
            <a:spLocks noChangeArrowheads="1"/>
          </p:cNvSpPr>
          <p:nvPr/>
        </p:nvSpPr>
        <p:spPr bwMode="auto">
          <a:xfrm>
            <a:off x="539750" y="476250"/>
            <a:ext cx="7772400" cy="5421313"/>
          </a:xfrm>
          <a:prstGeom prst="rect">
            <a:avLst/>
          </a:prstGeom>
          <a:noFill/>
          <a:ln w="9525">
            <a:noFill/>
            <a:miter lim="800000"/>
          </a:ln>
        </p:spPr>
        <p:txBody>
          <a:bodyPr>
            <a:spAutoFit/>
          </a:bodyPr>
          <a:lstStyle/>
          <a:p>
            <a:pPr algn="just">
              <a:lnSpc>
                <a:spcPct val="120000"/>
              </a:lnSpc>
              <a:spcBef>
                <a:spcPct val="50000"/>
              </a:spcBef>
            </a:pPr>
            <a:r>
              <a:rPr lang="en-US" altLang="zh-CN" sz="3200" b="1" dirty="0">
                <a:solidFill>
                  <a:schemeClr val="folHlink"/>
                </a:solidFill>
                <a:latin typeface="Times New Roman" panose="02020603050405020304" pitchFamily="18" charset="0"/>
              </a:rPr>
              <a:t>       3) </a:t>
            </a:r>
            <a:r>
              <a:rPr lang="zh-CN" altLang="en-US" sz="3200" b="1" dirty="0">
                <a:solidFill>
                  <a:schemeClr val="folHlink"/>
                </a:solidFill>
                <a:latin typeface="Times New Roman" panose="02020603050405020304" pitchFamily="18" charset="0"/>
              </a:rPr>
              <a:t>文件系统的接口</a:t>
            </a:r>
            <a:endParaRPr lang="zh-CN" altLang="en-US" sz="3200" b="1" dirty="0">
              <a:solidFill>
                <a:schemeClr val="folHlink"/>
              </a:solidFill>
              <a:latin typeface="Times New Roman" panose="02020603050405020304" pitchFamily="18" charset="0"/>
            </a:endParaRPr>
          </a:p>
          <a:p>
            <a:pPr algn="just">
              <a:lnSpc>
                <a:spcPct val="120000"/>
              </a:lnSpc>
              <a:spcBef>
                <a:spcPct val="50000"/>
              </a:spcBef>
            </a:pPr>
            <a:r>
              <a:rPr lang="zh-CN" altLang="en-US" sz="2800" b="1" dirty="0">
                <a:latin typeface="Times New Roman" panose="02020603050405020304" pitchFamily="18" charset="0"/>
              </a:rPr>
              <a:t>       为方便用户使用文件系统，文件系统通常向用户提供两种类型的接口：</a:t>
            </a:r>
            <a:endParaRPr lang="zh-CN" altLang="en-US" sz="2800" b="1" dirty="0">
              <a:latin typeface="Times New Roman" panose="02020603050405020304" pitchFamily="18" charset="0"/>
            </a:endParaRPr>
          </a:p>
          <a:p>
            <a:pPr algn="just">
              <a:lnSpc>
                <a:spcPct val="120000"/>
              </a:lnSpc>
              <a:spcBef>
                <a:spcPct val="50000"/>
              </a:spcBef>
            </a:pPr>
            <a:r>
              <a:rPr lang="zh-CN" altLang="en-US" sz="2800" b="1" dirty="0">
                <a:solidFill>
                  <a:schemeClr val="folHlink"/>
                </a:solidFill>
                <a:latin typeface="Times New Roman" panose="02020603050405020304" pitchFamily="18" charset="0"/>
              </a:rPr>
              <a:t>       </a:t>
            </a:r>
            <a:r>
              <a:rPr lang="en-US" altLang="zh-CN" sz="2800" b="1" dirty="0">
                <a:solidFill>
                  <a:schemeClr val="folHlink"/>
                </a:solidFill>
                <a:latin typeface="Times New Roman" panose="02020603050405020304" pitchFamily="18" charset="0"/>
              </a:rPr>
              <a:t>(1) </a:t>
            </a:r>
            <a:r>
              <a:rPr lang="zh-CN" altLang="en-US" sz="2800" b="1" dirty="0">
                <a:solidFill>
                  <a:schemeClr val="folHlink"/>
                </a:solidFill>
                <a:latin typeface="Times New Roman" panose="02020603050405020304" pitchFamily="18" charset="0"/>
              </a:rPr>
              <a:t>命令接口。</a:t>
            </a:r>
            <a:r>
              <a:rPr lang="zh-CN" altLang="en-US" sz="2800" b="1" dirty="0">
                <a:latin typeface="Times New Roman" panose="02020603050405020304" pitchFamily="18" charset="0"/>
              </a:rPr>
              <a:t>这是指作为用户与文件系统交互的接口。 用户可通过键盘终端键入命令，取得文件系统的服务。</a:t>
            </a:r>
            <a:endParaRPr lang="zh-CN" altLang="en-US" sz="2800" b="1" dirty="0">
              <a:latin typeface="Times New Roman" panose="02020603050405020304" pitchFamily="18" charset="0"/>
            </a:endParaRPr>
          </a:p>
          <a:p>
            <a:pPr algn="just">
              <a:lnSpc>
                <a:spcPct val="120000"/>
              </a:lnSpc>
              <a:spcBef>
                <a:spcPct val="50000"/>
              </a:spcBef>
            </a:pPr>
            <a:r>
              <a:rPr lang="zh-CN" altLang="en-US" sz="2800" b="1" dirty="0">
                <a:solidFill>
                  <a:schemeClr val="folHlink"/>
                </a:solidFill>
                <a:latin typeface="Times New Roman" panose="02020603050405020304" pitchFamily="18" charset="0"/>
              </a:rPr>
              <a:t>        </a:t>
            </a:r>
            <a:r>
              <a:rPr lang="en-US" altLang="zh-CN" sz="2800" b="1" dirty="0">
                <a:solidFill>
                  <a:schemeClr val="folHlink"/>
                </a:solidFill>
                <a:latin typeface="Times New Roman" panose="02020603050405020304" pitchFamily="18" charset="0"/>
              </a:rPr>
              <a:t>(2) </a:t>
            </a:r>
            <a:r>
              <a:rPr lang="zh-CN" altLang="en-US" sz="2800" b="1" dirty="0">
                <a:solidFill>
                  <a:schemeClr val="folHlink"/>
                </a:solidFill>
                <a:latin typeface="Times New Roman" panose="02020603050405020304" pitchFamily="18" charset="0"/>
              </a:rPr>
              <a:t>程序接口。</a:t>
            </a:r>
            <a:r>
              <a:rPr lang="zh-CN" altLang="en-US" sz="2800" b="1" dirty="0">
                <a:latin typeface="Times New Roman" panose="02020603050405020304" pitchFamily="18" charset="0"/>
              </a:rPr>
              <a:t>这是指作为用户程序与文件系统的接口。 用户程序可通过系统调用来取得文件系统的服务。 </a:t>
            </a:r>
            <a:endParaRPr lang="zh-CN" altLang="en-US" sz="2800" b="1" dirty="0">
              <a:latin typeface="Times New Roman" panose="02020603050405020304" pitchFamily="18" charset="0"/>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2"/>
          <p:cNvSpPr>
            <a:spLocks noGrp="1" noRot="1" noChangeArrowheads="1"/>
          </p:cNvSpPr>
          <p:nvPr>
            <p:ph type="title" idx="4294967295"/>
          </p:nvPr>
        </p:nvSpPr>
        <p:spPr/>
        <p:txBody>
          <a:bodyPr/>
          <a:lstStyle/>
          <a:p>
            <a:pPr eaLnBrk="1" hangingPunct="1">
              <a:defRPr/>
            </a:pPr>
            <a:r>
              <a:rPr lang="en-US" altLang="zh-CN" b="1" u="sng" dirty="0" smtClean="0">
                <a:solidFill>
                  <a:schemeClr val="folHlink"/>
                </a:solidFill>
                <a:effectLst>
                  <a:outerShdw blurRad="38100" dist="38100" dir="2700000" algn="tl">
                    <a:srgbClr val="000000"/>
                  </a:outerShdw>
                </a:effectLst>
                <a:ea typeface="仿宋_GB2312" pitchFamily="1" charset="-122"/>
              </a:rPr>
              <a:t>7.1.4</a:t>
            </a:r>
            <a:r>
              <a:rPr lang="en-US" b="1" u="sng" dirty="0" smtClean="0">
                <a:solidFill>
                  <a:schemeClr val="folHlink"/>
                </a:solidFill>
                <a:effectLst>
                  <a:outerShdw blurRad="38100" dist="38100" dir="2700000" algn="tl">
                    <a:srgbClr val="000000"/>
                  </a:outerShdw>
                </a:effectLst>
                <a:ea typeface="仿宋_GB2312" pitchFamily="1" charset="-122"/>
              </a:rPr>
              <a:t> </a:t>
            </a:r>
            <a:r>
              <a:rPr lang="zh-CN" altLang="en-US" b="1" u="sng" dirty="0" smtClean="0">
                <a:solidFill>
                  <a:schemeClr val="folHlink"/>
                </a:solidFill>
                <a:effectLst>
                  <a:outerShdw blurRad="38100" dist="38100" dir="2700000" algn="tl">
                    <a:srgbClr val="000000"/>
                  </a:outerShdw>
                </a:effectLst>
                <a:ea typeface="仿宋_GB2312" pitchFamily="1" charset="-122"/>
              </a:rPr>
              <a:t>文件操作</a:t>
            </a:r>
            <a:r>
              <a:rPr lang="zh-CN" altLang="en-US" dirty="0" smtClean="0">
                <a:solidFill>
                  <a:schemeClr val="folHlink"/>
                </a:solidFill>
                <a:effectLst>
                  <a:outerShdw blurRad="38100" dist="38100" dir="2700000" algn="tl">
                    <a:srgbClr val="000000"/>
                  </a:outerShdw>
                </a:effectLst>
              </a:rPr>
              <a:t> </a:t>
            </a:r>
            <a:endParaRPr lang="zh-CN" altLang="en-US" dirty="0" smtClean="0">
              <a:solidFill>
                <a:schemeClr val="folHlink"/>
              </a:solidFill>
              <a:effectLst>
                <a:outerShdw blurRad="38100" dist="38100" dir="2700000" algn="tl">
                  <a:srgbClr val="000000"/>
                </a:outerShdw>
              </a:effectLst>
            </a:endParaRPr>
          </a:p>
        </p:txBody>
      </p:sp>
      <p:sp>
        <p:nvSpPr>
          <p:cNvPr id="26627" name="Rectangle 3"/>
          <p:cNvSpPr>
            <a:spLocks noGrp="1" noRot="1" noChangeArrowheads="1"/>
          </p:cNvSpPr>
          <p:nvPr>
            <p:ph type="body" idx="4294967295"/>
          </p:nvPr>
        </p:nvSpPr>
        <p:spPr/>
        <p:txBody>
          <a:bodyPr/>
          <a:lstStyle/>
          <a:p>
            <a:pPr eaLnBrk="1" hangingPunct="1">
              <a:defRPr/>
            </a:pPr>
            <a:r>
              <a:rPr lang="zh-CN" altLang="en-US" sz="2800" b="1" kern="1200" dirty="0" smtClean="0">
                <a:latin typeface="Times New Roman" panose="02020603050405020304" pitchFamily="18" charset="0"/>
                <a:ea typeface="宋体" panose="02010600030101010101" pitchFamily="2" charset="-122"/>
              </a:rPr>
              <a:t>对整个文件的操作</a:t>
            </a:r>
            <a:endParaRPr lang="zh-CN" altLang="en-US" sz="2800" b="1" kern="1200" dirty="0" smtClean="0">
              <a:latin typeface="Times New Roman" panose="02020603050405020304" pitchFamily="18" charset="0"/>
              <a:ea typeface="宋体" panose="02010600030101010101" pitchFamily="2" charset="-122"/>
            </a:endParaRPr>
          </a:p>
          <a:p>
            <a:pPr eaLnBrk="1" hangingPunct="1">
              <a:buFont typeface="Wingdings" panose="05000000000000000000" pitchFamily="2" charset="2"/>
              <a:buNone/>
              <a:defRPr/>
            </a:pPr>
            <a:r>
              <a:rPr lang="zh-CN" altLang="en-US" sz="2800" b="1" kern="1200" dirty="0" smtClean="0">
                <a:latin typeface="Times New Roman" panose="02020603050405020304" pitchFamily="18" charset="0"/>
                <a:ea typeface="宋体" panose="02010600030101010101" pitchFamily="2" charset="-122"/>
              </a:rPr>
              <a:t>    </a:t>
            </a:r>
            <a:r>
              <a:rPr lang="en-US" altLang="en-US" sz="2800" b="1" kern="1200" dirty="0" smtClean="0">
                <a:latin typeface="Times New Roman" panose="02020603050405020304" pitchFamily="18" charset="0"/>
                <a:ea typeface="宋体" panose="02010600030101010101" pitchFamily="2" charset="-122"/>
              </a:rPr>
              <a:t>— </a:t>
            </a:r>
            <a:r>
              <a:rPr lang="zh-CN" altLang="en-US" sz="2800" b="1" kern="1200" dirty="0" smtClean="0">
                <a:latin typeface="Times New Roman" panose="02020603050405020304" pitchFamily="18" charset="0"/>
                <a:ea typeface="宋体" panose="02010600030101010101" pitchFamily="2" charset="-122"/>
              </a:rPr>
              <a:t>建立文件、撤消文件、打开文件、关闭文件、复制文件、修改文件名、打印或显示文件内容等</a:t>
            </a:r>
            <a:endParaRPr lang="zh-CN" altLang="en-US" sz="2800" b="1" kern="1200" dirty="0" smtClean="0">
              <a:latin typeface="Times New Roman" panose="02020603050405020304" pitchFamily="18" charset="0"/>
              <a:ea typeface="宋体" panose="02010600030101010101" pitchFamily="2" charset="-122"/>
            </a:endParaRPr>
          </a:p>
          <a:p>
            <a:pPr eaLnBrk="1" hangingPunct="1">
              <a:buFont typeface="Wingdings" panose="05000000000000000000" pitchFamily="2" charset="2"/>
              <a:buNone/>
              <a:defRPr/>
            </a:pPr>
            <a:endParaRPr lang="zh-CN" altLang="en-US" sz="2800" b="1" kern="1200" dirty="0" smtClean="0">
              <a:latin typeface="Times New Roman" panose="02020603050405020304" pitchFamily="18" charset="0"/>
              <a:ea typeface="宋体" panose="02010600030101010101" pitchFamily="2" charset="-122"/>
            </a:endParaRPr>
          </a:p>
          <a:p>
            <a:pPr eaLnBrk="1" hangingPunct="1">
              <a:defRPr/>
            </a:pPr>
            <a:r>
              <a:rPr lang="zh-CN" altLang="en-US" sz="2800" b="1" kern="1200" dirty="0" smtClean="0">
                <a:latin typeface="Times New Roman" panose="02020603050405020304" pitchFamily="18" charset="0"/>
                <a:ea typeface="宋体" panose="02010600030101010101" pitchFamily="2" charset="-122"/>
              </a:rPr>
              <a:t>对文件中的数据项的操作</a:t>
            </a:r>
            <a:endParaRPr lang="zh-CN" altLang="en-US" sz="2800" b="1" kern="1200" dirty="0" smtClean="0">
              <a:latin typeface="Times New Roman" panose="02020603050405020304" pitchFamily="18" charset="0"/>
              <a:ea typeface="宋体" panose="02010600030101010101" pitchFamily="2" charset="-122"/>
            </a:endParaRPr>
          </a:p>
          <a:p>
            <a:pPr eaLnBrk="1" hangingPunct="1">
              <a:buFont typeface="Wingdings" panose="05000000000000000000" pitchFamily="2" charset="2"/>
              <a:buNone/>
              <a:defRPr/>
            </a:pPr>
            <a:r>
              <a:rPr lang="zh-CN" altLang="en-US" sz="2800" b="1" kern="1200" dirty="0" smtClean="0">
                <a:latin typeface="Times New Roman" panose="02020603050405020304" pitchFamily="18" charset="0"/>
                <a:ea typeface="宋体" panose="02010600030101010101" pitchFamily="2" charset="-122"/>
              </a:rPr>
              <a:t>    </a:t>
            </a:r>
            <a:r>
              <a:rPr lang="en-US" altLang="en-US" sz="2800" b="1" kern="1200" dirty="0" smtClean="0">
                <a:latin typeface="Times New Roman" panose="02020603050405020304" pitchFamily="18" charset="0"/>
                <a:ea typeface="宋体" panose="02010600030101010101" pitchFamily="2" charset="-122"/>
              </a:rPr>
              <a:t>— </a:t>
            </a:r>
            <a:r>
              <a:rPr lang="zh-CN" altLang="en-US" sz="2800" b="1" kern="1200" dirty="0" smtClean="0">
                <a:latin typeface="Times New Roman" panose="02020603050405020304" pitchFamily="18" charset="0"/>
                <a:ea typeface="宋体" panose="02010600030101010101" pitchFamily="2" charset="-122"/>
              </a:rPr>
              <a:t>读操作、写操作、更新操作、插入操作、删除操作等 </a:t>
            </a:r>
            <a:endParaRPr lang="zh-CN" altLang="en-US" sz="2800" b="1" kern="1200" dirty="0" smtClean="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fade">
                                      <p:cBhvr>
                                        <p:cTn id="7" dur="2000"/>
                                        <p:tgtEl>
                                          <p:spTgt spid="266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6627">
                                            <p:txEl>
                                              <p:pRg st="0" end="0"/>
                                            </p:txEl>
                                          </p:spTgt>
                                        </p:tgtEl>
                                        <p:attrNameLst>
                                          <p:attrName>style.visibility</p:attrName>
                                        </p:attrNameLst>
                                      </p:cBhvr>
                                      <p:to>
                                        <p:strVal val="visible"/>
                                      </p:to>
                                    </p:set>
                                    <p:animEffect transition="in" filter="fade">
                                      <p:cBhvr>
                                        <p:cTn id="12" dur="2000"/>
                                        <p:tgtEl>
                                          <p:spTgt spid="2662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6627">
                                            <p:txEl>
                                              <p:pRg st="1" end="1"/>
                                            </p:txEl>
                                          </p:spTgt>
                                        </p:tgtEl>
                                        <p:attrNameLst>
                                          <p:attrName>style.visibility</p:attrName>
                                        </p:attrNameLst>
                                      </p:cBhvr>
                                      <p:to>
                                        <p:strVal val="visible"/>
                                      </p:to>
                                    </p:set>
                                    <p:animEffect transition="in" filter="fade">
                                      <p:cBhvr>
                                        <p:cTn id="17" dur="2000"/>
                                        <p:tgtEl>
                                          <p:spTgt spid="2662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6627">
                                            <p:txEl>
                                              <p:pRg st="3" end="3"/>
                                            </p:txEl>
                                          </p:spTgt>
                                        </p:tgtEl>
                                        <p:attrNameLst>
                                          <p:attrName>style.visibility</p:attrName>
                                        </p:attrNameLst>
                                      </p:cBhvr>
                                      <p:to>
                                        <p:strVal val="visible"/>
                                      </p:to>
                                    </p:set>
                                    <p:animEffect transition="in" filter="fade">
                                      <p:cBhvr>
                                        <p:cTn id="22" dur="2000"/>
                                        <p:tgtEl>
                                          <p:spTgt spid="266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6627">
                                            <p:txEl>
                                              <p:pRg st="4" end="4"/>
                                            </p:txEl>
                                          </p:spTgt>
                                        </p:tgtEl>
                                        <p:attrNameLst>
                                          <p:attrName>style.visibility</p:attrName>
                                        </p:attrNameLst>
                                      </p:cBhvr>
                                      <p:to>
                                        <p:strVal val="visible"/>
                                      </p:to>
                                    </p:set>
                                    <p:animEffect transition="in" filter="fade">
                                      <p:cBhvr>
                                        <p:cTn id="27" dur="2000"/>
                                        <p:tgtEl>
                                          <p:spTgt spid="266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autoUpdateAnimBg="0"/>
      <p:bldP spid="26627" grpId="0" autoUpdateAnimBg="0" build="p"/>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Rectangle 2"/>
          <p:cNvSpPr>
            <a:spLocks noGrp="1" noRot="1" noChangeArrowheads="1"/>
          </p:cNvSpPr>
          <p:nvPr>
            <p:ph type="title" idx="4294967295"/>
          </p:nvPr>
        </p:nvSpPr>
        <p:spPr>
          <a:xfrm>
            <a:off x="301625" y="531831"/>
            <a:ext cx="8540750" cy="1143000"/>
          </a:xfrm>
        </p:spPr>
        <p:txBody>
          <a:bodyPr/>
          <a:lstStyle/>
          <a:p>
            <a:pPr eaLnBrk="1" hangingPunct="1">
              <a:defRPr/>
            </a:pPr>
            <a:r>
              <a:rPr lang="zh-CN" altLang="en-US" b="1" u="sng" dirty="0" smtClean="0">
                <a:solidFill>
                  <a:schemeClr val="folHlink"/>
                </a:solidFill>
                <a:effectLst>
                  <a:outerShdw blurRad="38100" dist="38100" dir="2700000" algn="tl">
                    <a:srgbClr val="000000"/>
                  </a:outerShdw>
                </a:effectLst>
                <a:ea typeface="仿宋_GB2312" pitchFamily="1" charset="-122"/>
              </a:rPr>
              <a:t>对文件的操作</a:t>
            </a:r>
            <a:r>
              <a:rPr lang="en-US" altLang="zh-CN" b="1" u="sng" dirty="0" smtClean="0">
                <a:solidFill>
                  <a:schemeClr val="folHlink"/>
                </a:solidFill>
                <a:effectLst>
                  <a:outerShdw blurRad="38100" dist="38100" dir="2700000" algn="tl">
                    <a:srgbClr val="000000"/>
                  </a:outerShdw>
                </a:effectLst>
                <a:ea typeface="仿宋_GB2312" pitchFamily="1" charset="-122"/>
              </a:rPr>
              <a:t>--</a:t>
            </a:r>
            <a:r>
              <a:rPr lang="zh-CN" altLang="en-US" sz="3200" b="1" dirty="0" smtClean="0">
                <a:solidFill>
                  <a:schemeClr val="folHlink"/>
                </a:solidFill>
                <a:effectLst>
                  <a:outerShdw blurRad="38100" dist="38100" dir="2700000" algn="tl">
                    <a:srgbClr val="000000"/>
                  </a:outerShdw>
                </a:effectLst>
                <a:ea typeface="仿宋_GB2312" pitchFamily="1" charset="-122"/>
              </a:rPr>
              <a:t>建立文件（</a:t>
            </a:r>
            <a:r>
              <a:rPr lang="en-US" sz="3200" b="1" dirty="0" smtClean="0">
                <a:solidFill>
                  <a:schemeClr val="folHlink"/>
                </a:solidFill>
                <a:effectLst>
                  <a:outerShdw blurRad="38100" dist="38100" dir="2700000" algn="tl">
                    <a:srgbClr val="000000"/>
                  </a:outerShdw>
                </a:effectLst>
                <a:ea typeface="仿宋_GB2312" pitchFamily="1" charset="-122"/>
              </a:rPr>
              <a:t>Create file</a:t>
            </a:r>
            <a:r>
              <a:rPr lang="zh-CN" altLang="en-US" sz="3200" b="1" dirty="0" smtClean="0">
                <a:solidFill>
                  <a:schemeClr val="folHlink"/>
                </a:solidFill>
                <a:effectLst>
                  <a:outerShdw blurRad="38100" dist="38100" dir="2700000" algn="tl">
                    <a:srgbClr val="000000"/>
                  </a:outerShdw>
                </a:effectLst>
                <a:ea typeface="仿宋_GB2312" pitchFamily="1" charset="-122"/>
              </a:rPr>
              <a:t>） </a:t>
            </a:r>
            <a:endParaRPr lang="zh-CN" altLang="en-US" sz="3200" b="1" dirty="0" smtClean="0">
              <a:solidFill>
                <a:schemeClr val="folHlink"/>
              </a:solidFill>
              <a:effectLst>
                <a:outerShdw blurRad="38100" dist="38100" dir="2700000" algn="tl">
                  <a:srgbClr val="000000"/>
                </a:outerShdw>
              </a:effectLst>
              <a:ea typeface="仿宋_GB2312" pitchFamily="1" charset="-122"/>
            </a:endParaRPr>
          </a:p>
        </p:txBody>
      </p:sp>
      <p:sp>
        <p:nvSpPr>
          <p:cNvPr id="27651" name="Rectangle 3"/>
          <p:cNvSpPr>
            <a:spLocks noGrp="1" noRot="1" noChangeArrowheads="1"/>
          </p:cNvSpPr>
          <p:nvPr>
            <p:ph type="body" idx="4294967295"/>
          </p:nvPr>
        </p:nvSpPr>
        <p:spPr>
          <a:xfrm>
            <a:off x="533400" y="1644669"/>
            <a:ext cx="8077200" cy="4498975"/>
          </a:xfrm>
        </p:spPr>
        <p:txBody>
          <a:bodyPr/>
          <a:lstStyle/>
          <a:p>
            <a:pPr algn="just" eaLnBrk="1" hangingPunct="1">
              <a:defRPr/>
            </a:pPr>
            <a:endParaRPr lang="en-US" b="1" dirty="0" smtClean="0">
              <a:effectLst>
                <a:outerShdw blurRad="38100" dist="38100" dir="2700000" algn="tl">
                  <a:srgbClr val="000000"/>
                </a:outerShdw>
              </a:effectLst>
              <a:ea typeface="仿宋_GB2312" pitchFamily="1" charset="-122"/>
            </a:endParaRPr>
          </a:p>
          <a:p>
            <a:pPr algn="just" eaLnBrk="1" hangingPunct="1">
              <a:defRPr/>
            </a:pPr>
            <a:r>
              <a:rPr lang="zh-CN" altLang="en-US" b="1" dirty="0" smtClean="0">
                <a:effectLst>
                  <a:outerShdw blurRad="38100" dist="38100" dir="2700000" algn="tl">
                    <a:srgbClr val="000000"/>
                  </a:outerShdw>
                </a:effectLst>
              </a:rPr>
              <a:t>系统首先要为新文件分配必要的外存空间</a:t>
            </a:r>
            <a:r>
              <a:rPr lang="zh-CN" altLang="en-US" b="1" dirty="0" smtClean="0">
                <a:effectLst>
                  <a:outerShdw blurRad="38100" dist="38100" dir="2700000" algn="tl">
                    <a:srgbClr val="000000"/>
                  </a:outerShdw>
                </a:effectLst>
                <a:ea typeface="仿宋_GB2312" pitchFamily="1" charset="-122"/>
              </a:rPr>
              <a:t>；</a:t>
            </a:r>
            <a:endParaRPr lang="zh-CN" altLang="en-US" b="1" dirty="0" smtClean="0">
              <a:effectLst>
                <a:outerShdw blurRad="38100" dist="38100" dir="2700000" algn="tl">
                  <a:srgbClr val="000000"/>
                </a:outerShdw>
              </a:effectLst>
              <a:ea typeface="仿宋_GB2312" pitchFamily="1" charset="-122"/>
            </a:endParaRPr>
          </a:p>
          <a:p>
            <a:pPr eaLnBrk="1" hangingPunct="1">
              <a:defRPr/>
            </a:pPr>
            <a:r>
              <a:rPr lang="zh-CN" altLang="en-US" b="1" dirty="0" smtClean="0">
                <a:effectLst>
                  <a:outerShdw blurRad="38100" dist="38100" dir="2700000" algn="tl">
                    <a:srgbClr val="000000"/>
                  </a:outerShdw>
                </a:effectLst>
              </a:rPr>
              <a:t>在文件系统的目录中，为之建立一个目录项；</a:t>
            </a:r>
            <a:endParaRPr lang="zh-CN" altLang="en-US" b="1" dirty="0" smtClean="0">
              <a:effectLst>
                <a:outerShdw blurRad="38100" dist="38100" dir="2700000" algn="tl">
                  <a:srgbClr val="000000"/>
                </a:outerShdw>
              </a:effectLst>
            </a:endParaRPr>
          </a:p>
          <a:p>
            <a:pPr eaLnBrk="1" hangingPunct="1">
              <a:defRPr/>
            </a:pPr>
            <a:r>
              <a:rPr lang="zh-CN" altLang="en-US" b="1" dirty="0" smtClean="0">
                <a:effectLst>
                  <a:outerShdw blurRad="38100" dist="38100" dir="2700000" algn="tl">
                    <a:srgbClr val="000000"/>
                  </a:outerShdw>
                </a:effectLst>
              </a:rPr>
              <a:t>目录项中应记录新文件的文件名及其在外存的地址等属性。</a:t>
            </a:r>
            <a:endParaRPr lang="zh-CN" altLang="en-US" b="1" dirty="0" smtClean="0">
              <a:effectLst>
                <a:outerShdw blurRad="38100" dist="38100" dir="2700000" algn="tl">
                  <a:srgbClr val="000000"/>
                </a:outerShdw>
              </a:effectLst>
              <a:ea typeface="仿宋_GB2312" pitchFamily="1" charset="-122"/>
            </a:endParaRPr>
          </a:p>
          <a:p>
            <a:pPr eaLnBrk="1" hangingPunct="1">
              <a:defRPr/>
            </a:pPr>
            <a:endParaRPr lang="en-US" b="1" dirty="0" smtClean="0">
              <a:effectLst>
                <a:outerShdw blurRad="38100" dist="38100" dir="2700000" algn="tl">
                  <a:srgbClr val="000000"/>
                </a:outerShdw>
              </a:effectLst>
              <a:ea typeface="仿宋_GB2312"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7650"/>
                                        </p:tgtEl>
                                        <p:attrNameLst>
                                          <p:attrName>style.visibility</p:attrName>
                                        </p:attrNameLst>
                                      </p:cBhvr>
                                      <p:to>
                                        <p:strVal val="visible"/>
                                      </p:to>
                                    </p:set>
                                    <p:animEffect transition="in" filter="fade">
                                      <p:cBhvr>
                                        <p:cTn id="7" dur="2000"/>
                                        <p:tgtEl>
                                          <p:spTgt spid="276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651">
                                            <p:txEl>
                                              <p:pRg st="1" end="1"/>
                                            </p:txEl>
                                          </p:spTgt>
                                        </p:tgtEl>
                                        <p:attrNameLst>
                                          <p:attrName>style.visibility</p:attrName>
                                        </p:attrNameLst>
                                      </p:cBhvr>
                                      <p:to>
                                        <p:strVal val="visible"/>
                                      </p:to>
                                    </p:set>
                                    <p:animEffect transition="in" filter="fade">
                                      <p:cBhvr>
                                        <p:cTn id="12" dur="2000"/>
                                        <p:tgtEl>
                                          <p:spTgt spid="276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7651">
                                            <p:txEl>
                                              <p:pRg st="2" end="2"/>
                                            </p:txEl>
                                          </p:spTgt>
                                        </p:tgtEl>
                                        <p:attrNameLst>
                                          <p:attrName>style.visibility</p:attrName>
                                        </p:attrNameLst>
                                      </p:cBhvr>
                                      <p:to>
                                        <p:strVal val="visible"/>
                                      </p:to>
                                    </p:set>
                                    <p:animEffect transition="in" filter="fade">
                                      <p:cBhvr>
                                        <p:cTn id="17" dur="2000"/>
                                        <p:tgtEl>
                                          <p:spTgt spid="2765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7651">
                                            <p:txEl>
                                              <p:pRg st="3" end="3"/>
                                            </p:txEl>
                                          </p:spTgt>
                                        </p:tgtEl>
                                        <p:attrNameLst>
                                          <p:attrName>style.visibility</p:attrName>
                                        </p:attrNameLst>
                                      </p:cBhvr>
                                      <p:to>
                                        <p:strVal val="visible"/>
                                      </p:to>
                                    </p:set>
                                    <p:animEffect transition="in" filter="fade">
                                      <p:cBhvr>
                                        <p:cTn id="22" dur="2000"/>
                                        <p:tgtEl>
                                          <p:spTgt spid="276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autoUpdateAnimBg="0"/>
      <p:bldP spid="27651" grpId="0" autoUpdateAnimBg="0" build="p"/>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Rectangle 2"/>
          <p:cNvSpPr>
            <a:spLocks noGrp="1" noRot="1" noChangeArrowheads="1"/>
          </p:cNvSpPr>
          <p:nvPr>
            <p:ph type="title" idx="4294967295"/>
          </p:nvPr>
        </p:nvSpPr>
        <p:spPr>
          <a:xfrm>
            <a:off x="533400" y="260350"/>
            <a:ext cx="8077200" cy="1066800"/>
          </a:xfrm>
        </p:spPr>
        <p:txBody>
          <a:bodyPr/>
          <a:lstStyle/>
          <a:p>
            <a:pPr eaLnBrk="1" hangingPunct="1">
              <a:defRPr/>
            </a:pPr>
            <a:r>
              <a:rPr lang="zh-CN" altLang="en-US" b="1" u="sng" dirty="0" smtClean="0">
                <a:solidFill>
                  <a:schemeClr val="folHlink"/>
                </a:solidFill>
                <a:effectLst>
                  <a:outerShdw blurRad="38100" dist="38100" dir="2700000" algn="tl">
                    <a:srgbClr val="000000"/>
                  </a:outerShdw>
                </a:effectLst>
                <a:ea typeface="仿宋_GB2312" pitchFamily="1" charset="-122"/>
              </a:rPr>
              <a:t>对文件的操作</a:t>
            </a:r>
            <a:r>
              <a:rPr lang="en-US" altLang="zh-CN" b="1" u="sng" dirty="0" smtClean="0">
                <a:solidFill>
                  <a:schemeClr val="folHlink"/>
                </a:solidFill>
                <a:effectLst>
                  <a:outerShdw blurRad="38100" dist="38100" dir="2700000" algn="tl">
                    <a:srgbClr val="000000"/>
                  </a:outerShdw>
                </a:effectLst>
                <a:ea typeface="仿宋_GB2312" pitchFamily="1" charset="-122"/>
              </a:rPr>
              <a:t>--</a:t>
            </a:r>
            <a:r>
              <a:rPr lang="zh-CN" altLang="en-US" sz="3200" b="1" dirty="0" smtClean="0">
                <a:solidFill>
                  <a:schemeClr val="folHlink"/>
                </a:solidFill>
                <a:effectLst>
                  <a:outerShdw blurRad="38100" dist="38100" dir="2700000" algn="tl">
                    <a:srgbClr val="000000"/>
                  </a:outerShdw>
                </a:effectLst>
                <a:ea typeface="仿宋_GB2312" pitchFamily="1" charset="-122"/>
              </a:rPr>
              <a:t>打开文件（</a:t>
            </a:r>
            <a:r>
              <a:rPr lang="en-US" sz="3200" b="1" dirty="0" smtClean="0">
                <a:solidFill>
                  <a:schemeClr val="folHlink"/>
                </a:solidFill>
                <a:effectLst>
                  <a:outerShdw blurRad="38100" dist="38100" dir="2700000" algn="tl">
                    <a:srgbClr val="000000"/>
                  </a:outerShdw>
                </a:effectLst>
                <a:ea typeface="仿宋_GB2312" pitchFamily="1" charset="-122"/>
              </a:rPr>
              <a:t>Open file </a:t>
            </a:r>
            <a:r>
              <a:rPr lang="zh-CN" altLang="en-US" sz="3200" b="1" dirty="0" smtClean="0">
                <a:solidFill>
                  <a:schemeClr val="folHlink"/>
                </a:solidFill>
                <a:effectLst>
                  <a:outerShdw blurRad="38100" dist="38100" dir="2700000" algn="tl">
                    <a:srgbClr val="000000"/>
                  </a:outerShdw>
                </a:effectLst>
                <a:ea typeface="仿宋_GB2312" pitchFamily="1" charset="-122"/>
              </a:rPr>
              <a:t>）</a:t>
            </a:r>
            <a:r>
              <a:rPr lang="zh-CN" altLang="en-US" dirty="0" smtClean="0">
                <a:effectLst>
                  <a:outerShdw blurRad="38100" dist="38100" dir="2700000" algn="tl">
                    <a:srgbClr val="000000"/>
                  </a:outerShdw>
                </a:effectLst>
              </a:rPr>
              <a:t> </a:t>
            </a:r>
            <a:endParaRPr lang="zh-CN" altLang="en-US" dirty="0" smtClean="0">
              <a:effectLst>
                <a:outerShdw blurRad="38100" dist="38100" dir="2700000" algn="tl">
                  <a:srgbClr val="000000"/>
                </a:outerShdw>
              </a:effectLst>
            </a:endParaRPr>
          </a:p>
        </p:txBody>
      </p:sp>
      <p:sp>
        <p:nvSpPr>
          <p:cNvPr id="28675" name="Rectangle 3"/>
          <p:cNvSpPr>
            <a:spLocks noGrp="1" noRot="1" noChangeArrowheads="1"/>
          </p:cNvSpPr>
          <p:nvPr>
            <p:ph type="body" idx="4294967295"/>
          </p:nvPr>
        </p:nvSpPr>
        <p:spPr>
          <a:xfrm>
            <a:off x="533400" y="1052513"/>
            <a:ext cx="8077200" cy="5327650"/>
          </a:xfrm>
        </p:spPr>
        <p:txBody>
          <a:bodyPr/>
          <a:lstStyle/>
          <a:p>
            <a:pPr algn="just" eaLnBrk="1" hangingPunct="1">
              <a:lnSpc>
                <a:spcPct val="110000"/>
              </a:lnSpc>
              <a:defRPr/>
            </a:pPr>
            <a:endParaRPr lang="en-US" sz="2400" b="1" dirty="0" smtClean="0">
              <a:effectLst>
                <a:outerShdw blurRad="38100" dist="38100" dir="2700000" algn="tl">
                  <a:srgbClr val="000000"/>
                </a:outerShdw>
              </a:effectLst>
              <a:ea typeface="仿宋_GB2312" pitchFamily="1" charset="-122"/>
            </a:endParaRPr>
          </a:p>
          <a:p>
            <a:pPr algn="just" eaLnBrk="1" hangingPunct="1">
              <a:lnSpc>
                <a:spcPct val="110000"/>
              </a:lnSpc>
              <a:defRPr/>
            </a:pPr>
            <a:r>
              <a:rPr lang="zh-CN" altLang="en-US" sz="2400" b="1" dirty="0" smtClean="0"/>
              <a:t>所谓“打开”，是指系统将指名文件的属性</a:t>
            </a:r>
            <a:r>
              <a:rPr lang="en-US" sz="2400" b="1" dirty="0" smtClean="0"/>
              <a:t>(</a:t>
            </a:r>
            <a:r>
              <a:rPr lang="zh-CN" altLang="en-US" sz="2400" b="1" dirty="0" smtClean="0"/>
              <a:t>包括该文件在外存上的物理位置</a:t>
            </a:r>
            <a:r>
              <a:rPr lang="en-US" sz="2400" b="1" dirty="0" smtClean="0"/>
              <a:t>)</a:t>
            </a:r>
            <a:r>
              <a:rPr lang="zh-CN" altLang="en-US" sz="2400" b="1" dirty="0" smtClean="0"/>
              <a:t>从外存拷贝到内存打开文件表的一个表目中，并将该表目的编号</a:t>
            </a:r>
            <a:r>
              <a:rPr lang="en-US" sz="2400" b="1" dirty="0" smtClean="0"/>
              <a:t>(</a:t>
            </a:r>
            <a:r>
              <a:rPr lang="zh-CN" altLang="en-US" sz="2400" b="1" dirty="0" smtClean="0"/>
              <a:t>或称为索引</a:t>
            </a:r>
            <a:r>
              <a:rPr lang="en-US" sz="2400" b="1" dirty="0" smtClean="0"/>
              <a:t>)</a:t>
            </a:r>
            <a:r>
              <a:rPr lang="zh-CN" altLang="en-US" sz="2400" b="1" dirty="0" smtClean="0"/>
              <a:t>返回给用户。其步骤如下：</a:t>
            </a:r>
            <a:endParaRPr lang="zh-CN" altLang="en-US" sz="2400" b="1" dirty="0" smtClean="0"/>
          </a:p>
          <a:p>
            <a:pPr lvl="1" algn="just" eaLnBrk="1" hangingPunct="1">
              <a:lnSpc>
                <a:spcPct val="110000"/>
              </a:lnSpc>
              <a:defRPr/>
            </a:pPr>
            <a:r>
              <a:rPr lang="zh-CN" altLang="en-US" sz="2400" b="1" dirty="0" smtClean="0">
                <a:cs typeface="+mn-cs"/>
              </a:rPr>
              <a:t>首先，根据文件名查找目录文件（由目录构成的文件），找到该文件的目录信息。</a:t>
            </a:r>
            <a:endParaRPr lang="zh-CN" altLang="en-US" sz="2400" b="1" dirty="0" smtClean="0">
              <a:cs typeface="+mn-cs"/>
            </a:endParaRPr>
          </a:p>
          <a:p>
            <a:pPr lvl="1" algn="just" eaLnBrk="1" hangingPunct="1">
              <a:lnSpc>
                <a:spcPct val="110000"/>
              </a:lnSpc>
              <a:defRPr/>
            </a:pPr>
            <a:r>
              <a:rPr lang="zh-CN" altLang="en-US" sz="2400" b="1" dirty="0" smtClean="0">
                <a:cs typeface="+mn-cs"/>
              </a:rPr>
              <a:t>然后，将该目录信息装入主存，建立相应的文件控制块</a:t>
            </a:r>
            <a:r>
              <a:rPr lang="en-US" altLang="en-US" sz="2400" b="1" dirty="0" smtClean="0">
                <a:cs typeface="+mn-cs"/>
              </a:rPr>
              <a:t>FCB</a:t>
            </a:r>
            <a:r>
              <a:rPr lang="zh-CN" altLang="en-US" sz="2400" b="1" dirty="0" smtClean="0">
                <a:cs typeface="+mn-cs"/>
              </a:rPr>
              <a:t>，并将文件的当前使用信息填入</a:t>
            </a:r>
            <a:r>
              <a:rPr lang="en-US" altLang="en-US" sz="2400" b="1" dirty="0" smtClean="0">
                <a:cs typeface="+mn-cs"/>
              </a:rPr>
              <a:t>FCB</a:t>
            </a:r>
            <a:r>
              <a:rPr lang="zh-CN" altLang="en-US" sz="2400" b="1" dirty="0" smtClean="0">
                <a:cs typeface="+mn-cs"/>
              </a:rPr>
              <a:t>中。</a:t>
            </a:r>
            <a:endParaRPr lang="zh-CN" altLang="en-US" sz="2400" b="1" dirty="0" smtClean="0">
              <a:cs typeface="+mn-cs"/>
            </a:endParaRPr>
          </a:p>
          <a:p>
            <a:pPr lvl="1" algn="just" eaLnBrk="1" hangingPunct="1">
              <a:lnSpc>
                <a:spcPct val="110000"/>
              </a:lnSpc>
              <a:defRPr/>
            </a:pPr>
            <a:r>
              <a:rPr lang="zh-CN" altLang="en-US" sz="2400" b="1" dirty="0" smtClean="0">
                <a:cs typeface="+mn-cs"/>
              </a:rPr>
              <a:t>最后，返回一个文件内部标识符。</a:t>
            </a:r>
            <a:endParaRPr lang="en-US" altLang="zh-CN" sz="2400" b="1" dirty="0" smtClean="0">
              <a:cs typeface="+mn-cs"/>
            </a:endParaRPr>
          </a:p>
          <a:p>
            <a:pPr lvl="1" algn="just" eaLnBrk="1" hangingPunct="1">
              <a:lnSpc>
                <a:spcPct val="110000"/>
              </a:lnSpc>
              <a:defRPr/>
            </a:pPr>
            <a:r>
              <a:rPr lang="zh-CN" altLang="en-US" sz="2400" b="1" dirty="0" smtClean="0">
                <a:cs typeface="+mn-cs"/>
              </a:rPr>
              <a:t>如果该文件具有某种存取控制，如只读，或可读</a:t>
            </a:r>
            <a:r>
              <a:rPr lang="en-US" altLang="en-US" sz="2400" b="1" dirty="0" smtClean="0">
                <a:cs typeface="+mn-cs"/>
              </a:rPr>
              <a:t>/</a:t>
            </a:r>
            <a:r>
              <a:rPr lang="zh-CN" altLang="en-US" sz="2400" b="1" dirty="0" smtClean="0">
                <a:cs typeface="+mn-cs"/>
              </a:rPr>
              <a:t>写，则文件打开时，这种存取控制也将作为参数同时返回。</a:t>
            </a:r>
            <a:endParaRPr lang="zh-CN" altLang="en-US" sz="2400" b="1" dirty="0" smtClean="0">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674"/>
                                        </p:tgtEl>
                                        <p:attrNameLst>
                                          <p:attrName>style.visibility</p:attrName>
                                        </p:attrNameLst>
                                      </p:cBhvr>
                                      <p:to>
                                        <p:strVal val="visible"/>
                                      </p:to>
                                    </p:set>
                                    <p:animEffect transition="in" filter="fade">
                                      <p:cBhvr>
                                        <p:cTn id="7" dur="2000"/>
                                        <p:tgtEl>
                                          <p:spTgt spid="286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675">
                                            <p:txEl>
                                              <p:pRg st="1" end="1"/>
                                            </p:txEl>
                                          </p:spTgt>
                                        </p:tgtEl>
                                        <p:attrNameLst>
                                          <p:attrName>style.visibility</p:attrName>
                                        </p:attrNameLst>
                                      </p:cBhvr>
                                      <p:to>
                                        <p:strVal val="visible"/>
                                      </p:to>
                                    </p:set>
                                    <p:animEffect transition="in" filter="fade">
                                      <p:cBhvr>
                                        <p:cTn id="12" dur="2000"/>
                                        <p:tgtEl>
                                          <p:spTgt spid="28675">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8675">
                                            <p:txEl>
                                              <p:pRg st="2" end="2"/>
                                            </p:txEl>
                                          </p:spTgt>
                                        </p:tgtEl>
                                        <p:attrNameLst>
                                          <p:attrName>style.visibility</p:attrName>
                                        </p:attrNameLst>
                                      </p:cBhvr>
                                      <p:to>
                                        <p:strVal val="visible"/>
                                      </p:to>
                                    </p:set>
                                    <p:animEffect transition="in" filter="fade">
                                      <p:cBhvr>
                                        <p:cTn id="15" dur="2000"/>
                                        <p:tgtEl>
                                          <p:spTgt spid="28675">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8675">
                                            <p:txEl>
                                              <p:pRg st="3" end="3"/>
                                            </p:txEl>
                                          </p:spTgt>
                                        </p:tgtEl>
                                        <p:attrNameLst>
                                          <p:attrName>style.visibility</p:attrName>
                                        </p:attrNameLst>
                                      </p:cBhvr>
                                      <p:to>
                                        <p:strVal val="visible"/>
                                      </p:to>
                                    </p:set>
                                    <p:animEffect transition="in" filter="fade">
                                      <p:cBhvr>
                                        <p:cTn id="18" dur="2000"/>
                                        <p:tgtEl>
                                          <p:spTgt spid="28675">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8675">
                                            <p:txEl>
                                              <p:pRg st="4" end="4"/>
                                            </p:txEl>
                                          </p:spTgt>
                                        </p:tgtEl>
                                        <p:attrNameLst>
                                          <p:attrName>style.visibility</p:attrName>
                                        </p:attrNameLst>
                                      </p:cBhvr>
                                      <p:to>
                                        <p:strVal val="visible"/>
                                      </p:to>
                                    </p:set>
                                    <p:animEffect transition="in" filter="fade">
                                      <p:cBhvr>
                                        <p:cTn id="21" dur="2000"/>
                                        <p:tgtEl>
                                          <p:spTgt spid="28675">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8675">
                                            <p:txEl>
                                              <p:pRg st="5" end="5"/>
                                            </p:txEl>
                                          </p:spTgt>
                                        </p:tgtEl>
                                        <p:attrNameLst>
                                          <p:attrName>style.visibility</p:attrName>
                                        </p:attrNameLst>
                                      </p:cBhvr>
                                      <p:to>
                                        <p:strVal val="visible"/>
                                      </p:to>
                                    </p:set>
                                    <p:animEffect transition="in" filter="fade">
                                      <p:cBhvr>
                                        <p:cTn id="24" dur="2000"/>
                                        <p:tgtEl>
                                          <p:spTgt spid="2867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autoUpdateAnimBg="0"/>
      <p:bldP spid="28675" grpId="0" autoUpdateAnimBg="0" build="p"/>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2"/>
          <p:cNvSpPr>
            <a:spLocks noGrp="1" noRot="1" noChangeArrowheads="1"/>
          </p:cNvSpPr>
          <p:nvPr>
            <p:ph type="title" idx="4294967295"/>
          </p:nvPr>
        </p:nvSpPr>
        <p:spPr/>
        <p:txBody>
          <a:bodyPr/>
          <a:lstStyle/>
          <a:p>
            <a:pPr eaLnBrk="1" hangingPunct="1">
              <a:defRPr/>
            </a:pPr>
            <a:r>
              <a:rPr lang="zh-CN" altLang="en-US" b="1" u="sng" dirty="0" smtClean="0">
                <a:solidFill>
                  <a:schemeClr val="folHlink"/>
                </a:solidFill>
                <a:effectLst>
                  <a:outerShdw blurRad="38100" dist="38100" dir="2700000" algn="tl">
                    <a:srgbClr val="000000"/>
                  </a:outerShdw>
                </a:effectLst>
                <a:ea typeface="仿宋_GB2312" pitchFamily="1" charset="-122"/>
              </a:rPr>
              <a:t>对文件的操作</a:t>
            </a:r>
            <a:r>
              <a:rPr lang="en-US" altLang="zh-CN" b="1" u="sng" dirty="0" smtClean="0">
                <a:solidFill>
                  <a:schemeClr val="folHlink"/>
                </a:solidFill>
                <a:effectLst>
                  <a:outerShdw blurRad="38100" dist="38100" dir="2700000" algn="tl">
                    <a:srgbClr val="000000"/>
                  </a:outerShdw>
                </a:effectLst>
                <a:ea typeface="仿宋_GB2312" pitchFamily="1" charset="-122"/>
              </a:rPr>
              <a:t>--</a:t>
            </a:r>
            <a:r>
              <a:rPr lang="zh-CN" altLang="en-US" sz="3200" b="1" dirty="0" smtClean="0">
                <a:solidFill>
                  <a:schemeClr val="folHlink"/>
                </a:solidFill>
                <a:effectLst>
                  <a:outerShdw blurRad="38100" dist="38100" dir="2700000" algn="tl">
                    <a:srgbClr val="000000"/>
                  </a:outerShdw>
                </a:effectLst>
                <a:ea typeface="仿宋_GB2312" pitchFamily="1" charset="-122"/>
              </a:rPr>
              <a:t>关闭文件（</a:t>
            </a:r>
            <a:r>
              <a:rPr lang="en-US" sz="3200" b="1" dirty="0" smtClean="0">
                <a:solidFill>
                  <a:schemeClr val="folHlink"/>
                </a:solidFill>
                <a:effectLst>
                  <a:outerShdw blurRad="38100" dist="38100" dir="2700000" algn="tl">
                    <a:srgbClr val="000000"/>
                  </a:outerShdw>
                </a:effectLst>
                <a:ea typeface="仿宋_GB2312" pitchFamily="1" charset="-122"/>
              </a:rPr>
              <a:t>Close file </a:t>
            </a:r>
            <a:r>
              <a:rPr lang="zh-CN" altLang="en-US" sz="3200" b="1" dirty="0" smtClean="0">
                <a:solidFill>
                  <a:schemeClr val="folHlink"/>
                </a:solidFill>
                <a:effectLst>
                  <a:outerShdw blurRad="38100" dist="38100" dir="2700000" algn="tl">
                    <a:srgbClr val="000000"/>
                  </a:outerShdw>
                </a:effectLst>
                <a:ea typeface="仿宋_GB2312" pitchFamily="1" charset="-122"/>
              </a:rPr>
              <a:t>）</a:t>
            </a:r>
            <a:endParaRPr lang="zh-CN" altLang="en-US" dirty="0" smtClean="0">
              <a:solidFill>
                <a:schemeClr val="folHlink"/>
              </a:solidFill>
              <a:effectLst>
                <a:outerShdw blurRad="38100" dist="38100" dir="2700000" algn="tl">
                  <a:srgbClr val="000000"/>
                </a:outerShdw>
              </a:effectLst>
            </a:endParaRPr>
          </a:p>
        </p:txBody>
      </p:sp>
      <p:sp>
        <p:nvSpPr>
          <p:cNvPr id="29699" name="Rectangle 3"/>
          <p:cNvSpPr>
            <a:spLocks noGrp="1" noRot="1" noChangeArrowheads="1"/>
          </p:cNvSpPr>
          <p:nvPr>
            <p:ph type="body" idx="4294967295"/>
          </p:nvPr>
        </p:nvSpPr>
        <p:spPr>
          <a:xfrm>
            <a:off x="533400" y="1954213"/>
            <a:ext cx="8077200" cy="4498975"/>
          </a:xfrm>
        </p:spPr>
        <p:txBody>
          <a:bodyPr/>
          <a:lstStyle/>
          <a:p>
            <a:pPr algn="just" eaLnBrk="1" hangingPunct="1">
              <a:defRPr/>
            </a:pPr>
            <a:r>
              <a:rPr lang="zh-CN" altLang="en-US" b="1" dirty="0" smtClean="0"/>
              <a:t>将该文件</a:t>
            </a:r>
            <a:r>
              <a:rPr lang="en-US" altLang="en-US" b="1" dirty="0" smtClean="0"/>
              <a:t>FCB</a:t>
            </a:r>
            <a:r>
              <a:rPr lang="zh-CN" altLang="en-US" b="1" dirty="0" smtClean="0"/>
              <a:t>中的有关信息写入外存的目录信息中；</a:t>
            </a:r>
            <a:endParaRPr lang="zh-CN" altLang="en-US" b="1" dirty="0" smtClean="0"/>
          </a:p>
          <a:p>
            <a:pPr algn="just" eaLnBrk="1" hangingPunct="1">
              <a:defRPr/>
            </a:pPr>
            <a:endParaRPr lang="zh-CN" altLang="en-US" b="1" dirty="0" smtClean="0"/>
          </a:p>
          <a:p>
            <a:pPr algn="just" eaLnBrk="1" hangingPunct="1">
              <a:defRPr/>
            </a:pPr>
            <a:r>
              <a:rPr lang="zh-CN" altLang="en-US" b="1" dirty="0" smtClean="0"/>
              <a:t>撤消其</a:t>
            </a:r>
            <a:r>
              <a:rPr lang="en-US" altLang="en-US" b="1" dirty="0" smtClean="0"/>
              <a:t>FCB</a:t>
            </a:r>
            <a:r>
              <a:rPr lang="zh-CN" altLang="en-US" b="1" dirty="0" smtClean="0"/>
              <a:t>；</a:t>
            </a:r>
            <a:endParaRPr lang="zh-CN" altLang="en-US" b="1" dirty="0" smtClean="0"/>
          </a:p>
          <a:p>
            <a:pPr algn="just" eaLnBrk="1" hangingPunct="1">
              <a:defRPr/>
            </a:pPr>
            <a:endParaRPr lang="zh-CN" altLang="en-US" b="1" dirty="0" smtClean="0"/>
          </a:p>
          <a:p>
            <a:pPr algn="just" eaLnBrk="1" hangingPunct="1">
              <a:defRPr/>
            </a:pPr>
            <a:r>
              <a:rPr lang="zh-CN" altLang="en-US" b="1" dirty="0" smtClean="0"/>
              <a:t>释放文件占用的其它系统资源，切断用户与该文件的联系。</a:t>
            </a:r>
            <a:endParaRPr lang="zh-CN" altLang="en-US" b="1"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9698"/>
                                        </p:tgtEl>
                                        <p:attrNameLst>
                                          <p:attrName>style.visibility</p:attrName>
                                        </p:attrNameLst>
                                      </p:cBhvr>
                                      <p:to>
                                        <p:strVal val="visible"/>
                                      </p:to>
                                    </p:set>
                                    <p:animEffect transition="in" filter="fade">
                                      <p:cBhvr>
                                        <p:cTn id="7" dur="2000"/>
                                        <p:tgtEl>
                                          <p:spTgt spid="296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9699">
                                            <p:txEl>
                                              <p:pRg st="0" end="0"/>
                                            </p:txEl>
                                          </p:spTgt>
                                        </p:tgtEl>
                                        <p:attrNameLst>
                                          <p:attrName>style.visibility</p:attrName>
                                        </p:attrNameLst>
                                      </p:cBhvr>
                                      <p:to>
                                        <p:strVal val="visible"/>
                                      </p:to>
                                    </p:set>
                                    <p:animEffect transition="in" filter="fade">
                                      <p:cBhvr>
                                        <p:cTn id="12" dur="2000"/>
                                        <p:tgtEl>
                                          <p:spTgt spid="2969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9699">
                                            <p:txEl>
                                              <p:pRg st="2" end="2"/>
                                            </p:txEl>
                                          </p:spTgt>
                                        </p:tgtEl>
                                        <p:attrNameLst>
                                          <p:attrName>style.visibility</p:attrName>
                                        </p:attrNameLst>
                                      </p:cBhvr>
                                      <p:to>
                                        <p:strVal val="visible"/>
                                      </p:to>
                                    </p:set>
                                    <p:animEffect transition="in" filter="fade">
                                      <p:cBhvr>
                                        <p:cTn id="17" dur="2000"/>
                                        <p:tgtEl>
                                          <p:spTgt spid="2969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9699">
                                            <p:txEl>
                                              <p:pRg st="4" end="4"/>
                                            </p:txEl>
                                          </p:spTgt>
                                        </p:tgtEl>
                                        <p:attrNameLst>
                                          <p:attrName>style.visibility</p:attrName>
                                        </p:attrNameLst>
                                      </p:cBhvr>
                                      <p:to>
                                        <p:strVal val="visible"/>
                                      </p:to>
                                    </p:set>
                                    <p:animEffect transition="in" filter="fade">
                                      <p:cBhvr>
                                        <p:cTn id="22" dur="2000"/>
                                        <p:tgtEl>
                                          <p:spTgt spid="296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autoUpdateAnimBg="0"/>
      <p:bldP spid="29699" grpId="0" autoUpdateAnimBg="0" build="p"/>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p:cNvSpPr>
            <a:spLocks noGrp="1" noRot="1" noChangeArrowheads="1"/>
          </p:cNvSpPr>
          <p:nvPr>
            <p:ph type="title" idx="4294967295"/>
          </p:nvPr>
        </p:nvSpPr>
        <p:spPr>
          <a:xfrm>
            <a:off x="461962" y="188913"/>
            <a:ext cx="8396318" cy="1066800"/>
          </a:xfrm>
        </p:spPr>
        <p:txBody>
          <a:bodyPr/>
          <a:lstStyle/>
          <a:p>
            <a:pPr eaLnBrk="1" hangingPunct="1">
              <a:defRPr/>
            </a:pPr>
            <a:r>
              <a:rPr lang="zh-CN" altLang="en-US" b="1" u="sng" dirty="0" smtClean="0">
                <a:solidFill>
                  <a:schemeClr val="folHlink"/>
                </a:solidFill>
                <a:effectLst>
                  <a:outerShdw blurRad="38100" dist="38100" dir="2700000" algn="tl">
                    <a:srgbClr val="000000"/>
                  </a:outerShdw>
                </a:effectLst>
                <a:ea typeface="仿宋_GB2312" pitchFamily="1" charset="-122"/>
              </a:rPr>
              <a:t>对文件的操作</a:t>
            </a:r>
            <a:r>
              <a:rPr lang="en-US" altLang="zh-CN" b="1" u="sng" dirty="0" smtClean="0">
                <a:solidFill>
                  <a:schemeClr val="folHlink"/>
                </a:solidFill>
                <a:effectLst>
                  <a:outerShdw blurRad="38100" dist="38100" dir="2700000" algn="tl">
                    <a:srgbClr val="000000"/>
                  </a:outerShdw>
                </a:effectLst>
                <a:ea typeface="仿宋_GB2312" pitchFamily="1" charset="-122"/>
              </a:rPr>
              <a:t>--</a:t>
            </a:r>
            <a:r>
              <a:rPr lang="zh-CN" altLang="en-US" sz="3200" b="1" dirty="0" smtClean="0">
                <a:solidFill>
                  <a:schemeClr val="folHlink"/>
                </a:solidFill>
                <a:effectLst>
                  <a:outerShdw blurRad="38100" dist="38100" dir="2700000" algn="tl">
                    <a:srgbClr val="000000"/>
                  </a:outerShdw>
                </a:effectLst>
                <a:ea typeface="仿宋_GB2312" pitchFamily="1" charset="-122"/>
              </a:rPr>
              <a:t>撤消文件（</a:t>
            </a:r>
            <a:r>
              <a:rPr lang="en-US" sz="3200" b="1" dirty="0" smtClean="0">
                <a:solidFill>
                  <a:schemeClr val="folHlink"/>
                </a:solidFill>
                <a:effectLst>
                  <a:outerShdw blurRad="38100" dist="38100" dir="2700000" algn="tl">
                    <a:srgbClr val="000000"/>
                  </a:outerShdw>
                </a:effectLst>
                <a:ea typeface="仿宋_GB2312" pitchFamily="1" charset="-122"/>
              </a:rPr>
              <a:t>Destroy file </a:t>
            </a:r>
            <a:r>
              <a:rPr lang="zh-CN" altLang="en-US" sz="3200" b="1" dirty="0" smtClean="0">
                <a:solidFill>
                  <a:schemeClr val="folHlink"/>
                </a:solidFill>
                <a:effectLst>
                  <a:outerShdw blurRad="38100" dist="38100" dir="2700000" algn="tl">
                    <a:srgbClr val="000000"/>
                  </a:outerShdw>
                </a:effectLst>
                <a:ea typeface="仿宋_GB2312" pitchFamily="1" charset="-122"/>
              </a:rPr>
              <a:t>）</a:t>
            </a:r>
            <a:r>
              <a:rPr lang="zh-CN" altLang="en-US" b="1" dirty="0" smtClean="0">
                <a:solidFill>
                  <a:schemeClr val="folHlink"/>
                </a:solidFill>
                <a:effectLst>
                  <a:outerShdw blurRad="38100" dist="38100" dir="2700000" algn="tl">
                    <a:srgbClr val="000000"/>
                  </a:outerShdw>
                </a:effectLst>
                <a:ea typeface="仿宋_GB2312" pitchFamily="1" charset="-122"/>
              </a:rPr>
              <a:t> </a:t>
            </a:r>
            <a:endParaRPr lang="zh-CN" altLang="en-US" b="1" dirty="0" smtClean="0">
              <a:solidFill>
                <a:schemeClr val="folHlink"/>
              </a:solidFill>
              <a:effectLst>
                <a:outerShdw blurRad="38100" dist="38100" dir="2700000" algn="tl">
                  <a:srgbClr val="000000"/>
                </a:outerShdw>
              </a:effectLst>
              <a:ea typeface="仿宋_GB2312" pitchFamily="1" charset="-122"/>
            </a:endParaRPr>
          </a:p>
        </p:txBody>
      </p:sp>
      <p:sp>
        <p:nvSpPr>
          <p:cNvPr id="30723" name="Rectangle 3"/>
          <p:cNvSpPr>
            <a:spLocks noGrp="1" noRot="1" noChangeArrowheads="1"/>
          </p:cNvSpPr>
          <p:nvPr>
            <p:ph type="body" idx="4294967295"/>
          </p:nvPr>
        </p:nvSpPr>
        <p:spPr>
          <a:xfrm>
            <a:off x="533400" y="1522413"/>
            <a:ext cx="8077200" cy="4498975"/>
          </a:xfrm>
        </p:spPr>
        <p:txBody>
          <a:bodyPr/>
          <a:lstStyle/>
          <a:p>
            <a:pPr eaLnBrk="1" hangingPunct="1">
              <a:defRPr/>
            </a:pPr>
            <a:r>
              <a:rPr lang="zh-CN" altLang="en-US" b="1" dirty="0" smtClean="0"/>
              <a:t>也称删除文件。系统先从目录中找到要删除文件的目录项，使之成为空项，然后回收该文件所占用的存储空间。必须至少完成两件事：</a:t>
            </a:r>
            <a:endParaRPr lang="zh-CN" altLang="en-US" b="1" dirty="0" smtClean="0"/>
          </a:p>
          <a:p>
            <a:pPr lvl="1" eaLnBrk="1" hangingPunct="1">
              <a:defRPr/>
            </a:pPr>
            <a:r>
              <a:rPr lang="zh-CN" altLang="en-US" sz="3200" b="1" dirty="0" smtClean="0">
                <a:cs typeface="+mn-cs"/>
              </a:rPr>
              <a:t>第一，</a:t>
            </a:r>
            <a:r>
              <a:rPr lang="zh-CN" altLang="en-US" sz="3200" b="1" dirty="0" smtClean="0">
                <a:solidFill>
                  <a:srgbClr val="FF0000"/>
                </a:solidFill>
                <a:cs typeface="+mn-cs"/>
              </a:rPr>
              <a:t>判断该文件可否被删除</a:t>
            </a:r>
            <a:r>
              <a:rPr lang="zh-CN" altLang="en-US" sz="3200" b="1" dirty="0" smtClean="0">
                <a:cs typeface="+mn-cs"/>
              </a:rPr>
              <a:t>。若可以被删除，则首先删除文件的目录项，否则，给出相应提示。</a:t>
            </a:r>
            <a:endParaRPr lang="zh-CN" altLang="en-US" sz="3200" b="1" dirty="0" smtClean="0">
              <a:cs typeface="+mn-cs"/>
            </a:endParaRPr>
          </a:p>
          <a:p>
            <a:pPr lvl="1" eaLnBrk="1" hangingPunct="1">
              <a:defRPr/>
            </a:pPr>
            <a:r>
              <a:rPr lang="zh-CN" altLang="en-US" sz="3200" b="1" dirty="0" smtClean="0">
                <a:cs typeface="+mn-cs"/>
              </a:rPr>
              <a:t>第二，</a:t>
            </a:r>
            <a:r>
              <a:rPr lang="zh-CN" altLang="en-US" sz="3200" b="1" dirty="0" smtClean="0">
                <a:solidFill>
                  <a:srgbClr val="FF0000"/>
                </a:solidFill>
                <a:cs typeface="+mn-cs"/>
              </a:rPr>
              <a:t>回收该文件所占用的外存空间</a:t>
            </a:r>
            <a:r>
              <a:rPr lang="zh-CN" altLang="en-US" sz="3200" b="1" dirty="0" smtClean="0">
                <a:cs typeface="+mn-cs"/>
              </a:rPr>
              <a:t>。</a:t>
            </a:r>
            <a:endParaRPr lang="zh-CN" altLang="en-US" sz="3200" b="1" dirty="0" smtClean="0">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0722"/>
                                        </p:tgtEl>
                                        <p:attrNameLst>
                                          <p:attrName>style.visibility</p:attrName>
                                        </p:attrNameLst>
                                      </p:cBhvr>
                                      <p:to>
                                        <p:strVal val="visible"/>
                                      </p:to>
                                    </p:set>
                                    <p:animEffect transition="in" filter="fade">
                                      <p:cBhvr>
                                        <p:cTn id="7" dur="2000"/>
                                        <p:tgtEl>
                                          <p:spTgt spid="307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723">
                                            <p:txEl>
                                              <p:pRg st="0" end="0"/>
                                            </p:txEl>
                                          </p:spTgt>
                                        </p:tgtEl>
                                        <p:attrNameLst>
                                          <p:attrName>style.visibility</p:attrName>
                                        </p:attrNameLst>
                                      </p:cBhvr>
                                      <p:to>
                                        <p:strVal val="visible"/>
                                      </p:to>
                                    </p:set>
                                    <p:animEffect transition="in" filter="fade">
                                      <p:cBhvr>
                                        <p:cTn id="12" dur="2000"/>
                                        <p:tgtEl>
                                          <p:spTgt spid="3072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0723">
                                            <p:txEl>
                                              <p:pRg st="1" end="1"/>
                                            </p:txEl>
                                          </p:spTgt>
                                        </p:tgtEl>
                                        <p:attrNameLst>
                                          <p:attrName>style.visibility</p:attrName>
                                        </p:attrNameLst>
                                      </p:cBhvr>
                                      <p:to>
                                        <p:strVal val="visible"/>
                                      </p:to>
                                    </p:set>
                                    <p:animEffect transition="in" filter="fade">
                                      <p:cBhvr>
                                        <p:cTn id="15" dur="2000"/>
                                        <p:tgtEl>
                                          <p:spTgt spid="3072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723">
                                            <p:txEl>
                                              <p:pRg st="2" end="2"/>
                                            </p:txEl>
                                          </p:spTgt>
                                        </p:tgtEl>
                                        <p:attrNameLst>
                                          <p:attrName>style.visibility</p:attrName>
                                        </p:attrNameLst>
                                      </p:cBhvr>
                                      <p:to>
                                        <p:strVal val="visible"/>
                                      </p:to>
                                    </p:set>
                                    <p:animEffect transition="in" filter="fade">
                                      <p:cBhvr>
                                        <p:cTn id="18" dur="2000"/>
                                        <p:tgtEl>
                                          <p:spTgt spid="307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autoUpdateAnimBg="0"/>
      <p:bldP spid="30723" grpId="0" autoUpdateAnimBg="0" build="p"/>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2"/>
          <p:cNvSpPr>
            <a:spLocks noGrp="1" noRot="1" noChangeArrowheads="1"/>
          </p:cNvSpPr>
          <p:nvPr>
            <p:ph type="title" idx="4294967295"/>
          </p:nvPr>
        </p:nvSpPr>
        <p:spPr/>
        <p:txBody>
          <a:bodyPr/>
          <a:lstStyle/>
          <a:p>
            <a:pPr eaLnBrk="1" hangingPunct="1">
              <a:defRPr/>
            </a:pPr>
            <a:r>
              <a:rPr lang="zh-CN" altLang="en-US" b="1" u="sng" dirty="0" smtClean="0">
                <a:solidFill>
                  <a:schemeClr val="folHlink"/>
                </a:solidFill>
                <a:effectLst>
                  <a:outerShdw blurRad="38100" dist="38100" dir="2700000" algn="tl">
                    <a:srgbClr val="000000"/>
                  </a:outerShdw>
                </a:effectLst>
                <a:ea typeface="仿宋_GB2312" pitchFamily="1" charset="-122"/>
              </a:rPr>
              <a:t>对文件的操作</a:t>
            </a:r>
            <a:r>
              <a:rPr lang="en-US" altLang="zh-CN" b="1" u="sng" dirty="0" smtClean="0">
                <a:solidFill>
                  <a:schemeClr val="folHlink"/>
                </a:solidFill>
                <a:effectLst>
                  <a:outerShdw blurRad="38100" dist="38100" dir="2700000" algn="tl">
                    <a:srgbClr val="000000"/>
                  </a:outerShdw>
                </a:effectLst>
                <a:ea typeface="仿宋_GB2312" pitchFamily="1" charset="-122"/>
              </a:rPr>
              <a:t>--</a:t>
            </a:r>
            <a:r>
              <a:rPr lang="zh-CN" altLang="en-US" sz="3200" b="1" dirty="0" smtClean="0">
                <a:solidFill>
                  <a:schemeClr val="folHlink"/>
                </a:solidFill>
                <a:effectLst>
                  <a:outerShdw blurRad="38100" dist="38100" dir="2700000" algn="tl">
                    <a:srgbClr val="000000"/>
                  </a:outerShdw>
                </a:effectLst>
                <a:ea typeface="仿宋_GB2312" pitchFamily="1" charset="-122"/>
              </a:rPr>
              <a:t>复制文件（</a:t>
            </a:r>
            <a:r>
              <a:rPr lang="en-US" sz="3200" b="1" dirty="0" smtClean="0">
                <a:solidFill>
                  <a:schemeClr val="folHlink"/>
                </a:solidFill>
                <a:effectLst>
                  <a:outerShdw blurRad="38100" dist="38100" dir="2700000" algn="tl">
                    <a:srgbClr val="000000"/>
                  </a:outerShdw>
                </a:effectLst>
                <a:ea typeface="仿宋_GB2312" pitchFamily="1" charset="-122"/>
              </a:rPr>
              <a:t>Copy file</a:t>
            </a:r>
            <a:r>
              <a:rPr lang="zh-CN" altLang="en-US" sz="3200" b="1" dirty="0" smtClean="0">
                <a:solidFill>
                  <a:schemeClr val="folHlink"/>
                </a:solidFill>
                <a:effectLst>
                  <a:outerShdw blurRad="38100" dist="38100" dir="2700000" algn="tl">
                    <a:srgbClr val="000000"/>
                  </a:outerShdw>
                </a:effectLst>
                <a:ea typeface="仿宋_GB2312" pitchFamily="1" charset="-122"/>
              </a:rPr>
              <a:t>）</a:t>
            </a:r>
            <a:r>
              <a:rPr lang="zh-CN" altLang="en-US" b="1" dirty="0" smtClean="0">
                <a:effectLst>
                  <a:outerShdw blurRad="38100" dist="38100" dir="2700000" algn="tl">
                    <a:srgbClr val="000000"/>
                  </a:outerShdw>
                </a:effectLst>
                <a:ea typeface="仿宋_GB2312" pitchFamily="1" charset="-122"/>
              </a:rPr>
              <a:t> </a:t>
            </a:r>
            <a:endParaRPr lang="zh-CN" altLang="en-US" b="1" dirty="0" smtClean="0">
              <a:effectLst>
                <a:outerShdw blurRad="38100" dist="38100" dir="2700000" algn="tl">
                  <a:srgbClr val="000000"/>
                </a:outerShdw>
              </a:effectLst>
              <a:ea typeface="仿宋_GB2312" pitchFamily="1" charset="-122"/>
            </a:endParaRPr>
          </a:p>
        </p:txBody>
      </p:sp>
      <p:sp>
        <p:nvSpPr>
          <p:cNvPr id="31747" name="Rectangle 3"/>
          <p:cNvSpPr>
            <a:spLocks noGrp="1" noRot="1" noChangeArrowheads="1"/>
          </p:cNvSpPr>
          <p:nvPr>
            <p:ph type="body" idx="4294967295"/>
          </p:nvPr>
        </p:nvSpPr>
        <p:spPr>
          <a:xfrm>
            <a:off x="533400" y="1809750"/>
            <a:ext cx="8077200" cy="4498975"/>
          </a:xfrm>
        </p:spPr>
        <p:txBody>
          <a:bodyPr/>
          <a:lstStyle/>
          <a:p>
            <a:pPr algn="just" eaLnBrk="1" hangingPunct="1">
              <a:defRPr/>
            </a:pPr>
            <a:r>
              <a:rPr lang="zh-CN" altLang="en-US" b="1" dirty="0" smtClean="0"/>
              <a:t>拷贝文件内容及其目录项。</a:t>
            </a:r>
            <a:endParaRPr lang="zh-CN" altLang="en-US" b="1" dirty="0" smtClean="0"/>
          </a:p>
          <a:p>
            <a:pPr algn="just" eaLnBrk="1" hangingPunct="1">
              <a:defRPr/>
            </a:pPr>
            <a:r>
              <a:rPr lang="zh-CN" altLang="en-US" b="1" dirty="0" smtClean="0"/>
              <a:t>首先查找目录文件，找到该文件的目录项，从中找出该文件的外存地址；</a:t>
            </a:r>
            <a:endParaRPr lang="zh-CN" altLang="en-US" b="1" dirty="0" smtClean="0"/>
          </a:p>
          <a:p>
            <a:pPr algn="just" eaLnBrk="1" hangingPunct="1">
              <a:defRPr/>
            </a:pPr>
            <a:r>
              <a:rPr lang="zh-CN" altLang="en-US" b="1" dirty="0" smtClean="0"/>
              <a:t>通过该地址找到文件内容；</a:t>
            </a:r>
            <a:endParaRPr lang="zh-CN" altLang="en-US" b="1" dirty="0" smtClean="0"/>
          </a:p>
          <a:p>
            <a:pPr algn="just" eaLnBrk="1" hangingPunct="1">
              <a:defRPr/>
            </a:pPr>
            <a:r>
              <a:rPr lang="zh-CN" altLang="en-US" b="1" dirty="0" smtClean="0"/>
              <a:t>然后，将其目录项及文件内容，按指定的路径拷贝过去。</a:t>
            </a:r>
            <a:endParaRPr lang="zh-CN" altLang="en-US" b="1"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1746"/>
                                        </p:tgtEl>
                                        <p:attrNameLst>
                                          <p:attrName>style.visibility</p:attrName>
                                        </p:attrNameLst>
                                      </p:cBhvr>
                                      <p:to>
                                        <p:strVal val="visible"/>
                                      </p:to>
                                    </p:set>
                                    <p:animEffect transition="in" filter="fade">
                                      <p:cBhvr>
                                        <p:cTn id="7" dur="2000"/>
                                        <p:tgtEl>
                                          <p:spTgt spid="317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1747">
                                            <p:txEl>
                                              <p:pRg st="0" end="0"/>
                                            </p:txEl>
                                          </p:spTgt>
                                        </p:tgtEl>
                                        <p:attrNameLst>
                                          <p:attrName>style.visibility</p:attrName>
                                        </p:attrNameLst>
                                      </p:cBhvr>
                                      <p:to>
                                        <p:strVal val="visible"/>
                                      </p:to>
                                    </p:set>
                                    <p:animEffect transition="in" filter="fade">
                                      <p:cBhvr>
                                        <p:cTn id="12" dur="2000"/>
                                        <p:tgtEl>
                                          <p:spTgt spid="3174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1747">
                                            <p:txEl>
                                              <p:pRg st="1" end="1"/>
                                            </p:txEl>
                                          </p:spTgt>
                                        </p:tgtEl>
                                        <p:attrNameLst>
                                          <p:attrName>style.visibility</p:attrName>
                                        </p:attrNameLst>
                                      </p:cBhvr>
                                      <p:to>
                                        <p:strVal val="visible"/>
                                      </p:to>
                                    </p:set>
                                    <p:animEffect transition="in" filter="fade">
                                      <p:cBhvr>
                                        <p:cTn id="17" dur="2000"/>
                                        <p:tgtEl>
                                          <p:spTgt spid="3174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1747">
                                            <p:txEl>
                                              <p:pRg st="2" end="2"/>
                                            </p:txEl>
                                          </p:spTgt>
                                        </p:tgtEl>
                                        <p:attrNameLst>
                                          <p:attrName>style.visibility</p:attrName>
                                        </p:attrNameLst>
                                      </p:cBhvr>
                                      <p:to>
                                        <p:strVal val="visible"/>
                                      </p:to>
                                    </p:set>
                                    <p:animEffect transition="in" filter="fade">
                                      <p:cBhvr>
                                        <p:cTn id="22" dur="2000"/>
                                        <p:tgtEl>
                                          <p:spTgt spid="3174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1747">
                                            <p:txEl>
                                              <p:pRg st="3" end="3"/>
                                            </p:txEl>
                                          </p:spTgt>
                                        </p:tgtEl>
                                        <p:attrNameLst>
                                          <p:attrName>style.visibility</p:attrName>
                                        </p:attrNameLst>
                                      </p:cBhvr>
                                      <p:to>
                                        <p:strVal val="visible"/>
                                      </p:to>
                                    </p:set>
                                    <p:animEffect transition="in" filter="fade">
                                      <p:cBhvr>
                                        <p:cTn id="27" dur="2000"/>
                                        <p:tgtEl>
                                          <p:spTgt spid="317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autoUpdateAnimBg="0"/>
      <p:bldP spid="31747" grpId="0" autoUpdateAnimBg="0" build="p"/>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p:cNvSpPr>
            <a:spLocks noGrp="1" noRot="1" noChangeArrowheads="1"/>
          </p:cNvSpPr>
          <p:nvPr>
            <p:ph type="title" idx="4294967295"/>
          </p:nvPr>
        </p:nvSpPr>
        <p:spPr/>
        <p:txBody>
          <a:bodyPr/>
          <a:lstStyle/>
          <a:p>
            <a:pPr eaLnBrk="1" hangingPunct="1">
              <a:defRPr/>
            </a:pPr>
            <a:r>
              <a:rPr lang="zh-CN" altLang="en-US" b="1" u="sng" dirty="0" smtClean="0">
                <a:solidFill>
                  <a:schemeClr val="folHlink"/>
                </a:solidFill>
                <a:effectLst>
                  <a:outerShdw blurRad="38100" dist="38100" dir="2700000" algn="tl">
                    <a:srgbClr val="000000"/>
                  </a:outerShdw>
                </a:effectLst>
                <a:ea typeface="仿宋_GB2312" pitchFamily="1" charset="-122"/>
              </a:rPr>
              <a:t>对文件的操作</a:t>
            </a:r>
            <a:r>
              <a:rPr lang="en-US" altLang="zh-CN" b="1" u="sng" dirty="0" smtClean="0">
                <a:solidFill>
                  <a:schemeClr val="folHlink"/>
                </a:solidFill>
                <a:effectLst>
                  <a:outerShdw blurRad="38100" dist="38100" dir="2700000" algn="tl">
                    <a:srgbClr val="000000"/>
                  </a:outerShdw>
                </a:effectLst>
                <a:ea typeface="仿宋_GB2312" pitchFamily="1" charset="-122"/>
              </a:rPr>
              <a:t>--</a:t>
            </a:r>
            <a:r>
              <a:rPr lang="zh-CN" altLang="en-US" sz="3200" b="1" dirty="0" smtClean="0">
                <a:solidFill>
                  <a:schemeClr val="folHlink"/>
                </a:solidFill>
                <a:effectLst>
                  <a:outerShdw blurRad="38100" dist="38100" dir="2700000" algn="tl">
                    <a:srgbClr val="000000"/>
                  </a:outerShdw>
                </a:effectLst>
                <a:ea typeface="仿宋_GB2312" pitchFamily="1" charset="-122"/>
              </a:rPr>
              <a:t>修改文件名（</a:t>
            </a:r>
            <a:r>
              <a:rPr lang="en-US" sz="3200" b="1" dirty="0" smtClean="0">
                <a:solidFill>
                  <a:schemeClr val="folHlink"/>
                </a:solidFill>
                <a:effectLst>
                  <a:outerShdw blurRad="38100" dist="38100" dir="2700000" algn="tl">
                    <a:srgbClr val="000000"/>
                  </a:outerShdw>
                </a:effectLst>
                <a:ea typeface="仿宋_GB2312" pitchFamily="1" charset="-122"/>
              </a:rPr>
              <a:t>Rename</a:t>
            </a:r>
            <a:r>
              <a:rPr lang="zh-CN" altLang="en-US" sz="3200" b="1" dirty="0" smtClean="0">
                <a:solidFill>
                  <a:schemeClr val="folHlink"/>
                </a:solidFill>
                <a:effectLst>
                  <a:outerShdw blurRad="38100" dist="38100" dir="2700000" algn="tl">
                    <a:srgbClr val="000000"/>
                  </a:outerShdw>
                </a:effectLst>
                <a:ea typeface="仿宋_GB2312" pitchFamily="1" charset="-122"/>
              </a:rPr>
              <a:t>）</a:t>
            </a:r>
            <a:r>
              <a:rPr lang="zh-CN" altLang="en-US" b="1" dirty="0" smtClean="0">
                <a:effectLst>
                  <a:outerShdw blurRad="38100" dist="38100" dir="2700000" algn="tl">
                    <a:srgbClr val="000000"/>
                  </a:outerShdw>
                </a:effectLst>
                <a:ea typeface="仿宋_GB2312" pitchFamily="1" charset="-122"/>
              </a:rPr>
              <a:t> </a:t>
            </a:r>
            <a:endParaRPr lang="zh-CN" altLang="en-US" b="1" dirty="0" smtClean="0">
              <a:effectLst>
                <a:outerShdw blurRad="38100" dist="38100" dir="2700000" algn="tl">
                  <a:srgbClr val="000000"/>
                </a:outerShdw>
              </a:effectLst>
              <a:ea typeface="仿宋_GB2312" pitchFamily="1" charset="-122"/>
            </a:endParaRPr>
          </a:p>
        </p:txBody>
      </p:sp>
      <p:sp>
        <p:nvSpPr>
          <p:cNvPr id="32771" name="Rectangle 3"/>
          <p:cNvSpPr>
            <a:spLocks noGrp="1" noRot="1" noChangeArrowheads="1"/>
          </p:cNvSpPr>
          <p:nvPr>
            <p:ph type="body" idx="4294967295"/>
          </p:nvPr>
        </p:nvSpPr>
        <p:spPr/>
        <p:txBody>
          <a:bodyPr/>
          <a:lstStyle/>
          <a:p>
            <a:pPr algn="just" eaLnBrk="1" hangingPunct="1">
              <a:defRPr/>
            </a:pPr>
            <a:endParaRPr lang="en-US" b="1" dirty="0" smtClean="0">
              <a:effectLst>
                <a:outerShdw blurRad="38100" dist="38100" dir="2700000" algn="tl">
                  <a:srgbClr val="000000"/>
                </a:outerShdw>
              </a:effectLst>
              <a:ea typeface="仿宋_GB2312" pitchFamily="1" charset="-122"/>
            </a:endParaRPr>
          </a:p>
          <a:p>
            <a:pPr algn="just" eaLnBrk="1" hangingPunct="1">
              <a:defRPr/>
            </a:pPr>
            <a:r>
              <a:rPr lang="zh-CN" altLang="en-US" b="1" dirty="0" smtClean="0"/>
              <a:t>首先在目录文件中查找指定文件名的目录项；</a:t>
            </a:r>
            <a:endParaRPr lang="zh-CN" altLang="en-US" b="1" dirty="0" smtClean="0"/>
          </a:p>
          <a:p>
            <a:pPr algn="just" eaLnBrk="1" hangingPunct="1">
              <a:defRPr/>
            </a:pPr>
            <a:endParaRPr lang="zh-CN" altLang="en-US" b="1" dirty="0" smtClean="0"/>
          </a:p>
          <a:p>
            <a:pPr algn="just" eaLnBrk="1" hangingPunct="1">
              <a:defRPr/>
            </a:pPr>
            <a:r>
              <a:rPr lang="zh-CN" altLang="en-US" b="1" dirty="0" smtClean="0"/>
              <a:t>然后将其中的文件名更换成新的文件名。</a:t>
            </a:r>
            <a:endParaRPr lang="zh-CN" altLang="en-US" b="1"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2770"/>
                                        </p:tgtEl>
                                        <p:attrNameLst>
                                          <p:attrName>style.visibility</p:attrName>
                                        </p:attrNameLst>
                                      </p:cBhvr>
                                      <p:to>
                                        <p:strVal val="visible"/>
                                      </p:to>
                                    </p:set>
                                    <p:animEffect transition="in" filter="fade">
                                      <p:cBhvr>
                                        <p:cTn id="7" dur="2000"/>
                                        <p:tgtEl>
                                          <p:spTgt spid="327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771">
                                            <p:txEl>
                                              <p:pRg st="1" end="1"/>
                                            </p:txEl>
                                          </p:spTgt>
                                        </p:tgtEl>
                                        <p:attrNameLst>
                                          <p:attrName>style.visibility</p:attrName>
                                        </p:attrNameLst>
                                      </p:cBhvr>
                                      <p:to>
                                        <p:strVal val="visible"/>
                                      </p:to>
                                    </p:set>
                                    <p:animEffect transition="in" filter="fade">
                                      <p:cBhvr>
                                        <p:cTn id="12" dur="2000"/>
                                        <p:tgtEl>
                                          <p:spTgt spid="327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2771">
                                            <p:txEl>
                                              <p:pRg st="3" end="3"/>
                                            </p:txEl>
                                          </p:spTgt>
                                        </p:tgtEl>
                                        <p:attrNameLst>
                                          <p:attrName>style.visibility</p:attrName>
                                        </p:attrNameLst>
                                      </p:cBhvr>
                                      <p:to>
                                        <p:strVal val="visible"/>
                                      </p:to>
                                    </p:set>
                                    <p:animEffect transition="in" filter="fade">
                                      <p:cBhvr>
                                        <p:cTn id="17" dur="2000"/>
                                        <p:tgtEl>
                                          <p:spTgt spid="327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autoUpdateAnimBg="0"/>
      <p:bldP spid="32771" grpId="0" autoUpdateAnimBg="0" build="p"/>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2"/>
          <p:cNvSpPr>
            <a:spLocks noGrp="1" noRot="1" noChangeArrowheads="1"/>
          </p:cNvSpPr>
          <p:nvPr>
            <p:ph type="title" idx="4294967295"/>
          </p:nvPr>
        </p:nvSpPr>
        <p:spPr/>
        <p:txBody>
          <a:bodyPr/>
          <a:lstStyle/>
          <a:p>
            <a:pPr eaLnBrk="1" hangingPunct="1">
              <a:defRPr/>
            </a:pPr>
            <a:r>
              <a:rPr lang="zh-CN" altLang="en-US" b="1" u="sng" dirty="0" smtClean="0">
                <a:solidFill>
                  <a:schemeClr val="folHlink"/>
                </a:solidFill>
                <a:effectLst>
                  <a:outerShdw blurRad="38100" dist="38100" dir="2700000" algn="tl">
                    <a:srgbClr val="000000"/>
                  </a:outerShdw>
                </a:effectLst>
                <a:ea typeface="仿宋_GB2312" pitchFamily="1" charset="-122"/>
              </a:rPr>
              <a:t>对文件的操作</a:t>
            </a:r>
            <a:r>
              <a:rPr lang="en-US" altLang="zh-CN" b="1" u="sng" dirty="0" smtClean="0">
                <a:solidFill>
                  <a:schemeClr val="folHlink"/>
                </a:solidFill>
                <a:effectLst>
                  <a:outerShdw blurRad="38100" dist="38100" dir="2700000" algn="tl">
                    <a:srgbClr val="000000"/>
                  </a:outerShdw>
                </a:effectLst>
                <a:ea typeface="仿宋_GB2312" pitchFamily="1" charset="-122"/>
              </a:rPr>
              <a:t>--</a:t>
            </a:r>
            <a:r>
              <a:rPr lang="zh-CN" altLang="en-US" sz="3200" b="1" dirty="0" smtClean="0">
                <a:solidFill>
                  <a:schemeClr val="folHlink"/>
                </a:solidFill>
                <a:effectLst>
                  <a:outerShdw blurRad="38100" dist="38100" dir="2700000" algn="tl">
                    <a:srgbClr val="000000"/>
                  </a:outerShdw>
                </a:effectLst>
                <a:ea typeface="仿宋_GB2312" pitchFamily="1" charset="-122"/>
              </a:rPr>
              <a:t>读操作（</a:t>
            </a:r>
            <a:r>
              <a:rPr lang="en-US" sz="3200" b="1" dirty="0" smtClean="0">
                <a:solidFill>
                  <a:schemeClr val="folHlink"/>
                </a:solidFill>
                <a:effectLst>
                  <a:outerShdw blurRad="38100" dist="38100" dir="2700000" algn="tl">
                    <a:srgbClr val="000000"/>
                  </a:outerShdw>
                </a:effectLst>
                <a:ea typeface="仿宋_GB2312" pitchFamily="1" charset="-122"/>
              </a:rPr>
              <a:t>Read</a:t>
            </a:r>
            <a:r>
              <a:rPr lang="zh-CN" altLang="en-US" sz="3200" b="1" dirty="0" smtClean="0">
                <a:solidFill>
                  <a:schemeClr val="folHlink"/>
                </a:solidFill>
                <a:effectLst>
                  <a:outerShdw blurRad="38100" dist="38100" dir="2700000" algn="tl">
                    <a:srgbClr val="000000"/>
                  </a:outerShdw>
                </a:effectLst>
                <a:ea typeface="仿宋_GB2312" pitchFamily="1" charset="-122"/>
              </a:rPr>
              <a:t>）</a:t>
            </a:r>
            <a:r>
              <a:rPr lang="zh-CN" altLang="en-US" b="1" dirty="0" smtClean="0">
                <a:effectLst>
                  <a:outerShdw blurRad="38100" dist="38100" dir="2700000" algn="tl">
                    <a:srgbClr val="000000"/>
                  </a:outerShdw>
                </a:effectLst>
                <a:ea typeface="仿宋_GB2312" pitchFamily="1" charset="-122"/>
              </a:rPr>
              <a:t> </a:t>
            </a:r>
            <a:endParaRPr lang="zh-CN" altLang="en-US" b="1" dirty="0" smtClean="0">
              <a:effectLst>
                <a:outerShdw blurRad="38100" dist="38100" dir="2700000" algn="tl">
                  <a:srgbClr val="000000"/>
                </a:outerShdw>
              </a:effectLst>
              <a:ea typeface="仿宋_GB2312" pitchFamily="1" charset="-122"/>
            </a:endParaRPr>
          </a:p>
        </p:txBody>
      </p:sp>
      <p:sp>
        <p:nvSpPr>
          <p:cNvPr id="33795" name="Rectangle 3"/>
          <p:cNvSpPr>
            <a:spLocks noGrp="1" noRot="1" noChangeArrowheads="1"/>
          </p:cNvSpPr>
          <p:nvPr>
            <p:ph type="body" idx="4294967295"/>
          </p:nvPr>
        </p:nvSpPr>
        <p:spPr/>
        <p:txBody>
          <a:bodyPr/>
          <a:lstStyle/>
          <a:p>
            <a:pPr algn="just" eaLnBrk="1" hangingPunct="1">
              <a:defRPr/>
            </a:pPr>
            <a:r>
              <a:rPr lang="zh-CN" altLang="en-US" b="1" dirty="0" smtClean="0"/>
              <a:t>给出文件名和所读字节数。</a:t>
            </a:r>
            <a:endParaRPr lang="zh-CN" altLang="en-US" b="1" dirty="0" smtClean="0"/>
          </a:p>
          <a:p>
            <a:pPr algn="just" eaLnBrk="1" hangingPunct="1">
              <a:defRPr/>
            </a:pPr>
            <a:r>
              <a:rPr lang="zh-CN" altLang="en-US" b="1" dirty="0" smtClean="0"/>
              <a:t>首先</a:t>
            </a:r>
            <a:r>
              <a:rPr lang="zh-CN" altLang="en-US" b="1" dirty="0" smtClean="0">
                <a:solidFill>
                  <a:srgbClr val="FF0000"/>
                </a:solidFill>
              </a:rPr>
              <a:t>查找目录文件</a:t>
            </a:r>
            <a:r>
              <a:rPr lang="zh-CN" altLang="en-US" b="1" dirty="0" smtClean="0"/>
              <a:t>，找到指定文件的目录项，从中找出该文件的外存地址；</a:t>
            </a:r>
            <a:endParaRPr lang="zh-CN" altLang="en-US" b="1" dirty="0" smtClean="0"/>
          </a:p>
          <a:p>
            <a:pPr algn="just" eaLnBrk="1" hangingPunct="1">
              <a:defRPr/>
            </a:pPr>
            <a:r>
              <a:rPr lang="zh-CN" altLang="en-US" b="1" dirty="0" smtClean="0"/>
              <a:t>然后，从该文件读指针所指位置开始，</a:t>
            </a:r>
            <a:r>
              <a:rPr lang="zh-CN" altLang="en-US" b="1" dirty="0" smtClean="0">
                <a:solidFill>
                  <a:srgbClr val="FF0000"/>
                </a:solidFill>
              </a:rPr>
              <a:t>读取指定长度的字节数到缓冲区</a:t>
            </a:r>
            <a:r>
              <a:rPr lang="zh-CN" altLang="en-US" b="1" dirty="0" smtClean="0"/>
              <a:t>，同时该文件的读指针顺延指定长度的位置。</a:t>
            </a:r>
            <a:endParaRPr lang="zh-CN" altLang="en-US" b="1" dirty="0" smtClean="0"/>
          </a:p>
          <a:p>
            <a:pPr algn="just" eaLnBrk="1" hangingPunct="1">
              <a:defRPr/>
            </a:pPr>
            <a:r>
              <a:rPr lang="zh-CN" altLang="en-US" b="1" dirty="0" smtClean="0"/>
              <a:t>最后，</a:t>
            </a:r>
            <a:r>
              <a:rPr lang="zh-CN" altLang="en-US" b="1" dirty="0" smtClean="0">
                <a:solidFill>
                  <a:srgbClr val="FF0000"/>
                </a:solidFill>
              </a:rPr>
              <a:t>返回最新读指针位置值</a:t>
            </a:r>
            <a:r>
              <a:rPr lang="zh-CN" altLang="en-US" b="1" dirty="0" smtClean="0"/>
              <a:t>。如果读指针遇到文件结束标志，则给出相应提示信息。</a:t>
            </a:r>
            <a:endParaRPr lang="zh-CN" altLang="en-US" b="1"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3794"/>
                                        </p:tgtEl>
                                        <p:attrNameLst>
                                          <p:attrName>style.visibility</p:attrName>
                                        </p:attrNameLst>
                                      </p:cBhvr>
                                      <p:to>
                                        <p:strVal val="visible"/>
                                      </p:to>
                                    </p:set>
                                    <p:animEffect transition="in" filter="fade">
                                      <p:cBhvr>
                                        <p:cTn id="7" dur="2000"/>
                                        <p:tgtEl>
                                          <p:spTgt spid="337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3795">
                                            <p:txEl>
                                              <p:pRg st="0" end="0"/>
                                            </p:txEl>
                                          </p:spTgt>
                                        </p:tgtEl>
                                        <p:attrNameLst>
                                          <p:attrName>style.visibility</p:attrName>
                                        </p:attrNameLst>
                                      </p:cBhvr>
                                      <p:to>
                                        <p:strVal val="visible"/>
                                      </p:to>
                                    </p:set>
                                    <p:animEffect transition="in" filter="fade">
                                      <p:cBhvr>
                                        <p:cTn id="12" dur="2000"/>
                                        <p:tgtEl>
                                          <p:spTgt spid="3379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3795">
                                            <p:txEl>
                                              <p:pRg st="1" end="1"/>
                                            </p:txEl>
                                          </p:spTgt>
                                        </p:tgtEl>
                                        <p:attrNameLst>
                                          <p:attrName>style.visibility</p:attrName>
                                        </p:attrNameLst>
                                      </p:cBhvr>
                                      <p:to>
                                        <p:strVal val="visible"/>
                                      </p:to>
                                    </p:set>
                                    <p:animEffect transition="in" filter="fade">
                                      <p:cBhvr>
                                        <p:cTn id="17" dur="2000"/>
                                        <p:tgtEl>
                                          <p:spTgt spid="3379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3795">
                                            <p:txEl>
                                              <p:pRg st="2" end="2"/>
                                            </p:txEl>
                                          </p:spTgt>
                                        </p:tgtEl>
                                        <p:attrNameLst>
                                          <p:attrName>style.visibility</p:attrName>
                                        </p:attrNameLst>
                                      </p:cBhvr>
                                      <p:to>
                                        <p:strVal val="visible"/>
                                      </p:to>
                                    </p:set>
                                    <p:animEffect transition="in" filter="fade">
                                      <p:cBhvr>
                                        <p:cTn id="22" dur="2000"/>
                                        <p:tgtEl>
                                          <p:spTgt spid="3379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3795">
                                            <p:txEl>
                                              <p:pRg st="3" end="3"/>
                                            </p:txEl>
                                          </p:spTgt>
                                        </p:tgtEl>
                                        <p:attrNameLst>
                                          <p:attrName>style.visibility</p:attrName>
                                        </p:attrNameLst>
                                      </p:cBhvr>
                                      <p:to>
                                        <p:strVal val="visible"/>
                                      </p:to>
                                    </p:set>
                                    <p:animEffect transition="in" filter="fade">
                                      <p:cBhvr>
                                        <p:cTn id="27" dur="2000"/>
                                        <p:tgtEl>
                                          <p:spTgt spid="337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4" grpId="0" autoUpdateAnimBg="0"/>
      <p:bldP spid="33795" grpId="0" autoUpdateAnimBg="0" build="p"/>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p:cNvSpPr>
            <a:spLocks noGrp="1" noRot="1" noChangeArrowheads="1"/>
          </p:cNvSpPr>
          <p:nvPr>
            <p:ph type="title" idx="4294967295"/>
          </p:nvPr>
        </p:nvSpPr>
        <p:spPr/>
        <p:txBody>
          <a:bodyPr/>
          <a:lstStyle/>
          <a:p>
            <a:pPr eaLnBrk="1" hangingPunct="1">
              <a:defRPr/>
            </a:pPr>
            <a:r>
              <a:rPr lang="zh-CN" altLang="en-US" b="1" u="sng" dirty="0" smtClean="0">
                <a:solidFill>
                  <a:schemeClr val="folHlink"/>
                </a:solidFill>
                <a:effectLst>
                  <a:outerShdw blurRad="38100" dist="38100" dir="2700000" algn="tl">
                    <a:srgbClr val="000000"/>
                  </a:outerShdw>
                </a:effectLst>
                <a:ea typeface="仿宋_GB2312" pitchFamily="1" charset="-122"/>
              </a:rPr>
              <a:t>对文件的操作</a:t>
            </a:r>
            <a:r>
              <a:rPr lang="en-US" altLang="zh-CN" b="1" u="sng" dirty="0" smtClean="0">
                <a:solidFill>
                  <a:schemeClr val="folHlink"/>
                </a:solidFill>
                <a:effectLst>
                  <a:outerShdw blurRad="38100" dist="38100" dir="2700000" algn="tl">
                    <a:srgbClr val="000000"/>
                  </a:outerShdw>
                </a:effectLst>
                <a:ea typeface="仿宋_GB2312" pitchFamily="1" charset="-122"/>
              </a:rPr>
              <a:t>--</a:t>
            </a:r>
            <a:r>
              <a:rPr lang="zh-CN" altLang="en-US" sz="3200" b="1" dirty="0" smtClean="0">
                <a:solidFill>
                  <a:schemeClr val="folHlink"/>
                </a:solidFill>
                <a:effectLst>
                  <a:outerShdw blurRad="38100" dist="38100" dir="2700000" algn="tl">
                    <a:srgbClr val="000000"/>
                  </a:outerShdw>
                </a:effectLst>
                <a:ea typeface="仿宋_GB2312" pitchFamily="1" charset="-122"/>
              </a:rPr>
              <a:t>写操作（</a:t>
            </a:r>
            <a:r>
              <a:rPr lang="en-US" sz="3200" b="1" dirty="0" smtClean="0">
                <a:solidFill>
                  <a:schemeClr val="folHlink"/>
                </a:solidFill>
                <a:effectLst>
                  <a:outerShdw blurRad="38100" dist="38100" dir="2700000" algn="tl">
                    <a:srgbClr val="000000"/>
                  </a:outerShdw>
                </a:effectLst>
                <a:ea typeface="仿宋_GB2312" pitchFamily="1" charset="-122"/>
              </a:rPr>
              <a:t>Write</a:t>
            </a:r>
            <a:r>
              <a:rPr lang="zh-CN" altLang="en-US" sz="3200" b="1" dirty="0" smtClean="0">
                <a:solidFill>
                  <a:schemeClr val="folHlink"/>
                </a:solidFill>
                <a:effectLst>
                  <a:outerShdw blurRad="38100" dist="38100" dir="2700000" algn="tl">
                    <a:srgbClr val="000000"/>
                  </a:outerShdw>
                </a:effectLst>
                <a:ea typeface="仿宋_GB2312" pitchFamily="1" charset="-122"/>
              </a:rPr>
              <a:t>）</a:t>
            </a:r>
            <a:r>
              <a:rPr lang="zh-CN" altLang="en-US" b="1" dirty="0" smtClean="0">
                <a:effectLst>
                  <a:outerShdw blurRad="38100" dist="38100" dir="2700000" algn="tl">
                    <a:srgbClr val="000000"/>
                  </a:outerShdw>
                </a:effectLst>
                <a:ea typeface="仿宋_GB2312" pitchFamily="1" charset="-122"/>
              </a:rPr>
              <a:t> </a:t>
            </a:r>
            <a:endParaRPr lang="zh-CN" altLang="en-US" b="1" dirty="0" smtClean="0">
              <a:effectLst>
                <a:outerShdw blurRad="38100" dist="38100" dir="2700000" algn="tl">
                  <a:srgbClr val="000000"/>
                </a:outerShdw>
              </a:effectLst>
              <a:ea typeface="仿宋_GB2312" pitchFamily="1" charset="-122"/>
            </a:endParaRPr>
          </a:p>
        </p:txBody>
      </p:sp>
      <p:sp>
        <p:nvSpPr>
          <p:cNvPr id="34819" name="Rectangle 3"/>
          <p:cNvSpPr>
            <a:spLocks noGrp="1" noRot="1" noChangeArrowheads="1"/>
          </p:cNvSpPr>
          <p:nvPr>
            <p:ph type="body" idx="4294967295"/>
          </p:nvPr>
        </p:nvSpPr>
        <p:spPr/>
        <p:txBody>
          <a:bodyPr/>
          <a:lstStyle/>
          <a:p>
            <a:pPr algn="just" eaLnBrk="1" hangingPunct="1">
              <a:defRPr/>
            </a:pPr>
            <a:endParaRPr lang="en-US" b="1" dirty="0" smtClean="0">
              <a:effectLst>
                <a:outerShdw blurRad="38100" dist="38100" dir="2700000" algn="tl">
                  <a:srgbClr val="000000"/>
                </a:outerShdw>
              </a:effectLst>
              <a:ea typeface="仿宋_GB2312" pitchFamily="1" charset="-122"/>
            </a:endParaRPr>
          </a:p>
          <a:p>
            <a:pPr algn="just" eaLnBrk="1" hangingPunct="1">
              <a:defRPr/>
            </a:pPr>
            <a:r>
              <a:rPr lang="zh-CN" altLang="en-US" b="1" dirty="0" smtClean="0"/>
              <a:t>必须给出文件名和需要写的字节数。</a:t>
            </a:r>
            <a:endParaRPr lang="zh-CN" altLang="en-US" b="1" dirty="0" smtClean="0"/>
          </a:p>
          <a:p>
            <a:pPr algn="just" eaLnBrk="1" hangingPunct="1">
              <a:defRPr/>
            </a:pPr>
            <a:endParaRPr lang="zh-CN" altLang="en-US" b="1" dirty="0" smtClean="0"/>
          </a:p>
          <a:p>
            <a:pPr algn="just" eaLnBrk="1" hangingPunct="1">
              <a:defRPr/>
            </a:pPr>
            <a:r>
              <a:rPr lang="zh-CN" altLang="en-US" b="1" dirty="0" smtClean="0"/>
              <a:t>系统从缓冲区中将指定长度的信息写入指定文件写指针位置；</a:t>
            </a:r>
            <a:endParaRPr lang="zh-CN" altLang="en-US" b="1" dirty="0" smtClean="0"/>
          </a:p>
          <a:p>
            <a:pPr algn="just" eaLnBrk="1" hangingPunct="1">
              <a:defRPr/>
            </a:pPr>
            <a:endParaRPr lang="zh-CN" altLang="en-US" b="1" dirty="0" smtClean="0"/>
          </a:p>
          <a:p>
            <a:pPr algn="just" eaLnBrk="1" hangingPunct="1">
              <a:defRPr/>
            </a:pPr>
            <a:r>
              <a:rPr lang="zh-CN" altLang="en-US" b="1" dirty="0" smtClean="0"/>
              <a:t>将文件的写指针顺延指定长度的位置。</a:t>
            </a:r>
            <a:endParaRPr lang="zh-CN" altLang="en-US" b="1"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4818"/>
                                        </p:tgtEl>
                                        <p:attrNameLst>
                                          <p:attrName>style.visibility</p:attrName>
                                        </p:attrNameLst>
                                      </p:cBhvr>
                                      <p:to>
                                        <p:strVal val="visible"/>
                                      </p:to>
                                    </p:set>
                                    <p:animEffect transition="in" filter="fade">
                                      <p:cBhvr>
                                        <p:cTn id="7" dur="2000"/>
                                        <p:tgtEl>
                                          <p:spTgt spid="348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819">
                                            <p:txEl>
                                              <p:pRg st="1" end="1"/>
                                            </p:txEl>
                                          </p:spTgt>
                                        </p:tgtEl>
                                        <p:attrNameLst>
                                          <p:attrName>style.visibility</p:attrName>
                                        </p:attrNameLst>
                                      </p:cBhvr>
                                      <p:to>
                                        <p:strVal val="visible"/>
                                      </p:to>
                                    </p:set>
                                    <p:animEffect transition="in" filter="fade">
                                      <p:cBhvr>
                                        <p:cTn id="12" dur="2000"/>
                                        <p:tgtEl>
                                          <p:spTgt spid="348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4819">
                                            <p:txEl>
                                              <p:pRg st="3" end="3"/>
                                            </p:txEl>
                                          </p:spTgt>
                                        </p:tgtEl>
                                        <p:attrNameLst>
                                          <p:attrName>style.visibility</p:attrName>
                                        </p:attrNameLst>
                                      </p:cBhvr>
                                      <p:to>
                                        <p:strVal val="visible"/>
                                      </p:to>
                                    </p:set>
                                    <p:animEffect transition="in" filter="fade">
                                      <p:cBhvr>
                                        <p:cTn id="17" dur="2000"/>
                                        <p:tgtEl>
                                          <p:spTgt spid="3481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4819">
                                            <p:txEl>
                                              <p:pRg st="5" end="5"/>
                                            </p:txEl>
                                          </p:spTgt>
                                        </p:tgtEl>
                                        <p:attrNameLst>
                                          <p:attrName>style.visibility</p:attrName>
                                        </p:attrNameLst>
                                      </p:cBhvr>
                                      <p:to>
                                        <p:strVal val="visible"/>
                                      </p:to>
                                    </p:set>
                                    <p:animEffect transition="in" filter="fade">
                                      <p:cBhvr>
                                        <p:cTn id="22" dur="2000"/>
                                        <p:tgtEl>
                                          <p:spTgt spid="348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autoUpdateAnimBg="0"/>
      <p:bldP spid="34819" grpId="0" autoUpdateAnimBg="0" build="p"/>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p:cNvSpPr>
            <a:spLocks noGrp="1" noRot="1" noChangeArrowheads="1"/>
          </p:cNvSpPr>
          <p:nvPr>
            <p:ph type="title" idx="4294967295"/>
          </p:nvPr>
        </p:nvSpPr>
        <p:spPr/>
        <p:txBody>
          <a:bodyPr/>
          <a:lstStyle/>
          <a:p>
            <a:pPr eaLnBrk="1" hangingPunct="1">
              <a:defRPr/>
            </a:pPr>
            <a:r>
              <a:rPr lang="zh-CN" altLang="en-US" b="1" u="sng" dirty="0" smtClean="0">
                <a:solidFill>
                  <a:schemeClr val="folHlink"/>
                </a:solidFill>
                <a:effectLst>
                  <a:outerShdw blurRad="38100" dist="38100" dir="2700000" algn="tl">
                    <a:srgbClr val="000000"/>
                  </a:outerShdw>
                </a:effectLst>
                <a:ea typeface="仿宋_GB2312" pitchFamily="1" charset="-122"/>
              </a:rPr>
              <a:t>对文件的操作</a:t>
            </a:r>
            <a:r>
              <a:rPr lang="en-US" altLang="zh-CN" b="1" u="sng" dirty="0" smtClean="0">
                <a:solidFill>
                  <a:schemeClr val="folHlink"/>
                </a:solidFill>
                <a:effectLst>
                  <a:outerShdw blurRad="38100" dist="38100" dir="2700000" algn="tl">
                    <a:srgbClr val="000000"/>
                  </a:outerShdw>
                </a:effectLst>
                <a:ea typeface="仿宋_GB2312" pitchFamily="1" charset="-122"/>
              </a:rPr>
              <a:t>--</a:t>
            </a:r>
            <a:r>
              <a:rPr lang="zh-CN" altLang="en-US" sz="3200" b="1" dirty="0" smtClean="0">
                <a:solidFill>
                  <a:schemeClr val="folHlink"/>
                </a:solidFill>
                <a:effectLst>
                  <a:outerShdw blurRad="38100" dist="38100" dir="2700000" algn="tl">
                    <a:srgbClr val="000000"/>
                  </a:outerShdw>
                </a:effectLst>
                <a:ea typeface="仿宋_GB2312" pitchFamily="1" charset="-122"/>
              </a:rPr>
              <a:t>更新操作（</a:t>
            </a:r>
            <a:r>
              <a:rPr lang="en-US" sz="3200" b="1" dirty="0" smtClean="0">
                <a:solidFill>
                  <a:schemeClr val="folHlink"/>
                </a:solidFill>
                <a:effectLst>
                  <a:outerShdw blurRad="38100" dist="38100" dir="2700000" algn="tl">
                    <a:srgbClr val="000000"/>
                  </a:outerShdw>
                </a:effectLst>
                <a:ea typeface="仿宋_GB2312" pitchFamily="1" charset="-122"/>
              </a:rPr>
              <a:t>Update</a:t>
            </a:r>
            <a:r>
              <a:rPr lang="zh-CN" altLang="en-US" sz="3200" b="1" dirty="0" smtClean="0">
                <a:solidFill>
                  <a:schemeClr val="folHlink"/>
                </a:solidFill>
                <a:effectLst>
                  <a:outerShdw blurRad="38100" dist="38100" dir="2700000" algn="tl">
                    <a:srgbClr val="000000"/>
                  </a:outerShdw>
                </a:effectLst>
                <a:ea typeface="仿宋_GB2312" pitchFamily="1" charset="-122"/>
              </a:rPr>
              <a:t>）</a:t>
            </a:r>
            <a:endParaRPr lang="zh-CN" altLang="en-US" b="1" dirty="0" smtClean="0">
              <a:solidFill>
                <a:schemeClr val="folHlink"/>
              </a:solidFill>
              <a:effectLst>
                <a:outerShdw blurRad="38100" dist="38100" dir="2700000" algn="tl">
                  <a:srgbClr val="000000"/>
                </a:outerShdw>
              </a:effectLst>
              <a:ea typeface="仿宋_GB2312" pitchFamily="1" charset="-122"/>
            </a:endParaRPr>
          </a:p>
        </p:txBody>
      </p:sp>
      <p:sp>
        <p:nvSpPr>
          <p:cNvPr id="35843" name="Rectangle 3"/>
          <p:cNvSpPr>
            <a:spLocks noGrp="1" noRot="1" noChangeArrowheads="1"/>
          </p:cNvSpPr>
          <p:nvPr>
            <p:ph type="body" idx="4294967295"/>
          </p:nvPr>
        </p:nvSpPr>
        <p:spPr>
          <a:xfrm>
            <a:off x="533400" y="1412875"/>
            <a:ext cx="8077200" cy="4498975"/>
          </a:xfrm>
        </p:spPr>
        <p:txBody>
          <a:bodyPr/>
          <a:lstStyle/>
          <a:p>
            <a:pPr algn="just" eaLnBrk="1" hangingPunct="1">
              <a:defRPr/>
            </a:pPr>
            <a:endParaRPr lang="en-US" sz="2800" b="1" dirty="0" smtClean="0">
              <a:effectLst>
                <a:outerShdw blurRad="38100" dist="38100" dir="2700000" algn="tl">
                  <a:srgbClr val="000000"/>
                </a:outerShdw>
              </a:effectLst>
              <a:ea typeface="仿宋_GB2312" pitchFamily="1" charset="-122"/>
            </a:endParaRPr>
          </a:p>
          <a:p>
            <a:pPr algn="just" eaLnBrk="1" hangingPunct="1">
              <a:defRPr/>
            </a:pPr>
            <a:r>
              <a:rPr lang="zh-CN" altLang="en-US" b="1" dirty="0" smtClean="0"/>
              <a:t>更新文件中的数据项时，系统调用中必须给出文件名、更新数据项的原值及替换值。</a:t>
            </a:r>
            <a:endParaRPr lang="zh-CN" altLang="en-US" b="1" dirty="0" smtClean="0"/>
          </a:p>
          <a:p>
            <a:pPr algn="just" eaLnBrk="1" hangingPunct="1">
              <a:defRPr/>
            </a:pPr>
            <a:r>
              <a:rPr lang="zh-CN" altLang="en-US" b="1" dirty="0" smtClean="0"/>
              <a:t>首先从文件中查找指定数据项值，若找不到，则给出相应信息；</a:t>
            </a:r>
            <a:endParaRPr lang="zh-CN" altLang="en-US" b="1" dirty="0" smtClean="0"/>
          </a:p>
          <a:p>
            <a:pPr algn="just" eaLnBrk="1" hangingPunct="1">
              <a:defRPr/>
            </a:pPr>
            <a:r>
              <a:rPr lang="zh-CN" altLang="en-US" b="1" dirty="0" smtClean="0"/>
              <a:t>若找到，则用替换值更新原值。</a:t>
            </a:r>
            <a:endParaRPr lang="zh-CN" altLang="en-US" b="1" dirty="0" smtClean="0"/>
          </a:p>
          <a:p>
            <a:pPr algn="just" eaLnBrk="1" hangingPunct="1">
              <a:defRPr/>
            </a:pPr>
            <a:r>
              <a:rPr lang="zh-CN" altLang="en-US" b="1" dirty="0" smtClean="0"/>
              <a:t>用户可以指定更新次数或全部自动更新。</a:t>
            </a:r>
            <a:endParaRPr lang="zh-CN" altLang="en-US" b="1"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5842"/>
                                        </p:tgtEl>
                                        <p:attrNameLst>
                                          <p:attrName>style.visibility</p:attrName>
                                        </p:attrNameLst>
                                      </p:cBhvr>
                                      <p:to>
                                        <p:strVal val="visible"/>
                                      </p:to>
                                    </p:set>
                                    <p:animEffect transition="in" filter="fade">
                                      <p:cBhvr>
                                        <p:cTn id="7" dur="2000"/>
                                        <p:tgtEl>
                                          <p:spTgt spid="358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5843">
                                            <p:txEl>
                                              <p:pRg st="1" end="1"/>
                                            </p:txEl>
                                          </p:spTgt>
                                        </p:tgtEl>
                                        <p:attrNameLst>
                                          <p:attrName>style.visibility</p:attrName>
                                        </p:attrNameLst>
                                      </p:cBhvr>
                                      <p:to>
                                        <p:strVal val="visible"/>
                                      </p:to>
                                    </p:set>
                                    <p:animEffect transition="in" filter="fade">
                                      <p:cBhvr>
                                        <p:cTn id="12" dur="2000"/>
                                        <p:tgtEl>
                                          <p:spTgt spid="358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5843">
                                            <p:txEl>
                                              <p:pRg st="2" end="2"/>
                                            </p:txEl>
                                          </p:spTgt>
                                        </p:tgtEl>
                                        <p:attrNameLst>
                                          <p:attrName>style.visibility</p:attrName>
                                        </p:attrNameLst>
                                      </p:cBhvr>
                                      <p:to>
                                        <p:strVal val="visible"/>
                                      </p:to>
                                    </p:set>
                                    <p:animEffect transition="in" filter="fade">
                                      <p:cBhvr>
                                        <p:cTn id="17" dur="2000"/>
                                        <p:tgtEl>
                                          <p:spTgt spid="358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5843">
                                            <p:txEl>
                                              <p:pRg st="3" end="3"/>
                                            </p:txEl>
                                          </p:spTgt>
                                        </p:tgtEl>
                                        <p:attrNameLst>
                                          <p:attrName>style.visibility</p:attrName>
                                        </p:attrNameLst>
                                      </p:cBhvr>
                                      <p:to>
                                        <p:strVal val="visible"/>
                                      </p:to>
                                    </p:set>
                                    <p:animEffect transition="in" filter="fade">
                                      <p:cBhvr>
                                        <p:cTn id="22" dur="2000"/>
                                        <p:tgtEl>
                                          <p:spTgt spid="3584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5843">
                                            <p:txEl>
                                              <p:pRg st="4" end="4"/>
                                            </p:txEl>
                                          </p:spTgt>
                                        </p:tgtEl>
                                        <p:attrNameLst>
                                          <p:attrName>style.visibility</p:attrName>
                                        </p:attrNameLst>
                                      </p:cBhvr>
                                      <p:to>
                                        <p:strVal val="visible"/>
                                      </p:to>
                                    </p:set>
                                    <p:animEffect transition="in" filter="fade">
                                      <p:cBhvr>
                                        <p:cTn id="27" dur="2000"/>
                                        <p:tgtEl>
                                          <p:spTgt spid="358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autoUpdateAnimBg="0"/>
      <p:bldP spid="35843" grpId="0" autoUpdateAnimBg="0" build="p"/>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2"/>
          <p:cNvSpPr>
            <a:spLocks noGrp="1" noRot="1" noChangeArrowheads="1"/>
          </p:cNvSpPr>
          <p:nvPr>
            <p:ph type="title" idx="4294967295"/>
          </p:nvPr>
        </p:nvSpPr>
        <p:spPr/>
        <p:txBody>
          <a:bodyPr/>
          <a:lstStyle/>
          <a:p>
            <a:pPr eaLnBrk="1" hangingPunct="1">
              <a:defRPr/>
            </a:pPr>
            <a:r>
              <a:rPr lang="zh-CN" altLang="en-US" b="1" u="sng" dirty="0" smtClean="0">
                <a:solidFill>
                  <a:schemeClr val="folHlink"/>
                </a:solidFill>
                <a:effectLst>
                  <a:outerShdw blurRad="38100" dist="38100" dir="2700000" algn="tl">
                    <a:srgbClr val="000000"/>
                  </a:outerShdw>
                </a:effectLst>
                <a:ea typeface="仿宋_GB2312" pitchFamily="1" charset="-122"/>
              </a:rPr>
              <a:t>对文件的操作</a:t>
            </a:r>
            <a:r>
              <a:rPr lang="en-US" altLang="zh-CN" b="1" u="sng" dirty="0" smtClean="0">
                <a:solidFill>
                  <a:schemeClr val="folHlink"/>
                </a:solidFill>
                <a:effectLst>
                  <a:outerShdw blurRad="38100" dist="38100" dir="2700000" algn="tl">
                    <a:srgbClr val="000000"/>
                  </a:outerShdw>
                </a:effectLst>
                <a:ea typeface="仿宋_GB2312" pitchFamily="1" charset="-122"/>
              </a:rPr>
              <a:t>--</a:t>
            </a:r>
            <a:r>
              <a:rPr lang="zh-CN" altLang="en-US" sz="3200" b="1" dirty="0" smtClean="0">
                <a:solidFill>
                  <a:schemeClr val="folHlink"/>
                </a:solidFill>
                <a:effectLst>
                  <a:outerShdw blurRad="38100" dist="38100" dir="2700000" algn="tl">
                    <a:srgbClr val="000000"/>
                  </a:outerShdw>
                </a:effectLst>
                <a:ea typeface="仿宋_GB2312" pitchFamily="1" charset="-122"/>
              </a:rPr>
              <a:t>插入操作（</a:t>
            </a:r>
            <a:r>
              <a:rPr lang="en-US" sz="3200" b="1" dirty="0" smtClean="0">
                <a:solidFill>
                  <a:schemeClr val="folHlink"/>
                </a:solidFill>
                <a:effectLst>
                  <a:outerShdw blurRad="38100" dist="38100" dir="2700000" algn="tl">
                    <a:srgbClr val="000000"/>
                  </a:outerShdw>
                </a:effectLst>
                <a:ea typeface="仿宋_GB2312" pitchFamily="1" charset="-122"/>
              </a:rPr>
              <a:t>Insert</a:t>
            </a:r>
            <a:r>
              <a:rPr lang="zh-CN" altLang="en-US" sz="3200" b="1" dirty="0" smtClean="0">
                <a:solidFill>
                  <a:schemeClr val="folHlink"/>
                </a:solidFill>
                <a:effectLst>
                  <a:outerShdw blurRad="38100" dist="38100" dir="2700000" algn="tl">
                    <a:srgbClr val="000000"/>
                  </a:outerShdw>
                </a:effectLst>
                <a:ea typeface="仿宋_GB2312" pitchFamily="1" charset="-122"/>
              </a:rPr>
              <a:t>）</a:t>
            </a:r>
            <a:endParaRPr lang="zh-CN" altLang="en-US" sz="3200" b="1" dirty="0" smtClean="0">
              <a:solidFill>
                <a:schemeClr val="folHlink"/>
              </a:solidFill>
              <a:effectLst>
                <a:outerShdw blurRad="38100" dist="38100" dir="2700000" algn="tl">
                  <a:srgbClr val="000000"/>
                </a:outerShdw>
              </a:effectLst>
              <a:ea typeface="仿宋_GB2312" pitchFamily="1" charset="-122"/>
            </a:endParaRPr>
          </a:p>
        </p:txBody>
      </p:sp>
      <p:sp>
        <p:nvSpPr>
          <p:cNvPr id="36867" name="Rectangle 3"/>
          <p:cNvSpPr>
            <a:spLocks noGrp="1" noRot="1" noChangeArrowheads="1"/>
          </p:cNvSpPr>
          <p:nvPr>
            <p:ph type="body" idx="4294967295"/>
          </p:nvPr>
        </p:nvSpPr>
        <p:spPr/>
        <p:txBody>
          <a:bodyPr/>
          <a:lstStyle/>
          <a:p>
            <a:pPr algn="just" eaLnBrk="1" hangingPunct="1">
              <a:lnSpc>
                <a:spcPct val="90000"/>
              </a:lnSpc>
              <a:defRPr/>
            </a:pPr>
            <a:endParaRPr lang="en-US" sz="2800" b="1" dirty="0" smtClean="0">
              <a:effectLst>
                <a:outerShdw blurRad="38100" dist="38100" dir="2700000" algn="tl">
                  <a:srgbClr val="000000"/>
                </a:outerShdw>
              </a:effectLst>
              <a:ea typeface="仿宋_GB2312" pitchFamily="1" charset="-122"/>
            </a:endParaRPr>
          </a:p>
          <a:p>
            <a:pPr algn="just" eaLnBrk="1" hangingPunct="1">
              <a:lnSpc>
                <a:spcPct val="90000"/>
              </a:lnSpc>
              <a:defRPr/>
            </a:pPr>
            <a:r>
              <a:rPr lang="zh-CN" altLang="en-US" b="1" dirty="0" smtClean="0"/>
              <a:t>在文件的指定位置添加新的数据项。</a:t>
            </a:r>
            <a:endParaRPr lang="zh-CN" altLang="en-US" b="1" dirty="0" smtClean="0"/>
          </a:p>
          <a:p>
            <a:pPr algn="just" eaLnBrk="1" hangingPunct="1">
              <a:lnSpc>
                <a:spcPct val="90000"/>
              </a:lnSpc>
              <a:defRPr/>
            </a:pPr>
            <a:endParaRPr lang="zh-CN" altLang="en-US" b="1" dirty="0" smtClean="0"/>
          </a:p>
          <a:p>
            <a:pPr algn="just" eaLnBrk="1" hangingPunct="1">
              <a:lnSpc>
                <a:spcPct val="90000"/>
              </a:lnSpc>
              <a:defRPr/>
            </a:pPr>
            <a:r>
              <a:rPr lang="zh-CN" altLang="en-US" b="1" dirty="0" smtClean="0"/>
              <a:t>对于无结构文件，插入一个数据项以后，其后所有字符的索引号将作相应调整；</a:t>
            </a:r>
            <a:endParaRPr lang="zh-CN" altLang="en-US" b="1" dirty="0" smtClean="0"/>
          </a:p>
          <a:p>
            <a:pPr algn="just" eaLnBrk="1" hangingPunct="1">
              <a:lnSpc>
                <a:spcPct val="90000"/>
              </a:lnSpc>
              <a:defRPr/>
            </a:pPr>
            <a:endParaRPr lang="zh-CN" altLang="en-US" b="1" dirty="0" smtClean="0"/>
          </a:p>
          <a:p>
            <a:pPr algn="just" eaLnBrk="1" hangingPunct="1">
              <a:lnSpc>
                <a:spcPct val="90000"/>
              </a:lnSpc>
              <a:defRPr/>
            </a:pPr>
            <a:r>
              <a:rPr lang="zh-CN" altLang="en-US" b="1" dirty="0" smtClean="0"/>
              <a:t>对于有结构文件，插入一个数据项，一般指增加一条记录，新记录之后的所有记录号也将作相应调整。</a:t>
            </a:r>
            <a:endParaRPr lang="zh-CN" altLang="en-US" b="1"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6866"/>
                                        </p:tgtEl>
                                        <p:attrNameLst>
                                          <p:attrName>style.visibility</p:attrName>
                                        </p:attrNameLst>
                                      </p:cBhvr>
                                      <p:to>
                                        <p:strVal val="visible"/>
                                      </p:to>
                                    </p:set>
                                    <p:animEffect transition="in" filter="fade">
                                      <p:cBhvr>
                                        <p:cTn id="7" dur="2000"/>
                                        <p:tgtEl>
                                          <p:spTgt spid="3686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6867">
                                            <p:txEl>
                                              <p:pRg st="1" end="1"/>
                                            </p:txEl>
                                          </p:spTgt>
                                        </p:tgtEl>
                                        <p:attrNameLst>
                                          <p:attrName>style.visibility</p:attrName>
                                        </p:attrNameLst>
                                      </p:cBhvr>
                                      <p:to>
                                        <p:strVal val="visible"/>
                                      </p:to>
                                    </p:set>
                                    <p:animEffect transition="in" filter="fade">
                                      <p:cBhvr>
                                        <p:cTn id="12" dur="2000"/>
                                        <p:tgtEl>
                                          <p:spTgt spid="368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6867">
                                            <p:txEl>
                                              <p:pRg st="3" end="3"/>
                                            </p:txEl>
                                          </p:spTgt>
                                        </p:tgtEl>
                                        <p:attrNameLst>
                                          <p:attrName>style.visibility</p:attrName>
                                        </p:attrNameLst>
                                      </p:cBhvr>
                                      <p:to>
                                        <p:strVal val="visible"/>
                                      </p:to>
                                    </p:set>
                                    <p:animEffect transition="in" filter="fade">
                                      <p:cBhvr>
                                        <p:cTn id="17" dur="2000"/>
                                        <p:tgtEl>
                                          <p:spTgt spid="3686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6867">
                                            <p:txEl>
                                              <p:pRg st="5" end="5"/>
                                            </p:txEl>
                                          </p:spTgt>
                                        </p:tgtEl>
                                        <p:attrNameLst>
                                          <p:attrName>style.visibility</p:attrName>
                                        </p:attrNameLst>
                                      </p:cBhvr>
                                      <p:to>
                                        <p:strVal val="visible"/>
                                      </p:to>
                                    </p:set>
                                    <p:animEffect transition="in" filter="fade">
                                      <p:cBhvr>
                                        <p:cTn id="22" dur="2000"/>
                                        <p:tgtEl>
                                          <p:spTgt spid="3686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autoUpdateAnimBg="0"/>
      <p:bldP spid="36867" grpId="0" autoUpdateAnimBg="0" build="p"/>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Rectangle 2"/>
          <p:cNvSpPr>
            <a:spLocks noGrp="1" noRot="1" noChangeArrowheads="1"/>
          </p:cNvSpPr>
          <p:nvPr>
            <p:ph type="title" idx="4294967295"/>
          </p:nvPr>
        </p:nvSpPr>
        <p:spPr/>
        <p:txBody>
          <a:bodyPr/>
          <a:lstStyle/>
          <a:p>
            <a:pPr eaLnBrk="1" hangingPunct="1">
              <a:defRPr/>
            </a:pPr>
            <a:r>
              <a:rPr lang="zh-CN" altLang="en-US" b="1" u="sng" dirty="0" smtClean="0">
                <a:solidFill>
                  <a:schemeClr val="folHlink"/>
                </a:solidFill>
                <a:effectLst>
                  <a:outerShdw blurRad="38100" dist="38100" dir="2700000" algn="tl">
                    <a:srgbClr val="000000"/>
                  </a:outerShdw>
                </a:effectLst>
                <a:ea typeface="仿宋_GB2312" pitchFamily="1" charset="-122"/>
              </a:rPr>
              <a:t>对文件的操作</a:t>
            </a:r>
            <a:r>
              <a:rPr lang="en-US" altLang="zh-CN" b="1" u="sng" dirty="0" smtClean="0">
                <a:solidFill>
                  <a:schemeClr val="folHlink"/>
                </a:solidFill>
                <a:effectLst>
                  <a:outerShdw blurRad="38100" dist="38100" dir="2700000" algn="tl">
                    <a:srgbClr val="000000"/>
                  </a:outerShdw>
                </a:effectLst>
                <a:ea typeface="仿宋_GB2312" pitchFamily="1" charset="-122"/>
              </a:rPr>
              <a:t>--</a:t>
            </a:r>
            <a:r>
              <a:rPr lang="zh-CN" altLang="en-US" sz="3200" b="1" dirty="0" smtClean="0">
                <a:solidFill>
                  <a:schemeClr val="folHlink"/>
                </a:solidFill>
                <a:effectLst>
                  <a:outerShdw blurRad="38100" dist="38100" dir="2700000" algn="tl">
                    <a:srgbClr val="000000"/>
                  </a:outerShdw>
                </a:effectLst>
                <a:ea typeface="仿宋_GB2312" pitchFamily="1" charset="-122"/>
              </a:rPr>
              <a:t>删除操作（</a:t>
            </a:r>
            <a:r>
              <a:rPr lang="en-US" sz="3200" b="1" dirty="0" smtClean="0">
                <a:solidFill>
                  <a:schemeClr val="folHlink"/>
                </a:solidFill>
                <a:effectLst>
                  <a:outerShdw blurRad="38100" dist="38100" dir="2700000" algn="tl">
                    <a:srgbClr val="000000"/>
                  </a:outerShdw>
                </a:effectLst>
                <a:ea typeface="仿宋_GB2312" pitchFamily="1" charset="-122"/>
              </a:rPr>
              <a:t>Delete</a:t>
            </a:r>
            <a:r>
              <a:rPr lang="zh-CN" altLang="en-US" sz="3200" b="1" dirty="0" smtClean="0">
                <a:solidFill>
                  <a:schemeClr val="folHlink"/>
                </a:solidFill>
                <a:effectLst>
                  <a:outerShdw blurRad="38100" dist="38100" dir="2700000" algn="tl">
                    <a:srgbClr val="000000"/>
                  </a:outerShdw>
                </a:effectLst>
                <a:ea typeface="仿宋_GB2312" pitchFamily="1" charset="-122"/>
              </a:rPr>
              <a:t>）</a:t>
            </a:r>
            <a:endParaRPr lang="zh-CN" altLang="en-US" sz="3200" b="1" dirty="0" smtClean="0">
              <a:solidFill>
                <a:schemeClr val="folHlink"/>
              </a:solidFill>
              <a:effectLst>
                <a:outerShdw blurRad="38100" dist="38100" dir="2700000" algn="tl">
                  <a:srgbClr val="000000"/>
                </a:outerShdw>
              </a:effectLst>
              <a:ea typeface="仿宋_GB2312" pitchFamily="1" charset="-122"/>
            </a:endParaRPr>
          </a:p>
        </p:txBody>
      </p:sp>
      <p:sp>
        <p:nvSpPr>
          <p:cNvPr id="37891" name="Rectangle 3"/>
          <p:cNvSpPr>
            <a:spLocks noGrp="1" noRot="1" noChangeArrowheads="1"/>
          </p:cNvSpPr>
          <p:nvPr>
            <p:ph type="body" idx="4294967295"/>
          </p:nvPr>
        </p:nvSpPr>
        <p:spPr>
          <a:xfrm>
            <a:off x="533400" y="1889125"/>
            <a:ext cx="8077200" cy="4498975"/>
          </a:xfrm>
        </p:spPr>
        <p:txBody>
          <a:bodyPr/>
          <a:lstStyle/>
          <a:p>
            <a:pPr algn="just" eaLnBrk="1" hangingPunct="1">
              <a:defRPr/>
            </a:pPr>
            <a:r>
              <a:rPr lang="zh-CN" altLang="en-US" b="1" dirty="0" smtClean="0"/>
              <a:t>删除文件中指定的数据项。</a:t>
            </a:r>
            <a:endParaRPr lang="zh-CN" altLang="en-US" b="1" dirty="0" smtClean="0"/>
          </a:p>
          <a:p>
            <a:pPr algn="just" eaLnBrk="1" hangingPunct="1">
              <a:defRPr/>
            </a:pPr>
            <a:r>
              <a:rPr lang="zh-CN" altLang="en-US" b="1" dirty="0" smtClean="0"/>
              <a:t>首先查找文件中指定数据项，再将其删除。</a:t>
            </a:r>
            <a:endParaRPr lang="zh-CN" altLang="en-US" b="1" dirty="0" smtClean="0"/>
          </a:p>
          <a:p>
            <a:pPr algn="just" eaLnBrk="1" hangingPunct="1">
              <a:defRPr/>
            </a:pPr>
            <a:r>
              <a:rPr lang="zh-CN" altLang="en-US" b="1" dirty="0" smtClean="0"/>
              <a:t>若找不到，则返回相应信息。</a:t>
            </a:r>
            <a:endParaRPr lang="zh-CN" altLang="en-US" b="1" dirty="0" smtClean="0"/>
          </a:p>
          <a:p>
            <a:pPr algn="just" eaLnBrk="1" hangingPunct="1">
              <a:defRPr/>
            </a:pPr>
            <a:r>
              <a:rPr lang="zh-CN" altLang="en-US" b="1" dirty="0" smtClean="0"/>
              <a:t>用户可以指定删除数据项的位置，或将数据项在文件中的所有出现均删除。</a:t>
            </a:r>
            <a:endParaRPr lang="zh-CN" altLang="en-US" b="1" dirty="0" smtClean="0"/>
          </a:p>
          <a:p>
            <a:pPr eaLnBrk="1" hangingPunct="1">
              <a:defRPr/>
            </a:pPr>
            <a:endParaRPr lang="en-US" b="1" dirty="0" smtClean="0">
              <a:effectLst>
                <a:outerShdw blurRad="38100" dist="38100" dir="2700000" algn="tl">
                  <a:srgbClr val="000000"/>
                </a:outerShdw>
              </a:effectLst>
              <a:ea typeface="仿宋_GB2312"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7890"/>
                                        </p:tgtEl>
                                        <p:attrNameLst>
                                          <p:attrName>style.visibility</p:attrName>
                                        </p:attrNameLst>
                                      </p:cBhvr>
                                      <p:to>
                                        <p:strVal val="visible"/>
                                      </p:to>
                                    </p:set>
                                    <p:animEffect transition="in" filter="fade">
                                      <p:cBhvr>
                                        <p:cTn id="7" dur="2000"/>
                                        <p:tgtEl>
                                          <p:spTgt spid="3789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7891">
                                            <p:txEl>
                                              <p:pRg st="0" end="0"/>
                                            </p:txEl>
                                          </p:spTgt>
                                        </p:tgtEl>
                                        <p:attrNameLst>
                                          <p:attrName>style.visibility</p:attrName>
                                        </p:attrNameLst>
                                      </p:cBhvr>
                                      <p:to>
                                        <p:strVal val="visible"/>
                                      </p:to>
                                    </p:set>
                                    <p:animEffect transition="in" filter="fade">
                                      <p:cBhvr>
                                        <p:cTn id="12" dur="2000"/>
                                        <p:tgtEl>
                                          <p:spTgt spid="3789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7891">
                                            <p:txEl>
                                              <p:pRg st="1" end="1"/>
                                            </p:txEl>
                                          </p:spTgt>
                                        </p:tgtEl>
                                        <p:attrNameLst>
                                          <p:attrName>style.visibility</p:attrName>
                                        </p:attrNameLst>
                                      </p:cBhvr>
                                      <p:to>
                                        <p:strVal val="visible"/>
                                      </p:to>
                                    </p:set>
                                    <p:animEffect transition="in" filter="fade">
                                      <p:cBhvr>
                                        <p:cTn id="17" dur="2000"/>
                                        <p:tgtEl>
                                          <p:spTgt spid="3789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7891">
                                            <p:txEl>
                                              <p:pRg st="2" end="2"/>
                                            </p:txEl>
                                          </p:spTgt>
                                        </p:tgtEl>
                                        <p:attrNameLst>
                                          <p:attrName>style.visibility</p:attrName>
                                        </p:attrNameLst>
                                      </p:cBhvr>
                                      <p:to>
                                        <p:strVal val="visible"/>
                                      </p:to>
                                    </p:set>
                                    <p:animEffect transition="in" filter="fade">
                                      <p:cBhvr>
                                        <p:cTn id="22" dur="2000"/>
                                        <p:tgtEl>
                                          <p:spTgt spid="3789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7891">
                                            <p:txEl>
                                              <p:pRg st="3" end="3"/>
                                            </p:txEl>
                                          </p:spTgt>
                                        </p:tgtEl>
                                        <p:attrNameLst>
                                          <p:attrName>style.visibility</p:attrName>
                                        </p:attrNameLst>
                                      </p:cBhvr>
                                      <p:to>
                                        <p:strVal val="visible"/>
                                      </p:to>
                                    </p:set>
                                    <p:animEffect transition="in" filter="fade">
                                      <p:cBhvr>
                                        <p:cTn id="27" dur="2000"/>
                                        <p:tgtEl>
                                          <p:spTgt spid="378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autoUpdateAnimBg="0"/>
      <p:bldP spid="37891" grpId="0" autoUpdateAnimBg="0" build="p"/>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Rectangle 2"/>
          <p:cNvSpPr>
            <a:spLocks noGrp="1" noRot="1" noChangeArrowheads="1"/>
          </p:cNvSpPr>
          <p:nvPr>
            <p:ph type="body" idx="4294967295"/>
          </p:nvPr>
        </p:nvSpPr>
        <p:spPr>
          <a:xfrm>
            <a:off x="468313" y="1594321"/>
            <a:ext cx="8077200" cy="4498975"/>
          </a:xfrm>
        </p:spPr>
        <p:txBody>
          <a:bodyPr/>
          <a:lstStyle/>
          <a:p>
            <a:pPr eaLnBrk="1" hangingPunct="1">
              <a:lnSpc>
                <a:spcPct val="90000"/>
              </a:lnSpc>
            </a:pPr>
            <a:r>
              <a:rPr lang="en-US" altLang="zh-CN" sz="2800" b="1" dirty="0" smtClean="0"/>
              <a:t>open</a:t>
            </a:r>
            <a:r>
              <a:rPr lang="zh-CN" altLang="en-US" sz="2800" b="1" dirty="0" smtClean="0"/>
              <a:t>：打开一个文件，并指定访问该文件的方式，调用成功后返回一个文件描述符。</a:t>
            </a:r>
            <a:endParaRPr lang="zh-CN" altLang="en-US" sz="2800" b="1" dirty="0" smtClean="0"/>
          </a:p>
          <a:p>
            <a:pPr eaLnBrk="1" hangingPunct="1">
              <a:lnSpc>
                <a:spcPct val="90000"/>
              </a:lnSpc>
            </a:pPr>
            <a:r>
              <a:rPr lang="zh-CN" altLang="en-US" sz="2800" b="1" dirty="0" smtClean="0"/>
              <a:t>   </a:t>
            </a:r>
            <a:r>
              <a:rPr lang="en-US" altLang="zh-CN" sz="2800" b="1" dirty="0" smtClean="0"/>
              <a:t>create</a:t>
            </a:r>
            <a:r>
              <a:rPr lang="zh-CN" altLang="en-US" sz="2800" b="1" dirty="0" smtClean="0"/>
              <a:t>：打开一个文件，如果该文件不存在，则创建它，调用成功后返回一个文件描述符。</a:t>
            </a:r>
            <a:endParaRPr lang="zh-CN" altLang="en-US" sz="2800" b="1" dirty="0" smtClean="0"/>
          </a:p>
          <a:p>
            <a:pPr eaLnBrk="1" hangingPunct="1">
              <a:lnSpc>
                <a:spcPct val="90000"/>
              </a:lnSpc>
            </a:pPr>
            <a:r>
              <a:rPr lang="zh-CN" altLang="en-US" sz="2800" b="1" dirty="0" smtClean="0"/>
              <a:t>   </a:t>
            </a:r>
            <a:r>
              <a:rPr lang="en-US" altLang="zh-CN" sz="2800" b="1" dirty="0" smtClean="0"/>
              <a:t>close</a:t>
            </a:r>
            <a:r>
              <a:rPr lang="zh-CN" altLang="en-US" sz="2800" b="1" dirty="0" smtClean="0"/>
              <a:t>：关闭文件，进程对文件所加的锁全都被释放。</a:t>
            </a:r>
            <a:endParaRPr lang="zh-CN" altLang="en-US" sz="2800" b="1" dirty="0" smtClean="0"/>
          </a:p>
          <a:p>
            <a:pPr eaLnBrk="1" hangingPunct="1">
              <a:lnSpc>
                <a:spcPct val="90000"/>
              </a:lnSpc>
            </a:pPr>
            <a:r>
              <a:rPr lang="zh-CN" altLang="en-US" sz="2800" b="1" dirty="0" smtClean="0"/>
              <a:t>   </a:t>
            </a:r>
            <a:r>
              <a:rPr lang="en-US" altLang="zh-CN" sz="2800" b="1" dirty="0" smtClean="0"/>
              <a:t>read</a:t>
            </a:r>
            <a:r>
              <a:rPr lang="zh-CN" altLang="en-US" sz="2800" b="1" dirty="0" smtClean="0"/>
              <a:t>：从文件描述符对应的文件中读取数据，调用成功后返回读出的字节数。</a:t>
            </a:r>
            <a:endParaRPr lang="zh-CN" altLang="en-US" sz="2800" b="1" dirty="0" smtClean="0"/>
          </a:p>
          <a:p>
            <a:pPr eaLnBrk="1" hangingPunct="1">
              <a:lnSpc>
                <a:spcPct val="90000"/>
              </a:lnSpc>
            </a:pPr>
            <a:r>
              <a:rPr lang="zh-CN" altLang="en-US" sz="2800" b="1" dirty="0" smtClean="0"/>
              <a:t>   </a:t>
            </a:r>
            <a:r>
              <a:rPr lang="en-US" altLang="zh-CN" sz="2800" b="1" dirty="0" smtClean="0"/>
              <a:t>write</a:t>
            </a:r>
            <a:r>
              <a:rPr lang="zh-CN" altLang="en-US" sz="2800" b="1" dirty="0" smtClean="0"/>
              <a:t>：向文件描述符对应的文件中写入数据，调用成功后返回写入的字节数。</a:t>
            </a:r>
            <a:endParaRPr lang="zh-CN" altLang="en-US" sz="2800" b="1" dirty="0" smtClean="0"/>
          </a:p>
        </p:txBody>
      </p:sp>
      <p:sp>
        <p:nvSpPr>
          <p:cNvPr id="38915" name="Rectangle 3"/>
          <p:cNvSpPr>
            <a:spLocks noGrp="1" noRot="1" noChangeArrowheads="1"/>
          </p:cNvSpPr>
          <p:nvPr>
            <p:ph type="title" idx="4294967295"/>
          </p:nvPr>
        </p:nvSpPr>
        <p:spPr>
          <a:xfrm>
            <a:off x="533400" y="296863"/>
            <a:ext cx="8077200" cy="739775"/>
          </a:xfrm>
        </p:spPr>
        <p:txBody>
          <a:bodyPr/>
          <a:lstStyle/>
          <a:p>
            <a:pPr eaLnBrk="1" hangingPunct="1">
              <a:defRPr/>
            </a:pPr>
            <a:r>
              <a:rPr lang="zh-CN" altLang="en-US" sz="4000" b="1" smtClean="0">
                <a:solidFill>
                  <a:schemeClr val="folHlink"/>
                </a:solidFill>
                <a:effectLst>
                  <a:outerShdw blurRad="38100" dist="38100" dir="2700000" algn="tl">
                    <a:srgbClr val="000000"/>
                  </a:outerShdw>
                </a:effectLst>
              </a:rPr>
              <a:t>文件操作实例（</a:t>
            </a:r>
            <a:r>
              <a:rPr lang="en-US" sz="4000" b="1" smtClean="0">
                <a:solidFill>
                  <a:schemeClr val="folHlink"/>
                </a:solidFill>
                <a:effectLst>
                  <a:outerShdw blurRad="38100" dist="38100" dir="2700000" algn="tl">
                    <a:srgbClr val="000000"/>
                  </a:outerShdw>
                </a:effectLst>
              </a:rPr>
              <a:t>Linux</a:t>
            </a:r>
            <a:r>
              <a:rPr lang="zh-CN" altLang="en-US" sz="4000" b="1" smtClean="0">
                <a:solidFill>
                  <a:schemeClr val="folHlink"/>
                </a:solidFill>
                <a:effectLst>
                  <a:outerShdw blurRad="38100" dist="38100" dir="2700000" algn="tl">
                    <a:srgbClr val="000000"/>
                  </a:outerShdw>
                </a:effectLst>
              </a:rPr>
              <a:t>）</a:t>
            </a:r>
            <a:endParaRPr lang="zh-CN" altLang="en-US" sz="4000" b="1" smtClean="0">
              <a:solidFill>
                <a:schemeClr val="folHlink"/>
              </a:solidFill>
              <a:effectLst>
                <a:outerShdw blurRad="38100" dist="38100" dir="2700000" algn="tl">
                  <a:srgbClr val="000000"/>
                </a:outerShdw>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8915"/>
                                        </p:tgtEl>
                                        <p:attrNameLst>
                                          <p:attrName>style.visibility</p:attrName>
                                        </p:attrNameLst>
                                      </p:cBhvr>
                                      <p:to>
                                        <p:strVal val="visible"/>
                                      </p:to>
                                    </p:set>
                                    <p:animEffect transition="in" filter="fade">
                                      <p:cBhvr>
                                        <p:cTn id="7" dur="2000"/>
                                        <p:tgtEl>
                                          <p:spTgt spid="389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7106">
                                            <p:txEl>
                                              <p:pRg st="0" end="0"/>
                                            </p:txEl>
                                          </p:spTgt>
                                        </p:tgtEl>
                                        <p:attrNameLst>
                                          <p:attrName>style.visibility</p:attrName>
                                        </p:attrNameLst>
                                      </p:cBhvr>
                                      <p:to>
                                        <p:strVal val="visible"/>
                                      </p:to>
                                    </p:set>
                                    <p:animEffect transition="in" filter="fade">
                                      <p:cBhvr>
                                        <p:cTn id="12" dur="2000"/>
                                        <p:tgtEl>
                                          <p:spTgt spid="4710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7106">
                                            <p:txEl>
                                              <p:pRg st="1" end="1"/>
                                            </p:txEl>
                                          </p:spTgt>
                                        </p:tgtEl>
                                        <p:attrNameLst>
                                          <p:attrName>style.visibility</p:attrName>
                                        </p:attrNameLst>
                                      </p:cBhvr>
                                      <p:to>
                                        <p:strVal val="visible"/>
                                      </p:to>
                                    </p:set>
                                    <p:animEffect transition="in" filter="fade">
                                      <p:cBhvr>
                                        <p:cTn id="17" dur="2000"/>
                                        <p:tgtEl>
                                          <p:spTgt spid="4710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7106">
                                            <p:txEl>
                                              <p:pRg st="2" end="2"/>
                                            </p:txEl>
                                          </p:spTgt>
                                        </p:tgtEl>
                                        <p:attrNameLst>
                                          <p:attrName>style.visibility</p:attrName>
                                        </p:attrNameLst>
                                      </p:cBhvr>
                                      <p:to>
                                        <p:strVal val="visible"/>
                                      </p:to>
                                    </p:set>
                                    <p:animEffect transition="in" filter="fade">
                                      <p:cBhvr>
                                        <p:cTn id="22" dur="2000"/>
                                        <p:tgtEl>
                                          <p:spTgt spid="4710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7106">
                                            <p:txEl>
                                              <p:pRg st="3" end="3"/>
                                            </p:txEl>
                                          </p:spTgt>
                                        </p:tgtEl>
                                        <p:attrNameLst>
                                          <p:attrName>style.visibility</p:attrName>
                                        </p:attrNameLst>
                                      </p:cBhvr>
                                      <p:to>
                                        <p:strVal val="visible"/>
                                      </p:to>
                                    </p:set>
                                    <p:animEffect transition="in" filter="fade">
                                      <p:cBhvr>
                                        <p:cTn id="27" dur="2000"/>
                                        <p:tgtEl>
                                          <p:spTgt spid="4710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7106">
                                            <p:txEl>
                                              <p:pRg st="4" end="4"/>
                                            </p:txEl>
                                          </p:spTgt>
                                        </p:tgtEl>
                                        <p:attrNameLst>
                                          <p:attrName>style.visibility</p:attrName>
                                        </p:attrNameLst>
                                      </p:cBhvr>
                                      <p:to>
                                        <p:strVal val="visible"/>
                                      </p:to>
                                    </p:set>
                                    <p:animEffect transition="in" filter="fade">
                                      <p:cBhvr>
                                        <p:cTn id="32" dur="2000"/>
                                        <p:tgtEl>
                                          <p:spTgt spid="4710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autoUpdateAnimBg="0" build="p"/>
      <p:bldP spid="38915"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Rectangle 2"/>
          <p:cNvSpPr>
            <a:spLocks noGrp="1" noRot="1" noChangeArrowheads="1"/>
          </p:cNvSpPr>
          <p:nvPr>
            <p:ph type="title" idx="4294967295"/>
          </p:nvPr>
        </p:nvSpPr>
        <p:spPr>
          <a:xfrm>
            <a:off x="533400" y="-22225"/>
            <a:ext cx="8077200" cy="735013"/>
          </a:xfrm>
        </p:spPr>
        <p:txBody>
          <a:bodyPr/>
          <a:lstStyle/>
          <a:p>
            <a:pPr eaLnBrk="1" hangingPunct="1">
              <a:defRPr/>
            </a:pPr>
            <a:r>
              <a:rPr lang="zh-CN" altLang="en-US" sz="4000" b="1" smtClean="0">
                <a:solidFill>
                  <a:schemeClr val="folHlink"/>
                </a:solidFill>
                <a:effectLst>
                  <a:outerShdw blurRad="38100" dist="38100" dir="2700000" algn="tl">
                    <a:srgbClr val="000000"/>
                  </a:outerShdw>
                </a:effectLst>
              </a:rPr>
              <a:t>文件操作实例（</a:t>
            </a:r>
            <a:r>
              <a:rPr lang="en-US" sz="4000" b="1" smtClean="0">
                <a:solidFill>
                  <a:schemeClr val="folHlink"/>
                </a:solidFill>
                <a:effectLst>
                  <a:outerShdw blurRad="38100" dist="38100" dir="2700000" algn="tl">
                    <a:srgbClr val="000000"/>
                  </a:outerShdw>
                </a:effectLst>
              </a:rPr>
              <a:t>Linux</a:t>
            </a:r>
            <a:r>
              <a:rPr lang="zh-CN" altLang="en-US" sz="4000" b="1" smtClean="0">
                <a:solidFill>
                  <a:schemeClr val="folHlink"/>
                </a:solidFill>
                <a:effectLst>
                  <a:outerShdw blurRad="38100" dist="38100" dir="2700000" algn="tl">
                    <a:srgbClr val="000000"/>
                  </a:outerShdw>
                </a:effectLst>
              </a:rPr>
              <a:t>）</a:t>
            </a:r>
            <a:endParaRPr lang="zh-CN" altLang="en-US" sz="4000" b="1" smtClean="0">
              <a:solidFill>
                <a:schemeClr val="folHlink"/>
              </a:solidFill>
              <a:effectLst>
                <a:outerShdw blurRad="38100" dist="38100" dir="2700000" algn="tl">
                  <a:srgbClr val="000000"/>
                </a:outerShdw>
              </a:effectLst>
            </a:endParaRPr>
          </a:p>
        </p:txBody>
      </p:sp>
      <p:sp>
        <p:nvSpPr>
          <p:cNvPr id="48131" name="Rectangle 3"/>
          <p:cNvSpPr>
            <a:spLocks noGrp="1" noRot="1" noChangeArrowheads="1"/>
          </p:cNvSpPr>
          <p:nvPr>
            <p:ph type="body" idx="4294967295"/>
          </p:nvPr>
        </p:nvSpPr>
        <p:spPr>
          <a:xfrm>
            <a:off x="539750" y="792163"/>
            <a:ext cx="8077200" cy="5805487"/>
          </a:xfrm>
        </p:spPr>
        <p:txBody>
          <a:bodyPr/>
          <a:lstStyle/>
          <a:p>
            <a:pPr eaLnBrk="1" hangingPunct="1">
              <a:lnSpc>
                <a:spcPct val="90000"/>
              </a:lnSpc>
            </a:pPr>
            <a:r>
              <a:rPr lang="zh-CN" altLang="en-US" sz="2000" b="1" smtClean="0"/>
              <a:t>＃</a:t>
            </a:r>
            <a:r>
              <a:rPr lang="en-US" altLang="zh-CN" sz="2000" b="1" smtClean="0"/>
              <a:t>i nclude &lt;fcntl.h&gt; </a:t>
            </a:r>
            <a:br>
              <a:rPr lang="en-US" altLang="zh-CN" sz="2000" b="1" smtClean="0"/>
            </a:br>
            <a:r>
              <a:rPr lang="zh-CN" altLang="en-US" sz="2000" b="1" smtClean="0"/>
              <a:t>＃</a:t>
            </a:r>
            <a:r>
              <a:rPr lang="en-US" altLang="zh-CN" sz="2000" b="1" smtClean="0"/>
              <a:t>i nclude &lt;unistd.h&gt; </a:t>
            </a:r>
            <a:br>
              <a:rPr lang="en-US" altLang="zh-CN" sz="2000" b="1" smtClean="0"/>
            </a:br>
            <a:r>
              <a:rPr lang="zh-CN" altLang="en-US" sz="2000" b="1" smtClean="0"/>
              <a:t>＃</a:t>
            </a:r>
            <a:r>
              <a:rPr lang="en-US" altLang="zh-CN" sz="2000" b="1" smtClean="0"/>
              <a:t>i nclude &lt;sys/types.h&gt; </a:t>
            </a:r>
            <a:br>
              <a:rPr lang="en-US" altLang="zh-CN" sz="2000" b="1" smtClean="0"/>
            </a:br>
            <a:r>
              <a:rPr lang="zh-CN" altLang="en-US" sz="2000" b="1" smtClean="0"/>
              <a:t>＃</a:t>
            </a:r>
            <a:r>
              <a:rPr lang="en-US" altLang="zh-CN" sz="2000" b="1" smtClean="0"/>
              <a:t>i nclude &lt;sys/stat.h&gt; </a:t>
            </a:r>
            <a:br>
              <a:rPr lang="en-US" altLang="zh-CN" sz="2000" b="1" smtClean="0"/>
            </a:br>
            <a:r>
              <a:rPr lang="en-US" altLang="zh-CN" sz="2000" b="1" i="1" smtClean="0">
                <a:solidFill>
                  <a:schemeClr val="folHlink"/>
                </a:solidFill>
              </a:rPr>
              <a:t>int open(const char *pathname,int flags); </a:t>
            </a:r>
            <a:br>
              <a:rPr lang="en-US" altLang="zh-CN" sz="2000" b="1" i="1" smtClean="0">
                <a:solidFill>
                  <a:schemeClr val="folHlink"/>
                </a:solidFill>
              </a:rPr>
            </a:br>
            <a:r>
              <a:rPr lang="en-US" altLang="zh-CN" sz="2000" b="1" i="1" smtClean="0">
                <a:solidFill>
                  <a:schemeClr val="folHlink"/>
                </a:solidFill>
              </a:rPr>
              <a:t>int open(const char *pathname,int flags,mode_t mode); </a:t>
            </a:r>
            <a:br>
              <a:rPr lang="en-US" altLang="zh-CN" sz="2000" b="1" i="1" smtClean="0">
                <a:solidFill>
                  <a:schemeClr val="folHlink"/>
                </a:solidFill>
              </a:rPr>
            </a:br>
            <a:r>
              <a:rPr lang="en-US" altLang="zh-CN" sz="2000" b="1" i="1" smtClean="0">
                <a:solidFill>
                  <a:schemeClr val="folHlink"/>
                </a:solidFill>
              </a:rPr>
              <a:t>int close(int fd); </a:t>
            </a:r>
            <a:br>
              <a:rPr lang="en-US" altLang="zh-CN" sz="2000" b="1" i="1" smtClean="0">
                <a:solidFill>
                  <a:schemeClr val="folHlink"/>
                </a:solidFill>
              </a:rPr>
            </a:br>
            <a:r>
              <a:rPr lang="en-US" altLang="zh-CN" sz="2000" b="1" smtClean="0"/>
              <a:t>open</a:t>
            </a:r>
            <a:r>
              <a:rPr lang="zh-CN" altLang="en-US" sz="2000" b="1" smtClean="0"/>
              <a:t>函数有两个形式</a:t>
            </a:r>
            <a:r>
              <a:rPr lang="en-US" altLang="zh-CN" sz="2000" b="1" smtClean="0"/>
              <a:t>.</a:t>
            </a:r>
            <a:r>
              <a:rPr lang="zh-CN" altLang="en-US" sz="2000" b="1" smtClean="0"/>
              <a:t>其中</a:t>
            </a:r>
            <a:r>
              <a:rPr lang="en-US" altLang="zh-CN" sz="2000" b="1" smtClean="0"/>
              <a:t>pathname</a:t>
            </a:r>
            <a:r>
              <a:rPr lang="zh-CN" altLang="en-US" sz="2000" b="1" smtClean="0"/>
              <a:t>是我们要打开的文件名</a:t>
            </a:r>
            <a:r>
              <a:rPr lang="en-US" altLang="zh-CN" sz="2000" b="1" smtClean="0"/>
              <a:t>(</a:t>
            </a:r>
            <a:r>
              <a:rPr lang="zh-CN" altLang="en-US" sz="2000" b="1" smtClean="0"/>
              <a:t>包含路径名称</a:t>
            </a:r>
            <a:r>
              <a:rPr lang="en-US" altLang="zh-CN" sz="2000" b="1" smtClean="0"/>
              <a:t>,</a:t>
            </a:r>
            <a:r>
              <a:rPr lang="zh-CN" altLang="en-US" sz="2000" b="1" smtClean="0"/>
              <a:t>缺省是认为在当前路径下面</a:t>
            </a:r>
            <a:r>
              <a:rPr lang="en-US" altLang="zh-CN" sz="2000" b="1" smtClean="0"/>
              <a:t>).</a:t>
            </a:r>
            <a:endParaRPr lang="en-US" altLang="zh-CN" sz="2000" b="1" smtClean="0"/>
          </a:p>
          <a:p>
            <a:pPr eaLnBrk="1" hangingPunct="1">
              <a:lnSpc>
                <a:spcPct val="90000"/>
              </a:lnSpc>
            </a:pPr>
            <a:r>
              <a:rPr lang="en-US" altLang="zh-CN" sz="2000" b="1" smtClean="0"/>
              <a:t>Flags</a:t>
            </a:r>
            <a:r>
              <a:rPr lang="zh-CN" altLang="en-US" sz="2000" b="1" smtClean="0"/>
              <a:t>指文件的打开方式：</a:t>
            </a:r>
            <a:endParaRPr lang="zh-CN" altLang="en-US" sz="2000" b="1" smtClean="0"/>
          </a:p>
          <a:p>
            <a:pPr lvl="1" eaLnBrk="1" hangingPunct="1">
              <a:lnSpc>
                <a:spcPct val="90000"/>
              </a:lnSpc>
            </a:pPr>
            <a:r>
              <a:rPr lang="en-US" altLang="zh-CN" sz="2000" b="1" smtClean="0"/>
              <a:t>O_RDONLY:</a:t>
            </a:r>
            <a:r>
              <a:rPr lang="zh-CN" altLang="en-US" sz="2000" b="1" smtClean="0"/>
              <a:t>以只读的方式打开文件</a:t>
            </a:r>
            <a:r>
              <a:rPr lang="en-US" altLang="zh-CN" sz="2000" b="1" smtClean="0"/>
              <a:t>. </a:t>
            </a:r>
            <a:br>
              <a:rPr lang="en-US" altLang="zh-CN" sz="2000" b="1" smtClean="0"/>
            </a:br>
            <a:r>
              <a:rPr lang="en-US" altLang="zh-CN" sz="2000" b="1" smtClean="0"/>
              <a:t>O_WRONLY:</a:t>
            </a:r>
            <a:r>
              <a:rPr lang="zh-CN" altLang="en-US" sz="2000" b="1" smtClean="0"/>
              <a:t>以只写的方式打开文件</a:t>
            </a:r>
            <a:r>
              <a:rPr lang="en-US" altLang="zh-CN" sz="2000" b="1" smtClean="0"/>
              <a:t>. </a:t>
            </a:r>
            <a:br>
              <a:rPr lang="en-US" altLang="zh-CN" sz="2000" b="1" smtClean="0"/>
            </a:br>
            <a:r>
              <a:rPr lang="en-US" altLang="zh-CN" sz="2000" b="1" smtClean="0"/>
              <a:t>O_RDWR:</a:t>
            </a:r>
            <a:r>
              <a:rPr lang="zh-CN" altLang="en-US" sz="2000" b="1" smtClean="0"/>
              <a:t>以读写的方式打开文件</a:t>
            </a:r>
            <a:r>
              <a:rPr lang="en-US" altLang="zh-CN" sz="2000" b="1" smtClean="0"/>
              <a:t>. </a:t>
            </a:r>
            <a:br>
              <a:rPr lang="en-US" altLang="zh-CN" sz="2000" b="1" smtClean="0"/>
            </a:br>
            <a:r>
              <a:rPr lang="en-US" altLang="zh-CN" sz="2000" b="1" smtClean="0"/>
              <a:t>O_APPEND:</a:t>
            </a:r>
            <a:r>
              <a:rPr lang="zh-CN" altLang="en-US" sz="2000" b="1" smtClean="0"/>
              <a:t>以追加的方式打开文件</a:t>
            </a:r>
            <a:r>
              <a:rPr lang="en-US" altLang="zh-CN" sz="2000" b="1" smtClean="0"/>
              <a:t>. </a:t>
            </a:r>
            <a:br>
              <a:rPr lang="en-US" altLang="zh-CN" sz="2000" b="1" smtClean="0"/>
            </a:br>
            <a:r>
              <a:rPr lang="en-US" altLang="zh-CN" sz="2000" b="1" smtClean="0"/>
              <a:t>O_CREAT:</a:t>
            </a:r>
            <a:r>
              <a:rPr lang="zh-CN" altLang="en-US" sz="2000" b="1" smtClean="0"/>
              <a:t>创建一个文件</a:t>
            </a:r>
            <a:r>
              <a:rPr lang="en-US" altLang="zh-CN" sz="2000" b="1" smtClean="0"/>
              <a:t>. </a:t>
            </a:r>
            <a:br>
              <a:rPr lang="en-US" altLang="zh-CN" sz="2000" b="1" smtClean="0"/>
            </a:br>
            <a:r>
              <a:rPr lang="en-US" altLang="zh-CN" sz="2000" b="1" smtClean="0"/>
              <a:t>O_EXEC:</a:t>
            </a:r>
            <a:r>
              <a:rPr lang="zh-CN" altLang="en-US" sz="2000" b="1" smtClean="0"/>
              <a:t>如果使用了</a:t>
            </a:r>
            <a:r>
              <a:rPr lang="en-US" altLang="zh-CN" sz="2000" b="1" smtClean="0"/>
              <a:t>O_CREAT</a:t>
            </a:r>
            <a:r>
              <a:rPr lang="zh-CN" altLang="en-US" sz="2000" b="1" smtClean="0"/>
              <a:t>而且文件已经存在</a:t>
            </a:r>
            <a:r>
              <a:rPr lang="en-US" altLang="zh-CN" sz="2000" b="1" smtClean="0"/>
              <a:t>,</a:t>
            </a:r>
            <a:r>
              <a:rPr lang="zh-CN" altLang="en-US" sz="2000" b="1" smtClean="0"/>
              <a:t>就会发生一个错误</a:t>
            </a:r>
            <a:r>
              <a:rPr lang="en-US" altLang="zh-CN" sz="2000" b="1" smtClean="0"/>
              <a:t>. </a:t>
            </a:r>
            <a:br>
              <a:rPr lang="en-US" altLang="zh-CN" sz="2000" b="1" smtClean="0"/>
            </a:br>
            <a:r>
              <a:rPr lang="en-US" altLang="zh-CN" sz="2000" b="1" smtClean="0"/>
              <a:t>O_NOBLOCK:</a:t>
            </a:r>
            <a:r>
              <a:rPr lang="zh-CN" altLang="en-US" sz="2000" b="1" smtClean="0"/>
              <a:t>以非阻塞的方式打开一个文件</a:t>
            </a:r>
            <a:r>
              <a:rPr lang="en-US" altLang="zh-CN" sz="2000" b="1" smtClean="0"/>
              <a:t>. </a:t>
            </a:r>
            <a:br>
              <a:rPr lang="en-US" altLang="zh-CN" sz="2000" b="1" smtClean="0"/>
            </a:br>
            <a:r>
              <a:rPr lang="en-US" altLang="zh-CN" sz="2000" b="1" smtClean="0"/>
              <a:t>O_TRUNC:</a:t>
            </a:r>
            <a:r>
              <a:rPr lang="zh-CN" altLang="en-US" sz="2000" b="1" smtClean="0"/>
              <a:t>如果文件已经存在</a:t>
            </a:r>
            <a:r>
              <a:rPr lang="en-US" altLang="zh-CN" sz="2000" b="1" smtClean="0"/>
              <a:t>,</a:t>
            </a:r>
            <a:r>
              <a:rPr lang="zh-CN" altLang="en-US" sz="2000" b="1" smtClean="0"/>
              <a:t>则删除文件的内容</a:t>
            </a:r>
            <a:r>
              <a:rPr lang="en-US" altLang="zh-CN" sz="2000" b="1" smtClean="0"/>
              <a:t>.  </a:t>
            </a:r>
            <a:endParaRPr lang="en-US" altLang="zh-CN" sz="2000" b="1" smtClean="0"/>
          </a:p>
          <a:p>
            <a:pPr eaLnBrk="1" hangingPunct="1">
              <a:lnSpc>
                <a:spcPct val="90000"/>
              </a:lnSpc>
            </a:pPr>
            <a:r>
              <a:rPr lang="zh-CN" altLang="en-US" sz="2000" b="1" smtClean="0"/>
              <a:t>参数</a:t>
            </a:r>
            <a:r>
              <a:rPr lang="en-US" altLang="zh-CN" sz="2000" b="1" smtClean="0"/>
              <a:t>mode </a:t>
            </a:r>
            <a:r>
              <a:rPr lang="zh-CN" altLang="en-US" sz="2000" b="1" smtClean="0"/>
              <a:t>指文件的权限，只有在建立新文件时才会生效。</a:t>
            </a:r>
            <a:endParaRPr lang="zh-CN" altLang="en-US" sz="2000" b="1"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9938"/>
                                        </p:tgtEl>
                                        <p:attrNameLst>
                                          <p:attrName>style.visibility</p:attrName>
                                        </p:attrNameLst>
                                      </p:cBhvr>
                                      <p:to>
                                        <p:strVal val="visible"/>
                                      </p:to>
                                    </p:set>
                                    <p:animEffect transition="in" filter="fade">
                                      <p:cBhvr>
                                        <p:cTn id="7" dur="2000"/>
                                        <p:tgtEl>
                                          <p:spTgt spid="3993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8131">
                                            <p:txEl>
                                              <p:pRg st="0" end="0"/>
                                            </p:txEl>
                                          </p:spTgt>
                                        </p:tgtEl>
                                        <p:attrNameLst>
                                          <p:attrName>style.visibility</p:attrName>
                                        </p:attrNameLst>
                                      </p:cBhvr>
                                      <p:to>
                                        <p:strVal val="visible"/>
                                      </p:to>
                                    </p:set>
                                    <p:animEffect transition="in" filter="fade">
                                      <p:cBhvr>
                                        <p:cTn id="12" dur="2000"/>
                                        <p:tgtEl>
                                          <p:spTgt spid="4813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8131">
                                            <p:txEl>
                                              <p:pRg st="1" end="1"/>
                                            </p:txEl>
                                          </p:spTgt>
                                        </p:tgtEl>
                                        <p:attrNameLst>
                                          <p:attrName>style.visibility</p:attrName>
                                        </p:attrNameLst>
                                      </p:cBhvr>
                                      <p:to>
                                        <p:strVal val="visible"/>
                                      </p:to>
                                    </p:set>
                                    <p:animEffect transition="in" filter="fade">
                                      <p:cBhvr>
                                        <p:cTn id="17" dur="2000"/>
                                        <p:tgtEl>
                                          <p:spTgt spid="48131">
                                            <p:txEl>
                                              <p:pRg st="1" end="1"/>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8131">
                                            <p:txEl>
                                              <p:pRg st="2" end="2"/>
                                            </p:txEl>
                                          </p:spTgt>
                                        </p:tgtEl>
                                        <p:attrNameLst>
                                          <p:attrName>style.visibility</p:attrName>
                                        </p:attrNameLst>
                                      </p:cBhvr>
                                      <p:to>
                                        <p:strVal val="visible"/>
                                      </p:to>
                                    </p:set>
                                    <p:animEffect transition="in" filter="fade">
                                      <p:cBhvr>
                                        <p:cTn id="20" dur="2000"/>
                                        <p:tgtEl>
                                          <p:spTgt spid="48131">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8131">
                                            <p:txEl>
                                              <p:pRg st="3" end="3"/>
                                            </p:txEl>
                                          </p:spTgt>
                                        </p:tgtEl>
                                        <p:attrNameLst>
                                          <p:attrName>style.visibility</p:attrName>
                                        </p:attrNameLst>
                                      </p:cBhvr>
                                      <p:to>
                                        <p:strVal val="visible"/>
                                      </p:to>
                                    </p:set>
                                    <p:animEffect transition="in" filter="fade">
                                      <p:cBhvr>
                                        <p:cTn id="25" dur="2000"/>
                                        <p:tgtEl>
                                          <p:spTgt spid="4813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autoUpdateAnimBg="0"/>
      <p:bldP spid="48131" grpId="0" autoUpdateAnimBg="0" build="p"/>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Rectangle 3"/>
          <p:cNvSpPr>
            <a:spLocks noGrp="1" noRot="1" noChangeArrowheads="1"/>
          </p:cNvSpPr>
          <p:nvPr>
            <p:ph type="body" idx="4294967295"/>
          </p:nvPr>
        </p:nvSpPr>
        <p:spPr>
          <a:xfrm>
            <a:off x="533400" y="404813"/>
            <a:ext cx="8077200" cy="5767387"/>
          </a:xfrm>
        </p:spPr>
        <p:txBody>
          <a:bodyPr/>
          <a:lstStyle/>
          <a:p>
            <a:pPr eaLnBrk="1" hangingPunct="1">
              <a:lnSpc>
                <a:spcPct val="90000"/>
              </a:lnSpc>
            </a:pPr>
            <a:r>
              <a:rPr lang="en-US" altLang="zh-CN" sz="2800" b="1" smtClean="0">
                <a:solidFill>
                  <a:schemeClr val="folHlink"/>
                </a:solidFill>
              </a:rPr>
              <a:t>size_t write(int fildes,const void *buf,size_t nbytes);</a:t>
            </a:r>
            <a:endParaRPr lang="en-US" altLang="zh-CN" sz="2800" b="1" smtClean="0">
              <a:solidFill>
                <a:schemeClr val="folHlink"/>
              </a:solidFill>
            </a:endParaRPr>
          </a:p>
          <a:p>
            <a:pPr eaLnBrk="1" hangingPunct="1">
              <a:lnSpc>
                <a:spcPct val="90000"/>
              </a:lnSpc>
            </a:pPr>
            <a:r>
              <a:rPr lang="zh-CN" altLang="en-US" sz="2800" b="1" smtClean="0"/>
              <a:t>参数说明：</a:t>
            </a:r>
            <a:endParaRPr lang="zh-CN" altLang="en-US" sz="2800" b="1" smtClean="0"/>
          </a:p>
          <a:p>
            <a:pPr lvl="1" eaLnBrk="1" hangingPunct="1">
              <a:lnSpc>
                <a:spcPct val="90000"/>
              </a:lnSpc>
            </a:pPr>
            <a:r>
              <a:rPr lang="en-US" altLang="zh-CN" sz="2400" b="1" smtClean="0"/>
              <a:t>fildes</a:t>
            </a:r>
            <a:r>
              <a:rPr lang="zh-CN" altLang="en-US" sz="2400" b="1" smtClean="0"/>
              <a:t>：与文件相对应的文件描述符，可通过调用</a:t>
            </a:r>
            <a:r>
              <a:rPr lang="en-US" altLang="zh-CN" sz="2400" b="1" smtClean="0"/>
              <a:t>open</a:t>
            </a:r>
            <a:r>
              <a:rPr lang="zh-CN" altLang="en-US" sz="2400" b="1" smtClean="0"/>
              <a:t>函数获取</a:t>
            </a:r>
            <a:endParaRPr lang="zh-CN" altLang="en-US" sz="2400" b="1" smtClean="0"/>
          </a:p>
          <a:p>
            <a:pPr lvl="1" eaLnBrk="1" hangingPunct="1">
              <a:lnSpc>
                <a:spcPct val="90000"/>
              </a:lnSpc>
            </a:pPr>
            <a:r>
              <a:rPr lang="en-US" altLang="zh-CN" sz="2400" b="1" smtClean="0"/>
              <a:t>buf</a:t>
            </a:r>
            <a:r>
              <a:rPr lang="zh-CN" altLang="en-US" sz="2400" b="1" smtClean="0"/>
              <a:t>：存放将写入文件的数据，可以是字符串，也可是其他数据。其中</a:t>
            </a:r>
            <a:r>
              <a:rPr lang="en-US" altLang="zh-CN" sz="2400" b="1" smtClean="0"/>
              <a:t>buf</a:t>
            </a:r>
            <a:r>
              <a:rPr lang="zh-CN" altLang="en-US" sz="2400" b="1" smtClean="0"/>
              <a:t>是指向字符串的指针</a:t>
            </a:r>
            <a:endParaRPr lang="zh-CN" altLang="en-US" sz="2400" b="1" smtClean="0"/>
          </a:p>
          <a:p>
            <a:pPr lvl="1" eaLnBrk="1" hangingPunct="1">
              <a:lnSpc>
                <a:spcPct val="90000"/>
              </a:lnSpc>
            </a:pPr>
            <a:r>
              <a:rPr lang="en-US" altLang="zh-CN" sz="2400" b="1" smtClean="0"/>
              <a:t>nbytes</a:t>
            </a:r>
            <a:r>
              <a:rPr lang="zh-CN" altLang="en-US" sz="2400" b="1" smtClean="0"/>
              <a:t>：需写进文件的字节数</a:t>
            </a:r>
            <a:endParaRPr lang="zh-CN" altLang="en-US" sz="2400" b="1" smtClean="0"/>
          </a:p>
          <a:p>
            <a:pPr eaLnBrk="1" hangingPunct="1">
              <a:lnSpc>
                <a:spcPct val="90000"/>
              </a:lnSpc>
            </a:pPr>
            <a:r>
              <a:rPr lang="en-US" altLang="zh-CN" sz="2800" b="1" smtClean="0">
                <a:solidFill>
                  <a:schemeClr val="folHlink"/>
                </a:solidFill>
              </a:rPr>
              <a:t>size_t read(int fildes,char *buf,size_t nbytes);</a:t>
            </a:r>
            <a:endParaRPr lang="en-US" altLang="zh-CN" sz="2800" b="1" smtClean="0">
              <a:solidFill>
                <a:schemeClr val="folHlink"/>
              </a:solidFill>
            </a:endParaRPr>
          </a:p>
          <a:p>
            <a:pPr eaLnBrk="1" hangingPunct="1">
              <a:lnSpc>
                <a:spcPct val="90000"/>
              </a:lnSpc>
            </a:pPr>
            <a:r>
              <a:rPr lang="zh-CN" altLang="en-US" sz="2800" b="1" smtClean="0"/>
              <a:t>参数说明：</a:t>
            </a:r>
            <a:endParaRPr lang="zh-CN" altLang="en-US" sz="2800" b="1" smtClean="0"/>
          </a:p>
          <a:p>
            <a:pPr lvl="1" eaLnBrk="1" hangingPunct="1">
              <a:lnSpc>
                <a:spcPct val="90000"/>
              </a:lnSpc>
            </a:pPr>
            <a:r>
              <a:rPr lang="en-US" altLang="zh-CN" sz="2400" b="1" smtClean="0"/>
              <a:t>fildes</a:t>
            </a:r>
            <a:r>
              <a:rPr lang="zh-CN" altLang="en-US" sz="2400" b="1" smtClean="0"/>
              <a:t>：文件描述符</a:t>
            </a:r>
            <a:endParaRPr lang="zh-CN" altLang="en-US" sz="2400" b="1" smtClean="0"/>
          </a:p>
          <a:p>
            <a:pPr lvl="1" eaLnBrk="1" hangingPunct="1">
              <a:lnSpc>
                <a:spcPct val="90000"/>
              </a:lnSpc>
            </a:pPr>
            <a:r>
              <a:rPr lang="en-US" altLang="zh-CN" sz="2400" b="1" smtClean="0"/>
              <a:t>buf</a:t>
            </a:r>
            <a:r>
              <a:rPr lang="zh-CN" altLang="en-US" sz="2400" b="1" smtClean="0"/>
              <a:t>：存放从文件中读取的数据</a:t>
            </a:r>
            <a:endParaRPr lang="zh-CN" altLang="en-US" sz="2400" b="1" smtClean="0"/>
          </a:p>
          <a:p>
            <a:pPr lvl="1" eaLnBrk="1" hangingPunct="1">
              <a:lnSpc>
                <a:spcPct val="90000"/>
              </a:lnSpc>
            </a:pPr>
            <a:r>
              <a:rPr lang="en-US" altLang="zh-CN" sz="2400" b="1" smtClean="0"/>
              <a:t>nbytes</a:t>
            </a:r>
            <a:r>
              <a:rPr lang="zh-CN" altLang="en-US" sz="2400" b="1" smtClean="0"/>
              <a:t>：希望读取的直接数</a:t>
            </a:r>
            <a:endParaRPr lang="zh-CN" altLang="en-US" sz="2400" b="1"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9154">
                                            <p:txEl>
                                              <p:pRg st="0" end="0"/>
                                            </p:txEl>
                                          </p:spTgt>
                                        </p:tgtEl>
                                        <p:attrNameLst>
                                          <p:attrName>style.visibility</p:attrName>
                                        </p:attrNameLst>
                                      </p:cBhvr>
                                      <p:to>
                                        <p:strVal val="visible"/>
                                      </p:to>
                                    </p:set>
                                    <p:animEffect transition="in" filter="fade">
                                      <p:cBhvr>
                                        <p:cTn id="7" dur="2000"/>
                                        <p:tgtEl>
                                          <p:spTgt spid="491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9154">
                                            <p:txEl>
                                              <p:pRg st="1" end="1"/>
                                            </p:txEl>
                                          </p:spTgt>
                                        </p:tgtEl>
                                        <p:attrNameLst>
                                          <p:attrName>style.visibility</p:attrName>
                                        </p:attrNameLst>
                                      </p:cBhvr>
                                      <p:to>
                                        <p:strVal val="visible"/>
                                      </p:to>
                                    </p:set>
                                    <p:animEffect transition="in" filter="fade">
                                      <p:cBhvr>
                                        <p:cTn id="12" dur="2000"/>
                                        <p:tgtEl>
                                          <p:spTgt spid="49154">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9154">
                                            <p:txEl>
                                              <p:pRg st="2" end="2"/>
                                            </p:txEl>
                                          </p:spTgt>
                                        </p:tgtEl>
                                        <p:attrNameLst>
                                          <p:attrName>style.visibility</p:attrName>
                                        </p:attrNameLst>
                                      </p:cBhvr>
                                      <p:to>
                                        <p:strVal val="visible"/>
                                      </p:to>
                                    </p:set>
                                    <p:animEffect transition="in" filter="fade">
                                      <p:cBhvr>
                                        <p:cTn id="15" dur="2000"/>
                                        <p:tgtEl>
                                          <p:spTgt spid="49154">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9154">
                                            <p:txEl>
                                              <p:pRg st="3" end="3"/>
                                            </p:txEl>
                                          </p:spTgt>
                                        </p:tgtEl>
                                        <p:attrNameLst>
                                          <p:attrName>style.visibility</p:attrName>
                                        </p:attrNameLst>
                                      </p:cBhvr>
                                      <p:to>
                                        <p:strVal val="visible"/>
                                      </p:to>
                                    </p:set>
                                    <p:animEffect transition="in" filter="fade">
                                      <p:cBhvr>
                                        <p:cTn id="18" dur="2000"/>
                                        <p:tgtEl>
                                          <p:spTgt spid="49154">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9154">
                                            <p:txEl>
                                              <p:pRg st="4" end="4"/>
                                            </p:txEl>
                                          </p:spTgt>
                                        </p:tgtEl>
                                        <p:attrNameLst>
                                          <p:attrName>style.visibility</p:attrName>
                                        </p:attrNameLst>
                                      </p:cBhvr>
                                      <p:to>
                                        <p:strVal val="visible"/>
                                      </p:to>
                                    </p:set>
                                    <p:animEffect transition="in" filter="fade">
                                      <p:cBhvr>
                                        <p:cTn id="21" dur="2000"/>
                                        <p:tgtEl>
                                          <p:spTgt spid="49154">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49154">
                                            <p:txEl>
                                              <p:pRg st="5" end="5"/>
                                            </p:txEl>
                                          </p:spTgt>
                                        </p:tgtEl>
                                        <p:attrNameLst>
                                          <p:attrName>style.visibility</p:attrName>
                                        </p:attrNameLst>
                                      </p:cBhvr>
                                      <p:to>
                                        <p:strVal val="visible"/>
                                      </p:to>
                                    </p:set>
                                    <p:animEffect transition="in" filter="fade">
                                      <p:cBhvr>
                                        <p:cTn id="26" dur="2000"/>
                                        <p:tgtEl>
                                          <p:spTgt spid="49154">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9154">
                                            <p:txEl>
                                              <p:pRg st="6" end="6"/>
                                            </p:txEl>
                                          </p:spTgt>
                                        </p:tgtEl>
                                        <p:attrNameLst>
                                          <p:attrName>style.visibility</p:attrName>
                                        </p:attrNameLst>
                                      </p:cBhvr>
                                      <p:to>
                                        <p:strVal val="visible"/>
                                      </p:to>
                                    </p:set>
                                    <p:animEffect transition="in" filter="fade">
                                      <p:cBhvr>
                                        <p:cTn id="31" dur="2000"/>
                                        <p:tgtEl>
                                          <p:spTgt spid="49154">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9154">
                                            <p:txEl>
                                              <p:pRg st="7" end="7"/>
                                            </p:txEl>
                                          </p:spTgt>
                                        </p:tgtEl>
                                        <p:attrNameLst>
                                          <p:attrName>style.visibility</p:attrName>
                                        </p:attrNameLst>
                                      </p:cBhvr>
                                      <p:to>
                                        <p:strVal val="visible"/>
                                      </p:to>
                                    </p:set>
                                    <p:animEffect transition="in" filter="fade">
                                      <p:cBhvr>
                                        <p:cTn id="34" dur="2000"/>
                                        <p:tgtEl>
                                          <p:spTgt spid="49154">
                                            <p:txEl>
                                              <p:pRg st="7" end="7"/>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9154">
                                            <p:txEl>
                                              <p:pRg st="8" end="8"/>
                                            </p:txEl>
                                          </p:spTgt>
                                        </p:tgtEl>
                                        <p:attrNameLst>
                                          <p:attrName>style.visibility</p:attrName>
                                        </p:attrNameLst>
                                      </p:cBhvr>
                                      <p:to>
                                        <p:strVal val="visible"/>
                                      </p:to>
                                    </p:set>
                                    <p:animEffect transition="in" filter="fade">
                                      <p:cBhvr>
                                        <p:cTn id="37" dur="2000"/>
                                        <p:tgtEl>
                                          <p:spTgt spid="49154">
                                            <p:txEl>
                                              <p:pRg st="8" end="8"/>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9154">
                                            <p:txEl>
                                              <p:pRg st="9" end="9"/>
                                            </p:txEl>
                                          </p:spTgt>
                                        </p:tgtEl>
                                        <p:attrNameLst>
                                          <p:attrName>style.visibility</p:attrName>
                                        </p:attrNameLst>
                                      </p:cBhvr>
                                      <p:to>
                                        <p:strVal val="visible"/>
                                      </p:to>
                                    </p:set>
                                    <p:animEffect transition="in" filter="fade">
                                      <p:cBhvr>
                                        <p:cTn id="40" dur="2000"/>
                                        <p:tgtEl>
                                          <p:spTgt spid="4915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autoUpdateAnimBg="0" build="p"/>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Rectangle 3"/>
          <p:cNvSpPr>
            <a:spLocks noGrp="1" noRot="1" noChangeArrowheads="1"/>
          </p:cNvSpPr>
          <p:nvPr>
            <p:ph type="body" idx="4294967295"/>
          </p:nvPr>
        </p:nvSpPr>
        <p:spPr>
          <a:xfrm>
            <a:off x="539750" y="1412875"/>
            <a:ext cx="8077200" cy="4498975"/>
          </a:xfrm>
        </p:spPr>
        <p:txBody>
          <a:bodyPr/>
          <a:lstStyle/>
          <a:p>
            <a:pPr eaLnBrk="1" hangingPunct="1"/>
            <a:r>
              <a:rPr lang="en-US" altLang="zh-CN" b="1" smtClean="0">
                <a:solidFill>
                  <a:schemeClr val="folHlink"/>
                </a:solidFill>
              </a:rPr>
              <a:t>int close(int fildes);</a:t>
            </a:r>
            <a:endParaRPr lang="en-US" altLang="zh-CN" b="1" smtClean="0">
              <a:solidFill>
                <a:schemeClr val="folHlink"/>
              </a:solidFill>
            </a:endParaRPr>
          </a:p>
          <a:p>
            <a:pPr eaLnBrk="1" hangingPunct="1"/>
            <a:r>
              <a:rPr lang="zh-CN" altLang="en-US" b="1" smtClean="0"/>
              <a:t>参数：</a:t>
            </a:r>
            <a:endParaRPr lang="zh-CN" altLang="en-US" b="1" smtClean="0"/>
          </a:p>
          <a:p>
            <a:pPr eaLnBrk="1" hangingPunct="1"/>
            <a:br>
              <a:rPr lang="zh-CN" altLang="en-US" b="1" smtClean="0"/>
            </a:br>
            <a:r>
              <a:rPr lang="en-US" altLang="zh-CN" b="1" smtClean="0"/>
              <a:t>fildes</a:t>
            </a:r>
            <a:r>
              <a:rPr lang="zh-CN" altLang="en-US" b="1" smtClean="0"/>
              <a:t>：文件描述符</a:t>
            </a:r>
            <a:endParaRPr lang="zh-CN" altLang="en-US" b="1"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178">
                                            <p:txEl>
                                              <p:pRg st="0" end="0"/>
                                            </p:txEl>
                                          </p:spTgt>
                                        </p:tgtEl>
                                        <p:attrNameLst>
                                          <p:attrName>style.visibility</p:attrName>
                                        </p:attrNameLst>
                                      </p:cBhvr>
                                      <p:to>
                                        <p:strVal val="visible"/>
                                      </p:to>
                                    </p:set>
                                    <p:animEffect transition="in" filter="fade">
                                      <p:cBhvr>
                                        <p:cTn id="7" dur="2000"/>
                                        <p:tgtEl>
                                          <p:spTgt spid="501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178">
                                            <p:txEl>
                                              <p:pRg st="1" end="1"/>
                                            </p:txEl>
                                          </p:spTgt>
                                        </p:tgtEl>
                                        <p:attrNameLst>
                                          <p:attrName>style.visibility</p:attrName>
                                        </p:attrNameLst>
                                      </p:cBhvr>
                                      <p:to>
                                        <p:strVal val="visible"/>
                                      </p:to>
                                    </p:set>
                                    <p:animEffect transition="in" filter="fade">
                                      <p:cBhvr>
                                        <p:cTn id="12" dur="2000"/>
                                        <p:tgtEl>
                                          <p:spTgt spid="5017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0178">
                                            <p:txEl>
                                              <p:pRg st="2" end="2"/>
                                            </p:txEl>
                                          </p:spTgt>
                                        </p:tgtEl>
                                        <p:attrNameLst>
                                          <p:attrName>style.visibility</p:attrName>
                                        </p:attrNameLst>
                                      </p:cBhvr>
                                      <p:to>
                                        <p:strVal val="visible"/>
                                      </p:to>
                                    </p:set>
                                    <p:animEffect transition="in" filter="fade">
                                      <p:cBhvr>
                                        <p:cTn id="17" dur="2000"/>
                                        <p:tgtEl>
                                          <p:spTgt spid="5017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8" grpId="0" autoUpdateAnimBg="0" build="p"/>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p:cNvSpPr>
            <a:spLocks noGrp="1" noRot="1" noChangeArrowheads="1"/>
          </p:cNvSpPr>
          <p:nvPr>
            <p:ph type="title" idx="4294967295"/>
          </p:nvPr>
        </p:nvSpPr>
        <p:spPr>
          <a:xfrm>
            <a:off x="152400" y="1524000"/>
            <a:ext cx="8839200" cy="1524000"/>
          </a:xfrm>
          <a:gradFill rotWithShape="0">
            <a:gsLst>
              <a:gs pos="0">
                <a:srgbClr val="404552"/>
              </a:gs>
              <a:gs pos="50000">
                <a:schemeClr val="accent1"/>
              </a:gs>
              <a:gs pos="100000">
                <a:srgbClr val="404552"/>
              </a:gs>
            </a:gsLst>
            <a:lin ang="5400000" scaled="1"/>
          </a:gradFill>
        </p:spPr>
        <p:txBody>
          <a:bodyPr/>
          <a:lstStyle/>
          <a:p>
            <a:pPr eaLnBrk="1" hangingPunct="1">
              <a:defRPr/>
            </a:pPr>
            <a:r>
              <a:rPr lang="en-US" b="1" dirty="0" smtClean="0">
                <a:solidFill>
                  <a:schemeClr val="accent2"/>
                </a:solidFill>
                <a:effectLst>
                  <a:outerShdw blurRad="38100" dist="38100" dir="2700000" algn="tl">
                    <a:srgbClr val="000000"/>
                  </a:outerShdw>
                </a:effectLst>
                <a:latin typeface="仿宋_GB2312" pitchFamily="1" charset="-122"/>
                <a:ea typeface="仿宋_GB2312" pitchFamily="1" charset="-122"/>
              </a:rPr>
              <a:t> </a:t>
            </a:r>
            <a:r>
              <a:rPr lang="en-US" altLang="zh-CN" b="1" dirty="0" smtClean="0">
                <a:solidFill>
                  <a:schemeClr val="accent2"/>
                </a:solidFill>
                <a:effectLst>
                  <a:outerShdw blurRad="38100" dist="38100" dir="2700000" algn="tl">
                    <a:srgbClr val="000000"/>
                  </a:outerShdw>
                </a:effectLst>
                <a:latin typeface="仿宋_GB2312" pitchFamily="1" charset="-122"/>
                <a:ea typeface="仿宋_GB2312" pitchFamily="1" charset="-122"/>
              </a:rPr>
              <a:t>7</a:t>
            </a:r>
            <a:r>
              <a:rPr lang="en-US" b="1" dirty="0" smtClean="0">
                <a:solidFill>
                  <a:schemeClr val="accent2"/>
                </a:solidFill>
                <a:effectLst>
                  <a:outerShdw blurRad="38100" dist="38100" dir="2700000" algn="tl">
                    <a:srgbClr val="000000"/>
                  </a:outerShdw>
                </a:effectLst>
                <a:latin typeface="仿宋_GB2312" pitchFamily="1" charset="-122"/>
                <a:ea typeface="仿宋_GB2312" pitchFamily="1" charset="-122"/>
              </a:rPr>
              <a:t>.2  </a:t>
            </a:r>
            <a:r>
              <a:rPr lang="zh-CN" altLang="en-US" b="1" dirty="0" smtClean="0">
                <a:solidFill>
                  <a:schemeClr val="accent2"/>
                </a:solidFill>
                <a:effectLst>
                  <a:outerShdw blurRad="38100" dist="38100" dir="2700000" algn="tl">
                    <a:srgbClr val="000000"/>
                  </a:outerShdw>
                </a:effectLst>
                <a:ea typeface="仿宋_GB2312" pitchFamily="1" charset="-122"/>
              </a:rPr>
              <a:t>文件目录</a:t>
            </a:r>
            <a:r>
              <a:rPr lang="zh-CN" altLang="en-US" b="1" dirty="0" smtClean="0">
                <a:solidFill>
                  <a:schemeClr val="accent2"/>
                </a:solidFill>
                <a:effectLst>
                  <a:outerShdw blurRad="38100" dist="38100" dir="2700000" algn="tl">
                    <a:srgbClr val="000000"/>
                  </a:outerShdw>
                </a:effectLst>
                <a:latin typeface="仿宋_GB2312" pitchFamily="1" charset="-122"/>
                <a:ea typeface="仿宋_GB2312" pitchFamily="1" charset="-122"/>
              </a:rPr>
              <a:t> </a:t>
            </a:r>
            <a:endParaRPr lang="zh-CN" altLang="en-US" b="1" dirty="0" smtClean="0">
              <a:solidFill>
                <a:schemeClr val="accent2"/>
              </a:solidFill>
              <a:effectLst>
                <a:outerShdw blurRad="38100" dist="38100" dir="2700000" algn="tl">
                  <a:srgbClr val="000000"/>
                </a:outerShdw>
              </a:effectLst>
              <a:latin typeface="仿宋_GB2312" pitchFamily="1" charset="-122"/>
              <a:ea typeface="仿宋_GB2312"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6082">
                                            <p:txEl>
                                              <p:charRg st="4294967295" end="4294967295"/>
                                            </p:txEl>
                                          </p:spTgt>
                                        </p:tgtEl>
                                        <p:attrNameLst>
                                          <p:attrName>style.visibility</p:attrName>
                                        </p:attrNameLst>
                                      </p:cBhvr>
                                      <p:to>
                                        <p:strVal val="visible"/>
                                      </p:to>
                                    </p:set>
                                    <p:animEffect transition="in" filter="fade">
                                      <p:cBhvr>
                                        <p:cTn id="7" dur="2000"/>
                                        <p:tgtEl>
                                          <p:spTgt spid="46082">
                                            <p:txEl>
                                              <p:charRg st="4294967295" end="42949672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Rectangle 3"/>
          <p:cNvSpPr>
            <a:spLocks noGrp="1" noRot="1" noChangeArrowheads="1"/>
          </p:cNvSpPr>
          <p:nvPr>
            <p:ph type="body" idx="4294967295"/>
          </p:nvPr>
        </p:nvSpPr>
        <p:spPr>
          <a:xfrm>
            <a:off x="533400" y="981075"/>
            <a:ext cx="8077200" cy="4498975"/>
          </a:xfrm>
        </p:spPr>
        <p:txBody>
          <a:bodyPr/>
          <a:lstStyle/>
          <a:p>
            <a:pPr marL="609600" indent="-609600" eaLnBrk="1" hangingPunct="1"/>
            <a:r>
              <a:rPr lang="zh-CN" altLang="en-US" b="1" smtClean="0">
                <a:solidFill>
                  <a:schemeClr val="folHlink"/>
                </a:solidFill>
              </a:rPr>
              <a:t>对目录管理的要求如下</a:t>
            </a:r>
            <a:r>
              <a:rPr lang="zh-CN" altLang="en-US" b="1" smtClean="0"/>
              <a:t>：</a:t>
            </a:r>
            <a:endParaRPr lang="zh-CN" altLang="en-US" b="1" smtClean="0"/>
          </a:p>
          <a:p>
            <a:pPr marL="609600" indent="-609600" eaLnBrk="1" hangingPunct="1"/>
            <a:r>
              <a:rPr lang="en-US" altLang="zh-CN" b="1" smtClean="0"/>
              <a:t>(1)</a:t>
            </a:r>
            <a:r>
              <a:rPr lang="zh-CN" altLang="en-US" b="1" smtClean="0"/>
              <a:t>实现“按名存取”。 </a:t>
            </a:r>
            <a:endParaRPr lang="zh-CN" altLang="en-US" b="1" smtClean="0"/>
          </a:p>
          <a:p>
            <a:pPr marL="609600" indent="-609600" eaLnBrk="1" hangingPunct="1"/>
            <a:r>
              <a:rPr lang="en-US" altLang="zh-CN" b="1" smtClean="0"/>
              <a:t>(2) </a:t>
            </a:r>
            <a:r>
              <a:rPr lang="zh-CN" altLang="en-US" b="1" smtClean="0"/>
              <a:t>提高对目录的检索速度。 </a:t>
            </a:r>
            <a:endParaRPr lang="zh-CN" altLang="en-US" b="1" smtClean="0"/>
          </a:p>
          <a:p>
            <a:pPr marL="609600" indent="-609600" eaLnBrk="1" hangingPunct="1"/>
            <a:r>
              <a:rPr lang="en-US" altLang="zh-CN" b="1" smtClean="0"/>
              <a:t>(3) </a:t>
            </a:r>
            <a:r>
              <a:rPr lang="zh-CN" altLang="en-US" b="1" smtClean="0"/>
              <a:t>文件共享。 </a:t>
            </a:r>
            <a:endParaRPr lang="zh-CN" altLang="en-US" b="1" smtClean="0"/>
          </a:p>
          <a:p>
            <a:pPr marL="609600" indent="-609600" eaLnBrk="1" hangingPunct="1"/>
            <a:r>
              <a:rPr lang="en-US" altLang="zh-CN" b="1" smtClean="0"/>
              <a:t>(4) </a:t>
            </a:r>
            <a:r>
              <a:rPr lang="zh-CN" altLang="en-US" b="1" smtClean="0"/>
              <a:t>允许文件重名。 </a:t>
            </a:r>
            <a:endParaRPr lang="zh-CN" altLang="en-US" b="1" smtClean="0"/>
          </a:p>
          <a:p>
            <a:pPr marL="609600" indent="-609600" eaLnBrk="1" hangingPunct="1"/>
            <a:endParaRPr lang="en-US" altLang="zh-CN" b="1"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5298">
                                            <p:txEl>
                                              <p:pRg st="0" end="0"/>
                                            </p:txEl>
                                          </p:spTgt>
                                        </p:tgtEl>
                                        <p:attrNameLst>
                                          <p:attrName>style.visibility</p:attrName>
                                        </p:attrNameLst>
                                      </p:cBhvr>
                                      <p:to>
                                        <p:strVal val="visible"/>
                                      </p:to>
                                    </p:set>
                                    <p:animEffect transition="in" filter="fade">
                                      <p:cBhvr>
                                        <p:cTn id="7" dur="2000"/>
                                        <p:tgtEl>
                                          <p:spTgt spid="552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5298">
                                            <p:txEl>
                                              <p:pRg st="1" end="1"/>
                                            </p:txEl>
                                          </p:spTgt>
                                        </p:tgtEl>
                                        <p:attrNameLst>
                                          <p:attrName>style.visibility</p:attrName>
                                        </p:attrNameLst>
                                      </p:cBhvr>
                                      <p:to>
                                        <p:strVal val="visible"/>
                                      </p:to>
                                    </p:set>
                                    <p:animEffect transition="in" filter="fade">
                                      <p:cBhvr>
                                        <p:cTn id="12" dur="2000"/>
                                        <p:tgtEl>
                                          <p:spTgt spid="5529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5298">
                                            <p:txEl>
                                              <p:pRg st="2" end="2"/>
                                            </p:txEl>
                                          </p:spTgt>
                                        </p:tgtEl>
                                        <p:attrNameLst>
                                          <p:attrName>style.visibility</p:attrName>
                                        </p:attrNameLst>
                                      </p:cBhvr>
                                      <p:to>
                                        <p:strVal val="visible"/>
                                      </p:to>
                                    </p:set>
                                    <p:animEffect transition="in" filter="fade">
                                      <p:cBhvr>
                                        <p:cTn id="17" dur="2000"/>
                                        <p:tgtEl>
                                          <p:spTgt spid="5529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5298">
                                            <p:txEl>
                                              <p:pRg st="3" end="3"/>
                                            </p:txEl>
                                          </p:spTgt>
                                        </p:tgtEl>
                                        <p:attrNameLst>
                                          <p:attrName>style.visibility</p:attrName>
                                        </p:attrNameLst>
                                      </p:cBhvr>
                                      <p:to>
                                        <p:strVal val="visible"/>
                                      </p:to>
                                    </p:set>
                                    <p:animEffect transition="in" filter="fade">
                                      <p:cBhvr>
                                        <p:cTn id="22" dur="2000"/>
                                        <p:tgtEl>
                                          <p:spTgt spid="5529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5298">
                                            <p:txEl>
                                              <p:pRg st="4" end="4"/>
                                            </p:txEl>
                                          </p:spTgt>
                                        </p:tgtEl>
                                        <p:attrNameLst>
                                          <p:attrName>style.visibility</p:attrName>
                                        </p:attrNameLst>
                                      </p:cBhvr>
                                      <p:to>
                                        <p:strVal val="visible"/>
                                      </p:to>
                                    </p:set>
                                    <p:animEffect transition="in" filter="fade">
                                      <p:cBhvr>
                                        <p:cTn id="27" dur="2000"/>
                                        <p:tgtEl>
                                          <p:spTgt spid="5529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autoUpdateAnimBg="0" build="p"/>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2"/>
          <p:cNvSpPr>
            <a:spLocks noGrp="1" noRot="1" noChangeArrowheads="1"/>
          </p:cNvSpPr>
          <p:nvPr>
            <p:ph type="title" idx="4294967295"/>
          </p:nvPr>
        </p:nvSpPr>
        <p:spPr/>
        <p:txBody>
          <a:bodyPr/>
          <a:lstStyle/>
          <a:p>
            <a:pPr eaLnBrk="1" hangingPunct="1">
              <a:defRPr/>
            </a:pPr>
            <a:r>
              <a:rPr lang="zh-CN" b="1" u="sng" smtClean="0">
                <a:solidFill>
                  <a:schemeClr val="folHlink"/>
                </a:solidFill>
                <a:effectLst>
                  <a:outerShdw blurRad="38100" dist="38100" dir="2700000" algn="tl">
                    <a:srgbClr val="000000"/>
                  </a:outerShdw>
                </a:effectLst>
                <a:ea typeface="仿宋_GB2312" pitchFamily="1" charset="-122"/>
              </a:rPr>
              <a:t>文件目录的内容</a:t>
            </a:r>
            <a:r>
              <a:rPr lang="zh-CN" smtClean="0">
                <a:solidFill>
                  <a:schemeClr val="folHlink"/>
                </a:solidFill>
                <a:effectLst>
                  <a:outerShdw blurRad="38100" dist="38100" dir="2700000" algn="tl">
                    <a:srgbClr val="000000"/>
                  </a:outerShdw>
                </a:effectLst>
              </a:rPr>
              <a:t> </a:t>
            </a:r>
            <a:endParaRPr lang="zh-CN" smtClean="0">
              <a:solidFill>
                <a:schemeClr val="folHlink"/>
              </a:solidFill>
              <a:effectLst>
                <a:outerShdw blurRad="38100" dist="38100" dir="2700000" algn="tl">
                  <a:srgbClr val="000000"/>
                </a:outerShdw>
              </a:effectLst>
            </a:endParaRPr>
          </a:p>
        </p:txBody>
      </p:sp>
      <p:sp>
        <p:nvSpPr>
          <p:cNvPr id="48131" name="Rectangle 3"/>
          <p:cNvSpPr>
            <a:spLocks noGrp="1" noRot="1" noChangeArrowheads="1"/>
          </p:cNvSpPr>
          <p:nvPr>
            <p:ph type="body" idx="4294967295"/>
          </p:nvPr>
        </p:nvSpPr>
        <p:spPr/>
        <p:txBody>
          <a:bodyPr/>
          <a:lstStyle/>
          <a:p>
            <a:pPr algn="just" eaLnBrk="1" hangingPunct="1">
              <a:defRPr/>
            </a:pPr>
            <a:r>
              <a:rPr lang="zh-CN" sz="2800" b="1" u="sng" smtClean="0">
                <a:effectLst>
                  <a:outerShdw blurRad="38100" dist="38100" dir="2700000" algn="tl">
                    <a:srgbClr val="000000"/>
                  </a:outerShdw>
                </a:effectLst>
                <a:latin typeface="仿宋_GB2312" pitchFamily="1" charset="-122"/>
                <a:ea typeface="仿宋_GB2312" pitchFamily="1" charset="-122"/>
              </a:rPr>
              <a:t>基本信息</a:t>
            </a:r>
            <a:r>
              <a:rPr lang="zh-CN" sz="2800" b="1" smtClean="0">
                <a:effectLst>
                  <a:outerShdw blurRad="38100" dist="38100" dir="2700000" algn="tl">
                    <a:srgbClr val="000000"/>
                  </a:outerShdw>
                </a:effectLst>
                <a:latin typeface="仿宋_GB2312" pitchFamily="1" charset="-122"/>
                <a:ea typeface="仿宋_GB2312" pitchFamily="1" charset="-122"/>
              </a:rPr>
              <a:t>：文件名、文件类型、文件组织等；</a:t>
            </a:r>
            <a:endParaRPr lang="zh-CN" sz="2800" b="1" smtClean="0">
              <a:effectLst>
                <a:outerShdw blurRad="38100" dist="38100" dir="2700000" algn="tl">
                  <a:srgbClr val="000000"/>
                </a:outerShdw>
              </a:effectLst>
              <a:latin typeface="仿宋_GB2312" pitchFamily="1" charset="-122"/>
              <a:ea typeface="仿宋_GB2312" pitchFamily="1" charset="-122"/>
            </a:endParaRPr>
          </a:p>
          <a:p>
            <a:pPr algn="just" eaLnBrk="1" hangingPunct="1">
              <a:defRPr/>
            </a:pPr>
            <a:r>
              <a:rPr lang="zh-CN" sz="2800" b="1" u="sng" smtClean="0">
                <a:effectLst>
                  <a:outerShdw blurRad="38100" dist="38100" dir="2700000" algn="tl">
                    <a:srgbClr val="000000"/>
                  </a:outerShdw>
                </a:effectLst>
                <a:latin typeface="仿宋_GB2312" pitchFamily="1" charset="-122"/>
                <a:ea typeface="仿宋_GB2312" pitchFamily="1" charset="-122"/>
              </a:rPr>
              <a:t>地址信息</a:t>
            </a:r>
            <a:r>
              <a:rPr lang="zh-CN" sz="2800" b="1" smtClean="0">
                <a:effectLst>
                  <a:outerShdw blurRad="38100" dist="38100" dir="2700000" algn="tl">
                    <a:srgbClr val="000000"/>
                  </a:outerShdw>
                </a:effectLst>
                <a:latin typeface="仿宋_GB2312" pitchFamily="1" charset="-122"/>
                <a:ea typeface="仿宋_GB2312" pitchFamily="1" charset="-122"/>
              </a:rPr>
              <a:t>：</a:t>
            </a:r>
            <a:r>
              <a:rPr lang="zh-CN" sz="2800" b="1" i="1" smtClean="0">
                <a:solidFill>
                  <a:schemeClr val="folHlink"/>
                </a:solidFill>
                <a:effectLst>
                  <a:outerShdw blurRad="38100" dist="38100" dir="2700000" algn="tl">
                    <a:srgbClr val="000000"/>
                  </a:outerShdw>
                </a:effectLst>
                <a:latin typeface="仿宋_GB2312" pitchFamily="1" charset="-122"/>
                <a:ea typeface="仿宋_GB2312" pitchFamily="1" charset="-122"/>
              </a:rPr>
              <a:t>卷</a:t>
            </a:r>
            <a:r>
              <a:rPr lang="zh-CN" sz="2800" b="1" smtClean="0">
                <a:effectLst>
                  <a:outerShdw blurRad="38100" dist="38100" dir="2700000" algn="tl">
                    <a:srgbClr val="000000"/>
                  </a:outerShdw>
                </a:effectLst>
                <a:latin typeface="仿宋_GB2312" pitchFamily="1" charset="-122"/>
                <a:ea typeface="仿宋_GB2312" pitchFamily="1" charset="-122"/>
              </a:rPr>
              <a:t>（存储文件的设备）、</a:t>
            </a:r>
            <a:r>
              <a:rPr lang="zh-CN" sz="2800" b="1" i="1" smtClean="0">
                <a:solidFill>
                  <a:schemeClr val="folHlink"/>
                </a:solidFill>
                <a:effectLst>
                  <a:outerShdw blurRad="38100" dist="38100" dir="2700000" algn="tl">
                    <a:srgbClr val="000000"/>
                  </a:outerShdw>
                </a:effectLst>
                <a:latin typeface="仿宋_GB2312" pitchFamily="1" charset="-122"/>
                <a:ea typeface="仿宋_GB2312" pitchFamily="1" charset="-122"/>
              </a:rPr>
              <a:t>起始地址</a:t>
            </a:r>
            <a:r>
              <a:rPr lang="zh-CN" sz="2800" b="1" smtClean="0">
                <a:effectLst>
                  <a:outerShdw blurRad="38100" dist="38100" dir="2700000" algn="tl">
                    <a:srgbClr val="000000"/>
                  </a:outerShdw>
                </a:effectLst>
                <a:latin typeface="仿宋_GB2312" pitchFamily="1" charset="-122"/>
                <a:ea typeface="仿宋_GB2312" pitchFamily="1" charset="-122"/>
              </a:rPr>
              <a:t>，（起始物理地址）、</a:t>
            </a:r>
            <a:r>
              <a:rPr lang="zh-CN" sz="2800" b="1" i="1" smtClean="0">
                <a:solidFill>
                  <a:schemeClr val="folHlink"/>
                </a:solidFill>
                <a:effectLst>
                  <a:outerShdw blurRad="38100" dist="38100" dir="2700000" algn="tl">
                    <a:srgbClr val="000000"/>
                  </a:outerShdw>
                </a:effectLst>
                <a:latin typeface="仿宋_GB2312" pitchFamily="1" charset="-122"/>
                <a:ea typeface="仿宋_GB2312" pitchFamily="1" charset="-122"/>
              </a:rPr>
              <a:t>文件长度</a:t>
            </a:r>
            <a:r>
              <a:rPr lang="zh-CN" sz="2800" b="1" smtClean="0">
                <a:effectLst>
                  <a:outerShdw blurRad="38100" dist="38100" dir="2700000" algn="tl">
                    <a:srgbClr val="000000"/>
                  </a:outerShdw>
                </a:effectLst>
                <a:latin typeface="仿宋_GB2312" pitchFamily="1" charset="-122"/>
                <a:ea typeface="仿宋_GB2312" pitchFamily="1" charset="-122"/>
              </a:rPr>
              <a:t>，（以字节、字或块为单位）等。</a:t>
            </a:r>
            <a:endParaRPr lang="zh-CN" sz="2800" b="1" smtClean="0">
              <a:effectLst>
                <a:outerShdw blurRad="38100" dist="38100" dir="2700000" algn="tl">
                  <a:srgbClr val="000000"/>
                </a:outerShdw>
              </a:effectLst>
              <a:latin typeface="仿宋_GB2312" pitchFamily="1" charset="-122"/>
              <a:ea typeface="仿宋_GB2312" pitchFamily="1" charset="-122"/>
            </a:endParaRPr>
          </a:p>
          <a:p>
            <a:pPr algn="just" eaLnBrk="1" hangingPunct="1">
              <a:defRPr/>
            </a:pPr>
            <a:r>
              <a:rPr lang="zh-CN" sz="2800" b="1" u="sng" smtClean="0">
                <a:effectLst>
                  <a:outerShdw blurRad="38100" dist="38100" dir="2700000" algn="tl">
                    <a:srgbClr val="000000"/>
                  </a:outerShdw>
                </a:effectLst>
                <a:latin typeface="仿宋_GB2312" pitchFamily="1" charset="-122"/>
                <a:ea typeface="仿宋_GB2312" pitchFamily="1" charset="-122"/>
              </a:rPr>
              <a:t>访问控制信息</a:t>
            </a:r>
            <a:r>
              <a:rPr lang="zh-CN" sz="2800" b="1" smtClean="0">
                <a:effectLst>
                  <a:outerShdw blurRad="38100" dist="38100" dir="2700000" algn="tl">
                    <a:srgbClr val="000000"/>
                  </a:outerShdw>
                </a:effectLst>
                <a:latin typeface="仿宋_GB2312" pitchFamily="1" charset="-122"/>
                <a:ea typeface="仿宋_GB2312" pitchFamily="1" charset="-122"/>
              </a:rPr>
              <a:t>：文件所有者、访问信息（用户名和口令等）、合法操作等；</a:t>
            </a:r>
            <a:endParaRPr lang="zh-CN" sz="2800" b="1" smtClean="0">
              <a:effectLst>
                <a:outerShdw blurRad="38100" dist="38100" dir="2700000" algn="tl">
                  <a:srgbClr val="000000"/>
                </a:outerShdw>
              </a:effectLst>
              <a:latin typeface="仿宋_GB2312" pitchFamily="1" charset="-122"/>
              <a:ea typeface="仿宋_GB2312" pitchFamily="1" charset="-122"/>
            </a:endParaRPr>
          </a:p>
          <a:p>
            <a:pPr eaLnBrk="1" hangingPunct="1">
              <a:defRPr/>
            </a:pPr>
            <a:r>
              <a:rPr lang="zh-CN" sz="2800" b="1" u="sng" smtClean="0">
                <a:effectLst>
                  <a:outerShdw blurRad="38100" dist="38100" dir="2700000" algn="tl">
                    <a:srgbClr val="000000"/>
                  </a:outerShdw>
                </a:effectLst>
                <a:latin typeface="仿宋_GB2312" pitchFamily="1" charset="-122"/>
                <a:ea typeface="仿宋_GB2312" pitchFamily="1" charset="-122"/>
              </a:rPr>
              <a:t>使用信息</a:t>
            </a:r>
            <a:r>
              <a:rPr lang="zh-CN" sz="2800" b="1" smtClean="0">
                <a:effectLst>
                  <a:outerShdw blurRad="38100" dist="38100" dir="2700000" algn="tl">
                    <a:srgbClr val="000000"/>
                  </a:outerShdw>
                </a:effectLst>
                <a:latin typeface="仿宋_GB2312" pitchFamily="1" charset="-122"/>
                <a:ea typeface="仿宋_GB2312" pitchFamily="1" charset="-122"/>
              </a:rPr>
              <a:t>：创建时间、创建者身份、当前状态、最近修改时间、最近访问时间等。　 </a:t>
            </a:r>
            <a:endParaRPr lang="zh-CN" sz="2800" b="1" smtClean="0">
              <a:effectLst>
                <a:outerShdw blurRad="38100" dist="38100" dir="2700000" algn="tl">
                  <a:srgbClr val="000000"/>
                </a:outerShdw>
              </a:effectLst>
              <a:latin typeface="仿宋_GB2312" pitchFamily="1" charset="-122"/>
              <a:ea typeface="仿宋_GB2312"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8130"/>
                                        </p:tgtEl>
                                        <p:attrNameLst>
                                          <p:attrName>style.visibility</p:attrName>
                                        </p:attrNameLst>
                                      </p:cBhvr>
                                      <p:to>
                                        <p:strVal val="visible"/>
                                      </p:to>
                                    </p:set>
                                    <p:animEffect transition="in" filter="fade">
                                      <p:cBhvr>
                                        <p:cTn id="7" dur="2000"/>
                                        <p:tgtEl>
                                          <p:spTgt spid="481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8131">
                                            <p:txEl>
                                              <p:pRg st="0" end="0"/>
                                            </p:txEl>
                                          </p:spTgt>
                                        </p:tgtEl>
                                        <p:attrNameLst>
                                          <p:attrName>style.visibility</p:attrName>
                                        </p:attrNameLst>
                                      </p:cBhvr>
                                      <p:to>
                                        <p:strVal val="visible"/>
                                      </p:to>
                                    </p:set>
                                    <p:animEffect transition="in" filter="fade">
                                      <p:cBhvr>
                                        <p:cTn id="12" dur="2000"/>
                                        <p:tgtEl>
                                          <p:spTgt spid="4813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8131">
                                            <p:txEl>
                                              <p:pRg st="1" end="1"/>
                                            </p:txEl>
                                          </p:spTgt>
                                        </p:tgtEl>
                                        <p:attrNameLst>
                                          <p:attrName>style.visibility</p:attrName>
                                        </p:attrNameLst>
                                      </p:cBhvr>
                                      <p:to>
                                        <p:strVal val="visible"/>
                                      </p:to>
                                    </p:set>
                                    <p:animEffect transition="in" filter="fade">
                                      <p:cBhvr>
                                        <p:cTn id="17" dur="2000"/>
                                        <p:tgtEl>
                                          <p:spTgt spid="4813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8131">
                                            <p:txEl>
                                              <p:pRg st="2" end="2"/>
                                            </p:txEl>
                                          </p:spTgt>
                                        </p:tgtEl>
                                        <p:attrNameLst>
                                          <p:attrName>style.visibility</p:attrName>
                                        </p:attrNameLst>
                                      </p:cBhvr>
                                      <p:to>
                                        <p:strVal val="visible"/>
                                      </p:to>
                                    </p:set>
                                    <p:animEffect transition="in" filter="fade">
                                      <p:cBhvr>
                                        <p:cTn id="22" dur="2000"/>
                                        <p:tgtEl>
                                          <p:spTgt spid="4813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8131">
                                            <p:txEl>
                                              <p:pRg st="3" end="3"/>
                                            </p:txEl>
                                          </p:spTgt>
                                        </p:tgtEl>
                                        <p:attrNameLst>
                                          <p:attrName>style.visibility</p:attrName>
                                        </p:attrNameLst>
                                      </p:cBhvr>
                                      <p:to>
                                        <p:strVal val="visible"/>
                                      </p:to>
                                    </p:set>
                                    <p:animEffect transition="in" filter="fade">
                                      <p:cBhvr>
                                        <p:cTn id="27" dur="2000"/>
                                        <p:tgtEl>
                                          <p:spTgt spid="4813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autoUpdateAnimBg="0"/>
      <p:bldP spid="48131" grpId="0" autoUpdateAnimBg="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88"/>
          <p:cNvGrpSpPr/>
          <p:nvPr/>
        </p:nvGrpSpPr>
        <p:grpSpPr bwMode="auto">
          <a:xfrm>
            <a:off x="228600" y="747713"/>
            <a:ext cx="8458200" cy="5776912"/>
            <a:chOff x="0" y="0"/>
            <a:chExt cx="2698" cy="5993"/>
          </a:xfrm>
        </p:grpSpPr>
        <p:grpSp>
          <p:nvGrpSpPr>
            <p:cNvPr id="3" name="Group 86"/>
            <p:cNvGrpSpPr/>
            <p:nvPr/>
          </p:nvGrpSpPr>
          <p:grpSpPr bwMode="auto">
            <a:xfrm>
              <a:off x="3" y="3"/>
              <a:ext cx="2692" cy="5987"/>
              <a:chOff x="0" y="0"/>
              <a:chExt cx="2692" cy="5987"/>
            </a:xfrm>
          </p:grpSpPr>
          <p:grpSp>
            <p:nvGrpSpPr>
              <p:cNvPr id="4" name="Group 31"/>
              <p:cNvGrpSpPr/>
              <p:nvPr/>
            </p:nvGrpSpPr>
            <p:grpSpPr bwMode="auto">
              <a:xfrm>
                <a:off x="0" y="0"/>
                <a:ext cx="1526" cy="403"/>
                <a:chOff x="0" y="0"/>
                <a:chExt cx="1526" cy="403"/>
              </a:xfrm>
            </p:grpSpPr>
            <p:sp>
              <p:nvSpPr>
                <p:cNvPr id="57432" name="Rectangle 2"/>
                <p:cNvSpPr>
                  <a:spLocks noChangeArrowheads="1"/>
                </p:cNvSpPr>
                <p:nvPr/>
              </p:nvSpPr>
              <p:spPr bwMode="auto">
                <a:xfrm>
                  <a:off x="43" y="0"/>
                  <a:ext cx="1440" cy="403"/>
                </a:xfrm>
                <a:prstGeom prst="rect">
                  <a:avLst/>
                </a:prstGeom>
                <a:noFill/>
                <a:ln w="9525">
                  <a:noFill/>
                  <a:miter lim="800000"/>
                </a:ln>
              </p:spPr>
              <p:txBody>
                <a:bodyPr/>
                <a:lstStyle/>
                <a:p>
                  <a:pPr algn="ctr"/>
                  <a:r>
                    <a:rPr lang="zh-CN" altLang="en-US" sz="2400" b="1">
                      <a:latin typeface="Times New Roman" panose="02020603050405020304" pitchFamily="18" charset="0"/>
                    </a:rPr>
                    <a:t>文件名</a:t>
                  </a:r>
                  <a:endParaRPr lang="zh-CN" altLang="en-US" sz="2400">
                    <a:latin typeface="Times New Roman" panose="02020603050405020304" pitchFamily="18" charset="0"/>
                  </a:endParaRPr>
                </a:p>
                <a:p>
                  <a:pPr algn="just" eaLnBrk="0" hangingPunct="0"/>
                  <a:endParaRPr lang="en-US" sz="2400">
                    <a:latin typeface="Times New Roman" panose="02020603050405020304" pitchFamily="18" charset="0"/>
                  </a:endParaRPr>
                </a:p>
              </p:txBody>
            </p:sp>
            <p:sp>
              <p:nvSpPr>
                <p:cNvPr id="57433" name="Rectangle 30"/>
                <p:cNvSpPr>
                  <a:spLocks noChangeArrowheads="1"/>
                </p:cNvSpPr>
                <p:nvPr/>
              </p:nvSpPr>
              <p:spPr bwMode="auto">
                <a:xfrm>
                  <a:off x="0" y="0"/>
                  <a:ext cx="1526" cy="403"/>
                </a:xfrm>
                <a:prstGeom prst="rect">
                  <a:avLst/>
                </a:prstGeom>
                <a:noFill/>
                <a:ln w="7">
                  <a:solidFill>
                    <a:srgbClr val="A0A0A0"/>
                  </a:solidFill>
                  <a:miter lim="800000"/>
                </a:ln>
              </p:spPr>
              <p:txBody>
                <a:bodyPr/>
                <a:lstStyle/>
                <a:p>
                  <a:endParaRPr lang="zh-CN" altLang="en-US"/>
                </a:p>
              </p:txBody>
            </p:sp>
          </p:grpSp>
          <p:grpSp>
            <p:nvGrpSpPr>
              <p:cNvPr id="5" name="Group 33"/>
              <p:cNvGrpSpPr/>
              <p:nvPr/>
            </p:nvGrpSpPr>
            <p:grpSpPr bwMode="auto">
              <a:xfrm>
                <a:off x="1526" y="0"/>
                <a:ext cx="1166" cy="403"/>
                <a:chOff x="0" y="0"/>
                <a:chExt cx="1166" cy="403"/>
              </a:xfrm>
            </p:grpSpPr>
            <p:sp>
              <p:nvSpPr>
                <p:cNvPr id="57430" name="Rectangle 3"/>
                <p:cNvSpPr>
                  <a:spLocks noChangeArrowheads="1"/>
                </p:cNvSpPr>
                <p:nvPr/>
              </p:nvSpPr>
              <p:spPr bwMode="auto">
                <a:xfrm>
                  <a:off x="43" y="0"/>
                  <a:ext cx="1080" cy="403"/>
                </a:xfrm>
                <a:prstGeom prst="rect">
                  <a:avLst/>
                </a:prstGeom>
                <a:noFill/>
                <a:ln w="9525">
                  <a:noFill/>
                  <a:miter lim="800000"/>
                </a:ln>
              </p:spPr>
              <p:txBody>
                <a:bodyPr/>
                <a:lstStyle/>
                <a:p>
                  <a:pPr algn="ctr"/>
                  <a:r>
                    <a:rPr lang="zh-CN" altLang="en-US" sz="2400" b="1">
                      <a:latin typeface="Times New Roman" panose="02020603050405020304" pitchFamily="18" charset="0"/>
                    </a:rPr>
                    <a:t>文件标识符</a:t>
                  </a:r>
                  <a:endParaRPr lang="zh-CN" altLang="en-US" sz="2400" b="1">
                    <a:latin typeface="Times New Roman" panose="02020603050405020304" pitchFamily="18" charset="0"/>
                  </a:endParaRPr>
                </a:p>
                <a:p>
                  <a:pPr algn="just" eaLnBrk="0" hangingPunct="0"/>
                  <a:endParaRPr lang="en-US" altLang="zh-CN" sz="2400" b="1">
                    <a:latin typeface="Times New Roman" panose="02020603050405020304" pitchFamily="18" charset="0"/>
                  </a:endParaRPr>
                </a:p>
              </p:txBody>
            </p:sp>
            <p:sp>
              <p:nvSpPr>
                <p:cNvPr id="57431" name="Rectangle 32"/>
                <p:cNvSpPr>
                  <a:spLocks noChangeArrowheads="1"/>
                </p:cNvSpPr>
                <p:nvPr/>
              </p:nvSpPr>
              <p:spPr bwMode="auto">
                <a:xfrm>
                  <a:off x="0" y="0"/>
                  <a:ext cx="1166" cy="403"/>
                </a:xfrm>
                <a:prstGeom prst="rect">
                  <a:avLst/>
                </a:prstGeom>
                <a:noFill/>
                <a:ln w="7">
                  <a:solidFill>
                    <a:srgbClr val="A0A0A0"/>
                  </a:solidFill>
                  <a:miter lim="800000"/>
                </a:ln>
              </p:spPr>
              <p:txBody>
                <a:bodyPr/>
                <a:lstStyle/>
                <a:p>
                  <a:endParaRPr lang="zh-CN" altLang="en-US"/>
                </a:p>
              </p:txBody>
            </p:sp>
          </p:grpSp>
          <p:grpSp>
            <p:nvGrpSpPr>
              <p:cNvPr id="6" name="Group 35"/>
              <p:cNvGrpSpPr/>
              <p:nvPr/>
            </p:nvGrpSpPr>
            <p:grpSpPr bwMode="auto">
              <a:xfrm>
                <a:off x="0" y="403"/>
                <a:ext cx="1526" cy="403"/>
                <a:chOff x="0" y="0"/>
                <a:chExt cx="1526" cy="403"/>
              </a:xfrm>
            </p:grpSpPr>
            <p:sp>
              <p:nvSpPr>
                <p:cNvPr id="57428" name="Rectangle 4"/>
                <p:cNvSpPr>
                  <a:spLocks noChangeArrowheads="1"/>
                </p:cNvSpPr>
                <p:nvPr/>
              </p:nvSpPr>
              <p:spPr bwMode="auto">
                <a:xfrm>
                  <a:off x="43" y="0"/>
                  <a:ext cx="1440" cy="403"/>
                </a:xfrm>
                <a:prstGeom prst="rect">
                  <a:avLst/>
                </a:prstGeom>
                <a:noFill/>
                <a:ln w="9525">
                  <a:noFill/>
                  <a:miter lim="800000"/>
                </a:ln>
              </p:spPr>
              <p:txBody>
                <a:bodyPr/>
                <a:lstStyle/>
                <a:p>
                  <a:pPr algn="ctr"/>
                  <a:r>
                    <a:rPr lang="zh-CN" altLang="en-US" sz="2400" b="1">
                      <a:latin typeface="Times New Roman" panose="02020603050405020304" pitchFamily="18" charset="0"/>
                    </a:rPr>
                    <a:t>文件结构</a:t>
                  </a:r>
                  <a:endParaRPr lang="zh-CN" altLang="en-US" sz="2400">
                    <a:latin typeface="Times New Roman" panose="02020603050405020304" pitchFamily="18" charset="0"/>
                  </a:endParaRPr>
                </a:p>
                <a:p>
                  <a:pPr algn="just" eaLnBrk="0" hangingPunct="0"/>
                  <a:endParaRPr lang="en-US" sz="2400">
                    <a:latin typeface="Times New Roman" panose="02020603050405020304" pitchFamily="18" charset="0"/>
                  </a:endParaRPr>
                </a:p>
              </p:txBody>
            </p:sp>
            <p:sp>
              <p:nvSpPr>
                <p:cNvPr id="57429" name="Rectangle 34"/>
                <p:cNvSpPr>
                  <a:spLocks noChangeArrowheads="1"/>
                </p:cNvSpPr>
                <p:nvPr/>
              </p:nvSpPr>
              <p:spPr bwMode="auto">
                <a:xfrm>
                  <a:off x="0" y="0"/>
                  <a:ext cx="1526" cy="403"/>
                </a:xfrm>
                <a:prstGeom prst="rect">
                  <a:avLst/>
                </a:prstGeom>
                <a:noFill/>
                <a:ln w="7">
                  <a:solidFill>
                    <a:srgbClr val="A0A0A0"/>
                  </a:solidFill>
                  <a:miter lim="800000"/>
                </a:ln>
              </p:spPr>
              <p:txBody>
                <a:bodyPr/>
                <a:lstStyle/>
                <a:p>
                  <a:endParaRPr lang="zh-CN" altLang="en-US"/>
                </a:p>
              </p:txBody>
            </p:sp>
          </p:grpSp>
          <p:grpSp>
            <p:nvGrpSpPr>
              <p:cNvPr id="7" name="Group 37"/>
              <p:cNvGrpSpPr/>
              <p:nvPr/>
            </p:nvGrpSpPr>
            <p:grpSpPr bwMode="auto">
              <a:xfrm>
                <a:off x="1526" y="403"/>
                <a:ext cx="1166" cy="403"/>
                <a:chOff x="0" y="0"/>
                <a:chExt cx="1166" cy="403"/>
              </a:xfrm>
            </p:grpSpPr>
            <p:sp>
              <p:nvSpPr>
                <p:cNvPr id="57426" name="Rectangle 5"/>
                <p:cNvSpPr>
                  <a:spLocks noChangeArrowheads="1"/>
                </p:cNvSpPr>
                <p:nvPr/>
              </p:nvSpPr>
              <p:spPr bwMode="auto">
                <a:xfrm>
                  <a:off x="43" y="0"/>
                  <a:ext cx="1080" cy="403"/>
                </a:xfrm>
                <a:prstGeom prst="rect">
                  <a:avLst/>
                </a:prstGeom>
                <a:noFill/>
                <a:ln w="9525">
                  <a:noFill/>
                  <a:miter lim="800000"/>
                </a:ln>
              </p:spPr>
              <p:txBody>
                <a:bodyPr/>
                <a:lstStyle/>
                <a:p>
                  <a:pPr algn="ctr"/>
                  <a:r>
                    <a:rPr lang="zh-CN" altLang="en-US" sz="2400" b="1">
                      <a:latin typeface="Times New Roman" panose="02020603050405020304" pitchFamily="18" charset="0"/>
                    </a:rPr>
                    <a:t>文件类型</a:t>
                  </a:r>
                  <a:endParaRPr lang="zh-CN" altLang="en-US" sz="2400">
                    <a:latin typeface="Times New Roman" panose="02020603050405020304" pitchFamily="18" charset="0"/>
                  </a:endParaRPr>
                </a:p>
                <a:p>
                  <a:pPr algn="just" eaLnBrk="0" hangingPunct="0"/>
                  <a:endParaRPr lang="en-US" sz="2400">
                    <a:latin typeface="Times New Roman" panose="02020603050405020304" pitchFamily="18" charset="0"/>
                  </a:endParaRPr>
                </a:p>
              </p:txBody>
            </p:sp>
            <p:sp>
              <p:nvSpPr>
                <p:cNvPr id="57427" name="Rectangle 36"/>
                <p:cNvSpPr>
                  <a:spLocks noChangeArrowheads="1"/>
                </p:cNvSpPr>
                <p:nvPr/>
              </p:nvSpPr>
              <p:spPr bwMode="auto">
                <a:xfrm>
                  <a:off x="0" y="0"/>
                  <a:ext cx="1166" cy="403"/>
                </a:xfrm>
                <a:prstGeom prst="rect">
                  <a:avLst/>
                </a:prstGeom>
                <a:noFill/>
                <a:ln w="7">
                  <a:solidFill>
                    <a:srgbClr val="A0A0A0"/>
                  </a:solidFill>
                  <a:miter lim="800000"/>
                </a:ln>
              </p:spPr>
              <p:txBody>
                <a:bodyPr/>
                <a:lstStyle/>
                <a:p>
                  <a:endParaRPr lang="zh-CN" altLang="en-US"/>
                </a:p>
              </p:txBody>
            </p:sp>
          </p:grpSp>
          <p:grpSp>
            <p:nvGrpSpPr>
              <p:cNvPr id="8" name="Group 39"/>
              <p:cNvGrpSpPr/>
              <p:nvPr/>
            </p:nvGrpSpPr>
            <p:grpSpPr bwMode="auto">
              <a:xfrm>
                <a:off x="0" y="806"/>
                <a:ext cx="1526" cy="403"/>
                <a:chOff x="0" y="0"/>
                <a:chExt cx="1526" cy="403"/>
              </a:xfrm>
            </p:grpSpPr>
            <p:sp>
              <p:nvSpPr>
                <p:cNvPr id="57424" name="Rectangle 6"/>
                <p:cNvSpPr>
                  <a:spLocks noChangeArrowheads="1"/>
                </p:cNvSpPr>
                <p:nvPr/>
              </p:nvSpPr>
              <p:spPr bwMode="auto">
                <a:xfrm>
                  <a:off x="43" y="0"/>
                  <a:ext cx="1440" cy="403"/>
                </a:xfrm>
                <a:prstGeom prst="rect">
                  <a:avLst/>
                </a:prstGeom>
                <a:noFill/>
                <a:ln w="9525">
                  <a:noFill/>
                  <a:miter lim="800000"/>
                </a:ln>
              </p:spPr>
              <p:txBody>
                <a:bodyPr/>
                <a:lstStyle/>
                <a:p>
                  <a:pPr algn="ctr"/>
                  <a:r>
                    <a:rPr lang="zh-CN" altLang="en-US" sz="2400" b="1">
                      <a:latin typeface="Times New Roman" panose="02020603050405020304" pitchFamily="18" charset="0"/>
                    </a:rPr>
                    <a:t>文件组织</a:t>
                  </a:r>
                  <a:endParaRPr lang="zh-CN" altLang="en-US" sz="2400">
                    <a:latin typeface="Times New Roman" panose="02020603050405020304" pitchFamily="18" charset="0"/>
                  </a:endParaRPr>
                </a:p>
                <a:p>
                  <a:pPr algn="ctr" eaLnBrk="0" hangingPunct="0"/>
                  <a:endParaRPr lang="en-US" sz="2400">
                    <a:latin typeface="Times New Roman" panose="02020603050405020304" pitchFamily="18" charset="0"/>
                  </a:endParaRPr>
                </a:p>
              </p:txBody>
            </p:sp>
            <p:sp>
              <p:nvSpPr>
                <p:cNvPr id="57425" name="Rectangle 38"/>
                <p:cNvSpPr>
                  <a:spLocks noChangeArrowheads="1"/>
                </p:cNvSpPr>
                <p:nvPr/>
              </p:nvSpPr>
              <p:spPr bwMode="auto">
                <a:xfrm>
                  <a:off x="0" y="0"/>
                  <a:ext cx="1526" cy="403"/>
                </a:xfrm>
                <a:prstGeom prst="rect">
                  <a:avLst/>
                </a:prstGeom>
                <a:noFill/>
                <a:ln w="7">
                  <a:solidFill>
                    <a:srgbClr val="A0A0A0"/>
                  </a:solidFill>
                  <a:miter lim="800000"/>
                </a:ln>
              </p:spPr>
              <p:txBody>
                <a:bodyPr/>
                <a:lstStyle/>
                <a:p>
                  <a:endParaRPr lang="zh-CN" altLang="en-US"/>
                </a:p>
              </p:txBody>
            </p:sp>
          </p:grpSp>
          <p:grpSp>
            <p:nvGrpSpPr>
              <p:cNvPr id="9" name="Group 41"/>
              <p:cNvGrpSpPr/>
              <p:nvPr/>
            </p:nvGrpSpPr>
            <p:grpSpPr bwMode="auto">
              <a:xfrm>
                <a:off x="1526" y="806"/>
                <a:ext cx="1166" cy="403"/>
                <a:chOff x="0" y="0"/>
                <a:chExt cx="1166" cy="403"/>
              </a:xfrm>
            </p:grpSpPr>
            <p:sp>
              <p:nvSpPr>
                <p:cNvPr id="57422" name="Rectangle 7"/>
                <p:cNvSpPr>
                  <a:spLocks noChangeArrowheads="1"/>
                </p:cNvSpPr>
                <p:nvPr/>
              </p:nvSpPr>
              <p:spPr bwMode="auto">
                <a:xfrm>
                  <a:off x="43" y="0"/>
                  <a:ext cx="1080" cy="403"/>
                </a:xfrm>
                <a:prstGeom prst="rect">
                  <a:avLst/>
                </a:prstGeom>
                <a:noFill/>
                <a:ln w="9525">
                  <a:noFill/>
                  <a:miter lim="800000"/>
                </a:ln>
              </p:spPr>
              <p:txBody>
                <a:bodyPr/>
                <a:lstStyle/>
                <a:p>
                  <a:pPr algn="ctr"/>
                  <a:r>
                    <a:rPr lang="zh-CN" altLang="en-US" sz="2400" b="1">
                      <a:latin typeface="Times New Roman" panose="02020603050405020304" pitchFamily="18" charset="0"/>
                    </a:rPr>
                    <a:t>记录长度</a:t>
                  </a:r>
                  <a:endParaRPr lang="zh-CN" altLang="en-US" sz="2400">
                    <a:latin typeface="Times New Roman" panose="02020603050405020304" pitchFamily="18" charset="0"/>
                  </a:endParaRPr>
                </a:p>
                <a:p>
                  <a:pPr algn="ctr" eaLnBrk="0" hangingPunct="0"/>
                  <a:endParaRPr lang="en-US" sz="2400">
                    <a:latin typeface="Times New Roman" panose="02020603050405020304" pitchFamily="18" charset="0"/>
                  </a:endParaRPr>
                </a:p>
              </p:txBody>
            </p:sp>
            <p:sp>
              <p:nvSpPr>
                <p:cNvPr id="57423" name="Rectangle 40"/>
                <p:cNvSpPr>
                  <a:spLocks noChangeArrowheads="1"/>
                </p:cNvSpPr>
                <p:nvPr/>
              </p:nvSpPr>
              <p:spPr bwMode="auto">
                <a:xfrm>
                  <a:off x="0" y="0"/>
                  <a:ext cx="1166" cy="403"/>
                </a:xfrm>
                <a:prstGeom prst="rect">
                  <a:avLst/>
                </a:prstGeom>
                <a:noFill/>
                <a:ln w="7">
                  <a:solidFill>
                    <a:srgbClr val="A0A0A0"/>
                  </a:solidFill>
                  <a:miter lim="800000"/>
                </a:ln>
              </p:spPr>
              <p:txBody>
                <a:bodyPr/>
                <a:lstStyle/>
                <a:p>
                  <a:endParaRPr lang="zh-CN" altLang="en-US"/>
                </a:p>
              </p:txBody>
            </p:sp>
          </p:grpSp>
          <p:grpSp>
            <p:nvGrpSpPr>
              <p:cNvPr id="10" name="Group 43"/>
              <p:cNvGrpSpPr/>
              <p:nvPr/>
            </p:nvGrpSpPr>
            <p:grpSpPr bwMode="auto">
              <a:xfrm>
                <a:off x="0" y="1209"/>
                <a:ext cx="1526" cy="403"/>
                <a:chOff x="0" y="0"/>
                <a:chExt cx="1526" cy="403"/>
              </a:xfrm>
            </p:grpSpPr>
            <p:sp>
              <p:nvSpPr>
                <p:cNvPr id="57420" name="Rectangle 8"/>
                <p:cNvSpPr>
                  <a:spLocks noChangeArrowheads="1"/>
                </p:cNvSpPr>
                <p:nvPr/>
              </p:nvSpPr>
              <p:spPr bwMode="auto">
                <a:xfrm>
                  <a:off x="43" y="0"/>
                  <a:ext cx="1440" cy="403"/>
                </a:xfrm>
                <a:prstGeom prst="rect">
                  <a:avLst/>
                </a:prstGeom>
                <a:noFill/>
                <a:ln w="9525">
                  <a:noFill/>
                  <a:miter lim="800000"/>
                </a:ln>
              </p:spPr>
              <p:txBody>
                <a:bodyPr/>
                <a:lstStyle/>
                <a:p>
                  <a:pPr algn="ctr"/>
                  <a:r>
                    <a:rPr lang="zh-CN" altLang="en-US" sz="2400" b="1">
                      <a:latin typeface="Times New Roman" panose="02020603050405020304" pitchFamily="18" charset="0"/>
                    </a:rPr>
                    <a:t>当前文件大小</a:t>
                  </a:r>
                  <a:endParaRPr lang="zh-CN" altLang="en-US" sz="2400">
                    <a:latin typeface="Times New Roman" panose="02020603050405020304" pitchFamily="18" charset="0"/>
                  </a:endParaRPr>
                </a:p>
                <a:p>
                  <a:pPr algn="just" eaLnBrk="0" hangingPunct="0"/>
                  <a:endParaRPr lang="en-US" sz="2400">
                    <a:latin typeface="Times New Roman" panose="02020603050405020304" pitchFamily="18" charset="0"/>
                  </a:endParaRPr>
                </a:p>
              </p:txBody>
            </p:sp>
            <p:sp>
              <p:nvSpPr>
                <p:cNvPr id="57421" name="Rectangle 42"/>
                <p:cNvSpPr>
                  <a:spLocks noChangeArrowheads="1"/>
                </p:cNvSpPr>
                <p:nvPr/>
              </p:nvSpPr>
              <p:spPr bwMode="auto">
                <a:xfrm>
                  <a:off x="0" y="0"/>
                  <a:ext cx="1526" cy="403"/>
                </a:xfrm>
                <a:prstGeom prst="rect">
                  <a:avLst/>
                </a:prstGeom>
                <a:noFill/>
                <a:ln w="7">
                  <a:solidFill>
                    <a:srgbClr val="A0A0A0"/>
                  </a:solidFill>
                  <a:miter lim="800000"/>
                </a:ln>
              </p:spPr>
              <p:txBody>
                <a:bodyPr/>
                <a:lstStyle/>
                <a:p>
                  <a:endParaRPr lang="zh-CN" altLang="en-US"/>
                </a:p>
              </p:txBody>
            </p:sp>
          </p:grpSp>
          <p:grpSp>
            <p:nvGrpSpPr>
              <p:cNvPr id="11" name="Group 45"/>
              <p:cNvGrpSpPr/>
              <p:nvPr/>
            </p:nvGrpSpPr>
            <p:grpSpPr bwMode="auto">
              <a:xfrm>
                <a:off x="1526" y="1209"/>
                <a:ext cx="1166" cy="403"/>
                <a:chOff x="0" y="0"/>
                <a:chExt cx="1166" cy="403"/>
              </a:xfrm>
            </p:grpSpPr>
            <p:sp>
              <p:nvSpPr>
                <p:cNvPr id="57418" name="Rectangle 9"/>
                <p:cNvSpPr>
                  <a:spLocks noChangeArrowheads="1"/>
                </p:cNvSpPr>
                <p:nvPr/>
              </p:nvSpPr>
              <p:spPr bwMode="auto">
                <a:xfrm>
                  <a:off x="43" y="0"/>
                  <a:ext cx="1080" cy="403"/>
                </a:xfrm>
                <a:prstGeom prst="rect">
                  <a:avLst/>
                </a:prstGeom>
                <a:noFill/>
                <a:ln w="9525">
                  <a:noFill/>
                  <a:miter lim="800000"/>
                </a:ln>
              </p:spPr>
              <p:txBody>
                <a:bodyPr/>
                <a:lstStyle/>
                <a:p>
                  <a:pPr algn="ctr"/>
                  <a:r>
                    <a:rPr lang="zh-CN" altLang="en-US" sz="2400" b="1">
                      <a:latin typeface="Times New Roman" panose="02020603050405020304" pitchFamily="18" charset="0"/>
                    </a:rPr>
                    <a:t>最大文件尺寸</a:t>
                  </a:r>
                  <a:endParaRPr lang="zh-CN" altLang="en-US" sz="2400" b="1">
                    <a:latin typeface="Times New Roman" panose="02020603050405020304" pitchFamily="18" charset="0"/>
                  </a:endParaRPr>
                </a:p>
                <a:p>
                  <a:pPr algn="just" eaLnBrk="0" hangingPunct="0"/>
                  <a:endParaRPr lang="en-US" altLang="zh-CN" sz="2400" b="1">
                    <a:latin typeface="Times New Roman" panose="02020603050405020304" pitchFamily="18" charset="0"/>
                  </a:endParaRPr>
                </a:p>
              </p:txBody>
            </p:sp>
            <p:sp>
              <p:nvSpPr>
                <p:cNvPr id="57419" name="Rectangle 44"/>
                <p:cNvSpPr>
                  <a:spLocks noChangeArrowheads="1"/>
                </p:cNvSpPr>
                <p:nvPr/>
              </p:nvSpPr>
              <p:spPr bwMode="auto">
                <a:xfrm>
                  <a:off x="0" y="0"/>
                  <a:ext cx="1166" cy="403"/>
                </a:xfrm>
                <a:prstGeom prst="rect">
                  <a:avLst/>
                </a:prstGeom>
                <a:noFill/>
                <a:ln w="7">
                  <a:solidFill>
                    <a:srgbClr val="A0A0A0"/>
                  </a:solidFill>
                  <a:miter lim="800000"/>
                </a:ln>
              </p:spPr>
              <p:txBody>
                <a:bodyPr/>
                <a:lstStyle/>
                <a:p>
                  <a:endParaRPr lang="zh-CN" altLang="en-US"/>
                </a:p>
              </p:txBody>
            </p:sp>
          </p:grpSp>
          <p:grpSp>
            <p:nvGrpSpPr>
              <p:cNvPr id="12" name="Group 47"/>
              <p:cNvGrpSpPr/>
              <p:nvPr/>
            </p:nvGrpSpPr>
            <p:grpSpPr bwMode="auto">
              <a:xfrm>
                <a:off x="0" y="1612"/>
                <a:ext cx="1526" cy="403"/>
                <a:chOff x="0" y="0"/>
                <a:chExt cx="1526" cy="403"/>
              </a:xfrm>
            </p:grpSpPr>
            <p:sp>
              <p:nvSpPr>
                <p:cNvPr id="57416" name="Rectangle 10"/>
                <p:cNvSpPr>
                  <a:spLocks noChangeArrowheads="1"/>
                </p:cNvSpPr>
                <p:nvPr/>
              </p:nvSpPr>
              <p:spPr bwMode="auto">
                <a:xfrm>
                  <a:off x="43" y="0"/>
                  <a:ext cx="1440" cy="403"/>
                </a:xfrm>
                <a:prstGeom prst="rect">
                  <a:avLst/>
                </a:prstGeom>
                <a:noFill/>
                <a:ln w="9525">
                  <a:noFill/>
                  <a:miter lim="800000"/>
                </a:ln>
              </p:spPr>
              <p:txBody>
                <a:bodyPr/>
                <a:lstStyle/>
                <a:p>
                  <a:pPr algn="ctr"/>
                  <a:r>
                    <a:rPr lang="zh-CN" altLang="en-US" sz="2400" b="1">
                      <a:latin typeface="Times New Roman" panose="02020603050405020304" pitchFamily="18" charset="0"/>
                    </a:rPr>
                    <a:t>文件设备</a:t>
                  </a:r>
                  <a:endParaRPr lang="zh-CN" altLang="en-US" sz="2400">
                    <a:latin typeface="Times New Roman" panose="02020603050405020304" pitchFamily="18" charset="0"/>
                  </a:endParaRPr>
                </a:p>
                <a:p>
                  <a:pPr algn="ctr" eaLnBrk="0" hangingPunct="0"/>
                  <a:endParaRPr lang="en-US" sz="2400">
                    <a:latin typeface="Times New Roman" panose="02020603050405020304" pitchFamily="18" charset="0"/>
                  </a:endParaRPr>
                </a:p>
              </p:txBody>
            </p:sp>
            <p:sp>
              <p:nvSpPr>
                <p:cNvPr id="57417" name="Rectangle 46"/>
                <p:cNvSpPr>
                  <a:spLocks noChangeArrowheads="1"/>
                </p:cNvSpPr>
                <p:nvPr/>
              </p:nvSpPr>
              <p:spPr bwMode="auto">
                <a:xfrm>
                  <a:off x="0" y="0"/>
                  <a:ext cx="1526" cy="403"/>
                </a:xfrm>
                <a:prstGeom prst="rect">
                  <a:avLst/>
                </a:prstGeom>
                <a:noFill/>
                <a:ln w="7">
                  <a:solidFill>
                    <a:srgbClr val="A0A0A0"/>
                  </a:solidFill>
                  <a:miter lim="800000"/>
                </a:ln>
              </p:spPr>
              <p:txBody>
                <a:bodyPr/>
                <a:lstStyle/>
                <a:p>
                  <a:endParaRPr lang="zh-CN" altLang="en-US"/>
                </a:p>
              </p:txBody>
            </p:sp>
          </p:grpSp>
          <p:grpSp>
            <p:nvGrpSpPr>
              <p:cNvPr id="13" name="Group 49"/>
              <p:cNvGrpSpPr/>
              <p:nvPr/>
            </p:nvGrpSpPr>
            <p:grpSpPr bwMode="auto">
              <a:xfrm>
                <a:off x="1526" y="1612"/>
                <a:ext cx="1166" cy="403"/>
                <a:chOff x="0" y="0"/>
                <a:chExt cx="1166" cy="403"/>
              </a:xfrm>
            </p:grpSpPr>
            <p:sp>
              <p:nvSpPr>
                <p:cNvPr id="57414" name="Rectangle 11"/>
                <p:cNvSpPr>
                  <a:spLocks noChangeArrowheads="1"/>
                </p:cNvSpPr>
                <p:nvPr/>
              </p:nvSpPr>
              <p:spPr bwMode="auto">
                <a:xfrm>
                  <a:off x="43" y="0"/>
                  <a:ext cx="1080" cy="403"/>
                </a:xfrm>
                <a:prstGeom prst="rect">
                  <a:avLst/>
                </a:prstGeom>
                <a:noFill/>
                <a:ln w="9525">
                  <a:noFill/>
                  <a:miter lim="800000"/>
                </a:ln>
              </p:spPr>
              <p:txBody>
                <a:bodyPr/>
                <a:lstStyle/>
                <a:p>
                  <a:pPr algn="ctr"/>
                  <a:r>
                    <a:rPr lang="zh-CN" altLang="en-US" sz="2400" b="1">
                      <a:latin typeface="Times New Roman" panose="02020603050405020304" pitchFamily="18" charset="0"/>
                    </a:rPr>
                    <a:t>物理位置</a:t>
                  </a:r>
                  <a:endParaRPr lang="zh-CN" altLang="en-US" sz="2400">
                    <a:latin typeface="Times New Roman" panose="02020603050405020304" pitchFamily="18" charset="0"/>
                  </a:endParaRPr>
                </a:p>
                <a:p>
                  <a:pPr algn="ctr" eaLnBrk="0" hangingPunct="0"/>
                  <a:endParaRPr lang="en-US" sz="2400">
                    <a:latin typeface="Times New Roman" panose="02020603050405020304" pitchFamily="18" charset="0"/>
                  </a:endParaRPr>
                </a:p>
              </p:txBody>
            </p:sp>
            <p:sp>
              <p:nvSpPr>
                <p:cNvPr id="57415" name="Rectangle 48"/>
                <p:cNvSpPr>
                  <a:spLocks noChangeArrowheads="1"/>
                </p:cNvSpPr>
                <p:nvPr/>
              </p:nvSpPr>
              <p:spPr bwMode="auto">
                <a:xfrm>
                  <a:off x="0" y="0"/>
                  <a:ext cx="1166" cy="403"/>
                </a:xfrm>
                <a:prstGeom prst="rect">
                  <a:avLst/>
                </a:prstGeom>
                <a:noFill/>
                <a:ln w="7">
                  <a:solidFill>
                    <a:srgbClr val="A0A0A0"/>
                  </a:solidFill>
                  <a:miter lim="800000"/>
                </a:ln>
              </p:spPr>
              <p:txBody>
                <a:bodyPr/>
                <a:lstStyle/>
                <a:p>
                  <a:endParaRPr lang="zh-CN" altLang="en-US"/>
                </a:p>
              </p:txBody>
            </p:sp>
          </p:grpSp>
          <p:grpSp>
            <p:nvGrpSpPr>
              <p:cNvPr id="14" name="Group 51"/>
              <p:cNvGrpSpPr/>
              <p:nvPr/>
            </p:nvGrpSpPr>
            <p:grpSpPr bwMode="auto">
              <a:xfrm>
                <a:off x="0" y="2015"/>
                <a:ext cx="1526" cy="403"/>
                <a:chOff x="0" y="0"/>
                <a:chExt cx="1526" cy="403"/>
              </a:xfrm>
            </p:grpSpPr>
            <p:sp>
              <p:nvSpPr>
                <p:cNvPr id="57412" name="Rectangle 12"/>
                <p:cNvSpPr>
                  <a:spLocks noChangeArrowheads="1"/>
                </p:cNvSpPr>
                <p:nvPr/>
              </p:nvSpPr>
              <p:spPr bwMode="auto">
                <a:xfrm>
                  <a:off x="43" y="0"/>
                  <a:ext cx="1440" cy="403"/>
                </a:xfrm>
                <a:prstGeom prst="rect">
                  <a:avLst/>
                </a:prstGeom>
                <a:noFill/>
                <a:ln w="9525">
                  <a:noFill/>
                  <a:miter lim="800000"/>
                </a:ln>
              </p:spPr>
              <p:txBody>
                <a:bodyPr/>
                <a:lstStyle/>
                <a:p>
                  <a:pPr algn="ctr"/>
                  <a:r>
                    <a:rPr lang="zh-CN" altLang="en-US" sz="2400" b="1">
                      <a:latin typeface="Times New Roman" panose="02020603050405020304" pitchFamily="18" charset="0"/>
                    </a:rPr>
                    <a:t>存取控制</a:t>
                  </a:r>
                  <a:endParaRPr lang="zh-CN" altLang="en-US" sz="2400">
                    <a:latin typeface="Times New Roman" panose="02020603050405020304" pitchFamily="18" charset="0"/>
                  </a:endParaRPr>
                </a:p>
                <a:p>
                  <a:pPr algn="just" eaLnBrk="0" hangingPunct="0"/>
                  <a:endParaRPr lang="en-US" sz="2400">
                    <a:latin typeface="Times New Roman" panose="02020603050405020304" pitchFamily="18" charset="0"/>
                  </a:endParaRPr>
                </a:p>
              </p:txBody>
            </p:sp>
            <p:sp>
              <p:nvSpPr>
                <p:cNvPr id="57413" name="Rectangle 50"/>
                <p:cNvSpPr>
                  <a:spLocks noChangeArrowheads="1"/>
                </p:cNvSpPr>
                <p:nvPr/>
              </p:nvSpPr>
              <p:spPr bwMode="auto">
                <a:xfrm>
                  <a:off x="0" y="0"/>
                  <a:ext cx="1526" cy="403"/>
                </a:xfrm>
                <a:prstGeom prst="rect">
                  <a:avLst/>
                </a:prstGeom>
                <a:noFill/>
                <a:ln w="7">
                  <a:solidFill>
                    <a:srgbClr val="A0A0A0"/>
                  </a:solidFill>
                  <a:miter lim="800000"/>
                </a:ln>
              </p:spPr>
              <p:txBody>
                <a:bodyPr/>
                <a:lstStyle/>
                <a:p>
                  <a:endParaRPr lang="zh-CN" altLang="en-US"/>
                </a:p>
              </p:txBody>
            </p:sp>
          </p:grpSp>
          <p:grpSp>
            <p:nvGrpSpPr>
              <p:cNvPr id="15" name="Group 53"/>
              <p:cNvGrpSpPr/>
              <p:nvPr/>
            </p:nvGrpSpPr>
            <p:grpSpPr bwMode="auto">
              <a:xfrm>
                <a:off x="1526" y="2015"/>
                <a:ext cx="1166" cy="403"/>
                <a:chOff x="0" y="0"/>
                <a:chExt cx="1166" cy="403"/>
              </a:xfrm>
            </p:grpSpPr>
            <p:sp>
              <p:nvSpPr>
                <p:cNvPr id="57410" name="Rectangle 13"/>
                <p:cNvSpPr>
                  <a:spLocks noChangeArrowheads="1"/>
                </p:cNvSpPr>
                <p:nvPr/>
              </p:nvSpPr>
              <p:spPr bwMode="auto">
                <a:xfrm>
                  <a:off x="43" y="0"/>
                  <a:ext cx="1080" cy="403"/>
                </a:xfrm>
                <a:prstGeom prst="rect">
                  <a:avLst/>
                </a:prstGeom>
                <a:noFill/>
                <a:ln w="9525">
                  <a:noFill/>
                  <a:miter lim="800000"/>
                </a:ln>
              </p:spPr>
              <p:txBody>
                <a:bodyPr/>
                <a:lstStyle/>
                <a:p>
                  <a:pPr algn="ctr"/>
                  <a:r>
                    <a:rPr lang="zh-CN" altLang="en-US" sz="2400" b="1">
                      <a:latin typeface="Times New Roman" panose="02020603050405020304" pitchFamily="18" charset="0"/>
                    </a:rPr>
                    <a:t>口令</a:t>
                  </a:r>
                  <a:endParaRPr lang="zh-CN" altLang="en-US" sz="2400">
                    <a:latin typeface="Times New Roman" panose="02020603050405020304" pitchFamily="18" charset="0"/>
                  </a:endParaRPr>
                </a:p>
                <a:p>
                  <a:pPr algn="just" eaLnBrk="0" hangingPunct="0"/>
                  <a:endParaRPr lang="en-US" sz="2400">
                    <a:latin typeface="Times New Roman" panose="02020603050405020304" pitchFamily="18" charset="0"/>
                  </a:endParaRPr>
                </a:p>
              </p:txBody>
            </p:sp>
            <p:sp>
              <p:nvSpPr>
                <p:cNvPr id="57411" name="Rectangle 52"/>
                <p:cNvSpPr>
                  <a:spLocks noChangeArrowheads="1"/>
                </p:cNvSpPr>
                <p:nvPr/>
              </p:nvSpPr>
              <p:spPr bwMode="auto">
                <a:xfrm>
                  <a:off x="0" y="0"/>
                  <a:ext cx="1166" cy="403"/>
                </a:xfrm>
                <a:prstGeom prst="rect">
                  <a:avLst/>
                </a:prstGeom>
                <a:noFill/>
                <a:ln w="7">
                  <a:solidFill>
                    <a:srgbClr val="A0A0A0"/>
                  </a:solidFill>
                  <a:miter lim="800000"/>
                </a:ln>
              </p:spPr>
              <p:txBody>
                <a:bodyPr/>
                <a:lstStyle/>
                <a:p>
                  <a:endParaRPr lang="zh-CN" altLang="en-US"/>
                </a:p>
              </p:txBody>
            </p:sp>
          </p:grpSp>
          <p:grpSp>
            <p:nvGrpSpPr>
              <p:cNvPr id="16" name="Group 55"/>
              <p:cNvGrpSpPr/>
              <p:nvPr/>
            </p:nvGrpSpPr>
            <p:grpSpPr bwMode="auto">
              <a:xfrm>
                <a:off x="0" y="2418"/>
                <a:ext cx="1526" cy="403"/>
                <a:chOff x="0" y="0"/>
                <a:chExt cx="1526" cy="403"/>
              </a:xfrm>
            </p:grpSpPr>
            <p:sp>
              <p:nvSpPr>
                <p:cNvPr id="57408" name="Rectangle 14"/>
                <p:cNvSpPr>
                  <a:spLocks noChangeArrowheads="1"/>
                </p:cNvSpPr>
                <p:nvPr/>
              </p:nvSpPr>
              <p:spPr bwMode="auto">
                <a:xfrm>
                  <a:off x="43" y="0"/>
                  <a:ext cx="1440" cy="403"/>
                </a:xfrm>
                <a:prstGeom prst="rect">
                  <a:avLst/>
                </a:prstGeom>
                <a:noFill/>
                <a:ln w="9525">
                  <a:noFill/>
                  <a:miter lim="800000"/>
                </a:ln>
              </p:spPr>
              <p:txBody>
                <a:bodyPr/>
                <a:lstStyle/>
                <a:p>
                  <a:pPr algn="ctr"/>
                  <a:r>
                    <a:rPr lang="zh-CN" altLang="en-US" sz="2400" b="1">
                      <a:latin typeface="Times New Roman" panose="02020603050405020304" pitchFamily="18" charset="0"/>
                    </a:rPr>
                    <a:t>文件建立时间</a:t>
                  </a:r>
                  <a:endParaRPr lang="zh-CN" altLang="en-US" sz="2400" b="1">
                    <a:latin typeface="Times New Roman" panose="02020603050405020304" pitchFamily="18" charset="0"/>
                  </a:endParaRPr>
                </a:p>
                <a:p>
                  <a:pPr algn="just" eaLnBrk="0" hangingPunct="0"/>
                  <a:endParaRPr lang="en-US" altLang="zh-CN" sz="2400" b="1">
                    <a:latin typeface="Times New Roman" panose="02020603050405020304" pitchFamily="18" charset="0"/>
                  </a:endParaRPr>
                </a:p>
              </p:txBody>
            </p:sp>
            <p:sp>
              <p:nvSpPr>
                <p:cNvPr id="57409" name="Rectangle 54"/>
                <p:cNvSpPr>
                  <a:spLocks noChangeArrowheads="1"/>
                </p:cNvSpPr>
                <p:nvPr/>
              </p:nvSpPr>
              <p:spPr bwMode="auto">
                <a:xfrm>
                  <a:off x="0" y="0"/>
                  <a:ext cx="1526" cy="403"/>
                </a:xfrm>
                <a:prstGeom prst="rect">
                  <a:avLst/>
                </a:prstGeom>
                <a:noFill/>
                <a:ln w="7">
                  <a:solidFill>
                    <a:srgbClr val="A0A0A0"/>
                  </a:solidFill>
                  <a:miter lim="800000"/>
                </a:ln>
              </p:spPr>
              <p:txBody>
                <a:bodyPr/>
                <a:lstStyle/>
                <a:p>
                  <a:endParaRPr lang="zh-CN" altLang="en-US"/>
                </a:p>
              </p:txBody>
            </p:sp>
          </p:grpSp>
          <p:grpSp>
            <p:nvGrpSpPr>
              <p:cNvPr id="17" name="Group 57"/>
              <p:cNvGrpSpPr/>
              <p:nvPr/>
            </p:nvGrpSpPr>
            <p:grpSpPr bwMode="auto">
              <a:xfrm>
                <a:off x="1526" y="2418"/>
                <a:ext cx="1166" cy="403"/>
                <a:chOff x="0" y="0"/>
                <a:chExt cx="1166" cy="403"/>
              </a:xfrm>
            </p:grpSpPr>
            <p:sp>
              <p:nvSpPr>
                <p:cNvPr id="57406" name="Rectangle 15"/>
                <p:cNvSpPr>
                  <a:spLocks noChangeArrowheads="1"/>
                </p:cNvSpPr>
                <p:nvPr/>
              </p:nvSpPr>
              <p:spPr bwMode="auto">
                <a:xfrm>
                  <a:off x="43" y="0"/>
                  <a:ext cx="1080" cy="403"/>
                </a:xfrm>
                <a:prstGeom prst="rect">
                  <a:avLst/>
                </a:prstGeom>
                <a:noFill/>
                <a:ln w="9525">
                  <a:noFill/>
                  <a:miter lim="800000"/>
                </a:ln>
              </p:spPr>
              <p:txBody>
                <a:bodyPr/>
                <a:lstStyle/>
                <a:p>
                  <a:pPr algn="ctr"/>
                  <a:r>
                    <a:rPr lang="zh-CN" altLang="en-US" sz="2400" b="1">
                      <a:latin typeface="Times New Roman" panose="02020603050405020304" pitchFamily="18" charset="0"/>
                    </a:rPr>
                    <a:t>最近存取时间</a:t>
                  </a:r>
                  <a:endParaRPr lang="zh-CN" altLang="en-US" sz="2400">
                    <a:latin typeface="Times New Roman" panose="02020603050405020304" pitchFamily="18" charset="0"/>
                  </a:endParaRPr>
                </a:p>
                <a:p>
                  <a:pPr algn="just" eaLnBrk="0" hangingPunct="0"/>
                  <a:endParaRPr lang="en-US" sz="2400">
                    <a:latin typeface="Times New Roman" panose="02020603050405020304" pitchFamily="18" charset="0"/>
                  </a:endParaRPr>
                </a:p>
              </p:txBody>
            </p:sp>
            <p:sp>
              <p:nvSpPr>
                <p:cNvPr id="57407" name="Rectangle 56"/>
                <p:cNvSpPr>
                  <a:spLocks noChangeArrowheads="1"/>
                </p:cNvSpPr>
                <p:nvPr/>
              </p:nvSpPr>
              <p:spPr bwMode="auto">
                <a:xfrm>
                  <a:off x="0" y="0"/>
                  <a:ext cx="1166" cy="403"/>
                </a:xfrm>
                <a:prstGeom prst="rect">
                  <a:avLst/>
                </a:prstGeom>
                <a:noFill/>
                <a:ln w="7">
                  <a:solidFill>
                    <a:srgbClr val="A0A0A0"/>
                  </a:solidFill>
                  <a:miter lim="800000"/>
                </a:ln>
              </p:spPr>
              <p:txBody>
                <a:bodyPr/>
                <a:lstStyle/>
                <a:p>
                  <a:endParaRPr lang="zh-CN" altLang="en-US"/>
                </a:p>
              </p:txBody>
            </p:sp>
          </p:grpSp>
          <p:grpSp>
            <p:nvGrpSpPr>
              <p:cNvPr id="18" name="Group 59"/>
              <p:cNvGrpSpPr/>
              <p:nvPr/>
            </p:nvGrpSpPr>
            <p:grpSpPr bwMode="auto">
              <a:xfrm>
                <a:off x="0" y="2821"/>
                <a:ext cx="1526" cy="403"/>
                <a:chOff x="0" y="0"/>
                <a:chExt cx="1526" cy="403"/>
              </a:xfrm>
            </p:grpSpPr>
            <p:sp>
              <p:nvSpPr>
                <p:cNvPr id="57404" name="Rectangle 16"/>
                <p:cNvSpPr>
                  <a:spLocks noChangeArrowheads="1"/>
                </p:cNvSpPr>
                <p:nvPr/>
              </p:nvSpPr>
              <p:spPr bwMode="auto">
                <a:xfrm>
                  <a:off x="43" y="0"/>
                  <a:ext cx="1440" cy="403"/>
                </a:xfrm>
                <a:prstGeom prst="rect">
                  <a:avLst/>
                </a:prstGeom>
                <a:noFill/>
                <a:ln w="9525">
                  <a:noFill/>
                  <a:miter lim="800000"/>
                </a:ln>
              </p:spPr>
              <p:txBody>
                <a:bodyPr/>
                <a:lstStyle/>
                <a:p>
                  <a:pPr algn="ctr"/>
                  <a:r>
                    <a:rPr lang="zh-CN" altLang="en-US" sz="2400" b="1">
                      <a:latin typeface="Times New Roman" panose="02020603050405020304" pitchFamily="18" charset="0"/>
                    </a:rPr>
                    <a:t>最近修改时间</a:t>
                  </a:r>
                  <a:endParaRPr lang="zh-CN" altLang="en-US" sz="2400">
                    <a:latin typeface="Times New Roman" panose="02020603050405020304" pitchFamily="18" charset="0"/>
                  </a:endParaRPr>
                </a:p>
                <a:p>
                  <a:pPr algn="just" eaLnBrk="0" hangingPunct="0"/>
                  <a:endParaRPr lang="en-US" sz="2400">
                    <a:latin typeface="Times New Roman" panose="02020603050405020304" pitchFamily="18" charset="0"/>
                  </a:endParaRPr>
                </a:p>
              </p:txBody>
            </p:sp>
            <p:sp>
              <p:nvSpPr>
                <p:cNvPr id="57405" name="Rectangle 58"/>
                <p:cNvSpPr>
                  <a:spLocks noChangeArrowheads="1"/>
                </p:cNvSpPr>
                <p:nvPr/>
              </p:nvSpPr>
              <p:spPr bwMode="auto">
                <a:xfrm>
                  <a:off x="0" y="0"/>
                  <a:ext cx="1526" cy="403"/>
                </a:xfrm>
                <a:prstGeom prst="rect">
                  <a:avLst/>
                </a:prstGeom>
                <a:noFill/>
                <a:ln w="7">
                  <a:solidFill>
                    <a:srgbClr val="A0A0A0"/>
                  </a:solidFill>
                  <a:miter lim="800000"/>
                </a:ln>
              </p:spPr>
              <p:txBody>
                <a:bodyPr/>
                <a:lstStyle/>
                <a:p>
                  <a:endParaRPr lang="zh-CN" altLang="en-US"/>
                </a:p>
              </p:txBody>
            </p:sp>
          </p:grpSp>
          <p:grpSp>
            <p:nvGrpSpPr>
              <p:cNvPr id="19" name="Group 61"/>
              <p:cNvGrpSpPr/>
              <p:nvPr/>
            </p:nvGrpSpPr>
            <p:grpSpPr bwMode="auto">
              <a:xfrm>
                <a:off x="1526" y="2821"/>
                <a:ext cx="1166" cy="403"/>
                <a:chOff x="0" y="0"/>
                <a:chExt cx="1166" cy="403"/>
              </a:xfrm>
            </p:grpSpPr>
            <p:sp>
              <p:nvSpPr>
                <p:cNvPr id="57402" name="Rectangle 17"/>
                <p:cNvSpPr>
                  <a:spLocks noChangeArrowheads="1"/>
                </p:cNvSpPr>
                <p:nvPr/>
              </p:nvSpPr>
              <p:spPr bwMode="auto">
                <a:xfrm>
                  <a:off x="43" y="0"/>
                  <a:ext cx="1080" cy="403"/>
                </a:xfrm>
                <a:prstGeom prst="rect">
                  <a:avLst/>
                </a:prstGeom>
                <a:noFill/>
                <a:ln w="9525">
                  <a:noFill/>
                  <a:miter lim="800000"/>
                </a:ln>
              </p:spPr>
              <p:txBody>
                <a:bodyPr/>
                <a:lstStyle/>
                <a:p>
                  <a:pPr algn="ctr"/>
                  <a:r>
                    <a:rPr lang="zh-CN" altLang="en-US" sz="2400" b="1">
                      <a:latin typeface="Times New Roman" panose="02020603050405020304" pitchFamily="18" charset="0"/>
                    </a:rPr>
                    <a:t>当前存取方式</a:t>
                  </a:r>
                  <a:endParaRPr lang="zh-CN" altLang="en-US" sz="2400">
                    <a:latin typeface="Times New Roman" panose="02020603050405020304" pitchFamily="18" charset="0"/>
                  </a:endParaRPr>
                </a:p>
                <a:p>
                  <a:pPr algn="ctr" eaLnBrk="0" hangingPunct="0"/>
                  <a:endParaRPr lang="en-US" sz="2400">
                    <a:latin typeface="Times New Roman" panose="02020603050405020304" pitchFamily="18" charset="0"/>
                  </a:endParaRPr>
                </a:p>
              </p:txBody>
            </p:sp>
            <p:sp>
              <p:nvSpPr>
                <p:cNvPr id="57403" name="Rectangle 60"/>
                <p:cNvSpPr>
                  <a:spLocks noChangeArrowheads="1"/>
                </p:cNvSpPr>
                <p:nvPr/>
              </p:nvSpPr>
              <p:spPr bwMode="auto">
                <a:xfrm>
                  <a:off x="0" y="0"/>
                  <a:ext cx="1166" cy="403"/>
                </a:xfrm>
                <a:prstGeom prst="rect">
                  <a:avLst/>
                </a:prstGeom>
                <a:noFill/>
                <a:ln w="7">
                  <a:solidFill>
                    <a:srgbClr val="A0A0A0"/>
                  </a:solidFill>
                  <a:miter lim="800000"/>
                </a:ln>
              </p:spPr>
              <p:txBody>
                <a:bodyPr/>
                <a:lstStyle/>
                <a:p>
                  <a:endParaRPr lang="zh-CN" altLang="en-US"/>
                </a:p>
              </p:txBody>
            </p:sp>
          </p:grpSp>
          <p:grpSp>
            <p:nvGrpSpPr>
              <p:cNvPr id="20" name="Group 63"/>
              <p:cNvGrpSpPr/>
              <p:nvPr/>
            </p:nvGrpSpPr>
            <p:grpSpPr bwMode="auto">
              <a:xfrm>
                <a:off x="0" y="3224"/>
                <a:ext cx="1526" cy="518"/>
                <a:chOff x="0" y="0"/>
                <a:chExt cx="1526" cy="518"/>
              </a:xfrm>
            </p:grpSpPr>
            <p:sp>
              <p:nvSpPr>
                <p:cNvPr id="57400" name="Rectangle 18"/>
                <p:cNvSpPr>
                  <a:spLocks noChangeArrowheads="1"/>
                </p:cNvSpPr>
                <p:nvPr/>
              </p:nvSpPr>
              <p:spPr bwMode="auto">
                <a:xfrm>
                  <a:off x="43" y="0"/>
                  <a:ext cx="1440" cy="518"/>
                </a:xfrm>
                <a:prstGeom prst="rect">
                  <a:avLst/>
                </a:prstGeom>
                <a:noFill/>
                <a:ln w="9525">
                  <a:noFill/>
                  <a:miter lim="800000"/>
                </a:ln>
              </p:spPr>
              <p:txBody>
                <a:bodyPr/>
                <a:lstStyle/>
                <a:p>
                  <a:pPr algn="ctr"/>
                  <a:r>
                    <a:rPr lang="zh-CN" altLang="en-US" sz="2400" b="1">
                      <a:latin typeface="Times New Roman" panose="02020603050405020304" pitchFamily="18" charset="0"/>
                    </a:rPr>
                    <a:t>当前的共享状态</a:t>
                  </a:r>
                  <a:endParaRPr lang="zh-CN" altLang="en-US" sz="2400">
                    <a:latin typeface="Times New Roman" panose="02020603050405020304" pitchFamily="18" charset="0"/>
                  </a:endParaRPr>
                </a:p>
                <a:p>
                  <a:pPr algn="just" eaLnBrk="0" hangingPunct="0"/>
                  <a:endParaRPr lang="en-US" sz="2400">
                    <a:latin typeface="Times New Roman" panose="02020603050405020304" pitchFamily="18" charset="0"/>
                  </a:endParaRPr>
                </a:p>
              </p:txBody>
            </p:sp>
            <p:sp>
              <p:nvSpPr>
                <p:cNvPr id="57401" name="Rectangle 62"/>
                <p:cNvSpPr>
                  <a:spLocks noChangeArrowheads="1"/>
                </p:cNvSpPr>
                <p:nvPr/>
              </p:nvSpPr>
              <p:spPr bwMode="auto">
                <a:xfrm>
                  <a:off x="0" y="0"/>
                  <a:ext cx="1526" cy="518"/>
                </a:xfrm>
                <a:prstGeom prst="rect">
                  <a:avLst/>
                </a:prstGeom>
                <a:noFill/>
                <a:ln w="7">
                  <a:solidFill>
                    <a:srgbClr val="A0A0A0"/>
                  </a:solidFill>
                  <a:miter lim="800000"/>
                </a:ln>
              </p:spPr>
              <p:txBody>
                <a:bodyPr/>
                <a:lstStyle/>
                <a:p>
                  <a:endParaRPr lang="zh-CN" altLang="en-US"/>
                </a:p>
              </p:txBody>
            </p:sp>
          </p:grpSp>
          <p:grpSp>
            <p:nvGrpSpPr>
              <p:cNvPr id="21" name="Group 65"/>
              <p:cNvGrpSpPr/>
              <p:nvPr/>
            </p:nvGrpSpPr>
            <p:grpSpPr bwMode="auto">
              <a:xfrm>
                <a:off x="1526" y="3224"/>
                <a:ext cx="1166" cy="518"/>
                <a:chOff x="0" y="0"/>
                <a:chExt cx="1166" cy="518"/>
              </a:xfrm>
            </p:grpSpPr>
            <p:sp>
              <p:nvSpPr>
                <p:cNvPr id="57398" name="Rectangle 19"/>
                <p:cNvSpPr>
                  <a:spLocks noChangeArrowheads="1"/>
                </p:cNvSpPr>
                <p:nvPr/>
              </p:nvSpPr>
              <p:spPr bwMode="auto">
                <a:xfrm>
                  <a:off x="43" y="0"/>
                  <a:ext cx="1080" cy="518"/>
                </a:xfrm>
                <a:prstGeom prst="rect">
                  <a:avLst/>
                </a:prstGeom>
                <a:noFill/>
                <a:ln w="9525">
                  <a:noFill/>
                  <a:miter lim="800000"/>
                </a:ln>
              </p:spPr>
              <p:txBody>
                <a:bodyPr/>
                <a:lstStyle/>
                <a:p>
                  <a:pPr algn="ctr"/>
                  <a:r>
                    <a:rPr lang="zh-CN" altLang="en-US" sz="2400" b="1">
                      <a:latin typeface="Times New Roman" panose="02020603050405020304" pitchFamily="18" charset="0"/>
                    </a:rPr>
                    <a:t>共享访问时的等待状态</a:t>
                  </a:r>
                  <a:endParaRPr lang="zh-CN" altLang="en-US" sz="2400">
                    <a:latin typeface="Times New Roman" panose="02020603050405020304" pitchFamily="18" charset="0"/>
                  </a:endParaRPr>
                </a:p>
                <a:p>
                  <a:pPr algn="ctr" eaLnBrk="0" hangingPunct="0"/>
                  <a:endParaRPr lang="en-US" sz="2400">
                    <a:latin typeface="Times New Roman" panose="02020603050405020304" pitchFamily="18" charset="0"/>
                  </a:endParaRPr>
                </a:p>
              </p:txBody>
            </p:sp>
            <p:sp>
              <p:nvSpPr>
                <p:cNvPr id="57399" name="Rectangle 64"/>
                <p:cNvSpPr>
                  <a:spLocks noChangeArrowheads="1"/>
                </p:cNvSpPr>
                <p:nvPr/>
              </p:nvSpPr>
              <p:spPr bwMode="auto">
                <a:xfrm>
                  <a:off x="0" y="0"/>
                  <a:ext cx="1166" cy="518"/>
                </a:xfrm>
                <a:prstGeom prst="rect">
                  <a:avLst/>
                </a:prstGeom>
                <a:noFill/>
                <a:ln w="7">
                  <a:solidFill>
                    <a:srgbClr val="A0A0A0"/>
                  </a:solidFill>
                  <a:miter lim="800000"/>
                </a:ln>
              </p:spPr>
              <p:txBody>
                <a:bodyPr/>
                <a:lstStyle/>
                <a:p>
                  <a:endParaRPr lang="zh-CN" altLang="en-US"/>
                </a:p>
              </p:txBody>
            </p:sp>
          </p:grpSp>
          <p:grpSp>
            <p:nvGrpSpPr>
              <p:cNvPr id="22" name="Group 67"/>
              <p:cNvGrpSpPr/>
              <p:nvPr/>
            </p:nvGrpSpPr>
            <p:grpSpPr bwMode="auto">
              <a:xfrm>
                <a:off x="0" y="3742"/>
                <a:ext cx="1526" cy="518"/>
                <a:chOff x="0" y="0"/>
                <a:chExt cx="1526" cy="518"/>
              </a:xfrm>
            </p:grpSpPr>
            <p:sp>
              <p:nvSpPr>
                <p:cNvPr id="57396" name="Rectangle 20"/>
                <p:cNvSpPr>
                  <a:spLocks noChangeArrowheads="1"/>
                </p:cNvSpPr>
                <p:nvPr/>
              </p:nvSpPr>
              <p:spPr bwMode="auto">
                <a:xfrm>
                  <a:off x="43" y="0"/>
                  <a:ext cx="1440" cy="518"/>
                </a:xfrm>
                <a:prstGeom prst="rect">
                  <a:avLst/>
                </a:prstGeom>
                <a:noFill/>
                <a:ln w="9525">
                  <a:noFill/>
                  <a:miter lim="800000"/>
                </a:ln>
              </p:spPr>
              <p:txBody>
                <a:bodyPr/>
                <a:lstStyle/>
                <a:p>
                  <a:pPr algn="ctr"/>
                  <a:r>
                    <a:rPr lang="zh-CN" altLang="en-US" sz="2400" b="1">
                      <a:latin typeface="Times New Roman" panose="02020603050405020304" pitchFamily="18" charset="0"/>
                    </a:rPr>
                    <a:t>进程访问文件所用的逻辑单元号</a:t>
                  </a:r>
                  <a:endParaRPr lang="zh-CN" altLang="en-US" sz="2400">
                    <a:latin typeface="Times New Roman" panose="02020603050405020304" pitchFamily="18" charset="0"/>
                  </a:endParaRPr>
                </a:p>
                <a:p>
                  <a:pPr algn="ctr" eaLnBrk="0" hangingPunct="0"/>
                  <a:endParaRPr lang="en-US" sz="2400">
                    <a:latin typeface="Times New Roman" panose="02020603050405020304" pitchFamily="18" charset="0"/>
                  </a:endParaRPr>
                </a:p>
              </p:txBody>
            </p:sp>
            <p:sp>
              <p:nvSpPr>
                <p:cNvPr id="57397" name="Rectangle 66"/>
                <p:cNvSpPr>
                  <a:spLocks noChangeArrowheads="1"/>
                </p:cNvSpPr>
                <p:nvPr/>
              </p:nvSpPr>
              <p:spPr bwMode="auto">
                <a:xfrm>
                  <a:off x="0" y="0"/>
                  <a:ext cx="1526" cy="518"/>
                </a:xfrm>
                <a:prstGeom prst="rect">
                  <a:avLst/>
                </a:prstGeom>
                <a:noFill/>
                <a:ln w="7">
                  <a:solidFill>
                    <a:srgbClr val="A0A0A0"/>
                  </a:solidFill>
                  <a:miter lim="800000"/>
                </a:ln>
              </p:spPr>
              <p:txBody>
                <a:bodyPr/>
                <a:lstStyle/>
                <a:p>
                  <a:endParaRPr lang="zh-CN" altLang="en-US"/>
                </a:p>
              </p:txBody>
            </p:sp>
          </p:grpSp>
          <p:grpSp>
            <p:nvGrpSpPr>
              <p:cNvPr id="23" name="Group 69"/>
              <p:cNvGrpSpPr/>
              <p:nvPr/>
            </p:nvGrpSpPr>
            <p:grpSpPr bwMode="auto">
              <a:xfrm>
                <a:off x="1526" y="3742"/>
                <a:ext cx="1166" cy="518"/>
                <a:chOff x="0" y="0"/>
                <a:chExt cx="1166" cy="518"/>
              </a:xfrm>
            </p:grpSpPr>
            <p:sp>
              <p:nvSpPr>
                <p:cNvPr id="57394" name="Rectangle 21"/>
                <p:cNvSpPr>
                  <a:spLocks noChangeArrowheads="1"/>
                </p:cNvSpPr>
                <p:nvPr/>
              </p:nvSpPr>
              <p:spPr bwMode="auto">
                <a:xfrm>
                  <a:off x="43" y="0"/>
                  <a:ext cx="1080" cy="518"/>
                </a:xfrm>
                <a:prstGeom prst="rect">
                  <a:avLst/>
                </a:prstGeom>
                <a:noFill/>
                <a:ln w="9525">
                  <a:noFill/>
                  <a:miter lim="800000"/>
                </a:ln>
              </p:spPr>
              <p:txBody>
                <a:bodyPr/>
                <a:lstStyle/>
                <a:p>
                  <a:pPr algn="ctr"/>
                  <a:r>
                    <a:rPr lang="zh-CN" altLang="en-US" sz="2400" b="1">
                      <a:latin typeface="Times New Roman" panose="02020603050405020304" pitchFamily="18" charset="0"/>
                    </a:rPr>
                    <a:t>当前的逻辑位置</a:t>
                  </a:r>
                  <a:endParaRPr lang="zh-CN" altLang="en-US" sz="2400">
                    <a:latin typeface="Times New Roman" panose="02020603050405020304" pitchFamily="18" charset="0"/>
                  </a:endParaRPr>
                </a:p>
                <a:p>
                  <a:pPr algn="ctr" eaLnBrk="0" hangingPunct="0"/>
                  <a:endParaRPr lang="en-US" sz="2400">
                    <a:latin typeface="Times New Roman" panose="02020603050405020304" pitchFamily="18" charset="0"/>
                  </a:endParaRPr>
                </a:p>
              </p:txBody>
            </p:sp>
            <p:sp>
              <p:nvSpPr>
                <p:cNvPr id="57395" name="Rectangle 68"/>
                <p:cNvSpPr>
                  <a:spLocks noChangeArrowheads="1"/>
                </p:cNvSpPr>
                <p:nvPr/>
              </p:nvSpPr>
              <p:spPr bwMode="auto">
                <a:xfrm>
                  <a:off x="0" y="0"/>
                  <a:ext cx="1166" cy="518"/>
                </a:xfrm>
                <a:prstGeom prst="rect">
                  <a:avLst/>
                </a:prstGeom>
                <a:noFill/>
                <a:ln w="7">
                  <a:solidFill>
                    <a:srgbClr val="A0A0A0"/>
                  </a:solidFill>
                  <a:miter lim="800000"/>
                </a:ln>
              </p:spPr>
              <p:txBody>
                <a:bodyPr/>
                <a:lstStyle/>
                <a:p>
                  <a:endParaRPr lang="zh-CN" altLang="en-US"/>
                </a:p>
              </p:txBody>
            </p:sp>
          </p:grpSp>
          <p:grpSp>
            <p:nvGrpSpPr>
              <p:cNvPr id="24" name="Group 71"/>
              <p:cNvGrpSpPr/>
              <p:nvPr/>
            </p:nvGrpSpPr>
            <p:grpSpPr bwMode="auto">
              <a:xfrm>
                <a:off x="0" y="4260"/>
                <a:ext cx="1526" cy="518"/>
                <a:chOff x="0" y="0"/>
                <a:chExt cx="1526" cy="518"/>
              </a:xfrm>
            </p:grpSpPr>
            <p:sp>
              <p:nvSpPr>
                <p:cNvPr id="57392" name="Rectangle 22"/>
                <p:cNvSpPr>
                  <a:spLocks noChangeArrowheads="1"/>
                </p:cNvSpPr>
                <p:nvPr/>
              </p:nvSpPr>
              <p:spPr bwMode="auto">
                <a:xfrm>
                  <a:off x="43" y="0"/>
                  <a:ext cx="1440" cy="518"/>
                </a:xfrm>
                <a:prstGeom prst="rect">
                  <a:avLst/>
                </a:prstGeom>
                <a:noFill/>
                <a:ln w="9525">
                  <a:noFill/>
                  <a:miter lim="800000"/>
                </a:ln>
              </p:spPr>
              <p:txBody>
                <a:bodyPr/>
                <a:lstStyle/>
                <a:p>
                  <a:pPr algn="ctr"/>
                  <a:r>
                    <a:rPr lang="zh-CN" altLang="en-US" sz="2400" b="1">
                      <a:latin typeface="Times New Roman" panose="02020603050405020304" pitchFamily="18" charset="0"/>
                    </a:rPr>
                    <a:t>访问元素的当前物理位置</a:t>
                  </a:r>
                  <a:endParaRPr lang="zh-CN" altLang="en-US" sz="2400">
                    <a:latin typeface="Times New Roman" panose="02020603050405020304" pitchFamily="18" charset="0"/>
                  </a:endParaRPr>
                </a:p>
                <a:p>
                  <a:pPr algn="just" eaLnBrk="0" hangingPunct="0"/>
                  <a:endParaRPr lang="en-US" sz="2400">
                    <a:latin typeface="Times New Roman" panose="02020603050405020304" pitchFamily="18" charset="0"/>
                  </a:endParaRPr>
                </a:p>
              </p:txBody>
            </p:sp>
            <p:sp>
              <p:nvSpPr>
                <p:cNvPr id="57393" name="Rectangle 70"/>
                <p:cNvSpPr>
                  <a:spLocks noChangeArrowheads="1"/>
                </p:cNvSpPr>
                <p:nvPr/>
              </p:nvSpPr>
              <p:spPr bwMode="auto">
                <a:xfrm>
                  <a:off x="0" y="0"/>
                  <a:ext cx="1526" cy="518"/>
                </a:xfrm>
                <a:prstGeom prst="rect">
                  <a:avLst/>
                </a:prstGeom>
                <a:noFill/>
                <a:ln w="7">
                  <a:solidFill>
                    <a:srgbClr val="A0A0A0"/>
                  </a:solidFill>
                  <a:miter lim="800000"/>
                </a:ln>
              </p:spPr>
              <p:txBody>
                <a:bodyPr/>
                <a:lstStyle/>
                <a:p>
                  <a:endParaRPr lang="zh-CN" altLang="en-US"/>
                </a:p>
              </p:txBody>
            </p:sp>
          </p:grpSp>
          <p:grpSp>
            <p:nvGrpSpPr>
              <p:cNvPr id="25" name="Group 73"/>
              <p:cNvGrpSpPr/>
              <p:nvPr/>
            </p:nvGrpSpPr>
            <p:grpSpPr bwMode="auto">
              <a:xfrm>
                <a:off x="1526" y="4260"/>
                <a:ext cx="1166" cy="518"/>
                <a:chOff x="0" y="0"/>
                <a:chExt cx="1166" cy="518"/>
              </a:xfrm>
            </p:grpSpPr>
            <p:sp>
              <p:nvSpPr>
                <p:cNvPr id="57390" name="Rectangle 23"/>
                <p:cNvSpPr>
                  <a:spLocks noChangeArrowheads="1"/>
                </p:cNvSpPr>
                <p:nvPr/>
              </p:nvSpPr>
              <p:spPr bwMode="auto">
                <a:xfrm>
                  <a:off x="43" y="0"/>
                  <a:ext cx="1080" cy="518"/>
                </a:xfrm>
                <a:prstGeom prst="rect">
                  <a:avLst/>
                </a:prstGeom>
                <a:noFill/>
                <a:ln w="9525">
                  <a:noFill/>
                  <a:miter lim="800000"/>
                </a:ln>
              </p:spPr>
              <p:txBody>
                <a:bodyPr/>
                <a:lstStyle/>
                <a:p>
                  <a:pPr algn="ctr"/>
                  <a:r>
                    <a:rPr lang="zh-CN" altLang="en-US" sz="2400" b="1">
                      <a:latin typeface="Times New Roman" panose="02020603050405020304" pitchFamily="18" charset="0"/>
                    </a:rPr>
                    <a:t>下一个元素的物理位置</a:t>
                  </a:r>
                  <a:endParaRPr lang="zh-CN" altLang="en-US" sz="2400">
                    <a:latin typeface="Times New Roman" panose="02020603050405020304" pitchFamily="18" charset="0"/>
                  </a:endParaRPr>
                </a:p>
                <a:p>
                  <a:pPr algn="ctr" eaLnBrk="0" hangingPunct="0"/>
                  <a:endParaRPr lang="en-US" sz="2400">
                    <a:latin typeface="Times New Roman" panose="02020603050405020304" pitchFamily="18" charset="0"/>
                  </a:endParaRPr>
                </a:p>
              </p:txBody>
            </p:sp>
            <p:sp>
              <p:nvSpPr>
                <p:cNvPr id="57391" name="Rectangle 72"/>
                <p:cNvSpPr>
                  <a:spLocks noChangeArrowheads="1"/>
                </p:cNvSpPr>
                <p:nvPr/>
              </p:nvSpPr>
              <p:spPr bwMode="auto">
                <a:xfrm>
                  <a:off x="0" y="0"/>
                  <a:ext cx="1166" cy="518"/>
                </a:xfrm>
                <a:prstGeom prst="rect">
                  <a:avLst/>
                </a:prstGeom>
                <a:noFill/>
                <a:ln w="7">
                  <a:solidFill>
                    <a:srgbClr val="A0A0A0"/>
                  </a:solidFill>
                  <a:miter lim="800000"/>
                </a:ln>
              </p:spPr>
              <p:txBody>
                <a:bodyPr/>
                <a:lstStyle/>
                <a:p>
                  <a:endParaRPr lang="zh-CN" altLang="en-US"/>
                </a:p>
              </p:txBody>
            </p:sp>
          </p:grpSp>
          <p:grpSp>
            <p:nvGrpSpPr>
              <p:cNvPr id="26" name="Group 75"/>
              <p:cNvGrpSpPr/>
              <p:nvPr/>
            </p:nvGrpSpPr>
            <p:grpSpPr bwMode="auto">
              <a:xfrm>
                <a:off x="0" y="4778"/>
                <a:ext cx="1526" cy="403"/>
                <a:chOff x="0" y="0"/>
                <a:chExt cx="1526" cy="403"/>
              </a:xfrm>
            </p:grpSpPr>
            <p:sp>
              <p:nvSpPr>
                <p:cNvPr id="57388" name="Rectangle 24"/>
                <p:cNvSpPr>
                  <a:spLocks noChangeArrowheads="1"/>
                </p:cNvSpPr>
                <p:nvPr/>
              </p:nvSpPr>
              <p:spPr bwMode="auto">
                <a:xfrm>
                  <a:off x="43" y="0"/>
                  <a:ext cx="1440" cy="403"/>
                </a:xfrm>
                <a:prstGeom prst="rect">
                  <a:avLst/>
                </a:prstGeom>
                <a:noFill/>
                <a:ln w="9525">
                  <a:noFill/>
                  <a:miter lim="800000"/>
                </a:ln>
              </p:spPr>
              <p:txBody>
                <a:bodyPr/>
                <a:lstStyle/>
                <a:p>
                  <a:pPr algn="ctr"/>
                  <a:r>
                    <a:rPr lang="zh-CN" altLang="en-US" sz="2400" b="1">
                      <a:latin typeface="Times New Roman" panose="02020603050405020304" pitchFamily="18" charset="0"/>
                    </a:rPr>
                    <a:t>缓冲区大小</a:t>
                  </a:r>
                  <a:endParaRPr lang="zh-CN" altLang="en-US" sz="2400">
                    <a:latin typeface="Times New Roman" panose="02020603050405020304" pitchFamily="18" charset="0"/>
                  </a:endParaRPr>
                </a:p>
                <a:p>
                  <a:pPr algn="just" eaLnBrk="0" hangingPunct="0"/>
                  <a:endParaRPr lang="en-US" sz="2400">
                    <a:latin typeface="Times New Roman" panose="02020603050405020304" pitchFamily="18" charset="0"/>
                  </a:endParaRPr>
                </a:p>
              </p:txBody>
            </p:sp>
            <p:sp>
              <p:nvSpPr>
                <p:cNvPr id="57389" name="Rectangle 74"/>
                <p:cNvSpPr>
                  <a:spLocks noChangeArrowheads="1"/>
                </p:cNvSpPr>
                <p:nvPr/>
              </p:nvSpPr>
              <p:spPr bwMode="auto">
                <a:xfrm>
                  <a:off x="0" y="0"/>
                  <a:ext cx="1526" cy="403"/>
                </a:xfrm>
                <a:prstGeom prst="rect">
                  <a:avLst/>
                </a:prstGeom>
                <a:noFill/>
                <a:ln w="7">
                  <a:solidFill>
                    <a:srgbClr val="A0A0A0"/>
                  </a:solidFill>
                  <a:miter lim="800000"/>
                </a:ln>
              </p:spPr>
              <p:txBody>
                <a:bodyPr/>
                <a:lstStyle/>
                <a:p>
                  <a:endParaRPr lang="zh-CN" altLang="en-US"/>
                </a:p>
              </p:txBody>
            </p:sp>
          </p:grpSp>
          <p:grpSp>
            <p:nvGrpSpPr>
              <p:cNvPr id="27" name="Group 77"/>
              <p:cNvGrpSpPr/>
              <p:nvPr/>
            </p:nvGrpSpPr>
            <p:grpSpPr bwMode="auto">
              <a:xfrm>
                <a:off x="1526" y="4778"/>
                <a:ext cx="1166" cy="403"/>
                <a:chOff x="0" y="0"/>
                <a:chExt cx="1166" cy="403"/>
              </a:xfrm>
            </p:grpSpPr>
            <p:sp>
              <p:nvSpPr>
                <p:cNvPr id="57386" name="Rectangle 25"/>
                <p:cNvSpPr>
                  <a:spLocks noChangeArrowheads="1"/>
                </p:cNvSpPr>
                <p:nvPr/>
              </p:nvSpPr>
              <p:spPr bwMode="auto">
                <a:xfrm>
                  <a:off x="43" y="0"/>
                  <a:ext cx="1080" cy="403"/>
                </a:xfrm>
                <a:prstGeom prst="rect">
                  <a:avLst/>
                </a:prstGeom>
                <a:noFill/>
                <a:ln w="9525">
                  <a:noFill/>
                  <a:miter lim="800000"/>
                </a:ln>
              </p:spPr>
              <p:txBody>
                <a:bodyPr/>
                <a:lstStyle/>
                <a:p>
                  <a:pPr algn="ctr"/>
                  <a:r>
                    <a:rPr lang="zh-CN" altLang="en-US" sz="2400" b="1">
                      <a:latin typeface="Times New Roman" panose="02020603050405020304" pitchFamily="18" charset="0"/>
                    </a:rPr>
                    <a:t>缓冲区地址</a:t>
                  </a:r>
                  <a:endParaRPr lang="zh-CN" altLang="en-US" sz="2400">
                    <a:latin typeface="Times New Roman" panose="02020603050405020304" pitchFamily="18" charset="0"/>
                  </a:endParaRPr>
                </a:p>
                <a:p>
                  <a:pPr algn="ctr" eaLnBrk="0" hangingPunct="0"/>
                  <a:endParaRPr lang="en-US" sz="2400">
                    <a:latin typeface="Times New Roman" panose="02020603050405020304" pitchFamily="18" charset="0"/>
                  </a:endParaRPr>
                </a:p>
              </p:txBody>
            </p:sp>
            <p:sp>
              <p:nvSpPr>
                <p:cNvPr id="57387" name="Rectangle 76"/>
                <p:cNvSpPr>
                  <a:spLocks noChangeArrowheads="1"/>
                </p:cNvSpPr>
                <p:nvPr/>
              </p:nvSpPr>
              <p:spPr bwMode="auto">
                <a:xfrm>
                  <a:off x="0" y="0"/>
                  <a:ext cx="1166" cy="403"/>
                </a:xfrm>
                <a:prstGeom prst="rect">
                  <a:avLst/>
                </a:prstGeom>
                <a:noFill/>
                <a:ln w="7">
                  <a:solidFill>
                    <a:srgbClr val="A0A0A0"/>
                  </a:solidFill>
                  <a:miter lim="800000"/>
                </a:ln>
              </p:spPr>
              <p:txBody>
                <a:bodyPr/>
                <a:lstStyle/>
                <a:p>
                  <a:endParaRPr lang="zh-CN" altLang="en-US"/>
                </a:p>
              </p:txBody>
            </p:sp>
          </p:grpSp>
          <p:grpSp>
            <p:nvGrpSpPr>
              <p:cNvPr id="28" name="Group 79"/>
              <p:cNvGrpSpPr/>
              <p:nvPr/>
            </p:nvGrpSpPr>
            <p:grpSpPr bwMode="auto">
              <a:xfrm>
                <a:off x="0" y="5181"/>
                <a:ext cx="1526" cy="403"/>
                <a:chOff x="0" y="0"/>
                <a:chExt cx="1526" cy="403"/>
              </a:xfrm>
            </p:grpSpPr>
            <p:sp>
              <p:nvSpPr>
                <p:cNvPr id="57384" name="Rectangle 26"/>
                <p:cNvSpPr>
                  <a:spLocks noChangeArrowheads="1"/>
                </p:cNvSpPr>
                <p:nvPr/>
              </p:nvSpPr>
              <p:spPr bwMode="auto">
                <a:xfrm>
                  <a:off x="43" y="0"/>
                  <a:ext cx="1440" cy="403"/>
                </a:xfrm>
                <a:prstGeom prst="rect">
                  <a:avLst/>
                </a:prstGeom>
                <a:noFill/>
                <a:ln w="9525">
                  <a:noFill/>
                  <a:miter lim="800000"/>
                </a:ln>
              </p:spPr>
              <p:txBody>
                <a:bodyPr/>
                <a:lstStyle/>
                <a:p>
                  <a:pPr algn="ctr"/>
                  <a:r>
                    <a:rPr lang="zh-CN" altLang="en-US" sz="2400" b="1">
                      <a:latin typeface="Times New Roman" panose="02020603050405020304" pitchFamily="18" charset="0"/>
                    </a:rPr>
                    <a:t>指向下一个</a:t>
                  </a:r>
                  <a:r>
                    <a:rPr lang="en-US" altLang="zh-CN" sz="2400" b="1">
                      <a:latin typeface="Times New Roman" panose="02020603050405020304" pitchFamily="18" charset="0"/>
                    </a:rPr>
                    <a:t>FCB</a:t>
                  </a:r>
                  <a:r>
                    <a:rPr lang="zh-CN" altLang="en-US" sz="2400" b="1">
                      <a:latin typeface="Times New Roman" panose="02020603050405020304" pitchFamily="18" charset="0"/>
                    </a:rPr>
                    <a:t>的指针</a:t>
                  </a:r>
                  <a:endParaRPr lang="zh-CN" altLang="en-US" sz="2400">
                    <a:latin typeface="Times New Roman" panose="02020603050405020304" pitchFamily="18" charset="0"/>
                  </a:endParaRPr>
                </a:p>
                <a:p>
                  <a:pPr algn="just" eaLnBrk="0" hangingPunct="0"/>
                  <a:endParaRPr lang="en-US" sz="2400">
                    <a:latin typeface="Times New Roman" panose="02020603050405020304" pitchFamily="18" charset="0"/>
                  </a:endParaRPr>
                </a:p>
              </p:txBody>
            </p:sp>
            <p:sp>
              <p:nvSpPr>
                <p:cNvPr id="57385" name="Rectangle 78"/>
                <p:cNvSpPr>
                  <a:spLocks noChangeArrowheads="1"/>
                </p:cNvSpPr>
                <p:nvPr/>
              </p:nvSpPr>
              <p:spPr bwMode="auto">
                <a:xfrm>
                  <a:off x="0" y="0"/>
                  <a:ext cx="1526" cy="403"/>
                </a:xfrm>
                <a:prstGeom prst="rect">
                  <a:avLst/>
                </a:prstGeom>
                <a:noFill/>
                <a:ln w="7">
                  <a:solidFill>
                    <a:srgbClr val="A0A0A0"/>
                  </a:solidFill>
                  <a:miter lim="800000"/>
                </a:ln>
              </p:spPr>
              <p:txBody>
                <a:bodyPr/>
                <a:lstStyle/>
                <a:p>
                  <a:endParaRPr lang="zh-CN" altLang="en-US"/>
                </a:p>
              </p:txBody>
            </p:sp>
          </p:grpSp>
          <p:grpSp>
            <p:nvGrpSpPr>
              <p:cNvPr id="29" name="Group 81"/>
              <p:cNvGrpSpPr/>
              <p:nvPr/>
            </p:nvGrpSpPr>
            <p:grpSpPr bwMode="auto">
              <a:xfrm>
                <a:off x="1526" y="5181"/>
                <a:ext cx="1166" cy="403"/>
                <a:chOff x="0" y="0"/>
                <a:chExt cx="1166" cy="403"/>
              </a:xfrm>
            </p:grpSpPr>
            <p:sp>
              <p:nvSpPr>
                <p:cNvPr id="57382" name="Rectangle 27"/>
                <p:cNvSpPr>
                  <a:spLocks noChangeArrowheads="1"/>
                </p:cNvSpPr>
                <p:nvPr/>
              </p:nvSpPr>
              <p:spPr bwMode="auto">
                <a:xfrm>
                  <a:off x="43" y="0"/>
                  <a:ext cx="1080" cy="403"/>
                </a:xfrm>
                <a:prstGeom prst="rect">
                  <a:avLst/>
                </a:prstGeom>
                <a:noFill/>
                <a:ln w="9525">
                  <a:noFill/>
                  <a:miter lim="800000"/>
                </a:ln>
              </p:spPr>
              <p:txBody>
                <a:bodyPr/>
                <a:lstStyle/>
                <a:p>
                  <a:pPr algn="ctr"/>
                  <a:r>
                    <a:rPr lang="zh-CN" altLang="en-US" sz="2400" b="1">
                      <a:latin typeface="Times New Roman" panose="02020603050405020304" pitchFamily="18" charset="0"/>
                    </a:rPr>
                    <a:t>文件创建者</a:t>
                  </a:r>
                  <a:endParaRPr lang="zh-CN" altLang="en-US" sz="2400">
                    <a:latin typeface="Times New Roman" panose="02020603050405020304" pitchFamily="18" charset="0"/>
                  </a:endParaRPr>
                </a:p>
                <a:p>
                  <a:pPr algn="just" eaLnBrk="0" hangingPunct="0"/>
                  <a:endParaRPr lang="en-US" sz="2400">
                    <a:latin typeface="Times New Roman" panose="02020603050405020304" pitchFamily="18" charset="0"/>
                  </a:endParaRPr>
                </a:p>
              </p:txBody>
            </p:sp>
            <p:sp>
              <p:nvSpPr>
                <p:cNvPr id="57383" name="Rectangle 80"/>
                <p:cNvSpPr>
                  <a:spLocks noChangeArrowheads="1"/>
                </p:cNvSpPr>
                <p:nvPr/>
              </p:nvSpPr>
              <p:spPr bwMode="auto">
                <a:xfrm>
                  <a:off x="0" y="0"/>
                  <a:ext cx="1166" cy="403"/>
                </a:xfrm>
                <a:prstGeom prst="rect">
                  <a:avLst/>
                </a:prstGeom>
                <a:noFill/>
                <a:ln w="7">
                  <a:solidFill>
                    <a:srgbClr val="A0A0A0"/>
                  </a:solidFill>
                  <a:miter lim="800000"/>
                </a:ln>
              </p:spPr>
              <p:txBody>
                <a:bodyPr/>
                <a:lstStyle/>
                <a:p>
                  <a:endParaRPr lang="zh-CN" altLang="en-US"/>
                </a:p>
              </p:txBody>
            </p:sp>
          </p:grpSp>
          <p:grpSp>
            <p:nvGrpSpPr>
              <p:cNvPr id="30" name="Group 83"/>
              <p:cNvGrpSpPr/>
              <p:nvPr/>
            </p:nvGrpSpPr>
            <p:grpSpPr bwMode="auto">
              <a:xfrm>
                <a:off x="0" y="5584"/>
                <a:ext cx="1526" cy="403"/>
                <a:chOff x="0" y="0"/>
                <a:chExt cx="1526" cy="403"/>
              </a:xfrm>
            </p:grpSpPr>
            <p:sp>
              <p:nvSpPr>
                <p:cNvPr id="57380" name="Rectangle 28"/>
                <p:cNvSpPr>
                  <a:spLocks noChangeArrowheads="1"/>
                </p:cNvSpPr>
                <p:nvPr/>
              </p:nvSpPr>
              <p:spPr bwMode="auto">
                <a:xfrm>
                  <a:off x="43" y="0"/>
                  <a:ext cx="1440" cy="403"/>
                </a:xfrm>
                <a:prstGeom prst="rect">
                  <a:avLst/>
                </a:prstGeom>
                <a:noFill/>
                <a:ln w="9525">
                  <a:noFill/>
                  <a:miter lim="800000"/>
                </a:ln>
              </p:spPr>
              <p:txBody>
                <a:bodyPr/>
                <a:lstStyle/>
                <a:p>
                  <a:pPr algn="ctr"/>
                  <a:r>
                    <a:rPr lang="zh-CN" altLang="en-US" sz="2400" b="1">
                      <a:latin typeface="Times New Roman" panose="02020603050405020304" pitchFamily="18" charset="0"/>
                    </a:rPr>
                    <a:t>临时</a:t>
                  </a:r>
                  <a:r>
                    <a:rPr lang="en-US" altLang="zh-CN" sz="2400" b="1">
                      <a:latin typeface="Times New Roman" panose="02020603050405020304" pitchFamily="18" charset="0"/>
                    </a:rPr>
                    <a:t>/</a:t>
                  </a:r>
                  <a:r>
                    <a:rPr lang="zh-CN" altLang="en-US" sz="2400" b="1">
                      <a:latin typeface="Times New Roman" panose="02020603050405020304" pitchFamily="18" charset="0"/>
                    </a:rPr>
                    <a:t>永久文件</a:t>
                  </a:r>
                  <a:endParaRPr lang="zh-CN" altLang="en-US" sz="2400">
                    <a:latin typeface="Times New Roman" panose="02020603050405020304" pitchFamily="18" charset="0"/>
                  </a:endParaRPr>
                </a:p>
                <a:p>
                  <a:pPr algn="ctr" eaLnBrk="0" hangingPunct="0"/>
                  <a:endParaRPr lang="en-US" sz="2400">
                    <a:latin typeface="Times New Roman" panose="02020603050405020304" pitchFamily="18" charset="0"/>
                  </a:endParaRPr>
                </a:p>
              </p:txBody>
            </p:sp>
            <p:sp>
              <p:nvSpPr>
                <p:cNvPr id="57381" name="Rectangle 82"/>
                <p:cNvSpPr>
                  <a:spLocks noChangeArrowheads="1"/>
                </p:cNvSpPr>
                <p:nvPr/>
              </p:nvSpPr>
              <p:spPr bwMode="auto">
                <a:xfrm>
                  <a:off x="0" y="0"/>
                  <a:ext cx="1526" cy="403"/>
                </a:xfrm>
                <a:prstGeom prst="rect">
                  <a:avLst/>
                </a:prstGeom>
                <a:noFill/>
                <a:ln w="7">
                  <a:solidFill>
                    <a:srgbClr val="A0A0A0"/>
                  </a:solidFill>
                  <a:miter lim="800000"/>
                </a:ln>
              </p:spPr>
              <p:txBody>
                <a:bodyPr/>
                <a:lstStyle/>
                <a:p>
                  <a:endParaRPr lang="zh-CN" altLang="en-US"/>
                </a:p>
              </p:txBody>
            </p:sp>
          </p:grpSp>
          <p:grpSp>
            <p:nvGrpSpPr>
              <p:cNvPr id="31" name="Group 85"/>
              <p:cNvGrpSpPr/>
              <p:nvPr/>
            </p:nvGrpSpPr>
            <p:grpSpPr bwMode="auto">
              <a:xfrm>
                <a:off x="1526" y="5584"/>
                <a:ext cx="1166" cy="403"/>
                <a:chOff x="0" y="0"/>
                <a:chExt cx="1166" cy="403"/>
              </a:xfrm>
            </p:grpSpPr>
            <p:sp>
              <p:nvSpPr>
                <p:cNvPr id="57378" name="Rectangle 29"/>
                <p:cNvSpPr>
                  <a:spLocks noChangeArrowheads="1"/>
                </p:cNvSpPr>
                <p:nvPr/>
              </p:nvSpPr>
              <p:spPr bwMode="auto">
                <a:xfrm>
                  <a:off x="43" y="0"/>
                  <a:ext cx="1080" cy="403"/>
                </a:xfrm>
                <a:prstGeom prst="rect">
                  <a:avLst/>
                </a:prstGeom>
                <a:noFill/>
                <a:ln w="9525">
                  <a:noFill/>
                  <a:miter lim="800000"/>
                </a:ln>
              </p:spPr>
              <p:txBody>
                <a:bodyPr/>
                <a:lstStyle/>
                <a:p>
                  <a:pPr algn="ctr"/>
                  <a:r>
                    <a:rPr lang="zh-CN" altLang="en-US" sz="2400" b="1">
                      <a:latin typeface="Times New Roman" panose="02020603050405020304" pitchFamily="18" charset="0"/>
                    </a:rPr>
                    <a:t>文件拥有者</a:t>
                  </a:r>
                  <a:endParaRPr lang="zh-CN" altLang="en-US" sz="2400" b="1">
                    <a:latin typeface="Times New Roman" panose="02020603050405020304" pitchFamily="18" charset="0"/>
                  </a:endParaRPr>
                </a:p>
                <a:p>
                  <a:pPr algn="ctr" eaLnBrk="0" hangingPunct="0"/>
                  <a:endParaRPr lang="en-US" altLang="zh-CN" sz="2400" b="1">
                    <a:latin typeface="Times New Roman" panose="02020603050405020304" pitchFamily="18" charset="0"/>
                  </a:endParaRPr>
                </a:p>
              </p:txBody>
            </p:sp>
            <p:sp>
              <p:nvSpPr>
                <p:cNvPr id="57379" name="Rectangle 84"/>
                <p:cNvSpPr>
                  <a:spLocks noChangeArrowheads="1"/>
                </p:cNvSpPr>
                <p:nvPr/>
              </p:nvSpPr>
              <p:spPr bwMode="auto">
                <a:xfrm>
                  <a:off x="0" y="0"/>
                  <a:ext cx="1166" cy="403"/>
                </a:xfrm>
                <a:prstGeom prst="rect">
                  <a:avLst/>
                </a:prstGeom>
                <a:noFill/>
                <a:ln w="7">
                  <a:solidFill>
                    <a:srgbClr val="A0A0A0"/>
                  </a:solidFill>
                  <a:miter lim="800000"/>
                </a:ln>
              </p:spPr>
              <p:txBody>
                <a:bodyPr/>
                <a:lstStyle/>
                <a:p>
                  <a:endParaRPr lang="zh-CN" altLang="en-US"/>
                </a:p>
              </p:txBody>
            </p:sp>
          </p:grpSp>
        </p:grpSp>
        <p:sp>
          <p:nvSpPr>
            <p:cNvPr id="57349" name="Rectangle 87"/>
            <p:cNvSpPr>
              <a:spLocks noChangeArrowheads="1"/>
            </p:cNvSpPr>
            <p:nvPr/>
          </p:nvSpPr>
          <p:spPr bwMode="auto">
            <a:xfrm>
              <a:off x="0" y="0"/>
              <a:ext cx="2698" cy="5993"/>
            </a:xfrm>
            <a:prstGeom prst="rect">
              <a:avLst/>
            </a:prstGeom>
            <a:noFill/>
            <a:ln w="9525">
              <a:solidFill>
                <a:srgbClr val="A0A0A0"/>
              </a:solidFill>
              <a:miter lim="800000"/>
            </a:ln>
          </p:spPr>
          <p:txBody>
            <a:bodyPr/>
            <a:lstStyle/>
            <a:p>
              <a:endParaRPr lang="zh-CN" altLang="en-US"/>
            </a:p>
          </p:txBody>
        </p:sp>
      </p:grpSp>
      <p:sp>
        <p:nvSpPr>
          <p:cNvPr id="49241" name="Text Box 89"/>
          <p:cNvSpPr txBox="1">
            <a:spLocks noChangeArrowheads="1"/>
          </p:cNvSpPr>
          <p:nvPr/>
        </p:nvSpPr>
        <p:spPr bwMode="auto">
          <a:xfrm>
            <a:off x="1066800" y="115888"/>
            <a:ext cx="996950" cy="579437"/>
          </a:xfrm>
          <a:prstGeom prst="rect">
            <a:avLst/>
          </a:prstGeom>
          <a:noFill/>
          <a:ln w="9525">
            <a:noFill/>
            <a:miter lim="800000"/>
          </a:ln>
        </p:spPr>
        <p:txBody>
          <a:bodyPr wrap="none">
            <a:spAutoFit/>
          </a:bodyPr>
          <a:lstStyle/>
          <a:p>
            <a:pPr>
              <a:defRPr/>
            </a:pPr>
            <a:r>
              <a:rPr lang="en-US" sz="3200" b="1">
                <a:effectLst>
                  <a:outerShdw blurRad="38100" dist="38100" dir="2700000" algn="tl">
                    <a:srgbClr val="000000"/>
                  </a:outerShdw>
                </a:effectLst>
                <a:latin typeface="Times New Roman" panose="02020603050405020304" pitchFamily="18" charset="0"/>
              </a:rPr>
              <a:t>FCB</a:t>
            </a:r>
            <a:endParaRPr lang="en-US" sz="3200" b="1">
              <a:effectLst>
                <a:outerShdw blurRad="38100" dist="38100" dir="2700000" algn="tl">
                  <a:srgbClr val="000000"/>
                </a:outerShdw>
              </a:effectLst>
              <a:latin typeface="Times New Roman" panose="02020603050405020304" pitchFamily="18" charset="0"/>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Rectangle 2"/>
          <p:cNvSpPr>
            <a:spLocks noGrp="1" noRot="1" noChangeArrowheads="1"/>
          </p:cNvSpPr>
          <p:nvPr>
            <p:ph type="title" idx="4294967295"/>
          </p:nvPr>
        </p:nvSpPr>
        <p:spPr/>
        <p:txBody>
          <a:bodyPr/>
          <a:lstStyle/>
          <a:p>
            <a:pPr eaLnBrk="1" hangingPunct="1">
              <a:defRPr/>
            </a:pPr>
            <a:r>
              <a:rPr lang="zh-CN" b="1" u="sng" smtClean="0">
                <a:solidFill>
                  <a:schemeClr val="folHlink"/>
                </a:solidFill>
                <a:effectLst>
                  <a:outerShdw blurRad="38100" dist="38100" dir="2700000" algn="tl">
                    <a:srgbClr val="000000"/>
                  </a:outerShdw>
                </a:effectLst>
                <a:ea typeface="仿宋_GB2312" pitchFamily="1" charset="-122"/>
              </a:rPr>
              <a:t>目录内容的组织方式及分析</a:t>
            </a:r>
            <a:endParaRPr lang="zh-CN" b="1" u="sng" smtClean="0">
              <a:solidFill>
                <a:schemeClr val="folHlink"/>
              </a:solidFill>
              <a:effectLst>
                <a:outerShdw blurRad="38100" dist="38100" dir="2700000" algn="tl">
                  <a:srgbClr val="000000"/>
                </a:outerShdw>
              </a:effectLst>
              <a:ea typeface="仿宋_GB2312" pitchFamily="1" charset="-122"/>
            </a:endParaRPr>
          </a:p>
        </p:txBody>
      </p:sp>
      <p:sp>
        <p:nvSpPr>
          <p:cNvPr id="50179" name="Rectangle 3"/>
          <p:cNvSpPr>
            <a:spLocks noGrp="1" noRot="1" noChangeArrowheads="1"/>
          </p:cNvSpPr>
          <p:nvPr>
            <p:ph type="body" idx="4294967295"/>
          </p:nvPr>
        </p:nvSpPr>
        <p:spPr/>
        <p:txBody>
          <a:bodyPr/>
          <a:lstStyle/>
          <a:p>
            <a:pPr eaLnBrk="1" hangingPunct="1">
              <a:defRPr/>
            </a:pPr>
            <a:endParaRPr lang="en-US" b="1" smtClean="0">
              <a:effectLst>
                <a:outerShdw blurRad="38100" dist="38100" dir="2700000" algn="tl">
                  <a:srgbClr val="000000"/>
                </a:outerShdw>
              </a:effectLst>
              <a:ea typeface="仿宋_GB2312" pitchFamily="1" charset="-122"/>
            </a:endParaRPr>
          </a:p>
          <a:p>
            <a:pPr eaLnBrk="1" hangingPunct="1">
              <a:defRPr/>
            </a:pPr>
            <a:r>
              <a:rPr lang="zh-CN" altLang="en-US" b="1" smtClean="0">
                <a:effectLst>
                  <a:outerShdw blurRad="38100" dist="38100" dir="2700000" algn="tl">
                    <a:srgbClr val="000000"/>
                  </a:outerShdw>
                </a:effectLst>
                <a:ea typeface="仿宋_GB2312" pitchFamily="1" charset="-122"/>
              </a:rPr>
              <a:t>目录项：全部目录内容</a:t>
            </a:r>
            <a:endParaRPr lang="zh-CN" altLang="en-US" b="1" smtClean="0">
              <a:effectLst>
                <a:outerShdw blurRad="38100" dist="38100" dir="2700000" algn="tl">
                  <a:srgbClr val="000000"/>
                </a:outerShdw>
              </a:effectLst>
              <a:ea typeface="仿宋_GB2312" pitchFamily="1" charset="-122"/>
            </a:endParaRPr>
          </a:p>
          <a:p>
            <a:pPr eaLnBrk="1" hangingPunct="1">
              <a:defRPr/>
            </a:pPr>
            <a:endParaRPr lang="zh-CN" altLang="en-US" b="1" smtClean="0">
              <a:effectLst>
                <a:outerShdw blurRad="38100" dist="38100" dir="2700000" algn="tl">
                  <a:srgbClr val="000000"/>
                </a:outerShdw>
              </a:effectLst>
              <a:ea typeface="仿宋_GB2312" pitchFamily="1" charset="-122"/>
            </a:endParaRPr>
          </a:p>
          <a:p>
            <a:pPr eaLnBrk="1" hangingPunct="1">
              <a:defRPr/>
            </a:pPr>
            <a:r>
              <a:rPr lang="zh-CN" altLang="en-US" b="1" smtClean="0">
                <a:effectLst>
                  <a:outerShdw blurRad="38100" dist="38100" dir="2700000" algn="tl">
                    <a:srgbClr val="000000"/>
                  </a:outerShdw>
                </a:effectLst>
                <a:ea typeface="仿宋_GB2312" pitchFamily="1" charset="-122"/>
              </a:rPr>
              <a:t>目录项：部分目录信息，如文件名、文件大小、外存中的存储位置等，其余部分保存在文件头部。</a:t>
            </a:r>
            <a:endParaRPr lang="zh-CN" altLang="en-US" b="1" smtClean="0">
              <a:effectLst>
                <a:outerShdw blurRad="38100" dist="38100" dir="2700000" algn="tl">
                  <a:srgbClr val="000000"/>
                </a:outerShdw>
              </a:effectLst>
              <a:ea typeface="仿宋_GB2312"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0178"/>
                                        </p:tgtEl>
                                        <p:attrNameLst>
                                          <p:attrName>style.visibility</p:attrName>
                                        </p:attrNameLst>
                                      </p:cBhvr>
                                      <p:to>
                                        <p:strVal val="visible"/>
                                      </p:to>
                                    </p:set>
                                    <p:animEffect transition="in" filter="fade">
                                      <p:cBhvr>
                                        <p:cTn id="7" dur="2000"/>
                                        <p:tgtEl>
                                          <p:spTgt spid="5017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179">
                                            <p:txEl>
                                              <p:pRg st="1" end="1"/>
                                            </p:txEl>
                                          </p:spTgt>
                                        </p:tgtEl>
                                        <p:attrNameLst>
                                          <p:attrName>style.visibility</p:attrName>
                                        </p:attrNameLst>
                                      </p:cBhvr>
                                      <p:to>
                                        <p:strVal val="visible"/>
                                      </p:to>
                                    </p:set>
                                    <p:animEffect transition="in" filter="fade">
                                      <p:cBhvr>
                                        <p:cTn id="12" dur="2000"/>
                                        <p:tgtEl>
                                          <p:spTgt spid="501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0179">
                                            <p:txEl>
                                              <p:pRg st="3" end="3"/>
                                            </p:txEl>
                                          </p:spTgt>
                                        </p:tgtEl>
                                        <p:attrNameLst>
                                          <p:attrName>style.visibility</p:attrName>
                                        </p:attrNameLst>
                                      </p:cBhvr>
                                      <p:to>
                                        <p:strVal val="visible"/>
                                      </p:to>
                                    </p:set>
                                    <p:animEffect transition="in" filter="fade">
                                      <p:cBhvr>
                                        <p:cTn id="17" dur="2000"/>
                                        <p:tgtEl>
                                          <p:spTgt spid="501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8" grpId="0" autoUpdateAnimBg="0"/>
      <p:bldP spid="50179" grpId="0" autoUpdateAnimBg="0" build="p"/>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Rectangle 2"/>
          <p:cNvSpPr>
            <a:spLocks noGrp="1" noRot="1" noChangeArrowheads="1"/>
          </p:cNvSpPr>
          <p:nvPr>
            <p:ph type="title" idx="4294967295"/>
          </p:nvPr>
        </p:nvSpPr>
        <p:spPr/>
        <p:txBody>
          <a:bodyPr/>
          <a:lstStyle/>
          <a:p>
            <a:pPr eaLnBrk="1" hangingPunct="1">
              <a:defRPr/>
            </a:pPr>
            <a:r>
              <a:rPr lang="zh-CN" b="1" u="sng" smtClean="0">
                <a:solidFill>
                  <a:schemeClr val="folHlink"/>
                </a:solidFill>
                <a:effectLst>
                  <a:outerShdw blurRad="38100" dist="38100" dir="2700000" algn="tl">
                    <a:srgbClr val="000000"/>
                  </a:outerShdw>
                </a:effectLst>
                <a:ea typeface="仿宋_GB2312" pitchFamily="1" charset="-122"/>
              </a:rPr>
              <a:t>目录文件及操作</a:t>
            </a:r>
            <a:endParaRPr lang="zh-CN" b="1" u="sng" smtClean="0">
              <a:solidFill>
                <a:schemeClr val="folHlink"/>
              </a:solidFill>
              <a:effectLst>
                <a:outerShdw blurRad="38100" dist="38100" dir="2700000" algn="tl">
                  <a:srgbClr val="000000"/>
                </a:outerShdw>
              </a:effectLst>
              <a:ea typeface="仿宋_GB2312" pitchFamily="1" charset="-122"/>
            </a:endParaRPr>
          </a:p>
        </p:txBody>
      </p:sp>
      <p:sp>
        <p:nvSpPr>
          <p:cNvPr id="51203" name="Rectangle 3"/>
          <p:cNvSpPr>
            <a:spLocks noGrp="1" noRot="1" noChangeArrowheads="1"/>
          </p:cNvSpPr>
          <p:nvPr>
            <p:ph type="body" idx="4294967295"/>
          </p:nvPr>
        </p:nvSpPr>
        <p:spPr/>
        <p:txBody>
          <a:bodyPr/>
          <a:lstStyle/>
          <a:p>
            <a:pPr eaLnBrk="1" hangingPunct="1">
              <a:defRPr/>
            </a:pPr>
            <a:r>
              <a:rPr lang="zh-CN" altLang="en-US" b="1" smtClean="0">
                <a:effectLst>
                  <a:outerShdw blurRad="38100" dist="38100" dir="2700000" algn="tl">
                    <a:srgbClr val="000000"/>
                  </a:outerShdw>
                </a:effectLst>
                <a:latin typeface="仿宋_GB2312" pitchFamily="1" charset="-122"/>
                <a:ea typeface="仿宋_GB2312" pitchFamily="1" charset="-122"/>
              </a:rPr>
              <a:t>目录文件：多个文件的目录项构成的一种特殊文件。</a:t>
            </a:r>
            <a:endParaRPr lang="zh-CN" altLang="en-US" b="1" smtClean="0">
              <a:effectLst>
                <a:outerShdw blurRad="38100" dist="38100" dir="2700000" algn="tl">
                  <a:srgbClr val="000000"/>
                </a:outerShdw>
              </a:effectLst>
              <a:latin typeface="仿宋_GB2312" pitchFamily="1" charset="-122"/>
              <a:ea typeface="仿宋_GB2312" pitchFamily="1" charset="-122"/>
            </a:endParaRPr>
          </a:p>
          <a:p>
            <a:pPr eaLnBrk="1" hangingPunct="1">
              <a:defRPr/>
            </a:pPr>
            <a:r>
              <a:rPr lang="zh-CN" altLang="en-US" b="1" smtClean="0">
                <a:effectLst>
                  <a:outerShdw blurRad="38100" dist="38100" dir="2700000" algn="tl">
                    <a:srgbClr val="000000"/>
                  </a:outerShdw>
                </a:effectLst>
                <a:latin typeface="仿宋_GB2312" pitchFamily="1" charset="-122"/>
                <a:ea typeface="仿宋_GB2312" pitchFamily="1" charset="-122"/>
              </a:rPr>
              <a:t> 搜索目录</a:t>
            </a:r>
            <a:endParaRPr lang="zh-CN" altLang="en-US" b="1" smtClean="0">
              <a:effectLst>
                <a:outerShdw blurRad="38100" dist="38100" dir="2700000" algn="tl">
                  <a:srgbClr val="000000"/>
                </a:outerShdw>
              </a:effectLst>
              <a:latin typeface="仿宋_GB2312" pitchFamily="1" charset="-122"/>
              <a:ea typeface="仿宋_GB2312" pitchFamily="1" charset="-122"/>
            </a:endParaRPr>
          </a:p>
          <a:p>
            <a:pPr eaLnBrk="1" hangingPunct="1">
              <a:defRPr/>
            </a:pPr>
            <a:r>
              <a:rPr lang="zh-CN" altLang="en-US" b="1" smtClean="0">
                <a:effectLst>
                  <a:outerShdw blurRad="38100" dist="38100" dir="2700000" algn="tl">
                    <a:srgbClr val="000000"/>
                  </a:outerShdw>
                </a:effectLst>
                <a:latin typeface="仿宋_GB2312" pitchFamily="1" charset="-122"/>
                <a:ea typeface="仿宋_GB2312" pitchFamily="1" charset="-122"/>
              </a:rPr>
              <a:t> 创建目录</a:t>
            </a:r>
            <a:endParaRPr lang="zh-CN" altLang="en-US" b="1" smtClean="0">
              <a:effectLst>
                <a:outerShdw blurRad="38100" dist="38100" dir="2700000" algn="tl">
                  <a:srgbClr val="000000"/>
                </a:outerShdw>
              </a:effectLst>
              <a:latin typeface="仿宋_GB2312" pitchFamily="1" charset="-122"/>
              <a:ea typeface="仿宋_GB2312" pitchFamily="1" charset="-122"/>
            </a:endParaRPr>
          </a:p>
          <a:p>
            <a:pPr eaLnBrk="1" hangingPunct="1">
              <a:defRPr/>
            </a:pPr>
            <a:r>
              <a:rPr lang="zh-CN" altLang="en-US" b="1" smtClean="0">
                <a:effectLst>
                  <a:outerShdw blurRad="38100" dist="38100" dir="2700000" algn="tl">
                    <a:srgbClr val="000000"/>
                  </a:outerShdw>
                </a:effectLst>
                <a:latin typeface="仿宋_GB2312" pitchFamily="1" charset="-122"/>
                <a:ea typeface="仿宋_GB2312" pitchFamily="1" charset="-122"/>
              </a:rPr>
              <a:t> 删除目录</a:t>
            </a:r>
            <a:endParaRPr lang="zh-CN" altLang="en-US" b="1" smtClean="0">
              <a:effectLst>
                <a:outerShdw blurRad="38100" dist="38100" dir="2700000" algn="tl">
                  <a:srgbClr val="000000"/>
                </a:outerShdw>
              </a:effectLst>
              <a:latin typeface="仿宋_GB2312" pitchFamily="1" charset="-122"/>
              <a:ea typeface="仿宋_GB2312" pitchFamily="1" charset="-122"/>
            </a:endParaRPr>
          </a:p>
          <a:p>
            <a:pPr eaLnBrk="1" hangingPunct="1">
              <a:defRPr/>
            </a:pPr>
            <a:r>
              <a:rPr lang="zh-CN" altLang="en-US" b="1" smtClean="0">
                <a:effectLst>
                  <a:outerShdw blurRad="38100" dist="38100" dir="2700000" algn="tl">
                    <a:srgbClr val="000000"/>
                  </a:outerShdw>
                </a:effectLst>
                <a:latin typeface="仿宋_GB2312" pitchFamily="1" charset="-122"/>
                <a:ea typeface="仿宋_GB2312" pitchFamily="1" charset="-122"/>
              </a:rPr>
              <a:t> 显示目录</a:t>
            </a:r>
            <a:endParaRPr lang="zh-CN" altLang="en-US" b="1" smtClean="0">
              <a:effectLst>
                <a:outerShdw blurRad="38100" dist="38100" dir="2700000" algn="tl">
                  <a:srgbClr val="000000"/>
                </a:outerShdw>
              </a:effectLst>
              <a:latin typeface="仿宋_GB2312" pitchFamily="1" charset="-122"/>
              <a:ea typeface="仿宋_GB2312" pitchFamily="1" charset="-122"/>
            </a:endParaRPr>
          </a:p>
          <a:p>
            <a:pPr eaLnBrk="1" hangingPunct="1">
              <a:defRPr/>
            </a:pPr>
            <a:r>
              <a:rPr lang="zh-CN" altLang="en-US" b="1" smtClean="0">
                <a:effectLst>
                  <a:outerShdw blurRad="38100" dist="38100" dir="2700000" algn="tl">
                    <a:srgbClr val="000000"/>
                  </a:outerShdw>
                </a:effectLst>
                <a:latin typeface="仿宋_GB2312" pitchFamily="1" charset="-122"/>
                <a:ea typeface="仿宋_GB2312" pitchFamily="1" charset="-122"/>
              </a:rPr>
              <a:t> 修改目录</a:t>
            </a:r>
            <a:endParaRPr lang="zh-CN" altLang="en-US" b="1" smtClean="0">
              <a:effectLst>
                <a:outerShdw blurRad="38100" dist="38100" dir="2700000" algn="tl">
                  <a:srgbClr val="000000"/>
                </a:outerShdw>
              </a:effectLst>
              <a:latin typeface="仿宋_GB2312" pitchFamily="1" charset="-122"/>
              <a:ea typeface="仿宋_GB2312"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1202"/>
                                        </p:tgtEl>
                                        <p:attrNameLst>
                                          <p:attrName>style.visibility</p:attrName>
                                        </p:attrNameLst>
                                      </p:cBhvr>
                                      <p:to>
                                        <p:strVal val="visible"/>
                                      </p:to>
                                    </p:set>
                                    <p:animEffect transition="in" filter="fade">
                                      <p:cBhvr>
                                        <p:cTn id="7" dur="2000"/>
                                        <p:tgtEl>
                                          <p:spTgt spid="512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1203">
                                            <p:txEl>
                                              <p:pRg st="0" end="0"/>
                                            </p:txEl>
                                          </p:spTgt>
                                        </p:tgtEl>
                                        <p:attrNameLst>
                                          <p:attrName>style.visibility</p:attrName>
                                        </p:attrNameLst>
                                      </p:cBhvr>
                                      <p:to>
                                        <p:strVal val="visible"/>
                                      </p:to>
                                    </p:set>
                                    <p:animEffect transition="in" filter="fade">
                                      <p:cBhvr>
                                        <p:cTn id="12" dur="2000"/>
                                        <p:tgtEl>
                                          <p:spTgt spid="5120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1203">
                                            <p:txEl>
                                              <p:pRg st="1" end="1"/>
                                            </p:txEl>
                                          </p:spTgt>
                                        </p:tgtEl>
                                        <p:attrNameLst>
                                          <p:attrName>style.visibility</p:attrName>
                                        </p:attrNameLst>
                                      </p:cBhvr>
                                      <p:to>
                                        <p:strVal val="visible"/>
                                      </p:to>
                                    </p:set>
                                    <p:animEffect transition="in" filter="fade">
                                      <p:cBhvr>
                                        <p:cTn id="17" dur="2000"/>
                                        <p:tgtEl>
                                          <p:spTgt spid="5120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1203">
                                            <p:txEl>
                                              <p:pRg st="2" end="2"/>
                                            </p:txEl>
                                          </p:spTgt>
                                        </p:tgtEl>
                                        <p:attrNameLst>
                                          <p:attrName>style.visibility</p:attrName>
                                        </p:attrNameLst>
                                      </p:cBhvr>
                                      <p:to>
                                        <p:strVal val="visible"/>
                                      </p:to>
                                    </p:set>
                                    <p:animEffect transition="in" filter="fade">
                                      <p:cBhvr>
                                        <p:cTn id="22" dur="2000"/>
                                        <p:tgtEl>
                                          <p:spTgt spid="5120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1203">
                                            <p:txEl>
                                              <p:pRg st="3" end="3"/>
                                            </p:txEl>
                                          </p:spTgt>
                                        </p:tgtEl>
                                        <p:attrNameLst>
                                          <p:attrName>style.visibility</p:attrName>
                                        </p:attrNameLst>
                                      </p:cBhvr>
                                      <p:to>
                                        <p:strVal val="visible"/>
                                      </p:to>
                                    </p:set>
                                    <p:animEffect transition="in" filter="fade">
                                      <p:cBhvr>
                                        <p:cTn id="27" dur="2000"/>
                                        <p:tgtEl>
                                          <p:spTgt spid="5120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1203">
                                            <p:txEl>
                                              <p:pRg st="4" end="4"/>
                                            </p:txEl>
                                          </p:spTgt>
                                        </p:tgtEl>
                                        <p:attrNameLst>
                                          <p:attrName>style.visibility</p:attrName>
                                        </p:attrNameLst>
                                      </p:cBhvr>
                                      <p:to>
                                        <p:strVal val="visible"/>
                                      </p:to>
                                    </p:set>
                                    <p:animEffect transition="in" filter="fade">
                                      <p:cBhvr>
                                        <p:cTn id="32" dur="2000"/>
                                        <p:tgtEl>
                                          <p:spTgt spid="5120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1203">
                                            <p:txEl>
                                              <p:pRg st="5" end="5"/>
                                            </p:txEl>
                                          </p:spTgt>
                                        </p:tgtEl>
                                        <p:attrNameLst>
                                          <p:attrName>style.visibility</p:attrName>
                                        </p:attrNameLst>
                                      </p:cBhvr>
                                      <p:to>
                                        <p:strVal val="visible"/>
                                      </p:to>
                                    </p:set>
                                    <p:animEffect transition="in" filter="fade">
                                      <p:cBhvr>
                                        <p:cTn id="37" dur="2000"/>
                                        <p:tgtEl>
                                          <p:spTgt spid="5120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autoUpdateAnimBg="0"/>
      <p:bldP spid="51203" grpId="0" autoUpdateAnimBg="0" build="p"/>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Rectangle 2"/>
          <p:cNvSpPr>
            <a:spLocks noGrp="1" noRot="1" noChangeArrowheads="1"/>
          </p:cNvSpPr>
          <p:nvPr>
            <p:ph type="title" idx="4294967295"/>
          </p:nvPr>
        </p:nvSpPr>
        <p:spPr/>
        <p:txBody>
          <a:bodyPr/>
          <a:lstStyle/>
          <a:p>
            <a:pPr eaLnBrk="1" hangingPunct="1">
              <a:defRPr/>
            </a:pPr>
            <a:r>
              <a:rPr lang="zh-CN" b="1" u="sng" smtClean="0">
                <a:solidFill>
                  <a:schemeClr val="folHlink"/>
                </a:solidFill>
                <a:effectLst>
                  <a:outerShdw blurRad="38100" dist="38100" dir="2700000" algn="tl">
                    <a:srgbClr val="000000"/>
                  </a:outerShdw>
                </a:effectLst>
                <a:ea typeface="仿宋_GB2312" pitchFamily="1" charset="-122"/>
              </a:rPr>
              <a:t>目录结构</a:t>
            </a:r>
            <a:endParaRPr lang="zh-CN" b="1" u="sng" smtClean="0">
              <a:solidFill>
                <a:schemeClr val="folHlink"/>
              </a:solidFill>
              <a:effectLst>
                <a:outerShdw blurRad="38100" dist="38100" dir="2700000" algn="tl">
                  <a:srgbClr val="000000"/>
                </a:outerShdw>
              </a:effectLst>
              <a:ea typeface="仿宋_GB2312" pitchFamily="1" charset="-122"/>
            </a:endParaRPr>
          </a:p>
        </p:txBody>
      </p:sp>
      <p:sp>
        <p:nvSpPr>
          <p:cNvPr id="52227" name="Rectangle 3"/>
          <p:cNvSpPr>
            <a:spLocks noGrp="1" noRot="1" noChangeArrowheads="1"/>
          </p:cNvSpPr>
          <p:nvPr>
            <p:ph type="body" idx="4294967295"/>
          </p:nvPr>
        </p:nvSpPr>
        <p:spPr/>
        <p:txBody>
          <a:bodyPr/>
          <a:lstStyle/>
          <a:p>
            <a:pPr eaLnBrk="1" hangingPunct="1">
              <a:defRPr/>
            </a:pPr>
            <a:endParaRPr lang="en-US" smtClean="0"/>
          </a:p>
          <a:p>
            <a:pPr eaLnBrk="1" hangingPunct="1">
              <a:defRPr/>
            </a:pPr>
            <a:r>
              <a:rPr lang="zh-CN" altLang="en-US" b="1" smtClean="0">
                <a:effectLst>
                  <a:outerShdw blurRad="38100" dist="38100" dir="2700000" algn="tl">
                    <a:srgbClr val="000000"/>
                  </a:outerShdw>
                </a:effectLst>
                <a:latin typeface="仿宋_GB2312" pitchFamily="1" charset="-122"/>
                <a:ea typeface="仿宋_GB2312" pitchFamily="1" charset="-122"/>
              </a:rPr>
              <a:t>单级目录结构</a:t>
            </a:r>
            <a:endParaRPr lang="zh-CN" altLang="en-US" b="1" smtClean="0">
              <a:effectLst>
                <a:outerShdw blurRad="38100" dist="38100" dir="2700000" algn="tl">
                  <a:srgbClr val="000000"/>
                </a:outerShdw>
              </a:effectLst>
              <a:latin typeface="仿宋_GB2312" pitchFamily="1" charset="-122"/>
              <a:ea typeface="仿宋_GB2312" pitchFamily="1" charset="-122"/>
            </a:endParaRPr>
          </a:p>
          <a:p>
            <a:pPr eaLnBrk="1" hangingPunct="1">
              <a:defRPr/>
            </a:pPr>
            <a:endParaRPr lang="zh-CN" altLang="en-US" b="1" smtClean="0">
              <a:effectLst>
                <a:outerShdw blurRad="38100" dist="38100" dir="2700000" algn="tl">
                  <a:srgbClr val="000000"/>
                </a:outerShdw>
              </a:effectLst>
              <a:latin typeface="仿宋_GB2312" pitchFamily="1" charset="-122"/>
              <a:ea typeface="仿宋_GB2312" pitchFamily="1" charset="-122"/>
            </a:endParaRPr>
          </a:p>
          <a:p>
            <a:pPr eaLnBrk="1" hangingPunct="1">
              <a:defRPr/>
            </a:pPr>
            <a:r>
              <a:rPr lang="zh-CN" altLang="en-US" b="1" smtClean="0">
                <a:effectLst>
                  <a:outerShdw blurRad="38100" dist="38100" dir="2700000" algn="tl">
                    <a:srgbClr val="000000"/>
                  </a:outerShdw>
                </a:effectLst>
                <a:latin typeface="仿宋_GB2312" pitchFamily="1" charset="-122"/>
                <a:ea typeface="仿宋_GB2312" pitchFamily="1" charset="-122"/>
              </a:rPr>
              <a:t>两级目录结构</a:t>
            </a:r>
            <a:endParaRPr lang="zh-CN" altLang="en-US" b="1" smtClean="0">
              <a:effectLst>
                <a:outerShdw blurRad="38100" dist="38100" dir="2700000" algn="tl">
                  <a:srgbClr val="000000"/>
                </a:outerShdw>
              </a:effectLst>
              <a:latin typeface="仿宋_GB2312" pitchFamily="1" charset="-122"/>
              <a:ea typeface="仿宋_GB2312" pitchFamily="1" charset="-122"/>
            </a:endParaRPr>
          </a:p>
          <a:p>
            <a:pPr eaLnBrk="1" hangingPunct="1">
              <a:defRPr/>
            </a:pPr>
            <a:endParaRPr lang="zh-CN" altLang="en-US" b="1" smtClean="0">
              <a:effectLst>
                <a:outerShdw blurRad="38100" dist="38100" dir="2700000" algn="tl">
                  <a:srgbClr val="000000"/>
                </a:outerShdw>
              </a:effectLst>
              <a:latin typeface="仿宋_GB2312" pitchFamily="1" charset="-122"/>
              <a:ea typeface="仿宋_GB2312" pitchFamily="1" charset="-122"/>
            </a:endParaRPr>
          </a:p>
          <a:p>
            <a:pPr eaLnBrk="1" hangingPunct="1">
              <a:defRPr/>
            </a:pPr>
            <a:r>
              <a:rPr lang="zh-CN" altLang="en-US" b="1" smtClean="0">
                <a:effectLst>
                  <a:outerShdw blurRad="38100" dist="38100" dir="2700000" algn="tl">
                    <a:srgbClr val="000000"/>
                  </a:outerShdw>
                </a:effectLst>
                <a:latin typeface="仿宋_GB2312" pitchFamily="1" charset="-122"/>
                <a:ea typeface="仿宋_GB2312" pitchFamily="1" charset="-122"/>
              </a:rPr>
              <a:t>层次目录结构 ：树型目录、无循环图</a:t>
            </a:r>
            <a:endParaRPr lang="zh-CN" altLang="en-US" b="1" smtClean="0">
              <a:effectLst>
                <a:outerShdw blurRad="38100" dist="38100" dir="2700000" algn="tl">
                  <a:srgbClr val="000000"/>
                </a:outerShdw>
              </a:effectLst>
              <a:latin typeface="仿宋_GB2312" pitchFamily="1" charset="-122"/>
              <a:ea typeface="仿宋_GB2312"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2226"/>
                                        </p:tgtEl>
                                        <p:attrNameLst>
                                          <p:attrName>style.visibility</p:attrName>
                                        </p:attrNameLst>
                                      </p:cBhvr>
                                      <p:to>
                                        <p:strVal val="visible"/>
                                      </p:to>
                                    </p:set>
                                    <p:animEffect transition="in" filter="fade">
                                      <p:cBhvr>
                                        <p:cTn id="7" dur="2000"/>
                                        <p:tgtEl>
                                          <p:spTgt spid="522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2227">
                                            <p:txEl>
                                              <p:pRg st="1" end="1"/>
                                            </p:txEl>
                                          </p:spTgt>
                                        </p:tgtEl>
                                        <p:attrNameLst>
                                          <p:attrName>style.visibility</p:attrName>
                                        </p:attrNameLst>
                                      </p:cBhvr>
                                      <p:to>
                                        <p:strVal val="visible"/>
                                      </p:to>
                                    </p:set>
                                    <p:animEffect transition="in" filter="fade">
                                      <p:cBhvr>
                                        <p:cTn id="12" dur="2000"/>
                                        <p:tgtEl>
                                          <p:spTgt spid="522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2227">
                                            <p:txEl>
                                              <p:pRg st="3" end="3"/>
                                            </p:txEl>
                                          </p:spTgt>
                                        </p:tgtEl>
                                        <p:attrNameLst>
                                          <p:attrName>style.visibility</p:attrName>
                                        </p:attrNameLst>
                                      </p:cBhvr>
                                      <p:to>
                                        <p:strVal val="visible"/>
                                      </p:to>
                                    </p:set>
                                    <p:animEffect transition="in" filter="fade">
                                      <p:cBhvr>
                                        <p:cTn id="17" dur="2000"/>
                                        <p:tgtEl>
                                          <p:spTgt spid="5222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2227">
                                            <p:txEl>
                                              <p:pRg st="5" end="5"/>
                                            </p:txEl>
                                          </p:spTgt>
                                        </p:tgtEl>
                                        <p:attrNameLst>
                                          <p:attrName>style.visibility</p:attrName>
                                        </p:attrNameLst>
                                      </p:cBhvr>
                                      <p:to>
                                        <p:strVal val="visible"/>
                                      </p:to>
                                    </p:set>
                                    <p:animEffect transition="in" filter="fade">
                                      <p:cBhvr>
                                        <p:cTn id="22" dur="2000"/>
                                        <p:tgtEl>
                                          <p:spTgt spid="5222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autoUpdateAnimBg="0"/>
      <p:bldP spid="52227" grpId="0" autoUpdateAnimBg="0" build="p"/>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Rectangle 2"/>
          <p:cNvSpPr>
            <a:spLocks noGrp="1" noRot="1" noChangeArrowheads="1"/>
          </p:cNvSpPr>
          <p:nvPr>
            <p:ph type="title" idx="4294967295"/>
          </p:nvPr>
        </p:nvSpPr>
        <p:spPr>
          <a:xfrm>
            <a:off x="533400" y="260350"/>
            <a:ext cx="8077200" cy="1066800"/>
          </a:xfrm>
        </p:spPr>
        <p:txBody>
          <a:bodyPr/>
          <a:lstStyle/>
          <a:p>
            <a:pPr eaLnBrk="1" hangingPunct="1">
              <a:defRPr/>
            </a:pPr>
            <a:r>
              <a:rPr lang="zh-CN" b="1" u="sng" smtClean="0">
                <a:solidFill>
                  <a:schemeClr val="folHlink"/>
                </a:solidFill>
                <a:effectLst>
                  <a:outerShdw blurRad="38100" dist="38100" dir="2700000" algn="tl">
                    <a:srgbClr val="000000"/>
                  </a:outerShdw>
                </a:effectLst>
                <a:latin typeface="仿宋_GB2312" pitchFamily="1" charset="-122"/>
                <a:ea typeface="仿宋_GB2312" pitchFamily="1" charset="-122"/>
              </a:rPr>
              <a:t>单级目录结构</a:t>
            </a:r>
            <a:endParaRPr lang="zh-CN" b="1" u="sng" smtClean="0">
              <a:solidFill>
                <a:schemeClr val="folHlink"/>
              </a:solidFill>
              <a:effectLst>
                <a:outerShdw blurRad="38100" dist="38100" dir="2700000" algn="tl">
                  <a:srgbClr val="000000"/>
                </a:outerShdw>
              </a:effectLst>
              <a:latin typeface="仿宋_GB2312" pitchFamily="1" charset="-122"/>
              <a:ea typeface="仿宋_GB2312" pitchFamily="1" charset="-122"/>
            </a:endParaRPr>
          </a:p>
        </p:txBody>
      </p:sp>
      <p:sp>
        <p:nvSpPr>
          <p:cNvPr id="53251" name="Rectangle 3"/>
          <p:cNvSpPr>
            <a:spLocks noGrp="1" noRot="1" noChangeArrowheads="1"/>
          </p:cNvSpPr>
          <p:nvPr>
            <p:ph type="body" idx="4294967295"/>
          </p:nvPr>
        </p:nvSpPr>
        <p:spPr>
          <a:xfrm>
            <a:off x="533400" y="1476375"/>
            <a:ext cx="8077200" cy="4498975"/>
          </a:xfrm>
        </p:spPr>
        <p:txBody>
          <a:bodyPr/>
          <a:lstStyle/>
          <a:p>
            <a:pPr eaLnBrk="1" hangingPunct="1">
              <a:defRPr/>
            </a:pPr>
            <a:r>
              <a:rPr lang="zh-CN" altLang="en-US" b="1" smtClean="0">
                <a:effectLst>
                  <a:outerShdw blurRad="38100" dist="38100" dir="2700000" algn="tl">
                    <a:srgbClr val="000000"/>
                  </a:outerShdw>
                </a:effectLst>
                <a:ea typeface="仿宋_GB2312" pitchFamily="1" charset="-122"/>
              </a:rPr>
              <a:t>所有用户的全部文件目录保存在一张目录表中，每个文件的目录项占用一个表项。</a:t>
            </a:r>
            <a:endParaRPr lang="zh-CN" altLang="en-US" b="1" smtClean="0">
              <a:effectLst>
                <a:outerShdw blurRad="38100" dist="38100" dir="2700000" algn="tl">
                  <a:srgbClr val="000000"/>
                </a:outerShdw>
              </a:effectLst>
              <a:ea typeface="仿宋_GB2312" pitchFamily="1" charset="-122"/>
            </a:endParaRPr>
          </a:p>
          <a:p>
            <a:pPr eaLnBrk="1" hangingPunct="1">
              <a:buFont typeface="Wingdings" panose="05000000000000000000" pitchFamily="2" charset="2"/>
              <a:buNone/>
              <a:defRPr/>
            </a:pPr>
            <a:r>
              <a:rPr lang="zh-CN" altLang="en-US" smtClean="0"/>
              <a:t> </a:t>
            </a:r>
            <a:endParaRPr lang="zh-CN" altLang="en-US" smtClean="0"/>
          </a:p>
        </p:txBody>
      </p:sp>
      <p:sp>
        <p:nvSpPr>
          <p:cNvPr id="61444" name="Rectangle 19"/>
          <p:cNvSpPr>
            <a:spLocks noChangeArrowheads="1"/>
          </p:cNvSpPr>
          <p:nvPr/>
        </p:nvSpPr>
        <p:spPr bwMode="auto">
          <a:xfrm>
            <a:off x="611188" y="2709863"/>
            <a:ext cx="7993062" cy="3671887"/>
          </a:xfrm>
          <a:prstGeom prst="rect">
            <a:avLst/>
          </a:prstGeom>
          <a:solidFill>
            <a:schemeClr val="tx2">
              <a:lumMod val="20000"/>
              <a:lumOff val="80000"/>
            </a:schemeClr>
          </a:solidFill>
          <a:ln w="9525">
            <a:solidFill>
              <a:schemeClr val="tx1"/>
            </a:solidFill>
            <a:miter lim="800000"/>
          </a:ln>
        </p:spPr>
        <p:txBody>
          <a:bodyPr wrap="none" anchor="ctr"/>
          <a:lstStyle/>
          <a:p>
            <a:endParaRPr lang="zh-CN" altLang="en-US"/>
          </a:p>
        </p:txBody>
      </p:sp>
      <p:grpSp>
        <p:nvGrpSpPr>
          <p:cNvPr id="2" name="Group 20"/>
          <p:cNvGrpSpPr/>
          <p:nvPr/>
        </p:nvGrpSpPr>
        <p:grpSpPr bwMode="auto">
          <a:xfrm>
            <a:off x="2555875" y="2900363"/>
            <a:ext cx="3692525" cy="3552825"/>
            <a:chOff x="0" y="0"/>
            <a:chExt cx="4503" cy="3588"/>
          </a:xfrm>
        </p:grpSpPr>
        <p:sp>
          <p:nvSpPr>
            <p:cNvPr id="61446" name="Line 21"/>
            <p:cNvSpPr>
              <a:spLocks noChangeShapeType="1"/>
            </p:cNvSpPr>
            <p:nvPr/>
          </p:nvSpPr>
          <p:spPr bwMode="auto">
            <a:xfrm>
              <a:off x="1260" y="780"/>
              <a:ext cx="1620" cy="0"/>
            </a:xfrm>
            <a:prstGeom prst="line">
              <a:avLst/>
            </a:prstGeom>
            <a:noFill/>
            <a:ln w="9525">
              <a:solidFill>
                <a:srgbClr val="000000"/>
              </a:solidFill>
              <a:round/>
              <a:tailEnd type="triangle" w="med" len="med"/>
            </a:ln>
          </p:spPr>
          <p:txBody>
            <a:bodyPr/>
            <a:lstStyle/>
            <a:p>
              <a:endParaRPr lang="zh-CN" altLang="en-US"/>
            </a:p>
          </p:txBody>
        </p:sp>
        <p:sp>
          <p:nvSpPr>
            <p:cNvPr id="61447" name="Text Box 22"/>
            <p:cNvSpPr txBox="1">
              <a:spLocks noChangeArrowheads="1"/>
            </p:cNvSpPr>
            <p:nvPr/>
          </p:nvSpPr>
          <p:spPr bwMode="auto">
            <a:xfrm>
              <a:off x="0" y="0"/>
              <a:ext cx="1260" cy="468"/>
            </a:xfrm>
            <a:prstGeom prst="rect">
              <a:avLst/>
            </a:prstGeom>
            <a:noFill/>
            <a:ln w="9525">
              <a:solidFill>
                <a:srgbClr val="000000"/>
              </a:solidFill>
              <a:miter lim="800000"/>
            </a:ln>
          </p:spPr>
          <p:txBody>
            <a:bodyPr/>
            <a:lstStyle/>
            <a:p>
              <a:pPr algn="just" eaLnBrk="0" hangingPunct="0"/>
              <a:r>
                <a:rPr lang="zh-CN" altLang="en-US" sz="1600" b="1">
                  <a:solidFill>
                    <a:srgbClr val="000000"/>
                  </a:solidFill>
                  <a:latin typeface="Times New Roman" panose="02020603050405020304" pitchFamily="18" charset="0"/>
                </a:rPr>
                <a:t>目录项</a:t>
              </a:r>
              <a:r>
                <a:rPr lang="en-US" altLang="zh-CN" sz="1600" b="1">
                  <a:solidFill>
                    <a:srgbClr val="000000"/>
                  </a:solidFill>
                  <a:latin typeface="Times New Roman" panose="02020603050405020304" pitchFamily="18" charset="0"/>
                </a:rPr>
                <a:t>1</a:t>
              </a:r>
              <a:endParaRPr lang="en-US" altLang="zh-CN" sz="1600" b="1">
                <a:solidFill>
                  <a:srgbClr val="000000"/>
                </a:solidFill>
                <a:latin typeface="Times New Roman" panose="02020603050405020304" pitchFamily="18" charset="0"/>
              </a:endParaRPr>
            </a:p>
          </p:txBody>
        </p:sp>
        <p:sp>
          <p:nvSpPr>
            <p:cNvPr id="61448" name="Text Box 23"/>
            <p:cNvSpPr txBox="1">
              <a:spLocks noChangeArrowheads="1"/>
            </p:cNvSpPr>
            <p:nvPr/>
          </p:nvSpPr>
          <p:spPr bwMode="auto">
            <a:xfrm>
              <a:off x="0" y="468"/>
              <a:ext cx="1260" cy="468"/>
            </a:xfrm>
            <a:prstGeom prst="rect">
              <a:avLst/>
            </a:prstGeom>
            <a:noFill/>
            <a:ln w="9525">
              <a:solidFill>
                <a:srgbClr val="000000"/>
              </a:solidFill>
              <a:miter lim="800000"/>
            </a:ln>
          </p:spPr>
          <p:txBody>
            <a:bodyPr/>
            <a:lstStyle/>
            <a:p>
              <a:pPr algn="just" eaLnBrk="0" hangingPunct="0"/>
              <a:r>
                <a:rPr lang="zh-CN" altLang="en-US" sz="1600" b="1" dirty="0">
                  <a:solidFill>
                    <a:srgbClr val="000000"/>
                  </a:solidFill>
                  <a:latin typeface="Times New Roman" panose="02020603050405020304" pitchFamily="18" charset="0"/>
                </a:rPr>
                <a:t>目录项</a:t>
              </a:r>
              <a:r>
                <a:rPr lang="en-US" altLang="zh-CN" sz="1600" b="1" dirty="0">
                  <a:solidFill>
                    <a:srgbClr val="000000"/>
                  </a:solidFill>
                  <a:latin typeface="Times New Roman" panose="02020603050405020304" pitchFamily="18" charset="0"/>
                </a:rPr>
                <a:t>2</a:t>
              </a:r>
              <a:endParaRPr lang="en-US" altLang="zh-CN" sz="1600" b="1" dirty="0">
                <a:solidFill>
                  <a:srgbClr val="000000"/>
                </a:solidFill>
                <a:latin typeface="Times New Roman" panose="02020603050405020304" pitchFamily="18" charset="0"/>
              </a:endParaRPr>
            </a:p>
          </p:txBody>
        </p:sp>
        <p:sp>
          <p:nvSpPr>
            <p:cNvPr id="61449" name="Text Box 24"/>
            <p:cNvSpPr txBox="1">
              <a:spLocks noChangeArrowheads="1"/>
            </p:cNvSpPr>
            <p:nvPr/>
          </p:nvSpPr>
          <p:spPr bwMode="auto">
            <a:xfrm>
              <a:off x="0" y="1404"/>
              <a:ext cx="1260" cy="936"/>
            </a:xfrm>
            <a:prstGeom prst="rect">
              <a:avLst/>
            </a:prstGeom>
            <a:noFill/>
            <a:ln w="9525">
              <a:solidFill>
                <a:srgbClr val="000000"/>
              </a:solidFill>
              <a:miter lim="800000"/>
            </a:ln>
          </p:spPr>
          <p:txBody>
            <a:bodyPr/>
            <a:lstStyle/>
            <a:p>
              <a:pPr algn="ctr" eaLnBrk="0" hangingPunct="0"/>
              <a:endParaRPr lang="en-US" altLang="zh-CN" sz="1000">
                <a:solidFill>
                  <a:srgbClr val="000000"/>
                </a:solidFill>
                <a:latin typeface="Times New Roman" panose="02020603050405020304" pitchFamily="18" charset="0"/>
              </a:endParaRPr>
            </a:p>
            <a:p>
              <a:pPr algn="ctr" eaLnBrk="0" hangingPunct="0"/>
              <a:r>
                <a:rPr lang="en-US" altLang="zh-CN" sz="2400" b="1">
                  <a:solidFill>
                    <a:srgbClr val="000000"/>
                  </a:solidFill>
                  <a:latin typeface="Times New Roman" panose="02020603050405020304" pitchFamily="18" charset="0"/>
                </a:rPr>
                <a:t>…</a:t>
              </a:r>
              <a:endParaRPr lang="en-US" altLang="zh-CN" sz="2400" b="1">
                <a:solidFill>
                  <a:srgbClr val="000000"/>
                </a:solidFill>
                <a:latin typeface="Times New Roman" panose="02020603050405020304" pitchFamily="18" charset="0"/>
              </a:endParaRPr>
            </a:p>
          </p:txBody>
        </p:sp>
        <p:sp>
          <p:nvSpPr>
            <p:cNvPr id="61450" name="Text Box 25"/>
            <p:cNvSpPr txBox="1">
              <a:spLocks noChangeArrowheads="1"/>
            </p:cNvSpPr>
            <p:nvPr/>
          </p:nvSpPr>
          <p:spPr bwMode="auto">
            <a:xfrm>
              <a:off x="1797" y="156"/>
              <a:ext cx="723" cy="312"/>
            </a:xfrm>
            <a:prstGeom prst="rect">
              <a:avLst/>
            </a:prstGeom>
            <a:noFill/>
            <a:ln w="9525">
              <a:solidFill>
                <a:srgbClr val="000000"/>
              </a:solidFill>
              <a:miter lim="800000"/>
            </a:ln>
          </p:spPr>
          <p:txBody>
            <a:bodyPr lIns="0" tIns="0" rIns="0" bIns="0"/>
            <a:lstStyle/>
            <a:p>
              <a:pPr algn="just" eaLnBrk="0" hangingPunct="0"/>
              <a:r>
                <a:rPr lang="en-US" altLang="zh-CN" sz="1600" b="1">
                  <a:solidFill>
                    <a:srgbClr val="000000"/>
                  </a:solidFill>
                  <a:latin typeface="Times New Roman" panose="02020603050405020304" pitchFamily="18" charset="0"/>
                </a:rPr>
                <a:t>File 1</a:t>
              </a:r>
              <a:endParaRPr lang="en-US" altLang="zh-CN" sz="1600" b="1">
                <a:solidFill>
                  <a:srgbClr val="000000"/>
                </a:solidFill>
                <a:latin typeface="Times New Roman" panose="02020603050405020304" pitchFamily="18" charset="0"/>
              </a:endParaRPr>
            </a:p>
          </p:txBody>
        </p:sp>
        <p:sp>
          <p:nvSpPr>
            <p:cNvPr id="61451" name="Line 26"/>
            <p:cNvSpPr>
              <a:spLocks noChangeShapeType="1"/>
            </p:cNvSpPr>
            <p:nvPr/>
          </p:nvSpPr>
          <p:spPr bwMode="auto">
            <a:xfrm>
              <a:off x="1260" y="312"/>
              <a:ext cx="540" cy="0"/>
            </a:xfrm>
            <a:prstGeom prst="line">
              <a:avLst/>
            </a:prstGeom>
            <a:noFill/>
            <a:ln w="9525">
              <a:solidFill>
                <a:srgbClr val="000000"/>
              </a:solidFill>
              <a:round/>
              <a:tailEnd type="triangle" w="med" len="med"/>
            </a:ln>
          </p:spPr>
          <p:txBody>
            <a:bodyPr/>
            <a:lstStyle/>
            <a:p>
              <a:endParaRPr lang="zh-CN" altLang="en-US"/>
            </a:p>
          </p:txBody>
        </p:sp>
        <p:sp>
          <p:nvSpPr>
            <p:cNvPr id="61452" name="Line 27"/>
            <p:cNvSpPr>
              <a:spLocks noChangeShapeType="1"/>
            </p:cNvSpPr>
            <p:nvPr/>
          </p:nvSpPr>
          <p:spPr bwMode="auto">
            <a:xfrm>
              <a:off x="1260" y="1248"/>
              <a:ext cx="2520" cy="0"/>
            </a:xfrm>
            <a:prstGeom prst="line">
              <a:avLst/>
            </a:prstGeom>
            <a:noFill/>
            <a:ln w="9525">
              <a:solidFill>
                <a:srgbClr val="000000"/>
              </a:solidFill>
              <a:round/>
              <a:tailEnd type="triangle" w="med" len="med"/>
            </a:ln>
          </p:spPr>
          <p:txBody>
            <a:bodyPr/>
            <a:lstStyle/>
            <a:p>
              <a:endParaRPr lang="zh-CN" altLang="en-US"/>
            </a:p>
          </p:txBody>
        </p:sp>
        <p:sp>
          <p:nvSpPr>
            <p:cNvPr id="61453" name="Text Box 28"/>
            <p:cNvSpPr txBox="1">
              <a:spLocks noChangeArrowheads="1"/>
            </p:cNvSpPr>
            <p:nvPr/>
          </p:nvSpPr>
          <p:spPr bwMode="auto">
            <a:xfrm>
              <a:off x="0" y="936"/>
              <a:ext cx="1260" cy="468"/>
            </a:xfrm>
            <a:prstGeom prst="rect">
              <a:avLst/>
            </a:prstGeom>
            <a:noFill/>
            <a:ln w="9525">
              <a:solidFill>
                <a:srgbClr val="000000"/>
              </a:solidFill>
              <a:miter lim="800000"/>
            </a:ln>
          </p:spPr>
          <p:txBody>
            <a:bodyPr/>
            <a:lstStyle/>
            <a:p>
              <a:pPr algn="just" eaLnBrk="0" hangingPunct="0"/>
              <a:r>
                <a:rPr lang="zh-CN" altLang="en-US" sz="1600" b="1">
                  <a:solidFill>
                    <a:srgbClr val="000000"/>
                  </a:solidFill>
                  <a:latin typeface="Times New Roman" panose="02020603050405020304" pitchFamily="18" charset="0"/>
                </a:rPr>
                <a:t>目录项</a:t>
              </a:r>
              <a:r>
                <a:rPr lang="en-US" altLang="zh-CN" sz="1600" b="1">
                  <a:solidFill>
                    <a:srgbClr val="000000"/>
                  </a:solidFill>
                  <a:latin typeface="Times New Roman" panose="02020603050405020304" pitchFamily="18" charset="0"/>
                </a:rPr>
                <a:t>3</a:t>
              </a:r>
              <a:endParaRPr lang="en-US" altLang="zh-CN" sz="1600" b="1">
                <a:solidFill>
                  <a:srgbClr val="000000"/>
                </a:solidFill>
                <a:latin typeface="Times New Roman" panose="02020603050405020304" pitchFamily="18" charset="0"/>
              </a:endParaRPr>
            </a:p>
          </p:txBody>
        </p:sp>
        <p:sp>
          <p:nvSpPr>
            <p:cNvPr id="61454" name="Line 29"/>
            <p:cNvSpPr>
              <a:spLocks noChangeShapeType="1"/>
            </p:cNvSpPr>
            <p:nvPr/>
          </p:nvSpPr>
          <p:spPr bwMode="auto">
            <a:xfrm>
              <a:off x="1260" y="2652"/>
              <a:ext cx="1620" cy="0"/>
            </a:xfrm>
            <a:prstGeom prst="line">
              <a:avLst/>
            </a:prstGeom>
            <a:noFill/>
            <a:ln w="9525">
              <a:solidFill>
                <a:srgbClr val="000000"/>
              </a:solidFill>
              <a:round/>
              <a:tailEnd type="triangle" w="med" len="med"/>
            </a:ln>
          </p:spPr>
          <p:txBody>
            <a:bodyPr/>
            <a:lstStyle/>
            <a:p>
              <a:endParaRPr lang="zh-CN" altLang="en-US"/>
            </a:p>
          </p:txBody>
        </p:sp>
        <p:sp>
          <p:nvSpPr>
            <p:cNvPr id="61455" name="Text Box 30"/>
            <p:cNvSpPr txBox="1">
              <a:spLocks noChangeArrowheads="1"/>
            </p:cNvSpPr>
            <p:nvPr/>
          </p:nvSpPr>
          <p:spPr bwMode="auto">
            <a:xfrm>
              <a:off x="0" y="2340"/>
              <a:ext cx="1260" cy="468"/>
            </a:xfrm>
            <a:prstGeom prst="rect">
              <a:avLst/>
            </a:prstGeom>
            <a:noFill/>
            <a:ln w="9525">
              <a:solidFill>
                <a:srgbClr val="000000"/>
              </a:solidFill>
              <a:miter lim="800000"/>
            </a:ln>
          </p:spPr>
          <p:txBody>
            <a:bodyPr/>
            <a:lstStyle/>
            <a:p>
              <a:pPr algn="just" eaLnBrk="0" hangingPunct="0"/>
              <a:r>
                <a:rPr lang="zh-CN" altLang="en-US" sz="1600" b="1">
                  <a:solidFill>
                    <a:srgbClr val="000000"/>
                  </a:solidFill>
                  <a:latin typeface="Times New Roman" panose="02020603050405020304" pitchFamily="18" charset="0"/>
                </a:rPr>
                <a:t>目录项</a:t>
              </a:r>
              <a:r>
                <a:rPr lang="en-US" altLang="zh-CN" sz="1600" b="1">
                  <a:solidFill>
                    <a:srgbClr val="000000"/>
                  </a:solidFill>
                  <a:latin typeface="Times New Roman" panose="02020603050405020304" pitchFamily="18" charset="0"/>
                </a:rPr>
                <a:t>n</a:t>
              </a:r>
              <a:endParaRPr lang="en-US" altLang="zh-CN" sz="1600" b="1">
                <a:solidFill>
                  <a:srgbClr val="000000"/>
                </a:solidFill>
                <a:latin typeface="Times New Roman" panose="02020603050405020304" pitchFamily="18" charset="0"/>
              </a:endParaRPr>
            </a:p>
          </p:txBody>
        </p:sp>
        <p:sp>
          <p:nvSpPr>
            <p:cNvPr id="61456" name="Text Box 31"/>
            <p:cNvSpPr txBox="1">
              <a:spLocks noChangeArrowheads="1"/>
            </p:cNvSpPr>
            <p:nvPr/>
          </p:nvSpPr>
          <p:spPr bwMode="auto">
            <a:xfrm>
              <a:off x="2877" y="624"/>
              <a:ext cx="723" cy="312"/>
            </a:xfrm>
            <a:prstGeom prst="rect">
              <a:avLst/>
            </a:prstGeom>
            <a:noFill/>
            <a:ln w="9525">
              <a:solidFill>
                <a:srgbClr val="000000"/>
              </a:solidFill>
              <a:miter lim="800000"/>
            </a:ln>
          </p:spPr>
          <p:txBody>
            <a:bodyPr lIns="0" tIns="0" rIns="0" bIns="0"/>
            <a:lstStyle/>
            <a:p>
              <a:pPr algn="just" eaLnBrk="0" hangingPunct="0"/>
              <a:r>
                <a:rPr lang="en-US" altLang="zh-CN" sz="1600" b="1">
                  <a:solidFill>
                    <a:srgbClr val="000000"/>
                  </a:solidFill>
                  <a:latin typeface="Times New Roman" panose="02020603050405020304" pitchFamily="18" charset="0"/>
                </a:rPr>
                <a:t>File 2</a:t>
              </a:r>
              <a:endParaRPr lang="en-US" altLang="zh-CN" sz="1600" b="1">
                <a:solidFill>
                  <a:srgbClr val="000000"/>
                </a:solidFill>
                <a:latin typeface="Times New Roman" panose="02020603050405020304" pitchFamily="18" charset="0"/>
              </a:endParaRPr>
            </a:p>
          </p:txBody>
        </p:sp>
        <p:sp>
          <p:nvSpPr>
            <p:cNvPr id="61457" name="Text Box 32"/>
            <p:cNvSpPr txBox="1">
              <a:spLocks noChangeArrowheads="1"/>
            </p:cNvSpPr>
            <p:nvPr/>
          </p:nvSpPr>
          <p:spPr bwMode="auto">
            <a:xfrm>
              <a:off x="3780" y="1092"/>
              <a:ext cx="723" cy="312"/>
            </a:xfrm>
            <a:prstGeom prst="rect">
              <a:avLst/>
            </a:prstGeom>
            <a:noFill/>
            <a:ln w="9525">
              <a:solidFill>
                <a:srgbClr val="000000"/>
              </a:solidFill>
              <a:miter lim="800000"/>
            </a:ln>
          </p:spPr>
          <p:txBody>
            <a:bodyPr lIns="0" tIns="0" rIns="0" bIns="0"/>
            <a:lstStyle/>
            <a:p>
              <a:pPr algn="just" eaLnBrk="0" hangingPunct="0"/>
              <a:r>
                <a:rPr lang="en-US" altLang="zh-CN" sz="1600" b="1">
                  <a:solidFill>
                    <a:srgbClr val="000000"/>
                  </a:solidFill>
                  <a:latin typeface="Times New Roman" panose="02020603050405020304" pitchFamily="18" charset="0"/>
                </a:rPr>
                <a:t>File 3</a:t>
              </a:r>
              <a:endParaRPr lang="en-US" altLang="zh-CN" sz="1600" b="1">
                <a:solidFill>
                  <a:srgbClr val="000000"/>
                </a:solidFill>
                <a:latin typeface="Times New Roman" panose="02020603050405020304" pitchFamily="18" charset="0"/>
              </a:endParaRPr>
            </a:p>
          </p:txBody>
        </p:sp>
        <p:sp>
          <p:nvSpPr>
            <p:cNvPr id="61458" name="Text Box 33"/>
            <p:cNvSpPr txBox="1">
              <a:spLocks noChangeArrowheads="1"/>
            </p:cNvSpPr>
            <p:nvPr/>
          </p:nvSpPr>
          <p:spPr bwMode="auto">
            <a:xfrm>
              <a:off x="2880" y="2496"/>
              <a:ext cx="723" cy="312"/>
            </a:xfrm>
            <a:prstGeom prst="rect">
              <a:avLst/>
            </a:prstGeom>
            <a:noFill/>
            <a:ln w="9525">
              <a:solidFill>
                <a:srgbClr val="000000"/>
              </a:solidFill>
              <a:miter lim="800000"/>
            </a:ln>
          </p:spPr>
          <p:txBody>
            <a:bodyPr lIns="0" tIns="0" rIns="0" bIns="0"/>
            <a:lstStyle/>
            <a:p>
              <a:pPr algn="just" eaLnBrk="0" hangingPunct="0"/>
              <a:r>
                <a:rPr lang="en-US" altLang="zh-CN" sz="1600" b="1">
                  <a:solidFill>
                    <a:srgbClr val="000000"/>
                  </a:solidFill>
                  <a:latin typeface="Times New Roman" panose="02020603050405020304" pitchFamily="18" charset="0"/>
                </a:rPr>
                <a:t>File n</a:t>
              </a:r>
              <a:endParaRPr lang="en-US" altLang="zh-CN" sz="1600" b="1">
                <a:solidFill>
                  <a:srgbClr val="000000"/>
                </a:solidFill>
                <a:latin typeface="Times New Roman" panose="02020603050405020304" pitchFamily="18" charset="0"/>
              </a:endParaRPr>
            </a:p>
          </p:txBody>
        </p:sp>
        <p:sp>
          <p:nvSpPr>
            <p:cNvPr id="61459" name="Text Box 34"/>
            <p:cNvSpPr txBox="1">
              <a:spLocks noChangeArrowheads="1"/>
            </p:cNvSpPr>
            <p:nvPr/>
          </p:nvSpPr>
          <p:spPr bwMode="auto">
            <a:xfrm>
              <a:off x="0" y="3120"/>
              <a:ext cx="4500" cy="468"/>
            </a:xfrm>
            <a:prstGeom prst="rect">
              <a:avLst/>
            </a:prstGeom>
            <a:noFill/>
            <a:ln w="9525">
              <a:noFill/>
              <a:miter lim="800000"/>
            </a:ln>
          </p:spPr>
          <p:txBody>
            <a:bodyPr/>
            <a:lstStyle/>
            <a:p>
              <a:pPr algn="ctr" eaLnBrk="0" hangingPunct="0"/>
              <a:r>
                <a:rPr lang="zh-CN" altLang="en-US" sz="2400" b="1">
                  <a:solidFill>
                    <a:srgbClr val="000000"/>
                  </a:solidFill>
                  <a:latin typeface="Times New Roman" panose="02020603050405020304" pitchFamily="18" charset="0"/>
                </a:rPr>
                <a:t>图   单级目录结构</a:t>
              </a:r>
              <a:endParaRPr lang="zh-CN" altLang="en-US" sz="2400" b="1">
                <a:solidFill>
                  <a:srgbClr val="000000"/>
                </a:solidFill>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3250"/>
                                        </p:tgtEl>
                                        <p:attrNameLst>
                                          <p:attrName>style.visibility</p:attrName>
                                        </p:attrNameLst>
                                      </p:cBhvr>
                                      <p:to>
                                        <p:strVal val="visible"/>
                                      </p:to>
                                    </p:set>
                                    <p:animEffect transition="in" filter="fade">
                                      <p:cBhvr>
                                        <p:cTn id="7" dur="2000"/>
                                        <p:tgtEl>
                                          <p:spTgt spid="532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3251">
                                            <p:txEl>
                                              <p:pRg st="0" end="0"/>
                                            </p:txEl>
                                          </p:spTgt>
                                        </p:tgtEl>
                                        <p:attrNameLst>
                                          <p:attrName>style.visibility</p:attrName>
                                        </p:attrNameLst>
                                      </p:cBhvr>
                                      <p:to>
                                        <p:strVal val="visible"/>
                                      </p:to>
                                    </p:set>
                                    <p:animEffect transition="in" filter="fade">
                                      <p:cBhvr>
                                        <p:cTn id="12" dur="2000"/>
                                        <p:tgtEl>
                                          <p:spTgt spid="5325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3251">
                                            <p:txEl>
                                              <p:pRg st="1" end="1"/>
                                            </p:txEl>
                                          </p:spTgt>
                                        </p:tgtEl>
                                        <p:attrNameLst>
                                          <p:attrName>style.visibility</p:attrName>
                                        </p:attrNameLst>
                                      </p:cBhvr>
                                      <p:to>
                                        <p:strVal val="visible"/>
                                      </p:to>
                                    </p:set>
                                    <p:animEffect transition="in" filter="fade">
                                      <p:cBhvr>
                                        <p:cTn id="17" dur="2000"/>
                                        <p:tgtEl>
                                          <p:spTgt spid="5325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autoUpdateAnimBg="0"/>
      <p:bldP spid="53251" grpId="0" autoUpdateAnimBg="0" build="p"/>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2"/>
          <p:cNvSpPr>
            <a:spLocks noGrp="1" noRot="1" noChangeArrowheads="1"/>
          </p:cNvSpPr>
          <p:nvPr>
            <p:ph type="title" idx="4294967295"/>
          </p:nvPr>
        </p:nvSpPr>
        <p:spPr/>
        <p:txBody>
          <a:bodyPr/>
          <a:lstStyle/>
          <a:p>
            <a:pPr eaLnBrk="1" hangingPunct="1">
              <a:defRPr/>
            </a:pPr>
            <a:r>
              <a:rPr lang="zh-CN" b="1" u="sng" smtClean="0">
                <a:solidFill>
                  <a:schemeClr val="folHlink"/>
                </a:solidFill>
                <a:effectLst>
                  <a:outerShdw blurRad="38100" dist="38100" dir="2700000" algn="tl">
                    <a:srgbClr val="000000"/>
                  </a:outerShdw>
                </a:effectLst>
                <a:ea typeface="仿宋_GB2312" pitchFamily="1" charset="-122"/>
              </a:rPr>
              <a:t>单级目录结构分析</a:t>
            </a:r>
            <a:endParaRPr lang="zh-CN" b="1" u="sng" smtClean="0">
              <a:solidFill>
                <a:schemeClr val="folHlink"/>
              </a:solidFill>
              <a:effectLst>
                <a:outerShdw blurRad="38100" dist="38100" dir="2700000" algn="tl">
                  <a:srgbClr val="000000"/>
                </a:outerShdw>
              </a:effectLst>
              <a:ea typeface="仿宋_GB2312" pitchFamily="1" charset="-122"/>
            </a:endParaRPr>
          </a:p>
        </p:txBody>
      </p:sp>
      <p:sp>
        <p:nvSpPr>
          <p:cNvPr id="62467" name="Rectangle 3"/>
          <p:cNvSpPr>
            <a:spLocks noGrp="1" noRot="1" noChangeArrowheads="1"/>
          </p:cNvSpPr>
          <p:nvPr>
            <p:ph type="body" idx="4294967295"/>
          </p:nvPr>
        </p:nvSpPr>
        <p:spPr/>
        <p:txBody>
          <a:bodyPr/>
          <a:lstStyle/>
          <a:p>
            <a:pPr eaLnBrk="1" hangingPunct="1"/>
            <a:r>
              <a:rPr lang="zh-CN" altLang="en-US" b="1" smtClean="0"/>
              <a:t>单级目录的优点是简单且能实现目录管理的基本功能</a:t>
            </a:r>
            <a:r>
              <a:rPr lang="en-US" altLang="zh-CN" b="1" smtClean="0"/>
              <a:t>——</a:t>
            </a:r>
            <a:r>
              <a:rPr lang="zh-CN" altLang="en-US" b="1" smtClean="0"/>
              <a:t>按名存取，但却存在下述一些缺点：</a:t>
            </a:r>
            <a:endParaRPr lang="zh-CN" altLang="en-US" b="1" smtClean="0"/>
          </a:p>
          <a:p>
            <a:pPr eaLnBrk="1" hangingPunct="1"/>
            <a:r>
              <a:rPr lang="zh-CN" altLang="en-US" b="1" smtClean="0"/>
              <a:t>      </a:t>
            </a:r>
            <a:r>
              <a:rPr lang="en-US" altLang="zh-CN" b="1" smtClean="0"/>
              <a:t>(1) </a:t>
            </a:r>
            <a:r>
              <a:rPr lang="zh-CN" altLang="en-US" b="1" smtClean="0"/>
              <a:t>查找速度慢 </a:t>
            </a:r>
            <a:endParaRPr lang="zh-CN" altLang="en-US" b="1" smtClean="0"/>
          </a:p>
          <a:p>
            <a:pPr eaLnBrk="1" hangingPunct="1"/>
            <a:r>
              <a:rPr lang="zh-CN" altLang="en-US" b="1" smtClean="0"/>
              <a:t>      </a:t>
            </a:r>
            <a:r>
              <a:rPr lang="en-US" altLang="zh-CN" b="1" smtClean="0"/>
              <a:t>(2) </a:t>
            </a:r>
            <a:r>
              <a:rPr lang="zh-CN" altLang="en-US" b="1" smtClean="0"/>
              <a:t>不允许重名 </a:t>
            </a:r>
            <a:endParaRPr lang="zh-CN" altLang="en-US" b="1" smtClean="0"/>
          </a:p>
          <a:p>
            <a:pPr eaLnBrk="1" hangingPunct="1"/>
            <a:r>
              <a:rPr lang="zh-CN" altLang="en-US" b="1" smtClean="0"/>
              <a:t>      </a:t>
            </a:r>
            <a:r>
              <a:rPr lang="en-US" altLang="zh-CN" b="1" smtClean="0"/>
              <a:t>(3) </a:t>
            </a:r>
            <a:r>
              <a:rPr lang="zh-CN" altLang="en-US" b="1" smtClean="0"/>
              <a:t>不便于实现文件共享 </a:t>
            </a:r>
            <a:endParaRPr lang="zh-CN" altLang="en-US" b="1"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4274"/>
                                        </p:tgtEl>
                                        <p:attrNameLst>
                                          <p:attrName>style.visibility</p:attrName>
                                        </p:attrNameLst>
                                      </p:cBhvr>
                                      <p:to>
                                        <p:strVal val="visible"/>
                                      </p:to>
                                    </p:set>
                                    <p:animEffect transition="in" filter="fade">
                                      <p:cBhvr>
                                        <p:cTn id="7" dur="2000"/>
                                        <p:tgtEl>
                                          <p:spTgt spid="542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2467">
                                            <p:txEl>
                                              <p:pRg st="0" end="0"/>
                                            </p:txEl>
                                          </p:spTgt>
                                        </p:tgtEl>
                                        <p:attrNameLst>
                                          <p:attrName>style.visibility</p:attrName>
                                        </p:attrNameLst>
                                      </p:cBhvr>
                                      <p:to>
                                        <p:strVal val="visible"/>
                                      </p:to>
                                    </p:set>
                                    <p:animEffect transition="in" filter="fade">
                                      <p:cBhvr>
                                        <p:cTn id="12" dur="2000"/>
                                        <p:tgtEl>
                                          <p:spTgt spid="6246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2467">
                                            <p:txEl>
                                              <p:pRg st="1" end="1"/>
                                            </p:txEl>
                                          </p:spTgt>
                                        </p:tgtEl>
                                        <p:attrNameLst>
                                          <p:attrName>style.visibility</p:attrName>
                                        </p:attrNameLst>
                                      </p:cBhvr>
                                      <p:to>
                                        <p:strVal val="visible"/>
                                      </p:to>
                                    </p:set>
                                    <p:animEffect transition="in" filter="fade">
                                      <p:cBhvr>
                                        <p:cTn id="17" dur="2000"/>
                                        <p:tgtEl>
                                          <p:spTgt spid="6246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2467">
                                            <p:txEl>
                                              <p:pRg st="2" end="2"/>
                                            </p:txEl>
                                          </p:spTgt>
                                        </p:tgtEl>
                                        <p:attrNameLst>
                                          <p:attrName>style.visibility</p:attrName>
                                        </p:attrNameLst>
                                      </p:cBhvr>
                                      <p:to>
                                        <p:strVal val="visible"/>
                                      </p:to>
                                    </p:set>
                                    <p:animEffect transition="in" filter="fade">
                                      <p:cBhvr>
                                        <p:cTn id="22" dur="2000"/>
                                        <p:tgtEl>
                                          <p:spTgt spid="6246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2467">
                                            <p:txEl>
                                              <p:pRg st="3" end="3"/>
                                            </p:txEl>
                                          </p:spTgt>
                                        </p:tgtEl>
                                        <p:attrNameLst>
                                          <p:attrName>style.visibility</p:attrName>
                                        </p:attrNameLst>
                                      </p:cBhvr>
                                      <p:to>
                                        <p:strVal val="visible"/>
                                      </p:to>
                                    </p:set>
                                    <p:animEffect transition="in" filter="fade">
                                      <p:cBhvr>
                                        <p:cTn id="27" dur="2000"/>
                                        <p:tgtEl>
                                          <p:spTgt spid="624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autoUpdateAnimBg="0"/>
      <p:bldP spid="62467" grpId="0" autoUpdateAnimBg="0" build="p"/>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Rectangle 2"/>
          <p:cNvSpPr>
            <a:spLocks noGrp="1" noRot="1" noChangeArrowheads="1"/>
          </p:cNvSpPr>
          <p:nvPr>
            <p:ph type="title" idx="4294967295"/>
          </p:nvPr>
        </p:nvSpPr>
        <p:spPr>
          <a:xfrm>
            <a:off x="533400" y="44450"/>
            <a:ext cx="8077200" cy="1066800"/>
          </a:xfrm>
        </p:spPr>
        <p:txBody>
          <a:bodyPr/>
          <a:lstStyle/>
          <a:p>
            <a:pPr eaLnBrk="1" hangingPunct="1">
              <a:defRPr/>
            </a:pPr>
            <a:r>
              <a:rPr lang="zh-CN" b="1" u="sng" smtClean="0">
                <a:solidFill>
                  <a:schemeClr val="folHlink"/>
                </a:solidFill>
                <a:effectLst>
                  <a:outerShdw blurRad="38100" dist="38100" dir="2700000" algn="tl">
                    <a:srgbClr val="000000"/>
                  </a:outerShdw>
                </a:effectLst>
                <a:ea typeface="仿宋_GB2312" pitchFamily="1" charset="-122"/>
              </a:rPr>
              <a:t>两级目录结构</a:t>
            </a:r>
            <a:endParaRPr lang="zh-CN" b="1" u="sng" smtClean="0">
              <a:solidFill>
                <a:schemeClr val="folHlink"/>
              </a:solidFill>
              <a:effectLst>
                <a:outerShdw blurRad="38100" dist="38100" dir="2700000" algn="tl">
                  <a:srgbClr val="000000"/>
                </a:outerShdw>
              </a:effectLst>
              <a:ea typeface="仿宋_GB2312" pitchFamily="1" charset="-122"/>
            </a:endParaRPr>
          </a:p>
        </p:txBody>
      </p:sp>
      <p:sp>
        <p:nvSpPr>
          <p:cNvPr id="55299" name="Rectangle 3"/>
          <p:cNvSpPr>
            <a:spLocks noGrp="1" noRot="1" noChangeArrowheads="1"/>
          </p:cNvSpPr>
          <p:nvPr>
            <p:ph type="body" idx="4294967295"/>
          </p:nvPr>
        </p:nvSpPr>
        <p:spPr>
          <a:xfrm>
            <a:off x="533400" y="1260475"/>
            <a:ext cx="8077200" cy="4498975"/>
          </a:xfrm>
        </p:spPr>
        <p:txBody>
          <a:bodyPr/>
          <a:lstStyle/>
          <a:p>
            <a:pPr eaLnBrk="1" hangingPunct="1">
              <a:defRPr/>
            </a:pPr>
            <a:r>
              <a:rPr lang="zh-CN" b="1" smtClean="0">
                <a:effectLst>
                  <a:outerShdw blurRad="38100" dist="38100" dir="2700000" algn="tl">
                    <a:srgbClr val="000000"/>
                  </a:outerShdw>
                </a:effectLst>
                <a:ea typeface="仿宋_GB2312" pitchFamily="1" charset="-122"/>
              </a:rPr>
              <a:t>主文件目录、用户文件目录</a:t>
            </a:r>
            <a:endParaRPr lang="zh-CN" b="1" smtClean="0">
              <a:effectLst>
                <a:outerShdw blurRad="38100" dist="38100" dir="2700000" algn="tl">
                  <a:srgbClr val="000000"/>
                </a:outerShdw>
              </a:effectLst>
              <a:ea typeface="仿宋_GB2312" pitchFamily="1" charset="-122"/>
            </a:endParaRPr>
          </a:p>
        </p:txBody>
      </p:sp>
      <p:sp>
        <p:nvSpPr>
          <p:cNvPr id="63492" name="Rectangle 39"/>
          <p:cNvSpPr>
            <a:spLocks noChangeArrowheads="1"/>
          </p:cNvSpPr>
          <p:nvPr/>
        </p:nvSpPr>
        <p:spPr bwMode="auto">
          <a:xfrm>
            <a:off x="468313" y="1916113"/>
            <a:ext cx="8135937" cy="4537075"/>
          </a:xfrm>
          <a:prstGeom prst="rect">
            <a:avLst/>
          </a:prstGeom>
          <a:solidFill>
            <a:schemeClr val="tx2">
              <a:lumMod val="20000"/>
              <a:lumOff val="80000"/>
            </a:schemeClr>
          </a:solidFill>
          <a:ln w="9525">
            <a:solidFill>
              <a:schemeClr val="tx1"/>
            </a:solidFill>
            <a:miter lim="800000"/>
          </a:ln>
        </p:spPr>
        <p:txBody>
          <a:bodyPr wrap="none" anchor="ctr"/>
          <a:lstStyle/>
          <a:p>
            <a:endParaRPr lang="zh-CN" altLang="en-US"/>
          </a:p>
        </p:txBody>
      </p:sp>
      <p:grpSp>
        <p:nvGrpSpPr>
          <p:cNvPr id="2" name="Group 40"/>
          <p:cNvGrpSpPr/>
          <p:nvPr/>
        </p:nvGrpSpPr>
        <p:grpSpPr bwMode="auto">
          <a:xfrm>
            <a:off x="1042988" y="2025650"/>
            <a:ext cx="6572250" cy="4643438"/>
            <a:chOff x="0" y="0"/>
            <a:chExt cx="6840" cy="3744"/>
          </a:xfrm>
        </p:grpSpPr>
        <p:grpSp>
          <p:nvGrpSpPr>
            <p:cNvPr id="3" name="Group 41"/>
            <p:cNvGrpSpPr/>
            <p:nvPr/>
          </p:nvGrpSpPr>
          <p:grpSpPr bwMode="auto">
            <a:xfrm>
              <a:off x="177" y="0"/>
              <a:ext cx="6663" cy="2964"/>
              <a:chOff x="0" y="0"/>
              <a:chExt cx="6663" cy="2964"/>
            </a:xfrm>
          </p:grpSpPr>
          <p:grpSp>
            <p:nvGrpSpPr>
              <p:cNvPr id="4" name="Group 42"/>
              <p:cNvGrpSpPr/>
              <p:nvPr/>
            </p:nvGrpSpPr>
            <p:grpSpPr bwMode="auto">
              <a:xfrm>
                <a:off x="2520" y="468"/>
                <a:ext cx="1083" cy="2340"/>
                <a:chOff x="0" y="0"/>
                <a:chExt cx="1083" cy="2340"/>
              </a:xfrm>
            </p:grpSpPr>
            <p:sp>
              <p:nvSpPr>
                <p:cNvPr id="63522" name="Text Box 43"/>
                <p:cNvSpPr txBox="1">
                  <a:spLocks noChangeArrowheads="1"/>
                </p:cNvSpPr>
                <p:nvPr/>
              </p:nvSpPr>
              <p:spPr bwMode="auto">
                <a:xfrm>
                  <a:off x="0" y="312"/>
                  <a:ext cx="1080" cy="312"/>
                </a:xfrm>
                <a:prstGeom prst="rect">
                  <a:avLst/>
                </a:prstGeom>
                <a:noFill/>
                <a:ln w="9525">
                  <a:solidFill>
                    <a:srgbClr val="000000"/>
                  </a:solidFill>
                  <a:miter lim="800000"/>
                </a:ln>
              </p:spPr>
              <p:txBody>
                <a:bodyPr lIns="0" tIns="0" rIns="0" bIns="0"/>
                <a:lstStyle/>
                <a:p>
                  <a:pPr algn="ctr" eaLnBrk="0" hangingPunct="0"/>
                  <a:r>
                    <a:rPr lang="en-US" altLang="zh-CN" sz="1600" b="1">
                      <a:solidFill>
                        <a:srgbClr val="000000"/>
                      </a:solidFill>
                      <a:latin typeface="Times New Roman" panose="02020603050405020304" pitchFamily="18" charset="0"/>
                    </a:rPr>
                    <a:t>System</a:t>
                  </a:r>
                  <a:endParaRPr lang="en-US" altLang="zh-CN" sz="1600" b="1">
                    <a:solidFill>
                      <a:srgbClr val="000000"/>
                    </a:solidFill>
                    <a:latin typeface="Times New Roman" panose="02020603050405020304" pitchFamily="18" charset="0"/>
                  </a:endParaRPr>
                </a:p>
              </p:txBody>
            </p:sp>
            <p:sp>
              <p:nvSpPr>
                <p:cNvPr id="63523" name="Text Box 44"/>
                <p:cNvSpPr txBox="1">
                  <a:spLocks noChangeArrowheads="1"/>
                </p:cNvSpPr>
                <p:nvPr/>
              </p:nvSpPr>
              <p:spPr bwMode="auto">
                <a:xfrm>
                  <a:off x="3" y="624"/>
                  <a:ext cx="1080" cy="312"/>
                </a:xfrm>
                <a:prstGeom prst="rect">
                  <a:avLst/>
                </a:prstGeom>
                <a:noFill/>
                <a:ln w="9525">
                  <a:solidFill>
                    <a:srgbClr val="000000"/>
                  </a:solidFill>
                  <a:miter lim="800000"/>
                </a:ln>
              </p:spPr>
              <p:txBody>
                <a:bodyPr lIns="0" tIns="0" rIns="0" bIns="0"/>
                <a:lstStyle/>
                <a:p>
                  <a:pPr algn="ctr" eaLnBrk="0" hangingPunct="0"/>
                  <a:r>
                    <a:rPr lang="en-US" altLang="zh-CN" sz="1600" b="1">
                      <a:solidFill>
                        <a:srgbClr val="000000"/>
                      </a:solidFill>
                      <a:latin typeface="Times New Roman" panose="02020603050405020304" pitchFamily="18" charset="0"/>
                    </a:rPr>
                    <a:t>User 1</a:t>
                  </a:r>
                  <a:endParaRPr lang="en-US" altLang="zh-CN" sz="1600" b="1">
                    <a:solidFill>
                      <a:srgbClr val="000000"/>
                    </a:solidFill>
                    <a:latin typeface="Times New Roman" panose="02020603050405020304" pitchFamily="18" charset="0"/>
                  </a:endParaRPr>
                </a:p>
              </p:txBody>
            </p:sp>
            <p:sp>
              <p:nvSpPr>
                <p:cNvPr id="63524" name="Text Box 45"/>
                <p:cNvSpPr txBox="1">
                  <a:spLocks noChangeArrowheads="1"/>
                </p:cNvSpPr>
                <p:nvPr/>
              </p:nvSpPr>
              <p:spPr bwMode="auto">
                <a:xfrm>
                  <a:off x="3" y="936"/>
                  <a:ext cx="1080" cy="312"/>
                </a:xfrm>
                <a:prstGeom prst="rect">
                  <a:avLst/>
                </a:prstGeom>
                <a:noFill/>
                <a:ln w="9525">
                  <a:solidFill>
                    <a:srgbClr val="000000"/>
                  </a:solidFill>
                  <a:miter lim="800000"/>
                </a:ln>
              </p:spPr>
              <p:txBody>
                <a:bodyPr lIns="0" tIns="0" rIns="0" bIns="0"/>
                <a:lstStyle/>
                <a:p>
                  <a:pPr algn="ctr" eaLnBrk="0" hangingPunct="0"/>
                  <a:r>
                    <a:rPr lang="en-US" altLang="zh-CN" sz="1600" b="1">
                      <a:solidFill>
                        <a:srgbClr val="000000"/>
                      </a:solidFill>
                      <a:latin typeface="Times New Roman" panose="02020603050405020304" pitchFamily="18" charset="0"/>
                    </a:rPr>
                    <a:t>User 2</a:t>
                  </a:r>
                  <a:endParaRPr lang="en-US" altLang="zh-CN" sz="1600" b="1">
                    <a:solidFill>
                      <a:srgbClr val="000000"/>
                    </a:solidFill>
                    <a:latin typeface="Times New Roman" panose="02020603050405020304" pitchFamily="18" charset="0"/>
                  </a:endParaRPr>
                </a:p>
              </p:txBody>
            </p:sp>
            <p:sp>
              <p:nvSpPr>
                <p:cNvPr id="63525" name="Text Box 46"/>
                <p:cNvSpPr txBox="1">
                  <a:spLocks noChangeArrowheads="1"/>
                </p:cNvSpPr>
                <p:nvPr/>
              </p:nvSpPr>
              <p:spPr bwMode="auto">
                <a:xfrm>
                  <a:off x="3" y="1248"/>
                  <a:ext cx="1080" cy="312"/>
                </a:xfrm>
                <a:prstGeom prst="rect">
                  <a:avLst/>
                </a:prstGeom>
                <a:noFill/>
                <a:ln w="9525">
                  <a:solidFill>
                    <a:srgbClr val="000000"/>
                  </a:solidFill>
                  <a:miter lim="800000"/>
                </a:ln>
              </p:spPr>
              <p:txBody>
                <a:bodyPr lIns="0" tIns="0" rIns="0" bIns="0"/>
                <a:lstStyle/>
                <a:p>
                  <a:pPr algn="ctr" eaLnBrk="0" hangingPunct="0"/>
                  <a:r>
                    <a:rPr lang="en-US" altLang="zh-CN" sz="1600" b="1">
                      <a:solidFill>
                        <a:srgbClr val="000000"/>
                      </a:solidFill>
                      <a:latin typeface="Times New Roman" panose="02020603050405020304" pitchFamily="18" charset="0"/>
                    </a:rPr>
                    <a:t>User 3</a:t>
                  </a:r>
                  <a:endParaRPr lang="en-US" altLang="zh-CN" sz="1600" b="1">
                    <a:solidFill>
                      <a:srgbClr val="000000"/>
                    </a:solidFill>
                    <a:latin typeface="Times New Roman" panose="02020603050405020304" pitchFamily="18" charset="0"/>
                  </a:endParaRPr>
                </a:p>
              </p:txBody>
            </p:sp>
            <p:sp>
              <p:nvSpPr>
                <p:cNvPr id="63526" name="Text Box 47"/>
                <p:cNvSpPr txBox="1">
                  <a:spLocks noChangeArrowheads="1"/>
                </p:cNvSpPr>
                <p:nvPr/>
              </p:nvSpPr>
              <p:spPr bwMode="auto">
                <a:xfrm>
                  <a:off x="3" y="1560"/>
                  <a:ext cx="1080" cy="780"/>
                </a:xfrm>
                <a:prstGeom prst="rect">
                  <a:avLst/>
                </a:prstGeom>
                <a:noFill/>
                <a:ln w="9525">
                  <a:solidFill>
                    <a:srgbClr val="000000"/>
                  </a:solidFill>
                  <a:miter lim="800000"/>
                </a:ln>
              </p:spPr>
              <p:txBody>
                <a:bodyPr lIns="0" tIns="0" rIns="0" bIns="0"/>
                <a:lstStyle/>
                <a:p>
                  <a:pPr algn="ctr" eaLnBrk="0" hangingPunct="0"/>
                  <a:r>
                    <a:rPr lang="en-US" altLang="zh-CN" sz="2400" b="1">
                      <a:solidFill>
                        <a:srgbClr val="000000"/>
                      </a:solidFill>
                      <a:latin typeface="Times New Roman" panose="02020603050405020304" pitchFamily="18" charset="0"/>
                    </a:rPr>
                    <a:t>…</a:t>
                  </a:r>
                  <a:endParaRPr lang="en-US" altLang="zh-CN" sz="2400" b="1">
                    <a:solidFill>
                      <a:srgbClr val="000000"/>
                    </a:solidFill>
                    <a:latin typeface="Times New Roman" panose="02020603050405020304" pitchFamily="18" charset="0"/>
                  </a:endParaRPr>
                </a:p>
              </p:txBody>
            </p:sp>
            <p:sp>
              <p:nvSpPr>
                <p:cNvPr id="63527" name="Text Box 48"/>
                <p:cNvSpPr txBox="1">
                  <a:spLocks noChangeArrowheads="1"/>
                </p:cNvSpPr>
                <p:nvPr/>
              </p:nvSpPr>
              <p:spPr bwMode="auto">
                <a:xfrm>
                  <a:off x="0" y="0"/>
                  <a:ext cx="1080" cy="312"/>
                </a:xfrm>
                <a:prstGeom prst="rect">
                  <a:avLst/>
                </a:prstGeom>
                <a:noFill/>
                <a:ln w="9525">
                  <a:noFill/>
                  <a:miter lim="800000"/>
                </a:ln>
              </p:spPr>
              <p:txBody>
                <a:bodyPr lIns="0" tIns="0" rIns="0" bIns="0"/>
                <a:lstStyle/>
                <a:p>
                  <a:pPr algn="ctr" eaLnBrk="0" hangingPunct="0"/>
                  <a:r>
                    <a:rPr lang="zh-CN" altLang="en-US" sz="1600" b="1">
                      <a:solidFill>
                        <a:srgbClr val="000000"/>
                      </a:solidFill>
                      <a:latin typeface="Times New Roman" panose="02020603050405020304" pitchFamily="18" charset="0"/>
                    </a:rPr>
                    <a:t>主目录</a:t>
                  </a:r>
                  <a:endParaRPr lang="zh-CN" altLang="en-US" sz="1600" b="1">
                    <a:solidFill>
                      <a:srgbClr val="000000"/>
                    </a:solidFill>
                    <a:latin typeface="Times New Roman" panose="02020603050405020304" pitchFamily="18" charset="0"/>
                  </a:endParaRPr>
                </a:p>
              </p:txBody>
            </p:sp>
          </p:grpSp>
          <p:grpSp>
            <p:nvGrpSpPr>
              <p:cNvPr id="5" name="Group 49"/>
              <p:cNvGrpSpPr/>
              <p:nvPr/>
            </p:nvGrpSpPr>
            <p:grpSpPr bwMode="auto">
              <a:xfrm>
                <a:off x="3420" y="0"/>
                <a:ext cx="3243" cy="1404"/>
                <a:chOff x="0" y="0"/>
                <a:chExt cx="3243" cy="1404"/>
              </a:xfrm>
            </p:grpSpPr>
            <p:grpSp>
              <p:nvGrpSpPr>
                <p:cNvPr id="6" name="Group 50"/>
                <p:cNvGrpSpPr/>
                <p:nvPr/>
              </p:nvGrpSpPr>
              <p:grpSpPr bwMode="auto">
                <a:xfrm>
                  <a:off x="2160" y="0"/>
                  <a:ext cx="1083" cy="1404"/>
                  <a:chOff x="0" y="0"/>
                  <a:chExt cx="1083" cy="1404"/>
                </a:xfrm>
              </p:grpSpPr>
              <p:sp>
                <p:nvSpPr>
                  <p:cNvPr id="63518" name="Text Box 51"/>
                  <p:cNvSpPr txBox="1">
                    <a:spLocks noChangeArrowheads="1"/>
                  </p:cNvSpPr>
                  <p:nvPr/>
                </p:nvSpPr>
                <p:spPr bwMode="auto">
                  <a:xfrm>
                    <a:off x="0" y="312"/>
                    <a:ext cx="1080" cy="312"/>
                  </a:xfrm>
                  <a:prstGeom prst="rect">
                    <a:avLst/>
                  </a:prstGeom>
                  <a:noFill/>
                  <a:ln w="9525">
                    <a:solidFill>
                      <a:srgbClr val="000000"/>
                    </a:solidFill>
                    <a:miter lim="800000"/>
                  </a:ln>
                </p:spPr>
                <p:txBody>
                  <a:bodyPr lIns="0" tIns="0" rIns="0" bIns="0"/>
                  <a:lstStyle/>
                  <a:p>
                    <a:pPr algn="ctr" eaLnBrk="0" hangingPunct="0"/>
                    <a:r>
                      <a:rPr lang="en-US" altLang="zh-CN" sz="1600" b="1">
                        <a:solidFill>
                          <a:srgbClr val="000000"/>
                        </a:solidFill>
                        <a:latin typeface="Times New Roman" panose="02020603050405020304" pitchFamily="18" charset="0"/>
                      </a:rPr>
                      <a:t>File 1</a:t>
                    </a:r>
                    <a:endParaRPr lang="en-US" altLang="zh-CN" sz="1600" b="1">
                      <a:solidFill>
                        <a:srgbClr val="000000"/>
                      </a:solidFill>
                      <a:latin typeface="Times New Roman" panose="02020603050405020304" pitchFamily="18" charset="0"/>
                    </a:endParaRPr>
                  </a:p>
                </p:txBody>
              </p:sp>
              <p:sp>
                <p:nvSpPr>
                  <p:cNvPr id="63519" name="Text Box 52"/>
                  <p:cNvSpPr txBox="1">
                    <a:spLocks noChangeArrowheads="1"/>
                  </p:cNvSpPr>
                  <p:nvPr/>
                </p:nvSpPr>
                <p:spPr bwMode="auto">
                  <a:xfrm>
                    <a:off x="3" y="624"/>
                    <a:ext cx="1080" cy="312"/>
                  </a:xfrm>
                  <a:prstGeom prst="rect">
                    <a:avLst/>
                  </a:prstGeom>
                  <a:noFill/>
                  <a:ln w="9525">
                    <a:solidFill>
                      <a:srgbClr val="000000"/>
                    </a:solidFill>
                    <a:miter lim="800000"/>
                  </a:ln>
                </p:spPr>
                <p:txBody>
                  <a:bodyPr lIns="0" tIns="0" rIns="0" bIns="0"/>
                  <a:lstStyle/>
                  <a:p>
                    <a:pPr algn="ctr" eaLnBrk="0" hangingPunct="0"/>
                    <a:r>
                      <a:rPr lang="en-US" altLang="zh-CN" sz="1600" b="1">
                        <a:solidFill>
                          <a:srgbClr val="000000"/>
                        </a:solidFill>
                        <a:latin typeface="Times New Roman" panose="02020603050405020304" pitchFamily="18" charset="0"/>
                      </a:rPr>
                      <a:t>File 2</a:t>
                    </a:r>
                    <a:endParaRPr lang="en-US" altLang="zh-CN" sz="1600" b="1">
                      <a:solidFill>
                        <a:srgbClr val="000000"/>
                      </a:solidFill>
                      <a:latin typeface="Times New Roman" panose="02020603050405020304" pitchFamily="18" charset="0"/>
                    </a:endParaRPr>
                  </a:p>
                </p:txBody>
              </p:sp>
              <p:sp>
                <p:nvSpPr>
                  <p:cNvPr id="63520" name="Text Box 53"/>
                  <p:cNvSpPr txBox="1">
                    <a:spLocks noChangeArrowheads="1"/>
                  </p:cNvSpPr>
                  <p:nvPr/>
                </p:nvSpPr>
                <p:spPr bwMode="auto">
                  <a:xfrm>
                    <a:off x="3" y="936"/>
                    <a:ext cx="1080" cy="468"/>
                  </a:xfrm>
                  <a:prstGeom prst="rect">
                    <a:avLst/>
                  </a:prstGeom>
                  <a:noFill/>
                  <a:ln w="9525">
                    <a:solidFill>
                      <a:srgbClr val="000000"/>
                    </a:solidFill>
                    <a:miter lim="800000"/>
                  </a:ln>
                </p:spPr>
                <p:txBody>
                  <a:bodyPr lIns="0" tIns="0" rIns="0" bIns="0"/>
                  <a:lstStyle/>
                  <a:p>
                    <a:pPr algn="ctr" eaLnBrk="0" hangingPunct="0"/>
                    <a:r>
                      <a:rPr lang="en-US" altLang="zh-CN" sz="2400" b="1">
                        <a:solidFill>
                          <a:srgbClr val="000000"/>
                        </a:solidFill>
                        <a:latin typeface="Times New Roman" panose="02020603050405020304" pitchFamily="18" charset="0"/>
                      </a:rPr>
                      <a:t>…</a:t>
                    </a:r>
                    <a:endParaRPr lang="en-US" altLang="zh-CN" sz="2400" b="1">
                      <a:solidFill>
                        <a:srgbClr val="000000"/>
                      </a:solidFill>
                      <a:latin typeface="Times New Roman" panose="02020603050405020304" pitchFamily="18" charset="0"/>
                    </a:endParaRPr>
                  </a:p>
                </p:txBody>
              </p:sp>
              <p:sp>
                <p:nvSpPr>
                  <p:cNvPr id="63521" name="Text Box 54"/>
                  <p:cNvSpPr txBox="1">
                    <a:spLocks noChangeArrowheads="1"/>
                  </p:cNvSpPr>
                  <p:nvPr/>
                </p:nvSpPr>
                <p:spPr bwMode="auto">
                  <a:xfrm>
                    <a:off x="0" y="0"/>
                    <a:ext cx="1080" cy="312"/>
                  </a:xfrm>
                  <a:prstGeom prst="rect">
                    <a:avLst/>
                  </a:prstGeom>
                  <a:noFill/>
                  <a:ln w="9525">
                    <a:noFill/>
                    <a:miter lim="800000"/>
                  </a:ln>
                </p:spPr>
                <p:txBody>
                  <a:bodyPr lIns="0" tIns="0" rIns="0" bIns="0"/>
                  <a:lstStyle/>
                  <a:p>
                    <a:pPr algn="ctr" eaLnBrk="0" hangingPunct="0"/>
                    <a:r>
                      <a:rPr lang="en-US" altLang="zh-CN" sz="1600" b="1">
                        <a:solidFill>
                          <a:srgbClr val="000000"/>
                        </a:solidFill>
                        <a:latin typeface="Times New Roman" panose="02020603050405020304" pitchFamily="18" charset="0"/>
                      </a:rPr>
                      <a:t>User 1</a:t>
                    </a:r>
                    <a:r>
                      <a:rPr lang="zh-CN" altLang="en-US" sz="1600" b="1">
                        <a:solidFill>
                          <a:srgbClr val="000000"/>
                        </a:solidFill>
                        <a:latin typeface="Times New Roman" panose="02020603050405020304" pitchFamily="18" charset="0"/>
                      </a:rPr>
                      <a:t>目录</a:t>
                    </a:r>
                    <a:endParaRPr lang="zh-CN" altLang="en-US" sz="1600" b="1">
                      <a:solidFill>
                        <a:srgbClr val="000000"/>
                      </a:solidFill>
                      <a:latin typeface="Times New Roman" panose="02020603050405020304" pitchFamily="18" charset="0"/>
                    </a:endParaRPr>
                  </a:p>
                </p:txBody>
              </p:sp>
            </p:grpSp>
            <p:sp>
              <p:nvSpPr>
                <p:cNvPr id="63515" name="Line 55"/>
                <p:cNvSpPr>
                  <a:spLocks noChangeShapeType="1"/>
                </p:cNvSpPr>
                <p:nvPr/>
              </p:nvSpPr>
              <p:spPr bwMode="auto">
                <a:xfrm>
                  <a:off x="0" y="1248"/>
                  <a:ext cx="720" cy="0"/>
                </a:xfrm>
                <a:prstGeom prst="line">
                  <a:avLst/>
                </a:prstGeom>
                <a:noFill/>
                <a:ln w="9525">
                  <a:solidFill>
                    <a:srgbClr val="000000"/>
                  </a:solidFill>
                  <a:round/>
                </a:ln>
              </p:spPr>
              <p:txBody>
                <a:bodyPr/>
                <a:lstStyle/>
                <a:p>
                  <a:endParaRPr lang="zh-CN" altLang="en-US"/>
                </a:p>
              </p:txBody>
            </p:sp>
            <p:sp>
              <p:nvSpPr>
                <p:cNvPr id="63516" name="Line 56"/>
                <p:cNvSpPr>
                  <a:spLocks noChangeShapeType="1"/>
                </p:cNvSpPr>
                <p:nvPr/>
              </p:nvSpPr>
              <p:spPr bwMode="auto">
                <a:xfrm flipV="1">
                  <a:off x="720" y="312"/>
                  <a:ext cx="0" cy="936"/>
                </a:xfrm>
                <a:prstGeom prst="line">
                  <a:avLst/>
                </a:prstGeom>
                <a:noFill/>
                <a:ln w="9525">
                  <a:solidFill>
                    <a:srgbClr val="000000"/>
                  </a:solidFill>
                  <a:round/>
                </a:ln>
              </p:spPr>
              <p:txBody>
                <a:bodyPr/>
                <a:lstStyle/>
                <a:p>
                  <a:endParaRPr lang="zh-CN" altLang="en-US"/>
                </a:p>
              </p:txBody>
            </p:sp>
            <p:sp>
              <p:nvSpPr>
                <p:cNvPr id="63517" name="Line 57"/>
                <p:cNvSpPr>
                  <a:spLocks noChangeShapeType="1"/>
                </p:cNvSpPr>
                <p:nvPr/>
              </p:nvSpPr>
              <p:spPr bwMode="auto">
                <a:xfrm>
                  <a:off x="720" y="312"/>
                  <a:ext cx="1440" cy="0"/>
                </a:xfrm>
                <a:prstGeom prst="line">
                  <a:avLst/>
                </a:prstGeom>
                <a:noFill/>
                <a:ln w="9525">
                  <a:solidFill>
                    <a:srgbClr val="000000"/>
                  </a:solidFill>
                  <a:round/>
                  <a:tailEnd type="triangle" w="med" len="med"/>
                </a:ln>
              </p:spPr>
              <p:txBody>
                <a:bodyPr/>
                <a:lstStyle/>
                <a:p>
                  <a:endParaRPr lang="zh-CN" altLang="en-US"/>
                </a:p>
              </p:txBody>
            </p:sp>
          </p:grpSp>
          <p:grpSp>
            <p:nvGrpSpPr>
              <p:cNvPr id="7" name="Group 58"/>
              <p:cNvGrpSpPr/>
              <p:nvPr/>
            </p:nvGrpSpPr>
            <p:grpSpPr bwMode="auto">
              <a:xfrm>
                <a:off x="3420" y="1560"/>
                <a:ext cx="3243" cy="1404"/>
                <a:chOff x="0" y="0"/>
                <a:chExt cx="3243" cy="1404"/>
              </a:xfrm>
            </p:grpSpPr>
            <p:grpSp>
              <p:nvGrpSpPr>
                <p:cNvPr id="8" name="Group 59"/>
                <p:cNvGrpSpPr/>
                <p:nvPr/>
              </p:nvGrpSpPr>
              <p:grpSpPr bwMode="auto">
                <a:xfrm>
                  <a:off x="2160" y="0"/>
                  <a:ext cx="1083" cy="1404"/>
                  <a:chOff x="0" y="0"/>
                  <a:chExt cx="1083" cy="1404"/>
                </a:xfrm>
              </p:grpSpPr>
              <p:sp>
                <p:nvSpPr>
                  <p:cNvPr id="63510" name="Text Box 60"/>
                  <p:cNvSpPr txBox="1">
                    <a:spLocks noChangeArrowheads="1"/>
                  </p:cNvSpPr>
                  <p:nvPr/>
                </p:nvSpPr>
                <p:spPr bwMode="auto">
                  <a:xfrm>
                    <a:off x="0" y="312"/>
                    <a:ext cx="1080" cy="312"/>
                  </a:xfrm>
                  <a:prstGeom prst="rect">
                    <a:avLst/>
                  </a:prstGeom>
                  <a:noFill/>
                  <a:ln w="9525">
                    <a:solidFill>
                      <a:srgbClr val="000000"/>
                    </a:solidFill>
                    <a:miter lim="800000"/>
                  </a:ln>
                </p:spPr>
                <p:txBody>
                  <a:bodyPr lIns="0" tIns="0" rIns="0" bIns="0"/>
                  <a:lstStyle/>
                  <a:p>
                    <a:pPr algn="ctr" eaLnBrk="0" hangingPunct="0"/>
                    <a:r>
                      <a:rPr lang="en-US" altLang="zh-CN" sz="1600" b="1">
                        <a:solidFill>
                          <a:srgbClr val="000000"/>
                        </a:solidFill>
                        <a:latin typeface="Times New Roman" panose="02020603050405020304" pitchFamily="18" charset="0"/>
                      </a:rPr>
                      <a:t>File 1</a:t>
                    </a:r>
                    <a:endParaRPr lang="en-US" altLang="zh-CN" sz="1600" b="1">
                      <a:solidFill>
                        <a:srgbClr val="000000"/>
                      </a:solidFill>
                      <a:latin typeface="Times New Roman" panose="02020603050405020304" pitchFamily="18" charset="0"/>
                    </a:endParaRPr>
                  </a:p>
                </p:txBody>
              </p:sp>
              <p:sp>
                <p:nvSpPr>
                  <p:cNvPr id="63511" name="Text Box 61"/>
                  <p:cNvSpPr txBox="1">
                    <a:spLocks noChangeArrowheads="1"/>
                  </p:cNvSpPr>
                  <p:nvPr/>
                </p:nvSpPr>
                <p:spPr bwMode="auto">
                  <a:xfrm>
                    <a:off x="3" y="624"/>
                    <a:ext cx="1080" cy="312"/>
                  </a:xfrm>
                  <a:prstGeom prst="rect">
                    <a:avLst/>
                  </a:prstGeom>
                  <a:noFill/>
                  <a:ln w="9525">
                    <a:solidFill>
                      <a:srgbClr val="000000"/>
                    </a:solidFill>
                    <a:miter lim="800000"/>
                  </a:ln>
                </p:spPr>
                <p:txBody>
                  <a:bodyPr lIns="0" tIns="0" rIns="0" bIns="0"/>
                  <a:lstStyle/>
                  <a:p>
                    <a:pPr algn="ctr" eaLnBrk="0" hangingPunct="0"/>
                    <a:r>
                      <a:rPr lang="en-US" altLang="zh-CN" sz="1600" b="1">
                        <a:solidFill>
                          <a:srgbClr val="000000"/>
                        </a:solidFill>
                        <a:latin typeface="Times New Roman" panose="02020603050405020304" pitchFamily="18" charset="0"/>
                      </a:rPr>
                      <a:t>File 2</a:t>
                    </a:r>
                    <a:endParaRPr lang="en-US" altLang="zh-CN" sz="1600" b="1">
                      <a:solidFill>
                        <a:srgbClr val="000000"/>
                      </a:solidFill>
                      <a:latin typeface="Times New Roman" panose="02020603050405020304" pitchFamily="18" charset="0"/>
                    </a:endParaRPr>
                  </a:p>
                </p:txBody>
              </p:sp>
              <p:sp>
                <p:nvSpPr>
                  <p:cNvPr id="63512" name="Text Box 62"/>
                  <p:cNvSpPr txBox="1">
                    <a:spLocks noChangeArrowheads="1"/>
                  </p:cNvSpPr>
                  <p:nvPr/>
                </p:nvSpPr>
                <p:spPr bwMode="auto">
                  <a:xfrm>
                    <a:off x="3" y="936"/>
                    <a:ext cx="1080" cy="468"/>
                  </a:xfrm>
                  <a:prstGeom prst="rect">
                    <a:avLst/>
                  </a:prstGeom>
                  <a:noFill/>
                  <a:ln w="9525">
                    <a:solidFill>
                      <a:srgbClr val="000000"/>
                    </a:solidFill>
                    <a:miter lim="800000"/>
                  </a:ln>
                </p:spPr>
                <p:txBody>
                  <a:bodyPr lIns="0" tIns="0" rIns="0" bIns="0"/>
                  <a:lstStyle/>
                  <a:p>
                    <a:pPr algn="ctr" eaLnBrk="0" hangingPunct="0"/>
                    <a:r>
                      <a:rPr lang="en-US" altLang="zh-CN" sz="2400" b="1">
                        <a:solidFill>
                          <a:srgbClr val="000000"/>
                        </a:solidFill>
                        <a:latin typeface="Times New Roman" panose="02020603050405020304" pitchFamily="18" charset="0"/>
                      </a:rPr>
                      <a:t>…</a:t>
                    </a:r>
                    <a:endParaRPr lang="en-US" altLang="zh-CN" sz="2400" b="1">
                      <a:solidFill>
                        <a:srgbClr val="000000"/>
                      </a:solidFill>
                      <a:latin typeface="Times New Roman" panose="02020603050405020304" pitchFamily="18" charset="0"/>
                    </a:endParaRPr>
                  </a:p>
                </p:txBody>
              </p:sp>
              <p:sp>
                <p:nvSpPr>
                  <p:cNvPr id="63513" name="Text Box 63"/>
                  <p:cNvSpPr txBox="1">
                    <a:spLocks noChangeArrowheads="1"/>
                  </p:cNvSpPr>
                  <p:nvPr/>
                </p:nvSpPr>
                <p:spPr bwMode="auto">
                  <a:xfrm>
                    <a:off x="0" y="0"/>
                    <a:ext cx="1080" cy="312"/>
                  </a:xfrm>
                  <a:prstGeom prst="rect">
                    <a:avLst/>
                  </a:prstGeom>
                  <a:noFill/>
                  <a:ln w="9525">
                    <a:noFill/>
                    <a:miter lim="800000"/>
                  </a:ln>
                </p:spPr>
                <p:txBody>
                  <a:bodyPr lIns="0" tIns="0" rIns="0" bIns="0"/>
                  <a:lstStyle/>
                  <a:p>
                    <a:pPr algn="ctr" eaLnBrk="0" hangingPunct="0"/>
                    <a:r>
                      <a:rPr lang="en-US" altLang="zh-CN" sz="1600" b="1">
                        <a:solidFill>
                          <a:srgbClr val="000000"/>
                        </a:solidFill>
                        <a:latin typeface="Times New Roman" panose="02020603050405020304" pitchFamily="18" charset="0"/>
                      </a:rPr>
                      <a:t>User 2</a:t>
                    </a:r>
                    <a:r>
                      <a:rPr lang="zh-CN" altLang="en-US" sz="1600" b="1">
                        <a:solidFill>
                          <a:srgbClr val="000000"/>
                        </a:solidFill>
                        <a:latin typeface="Times New Roman" panose="02020603050405020304" pitchFamily="18" charset="0"/>
                      </a:rPr>
                      <a:t>目录</a:t>
                    </a:r>
                    <a:endParaRPr lang="zh-CN" altLang="en-US" sz="1600" b="1">
                      <a:solidFill>
                        <a:srgbClr val="000000"/>
                      </a:solidFill>
                      <a:latin typeface="Times New Roman" panose="02020603050405020304" pitchFamily="18" charset="0"/>
                    </a:endParaRPr>
                  </a:p>
                </p:txBody>
              </p:sp>
            </p:grpSp>
            <p:sp>
              <p:nvSpPr>
                <p:cNvPr id="63507" name="Line 64"/>
                <p:cNvSpPr>
                  <a:spLocks noChangeShapeType="1"/>
                </p:cNvSpPr>
                <p:nvPr/>
              </p:nvSpPr>
              <p:spPr bwMode="auto">
                <a:xfrm>
                  <a:off x="0" y="0"/>
                  <a:ext cx="720" cy="0"/>
                </a:xfrm>
                <a:prstGeom prst="line">
                  <a:avLst/>
                </a:prstGeom>
                <a:noFill/>
                <a:ln w="9525">
                  <a:solidFill>
                    <a:srgbClr val="000000"/>
                  </a:solidFill>
                  <a:round/>
                </a:ln>
              </p:spPr>
              <p:txBody>
                <a:bodyPr/>
                <a:lstStyle/>
                <a:p>
                  <a:endParaRPr lang="zh-CN" altLang="en-US"/>
                </a:p>
              </p:txBody>
            </p:sp>
            <p:sp>
              <p:nvSpPr>
                <p:cNvPr id="63508" name="Line 65"/>
                <p:cNvSpPr>
                  <a:spLocks noChangeShapeType="1"/>
                </p:cNvSpPr>
                <p:nvPr/>
              </p:nvSpPr>
              <p:spPr bwMode="auto">
                <a:xfrm>
                  <a:off x="720" y="0"/>
                  <a:ext cx="0" cy="312"/>
                </a:xfrm>
                <a:prstGeom prst="line">
                  <a:avLst/>
                </a:prstGeom>
                <a:noFill/>
                <a:ln w="9525">
                  <a:solidFill>
                    <a:srgbClr val="000000"/>
                  </a:solidFill>
                  <a:round/>
                </a:ln>
              </p:spPr>
              <p:txBody>
                <a:bodyPr/>
                <a:lstStyle/>
                <a:p>
                  <a:endParaRPr lang="zh-CN" altLang="en-US"/>
                </a:p>
              </p:txBody>
            </p:sp>
            <p:sp>
              <p:nvSpPr>
                <p:cNvPr id="63509" name="Line 66"/>
                <p:cNvSpPr>
                  <a:spLocks noChangeShapeType="1"/>
                </p:cNvSpPr>
                <p:nvPr/>
              </p:nvSpPr>
              <p:spPr bwMode="auto">
                <a:xfrm>
                  <a:off x="720" y="312"/>
                  <a:ext cx="1440" cy="0"/>
                </a:xfrm>
                <a:prstGeom prst="line">
                  <a:avLst/>
                </a:prstGeom>
                <a:noFill/>
                <a:ln w="9525">
                  <a:solidFill>
                    <a:srgbClr val="000000"/>
                  </a:solidFill>
                  <a:round/>
                  <a:tailEnd type="triangle" w="med" len="med"/>
                </a:ln>
              </p:spPr>
              <p:txBody>
                <a:bodyPr/>
                <a:lstStyle/>
                <a:p>
                  <a:endParaRPr lang="zh-CN" altLang="en-US"/>
                </a:p>
              </p:txBody>
            </p:sp>
          </p:grpSp>
          <p:grpSp>
            <p:nvGrpSpPr>
              <p:cNvPr id="9" name="Group 67"/>
              <p:cNvGrpSpPr/>
              <p:nvPr/>
            </p:nvGrpSpPr>
            <p:grpSpPr bwMode="auto">
              <a:xfrm>
                <a:off x="0" y="1404"/>
                <a:ext cx="2703" cy="1404"/>
                <a:chOff x="0" y="0"/>
                <a:chExt cx="2703" cy="1404"/>
              </a:xfrm>
            </p:grpSpPr>
            <p:grpSp>
              <p:nvGrpSpPr>
                <p:cNvPr id="10" name="Group 68"/>
                <p:cNvGrpSpPr/>
                <p:nvPr/>
              </p:nvGrpSpPr>
              <p:grpSpPr bwMode="auto">
                <a:xfrm>
                  <a:off x="0" y="0"/>
                  <a:ext cx="1083" cy="1404"/>
                  <a:chOff x="0" y="0"/>
                  <a:chExt cx="1083" cy="1404"/>
                </a:xfrm>
              </p:grpSpPr>
              <p:sp>
                <p:nvSpPr>
                  <p:cNvPr id="63502" name="Text Box 69"/>
                  <p:cNvSpPr txBox="1">
                    <a:spLocks noChangeArrowheads="1"/>
                  </p:cNvSpPr>
                  <p:nvPr/>
                </p:nvSpPr>
                <p:spPr bwMode="auto">
                  <a:xfrm>
                    <a:off x="0" y="312"/>
                    <a:ext cx="1080" cy="312"/>
                  </a:xfrm>
                  <a:prstGeom prst="rect">
                    <a:avLst/>
                  </a:prstGeom>
                  <a:noFill/>
                  <a:ln w="9525">
                    <a:solidFill>
                      <a:srgbClr val="000000"/>
                    </a:solidFill>
                    <a:miter lim="800000"/>
                  </a:ln>
                </p:spPr>
                <p:txBody>
                  <a:bodyPr lIns="0" tIns="0" rIns="0" bIns="0"/>
                  <a:lstStyle/>
                  <a:p>
                    <a:pPr algn="ctr" eaLnBrk="0" hangingPunct="0"/>
                    <a:r>
                      <a:rPr lang="en-US" altLang="zh-CN" sz="1600" b="1">
                        <a:solidFill>
                          <a:srgbClr val="000000"/>
                        </a:solidFill>
                        <a:latin typeface="Times New Roman" panose="02020603050405020304" pitchFamily="18" charset="0"/>
                      </a:rPr>
                      <a:t>File 1</a:t>
                    </a:r>
                    <a:endParaRPr lang="en-US" altLang="zh-CN" sz="1600" b="1">
                      <a:solidFill>
                        <a:srgbClr val="000000"/>
                      </a:solidFill>
                      <a:latin typeface="Times New Roman" panose="02020603050405020304" pitchFamily="18" charset="0"/>
                    </a:endParaRPr>
                  </a:p>
                </p:txBody>
              </p:sp>
              <p:sp>
                <p:nvSpPr>
                  <p:cNvPr id="63503" name="Text Box 70"/>
                  <p:cNvSpPr txBox="1">
                    <a:spLocks noChangeArrowheads="1"/>
                  </p:cNvSpPr>
                  <p:nvPr/>
                </p:nvSpPr>
                <p:spPr bwMode="auto">
                  <a:xfrm>
                    <a:off x="3" y="624"/>
                    <a:ext cx="1080" cy="312"/>
                  </a:xfrm>
                  <a:prstGeom prst="rect">
                    <a:avLst/>
                  </a:prstGeom>
                  <a:noFill/>
                  <a:ln w="9525">
                    <a:solidFill>
                      <a:srgbClr val="000000"/>
                    </a:solidFill>
                    <a:miter lim="800000"/>
                  </a:ln>
                </p:spPr>
                <p:txBody>
                  <a:bodyPr lIns="0" tIns="0" rIns="0" bIns="0"/>
                  <a:lstStyle/>
                  <a:p>
                    <a:pPr algn="ctr" eaLnBrk="0" hangingPunct="0"/>
                    <a:r>
                      <a:rPr lang="en-US" altLang="zh-CN" sz="1600" b="1">
                        <a:solidFill>
                          <a:srgbClr val="000000"/>
                        </a:solidFill>
                        <a:latin typeface="Times New Roman" panose="02020603050405020304" pitchFamily="18" charset="0"/>
                      </a:rPr>
                      <a:t>File 2</a:t>
                    </a:r>
                    <a:endParaRPr lang="en-US" altLang="zh-CN" sz="1600" b="1">
                      <a:solidFill>
                        <a:srgbClr val="000000"/>
                      </a:solidFill>
                      <a:latin typeface="Times New Roman" panose="02020603050405020304" pitchFamily="18" charset="0"/>
                    </a:endParaRPr>
                  </a:p>
                </p:txBody>
              </p:sp>
              <p:sp>
                <p:nvSpPr>
                  <p:cNvPr id="63504" name="Text Box 71"/>
                  <p:cNvSpPr txBox="1">
                    <a:spLocks noChangeArrowheads="1"/>
                  </p:cNvSpPr>
                  <p:nvPr/>
                </p:nvSpPr>
                <p:spPr bwMode="auto">
                  <a:xfrm>
                    <a:off x="3" y="936"/>
                    <a:ext cx="1080" cy="468"/>
                  </a:xfrm>
                  <a:prstGeom prst="rect">
                    <a:avLst/>
                  </a:prstGeom>
                  <a:noFill/>
                  <a:ln w="9525">
                    <a:solidFill>
                      <a:srgbClr val="000000"/>
                    </a:solidFill>
                    <a:miter lim="800000"/>
                  </a:ln>
                </p:spPr>
                <p:txBody>
                  <a:bodyPr lIns="0" tIns="0" rIns="0" bIns="0"/>
                  <a:lstStyle/>
                  <a:p>
                    <a:pPr algn="ctr" eaLnBrk="0" hangingPunct="0"/>
                    <a:r>
                      <a:rPr lang="en-US" altLang="zh-CN" sz="2400" b="1">
                        <a:solidFill>
                          <a:srgbClr val="000000"/>
                        </a:solidFill>
                        <a:latin typeface="Times New Roman" panose="02020603050405020304" pitchFamily="18" charset="0"/>
                      </a:rPr>
                      <a:t>…</a:t>
                    </a:r>
                    <a:endParaRPr lang="en-US" altLang="zh-CN" sz="2400" b="1">
                      <a:solidFill>
                        <a:srgbClr val="000000"/>
                      </a:solidFill>
                      <a:latin typeface="Times New Roman" panose="02020603050405020304" pitchFamily="18" charset="0"/>
                    </a:endParaRPr>
                  </a:p>
                </p:txBody>
              </p:sp>
              <p:sp>
                <p:nvSpPr>
                  <p:cNvPr id="63505" name="Text Box 72"/>
                  <p:cNvSpPr txBox="1">
                    <a:spLocks noChangeArrowheads="1"/>
                  </p:cNvSpPr>
                  <p:nvPr/>
                </p:nvSpPr>
                <p:spPr bwMode="auto">
                  <a:xfrm>
                    <a:off x="0" y="0"/>
                    <a:ext cx="1080" cy="312"/>
                  </a:xfrm>
                  <a:prstGeom prst="rect">
                    <a:avLst/>
                  </a:prstGeom>
                  <a:noFill/>
                  <a:ln w="9525">
                    <a:noFill/>
                    <a:miter lim="800000"/>
                  </a:ln>
                </p:spPr>
                <p:txBody>
                  <a:bodyPr lIns="0" tIns="0" rIns="0" bIns="0"/>
                  <a:lstStyle/>
                  <a:p>
                    <a:pPr algn="ctr" eaLnBrk="0" hangingPunct="0"/>
                    <a:r>
                      <a:rPr lang="en-US" altLang="zh-CN" sz="1600" b="1">
                        <a:solidFill>
                          <a:srgbClr val="000000"/>
                        </a:solidFill>
                        <a:latin typeface="Times New Roman" panose="02020603050405020304" pitchFamily="18" charset="0"/>
                      </a:rPr>
                      <a:t>User 3</a:t>
                    </a:r>
                    <a:r>
                      <a:rPr lang="zh-CN" altLang="en-US" sz="1600" b="1">
                        <a:solidFill>
                          <a:srgbClr val="000000"/>
                        </a:solidFill>
                        <a:latin typeface="Times New Roman" panose="02020603050405020304" pitchFamily="18" charset="0"/>
                      </a:rPr>
                      <a:t>目录</a:t>
                    </a:r>
                    <a:endParaRPr lang="zh-CN" altLang="en-US" sz="1600" b="1">
                      <a:solidFill>
                        <a:srgbClr val="000000"/>
                      </a:solidFill>
                      <a:latin typeface="Times New Roman" panose="02020603050405020304" pitchFamily="18" charset="0"/>
                    </a:endParaRPr>
                  </a:p>
                </p:txBody>
              </p:sp>
            </p:grpSp>
            <p:sp>
              <p:nvSpPr>
                <p:cNvPr id="63501" name="Line 73"/>
                <p:cNvSpPr>
                  <a:spLocks noChangeShapeType="1"/>
                </p:cNvSpPr>
                <p:nvPr/>
              </p:nvSpPr>
              <p:spPr bwMode="auto">
                <a:xfrm flipH="1">
                  <a:off x="1083" y="468"/>
                  <a:ext cx="1620" cy="0"/>
                </a:xfrm>
                <a:prstGeom prst="line">
                  <a:avLst/>
                </a:prstGeom>
                <a:noFill/>
                <a:ln w="9525">
                  <a:solidFill>
                    <a:srgbClr val="000000"/>
                  </a:solidFill>
                  <a:round/>
                  <a:tailEnd type="triangle" w="med" len="med"/>
                </a:ln>
              </p:spPr>
              <p:txBody>
                <a:bodyPr/>
                <a:lstStyle/>
                <a:p>
                  <a:endParaRPr lang="zh-CN" altLang="en-US"/>
                </a:p>
              </p:txBody>
            </p:sp>
          </p:grpSp>
        </p:grpSp>
        <p:sp>
          <p:nvSpPr>
            <p:cNvPr id="63495" name="Text Box 74"/>
            <p:cNvSpPr txBox="1">
              <a:spLocks noChangeArrowheads="1"/>
            </p:cNvSpPr>
            <p:nvPr/>
          </p:nvSpPr>
          <p:spPr bwMode="auto">
            <a:xfrm>
              <a:off x="0" y="3120"/>
              <a:ext cx="6660" cy="624"/>
            </a:xfrm>
            <a:prstGeom prst="rect">
              <a:avLst/>
            </a:prstGeom>
            <a:noFill/>
            <a:ln w="9525">
              <a:noFill/>
              <a:miter lim="800000"/>
            </a:ln>
          </p:spPr>
          <p:txBody>
            <a:bodyPr/>
            <a:lstStyle/>
            <a:p>
              <a:pPr algn="ctr" eaLnBrk="0" hangingPunct="0"/>
              <a:r>
                <a:rPr lang="zh-CN" altLang="en-US" sz="2400" b="1">
                  <a:solidFill>
                    <a:srgbClr val="000000"/>
                  </a:solidFill>
                  <a:latin typeface="Times New Roman" panose="02020603050405020304" pitchFamily="18" charset="0"/>
                </a:rPr>
                <a:t>图 </a:t>
              </a:r>
              <a:r>
                <a:rPr lang="en-US" altLang="zh-CN" sz="2400" b="1">
                  <a:solidFill>
                    <a:srgbClr val="000000"/>
                  </a:solidFill>
                  <a:latin typeface="Times New Roman" panose="02020603050405020304" pitchFamily="18" charset="0"/>
                </a:rPr>
                <a:t>5.2    </a:t>
              </a:r>
              <a:r>
                <a:rPr lang="zh-CN" altLang="en-US" sz="2400" b="1">
                  <a:solidFill>
                    <a:srgbClr val="000000"/>
                  </a:solidFill>
                  <a:latin typeface="Times New Roman" panose="02020603050405020304" pitchFamily="18" charset="0"/>
                </a:rPr>
                <a:t>两级目录结构</a:t>
              </a:r>
              <a:endParaRPr lang="zh-CN" altLang="en-US" sz="2400" b="1">
                <a:solidFill>
                  <a:srgbClr val="000000"/>
                </a:solidFill>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5298"/>
                                        </p:tgtEl>
                                        <p:attrNameLst>
                                          <p:attrName>style.visibility</p:attrName>
                                        </p:attrNameLst>
                                      </p:cBhvr>
                                      <p:to>
                                        <p:strVal val="visible"/>
                                      </p:to>
                                    </p:set>
                                    <p:animEffect transition="in" filter="fade">
                                      <p:cBhvr>
                                        <p:cTn id="7" dur="2000"/>
                                        <p:tgtEl>
                                          <p:spTgt spid="552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5299">
                                            <p:txEl>
                                              <p:pRg st="0" end="0"/>
                                            </p:txEl>
                                          </p:spTgt>
                                        </p:tgtEl>
                                        <p:attrNameLst>
                                          <p:attrName>style.visibility</p:attrName>
                                        </p:attrNameLst>
                                      </p:cBhvr>
                                      <p:to>
                                        <p:strVal val="visible"/>
                                      </p:to>
                                    </p:set>
                                    <p:animEffect transition="in" filter="fade">
                                      <p:cBhvr>
                                        <p:cTn id="12" dur="2000"/>
                                        <p:tgtEl>
                                          <p:spTgt spid="5529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autoUpdateAnimBg="0"/>
      <p:bldP spid="55299" grpId="0" autoUpdateAnimBg="0" build="p"/>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Rectangle 2"/>
          <p:cNvSpPr>
            <a:spLocks noGrp="1" noRot="1" noChangeArrowheads="1"/>
          </p:cNvSpPr>
          <p:nvPr>
            <p:ph type="title" idx="4294967295"/>
          </p:nvPr>
        </p:nvSpPr>
        <p:spPr/>
        <p:txBody>
          <a:bodyPr/>
          <a:lstStyle/>
          <a:p>
            <a:pPr eaLnBrk="1" hangingPunct="1">
              <a:defRPr/>
            </a:pPr>
            <a:r>
              <a:rPr lang="zh-CN" b="1" u="sng" smtClean="0">
                <a:solidFill>
                  <a:schemeClr val="folHlink"/>
                </a:solidFill>
                <a:effectLst>
                  <a:outerShdw blurRad="38100" dist="38100" dir="2700000" algn="tl">
                    <a:srgbClr val="000000"/>
                  </a:outerShdw>
                </a:effectLst>
                <a:ea typeface="仿宋_GB2312" pitchFamily="1" charset="-122"/>
              </a:rPr>
              <a:t>两级目录结构分析</a:t>
            </a:r>
            <a:endParaRPr lang="zh-CN" b="1" u="sng" smtClean="0">
              <a:solidFill>
                <a:schemeClr val="folHlink"/>
              </a:solidFill>
              <a:effectLst>
                <a:outerShdw blurRad="38100" dist="38100" dir="2700000" algn="tl">
                  <a:srgbClr val="000000"/>
                </a:outerShdw>
              </a:effectLst>
              <a:ea typeface="仿宋_GB2312" pitchFamily="1" charset="-122"/>
            </a:endParaRPr>
          </a:p>
        </p:txBody>
      </p:sp>
      <p:sp>
        <p:nvSpPr>
          <p:cNvPr id="56323" name="Rectangle 3"/>
          <p:cNvSpPr>
            <a:spLocks noGrp="1" noRot="1" noChangeArrowheads="1"/>
          </p:cNvSpPr>
          <p:nvPr>
            <p:ph type="body" idx="4294967295"/>
          </p:nvPr>
        </p:nvSpPr>
        <p:spPr>
          <a:xfrm>
            <a:off x="533400" y="1196975"/>
            <a:ext cx="8077200" cy="4498975"/>
          </a:xfrm>
        </p:spPr>
        <p:txBody>
          <a:bodyPr/>
          <a:lstStyle/>
          <a:p>
            <a:pPr eaLnBrk="1" hangingPunct="1">
              <a:defRPr/>
            </a:pPr>
            <a:endParaRPr lang="en-US" b="1" smtClean="0">
              <a:effectLst>
                <a:outerShdw blurRad="38100" dist="38100" dir="2700000" algn="tl">
                  <a:srgbClr val="000000"/>
                </a:outerShdw>
              </a:effectLst>
              <a:ea typeface="仿宋_GB2312" pitchFamily="1" charset="-122"/>
            </a:endParaRPr>
          </a:p>
          <a:p>
            <a:pPr eaLnBrk="1" hangingPunct="1">
              <a:defRPr/>
            </a:pPr>
            <a:r>
              <a:rPr lang="zh-CN" altLang="en-US" b="1" smtClean="0">
                <a:effectLst>
                  <a:outerShdw blurRad="38100" dist="38100" dir="2700000" algn="tl">
                    <a:srgbClr val="000000"/>
                  </a:outerShdw>
                </a:effectLst>
                <a:ea typeface="仿宋_GB2312" pitchFamily="1" charset="-122"/>
              </a:rPr>
              <a:t>一定程度解决了重名问题</a:t>
            </a:r>
            <a:endParaRPr lang="zh-CN" altLang="en-US" b="1" smtClean="0">
              <a:effectLst>
                <a:outerShdw blurRad="38100" dist="38100" dir="2700000" algn="tl">
                  <a:srgbClr val="000000"/>
                </a:outerShdw>
              </a:effectLst>
              <a:ea typeface="仿宋_GB2312" pitchFamily="1" charset="-122"/>
            </a:endParaRPr>
          </a:p>
          <a:p>
            <a:pPr eaLnBrk="1" hangingPunct="1">
              <a:defRPr/>
            </a:pPr>
            <a:r>
              <a:rPr lang="zh-CN" altLang="en-US" b="1" smtClean="0">
                <a:effectLst>
                  <a:outerShdw blurRad="38100" dist="38100" dir="2700000" algn="tl">
                    <a:srgbClr val="000000"/>
                  </a:outerShdw>
                </a:effectLst>
                <a:ea typeface="仿宋_GB2312" pitchFamily="1" charset="-122"/>
              </a:rPr>
              <a:t>提高了文件目录检索效率</a:t>
            </a:r>
            <a:endParaRPr lang="zh-CN" altLang="en-US" b="1" smtClean="0">
              <a:effectLst>
                <a:outerShdw blurRad="38100" dist="38100" dir="2700000" algn="tl">
                  <a:srgbClr val="000000"/>
                </a:outerShdw>
              </a:effectLst>
              <a:ea typeface="仿宋_GB2312" pitchFamily="1" charset="-122"/>
            </a:endParaRPr>
          </a:p>
          <a:p>
            <a:pPr eaLnBrk="1" hangingPunct="1">
              <a:defRPr/>
            </a:pPr>
            <a:r>
              <a:rPr lang="zh-CN" altLang="en-US" b="1" smtClean="0">
                <a:effectLst>
                  <a:outerShdw blurRad="38100" dist="38100" dir="2700000" algn="tl">
                    <a:srgbClr val="000000"/>
                  </a:outerShdw>
                </a:effectLst>
                <a:ea typeface="仿宋_GB2312" pitchFamily="1" charset="-122"/>
              </a:rPr>
              <a:t>简单的文件共享</a:t>
            </a:r>
            <a:endParaRPr lang="zh-CN" altLang="en-US" b="1" smtClean="0">
              <a:effectLst>
                <a:outerShdw blurRad="38100" dist="38100" dir="2700000" algn="tl">
                  <a:srgbClr val="000000"/>
                </a:outerShdw>
              </a:effectLst>
              <a:ea typeface="仿宋_GB2312" pitchFamily="1" charset="-122"/>
            </a:endParaRPr>
          </a:p>
          <a:p>
            <a:pPr eaLnBrk="1" hangingPunct="1">
              <a:defRPr/>
            </a:pPr>
            <a:endParaRPr lang="zh-CN" altLang="en-US" b="1" smtClean="0">
              <a:effectLst>
                <a:outerShdw blurRad="38100" dist="38100" dir="2700000" algn="tl">
                  <a:srgbClr val="000000"/>
                </a:outerShdw>
              </a:effectLst>
              <a:ea typeface="仿宋_GB2312" pitchFamily="1" charset="-122"/>
            </a:endParaRPr>
          </a:p>
          <a:p>
            <a:pPr eaLnBrk="1" hangingPunct="1">
              <a:defRPr/>
            </a:pPr>
            <a:r>
              <a:rPr lang="zh-CN" altLang="en-US" b="1" smtClean="0">
                <a:solidFill>
                  <a:schemeClr val="folHlink"/>
                </a:solidFill>
                <a:effectLst>
                  <a:outerShdw blurRad="38100" dist="38100" dir="2700000" algn="tl">
                    <a:srgbClr val="000000"/>
                  </a:outerShdw>
                </a:effectLst>
                <a:ea typeface="仿宋_GB2312" pitchFamily="1" charset="-122"/>
              </a:rPr>
              <a:t>问题：</a:t>
            </a:r>
            <a:r>
              <a:rPr lang="zh-CN" altLang="en-US" b="1" smtClean="0">
                <a:effectLst>
                  <a:outerShdw blurRad="38100" dist="38100" dir="2700000" algn="tl">
                    <a:srgbClr val="000000"/>
                  </a:outerShdw>
                </a:effectLst>
                <a:ea typeface="仿宋_GB2312" pitchFamily="1" charset="-122"/>
              </a:rPr>
              <a:t>不便用户文件的逻辑分类；进一步解决重名、共享、检索效率等问题</a:t>
            </a:r>
            <a:endParaRPr lang="zh-CN" altLang="en-US" b="1" smtClean="0">
              <a:effectLst>
                <a:outerShdw blurRad="38100" dist="38100" dir="2700000" algn="tl">
                  <a:srgbClr val="000000"/>
                </a:outerShdw>
              </a:effectLst>
              <a:ea typeface="仿宋_GB2312"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6322"/>
                                        </p:tgtEl>
                                        <p:attrNameLst>
                                          <p:attrName>style.visibility</p:attrName>
                                        </p:attrNameLst>
                                      </p:cBhvr>
                                      <p:to>
                                        <p:strVal val="visible"/>
                                      </p:to>
                                    </p:set>
                                    <p:animEffect transition="in" filter="fade">
                                      <p:cBhvr>
                                        <p:cTn id="7" dur="2000"/>
                                        <p:tgtEl>
                                          <p:spTgt spid="563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6323">
                                            <p:txEl>
                                              <p:pRg st="1" end="1"/>
                                            </p:txEl>
                                          </p:spTgt>
                                        </p:tgtEl>
                                        <p:attrNameLst>
                                          <p:attrName>style.visibility</p:attrName>
                                        </p:attrNameLst>
                                      </p:cBhvr>
                                      <p:to>
                                        <p:strVal val="visible"/>
                                      </p:to>
                                    </p:set>
                                    <p:animEffect transition="in" filter="fade">
                                      <p:cBhvr>
                                        <p:cTn id="12" dur="2000"/>
                                        <p:tgtEl>
                                          <p:spTgt spid="563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6323">
                                            <p:txEl>
                                              <p:pRg st="2" end="2"/>
                                            </p:txEl>
                                          </p:spTgt>
                                        </p:tgtEl>
                                        <p:attrNameLst>
                                          <p:attrName>style.visibility</p:attrName>
                                        </p:attrNameLst>
                                      </p:cBhvr>
                                      <p:to>
                                        <p:strVal val="visible"/>
                                      </p:to>
                                    </p:set>
                                    <p:animEffect transition="in" filter="fade">
                                      <p:cBhvr>
                                        <p:cTn id="17" dur="2000"/>
                                        <p:tgtEl>
                                          <p:spTgt spid="563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6323">
                                            <p:txEl>
                                              <p:pRg st="3" end="3"/>
                                            </p:txEl>
                                          </p:spTgt>
                                        </p:tgtEl>
                                        <p:attrNameLst>
                                          <p:attrName>style.visibility</p:attrName>
                                        </p:attrNameLst>
                                      </p:cBhvr>
                                      <p:to>
                                        <p:strVal val="visible"/>
                                      </p:to>
                                    </p:set>
                                    <p:animEffect transition="in" filter="fade">
                                      <p:cBhvr>
                                        <p:cTn id="22" dur="2000"/>
                                        <p:tgtEl>
                                          <p:spTgt spid="563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6323">
                                            <p:txEl>
                                              <p:pRg st="5" end="5"/>
                                            </p:txEl>
                                          </p:spTgt>
                                        </p:tgtEl>
                                        <p:attrNameLst>
                                          <p:attrName>style.visibility</p:attrName>
                                        </p:attrNameLst>
                                      </p:cBhvr>
                                      <p:to>
                                        <p:strVal val="visible"/>
                                      </p:to>
                                    </p:set>
                                    <p:animEffect transition="in" filter="fade">
                                      <p:cBhvr>
                                        <p:cTn id="27" dur="2000"/>
                                        <p:tgtEl>
                                          <p:spTgt spid="5632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2" grpId="0" autoUpdateAnimBg="0"/>
      <p:bldP spid="56323" grpId="0" autoUpdateAnimBg="0" build="p"/>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Rectangle 2"/>
          <p:cNvSpPr>
            <a:spLocks noGrp="1" noRot="1" noChangeArrowheads="1"/>
          </p:cNvSpPr>
          <p:nvPr>
            <p:ph type="title" idx="4294967295"/>
          </p:nvPr>
        </p:nvSpPr>
        <p:spPr/>
        <p:txBody>
          <a:bodyPr/>
          <a:lstStyle/>
          <a:p>
            <a:pPr eaLnBrk="1" hangingPunct="1">
              <a:defRPr/>
            </a:pPr>
            <a:r>
              <a:rPr lang="zh-CN" altLang="en-US" b="1" u="sng" smtClean="0">
                <a:solidFill>
                  <a:schemeClr val="folHlink"/>
                </a:solidFill>
                <a:effectLst>
                  <a:outerShdw blurRad="38100" dist="38100" dir="2700000" algn="tl">
                    <a:srgbClr val="000000"/>
                  </a:outerShdw>
                </a:effectLst>
                <a:latin typeface="仿宋_GB2312" pitchFamily="1" charset="-122"/>
                <a:ea typeface="仿宋_GB2312" pitchFamily="1" charset="-122"/>
              </a:rPr>
              <a:t>层次目录结构</a:t>
            </a:r>
            <a:br>
              <a:rPr lang="zh-CN" altLang="en-US" b="1" u="sng" smtClean="0">
                <a:solidFill>
                  <a:schemeClr val="folHlink"/>
                </a:solidFill>
                <a:effectLst>
                  <a:outerShdw blurRad="38100" dist="38100" dir="2700000" algn="tl">
                    <a:srgbClr val="000000"/>
                  </a:outerShdw>
                </a:effectLst>
                <a:latin typeface="仿宋_GB2312" pitchFamily="1" charset="-122"/>
                <a:ea typeface="仿宋_GB2312" pitchFamily="1" charset="-122"/>
              </a:rPr>
            </a:br>
            <a:r>
              <a:rPr lang="en-US" b="1" smtClean="0">
                <a:solidFill>
                  <a:schemeClr val="folHlink"/>
                </a:solidFill>
                <a:effectLst>
                  <a:outerShdw blurRad="38100" dist="38100" dir="2700000" algn="tl">
                    <a:srgbClr val="000000"/>
                  </a:outerShdw>
                </a:effectLst>
                <a:ea typeface="仿宋_GB2312" pitchFamily="1" charset="-122"/>
              </a:rPr>
              <a:t>—</a:t>
            </a:r>
            <a:r>
              <a:rPr lang="zh-CN" altLang="en-US" sz="3200" b="1" smtClean="0">
                <a:solidFill>
                  <a:schemeClr val="folHlink"/>
                </a:solidFill>
              </a:rPr>
              <a:t>多级目录结构</a:t>
            </a:r>
            <a:r>
              <a:rPr lang="zh-CN" altLang="en-US" b="1" smtClean="0">
                <a:solidFill>
                  <a:schemeClr val="tx1"/>
                </a:solidFill>
              </a:rPr>
              <a:t> </a:t>
            </a:r>
            <a:endParaRPr lang="zh-CN" altLang="en-US" b="1" smtClean="0">
              <a:solidFill>
                <a:schemeClr val="tx1"/>
              </a:solidFill>
            </a:endParaRPr>
          </a:p>
        </p:txBody>
      </p:sp>
      <p:sp>
        <p:nvSpPr>
          <p:cNvPr id="57347" name="Rectangle 3"/>
          <p:cNvSpPr>
            <a:spLocks noGrp="1" noRot="1" noChangeArrowheads="1"/>
          </p:cNvSpPr>
          <p:nvPr>
            <p:ph type="body" sz="half" idx="4294967295"/>
          </p:nvPr>
        </p:nvSpPr>
        <p:spPr>
          <a:xfrm>
            <a:off x="533400" y="1673225"/>
            <a:ext cx="3962400" cy="4498975"/>
          </a:xfrm>
        </p:spPr>
        <p:txBody>
          <a:bodyPr/>
          <a:lstStyle/>
          <a:p>
            <a:pPr eaLnBrk="1" hangingPunct="1">
              <a:buFont typeface="Wingdings" panose="05000000000000000000" pitchFamily="2" charset="2"/>
              <a:buNone/>
              <a:defRPr/>
            </a:pPr>
            <a:endParaRPr lang="en-US" sz="2800" b="1" smtClean="0">
              <a:effectLst>
                <a:outerShdw blurRad="38100" dist="38100" dir="2700000" algn="tl">
                  <a:srgbClr val="000000"/>
                </a:outerShdw>
              </a:effectLst>
              <a:latin typeface="仿宋_GB2312" pitchFamily="1" charset="-122"/>
              <a:ea typeface="仿宋_GB2312" pitchFamily="1" charset="-122"/>
            </a:endParaRPr>
          </a:p>
          <a:p>
            <a:pPr eaLnBrk="1" hangingPunct="1">
              <a:defRPr/>
            </a:pPr>
            <a:endParaRPr lang="en-US" sz="2800" smtClean="0"/>
          </a:p>
        </p:txBody>
      </p:sp>
      <p:sp>
        <p:nvSpPr>
          <p:cNvPr id="2053" name="Rectangle 45"/>
          <p:cNvSpPr>
            <a:spLocks noChangeArrowheads="1"/>
          </p:cNvSpPr>
          <p:nvPr/>
        </p:nvSpPr>
        <p:spPr bwMode="auto">
          <a:xfrm>
            <a:off x="468313" y="1700213"/>
            <a:ext cx="7920037" cy="4681537"/>
          </a:xfrm>
          <a:prstGeom prst="rect">
            <a:avLst/>
          </a:prstGeom>
          <a:solidFill>
            <a:schemeClr val="tx2">
              <a:lumMod val="20000"/>
              <a:lumOff val="80000"/>
            </a:schemeClr>
          </a:solidFill>
          <a:ln w="9525">
            <a:solidFill>
              <a:schemeClr val="tx1"/>
            </a:solidFill>
            <a:miter lim="800000"/>
          </a:ln>
        </p:spPr>
        <p:txBody>
          <a:bodyPr wrap="none" anchor="ctr"/>
          <a:lstStyle/>
          <a:p>
            <a:pPr algn="ctr"/>
            <a:endParaRPr lang="zh-CN" altLang="en-US">
              <a:solidFill>
                <a:srgbClr val="000000"/>
              </a:solidFill>
            </a:endParaRPr>
          </a:p>
        </p:txBody>
      </p:sp>
      <p:graphicFrame>
        <p:nvGraphicFramePr>
          <p:cNvPr id="2050" name="Object 87"/>
          <p:cNvGraphicFramePr>
            <a:graphicFrameLocks noGrp="1" noChangeAspect="1"/>
          </p:cNvGraphicFramePr>
          <p:nvPr>
            <p:ph sz="half" idx="4294967295"/>
          </p:nvPr>
        </p:nvGraphicFramePr>
        <p:xfrm>
          <a:off x="684213" y="1916113"/>
          <a:ext cx="7559675" cy="4289425"/>
        </p:xfrm>
        <a:graphic>
          <a:graphicData uri="http://schemas.openxmlformats.org/presentationml/2006/ole">
            <mc:AlternateContent xmlns:mc="http://schemas.openxmlformats.org/markup-compatibility/2006">
              <mc:Choice xmlns:v="urn:schemas-microsoft-com:vml" Requires="v">
                <p:oleObj spid="_x0000_s2049" name="" r:id="rId1" imgW="5534025" imgH="3143250" progId="Visio.Drawing.11">
                  <p:embed/>
                </p:oleObj>
              </mc:Choice>
              <mc:Fallback>
                <p:oleObj name="" r:id="rId1" imgW="5534025" imgH="3143250" progId="Visio.Drawing.11">
                  <p:embed/>
                  <p:pic>
                    <p:nvPicPr>
                      <p:cNvPr id="0" name="图片 2048"/>
                      <p:cNvPicPr>
                        <a:picLocks noGrp="1" noChangeAspect="1"/>
                      </p:cNvPicPr>
                      <p:nvPr/>
                    </p:nvPicPr>
                    <p:blipFill>
                      <a:blip r:embed="rId2"/>
                      <a:stretch>
                        <a:fillRect/>
                      </a:stretch>
                    </p:blipFill>
                    <p:spPr>
                      <a:xfrm>
                        <a:off x="684213" y="1916113"/>
                        <a:ext cx="7559675" cy="4289425"/>
                      </a:xfrm>
                      <a:prstGeom prst="rect">
                        <a:avLst/>
                      </a:prstGeom>
                      <a:noFill/>
                      <a:ln w="9525">
                        <a:no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7346"/>
                                        </p:tgtEl>
                                        <p:attrNameLst>
                                          <p:attrName>style.visibility</p:attrName>
                                        </p:attrNameLst>
                                      </p:cBhvr>
                                      <p:to>
                                        <p:strVal val="visible"/>
                                      </p:to>
                                    </p:set>
                                    <p:animEffect transition="in" filter="fade">
                                      <p:cBhvr>
                                        <p:cTn id="7" dur="2000"/>
                                        <p:tgtEl>
                                          <p:spTgt spid="573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nodePh="1">
                                  <p:stCondLst>
                                    <p:cond delay="0"/>
                                  </p:stCondLst>
                                  <p:endCondLst>
                                    <p:cond evt="begin" delay="0">
                                      <p:tn val="10"/>
                                    </p:cond>
                                  </p:endCondLst>
                                  <p:childTnLst>
                                    <p:set>
                                      <p:cBhvr>
                                        <p:cTn id="11" dur="1" fill="hold">
                                          <p:stCondLst>
                                            <p:cond delay="0"/>
                                          </p:stCondLst>
                                        </p:cTn>
                                        <p:tgtEl>
                                          <p:spTgt spid="57347">
                                            <p:txEl>
                                              <p:pRg st="0" end="0"/>
                                            </p:txEl>
                                          </p:spTgt>
                                        </p:tgtEl>
                                        <p:attrNameLst>
                                          <p:attrName>style.visibility</p:attrName>
                                        </p:attrNameLst>
                                      </p:cBhvr>
                                      <p:to>
                                        <p:strVal val="visible"/>
                                      </p:to>
                                    </p:set>
                                    <p:animEffect transition="in" filter="fade">
                                      <p:cBhvr>
                                        <p:cTn id="12" dur="2000"/>
                                        <p:tgtEl>
                                          <p:spTgt spid="5734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autoUpdateAnimBg="0"/>
      <p:bldP spid="57347" grpId="0" autoUpdateAnimBg="0" build="p"/>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Rectangle 2"/>
          <p:cNvSpPr>
            <a:spLocks noGrp="1" noRot="1" noChangeArrowheads="1"/>
          </p:cNvSpPr>
          <p:nvPr>
            <p:ph type="title" idx="4294967295"/>
          </p:nvPr>
        </p:nvSpPr>
        <p:spPr/>
        <p:txBody>
          <a:bodyPr/>
          <a:lstStyle/>
          <a:p>
            <a:pPr eaLnBrk="1" hangingPunct="1">
              <a:defRPr/>
            </a:pPr>
            <a:r>
              <a:rPr lang="zh-CN" b="1" u="sng" smtClean="0">
                <a:solidFill>
                  <a:schemeClr val="folHlink"/>
                </a:solidFill>
                <a:effectLst>
                  <a:outerShdw blurRad="38100" dist="38100" dir="2700000" algn="tl">
                    <a:srgbClr val="000000"/>
                  </a:outerShdw>
                </a:effectLst>
                <a:ea typeface="仿宋_GB2312" pitchFamily="1" charset="-122"/>
              </a:rPr>
              <a:t>文件路径</a:t>
            </a:r>
            <a:endParaRPr lang="zh-CN" b="1" u="sng" smtClean="0">
              <a:solidFill>
                <a:schemeClr val="folHlink"/>
              </a:solidFill>
              <a:effectLst>
                <a:outerShdw blurRad="38100" dist="38100" dir="2700000" algn="tl">
                  <a:srgbClr val="000000"/>
                </a:outerShdw>
              </a:effectLst>
              <a:ea typeface="仿宋_GB2312" pitchFamily="1" charset="-122"/>
            </a:endParaRPr>
          </a:p>
        </p:txBody>
      </p:sp>
      <p:sp>
        <p:nvSpPr>
          <p:cNvPr id="58371" name="Rectangle 3"/>
          <p:cNvSpPr>
            <a:spLocks noGrp="1" noRot="1" noChangeArrowheads="1"/>
          </p:cNvSpPr>
          <p:nvPr>
            <p:ph type="body" idx="4294967295"/>
          </p:nvPr>
        </p:nvSpPr>
        <p:spPr/>
        <p:txBody>
          <a:bodyPr/>
          <a:lstStyle/>
          <a:p>
            <a:pPr eaLnBrk="1" hangingPunct="1">
              <a:defRPr/>
            </a:pPr>
            <a:endParaRPr lang="en-US" b="1" smtClean="0">
              <a:effectLst>
                <a:outerShdw blurRad="38100" dist="38100" dir="2700000" algn="tl">
                  <a:srgbClr val="000000"/>
                </a:outerShdw>
              </a:effectLst>
              <a:ea typeface="仿宋_GB2312" pitchFamily="1" charset="-122"/>
            </a:endParaRPr>
          </a:p>
          <a:p>
            <a:pPr eaLnBrk="1" hangingPunct="1">
              <a:defRPr/>
            </a:pPr>
            <a:r>
              <a:rPr lang="zh-CN" altLang="en-US" b="1" smtClean="0">
                <a:effectLst>
                  <a:outerShdw blurRad="38100" dist="38100" dir="2700000" algn="tl">
                    <a:srgbClr val="000000"/>
                  </a:outerShdw>
                </a:effectLst>
                <a:ea typeface="仿宋_GB2312" pitchFamily="1" charset="-122"/>
              </a:rPr>
              <a:t>相对路径</a:t>
            </a:r>
            <a:endParaRPr lang="zh-CN" altLang="en-US" b="1" smtClean="0">
              <a:effectLst>
                <a:outerShdw blurRad="38100" dist="38100" dir="2700000" algn="tl">
                  <a:srgbClr val="000000"/>
                </a:outerShdw>
              </a:effectLst>
              <a:ea typeface="仿宋_GB2312" pitchFamily="1" charset="-122"/>
            </a:endParaRPr>
          </a:p>
          <a:p>
            <a:pPr eaLnBrk="1" hangingPunct="1">
              <a:defRPr/>
            </a:pPr>
            <a:endParaRPr lang="zh-CN" altLang="en-US" b="1" smtClean="0">
              <a:effectLst>
                <a:outerShdw blurRad="38100" dist="38100" dir="2700000" algn="tl">
                  <a:srgbClr val="000000"/>
                </a:outerShdw>
              </a:effectLst>
              <a:ea typeface="仿宋_GB2312" pitchFamily="1" charset="-122"/>
            </a:endParaRPr>
          </a:p>
          <a:p>
            <a:pPr eaLnBrk="1" hangingPunct="1">
              <a:defRPr/>
            </a:pPr>
            <a:r>
              <a:rPr lang="zh-CN" altLang="en-US" b="1" smtClean="0">
                <a:effectLst>
                  <a:outerShdw blurRad="38100" dist="38100" dir="2700000" algn="tl">
                    <a:srgbClr val="000000"/>
                  </a:outerShdw>
                </a:effectLst>
                <a:ea typeface="仿宋_GB2312" pitchFamily="1" charset="-122"/>
              </a:rPr>
              <a:t>绝对路径</a:t>
            </a:r>
            <a:r>
              <a:rPr lang="zh-CN" altLang="en-US" smtClean="0"/>
              <a:t> </a:t>
            </a:r>
            <a:endParaRPr lang="zh-CN" altLang="en-US"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8370"/>
                                        </p:tgtEl>
                                        <p:attrNameLst>
                                          <p:attrName>style.visibility</p:attrName>
                                        </p:attrNameLst>
                                      </p:cBhvr>
                                      <p:to>
                                        <p:strVal val="visible"/>
                                      </p:to>
                                    </p:set>
                                    <p:animEffect transition="in" filter="fade">
                                      <p:cBhvr>
                                        <p:cTn id="7" dur="2000"/>
                                        <p:tgtEl>
                                          <p:spTgt spid="583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8371">
                                            <p:txEl>
                                              <p:pRg st="1" end="1"/>
                                            </p:txEl>
                                          </p:spTgt>
                                        </p:tgtEl>
                                        <p:attrNameLst>
                                          <p:attrName>style.visibility</p:attrName>
                                        </p:attrNameLst>
                                      </p:cBhvr>
                                      <p:to>
                                        <p:strVal val="visible"/>
                                      </p:to>
                                    </p:set>
                                    <p:animEffect transition="in" filter="fade">
                                      <p:cBhvr>
                                        <p:cTn id="12" dur="2000"/>
                                        <p:tgtEl>
                                          <p:spTgt spid="583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8371">
                                            <p:txEl>
                                              <p:pRg st="3" end="3"/>
                                            </p:txEl>
                                          </p:spTgt>
                                        </p:tgtEl>
                                        <p:attrNameLst>
                                          <p:attrName>style.visibility</p:attrName>
                                        </p:attrNameLst>
                                      </p:cBhvr>
                                      <p:to>
                                        <p:strVal val="visible"/>
                                      </p:to>
                                    </p:set>
                                    <p:animEffect transition="in" filter="fade">
                                      <p:cBhvr>
                                        <p:cTn id="17" dur="2000"/>
                                        <p:tgtEl>
                                          <p:spTgt spid="583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autoUpdateAnimBg="0"/>
      <p:bldP spid="58371" grpId="0" autoUpdateAnimBg="0" build="p"/>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Rectangle 2"/>
          <p:cNvSpPr>
            <a:spLocks noGrp="1" noRot="1" noChangeArrowheads="1"/>
          </p:cNvSpPr>
          <p:nvPr>
            <p:ph type="title" idx="4294967295"/>
          </p:nvPr>
        </p:nvSpPr>
        <p:spPr>
          <a:xfrm>
            <a:off x="762000" y="1524000"/>
            <a:ext cx="7772400" cy="1524000"/>
          </a:xfrm>
          <a:gradFill rotWithShape="0">
            <a:gsLst>
              <a:gs pos="0">
                <a:srgbClr val="404552"/>
              </a:gs>
              <a:gs pos="50000">
                <a:schemeClr val="accent1"/>
              </a:gs>
              <a:gs pos="100000">
                <a:srgbClr val="404552"/>
              </a:gs>
            </a:gsLst>
            <a:lin ang="5400000" scaled="1"/>
          </a:gradFill>
        </p:spPr>
        <p:txBody>
          <a:bodyPr/>
          <a:lstStyle/>
          <a:p>
            <a:pPr eaLnBrk="1" hangingPunct="1">
              <a:defRPr/>
            </a:pPr>
            <a:r>
              <a:rPr lang="en-US" b="1" dirty="0">
                <a:solidFill>
                  <a:schemeClr val="accent2"/>
                </a:solidFill>
                <a:effectLst>
                  <a:outerShdw blurRad="38100" dist="38100" dir="2700000" algn="tl">
                    <a:srgbClr val="000000"/>
                  </a:outerShdw>
                </a:effectLst>
                <a:latin typeface="仿宋_GB2312" pitchFamily="1" charset="-122"/>
                <a:ea typeface="仿宋_GB2312" pitchFamily="1" charset="-122"/>
              </a:rPr>
              <a:t>7</a:t>
            </a:r>
            <a:r>
              <a:rPr lang="en-US" b="1" dirty="0" smtClean="0">
                <a:solidFill>
                  <a:schemeClr val="accent2"/>
                </a:solidFill>
                <a:effectLst>
                  <a:outerShdw blurRad="38100" dist="38100" dir="2700000" algn="tl">
                    <a:srgbClr val="000000"/>
                  </a:outerShdw>
                </a:effectLst>
                <a:latin typeface="仿宋_GB2312" pitchFamily="1" charset="-122"/>
                <a:ea typeface="仿宋_GB2312" pitchFamily="1" charset="-122"/>
              </a:rPr>
              <a:t>.3 </a:t>
            </a:r>
            <a:r>
              <a:rPr lang="en-US" b="1" dirty="0" smtClean="0">
                <a:solidFill>
                  <a:schemeClr val="accent2"/>
                </a:solidFill>
                <a:effectLst>
                  <a:outerShdw blurRad="38100" dist="38100" dir="2700000" algn="tl">
                    <a:srgbClr val="000000"/>
                  </a:outerShdw>
                </a:effectLst>
                <a:latin typeface="仿宋_GB2312" pitchFamily="1" charset="-122"/>
              </a:rPr>
              <a:t> </a:t>
            </a:r>
            <a:r>
              <a:rPr lang="zh-CN" altLang="en-US" b="1" dirty="0" smtClean="0">
                <a:solidFill>
                  <a:schemeClr val="accent2"/>
                </a:solidFill>
                <a:effectLst>
                  <a:outerShdw blurRad="38100" dist="38100" dir="2700000" algn="tl">
                    <a:srgbClr val="000000"/>
                  </a:outerShdw>
                </a:effectLst>
                <a:ea typeface="仿宋_GB2312" pitchFamily="1" charset="-122"/>
              </a:rPr>
              <a:t>文件的逻辑组织与访问</a:t>
            </a:r>
            <a:r>
              <a:rPr lang="zh-CN" altLang="en-US" b="1" dirty="0" smtClean="0">
                <a:solidFill>
                  <a:schemeClr val="accent2"/>
                </a:solidFill>
                <a:effectLst>
                  <a:outerShdw blurRad="38100" dist="38100" dir="2700000" algn="tl">
                    <a:srgbClr val="000000"/>
                  </a:outerShdw>
                </a:effectLst>
                <a:latin typeface="仿宋_GB2312" pitchFamily="1" charset="-122"/>
                <a:ea typeface="仿宋_GB2312" pitchFamily="1" charset="-122"/>
              </a:rPr>
              <a:t> </a:t>
            </a:r>
            <a:endParaRPr lang="zh-CN" altLang="en-US" b="1" dirty="0" smtClean="0">
              <a:solidFill>
                <a:schemeClr val="accent2"/>
              </a:solidFill>
              <a:effectLst>
                <a:outerShdw blurRad="38100" dist="38100" dir="2700000" algn="tl">
                  <a:srgbClr val="000000"/>
                </a:outerShdw>
              </a:effectLst>
              <a:latin typeface="仿宋_GB2312" pitchFamily="1" charset="-122"/>
              <a:ea typeface="仿宋_GB2312"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9394">
                                            <p:txEl>
                                              <p:charRg st="4294967295" end="4294967295"/>
                                            </p:txEl>
                                          </p:spTgt>
                                        </p:tgtEl>
                                        <p:attrNameLst>
                                          <p:attrName>style.visibility</p:attrName>
                                        </p:attrNameLst>
                                      </p:cBhvr>
                                      <p:to>
                                        <p:strVal val="visible"/>
                                      </p:to>
                                    </p:set>
                                    <p:animEffect transition="in" filter="fade">
                                      <p:cBhvr>
                                        <p:cTn id="7" dur="2000"/>
                                        <p:tgtEl>
                                          <p:spTgt spid="59394">
                                            <p:txEl>
                                              <p:charRg st="4294967295" end="42949672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Rectangle 3"/>
          <p:cNvSpPr>
            <a:spLocks noGrp="1" noRot="1" noChangeArrowheads="1"/>
          </p:cNvSpPr>
          <p:nvPr>
            <p:ph type="body" idx="4294967295"/>
          </p:nvPr>
        </p:nvSpPr>
        <p:spPr/>
        <p:txBody>
          <a:bodyPr/>
          <a:lstStyle/>
          <a:p>
            <a:pPr eaLnBrk="1" hangingPunct="1">
              <a:lnSpc>
                <a:spcPct val="110000"/>
              </a:lnSpc>
            </a:pPr>
            <a:r>
              <a:rPr lang="zh-CN" altLang="en-US" b="1" smtClean="0"/>
              <a:t>对于任何一个文件，都存在着以下两种形式的结构：</a:t>
            </a:r>
            <a:endParaRPr lang="zh-CN" altLang="en-US" b="1" smtClean="0"/>
          </a:p>
          <a:p>
            <a:pPr eaLnBrk="1" hangingPunct="1">
              <a:lnSpc>
                <a:spcPct val="110000"/>
              </a:lnSpc>
            </a:pPr>
            <a:r>
              <a:rPr lang="zh-CN" altLang="en-US" b="1" smtClean="0"/>
              <a:t> （</a:t>
            </a:r>
            <a:r>
              <a:rPr lang="en-US" altLang="zh-CN" b="1" smtClean="0"/>
              <a:t>1</a:t>
            </a:r>
            <a:r>
              <a:rPr lang="zh-CN" altLang="en-US" b="1" smtClean="0"/>
              <a:t>）文件的逻辑结构</a:t>
            </a:r>
            <a:r>
              <a:rPr lang="en-US" altLang="zh-CN" b="1" smtClean="0"/>
              <a:t>(File Logical Structure)</a:t>
            </a:r>
            <a:r>
              <a:rPr lang="zh-CN" altLang="en-US" b="1" smtClean="0"/>
              <a:t>。</a:t>
            </a:r>
            <a:endParaRPr lang="zh-CN" altLang="en-US" b="1" smtClean="0"/>
          </a:p>
          <a:p>
            <a:pPr eaLnBrk="1" hangingPunct="1">
              <a:lnSpc>
                <a:spcPct val="110000"/>
              </a:lnSpc>
            </a:pPr>
            <a:r>
              <a:rPr lang="zh-CN" altLang="en-US" b="1" smtClean="0"/>
              <a:t>  </a:t>
            </a:r>
            <a:r>
              <a:rPr lang="en-US" altLang="zh-CN" b="1" smtClean="0"/>
              <a:t>(2) </a:t>
            </a:r>
            <a:r>
              <a:rPr lang="zh-CN" altLang="en-US" b="1" smtClean="0"/>
              <a:t>文件的物理结构， 又称为文件的存储结构， 是指文件在外存上的存储组织形式。 </a:t>
            </a:r>
            <a:endParaRPr lang="zh-CN" altLang="en-US" b="1" smtClean="0"/>
          </a:p>
          <a:p>
            <a:pPr eaLnBrk="1" hangingPunct="1">
              <a:lnSpc>
                <a:spcPct val="110000"/>
              </a:lnSpc>
            </a:pPr>
            <a:endParaRPr lang="en-US" altLang="zh-CN" b="1" smtClean="0"/>
          </a:p>
        </p:txBody>
      </p:sp>
      <p:sp>
        <p:nvSpPr>
          <p:cNvPr id="67587" name="Rectangle 4"/>
          <p:cNvSpPr>
            <a:spLocks noChangeArrowheads="1"/>
          </p:cNvSpPr>
          <p:nvPr/>
        </p:nvSpPr>
        <p:spPr bwMode="auto">
          <a:xfrm>
            <a:off x="2487613" y="566738"/>
            <a:ext cx="3740150" cy="701675"/>
          </a:xfrm>
          <a:prstGeom prst="rect">
            <a:avLst/>
          </a:prstGeom>
          <a:noFill/>
          <a:ln w="9525">
            <a:noFill/>
            <a:miter lim="800000"/>
          </a:ln>
        </p:spPr>
        <p:txBody>
          <a:bodyPr wrap="none">
            <a:spAutoFit/>
          </a:bodyPr>
          <a:lstStyle/>
          <a:p>
            <a:pPr algn="ctr"/>
            <a:r>
              <a:rPr lang="zh-CN" altLang="en-US" sz="4000" b="1">
                <a:solidFill>
                  <a:schemeClr val="folHlink"/>
                </a:solidFill>
              </a:rPr>
              <a:t>文件的逻辑结构</a:t>
            </a:r>
            <a:endParaRPr lang="zh-CN" altLang="en-US" sz="4000" b="1">
              <a:solidFill>
                <a:schemeClr val="folHlink"/>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7586">
                                            <p:txEl>
                                              <p:pRg st="0" end="0"/>
                                            </p:txEl>
                                          </p:spTgt>
                                        </p:tgtEl>
                                        <p:attrNameLst>
                                          <p:attrName>style.visibility</p:attrName>
                                        </p:attrNameLst>
                                      </p:cBhvr>
                                      <p:to>
                                        <p:strVal val="visible"/>
                                      </p:to>
                                    </p:set>
                                    <p:animEffect transition="in" filter="fade">
                                      <p:cBhvr>
                                        <p:cTn id="7" dur="2000"/>
                                        <p:tgtEl>
                                          <p:spTgt spid="675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7586">
                                            <p:txEl>
                                              <p:pRg st="1" end="1"/>
                                            </p:txEl>
                                          </p:spTgt>
                                        </p:tgtEl>
                                        <p:attrNameLst>
                                          <p:attrName>style.visibility</p:attrName>
                                        </p:attrNameLst>
                                      </p:cBhvr>
                                      <p:to>
                                        <p:strVal val="visible"/>
                                      </p:to>
                                    </p:set>
                                    <p:animEffect transition="in" filter="fade">
                                      <p:cBhvr>
                                        <p:cTn id="12" dur="2000"/>
                                        <p:tgtEl>
                                          <p:spTgt spid="6758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7586">
                                            <p:txEl>
                                              <p:pRg st="2" end="2"/>
                                            </p:txEl>
                                          </p:spTgt>
                                        </p:tgtEl>
                                        <p:attrNameLst>
                                          <p:attrName>style.visibility</p:attrName>
                                        </p:attrNameLst>
                                      </p:cBhvr>
                                      <p:to>
                                        <p:strVal val="visible"/>
                                      </p:to>
                                    </p:set>
                                    <p:animEffect transition="in" filter="fade">
                                      <p:cBhvr>
                                        <p:cTn id="17" dur="2000"/>
                                        <p:tgtEl>
                                          <p:spTgt spid="6758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 grpId="0" autoUpdateAnimBg="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2"/>
          <p:cNvSpPr txBox="1">
            <a:spLocks noChangeArrowheads="1"/>
          </p:cNvSpPr>
          <p:nvPr/>
        </p:nvSpPr>
        <p:spPr bwMode="auto">
          <a:xfrm>
            <a:off x="2174875" y="548680"/>
            <a:ext cx="5456238" cy="641350"/>
          </a:xfrm>
          <a:prstGeom prst="rect">
            <a:avLst/>
          </a:prstGeom>
          <a:noFill/>
          <a:ln w="9525">
            <a:noFill/>
            <a:miter lim="800000"/>
          </a:ln>
        </p:spPr>
        <p:txBody>
          <a:bodyPr wrap="none">
            <a:spAutoFit/>
          </a:bodyPr>
          <a:lstStyle/>
          <a:p>
            <a:r>
              <a:rPr lang="en-US" altLang="zh-CN" sz="3600" b="1" dirty="0" smtClean="0">
                <a:solidFill>
                  <a:schemeClr val="folHlink"/>
                </a:solidFill>
                <a:latin typeface="Times New Roman" panose="02020603050405020304" pitchFamily="18" charset="0"/>
              </a:rPr>
              <a:t>7.3.1 </a:t>
            </a:r>
            <a:r>
              <a:rPr lang="zh-CN" altLang="en-US" sz="3600" b="1" dirty="0">
                <a:solidFill>
                  <a:schemeClr val="folHlink"/>
                </a:solidFill>
                <a:latin typeface="Times New Roman" panose="02020603050405020304" pitchFamily="18" charset="0"/>
              </a:rPr>
              <a:t>文件逻辑结构的类型 </a:t>
            </a:r>
            <a:endParaRPr lang="zh-CN" altLang="en-US" sz="3600" b="1" dirty="0">
              <a:solidFill>
                <a:schemeClr val="folHlink"/>
              </a:solidFill>
              <a:latin typeface="Times New Roman" panose="02020603050405020304" pitchFamily="18" charset="0"/>
            </a:endParaRPr>
          </a:p>
        </p:txBody>
      </p:sp>
      <p:sp>
        <p:nvSpPr>
          <p:cNvPr id="68611" name="Text Box 3"/>
          <p:cNvSpPr txBox="1">
            <a:spLocks noChangeArrowheads="1"/>
          </p:cNvSpPr>
          <p:nvPr/>
        </p:nvSpPr>
        <p:spPr bwMode="auto">
          <a:xfrm>
            <a:off x="1403350" y="1587500"/>
            <a:ext cx="5340350" cy="3425825"/>
          </a:xfrm>
          <a:prstGeom prst="rect">
            <a:avLst/>
          </a:prstGeom>
          <a:noFill/>
          <a:ln w="9525">
            <a:noFill/>
            <a:miter lim="800000"/>
          </a:ln>
        </p:spPr>
        <p:txBody>
          <a:bodyPr>
            <a:spAutoFit/>
          </a:bodyPr>
          <a:lstStyle/>
          <a:p>
            <a:pPr marL="457200" indent="-457200">
              <a:lnSpc>
                <a:spcPct val="130000"/>
              </a:lnSpc>
              <a:buFont typeface="Arial" panose="020B0604020202020204" pitchFamily="34" charset="0"/>
              <a:buAutoNum type="arabicPeriod"/>
            </a:pPr>
            <a:r>
              <a:rPr lang="zh-CN" altLang="en-US" sz="2800" b="1" dirty="0">
                <a:solidFill>
                  <a:schemeClr val="folHlink"/>
                </a:solidFill>
                <a:latin typeface="Times New Roman" panose="02020603050405020304" pitchFamily="18" charset="0"/>
              </a:rPr>
              <a:t>有结构文件</a:t>
            </a:r>
            <a:endParaRPr lang="zh-CN" altLang="en-US" sz="2800" b="1" dirty="0">
              <a:solidFill>
                <a:schemeClr val="folHlink"/>
              </a:solidFill>
              <a:latin typeface="Times New Roman" panose="02020603050405020304" pitchFamily="18" charset="0"/>
            </a:endParaRPr>
          </a:p>
          <a:p>
            <a:pPr marL="457200" indent="-457200">
              <a:lnSpc>
                <a:spcPct val="130000"/>
              </a:lnSpc>
              <a:buFont typeface="Arial" panose="020B0604020202020204" pitchFamily="34" charset="0"/>
              <a:buAutoNum type="arabicParenBoth"/>
            </a:pPr>
            <a:r>
              <a:rPr lang="zh-CN" altLang="en-US" sz="2800" b="1" dirty="0">
                <a:latin typeface="Times New Roman" panose="02020603050405020304" pitchFamily="18" charset="0"/>
              </a:rPr>
              <a:t>定长记录。 </a:t>
            </a:r>
            <a:endParaRPr lang="zh-CN" altLang="en-US" sz="2800" b="1" dirty="0">
              <a:latin typeface="Times New Roman" panose="02020603050405020304" pitchFamily="18" charset="0"/>
            </a:endParaRPr>
          </a:p>
          <a:p>
            <a:pPr marL="457200" indent="-457200">
              <a:lnSpc>
                <a:spcPct val="130000"/>
              </a:lnSpc>
            </a:pPr>
            <a:r>
              <a:rPr lang="en-US" altLang="zh-CN" sz="2800" b="1" dirty="0">
                <a:latin typeface="Times New Roman" panose="02020603050405020304" pitchFamily="18" charset="0"/>
              </a:rPr>
              <a:t>(2) </a:t>
            </a:r>
            <a:r>
              <a:rPr lang="zh-CN" altLang="en-US" sz="2800" b="1" dirty="0">
                <a:latin typeface="Times New Roman" panose="02020603050405020304" pitchFamily="18" charset="0"/>
              </a:rPr>
              <a:t>变长记录。  </a:t>
            </a:r>
            <a:endParaRPr lang="zh-CN" altLang="en-US" sz="2800" b="1" dirty="0">
              <a:latin typeface="Times New Roman" panose="02020603050405020304" pitchFamily="18" charset="0"/>
            </a:endParaRPr>
          </a:p>
          <a:p>
            <a:pPr marL="457200" indent="-457200">
              <a:lnSpc>
                <a:spcPct val="130000"/>
              </a:lnSpc>
              <a:buFont typeface="Arial" panose="020B0604020202020204" pitchFamily="34" charset="0"/>
              <a:buAutoNum type="arabicParenBoth"/>
            </a:pPr>
            <a:r>
              <a:rPr lang="zh-CN" altLang="en-US" sz="2800" b="1" dirty="0">
                <a:latin typeface="Times New Roman" panose="02020603050405020304" pitchFamily="18" charset="0"/>
              </a:rPr>
              <a:t>顺序文件。 </a:t>
            </a:r>
            <a:endParaRPr lang="zh-CN" altLang="en-US" sz="2800" b="1" dirty="0">
              <a:latin typeface="Times New Roman" panose="02020603050405020304" pitchFamily="18" charset="0"/>
            </a:endParaRPr>
          </a:p>
          <a:p>
            <a:pPr marL="457200" indent="-457200">
              <a:lnSpc>
                <a:spcPct val="130000"/>
              </a:lnSpc>
            </a:pPr>
            <a:r>
              <a:rPr lang="en-US" altLang="zh-CN" sz="2800" b="1" dirty="0">
                <a:latin typeface="Times New Roman" panose="02020603050405020304" pitchFamily="18" charset="0"/>
              </a:rPr>
              <a:t>(2) </a:t>
            </a:r>
            <a:r>
              <a:rPr lang="zh-CN" altLang="en-US" sz="2800" b="1" dirty="0">
                <a:latin typeface="Times New Roman" panose="02020603050405020304" pitchFamily="18" charset="0"/>
              </a:rPr>
              <a:t>索引文件。 </a:t>
            </a:r>
            <a:endParaRPr lang="zh-CN" altLang="en-US" sz="2800" b="1" dirty="0">
              <a:latin typeface="Times New Roman" panose="02020603050405020304" pitchFamily="18" charset="0"/>
            </a:endParaRPr>
          </a:p>
          <a:p>
            <a:pPr marL="457200" indent="-457200">
              <a:lnSpc>
                <a:spcPct val="130000"/>
              </a:lnSpc>
            </a:pPr>
            <a:r>
              <a:rPr lang="en-US" altLang="zh-CN" sz="2800" b="1" dirty="0">
                <a:latin typeface="Times New Roman" panose="02020603050405020304" pitchFamily="18" charset="0"/>
              </a:rPr>
              <a:t>(3) </a:t>
            </a:r>
            <a:r>
              <a:rPr lang="zh-CN" altLang="en-US" sz="2800" b="1" dirty="0">
                <a:latin typeface="Times New Roman" panose="02020603050405020304" pitchFamily="18" charset="0"/>
              </a:rPr>
              <a:t>索引顺序文件。 </a:t>
            </a:r>
            <a:endParaRPr lang="zh-CN" altLang="en-US" sz="2800" b="1" dirty="0">
              <a:latin typeface="Times New Roman" panose="02020603050405020304" pitchFamily="18" charset="0"/>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2"/>
          <p:cNvSpPr txBox="1">
            <a:spLocks noChangeArrowheads="1"/>
          </p:cNvSpPr>
          <p:nvPr/>
        </p:nvSpPr>
        <p:spPr bwMode="auto">
          <a:xfrm>
            <a:off x="684213" y="333375"/>
            <a:ext cx="7924800" cy="5646738"/>
          </a:xfrm>
          <a:prstGeom prst="rect">
            <a:avLst/>
          </a:prstGeom>
          <a:noFill/>
          <a:ln w="9525">
            <a:noFill/>
            <a:miter lim="800000"/>
          </a:ln>
        </p:spPr>
        <p:txBody>
          <a:bodyPr>
            <a:spAutoFit/>
          </a:bodyPr>
          <a:lstStyle/>
          <a:p>
            <a:pPr algn="just">
              <a:lnSpc>
                <a:spcPct val="140000"/>
              </a:lnSpc>
              <a:spcBef>
                <a:spcPct val="50000"/>
              </a:spcBef>
            </a:pPr>
            <a:r>
              <a:rPr lang="en-US" altLang="zh-CN" sz="3200" b="1">
                <a:solidFill>
                  <a:schemeClr val="folHlink"/>
                </a:solidFill>
                <a:latin typeface="Times New Roman" panose="02020603050405020304" pitchFamily="18" charset="0"/>
              </a:rPr>
              <a:t>       2. </a:t>
            </a:r>
            <a:r>
              <a:rPr lang="zh-CN" altLang="en-US" sz="3200" b="1">
                <a:solidFill>
                  <a:schemeClr val="folHlink"/>
                </a:solidFill>
                <a:latin typeface="Times New Roman" panose="02020603050405020304" pitchFamily="18" charset="0"/>
              </a:rPr>
              <a:t>无结构文件</a:t>
            </a:r>
            <a:endParaRPr lang="zh-CN" altLang="en-US" sz="3200" b="1">
              <a:solidFill>
                <a:schemeClr val="folHlink"/>
              </a:solidFill>
              <a:latin typeface="Times New Roman" panose="02020603050405020304" pitchFamily="18" charset="0"/>
            </a:endParaRPr>
          </a:p>
          <a:p>
            <a:pPr algn="just">
              <a:lnSpc>
                <a:spcPct val="110000"/>
              </a:lnSpc>
              <a:spcBef>
                <a:spcPct val="50000"/>
              </a:spcBef>
            </a:pPr>
            <a:r>
              <a:rPr lang="zh-CN" altLang="en-US" sz="2800" b="1">
                <a:latin typeface="Times New Roman" panose="02020603050405020304" pitchFamily="18" charset="0"/>
              </a:rPr>
              <a:t>大量的源程序、 可执行文件、 库函数等， 所采用的就是无结构的文件形式，即流式文件。 其长度以字节为单位。</a:t>
            </a:r>
            <a:endParaRPr lang="zh-CN" altLang="en-US" sz="2800" b="1">
              <a:latin typeface="Times New Roman" panose="02020603050405020304" pitchFamily="18" charset="0"/>
            </a:endParaRPr>
          </a:p>
          <a:p>
            <a:pPr algn="just">
              <a:lnSpc>
                <a:spcPct val="110000"/>
              </a:lnSpc>
              <a:spcBef>
                <a:spcPct val="50000"/>
              </a:spcBef>
            </a:pPr>
            <a:r>
              <a:rPr lang="zh-CN" altLang="en-US" sz="2800" b="1">
                <a:latin typeface="Times New Roman" panose="02020603050405020304" pitchFamily="18" charset="0"/>
              </a:rPr>
              <a:t>对流式文件的访问，则是采用读写指针来指出下一个要访问的字符。可以把</a:t>
            </a:r>
            <a:r>
              <a:rPr lang="zh-CN" altLang="en-US" sz="2800" b="1" i="1" u="sng">
                <a:solidFill>
                  <a:schemeClr val="folHlink"/>
                </a:solidFill>
                <a:latin typeface="Times New Roman" panose="02020603050405020304" pitchFamily="18" charset="0"/>
              </a:rPr>
              <a:t>流式文件看作是记录式文件的一个特例</a:t>
            </a:r>
            <a:r>
              <a:rPr lang="zh-CN" altLang="en-US" sz="2800" b="1">
                <a:latin typeface="Times New Roman" panose="02020603050405020304" pitchFamily="18" charset="0"/>
              </a:rPr>
              <a:t>。</a:t>
            </a:r>
            <a:endParaRPr lang="zh-CN" altLang="en-US" sz="2800" b="1">
              <a:latin typeface="Times New Roman" panose="02020603050405020304" pitchFamily="18" charset="0"/>
            </a:endParaRPr>
          </a:p>
          <a:p>
            <a:pPr algn="just">
              <a:lnSpc>
                <a:spcPct val="110000"/>
              </a:lnSpc>
              <a:spcBef>
                <a:spcPct val="50000"/>
              </a:spcBef>
            </a:pPr>
            <a:r>
              <a:rPr lang="zh-CN" altLang="en-US" sz="2800" b="1">
                <a:latin typeface="Times New Roman" panose="02020603050405020304" pitchFamily="18" charset="0"/>
              </a:rPr>
              <a:t>在</a:t>
            </a:r>
            <a:r>
              <a:rPr lang="en-US" altLang="zh-CN" sz="2800" b="1">
                <a:latin typeface="Times New Roman" panose="02020603050405020304" pitchFamily="18" charset="0"/>
              </a:rPr>
              <a:t>UNIX</a:t>
            </a:r>
            <a:r>
              <a:rPr lang="zh-CN" altLang="en-US" sz="2800" b="1">
                <a:latin typeface="Times New Roman" panose="02020603050405020304" pitchFamily="18" charset="0"/>
              </a:rPr>
              <a:t>系统中，所有的文件都被看作是流式文件；即使是有结构文件，也被视为流式文件；系统不对文件进行格式处理。 </a:t>
            </a:r>
            <a:endParaRPr lang="zh-CN" altLang="en-US" sz="2800" b="1">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2466">
                                            <p:txEl>
                                              <p:pRg st="1" end="1"/>
                                            </p:txEl>
                                          </p:spTgt>
                                        </p:tgtEl>
                                        <p:attrNameLst>
                                          <p:attrName>style.visibility</p:attrName>
                                        </p:attrNameLst>
                                      </p:cBhvr>
                                      <p:to>
                                        <p:strVal val="visible"/>
                                      </p:to>
                                    </p:set>
                                    <p:animEffect transition="in" filter="box(in)">
                                      <p:cBhvr>
                                        <p:cTn id="7" dur="500"/>
                                        <p:tgtEl>
                                          <p:spTgt spid="6246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2466">
                                            <p:txEl>
                                              <p:pRg st="2" end="2"/>
                                            </p:txEl>
                                          </p:spTgt>
                                        </p:tgtEl>
                                        <p:attrNameLst>
                                          <p:attrName>style.visibility</p:attrName>
                                        </p:attrNameLst>
                                      </p:cBhvr>
                                      <p:to>
                                        <p:strVal val="visible"/>
                                      </p:to>
                                    </p:set>
                                    <p:animEffect transition="in" filter="box(in)">
                                      <p:cBhvr>
                                        <p:cTn id="12" dur="500"/>
                                        <p:tgtEl>
                                          <p:spTgt spid="6246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62466">
                                            <p:txEl>
                                              <p:pRg st="3" end="3"/>
                                            </p:txEl>
                                          </p:spTgt>
                                        </p:tgtEl>
                                        <p:attrNameLst>
                                          <p:attrName>style.visibility</p:attrName>
                                        </p:attrNameLst>
                                      </p:cBhvr>
                                      <p:to>
                                        <p:strVal val="visible"/>
                                      </p:to>
                                    </p:set>
                                    <p:animEffect transition="in" filter="box(in)">
                                      <p:cBhvr>
                                        <p:cTn id="17" dur="500"/>
                                        <p:tgtEl>
                                          <p:spTgt spid="6246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Rectangle 2"/>
          <p:cNvSpPr>
            <a:spLocks noGrp="1" noRot="1" noChangeArrowheads="1"/>
          </p:cNvSpPr>
          <p:nvPr>
            <p:ph type="title" idx="4294967295"/>
          </p:nvPr>
        </p:nvSpPr>
        <p:spPr/>
        <p:txBody>
          <a:bodyPr/>
          <a:lstStyle/>
          <a:p>
            <a:pPr eaLnBrk="1" hangingPunct="1">
              <a:defRPr/>
            </a:pPr>
            <a:r>
              <a:rPr lang="zh-CN" b="1" u="sng" smtClean="0">
                <a:solidFill>
                  <a:schemeClr val="folHlink"/>
                </a:solidFill>
                <a:effectLst>
                  <a:outerShdw blurRad="38100" dist="38100" dir="2700000" algn="tl">
                    <a:srgbClr val="000000"/>
                  </a:outerShdw>
                </a:effectLst>
                <a:ea typeface="仿宋_GB2312" pitchFamily="1" charset="-122"/>
              </a:rPr>
              <a:t>有结构文件</a:t>
            </a:r>
            <a:endParaRPr lang="zh-CN" b="1" u="sng" smtClean="0">
              <a:solidFill>
                <a:schemeClr val="folHlink"/>
              </a:solidFill>
              <a:effectLst>
                <a:outerShdw blurRad="38100" dist="38100" dir="2700000" algn="tl">
                  <a:srgbClr val="000000"/>
                </a:outerShdw>
              </a:effectLst>
              <a:ea typeface="仿宋_GB2312" pitchFamily="1" charset="-122"/>
            </a:endParaRPr>
          </a:p>
        </p:txBody>
      </p:sp>
      <p:sp>
        <p:nvSpPr>
          <p:cNvPr id="63491" name="Rectangle 3"/>
          <p:cNvSpPr>
            <a:spLocks noGrp="1" noRot="1" noChangeArrowheads="1"/>
          </p:cNvSpPr>
          <p:nvPr>
            <p:ph type="body" idx="4294967295"/>
          </p:nvPr>
        </p:nvSpPr>
        <p:spPr/>
        <p:txBody>
          <a:bodyPr/>
          <a:lstStyle/>
          <a:p>
            <a:pPr eaLnBrk="1" hangingPunct="1">
              <a:defRPr/>
            </a:pPr>
            <a:endParaRPr lang="en-US" smtClean="0"/>
          </a:p>
          <a:p>
            <a:pPr eaLnBrk="1" hangingPunct="1">
              <a:defRPr/>
            </a:pPr>
            <a:r>
              <a:rPr lang="zh-CN" altLang="en-US" b="1" smtClean="0">
                <a:effectLst>
                  <a:outerShdw blurRad="38100" dist="38100" dir="2700000" algn="tl">
                    <a:srgbClr val="000000"/>
                  </a:outerShdw>
                </a:effectLst>
                <a:ea typeface="仿宋_GB2312" pitchFamily="1" charset="-122"/>
              </a:rPr>
              <a:t>顺序文件</a:t>
            </a:r>
            <a:endParaRPr lang="zh-CN" altLang="en-US" b="1" smtClean="0">
              <a:effectLst>
                <a:outerShdw blurRad="38100" dist="38100" dir="2700000" algn="tl">
                  <a:srgbClr val="000000"/>
                </a:outerShdw>
              </a:effectLst>
              <a:ea typeface="仿宋_GB2312" pitchFamily="1" charset="-122"/>
            </a:endParaRPr>
          </a:p>
          <a:p>
            <a:pPr eaLnBrk="1" hangingPunct="1">
              <a:defRPr/>
            </a:pPr>
            <a:r>
              <a:rPr lang="zh-CN" altLang="en-US" b="1" smtClean="0">
                <a:effectLst>
                  <a:outerShdw blurRad="38100" dist="38100" dir="2700000" algn="tl">
                    <a:srgbClr val="000000"/>
                  </a:outerShdw>
                </a:effectLst>
                <a:ea typeface="仿宋_GB2312" pitchFamily="1" charset="-122"/>
              </a:rPr>
              <a:t>索引文件</a:t>
            </a:r>
            <a:endParaRPr lang="zh-CN" altLang="en-US" b="1" smtClean="0">
              <a:effectLst>
                <a:outerShdw blurRad="38100" dist="38100" dir="2700000" algn="tl">
                  <a:srgbClr val="000000"/>
                </a:outerShdw>
              </a:effectLst>
              <a:ea typeface="仿宋_GB2312" pitchFamily="1" charset="-122"/>
            </a:endParaRPr>
          </a:p>
          <a:p>
            <a:pPr eaLnBrk="1" hangingPunct="1">
              <a:defRPr/>
            </a:pPr>
            <a:r>
              <a:rPr lang="zh-CN" altLang="en-US" b="1" smtClean="0">
                <a:effectLst>
                  <a:outerShdw blurRad="38100" dist="38100" dir="2700000" algn="tl">
                    <a:srgbClr val="000000"/>
                  </a:outerShdw>
                </a:effectLst>
                <a:ea typeface="仿宋_GB2312" pitchFamily="1" charset="-122"/>
              </a:rPr>
              <a:t>索引顺序文件</a:t>
            </a:r>
            <a:endParaRPr lang="zh-CN" altLang="en-US" b="1" smtClean="0">
              <a:effectLst>
                <a:outerShdw blurRad="38100" dist="38100" dir="2700000" algn="tl">
                  <a:srgbClr val="000000"/>
                </a:outerShdw>
              </a:effectLst>
              <a:ea typeface="仿宋_GB2312" pitchFamily="1" charset="-122"/>
            </a:endParaRPr>
          </a:p>
          <a:p>
            <a:pPr eaLnBrk="1" hangingPunct="1">
              <a:defRPr/>
            </a:pPr>
            <a:r>
              <a:rPr lang="zh-CN" altLang="en-US" b="1" smtClean="0">
                <a:effectLst>
                  <a:outerShdw blurRad="38100" dist="38100" dir="2700000" algn="tl">
                    <a:srgbClr val="000000"/>
                  </a:outerShdw>
                </a:effectLst>
                <a:ea typeface="仿宋_GB2312" pitchFamily="1" charset="-122"/>
              </a:rPr>
              <a:t>直接（哈希）文件</a:t>
            </a:r>
            <a:r>
              <a:rPr lang="zh-CN" altLang="en-US" smtClean="0"/>
              <a:t> </a:t>
            </a:r>
            <a:endParaRPr lang="zh-CN" altLang="en-US"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3490"/>
                                        </p:tgtEl>
                                        <p:attrNameLst>
                                          <p:attrName>style.visibility</p:attrName>
                                        </p:attrNameLst>
                                      </p:cBhvr>
                                      <p:to>
                                        <p:strVal val="visible"/>
                                      </p:to>
                                    </p:set>
                                    <p:animEffect transition="in" filter="fade">
                                      <p:cBhvr>
                                        <p:cTn id="7" dur="2000"/>
                                        <p:tgtEl>
                                          <p:spTgt spid="6349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3491">
                                            <p:txEl>
                                              <p:pRg st="1" end="1"/>
                                            </p:txEl>
                                          </p:spTgt>
                                        </p:tgtEl>
                                        <p:attrNameLst>
                                          <p:attrName>style.visibility</p:attrName>
                                        </p:attrNameLst>
                                      </p:cBhvr>
                                      <p:to>
                                        <p:strVal val="visible"/>
                                      </p:to>
                                    </p:set>
                                    <p:animEffect transition="in" filter="fade">
                                      <p:cBhvr>
                                        <p:cTn id="12" dur="2000"/>
                                        <p:tgtEl>
                                          <p:spTgt spid="634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3491">
                                            <p:txEl>
                                              <p:pRg st="2" end="2"/>
                                            </p:txEl>
                                          </p:spTgt>
                                        </p:tgtEl>
                                        <p:attrNameLst>
                                          <p:attrName>style.visibility</p:attrName>
                                        </p:attrNameLst>
                                      </p:cBhvr>
                                      <p:to>
                                        <p:strVal val="visible"/>
                                      </p:to>
                                    </p:set>
                                    <p:animEffect transition="in" filter="fade">
                                      <p:cBhvr>
                                        <p:cTn id="17" dur="2000"/>
                                        <p:tgtEl>
                                          <p:spTgt spid="634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3491">
                                            <p:txEl>
                                              <p:pRg st="3" end="3"/>
                                            </p:txEl>
                                          </p:spTgt>
                                        </p:tgtEl>
                                        <p:attrNameLst>
                                          <p:attrName>style.visibility</p:attrName>
                                        </p:attrNameLst>
                                      </p:cBhvr>
                                      <p:to>
                                        <p:strVal val="visible"/>
                                      </p:to>
                                    </p:set>
                                    <p:animEffect transition="in" filter="fade">
                                      <p:cBhvr>
                                        <p:cTn id="22" dur="2000"/>
                                        <p:tgtEl>
                                          <p:spTgt spid="6349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3491">
                                            <p:txEl>
                                              <p:pRg st="4" end="4"/>
                                            </p:txEl>
                                          </p:spTgt>
                                        </p:tgtEl>
                                        <p:attrNameLst>
                                          <p:attrName>style.visibility</p:attrName>
                                        </p:attrNameLst>
                                      </p:cBhvr>
                                      <p:to>
                                        <p:strVal val="visible"/>
                                      </p:to>
                                    </p:set>
                                    <p:animEffect transition="in" filter="fade">
                                      <p:cBhvr>
                                        <p:cTn id="27" dur="2000"/>
                                        <p:tgtEl>
                                          <p:spTgt spid="6349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0" grpId="0" autoUpdateAnimBg="0"/>
      <p:bldP spid="63491" grpId="0" autoUpdateAnimBg="0" build="p"/>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14" name="Rectangle 2"/>
          <p:cNvSpPr>
            <a:spLocks noGrp="1" noRot="1" noChangeArrowheads="1"/>
          </p:cNvSpPr>
          <p:nvPr>
            <p:ph type="title" idx="4294967295"/>
          </p:nvPr>
        </p:nvSpPr>
        <p:spPr>
          <a:xfrm>
            <a:off x="533400" y="-95250"/>
            <a:ext cx="8077200" cy="1062038"/>
          </a:xfrm>
        </p:spPr>
        <p:txBody>
          <a:bodyPr/>
          <a:lstStyle/>
          <a:p>
            <a:pPr eaLnBrk="1" hangingPunct="1">
              <a:defRPr/>
            </a:pPr>
            <a:r>
              <a:rPr lang="en-US" b="1" u="sng" smtClean="0">
                <a:solidFill>
                  <a:schemeClr val="folHlink"/>
                </a:solidFill>
                <a:effectLst>
                  <a:outerShdw blurRad="38100" dist="38100" dir="2700000" algn="tl">
                    <a:srgbClr val="000000"/>
                  </a:outerShdw>
                </a:effectLst>
                <a:ea typeface="仿宋_GB2312" pitchFamily="1" charset="-122"/>
              </a:rPr>
              <a:t>6.3.2 </a:t>
            </a:r>
            <a:r>
              <a:rPr lang="zh-CN" altLang="en-US" b="1" u="sng" smtClean="0">
                <a:solidFill>
                  <a:schemeClr val="folHlink"/>
                </a:solidFill>
                <a:effectLst>
                  <a:outerShdw blurRad="38100" dist="38100" dir="2700000" algn="tl">
                    <a:srgbClr val="000000"/>
                  </a:outerShdw>
                </a:effectLst>
                <a:ea typeface="仿宋_GB2312" pitchFamily="1" charset="-122"/>
              </a:rPr>
              <a:t>顺序文件</a:t>
            </a:r>
            <a:endParaRPr lang="zh-CN" altLang="en-US" b="1" u="sng" smtClean="0">
              <a:solidFill>
                <a:schemeClr val="folHlink"/>
              </a:solidFill>
              <a:effectLst>
                <a:outerShdw blurRad="38100" dist="38100" dir="2700000" algn="tl">
                  <a:srgbClr val="000000"/>
                </a:outerShdw>
              </a:effectLst>
              <a:ea typeface="仿宋_GB2312" pitchFamily="1" charset="-122"/>
            </a:endParaRPr>
          </a:p>
        </p:txBody>
      </p:sp>
      <p:sp>
        <p:nvSpPr>
          <p:cNvPr id="64515" name="Text Box 3"/>
          <p:cNvSpPr txBox="1">
            <a:spLocks noChangeArrowheads="1"/>
          </p:cNvSpPr>
          <p:nvPr/>
        </p:nvSpPr>
        <p:spPr bwMode="auto">
          <a:xfrm>
            <a:off x="500063" y="1181100"/>
            <a:ext cx="7924800" cy="4462463"/>
          </a:xfrm>
          <a:prstGeom prst="rect">
            <a:avLst/>
          </a:prstGeom>
          <a:noFill/>
          <a:ln w="9525">
            <a:noFill/>
            <a:miter lim="800000"/>
          </a:ln>
        </p:spPr>
        <p:txBody>
          <a:bodyPr>
            <a:spAutoFit/>
          </a:bodyPr>
          <a:lstStyle/>
          <a:p>
            <a:pPr algn="just">
              <a:spcBef>
                <a:spcPct val="50000"/>
              </a:spcBef>
              <a:defRPr/>
            </a:pPr>
            <a:r>
              <a:rPr lang="en-US" sz="3200" b="1">
                <a:latin typeface="Times New Roman" panose="02020603050405020304" pitchFamily="18" charset="0"/>
              </a:rPr>
              <a:t> </a:t>
            </a:r>
            <a:r>
              <a:rPr lang="en-US" sz="3200" b="1">
                <a:solidFill>
                  <a:schemeClr val="folHlink"/>
                </a:solidFill>
              </a:rPr>
              <a:t>1. </a:t>
            </a:r>
            <a:r>
              <a:rPr lang="zh-CN" altLang="en-US" sz="3200" b="1">
                <a:solidFill>
                  <a:schemeClr val="folHlink"/>
                </a:solidFill>
              </a:rPr>
              <a:t>逻辑记录的排序</a:t>
            </a:r>
            <a:endParaRPr lang="zh-CN" altLang="en-US" sz="3200" b="1">
              <a:latin typeface="Times New Roman" panose="02020603050405020304" pitchFamily="18" charset="0"/>
            </a:endParaRPr>
          </a:p>
          <a:p>
            <a:pPr algn="just">
              <a:spcBef>
                <a:spcPct val="50000"/>
              </a:spcBef>
              <a:defRPr/>
            </a:pPr>
            <a:r>
              <a:rPr lang="zh-CN" altLang="en-US" sz="2400" b="1">
                <a:latin typeface="Times New Roman" panose="02020603050405020304" pitchFamily="18" charset="0"/>
              </a:rPr>
              <a:t>     第一种是</a:t>
            </a:r>
            <a:r>
              <a:rPr lang="zh-CN" altLang="en-US" sz="2400" b="1">
                <a:solidFill>
                  <a:schemeClr val="folHlink"/>
                </a:solidFill>
                <a:latin typeface="Times New Roman" panose="02020603050405020304" pitchFamily="18" charset="0"/>
              </a:rPr>
              <a:t>串结构</a:t>
            </a:r>
            <a:r>
              <a:rPr lang="zh-CN" altLang="en-US" sz="2400" b="1">
                <a:latin typeface="Times New Roman" panose="02020603050405020304" pitchFamily="18" charset="0"/>
              </a:rPr>
              <a:t>， 各记录之间的顺序与关键字无关。 通常的办法是由时间来决定，即按存入时间的先后排列， 最先存入的记录作为第一个记录，其次存入的为第二个记录， </a:t>
            </a:r>
            <a:r>
              <a:rPr lang="en-US" sz="2400" b="1">
                <a:latin typeface="Courier New" panose="02070309020205020404" pitchFamily="49" charset="0"/>
              </a:rPr>
              <a:t>……</a:t>
            </a:r>
            <a:r>
              <a:rPr lang="en-US" sz="2400" b="1">
                <a:latin typeface="Times New Roman" panose="02020603050405020304" pitchFamily="18" charset="0"/>
              </a:rPr>
              <a:t> </a:t>
            </a:r>
            <a:r>
              <a:rPr lang="zh-CN" altLang="en-US" sz="2400" b="1">
                <a:latin typeface="Times New Roman" panose="02020603050405020304" pitchFamily="18" charset="0"/>
              </a:rPr>
              <a:t>依此类推。</a:t>
            </a:r>
            <a:endParaRPr lang="zh-CN" altLang="en-US" sz="2400" b="1">
              <a:latin typeface="Times New Roman" panose="02020603050405020304" pitchFamily="18" charset="0"/>
            </a:endParaRPr>
          </a:p>
          <a:p>
            <a:pPr algn="just">
              <a:spcBef>
                <a:spcPct val="50000"/>
              </a:spcBef>
              <a:defRPr/>
            </a:pPr>
            <a:r>
              <a:rPr lang="zh-CN" altLang="en-US" sz="2400" b="1">
                <a:latin typeface="Times New Roman" panose="02020603050405020304" pitchFamily="18" charset="0"/>
              </a:rPr>
              <a:t>        第二种情况是</a:t>
            </a:r>
            <a:r>
              <a:rPr lang="zh-CN" altLang="en-US" sz="2400" b="1">
                <a:solidFill>
                  <a:schemeClr val="folHlink"/>
                </a:solidFill>
                <a:latin typeface="Times New Roman" panose="02020603050405020304" pitchFamily="18" charset="0"/>
              </a:rPr>
              <a:t>顺序结构</a:t>
            </a:r>
            <a:r>
              <a:rPr lang="zh-CN" altLang="en-US" sz="2400" b="1">
                <a:latin typeface="Times New Roman" panose="02020603050405020304" pitchFamily="18" charset="0"/>
              </a:rPr>
              <a:t>，指文件中的所有记录按关键字</a:t>
            </a:r>
            <a:r>
              <a:rPr lang="en-US" sz="2400" b="1">
                <a:latin typeface="Times New Roman" panose="02020603050405020304" pitchFamily="18" charset="0"/>
              </a:rPr>
              <a:t>(</a:t>
            </a:r>
            <a:r>
              <a:rPr lang="zh-CN" altLang="en-US" sz="2400" b="1">
                <a:latin typeface="Times New Roman" panose="02020603050405020304" pitchFamily="18" charset="0"/>
              </a:rPr>
              <a:t>词</a:t>
            </a:r>
            <a:r>
              <a:rPr lang="en-US" sz="2400" b="1">
                <a:latin typeface="Times New Roman" panose="02020603050405020304" pitchFamily="18" charset="0"/>
              </a:rPr>
              <a:t>)</a:t>
            </a:r>
            <a:r>
              <a:rPr lang="zh-CN" altLang="en-US" sz="2400" b="1">
                <a:latin typeface="Times New Roman" panose="02020603050405020304" pitchFamily="18" charset="0"/>
              </a:rPr>
              <a:t>排列。</a:t>
            </a:r>
            <a:r>
              <a:rPr lang="zh-CN" altLang="en-US" sz="2400" b="1">
                <a:effectLst>
                  <a:outerShdw blurRad="38100" dist="38100" dir="2700000" algn="tl">
                    <a:srgbClr val="000000"/>
                  </a:outerShdw>
                </a:effectLst>
              </a:rPr>
              <a:t>是</a:t>
            </a:r>
            <a:r>
              <a:rPr lang="zh-CN" altLang="en-US" sz="2400" b="1">
                <a:solidFill>
                  <a:schemeClr val="folHlink"/>
                </a:solidFill>
                <a:effectLst>
                  <a:outerShdw blurRad="38100" dist="38100" dir="2700000" algn="tl">
                    <a:srgbClr val="000000"/>
                  </a:outerShdw>
                </a:effectLst>
              </a:rPr>
              <a:t>最常用的文件组织方式</a:t>
            </a:r>
            <a:r>
              <a:rPr lang="en-US" sz="2400" b="1">
                <a:solidFill>
                  <a:schemeClr val="folHlink"/>
                </a:solidFill>
                <a:effectLst>
                  <a:outerShdw blurRad="38100" dist="38100" dir="2700000" algn="tl">
                    <a:srgbClr val="000000"/>
                  </a:outerShdw>
                </a:effectLst>
              </a:rPr>
              <a:t>.</a:t>
            </a:r>
            <a:endParaRPr lang="en-US" sz="2400" b="1">
              <a:solidFill>
                <a:schemeClr val="folHlink"/>
              </a:solidFill>
              <a:effectLst>
                <a:outerShdw blurRad="38100" dist="38100" dir="2700000" algn="tl">
                  <a:srgbClr val="000000"/>
                </a:outerShdw>
              </a:effectLst>
            </a:endParaRPr>
          </a:p>
          <a:p>
            <a:pPr algn="just">
              <a:spcBef>
                <a:spcPct val="50000"/>
              </a:spcBef>
              <a:defRPr/>
            </a:pPr>
            <a:r>
              <a:rPr lang="en-US" sz="2400" b="1">
                <a:solidFill>
                  <a:schemeClr val="folHlink"/>
                </a:solidFill>
                <a:effectLst>
                  <a:outerShdw blurRad="38100" dist="38100" dir="2700000" algn="tl">
                    <a:srgbClr val="000000"/>
                  </a:outerShdw>
                </a:effectLst>
              </a:rPr>
              <a:t>    </a:t>
            </a:r>
            <a:endParaRPr lang="zh-CN" altLang="en-US" sz="2400" b="1">
              <a:effectLst>
                <a:outerShdw blurRad="38100" dist="38100" dir="2700000" algn="tl">
                  <a:srgbClr val="000000"/>
                </a:outerShdw>
              </a:effectLst>
            </a:endParaRPr>
          </a:p>
          <a:p>
            <a:pPr>
              <a:defRPr/>
            </a:pPr>
            <a:r>
              <a:rPr lang="zh-CN" altLang="en-US" sz="2400" b="1">
                <a:effectLst>
                  <a:outerShdw blurRad="38100" dist="38100" dir="2700000" algn="tl">
                    <a:srgbClr val="000000"/>
                  </a:outerShdw>
                </a:effectLst>
              </a:rPr>
              <a:t>    </a:t>
            </a:r>
            <a:r>
              <a:rPr lang="zh-CN" altLang="en-US" sz="2400" b="1">
                <a:latin typeface="Times New Roman" panose="02020603050405020304" pitchFamily="18" charset="0"/>
              </a:rPr>
              <a:t>可以按关键词的长短从小到大排序，也可以从大到小排序；或按其英文字母顺序排序。 </a:t>
            </a:r>
            <a:endParaRPr lang="zh-CN" altLang="en-US" sz="2400" b="1">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4514"/>
                                        </p:tgtEl>
                                        <p:attrNameLst>
                                          <p:attrName>style.visibility</p:attrName>
                                        </p:attrNameLst>
                                      </p:cBhvr>
                                      <p:to>
                                        <p:strVal val="visible"/>
                                      </p:to>
                                    </p:set>
                                    <p:animEffect transition="in" filter="fade">
                                      <p:cBhvr>
                                        <p:cTn id="7" dur="2000"/>
                                        <p:tgtEl>
                                          <p:spTgt spid="6451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4515">
                                            <p:txEl>
                                              <p:pRg st="1" end="1"/>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64515">
                                            <p:txEl>
                                              <p:pRg st="2" end="2"/>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64515">
                                            <p:txEl>
                                              <p:pRg st="3" end="3"/>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645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4"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6" name="Rectangle 2"/>
          <p:cNvSpPr>
            <a:spLocks noGrp="1" noRot="1" noChangeArrowheads="1"/>
          </p:cNvSpPr>
          <p:nvPr>
            <p:ph type="title" idx="4294967295"/>
          </p:nvPr>
        </p:nvSpPr>
        <p:spPr>
          <a:xfrm>
            <a:off x="428625" y="457200"/>
            <a:ext cx="8181975" cy="1066800"/>
          </a:xfrm>
        </p:spPr>
        <p:txBody>
          <a:bodyPr/>
          <a:lstStyle/>
          <a:p>
            <a:pPr eaLnBrk="1" hangingPunct="1"/>
            <a:r>
              <a:rPr lang="en-US" altLang="zh-CN" sz="3200" b="1" smtClean="0">
                <a:solidFill>
                  <a:schemeClr val="folHlink"/>
                </a:solidFill>
              </a:rPr>
              <a:t>2</a:t>
            </a:r>
            <a:r>
              <a:rPr lang="zh-CN" altLang="en-US" sz="3200" b="1" smtClean="0">
                <a:solidFill>
                  <a:schemeClr val="folHlink"/>
                </a:solidFill>
              </a:rPr>
              <a:t>．对顺序文件</a:t>
            </a:r>
            <a:r>
              <a:rPr lang="en-US" altLang="zh-CN" sz="3200" b="1" smtClean="0">
                <a:solidFill>
                  <a:schemeClr val="folHlink"/>
                </a:solidFill>
              </a:rPr>
              <a:t>(Sequential File)</a:t>
            </a:r>
            <a:r>
              <a:rPr lang="zh-CN" altLang="en-US" sz="3200" b="1" smtClean="0">
                <a:solidFill>
                  <a:schemeClr val="folHlink"/>
                </a:solidFill>
              </a:rPr>
              <a:t>的读</a:t>
            </a:r>
            <a:r>
              <a:rPr lang="en-US" altLang="zh-CN" sz="3200" b="1" smtClean="0">
                <a:solidFill>
                  <a:schemeClr val="folHlink"/>
                </a:solidFill>
              </a:rPr>
              <a:t>/</a:t>
            </a:r>
            <a:r>
              <a:rPr lang="zh-CN" altLang="en-US" sz="3200" b="1" smtClean="0">
                <a:solidFill>
                  <a:schemeClr val="folHlink"/>
                </a:solidFill>
              </a:rPr>
              <a:t>写操作</a:t>
            </a:r>
            <a:endParaRPr lang="zh-CN" altLang="en-US" sz="3200" b="1" smtClean="0">
              <a:solidFill>
                <a:schemeClr val="folHlink"/>
              </a:solidFill>
            </a:endParaRPr>
          </a:p>
        </p:txBody>
      </p:sp>
      <p:sp>
        <p:nvSpPr>
          <p:cNvPr id="72707" name="Rectangle 3"/>
          <p:cNvSpPr>
            <a:spLocks noGrp="1" noRot="1" noChangeArrowheads="1"/>
          </p:cNvSpPr>
          <p:nvPr>
            <p:ph type="body" idx="4294967295"/>
          </p:nvPr>
        </p:nvSpPr>
        <p:spPr>
          <a:xfrm>
            <a:off x="539750" y="1412875"/>
            <a:ext cx="8077200" cy="4392613"/>
          </a:xfrm>
        </p:spPr>
        <p:txBody>
          <a:bodyPr/>
          <a:lstStyle/>
          <a:p>
            <a:pPr eaLnBrk="1" hangingPunct="1"/>
            <a:r>
              <a:rPr lang="zh-CN" altLang="en-US" b="1" smtClean="0"/>
              <a:t>顺序文件中的记录可以是定长的，也可以是变长的。</a:t>
            </a:r>
            <a:endParaRPr lang="zh-CN" altLang="en-US" b="1" smtClean="0"/>
          </a:p>
          <a:p>
            <a:pPr eaLnBrk="1" hangingPunct="1"/>
            <a:r>
              <a:rPr lang="zh-CN" altLang="en-US" b="1" smtClean="0">
                <a:solidFill>
                  <a:schemeClr val="folHlink"/>
                </a:solidFill>
              </a:rPr>
              <a:t>对于定长记录的顺序文件读写：</a:t>
            </a:r>
            <a:endParaRPr lang="zh-CN" altLang="en-US" b="1" smtClean="0">
              <a:solidFill>
                <a:schemeClr val="folHlink"/>
              </a:solidFill>
            </a:endParaRPr>
          </a:p>
          <a:p>
            <a:pPr lvl="1" eaLnBrk="1" hangingPunct="1"/>
            <a:r>
              <a:rPr lang="zh-CN" altLang="en-US" b="1" smtClean="0"/>
              <a:t>在读一个文件时，可设置一个读指针</a:t>
            </a:r>
            <a:r>
              <a:rPr lang="en-US" altLang="zh-CN" b="1" smtClean="0"/>
              <a:t>Rptr</a:t>
            </a:r>
            <a:r>
              <a:rPr lang="zh-CN" altLang="en-US" b="1" smtClean="0"/>
              <a:t>，令它指向下一个记录的首地址，每当读完一个记录时，便执行</a:t>
            </a:r>
            <a:endParaRPr lang="zh-CN" altLang="en-US" b="1" smtClean="0"/>
          </a:p>
          <a:p>
            <a:pPr lvl="2" eaLnBrk="1" hangingPunct="1">
              <a:buFont typeface="Wingdings" panose="05000000000000000000" pitchFamily="2" charset="2"/>
              <a:buNone/>
            </a:pPr>
            <a:r>
              <a:rPr lang="en-US" altLang="zh-CN" b="1" smtClean="0"/>
              <a:t>Rptr:=Rptr + L</a:t>
            </a:r>
            <a:endParaRPr lang="en-US" altLang="zh-CN" b="1" smtClean="0"/>
          </a:p>
          <a:p>
            <a:pPr lvl="2" eaLnBrk="1" hangingPunct="1">
              <a:buFont typeface="Wingdings" panose="05000000000000000000" pitchFamily="2" charset="2"/>
              <a:buNone/>
            </a:pPr>
            <a:r>
              <a:rPr lang="zh-CN" altLang="en-US" b="1" smtClean="0"/>
              <a:t>操作，使之指向下一个记录的首地址，其中的</a:t>
            </a:r>
            <a:r>
              <a:rPr lang="en-US" altLang="zh-CN" b="1" smtClean="0"/>
              <a:t>L </a:t>
            </a:r>
            <a:r>
              <a:rPr lang="zh-CN" altLang="en-US" b="1" smtClean="0"/>
              <a:t>为记录长度。</a:t>
            </a:r>
            <a:endParaRPr lang="zh-CN" altLang="en-US" b="1"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2706"/>
                                        </p:tgtEl>
                                        <p:attrNameLst>
                                          <p:attrName>style.visibility</p:attrName>
                                        </p:attrNameLst>
                                      </p:cBhvr>
                                      <p:to>
                                        <p:strVal val="visible"/>
                                      </p:to>
                                    </p:set>
                                    <p:animEffect transition="in" filter="fade">
                                      <p:cBhvr>
                                        <p:cTn id="7" dur="2000"/>
                                        <p:tgtEl>
                                          <p:spTgt spid="727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2707">
                                            <p:txEl>
                                              <p:pRg st="0" end="0"/>
                                            </p:txEl>
                                          </p:spTgt>
                                        </p:tgtEl>
                                        <p:attrNameLst>
                                          <p:attrName>style.visibility</p:attrName>
                                        </p:attrNameLst>
                                      </p:cBhvr>
                                      <p:to>
                                        <p:strVal val="visible"/>
                                      </p:to>
                                    </p:set>
                                    <p:animEffect transition="in" filter="fade">
                                      <p:cBhvr>
                                        <p:cTn id="12" dur="2000"/>
                                        <p:tgtEl>
                                          <p:spTgt spid="7270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2707">
                                            <p:txEl>
                                              <p:pRg st="1" end="1"/>
                                            </p:txEl>
                                          </p:spTgt>
                                        </p:tgtEl>
                                        <p:attrNameLst>
                                          <p:attrName>style.visibility</p:attrName>
                                        </p:attrNameLst>
                                      </p:cBhvr>
                                      <p:to>
                                        <p:strVal val="visible"/>
                                      </p:to>
                                    </p:set>
                                    <p:animEffect transition="in" filter="fade">
                                      <p:cBhvr>
                                        <p:cTn id="17" dur="2000"/>
                                        <p:tgtEl>
                                          <p:spTgt spid="72707">
                                            <p:txEl>
                                              <p:pRg st="1" end="1"/>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2707">
                                            <p:txEl>
                                              <p:pRg st="2" end="2"/>
                                            </p:txEl>
                                          </p:spTgt>
                                        </p:tgtEl>
                                        <p:attrNameLst>
                                          <p:attrName>style.visibility</p:attrName>
                                        </p:attrNameLst>
                                      </p:cBhvr>
                                      <p:to>
                                        <p:strVal val="visible"/>
                                      </p:to>
                                    </p:set>
                                    <p:animEffect transition="in" filter="fade">
                                      <p:cBhvr>
                                        <p:cTn id="20" dur="2000"/>
                                        <p:tgtEl>
                                          <p:spTgt spid="72707">
                                            <p:txEl>
                                              <p:pRg st="2" end="2"/>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2707">
                                            <p:txEl>
                                              <p:pRg st="3" end="3"/>
                                            </p:txEl>
                                          </p:spTgt>
                                        </p:tgtEl>
                                        <p:attrNameLst>
                                          <p:attrName>style.visibility</p:attrName>
                                        </p:attrNameLst>
                                      </p:cBhvr>
                                      <p:to>
                                        <p:strVal val="visible"/>
                                      </p:to>
                                    </p:set>
                                    <p:animEffect transition="in" filter="fade">
                                      <p:cBhvr>
                                        <p:cTn id="23" dur="2000"/>
                                        <p:tgtEl>
                                          <p:spTgt spid="72707">
                                            <p:txEl>
                                              <p:pRg st="3" end="3"/>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2707">
                                            <p:txEl>
                                              <p:pRg st="4" end="4"/>
                                            </p:txEl>
                                          </p:spTgt>
                                        </p:tgtEl>
                                        <p:attrNameLst>
                                          <p:attrName>style.visibility</p:attrName>
                                        </p:attrNameLst>
                                      </p:cBhvr>
                                      <p:to>
                                        <p:strVal val="visible"/>
                                      </p:to>
                                    </p:set>
                                    <p:animEffect transition="in" filter="fade">
                                      <p:cBhvr>
                                        <p:cTn id="26" dur="2000"/>
                                        <p:tgtEl>
                                          <p:spTgt spid="7270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6" grpId="0" autoUpdateAnimBg="0"/>
      <p:bldP spid="72707" grpId="0" autoUpdateAnimBg="0" build="p"/>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0" name="Rectangle 3"/>
          <p:cNvSpPr>
            <a:spLocks noGrp="1" noRot="1" noChangeArrowheads="1"/>
          </p:cNvSpPr>
          <p:nvPr>
            <p:ph type="body" idx="4294967295"/>
          </p:nvPr>
        </p:nvSpPr>
        <p:spPr/>
        <p:txBody>
          <a:bodyPr/>
          <a:lstStyle/>
          <a:p>
            <a:pPr eaLnBrk="1" hangingPunct="1"/>
            <a:r>
              <a:rPr lang="zh-CN" altLang="en-US" b="1" smtClean="0">
                <a:solidFill>
                  <a:schemeClr val="folHlink"/>
                </a:solidFill>
              </a:rPr>
              <a:t>对于变长记录的顺序文件读写：</a:t>
            </a:r>
            <a:endParaRPr lang="zh-CN" altLang="en-US" b="1" smtClean="0">
              <a:solidFill>
                <a:schemeClr val="folHlink"/>
              </a:solidFill>
            </a:endParaRPr>
          </a:p>
          <a:p>
            <a:pPr eaLnBrk="1" hangingPunct="1">
              <a:buFont typeface="Wingdings" panose="05000000000000000000" pitchFamily="2" charset="2"/>
              <a:buNone/>
            </a:pPr>
            <a:r>
              <a:rPr lang="zh-CN" altLang="en-US" b="1" smtClean="0"/>
              <a:t>	在顺序读或写时的情况相似，但应分别为它们设置读或写指针，在每次读或写完一个记录后，须将读或写指针加上</a:t>
            </a:r>
            <a:r>
              <a:rPr lang="en-US" altLang="zh-CN" b="1" smtClean="0"/>
              <a:t>Li</a:t>
            </a:r>
            <a:r>
              <a:rPr lang="zh-CN" altLang="en-US" b="1" smtClean="0"/>
              <a:t>。</a:t>
            </a:r>
            <a:endParaRPr lang="zh-CN" altLang="en-US" b="1"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3730">
                                            <p:txEl>
                                              <p:pRg st="0" end="0"/>
                                            </p:txEl>
                                          </p:spTgt>
                                        </p:tgtEl>
                                        <p:attrNameLst>
                                          <p:attrName>style.visibility</p:attrName>
                                        </p:attrNameLst>
                                      </p:cBhvr>
                                      <p:to>
                                        <p:strVal val="visible"/>
                                      </p:to>
                                    </p:set>
                                    <p:animEffect transition="in" filter="fade">
                                      <p:cBhvr>
                                        <p:cTn id="7" dur="2000"/>
                                        <p:tgtEl>
                                          <p:spTgt spid="737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3730">
                                            <p:txEl>
                                              <p:pRg st="1" end="1"/>
                                            </p:txEl>
                                          </p:spTgt>
                                        </p:tgtEl>
                                        <p:attrNameLst>
                                          <p:attrName>style.visibility</p:attrName>
                                        </p:attrNameLst>
                                      </p:cBhvr>
                                      <p:to>
                                        <p:strVal val="visible"/>
                                      </p:to>
                                    </p:set>
                                    <p:animEffect transition="in" filter="fade">
                                      <p:cBhvr>
                                        <p:cTn id="12" dur="2000"/>
                                        <p:tgtEl>
                                          <p:spTgt spid="7373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0" grpId="0" autoUpdateAnimBg="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4"/>
          <p:cNvPicPr>
            <a:picLocks noChangeAspect="1" noChangeArrowheads="1"/>
          </p:cNvPicPr>
          <p:nvPr/>
        </p:nvPicPr>
        <p:blipFill>
          <a:blip r:embed="rId1"/>
          <a:srcRect/>
          <a:stretch>
            <a:fillRect/>
          </a:stretch>
        </p:blipFill>
        <p:spPr bwMode="auto">
          <a:xfrm>
            <a:off x="0" y="782638"/>
            <a:ext cx="9109075" cy="4011612"/>
          </a:xfrm>
          <a:prstGeom prst="rect">
            <a:avLst/>
          </a:prstGeom>
          <a:noFill/>
          <a:ln w="9525">
            <a:noFill/>
            <a:miter lim="800000"/>
            <a:headEnd/>
            <a:tailEnd/>
          </a:ln>
        </p:spPr>
      </p:pic>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5" name="Rectangle 3"/>
          <p:cNvSpPr>
            <a:spLocks noGrp="1" noRot="1" noChangeArrowheads="1"/>
          </p:cNvSpPr>
          <p:nvPr>
            <p:ph type="body" sz="half" idx="4294967295"/>
          </p:nvPr>
        </p:nvSpPr>
        <p:spPr>
          <a:xfrm>
            <a:off x="395288" y="692696"/>
            <a:ext cx="8281168" cy="5040313"/>
          </a:xfrm>
        </p:spPr>
        <p:txBody>
          <a:bodyPr/>
          <a:lstStyle/>
          <a:p>
            <a:pPr eaLnBrk="1" hangingPunct="1"/>
            <a:r>
              <a:rPr lang="zh-CN" altLang="en-US" sz="2800" b="1" dirty="0" smtClean="0"/>
              <a:t>对于定长记录文件，如果要查找第</a:t>
            </a:r>
            <a:r>
              <a:rPr lang="en-US" altLang="zh-CN" sz="2800" b="1" dirty="0" err="1" smtClean="0"/>
              <a:t>i</a:t>
            </a:r>
            <a:r>
              <a:rPr lang="zh-CN" altLang="en-US" sz="2800" b="1" dirty="0" smtClean="0"/>
              <a:t>个记录， 可直接根据下式计算来获得第</a:t>
            </a:r>
            <a:r>
              <a:rPr lang="en-US" altLang="zh-CN" sz="2800" b="1" dirty="0" err="1" smtClean="0"/>
              <a:t>i</a:t>
            </a:r>
            <a:r>
              <a:rPr lang="zh-CN" altLang="en-US" sz="2800" b="1" dirty="0" smtClean="0"/>
              <a:t>个记录相对于第一个记录首址的地址：</a:t>
            </a:r>
            <a:endParaRPr lang="zh-CN" altLang="en-US" sz="2800" b="1" dirty="0" smtClean="0"/>
          </a:p>
          <a:p>
            <a:pPr algn="ctr" eaLnBrk="1" hangingPunct="1"/>
            <a:r>
              <a:rPr lang="zh-CN" altLang="en-US" sz="2800" b="1" dirty="0" smtClean="0"/>
              <a:t>  </a:t>
            </a:r>
            <a:r>
              <a:rPr lang="en-US" altLang="zh-CN" sz="2800" b="1" dirty="0" smtClean="0"/>
              <a:t>Ai=</a:t>
            </a:r>
            <a:r>
              <a:rPr lang="en-US" altLang="zh-CN" sz="2800" b="1" dirty="0" err="1" smtClean="0"/>
              <a:t>i×L</a:t>
            </a:r>
            <a:endParaRPr lang="en-US" altLang="zh-CN" sz="2800" b="1" dirty="0" smtClean="0"/>
          </a:p>
          <a:p>
            <a:pPr algn="ctr" eaLnBrk="1" hangingPunct="1"/>
            <a:endParaRPr lang="en-US" altLang="zh-CN" sz="2800" b="1" dirty="0" smtClean="0"/>
          </a:p>
          <a:p>
            <a:pPr eaLnBrk="1" hangingPunct="1"/>
            <a:r>
              <a:rPr lang="en-US" altLang="zh-CN" sz="2800" b="1" dirty="0" smtClean="0"/>
              <a:t> </a:t>
            </a:r>
            <a:r>
              <a:rPr lang="zh-CN" altLang="en-US" sz="2800" b="1" dirty="0" smtClean="0"/>
              <a:t>然而，对于可变长度记录的文件，要查找其第</a:t>
            </a:r>
            <a:r>
              <a:rPr lang="en-US" altLang="zh-CN" sz="2800" b="1" dirty="0" err="1" smtClean="0"/>
              <a:t>i</a:t>
            </a:r>
            <a:r>
              <a:rPr lang="zh-CN" altLang="en-US" sz="2800" b="1" dirty="0" smtClean="0"/>
              <a:t>个记录时，须首先计算出该记录的首地址。为此，须顺序地查找每个记录，从中获得相应记录的长度</a:t>
            </a:r>
            <a:r>
              <a:rPr lang="en-US" altLang="zh-CN" sz="2800" b="1" dirty="0" smtClean="0"/>
              <a:t>Li</a:t>
            </a:r>
            <a:r>
              <a:rPr lang="zh-CN" altLang="en-US" sz="2800" b="1" dirty="0" smtClean="0"/>
              <a:t>，然后才能按下式计算出第</a:t>
            </a:r>
            <a:r>
              <a:rPr lang="en-US" altLang="zh-CN" sz="2800" b="1" dirty="0" err="1" smtClean="0"/>
              <a:t>i</a:t>
            </a:r>
            <a:r>
              <a:rPr lang="zh-CN" altLang="en-US" sz="2800" b="1" dirty="0" smtClean="0"/>
              <a:t>个记录的首址。假定在每个记录前用一个字节指明该记录的长度，则 </a:t>
            </a:r>
            <a:endParaRPr lang="zh-CN" altLang="en-US" sz="2800" b="1" dirty="0" smtClean="0"/>
          </a:p>
          <a:p>
            <a:pPr eaLnBrk="1" hangingPunct="1"/>
            <a:endParaRPr lang="zh-CN" altLang="en-US" sz="2800" b="1" dirty="0" smtClean="0"/>
          </a:p>
          <a:p>
            <a:pPr eaLnBrk="1" hangingPunct="1"/>
            <a:endParaRPr lang="en-US" altLang="zh-CN" sz="2800" b="1" dirty="0" smtClean="0"/>
          </a:p>
        </p:txBody>
      </p:sp>
      <p:sp>
        <p:nvSpPr>
          <p:cNvPr id="3076" name="Rectangle 4"/>
          <p:cNvSpPr>
            <a:spLocks noChangeArrowheads="1"/>
          </p:cNvSpPr>
          <p:nvPr/>
        </p:nvSpPr>
        <p:spPr bwMode="auto">
          <a:xfrm>
            <a:off x="1355238" y="5400377"/>
            <a:ext cx="2784714" cy="1196975"/>
          </a:xfrm>
          <a:prstGeom prst="rect">
            <a:avLst/>
          </a:prstGeom>
          <a:solidFill>
            <a:schemeClr val="tx2">
              <a:lumMod val="20000"/>
              <a:lumOff val="80000"/>
            </a:schemeClr>
          </a:solidFill>
          <a:ln w="9525">
            <a:solidFill>
              <a:schemeClr val="tx1"/>
            </a:solidFill>
            <a:miter lim="800000"/>
          </a:ln>
        </p:spPr>
        <p:txBody>
          <a:bodyPr wrap="none" anchor="ctr"/>
          <a:lstStyle/>
          <a:p>
            <a:endParaRPr lang="zh-CN" altLang="en-US"/>
          </a:p>
        </p:txBody>
      </p:sp>
      <p:graphicFrame>
        <p:nvGraphicFramePr>
          <p:cNvPr id="3074" name="Object 4"/>
          <p:cNvGraphicFramePr>
            <a:graphicFrameLocks noGrp="1" noChangeAspect="1"/>
          </p:cNvGraphicFramePr>
          <p:nvPr>
            <p:ph sz="quarter" idx="4294967295"/>
          </p:nvPr>
        </p:nvGraphicFramePr>
        <p:xfrm>
          <a:off x="1571138" y="5386090"/>
          <a:ext cx="2331929" cy="1166812"/>
        </p:xfrm>
        <a:graphic>
          <a:graphicData uri="http://schemas.openxmlformats.org/presentationml/2006/ole">
            <mc:AlternateContent xmlns:mc="http://schemas.openxmlformats.org/markup-compatibility/2006">
              <mc:Choice xmlns:v="urn:schemas-microsoft-com:vml" Requires="v">
                <p:oleObj spid="_x0000_s3073" name="" r:id="rId1" imgW="19812000" imgH="10363200" progId="Equation.3">
                  <p:embed/>
                </p:oleObj>
              </mc:Choice>
              <mc:Fallback>
                <p:oleObj name="" r:id="rId1" imgW="19812000" imgH="10363200" progId="Equation.3">
                  <p:embed/>
                  <p:pic>
                    <p:nvPicPr>
                      <p:cNvPr id="0" name="图片 3072"/>
                      <p:cNvPicPr>
                        <a:picLocks noGrp="1" noChangeAspect="1"/>
                      </p:cNvPicPr>
                      <p:nvPr/>
                    </p:nvPicPr>
                    <p:blipFill>
                      <a:blip r:embed="rId2"/>
                      <a:stretch>
                        <a:fillRect/>
                      </a:stretch>
                    </p:blipFill>
                    <p:spPr>
                      <a:xfrm>
                        <a:off x="1571138" y="5386090"/>
                        <a:ext cx="2331929" cy="1166812"/>
                      </a:xfrm>
                      <a:prstGeom prst="rect">
                        <a:avLst/>
                      </a:prstGeom>
                      <a:noFill/>
                      <a:ln w="9525">
                        <a:no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Effect transition="in" filter="fade">
                                      <p:cBhvr>
                                        <p:cTn id="7" dur="2000"/>
                                        <p:tgtEl>
                                          <p:spTgt spid="30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75">
                                            <p:txEl>
                                              <p:pRg st="1" end="1"/>
                                            </p:txEl>
                                          </p:spTgt>
                                        </p:tgtEl>
                                        <p:attrNameLst>
                                          <p:attrName>style.visibility</p:attrName>
                                        </p:attrNameLst>
                                      </p:cBhvr>
                                      <p:to>
                                        <p:strVal val="visible"/>
                                      </p:to>
                                    </p:set>
                                    <p:animEffect transition="in" filter="fade">
                                      <p:cBhvr>
                                        <p:cTn id="12" dur="2000"/>
                                        <p:tgtEl>
                                          <p:spTgt spid="30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075">
                                            <p:txEl>
                                              <p:pRg st="3" end="3"/>
                                            </p:txEl>
                                          </p:spTgt>
                                        </p:tgtEl>
                                        <p:attrNameLst>
                                          <p:attrName>style.visibility</p:attrName>
                                        </p:attrNameLst>
                                      </p:cBhvr>
                                      <p:to>
                                        <p:strVal val="visible"/>
                                      </p:to>
                                    </p:set>
                                    <p:animEffect transition="in" filter="fade">
                                      <p:cBhvr>
                                        <p:cTn id="17" dur="2000"/>
                                        <p:tgtEl>
                                          <p:spTgt spid="30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autoUpdateAnimBg="0" build="p"/>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Rectangle 2"/>
          <p:cNvSpPr>
            <a:spLocks noGrp="1" noRot="1" noChangeArrowheads="1"/>
          </p:cNvSpPr>
          <p:nvPr>
            <p:ph type="title" idx="4294967295"/>
          </p:nvPr>
        </p:nvSpPr>
        <p:spPr>
          <a:xfrm>
            <a:off x="533400" y="44450"/>
            <a:ext cx="8077200" cy="1066800"/>
          </a:xfrm>
        </p:spPr>
        <p:txBody>
          <a:bodyPr/>
          <a:lstStyle/>
          <a:p>
            <a:pPr eaLnBrk="1" hangingPunct="1">
              <a:defRPr/>
            </a:pPr>
            <a:r>
              <a:rPr lang="en-US" b="1" dirty="0" smtClean="0">
                <a:solidFill>
                  <a:schemeClr val="folHlink"/>
                </a:solidFill>
                <a:effectLst>
                  <a:outerShdw blurRad="38100" dist="38100" dir="2700000" algn="tl">
                    <a:srgbClr val="000000"/>
                  </a:outerShdw>
                </a:effectLst>
                <a:ea typeface="仿宋_GB2312" pitchFamily="1" charset="-122"/>
              </a:rPr>
              <a:t>7.3.3.</a:t>
            </a:r>
            <a:r>
              <a:rPr lang="zh-CN" altLang="en-US" b="1" dirty="0" smtClean="0">
                <a:solidFill>
                  <a:schemeClr val="folHlink"/>
                </a:solidFill>
                <a:effectLst>
                  <a:outerShdw blurRad="38100" dist="38100" dir="2700000" algn="tl">
                    <a:srgbClr val="000000"/>
                  </a:outerShdw>
                </a:effectLst>
                <a:ea typeface="仿宋_GB2312" pitchFamily="1" charset="-122"/>
              </a:rPr>
              <a:t>索引文件</a:t>
            </a:r>
            <a:endParaRPr lang="zh-CN" altLang="en-US" b="1" dirty="0" smtClean="0">
              <a:solidFill>
                <a:schemeClr val="folHlink"/>
              </a:solidFill>
              <a:effectLst>
                <a:outerShdw blurRad="38100" dist="38100" dir="2700000" algn="tl">
                  <a:srgbClr val="000000"/>
                </a:outerShdw>
              </a:effectLst>
              <a:ea typeface="仿宋_GB2312" pitchFamily="1" charset="-122"/>
            </a:endParaRPr>
          </a:p>
        </p:txBody>
      </p:sp>
      <p:sp>
        <p:nvSpPr>
          <p:cNvPr id="75779" name="Rectangle 3"/>
          <p:cNvSpPr>
            <a:spLocks noGrp="1" noRot="1" noChangeArrowheads="1"/>
          </p:cNvSpPr>
          <p:nvPr>
            <p:ph type="body" idx="4294967295"/>
          </p:nvPr>
        </p:nvSpPr>
        <p:spPr>
          <a:xfrm>
            <a:off x="428625" y="1379538"/>
            <a:ext cx="8077200" cy="5192712"/>
          </a:xfrm>
        </p:spPr>
        <p:txBody>
          <a:bodyPr/>
          <a:lstStyle/>
          <a:p>
            <a:pPr eaLnBrk="1" hangingPunct="1"/>
            <a:r>
              <a:rPr lang="zh-CN" altLang="en-US" sz="2800" b="1" dirty="0" smtClean="0"/>
              <a:t>可见，对于定长记录，除了可以方便地实现顺序存取外，还可较方便地实现直接存取。然而，对于变长记录就较难实现直接存取了</a:t>
            </a:r>
            <a:r>
              <a:rPr lang="en-US" altLang="zh-CN" sz="2800" b="1" dirty="0" smtClean="0"/>
              <a:t>.</a:t>
            </a:r>
            <a:endParaRPr lang="en-US" altLang="zh-CN" sz="2800" b="1" dirty="0" smtClean="0"/>
          </a:p>
          <a:p>
            <a:pPr eaLnBrk="1" hangingPunct="1"/>
            <a:r>
              <a:rPr lang="zh-CN" altLang="en-US" sz="2800" b="1" dirty="0" smtClean="0"/>
              <a:t>可</a:t>
            </a:r>
            <a:r>
              <a:rPr lang="zh-CN" altLang="en-US" sz="2800" b="1" dirty="0" smtClean="0">
                <a:solidFill>
                  <a:schemeClr val="folHlink"/>
                </a:solidFill>
              </a:rPr>
              <a:t>为变长记录文件建立一张索引表</a:t>
            </a:r>
            <a:r>
              <a:rPr lang="zh-CN" altLang="en-US" sz="2800" b="1" dirty="0" smtClean="0"/>
              <a:t>，</a:t>
            </a:r>
            <a:r>
              <a:rPr lang="zh-CN" altLang="en-US" sz="2800" b="1" dirty="0" smtClean="0">
                <a:solidFill>
                  <a:schemeClr val="folHlink"/>
                </a:solidFill>
              </a:rPr>
              <a:t>对主文件中的每个记录，在索引表中设有一个相应的表项</a:t>
            </a:r>
            <a:r>
              <a:rPr lang="zh-CN" altLang="en-US" sz="2800" b="1" dirty="0" smtClean="0"/>
              <a:t>，用于记录该记录的长度</a:t>
            </a:r>
            <a:r>
              <a:rPr lang="en-US" altLang="zh-CN" sz="2800" b="1" i="1" dirty="0" smtClean="0"/>
              <a:t>L</a:t>
            </a:r>
            <a:r>
              <a:rPr lang="zh-CN" altLang="en-US" sz="2800" b="1" dirty="0" smtClean="0"/>
              <a:t>及指向该记录的指针</a:t>
            </a:r>
            <a:r>
              <a:rPr lang="en-US" altLang="zh-CN" sz="2800" b="1" dirty="0" smtClean="0"/>
              <a:t>(</a:t>
            </a:r>
            <a:r>
              <a:rPr lang="zh-CN" altLang="en-US" sz="2800" b="1" dirty="0" smtClean="0"/>
              <a:t>指向该记录在逻辑地址空间的首址</a:t>
            </a:r>
            <a:r>
              <a:rPr lang="en-US" altLang="zh-CN" sz="2800" b="1" dirty="0" smtClean="0"/>
              <a:t>)</a:t>
            </a:r>
            <a:r>
              <a:rPr lang="zh-CN" altLang="en-US" sz="2800" b="1" dirty="0" smtClean="0"/>
              <a:t>。</a:t>
            </a:r>
            <a:endParaRPr lang="zh-CN" altLang="en-US" sz="2800" b="1" dirty="0" smtClean="0"/>
          </a:p>
          <a:p>
            <a:pPr eaLnBrk="1" hangingPunct="1"/>
            <a:r>
              <a:rPr lang="zh-CN" altLang="en-US" sz="2800" b="1" dirty="0" smtClean="0"/>
              <a:t>由于</a:t>
            </a:r>
            <a:r>
              <a:rPr lang="zh-CN" altLang="en-US" sz="2800" b="1" dirty="0" smtClean="0">
                <a:solidFill>
                  <a:schemeClr val="folHlink"/>
                </a:solidFill>
              </a:rPr>
              <a:t>索引表是按记录键排序</a:t>
            </a:r>
            <a:r>
              <a:rPr lang="zh-CN" altLang="en-US" sz="2800" b="1" dirty="0" smtClean="0"/>
              <a:t>的，因此，索引表本身是一个定长记录的顺序文件，从而也就可以方便地实现直接存取。</a:t>
            </a:r>
            <a:endParaRPr lang="zh-CN" altLang="en-US" sz="2800" b="1"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9634"/>
                                        </p:tgtEl>
                                        <p:attrNameLst>
                                          <p:attrName>style.visibility</p:attrName>
                                        </p:attrNameLst>
                                      </p:cBhvr>
                                      <p:to>
                                        <p:strVal val="visible"/>
                                      </p:to>
                                    </p:set>
                                    <p:animEffect transition="in" filter="fade">
                                      <p:cBhvr>
                                        <p:cTn id="7" dur="2000"/>
                                        <p:tgtEl>
                                          <p:spTgt spid="696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5779">
                                            <p:txEl>
                                              <p:pRg st="0" end="0"/>
                                            </p:txEl>
                                          </p:spTgt>
                                        </p:tgtEl>
                                        <p:attrNameLst>
                                          <p:attrName>style.visibility</p:attrName>
                                        </p:attrNameLst>
                                      </p:cBhvr>
                                      <p:to>
                                        <p:strVal val="visible"/>
                                      </p:to>
                                    </p:set>
                                    <p:animEffect transition="in" filter="fade">
                                      <p:cBhvr>
                                        <p:cTn id="12" dur="2000"/>
                                        <p:tgtEl>
                                          <p:spTgt spid="7577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5779">
                                            <p:txEl>
                                              <p:pRg st="1" end="1"/>
                                            </p:txEl>
                                          </p:spTgt>
                                        </p:tgtEl>
                                        <p:attrNameLst>
                                          <p:attrName>style.visibility</p:attrName>
                                        </p:attrNameLst>
                                      </p:cBhvr>
                                      <p:to>
                                        <p:strVal val="visible"/>
                                      </p:to>
                                    </p:set>
                                    <p:animEffect transition="in" filter="fade">
                                      <p:cBhvr>
                                        <p:cTn id="17" dur="2000"/>
                                        <p:tgtEl>
                                          <p:spTgt spid="7577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5779">
                                            <p:txEl>
                                              <p:pRg st="2" end="2"/>
                                            </p:txEl>
                                          </p:spTgt>
                                        </p:tgtEl>
                                        <p:attrNameLst>
                                          <p:attrName>style.visibility</p:attrName>
                                        </p:attrNameLst>
                                      </p:cBhvr>
                                      <p:to>
                                        <p:strVal val="visible"/>
                                      </p:to>
                                    </p:set>
                                    <p:animEffect transition="in" filter="fade">
                                      <p:cBhvr>
                                        <p:cTn id="22" dur="2000"/>
                                        <p:tgtEl>
                                          <p:spTgt spid="7577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autoUpdateAnimBg="0"/>
      <p:bldP spid="75779" grpId="0" autoUpdateAnimBg="0" build="p"/>
    </p:bld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58" name="Rectangle 6"/>
          <p:cNvSpPr>
            <a:spLocks noGrp="1" noRot="1" noChangeArrowheads="1"/>
          </p:cNvSpPr>
          <p:nvPr>
            <p:ph type="title" idx="4294967295"/>
          </p:nvPr>
        </p:nvSpPr>
        <p:spPr>
          <a:xfrm>
            <a:off x="533400" y="188913"/>
            <a:ext cx="8077200" cy="1066800"/>
          </a:xfrm>
        </p:spPr>
        <p:txBody>
          <a:bodyPr/>
          <a:lstStyle/>
          <a:p>
            <a:pPr eaLnBrk="1" hangingPunct="1">
              <a:defRPr/>
            </a:pPr>
            <a:r>
              <a:rPr lang="en-US" b="1" smtClean="0">
                <a:solidFill>
                  <a:schemeClr val="folHlink"/>
                </a:solidFill>
                <a:effectLst>
                  <a:outerShdw blurRad="38100" dist="38100" dir="2700000" algn="tl">
                    <a:srgbClr val="000000"/>
                  </a:outerShdw>
                </a:effectLst>
                <a:ea typeface="仿宋_GB2312" pitchFamily="1" charset="-122"/>
              </a:rPr>
              <a:t>3.</a:t>
            </a:r>
            <a:r>
              <a:rPr lang="zh-CN" altLang="en-US" b="1" smtClean="0">
                <a:solidFill>
                  <a:schemeClr val="folHlink"/>
                </a:solidFill>
                <a:effectLst>
                  <a:outerShdw blurRad="38100" dist="38100" dir="2700000" algn="tl">
                    <a:srgbClr val="000000"/>
                  </a:outerShdw>
                </a:effectLst>
                <a:ea typeface="仿宋_GB2312" pitchFamily="1" charset="-122"/>
              </a:rPr>
              <a:t>索引文件</a:t>
            </a:r>
            <a:endParaRPr lang="zh-CN" altLang="en-US" b="1" smtClean="0">
              <a:solidFill>
                <a:schemeClr val="folHlink"/>
              </a:solidFill>
              <a:effectLst>
                <a:outerShdw blurRad="38100" dist="38100" dir="2700000" algn="tl">
                  <a:srgbClr val="000000"/>
                </a:outerShdw>
              </a:effectLst>
              <a:ea typeface="仿宋_GB2312" pitchFamily="1" charset="-122"/>
            </a:endParaRPr>
          </a:p>
        </p:txBody>
      </p:sp>
      <p:sp>
        <p:nvSpPr>
          <p:cNvPr id="4100" name="Rectangle 4"/>
          <p:cNvSpPr>
            <a:spLocks noChangeArrowheads="1"/>
          </p:cNvSpPr>
          <p:nvPr/>
        </p:nvSpPr>
        <p:spPr bwMode="auto">
          <a:xfrm>
            <a:off x="468313" y="1484313"/>
            <a:ext cx="8424862" cy="4537075"/>
          </a:xfrm>
          <a:prstGeom prst="rect">
            <a:avLst/>
          </a:prstGeom>
          <a:solidFill>
            <a:schemeClr val="tx2">
              <a:lumMod val="20000"/>
              <a:lumOff val="80000"/>
            </a:schemeClr>
          </a:solidFill>
          <a:ln w="9525">
            <a:solidFill>
              <a:schemeClr val="tx1"/>
            </a:solidFill>
            <a:miter lim="800000"/>
          </a:ln>
        </p:spPr>
        <p:txBody>
          <a:bodyPr wrap="none" anchor="ctr"/>
          <a:lstStyle/>
          <a:p>
            <a:endParaRPr lang="zh-CN" altLang="en-US"/>
          </a:p>
        </p:txBody>
      </p:sp>
      <p:graphicFrame>
        <p:nvGraphicFramePr>
          <p:cNvPr id="4098" name="Object 5"/>
          <p:cNvGraphicFramePr>
            <a:graphicFrameLocks noGrp="1" noChangeAspect="1"/>
          </p:cNvGraphicFramePr>
          <p:nvPr>
            <p:ph idx="4294967295"/>
          </p:nvPr>
        </p:nvGraphicFramePr>
        <p:xfrm>
          <a:off x="539750" y="1700213"/>
          <a:ext cx="8280400" cy="3660775"/>
        </p:xfrm>
        <a:graphic>
          <a:graphicData uri="http://schemas.openxmlformats.org/presentationml/2006/ole">
            <mc:AlternateContent xmlns:mc="http://schemas.openxmlformats.org/markup-compatibility/2006">
              <mc:Choice xmlns:v="urn:schemas-microsoft-com:vml" Requires="v">
                <p:oleObj spid="_x0000_s4097" name="" r:id="rId1" imgW="4219575" imgH="1866900" progId="Visio.Drawing.11">
                  <p:embed/>
                </p:oleObj>
              </mc:Choice>
              <mc:Fallback>
                <p:oleObj name="" r:id="rId1" imgW="4219575" imgH="1866900" progId="Visio.Drawing.11">
                  <p:embed/>
                  <p:pic>
                    <p:nvPicPr>
                      <p:cNvPr id="0" name="图片 4096"/>
                      <p:cNvPicPr>
                        <a:picLocks noGrp="1" noChangeAspect="1"/>
                      </p:cNvPicPr>
                      <p:nvPr/>
                    </p:nvPicPr>
                    <p:blipFill>
                      <a:blip r:embed="rId2"/>
                      <a:stretch>
                        <a:fillRect/>
                      </a:stretch>
                    </p:blipFill>
                    <p:spPr>
                      <a:xfrm>
                        <a:off x="539750" y="1700213"/>
                        <a:ext cx="8280400" cy="3660775"/>
                      </a:xfrm>
                      <a:prstGeom prst="rect">
                        <a:avLst/>
                      </a:prstGeom>
                      <a:noFill/>
                      <a:ln w="9525">
                        <a:no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0658"/>
                                        </p:tgtEl>
                                        <p:attrNameLst>
                                          <p:attrName>style.visibility</p:attrName>
                                        </p:attrNameLst>
                                      </p:cBhvr>
                                      <p:to>
                                        <p:strVal val="visible"/>
                                      </p:to>
                                    </p:set>
                                    <p:animEffect transition="in" filter="fade">
                                      <p:cBhvr>
                                        <p:cTn id="7" dur="2000"/>
                                        <p:tgtEl>
                                          <p:spTgt spid="706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8"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682" name="Rectangle 2"/>
          <p:cNvSpPr>
            <a:spLocks noGrp="1" noRot="1" noChangeArrowheads="1"/>
          </p:cNvSpPr>
          <p:nvPr>
            <p:ph type="title" idx="4294967295"/>
          </p:nvPr>
        </p:nvSpPr>
        <p:spPr>
          <a:xfrm>
            <a:off x="539750" y="71438"/>
            <a:ext cx="8077200" cy="1066800"/>
          </a:xfrm>
        </p:spPr>
        <p:txBody>
          <a:bodyPr/>
          <a:lstStyle/>
          <a:p>
            <a:pPr eaLnBrk="1" hangingPunct="1">
              <a:defRPr/>
            </a:pPr>
            <a:r>
              <a:rPr lang="en-US" b="1" smtClean="0">
                <a:solidFill>
                  <a:schemeClr val="folHlink"/>
                </a:solidFill>
                <a:effectLst>
                  <a:outerShdw blurRad="38100" dist="38100" dir="2700000" algn="tl">
                    <a:srgbClr val="000000"/>
                  </a:outerShdw>
                </a:effectLst>
                <a:ea typeface="仿宋_GB2312" pitchFamily="1" charset="-122"/>
              </a:rPr>
              <a:t>3.</a:t>
            </a:r>
            <a:r>
              <a:rPr lang="zh-CN" altLang="en-US" b="1" smtClean="0">
                <a:solidFill>
                  <a:schemeClr val="folHlink"/>
                </a:solidFill>
                <a:effectLst>
                  <a:outerShdw blurRad="38100" dist="38100" dir="2700000" algn="tl">
                    <a:srgbClr val="000000"/>
                  </a:outerShdw>
                </a:effectLst>
                <a:ea typeface="仿宋_GB2312" pitchFamily="1" charset="-122"/>
              </a:rPr>
              <a:t>索引文件</a:t>
            </a:r>
            <a:endParaRPr lang="zh-CN" altLang="en-US" b="1" smtClean="0">
              <a:solidFill>
                <a:schemeClr val="folHlink"/>
              </a:solidFill>
              <a:effectLst>
                <a:outerShdw blurRad="38100" dist="38100" dir="2700000" algn="tl">
                  <a:srgbClr val="000000"/>
                </a:outerShdw>
              </a:effectLst>
              <a:ea typeface="仿宋_GB2312" pitchFamily="1" charset="-122"/>
            </a:endParaRPr>
          </a:p>
        </p:txBody>
      </p:sp>
      <p:sp>
        <p:nvSpPr>
          <p:cNvPr id="76803" name="Rectangle 3"/>
          <p:cNvSpPr>
            <a:spLocks noGrp="1" noRot="1" noChangeArrowheads="1"/>
          </p:cNvSpPr>
          <p:nvPr>
            <p:ph type="body" idx="4294967295"/>
          </p:nvPr>
        </p:nvSpPr>
        <p:spPr>
          <a:xfrm>
            <a:off x="179512" y="1286023"/>
            <a:ext cx="8497192" cy="5167313"/>
          </a:xfrm>
        </p:spPr>
        <p:txBody>
          <a:bodyPr/>
          <a:lstStyle/>
          <a:p>
            <a:pPr eaLnBrk="1" hangingPunct="1">
              <a:lnSpc>
                <a:spcPct val="110000"/>
              </a:lnSpc>
            </a:pPr>
            <a:r>
              <a:rPr lang="zh-CN" altLang="en-US" sz="2800" b="1" dirty="0" smtClean="0">
                <a:solidFill>
                  <a:srgbClr val="0070C0"/>
                </a:solidFill>
              </a:rPr>
              <a:t>对索引文件进行检索</a:t>
            </a:r>
            <a:r>
              <a:rPr lang="en-US" altLang="zh-CN" sz="2800" b="1" dirty="0" smtClean="0">
                <a:solidFill>
                  <a:srgbClr val="0070C0"/>
                </a:solidFill>
              </a:rPr>
              <a:t>:</a:t>
            </a:r>
            <a:endParaRPr lang="en-US" altLang="zh-CN" sz="2800" b="1" dirty="0" smtClean="0">
              <a:solidFill>
                <a:srgbClr val="0070C0"/>
              </a:solidFill>
            </a:endParaRPr>
          </a:p>
          <a:p>
            <a:pPr lvl="1" eaLnBrk="1" hangingPunct="1">
              <a:lnSpc>
                <a:spcPct val="110000"/>
              </a:lnSpc>
            </a:pPr>
            <a:r>
              <a:rPr lang="zh-CN" altLang="en-US" sz="2400" b="1" dirty="0" smtClean="0"/>
              <a:t>首先是根据用户</a:t>
            </a:r>
            <a:r>
              <a:rPr lang="en-US" altLang="zh-CN" sz="2400" b="1" dirty="0" smtClean="0"/>
              <a:t>(</a:t>
            </a:r>
            <a:r>
              <a:rPr lang="zh-CN" altLang="en-US" sz="2400" b="1" dirty="0" smtClean="0"/>
              <a:t>程序</a:t>
            </a:r>
            <a:r>
              <a:rPr lang="en-US" altLang="zh-CN" sz="2400" b="1" dirty="0" smtClean="0"/>
              <a:t>)</a:t>
            </a:r>
            <a:r>
              <a:rPr lang="zh-CN" altLang="en-US" sz="2400" b="1" dirty="0" smtClean="0"/>
              <a:t>提供的关键字，并利用折半查找法去检索索引表，从中找到相应的表项；</a:t>
            </a:r>
            <a:endParaRPr lang="en-US" sz="2400" b="1" dirty="0" smtClean="0"/>
          </a:p>
          <a:p>
            <a:pPr lvl="1" eaLnBrk="1" hangingPunct="1">
              <a:lnSpc>
                <a:spcPct val="110000"/>
              </a:lnSpc>
            </a:pPr>
            <a:r>
              <a:rPr lang="zh-CN" altLang="en-US" sz="2400" b="1" dirty="0" smtClean="0"/>
              <a:t>再利用该表项中给出的指向记录的指针值，去访问所需的记录。</a:t>
            </a:r>
            <a:endParaRPr lang="zh-CN" altLang="en-US" sz="2400" b="1" dirty="0" smtClean="0"/>
          </a:p>
          <a:p>
            <a:pPr eaLnBrk="1" hangingPunct="1">
              <a:lnSpc>
                <a:spcPct val="110000"/>
              </a:lnSpc>
            </a:pPr>
            <a:r>
              <a:rPr lang="zh-CN" altLang="en-US" sz="2800" b="1" dirty="0" smtClean="0"/>
              <a:t>由于索引文件可有较快的检索速度，故它主要用于对信息处理的及时性要求较高的场合。例如，飞机订票系统。</a:t>
            </a:r>
            <a:endParaRPr lang="zh-CN" altLang="en-US" sz="2800" b="1" dirty="0" smtClean="0"/>
          </a:p>
          <a:p>
            <a:pPr eaLnBrk="1" hangingPunct="1">
              <a:lnSpc>
                <a:spcPct val="110000"/>
              </a:lnSpc>
            </a:pPr>
            <a:r>
              <a:rPr lang="zh-CN" altLang="en-US" sz="2800" b="1" dirty="0" smtClean="0"/>
              <a:t>使用索引文件的主要问题</a:t>
            </a:r>
            <a:r>
              <a:rPr lang="en-US" altLang="zh-CN" sz="2800" b="1" dirty="0" smtClean="0"/>
              <a:t>: </a:t>
            </a:r>
            <a:r>
              <a:rPr lang="zh-CN" altLang="en-US" sz="2800" b="1" dirty="0" smtClean="0"/>
              <a:t>它除了有主文件外，还须配置一张索引表，而且每个记录都要有一个索引项，因此提高了存储费用。</a:t>
            </a:r>
            <a:endParaRPr lang="zh-CN" altLang="en-US" sz="2800" b="1"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1682"/>
                                        </p:tgtEl>
                                        <p:attrNameLst>
                                          <p:attrName>style.visibility</p:attrName>
                                        </p:attrNameLst>
                                      </p:cBhvr>
                                      <p:to>
                                        <p:strVal val="visible"/>
                                      </p:to>
                                    </p:set>
                                    <p:animEffect transition="in" filter="fade">
                                      <p:cBhvr>
                                        <p:cTn id="7" dur="2000"/>
                                        <p:tgtEl>
                                          <p:spTgt spid="716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6803">
                                            <p:txEl>
                                              <p:pRg st="0" end="0"/>
                                            </p:txEl>
                                          </p:spTgt>
                                        </p:tgtEl>
                                        <p:attrNameLst>
                                          <p:attrName>style.visibility</p:attrName>
                                        </p:attrNameLst>
                                      </p:cBhvr>
                                      <p:to>
                                        <p:strVal val="visible"/>
                                      </p:to>
                                    </p:set>
                                    <p:animEffect transition="in" filter="fade">
                                      <p:cBhvr>
                                        <p:cTn id="12" dur="2000"/>
                                        <p:tgtEl>
                                          <p:spTgt spid="7680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6803">
                                            <p:txEl>
                                              <p:pRg st="1" end="1"/>
                                            </p:txEl>
                                          </p:spTgt>
                                        </p:tgtEl>
                                        <p:attrNameLst>
                                          <p:attrName>style.visibility</p:attrName>
                                        </p:attrNameLst>
                                      </p:cBhvr>
                                      <p:to>
                                        <p:strVal val="visible"/>
                                      </p:to>
                                    </p:set>
                                    <p:animEffect transition="in" filter="fade">
                                      <p:cBhvr>
                                        <p:cTn id="15" dur="2000"/>
                                        <p:tgtEl>
                                          <p:spTgt spid="7680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6803">
                                            <p:txEl>
                                              <p:pRg st="2" end="2"/>
                                            </p:txEl>
                                          </p:spTgt>
                                        </p:tgtEl>
                                        <p:attrNameLst>
                                          <p:attrName>style.visibility</p:attrName>
                                        </p:attrNameLst>
                                      </p:cBhvr>
                                      <p:to>
                                        <p:strVal val="visible"/>
                                      </p:to>
                                    </p:set>
                                    <p:animEffect transition="in" filter="fade">
                                      <p:cBhvr>
                                        <p:cTn id="18" dur="2000"/>
                                        <p:tgtEl>
                                          <p:spTgt spid="7680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6803">
                                            <p:txEl>
                                              <p:pRg st="3" end="3"/>
                                            </p:txEl>
                                          </p:spTgt>
                                        </p:tgtEl>
                                        <p:attrNameLst>
                                          <p:attrName>style.visibility</p:attrName>
                                        </p:attrNameLst>
                                      </p:cBhvr>
                                      <p:to>
                                        <p:strVal val="visible"/>
                                      </p:to>
                                    </p:set>
                                    <p:animEffect transition="in" filter="fade">
                                      <p:cBhvr>
                                        <p:cTn id="23" dur="2000"/>
                                        <p:tgtEl>
                                          <p:spTgt spid="76803">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6803">
                                            <p:txEl>
                                              <p:pRg st="4" end="4"/>
                                            </p:txEl>
                                          </p:spTgt>
                                        </p:tgtEl>
                                        <p:attrNameLst>
                                          <p:attrName>style.visibility</p:attrName>
                                        </p:attrNameLst>
                                      </p:cBhvr>
                                      <p:to>
                                        <p:strVal val="visible"/>
                                      </p:to>
                                    </p:set>
                                    <p:animEffect transition="in" filter="fade">
                                      <p:cBhvr>
                                        <p:cTn id="28" dur="2000"/>
                                        <p:tgtEl>
                                          <p:spTgt spid="768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2" grpId="0" autoUpdateAnimBg="0"/>
      <p:bldP spid="76803" grpId="0" autoUpdateAnimBg="0" build="p"/>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6" name="Rectangle 2"/>
          <p:cNvSpPr>
            <a:spLocks noGrp="1" noRot="1" noChangeArrowheads="1"/>
          </p:cNvSpPr>
          <p:nvPr>
            <p:ph type="title" idx="4294967295"/>
          </p:nvPr>
        </p:nvSpPr>
        <p:spPr/>
        <p:txBody>
          <a:bodyPr/>
          <a:lstStyle/>
          <a:p>
            <a:pPr eaLnBrk="1" hangingPunct="1">
              <a:defRPr/>
            </a:pPr>
            <a:r>
              <a:rPr lang="en-US" altLang="zh-CN" b="1" smtClean="0">
                <a:solidFill>
                  <a:schemeClr val="folHlink"/>
                </a:solidFill>
                <a:effectLst>
                  <a:outerShdw blurRad="38100" dist="38100" dir="2700000" algn="tl">
                    <a:srgbClr val="000000"/>
                  </a:outerShdw>
                </a:effectLst>
              </a:rPr>
              <a:t>7</a:t>
            </a:r>
            <a:r>
              <a:rPr lang="en-US" b="1" smtClean="0">
                <a:solidFill>
                  <a:schemeClr val="folHlink"/>
                </a:solidFill>
                <a:effectLst>
                  <a:outerShdw blurRad="38100" dist="38100" dir="2700000" algn="tl">
                    <a:srgbClr val="000000"/>
                  </a:outerShdw>
                </a:effectLst>
              </a:rPr>
              <a:t>.3.4. </a:t>
            </a:r>
            <a:r>
              <a:rPr lang="zh-CN" altLang="en-US" b="1" smtClean="0">
                <a:solidFill>
                  <a:schemeClr val="folHlink"/>
                </a:solidFill>
              </a:rPr>
              <a:t>索引</a:t>
            </a:r>
            <a:r>
              <a:rPr lang="zh-CN" altLang="en-US" b="1" dirty="0" smtClean="0">
                <a:solidFill>
                  <a:schemeClr val="folHlink"/>
                </a:solidFill>
              </a:rPr>
              <a:t>顺序文件</a:t>
            </a:r>
            <a:endParaRPr lang="zh-CN" altLang="en-US" b="1" dirty="0" smtClean="0">
              <a:solidFill>
                <a:schemeClr val="folHlink"/>
              </a:solidFill>
            </a:endParaRPr>
          </a:p>
        </p:txBody>
      </p:sp>
      <p:sp>
        <p:nvSpPr>
          <p:cNvPr id="77827" name="Rectangle 3"/>
          <p:cNvSpPr>
            <a:spLocks noGrp="1" noRot="1" noChangeArrowheads="1"/>
          </p:cNvSpPr>
          <p:nvPr>
            <p:ph type="body" idx="4294967295"/>
          </p:nvPr>
        </p:nvSpPr>
        <p:spPr/>
        <p:txBody>
          <a:bodyPr/>
          <a:lstStyle/>
          <a:p>
            <a:pPr eaLnBrk="1" hangingPunct="1"/>
            <a:r>
              <a:rPr lang="zh-CN" altLang="en-US" b="1" smtClean="0"/>
              <a:t>索引顺序文件</a:t>
            </a:r>
            <a:r>
              <a:rPr lang="en-US" altLang="zh-CN" b="1" smtClean="0"/>
              <a:t>(Index Sequential File)</a:t>
            </a:r>
            <a:r>
              <a:rPr lang="zh-CN" altLang="en-US" b="1" smtClean="0"/>
              <a:t>可能是最常见的一种逻辑文件形式。</a:t>
            </a:r>
            <a:endParaRPr lang="zh-CN" altLang="en-US" b="1" smtClean="0"/>
          </a:p>
          <a:p>
            <a:pPr eaLnBrk="1" hangingPunct="1"/>
            <a:r>
              <a:rPr lang="zh-CN" altLang="en-US" b="1" smtClean="0"/>
              <a:t>它有效地克服了变长记录文件不便于直接存取的缺点，而且所付出的代价也不算太大。</a:t>
            </a:r>
            <a:endParaRPr lang="zh-CN" altLang="en-US" b="1" smtClean="0"/>
          </a:p>
          <a:p>
            <a:pPr eaLnBrk="1" hangingPunct="1"/>
            <a:r>
              <a:rPr lang="zh-CN" altLang="en-US" b="1" smtClean="0"/>
              <a:t>它是顺序文件和索引文件相结合的产物。</a:t>
            </a:r>
            <a:endParaRPr lang="zh-CN" altLang="en-US" b="1"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2706"/>
                                        </p:tgtEl>
                                        <p:attrNameLst>
                                          <p:attrName>style.visibility</p:attrName>
                                        </p:attrNameLst>
                                      </p:cBhvr>
                                      <p:to>
                                        <p:strVal val="visible"/>
                                      </p:to>
                                    </p:set>
                                    <p:animEffect transition="in" filter="fade">
                                      <p:cBhvr>
                                        <p:cTn id="7" dur="2000"/>
                                        <p:tgtEl>
                                          <p:spTgt spid="727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7827">
                                            <p:txEl>
                                              <p:pRg st="0" end="0"/>
                                            </p:txEl>
                                          </p:spTgt>
                                        </p:tgtEl>
                                        <p:attrNameLst>
                                          <p:attrName>style.visibility</p:attrName>
                                        </p:attrNameLst>
                                      </p:cBhvr>
                                      <p:to>
                                        <p:strVal val="visible"/>
                                      </p:to>
                                    </p:set>
                                    <p:animEffect transition="in" filter="fade">
                                      <p:cBhvr>
                                        <p:cTn id="12" dur="2000"/>
                                        <p:tgtEl>
                                          <p:spTgt spid="7782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7827">
                                            <p:txEl>
                                              <p:pRg st="1" end="1"/>
                                            </p:txEl>
                                          </p:spTgt>
                                        </p:tgtEl>
                                        <p:attrNameLst>
                                          <p:attrName>style.visibility</p:attrName>
                                        </p:attrNameLst>
                                      </p:cBhvr>
                                      <p:to>
                                        <p:strVal val="visible"/>
                                      </p:to>
                                    </p:set>
                                    <p:animEffect transition="in" filter="fade">
                                      <p:cBhvr>
                                        <p:cTn id="17" dur="2000"/>
                                        <p:tgtEl>
                                          <p:spTgt spid="7782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7827">
                                            <p:txEl>
                                              <p:pRg st="2" end="2"/>
                                            </p:txEl>
                                          </p:spTgt>
                                        </p:tgtEl>
                                        <p:attrNameLst>
                                          <p:attrName>style.visibility</p:attrName>
                                        </p:attrNameLst>
                                      </p:cBhvr>
                                      <p:to>
                                        <p:strVal val="visible"/>
                                      </p:to>
                                    </p:set>
                                    <p:animEffect transition="in" filter="fade">
                                      <p:cBhvr>
                                        <p:cTn id="22" dur="2000"/>
                                        <p:tgtEl>
                                          <p:spTgt spid="7782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6" grpId="0" autoUpdateAnimBg="0"/>
      <p:bldP spid="77827" grpId="0" autoUpdateAnimBg="0" build="p"/>
    </p:bld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0" name="Rectangle 2"/>
          <p:cNvSpPr>
            <a:spLocks noGrp="1" noRot="1" noChangeArrowheads="1"/>
          </p:cNvSpPr>
          <p:nvPr>
            <p:ph type="title" idx="4294967295"/>
          </p:nvPr>
        </p:nvSpPr>
        <p:spPr/>
        <p:txBody>
          <a:bodyPr/>
          <a:lstStyle/>
          <a:p>
            <a:pPr eaLnBrk="1" hangingPunct="1">
              <a:defRPr/>
            </a:pPr>
            <a:r>
              <a:rPr lang="en-US" b="1" dirty="0" smtClean="0">
                <a:solidFill>
                  <a:schemeClr val="folHlink"/>
                </a:solidFill>
                <a:effectLst>
                  <a:outerShdw blurRad="38100" dist="38100" dir="2700000" algn="tl">
                    <a:srgbClr val="000000"/>
                  </a:outerShdw>
                </a:effectLst>
              </a:rPr>
              <a:t>7.3.4.</a:t>
            </a:r>
            <a:r>
              <a:rPr lang="zh-CN" altLang="en-US" b="1" dirty="0" smtClean="0">
                <a:solidFill>
                  <a:schemeClr val="folHlink"/>
                </a:solidFill>
              </a:rPr>
              <a:t>索引顺序文件</a:t>
            </a:r>
            <a:endParaRPr lang="zh-CN" altLang="en-US" b="1" dirty="0" smtClean="0">
              <a:solidFill>
                <a:schemeClr val="folHlink"/>
              </a:solidFill>
            </a:endParaRPr>
          </a:p>
        </p:txBody>
      </p:sp>
      <p:sp>
        <p:nvSpPr>
          <p:cNvPr id="78851" name="Rectangle 3"/>
          <p:cNvSpPr>
            <a:spLocks noGrp="1" noRot="1" noChangeArrowheads="1"/>
          </p:cNvSpPr>
          <p:nvPr>
            <p:ph type="body" idx="4294967295"/>
          </p:nvPr>
        </p:nvSpPr>
        <p:spPr>
          <a:xfrm>
            <a:off x="533400" y="1557338"/>
            <a:ext cx="8077200" cy="4498975"/>
          </a:xfrm>
        </p:spPr>
        <p:txBody>
          <a:bodyPr/>
          <a:lstStyle/>
          <a:p>
            <a:pPr eaLnBrk="1" hangingPunct="1"/>
            <a:r>
              <a:rPr lang="zh-CN" altLang="en-US" b="1" dirty="0" smtClean="0"/>
              <a:t>它将顺序文件中的所有记录分为若干个组</a:t>
            </a:r>
            <a:r>
              <a:rPr lang="en-US" altLang="zh-CN" b="1" dirty="0" smtClean="0"/>
              <a:t>(</a:t>
            </a:r>
            <a:r>
              <a:rPr lang="zh-CN" altLang="en-US" b="1" dirty="0" smtClean="0"/>
              <a:t>例如，</a:t>
            </a:r>
            <a:r>
              <a:rPr lang="en-US" altLang="zh-CN" b="1" dirty="0" smtClean="0"/>
              <a:t>50 </a:t>
            </a:r>
            <a:r>
              <a:rPr lang="zh-CN" altLang="en-US" b="1" dirty="0" smtClean="0"/>
              <a:t>个记录为一个组</a:t>
            </a:r>
            <a:r>
              <a:rPr lang="en-US" altLang="zh-CN" b="1" dirty="0" smtClean="0"/>
              <a:t>)</a:t>
            </a:r>
            <a:r>
              <a:rPr lang="zh-CN" altLang="en-US" b="1" dirty="0" smtClean="0"/>
              <a:t>；</a:t>
            </a:r>
            <a:endParaRPr lang="zh-CN" altLang="en-US" b="1" dirty="0" smtClean="0"/>
          </a:p>
          <a:p>
            <a:pPr eaLnBrk="1" hangingPunct="1"/>
            <a:r>
              <a:rPr lang="zh-CN" altLang="en-US" b="1" dirty="0" smtClean="0">
                <a:solidFill>
                  <a:schemeClr val="folHlink"/>
                </a:solidFill>
              </a:rPr>
              <a:t>为顺序文件建立一张索引表</a:t>
            </a:r>
            <a:r>
              <a:rPr lang="en-US" altLang="zh-CN" b="1" dirty="0" smtClean="0">
                <a:solidFill>
                  <a:schemeClr val="folHlink"/>
                </a:solidFill>
              </a:rPr>
              <a:t>.</a:t>
            </a:r>
            <a:endParaRPr lang="en-US" altLang="zh-CN" b="1" dirty="0" smtClean="0">
              <a:solidFill>
                <a:schemeClr val="folHlink"/>
              </a:solidFill>
            </a:endParaRPr>
          </a:p>
          <a:p>
            <a:pPr eaLnBrk="1" hangingPunct="1"/>
            <a:r>
              <a:rPr lang="zh-CN" altLang="en-US" b="1" dirty="0" smtClean="0">
                <a:solidFill>
                  <a:schemeClr val="folHlink"/>
                </a:solidFill>
              </a:rPr>
              <a:t>在索引表中为</a:t>
            </a:r>
            <a:r>
              <a:rPr lang="zh-CN" altLang="en-US" b="1" i="1" u="sng" dirty="0" smtClean="0">
                <a:solidFill>
                  <a:srgbClr val="FF0000"/>
                </a:solidFill>
              </a:rPr>
              <a:t>每组中的第一个记录建立一个索引项</a:t>
            </a:r>
            <a:r>
              <a:rPr lang="zh-CN" altLang="en-US" b="1" dirty="0" smtClean="0"/>
              <a:t>，其中含有该记录的键值和指向该记录的指针。</a:t>
            </a:r>
            <a:endParaRPr lang="zh-CN" altLang="en-US" b="1"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3730"/>
                                        </p:tgtEl>
                                        <p:attrNameLst>
                                          <p:attrName>style.visibility</p:attrName>
                                        </p:attrNameLst>
                                      </p:cBhvr>
                                      <p:to>
                                        <p:strVal val="visible"/>
                                      </p:to>
                                    </p:set>
                                    <p:animEffect transition="in" filter="fade">
                                      <p:cBhvr>
                                        <p:cTn id="7" dur="2000"/>
                                        <p:tgtEl>
                                          <p:spTgt spid="737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8851">
                                            <p:txEl>
                                              <p:pRg st="0" end="0"/>
                                            </p:txEl>
                                          </p:spTgt>
                                        </p:tgtEl>
                                        <p:attrNameLst>
                                          <p:attrName>style.visibility</p:attrName>
                                        </p:attrNameLst>
                                      </p:cBhvr>
                                      <p:to>
                                        <p:strVal val="visible"/>
                                      </p:to>
                                    </p:set>
                                    <p:animEffect transition="in" filter="fade">
                                      <p:cBhvr>
                                        <p:cTn id="12" dur="2000"/>
                                        <p:tgtEl>
                                          <p:spTgt spid="7885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8851">
                                            <p:txEl>
                                              <p:pRg st="1" end="1"/>
                                            </p:txEl>
                                          </p:spTgt>
                                        </p:tgtEl>
                                        <p:attrNameLst>
                                          <p:attrName>style.visibility</p:attrName>
                                        </p:attrNameLst>
                                      </p:cBhvr>
                                      <p:to>
                                        <p:strVal val="visible"/>
                                      </p:to>
                                    </p:set>
                                    <p:animEffect transition="in" filter="fade">
                                      <p:cBhvr>
                                        <p:cTn id="17" dur="2000"/>
                                        <p:tgtEl>
                                          <p:spTgt spid="7885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8851">
                                            <p:txEl>
                                              <p:pRg st="2" end="2"/>
                                            </p:txEl>
                                          </p:spTgt>
                                        </p:tgtEl>
                                        <p:attrNameLst>
                                          <p:attrName>style.visibility</p:attrName>
                                        </p:attrNameLst>
                                      </p:cBhvr>
                                      <p:to>
                                        <p:strVal val="visible"/>
                                      </p:to>
                                    </p:set>
                                    <p:animEffect transition="in" filter="fade">
                                      <p:cBhvr>
                                        <p:cTn id="22" dur="2000"/>
                                        <p:tgtEl>
                                          <p:spTgt spid="7885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0" grpId="0" autoUpdateAnimBg="0"/>
      <p:bldP spid="78851" grpId="0" autoUpdateAnimBg="0" build="p"/>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Rectangle 6"/>
          <p:cNvSpPr>
            <a:spLocks noGrp="1" noRot="1" noChangeArrowheads="1"/>
          </p:cNvSpPr>
          <p:nvPr>
            <p:ph type="title" idx="4294967295"/>
          </p:nvPr>
        </p:nvSpPr>
        <p:spPr>
          <a:xfrm>
            <a:off x="395288" y="260350"/>
            <a:ext cx="8077200" cy="1066800"/>
          </a:xfrm>
        </p:spPr>
        <p:txBody>
          <a:bodyPr/>
          <a:lstStyle/>
          <a:p>
            <a:pPr eaLnBrk="1" hangingPunct="1">
              <a:defRPr/>
            </a:pPr>
            <a:r>
              <a:rPr lang="en-US" b="1" dirty="0" smtClean="0">
                <a:solidFill>
                  <a:schemeClr val="folHlink"/>
                </a:solidFill>
                <a:effectLst>
                  <a:outerShdw blurRad="38100" dist="38100" dir="2700000" algn="tl">
                    <a:srgbClr val="000000"/>
                  </a:outerShdw>
                </a:effectLst>
              </a:rPr>
              <a:t>7.3.4.</a:t>
            </a:r>
            <a:r>
              <a:rPr lang="zh-CN" altLang="en-US" b="1" dirty="0" smtClean="0">
                <a:solidFill>
                  <a:schemeClr val="folHlink"/>
                </a:solidFill>
              </a:rPr>
              <a:t>索引顺序文件</a:t>
            </a:r>
            <a:endParaRPr lang="zh-CN" altLang="en-US" b="1" dirty="0" smtClean="0">
              <a:solidFill>
                <a:schemeClr val="folHlink"/>
              </a:solidFill>
            </a:endParaRPr>
          </a:p>
        </p:txBody>
      </p:sp>
      <p:sp>
        <p:nvSpPr>
          <p:cNvPr id="5124" name="Rectangle 4"/>
          <p:cNvSpPr>
            <a:spLocks noChangeArrowheads="1"/>
          </p:cNvSpPr>
          <p:nvPr/>
        </p:nvSpPr>
        <p:spPr bwMode="auto">
          <a:xfrm>
            <a:off x="395288" y="1557338"/>
            <a:ext cx="8280400" cy="4751387"/>
          </a:xfrm>
          <a:prstGeom prst="rect">
            <a:avLst/>
          </a:prstGeom>
          <a:solidFill>
            <a:schemeClr val="tx2">
              <a:lumMod val="20000"/>
              <a:lumOff val="80000"/>
            </a:schemeClr>
          </a:solidFill>
          <a:ln w="9525">
            <a:solidFill>
              <a:schemeClr val="tx1"/>
            </a:solidFill>
            <a:miter lim="800000"/>
          </a:ln>
        </p:spPr>
        <p:txBody>
          <a:bodyPr wrap="none" anchor="ctr"/>
          <a:lstStyle/>
          <a:p>
            <a:endParaRPr lang="zh-CN" altLang="en-US"/>
          </a:p>
        </p:txBody>
      </p:sp>
      <p:graphicFrame>
        <p:nvGraphicFramePr>
          <p:cNvPr id="5122" name="Object 5"/>
          <p:cNvGraphicFramePr>
            <a:graphicFrameLocks noGrp="1" noChangeAspect="1"/>
          </p:cNvGraphicFramePr>
          <p:nvPr>
            <p:ph idx="4294967295"/>
          </p:nvPr>
        </p:nvGraphicFramePr>
        <p:xfrm>
          <a:off x="468313" y="2070100"/>
          <a:ext cx="8064500" cy="4022725"/>
        </p:xfrm>
        <a:graphic>
          <a:graphicData uri="http://schemas.openxmlformats.org/presentationml/2006/ole">
            <mc:AlternateContent xmlns:mc="http://schemas.openxmlformats.org/markup-compatibility/2006">
              <mc:Choice xmlns:v="urn:schemas-microsoft-com:vml" Requires="v">
                <p:oleObj spid="_x0000_s5121" name="" r:id="rId1" imgW="3952875" imgH="1971675" progId="Visio.Drawing.11">
                  <p:embed/>
                </p:oleObj>
              </mc:Choice>
              <mc:Fallback>
                <p:oleObj name="" r:id="rId1" imgW="3952875" imgH="1971675" progId="Visio.Drawing.11">
                  <p:embed/>
                  <p:pic>
                    <p:nvPicPr>
                      <p:cNvPr id="0" name="图片 5120"/>
                      <p:cNvPicPr>
                        <a:picLocks noGrp="1" noChangeAspect="1"/>
                      </p:cNvPicPr>
                      <p:nvPr/>
                    </p:nvPicPr>
                    <p:blipFill>
                      <a:blip r:embed="rId2"/>
                      <a:stretch>
                        <a:fillRect/>
                      </a:stretch>
                    </p:blipFill>
                    <p:spPr>
                      <a:xfrm>
                        <a:off x="468313" y="2070100"/>
                        <a:ext cx="8064500" cy="4022725"/>
                      </a:xfrm>
                      <a:prstGeom prst="rect">
                        <a:avLst/>
                      </a:prstGeom>
                      <a:noFill/>
                      <a:ln w="9525">
                        <a:no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4754"/>
                                        </p:tgtEl>
                                        <p:attrNameLst>
                                          <p:attrName>style.visibility</p:attrName>
                                        </p:attrNameLst>
                                      </p:cBhvr>
                                      <p:to>
                                        <p:strVal val="visible"/>
                                      </p:to>
                                    </p:set>
                                    <p:animEffect transition="in" filter="fade">
                                      <p:cBhvr>
                                        <p:cTn id="7" dur="2000"/>
                                        <p:tgtEl>
                                          <p:spTgt spid="747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4"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8" name="Rectangle 2"/>
          <p:cNvSpPr>
            <a:spLocks noGrp="1" noRot="1" noChangeArrowheads="1"/>
          </p:cNvSpPr>
          <p:nvPr>
            <p:ph type="title" idx="4294967295"/>
          </p:nvPr>
        </p:nvSpPr>
        <p:spPr>
          <a:xfrm>
            <a:off x="533400" y="219075"/>
            <a:ext cx="8077200" cy="1066800"/>
          </a:xfrm>
        </p:spPr>
        <p:txBody>
          <a:bodyPr/>
          <a:lstStyle/>
          <a:p>
            <a:pPr eaLnBrk="1" hangingPunct="1">
              <a:defRPr/>
            </a:pPr>
            <a:r>
              <a:rPr lang="en-US" b="1" dirty="0" smtClean="0">
                <a:solidFill>
                  <a:schemeClr val="folHlink"/>
                </a:solidFill>
                <a:effectLst>
                  <a:outerShdw blurRad="38100" dist="38100" dir="2700000" algn="tl">
                    <a:srgbClr val="000000"/>
                  </a:outerShdw>
                </a:effectLst>
              </a:rPr>
              <a:t>7.3.4.</a:t>
            </a:r>
            <a:r>
              <a:rPr lang="zh-CN" altLang="en-US" b="1" dirty="0" smtClean="0">
                <a:solidFill>
                  <a:schemeClr val="folHlink"/>
                </a:solidFill>
              </a:rPr>
              <a:t>索引顺序文件</a:t>
            </a:r>
            <a:endParaRPr lang="zh-CN" altLang="en-US" b="1" dirty="0" smtClean="0">
              <a:solidFill>
                <a:schemeClr val="folHlink"/>
              </a:solidFill>
            </a:endParaRPr>
          </a:p>
        </p:txBody>
      </p:sp>
      <p:sp>
        <p:nvSpPr>
          <p:cNvPr id="79875" name="Rectangle 3"/>
          <p:cNvSpPr>
            <a:spLocks noGrp="1" noRot="1" noChangeArrowheads="1"/>
          </p:cNvSpPr>
          <p:nvPr>
            <p:ph type="body" idx="4294967295"/>
          </p:nvPr>
        </p:nvSpPr>
        <p:spPr>
          <a:xfrm>
            <a:off x="395288" y="1714487"/>
            <a:ext cx="8105775" cy="5000637"/>
          </a:xfrm>
        </p:spPr>
        <p:txBody>
          <a:bodyPr/>
          <a:lstStyle/>
          <a:p>
            <a:pPr eaLnBrk="1" hangingPunct="1">
              <a:lnSpc>
                <a:spcPct val="110000"/>
              </a:lnSpc>
            </a:pPr>
            <a:r>
              <a:rPr lang="zh-CN" altLang="en-US" b="1" dirty="0" smtClean="0"/>
              <a:t>对索引顺序文件检索</a:t>
            </a:r>
            <a:r>
              <a:rPr lang="en-US" altLang="zh-CN" b="1" dirty="0" smtClean="0"/>
              <a:t>:</a:t>
            </a:r>
            <a:endParaRPr lang="en-US" altLang="zh-CN" b="1" dirty="0" smtClean="0"/>
          </a:p>
          <a:p>
            <a:pPr lvl="1" eaLnBrk="1" hangingPunct="1">
              <a:lnSpc>
                <a:spcPct val="110000"/>
              </a:lnSpc>
            </a:pPr>
            <a:r>
              <a:rPr lang="zh-CN" altLang="en-US" b="1" dirty="0" smtClean="0"/>
              <a:t>首先也是利用用户</a:t>
            </a:r>
            <a:r>
              <a:rPr lang="en-US" altLang="zh-CN" b="1" dirty="0" smtClean="0"/>
              <a:t>(</a:t>
            </a:r>
            <a:r>
              <a:rPr lang="zh-CN" altLang="en-US" b="1" dirty="0" smtClean="0"/>
              <a:t>程序</a:t>
            </a:r>
            <a:r>
              <a:rPr lang="en-US" altLang="zh-CN" b="1" dirty="0" smtClean="0"/>
              <a:t>)</a:t>
            </a:r>
            <a:r>
              <a:rPr lang="zh-CN" altLang="en-US" b="1" dirty="0" smtClean="0"/>
              <a:t>所提供的关键字以及某种查找算法去检索索引表，</a:t>
            </a:r>
            <a:r>
              <a:rPr lang="zh-CN" altLang="en-US" b="1" dirty="0" smtClean="0">
                <a:solidFill>
                  <a:schemeClr val="folHlink"/>
                </a:solidFill>
              </a:rPr>
              <a:t>找到该记录所在记录组中第一个记录的表项</a:t>
            </a:r>
            <a:r>
              <a:rPr lang="zh-CN" altLang="en-US" b="1" dirty="0" smtClean="0"/>
              <a:t>，从中得到该记录组第一个记录在主文件中的位置；</a:t>
            </a:r>
            <a:endParaRPr lang="en-US" b="1" dirty="0" smtClean="0"/>
          </a:p>
          <a:p>
            <a:pPr lvl="1" eaLnBrk="1" hangingPunct="1">
              <a:lnSpc>
                <a:spcPct val="110000"/>
              </a:lnSpc>
            </a:pPr>
            <a:r>
              <a:rPr lang="zh-CN" altLang="en-US" b="1" dirty="0" smtClean="0"/>
              <a:t>然后，再利用顺序查找法去查找主文件，从中找到所要求的记录。</a:t>
            </a:r>
            <a:endParaRPr lang="zh-CN" altLang="en-US" b="1"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5778"/>
                                        </p:tgtEl>
                                        <p:attrNameLst>
                                          <p:attrName>style.visibility</p:attrName>
                                        </p:attrNameLst>
                                      </p:cBhvr>
                                      <p:to>
                                        <p:strVal val="visible"/>
                                      </p:to>
                                    </p:set>
                                    <p:animEffect transition="in" filter="fade">
                                      <p:cBhvr>
                                        <p:cTn id="7" dur="2000"/>
                                        <p:tgtEl>
                                          <p:spTgt spid="7577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9875">
                                            <p:txEl>
                                              <p:pRg st="0" end="0"/>
                                            </p:txEl>
                                          </p:spTgt>
                                        </p:tgtEl>
                                        <p:attrNameLst>
                                          <p:attrName>style.visibility</p:attrName>
                                        </p:attrNameLst>
                                      </p:cBhvr>
                                      <p:to>
                                        <p:strVal val="visible"/>
                                      </p:to>
                                    </p:set>
                                    <p:animEffect transition="in" filter="fade">
                                      <p:cBhvr>
                                        <p:cTn id="12" dur="2000"/>
                                        <p:tgtEl>
                                          <p:spTgt spid="79875">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9875">
                                            <p:txEl>
                                              <p:pRg st="1" end="1"/>
                                            </p:txEl>
                                          </p:spTgt>
                                        </p:tgtEl>
                                        <p:attrNameLst>
                                          <p:attrName>style.visibility</p:attrName>
                                        </p:attrNameLst>
                                      </p:cBhvr>
                                      <p:to>
                                        <p:strVal val="visible"/>
                                      </p:to>
                                    </p:set>
                                    <p:animEffect transition="in" filter="fade">
                                      <p:cBhvr>
                                        <p:cTn id="15" dur="2000"/>
                                        <p:tgtEl>
                                          <p:spTgt spid="79875">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9875">
                                            <p:txEl>
                                              <p:pRg st="2" end="2"/>
                                            </p:txEl>
                                          </p:spTgt>
                                        </p:tgtEl>
                                        <p:attrNameLst>
                                          <p:attrName>style.visibility</p:attrName>
                                        </p:attrNameLst>
                                      </p:cBhvr>
                                      <p:to>
                                        <p:strVal val="visible"/>
                                      </p:to>
                                    </p:set>
                                    <p:animEffect transition="in" filter="fade">
                                      <p:cBhvr>
                                        <p:cTn id="18" dur="2000"/>
                                        <p:tgtEl>
                                          <p:spTgt spid="798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8" grpId="0" autoUpdateAnimBg="0"/>
      <p:bldP spid="79875" grpId="0" autoUpdateAnimBg="0" build="p"/>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7" name="Rectangle 3"/>
          <p:cNvSpPr>
            <a:spLocks noGrp="1" noRot="1" noChangeArrowheads="1"/>
          </p:cNvSpPr>
          <p:nvPr>
            <p:ph type="body" sz="half" idx="4294967295"/>
          </p:nvPr>
        </p:nvSpPr>
        <p:spPr>
          <a:xfrm>
            <a:off x="539750" y="404813"/>
            <a:ext cx="8142288" cy="5767387"/>
          </a:xfrm>
        </p:spPr>
        <p:txBody>
          <a:bodyPr/>
          <a:lstStyle/>
          <a:p>
            <a:pPr algn="ctr" eaLnBrk="1" hangingPunct="1">
              <a:lnSpc>
                <a:spcPct val="110000"/>
              </a:lnSpc>
            </a:pPr>
            <a:r>
              <a:rPr lang="zh-CN" altLang="en-US" sz="4000" b="1" dirty="0" smtClean="0">
                <a:solidFill>
                  <a:schemeClr val="folHlink"/>
                </a:solidFill>
              </a:rPr>
              <a:t>文件检索效率</a:t>
            </a:r>
            <a:endParaRPr lang="zh-CN" altLang="en-US" sz="4000" b="1" dirty="0" smtClean="0">
              <a:solidFill>
                <a:schemeClr val="folHlink"/>
              </a:solidFill>
            </a:endParaRPr>
          </a:p>
          <a:p>
            <a:pPr algn="ctr" eaLnBrk="1" hangingPunct="1">
              <a:lnSpc>
                <a:spcPct val="50000"/>
              </a:lnSpc>
            </a:pPr>
            <a:endParaRPr lang="zh-CN" altLang="en-US" sz="4000" b="1" dirty="0" smtClean="0">
              <a:solidFill>
                <a:schemeClr val="folHlink"/>
              </a:solidFill>
            </a:endParaRPr>
          </a:p>
          <a:p>
            <a:pPr eaLnBrk="1" hangingPunct="1">
              <a:lnSpc>
                <a:spcPct val="110000"/>
              </a:lnSpc>
            </a:pPr>
            <a:r>
              <a:rPr lang="zh-CN" altLang="en-US" sz="2800" b="1" dirty="0" smtClean="0"/>
              <a:t>如果在一个顺序文件中所含有的记录数为</a:t>
            </a:r>
            <a:r>
              <a:rPr lang="en-US" altLang="zh-CN" sz="2800" b="1" i="1" dirty="0" smtClean="0"/>
              <a:t>N</a:t>
            </a:r>
            <a:r>
              <a:rPr lang="zh-CN" altLang="en-US" sz="2800" b="1" dirty="0" smtClean="0"/>
              <a:t>，则为检索到具有指定关键字的记录，平均须查找</a:t>
            </a:r>
            <a:r>
              <a:rPr lang="en-US" altLang="zh-CN" sz="2800" b="1" i="1" dirty="0" smtClean="0"/>
              <a:t>N</a:t>
            </a:r>
            <a:r>
              <a:rPr lang="en-US" altLang="zh-CN" sz="2800" b="1" dirty="0" smtClean="0"/>
              <a:t>/2 </a:t>
            </a:r>
            <a:r>
              <a:rPr lang="zh-CN" altLang="en-US" sz="2800" b="1" dirty="0" smtClean="0"/>
              <a:t>个记录；</a:t>
            </a:r>
            <a:endParaRPr lang="zh-CN" altLang="en-US" sz="2800" b="1" dirty="0" smtClean="0"/>
          </a:p>
          <a:p>
            <a:pPr eaLnBrk="1" hangingPunct="1">
              <a:lnSpc>
                <a:spcPct val="110000"/>
              </a:lnSpc>
            </a:pPr>
            <a:r>
              <a:rPr lang="zh-CN" altLang="en-US" sz="2800" b="1" dirty="0" smtClean="0"/>
              <a:t>但对于索引顺序文件，则为能检索到具有指定关键字的记录，平均只要查找个        记录数。</a:t>
            </a:r>
            <a:endParaRPr lang="zh-CN" altLang="en-US" sz="2800" b="1" dirty="0" smtClean="0"/>
          </a:p>
          <a:p>
            <a:pPr eaLnBrk="1" hangingPunct="1">
              <a:lnSpc>
                <a:spcPct val="110000"/>
              </a:lnSpc>
            </a:pPr>
            <a:r>
              <a:rPr lang="zh-CN" altLang="en-US" sz="2800" b="1" dirty="0" smtClean="0"/>
              <a:t>例如，有一个顺序文件含有</a:t>
            </a:r>
            <a:r>
              <a:rPr lang="en-US" altLang="zh-CN" sz="2800" b="1" dirty="0" smtClean="0"/>
              <a:t>10 000 </a:t>
            </a:r>
            <a:r>
              <a:rPr lang="zh-CN" altLang="en-US" sz="2800" b="1" dirty="0" smtClean="0"/>
              <a:t>个记录，平均须查找的记录数为</a:t>
            </a:r>
            <a:r>
              <a:rPr lang="en-US" altLang="zh-CN" sz="2800" b="1" dirty="0" smtClean="0"/>
              <a:t>5000 </a:t>
            </a:r>
            <a:r>
              <a:rPr lang="zh-CN" altLang="en-US" sz="2800" b="1" dirty="0" smtClean="0"/>
              <a:t>个。但对于索引顺序文件，则平均只须查找</a:t>
            </a:r>
            <a:r>
              <a:rPr lang="en-US" altLang="zh-CN" sz="2800" b="1" dirty="0" smtClean="0"/>
              <a:t>100</a:t>
            </a:r>
            <a:r>
              <a:rPr lang="zh-CN" altLang="en-US" sz="2800" b="1" dirty="0" smtClean="0"/>
              <a:t>个记录。可见，它的检索效率是顺序文件的</a:t>
            </a:r>
            <a:r>
              <a:rPr lang="en-US" altLang="zh-CN" sz="2800" b="1" dirty="0" smtClean="0"/>
              <a:t>50 </a:t>
            </a:r>
            <a:r>
              <a:rPr lang="zh-CN" altLang="en-US" sz="2800" b="1" dirty="0" smtClean="0"/>
              <a:t>倍</a:t>
            </a:r>
            <a:r>
              <a:rPr lang="en-US" altLang="zh-CN" sz="2800" b="1" dirty="0" smtClean="0"/>
              <a:t>.</a:t>
            </a:r>
            <a:endParaRPr lang="en-US" altLang="zh-CN" sz="2800" b="1" dirty="0" smtClean="0"/>
          </a:p>
          <a:p>
            <a:pPr eaLnBrk="1" hangingPunct="1"/>
            <a:endParaRPr lang="en-US" sz="2800" dirty="0" smtClean="0"/>
          </a:p>
        </p:txBody>
      </p:sp>
      <p:graphicFrame>
        <p:nvGraphicFramePr>
          <p:cNvPr id="6146" name="Object 4"/>
          <p:cNvGraphicFramePr>
            <a:graphicFrameLocks noGrp="1" noChangeAspect="1"/>
          </p:cNvGraphicFramePr>
          <p:nvPr>
            <p:ph sz="half" idx="4294967295"/>
          </p:nvPr>
        </p:nvGraphicFramePr>
        <p:xfrm>
          <a:off x="5786446" y="3643314"/>
          <a:ext cx="503238" cy="393700"/>
        </p:xfrm>
        <a:graphic>
          <a:graphicData uri="http://schemas.openxmlformats.org/presentationml/2006/ole">
            <mc:AlternateContent xmlns:mc="http://schemas.openxmlformats.org/markup-compatibility/2006">
              <mc:Choice xmlns:v="urn:schemas-microsoft-com:vml" Requires="v">
                <p:oleObj spid="_x0000_s6145" name="" r:id="rId1" imgW="7010400" imgH="5486400" progId="Equation.3">
                  <p:embed/>
                </p:oleObj>
              </mc:Choice>
              <mc:Fallback>
                <p:oleObj name="" r:id="rId1" imgW="7010400" imgH="5486400" progId="Equation.3">
                  <p:embed/>
                  <p:pic>
                    <p:nvPicPr>
                      <p:cNvPr id="0" name="图片 6144"/>
                      <p:cNvPicPr>
                        <a:picLocks noGrp="1" noChangeAspect="1"/>
                      </p:cNvPicPr>
                      <p:nvPr/>
                    </p:nvPicPr>
                    <p:blipFill>
                      <a:blip r:embed="rId2"/>
                      <a:stretch>
                        <a:fillRect/>
                      </a:stretch>
                    </p:blipFill>
                    <p:spPr>
                      <a:xfrm>
                        <a:off x="5786446" y="3643314"/>
                        <a:ext cx="503238" cy="393700"/>
                      </a:xfrm>
                      <a:prstGeom prst="rect">
                        <a:avLst/>
                      </a:prstGeom>
                      <a:noFill/>
                      <a:ln w="9525">
                        <a:no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fade">
                                      <p:cBhvr>
                                        <p:cTn id="7" dur="2000"/>
                                        <p:tgtEl>
                                          <p:spTgt spid="6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147">
                                            <p:txEl>
                                              <p:pRg st="2" end="2"/>
                                            </p:txEl>
                                          </p:spTgt>
                                        </p:tgtEl>
                                        <p:attrNameLst>
                                          <p:attrName>style.visibility</p:attrName>
                                        </p:attrNameLst>
                                      </p:cBhvr>
                                      <p:to>
                                        <p:strVal val="visible"/>
                                      </p:to>
                                    </p:set>
                                    <p:animEffect transition="in" filter="fade">
                                      <p:cBhvr>
                                        <p:cTn id="12" dur="2000"/>
                                        <p:tgtEl>
                                          <p:spTgt spid="614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147">
                                            <p:txEl>
                                              <p:pRg st="3" end="3"/>
                                            </p:txEl>
                                          </p:spTgt>
                                        </p:tgtEl>
                                        <p:attrNameLst>
                                          <p:attrName>style.visibility</p:attrName>
                                        </p:attrNameLst>
                                      </p:cBhvr>
                                      <p:to>
                                        <p:strVal val="visible"/>
                                      </p:to>
                                    </p:set>
                                    <p:animEffect transition="in" filter="fade">
                                      <p:cBhvr>
                                        <p:cTn id="17" dur="2000"/>
                                        <p:tgtEl>
                                          <p:spTgt spid="614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147">
                                            <p:txEl>
                                              <p:pRg st="4" end="4"/>
                                            </p:txEl>
                                          </p:spTgt>
                                        </p:tgtEl>
                                        <p:attrNameLst>
                                          <p:attrName>style.visibility</p:attrName>
                                        </p:attrNameLst>
                                      </p:cBhvr>
                                      <p:to>
                                        <p:strVal val="visible"/>
                                      </p:to>
                                    </p:set>
                                    <p:animEffect transition="in" filter="fade">
                                      <p:cBhvr>
                                        <p:cTn id="22" dur="2000"/>
                                        <p:tgtEl>
                                          <p:spTgt spid="61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autoUpdateAnimBg="0" build="p"/>
    </p:bld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26" name="Rectangle 2"/>
          <p:cNvSpPr>
            <a:spLocks noGrp="1" noRot="1" noChangeArrowheads="1"/>
          </p:cNvSpPr>
          <p:nvPr>
            <p:ph type="title" idx="4294967295"/>
          </p:nvPr>
        </p:nvSpPr>
        <p:spPr>
          <a:xfrm>
            <a:off x="533400" y="214290"/>
            <a:ext cx="8077200" cy="1196975"/>
          </a:xfrm>
        </p:spPr>
        <p:txBody>
          <a:bodyPr/>
          <a:lstStyle/>
          <a:p>
            <a:pPr eaLnBrk="1" hangingPunct="1">
              <a:defRPr/>
            </a:pPr>
            <a:r>
              <a:rPr lang="en-US" b="1" u="sng" dirty="0" smtClean="0">
                <a:solidFill>
                  <a:schemeClr val="folHlink"/>
                </a:solidFill>
                <a:effectLst>
                  <a:outerShdw blurRad="38100" dist="38100" dir="2700000" algn="tl">
                    <a:srgbClr val="000000"/>
                  </a:outerShdw>
                </a:effectLst>
              </a:rPr>
              <a:t>7.4.5 </a:t>
            </a:r>
            <a:r>
              <a:rPr lang="zh-CN" altLang="en-US" b="1" u="sng" dirty="0" smtClean="0">
                <a:solidFill>
                  <a:schemeClr val="folHlink"/>
                </a:solidFill>
                <a:effectLst>
                  <a:outerShdw blurRad="38100" dist="38100" dir="2700000" algn="tl">
                    <a:srgbClr val="000000"/>
                  </a:outerShdw>
                </a:effectLst>
              </a:rPr>
              <a:t>直接（哈希）文件</a:t>
            </a:r>
            <a:endParaRPr lang="zh-CN" altLang="en-US" b="1" u="sng" dirty="0" smtClean="0">
              <a:solidFill>
                <a:schemeClr val="folHlink"/>
              </a:solidFill>
              <a:effectLst>
                <a:outerShdw blurRad="38100" dist="38100" dir="2700000" algn="tl">
                  <a:srgbClr val="000000"/>
                </a:outerShdw>
              </a:effectLst>
            </a:endParaRPr>
          </a:p>
        </p:txBody>
      </p:sp>
      <p:sp>
        <p:nvSpPr>
          <p:cNvPr id="80899" name="Rectangle 3"/>
          <p:cNvSpPr>
            <a:spLocks noGrp="1" noRot="1" noChangeArrowheads="1"/>
          </p:cNvSpPr>
          <p:nvPr>
            <p:ph type="body" idx="4294967295"/>
          </p:nvPr>
        </p:nvSpPr>
        <p:spPr>
          <a:xfrm>
            <a:off x="428596" y="1476375"/>
            <a:ext cx="8358246" cy="5048250"/>
          </a:xfrm>
        </p:spPr>
        <p:txBody>
          <a:bodyPr/>
          <a:lstStyle/>
          <a:p>
            <a:pPr eaLnBrk="1" hangingPunct="1"/>
            <a:r>
              <a:rPr lang="zh-CN" altLang="en-US" b="1" dirty="0" smtClean="0"/>
              <a:t>对于直接文件，则可</a:t>
            </a:r>
            <a:r>
              <a:rPr lang="zh-CN" altLang="en-US" b="1" dirty="0" smtClean="0">
                <a:solidFill>
                  <a:schemeClr val="folHlink"/>
                </a:solidFill>
              </a:rPr>
              <a:t>根据给定的记录键值，直接获得指定记录的物理地址</a:t>
            </a:r>
            <a:r>
              <a:rPr lang="zh-CN" altLang="en-US" b="1" dirty="0" smtClean="0"/>
              <a:t>。</a:t>
            </a:r>
            <a:endParaRPr lang="zh-CN" altLang="en-US" b="1" dirty="0" smtClean="0"/>
          </a:p>
          <a:p>
            <a:pPr eaLnBrk="1" hangingPunct="1"/>
            <a:r>
              <a:rPr lang="zh-CN" altLang="en-US" b="1" dirty="0" smtClean="0"/>
              <a:t>换言之，</a:t>
            </a:r>
            <a:r>
              <a:rPr lang="zh-CN" altLang="en-US" b="1" dirty="0" smtClean="0">
                <a:solidFill>
                  <a:schemeClr val="folHlink"/>
                </a:solidFill>
              </a:rPr>
              <a:t>记录键值本身就决定了记录的物理地址</a:t>
            </a:r>
            <a:r>
              <a:rPr lang="zh-CN" altLang="en-US" b="1" dirty="0" smtClean="0"/>
              <a:t>。</a:t>
            </a:r>
            <a:endParaRPr lang="zh-CN" altLang="en-US" b="1" dirty="0" smtClean="0"/>
          </a:p>
          <a:p>
            <a:pPr eaLnBrk="1" hangingPunct="1"/>
            <a:r>
              <a:rPr lang="zh-CN" altLang="en-US" b="1" dirty="0" smtClean="0"/>
              <a:t>这种由记录键值到记录物理地址的转换被称为键值转换</a:t>
            </a:r>
            <a:r>
              <a:rPr lang="en-US" altLang="zh-CN" b="1" dirty="0" smtClean="0"/>
              <a:t>(Key to address transformation)</a:t>
            </a:r>
            <a:r>
              <a:rPr lang="zh-CN" altLang="en-US" b="1" dirty="0" smtClean="0"/>
              <a:t>。</a:t>
            </a:r>
            <a:endParaRPr lang="zh-CN" altLang="en-US" b="1" dirty="0" smtClean="0"/>
          </a:p>
          <a:p>
            <a:pPr eaLnBrk="1" hangingPunct="1"/>
            <a:r>
              <a:rPr lang="zh-CN" altLang="en-US" b="1" dirty="0" smtClean="0"/>
              <a:t>组织直接文件的关键， 在于用什么方法进行从记录值到物理地址的转换。</a:t>
            </a:r>
            <a:endParaRPr lang="zh-CN" altLang="en-US" b="1" dirty="0" smtClean="0"/>
          </a:p>
          <a:p>
            <a:pPr eaLnBrk="1" hangingPunct="1">
              <a:spcBef>
                <a:spcPct val="0"/>
              </a:spcBef>
              <a:buClrTx/>
              <a:buSzTx/>
              <a:buFont typeface="Wingdings" panose="05000000000000000000" pitchFamily="2" charset="2"/>
              <a:buNone/>
            </a:pPr>
            <a:endParaRPr lang="en-US" altLang="zh-CN"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7826"/>
                                        </p:tgtEl>
                                        <p:attrNameLst>
                                          <p:attrName>style.visibility</p:attrName>
                                        </p:attrNameLst>
                                      </p:cBhvr>
                                      <p:to>
                                        <p:strVal val="visible"/>
                                      </p:to>
                                    </p:set>
                                    <p:animEffect transition="in" filter="fade">
                                      <p:cBhvr>
                                        <p:cTn id="7" dur="2000"/>
                                        <p:tgtEl>
                                          <p:spTgt spid="778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899">
                                            <p:txEl>
                                              <p:pRg st="0" end="0"/>
                                            </p:txEl>
                                          </p:spTgt>
                                        </p:tgtEl>
                                        <p:attrNameLst>
                                          <p:attrName>style.visibility</p:attrName>
                                        </p:attrNameLst>
                                      </p:cBhvr>
                                      <p:to>
                                        <p:strVal val="visible"/>
                                      </p:to>
                                    </p:set>
                                    <p:animEffect transition="in" filter="fade">
                                      <p:cBhvr>
                                        <p:cTn id="12" dur="2000"/>
                                        <p:tgtEl>
                                          <p:spTgt spid="8089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0899">
                                            <p:txEl>
                                              <p:pRg st="1" end="1"/>
                                            </p:txEl>
                                          </p:spTgt>
                                        </p:tgtEl>
                                        <p:attrNameLst>
                                          <p:attrName>style.visibility</p:attrName>
                                        </p:attrNameLst>
                                      </p:cBhvr>
                                      <p:to>
                                        <p:strVal val="visible"/>
                                      </p:to>
                                    </p:set>
                                    <p:animEffect transition="in" filter="fade">
                                      <p:cBhvr>
                                        <p:cTn id="17" dur="2000"/>
                                        <p:tgtEl>
                                          <p:spTgt spid="8089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0899">
                                            <p:txEl>
                                              <p:pRg st="2" end="2"/>
                                            </p:txEl>
                                          </p:spTgt>
                                        </p:tgtEl>
                                        <p:attrNameLst>
                                          <p:attrName>style.visibility</p:attrName>
                                        </p:attrNameLst>
                                      </p:cBhvr>
                                      <p:to>
                                        <p:strVal val="visible"/>
                                      </p:to>
                                    </p:set>
                                    <p:animEffect transition="in" filter="fade">
                                      <p:cBhvr>
                                        <p:cTn id="22" dur="2000"/>
                                        <p:tgtEl>
                                          <p:spTgt spid="8089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0899">
                                            <p:txEl>
                                              <p:pRg st="3" end="3"/>
                                            </p:txEl>
                                          </p:spTgt>
                                        </p:tgtEl>
                                        <p:attrNameLst>
                                          <p:attrName>style.visibility</p:attrName>
                                        </p:attrNameLst>
                                      </p:cBhvr>
                                      <p:to>
                                        <p:strVal val="visible"/>
                                      </p:to>
                                    </p:set>
                                    <p:animEffect transition="in" filter="fade">
                                      <p:cBhvr>
                                        <p:cTn id="27" dur="2000"/>
                                        <p:tgtEl>
                                          <p:spTgt spid="808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6" grpId="0" autoUpdateAnimBg="0"/>
      <p:bldP spid="80899" grpId="0" autoUpdateAnimBg="0" build="p"/>
    </p:bld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0" name="Rectangle 9"/>
          <p:cNvSpPr>
            <a:spLocks noGrp="1" noRot="1" noChangeArrowheads="1"/>
          </p:cNvSpPr>
          <p:nvPr>
            <p:ph type="title" idx="4294967295"/>
          </p:nvPr>
        </p:nvSpPr>
        <p:spPr>
          <a:xfrm>
            <a:off x="533400" y="115888"/>
            <a:ext cx="8077200" cy="1066800"/>
          </a:xfrm>
        </p:spPr>
        <p:txBody>
          <a:bodyPr/>
          <a:lstStyle/>
          <a:p>
            <a:pPr eaLnBrk="1" hangingPunct="1">
              <a:defRPr/>
            </a:pPr>
            <a:r>
              <a:rPr lang="en-US" b="1" u="sng" dirty="0" smtClean="0">
                <a:solidFill>
                  <a:schemeClr val="folHlink"/>
                </a:solidFill>
                <a:effectLst>
                  <a:outerShdw blurRad="38100" dist="38100" dir="2700000" algn="tl">
                    <a:srgbClr val="000000"/>
                  </a:outerShdw>
                </a:effectLst>
              </a:rPr>
              <a:t> </a:t>
            </a:r>
            <a:r>
              <a:rPr lang="zh-CN" altLang="en-US" b="1" u="sng" dirty="0" smtClean="0">
                <a:solidFill>
                  <a:schemeClr val="folHlink"/>
                </a:solidFill>
                <a:effectLst>
                  <a:outerShdw blurRad="38100" dist="38100" dir="2700000" algn="tl">
                    <a:srgbClr val="000000"/>
                  </a:outerShdw>
                </a:effectLst>
              </a:rPr>
              <a:t>直接（哈希）文件</a:t>
            </a:r>
            <a:endParaRPr lang="zh-CN" altLang="en-US" b="1" u="sng" dirty="0" smtClean="0">
              <a:solidFill>
                <a:schemeClr val="folHlink"/>
              </a:solidFill>
              <a:effectLst>
                <a:outerShdw blurRad="38100" dist="38100" dir="2700000" algn="tl">
                  <a:srgbClr val="000000"/>
                </a:outerShdw>
              </a:effectLst>
            </a:endParaRPr>
          </a:p>
        </p:txBody>
      </p:sp>
      <p:sp>
        <p:nvSpPr>
          <p:cNvPr id="7172" name="Rectangle 7"/>
          <p:cNvSpPr>
            <a:spLocks noChangeArrowheads="1"/>
          </p:cNvSpPr>
          <p:nvPr/>
        </p:nvSpPr>
        <p:spPr bwMode="auto">
          <a:xfrm>
            <a:off x="395288" y="1268413"/>
            <a:ext cx="8280400" cy="5256212"/>
          </a:xfrm>
          <a:prstGeom prst="rect">
            <a:avLst/>
          </a:prstGeom>
          <a:solidFill>
            <a:schemeClr val="tx2">
              <a:lumMod val="20000"/>
              <a:lumOff val="80000"/>
            </a:schemeClr>
          </a:solidFill>
          <a:ln w="9525">
            <a:solidFill>
              <a:schemeClr val="tx1"/>
            </a:solidFill>
            <a:miter lim="800000"/>
          </a:ln>
        </p:spPr>
        <p:txBody>
          <a:bodyPr wrap="none" anchor="ctr"/>
          <a:lstStyle/>
          <a:p>
            <a:endParaRPr lang="zh-CN" altLang="en-US"/>
          </a:p>
        </p:txBody>
      </p:sp>
      <p:graphicFrame>
        <p:nvGraphicFramePr>
          <p:cNvPr id="7170" name="Object 8"/>
          <p:cNvGraphicFramePr>
            <a:graphicFrameLocks noGrp="1" noChangeAspect="1"/>
          </p:cNvGraphicFramePr>
          <p:nvPr>
            <p:ph idx="4294967295"/>
          </p:nvPr>
        </p:nvGraphicFramePr>
        <p:xfrm>
          <a:off x="1331913" y="1201738"/>
          <a:ext cx="5976937" cy="5322887"/>
        </p:xfrm>
        <a:graphic>
          <a:graphicData uri="http://schemas.openxmlformats.org/presentationml/2006/ole">
            <mc:AlternateContent xmlns:mc="http://schemas.openxmlformats.org/markup-compatibility/2006">
              <mc:Choice xmlns:v="urn:schemas-microsoft-com:vml" Requires="v">
                <p:oleObj spid="_x0000_s7169" name="" r:id="rId1" imgW="2924175" imgH="2600325" progId="Visio.Drawing.11">
                  <p:embed/>
                </p:oleObj>
              </mc:Choice>
              <mc:Fallback>
                <p:oleObj name="" r:id="rId1" imgW="2924175" imgH="2600325" progId="Visio.Drawing.11">
                  <p:embed/>
                  <p:pic>
                    <p:nvPicPr>
                      <p:cNvPr id="0" name="图片 7168"/>
                      <p:cNvPicPr>
                        <a:picLocks noGrp="1" noChangeAspect="1"/>
                      </p:cNvPicPr>
                      <p:nvPr/>
                    </p:nvPicPr>
                    <p:blipFill>
                      <a:blip r:embed="rId2"/>
                      <a:stretch>
                        <a:fillRect/>
                      </a:stretch>
                    </p:blipFill>
                    <p:spPr>
                      <a:xfrm>
                        <a:off x="1331913" y="1201738"/>
                        <a:ext cx="5976937" cy="5322887"/>
                      </a:xfrm>
                      <a:prstGeom prst="rect">
                        <a:avLst/>
                      </a:prstGeom>
                      <a:noFill/>
                      <a:ln w="9525">
                        <a:no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8850"/>
                                        </p:tgtEl>
                                        <p:attrNameLst>
                                          <p:attrName>style.visibility</p:attrName>
                                        </p:attrNameLst>
                                      </p:cBhvr>
                                      <p:to>
                                        <p:strVal val="visible"/>
                                      </p:to>
                                    </p:set>
                                    <p:animEffect transition="in" filter="fade">
                                      <p:cBhvr>
                                        <p:cTn id="7" dur="2000"/>
                                        <p:tgtEl>
                                          <p:spTgt spid="788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9026" name="Rectangle 2"/>
          <p:cNvSpPr>
            <a:spLocks noGrp="1" noRot="1" noChangeArrowheads="1"/>
          </p:cNvSpPr>
          <p:nvPr>
            <p:ph type="title" idx="4294967295"/>
          </p:nvPr>
        </p:nvSpPr>
        <p:spPr>
          <a:xfrm>
            <a:off x="381000" y="1981200"/>
            <a:ext cx="8534400" cy="1524000"/>
          </a:xfrm>
          <a:gradFill rotWithShape="0">
            <a:gsLst>
              <a:gs pos="0">
                <a:srgbClr val="404552"/>
              </a:gs>
              <a:gs pos="50000">
                <a:schemeClr val="accent1"/>
              </a:gs>
              <a:gs pos="100000">
                <a:srgbClr val="404552"/>
              </a:gs>
            </a:gsLst>
            <a:lin ang="5400000" scaled="1"/>
          </a:gradFill>
        </p:spPr>
        <p:txBody>
          <a:bodyPr/>
          <a:lstStyle/>
          <a:p>
            <a:pPr eaLnBrk="1" hangingPunct="1">
              <a:defRPr/>
            </a:pPr>
            <a:r>
              <a:rPr lang="en-US" sz="4800" b="1" dirty="0" smtClean="0">
                <a:solidFill>
                  <a:schemeClr val="accent2"/>
                </a:solidFill>
                <a:effectLst>
                  <a:outerShdw blurRad="38100" dist="38100" dir="2700000" algn="tl">
                    <a:srgbClr val="000000"/>
                  </a:outerShdw>
                </a:effectLst>
                <a:ea typeface="仿宋_GB2312" pitchFamily="1" charset="-122"/>
              </a:rPr>
              <a:t> 7.4    </a:t>
            </a:r>
            <a:r>
              <a:rPr lang="zh-CN" altLang="en-US" sz="4800" b="1" dirty="0" smtClean="0">
                <a:solidFill>
                  <a:schemeClr val="accent2"/>
                </a:solidFill>
                <a:effectLst>
                  <a:outerShdw blurRad="38100" dist="38100" dir="2700000" algn="tl">
                    <a:srgbClr val="000000"/>
                  </a:outerShdw>
                </a:effectLst>
                <a:ea typeface="仿宋_GB2312" pitchFamily="1" charset="-122"/>
              </a:rPr>
              <a:t>文件共享</a:t>
            </a:r>
            <a:r>
              <a:rPr lang="zh-CN" altLang="en-US" sz="3200" b="1" dirty="0" smtClean="0">
                <a:solidFill>
                  <a:schemeClr val="accent2"/>
                </a:solidFill>
                <a:effectLst>
                  <a:outerShdw blurRad="38100" dist="38100" dir="2700000" algn="tl">
                    <a:srgbClr val="000000"/>
                  </a:outerShdw>
                </a:effectLst>
                <a:ea typeface="仿宋_GB2312" pitchFamily="1" charset="-122"/>
              </a:rPr>
              <a:t> </a:t>
            </a:r>
            <a:endParaRPr lang="zh-CN" altLang="en-US" sz="3200" b="1" dirty="0" smtClean="0">
              <a:solidFill>
                <a:schemeClr val="accent2"/>
              </a:solidFill>
              <a:effectLst>
                <a:outerShdw blurRad="38100" dist="38100" dir="2700000" algn="tl">
                  <a:srgbClr val="000000"/>
                </a:outerShdw>
              </a:effectLst>
              <a:ea typeface="仿宋_GB2312"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9026">
                                            <p:txEl>
                                              <p:charRg st="4294967295" end="4294967295"/>
                                            </p:txEl>
                                          </p:spTgt>
                                        </p:tgtEl>
                                        <p:attrNameLst>
                                          <p:attrName>style.visibility</p:attrName>
                                        </p:attrNameLst>
                                      </p:cBhvr>
                                      <p:to>
                                        <p:strVal val="visible"/>
                                      </p:to>
                                    </p:set>
                                    <p:animEffect transition="in" filter="fade">
                                      <p:cBhvr>
                                        <p:cTn id="7" dur="2000"/>
                                        <p:tgtEl>
                                          <p:spTgt spid="129026">
                                            <p:txEl>
                                              <p:charRg st="4294967295" end="42949672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6"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0050" name="Rectangle 2"/>
          <p:cNvSpPr>
            <a:spLocks noGrp="1" noRot="1" noChangeArrowheads="1"/>
          </p:cNvSpPr>
          <p:nvPr>
            <p:ph type="title" idx="4294967295"/>
          </p:nvPr>
        </p:nvSpPr>
        <p:spPr>
          <a:xfrm>
            <a:off x="533400" y="188913"/>
            <a:ext cx="8077200" cy="1066800"/>
          </a:xfrm>
        </p:spPr>
        <p:txBody>
          <a:bodyPr/>
          <a:lstStyle/>
          <a:p>
            <a:pPr eaLnBrk="1" hangingPunct="1">
              <a:defRPr/>
            </a:pPr>
            <a:r>
              <a:rPr lang="zh-CN" b="1" u="sng" smtClean="0">
                <a:solidFill>
                  <a:schemeClr val="folHlink"/>
                </a:solidFill>
                <a:effectLst>
                  <a:outerShdw blurRad="38100" dist="38100" dir="2700000" algn="tl">
                    <a:srgbClr val="000000"/>
                  </a:outerShdw>
                </a:effectLst>
                <a:ea typeface="仿宋_GB2312" pitchFamily="1" charset="-122"/>
              </a:rPr>
              <a:t>文件共享的实现</a:t>
            </a:r>
            <a:r>
              <a:rPr lang="zh-CN" smtClean="0">
                <a:solidFill>
                  <a:schemeClr val="folHlink"/>
                </a:solidFill>
                <a:effectLst>
                  <a:outerShdw blurRad="38100" dist="38100" dir="2700000" algn="tl">
                    <a:srgbClr val="000000"/>
                  </a:outerShdw>
                </a:effectLst>
              </a:rPr>
              <a:t> </a:t>
            </a:r>
            <a:endParaRPr lang="zh-CN" smtClean="0">
              <a:solidFill>
                <a:schemeClr val="folHlink"/>
              </a:solidFill>
              <a:effectLst>
                <a:outerShdw blurRad="38100" dist="38100" dir="2700000" algn="tl">
                  <a:srgbClr val="000000"/>
                </a:outerShdw>
              </a:effectLst>
            </a:endParaRPr>
          </a:p>
        </p:txBody>
      </p:sp>
      <p:sp>
        <p:nvSpPr>
          <p:cNvPr id="130051" name="Rectangle 3"/>
          <p:cNvSpPr>
            <a:spLocks noGrp="1" noRot="1" noChangeArrowheads="1"/>
          </p:cNvSpPr>
          <p:nvPr>
            <p:ph type="body" idx="4294967295"/>
          </p:nvPr>
        </p:nvSpPr>
        <p:spPr>
          <a:xfrm>
            <a:off x="461963" y="1476375"/>
            <a:ext cx="8077200" cy="4498975"/>
          </a:xfrm>
        </p:spPr>
        <p:txBody>
          <a:bodyPr/>
          <a:lstStyle/>
          <a:p>
            <a:pPr eaLnBrk="1" hangingPunct="1">
              <a:lnSpc>
                <a:spcPct val="110000"/>
              </a:lnSpc>
              <a:defRPr/>
            </a:pPr>
            <a:r>
              <a:rPr lang="zh-CN" altLang="en-US" b="1" dirty="0" smtClean="0"/>
              <a:t>实现文件共享的实质就是可以从不同地方打开同一个文件</a:t>
            </a:r>
            <a:endParaRPr lang="zh-CN" altLang="en-US" b="1" dirty="0" smtClean="0"/>
          </a:p>
          <a:p>
            <a:pPr eaLnBrk="1" hangingPunct="1">
              <a:lnSpc>
                <a:spcPct val="110000"/>
              </a:lnSpc>
              <a:defRPr/>
            </a:pPr>
            <a:r>
              <a:rPr lang="zh-CN" altLang="en-US" b="1" dirty="0" smtClean="0"/>
              <a:t>打开文件的首要步骤就是找到文件的目录项，读取文件在外存的起始地址。</a:t>
            </a:r>
            <a:endParaRPr lang="zh-CN" altLang="en-US" b="1" dirty="0" smtClean="0"/>
          </a:p>
          <a:p>
            <a:pPr eaLnBrk="1" hangingPunct="1">
              <a:lnSpc>
                <a:spcPct val="110000"/>
              </a:lnSpc>
              <a:defRPr/>
            </a:pPr>
            <a:r>
              <a:rPr lang="zh-CN" altLang="en-US" b="1" dirty="0" smtClean="0">
                <a:solidFill>
                  <a:srgbClr val="FF0000"/>
                </a:solidFill>
              </a:rPr>
              <a:t>实现文件共享的方式</a:t>
            </a:r>
            <a:r>
              <a:rPr lang="zh-CN" altLang="en-US" b="1" dirty="0" smtClean="0"/>
              <a:t>：</a:t>
            </a:r>
            <a:endParaRPr lang="zh-CN" altLang="en-US" b="1" dirty="0" smtClean="0"/>
          </a:p>
          <a:p>
            <a:pPr lvl="1" eaLnBrk="1" hangingPunct="1">
              <a:lnSpc>
                <a:spcPct val="110000"/>
              </a:lnSpc>
              <a:defRPr/>
            </a:pPr>
            <a:r>
              <a:rPr lang="zh-CN" altLang="en-US" sz="3200" b="1" dirty="0" smtClean="0">
                <a:cs typeface="+mn-cs"/>
              </a:rPr>
              <a:t>基于索引结点的共享方式</a:t>
            </a:r>
            <a:endParaRPr lang="zh-CN" altLang="en-US" sz="3200" b="1" dirty="0" smtClean="0">
              <a:cs typeface="+mn-cs"/>
            </a:endParaRPr>
          </a:p>
          <a:p>
            <a:pPr lvl="1" eaLnBrk="1" hangingPunct="1">
              <a:lnSpc>
                <a:spcPct val="110000"/>
              </a:lnSpc>
              <a:defRPr/>
            </a:pPr>
            <a:r>
              <a:rPr lang="zh-CN" altLang="en-US" sz="3200" b="1" dirty="0" smtClean="0">
                <a:cs typeface="+mn-cs"/>
              </a:rPr>
              <a:t>利用符号链实现文件共享 </a:t>
            </a:r>
            <a:endParaRPr lang="zh-CN" altLang="en-US" sz="3200" b="1" dirty="0" smtClean="0">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0050"/>
                                        </p:tgtEl>
                                        <p:attrNameLst>
                                          <p:attrName>style.visibility</p:attrName>
                                        </p:attrNameLst>
                                      </p:cBhvr>
                                      <p:to>
                                        <p:strVal val="visible"/>
                                      </p:to>
                                    </p:set>
                                    <p:animEffect transition="in" filter="fade">
                                      <p:cBhvr>
                                        <p:cTn id="7" dur="2000"/>
                                        <p:tgtEl>
                                          <p:spTgt spid="1300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0051">
                                            <p:txEl>
                                              <p:pRg st="0" end="0"/>
                                            </p:txEl>
                                          </p:spTgt>
                                        </p:tgtEl>
                                        <p:attrNameLst>
                                          <p:attrName>style.visibility</p:attrName>
                                        </p:attrNameLst>
                                      </p:cBhvr>
                                      <p:to>
                                        <p:strVal val="visible"/>
                                      </p:to>
                                    </p:set>
                                    <p:animEffect transition="in" filter="fade">
                                      <p:cBhvr>
                                        <p:cTn id="12" dur="2000"/>
                                        <p:tgtEl>
                                          <p:spTgt spid="13005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0051">
                                            <p:txEl>
                                              <p:pRg st="1" end="1"/>
                                            </p:txEl>
                                          </p:spTgt>
                                        </p:tgtEl>
                                        <p:attrNameLst>
                                          <p:attrName>style.visibility</p:attrName>
                                        </p:attrNameLst>
                                      </p:cBhvr>
                                      <p:to>
                                        <p:strVal val="visible"/>
                                      </p:to>
                                    </p:set>
                                    <p:animEffect transition="in" filter="fade">
                                      <p:cBhvr>
                                        <p:cTn id="17" dur="2000"/>
                                        <p:tgtEl>
                                          <p:spTgt spid="13005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0051">
                                            <p:txEl>
                                              <p:pRg st="2" end="2"/>
                                            </p:txEl>
                                          </p:spTgt>
                                        </p:tgtEl>
                                        <p:attrNameLst>
                                          <p:attrName>style.visibility</p:attrName>
                                        </p:attrNameLst>
                                      </p:cBhvr>
                                      <p:to>
                                        <p:strVal val="visible"/>
                                      </p:to>
                                    </p:set>
                                    <p:animEffect transition="in" filter="fade">
                                      <p:cBhvr>
                                        <p:cTn id="22" dur="2000"/>
                                        <p:tgtEl>
                                          <p:spTgt spid="130051">
                                            <p:txEl>
                                              <p:pRg st="2" end="2"/>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0051">
                                            <p:txEl>
                                              <p:pRg st="3" end="3"/>
                                            </p:txEl>
                                          </p:spTgt>
                                        </p:tgtEl>
                                        <p:attrNameLst>
                                          <p:attrName>style.visibility</p:attrName>
                                        </p:attrNameLst>
                                      </p:cBhvr>
                                      <p:to>
                                        <p:strVal val="visible"/>
                                      </p:to>
                                    </p:set>
                                    <p:animEffect transition="in" filter="fade">
                                      <p:cBhvr>
                                        <p:cTn id="25" dur="2000"/>
                                        <p:tgtEl>
                                          <p:spTgt spid="130051">
                                            <p:txEl>
                                              <p:pRg st="3" end="3"/>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0051">
                                            <p:txEl>
                                              <p:pRg st="4" end="4"/>
                                            </p:txEl>
                                          </p:spTgt>
                                        </p:tgtEl>
                                        <p:attrNameLst>
                                          <p:attrName>style.visibility</p:attrName>
                                        </p:attrNameLst>
                                      </p:cBhvr>
                                      <p:to>
                                        <p:strVal val="visible"/>
                                      </p:to>
                                    </p:set>
                                    <p:animEffect transition="in" filter="fade">
                                      <p:cBhvr>
                                        <p:cTn id="28" dur="2000"/>
                                        <p:tgtEl>
                                          <p:spTgt spid="13005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0" grpId="0" autoUpdateAnimBg="0"/>
      <p:bldP spid="130051" grpId="0" autoUpdateAnimBg="0" build="p"/>
    </p:bld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0050" name="Rectangle 2"/>
          <p:cNvSpPr>
            <a:spLocks noGrp="1" noRot="1" noChangeArrowheads="1"/>
          </p:cNvSpPr>
          <p:nvPr>
            <p:ph type="body" idx="4294967295"/>
          </p:nvPr>
        </p:nvSpPr>
        <p:spPr>
          <a:xfrm>
            <a:off x="214312" y="214313"/>
            <a:ext cx="8501091" cy="3098800"/>
          </a:xfrm>
        </p:spPr>
        <p:txBody>
          <a:bodyPr/>
          <a:lstStyle/>
          <a:p>
            <a:pPr eaLnBrk="1" hangingPunct="1">
              <a:lnSpc>
                <a:spcPct val="80000"/>
              </a:lnSpc>
            </a:pPr>
            <a:r>
              <a:rPr lang="en-US" altLang="zh-CN" sz="3600" b="1" dirty="0" smtClean="0">
                <a:solidFill>
                  <a:srgbClr val="FF0000"/>
                </a:solidFill>
              </a:rPr>
              <a:t>7.4.1 </a:t>
            </a:r>
            <a:r>
              <a:rPr lang="zh-CN" altLang="en-US" sz="3600" b="1" dirty="0" smtClean="0">
                <a:solidFill>
                  <a:srgbClr val="FF0000"/>
                </a:solidFill>
              </a:rPr>
              <a:t>基于索引结点的共享方式</a:t>
            </a:r>
            <a:endParaRPr lang="zh-CN" altLang="en-US" sz="3600" b="1" dirty="0" smtClean="0">
              <a:solidFill>
                <a:srgbClr val="FF0000"/>
              </a:solidFill>
            </a:endParaRPr>
          </a:p>
          <a:p>
            <a:pPr eaLnBrk="1" hangingPunct="1">
              <a:lnSpc>
                <a:spcPct val="80000"/>
              </a:lnSpc>
            </a:pPr>
            <a:endParaRPr lang="en-US" altLang="zh-CN" b="1" dirty="0" smtClean="0">
              <a:solidFill>
                <a:srgbClr val="FFFF00"/>
              </a:solidFill>
            </a:endParaRPr>
          </a:p>
          <a:p>
            <a:pPr eaLnBrk="1" hangingPunct="1">
              <a:lnSpc>
                <a:spcPct val="80000"/>
              </a:lnSpc>
            </a:pPr>
            <a:r>
              <a:rPr lang="zh-CN" altLang="en-US" sz="2600" b="1" dirty="0" smtClean="0"/>
              <a:t>在树型结构的目录中，当有两个</a:t>
            </a:r>
            <a:r>
              <a:rPr lang="en-US" altLang="zh-CN" sz="2600" b="1" dirty="0" smtClean="0"/>
              <a:t>(</a:t>
            </a:r>
            <a:r>
              <a:rPr lang="zh-CN" altLang="en-US" sz="2600" b="1" dirty="0" smtClean="0"/>
              <a:t>或多个</a:t>
            </a:r>
            <a:r>
              <a:rPr lang="en-US" altLang="zh-CN" sz="2600" b="1" dirty="0" smtClean="0"/>
              <a:t>)</a:t>
            </a:r>
            <a:r>
              <a:rPr lang="zh-CN" altLang="en-US" sz="2600" b="1" dirty="0" smtClean="0"/>
              <a:t>用户要共享一个子目录或文件时，必须将共享文件或子目录链接到两个</a:t>
            </a:r>
            <a:r>
              <a:rPr lang="en-US" altLang="zh-CN" sz="2600" b="1" dirty="0" smtClean="0"/>
              <a:t>(</a:t>
            </a:r>
            <a:r>
              <a:rPr lang="zh-CN" altLang="en-US" sz="2600" b="1" dirty="0" smtClean="0"/>
              <a:t>或多个</a:t>
            </a:r>
            <a:r>
              <a:rPr lang="en-US" altLang="zh-CN" sz="2600" b="1" dirty="0" smtClean="0"/>
              <a:t>)</a:t>
            </a:r>
            <a:r>
              <a:rPr lang="zh-CN" altLang="en-US" sz="2600" b="1" dirty="0" smtClean="0"/>
              <a:t>用户的目录中，才能方便地找到该文件。</a:t>
            </a:r>
            <a:endParaRPr lang="en-US" sz="2600" b="1" dirty="0" smtClean="0"/>
          </a:p>
          <a:p>
            <a:pPr eaLnBrk="1" hangingPunct="1">
              <a:lnSpc>
                <a:spcPct val="80000"/>
              </a:lnSpc>
            </a:pPr>
            <a:r>
              <a:rPr lang="zh-CN" altLang="en-US" sz="2600" b="1" dirty="0" smtClean="0"/>
              <a:t>此时该文件系统的目录结构已不再是树型结构，而是个有向非循环图，如下图：</a:t>
            </a:r>
            <a:endParaRPr lang="zh-CN" altLang="en-US" sz="2600" b="1" dirty="0" smtClean="0"/>
          </a:p>
        </p:txBody>
      </p:sp>
      <p:pic>
        <p:nvPicPr>
          <p:cNvPr id="130051" name="Picture 3"/>
          <p:cNvPicPr>
            <a:picLocks noChangeAspect="1" noChangeArrowheads="1"/>
          </p:cNvPicPr>
          <p:nvPr/>
        </p:nvPicPr>
        <p:blipFill>
          <a:blip r:embed="rId1"/>
          <a:srcRect/>
          <a:stretch>
            <a:fillRect/>
          </a:stretch>
        </p:blipFill>
        <p:spPr bwMode="auto">
          <a:xfrm>
            <a:off x="1692275" y="3143248"/>
            <a:ext cx="5546725" cy="3443288"/>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0050">
                                            <p:txEl>
                                              <p:pRg st="0" end="0"/>
                                            </p:txEl>
                                          </p:spTgt>
                                        </p:tgtEl>
                                        <p:attrNameLst>
                                          <p:attrName>style.visibility</p:attrName>
                                        </p:attrNameLst>
                                      </p:cBhvr>
                                      <p:to>
                                        <p:strVal val="visible"/>
                                      </p:to>
                                    </p:set>
                                    <p:animEffect transition="in" filter="fade">
                                      <p:cBhvr>
                                        <p:cTn id="7" dur="2000"/>
                                        <p:tgtEl>
                                          <p:spTgt spid="1300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0050">
                                            <p:txEl>
                                              <p:pRg st="2" end="2"/>
                                            </p:txEl>
                                          </p:spTgt>
                                        </p:tgtEl>
                                        <p:attrNameLst>
                                          <p:attrName>style.visibility</p:attrName>
                                        </p:attrNameLst>
                                      </p:cBhvr>
                                      <p:to>
                                        <p:strVal val="visible"/>
                                      </p:to>
                                    </p:set>
                                    <p:animEffect transition="in" filter="fade">
                                      <p:cBhvr>
                                        <p:cTn id="12" dur="2000"/>
                                        <p:tgtEl>
                                          <p:spTgt spid="13005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0050">
                                            <p:txEl>
                                              <p:pRg st="3" end="3"/>
                                            </p:txEl>
                                          </p:spTgt>
                                        </p:tgtEl>
                                        <p:attrNameLst>
                                          <p:attrName>style.visibility</p:attrName>
                                        </p:attrNameLst>
                                      </p:cBhvr>
                                      <p:to>
                                        <p:strVal val="visible"/>
                                      </p:to>
                                    </p:set>
                                    <p:animEffect transition="in" filter="fade">
                                      <p:cBhvr>
                                        <p:cTn id="17" dur="2000"/>
                                        <p:tgtEl>
                                          <p:spTgt spid="13005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0" grpId="0" autoUpdateAnimBg="0" build="p"/>
    </p:bldLst>
  </p:timing>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1074" name="Rectangle 3"/>
          <p:cNvSpPr>
            <a:spLocks noGrp="1" noRot="1" noChangeArrowheads="1"/>
          </p:cNvSpPr>
          <p:nvPr>
            <p:ph type="body" idx="4294967295"/>
          </p:nvPr>
        </p:nvSpPr>
        <p:spPr>
          <a:xfrm>
            <a:off x="501650" y="573088"/>
            <a:ext cx="8077200" cy="5172075"/>
          </a:xfrm>
        </p:spPr>
        <p:txBody>
          <a:bodyPr/>
          <a:lstStyle/>
          <a:p>
            <a:pPr eaLnBrk="1" hangingPunct="1">
              <a:lnSpc>
                <a:spcPct val="110000"/>
              </a:lnSpc>
            </a:pPr>
            <a:endParaRPr lang="en-US" altLang="zh-CN" sz="2800" b="1" dirty="0" smtClean="0"/>
          </a:p>
          <a:p>
            <a:pPr eaLnBrk="1" hangingPunct="1">
              <a:lnSpc>
                <a:spcPct val="110000"/>
              </a:lnSpc>
            </a:pPr>
            <a:r>
              <a:rPr lang="zh-CN" altLang="en-US" sz="2800" b="1" dirty="0" smtClean="0">
                <a:solidFill>
                  <a:srgbClr val="FF0000"/>
                </a:solidFill>
              </a:rPr>
              <a:t>文件的物理地址及其它的文件属性等信息，不再是放在目录项中，而是放在索引结点中</a:t>
            </a:r>
            <a:r>
              <a:rPr lang="zh-CN" altLang="en-US" sz="2800" b="1" dirty="0" smtClean="0"/>
              <a:t>。</a:t>
            </a:r>
            <a:endParaRPr lang="en-US" sz="2800" b="1" dirty="0" smtClean="0"/>
          </a:p>
          <a:p>
            <a:pPr eaLnBrk="1" hangingPunct="1">
              <a:lnSpc>
                <a:spcPct val="110000"/>
              </a:lnSpc>
            </a:pPr>
            <a:r>
              <a:rPr lang="zh-CN" altLang="en-US" sz="2800" b="1" dirty="0" smtClean="0"/>
              <a:t>在文件目录中只设置文件名及指向相应索引结点的指针。</a:t>
            </a:r>
            <a:endParaRPr lang="zh-CN" altLang="en-US" sz="2800" b="1" dirty="0" smtClean="0"/>
          </a:p>
          <a:p>
            <a:pPr eaLnBrk="1" hangingPunct="1">
              <a:lnSpc>
                <a:spcPct val="110000"/>
              </a:lnSpc>
            </a:pPr>
            <a:r>
              <a:rPr lang="zh-CN" altLang="en-US" sz="2800" b="1" dirty="0" smtClean="0"/>
              <a:t>由任何用户对文件进行</a:t>
            </a:r>
            <a:r>
              <a:rPr lang="en-US" altLang="zh-CN" sz="2800" b="1" dirty="0" smtClean="0"/>
              <a:t>Append </a:t>
            </a:r>
            <a:r>
              <a:rPr lang="zh-CN" altLang="en-US" sz="2800" b="1" dirty="0" smtClean="0"/>
              <a:t>操作或修改，所引起的相应结点内容的改变</a:t>
            </a:r>
            <a:r>
              <a:rPr lang="en-US" altLang="zh-CN" sz="2800" b="1" dirty="0" smtClean="0"/>
              <a:t>(</a:t>
            </a:r>
            <a:r>
              <a:rPr lang="zh-CN" altLang="en-US" sz="2800" b="1" dirty="0" smtClean="0"/>
              <a:t>例如，增加了新的盘块号和文件长度等</a:t>
            </a:r>
            <a:r>
              <a:rPr lang="en-US" altLang="zh-CN" sz="2800" b="1" dirty="0" smtClean="0"/>
              <a:t>)</a:t>
            </a:r>
            <a:r>
              <a:rPr lang="zh-CN" altLang="en-US" sz="2800" b="1" dirty="0" smtClean="0"/>
              <a:t>，都是其他用户可见的，从而也就能提供给其他用户来共享。</a:t>
            </a:r>
            <a:endParaRPr lang="en-US" altLang="zh-CN" sz="2800" b="1" dirty="0" smtClean="0"/>
          </a:p>
          <a:p>
            <a:pPr eaLnBrk="1" hangingPunct="1">
              <a:lnSpc>
                <a:spcPct val="110000"/>
              </a:lnSpc>
            </a:pPr>
            <a:r>
              <a:rPr lang="en-US" altLang="zh-CN" sz="2800" b="1" dirty="0" smtClean="0"/>
              <a:t>Linux</a:t>
            </a:r>
            <a:r>
              <a:rPr lang="zh-CN" altLang="en-US" sz="2800" b="1" dirty="0" smtClean="0"/>
              <a:t>操作系统中的硬链接就是指的 这种方式。</a:t>
            </a:r>
            <a:endParaRPr lang="en-US" altLang="zh-CN" sz="2800" b="1" dirty="0" smtClean="0"/>
          </a:p>
          <a:p>
            <a:pPr eaLnBrk="1" hangingPunct="1">
              <a:lnSpc>
                <a:spcPct val="110000"/>
              </a:lnSpc>
            </a:pPr>
            <a:endParaRPr lang="zh-CN" altLang="en-US" sz="2800" b="1"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1074">
                                            <p:txEl>
                                              <p:pRg st="1" end="1"/>
                                            </p:txEl>
                                          </p:spTgt>
                                        </p:tgtEl>
                                        <p:attrNameLst>
                                          <p:attrName>style.visibility</p:attrName>
                                        </p:attrNameLst>
                                      </p:cBhvr>
                                      <p:to>
                                        <p:strVal val="visible"/>
                                      </p:to>
                                    </p:set>
                                    <p:animEffect transition="in" filter="fade">
                                      <p:cBhvr>
                                        <p:cTn id="7" dur="2000"/>
                                        <p:tgtEl>
                                          <p:spTgt spid="13107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1074">
                                            <p:txEl>
                                              <p:pRg st="2" end="2"/>
                                            </p:txEl>
                                          </p:spTgt>
                                        </p:tgtEl>
                                        <p:attrNameLst>
                                          <p:attrName>style.visibility</p:attrName>
                                        </p:attrNameLst>
                                      </p:cBhvr>
                                      <p:to>
                                        <p:strVal val="visible"/>
                                      </p:to>
                                    </p:set>
                                    <p:animEffect transition="in" filter="fade">
                                      <p:cBhvr>
                                        <p:cTn id="12" dur="2000"/>
                                        <p:tgtEl>
                                          <p:spTgt spid="13107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1074">
                                            <p:txEl>
                                              <p:pRg st="3" end="3"/>
                                            </p:txEl>
                                          </p:spTgt>
                                        </p:tgtEl>
                                        <p:attrNameLst>
                                          <p:attrName>style.visibility</p:attrName>
                                        </p:attrNameLst>
                                      </p:cBhvr>
                                      <p:to>
                                        <p:strVal val="visible"/>
                                      </p:to>
                                    </p:set>
                                    <p:animEffect transition="in" filter="fade">
                                      <p:cBhvr>
                                        <p:cTn id="17" dur="2000"/>
                                        <p:tgtEl>
                                          <p:spTgt spid="13107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1074">
                                            <p:txEl>
                                              <p:pRg st="4" end="4"/>
                                            </p:txEl>
                                          </p:spTgt>
                                        </p:tgtEl>
                                        <p:attrNameLst>
                                          <p:attrName>style.visibility</p:attrName>
                                        </p:attrNameLst>
                                      </p:cBhvr>
                                      <p:to>
                                        <p:strVal val="visible"/>
                                      </p:to>
                                    </p:set>
                                    <p:animEffect transition="in" filter="fade">
                                      <p:cBhvr>
                                        <p:cTn id="22" dur="2000"/>
                                        <p:tgtEl>
                                          <p:spTgt spid="13107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4" grpId="0" autoUpdateAnimBg="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52"/>
          <p:cNvSpPr>
            <a:spLocks noChangeArrowheads="1"/>
          </p:cNvSpPr>
          <p:nvPr/>
        </p:nvSpPr>
        <p:spPr bwMode="auto">
          <a:xfrm>
            <a:off x="179388" y="476250"/>
            <a:ext cx="8713787" cy="6048375"/>
          </a:xfrm>
          <a:prstGeom prst="rect">
            <a:avLst/>
          </a:prstGeom>
          <a:solidFill>
            <a:schemeClr val="tx2">
              <a:lumMod val="20000"/>
              <a:lumOff val="80000"/>
            </a:schemeClr>
          </a:solidFill>
          <a:ln w="9525">
            <a:solidFill>
              <a:schemeClr val="tx1"/>
            </a:solidFill>
            <a:miter lim="800000"/>
          </a:ln>
        </p:spPr>
        <p:txBody>
          <a:bodyPr wrap="none" anchor="ctr"/>
          <a:lstStyle/>
          <a:p>
            <a:endParaRPr lang="zh-CN" altLang="en-US"/>
          </a:p>
        </p:txBody>
      </p:sp>
      <p:grpSp>
        <p:nvGrpSpPr>
          <p:cNvPr id="2" name="Group 53"/>
          <p:cNvGrpSpPr/>
          <p:nvPr/>
        </p:nvGrpSpPr>
        <p:grpSpPr bwMode="auto">
          <a:xfrm>
            <a:off x="1835150" y="765175"/>
            <a:ext cx="5257800" cy="5646738"/>
            <a:chOff x="0" y="0"/>
            <a:chExt cx="5763" cy="5145"/>
          </a:xfrm>
        </p:grpSpPr>
        <p:grpSp>
          <p:nvGrpSpPr>
            <p:cNvPr id="3" name="Group 54"/>
            <p:cNvGrpSpPr/>
            <p:nvPr/>
          </p:nvGrpSpPr>
          <p:grpSpPr bwMode="auto">
            <a:xfrm>
              <a:off x="0" y="0"/>
              <a:ext cx="5763" cy="5145"/>
              <a:chOff x="0" y="0"/>
              <a:chExt cx="5763" cy="5145"/>
            </a:xfrm>
          </p:grpSpPr>
          <p:sp>
            <p:nvSpPr>
              <p:cNvPr id="132105" name="Text Box 55"/>
              <p:cNvSpPr txBox="1">
                <a:spLocks noChangeArrowheads="1"/>
              </p:cNvSpPr>
              <p:nvPr/>
            </p:nvSpPr>
            <p:spPr bwMode="auto">
              <a:xfrm>
                <a:off x="3" y="4677"/>
                <a:ext cx="5580" cy="468"/>
              </a:xfrm>
              <a:prstGeom prst="rect">
                <a:avLst/>
              </a:prstGeom>
              <a:noFill/>
              <a:ln w="9525">
                <a:noFill/>
                <a:miter lim="800000"/>
              </a:ln>
            </p:spPr>
            <p:txBody>
              <a:bodyPr lIns="0" tIns="0" rIns="0" bIns="0"/>
              <a:lstStyle/>
              <a:p>
                <a:pPr algn="ctr" eaLnBrk="0" hangingPunct="0"/>
                <a:r>
                  <a:rPr lang="en-US" altLang="zh-CN" sz="2400" b="1">
                    <a:solidFill>
                      <a:srgbClr val="000000"/>
                    </a:solidFill>
                    <a:latin typeface="Times New Roman" panose="02020603050405020304" pitchFamily="18" charset="0"/>
                  </a:rPr>
                  <a:t>  </a:t>
                </a:r>
                <a:r>
                  <a:rPr lang="zh-CN" altLang="en-US" sz="2400" b="1">
                    <a:solidFill>
                      <a:srgbClr val="000000"/>
                    </a:solidFill>
                    <a:latin typeface="宋体" panose="02010600030101010101" pitchFamily="2" charset="-122"/>
                  </a:rPr>
                  <a:t>图</a:t>
                </a:r>
                <a:r>
                  <a:rPr lang="zh-CN" altLang="en-US" sz="2400" b="1">
                    <a:solidFill>
                      <a:srgbClr val="000000"/>
                    </a:solidFill>
                    <a:latin typeface="Times New Roman" panose="02020603050405020304" pitchFamily="18" charset="0"/>
                  </a:rPr>
                  <a:t>  </a:t>
                </a:r>
                <a:r>
                  <a:rPr lang="zh-CN" altLang="en-US" sz="2400" b="1">
                    <a:solidFill>
                      <a:srgbClr val="000000"/>
                    </a:solidFill>
                    <a:latin typeface="宋体" panose="02010600030101010101" pitchFamily="2" charset="-122"/>
                  </a:rPr>
                  <a:t>利用索引节点实现文件共享</a:t>
                </a:r>
                <a:endParaRPr lang="zh-CN" altLang="en-US" sz="2400" b="1">
                  <a:solidFill>
                    <a:srgbClr val="000000"/>
                  </a:solidFill>
                  <a:latin typeface="Times New Roman" panose="02020603050405020304" pitchFamily="18" charset="0"/>
                </a:endParaRPr>
              </a:p>
            </p:txBody>
          </p:sp>
          <p:grpSp>
            <p:nvGrpSpPr>
              <p:cNvPr id="4" name="Group 56"/>
              <p:cNvGrpSpPr/>
              <p:nvPr/>
            </p:nvGrpSpPr>
            <p:grpSpPr bwMode="auto">
              <a:xfrm>
                <a:off x="0" y="0"/>
                <a:ext cx="5763" cy="4521"/>
                <a:chOff x="0" y="0"/>
                <a:chExt cx="5763" cy="4521"/>
              </a:xfrm>
            </p:grpSpPr>
            <p:grpSp>
              <p:nvGrpSpPr>
                <p:cNvPr id="5" name="Group 57"/>
                <p:cNvGrpSpPr/>
                <p:nvPr/>
              </p:nvGrpSpPr>
              <p:grpSpPr bwMode="auto">
                <a:xfrm>
                  <a:off x="3" y="2493"/>
                  <a:ext cx="1620" cy="2028"/>
                  <a:chOff x="0" y="0"/>
                  <a:chExt cx="1620" cy="2028"/>
                </a:xfrm>
              </p:grpSpPr>
              <p:sp>
                <p:nvSpPr>
                  <p:cNvPr id="132139" name="Text Box 58"/>
                  <p:cNvSpPr txBox="1">
                    <a:spLocks noChangeArrowheads="1"/>
                  </p:cNvSpPr>
                  <p:nvPr/>
                </p:nvSpPr>
                <p:spPr bwMode="auto">
                  <a:xfrm>
                    <a:off x="0" y="312"/>
                    <a:ext cx="720" cy="312"/>
                  </a:xfrm>
                  <a:prstGeom prst="rect">
                    <a:avLst/>
                  </a:prstGeom>
                  <a:noFill/>
                  <a:ln w="9525">
                    <a:solidFill>
                      <a:srgbClr val="000000"/>
                    </a:solidFill>
                    <a:miter lim="800000"/>
                  </a:ln>
                </p:spPr>
                <p:txBody>
                  <a:bodyPr lIns="0" tIns="0" rIns="0" bIns="0"/>
                  <a:lstStyle/>
                  <a:p>
                    <a:pPr algn="ctr" eaLnBrk="0" hangingPunct="0"/>
                    <a:r>
                      <a:rPr lang="en-US" altLang="zh-CN" sz="1600" b="1">
                        <a:solidFill>
                          <a:srgbClr val="000000"/>
                        </a:solidFill>
                        <a:latin typeface="Times New Roman" panose="02020603050405020304" pitchFamily="18" charset="0"/>
                      </a:rPr>
                      <a:t>H1</a:t>
                    </a:r>
                    <a:endParaRPr lang="en-US" altLang="zh-CN" sz="1600" b="1">
                      <a:solidFill>
                        <a:srgbClr val="000000"/>
                      </a:solidFill>
                      <a:latin typeface="Times New Roman" panose="02020603050405020304" pitchFamily="18" charset="0"/>
                    </a:endParaRPr>
                  </a:p>
                </p:txBody>
              </p:sp>
              <p:sp>
                <p:nvSpPr>
                  <p:cNvPr id="132140" name="Text Box 59"/>
                  <p:cNvSpPr txBox="1">
                    <a:spLocks noChangeArrowheads="1"/>
                  </p:cNvSpPr>
                  <p:nvPr/>
                </p:nvSpPr>
                <p:spPr bwMode="auto">
                  <a:xfrm>
                    <a:off x="720" y="312"/>
                    <a:ext cx="720" cy="312"/>
                  </a:xfrm>
                  <a:prstGeom prst="rect">
                    <a:avLst/>
                  </a:prstGeom>
                  <a:noFill/>
                  <a:ln w="9525">
                    <a:solidFill>
                      <a:srgbClr val="000000"/>
                    </a:solidFill>
                    <a:miter lim="800000"/>
                  </a:ln>
                </p:spPr>
                <p:txBody>
                  <a:bodyPr lIns="0" tIns="0" rIns="0" bIns="0"/>
                  <a:lstStyle/>
                  <a:p>
                    <a:pPr algn="ctr" eaLnBrk="0" hangingPunct="0"/>
                    <a:endParaRPr lang="zh-CN" altLang="en-US" sz="1600" b="1">
                      <a:solidFill>
                        <a:srgbClr val="000000"/>
                      </a:solidFill>
                      <a:latin typeface="Times New Roman" panose="02020603050405020304" pitchFamily="18" charset="0"/>
                    </a:endParaRPr>
                  </a:p>
                </p:txBody>
              </p:sp>
              <p:sp>
                <p:nvSpPr>
                  <p:cNvPr id="132141" name="Text Box 60"/>
                  <p:cNvSpPr txBox="1">
                    <a:spLocks noChangeArrowheads="1"/>
                  </p:cNvSpPr>
                  <p:nvPr/>
                </p:nvSpPr>
                <p:spPr bwMode="auto">
                  <a:xfrm>
                    <a:off x="0" y="624"/>
                    <a:ext cx="720" cy="312"/>
                  </a:xfrm>
                  <a:prstGeom prst="rect">
                    <a:avLst/>
                  </a:prstGeom>
                  <a:noFill/>
                  <a:ln w="9525">
                    <a:solidFill>
                      <a:srgbClr val="000000"/>
                    </a:solidFill>
                    <a:miter lim="800000"/>
                  </a:ln>
                </p:spPr>
                <p:txBody>
                  <a:bodyPr lIns="0" tIns="0" rIns="0" bIns="0"/>
                  <a:lstStyle/>
                  <a:p>
                    <a:pPr algn="ctr" eaLnBrk="0" hangingPunct="0"/>
                    <a:r>
                      <a:rPr lang="en-US" altLang="zh-CN" sz="1600" b="1">
                        <a:solidFill>
                          <a:srgbClr val="000000"/>
                        </a:solidFill>
                        <a:latin typeface="Times New Roman" panose="02020603050405020304" pitchFamily="18" charset="0"/>
                      </a:rPr>
                      <a:t>H2</a:t>
                    </a:r>
                    <a:endParaRPr lang="en-US" altLang="zh-CN" sz="1600" b="1">
                      <a:solidFill>
                        <a:srgbClr val="000000"/>
                      </a:solidFill>
                      <a:latin typeface="Times New Roman" panose="02020603050405020304" pitchFamily="18" charset="0"/>
                    </a:endParaRPr>
                  </a:p>
                </p:txBody>
              </p:sp>
              <p:sp>
                <p:nvSpPr>
                  <p:cNvPr id="132142" name="Text Box 61"/>
                  <p:cNvSpPr txBox="1">
                    <a:spLocks noChangeArrowheads="1"/>
                  </p:cNvSpPr>
                  <p:nvPr/>
                </p:nvSpPr>
                <p:spPr bwMode="auto">
                  <a:xfrm>
                    <a:off x="0" y="936"/>
                    <a:ext cx="720" cy="312"/>
                  </a:xfrm>
                  <a:prstGeom prst="rect">
                    <a:avLst/>
                  </a:prstGeom>
                  <a:noFill/>
                  <a:ln w="9525">
                    <a:solidFill>
                      <a:srgbClr val="000000"/>
                    </a:solidFill>
                    <a:miter lim="800000"/>
                  </a:ln>
                </p:spPr>
                <p:txBody>
                  <a:bodyPr lIns="0" tIns="0" rIns="0" bIns="0"/>
                  <a:lstStyle/>
                  <a:p>
                    <a:pPr algn="ctr" eaLnBrk="0" hangingPunct="0"/>
                    <a:r>
                      <a:rPr lang="en-US" altLang="zh-CN" sz="1600" b="1">
                        <a:solidFill>
                          <a:srgbClr val="000000"/>
                        </a:solidFill>
                        <a:latin typeface="Times New Roman" panose="02020603050405020304" pitchFamily="18" charset="0"/>
                      </a:rPr>
                      <a:t>H3</a:t>
                    </a:r>
                    <a:endParaRPr lang="en-US" altLang="zh-CN" sz="1600" b="1">
                      <a:solidFill>
                        <a:srgbClr val="000000"/>
                      </a:solidFill>
                      <a:latin typeface="Times New Roman" panose="02020603050405020304" pitchFamily="18" charset="0"/>
                    </a:endParaRPr>
                  </a:p>
                </p:txBody>
              </p:sp>
              <p:sp>
                <p:nvSpPr>
                  <p:cNvPr id="132143" name="Text Box 62"/>
                  <p:cNvSpPr txBox="1">
                    <a:spLocks noChangeArrowheads="1"/>
                  </p:cNvSpPr>
                  <p:nvPr/>
                </p:nvSpPr>
                <p:spPr bwMode="auto">
                  <a:xfrm>
                    <a:off x="720" y="624"/>
                    <a:ext cx="720" cy="312"/>
                  </a:xfrm>
                  <a:prstGeom prst="rect">
                    <a:avLst/>
                  </a:prstGeom>
                  <a:noFill/>
                  <a:ln w="9525">
                    <a:solidFill>
                      <a:srgbClr val="000000"/>
                    </a:solidFill>
                    <a:miter lim="800000"/>
                  </a:ln>
                </p:spPr>
                <p:txBody>
                  <a:bodyPr lIns="0" tIns="0" rIns="0" bIns="0"/>
                  <a:lstStyle/>
                  <a:p>
                    <a:pPr algn="ctr" eaLnBrk="0" hangingPunct="0"/>
                    <a:endParaRPr lang="zh-CN" altLang="en-US" sz="1600" b="1">
                      <a:solidFill>
                        <a:srgbClr val="000000"/>
                      </a:solidFill>
                      <a:latin typeface="Times New Roman" panose="02020603050405020304" pitchFamily="18" charset="0"/>
                    </a:endParaRPr>
                  </a:p>
                </p:txBody>
              </p:sp>
              <p:sp>
                <p:nvSpPr>
                  <p:cNvPr id="132144" name="Text Box 63"/>
                  <p:cNvSpPr txBox="1">
                    <a:spLocks noChangeArrowheads="1"/>
                  </p:cNvSpPr>
                  <p:nvPr/>
                </p:nvSpPr>
                <p:spPr bwMode="auto">
                  <a:xfrm>
                    <a:off x="720" y="936"/>
                    <a:ext cx="720" cy="312"/>
                  </a:xfrm>
                  <a:prstGeom prst="rect">
                    <a:avLst/>
                  </a:prstGeom>
                  <a:noFill/>
                  <a:ln w="9525">
                    <a:solidFill>
                      <a:srgbClr val="000000"/>
                    </a:solidFill>
                    <a:miter lim="800000"/>
                  </a:ln>
                </p:spPr>
                <p:txBody>
                  <a:bodyPr lIns="0" tIns="0" rIns="0" bIns="0"/>
                  <a:lstStyle/>
                  <a:p>
                    <a:pPr algn="ctr" eaLnBrk="0" hangingPunct="0"/>
                    <a:endParaRPr lang="zh-CN" altLang="en-US" sz="1600" b="1">
                      <a:solidFill>
                        <a:srgbClr val="000000"/>
                      </a:solidFill>
                      <a:latin typeface="Times New Roman" panose="02020603050405020304" pitchFamily="18" charset="0"/>
                    </a:endParaRPr>
                  </a:p>
                </p:txBody>
              </p:sp>
              <p:sp>
                <p:nvSpPr>
                  <p:cNvPr id="132145" name="Text Box 64"/>
                  <p:cNvSpPr txBox="1">
                    <a:spLocks noChangeArrowheads="1"/>
                  </p:cNvSpPr>
                  <p:nvPr/>
                </p:nvSpPr>
                <p:spPr bwMode="auto">
                  <a:xfrm>
                    <a:off x="0" y="1716"/>
                    <a:ext cx="1620" cy="312"/>
                  </a:xfrm>
                  <a:prstGeom prst="rect">
                    <a:avLst/>
                  </a:prstGeom>
                  <a:noFill/>
                  <a:ln w="9525">
                    <a:noFill/>
                    <a:miter lim="800000"/>
                  </a:ln>
                </p:spPr>
                <p:txBody>
                  <a:bodyPr lIns="0" tIns="0" rIns="0" bIns="0"/>
                  <a:lstStyle/>
                  <a:p>
                    <a:pPr algn="ctr" eaLnBrk="0" hangingPunct="0"/>
                    <a:r>
                      <a:rPr lang="en-US" altLang="zh-CN" sz="1400" b="1">
                        <a:solidFill>
                          <a:srgbClr val="000000"/>
                        </a:solidFill>
                        <a:latin typeface="Times New Roman" panose="02020603050405020304" pitchFamily="18" charset="0"/>
                      </a:rPr>
                      <a:t>User2</a:t>
                    </a:r>
                    <a:r>
                      <a:rPr lang="zh-CN" altLang="en-US" sz="1400" b="1">
                        <a:solidFill>
                          <a:srgbClr val="000000"/>
                        </a:solidFill>
                        <a:latin typeface="Times New Roman" panose="02020603050405020304" pitchFamily="18" charset="0"/>
                      </a:rPr>
                      <a:t>的目录文件</a:t>
                    </a:r>
                    <a:r>
                      <a:rPr lang="zh-CN" altLang="en-US" sz="1600" b="1">
                        <a:solidFill>
                          <a:srgbClr val="000000"/>
                        </a:solidFill>
                        <a:latin typeface="Times New Roman" panose="02020603050405020304" pitchFamily="18" charset="0"/>
                      </a:rPr>
                      <a:t> </a:t>
                    </a:r>
                    <a:endParaRPr lang="zh-CN" altLang="en-US" sz="1600" b="1">
                      <a:solidFill>
                        <a:srgbClr val="000000"/>
                      </a:solidFill>
                      <a:latin typeface="Times New Roman" panose="02020603050405020304" pitchFamily="18" charset="0"/>
                    </a:endParaRPr>
                  </a:p>
                </p:txBody>
              </p:sp>
              <p:sp>
                <p:nvSpPr>
                  <p:cNvPr id="132146" name="Text Box 65"/>
                  <p:cNvSpPr txBox="1">
                    <a:spLocks noChangeArrowheads="1"/>
                  </p:cNvSpPr>
                  <p:nvPr/>
                </p:nvSpPr>
                <p:spPr bwMode="auto">
                  <a:xfrm>
                    <a:off x="0" y="1248"/>
                    <a:ext cx="720" cy="312"/>
                  </a:xfrm>
                  <a:prstGeom prst="rect">
                    <a:avLst/>
                  </a:prstGeom>
                  <a:noFill/>
                  <a:ln w="9525">
                    <a:solidFill>
                      <a:srgbClr val="000000"/>
                    </a:solidFill>
                    <a:miter lim="800000"/>
                  </a:ln>
                </p:spPr>
                <p:txBody>
                  <a:bodyPr lIns="0" tIns="0" rIns="0" bIns="0"/>
                  <a:lstStyle/>
                  <a:p>
                    <a:pPr algn="ctr" eaLnBrk="0" hangingPunct="0"/>
                    <a:r>
                      <a:rPr lang="en-US" altLang="zh-CN" sz="1600" b="1">
                        <a:solidFill>
                          <a:srgbClr val="000000"/>
                        </a:solidFill>
                        <a:latin typeface="Times New Roman" panose="02020603050405020304" pitchFamily="18" charset="0"/>
                      </a:rPr>
                      <a:t>… </a:t>
                    </a:r>
                    <a:endParaRPr lang="en-US" altLang="zh-CN" sz="1600" b="1">
                      <a:solidFill>
                        <a:srgbClr val="000000"/>
                      </a:solidFill>
                      <a:latin typeface="Times New Roman" panose="02020603050405020304" pitchFamily="18" charset="0"/>
                    </a:endParaRPr>
                  </a:p>
                </p:txBody>
              </p:sp>
              <p:sp>
                <p:nvSpPr>
                  <p:cNvPr id="132147" name="Text Box 66"/>
                  <p:cNvSpPr txBox="1">
                    <a:spLocks noChangeArrowheads="1"/>
                  </p:cNvSpPr>
                  <p:nvPr/>
                </p:nvSpPr>
                <p:spPr bwMode="auto">
                  <a:xfrm>
                    <a:off x="720" y="1248"/>
                    <a:ext cx="720" cy="312"/>
                  </a:xfrm>
                  <a:prstGeom prst="rect">
                    <a:avLst/>
                  </a:prstGeom>
                  <a:noFill/>
                  <a:ln w="9525">
                    <a:solidFill>
                      <a:srgbClr val="000000"/>
                    </a:solidFill>
                    <a:miter lim="800000"/>
                  </a:ln>
                </p:spPr>
                <p:txBody>
                  <a:bodyPr lIns="0" tIns="0" rIns="0" bIns="0"/>
                  <a:lstStyle/>
                  <a:p>
                    <a:pPr algn="ctr" eaLnBrk="0" hangingPunct="0"/>
                    <a:r>
                      <a:rPr lang="en-US" altLang="zh-CN" sz="1600" b="1">
                        <a:solidFill>
                          <a:srgbClr val="000000"/>
                        </a:solidFill>
                        <a:latin typeface="Times New Roman" panose="02020603050405020304" pitchFamily="18" charset="0"/>
                      </a:rPr>
                      <a:t> …</a:t>
                    </a:r>
                    <a:endParaRPr lang="en-US" altLang="zh-CN" sz="1600" b="1">
                      <a:solidFill>
                        <a:srgbClr val="000000"/>
                      </a:solidFill>
                      <a:latin typeface="Times New Roman" panose="02020603050405020304" pitchFamily="18" charset="0"/>
                    </a:endParaRPr>
                  </a:p>
                </p:txBody>
              </p:sp>
              <p:sp>
                <p:nvSpPr>
                  <p:cNvPr id="132148" name="Text Box 67"/>
                  <p:cNvSpPr txBox="1">
                    <a:spLocks noChangeArrowheads="1"/>
                  </p:cNvSpPr>
                  <p:nvPr/>
                </p:nvSpPr>
                <p:spPr bwMode="auto">
                  <a:xfrm>
                    <a:off x="0" y="0"/>
                    <a:ext cx="1620" cy="312"/>
                  </a:xfrm>
                  <a:prstGeom prst="rect">
                    <a:avLst/>
                  </a:prstGeom>
                  <a:noFill/>
                  <a:ln w="9525">
                    <a:noFill/>
                    <a:miter lim="800000"/>
                  </a:ln>
                </p:spPr>
                <p:txBody>
                  <a:bodyPr lIns="0" tIns="0" rIns="0" bIns="0"/>
                  <a:lstStyle/>
                  <a:p>
                    <a:pPr algn="ctr" eaLnBrk="0" hangingPunct="0"/>
                    <a:r>
                      <a:rPr lang="zh-CN" altLang="en-US" sz="1400" b="1">
                        <a:solidFill>
                          <a:srgbClr val="000000"/>
                        </a:solidFill>
                        <a:latin typeface="Times New Roman" panose="02020603050405020304" pitchFamily="18" charset="0"/>
                      </a:rPr>
                      <a:t>文件名 索引指针</a:t>
                    </a:r>
                    <a:r>
                      <a:rPr lang="zh-CN" altLang="en-US" sz="1600" b="1">
                        <a:solidFill>
                          <a:srgbClr val="000000"/>
                        </a:solidFill>
                        <a:latin typeface="Times New Roman" panose="02020603050405020304" pitchFamily="18" charset="0"/>
                      </a:rPr>
                      <a:t>  </a:t>
                    </a:r>
                    <a:endParaRPr lang="zh-CN" altLang="en-US" sz="1600" b="1">
                      <a:solidFill>
                        <a:srgbClr val="000000"/>
                      </a:solidFill>
                      <a:latin typeface="Times New Roman" panose="02020603050405020304" pitchFamily="18" charset="0"/>
                    </a:endParaRPr>
                  </a:p>
                </p:txBody>
              </p:sp>
            </p:grpSp>
            <p:grpSp>
              <p:nvGrpSpPr>
                <p:cNvPr id="6" name="Group 68"/>
                <p:cNvGrpSpPr/>
                <p:nvPr/>
              </p:nvGrpSpPr>
              <p:grpSpPr bwMode="auto">
                <a:xfrm>
                  <a:off x="0" y="0"/>
                  <a:ext cx="2520" cy="2028"/>
                  <a:chOff x="0" y="0"/>
                  <a:chExt cx="2520" cy="2028"/>
                </a:xfrm>
              </p:grpSpPr>
              <p:sp>
                <p:nvSpPr>
                  <p:cNvPr id="132124" name="Text Box 69"/>
                  <p:cNvSpPr txBox="1">
                    <a:spLocks noChangeArrowheads="1"/>
                  </p:cNvSpPr>
                  <p:nvPr/>
                </p:nvSpPr>
                <p:spPr bwMode="auto">
                  <a:xfrm>
                    <a:off x="0" y="1716"/>
                    <a:ext cx="1620" cy="312"/>
                  </a:xfrm>
                  <a:prstGeom prst="rect">
                    <a:avLst/>
                  </a:prstGeom>
                  <a:noFill/>
                  <a:ln w="9525">
                    <a:noFill/>
                    <a:miter lim="800000"/>
                  </a:ln>
                </p:spPr>
                <p:txBody>
                  <a:bodyPr lIns="0" tIns="0" rIns="0" bIns="0"/>
                  <a:lstStyle/>
                  <a:p>
                    <a:pPr algn="ctr" eaLnBrk="0" hangingPunct="0"/>
                    <a:r>
                      <a:rPr lang="en-US" altLang="zh-CN" sz="1400" b="1">
                        <a:solidFill>
                          <a:srgbClr val="000000"/>
                        </a:solidFill>
                        <a:latin typeface="Times New Roman" panose="02020603050405020304" pitchFamily="18" charset="0"/>
                      </a:rPr>
                      <a:t>User1</a:t>
                    </a:r>
                    <a:r>
                      <a:rPr lang="zh-CN" altLang="en-US" sz="1400" b="1">
                        <a:solidFill>
                          <a:srgbClr val="000000"/>
                        </a:solidFill>
                        <a:latin typeface="Times New Roman" panose="02020603050405020304" pitchFamily="18" charset="0"/>
                      </a:rPr>
                      <a:t>的目录文件</a:t>
                    </a:r>
                    <a:r>
                      <a:rPr lang="zh-CN" altLang="en-US" sz="1600" b="1">
                        <a:solidFill>
                          <a:srgbClr val="000000"/>
                        </a:solidFill>
                        <a:latin typeface="Times New Roman" panose="02020603050405020304" pitchFamily="18" charset="0"/>
                      </a:rPr>
                      <a:t>  </a:t>
                    </a:r>
                    <a:endParaRPr lang="zh-CN" altLang="en-US" sz="1600" b="1">
                      <a:solidFill>
                        <a:srgbClr val="000000"/>
                      </a:solidFill>
                      <a:latin typeface="Times New Roman" panose="02020603050405020304" pitchFamily="18" charset="0"/>
                    </a:endParaRPr>
                  </a:p>
                </p:txBody>
              </p:sp>
              <p:grpSp>
                <p:nvGrpSpPr>
                  <p:cNvPr id="7" name="Group 70"/>
                  <p:cNvGrpSpPr/>
                  <p:nvPr/>
                </p:nvGrpSpPr>
                <p:grpSpPr bwMode="auto">
                  <a:xfrm>
                    <a:off x="0" y="0"/>
                    <a:ext cx="2520" cy="1560"/>
                    <a:chOff x="0" y="0"/>
                    <a:chExt cx="2520" cy="1560"/>
                  </a:xfrm>
                </p:grpSpPr>
                <p:sp>
                  <p:nvSpPr>
                    <p:cNvPr id="132126" name="Text Box 71"/>
                    <p:cNvSpPr txBox="1">
                      <a:spLocks noChangeArrowheads="1"/>
                    </p:cNvSpPr>
                    <p:nvPr/>
                  </p:nvSpPr>
                  <p:spPr bwMode="auto">
                    <a:xfrm>
                      <a:off x="0" y="312"/>
                      <a:ext cx="720" cy="312"/>
                    </a:xfrm>
                    <a:prstGeom prst="rect">
                      <a:avLst/>
                    </a:prstGeom>
                    <a:noFill/>
                    <a:ln w="9525">
                      <a:solidFill>
                        <a:srgbClr val="000000"/>
                      </a:solidFill>
                      <a:miter lim="800000"/>
                    </a:ln>
                  </p:spPr>
                  <p:txBody>
                    <a:bodyPr lIns="0" tIns="0" rIns="0" bIns="0"/>
                    <a:lstStyle/>
                    <a:p>
                      <a:pPr algn="ctr" eaLnBrk="0" hangingPunct="0"/>
                      <a:r>
                        <a:rPr lang="en-US" altLang="zh-CN" sz="1600" b="1">
                          <a:solidFill>
                            <a:srgbClr val="000000"/>
                          </a:solidFill>
                          <a:latin typeface="Times New Roman" panose="02020603050405020304" pitchFamily="18" charset="0"/>
                        </a:rPr>
                        <a:t>F1</a:t>
                      </a:r>
                      <a:endParaRPr lang="en-US" altLang="zh-CN" sz="1600" b="1">
                        <a:solidFill>
                          <a:srgbClr val="000000"/>
                        </a:solidFill>
                        <a:latin typeface="Times New Roman" panose="02020603050405020304" pitchFamily="18" charset="0"/>
                      </a:endParaRPr>
                    </a:p>
                  </p:txBody>
                </p:sp>
                <p:sp>
                  <p:nvSpPr>
                    <p:cNvPr id="132127" name="Text Box 72"/>
                    <p:cNvSpPr txBox="1">
                      <a:spLocks noChangeArrowheads="1"/>
                    </p:cNvSpPr>
                    <p:nvPr/>
                  </p:nvSpPr>
                  <p:spPr bwMode="auto">
                    <a:xfrm>
                      <a:off x="720" y="312"/>
                      <a:ext cx="720" cy="312"/>
                    </a:xfrm>
                    <a:prstGeom prst="rect">
                      <a:avLst/>
                    </a:prstGeom>
                    <a:noFill/>
                    <a:ln w="9525">
                      <a:solidFill>
                        <a:srgbClr val="000000"/>
                      </a:solidFill>
                      <a:miter lim="800000"/>
                    </a:ln>
                  </p:spPr>
                  <p:txBody>
                    <a:bodyPr lIns="0" tIns="0" rIns="0" bIns="0"/>
                    <a:lstStyle/>
                    <a:p>
                      <a:pPr algn="ctr" eaLnBrk="0" hangingPunct="0"/>
                      <a:endParaRPr lang="zh-CN" altLang="en-US" sz="1600" b="1">
                        <a:solidFill>
                          <a:srgbClr val="000000"/>
                        </a:solidFill>
                        <a:latin typeface="Times New Roman" panose="02020603050405020304" pitchFamily="18" charset="0"/>
                      </a:endParaRPr>
                    </a:p>
                  </p:txBody>
                </p:sp>
                <p:sp>
                  <p:nvSpPr>
                    <p:cNvPr id="132128" name="Text Box 73"/>
                    <p:cNvSpPr txBox="1">
                      <a:spLocks noChangeArrowheads="1"/>
                    </p:cNvSpPr>
                    <p:nvPr/>
                  </p:nvSpPr>
                  <p:spPr bwMode="auto">
                    <a:xfrm>
                      <a:off x="0" y="624"/>
                      <a:ext cx="720" cy="312"/>
                    </a:xfrm>
                    <a:prstGeom prst="rect">
                      <a:avLst/>
                    </a:prstGeom>
                    <a:noFill/>
                    <a:ln w="9525">
                      <a:solidFill>
                        <a:srgbClr val="000000"/>
                      </a:solidFill>
                      <a:miter lim="800000"/>
                    </a:ln>
                  </p:spPr>
                  <p:txBody>
                    <a:bodyPr lIns="0" tIns="0" rIns="0" bIns="0"/>
                    <a:lstStyle/>
                    <a:p>
                      <a:pPr algn="ctr" eaLnBrk="0" hangingPunct="0"/>
                      <a:r>
                        <a:rPr lang="en-US" altLang="zh-CN" sz="1600" b="1">
                          <a:solidFill>
                            <a:srgbClr val="000000"/>
                          </a:solidFill>
                          <a:latin typeface="Times New Roman" panose="02020603050405020304" pitchFamily="18" charset="0"/>
                        </a:rPr>
                        <a:t>F2</a:t>
                      </a:r>
                      <a:endParaRPr lang="en-US" altLang="zh-CN" sz="1600" b="1">
                        <a:solidFill>
                          <a:srgbClr val="000000"/>
                        </a:solidFill>
                        <a:latin typeface="Times New Roman" panose="02020603050405020304" pitchFamily="18" charset="0"/>
                      </a:endParaRPr>
                    </a:p>
                  </p:txBody>
                </p:sp>
                <p:sp>
                  <p:nvSpPr>
                    <p:cNvPr id="132129" name="Text Box 74"/>
                    <p:cNvSpPr txBox="1">
                      <a:spLocks noChangeArrowheads="1"/>
                    </p:cNvSpPr>
                    <p:nvPr/>
                  </p:nvSpPr>
                  <p:spPr bwMode="auto">
                    <a:xfrm>
                      <a:off x="0" y="936"/>
                      <a:ext cx="720" cy="312"/>
                    </a:xfrm>
                    <a:prstGeom prst="rect">
                      <a:avLst/>
                    </a:prstGeom>
                    <a:noFill/>
                    <a:ln w="9525">
                      <a:solidFill>
                        <a:srgbClr val="000000"/>
                      </a:solidFill>
                      <a:miter lim="800000"/>
                    </a:ln>
                  </p:spPr>
                  <p:txBody>
                    <a:bodyPr lIns="0" tIns="0" rIns="0" bIns="0"/>
                    <a:lstStyle/>
                    <a:p>
                      <a:pPr algn="ctr" eaLnBrk="0" hangingPunct="0"/>
                      <a:r>
                        <a:rPr lang="en-US" altLang="zh-CN" sz="1600" b="1">
                          <a:solidFill>
                            <a:srgbClr val="000000"/>
                          </a:solidFill>
                          <a:latin typeface="Times New Roman" panose="02020603050405020304" pitchFamily="18" charset="0"/>
                        </a:rPr>
                        <a:t>F3</a:t>
                      </a:r>
                      <a:endParaRPr lang="en-US" altLang="zh-CN" sz="1600" b="1">
                        <a:solidFill>
                          <a:srgbClr val="000000"/>
                        </a:solidFill>
                        <a:latin typeface="Times New Roman" panose="02020603050405020304" pitchFamily="18" charset="0"/>
                      </a:endParaRPr>
                    </a:p>
                  </p:txBody>
                </p:sp>
                <p:sp>
                  <p:nvSpPr>
                    <p:cNvPr id="132130" name="Text Box 75"/>
                    <p:cNvSpPr txBox="1">
                      <a:spLocks noChangeArrowheads="1"/>
                    </p:cNvSpPr>
                    <p:nvPr/>
                  </p:nvSpPr>
                  <p:spPr bwMode="auto">
                    <a:xfrm>
                      <a:off x="720" y="624"/>
                      <a:ext cx="720" cy="312"/>
                    </a:xfrm>
                    <a:prstGeom prst="rect">
                      <a:avLst/>
                    </a:prstGeom>
                    <a:noFill/>
                    <a:ln w="9525">
                      <a:solidFill>
                        <a:srgbClr val="000000"/>
                      </a:solidFill>
                      <a:miter lim="800000"/>
                    </a:ln>
                  </p:spPr>
                  <p:txBody>
                    <a:bodyPr lIns="0" tIns="0" rIns="0" bIns="0"/>
                    <a:lstStyle/>
                    <a:p>
                      <a:pPr algn="ctr" eaLnBrk="0" hangingPunct="0"/>
                      <a:endParaRPr lang="zh-CN" altLang="en-US" sz="1600" b="1">
                        <a:solidFill>
                          <a:srgbClr val="000000"/>
                        </a:solidFill>
                        <a:latin typeface="Times New Roman" panose="02020603050405020304" pitchFamily="18" charset="0"/>
                      </a:endParaRPr>
                    </a:p>
                  </p:txBody>
                </p:sp>
                <p:sp>
                  <p:nvSpPr>
                    <p:cNvPr id="132131" name="Text Box 76"/>
                    <p:cNvSpPr txBox="1">
                      <a:spLocks noChangeArrowheads="1"/>
                    </p:cNvSpPr>
                    <p:nvPr/>
                  </p:nvSpPr>
                  <p:spPr bwMode="auto">
                    <a:xfrm>
                      <a:off x="720" y="936"/>
                      <a:ext cx="720" cy="312"/>
                    </a:xfrm>
                    <a:prstGeom prst="rect">
                      <a:avLst/>
                    </a:prstGeom>
                    <a:noFill/>
                    <a:ln w="9525">
                      <a:solidFill>
                        <a:srgbClr val="000000"/>
                      </a:solidFill>
                      <a:miter lim="800000"/>
                    </a:ln>
                  </p:spPr>
                  <p:txBody>
                    <a:bodyPr lIns="0" tIns="0" rIns="0" bIns="0"/>
                    <a:lstStyle/>
                    <a:p>
                      <a:pPr algn="ctr" eaLnBrk="0" hangingPunct="0"/>
                      <a:endParaRPr lang="zh-CN" altLang="en-US" sz="1600" b="1">
                        <a:solidFill>
                          <a:srgbClr val="000000"/>
                        </a:solidFill>
                        <a:latin typeface="Times New Roman" panose="02020603050405020304" pitchFamily="18" charset="0"/>
                      </a:endParaRPr>
                    </a:p>
                  </p:txBody>
                </p:sp>
                <p:sp>
                  <p:nvSpPr>
                    <p:cNvPr id="132132" name="Text Box 77"/>
                    <p:cNvSpPr txBox="1">
                      <a:spLocks noChangeArrowheads="1"/>
                    </p:cNvSpPr>
                    <p:nvPr/>
                  </p:nvSpPr>
                  <p:spPr bwMode="auto">
                    <a:xfrm>
                      <a:off x="0" y="1248"/>
                      <a:ext cx="720" cy="312"/>
                    </a:xfrm>
                    <a:prstGeom prst="rect">
                      <a:avLst/>
                    </a:prstGeom>
                    <a:noFill/>
                    <a:ln w="9525">
                      <a:solidFill>
                        <a:srgbClr val="000000"/>
                      </a:solidFill>
                      <a:miter lim="800000"/>
                    </a:ln>
                  </p:spPr>
                  <p:txBody>
                    <a:bodyPr lIns="0" tIns="0" rIns="0" bIns="0"/>
                    <a:lstStyle/>
                    <a:p>
                      <a:pPr algn="ctr" eaLnBrk="0" hangingPunct="0"/>
                      <a:r>
                        <a:rPr lang="en-US" altLang="zh-CN" sz="1600" b="1">
                          <a:solidFill>
                            <a:srgbClr val="000000"/>
                          </a:solidFill>
                          <a:latin typeface="Times New Roman" panose="02020603050405020304" pitchFamily="18" charset="0"/>
                        </a:rPr>
                        <a:t>… </a:t>
                      </a:r>
                      <a:endParaRPr lang="en-US" altLang="zh-CN" sz="1600" b="1">
                        <a:solidFill>
                          <a:srgbClr val="000000"/>
                        </a:solidFill>
                        <a:latin typeface="Times New Roman" panose="02020603050405020304" pitchFamily="18" charset="0"/>
                      </a:endParaRPr>
                    </a:p>
                  </p:txBody>
                </p:sp>
                <p:sp>
                  <p:nvSpPr>
                    <p:cNvPr id="132133" name="Text Box 78"/>
                    <p:cNvSpPr txBox="1">
                      <a:spLocks noChangeArrowheads="1"/>
                    </p:cNvSpPr>
                    <p:nvPr/>
                  </p:nvSpPr>
                  <p:spPr bwMode="auto">
                    <a:xfrm>
                      <a:off x="720" y="1248"/>
                      <a:ext cx="720" cy="312"/>
                    </a:xfrm>
                    <a:prstGeom prst="rect">
                      <a:avLst/>
                    </a:prstGeom>
                    <a:noFill/>
                    <a:ln w="9525">
                      <a:solidFill>
                        <a:srgbClr val="000000"/>
                      </a:solidFill>
                      <a:miter lim="800000"/>
                    </a:ln>
                  </p:spPr>
                  <p:txBody>
                    <a:bodyPr lIns="0" tIns="0" rIns="0" bIns="0"/>
                    <a:lstStyle/>
                    <a:p>
                      <a:pPr algn="ctr" eaLnBrk="0" hangingPunct="0"/>
                      <a:r>
                        <a:rPr lang="en-US" altLang="zh-CN" sz="1600" b="1">
                          <a:solidFill>
                            <a:srgbClr val="000000"/>
                          </a:solidFill>
                          <a:latin typeface="Times New Roman" panose="02020603050405020304" pitchFamily="18" charset="0"/>
                        </a:rPr>
                        <a:t> …</a:t>
                      </a:r>
                      <a:endParaRPr lang="en-US" altLang="zh-CN" sz="1600" b="1">
                        <a:solidFill>
                          <a:srgbClr val="000000"/>
                        </a:solidFill>
                        <a:latin typeface="Times New Roman" panose="02020603050405020304" pitchFamily="18" charset="0"/>
                      </a:endParaRPr>
                    </a:p>
                  </p:txBody>
                </p:sp>
                <p:sp>
                  <p:nvSpPr>
                    <p:cNvPr id="132134" name="Line 79"/>
                    <p:cNvSpPr>
                      <a:spLocks noChangeShapeType="1"/>
                    </p:cNvSpPr>
                    <p:nvPr/>
                  </p:nvSpPr>
                  <p:spPr bwMode="auto">
                    <a:xfrm>
                      <a:off x="1080" y="468"/>
                      <a:ext cx="720" cy="0"/>
                    </a:xfrm>
                    <a:prstGeom prst="line">
                      <a:avLst/>
                    </a:prstGeom>
                    <a:noFill/>
                    <a:ln w="9525">
                      <a:solidFill>
                        <a:srgbClr val="000000"/>
                      </a:solidFill>
                      <a:round/>
                      <a:headEnd type="oval" w="med" len="med"/>
                      <a:tailEnd type="triangle" w="med" len="med"/>
                    </a:ln>
                  </p:spPr>
                  <p:txBody>
                    <a:bodyPr/>
                    <a:lstStyle/>
                    <a:p>
                      <a:endParaRPr lang="zh-CN" altLang="en-US"/>
                    </a:p>
                  </p:txBody>
                </p:sp>
                <p:sp>
                  <p:nvSpPr>
                    <p:cNvPr id="132135" name="Text Box 80"/>
                    <p:cNvSpPr txBox="1">
                      <a:spLocks noChangeArrowheads="1"/>
                    </p:cNvSpPr>
                    <p:nvPr/>
                  </p:nvSpPr>
                  <p:spPr bwMode="auto">
                    <a:xfrm>
                      <a:off x="0" y="0"/>
                      <a:ext cx="1620" cy="312"/>
                    </a:xfrm>
                    <a:prstGeom prst="rect">
                      <a:avLst/>
                    </a:prstGeom>
                    <a:noFill/>
                    <a:ln w="9525">
                      <a:noFill/>
                      <a:miter lim="800000"/>
                    </a:ln>
                  </p:spPr>
                  <p:txBody>
                    <a:bodyPr lIns="0" tIns="0" rIns="0" bIns="0"/>
                    <a:lstStyle/>
                    <a:p>
                      <a:pPr algn="ctr" eaLnBrk="0" hangingPunct="0"/>
                      <a:r>
                        <a:rPr lang="zh-CN" altLang="en-US" sz="1400" b="1">
                          <a:solidFill>
                            <a:srgbClr val="000000"/>
                          </a:solidFill>
                          <a:latin typeface="Times New Roman" panose="02020603050405020304" pitchFamily="18" charset="0"/>
                        </a:rPr>
                        <a:t>文件名 索引指针</a:t>
                      </a:r>
                      <a:r>
                        <a:rPr lang="zh-CN" altLang="en-US" sz="1600" b="1">
                          <a:solidFill>
                            <a:srgbClr val="000000"/>
                          </a:solidFill>
                          <a:latin typeface="Times New Roman" panose="02020603050405020304" pitchFamily="18" charset="0"/>
                        </a:rPr>
                        <a:t>  </a:t>
                      </a:r>
                      <a:endParaRPr lang="zh-CN" altLang="en-US" sz="1600" b="1">
                        <a:solidFill>
                          <a:srgbClr val="000000"/>
                        </a:solidFill>
                        <a:latin typeface="Times New Roman" panose="02020603050405020304" pitchFamily="18" charset="0"/>
                      </a:endParaRPr>
                    </a:p>
                  </p:txBody>
                </p:sp>
                <p:sp>
                  <p:nvSpPr>
                    <p:cNvPr id="132136" name="Text Box 81"/>
                    <p:cNvSpPr txBox="1">
                      <a:spLocks noChangeArrowheads="1"/>
                    </p:cNvSpPr>
                    <p:nvPr/>
                  </p:nvSpPr>
                  <p:spPr bwMode="auto">
                    <a:xfrm>
                      <a:off x="1800" y="312"/>
                      <a:ext cx="720" cy="312"/>
                    </a:xfrm>
                    <a:prstGeom prst="rect">
                      <a:avLst/>
                    </a:prstGeom>
                    <a:noFill/>
                    <a:ln w="9525">
                      <a:solidFill>
                        <a:srgbClr val="000000"/>
                      </a:solidFill>
                      <a:miter lim="800000"/>
                    </a:ln>
                  </p:spPr>
                  <p:txBody>
                    <a:bodyPr lIns="0" tIns="0" rIns="0" bIns="0"/>
                    <a:lstStyle/>
                    <a:p>
                      <a:pPr algn="ctr" eaLnBrk="0" hangingPunct="0"/>
                      <a:r>
                        <a:rPr lang="en-US" altLang="zh-CN" sz="1600" b="1">
                          <a:solidFill>
                            <a:srgbClr val="000000"/>
                          </a:solidFill>
                          <a:latin typeface="Times New Roman" panose="02020603050405020304" pitchFamily="18" charset="0"/>
                        </a:rPr>
                        <a:t>I</a:t>
                      </a:r>
                      <a:r>
                        <a:rPr lang="zh-CN" altLang="en-US" sz="1600" b="1">
                          <a:solidFill>
                            <a:srgbClr val="000000"/>
                          </a:solidFill>
                          <a:latin typeface="Times New Roman" panose="02020603050405020304" pitchFamily="18" charset="0"/>
                        </a:rPr>
                        <a:t>节点</a:t>
                      </a:r>
                      <a:endParaRPr lang="zh-CN" altLang="en-US" sz="1600" b="1">
                        <a:solidFill>
                          <a:srgbClr val="000000"/>
                        </a:solidFill>
                        <a:latin typeface="Times New Roman" panose="02020603050405020304" pitchFamily="18" charset="0"/>
                      </a:endParaRPr>
                    </a:p>
                  </p:txBody>
                </p:sp>
                <p:sp>
                  <p:nvSpPr>
                    <p:cNvPr id="132137" name="Text Box 82"/>
                    <p:cNvSpPr txBox="1">
                      <a:spLocks noChangeArrowheads="1"/>
                    </p:cNvSpPr>
                    <p:nvPr/>
                  </p:nvSpPr>
                  <p:spPr bwMode="auto">
                    <a:xfrm>
                      <a:off x="1800" y="936"/>
                      <a:ext cx="720" cy="312"/>
                    </a:xfrm>
                    <a:prstGeom prst="rect">
                      <a:avLst/>
                    </a:prstGeom>
                    <a:noFill/>
                    <a:ln w="9525">
                      <a:solidFill>
                        <a:srgbClr val="000000"/>
                      </a:solidFill>
                      <a:miter lim="800000"/>
                    </a:ln>
                  </p:spPr>
                  <p:txBody>
                    <a:bodyPr lIns="0" tIns="0" rIns="0" bIns="0"/>
                    <a:lstStyle/>
                    <a:p>
                      <a:pPr algn="ctr" eaLnBrk="0" hangingPunct="0"/>
                      <a:r>
                        <a:rPr lang="en-US" altLang="zh-CN" sz="1600" b="1">
                          <a:solidFill>
                            <a:srgbClr val="000000"/>
                          </a:solidFill>
                          <a:latin typeface="Times New Roman" panose="02020603050405020304" pitchFamily="18" charset="0"/>
                        </a:rPr>
                        <a:t>I</a:t>
                      </a:r>
                      <a:r>
                        <a:rPr lang="zh-CN" altLang="en-US" sz="1600" b="1">
                          <a:solidFill>
                            <a:srgbClr val="000000"/>
                          </a:solidFill>
                          <a:latin typeface="Times New Roman" panose="02020603050405020304" pitchFamily="18" charset="0"/>
                        </a:rPr>
                        <a:t>节点</a:t>
                      </a:r>
                      <a:endParaRPr lang="zh-CN" altLang="en-US" sz="1600" b="1">
                        <a:solidFill>
                          <a:srgbClr val="000000"/>
                        </a:solidFill>
                        <a:latin typeface="Times New Roman" panose="02020603050405020304" pitchFamily="18" charset="0"/>
                      </a:endParaRPr>
                    </a:p>
                  </p:txBody>
                </p:sp>
                <p:sp>
                  <p:nvSpPr>
                    <p:cNvPr id="132138" name="Line 83"/>
                    <p:cNvSpPr>
                      <a:spLocks noChangeShapeType="1"/>
                    </p:cNvSpPr>
                    <p:nvPr/>
                  </p:nvSpPr>
                  <p:spPr bwMode="auto">
                    <a:xfrm>
                      <a:off x="1080" y="1092"/>
                      <a:ext cx="720" cy="0"/>
                    </a:xfrm>
                    <a:prstGeom prst="line">
                      <a:avLst/>
                    </a:prstGeom>
                    <a:noFill/>
                    <a:ln w="9525">
                      <a:solidFill>
                        <a:srgbClr val="000000"/>
                      </a:solidFill>
                      <a:round/>
                      <a:headEnd type="oval" w="med" len="med"/>
                      <a:tailEnd type="triangle" w="med" len="med"/>
                    </a:ln>
                  </p:spPr>
                  <p:txBody>
                    <a:bodyPr/>
                    <a:lstStyle/>
                    <a:p>
                      <a:endParaRPr lang="zh-CN" altLang="en-US"/>
                    </a:p>
                  </p:txBody>
                </p:sp>
              </p:grpSp>
            </p:grpSp>
            <p:grpSp>
              <p:nvGrpSpPr>
                <p:cNvPr id="8" name="Group 84"/>
                <p:cNvGrpSpPr/>
                <p:nvPr/>
              </p:nvGrpSpPr>
              <p:grpSpPr bwMode="auto">
                <a:xfrm>
                  <a:off x="3603" y="1401"/>
                  <a:ext cx="2160" cy="1092"/>
                  <a:chOff x="0" y="0"/>
                  <a:chExt cx="2160" cy="1092"/>
                </a:xfrm>
              </p:grpSpPr>
              <p:sp>
                <p:nvSpPr>
                  <p:cNvPr id="132118" name="Text Box 85"/>
                  <p:cNvSpPr txBox="1">
                    <a:spLocks noChangeArrowheads="1"/>
                  </p:cNvSpPr>
                  <p:nvPr/>
                </p:nvSpPr>
                <p:spPr bwMode="auto">
                  <a:xfrm>
                    <a:off x="0" y="0"/>
                    <a:ext cx="1620" cy="312"/>
                  </a:xfrm>
                  <a:prstGeom prst="rect">
                    <a:avLst/>
                  </a:prstGeom>
                  <a:noFill/>
                  <a:ln w="9525">
                    <a:noFill/>
                    <a:miter lim="800000"/>
                  </a:ln>
                </p:spPr>
                <p:txBody>
                  <a:bodyPr lIns="0" tIns="0" rIns="0" bIns="0"/>
                  <a:lstStyle/>
                  <a:p>
                    <a:pPr algn="ctr" eaLnBrk="0" hangingPunct="0"/>
                    <a:r>
                      <a:rPr lang="zh-CN" altLang="en-US" sz="1600" b="1">
                        <a:solidFill>
                          <a:srgbClr val="000000"/>
                        </a:solidFill>
                        <a:latin typeface="Times New Roman" panose="02020603050405020304" pitchFamily="18" charset="0"/>
                      </a:rPr>
                      <a:t>共享索引节点</a:t>
                    </a:r>
                    <a:endParaRPr lang="zh-CN" altLang="en-US" sz="1600" b="1">
                      <a:solidFill>
                        <a:srgbClr val="000000"/>
                      </a:solidFill>
                      <a:latin typeface="Times New Roman" panose="02020603050405020304" pitchFamily="18" charset="0"/>
                    </a:endParaRPr>
                  </a:p>
                </p:txBody>
              </p:sp>
              <p:sp>
                <p:nvSpPr>
                  <p:cNvPr id="132119" name="Text Box 86"/>
                  <p:cNvSpPr txBox="1">
                    <a:spLocks noChangeArrowheads="1"/>
                  </p:cNvSpPr>
                  <p:nvPr/>
                </p:nvSpPr>
                <p:spPr bwMode="auto">
                  <a:xfrm>
                    <a:off x="360" y="312"/>
                    <a:ext cx="900" cy="780"/>
                  </a:xfrm>
                  <a:prstGeom prst="rect">
                    <a:avLst/>
                  </a:prstGeom>
                  <a:noFill/>
                  <a:ln w="9525">
                    <a:solidFill>
                      <a:srgbClr val="000000"/>
                    </a:solidFill>
                    <a:miter lim="800000"/>
                  </a:ln>
                </p:spPr>
                <p:txBody>
                  <a:bodyPr lIns="0" tIns="0" rIns="0" bIns="0"/>
                  <a:lstStyle/>
                  <a:p>
                    <a:pPr algn="ctr" eaLnBrk="0" hangingPunct="0"/>
                    <a:r>
                      <a:rPr lang="en-US" altLang="zh-CN" sz="1600" b="1">
                        <a:solidFill>
                          <a:srgbClr val="000000"/>
                        </a:solidFill>
                        <a:latin typeface="Times New Roman" panose="02020603050405020304" pitchFamily="18" charset="0"/>
                      </a:rPr>
                      <a:t>Count</a:t>
                    </a:r>
                    <a:endParaRPr lang="en-US" altLang="zh-CN" sz="1600" b="1">
                      <a:solidFill>
                        <a:srgbClr val="000000"/>
                      </a:solidFill>
                      <a:latin typeface="Times New Roman" panose="02020603050405020304" pitchFamily="18" charset="0"/>
                    </a:endParaRPr>
                  </a:p>
                  <a:p>
                    <a:pPr algn="ctr" eaLnBrk="0" hangingPunct="0"/>
                    <a:r>
                      <a:rPr lang="zh-CN" altLang="en-US" sz="1400" b="1">
                        <a:solidFill>
                          <a:srgbClr val="000000"/>
                        </a:solidFill>
                        <a:latin typeface="Times New Roman" panose="02020603050405020304" pitchFamily="18" charset="0"/>
                      </a:rPr>
                      <a:t>物理地址</a:t>
                    </a:r>
                    <a:endParaRPr lang="zh-CN" altLang="en-US" sz="1400" b="1">
                      <a:solidFill>
                        <a:srgbClr val="000000"/>
                      </a:solidFill>
                      <a:latin typeface="Times New Roman" panose="02020603050405020304" pitchFamily="18" charset="0"/>
                    </a:endParaRPr>
                  </a:p>
                </p:txBody>
              </p:sp>
              <p:sp>
                <p:nvSpPr>
                  <p:cNvPr id="132120" name="Line 87"/>
                  <p:cNvSpPr>
                    <a:spLocks noChangeShapeType="1"/>
                  </p:cNvSpPr>
                  <p:nvPr/>
                </p:nvSpPr>
                <p:spPr bwMode="auto">
                  <a:xfrm>
                    <a:off x="900" y="936"/>
                    <a:ext cx="720" cy="0"/>
                  </a:xfrm>
                  <a:prstGeom prst="line">
                    <a:avLst/>
                  </a:prstGeom>
                  <a:noFill/>
                  <a:ln w="9525">
                    <a:solidFill>
                      <a:srgbClr val="000000"/>
                    </a:solidFill>
                    <a:round/>
                    <a:headEnd type="oval" w="med" len="med"/>
                    <a:tailEnd type="triangle" w="med" len="med"/>
                  </a:ln>
                </p:spPr>
                <p:txBody>
                  <a:bodyPr/>
                  <a:lstStyle/>
                  <a:p>
                    <a:endParaRPr lang="zh-CN" altLang="en-US"/>
                  </a:p>
                </p:txBody>
              </p:sp>
              <p:grpSp>
                <p:nvGrpSpPr>
                  <p:cNvPr id="9" name="Group 88"/>
                  <p:cNvGrpSpPr/>
                  <p:nvPr/>
                </p:nvGrpSpPr>
                <p:grpSpPr bwMode="auto">
                  <a:xfrm>
                    <a:off x="1620" y="624"/>
                    <a:ext cx="540" cy="468"/>
                    <a:chOff x="0" y="0"/>
                    <a:chExt cx="540" cy="468"/>
                  </a:xfrm>
                </p:grpSpPr>
                <p:sp>
                  <p:nvSpPr>
                    <p:cNvPr id="132122" name="Oval 89"/>
                    <p:cNvSpPr>
                      <a:spLocks noChangeArrowheads="1"/>
                    </p:cNvSpPr>
                    <p:nvPr/>
                  </p:nvSpPr>
                  <p:spPr bwMode="auto">
                    <a:xfrm>
                      <a:off x="0" y="0"/>
                      <a:ext cx="540" cy="468"/>
                    </a:xfrm>
                    <a:prstGeom prst="ellipse">
                      <a:avLst/>
                    </a:prstGeom>
                    <a:noFill/>
                    <a:ln w="9525">
                      <a:solidFill>
                        <a:srgbClr val="000000"/>
                      </a:solidFill>
                      <a:round/>
                    </a:ln>
                  </p:spPr>
                  <p:txBody>
                    <a:bodyPr/>
                    <a:lstStyle/>
                    <a:p>
                      <a:endParaRPr lang="zh-CN" altLang="en-US"/>
                    </a:p>
                  </p:txBody>
                </p:sp>
                <p:sp>
                  <p:nvSpPr>
                    <p:cNvPr id="132123" name="Text Box 90"/>
                    <p:cNvSpPr txBox="1">
                      <a:spLocks noChangeArrowheads="1"/>
                    </p:cNvSpPr>
                    <p:nvPr/>
                  </p:nvSpPr>
                  <p:spPr bwMode="auto">
                    <a:xfrm>
                      <a:off x="0" y="156"/>
                      <a:ext cx="540" cy="312"/>
                    </a:xfrm>
                    <a:prstGeom prst="rect">
                      <a:avLst/>
                    </a:prstGeom>
                    <a:noFill/>
                    <a:ln w="9525">
                      <a:noFill/>
                      <a:miter lim="800000"/>
                    </a:ln>
                  </p:spPr>
                  <p:txBody>
                    <a:bodyPr lIns="0" tIns="0" rIns="0" bIns="0"/>
                    <a:lstStyle/>
                    <a:p>
                      <a:pPr algn="ctr" eaLnBrk="0" hangingPunct="0"/>
                      <a:r>
                        <a:rPr lang="zh-CN" altLang="en-US" sz="1600" b="1">
                          <a:solidFill>
                            <a:srgbClr val="000000"/>
                          </a:solidFill>
                          <a:latin typeface="Times New Roman" panose="02020603050405020304" pitchFamily="18" charset="0"/>
                        </a:rPr>
                        <a:t>文件</a:t>
                      </a:r>
                      <a:endParaRPr lang="zh-CN" altLang="en-US" sz="1600" b="1">
                        <a:solidFill>
                          <a:srgbClr val="000000"/>
                        </a:solidFill>
                        <a:latin typeface="Times New Roman" panose="02020603050405020304" pitchFamily="18" charset="0"/>
                      </a:endParaRPr>
                    </a:p>
                  </p:txBody>
                </p:sp>
              </p:grpSp>
            </p:grpSp>
            <p:grpSp>
              <p:nvGrpSpPr>
                <p:cNvPr id="10" name="Group 91"/>
                <p:cNvGrpSpPr/>
                <p:nvPr/>
              </p:nvGrpSpPr>
              <p:grpSpPr bwMode="auto">
                <a:xfrm>
                  <a:off x="1083" y="2025"/>
                  <a:ext cx="2700" cy="1716"/>
                  <a:chOff x="0" y="0"/>
                  <a:chExt cx="2700" cy="1716"/>
                </a:xfrm>
              </p:grpSpPr>
              <p:sp>
                <p:nvSpPr>
                  <p:cNvPr id="132111" name="Text Box 92"/>
                  <p:cNvSpPr txBox="1">
                    <a:spLocks noChangeArrowheads="1"/>
                  </p:cNvSpPr>
                  <p:nvPr/>
                </p:nvSpPr>
                <p:spPr bwMode="auto">
                  <a:xfrm>
                    <a:off x="720" y="780"/>
                    <a:ext cx="720" cy="312"/>
                  </a:xfrm>
                  <a:prstGeom prst="rect">
                    <a:avLst/>
                  </a:prstGeom>
                  <a:noFill/>
                  <a:ln w="9525">
                    <a:solidFill>
                      <a:srgbClr val="000000"/>
                    </a:solidFill>
                    <a:miter lim="800000"/>
                  </a:ln>
                </p:spPr>
                <p:txBody>
                  <a:bodyPr lIns="0" tIns="0" rIns="0" bIns="0"/>
                  <a:lstStyle/>
                  <a:p>
                    <a:pPr algn="ctr" eaLnBrk="0" hangingPunct="0"/>
                    <a:r>
                      <a:rPr lang="en-US" altLang="zh-CN" sz="1600" b="1">
                        <a:solidFill>
                          <a:srgbClr val="000000"/>
                        </a:solidFill>
                        <a:latin typeface="Times New Roman" panose="02020603050405020304" pitchFamily="18" charset="0"/>
                      </a:rPr>
                      <a:t>I</a:t>
                    </a:r>
                    <a:r>
                      <a:rPr lang="zh-CN" altLang="en-US" sz="1600" b="1">
                        <a:solidFill>
                          <a:srgbClr val="000000"/>
                        </a:solidFill>
                        <a:latin typeface="Times New Roman" panose="02020603050405020304" pitchFamily="18" charset="0"/>
                      </a:rPr>
                      <a:t>节点</a:t>
                    </a:r>
                    <a:endParaRPr lang="zh-CN" altLang="en-US" sz="1600" b="1">
                      <a:solidFill>
                        <a:srgbClr val="000000"/>
                      </a:solidFill>
                      <a:latin typeface="Times New Roman" panose="02020603050405020304" pitchFamily="18" charset="0"/>
                    </a:endParaRPr>
                  </a:p>
                </p:txBody>
              </p:sp>
              <p:sp>
                <p:nvSpPr>
                  <p:cNvPr id="132112" name="Text Box 93"/>
                  <p:cNvSpPr txBox="1">
                    <a:spLocks noChangeArrowheads="1"/>
                  </p:cNvSpPr>
                  <p:nvPr/>
                </p:nvSpPr>
                <p:spPr bwMode="auto">
                  <a:xfrm>
                    <a:off x="720" y="1404"/>
                    <a:ext cx="720" cy="312"/>
                  </a:xfrm>
                  <a:prstGeom prst="rect">
                    <a:avLst/>
                  </a:prstGeom>
                  <a:noFill/>
                  <a:ln w="9525">
                    <a:solidFill>
                      <a:srgbClr val="000000"/>
                    </a:solidFill>
                    <a:miter lim="800000"/>
                  </a:ln>
                </p:spPr>
                <p:txBody>
                  <a:bodyPr lIns="0" tIns="0" rIns="0" bIns="0"/>
                  <a:lstStyle/>
                  <a:p>
                    <a:pPr algn="ctr" eaLnBrk="0" hangingPunct="0"/>
                    <a:r>
                      <a:rPr lang="en-US" altLang="zh-CN" sz="1600" b="1">
                        <a:solidFill>
                          <a:srgbClr val="000000"/>
                        </a:solidFill>
                        <a:latin typeface="Times New Roman" panose="02020603050405020304" pitchFamily="18" charset="0"/>
                      </a:rPr>
                      <a:t>I</a:t>
                    </a:r>
                    <a:r>
                      <a:rPr lang="zh-CN" altLang="en-US" sz="1600" b="1">
                        <a:solidFill>
                          <a:srgbClr val="000000"/>
                        </a:solidFill>
                        <a:latin typeface="Times New Roman" panose="02020603050405020304" pitchFamily="18" charset="0"/>
                      </a:rPr>
                      <a:t>节点</a:t>
                    </a:r>
                    <a:endParaRPr lang="zh-CN" altLang="en-US" sz="1600" b="1">
                      <a:solidFill>
                        <a:srgbClr val="000000"/>
                      </a:solidFill>
                      <a:latin typeface="Times New Roman" panose="02020603050405020304" pitchFamily="18" charset="0"/>
                    </a:endParaRPr>
                  </a:p>
                </p:txBody>
              </p:sp>
              <p:sp>
                <p:nvSpPr>
                  <p:cNvPr id="132113" name="Line 94"/>
                  <p:cNvSpPr>
                    <a:spLocks noChangeShapeType="1"/>
                  </p:cNvSpPr>
                  <p:nvPr/>
                </p:nvSpPr>
                <p:spPr bwMode="auto">
                  <a:xfrm>
                    <a:off x="0" y="936"/>
                    <a:ext cx="720" cy="0"/>
                  </a:xfrm>
                  <a:prstGeom prst="line">
                    <a:avLst/>
                  </a:prstGeom>
                  <a:noFill/>
                  <a:ln w="9525">
                    <a:solidFill>
                      <a:srgbClr val="000000"/>
                    </a:solidFill>
                    <a:round/>
                    <a:headEnd type="oval" w="med" len="med"/>
                    <a:tailEnd type="triangle" w="med" len="med"/>
                  </a:ln>
                </p:spPr>
                <p:txBody>
                  <a:bodyPr/>
                  <a:lstStyle/>
                  <a:p>
                    <a:endParaRPr lang="zh-CN" altLang="en-US"/>
                  </a:p>
                </p:txBody>
              </p:sp>
              <p:sp>
                <p:nvSpPr>
                  <p:cNvPr id="132114" name="Line 95"/>
                  <p:cNvSpPr>
                    <a:spLocks noChangeShapeType="1"/>
                  </p:cNvSpPr>
                  <p:nvPr/>
                </p:nvSpPr>
                <p:spPr bwMode="auto">
                  <a:xfrm>
                    <a:off x="0" y="1560"/>
                    <a:ext cx="720" cy="0"/>
                  </a:xfrm>
                  <a:prstGeom prst="line">
                    <a:avLst/>
                  </a:prstGeom>
                  <a:noFill/>
                  <a:ln w="9525">
                    <a:solidFill>
                      <a:srgbClr val="000000"/>
                    </a:solidFill>
                    <a:round/>
                    <a:headEnd type="oval" w="med" len="med"/>
                    <a:tailEnd type="triangle" w="med" len="med"/>
                  </a:ln>
                </p:spPr>
                <p:txBody>
                  <a:bodyPr/>
                  <a:lstStyle/>
                  <a:p>
                    <a:endParaRPr lang="zh-CN" altLang="en-US"/>
                  </a:p>
                </p:txBody>
              </p:sp>
              <p:sp>
                <p:nvSpPr>
                  <p:cNvPr id="132115" name="Line 96"/>
                  <p:cNvSpPr>
                    <a:spLocks noChangeShapeType="1"/>
                  </p:cNvSpPr>
                  <p:nvPr/>
                </p:nvSpPr>
                <p:spPr bwMode="auto">
                  <a:xfrm>
                    <a:off x="0" y="1248"/>
                    <a:ext cx="2160" cy="0"/>
                  </a:xfrm>
                  <a:prstGeom prst="line">
                    <a:avLst/>
                  </a:prstGeom>
                  <a:noFill/>
                  <a:ln w="9525">
                    <a:solidFill>
                      <a:srgbClr val="000000"/>
                    </a:solidFill>
                    <a:round/>
                    <a:headEnd type="oval" w="med" len="med"/>
                  </a:ln>
                </p:spPr>
                <p:txBody>
                  <a:bodyPr/>
                  <a:lstStyle/>
                  <a:p>
                    <a:endParaRPr lang="zh-CN" altLang="en-US"/>
                  </a:p>
                </p:txBody>
              </p:sp>
              <p:sp>
                <p:nvSpPr>
                  <p:cNvPr id="132116" name="Line 97"/>
                  <p:cNvSpPr>
                    <a:spLocks noChangeShapeType="1"/>
                  </p:cNvSpPr>
                  <p:nvPr/>
                </p:nvSpPr>
                <p:spPr bwMode="auto">
                  <a:xfrm>
                    <a:off x="2160" y="0"/>
                    <a:ext cx="0" cy="1248"/>
                  </a:xfrm>
                  <a:prstGeom prst="line">
                    <a:avLst/>
                  </a:prstGeom>
                  <a:noFill/>
                  <a:ln w="9525">
                    <a:solidFill>
                      <a:srgbClr val="000000"/>
                    </a:solidFill>
                    <a:round/>
                  </a:ln>
                </p:spPr>
                <p:txBody>
                  <a:bodyPr/>
                  <a:lstStyle/>
                  <a:p>
                    <a:endParaRPr lang="zh-CN" altLang="en-US"/>
                  </a:p>
                </p:txBody>
              </p:sp>
              <p:sp>
                <p:nvSpPr>
                  <p:cNvPr id="132117" name="Line 98"/>
                  <p:cNvSpPr>
                    <a:spLocks noChangeShapeType="1"/>
                  </p:cNvSpPr>
                  <p:nvPr/>
                </p:nvSpPr>
                <p:spPr bwMode="auto">
                  <a:xfrm>
                    <a:off x="2160" y="0"/>
                    <a:ext cx="540" cy="0"/>
                  </a:xfrm>
                  <a:prstGeom prst="line">
                    <a:avLst/>
                  </a:prstGeom>
                  <a:noFill/>
                  <a:ln w="9525">
                    <a:solidFill>
                      <a:srgbClr val="000000"/>
                    </a:solidFill>
                    <a:round/>
                    <a:tailEnd type="triangle" w="med" len="med"/>
                  </a:ln>
                </p:spPr>
                <p:txBody>
                  <a:bodyPr/>
                  <a:lstStyle/>
                  <a:p>
                    <a:endParaRPr lang="zh-CN" altLang="en-US"/>
                  </a:p>
                </p:txBody>
              </p:sp>
            </p:grpSp>
          </p:grpSp>
        </p:grpSp>
        <p:grpSp>
          <p:nvGrpSpPr>
            <p:cNvPr id="11" name="Group 99"/>
            <p:cNvGrpSpPr/>
            <p:nvPr/>
          </p:nvGrpSpPr>
          <p:grpSpPr bwMode="auto">
            <a:xfrm>
              <a:off x="1083" y="777"/>
              <a:ext cx="2700" cy="936"/>
              <a:chOff x="0" y="0"/>
              <a:chExt cx="2700" cy="936"/>
            </a:xfrm>
          </p:grpSpPr>
          <p:sp>
            <p:nvSpPr>
              <p:cNvPr id="132102" name="Line 100"/>
              <p:cNvSpPr>
                <a:spLocks noChangeShapeType="1"/>
              </p:cNvSpPr>
              <p:nvPr/>
            </p:nvSpPr>
            <p:spPr bwMode="auto">
              <a:xfrm>
                <a:off x="2160" y="0"/>
                <a:ext cx="0" cy="936"/>
              </a:xfrm>
              <a:prstGeom prst="line">
                <a:avLst/>
              </a:prstGeom>
              <a:noFill/>
              <a:ln w="9525">
                <a:solidFill>
                  <a:srgbClr val="000000"/>
                </a:solidFill>
                <a:round/>
              </a:ln>
            </p:spPr>
            <p:txBody>
              <a:bodyPr/>
              <a:lstStyle/>
              <a:p>
                <a:endParaRPr lang="zh-CN" altLang="en-US"/>
              </a:p>
            </p:txBody>
          </p:sp>
          <p:sp>
            <p:nvSpPr>
              <p:cNvPr id="132103" name="Line 101"/>
              <p:cNvSpPr>
                <a:spLocks noChangeShapeType="1"/>
              </p:cNvSpPr>
              <p:nvPr/>
            </p:nvSpPr>
            <p:spPr bwMode="auto">
              <a:xfrm>
                <a:off x="2160" y="936"/>
                <a:ext cx="540" cy="0"/>
              </a:xfrm>
              <a:prstGeom prst="line">
                <a:avLst/>
              </a:prstGeom>
              <a:noFill/>
              <a:ln w="9525">
                <a:solidFill>
                  <a:srgbClr val="000000"/>
                </a:solidFill>
                <a:round/>
                <a:tailEnd type="triangle" w="med" len="med"/>
              </a:ln>
            </p:spPr>
            <p:txBody>
              <a:bodyPr/>
              <a:lstStyle/>
              <a:p>
                <a:endParaRPr lang="zh-CN" altLang="en-US"/>
              </a:p>
            </p:txBody>
          </p:sp>
          <p:sp>
            <p:nvSpPr>
              <p:cNvPr id="132104" name="Line 102"/>
              <p:cNvSpPr>
                <a:spLocks noChangeShapeType="1"/>
              </p:cNvSpPr>
              <p:nvPr/>
            </p:nvSpPr>
            <p:spPr bwMode="auto">
              <a:xfrm>
                <a:off x="0" y="0"/>
                <a:ext cx="2160" cy="0"/>
              </a:xfrm>
              <a:prstGeom prst="line">
                <a:avLst/>
              </a:prstGeom>
              <a:noFill/>
              <a:ln w="9525">
                <a:solidFill>
                  <a:srgbClr val="000000"/>
                </a:solidFill>
                <a:round/>
                <a:headEnd type="oval" w="med" len="med"/>
              </a:ln>
            </p:spPr>
            <p:txBody>
              <a:bodyPr/>
              <a:lstStyle/>
              <a:p>
                <a:endParaRPr lang="zh-CN" altLang="en-US"/>
              </a:p>
            </p:txBody>
          </p:sp>
        </p:grpSp>
      </p:grpSp>
    </p:spTree>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22" name="Rectangle 3"/>
          <p:cNvSpPr>
            <a:spLocks noGrp="1" noRot="1" noChangeArrowheads="1"/>
          </p:cNvSpPr>
          <p:nvPr>
            <p:ph type="body" idx="4294967295"/>
          </p:nvPr>
        </p:nvSpPr>
        <p:spPr>
          <a:xfrm>
            <a:off x="539750" y="1000125"/>
            <a:ext cx="7889875" cy="5381625"/>
          </a:xfrm>
        </p:spPr>
        <p:txBody>
          <a:bodyPr/>
          <a:lstStyle/>
          <a:p>
            <a:pPr eaLnBrk="1" hangingPunct="1">
              <a:lnSpc>
                <a:spcPct val="110000"/>
              </a:lnSpc>
            </a:pPr>
            <a:r>
              <a:rPr lang="zh-CN" altLang="en-US" sz="2400" b="1" dirty="0" smtClean="0"/>
              <a:t>在索引结点中还应有一个链接计数</a:t>
            </a:r>
            <a:r>
              <a:rPr lang="en-US" altLang="zh-CN" sz="2400" b="1" dirty="0" smtClean="0"/>
              <a:t>count</a:t>
            </a:r>
            <a:r>
              <a:rPr lang="zh-CN" altLang="en-US" sz="2400" b="1" dirty="0" smtClean="0"/>
              <a:t>，用于表示链接到本索引结点</a:t>
            </a:r>
            <a:r>
              <a:rPr lang="en-US" altLang="zh-CN" sz="2400" b="1" dirty="0" smtClean="0"/>
              <a:t>(</a:t>
            </a:r>
            <a:r>
              <a:rPr lang="zh-CN" altLang="en-US" sz="2400" b="1" dirty="0" smtClean="0"/>
              <a:t>亦即文件</a:t>
            </a:r>
            <a:r>
              <a:rPr lang="en-US" altLang="zh-CN" sz="2400" b="1" dirty="0" smtClean="0"/>
              <a:t>)</a:t>
            </a:r>
            <a:r>
              <a:rPr lang="zh-CN" altLang="en-US" sz="2400" b="1" dirty="0" smtClean="0"/>
              <a:t>上的用户目录项的数目。</a:t>
            </a:r>
            <a:endParaRPr lang="zh-CN" altLang="en-US" sz="2400" b="1" dirty="0" smtClean="0"/>
          </a:p>
          <a:p>
            <a:pPr eaLnBrk="1" hangingPunct="1">
              <a:lnSpc>
                <a:spcPct val="110000"/>
              </a:lnSpc>
            </a:pPr>
            <a:r>
              <a:rPr lang="zh-CN" altLang="en-US" sz="2400" b="1" dirty="0" smtClean="0"/>
              <a:t>当用户</a:t>
            </a:r>
            <a:r>
              <a:rPr lang="en-US" altLang="zh-CN" sz="2400" b="1" dirty="0" smtClean="0"/>
              <a:t>C</a:t>
            </a:r>
            <a:r>
              <a:rPr lang="zh-CN" altLang="en-US" sz="2400" b="1" dirty="0" smtClean="0"/>
              <a:t>创建一个新文件时，他便是该文件的所有者，此时将</a:t>
            </a:r>
            <a:r>
              <a:rPr lang="en-US" altLang="zh-CN" sz="2400" b="1" dirty="0" smtClean="0"/>
              <a:t>count </a:t>
            </a:r>
            <a:r>
              <a:rPr lang="zh-CN" altLang="en-US" sz="2400" b="1" dirty="0" smtClean="0"/>
              <a:t>置</a:t>
            </a:r>
            <a:r>
              <a:rPr lang="en-US" altLang="zh-CN" sz="2400" b="1" dirty="0" smtClean="0"/>
              <a:t>1</a:t>
            </a:r>
            <a:r>
              <a:rPr lang="zh-CN" altLang="en-US" sz="2400" b="1" dirty="0" smtClean="0"/>
              <a:t>。</a:t>
            </a:r>
            <a:endParaRPr lang="zh-CN" altLang="en-US" sz="2400" b="1" dirty="0" smtClean="0"/>
          </a:p>
          <a:p>
            <a:pPr eaLnBrk="1" hangingPunct="1">
              <a:lnSpc>
                <a:spcPct val="110000"/>
              </a:lnSpc>
            </a:pPr>
            <a:r>
              <a:rPr lang="zh-CN" altLang="en-US" sz="2400" b="1" dirty="0" smtClean="0"/>
              <a:t>当有用户</a:t>
            </a:r>
            <a:r>
              <a:rPr lang="en-US" altLang="zh-CN" sz="2400" b="1" dirty="0" smtClean="0"/>
              <a:t>B</a:t>
            </a:r>
            <a:r>
              <a:rPr lang="zh-CN" altLang="en-US" sz="2400" b="1" dirty="0" smtClean="0"/>
              <a:t>要共享此文件时，在用户</a:t>
            </a:r>
            <a:r>
              <a:rPr lang="en-US" altLang="zh-CN" sz="2400" b="1" dirty="0" smtClean="0"/>
              <a:t>B </a:t>
            </a:r>
            <a:r>
              <a:rPr lang="zh-CN" altLang="en-US" sz="2400" b="1" dirty="0" smtClean="0"/>
              <a:t>的目录中增加一目录项，并设置一指针指向该文件的索引结点，此时，文件主仍然是</a:t>
            </a:r>
            <a:r>
              <a:rPr lang="en-US" altLang="zh-CN" sz="2400" b="1" dirty="0" smtClean="0"/>
              <a:t>C</a:t>
            </a:r>
            <a:r>
              <a:rPr lang="zh-CN" altLang="en-US" sz="2400" b="1" dirty="0" smtClean="0"/>
              <a:t>，</a:t>
            </a:r>
            <a:r>
              <a:rPr lang="en-US" altLang="zh-CN" sz="2400" b="1" dirty="0" smtClean="0"/>
              <a:t>count=2</a:t>
            </a:r>
            <a:r>
              <a:rPr lang="zh-CN" altLang="en-US" sz="2400" b="1" dirty="0" smtClean="0"/>
              <a:t>。</a:t>
            </a:r>
            <a:endParaRPr lang="zh-CN" altLang="en-US" sz="2400" b="1" dirty="0" smtClean="0"/>
          </a:p>
          <a:p>
            <a:pPr eaLnBrk="1" hangingPunct="1">
              <a:lnSpc>
                <a:spcPct val="110000"/>
              </a:lnSpc>
            </a:pPr>
            <a:r>
              <a:rPr lang="zh-CN" altLang="en-US" sz="2800" b="1" i="1" u="sng" dirty="0" smtClean="0">
                <a:solidFill>
                  <a:schemeClr val="folHlink"/>
                </a:solidFill>
              </a:rPr>
              <a:t>如果用户</a:t>
            </a:r>
            <a:r>
              <a:rPr lang="en-US" altLang="zh-CN" sz="2800" b="1" i="1" u="sng" dirty="0" smtClean="0">
                <a:solidFill>
                  <a:schemeClr val="folHlink"/>
                </a:solidFill>
              </a:rPr>
              <a:t>C </a:t>
            </a:r>
            <a:r>
              <a:rPr lang="zh-CN" altLang="en-US" sz="2800" b="1" i="1" u="sng" dirty="0" smtClean="0">
                <a:solidFill>
                  <a:schemeClr val="folHlink"/>
                </a:solidFill>
              </a:rPr>
              <a:t>不再需要此文件，是否能将此文件删除呢？</a:t>
            </a:r>
            <a:endParaRPr lang="zh-CN" altLang="en-US" sz="2400" b="1" i="1" u="sng" dirty="0" smtClean="0">
              <a:solidFill>
                <a:schemeClr val="folHlink"/>
              </a:solidFill>
            </a:endParaRPr>
          </a:p>
          <a:p>
            <a:pPr eaLnBrk="1" hangingPunct="1">
              <a:lnSpc>
                <a:spcPct val="110000"/>
              </a:lnSpc>
            </a:pPr>
            <a:endParaRPr lang="en-US" sz="2400" b="1" i="1" u="sng" dirty="0" smtClean="0">
              <a:solidFill>
                <a:schemeClr val="folHlink"/>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3122">
                                            <p:txEl>
                                              <p:pRg st="0" end="0"/>
                                            </p:txEl>
                                          </p:spTgt>
                                        </p:tgtEl>
                                        <p:attrNameLst>
                                          <p:attrName>style.visibility</p:attrName>
                                        </p:attrNameLst>
                                      </p:cBhvr>
                                      <p:to>
                                        <p:strVal val="visible"/>
                                      </p:to>
                                    </p:set>
                                    <p:animEffect transition="in" filter="fade">
                                      <p:cBhvr>
                                        <p:cTn id="7" dur="2000"/>
                                        <p:tgtEl>
                                          <p:spTgt spid="1331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3122">
                                            <p:txEl>
                                              <p:pRg st="1" end="1"/>
                                            </p:txEl>
                                          </p:spTgt>
                                        </p:tgtEl>
                                        <p:attrNameLst>
                                          <p:attrName>style.visibility</p:attrName>
                                        </p:attrNameLst>
                                      </p:cBhvr>
                                      <p:to>
                                        <p:strVal val="visible"/>
                                      </p:to>
                                    </p:set>
                                    <p:animEffect transition="in" filter="fade">
                                      <p:cBhvr>
                                        <p:cTn id="12" dur="2000"/>
                                        <p:tgtEl>
                                          <p:spTgt spid="13312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3122">
                                            <p:txEl>
                                              <p:pRg st="2" end="2"/>
                                            </p:txEl>
                                          </p:spTgt>
                                        </p:tgtEl>
                                        <p:attrNameLst>
                                          <p:attrName>style.visibility</p:attrName>
                                        </p:attrNameLst>
                                      </p:cBhvr>
                                      <p:to>
                                        <p:strVal val="visible"/>
                                      </p:to>
                                    </p:set>
                                    <p:animEffect transition="in" filter="fade">
                                      <p:cBhvr>
                                        <p:cTn id="17" dur="2000"/>
                                        <p:tgtEl>
                                          <p:spTgt spid="13312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3122">
                                            <p:txEl>
                                              <p:pRg st="3" end="3"/>
                                            </p:txEl>
                                          </p:spTgt>
                                        </p:tgtEl>
                                        <p:attrNameLst>
                                          <p:attrName>style.visibility</p:attrName>
                                        </p:attrNameLst>
                                      </p:cBhvr>
                                      <p:to>
                                        <p:strVal val="visible"/>
                                      </p:to>
                                    </p:set>
                                    <p:animEffect transition="in" filter="fade">
                                      <p:cBhvr>
                                        <p:cTn id="22" dur="2000"/>
                                        <p:tgtEl>
                                          <p:spTgt spid="13312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2" grpId="0" autoUpdateAnimBg="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lgn="just" eaLnBrk="1" hangingPunct="1">
              <a:lnSpc>
                <a:spcPct val="120000"/>
              </a:lnSpc>
              <a:defRPr/>
            </a:pPr>
            <a:r>
              <a:rPr lang="zh-CN" altLang="en-US" sz="2600" b="1" dirty="0" smtClean="0"/>
              <a:t>为使</a:t>
            </a:r>
            <a:r>
              <a:rPr lang="en-US" altLang="zh-CN" sz="2600" b="1" dirty="0" smtClean="0"/>
              <a:t>B</a:t>
            </a:r>
            <a:r>
              <a:rPr lang="zh-CN" altLang="en-US" sz="2600" b="1" dirty="0" smtClean="0"/>
              <a:t>能共享</a:t>
            </a:r>
            <a:r>
              <a:rPr lang="en-US" altLang="zh-CN" sz="2600" b="1" dirty="0" smtClean="0"/>
              <a:t>C</a:t>
            </a:r>
            <a:r>
              <a:rPr lang="zh-CN" altLang="en-US" sz="2600" b="1" dirty="0" smtClean="0"/>
              <a:t>的一个文件</a:t>
            </a:r>
            <a:r>
              <a:rPr lang="en-US" altLang="zh-CN" sz="2600" b="1" dirty="0" smtClean="0"/>
              <a:t>F</a:t>
            </a:r>
            <a:r>
              <a:rPr lang="zh-CN" altLang="en-US" sz="2600" b="1" dirty="0" smtClean="0"/>
              <a:t>，可以由系统</a:t>
            </a:r>
            <a:r>
              <a:rPr lang="zh-CN" altLang="en-US" sz="2600" b="1" dirty="0" smtClean="0">
                <a:solidFill>
                  <a:srgbClr val="0000FF"/>
                </a:solidFill>
                <a:effectLst>
                  <a:outerShdw blurRad="38100" dist="38100" dir="2700000" algn="tl">
                    <a:srgbClr val="C0C0C0"/>
                  </a:outerShdw>
                </a:effectLst>
              </a:rPr>
              <a:t>创建一个</a:t>
            </a:r>
            <a:r>
              <a:rPr lang="en-US" altLang="zh-CN" sz="2600" b="1" dirty="0" smtClean="0">
                <a:solidFill>
                  <a:srgbClr val="0000FF"/>
                </a:solidFill>
                <a:effectLst>
                  <a:outerShdw blurRad="38100" dist="38100" dir="2700000" algn="tl">
                    <a:srgbClr val="C0C0C0"/>
                  </a:outerShdw>
                </a:effectLst>
              </a:rPr>
              <a:t>LINK</a:t>
            </a:r>
            <a:r>
              <a:rPr lang="zh-CN" altLang="en-US" sz="2600" b="1" dirty="0" smtClean="0">
                <a:solidFill>
                  <a:srgbClr val="0000FF"/>
                </a:solidFill>
                <a:effectLst>
                  <a:outerShdw blurRad="38100" dist="38100" dir="2700000" algn="tl">
                    <a:srgbClr val="C0C0C0"/>
                  </a:outerShdw>
                </a:effectLst>
              </a:rPr>
              <a:t>类型的新文件</a:t>
            </a:r>
            <a:r>
              <a:rPr lang="zh-CN" altLang="en-US" sz="2600" b="1" dirty="0" smtClean="0"/>
              <a:t>，也取名为</a:t>
            </a:r>
            <a:r>
              <a:rPr lang="en-US" altLang="zh-CN" sz="2600" b="1" dirty="0" smtClean="0"/>
              <a:t>F</a:t>
            </a:r>
            <a:r>
              <a:rPr lang="zh-CN" altLang="en-US" sz="2600" b="1" dirty="0" smtClean="0"/>
              <a:t>并将</a:t>
            </a:r>
            <a:r>
              <a:rPr lang="en-US" altLang="zh-CN" sz="2600" b="1" dirty="0" smtClean="0"/>
              <a:t>F</a:t>
            </a:r>
            <a:r>
              <a:rPr lang="zh-CN" altLang="en-US" sz="2600" b="1" dirty="0" smtClean="0"/>
              <a:t>写入</a:t>
            </a:r>
            <a:r>
              <a:rPr lang="en-US" altLang="zh-CN" sz="2600" b="1" dirty="0" smtClean="0"/>
              <a:t>B</a:t>
            </a:r>
            <a:r>
              <a:rPr lang="zh-CN" altLang="en-US" sz="2600" b="1" dirty="0" smtClean="0"/>
              <a:t>的目录中，以实现</a:t>
            </a:r>
            <a:r>
              <a:rPr lang="en-US" altLang="zh-CN" sz="2600" b="1" dirty="0" smtClean="0"/>
              <a:t>B</a:t>
            </a:r>
            <a:r>
              <a:rPr lang="zh-CN" altLang="en-US" sz="2600" b="1" dirty="0" smtClean="0"/>
              <a:t>的目录与文件</a:t>
            </a:r>
            <a:r>
              <a:rPr lang="en-US" altLang="zh-CN" sz="2600" b="1" dirty="0" smtClean="0"/>
              <a:t>F</a:t>
            </a:r>
            <a:r>
              <a:rPr lang="zh-CN" altLang="en-US" sz="2600" b="1" dirty="0" smtClean="0"/>
              <a:t>的链接；在新文件中只包含被创文件</a:t>
            </a:r>
            <a:r>
              <a:rPr lang="en-US" altLang="zh-CN" sz="2600" b="1" dirty="0" smtClean="0"/>
              <a:t>F</a:t>
            </a:r>
            <a:r>
              <a:rPr lang="zh-CN" altLang="en-US" sz="2600" b="1" dirty="0" smtClean="0"/>
              <a:t>的路径名。这样的链接方法被称为</a:t>
            </a:r>
            <a:r>
              <a:rPr lang="zh-CN" altLang="en-US" sz="2600" b="1" dirty="0" smtClean="0">
                <a:solidFill>
                  <a:srgbClr val="0000FF"/>
                </a:solidFill>
                <a:effectLst>
                  <a:outerShdw blurRad="38100" dist="38100" dir="2700000" algn="tl">
                    <a:srgbClr val="C0C0C0"/>
                  </a:outerShdw>
                </a:effectLst>
              </a:rPr>
              <a:t>符号链接</a:t>
            </a:r>
            <a:r>
              <a:rPr lang="en-US" altLang="zh-CN" sz="2600" b="1" dirty="0" smtClean="0">
                <a:solidFill>
                  <a:srgbClr val="0000FF"/>
                </a:solidFill>
                <a:effectLst>
                  <a:outerShdw blurRad="38100" dist="38100" dir="2700000" algn="tl">
                    <a:srgbClr val="C0C0C0"/>
                  </a:outerShdw>
                </a:effectLst>
              </a:rPr>
              <a:t>.</a:t>
            </a:r>
            <a:endParaRPr lang="en-US" altLang="zh-CN" sz="2600" b="1" dirty="0" smtClean="0">
              <a:solidFill>
                <a:srgbClr val="0000FF"/>
              </a:solidFill>
              <a:effectLst>
                <a:outerShdw blurRad="38100" dist="38100" dir="2700000" algn="tl">
                  <a:srgbClr val="C0C0C0"/>
                </a:outerShdw>
              </a:effectLst>
            </a:endParaRPr>
          </a:p>
          <a:p>
            <a:pPr marL="0" indent="0" algn="just" eaLnBrk="1" hangingPunct="1">
              <a:lnSpc>
                <a:spcPct val="120000"/>
              </a:lnSpc>
              <a:defRPr/>
            </a:pPr>
            <a:endParaRPr lang="en-US" altLang="zh-CN" sz="2600" b="1" dirty="0" smtClean="0">
              <a:solidFill>
                <a:srgbClr val="0000FF"/>
              </a:solidFill>
              <a:effectLst>
                <a:outerShdw blurRad="38100" dist="38100" dir="2700000" algn="tl">
                  <a:srgbClr val="C0C0C0"/>
                </a:outerShdw>
              </a:effectLst>
            </a:endParaRPr>
          </a:p>
          <a:p>
            <a:pPr marL="0" indent="0" algn="just" eaLnBrk="1" hangingPunct="1">
              <a:lnSpc>
                <a:spcPct val="120000"/>
              </a:lnSpc>
              <a:defRPr/>
            </a:pPr>
            <a:r>
              <a:rPr lang="zh-CN" altLang="en-US" sz="2600" b="1" dirty="0" smtClean="0"/>
              <a:t>新文件中的路径名，则只被看作是符号链。当</a:t>
            </a:r>
            <a:r>
              <a:rPr lang="en-US" altLang="zh-CN" sz="2600" b="1" dirty="0" smtClean="0"/>
              <a:t>B</a:t>
            </a:r>
            <a:r>
              <a:rPr lang="zh-CN" altLang="en-US" sz="2600" b="1" dirty="0" smtClean="0"/>
              <a:t>要访问被链接的文件</a:t>
            </a:r>
            <a:r>
              <a:rPr lang="en-US" altLang="zh-CN" sz="2600" b="1" dirty="0" smtClean="0"/>
              <a:t>F</a:t>
            </a:r>
            <a:r>
              <a:rPr lang="zh-CN" altLang="en-US" sz="2600" b="1" dirty="0" smtClean="0"/>
              <a:t>且正要读</a:t>
            </a:r>
            <a:r>
              <a:rPr lang="en-US" altLang="zh-CN" sz="2600" b="1" dirty="0" smtClean="0"/>
              <a:t>LINK</a:t>
            </a:r>
            <a:r>
              <a:rPr lang="zh-CN" altLang="en-US" sz="2600" b="1" dirty="0" smtClean="0"/>
              <a:t>类新文件时，将被</a:t>
            </a:r>
            <a:r>
              <a:rPr lang="en-US" altLang="zh-CN" sz="2600" b="1" dirty="0" smtClean="0"/>
              <a:t>OS</a:t>
            </a:r>
            <a:r>
              <a:rPr lang="zh-CN" altLang="en-US" sz="2600" b="1" dirty="0" smtClean="0"/>
              <a:t>截获，</a:t>
            </a:r>
            <a:r>
              <a:rPr lang="en-US" altLang="zh-CN" sz="2600" b="1" dirty="0" smtClean="0"/>
              <a:t>OS</a:t>
            </a:r>
            <a:r>
              <a:rPr lang="zh-CN" altLang="en-US" sz="2600" b="1" dirty="0" smtClean="0"/>
              <a:t>根据新文件中的路径名去读该文件，于是就实现了用户</a:t>
            </a:r>
            <a:r>
              <a:rPr lang="en-US" altLang="zh-CN" sz="2600" b="1" dirty="0" smtClean="0"/>
              <a:t>B</a:t>
            </a:r>
            <a:r>
              <a:rPr lang="zh-CN" altLang="en-US" sz="2600" b="1" dirty="0" smtClean="0"/>
              <a:t>对文件</a:t>
            </a:r>
            <a:r>
              <a:rPr lang="en-US" altLang="zh-CN" sz="2600" b="1" dirty="0" smtClean="0"/>
              <a:t>F</a:t>
            </a:r>
            <a:r>
              <a:rPr lang="zh-CN" altLang="en-US" sz="2600" b="1" dirty="0" smtClean="0"/>
              <a:t>的共享。</a:t>
            </a:r>
            <a:endParaRPr lang="zh-CN" altLang="en-US" sz="2600" b="1" dirty="0" smtClean="0"/>
          </a:p>
          <a:p>
            <a:endParaRPr lang="zh-CN" altLang="en-US" sz="2400" dirty="0"/>
          </a:p>
        </p:txBody>
      </p:sp>
      <p:sp>
        <p:nvSpPr>
          <p:cNvPr id="4" name="Rectangle 2"/>
          <p:cNvSpPr>
            <a:spLocks noGrp="1" noRot="1" noChangeArrowheads="1"/>
          </p:cNvSpPr>
          <p:nvPr>
            <p:ph type="title"/>
          </p:nvPr>
        </p:nvSpPr>
        <p:spPr/>
        <p:txBody>
          <a:bodyPr/>
          <a:lstStyle/>
          <a:p>
            <a:pPr eaLnBrk="1" hangingPunct="1">
              <a:defRPr/>
            </a:pPr>
            <a:r>
              <a:rPr lang="en-US" dirty="0" smtClean="0">
                <a:solidFill>
                  <a:schemeClr val="folHlink"/>
                </a:solidFill>
                <a:effectLst>
                  <a:outerShdw blurRad="38100" dist="38100" dir="2700000" algn="tl">
                    <a:srgbClr val="000000"/>
                  </a:outerShdw>
                </a:effectLst>
              </a:rPr>
              <a:t> 7.4.2.</a:t>
            </a:r>
            <a:r>
              <a:rPr lang="zh-CN" altLang="en-US" b="1" u="sng" dirty="0" smtClean="0">
                <a:solidFill>
                  <a:schemeClr val="folHlink"/>
                </a:solidFill>
                <a:effectLst>
                  <a:outerShdw blurRad="38100" dist="38100" dir="2700000" algn="tl">
                    <a:srgbClr val="000000"/>
                  </a:outerShdw>
                </a:effectLst>
                <a:ea typeface="仿宋_GB2312" pitchFamily="1" charset="-122"/>
              </a:rPr>
              <a:t>利用符号链实现文件共享</a:t>
            </a:r>
            <a:endParaRPr lang="zh-CN" altLang="en-US" b="1" u="sng" dirty="0" smtClean="0">
              <a:solidFill>
                <a:schemeClr val="folHlink"/>
              </a:solidFill>
              <a:effectLst>
                <a:outerShdw blurRad="38100" dist="38100" dir="2700000" algn="tl">
                  <a:srgbClr val="000000"/>
                </a:outerShdw>
              </a:effectLst>
              <a:ea typeface="仿宋_GB2312"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5170" name="Rectangle 2"/>
          <p:cNvSpPr>
            <a:spLocks noGrp="1" noRot="1" noChangeArrowheads="1"/>
          </p:cNvSpPr>
          <p:nvPr>
            <p:ph type="title" idx="4294967295"/>
          </p:nvPr>
        </p:nvSpPr>
        <p:spPr/>
        <p:txBody>
          <a:bodyPr/>
          <a:lstStyle/>
          <a:p>
            <a:pPr eaLnBrk="1" hangingPunct="1">
              <a:defRPr/>
            </a:pPr>
            <a:r>
              <a:rPr lang="en-US" dirty="0" smtClean="0">
                <a:solidFill>
                  <a:schemeClr val="folHlink"/>
                </a:solidFill>
                <a:effectLst>
                  <a:outerShdw blurRad="38100" dist="38100" dir="2700000" algn="tl">
                    <a:srgbClr val="000000"/>
                  </a:outerShdw>
                </a:effectLst>
              </a:rPr>
              <a:t> 7.4.2.</a:t>
            </a:r>
            <a:r>
              <a:rPr lang="zh-CN" altLang="en-US" b="1" u="sng" dirty="0" smtClean="0">
                <a:solidFill>
                  <a:schemeClr val="folHlink"/>
                </a:solidFill>
                <a:effectLst>
                  <a:outerShdw blurRad="38100" dist="38100" dir="2700000" algn="tl">
                    <a:srgbClr val="000000"/>
                  </a:outerShdw>
                </a:effectLst>
                <a:ea typeface="仿宋_GB2312" pitchFamily="1" charset="-122"/>
              </a:rPr>
              <a:t>利用符号链实现文件共享</a:t>
            </a:r>
            <a:endParaRPr lang="zh-CN" altLang="en-US" b="1" u="sng" dirty="0" smtClean="0">
              <a:solidFill>
                <a:schemeClr val="folHlink"/>
              </a:solidFill>
              <a:effectLst>
                <a:outerShdw blurRad="38100" dist="38100" dir="2700000" algn="tl">
                  <a:srgbClr val="000000"/>
                </a:outerShdw>
              </a:effectLst>
              <a:ea typeface="仿宋_GB2312" pitchFamily="1" charset="-122"/>
            </a:endParaRPr>
          </a:p>
        </p:txBody>
      </p:sp>
      <p:sp>
        <p:nvSpPr>
          <p:cNvPr id="135171" name="Rectangle 3"/>
          <p:cNvSpPr>
            <a:spLocks noGrp="1" noRot="1" noChangeArrowheads="1"/>
          </p:cNvSpPr>
          <p:nvPr>
            <p:ph type="body" idx="4294967295"/>
          </p:nvPr>
        </p:nvSpPr>
        <p:spPr/>
        <p:txBody>
          <a:bodyPr/>
          <a:lstStyle/>
          <a:p>
            <a:pPr eaLnBrk="1" hangingPunct="1">
              <a:defRPr/>
            </a:pPr>
            <a:r>
              <a:rPr lang="zh-CN" altLang="en-US" sz="2600" b="1" dirty="0" smtClean="0"/>
              <a:t>统一资源定位器</a:t>
            </a:r>
            <a:r>
              <a:rPr lang="en-US" altLang="en-US" sz="2600" b="1" dirty="0" smtClean="0"/>
              <a:t>URL (Uniform Resource Locator)</a:t>
            </a:r>
            <a:r>
              <a:rPr lang="zh-CN" altLang="en-US" sz="2600" b="1" dirty="0" smtClean="0"/>
              <a:t>是</a:t>
            </a:r>
            <a:r>
              <a:rPr lang="en-US" altLang="en-US" sz="2600" b="1" dirty="0" smtClean="0"/>
              <a:t>Internet</a:t>
            </a:r>
            <a:r>
              <a:rPr lang="zh-CN" altLang="en-US" sz="2600" b="1" dirty="0" smtClean="0"/>
              <a:t>上用来链接超文本文件的一种方法。</a:t>
            </a:r>
            <a:endParaRPr lang="zh-CN" altLang="en-US" sz="2600" b="1" dirty="0" smtClean="0"/>
          </a:p>
          <a:p>
            <a:pPr eaLnBrk="1" hangingPunct="1">
              <a:defRPr/>
            </a:pPr>
            <a:r>
              <a:rPr lang="zh-CN" altLang="en-US" sz="2600" b="1" dirty="0" smtClean="0"/>
              <a:t>它可以链接同一台计算机中的本地文件，也可链接</a:t>
            </a:r>
            <a:r>
              <a:rPr lang="en-US" altLang="en-US" sz="2600" b="1" dirty="0" smtClean="0"/>
              <a:t>Internet</a:t>
            </a:r>
            <a:r>
              <a:rPr lang="zh-CN" altLang="en-US" sz="2600" b="1" dirty="0" smtClean="0"/>
              <a:t>中任何主机上的远程文件。</a:t>
            </a:r>
            <a:endParaRPr lang="zh-CN" altLang="en-US" sz="2600" b="1" dirty="0" smtClean="0"/>
          </a:p>
          <a:p>
            <a:pPr eaLnBrk="1" hangingPunct="1">
              <a:defRPr/>
            </a:pPr>
            <a:r>
              <a:rPr lang="zh-CN" altLang="en-US" sz="2600" b="1" dirty="0" smtClean="0"/>
              <a:t>一个完整的</a:t>
            </a:r>
            <a:r>
              <a:rPr lang="en-US" altLang="en-US" sz="2600" b="1" dirty="0" smtClean="0"/>
              <a:t>URL</a:t>
            </a:r>
            <a:r>
              <a:rPr lang="zh-CN" altLang="en-US" sz="2600" b="1" dirty="0" smtClean="0"/>
              <a:t>包括访问文件的方法（协议）、文件所在的主机域名、目录路径名和文件名几部份。例如， </a:t>
            </a:r>
            <a:r>
              <a:rPr lang="en-US" sz="2400" b="1" dirty="0" smtClean="0">
                <a:solidFill>
                  <a:schemeClr val="tx2"/>
                </a:solidFill>
                <a:effectLst>
                  <a:outerShdw blurRad="38100" dist="38100" dir="2700000" algn="tl">
                    <a:srgbClr val="000000"/>
                  </a:outerShdw>
                </a:effectLst>
                <a:ea typeface="仿宋_GB2312" pitchFamily="1" charset="-122"/>
                <a:hlinkClick r:id="rId1"/>
              </a:rPr>
              <a:t>http://www.uestc.edu.cn/templates/index2k3/index.html</a:t>
            </a:r>
            <a:r>
              <a:rPr lang="en-US" sz="2400" b="1" dirty="0" smtClean="0">
                <a:solidFill>
                  <a:schemeClr val="tx2"/>
                </a:solidFill>
                <a:effectLst>
                  <a:outerShdw blurRad="38100" dist="38100" dir="2700000" algn="tl">
                    <a:srgbClr val="000000"/>
                  </a:outerShdw>
                </a:effectLst>
                <a:ea typeface="仿宋_GB2312" pitchFamily="1" charset="-122"/>
              </a:rPr>
              <a:t> </a:t>
            </a:r>
            <a:endParaRPr lang="en-US" sz="2400" b="1" dirty="0" smtClean="0">
              <a:solidFill>
                <a:schemeClr val="tx2"/>
              </a:solidFill>
              <a:effectLst>
                <a:outerShdw blurRad="38100" dist="38100" dir="2700000" algn="tl">
                  <a:srgbClr val="000000"/>
                </a:outerShdw>
              </a:effectLst>
              <a:ea typeface="仿宋_GB2312"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5170"/>
                                        </p:tgtEl>
                                        <p:attrNameLst>
                                          <p:attrName>style.visibility</p:attrName>
                                        </p:attrNameLst>
                                      </p:cBhvr>
                                      <p:to>
                                        <p:strVal val="visible"/>
                                      </p:to>
                                    </p:set>
                                    <p:animEffect transition="in" filter="fade">
                                      <p:cBhvr>
                                        <p:cTn id="7" dur="2000"/>
                                        <p:tgtEl>
                                          <p:spTgt spid="1351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5171">
                                            <p:txEl>
                                              <p:pRg st="0" end="0"/>
                                            </p:txEl>
                                          </p:spTgt>
                                        </p:tgtEl>
                                        <p:attrNameLst>
                                          <p:attrName>style.visibility</p:attrName>
                                        </p:attrNameLst>
                                      </p:cBhvr>
                                      <p:to>
                                        <p:strVal val="visible"/>
                                      </p:to>
                                    </p:set>
                                    <p:animEffect transition="in" filter="fade">
                                      <p:cBhvr>
                                        <p:cTn id="12" dur="2000"/>
                                        <p:tgtEl>
                                          <p:spTgt spid="13517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5171">
                                            <p:txEl>
                                              <p:pRg st="1" end="1"/>
                                            </p:txEl>
                                          </p:spTgt>
                                        </p:tgtEl>
                                        <p:attrNameLst>
                                          <p:attrName>style.visibility</p:attrName>
                                        </p:attrNameLst>
                                      </p:cBhvr>
                                      <p:to>
                                        <p:strVal val="visible"/>
                                      </p:to>
                                    </p:set>
                                    <p:animEffect transition="in" filter="fade">
                                      <p:cBhvr>
                                        <p:cTn id="17" dur="2000"/>
                                        <p:tgtEl>
                                          <p:spTgt spid="13517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5171">
                                            <p:txEl>
                                              <p:pRg st="2" end="2"/>
                                            </p:txEl>
                                          </p:spTgt>
                                        </p:tgtEl>
                                        <p:attrNameLst>
                                          <p:attrName>style.visibility</p:attrName>
                                        </p:attrNameLst>
                                      </p:cBhvr>
                                      <p:to>
                                        <p:strVal val="visible"/>
                                      </p:to>
                                    </p:set>
                                    <p:animEffect transition="in" filter="fade">
                                      <p:cBhvr>
                                        <p:cTn id="22" dur="2000"/>
                                        <p:tgtEl>
                                          <p:spTgt spid="1351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0" grpId="0" autoUpdateAnimBg="0"/>
      <p:bldP spid="135171" grpId="0" autoUpdateAnimBg="0" build="p"/>
    </p:bldLst>
  </p:timing>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6194" name="Rectangle 2"/>
          <p:cNvSpPr>
            <a:spLocks noGrp="1" noRot="1" noChangeArrowheads="1"/>
          </p:cNvSpPr>
          <p:nvPr>
            <p:ph type="title" idx="4294967295"/>
          </p:nvPr>
        </p:nvSpPr>
        <p:spPr/>
        <p:txBody>
          <a:bodyPr/>
          <a:lstStyle/>
          <a:p>
            <a:pPr eaLnBrk="1" hangingPunct="1">
              <a:defRPr/>
            </a:pPr>
            <a:r>
              <a:rPr lang="en-US" b="1" u="sng" smtClean="0">
                <a:solidFill>
                  <a:schemeClr val="folHlink"/>
                </a:solidFill>
                <a:effectLst>
                  <a:outerShdw blurRad="38100" dist="38100" dir="2700000" algn="tl">
                    <a:srgbClr val="000000"/>
                  </a:outerShdw>
                </a:effectLst>
                <a:ea typeface="仿宋_GB2312" pitchFamily="1" charset="-122"/>
              </a:rPr>
              <a:t>3.</a:t>
            </a:r>
            <a:r>
              <a:rPr lang="zh-CN" altLang="en-US" b="1" u="sng" smtClean="0">
                <a:solidFill>
                  <a:schemeClr val="folHlink"/>
                </a:solidFill>
                <a:effectLst>
                  <a:outerShdw blurRad="38100" dist="38100" dir="2700000" algn="tl">
                    <a:srgbClr val="000000"/>
                  </a:outerShdw>
                </a:effectLst>
                <a:ea typeface="仿宋_GB2312" pitchFamily="1" charset="-122"/>
              </a:rPr>
              <a:t>利用</a:t>
            </a:r>
            <a:r>
              <a:rPr lang="en-US" b="1" u="sng" smtClean="0">
                <a:solidFill>
                  <a:schemeClr val="folHlink"/>
                </a:solidFill>
                <a:effectLst>
                  <a:outerShdw blurRad="38100" dist="38100" dir="2700000" algn="tl">
                    <a:srgbClr val="000000"/>
                  </a:outerShdw>
                </a:effectLst>
                <a:ea typeface="仿宋_GB2312" pitchFamily="1" charset="-122"/>
              </a:rPr>
              <a:t>URL</a:t>
            </a:r>
            <a:r>
              <a:rPr lang="zh-CN" altLang="en-US" b="1" u="sng" smtClean="0">
                <a:solidFill>
                  <a:schemeClr val="folHlink"/>
                </a:solidFill>
                <a:effectLst>
                  <a:outerShdw blurRad="38100" dist="38100" dir="2700000" algn="tl">
                    <a:srgbClr val="000000"/>
                  </a:outerShdw>
                </a:effectLst>
                <a:ea typeface="仿宋_GB2312" pitchFamily="1" charset="-122"/>
              </a:rPr>
              <a:t>实现文件共享</a:t>
            </a:r>
            <a:endParaRPr lang="zh-CN" altLang="en-US" b="1" u="sng" smtClean="0">
              <a:solidFill>
                <a:schemeClr val="folHlink"/>
              </a:solidFill>
              <a:effectLst>
                <a:outerShdw blurRad="38100" dist="38100" dir="2700000" algn="tl">
                  <a:srgbClr val="000000"/>
                </a:outerShdw>
              </a:effectLst>
              <a:ea typeface="仿宋_GB2312" pitchFamily="1" charset="-122"/>
            </a:endParaRPr>
          </a:p>
        </p:txBody>
      </p:sp>
      <p:sp>
        <p:nvSpPr>
          <p:cNvPr id="136195" name="Rectangle 3"/>
          <p:cNvSpPr>
            <a:spLocks noGrp="1" noRot="1" noChangeArrowheads="1"/>
          </p:cNvSpPr>
          <p:nvPr>
            <p:ph type="body" idx="4294967295"/>
          </p:nvPr>
        </p:nvSpPr>
        <p:spPr/>
        <p:txBody>
          <a:bodyPr/>
          <a:lstStyle/>
          <a:p>
            <a:pPr eaLnBrk="1" hangingPunct="1">
              <a:lnSpc>
                <a:spcPct val="90000"/>
              </a:lnSpc>
              <a:defRPr/>
            </a:pPr>
            <a:r>
              <a:rPr lang="en-US" altLang="en-US" sz="2600" b="1" dirty="0" smtClean="0"/>
              <a:t>Internet</a:t>
            </a:r>
            <a:r>
              <a:rPr lang="zh-CN" altLang="en-US" sz="2600" b="1" dirty="0" smtClean="0"/>
              <a:t>上任何主机的用户都可以通过该</a:t>
            </a:r>
            <a:r>
              <a:rPr lang="en-US" altLang="en-US" sz="2600" b="1" dirty="0" smtClean="0"/>
              <a:t>URL</a:t>
            </a:r>
            <a:r>
              <a:rPr lang="zh-CN" altLang="en-US" sz="2600" b="1" dirty="0" smtClean="0"/>
              <a:t>地址链接此文件，使全球计算机用户都可以通过</a:t>
            </a:r>
            <a:r>
              <a:rPr lang="en-US" altLang="en-US" sz="2600" b="1" dirty="0" smtClean="0"/>
              <a:t>Internet</a:t>
            </a:r>
            <a:r>
              <a:rPr lang="zh-CN" altLang="en-US" sz="2600" b="1" dirty="0" smtClean="0"/>
              <a:t>共享该文件。</a:t>
            </a:r>
            <a:endParaRPr lang="zh-CN" altLang="en-US" sz="2600" b="1" dirty="0" smtClean="0"/>
          </a:p>
          <a:p>
            <a:pPr eaLnBrk="1" hangingPunct="1">
              <a:lnSpc>
                <a:spcPct val="90000"/>
              </a:lnSpc>
              <a:defRPr/>
            </a:pPr>
            <a:endParaRPr lang="zh-CN" altLang="en-US" sz="2600" b="1" dirty="0" smtClean="0"/>
          </a:p>
          <a:p>
            <a:pPr eaLnBrk="1" hangingPunct="1">
              <a:lnSpc>
                <a:spcPct val="90000"/>
              </a:lnSpc>
              <a:defRPr/>
            </a:pPr>
            <a:r>
              <a:rPr lang="zh-CN" altLang="en-US" sz="2600" b="1" dirty="0" smtClean="0"/>
              <a:t>当通过该</a:t>
            </a:r>
            <a:r>
              <a:rPr lang="en-US" altLang="en-US" sz="2600" b="1" dirty="0" smtClean="0"/>
              <a:t>URL</a:t>
            </a:r>
            <a:r>
              <a:rPr lang="zh-CN" altLang="en-US" sz="2600" b="1" dirty="0" smtClean="0"/>
              <a:t>地址连接到电子科技大学</a:t>
            </a:r>
            <a:r>
              <a:rPr lang="en-US" altLang="en-US" sz="2600" b="1" dirty="0" smtClean="0"/>
              <a:t>WWW</a:t>
            </a:r>
            <a:r>
              <a:rPr lang="zh-CN" altLang="en-US" sz="2600" b="1" dirty="0" smtClean="0"/>
              <a:t>服务器时，用户计算机就会收到该服务器传输来的</a:t>
            </a:r>
            <a:r>
              <a:rPr lang="en-US" altLang="en-US" sz="2600" b="1" dirty="0" err="1" smtClean="0"/>
              <a:t>index.thml</a:t>
            </a:r>
            <a:r>
              <a:rPr lang="zh-CN" altLang="en-US" sz="2600" b="1" dirty="0" smtClean="0"/>
              <a:t>文件。</a:t>
            </a:r>
            <a:endParaRPr lang="zh-CN" altLang="en-US" sz="2600" b="1" dirty="0" smtClean="0"/>
          </a:p>
          <a:p>
            <a:pPr eaLnBrk="1" hangingPunct="1">
              <a:lnSpc>
                <a:spcPct val="90000"/>
              </a:lnSpc>
              <a:defRPr/>
            </a:pPr>
            <a:endParaRPr lang="zh-CN" altLang="en-US" sz="2600" b="1" dirty="0" smtClean="0"/>
          </a:p>
          <a:p>
            <a:pPr eaLnBrk="1" hangingPunct="1">
              <a:lnSpc>
                <a:spcPct val="90000"/>
              </a:lnSpc>
              <a:defRPr/>
            </a:pPr>
            <a:r>
              <a:rPr lang="zh-CN" altLang="en-US" sz="2600" b="1" dirty="0" smtClean="0"/>
              <a:t>再触发该文件中的“中文版”超链，该服务器又传来另一个文件。</a:t>
            </a:r>
            <a:endParaRPr lang="zh-CN" altLang="en-US" sz="2600" b="1"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6194"/>
                                        </p:tgtEl>
                                        <p:attrNameLst>
                                          <p:attrName>style.visibility</p:attrName>
                                        </p:attrNameLst>
                                      </p:cBhvr>
                                      <p:to>
                                        <p:strVal val="visible"/>
                                      </p:to>
                                    </p:set>
                                    <p:animEffect transition="in" filter="fade">
                                      <p:cBhvr>
                                        <p:cTn id="7" dur="2000"/>
                                        <p:tgtEl>
                                          <p:spTgt spid="1361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6195">
                                            <p:txEl>
                                              <p:pRg st="0" end="0"/>
                                            </p:txEl>
                                          </p:spTgt>
                                        </p:tgtEl>
                                        <p:attrNameLst>
                                          <p:attrName>style.visibility</p:attrName>
                                        </p:attrNameLst>
                                      </p:cBhvr>
                                      <p:to>
                                        <p:strVal val="visible"/>
                                      </p:to>
                                    </p:set>
                                    <p:animEffect transition="in" filter="fade">
                                      <p:cBhvr>
                                        <p:cTn id="12" dur="2000"/>
                                        <p:tgtEl>
                                          <p:spTgt spid="13619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6195">
                                            <p:txEl>
                                              <p:pRg st="2" end="2"/>
                                            </p:txEl>
                                          </p:spTgt>
                                        </p:tgtEl>
                                        <p:attrNameLst>
                                          <p:attrName>style.visibility</p:attrName>
                                        </p:attrNameLst>
                                      </p:cBhvr>
                                      <p:to>
                                        <p:strVal val="visible"/>
                                      </p:to>
                                    </p:set>
                                    <p:animEffect transition="in" filter="fade">
                                      <p:cBhvr>
                                        <p:cTn id="17" dur="2000"/>
                                        <p:tgtEl>
                                          <p:spTgt spid="1361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6195">
                                            <p:txEl>
                                              <p:pRg st="4" end="4"/>
                                            </p:txEl>
                                          </p:spTgt>
                                        </p:tgtEl>
                                        <p:attrNameLst>
                                          <p:attrName>style.visibility</p:attrName>
                                        </p:attrNameLst>
                                      </p:cBhvr>
                                      <p:to>
                                        <p:strVal val="visible"/>
                                      </p:to>
                                    </p:set>
                                    <p:animEffect transition="in" filter="fade">
                                      <p:cBhvr>
                                        <p:cTn id="22" dur="2000"/>
                                        <p:tgtEl>
                                          <p:spTgt spid="1361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4" grpId="0" autoUpdateAnimBg="0"/>
      <p:bldP spid="136195" grpId="0" autoUpdateAnimBg="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ChangeArrowheads="1"/>
          </p:cNvSpPr>
          <p:nvPr/>
        </p:nvSpPr>
        <p:spPr bwMode="auto">
          <a:xfrm>
            <a:off x="2286000" y="1714500"/>
            <a:ext cx="9144000" cy="0"/>
          </a:xfrm>
          <a:prstGeom prst="rect">
            <a:avLst/>
          </a:prstGeom>
          <a:noFill/>
          <a:ln w="9525">
            <a:noFill/>
            <a:miter lim="800000"/>
          </a:ln>
        </p:spPr>
        <p:txBody>
          <a:bodyPr>
            <a:spAutoFit/>
          </a:bodyPr>
          <a:lstStyle/>
          <a:p>
            <a:endParaRPr lang="zh-CN" altLang="en-US"/>
          </a:p>
        </p:txBody>
      </p:sp>
      <p:pic>
        <p:nvPicPr>
          <p:cNvPr id="136195" name="Picture 4"/>
          <p:cNvPicPr>
            <a:picLocks noChangeAspect="1" noChangeArrowheads="1"/>
          </p:cNvPicPr>
          <p:nvPr/>
        </p:nvPicPr>
        <p:blipFill>
          <a:blip r:embed="rId1"/>
          <a:srcRect/>
          <a:stretch>
            <a:fillRect/>
          </a:stretch>
        </p:blipFill>
        <p:spPr bwMode="auto">
          <a:xfrm>
            <a:off x="107950" y="836613"/>
            <a:ext cx="8964613" cy="4849812"/>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8242" name="Rectangle 2"/>
          <p:cNvSpPr>
            <a:spLocks noGrp="1" noRot="1" noChangeArrowheads="1"/>
          </p:cNvSpPr>
          <p:nvPr>
            <p:ph type="title" idx="4294967295"/>
          </p:nvPr>
        </p:nvSpPr>
        <p:spPr/>
        <p:txBody>
          <a:bodyPr/>
          <a:lstStyle/>
          <a:p>
            <a:pPr eaLnBrk="1" hangingPunct="1">
              <a:defRPr/>
            </a:pPr>
            <a:r>
              <a:rPr lang="zh-CN" altLang="en-US" b="1" u="sng" smtClean="0">
                <a:solidFill>
                  <a:schemeClr val="folHlink"/>
                </a:solidFill>
                <a:effectLst>
                  <a:outerShdw blurRad="38100" dist="38100" dir="2700000" algn="tl">
                    <a:srgbClr val="000000"/>
                  </a:outerShdw>
                </a:effectLst>
                <a:ea typeface="仿宋_GB2312" pitchFamily="1" charset="-122"/>
              </a:rPr>
              <a:t>利用</a:t>
            </a:r>
            <a:r>
              <a:rPr lang="en-US" b="1" u="sng" smtClean="0">
                <a:solidFill>
                  <a:schemeClr val="folHlink"/>
                </a:solidFill>
                <a:effectLst>
                  <a:outerShdw blurRad="38100" dist="38100" dir="2700000" algn="tl">
                    <a:srgbClr val="000000"/>
                  </a:outerShdw>
                </a:effectLst>
                <a:ea typeface="仿宋_GB2312" pitchFamily="1" charset="-122"/>
              </a:rPr>
              <a:t>URL</a:t>
            </a:r>
            <a:r>
              <a:rPr lang="zh-CN" altLang="en-US" b="1" u="sng" smtClean="0">
                <a:solidFill>
                  <a:schemeClr val="folHlink"/>
                </a:solidFill>
                <a:effectLst>
                  <a:outerShdw blurRad="38100" dist="38100" dir="2700000" algn="tl">
                    <a:srgbClr val="000000"/>
                  </a:outerShdw>
                </a:effectLst>
                <a:ea typeface="仿宋_GB2312" pitchFamily="1" charset="-122"/>
              </a:rPr>
              <a:t>实现文件共享</a:t>
            </a:r>
            <a:endParaRPr lang="zh-CN" altLang="en-US" b="1" u="sng" smtClean="0">
              <a:solidFill>
                <a:schemeClr val="folHlink"/>
              </a:solidFill>
              <a:effectLst>
                <a:outerShdw blurRad="38100" dist="38100" dir="2700000" algn="tl">
                  <a:srgbClr val="000000"/>
                </a:outerShdw>
              </a:effectLst>
              <a:ea typeface="仿宋_GB2312" pitchFamily="1" charset="-122"/>
            </a:endParaRPr>
          </a:p>
        </p:txBody>
      </p:sp>
      <p:sp>
        <p:nvSpPr>
          <p:cNvPr id="138243" name="Rectangle 3"/>
          <p:cNvSpPr>
            <a:spLocks noGrp="1" noRot="1" noChangeArrowheads="1"/>
          </p:cNvSpPr>
          <p:nvPr>
            <p:ph type="body" idx="4294967295"/>
          </p:nvPr>
        </p:nvSpPr>
        <p:spPr/>
        <p:txBody>
          <a:bodyPr/>
          <a:lstStyle/>
          <a:p>
            <a:pPr eaLnBrk="1" hangingPunct="1">
              <a:lnSpc>
                <a:spcPct val="90000"/>
              </a:lnSpc>
              <a:defRPr/>
            </a:pPr>
            <a:r>
              <a:rPr lang="zh-CN" altLang="en-US" sz="2600" b="1" dirty="0" smtClean="0"/>
              <a:t>利用</a:t>
            </a:r>
            <a:r>
              <a:rPr lang="en-US" altLang="en-US" sz="2600" b="1" dirty="0" smtClean="0"/>
              <a:t>URL</a:t>
            </a:r>
            <a:r>
              <a:rPr lang="zh-CN" altLang="en-US" sz="2600" b="1" dirty="0" smtClean="0"/>
              <a:t>共享文件的具体实现方法：</a:t>
            </a:r>
            <a:endParaRPr lang="en-US" altLang="zh-CN" sz="2600" b="1" dirty="0" smtClean="0"/>
          </a:p>
          <a:p>
            <a:pPr eaLnBrk="1" hangingPunct="1">
              <a:lnSpc>
                <a:spcPct val="90000"/>
              </a:lnSpc>
              <a:defRPr/>
            </a:pPr>
            <a:endParaRPr lang="zh-CN" altLang="en-US" sz="2600" b="1" dirty="0" smtClean="0"/>
          </a:p>
          <a:p>
            <a:pPr marL="742950" lvl="2" indent="-342900" eaLnBrk="1" hangingPunct="1">
              <a:lnSpc>
                <a:spcPct val="90000"/>
              </a:lnSpc>
              <a:defRPr/>
            </a:pPr>
            <a:r>
              <a:rPr lang="zh-CN" altLang="en-US" sz="2800" b="1" dirty="0" smtClean="0">
                <a:cs typeface="+mn-cs"/>
              </a:rPr>
              <a:t>首先将利用</a:t>
            </a:r>
            <a:r>
              <a:rPr lang="en-US" altLang="en-US" sz="2800" b="1" dirty="0" smtClean="0">
                <a:cs typeface="+mn-cs"/>
              </a:rPr>
              <a:t>HTML </a:t>
            </a:r>
            <a:r>
              <a:rPr lang="zh-CN" altLang="en-US" sz="2800" b="1" dirty="0" smtClean="0">
                <a:cs typeface="+mn-cs"/>
              </a:rPr>
              <a:t>（</a:t>
            </a:r>
            <a:r>
              <a:rPr lang="en-US" altLang="en-US" sz="2800" b="1" dirty="0" smtClean="0">
                <a:cs typeface="+mn-cs"/>
              </a:rPr>
              <a:t>Hyper Text Markup Language</a:t>
            </a:r>
            <a:r>
              <a:rPr lang="zh-CN" altLang="en-US" sz="2800" b="1" dirty="0" smtClean="0">
                <a:cs typeface="+mn-cs"/>
              </a:rPr>
              <a:t>）超文本置标语言编写的超文本文件保存在主机的某个目录下。</a:t>
            </a:r>
            <a:endParaRPr lang="zh-CN" altLang="en-US" sz="2800" b="1" dirty="0" smtClean="0">
              <a:cs typeface="+mn-cs"/>
            </a:endParaRPr>
          </a:p>
          <a:p>
            <a:pPr marL="742950" lvl="2" indent="-342900" eaLnBrk="1" hangingPunct="1">
              <a:lnSpc>
                <a:spcPct val="90000"/>
              </a:lnSpc>
              <a:defRPr/>
            </a:pPr>
            <a:r>
              <a:rPr lang="zh-CN" altLang="en-US" sz="2800" b="1" dirty="0" smtClean="0">
                <a:cs typeface="+mn-cs"/>
              </a:rPr>
              <a:t>需要链接超文本文件或图像时，可以在浏览器的</a:t>
            </a:r>
            <a:r>
              <a:rPr lang="en-US" altLang="en-US" sz="2800" b="1" dirty="0" smtClean="0">
                <a:cs typeface="+mn-cs"/>
              </a:rPr>
              <a:t>URL</a:t>
            </a:r>
            <a:r>
              <a:rPr lang="zh-CN" altLang="en-US" sz="2800" b="1" dirty="0" smtClean="0">
                <a:cs typeface="+mn-cs"/>
              </a:rPr>
              <a:t>地址栏输入一个</a:t>
            </a:r>
            <a:r>
              <a:rPr lang="en-US" altLang="en-US" sz="2800" b="1" dirty="0" smtClean="0">
                <a:cs typeface="+mn-cs"/>
              </a:rPr>
              <a:t>URL</a:t>
            </a:r>
            <a:r>
              <a:rPr lang="zh-CN" altLang="en-US" sz="2800" b="1" dirty="0" smtClean="0">
                <a:cs typeface="+mn-cs"/>
              </a:rPr>
              <a:t>地址，或在</a:t>
            </a:r>
            <a:r>
              <a:rPr lang="en-US" altLang="en-US" sz="2800" b="1" dirty="0" smtClean="0">
                <a:cs typeface="+mn-cs"/>
              </a:rPr>
              <a:t>HTML</a:t>
            </a:r>
            <a:r>
              <a:rPr lang="zh-CN" altLang="en-US" sz="2800" b="1" dirty="0" smtClean="0">
                <a:cs typeface="+mn-cs"/>
              </a:rPr>
              <a:t>文件的相应位置嵌入被链接文件的</a:t>
            </a:r>
            <a:r>
              <a:rPr lang="en-US" altLang="en-US" sz="2800" b="1" dirty="0" smtClean="0">
                <a:cs typeface="+mn-cs"/>
              </a:rPr>
              <a:t>URL</a:t>
            </a:r>
            <a:r>
              <a:rPr lang="zh-CN" altLang="en-US" sz="2800" b="1" dirty="0" smtClean="0">
                <a:cs typeface="+mn-cs"/>
              </a:rPr>
              <a:t>地址。具体格式为：</a:t>
            </a:r>
            <a:endParaRPr lang="zh-CN" altLang="en-US" sz="2800" b="1" dirty="0" smtClean="0">
              <a:cs typeface="+mn-cs"/>
            </a:endParaRPr>
          </a:p>
          <a:p>
            <a:pPr eaLnBrk="1" hangingPunct="1">
              <a:lnSpc>
                <a:spcPct val="90000"/>
              </a:lnSpc>
              <a:defRPr/>
            </a:pPr>
            <a:r>
              <a:rPr lang="zh-CN" altLang="en-US" sz="2800" b="1" dirty="0" smtClean="0"/>
              <a:t>		</a:t>
            </a:r>
            <a:r>
              <a:rPr lang="en-US" altLang="en-US" sz="2800" b="1" dirty="0" smtClean="0"/>
              <a:t>&lt;A HREF=“URL</a:t>
            </a:r>
            <a:r>
              <a:rPr lang="zh-CN" altLang="en-US" sz="2800" b="1" dirty="0" smtClean="0"/>
              <a:t>信息” </a:t>
            </a:r>
            <a:r>
              <a:rPr lang="en-US" altLang="en-US" sz="2800" b="1" dirty="0" smtClean="0"/>
              <a:t>&gt; </a:t>
            </a:r>
            <a:r>
              <a:rPr lang="zh-CN" altLang="en-US" sz="2800" b="1" dirty="0" smtClean="0"/>
              <a:t>超链文本及图	像</a:t>
            </a:r>
            <a:r>
              <a:rPr lang="en-US" altLang="en-US" sz="2800" b="1" dirty="0" smtClean="0"/>
              <a:t>&lt;/A&gt;</a:t>
            </a:r>
            <a:endParaRPr lang="en-US" altLang="en-US" sz="2800" b="1"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8242"/>
                                        </p:tgtEl>
                                        <p:attrNameLst>
                                          <p:attrName>style.visibility</p:attrName>
                                        </p:attrNameLst>
                                      </p:cBhvr>
                                      <p:to>
                                        <p:strVal val="visible"/>
                                      </p:to>
                                    </p:set>
                                    <p:animEffect transition="in" filter="fade">
                                      <p:cBhvr>
                                        <p:cTn id="7" dur="2000"/>
                                        <p:tgtEl>
                                          <p:spTgt spid="1382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8243">
                                            <p:txEl>
                                              <p:pRg st="0" end="0"/>
                                            </p:txEl>
                                          </p:spTgt>
                                        </p:tgtEl>
                                        <p:attrNameLst>
                                          <p:attrName>style.visibility</p:attrName>
                                        </p:attrNameLst>
                                      </p:cBhvr>
                                      <p:to>
                                        <p:strVal val="visible"/>
                                      </p:to>
                                    </p:set>
                                    <p:animEffect transition="in" filter="fade">
                                      <p:cBhvr>
                                        <p:cTn id="12" dur="2000"/>
                                        <p:tgtEl>
                                          <p:spTgt spid="13824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38243">
                                            <p:txEl>
                                              <p:pRg st="2" end="2"/>
                                            </p:txEl>
                                          </p:spTgt>
                                        </p:tgtEl>
                                        <p:attrNameLst>
                                          <p:attrName>style.visibility</p:attrName>
                                        </p:attrNameLst>
                                      </p:cBhvr>
                                      <p:to>
                                        <p:strVal val="visible"/>
                                      </p:to>
                                    </p:set>
                                    <p:animEffect transition="in" filter="fade">
                                      <p:cBhvr>
                                        <p:cTn id="15" dur="2000"/>
                                        <p:tgtEl>
                                          <p:spTgt spid="13824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8243">
                                            <p:txEl>
                                              <p:pRg st="3" end="3"/>
                                            </p:txEl>
                                          </p:spTgt>
                                        </p:tgtEl>
                                        <p:attrNameLst>
                                          <p:attrName>style.visibility</p:attrName>
                                        </p:attrNameLst>
                                      </p:cBhvr>
                                      <p:to>
                                        <p:strVal val="visible"/>
                                      </p:to>
                                    </p:set>
                                    <p:animEffect transition="in" filter="fade">
                                      <p:cBhvr>
                                        <p:cTn id="18" dur="2000"/>
                                        <p:tgtEl>
                                          <p:spTgt spid="13824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38243">
                                            <p:txEl>
                                              <p:pRg st="4" end="4"/>
                                            </p:txEl>
                                          </p:spTgt>
                                        </p:tgtEl>
                                        <p:attrNameLst>
                                          <p:attrName>style.visibility</p:attrName>
                                        </p:attrNameLst>
                                      </p:cBhvr>
                                      <p:to>
                                        <p:strVal val="visible"/>
                                      </p:to>
                                    </p:set>
                                    <p:animEffect transition="in" filter="fade">
                                      <p:cBhvr>
                                        <p:cTn id="23" dur="2000"/>
                                        <p:tgtEl>
                                          <p:spTgt spid="1382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2" grpId="0" autoUpdateAnimBg="0"/>
      <p:bldP spid="138243" grpId="0" autoUpdateAnimBg="0" build="p"/>
    </p:bldLst>
  </p:timing>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9266" name="Rectangle 2"/>
          <p:cNvSpPr>
            <a:spLocks noGrp="1" noRot="1" noChangeArrowheads="1"/>
          </p:cNvSpPr>
          <p:nvPr>
            <p:ph type="title" idx="4294967295"/>
          </p:nvPr>
        </p:nvSpPr>
        <p:spPr/>
        <p:txBody>
          <a:bodyPr/>
          <a:lstStyle/>
          <a:p>
            <a:pPr eaLnBrk="1" hangingPunct="1">
              <a:defRPr/>
            </a:pPr>
            <a:r>
              <a:rPr lang="zh-CN" altLang="en-US" b="1" u="sng" smtClean="0">
                <a:solidFill>
                  <a:schemeClr val="folHlink"/>
                </a:solidFill>
                <a:effectLst>
                  <a:outerShdw blurRad="38100" dist="38100" dir="2700000" algn="tl">
                    <a:srgbClr val="000000"/>
                  </a:outerShdw>
                </a:effectLst>
                <a:ea typeface="仿宋_GB2312" pitchFamily="1" charset="-122"/>
              </a:rPr>
              <a:t>利用</a:t>
            </a:r>
            <a:r>
              <a:rPr lang="en-US" b="1" u="sng" smtClean="0">
                <a:solidFill>
                  <a:schemeClr val="folHlink"/>
                </a:solidFill>
                <a:effectLst>
                  <a:outerShdw blurRad="38100" dist="38100" dir="2700000" algn="tl">
                    <a:srgbClr val="000000"/>
                  </a:outerShdw>
                </a:effectLst>
                <a:ea typeface="仿宋_GB2312" pitchFamily="1" charset="-122"/>
              </a:rPr>
              <a:t>URL</a:t>
            </a:r>
            <a:r>
              <a:rPr lang="zh-CN" altLang="en-US" b="1" u="sng" smtClean="0">
                <a:solidFill>
                  <a:schemeClr val="folHlink"/>
                </a:solidFill>
                <a:effectLst>
                  <a:outerShdw blurRad="38100" dist="38100" dir="2700000" algn="tl">
                    <a:srgbClr val="000000"/>
                  </a:outerShdw>
                </a:effectLst>
                <a:ea typeface="仿宋_GB2312" pitchFamily="1" charset="-122"/>
              </a:rPr>
              <a:t>实现文件共享</a:t>
            </a:r>
            <a:endParaRPr lang="zh-CN" altLang="en-US" b="1" u="sng" smtClean="0">
              <a:solidFill>
                <a:schemeClr val="folHlink"/>
              </a:solidFill>
              <a:effectLst>
                <a:outerShdw blurRad="38100" dist="38100" dir="2700000" algn="tl">
                  <a:srgbClr val="000000"/>
                </a:outerShdw>
              </a:effectLst>
              <a:ea typeface="仿宋_GB2312" pitchFamily="1" charset="-122"/>
            </a:endParaRPr>
          </a:p>
        </p:txBody>
      </p:sp>
      <p:sp>
        <p:nvSpPr>
          <p:cNvPr id="139267" name="Rectangle 3"/>
          <p:cNvSpPr>
            <a:spLocks noGrp="1" noRot="1" noChangeArrowheads="1"/>
          </p:cNvSpPr>
          <p:nvPr>
            <p:ph type="body" idx="4294967295"/>
          </p:nvPr>
        </p:nvSpPr>
        <p:spPr/>
        <p:txBody>
          <a:bodyPr/>
          <a:lstStyle/>
          <a:p>
            <a:pPr algn="just" eaLnBrk="1" hangingPunct="1">
              <a:lnSpc>
                <a:spcPct val="90000"/>
              </a:lnSpc>
              <a:defRPr/>
            </a:pPr>
            <a:r>
              <a:rPr lang="zh-CN" altLang="en-US" sz="2800" b="1" dirty="0" smtClean="0"/>
              <a:t>当超链被触发时，用户的计算机将与</a:t>
            </a:r>
            <a:r>
              <a:rPr lang="en-US" altLang="en-US" sz="2800" b="1" dirty="0" smtClean="0"/>
              <a:t>URL</a:t>
            </a:r>
            <a:r>
              <a:rPr lang="zh-CN" altLang="en-US" sz="2800" b="1" dirty="0" smtClean="0"/>
              <a:t>指定的服务器建立连接，然后该服务器将</a:t>
            </a:r>
            <a:r>
              <a:rPr lang="en-US" altLang="en-US" sz="2800" b="1" dirty="0" smtClean="0"/>
              <a:t>URL</a:t>
            </a:r>
            <a:r>
              <a:rPr lang="zh-CN" altLang="en-US" sz="2800" b="1" dirty="0" smtClean="0"/>
              <a:t>指定地址的超文本文件传输到用户计算机中，通过浏览器解释执行超文本文件的逐条语句。</a:t>
            </a:r>
            <a:endParaRPr lang="zh-CN" altLang="en-US" sz="2800" b="1" dirty="0" smtClean="0"/>
          </a:p>
          <a:p>
            <a:pPr algn="just" eaLnBrk="1" hangingPunct="1">
              <a:lnSpc>
                <a:spcPct val="90000"/>
              </a:lnSpc>
              <a:defRPr/>
            </a:pPr>
            <a:endParaRPr lang="zh-CN" altLang="en-US" sz="2800" b="1" dirty="0" smtClean="0"/>
          </a:p>
          <a:p>
            <a:pPr algn="just" eaLnBrk="1" hangingPunct="1">
              <a:lnSpc>
                <a:spcPct val="90000"/>
              </a:lnSpc>
              <a:defRPr/>
            </a:pPr>
            <a:r>
              <a:rPr lang="zh-CN" altLang="en-US" sz="2800" b="1" dirty="0" smtClean="0"/>
              <a:t>用户可以通过</a:t>
            </a:r>
            <a:r>
              <a:rPr lang="en-US" altLang="en-US" sz="2800" b="1" dirty="0" smtClean="0"/>
              <a:t>URL</a:t>
            </a:r>
            <a:r>
              <a:rPr lang="zh-CN" altLang="en-US" sz="2800" b="1" dirty="0" smtClean="0"/>
              <a:t>方式反复链接访问</a:t>
            </a:r>
            <a:r>
              <a:rPr lang="en-US" altLang="en-US" sz="2800" b="1" dirty="0" smtClean="0"/>
              <a:t>Internet</a:t>
            </a:r>
            <a:r>
              <a:rPr lang="zh-CN" altLang="en-US" sz="2800" b="1" dirty="0" smtClean="0"/>
              <a:t>上任何地方的任何文件。</a:t>
            </a:r>
            <a:endParaRPr lang="zh-CN" altLang="en-US" sz="2800" b="1"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9266"/>
                                        </p:tgtEl>
                                        <p:attrNameLst>
                                          <p:attrName>style.visibility</p:attrName>
                                        </p:attrNameLst>
                                      </p:cBhvr>
                                      <p:to>
                                        <p:strVal val="visible"/>
                                      </p:to>
                                    </p:set>
                                    <p:animEffect transition="in" filter="fade">
                                      <p:cBhvr>
                                        <p:cTn id="7" dur="2000"/>
                                        <p:tgtEl>
                                          <p:spTgt spid="13926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9267">
                                            <p:txEl>
                                              <p:pRg st="0" end="0"/>
                                            </p:txEl>
                                          </p:spTgt>
                                        </p:tgtEl>
                                        <p:attrNameLst>
                                          <p:attrName>style.visibility</p:attrName>
                                        </p:attrNameLst>
                                      </p:cBhvr>
                                      <p:to>
                                        <p:strVal val="visible"/>
                                      </p:to>
                                    </p:set>
                                    <p:animEffect transition="in" filter="fade">
                                      <p:cBhvr>
                                        <p:cTn id="12" dur="2000"/>
                                        <p:tgtEl>
                                          <p:spTgt spid="13926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9267">
                                            <p:txEl>
                                              <p:pRg st="2" end="2"/>
                                            </p:txEl>
                                          </p:spTgt>
                                        </p:tgtEl>
                                        <p:attrNameLst>
                                          <p:attrName>style.visibility</p:attrName>
                                        </p:attrNameLst>
                                      </p:cBhvr>
                                      <p:to>
                                        <p:strVal val="visible"/>
                                      </p:to>
                                    </p:set>
                                    <p:animEffect transition="in" filter="fade">
                                      <p:cBhvr>
                                        <p:cTn id="17" dur="2000"/>
                                        <p:tgtEl>
                                          <p:spTgt spid="1392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6" grpId="0" autoUpdateAnimBg="0"/>
      <p:bldP spid="139267" grpId="0" autoUpdateAnimBg="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Rot="1" noChangeArrowheads="1"/>
          </p:cNvSpPr>
          <p:nvPr>
            <p:ph type="title"/>
          </p:nvPr>
        </p:nvSpPr>
        <p:spPr/>
        <p:txBody>
          <a:bodyPr/>
          <a:lstStyle/>
          <a:p>
            <a:r>
              <a:rPr lang="zh-CN" altLang="en-US" b="1" smtClean="0">
                <a:solidFill>
                  <a:srgbClr val="FF9900"/>
                </a:solidFill>
              </a:rPr>
              <a:t>Linux文件链接</a:t>
            </a:r>
            <a:endParaRPr lang="zh-CN" altLang="en-US" b="1" smtClean="0">
              <a:solidFill>
                <a:srgbClr val="FF9900"/>
              </a:solidFill>
            </a:endParaRPr>
          </a:p>
        </p:txBody>
      </p:sp>
      <p:sp>
        <p:nvSpPr>
          <p:cNvPr id="139267" name="Rectangle 3"/>
          <p:cNvSpPr>
            <a:spLocks noGrp="1" noRot="1" noChangeArrowheads="1"/>
          </p:cNvSpPr>
          <p:nvPr>
            <p:ph type="body" idx="1"/>
          </p:nvPr>
        </p:nvSpPr>
        <p:spPr/>
        <p:txBody>
          <a:bodyPr/>
          <a:lstStyle/>
          <a:p>
            <a:pPr>
              <a:lnSpc>
                <a:spcPct val="90000"/>
              </a:lnSpc>
            </a:pPr>
            <a:r>
              <a:rPr lang="zh-CN" altLang="en-US" sz="2800" b="1" dirty="0" smtClean="0"/>
              <a:t>Linux链接分两种，一种被称为</a:t>
            </a:r>
            <a:r>
              <a:rPr lang="zh-CN" altLang="en-US" sz="2800" b="1" dirty="0" smtClean="0">
                <a:solidFill>
                  <a:srgbClr val="FF9900"/>
                </a:solidFill>
              </a:rPr>
              <a:t>硬链接</a:t>
            </a:r>
            <a:r>
              <a:rPr lang="zh-CN" altLang="en-US" sz="2800" b="1" dirty="0" smtClean="0"/>
              <a:t>（Hard Link），另一种被称为符号链接（Symbolic Link），也叫软链接。</a:t>
            </a:r>
            <a:endParaRPr lang="en-US" altLang="zh-CN" sz="2800" b="1" dirty="0" smtClean="0"/>
          </a:p>
          <a:p>
            <a:pPr>
              <a:lnSpc>
                <a:spcPct val="90000"/>
              </a:lnSpc>
            </a:pPr>
            <a:endParaRPr lang="zh-CN" altLang="en-US" sz="2800" b="1" dirty="0" smtClean="0"/>
          </a:p>
          <a:p>
            <a:pPr>
              <a:lnSpc>
                <a:spcPct val="90000"/>
              </a:lnSpc>
            </a:pPr>
            <a:r>
              <a:rPr lang="zh-CN" altLang="en-US" sz="2800" b="1" dirty="0" smtClean="0"/>
              <a:t>软链接文件有类似于Windows的快捷方式。它实际上是一个特殊的文件。在符号连接中，文件实际上是一个文本文件，其中包含的有另一文件的位置信息。</a:t>
            </a:r>
            <a:endParaRPr lang="zh-CN" altLang="en-US" sz="2800" b="1" dirty="0" smtClean="0"/>
          </a:p>
        </p:txBody>
      </p:sp>
    </p:spTree>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Rot="1" noChangeArrowheads="1"/>
          </p:cNvSpPr>
          <p:nvPr>
            <p:ph type="title"/>
          </p:nvPr>
        </p:nvSpPr>
        <p:spPr/>
        <p:txBody>
          <a:bodyPr/>
          <a:lstStyle/>
          <a:p>
            <a:r>
              <a:rPr lang="zh-CN" altLang="en-US" b="1" smtClean="0">
                <a:solidFill>
                  <a:srgbClr val="FF9900"/>
                </a:solidFill>
              </a:rPr>
              <a:t>Linux连接文件示例</a:t>
            </a:r>
            <a:endParaRPr lang="zh-CN" altLang="en-US" b="1" smtClean="0">
              <a:solidFill>
                <a:srgbClr val="FF9900"/>
              </a:solidFill>
            </a:endParaRPr>
          </a:p>
        </p:txBody>
      </p:sp>
      <p:sp>
        <p:nvSpPr>
          <p:cNvPr id="140291" name="Rectangle 3"/>
          <p:cNvSpPr>
            <a:spLocks noGrp="1" noRot="1" noChangeArrowheads="1"/>
          </p:cNvSpPr>
          <p:nvPr>
            <p:ph type="body" idx="1"/>
          </p:nvPr>
        </p:nvSpPr>
        <p:spPr/>
        <p:txBody>
          <a:bodyPr/>
          <a:lstStyle/>
          <a:p>
            <a:pPr>
              <a:lnSpc>
                <a:spcPct val="80000"/>
              </a:lnSpc>
            </a:pPr>
            <a:r>
              <a:rPr lang="zh-CN" altLang="zh-CN" sz="2000" b="1" dirty="0" smtClean="0"/>
              <a:t>[oracle@Linux]$ touch f1          #</a:t>
            </a:r>
            <a:r>
              <a:rPr lang="zh-CN" sz="2000" b="1" dirty="0" smtClean="0"/>
              <a:t>创建一个测试文件</a:t>
            </a:r>
            <a:r>
              <a:rPr lang="zh-CN" altLang="zh-CN" sz="2000" b="1" dirty="0" smtClean="0"/>
              <a:t>f1</a:t>
            </a:r>
            <a:endParaRPr lang="zh-CN" altLang="zh-CN" sz="2000" b="1" dirty="0" smtClean="0"/>
          </a:p>
          <a:p>
            <a:pPr>
              <a:lnSpc>
                <a:spcPct val="80000"/>
              </a:lnSpc>
            </a:pPr>
            <a:r>
              <a:rPr lang="zh-CN" altLang="zh-CN" sz="2000" b="1" dirty="0" smtClean="0"/>
              <a:t>[oracle@Linux]$ ln f1 f2          #</a:t>
            </a:r>
            <a:r>
              <a:rPr lang="zh-CN" sz="2000" b="1" dirty="0" smtClean="0"/>
              <a:t>创建</a:t>
            </a:r>
            <a:r>
              <a:rPr lang="zh-CN" altLang="zh-CN" sz="2000" b="1" dirty="0" smtClean="0"/>
              <a:t>f1</a:t>
            </a:r>
            <a:r>
              <a:rPr lang="zh-CN" sz="2000" b="1" dirty="0" smtClean="0"/>
              <a:t>的一个硬连接文件</a:t>
            </a:r>
            <a:r>
              <a:rPr lang="zh-CN" altLang="zh-CN" sz="2000" b="1" dirty="0" smtClean="0"/>
              <a:t>f2</a:t>
            </a:r>
            <a:endParaRPr lang="zh-CN" altLang="zh-CN" sz="2000" b="1" dirty="0" smtClean="0"/>
          </a:p>
          <a:p>
            <a:pPr>
              <a:lnSpc>
                <a:spcPct val="80000"/>
              </a:lnSpc>
            </a:pPr>
            <a:r>
              <a:rPr lang="zh-CN" altLang="zh-CN" sz="2000" b="1" dirty="0" smtClean="0"/>
              <a:t>[oracle@Linux]$ ln -s f1 f3       #</a:t>
            </a:r>
            <a:r>
              <a:rPr lang="zh-CN" sz="2000" b="1" dirty="0" smtClean="0"/>
              <a:t>创建</a:t>
            </a:r>
            <a:r>
              <a:rPr lang="zh-CN" altLang="zh-CN" sz="2000" b="1" dirty="0" smtClean="0"/>
              <a:t>f1</a:t>
            </a:r>
            <a:r>
              <a:rPr lang="zh-CN" sz="2000" b="1" dirty="0" smtClean="0"/>
              <a:t>的一个符号连接文件</a:t>
            </a:r>
            <a:r>
              <a:rPr lang="zh-CN" altLang="zh-CN" sz="2000" b="1" dirty="0" smtClean="0"/>
              <a:t>f3</a:t>
            </a:r>
            <a:endParaRPr lang="zh-CN" altLang="zh-CN" sz="2000" b="1" dirty="0" smtClean="0"/>
          </a:p>
          <a:p>
            <a:pPr>
              <a:lnSpc>
                <a:spcPct val="80000"/>
              </a:lnSpc>
            </a:pPr>
            <a:r>
              <a:rPr lang="zh-CN" altLang="zh-CN" sz="2000" b="1" dirty="0" smtClean="0"/>
              <a:t>[oracle@Linux]$ ls -li            # -i</a:t>
            </a:r>
            <a:r>
              <a:rPr lang="zh-CN" sz="2000" b="1" dirty="0" smtClean="0"/>
              <a:t>参数显示文件的</a:t>
            </a:r>
            <a:r>
              <a:rPr lang="zh-CN" altLang="zh-CN" sz="2000" b="1" dirty="0" smtClean="0"/>
              <a:t>inode</a:t>
            </a:r>
            <a:r>
              <a:rPr lang="zh-CN" sz="2000" b="1" dirty="0" smtClean="0"/>
              <a:t>节点信息</a:t>
            </a:r>
            <a:endParaRPr lang="zh-CN" sz="2000" b="1" dirty="0" smtClean="0"/>
          </a:p>
          <a:p>
            <a:pPr>
              <a:lnSpc>
                <a:spcPct val="80000"/>
              </a:lnSpc>
            </a:pPr>
            <a:endParaRPr lang="zh-CN" altLang="zh-CN" sz="2000" b="1" dirty="0" smtClean="0"/>
          </a:p>
          <a:p>
            <a:pPr>
              <a:lnSpc>
                <a:spcPct val="80000"/>
              </a:lnSpc>
            </a:pPr>
            <a:r>
              <a:rPr lang="zh-CN" altLang="zh-CN" sz="2000" b="1" dirty="0" smtClean="0"/>
              <a:t>9797648 -rw-r--r--  2 oracle oinstall 0 Apr 21 08:11 f1</a:t>
            </a:r>
            <a:endParaRPr lang="zh-CN" altLang="zh-CN" sz="2000" b="1" dirty="0" smtClean="0"/>
          </a:p>
          <a:p>
            <a:pPr>
              <a:lnSpc>
                <a:spcPct val="80000"/>
              </a:lnSpc>
            </a:pPr>
            <a:r>
              <a:rPr lang="zh-CN" altLang="zh-CN" sz="2000" b="1" dirty="0" smtClean="0"/>
              <a:t>9797648 -rw-r--r--  2 oracle oinstall 0 Apr 21 08:11 f2</a:t>
            </a:r>
            <a:endParaRPr lang="zh-CN" altLang="zh-CN" sz="2000" b="1" dirty="0" smtClean="0"/>
          </a:p>
          <a:p>
            <a:pPr>
              <a:lnSpc>
                <a:spcPct val="80000"/>
              </a:lnSpc>
            </a:pPr>
            <a:r>
              <a:rPr lang="zh-CN" altLang="zh-CN" sz="2000" b="1" dirty="0" smtClean="0"/>
              <a:t>9797649 lrwxrwxrwx  1 oracle oinstall 2 Apr 21 08:11 f3 -&gt; f1</a:t>
            </a:r>
            <a:endParaRPr lang="zh-CN" altLang="zh-CN" sz="2000" b="1" dirty="0" smtClean="0"/>
          </a:p>
          <a:p>
            <a:pPr>
              <a:lnSpc>
                <a:spcPct val="80000"/>
              </a:lnSpc>
            </a:pPr>
            <a:endParaRPr lang="zh-CN" altLang="zh-CN" sz="2000" b="1" dirty="0" smtClean="0"/>
          </a:p>
          <a:p>
            <a:pPr>
              <a:lnSpc>
                <a:spcPct val="80000"/>
              </a:lnSpc>
            </a:pPr>
            <a:r>
              <a:rPr lang="zh-CN" sz="2400" b="1" dirty="0" smtClean="0"/>
              <a:t>从上面的结果中可以看出，硬连接文件</a:t>
            </a:r>
            <a:r>
              <a:rPr lang="zh-CN" altLang="zh-CN" sz="2400" b="1" dirty="0" smtClean="0"/>
              <a:t>f2</a:t>
            </a:r>
            <a:r>
              <a:rPr lang="zh-CN" sz="2400" b="1" dirty="0" smtClean="0"/>
              <a:t>与原文件</a:t>
            </a:r>
            <a:r>
              <a:rPr lang="zh-CN" altLang="zh-CN" sz="2400" b="1" dirty="0" smtClean="0"/>
              <a:t>f1</a:t>
            </a:r>
            <a:r>
              <a:rPr lang="zh-CN" sz="2400" b="1" dirty="0" smtClean="0"/>
              <a:t>的</a:t>
            </a:r>
            <a:r>
              <a:rPr lang="zh-CN" altLang="zh-CN" sz="2400" b="1" dirty="0" smtClean="0"/>
              <a:t>inode</a:t>
            </a:r>
            <a:r>
              <a:rPr lang="zh-CN" sz="2400" b="1" dirty="0" smtClean="0"/>
              <a:t>节点相同，均为</a:t>
            </a:r>
            <a:r>
              <a:rPr lang="zh-CN" altLang="zh-CN" sz="2400" b="1" dirty="0" smtClean="0"/>
              <a:t>9797648</a:t>
            </a:r>
            <a:r>
              <a:rPr lang="zh-CN" sz="2400" b="1" dirty="0" smtClean="0"/>
              <a:t>，然而符号连接文件的</a:t>
            </a:r>
            <a:r>
              <a:rPr lang="zh-CN" altLang="zh-CN" sz="2400" b="1" dirty="0" smtClean="0"/>
              <a:t>inode</a:t>
            </a:r>
            <a:r>
              <a:rPr lang="zh-CN" sz="2400" b="1" dirty="0" smtClean="0"/>
              <a:t>节点不同。</a:t>
            </a:r>
            <a:endParaRPr lang="zh-CN" sz="2400" b="1" dirty="0" smtClean="0"/>
          </a:p>
        </p:txBody>
      </p:sp>
    </p:spTree>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2338" name="Rectangle 2"/>
          <p:cNvSpPr>
            <a:spLocks noGrp="1" noRot="1" noChangeArrowheads="1"/>
          </p:cNvSpPr>
          <p:nvPr>
            <p:ph type="title" idx="4294967295"/>
          </p:nvPr>
        </p:nvSpPr>
        <p:spPr/>
        <p:txBody>
          <a:bodyPr/>
          <a:lstStyle/>
          <a:p>
            <a:pPr eaLnBrk="1" hangingPunct="1">
              <a:defRPr/>
            </a:pPr>
            <a:r>
              <a:rPr lang="en-US" smtClean="0">
                <a:solidFill>
                  <a:schemeClr val="folHlink"/>
                </a:solidFill>
                <a:effectLst>
                  <a:outerShdw blurRad="38100" dist="38100" dir="2700000" algn="tl">
                    <a:srgbClr val="000000"/>
                  </a:outerShdw>
                </a:effectLst>
              </a:rPr>
              <a:t>Linux</a:t>
            </a:r>
            <a:r>
              <a:rPr lang="zh-CN" altLang="en-US" smtClean="0">
                <a:solidFill>
                  <a:schemeClr val="folHlink"/>
                </a:solidFill>
                <a:effectLst>
                  <a:outerShdw blurRad="38100" dist="38100" dir="2700000" algn="tl">
                    <a:srgbClr val="000000"/>
                  </a:outerShdw>
                </a:effectLst>
              </a:rPr>
              <a:t>文件系统</a:t>
            </a:r>
            <a:endParaRPr lang="zh-CN" altLang="en-US" smtClean="0">
              <a:solidFill>
                <a:schemeClr val="folHlink"/>
              </a:solidFill>
              <a:effectLst>
                <a:outerShdw blurRad="38100" dist="38100" dir="2700000" algn="tl">
                  <a:srgbClr val="000000"/>
                </a:outerShdw>
              </a:effectLst>
            </a:endParaRPr>
          </a:p>
        </p:txBody>
      </p:sp>
      <p:pic>
        <p:nvPicPr>
          <p:cNvPr id="141315" name="Picture 3"/>
          <p:cNvPicPr>
            <a:picLocks noChangeAspect="1" noChangeArrowheads="1"/>
          </p:cNvPicPr>
          <p:nvPr/>
        </p:nvPicPr>
        <p:blipFill>
          <a:blip r:embed="rId1"/>
          <a:srcRect/>
          <a:stretch>
            <a:fillRect/>
          </a:stretch>
        </p:blipFill>
        <p:spPr bwMode="auto">
          <a:xfrm>
            <a:off x="107950" y="2060575"/>
            <a:ext cx="8893175" cy="4313238"/>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2338"/>
                                        </p:tgtEl>
                                        <p:attrNameLst>
                                          <p:attrName>style.visibility</p:attrName>
                                        </p:attrNameLst>
                                      </p:cBhvr>
                                      <p:to>
                                        <p:strVal val="visible"/>
                                      </p:to>
                                    </p:set>
                                    <p:animEffect transition="in" filter="fade">
                                      <p:cBhvr>
                                        <p:cTn id="7" dur="2000"/>
                                        <p:tgtEl>
                                          <p:spTgt spid="142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8" grpId="0"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62" name="Rectangle 2"/>
          <p:cNvSpPr>
            <a:spLocks noGrp="1" noRot="1" noChangeArrowheads="1"/>
          </p:cNvSpPr>
          <p:nvPr>
            <p:ph type="title" idx="4294967295"/>
          </p:nvPr>
        </p:nvSpPr>
        <p:spPr/>
        <p:txBody>
          <a:bodyPr/>
          <a:lstStyle/>
          <a:p>
            <a:pPr eaLnBrk="1" hangingPunct="1">
              <a:defRPr/>
            </a:pPr>
            <a:r>
              <a:rPr lang="en-US" smtClean="0">
                <a:solidFill>
                  <a:schemeClr val="folHlink"/>
                </a:solidFill>
                <a:effectLst>
                  <a:outerShdw blurRad="38100" dist="38100" dir="2700000" algn="tl">
                    <a:srgbClr val="000000"/>
                  </a:outerShdw>
                </a:effectLst>
              </a:rPr>
              <a:t>Linux vfs</a:t>
            </a:r>
            <a:endParaRPr lang="en-US" smtClean="0">
              <a:solidFill>
                <a:schemeClr val="folHlink"/>
              </a:solidFill>
              <a:effectLst>
                <a:outerShdw blurRad="38100" dist="38100" dir="2700000" algn="tl">
                  <a:srgbClr val="000000"/>
                </a:outerShdw>
              </a:effectLst>
            </a:endParaRPr>
          </a:p>
        </p:txBody>
      </p:sp>
      <p:pic>
        <p:nvPicPr>
          <p:cNvPr id="142339" name="Picture 3"/>
          <p:cNvPicPr>
            <a:picLocks noChangeAspect="1" noChangeArrowheads="1"/>
          </p:cNvPicPr>
          <p:nvPr/>
        </p:nvPicPr>
        <p:blipFill>
          <a:blip r:embed="rId1"/>
          <a:srcRect/>
          <a:stretch>
            <a:fillRect/>
          </a:stretch>
        </p:blipFill>
        <p:spPr bwMode="auto">
          <a:xfrm>
            <a:off x="179388" y="1916113"/>
            <a:ext cx="8691562" cy="4008437"/>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3362"/>
                                        </p:tgtEl>
                                        <p:attrNameLst>
                                          <p:attrName>style.visibility</p:attrName>
                                        </p:attrNameLst>
                                      </p:cBhvr>
                                      <p:to>
                                        <p:strVal val="visible"/>
                                      </p:to>
                                    </p:set>
                                    <p:animEffect transition="in" filter="fade">
                                      <p:cBhvr>
                                        <p:cTn id="7" dur="2000"/>
                                        <p:tgtEl>
                                          <p:spTgt spid="143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2" grpId="0"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62" name="Picture 2"/>
          <p:cNvPicPr>
            <a:picLocks noChangeAspect="1" noChangeArrowheads="1"/>
          </p:cNvPicPr>
          <p:nvPr/>
        </p:nvPicPr>
        <p:blipFill>
          <a:blip r:embed="rId1"/>
          <a:srcRect/>
          <a:stretch>
            <a:fillRect/>
          </a:stretch>
        </p:blipFill>
        <p:spPr bwMode="auto">
          <a:xfrm>
            <a:off x="684213" y="104775"/>
            <a:ext cx="7848600" cy="670877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p:cNvSpPr>
            <a:spLocks noGrp="1" noRot="1" noChangeArrowheads="1"/>
          </p:cNvSpPr>
          <p:nvPr>
            <p:ph type="title"/>
          </p:nvPr>
        </p:nvSpPr>
        <p:spPr>
          <a:xfrm>
            <a:off x="381000" y="1981200"/>
            <a:ext cx="8534400" cy="1524000"/>
          </a:xfrm>
          <a:gradFill rotWithShape="0">
            <a:gsLst>
              <a:gs pos="0">
                <a:schemeClr val="accent1">
                  <a:gamma/>
                  <a:shade val="46275"/>
                  <a:invGamma/>
                </a:schemeClr>
              </a:gs>
              <a:gs pos="50000">
                <a:schemeClr val="accent1"/>
              </a:gs>
              <a:gs pos="100000">
                <a:schemeClr val="accent1">
                  <a:gamma/>
                  <a:shade val="46275"/>
                  <a:invGamma/>
                </a:schemeClr>
              </a:gs>
            </a:gsLst>
            <a:lin ang="5400000" scaled="1"/>
          </a:gradFill>
        </p:spPr>
        <p:txBody>
          <a:bodyPr/>
          <a:lstStyle/>
          <a:p>
            <a:r>
              <a:rPr lang="en-US" altLang="zh-CN" sz="4800" b="1" dirty="0">
                <a:solidFill>
                  <a:schemeClr val="accent2"/>
                </a:solidFill>
                <a:ea typeface="仿宋_GB2312" pitchFamily="1" charset="-122"/>
              </a:rPr>
              <a:t> </a:t>
            </a:r>
            <a:r>
              <a:rPr lang="en-US" altLang="zh-CN" sz="4800" b="1" dirty="0" smtClean="0">
                <a:solidFill>
                  <a:srgbClr val="FF0000"/>
                </a:solidFill>
                <a:ea typeface="仿宋_GB2312" pitchFamily="1" charset="-122"/>
              </a:rPr>
              <a:t>7.5    </a:t>
            </a:r>
            <a:r>
              <a:rPr lang="zh-CN" altLang="en-US" sz="4800" b="1" dirty="0">
                <a:solidFill>
                  <a:srgbClr val="FF0000"/>
                </a:solidFill>
                <a:ea typeface="仿宋_GB2312" pitchFamily="1" charset="-122"/>
              </a:rPr>
              <a:t>文件保护与安全</a:t>
            </a:r>
            <a:r>
              <a:rPr lang="zh-CN" altLang="en-US" sz="3200" b="1" dirty="0">
                <a:solidFill>
                  <a:srgbClr val="FF0000"/>
                </a:solidFill>
                <a:ea typeface="仿宋_GB2312" pitchFamily="1" charset="-122"/>
              </a:rPr>
              <a:t> </a:t>
            </a:r>
            <a:endParaRPr lang="zh-CN" altLang="en-US" sz="3200" b="1" dirty="0">
              <a:solidFill>
                <a:srgbClr val="FF0000"/>
              </a:solidFill>
              <a:ea typeface="仿宋_GB2312" pitchFamily="1" charset="-122"/>
            </a:endParaRP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Rot="1" noChangeArrowheads="1"/>
          </p:cNvSpPr>
          <p:nvPr>
            <p:ph type="title"/>
          </p:nvPr>
        </p:nvSpPr>
        <p:spPr>
          <a:xfrm>
            <a:off x="533400" y="188913"/>
            <a:ext cx="8077200" cy="1066800"/>
          </a:xfrm>
        </p:spPr>
        <p:txBody>
          <a:bodyPr/>
          <a:lstStyle/>
          <a:p>
            <a:r>
              <a:rPr lang="zh-CN" altLang="en-US" b="1" u="sng">
                <a:solidFill>
                  <a:schemeClr val="folHlink"/>
                </a:solidFill>
                <a:ea typeface="仿宋_GB2312" pitchFamily="1" charset="-122"/>
              </a:rPr>
              <a:t>文件保护</a:t>
            </a:r>
            <a:r>
              <a:rPr lang="zh-CN" altLang="en-US">
                <a:solidFill>
                  <a:schemeClr val="folHlink"/>
                </a:solidFill>
              </a:rPr>
              <a:t> </a:t>
            </a:r>
            <a:endParaRPr lang="zh-CN" altLang="en-US">
              <a:solidFill>
                <a:schemeClr val="folHlink"/>
              </a:solidFill>
            </a:endParaRPr>
          </a:p>
        </p:txBody>
      </p:sp>
      <p:sp>
        <p:nvSpPr>
          <p:cNvPr id="214019" name="Rectangle 3"/>
          <p:cNvSpPr>
            <a:spLocks noGrp="1" noRot="1" noChangeArrowheads="1"/>
          </p:cNvSpPr>
          <p:nvPr>
            <p:ph type="body" idx="1"/>
          </p:nvPr>
        </p:nvSpPr>
        <p:spPr>
          <a:xfrm>
            <a:off x="685800" y="1412875"/>
            <a:ext cx="8077200" cy="5111750"/>
          </a:xfrm>
        </p:spPr>
        <p:txBody>
          <a:bodyPr/>
          <a:lstStyle/>
          <a:p>
            <a:pPr algn="just">
              <a:lnSpc>
                <a:spcPct val="110000"/>
              </a:lnSpc>
            </a:pPr>
            <a:r>
              <a:rPr lang="zh-CN" altLang="en-US" sz="2800" b="1" dirty="0" smtClean="0"/>
              <a:t>影响文件安全性的主要因素是数据丢失或非法入侵：</a:t>
            </a:r>
            <a:endParaRPr lang="zh-CN" altLang="en-US" sz="2800" b="1" dirty="0" smtClean="0"/>
          </a:p>
          <a:p>
            <a:pPr algn="just">
              <a:lnSpc>
                <a:spcPct val="110000"/>
              </a:lnSpc>
              <a:buFont typeface="Wingdings" panose="05000000000000000000" pitchFamily="2" charset="2"/>
              <a:buNone/>
            </a:pPr>
            <a:r>
              <a:rPr lang="en-US" altLang="zh-CN" sz="2800" b="1" dirty="0" smtClean="0"/>
              <a:t>— </a:t>
            </a:r>
            <a:r>
              <a:rPr lang="zh-CN" altLang="en-US" sz="2800" b="1" dirty="0" smtClean="0"/>
              <a:t>非法入侵系统需要通过人工管理及为文件设置访问控制机制进行预防；</a:t>
            </a:r>
            <a:endParaRPr lang="zh-CN" altLang="en-US" sz="2800" b="1" dirty="0" smtClean="0"/>
          </a:p>
          <a:p>
            <a:pPr algn="just">
              <a:lnSpc>
                <a:spcPct val="110000"/>
              </a:lnSpc>
              <a:buFont typeface="Wingdings" panose="05000000000000000000" pitchFamily="2" charset="2"/>
              <a:buNone/>
            </a:pPr>
            <a:r>
              <a:rPr lang="en-US" altLang="zh-CN" sz="2800" b="1" dirty="0" smtClean="0"/>
              <a:t>— </a:t>
            </a:r>
            <a:r>
              <a:rPr lang="zh-CN" altLang="en-US" sz="2800" b="1" dirty="0" smtClean="0"/>
              <a:t>数据丢失的原因主要有系统硬件或软件故障，如</a:t>
            </a:r>
            <a:r>
              <a:rPr lang="en-US" altLang="zh-CN" sz="2800" b="1" dirty="0" smtClean="0"/>
              <a:t>CPU</a:t>
            </a:r>
            <a:r>
              <a:rPr lang="zh-CN" altLang="en-US" sz="2800" b="1" dirty="0" smtClean="0"/>
              <a:t>误操作、不可访问的磁盘或磁带、通信故障、软件故障等。</a:t>
            </a:r>
            <a:endParaRPr lang="zh-CN" altLang="en-US" sz="2800" b="1" dirty="0" smtClean="0"/>
          </a:p>
          <a:p>
            <a:pPr algn="just">
              <a:lnSpc>
                <a:spcPct val="110000"/>
              </a:lnSpc>
              <a:buFont typeface="Wingdings" panose="05000000000000000000" pitchFamily="2" charset="2"/>
              <a:buNone/>
            </a:pPr>
            <a:r>
              <a:rPr lang="en-US" altLang="zh-CN" sz="2800" b="1" dirty="0" smtClean="0"/>
              <a:t>— </a:t>
            </a:r>
            <a:r>
              <a:rPr lang="zh-CN" altLang="en-US" sz="2800" b="1" dirty="0" smtClean="0"/>
              <a:t>磁盘或磁带数据也会因为保存的时间太久，霉变等因素而被丢失。</a:t>
            </a:r>
            <a:endParaRPr lang="zh-CN" altLang="en-US" sz="2800" b="1" dirty="0" smtClean="0"/>
          </a:p>
        </p:txBody>
      </p:sp>
    </p:spTree>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Rot="1" noChangeArrowheads="1"/>
          </p:cNvSpPr>
          <p:nvPr>
            <p:ph type="title"/>
          </p:nvPr>
        </p:nvSpPr>
        <p:spPr>
          <a:xfrm>
            <a:off x="533400" y="201613"/>
            <a:ext cx="8077200" cy="1066800"/>
          </a:xfrm>
        </p:spPr>
        <p:txBody>
          <a:bodyPr/>
          <a:lstStyle/>
          <a:p>
            <a:r>
              <a:rPr lang="zh-CN" altLang="en-US" b="1" u="sng">
                <a:solidFill>
                  <a:schemeClr val="folHlink"/>
                </a:solidFill>
                <a:ea typeface="仿宋_GB2312" pitchFamily="1" charset="-122"/>
              </a:rPr>
              <a:t>文件保护</a:t>
            </a:r>
            <a:r>
              <a:rPr lang="zh-CN" altLang="en-US">
                <a:solidFill>
                  <a:schemeClr val="folHlink"/>
                </a:solidFill>
              </a:rPr>
              <a:t> </a:t>
            </a:r>
            <a:endParaRPr lang="zh-CN" altLang="en-US">
              <a:solidFill>
                <a:schemeClr val="folHlink"/>
              </a:solidFill>
            </a:endParaRPr>
          </a:p>
        </p:txBody>
      </p:sp>
      <p:sp>
        <p:nvSpPr>
          <p:cNvPr id="215043" name="Rectangle 3"/>
          <p:cNvSpPr>
            <a:spLocks noGrp="1" noRot="1" noChangeArrowheads="1"/>
          </p:cNvSpPr>
          <p:nvPr>
            <p:ph type="body" idx="1"/>
          </p:nvPr>
        </p:nvSpPr>
        <p:spPr>
          <a:xfrm>
            <a:off x="533400" y="981075"/>
            <a:ext cx="8077200" cy="5192713"/>
          </a:xfrm>
        </p:spPr>
        <p:txBody>
          <a:bodyPr/>
          <a:lstStyle/>
          <a:p>
            <a:pPr algn="just">
              <a:lnSpc>
                <a:spcPct val="110000"/>
              </a:lnSpc>
            </a:pPr>
            <a:endParaRPr lang="en-US" altLang="zh-CN" sz="2800" b="1" dirty="0">
              <a:effectLst>
                <a:outerShdw blurRad="38100" dist="38100" dir="2700000" algn="tl">
                  <a:srgbClr val="000000"/>
                </a:outerShdw>
              </a:effectLst>
              <a:ea typeface="仿宋_GB2312" pitchFamily="1" charset="-122"/>
            </a:endParaRPr>
          </a:p>
          <a:p>
            <a:pPr algn="just">
              <a:lnSpc>
                <a:spcPct val="110000"/>
              </a:lnSpc>
            </a:pPr>
            <a:r>
              <a:rPr lang="zh-CN" altLang="en-US" sz="2800" b="1" dirty="0" smtClean="0"/>
              <a:t>解决因数据丢失而导致文件系统不安全的主要方案有：</a:t>
            </a:r>
            <a:r>
              <a:rPr lang="zh-CN" altLang="en-US" sz="2800" b="1" i="1" u="sng" dirty="0">
                <a:solidFill>
                  <a:schemeClr val="folHlink"/>
                </a:solidFill>
                <a:effectLst>
                  <a:outerShdw blurRad="38100" dist="38100" dir="2700000" algn="tl">
                    <a:srgbClr val="000000"/>
                  </a:outerShdw>
                </a:effectLst>
                <a:ea typeface="仿宋_GB2312" pitchFamily="1" charset="-122"/>
              </a:rPr>
              <a:t>系统容错技术以及系统备份</a:t>
            </a:r>
            <a:r>
              <a:rPr lang="zh-CN" altLang="en-US" sz="2800" b="1" dirty="0" smtClean="0"/>
              <a:t>等技术。</a:t>
            </a:r>
            <a:endParaRPr lang="zh-CN" altLang="en-US" sz="2800" b="1" dirty="0" smtClean="0"/>
          </a:p>
          <a:p>
            <a:pPr algn="just">
              <a:lnSpc>
                <a:spcPct val="110000"/>
              </a:lnSpc>
            </a:pPr>
            <a:r>
              <a:rPr lang="zh-CN" altLang="en-US" sz="2800" b="1" dirty="0" smtClean="0"/>
              <a:t>需要保护的对象：硬件如</a:t>
            </a:r>
            <a:r>
              <a:rPr lang="en-US" altLang="zh-CN" sz="2800" b="1" dirty="0" smtClean="0"/>
              <a:t>CPU</a:t>
            </a:r>
            <a:r>
              <a:rPr lang="zh-CN" altLang="en-US" sz="2800" b="1" dirty="0" smtClean="0"/>
              <a:t>、内存、磁盘驱动器或打印机等，以及软件如进程、文件、数据库表或信号量等。</a:t>
            </a:r>
            <a:endParaRPr lang="zh-CN" altLang="en-US" sz="2800" b="1" dirty="0" smtClean="0"/>
          </a:p>
          <a:p>
            <a:pPr algn="just">
              <a:lnSpc>
                <a:spcPct val="110000"/>
              </a:lnSpc>
            </a:pPr>
            <a:r>
              <a:rPr lang="zh-CN" altLang="en-US" sz="2800" b="1" dirty="0" smtClean="0"/>
              <a:t>每个对象都有一个唯一的名字，用户通过对象名字来引用对象。</a:t>
            </a:r>
            <a:endParaRPr lang="zh-CN" altLang="en-US" sz="2800" b="1" dirty="0" smtClean="0"/>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Rot="1" noChangeArrowheads="1"/>
          </p:cNvSpPr>
          <p:nvPr>
            <p:ph type="title"/>
          </p:nvPr>
        </p:nvSpPr>
        <p:spPr>
          <a:xfrm>
            <a:off x="533400" y="260350"/>
            <a:ext cx="8077200" cy="1066800"/>
          </a:xfrm>
        </p:spPr>
        <p:txBody>
          <a:bodyPr/>
          <a:lstStyle/>
          <a:p>
            <a:r>
              <a:rPr lang="zh-CN" altLang="en-US" b="1" u="sng">
                <a:solidFill>
                  <a:schemeClr val="folHlink"/>
                </a:solidFill>
                <a:ea typeface="仿宋_GB2312" pitchFamily="1" charset="-122"/>
              </a:rPr>
              <a:t>文件保护</a:t>
            </a:r>
            <a:r>
              <a:rPr lang="zh-CN" altLang="en-US">
                <a:solidFill>
                  <a:schemeClr val="folHlink"/>
                </a:solidFill>
              </a:rPr>
              <a:t> </a:t>
            </a:r>
            <a:endParaRPr lang="zh-CN" altLang="en-US">
              <a:solidFill>
                <a:schemeClr val="folHlink"/>
              </a:solidFill>
            </a:endParaRPr>
          </a:p>
        </p:txBody>
      </p:sp>
      <p:sp>
        <p:nvSpPr>
          <p:cNvPr id="216067" name="Rectangle 3"/>
          <p:cNvSpPr>
            <a:spLocks noGrp="1" noRot="1" noChangeArrowheads="1"/>
          </p:cNvSpPr>
          <p:nvPr>
            <p:ph type="body" idx="1"/>
          </p:nvPr>
        </p:nvSpPr>
        <p:spPr>
          <a:xfrm>
            <a:off x="539750" y="1501793"/>
            <a:ext cx="8077200" cy="4498975"/>
          </a:xfrm>
        </p:spPr>
        <p:txBody>
          <a:bodyPr/>
          <a:lstStyle/>
          <a:p>
            <a:pPr algn="just">
              <a:lnSpc>
                <a:spcPct val="110000"/>
              </a:lnSpc>
            </a:pPr>
            <a:r>
              <a:rPr lang="zh-CN" altLang="en-US" sz="2800" b="1" dirty="0" smtClean="0"/>
              <a:t>不同对象允许实施的操作各不相同。例如，文件可施加读、写、执行等操作，信号量只能施加</a:t>
            </a:r>
            <a:r>
              <a:rPr lang="en-US" altLang="zh-CN" sz="2800" b="1" dirty="0" smtClean="0"/>
              <a:t>wait()</a:t>
            </a:r>
            <a:r>
              <a:rPr lang="zh-CN" altLang="en-US" sz="2800" b="1" dirty="0" smtClean="0"/>
              <a:t>和</a:t>
            </a:r>
            <a:r>
              <a:rPr lang="en-US" altLang="zh-CN" sz="2800" b="1" dirty="0" smtClean="0"/>
              <a:t>signal()</a:t>
            </a:r>
            <a:r>
              <a:rPr lang="zh-CN" altLang="en-US" sz="2800" b="1" dirty="0" smtClean="0"/>
              <a:t>操作。</a:t>
            </a:r>
            <a:endParaRPr lang="zh-CN" altLang="en-US" sz="2800" b="1" dirty="0" smtClean="0"/>
          </a:p>
          <a:p>
            <a:pPr algn="just">
              <a:lnSpc>
                <a:spcPct val="110000"/>
              </a:lnSpc>
            </a:pPr>
            <a:r>
              <a:rPr lang="zh-CN" altLang="en-US" sz="2800" b="1" dirty="0" smtClean="0"/>
              <a:t>因此，</a:t>
            </a:r>
            <a:r>
              <a:rPr lang="zh-CN" altLang="en-US" b="1" i="1" u="sng" dirty="0">
                <a:solidFill>
                  <a:schemeClr val="folHlink"/>
                </a:solidFill>
                <a:effectLst>
                  <a:outerShdw blurRad="38100" dist="38100" dir="2700000" algn="tl">
                    <a:srgbClr val="000000"/>
                  </a:outerShdw>
                </a:effectLst>
                <a:ea typeface="仿宋_GB2312" pitchFamily="1" charset="-122"/>
              </a:rPr>
              <a:t>系统为所有对象设置一个允许进程实施操作的操作集</a:t>
            </a:r>
            <a:r>
              <a:rPr lang="zh-CN" altLang="en-US" b="1" dirty="0">
                <a:effectLst>
                  <a:outerShdw blurRad="38100" dist="38100" dir="2700000" algn="tl">
                    <a:srgbClr val="000000"/>
                  </a:outerShdw>
                </a:effectLst>
                <a:ea typeface="仿宋_GB2312" pitchFamily="1" charset="-122"/>
              </a:rPr>
              <a:t>，</a:t>
            </a:r>
            <a:r>
              <a:rPr lang="zh-CN" altLang="en-US" sz="2800" b="1" dirty="0" smtClean="0"/>
              <a:t>任何对对象的操作必须符合操作集中的规定，防止未授权进程访问对象。</a:t>
            </a:r>
            <a:endParaRPr lang="zh-CN" altLang="en-US" sz="2800" b="1" dirty="0" smtClean="0"/>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Rot="1" noChangeArrowheads="1"/>
          </p:cNvSpPr>
          <p:nvPr>
            <p:ph type="title"/>
          </p:nvPr>
        </p:nvSpPr>
        <p:spPr/>
        <p:txBody>
          <a:bodyPr/>
          <a:lstStyle/>
          <a:p>
            <a:r>
              <a:rPr lang="zh-CN" altLang="en-US" b="1" u="sng">
                <a:solidFill>
                  <a:schemeClr val="folHlink"/>
                </a:solidFill>
                <a:ea typeface="仿宋_GB2312" pitchFamily="1" charset="-122"/>
              </a:rPr>
              <a:t>安全性管理</a:t>
            </a:r>
            <a:r>
              <a:rPr lang="zh-CN" altLang="en-US">
                <a:solidFill>
                  <a:schemeClr val="folHlink"/>
                </a:solidFill>
              </a:rPr>
              <a:t> </a:t>
            </a:r>
            <a:endParaRPr lang="zh-CN" altLang="en-US">
              <a:solidFill>
                <a:schemeClr val="folHlink"/>
              </a:solidFill>
            </a:endParaRPr>
          </a:p>
        </p:txBody>
      </p:sp>
      <p:sp>
        <p:nvSpPr>
          <p:cNvPr id="217091" name="Rectangle 3"/>
          <p:cNvSpPr>
            <a:spLocks noGrp="1" noRot="1" noChangeArrowheads="1"/>
          </p:cNvSpPr>
          <p:nvPr>
            <p:ph type="body" idx="1"/>
          </p:nvPr>
        </p:nvSpPr>
        <p:spPr/>
        <p:txBody>
          <a:bodyPr/>
          <a:lstStyle/>
          <a:p>
            <a:r>
              <a:rPr lang="zh-CN" altLang="en-US" b="1">
                <a:effectLst>
                  <a:outerShdw blurRad="38100" dist="38100" dir="2700000" algn="tl">
                    <a:srgbClr val="000000"/>
                  </a:outerShdw>
                </a:effectLst>
                <a:ea typeface="仿宋_GB2312" pitchFamily="1" charset="-122"/>
              </a:rPr>
              <a:t>系统级管理</a:t>
            </a:r>
            <a:endParaRPr lang="zh-CN" altLang="en-US" b="1">
              <a:effectLst>
                <a:outerShdw blurRad="38100" dist="38100" dir="2700000" algn="tl">
                  <a:srgbClr val="000000"/>
                </a:outerShdw>
              </a:effectLst>
              <a:ea typeface="仿宋_GB2312" pitchFamily="1" charset="-122"/>
            </a:endParaRPr>
          </a:p>
          <a:p>
            <a:endParaRPr lang="zh-CN" altLang="en-US" b="1">
              <a:effectLst>
                <a:outerShdw blurRad="38100" dist="38100" dir="2700000" algn="tl">
                  <a:srgbClr val="000000"/>
                </a:outerShdw>
              </a:effectLst>
              <a:ea typeface="仿宋_GB2312" pitchFamily="1" charset="-122"/>
            </a:endParaRPr>
          </a:p>
          <a:p>
            <a:r>
              <a:rPr lang="zh-CN" altLang="en-US" b="1">
                <a:effectLst>
                  <a:outerShdw blurRad="38100" dist="38100" dir="2700000" algn="tl">
                    <a:srgbClr val="000000"/>
                  </a:outerShdw>
                </a:effectLst>
                <a:ea typeface="仿宋_GB2312" pitchFamily="1" charset="-122"/>
              </a:rPr>
              <a:t>用户级管理</a:t>
            </a:r>
            <a:endParaRPr lang="zh-CN" altLang="en-US" b="1">
              <a:effectLst>
                <a:outerShdw blurRad="38100" dist="38100" dir="2700000" algn="tl">
                  <a:srgbClr val="000000"/>
                </a:outerShdw>
              </a:effectLst>
              <a:ea typeface="仿宋_GB2312" pitchFamily="1" charset="-122"/>
            </a:endParaRPr>
          </a:p>
          <a:p>
            <a:endParaRPr lang="zh-CN" altLang="en-US" b="1">
              <a:effectLst>
                <a:outerShdw blurRad="38100" dist="38100" dir="2700000" algn="tl">
                  <a:srgbClr val="000000"/>
                </a:outerShdw>
              </a:effectLst>
              <a:ea typeface="仿宋_GB2312" pitchFamily="1" charset="-122"/>
            </a:endParaRPr>
          </a:p>
          <a:p>
            <a:r>
              <a:rPr lang="zh-CN" altLang="en-US" b="1">
                <a:effectLst>
                  <a:outerShdw blurRad="38100" dist="38100" dir="2700000" algn="tl">
                    <a:srgbClr val="000000"/>
                  </a:outerShdw>
                </a:effectLst>
                <a:ea typeface="仿宋_GB2312" pitchFamily="1" charset="-122"/>
              </a:rPr>
              <a:t>目录级管理</a:t>
            </a:r>
            <a:endParaRPr lang="zh-CN" altLang="en-US" b="1">
              <a:effectLst>
                <a:outerShdw blurRad="38100" dist="38100" dir="2700000" algn="tl">
                  <a:srgbClr val="000000"/>
                </a:outerShdw>
              </a:effectLst>
              <a:ea typeface="仿宋_GB2312" pitchFamily="1" charset="-122"/>
            </a:endParaRPr>
          </a:p>
          <a:p>
            <a:endParaRPr lang="zh-CN" altLang="en-US" b="1">
              <a:effectLst>
                <a:outerShdw blurRad="38100" dist="38100" dir="2700000" algn="tl">
                  <a:srgbClr val="000000"/>
                </a:outerShdw>
              </a:effectLst>
              <a:ea typeface="仿宋_GB2312" pitchFamily="1" charset="-122"/>
            </a:endParaRPr>
          </a:p>
          <a:p>
            <a:r>
              <a:rPr lang="zh-CN" altLang="en-US" b="1">
                <a:effectLst>
                  <a:outerShdw blurRad="38100" dist="38100" dir="2700000" algn="tl">
                    <a:srgbClr val="000000"/>
                  </a:outerShdw>
                </a:effectLst>
                <a:ea typeface="仿宋_GB2312" pitchFamily="1" charset="-122"/>
              </a:rPr>
              <a:t>文件级管理</a:t>
            </a:r>
            <a:r>
              <a:rPr lang="zh-CN" altLang="en-US"/>
              <a:t> </a:t>
            </a:r>
            <a:endParaRPr lang="zh-CN" altLang="en-US"/>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Rot="1" noChangeArrowheads="1"/>
          </p:cNvSpPr>
          <p:nvPr>
            <p:ph type="title"/>
          </p:nvPr>
        </p:nvSpPr>
        <p:spPr>
          <a:xfrm>
            <a:off x="533400" y="260350"/>
            <a:ext cx="8077200" cy="1066800"/>
          </a:xfrm>
        </p:spPr>
        <p:txBody>
          <a:bodyPr/>
          <a:lstStyle/>
          <a:p>
            <a:r>
              <a:rPr lang="zh-CN" altLang="en-US" b="1" u="sng">
                <a:solidFill>
                  <a:schemeClr val="folHlink"/>
                </a:solidFill>
                <a:ea typeface="仿宋_GB2312" pitchFamily="1" charset="-122"/>
              </a:rPr>
              <a:t>系统级安全管理</a:t>
            </a:r>
            <a:r>
              <a:rPr lang="zh-CN" altLang="en-US">
                <a:solidFill>
                  <a:schemeClr val="folHlink"/>
                </a:solidFill>
              </a:rPr>
              <a:t> </a:t>
            </a:r>
            <a:endParaRPr lang="zh-CN" altLang="en-US">
              <a:solidFill>
                <a:schemeClr val="folHlink"/>
              </a:solidFill>
            </a:endParaRPr>
          </a:p>
        </p:txBody>
      </p:sp>
      <p:sp>
        <p:nvSpPr>
          <p:cNvPr id="218115" name="Rectangle 3"/>
          <p:cNvSpPr>
            <a:spLocks noGrp="1" noRot="1" noChangeArrowheads="1"/>
          </p:cNvSpPr>
          <p:nvPr>
            <p:ph type="body" idx="1"/>
          </p:nvPr>
        </p:nvSpPr>
        <p:spPr>
          <a:xfrm>
            <a:off x="533400" y="1476375"/>
            <a:ext cx="8077200" cy="4498975"/>
          </a:xfrm>
        </p:spPr>
        <p:txBody>
          <a:bodyPr/>
          <a:lstStyle/>
          <a:p>
            <a:pPr algn="just">
              <a:lnSpc>
                <a:spcPct val="110000"/>
              </a:lnSpc>
            </a:pPr>
            <a:r>
              <a:rPr lang="zh-CN" altLang="en-US" sz="2800" b="1" dirty="0" smtClean="0"/>
              <a:t>主要任务，是防止未核准用户进入系统，以保证系统资源不得非法使用。</a:t>
            </a:r>
            <a:endParaRPr lang="zh-CN" altLang="en-US" sz="2800" b="1" dirty="0" smtClean="0"/>
          </a:p>
          <a:p>
            <a:pPr algn="just">
              <a:lnSpc>
                <a:spcPct val="110000"/>
              </a:lnSpc>
            </a:pPr>
            <a:r>
              <a:rPr lang="zh-CN" altLang="en-US" sz="2800" b="1" dirty="0" smtClean="0"/>
              <a:t>系统级安全管理必须确认用户的合法性。</a:t>
            </a:r>
            <a:endParaRPr lang="zh-CN" altLang="en-US" sz="2800" b="1" dirty="0" smtClean="0"/>
          </a:p>
          <a:p>
            <a:pPr algn="just">
              <a:lnSpc>
                <a:spcPct val="110000"/>
              </a:lnSpc>
            </a:pPr>
            <a:r>
              <a:rPr lang="zh-CN" altLang="en-US" sz="2800" b="1" i="1" u="sng" dirty="0">
                <a:solidFill>
                  <a:schemeClr val="folHlink"/>
                </a:solidFill>
                <a:effectLst>
                  <a:outerShdw blurRad="38100" dist="38100" dir="2700000" algn="tl">
                    <a:srgbClr val="000000"/>
                  </a:outerShdw>
                </a:effectLst>
                <a:latin typeface="仿宋_GB2312" pitchFamily="1" charset="-122"/>
                <a:ea typeface="仿宋_GB2312" pitchFamily="1" charset="-122"/>
              </a:rPr>
              <a:t>系统管理员首先为该系统的所有合法用户设置一张用户注册表</a:t>
            </a:r>
            <a:r>
              <a:rPr lang="zh-CN" altLang="en-US" sz="2800" b="1" dirty="0">
                <a:effectLst>
                  <a:outerShdw blurRad="38100" dist="38100" dir="2700000" algn="tl">
                    <a:srgbClr val="000000"/>
                  </a:outerShdw>
                </a:effectLst>
                <a:latin typeface="仿宋_GB2312" pitchFamily="1" charset="-122"/>
                <a:ea typeface="仿宋_GB2312" pitchFamily="1" charset="-122"/>
              </a:rPr>
              <a:t>，</a:t>
            </a:r>
            <a:r>
              <a:rPr lang="zh-CN" altLang="en-US" sz="2800" b="1" dirty="0" smtClean="0"/>
              <a:t>每个合法用户占一个表项。表项的主要内容有用户名、口令、用户类型、操作时间等。</a:t>
            </a:r>
            <a:endParaRPr lang="zh-CN" altLang="en-US" sz="2800" b="1" dirty="0" smtClean="0"/>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Rot="1" noChangeArrowheads="1"/>
          </p:cNvSpPr>
          <p:nvPr>
            <p:ph type="title"/>
          </p:nvPr>
        </p:nvSpPr>
        <p:spPr>
          <a:xfrm>
            <a:off x="533400" y="188913"/>
            <a:ext cx="8077200" cy="1066800"/>
          </a:xfrm>
        </p:spPr>
        <p:txBody>
          <a:bodyPr/>
          <a:lstStyle/>
          <a:p>
            <a:r>
              <a:rPr lang="zh-CN" altLang="en-US" b="1" u="sng">
                <a:solidFill>
                  <a:schemeClr val="folHlink"/>
                </a:solidFill>
                <a:ea typeface="仿宋_GB2312" pitchFamily="1" charset="-122"/>
              </a:rPr>
              <a:t>系统级安全管理</a:t>
            </a:r>
            <a:r>
              <a:rPr lang="zh-CN" altLang="en-US">
                <a:solidFill>
                  <a:schemeClr val="folHlink"/>
                </a:solidFill>
              </a:rPr>
              <a:t> </a:t>
            </a:r>
            <a:endParaRPr lang="zh-CN" altLang="en-US">
              <a:solidFill>
                <a:schemeClr val="folHlink"/>
              </a:solidFill>
            </a:endParaRPr>
          </a:p>
        </p:txBody>
      </p:sp>
      <p:sp>
        <p:nvSpPr>
          <p:cNvPr id="219139" name="Rectangle 3"/>
          <p:cNvSpPr>
            <a:spLocks noGrp="1" noRot="1" noChangeArrowheads="1"/>
          </p:cNvSpPr>
          <p:nvPr>
            <p:ph type="body" idx="1"/>
          </p:nvPr>
        </p:nvSpPr>
        <p:spPr>
          <a:xfrm>
            <a:off x="533400" y="1377950"/>
            <a:ext cx="8077200" cy="4498975"/>
          </a:xfrm>
        </p:spPr>
        <p:txBody>
          <a:bodyPr/>
          <a:lstStyle/>
          <a:p>
            <a:pPr algn="just">
              <a:lnSpc>
                <a:spcPct val="110000"/>
              </a:lnSpc>
            </a:pPr>
            <a:r>
              <a:rPr lang="zh-CN" altLang="en-US" sz="2800" b="1" i="1" u="sng" dirty="0">
                <a:solidFill>
                  <a:schemeClr val="folHlink"/>
                </a:solidFill>
                <a:effectLst>
                  <a:outerShdw blurRad="38100" dist="38100" dir="2700000" algn="tl">
                    <a:srgbClr val="000000"/>
                  </a:outerShdw>
                </a:effectLst>
                <a:latin typeface="仿宋_GB2312" pitchFamily="1" charset="-122"/>
                <a:ea typeface="仿宋_GB2312" pitchFamily="1" charset="-122"/>
              </a:rPr>
              <a:t>用户首先向系统申请合法身份。</a:t>
            </a:r>
            <a:r>
              <a:rPr lang="zh-CN" altLang="en-US" sz="2800" b="1" dirty="0" smtClean="0"/>
              <a:t>系统管理员在用户注册表中为之建立一个表项，登记用户名、口令等信息。</a:t>
            </a:r>
            <a:endParaRPr lang="zh-CN" altLang="en-US" sz="2800" b="1" dirty="0" smtClean="0"/>
          </a:p>
          <a:p>
            <a:pPr algn="just">
              <a:lnSpc>
                <a:spcPct val="110000"/>
              </a:lnSpc>
            </a:pPr>
            <a:r>
              <a:rPr lang="zh-CN" altLang="en-US" sz="2800" b="1" dirty="0" smtClean="0"/>
              <a:t>当用户不再需要使用该系统时，系统管理员负责将该用户在用户注册表中对应的表项删除。</a:t>
            </a:r>
            <a:endParaRPr lang="zh-CN" altLang="en-US" sz="2800" b="1" dirty="0" smtClean="0"/>
          </a:p>
          <a:p>
            <a:pPr algn="just">
              <a:lnSpc>
                <a:spcPct val="110000"/>
              </a:lnSpc>
            </a:pPr>
            <a:r>
              <a:rPr lang="zh-CN" altLang="en-US" sz="2800" b="1" dirty="0" smtClean="0"/>
              <a:t>若用户所对应的表项被删除，则不能再进入系统，除非重新注册。</a:t>
            </a:r>
            <a:endParaRPr lang="zh-CN" altLang="en-US" sz="2800" b="1" dirty="0" smtClean="0"/>
          </a:p>
          <a:p>
            <a:pPr algn="just">
              <a:lnSpc>
                <a:spcPct val="110000"/>
              </a:lnSpc>
            </a:pPr>
            <a:r>
              <a:rPr lang="zh-CN" altLang="en-US" sz="2800" b="1" i="1" u="sng" dirty="0">
                <a:solidFill>
                  <a:schemeClr val="folHlink"/>
                </a:solidFill>
                <a:effectLst>
                  <a:outerShdw blurRad="38100" dist="38100" dir="2700000" algn="tl">
                    <a:srgbClr val="000000"/>
                  </a:outerShdw>
                </a:effectLst>
                <a:latin typeface="仿宋_GB2312" pitchFamily="1" charset="-122"/>
                <a:ea typeface="仿宋_GB2312" pitchFamily="1" charset="-122"/>
              </a:rPr>
              <a:t>一个系统中允许同时注册的用户数目是有限的。</a:t>
            </a:r>
            <a:endParaRPr lang="zh-CN" altLang="en-US" sz="2800" b="1" i="1" u="sng" dirty="0">
              <a:solidFill>
                <a:schemeClr val="folHlink"/>
              </a:solidFill>
              <a:effectLst>
                <a:outerShdw blurRad="38100" dist="38100" dir="2700000" algn="tl">
                  <a:srgbClr val="000000"/>
                </a:outerShdw>
              </a:effectLst>
              <a:latin typeface="仿宋_GB2312" pitchFamily="1" charset="-122"/>
              <a:ea typeface="仿宋_GB2312" pitchFamily="1" charset="-122"/>
            </a:endParaRPr>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Rot="1" noChangeArrowheads="1"/>
          </p:cNvSpPr>
          <p:nvPr>
            <p:ph type="title"/>
          </p:nvPr>
        </p:nvSpPr>
        <p:spPr>
          <a:xfrm>
            <a:off x="533400" y="188913"/>
            <a:ext cx="8077200" cy="1066800"/>
          </a:xfrm>
        </p:spPr>
        <p:txBody>
          <a:bodyPr/>
          <a:lstStyle/>
          <a:p>
            <a:r>
              <a:rPr lang="zh-CN" altLang="en-US" b="1" u="sng">
                <a:solidFill>
                  <a:schemeClr val="folHlink"/>
                </a:solidFill>
                <a:ea typeface="仿宋_GB2312" pitchFamily="1" charset="-122"/>
              </a:rPr>
              <a:t>系统级安全管理</a:t>
            </a:r>
            <a:endParaRPr lang="zh-CN" altLang="en-US" b="1" u="sng">
              <a:solidFill>
                <a:schemeClr val="folHlink"/>
              </a:solidFill>
              <a:ea typeface="仿宋_GB2312" pitchFamily="1" charset="-122"/>
            </a:endParaRPr>
          </a:p>
        </p:txBody>
      </p:sp>
      <p:sp>
        <p:nvSpPr>
          <p:cNvPr id="220163" name="Rectangle 3"/>
          <p:cNvSpPr>
            <a:spLocks noGrp="1" noRot="1" noChangeArrowheads="1"/>
          </p:cNvSpPr>
          <p:nvPr>
            <p:ph type="body" idx="1"/>
          </p:nvPr>
        </p:nvSpPr>
        <p:spPr>
          <a:xfrm>
            <a:off x="604838" y="1522413"/>
            <a:ext cx="7783512" cy="4498975"/>
          </a:xfrm>
        </p:spPr>
        <p:txBody>
          <a:bodyPr/>
          <a:lstStyle/>
          <a:p>
            <a:pPr algn="just">
              <a:lnSpc>
                <a:spcPct val="110000"/>
              </a:lnSpc>
            </a:pPr>
            <a:r>
              <a:rPr lang="zh-CN" altLang="en-US" sz="2800" b="1" dirty="0" smtClean="0"/>
              <a:t>当用户成为系统的合法用户之后，还必须登录才能使用系统。</a:t>
            </a:r>
            <a:endParaRPr lang="zh-CN" altLang="en-US" sz="2800" b="1" dirty="0" smtClean="0"/>
          </a:p>
          <a:p>
            <a:pPr algn="just">
              <a:lnSpc>
                <a:spcPct val="110000"/>
              </a:lnSpc>
            </a:pPr>
            <a:r>
              <a:rPr lang="zh-CN" altLang="en-US" sz="2800" b="1" i="1" u="sng" dirty="0">
                <a:solidFill>
                  <a:schemeClr val="folHlink"/>
                </a:solidFill>
                <a:effectLst>
                  <a:outerShdw blurRad="38100" dist="38100" dir="2700000" algn="tl">
                    <a:srgbClr val="000000"/>
                  </a:outerShdw>
                </a:effectLst>
                <a:ea typeface="仿宋_GB2312" pitchFamily="1" charset="-122"/>
              </a:rPr>
              <a:t>登录系统的目的，是通过核实该用户的用户名及口令来验证该用户使用系统的合法性。</a:t>
            </a:r>
            <a:endParaRPr lang="zh-CN" altLang="en-US" sz="2800" b="1" i="1" u="sng" dirty="0">
              <a:solidFill>
                <a:schemeClr val="folHlink"/>
              </a:solidFill>
              <a:effectLst>
                <a:outerShdw blurRad="38100" dist="38100" dir="2700000" algn="tl">
                  <a:srgbClr val="000000"/>
                </a:outerShdw>
              </a:effectLst>
              <a:ea typeface="仿宋_GB2312" pitchFamily="1" charset="-122"/>
            </a:endParaRPr>
          </a:p>
          <a:p>
            <a:pPr algn="just">
              <a:lnSpc>
                <a:spcPct val="110000"/>
              </a:lnSpc>
            </a:pPr>
            <a:r>
              <a:rPr lang="zh-CN" altLang="en-US" sz="2800" b="1" dirty="0" smtClean="0"/>
              <a:t>当系统接收到用户名和口令以后，将其与用户注册表中的各表项逐一比较，只有用户名和口令同时匹配某表项的对应内容时，用户才能登录系统。</a:t>
            </a:r>
            <a:endParaRPr lang="zh-CN" altLang="en-US" sz="2800" b="1" dirty="0" smtClean="0"/>
          </a:p>
          <a:p>
            <a:pPr>
              <a:lnSpc>
                <a:spcPct val="110000"/>
              </a:lnSpc>
            </a:pPr>
            <a:endParaRPr lang="en-US" altLang="zh-CN" sz="2800" b="1" dirty="0">
              <a:effectLst>
                <a:outerShdw blurRad="38100" dist="38100" dir="2700000" algn="tl">
                  <a:srgbClr val="000000"/>
                </a:outerShdw>
              </a:effectLst>
              <a:ea typeface="仿宋_GB2312" pitchFamily="1" charset="-122"/>
            </a:endParaRPr>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Rot="1" noChangeArrowheads="1"/>
          </p:cNvSpPr>
          <p:nvPr>
            <p:ph type="title"/>
          </p:nvPr>
        </p:nvSpPr>
        <p:spPr>
          <a:xfrm>
            <a:off x="533400" y="188913"/>
            <a:ext cx="8077200" cy="1066800"/>
          </a:xfrm>
        </p:spPr>
        <p:txBody>
          <a:bodyPr/>
          <a:lstStyle/>
          <a:p>
            <a:r>
              <a:rPr lang="zh-CN" altLang="en-US" b="1" u="sng">
                <a:solidFill>
                  <a:schemeClr val="folHlink"/>
                </a:solidFill>
                <a:ea typeface="仿宋_GB2312" pitchFamily="1" charset="-122"/>
              </a:rPr>
              <a:t>用户级管理</a:t>
            </a:r>
            <a:r>
              <a:rPr lang="zh-CN" altLang="en-US" b="1">
                <a:solidFill>
                  <a:schemeClr val="folHlink"/>
                </a:solidFill>
                <a:ea typeface="仿宋_GB2312" pitchFamily="1" charset="-122"/>
              </a:rPr>
              <a:t>：用户分类</a:t>
            </a:r>
            <a:r>
              <a:rPr lang="zh-CN" altLang="en-US">
                <a:solidFill>
                  <a:schemeClr val="folHlink"/>
                </a:solidFill>
              </a:rPr>
              <a:t> </a:t>
            </a:r>
            <a:endParaRPr lang="zh-CN" altLang="en-US">
              <a:solidFill>
                <a:schemeClr val="folHlink"/>
              </a:solidFill>
            </a:endParaRPr>
          </a:p>
        </p:txBody>
      </p:sp>
      <p:sp>
        <p:nvSpPr>
          <p:cNvPr id="221187" name="Rectangle 3"/>
          <p:cNvSpPr>
            <a:spLocks noGrp="1" noRot="1" noChangeArrowheads="1"/>
          </p:cNvSpPr>
          <p:nvPr>
            <p:ph type="body" idx="1"/>
          </p:nvPr>
        </p:nvSpPr>
        <p:spPr>
          <a:xfrm>
            <a:off x="533400" y="1404938"/>
            <a:ext cx="8077200" cy="4498975"/>
          </a:xfrm>
        </p:spPr>
        <p:txBody>
          <a:bodyPr/>
          <a:lstStyle/>
          <a:p>
            <a:pPr algn="just">
              <a:lnSpc>
                <a:spcPct val="110000"/>
              </a:lnSpc>
            </a:pPr>
            <a:r>
              <a:rPr lang="zh-CN" altLang="en-US" sz="2800" b="1" dirty="0" smtClean="0"/>
              <a:t>根据用户的性质、要求及访问的文件属性为用户分配“</a:t>
            </a:r>
            <a:r>
              <a:rPr lang="zh-CN" altLang="en-US" sz="2800" b="1" i="1" u="sng" dirty="0">
                <a:solidFill>
                  <a:schemeClr val="folHlink"/>
                </a:solidFill>
                <a:effectLst>
                  <a:outerShdw blurRad="38100" dist="38100" dir="2700000" algn="tl">
                    <a:srgbClr val="000000"/>
                  </a:outerShdw>
                </a:effectLst>
                <a:ea typeface="仿宋_GB2312" pitchFamily="1" charset="-122"/>
              </a:rPr>
              <a:t>文件访问权限</a:t>
            </a:r>
            <a:r>
              <a:rPr lang="zh-CN" altLang="en-US" sz="2800" b="1" dirty="0">
                <a:effectLst>
                  <a:outerShdw blurRad="38100" dist="38100" dir="2700000" algn="tl">
                    <a:srgbClr val="000000"/>
                  </a:outerShdw>
                </a:effectLst>
                <a:ea typeface="仿宋_GB2312" pitchFamily="1" charset="-122"/>
              </a:rPr>
              <a:t>”。</a:t>
            </a:r>
            <a:endParaRPr lang="zh-CN" altLang="en-US" sz="2800" b="1" dirty="0">
              <a:effectLst>
                <a:outerShdw blurRad="38100" dist="38100" dir="2700000" algn="tl">
                  <a:srgbClr val="000000"/>
                </a:outerShdw>
              </a:effectLst>
              <a:ea typeface="仿宋_GB2312" pitchFamily="1" charset="-122"/>
            </a:endParaRPr>
          </a:p>
          <a:p>
            <a:pPr algn="just">
              <a:lnSpc>
                <a:spcPct val="110000"/>
              </a:lnSpc>
            </a:pPr>
            <a:r>
              <a:rPr lang="zh-CN" altLang="en-US" sz="2800" b="1" dirty="0" smtClean="0"/>
              <a:t>用户级安全管理包括：</a:t>
            </a:r>
            <a:r>
              <a:rPr lang="zh-CN" altLang="en-US" sz="2800" b="1" i="1" u="sng" dirty="0">
                <a:solidFill>
                  <a:schemeClr val="folHlink"/>
                </a:solidFill>
                <a:effectLst>
                  <a:outerShdw blurRad="38100" dist="38100" dir="2700000" algn="tl">
                    <a:srgbClr val="000000"/>
                  </a:outerShdw>
                </a:effectLst>
                <a:ea typeface="仿宋_GB2312" pitchFamily="1" charset="-122"/>
              </a:rPr>
              <a:t>对用户分类和为指定用户分配文件访问权两个方面。</a:t>
            </a:r>
            <a:endParaRPr lang="zh-CN" altLang="en-US" sz="2800" b="1" i="1" u="sng" dirty="0">
              <a:solidFill>
                <a:schemeClr val="folHlink"/>
              </a:solidFill>
              <a:effectLst>
                <a:outerShdw blurRad="38100" dist="38100" dir="2700000" algn="tl">
                  <a:srgbClr val="000000"/>
                </a:outerShdw>
              </a:effectLst>
              <a:ea typeface="仿宋_GB2312" pitchFamily="1" charset="-122"/>
            </a:endParaRPr>
          </a:p>
          <a:p>
            <a:pPr>
              <a:lnSpc>
                <a:spcPct val="110000"/>
              </a:lnSpc>
            </a:pPr>
            <a:r>
              <a:rPr lang="zh-CN" altLang="en-US" sz="2800" b="1" dirty="0" smtClean="0"/>
              <a:t>不同系统对用户的分类方法各不相同。有的系统将用户分为文件主、同组用户以及其他用户。</a:t>
            </a:r>
            <a:endParaRPr lang="zh-CN" altLang="en-US" sz="2800" b="1" dirty="0" smtClean="0"/>
          </a:p>
          <a:p>
            <a:pPr>
              <a:lnSpc>
                <a:spcPct val="110000"/>
              </a:lnSpc>
            </a:pPr>
            <a:r>
              <a:rPr lang="zh-CN" altLang="en-US" sz="2800" b="1" dirty="0" smtClean="0"/>
              <a:t>另一些系统则将用户分为超级用户、系统操作员、一般用户和客户。 </a:t>
            </a:r>
            <a:endParaRPr lang="zh-CN" altLang="en-US" sz="2800" b="1" dirty="0" smtClean="0"/>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Rot="1" noChangeArrowheads="1"/>
          </p:cNvSpPr>
          <p:nvPr>
            <p:ph type="title"/>
          </p:nvPr>
        </p:nvSpPr>
        <p:spPr>
          <a:xfrm>
            <a:off x="455613" y="188913"/>
            <a:ext cx="8077200" cy="1066800"/>
          </a:xfrm>
        </p:spPr>
        <p:txBody>
          <a:bodyPr/>
          <a:lstStyle/>
          <a:p>
            <a:r>
              <a:rPr lang="zh-CN" altLang="en-US" b="1" u="sng">
                <a:solidFill>
                  <a:schemeClr val="folHlink"/>
                </a:solidFill>
                <a:ea typeface="仿宋_GB2312" pitchFamily="1" charset="-122"/>
              </a:rPr>
              <a:t>用户级管理</a:t>
            </a:r>
            <a:r>
              <a:rPr lang="zh-CN" altLang="en-US" b="1">
                <a:solidFill>
                  <a:schemeClr val="folHlink"/>
                </a:solidFill>
                <a:ea typeface="仿宋_GB2312" pitchFamily="1" charset="-122"/>
              </a:rPr>
              <a:t>：文件访问权限</a:t>
            </a:r>
            <a:endParaRPr lang="zh-CN" altLang="en-US" b="1">
              <a:solidFill>
                <a:schemeClr val="folHlink"/>
              </a:solidFill>
              <a:ea typeface="仿宋_GB2312" pitchFamily="1" charset="-122"/>
            </a:endParaRPr>
          </a:p>
        </p:txBody>
      </p:sp>
      <p:sp>
        <p:nvSpPr>
          <p:cNvPr id="222211" name="Rectangle 3"/>
          <p:cNvSpPr>
            <a:spLocks noGrp="1" noRot="1" noChangeArrowheads="1"/>
          </p:cNvSpPr>
          <p:nvPr>
            <p:ph type="body" idx="1"/>
          </p:nvPr>
        </p:nvSpPr>
        <p:spPr>
          <a:xfrm>
            <a:off x="455613" y="1404938"/>
            <a:ext cx="8077200" cy="4498975"/>
          </a:xfrm>
        </p:spPr>
        <p:txBody>
          <a:bodyPr/>
          <a:lstStyle/>
          <a:p>
            <a:pPr algn="just">
              <a:lnSpc>
                <a:spcPct val="110000"/>
              </a:lnSpc>
            </a:pPr>
            <a:r>
              <a:rPr lang="zh-CN" altLang="en-US" sz="2800" b="1" dirty="0" smtClean="0"/>
              <a:t>文件访问权仅赋予系统的合法登录用户，由于文件目录也作为文件看待，</a:t>
            </a:r>
            <a:r>
              <a:rPr lang="zh-CN" altLang="en-US" b="1" i="1" u="sng" dirty="0">
                <a:solidFill>
                  <a:schemeClr val="folHlink"/>
                </a:solidFill>
                <a:effectLst>
                  <a:outerShdw blurRad="38100" dist="38100" dir="2700000" algn="tl">
                    <a:srgbClr val="000000"/>
                  </a:outerShdw>
                </a:effectLst>
                <a:latin typeface="仿宋_GB2312" pitchFamily="1" charset="-122"/>
                <a:ea typeface="仿宋_GB2312" pitchFamily="1" charset="-122"/>
              </a:rPr>
              <a:t>当为某用户赋予指定目录的访问权时，该用户便具有对该目录下的所有子目录和文件的访问权。</a:t>
            </a:r>
            <a:endParaRPr lang="zh-CN" altLang="en-US" b="1" i="1" u="sng" dirty="0">
              <a:solidFill>
                <a:schemeClr val="folHlink"/>
              </a:solidFill>
              <a:effectLst>
                <a:outerShdw blurRad="38100" dist="38100" dir="2700000" algn="tl">
                  <a:srgbClr val="000000"/>
                </a:outerShdw>
              </a:effectLst>
              <a:latin typeface="仿宋_GB2312" pitchFamily="1" charset="-122"/>
              <a:ea typeface="仿宋_GB2312" pitchFamily="1" charset="-122"/>
            </a:endParaRPr>
          </a:p>
          <a:p>
            <a:pPr algn="just">
              <a:lnSpc>
                <a:spcPct val="110000"/>
              </a:lnSpc>
            </a:pPr>
            <a:r>
              <a:rPr lang="zh-CN" altLang="en-US" sz="2800" b="1" dirty="0" smtClean="0"/>
              <a:t>某种访问权也可赋予一个用户组，使同组内各用户都具有这种访问权。</a:t>
            </a:r>
            <a:endParaRPr lang="zh-CN" altLang="en-US" sz="2800" b="1" dirty="0" smtClean="0"/>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Rot="1" noChangeArrowheads="1"/>
          </p:cNvSpPr>
          <p:nvPr>
            <p:ph type="title"/>
          </p:nvPr>
        </p:nvSpPr>
        <p:spPr>
          <a:xfrm>
            <a:off x="533400" y="188913"/>
            <a:ext cx="8077200" cy="1066800"/>
          </a:xfrm>
        </p:spPr>
        <p:txBody>
          <a:bodyPr/>
          <a:lstStyle/>
          <a:p>
            <a:r>
              <a:rPr lang="zh-CN" altLang="en-US" b="1" u="sng">
                <a:solidFill>
                  <a:schemeClr val="folHlink"/>
                </a:solidFill>
                <a:ea typeface="仿宋_GB2312" pitchFamily="1" charset="-122"/>
              </a:rPr>
              <a:t>用户级管理</a:t>
            </a:r>
            <a:r>
              <a:rPr lang="zh-CN" altLang="en-US" b="1">
                <a:solidFill>
                  <a:schemeClr val="folHlink"/>
                </a:solidFill>
                <a:ea typeface="仿宋_GB2312" pitchFamily="1" charset="-122"/>
              </a:rPr>
              <a:t>：文件访问权限</a:t>
            </a:r>
            <a:endParaRPr lang="zh-CN" altLang="en-US" b="1">
              <a:solidFill>
                <a:schemeClr val="folHlink"/>
              </a:solidFill>
              <a:ea typeface="仿宋_GB2312" pitchFamily="1" charset="-122"/>
            </a:endParaRPr>
          </a:p>
        </p:txBody>
      </p:sp>
      <p:sp>
        <p:nvSpPr>
          <p:cNvPr id="223235" name="Rectangle 3"/>
          <p:cNvSpPr>
            <a:spLocks noGrp="1" noRot="1" noChangeArrowheads="1"/>
          </p:cNvSpPr>
          <p:nvPr>
            <p:ph type="body" idx="1"/>
          </p:nvPr>
        </p:nvSpPr>
        <p:spPr>
          <a:xfrm>
            <a:off x="533400" y="1404938"/>
            <a:ext cx="8077200" cy="4498975"/>
          </a:xfrm>
        </p:spPr>
        <p:txBody>
          <a:bodyPr/>
          <a:lstStyle/>
          <a:p>
            <a:pPr algn="just">
              <a:lnSpc>
                <a:spcPct val="110000"/>
              </a:lnSpc>
            </a:pPr>
            <a:r>
              <a:rPr lang="zh-CN" altLang="en-US" sz="2800" b="1" dirty="0" smtClean="0"/>
              <a:t>可定义以下几种文件访问权：</a:t>
            </a:r>
            <a:endParaRPr lang="zh-CN" altLang="en-US" sz="2800" b="1" dirty="0" smtClean="0"/>
          </a:p>
          <a:p>
            <a:pPr lvl="1" algn="just">
              <a:lnSpc>
                <a:spcPct val="110000"/>
              </a:lnSpc>
            </a:pPr>
            <a:r>
              <a:rPr lang="zh-CN" altLang="en-US" sz="2400" b="1" dirty="0" smtClean="0"/>
              <a:t>建立  允许用户创建新文件，同时打开该文件；</a:t>
            </a:r>
            <a:endParaRPr lang="zh-CN" altLang="en-US" sz="2400" b="1" dirty="0" smtClean="0"/>
          </a:p>
          <a:p>
            <a:pPr lvl="1" algn="just">
              <a:lnSpc>
                <a:spcPct val="110000"/>
              </a:lnSpc>
            </a:pPr>
            <a:r>
              <a:rPr lang="zh-CN" altLang="en-US" sz="2400" b="1" dirty="0" smtClean="0"/>
              <a:t>删除  </a:t>
            </a:r>
            <a:endParaRPr lang="zh-CN" altLang="en-US" sz="2400" b="1" dirty="0" smtClean="0"/>
          </a:p>
          <a:p>
            <a:pPr lvl="1" algn="just">
              <a:lnSpc>
                <a:spcPct val="110000"/>
              </a:lnSpc>
            </a:pPr>
            <a:r>
              <a:rPr lang="zh-CN" altLang="en-US" sz="2400" b="1" dirty="0" smtClean="0"/>
              <a:t>打开  </a:t>
            </a:r>
            <a:endParaRPr lang="zh-CN" altLang="en-US" sz="2400" b="1" dirty="0" smtClean="0"/>
          </a:p>
          <a:p>
            <a:pPr lvl="1" algn="just">
              <a:lnSpc>
                <a:spcPct val="110000"/>
              </a:lnSpc>
            </a:pPr>
            <a:r>
              <a:rPr lang="zh-CN" altLang="en-US" sz="2400" b="1" dirty="0" smtClean="0"/>
              <a:t>读 </a:t>
            </a:r>
            <a:r>
              <a:rPr lang="en-US" altLang="zh-CN" sz="2400" b="1" dirty="0" smtClean="0"/>
              <a:t>/ </a:t>
            </a:r>
            <a:r>
              <a:rPr lang="zh-CN" altLang="en-US" sz="2400" b="1" dirty="0" smtClean="0"/>
              <a:t>写    </a:t>
            </a:r>
            <a:endParaRPr lang="zh-CN" altLang="en-US" sz="2400" b="1" dirty="0" smtClean="0"/>
          </a:p>
          <a:p>
            <a:pPr lvl="1" algn="just">
              <a:lnSpc>
                <a:spcPct val="110000"/>
              </a:lnSpc>
            </a:pPr>
            <a:r>
              <a:rPr lang="zh-CN" altLang="en-US" sz="2400" b="1" dirty="0" smtClean="0"/>
              <a:t>查询  </a:t>
            </a:r>
            <a:endParaRPr lang="zh-CN" altLang="en-US" sz="2400" b="1" dirty="0" smtClean="0"/>
          </a:p>
          <a:p>
            <a:pPr lvl="1" algn="just">
              <a:lnSpc>
                <a:spcPct val="110000"/>
              </a:lnSpc>
            </a:pPr>
            <a:r>
              <a:rPr lang="zh-CN" altLang="en-US" sz="2400" b="1" dirty="0" smtClean="0"/>
              <a:t>修改  </a:t>
            </a:r>
            <a:endParaRPr lang="zh-CN" altLang="en-US" sz="2400" b="1" dirty="0" smtClean="0"/>
          </a:p>
          <a:p>
            <a:pPr lvl="1" algn="just">
              <a:lnSpc>
                <a:spcPct val="110000"/>
              </a:lnSpc>
            </a:pPr>
            <a:r>
              <a:rPr lang="zh-CN" altLang="en-US" sz="2400" b="1" dirty="0" smtClean="0"/>
              <a:t>父权  允许用户建立、更名或删除子目录，具有某些用户赋予对目录和子目录的访问权。</a:t>
            </a:r>
            <a:endParaRPr lang="zh-CN" altLang="en-US" sz="2400" b="1" dirty="0" smtClean="0"/>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Grp="1" noRot="1" noChangeArrowheads="1"/>
          </p:cNvSpPr>
          <p:nvPr>
            <p:ph type="title"/>
          </p:nvPr>
        </p:nvSpPr>
        <p:spPr>
          <a:xfrm>
            <a:off x="533400" y="44450"/>
            <a:ext cx="8077200" cy="1066800"/>
          </a:xfrm>
        </p:spPr>
        <p:txBody>
          <a:bodyPr/>
          <a:lstStyle/>
          <a:p>
            <a:r>
              <a:rPr lang="zh-CN" altLang="en-US" b="1" u="sng">
                <a:solidFill>
                  <a:schemeClr val="folHlink"/>
                </a:solidFill>
                <a:ea typeface="仿宋_GB2312" pitchFamily="1" charset="-122"/>
              </a:rPr>
              <a:t>目录级安全管理</a:t>
            </a:r>
            <a:r>
              <a:rPr lang="zh-CN" altLang="en-US">
                <a:solidFill>
                  <a:schemeClr val="folHlink"/>
                </a:solidFill>
              </a:rPr>
              <a:t> </a:t>
            </a:r>
            <a:endParaRPr lang="zh-CN" altLang="en-US">
              <a:solidFill>
                <a:schemeClr val="folHlink"/>
              </a:solidFill>
            </a:endParaRPr>
          </a:p>
        </p:txBody>
      </p:sp>
      <p:sp>
        <p:nvSpPr>
          <p:cNvPr id="224259" name="Rectangle 3"/>
          <p:cNvSpPr>
            <a:spLocks noGrp="1" noRot="1" noChangeArrowheads="1"/>
          </p:cNvSpPr>
          <p:nvPr>
            <p:ph type="body" idx="1"/>
          </p:nvPr>
        </p:nvSpPr>
        <p:spPr>
          <a:xfrm>
            <a:off x="395288" y="1125538"/>
            <a:ext cx="8077200" cy="5192712"/>
          </a:xfrm>
        </p:spPr>
        <p:txBody>
          <a:bodyPr/>
          <a:lstStyle/>
          <a:p>
            <a:pPr algn="just">
              <a:lnSpc>
                <a:spcPct val="110000"/>
              </a:lnSpc>
            </a:pPr>
            <a:r>
              <a:rPr lang="zh-CN" altLang="en-US" sz="2800" b="1" dirty="0" smtClean="0"/>
              <a:t>目录级安全管理与用户权限无关，是为保护系统中的各种目录而设计的。</a:t>
            </a:r>
            <a:endParaRPr lang="zh-CN" altLang="en-US" sz="2800" b="1" dirty="0" smtClean="0"/>
          </a:p>
          <a:p>
            <a:pPr algn="just">
              <a:lnSpc>
                <a:spcPct val="110000"/>
              </a:lnSpc>
            </a:pPr>
            <a:r>
              <a:rPr lang="zh-CN" altLang="en-US" sz="2800" b="1" i="1" u="sng" dirty="0">
                <a:solidFill>
                  <a:schemeClr val="folHlink"/>
                </a:solidFill>
                <a:effectLst>
                  <a:outerShdw blurRad="38100" dist="38100" dir="2700000" algn="tl">
                    <a:srgbClr val="000000"/>
                  </a:outerShdw>
                </a:effectLst>
                <a:latin typeface="仿宋_GB2312" pitchFamily="1" charset="-122"/>
                <a:ea typeface="仿宋_GB2312" pitchFamily="1" charset="-122"/>
              </a:rPr>
              <a:t>只有系统内核才具有写目录的权利</a:t>
            </a:r>
            <a:r>
              <a:rPr lang="zh-CN" altLang="en-US" sz="2800" b="1" dirty="0">
                <a:effectLst>
                  <a:outerShdw blurRad="38100" dist="38100" dir="2700000" algn="tl">
                    <a:srgbClr val="000000"/>
                  </a:outerShdw>
                </a:effectLst>
                <a:latin typeface="仿宋_GB2312" pitchFamily="1" charset="-122"/>
                <a:ea typeface="仿宋_GB2312" pitchFamily="1" charset="-122"/>
              </a:rPr>
              <a:t>。</a:t>
            </a:r>
            <a:endParaRPr lang="zh-CN" altLang="en-US" sz="2800" b="1" dirty="0">
              <a:effectLst>
                <a:outerShdw blurRad="38100" dist="38100" dir="2700000" algn="tl">
                  <a:srgbClr val="000000"/>
                </a:outerShdw>
              </a:effectLst>
              <a:latin typeface="仿宋_GB2312" pitchFamily="1" charset="-122"/>
              <a:ea typeface="仿宋_GB2312" pitchFamily="1" charset="-122"/>
            </a:endParaRPr>
          </a:p>
          <a:p>
            <a:pPr algn="just">
              <a:lnSpc>
                <a:spcPct val="110000"/>
              </a:lnSpc>
            </a:pPr>
            <a:r>
              <a:rPr lang="zh-CN" altLang="en-US" sz="2800" b="1" dirty="0" smtClean="0"/>
              <a:t>用户对目录的读</a:t>
            </a:r>
            <a:r>
              <a:rPr lang="en-US" altLang="zh-CN" sz="2800" b="1" dirty="0" smtClean="0"/>
              <a:t>/</a:t>
            </a:r>
            <a:r>
              <a:rPr lang="zh-CN" altLang="en-US" sz="2800" b="1" dirty="0" smtClean="0"/>
              <a:t>写及执行与一般文件的读、写和执行含义不同：</a:t>
            </a:r>
            <a:endParaRPr lang="zh-CN" altLang="en-US" sz="2800" b="1" dirty="0" smtClean="0"/>
          </a:p>
          <a:p>
            <a:pPr algn="just">
              <a:lnSpc>
                <a:spcPct val="110000"/>
              </a:lnSpc>
            </a:pPr>
            <a:r>
              <a:rPr lang="zh-CN" altLang="en-US" sz="2800" b="1" dirty="0" smtClean="0"/>
              <a:t>  </a:t>
            </a:r>
            <a:r>
              <a:rPr lang="en-US" altLang="zh-CN" sz="2800" b="1" dirty="0" smtClean="0"/>
              <a:t>— </a:t>
            </a:r>
            <a:r>
              <a:rPr lang="zh-CN" altLang="en-US" sz="2800" b="1" dirty="0" smtClean="0"/>
              <a:t>目录的读权限指允许进程读目录；</a:t>
            </a:r>
            <a:endParaRPr lang="zh-CN" altLang="en-US" sz="2800" b="1" dirty="0" smtClean="0"/>
          </a:p>
          <a:p>
            <a:pPr algn="just">
              <a:lnSpc>
                <a:spcPct val="110000"/>
              </a:lnSpc>
            </a:pPr>
            <a:r>
              <a:rPr lang="zh-CN" altLang="en-US" sz="2800" b="1" dirty="0" smtClean="0"/>
              <a:t>  </a:t>
            </a:r>
            <a:r>
              <a:rPr lang="en-US" altLang="zh-CN" sz="2800" b="1" dirty="0" smtClean="0"/>
              <a:t>— </a:t>
            </a:r>
            <a:r>
              <a:rPr lang="zh-CN" altLang="en-US" sz="2800" b="1" dirty="0" smtClean="0"/>
              <a:t>目录的写权限指允许进程请求系统为之建立新目录项，或撤消已有的目录项；</a:t>
            </a:r>
            <a:endParaRPr lang="zh-CN" altLang="en-US" sz="2800" b="1" dirty="0" smtClean="0"/>
          </a:p>
          <a:p>
            <a:pPr algn="just">
              <a:lnSpc>
                <a:spcPct val="110000"/>
              </a:lnSpc>
            </a:pPr>
            <a:r>
              <a:rPr lang="zh-CN" altLang="en-US" sz="2800" b="1" dirty="0" smtClean="0"/>
              <a:t>  </a:t>
            </a:r>
            <a:r>
              <a:rPr lang="en-US" altLang="zh-CN" sz="2800" b="1" dirty="0" smtClean="0"/>
              <a:t>— </a:t>
            </a:r>
            <a:r>
              <a:rPr lang="zh-CN" altLang="en-US" sz="2800" b="1" dirty="0" smtClean="0"/>
              <a:t>目录的执行权指允许进程访问目录，查找指定文件。</a:t>
            </a:r>
            <a:endParaRPr lang="zh-CN" altLang="en-US" sz="2800" b="1" dirty="0" smtClean="0"/>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Rot="1" noChangeArrowheads="1"/>
          </p:cNvSpPr>
          <p:nvPr>
            <p:ph type="title"/>
          </p:nvPr>
        </p:nvSpPr>
        <p:spPr/>
        <p:txBody>
          <a:bodyPr/>
          <a:lstStyle/>
          <a:p>
            <a:r>
              <a:rPr lang="zh-CN" altLang="en-US" b="1" u="sng">
                <a:solidFill>
                  <a:schemeClr val="folHlink"/>
                </a:solidFill>
                <a:ea typeface="仿宋_GB2312" pitchFamily="1" charset="-122"/>
              </a:rPr>
              <a:t>目录级安全管理</a:t>
            </a:r>
            <a:r>
              <a:rPr lang="zh-CN" altLang="en-US">
                <a:solidFill>
                  <a:schemeClr val="folHlink"/>
                </a:solidFill>
              </a:rPr>
              <a:t> </a:t>
            </a:r>
            <a:endParaRPr lang="zh-CN" altLang="en-US">
              <a:solidFill>
                <a:schemeClr val="folHlink"/>
              </a:solidFill>
            </a:endParaRPr>
          </a:p>
        </p:txBody>
      </p:sp>
      <p:sp>
        <p:nvSpPr>
          <p:cNvPr id="225283" name="Rectangle 3"/>
          <p:cNvSpPr>
            <a:spLocks noGrp="1" noRot="1" noChangeArrowheads="1"/>
          </p:cNvSpPr>
          <p:nvPr>
            <p:ph type="body" idx="1"/>
          </p:nvPr>
        </p:nvSpPr>
        <p:spPr>
          <a:xfrm>
            <a:off x="533400" y="1341438"/>
            <a:ext cx="8077200" cy="4498975"/>
          </a:xfrm>
        </p:spPr>
        <p:txBody>
          <a:bodyPr/>
          <a:lstStyle/>
          <a:p>
            <a:pPr algn="just"/>
            <a:endParaRPr lang="en-US" altLang="zh-CN" sz="2800" b="1" dirty="0">
              <a:effectLst>
                <a:outerShdw blurRad="38100" dist="38100" dir="2700000" algn="tl">
                  <a:srgbClr val="000000"/>
                </a:outerShdw>
              </a:effectLst>
              <a:latin typeface="仿宋_GB2312" pitchFamily="1" charset="-122"/>
              <a:ea typeface="仿宋_GB2312" pitchFamily="1" charset="-122"/>
            </a:endParaRPr>
          </a:p>
          <a:p>
            <a:pPr algn="just"/>
            <a:r>
              <a:rPr lang="zh-CN" altLang="en-US" sz="2800" b="1" dirty="0" smtClean="0"/>
              <a:t>通常，</a:t>
            </a:r>
            <a:r>
              <a:rPr lang="zh-CN" altLang="en-US" sz="2800" b="1" i="1" u="sng" dirty="0">
                <a:solidFill>
                  <a:schemeClr val="folHlink"/>
                </a:solidFill>
                <a:effectLst>
                  <a:outerShdw blurRad="38100" dist="38100" dir="2700000" algn="tl">
                    <a:srgbClr val="000000"/>
                  </a:outerShdw>
                </a:effectLst>
                <a:latin typeface="仿宋_GB2312" pitchFamily="1" charset="-122"/>
                <a:ea typeface="仿宋_GB2312" pitchFamily="1" charset="-122"/>
              </a:rPr>
              <a:t>系统分别为用户和目录独立地指定访问权限。</a:t>
            </a:r>
            <a:endParaRPr lang="zh-CN" altLang="en-US" sz="2800" b="1" i="1" u="sng" dirty="0">
              <a:solidFill>
                <a:schemeClr val="folHlink"/>
              </a:solidFill>
              <a:effectLst>
                <a:outerShdw blurRad="38100" dist="38100" dir="2700000" algn="tl">
                  <a:srgbClr val="000000"/>
                </a:outerShdw>
              </a:effectLst>
              <a:latin typeface="仿宋_GB2312" pitchFamily="1" charset="-122"/>
              <a:ea typeface="仿宋_GB2312" pitchFamily="1" charset="-122"/>
            </a:endParaRPr>
          </a:p>
          <a:p>
            <a:pPr algn="just"/>
            <a:r>
              <a:rPr lang="zh-CN" altLang="en-US" sz="2800" b="1" dirty="0" smtClean="0"/>
              <a:t>当用户试图访问一个目录时，系统将比较用户访问权和目录访问权</a:t>
            </a:r>
            <a:r>
              <a:rPr lang="zh-CN" altLang="en-US" sz="2800" b="1" dirty="0">
                <a:effectLst>
                  <a:outerShdw blurRad="38100" dist="38100" dir="2700000" algn="tl">
                    <a:srgbClr val="000000"/>
                  </a:outerShdw>
                </a:effectLst>
                <a:latin typeface="仿宋_GB2312" pitchFamily="1" charset="-122"/>
                <a:ea typeface="仿宋_GB2312" pitchFamily="1" charset="-122"/>
              </a:rPr>
              <a:t>，</a:t>
            </a:r>
            <a:r>
              <a:rPr lang="zh-CN" altLang="en-US" sz="2800" b="1" i="1" u="sng" dirty="0">
                <a:solidFill>
                  <a:schemeClr val="folHlink"/>
                </a:solidFill>
                <a:effectLst>
                  <a:outerShdw blurRad="38100" dist="38100" dir="2700000" algn="tl">
                    <a:srgbClr val="000000"/>
                  </a:outerShdw>
                </a:effectLst>
                <a:latin typeface="仿宋_GB2312" pitchFamily="1" charset="-122"/>
                <a:ea typeface="仿宋_GB2312" pitchFamily="1" charset="-122"/>
              </a:rPr>
              <a:t>仅当用户访问权同时出现在目录访问权中时，用户才能合法访问目录；</a:t>
            </a:r>
            <a:r>
              <a:rPr lang="zh-CN" altLang="en-US" sz="2800" b="1" dirty="0" smtClean="0"/>
              <a:t>否则，用户无法访问目录。</a:t>
            </a:r>
            <a:endParaRPr lang="zh-CN" altLang="en-US" sz="2800" b="1" dirty="0" smtClean="0"/>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rrowheads="1"/>
          </p:cNvSpPr>
          <p:nvPr>
            <p:ph type="title"/>
          </p:nvPr>
        </p:nvSpPr>
        <p:spPr>
          <a:xfrm>
            <a:off x="533400" y="115888"/>
            <a:ext cx="8077200" cy="1066800"/>
          </a:xfrm>
        </p:spPr>
        <p:txBody>
          <a:bodyPr/>
          <a:lstStyle/>
          <a:p>
            <a:r>
              <a:rPr lang="zh-CN" altLang="en-US" b="1" u="sng">
                <a:solidFill>
                  <a:schemeClr val="folHlink"/>
                </a:solidFill>
                <a:ea typeface="仿宋_GB2312" pitchFamily="1" charset="-122"/>
              </a:rPr>
              <a:t>文件级安全管理</a:t>
            </a:r>
            <a:endParaRPr lang="zh-CN" altLang="en-US" b="1" u="sng">
              <a:solidFill>
                <a:schemeClr val="folHlink"/>
              </a:solidFill>
              <a:ea typeface="仿宋_GB2312" pitchFamily="1" charset="-122"/>
            </a:endParaRPr>
          </a:p>
        </p:txBody>
      </p:sp>
      <p:sp>
        <p:nvSpPr>
          <p:cNvPr id="226307" name="Rectangle 3"/>
          <p:cNvSpPr>
            <a:spLocks noGrp="1" noRot="1" noChangeArrowheads="1"/>
          </p:cNvSpPr>
          <p:nvPr>
            <p:ph type="body" idx="1"/>
          </p:nvPr>
        </p:nvSpPr>
        <p:spPr>
          <a:xfrm>
            <a:off x="533400" y="1331913"/>
            <a:ext cx="8077200" cy="4498975"/>
          </a:xfrm>
        </p:spPr>
        <p:txBody>
          <a:bodyPr/>
          <a:lstStyle/>
          <a:p>
            <a:pPr algn="just">
              <a:lnSpc>
                <a:spcPct val="90000"/>
              </a:lnSpc>
              <a:buFont typeface="Wingdings" panose="05000000000000000000" pitchFamily="2" charset="2"/>
              <a:buNone/>
            </a:pPr>
            <a:r>
              <a:rPr lang="zh-CN" altLang="en-US" sz="2800" b="1" dirty="0" smtClean="0"/>
              <a:t>通过系统管理员或文件主设置文件属性：</a:t>
            </a:r>
            <a:endParaRPr lang="zh-CN" altLang="en-US" sz="2800" b="1" dirty="0" smtClean="0"/>
          </a:p>
          <a:p>
            <a:pPr algn="just">
              <a:lnSpc>
                <a:spcPct val="90000"/>
              </a:lnSpc>
            </a:pPr>
            <a:r>
              <a:rPr lang="zh-CN" altLang="en-US" sz="2800" b="1" dirty="0" smtClean="0"/>
              <a:t>执行  </a:t>
            </a:r>
            <a:endParaRPr lang="zh-CN" altLang="en-US" sz="2800" b="1" dirty="0" smtClean="0"/>
          </a:p>
          <a:p>
            <a:pPr algn="just">
              <a:lnSpc>
                <a:spcPct val="90000"/>
              </a:lnSpc>
            </a:pPr>
            <a:r>
              <a:rPr lang="zh-CN" altLang="en-US" sz="2800" b="1" dirty="0" smtClean="0"/>
              <a:t>隐含</a:t>
            </a:r>
            <a:endParaRPr lang="zh-CN" altLang="en-US" sz="2800" b="1" dirty="0" smtClean="0"/>
          </a:p>
          <a:p>
            <a:pPr algn="just">
              <a:lnSpc>
                <a:spcPct val="90000"/>
              </a:lnSpc>
            </a:pPr>
            <a:r>
              <a:rPr lang="zh-CN" altLang="en-US" sz="2800" b="1" dirty="0" smtClean="0"/>
              <a:t>索引  </a:t>
            </a:r>
            <a:endParaRPr lang="zh-CN" altLang="en-US" sz="2800" b="1" dirty="0" smtClean="0"/>
          </a:p>
          <a:p>
            <a:pPr algn="just">
              <a:lnSpc>
                <a:spcPct val="90000"/>
              </a:lnSpc>
            </a:pPr>
            <a:r>
              <a:rPr lang="zh-CN" altLang="en-US" sz="2800" b="1" dirty="0" smtClean="0"/>
              <a:t>修改  表示文件自上次备份以来是否修改过；</a:t>
            </a:r>
            <a:endParaRPr lang="zh-CN" altLang="en-US" sz="2800" b="1" dirty="0" smtClean="0"/>
          </a:p>
          <a:p>
            <a:pPr algn="just">
              <a:lnSpc>
                <a:spcPct val="90000"/>
              </a:lnSpc>
            </a:pPr>
            <a:r>
              <a:rPr lang="zh-CN" altLang="en-US" sz="2800" b="1" dirty="0" smtClean="0"/>
              <a:t>只读  </a:t>
            </a:r>
            <a:endParaRPr lang="zh-CN" altLang="en-US" sz="2800" b="1" dirty="0" smtClean="0"/>
          </a:p>
          <a:p>
            <a:pPr algn="just">
              <a:lnSpc>
                <a:spcPct val="90000"/>
              </a:lnSpc>
            </a:pPr>
            <a:r>
              <a:rPr lang="zh-CN" altLang="en-US" sz="2800" b="1" dirty="0" smtClean="0"/>
              <a:t>读</a:t>
            </a:r>
            <a:r>
              <a:rPr lang="en-US" altLang="zh-CN" sz="2800" b="1" dirty="0" smtClean="0"/>
              <a:t>/</a:t>
            </a:r>
            <a:r>
              <a:rPr lang="zh-CN" altLang="en-US" sz="2800" b="1" dirty="0" smtClean="0"/>
              <a:t>写 </a:t>
            </a:r>
            <a:endParaRPr lang="zh-CN" altLang="en-US" sz="2800" b="1" dirty="0" smtClean="0"/>
          </a:p>
          <a:p>
            <a:pPr algn="just">
              <a:lnSpc>
                <a:spcPct val="90000"/>
              </a:lnSpc>
            </a:pPr>
            <a:r>
              <a:rPr lang="zh-CN" altLang="en-US" sz="2800" b="1" dirty="0" smtClean="0"/>
              <a:t>共享  指定文件可被多用户</a:t>
            </a:r>
            <a:r>
              <a:rPr lang="en-US" altLang="zh-CN" sz="2800" b="1" dirty="0" smtClean="0"/>
              <a:t>(</a:t>
            </a:r>
            <a:r>
              <a:rPr lang="zh-CN" altLang="en-US" sz="2800" b="1" dirty="0" smtClean="0"/>
              <a:t>进程</a:t>
            </a:r>
            <a:r>
              <a:rPr lang="en-US" altLang="zh-CN" sz="2800" b="1" dirty="0" smtClean="0"/>
              <a:t>)</a:t>
            </a:r>
            <a:r>
              <a:rPr lang="zh-CN" altLang="en-US" sz="2800" b="1" dirty="0" smtClean="0"/>
              <a:t>共享</a:t>
            </a:r>
            <a:r>
              <a:rPr lang="en-US" altLang="zh-CN" sz="2800" b="1" dirty="0" smtClean="0"/>
              <a:t>;</a:t>
            </a:r>
            <a:endParaRPr lang="en-US" altLang="zh-CN" sz="2800" b="1" dirty="0" smtClean="0"/>
          </a:p>
          <a:p>
            <a:pPr algn="just">
              <a:lnSpc>
                <a:spcPct val="90000"/>
              </a:lnSpc>
            </a:pPr>
            <a:r>
              <a:rPr lang="zh-CN" altLang="en-US" sz="2800" b="1" dirty="0" smtClean="0"/>
              <a:t>系统  指定系统文件。</a:t>
            </a:r>
            <a:endParaRPr lang="zh-CN" altLang="en-US" sz="2800" b="1" dirty="0" smtClean="0"/>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1" name="Rectangle 3"/>
          <p:cNvSpPr>
            <a:spLocks noGrp="1" noRot="1" noChangeArrowheads="1"/>
          </p:cNvSpPr>
          <p:nvPr>
            <p:ph type="body" idx="1"/>
          </p:nvPr>
        </p:nvSpPr>
        <p:spPr>
          <a:xfrm>
            <a:off x="539750" y="260350"/>
            <a:ext cx="8077200" cy="5146675"/>
          </a:xfrm>
        </p:spPr>
        <p:txBody>
          <a:bodyPr/>
          <a:lstStyle/>
          <a:p>
            <a:pPr>
              <a:lnSpc>
                <a:spcPct val="120000"/>
              </a:lnSpc>
            </a:pPr>
            <a:endParaRPr lang="en-US" altLang="zh-CN" b="1" dirty="0">
              <a:effectLst>
                <a:outerShdw blurRad="38100" dist="38100" dir="2700000" algn="tl">
                  <a:srgbClr val="000000"/>
                </a:outerShdw>
              </a:effectLst>
              <a:ea typeface="仿宋_GB2312" pitchFamily="1" charset="-122"/>
            </a:endParaRPr>
          </a:p>
          <a:p>
            <a:pPr algn="just">
              <a:lnSpc>
                <a:spcPct val="90000"/>
              </a:lnSpc>
            </a:pPr>
            <a:r>
              <a:rPr lang="zh-CN" altLang="en-US" sz="2800" b="1" dirty="0" smtClean="0"/>
              <a:t>用户对文件的访问权</a:t>
            </a:r>
            <a:r>
              <a:rPr lang="en-US" altLang="zh-CN" sz="2800" b="1" dirty="0" smtClean="0"/>
              <a:t>=</a:t>
            </a:r>
            <a:endParaRPr lang="en-US" altLang="zh-CN" sz="2800" b="1" dirty="0" smtClean="0"/>
          </a:p>
          <a:p>
            <a:pPr algn="just">
              <a:lnSpc>
                <a:spcPct val="90000"/>
              </a:lnSpc>
            </a:pPr>
            <a:r>
              <a:rPr lang="zh-CN" altLang="en-US" sz="2800" b="1" dirty="0" smtClean="0"/>
              <a:t>用户访问权∩目录访问权∩文件属性</a:t>
            </a:r>
            <a:endParaRPr lang="zh-CN" altLang="en-US" sz="2800" b="1" dirty="0" smtClean="0"/>
          </a:p>
          <a:p>
            <a:pPr>
              <a:lnSpc>
                <a:spcPct val="120000"/>
              </a:lnSpc>
              <a:buFont typeface="Wingdings" panose="05000000000000000000" pitchFamily="2" charset="2"/>
              <a:buNone/>
            </a:pPr>
            <a:endParaRPr lang="zh-CN" altLang="en-US" b="1" dirty="0">
              <a:effectLst>
                <a:outerShdw blurRad="38100" dist="38100" dir="2700000" algn="tl">
                  <a:srgbClr val="000000"/>
                </a:outerShdw>
              </a:effectLst>
              <a:ea typeface="仿宋_GB2312" pitchFamily="1" charset="-122"/>
            </a:endParaRPr>
          </a:p>
          <a:p>
            <a:pPr>
              <a:lnSpc>
                <a:spcPct val="120000"/>
              </a:lnSpc>
            </a:pPr>
            <a:r>
              <a:rPr lang="zh-CN" altLang="en-US" sz="2800" b="1" dirty="0" smtClean="0"/>
              <a:t>如果文件为只读属性，也许用户访问权为读</a:t>
            </a:r>
            <a:r>
              <a:rPr lang="en-US" altLang="zh-CN" sz="2800" b="1" dirty="0" smtClean="0"/>
              <a:t>/</a:t>
            </a:r>
            <a:r>
              <a:rPr lang="zh-CN" altLang="en-US" sz="2800" b="1" dirty="0" smtClean="0"/>
              <a:t>写，但却不能对该文件实施写操作，即不允许修改或删除该文件</a:t>
            </a:r>
            <a:r>
              <a:rPr lang="zh-CN" altLang="en-US" b="1" dirty="0">
                <a:effectLst>
                  <a:outerShdw blurRad="38100" dist="38100" dir="2700000" algn="tl">
                    <a:srgbClr val="000000"/>
                  </a:outerShdw>
                </a:effectLst>
                <a:ea typeface="仿宋_GB2312" pitchFamily="1" charset="-122"/>
              </a:rPr>
              <a:t>。 </a:t>
            </a:r>
            <a:endParaRPr lang="zh-CN" altLang="en-US" b="1" dirty="0">
              <a:effectLst>
                <a:outerShdw blurRad="38100" dist="38100" dir="2700000" algn="tl">
                  <a:srgbClr val="000000"/>
                </a:outerShdw>
              </a:effectLst>
              <a:ea typeface="仿宋_GB2312" pitchFamily="1" charset="-122"/>
            </a:endParaRPr>
          </a:p>
        </p:txBody>
      </p:sp>
    </p:spTree>
  </p:cSld>
  <p:clrMapOvr>
    <a:masterClrMapping/>
  </p:clrMapOvr>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作业</a:t>
            </a:r>
            <a:endParaRPr lang="zh-CN" altLang="en-US" dirty="0"/>
          </a:p>
        </p:txBody>
      </p:sp>
      <p:sp>
        <p:nvSpPr>
          <p:cNvPr id="3" name="内容占位符 2"/>
          <p:cNvSpPr>
            <a:spLocks noGrp="1"/>
          </p:cNvSpPr>
          <p:nvPr>
            <p:ph idx="1"/>
          </p:nvPr>
        </p:nvSpPr>
        <p:spPr/>
        <p:txBody>
          <a:bodyPr/>
          <a:lstStyle/>
          <a:p>
            <a:r>
              <a:rPr lang="en-US" altLang="zh-CN" dirty="0" smtClean="0"/>
              <a:t>6</a:t>
            </a:r>
            <a:r>
              <a:rPr lang="zh-CN" altLang="en-US" dirty="0" smtClean="0"/>
              <a:t>，</a:t>
            </a:r>
            <a:r>
              <a:rPr lang="en-US" altLang="zh-CN" dirty="0" smtClean="0"/>
              <a:t>8</a:t>
            </a:r>
            <a:r>
              <a:rPr lang="zh-CN" altLang="en-US" dirty="0" smtClean="0"/>
              <a:t>，</a:t>
            </a:r>
            <a:r>
              <a:rPr lang="en-US" altLang="zh-CN" dirty="0" smtClean="0"/>
              <a:t>12</a:t>
            </a:r>
            <a:r>
              <a:rPr lang="zh-CN" altLang="en-US" dirty="0" smtClean="0"/>
              <a:t>，</a:t>
            </a:r>
            <a:r>
              <a:rPr lang="en-US" altLang="zh-CN" dirty="0" smtClean="0"/>
              <a:t>22</a:t>
            </a:r>
            <a:endParaRPr lang="zh-CN" altLang="en-US" dirty="0"/>
          </a:p>
        </p:txBody>
      </p:sp>
    </p:spTree>
  </p:cSld>
  <p:clrMapOvr>
    <a:masterClrMapping/>
  </p:clrMapOvr>
  <p:transition/>
</p:sld>
</file>

<file path=ppt/theme/theme1.xml><?xml version="1.0" encoding="utf-8"?>
<a:theme xmlns:a="http://schemas.openxmlformats.org/drawingml/2006/main" name="砖雕艺术">
  <a:themeElements>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fontScheme name="砖雕艺术">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7" dist="17961" dir="13500000">
            <a:schemeClr val="bg2"/>
          </a:prst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7" dist="17961" dir="13500000">
            <a:schemeClr val="bg2"/>
          </a:prst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clrMap bg1="lt1" tx1="dk1" bg2="lt2" tx2="dk2" accent1="accent1" accent2="accent2" accent3="accent3" accent4="accent4" accent5="accent5" accent6="accent6" hlink="hlink" folHlink="folHlink"/>
    </a:extraClrScheme>
    <a:extraClrScheme>
      <a:clrScheme name="砖雕艺术 2">
        <a:dk1>
          <a:srgbClr val="333399"/>
        </a:dk1>
        <a:lt1>
          <a:srgbClr val="ADD3AF"/>
        </a:lt1>
        <a:dk2>
          <a:srgbClr val="D65700"/>
        </a:dk2>
        <a:lt2>
          <a:srgbClr val="B2B2B2"/>
        </a:lt2>
        <a:accent1>
          <a:srgbClr val="B8E9EE"/>
        </a:accent1>
        <a:accent2>
          <a:srgbClr val="FFCC00"/>
        </a:accent2>
        <a:accent3>
          <a:srgbClr val="D3E6D4"/>
        </a:accent3>
        <a:accent4>
          <a:srgbClr val="2A2A82"/>
        </a:accent4>
        <a:accent5>
          <a:srgbClr val="D8F2F5"/>
        </a:accent5>
        <a:accent6>
          <a:srgbClr val="E7B900"/>
        </a:accent6>
        <a:hlink>
          <a:srgbClr val="008080"/>
        </a:hlink>
        <a:folHlink>
          <a:srgbClr val="003366"/>
        </a:folHlink>
      </a:clrScheme>
      <a:clrMap bg1="lt1" tx1="dk1" bg2="lt2" tx2="dk2" accent1="accent1" accent2="accent2" accent3="accent3" accent4="accent4" accent5="accent5" accent6="accent6" hlink="hlink" folHlink="folHlink"/>
    </a:extraClrScheme>
    <a:extraClrScheme>
      <a:clrScheme name="砖雕艺术 3">
        <a:dk1>
          <a:srgbClr val="003BB2"/>
        </a:dk1>
        <a:lt1>
          <a:srgbClr val="CCFFCC"/>
        </a:lt1>
        <a:dk2>
          <a:srgbClr val="003366"/>
        </a:dk2>
        <a:lt2>
          <a:srgbClr val="C0C0C0"/>
        </a:lt2>
        <a:accent1>
          <a:srgbClr val="FFFFFF"/>
        </a:accent1>
        <a:accent2>
          <a:srgbClr val="009900"/>
        </a:accent2>
        <a:accent3>
          <a:srgbClr val="E2FFE2"/>
        </a:accent3>
        <a:accent4>
          <a:srgbClr val="003197"/>
        </a:accent4>
        <a:accent5>
          <a:srgbClr val="FFFFFF"/>
        </a:accent5>
        <a:accent6>
          <a:srgbClr val="008A00"/>
        </a:accent6>
        <a:hlink>
          <a:srgbClr val="333399"/>
        </a:hlink>
        <a:folHlink>
          <a:srgbClr val="E45C00"/>
        </a:folHlink>
      </a:clrScheme>
      <a:clrMap bg1="lt1" tx1="dk1" bg2="lt2" tx2="dk2" accent1="accent1" accent2="accent2" accent3="accent3" accent4="accent4" accent5="accent5" accent6="accent6" hlink="hlink" folHlink="folHlink"/>
    </a:extraClrScheme>
    <a:extraClrScheme>
      <a:clrScheme name="砖雕艺术 4">
        <a:dk1>
          <a:srgbClr val="0000CC"/>
        </a:dk1>
        <a:lt1>
          <a:srgbClr val="CCECFF"/>
        </a:lt1>
        <a:dk2>
          <a:srgbClr val="006666"/>
        </a:dk2>
        <a:lt2>
          <a:srgbClr val="C0C0C0"/>
        </a:lt2>
        <a:accent1>
          <a:srgbClr val="FFFF99"/>
        </a:accent1>
        <a:accent2>
          <a:srgbClr val="FFCCFF"/>
        </a:accent2>
        <a:accent3>
          <a:srgbClr val="E2F4FF"/>
        </a:accent3>
        <a:accent4>
          <a:srgbClr val="0000AE"/>
        </a:accent4>
        <a:accent5>
          <a:srgbClr val="FFFFCA"/>
        </a:accent5>
        <a:accent6>
          <a:srgbClr val="E7B9E7"/>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砖雕艺术 5">
        <a:dk1>
          <a:srgbClr val="000000"/>
        </a:dk1>
        <a:lt1>
          <a:srgbClr val="FFFFCC"/>
        </a:lt1>
        <a:dk2>
          <a:srgbClr val="5A5A86"/>
        </a:dk2>
        <a:lt2>
          <a:srgbClr val="C0C0C0"/>
        </a:lt2>
        <a:accent1>
          <a:srgbClr val="D5E9F7"/>
        </a:accent1>
        <a:accent2>
          <a:srgbClr val="FFCC00"/>
        </a:accent2>
        <a:accent3>
          <a:srgbClr val="FFFFE2"/>
        </a:accent3>
        <a:accent4>
          <a:srgbClr val="000000"/>
        </a:accent4>
        <a:accent5>
          <a:srgbClr val="E7F2FA"/>
        </a:accent5>
        <a:accent6>
          <a:srgbClr val="E7B900"/>
        </a:accent6>
        <a:hlink>
          <a:srgbClr val="CC3300"/>
        </a:hlink>
        <a:folHlink>
          <a:srgbClr val="007D7A"/>
        </a:folHlink>
      </a:clrScheme>
      <a:clrMap bg1="lt1" tx1="dk1" bg2="lt2" tx2="dk2" accent1="accent1" accent2="accent2" accent3="accent3" accent4="accent4" accent5="accent5" accent6="accent6" hlink="hlink" folHlink="folHlink"/>
    </a:extraClrScheme>
    <a:extraClrScheme>
      <a:clrScheme name="砖雕艺术 6">
        <a:dk1>
          <a:srgbClr val="006666"/>
        </a:dk1>
        <a:lt1>
          <a:srgbClr val="FFECD9"/>
        </a:lt1>
        <a:dk2>
          <a:srgbClr val="000099"/>
        </a:dk2>
        <a:lt2>
          <a:srgbClr val="B2B2B2"/>
        </a:lt2>
        <a:accent1>
          <a:srgbClr val="EAEAEA"/>
        </a:accent1>
        <a:accent2>
          <a:srgbClr val="FF6600"/>
        </a:accent2>
        <a:accent3>
          <a:srgbClr val="FFF4E9"/>
        </a:accent3>
        <a:accent4>
          <a:srgbClr val="005656"/>
        </a:accent4>
        <a:accent5>
          <a:srgbClr val="F3F3F3"/>
        </a:accent5>
        <a:accent6>
          <a:srgbClr val="E75C00"/>
        </a:accent6>
        <a:hlink>
          <a:srgbClr val="0066FF"/>
        </a:hlink>
        <a:folHlink>
          <a:srgbClr val="777777"/>
        </a:folHlink>
      </a:clrScheme>
      <a:clrMap bg1="lt1" tx1="dk1" bg2="lt2" tx2="dk2" accent1="accent1" accent2="accent2" accent3="accent3" accent4="accent4" accent5="accent5" accent6="accent6" hlink="hlink" folHlink="folHlink"/>
    </a:extraClrScheme>
    <a:extraClrScheme>
      <a:clrScheme name="砖雕艺术 7">
        <a:dk1>
          <a:srgbClr val="585884"/>
        </a:dk1>
        <a:lt1>
          <a:srgbClr val="DDDDDD"/>
        </a:lt1>
        <a:dk2>
          <a:srgbClr val="000000"/>
        </a:dk2>
        <a:lt2>
          <a:srgbClr val="969696"/>
        </a:lt2>
        <a:accent1>
          <a:srgbClr val="FFFFCC"/>
        </a:accent1>
        <a:accent2>
          <a:srgbClr val="99CC00"/>
        </a:accent2>
        <a:accent3>
          <a:srgbClr val="EBEBEB"/>
        </a:accent3>
        <a:accent4>
          <a:srgbClr val="4A4A70"/>
        </a:accent4>
        <a:accent5>
          <a:srgbClr val="FFFFE2"/>
        </a:accent5>
        <a:accent6>
          <a:srgbClr val="8AB900"/>
        </a:accent6>
        <a:hlink>
          <a:srgbClr val="FF3300"/>
        </a:hlink>
        <a:folHlink>
          <a:srgbClr val="6E3B8B"/>
        </a:folHlink>
      </a:clrScheme>
      <a:clrMap bg1="lt1" tx1="dk1" bg2="lt2" tx2="dk2" accent1="accent1" accent2="accent2" accent3="accent3" accent4="accent4" accent5="accent5" accent6="accent6" hlink="hlink" folHlink="folHlink"/>
    </a:extraClrScheme>
    <a:extraClrScheme>
      <a:clrScheme name="砖雕艺术 8">
        <a:dk1>
          <a:srgbClr val="333399"/>
        </a:dk1>
        <a:lt1>
          <a:srgbClr val="FFD9D9"/>
        </a:lt1>
        <a:dk2>
          <a:srgbClr val="00716E"/>
        </a:dk2>
        <a:lt2>
          <a:srgbClr val="C0C0C0"/>
        </a:lt2>
        <a:accent1>
          <a:srgbClr val="AED2BA"/>
        </a:accent1>
        <a:accent2>
          <a:srgbClr val="FF9933"/>
        </a:accent2>
        <a:accent3>
          <a:srgbClr val="FFE9E9"/>
        </a:accent3>
        <a:accent4>
          <a:srgbClr val="2A2A82"/>
        </a:accent4>
        <a:accent5>
          <a:srgbClr val="D3E5D9"/>
        </a:accent5>
        <a:accent6>
          <a:srgbClr val="E78A2D"/>
        </a:accent6>
        <a:hlink>
          <a:srgbClr val="CC3300"/>
        </a:hlink>
        <a:folHlink>
          <a:srgbClr val="0066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CDESIGNJ</Template>
  <TotalTime>0</TotalTime>
  <Words>11901</Words>
  <Application>WPS 演示</Application>
  <PresentationFormat>全屏显示(4:3)</PresentationFormat>
  <Paragraphs>840</Paragraphs>
  <Slides>104</Slides>
  <Notes>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8</vt:i4>
      </vt:variant>
      <vt:variant>
        <vt:lpstr>幻灯片标题</vt:lpstr>
      </vt:variant>
      <vt:variant>
        <vt:i4>104</vt:i4>
      </vt:variant>
    </vt:vector>
  </HeadingPairs>
  <TitlesOfParts>
    <vt:vector size="125" baseType="lpstr">
      <vt:lpstr>Arial</vt:lpstr>
      <vt:lpstr>宋体</vt:lpstr>
      <vt:lpstr>Wingdings</vt:lpstr>
      <vt:lpstr>Wingdings 2</vt:lpstr>
      <vt:lpstr>Wingdings</vt:lpstr>
      <vt:lpstr>仿宋_GB2312</vt:lpstr>
      <vt:lpstr>仿宋</vt:lpstr>
      <vt:lpstr>微软雅黑</vt:lpstr>
      <vt:lpstr>Arial Unicode MS</vt:lpstr>
      <vt:lpstr>Calibri</vt:lpstr>
      <vt:lpstr>Times New Roman</vt:lpstr>
      <vt:lpstr>Courier New</vt:lpstr>
      <vt:lpstr>砖雕艺术</vt:lpstr>
      <vt:lpstr>Visio.Drawing.11</vt:lpstr>
      <vt:lpstr>Visio.Drawing.11</vt:lpstr>
      <vt:lpstr>Visio.Drawing.11</vt:lpstr>
      <vt:lpstr>Equation.3</vt:lpstr>
      <vt:lpstr>Visio.Drawing.11</vt:lpstr>
      <vt:lpstr>Visio.Drawing.11</vt:lpstr>
      <vt:lpstr>Equation.3</vt:lpstr>
      <vt:lpstr>Visio.Drawing.11</vt:lpstr>
      <vt:lpstr>第七章 文件系统 </vt:lpstr>
      <vt:lpstr>本章要点</vt:lpstr>
      <vt:lpstr>？ 问题</vt:lpstr>
      <vt:lpstr>文件系统概述 </vt:lpstr>
      <vt:lpstr>文件系统的功能</vt:lpstr>
      <vt:lpstr>交互式文件系统的基本服务</vt:lpstr>
      <vt:lpstr>文件系统</vt:lpstr>
      <vt:lpstr>7.1 文件和文件系统</vt:lpstr>
      <vt:lpstr>7.1.1文件、记录和数据项</vt:lpstr>
      <vt:lpstr>1. 数据项</vt:lpstr>
      <vt:lpstr>PowerPoint 演示文稿</vt:lpstr>
      <vt:lpstr>PowerPoint 演示文稿</vt:lpstr>
      <vt:lpstr>3.文件</vt:lpstr>
      <vt:lpstr>文件的属性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7.1.4 文件操作 </vt:lpstr>
      <vt:lpstr>对文件的操作--建立文件（Create file） </vt:lpstr>
      <vt:lpstr>对文件的操作--打开文件（Open file ） </vt:lpstr>
      <vt:lpstr>对文件的操作--关闭文件（Close file ）</vt:lpstr>
      <vt:lpstr>对文件的操作--撤消文件（Destroy file ） </vt:lpstr>
      <vt:lpstr>对文件的操作--复制文件（Copy file） </vt:lpstr>
      <vt:lpstr>对文件的操作--修改文件名（Rename） </vt:lpstr>
      <vt:lpstr>对文件的操作--读操作（Read） </vt:lpstr>
      <vt:lpstr>对文件的操作--写操作（Write） </vt:lpstr>
      <vt:lpstr>对文件的操作--更新操作（Update）</vt:lpstr>
      <vt:lpstr>对文件的操作--插入操作（Insert）</vt:lpstr>
      <vt:lpstr>对文件的操作--删除操作（Delete）</vt:lpstr>
      <vt:lpstr>文件操作实例（Linux）</vt:lpstr>
      <vt:lpstr>文件操作实例（Linux）</vt:lpstr>
      <vt:lpstr>PowerPoint 演示文稿</vt:lpstr>
      <vt:lpstr>PowerPoint 演示文稿</vt:lpstr>
      <vt:lpstr> 7.2  文件目录 </vt:lpstr>
      <vt:lpstr>PowerPoint 演示文稿</vt:lpstr>
      <vt:lpstr>文件目录的内容 </vt:lpstr>
      <vt:lpstr>PowerPoint 演示文稿</vt:lpstr>
      <vt:lpstr>目录内容的组织方式及分析</vt:lpstr>
      <vt:lpstr>目录文件及操作</vt:lpstr>
      <vt:lpstr>目录结构</vt:lpstr>
      <vt:lpstr>单级目录结构</vt:lpstr>
      <vt:lpstr>单级目录结构分析</vt:lpstr>
      <vt:lpstr>两级目录结构</vt:lpstr>
      <vt:lpstr>两级目录结构分析</vt:lpstr>
      <vt:lpstr>层次目录结构 —多级目录结构 </vt:lpstr>
      <vt:lpstr>文件路径</vt:lpstr>
      <vt:lpstr>7.3  文件的逻辑组织与访问 </vt:lpstr>
      <vt:lpstr>PowerPoint 演示文稿</vt:lpstr>
      <vt:lpstr>PowerPoint 演示文稿</vt:lpstr>
      <vt:lpstr>PowerPoint 演示文稿</vt:lpstr>
      <vt:lpstr>有结构文件</vt:lpstr>
      <vt:lpstr>6.3.2 顺序文件</vt:lpstr>
      <vt:lpstr>2．对顺序文件(Sequential File)的读/写操作</vt:lpstr>
      <vt:lpstr>PowerPoint 演示文稿</vt:lpstr>
      <vt:lpstr>PowerPoint 演示文稿</vt:lpstr>
      <vt:lpstr>PowerPoint 演示文稿</vt:lpstr>
      <vt:lpstr>7.3.3.索引文件</vt:lpstr>
      <vt:lpstr>3.索引文件</vt:lpstr>
      <vt:lpstr>3.索引文件</vt:lpstr>
      <vt:lpstr>7.3.4. 索引顺序文件</vt:lpstr>
      <vt:lpstr>7.3.4.索引顺序文件</vt:lpstr>
      <vt:lpstr>7.3.4.索引顺序文件</vt:lpstr>
      <vt:lpstr>7.3.4.索引顺序文件</vt:lpstr>
      <vt:lpstr>PowerPoint 演示文稿</vt:lpstr>
      <vt:lpstr>7.4.5 直接（哈希）文件</vt:lpstr>
      <vt:lpstr> 直接（哈希）文件</vt:lpstr>
      <vt:lpstr> 7.4    文件共享 </vt:lpstr>
      <vt:lpstr>文件共享的实现 </vt:lpstr>
      <vt:lpstr>PowerPoint 演示文稿</vt:lpstr>
      <vt:lpstr>PowerPoint 演示文稿</vt:lpstr>
      <vt:lpstr>PowerPoint 演示文稿</vt:lpstr>
      <vt:lpstr>PowerPoint 演示文稿</vt:lpstr>
      <vt:lpstr> 7.4.2.利用符号链实现文件共享</vt:lpstr>
      <vt:lpstr> 7.4.2.利用符号链实现文件共享</vt:lpstr>
      <vt:lpstr>3.利用URL实现文件共享</vt:lpstr>
      <vt:lpstr>PowerPoint 演示文稿</vt:lpstr>
      <vt:lpstr>利用URL实现文件共享</vt:lpstr>
      <vt:lpstr>利用URL实现文件共享</vt:lpstr>
      <vt:lpstr>Linux文件链接</vt:lpstr>
      <vt:lpstr>Linux连接文件示例</vt:lpstr>
      <vt:lpstr>Linux文件系统</vt:lpstr>
      <vt:lpstr>Linux vfs</vt:lpstr>
      <vt:lpstr>PowerPoint 演示文稿</vt:lpstr>
      <vt:lpstr> 7.5    文件保护与安全 </vt:lpstr>
      <vt:lpstr>文件保护 </vt:lpstr>
      <vt:lpstr>文件保护 </vt:lpstr>
      <vt:lpstr>文件保护 </vt:lpstr>
      <vt:lpstr>安全性管理 </vt:lpstr>
      <vt:lpstr>系统级安全管理 </vt:lpstr>
      <vt:lpstr>系统级安全管理 </vt:lpstr>
      <vt:lpstr>系统级安全管理</vt:lpstr>
      <vt:lpstr>用户级管理：用户分类 </vt:lpstr>
      <vt:lpstr>用户级管理：文件访问权限</vt:lpstr>
      <vt:lpstr>用户级管理：文件访问权限</vt:lpstr>
      <vt:lpstr>目录级安全管理 </vt:lpstr>
      <vt:lpstr>目录级安全管理 </vt:lpstr>
      <vt:lpstr>文件级安全管理</vt:lpstr>
      <vt:lpstr>PowerPoint 演示文稿</vt:lpstr>
      <vt:lpstr>作业</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User</dc:creator>
  <cp:lastModifiedBy>admin</cp:lastModifiedBy>
  <cp:revision>101</cp:revision>
  <dcterms:created xsi:type="dcterms:W3CDTF">2012-09-20T02:42:00Z</dcterms:created>
  <dcterms:modified xsi:type="dcterms:W3CDTF">2021-04-12T05:00:19Z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2F281568A0F44E05B2FE6C57486EA6C1</vt:lpwstr>
  </property>
  <property fmtid="{D5CDD505-2E9C-101B-9397-08002B2CF9AE}" pid="3" name="KSOProductBuildVer">
    <vt:lpwstr>2052-11.1.0.10356</vt:lpwstr>
  </property>
</Properties>
</file>