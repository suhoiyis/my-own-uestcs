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45"/>
  </p:notesMasterIdLst>
  <p:handoutMasterIdLst>
    <p:handoutMasterId r:id="rId209"/>
  </p:handoutMasterIdLst>
  <p:sldIdLst>
    <p:sldId id="256" r:id="rId4"/>
    <p:sldId id="759" r:id="rId5"/>
    <p:sldId id="897" r:id="rId6"/>
    <p:sldId id="898" r:id="rId7"/>
    <p:sldId id="899" r:id="rId8"/>
    <p:sldId id="772" r:id="rId9"/>
    <p:sldId id="773" r:id="rId10"/>
    <p:sldId id="766" r:id="rId11"/>
    <p:sldId id="767" r:id="rId12"/>
    <p:sldId id="768" r:id="rId13"/>
    <p:sldId id="769" r:id="rId14"/>
    <p:sldId id="774" r:id="rId15"/>
    <p:sldId id="775" r:id="rId16"/>
    <p:sldId id="884" r:id="rId17"/>
    <p:sldId id="903" r:id="rId18"/>
    <p:sldId id="265" r:id="rId19"/>
    <p:sldId id="901" r:id="rId20"/>
    <p:sldId id="902" r:id="rId21"/>
    <p:sldId id="266" r:id="rId22"/>
    <p:sldId id="267" r:id="rId23"/>
    <p:sldId id="272" r:id="rId24"/>
    <p:sldId id="486" r:id="rId25"/>
    <p:sldId id="489" r:id="rId26"/>
    <p:sldId id="904" r:id="rId27"/>
    <p:sldId id="278" r:id="rId28"/>
    <p:sldId id="279" r:id="rId29"/>
    <p:sldId id="466" r:id="rId30"/>
    <p:sldId id="487" r:id="rId31"/>
    <p:sldId id="280" r:id="rId32"/>
    <p:sldId id="488" r:id="rId33"/>
    <p:sldId id="285" r:id="rId34"/>
    <p:sldId id="482" r:id="rId35"/>
    <p:sldId id="286" r:id="rId36"/>
    <p:sldId id="287" r:id="rId37"/>
    <p:sldId id="288" r:id="rId38"/>
    <p:sldId id="485" r:id="rId39"/>
    <p:sldId id="289" r:id="rId40"/>
    <p:sldId id="906" r:id="rId41"/>
    <p:sldId id="907" r:id="rId42"/>
    <p:sldId id="908" r:id="rId43"/>
    <p:sldId id="777" r:id="rId44"/>
    <p:sldId id="779" r:id="rId46"/>
    <p:sldId id="290" r:id="rId47"/>
    <p:sldId id="291" r:id="rId48"/>
    <p:sldId id="495" r:id="rId49"/>
    <p:sldId id="292" r:id="rId50"/>
    <p:sldId id="496" r:id="rId51"/>
    <p:sldId id="497" r:id="rId52"/>
    <p:sldId id="293" r:id="rId53"/>
    <p:sldId id="882" r:id="rId54"/>
    <p:sldId id="296" r:id="rId55"/>
    <p:sldId id="776" r:id="rId56"/>
    <p:sldId id="297" r:id="rId57"/>
    <p:sldId id="467" r:id="rId58"/>
    <p:sldId id="299" r:id="rId59"/>
    <p:sldId id="300" r:id="rId60"/>
    <p:sldId id="494" r:id="rId61"/>
    <p:sldId id="501" r:id="rId62"/>
    <p:sldId id="484" r:id="rId63"/>
    <p:sldId id="883" r:id="rId64"/>
    <p:sldId id="301" r:id="rId65"/>
    <p:sldId id="302" r:id="rId66"/>
    <p:sldId id="303" r:id="rId67"/>
    <p:sldId id="511" r:id="rId68"/>
    <p:sldId id="1155" r:id="rId69"/>
    <p:sldId id="1164" r:id="rId70"/>
    <p:sldId id="304" r:id="rId71"/>
    <p:sldId id="305" r:id="rId72"/>
    <p:sldId id="306" r:id="rId73"/>
    <p:sldId id="307" r:id="rId74"/>
    <p:sldId id="891" r:id="rId75"/>
    <p:sldId id="885" r:id="rId76"/>
    <p:sldId id="308" r:id="rId77"/>
    <p:sldId id="886" r:id="rId78"/>
    <p:sldId id="514" r:id="rId79"/>
    <p:sldId id="781" r:id="rId80"/>
    <p:sldId id="528" r:id="rId81"/>
    <p:sldId id="905" r:id="rId82"/>
    <p:sldId id="529" r:id="rId83"/>
    <p:sldId id="530" r:id="rId84"/>
    <p:sldId id="798" r:id="rId85"/>
    <p:sldId id="799" r:id="rId86"/>
    <p:sldId id="801" r:id="rId87"/>
    <p:sldId id="800" r:id="rId88"/>
    <p:sldId id="802" r:id="rId89"/>
    <p:sldId id="803" r:id="rId90"/>
    <p:sldId id="536" r:id="rId91"/>
    <p:sldId id="804" r:id="rId92"/>
    <p:sldId id="544" r:id="rId93"/>
    <p:sldId id="554" r:id="rId94"/>
    <p:sldId id="556" r:id="rId95"/>
    <p:sldId id="805" r:id="rId96"/>
    <p:sldId id="816" r:id="rId97"/>
    <p:sldId id="806" r:id="rId98"/>
    <p:sldId id="807" r:id="rId99"/>
    <p:sldId id="818" r:id="rId100"/>
    <p:sldId id="828" r:id="rId101"/>
    <p:sldId id="823" r:id="rId102"/>
    <p:sldId id="824" r:id="rId103"/>
    <p:sldId id="825" r:id="rId104"/>
    <p:sldId id="826" r:id="rId105"/>
    <p:sldId id="827" r:id="rId106"/>
    <p:sldId id="829" r:id="rId107"/>
    <p:sldId id="830" r:id="rId108"/>
    <p:sldId id="810" r:id="rId109"/>
    <p:sldId id="811" r:id="rId110"/>
    <p:sldId id="812" r:id="rId111"/>
    <p:sldId id="813" r:id="rId112"/>
    <p:sldId id="831" r:id="rId113"/>
    <p:sldId id="814" r:id="rId114"/>
    <p:sldId id="833" r:id="rId115"/>
    <p:sldId id="834" r:id="rId116"/>
    <p:sldId id="832" r:id="rId117"/>
    <p:sldId id="568" r:id="rId118"/>
    <p:sldId id="611" r:id="rId119"/>
    <p:sldId id="835" r:id="rId120"/>
    <p:sldId id="612" r:id="rId121"/>
    <p:sldId id="613" r:id="rId122"/>
    <p:sldId id="629" r:id="rId123"/>
    <p:sldId id="615" r:id="rId124"/>
    <p:sldId id="616" r:id="rId125"/>
    <p:sldId id="617" r:id="rId126"/>
    <p:sldId id="636" r:id="rId127"/>
    <p:sldId id="643" r:id="rId128"/>
    <p:sldId id="632" r:id="rId129"/>
    <p:sldId id="635" r:id="rId130"/>
    <p:sldId id="620" r:id="rId131"/>
    <p:sldId id="836" r:id="rId132"/>
    <p:sldId id="837" r:id="rId133"/>
    <p:sldId id="838" r:id="rId134"/>
    <p:sldId id="839" r:id="rId135"/>
    <p:sldId id="840" r:id="rId136"/>
    <p:sldId id="621" r:id="rId137"/>
    <p:sldId id="622" r:id="rId138"/>
    <p:sldId id="633" r:id="rId139"/>
    <p:sldId id="623" r:id="rId140"/>
    <p:sldId id="846" r:id="rId141"/>
    <p:sldId id="843" r:id="rId142"/>
    <p:sldId id="845" r:id="rId143"/>
    <p:sldId id="841" r:id="rId144"/>
    <p:sldId id="844" r:id="rId145"/>
    <p:sldId id="656" r:id="rId146"/>
    <p:sldId id="657" r:id="rId147"/>
    <p:sldId id="847" r:id="rId148"/>
    <p:sldId id="659" r:id="rId149"/>
    <p:sldId id="660" r:id="rId150"/>
    <p:sldId id="848" r:id="rId151"/>
    <p:sldId id="713" r:id="rId152"/>
    <p:sldId id="849" r:id="rId153"/>
    <p:sldId id="714" r:id="rId154"/>
    <p:sldId id="662" r:id="rId155"/>
    <p:sldId id="668" r:id="rId156"/>
    <p:sldId id="909" r:id="rId157"/>
    <p:sldId id="705" r:id="rId158"/>
    <p:sldId id="691" r:id="rId159"/>
    <p:sldId id="692" r:id="rId160"/>
    <p:sldId id="693" r:id="rId161"/>
    <p:sldId id="694" r:id="rId162"/>
    <p:sldId id="706" r:id="rId163"/>
    <p:sldId id="850" r:id="rId164"/>
    <p:sldId id="707" r:id="rId165"/>
    <p:sldId id="708" r:id="rId166"/>
    <p:sldId id="709" r:id="rId167"/>
    <p:sldId id="710" r:id="rId168"/>
    <p:sldId id="711" r:id="rId169"/>
    <p:sldId id="895" r:id="rId170"/>
    <p:sldId id="896" r:id="rId171"/>
    <p:sldId id="892" r:id="rId172"/>
    <p:sldId id="893" r:id="rId173"/>
    <p:sldId id="894" r:id="rId174"/>
    <p:sldId id="912" r:id="rId175"/>
    <p:sldId id="782" r:id="rId176"/>
    <p:sldId id="851" r:id="rId177"/>
    <p:sldId id="783" r:id="rId178"/>
    <p:sldId id="853" r:id="rId179"/>
    <p:sldId id="854" r:id="rId180"/>
    <p:sldId id="855" r:id="rId181"/>
    <p:sldId id="856" r:id="rId182"/>
    <p:sldId id="910" r:id="rId183"/>
    <p:sldId id="857" r:id="rId184"/>
    <p:sldId id="859" r:id="rId185"/>
    <p:sldId id="911" r:id="rId186"/>
    <p:sldId id="860" r:id="rId187"/>
    <p:sldId id="873" r:id="rId188"/>
    <p:sldId id="874" r:id="rId189"/>
    <p:sldId id="861" r:id="rId190"/>
    <p:sldId id="862" r:id="rId191"/>
    <p:sldId id="875" r:id="rId192"/>
    <p:sldId id="1163" r:id="rId193"/>
    <p:sldId id="867" r:id="rId194"/>
    <p:sldId id="1157" r:id="rId195"/>
    <p:sldId id="878" r:id="rId196"/>
    <p:sldId id="913" r:id="rId197"/>
    <p:sldId id="914" r:id="rId198"/>
    <p:sldId id="868" r:id="rId199"/>
    <p:sldId id="872" r:id="rId200"/>
    <p:sldId id="797" r:id="rId201"/>
    <p:sldId id="1156" r:id="rId202"/>
    <p:sldId id="1158" r:id="rId203"/>
    <p:sldId id="1161" r:id="rId204"/>
    <p:sldId id="1162" r:id="rId205"/>
    <p:sldId id="1159" r:id="rId206"/>
    <p:sldId id="1160" r:id="rId207"/>
    <p:sldId id="877" r:id="rId208"/>
  </p:sldIdLst>
  <p:sldSz cx="9144000" cy="6858000" type="screen4x3"/>
  <p:notesSz cx="6797675" cy="9928225"/>
  <p:custDataLst>
    <p:tags r:id="rId213"/>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66FF"/>
    <a:srgbClr val="111111"/>
    <a:srgbClr val="000099"/>
    <a:srgbClr val="080808"/>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202"/>
    <p:restoredTop sz="94290"/>
  </p:normalViewPr>
  <p:slideViewPr>
    <p:cSldViewPr showGuides="1">
      <p:cViewPr varScale="1">
        <p:scale>
          <a:sx n="108" d="100"/>
          <a:sy n="108" d="100"/>
        </p:scale>
        <p:origin x="1614" y="108"/>
      </p:cViewPr>
      <p:guideLst>
        <p:guide orient="horz" pos="2191"/>
        <p:guide pos="289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8732"/>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notesMaster" Target="notesMasters/notes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3" Type="http://schemas.openxmlformats.org/officeDocument/2006/relationships/tags" Target="tags/tag1.xml"/><Relationship Id="rId212" Type="http://schemas.openxmlformats.org/officeDocument/2006/relationships/tableStyles" Target="tableStyles.xml"/><Relationship Id="rId211" Type="http://schemas.openxmlformats.org/officeDocument/2006/relationships/viewProps" Target="viewProps.xml"/><Relationship Id="rId210" Type="http://schemas.openxmlformats.org/officeDocument/2006/relationships/presProps" Target="presProps.xml"/><Relationship Id="rId21" Type="http://schemas.openxmlformats.org/officeDocument/2006/relationships/slide" Target="slides/slide18.xml"/><Relationship Id="rId209" Type="http://schemas.openxmlformats.org/officeDocument/2006/relationships/handoutMaster" Target="handoutMasters/handoutMaster1.xml"/><Relationship Id="rId208" Type="http://schemas.openxmlformats.org/officeDocument/2006/relationships/slide" Target="slides/slide204.xml"/><Relationship Id="rId207" Type="http://schemas.openxmlformats.org/officeDocument/2006/relationships/slide" Target="slides/slide203.xml"/><Relationship Id="rId206" Type="http://schemas.openxmlformats.org/officeDocument/2006/relationships/slide" Target="slides/slide202.xml"/><Relationship Id="rId205" Type="http://schemas.openxmlformats.org/officeDocument/2006/relationships/slide" Target="slides/slide201.xml"/><Relationship Id="rId204" Type="http://schemas.openxmlformats.org/officeDocument/2006/relationships/slide" Target="slides/slide200.xml"/><Relationship Id="rId203" Type="http://schemas.openxmlformats.org/officeDocument/2006/relationships/slide" Target="slides/slide199.xml"/><Relationship Id="rId202" Type="http://schemas.openxmlformats.org/officeDocument/2006/relationships/slide" Target="slides/slide198.xml"/><Relationship Id="rId201" Type="http://schemas.openxmlformats.org/officeDocument/2006/relationships/slide" Target="slides/slide197.xml"/><Relationship Id="rId200" Type="http://schemas.openxmlformats.org/officeDocument/2006/relationships/slide" Target="slides/slide196.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5.xml"/><Relationship Id="rId198" Type="http://schemas.openxmlformats.org/officeDocument/2006/relationships/slide" Target="slides/slide194.xml"/><Relationship Id="rId197" Type="http://schemas.openxmlformats.org/officeDocument/2006/relationships/slide" Target="slides/slide193.xml"/><Relationship Id="rId196" Type="http://schemas.openxmlformats.org/officeDocument/2006/relationships/slide" Target="slides/slide192.xml"/><Relationship Id="rId195" Type="http://schemas.openxmlformats.org/officeDocument/2006/relationships/slide" Target="slides/slide191.xml"/><Relationship Id="rId194" Type="http://schemas.openxmlformats.org/officeDocument/2006/relationships/slide" Target="slides/slide190.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6.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5.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2189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1891" name="Rectangle 3"/>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1892" name="Rectangle 4"/>
          <p:cNvSpPr>
            <a:spLocks noGrp="1" noChangeArrowheads="1"/>
          </p:cNvSpPr>
          <p:nvPr>
            <p:ph type="ftr" sz="quarter" idx="2"/>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1893" name="Rectangle 5"/>
          <p:cNvSpPr>
            <a:spLocks noGrp="1" noChangeArrowheads="1"/>
          </p:cNvSpPr>
          <p:nvPr>
            <p:ph type="sldNum" sz="quarter" idx="3"/>
          </p:nvPr>
        </p:nvSpPr>
        <p:spPr bwMode="auto">
          <a:xfrm>
            <a:off x="3849688"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30CBE45C-4671-4CFA-A662-19CF5B79D412}"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493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93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noTextEdit="1"/>
          </p:cNvSpPr>
          <p:nvPr>
            <p:ph type="sldImg" idx="2"/>
          </p:nvPr>
        </p:nvSpPr>
        <p:spPr>
          <a:xfrm>
            <a:off x="915988" y="744538"/>
            <a:ext cx="4965700" cy="3722687"/>
          </a:xfrm>
          <a:prstGeom prst="rect">
            <a:avLst/>
          </a:prstGeom>
          <a:noFill/>
          <a:ln w="9525" cap="flat" cmpd="sng">
            <a:solidFill>
              <a:srgbClr val="000000"/>
            </a:solidFill>
            <a:prstDash val="solid"/>
            <a:miter/>
            <a:headEnd type="none" w="med" len="med"/>
            <a:tailEnd type="none" w="med" len="med"/>
          </a:ln>
        </p:spPr>
      </p:sp>
      <p:sp>
        <p:nvSpPr>
          <p:cNvPr id="124933" name="Rectangle 5"/>
          <p:cNvSpPr>
            <a:spLocks noGrp="1" noChangeArrowheads="1"/>
          </p:cNvSpPr>
          <p:nvPr>
            <p:ph type="body" sz="quarter" idx="3"/>
          </p:nvPr>
        </p:nvSpPr>
        <p:spPr bwMode="auto">
          <a:xfrm>
            <a:off x="679450" y="4716463"/>
            <a:ext cx="5438775" cy="4467225"/>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934" name="Rectangle 6"/>
          <p:cNvSpPr>
            <a:spLocks noGrp="1" noChangeArrowheads="1"/>
          </p:cNvSpPr>
          <p:nvPr>
            <p:ph type="ftr" sz="quarter" idx="4"/>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4935" name="Rectangle 7"/>
          <p:cNvSpPr>
            <a:spLocks noGrp="1" noChangeArrowheads="1"/>
          </p:cNvSpPr>
          <p:nvPr>
            <p:ph type="sldNum" sz="quarter" idx="5"/>
          </p:nvPr>
        </p:nvSpPr>
        <p:spPr bwMode="auto">
          <a:xfrm>
            <a:off x="3849688"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669E229E-58A5-463E-B12B-CB37BDF50DAE}" type="slidenum">
              <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49688"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46083" name="Rectangle 2"/>
          <p:cNvSpPr>
            <a:spLocks noRot="1" noTextEdit="1"/>
          </p:cNvSpPr>
          <p:nvPr>
            <p:ph type="sldImg"/>
          </p:nvPr>
        </p:nvSpPr>
        <p:spPr>
          <a:xfrm>
            <a:off x="917575" y="744538"/>
            <a:ext cx="4962525" cy="3722687"/>
          </a:xfrm>
        </p:spPr>
      </p:sp>
      <p:sp>
        <p:nvSpPr>
          <p:cNvPr id="460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49688"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48131" name="Rectangle 2"/>
          <p:cNvSpPr>
            <a:spLocks noRot="1" noTextEdit="1"/>
          </p:cNvSpPr>
          <p:nvPr>
            <p:ph type="sldImg"/>
          </p:nvPr>
        </p:nvSpPr>
        <p:spPr>
          <a:xfrm>
            <a:off x="917575" y="744538"/>
            <a:ext cx="4962525" cy="3722687"/>
          </a:xfrm>
        </p:spPr>
      </p:sp>
      <p:sp>
        <p:nvSpPr>
          <p:cNvPr id="481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E6002CC-815D-BE4B-81EB-EBA1045E37A0}" type="slidenum">
              <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endParaRPr>
          </a:p>
        </p:txBody>
      </p:sp>
      <p:sp>
        <p:nvSpPr>
          <p:cNvPr id="33795" name="Rectangle 2"/>
          <p:cNvSpPr>
            <a:spLocks noGrp="1" noRot="1" noChangeAspect="1" noChangeArrowheads="1" noTextEdit="1"/>
          </p:cNvSpPr>
          <p:nvPr>
            <p:ph type="sldImg"/>
          </p:nvPr>
        </p:nvSpPr>
        <p:spPr>
          <a:xfrm>
            <a:off x="381000" y="685800"/>
            <a:ext cx="6096000" cy="3429000"/>
          </a:xfrm>
        </p:spPr>
      </p:sp>
      <p:sp>
        <p:nvSpPr>
          <p:cNvPr id="3379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lgn="just">
              <a:lnSpc>
                <a:spcPct val="120000"/>
              </a:lnSpc>
              <a:spcBef>
                <a:spcPts val="0"/>
              </a:spcBef>
            </a:pPr>
            <a:r>
              <a:rPr lang="zh-CN" altLang="en-US" sz="2200" b="0" kern="1200" dirty="0">
                <a:solidFill>
                  <a:schemeClr val="tx1"/>
                </a:solidFill>
                <a:latin typeface="+mj-ea"/>
                <a:ea typeface="微软雅黑" panose="020B0503020204020204" charset="-122"/>
                <a:cs typeface="+mn-cs"/>
              </a:rPr>
              <a:t>进程在退出之前会释放进程用户空间的所有资源，但</a:t>
            </a:r>
            <a:r>
              <a:rPr lang="en-GB" altLang="zh-CN" sz="2200" b="0" kern="1200" dirty="0">
                <a:solidFill>
                  <a:schemeClr val="tx1"/>
                </a:solidFill>
                <a:latin typeface="+mj-ea"/>
                <a:ea typeface="微软雅黑" panose="020B0503020204020204" charset="-122"/>
                <a:cs typeface="+mn-cs"/>
              </a:rPr>
              <a:t>PCB</a:t>
            </a:r>
            <a:r>
              <a:rPr lang="zh-CN" altLang="en-US" sz="2200" b="0" kern="1200" dirty="0">
                <a:solidFill>
                  <a:schemeClr val="tx1"/>
                </a:solidFill>
                <a:latin typeface="+mj-ea"/>
                <a:ea typeface="微软雅黑" panose="020B0503020204020204" charset="-122"/>
                <a:cs typeface="+mn-cs"/>
              </a:rPr>
              <a:t>等内核空间资源不会被释放</a:t>
            </a:r>
            <a:endParaRPr lang="zh-CN" altLang="en-US" sz="2200" b="0" kern="1200" dirty="0">
              <a:solidFill>
                <a:schemeClr val="tx1"/>
              </a:solidFill>
              <a:latin typeface="+mj-ea"/>
              <a:ea typeface="微软雅黑" panose="020B0503020204020204" charset="-122"/>
              <a:cs typeface="+mn-cs"/>
            </a:endParaRPr>
          </a:p>
          <a:p>
            <a:pPr lvl="1" algn="just">
              <a:lnSpc>
                <a:spcPct val="120000"/>
              </a:lnSpc>
              <a:spcBef>
                <a:spcPts val="0"/>
              </a:spcBef>
            </a:pPr>
            <a:r>
              <a:rPr lang="zh-CN" altLang="en-US" sz="2200" b="0" kern="1200" dirty="0">
                <a:solidFill>
                  <a:schemeClr val="tx1"/>
                </a:solidFill>
                <a:latin typeface="+mj-ea"/>
                <a:ea typeface="微软雅黑" panose="020B0503020204020204" charset="-122"/>
                <a:cs typeface="+mn-cs"/>
              </a:rPr>
              <a:t>对于已经终止但父进程尚未对其调用</a:t>
            </a:r>
            <a:r>
              <a:rPr lang="en-GB" altLang="zh-CN" sz="2200" b="0" kern="1200" dirty="0">
                <a:solidFill>
                  <a:schemeClr val="tx1"/>
                </a:solidFill>
                <a:latin typeface="+mj-ea"/>
                <a:ea typeface="微软雅黑" panose="020B0503020204020204" charset="-122"/>
                <a:cs typeface="+mn-cs"/>
              </a:rPr>
              <a:t>wait</a:t>
            </a:r>
            <a:r>
              <a:rPr lang="zh-CN" altLang="en-US" sz="2200" b="0" kern="1200" dirty="0">
                <a:solidFill>
                  <a:schemeClr val="tx1"/>
                </a:solidFill>
                <a:latin typeface="+mj-ea"/>
                <a:ea typeface="微软雅黑" panose="020B0503020204020204" charset="-122"/>
                <a:cs typeface="+mn-cs"/>
              </a:rPr>
              <a:t>或</a:t>
            </a:r>
            <a:r>
              <a:rPr lang="en-GB" altLang="zh-CN" sz="2200" b="0" kern="1200" dirty="0" err="1">
                <a:solidFill>
                  <a:schemeClr val="tx1"/>
                </a:solidFill>
                <a:latin typeface="+mj-ea"/>
                <a:ea typeface="微软雅黑" panose="020B0503020204020204" charset="-122"/>
                <a:cs typeface="+mn-cs"/>
              </a:rPr>
              <a:t>waitpid</a:t>
            </a:r>
            <a:r>
              <a:rPr lang="zh-CN" altLang="en-US" sz="2200" b="0" kern="1200" dirty="0">
                <a:solidFill>
                  <a:schemeClr val="tx1"/>
                </a:solidFill>
                <a:latin typeface="+mj-ea"/>
                <a:ea typeface="微软雅黑" panose="020B0503020204020204" charset="-122"/>
                <a:cs typeface="+mn-cs"/>
              </a:rPr>
              <a:t>函数的进程（</a:t>
            </a:r>
            <a:r>
              <a:rPr lang="en-GB" altLang="zh-CN" sz="2200" b="0" kern="1200" dirty="0">
                <a:solidFill>
                  <a:schemeClr val="tx1"/>
                </a:solidFill>
                <a:latin typeface="+mj-ea"/>
                <a:ea typeface="微软雅黑" panose="020B0503020204020204" charset="-122"/>
                <a:cs typeface="+mn-cs"/>
              </a:rPr>
              <a:t>TASK_ZOMBIE</a:t>
            </a:r>
            <a:r>
              <a:rPr lang="zh-CN" altLang="en-US" sz="2200" b="0" kern="1200" dirty="0">
                <a:solidFill>
                  <a:schemeClr val="tx1"/>
                </a:solidFill>
                <a:latin typeface="+mj-ea"/>
                <a:ea typeface="微软雅黑" panose="020B0503020204020204" charset="-122"/>
                <a:cs typeface="+mn-cs"/>
              </a:rPr>
              <a:t>状态），称为僵尸进程</a:t>
            </a:r>
            <a:endParaRPr lang="zh-CN" altLang="en-US" sz="22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endParaRPr lang="en-US" altLang="zh-CN" sz="8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endParaRPr lang="en-US" altLang="zh-CN" sz="8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r>
              <a:rPr lang="zh-CN" altLang="en-US" sz="800" b="0" kern="1200" dirty="0">
                <a:solidFill>
                  <a:schemeClr val="tx1"/>
                </a:solidFill>
                <a:latin typeface="+mj-ea"/>
                <a:ea typeface="微软雅黑" panose="020B0503020204020204" charset="-122"/>
                <a:cs typeface="+mn-cs"/>
              </a:rPr>
              <a:t>内核将根据情况关闭该进程打开的所有文件，释放</a:t>
            </a:r>
            <a:r>
              <a:rPr lang="en-US" altLang="zh-CN" sz="800" b="0" kern="1200" dirty="0">
                <a:solidFill>
                  <a:schemeClr val="tx1"/>
                </a:solidFill>
                <a:latin typeface="+mj-ea"/>
                <a:ea typeface="微软雅黑" panose="020B0503020204020204" charset="-122"/>
                <a:cs typeface="+mn-cs"/>
              </a:rPr>
              <a:t>PCB</a:t>
            </a:r>
            <a:r>
              <a:rPr lang="zh-CN" altLang="en-US" sz="800" b="0" kern="1200" dirty="0">
                <a:solidFill>
                  <a:schemeClr val="tx1"/>
                </a:solidFill>
                <a:latin typeface="+mj-ea"/>
                <a:ea typeface="微软雅黑" panose="020B0503020204020204" charset="-122"/>
                <a:cs typeface="+mn-cs"/>
              </a:rPr>
              <a:t>（释放内核空间资源）</a:t>
            </a:r>
            <a:endParaRPr lang="zh-CN" altLang="en-US" sz="800" b="0" kern="1200" dirty="0">
              <a:solidFill>
                <a:schemeClr val="tx1"/>
              </a:solidFill>
              <a:latin typeface="+mj-ea"/>
              <a:ea typeface="微软雅黑" panose="020B0503020204020204" charset="-122"/>
              <a:cs typeface="+mn-cs"/>
            </a:endParaRPr>
          </a:p>
          <a:p>
            <a:pPr algn="just" eaLnBrk="1" hangingPunct="1">
              <a:lnSpc>
                <a:spcPct val="115000"/>
              </a:lnSpc>
              <a:defRPr/>
            </a:pPr>
            <a:endParaRPr lang="zh-CN" altLang="en-US" sz="1200" b="1" dirty="0">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3E6002CC-815D-BE4B-81EB-EBA1045E37A0}" type="slidenum">
              <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2D2E2D"/>
              </a:solidFill>
              <a:effectLst/>
              <a:uLnTx/>
              <a:uFillTx/>
              <a:latin typeface="Arial" panose="020B0604020202020204" pitchFamily="34" charset="0"/>
              <a:ea typeface="宋体" panose="02010600030101010101" pitchFamily="2" charset="-122"/>
              <a:cs typeface="+mn-cs"/>
            </a:endParaRPr>
          </a:p>
        </p:txBody>
      </p:sp>
      <p:sp>
        <p:nvSpPr>
          <p:cNvPr id="33795" name="Rectangle 2"/>
          <p:cNvSpPr>
            <a:spLocks noGrp="1" noRot="1" noChangeAspect="1" noChangeArrowheads="1" noTextEdit="1"/>
          </p:cNvSpPr>
          <p:nvPr>
            <p:ph type="sldImg"/>
          </p:nvPr>
        </p:nvSpPr>
        <p:spPr>
          <a:xfrm>
            <a:off x="381000" y="685800"/>
            <a:ext cx="6096000" cy="3429000"/>
          </a:xfrm>
        </p:spPr>
      </p:sp>
      <p:sp>
        <p:nvSpPr>
          <p:cNvPr id="3379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lgn="just">
              <a:lnSpc>
                <a:spcPct val="120000"/>
              </a:lnSpc>
              <a:spcBef>
                <a:spcPts val="0"/>
              </a:spcBef>
            </a:pPr>
            <a:r>
              <a:rPr lang="zh-CN" altLang="en-US" sz="2200" b="0" kern="1200" dirty="0">
                <a:solidFill>
                  <a:schemeClr val="tx1"/>
                </a:solidFill>
                <a:latin typeface="+mj-ea"/>
                <a:ea typeface="微软雅黑" panose="020B0503020204020204" charset="-122"/>
                <a:cs typeface="+mn-cs"/>
              </a:rPr>
              <a:t>进程在退出之前会释放进程用户空间的所有资源，但</a:t>
            </a:r>
            <a:r>
              <a:rPr lang="en-GB" altLang="zh-CN" sz="2200" b="0" kern="1200" dirty="0">
                <a:solidFill>
                  <a:schemeClr val="tx1"/>
                </a:solidFill>
                <a:latin typeface="+mj-ea"/>
                <a:ea typeface="微软雅黑" panose="020B0503020204020204" charset="-122"/>
                <a:cs typeface="+mn-cs"/>
              </a:rPr>
              <a:t>PCB</a:t>
            </a:r>
            <a:r>
              <a:rPr lang="zh-CN" altLang="en-US" sz="2200" b="0" kern="1200" dirty="0">
                <a:solidFill>
                  <a:schemeClr val="tx1"/>
                </a:solidFill>
                <a:latin typeface="+mj-ea"/>
                <a:ea typeface="微软雅黑" panose="020B0503020204020204" charset="-122"/>
                <a:cs typeface="+mn-cs"/>
              </a:rPr>
              <a:t>等内核空间资源不会被释放</a:t>
            </a:r>
            <a:endParaRPr lang="zh-CN" altLang="en-US" sz="2200" b="0" kern="1200" dirty="0">
              <a:solidFill>
                <a:schemeClr val="tx1"/>
              </a:solidFill>
              <a:latin typeface="+mj-ea"/>
              <a:ea typeface="微软雅黑" panose="020B0503020204020204" charset="-122"/>
              <a:cs typeface="+mn-cs"/>
            </a:endParaRPr>
          </a:p>
          <a:p>
            <a:pPr lvl="1" algn="just">
              <a:lnSpc>
                <a:spcPct val="120000"/>
              </a:lnSpc>
              <a:spcBef>
                <a:spcPts val="0"/>
              </a:spcBef>
            </a:pPr>
            <a:r>
              <a:rPr lang="zh-CN" altLang="en-US" sz="2200" b="0" kern="1200" dirty="0">
                <a:solidFill>
                  <a:schemeClr val="tx1"/>
                </a:solidFill>
                <a:latin typeface="+mj-ea"/>
                <a:ea typeface="微软雅黑" panose="020B0503020204020204" charset="-122"/>
                <a:cs typeface="+mn-cs"/>
              </a:rPr>
              <a:t>对于已经终止但父进程尚未对其调用</a:t>
            </a:r>
            <a:r>
              <a:rPr lang="en-GB" altLang="zh-CN" sz="2200" b="0" kern="1200" dirty="0">
                <a:solidFill>
                  <a:schemeClr val="tx1"/>
                </a:solidFill>
                <a:latin typeface="+mj-ea"/>
                <a:ea typeface="微软雅黑" panose="020B0503020204020204" charset="-122"/>
                <a:cs typeface="+mn-cs"/>
              </a:rPr>
              <a:t>wait</a:t>
            </a:r>
            <a:r>
              <a:rPr lang="zh-CN" altLang="en-US" sz="2200" b="0" kern="1200" dirty="0">
                <a:solidFill>
                  <a:schemeClr val="tx1"/>
                </a:solidFill>
                <a:latin typeface="+mj-ea"/>
                <a:ea typeface="微软雅黑" panose="020B0503020204020204" charset="-122"/>
                <a:cs typeface="+mn-cs"/>
              </a:rPr>
              <a:t>或</a:t>
            </a:r>
            <a:r>
              <a:rPr lang="en-GB" altLang="zh-CN" sz="2200" b="0" kern="1200" dirty="0" err="1">
                <a:solidFill>
                  <a:schemeClr val="tx1"/>
                </a:solidFill>
                <a:latin typeface="+mj-ea"/>
                <a:ea typeface="微软雅黑" panose="020B0503020204020204" charset="-122"/>
                <a:cs typeface="+mn-cs"/>
              </a:rPr>
              <a:t>waitpid</a:t>
            </a:r>
            <a:r>
              <a:rPr lang="zh-CN" altLang="en-US" sz="2200" b="0" kern="1200" dirty="0">
                <a:solidFill>
                  <a:schemeClr val="tx1"/>
                </a:solidFill>
                <a:latin typeface="+mj-ea"/>
                <a:ea typeface="微软雅黑" panose="020B0503020204020204" charset="-122"/>
                <a:cs typeface="+mn-cs"/>
              </a:rPr>
              <a:t>函数的进程（</a:t>
            </a:r>
            <a:r>
              <a:rPr lang="en-GB" altLang="zh-CN" sz="2200" b="0" kern="1200" dirty="0">
                <a:solidFill>
                  <a:schemeClr val="tx1"/>
                </a:solidFill>
                <a:latin typeface="+mj-ea"/>
                <a:ea typeface="微软雅黑" panose="020B0503020204020204" charset="-122"/>
                <a:cs typeface="+mn-cs"/>
              </a:rPr>
              <a:t>TASK_ZOMBIE</a:t>
            </a:r>
            <a:r>
              <a:rPr lang="zh-CN" altLang="en-US" sz="2200" b="0" kern="1200" dirty="0">
                <a:solidFill>
                  <a:schemeClr val="tx1"/>
                </a:solidFill>
                <a:latin typeface="+mj-ea"/>
                <a:ea typeface="微软雅黑" panose="020B0503020204020204" charset="-122"/>
                <a:cs typeface="+mn-cs"/>
              </a:rPr>
              <a:t>状态），称为僵尸进程</a:t>
            </a:r>
            <a:endParaRPr lang="zh-CN" altLang="en-US" sz="22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endParaRPr lang="en-US" altLang="zh-CN" sz="8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endParaRPr lang="en-US" altLang="zh-CN" sz="800" b="0" kern="1200" dirty="0">
              <a:solidFill>
                <a:schemeClr val="tx1"/>
              </a:solidFill>
              <a:latin typeface="+mj-ea"/>
              <a:ea typeface="微软雅黑" panose="020B0503020204020204" charset="-122"/>
              <a:cs typeface="+mn-cs"/>
            </a:endParaRPr>
          </a:p>
          <a:p>
            <a:pPr marL="0" marR="0" lvl="0" indent="0" algn="just" defTabSz="914400" rtl="0" eaLnBrk="1" fontAlgn="auto" latinLnBrk="0" hangingPunct="1">
              <a:lnSpc>
                <a:spcPct val="115000"/>
              </a:lnSpc>
              <a:spcBef>
                <a:spcPts val="0"/>
              </a:spcBef>
              <a:spcAft>
                <a:spcPts val="0"/>
              </a:spcAft>
              <a:buClrTx/>
              <a:buSzTx/>
              <a:buFontTx/>
              <a:buNone/>
              <a:defRPr/>
            </a:pPr>
            <a:r>
              <a:rPr lang="zh-CN" altLang="en-US" sz="800" b="0" kern="1200" dirty="0">
                <a:solidFill>
                  <a:schemeClr val="tx1"/>
                </a:solidFill>
                <a:latin typeface="+mj-ea"/>
                <a:ea typeface="微软雅黑" panose="020B0503020204020204" charset="-122"/>
                <a:cs typeface="+mn-cs"/>
              </a:rPr>
              <a:t>内核将根据情况关闭该进程打开的所有文件，释放</a:t>
            </a:r>
            <a:r>
              <a:rPr lang="en-US" altLang="zh-CN" sz="800" b="0" kern="1200" dirty="0">
                <a:solidFill>
                  <a:schemeClr val="tx1"/>
                </a:solidFill>
                <a:latin typeface="+mj-ea"/>
                <a:ea typeface="微软雅黑" panose="020B0503020204020204" charset="-122"/>
                <a:cs typeface="+mn-cs"/>
              </a:rPr>
              <a:t>PCB</a:t>
            </a:r>
            <a:r>
              <a:rPr lang="zh-CN" altLang="en-US" sz="800" b="0" kern="1200" dirty="0">
                <a:solidFill>
                  <a:schemeClr val="tx1"/>
                </a:solidFill>
                <a:latin typeface="+mj-ea"/>
                <a:ea typeface="微软雅黑" panose="020B0503020204020204" charset="-122"/>
                <a:cs typeface="+mn-cs"/>
              </a:rPr>
              <a:t>（释放内核空间资源）</a:t>
            </a:r>
            <a:endParaRPr lang="zh-CN" altLang="en-US" sz="800" b="0" kern="1200" dirty="0">
              <a:solidFill>
                <a:schemeClr val="tx1"/>
              </a:solidFill>
              <a:latin typeface="+mj-ea"/>
              <a:ea typeface="微软雅黑" panose="020B0503020204020204" charset="-122"/>
              <a:cs typeface="+mn-cs"/>
            </a:endParaRPr>
          </a:p>
          <a:p>
            <a:pPr algn="just" eaLnBrk="1" hangingPunct="1">
              <a:lnSpc>
                <a:spcPct val="115000"/>
              </a:lnSpc>
              <a:defRPr/>
            </a:pPr>
            <a:endParaRPr lang="zh-CN" altLang="en-US" sz="1200" b="1" dirty="0">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幻灯片图像占位符 1"/>
          <p:cNvSpPr>
            <a:spLocks noGrp="1" noRot="1" noChangeAspect="1" noTextEdit="1"/>
          </p:cNvSpPr>
          <p:nvPr>
            <p:ph type="sldImg"/>
          </p:nvPr>
        </p:nvSpPr>
        <p:spPr>
          <a:xfrm>
            <a:off x="917575" y="744538"/>
            <a:ext cx="4962525" cy="3722687"/>
          </a:xfrm>
        </p:spPr>
      </p:sp>
      <p:sp>
        <p:nvSpPr>
          <p:cNvPr id="100355" name="备注占位符 2"/>
          <p:cNvSpPr>
            <a:spLocks noGrp="1"/>
          </p:cNvSpPr>
          <p:nvPr>
            <p:ph type="body" idx="1"/>
          </p:nvPr>
        </p:nvSpPr>
        <p:spPr/>
        <p:txBody>
          <a:bodyPr wrap="square" lIns="91440" tIns="45720" rIns="91440" bIns="45720" anchor="t" anchorCtr="0"/>
          <a:p>
            <a:pPr lvl="0"/>
            <a:endParaRPr lang="zh-CN" altLang="en-US" dirty="0"/>
          </a:p>
        </p:txBody>
      </p:sp>
      <p:sp>
        <p:nvSpPr>
          <p:cNvPr id="100356" name="灯片编号占位符 3"/>
          <p:cNvSpPr txBox="1">
            <a:spLocks noGrp="1"/>
          </p:cNvSpPr>
          <p:nvPr>
            <p:ph type="sldNum" sz="quarter"/>
          </p:nvPr>
        </p:nvSpPr>
        <p:spPr>
          <a:xfrm>
            <a:off x="3849688"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幻灯片图像占位符 1"/>
          <p:cNvSpPr>
            <a:spLocks noGrp="1" noRot="1" noChangeAspect="1" noTextEdit="1"/>
          </p:cNvSpPr>
          <p:nvPr>
            <p:ph type="sldImg"/>
          </p:nvPr>
        </p:nvSpPr>
        <p:spPr>
          <a:xfrm>
            <a:off x="917575" y="744538"/>
            <a:ext cx="4962525" cy="3722687"/>
          </a:xfrm>
        </p:spPr>
      </p:sp>
      <p:sp>
        <p:nvSpPr>
          <p:cNvPr id="155651" name="备注占位符 2"/>
          <p:cNvSpPr>
            <a:spLocks noGrp="1"/>
          </p:cNvSpPr>
          <p:nvPr>
            <p:ph type="body" idx="1"/>
          </p:nvPr>
        </p:nvSpPr>
        <p:spPr/>
        <p:txBody>
          <a:bodyPr wrap="square" lIns="91440" tIns="45720" rIns="91440" bIns="45720" anchor="t" anchorCtr="0"/>
          <a:p>
            <a:pPr lvl="0"/>
            <a:endParaRPr lang="zh-CN" altLang="en-US" dirty="0"/>
          </a:p>
        </p:txBody>
      </p:sp>
      <p:sp>
        <p:nvSpPr>
          <p:cNvPr id="155652" name="灯片编号占位符 3"/>
          <p:cNvSpPr txBox="1">
            <a:spLocks noGrp="1"/>
          </p:cNvSpPr>
          <p:nvPr>
            <p:ph type="sldNum" sz="quarter"/>
          </p:nvPr>
        </p:nvSpPr>
        <p:spPr>
          <a:xfrm>
            <a:off x="3849688" y="9429750"/>
            <a:ext cx="2946400" cy="496888"/>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2.8</a:t>
            </a:r>
            <a:r>
              <a:rPr lang="zh-CN" altLang="en-US" dirty="0"/>
              <a:t>小节自学</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这里的</a:t>
            </a:r>
            <a:r>
              <a:rPr lang="en-US" altLang="zh-CN" dirty="0"/>
              <a:t>P</a:t>
            </a:r>
            <a:r>
              <a:rPr lang="zh-CN" altLang="en-US" dirty="0"/>
              <a:t>是进程</a:t>
            </a:r>
            <a:endParaRPr lang="en-US" altLang="zh-CN" dirty="0"/>
          </a:p>
          <a:p>
            <a:pPr marL="171450" indent="-171450">
              <a:buFont typeface="Arial" panose="020B0604020202020204" pitchFamily="34" charset="0"/>
              <a:buChar char="•"/>
            </a:pPr>
            <a:r>
              <a:rPr lang="zh-CN" altLang="en-US" dirty="0"/>
              <a:t>在组合方式中，内核支持多个内核支持线程的建立、调度和管理。同时，也允许用户程序建立、调度和管理用户级线程。一些内核支持线程对应多个用户级线程，这是用户级线程通过时分多路复用内核支持线程来实现。</a:t>
            </a:r>
            <a:endParaRPr lang="en-US" altLang="zh-CN" dirty="0"/>
          </a:p>
          <a:p>
            <a:pPr marL="171450" indent="-171450">
              <a:buFont typeface="Arial" panose="020B0604020202020204" pitchFamily="34" charset="0"/>
              <a:buChar char="•"/>
            </a:pPr>
            <a:r>
              <a:rPr lang="zh-CN" altLang="en-US" dirty="0"/>
              <a:t>在组合方式中，同一个进程内的多个线程可以同时在多处理器上并行执行，阻塞一个线程时不会导致整个进程阻塞。</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2869989-EB00-4EE7-BCB5-25BDC5BB29F8}" type="slidenum">
              <a:rPr kumimoji="0" lang="en-US" altLang="zh-CN" sz="1200" b="0" i="0" u="none" strike="noStrike" kern="1200" cap="none" spc="0" normalizeH="0" baseline="0" noProof="0" smtClean="0">
                <a:ln>
                  <a:noFill/>
                </a:ln>
                <a:solidFill>
                  <a:srgbClr val="2D2E2D"/>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dirty="0">
              <a:ln>
                <a:noFill/>
              </a:ln>
              <a:solidFill>
                <a:srgbClr val="2D2E2D"/>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228600"/>
            <a:ext cx="8540750" cy="5870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首页">
    <p:spTree>
      <p:nvGrpSpPr>
        <p:cNvPr id="1" name=""/>
        <p:cNvGrpSpPr/>
        <p:nvPr/>
      </p:nvGrpSpPr>
      <p:grpSpPr>
        <a:xfrm>
          <a:off x="0" y="0"/>
          <a:ext cx="0" cy="0"/>
          <a:chOff x="0" y="0"/>
          <a:chExt cx="0" cy="0"/>
        </a:xfrm>
      </p:grpSpPr>
      <p:grpSp>
        <p:nvGrpSpPr>
          <p:cNvPr id="5" name="组 4"/>
          <p:cNvGrpSpPr/>
          <p:nvPr userDrawn="1"/>
        </p:nvGrpSpPr>
        <p:grpSpPr bwMode="hidden">
          <a:xfrm>
            <a:off x="-1" y="0"/>
            <a:ext cx="9144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457173" y="3421152"/>
            <a:ext cx="8196547" cy="1871475"/>
          </a:xfrm>
          <a:prstGeom prst="rect">
            <a:avLst/>
          </a:prstGeom>
        </p:spPr>
        <p:txBody>
          <a:bodyPr rtlCol="0" anchor="b">
            <a:noAutofit/>
          </a:bodyPr>
          <a:lstStyle>
            <a:lvl1pPr algn="ctr">
              <a:lnSpc>
                <a:spcPct val="100000"/>
              </a:lnSpc>
              <a:defRPr sz="3040" cap="none" baseline="0">
                <a:solidFill>
                  <a:schemeClr val="accent2">
                    <a:lumMod val="75000"/>
                  </a:schemeClr>
                </a:solidFill>
                <a:latin typeface="微软雅黑" panose="020B0503020204020204" charset="-122"/>
                <a:ea typeface="微软雅黑" panose="020B0503020204020204" charset="-122"/>
              </a:defRPr>
            </a:lvl1pPr>
          </a:lstStyle>
          <a:p>
            <a:pPr rtl="0"/>
            <a:r>
              <a:rPr lang="zh-CN" altLang="en-US" noProof="0" dirty="0"/>
              <a:t>单击此处编辑母版标题样式</a:t>
            </a:r>
            <a:endParaRPr lang="zh-CN" altLang="en-US" noProof="0" dirty="0"/>
          </a:p>
        </p:txBody>
      </p:sp>
      <p:sp>
        <p:nvSpPr>
          <p:cNvPr id="3" name="副标题 2"/>
          <p:cNvSpPr>
            <a:spLocks noGrp="1"/>
          </p:cNvSpPr>
          <p:nvPr>
            <p:ph type="subTitle" idx="1" hasCustomPrompt="1"/>
          </p:nvPr>
        </p:nvSpPr>
        <p:spPr>
          <a:xfrm>
            <a:off x="970385" y="5432564"/>
            <a:ext cx="7203233" cy="457200"/>
          </a:xfrm>
          <a:prstGeom prst="rect">
            <a:avLst/>
          </a:prstGeom>
        </p:spPr>
        <p:txBody>
          <a:bodyPr rtlCol="0">
            <a:normAutofit/>
          </a:bodyPr>
          <a:lstStyle>
            <a:lvl1pPr marL="0" indent="0" algn="just">
              <a:spcBef>
                <a:spcPts val="0"/>
              </a:spcBef>
              <a:buNone/>
              <a:defRPr sz="1125" b="0">
                <a:solidFill>
                  <a:schemeClr val="accent1">
                    <a:lumMod val="75000"/>
                  </a:schemeClr>
                </a:solidFill>
                <a:latin typeface="微软雅黑" panose="020B0503020204020204" charset="-122"/>
                <a:ea typeface="微软雅黑" panose="020B0503020204020204" charset="-122"/>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pPr rtl="0"/>
            <a:r>
              <a:rPr lang="zh-CN" altLang="en-US" noProof="0" dirty="0"/>
              <a:t>单击以编辑母版副标题样式</a:t>
            </a:r>
            <a:endParaRPr lang="zh-CN" altLang="en-US" noProof="0" dirty="0"/>
          </a:p>
        </p:txBody>
      </p:sp>
      <p:cxnSp>
        <p:nvCxnSpPr>
          <p:cNvPr id="58" name="直接连接符​​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p:cNvPicPr>
            <a:picLocks noChangeAspect="1"/>
          </p:cNvPicPr>
          <p:nvPr userDrawn="1"/>
        </p:nvPicPr>
        <p:blipFill>
          <a:blip r:embed="rId2"/>
          <a:stretch>
            <a:fillRect/>
          </a:stretch>
        </p:blipFill>
        <p:spPr>
          <a:xfrm>
            <a:off x="1211963" y="156092"/>
            <a:ext cx="6774147"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1941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228600"/>
            <a:ext cx="8540750" cy="58705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首页">
    <p:spTree>
      <p:nvGrpSpPr>
        <p:cNvPr id="1" name=""/>
        <p:cNvGrpSpPr/>
        <p:nvPr/>
      </p:nvGrpSpPr>
      <p:grpSpPr>
        <a:xfrm>
          <a:off x="0" y="0"/>
          <a:ext cx="0" cy="0"/>
          <a:chOff x="0" y="0"/>
          <a:chExt cx="0" cy="0"/>
        </a:xfrm>
      </p:grpSpPr>
      <p:grpSp>
        <p:nvGrpSpPr>
          <p:cNvPr id="5" name="组 4"/>
          <p:cNvGrpSpPr/>
          <p:nvPr userDrawn="1"/>
        </p:nvGrpSpPr>
        <p:grpSpPr bwMode="hidden">
          <a:xfrm>
            <a:off x="-1" y="0"/>
            <a:ext cx="9144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457173" y="3421152"/>
            <a:ext cx="8196547" cy="1871475"/>
          </a:xfrm>
          <a:prstGeom prst="rect">
            <a:avLst/>
          </a:prstGeom>
        </p:spPr>
        <p:txBody>
          <a:bodyPr rtlCol="0" anchor="b">
            <a:noAutofit/>
          </a:bodyPr>
          <a:lstStyle>
            <a:lvl1pPr algn="ctr">
              <a:lnSpc>
                <a:spcPct val="100000"/>
              </a:lnSpc>
              <a:defRPr sz="3040" cap="none" baseline="0">
                <a:solidFill>
                  <a:schemeClr val="accent2">
                    <a:lumMod val="75000"/>
                  </a:schemeClr>
                </a:solidFill>
                <a:latin typeface="微软雅黑" panose="020B0503020204020204" charset="-122"/>
                <a:ea typeface="微软雅黑" panose="020B0503020204020204" charset="-122"/>
              </a:defRPr>
            </a:lvl1pPr>
          </a:lstStyle>
          <a:p>
            <a:pPr rtl="0"/>
            <a:r>
              <a:rPr lang="zh-CN" altLang="en-US" noProof="0" dirty="0"/>
              <a:t>单击此处编辑母版标题样式</a:t>
            </a:r>
            <a:endParaRPr lang="zh-CN" altLang="en-US" noProof="0" dirty="0"/>
          </a:p>
        </p:txBody>
      </p:sp>
      <p:sp>
        <p:nvSpPr>
          <p:cNvPr id="3" name="副标题 2"/>
          <p:cNvSpPr>
            <a:spLocks noGrp="1"/>
          </p:cNvSpPr>
          <p:nvPr>
            <p:ph type="subTitle" idx="1" hasCustomPrompt="1"/>
          </p:nvPr>
        </p:nvSpPr>
        <p:spPr>
          <a:xfrm>
            <a:off x="970385" y="5432564"/>
            <a:ext cx="7203233" cy="457200"/>
          </a:xfrm>
          <a:prstGeom prst="rect">
            <a:avLst/>
          </a:prstGeom>
        </p:spPr>
        <p:txBody>
          <a:bodyPr rtlCol="0">
            <a:normAutofit/>
          </a:bodyPr>
          <a:lstStyle>
            <a:lvl1pPr marL="0" indent="0" algn="just">
              <a:spcBef>
                <a:spcPts val="0"/>
              </a:spcBef>
              <a:buNone/>
              <a:defRPr sz="1125" b="0">
                <a:solidFill>
                  <a:schemeClr val="accent1">
                    <a:lumMod val="75000"/>
                  </a:schemeClr>
                </a:solidFill>
                <a:latin typeface="微软雅黑" panose="020B0503020204020204" charset="-122"/>
                <a:ea typeface="微软雅黑" panose="020B0503020204020204" charset="-122"/>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pPr rtl="0"/>
            <a:r>
              <a:rPr lang="zh-CN" altLang="en-US" noProof="0" dirty="0"/>
              <a:t>单击以编辑母版副标题样式</a:t>
            </a:r>
            <a:endParaRPr lang="zh-CN" altLang="en-US" noProof="0" dirty="0"/>
          </a:p>
        </p:txBody>
      </p:sp>
      <p:cxnSp>
        <p:nvCxnSpPr>
          <p:cNvPr id="58" name="直接连接符​​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p:cNvPicPr>
            <a:picLocks noChangeAspect="1"/>
          </p:cNvPicPr>
          <p:nvPr userDrawn="1"/>
        </p:nvPicPr>
        <p:blipFill>
          <a:blip r:embed="rId2"/>
          <a:stretch>
            <a:fillRect/>
          </a:stretch>
        </p:blipFill>
        <p:spPr>
          <a:xfrm>
            <a:off x="1211963" y="156092"/>
            <a:ext cx="6774147"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2.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02786" name="Rectangle 2"/>
          <p:cNvSpPr>
            <a:spLocks noGrp="1" noRot="1"/>
          </p:cNvSpPr>
          <p:nvPr>
            <p:ph type="title"/>
          </p:nvPr>
        </p:nvSpPr>
        <p:spPr>
          <a:xfrm>
            <a:off x="301625" y="228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502787" name="Rectangle 3"/>
          <p:cNvSpPr>
            <a:spLocks noGrp="1" noRot="1"/>
          </p:cNvSpPr>
          <p:nvPr>
            <p:ph type="body" idx="1"/>
          </p:nvPr>
        </p:nvSpPr>
        <p:spPr>
          <a:xfrm>
            <a:off x="301625" y="1600200"/>
            <a:ext cx="8540750" cy="44989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02788"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278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2790"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Text Box 7"/>
          <p:cNvSpPr txBox="1">
            <a:spLocks noChangeArrowheads="1"/>
          </p:cNvSpPr>
          <p:nvPr/>
        </p:nvSpPr>
        <p:spPr bwMode="auto">
          <a:xfrm>
            <a:off x="6172200" y="6324600"/>
            <a:ext cx="2667000" cy="366713"/>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Line 8"/>
          <p:cNvSpPr/>
          <p:nvPr userDrawn="1"/>
        </p:nvSpPr>
        <p:spPr>
          <a:xfrm>
            <a:off x="457200" y="1524000"/>
            <a:ext cx="8229600" cy="0"/>
          </a:xfrm>
          <a:prstGeom prst="line">
            <a:avLst/>
          </a:prstGeom>
          <a:ln w="19050" cap="flat" cmpd="sng">
            <a:solidFill>
              <a:schemeClr val="accent1"/>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02786"/>
                                        </p:tgtEl>
                                        <p:attrNameLst>
                                          <p:attrName>style.visibility</p:attrName>
                                        </p:attrNameLst>
                                      </p:cBhvr>
                                      <p:to>
                                        <p:strVal val="visible"/>
                                      </p:to>
                                    </p:set>
                                    <p:animEffect transition="in" filter="fade">
                                      <p:cBhvr>
                                        <p:cTn id="7" dur="2000"/>
                                        <p:tgtEl>
                                          <p:spTgt spid="5027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2787">
                                            <p:txEl>
                                              <p:pRg st="0" end="0"/>
                                            </p:txEl>
                                          </p:spTgt>
                                        </p:tgtEl>
                                        <p:attrNameLst>
                                          <p:attrName>style.visibility</p:attrName>
                                        </p:attrNameLst>
                                      </p:cBhvr>
                                      <p:to>
                                        <p:strVal val="visible"/>
                                      </p:to>
                                    </p:set>
                                    <p:animEffect transition="in" filter="fade">
                                      <p:cBhvr>
                                        <p:cTn id="12" dur="2000"/>
                                        <p:tgtEl>
                                          <p:spTgt spid="50278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02787">
                                            <p:txEl>
                                              <p:pRg st="1" end="1"/>
                                            </p:txEl>
                                          </p:spTgt>
                                        </p:tgtEl>
                                        <p:attrNameLst>
                                          <p:attrName>style.visibility</p:attrName>
                                        </p:attrNameLst>
                                      </p:cBhvr>
                                      <p:to>
                                        <p:strVal val="visible"/>
                                      </p:to>
                                    </p:set>
                                    <p:animEffect transition="in" filter="fade">
                                      <p:cBhvr>
                                        <p:cTn id="15" dur="2000"/>
                                        <p:tgtEl>
                                          <p:spTgt spid="50278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02787">
                                            <p:txEl>
                                              <p:pRg st="2" end="2"/>
                                            </p:txEl>
                                          </p:spTgt>
                                        </p:tgtEl>
                                        <p:attrNameLst>
                                          <p:attrName>style.visibility</p:attrName>
                                        </p:attrNameLst>
                                      </p:cBhvr>
                                      <p:to>
                                        <p:strVal val="visible"/>
                                      </p:to>
                                    </p:set>
                                    <p:animEffect transition="in" filter="fade">
                                      <p:cBhvr>
                                        <p:cTn id="18" dur="2000"/>
                                        <p:tgtEl>
                                          <p:spTgt spid="502787">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02787">
                                            <p:txEl>
                                              <p:pRg st="3" end="3"/>
                                            </p:txEl>
                                          </p:spTgt>
                                        </p:tgtEl>
                                        <p:attrNameLst>
                                          <p:attrName>style.visibility</p:attrName>
                                        </p:attrNameLst>
                                      </p:cBhvr>
                                      <p:to>
                                        <p:strVal val="visible"/>
                                      </p:to>
                                    </p:set>
                                    <p:animEffect transition="in" filter="fade">
                                      <p:cBhvr>
                                        <p:cTn id="21" dur="2000"/>
                                        <p:tgtEl>
                                          <p:spTgt spid="502787">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2787">
                                            <p:txEl>
                                              <p:pRg st="4" end="4"/>
                                            </p:txEl>
                                          </p:spTgt>
                                        </p:tgtEl>
                                        <p:attrNameLst>
                                          <p:attrName>style.visibility</p:attrName>
                                        </p:attrNameLst>
                                      </p:cBhvr>
                                      <p:to>
                                        <p:strVal val="visible"/>
                                      </p:to>
                                    </p:set>
                                    <p:animEffect transition="in" filter="fade">
                                      <p:cBhvr>
                                        <p:cTn id="24" dur="2000"/>
                                        <p:tgtEl>
                                          <p:spTgt spid="5027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6" grpId="0"/>
      <p:bldP spid="502787" grpId="0" build="p">
        <p:tmplLst>
          <p:tmpl lvl="1">
            <p:tnLst>
              <p:par>
                <p:cTn presetID="10" presetClass="entr" presetSubtype="0" fill="hold" nodeType="click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Lst>
      </p:bldP>
    </p:bldLst>
  </p:timing>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502786" name="Rectangle 2"/>
          <p:cNvSpPr>
            <a:spLocks noGrp="1" noRot="1"/>
          </p:cNvSpPr>
          <p:nvPr>
            <p:ph type="title"/>
          </p:nvPr>
        </p:nvSpPr>
        <p:spPr>
          <a:xfrm>
            <a:off x="301625" y="228600"/>
            <a:ext cx="854075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502787" name="Rectangle 3"/>
          <p:cNvSpPr>
            <a:spLocks noGrp="1" noRot="1"/>
          </p:cNvSpPr>
          <p:nvPr>
            <p:ph type="body" idx="1"/>
          </p:nvPr>
        </p:nvSpPr>
        <p:spPr>
          <a:xfrm>
            <a:off x="301625" y="1600200"/>
            <a:ext cx="8540750" cy="44989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02788" name="Rectangle 4"/>
          <p:cNvSpPr>
            <a:spLocks noGrp="1" noChangeArrowheads="1"/>
          </p:cNvSpPr>
          <p:nvPr>
            <p:ph type="dt" sz="half" idx="2"/>
          </p:nvPr>
        </p:nvSpPr>
        <p:spPr bwMode="auto">
          <a:xfrm>
            <a:off x="301625" y="6245225"/>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9DD33F6-20C1-4CB6-88DB-98AE2E3F93BE}"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278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2790" name="Rectangle 6"/>
          <p:cNvSpPr>
            <a:spLocks noGrp="1" noChangeArrowheads="1"/>
          </p:cNvSpPr>
          <p:nvPr>
            <p:ph type="sldNum" sz="quarter" idx="4"/>
          </p:nvPr>
        </p:nvSpPr>
        <p:spPr bwMode="auto">
          <a:xfrm>
            <a:off x="6553200" y="6245225"/>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9310F562-14F7-4F02-AAF7-F2ECAA04D5F1}"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Text Box 7"/>
          <p:cNvSpPr txBox="1">
            <a:spLocks noChangeArrowheads="1"/>
          </p:cNvSpPr>
          <p:nvPr/>
        </p:nvSpPr>
        <p:spPr bwMode="auto">
          <a:xfrm>
            <a:off x="6172200" y="6324600"/>
            <a:ext cx="2667000" cy="366713"/>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zh-CN"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Line 8"/>
          <p:cNvSpPr/>
          <p:nvPr userDrawn="1"/>
        </p:nvSpPr>
        <p:spPr>
          <a:xfrm>
            <a:off x="457200" y="1524000"/>
            <a:ext cx="8229600" cy="0"/>
          </a:xfrm>
          <a:prstGeom prst="line">
            <a:avLst/>
          </a:prstGeom>
          <a:ln w="19050" cap="flat" cmpd="sng">
            <a:solidFill>
              <a:schemeClr val="accent1"/>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02786"/>
                                        </p:tgtEl>
                                        <p:attrNameLst>
                                          <p:attrName>style.visibility</p:attrName>
                                        </p:attrNameLst>
                                      </p:cBhvr>
                                      <p:to>
                                        <p:strVal val="visible"/>
                                      </p:to>
                                    </p:set>
                                    <p:animEffect transition="in" filter="fade">
                                      <p:cBhvr>
                                        <p:cTn id="7" dur="2000"/>
                                        <p:tgtEl>
                                          <p:spTgt spid="5027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2787">
                                            <p:txEl>
                                              <p:pRg st="0" end="0"/>
                                            </p:txEl>
                                          </p:spTgt>
                                        </p:tgtEl>
                                        <p:attrNameLst>
                                          <p:attrName>style.visibility</p:attrName>
                                        </p:attrNameLst>
                                      </p:cBhvr>
                                      <p:to>
                                        <p:strVal val="visible"/>
                                      </p:to>
                                    </p:set>
                                    <p:animEffect transition="in" filter="fade">
                                      <p:cBhvr>
                                        <p:cTn id="12" dur="2000"/>
                                        <p:tgtEl>
                                          <p:spTgt spid="50278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02787">
                                            <p:txEl>
                                              <p:pRg st="1" end="1"/>
                                            </p:txEl>
                                          </p:spTgt>
                                        </p:tgtEl>
                                        <p:attrNameLst>
                                          <p:attrName>style.visibility</p:attrName>
                                        </p:attrNameLst>
                                      </p:cBhvr>
                                      <p:to>
                                        <p:strVal val="visible"/>
                                      </p:to>
                                    </p:set>
                                    <p:animEffect transition="in" filter="fade">
                                      <p:cBhvr>
                                        <p:cTn id="15" dur="2000"/>
                                        <p:tgtEl>
                                          <p:spTgt spid="502787">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02787">
                                            <p:txEl>
                                              <p:pRg st="2" end="2"/>
                                            </p:txEl>
                                          </p:spTgt>
                                        </p:tgtEl>
                                        <p:attrNameLst>
                                          <p:attrName>style.visibility</p:attrName>
                                        </p:attrNameLst>
                                      </p:cBhvr>
                                      <p:to>
                                        <p:strVal val="visible"/>
                                      </p:to>
                                    </p:set>
                                    <p:animEffect transition="in" filter="fade">
                                      <p:cBhvr>
                                        <p:cTn id="18" dur="2000"/>
                                        <p:tgtEl>
                                          <p:spTgt spid="502787">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02787">
                                            <p:txEl>
                                              <p:pRg st="3" end="3"/>
                                            </p:txEl>
                                          </p:spTgt>
                                        </p:tgtEl>
                                        <p:attrNameLst>
                                          <p:attrName>style.visibility</p:attrName>
                                        </p:attrNameLst>
                                      </p:cBhvr>
                                      <p:to>
                                        <p:strVal val="visible"/>
                                      </p:to>
                                    </p:set>
                                    <p:animEffect transition="in" filter="fade">
                                      <p:cBhvr>
                                        <p:cTn id="21" dur="2000"/>
                                        <p:tgtEl>
                                          <p:spTgt spid="502787">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2787">
                                            <p:txEl>
                                              <p:pRg st="4" end="4"/>
                                            </p:txEl>
                                          </p:spTgt>
                                        </p:tgtEl>
                                        <p:attrNameLst>
                                          <p:attrName>style.visibility</p:attrName>
                                        </p:attrNameLst>
                                      </p:cBhvr>
                                      <p:to>
                                        <p:strVal val="visible"/>
                                      </p:to>
                                    </p:set>
                                    <p:animEffect transition="in" filter="fade">
                                      <p:cBhvr>
                                        <p:cTn id="24" dur="2000"/>
                                        <p:tgtEl>
                                          <p:spTgt spid="5027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86" grpId="0"/>
      <p:bldP spid="502787" grpId="0" build="p">
        <p:tmplLst>
          <p:tmpl lvl="1">
            <p:tnLst>
              <p:par>
                <p:cTn presetID="10" presetClass="entr" presetSubtype="0" fill="hold" nodeType="click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502787"/>
                        </p:tgtEl>
                        <p:attrNameLst>
                          <p:attrName>style.visibility</p:attrName>
                        </p:attrNameLst>
                      </p:cBhvr>
                      <p:to>
                        <p:strVal val="visible"/>
                      </p:to>
                    </p:set>
                    <p:animEffect transition="in" filter="fade">
                      <p:cBhvr>
                        <p:cTn dur="2000"/>
                        <p:tgtEl>
                          <p:spTgt spid="502787"/>
                        </p:tgtEl>
                      </p:cBhvr>
                    </p:animEffect>
                  </p:childTnLst>
                </p:cTn>
              </p:par>
            </p:tnLst>
          </p:tmpl>
        </p:tmplLst>
      </p:bldP>
    </p:bldLst>
  </p:timing>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6.xml"/><Relationship Id="rId2" Type="http://schemas.openxmlformats.org/officeDocument/2006/relationships/image" Target="../media/image6.wmf"/><Relationship Id="rId1"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jpeg"/></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6.xml"/><Relationship Id="rId2" Type="http://schemas.openxmlformats.org/officeDocument/2006/relationships/image" Target="../media/image11.emf"/><Relationship Id="rId1"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12.wmf"/><Relationship Id="rId1" Type="http://schemas.openxmlformats.org/officeDocument/2006/relationships/oleObject" Target="../embeddings/oleObject6.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13.emf"/><Relationship Id="rId1" Type="http://schemas.openxmlformats.org/officeDocument/2006/relationships/oleObject" Target="../embeddings/oleObject7.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6.xml"/><Relationship Id="rId2" Type="http://schemas.openxmlformats.org/officeDocument/2006/relationships/image" Target="../media/image14.emf"/><Relationship Id="rId1" Type="http://schemas.openxmlformats.org/officeDocument/2006/relationships/oleObject" Target="../embeddings/oleObject8.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8.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9.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w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11.xml"/><Relationship Id="rId2" Type="http://schemas.openxmlformats.org/officeDocument/2006/relationships/image" Target="../media/image21.emf"/><Relationship Id="rId1" Type="http://schemas.openxmlformats.org/officeDocument/2006/relationships/oleObject" Target="../embeddings/oleObject9.bin"/></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baike.baidu.com/view/1053.htm" TargetMode="External"/><Relationship Id="rId1" Type="http://schemas.openxmlformats.org/officeDocument/2006/relationships/hyperlink" Target="http://baike.baidu.com/view/1461738.htm" TargetMode="External"/></Relationships>
</file>

<file path=ppt/slides/_rels/slide18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24.emf"/><Relationship Id="rId1" Type="http://schemas.openxmlformats.org/officeDocument/2006/relationships/image" Target="../media/image23.emf"/></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7.png"/></Relationships>
</file>

<file path=ppt/slides/_rels/slide20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28.jpe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noRot="1" noChangeArrowheads="1"/>
          </p:cNvSpPr>
          <p:nvPr>
            <p:ph type="ctrTitle"/>
          </p:nvPr>
        </p:nvSpPr>
        <p:spPr>
          <a:xfrm>
            <a:off x="228600" y="2895600"/>
            <a:ext cx="883920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仿宋_GB2312" pitchFamily="49" charset="-122"/>
                <a:cs typeface="+mj-cs"/>
              </a:rPr>
              <a:t>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仿宋_GB2312" pitchFamily="49" charset="-122"/>
                <a:cs typeface="+mj-cs"/>
              </a:rPr>
              <a:t>第二章  进程的描述与控制</a:t>
            </a:r>
            <a:endParaRPr kumimoji="0" lang="zh-CN" altLang="en-US" sz="4400" b="0"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2274"/>
                                        </p:tgtEl>
                                        <p:attrNameLst>
                                          <p:attrName>style.visibility</p:attrName>
                                        </p:attrNameLst>
                                      </p:cBhvr>
                                      <p:to>
                                        <p:strVal val="visible"/>
                                      </p:to>
                                    </p:set>
                                    <p:animEffect transition="in" filter="fade">
                                      <p:cBhvr>
                                        <p:cTn id="7" dur="2000"/>
                                        <p:tgtEl>
                                          <p:spTgt spid="18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3"/>
          <p:cNvSpPr>
            <a:spLocks noGrp="1" noRot="1"/>
          </p:cNvSpPr>
          <p:nvPr>
            <p:ph idx="1"/>
          </p:nvPr>
        </p:nvSpPr>
        <p:spPr>
          <a:xfrm>
            <a:off x="2133600" y="758825"/>
            <a:ext cx="6096000" cy="4498975"/>
          </a:xfrm>
        </p:spPr>
        <p:txBody>
          <a:bodyPr vert="horz" wrap="square" lIns="91440" tIns="45720" rIns="91440" bIns="45720" anchor="t" anchorCtr="0"/>
          <a:p>
            <a:pPr eaLnBrk="1" hangingPunct="1"/>
            <a:r>
              <a:rPr lang="en-US" altLang="zh-CN" sz="3600" b="1" dirty="0">
                <a:solidFill>
                  <a:schemeClr val="folHlink"/>
                </a:solidFill>
              </a:rPr>
              <a:t>2.1 </a:t>
            </a:r>
            <a:r>
              <a:rPr lang="zh-CN" altLang="en-US" sz="3600" b="1" dirty="0">
                <a:solidFill>
                  <a:schemeClr val="folHlink"/>
                </a:solidFill>
              </a:rPr>
              <a:t>前趋图和程序执行</a:t>
            </a:r>
            <a:endParaRPr lang="zh-CN" altLang="en-US" sz="3600" b="1" dirty="0">
              <a:solidFill>
                <a:schemeClr val="folHlink"/>
              </a:solidFill>
            </a:endParaRPr>
          </a:p>
          <a:p>
            <a:pPr eaLnBrk="1" hangingPunct="1"/>
            <a:r>
              <a:rPr lang="en-US" altLang="zh-CN" sz="3600" b="1" dirty="0">
                <a:solidFill>
                  <a:schemeClr val="folHlink"/>
                </a:solidFill>
              </a:rPr>
              <a:t>2.2 </a:t>
            </a:r>
            <a:r>
              <a:rPr lang="zh-CN" altLang="en-US" sz="3600" b="1" dirty="0">
                <a:solidFill>
                  <a:schemeClr val="folHlink"/>
                </a:solidFill>
              </a:rPr>
              <a:t>进程的描述</a:t>
            </a:r>
            <a:endParaRPr lang="en-US" altLang="zh-CN" sz="3600" b="1" dirty="0">
              <a:solidFill>
                <a:schemeClr val="folHlink"/>
              </a:solidFill>
            </a:endParaRPr>
          </a:p>
          <a:p>
            <a:pPr eaLnBrk="1" hangingPunct="1"/>
            <a:r>
              <a:rPr lang="en-US" altLang="zh-CN" sz="3600" b="1" dirty="0">
                <a:solidFill>
                  <a:schemeClr val="folHlink"/>
                </a:solidFill>
              </a:rPr>
              <a:t>2.3 </a:t>
            </a:r>
            <a:r>
              <a:rPr lang="zh-CN" altLang="en-US" sz="3600" b="1" dirty="0">
                <a:solidFill>
                  <a:schemeClr val="folHlink"/>
                </a:solidFill>
              </a:rPr>
              <a:t>进程控制</a:t>
            </a:r>
            <a:endParaRPr lang="zh-CN" altLang="en-US" sz="3600" b="1" dirty="0">
              <a:solidFill>
                <a:schemeClr val="folHlink"/>
              </a:solidFill>
            </a:endParaRPr>
          </a:p>
          <a:p>
            <a:pPr eaLnBrk="1" hangingPunct="1"/>
            <a:r>
              <a:rPr lang="en-US" altLang="zh-CN" sz="3600" b="1" dirty="0">
                <a:solidFill>
                  <a:schemeClr val="folHlink"/>
                </a:solidFill>
              </a:rPr>
              <a:t>2.4 </a:t>
            </a:r>
            <a:r>
              <a:rPr lang="zh-CN" altLang="en-US" sz="3600" b="1" dirty="0">
                <a:solidFill>
                  <a:schemeClr val="folHlink"/>
                </a:solidFill>
              </a:rPr>
              <a:t>进程同步</a:t>
            </a:r>
            <a:endParaRPr lang="en-US" altLang="zh-CN" sz="3600" b="1" dirty="0">
              <a:solidFill>
                <a:schemeClr val="folHlink"/>
              </a:solidFill>
            </a:endParaRPr>
          </a:p>
          <a:p>
            <a:pPr eaLnBrk="1" hangingPunct="1"/>
            <a:r>
              <a:rPr lang="en-US" altLang="zh-CN" sz="3600" b="1" dirty="0">
                <a:solidFill>
                  <a:schemeClr val="folHlink"/>
                </a:solidFill>
              </a:rPr>
              <a:t>2.5 </a:t>
            </a:r>
            <a:r>
              <a:rPr lang="zh-CN" altLang="en-US" sz="3600" b="1" dirty="0">
                <a:solidFill>
                  <a:schemeClr val="folHlink"/>
                </a:solidFill>
              </a:rPr>
              <a:t>经典进程的同步问题</a:t>
            </a:r>
            <a:endParaRPr lang="zh-CN" altLang="en-US" sz="3600" b="1" dirty="0">
              <a:solidFill>
                <a:schemeClr val="folHlink"/>
              </a:solidFill>
            </a:endParaRPr>
          </a:p>
          <a:p>
            <a:pPr eaLnBrk="1" hangingPunct="1"/>
            <a:r>
              <a:rPr lang="en-US" altLang="zh-CN" sz="3600" b="1" dirty="0">
                <a:solidFill>
                  <a:schemeClr val="folHlink"/>
                </a:solidFill>
              </a:rPr>
              <a:t>2.6 </a:t>
            </a:r>
            <a:r>
              <a:rPr lang="zh-CN" altLang="en-US" sz="3600" b="1" dirty="0">
                <a:solidFill>
                  <a:schemeClr val="folHlink"/>
                </a:solidFill>
              </a:rPr>
              <a:t>进程通信</a:t>
            </a:r>
            <a:endParaRPr lang="zh-CN" altLang="en-US" sz="3600" b="1" dirty="0">
              <a:solidFill>
                <a:schemeClr val="folHlink"/>
              </a:solidFill>
            </a:endParaRPr>
          </a:p>
          <a:p>
            <a:pPr eaLnBrk="1" hangingPunct="1"/>
            <a:r>
              <a:rPr lang="en-US" altLang="zh-CN" sz="3600" b="1" dirty="0">
                <a:solidFill>
                  <a:schemeClr val="folHlink"/>
                </a:solidFill>
              </a:rPr>
              <a:t>2.7 </a:t>
            </a:r>
            <a:r>
              <a:rPr lang="zh-CN" altLang="en-US" sz="3600" b="1" dirty="0">
                <a:solidFill>
                  <a:schemeClr val="folHlink"/>
                </a:solidFill>
              </a:rPr>
              <a:t>线程的基本概念</a:t>
            </a:r>
            <a:endParaRPr lang="en-US" altLang="zh-CN" sz="3600" b="1" dirty="0">
              <a:solidFill>
                <a:schemeClr val="folHlink"/>
              </a:solidFill>
            </a:endParaRPr>
          </a:p>
          <a:p>
            <a:pPr eaLnBrk="1" hangingPunct="1"/>
            <a:r>
              <a:rPr lang="en-US" altLang="zh-CN" sz="3600" b="1" dirty="0">
                <a:solidFill>
                  <a:schemeClr val="folHlink"/>
                </a:solidFill>
              </a:rPr>
              <a:t>2.8 </a:t>
            </a:r>
            <a:r>
              <a:rPr lang="zh-CN" altLang="en-US" sz="3600" b="1" dirty="0">
                <a:solidFill>
                  <a:schemeClr val="folHlink"/>
                </a:solidFill>
              </a:rPr>
              <a:t>线程的实现</a:t>
            </a:r>
            <a:endParaRPr lang="zh-CN" altLang="en-US" sz="3600" b="1" dirty="0">
              <a:solidFill>
                <a:schemeClr val="folHlink"/>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ext Box 2"/>
          <p:cNvSpPr txBox="1"/>
          <p:nvPr/>
        </p:nvSpPr>
        <p:spPr>
          <a:xfrm>
            <a:off x="3124200" y="685800"/>
            <a:ext cx="2728913"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600" b="1" dirty="0">
                <a:solidFill>
                  <a:srgbClr val="0066FF"/>
                </a:solidFill>
                <a:latin typeface="Times New Roman" panose="02020603050405020304" pitchFamily="18" charset="0"/>
              </a:rPr>
              <a:t>2.1.1 </a:t>
            </a:r>
            <a:r>
              <a:rPr lang="zh-CN" altLang="en-US" sz="3600" b="1" dirty="0">
                <a:solidFill>
                  <a:srgbClr val="0066FF"/>
                </a:solidFill>
                <a:latin typeface="Times New Roman" panose="02020603050405020304" pitchFamily="18" charset="0"/>
              </a:rPr>
              <a:t>前趋图 </a:t>
            </a:r>
            <a:endParaRPr lang="zh-CN" altLang="en-US" sz="3600" b="1" dirty="0">
              <a:solidFill>
                <a:srgbClr val="0066FF"/>
              </a:solidFill>
              <a:latin typeface="Times New Roman" panose="02020603050405020304" pitchFamily="18" charset="0"/>
            </a:endParaRPr>
          </a:p>
        </p:txBody>
      </p:sp>
      <p:sp>
        <p:nvSpPr>
          <p:cNvPr id="492547" name="Text Box 3"/>
          <p:cNvSpPr txBox="1">
            <a:spLocks noChangeArrowheads="1"/>
          </p:cNvSpPr>
          <p:nvPr/>
        </p:nvSpPr>
        <p:spPr bwMode="auto">
          <a:xfrm>
            <a:off x="457200" y="1536700"/>
            <a:ext cx="8305800" cy="5092700"/>
          </a:xfrm>
          <a:prstGeom prst="rect">
            <a:avLst/>
          </a:prstGeom>
          <a:noFill/>
          <a:ln w="9525">
            <a:noFill/>
            <a:miter lim="800000"/>
          </a:ln>
          <a:effectLst/>
        </p:spPr>
        <p:txBody>
          <a:bodyPr>
            <a:spAutoFit/>
          </a:bodyPr>
          <a:lstStyle/>
          <a:p>
            <a:pPr marR="0" algn="just" defTabSz="914400" eaLnBrk="1" hangingPunct="1">
              <a:lnSpc>
                <a:spcPct val="110000"/>
              </a:lnSpc>
              <a:spcBef>
                <a:spcPct val="50000"/>
              </a:spcBef>
              <a:buClrTx/>
              <a:buSzTx/>
              <a:buFontTx/>
              <a:buNone/>
              <a:defRPr/>
            </a:pP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        </a:t>
            </a:r>
            <a:r>
              <a:rPr kumimoji="1" lang="zh-CN" altLang="en-US" sz="2600" b="1" kern="1200" cap="none" spc="0" normalizeH="0" baseline="0" noProof="0" dirty="0">
                <a:latin typeface="Times New Roman" panose="02020603050405020304" pitchFamily="18" charset="0"/>
                <a:ea typeface="宋体" panose="02010600030101010101" pitchFamily="2" charset="-122"/>
                <a:cs typeface="+mn-cs"/>
              </a:rPr>
              <a:t>前趋图</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(Precedence Graph)</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是一个</a:t>
            </a:r>
            <a:r>
              <a:rPr kumimoji="1" lang="zh-CN" altLang="en-US" sz="2600" kern="1200" cap="none" spc="0" normalizeH="0" baseline="0" noProof="0" dirty="0">
                <a:solidFill>
                  <a:srgbClr val="FF0000"/>
                </a:solidFill>
                <a:latin typeface="Times New Roman" panose="02020603050405020304" pitchFamily="18" charset="0"/>
                <a:ea typeface="宋体" panose="02010600030101010101" pitchFamily="2" charset="-122"/>
                <a:cs typeface="+mn-cs"/>
              </a:rPr>
              <a:t>有向无循环图</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，记为</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DAG(Directed Acyclic Graph)</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用于描述进程之间执行的前后关系。</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图中的每个结点可用于描述一个程序段或进程，乃至一条语句；结点间的有向边则用于表示两个结点之间存在的偏序</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(Partial Order)</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或前趋关系</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(Precedence Relation)</a:t>
            </a:r>
            <a:r>
              <a:rPr kumimoji="1" lang="en-US" altLang="zh-CN" sz="2600" kern="1200" cap="none" spc="0" normalizeH="0" baseline="0" noProof="0" dirty="0">
                <a:latin typeface="Courier New" panose="02070309020205020404"/>
                <a:ea typeface="宋体" panose="02010600030101010101" pitchFamily="2" charset="-122"/>
                <a:cs typeface="+mn-cs"/>
              </a:rPr>
              <a:t>“</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a:t>
            </a:r>
            <a:r>
              <a:rPr kumimoji="1" lang="en-US" altLang="zh-CN" sz="2600" kern="1200" cap="none" spc="0" normalizeH="0" baseline="0" noProof="0" dirty="0">
                <a:latin typeface="Courier New" panose="02070309020205020404"/>
                <a:ea typeface="宋体" panose="02010600030101010101" pitchFamily="2" charset="-122"/>
                <a:cs typeface="+mn-cs"/>
              </a:rPr>
              <a:t>”</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a:t>
            </a:r>
            <a:endParaRPr kumimoji="1" lang="zh-CN" altLang="en-US" sz="26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10000"/>
              </a:lnSpc>
              <a:spcBef>
                <a:spcPct val="50000"/>
              </a:spcBef>
              <a:buClrTx/>
              <a:buSzTx/>
              <a:buFontTx/>
              <a:buNone/>
              <a:defRPr/>
            </a:pP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 must complete before </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 may start}, </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如果</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可写成</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i</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，称</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是</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的直接前趋，而称</a:t>
            </a:r>
            <a:r>
              <a:rPr kumimoji="1" lang="en-US" altLang="zh-CN" sz="2600" kern="1200" cap="none" spc="0" normalizeH="0" baseline="0" noProof="0" dirty="0" err="1">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err="1">
                <a:latin typeface="Times New Roman" panose="02020603050405020304" pitchFamily="18" charset="0"/>
                <a:ea typeface="宋体" panose="02010600030101010101" pitchFamily="2" charset="-122"/>
                <a:cs typeface="+mn-cs"/>
              </a:rPr>
              <a:t>j</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是</a:t>
            </a:r>
            <a:r>
              <a:rPr kumimoji="1" lang="en-US" altLang="zh-CN" sz="26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600" kern="1200" cap="none" spc="0" normalizeH="0" baseline="-25000" noProof="0" dirty="0">
                <a:latin typeface="Times New Roman" panose="02020603050405020304" pitchFamily="18" charset="0"/>
                <a:ea typeface="宋体" panose="02010600030101010101" pitchFamily="2" charset="-122"/>
                <a:cs typeface="+mn-cs"/>
              </a:rPr>
              <a:t>i</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的直接后继。</a:t>
            </a:r>
            <a:r>
              <a:rPr kumimoji="1" lang="zh-CN" altLang="en-US"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在前趋图中，把没有前趋的结点称为初始结点</a:t>
            </a:r>
            <a:r>
              <a:rPr kumimoji="1" lang="en-US" altLang="zh-CN"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(Initial Node)</a:t>
            </a:r>
            <a:r>
              <a:rPr kumimoji="1" lang="zh-CN" altLang="en-US"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，把没有后继的结点称为终止结点</a:t>
            </a:r>
            <a:r>
              <a:rPr kumimoji="1" lang="en-US" altLang="zh-CN" sz="26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(Final Node)</a:t>
            </a:r>
            <a:r>
              <a:rPr kumimoji="1" lang="zh-CN" altLang="en-US" sz="2600" kern="1200" cap="none" spc="0" normalizeH="0" baseline="0" noProof="0" dirty="0">
                <a:latin typeface="Times New Roman" panose="02020603050405020304" pitchFamily="18" charset="0"/>
                <a:ea typeface="宋体" panose="02010600030101010101" pitchFamily="2" charset="-122"/>
                <a:cs typeface="+mn-cs"/>
              </a:rPr>
              <a:t>。</a:t>
            </a:r>
            <a:endParaRPr kumimoji="1" lang="zh-CN" altLang="en-US" sz="2600" kern="1200" cap="none" spc="0" normalizeH="0" baseline="0" noProof="0" dirty="0">
              <a:latin typeface="Times New Roman" panose="02020603050405020304" pitchFamily="18" charset="0"/>
              <a:ea typeface="宋体" panose="02010600030101010101" pitchFamily="2" charset="-122"/>
              <a:cs typeface="+mn-cs"/>
            </a:endParaRPr>
          </a:p>
        </p:txBody>
      </p:sp>
      <p:sp>
        <p:nvSpPr>
          <p:cNvPr id="6148" name="Text Box 4"/>
          <p:cNvSpPr txBox="1"/>
          <p:nvPr/>
        </p:nvSpPr>
        <p:spPr>
          <a:xfrm>
            <a:off x="3276600" y="735013"/>
            <a:ext cx="184150"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b="1" dirty="0">
              <a:latin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2"/>
          <p:cNvSpPr txBox="1"/>
          <p:nvPr/>
        </p:nvSpPr>
        <p:spPr>
          <a:xfrm>
            <a:off x="685800" y="609600"/>
            <a:ext cx="7924800" cy="1041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30000"/>
              </a:lnSpc>
              <a:spcBef>
                <a:spcPct val="50000"/>
              </a:spcBef>
              <a:buClrTx/>
              <a:buSzTx/>
              <a:buFontTx/>
              <a:buNone/>
            </a:pPr>
            <a:r>
              <a:rPr lang="zh-CN" altLang="en-US" sz="2400" b="1" dirty="0">
                <a:latin typeface="Times New Roman" panose="02020603050405020304" pitchFamily="18" charset="0"/>
              </a:rPr>
              <a:t>       每个结点还具有一个重量</a:t>
            </a:r>
            <a:r>
              <a:rPr lang="en-US" altLang="zh-CN" sz="2400" b="1" dirty="0">
                <a:latin typeface="Times New Roman" panose="02020603050405020304" pitchFamily="18" charset="0"/>
              </a:rPr>
              <a:t>(Weight)</a:t>
            </a:r>
            <a:r>
              <a:rPr lang="zh-CN" altLang="en-US" sz="2400" b="1" dirty="0">
                <a:latin typeface="Times New Roman" panose="02020603050405020304" pitchFamily="18" charset="0"/>
              </a:rPr>
              <a:t>，用于表示该结点所含有的程序量或结点的执行时间。 </a:t>
            </a:r>
            <a:endParaRPr lang="zh-CN" altLang="en-US" sz="2400" b="1" dirty="0">
              <a:latin typeface="Times New Roman" panose="02020603050405020304" pitchFamily="18" charset="0"/>
            </a:endParaRPr>
          </a:p>
        </p:txBody>
      </p:sp>
      <p:sp>
        <p:nvSpPr>
          <p:cNvPr id="7171" name="Text Box 3"/>
          <p:cNvSpPr txBox="1"/>
          <p:nvPr/>
        </p:nvSpPr>
        <p:spPr>
          <a:xfrm>
            <a:off x="2971800" y="1828800"/>
            <a:ext cx="32194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I</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i</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3 </a:t>
            </a:r>
            <a:endParaRPr lang="en-US" altLang="zh-CN" sz="2400" b="1" baseline="-25000" dirty="0">
              <a:latin typeface="Times New Roman" panose="02020603050405020304" pitchFamily="18" charset="0"/>
            </a:endParaRPr>
          </a:p>
        </p:txBody>
      </p:sp>
      <p:sp>
        <p:nvSpPr>
          <p:cNvPr id="7172" name="Text Box 4"/>
          <p:cNvSpPr txBox="1"/>
          <p:nvPr/>
        </p:nvSpPr>
        <p:spPr>
          <a:xfrm>
            <a:off x="3657600" y="6400800"/>
            <a:ext cx="20383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latin typeface="Times New Roman" panose="02020603050405020304" pitchFamily="18" charset="0"/>
              </a:rPr>
              <a:t>图 </a:t>
            </a:r>
            <a:r>
              <a:rPr lang="en-US" altLang="zh-CN" sz="2400" b="1" dirty="0">
                <a:latin typeface="Times New Roman" panose="02020603050405020304" pitchFamily="18" charset="0"/>
              </a:rPr>
              <a:t>2-2 </a:t>
            </a:r>
            <a:r>
              <a:rPr lang="zh-CN" altLang="en-US" sz="2400" b="1" dirty="0">
                <a:latin typeface="Times New Roman" panose="02020603050405020304" pitchFamily="18" charset="0"/>
              </a:rPr>
              <a:t>前趋图 </a:t>
            </a:r>
            <a:endParaRPr lang="zh-CN" altLang="en-US" sz="2400" b="1" dirty="0">
              <a:latin typeface="Times New Roman" panose="02020603050405020304" pitchFamily="18" charset="0"/>
            </a:endParaRPr>
          </a:p>
        </p:txBody>
      </p:sp>
      <p:graphicFrame>
        <p:nvGraphicFramePr>
          <p:cNvPr id="7173" name="Object 5"/>
          <p:cNvGraphicFramePr>
            <a:graphicFrameLocks noChangeAspect="1"/>
          </p:cNvGraphicFramePr>
          <p:nvPr/>
        </p:nvGraphicFramePr>
        <p:xfrm>
          <a:off x="914400" y="2362200"/>
          <a:ext cx="8001000" cy="4103688"/>
        </p:xfrm>
        <a:graphic>
          <a:graphicData uri="http://schemas.openxmlformats.org/presentationml/2006/ole">
            <mc:AlternateContent xmlns:mc="http://schemas.openxmlformats.org/markup-compatibility/2006">
              <mc:Choice xmlns:v="urn:schemas-microsoft-com:vml" Requires="v">
                <p:oleObj spid="_x0000_s3079" name="" r:id="rId1" imgW="3421380" imgH="1760220" progId="Visio.Drawing.4">
                  <p:embed/>
                </p:oleObj>
              </mc:Choice>
              <mc:Fallback>
                <p:oleObj name="" r:id="rId1" imgW="3421380" imgH="1760220" progId="Visio.Drawing.4">
                  <p:embed/>
                  <p:pic>
                    <p:nvPicPr>
                      <p:cNvPr id="0" name="图片 3078"/>
                      <p:cNvPicPr/>
                      <p:nvPr/>
                    </p:nvPicPr>
                    <p:blipFill>
                      <a:blip r:embed="rId2"/>
                      <a:stretch>
                        <a:fillRect/>
                      </a:stretch>
                    </p:blipFill>
                    <p:spPr>
                      <a:xfrm>
                        <a:off x="914400" y="2362200"/>
                        <a:ext cx="8001000" cy="4103688"/>
                      </a:xfrm>
                      <a:prstGeom prst="rect">
                        <a:avLst/>
                      </a:prstGeom>
                      <a:noFill/>
                      <a:ln w="38100">
                        <a:noFill/>
                        <a:miter/>
                      </a:ln>
                    </p:spPr>
                  </p:pic>
                </p:oleObj>
              </mc:Fallback>
            </mc:AlternateContent>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2"/>
          <p:cNvSpPr txBox="1"/>
          <p:nvPr/>
        </p:nvSpPr>
        <p:spPr>
          <a:xfrm>
            <a:off x="838200" y="685800"/>
            <a:ext cx="6965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对于图 </a:t>
            </a:r>
            <a:r>
              <a:rPr lang="en-US" altLang="zh-CN" sz="2400" dirty="0">
                <a:latin typeface="Times New Roman" panose="02020603050405020304" pitchFamily="18" charset="0"/>
              </a:rPr>
              <a:t>2-2(</a:t>
            </a:r>
            <a:r>
              <a:rPr lang="en-US" altLang="zh-CN" sz="2400" i="1" dirty="0">
                <a:latin typeface="Times New Roman" panose="02020603050405020304" pitchFamily="18" charset="0"/>
              </a:rPr>
              <a:t>a</a:t>
            </a:r>
            <a:r>
              <a:rPr lang="en-US" altLang="zh-CN" sz="2400" dirty="0">
                <a:latin typeface="Times New Roman" panose="02020603050405020304" pitchFamily="18" charset="0"/>
              </a:rPr>
              <a:t>)</a:t>
            </a:r>
            <a:r>
              <a:rPr lang="zh-CN" altLang="en-US" sz="2400" dirty="0">
                <a:latin typeface="Times New Roman" panose="02020603050405020304" pitchFamily="18" charset="0"/>
              </a:rPr>
              <a:t>所示的前趋图， 存在下述前趋关系： </a:t>
            </a:r>
            <a:endParaRPr lang="zh-CN" altLang="en-US" sz="2400" dirty="0">
              <a:latin typeface="Times New Roman" panose="02020603050405020304" pitchFamily="18" charset="0"/>
            </a:endParaRPr>
          </a:p>
        </p:txBody>
      </p:sp>
      <p:sp>
        <p:nvSpPr>
          <p:cNvPr id="494595" name="Text Box 3"/>
          <p:cNvSpPr txBox="1">
            <a:spLocks noChangeArrowheads="1"/>
          </p:cNvSpPr>
          <p:nvPr/>
        </p:nvSpPr>
        <p:spPr bwMode="auto">
          <a:xfrm>
            <a:off x="457200" y="990600"/>
            <a:ext cx="8305800" cy="5521325"/>
          </a:xfrm>
          <a:prstGeom prst="rect">
            <a:avLst/>
          </a:prstGeom>
          <a:noFill/>
          <a:ln w="9525">
            <a:noFill/>
            <a:miter lim="800000"/>
          </a:ln>
          <a:effectLst/>
        </p:spPr>
        <p:txBody>
          <a:bodyPr>
            <a:spAutoFit/>
          </a:bodyPr>
          <a:lstStyle/>
          <a:p>
            <a:pPr marR="0" algn="just" defTabSz="914400" eaLnBrk="1" hangingPunct="1">
              <a:lnSpc>
                <a:spcPct val="130000"/>
              </a:lnSpc>
              <a:spcBef>
                <a:spcPct val="50000"/>
              </a:spcBef>
              <a:buClrTx/>
              <a:buSzTx/>
              <a:buFontTx/>
              <a:buNone/>
              <a:defRPr/>
            </a:pP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或表示为：</a:t>
            </a:r>
            <a:endParaRPr kumimoji="1" lang="zh-CN" altLang="en-US"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       </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P={P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1</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4</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5</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6</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7</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8</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P</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9</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R="0" algn="just" defTabSz="914400" eaLnBrk="1" hangingPunct="1">
              <a:lnSpc>
                <a:spcPct val="130000"/>
              </a:lnSpc>
              <a:spcBef>
                <a:spcPct val="50000"/>
              </a:spcBef>
              <a:buClrTx/>
              <a:buSzTx/>
              <a:buFontTx/>
              <a:buNone/>
              <a:defRPr/>
            </a:pP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应当注意，</a:t>
            </a:r>
            <a:r>
              <a:rPr kumimoji="1" lang="zh-CN" altLang="en-US" sz="2400" b="1" kern="1200" cap="none" spc="0" normalizeH="0" baseline="0" noProof="0" dirty="0">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前趋图中必须不存在循环</a:t>
            </a:r>
            <a:r>
              <a:rPr kumimoji="1" lang="zh-CN" altLang="en-US" sz="2400" kern="1200" cap="none" spc="0" normalizeH="0" baseline="0" noProof="0" dirty="0">
                <a:solidFill>
                  <a:srgbClr val="FF0000"/>
                </a:solidFill>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但在图</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2-2(</a:t>
            </a:r>
            <a:r>
              <a:rPr kumimoji="1" lang="en-US" altLang="zh-CN" sz="2400" i="1" kern="1200" cap="none" spc="0" normalizeH="0" baseline="0" noProof="0" dirty="0">
                <a:latin typeface="Times New Roman" panose="02020603050405020304" pitchFamily="18" charset="0"/>
                <a:ea typeface="宋体" panose="02010600030101010101" pitchFamily="2" charset="-122"/>
                <a:cs typeface="+mn-cs"/>
              </a:rPr>
              <a:t>b</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a:t>
            </a:r>
            <a:r>
              <a:rPr kumimoji="1" lang="zh-CN" altLang="en-US" sz="2400" kern="1200" cap="none" spc="0" normalizeH="0" baseline="0" noProof="0" dirty="0">
                <a:latin typeface="Times New Roman" panose="02020603050405020304" pitchFamily="18" charset="0"/>
                <a:ea typeface="宋体" panose="02010600030101010101" pitchFamily="2" charset="-122"/>
                <a:cs typeface="+mn-cs"/>
              </a:rPr>
              <a:t>中却有着下述的前趋关系：</a:t>
            </a:r>
            <a:endParaRPr kumimoji="1" lang="zh-CN" altLang="en-US" sz="2400" kern="1200" cap="none" spc="0" normalizeH="0" baseline="0" noProof="0" dirty="0">
              <a:latin typeface="Times New Roman" panose="02020603050405020304" pitchFamily="18" charset="0"/>
              <a:ea typeface="宋体" panose="02010600030101010101" pitchFamily="2" charset="-122"/>
              <a:cs typeface="+mn-cs"/>
            </a:endParaRPr>
          </a:p>
          <a:p>
            <a:pPr marR="0" algn="ctr" defTabSz="914400" eaLnBrk="1" hangingPunct="1">
              <a:lnSpc>
                <a:spcPct val="130000"/>
              </a:lnSpc>
              <a:spcBef>
                <a:spcPct val="50000"/>
              </a:spcBef>
              <a:buClrTx/>
              <a:buSzTx/>
              <a:buFontTx/>
              <a:buNone/>
              <a:defRPr/>
            </a:pP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S</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→S</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S</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3</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→S</a:t>
            </a:r>
            <a:r>
              <a:rPr kumimoji="1" lang="en-US" altLang="zh-CN" sz="2400" kern="1200" cap="none" spc="0" normalizeH="0" baseline="-25000" noProof="0" dirty="0">
                <a:latin typeface="Times New Roman" panose="02020603050405020304" pitchFamily="18" charset="0"/>
                <a:ea typeface="宋体" panose="02010600030101010101" pitchFamily="2" charset="-122"/>
                <a:cs typeface="+mn-cs"/>
              </a:rPr>
              <a:t>2</a:t>
            </a:r>
            <a:r>
              <a:rPr kumimoji="1" lang="en-US" altLang="zh-CN" sz="2400" kern="1200" cap="none" spc="0" normalizeH="0" baseline="0" noProof="0" dirty="0">
                <a:latin typeface="Times New Roman" panose="02020603050405020304" pitchFamily="18" charset="0"/>
                <a:ea typeface="宋体" panose="02010600030101010101" pitchFamily="2" charset="-122"/>
                <a:cs typeface="+mn-cs"/>
              </a:rPr>
              <a:t> </a:t>
            </a:r>
            <a:endParaRPr kumimoji="1" lang="en-US" altLang="zh-CN" sz="2400"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424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hlink"/>
                </a:solidFill>
                <a:effectLst>
                  <a:outerShdw blurRad="38100" dist="38100" dir="2700000" algn="tl">
                    <a:srgbClr val="C0C0C0"/>
                  </a:outerShdw>
                </a:effectLst>
                <a:uLnTx/>
                <a:uFillTx/>
                <a:latin typeface="+mj-lt"/>
                <a:ea typeface="+mj-ea"/>
                <a:cs typeface="+mj-cs"/>
              </a:rPr>
              <a:t>2.1.2 </a:t>
            </a:r>
            <a:r>
              <a:rPr kumimoji="0" lang="zh-CN" altLang="en-US" sz="4400" b="1" i="0" u="none" strike="noStrike" kern="0" cap="none" spc="0" normalizeH="0" baseline="0" noProof="0" dirty="0" smtClean="0">
                <a:ln>
                  <a:noFill/>
                </a:ln>
                <a:solidFill>
                  <a:schemeClr val="hlink"/>
                </a:solidFill>
                <a:effectLst>
                  <a:outerShdw blurRad="38100" dist="38100" dir="2700000" algn="tl">
                    <a:srgbClr val="C0C0C0"/>
                  </a:outerShdw>
                </a:effectLst>
                <a:uLnTx/>
                <a:uFillTx/>
                <a:latin typeface="+mj-lt"/>
                <a:ea typeface="+mj-ea"/>
                <a:cs typeface="+mj-cs"/>
              </a:rPr>
              <a:t>程序顺序执行</a:t>
            </a:r>
            <a:endParaRPr kumimoji="0" lang="zh-CN" altLang="en-US" sz="4400" b="1" i="0" u="none" strike="noStrike" kern="0" cap="none" spc="0" normalizeH="0" baseline="0" noProof="0" dirty="0" smtClean="0">
              <a:ln>
                <a:noFill/>
              </a:ln>
              <a:solidFill>
                <a:schemeClr val="hlink"/>
              </a:solidFill>
              <a:effectLst>
                <a:outerShdw blurRad="38100" dist="38100" dir="2700000" algn="tl">
                  <a:srgbClr val="C0C0C0"/>
                </a:outerShdw>
              </a:effectLst>
              <a:uLnTx/>
              <a:uFillTx/>
              <a:latin typeface="+mj-lt"/>
              <a:ea typeface="+mj-ea"/>
              <a:cs typeface="+mj-cs"/>
            </a:endParaRPr>
          </a:p>
        </p:txBody>
      </p:sp>
      <p:sp>
        <p:nvSpPr>
          <p:cNvPr id="1028" name="Rectangle 3"/>
          <p:cNvSpPr>
            <a:spLocks noGrp="1" noRot="1"/>
          </p:cNvSpPr>
          <p:nvPr>
            <p:ph type="body" sz="half"/>
          </p:nvPr>
        </p:nvSpPr>
        <p:spPr>
          <a:xfrm>
            <a:off x="301625" y="1600200"/>
            <a:ext cx="4833938" cy="4498975"/>
          </a:xfrm>
        </p:spPr>
        <p:txBody>
          <a:bodyPr vert="horz" wrap="square" lIns="91440" tIns="45720" rIns="91440" bIns="45720" anchor="t" anchorCtr="0"/>
          <a:lstStyle>
            <a:lvl1pPr lvl="0">
              <a:buClr>
                <a:schemeClr val="folHlink"/>
              </a:buClr>
              <a:buSzPct val="85000"/>
              <a:buFont typeface="Wingdings 2" panose="05020102010507070707" pitchFamily="18" charset="2"/>
              <a:defRPr sz="2800"/>
            </a:lvl1pPr>
            <a:lvl2pPr lvl="1">
              <a:buClr>
                <a:schemeClr val="hlink"/>
              </a:buClr>
              <a:buSzPct val="85000"/>
              <a:buFont typeface="Wingdings" panose="05000000000000000000" pitchFamily="2" charset="2"/>
              <a:defRPr sz="2400"/>
            </a:lvl2pPr>
            <a:lvl3pPr lvl="2">
              <a:buClr>
                <a:schemeClr val="folHlink"/>
              </a:buClr>
              <a:buSzPct val="90000"/>
              <a:buFont typeface="Wingdings 2" panose="05020102010507070707" pitchFamily="18" charset="2"/>
              <a:defRPr sz="2000"/>
            </a:lvl3pPr>
            <a:lvl4pPr lvl="3">
              <a:buClr>
                <a:schemeClr val="hlink"/>
              </a:buClr>
              <a:buSzPct val="90000"/>
              <a:buFont typeface="Wingdings" panose="05000000000000000000" pitchFamily="2" charset="2"/>
              <a:defRPr sz="1800"/>
            </a:lvl4pPr>
            <a:lvl5pPr lvl="4">
              <a:buClr>
                <a:schemeClr val="folHlink"/>
              </a:buClr>
              <a:buSzPct val="90000"/>
              <a:buFont typeface="Wingdings 2" panose="05020102010507070707" pitchFamily="18" charset="2"/>
              <a:defRPr sz="1800"/>
            </a:lvl5pPr>
          </a:lstStyle>
          <a:p>
            <a:pPr lvl="0" eaLnBrk="1" hangingPunct="1"/>
            <a:r>
              <a:rPr lang="en-US" altLang="zh-CN" sz="3200" b="1" dirty="0">
                <a:solidFill>
                  <a:srgbClr val="00B050"/>
                </a:solidFill>
              </a:rPr>
              <a:t>1</a:t>
            </a:r>
            <a:r>
              <a:rPr lang="zh-CN" altLang="en-US" sz="3200" b="1" dirty="0">
                <a:solidFill>
                  <a:srgbClr val="00B050"/>
                </a:solidFill>
              </a:rPr>
              <a:t>．程序的顺序执行</a:t>
            </a:r>
            <a:endParaRPr lang="zh-CN" altLang="en-US" sz="3200" b="1" dirty="0">
              <a:solidFill>
                <a:srgbClr val="00B050"/>
              </a:solidFill>
            </a:endParaRPr>
          </a:p>
          <a:p>
            <a:pPr lvl="0" eaLnBrk="1" hangingPunct="1">
              <a:buNone/>
            </a:pPr>
            <a:r>
              <a:rPr lang="zh-CN" altLang="en-US" dirty="0"/>
              <a:t>	例子：</a:t>
            </a:r>
            <a:endParaRPr lang="zh-CN" altLang="en-US" dirty="0"/>
          </a:p>
          <a:p>
            <a:pPr lvl="0" eaLnBrk="1" hangingPunct="1">
              <a:buNone/>
            </a:pPr>
            <a:r>
              <a:rPr lang="zh-CN" altLang="en-US" dirty="0"/>
              <a:t>	</a:t>
            </a:r>
            <a:r>
              <a:rPr lang="en-US" altLang="zh-CN" dirty="0"/>
              <a:t>S1</a:t>
            </a:r>
            <a:r>
              <a:rPr lang="zh-CN" altLang="en-US" dirty="0"/>
              <a:t>：</a:t>
            </a:r>
            <a:r>
              <a:rPr lang="en-US" altLang="zh-CN" dirty="0"/>
              <a:t>a</a:t>
            </a:r>
            <a:r>
              <a:rPr lang="zh-CN" altLang="en-US" dirty="0"/>
              <a:t>： ＝ </a:t>
            </a:r>
            <a:r>
              <a:rPr lang="en-US" altLang="zh-CN" dirty="0"/>
              <a:t>x+y</a:t>
            </a:r>
            <a:r>
              <a:rPr lang="zh-CN" altLang="en-US" dirty="0"/>
              <a:t>；</a:t>
            </a:r>
            <a:endParaRPr lang="zh-CN" altLang="en-US" dirty="0"/>
          </a:p>
          <a:p>
            <a:pPr lvl="0" eaLnBrk="1" hangingPunct="1">
              <a:buNone/>
            </a:pPr>
            <a:r>
              <a:rPr lang="zh-CN" altLang="en-US" dirty="0"/>
              <a:t>	</a:t>
            </a:r>
            <a:r>
              <a:rPr lang="en-US" altLang="zh-CN" dirty="0"/>
              <a:t>S2</a:t>
            </a:r>
            <a:r>
              <a:rPr lang="zh-CN" altLang="en-US" dirty="0"/>
              <a:t>：</a:t>
            </a:r>
            <a:r>
              <a:rPr lang="en-US" altLang="zh-CN" dirty="0"/>
              <a:t>b</a:t>
            </a:r>
            <a:r>
              <a:rPr lang="zh-CN" altLang="en-US" dirty="0"/>
              <a:t>： ＝ </a:t>
            </a:r>
            <a:r>
              <a:rPr lang="en-US" altLang="zh-CN" dirty="0"/>
              <a:t>a-5</a:t>
            </a:r>
            <a:r>
              <a:rPr lang="zh-CN" altLang="en-US" dirty="0"/>
              <a:t>；</a:t>
            </a:r>
            <a:endParaRPr lang="zh-CN" altLang="en-US" dirty="0"/>
          </a:p>
          <a:p>
            <a:pPr lvl="0" eaLnBrk="1" hangingPunct="1">
              <a:buNone/>
            </a:pPr>
            <a:r>
              <a:rPr lang="zh-CN" altLang="en-US" dirty="0"/>
              <a:t>	</a:t>
            </a:r>
            <a:r>
              <a:rPr lang="en-US" altLang="zh-CN" dirty="0"/>
              <a:t>S3</a:t>
            </a:r>
            <a:r>
              <a:rPr lang="zh-CN" altLang="en-US" dirty="0"/>
              <a:t>：</a:t>
            </a:r>
            <a:r>
              <a:rPr lang="en-US" altLang="zh-CN" dirty="0"/>
              <a:t>c</a:t>
            </a:r>
            <a:r>
              <a:rPr lang="zh-CN" altLang="en-US" dirty="0"/>
              <a:t>： ＝ </a:t>
            </a:r>
            <a:r>
              <a:rPr lang="en-US" altLang="zh-CN" dirty="0"/>
              <a:t>b+1</a:t>
            </a:r>
            <a:r>
              <a:rPr lang="zh-CN" altLang="en-US" dirty="0"/>
              <a:t>；</a:t>
            </a:r>
            <a:endParaRPr lang="zh-CN" altLang="en-US" dirty="0"/>
          </a:p>
        </p:txBody>
      </p:sp>
      <p:graphicFrame>
        <p:nvGraphicFramePr>
          <p:cNvPr id="9220" name="Object 4"/>
          <p:cNvGraphicFramePr>
            <a:graphicFrameLocks noChangeAspect="1"/>
          </p:cNvGraphicFramePr>
          <p:nvPr>
            <p:ph sz="half" idx="1"/>
          </p:nvPr>
        </p:nvGraphicFramePr>
        <p:xfrm>
          <a:off x="228600" y="4495800"/>
          <a:ext cx="8458200" cy="1700213"/>
        </p:xfrm>
        <a:graphic>
          <a:graphicData uri="http://schemas.openxmlformats.org/presentationml/2006/ole">
            <mc:AlternateContent xmlns:mc="http://schemas.openxmlformats.org/markup-compatibility/2006">
              <mc:Choice xmlns:v="urn:schemas-microsoft-com:vml" Requires="v">
                <p:oleObj spid="_x0000_s3077" name="" r:id="rId1" imgW="5507355" imgH="3357245" progId="WangImage.Document">
                  <p:embed/>
                </p:oleObj>
              </mc:Choice>
              <mc:Fallback>
                <p:oleObj name="" r:id="rId1" imgW="5507355" imgH="3357245" progId="WangImage.Document">
                  <p:embed/>
                  <p:pic>
                    <p:nvPicPr>
                      <p:cNvPr id="0" name="图片 3076"/>
                      <p:cNvPicPr/>
                      <p:nvPr/>
                    </p:nvPicPr>
                    <p:blipFill>
                      <a:blip r:embed="rId2"/>
                      <a:srcRect/>
                      <a:stretch>
                        <a:fillRect/>
                      </a:stretch>
                    </p:blipFill>
                    <p:spPr>
                      <a:xfrm>
                        <a:off x="228600" y="4495800"/>
                        <a:ext cx="8458200" cy="1700213"/>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4242"/>
                                        </p:tgtEl>
                                        <p:attrNameLst>
                                          <p:attrName>style.visibility</p:attrName>
                                        </p:attrNameLst>
                                      </p:cBhvr>
                                      <p:to>
                                        <p:strVal val="visible"/>
                                      </p:to>
                                    </p:set>
                                    <p:animEffect transition="in" filter="fade">
                                      <p:cBhvr>
                                        <p:cTn id="7" dur="2000"/>
                                        <p:tgtEl>
                                          <p:spTgt spid="3942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8">
                                            <p:txEl>
                                              <p:charRg st="0" end="10"/>
                                            </p:txEl>
                                          </p:spTgt>
                                        </p:tgtEl>
                                        <p:attrNameLst>
                                          <p:attrName>style.visibility</p:attrName>
                                        </p:attrNameLst>
                                      </p:cBhvr>
                                      <p:to>
                                        <p:strVal val="visible"/>
                                      </p:to>
                                    </p:set>
                                    <p:animEffect transition="in" filter="fade">
                                      <p:cBhvr>
                                        <p:cTn id="12" dur="2000"/>
                                        <p:tgtEl>
                                          <p:spTgt spid="1028">
                                            <p:txEl>
                                              <p:charRg st="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8">
                                            <p:txEl>
                                              <p:charRg st="10" end="15"/>
                                            </p:txEl>
                                          </p:spTgt>
                                        </p:tgtEl>
                                        <p:attrNameLst>
                                          <p:attrName>style.visibility</p:attrName>
                                        </p:attrNameLst>
                                      </p:cBhvr>
                                      <p:to>
                                        <p:strVal val="visible"/>
                                      </p:to>
                                    </p:set>
                                    <p:animEffect transition="in" filter="fade">
                                      <p:cBhvr>
                                        <p:cTn id="17" dur="2000"/>
                                        <p:tgtEl>
                                          <p:spTgt spid="1028">
                                            <p:txEl>
                                              <p:charRg st="10" end="1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8">
                                            <p:txEl>
                                              <p:charRg st="15" end="29"/>
                                            </p:txEl>
                                          </p:spTgt>
                                        </p:tgtEl>
                                        <p:attrNameLst>
                                          <p:attrName>style.visibility</p:attrName>
                                        </p:attrNameLst>
                                      </p:cBhvr>
                                      <p:to>
                                        <p:strVal val="visible"/>
                                      </p:to>
                                    </p:set>
                                    <p:animEffect transition="in" filter="fade">
                                      <p:cBhvr>
                                        <p:cTn id="22" dur="2000"/>
                                        <p:tgtEl>
                                          <p:spTgt spid="1028">
                                            <p:txEl>
                                              <p:charRg st="15" end="2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8">
                                            <p:txEl>
                                              <p:charRg st="29" end="43"/>
                                            </p:txEl>
                                          </p:spTgt>
                                        </p:tgtEl>
                                        <p:attrNameLst>
                                          <p:attrName>style.visibility</p:attrName>
                                        </p:attrNameLst>
                                      </p:cBhvr>
                                      <p:to>
                                        <p:strVal val="visible"/>
                                      </p:to>
                                    </p:set>
                                    <p:animEffect transition="in" filter="fade">
                                      <p:cBhvr>
                                        <p:cTn id="27" dur="2000"/>
                                        <p:tgtEl>
                                          <p:spTgt spid="1028">
                                            <p:txEl>
                                              <p:charRg st="29" end="4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28">
                                            <p:txEl>
                                              <p:charRg st="43" end="57"/>
                                            </p:txEl>
                                          </p:spTgt>
                                        </p:tgtEl>
                                        <p:attrNameLst>
                                          <p:attrName>style.visibility</p:attrName>
                                        </p:attrNameLst>
                                      </p:cBhvr>
                                      <p:to>
                                        <p:strVal val="visible"/>
                                      </p:to>
                                    </p:set>
                                    <p:animEffect transition="in" filter="fade">
                                      <p:cBhvr>
                                        <p:cTn id="32" dur="2000"/>
                                        <p:tgtEl>
                                          <p:spTgt spid="1028">
                                            <p:txEl>
                                              <p:charRg st="43" end="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2" grpId="0"/>
      <p:bldP spid="102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noRot="1"/>
          </p:cNvSpPr>
          <p:nvPr>
            <p:ph idx="1"/>
          </p:nvPr>
        </p:nvSpPr>
        <p:spPr>
          <a:xfrm>
            <a:off x="457200" y="304800"/>
            <a:ext cx="8229600" cy="5514975"/>
          </a:xfrm>
        </p:spPr>
        <p:txBody>
          <a:bodyPr vert="horz" wrap="square" lIns="91440" tIns="45720" rIns="91440" bIns="45720" anchor="t" anchorCtr="0"/>
          <a:p>
            <a:pPr algn="just" eaLnBrk="1" hangingPunct="1">
              <a:buNone/>
            </a:pPr>
            <a:r>
              <a:rPr lang="en-US" altLang="zh-CN" sz="3600" b="1" dirty="0">
                <a:solidFill>
                  <a:srgbClr val="00B050"/>
                </a:solidFill>
                <a:latin typeface="仿宋_GB2312" pitchFamily="49" charset="-122"/>
                <a:ea typeface="仿宋_GB2312" pitchFamily="49" charset="-122"/>
              </a:rPr>
              <a:t>2</a:t>
            </a:r>
            <a:r>
              <a:rPr lang="zh-CN" altLang="en-US" sz="3600" b="1" dirty="0">
                <a:solidFill>
                  <a:srgbClr val="00B050"/>
                </a:solidFill>
                <a:latin typeface="仿宋_GB2312" pitchFamily="49" charset="-122"/>
                <a:ea typeface="仿宋_GB2312" pitchFamily="49" charset="-122"/>
              </a:rPr>
              <a:t>．程序顺序执行时的特征</a:t>
            </a:r>
            <a:endParaRPr lang="en-US" altLang="zh-CN" sz="3600" b="1" dirty="0">
              <a:solidFill>
                <a:srgbClr val="00B050"/>
              </a:solidFill>
              <a:latin typeface="仿宋_GB2312" pitchFamily="49" charset="-122"/>
              <a:ea typeface="仿宋_GB2312" pitchFamily="49" charset="-122"/>
            </a:endParaRPr>
          </a:p>
          <a:p>
            <a:pPr algn="just" eaLnBrk="1" hangingPunct="1">
              <a:buNone/>
            </a:pPr>
            <a:endParaRPr lang="zh-CN" altLang="en-US" sz="3600" b="1" dirty="0">
              <a:solidFill>
                <a:srgbClr val="00B050"/>
              </a:solidFill>
              <a:latin typeface="仿宋_GB2312" pitchFamily="49" charset="-122"/>
              <a:ea typeface="仿宋_GB2312" pitchFamily="49" charset="-122"/>
            </a:endParaRPr>
          </a:p>
          <a:p>
            <a:pPr algn="just" eaLnBrk="1" hangingPunct="1">
              <a:buNone/>
            </a:pPr>
            <a:r>
              <a:rPr lang="zh-CN" altLang="en-US" b="1" dirty="0">
                <a:solidFill>
                  <a:srgbClr val="FF0000"/>
                </a:solidFill>
                <a:latin typeface="仿宋_GB2312" pitchFamily="49" charset="-122"/>
                <a:ea typeface="仿宋_GB2312" pitchFamily="49" charset="-122"/>
              </a:rPr>
              <a:t>（</a:t>
            </a:r>
            <a:r>
              <a:rPr lang="en-US" altLang="zh-CN" b="1" dirty="0">
                <a:solidFill>
                  <a:srgbClr val="FF0000"/>
                </a:solidFill>
                <a:latin typeface="仿宋_GB2312" pitchFamily="49" charset="-122"/>
                <a:ea typeface="仿宋_GB2312" pitchFamily="49" charset="-122"/>
              </a:rPr>
              <a:t>1</a:t>
            </a:r>
            <a:r>
              <a:rPr lang="zh-CN" altLang="en-US" b="1" dirty="0">
                <a:solidFill>
                  <a:srgbClr val="FF0000"/>
                </a:solidFill>
                <a:latin typeface="仿宋_GB2312" pitchFamily="49" charset="-122"/>
                <a:ea typeface="仿宋_GB2312" pitchFamily="49" charset="-122"/>
              </a:rPr>
              <a:t>）顺序性</a:t>
            </a:r>
            <a:r>
              <a:rPr lang="zh-CN" altLang="en-US" b="1" dirty="0">
                <a:latin typeface="仿宋_GB2312" pitchFamily="49" charset="-122"/>
                <a:ea typeface="仿宋_GB2312" pitchFamily="49" charset="-122"/>
              </a:rPr>
              <a:t>：处理机的操作严格按照程序所规定的顺序执行。</a:t>
            </a:r>
            <a:endParaRPr lang="zh-CN" altLang="en-US" b="1" dirty="0">
              <a:latin typeface="仿宋_GB2312" pitchFamily="49" charset="-122"/>
              <a:ea typeface="仿宋_GB2312" pitchFamily="49" charset="-122"/>
            </a:endParaRPr>
          </a:p>
          <a:p>
            <a:pPr algn="just" eaLnBrk="1" hangingPunct="1">
              <a:buNone/>
            </a:pPr>
            <a:r>
              <a:rPr lang="zh-CN" altLang="en-US" b="1" dirty="0">
                <a:solidFill>
                  <a:srgbClr val="FF0000"/>
                </a:solidFill>
                <a:latin typeface="仿宋_GB2312" pitchFamily="49" charset="-122"/>
                <a:ea typeface="仿宋_GB2312" pitchFamily="49" charset="-122"/>
              </a:rPr>
              <a:t>（</a:t>
            </a:r>
            <a:r>
              <a:rPr lang="en-US" altLang="zh-CN" b="1" dirty="0">
                <a:solidFill>
                  <a:srgbClr val="FF0000"/>
                </a:solidFill>
                <a:latin typeface="仿宋_GB2312" pitchFamily="49" charset="-122"/>
                <a:ea typeface="仿宋_GB2312" pitchFamily="49" charset="-122"/>
              </a:rPr>
              <a:t>2</a:t>
            </a:r>
            <a:r>
              <a:rPr lang="zh-CN" altLang="en-US" b="1" dirty="0">
                <a:solidFill>
                  <a:srgbClr val="FF0000"/>
                </a:solidFill>
                <a:latin typeface="仿宋_GB2312" pitchFamily="49" charset="-122"/>
                <a:ea typeface="仿宋_GB2312" pitchFamily="49" charset="-122"/>
              </a:rPr>
              <a:t>）封闭性</a:t>
            </a:r>
            <a:r>
              <a:rPr lang="zh-CN" altLang="en-US" b="1" dirty="0">
                <a:latin typeface="仿宋_GB2312" pitchFamily="49" charset="-122"/>
                <a:ea typeface="仿宋_GB2312" pitchFamily="49" charset="-122"/>
              </a:rPr>
              <a:t>：程序运行时独占全机资源，程序一旦开始执行，其执行结果不受外界因素影响。</a:t>
            </a:r>
            <a:endParaRPr lang="zh-CN" altLang="en-US" b="1" dirty="0">
              <a:latin typeface="仿宋_GB2312" pitchFamily="49" charset="-122"/>
              <a:ea typeface="仿宋_GB2312" pitchFamily="49" charset="-122"/>
            </a:endParaRPr>
          </a:p>
          <a:p>
            <a:pPr algn="just" eaLnBrk="1" hangingPunct="1">
              <a:buNone/>
            </a:pPr>
            <a:r>
              <a:rPr lang="zh-CN" altLang="en-US" b="1" dirty="0">
                <a:solidFill>
                  <a:srgbClr val="FF0000"/>
                </a:solidFill>
                <a:latin typeface="仿宋_GB2312" pitchFamily="49" charset="-122"/>
                <a:ea typeface="仿宋_GB2312" pitchFamily="49" charset="-122"/>
              </a:rPr>
              <a:t>（</a:t>
            </a:r>
            <a:r>
              <a:rPr lang="en-US" altLang="zh-CN" b="1" dirty="0">
                <a:solidFill>
                  <a:srgbClr val="FF0000"/>
                </a:solidFill>
                <a:latin typeface="仿宋_GB2312" pitchFamily="49" charset="-122"/>
                <a:ea typeface="仿宋_GB2312" pitchFamily="49" charset="-122"/>
              </a:rPr>
              <a:t>3</a:t>
            </a:r>
            <a:r>
              <a:rPr lang="zh-CN" altLang="en-US" b="1" dirty="0">
                <a:solidFill>
                  <a:srgbClr val="FF0000"/>
                </a:solidFill>
                <a:latin typeface="仿宋_GB2312" pitchFamily="49" charset="-122"/>
                <a:ea typeface="仿宋_GB2312" pitchFamily="49" charset="-122"/>
              </a:rPr>
              <a:t>）可再现性</a:t>
            </a:r>
            <a:r>
              <a:rPr lang="zh-CN" altLang="en-US" b="1" dirty="0">
                <a:latin typeface="仿宋_GB2312" pitchFamily="49" charset="-122"/>
                <a:ea typeface="仿宋_GB2312" pitchFamily="49" charset="-122"/>
              </a:rPr>
              <a:t>：只要程序执行时的环境和初始条件相同，都将获得相同的结果。</a:t>
            </a:r>
            <a:endParaRPr lang="zh-CN" altLang="en-US" b="1" dirty="0">
              <a:latin typeface="仿宋_GB2312" pitchFamily="49" charset="-122"/>
              <a:ea typeface="仿宋_GB2312" pitchFamily="49" charset="-122"/>
            </a:endParaRPr>
          </a:p>
          <a:p>
            <a:pPr algn="just" eaLnBrk="1" hangingPunct="1">
              <a:buNone/>
            </a:pPr>
            <a:r>
              <a:rPr lang="zh-CN" altLang="en-US" b="1" dirty="0">
                <a:latin typeface="仿宋_GB2312" pitchFamily="49" charset="-122"/>
                <a:ea typeface="仿宋_GB2312" pitchFamily="49" charset="-122"/>
              </a:rPr>
              <a:t>（不论它是从头到尾不停顿地执行，还是</a:t>
            </a:r>
            <a:r>
              <a:rPr lang="zh-CN" altLang="en-US" b="1" dirty="0">
                <a:latin typeface="Courier New" panose="02070309020205020404" pitchFamily="49" charset="0"/>
                <a:ea typeface="仿宋_GB2312" pitchFamily="49" charset="-122"/>
              </a:rPr>
              <a:t>“</a:t>
            </a:r>
            <a:r>
              <a:rPr lang="zh-CN" altLang="en-US" b="1" dirty="0">
                <a:latin typeface="仿宋_GB2312" pitchFamily="49" charset="-122"/>
                <a:ea typeface="仿宋_GB2312" pitchFamily="49" charset="-122"/>
              </a:rPr>
              <a:t>停停走走</a:t>
            </a:r>
            <a:r>
              <a:rPr lang="zh-CN" altLang="en-US" b="1" dirty="0">
                <a:latin typeface="Courier New" panose="02070309020205020404" pitchFamily="49" charset="0"/>
                <a:ea typeface="仿宋_GB2312" pitchFamily="49" charset="-122"/>
              </a:rPr>
              <a:t>”</a:t>
            </a:r>
            <a:r>
              <a:rPr lang="zh-CN" altLang="en-US" b="1" dirty="0">
                <a:latin typeface="仿宋_GB2312" pitchFamily="49" charset="-122"/>
                <a:ea typeface="仿宋_GB2312" pitchFamily="49" charset="-122"/>
              </a:rPr>
              <a:t>地执行）</a:t>
            </a:r>
            <a:endParaRPr lang="zh-CN" altLang="en-US" b="1" dirty="0">
              <a:latin typeface="仿宋_GB2312" pitchFamily="49" charset="-122"/>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0">
                                            <p:txEl>
                                              <p:charRg st="0" end="13"/>
                                            </p:txEl>
                                          </p:spTgt>
                                        </p:tgtEl>
                                        <p:attrNameLst>
                                          <p:attrName>style.visibility</p:attrName>
                                        </p:attrNameLst>
                                      </p:cBhvr>
                                      <p:to>
                                        <p:strVal val="visible"/>
                                      </p:to>
                                    </p:set>
                                    <p:animEffect transition="in" filter="fade">
                                      <p:cBhvr>
                                        <p:cTn id="7" dur="2000"/>
                                        <p:tgtEl>
                                          <p:spTgt spid="27650">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650">
                                            <p:txEl>
                                              <p:charRg st="14" end="43"/>
                                            </p:txEl>
                                          </p:spTgt>
                                        </p:tgtEl>
                                        <p:attrNameLst>
                                          <p:attrName>style.visibility</p:attrName>
                                        </p:attrNameLst>
                                      </p:cBhvr>
                                      <p:to>
                                        <p:strVal val="visible"/>
                                      </p:to>
                                    </p:set>
                                    <p:animEffect transition="in" filter="fade">
                                      <p:cBhvr>
                                        <p:cTn id="12" dur="2000"/>
                                        <p:tgtEl>
                                          <p:spTgt spid="27650">
                                            <p:txEl>
                                              <p:charRg st="14" end="4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650">
                                            <p:txEl>
                                              <p:charRg st="43" end="86"/>
                                            </p:txEl>
                                          </p:spTgt>
                                        </p:tgtEl>
                                        <p:attrNameLst>
                                          <p:attrName>style.visibility</p:attrName>
                                        </p:attrNameLst>
                                      </p:cBhvr>
                                      <p:to>
                                        <p:strVal val="visible"/>
                                      </p:to>
                                    </p:set>
                                    <p:animEffect transition="in" filter="fade">
                                      <p:cBhvr>
                                        <p:cTn id="17" dur="2000"/>
                                        <p:tgtEl>
                                          <p:spTgt spid="27650">
                                            <p:txEl>
                                              <p:charRg st="43" end="8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650">
                                            <p:txEl>
                                              <p:charRg st="86" end="123"/>
                                            </p:txEl>
                                          </p:spTgt>
                                        </p:tgtEl>
                                        <p:attrNameLst>
                                          <p:attrName>style.visibility</p:attrName>
                                        </p:attrNameLst>
                                      </p:cBhvr>
                                      <p:to>
                                        <p:strVal val="visible"/>
                                      </p:to>
                                    </p:set>
                                    <p:animEffect transition="in" filter="fade">
                                      <p:cBhvr>
                                        <p:cTn id="22" dur="2000"/>
                                        <p:tgtEl>
                                          <p:spTgt spid="27650">
                                            <p:txEl>
                                              <p:charRg st="86" end="12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650">
                                            <p:txEl>
                                              <p:charRg st="123" end="152"/>
                                            </p:txEl>
                                          </p:spTgt>
                                        </p:tgtEl>
                                        <p:attrNameLst>
                                          <p:attrName>style.visibility</p:attrName>
                                        </p:attrNameLst>
                                      </p:cBhvr>
                                      <p:to>
                                        <p:strVal val="visible"/>
                                      </p:to>
                                    </p:set>
                                    <p:animEffect transition="in" filter="fade">
                                      <p:cBhvr>
                                        <p:cTn id="27" dur="2000"/>
                                        <p:tgtEl>
                                          <p:spTgt spid="27650">
                                            <p:txEl>
                                              <p:charRg st="123" end="1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2"/>
          <p:cNvSpPr txBox="1"/>
          <p:nvPr/>
        </p:nvSpPr>
        <p:spPr>
          <a:xfrm>
            <a:off x="1050925" y="606425"/>
            <a:ext cx="4940300" cy="708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4000" b="1" dirty="0">
                <a:solidFill>
                  <a:srgbClr val="0066FF"/>
                </a:solidFill>
                <a:latin typeface="Times New Roman" panose="02020603050405020304" pitchFamily="18" charset="0"/>
              </a:rPr>
              <a:t>2.1.3 </a:t>
            </a:r>
            <a:r>
              <a:rPr lang="zh-CN" altLang="en-US" sz="4000" b="1" dirty="0">
                <a:solidFill>
                  <a:srgbClr val="0066FF"/>
                </a:solidFill>
                <a:latin typeface="Times New Roman" panose="02020603050405020304" pitchFamily="18" charset="0"/>
              </a:rPr>
              <a:t>程序的并发执行</a:t>
            </a:r>
            <a:endParaRPr lang="zh-CN" altLang="en-US" sz="4000" b="1" dirty="0">
              <a:solidFill>
                <a:srgbClr val="0066FF"/>
              </a:solidFill>
              <a:latin typeface="Times New Roman" panose="02020603050405020304" pitchFamily="18" charset="0"/>
            </a:endParaRPr>
          </a:p>
        </p:txBody>
      </p:sp>
      <p:sp>
        <p:nvSpPr>
          <p:cNvPr id="11267" name="Text Box 3"/>
          <p:cNvSpPr txBox="1"/>
          <p:nvPr/>
        </p:nvSpPr>
        <p:spPr>
          <a:xfrm>
            <a:off x="1066800" y="1538288"/>
            <a:ext cx="311785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rgbClr val="FF0000"/>
                </a:solidFill>
                <a:latin typeface="Times New Roman" panose="02020603050405020304" pitchFamily="18" charset="0"/>
              </a:rPr>
              <a:t>1. </a:t>
            </a:r>
            <a:r>
              <a:rPr lang="zh-CN" altLang="en-US" sz="2800" b="1" dirty="0">
                <a:solidFill>
                  <a:srgbClr val="FF0000"/>
                </a:solidFill>
                <a:latin typeface="Times New Roman" panose="02020603050405020304" pitchFamily="18" charset="0"/>
              </a:rPr>
              <a:t>程序的并发执行 </a:t>
            </a:r>
            <a:endParaRPr lang="zh-CN" altLang="en-US" sz="2800" b="1" dirty="0">
              <a:solidFill>
                <a:srgbClr val="FF0000"/>
              </a:solidFill>
              <a:latin typeface="Times New Roman" panose="02020603050405020304" pitchFamily="18" charset="0"/>
            </a:endParaRPr>
          </a:p>
        </p:txBody>
      </p:sp>
      <p:sp>
        <p:nvSpPr>
          <p:cNvPr id="11268" name="Text Box 4"/>
          <p:cNvSpPr txBox="1"/>
          <p:nvPr/>
        </p:nvSpPr>
        <p:spPr>
          <a:xfrm>
            <a:off x="2895600" y="6172200"/>
            <a:ext cx="3867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图 </a:t>
            </a:r>
            <a:r>
              <a:rPr lang="en-US" altLang="zh-CN" sz="2400" dirty="0">
                <a:latin typeface="Times New Roman" panose="02020603050405020304" pitchFamily="18" charset="0"/>
              </a:rPr>
              <a:t>2-3 </a:t>
            </a:r>
            <a:r>
              <a:rPr lang="zh-CN" altLang="en-US" sz="2400" dirty="0">
                <a:latin typeface="Times New Roman" panose="02020603050405020304" pitchFamily="18" charset="0"/>
              </a:rPr>
              <a:t>并发执行时的前趋图 </a:t>
            </a:r>
            <a:endParaRPr lang="zh-CN" altLang="en-US" sz="2400" dirty="0">
              <a:latin typeface="Times New Roman" panose="02020603050405020304" pitchFamily="18" charset="0"/>
            </a:endParaRPr>
          </a:p>
        </p:txBody>
      </p:sp>
      <p:graphicFrame>
        <p:nvGraphicFramePr>
          <p:cNvPr id="11269" name="Object 5"/>
          <p:cNvGraphicFramePr>
            <a:graphicFrameLocks noChangeAspect="1"/>
          </p:cNvGraphicFramePr>
          <p:nvPr/>
        </p:nvGraphicFramePr>
        <p:xfrm>
          <a:off x="381000" y="2743200"/>
          <a:ext cx="8991600" cy="2997200"/>
        </p:xfrm>
        <a:graphic>
          <a:graphicData uri="http://schemas.openxmlformats.org/presentationml/2006/ole">
            <mc:AlternateContent xmlns:mc="http://schemas.openxmlformats.org/markup-compatibility/2006">
              <mc:Choice xmlns:v="urn:schemas-microsoft-com:vml" Requires="v">
                <p:oleObj spid="_x0000_s3078" name="" r:id="rId1" imgW="3756660" imgH="1249680" progId="Visio.Drawing.4">
                  <p:embed/>
                </p:oleObj>
              </mc:Choice>
              <mc:Fallback>
                <p:oleObj name="" r:id="rId1" imgW="3756660" imgH="1249680" progId="Visio.Drawing.4">
                  <p:embed/>
                  <p:pic>
                    <p:nvPicPr>
                      <p:cNvPr id="0" name="图片 3077"/>
                      <p:cNvPicPr/>
                      <p:nvPr/>
                    </p:nvPicPr>
                    <p:blipFill>
                      <a:blip r:embed="rId2"/>
                      <a:stretch>
                        <a:fillRect/>
                      </a:stretch>
                    </p:blipFill>
                    <p:spPr>
                      <a:xfrm>
                        <a:off x="381000" y="2743200"/>
                        <a:ext cx="8991600" cy="2997200"/>
                      </a:xfrm>
                      <a:prstGeom prst="rect">
                        <a:avLst/>
                      </a:prstGeom>
                      <a:noFill/>
                      <a:ln w="38100">
                        <a:noFill/>
                        <a:miter/>
                      </a:ln>
                    </p:spPr>
                  </p:pic>
                </p:oleObj>
              </mc:Fallback>
            </mc:AlternateContent>
          </a:graphicData>
        </a:graphic>
      </p:graphicFrame>
      <p:sp>
        <p:nvSpPr>
          <p:cNvPr id="495622" name="Text Box 6"/>
          <p:cNvSpPr txBox="1">
            <a:spLocks noChangeArrowheads="1"/>
          </p:cNvSpPr>
          <p:nvPr/>
        </p:nvSpPr>
        <p:spPr bwMode="auto">
          <a:xfrm>
            <a:off x="609600" y="2133600"/>
            <a:ext cx="7924800" cy="457200"/>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2400" b="1" kern="1200" cap="none" spc="0" normalizeH="0" baseline="0" noProof="0" dirty="0">
                <a:solidFill>
                  <a:srgbClr val="0066FF"/>
                </a:solidFill>
                <a:latin typeface="Arial" panose="020B0604020202020204" pitchFamily="34" charset="0"/>
                <a:ea typeface="宋体" panose="02010600030101010101" pitchFamily="2" charset="-122"/>
                <a:cs typeface="+mn-cs"/>
              </a:rPr>
              <a:t>一个作业由输入程序、计算程序、打印程序组成。</a:t>
            </a:r>
            <a:endParaRPr kumimoji="0" lang="zh-CN" altLang="en-US" sz="2400" b="1" kern="1200" cap="none" spc="0" normalizeH="0" baseline="0" noProof="0" dirty="0">
              <a:solidFill>
                <a:srgbClr val="0066FF"/>
              </a:solidFill>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2"/>
          <p:cNvSpPr txBox="1"/>
          <p:nvPr/>
        </p:nvSpPr>
        <p:spPr>
          <a:xfrm>
            <a:off x="609600" y="685800"/>
            <a:ext cx="8077200" cy="5632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50000"/>
              </a:lnSpc>
              <a:spcBef>
                <a:spcPct val="50000"/>
              </a:spcBef>
              <a:buClrTx/>
              <a:buSzTx/>
              <a:buFontTx/>
              <a:buNone/>
            </a:pPr>
            <a:r>
              <a:rPr lang="zh-CN" altLang="en-US" sz="2400" b="1" dirty="0">
                <a:latin typeface="Times New Roman" panose="02020603050405020304" pitchFamily="18" charset="0"/>
              </a:rPr>
              <a:t>在该例中存在下述前趋关系：</a:t>
            </a:r>
            <a:endParaRPr lang="zh-CN" altLang="en-US" sz="2400" b="1"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I</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i</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I</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→I</a:t>
            </a:r>
            <a:r>
              <a:rPr lang="en-US" altLang="zh-CN" sz="2400" b="1" baseline="-25000" dirty="0">
                <a:latin typeface="Times New Roman" panose="02020603050405020304" pitchFamily="18" charset="0"/>
              </a:rPr>
              <a:t>i+1</a:t>
            </a:r>
            <a:r>
              <a:rPr lang="en-US" altLang="zh-CN" sz="2400" b="1" dirty="0">
                <a:latin typeface="Times New Roman" panose="02020603050405020304" pitchFamily="18" charset="0"/>
              </a:rPr>
              <a:t>, C</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 C</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→C</a:t>
            </a:r>
            <a:r>
              <a:rPr lang="en-US" altLang="zh-CN" sz="2400" b="1" baseline="-25000" dirty="0">
                <a:latin typeface="Times New Roman" panose="02020603050405020304" pitchFamily="18" charset="0"/>
              </a:rPr>
              <a:t>i+1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i</a:t>
            </a:r>
            <a:r>
              <a:rPr lang="en-US" altLang="zh-CN" sz="2400" b="1" dirty="0">
                <a:latin typeface="Times New Roman" panose="02020603050405020304" pitchFamily="18" charset="0"/>
              </a:rPr>
              <a:t>→P</a:t>
            </a:r>
            <a:r>
              <a:rPr lang="en-US" altLang="zh-CN" sz="2400" b="1" baseline="-25000" dirty="0">
                <a:latin typeface="Times New Roman" panose="02020603050405020304" pitchFamily="18" charset="0"/>
              </a:rPr>
              <a:t>i+1</a:t>
            </a:r>
            <a:endParaRPr lang="en-US" altLang="zh-CN" sz="2400" b="1" baseline="-25000"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zh-CN" altLang="en-US" sz="2400" b="1" dirty="0">
                <a:solidFill>
                  <a:srgbClr val="FF0000"/>
                </a:solidFill>
                <a:latin typeface="Times New Roman" panose="02020603050405020304" pitchFamily="18" charset="0"/>
              </a:rPr>
              <a:t>而</a:t>
            </a:r>
            <a:r>
              <a:rPr lang="en-US" altLang="zh-CN" sz="2400" b="1" dirty="0">
                <a:solidFill>
                  <a:srgbClr val="FF0000"/>
                </a:solidFill>
                <a:latin typeface="Times New Roman" panose="02020603050405020304" pitchFamily="18" charset="0"/>
              </a:rPr>
              <a:t>I</a:t>
            </a:r>
            <a:r>
              <a:rPr lang="en-US" altLang="zh-CN" sz="2400" b="1" baseline="-25000" dirty="0">
                <a:solidFill>
                  <a:srgbClr val="FF0000"/>
                </a:solidFill>
                <a:latin typeface="Times New Roman" panose="02020603050405020304" pitchFamily="18" charset="0"/>
              </a:rPr>
              <a:t>i+1</a:t>
            </a:r>
            <a:r>
              <a:rPr lang="zh-CN" altLang="en-US" sz="2400" b="1" dirty="0">
                <a:solidFill>
                  <a:srgbClr val="FF0000"/>
                </a:solidFill>
                <a:latin typeface="Times New Roman" panose="02020603050405020304" pitchFamily="18" charset="0"/>
              </a:rPr>
              <a:t>和</a:t>
            </a:r>
            <a:r>
              <a:rPr lang="en-US" altLang="zh-CN" sz="2400" b="1" dirty="0">
                <a:solidFill>
                  <a:srgbClr val="FF0000"/>
                </a:solidFill>
                <a:latin typeface="Times New Roman" panose="02020603050405020304" pitchFamily="18" charset="0"/>
              </a:rPr>
              <a:t>C</a:t>
            </a:r>
            <a:r>
              <a:rPr lang="en-US" altLang="zh-CN" sz="2400" b="1" baseline="-25000" dirty="0">
                <a:solidFill>
                  <a:srgbClr val="FF0000"/>
                </a:solidFill>
                <a:latin typeface="Times New Roman" panose="02020603050405020304" pitchFamily="18" charset="0"/>
              </a:rPr>
              <a:t>i</a:t>
            </a:r>
            <a:r>
              <a:rPr lang="zh-CN" altLang="en-US" sz="2400" b="1" dirty="0">
                <a:solidFill>
                  <a:srgbClr val="FF0000"/>
                </a:solidFill>
                <a:latin typeface="Times New Roman" panose="02020603050405020304" pitchFamily="18" charset="0"/>
              </a:rPr>
              <a:t>及</a:t>
            </a:r>
            <a:r>
              <a:rPr lang="en-US" altLang="zh-CN" sz="2400" b="1" dirty="0">
                <a:solidFill>
                  <a:srgbClr val="FF0000"/>
                </a:solidFill>
                <a:latin typeface="Times New Roman" panose="02020603050405020304" pitchFamily="18" charset="0"/>
              </a:rPr>
              <a:t>P</a:t>
            </a:r>
            <a:r>
              <a:rPr lang="en-US" altLang="zh-CN" sz="2400" b="1" baseline="-25000" dirty="0">
                <a:solidFill>
                  <a:srgbClr val="FF0000"/>
                </a:solidFill>
                <a:latin typeface="Times New Roman" panose="02020603050405020304" pitchFamily="18" charset="0"/>
              </a:rPr>
              <a:t>i-1</a:t>
            </a:r>
            <a:r>
              <a:rPr lang="zh-CN" altLang="en-US" sz="2400" b="1" dirty="0">
                <a:solidFill>
                  <a:srgbClr val="FF0000"/>
                </a:solidFill>
                <a:latin typeface="Times New Roman" panose="02020603050405020304" pitchFamily="18" charset="0"/>
              </a:rPr>
              <a:t>是重迭的，亦即在</a:t>
            </a:r>
            <a:r>
              <a:rPr lang="en-US" altLang="zh-CN" sz="2400" b="1" dirty="0">
                <a:solidFill>
                  <a:srgbClr val="FF0000"/>
                </a:solidFill>
                <a:latin typeface="Times New Roman" panose="02020603050405020304" pitchFamily="18" charset="0"/>
              </a:rPr>
              <a:t>P</a:t>
            </a:r>
            <a:r>
              <a:rPr lang="en-US" altLang="zh-CN" sz="2400" b="1" baseline="-25000" dirty="0">
                <a:solidFill>
                  <a:srgbClr val="FF0000"/>
                </a:solidFill>
                <a:latin typeface="Times New Roman" panose="02020603050405020304" pitchFamily="18" charset="0"/>
              </a:rPr>
              <a:t>i-1</a:t>
            </a:r>
            <a:r>
              <a:rPr lang="zh-CN" altLang="en-US" sz="2400" b="1" dirty="0">
                <a:solidFill>
                  <a:srgbClr val="FF0000"/>
                </a:solidFill>
                <a:latin typeface="Times New Roman" panose="02020603050405020304" pitchFamily="18" charset="0"/>
              </a:rPr>
              <a:t>和</a:t>
            </a:r>
            <a:r>
              <a:rPr lang="en-US" altLang="zh-CN" sz="2400" b="1" dirty="0">
                <a:solidFill>
                  <a:srgbClr val="FF0000"/>
                </a:solidFill>
                <a:latin typeface="Times New Roman" panose="02020603050405020304" pitchFamily="18" charset="0"/>
              </a:rPr>
              <a:t>C</a:t>
            </a:r>
            <a:r>
              <a:rPr lang="en-US" altLang="zh-CN" sz="2400" b="1" baseline="-25000" dirty="0">
                <a:solidFill>
                  <a:srgbClr val="FF0000"/>
                </a:solidFill>
                <a:latin typeface="Times New Roman" panose="02020603050405020304" pitchFamily="18" charset="0"/>
              </a:rPr>
              <a:t>i</a:t>
            </a:r>
            <a:r>
              <a:rPr lang="zh-CN" altLang="en-US" sz="2400" b="1" dirty="0">
                <a:solidFill>
                  <a:srgbClr val="FF0000"/>
                </a:solidFill>
                <a:latin typeface="Times New Roman" panose="02020603050405020304" pitchFamily="18" charset="0"/>
              </a:rPr>
              <a:t>以及</a:t>
            </a:r>
            <a:r>
              <a:rPr lang="en-US" altLang="zh-CN" sz="2400" b="1" dirty="0">
                <a:solidFill>
                  <a:srgbClr val="FF0000"/>
                </a:solidFill>
                <a:latin typeface="Times New Roman" panose="02020603050405020304" pitchFamily="18" charset="0"/>
              </a:rPr>
              <a:t>I</a:t>
            </a:r>
            <a:r>
              <a:rPr lang="en-US" altLang="zh-CN" sz="2400" b="1" baseline="-25000" dirty="0">
                <a:solidFill>
                  <a:srgbClr val="FF0000"/>
                </a:solidFill>
                <a:latin typeface="Times New Roman" panose="02020603050405020304" pitchFamily="18" charset="0"/>
              </a:rPr>
              <a:t>i+1</a:t>
            </a:r>
            <a:r>
              <a:rPr lang="zh-CN" altLang="en-US" sz="2400" b="1" dirty="0">
                <a:solidFill>
                  <a:srgbClr val="FF0000"/>
                </a:solidFill>
                <a:latin typeface="Times New Roman" panose="02020603050405020304" pitchFamily="18" charset="0"/>
              </a:rPr>
              <a:t>之间，可以并发执行</a:t>
            </a:r>
            <a:r>
              <a:rPr lang="zh-CN" altLang="en-US" sz="2400" b="1" dirty="0">
                <a:latin typeface="Times New Roman" panose="02020603050405020304" pitchFamily="18" charset="0"/>
              </a:rPr>
              <a:t>。 对于具有下述四条语句的程序段：</a:t>
            </a:r>
            <a:endParaRPr lang="zh-CN" altLang="en-US" sz="2400" b="1"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 a∶=x+2</a:t>
            </a:r>
            <a:endParaRPr lang="en-US" altLang="zh-CN" sz="2400" b="1"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en-US" altLang="zh-CN" sz="2400" b="1" dirty="0">
                <a:latin typeface="Times New Roman" panose="02020603050405020304" pitchFamily="18" charset="0"/>
              </a:rPr>
              <a:t>         S</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b∶=y+4</a:t>
            </a:r>
            <a:endParaRPr lang="en-US" altLang="zh-CN" sz="2400" b="1" dirty="0">
              <a:latin typeface="Times New Roman" panose="02020603050405020304" pitchFamily="18" charset="0"/>
            </a:endParaRPr>
          </a:p>
          <a:p>
            <a:pPr marL="0" lvl="0" indent="0" algn="just" eaLnBrk="1" hangingPunct="1">
              <a:lnSpc>
                <a:spcPct val="150000"/>
              </a:lnSpc>
              <a:spcBef>
                <a:spcPct val="50000"/>
              </a:spcBef>
              <a:buClrTx/>
              <a:buSzTx/>
              <a:buFontTx/>
              <a:buNone/>
            </a:pPr>
            <a:r>
              <a:rPr lang="en-US" altLang="zh-CN" sz="2400" b="1" dirty="0">
                <a:latin typeface="Times New Roman" panose="02020603050405020304" pitchFamily="18" charset="0"/>
              </a:rPr>
              <a:t>         S</a:t>
            </a:r>
            <a:r>
              <a:rPr lang="en-US" altLang="zh-CN" sz="2400" b="1" baseline="-25000" dirty="0">
                <a:latin typeface="Times New Roman" panose="02020603050405020304" pitchFamily="18" charset="0"/>
              </a:rPr>
              <a:t>3</a:t>
            </a:r>
            <a:r>
              <a:rPr lang="en-US" altLang="zh-CN" sz="2400" b="1" dirty="0">
                <a:latin typeface="Times New Roman" panose="02020603050405020304" pitchFamily="18" charset="0"/>
              </a:rPr>
              <a:t>: c∶=a+b</a:t>
            </a:r>
            <a:endParaRPr lang="en-US" altLang="zh-CN" sz="2400" b="1" dirty="0">
              <a:latin typeface="Times New Roman" panose="02020603050405020304" pitchFamily="18" charset="0"/>
            </a:endParaRPr>
          </a:p>
          <a:p>
            <a:pPr marL="0" lvl="0" indent="0" eaLnBrk="1" hangingPunct="1">
              <a:lnSpc>
                <a:spcPct val="150000"/>
              </a:lnSpc>
              <a:spcBef>
                <a:spcPct val="50000"/>
              </a:spcBef>
              <a:buClrTx/>
              <a:buSzTx/>
              <a:buFontTx/>
              <a:buNone/>
            </a:pPr>
            <a:r>
              <a:rPr lang="en-US" altLang="zh-CN" sz="2400" b="1" dirty="0">
                <a:latin typeface="Times New Roman" panose="02020603050405020304" pitchFamily="18" charset="0"/>
              </a:rPr>
              <a:t>         S</a:t>
            </a:r>
            <a:r>
              <a:rPr lang="en-US" altLang="zh-CN" sz="2400" b="1" baseline="-25000" dirty="0">
                <a:latin typeface="Times New Roman" panose="02020603050405020304" pitchFamily="18" charset="0"/>
              </a:rPr>
              <a:t>4</a:t>
            </a:r>
            <a:r>
              <a:rPr lang="en-US" altLang="zh-CN" sz="2400" b="1" dirty="0">
                <a:latin typeface="Times New Roman" panose="02020603050405020304" pitchFamily="18" charset="0"/>
              </a:rPr>
              <a:t>: d∶=c+b </a:t>
            </a:r>
            <a:endParaRPr lang="en-US" altLang="zh-CN" sz="2400" b="1" dirty="0">
              <a:latin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2"/>
          <p:cNvSpPr txBox="1"/>
          <p:nvPr/>
        </p:nvSpPr>
        <p:spPr>
          <a:xfrm>
            <a:off x="2971800" y="5715000"/>
            <a:ext cx="37909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dirty="0">
                <a:latin typeface="Times New Roman" panose="02020603050405020304" pitchFamily="18" charset="0"/>
              </a:rPr>
              <a:t>图 </a:t>
            </a:r>
            <a:r>
              <a:rPr lang="en-US" altLang="zh-CN" sz="2400" dirty="0">
                <a:latin typeface="Times New Roman" panose="02020603050405020304" pitchFamily="18" charset="0"/>
              </a:rPr>
              <a:t>2-4 </a:t>
            </a:r>
            <a:r>
              <a:rPr lang="zh-CN" altLang="en-US" sz="2400" dirty="0">
                <a:latin typeface="Times New Roman" panose="02020603050405020304" pitchFamily="18" charset="0"/>
              </a:rPr>
              <a:t>四条语句的前趋关系</a:t>
            </a:r>
            <a:endParaRPr lang="zh-CN" altLang="en-US" sz="2400" dirty="0">
              <a:latin typeface="Times New Roman" panose="02020603050405020304" pitchFamily="18" charset="0"/>
            </a:endParaRPr>
          </a:p>
        </p:txBody>
      </p:sp>
      <p:graphicFrame>
        <p:nvGraphicFramePr>
          <p:cNvPr id="13315" name="Object 3"/>
          <p:cNvGraphicFramePr>
            <a:graphicFrameLocks noChangeAspect="1"/>
          </p:cNvGraphicFramePr>
          <p:nvPr/>
        </p:nvGraphicFramePr>
        <p:xfrm>
          <a:off x="2057400" y="1981200"/>
          <a:ext cx="6400800" cy="2994025"/>
        </p:xfrm>
        <a:graphic>
          <a:graphicData uri="http://schemas.openxmlformats.org/presentationml/2006/ole">
            <mc:AlternateContent xmlns:mc="http://schemas.openxmlformats.org/markup-compatibility/2006">
              <mc:Choice xmlns:v="urn:schemas-microsoft-com:vml" Requires="v">
                <p:oleObj spid="_x0000_s3076" name="" r:id="rId1" imgW="1752600" imgH="822960" progId="Visio.Drawing.4">
                  <p:embed/>
                </p:oleObj>
              </mc:Choice>
              <mc:Fallback>
                <p:oleObj name="" r:id="rId1" imgW="1752600" imgH="822960" progId="Visio.Drawing.4">
                  <p:embed/>
                  <p:pic>
                    <p:nvPicPr>
                      <p:cNvPr id="0" name="图片 3075"/>
                      <p:cNvPicPr/>
                      <p:nvPr/>
                    </p:nvPicPr>
                    <p:blipFill>
                      <a:blip r:embed="rId2"/>
                      <a:stretch>
                        <a:fillRect/>
                      </a:stretch>
                    </p:blipFill>
                    <p:spPr>
                      <a:xfrm>
                        <a:off x="2057400" y="1981200"/>
                        <a:ext cx="6400800" cy="2994025"/>
                      </a:xfrm>
                      <a:prstGeom prst="rect">
                        <a:avLst/>
                      </a:prstGeom>
                      <a:noFill/>
                      <a:ln w="38100">
                        <a:noFill/>
                        <a:miter/>
                      </a:ln>
                    </p:spPr>
                  </p:pic>
                </p:oleObj>
              </mc:Fallback>
            </mc:AlternateContent>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2"/>
          <p:cNvSpPr txBox="1"/>
          <p:nvPr/>
        </p:nvSpPr>
        <p:spPr>
          <a:xfrm>
            <a:off x="1682750" y="533400"/>
            <a:ext cx="53276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600" b="1" dirty="0">
                <a:solidFill>
                  <a:srgbClr val="FF0000"/>
                </a:solidFill>
                <a:latin typeface="Times New Roman" panose="02020603050405020304" pitchFamily="18" charset="0"/>
              </a:rPr>
              <a:t>2. </a:t>
            </a:r>
            <a:r>
              <a:rPr lang="zh-CN" altLang="en-US" sz="3600" b="1" dirty="0">
                <a:solidFill>
                  <a:srgbClr val="FF0000"/>
                </a:solidFill>
                <a:latin typeface="Times New Roman" panose="02020603050405020304" pitchFamily="18" charset="0"/>
              </a:rPr>
              <a:t>程序并发执行时的特征 </a:t>
            </a:r>
            <a:endParaRPr lang="zh-CN" altLang="en-US" sz="3600" b="1" dirty="0">
              <a:solidFill>
                <a:srgbClr val="FF0000"/>
              </a:solidFill>
              <a:latin typeface="Times New Roman" panose="02020603050405020304" pitchFamily="18" charset="0"/>
            </a:endParaRPr>
          </a:p>
        </p:txBody>
      </p:sp>
      <p:sp>
        <p:nvSpPr>
          <p:cNvPr id="498691" name="Text Box 3"/>
          <p:cNvSpPr txBox="1"/>
          <p:nvPr/>
        </p:nvSpPr>
        <p:spPr>
          <a:xfrm>
            <a:off x="381000" y="1524000"/>
            <a:ext cx="8245475" cy="39782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457200" lvl="0" indent="-457200" eaLnBrk="1" hangingPunct="1">
              <a:lnSpc>
                <a:spcPct val="125000"/>
              </a:lnSpc>
              <a:spcBef>
                <a:spcPct val="0"/>
              </a:spcBef>
              <a:buClrTx/>
              <a:buSzTx/>
              <a:buFontTx/>
              <a:buAutoNum type="arabicParenR"/>
            </a:pPr>
            <a:r>
              <a:rPr lang="zh-CN" altLang="en-US" b="1" dirty="0">
                <a:solidFill>
                  <a:srgbClr val="0066FF"/>
                </a:solidFill>
                <a:latin typeface="Times New Roman" panose="02020603050405020304" pitchFamily="18" charset="0"/>
              </a:rPr>
              <a:t>间断性</a:t>
            </a:r>
            <a:endParaRPr lang="zh-CN" altLang="en-US" b="1" dirty="0">
              <a:solidFill>
                <a:srgbClr val="0066FF"/>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程序并发执行是，由于共享系统资源，这些程序</a:t>
            </a:r>
            <a:endParaRPr lang="zh-CN" altLang="en-US" sz="2800" b="1" dirty="0">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形成相互制约的关系，具有“执行</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暂停</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执行”特征。</a:t>
            </a:r>
            <a:endParaRPr lang="zh-CN" altLang="en-US" sz="2800" b="1" dirty="0">
              <a:latin typeface="Times New Roman" panose="02020603050405020304" pitchFamily="18" charset="0"/>
            </a:endParaRPr>
          </a:p>
          <a:p>
            <a:pPr marL="457200" lvl="0" indent="-457200" eaLnBrk="1" hangingPunct="1">
              <a:lnSpc>
                <a:spcPct val="125000"/>
              </a:lnSpc>
              <a:spcBef>
                <a:spcPct val="0"/>
              </a:spcBef>
              <a:buClrTx/>
              <a:buSzTx/>
              <a:buFontTx/>
              <a:buNone/>
            </a:pPr>
            <a:r>
              <a:rPr lang="en-US" altLang="zh-CN" b="1" dirty="0">
                <a:solidFill>
                  <a:srgbClr val="0066FF"/>
                </a:solidFill>
                <a:latin typeface="Times New Roman" panose="02020603050405020304" pitchFamily="18" charset="0"/>
              </a:rPr>
              <a:t>2) </a:t>
            </a:r>
            <a:r>
              <a:rPr lang="zh-CN" altLang="en-US" b="1" dirty="0">
                <a:solidFill>
                  <a:srgbClr val="0066FF"/>
                </a:solidFill>
                <a:latin typeface="Times New Roman" panose="02020603050405020304" pitchFamily="18" charset="0"/>
              </a:rPr>
              <a:t>失去封闭性 </a:t>
            </a:r>
            <a:endParaRPr lang="zh-CN" altLang="en-US" b="1" dirty="0">
              <a:solidFill>
                <a:srgbClr val="0066FF"/>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程序并发执行时，多个程序共享系统资源，因而</a:t>
            </a:r>
            <a:endParaRPr lang="zh-CN" altLang="en-US" sz="2800" b="1" dirty="0">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这些资源的状态将由多个程序来改变，从而导致</a:t>
            </a:r>
            <a:endParaRPr lang="zh-CN" altLang="en-US" sz="2800" b="1" dirty="0">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800" b="1" dirty="0">
                <a:latin typeface="Times New Roman" panose="02020603050405020304" pitchFamily="18" charset="0"/>
              </a:rPr>
              <a:t>程序的运行失去封闭性。</a:t>
            </a:r>
            <a:endParaRPr lang="zh-CN" altLang="en-US" sz="28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98691">
                                            <p:txEl>
                                              <p:charRg st="0" end="4"/>
                                            </p:txEl>
                                          </p:spTgt>
                                        </p:tgtEl>
                                        <p:attrNameLst>
                                          <p:attrName>style.visibility</p:attrName>
                                        </p:attrNameLst>
                                      </p:cBhvr>
                                      <p:to>
                                        <p:strVal val="visible"/>
                                      </p:to>
                                    </p:set>
                                    <p:animEffect transition="in" filter="box(in)">
                                      <p:cBhvr>
                                        <p:cTn id="7" dur="500"/>
                                        <p:tgtEl>
                                          <p:spTgt spid="498691">
                                            <p:txEl>
                                              <p:charRg st="0"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98691">
                                            <p:txEl>
                                              <p:charRg st="4" end="26"/>
                                            </p:txEl>
                                          </p:spTgt>
                                        </p:tgtEl>
                                        <p:attrNameLst>
                                          <p:attrName>style.visibility</p:attrName>
                                        </p:attrNameLst>
                                      </p:cBhvr>
                                      <p:to>
                                        <p:strVal val="visible"/>
                                      </p:to>
                                    </p:set>
                                    <p:animEffect transition="in" filter="box(in)">
                                      <p:cBhvr>
                                        <p:cTn id="10" dur="500"/>
                                        <p:tgtEl>
                                          <p:spTgt spid="498691">
                                            <p:txEl>
                                              <p:charRg st="4" end="26"/>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98691">
                                            <p:txEl>
                                              <p:charRg st="26" end="52"/>
                                            </p:txEl>
                                          </p:spTgt>
                                        </p:tgtEl>
                                        <p:attrNameLst>
                                          <p:attrName>style.visibility</p:attrName>
                                        </p:attrNameLst>
                                      </p:cBhvr>
                                      <p:to>
                                        <p:strVal val="visible"/>
                                      </p:to>
                                    </p:set>
                                    <p:animEffect transition="in" filter="box(in)">
                                      <p:cBhvr>
                                        <p:cTn id="13" dur="500"/>
                                        <p:tgtEl>
                                          <p:spTgt spid="498691">
                                            <p:txEl>
                                              <p:charRg st="26" end="5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498691">
                                            <p:txEl>
                                              <p:charRg st="52" end="62"/>
                                            </p:txEl>
                                          </p:spTgt>
                                        </p:tgtEl>
                                        <p:attrNameLst>
                                          <p:attrName>style.visibility</p:attrName>
                                        </p:attrNameLst>
                                      </p:cBhvr>
                                      <p:to>
                                        <p:strVal val="visible"/>
                                      </p:to>
                                    </p:set>
                                    <p:animEffect transition="in" filter="box(in)">
                                      <p:cBhvr>
                                        <p:cTn id="18" dur="500"/>
                                        <p:tgtEl>
                                          <p:spTgt spid="498691">
                                            <p:txEl>
                                              <p:charRg st="52" end="62"/>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498691">
                                            <p:txEl>
                                              <p:charRg st="62" end="84"/>
                                            </p:txEl>
                                          </p:spTgt>
                                        </p:tgtEl>
                                        <p:attrNameLst>
                                          <p:attrName>style.visibility</p:attrName>
                                        </p:attrNameLst>
                                      </p:cBhvr>
                                      <p:to>
                                        <p:strVal val="visible"/>
                                      </p:to>
                                    </p:set>
                                    <p:animEffect transition="in" filter="box(in)">
                                      <p:cBhvr>
                                        <p:cTn id="21" dur="500"/>
                                        <p:tgtEl>
                                          <p:spTgt spid="498691">
                                            <p:txEl>
                                              <p:charRg st="62" end="84"/>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498691">
                                            <p:txEl>
                                              <p:charRg st="84" end="106"/>
                                            </p:txEl>
                                          </p:spTgt>
                                        </p:tgtEl>
                                        <p:attrNameLst>
                                          <p:attrName>style.visibility</p:attrName>
                                        </p:attrNameLst>
                                      </p:cBhvr>
                                      <p:to>
                                        <p:strVal val="visible"/>
                                      </p:to>
                                    </p:set>
                                    <p:animEffect transition="in" filter="box(in)">
                                      <p:cBhvr>
                                        <p:cTn id="24" dur="500"/>
                                        <p:tgtEl>
                                          <p:spTgt spid="498691">
                                            <p:txEl>
                                              <p:charRg st="84" end="10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498691">
                                            <p:txEl>
                                              <p:charRg st="106" end="118"/>
                                            </p:txEl>
                                          </p:spTgt>
                                        </p:tgtEl>
                                        <p:attrNameLst>
                                          <p:attrName>style.visibility</p:attrName>
                                        </p:attrNameLst>
                                      </p:cBhvr>
                                      <p:to>
                                        <p:strVal val="visible"/>
                                      </p:to>
                                    </p:set>
                                    <p:animEffect transition="in" filter="box(in)">
                                      <p:cBhvr>
                                        <p:cTn id="27" dur="500"/>
                                        <p:tgtEl>
                                          <p:spTgt spid="498691">
                                            <p:txEl>
                                              <p:charRg st="106"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4"/>
          <p:cNvSpPr/>
          <p:nvPr>
            <p:ph idx="1"/>
          </p:nvPr>
        </p:nvSpPr>
        <p:spPr>
          <a:xfrm>
            <a:off x="457200" y="1600200"/>
            <a:ext cx="8156575" cy="4953000"/>
          </a:xfrm>
        </p:spPr>
        <p:txBody>
          <a:bodyPr vert="horz" wrap="square" lIns="91440" tIns="45720" rIns="91440" bIns="45720" anchor="t" anchorCtr="0"/>
          <a:p>
            <a:pPr eaLnBrk="1" hangingPunct="1">
              <a:lnSpc>
                <a:spcPct val="125000"/>
              </a:lnSpc>
              <a:spcBef>
                <a:spcPct val="0"/>
              </a:spcBef>
              <a:buClrTx/>
              <a:buSzTx/>
              <a:buFontTx/>
              <a:buNone/>
            </a:pPr>
            <a:r>
              <a:rPr lang="en-US" altLang="zh-CN" b="1" dirty="0">
                <a:solidFill>
                  <a:srgbClr val="0066FF"/>
                </a:solidFill>
              </a:rPr>
              <a:t>3) </a:t>
            </a:r>
            <a:r>
              <a:rPr lang="zh-CN" altLang="en-US" b="1" dirty="0">
                <a:solidFill>
                  <a:srgbClr val="0066FF"/>
                </a:solidFill>
              </a:rPr>
              <a:t>不可再现性</a:t>
            </a:r>
            <a:r>
              <a:rPr lang="zh-CN" altLang="en-US" sz="2800" b="1" dirty="0"/>
              <a:t> </a:t>
            </a:r>
            <a:endParaRPr lang="zh-CN" altLang="en-US" sz="2800" b="1" dirty="0"/>
          </a:p>
          <a:p>
            <a:pPr eaLnBrk="1" hangingPunct="1">
              <a:lnSpc>
                <a:spcPct val="125000"/>
              </a:lnSpc>
              <a:spcBef>
                <a:spcPct val="0"/>
              </a:spcBef>
              <a:buClrTx/>
              <a:buSzTx/>
              <a:buFontTx/>
              <a:buNone/>
            </a:pPr>
            <a:r>
              <a:rPr lang="zh-CN" altLang="en-US" sz="2800" b="1" dirty="0">
                <a:solidFill>
                  <a:srgbClr val="FF0000"/>
                </a:solidFill>
              </a:rPr>
              <a:t>	程序并发执行，由于失去了封闭性，从而也失去了可再现性。</a:t>
            </a:r>
            <a:r>
              <a:rPr lang="zh-CN" altLang="en-US" sz="2800" b="1" dirty="0"/>
              <a:t>       </a:t>
            </a:r>
            <a:endParaRPr lang="zh-CN" altLang="en-US" sz="2800" b="1" dirty="0"/>
          </a:p>
          <a:p>
            <a:pPr eaLnBrk="1" hangingPunct="1">
              <a:lnSpc>
                <a:spcPct val="110000"/>
              </a:lnSpc>
              <a:buFont typeface="Wingdings 2" panose="05020102010507070707" pitchFamily="18" charset="2"/>
              <a:buChar char="¡"/>
            </a:pPr>
            <a:r>
              <a:rPr lang="zh-CN" altLang="en-US" sz="2800" b="1" dirty="0"/>
              <a:t>例如，有两个循环程序</a:t>
            </a:r>
            <a:r>
              <a:rPr lang="en-US" altLang="zh-CN" sz="2800" b="1" dirty="0"/>
              <a:t>A</a:t>
            </a:r>
            <a:r>
              <a:rPr lang="zh-CN" altLang="en-US" sz="2800" b="1" dirty="0"/>
              <a:t>和</a:t>
            </a:r>
            <a:r>
              <a:rPr lang="en-US" altLang="zh-CN" sz="2800" b="1" dirty="0"/>
              <a:t>B</a:t>
            </a:r>
            <a:r>
              <a:rPr lang="zh-CN" altLang="en-US" sz="2800" b="1" dirty="0"/>
              <a:t>，它们共享一个变量</a:t>
            </a:r>
            <a:r>
              <a:rPr lang="en-US" altLang="zh-CN" sz="2800" b="1" dirty="0"/>
              <a:t>N</a:t>
            </a:r>
            <a:r>
              <a:rPr lang="zh-CN" altLang="en-US" sz="2800" b="1" dirty="0"/>
              <a:t>。程序</a:t>
            </a:r>
            <a:r>
              <a:rPr lang="en-US" altLang="zh-CN" sz="2800" b="1" dirty="0"/>
              <a:t>A</a:t>
            </a:r>
            <a:r>
              <a:rPr lang="zh-CN" altLang="en-US" sz="2800" b="1" dirty="0"/>
              <a:t>每执行一次时，都要做</a:t>
            </a:r>
            <a:r>
              <a:rPr lang="en-US" altLang="zh-CN" sz="2800" b="1" dirty="0"/>
              <a:t>N∶=N+1</a:t>
            </a:r>
            <a:r>
              <a:rPr lang="zh-CN" altLang="en-US" sz="2800" b="1" dirty="0"/>
              <a:t>操作；程序</a:t>
            </a:r>
            <a:r>
              <a:rPr lang="en-US" altLang="zh-CN" sz="2800" b="1" dirty="0"/>
              <a:t>B</a:t>
            </a:r>
            <a:r>
              <a:rPr lang="zh-CN" altLang="en-US" sz="2800" b="1" dirty="0"/>
              <a:t>每执行一次时， 都要执行</a:t>
            </a:r>
            <a:r>
              <a:rPr lang="en-US" altLang="zh-CN" sz="2800" b="1" dirty="0"/>
              <a:t>Print(N)</a:t>
            </a:r>
            <a:r>
              <a:rPr lang="zh-CN" altLang="en-US" sz="2800" b="1" dirty="0"/>
              <a:t>操作，然后再将</a:t>
            </a:r>
            <a:r>
              <a:rPr lang="en-US" altLang="zh-CN" sz="2800" b="1" dirty="0"/>
              <a:t>N</a:t>
            </a:r>
            <a:r>
              <a:rPr lang="zh-CN" altLang="en-US" sz="2800" b="1" dirty="0"/>
              <a:t>置成“</a:t>
            </a:r>
            <a:r>
              <a:rPr lang="en-US" altLang="zh-CN" sz="2800" b="1" dirty="0"/>
              <a:t>0”</a:t>
            </a:r>
            <a:r>
              <a:rPr lang="zh-CN" altLang="en-US" sz="2800" b="1" dirty="0"/>
              <a:t>。程序</a:t>
            </a:r>
            <a:r>
              <a:rPr lang="en-US" altLang="zh-CN" sz="2800" b="1" dirty="0"/>
              <a:t>A</a:t>
            </a:r>
            <a:r>
              <a:rPr lang="zh-CN" altLang="en-US" sz="2800" b="1" dirty="0"/>
              <a:t>和</a:t>
            </a:r>
            <a:r>
              <a:rPr lang="en-US" altLang="zh-CN" sz="2800" b="1" dirty="0"/>
              <a:t>B</a:t>
            </a:r>
            <a:r>
              <a:rPr lang="zh-CN" altLang="en-US" sz="2800" b="1" dirty="0"/>
              <a:t>以不同的速度运行。 </a:t>
            </a:r>
            <a:endParaRPr lang="zh-CN" altLang="en-US" sz="2800" b="1" dirty="0"/>
          </a:p>
          <a:p>
            <a:pPr eaLnBrk="1" hangingPunct="1">
              <a:buNone/>
            </a:pPr>
            <a:r>
              <a:rPr lang="zh-CN" altLang="en-US" sz="2800" b="1" dirty="0"/>
              <a:t>       </a:t>
            </a:r>
            <a:endParaRPr lang="zh-CN" altLang="en-US" sz="2800" b="1" dirty="0"/>
          </a:p>
        </p:txBody>
      </p:sp>
      <p:sp>
        <p:nvSpPr>
          <p:cNvPr id="15363" name="Text Box 5"/>
          <p:cNvSpPr txBox="1"/>
          <p:nvPr/>
        </p:nvSpPr>
        <p:spPr>
          <a:xfrm>
            <a:off x="1066800" y="741363"/>
            <a:ext cx="5327650"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600" b="1" dirty="0">
                <a:solidFill>
                  <a:srgbClr val="FF0000"/>
                </a:solidFill>
                <a:latin typeface="Times New Roman" panose="02020603050405020304" pitchFamily="18" charset="0"/>
              </a:rPr>
              <a:t>2. </a:t>
            </a:r>
            <a:r>
              <a:rPr lang="zh-CN" altLang="en-US" sz="3600" b="1" dirty="0">
                <a:solidFill>
                  <a:srgbClr val="FF0000"/>
                </a:solidFill>
                <a:latin typeface="Times New Roman" panose="02020603050405020304" pitchFamily="18" charset="0"/>
              </a:rPr>
              <a:t>程序并发执行时的特征 </a:t>
            </a:r>
            <a:endParaRPr lang="zh-CN" altLang="en-US" sz="3600" b="1" dirty="0">
              <a:solidFill>
                <a:srgbClr val="FF0000"/>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noRot="1" noChangeArrowheads="1"/>
          </p:cNvSpPr>
          <p:nvPr>
            <p:ph type="title"/>
          </p:nvPr>
        </p:nvSpPr>
        <p:spPr>
          <a:xfrm>
            <a:off x="304800" y="465138"/>
            <a:ext cx="7793038" cy="5254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程序</a:t>
            </a:r>
            <a:r>
              <a:rPr kumimoji="0"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A</a:t>
            </a:r>
            <a:r>
              <a:rPr kumimoji="0"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和</a:t>
            </a:r>
            <a:r>
              <a:rPr kumimoji="0" lang="en-US" altLang="zh-CN"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B</a:t>
            </a:r>
            <a:r>
              <a:rPr kumimoji="0"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以不同的速度运行出现的情况：</a:t>
            </a:r>
            <a:endParaRPr kumimoji="0" lang="zh-CN" altLang="en-US" sz="32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33795" name="Rectangle 3"/>
          <p:cNvSpPr>
            <a:spLocks noGrp="1" noRot="1"/>
          </p:cNvSpPr>
          <p:nvPr>
            <p:ph type="body"/>
          </p:nvPr>
        </p:nvSpPr>
        <p:spPr>
          <a:xfrm>
            <a:off x="381000" y="1219200"/>
            <a:ext cx="8305800" cy="5562600"/>
          </a:xfrm>
        </p:spPr>
        <p:txBody>
          <a:bodyPr vert="horz" wrap="square" lIns="91440" tIns="45720" rIns="91440" bIns="45720" anchor="t" anchorCtr="0"/>
          <a:p>
            <a:pPr eaLnBrk="1" hangingPunct="1">
              <a:lnSpc>
                <a:spcPct val="90000"/>
              </a:lnSpc>
              <a:buNone/>
            </a:pPr>
            <a:r>
              <a:rPr lang="en-US" altLang="zh-CN" sz="2800" b="1" dirty="0"/>
              <a:t>1</a:t>
            </a:r>
            <a:r>
              <a:rPr lang="zh-CN" altLang="en-US" sz="2800" b="1" dirty="0"/>
              <a:t>、</a:t>
            </a:r>
            <a:r>
              <a:rPr lang="en-US" altLang="zh-CN" sz="2800" b="1" dirty="0"/>
              <a:t>N=N+1</a:t>
            </a:r>
            <a:r>
              <a:rPr lang="zh-CN" altLang="en-US" sz="2800" b="1" dirty="0"/>
              <a:t>，在</a:t>
            </a:r>
            <a:r>
              <a:rPr lang="en-US" altLang="zh-CN" sz="2800" b="1" dirty="0"/>
              <a:t>Print</a:t>
            </a:r>
            <a:r>
              <a:rPr lang="zh-CN" altLang="en-US" sz="2800" b="1" dirty="0"/>
              <a:t>（</a:t>
            </a:r>
            <a:r>
              <a:rPr lang="en-US" altLang="zh-CN" sz="2800" b="1" dirty="0"/>
              <a:t>N</a:t>
            </a:r>
            <a:r>
              <a:rPr lang="zh-CN" altLang="en-US" sz="2800" b="1" dirty="0"/>
              <a:t>）和</a:t>
            </a:r>
            <a:r>
              <a:rPr lang="en-US" altLang="zh-CN" sz="2800" b="1" dirty="0"/>
              <a:t>N=0</a:t>
            </a:r>
            <a:r>
              <a:rPr lang="zh-CN" altLang="en-US" sz="2800" b="1" dirty="0"/>
              <a:t>之前执行，</a:t>
            </a:r>
            <a:endParaRPr lang="zh-CN" altLang="en-US" sz="2800" b="1" dirty="0"/>
          </a:p>
          <a:p>
            <a:pPr eaLnBrk="1" hangingPunct="1">
              <a:lnSpc>
                <a:spcPct val="90000"/>
              </a:lnSpc>
              <a:buClrTx/>
              <a:buSzTx/>
              <a:buFontTx/>
              <a:buNone/>
            </a:pPr>
            <a:r>
              <a:rPr lang="zh-CN" altLang="en-US" sz="2800" b="1" dirty="0"/>
              <a:t>     即执行次序： </a:t>
            </a:r>
            <a:r>
              <a:rPr lang="en-US" altLang="zh-CN" sz="2800" b="1" dirty="0"/>
              <a:t>N=N+1		 </a:t>
            </a:r>
            <a:r>
              <a:rPr lang="en-US" altLang="zh-CN" sz="2800" b="1" dirty="0">
                <a:solidFill>
                  <a:srgbClr val="FF0000"/>
                </a:solidFill>
              </a:rPr>
              <a:t>n+1 </a:t>
            </a:r>
            <a:endParaRPr lang="en-US" altLang="zh-CN" sz="2800" b="1" dirty="0">
              <a:solidFill>
                <a:srgbClr val="FF0000"/>
              </a:solidFill>
            </a:endParaRPr>
          </a:p>
          <a:p>
            <a:pPr eaLnBrk="1" hangingPunct="1">
              <a:lnSpc>
                <a:spcPct val="90000"/>
              </a:lnSpc>
              <a:buClrTx/>
              <a:buSzTx/>
              <a:buFontTx/>
              <a:buNone/>
            </a:pPr>
            <a:r>
              <a:rPr lang="en-US" altLang="zh-CN" sz="2800" b="1" dirty="0"/>
              <a:t>				Print</a:t>
            </a:r>
            <a:r>
              <a:rPr lang="zh-CN" altLang="en-US" sz="2800" b="1" dirty="0"/>
              <a:t>（</a:t>
            </a:r>
            <a:r>
              <a:rPr lang="en-US" altLang="zh-CN" sz="2800" b="1" dirty="0"/>
              <a:t>N</a:t>
            </a:r>
            <a:r>
              <a:rPr lang="zh-CN" altLang="en-US" sz="2800" b="1" dirty="0"/>
              <a:t>）		 </a:t>
            </a:r>
            <a:r>
              <a:rPr lang="en-US" altLang="zh-CN" sz="2800" b="1" dirty="0">
                <a:solidFill>
                  <a:srgbClr val="FF0000"/>
                </a:solidFill>
              </a:rPr>
              <a:t>n+1	</a:t>
            </a:r>
            <a:r>
              <a:rPr lang="en-US" altLang="zh-CN" sz="2800" b="1" dirty="0"/>
              <a:t> 	</a:t>
            </a:r>
            <a:endParaRPr lang="en-US" altLang="zh-CN" sz="2800" b="1" dirty="0"/>
          </a:p>
          <a:p>
            <a:pPr eaLnBrk="1" hangingPunct="1">
              <a:lnSpc>
                <a:spcPct val="90000"/>
              </a:lnSpc>
              <a:buClrTx/>
              <a:buSzTx/>
              <a:buFontTx/>
              <a:buNone/>
            </a:pPr>
            <a:r>
              <a:rPr lang="en-US" altLang="zh-CN" sz="2800" b="1" dirty="0"/>
              <a:t>				N=0			 </a:t>
            </a:r>
            <a:r>
              <a:rPr lang="en-US" altLang="zh-CN" sz="2800" b="1" dirty="0">
                <a:solidFill>
                  <a:srgbClr val="FF0000"/>
                </a:solidFill>
              </a:rPr>
              <a:t>0</a:t>
            </a:r>
            <a:endParaRPr lang="en-US" altLang="zh-CN" sz="2800" b="1" dirty="0">
              <a:solidFill>
                <a:srgbClr val="FF0000"/>
              </a:solidFill>
            </a:endParaRPr>
          </a:p>
          <a:p>
            <a:pPr eaLnBrk="1" hangingPunct="1">
              <a:lnSpc>
                <a:spcPct val="90000"/>
              </a:lnSpc>
              <a:buClrTx/>
              <a:buSzTx/>
              <a:buFontTx/>
              <a:buNone/>
            </a:pPr>
            <a:r>
              <a:rPr lang="en-US" altLang="zh-CN" sz="2800" b="1" dirty="0"/>
              <a:t>2</a:t>
            </a:r>
            <a:r>
              <a:rPr lang="zh-CN" altLang="en-US" sz="2800" b="1" dirty="0"/>
              <a:t>、</a:t>
            </a:r>
            <a:r>
              <a:rPr lang="en-US" altLang="zh-CN" sz="2800" b="1" dirty="0"/>
              <a:t>N=N+1</a:t>
            </a:r>
            <a:r>
              <a:rPr lang="zh-CN" altLang="en-US" sz="2800" b="1" dirty="0"/>
              <a:t>，在</a:t>
            </a:r>
            <a:r>
              <a:rPr lang="en-US" altLang="zh-CN" sz="2800" b="1" dirty="0"/>
              <a:t>Print</a:t>
            </a:r>
            <a:r>
              <a:rPr lang="zh-CN" altLang="en-US" sz="2800" b="1" dirty="0"/>
              <a:t>和</a:t>
            </a:r>
            <a:r>
              <a:rPr lang="en-US" altLang="zh-CN" sz="2800" b="1" dirty="0"/>
              <a:t>N=0</a:t>
            </a:r>
            <a:r>
              <a:rPr lang="zh-CN" altLang="en-US" sz="2800" b="1" dirty="0"/>
              <a:t>之后执行，</a:t>
            </a:r>
            <a:endParaRPr lang="zh-CN" altLang="en-US" sz="2800" b="1" dirty="0"/>
          </a:p>
          <a:p>
            <a:pPr eaLnBrk="1" hangingPunct="1">
              <a:lnSpc>
                <a:spcPct val="90000"/>
              </a:lnSpc>
              <a:buClrTx/>
              <a:buSzTx/>
              <a:buFontTx/>
              <a:buNone/>
            </a:pPr>
            <a:r>
              <a:rPr lang="zh-CN" altLang="en-US" sz="2800" b="1" dirty="0"/>
              <a:t>     即执行次序：	</a:t>
            </a:r>
            <a:r>
              <a:rPr lang="en-US" altLang="zh-CN" sz="2800" b="1" dirty="0"/>
              <a:t>Print</a:t>
            </a:r>
            <a:r>
              <a:rPr lang="zh-CN" altLang="en-US" sz="2800" b="1" dirty="0"/>
              <a:t>（</a:t>
            </a:r>
            <a:r>
              <a:rPr lang="en-US" altLang="zh-CN" sz="2800" b="1" dirty="0"/>
              <a:t>N</a:t>
            </a:r>
            <a:r>
              <a:rPr lang="zh-CN" altLang="en-US" sz="2800" b="1" dirty="0"/>
              <a:t>）		 </a:t>
            </a:r>
            <a:r>
              <a:rPr lang="en-US" altLang="zh-CN" sz="2800" b="1" dirty="0">
                <a:solidFill>
                  <a:srgbClr val="FF0000"/>
                </a:solidFill>
              </a:rPr>
              <a:t>n</a:t>
            </a:r>
            <a:r>
              <a:rPr lang="en-US" altLang="zh-CN" sz="2800" b="1" dirty="0"/>
              <a:t>				 	N=0			 </a:t>
            </a:r>
            <a:r>
              <a:rPr lang="en-US" altLang="zh-CN" sz="2800" b="1" dirty="0">
                <a:solidFill>
                  <a:srgbClr val="FF0000"/>
                </a:solidFill>
              </a:rPr>
              <a:t>0</a:t>
            </a:r>
            <a:r>
              <a:rPr lang="en-US" altLang="zh-CN" sz="2800" b="1" dirty="0"/>
              <a:t>				 	N=N+1		 </a:t>
            </a:r>
            <a:r>
              <a:rPr lang="en-US" altLang="zh-CN" sz="2800" b="1" dirty="0">
                <a:solidFill>
                  <a:srgbClr val="FF0000"/>
                </a:solidFill>
              </a:rPr>
              <a:t>1</a:t>
            </a:r>
            <a:endParaRPr lang="en-US" altLang="zh-CN" sz="2800" b="1" dirty="0">
              <a:solidFill>
                <a:srgbClr val="FF0000"/>
              </a:solidFill>
            </a:endParaRPr>
          </a:p>
          <a:p>
            <a:pPr eaLnBrk="1" hangingPunct="1">
              <a:lnSpc>
                <a:spcPct val="90000"/>
              </a:lnSpc>
              <a:buClrTx/>
              <a:buSzTx/>
              <a:buFontTx/>
              <a:buNone/>
            </a:pPr>
            <a:r>
              <a:rPr lang="en-US" altLang="zh-CN" sz="2800" b="1" dirty="0"/>
              <a:t>3</a:t>
            </a:r>
            <a:r>
              <a:rPr lang="zh-CN" altLang="en-US" sz="2800" b="1" dirty="0"/>
              <a:t>、</a:t>
            </a:r>
            <a:r>
              <a:rPr lang="en-US" altLang="zh-CN" sz="2800" b="1" dirty="0"/>
              <a:t>N=N+1</a:t>
            </a:r>
            <a:r>
              <a:rPr lang="zh-CN" altLang="en-US" sz="2800" b="1" dirty="0"/>
              <a:t>，在</a:t>
            </a:r>
            <a:r>
              <a:rPr lang="en-US" altLang="zh-CN" sz="2800" b="1" dirty="0"/>
              <a:t>Print</a:t>
            </a:r>
            <a:r>
              <a:rPr lang="zh-CN" altLang="en-US" sz="2800" b="1" dirty="0"/>
              <a:t>和</a:t>
            </a:r>
            <a:r>
              <a:rPr lang="en-US" altLang="zh-CN" sz="2800" b="1" dirty="0"/>
              <a:t>N=0</a:t>
            </a:r>
            <a:r>
              <a:rPr lang="zh-CN" altLang="en-US" sz="2800" b="1" dirty="0"/>
              <a:t>之间执行，</a:t>
            </a:r>
            <a:endParaRPr lang="zh-CN" altLang="en-US" sz="2800" b="1" dirty="0"/>
          </a:p>
          <a:p>
            <a:pPr eaLnBrk="1" hangingPunct="1">
              <a:lnSpc>
                <a:spcPct val="90000"/>
              </a:lnSpc>
              <a:buClrTx/>
              <a:buSzTx/>
              <a:buFontTx/>
              <a:buNone/>
            </a:pPr>
            <a:r>
              <a:rPr lang="zh-CN" altLang="en-US" sz="2800" b="1" dirty="0"/>
              <a:t>     即执行次序：	</a:t>
            </a:r>
            <a:r>
              <a:rPr lang="en-US" altLang="zh-CN" sz="2800" b="1" dirty="0"/>
              <a:t>Print</a:t>
            </a:r>
            <a:r>
              <a:rPr lang="zh-CN" altLang="en-US" sz="2800" b="1" dirty="0"/>
              <a:t>（</a:t>
            </a:r>
            <a:r>
              <a:rPr lang="en-US" altLang="zh-CN" sz="2800" b="1" dirty="0"/>
              <a:t>N</a:t>
            </a:r>
            <a:r>
              <a:rPr lang="zh-CN" altLang="en-US" sz="2800" b="1" dirty="0"/>
              <a:t>）		</a:t>
            </a:r>
            <a:r>
              <a:rPr lang="zh-CN" altLang="en-US" sz="2800" b="1" dirty="0">
                <a:solidFill>
                  <a:srgbClr val="FF0000"/>
                </a:solidFill>
              </a:rPr>
              <a:t> </a:t>
            </a:r>
            <a:r>
              <a:rPr lang="en-US" altLang="zh-CN" sz="2800" b="1" dirty="0">
                <a:solidFill>
                  <a:srgbClr val="FF0000"/>
                </a:solidFill>
              </a:rPr>
              <a:t>n</a:t>
            </a:r>
            <a:r>
              <a:rPr lang="en-US" altLang="zh-CN" sz="2800" b="1" dirty="0"/>
              <a:t>				 	N=N+1		 </a:t>
            </a:r>
            <a:r>
              <a:rPr lang="en-US" altLang="zh-CN" sz="2800" b="1" dirty="0">
                <a:solidFill>
                  <a:srgbClr val="FF0000"/>
                </a:solidFill>
              </a:rPr>
              <a:t>n+1</a:t>
            </a:r>
            <a:endParaRPr lang="en-US" altLang="zh-CN" sz="2800" b="1" dirty="0">
              <a:solidFill>
                <a:srgbClr val="FF0000"/>
              </a:solidFill>
            </a:endParaRPr>
          </a:p>
          <a:p>
            <a:pPr eaLnBrk="1" hangingPunct="1">
              <a:lnSpc>
                <a:spcPct val="90000"/>
              </a:lnSpc>
              <a:buClrTx/>
              <a:buSzTx/>
              <a:buFontTx/>
              <a:buNone/>
            </a:pPr>
            <a:r>
              <a:rPr lang="en-US" altLang="zh-CN" sz="2800" b="1" dirty="0">
                <a:solidFill>
                  <a:schemeClr val="hlink"/>
                </a:solidFill>
              </a:rPr>
              <a:t>				</a:t>
            </a:r>
            <a:r>
              <a:rPr lang="en-US" altLang="zh-CN" sz="2800" b="1" dirty="0"/>
              <a:t>N=0			 </a:t>
            </a:r>
            <a:r>
              <a:rPr lang="en-US" altLang="zh-CN" sz="2800" b="1" dirty="0">
                <a:solidFill>
                  <a:srgbClr val="FF0000"/>
                </a:solidFill>
              </a:rPr>
              <a:t>0</a:t>
            </a:r>
            <a:endParaRPr lang="en-US" altLang="zh-CN" sz="2800" b="1" dirty="0">
              <a:solidFill>
                <a:srgbClr val="FF0000"/>
              </a:solidFill>
            </a:endParaRPr>
          </a:p>
        </p:txBody>
      </p:sp>
      <p:sp>
        <p:nvSpPr>
          <p:cNvPr id="16388" name="AutoShape 4"/>
          <p:cNvSpPr/>
          <p:nvPr/>
        </p:nvSpPr>
        <p:spPr>
          <a:xfrm>
            <a:off x="7924800" y="1143000"/>
            <a:ext cx="685800" cy="5410200"/>
          </a:xfrm>
          <a:prstGeom prst="wedgeRoundRectCallout">
            <a:avLst>
              <a:gd name="adj1" fmla="val -46528"/>
              <a:gd name="adj2" fmla="val -47653"/>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Tahoma" panose="020B0604030504040204" pitchFamily="34" charset="0"/>
              </a:rPr>
              <a:t>彩色的为执行结果</a:t>
            </a:r>
            <a:endParaRPr lang="zh-CN" altLang="en-US" sz="2400" b="1" dirty="0">
              <a:latin typeface="Tahoma" panose="020B0604030504040204" pitchFamily="34" charset="0"/>
            </a:endParaRPr>
          </a:p>
          <a:p>
            <a:pPr marL="0" lvl="0" indent="0" algn="ctr" eaLnBrk="1" hangingPunct="1">
              <a:spcBef>
                <a:spcPct val="0"/>
              </a:spcBef>
              <a:buClrTx/>
              <a:buSzTx/>
              <a:buFontTx/>
              <a:buNone/>
            </a:pPr>
            <a:r>
              <a:rPr lang="zh-CN" altLang="en-US" sz="2400" b="1" dirty="0">
                <a:latin typeface="Tahoma" panose="020B0604030504040204" pitchFamily="34" charset="0"/>
              </a:rPr>
              <a:t>，各不相同</a:t>
            </a:r>
            <a:endParaRPr lang="zh-CN" altLang="en-US" sz="2400" b="1"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0466"/>
                                        </p:tgtEl>
                                        <p:attrNameLst>
                                          <p:attrName>style.visibility</p:attrName>
                                        </p:attrNameLst>
                                      </p:cBhvr>
                                      <p:to>
                                        <p:strVal val="visible"/>
                                      </p:to>
                                    </p:set>
                                    <p:animEffect transition="in" filter="fade">
                                      <p:cBhvr>
                                        <p:cTn id="7" dur="2000"/>
                                        <p:tgtEl>
                                          <p:spTgt spid="1904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795">
                                            <p:txEl>
                                              <p:charRg st="0" end="27"/>
                                            </p:txEl>
                                          </p:spTgt>
                                        </p:tgtEl>
                                        <p:attrNameLst>
                                          <p:attrName>style.visibility</p:attrName>
                                        </p:attrNameLst>
                                      </p:cBhvr>
                                      <p:to>
                                        <p:strVal val="visible"/>
                                      </p:to>
                                    </p:set>
                                    <p:animEffect transition="in" filter="fade">
                                      <p:cBhvr>
                                        <p:cTn id="12" dur="2000"/>
                                        <p:tgtEl>
                                          <p:spTgt spid="33795">
                                            <p:txEl>
                                              <p:charRg st="0"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3795">
                                            <p:txEl>
                                              <p:charRg st="27" end="52"/>
                                            </p:txEl>
                                          </p:spTgt>
                                        </p:tgtEl>
                                        <p:attrNameLst>
                                          <p:attrName>style.visibility</p:attrName>
                                        </p:attrNameLst>
                                      </p:cBhvr>
                                      <p:to>
                                        <p:strVal val="visible"/>
                                      </p:to>
                                    </p:set>
                                    <p:animEffect transition="in" filter="fade">
                                      <p:cBhvr>
                                        <p:cTn id="17" dur="2000"/>
                                        <p:tgtEl>
                                          <p:spTgt spid="33795">
                                            <p:txEl>
                                              <p:charRg st="27" end="5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3795">
                                            <p:txEl>
                                              <p:charRg st="52" end="74"/>
                                            </p:txEl>
                                          </p:spTgt>
                                        </p:tgtEl>
                                        <p:attrNameLst>
                                          <p:attrName>style.visibility</p:attrName>
                                        </p:attrNameLst>
                                      </p:cBhvr>
                                      <p:to>
                                        <p:strVal val="visible"/>
                                      </p:to>
                                    </p:set>
                                    <p:animEffect transition="in" filter="fade">
                                      <p:cBhvr>
                                        <p:cTn id="22" dur="2000"/>
                                        <p:tgtEl>
                                          <p:spTgt spid="33795">
                                            <p:txEl>
                                              <p:charRg st="52" end="7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795">
                                            <p:txEl>
                                              <p:charRg st="74" end="87"/>
                                            </p:txEl>
                                          </p:spTgt>
                                        </p:tgtEl>
                                        <p:attrNameLst>
                                          <p:attrName>style.visibility</p:attrName>
                                        </p:attrNameLst>
                                      </p:cBhvr>
                                      <p:to>
                                        <p:strVal val="visible"/>
                                      </p:to>
                                    </p:set>
                                    <p:animEffect transition="in" filter="fade">
                                      <p:cBhvr>
                                        <p:cTn id="27" dur="2000"/>
                                        <p:tgtEl>
                                          <p:spTgt spid="33795">
                                            <p:txEl>
                                              <p:charRg st="74" end="8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3795">
                                            <p:txEl>
                                              <p:charRg st="87" end="111"/>
                                            </p:txEl>
                                          </p:spTgt>
                                        </p:tgtEl>
                                        <p:attrNameLst>
                                          <p:attrName>style.visibility</p:attrName>
                                        </p:attrNameLst>
                                      </p:cBhvr>
                                      <p:to>
                                        <p:strVal val="visible"/>
                                      </p:to>
                                    </p:set>
                                    <p:animEffect transition="in" filter="fade">
                                      <p:cBhvr>
                                        <p:cTn id="32" dur="2000"/>
                                        <p:tgtEl>
                                          <p:spTgt spid="33795">
                                            <p:txEl>
                                              <p:charRg st="87" end="1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3795">
                                            <p:txEl>
                                              <p:charRg st="111" end="165"/>
                                            </p:txEl>
                                          </p:spTgt>
                                        </p:tgtEl>
                                        <p:attrNameLst>
                                          <p:attrName>style.visibility</p:attrName>
                                        </p:attrNameLst>
                                      </p:cBhvr>
                                      <p:to>
                                        <p:strVal val="visible"/>
                                      </p:to>
                                    </p:set>
                                    <p:animEffect transition="in" filter="fade">
                                      <p:cBhvr>
                                        <p:cTn id="37" dur="2000"/>
                                        <p:tgtEl>
                                          <p:spTgt spid="33795">
                                            <p:txEl>
                                              <p:charRg st="111" end="16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795">
                                            <p:txEl>
                                              <p:charRg st="165" end="189"/>
                                            </p:txEl>
                                          </p:spTgt>
                                        </p:tgtEl>
                                        <p:attrNameLst>
                                          <p:attrName>style.visibility</p:attrName>
                                        </p:attrNameLst>
                                      </p:cBhvr>
                                      <p:to>
                                        <p:strVal val="visible"/>
                                      </p:to>
                                    </p:set>
                                    <p:animEffect transition="in" filter="fade">
                                      <p:cBhvr>
                                        <p:cTn id="42" dur="2000"/>
                                        <p:tgtEl>
                                          <p:spTgt spid="33795">
                                            <p:txEl>
                                              <p:charRg st="165" end="18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3795">
                                            <p:txEl>
                                              <p:charRg st="189" end="231"/>
                                            </p:txEl>
                                          </p:spTgt>
                                        </p:tgtEl>
                                        <p:attrNameLst>
                                          <p:attrName>style.visibility</p:attrName>
                                        </p:attrNameLst>
                                      </p:cBhvr>
                                      <p:to>
                                        <p:strVal val="visible"/>
                                      </p:to>
                                    </p:set>
                                    <p:animEffect transition="in" filter="fade">
                                      <p:cBhvr>
                                        <p:cTn id="47" dur="2000"/>
                                        <p:tgtEl>
                                          <p:spTgt spid="33795">
                                            <p:txEl>
                                              <p:charRg st="189" end="23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3795">
                                            <p:txEl>
                                              <p:charRg st="231" end="244"/>
                                            </p:txEl>
                                          </p:spTgt>
                                        </p:tgtEl>
                                        <p:attrNameLst>
                                          <p:attrName>style.visibility</p:attrName>
                                        </p:attrNameLst>
                                      </p:cBhvr>
                                      <p:to>
                                        <p:strVal val="visible"/>
                                      </p:to>
                                    </p:set>
                                    <p:animEffect transition="in" filter="fade">
                                      <p:cBhvr>
                                        <p:cTn id="52" dur="2000"/>
                                        <p:tgtEl>
                                          <p:spTgt spid="33795">
                                            <p:txEl>
                                              <p:charRg st="231" end="2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p:bldP spid="3379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ctr" anchorCtr="0"/>
          <a:p>
            <a:r>
              <a:rPr lang="zh-CN" altLang="en-US" dirty="0"/>
              <a:t>作业</a:t>
            </a:r>
            <a:r>
              <a:rPr lang="en-US" altLang="zh-CN" dirty="0"/>
              <a:t>1 </a:t>
            </a:r>
            <a:endParaRPr lang="zh-CN" altLang="en-US" dirty="0"/>
          </a:p>
        </p:txBody>
      </p:sp>
      <p:sp>
        <p:nvSpPr>
          <p:cNvPr id="17411" name="内容占位符 2"/>
          <p:cNvSpPr>
            <a:spLocks noGrp="1"/>
          </p:cNvSpPr>
          <p:nvPr>
            <p:ph idx="1"/>
          </p:nvPr>
        </p:nvSpPr>
        <p:spPr/>
        <p:txBody>
          <a:bodyPr vert="horz" wrap="square" lIns="91440" tIns="45720" rIns="91440" bIns="45720" anchor="t" anchorCtr="0"/>
          <a:p>
            <a:r>
              <a:rPr lang="zh-CN" altLang="en-US" dirty="0"/>
              <a:t>在</a:t>
            </a:r>
            <a:r>
              <a:rPr lang="en-US" altLang="zh-CN" dirty="0"/>
              <a:t>Linux</a:t>
            </a:r>
            <a:r>
              <a:rPr lang="zh-CN" altLang="en-US" dirty="0"/>
              <a:t>操作系统中实现上页中例子，运行多次，每次的结果有什么不同？</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2.2 </a:t>
            </a:r>
            <a:r>
              <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进程的描述</a:t>
            </a:r>
            <a:endParaRPr kumimoji="0" lang="zh-CN" altLang="en-US" sz="4400" b="0" i="0" u="none" strike="noStrike" kern="0" cap="none" spc="0" normalizeH="0" baseline="0" noProof="0" dirty="0">
              <a:ln>
                <a:noFill/>
              </a:ln>
              <a:solidFill>
                <a:schemeClr val="tx2"/>
              </a:solidFill>
              <a:effectLst/>
              <a:uLnTx/>
              <a:uFillTx/>
              <a:latin typeface="+mj-lt"/>
              <a:ea typeface="+mj-ea"/>
              <a:cs typeface="+mj-cs"/>
            </a:endParaRPr>
          </a:p>
        </p:txBody>
      </p:sp>
      <p:sp>
        <p:nvSpPr>
          <p:cNvPr id="18435" name="内容占位符 2"/>
          <p:cNvSpPr>
            <a:spLocks noGrp="1"/>
          </p:cNvSpPr>
          <p:nvPr>
            <p:ph idx="1"/>
          </p:nvPr>
        </p:nvSpPr>
        <p:spPr/>
        <p:txBody>
          <a:bodyPr vert="horz" wrap="square" lIns="91440" tIns="45720" rIns="91440" bIns="45720" anchor="t" anchorCtr="0"/>
          <a:p>
            <a:pPr algn="just" eaLnBrk="1" hangingPunct="1">
              <a:buNone/>
            </a:pPr>
            <a:r>
              <a:rPr lang="en-US" altLang="zh-CN" sz="3600" b="1" dirty="0">
                <a:solidFill>
                  <a:srgbClr val="0066FF"/>
                </a:solidFill>
              </a:rPr>
              <a:t>2.2.1 </a:t>
            </a:r>
            <a:r>
              <a:rPr lang="zh-CN" altLang="en-US" b="1" dirty="0">
                <a:solidFill>
                  <a:srgbClr val="0066FF"/>
                </a:solidFill>
              </a:rPr>
              <a:t>进程的定义和特征 </a:t>
            </a:r>
            <a:endParaRPr lang="en-US" altLang="zh-CN" b="1" dirty="0"/>
          </a:p>
          <a:p>
            <a:pPr algn="just" eaLnBrk="1" hangingPunct="1">
              <a:buNone/>
            </a:pPr>
            <a:r>
              <a:rPr lang="en-US" altLang="zh-CN" b="1" dirty="0">
                <a:solidFill>
                  <a:srgbClr val="00B050"/>
                </a:solidFill>
              </a:rPr>
              <a:t>1. </a:t>
            </a:r>
            <a:r>
              <a:rPr lang="zh-CN" altLang="en-US" b="1" dirty="0">
                <a:solidFill>
                  <a:srgbClr val="00B050"/>
                </a:solidFill>
              </a:rPr>
              <a:t>典型的进程定义有：</a:t>
            </a:r>
            <a:endParaRPr lang="zh-CN" altLang="en-US" b="1" dirty="0"/>
          </a:p>
          <a:p>
            <a:pPr algn="just" eaLnBrk="1" hangingPunct="1">
              <a:buNone/>
            </a:pPr>
            <a:r>
              <a:rPr lang="zh-CN" altLang="en-US" b="1" dirty="0"/>
              <a:t>（</a:t>
            </a:r>
            <a:r>
              <a:rPr lang="en-US" altLang="zh-CN" b="1" dirty="0"/>
              <a:t>1</a:t>
            </a:r>
            <a:r>
              <a:rPr lang="zh-CN" altLang="en-US" b="1" dirty="0"/>
              <a:t>）进程是程序的一次执行。</a:t>
            </a:r>
            <a:endParaRPr lang="zh-CN" altLang="en-US" b="1" dirty="0"/>
          </a:p>
          <a:p>
            <a:pPr algn="just" eaLnBrk="1" hangingPunct="1">
              <a:buNone/>
            </a:pPr>
            <a:r>
              <a:rPr lang="zh-CN" altLang="en-US" b="1" dirty="0"/>
              <a:t>（</a:t>
            </a:r>
            <a:r>
              <a:rPr lang="en-US" altLang="zh-CN" b="1" dirty="0"/>
              <a:t>2</a:t>
            </a:r>
            <a:r>
              <a:rPr lang="zh-CN" altLang="en-US" b="1" dirty="0"/>
              <a:t>）进程是一个</a:t>
            </a:r>
            <a:r>
              <a:rPr lang="zh-CN" altLang="en-US" b="1" dirty="0">
                <a:solidFill>
                  <a:srgbClr val="FF0000"/>
                </a:solidFill>
              </a:rPr>
              <a:t>程序</a:t>
            </a:r>
            <a:r>
              <a:rPr lang="zh-CN" altLang="en-US" b="1" dirty="0"/>
              <a:t>及其数据在处理机上顺序</a:t>
            </a:r>
            <a:r>
              <a:rPr lang="zh-CN" altLang="en-US" b="1" dirty="0">
                <a:solidFill>
                  <a:srgbClr val="FF0000"/>
                </a:solidFill>
              </a:rPr>
              <a:t>执行</a:t>
            </a:r>
            <a:r>
              <a:rPr lang="zh-CN" altLang="en-US" b="1" dirty="0"/>
              <a:t>时所发生的活动。</a:t>
            </a:r>
            <a:endParaRPr lang="zh-CN" altLang="en-US" b="1" dirty="0"/>
          </a:p>
          <a:p>
            <a:pPr algn="just" eaLnBrk="1" hangingPunct="1">
              <a:buNone/>
            </a:pPr>
            <a:r>
              <a:rPr lang="zh-CN" altLang="en-US" b="1" dirty="0"/>
              <a:t>（</a:t>
            </a:r>
            <a:r>
              <a:rPr lang="en-US" altLang="zh-CN" b="1" dirty="0"/>
              <a:t>3</a:t>
            </a:r>
            <a:r>
              <a:rPr lang="zh-CN" altLang="en-US" b="1" dirty="0"/>
              <a:t>）进程是程序在一个数据集合上运行的过程，它是系统进行资源分配和调度的一个独立单位。</a:t>
            </a:r>
            <a:endParaRPr lang="zh-CN" altLang="en-US" b="1" dirty="0"/>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noRot="1" noChangeArrowheads="1"/>
          </p:cNvSpPr>
          <p:nvPr>
            <p:ph type="title"/>
          </p:nvPr>
        </p:nvSpPr>
        <p:spPr>
          <a:xfrm>
            <a:off x="381000" y="609600"/>
            <a:ext cx="7772400" cy="762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2.2 </a:t>
            </a:r>
            <a:r>
              <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进程的描述</a:t>
            </a:r>
            <a:endPar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endParaRPr>
          </a:p>
        </p:txBody>
      </p:sp>
      <p:sp>
        <p:nvSpPr>
          <p:cNvPr id="34819" name="Rectangle 3"/>
          <p:cNvSpPr>
            <a:spLocks noGrp="1" noRot="1"/>
          </p:cNvSpPr>
          <p:nvPr>
            <p:ph type="body"/>
          </p:nvPr>
        </p:nvSpPr>
        <p:spPr>
          <a:xfrm>
            <a:off x="381000" y="1676400"/>
            <a:ext cx="8382000" cy="4495800"/>
          </a:xfrm>
        </p:spPr>
        <p:txBody>
          <a:bodyPr vert="horz" wrap="square" lIns="91440" tIns="45720" rIns="91440" bIns="45720" anchor="t" anchorCtr="0"/>
          <a:p>
            <a:pPr marL="579755" indent="-579755" algn="just" eaLnBrk="1" hangingPunct="1">
              <a:lnSpc>
                <a:spcPct val="90000"/>
              </a:lnSpc>
            </a:pPr>
            <a:r>
              <a:rPr lang="en-US" altLang="zh-CN" sz="3600" b="1" dirty="0">
                <a:solidFill>
                  <a:srgbClr val="00B050"/>
                </a:solidFill>
              </a:rPr>
              <a:t>2. </a:t>
            </a:r>
            <a:r>
              <a:rPr lang="zh-CN" altLang="en-US" sz="3600" b="1" dirty="0">
                <a:solidFill>
                  <a:srgbClr val="00B050"/>
                </a:solidFill>
              </a:rPr>
              <a:t>进程的结构</a:t>
            </a:r>
            <a:endParaRPr lang="en-US" altLang="zh-CN" sz="3600" b="1" dirty="0">
              <a:solidFill>
                <a:srgbClr val="00B050"/>
              </a:solidFill>
            </a:endParaRPr>
          </a:p>
          <a:p>
            <a:pPr marL="579755" indent="-579755" algn="just" eaLnBrk="1" hangingPunct="1">
              <a:lnSpc>
                <a:spcPct val="90000"/>
              </a:lnSpc>
            </a:pPr>
            <a:r>
              <a:rPr lang="zh-CN" altLang="en-US" b="1" dirty="0"/>
              <a:t>为使程序（含数据）能独立运行，应为之配置一进程控制块，即</a:t>
            </a:r>
            <a:r>
              <a:rPr lang="en-US" altLang="zh-CN" b="1" dirty="0"/>
              <a:t>PCB</a:t>
            </a:r>
            <a:r>
              <a:rPr lang="zh-CN" altLang="en-US" b="1" dirty="0"/>
              <a:t>；</a:t>
            </a:r>
            <a:endParaRPr lang="zh-CN" altLang="en-US" b="1" dirty="0"/>
          </a:p>
          <a:p>
            <a:pPr marL="579755" indent="-579755" algn="just" eaLnBrk="1" hangingPunct="1">
              <a:lnSpc>
                <a:spcPct val="90000"/>
              </a:lnSpc>
            </a:pPr>
            <a:r>
              <a:rPr lang="zh-CN" altLang="en-US" b="1" dirty="0"/>
              <a:t>而由</a:t>
            </a:r>
            <a:r>
              <a:rPr lang="zh-CN" altLang="en-US" b="1" dirty="0">
                <a:solidFill>
                  <a:srgbClr val="FF0000"/>
                </a:solidFill>
              </a:rPr>
              <a:t>程序段、</a:t>
            </a:r>
            <a:r>
              <a:rPr lang="zh-CN" altLang="en-US" b="1" dirty="0"/>
              <a:t>相关的</a:t>
            </a:r>
            <a:r>
              <a:rPr lang="zh-CN" altLang="en-US" b="1" dirty="0">
                <a:solidFill>
                  <a:srgbClr val="FF0000"/>
                </a:solidFill>
              </a:rPr>
              <a:t>数据段和</a:t>
            </a:r>
            <a:r>
              <a:rPr lang="en-US" altLang="zh-CN" b="1" dirty="0">
                <a:solidFill>
                  <a:srgbClr val="FF0000"/>
                </a:solidFill>
              </a:rPr>
              <a:t>PCB</a:t>
            </a:r>
            <a:r>
              <a:rPr lang="zh-CN" altLang="en-US" b="1" dirty="0"/>
              <a:t>三部分便构成了进程实体。</a:t>
            </a:r>
            <a:endParaRPr lang="zh-CN" altLang="en-US" b="1" dirty="0"/>
          </a:p>
          <a:p>
            <a:pPr marL="579755" indent="-579755" algn="just" eaLnBrk="1" hangingPunct="1">
              <a:lnSpc>
                <a:spcPct val="90000"/>
              </a:lnSpc>
            </a:pPr>
            <a:r>
              <a:rPr lang="zh-CN" altLang="en-US" b="1" dirty="0"/>
              <a:t>所谓创建进程，实质上是创建进程实体中的</a:t>
            </a:r>
            <a:r>
              <a:rPr lang="en-US" altLang="zh-CN" b="1" dirty="0"/>
              <a:t>PCB</a:t>
            </a:r>
            <a:r>
              <a:rPr lang="zh-CN" altLang="en-US" b="1" dirty="0"/>
              <a:t>；而撤消进程，实质上是撤消进程的</a:t>
            </a:r>
            <a:r>
              <a:rPr lang="en-US" altLang="zh-CN" b="1" dirty="0"/>
              <a:t>PCB</a:t>
            </a:r>
            <a:r>
              <a:rPr lang="zh-CN" altLang="en-US" b="1" dirty="0"/>
              <a:t>。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1490"/>
                                        </p:tgtEl>
                                        <p:attrNameLst>
                                          <p:attrName>style.visibility</p:attrName>
                                        </p:attrNameLst>
                                      </p:cBhvr>
                                      <p:to>
                                        <p:strVal val="visible"/>
                                      </p:to>
                                    </p:set>
                                    <p:animEffect transition="in" filter="fade">
                                      <p:cBhvr>
                                        <p:cTn id="7" dur="2000"/>
                                        <p:tgtEl>
                                          <p:spTgt spid="1914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charRg st="0" end="9"/>
                                            </p:txEl>
                                          </p:spTgt>
                                        </p:tgtEl>
                                        <p:attrNameLst>
                                          <p:attrName>style.visibility</p:attrName>
                                        </p:attrNameLst>
                                      </p:cBhvr>
                                      <p:to>
                                        <p:strVal val="visible"/>
                                      </p:to>
                                    </p:set>
                                    <p:animEffect transition="in" filter="fade">
                                      <p:cBhvr>
                                        <p:cTn id="12" dur="2000"/>
                                        <p:tgtEl>
                                          <p:spTgt spid="34819">
                                            <p:txEl>
                                              <p:charRg st="0"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xEl>
                                              <p:charRg st="9" end="42"/>
                                            </p:txEl>
                                          </p:spTgt>
                                        </p:tgtEl>
                                        <p:attrNameLst>
                                          <p:attrName>style.visibility</p:attrName>
                                        </p:attrNameLst>
                                      </p:cBhvr>
                                      <p:to>
                                        <p:strVal val="visible"/>
                                      </p:to>
                                    </p:set>
                                    <p:animEffect transition="in" filter="fade">
                                      <p:cBhvr>
                                        <p:cTn id="17" dur="2000"/>
                                        <p:tgtEl>
                                          <p:spTgt spid="34819">
                                            <p:txEl>
                                              <p:charRg st="9"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819">
                                            <p:txEl>
                                              <p:charRg st="42" end="71"/>
                                            </p:txEl>
                                          </p:spTgt>
                                        </p:tgtEl>
                                        <p:attrNameLst>
                                          <p:attrName>style.visibility</p:attrName>
                                        </p:attrNameLst>
                                      </p:cBhvr>
                                      <p:to>
                                        <p:strVal val="visible"/>
                                      </p:to>
                                    </p:set>
                                    <p:animEffect transition="in" filter="fade">
                                      <p:cBhvr>
                                        <p:cTn id="22" dur="2000"/>
                                        <p:tgtEl>
                                          <p:spTgt spid="34819">
                                            <p:txEl>
                                              <p:charRg st="42" end="7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819">
                                            <p:txEl>
                                              <p:charRg st="71" end="119"/>
                                            </p:txEl>
                                          </p:spTgt>
                                        </p:tgtEl>
                                        <p:attrNameLst>
                                          <p:attrName>style.visibility</p:attrName>
                                        </p:attrNameLst>
                                      </p:cBhvr>
                                      <p:to>
                                        <p:strVal val="visible"/>
                                      </p:to>
                                    </p:set>
                                    <p:animEffect transition="in" filter="fade">
                                      <p:cBhvr>
                                        <p:cTn id="27" dur="2000"/>
                                        <p:tgtEl>
                                          <p:spTgt spid="34819">
                                            <p:txEl>
                                              <p:charRg st="71" end="1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P spid="348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833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zh-CN"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pic>
        <p:nvPicPr>
          <p:cNvPr id="20483" name="Picture 4"/>
          <p:cNvPicPr>
            <a:picLocks noChangeAspect="1"/>
          </p:cNvPicPr>
          <p:nvPr/>
        </p:nvPicPr>
        <p:blipFill>
          <a:blip r:embed="rId1"/>
          <a:stretch>
            <a:fillRect/>
          </a:stretch>
        </p:blipFill>
        <p:spPr>
          <a:xfrm>
            <a:off x="2209800" y="304800"/>
            <a:ext cx="5111750" cy="5410200"/>
          </a:xfrm>
          <a:prstGeom prst="rect">
            <a:avLst/>
          </a:prstGeom>
          <a:noFill/>
          <a:ln w="9525">
            <a:noFill/>
          </a:ln>
        </p:spPr>
      </p:pic>
      <p:sp>
        <p:nvSpPr>
          <p:cNvPr id="20484" name="Text Box 5"/>
          <p:cNvSpPr txBox="1"/>
          <p:nvPr/>
        </p:nvSpPr>
        <p:spPr>
          <a:xfrm>
            <a:off x="2514600" y="5867400"/>
            <a:ext cx="3657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dirty="0"/>
              <a:t>三个进程同时驻留内存</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8338"/>
                                        </p:tgtEl>
                                        <p:attrNameLst>
                                          <p:attrName>style.visibility</p:attrName>
                                        </p:attrNameLst>
                                      </p:cBhvr>
                                      <p:to>
                                        <p:strVal val="visible"/>
                                      </p:to>
                                    </p:set>
                                    <p:animEffect transition="in" filter="fade">
                                      <p:cBhvr>
                                        <p:cTn id="7" dur="2000"/>
                                        <p:tgtEl>
                                          <p:spTgt spid="398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6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39939" name="Rectangle 3"/>
          <p:cNvSpPr>
            <a:spLocks noGrp="1" noRot="1"/>
          </p:cNvSpPr>
          <p:nvPr>
            <p:ph type="body"/>
          </p:nvPr>
        </p:nvSpPr>
        <p:spPr/>
        <p:txBody>
          <a:bodyPr vert="horz" wrap="square" lIns="91440" tIns="45720" rIns="91440" bIns="45720" anchor="t" anchorCtr="0"/>
          <a:p>
            <a:pPr eaLnBrk="1" hangingPunct="1"/>
            <a:endParaRPr lang="zh-CN" altLang="zh-CN" dirty="0"/>
          </a:p>
        </p:txBody>
      </p:sp>
      <p:pic>
        <p:nvPicPr>
          <p:cNvPr id="21508" name="Picture 4"/>
          <p:cNvPicPr>
            <a:picLocks noChangeAspect="1"/>
          </p:cNvPicPr>
          <p:nvPr/>
        </p:nvPicPr>
        <p:blipFill>
          <a:blip r:embed="rId1"/>
          <a:stretch>
            <a:fillRect/>
          </a:stretch>
        </p:blipFill>
        <p:spPr>
          <a:xfrm>
            <a:off x="2438400" y="381000"/>
            <a:ext cx="4219575" cy="5791200"/>
          </a:xfrm>
          <a:prstGeom prst="rect">
            <a:avLst/>
          </a:prstGeom>
          <a:noFill/>
          <a:ln w="9525">
            <a:noFill/>
          </a:ln>
        </p:spPr>
      </p:pic>
      <p:sp>
        <p:nvSpPr>
          <p:cNvPr id="21509" name="Text Box 5"/>
          <p:cNvSpPr txBox="1"/>
          <p:nvPr/>
        </p:nvSpPr>
        <p:spPr>
          <a:xfrm>
            <a:off x="2286000" y="6096000"/>
            <a:ext cx="3657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400" dirty="0"/>
              <a:t>三个进程交替执行</a:t>
            </a:r>
            <a:endParaRPr lang="zh-CN" altLang="en-US" sz="2400" dirty="0"/>
          </a:p>
        </p:txBody>
      </p:sp>
      <p:sp>
        <p:nvSpPr>
          <p:cNvPr id="399366" name="AutoShape 6"/>
          <p:cNvSpPr/>
          <p:nvPr/>
        </p:nvSpPr>
        <p:spPr>
          <a:xfrm>
            <a:off x="3581400" y="457200"/>
            <a:ext cx="152400" cy="838200"/>
          </a:xfrm>
          <a:prstGeom prst="rightBrace">
            <a:avLst>
              <a:gd name="adj1" fmla="val 4583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进程</a:t>
            </a:r>
            <a:r>
              <a:rPr lang="en-US" altLang="zh-CN" sz="1800" dirty="0"/>
              <a:t>A</a:t>
            </a:r>
            <a:endParaRPr lang="en-US" altLang="zh-CN" sz="1800" dirty="0"/>
          </a:p>
        </p:txBody>
      </p:sp>
      <p:sp>
        <p:nvSpPr>
          <p:cNvPr id="399367" name="AutoShape 7"/>
          <p:cNvSpPr/>
          <p:nvPr/>
        </p:nvSpPr>
        <p:spPr>
          <a:xfrm>
            <a:off x="3581400" y="1600200"/>
            <a:ext cx="152400" cy="838200"/>
          </a:xfrm>
          <a:prstGeom prst="rightBrace">
            <a:avLst>
              <a:gd name="adj1" fmla="val 4583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调度程序</a:t>
            </a:r>
            <a:endParaRPr lang="zh-CN" altLang="en-US" sz="1800" dirty="0"/>
          </a:p>
        </p:txBody>
      </p:sp>
      <p:sp>
        <p:nvSpPr>
          <p:cNvPr id="399368" name="AutoShape 8"/>
          <p:cNvSpPr/>
          <p:nvPr/>
        </p:nvSpPr>
        <p:spPr>
          <a:xfrm>
            <a:off x="3581400" y="2590800"/>
            <a:ext cx="152400" cy="457200"/>
          </a:xfrm>
          <a:prstGeom prst="rightBrace">
            <a:avLst>
              <a:gd name="adj1" fmla="val 25000"/>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进程</a:t>
            </a:r>
            <a:r>
              <a:rPr lang="en-US" altLang="zh-CN" sz="1800" dirty="0"/>
              <a:t>B</a:t>
            </a:r>
            <a:endParaRPr lang="en-US" altLang="zh-CN" sz="1800" dirty="0"/>
          </a:p>
        </p:txBody>
      </p:sp>
      <p:sp>
        <p:nvSpPr>
          <p:cNvPr id="399369" name="AutoShape 9"/>
          <p:cNvSpPr/>
          <p:nvPr/>
        </p:nvSpPr>
        <p:spPr>
          <a:xfrm>
            <a:off x="3733800" y="3352800"/>
            <a:ext cx="152400" cy="838200"/>
          </a:xfrm>
          <a:prstGeom prst="rightBrace">
            <a:avLst>
              <a:gd name="adj1" fmla="val 45833"/>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调度程序</a:t>
            </a:r>
            <a:endParaRPr lang="zh-CN" altLang="en-US" sz="1800" dirty="0"/>
          </a:p>
        </p:txBody>
      </p:sp>
      <p:sp>
        <p:nvSpPr>
          <p:cNvPr id="399370" name="AutoShape 10"/>
          <p:cNvSpPr/>
          <p:nvPr/>
        </p:nvSpPr>
        <p:spPr>
          <a:xfrm>
            <a:off x="3810000" y="4343400"/>
            <a:ext cx="76200" cy="381000"/>
          </a:xfrm>
          <a:prstGeom prst="rightBrace">
            <a:avLst>
              <a:gd name="adj1" fmla="val 41666"/>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800" dirty="0"/>
              <a:t>             </a:t>
            </a:r>
            <a:r>
              <a:rPr lang="zh-CN" altLang="en-US" sz="1800" dirty="0"/>
              <a:t>进程</a:t>
            </a:r>
            <a:r>
              <a:rPr lang="en-US" altLang="zh-CN" sz="1800" dirty="0"/>
              <a:t>C</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99362"/>
                                        </p:tgtEl>
                                        <p:attrNameLst>
                                          <p:attrName>style.visibility</p:attrName>
                                        </p:attrNameLst>
                                      </p:cBhvr>
                                      <p:to>
                                        <p:strVal val="visible"/>
                                      </p:to>
                                    </p:set>
                                    <p:animEffect transition="in" filter="fade">
                                      <p:cBhvr>
                                        <p:cTn id="7" dur="2000"/>
                                        <p:tgtEl>
                                          <p:spTgt spid="3993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9939">
                                            <p:txEl>
                                              <p:charRg st="0" end="1"/>
                                            </p:txEl>
                                          </p:spTgt>
                                        </p:tgtEl>
                                        <p:attrNameLst>
                                          <p:attrName>style.visibility</p:attrName>
                                        </p:attrNameLst>
                                      </p:cBhvr>
                                      <p:to>
                                        <p:strVal val="visible"/>
                                      </p:to>
                                    </p:set>
                                    <p:animEffect transition="in" filter="fade">
                                      <p:cBhvr>
                                        <p:cTn id="12" dur="2000"/>
                                        <p:tgtEl>
                                          <p:spTgt spid="39939">
                                            <p:txEl>
                                              <p:charRg st="0"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99366"/>
                                        </p:tgtEl>
                                        <p:attrNameLst>
                                          <p:attrName>style.visibility</p:attrName>
                                        </p:attrNameLst>
                                      </p:cBhvr>
                                      <p:to>
                                        <p:strVal val="visible"/>
                                      </p:to>
                                    </p:set>
                                    <p:animEffect transition="in" filter="box(in)">
                                      <p:cBhvr>
                                        <p:cTn id="17" dur="500"/>
                                        <p:tgtEl>
                                          <p:spTgt spid="39936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99367"/>
                                        </p:tgtEl>
                                        <p:attrNameLst>
                                          <p:attrName>style.visibility</p:attrName>
                                        </p:attrNameLst>
                                      </p:cBhvr>
                                      <p:to>
                                        <p:strVal val="visible"/>
                                      </p:to>
                                    </p:set>
                                    <p:animEffect transition="in" filter="box(in)">
                                      <p:cBhvr>
                                        <p:cTn id="22" dur="500"/>
                                        <p:tgtEl>
                                          <p:spTgt spid="39936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99368"/>
                                        </p:tgtEl>
                                        <p:attrNameLst>
                                          <p:attrName>style.visibility</p:attrName>
                                        </p:attrNameLst>
                                      </p:cBhvr>
                                      <p:to>
                                        <p:strVal val="visible"/>
                                      </p:to>
                                    </p:set>
                                    <p:animEffect transition="in" filter="box(in)">
                                      <p:cBhvr>
                                        <p:cTn id="27" dur="500"/>
                                        <p:tgtEl>
                                          <p:spTgt spid="399368"/>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99369"/>
                                        </p:tgtEl>
                                        <p:attrNameLst>
                                          <p:attrName>style.visibility</p:attrName>
                                        </p:attrNameLst>
                                      </p:cBhvr>
                                      <p:to>
                                        <p:strVal val="visible"/>
                                      </p:to>
                                    </p:set>
                                    <p:animEffect transition="in" filter="box(in)">
                                      <p:cBhvr>
                                        <p:cTn id="32" dur="500"/>
                                        <p:tgtEl>
                                          <p:spTgt spid="39936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99370"/>
                                        </p:tgtEl>
                                        <p:attrNameLst>
                                          <p:attrName>style.visibility</p:attrName>
                                        </p:attrNameLst>
                                      </p:cBhvr>
                                      <p:to>
                                        <p:strVal val="visible"/>
                                      </p:to>
                                    </p:set>
                                    <p:animEffect transition="in" filter="box(in)">
                                      <p:cBhvr>
                                        <p:cTn id="37" dur="500"/>
                                        <p:tgtEl>
                                          <p:spTgt spid="399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2" grpId="0"/>
      <p:bldP spid="39939" grpId="0" build="p"/>
      <p:bldP spid="399366" grpId="0" animBg="1"/>
      <p:bldP spid="399367" grpId="0" animBg="1"/>
      <p:bldP spid="399368" grpId="0" animBg="1"/>
      <p:bldP spid="399369" grpId="0" animBg="1"/>
      <p:bldP spid="39937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noRot="1"/>
          </p:cNvSpPr>
          <p:nvPr>
            <p:ph idx="1"/>
          </p:nvPr>
        </p:nvSpPr>
        <p:spPr>
          <a:xfrm>
            <a:off x="381000" y="1447800"/>
            <a:ext cx="8229600" cy="4724400"/>
          </a:xfrm>
        </p:spPr>
        <p:txBody>
          <a:bodyPr vert="horz" wrap="square" lIns="91440" tIns="45720" rIns="91440" bIns="45720" anchor="t" anchorCtr="0"/>
          <a:p>
            <a:pPr algn="just" eaLnBrk="1" hangingPunct="1">
              <a:buNone/>
            </a:pPr>
            <a:r>
              <a:rPr lang="en-US" altLang="zh-CN" b="1" dirty="0">
                <a:solidFill>
                  <a:srgbClr val="00B050"/>
                </a:solidFill>
              </a:rPr>
              <a:t>3. </a:t>
            </a:r>
            <a:r>
              <a:rPr lang="zh-CN" altLang="en-US" b="1" dirty="0">
                <a:solidFill>
                  <a:srgbClr val="00B050"/>
                </a:solidFill>
              </a:rPr>
              <a:t>进程的特征</a:t>
            </a:r>
            <a:r>
              <a:rPr lang="en-US" altLang="zh-CN" b="1" dirty="0">
                <a:solidFill>
                  <a:srgbClr val="00B050"/>
                </a:solidFill>
              </a:rPr>
              <a:t> </a:t>
            </a:r>
            <a:endParaRPr lang="en-US" altLang="zh-CN" b="1" dirty="0">
              <a:solidFill>
                <a:srgbClr val="00B050"/>
              </a:solidFill>
            </a:endParaRPr>
          </a:p>
          <a:p>
            <a:pPr algn="just" eaLnBrk="1" hangingPunct="1">
              <a:buNone/>
            </a:pPr>
            <a:r>
              <a:rPr lang="en-US" altLang="zh-CN" b="1" dirty="0">
                <a:solidFill>
                  <a:srgbClr val="FF0000"/>
                </a:solidFill>
              </a:rPr>
              <a:t>1</a:t>
            </a:r>
            <a:r>
              <a:rPr lang="zh-CN" altLang="en-US" b="1" dirty="0">
                <a:solidFill>
                  <a:srgbClr val="FF0000"/>
                </a:solidFill>
              </a:rPr>
              <a:t>）动态性</a:t>
            </a:r>
            <a:endParaRPr lang="zh-CN" altLang="en-US" b="1" dirty="0">
              <a:solidFill>
                <a:srgbClr val="FF0000"/>
              </a:solidFill>
            </a:endParaRPr>
          </a:p>
          <a:p>
            <a:pPr algn="just" eaLnBrk="1" hangingPunct="1"/>
            <a:r>
              <a:rPr lang="zh-CN" altLang="en-US" b="1" dirty="0"/>
              <a:t>  进程的实质是进程实体的一次执行过程，因此，</a:t>
            </a:r>
            <a:r>
              <a:rPr lang="zh-CN" altLang="en-US" b="1" dirty="0">
                <a:solidFill>
                  <a:srgbClr val="FF0000"/>
                </a:solidFill>
              </a:rPr>
              <a:t>动态性</a:t>
            </a:r>
            <a:r>
              <a:rPr lang="zh-CN" altLang="en-US" b="1" dirty="0"/>
              <a:t>是进程的</a:t>
            </a:r>
            <a:r>
              <a:rPr lang="zh-CN" altLang="en-US" b="1" dirty="0">
                <a:solidFill>
                  <a:srgbClr val="FF0000"/>
                </a:solidFill>
              </a:rPr>
              <a:t>最基本</a:t>
            </a:r>
            <a:r>
              <a:rPr lang="zh-CN" altLang="en-US" b="1" dirty="0"/>
              <a:t>的特征。</a:t>
            </a:r>
            <a:endParaRPr lang="zh-CN" altLang="en-US" b="1" dirty="0"/>
          </a:p>
          <a:p>
            <a:pPr algn="just" eaLnBrk="1" hangingPunct="1"/>
            <a:r>
              <a:rPr lang="zh-CN" altLang="en-US" b="1" dirty="0"/>
              <a:t>动态性表现：</a:t>
            </a:r>
            <a:r>
              <a:rPr lang="zh-CN" altLang="en-US" b="1" dirty="0">
                <a:latin typeface="Courier New" panose="02070309020205020404" pitchFamily="49" charset="0"/>
              </a:rPr>
              <a:t>“</a:t>
            </a:r>
            <a:r>
              <a:rPr lang="zh-CN" altLang="en-US" b="1" dirty="0">
                <a:solidFill>
                  <a:srgbClr val="FF0000"/>
                </a:solidFill>
              </a:rPr>
              <a:t>它由创建而产生，由调度而执行，由撤消而消亡</a:t>
            </a:r>
            <a:r>
              <a:rPr lang="zh-CN" altLang="en-US" b="1" dirty="0">
                <a:latin typeface="Courier New" panose="02070309020205020404" pitchFamily="49" charset="0"/>
              </a:rPr>
              <a:t>”</a:t>
            </a:r>
            <a:r>
              <a:rPr lang="zh-CN" altLang="en-US" b="1" dirty="0"/>
              <a:t>。可见，进程实体有一定的生命期。</a:t>
            </a:r>
            <a:endParaRPr lang="zh-CN" altLang="en-US" b="1" dirty="0"/>
          </a:p>
          <a:p>
            <a:pPr algn="just" eaLnBrk="1" hangingPunct="1"/>
            <a:r>
              <a:rPr lang="zh-CN" altLang="en-US" b="1" dirty="0"/>
              <a:t>程序是一组有序指令的集合，其本身并不具有运动的含义，因而是静态的。</a:t>
            </a:r>
            <a:endParaRPr lang="zh-CN" altLang="en-US" b="1" dirty="0"/>
          </a:p>
          <a:p>
            <a:pPr algn="just" eaLnBrk="1" hangingPunct="1">
              <a:buNone/>
            </a:pPr>
            <a:r>
              <a:rPr lang="zh-CN" altLang="en-US" b="1" dirty="0"/>
              <a:t> </a:t>
            </a:r>
            <a:endParaRPr lang="zh-CN" altLang="en-US" b="1" dirty="0"/>
          </a:p>
        </p:txBody>
      </p:sp>
      <p:sp>
        <p:nvSpPr>
          <p:cNvPr id="3" name="标题 1"/>
          <p:cNvSpPr txBox="1"/>
          <p:nvPr/>
        </p:nvSpPr>
        <p:spPr>
          <a:xfrm>
            <a:off x="301625" y="228600"/>
            <a:ext cx="854075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2.2 </a:t>
            </a:r>
            <a:r>
              <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进程的描述</a:t>
            </a:r>
            <a:endParaRPr kumimoji="0" lang="zh-CN" altLang="en-US" sz="4400" b="0"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842">
                                            <p:txEl>
                                              <p:charRg st="0" end="10"/>
                                            </p:txEl>
                                          </p:spTgt>
                                        </p:tgtEl>
                                        <p:attrNameLst>
                                          <p:attrName>style.visibility</p:attrName>
                                        </p:attrNameLst>
                                      </p:cBhvr>
                                      <p:to>
                                        <p:strVal val="visible"/>
                                      </p:to>
                                    </p:set>
                                    <p:animEffect transition="in" filter="fade">
                                      <p:cBhvr>
                                        <p:cTn id="7" dur="2000"/>
                                        <p:tgtEl>
                                          <p:spTgt spid="35842">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842">
                                            <p:txEl>
                                              <p:charRg st="10" end="16"/>
                                            </p:txEl>
                                          </p:spTgt>
                                        </p:tgtEl>
                                        <p:attrNameLst>
                                          <p:attrName>style.visibility</p:attrName>
                                        </p:attrNameLst>
                                      </p:cBhvr>
                                      <p:to>
                                        <p:strVal val="visible"/>
                                      </p:to>
                                    </p:set>
                                    <p:animEffect transition="in" filter="fade">
                                      <p:cBhvr>
                                        <p:cTn id="12" dur="2000"/>
                                        <p:tgtEl>
                                          <p:spTgt spid="35842">
                                            <p:txEl>
                                              <p:charRg st="1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842">
                                            <p:txEl>
                                              <p:charRg st="16" end="54"/>
                                            </p:txEl>
                                          </p:spTgt>
                                        </p:tgtEl>
                                        <p:attrNameLst>
                                          <p:attrName>style.visibility</p:attrName>
                                        </p:attrNameLst>
                                      </p:cBhvr>
                                      <p:to>
                                        <p:strVal val="visible"/>
                                      </p:to>
                                    </p:set>
                                    <p:animEffect transition="in" filter="fade">
                                      <p:cBhvr>
                                        <p:cTn id="17" dur="2000"/>
                                        <p:tgtEl>
                                          <p:spTgt spid="35842">
                                            <p:txEl>
                                              <p:charRg st="16" end="5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842">
                                            <p:txEl>
                                              <p:charRg st="54" end="100"/>
                                            </p:txEl>
                                          </p:spTgt>
                                        </p:tgtEl>
                                        <p:attrNameLst>
                                          <p:attrName>style.visibility</p:attrName>
                                        </p:attrNameLst>
                                      </p:cBhvr>
                                      <p:to>
                                        <p:strVal val="visible"/>
                                      </p:to>
                                    </p:set>
                                    <p:animEffect transition="in" filter="fade">
                                      <p:cBhvr>
                                        <p:cTn id="22" dur="2000"/>
                                        <p:tgtEl>
                                          <p:spTgt spid="35842">
                                            <p:txEl>
                                              <p:charRg st="54" end="10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842">
                                            <p:txEl>
                                              <p:charRg st="100" end="134"/>
                                            </p:txEl>
                                          </p:spTgt>
                                        </p:tgtEl>
                                        <p:attrNameLst>
                                          <p:attrName>style.visibility</p:attrName>
                                        </p:attrNameLst>
                                      </p:cBhvr>
                                      <p:to>
                                        <p:strVal val="visible"/>
                                      </p:to>
                                    </p:set>
                                    <p:animEffect transition="in" filter="fade">
                                      <p:cBhvr>
                                        <p:cTn id="27" dur="2000"/>
                                        <p:tgtEl>
                                          <p:spTgt spid="35842">
                                            <p:txEl>
                                              <p:charRg st="100" end="1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842">
                                            <p:txEl>
                                              <p:charRg st="134" end="136"/>
                                            </p:txEl>
                                          </p:spTgt>
                                        </p:tgtEl>
                                        <p:attrNameLst>
                                          <p:attrName>style.visibility</p:attrName>
                                        </p:attrNameLst>
                                      </p:cBhvr>
                                      <p:to>
                                        <p:strVal val="visible"/>
                                      </p:to>
                                    </p:set>
                                    <p:animEffect transition="in" filter="fade">
                                      <p:cBhvr>
                                        <p:cTn id="32" dur="2000"/>
                                        <p:tgtEl>
                                          <p:spTgt spid="35842">
                                            <p:txEl>
                                              <p:charRg st="134"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noRot="1"/>
          </p:cNvSpPr>
          <p:nvPr>
            <p:ph idx="1"/>
          </p:nvPr>
        </p:nvSpPr>
        <p:spPr>
          <a:xfrm>
            <a:off x="381000" y="914400"/>
            <a:ext cx="8229600" cy="5410200"/>
          </a:xfrm>
        </p:spPr>
        <p:txBody>
          <a:bodyPr vert="horz" wrap="square" lIns="91440" tIns="45720" rIns="91440" bIns="45720" anchor="t" anchorCtr="0"/>
          <a:p>
            <a:pPr algn="just" eaLnBrk="1" hangingPunct="1">
              <a:buNone/>
            </a:pPr>
            <a:r>
              <a:rPr lang="en-US" altLang="zh-CN" b="1" dirty="0">
                <a:solidFill>
                  <a:srgbClr val="FF0000"/>
                </a:solidFill>
              </a:rPr>
              <a:t> 2</a:t>
            </a:r>
            <a:r>
              <a:rPr lang="zh-CN" altLang="en-US" b="1" dirty="0">
                <a:solidFill>
                  <a:srgbClr val="FF0000"/>
                </a:solidFill>
              </a:rPr>
              <a:t>）并发性</a:t>
            </a:r>
            <a:endParaRPr lang="zh-CN" altLang="en-US" b="1" dirty="0">
              <a:solidFill>
                <a:srgbClr val="FF0000"/>
              </a:solidFill>
            </a:endParaRPr>
          </a:p>
          <a:p>
            <a:pPr algn="just" eaLnBrk="1" hangingPunct="1">
              <a:buNone/>
            </a:pPr>
            <a:r>
              <a:rPr lang="zh-CN" altLang="en-US" b="1" dirty="0"/>
              <a:t>   这是指多个进程实体同存于内存中，且能在一段时间内同时运行。</a:t>
            </a:r>
            <a:endParaRPr lang="zh-CN" altLang="en-US" b="1" dirty="0"/>
          </a:p>
          <a:p>
            <a:pPr algn="just" eaLnBrk="1" hangingPunct="1">
              <a:buNone/>
            </a:pPr>
            <a:r>
              <a:rPr lang="zh-CN" altLang="en-US" b="1" dirty="0">
                <a:solidFill>
                  <a:srgbClr val="FF0000"/>
                </a:solidFill>
              </a:rPr>
              <a:t> </a:t>
            </a:r>
            <a:r>
              <a:rPr lang="en-US" altLang="zh-CN" b="1" dirty="0">
                <a:solidFill>
                  <a:srgbClr val="FF0000"/>
                </a:solidFill>
              </a:rPr>
              <a:t>3</a:t>
            </a:r>
            <a:r>
              <a:rPr lang="zh-CN" altLang="en-US" b="1" dirty="0">
                <a:solidFill>
                  <a:srgbClr val="FF0000"/>
                </a:solidFill>
              </a:rPr>
              <a:t>）独立性</a:t>
            </a:r>
            <a:endParaRPr lang="zh-CN" altLang="en-US" b="1" dirty="0">
              <a:solidFill>
                <a:srgbClr val="FF0000"/>
              </a:solidFill>
            </a:endParaRPr>
          </a:p>
          <a:p>
            <a:pPr algn="just" eaLnBrk="1" hangingPunct="1">
              <a:buNone/>
            </a:pPr>
            <a:r>
              <a:rPr lang="zh-CN" altLang="en-US" b="1" dirty="0"/>
              <a:t>   指进程实体是一个能独立运行、独立分配资源和独立接受调度的基本单位；</a:t>
            </a:r>
            <a:endParaRPr lang="zh-CN" altLang="en-US" b="1" dirty="0"/>
          </a:p>
          <a:p>
            <a:pPr algn="just" eaLnBrk="1" hangingPunct="1">
              <a:buNone/>
            </a:pPr>
            <a:r>
              <a:rPr lang="zh-CN" altLang="en-US" b="1" dirty="0">
                <a:solidFill>
                  <a:srgbClr val="FF0000"/>
                </a:solidFill>
              </a:rPr>
              <a:t> </a:t>
            </a:r>
            <a:r>
              <a:rPr lang="en-US" altLang="zh-CN" b="1" dirty="0">
                <a:solidFill>
                  <a:srgbClr val="FF0000"/>
                </a:solidFill>
              </a:rPr>
              <a:t>4</a:t>
            </a:r>
            <a:r>
              <a:rPr lang="zh-CN" altLang="en-US" b="1" dirty="0">
                <a:solidFill>
                  <a:srgbClr val="FF0000"/>
                </a:solidFill>
              </a:rPr>
              <a:t>）异步性</a:t>
            </a:r>
            <a:endParaRPr lang="zh-CN" altLang="en-US" b="1" dirty="0">
              <a:solidFill>
                <a:srgbClr val="FF0000"/>
              </a:solidFill>
            </a:endParaRPr>
          </a:p>
          <a:p>
            <a:pPr eaLnBrk="1" hangingPunct="1">
              <a:buNone/>
            </a:pPr>
            <a:r>
              <a:rPr lang="zh-CN" altLang="en-US" b="1" dirty="0"/>
              <a:t>   指进程按各自独立的、不可预知的速度向前推进，或说进程实体按异步方式运行。</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866">
                                            <p:txEl>
                                              <p:charRg st="0" end="7"/>
                                            </p:txEl>
                                          </p:spTgt>
                                        </p:tgtEl>
                                        <p:attrNameLst>
                                          <p:attrName>style.visibility</p:attrName>
                                        </p:attrNameLst>
                                      </p:cBhvr>
                                      <p:to>
                                        <p:strVal val="visible"/>
                                      </p:to>
                                    </p:set>
                                    <p:animEffect transition="in" filter="fade">
                                      <p:cBhvr>
                                        <p:cTn id="7" dur="2000"/>
                                        <p:tgtEl>
                                          <p:spTgt spid="36866">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866">
                                            <p:txEl>
                                              <p:charRg st="7" end="40"/>
                                            </p:txEl>
                                          </p:spTgt>
                                        </p:tgtEl>
                                        <p:attrNameLst>
                                          <p:attrName>style.visibility</p:attrName>
                                        </p:attrNameLst>
                                      </p:cBhvr>
                                      <p:to>
                                        <p:strVal val="visible"/>
                                      </p:to>
                                    </p:set>
                                    <p:animEffect transition="in" filter="fade">
                                      <p:cBhvr>
                                        <p:cTn id="12" dur="2000"/>
                                        <p:tgtEl>
                                          <p:spTgt spid="36866">
                                            <p:txEl>
                                              <p:charRg st="7"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866">
                                            <p:txEl>
                                              <p:charRg st="40" end="47"/>
                                            </p:txEl>
                                          </p:spTgt>
                                        </p:tgtEl>
                                        <p:attrNameLst>
                                          <p:attrName>style.visibility</p:attrName>
                                        </p:attrNameLst>
                                      </p:cBhvr>
                                      <p:to>
                                        <p:strVal val="visible"/>
                                      </p:to>
                                    </p:set>
                                    <p:animEffect transition="in" filter="fade">
                                      <p:cBhvr>
                                        <p:cTn id="17" dur="2000"/>
                                        <p:tgtEl>
                                          <p:spTgt spid="36866">
                                            <p:txEl>
                                              <p:charRg st="40" end="4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6866">
                                            <p:txEl>
                                              <p:charRg st="47" end="84"/>
                                            </p:txEl>
                                          </p:spTgt>
                                        </p:tgtEl>
                                        <p:attrNameLst>
                                          <p:attrName>style.visibility</p:attrName>
                                        </p:attrNameLst>
                                      </p:cBhvr>
                                      <p:to>
                                        <p:strVal val="visible"/>
                                      </p:to>
                                    </p:set>
                                    <p:animEffect transition="in" filter="fade">
                                      <p:cBhvr>
                                        <p:cTn id="22" dur="2000"/>
                                        <p:tgtEl>
                                          <p:spTgt spid="36866">
                                            <p:txEl>
                                              <p:charRg st="47" end="8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866">
                                            <p:txEl>
                                              <p:charRg st="84" end="91"/>
                                            </p:txEl>
                                          </p:spTgt>
                                        </p:tgtEl>
                                        <p:attrNameLst>
                                          <p:attrName>style.visibility</p:attrName>
                                        </p:attrNameLst>
                                      </p:cBhvr>
                                      <p:to>
                                        <p:strVal val="visible"/>
                                      </p:to>
                                    </p:set>
                                    <p:animEffect transition="in" filter="fade">
                                      <p:cBhvr>
                                        <p:cTn id="27" dur="2000"/>
                                        <p:tgtEl>
                                          <p:spTgt spid="36866">
                                            <p:txEl>
                                              <p:charRg st="84" end="9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6866">
                                            <p:txEl>
                                              <p:charRg st="91" end="131"/>
                                            </p:txEl>
                                          </p:spTgt>
                                        </p:tgtEl>
                                        <p:attrNameLst>
                                          <p:attrName>style.visibility</p:attrName>
                                        </p:attrNameLst>
                                      </p:cBhvr>
                                      <p:to>
                                        <p:strVal val="visible"/>
                                      </p:to>
                                    </p:set>
                                    <p:animEffect transition="in" filter="fade">
                                      <p:cBhvr>
                                        <p:cTn id="32" dur="2000"/>
                                        <p:tgtEl>
                                          <p:spTgt spid="36866">
                                            <p:txEl>
                                              <p:charRg st="91" end="1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3"/>
          <p:cNvSpPr>
            <a:spLocks noGrp="1" noRot="1"/>
          </p:cNvSpPr>
          <p:nvPr>
            <p:ph type="body"/>
          </p:nvPr>
        </p:nvSpPr>
        <p:spPr>
          <a:xfrm>
            <a:off x="381000" y="1673225"/>
            <a:ext cx="8077200" cy="4498975"/>
          </a:xfrm>
        </p:spPr>
        <p:txBody>
          <a:bodyPr vert="horz" wrap="square" lIns="91440" tIns="45720" rIns="91440" bIns="45720" anchor="t" anchorCtr="0"/>
          <a:p>
            <a:pPr algn="just" eaLnBrk="1" hangingPunct="1">
              <a:buNone/>
            </a:pPr>
            <a:r>
              <a:rPr lang="en-US" altLang="zh-CN" sz="2800" b="1" dirty="0">
                <a:solidFill>
                  <a:srgbClr val="FF0000"/>
                </a:solidFill>
              </a:rPr>
              <a:t>1. </a:t>
            </a:r>
            <a:r>
              <a:rPr lang="zh-CN" altLang="en-US" sz="2800" b="1" dirty="0">
                <a:solidFill>
                  <a:srgbClr val="FF0000"/>
                </a:solidFill>
              </a:rPr>
              <a:t>进程的三种基本状态：</a:t>
            </a:r>
            <a:endParaRPr lang="zh-CN" altLang="en-US" sz="2800" b="1" dirty="0">
              <a:solidFill>
                <a:srgbClr val="FF0000"/>
              </a:solidFill>
            </a:endParaRPr>
          </a:p>
          <a:p>
            <a:pPr algn="just" eaLnBrk="1" hangingPunct="1">
              <a:buNone/>
            </a:pPr>
            <a:r>
              <a:rPr lang="en-US" altLang="zh-CN" sz="2800" b="1" dirty="0">
                <a:solidFill>
                  <a:srgbClr val="FF0000"/>
                </a:solidFill>
              </a:rPr>
              <a:t>1</a:t>
            </a:r>
            <a:r>
              <a:rPr lang="zh-CN" altLang="en-US" sz="2800" b="1" dirty="0">
                <a:solidFill>
                  <a:srgbClr val="FF0000"/>
                </a:solidFill>
              </a:rPr>
              <a:t>）就绪（</a:t>
            </a:r>
            <a:r>
              <a:rPr lang="en-US" altLang="zh-CN" sz="2800" b="1" dirty="0">
                <a:solidFill>
                  <a:srgbClr val="FF0000"/>
                </a:solidFill>
              </a:rPr>
              <a:t>Ready</a:t>
            </a:r>
            <a:r>
              <a:rPr lang="zh-CN" altLang="en-US" sz="2800" b="1" dirty="0">
                <a:solidFill>
                  <a:srgbClr val="FF0000"/>
                </a:solidFill>
              </a:rPr>
              <a:t>）状态：</a:t>
            </a:r>
            <a:r>
              <a:rPr lang="zh-CN" altLang="en-US" sz="2800" b="1" dirty="0"/>
              <a:t>当进程已分配到除</a:t>
            </a:r>
            <a:r>
              <a:rPr lang="en-US" altLang="zh-CN" sz="2800" b="1" dirty="0"/>
              <a:t>CPU</a:t>
            </a:r>
            <a:r>
              <a:rPr lang="zh-CN" altLang="en-US" sz="2800" b="1" dirty="0"/>
              <a:t>以外的所有必要资源后，只要再获得</a:t>
            </a:r>
            <a:r>
              <a:rPr lang="en-US" altLang="zh-CN" sz="2800" b="1" dirty="0"/>
              <a:t>CPU</a:t>
            </a:r>
            <a:r>
              <a:rPr lang="zh-CN" altLang="en-US" sz="2800" b="1" dirty="0"/>
              <a:t>，便可立即执行。</a:t>
            </a:r>
            <a:endParaRPr lang="zh-CN" altLang="en-US" sz="2800" b="1" dirty="0"/>
          </a:p>
          <a:p>
            <a:pPr algn="just" eaLnBrk="1" hangingPunct="1">
              <a:buNone/>
            </a:pPr>
            <a:r>
              <a:rPr lang="zh-CN" altLang="en-US" sz="2800" b="1" dirty="0"/>
              <a:t> </a:t>
            </a:r>
            <a:r>
              <a:rPr lang="en-US" altLang="zh-CN" sz="2800" b="1" dirty="0">
                <a:solidFill>
                  <a:srgbClr val="FF0000"/>
                </a:solidFill>
              </a:rPr>
              <a:t>2</a:t>
            </a:r>
            <a:r>
              <a:rPr lang="zh-CN" altLang="en-US" sz="2800" b="1" dirty="0">
                <a:solidFill>
                  <a:srgbClr val="FF0000"/>
                </a:solidFill>
              </a:rPr>
              <a:t>）执行状态：</a:t>
            </a:r>
            <a:r>
              <a:rPr lang="zh-CN" altLang="en-US" sz="2800" b="1" dirty="0"/>
              <a:t>进程已获得</a:t>
            </a:r>
            <a:r>
              <a:rPr lang="en-US" altLang="zh-CN" sz="2800" b="1" dirty="0"/>
              <a:t>CPU</a:t>
            </a:r>
            <a:r>
              <a:rPr lang="zh-CN" altLang="en-US" sz="2800" b="1" dirty="0"/>
              <a:t>，其程序正在执行。</a:t>
            </a:r>
            <a:endParaRPr lang="zh-CN" altLang="en-US" sz="2800" b="1" dirty="0"/>
          </a:p>
          <a:p>
            <a:pPr algn="just" eaLnBrk="1" hangingPunct="1">
              <a:buNone/>
            </a:pPr>
            <a:r>
              <a:rPr lang="zh-CN" altLang="en-US" sz="2800" b="1" dirty="0"/>
              <a:t> </a:t>
            </a:r>
            <a:r>
              <a:rPr lang="en-US" altLang="zh-CN" sz="2800" b="1" dirty="0">
                <a:solidFill>
                  <a:srgbClr val="FF0000"/>
                </a:solidFill>
              </a:rPr>
              <a:t>3</a:t>
            </a:r>
            <a:r>
              <a:rPr lang="zh-CN" altLang="en-US" sz="2800" b="1" dirty="0">
                <a:solidFill>
                  <a:srgbClr val="FF0000"/>
                </a:solidFill>
              </a:rPr>
              <a:t>）阻塞状态：</a:t>
            </a:r>
            <a:r>
              <a:rPr lang="zh-CN" altLang="en-US" sz="2800" b="1" dirty="0"/>
              <a:t>正在执行的进程由于发生某事件而暂时无法继续执行时，便放弃处理机而处于暂停状态，把这种暂停状态称为阻塞状态，有时也称为等待状态。根据阻塞原因，系统中设置多个阻塞队列。</a:t>
            </a:r>
            <a:endParaRPr lang="zh-CN" altLang="en-US" sz="2800" b="1" dirty="0"/>
          </a:p>
        </p:txBody>
      </p:sp>
      <p:sp>
        <p:nvSpPr>
          <p:cNvPr id="191490" name="Rectangle 2"/>
          <p:cNvSpPr>
            <a:spLocks noRot="1" noChangeArrowheads="1"/>
          </p:cNvSpPr>
          <p:nvPr/>
        </p:nvSpPr>
        <p:spPr bwMode="auto">
          <a:xfrm>
            <a:off x="381000" y="762000"/>
            <a:ext cx="7772400" cy="7620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rgbClr val="0066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2.2.2 </a:t>
            </a:r>
            <a:r>
              <a:rPr kumimoji="0" lang="zh-CN" altLang="en-US" sz="4400" b="1" i="0" u="none" strike="noStrike" kern="1200" cap="none" spc="0" normalizeH="0" baseline="0" noProof="0" dirty="0">
                <a:ln>
                  <a:noFill/>
                </a:ln>
                <a:solidFill>
                  <a:srgbClr val="0066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进程的基本状态及转换</a:t>
            </a:r>
            <a:endParaRPr kumimoji="0" lang="zh-CN" altLang="en-US" sz="4400" b="1" i="0" u="none" strike="noStrike" kern="1200" cap="none" spc="0" normalizeH="0" baseline="0" noProof="0" dirty="0">
              <a:ln>
                <a:noFill/>
              </a:ln>
              <a:solidFill>
                <a:srgbClr val="0066FF"/>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962">
                                            <p:txEl>
                                              <p:charRg st="0" end="14"/>
                                            </p:txEl>
                                          </p:spTgt>
                                        </p:tgtEl>
                                        <p:attrNameLst>
                                          <p:attrName>style.visibility</p:attrName>
                                        </p:attrNameLst>
                                      </p:cBhvr>
                                      <p:to>
                                        <p:strVal val="visible"/>
                                      </p:to>
                                    </p:set>
                                    <p:animEffect transition="in" filter="fade">
                                      <p:cBhvr>
                                        <p:cTn id="7" dur="2000"/>
                                        <p:tgtEl>
                                          <p:spTgt spid="40962">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962">
                                            <p:txEl>
                                              <p:charRg st="14" end="67"/>
                                            </p:txEl>
                                          </p:spTgt>
                                        </p:tgtEl>
                                        <p:attrNameLst>
                                          <p:attrName>style.visibility</p:attrName>
                                        </p:attrNameLst>
                                      </p:cBhvr>
                                      <p:to>
                                        <p:strVal val="visible"/>
                                      </p:to>
                                    </p:set>
                                    <p:animEffect transition="in" filter="fade">
                                      <p:cBhvr>
                                        <p:cTn id="12" dur="2000"/>
                                        <p:tgtEl>
                                          <p:spTgt spid="40962">
                                            <p:txEl>
                                              <p:charRg st="14"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962">
                                            <p:txEl>
                                              <p:charRg st="67" end="93"/>
                                            </p:txEl>
                                          </p:spTgt>
                                        </p:tgtEl>
                                        <p:attrNameLst>
                                          <p:attrName>style.visibility</p:attrName>
                                        </p:attrNameLst>
                                      </p:cBhvr>
                                      <p:to>
                                        <p:strVal val="visible"/>
                                      </p:to>
                                    </p:set>
                                    <p:animEffect transition="in" filter="fade">
                                      <p:cBhvr>
                                        <p:cTn id="17" dur="2000"/>
                                        <p:tgtEl>
                                          <p:spTgt spid="40962">
                                            <p:txEl>
                                              <p:charRg st="67" end="9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962">
                                            <p:txEl>
                                              <p:charRg st="93" end="184"/>
                                            </p:txEl>
                                          </p:spTgt>
                                        </p:tgtEl>
                                        <p:attrNameLst>
                                          <p:attrName>style.visibility</p:attrName>
                                        </p:attrNameLst>
                                      </p:cBhvr>
                                      <p:to>
                                        <p:strVal val="visible"/>
                                      </p:to>
                                    </p:set>
                                    <p:animEffect transition="in" filter="fade">
                                      <p:cBhvr>
                                        <p:cTn id="22" dur="2000"/>
                                        <p:tgtEl>
                                          <p:spTgt spid="40962">
                                            <p:txEl>
                                              <p:charRg st="93" end="1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Oval 4"/>
          <p:cNvSpPr/>
          <p:nvPr/>
        </p:nvSpPr>
        <p:spPr>
          <a:xfrm>
            <a:off x="1260475" y="4068763"/>
            <a:ext cx="1882775"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就绪态</a:t>
            </a:r>
            <a:endParaRPr lang="zh-CN" altLang="en-US" sz="2400" b="1" dirty="0">
              <a:latin typeface="楷体_GB2312" pitchFamily="49" charset="-122"/>
              <a:ea typeface="楷体_GB2312" pitchFamily="49" charset="-122"/>
            </a:endParaRPr>
          </a:p>
        </p:txBody>
      </p:sp>
      <p:sp>
        <p:nvSpPr>
          <p:cNvPr id="25603" name="Oval 5"/>
          <p:cNvSpPr/>
          <p:nvPr/>
        </p:nvSpPr>
        <p:spPr>
          <a:xfrm>
            <a:off x="3348038" y="1874838"/>
            <a:ext cx="1881187"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运行态</a:t>
            </a:r>
            <a:endParaRPr lang="zh-CN" altLang="en-US" sz="2400" b="1" dirty="0">
              <a:latin typeface="楷体_GB2312" pitchFamily="49" charset="-122"/>
              <a:ea typeface="楷体_GB2312" pitchFamily="49" charset="-122"/>
            </a:endParaRPr>
          </a:p>
        </p:txBody>
      </p:sp>
      <p:sp>
        <p:nvSpPr>
          <p:cNvPr id="25604" name="Oval 6"/>
          <p:cNvSpPr/>
          <p:nvPr/>
        </p:nvSpPr>
        <p:spPr>
          <a:xfrm>
            <a:off x="5434013" y="4027488"/>
            <a:ext cx="1881187"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等待态</a:t>
            </a:r>
            <a:endParaRPr lang="zh-CN" altLang="en-US" sz="2400" b="1" dirty="0">
              <a:latin typeface="楷体_GB2312" pitchFamily="49" charset="-122"/>
              <a:ea typeface="楷体_GB2312" pitchFamily="49" charset="-122"/>
            </a:endParaRPr>
          </a:p>
        </p:txBody>
      </p:sp>
      <p:sp>
        <p:nvSpPr>
          <p:cNvPr id="452615" name="Freeform 7"/>
          <p:cNvSpPr/>
          <p:nvPr/>
        </p:nvSpPr>
        <p:spPr>
          <a:xfrm>
            <a:off x="2176463" y="2530475"/>
            <a:ext cx="1222375" cy="1517650"/>
          </a:xfrm>
          <a:custGeom>
            <a:avLst/>
            <a:gdLst>
              <a:gd name="txL" fmla="*/ 0 w 1080"/>
              <a:gd name="txT" fmla="*/ 0 h 1110"/>
              <a:gd name="txR" fmla="*/ 1080 w 1080"/>
              <a:gd name="txB" fmla="*/ 1110 h 1110"/>
            </a:gdLst>
            <a:ahLst/>
            <a:cxnLst>
              <a:cxn ang="0">
                <a:pos x="0" y="2147483646"/>
              </a:cxn>
              <a:cxn ang="0">
                <a:pos x="2147483646" y="2147483646"/>
              </a:cxn>
              <a:cxn ang="0">
                <a:pos x="2147483646" y="0"/>
              </a:cxn>
            </a:cxnLst>
            <a:rect l="txL" t="txT" r="txR" b="txB"/>
            <a:pathLst>
              <a:path w="1080" h="1110">
                <a:moveTo>
                  <a:pt x="0" y="1110"/>
                </a:moveTo>
                <a:cubicBezTo>
                  <a:pt x="52" y="842"/>
                  <a:pt x="104" y="575"/>
                  <a:pt x="284" y="390"/>
                </a:cubicBezTo>
                <a:cubicBezTo>
                  <a:pt x="464" y="205"/>
                  <a:pt x="945" y="50"/>
                  <a:pt x="1080" y="0"/>
                </a:cubicBezTo>
              </a:path>
            </a:pathLst>
          </a:custGeom>
          <a:noFill/>
          <a:ln w="38100" cap="flat" cmpd="sng">
            <a:solidFill>
              <a:schemeClr val="accent2">
                <a:alpha val="100000"/>
              </a:schemeClr>
            </a:solidFill>
            <a:prstDash val="solid"/>
            <a:round/>
            <a:headEnd type="none" w="med" len="med"/>
            <a:tailEnd type="arrow" w="med" len="med"/>
          </a:ln>
        </p:spPr>
        <p:txBody>
          <a:bodyPr/>
          <a:p>
            <a:endParaRPr lang="zh-CN" altLang="en-US"/>
          </a:p>
        </p:txBody>
      </p:sp>
      <p:sp>
        <p:nvSpPr>
          <p:cNvPr id="452616" name="Freeform 8"/>
          <p:cNvSpPr/>
          <p:nvPr/>
        </p:nvSpPr>
        <p:spPr>
          <a:xfrm>
            <a:off x="5253038" y="2484438"/>
            <a:ext cx="1409700" cy="1557337"/>
          </a:xfrm>
          <a:custGeom>
            <a:avLst/>
            <a:gdLst>
              <a:gd name="txL" fmla="*/ 0 w 1246"/>
              <a:gd name="txT" fmla="*/ 0 h 1140"/>
              <a:gd name="txR" fmla="*/ 1246 w 1246"/>
              <a:gd name="txB" fmla="*/ 1140 h 1140"/>
            </a:gdLst>
            <a:ahLst/>
            <a:cxnLst>
              <a:cxn ang="0">
                <a:pos x="0" y="0"/>
              </a:cxn>
              <a:cxn ang="0">
                <a:pos x="2147483646" y="2147483646"/>
              </a:cxn>
              <a:cxn ang="0">
                <a:pos x="2147483646" y="2147483646"/>
              </a:cxn>
            </a:cxnLst>
            <a:rect l="txL" t="txT" r="txR" b="txB"/>
            <a:pathLst>
              <a:path w="1246" h="1140">
                <a:moveTo>
                  <a:pt x="0" y="0"/>
                </a:moveTo>
                <a:cubicBezTo>
                  <a:pt x="316" y="17"/>
                  <a:pt x="632" y="35"/>
                  <a:pt x="840" y="225"/>
                </a:cubicBezTo>
                <a:cubicBezTo>
                  <a:pt x="1048" y="415"/>
                  <a:pt x="1178" y="988"/>
                  <a:pt x="1246" y="1140"/>
                </a:cubicBezTo>
              </a:path>
            </a:pathLst>
          </a:custGeom>
          <a:noFill/>
          <a:ln w="38100" cap="flat" cmpd="sng">
            <a:solidFill>
              <a:schemeClr val="accent2">
                <a:alpha val="100000"/>
              </a:schemeClr>
            </a:solidFill>
            <a:prstDash val="solid"/>
            <a:round/>
            <a:headEnd type="none" w="med" len="med"/>
            <a:tailEnd type="arrow" w="med" len="med"/>
          </a:ln>
        </p:spPr>
        <p:txBody>
          <a:bodyPr/>
          <a:p>
            <a:endParaRPr lang="zh-CN" altLang="en-US"/>
          </a:p>
        </p:txBody>
      </p:sp>
      <p:sp>
        <p:nvSpPr>
          <p:cNvPr id="452617" name="Freeform 9"/>
          <p:cNvSpPr/>
          <p:nvPr/>
        </p:nvSpPr>
        <p:spPr>
          <a:xfrm>
            <a:off x="2967038" y="2865438"/>
            <a:ext cx="762000" cy="1476375"/>
          </a:xfrm>
          <a:custGeom>
            <a:avLst/>
            <a:gdLst>
              <a:gd name="txL" fmla="*/ 0 w 674"/>
              <a:gd name="txT" fmla="*/ 0 h 1080"/>
              <a:gd name="txR" fmla="*/ 674 w 674"/>
              <a:gd name="txB" fmla="*/ 1080 h 1080"/>
            </a:gdLst>
            <a:ahLst/>
            <a:cxnLst>
              <a:cxn ang="0">
                <a:pos x="2147483646" y="0"/>
              </a:cxn>
              <a:cxn ang="0">
                <a:pos x="2147483646" y="2147483646"/>
              </a:cxn>
              <a:cxn ang="0">
                <a:pos x="0" y="2147483646"/>
              </a:cxn>
            </a:cxnLst>
            <a:rect l="txL" t="txT" r="txR" b="txB"/>
            <a:pathLst>
              <a:path w="674" h="1080">
                <a:moveTo>
                  <a:pt x="674" y="0"/>
                </a:moveTo>
                <a:cubicBezTo>
                  <a:pt x="648" y="292"/>
                  <a:pt x="622" y="585"/>
                  <a:pt x="510" y="765"/>
                </a:cubicBezTo>
                <a:cubicBezTo>
                  <a:pt x="398" y="945"/>
                  <a:pt x="85" y="1028"/>
                  <a:pt x="0" y="1080"/>
                </a:cubicBezTo>
              </a:path>
            </a:pathLst>
          </a:custGeom>
          <a:noFill/>
          <a:ln w="38100" cap="flat" cmpd="sng">
            <a:solidFill>
              <a:schemeClr val="accent2">
                <a:alpha val="100000"/>
              </a:schemeClr>
            </a:solidFill>
            <a:prstDash val="solid"/>
            <a:round/>
            <a:headEnd type="none" w="med" len="med"/>
            <a:tailEnd type="arrow" w="med" len="med"/>
          </a:ln>
        </p:spPr>
        <p:txBody>
          <a:bodyPr/>
          <a:p>
            <a:endParaRPr lang="zh-CN" altLang="en-US"/>
          </a:p>
        </p:txBody>
      </p:sp>
      <p:sp>
        <p:nvSpPr>
          <p:cNvPr id="452618" name="Freeform 10"/>
          <p:cNvSpPr/>
          <p:nvPr/>
        </p:nvSpPr>
        <p:spPr>
          <a:xfrm>
            <a:off x="3119438" y="4618038"/>
            <a:ext cx="2306637" cy="414337"/>
          </a:xfrm>
          <a:custGeom>
            <a:avLst/>
            <a:gdLst>
              <a:gd name="txL" fmla="*/ 0 w 2040"/>
              <a:gd name="txT" fmla="*/ 0 h 303"/>
              <a:gd name="txR" fmla="*/ 2040 w 2040"/>
              <a:gd name="txB" fmla="*/ 303 h 303"/>
            </a:gdLst>
            <a:ahLst/>
            <a:cxnLst>
              <a:cxn ang="0">
                <a:pos x="2147483646" y="0"/>
              </a:cxn>
              <a:cxn ang="0">
                <a:pos x="2147483646" y="2147483646"/>
              </a:cxn>
              <a:cxn ang="0">
                <a:pos x="0" y="2147483646"/>
              </a:cxn>
            </a:cxnLst>
            <a:rect l="txL" t="txT" r="txR" b="txB"/>
            <a:pathLst>
              <a:path w="2040" h="303">
                <a:moveTo>
                  <a:pt x="2040" y="0"/>
                </a:moveTo>
                <a:cubicBezTo>
                  <a:pt x="1782" y="133"/>
                  <a:pt x="1524" y="267"/>
                  <a:pt x="1184" y="285"/>
                </a:cubicBezTo>
                <a:cubicBezTo>
                  <a:pt x="844" y="303"/>
                  <a:pt x="197" y="135"/>
                  <a:pt x="0" y="105"/>
                </a:cubicBezTo>
              </a:path>
            </a:pathLst>
          </a:custGeom>
          <a:noFill/>
          <a:ln w="38100" cap="flat" cmpd="sng">
            <a:solidFill>
              <a:schemeClr val="accent2">
                <a:alpha val="100000"/>
              </a:schemeClr>
            </a:solidFill>
            <a:prstDash val="solid"/>
            <a:round/>
            <a:headEnd type="none" w="med" len="med"/>
            <a:tailEnd type="arrow" w="med" len="med"/>
          </a:ln>
        </p:spPr>
        <p:txBody>
          <a:bodyPr/>
          <a:p>
            <a:endParaRPr lang="zh-CN" altLang="en-US"/>
          </a:p>
        </p:txBody>
      </p:sp>
      <p:sp>
        <p:nvSpPr>
          <p:cNvPr id="452619" name="Text Box 11"/>
          <p:cNvSpPr txBox="1"/>
          <p:nvPr/>
        </p:nvSpPr>
        <p:spPr>
          <a:xfrm>
            <a:off x="833438" y="3398838"/>
            <a:ext cx="1306512" cy="411162"/>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调度</a:t>
            </a:r>
            <a:endParaRPr lang="zh-CN" altLang="en-US" sz="2400" b="1" dirty="0">
              <a:solidFill>
                <a:srgbClr val="FF0000"/>
              </a:solidFill>
              <a:latin typeface="楷体_GB2312" pitchFamily="49" charset="-122"/>
              <a:ea typeface="楷体_GB2312" pitchFamily="49" charset="-122"/>
            </a:endParaRPr>
          </a:p>
        </p:txBody>
      </p:sp>
      <p:sp>
        <p:nvSpPr>
          <p:cNvPr id="452620" name="Text Box 12"/>
          <p:cNvSpPr txBox="1"/>
          <p:nvPr/>
        </p:nvSpPr>
        <p:spPr>
          <a:xfrm>
            <a:off x="3652838" y="3170238"/>
            <a:ext cx="1981200" cy="841375"/>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被高优先级任务抢占或超时</a:t>
            </a:r>
            <a:endParaRPr lang="zh-CN" altLang="en-US" sz="2400" b="1" dirty="0">
              <a:solidFill>
                <a:srgbClr val="FF0000"/>
              </a:solidFill>
              <a:latin typeface="楷体_GB2312" pitchFamily="49" charset="-122"/>
              <a:ea typeface="楷体_GB2312" pitchFamily="49" charset="-122"/>
            </a:endParaRPr>
          </a:p>
        </p:txBody>
      </p:sp>
      <p:sp>
        <p:nvSpPr>
          <p:cNvPr id="452622" name="Text Box 14"/>
          <p:cNvSpPr txBox="1"/>
          <p:nvPr/>
        </p:nvSpPr>
        <p:spPr>
          <a:xfrm>
            <a:off x="5786438" y="2636838"/>
            <a:ext cx="1087437" cy="409575"/>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latin typeface="楷体_GB2312" pitchFamily="49" charset="-122"/>
                <a:ea typeface="楷体_GB2312" pitchFamily="49" charset="-122"/>
              </a:rPr>
              <a:t>I/O</a:t>
            </a:r>
            <a:r>
              <a:rPr lang="zh-CN" altLang="en-US" sz="2400" b="1" dirty="0">
                <a:solidFill>
                  <a:srgbClr val="FF0000"/>
                </a:solidFill>
                <a:latin typeface="楷体_GB2312" pitchFamily="49" charset="-122"/>
                <a:ea typeface="楷体_GB2312" pitchFamily="49" charset="-122"/>
              </a:rPr>
              <a:t>请求</a:t>
            </a:r>
            <a:endParaRPr lang="zh-CN" altLang="en-US" sz="2400" b="1" dirty="0">
              <a:solidFill>
                <a:srgbClr val="FF0000"/>
              </a:solidFill>
              <a:latin typeface="楷体_GB2312" pitchFamily="49" charset="-122"/>
              <a:ea typeface="楷体_GB2312" pitchFamily="49" charset="-122"/>
            </a:endParaRPr>
          </a:p>
        </p:txBody>
      </p:sp>
      <p:sp>
        <p:nvSpPr>
          <p:cNvPr id="25612" name="Oval 15"/>
          <p:cNvSpPr/>
          <p:nvPr/>
        </p:nvSpPr>
        <p:spPr>
          <a:xfrm>
            <a:off x="1290638" y="4084638"/>
            <a:ext cx="1882775"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就绪态</a:t>
            </a:r>
            <a:endParaRPr lang="zh-CN" altLang="en-US" sz="2400" b="1" dirty="0">
              <a:latin typeface="楷体_GB2312" pitchFamily="49" charset="-122"/>
              <a:ea typeface="楷体_GB2312" pitchFamily="49" charset="-122"/>
            </a:endParaRPr>
          </a:p>
        </p:txBody>
      </p:sp>
      <p:sp>
        <p:nvSpPr>
          <p:cNvPr id="25613" name="Oval 16"/>
          <p:cNvSpPr/>
          <p:nvPr/>
        </p:nvSpPr>
        <p:spPr>
          <a:xfrm>
            <a:off x="3378200" y="1890713"/>
            <a:ext cx="1881188"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latin typeface="楷体_GB2312" pitchFamily="49" charset="-122"/>
                <a:ea typeface="楷体_GB2312" pitchFamily="49" charset="-122"/>
              </a:rPr>
              <a:t>运行态</a:t>
            </a:r>
            <a:endParaRPr lang="zh-CN" altLang="en-US" sz="2400" b="1" dirty="0">
              <a:latin typeface="楷体_GB2312" pitchFamily="49" charset="-122"/>
              <a:ea typeface="楷体_GB2312" pitchFamily="49" charset="-122"/>
            </a:endParaRPr>
          </a:p>
        </p:txBody>
      </p:sp>
      <p:sp>
        <p:nvSpPr>
          <p:cNvPr id="25614" name="Oval 17"/>
          <p:cNvSpPr/>
          <p:nvPr/>
        </p:nvSpPr>
        <p:spPr>
          <a:xfrm>
            <a:off x="5405438" y="4008438"/>
            <a:ext cx="1881187"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阻塞态</a:t>
            </a:r>
            <a:endParaRPr lang="zh-CN" altLang="en-US" sz="2400" b="1" dirty="0">
              <a:solidFill>
                <a:srgbClr val="FF0000"/>
              </a:solidFill>
              <a:latin typeface="楷体_GB2312" pitchFamily="49" charset="-122"/>
              <a:ea typeface="楷体_GB2312" pitchFamily="49" charset="-122"/>
            </a:endParaRPr>
          </a:p>
        </p:txBody>
      </p:sp>
      <p:sp>
        <p:nvSpPr>
          <p:cNvPr id="25615" name="Oval 18"/>
          <p:cNvSpPr/>
          <p:nvPr/>
        </p:nvSpPr>
        <p:spPr>
          <a:xfrm>
            <a:off x="1262063" y="4065588"/>
            <a:ext cx="1882775" cy="1046162"/>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就绪态</a:t>
            </a:r>
            <a:endParaRPr lang="zh-CN" altLang="en-US" sz="2400" b="1" dirty="0">
              <a:solidFill>
                <a:srgbClr val="FF0000"/>
              </a:solidFill>
              <a:latin typeface="楷体_GB2312" pitchFamily="49" charset="-122"/>
              <a:ea typeface="楷体_GB2312" pitchFamily="49" charset="-122"/>
            </a:endParaRPr>
          </a:p>
        </p:txBody>
      </p:sp>
      <p:sp>
        <p:nvSpPr>
          <p:cNvPr id="25616" name="Oval 19"/>
          <p:cNvSpPr/>
          <p:nvPr/>
        </p:nvSpPr>
        <p:spPr>
          <a:xfrm>
            <a:off x="3352800" y="1905000"/>
            <a:ext cx="1881188" cy="1046163"/>
          </a:xfrm>
          <a:prstGeom prst="ellipse">
            <a:avLst/>
          </a:prstGeom>
          <a:gradFill rotWithShape="0">
            <a:gsLst>
              <a:gs pos="0">
                <a:srgbClr val="A5A5A5"/>
              </a:gs>
              <a:gs pos="50000">
                <a:srgbClr val="FFFFFF"/>
              </a:gs>
              <a:gs pos="100000">
                <a:srgbClr val="A5A5A5"/>
              </a:gs>
            </a:gsLst>
            <a:lin ang="5400000" scaled="1"/>
            <a:tileRect/>
          </a:gra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FF0000"/>
                </a:solidFill>
                <a:latin typeface="楷体_GB2312" pitchFamily="49" charset="-122"/>
                <a:ea typeface="楷体_GB2312" pitchFamily="49" charset="-122"/>
              </a:rPr>
              <a:t>运行态</a:t>
            </a:r>
            <a:endParaRPr lang="zh-CN" altLang="en-US" sz="2400" b="1" dirty="0">
              <a:solidFill>
                <a:srgbClr val="FF0000"/>
              </a:solidFill>
              <a:latin typeface="楷体_GB2312" pitchFamily="49" charset="-122"/>
              <a:ea typeface="楷体_GB2312" pitchFamily="49" charset="-122"/>
            </a:endParaRPr>
          </a:p>
        </p:txBody>
      </p:sp>
      <p:sp>
        <p:nvSpPr>
          <p:cNvPr id="452629" name="Text Box 21"/>
          <p:cNvSpPr txBox="1"/>
          <p:nvPr/>
        </p:nvSpPr>
        <p:spPr>
          <a:xfrm>
            <a:off x="3729038" y="5075238"/>
            <a:ext cx="1306512" cy="411162"/>
          </a:xfrm>
          <a:prstGeom prst="rect">
            <a:avLst/>
          </a:prstGeom>
          <a:solidFill>
            <a:srgbClr val="FFFFFF"/>
          </a:solid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FF0000"/>
                </a:solidFill>
              </a:rPr>
              <a:t>I/O</a:t>
            </a:r>
            <a:r>
              <a:rPr lang="zh-CN" altLang="en-US" sz="2400" b="1" dirty="0">
                <a:solidFill>
                  <a:srgbClr val="FF0000"/>
                </a:solidFill>
              </a:rPr>
              <a:t>完成</a:t>
            </a:r>
            <a:endParaRPr lang="zh-CN" altLang="en-US" sz="2400" b="1" dirty="0">
              <a:solidFill>
                <a:srgbClr val="FF0000"/>
              </a:solidFill>
            </a:endParaRPr>
          </a:p>
        </p:txBody>
      </p:sp>
      <p:sp>
        <p:nvSpPr>
          <p:cNvPr id="452630" name="Rectangle 2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的三种基本状态及其转换</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2630"/>
                                        </p:tgtEl>
                                        <p:attrNameLst>
                                          <p:attrName>style.visibility</p:attrName>
                                        </p:attrNameLst>
                                      </p:cBhvr>
                                      <p:to>
                                        <p:strVal val="visible"/>
                                      </p:to>
                                    </p:set>
                                    <p:animEffect transition="in" filter="fade">
                                      <p:cBhvr>
                                        <p:cTn id="7" dur="2000"/>
                                        <p:tgtEl>
                                          <p:spTgt spid="4526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2619"/>
                                        </p:tgtEl>
                                        <p:attrNameLst>
                                          <p:attrName>style.visibility</p:attrName>
                                        </p:attrNameLst>
                                      </p:cBhvr>
                                      <p:to>
                                        <p:strVal val="visible"/>
                                      </p:to>
                                    </p:set>
                                    <p:animEffect transition="in" filter="blinds(horizontal)">
                                      <p:cBhvr>
                                        <p:cTn id="12" dur="500"/>
                                        <p:tgtEl>
                                          <p:spTgt spid="452619"/>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452615"/>
                                        </p:tgtEl>
                                        <p:attrNameLst>
                                          <p:attrName>style.visibility</p:attrName>
                                        </p:attrNameLst>
                                      </p:cBhvr>
                                      <p:to>
                                        <p:strVal val="visible"/>
                                      </p:to>
                                    </p:set>
                                    <p:animEffect transition="in" filter="wipe(down)">
                                      <p:cBhvr>
                                        <p:cTn id="16" dur="500"/>
                                        <p:tgtEl>
                                          <p:spTgt spid="45261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52620"/>
                                        </p:tgtEl>
                                        <p:attrNameLst>
                                          <p:attrName>style.visibility</p:attrName>
                                        </p:attrNameLst>
                                      </p:cBhvr>
                                      <p:to>
                                        <p:strVal val="visible"/>
                                      </p:to>
                                    </p:set>
                                    <p:animEffect transition="in" filter="blinds(horizontal)">
                                      <p:cBhvr>
                                        <p:cTn id="21" dur="500"/>
                                        <p:tgtEl>
                                          <p:spTgt spid="452620"/>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452617"/>
                                        </p:tgtEl>
                                        <p:attrNameLst>
                                          <p:attrName>style.visibility</p:attrName>
                                        </p:attrNameLst>
                                      </p:cBhvr>
                                      <p:to>
                                        <p:strVal val="visible"/>
                                      </p:to>
                                    </p:set>
                                    <p:animEffect transition="in" filter="wipe(up)">
                                      <p:cBhvr>
                                        <p:cTn id="25" dur="500"/>
                                        <p:tgtEl>
                                          <p:spTgt spid="45261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52622"/>
                                        </p:tgtEl>
                                        <p:attrNameLst>
                                          <p:attrName>style.visibility</p:attrName>
                                        </p:attrNameLst>
                                      </p:cBhvr>
                                      <p:to>
                                        <p:strVal val="visible"/>
                                      </p:to>
                                    </p:set>
                                    <p:animEffect transition="in" filter="blinds(horizontal)">
                                      <p:cBhvr>
                                        <p:cTn id="30" dur="500"/>
                                        <p:tgtEl>
                                          <p:spTgt spid="452622"/>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452616"/>
                                        </p:tgtEl>
                                        <p:attrNameLst>
                                          <p:attrName>style.visibility</p:attrName>
                                        </p:attrNameLst>
                                      </p:cBhvr>
                                      <p:to>
                                        <p:strVal val="visible"/>
                                      </p:to>
                                    </p:set>
                                    <p:animEffect transition="in" filter="wipe(up)">
                                      <p:cBhvr>
                                        <p:cTn id="34" dur="500"/>
                                        <p:tgtEl>
                                          <p:spTgt spid="452616"/>
                                        </p:tgtEl>
                                      </p:cBhvr>
                                    </p:animEffect>
                                  </p:childTnLst>
                                </p:cTn>
                              </p:par>
                            </p:childTnLst>
                          </p:cTn>
                        </p:par>
                        <p:par>
                          <p:cTn id="35" fill="hold">
                            <p:stCondLst>
                              <p:cond delay="1000"/>
                            </p:stCondLst>
                            <p:childTnLst>
                              <p:par>
                                <p:cTn id="36" presetID="22" presetClass="entr" presetSubtype="2" fill="hold" nodeType="afterEffect">
                                  <p:stCondLst>
                                    <p:cond delay="0"/>
                                  </p:stCondLst>
                                  <p:childTnLst>
                                    <p:set>
                                      <p:cBhvr>
                                        <p:cTn id="37" dur="1" fill="hold">
                                          <p:stCondLst>
                                            <p:cond delay="0"/>
                                          </p:stCondLst>
                                        </p:cTn>
                                        <p:tgtEl>
                                          <p:spTgt spid="452618"/>
                                        </p:tgtEl>
                                        <p:attrNameLst>
                                          <p:attrName>style.visibility</p:attrName>
                                        </p:attrNameLst>
                                      </p:cBhvr>
                                      <p:to>
                                        <p:strVal val="visible"/>
                                      </p:to>
                                    </p:set>
                                    <p:animEffect transition="in" filter="wipe(right)">
                                      <p:cBhvr>
                                        <p:cTn id="38" dur="500"/>
                                        <p:tgtEl>
                                          <p:spTgt spid="452618"/>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52629"/>
                                        </p:tgtEl>
                                        <p:attrNameLst>
                                          <p:attrName>style.visibility</p:attrName>
                                        </p:attrNameLst>
                                      </p:cBhvr>
                                      <p:to>
                                        <p:strVal val="visible"/>
                                      </p:to>
                                    </p:set>
                                    <p:animEffect transition="in" filter="blinds(horizontal)">
                                      <p:cBhvr>
                                        <p:cTn id="43" dur="500"/>
                                        <p:tgtEl>
                                          <p:spTgt spid="452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9" grpId="0" animBg="1"/>
      <p:bldP spid="452620" grpId="0" animBg="1"/>
      <p:bldP spid="452622" grpId="0" animBg="1"/>
      <p:bldP spid="452629" grpId="0" animBg="1"/>
      <p:bldP spid="45263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内容占位符 2"/>
          <p:cNvSpPr>
            <a:spLocks noGrp="1"/>
          </p:cNvSpPr>
          <p:nvPr>
            <p:ph type="body"/>
          </p:nvPr>
        </p:nvSpPr>
        <p:spPr>
          <a:xfrm>
            <a:off x="228600" y="762000"/>
            <a:ext cx="8382000" cy="4498975"/>
          </a:xfrm>
        </p:spPr>
        <p:txBody>
          <a:bodyPr vert="horz" wrap="square" lIns="91440" tIns="45720" rIns="91440" bIns="45720" anchor="t" anchorCtr="0"/>
          <a:p>
            <a:pPr eaLnBrk="1" hangingPunct="1"/>
            <a:r>
              <a:rPr lang="zh-CN" altLang="en-US" b="1" dirty="0">
                <a:solidFill>
                  <a:schemeClr val="folHlink"/>
                </a:solidFill>
              </a:rPr>
              <a:t>三种基本状态的思考</a:t>
            </a:r>
            <a:endParaRPr lang="zh-CN" altLang="en-US" b="1" dirty="0">
              <a:solidFill>
                <a:schemeClr val="folHlink"/>
              </a:solidFill>
            </a:endParaRPr>
          </a:p>
          <a:p>
            <a:pPr lvl="1" eaLnBrk="1" hangingPunct="1"/>
            <a:endParaRPr lang="zh-CN" altLang="en-US" b="1" dirty="0">
              <a:solidFill>
                <a:schemeClr val="folHlink"/>
              </a:solidFill>
            </a:endParaRPr>
          </a:p>
          <a:p>
            <a:pPr lvl="1" eaLnBrk="1" hangingPunct="1"/>
            <a:r>
              <a:rPr lang="zh-CN" altLang="en-US" b="1" dirty="0"/>
              <a:t>进程主动完成状态转换，还是被动完成？</a:t>
            </a:r>
            <a:endParaRPr lang="zh-CN" altLang="en-US" b="1" dirty="0"/>
          </a:p>
          <a:p>
            <a:pPr lvl="1" eaLnBrk="1" hangingPunct="1"/>
            <a:r>
              <a:rPr lang="zh-CN" altLang="en-US" b="1" dirty="0"/>
              <a:t>进程状态是否唯一？</a:t>
            </a:r>
            <a:endParaRPr lang="zh-CN" altLang="en-US" b="1" dirty="0"/>
          </a:p>
          <a:p>
            <a:pPr lvl="1" eaLnBrk="1" hangingPunct="1"/>
            <a:r>
              <a:rPr lang="zh-CN" altLang="en-US" b="1" dirty="0"/>
              <a:t>时间片用完是否是进程由执行变为就绪的唯一原因？</a:t>
            </a:r>
            <a:endParaRPr lang="zh-CN" altLang="en-US" b="1" dirty="0"/>
          </a:p>
          <a:p>
            <a:pPr lvl="1" eaLnBrk="1" hangingPunct="1"/>
            <a:r>
              <a:rPr lang="zh-CN" altLang="en-US" b="1" dirty="0"/>
              <a:t>在单处理机系统中，是否可以有多个进程同时处于执行状态？</a:t>
            </a:r>
            <a:endParaRPr lang="zh-CN" altLang="en-US" b="1" dirty="0"/>
          </a:p>
          <a:p>
            <a:pPr lvl="1" eaLnBrk="1" hangingPunct="1"/>
            <a:r>
              <a:rPr lang="zh-CN" altLang="en-US" b="1" dirty="0"/>
              <a:t>在多处理机系统中，是否可以有多个进程同时处于执行状态？</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010">
                                            <p:txEl>
                                              <p:charRg st="0" end="10"/>
                                            </p:txEl>
                                          </p:spTgt>
                                        </p:tgtEl>
                                        <p:attrNameLst>
                                          <p:attrName>style.visibility</p:attrName>
                                        </p:attrNameLst>
                                      </p:cBhvr>
                                      <p:to>
                                        <p:strVal val="visible"/>
                                      </p:to>
                                    </p:set>
                                    <p:animEffect transition="in" filter="fade">
                                      <p:cBhvr>
                                        <p:cTn id="7" dur="2000"/>
                                        <p:tgtEl>
                                          <p:spTgt spid="43010">
                                            <p:txEl>
                                              <p:charRg st="0" end="1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010">
                                            <p:txEl>
                                              <p:charRg st="11" end="30"/>
                                            </p:txEl>
                                          </p:spTgt>
                                        </p:tgtEl>
                                        <p:attrNameLst>
                                          <p:attrName>style.visibility</p:attrName>
                                        </p:attrNameLst>
                                      </p:cBhvr>
                                      <p:to>
                                        <p:strVal val="visible"/>
                                      </p:to>
                                    </p:set>
                                    <p:animEffect transition="in" filter="fade">
                                      <p:cBhvr>
                                        <p:cTn id="10" dur="2000"/>
                                        <p:tgtEl>
                                          <p:spTgt spid="43010">
                                            <p:txEl>
                                              <p:charRg st="11" end="3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010">
                                            <p:txEl>
                                              <p:charRg st="30" end="40"/>
                                            </p:txEl>
                                          </p:spTgt>
                                        </p:tgtEl>
                                        <p:attrNameLst>
                                          <p:attrName>style.visibility</p:attrName>
                                        </p:attrNameLst>
                                      </p:cBhvr>
                                      <p:to>
                                        <p:strVal val="visible"/>
                                      </p:to>
                                    </p:set>
                                    <p:animEffect transition="in" filter="fade">
                                      <p:cBhvr>
                                        <p:cTn id="13" dur="2000"/>
                                        <p:tgtEl>
                                          <p:spTgt spid="43010">
                                            <p:txEl>
                                              <p:charRg st="30" end="4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010">
                                            <p:txEl>
                                              <p:charRg st="40" end="64"/>
                                            </p:txEl>
                                          </p:spTgt>
                                        </p:tgtEl>
                                        <p:attrNameLst>
                                          <p:attrName>style.visibility</p:attrName>
                                        </p:attrNameLst>
                                      </p:cBhvr>
                                      <p:to>
                                        <p:strVal val="visible"/>
                                      </p:to>
                                    </p:set>
                                    <p:animEffect transition="in" filter="fade">
                                      <p:cBhvr>
                                        <p:cTn id="16" dur="2000"/>
                                        <p:tgtEl>
                                          <p:spTgt spid="43010">
                                            <p:txEl>
                                              <p:charRg st="40" end="6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010">
                                            <p:txEl>
                                              <p:charRg st="64" end="92"/>
                                            </p:txEl>
                                          </p:spTgt>
                                        </p:tgtEl>
                                        <p:attrNameLst>
                                          <p:attrName>style.visibility</p:attrName>
                                        </p:attrNameLst>
                                      </p:cBhvr>
                                      <p:to>
                                        <p:strVal val="visible"/>
                                      </p:to>
                                    </p:set>
                                    <p:animEffect transition="in" filter="fade">
                                      <p:cBhvr>
                                        <p:cTn id="19" dur="2000"/>
                                        <p:tgtEl>
                                          <p:spTgt spid="43010">
                                            <p:txEl>
                                              <p:charRg st="64" end="9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3010">
                                            <p:txEl>
                                              <p:charRg st="92" end="120"/>
                                            </p:txEl>
                                          </p:spTgt>
                                        </p:tgtEl>
                                        <p:attrNameLst>
                                          <p:attrName>style.visibility</p:attrName>
                                        </p:attrNameLst>
                                      </p:cBhvr>
                                      <p:to>
                                        <p:strVal val="visible"/>
                                      </p:to>
                                    </p:set>
                                    <p:animEffect transition="in" filter="fade">
                                      <p:cBhvr>
                                        <p:cTn id="22" dur="2000"/>
                                        <p:tgtEl>
                                          <p:spTgt spid="43010">
                                            <p:txEl>
                                              <p:charRg st="92" end="1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p:txBody>
          <a:bodyPr vert="horz" wrap="square" lIns="91440" tIns="45720" rIns="91440" bIns="45720" anchor="ctr" anchorCtr="0"/>
          <a:p>
            <a:r>
              <a:rPr lang="en-US" altLang="zh-CN" b="1" dirty="0"/>
              <a:t>3. </a:t>
            </a:r>
            <a:r>
              <a:rPr lang="zh-CN" altLang="en-US" b="1" dirty="0"/>
              <a:t>创建状态和终止状态</a:t>
            </a:r>
            <a:endParaRPr lang="zh-CN" altLang="en-US" b="1" dirty="0"/>
          </a:p>
        </p:txBody>
      </p:sp>
      <p:sp>
        <p:nvSpPr>
          <p:cNvPr id="27651" name="内容占位符 2"/>
          <p:cNvSpPr>
            <a:spLocks noGrp="1"/>
          </p:cNvSpPr>
          <p:nvPr>
            <p:ph idx="1"/>
          </p:nvPr>
        </p:nvSpPr>
        <p:spPr/>
        <p:txBody>
          <a:bodyPr vert="horz" wrap="square" lIns="91440" tIns="45720" rIns="91440" bIns="45720" anchor="t" anchorCtr="0"/>
          <a:p>
            <a:r>
              <a:rPr lang="en-US" altLang="zh-CN" b="1" dirty="0">
                <a:solidFill>
                  <a:srgbClr val="0066FF"/>
                </a:solidFill>
              </a:rPr>
              <a:t>1</a:t>
            </a:r>
            <a:r>
              <a:rPr lang="zh-CN" altLang="en-US" b="1" dirty="0">
                <a:solidFill>
                  <a:srgbClr val="0066FF"/>
                </a:solidFill>
              </a:rPr>
              <a:t>）创建状态</a:t>
            </a:r>
            <a:endParaRPr lang="en-US" altLang="zh-CN" b="1" dirty="0">
              <a:solidFill>
                <a:srgbClr val="0066FF"/>
              </a:solidFill>
            </a:endParaRPr>
          </a:p>
          <a:p>
            <a:pPr lvl="1"/>
            <a:r>
              <a:rPr lang="zh-CN" altLang="en-US" b="1" dirty="0"/>
              <a:t>如果进程所需资源尚不能得到满足，如无足够的内存空间，创建工作将无法完成，进程不能被调度，此时的进程状态为创建状态。</a:t>
            </a:r>
            <a:endParaRPr lang="en-US" altLang="zh-CN" b="1" dirty="0"/>
          </a:p>
          <a:p>
            <a:r>
              <a:rPr lang="en-US" altLang="zh-CN" b="1" dirty="0">
                <a:solidFill>
                  <a:srgbClr val="0066FF"/>
                </a:solidFill>
              </a:rPr>
              <a:t>2</a:t>
            </a:r>
            <a:r>
              <a:rPr lang="zh-CN" altLang="en-US" b="1" dirty="0">
                <a:solidFill>
                  <a:srgbClr val="0066FF"/>
                </a:solidFill>
              </a:rPr>
              <a:t>）终止状态</a:t>
            </a:r>
            <a:endParaRPr lang="en-US" altLang="zh-CN" b="1" dirty="0">
              <a:solidFill>
                <a:srgbClr val="0066FF"/>
              </a:solidFill>
            </a:endParaRPr>
          </a:p>
          <a:p>
            <a:pPr lvl="1"/>
            <a:r>
              <a:rPr lang="zh-CN" altLang="en-US" b="1" dirty="0"/>
              <a:t>一个进程到达了自然结束点，或者出现了无法克服的错误，或是被操作系统所终结，或是被其他有终止权的进程所终结，它将进入终止状态。</a:t>
            </a:r>
            <a:endParaRPr lang="zh-CN" altLang="en-US"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3"/>
          <p:cNvSpPr>
            <a:spLocks noGrp="1" noRot="1"/>
          </p:cNvSpPr>
          <p:nvPr>
            <p:ph type="body"/>
          </p:nvPr>
        </p:nvSpPr>
        <p:spPr>
          <a:xfrm>
            <a:off x="457200" y="2133600"/>
            <a:ext cx="8289925" cy="3108325"/>
          </a:xfrm>
        </p:spPr>
        <p:txBody>
          <a:bodyPr vert="horz" wrap="square" lIns="91440" tIns="45720" rIns="91440" bIns="45720" anchor="t" anchorCtr="0"/>
          <a:p>
            <a:pPr marL="0" indent="0" algn="just" eaLnBrk="1" hangingPunct="1">
              <a:lnSpc>
                <a:spcPct val="150000"/>
              </a:lnSpc>
            </a:pPr>
            <a:r>
              <a:rPr lang="zh-CN" altLang="en-US" sz="3600" b="1" dirty="0">
                <a:solidFill>
                  <a:srgbClr val="FF0000"/>
                </a:solidFill>
              </a:rPr>
              <a:t>挂起状态</a:t>
            </a:r>
            <a:endParaRPr lang="en-US" altLang="zh-CN" sz="3600" b="1" dirty="0">
              <a:solidFill>
                <a:srgbClr val="FF0000"/>
              </a:solidFill>
            </a:endParaRPr>
          </a:p>
          <a:p>
            <a:pPr marL="0" indent="0" algn="just" eaLnBrk="1" hangingPunct="1">
              <a:lnSpc>
                <a:spcPct val="150000"/>
              </a:lnSpc>
              <a:buNone/>
            </a:pPr>
            <a:r>
              <a:rPr lang="zh-CN" altLang="en-US" sz="3600" b="1" dirty="0"/>
              <a:t>使执行的进程暂停执行</a:t>
            </a:r>
            <a:r>
              <a:rPr lang="en-US" altLang="zh-CN" sz="3600" b="1" dirty="0"/>
              <a:t>,</a:t>
            </a:r>
            <a:r>
              <a:rPr lang="zh-CN" altLang="en-US" sz="3600" b="1" dirty="0"/>
              <a:t>静止下来</a:t>
            </a:r>
            <a:r>
              <a:rPr lang="en-US" altLang="zh-CN" sz="3600" b="1" dirty="0"/>
              <a:t>,</a:t>
            </a:r>
            <a:r>
              <a:rPr lang="zh-CN" altLang="en-US" sz="3600" b="1" dirty="0"/>
              <a:t>我们把这种静止状态称为挂起状态。</a:t>
            </a:r>
            <a:endParaRPr lang="zh-CN" altLang="en-US" sz="3600" b="1" dirty="0"/>
          </a:p>
          <a:p>
            <a:pPr marL="0" indent="0" algn="just" eaLnBrk="1" hangingPunct="1">
              <a:buNone/>
            </a:pPr>
            <a:endParaRPr lang="en-US" altLang="zh-CN" sz="3600" b="1" dirty="0"/>
          </a:p>
        </p:txBody>
      </p:sp>
      <p:sp>
        <p:nvSpPr>
          <p:cNvPr id="3" name="Rectangle 22"/>
          <p:cNvSpPr txBox="1">
            <a:spLocks noRot="1" noChangeArrowheads="1"/>
          </p:cNvSpPr>
          <p:nvPr/>
        </p:nvSpPr>
        <p:spPr bwMode="auto">
          <a:xfrm>
            <a:off x="301625" y="228600"/>
            <a:ext cx="8540750" cy="1143000"/>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2.2.3 </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挂起操作和进程状态的转换</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4">
                                            <p:txEl>
                                              <p:charRg st="0" end="5"/>
                                            </p:txEl>
                                          </p:spTgt>
                                        </p:tgtEl>
                                        <p:attrNameLst>
                                          <p:attrName>style.visibility</p:attrName>
                                        </p:attrNameLst>
                                      </p:cBhvr>
                                      <p:to>
                                        <p:strVal val="visible"/>
                                      </p:to>
                                    </p:set>
                                    <p:animEffect transition="in" filter="fade">
                                      <p:cBhvr>
                                        <p:cTn id="7" dur="2000"/>
                                        <p:tgtEl>
                                          <p:spTgt spid="44034">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034">
                                            <p:txEl>
                                              <p:charRg st="5" end="38"/>
                                            </p:txEl>
                                          </p:spTgt>
                                        </p:tgtEl>
                                        <p:attrNameLst>
                                          <p:attrName>style.visibility</p:attrName>
                                        </p:attrNameLst>
                                      </p:cBhvr>
                                      <p:to>
                                        <p:strVal val="visible"/>
                                      </p:to>
                                    </p:set>
                                    <p:animEffect transition="in" filter="fade">
                                      <p:cBhvr>
                                        <p:cTn id="12" dur="2000"/>
                                        <p:tgtEl>
                                          <p:spTgt spid="44034">
                                            <p:txEl>
                                              <p:charRg st="5" end="3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build="p"/>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0066FF"/>
                </a:solidFill>
                <a:effectLst>
                  <a:outerShdw blurRad="38100" dist="38100" dir="2700000" algn="tl">
                    <a:srgbClr val="C0C0C0"/>
                  </a:outerShdw>
                </a:effectLst>
                <a:uLnTx/>
                <a:uFillTx/>
                <a:latin typeface="+mj-lt"/>
                <a:ea typeface="+mj-ea"/>
                <a:cs typeface="+mj-cs"/>
              </a:rPr>
              <a:t>1</a:t>
            </a:r>
            <a:r>
              <a:rPr kumimoji="0" lang="zh-CN" altLang="en-US" sz="4400" b="1" i="0" u="none" strike="noStrike" kern="0" cap="none" spc="0" normalizeH="0" baseline="0" noProof="0" smtClean="0">
                <a:ln>
                  <a:noFill/>
                </a:ln>
                <a:solidFill>
                  <a:srgbClr val="0066FF"/>
                </a:solidFill>
                <a:effectLst>
                  <a:outerShdw blurRad="38100" dist="38100" dir="2700000" algn="tl">
                    <a:srgbClr val="C0C0C0"/>
                  </a:outerShdw>
                </a:effectLst>
                <a:uLnTx/>
                <a:uFillTx/>
                <a:latin typeface="+mj-lt"/>
                <a:ea typeface="+mj-ea"/>
                <a:cs typeface="+mj-cs"/>
              </a:rPr>
              <a:t>）引入挂起状态的原因</a:t>
            </a:r>
            <a:endParaRPr kumimoji="0" lang="zh-CN" altLang="en-US" sz="4400" b="1" i="0" u="none" strike="noStrike" kern="0" cap="none" spc="0" normalizeH="0" baseline="0" noProof="0" smtClean="0">
              <a:ln>
                <a:noFill/>
              </a:ln>
              <a:solidFill>
                <a:srgbClr val="0066FF"/>
              </a:solidFill>
              <a:effectLst>
                <a:outerShdw blurRad="38100" dist="38100" dir="2700000" algn="tl">
                  <a:srgbClr val="C0C0C0"/>
                </a:outerShdw>
              </a:effectLst>
              <a:uLnTx/>
              <a:uFillTx/>
              <a:latin typeface="+mj-lt"/>
              <a:ea typeface="+mj-ea"/>
              <a:cs typeface="+mj-cs"/>
            </a:endParaRPr>
          </a:p>
        </p:txBody>
      </p:sp>
      <p:sp>
        <p:nvSpPr>
          <p:cNvPr id="45059" name="Rectangle 3"/>
          <p:cNvSpPr>
            <a:spLocks noGrp="1" noRot="1"/>
          </p:cNvSpPr>
          <p:nvPr>
            <p:ph type="body"/>
          </p:nvPr>
        </p:nvSpPr>
        <p:spPr>
          <a:xfrm>
            <a:off x="152400" y="1600200"/>
            <a:ext cx="8540750" cy="4498975"/>
          </a:xfrm>
        </p:spPr>
        <p:txBody>
          <a:bodyPr vert="horz" wrap="square" lIns="91440" tIns="45720" rIns="91440" bIns="45720" anchor="t" anchorCtr="0"/>
          <a:p>
            <a:pPr algn="just" eaLnBrk="1" hangingPunct="1">
              <a:buNone/>
            </a:pPr>
            <a:r>
              <a:rPr lang="zh-CN" altLang="en-US" sz="2800" b="1" dirty="0"/>
              <a:t>（</a:t>
            </a:r>
            <a:r>
              <a:rPr lang="en-US" altLang="zh-CN" sz="2800" b="1" dirty="0"/>
              <a:t>1</a:t>
            </a:r>
            <a:r>
              <a:rPr lang="zh-CN" altLang="en-US" sz="2800" b="1" dirty="0"/>
              <a:t>）</a:t>
            </a:r>
            <a:r>
              <a:rPr lang="zh-CN" altLang="en-US" sz="2800" b="1" dirty="0">
                <a:solidFill>
                  <a:srgbClr val="FF0000"/>
                </a:solidFill>
              </a:rPr>
              <a:t>终端用户的请求</a:t>
            </a:r>
            <a:r>
              <a:rPr lang="zh-CN" altLang="en-US" sz="2800" b="1" dirty="0"/>
              <a:t>。（用户发现程序运行有问题，将其暂停）</a:t>
            </a:r>
            <a:endParaRPr lang="zh-CN" altLang="en-US" sz="2800" b="1" dirty="0"/>
          </a:p>
          <a:p>
            <a:pPr algn="just" eaLnBrk="1" hangingPunct="1">
              <a:buClrTx/>
              <a:buSzTx/>
              <a:buFontTx/>
              <a:buNone/>
            </a:pPr>
            <a:r>
              <a:rPr lang="zh-CN" altLang="en-US" sz="2800" b="1" dirty="0"/>
              <a:t>（</a:t>
            </a:r>
            <a:r>
              <a:rPr lang="en-US" altLang="zh-CN" sz="2800" b="1" dirty="0"/>
              <a:t>2</a:t>
            </a:r>
            <a:r>
              <a:rPr lang="zh-CN" altLang="en-US" sz="2800" b="1" dirty="0"/>
              <a:t>）</a:t>
            </a:r>
            <a:r>
              <a:rPr lang="zh-CN" altLang="en-US" sz="2800" b="1" dirty="0">
                <a:solidFill>
                  <a:srgbClr val="FF0000"/>
                </a:solidFill>
              </a:rPr>
              <a:t>父进程请求</a:t>
            </a:r>
            <a:r>
              <a:rPr lang="zh-CN" altLang="en-US" sz="2800" b="1" dirty="0"/>
              <a:t>。</a:t>
            </a:r>
            <a:r>
              <a:rPr lang="en-US" altLang="zh-CN" sz="2800" b="1" dirty="0"/>
              <a:t>(</a:t>
            </a:r>
            <a:r>
              <a:rPr lang="zh-CN" altLang="en-US" sz="2800" b="1" dirty="0"/>
              <a:t>挂起子进程，协调子进程的活动</a:t>
            </a:r>
            <a:r>
              <a:rPr lang="en-US" altLang="zh-CN" sz="2800" b="1" dirty="0"/>
              <a:t>)</a:t>
            </a:r>
            <a:r>
              <a:rPr lang="zh-CN" altLang="en-US" sz="2800" b="1" dirty="0"/>
              <a:t>   </a:t>
            </a:r>
            <a:endParaRPr lang="zh-CN" altLang="en-US" sz="2800" b="1" dirty="0"/>
          </a:p>
          <a:p>
            <a:pPr algn="just" eaLnBrk="1" hangingPunct="1">
              <a:buClrTx/>
              <a:buSzTx/>
              <a:buFontTx/>
              <a:buNone/>
            </a:pPr>
            <a:r>
              <a:rPr lang="zh-CN" altLang="en-US" sz="2800" b="1" dirty="0"/>
              <a:t>（</a:t>
            </a:r>
            <a:r>
              <a:rPr lang="en-US" altLang="zh-CN" sz="2800" b="1" dirty="0"/>
              <a:t>3</a:t>
            </a:r>
            <a:r>
              <a:rPr lang="zh-CN" altLang="en-US" sz="2800" b="1" dirty="0"/>
              <a:t>）</a:t>
            </a:r>
            <a:r>
              <a:rPr lang="zh-CN" altLang="en-US" sz="2800" b="1" dirty="0">
                <a:solidFill>
                  <a:srgbClr val="FF0000"/>
                </a:solidFill>
              </a:rPr>
              <a:t>负荷调节的需要</a:t>
            </a:r>
            <a:r>
              <a:rPr lang="zh-CN" altLang="en-US" sz="2800" b="1" dirty="0"/>
              <a:t>。当实时系统中的工作负荷较重，把一些不重要的进程挂起，以保证系统能正常运行。</a:t>
            </a:r>
            <a:endParaRPr lang="zh-CN" altLang="en-US" sz="2800" b="1" dirty="0"/>
          </a:p>
          <a:p>
            <a:pPr eaLnBrk="1" hangingPunct="1">
              <a:buClrTx/>
              <a:buSzTx/>
              <a:buFontTx/>
              <a:buNone/>
            </a:pPr>
            <a:r>
              <a:rPr lang="zh-CN" altLang="en-US" sz="2800" b="1" dirty="0"/>
              <a:t>（</a:t>
            </a:r>
            <a:r>
              <a:rPr lang="en-US" altLang="zh-CN" sz="2800" b="1" dirty="0"/>
              <a:t>4</a:t>
            </a:r>
            <a:r>
              <a:rPr lang="zh-CN" altLang="en-US" sz="2800" b="1" dirty="0"/>
              <a:t>）</a:t>
            </a:r>
            <a:r>
              <a:rPr lang="zh-CN" altLang="en-US" sz="2800" b="1" dirty="0">
                <a:solidFill>
                  <a:srgbClr val="FF0000"/>
                </a:solidFill>
              </a:rPr>
              <a:t>操作系统的需要</a:t>
            </a:r>
            <a:r>
              <a:rPr lang="zh-CN" altLang="en-US" sz="2800" b="1" dirty="0"/>
              <a:t>。操作系统有时希望挂起某些进程，以便检查运行中的资源使用情况或进行记账。 </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fade">
                                      <p:cBhvr>
                                        <p:cTn id="7" dur="2000"/>
                                        <p:tgtEl>
                                          <p:spTgt spid="2058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059">
                                            <p:txEl>
                                              <p:charRg st="0" end="30"/>
                                            </p:txEl>
                                          </p:spTgt>
                                        </p:tgtEl>
                                        <p:attrNameLst>
                                          <p:attrName>style.visibility</p:attrName>
                                        </p:attrNameLst>
                                      </p:cBhvr>
                                      <p:to>
                                        <p:strVal val="visible"/>
                                      </p:to>
                                    </p:set>
                                    <p:animEffect transition="in" filter="fade">
                                      <p:cBhvr>
                                        <p:cTn id="12" dur="2000"/>
                                        <p:tgtEl>
                                          <p:spTgt spid="45059">
                                            <p:txEl>
                                              <p:charRg st="0"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059">
                                            <p:txEl>
                                              <p:charRg st="30" end="59"/>
                                            </p:txEl>
                                          </p:spTgt>
                                        </p:tgtEl>
                                        <p:attrNameLst>
                                          <p:attrName>style.visibility</p:attrName>
                                        </p:attrNameLst>
                                      </p:cBhvr>
                                      <p:to>
                                        <p:strVal val="visible"/>
                                      </p:to>
                                    </p:set>
                                    <p:animEffect transition="in" filter="fade">
                                      <p:cBhvr>
                                        <p:cTn id="17" dur="2000"/>
                                        <p:tgtEl>
                                          <p:spTgt spid="45059">
                                            <p:txEl>
                                              <p:charRg st="30" end="5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059">
                                            <p:txEl>
                                              <p:charRg st="59" end="108"/>
                                            </p:txEl>
                                          </p:spTgt>
                                        </p:tgtEl>
                                        <p:attrNameLst>
                                          <p:attrName>style.visibility</p:attrName>
                                        </p:attrNameLst>
                                      </p:cBhvr>
                                      <p:to>
                                        <p:strVal val="visible"/>
                                      </p:to>
                                    </p:set>
                                    <p:animEffect transition="in" filter="fade">
                                      <p:cBhvr>
                                        <p:cTn id="22" dur="2000"/>
                                        <p:tgtEl>
                                          <p:spTgt spid="45059">
                                            <p:txEl>
                                              <p:charRg st="59" end="10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5059">
                                            <p:txEl>
                                              <p:charRg st="108" end="156"/>
                                            </p:txEl>
                                          </p:spTgt>
                                        </p:tgtEl>
                                        <p:attrNameLst>
                                          <p:attrName>style.visibility</p:attrName>
                                        </p:attrNameLst>
                                      </p:cBhvr>
                                      <p:to>
                                        <p:strVal val="visible"/>
                                      </p:to>
                                    </p:set>
                                    <p:animEffect transition="in" filter="fade">
                                      <p:cBhvr>
                                        <p:cTn id="27" dur="2000"/>
                                        <p:tgtEl>
                                          <p:spTgt spid="45059">
                                            <p:txEl>
                                              <p:charRg st="108" end="1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P spid="4505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345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2</a:t>
            </a: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）进程挂起状态的转换</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pic>
        <p:nvPicPr>
          <p:cNvPr id="46083" name="Picture 4" descr="3_8a"/>
          <p:cNvPicPr>
            <a:picLocks noChangeAspect="1"/>
          </p:cNvPicPr>
          <p:nvPr>
            <p:ph type="body"/>
          </p:nvPr>
        </p:nvPicPr>
        <p:blipFill>
          <a:blip r:embed="rId1"/>
          <a:srcRect/>
          <a:stretch>
            <a:fillRect/>
          </a:stretch>
        </p:blipFill>
        <p:spPr>
          <a:xfrm>
            <a:off x="542925" y="1679575"/>
            <a:ext cx="8067675" cy="3716338"/>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3458"/>
                                        </p:tgtEl>
                                        <p:attrNameLst>
                                          <p:attrName>style.visibility</p:attrName>
                                        </p:attrNameLst>
                                      </p:cBhvr>
                                      <p:to>
                                        <p:strVal val="visible"/>
                                      </p:to>
                                    </p:set>
                                    <p:animEffect transition="in" filter="fade">
                                      <p:cBhvr>
                                        <p:cTn id="7" dur="2000"/>
                                        <p:tgtEl>
                                          <p:spTgt spid="4034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083"/>
                                        </p:tgtEl>
                                        <p:attrNameLst>
                                          <p:attrName>style.visibility</p:attrName>
                                        </p:attrNameLst>
                                      </p:cBhvr>
                                      <p:to>
                                        <p:strVal val="visible"/>
                                      </p:to>
                                    </p:set>
                                    <p:animEffect transition="in" filter="fade">
                                      <p:cBhvr>
                                        <p:cTn id="12" dur="2000"/>
                                        <p:tgtEl>
                                          <p:spTgt spid="46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363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有挂起状态的进程转换</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pic>
        <p:nvPicPr>
          <p:cNvPr id="31747" name="Picture 4" descr="3_8b"/>
          <p:cNvPicPr>
            <a:picLocks noChangeAspect="1"/>
          </p:cNvPicPr>
          <p:nvPr/>
        </p:nvPicPr>
        <p:blipFill>
          <a:blip r:embed="rId1"/>
          <a:stretch>
            <a:fillRect/>
          </a:stretch>
        </p:blipFill>
        <p:spPr>
          <a:xfrm>
            <a:off x="685800" y="1600200"/>
            <a:ext cx="7620000" cy="49133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3634"/>
                                        </p:tgtEl>
                                        <p:attrNameLst>
                                          <p:attrName>style.visibility</p:attrName>
                                        </p:attrNameLst>
                                      </p:cBhvr>
                                      <p:to>
                                        <p:strVal val="visible"/>
                                      </p:to>
                                    </p:set>
                                    <p:animEffect transition="in" filter="fade">
                                      <p:cBhvr>
                                        <p:cTn id="7" dur="2000"/>
                                        <p:tgtEl>
                                          <p:spTgt spid="453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3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5"/>
          <p:cNvSpPr txBox="1"/>
          <p:nvPr/>
        </p:nvSpPr>
        <p:spPr>
          <a:xfrm>
            <a:off x="5562600" y="3276600"/>
            <a:ext cx="32004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p>
        </p:txBody>
      </p:sp>
      <p:sp>
        <p:nvSpPr>
          <p:cNvPr id="32771" name="Text Box 9"/>
          <p:cNvSpPr txBox="1"/>
          <p:nvPr/>
        </p:nvSpPr>
        <p:spPr>
          <a:xfrm>
            <a:off x="2700338" y="5805488"/>
            <a:ext cx="46291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图</a:t>
            </a:r>
            <a:r>
              <a:rPr lang="en-US" altLang="zh-CN" sz="2400" dirty="0">
                <a:latin typeface="Times New Roman" panose="02020603050405020304" pitchFamily="18" charset="0"/>
              </a:rPr>
              <a:t>2-6 </a:t>
            </a:r>
            <a:r>
              <a:rPr lang="zh-CN" altLang="en-US" sz="2400" dirty="0">
                <a:latin typeface="Times New Roman" panose="02020603050405020304" pitchFamily="18" charset="0"/>
              </a:rPr>
              <a:t>具有挂起状态的进程状态图</a:t>
            </a:r>
            <a:endParaRPr lang="zh-CN" altLang="en-US" sz="2400" dirty="0">
              <a:latin typeface="Times New Roman" panose="02020603050405020304" pitchFamily="18" charset="0"/>
            </a:endParaRPr>
          </a:p>
        </p:txBody>
      </p:sp>
      <p:graphicFrame>
        <p:nvGraphicFramePr>
          <p:cNvPr id="32772" name="Object 10"/>
          <p:cNvGraphicFramePr>
            <a:graphicFrameLocks noChangeAspect="1"/>
          </p:cNvGraphicFramePr>
          <p:nvPr/>
        </p:nvGraphicFramePr>
        <p:xfrm>
          <a:off x="1143000" y="228600"/>
          <a:ext cx="7010400" cy="5426075"/>
        </p:xfrm>
        <a:graphic>
          <a:graphicData uri="http://schemas.openxmlformats.org/presentationml/2006/ole">
            <mc:AlternateContent xmlns:mc="http://schemas.openxmlformats.org/markup-compatibility/2006">
              <mc:Choice xmlns:v="urn:schemas-microsoft-com:vml" Requires="v">
                <p:oleObj spid="_x0000_s3076" name="" r:id="rId1" imgW="2921000" imgH="2260600" progId="Visio.Drawing.11">
                  <p:embed/>
                </p:oleObj>
              </mc:Choice>
              <mc:Fallback>
                <p:oleObj name="" r:id="rId1" imgW="2921000" imgH="2260600" progId="Visio.Drawing.11">
                  <p:embed/>
                  <p:pic>
                    <p:nvPicPr>
                      <p:cNvPr id="0" name="图片 3075"/>
                      <p:cNvPicPr/>
                      <p:nvPr/>
                    </p:nvPicPr>
                    <p:blipFill>
                      <a:blip r:embed="rId2"/>
                      <a:stretch>
                        <a:fillRect/>
                      </a:stretch>
                    </p:blipFill>
                    <p:spPr>
                      <a:xfrm>
                        <a:off x="1143000" y="228600"/>
                        <a:ext cx="7010400" cy="5426075"/>
                      </a:xfrm>
                      <a:prstGeom prst="rect">
                        <a:avLst/>
                      </a:prstGeom>
                      <a:noFill/>
                      <a:ln w="38100">
                        <a:noFill/>
                        <a:miter/>
                      </a:ln>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内容占位符 2"/>
          <p:cNvSpPr>
            <a:spLocks noGrp="1"/>
          </p:cNvSpPr>
          <p:nvPr>
            <p:ph type="body"/>
          </p:nvPr>
        </p:nvSpPr>
        <p:spPr>
          <a:xfrm>
            <a:off x="304800" y="838200"/>
            <a:ext cx="8382000" cy="4498975"/>
          </a:xfrm>
        </p:spPr>
        <p:txBody>
          <a:bodyPr vert="horz" wrap="square" lIns="91440" tIns="45720" rIns="91440" bIns="45720" anchor="t" anchorCtr="0"/>
          <a:p>
            <a:pPr eaLnBrk="1" hangingPunct="1"/>
            <a:r>
              <a:rPr lang="zh-CN" altLang="en-US" sz="3600" b="1" dirty="0">
                <a:solidFill>
                  <a:schemeClr val="folHlink"/>
                </a:solidFill>
              </a:rPr>
              <a:t>挂起状态的思考</a:t>
            </a:r>
            <a:endParaRPr lang="zh-CN" altLang="en-US" sz="3600" b="1" dirty="0">
              <a:solidFill>
                <a:schemeClr val="folHlink"/>
              </a:solidFill>
            </a:endParaRPr>
          </a:p>
          <a:p>
            <a:pPr lvl="1" eaLnBrk="1" hangingPunct="1"/>
            <a:endParaRPr lang="zh-CN" altLang="en-US" sz="3200" b="1" dirty="0"/>
          </a:p>
          <a:p>
            <a:pPr lvl="1" eaLnBrk="1" hangingPunct="1"/>
            <a:r>
              <a:rPr lang="zh-CN" altLang="en-US" sz="3200" b="1" dirty="0"/>
              <a:t>就绪</a:t>
            </a:r>
            <a:r>
              <a:rPr lang="en-US" altLang="zh-CN" sz="3200" b="1" dirty="0"/>
              <a:t>/</a:t>
            </a:r>
            <a:r>
              <a:rPr lang="zh-CN" altLang="en-US" sz="3200" b="1" dirty="0"/>
              <a:t>挂起和就绪状态的区别？</a:t>
            </a:r>
            <a:endParaRPr lang="zh-CN" altLang="en-US" sz="3200" b="1" dirty="0"/>
          </a:p>
          <a:p>
            <a:pPr lvl="1" eaLnBrk="1" hangingPunct="1"/>
            <a:r>
              <a:rPr lang="zh-CN" altLang="en-US" sz="3200" b="1" dirty="0"/>
              <a:t>就绪</a:t>
            </a:r>
            <a:r>
              <a:rPr lang="en-US" altLang="zh-CN" sz="3200" b="1" dirty="0"/>
              <a:t>/</a:t>
            </a:r>
            <a:r>
              <a:rPr lang="zh-CN" altLang="en-US" sz="3200" b="1" dirty="0"/>
              <a:t>挂起状态是否可以直接进入执行状态</a:t>
            </a:r>
            <a:r>
              <a:rPr lang="en-US" altLang="zh-CN" sz="3200" b="1" dirty="0"/>
              <a:t>?</a:t>
            </a:r>
            <a:endParaRPr lang="en-US" altLang="zh-CN" sz="3200" b="1" dirty="0"/>
          </a:p>
          <a:p>
            <a:pPr lvl="1" eaLnBrk="1" hangingPunct="1"/>
            <a:r>
              <a:rPr lang="zh-CN" altLang="en-US" sz="3200" b="1" dirty="0"/>
              <a:t>挂起状态是否可以进入执行状态</a:t>
            </a:r>
            <a:r>
              <a:rPr lang="en-US" altLang="zh-CN" sz="3200" b="1" dirty="0"/>
              <a:t>?</a:t>
            </a:r>
            <a:endParaRPr lang="en-US" altLang="zh-CN" sz="3200" b="1" dirty="0"/>
          </a:p>
          <a:p>
            <a:pPr lvl="1" eaLnBrk="1" hangingPunct="1"/>
            <a:r>
              <a:rPr lang="zh-CN" altLang="en-US" sz="3200" b="1" dirty="0"/>
              <a:t>挂起进程是否可以自我激活？</a:t>
            </a:r>
            <a:endParaRPr lang="zh-CN" alt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130">
                                            <p:txEl>
                                              <p:charRg st="0" end="8"/>
                                            </p:txEl>
                                          </p:spTgt>
                                        </p:tgtEl>
                                        <p:attrNameLst>
                                          <p:attrName>style.visibility</p:attrName>
                                        </p:attrNameLst>
                                      </p:cBhvr>
                                      <p:to>
                                        <p:strVal val="visible"/>
                                      </p:to>
                                    </p:set>
                                    <p:animEffect transition="in" filter="fade">
                                      <p:cBhvr>
                                        <p:cTn id="7" dur="2000"/>
                                        <p:tgtEl>
                                          <p:spTgt spid="48130">
                                            <p:txEl>
                                              <p:charRg st="0" end="8"/>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8130">
                                            <p:txEl>
                                              <p:charRg st="9" end="24"/>
                                            </p:txEl>
                                          </p:spTgt>
                                        </p:tgtEl>
                                        <p:attrNameLst>
                                          <p:attrName>style.visibility</p:attrName>
                                        </p:attrNameLst>
                                      </p:cBhvr>
                                      <p:to>
                                        <p:strVal val="visible"/>
                                      </p:to>
                                    </p:set>
                                    <p:animEffect transition="in" filter="fade">
                                      <p:cBhvr>
                                        <p:cTn id="10" dur="2000"/>
                                        <p:tgtEl>
                                          <p:spTgt spid="48130">
                                            <p:txEl>
                                              <p:charRg st="9" end="24"/>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8130">
                                            <p:txEl>
                                              <p:charRg st="24" end="45"/>
                                            </p:txEl>
                                          </p:spTgt>
                                        </p:tgtEl>
                                        <p:attrNameLst>
                                          <p:attrName>style.visibility</p:attrName>
                                        </p:attrNameLst>
                                      </p:cBhvr>
                                      <p:to>
                                        <p:strVal val="visible"/>
                                      </p:to>
                                    </p:set>
                                    <p:animEffect transition="in" filter="fade">
                                      <p:cBhvr>
                                        <p:cTn id="13" dur="2000"/>
                                        <p:tgtEl>
                                          <p:spTgt spid="48130">
                                            <p:txEl>
                                              <p:charRg st="24" end="45"/>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8130">
                                            <p:txEl>
                                              <p:charRg st="45" end="61"/>
                                            </p:txEl>
                                          </p:spTgt>
                                        </p:tgtEl>
                                        <p:attrNameLst>
                                          <p:attrName>style.visibility</p:attrName>
                                        </p:attrNameLst>
                                      </p:cBhvr>
                                      <p:to>
                                        <p:strVal val="visible"/>
                                      </p:to>
                                    </p:set>
                                    <p:animEffect transition="in" filter="fade">
                                      <p:cBhvr>
                                        <p:cTn id="16" dur="2000"/>
                                        <p:tgtEl>
                                          <p:spTgt spid="48130">
                                            <p:txEl>
                                              <p:charRg st="45" end="6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8130">
                                            <p:txEl>
                                              <p:charRg st="61" end="75"/>
                                            </p:txEl>
                                          </p:spTgt>
                                        </p:tgtEl>
                                        <p:attrNameLst>
                                          <p:attrName>style.visibility</p:attrName>
                                        </p:attrNameLst>
                                      </p:cBhvr>
                                      <p:to>
                                        <p:strVal val="visible"/>
                                      </p:to>
                                    </p:set>
                                    <p:animEffect transition="in" filter="fade">
                                      <p:cBhvr>
                                        <p:cTn id="19" dur="2000"/>
                                        <p:tgtEl>
                                          <p:spTgt spid="48130">
                                            <p:txEl>
                                              <p:charRg st="61"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noRot="1"/>
          </p:cNvSpPr>
          <p:nvPr>
            <p:ph type="title"/>
          </p:nvPr>
        </p:nvSpPr>
        <p:spPr>
          <a:xfrm>
            <a:off x="457200" y="635000"/>
            <a:ext cx="7494588" cy="711200"/>
          </a:xfrm>
        </p:spPr>
        <p:txBody>
          <a:bodyPr vert="horz" wrap="square" lIns="91440" tIns="45720" rIns="91440" bIns="45720" anchor="ctr" anchorCtr="0"/>
          <a:p>
            <a:pPr eaLnBrk="1" hangingPunct="1"/>
            <a:r>
              <a:rPr lang="en-US" altLang="zh-CN" b="1" dirty="0"/>
              <a:t>2.2.4 </a:t>
            </a:r>
            <a:r>
              <a:rPr lang="zh-CN" altLang="en-US" b="1" dirty="0"/>
              <a:t>进程管理中的数据结构</a:t>
            </a:r>
            <a:endParaRPr lang="zh-CN" altLang="en-US" b="1" dirty="0"/>
          </a:p>
        </p:txBody>
      </p:sp>
      <p:sp>
        <p:nvSpPr>
          <p:cNvPr id="49155" name="Rectangle 3"/>
          <p:cNvSpPr>
            <a:spLocks noGrp="1" noRot="1"/>
          </p:cNvSpPr>
          <p:nvPr>
            <p:ph type="body"/>
          </p:nvPr>
        </p:nvSpPr>
        <p:spPr>
          <a:xfrm>
            <a:off x="269875" y="1676400"/>
            <a:ext cx="8645525" cy="4419600"/>
          </a:xfrm>
        </p:spPr>
        <p:txBody>
          <a:bodyPr vert="horz" wrap="square" lIns="91440" tIns="45720" rIns="91440" bIns="45720" anchor="t" anchorCtr="0"/>
          <a:p>
            <a:pPr marL="476250" indent="-476250" algn="just" defTabSz="914400" eaLnBrk="1" hangingPunct="1">
              <a:buNone/>
              <a:tabLst>
                <a:tab pos="476250" algn="l"/>
              </a:tabLst>
            </a:pPr>
            <a:r>
              <a:rPr lang="en-US" altLang="zh-CN" sz="3600" b="1" dirty="0">
                <a:solidFill>
                  <a:srgbClr val="FF0000"/>
                </a:solidFill>
              </a:rPr>
              <a:t>1.</a:t>
            </a:r>
            <a:r>
              <a:rPr lang="zh-CN" altLang="en-US" sz="3600" b="1" dirty="0">
                <a:solidFill>
                  <a:srgbClr val="FF0000"/>
                </a:solidFill>
              </a:rPr>
              <a:t>进程控制块的作用</a:t>
            </a:r>
            <a:endParaRPr lang="zh-CN" altLang="en-US" sz="3600" b="1" dirty="0">
              <a:solidFill>
                <a:srgbClr val="FF0000"/>
              </a:solidFill>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独立运行基本单位的标志。</a:t>
            </a:r>
            <a:endParaRPr lang="zh-CN" altLang="en-US" sz="2800" b="1" dirty="0">
              <a:latin typeface="楷体_GB2312" pitchFamily="49" charset="-122"/>
              <a:ea typeface="楷体_GB2312" pitchFamily="49" charset="-122"/>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能实现间断性运行方式。（保护</a:t>
            </a:r>
            <a:r>
              <a:rPr lang="en-US" altLang="zh-CN" sz="2800" b="1" dirty="0">
                <a:latin typeface="楷体_GB2312" pitchFamily="49" charset="-122"/>
                <a:ea typeface="楷体_GB2312" pitchFamily="49" charset="-122"/>
              </a:rPr>
              <a:t>CPU</a:t>
            </a:r>
            <a:r>
              <a:rPr lang="zh-CN" altLang="en-US" sz="2800" b="1" dirty="0">
                <a:latin typeface="楷体_GB2312" pitchFamily="49" charset="-122"/>
                <a:ea typeface="楷体_GB2312" pitchFamily="49" charset="-122"/>
              </a:rPr>
              <a:t>现场）</a:t>
            </a:r>
            <a:endParaRPr lang="zh-CN" altLang="en-US" sz="2800" b="1" dirty="0">
              <a:latin typeface="楷体_GB2312" pitchFamily="49" charset="-122"/>
              <a:ea typeface="楷体_GB2312" pitchFamily="49" charset="-122"/>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提供进程管理所需要的信息。（</a:t>
            </a:r>
            <a:r>
              <a:rPr lang="en-US" altLang="zh-CN" sz="2800" b="1" dirty="0">
                <a:latin typeface="楷体_GB2312" pitchFamily="49" charset="-122"/>
                <a:ea typeface="楷体_GB2312" pitchFamily="49" charset="-122"/>
              </a:rPr>
              <a:t>OS</a:t>
            </a:r>
            <a:r>
              <a:rPr lang="zh-CN" altLang="en-US" sz="2800" b="1" dirty="0">
                <a:latin typeface="楷体_GB2312" pitchFamily="49" charset="-122"/>
                <a:ea typeface="楷体_GB2312" pitchFamily="49" charset="-122"/>
              </a:rPr>
              <a:t>通过</a:t>
            </a:r>
            <a:r>
              <a:rPr lang="en-US" altLang="zh-CN" sz="2800" b="1" dirty="0">
                <a:latin typeface="楷体_GB2312" pitchFamily="49" charset="-122"/>
                <a:ea typeface="楷体_GB2312" pitchFamily="49" charset="-122"/>
              </a:rPr>
              <a:t>PCB</a:t>
            </a:r>
            <a:r>
              <a:rPr lang="zh-CN" altLang="en-US" sz="2800" b="1" dirty="0">
                <a:latin typeface="楷体_GB2312" pitchFamily="49" charset="-122"/>
                <a:ea typeface="楷体_GB2312" pitchFamily="49" charset="-122"/>
              </a:rPr>
              <a:t>对进程实施控制和管理。）</a:t>
            </a:r>
            <a:endParaRPr lang="en-US" altLang="zh-CN" sz="2800" b="1" dirty="0">
              <a:latin typeface="楷体_GB2312" pitchFamily="49" charset="-122"/>
              <a:ea typeface="楷体_GB2312" pitchFamily="49" charset="-122"/>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提供进程调度所需要的信息。（提供进程状态、优先级等信息）</a:t>
            </a:r>
            <a:endParaRPr lang="en-US" altLang="zh-CN" sz="2800" b="1" dirty="0">
              <a:latin typeface="楷体_GB2312" pitchFamily="49" charset="-122"/>
              <a:ea typeface="楷体_GB2312" pitchFamily="49" charset="-122"/>
            </a:endParaRPr>
          </a:p>
          <a:p>
            <a:pPr marL="476250" indent="-476250" defTabSz="914400" eaLnBrk="1" hangingPunct="1">
              <a:lnSpc>
                <a:spcPct val="110000"/>
              </a:lnSpc>
              <a:tabLst>
                <a:tab pos="476250" algn="l"/>
              </a:tabLst>
            </a:pPr>
            <a:r>
              <a:rPr lang="zh-CN" altLang="en-US" sz="2800" b="1" dirty="0">
                <a:latin typeface="楷体_GB2312" pitchFamily="49" charset="-122"/>
                <a:ea typeface="楷体_GB2312" pitchFamily="49" charset="-122"/>
              </a:rPr>
              <a:t>实现与其它进程的同步与通信。（消息队列指针，信号量等）</a:t>
            </a:r>
            <a:endParaRPr lang="zh-CN" altLang="en-US" sz="28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fade">
                                      <p:cBhvr>
                                        <p:cTn id="7" dur="2000"/>
                                        <p:tgtEl>
                                          <p:spTgt spid="491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9155">
                                            <p:txEl>
                                              <p:charRg st="0" end="11"/>
                                            </p:txEl>
                                          </p:spTgt>
                                        </p:tgtEl>
                                        <p:attrNameLst>
                                          <p:attrName>style.visibility</p:attrName>
                                        </p:attrNameLst>
                                      </p:cBhvr>
                                      <p:to>
                                        <p:strVal val="visible"/>
                                      </p:to>
                                    </p:set>
                                    <p:animEffect transition="in" filter="fade">
                                      <p:cBhvr>
                                        <p:cTn id="12" dur="2000"/>
                                        <p:tgtEl>
                                          <p:spTgt spid="49155">
                                            <p:txEl>
                                              <p:charRg st="0"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9155">
                                            <p:txEl>
                                              <p:charRg st="11" end="24"/>
                                            </p:txEl>
                                          </p:spTgt>
                                        </p:tgtEl>
                                        <p:attrNameLst>
                                          <p:attrName>style.visibility</p:attrName>
                                        </p:attrNameLst>
                                      </p:cBhvr>
                                      <p:to>
                                        <p:strVal val="visible"/>
                                      </p:to>
                                    </p:set>
                                    <p:animEffect transition="in" filter="fade">
                                      <p:cBhvr>
                                        <p:cTn id="17" dur="2000"/>
                                        <p:tgtEl>
                                          <p:spTgt spid="49155">
                                            <p:txEl>
                                              <p:charRg st="11" end="2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9155">
                                            <p:txEl>
                                              <p:charRg st="24" end="45"/>
                                            </p:txEl>
                                          </p:spTgt>
                                        </p:tgtEl>
                                        <p:attrNameLst>
                                          <p:attrName>style.visibility</p:attrName>
                                        </p:attrNameLst>
                                      </p:cBhvr>
                                      <p:to>
                                        <p:strVal val="visible"/>
                                      </p:to>
                                    </p:set>
                                    <p:animEffect transition="in" filter="fade">
                                      <p:cBhvr>
                                        <p:cTn id="22" dur="2000"/>
                                        <p:tgtEl>
                                          <p:spTgt spid="49155">
                                            <p:txEl>
                                              <p:charRg st="24" end="4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9155">
                                            <p:txEl>
                                              <p:charRg st="45" end="79"/>
                                            </p:txEl>
                                          </p:spTgt>
                                        </p:tgtEl>
                                        <p:attrNameLst>
                                          <p:attrName>style.visibility</p:attrName>
                                        </p:attrNameLst>
                                      </p:cBhvr>
                                      <p:to>
                                        <p:strVal val="visible"/>
                                      </p:to>
                                    </p:set>
                                    <p:animEffect transition="in" filter="fade">
                                      <p:cBhvr>
                                        <p:cTn id="27" dur="2000"/>
                                        <p:tgtEl>
                                          <p:spTgt spid="49155">
                                            <p:txEl>
                                              <p:charRg st="45" end="7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9155">
                                            <p:txEl>
                                              <p:charRg st="79" end="108"/>
                                            </p:txEl>
                                          </p:spTgt>
                                        </p:tgtEl>
                                        <p:attrNameLst>
                                          <p:attrName>style.visibility</p:attrName>
                                        </p:attrNameLst>
                                      </p:cBhvr>
                                      <p:to>
                                        <p:strVal val="visible"/>
                                      </p:to>
                                    </p:set>
                                    <p:animEffect transition="in" filter="fade">
                                      <p:cBhvr>
                                        <p:cTn id="32" dur="2000"/>
                                        <p:tgtEl>
                                          <p:spTgt spid="49155">
                                            <p:txEl>
                                              <p:charRg st="79" end="10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9155">
                                            <p:txEl>
                                              <p:charRg st="108" end="136"/>
                                            </p:txEl>
                                          </p:spTgt>
                                        </p:tgtEl>
                                        <p:attrNameLst>
                                          <p:attrName>style.visibility</p:attrName>
                                        </p:attrNameLst>
                                      </p:cBhvr>
                                      <p:to>
                                        <p:strVal val="visible"/>
                                      </p:to>
                                    </p:set>
                                    <p:animEffect transition="in" filter="fade">
                                      <p:cBhvr>
                                        <p:cTn id="37" dur="2000"/>
                                        <p:tgtEl>
                                          <p:spTgt spid="49155">
                                            <p:txEl>
                                              <p:charRg st="108"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3"/>
          <p:cNvSpPr>
            <a:spLocks noGrp="1" noRot="1"/>
          </p:cNvSpPr>
          <p:nvPr>
            <p:ph type="body"/>
          </p:nvPr>
        </p:nvSpPr>
        <p:spPr>
          <a:xfrm>
            <a:off x="301625" y="1749425"/>
            <a:ext cx="8540750" cy="4498975"/>
          </a:xfrm>
        </p:spPr>
        <p:txBody>
          <a:bodyPr vert="horz" wrap="square" lIns="91440" tIns="45720" rIns="91440" bIns="45720" anchor="t" anchorCtr="0"/>
          <a:p>
            <a:pPr eaLnBrk="1" hangingPunct="1"/>
            <a:r>
              <a:rPr lang="zh-CN" altLang="en-US" sz="3600" b="1" dirty="0">
                <a:solidFill>
                  <a:schemeClr val="folHlink"/>
                </a:solidFill>
              </a:rPr>
              <a:t>进程控制块的内容</a:t>
            </a:r>
            <a:endParaRPr lang="zh-CN" altLang="en-US" sz="3600" b="1" dirty="0">
              <a:solidFill>
                <a:schemeClr val="folHlink"/>
              </a:solidFill>
            </a:endParaRPr>
          </a:p>
          <a:p>
            <a:pPr lvl="1" eaLnBrk="1" hangingPunct="1"/>
            <a:r>
              <a:rPr lang="zh-CN" altLang="en-US" sz="3200" b="1" dirty="0">
                <a:solidFill>
                  <a:srgbClr val="FF0000"/>
                </a:solidFill>
              </a:rPr>
              <a:t>进程标识符信息</a:t>
            </a:r>
            <a:endParaRPr lang="zh-CN" altLang="en-US" sz="3200" b="1" dirty="0">
              <a:solidFill>
                <a:srgbClr val="FF0000"/>
              </a:solidFill>
            </a:endParaRPr>
          </a:p>
          <a:p>
            <a:pPr lvl="1" eaLnBrk="1" hangingPunct="1"/>
            <a:r>
              <a:rPr lang="zh-CN" altLang="en-US" sz="3200" b="1" dirty="0">
                <a:solidFill>
                  <a:srgbClr val="FF0000"/>
                </a:solidFill>
              </a:rPr>
              <a:t>处理器状态信息</a:t>
            </a:r>
            <a:endParaRPr lang="zh-CN" altLang="en-US" sz="3200" b="1" dirty="0">
              <a:solidFill>
                <a:srgbClr val="FF0000"/>
              </a:solidFill>
            </a:endParaRPr>
          </a:p>
          <a:p>
            <a:pPr lvl="1" eaLnBrk="1" hangingPunct="1"/>
            <a:r>
              <a:rPr lang="zh-CN" altLang="en-US" sz="3200" b="1" dirty="0">
                <a:solidFill>
                  <a:srgbClr val="FF0000"/>
                </a:solidFill>
              </a:rPr>
              <a:t>进程调度信息</a:t>
            </a:r>
            <a:endParaRPr lang="zh-CN" altLang="en-US" sz="3200" b="1" dirty="0">
              <a:solidFill>
                <a:srgbClr val="FF0000"/>
              </a:solidFill>
            </a:endParaRPr>
          </a:p>
          <a:p>
            <a:pPr lvl="1" eaLnBrk="1" hangingPunct="1"/>
            <a:r>
              <a:rPr lang="zh-CN" altLang="en-US" sz="3200" b="1" dirty="0">
                <a:solidFill>
                  <a:srgbClr val="FF0000"/>
                </a:solidFill>
              </a:rPr>
              <a:t>进程控制信息</a:t>
            </a:r>
            <a:endParaRPr lang="zh-CN" altLang="en-US" sz="3200" b="1" dirty="0">
              <a:solidFill>
                <a:srgbClr val="FF0000"/>
              </a:solidFill>
            </a:endParaRPr>
          </a:p>
        </p:txBody>
      </p:sp>
      <p:sp>
        <p:nvSpPr>
          <p:cNvPr id="51203" name="Rectangle 4"/>
          <p:cNvSpPr>
            <a:spLocks noGrp="1"/>
          </p:cNvSpPr>
          <p:nvPr>
            <p:ph type="title"/>
          </p:nvPr>
        </p:nvSpPr>
        <p:spPr/>
        <p:txBody>
          <a:bodyPr vert="horz" wrap="square" lIns="91440" tIns="45720" rIns="91440" bIns="45720" anchor="ctr" anchorCtr="0"/>
          <a:p>
            <a:pPr eaLnBrk="1" hangingPunct="1"/>
            <a:r>
              <a:rPr lang="en-US" altLang="zh-CN" b="1" dirty="0"/>
              <a:t>2.1.5 </a:t>
            </a:r>
            <a:r>
              <a:rPr lang="zh-CN" altLang="en-US" b="1" dirty="0"/>
              <a:t>进程控制块</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fade">
                                      <p:cBhvr>
                                        <p:cTn id="7" dur="2000"/>
                                        <p:tgtEl>
                                          <p:spTgt spid="512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02">
                                            <p:txEl>
                                              <p:charRg st="0" end="9"/>
                                            </p:txEl>
                                          </p:spTgt>
                                        </p:tgtEl>
                                        <p:attrNameLst>
                                          <p:attrName>style.visibility</p:attrName>
                                        </p:attrNameLst>
                                      </p:cBhvr>
                                      <p:to>
                                        <p:strVal val="visible"/>
                                      </p:to>
                                    </p:set>
                                    <p:animEffect transition="in" filter="fade">
                                      <p:cBhvr>
                                        <p:cTn id="12" dur="2000"/>
                                        <p:tgtEl>
                                          <p:spTgt spid="51202">
                                            <p:txEl>
                                              <p:charRg st="0" end="9"/>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1202">
                                            <p:txEl>
                                              <p:charRg st="9" end="17"/>
                                            </p:txEl>
                                          </p:spTgt>
                                        </p:tgtEl>
                                        <p:attrNameLst>
                                          <p:attrName>style.visibility</p:attrName>
                                        </p:attrNameLst>
                                      </p:cBhvr>
                                      <p:to>
                                        <p:strVal val="visible"/>
                                      </p:to>
                                    </p:set>
                                    <p:animEffect transition="in" filter="fade">
                                      <p:cBhvr>
                                        <p:cTn id="15" dur="2000"/>
                                        <p:tgtEl>
                                          <p:spTgt spid="51202">
                                            <p:txEl>
                                              <p:charRg st="9" end="1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1202">
                                            <p:txEl>
                                              <p:charRg st="17" end="25"/>
                                            </p:txEl>
                                          </p:spTgt>
                                        </p:tgtEl>
                                        <p:attrNameLst>
                                          <p:attrName>style.visibility</p:attrName>
                                        </p:attrNameLst>
                                      </p:cBhvr>
                                      <p:to>
                                        <p:strVal val="visible"/>
                                      </p:to>
                                    </p:set>
                                    <p:animEffect transition="in" filter="fade">
                                      <p:cBhvr>
                                        <p:cTn id="18" dur="2000"/>
                                        <p:tgtEl>
                                          <p:spTgt spid="51202">
                                            <p:txEl>
                                              <p:charRg st="17" end="2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1202">
                                            <p:txEl>
                                              <p:charRg st="25" end="32"/>
                                            </p:txEl>
                                          </p:spTgt>
                                        </p:tgtEl>
                                        <p:attrNameLst>
                                          <p:attrName>style.visibility</p:attrName>
                                        </p:attrNameLst>
                                      </p:cBhvr>
                                      <p:to>
                                        <p:strVal val="visible"/>
                                      </p:to>
                                    </p:set>
                                    <p:animEffect transition="in" filter="fade">
                                      <p:cBhvr>
                                        <p:cTn id="21" dur="2000"/>
                                        <p:tgtEl>
                                          <p:spTgt spid="51202">
                                            <p:txEl>
                                              <p:charRg st="25" end="3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1202">
                                            <p:txEl>
                                              <p:charRg st="32" end="39"/>
                                            </p:txEl>
                                          </p:spTgt>
                                        </p:tgtEl>
                                        <p:attrNameLst>
                                          <p:attrName>style.visibility</p:attrName>
                                        </p:attrNameLst>
                                      </p:cBhvr>
                                      <p:to>
                                        <p:strVal val="visible"/>
                                      </p:to>
                                    </p:set>
                                    <p:animEffect transition="in" filter="fade">
                                      <p:cBhvr>
                                        <p:cTn id="24" dur="2000"/>
                                        <p:tgtEl>
                                          <p:spTgt spid="51202">
                                            <p:txEl>
                                              <p:charRg st="32" end="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uild="p"/>
      <p:bldP spid="5120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2"/>
          <p:cNvSpPr>
            <a:spLocks noGrp="1" noRot="1" noChangeArrowheads="1"/>
          </p:cNvSpPr>
          <p:nvPr>
            <p:ph type="title"/>
          </p:nvPr>
        </p:nvSpPr>
        <p:spPr>
          <a:xfrm>
            <a:off x="301625" y="228600"/>
            <a:ext cx="8540750" cy="9064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2</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．进程控制块中的信息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2227" name="Rectangle 3"/>
          <p:cNvSpPr>
            <a:spLocks noGrp="1" noRot="1"/>
          </p:cNvSpPr>
          <p:nvPr>
            <p:ph type="body"/>
          </p:nvPr>
        </p:nvSpPr>
        <p:spPr>
          <a:xfrm>
            <a:off x="304800" y="1600200"/>
            <a:ext cx="8305800" cy="4419600"/>
          </a:xfrm>
        </p:spPr>
        <p:txBody>
          <a:bodyPr vert="horz" wrap="square" lIns="91440" tIns="45720" rIns="91440" bIns="45720" anchor="t" anchorCtr="0"/>
          <a:p>
            <a:pPr marL="193675" indent="-193675" algn="just" eaLnBrk="1" hangingPunct="1">
              <a:lnSpc>
                <a:spcPct val="90000"/>
              </a:lnSpc>
              <a:buNone/>
            </a:pPr>
            <a:r>
              <a:rPr lang="en-US" altLang="zh-CN" dirty="0">
                <a:solidFill>
                  <a:schemeClr val="folHlink"/>
                </a:solidFill>
              </a:rPr>
              <a:t> </a:t>
            </a:r>
            <a:r>
              <a:rPr lang="en-US" altLang="zh-CN" sz="4000" b="1" dirty="0">
                <a:solidFill>
                  <a:schemeClr val="folHlink"/>
                </a:solidFill>
                <a:latin typeface="楷体_GB2312" pitchFamily="49" charset="-122"/>
                <a:ea typeface="楷体_GB2312" pitchFamily="49" charset="-122"/>
              </a:rPr>
              <a:t>1</a:t>
            </a:r>
            <a:r>
              <a:rPr lang="zh-CN" altLang="en-US" sz="4000" b="1" dirty="0">
                <a:solidFill>
                  <a:schemeClr val="folHlink"/>
                </a:solidFill>
                <a:latin typeface="楷体_GB2312" pitchFamily="49" charset="-122"/>
                <a:ea typeface="楷体_GB2312" pitchFamily="49" charset="-122"/>
              </a:rPr>
              <a:t>）进程标识符</a:t>
            </a:r>
            <a:endParaRPr lang="zh-CN" altLang="en-US" sz="4000" b="1" dirty="0">
              <a:solidFill>
                <a:schemeClr val="folHlink"/>
              </a:solidFill>
              <a:latin typeface="楷体_GB2312" pitchFamily="49" charset="-122"/>
              <a:ea typeface="楷体_GB2312" pitchFamily="49" charset="-122"/>
            </a:endParaRPr>
          </a:p>
          <a:p>
            <a:pPr marL="193675" indent="-193675" algn="just" eaLnBrk="1" hangingPunct="1">
              <a:lnSpc>
                <a:spcPct val="90000"/>
              </a:lnSpc>
              <a:buNone/>
            </a:pPr>
            <a:r>
              <a:rPr lang="zh-CN" altLang="en-US" dirty="0">
                <a:latin typeface="楷体_GB2312" pitchFamily="49" charset="-122"/>
                <a:ea typeface="楷体_GB2312" pitchFamily="49" charset="-122"/>
              </a:rPr>
              <a:t> </a:t>
            </a:r>
            <a:r>
              <a:rPr lang="zh-CN" altLang="en-US" b="1" dirty="0">
                <a:latin typeface="楷体_GB2312" pitchFamily="49" charset="-122"/>
                <a:ea typeface="楷体_GB2312" pitchFamily="49" charset="-122"/>
              </a:rPr>
              <a:t>进程标识符用于惟一地标识一个进程。一个进程通常有两种标识符：</a:t>
            </a:r>
            <a:endParaRPr lang="zh-CN" altLang="en-US" b="1" dirty="0">
              <a:latin typeface="楷体_GB2312" pitchFamily="49" charset="-122"/>
              <a:ea typeface="楷体_GB2312" pitchFamily="49" charset="-122"/>
            </a:endParaRPr>
          </a:p>
          <a:p>
            <a:pPr marL="1428750" lvl="1" indent="-955675" algn="just" eaLnBrk="1" hangingPunct="1">
              <a:lnSpc>
                <a:spcPct val="90000"/>
              </a:lnSpc>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内部标识符。</a:t>
            </a:r>
            <a:r>
              <a:rPr lang="zh-CN" altLang="en-US" b="1" dirty="0">
                <a:latin typeface="楷体_GB2312" pitchFamily="49" charset="-122"/>
                <a:ea typeface="楷体_GB2312" pitchFamily="49" charset="-122"/>
              </a:rPr>
              <a:t>为每一个进程赋予一个惟一的数字标识符，通常是进程的序号</a:t>
            </a:r>
            <a:r>
              <a:rPr lang="en-US" altLang="zh-CN" b="1" dirty="0">
                <a:solidFill>
                  <a:srgbClr val="FF0000"/>
                </a:solidFill>
                <a:latin typeface="楷体_GB2312" pitchFamily="49" charset="-122"/>
                <a:ea typeface="楷体_GB2312" pitchFamily="49" charset="-122"/>
              </a:rPr>
              <a:t>(Pid)</a:t>
            </a:r>
            <a:r>
              <a:rPr lang="zh-CN" altLang="en-US" b="1" dirty="0">
                <a:latin typeface="楷体_GB2312" pitchFamily="49" charset="-122"/>
                <a:ea typeface="楷体_GB2312" pitchFamily="49" charset="-122"/>
              </a:rPr>
              <a:t>。设置内部标识符主要是为了方便操作系统使用。</a:t>
            </a:r>
            <a:endParaRPr lang="zh-CN" altLang="en-US" b="1" dirty="0">
              <a:latin typeface="楷体_GB2312" pitchFamily="49" charset="-122"/>
              <a:ea typeface="楷体_GB2312" pitchFamily="49" charset="-122"/>
            </a:endParaRPr>
          </a:p>
          <a:p>
            <a:pPr marL="1428750" lvl="1" indent="-955675" algn="just" eaLnBrk="1" hangingPunct="1">
              <a:lnSpc>
                <a:spcPct val="90000"/>
              </a:lnSpc>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外部标识符。</a:t>
            </a:r>
            <a:r>
              <a:rPr lang="zh-CN" altLang="en-US" b="1" dirty="0">
                <a:latin typeface="楷体_GB2312" pitchFamily="49" charset="-122"/>
                <a:ea typeface="楷体_GB2312" pitchFamily="49" charset="-122"/>
              </a:rPr>
              <a:t>它由创建者提供</a:t>
            </a:r>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进程的名字</a:t>
            </a:r>
            <a:r>
              <a:rPr lang="en-US" altLang="zh-CN" b="1" dirty="0">
                <a:solidFill>
                  <a:srgbClr val="FF0000"/>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，通常是由字母、数字组成，往往是由用户（进程）在访问该进程时使用。</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2994"/>
                                        </p:tgtEl>
                                        <p:attrNameLst>
                                          <p:attrName>style.visibility</p:attrName>
                                        </p:attrNameLst>
                                      </p:cBhvr>
                                      <p:to>
                                        <p:strVal val="visible"/>
                                      </p:to>
                                    </p:set>
                                    <p:animEffect transition="in" filter="fade">
                                      <p:cBhvr>
                                        <p:cTn id="7" dur="2000"/>
                                        <p:tgtEl>
                                          <p:spTgt spid="2129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227">
                                            <p:txEl>
                                              <p:charRg st="0" end="9"/>
                                            </p:txEl>
                                          </p:spTgt>
                                        </p:tgtEl>
                                        <p:attrNameLst>
                                          <p:attrName>style.visibility</p:attrName>
                                        </p:attrNameLst>
                                      </p:cBhvr>
                                      <p:to>
                                        <p:strVal val="visible"/>
                                      </p:to>
                                    </p:set>
                                    <p:animEffect transition="in" filter="fade">
                                      <p:cBhvr>
                                        <p:cTn id="12" dur="2000"/>
                                        <p:tgtEl>
                                          <p:spTgt spid="52227">
                                            <p:txEl>
                                              <p:charRg st="0"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2227">
                                            <p:txEl>
                                              <p:charRg st="9" end="41"/>
                                            </p:txEl>
                                          </p:spTgt>
                                        </p:tgtEl>
                                        <p:attrNameLst>
                                          <p:attrName>style.visibility</p:attrName>
                                        </p:attrNameLst>
                                      </p:cBhvr>
                                      <p:to>
                                        <p:strVal val="visible"/>
                                      </p:to>
                                    </p:set>
                                    <p:animEffect transition="in" filter="fade">
                                      <p:cBhvr>
                                        <p:cTn id="17" dur="2000"/>
                                        <p:tgtEl>
                                          <p:spTgt spid="52227">
                                            <p:txEl>
                                              <p:charRg st="9" end="4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2227">
                                            <p:txEl>
                                              <p:charRg st="41" end="105"/>
                                            </p:txEl>
                                          </p:spTgt>
                                        </p:tgtEl>
                                        <p:attrNameLst>
                                          <p:attrName>style.visibility</p:attrName>
                                        </p:attrNameLst>
                                      </p:cBhvr>
                                      <p:to>
                                        <p:strVal val="visible"/>
                                      </p:to>
                                    </p:set>
                                    <p:animEffect transition="in" filter="fade">
                                      <p:cBhvr>
                                        <p:cTn id="20" dur="2000"/>
                                        <p:tgtEl>
                                          <p:spTgt spid="52227">
                                            <p:txEl>
                                              <p:charRg st="41" end="10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2227">
                                            <p:txEl>
                                              <p:charRg st="105" end="162"/>
                                            </p:txEl>
                                          </p:spTgt>
                                        </p:tgtEl>
                                        <p:attrNameLst>
                                          <p:attrName>style.visibility</p:attrName>
                                        </p:attrNameLst>
                                      </p:cBhvr>
                                      <p:to>
                                        <p:strVal val="visible"/>
                                      </p:to>
                                    </p:set>
                                    <p:animEffect transition="in" filter="fade">
                                      <p:cBhvr>
                                        <p:cTn id="23" dur="2000"/>
                                        <p:tgtEl>
                                          <p:spTgt spid="52227">
                                            <p:txEl>
                                              <p:charRg st="105" end="1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p:bldP spid="5222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2"/>
          <p:cNvSpPr>
            <a:spLocks noGrp="1" noRot="1" noChangeArrowheads="1"/>
          </p:cNvSpPr>
          <p:nvPr>
            <p:ph type="title"/>
          </p:nvPr>
        </p:nvSpPr>
        <p:spPr>
          <a:xfrm>
            <a:off x="309563" y="482600"/>
            <a:ext cx="7424738" cy="69215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2</a:t>
            </a: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）处理机状态</a:t>
            </a:r>
            <a:endPar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53251" name="Rectangle 3"/>
          <p:cNvSpPr>
            <a:spLocks noGrp="1" noRot="1"/>
          </p:cNvSpPr>
          <p:nvPr>
            <p:ph type="body"/>
          </p:nvPr>
        </p:nvSpPr>
        <p:spPr>
          <a:xfrm>
            <a:off x="381000" y="1600200"/>
            <a:ext cx="8305800" cy="4306888"/>
          </a:xfrm>
        </p:spPr>
        <p:txBody>
          <a:bodyPr vert="horz" wrap="square" lIns="91440" tIns="45720" rIns="91440" bIns="45720" anchor="t" anchorCtr="0"/>
          <a:p>
            <a:pPr algn="just" eaLnBrk="1" hangingPunct="1">
              <a:lnSpc>
                <a:spcPct val="90000"/>
              </a:lnSpc>
            </a:pPr>
            <a:r>
              <a:rPr lang="zh-CN" altLang="en-US" b="1" dirty="0">
                <a:latin typeface="楷体_GB2312" pitchFamily="49" charset="-122"/>
                <a:ea typeface="楷体_GB2312" pitchFamily="49" charset="-122"/>
              </a:rPr>
              <a:t>处理机状态信息主要是由处理机的各种寄存器中的内容组成的。</a:t>
            </a:r>
            <a:endParaRPr lang="zh-CN" altLang="en-US" b="1" dirty="0">
              <a:latin typeface="楷体_GB2312" pitchFamily="49" charset="-122"/>
              <a:ea typeface="楷体_GB2312" pitchFamily="49" charset="-122"/>
            </a:endParaRP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通用寄存器，</a:t>
            </a:r>
            <a:r>
              <a:rPr lang="zh-CN" altLang="en-US" b="1" dirty="0">
                <a:latin typeface="楷体_GB2312" pitchFamily="49" charset="-122"/>
                <a:ea typeface="楷体_GB2312" pitchFamily="49" charset="-122"/>
              </a:rPr>
              <a:t>又称为用户可视寄存器。</a:t>
            </a:r>
            <a:endParaRPr lang="zh-CN" altLang="en-US" b="1" dirty="0">
              <a:latin typeface="楷体_GB2312" pitchFamily="49" charset="-122"/>
              <a:ea typeface="楷体_GB2312" pitchFamily="49" charset="-122"/>
            </a:endParaRP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指令计数器（</a:t>
            </a:r>
            <a:r>
              <a:rPr lang="en-US" altLang="zh-CN" b="1" dirty="0">
                <a:solidFill>
                  <a:srgbClr val="FF0000"/>
                </a:solidFill>
                <a:latin typeface="楷体_GB2312" pitchFamily="49" charset="-122"/>
                <a:ea typeface="楷体_GB2312" pitchFamily="49" charset="-122"/>
              </a:rPr>
              <a:t>PC</a:t>
            </a:r>
            <a:r>
              <a:rPr lang="zh-CN" altLang="en-US" b="1" dirty="0">
                <a:solidFill>
                  <a:srgbClr val="FF0000"/>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，其中存放了要访问的下一条指令的地址。</a:t>
            </a:r>
            <a:endParaRPr lang="zh-CN" altLang="en-US" b="1" dirty="0">
              <a:latin typeface="楷体_GB2312" pitchFamily="49" charset="-122"/>
              <a:ea typeface="楷体_GB2312" pitchFamily="49" charset="-122"/>
            </a:endParaRP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程序状态字</a:t>
            </a:r>
            <a:r>
              <a:rPr lang="en-US" altLang="zh-CN" b="1" dirty="0">
                <a:solidFill>
                  <a:srgbClr val="FF0000"/>
                </a:solidFill>
                <a:latin typeface="楷体_GB2312" pitchFamily="49" charset="-122"/>
                <a:ea typeface="楷体_GB2312" pitchFamily="49" charset="-122"/>
              </a:rPr>
              <a:t>PSW</a:t>
            </a:r>
            <a:r>
              <a:rPr lang="zh-CN" altLang="en-US" b="1" dirty="0">
                <a:latin typeface="楷体_GB2312" pitchFamily="49" charset="-122"/>
                <a:ea typeface="楷体_GB2312" pitchFamily="49" charset="-122"/>
              </a:rPr>
              <a:t>，其中含有状态信息，如条件码、执行方式、中断屏蔽标志等</a:t>
            </a:r>
            <a:endParaRPr lang="zh-CN" altLang="en-US" b="1" dirty="0">
              <a:latin typeface="楷体_GB2312" pitchFamily="49" charset="-122"/>
              <a:ea typeface="楷体_GB2312" pitchFamily="49" charset="-122"/>
            </a:endParaRPr>
          </a:p>
          <a:p>
            <a:pPr marL="939800" lvl="1" indent="-482600" algn="just" eaLnBrk="1" hangingPunct="1">
              <a:lnSpc>
                <a:spcPct val="90000"/>
              </a:lnSpc>
              <a:buClrTx/>
              <a:buFont typeface="Wingdings" panose="05000000000000000000" pitchFamily="2" charset="2"/>
              <a:buChar char="Ø"/>
            </a:pPr>
            <a:r>
              <a:rPr lang="zh-CN" altLang="en-US" b="1" dirty="0">
                <a:solidFill>
                  <a:srgbClr val="FF0000"/>
                </a:solidFill>
                <a:latin typeface="楷体_GB2312" pitchFamily="49" charset="-122"/>
                <a:ea typeface="楷体_GB2312" pitchFamily="49" charset="-122"/>
              </a:rPr>
              <a:t>用户栈指针</a:t>
            </a:r>
            <a:r>
              <a:rPr lang="en-US" altLang="zh-CN" b="1" dirty="0">
                <a:solidFill>
                  <a:srgbClr val="FF0000"/>
                </a:solidFill>
                <a:latin typeface="楷体_GB2312" pitchFamily="49" charset="-122"/>
                <a:ea typeface="楷体_GB2312" pitchFamily="49" charset="-122"/>
              </a:rPr>
              <a:t>(SP)</a:t>
            </a:r>
            <a:r>
              <a:rPr lang="zh-CN" altLang="en-US" b="1" dirty="0">
                <a:latin typeface="楷体_GB2312" pitchFamily="49" charset="-122"/>
                <a:ea typeface="楷体_GB2312" pitchFamily="49" charset="-122"/>
              </a:rPr>
              <a:t>，用于存放系统调用参数及调用地址。栈指针指向该栈的栈顶。</a:t>
            </a:r>
            <a:endParaRPr lang="zh-CN" altLang="en-US" dirty="0">
              <a:latin typeface="楷体_GB2312" pitchFamily="49" charset="-122"/>
              <a:ea typeface="楷体_GB2312" pitchFamily="49" charset="-122"/>
            </a:endParaRPr>
          </a:p>
        </p:txBody>
      </p:sp>
      <p:sp>
        <p:nvSpPr>
          <p:cNvPr id="214020" name="Text Box 4"/>
          <p:cNvSpPr txBox="1"/>
          <p:nvPr/>
        </p:nvSpPr>
        <p:spPr>
          <a:xfrm>
            <a:off x="304800" y="5867400"/>
            <a:ext cx="8458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0000"/>
                </a:solidFill>
              </a:rPr>
              <a:t>这些都是中断和进程切换时需要保护的内容！</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4018"/>
                                        </p:tgtEl>
                                        <p:attrNameLst>
                                          <p:attrName>style.visibility</p:attrName>
                                        </p:attrNameLst>
                                      </p:cBhvr>
                                      <p:to>
                                        <p:strVal val="visible"/>
                                      </p:to>
                                    </p:set>
                                    <p:animEffect transition="in" filter="fade">
                                      <p:cBhvr>
                                        <p:cTn id="7" dur="2000"/>
                                        <p:tgtEl>
                                          <p:spTgt spid="2140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251">
                                            <p:txEl>
                                              <p:charRg st="0" end="29"/>
                                            </p:txEl>
                                          </p:spTgt>
                                        </p:tgtEl>
                                        <p:attrNameLst>
                                          <p:attrName>style.visibility</p:attrName>
                                        </p:attrNameLst>
                                      </p:cBhvr>
                                      <p:to>
                                        <p:strVal val="visible"/>
                                      </p:to>
                                    </p:set>
                                    <p:animEffect transition="in" filter="fade">
                                      <p:cBhvr>
                                        <p:cTn id="12" dur="2000"/>
                                        <p:tgtEl>
                                          <p:spTgt spid="53251">
                                            <p:txEl>
                                              <p:charRg st="0" end="29"/>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3251">
                                            <p:txEl>
                                              <p:charRg st="29" end="47"/>
                                            </p:txEl>
                                          </p:spTgt>
                                        </p:tgtEl>
                                        <p:attrNameLst>
                                          <p:attrName>style.visibility</p:attrName>
                                        </p:attrNameLst>
                                      </p:cBhvr>
                                      <p:to>
                                        <p:strVal val="visible"/>
                                      </p:to>
                                    </p:set>
                                    <p:animEffect transition="in" filter="fade">
                                      <p:cBhvr>
                                        <p:cTn id="15" dur="2000"/>
                                        <p:tgtEl>
                                          <p:spTgt spid="53251">
                                            <p:txEl>
                                              <p:charRg st="29" end="4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3251">
                                            <p:txEl>
                                              <p:charRg st="47" end="76"/>
                                            </p:txEl>
                                          </p:spTgt>
                                        </p:tgtEl>
                                        <p:attrNameLst>
                                          <p:attrName>style.visibility</p:attrName>
                                        </p:attrNameLst>
                                      </p:cBhvr>
                                      <p:to>
                                        <p:strVal val="visible"/>
                                      </p:to>
                                    </p:set>
                                    <p:animEffect transition="in" filter="fade">
                                      <p:cBhvr>
                                        <p:cTn id="18" dur="2000"/>
                                        <p:tgtEl>
                                          <p:spTgt spid="53251">
                                            <p:txEl>
                                              <p:charRg st="47" end="76"/>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3251">
                                            <p:txEl>
                                              <p:charRg st="76" end="112"/>
                                            </p:txEl>
                                          </p:spTgt>
                                        </p:tgtEl>
                                        <p:attrNameLst>
                                          <p:attrName>style.visibility</p:attrName>
                                        </p:attrNameLst>
                                      </p:cBhvr>
                                      <p:to>
                                        <p:strVal val="visible"/>
                                      </p:to>
                                    </p:set>
                                    <p:animEffect transition="in" filter="fade">
                                      <p:cBhvr>
                                        <p:cTn id="21" dur="2000"/>
                                        <p:tgtEl>
                                          <p:spTgt spid="53251">
                                            <p:txEl>
                                              <p:charRg st="76" end="11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3251">
                                            <p:txEl>
                                              <p:charRg st="112" end="150"/>
                                            </p:txEl>
                                          </p:spTgt>
                                        </p:tgtEl>
                                        <p:attrNameLst>
                                          <p:attrName>style.visibility</p:attrName>
                                        </p:attrNameLst>
                                      </p:cBhvr>
                                      <p:to>
                                        <p:strVal val="visible"/>
                                      </p:to>
                                    </p:set>
                                    <p:animEffect transition="in" filter="fade">
                                      <p:cBhvr>
                                        <p:cTn id="24" dur="2000"/>
                                        <p:tgtEl>
                                          <p:spTgt spid="53251">
                                            <p:txEl>
                                              <p:charRg st="112" end="15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14020"/>
                                        </p:tgtEl>
                                        <p:attrNameLst>
                                          <p:attrName>style.visibility</p:attrName>
                                        </p:attrNameLst>
                                      </p:cBhvr>
                                      <p:to>
                                        <p:strVal val="visible"/>
                                      </p:to>
                                    </p:set>
                                    <p:anim calcmode="lin" valueType="num">
                                      <p:cBhvr additive="base">
                                        <p:cTn id="29" dur="500" fill="hold"/>
                                        <p:tgtEl>
                                          <p:spTgt spid="214020"/>
                                        </p:tgtEl>
                                        <p:attrNameLst>
                                          <p:attrName>ppt_x</p:attrName>
                                        </p:attrNameLst>
                                      </p:cBhvr>
                                      <p:tavLst>
                                        <p:tav tm="0">
                                          <p:val>
                                            <p:strVal val="#ppt_x"/>
                                          </p:val>
                                        </p:tav>
                                        <p:tav tm="100000">
                                          <p:val>
                                            <p:strVal val="#ppt_x"/>
                                          </p:val>
                                        </p:tav>
                                      </p:tavLst>
                                    </p:anim>
                                    <p:anim calcmode="lin" valueType="num">
                                      <p:cBhvr additive="base">
                                        <p:cTn id="30" dur="500" fill="hold"/>
                                        <p:tgtEl>
                                          <p:spTgt spid="2140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p:bldP spid="53251" grpId="0" build="p"/>
      <p:bldP spid="2140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2"/>
          <p:cNvSpPr>
            <a:spLocks noGrp="1" noRot="1" noChangeArrowheads="1"/>
          </p:cNvSpPr>
          <p:nvPr>
            <p:ph type="title"/>
          </p:nvPr>
        </p:nvSpPr>
        <p:spPr>
          <a:xfrm>
            <a:off x="381000" y="533400"/>
            <a:ext cx="8229600" cy="99695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rPr>
              <a:t>）进程调度信息</a:t>
            </a:r>
            <a:endParaRPr kumimoji="0" lang="zh-CN" altLang="en-US" sz="4400" b="1" i="0" u="none"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54275" name="Rectangle 3"/>
          <p:cNvSpPr>
            <a:spLocks noGrp="1" noRot="1"/>
          </p:cNvSpPr>
          <p:nvPr>
            <p:ph type="body"/>
          </p:nvPr>
        </p:nvSpPr>
        <p:spPr>
          <a:xfrm>
            <a:off x="301625" y="1603375"/>
            <a:ext cx="8459788" cy="4495800"/>
          </a:xfrm>
        </p:spPr>
        <p:txBody>
          <a:bodyPr vert="horz" wrap="square" lIns="91440" tIns="45720" rIns="91440" bIns="45720" anchor="t" anchorCtr="0"/>
          <a:p>
            <a:pPr eaLnBrk="1" hangingPunct="1"/>
            <a:r>
              <a:rPr lang="zh-CN" altLang="en-US" b="1" dirty="0">
                <a:latin typeface="仿宋_GB2312" pitchFamily="49" charset="-122"/>
                <a:ea typeface="仿宋_GB2312" pitchFamily="49" charset="-122"/>
              </a:rPr>
              <a:t>在</a:t>
            </a:r>
            <a:r>
              <a:rPr lang="en-US" altLang="zh-CN" b="1" dirty="0">
                <a:latin typeface="仿宋_GB2312" pitchFamily="49" charset="-122"/>
                <a:ea typeface="仿宋_GB2312" pitchFamily="49" charset="-122"/>
              </a:rPr>
              <a:t>PCB</a:t>
            </a:r>
            <a:r>
              <a:rPr lang="zh-CN" altLang="en-US" b="1" dirty="0">
                <a:latin typeface="仿宋_GB2312" pitchFamily="49" charset="-122"/>
                <a:ea typeface="仿宋_GB2312" pitchFamily="49" charset="-122"/>
              </a:rPr>
              <a:t>中还存放一些与进程调度和进程切换有关的信息。</a:t>
            </a:r>
            <a:endParaRPr lang="zh-CN" altLang="en-US" b="1" dirty="0">
              <a:latin typeface="仿宋_GB2312" pitchFamily="49" charset="-122"/>
              <a:ea typeface="仿宋_GB2312" pitchFamily="49" charset="-122"/>
            </a:endParaRPr>
          </a:p>
          <a:p>
            <a:pPr lvl="1" eaLnBrk="1" hangingPunct="1">
              <a:buClrTx/>
              <a:buFontTx/>
              <a:buNone/>
            </a:pPr>
            <a:r>
              <a:rPr lang="zh-CN" altLang="en-US" b="1" dirty="0">
                <a:solidFill>
                  <a:srgbClr val="FF0000"/>
                </a:solidFill>
                <a:latin typeface="楷体_GB2312" pitchFamily="49" charset="-122"/>
                <a:ea typeface="楷体_GB2312" pitchFamily="49" charset="-122"/>
              </a:rPr>
              <a:t>①进程状态。指明进程的当前状态。</a:t>
            </a:r>
            <a:endParaRPr lang="zh-CN" altLang="en-US" b="1" dirty="0">
              <a:solidFill>
                <a:srgbClr val="FF0000"/>
              </a:solidFill>
              <a:latin typeface="楷体_GB2312" pitchFamily="49" charset="-122"/>
              <a:ea typeface="楷体_GB2312" pitchFamily="49" charset="-122"/>
            </a:endParaRPr>
          </a:p>
          <a:p>
            <a:pPr lvl="1" eaLnBrk="1" hangingPunct="1">
              <a:buClrTx/>
              <a:buFontTx/>
              <a:buNone/>
            </a:pPr>
            <a:r>
              <a:rPr lang="zh-CN" altLang="en-US" b="1" dirty="0">
                <a:latin typeface="楷体_GB2312" pitchFamily="49" charset="-122"/>
                <a:ea typeface="楷体_GB2312" pitchFamily="49" charset="-122"/>
              </a:rPr>
              <a:t>在</a:t>
            </a:r>
            <a:r>
              <a:rPr lang="en-US" altLang="zh-CN" b="1" dirty="0">
                <a:latin typeface="楷体_GB2312" pitchFamily="49" charset="-122"/>
                <a:ea typeface="楷体_GB2312" pitchFamily="49" charset="-122"/>
              </a:rPr>
              <a:t>Linux</a:t>
            </a:r>
            <a:r>
              <a:rPr lang="zh-CN" altLang="en-US" b="1" dirty="0">
                <a:latin typeface="楷体_GB2312" pitchFamily="49" charset="-122"/>
                <a:ea typeface="楷体_GB2312" pitchFamily="49" charset="-122"/>
              </a:rPr>
              <a:t>操作系统中在</a:t>
            </a:r>
            <a:r>
              <a:rPr lang="en-US" altLang="zh-CN" b="1" dirty="0">
                <a:latin typeface="楷体_GB2312" pitchFamily="49" charset="-122"/>
                <a:ea typeface="楷体_GB2312" pitchFamily="49" charset="-122"/>
              </a:rPr>
              <a:t>sched.h</a:t>
            </a:r>
            <a:r>
              <a:rPr lang="zh-CN" altLang="en-US" b="1" dirty="0">
                <a:latin typeface="楷体_GB2312" pitchFamily="49" charset="-122"/>
                <a:ea typeface="楷体_GB2312" pitchFamily="49" charset="-122"/>
              </a:rPr>
              <a:t>中定义了进程的</a:t>
            </a:r>
            <a:r>
              <a:rPr lang="en-US" altLang="zh-CN" b="1" dirty="0">
                <a:latin typeface="楷体_GB2312" pitchFamily="49" charset="-122"/>
                <a:ea typeface="楷体_GB2312" pitchFamily="49" charset="-122"/>
              </a:rPr>
              <a:t>6</a:t>
            </a:r>
            <a:r>
              <a:rPr lang="zh-CN" altLang="en-US" b="1" dirty="0">
                <a:latin typeface="楷体_GB2312" pitchFamily="49" charset="-122"/>
                <a:ea typeface="楷体_GB2312" pitchFamily="49" charset="-122"/>
              </a:rPr>
              <a:t>个状态：</a:t>
            </a:r>
            <a:endParaRPr lang="en-US" altLang="zh-CN" b="1" dirty="0">
              <a:latin typeface="楷体_GB2312" pitchFamily="49" charset="-122"/>
              <a:ea typeface="楷体_GB2312" pitchFamily="49" charset="-122"/>
            </a:endParaRPr>
          </a:p>
          <a:p>
            <a:pPr lvl="1" eaLnBrk="1" hangingPunct="1">
              <a:buClrTx/>
              <a:buFontTx/>
              <a:buNone/>
            </a:pPr>
            <a:r>
              <a:rPr lang="en-US" altLang="zh-CN" sz="2400" b="1" dirty="0"/>
              <a:t>	</a:t>
            </a:r>
            <a:r>
              <a:rPr lang="zh-CN" altLang="en-US" sz="2400" b="1" dirty="0">
                <a:solidFill>
                  <a:srgbClr val="0066FF"/>
                </a:solidFill>
              </a:rPr>
              <a:t>可运行状态</a:t>
            </a:r>
            <a:r>
              <a:rPr lang="en-US" altLang="zh-CN" sz="2400" b="1" dirty="0">
                <a:solidFill>
                  <a:srgbClr val="0066FF"/>
                </a:solidFill>
              </a:rPr>
              <a:t>(TASK-RUNING);</a:t>
            </a:r>
            <a:br>
              <a:rPr lang="en-US" altLang="zh-CN" sz="2400" b="1" dirty="0">
                <a:solidFill>
                  <a:srgbClr val="0066FF"/>
                </a:solidFill>
              </a:rPr>
            </a:br>
            <a:r>
              <a:rPr lang="zh-CN" altLang="en-US" sz="2400" b="1" dirty="0">
                <a:solidFill>
                  <a:srgbClr val="0066FF"/>
                </a:solidFill>
              </a:rPr>
              <a:t>可中断阻塞状态</a:t>
            </a:r>
            <a:r>
              <a:rPr lang="en-US" altLang="zh-CN" sz="2400" b="1" dirty="0">
                <a:solidFill>
                  <a:srgbClr val="0066FF"/>
                </a:solidFill>
              </a:rPr>
              <a:t>(TASK-UBERRUPTIBLE)</a:t>
            </a:r>
            <a:br>
              <a:rPr lang="en-US" altLang="zh-CN" sz="2400" b="1" dirty="0">
                <a:solidFill>
                  <a:srgbClr val="0066FF"/>
                </a:solidFill>
              </a:rPr>
            </a:br>
            <a:r>
              <a:rPr lang="zh-CN" altLang="en-US" sz="2400" b="1" dirty="0">
                <a:solidFill>
                  <a:srgbClr val="0066FF"/>
                </a:solidFill>
              </a:rPr>
              <a:t>不可中断阻塞状态</a:t>
            </a:r>
            <a:r>
              <a:rPr lang="en-US" altLang="zh-CN" sz="2400" b="1" dirty="0">
                <a:solidFill>
                  <a:srgbClr val="0066FF"/>
                </a:solidFill>
              </a:rPr>
              <a:t>(TASK-UNINTERRUPTIBLE)</a:t>
            </a:r>
            <a:br>
              <a:rPr lang="en-US" altLang="zh-CN" sz="2400" b="1" dirty="0">
                <a:solidFill>
                  <a:srgbClr val="0066FF"/>
                </a:solidFill>
              </a:rPr>
            </a:br>
            <a:r>
              <a:rPr lang="zh-CN" altLang="en-US" sz="2400" b="1" dirty="0">
                <a:solidFill>
                  <a:srgbClr val="0066FF"/>
                </a:solidFill>
              </a:rPr>
              <a:t>僵死状态</a:t>
            </a:r>
            <a:r>
              <a:rPr lang="en-US" altLang="zh-CN" sz="2400" b="1" dirty="0">
                <a:solidFill>
                  <a:srgbClr val="0066FF"/>
                </a:solidFill>
              </a:rPr>
              <a:t>(TASK-ZOMBLE)</a:t>
            </a:r>
            <a:br>
              <a:rPr lang="en-US" altLang="zh-CN" sz="2400" b="1" dirty="0">
                <a:solidFill>
                  <a:srgbClr val="0066FF"/>
                </a:solidFill>
              </a:rPr>
            </a:br>
            <a:r>
              <a:rPr lang="zh-CN" altLang="en-US" sz="2400" b="1" dirty="0">
                <a:solidFill>
                  <a:srgbClr val="0066FF"/>
                </a:solidFill>
              </a:rPr>
              <a:t>暂停态</a:t>
            </a:r>
            <a:r>
              <a:rPr lang="en-US" altLang="zh-CN" sz="2400" b="1" dirty="0">
                <a:solidFill>
                  <a:srgbClr val="0066FF"/>
                </a:solidFill>
              </a:rPr>
              <a:t>(TASK_STOPPED)</a:t>
            </a:r>
            <a:br>
              <a:rPr lang="en-US" altLang="zh-CN" sz="2400" b="1" dirty="0">
                <a:solidFill>
                  <a:srgbClr val="0066FF"/>
                </a:solidFill>
              </a:rPr>
            </a:br>
            <a:r>
              <a:rPr lang="zh-CN" altLang="en-US" sz="2400" b="1" dirty="0">
                <a:solidFill>
                  <a:srgbClr val="0066FF"/>
                </a:solidFill>
              </a:rPr>
              <a:t>交换态</a:t>
            </a:r>
            <a:r>
              <a:rPr lang="en-US" altLang="zh-CN" sz="2400" b="1" dirty="0">
                <a:solidFill>
                  <a:srgbClr val="0066FF"/>
                </a:solidFill>
              </a:rPr>
              <a:t>(TASK_SWAPPING)</a:t>
            </a:r>
            <a:br>
              <a:rPr lang="en-US" altLang="zh-CN" dirty="0">
                <a:solidFill>
                  <a:srgbClr val="0066FF"/>
                </a:solidFill>
              </a:rPr>
            </a:br>
            <a:endParaRPr lang="zh-CN" altLang="en-US" b="1" dirty="0">
              <a:solidFill>
                <a:srgbClr val="0066FF"/>
              </a:solidFill>
              <a:latin typeface="楷体_GB2312" pitchFamily="49" charset="-122"/>
              <a:ea typeface="楷体_GB2312" pitchFamily="49" charset="-122"/>
            </a:endParaRPr>
          </a:p>
          <a:p>
            <a:pPr lvl="1" eaLnBrk="1" hangingPunct="1">
              <a:buClrTx/>
              <a:buFontTx/>
              <a:buNone/>
            </a:pPr>
            <a:endParaRPr lang="en-US" altLang="zh-CN"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5042"/>
                                        </p:tgtEl>
                                        <p:attrNameLst>
                                          <p:attrName>style.visibility</p:attrName>
                                        </p:attrNameLst>
                                      </p:cBhvr>
                                      <p:to>
                                        <p:strVal val="visible"/>
                                      </p:to>
                                    </p:set>
                                    <p:animEffect transition="in" filter="fade">
                                      <p:cBhvr>
                                        <p:cTn id="7" dur="2000"/>
                                        <p:tgtEl>
                                          <p:spTgt spid="2150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275">
                                            <p:txEl>
                                              <p:charRg st="0" end="27"/>
                                            </p:txEl>
                                          </p:spTgt>
                                        </p:tgtEl>
                                        <p:attrNameLst>
                                          <p:attrName>style.visibility</p:attrName>
                                        </p:attrNameLst>
                                      </p:cBhvr>
                                      <p:to>
                                        <p:strVal val="visible"/>
                                      </p:to>
                                    </p:set>
                                    <p:animEffect transition="in" filter="fade">
                                      <p:cBhvr>
                                        <p:cTn id="12" dur="2000"/>
                                        <p:tgtEl>
                                          <p:spTgt spid="54275">
                                            <p:txEl>
                                              <p:charRg st="0" end="27"/>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4275">
                                            <p:txEl>
                                              <p:charRg st="27" end="44"/>
                                            </p:txEl>
                                          </p:spTgt>
                                        </p:tgtEl>
                                        <p:attrNameLst>
                                          <p:attrName>style.visibility</p:attrName>
                                        </p:attrNameLst>
                                      </p:cBhvr>
                                      <p:to>
                                        <p:strVal val="visible"/>
                                      </p:to>
                                    </p:set>
                                    <p:animEffect transition="in" filter="fade">
                                      <p:cBhvr>
                                        <p:cTn id="15" dur="2000"/>
                                        <p:tgtEl>
                                          <p:spTgt spid="54275">
                                            <p:txEl>
                                              <p:charRg st="27" end="4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4275">
                                            <p:txEl>
                                              <p:charRg st="44" end="76"/>
                                            </p:txEl>
                                          </p:spTgt>
                                        </p:tgtEl>
                                        <p:attrNameLst>
                                          <p:attrName>style.visibility</p:attrName>
                                        </p:attrNameLst>
                                      </p:cBhvr>
                                      <p:to>
                                        <p:strVal val="visible"/>
                                      </p:to>
                                    </p:set>
                                    <p:animEffect transition="in" filter="fade">
                                      <p:cBhvr>
                                        <p:cTn id="18" dur="2000"/>
                                        <p:tgtEl>
                                          <p:spTgt spid="54275">
                                            <p:txEl>
                                              <p:charRg st="44" end="76"/>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4275">
                                            <p:txEl>
                                              <p:charRg st="76" end="211"/>
                                            </p:txEl>
                                          </p:spTgt>
                                        </p:tgtEl>
                                        <p:attrNameLst>
                                          <p:attrName>style.visibility</p:attrName>
                                        </p:attrNameLst>
                                      </p:cBhvr>
                                      <p:to>
                                        <p:strVal val="visible"/>
                                      </p:to>
                                    </p:set>
                                    <p:animEffect transition="in" filter="fade">
                                      <p:cBhvr>
                                        <p:cTn id="21" dur="2000"/>
                                        <p:tgtEl>
                                          <p:spTgt spid="54275">
                                            <p:txEl>
                                              <p:charRg st="76" end="2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p:bldP spid="5427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134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55299" name="Rectangle 3"/>
          <p:cNvSpPr>
            <a:spLocks noGrp="1" noRot="1"/>
          </p:cNvSpPr>
          <p:nvPr>
            <p:ph type="body"/>
          </p:nvPr>
        </p:nvSpPr>
        <p:spPr/>
        <p:txBody>
          <a:bodyPr vert="horz" wrap="square" lIns="91440" tIns="45720" rIns="91440" bIns="45720" anchor="t" anchorCtr="0"/>
          <a:p>
            <a:pPr lvl="1" eaLnBrk="1" hangingPunct="1">
              <a:buClrTx/>
              <a:buFontTx/>
              <a:buNone/>
            </a:pPr>
            <a:r>
              <a:rPr lang="en-US" altLang="zh-CN" sz="3200" b="1" dirty="0">
                <a:solidFill>
                  <a:srgbClr val="FF0000"/>
                </a:solidFill>
                <a:latin typeface="楷体_GB2312" pitchFamily="49" charset="-122"/>
                <a:ea typeface="楷体_GB2312" pitchFamily="49" charset="-122"/>
              </a:rPr>
              <a:t>②</a:t>
            </a:r>
            <a:r>
              <a:rPr lang="zh-CN" altLang="en-US" sz="3200" b="1" dirty="0">
                <a:solidFill>
                  <a:srgbClr val="FF0000"/>
                </a:solidFill>
                <a:latin typeface="楷体_GB2312" pitchFamily="49" charset="-122"/>
                <a:ea typeface="楷体_GB2312" pitchFamily="49" charset="-122"/>
              </a:rPr>
              <a:t>进程优先级。</a:t>
            </a:r>
            <a:endParaRPr lang="zh-CN" altLang="en-US" sz="3200" b="1" dirty="0">
              <a:solidFill>
                <a:srgbClr val="FF0000"/>
              </a:solidFill>
              <a:latin typeface="楷体_GB2312" pitchFamily="49" charset="-122"/>
              <a:ea typeface="楷体_GB2312" pitchFamily="49" charset="-122"/>
            </a:endParaRPr>
          </a:p>
          <a:p>
            <a:pPr lvl="1" eaLnBrk="1" hangingPunct="1">
              <a:buClrTx/>
              <a:buFontTx/>
              <a:buNone/>
            </a:pPr>
            <a:r>
              <a:rPr lang="zh-CN" altLang="en-US" sz="3200" b="1" dirty="0">
                <a:solidFill>
                  <a:srgbClr val="FF0000"/>
                </a:solidFill>
                <a:latin typeface="楷体_GB2312" pitchFamily="49" charset="-122"/>
                <a:ea typeface="楷体_GB2312" pitchFamily="49" charset="-122"/>
              </a:rPr>
              <a:t>③进程调度所需的其它信息。</a:t>
            </a:r>
            <a:r>
              <a:rPr lang="zh-CN" altLang="en-US" sz="3200" b="1" dirty="0">
                <a:latin typeface="楷体_GB2312" pitchFamily="49" charset="-122"/>
                <a:ea typeface="楷体_GB2312" pitchFamily="49" charset="-122"/>
              </a:rPr>
              <a:t>如：进程已等待</a:t>
            </a:r>
            <a:r>
              <a:rPr lang="en-US" altLang="zh-CN" sz="3200" b="1" dirty="0">
                <a:latin typeface="楷体_GB2312" pitchFamily="49" charset="-122"/>
                <a:ea typeface="楷体_GB2312" pitchFamily="49" charset="-122"/>
              </a:rPr>
              <a:t>CPU</a:t>
            </a:r>
            <a:r>
              <a:rPr lang="zh-CN" altLang="en-US" sz="3200" b="1" dirty="0">
                <a:latin typeface="楷体_GB2312" pitchFamily="49" charset="-122"/>
                <a:ea typeface="楷体_GB2312" pitchFamily="49" charset="-122"/>
              </a:rPr>
              <a:t>的时间总和、进程已执行的时间总和等；</a:t>
            </a:r>
            <a:endParaRPr lang="zh-CN" altLang="en-US" sz="3200" b="1" dirty="0">
              <a:latin typeface="楷体_GB2312" pitchFamily="49" charset="-122"/>
              <a:ea typeface="楷体_GB2312" pitchFamily="49" charset="-122"/>
            </a:endParaRPr>
          </a:p>
          <a:p>
            <a:pPr lvl="1" eaLnBrk="1" hangingPunct="1">
              <a:buClrTx/>
              <a:buFontTx/>
              <a:buNone/>
            </a:pPr>
            <a:r>
              <a:rPr lang="zh-CN" altLang="en-US" sz="3200" b="1" dirty="0">
                <a:solidFill>
                  <a:srgbClr val="FF0000"/>
                </a:solidFill>
                <a:latin typeface="楷体_GB2312" pitchFamily="49" charset="-122"/>
                <a:ea typeface="楷体_GB2312" pitchFamily="49" charset="-122"/>
              </a:rPr>
              <a:t>④事件。</a:t>
            </a:r>
            <a:r>
              <a:rPr lang="zh-CN" altLang="en-US" sz="3200" b="1" dirty="0">
                <a:latin typeface="楷体_GB2312" pitchFamily="49" charset="-122"/>
                <a:ea typeface="楷体_GB2312" pitchFamily="49" charset="-122"/>
              </a:rPr>
              <a:t>是指进程由执行状态转变为阻塞状态所等待发生的事件，即</a:t>
            </a:r>
            <a:r>
              <a:rPr lang="zh-CN" altLang="en-US" sz="3200" b="1" dirty="0">
                <a:solidFill>
                  <a:srgbClr val="FF0000"/>
                </a:solidFill>
                <a:latin typeface="楷体_GB2312" pitchFamily="49" charset="-122"/>
                <a:ea typeface="楷体_GB2312" pitchFamily="49" charset="-122"/>
              </a:rPr>
              <a:t>阻塞原因</a:t>
            </a:r>
            <a:r>
              <a:rPr lang="zh-CN" altLang="en-US" sz="3200" b="1" dirty="0">
                <a:latin typeface="楷体_GB2312" pitchFamily="49" charset="-122"/>
                <a:ea typeface="楷体_GB2312" pitchFamily="49" charset="-122"/>
              </a:rPr>
              <a:t>。</a:t>
            </a:r>
            <a:endParaRPr lang="zh-CN" altLang="en-US" sz="3200" dirty="0">
              <a:latin typeface="楷体_GB2312" pitchFamily="49" charset="-122"/>
              <a:ea typeface="楷体_GB2312" pitchFamily="49" charset="-122"/>
            </a:endParaRPr>
          </a:p>
          <a:p>
            <a:pPr eaLnBrk="1" hangingPunct="1">
              <a:buFont typeface="Wingdings 2" panose="05020102010507070707" pitchFamily="18" charset="2"/>
              <a:buChar char="¡"/>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441346"/>
                                        </p:tgtEl>
                                        <p:attrNameLst>
                                          <p:attrName>style.visibility</p:attrName>
                                        </p:attrNameLst>
                                      </p:cBhvr>
                                      <p:to>
                                        <p:strVal val="visible"/>
                                      </p:to>
                                    </p:set>
                                    <p:animEffect transition="in" filter="fade">
                                      <p:cBhvr>
                                        <p:cTn id="7" dur="2000"/>
                                        <p:tgtEl>
                                          <p:spTgt spid="4413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299">
                                            <p:txEl>
                                              <p:charRg st="0" end="8"/>
                                            </p:txEl>
                                          </p:spTgt>
                                        </p:tgtEl>
                                        <p:attrNameLst>
                                          <p:attrName>style.visibility</p:attrName>
                                        </p:attrNameLst>
                                      </p:cBhvr>
                                      <p:to>
                                        <p:strVal val="visible"/>
                                      </p:to>
                                    </p:set>
                                    <p:animEffect transition="in" filter="fade">
                                      <p:cBhvr>
                                        <p:cTn id="12" dur="2000"/>
                                        <p:tgtEl>
                                          <p:spTgt spid="55299">
                                            <p:txEl>
                                              <p:charRg st="0" end="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5299">
                                            <p:txEl>
                                              <p:charRg st="8" end="50"/>
                                            </p:txEl>
                                          </p:spTgt>
                                        </p:tgtEl>
                                        <p:attrNameLst>
                                          <p:attrName>style.visibility</p:attrName>
                                        </p:attrNameLst>
                                      </p:cBhvr>
                                      <p:to>
                                        <p:strVal val="visible"/>
                                      </p:to>
                                    </p:set>
                                    <p:animEffect transition="in" filter="fade">
                                      <p:cBhvr>
                                        <p:cTn id="15" dur="2000"/>
                                        <p:tgtEl>
                                          <p:spTgt spid="55299">
                                            <p:txEl>
                                              <p:charRg st="8" end="5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5299">
                                            <p:txEl>
                                              <p:charRg st="50" end="86"/>
                                            </p:txEl>
                                          </p:spTgt>
                                        </p:tgtEl>
                                        <p:attrNameLst>
                                          <p:attrName>style.visibility</p:attrName>
                                        </p:attrNameLst>
                                      </p:cBhvr>
                                      <p:to>
                                        <p:strVal val="visible"/>
                                      </p:to>
                                    </p:set>
                                    <p:animEffect transition="in" filter="fade">
                                      <p:cBhvr>
                                        <p:cTn id="18" dur="2000"/>
                                        <p:tgtEl>
                                          <p:spTgt spid="55299">
                                            <p:txEl>
                                              <p:charRg st="50"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6" grpId="0"/>
      <p:bldP spid="55299"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4</a:t>
            </a: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）进程控制信息</a:t>
            </a:r>
            <a:endPar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56323" name="Rectangle 3"/>
          <p:cNvSpPr>
            <a:spLocks noGrp="1" noRot="1"/>
          </p:cNvSpPr>
          <p:nvPr>
            <p:ph type="body"/>
          </p:nvPr>
        </p:nvSpPr>
        <p:spPr>
          <a:xfrm>
            <a:off x="301625" y="1752600"/>
            <a:ext cx="8502650" cy="4114800"/>
          </a:xfrm>
        </p:spPr>
        <p:txBody>
          <a:bodyPr vert="horz" wrap="square" lIns="91440" tIns="45720" rIns="91440" bIns="45720" anchor="t" anchorCtr="0"/>
          <a:p>
            <a:pPr eaLnBrk="1" hangingPunct="1">
              <a:buNone/>
            </a:pPr>
            <a:r>
              <a:rPr lang="en-US" altLang="zh-CN" sz="2800" b="1" dirty="0"/>
              <a:t>①</a:t>
            </a:r>
            <a:r>
              <a:rPr lang="zh-CN" altLang="en-US" sz="2800" b="1" dirty="0">
                <a:solidFill>
                  <a:srgbClr val="FF0000"/>
                </a:solidFill>
              </a:rPr>
              <a:t>程序和数据的地址</a:t>
            </a:r>
            <a:r>
              <a:rPr lang="zh-CN" altLang="en-US" sz="2800" b="1" dirty="0"/>
              <a:t>，是指进程的程序和数据所在的内存或外存地址。</a:t>
            </a:r>
            <a:endParaRPr lang="zh-CN" altLang="en-US" sz="2800" b="1" dirty="0"/>
          </a:p>
          <a:p>
            <a:pPr eaLnBrk="1" hangingPunct="1">
              <a:buClrTx/>
              <a:buSzTx/>
              <a:buFontTx/>
              <a:buNone/>
            </a:pPr>
            <a:r>
              <a:rPr lang="zh-CN" altLang="en-US" sz="2800" b="1" dirty="0"/>
              <a:t>②</a:t>
            </a:r>
            <a:r>
              <a:rPr lang="zh-CN" altLang="en-US" sz="2800" b="1" dirty="0">
                <a:solidFill>
                  <a:srgbClr val="FF0000"/>
                </a:solidFill>
              </a:rPr>
              <a:t>进程同步和通信机制</a:t>
            </a:r>
            <a:r>
              <a:rPr lang="zh-CN" altLang="en-US" sz="2800" b="1" dirty="0"/>
              <a:t>，指实现进程同步和通信时必需的机制，如消息队列指针、信号量等，他们可能全部或部分的放在</a:t>
            </a:r>
            <a:r>
              <a:rPr lang="en-US" altLang="zh-CN" sz="2800" b="1" dirty="0"/>
              <a:t>PCB</a:t>
            </a:r>
            <a:r>
              <a:rPr lang="zh-CN" altLang="en-US" sz="2800" b="1" dirty="0"/>
              <a:t>中。</a:t>
            </a:r>
            <a:endParaRPr lang="zh-CN" altLang="en-US" sz="2800" b="1" dirty="0"/>
          </a:p>
          <a:p>
            <a:pPr eaLnBrk="1" hangingPunct="1">
              <a:buClrTx/>
              <a:buSzTx/>
              <a:buFontTx/>
              <a:buNone/>
            </a:pPr>
            <a:r>
              <a:rPr lang="zh-CN" altLang="en-US" sz="2800" b="1" dirty="0"/>
              <a:t>③</a:t>
            </a:r>
            <a:r>
              <a:rPr lang="zh-CN" altLang="en-US" sz="2800" b="1" dirty="0">
                <a:solidFill>
                  <a:srgbClr val="FF0000"/>
                </a:solidFill>
              </a:rPr>
              <a:t>资源清单</a:t>
            </a:r>
            <a:r>
              <a:rPr lang="zh-CN" altLang="en-US" sz="2800" b="1" dirty="0"/>
              <a:t>。进程所需的全部资源及已经分配到该进程的资源的清单；</a:t>
            </a:r>
            <a:endParaRPr lang="zh-CN" altLang="en-US" sz="2800" b="1" dirty="0"/>
          </a:p>
          <a:p>
            <a:pPr eaLnBrk="1" hangingPunct="1">
              <a:buClrTx/>
              <a:buSzTx/>
              <a:buFontTx/>
              <a:buNone/>
            </a:pPr>
            <a:r>
              <a:rPr lang="zh-CN" altLang="en-US" sz="2800" b="1" dirty="0"/>
              <a:t>④</a:t>
            </a:r>
            <a:r>
              <a:rPr lang="zh-CN" altLang="en-US" sz="2800" b="1" dirty="0">
                <a:solidFill>
                  <a:srgbClr val="FF0000"/>
                </a:solidFill>
              </a:rPr>
              <a:t>链接指针</a:t>
            </a:r>
            <a:r>
              <a:rPr lang="zh-CN" altLang="en-US" sz="2800" b="1" dirty="0"/>
              <a:t>。本进程所在队列的下一个进程的</a:t>
            </a:r>
            <a:r>
              <a:rPr lang="en-US" altLang="zh-CN" sz="2800" b="1" dirty="0"/>
              <a:t>PCB</a:t>
            </a:r>
            <a:r>
              <a:rPr lang="zh-CN" altLang="en-US" sz="2800" b="1" dirty="0"/>
              <a:t>的首地址。 </a:t>
            </a:r>
            <a:endParaRPr lang="zh-CN" altLang="en-US" sz="2800" b="1" dirty="0"/>
          </a:p>
          <a:p>
            <a:pPr eaLnBrk="1" hangingPunct="1">
              <a:buClrTx/>
              <a:buSzTx/>
              <a:buFontTx/>
              <a:buNone/>
            </a:pPr>
            <a:endParaRPr lang="en-US" altLang="zh-CN"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fade">
                                      <p:cBhvr>
                                        <p:cTn id="7" dur="2000"/>
                                        <p:tgtEl>
                                          <p:spTgt spid="2160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323">
                                            <p:txEl>
                                              <p:charRg st="0" end="32"/>
                                            </p:txEl>
                                          </p:spTgt>
                                        </p:tgtEl>
                                        <p:attrNameLst>
                                          <p:attrName>style.visibility</p:attrName>
                                        </p:attrNameLst>
                                      </p:cBhvr>
                                      <p:to>
                                        <p:strVal val="visible"/>
                                      </p:to>
                                    </p:set>
                                    <p:animEffect transition="in" filter="fade">
                                      <p:cBhvr>
                                        <p:cTn id="12" dur="2000"/>
                                        <p:tgtEl>
                                          <p:spTgt spid="56323">
                                            <p:txEl>
                                              <p:charRg st="0" end="3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6323">
                                            <p:txEl>
                                              <p:charRg st="32" end="91"/>
                                            </p:txEl>
                                          </p:spTgt>
                                        </p:tgtEl>
                                        <p:attrNameLst>
                                          <p:attrName>style.visibility</p:attrName>
                                        </p:attrNameLst>
                                      </p:cBhvr>
                                      <p:to>
                                        <p:strVal val="visible"/>
                                      </p:to>
                                    </p:set>
                                    <p:animEffect transition="in" filter="fade">
                                      <p:cBhvr>
                                        <p:cTn id="17" dur="2000"/>
                                        <p:tgtEl>
                                          <p:spTgt spid="56323">
                                            <p:txEl>
                                              <p:charRg st="32" end="9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6323">
                                            <p:txEl>
                                              <p:charRg st="91" end="123"/>
                                            </p:txEl>
                                          </p:spTgt>
                                        </p:tgtEl>
                                        <p:attrNameLst>
                                          <p:attrName>style.visibility</p:attrName>
                                        </p:attrNameLst>
                                      </p:cBhvr>
                                      <p:to>
                                        <p:strVal val="visible"/>
                                      </p:to>
                                    </p:set>
                                    <p:animEffect transition="in" filter="fade">
                                      <p:cBhvr>
                                        <p:cTn id="22" dur="2000"/>
                                        <p:tgtEl>
                                          <p:spTgt spid="56323">
                                            <p:txEl>
                                              <p:charRg st="91" end="12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6323">
                                            <p:txEl>
                                              <p:charRg st="123" end="153"/>
                                            </p:txEl>
                                          </p:spTgt>
                                        </p:tgtEl>
                                        <p:attrNameLst>
                                          <p:attrName>style.visibility</p:attrName>
                                        </p:attrNameLst>
                                      </p:cBhvr>
                                      <p:to>
                                        <p:strVal val="visible"/>
                                      </p:to>
                                    </p:set>
                                    <p:animEffect transition="in" filter="fade">
                                      <p:cBhvr>
                                        <p:cTn id="27" dur="2000"/>
                                        <p:tgtEl>
                                          <p:spTgt spid="56323">
                                            <p:txEl>
                                              <p:charRg st="123" end="1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p:bldP spid="5632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xfrm>
            <a:off x="301625" y="304800"/>
            <a:ext cx="8540750" cy="1143000"/>
          </a:xfrm>
        </p:spPr>
        <p:txBody>
          <a:bodyPr vert="horz" wrap="square" lIns="91440" tIns="45720" rIns="91440" bIns="45720" anchor="ctr" anchorCtr="0"/>
          <a:p>
            <a:r>
              <a:rPr lang="en-US" altLang="zh-CN" b="1" dirty="0"/>
              <a:t>Linux</a:t>
            </a:r>
            <a:r>
              <a:rPr lang="zh-CN" altLang="en-US" b="1" dirty="0"/>
              <a:t>进程控制块</a:t>
            </a:r>
            <a:endParaRPr lang="zh-CN" altLang="en-US" b="1" dirty="0"/>
          </a:p>
        </p:txBody>
      </p:sp>
      <p:sp>
        <p:nvSpPr>
          <p:cNvPr id="41987" name="内容占位符 2"/>
          <p:cNvSpPr>
            <a:spLocks noGrp="1"/>
          </p:cNvSpPr>
          <p:nvPr>
            <p:ph idx="1"/>
          </p:nvPr>
        </p:nvSpPr>
        <p:spPr>
          <a:xfrm>
            <a:off x="454025" y="1600200"/>
            <a:ext cx="8232775" cy="4498975"/>
          </a:xfrm>
        </p:spPr>
        <p:txBody>
          <a:bodyPr vert="horz" wrap="square" lIns="91440" tIns="45720" rIns="91440" bIns="45720" anchor="t" anchorCtr="0"/>
          <a:p>
            <a:pPr>
              <a:lnSpc>
                <a:spcPct val="150000"/>
              </a:lnSpc>
            </a:pPr>
            <a:r>
              <a:rPr lang="en-US" altLang="zh-CN" dirty="0"/>
              <a:t>Linux</a:t>
            </a:r>
            <a:r>
              <a:rPr lang="zh-CN" altLang="en-US" dirty="0"/>
              <a:t>的进程控制块为一个由结构</a:t>
            </a:r>
            <a:r>
              <a:rPr lang="en-US" altLang="zh-CN" dirty="0"/>
              <a:t>task_struct</a:t>
            </a:r>
            <a:r>
              <a:rPr lang="zh-CN" altLang="en-US" dirty="0"/>
              <a:t>所定义的数据结构，</a:t>
            </a:r>
            <a:r>
              <a:rPr lang="en-US" altLang="zh-CN" dirty="0"/>
              <a:t>task_struct</a:t>
            </a:r>
            <a:r>
              <a:rPr lang="zh-CN" altLang="en-US" dirty="0"/>
              <a:t>存放在</a:t>
            </a:r>
            <a:r>
              <a:rPr lang="en-US" altLang="zh-CN" dirty="0"/>
              <a:t>/include/linux/sched.h</a:t>
            </a:r>
            <a:r>
              <a:rPr lang="zh-CN" altLang="en-US" dirty="0"/>
              <a:t>中。</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内容占位符 2"/>
          <p:cNvSpPr>
            <a:spLocks noGrp="1"/>
          </p:cNvSpPr>
          <p:nvPr>
            <p:ph idx="1"/>
          </p:nvPr>
        </p:nvSpPr>
        <p:spPr>
          <a:xfrm>
            <a:off x="301625" y="228600"/>
            <a:ext cx="8540750" cy="5870575"/>
          </a:xfrm>
        </p:spPr>
        <p:txBody>
          <a:bodyPr vert="horz" wrap="square" lIns="91440" tIns="45720" rIns="91440" bIns="45720" anchor="t" anchorCtr="0"/>
          <a:p>
            <a:r>
              <a:rPr lang="en-US" altLang="zh-CN" sz="2200" dirty="0"/>
              <a:t>struct task_struct{</a:t>
            </a:r>
            <a:br>
              <a:rPr lang="en-US" altLang="zh-CN" sz="2200" dirty="0"/>
            </a:br>
            <a:r>
              <a:rPr lang="en-US" altLang="zh-CN" sz="2200" dirty="0"/>
              <a:t>...</a:t>
            </a:r>
            <a:br>
              <a:rPr lang="en-US" altLang="zh-CN" sz="2200" dirty="0"/>
            </a:br>
            <a:r>
              <a:rPr lang="en-US" altLang="zh-CN" sz="2200" dirty="0">
                <a:solidFill>
                  <a:srgbClr val="FF0000"/>
                </a:solidFill>
              </a:rPr>
              <a:t>unsigned short uid;  </a:t>
            </a:r>
            <a:r>
              <a:rPr lang="en-US" altLang="zh-CN" sz="2200" dirty="0"/>
              <a:t>//</a:t>
            </a:r>
            <a:r>
              <a:rPr lang="zh-CN" altLang="en-US" sz="2200" dirty="0"/>
              <a:t>为用户标识</a:t>
            </a:r>
            <a:br>
              <a:rPr lang="en-US" altLang="zh-CN" sz="2200" dirty="0"/>
            </a:br>
            <a:r>
              <a:rPr lang="en-US" altLang="zh-CN" sz="2200" dirty="0">
                <a:solidFill>
                  <a:srgbClr val="FF0000"/>
                </a:solidFill>
              </a:rPr>
              <a:t>int pid;  </a:t>
            </a:r>
            <a:r>
              <a:rPr lang="en-US" altLang="zh-CN" sz="2200" dirty="0"/>
              <a:t>//</a:t>
            </a:r>
            <a:r>
              <a:rPr lang="zh-CN" altLang="en-US" sz="2200" dirty="0"/>
              <a:t>为进程标识</a:t>
            </a:r>
            <a:br>
              <a:rPr lang="en-US" altLang="zh-CN" sz="2200" dirty="0"/>
            </a:br>
            <a:r>
              <a:rPr lang="en-US" altLang="zh-CN" sz="2200" dirty="0">
                <a:solidFill>
                  <a:srgbClr val="FF0000"/>
                </a:solidFill>
              </a:rPr>
              <a:t>int processor;  </a:t>
            </a:r>
            <a:r>
              <a:rPr lang="en-US" altLang="zh-CN" sz="2200" dirty="0"/>
              <a:t>//</a:t>
            </a:r>
            <a:r>
              <a:rPr lang="zh-CN" altLang="en-US" sz="2200" dirty="0"/>
              <a:t>标识用户正在使用的</a:t>
            </a:r>
            <a:r>
              <a:rPr lang="en-US" altLang="zh-CN" sz="2200" dirty="0"/>
              <a:t>CPU,</a:t>
            </a:r>
            <a:r>
              <a:rPr lang="zh-CN" altLang="en-US" sz="2200" dirty="0"/>
              <a:t>以支持多处理机方式</a:t>
            </a:r>
            <a:br>
              <a:rPr lang="en-US" altLang="zh-CN" sz="2200" dirty="0"/>
            </a:br>
            <a:r>
              <a:rPr lang="en-US" altLang="zh-CN" sz="2200" dirty="0"/>
              <a:t>...</a:t>
            </a:r>
            <a:br>
              <a:rPr lang="en-US" altLang="zh-CN" sz="2200" dirty="0"/>
            </a:br>
            <a:r>
              <a:rPr lang="en-US" altLang="zh-CN" sz="2200" dirty="0">
                <a:solidFill>
                  <a:srgbClr val="FF0000"/>
                </a:solidFill>
              </a:rPr>
              <a:t>volatile long state; </a:t>
            </a:r>
            <a:r>
              <a:rPr lang="en-US" altLang="zh-CN" sz="2200" dirty="0"/>
              <a:t>//</a:t>
            </a:r>
            <a:r>
              <a:rPr lang="zh-CN" altLang="en-US" sz="2200" dirty="0"/>
              <a:t>进程的状态，有</a:t>
            </a:r>
            <a:r>
              <a:rPr lang="en-US" altLang="zh-CN" sz="2200" dirty="0"/>
              <a:t>6</a:t>
            </a:r>
            <a:r>
              <a:rPr lang="zh-CN" altLang="en-US" sz="2200" dirty="0"/>
              <a:t>种状态</a:t>
            </a:r>
            <a:br>
              <a:rPr lang="en-US" altLang="zh-CN" sz="2200" dirty="0"/>
            </a:br>
            <a:r>
              <a:rPr lang="en-US" altLang="zh-CN" sz="2200" dirty="0">
                <a:solidFill>
                  <a:srgbClr val="FF0000"/>
                </a:solidFill>
              </a:rPr>
              <a:t>long prority; </a:t>
            </a:r>
            <a:r>
              <a:rPr lang="en-US" altLang="zh-CN" sz="2200" dirty="0"/>
              <a:t>//</a:t>
            </a:r>
            <a:r>
              <a:rPr lang="zh-CN" altLang="en-US" sz="2200" dirty="0"/>
              <a:t>进程的优先级</a:t>
            </a:r>
            <a:br>
              <a:rPr lang="en-US" altLang="zh-CN" sz="2200" dirty="0"/>
            </a:br>
            <a:r>
              <a:rPr lang="en-US" altLang="zh-CN" sz="2200" dirty="0">
                <a:solidFill>
                  <a:srgbClr val="FF0000"/>
                </a:solidFill>
              </a:rPr>
              <a:t>unsighed long rt_prority; </a:t>
            </a:r>
            <a:r>
              <a:rPr lang="en-US" altLang="zh-CN" sz="2200" dirty="0"/>
              <a:t>//</a:t>
            </a:r>
            <a:r>
              <a:rPr lang="zh-CN" altLang="en-US" sz="2200" dirty="0"/>
              <a:t>表示实时进程的优先级，对于普通进程无效</a:t>
            </a:r>
            <a:br>
              <a:rPr lang="zh-CN" altLang="en-US" sz="2200" dirty="0"/>
            </a:br>
            <a:r>
              <a:rPr lang="en-US" altLang="zh-CN" sz="2200" dirty="0">
                <a:solidFill>
                  <a:srgbClr val="FF0000"/>
                </a:solidFill>
              </a:rPr>
              <a:t>long counter; </a:t>
            </a:r>
            <a:r>
              <a:rPr lang="en-US" altLang="zh-CN" sz="2200" dirty="0"/>
              <a:t>//</a:t>
            </a:r>
            <a:r>
              <a:rPr lang="zh-CN" altLang="en-US" sz="2200" dirty="0"/>
              <a:t>为进程动态优先级计数器，用于进程轮转调度算法</a:t>
            </a:r>
            <a:br>
              <a:rPr lang="en-US" altLang="zh-CN" sz="2200" dirty="0"/>
            </a:br>
            <a:r>
              <a:rPr lang="en-US" altLang="zh-CN" sz="2200" dirty="0">
                <a:solidFill>
                  <a:srgbClr val="FF0000"/>
                </a:solidFill>
              </a:rPr>
              <a:t>unsigned long flags;</a:t>
            </a:r>
            <a:br>
              <a:rPr lang="en-US" altLang="zh-CN" sz="2200" dirty="0"/>
            </a:br>
            <a:r>
              <a:rPr lang="en-US" altLang="zh-CN" sz="2200" dirty="0">
                <a:solidFill>
                  <a:srgbClr val="FF0000"/>
                </a:solidFill>
              </a:rPr>
              <a:t>unsigned long policy;  </a:t>
            </a:r>
            <a:r>
              <a:rPr lang="en-US" altLang="zh-CN" sz="2200" dirty="0"/>
              <a:t>//</a:t>
            </a:r>
            <a:r>
              <a:rPr lang="zh-CN" altLang="en-US" sz="2200" dirty="0"/>
              <a:t>表示进程调度策略，其值为下列三种情况之一：</a:t>
            </a:r>
            <a:br>
              <a:rPr lang="zh-CN" altLang="en-US" sz="2200" dirty="0"/>
            </a:br>
            <a:r>
              <a:rPr lang="en-US" altLang="zh-CN" sz="2200" b="1" dirty="0">
                <a:solidFill>
                  <a:srgbClr val="0070C0"/>
                </a:solidFill>
              </a:rPr>
              <a:t>SCHED_OTHER(</a:t>
            </a:r>
            <a:r>
              <a:rPr lang="zh-CN" altLang="en-US" sz="2200" b="1" dirty="0">
                <a:solidFill>
                  <a:srgbClr val="0070C0"/>
                </a:solidFill>
              </a:rPr>
              <a:t>值为</a:t>
            </a:r>
            <a:r>
              <a:rPr lang="en-US" altLang="zh-CN" sz="2200" b="1" dirty="0">
                <a:solidFill>
                  <a:srgbClr val="0070C0"/>
                </a:solidFill>
              </a:rPr>
              <a:t>0)</a:t>
            </a:r>
            <a:r>
              <a:rPr lang="zh-CN" altLang="en-US" sz="2200" b="1" dirty="0">
                <a:solidFill>
                  <a:srgbClr val="0070C0"/>
                </a:solidFill>
              </a:rPr>
              <a:t>对应普通进程，优先级轮转法</a:t>
            </a:r>
            <a:r>
              <a:rPr lang="en-US" altLang="zh-CN" sz="2200" b="1" dirty="0">
                <a:solidFill>
                  <a:srgbClr val="0070C0"/>
                </a:solidFill>
              </a:rPr>
              <a:t>(round robin)</a:t>
            </a:r>
            <a:br>
              <a:rPr lang="en-US" altLang="zh-CN" sz="2200" b="1" dirty="0">
                <a:solidFill>
                  <a:srgbClr val="0070C0"/>
                </a:solidFill>
              </a:rPr>
            </a:br>
            <a:r>
              <a:rPr lang="en-US" altLang="zh-CN" sz="2200" b="1" dirty="0">
                <a:solidFill>
                  <a:srgbClr val="0070C0"/>
                </a:solidFill>
              </a:rPr>
              <a:t>SCHED_FIFO(</a:t>
            </a:r>
            <a:r>
              <a:rPr lang="zh-CN" altLang="en-US" sz="2200" b="1" dirty="0">
                <a:solidFill>
                  <a:srgbClr val="0070C0"/>
                </a:solidFill>
              </a:rPr>
              <a:t>值为</a:t>
            </a:r>
            <a:r>
              <a:rPr lang="en-US" altLang="zh-CN" sz="2200" b="1" dirty="0">
                <a:solidFill>
                  <a:srgbClr val="0070C0"/>
                </a:solidFill>
              </a:rPr>
              <a:t>1)</a:t>
            </a:r>
            <a:r>
              <a:rPr lang="zh-CN" altLang="en-US" sz="2200" b="1" dirty="0">
                <a:solidFill>
                  <a:srgbClr val="0070C0"/>
                </a:solidFill>
              </a:rPr>
              <a:t>对应实时进程，先来先服务算法；</a:t>
            </a:r>
            <a:br>
              <a:rPr lang="zh-CN" altLang="en-US" sz="2200" b="1" dirty="0">
                <a:solidFill>
                  <a:srgbClr val="0070C0"/>
                </a:solidFill>
              </a:rPr>
            </a:br>
            <a:r>
              <a:rPr lang="en-US" altLang="zh-CN" sz="2200" b="1" dirty="0">
                <a:solidFill>
                  <a:srgbClr val="0070C0"/>
                </a:solidFill>
              </a:rPr>
              <a:t>SCHED_RR(</a:t>
            </a:r>
            <a:r>
              <a:rPr lang="zh-CN" altLang="en-US" sz="2200" b="1" dirty="0">
                <a:solidFill>
                  <a:srgbClr val="0070C0"/>
                </a:solidFill>
              </a:rPr>
              <a:t>值为</a:t>
            </a:r>
            <a:r>
              <a:rPr lang="en-US" altLang="zh-CN" sz="2200" b="1" dirty="0">
                <a:solidFill>
                  <a:srgbClr val="0070C0"/>
                </a:solidFill>
              </a:rPr>
              <a:t>2)</a:t>
            </a:r>
            <a:r>
              <a:rPr lang="zh-CN" altLang="en-US" sz="2200" b="1" dirty="0">
                <a:solidFill>
                  <a:srgbClr val="0070C0"/>
                </a:solidFill>
              </a:rPr>
              <a:t>对应实时进程，时间片轮转算法</a:t>
            </a:r>
            <a:br>
              <a:rPr lang="zh-CN" altLang="en-US" sz="2200" b="1" dirty="0">
                <a:solidFill>
                  <a:srgbClr val="0070C0"/>
                </a:solidFill>
              </a:rPr>
            </a:br>
            <a:br>
              <a:rPr lang="en-US" altLang="zh-CN" sz="2200" b="1" dirty="0">
                <a:solidFill>
                  <a:srgbClr val="0070C0"/>
                </a:solidFill>
              </a:rPr>
            </a:br>
            <a:r>
              <a:rPr lang="en-US" altLang="zh-CN" sz="2200" dirty="0"/>
              <a:t>...</a:t>
            </a:r>
            <a:br>
              <a:rPr lang="en-US" altLang="zh-CN" sz="2200" dirty="0"/>
            </a:br>
            <a:br>
              <a:rPr lang="en-US" altLang="zh-CN" sz="2200" dirty="0"/>
            </a:br>
            <a:endParaRPr lang="zh-CN" alt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内容占位符 2"/>
          <p:cNvSpPr>
            <a:spLocks noGrp="1"/>
          </p:cNvSpPr>
          <p:nvPr>
            <p:ph idx="1"/>
          </p:nvPr>
        </p:nvSpPr>
        <p:spPr>
          <a:xfrm>
            <a:off x="301625" y="990600"/>
            <a:ext cx="8540750" cy="5108575"/>
          </a:xfrm>
        </p:spPr>
        <p:txBody>
          <a:bodyPr vert="horz" wrap="square" lIns="91440" tIns="45720" rIns="91440" bIns="45720" anchor="t" anchorCtr="0"/>
          <a:p>
            <a:r>
              <a:rPr lang="en-US" altLang="zh-CN" sz="2800" dirty="0">
                <a:solidFill>
                  <a:srgbClr val="FF0000"/>
                </a:solidFill>
              </a:rPr>
              <a:t>Struct task_struct *next_task, *prev_task</a:t>
            </a:r>
            <a:r>
              <a:rPr lang="en-US" altLang="zh-CN" sz="2800" dirty="0"/>
              <a:t>;  //</a:t>
            </a:r>
            <a:r>
              <a:rPr lang="zh-CN" altLang="en-US" sz="2800" dirty="0"/>
              <a:t>为进程</a:t>
            </a:r>
            <a:r>
              <a:rPr lang="en-US" altLang="zh-CN" sz="2800" dirty="0"/>
              <a:t>PCB</a:t>
            </a:r>
            <a:r>
              <a:rPr lang="zh-CN" altLang="en-US" sz="2800" dirty="0"/>
              <a:t>双向链表的前后项指针</a:t>
            </a:r>
            <a:br>
              <a:rPr lang="en-US" altLang="zh-CN" sz="2800" dirty="0"/>
            </a:br>
            <a:r>
              <a:rPr lang="en-US" altLang="zh-CN" sz="2800" dirty="0">
                <a:solidFill>
                  <a:srgbClr val="FF0000"/>
                </a:solidFill>
              </a:rPr>
              <a:t>Struct task_struct *next_run,*prev_run</a:t>
            </a:r>
            <a:r>
              <a:rPr lang="en-US" altLang="zh-CN" sz="2800" dirty="0"/>
              <a:t>; //</a:t>
            </a:r>
            <a:r>
              <a:rPr lang="zh-CN" altLang="en-US" sz="2800" dirty="0"/>
              <a:t>为就绪队列双向链表的前后项指针</a:t>
            </a:r>
            <a:br>
              <a:rPr lang="zh-CN" altLang="en-US" sz="2800" dirty="0"/>
            </a:br>
            <a:r>
              <a:rPr lang="zh-CN" altLang="en-US" sz="2800" dirty="0"/>
              <a:t> </a:t>
            </a:r>
            <a:br>
              <a:rPr lang="en-US" altLang="zh-CN" sz="2800" dirty="0"/>
            </a:br>
            <a:r>
              <a:rPr lang="en-US" altLang="zh-CN" sz="2800" dirty="0">
                <a:solidFill>
                  <a:srgbClr val="FF0000"/>
                </a:solidFill>
              </a:rPr>
              <a:t>Struct task_struct *p_opptr,*p_pptr,*p_cptr,*pysptr,*p_ptr; </a:t>
            </a:r>
            <a:r>
              <a:rPr lang="en-US" altLang="zh-CN" sz="2800" dirty="0"/>
              <a:t> //</a:t>
            </a:r>
            <a:r>
              <a:rPr lang="zh-CN" altLang="en-US" sz="2800" dirty="0"/>
              <a:t>指明进程家族间的关系，分别为指向祖父进程、父进程、子进程以及新老进程的指针</a:t>
            </a:r>
            <a:endParaRPr lang="zh-CN" altLang="en-US" sz="2800" dirty="0"/>
          </a:p>
          <a:p>
            <a:pPr>
              <a:buNone/>
            </a:pPr>
            <a:r>
              <a:rPr lang="en-US" altLang="zh-CN" sz="2800" dirty="0"/>
              <a:t>      ...</a:t>
            </a:r>
            <a:br>
              <a:rPr lang="en-US" altLang="zh-CN" sz="2800" dirty="0"/>
            </a:br>
            <a:r>
              <a:rPr lang="en-US" altLang="zh-CN" sz="2800" dirty="0"/>
              <a:t>};</a:t>
            </a:r>
            <a:endParaRPr lang="zh-CN" alt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Text Box 2"/>
          <p:cNvSpPr txBox="1"/>
          <p:nvPr/>
        </p:nvSpPr>
        <p:spPr>
          <a:xfrm>
            <a:off x="228600" y="1016000"/>
            <a:ext cx="8763000" cy="5689600"/>
          </a:xfrm>
          <a:prstGeom prst="rect">
            <a:avLst/>
          </a:prstGeom>
          <a:solidFill>
            <a:srgbClr val="CCFFCC"/>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342900" lvl="0" indent="-342900" eaLnBrk="1" hangingPunct="1">
              <a:lnSpc>
                <a:spcPct val="90000"/>
              </a:lnSpc>
              <a:buClrTx/>
              <a:buSzTx/>
              <a:buFontTx/>
              <a:buNone/>
            </a:pPr>
            <a:r>
              <a:rPr lang="en-US" altLang="ko-KR" sz="1800" b="1" dirty="0">
                <a:latin typeface="Courier New" panose="02070309020205020404" pitchFamily="49" charset="0"/>
                <a:ea typeface="Gulim" pitchFamily="34" charset="-127"/>
              </a:rPr>
              <a:t>typedef struct os_tcb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dirty="0">
                <a:latin typeface="Times New Roman" panose="02020603050405020304" pitchFamily="18" charset="0"/>
              </a:rPr>
              <a:t> </a:t>
            </a:r>
            <a:r>
              <a:rPr lang="en-US" altLang="zh-CN" sz="1800" dirty="0">
                <a:latin typeface="Times New Roman" panose="02020603050405020304" pitchFamily="18" charset="0"/>
              </a:rPr>
              <a:t>       </a:t>
            </a:r>
            <a:r>
              <a:rPr lang="en-US" altLang="ko-KR" sz="1800" b="1" dirty="0">
                <a:solidFill>
                  <a:srgbClr val="FF0000"/>
                </a:solidFill>
                <a:latin typeface="Courier New" panose="02070309020205020404" pitchFamily="49" charset="0"/>
                <a:ea typeface="Gulim" pitchFamily="34" charset="-127"/>
              </a:rPr>
              <a:t>OS_STK  *OSTCBStkPtr; /* Pointer to current top of stack*/</a:t>
            </a:r>
            <a:endParaRPr lang="en-US" altLang="ko-KR" sz="18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#if OS_TASK_CREATE_EXT_EN &gt; 0</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void   </a:t>
            </a:r>
            <a:r>
              <a:rPr lang="en-US" altLang="zh-CN" sz="1800" b="1" dirty="0">
                <a:latin typeface="Courier New" panose="02070309020205020404" pitchFamily="49" charset="0"/>
                <a:ea typeface="Gulim" pitchFamily="34" charset="-127"/>
              </a:rPr>
              <a:t> </a:t>
            </a:r>
            <a:r>
              <a:rPr lang="en-US" altLang="ko-KR" sz="1800" b="1" dirty="0">
                <a:latin typeface="Courier New" panose="02070309020205020404" pitchFamily="49" charset="0"/>
                <a:ea typeface="Gulim" pitchFamily="34" charset="-127"/>
              </a:rPr>
              <a:t>*OSTCBExtPtr;</a:t>
            </a:r>
            <a:r>
              <a:rPr lang="en-US" altLang="zh-CN" sz="1800" b="1" dirty="0">
                <a:latin typeface="Courier New" panose="02070309020205020404" pitchFamily="49" charset="0"/>
                <a:ea typeface="Gulim" pitchFamily="34" charset="-127"/>
              </a:rPr>
              <a:t>    </a:t>
            </a:r>
            <a:r>
              <a:rPr lang="en-US" altLang="ko-KR" sz="1800" b="1" dirty="0">
                <a:latin typeface="Courier New" panose="02070309020205020404" pitchFamily="49" charset="0"/>
                <a:ea typeface="Gulim" pitchFamily="34" charset="-127"/>
              </a:rPr>
              <a:t>/* Pointer to user definable data for TCB extension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OS_STK  *OSTCBStkBottom; /* Pointer to bottom of stack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INT32U OSTCBStkSize;     /* Size of task stack (in number of stack elements)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INT16U OSTCBOpt; /* Task options as passed by OSTaskCreateExt() */</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solidFill>
                  <a:srgbClr val="FF0000"/>
                </a:solidFill>
                <a:latin typeface="Courier New" panose="02070309020205020404" pitchFamily="49" charset="0"/>
                <a:ea typeface="Gulim" pitchFamily="34" charset="-127"/>
              </a:rPr>
              <a:t>   INT16U OSTCBId;          /* Task ID (0..65535) */</a:t>
            </a:r>
            <a:endParaRPr lang="en-US" altLang="ko-KR" sz="18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#endif</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solidFill>
                  <a:srgbClr val="FF0000"/>
                </a:solidFill>
                <a:latin typeface="Courier New" panose="02070309020205020404" pitchFamily="49" charset="0"/>
                <a:ea typeface="Gulim" pitchFamily="34" charset="-127"/>
              </a:rPr>
              <a:t>   struct os_tcb *OSTCBNext;/* Pointer to next TCB in the TCB </a:t>
            </a:r>
            <a:r>
              <a:rPr lang="en-US" altLang="ko-KR" sz="1800" b="1" dirty="0">
                <a:latin typeface="Courier New" panose="02070309020205020404" pitchFamily="49" charset="0"/>
                <a:ea typeface="Gulim" pitchFamily="34" charset="-127"/>
              </a:rPr>
              <a:t>list</a:t>
            </a:r>
            <a:r>
              <a:rPr lang="en-US" altLang="zh-CN" sz="1800" b="1" dirty="0">
                <a:latin typeface="Courier New" panose="02070309020205020404" pitchFamily="49" charset="0"/>
                <a:ea typeface="Gulim" pitchFamily="34" charset="-127"/>
              </a:rPr>
              <a:t> </a:t>
            </a:r>
            <a:r>
              <a:rPr lang="en-US" altLang="ko-KR" sz="1800" b="1" dirty="0">
                <a:latin typeface="Courier New" panose="02070309020205020404" pitchFamily="49" charset="0"/>
                <a:ea typeface="Gulim" pitchFamily="34" charset="-127"/>
              </a:rPr>
              <a:t>*/</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r>
              <a:rPr lang="en-US" altLang="ko-KR" sz="1800" b="1" dirty="0">
                <a:latin typeface="Courier New" panose="02070309020205020404" pitchFamily="49" charset="0"/>
                <a:ea typeface="Gulim" pitchFamily="34" charset="-127"/>
              </a:rPr>
              <a:t>   </a:t>
            </a:r>
            <a:r>
              <a:rPr lang="en-US" altLang="ko-KR" sz="1800" b="1" dirty="0">
                <a:solidFill>
                  <a:srgbClr val="FF0000"/>
                </a:solidFill>
                <a:latin typeface="Courier New" panose="02070309020205020404" pitchFamily="49" charset="0"/>
                <a:ea typeface="Gulim" pitchFamily="34" charset="-127"/>
              </a:rPr>
              <a:t>struct os_tcb *OSTCBPrev;/* Pointer to previous TCB in the </a:t>
            </a:r>
            <a:r>
              <a:rPr lang="en-US" altLang="ko-KR" sz="1800" b="1" dirty="0">
                <a:latin typeface="Courier New" panose="02070309020205020404" pitchFamily="49" charset="0"/>
                <a:ea typeface="Gulim" pitchFamily="34" charset="-127"/>
              </a:rPr>
              <a:t>TCB list</a:t>
            </a:r>
            <a:r>
              <a:rPr lang="en-US" altLang="zh-CN" sz="1800" b="1" dirty="0">
                <a:latin typeface="Courier New" panose="02070309020205020404" pitchFamily="49" charset="0"/>
                <a:ea typeface="Gulim" pitchFamily="34" charset="-127"/>
              </a:rPr>
              <a:t>*</a:t>
            </a:r>
            <a:r>
              <a:rPr lang="en-US" altLang="ko-KR" sz="1800" b="1" dirty="0">
                <a:latin typeface="Courier New" panose="02070309020205020404" pitchFamily="49" charset="0"/>
                <a:ea typeface="Gulim" pitchFamily="34" charset="-127"/>
              </a:rPr>
              <a:t>/</a:t>
            </a:r>
            <a:endParaRPr lang="en-US" altLang="ko-KR" sz="1800" b="1" dirty="0">
              <a:latin typeface="Courier New" panose="02070309020205020404" pitchFamily="49" charset="0"/>
              <a:ea typeface="Gulim" pitchFamily="34" charset="-127"/>
            </a:endParaRPr>
          </a:p>
          <a:p>
            <a:pPr marL="342900" lvl="0" indent="-342900" eaLnBrk="1" hangingPunct="1">
              <a:buClrTx/>
              <a:buSzTx/>
              <a:buFontTx/>
              <a:buNone/>
            </a:pPr>
            <a:endParaRPr lang="en-US" altLang="ko-KR" sz="1800" b="1" dirty="0">
              <a:latin typeface="Courier New" panose="02070309020205020404" pitchFamily="49" charset="0"/>
              <a:ea typeface="Gulim" pitchFamily="34" charset="-127"/>
            </a:endParaRPr>
          </a:p>
        </p:txBody>
      </p:sp>
      <p:sp>
        <p:nvSpPr>
          <p:cNvPr id="172035" name="Rectangle 3"/>
          <p:cNvSpPr>
            <a:spLocks noChangeArrowheads="1"/>
          </p:cNvSpPr>
          <p:nvPr/>
        </p:nvSpPr>
        <p:spPr bwMode="auto">
          <a:xfrm>
            <a:off x="533400" y="228600"/>
            <a:ext cx="7813675"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TCB of </a:t>
            </a:r>
            <a:r>
              <a:rPr kumimoji="1" lang="en-US" altLang="zh-CN"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uCOS</a:t>
            </a:r>
            <a:endPar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wheel(4)">
                                      <p:cBhvr>
                                        <p:cTn id="7" dur="500"/>
                                        <p:tgtEl>
                                          <p:spTgt spid="172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Text Box 2"/>
          <p:cNvSpPr txBox="1"/>
          <p:nvPr/>
        </p:nvSpPr>
        <p:spPr>
          <a:xfrm>
            <a:off x="304800" y="990600"/>
            <a:ext cx="8610600" cy="5638800"/>
          </a:xfrm>
          <a:prstGeom prst="rect">
            <a:avLst/>
          </a:prstGeom>
          <a:solidFill>
            <a:srgbClr val="CCFFCC"/>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342900" lvl="0" indent="-342900" eaLnBrk="1" hangingPunct="1">
              <a:buClrTx/>
              <a:buSzTx/>
              <a:buFontTx/>
              <a:buNone/>
            </a:pPr>
            <a:r>
              <a:rPr lang="en-US" altLang="ko-KR" sz="2000" b="1" dirty="0">
                <a:latin typeface="Courier New" panose="02070309020205020404" pitchFamily="49" charset="0"/>
                <a:ea typeface="Gulim" pitchFamily="34" charset="-127"/>
              </a:rPr>
              <a:t>#if (OS_VERSION &gt;= 251) &amp;&amp; (OS_FLAG_EN &gt; 0) &amp;&amp; (OS_MAX_FLAGS &gt; 0)</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#if OS_TASK_DEL_EN &gt; 0</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    OS_FLAG_NODE  *OSTCBFlagNode; /* Pointer to event flag node*/</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#endif    </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OS_FLAGS OSTCBFlagsRdy; /* Event flags that made task ready to run*/ </a:t>
            </a:r>
            <a:r>
              <a:rPr lang="zh-CN" altLang="en-US" sz="2000" b="1" dirty="0">
                <a:solidFill>
                  <a:srgbClr val="FF0000"/>
                </a:solidFill>
                <a:latin typeface="Courier New" panose="02070309020205020404" pitchFamily="49" charset="0"/>
                <a:ea typeface="Gulim" pitchFamily="34" charset="-127"/>
              </a:rPr>
              <a:t>使进程就绪的事件</a:t>
            </a:r>
            <a:endParaRPr lang="en-US" altLang="ko-KR"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#endif</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    INT16U  OSTCBDly; /* Nbr ticks to delay task or, timeout waiting for event*/</a:t>
            </a:r>
            <a:endParaRPr lang="en-US" altLang="zh-CN"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    INT8U      OSTCBStat;/* Task status */</a:t>
            </a:r>
            <a:endParaRPr lang="en-US" altLang="ko-KR"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    INT8U      OSTCBPrio;/* Task priority (0 == highest, 63 == lowest)</a:t>
            </a:r>
            <a:r>
              <a:rPr lang="en-US" altLang="zh-CN" sz="2000" b="1" dirty="0">
                <a:solidFill>
                  <a:srgbClr val="FF0000"/>
                </a:solidFill>
                <a:latin typeface="Courier New" panose="02070309020205020404" pitchFamily="49" charset="0"/>
                <a:ea typeface="Gulim" pitchFamily="34" charset="-127"/>
              </a:rPr>
              <a:t> </a:t>
            </a:r>
            <a:r>
              <a:rPr lang="en-US" altLang="ko-KR" sz="2000" b="1" dirty="0">
                <a:solidFill>
                  <a:srgbClr val="FF0000"/>
                </a:solidFill>
                <a:latin typeface="Courier New" panose="02070309020205020404" pitchFamily="49" charset="0"/>
                <a:ea typeface="Gulim" pitchFamily="34" charset="-127"/>
              </a:rPr>
              <a:t>*/</a:t>
            </a:r>
            <a:endParaRPr lang="en-US" altLang="ko-KR"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solidFill>
                  <a:srgbClr val="FF0000"/>
                </a:solidFill>
                <a:latin typeface="Courier New" panose="02070309020205020404" pitchFamily="49" charset="0"/>
                <a:ea typeface="Gulim" pitchFamily="34" charset="-127"/>
              </a:rPr>
              <a:t>……</a:t>
            </a:r>
            <a:endParaRPr lang="en-US" altLang="ko-KR" sz="2000" b="1" dirty="0">
              <a:solidFill>
                <a:srgbClr val="FF0000"/>
              </a:solidFill>
              <a:latin typeface="Courier New" panose="02070309020205020404" pitchFamily="49" charset="0"/>
              <a:ea typeface="Gulim" pitchFamily="34" charset="-127"/>
            </a:endParaRPr>
          </a:p>
          <a:p>
            <a:pPr marL="342900" lvl="0" indent="-342900" eaLnBrk="1" hangingPunct="1">
              <a:buClrTx/>
              <a:buSzTx/>
              <a:buFontTx/>
              <a:buNone/>
            </a:pPr>
            <a:r>
              <a:rPr lang="en-US" altLang="ko-KR" sz="2000" b="1" dirty="0">
                <a:latin typeface="Courier New" panose="02070309020205020404" pitchFamily="49" charset="0"/>
                <a:ea typeface="Gulim" pitchFamily="34" charset="-127"/>
              </a:rPr>
              <a:t>} OS_TCB;</a:t>
            </a:r>
            <a:endParaRPr lang="en-US" altLang="ko-KR" sz="2000" b="1" dirty="0">
              <a:latin typeface="Courier New" panose="02070309020205020404" pitchFamily="49" charset="0"/>
              <a:ea typeface="Gulim" pitchFamily="34" charset="-127"/>
            </a:endParaRPr>
          </a:p>
          <a:p>
            <a:pPr marL="342900" lvl="0" indent="-342900" eaLnBrk="1" hangingPunct="1">
              <a:buClrTx/>
              <a:buSzTx/>
              <a:buFontTx/>
              <a:buNone/>
            </a:pPr>
            <a:endParaRPr lang="en-US" altLang="ko-KR" sz="2000" b="1" dirty="0">
              <a:solidFill>
                <a:srgbClr val="FF0000"/>
              </a:solidFill>
              <a:latin typeface="Courier New" panose="02070309020205020404" pitchFamily="49" charset="0"/>
              <a:ea typeface="Gulim" pitchFamily="34" charset="-127"/>
            </a:endParaRPr>
          </a:p>
        </p:txBody>
      </p:sp>
      <p:sp>
        <p:nvSpPr>
          <p:cNvPr id="174083" name="Rectangle 3"/>
          <p:cNvSpPr>
            <a:spLocks noChangeArrowheads="1"/>
          </p:cNvSpPr>
          <p:nvPr/>
        </p:nvSpPr>
        <p:spPr bwMode="auto">
          <a:xfrm>
            <a:off x="609600" y="228600"/>
            <a:ext cx="7813675"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TCB of </a:t>
            </a:r>
            <a:r>
              <a:rPr kumimoji="1" lang="en-US" altLang="zh-CN"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uCOS</a:t>
            </a:r>
            <a:endPar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174082"/>
                                        </p:tgtEl>
                                        <p:attrNameLst>
                                          <p:attrName>style.visibility</p:attrName>
                                        </p:attrNameLst>
                                      </p:cBhvr>
                                      <p:to>
                                        <p:strVal val="visible"/>
                                      </p:to>
                                    </p:set>
                                    <p:animEffect transition="in" filter="wheel(4)">
                                      <p:cBhvr>
                                        <p:cTn id="7" dur="500"/>
                                        <p:tgtEl>
                                          <p:spTgt spid="174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．进程控制块的组织方式 </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419" name="Rectangle 3"/>
          <p:cNvSpPr>
            <a:spLocks noGrp="1" noRot="1"/>
          </p:cNvSpPr>
          <p:nvPr>
            <p:ph type="body"/>
          </p:nvPr>
        </p:nvSpPr>
        <p:spPr>
          <a:xfrm>
            <a:off x="533400" y="1828800"/>
            <a:ext cx="8077200" cy="4498975"/>
          </a:xfrm>
        </p:spPr>
        <p:txBody>
          <a:bodyPr vert="horz" wrap="square" lIns="91440" tIns="45720" rIns="91440" bIns="45720" anchor="t" anchorCtr="0"/>
          <a:p>
            <a:pPr algn="just" eaLnBrk="1" hangingPunct="1">
              <a:buNone/>
            </a:pPr>
            <a:r>
              <a:rPr lang="en-US" altLang="zh-CN" b="1" dirty="0">
                <a:solidFill>
                  <a:srgbClr val="0066FF"/>
                </a:solidFill>
              </a:rPr>
              <a:t> 1</a:t>
            </a:r>
            <a:r>
              <a:rPr lang="zh-CN" altLang="en-US" b="1" dirty="0">
                <a:solidFill>
                  <a:srgbClr val="0066FF"/>
                </a:solidFill>
              </a:rPr>
              <a:t>）链接方式</a:t>
            </a:r>
            <a:endParaRPr lang="zh-CN" altLang="en-US" b="1" dirty="0">
              <a:solidFill>
                <a:srgbClr val="0066FF"/>
              </a:solidFill>
            </a:endParaRPr>
          </a:p>
          <a:p>
            <a:pPr algn="just" eaLnBrk="1" hangingPunct="1">
              <a:buNone/>
            </a:pPr>
            <a:r>
              <a:rPr lang="zh-CN" altLang="en-US" b="1" dirty="0"/>
              <a:t> 把具有同一状态的</a:t>
            </a:r>
            <a:r>
              <a:rPr lang="en-US" altLang="zh-CN" b="1" dirty="0"/>
              <a:t>PCB</a:t>
            </a:r>
            <a:r>
              <a:rPr lang="zh-CN" altLang="en-US" b="1" dirty="0"/>
              <a:t>，用其中的链接字链接成一个队列。</a:t>
            </a:r>
            <a:endParaRPr lang="zh-CN" altLang="en-US" b="1" dirty="0"/>
          </a:p>
          <a:p>
            <a:pPr algn="just" eaLnBrk="1" hangingPunct="1">
              <a:buNone/>
            </a:pPr>
            <a:r>
              <a:rPr lang="zh-CN" altLang="en-US" b="1" dirty="0"/>
              <a:t>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fade">
                                      <p:cBhvr>
                                        <p:cTn id="7" dur="2000"/>
                                        <p:tgtEl>
                                          <p:spTgt spid="2170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419">
                                            <p:txEl>
                                              <p:charRg st="0" end="8"/>
                                            </p:txEl>
                                          </p:spTgt>
                                        </p:tgtEl>
                                        <p:attrNameLst>
                                          <p:attrName>style.visibility</p:attrName>
                                        </p:attrNameLst>
                                      </p:cBhvr>
                                      <p:to>
                                        <p:strVal val="visible"/>
                                      </p:to>
                                    </p:set>
                                    <p:animEffect transition="in" filter="fade">
                                      <p:cBhvr>
                                        <p:cTn id="12" dur="2000"/>
                                        <p:tgtEl>
                                          <p:spTgt spid="60419">
                                            <p:txEl>
                                              <p:charRg st="0"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419">
                                            <p:txEl>
                                              <p:charRg st="8" end="37"/>
                                            </p:txEl>
                                          </p:spTgt>
                                        </p:tgtEl>
                                        <p:attrNameLst>
                                          <p:attrName>style.visibility</p:attrName>
                                        </p:attrNameLst>
                                      </p:cBhvr>
                                      <p:to>
                                        <p:strVal val="visible"/>
                                      </p:to>
                                    </p:set>
                                    <p:animEffect transition="in" filter="fade">
                                      <p:cBhvr>
                                        <p:cTn id="17" dur="2000"/>
                                        <p:tgtEl>
                                          <p:spTgt spid="60419">
                                            <p:txEl>
                                              <p:charRg st="8" end="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0419">
                                            <p:txEl>
                                              <p:charRg st="37" end="39"/>
                                            </p:txEl>
                                          </p:spTgt>
                                        </p:tgtEl>
                                        <p:attrNameLst>
                                          <p:attrName>style.visibility</p:attrName>
                                        </p:attrNameLst>
                                      </p:cBhvr>
                                      <p:to>
                                        <p:strVal val="visible"/>
                                      </p:to>
                                    </p:set>
                                    <p:animEffect transition="in" filter="fade">
                                      <p:cBhvr>
                                        <p:cTn id="22" dur="2000"/>
                                        <p:tgtEl>
                                          <p:spTgt spid="60419">
                                            <p:txEl>
                                              <p:charRg st="37" end="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p:bldP spid="6041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3"/>
          <p:cNvSpPr txBox="1"/>
          <p:nvPr/>
        </p:nvSpPr>
        <p:spPr>
          <a:xfrm>
            <a:off x="3429000" y="5486400"/>
            <a:ext cx="2133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dirty="0"/>
              <a:t>链接方式</a:t>
            </a:r>
            <a:endParaRPr lang="zh-CN" altLang="en-US" sz="2800" dirty="0"/>
          </a:p>
        </p:txBody>
      </p:sp>
      <p:graphicFrame>
        <p:nvGraphicFramePr>
          <p:cNvPr id="50179" name="Object 5"/>
          <p:cNvGraphicFramePr>
            <a:graphicFrameLocks noChangeAspect="1"/>
          </p:cNvGraphicFramePr>
          <p:nvPr/>
        </p:nvGraphicFramePr>
        <p:xfrm>
          <a:off x="457200" y="838200"/>
          <a:ext cx="8458200" cy="4806950"/>
        </p:xfrm>
        <a:graphic>
          <a:graphicData uri="http://schemas.openxmlformats.org/presentationml/2006/ole">
            <mc:AlternateContent xmlns:mc="http://schemas.openxmlformats.org/markup-compatibility/2006">
              <mc:Choice xmlns:v="urn:schemas-microsoft-com:vml" Requires="v">
                <p:oleObj spid="_x0000_s3077" name="" r:id="rId1" imgW="2849880" imgH="1615440" progId="Visio.Drawing.11">
                  <p:embed/>
                </p:oleObj>
              </mc:Choice>
              <mc:Fallback>
                <p:oleObj name="" r:id="rId1" imgW="2849880" imgH="1615440" progId="Visio.Drawing.11">
                  <p:embed/>
                  <p:pic>
                    <p:nvPicPr>
                      <p:cNvPr id="0" name="图片 3076"/>
                      <p:cNvPicPr/>
                      <p:nvPr/>
                    </p:nvPicPr>
                    <p:blipFill>
                      <a:blip r:embed="rId2"/>
                      <a:stretch>
                        <a:fillRect/>
                      </a:stretch>
                    </p:blipFill>
                    <p:spPr>
                      <a:xfrm>
                        <a:off x="457200" y="838200"/>
                        <a:ext cx="8458200" cy="4806950"/>
                      </a:xfrm>
                      <a:prstGeom prst="rect">
                        <a:avLst/>
                      </a:prstGeom>
                      <a:noFill/>
                      <a:ln w="38100">
                        <a:noFill/>
                        <a:miter/>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28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．进程控制块的组织方式</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1443" name="Rectangle 3"/>
          <p:cNvSpPr>
            <a:spLocks noGrp="1" noRot="1"/>
          </p:cNvSpPr>
          <p:nvPr>
            <p:ph type="body"/>
          </p:nvPr>
        </p:nvSpPr>
        <p:spPr/>
        <p:txBody>
          <a:bodyPr vert="horz" wrap="square" lIns="91440" tIns="45720" rIns="91440" bIns="45720" anchor="t" anchorCtr="0"/>
          <a:p>
            <a:pPr algn="just" eaLnBrk="1" hangingPunct="1">
              <a:lnSpc>
                <a:spcPct val="150000"/>
              </a:lnSpc>
              <a:buNone/>
            </a:pPr>
            <a:r>
              <a:rPr lang="en-US" altLang="zh-CN" b="1" dirty="0">
                <a:solidFill>
                  <a:srgbClr val="0066FF"/>
                </a:solidFill>
              </a:rPr>
              <a:t>2</a:t>
            </a:r>
            <a:r>
              <a:rPr lang="zh-CN" altLang="en-US" b="1" dirty="0">
                <a:solidFill>
                  <a:srgbClr val="0066FF"/>
                </a:solidFill>
              </a:rPr>
              <a:t>）索引方式</a:t>
            </a:r>
            <a:endParaRPr lang="zh-CN" altLang="en-US" b="1" dirty="0">
              <a:solidFill>
                <a:srgbClr val="0066FF"/>
              </a:solidFill>
            </a:endParaRPr>
          </a:p>
          <a:p>
            <a:pPr eaLnBrk="1" hangingPunct="1">
              <a:lnSpc>
                <a:spcPct val="150000"/>
              </a:lnSpc>
              <a:buNone/>
            </a:pPr>
            <a:r>
              <a:rPr lang="zh-CN" altLang="en-US" b="1" dirty="0"/>
              <a:t>   相同状态进程的</a:t>
            </a:r>
            <a:r>
              <a:rPr lang="en-US" altLang="zh-CN" b="1" dirty="0"/>
              <a:t>PCB</a:t>
            </a:r>
            <a:r>
              <a:rPr lang="zh-CN" altLang="en-US" b="1" dirty="0"/>
              <a:t>组织在一张表格中，系统根据所有进程的状态建立几张索引表，系统分别记载各</a:t>
            </a:r>
            <a:r>
              <a:rPr lang="en-US" altLang="zh-CN" b="1" dirty="0"/>
              <a:t>PCB</a:t>
            </a:r>
            <a:r>
              <a:rPr lang="zh-CN" altLang="en-US" b="1" dirty="0"/>
              <a:t>表格的起始地址。 </a:t>
            </a:r>
            <a:endParaRPr lang="zh-CN" altLang="en-US" b="1" dirty="0"/>
          </a:p>
          <a:p>
            <a:pPr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2850"/>
                                        </p:tgtEl>
                                        <p:attrNameLst>
                                          <p:attrName>style.visibility</p:attrName>
                                        </p:attrNameLst>
                                      </p:cBhvr>
                                      <p:to>
                                        <p:strVal val="visible"/>
                                      </p:to>
                                    </p:set>
                                    <p:animEffect transition="in" filter="fade">
                                      <p:cBhvr>
                                        <p:cTn id="7" dur="2000"/>
                                        <p:tgtEl>
                                          <p:spTgt spid="4628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43">
                                            <p:txEl>
                                              <p:charRg st="0" end="7"/>
                                            </p:txEl>
                                          </p:spTgt>
                                        </p:tgtEl>
                                        <p:attrNameLst>
                                          <p:attrName>style.visibility</p:attrName>
                                        </p:attrNameLst>
                                      </p:cBhvr>
                                      <p:to>
                                        <p:strVal val="visible"/>
                                      </p:to>
                                    </p:set>
                                    <p:animEffect transition="in" filter="fade">
                                      <p:cBhvr>
                                        <p:cTn id="12" dur="2000"/>
                                        <p:tgtEl>
                                          <p:spTgt spid="61443">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43">
                                            <p:txEl>
                                              <p:charRg st="7" end="68"/>
                                            </p:txEl>
                                          </p:spTgt>
                                        </p:tgtEl>
                                        <p:attrNameLst>
                                          <p:attrName>style.visibility</p:attrName>
                                        </p:attrNameLst>
                                      </p:cBhvr>
                                      <p:to>
                                        <p:strVal val="visible"/>
                                      </p:to>
                                    </p:set>
                                    <p:animEffect transition="in" filter="fade">
                                      <p:cBhvr>
                                        <p:cTn id="17" dur="2000"/>
                                        <p:tgtEl>
                                          <p:spTgt spid="61443">
                                            <p:txEl>
                                              <p:charRg st="7"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0" grpId="0"/>
      <p:bldP spid="6144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 Box 3"/>
          <p:cNvSpPr txBox="1"/>
          <p:nvPr/>
        </p:nvSpPr>
        <p:spPr>
          <a:xfrm>
            <a:off x="3276600" y="5576888"/>
            <a:ext cx="21336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2800" dirty="0"/>
              <a:t>索引方式</a:t>
            </a:r>
            <a:endParaRPr lang="zh-CN" altLang="en-US" sz="2800" dirty="0"/>
          </a:p>
        </p:txBody>
      </p:sp>
      <p:graphicFrame>
        <p:nvGraphicFramePr>
          <p:cNvPr id="52227" name="Object 8"/>
          <p:cNvGraphicFramePr>
            <a:graphicFrameLocks noChangeAspect="1"/>
          </p:cNvGraphicFramePr>
          <p:nvPr/>
        </p:nvGraphicFramePr>
        <p:xfrm>
          <a:off x="457200" y="1219200"/>
          <a:ext cx="8077200" cy="4572000"/>
        </p:xfrm>
        <a:graphic>
          <a:graphicData uri="http://schemas.openxmlformats.org/presentationml/2006/ole">
            <mc:AlternateContent xmlns:mc="http://schemas.openxmlformats.org/markup-compatibility/2006">
              <mc:Choice xmlns:v="urn:schemas-microsoft-com:vml" Requires="v">
                <p:oleObj spid="_x0000_s3079" name="" r:id="rId1" imgW="3987800" imgH="2260600" progId="Visio.Drawing.11">
                  <p:embed/>
                </p:oleObj>
              </mc:Choice>
              <mc:Fallback>
                <p:oleObj name="" r:id="rId1" imgW="3987800" imgH="2260600" progId="Visio.Drawing.11">
                  <p:embed/>
                  <p:pic>
                    <p:nvPicPr>
                      <p:cNvPr id="0" name="图片 3078"/>
                      <p:cNvPicPr/>
                      <p:nvPr/>
                    </p:nvPicPr>
                    <p:blipFill>
                      <a:blip r:embed="rId2"/>
                      <a:stretch>
                        <a:fillRect/>
                      </a:stretch>
                    </p:blipFill>
                    <p:spPr>
                      <a:xfrm>
                        <a:off x="457200" y="1219200"/>
                        <a:ext cx="8077200" cy="4572000"/>
                      </a:xfrm>
                      <a:prstGeom prst="rect">
                        <a:avLst/>
                      </a:prstGeom>
                      <a:noFill/>
                      <a:ln w="38100">
                        <a:noFill/>
                        <a:miter/>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387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．进程控制块的组织方式</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2467" name="Rectangle 3"/>
          <p:cNvSpPr>
            <a:spLocks noGrp="1" noRot="1"/>
          </p:cNvSpPr>
          <p:nvPr>
            <p:ph type="body"/>
          </p:nvPr>
        </p:nvSpPr>
        <p:spPr/>
        <p:txBody>
          <a:bodyPr vert="horz" wrap="square" lIns="91440" tIns="45720" rIns="91440" bIns="45720" anchor="t" anchorCtr="0"/>
          <a:p>
            <a:pPr eaLnBrk="1" hangingPunct="1">
              <a:lnSpc>
                <a:spcPct val="150000"/>
              </a:lnSpc>
            </a:pPr>
            <a:r>
              <a:rPr lang="en-US" altLang="zh-CN" b="1" dirty="0">
                <a:solidFill>
                  <a:srgbClr val="0066FF"/>
                </a:solidFill>
              </a:rPr>
              <a:t>3</a:t>
            </a:r>
            <a:r>
              <a:rPr lang="zh-CN" altLang="en-US" b="1" dirty="0">
                <a:solidFill>
                  <a:srgbClr val="0066FF"/>
                </a:solidFill>
              </a:rPr>
              <a:t>）多级队列：</a:t>
            </a:r>
            <a:endParaRPr lang="en-US" altLang="zh-CN" b="1" dirty="0">
              <a:solidFill>
                <a:srgbClr val="0066FF"/>
              </a:solidFill>
            </a:endParaRPr>
          </a:p>
          <a:p>
            <a:pPr eaLnBrk="1" hangingPunct="1">
              <a:lnSpc>
                <a:spcPct val="150000"/>
              </a:lnSpc>
            </a:pPr>
            <a:r>
              <a:rPr lang="zh-CN" altLang="en-US" b="1" dirty="0"/>
              <a:t>按照进程状态不同分别组织</a:t>
            </a:r>
            <a:r>
              <a:rPr lang="en-US" altLang="zh-CN" b="1" dirty="0"/>
              <a:t>PCB</a:t>
            </a:r>
            <a:r>
              <a:rPr lang="zh-CN" altLang="en-US" b="1" dirty="0"/>
              <a:t>队列，同一状态进程</a:t>
            </a:r>
            <a:r>
              <a:rPr lang="en-US" altLang="zh-CN" b="1" dirty="0"/>
              <a:t>PCB</a:t>
            </a:r>
            <a:r>
              <a:rPr lang="zh-CN" altLang="en-US" b="1" dirty="0"/>
              <a:t>按照优先级高低（或者到达的先后顺序）用链接指针连接起来。</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3874"/>
                                        </p:tgtEl>
                                        <p:attrNameLst>
                                          <p:attrName>style.visibility</p:attrName>
                                        </p:attrNameLst>
                                      </p:cBhvr>
                                      <p:to>
                                        <p:strVal val="visible"/>
                                      </p:to>
                                    </p:set>
                                    <p:animEffect transition="in" filter="fade">
                                      <p:cBhvr>
                                        <p:cTn id="7" dur="2000"/>
                                        <p:tgtEl>
                                          <p:spTgt spid="4638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2467">
                                            <p:txEl>
                                              <p:charRg st="0" end="8"/>
                                            </p:txEl>
                                          </p:spTgt>
                                        </p:tgtEl>
                                        <p:attrNameLst>
                                          <p:attrName>style.visibility</p:attrName>
                                        </p:attrNameLst>
                                      </p:cBhvr>
                                      <p:to>
                                        <p:strVal val="visible"/>
                                      </p:to>
                                    </p:set>
                                    <p:animEffect transition="in" filter="fade">
                                      <p:cBhvr>
                                        <p:cTn id="12" dur="2000"/>
                                        <p:tgtEl>
                                          <p:spTgt spid="62467">
                                            <p:txEl>
                                              <p:charRg st="0"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2467">
                                            <p:txEl>
                                              <p:charRg st="8" end="64"/>
                                            </p:txEl>
                                          </p:spTgt>
                                        </p:tgtEl>
                                        <p:attrNameLst>
                                          <p:attrName>style.visibility</p:attrName>
                                        </p:attrNameLst>
                                      </p:cBhvr>
                                      <p:to>
                                        <p:strVal val="visible"/>
                                      </p:to>
                                    </p:set>
                                    <p:animEffect transition="in" filter="fade">
                                      <p:cBhvr>
                                        <p:cTn id="17" dur="2000"/>
                                        <p:tgtEl>
                                          <p:spTgt spid="62467">
                                            <p:txEl>
                                              <p:charRg st="8" end="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4" grpId="0"/>
      <p:bldP spid="6246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4901" name="Rectangle 5"/>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3</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．进程控制块的组织方式</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graphicFrame>
        <p:nvGraphicFramePr>
          <p:cNvPr id="54275" name="Object 4"/>
          <p:cNvGraphicFramePr>
            <a:graphicFrameLocks noChangeAspect="1"/>
          </p:cNvGraphicFramePr>
          <p:nvPr/>
        </p:nvGraphicFramePr>
        <p:xfrm>
          <a:off x="112713" y="1752600"/>
          <a:ext cx="8726487" cy="3886200"/>
        </p:xfrm>
        <a:graphic>
          <a:graphicData uri="http://schemas.openxmlformats.org/presentationml/2006/ole">
            <mc:AlternateContent xmlns:mc="http://schemas.openxmlformats.org/markup-compatibility/2006">
              <mc:Choice xmlns:v="urn:schemas-microsoft-com:vml" Requires="v">
                <p:oleObj spid="_x0000_s3078" name="" r:id="rId1" imgW="7975600" imgH="3568700" progId="Visio.Drawing.11">
                  <p:embed/>
                </p:oleObj>
              </mc:Choice>
              <mc:Fallback>
                <p:oleObj name="" r:id="rId1" imgW="7975600" imgH="3568700" progId="Visio.Drawing.11">
                  <p:embed/>
                  <p:pic>
                    <p:nvPicPr>
                      <p:cNvPr id="0" name="图片 3077"/>
                      <p:cNvPicPr/>
                      <p:nvPr/>
                    </p:nvPicPr>
                    <p:blipFill>
                      <a:blip r:embed="rId2"/>
                      <a:stretch>
                        <a:fillRect/>
                      </a:stretch>
                    </p:blipFill>
                    <p:spPr>
                      <a:xfrm>
                        <a:off x="112713" y="1752600"/>
                        <a:ext cx="8726487" cy="38862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4901"/>
                                        </p:tgtEl>
                                        <p:attrNameLst>
                                          <p:attrName>style.visibility</p:attrName>
                                        </p:attrNameLst>
                                      </p:cBhvr>
                                      <p:to>
                                        <p:strVal val="visible"/>
                                      </p:to>
                                    </p:set>
                                    <p:animEffect transition="in" filter="fade">
                                      <p:cBhvr>
                                        <p:cTn id="7" dur="2000"/>
                                        <p:tgtEl>
                                          <p:spTgt spid="464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2.2.5 PCB</a:t>
            </a:r>
            <a:r>
              <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rPr>
              <a:t>实例解析</a:t>
            </a:r>
            <a:endParaRPr kumimoji="0" lang="zh-CN" altLang="en-US" sz="44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mj-lt"/>
              <a:ea typeface="+mj-ea"/>
              <a:cs typeface="+mj-cs"/>
            </a:endParaRPr>
          </a:p>
        </p:txBody>
      </p:sp>
      <p:sp>
        <p:nvSpPr>
          <p:cNvPr id="63491" name="Rectangle 3"/>
          <p:cNvSpPr>
            <a:spLocks noGrp="1" noRot="1"/>
          </p:cNvSpPr>
          <p:nvPr>
            <p:ph type="body"/>
          </p:nvPr>
        </p:nvSpPr>
        <p:spPr>
          <a:xfrm>
            <a:off x="304800" y="1600200"/>
            <a:ext cx="8610600" cy="4648200"/>
          </a:xfrm>
        </p:spPr>
        <p:txBody>
          <a:bodyPr vert="horz" wrap="square" lIns="91440" tIns="45720" rIns="91440" bIns="45720" anchor="t" anchorCtr="0"/>
          <a:p>
            <a:pPr eaLnBrk="1" hangingPunct="1">
              <a:lnSpc>
                <a:spcPct val="90000"/>
              </a:lnSpc>
            </a:pPr>
            <a:r>
              <a:rPr lang="en-US" altLang="zh-CN" b="1" dirty="0"/>
              <a:t>Linux</a:t>
            </a:r>
            <a:r>
              <a:rPr lang="zh-CN" altLang="en-US" b="1" dirty="0"/>
              <a:t>操作系统中采用</a:t>
            </a:r>
            <a:r>
              <a:rPr lang="en-US" altLang="zh-CN" b="1" dirty="0"/>
              <a:t>task_struct</a:t>
            </a:r>
            <a:r>
              <a:rPr lang="zh-CN" altLang="en-US" b="1" dirty="0"/>
              <a:t>来表示进程控制块。</a:t>
            </a:r>
            <a:endParaRPr lang="en-US" altLang="zh-CN" b="1" dirty="0"/>
          </a:p>
          <a:p>
            <a:pPr eaLnBrk="1" hangingPunct="1">
              <a:lnSpc>
                <a:spcPct val="90000"/>
              </a:lnSpc>
            </a:pPr>
            <a:r>
              <a:rPr lang="en-US" altLang="zh-CN" b="1" dirty="0"/>
              <a:t>Linux</a:t>
            </a:r>
            <a:r>
              <a:rPr lang="zh-CN" altLang="en-US" b="1" dirty="0"/>
              <a:t>操作系统最多允许</a:t>
            </a:r>
            <a:r>
              <a:rPr lang="en-US" altLang="zh-CN" b="1" dirty="0"/>
              <a:t>512</a:t>
            </a:r>
            <a:r>
              <a:rPr lang="zh-CN" altLang="en-US" b="1" dirty="0"/>
              <a:t>个进程，采用结构指针数组来表示。</a:t>
            </a:r>
            <a:endParaRPr lang="zh-CN" altLang="en-US" b="1" dirty="0"/>
          </a:p>
          <a:p>
            <a:pPr lvl="1" eaLnBrk="1" hangingPunct="1">
              <a:lnSpc>
                <a:spcPct val="90000"/>
              </a:lnSpc>
            </a:pPr>
            <a:r>
              <a:rPr lang="zh-CN" altLang="en-US" b="1" dirty="0"/>
              <a:t>定义格式：</a:t>
            </a:r>
            <a:endParaRPr lang="zh-CN" altLang="en-US" b="1" dirty="0"/>
          </a:p>
          <a:p>
            <a:pPr lvl="1" eaLnBrk="1" hangingPunct="1">
              <a:lnSpc>
                <a:spcPct val="90000"/>
              </a:lnSpc>
              <a:buNone/>
            </a:pPr>
            <a:r>
              <a:rPr lang="zh-CN" altLang="en-US" b="1" dirty="0"/>
              <a:t>       </a:t>
            </a:r>
            <a:r>
              <a:rPr lang="en-US" altLang="zh-CN" b="1" dirty="0"/>
              <a:t>struct task_struct *task[NR_TASKS];</a:t>
            </a:r>
            <a:endParaRPr lang="en-US" altLang="zh-CN" b="1" dirty="0"/>
          </a:p>
          <a:p>
            <a:pPr lvl="1" eaLnBrk="1" hangingPunct="1">
              <a:lnSpc>
                <a:spcPct val="90000"/>
              </a:lnSpc>
              <a:buNone/>
            </a:pPr>
            <a:r>
              <a:rPr lang="en-US" altLang="zh-CN" b="1" dirty="0"/>
              <a:t>       </a:t>
            </a:r>
            <a:r>
              <a:rPr lang="zh-CN" altLang="en-US" b="1" dirty="0"/>
              <a:t>其中， </a:t>
            </a:r>
            <a:r>
              <a:rPr lang="en-US" altLang="zh-CN" b="1" dirty="0"/>
              <a:t>NR_TASKS=512</a:t>
            </a:r>
            <a:endParaRPr lang="en-US" altLang="zh-CN" b="1" dirty="0"/>
          </a:p>
          <a:p>
            <a:pPr lvl="1" eaLnBrk="1" hangingPunct="1">
              <a:lnSpc>
                <a:spcPct val="90000"/>
              </a:lnSpc>
            </a:pP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0162"/>
                                        </p:tgtEl>
                                        <p:attrNameLst>
                                          <p:attrName>style.visibility</p:attrName>
                                        </p:attrNameLst>
                                      </p:cBhvr>
                                      <p:to>
                                        <p:strVal val="visible"/>
                                      </p:to>
                                    </p:set>
                                    <p:animEffect transition="in" filter="fade">
                                      <p:cBhvr>
                                        <p:cTn id="7" dur="2000"/>
                                        <p:tgtEl>
                                          <p:spTgt spid="2201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491">
                                            <p:txEl>
                                              <p:charRg st="0" end="33"/>
                                            </p:txEl>
                                          </p:spTgt>
                                        </p:tgtEl>
                                        <p:attrNameLst>
                                          <p:attrName>style.visibility</p:attrName>
                                        </p:attrNameLst>
                                      </p:cBhvr>
                                      <p:to>
                                        <p:strVal val="visible"/>
                                      </p:to>
                                    </p:set>
                                    <p:animEffect transition="in" filter="fade">
                                      <p:cBhvr>
                                        <p:cTn id="12" dur="2000"/>
                                        <p:tgtEl>
                                          <p:spTgt spid="63491">
                                            <p:txEl>
                                              <p:charRg st="0"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3491">
                                            <p:txEl>
                                              <p:charRg st="33" end="66"/>
                                            </p:txEl>
                                          </p:spTgt>
                                        </p:tgtEl>
                                        <p:attrNameLst>
                                          <p:attrName>style.visibility</p:attrName>
                                        </p:attrNameLst>
                                      </p:cBhvr>
                                      <p:to>
                                        <p:strVal val="visible"/>
                                      </p:to>
                                    </p:set>
                                    <p:animEffect transition="in" filter="fade">
                                      <p:cBhvr>
                                        <p:cTn id="17" dur="2000"/>
                                        <p:tgtEl>
                                          <p:spTgt spid="63491">
                                            <p:txEl>
                                              <p:charRg st="33" end="66"/>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3491">
                                            <p:txEl>
                                              <p:charRg st="66" end="72"/>
                                            </p:txEl>
                                          </p:spTgt>
                                        </p:tgtEl>
                                        <p:attrNameLst>
                                          <p:attrName>style.visibility</p:attrName>
                                        </p:attrNameLst>
                                      </p:cBhvr>
                                      <p:to>
                                        <p:strVal val="visible"/>
                                      </p:to>
                                    </p:set>
                                    <p:animEffect transition="in" filter="fade">
                                      <p:cBhvr>
                                        <p:cTn id="20" dur="2000"/>
                                        <p:tgtEl>
                                          <p:spTgt spid="63491">
                                            <p:txEl>
                                              <p:charRg st="66" end="7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3491">
                                            <p:txEl>
                                              <p:charRg st="72" end="115"/>
                                            </p:txEl>
                                          </p:spTgt>
                                        </p:tgtEl>
                                        <p:attrNameLst>
                                          <p:attrName>style.visibility</p:attrName>
                                        </p:attrNameLst>
                                      </p:cBhvr>
                                      <p:to>
                                        <p:strVal val="visible"/>
                                      </p:to>
                                    </p:set>
                                    <p:animEffect transition="in" filter="fade">
                                      <p:cBhvr>
                                        <p:cTn id="23" dur="2000"/>
                                        <p:tgtEl>
                                          <p:spTgt spid="63491">
                                            <p:txEl>
                                              <p:charRg st="72" end="11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3491">
                                            <p:txEl>
                                              <p:charRg st="115" end="139"/>
                                            </p:txEl>
                                          </p:spTgt>
                                        </p:tgtEl>
                                        <p:attrNameLst>
                                          <p:attrName>style.visibility</p:attrName>
                                        </p:attrNameLst>
                                      </p:cBhvr>
                                      <p:to>
                                        <p:strVal val="visible"/>
                                      </p:to>
                                    </p:set>
                                    <p:animEffect transition="in" filter="fade">
                                      <p:cBhvr>
                                        <p:cTn id="26" dur="2000"/>
                                        <p:tgtEl>
                                          <p:spTgt spid="63491">
                                            <p:txEl>
                                              <p:charRg st="115" end="1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2" grpId="0"/>
      <p:bldP spid="6349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p:txBody>
          <a:bodyPr vert="horz" wrap="square" lIns="91440" tIns="45720" rIns="91440" bIns="45720" anchor="ctr" anchorCtr="0"/>
          <a:p>
            <a:r>
              <a:rPr lang="zh-CN" altLang="en-US" dirty="0"/>
              <a:t>作业 </a:t>
            </a:r>
            <a:r>
              <a:rPr lang="en-US" altLang="zh-CN" dirty="0"/>
              <a:t>2</a:t>
            </a:r>
            <a:r>
              <a:rPr lang="zh-CN" altLang="en-US" dirty="0"/>
              <a:t>：</a:t>
            </a:r>
            <a:endParaRPr lang="zh-CN" altLang="en-US" dirty="0"/>
          </a:p>
        </p:txBody>
      </p:sp>
      <p:sp>
        <p:nvSpPr>
          <p:cNvPr id="56323" name="内容占位符 2"/>
          <p:cNvSpPr>
            <a:spLocks noGrp="1"/>
          </p:cNvSpPr>
          <p:nvPr>
            <p:ph idx="1"/>
          </p:nvPr>
        </p:nvSpPr>
        <p:spPr/>
        <p:txBody>
          <a:bodyPr vert="horz" wrap="square" lIns="91440" tIns="45720" rIns="91440" bIns="45720" anchor="t" anchorCtr="0"/>
          <a:p>
            <a:r>
              <a:rPr lang="zh-CN" altLang="en-US" dirty="0"/>
              <a:t>阅读</a:t>
            </a:r>
            <a:r>
              <a:rPr lang="en-US" altLang="zh-CN" dirty="0"/>
              <a:t>Linux 3.0</a:t>
            </a:r>
            <a:r>
              <a:rPr lang="zh-CN" altLang="en-US" dirty="0"/>
              <a:t>以上 版本的内核代码中进程控制块和进程调度的代码，然后回答下面的问题：</a:t>
            </a:r>
            <a:endParaRPr lang="en-US" altLang="zh-CN" dirty="0"/>
          </a:p>
          <a:p>
            <a:pPr lvl="1"/>
            <a:r>
              <a:rPr lang="en-US" altLang="zh-CN" dirty="0"/>
              <a:t>Linux</a:t>
            </a:r>
            <a:r>
              <a:rPr lang="zh-CN" altLang="en-US" dirty="0"/>
              <a:t>的进程控制块的组织方式是什么？</a:t>
            </a:r>
            <a:endParaRPr lang="en-US" altLang="zh-CN" dirty="0"/>
          </a:p>
          <a:p>
            <a:pPr lvl="1"/>
            <a:r>
              <a:rPr lang="zh-CN" altLang="en-US" dirty="0"/>
              <a:t>请问它里面设定了那些进程状态，这些状态代表什么意义？</a:t>
            </a:r>
            <a:endParaRPr lang="en-US" altLang="zh-CN" dirty="0"/>
          </a:p>
          <a:p>
            <a:pPr lvl="1"/>
            <a:r>
              <a:rPr lang="zh-CN" altLang="en-US" dirty="0"/>
              <a:t>状态之间如何转换？并画出状态转换图。</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2.3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进程控制</a:t>
            </a:r>
            <a:endPar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64515" name="Rectangle 3"/>
          <p:cNvSpPr>
            <a:spLocks noGrp="1" noRot="1"/>
          </p:cNvSpPr>
          <p:nvPr>
            <p:ph type="body"/>
          </p:nvPr>
        </p:nvSpPr>
        <p:spPr/>
        <p:txBody>
          <a:bodyPr vert="horz" wrap="square" lIns="91440" tIns="45720" rIns="91440" bIns="45720" anchor="t" anchorCtr="0"/>
          <a:p>
            <a:pPr eaLnBrk="1" hangingPunct="1"/>
            <a:r>
              <a:rPr lang="zh-CN" altLang="en-US" b="1" dirty="0">
                <a:solidFill>
                  <a:schemeClr val="folHlink"/>
                </a:solidFill>
              </a:rPr>
              <a:t>进程控制</a:t>
            </a:r>
            <a:endParaRPr lang="zh-CN" altLang="en-US" b="1" dirty="0">
              <a:solidFill>
                <a:schemeClr val="folHlink"/>
              </a:solidFill>
            </a:endParaRPr>
          </a:p>
          <a:p>
            <a:pPr lvl="1" eaLnBrk="1" hangingPunct="1"/>
            <a:r>
              <a:rPr lang="zh-CN" altLang="en-US" b="1" dirty="0"/>
              <a:t>创建一个新进程，终止进程</a:t>
            </a:r>
            <a:endParaRPr lang="zh-CN" altLang="en-US" b="1" dirty="0"/>
          </a:p>
          <a:p>
            <a:pPr lvl="1" eaLnBrk="1" hangingPunct="1"/>
            <a:r>
              <a:rPr lang="zh-CN" altLang="en-US" b="1" dirty="0"/>
              <a:t>进程运行中的状态转换。</a:t>
            </a:r>
            <a:endParaRPr lang="zh-CN" altLang="en-US" b="1" dirty="0"/>
          </a:p>
          <a:p>
            <a:pPr lvl="1" eaLnBrk="1" hangingPunct="1"/>
            <a:endParaRPr lang="zh-CN" altLang="en-US" b="1" dirty="0"/>
          </a:p>
          <a:p>
            <a:pPr eaLnBrk="1" hangingPunct="1"/>
            <a:r>
              <a:rPr lang="zh-CN" altLang="en-US" b="1" dirty="0"/>
              <a:t>进程控制一般是由</a:t>
            </a:r>
            <a:r>
              <a:rPr lang="en-US" altLang="zh-CN" b="1" dirty="0"/>
              <a:t>OS</a:t>
            </a:r>
            <a:r>
              <a:rPr lang="zh-CN" altLang="en-US" b="1" dirty="0"/>
              <a:t>内核中的一组原语来实现的。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3234"/>
                                        </p:tgtEl>
                                        <p:attrNameLst>
                                          <p:attrName>style.visibility</p:attrName>
                                        </p:attrNameLst>
                                      </p:cBhvr>
                                      <p:to>
                                        <p:strVal val="visible"/>
                                      </p:to>
                                    </p:set>
                                    <p:animEffect transition="in" filter="fade">
                                      <p:cBhvr>
                                        <p:cTn id="7" dur="2000"/>
                                        <p:tgtEl>
                                          <p:spTgt spid="223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515">
                                            <p:txEl>
                                              <p:charRg st="0" end="5"/>
                                            </p:txEl>
                                          </p:spTgt>
                                        </p:tgtEl>
                                        <p:attrNameLst>
                                          <p:attrName>style.visibility</p:attrName>
                                        </p:attrNameLst>
                                      </p:cBhvr>
                                      <p:to>
                                        <p:strVal val="visible"/>
                                      </p:to>
                                    </p:set>
                                    <p:animEffect transition="in" filter="fade">
                                      <p:cBhvr>
                                        <p:cTn id="12" dur="2000"/>
                                        <p:tgtEl>
                                          <p:spTgt spid="64515">
                                            <p:txEl>
                                              <p:charRg st="0" end="5"/>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4515">
                                            <p:txEl>
                                              <p:charRg st="5" end="18"/>
                                            </p:txEl>
                                          </p:spTgt>
                                        </p:tgtEl>
                                        <p:attrNameLst>
                                          <p:attrName>style.visibility</p:attrName>
                                        </p:attrNameLst>
                                      </p:cBhvr>
                                      <p:to>
                                        <p:strVal val="visible"/>
                                      </p:to>
                                    </p:set>
                                    <p:animEffect transition="in" filter="fade">
                                      <p:cBhvr>
                                        <p:cTn id="15" dur="2000"/>
                                        <p:tgtEl>
                                          <p:spTgt spid="64515">
                                            <p:txEl>
                                              <p:charRg st="5" end="1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4515">
                                            <p:txEl>
                                              <p:charRg st="18" end="30"/>
                                            </p:txEl>
                                          </p:spTgt>
                                        </p:tgtEl>
                                        <p:attrNameLst>
                                          <p:attrName>style.visibility</p:attrName>
                                        </p:attrNameLst>
                                      </p:cBhvr>
                                      <p:to>
                                        <p:strVal val="visible"/>
                                      </p:to>
                                    </p:set>
                                    <p:animEffect transition="in" filter="fade">
                                      <p:cBhvr>
                                        <p:cTn id="18" dur="2000"/>
                                        <p:tgtEl>
                                          <p:spTgt spid="64515">
                                            <p:txEl>
                                              <p:charRg st="18" end="3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4515">
                                            <p:txEl>
                                              <p:charRg st="31" end="56"/>
                                            </p:txEl>
                                          </p:spTgt>
                                        </p:tgtEl>
                                        <p:attrNameLst>
                                          <p:attrName>style.visibility</p:attrName>
                                        </p:attrNameLst>
                                      </p:cBhvr>
                                      <p:to>
                                        <p:strVal val="visible"/>
                                      </p:to>
                                    </p:set>
                                    <p:animEffect transition="in" filter="fade">
                                      <p:cBhvr>
                                        <p:cTn id="23" dur="2000"/>
                                        <p:tgtEl>
                                          <p:spTgt spid="64515">
                                            <p:txEl>
                                              <p:charRg st="31" end="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p:bldP spid="6451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3"/>
          <p:cNvSpPr>
            <a:spLocks noGrp="1" noRot="1"/>
          </p:cNvSpPr>
          <p:nvPr>
            <p:ph idx="1"/>
          </p:nvPr>
        </p:nvSpPr>
        <p:spPr/>
        <p:txBody>
          <a:bodyPr vert="horz" wrap="square" lIns="91440" tIns="45720" rIns="91440" bIns="45720" anchor="t" anchorCtr="0"/>
          <a:p>
            <a:pPr eaLnBrk="1" hangingPunct="1"/>
            <a:r>
              <a:rPr lang="zh-CN" altLang="en-US" b="1" dirty="0">
                <a:solidFill>
                  <a:srgbClr val="0066FF"/>
                </a:solidFill>
              </a:rPr>
              <a:t>什么是原语？</a:t>
            </a:r>
            <a:endParaRPr lang="zh-CN" altLang="en-US" b="1" dirty="0">
              <a:solidFill>
                <a:srgbClr val="0066FF"/>
              </a:solidFill>
            </a:endParaRPr>
          </a:p>
          <a:p>
            <a:pPr eaLnBrk="1" hangingPunct="1"/>
            <a:r>
              <a:rPr lang="zh-CN" altLang="en-US" b="1" dirty="0"/>
              <a:t>原语是由若干条指令组成的，用于完成一定功能的一个过程。是“原子操作”，即一个操作中的所有动作要么全做，要么全不做，换言之，是</a:t>
            </a:r>
            <a:r>
              <a:rPr lang="zh-CN" altLang="en-US" b="1" dirty="0">
                <a:solidFill>
                  <a:srgbClr val="FF0000"/>
                </a:solidFill>
              </a:rPr>
              <a:t>一个不可分割的基本单位</a:t>
            </a:r>
            <a:r>
              <a:rPr lang="zh-CN" altLang="en-US" b="1" dirty="0"/>
              <a:t>，在执行过程中</a:t>
            </a:r>
            <a:r>
              <a:rPr lang="zh-CN" altLang="en-US" b="1" dirty="0">
                <a:solidFill>
                  <a:srgbClr val="FF0000"/>
                </a:solidFill>
              </a:rPr>
              <a:t>不允许被中断</a:t>
            </a:r>
            <a:r>
              <a:rPr lang="zh-CN" altLang="en-US" b="1" dirty="0"/>
              <a:t>。</a:t>
            </a:r>
            <a:endParaRPr lang="zh-CN" altLang="en-US" b="1" dirty="0"/>
          </a:p>
        </p:txBody>
      </p:sp>
      <p:sp>
        <p:nvSpPr>
          <p:cNvPr id="58371" name="标题 1"/>
          <p:cNvSpPr>
            <a:spLocks noGrp="1"/>
          </p:cNvSpPr>
          <p:nvPr>
            <p:ph type="title"/>
          </p:nvPr>
        </p:nvSpPr>
        <p:spPr/>
        <p:txBody>
          <a:bodyPr vert="horz" wrap="square" lIns="91440" tIns="45720" rIns="91440" bIns="45720" anchor="ctr" anchorCtr="0"/>
          <a:p>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2.3.2  </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进程的</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创建</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6563" name="Rectangle 3"/>
          <p:cNvSpPr>
            <a:spLocks noGrp="1" noRot="1"/>
          </p:cNvSpPr>
          <p:nvPr>
            <p:ph type="body"/>
          </p:nvPr>
        </p:nvSpPr>
        <p:spPr>
          <a:xfrm>
            <a:off x="304800" y="1752600"/>
            <a:ext cx="8534400" cy="4114800"/>
          </a:xfrm>
        </p:spPr>
        <p:txBody>
          <a:bodyPr vert="horz" wrap="square" lIns="91440" tIns="45720" rIns="91440" bIns="45720" anchor="t" anchorCtr="0"/>
          <a:p>
            <a:pPr algn="just" eaLnBrk="1" hangingPunct="1">
              <a:buNone/>
            </a:pPr>
            <a:r>
              <a:rPr lang="en-US" altLang="zh-CN" dirty="0"/>
              <a:t> </a:t>
            </a:r>
            <a:r>
              <a:rPr lang="en-US" altLang="zh-CN" b="1" dirty="0">
                <a:solidFill>
                  <a:srgbClr val="FF0000"/>
                </a:solidFill>
              </a:rPr>
              <a:t>1</a:t>
            </a:r>
            <a:r>
              <a:rPr lang="zh-CN" altLang="en-US" b="1" dirty="0">
                <a:solidFill>
                  <a:srgbClr val="FF0000"/>
                </a:solidFill>
              </a:rPr>
              <a:t>．进程图（</a:t>
            </a:r>
            <a:r>
              <a:rPr lang="en-US" altLang="zh-CN" b="1" dirty="0">
                <a:solidFill>
                  <a:srgbClr val="FF0000"/>
                </a:solidFill>
              </a:rPr>
              <a:t>Process  Graph</a:t>
            </a:r>
            <a:r>
              <a:rPr lang="zh-CN" altLang="en-US" b="1" dirty="0">
                <a:solidFill>
                  <a:srgbClr val="FF0000"/>
                </a:solidFill>
              </a:rPr>
              <a:t>）</a:t>
            </a:r>
            <a:endParaRPr lang="zh-CN" altLang="en-US" b="1" dirty="0">
              <a:solidFill>
                <a:srgbClr val="FF0000"/>
              </a:solidFill>
            </a:endParaRPr>
          </a:p>
          <a:p>
            <a:pPr lvl="1" eaLnBrk="1" hangingPunct="1"/>
            <a:r>
              <a:rPr lang="zh-CN" altLang="en-US" b="1" dirty="0"/>
              <a:t>进程图是用于描述一个进程的家族关系的有向树。</a:t>
            </a:r>
            <a:endParaRPr lang="zh-CN" altLang="en-US" b="1" dirty="0"/>
          </a:p>
          <a:p>
            <a:pPr lvl="1" eaLnBrk="1" hangingPunct="1"/>
            <a:r>
              <a:rPr lang="zh-CN" altLang="en-US" b="1" dirty="0"/>
              <a:t>子进程可以继承父进程所拥有的资源。</a:t>
            </a:r>
            <a:endParaRPr lang="zh-CN" altLang="en-US" b="1" dirty="0"/>
          </a:p>
          <a:p>
            <a:pPr lvl="1" eaLnBrk="1" hangingPunct="1"/>
            <a:r>
              <a:rPr lang="zh-CN" altLang="en-US" b="1" dirty="0"/>
              <a:t>当子进程被撤消时，应将其从父进程那里获得的资源归还给父进程。 </a:t>
            </a:r>
            <a:endParaRPr lang="zh-CN" altLang="en-US" b="1" dirty="0"/>
          </a:p>
          <a:p>
            <a:pPr lvl="1" eaLnBrk="1" hangingPunct="1"/>
            <a:r>
              <a:rPr lang="zh-CN" altLang="en-US" b="1" dirty="0"/>
              <a:t>在撤消父进程时，也必须同时撤消其所有的子进程。 </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4258"/>
                                        </p:tgtEl>
                                        <p:attrNameLst>
                                          <p:attrName>style.visibility</p:attrName>
                                        </p:attrNameLst>
                                      </p:cBhvr>
                                      <p:to>
                                        <p:strVal val="visible"/>
                                      </p:to>
                                    </p:set>
                                    <p:animEffect transition="in" filter="fade">
                                      <p:cBhvr>
                                        <p:cTn id="7" dur="2000"/>
                                        <p:tgtEl>
                                          <p:spTgt spid="2242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6563">
                                            <p:txEl>
                                              <p:charRg st="0" end="23"/>
                                            </p:txEl>
                                          </p:spTgt>
                                        </p:tgtEl>
                                        <p:attrNameLst>
                                          <p:attrName>style.visibility</p:attrName>
                                        </p:attrNameLst>
                                      </p:cBhvr>
                                      <p:to>
                                        <p:strVal val="visible"/>
                                      </p:to>
                                    </p:set>
                                    <p:animEffect transition="in" filter="fade">
                                      <p:cBhvr>
                                        <p:cTn id="12" dur="2000"/>
                                        <p:tgtEl>
                                          <p:spTgt spid="66563">
                                            <p:txEl>
                                              <p:charRg st="0" end="2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6563">
                                            <p:txEl>
                                              <p:charRg st="23" end="46"/>
                                            </p:txEl>
                                          </p:spTgt>
                                        </p:tgtEl>
                                        <p:attrNameLst>
                                          <p:attrName>style.visibility</p:attrName>
                                        </p:attrNameLst>
                                      </p:cBhvr>
                                      <p:to>
                                        <p:strVal val="visible"/>
                                      </p:to>
                                    </p:set>
                                    <p:animEffect transition="in" filter="fade">
                                      <p:cBhvr>
                                        <p:cTn id="15" dur="2000"/>
                                        <p:tgtEl>
                                          <p:spTgt spid="66563">
                                            <p:txEl>
                                              <p:charRg st="23" end="46"/>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6563">
                                            <p:txEl>
                                              <p:charRg st="46" end="64"/>
                                            </p:txEl>
                                          </p:spTgt>
                                        </p:tgtEl>
                                        <p:attrNameLst>
                                          <p:attrName>style.visibility</p:attrName>
                                        </p:attrNameLst>
                                      </p:cBhvr>
                                      <p:to>
                                        <p:strVal val="visible"/>
                                      </p:to>
                                    </p:set>
                                    <p:animEffect transition="in" filter="fade">
                                      <p:cBhvr>
                                        <p:cTn id="18" dur="2000"/>
                                        <p:tgtEl>
                                          <p:spTgt spid="66563">
                                            <p:txEl>
                                              <p:charRg st="46" end="6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6563">
                                            <p:txEl>
                                              <p:charRg st="64" end="96"/>
                                            </p:txEl>
                                          </p:spTgt>
                                        </p:tgtEl>
                                        <p:attrNameLst>
                                          <p:attrName>style.visibility</p:attrName>
                                        </p:attrNameLst>
                                      </p:cBhvr>
                                      <p:to>
                                        <p:strVal val="visible"/>
                                      </p:to>
                                    </p:set>
                                    <p:animEffect transition="in" filter="fade">
                                      <p:cBhvr>
                                        <p:cTn id="21" dur="2000"/>
                                        <p:tgtEl>
                                          <p:spTgt spid="66563">
                                            <p:txEl>
                                              <p:charRg st="64" end="96"/>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6563">
                                            <p:txEl>
                                              <p:charRg st="96" end="121"/>
                                            </p:txEl>
                                          </p:spTgt>
                                        </p:tgtEl>
                                        <p:attrNameLst>
                                          <p:attrName>style.visibility</p:attrName>
                                        </p:attrNameLst>
                                      </p:cBhvr>
                                      <p:to>
                                        <p:strVal val="visible"/>
                                      </p:to>
                                    </p:set>
                                    <p:animEffect transition="in" filter="fade">
                                      <p:cBhvr>
                                        <p:cTn id="24" dur="2000"/>
                                        <p:tgtEl>
                                          <p:spTgt spid="66563">
                                            <p:txEl>
                                              <p:charRg st="96" end="1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p:bldP spid="6656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0418" name="Picture 4"/>
          <p:cNvPicPr>
            <a:picLocks noChangeAspect="1"/>
          </p:cNvPicPr>
          <p:nvPr/>
        </p:nvPicPr>
        <p:blipFill>
          <a:blip r:embed="rId1"/>
          <a:stretch>
            <a:fillRect/>
          </a:stretch>
        </p:blipFill>
        <p:spPr>
          <a:xfrm>
            <a:off x="685800" y="685800"/>
            <a:ext cx="7315200" cy="4533900"/>
          </a:xfrm>
          <a:prstGeom prst="rect">
            <a:avLst/>
          </a:prstGeom>
          <a:noFill/>
          <a:ln w="9525">
            <a:noFill/>
          </a:ln>
        </p:spPr>
      </p:pic>
      <p:sp>
        <p:nvSpPr>
          <p:cNvPr id="60419" name="Text Box 5"/>
          <p:cNvSpPr txBox="1"/>
          <p:nvPr/>
        </p:nvSpPr>
        <p:spPr>
          <a:xfrm>
            <a:off x="3886200" y="5486400"/>
            <a:ext cx="1828800"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dirty="0"/>
              <a:t>进程图</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Rectangle 2"/>
          <p:cNvSpPr>
            <a:spLocks noGrp="1" noRot="1" noChangeArrowheads="1"/>
          </p:cNvSpPr>
          <p:nvPr>
            <p:ph type="title"/>
          </p:nvPr>
        </p:nvSpPr>
        <p:spPr>
          <a:xfrm>
            <a:off x="304800" y="457200"/>
            <a:ext cx="7772400" cy="8382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 </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引起创建进程的事件</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8611" name="Rectangle 3"/>
          <p:cNvSpPr>
            <a:spLocks noGrp="1" noRot="1"/>
          </p:cNvSpPr>
          <p:nvPr>
            <p:ph type="body"/>
          </p:nvPr>
        </p:nvSpPr>
        <p:spPr>
          <a:xfrm>
            <a:off x="304800" y="1676400"/>
            <a:ext cx="8686800" cy="4495800"/>
          </a:xfrm>
        </p:spPr>
        <p:txBody>
          <a:bodyPr vert="horz" wrap="square" lIns="91440" tIns="45720" rIns="91440" bIns="45720" anchor="t" anchorCtr="0"/>
          <a:p>
            <a:pPr algn="just" eaLnBrk="1" hangingPunct="1"/>
            <a:r>
              <a:rPr lang="zh-CN" altLang="en-US" b="1" dirty="0">
                <a:latin typeface="楷体_GB2312" pitchFamily="49" charset="-122"/>
                <a:ea typeface="楷体_GB2312" pitchFamily="49" charset="-122"/>
              </a:rPr>
              <a:t>导致一个进程去创建另一个进程的典型事件，可有以下四类：</a:t>
            </a:r>
            <a:endParaRPr lang="zh-CN" altLang="en-US" b="1" dirty="0">
              <a:latin typeface="楷体_GB2312" pitchFamily="49" charset="-122"/>
              <a:ea typeface="楷体_GB2312" pitchFamily="49" charset="-122"/>
            </a:endParaRPr>
          </a:p>
          <a:p>
            <a:pPr lvl="1" algn="just" eaLnBrk="1" hangingPunct="1">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用户登录</a:t>
            </a:r>
            <a:r>
              <a:rPr lang="zh-CN" altLang="en-US" b="1" dirty="0">
                <a:latin typeface="楷体_GB2312" pitchFamily="49" charset="-122"/>
                <a:ea typeface="楷体_GB2312" pitchFamily="49" charset="-122"/>
              </a:rPr>
              <a:t>。分时系统中，用户通过终端登录成功后，系统将为用户建立一个进程。</a:t>
            </a:r>
            <a:endParaRPr lang="zh-CN" altLang="en-US" b="1" dirty="0">
              <a:latin typeface="楷体_GB2312" pitchFamily="49" charset="-122"/>
              <a:ea typeface="楷体_GB2312" pitchFamily="49" charset="-122"/>
            </a:endParaRPr>
          </a:p>
          <a:p>
            <a:pPr lvl="1" algn="just" eaLnBrk="1" hangingPunct="1">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作业调度</a:t>
            </a:r>
            <a:r>
              <a:rPr lang="zh-CN" altLang="en-US" b="1" dirty="0">
                <a:latin typeface="楷体_GB2312" pitchFamily="49" charset="-122"/>
                <a:ea typeface="楷体_GB2312" pitchFamily="49" charset="-122"/>
              </a:rPr>
              <a:t>。将作业调入内存后，创建进程。</a:t>
            </a:r>
            <a:endParaRPr lang="zh-CN" altLang="en-US" b="1" dirty="0">
              <a:latin typeface="楷体_GB2312" pitchFamily="49" charset="-122"/>
              <a:ea typeface="楷体_GB2312" pitchFamily="49" charset="-122"/>
            </a:endParaRPr>
          </a:p>
          <a:p>
            <a:pPr lvl="1" algn="just" eaLnBrk="1" hangingPunct="1">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提供服务</a:t>
            </a:r>
            <a:r>
              <a:rPr lang="zh-CN" altLang="en-US" b="1" dirty="0">
                <a:latin typeface="楷体_GB2312" pitchFamily="49" charset="-122"/>
                <a:ea typeface="楷体_GB2312" pitchFamily="49" charset="-122"/>
              </a:rPr>
              <a:t>。例如：</a:t>
            </a:r>
            <a:r>
              <a:rPr lang="en-US" altLang="zh-CN" b="1" dirty="0">
                <a:latin typeface="楷体_GB2312" pitchFamily="49" charset="-122"/>
                <a:ea typeface="楷体_GB2312" pitchFamily="49" charset="-122"/>
              </a:rPr>
              <a:t>I/O</a:t>
            </a:r>
            <a:r>
              <a:rPr lang="zh-CN" altLang="en-US" b="1" dirty="0">
                <a:latin typeface="楷体_GB2312" pitchFamily="49" charset="-122"/>
                <a:ea typeface="楷体_GB2312" pitchFamily="49" charset="-122"/>
              </a:rPr>
              <a:t>请求，打印进程等。</a:t>
            </a:r>
            <a:endParaRPr lang="zh-CN" altLang="en-US" b="1" dirty="0">
              <a:latin typeface="楷体_GB2312" pitchFamily="49" charset="-122"/>
              <a:ea typeface="楷体_GB2312" pitchFamily="49" charset="-122"/>
            </a:endParaRPr>
          </a:p>
          <a:p>
            <a:pPr lvl="1" algn="just" eaLnBrk="1" hangingPunct="1">
              <a:buNone/>
            </a:pP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应用请求</a:t>
            </a:r>
            <a:r>
              <a:rPr lang="zh-CN" altLang="en-US" b="1" dirty="0">
                <a:latin typeface="楷体_GB2312" pitchFamily="49" charset="-122"/>
                <a:ea typeface="楷体_GB2312" pitchFamily="49" charset="-122"/>
              </a:rPr>
              <a:t>。基于应用进程的需求，由它自己创建一个新进程，以便使新进程以并发运行方式完成特定任务。</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6306"/>
                                        </p:tgtEl>
                                        <p:attrNameLst>
                                          <p:attrName>style.visibility</p:attrName>
                                        </p:attrNameLst>
                                      </p:cBhvr>
                                      <p:to>
                                        <p:strVal val="visible"/>
                                      </p:to>
                                    </p:set>
                                    <p:animEffect transition="in" filter="fade">
                                      <p:cBhvr>
                                        <p:cTn id="7" dur="2000"/>
                                        <p:tgtEl>
                                          <p:spTgt spid="2263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8611">
                                            <p:txEl>
                                              <p:charRg st="0" end="28"/>
                                            </p:txEl>
                                          </p:spTgt>
                                        </p:tgtEl>
                                        <p:attrNameLst>
                                          <p:attrName>style.visibility</p:attrName>
                                        </p:attrNameLst>
                                      </p:cBhvr>
                                      <p:to>
                                        <p:strVal val="visible"/>
                                      </p:to>
                                    </p:set>
                                    <p:animEffect transition="in" filter="fade">
                                      <p:cBhvr>
                                        <p:cTn id="12" dur="2000"/>
                                        <p:tgtEl>
                                          <p:spTgt spid="68611">
                                            <p:txEl>
                                              <p:charRg st="0" end="2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8611">
                                            <p:txEl>
                                              <p:charRg st="28" end="68"/>
                                            </p:txEl>
                                          </p:spTgt>
                                        </p:tgtEl>
                                        <p:attrNameLst>
                                          <p:attrName>style.visibility</p:attrName>
                                        </p:attrNameLst>
                                      </p:cBhvr>
                                      <p:to>
                                        <p:strVal val="visible"/>
                                      </p:to>
                                    </p:set>
                                    <p:animEffect transition="in" filter="fade">
                                      <p:cBhvr>
                                        <p:cTn id="15" dur="2000"/>
                                        <p:tgtEl>
                                          <p:spTgt spid="68611">
                                            <p:txEl>
                                              <p:charRg st="28" end="6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8611">
                                            <p:txEl>
                                              <p:charRg st="68" end="91"/>
                                            </p:txEl>
                                          </p:spTgt>
                                        </p:tgtEl>
                                        <p:attrNameLst>
                                          <p:attrName>style.visibility</p:attrName>
                                        </p:attrNameLst>
                                      </p:cBhvr>
                                      <p:to>
                                        <p:strVal val="visible"/>
                                      </p:to>
                                    </p:set>
                                    <p:animEffect transition="in" filter="fade">
                                      <p:cBhvr>
                                        <p:cTn id="18" dur="2000"/>
                                        <p:tgtEl>
                                          <p:spTgt spid="68611">
                                            <p:txEl>
                                              <p:charRg st="68" end="9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8611">
                                            <p:txEl>
                                              <p:charRg st="91" end="115"/>
                                            </p:txEl>
                                          </p:spTgt>
                                        </p:tgtEl>
                                        <p:attrNameLst>
                                          <p:attrName>style.visibility</p:attrName>
                                        </p:attrNameLst>
                                      </p:cBhvr>
                                      <p:to>
                                        <p:strVal val="visible"/>
                                      </p:to>
                                    </p:set>
                                    <p:animEffect transition="in" filter="fade">
                                      <p:cBhvr>
                                        <p:cTn id="21" dur="2000"/>
                                        <p:tgtEl>
                                          <p:spTgt spid="68611">
                                            <p:txEl>
                                              <p:charRg st="91" end="11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8611">
                                            <p:txEl>
                                              <p:charRg st="115" end="166"/>
                                            </p:txEl>
                                          </p:spTgt>
                                        </p:tgtEl>
                                        <p:attrNameLst>
                                          <p:attrName>style.visibility</p:attrName>
                                        </p:attrNameLst>
                                      </p:cBhvr>
                                      <p:to>
                                        <p:strVal val="visible"/>
                                      </p:to>
                                    </p:set>
                                    <p:animEffect transition="in" filter="fade">
                                      <p:cBhvr>
                                        <p:cTn id="24" dur="2000"/>
                                        <p:tgtEl>
                                          <p:spTgt spid="68611">
                                            <p:txEl>
                                              <p:charRg st="115" end="1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p:bldP spid="68611"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Rectangle 2"/>
          <p:cNvSpPr>
            <a:spLocks noGrp="1" noRot="1" noChangeArrowheads="1"/>
          </p:cNvSpPr>
          <p:nvPr>
            <p:ph type="title"/>
          </p:nvPr>
        </p:nvSpPr>
        <p:spPr>
          <a:xfrm>
            <a:off x="301625" y="355600"/>
            <a:ext cx="6802438" cy="6985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进程的创建</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9635" name="Rectangle 3"/>
          <p:cNvSpPr>
            <a:spLocks noGrp="1" noRot="1"/>
          </p:cNvSpPr>
          <p:nvPr>
            <p:ph type="body"/>
          </p:nvPr>
        </p:nvSpPr>
        <p:spPr>
          <a:xfrm>
            <a:off x="381000" y="1524000"/>
            <a:ext cx="8305800" cy="4800600"/>
          </a:xfrm>
        </p:spPr>
        <p:txBody>
          <a:bodyPr vert="horz" wrap="square" lIns="91440" tIns="45720" rIns="91440" bIns="45720" anchor="t" anchorCtr="0"/>
          <a:p>
            <a:pPr marL="387350" indent="-387350" algn="just" eaLnBrk="1" hangingPunct="1">
              <a:lnSpc>
                <a:spcPct val="90000"/>
              </a:lnSpc>
            </a:pPr>
            <a:r>
              <a:rPr lang="zh-CN" altLang="en-US" sz="3600" b="1" dirty="0">
                <a:solidFill>
                  <a:schemeClr val="folHlink"/>
                </a:solidFill>
              </a:rPr>
              <a:t>调用进程创建原语步骤：</a:t>
            </a:r>
            <a:endParaRPr lang="zh-CN" altLang="en-US" sz="3600" b="1" dirty="0">
              <a:solidFill>
                <a:schemeClr val="folHlink"/>
              </a:solidFill>
            </a:endParaRPr>
          </a:p>
          <a:p>
            <a:pPr marL="1339850" lvl="1" indent="-762000" algn="just" eaLnBrk="1" hangingPunct="1">
              <a:lnSpc>
                <a:spcPct val="90000"/>
              </a:lnSpc>
              <a:buNone/>
            </a:pPr>
            <a:r>
              <a:rPr lang="zh-CN" altLang="en-US" b="1" dirty="0">
                <a:solidFill>
                  <a:srgbClr val="0066FF"/>
                </a:solidFill>
              </a:rPr>
              <a:t>（</a:t>
            </a:r>
            <a:r>
              <a:rPr lang="en-US" altLang="zh-CN" b="1" dirty="0">
                <a:solidFill>
                  <a:srgbClr val="0066FF"/>
                </a:solidFill>
              </a:rPr>
              <a:t>1</a:t>
            </a:r>
            <a:r>
              <a:rPr lang="zh-CN" altLang="en-US" b="1" dirty="0">
                <a:solidFill>
                  <a:srgbClr val="0066FF"/>
                </a:solidFill>
              </a:rPr>
              <a:t>）申请空白</a:t>
            </a:r>
            <a:r>
              <a:rPr lang="en-US" altLang="zh-CN" b="1" dirty="0">
                <a:solidFill>
                  <a:srgbClr val="0066FF"/>
                </a:solidFill>
              </a:rPr>
              <a:t>PCB</a:t>
            </a:r>
            <a:r>
              <a:rPr lang="zh-CN" altLang="en-US" b="1" dirty="0">
                <a:solidFill>
                  <a:srgbClr val="0066FF"/>
                </a:solidFill>
              </a:rPr>
              <a:t>。   </a:t>
            </a:r>
            <a:endParaRPr lang="zh-CN" altLang="en-US" b="1" dirty="0">
              <a:solidFill>
                <a:srgbClr val="0066FF"/>
              </a:solidFill>
            </a:endParaRPr>
          </a:p>
          <a:p>
            <a:pPr marL="1339850" lvl="1" indent="-762000" algn="just" eaLnBrk="1" hangingPunct="1">
              <a:lnSpc>
                <a:spcPct val="90000"/>
              </a:lnSpc>
              <a:buNone/>
            </a:pPr>
            <a:r>
              <a:rPr lang="zh-CN" altLang="en-US" b="1" dirty="0">
                <a:solidFill>
                  <a:srgbClr val="0066FF"/>
                </a:solidFill>
              </a:rPr>
              <a:t>（</a:t>
            </a:r>
            <a:r>
              <a:rPr lang="en-US" altLang="zh-CN" b="1" dirty="0">
                <a:solidFill>
                  <a:srgbClr val="0066FF"/>
                </a:solidFill>
              </a:rPr>
              <a:t>2</a:t>
            </a:r>
            <a:r>
              <a:rPr lang="zh-CN" altLang="en-US" b="1" dirty="0">
                <a:solidFill>
                  <a:srgbClr val="0066FF"/>
                </a:solidFill>
              </a:rPr>
              <a:t>）为新进程分配资源。</a:t>
            </a:r>
            <a:endParaRPr lang="zh-CN" altLang="en-US" b="1" dirty="0">
              <a:solidFill>
                <a:srgbClr val="0066FF"/>
              </a:solidFill>
            </a:endParaRPr>
          </a:p>
          <a:p>
            <a:pPr marL="1339850" lvl="1" indent="-762000" algn="just" eaLnBrk="1" hangingPunct="1">
              <a:lnSpc>
                <a:spcPct val="90000"/>
              </a:lnSpc>
              <a:buNone/>
            </a:pPr>
            <a:r>
              <a:rPr lang="zh-CN" altLang="en-US" b="1" dirty="0">
                <a:solidFill>
                  <a:srgbClr val="0066FF"/>
                </a:solidFill>
              </a:rPr>
              <a:t>（</a:t>
            </a:r>
            <a:r>
              <a:rPr lang="en-US" altLang="zh-CN" b="1" dirty="0">
                <a:solidFill>
                  <a:srgbClr val="0066FF"/>
                </a:solidFill>
              </a:rPr>
              <a:t>3</a:t>
            </a:r>
            <a:r>
              <a:rPr lang="zh-CN" altLang="en-US" b="1" dirty="0">
                <a:solidFill>
                  <a:srgbClr val="0066FF"/>
                </a:solidFill>
              </a:rPr>
              <a:t>）初始化进程控制块。</a:t>
            </a:r>
            <a:endParaRPr lang="zh-CN" altLang="en-US" b="1" dirty="0">
              <a:solidFill>
                <a:srgbClr val="0066FF"/>
              </a:solidFill>
            </a:endParaRPr>
          </a:p>
          <a:p>
            <a:pPr marL="1847850" lvl="2" algn="just" eaLnBrk="1" hangingPunct="1">
              <a:lnSpc>
                <a:spcPct val="90000"/>
              </a:lnSpc>
              <a:buNone/>
            </a:pPr>
            <a:r>
              <a:rPr lang="zh-CN" altLang="en-US" b="1" dirty="0"/>
              <a:t>①初始化标识信息。</a:t>
            </a:r>
            <a:endParaRPr lang="zh-CN" altLang="en-US" b="1" dirty="0"/>
          </a:p>
          <a:p>
            <a:pPr marL="1847850" lvl="2" algn="just" eaLnBrk="1" hangingPunct="1">
              <a:lnSpc>
                <a:spcPct val="90000"/>
              </a:lnSpc>
              <a:buNone/>
            </a:pPr>
            <a:r>
              <a:rPr lang="zh-CN" altLang="en-US" b="1" dirty="0"/>
              <a:t>②初始化处理机状态信息。使程序计数器指向程序的入口地址，使栈指针指向栈顶；</a:t>
            </a:r>
            <a:endParaRPr lang="zh-CN" altLang="en-US" b="1" dirty="0"/>
          </a:p>
          <a:p>
            <a:pPr marL="1847850" lvl="2" algn="just" eaLnBrk="1" hangingPunct="1">
              <a:lnSpc>
                <a:spcPct val="90000"/>
              </a:lnSpc>
              <a:buNone/>
            </a:pPr>
            <a:r>
              <a:rPr lang="zh-CN" altLang="en-US" b="1" dirty="0"/>
              <a:t>③初始化处理机控制信息：进程的状态、优先级。</a:t>
            </a:r>
            <a:endParaRPr lang="zh-CN" altLang="en-US" b="1" dirty="0"/>
          </a:p>
          <a:p>
            <a:pPr marL="1339850" lvl="1" indent="-762000" eaLnBrk="1" hangingPunct="1">
              <a:lnSpc>
                <a:spcPct val="90000"/>
              </a:lnSpc>
              <a:buNone/>
            </a:pPr>
            <a:r>
              <a:rPr lang="zh-CN" altLang="en-US" b="1" dirty="0">
                <a:solidFill>
                  <a:srgbClr val="0066FF"/>
                </a:solidFill>
              </a:rPr>
              <a:t> （</a:t>
            </a:r>
            <a:r>
              <a:rPr lang="en-US" altLang="zh-CN" b="1" dirty="0">
                <a:solidFill>
                  <a:srgbClr val="0066FF"/>
                </a:solidFill>
              </a:rPr>
              <a:t>4</a:t>
            </a:r>
            <a:r>
              <a:rPr lang="zh-CN" altLang="en-US" b="1" dirty="0">
                <a:solidFill>
                  <a:srgbClr val="0066FF"/>
                </a:solidFill>
              </a:rPr>
              <a:t>）将新进程插入就绪队列，</a:t>
            </a:r>
            <a:r>
              <a:rPr lang="zh-CN" altLang="en-US" b="1" dirty="0">
                <a:solidFill>
                  <a:schemeClr val="folHlink"/>
                </a:solidFill>
              </a:rPr>
              <a:t>启动调度</a:t>
            </a:r>
            <a:r>
              <a:rPr lang="zh-CN" altLang="en-US" b="1" dirty="0"/>
              <a:t>。</a:t>
            </a:r>
            <a:endParaRPr lang="zh-CN" altLang="en-US" b="1" dirty="0"/>
          </a:p>
          <a:p>
            <a:pPr marL="387350" indent="-387350" eaLnBrk="1" hangingPunct="1">
              <a:lnSpc>
                <a:spcPct val="90000"/>
              </a:lnSpc>
            </a:pPr>
            <a:r>
              <a:rPr lang="en-US" altLang="zh-CN" b="1" dirty="0"/>
              <a:t>UNIX</a:t>
            </a:r>
            <a:r>
              <a:rPr lang="zh-CN" altLang="en-US" b="1" dirty="0"/>
              <a:t>用</a:t>
            </a:r>
            <a:r>
              <a:rPr lang="en-US" altLang="zh-CN" b="1" dirty="0"/>
              <a:t>fork()</a:t>
            </a:r>
            <a:r>
              <a:rPr lang="zh-CN" altLang="en-US" b="1" dirty="0"/>
              <a:t>函数创建进程</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7330"/>
                                        </p:tgtEl>
                                        <p:attrNameLst>
                                          <p:attrName>style.visibility</p:attrName>
                                        </p:attrNameLst>
                                      </p:cBhvr>
                                      <p:to>
                                        <p:strVal val="visible"/>
                                      </p:to>
                                    </p:set>
                                    <p:animEffect transition="in" filter="fade">
                                      <p:cBhvr>
                                        <p:cTn id="7" dur="2000"/>
                                        <p:tgtEl>
                                          <p:spTgt spid="2273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9635">
                                            <p:txEl>
                                              <p:charRg st="0" end="12"/>
                                            </p:txEl>
                                          </p:spTgt>
                                        </p:tgtEl>
                                        <p:attrNameLst>
                                          <p:attrName>style.visibility</p:attrName>
                                        </p:attrNameLst>
                                      </p:cBhvr>
                                      <p:to>
                                        <p:strVal val="visible"/>
                                      </p:to>
                                    </p:set>
                                    <p:animEffect transition="in" filter="fade">
                                      <p:cBhvr>
                                        <p:cTn id="12" dur="2000"/>
                                        <p:tgtEl>
                                          <p:spTgt spid="69635">
                                            <p:txEl>
                                              <p:charRg st="0" end="1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9635">
                                            <p:txEl>
                                              <p:charRg st="12" end="27"/>
                                            </p:txEl>
                                          </p:spTgt>
                                        </p:tgtEl>
                                        <p:attrNameLst>
                                          <p:attrName>style.visibility</p:attrName>
                                        </p:attrNameLst>
                                      </p:cBhvr>
                                      <p:to>
                                        <p:strVal val="visible"/>
                                      </p:to>
                                    </p:set>
                                    <p:animEffect transition="in" filter="fade">
                                      <p:cBhvr>
                                        <p:cTn id="15" dur="2000"/>
                                        <p:tgtEl>
                                          <p:spTgt spid="69635">
                                            <p:txEl>
                                              <p:charRg st="12" end="2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9635">
                                            <p:txEl>
                                              <p:charRg st="27" end="40"/>
                                            </p:txEl>
                                          </p:spTgt>
                                        </p:tgtEl>
                                        <p:attrNameLst>
                                          <p:attrName>style.visibility</p:attrName>
                                        </p:attrNameLst>
                                      </p:cBhvr>
                                      <p:to>
                                        <p:strVal val="visible"/>
                                      </p:to>
                                    </p:set>
                                    <p:animEffect transition="in" filter="fade">
                                      <p:cBhvr>
                                        <p:cTn id="18" dur="2000"/>
                                        <p:tgtEl>
                                          <p:spTgt spid="69635">
                                            <p:txEl>
                                              <p:charRg st="27" end="4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9635">
                                            <p:txEl>
                                              <p:charRg st="40" end="53"/>
                                            </p:txEl>
                                          </p:spTgt>
                                        </p:tgtEl>
                                        <p:attrNameLst>
                                          <p:attrName>style.visibility</p:attrName>
                                        </p:attrNameLst>
                                      </p:cBhvr>
                                      <p:to>
                                        <p:strVal val="visible"/>
                                      </p:to>
                                    </p:set>
                                    <p:animEffect transition="in" filter="fade">
                                      <p:cBhvr>
                                        <p:cTn id="21" dur="2000"/>
                                        <p:tgtEl>
                                          <p:spTgt spid="69635">
                                            <p:txEl>
                                              <p:charRg st="40" end="5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9635">
                                            <p:txEl>
                                              <p:charRg st="53" end="63"/>
                                            </p:txEl>
                                          </p:spTgt>
                                        </p:tgtEl>
                                        <p:attrNameLst>
                                          <p:attrName>style.visibility</p:attrName>
                                        </p:attrNameLst>
                                      </p:cBhvr>
                                      <p:to>
                                        <p:strVal val="visible"/>
                                      </p:to>
                                    </p:set>
                                    <p:animEffect transition="in" filter="fade">
                                      <p:cBhvr>
                                        <p:cTn id="24" dur="2000"/>
                                        <p:tgtEl>
                                          <p:spTgt spid="69635">
                                            <p:txEl>
                                              <p:charRg st="53" end="6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9635">
                                            <p:txEl>
                                              <p:charRg st="63" end="101"/>
                                            </p:txEl>
                                          </p:spTgt>
                                        </p:tgtEl>
                                        <p:attrNameLst>
                                          <p:attrName>style.visibility</p:attrName>
                                        </p:attrNameLst>
                                      </p:cBhvr>
                                      <p:to>
                                        <p:strVal val="visible"/>
                                      </p:to>
                                    </p:set>
                                    <p:animEffect transition="in" filter="fade">
                                      <p:cBhvr>
                                        <p:cTn id="27" dur="2000"/>
                                        <p:tgtEl>
                                          <p:spTgt spid="69635">
                                            <p:txEl>
                                              <p:charRg st="63" end="10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9635">
                                            <p:txEl>
                                              <p:charRg st="101" end="124"/>
                                            </p:txEl>
                                          </p:spTgt>
                                        </p:tgtEl>
                                        <p:attrNameLst>
                                          <p:attrName>style.visibility</p:attrName>
                                        </p:attrNameLst>
                                      </p:cBhvr>
                                      <p:to>
                                        <p:strVal val="visible"/>
                                      </p:to>
                                    </p:set>
                                    <p:animEffect transition="in" filter="fade">
                                      <p:cBhvr>
                                        <p:cTn id="30" dur="2000"/>
                                        <p:tgtEl>
                                          <p:spTgt spid="69635">
                                            <p:txEl>
                                              <p:charRg st="101" end="124"/>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9635">
                                            <p:txEl>
                                              <p:charRg st="124" end="145"/>
                                            </p:txEl>
                                          </p:spTgt>
                                        </p:tgtEl>
                                        <p:attrNameLst>
                                          <p:attrName>style.visibility</p:attrName>
                                        </p:attrNameLst>
                                      </p:cBhvr>
                                      <p:to>
                                        <p:strVal val="visible"/>
                                      </p:to>
                                    </p:set>
                                    <p:animEffect transition="in" filter="fade">
                                      <p:cBhvr>
                                        <p:cTn id="33" dur="2000"/>
                                        <p:tgtEl>
                                          <p:spTgt spid="69635">
                                            <p:txEl>
                                              <p:charRg st="124" end="14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9635">
                                            <p:txEl>
                                              <p:charRg st="145" end="163"/>
                                            </p:txEl>
                                          </p:spTgt>
                                        </p:tgtEl>
                                        <p:attrNameLst>
                                          <p:attrName>style.visibility</p:attrName>
                                        </p:attrNameLst>
                                      </p:cBhvr>
                                      <p:to>
                                        <p:strVal val="visible"/>
                                      </p:to>
                                    </p:set>
                                    <p:animEffect transition="in" filter="fade">
                                      <p:cBhvr>
                                        <p:cTn id="38" dur="2000"/>
                                        <p:tgtEl>
                                          <p:spTgt spid="69635">
                                            <p:txEl>
                                              <p:charRg st="145" end="1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0" grpId="0"/>
      <p:bldP spid="6963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0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进程创建举例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0659" name="Rectangle 3"/>
          <p:cNvSpPr>
            <a:spLocks noGrp="1" noRot="1"/>
          </p:cNvSpPr>
          <p:nvPr>
            <p:ph type="body"/>
          </p:nvPr>
        </p:nvSpPr>
        <p:spPr>
          <a:xfrm>
            <a:off x="301625" y="1603375"/>
            <a:ext cx="8540750" cy="4498975"/>
          </a:xfrm>
        </p:spPr>
        <p:txBody>
          <a:bodyPr vert="horz" wrap="square" lIns="91440" tIns="45720" rIns="91440" bIns="45720" anchor="t" anchorCtr="0"/>
          <a:p>
            <a:pPr eaLnBrk="1" hangingPunct="1"/>
            <a:r>
              <a:rPr lang="en-US" altLang="zh-CN" sz="2800" b="1" dirty="0"/>
              <a:t>Fork():</a:t>
            </a:r>
            <a:r>
              <a:rPr lang="zh-CN" altLang="en-US" sz="2800" b="1" dirty="0"/>
              <a:t>复制父进程全部资源。</a:t>
            </a:r>
            <a:endParaRPr lang="zh-CN" altLang="en-US" sz="2800" b="1" dirty="0"/>
          </a:p>
          <a:p>
            <a:pPr eaLnBrk="1" hangingPunct="1"/>
            <a:r>
              <a:rPr lang="en-US" altLang="zh-CN" sz="2800" b="1" dirty="0"/>
              <a:t>Clone():</a:t>
            </a:r>
            <a:r>
              <a:rPr lang="zh-CN" altLang="en-US" sz="2800" b="1" dirty="0"/>
              <a:t>有选择的复制父进程的资源。</a:t>
            </a:r>
            <a:r>
              <a:rPr lang="en-US" altLang="zh-CN" sz="2800" b="1" dirty="0"/>
              <a:t>(</a:t>
            </a:r>
            <a:r>
              <a:rPr lang="zh-CN" altLang="en-US" sz="2800" b="1" dirty="0"/>
              <a:t>带参数</a:t>
            </a:r>
            <a:r>
              <a:rPr lang="en-US" altLang="zh-CN" sz="2800" b="1" dirty="0"/>
              <a:t>)</a:t>
            </a:r>
            <a:endParaRPr lang="en-US" altLang="zh-CN" sz="2800" b="1" dirty="0"/>
          </a:p>
          <a:p>
            <a:pPr eaLnBrk="1" hangingPunct="1"/>
            <a:endParaRPr lang="en-US" altLang="zh-CN" sz="2800" b="1" dirty="0"/>
          </a:p>
          <a:p>
            <a:pPr eaLnBrk="1" hangingPunct="1"/>
            <a:endParaRPr lang="en-US" altLang="zh-CN" sz="2800" b="1" dirty="0"/>
          </a:p>
          <a:p>
            <a:pPr eaLnBrk="1" hangingPunct="1"/>
            <a:r>
              <a:rPr lang="en-US" altLang="zh-CN" sz="2800" b="1" dirty="0"/>
              <a:t>Vfork()</a:t>
            </a:r>
            <a:r>
              <a:rPr lang="zh-CN" altLang="en-US" sz="2800" b="1" dirty="0"/>
              <a:t>：创建一个线程。复制除</a:t>
            </a:r>
            <a:r>
              <a:rPr lang="en-US" altLang="zh-CN" sz="2800" b="1" dirty="0"/>
              <a:t>tast_struct</a:t>
            </a:r>
            <a:r>
              <a:rPr lang="zh-CN" altLang="en-US" sz="2800" b="1" dirty="0"/>
              <a:t>和系统空间堆栈外的所有资源。</a:t>
            </a:r>
            <a:endParaRPr lang="zh-CN" altLang="en-US" sz="2800" b="1" dirty="0"/>
          </a:p>
          <a:p>
            <a:pPr eaLnBrk="1" hangingPunct="1"/>
            <a:r>
              <a:rPr lang="zh-CN" altLang="en-US" sz="2800" b="1" dirty="0"/>
              <a:t>这三个系统调用</a:t>
            </a:r>
            <a:r>
              <a:rPr lang="zh-CN" altLang="en-US" sz="2800" b="1" dirty="0">
                <a:solidFill>
                  <a:srgbClr val="FF0000"/>
                </a:solidFill>
              </a:rPr>
              <a:t>都是通过调用</a:t>
            </a:r>
            <a:r>
              <a:rPr lang="en-US" altLang="zh-CN" sz="2800" b="1" dirty="0">
                <a:solidFill>
                  <a:srgbClr val="FF0000"/>
                </a:solidFill>
              </a:rPr>
              <a:t>do_fork()</a:t>
            </a:r>
            <a:r>
              <a:rPr lang="zh-CN" altLang="en-US" sz="2800" b="1" dirty="0">
                <a:solidFill>
                  <a:srgbClr val="FF0000"/>
                </a:solidFill>
              </a:rPr>
              <a:t>实现</a:t>
            </a:r>
            <a:r>
              <a:rPr lang="zh-CN" altLang="en-US" sz="2800" b="1" dirty="0"/>
              <a:t>，只是参数不同。</a:t>
            </a:r>
            <a:endParaRPr lang="zh-CN" altLang="en-US" sz="2800" b="1" dirty="0"/>
          </a:p>
        </p:txBody>
      </p:sp>
      <p:pic>
        <p:nvPicPr>
          <p:cNvPr id="63492" name="Picture 6"/>
          <p:cNvPicPr>
            <a:picLocks noChangeAspect="1"/>
          </p:cNvPicPr>
          <p:nvPr/>
        </p:nvPicPr>
        <p:blipFill>
          <a:blip r:embed="rId1"/>
          <a:stretch>
            <a:fillRect/>
          </a:stretch>
        </p:blipFill>
        <p:spPr>
          <a:xfrm>
            <a:off x="228600" y="2895600"/>
            <a:ext cx="8382000" cy="6858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0802"/>
                                        </p:tgtEl>
                                        <p:attrNameLst>
                                          <p:attrName>style.visibility</p:attrName>
                                        </p:attrNameLst>
                                      </p:cBhvr>
                                      <p:to>
                                        <p:strVal val="visible"/>
                                      </p:to>
                                    </p:set>
                                    <p:animEffect transition="in" filter="fade">
                                      <p:cBhvr>
                                        <p:cTn id="7" dur="2000"/>
                                        <p:tgtEl>
                                          <p:spTgt spid="4608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659">
                                            <p:txEl>
                                              <p:charRg st="0" end="18"/>
                                            </p:txEl>
                                          </p:spTgt>
                                        </p:tgtEl>
                                        <p:attrNameLst>
                                          <p:attrName>style.visibility</p:attrName>
                                        </p:attrNameLst>
                                      </p:cBhvr>
                                      <p:to>
                                        <p:strVal val="visible"/>
                                      </p:to>
                                    </p:set>
                                    <p:animEffect transition="in" filter="fade">
                                      <p:cBhvr>
                                        <p:cTn id="12" dur="2000"/>
                                        <p:tgtEl>
                                          <p:spTgt spid="70659">
                                            <p:txEl>
                                              <p:charRg st="0" end="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0659">
                                            <p:txEl>
                                              <p:charRg st="18" end="45"/>
                                            </p:txEl>
                                          </p:spTgt>
                                        </p:tgtEl>
                                        <p:attrNameLst>
                                          <p:attrName>style.visibility</p:attrName>
                                        </p:attrNameLst>
                                      </p:cBhvr>
                                      <p:to>
                                        <p:strVal val="visible"/>
                                      </p:to>
                                    </p:set>
                                    <p:animEffect transition="in" filter="fade">
                                      <p:cBhvr>
                                        <p:cTn id="17" dur="2000"/>
                                        <p:tgtEl>
                                          <p:spTgt spid="70659">
                                            <p:txEl>
                                              <p:charRg st="18" end="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0659">
                                            <p:txEl>
                                              <p:charRg st="47" end="91"/>
                                            </p:txEl>
                                          </p:spTgt>
                                        </p:tgtEl>
                                        <p:attrNameLst>
                                          <p:attrName>style.visibility</p:attrName>
                                        </p:attrNameLst>
                                      </p:cBhvr>
                                      <p:to>
                                        <p:strVal val="visible"/>
                                      </p:to>
                                    </p:set>
                                    <p:animEffect transition="in" filter="fade">
                                      <p:cBhvr>
                                        <p:cTn id="22" dur="2000"/>
                                        <p:tgtEl>
                                          <p:spTgt spid="70659">
                                            <p:txEl>
                                              <p:charRg st="47" end="9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0659">
                                            <p:txEl>
                                              <p:charRg st="91" end="124"/>
                                            </p:txEl>
                                          </p:spTgt>
                                        </p:tgtEl>
                                        <p:attrNameLst>
                                          <p:attrName>style.visibility</p:attrName>
                                        </p:attrNameLst>
                                      </p:cBhvr>
                                      <p:to>
                                        <p:strVal val="visible"/>
                                      </p:to>
                                    </p:set>
                                    <p:animEffect transition="in" filter="fade">
                                      <p:cBhvr>
                                        <p:cTn id="27" dur="2000"/>
                                        <p:tgtEl>
                                          <p:spTgt spid="70659">
                                            <p:txEl>
                                              <p:charRg st="91" end="1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02" grpId="0"/>
      <p:bldP spid="7065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4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Linux</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进程空间获取讲解</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1683" name="Rectangle 3"/>
          <p:cNvSpPr>
            <a:spLocks noGrp="1" noRot="1"/>
          </p:cNvSpPr>
          <p:nvPr>
            <p:ph type="body"/>
          </p:nvPr>
        </p:nvSpPr>
        <p:spPr>
          <a:xfrm>
            <a:off x="301625" y="1603375"/>
            <a:ext cx="8540750" cy="4498975"/>
          </a:xfrm>
        </p:spPr>
        <p:txBody>
          <a:bodyPr vert="horz" wrap="square" lIns="91440" tIns="45720" rIns="91440" bIns="45720" anchor="t" anchorCtr="0"/>
          <a:p>
            <a:pPr eaLnBrk="1" hangingPunct="1"/>
            <a:r>
              <a:rPr lang="zh-CN" altLang="en-US" b="1" dirty="0"/>
              <a:t>申请空白</a:t>
            </a:r>
            <a:r>
              <a:rPr lang="en-US" altLang="zh-CN" b="1" dirty="0"/>
              <a:t>PCB</a:t>
            </a:r>
            <a:r>
              <a:rPr lang="zh-CN" altLang="en-US" b="1" dirty="0"/>
              <a:t>详细阐述：</a:t>
            </a:r>
            <a:endParaRPr lang="zh-CN" altLang="en-US" b="1" dirty="0"/>
          </a:p>
          <a:p>
            <a:pPr eaLnBrk="1" hangingPunct="1"/>
            <a:r>
              <a:rPr lang="en-US" altLang="zh-CN" dirty="0"/>
              <a:t>Do_fork()           alloc_task_struct(void) </a:t>
            </a:r>
            <a:endParaRPr lang="en-US" altLang="zh-CN" dirty="0"/>
          </a:p>
          <a:p>
            <a:pPr eaLnBrk="1" hangingPunct="1"/>
            <a:endParaRPr lang="en-US" altLang="zh-CN" dirty="0"/>
          </a:p>
        </p:txBody>
      </p:sp>
      <p:sp>
        <p:nvSpPr>
          <p:cNvPr id="64516" name="Rectangle 5"/>
          <p:cNvSpPr/>
          <p:nvPr/>
        </p:nvSpPr>
        <p:spPr>
          <a:xfrm>
            <a:off x="1981200" y="3094038"/>
            <a:ext cx="6400800" cy="155416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b="1" dirty="0"/>
              <a:t>_get_free_pages()</a:t>
            </a:r>
            <a:r>
              <a:rPr lang="zh-CN" altLang="en-US" b="1" dirty="0"/>
              <a:t>申请两个页面，其中控制块占用</a:t>
            </a:r>
            <a:r>
              <a:rPr lang="en-US" altLang="zh-CN" b="1" dirty="0"/>
              <a:t>1.5K</a:t>
            </a:r>
            <a:r>
              <a:rPr lang="zh-CN" altLang="en-US" b="1" dirty="0"/>
              <a:t>，其余空间为进程的内核栈空间。</a:t>
            </a:r>
            <a:endParaRPr lang="zh-CN" altLang="en-US" b="1" dirty="0"/>
          </a:p>
        </p:txBody>
      </p:sp>
      <p:sp>
        <p:nvSpPr>
          <p:cNvPr id="64517" name="AutoShape 7"/>
          <p:cNvSpPr/>
          <p:nvPr/>
        </p:nvSpPr>
        <p:spPr>
          <a:xfrm>
            <a:off x="838200" y="3276600"/>
            <a:ext cx="1143000" cy="304800"/>
          </a:xfrm>
          <a:prstGeom prst="rightArrow">
            <a:avLst>
              <a:gd name="adj1" fmla="val 50000"/>
              <a:gd name="adj2" fmla="val 9375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64518" name="AutoShape 8"/>
          <p:cNvSpPr/>
          <p:nvPr/>
        </p:nvSpPr>
        <p:spPr>
          <a:xfrm>
            <a:off x="2667000" y="2362200"/>
            <a:ext cx="838200" cy="304800"/>
          </a:xfrm>
          <a:prstGeom prst="rightArrow">
            <a:avLst>
              <a:gd name="adj1" fmla="val 50000"/>
              <a:gd name="adj2" fmla="val 6875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71042"/>
                                        </p:tgtEl>
                                        <p:attrNameLst>
                                          <p:attrName>style.visibility</p:attrName>
                                        </p:attrNameLst>
                                      </p:cBhvr>
                                      <p:to>
                                        <p:strVal val="visible"/>
                                      </p:to>
                                    </p:set>
                                    <p:animEffect transition="in" filter="fade">
                                      <p:cBhvr>
                                        <p:cTn id="7" dur="2000"/>
                                        <p:tgtEl>
                                          <p:spTgt spid="4710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683">
                                            <p:txEl>
                                              <p:charRg st="0" end="13"/>
                                            </p:txEl>
                                          </p:spTgt>
                                        </p:tgtEl>
                                        <p:attrNameLst>
                                          <p:attrName>style.visibility</p:attrName>
                                        </p:attrNameLst>
                                      </p:cBhvr>
                                      <p:to>
                                        <p:strVal val="visible"/>
                                      </p:to>
                                    </p:set>
                                    <p:animEffect transition="in" filter="fade">
                                      <p:cBhvr>
                                        <p:cTn id="12" dur="2000"/>
                                        <p:tgtEl>
                                          <p:spTgt spid="71683">
                                            <p:txEl>
                                              <p:charRg st="0"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683">
                                            <p:txEl>
                                              <p:charRg st="13" end="58"/>
                                            </p:txEl>
                                          </p:spTgt>
                                        </p:tgtEl>
                                        <p:attrNameLst>
                                          <p:attrName>style.visibility</p:attrName>
                                        </p:attrNameLst>
                                      </p:cBhvr>
                                      <p:to>
                                        <p:strVal val="visible"/>
                                      </p:to>
                                    </p:set>
                                    <p:animEffect transition="in" filter="fade">
                                      <p:cBhvr>
                                        <p:cTn id="17" dur="2000"/>
                                        <p:tgtEl>
                                          <p:spTgt spid="71683">
                                            <p:txEl>
                                              <p:charRg st="13" end="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2" grpId="0"/>
      <p:bldP spid="7168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5538" name="Picture 4"/>
          <p:cNvPicPr>
            <a:picLocks noChangeAspect="1"/>
          </p:cNvPicPr>
          <p:nvPr/>
        </p:nvPicPr>
        <p:blipFill>
          <a:blip r:embed="rId1"/>
          <a:stretch>
            <a:fillRect/>
          </a:stretch>
        </p:blipFill>
        <p:spPr>
          <a:xfrm>
            <a:off x="304800" y="0"/>
            <a:ext cx="8077200" cy="6497638"/>
          </a:xfrm>
          <a:prstGeom prst="rect">
            <a:avLst/>
          </a:prstGeom>
          <a:noFill/>
          <a:ln w="9525">
            <a:noFill/>
          </a:ln>
        </p:spPr>
      </p:pic>
      <p:sp>
        <p:nvSpPr>
          <p:cNvPr id="65539" name="Text Box 8"/>
          <p:cNvSpPr txBox="1"/>
          <p:nvPr/>
        </p:nvSpPr>
        <p:spPr>
          <a:xfrm>
            <a:off x="3581400" y="1828800"/>
            <a:ext cx="4191000" cy="915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FF0000"/>
                </a:solidFill>
              </a:rPr>
              <a:t>子进程从</a:t>
            </a:r>
            <a:r>
              <a:rPr lang="en-US" altLang="zh-CN" sz="1800" b="1" dirty="0">
                <a:solidFill>
                  <a:srgbClr val="FF0000"/>
                </a:solidFill>
              </a:rPr>
              <a:t>fork</a:t>
            </a:r>
            <a:r>
              <a:rPr lang="zh-CN" altLang="en-US" sz="1800" b="1" dirty="0">
                <a:solidFill>
                  <a:srgbClr val="FF0000"/>
                </a:solidFill>
              </a:rPr>
              <a:t>返回时，返回值为</a:t>
            </a:r>
            <a:r>
              <a:rPr lang="en-US" altLang="zh-CN" sz="1800" b="1" dirty="0">
                <a:solidFill>
                  <a:srgbClr val="FF0000"/>
                </a:solidFill>
              </a:rPr>
              <a:t>0</a:t>
            </a:r>
            <a:r>
              <a:rPr lang="zh-CN" altLang="en-US" sz="1800" b="1" dirty="0">
                <a:solidFill>
                  <a:srgbClr val="FF0000"/>
                </a:solidFill>
              </a:rPr>
              <a:t>；</a:t>
            </a:r>
            <a:endParaRPr lang="zh-CN" altLang="en-US" sz="1800" b="1" dirty="0">
              <a:solidFill>
                <a:srgbClr val="FF0000"/>
              </a:solidFill>
            </a:endParaRPr>
          </a:p>
          <a:p>
            <a:pPr marL="0" lvl="0" indent="0" eaLnBrk="1" hangingPunct="1">
              <a:spcBef>
                <a:spcPct val="0"/>
              </a:spcBef>
              <a:buClrTx/>
              <a:buSzTx/>
              <a:buFontTx/>
              <a:buNone/>
            </a:pPr>
            <a:r>
              <a:rPr lang="zh-CN" altLang="en-US" sz="1800" b="1" dirty="0">
                <a:solidFill>
                  <a:srgbClr val="FF0000"/>
                </a:solidFill>
              </a:rPr>
              <a:t>父进程从</a:t>
            </a:r>
            <a:r>
              <a:rPr lang="en-US" altLang="zh-CN" sz="1800" b="1" dirty="0">
                <a:solidFill>
                  <a:srgbClr val="FF0000"/>
                </a:solidFill>
              </a:rPr>
              <a:t>fork()</a:t>
            </a:r>
            <a:r>
              <a:rPr lang="zh-CN" altLang="en-US" sz="1800" b="1" dirty="0">
                <a:solidFill>
                  <a:srgbClr val="FF0000"/>
                </a:solidFill>
              </a:rPr>
              <a:t>返回时，返回值为子进程的</a:t>
            </a:r>
            <a:r>
              <a:rPr lang="en-US" altLang="zh-CN" sz="1800" b="1" dirty="0">
                <a:solidFill>
                  <a:srgbClr val="FF0000"/>
                </a:solidFill>
              </a:rPr>
              <a:t>id</a:t>
            </a:r>
            <a:r>
              <a:rPr lang="zh-CN" altLang="en-US" sz="1800" b="1" dirty="0">
                <a:solidFill>
                  <a:srgbClr val="FF0000"/>
                </a:solidFill>
              </a:rPr>
              <a:t>时，非</a:t>
            </a:r>
            <a:r>
              <a:rPr lang="en-US" altLang="zh-CN" sz="1800" b="1" dirty="0">
                <a:solidFill>
                  <a:srgbClr val="FF0000"/>
                </a:solidFill>
              </a:rPr>
              <a:t>0</a:t>
            </a:r>
            <a:r>
              <a:rPr lang="zh-CN" altLang="en-US" sz="1800" b="1" dirty="0">
                <a:solidFill>
                  <a:srgbClr val="FF0000"/>
                </a:solidFill>
              </a:rPr>
              <a:t>。</a:t>
            </a:r>
            <a:endParaRPr lang="zh-CN" altLang="en-US" sz="1800" dirty="0">
              <a:solidFill>
                <a:srgbClr val="FF0000"/>
              </a:solidFill>
            </a:endParaRPr>
          </a:p>
        </p:txBody>
      </p:sp>
      <p:sp>
        <p:nvSpPr>
          <p:cNvPr id="65540" name="Text Box 9"/>
          <p:cNvSpPr txBox="1"/>
          <p:nvPr/>
        </p:nvSpPr>
        <p:spPr>
          <a:xfrm>
            <a:off x="4419600" y="5105400"/>
            <a:ext cx="25146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p>
        </p:txBody>
      </p:sp>
      <p:sp>
        <p:nvSpPr>
          <p:cNvPr id="65541" name="Text Box 10"/>
          <p:cNvSpPr txBox="1"/>
          <p:nvPr/>
        </p:nvSpPr>
        <p:spPr>
          <a:xfrm>
            <a:off x="4648200" y="5029200"/>
            <a:ext cx="34290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FF0000"/>
                </a:solidFill>
              </a:rPr>
              <a:t>等待子进程执行结束。</a:t>
            </a:r>
            <a:endParaRPr lang="zh-CN" altLang="en-US" sz="1800" b="1" dirty="0">
              <a:solidFill>
                <a:srgbClr val="FF0000"/>
              </a:solidFill>
            </a:endParaRPr>
          </a:p>
        </p:txBody>
      </p:sp>
      <p:sp>
        <p:nvSpPr>
          <p:cNvPr id="65542" name="AutoShape 12"/>
          <p:cNvSpPr/>
          <p:nvPr/>
        </p:nvSpPr>
        <p:spPr>
          <a:xfrm>
            <a:off x="4876800" y="3810000"/>
            <a:ext cx="2971800" cy="762000"/>
          </a:xfrm>
          <a:prstGeom prst="wedgeRoundRectCallout">
            <a:avLst>
              <a:gd name="adj1" fmla="val -54273"/>
              <a:gd name="adj2" fmla="val -115000"/>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FF0000"/>
                </a:solidFill>
              </a:rPr>
              <a:t>通过系统调用使子进程执行某段可执行程序。</a:t>
            </a:r>
            <a:endParaRPr lang="zh-CN" altLang="en-US" sz="1800" b="1" dirty="0">
              <a:solidFill>
                <a:srgbClr val="FF0000"/>
              </a:solidFill>
            </a:endParaRPr>
          </a:p>
          <a:p>
            <a:pPr marL="0" lvl="0" indent="0" algn="ctr" eaLnBrk="1" hangingPunct="1">
              <a:spcBef>
                <a:spcPct val="0"/>
              </a:spcBef>
              <a:buClrTx/>
              <a:buSzTx/>
              <a:buFontTx/>
              <a:buNone/>
            </a:pPr>
            <a:endParaRPr lang="en-US" altLang="zh-CN"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1"/>
          <p:cNvSpPr>
            <a:spLocks noGrp="1"/>
          </p:cNvSpPr>
          <p:nvPr>
            <p:ph type="title"/>
          </p:nvPr>
        </p:nvSpPr>
        <p:spPr/>
        <p:txBody>
          <a:bodyPr vert="horz" wrap="square" lIns="91440" tIns="45720" rIns="91440" bIns="45720" anchor="ctr" anchorCtr="0"/>
          <a:p>
            <a:r>
              <a:rPr lang="zh-CN" altLang="en-US" dirty="0"/>
              <a:t>作业</a:t>
            </a:r>
            <a:r>
              <a:rPr lang="en-US" altLang="zh-CN" dirty="0"/>
              <a:t>3</a:t>
            </a:r>
            <a:r>
              <a:rPr lang="zh-CN" altLang="en-US" dirty="0"/>
              <a:t>：</a:t>
            </a:r>
            <a:endParaRPr lang="zh-CN" altLang="en-US" dirty="0"/>
          </a:p>
        </p:txBody>
      </p:sp>
      <p:sp>
        <p:nvSpPr>
          <p:cNvPr id="66563" name="内容占位符 2"/>
          <p:cNvSpPr>
            <a:spLocks noGrp="1"/>
          </p:cNvSpPr>
          <p:nvPr>
            <p:ph idx="1"/>
          </p:nvPr>
        </p:nvSpPr>
        <p:spPr/>
        <p:txBody>
          <a:bodyPr vert="horz" wrap="square" lIns="91440" tIns="45720" rIns="91440" bIns="45720" anchor="t" anchorCtr="0"/>
          <a:p>
            <a:r>
              <a:rPr lang="zh-CN" altLang="en-US" dirty="0"/>
              <a:t>将上页中的例子在</a:t>
            </a:r>
            <a:r>
              <a:rPr lang="en-US" altLang="zh-CN" dirty="0"/>
              <a:t>Linux</a:t>
            </a:r>
            <a:r>
              <a:rPr lang="zh-CN" altLang="en-US" dirty="0"/>
              <a:t>操作系统中运行，并得出执行结果，学会 </a:t>
            </a:r>
            <a:r>
              <a:rPr lang="en-US" altLang="zh-CN" dirty="0"/>
              <a:t>wait4</a:t>
            </a:r>
            <a:r>
              <a:rPr lang="zh-CN" altLang="en-US" dirty="0"/>
              <a:t>函数和</a:t>
            </a:r>
            <a:r>
              <a:rPr lang="en-US" altLang="zh-CN" dirty="0"/>
              <a:t>fork</a:t>
            </a:r>
            <a:r>
              <a:rPr lang="zh-CN" altLang="en-US" dirty="0"/>
              <a:t>函数的功能和使用方法。</a:t>
            </a:r>
            <a:endParaRPr lang="en-US" altLang="zh-CN" dirty="0"/>
          </a:p>
          <a:p>
            <a:r>
              <a:rPr lang="zh-CN" altLang="en-US" dirty="0"/>
              <a:t>学习 </a:t>
            </a:r>
            <a:r>
              <a:rPr lang="en-US" altLang="zh-CN" dirty="0"/>
              <a:t>Linux</a:t>
            </a:r>
            <a:r>
              <a:rPr lang="zh-CN" altLang="en-US" dirty="0"/>
              <a:t>系统调用</a:t>
            </a:r>
            <a:r>
              <a:rPr lang="en-US" altLang="zh-CN" dirty="0"/>
              <a:t>wait3</a:t>
            </a:r>
            <a:r>
              <a:rPr lang="zh-CN" altLang="en-US" dirty="0"/>
              <a:t>，</a:t>
            </a:r>
            <a:r>
              <a:rPr lang="en-US" altLang="zh-CN" dirty="0"/>
              <a:t>wait4</a:t>
            </a:r>
            <a:r>
              <a:rPr lang="zh-CN" altLang="en-US" dirty="0"/>
              <a:t>，</a:t>
            </a:r>
            <a:r>
              <a:rPr lang="en-US" altLang="zh-CN" dirty="0"/>
              <a:t>waitpid</a:t>
            </a:r>
            <a:r>
              <a:rPr lang="zh-CN" altLang="en-US" dirty="0"/>
              <a:t>的 功能和使用方法，他们都是指定要等待某进程结束，他们有何区别？编程练习这</a:t>
            </a:r>
            <a:r>
              <a:rPr lang="en-US" altLang="zh-CN" dirty="0"/>
              <a:t>3</a:t>
            </a:r>
            <a:r>
              <a:rPr lang="zh-CN" altLang="en-US" dirty="0"/>
              <a:t>个函数的 使用。</a:t>
            </a:r>
            <a:endParaRPr lang="en-US" altLang="zh-CN" dirty="0"/>
          </a:p>
          <a:p>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2"/>
          <p:cNvSpPr>
            <a:spLocks noGrp="1" noRot="1" noChangeArrowheads="1"/>
          </p:cNvSpPr>
          <p:nvPr>
            <p:ph type="title"/>
          </p:nvPr>
        </p:nvSpPr>
        <p:spPr>
          <a:xfrm>
            <a:off x="412750" y="685800"/>
            <a:ext cx="514985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2.3.3 </a:t>
            </a:r>
            <a:r>
              <a:rPr kumimoji="0" lang="zh-CN" altLang="en-US" sz="4400" b="0"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的终止 </a:t>
            </a:r>
            <a:endParaRPr kumimoji="0" lang="zh-CN" altLang="en-US" sz="4400" b="0"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3731" name="Rectangle 3"/>
          <p:cNvSpPr>
            <a:spLocks noGrp="1" noRot="1"/>
          </p:cNvSpPr>
          <p:nvPr>
            <p:ph type="body"/>
          </p:nvPr>
        </p:nvSpPr>
        <p:spPr>
          <a:xfrm>
            <a:off x="457200" y="1600200"/>
            <a:ext cx="8153400" cy="4648200"/>
          </a:xfrm>
        </p:spPr>
        <p:txBody>
          <a:bodyPr vert="horz" wrap="square" lIns="91440" tIns="45720" rIns="91440" bIns="45720" anchor="t" anchorCtr="0"/>
          <a:p>
            <a:pPr marL="387350" indent="-387350" algn="just" eaLnBrk="1" hangingPunct="1"/>
            <a:r>
              <a:rPr lang="zh-CN" altLang="en-US" b="1" dirty="0">
                <a:solidFill>
                  <a:schemeClr val="folHlink"/>
                </a:solidFill>
              </a:rPr>
              <a:t>引起进程终止的事件   </a:t>
            </a:r>
            <a:endParaRPr lang="zh-CN" altLang="en-US" b="1" dirty="0">
              <a:solidFill>
                <a:schemeClr val="folHlink"/>
              </a:solidFill>
            </a:endParaRPr>
          </a:p>
          <a:p>
            <a:pPr marL="1041400" lvl="1" indent="-463550" algn="just" eaLnBrk="1" hangingPunct="1">
              <a:buNone/>
            </a:pPr>
            <a:r>
              <a:rPr lang="en-US" altLang="zh-CN" b="1" dirty="0">
                <a:solidFill>
                  <a:schemeClr val="folHlink"/>
                </a:solidFill>
              </a:rPr>
              <a:t>1</a:t>
            </a:r>
            <a:r>
              <a:rPr lang="zh-CN" altLang="en-US" b="1" dirty="0">
                <a:solidFill>
                  <a:schemeClr val="folHlink"/>
                </a:solidFill>
              </a:rPr>
              <a:t>）正常结束。</a:t>
            </a:r>
            <a:endParaRPr lang="zh-CN" altLang="en-US" b="1" dirty="0">
              <a:solidFill>
                <a:schemeClr val="folHlink"/>
              </a:solidFill>
            </a:endParaRPr>
          </a:p>
          <a:p>
            <a:pPr marL="1041400" lvl="1" indent="-463550" algn="just" eaLnBrk="1" hangingPunct="1">
              <a:buNone/>
            </a:pPr>
            <a:r>
              <a:rPr lang="en-US" altLang="zh-CN" b="1" dirty="0">
                <a:solidFill>
                  <a:schemeClr val="folHlink"/>
                </a:solidFill>
              </a:rPr>
              <a:t>2</a:t>
            </a:r>
            <a:r>
              <a:rPr lang="zh-CN" altLang="en-US" b="1" dirty="0">
                <a:solidFill>
                  <a:schemeClr val="folHlink"/>
                </a:solidFill>
              </a:rPr>
              <a:t>）异常结束：</a:t>
            </a:r>
            <a:endParaRPr lang="zh-CN" altLang="en-US" b="1" dirty="0">
              <a:solidFill>
                <a:schemeClr val="folHlink"/>
              </a:solidFill>
            </a:endParaRPr>
          </a:p>
          <a:p>
            <a:pPr marL="2041525" lvl="2" algn="just" eaLnBrk="1" hangingPunct="1">
              <a:buNone/>
            </a:pPr>
            <a:r>
              <a:rPr lang="zh-CN" altLang="en-US" sz="2000" b="1" dirty="0">
                <a:latin typeface="楷体_GB2312" pitchFamily="49" charset="-122"/>
                <a:ea typeface="楷体_GB2312" pitchFamily="49" charset="-122"/>
              </a:rPr>
              <a:t>①越界错误。</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②保护错。</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③非法指令。</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④特权指令错。</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⑤运行超时。</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⑥等待超时。</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⑦算术运算错、被</a:t>
            </a:r>
            <a:r>
              <a:rPr lang="en-US" altLang="zh-CN" sz="2000" b="1" dirty="0">
                <a:latin typeface="楷体_GB2312" pitchFamily="49" charset="-122"/>
                <a:ea typeface="楷体_GB2312" pitchFamily="49" charset="-122"/>
              </a:rPr>
              <a:t>0</a:t>
            </a:r>
            <a:r>
              <a:rPr lang="zh-CN" altLang="en-US" sz="2000" b="1" dirty="0">
                <a:latin typeface="楷体_GB2312" pitchFamily="49" charset="-122"/>
                <a:ea typeface="楷体_GB2312" pitchFamily="49" charset="-122"/>
              </a:rPr>
              <a:t>除：</a:t>
            </a:r>
            <a:endParaRPr lang="zh-CN" altLang="en-US" sz="2000" b="1" dirty="0">
              <a:latin typeface="楷体_GB2312" pitchFamily="49" charset="-122"/>
              <a:ea typeface="楷体_GB2312" pitchFamily="49" charset="-122"/>
            </a:endParaRPr>
          </a:p>
          <a:p>
            <a:pPr marL="2041525" lvl="2" algn="just" eaLnBrk="1" hangingPunct="1">
              <a:buNone/>
            </a:pPr>
            <a:r>
              <a:rPr lang="zh-CN" altLang="en-US" sz="2000" b="1" dirty="0">
                <a:latin typeface="楷体_GB2312" pitchFamily="49" charset="-122"/>
                <a:ea typeface="楷体_GB2312" pitchFamily="49" charset="-122"/>
              </a:rPr>
              <a:t>⑧</a:t>
            </a:r>
            <a:r>
              <a:rPr lang="en-US" altLang="zh-CN" sz="2000" b="1" dirty="0">
                <a:latin typeface="楷体_GB2312" pitchFamily="49" charset="-122"/>
                <a:ea typeface="楷体_GB2312" pitchFamily="49" charset="-122"/>
              </a:rPr>
              <a:t>I/O</a:t>
            </a:r>
            <a:r>
              <a:rPr lang="zh-CN" altLang="en-US" sz="2000" b="1" dirty="0">
                <a:latin typeface="楷体_GB2312" pitchFamily="49" charset="-122"/>
                <a:ea typeface="楷体_GB2312" pitchFamily="49" charset="-122"/>
              </a:rPr>
              <a:t>故障。</a:t>
            </a:r>
            <a:endParaRPr lang="zh-CN" altLang="en-US" sz="20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8354"/>
                                        </p:tgtEl>
                                        <p:attrNameLst>
                                          <p:attrName>style.visibility</p:attrName>
                                        </p:attrNameLst>
                                      </p:cBhvr>
                                      <p:to>
                                        <p:strVal val="visible"/>
                                      </p:to>
                                    </p:set>
                                    <p:animEffect transition="in" filter="fade">
                                      <p:cBhvr>
                                        <p:cTn id="7" dur="2000"/>
                                        <p:tgtEl>
                                          <p:spTgt spid="2283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3731">
                                            <p:txEl>
                                              <p:charRg st="0" end="13"/>
                                            </p:txEl>
                                          </p:spTgt>
                                        </p:tgtEl>
                                        <p:attrNameLst>
                                          <p:attrName>style.visibility</p:attrName>
                                        </p:attrNameLst>
                                      </p:cBhvr>
                                      <p:to>
                                        <p:strVal val="visible"/>
                                      </p:to>
                                    </p:set>
                                    <p:animEffect transition="in" filter="fade">
                                      <p:cBhvr>
                                        <p:cTn id="12" dur="2000"/>
                                        <p:tgtEl>
                                          <p:spTgt spid="73731">
                                            <p:txEl>
                                              <p:charRg st="0" end="1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3731">
                                            <p:txEl>
                                              <p:charRg st="13" end="21"/>
                                            </p:txEl>
                                          </p:spTgt>
                                        </p:tgtEl>
                                        <p:attrNameLst>
                                          <p:attrName>style.visibility</p:attrName>
                                        </p:attrNameLst>
                                      </p:cBhvr>
                                      <p:to>
                                        <p:strVal val="visible"/>
                                      </p:to>
                                    </p:set>
                                    <p:animEffect transition="in" filter="fade">
                                      <p:cBhvr>
                                        <p:cTn id="15" dur="2000"/>
                                        <p:tgtEl>
                                          <p:spTgt spid="73731">
                                            <p:txEl>
                                              <p:charRg st="13" end="2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3731">
                                            <p:txEl>
                                              <p:charRg st="21" end="29"/>
                                            </p:txEl>
                                          </p:spTgt>
                                        </p:tgtEl>
                                        <p:attrNameLst>
                                          <p:attrName>style.visibility</p:attrName>
                                        </p:attrNameLst>
                                      </p:cBhvr>
                                      <p:to>
                                        <p:strVal val="visible"/>
                                      </p:to>
                                    </p:set>
                                    <p:animEffect transition="in" filter="fade">
                                      <p:cBhvr>
                                        <p:cTn id="18" dur="2000"/>
                                        <p:tgtEl>
                                          <p:spTgt spid="73731">
                                            <p:txEl>
                                              <p:charRg st="21" end="29"/>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3731">
                                            <p:txEl>
                                              <p:charRg st="29" end="36"/>
                                            </p:txEl>
                                          </p:spTgt>
                                        </p:tgtEl>
                                        <p:attrNameLst>
                                          <p:attrName>style.visibility</p:attrName>
                                        </p:attrNameLst>
                                      </p:cBhvr>
                                      <p:to>
                                        <p:strVal val="visible"/>
                                      </p:to>
                                    </p:set>
                                    <p:animEffect transition="in" filter="fade">
                                      <p:cBhvr>
                                        <p:cTn id="21" dur="2000"/>
                                        <p:tgtEl>
                                          <p:spTgt spid="73731">
                                            <p:txEl>
                                              <p:charRg st="29" end="36"/>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3731">
                                            <p:txEl>
                                              <p:charRg st="36" end="42"/>
                                            </p:txEl>
                                          </p:spTgt>
                                        </p:tgtEl>
                                        <p:attrNameLst>
                                          <p:attrName>style.visibility</p:attrName>
                                        </p:attrNameLst>
                                      </p:cBhvr>
                                      <p:to>
                                        <p:strVal val="visible"/>
                                      </p:to>
                                    </p:set>
                                    <p:animEffect transition="in" filter="fade">
                                      <p:cBhvr>
                                        <p:cTn id="24" dur="2000"/>
                                        <p:tgtEl>
                                          <p:spTgt spid="73731">
                                            <p:txEl>
                                              <p:charRg st="36" end="4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3731">
                                            <p:txEl>
                                              <p:charRg st="42" end="49"/>
                                            </p:txEl>
                                          </p:spTgt>
                                        </p:tgtEl>
                                        <p:attrNameLst>
                                          <p:attrName>style.visibility</p:attrName>
                                        </p:attrNameLst>
                                      </p:cBhvr>
                                      <p:to>
                                        <p:strVal val="visible"/>
                                      </p:to>
                                    </p:set>
                                    <p:animEffect transition="in" filter="fade">
                                      <p:cBhvr>
                                        <p:cTn id="27" dur="2000"/>
                                        <p:tgtEl>
                                          <p:spTgt spid="73731">
                                            <p:txEl>
                                              <p:charRg st="42" end="49"/>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3731">
                                            <p:txEl>
                                              <p:charRg st="49" end="57"/>
                                            </p:txEl>
                                          </p:spTgt>
                                        </p:tgtEl>
                                        <p:attrNameLst>
                                          <p:attrName>style.visibility</p:attrName>
                                        </p:attrNameLst>
                                      </p:cBhvr>
                                      <p:to>
                                        <p:strVal val="visible"/>
                                      </p:to>
                                    </p:set>
                                    <p:animEffect transition="in" filter="fade">
                                      <p:cBhvr>
                                        <p:cTn id="30" dur="2000"/>
                                        <p:tgtEl>
                                          <p:spTgt spid="73731">
                                            <p:txEl>
                                              <p:charRg st="49" end="5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3731">
                                            <p:txEl>
                                              <p:charRg st="57" end="64"/>
                                            </p:txEl>
                                          </p:spTgt>
                                        </p:tgtEl>
                                        <p:attrNameLst>
                                          <p:attrName>style.visibility</p:attrName>
                                        </p:attrNameLst>
                                      </p:cBhvr>
                                      <p:to>
                                        <p:strVal val="visible"/>
                                      </p:to>
                                    </p:set>
                                    <p:animEffect transition="in" filter="fade">
                                      <p:cBhvr>
                                        <p:cTn id="33" dur="2000"/>
                                        <p:tgtEl>
                                          <p:spTgt spid="73731">
                                            <p:txEl>
                                              <p:charRg st="57" end="64"/>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3731">
                                            <p:txEl>
                                              <p:charRg st="64" end="71"/>
                                            </p:txEl>
                                          </p:spTgt>
                                        </p:tgtEl>
                                        <p:attrNameLst>
                                          <p:attrName>style.visibility</p:attrName>
                                        </p:attrNameLst>
                                      </p:cBhvr>
                                      <p:to>
                                        <p:strVal val="visible"/>
                                      </p:to>
                                    </p:set>
                                    <p:animEffect transition="in" filter="fade">
                                      <p:cBhvr>
                                        <p:cTn id="36" dur="2000"/>
                                        <p:tgtEl>
                                          <p:spTgt spid="73731">
                                            <p:txEl>
                                              <p:charRg st="64" end="7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3731">
                                            <p:txEl>
                                              <p:charRg st="71" end="83"/>
                                            </p:txEl>
                                          </p:spTgt>
                                        </p:tgtEl>
                                        <p:attrNameLst>
                                          <p:attrName>style.visibility</p:attrName>
                                        </p:attrNameLst>
                                      </p:cBhvr>
                                      <p:to>
                                        <p:strVal val="visible"/>
                                      </p:to>
                                    </p:set>
                                    <p:animEffect transition="in" filter="fade">
                                      <p:cBhvr>
                                        <p:cTn id="39" dur="2000"/>
                                        <p:tgtEl>
                                          <p:spTgt spid="73731">
                                            <p:txEl>
                                              <p:charRg st="71" end="83"/>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3731">
                                            <p:txEl>
                                              <p:charRg st="83" end="91"/>
                                            </p:txEl>
                                          </p:spTgt>
                                        </p:tgtEl>
                                        <p:attrNameLst>
                                          <p:attrName>style.visibility</p:attrName>
                                        </p:attrNameLst>
                                      </p:cBhvr>
                                      <p:to>
                                        <p:strVal val="visible"/>
                                      </p:to>
                                    </p:set>
                                    <p:animEffect transition="in" filter="fade">
                                      <p:cBhvr>
                                        <p:cTn id="42" dur="2000"/>
                                        <p:tgtEl>
                                          <p:spTgt spid="73731">
                                            <p:txEl>
                                              <p:charRg st="83"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p:bldP spid="7373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3"/>
          <p:cNvSpPr>
            <a:spLocks noGrp="1" noRot="1"/>
          </p:cNvSpPr>
          <p:nvPr>
            <p:ph type="body"/>
          </p:nvPr>
        </p:nvSpPr>
        <p:spPr>
          <a:xfrm>
            <a:off x="304800" y="1752600"/>
            <a:ext cx="8534400" cy="4724400"/>
          </a:xfrm>
        </p:spPr>
        <p:txBody>
          <a:bodyPr vert="horz" wrap="square" lIns="91440" tIns="45720" rIns="91440" bIns="45720" anchor="t" anchorCtr="0"/>
          <a:p>
            <a:pPr marL="0" indent="0" algn="just" eaLnBrk="1" hangingPunct="1">
              <a:buNone/>
            </a:pPr>
            <a:r>
              <a:rPr lang="en-US" altLang="zh-CN" sz="2800" b="1" dirty="0">
                <a:solidFill>
                  <a:schemeClr val="folHlink"/>
                </a:solidFill>
              </a:rPr>
              <a:t>3</a:t>
            </a:r>
            <a:r>
              <a:rPr lang="zh-CN" altLang="en-US" sz="2800" b="1" dirty="0">
                <a:solidFill>
                  <a:schemeClr val="folHlink"/>
                </a:solidFill>
              </a:rPr>
              <a:t>）外界干预</a:t>
            </a:r>
            <a:r>
              <a:rPr lang="zh-CN" altLang="en-US" b="1" dirty="0">
                <a:solidFill>
                  <a:srgbClr val="0000CC"/>
                </a:solidFill>
              </a:rPr>
              <a:t>  </a:t>
            </a:r>
            <a:r>
              <a:rPr lang="zh-CN" altLang="en-US" sz="2800" b="1" dirty="0"/>
              <a:t>外界干预并非指在本进程运行中出现了异常事件，而是指</a:t>
            </a:r>
            <a:r>
              <a:rPr lang="zh-CN" altLang="en-US" sz="2800" b="1" dirty="0">
                <a:solidFill>
                  <a:srgbClr val="FF0000"/>
                </a:solidFill>
              </a:rPr>
              <a:t>进程因外界的请求而终止运行</a:t>
            </a:r>
            <a:r>
              <a:rPr lang="zh-CN" altLang="en-US" sz="2800" b="1" dirty="0"/>
              <a:t>。</a:t>
            </a:r>
            <a:endParaRPr lang="zh-CN" altLang="en-US" sz="2800" b="1" dirty="0"/>
          </a:p>
          <a:p>
            <a:pPr marL="863600" lvl="1" indent="-390525" algn="just" eaLnBrk="1" hangingPunct="1">
              <a:buClrTx/>
              <a:buFontTx/>
              <a:buNone/>
            </a:pPr>
            <a:r>
              <a:rPr lang="zh-CN" altLang="en-US" b="1" dirty="0">
                <a:latin typeface="楷体_GB2312" pitchFamily="49" charset="-122"/>
                <a:ea typeface="楷体_GB2312" pitchFamily="49" charset="-122"/>
              </a:rPr>
              <a:t>①操作员或操作系统干预。</a:t>
            </a:r>
            <a:endParaRPr lang="zh-CN" altLang="en-US" b="1" dirty="0">
              <a:latin typeface="楷体_GB2312" pitchFamily="49" charset="-122"/>
              <a:ea typeface="楷体_GB2312" pitchFamily="49" charset="-122"/>
            </a:endParaRPr>
          </a:p>
          <a:p>
            <a:pPr marL="863600" lvl="1" indent="-390525" algn="just" eaLnBrk="1" hangingPunct="1">
              <a:buClrTx/>
              <a:buFontTx/>
              <a:buNone/>
            </a:pPr>
            <a:r>
              <a:rPr lang="zh-CN" altLang="en-US" b="1" dirty="0">
                <a:latin typeface="楷体_GB2312" pitchFamily="49" charset="-122"/>
                <a:ea typeface="楷体_GB2312" pitchFamily="49" charset="-122"/>
              </a:rPr>
              <a:t>  由于某种原因，例如，发生了死锁，由操作员或操作系统终止该进程；</a:t>
            </a:r>
            <a:endParaRPr lang="zh-CN" altLang="en-US" b="1" dirty="0">
              <a:latin typeface="楷体_GB2312" pitchFamily="49" charset="-122"/>
              <a:ea typeface="楷体_GB2312" pitchFamily="49" charset="-122"/>
            </a:endParaRPr>
          </a:p>
          <a:p>
            <a:pPr marL="863600" lvl="1" indent="-390525" algn="just" eaLnBrk="1" hangingPunct="1">
              <a:buClrTx/>
              <a:buFontTx/>
              <a:buNone/>
            </a:pPr>
            <a:r>
              <a:rPr lang="zh-CN" altLang="en-US" b="1" dirty="0">
                <a:latin typeface="楷体_GB2312" pitchFamily="49" charset="-122"/>
                <a:ea typeface="楷体_GB2312" pitchFamily="49" charset="-122"/>
              </a:rPr>
              <a:t>②父进程请求终止该进程；</a:t>
            </a:r>
            <a:endParaRPr lang="zh-CN" altLang="en-US" b="1" dirty="0">
              <a:latin typeface="楷体_GB2312" pitchFamily="49" charset="-122"/>
              <a:ea typeface="楷体_GB2312" pitchFamily="49" charset="-122"/>
            </a:endParaRPr>
          </a:p>
          <a:p>
            <a:pPr marL="863600" lvl="1" indent="-390525" algn="just" eaLnBrk="1" hangingPunct="1">
              <a:buNone/>
            </a:pPr>
            <a:r>
              <a:rPr lang="zh-CN" altLang="en-US" b="1" dirty="0">
                <a:latin typeface="楷体_GB2312" pitchFamily="49" charset="-122"/>
                <a:ea typeface="楷体_GB2312" pitchFamily="49" charset="-122"/>
              </a:rPr>
              <a:t>③</a:t>
            </a:r>
            <a:r>
              <a:rPr lang="zh-CN" altLang="en-US" b="1" dirty="0">
                <a:solidFill>
                  <a:srgbClr val="FF0000"/>
                </a:solidFill>
                <a:latin typeface="楷体_GB2312" pitchFamily="49" charset="-122"/>
                <a:ea typeface="楷体_GB2312" pitchFamily="49" charset="-122"/>
              </a:rPr>
              <a:t>当父进程终止时，</a:t>
            </a:r>
            <a:r>
              <a:rPr lang="en-US" altLang="zh-CN" b="1" dirty="0">
                <a:solidFill>
                  <a:srgbClr val="FF0000"/>
                </a:solidFill>
                <a:latin typeface="楷体_GB2312" pitchFamily="49" charset="-122"/>
                <a:ea typeface="楷体_GB2312" pitchFamily="49" charset="-122"/>
              </a:rPr>
              <a:t>OS</a:t>
            </a:r>
            <a:r>
              <a:rPr lang="zh-CN" altLang="en-US" b="1" dirty="0">
                <a:solidFill>
                  <a:srgbClr val="FF0000"/>
                </a:solidFill>
                <a:latin typeface="楷体_GB2312" pitchFamily="49" charset="-122"/>
                <a:ea typeface="楷体_GB2312" pitchFamily="49" charset="-122"/>
              </a:rPr>
              <a:t>也将他的所有子孙进程终止。</a:t>
            </a:r>
            <a:endParaRPr lang="zh-CN" altLang="en-US" b="1" dirty="0">
              <a:solidFill>
                <a:srgbClr val="FF0000"/>
              </a:solidFill>
              <a:latin typeface="楷体_GB2312" pitchFamily="49" charset="-122"/>
              <a:ea typeface="楷体_GB2312" pitchFamily="49" charset="-122"/>
            </a:endParaRPr>
          </a:p>
        </p:txBody>
      </p:sp>
      <p:sp>
        <p:nvSpPr>
          <p:cNvPr id="229380" name="Rectangle 4"/>
          <p:cNvSpPr>
            <a:spLocks noChangeArrowheads="1"/>
          </p:cNvSpPr>
          <p:nvPr/>
        </p:nvSpPr>
        <p:spPr bwMode="auto">
          <a:xfrm>
            <a:off x="412750" y="685800"/>
            <a:ext cx="5149850" cy="914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进程的终止 </a:t>
            </a:r>
            <a:endParaRPr kumimoji="0" lang="zh-CN" altLang="en-US" sz="4400" b="1" i="0" u="none" strike="noStrike" kern="1200" cap="none" spc="0" normalizeH="0" baseline="0" noProof="0">
              <a:ln>
                <a:noFill/>
              </a:ln>
              <a:solidFill>
                <a:schemeClr val="tx2"/>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754">
                                            <p:txEl>
                                              <p:charRg st="0" end="48"/>
                                            </p:txEl>
                                          </p:spTgt>
                                        </p:tgtEl>
                                        <p:attrNameLst>
                                          <p:attrName>style.visibility</p:attrName>
                                        </p:attrNameLst>
                                      </p:cBhvr>
                                      <p:to>
                                        <p:strVal val="visible"/>
                                      </p:to>
                                    </p:set>
                                    <p:animEffect transition="in" filter="fade">
                                      <p:cBhvr>
                                        <p:cTn id="7" dur="2000"/>
                                        <p:tgtEl>
                                          <p:spTgt spid="74754">
                                            <p:txEl>
                                              <p:charRg st="0" end="48"/>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4754">
                                            <p:txEl>
                                              <p:charRg st="48" end="61"/>
                                            </p:txEl>
                                          </p:spTgt>
                                        </p:tgtEl>
                                        <p:attrNameLst>
                                          <p:attrName>style.visibility</p:attrName>
                                        </p:attrNameLst>
                                      </p:cBhvr>
                                      <p:to>
                                        <p:strVal val="visible"/>
                                      </p:to>
                                    </p:set>
                                    <p:animEffect transition="in" filter="fade">
                                      <p:cBhvr>
                                        <p:cTn id="10" dur="2000"/>
                                        <p:tgtEl>
                                          <p:spTgt spid="74754">
                                            <p:txEl>
                                              <p:charRg st="48" end="6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4754">
                                            <p:txEl>
                                              <p:charRg st="61" end="95"/>
                                            </p:txEl>
                                          </p:spTgt>
                                        </p:tgtEl>
                                        <p:attrNameLst>
                                          <p:attrName>style.visibility</p:attrName>
                                        </p:attrNameLst>
                                      </p:cBhvr>
                                      <p:to>
                                        <p:strVal val="visible"/>
                                      </p:to>
                                    </p:set>
                                    <p:animEffect transition="in" filter="fade">
                                      <p:cBhvr>
                                        <p:cTn id="13" dur="2000"/>
                                        <p:tgtEl>
                                          <p:spTgt spid="74754">
                                            <p:txEl>
                                              <p:charRg st="61" end="95"/>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4754">
                                            <p:txEl>
                                              <p:charRg st="95" end="108"/>
                                            </p:txEl>
                                          </p:spTgt>
                                        </p:tgtEl>
                                        <p:attrNameLst>
                                          <p:attrName>style.visibility</p:attrName>
                                        </p:attrNameLst>
                                      </p:cBhvr>
                                      <p:to>
                                        <p:strVal val="visible"/>
                                      </p:to>
                                    </p:set>
                                    <p:animEffect transition="in" filter="fade">
                                      <p:cBhvr>
                                        <p:cTn id="16" dur="2000"/>
                                        <p:tgtEl>
                                          <p:spTgt spid="74754">
                                            <p:txEl>
                                              <p:charRg st="95" end="108"/>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4754">
                                            <p:txEl>
                                              <p:charRg st="108" end="133"/>
                                            </p:txEl>
                                          </p:spTgt>
                                        </p:tgtEl>
                                        <p:attrNameLst>
                                          <p:attrName>style.visibility</p:attrName>
                                        </p:attrNameLst>
                                      </p:cBhvr>
                                      <p:to>
                                        <p:strVal val="visible"/>
                                      </p:to>
                                    </p:set>
                                    <p:animEffect transition="in" filter="fade">
                                      <p:cBhvr>
                                        <p:cTn id="19" dur="2000"/>
                                        <p:tgtEl>
                                          <p:spTgt spid="74754">
                                            <p:txEl>
                                              <p:charRg st="108" end="1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Rectangle 2"/>
          <p:cNvSpPr>
            <a:spLocks noGrp="1" noRot="1" noChangeArrowheads="1"/>
          </p:cNvSpPr>
          <p:nvPr>
            <p:ph type="title"/>
          </p:nvPr>
        </p:nvSpPr>
        <p:spPr>
          <a:xfrm>
            <a:off x="301625" y="228600"/>
            <a:ext cx="8540750" cy="83185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进程的终止过程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5779" name="Rectangle 3"/>
          <p:cNvSpPr>
            <a:spLocks noGrp="1" noRot="1"/>
          </p:cNvSpPr>
          <p:nvPr>
            <p:ph type="body"/>
          </p:nvPr>
        </p:nvSpPr>
        <p:spPr>
          <a:xfrm>
            <a:off x="381000" y="1524000"/>
            <a:ext cx="8382000" cy="4724400"/>
          </a:xfrm>
        </p:spPr>
        <p:txBody>
          <a:bodyPr vert="horz" wrap="square" lIns="91440" tIns="45720" rIns="91440" bIns="45720" anchor="t" anchorCtr="0"/>
          <a:p>
            <a:pPr algn="just" eaLnBrk="1" hangingPunct="1">
              <a:lnSpc>
                <a:spcPct val="90000"/>
              </a:lnSpc>
              <a:buNone/>
            </a:pPr>
            <a:r>
              <a:rPr lang="zh-CN" altLang="en-US" sz="2800" b="1" dirty="0"/>
              <a:t>（</a:t>
            </a:r>
            <a:r>
              <a:rPr lang="en-US" altLang="zh-CN" sz="2800" b="1" dirty="0"/>
              <a:t>1</a:t>
            </a:r>
            <a:r>
              <a:rPr lang="zh-CN" altLang="en-US" sz="2800" b="1" dirty="0"/>
              <a:t>）根据被终止进程的</a:t>
            </a:r>
            <a:r>
              <a:rPr lang="en-US" altLang="zh-CN" sz="2800" b="1" dirty="0"/>
              <a:t>PID</a:t>
            </a:r>
            <a:r>
              <a:rPr lang="zh-CN" altLang="en-US" sz="2800" b="1" dirty="0"/>
              <a:t>找到它的</a:t>
            </a:r>
            <a:r>
              <a:rPr lang="en-US" altLang="zh-CN" sz="2800" b="1" dirty="0"/>
              <a:t>PCB</a:t>
            </a:r>
            <a:r>
              <a:rPr lang="zh-CN" altLang="en-US" sz="2800" b="1" dirty="0"/>
              <a:t>，从中读出该进程的状态。</a:t>
            </a:r>
            <a:endParaRPr lang="zh-CN" altLang="en-US" sz="2800" b="1" dirty="0"/>
          </a:p>
          <a:p>
            <a:pPr algn="just" eaLnBrk="1" hangingPunct="1">
              <a:lnSpc>
                <a:spcPct val="90000"/>
              </a:lnSpc>
              <a:buNone/>
            </a:pPr>
            <a:r>
              <a:rPr lang="zh-CN" altLang="en-US" sz="2800" b="1" dirty="0"/>
              <a:t>（</a:t>
            </a:r>
            <a:r>
              <a:rPr lang="en-US" altLang="zh-CN" sz="2800" b="1" dirty="0"/>
              <a:t>2</a:t>
            </a:r>
            <a:r>
              <a:rPr lang="zh-CN" altLang="en-US" sz="2800" b="1" dirty="0"/>
              <a:t>）若被终止进程正处于执行状态，应立即终止该进程的执行，</a:t>
            </a:r>
            <a:r>
              <a:rPr lang="zh-CN" altLang="en-US" sz="2800" b="1" dirty="0">
                <a:solidFill>
                  <a:schemeClr val="folHlink"/>
                </a:solidFill>
              </a:rPr>
              <a:t>重新进行调度</a:t>
            </a:r>
            <a:r>
              <a:rPr lang="zh-CN" altLang="en-US" sz="2800" b="1" dirty="0"/>
              <a:t>。</a:t>
            </a:r>
            <a:endParaRPr lang="zh-CN" altLang="en-US" sz="2800" b="1" dirty="0"/>
          </a:p>
          <a:p>
            <a:pPr algn="just" eaLnBrk="1" hangingPunct="1">
              <a:lnSpc>
                <a:spcPct val="90000"/>
              </a:lnSpc>
              <a:buNone/>
            </a:pPr>
            <a:r>
              <a:rPr lang="zh-CN" altLang="en-US" sz="2800" b="1" dirty="0"/>
              <a:t>（</a:t>
            </a:r>
            <a:r>
              <a:rPr lang="en-US" altLang="zh-CN" sz="2800" b="1" dirty="0"/>
              <a:t>3</a:t>
            </a:r>
            <a:r>
              <a:rPr lang="zh-CN" altLang="en-US" sz="2800" b="1" dirty="0"/>
              <a:t>）若该进程还有子孙进程，立即</a:t>
            </a:r>
            <a:r>
              <a:rPr lang="zh-CN" altLang="en-US" sz="2800" b="1" dirty="0">
                <a:solidFill>
                  <a:srgbClr val="FF0000"/>
                </a:solidFill>
              </a:rPr>
              <a:t>将其所有子孙进程终止</a:t>
            </a:r>
            <a:r>
              <a:rPr lang="zh-CN" altLang="en-US" sz="2800" b="1" dirty="0"/>
              <a:t>。</a:t>
            </a:r>
            <a:endParaRPr lang="zh-CN" altLang="en-US" sz="2800" b="1" dirty="0"/>
          </a:p>
          <a:p>
            <a:pPr algn="just" eaLnBrk="1" hangingPunct="1">
              <a:lnSpc>
                <a:spcPct val="90000"/>
              </a:lnSpc>
              <a:buNone/>
            </a:pPr>
            <a:r>
              <a:rPr lang="zh-CN" altLang="en-US" sz="2800" b="1" dirty="0"/>
              <a:t>（</a:t>
            </a:r>
            <a:r>
              <a:rPr lang="en-US" altLang="zh-CN" sz="2800" b="1" dirty="0"/>
              <a:t>4</a:t>
            </a:r>
            <a:r>
              <a:rPr lang="zh-CN" altLang="en-US" sz="2800" b="1" dirty="0"/>
              <a:t>）将被终止进程所拥有的全部资源，</a:t>
            </a:r>
            <a:r>
              <a:rPr lang="zh-CN" altLang="en-US" sz="2800" b="1" dirty="0">
                <a:solidFill>
                  <a:schemeClr val="folHlink"/>
                </a:solidFill>
              </a:rPr>
              <a:t>归还给其父进程，或者归还给系统</a:t>
            </a:r>
            <a:r>
              <a:rPr lang="zh-CN" altLang="en-US" sz="2800" b="1" dirty="0"/>
              <a:t>。</a:t>
            </a:r>
            <a:endParaRPr lang="zh-CN" altLang="en-US" sz="2800" b="1" dirty="0"/>
          </a:p>
          <a:p>
            <a:pPr eaLnBrk="1" hangingPunct="1">
              <a:lnSpc>
                <a:spcPct val="90000"/>
              </a:lnSpc>
              <a:buNone/>
            </a:pPr>
            <a:r>
              <a:rPr lang="zh-CN" altLang="en-US" sz="2800" b="1" dirty="0"/>
              <a:t>（</a:t>
            </a:r>
            <a:r>
              <a:rPr lang="en-US" altLang="zh-CN" sz="2800" b="1" dirty="0"/>
              <a:t>5</a:t>
            </a:r>
            <a:r>
              <a:rPr lang="zh-CN" altLang="en-US" sz="2800" b="1" dirty="0"/>
              <a:t>）将被终止进程的</a:t>
            </a:r>
            <a:r>
              <a:rPr lang="en-US" altLang="zh-CN" sz="2800" b="1" dirty="0"/>
              <a:t>PCB</a:t>
            </a:r>
            <a:r>
              <a:rPr lang="zh-CN" altLang="en-US" sz="2800" b="1" dirty="0"/>
              <a:t>从所在队列中移出。 </a:t>
            </a:r>
            <a:endParaRPr lang="zh-CN" altLang="en-US" sz="2800" b="1" dirty="0"/>
          </a:p>
          <a:p>
            <a:pPr eaLnBrk="1" hangingPunct="1">
              <a:lnSpc>
                <a:spcPct val="90000"/>
              </a:lnSpc>
              <a:buNone/>
            </a:pPr>
            <a:endParaRPr lang="zh-CN" altLang="en-US" sz="2800" b="1" dirty="0"/>
          </a:p>
          <a:p>
            <a:pPr eaLnBrk="1" hangingPunct="1">
              <a:lnSpc>
                <a:spcPct val="90000"/>
              </a:lnSpc>
              <a:buNone/>
            </a:pPr>
            <a:r>
              <a:rPr lang="en-US" altLang="zh-CN" sz="2800" b="1" dirty="0">
                <a:solidFill>
                  <a:schemeClr val="folHlink"/>
                </a:solidFill>
              </a:rPr>
              <a:t>Linux</a:t>
            </a:r>
            <a:r>
              <a:rPr lang="zh-CN" altLang="en-US" sz="2800" b="1" dirty="0">
                <a:solidFill>
                  <a:schemeClr val="folHlink"/>
                </a:solidFill>
              </a:rPr>
              <a:t>中，系统调用</a:t>
            </a:r>
            <a:r>
              <a:rPr lang="en-US" altLang="zh-CN" sz="2800" b="1" dirty="0">
                <a:solidFill>
                  <a:schemeClr val="folHlink"/>
                </a:solidFill>
              </a:rPr>
              <a:t>exit</a:t>
            </a:r>
            <a:r>
              <a:rPr lang="zh-CN" altLang="en-US" sz="2800" b="1" dirty="0">
                <a:solidFill>
                  <a:schemeClr val="folHlink"/>
                </a:solidFill>
              </a:rPr>
              <a:t>（）结束进程。</a:t>
            </a:r>
            <a:endParaRPr lang="zh-CN" altLang="en-US" sz="2800" b="1" dirty="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0402"/>
                                        </p:tgtEl>
                                        <p:attrNameLst>
                                          <p:attrName>style.visibility</p:attrName>
                                        </p:attrNameLst>
                                      </p:cBhvr>
                                      <p:to>
                                        <p:strVal val="visible"/>
                                      </p:to>
                                    </p:set>
                                    <p:animEffect transition="in" filter="fade">
                                      <p:cBhvr>
                                        <p:cTn id="7" dur="2000"/>
                                        <p:tgtEl>
                                          <p:spTgt spid="230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5779">
                                            <p:txEl>
                                              <p:charRg st="0" end="34"/>
                                            </p:txEl>
                                          </p:spTgt>
                                        </p:tgtEl>
                                        <p:attrNameLst>
                                          <p:attrName>style.visibility</p:attrName>
                                        </p:attrNameLst>
                                      </p:cBhvr>
                                      <p:to>
                                        <p:strVal val="visible"/>
                                      </p:to>
                                    </p:set>
                                    <p:animEffect transition="in" filter="fade">
                                      <p:cBhvr>
                                        <p:cTn id="12" dur="2000"/>
                                        <p:tgtEl>
                                          <p:spTgt spid="75779">
                                            <p:txEl>
                                              <p:charRg st="0"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5779">
                                            <p:txEl>
                                              <p:charRg st="34" end="71"/>
                                            </p:txEl>
                                          </p:spTgt>
                                        </p:tgtEl>
                                        <p:attrNameLst>
                                          <p:attrName>style.visibility</p:attrName>
                                        </p:attrNameLst>
                                      </p:cBhvr>
                                      <p:to>
                                        <p:strVal val="visible"/>
                                      </p:to>
                                    </p:set>
                                    <p:animEffect transition="in" filter="fade">
                                      <p:cBhvr>
                                        <p:cTn id="17" dur="2000"/>
                                        <p:tgtEl>
                                          <p:spTgt spid="75779">
                                            <p:txEl>
                                              <p:charRg st="34"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5779">
                                            <p:txEl>
                                              <p:charRg st="71" end="99"/>
                                            </p:txEl>
                                          </p:spTgt>
                                        </p:tgtEl>
                                        <p:attrNameLst>
                                          <p:attrName>style.visibility</p:attrName>
                                        </p:attrNameLst>
                                      </p:cBhvr>
                                      <p:to>
                                        <p:strVal val="visible"/>
                                      </p:to>
                                    </p:set>
                                    <p:animEffect transition="in" filter="fade">
                                      <p:cBhvr>
                                        <p:cTn id="22" dur="2000"/>
                                        <p:tgtEl>
                                          <p:spTgt spid="75779">
                                            <p:txEl>
                                              <p:charRg st="71" end="9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5779">
                                            <p:txEl>
                                              <p:charRg st="99" end="134"/>
                                            </p:txEl>
                                          </p:spTgt>
                                        </p:tgtEl>
                                        <p:attrNameLst>
                                          <p:attrName>style.visibility</p:attrName>
                                        </p:attrNameLst>
                                      </p:cBhvr>
                                      <p:to>
                                        <p:strVal val="visible"/>
                                      </p:to>
                                    </p:set>
                                    <p:animEffect transition="in" filter="fade">
                                      <p:cBhvr>
                                        <p:cTn id="27" dur="2000"/>
                                        <p:tgtEl>
                                          <p:spTgt spid="75779">
                                            <p:txEl>
                                              <p:charRg st="99" end="1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5779">
                                            <p:txEl>
                                              <p:charRg st="134" end="158"/>
                                            </p:txEl>
                                          </p:spTgt>
                                        </p:tgtEl>
                                        <p:attrNameLst>
                                          <p:attrName>style.visibility</p:attrName>
                                        </p:attrNameLst>
                                      </p:cBhvr>
                                      <p:to>
                                        <p:strVal val="visible"/>
                                      </p:to>
                                    </p:set>
                                    <p:animEffect transition="in" filter="fade">
                                      <p:cBhvr>
                                        <p:cTn id="32" dur="2000"/>
                                        <p:tgtEl>
                                          <p:spTgt spid="75779">
                                            <p:txEl>
                                              <p:charRg st="134" end="15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5779">
                                            <p:txEl>
                                              <p:charRg st="159" end="182"/>
                                            </p:txEl>
                                          </p:spTgt>
                                        </p:tgtEl>
                                        <p:attrNameLst>
                                          <p:attrName>style.visibility</p:attrName>
                                        </p:attrNameLst>
                                      </p:cBhvr>
                                      <p:to>
                                        <p:strVal val="visible"/>
                                      </p:to>
                                    </p:set>
                                    <p:animEffect transition="in" filter="fade">
                                      <p:cBhvr>
                                        <p:cTn id="37" dur="2000"/>
                                        <p:tgtEl>
                                          <p:spTgt spid="75779">
                                            <p:txEl>
                                              <p:charRg st="159" end="1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p:bldP spid="7577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640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Linux</a:t>
            </a: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进程终止</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6803" name="Rectangle 3"/>
          <p:cNvSpPr>
            <a:spLocks noGrp="1" noRot="1"/>
          </p:cNvSpPr>
          <p:nvPr>
            <p:ph type="body"/>
          </p:nvPr>
        </p:nvSpPr>
        <p:spPr/>
        <p:txBody>
          <a:bodyPr vert="horz" wrap="square" lIns="91440" tIns="45720" rIns="91440" bIns="45720" anchor="t" anchorCtr="0"/>
          <a:p>
            <a:pPr eaLnBrk="1" hangingPunct="1">
              <a:lnSpc>
                <a:spcPct val="90000"/>
              </a:lnSpc>
            </a:pPr>
            <a:r>
              <a:rPr lang="en-US" altLang="zh-CN" b="1" dirty="0"/>
              <a:t>1&gt;</a:t>
            </a:r>
            <a:r>
              <a:rPr lang="zh-CN" altLang="en-US" b="1" dirty="0"/>
              <a:t>正常退出</a:t>
            </a:r>
            <a:endParaRPr lang="zh-CN" altLang="en-US" b="1" dirty="0"/>
          </a:p>
          <a:p>
            <a:pPr lvl="1" eaLnBrk="1" hangingPunct="1">
              <a:lnSpc>
                <a:spcPct val="90000"/>
              </a:lnSpc>
            </a:pPr>
            <a:r>
              <a:rPr lang="en-US" altLang="zh-CN" b="1" dirty="0"/>
              <a:t>a. </a:t>
            </a:r>
            <a:r>
              <a:rPr lang="zh-CN" altLang="en-US" b="1" dirty="0"/>
              <a:t>在</a:t>
            </a:r>
            <a:r>
              <a:rPr lang="en-US" altLang="zh-CN" b="1" dirty="0"/>
              <a:t>main()</a:t>
            </a:r>
            <a:r>
              <a:rPr lang="zh-CN" altLang="en-US" b="1" dirty="0"/>
              <a:t>函数中执行</a:t>
            </a:r>
            <a:r>
              <a:rPr lang="en-US" altLang="zh-CN" b="1" dirty="0"/>
              <a:t>return </a:t>
            </a:r>
            <a:r>
              <a:rPr lang="zh-CN" altLang="en-US" b="1" dirty="0"/>
              <a:t>。</a:t>
            </a:r>
            <a:endParaRPr lang="zh-CN" altLang="en-US" b="1" dirty="0"/>
          </a:p>
          <a:p>
            <a:pPr lvl="1" eaLnBrk="1" hangingPunct="1">
              <a:lnSpc>
                <a:spcPct val="90000"/>
              </a:lnSpc>
            </a:pPr>
            <a:r>
              <a:rPr lang="en-US" altLang="zh-CN" b="1" dirty="0"/>
              <a:t>b.</a:t>
            </a:r>
            <a:r>
              <a:rPr lang="zh-CN" altLang="en-US" b="1" dirty="0"/>
              <a:t>调用</a:t>
            </a:r>
            <a:r>
              <a:rPr lang="en-US" altLang="zh-CN" b="1" dirty="0"/>
              <a:t>exit()</a:t>
            </a:r>
            <a:r>
              <a:rPr lang="zh-CN" altLang="en-US" b="1" dirty="0"/>
              <a:t>函数</a:t>
            </a:r>
            <a:endParaRPr lang="zh-CN" altLang="en-US" b="1" dirty="0"/>
          </a:p>
          <a:p>
            <a:pPr lvl="1" eaLnBrk="1" hangingPunct="1">
              <a:lnSpc>
                <a:spcPct val="90000"/>
              </a:lnSpc>
            </a:pPr>
            <a:r>
              <a:rPr lang="en-US" altLang="zh-CN" b="1" dirty="0"/>
              <a:t>c.</a:t>
            </a:r>
            <a:r>
              <a:rPr lang="zh-CN" altLang="en-US" b="1" dirty="0"/>
              <a:t>调用</a:t>
            </a:r>
            <a:r>
              <a:rPr lang="en-US" altLang="zh-CN" b="1" dirty="0"/>
              <a:t>_exit()</a:t>
            </a:r>
            <a:r>
              <a:rPr lang="zh-CN" altLang="en-US" b="1" dirty="0"/>
              <a:t>函数</a:t>
            </a:r>
            <a:endParaRPr lang="zh-CN" altLang="en-US" b="1" dirty="0"/>
          </a:p>
          <a:p>
            <a:pPr eaLnBrk="1" hangingPunct="1">
              <a:lnSpc>
                <a:spcPct val="90000"/>
              </a:lnSpc>
            </a:pPr>
            <a:r>
              <a:rPr lang="en-US" altLang="zh-CN" b="1" dirty="0"/>
              <a:t>2&gt;</a:t>
            </a:r>
            <a:r>
              <a:rPr lang="zh-CN" altLang="en-US" b="1" dirty="0"/>
              <a:t>异常退出</a:t>
            </a:r>
            <a:endParaRPr lang="zh-CN" altLang="en-US" b="1" dirty="0"/>
          </a:p>
          <a:p>
            <a:pPr lvl="1" eaLnBrk="1" hangingPunct="1">
              <a:lnSpc>
                <a:spcPct val="90000"/>
              </a:lnSpc>
            </a:pPr>
            <a:r>
              <a:rPr lang="en-US" altLang="zh-CN" b="1" dirty="0"/>
              <a:t>a.</a:t>
            </a:r>
            <a:r>
              <a:rPr lang="zh-CN" altLang="en-US" b="1" dirty="0"/>
              <a:t>调用</a:t>
            </a:r>
            <a:r>
              <a:rPr lang="en-US" altLang="zh-CN" b="1" dirty="0"/>
              <a:t>abort</a:t>
            </a:r>
            <a:r>
              <a:rPr lang="zh-CN" altLang="en-US" b="1" dirty="0"/>
              <a:t>函数</a:t>
            </a:r>
            <a:endParaRPr lang="zh-CN" altLang="en-US" b="1" dirty="0"/>
          </a:p>
          <a:p>
            <a:pPr lvl="1" eaLnBrk="1" hangingPunct="1">
              <a:lnSpc>
                <a:spcPct val="90000"/>
              </a:lnSpc>
            </a:pPr>
            <a:r>
              <a:rPr lang="en-US" altLang="zh-CN" b="1" dirty="0"/>
              <a:t>b.</a:t>
            </a:r>
            <a:r>
              <a:rPr lang="zh-CN" altLang="en-US" b="1" dirty="0"/>
              <a:t>进程收到某个信号，而该信号使程序终止。</a:t>
            </a:r>
            <a:endParaRPr lang="zh-CN" altLang="en-US" b="1" dirty="0"/>
          </a:p>
          <a:p>
            <a:pPr lvl="1" eaLnBrk="1" hangingPunct="1">
              <a:lnSpc>
                <a:spcPct val="90000"/>
              </a:lnSpc>
              <a:buNone/>
            </a:pPr>
            <a:endParaRPr lang="en-US" altLang="zh-CN" b="1" dirty="0">
              <a:solidFill>
                <a:schemeClr val="folHlink"/>
              </a:solidFill>
            </a:endParaRPr>
          </a:p>
          <a:p>
            <a:pPr lvl="1" eaLnBrk="1" hangingPunct="1">
              <a:lnSpc>
                <a:spcPct val="90000"/>
              </a:lnSpc>
              <a:buNone/>
            </a:pPr>
            <a:r>
              <a:rPr lang="zh-CN" altLang="en-US" b="1" dirty="0">
                <a:solidFill>
                  <a:schemeClr val="folHlink"/>
                </a:solidFill>
              </a:rPr>
              <a:t>课后学习： </a:t>
            </a:r>
            <a:r>
              <a:rPr lang="en-US" altLang="zh-CN" b="1" dirty="0">
                <a:solidFill>
                  <a:schemeClr val="folHlink"/>
                </a:solidFill>
              </a:rPr>
              <a:t>exit()</a:t>
            </a:r>
            <a:r>
              <a:rPr lang="zh-CN" altLang="en-US" b="1" dirty="0">
                <a:solidFill>
                  <a:schemeClr val="folHlink"/>
                </a:solidFill>
              </a:rPr>
              <a:t>、 </a:t>
            </a:r>
            <a:r>
              <a:rPr lang="en-US" altLang="zh-CN" b="1" dirty="0">
                <a:solidFill>
                  <a:schemeClr val="folHlink"/>
                </a:solidFill>
              </a:rPr>
              <a:t>_exit()</a:t>
            </a:r>
            <a:r>
              <a:rPr lang="zh-CN" altLang="en-US" b="1" dirty="0">
                <a:solidFill>
                  <a:schemeClr val="folHlink"/>
                </a:solidFill>
              </a:rPr>
              <a:t>、 </a:t>
            </a:r>
            <a:r>
              <a:rPr lang="en-US" altLang="zh-CN" b="1" dirty="0">
                <a:solidFill>
                  <a:schemeClr val="folHlink"/>
                </a:solidFill>
              </a:rPr>
              <a:t>return</a:t>
            </a:r>
            <a:r>
              <a:rPr lang="zh-CN" altLang="en-US" b="1" dirty="0">
                <a:solidFill>
                  <a:schemeClr val="folHlink"/>
                </a:solidFill>
              </a:rPr>
              <a:t>的区别及</a:t>
            </a:r>
            <a:endParaRPr lang="zh-CN" altLang="en-US" b="1" dirty="0">
              <a:solidFill>
                <a:schemeClr val="folHlink"/>
              </a:solidFill>
            </a:endParaRPr>
          </a:p>
          <a:p>
            <a:pPr lvl="1" eaLnBrk="1" hangingPunct="1">
              <a:lnSpc>
                <a:spcPct val="90000"/>
              </a:lnSpc>
              <a:buNone/>
            </a:pPr>
            <a:r>
              <a:rPr lang="zh-CN" altLang="en-US" b="1" dirty="0">
                <a:solidFill>
                  <a:schemeClr val="folHlink"/>
                </a:solidFill>
              </a:rPr>
              <a:t>各自的使用方法。</a:t>
            </a:r>
            <a:endParaRPr lang="zh-CN" altLang="en-US" b="1" dirty="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6402"/>
                                        </p:tgtEl>
                                        <p:attrNameLst>
                                          <p:attrName>style.visibility</p:attrName>
                                        </p:attrNameLst>
                                      </p:cBhvr>
                                      <p:to>
                                        <p:strVal val="visible"/>
                                      </p:to>
                                    </p:set>
                                    <p:animEffect transition="in" filter="fade">
                                      <p:cBhvr>
                                        <p:cTn id="7" dur="2000"/>
                                        <p:tgtEl>
                                          <p:spTgt spid="486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6803">
                                            <p:txEl>
                                              <p:charRg st="0" end="7"/>
                                            </p:txEl>
                                          </p:spTgt>
                                        </p:tgtEl>
                                        <p:attrNameLst>
                                          <p:attrName>style.visibility</p:attrName>
                                        </p:attrNameLst>
                                      </p:cBhvr>
                                      <p:to>
                                        <p:strVal val="visible"/>
                                      </p:to>
                                    </p:set>
                                    <p:animEffect transition="in" filter="fade">
                                      <p:cBhvr>
                                        <p:cTn id="12" dur="2000"/>
                                        <p:tgtEl>
                                          <p:spTgt spid="76803">
                                            <p:txEl>
                                              <p:charRg st="0" end="7"/>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6803">
                                            <p:txEl>
                                              <p:charRg st="7" end="31"/>
                                            </p:txEl>
                                          </p:spTgt>
                                        </p:tgtEl>
                                        <p:attrNameLst>
                                          <p:attrName>style.visibility</p:attrName>
                                        </p:attrNameLst>
                                      </p:cBhvr>
                                      <p:to>
                                        <p:strVal val="visible"/>
                                      </p:to>
                                    </p:set>
                                    <p:animEffect transition="in" filter="fade">
                                      <p:cBhvr>
                                        <p:cTn id="15" dur="2000"/>
                                        <p:tgtEl>
                                          <p:spTgt spid="76803">
                                            <p:txEl>
                                              <p:charRg st="7" end="3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6803">
                                            <p:txEl>
                                              <p:charRg st="31" end="44"/>
                                            </p:txEl>
                                          </p:spTgt>
                                        </p:tgtEl>
                                        <p:attrNameLst>
                                          <p:attrName>style.visibility</p:attrName>
                                        </p:attrNameLst>
                                      </p:cBhvr>
                                      <p:to>
                                        <p:strVal val="visible"/>
                                      </p:to>
                                    </p:set>
                                    <p:animEffect transition="in" filter="fade">
                                      <p:cBhvr>
                                        <p:cTn id="18" dur="2000"/>
                                        <p:tgtEl>
                                          <p:spTgt spid="76803">
                                            <p:txEl>
                                              <p:charRg st="31" end="4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6803">
                                            <p:txEl>
                                              <p:charRg st="44" end="58"/>
                                            </p:txEl>
                                          </p:spTgt>
                                        </p:tgtEl>
                                        <p:attrNameLst>
                                          <p:attrName>style.visibility</p:attrName>
                                        </p:attrNameLst>
                                      </p:cBhvr>
                                      <p:to>
                                        <p:strVal val="visible"/>
                                      </p:to>
                                    </p:set>
                                    <p:animEffect transition="in" filter="fade">
                                      <p:cBhvr>
                                        <p:cTn id="21" dur="2000"/>
                                        <p:tgtEl>
                                          <p:spTgt spid="76803">
                                            <p:txEl>
                                              <p:charRg st="44" end="5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6803">
                                            <p:txEl>
                                              <p:charRg st="58" end="65"/>
                                            </p:txEl>
                                          </p:spTgt>
                                        </p:tgtEl>
                                        <p:attrNameLst>
                                          <p:attrName>style.visibility</p:attrName>
                                        </p:attrNameLst>
                                      </p:cBhvr>
                                      <p:to>
                                        <p:strVal val="visible"/>
                                      </p:to>
                                    </p:set>
                                    <p:animEffect transition="in" filter="fade">
                                      <p:cBhvr>
                                        <p:cTn id="26" dur="2000"/>
                                        <p:tgtEl>
                                          <p:spTgt spid="76803">
                                            <p:txEl>
                                              <p:charRg st="58" end="6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6803">
                                            <p:txEl>
                                              <p:charRg st="65" end="77"/>
                                            </p:txEl>
                                          </p:spTgt>
                                        </p:tgtEl>
                                        <p:attrNameLst>
                                          <p:attrName>style.visibility</p:attrName>
                                        </p:attrNameLst>
                                      </p:cBhvr>
                                      <p:to>
                                        <p:strVal val="visible"/>
                                      </p:to>
                                    </p:set>
                                    <p:animEffect transition="in" filter="fade">
                                      <p:cBhvr>
                                        <p:cTn id="29" dur="2000"/>
                                        <p:tgtEl>
                                          <p:spTgt spid="76803">
                                            <p:txEl>
                                              <p:charRg st="65" end="77"/>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6803">
                                            <p:txEl>
                                              <p:charRg st="77" end="99"/>
                                            </p:txEl>
                                          </p:spTgt>
                                        </p:tgtEl>
                                        <p:attrNameLst>
                                          <p:attrName>style.visibility</p:attrName>
                                        </p:attrNameLst>
                                      </p:cBhvr>
                                      <p:to>
                                        <p:strVal val="visible"/>
                                      </p:to>
                                    </p:set>
                                    <p:animEffect transition="in" filter="fade">
                                      <p:cBhvr>
                                        <p:cTn id="32" dur="2000"/>
                                        <p:tgtEl>
                                          <p:spTgt spid="76803">
                                            <p:txEl>
                                              <p:charRg st="77" end="9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6803">
                                            <p:txEl>
                                              <p:charRg st="100" end="134"/>
                                            </p:txEl>
                                          </p:spTgt>
                                        </p:tgtEl>
                                        <p:attrNameLst>
                                          <p:attrName>style.visibility</p:attrName>
                                        </p:attrNameLst>
                                      </p:cBhvr>
                                      <p:to>
                                        <p:strVal val="visible"/>
                                      </p:to>
                                    </p:set>
                                    <p:animEffect transition="in" filter="fade">
                                      <p:cBhvr>
                                        <p:cTn id="35" dur="2000"/>
                                        <p:tgtEl>
                                          <p:spTgt spid="76803">
                                            <p:txEl>
                                              <p:charRg st="100" end="134"/>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6803">
                                            <p:txEl>
                                              <p:charRg st="134" end="143"/>
                                            </p:txEl>
                                          </p:spTgt>
                                        </p:tgtEl>
                                        <p:attrNameLst>
                                          <p:attrName>style.visibility</p:attrName>
                                        </p:attrNameLst>
                                      </p:cBhvr>
                                      <p:to>
                                        <p:strVal val="visible"/>
                                      </p:to>
                                    </p:set>
                                    <p:animEffect transition="in" filter="fade">
                                      <p:cBhvr>
                                        <p:cTn id="38" dur="2000"/>
                                        <p:tgtEl>
                                          <p:spTgt spid="76803">
                                            <p:txEl>
                                              <p:charRg st="134"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02" grpId="0"/>
      <p:bldP spid="7680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14600" y="2133600"/>
            <a:ext cx="535178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3"/>
          <p:cNvSpPr>
            <a:spLocks noGrp="1"/>
          </p:cNvSpPr>
          <p:nvPr>
            <p:ph idx="1"/>
          </p:nvPr>
        </p:nvSpPr>
        <p:spPr>
          <a:xfrm>
            <a:off x="547512" y="2933475"/>
            <a:ext cx="2398773" cy="630761"/>
          </a:xfrm>
        </p:spPr>
        <p:txBody>
          <a:bodyPr/>
          <a:lstStyle/>
          <a:p>
            <a:r>
              <a:rPr lang="zh-CN" altLang="en-US" sz="2400" b="1" dirty="0">
                <a:latin typeface="微软雅黑" panose="020B0503020204020204" charset="-122"/>
                <a:ea typeface="微软雅黑" panose="020B0503020204020204" charset="-122"/>
              </a:rPr>
              <a:t>孤儿进程</a:t>
            </a:r>
            <a:endParaRPr lang="zh-CN" altLang="en-US" sz="2400" b="1" dirty="0">
              <a:latin typeface="微软雅黑" panose="020B0503020204020204" charset="-122"/>
              <a:ea typeface="微软雅黑" panose="020B0503020204020204" charset="-122"/>
            </a:endParaRPr>
          </a:p>
        </p:txBody>
      </p:sp>
      <p:sp>
        <p:nvSpPr>
          <p:cNvPr id="5" name="文本框 4"/>
          <p:cNvSpPr txBox="1"/>
          <p:nvPr/>
        </p:nvSpPr>
        <p:spPr>
          <a:xfrm>
            <a:off x="863600" y="4501515"/>
            <a:ext cx="7747000" cy="1014730"/>
          </a:xfrm>
          <a:prstGeom prst="rect">
            <a:avLst/>
          </a:prstGeom>
          <a:noFill/>
        </p:spPr>
        <p:txBody>
          <a:bodyPr wrap="square" rtlCol="0">
            <a:spAutoFit/>
          </a:bodyPr>
          <a:p>
            <a:r>
              <a:rPr lang="zh-CN" altLang="en-US" sz="2000" b="1">
                <a:solidFill>
                  <a:srgbClr val="FF0000"/>
                </a:solidFill>
              </a:rPr>
              <a:t>一个父进程退出，而它的一个或多个子进程还在运行，那么那些子进程将成为孤儿进程。孤儿进程将被</a:t>
            </a:r>
            <a:r>
              <a:rPr lang="en-US" altLang="zh-CN" sz="2000" b="1">
                <a:solidFill>
                  <a:srgbClr val="FF0000"/>
                </a:solidFill>
              </a:rPr>
              <a:t>init</a:t>
            </a:r>
            <a:r>
              <a:rPr lang="zh-CN" altLang="en-US" sz="2000" b="1">
                <a:solidFill>
                  <a:srgbClr val="FF0000"/>
                </a:solidFill>
              </a:rPr>
              <a:t>进程</a:t>
            </a:r>
            <a:r>
              <a:rPr lang="en-US" altLang="zh-CN" sz="2000" b="1">
                <a:solidFill>
                  <a:srgbClr val="FF0000"/>
                </a:solidFill>
              </a:rPr>
              <a:t>(</a:t>
            </a:r>
            <a:r>
              <a:rPr lang="zh-CN" altLang="en-US" sz="2000" b="1">
                <a:solidFill>
                  <a:srgbClr val="FF0000"/>
                </a:solidFill>
              </a:rPr>
              <a:t>进程号为</a:t>
            </a:r>
            <a:r>
              <a:rPr lang="en-US" altLang="zh-CN" sz="2000" b="1">
                <a:solidFill>
                  <a:srgbClr val="FF0000"/>
                </a:solidFill>
              </a:rPr>
              <a:t>1)</a:t>
            </a:r>
            <a:r>
              <a:rPr lang="zh-CN" altLang="en-US" sz="2000" b="1">
                <a:solidFill>
                  <a:srgbClr val="FF0000"/>
                </a:solidFill>
              </a:rPr>
              <a:t>所收养，并由</a:t>
            </a:r>
            <a:r>
              <a:rPr lang="en-US" altLang="zh-CN" sz="2000" b="1">
                <a:solidFill>
                  <a:srgbClr val="FF0000"/>
                </a:solidFill>
              </a:rPr>
              <a:t>init</a:t>
            </a:r>
            <a:r>
              <a:rPr lang="zh-CN" altLang="en-US" sz="2000" b="1">
                <a:solidFill>
                  <a:srgbClr val="FF0000"/>
                </a:solidFill>
              </a:rPr>
              <a:t>进程对它们完成状态收集工作。</a:t>
            </a:r>
            <a:endParaRPr lang="zh-CN" altLang="en-US" sz="2000" b="1">
              <a:solidFill>
                <a:srgbClr val="FF0000"/>
              </a:solidFill>
            </a:endParaRPr>
          </a:p>
        </p:txBody>
      </p:sp>
      <p:sp>
        <p:nvSpPr>
          <p:cNvPr id="6" name="文本框 5"/>
          <p:cNvSpPr txBox="1"/>
          <p:nvPr/>
        </p:nvSpPr>
        <p:spPr>
          <a:xfrm>
            <a:off x="570865" y="5753100"/>
            <a:ext cx="7963535" cy="368300"/>
          </a:xfrm>
          <a:prstGeom prst="rect">
            <a:avLst/>
          </a:prstGeom>
          <a:noFill/>
        </p:spPr>
        <p:txBody>
          <a:bodyPr wrap="square" rtlCol="0">
            <a:spAutoFit/>
          </a:bodyPr>
          <a:p>
            <a:r>
              <a:rPr lang="zh-CN" altLang="en-US"/>
              <a:t>参考资料：</a:t>
            </a:r>
            <a:r>
              <a:rPr lang="en-US" altLang="zh-CN"/>
              <a:t>https://blog.csdn.net/m0_71746526/article/details/134635191</a:t>
            </a:r>
            <a:endParaRPr lang="en-US" alt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304800"/>
            <a:ext cx="5295265" cy="1797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内容占位符 3"/>
          <p:cNvSpPr txBox="1"/>
          <p:nvPr/>
        </p:nvSpPr>
        <p:spPr>
          <a:xfrm>
            <a:off x="795162" y="899462"/>
            <a:ext cx="2398773" cy="630761"/>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r>
              <a:rPr lang="zh-CN" altLang="en-US" dirty="0">
                <a:latin typeface="微软雅黑" panose="020B0503020204020204" charset="-122"/>
                <a:ea typeface="微软雅黑" panose="020B0503020204020204" charset="-122"/>
              </a:rPr>
              <a:t>僵尸进程</a:t>
            </a:r>
            <a:endParaRPr lang="zh-CN" altLang="en-US" dirty="0">
              <a:latin typeface="微软雅黑" panose="020B0503020204020204" charset="-122"/>
              <a:ea typeface="微软雅黑" panose="020B0503020204020204" charset="-122"/>
            </a:endParaRPr>
          </a:p>
        </p:txBody>
      </p:sp>
      <p:sp>
        <p:nvSpPr>
          <p:cNvPr id="3" name="文本框 2"/>
          <p:cNvSpPr txBox="1"/>
          <p:nvPr/>
        </p:nvSpPr>
        <p:spPr>
          <a:xfrm>
            <a:off x="533400" y="2209800"/>
            <a:ext cx="8343265" cy="1938020"/>
          </a:xfrm>
          <a:prstGeom prst="rect">
            <a:avLst/>
          </a:prstGeom>
          <a:solidFill>
            <a:schemeClr val="accent2">
              <a:lumMod val="20000"/>
              <a:lumOff val="80000"/>
            </a:schemeClr>
          </a:solidFill>
        </p:spPr>
        <p:txBody>
          <a:bodyPr wrap="square" rtlCol="0">
            <a:spAutoFit/>
          </a:bodyPr>
          <a:p>
            <a:r>
              <a:rPr lang="zh-CN" altLang="en-US" sz="2000" b="1">
                <a:solidFill>
                  <a:schemeClr val="tx2">
                    <a:lumMod val="75000"/>
                  </a:schemeClr>
                </a:solidFill>
                <a:highlight>
                  <a:srgbClr val="FF0000"/>
                </a:highlight>
              </a:rPr>
              <a:t>僵尸进程</a:t>
            </a:r>
            <a:r>
              <a:rPr lang="zh-CN" altLang="en-US" sz="2000" b="1">
                <a:solidFill>
                  <a:schemeClr val="tx2">
                    <a:lumMod val="75000"/>
                  </a:schemeClr>
                </a:solidFill>
              </a:rPr>
              <a:t>在</a:t>
            </a:r>
            <a:r>
              <a:rPr lang="en-US" altLang="zh-CN" sz="2000" b="1">
                <a:solidFill>
                  <a:schemeClr val="tx2">
                    <a:lumMod val="75000"/>
                  </a:schemeClr>
                </a:solidFill>
              </a:rPr>
              <a:t>UNIX</a:t>
            </a:r>
            <a:r>
              <a:rPr lang="zh-CN" altLang="en-US" sz="2000" b="1">
                <a:solidFill>
                  <a:schemeClr val="tx2">
                    <a:lumMod val="75000"/>
                  </a:schemeClr>
                </a:solidFill>
              </a:rPr>
              <a:t>系统中，一个进程结束了，但是它的父进程没有等待（调用</a:t>
            </a:r>
            <a:r>
              <a:rPr lang="en-US" altLang="zh-CN" sz="2000" b="1">
                <a:solidFill>
                  <a:schemeClr val="tx2">
                    <a:lumMod val="75000"/>
                  </a:schemeClr>
                </a:solidFill>
              </a:rPr>
              <a:t>wait / waitpid</a:t>
            </a:r>
            <a:r>
              <a:rPr lang="zh-CN" altLang="en-US" sz="2000" b="1">
                <a:solidFill>
                  <a:schemeClr val="tx2">
                    <a:lumMod val="75000"/>
                  </a:schemeClr>
                </a:solidFill>
              </a:rPr>
              <a:t>）它，</a:t>
            </a:r>
            <a:r>
              <a:rPr lang="en-US" altLang="zh-CN" sz="2000" b="1">
                <a:solidFill>
                  <a:schemeClr val="tx2">
                    <a:lumMod val="75000"/>
                  </a:schemeClr>
                </a:solidFill>
              </a:rPr>
              <a:t> </a:t>
            </a:r>
            <a:r>
              <a:rPr lang="zh-CN" altLang="en-US" sz="2000" b="1">
                <a:solidFill>
                  <a:schemeClr val="tx2">
                    <a:lumMod val="75000"/>
                  </a:schemeClr>
                </a:solidFill>
              </a:rPr>
              <a:t>那么它将变成一个僵尸进程。</a:t>
            </a:r>
            <a:endParaRPr lang="zh-CN" altLang="en-US" sz="2000" b="1">
              <a:solidFill>
                <a:schemeClr val="tx2">
                  <a:lumMod val="75000"/>
                </a:schemeClr>
              </a:solidFill>
            </a:endParaRPr>
          </a:p>
          <a:p>
            <a:r>
              <a:rPr lang="en-US" altLang="zh-CN" sz="2000" b="1">
                <a:solidFill>
                  <a:schemeClr val="tx2">
                    <a:lumMod val="75000"/>
                  </a:schemeClr>
                </a:solidFill>
              </a:rPr>
              <a:t> </a:t>
            </a:r>
            <a:r>
              <a:rPr lang="zh-CN" altLang="en-US" sz="2000" b="1">
                <a:solidFill>
                  <a:schemeClr val="tx2">
                    <a:lumMod val="75000"/>
                  </a:schemeClr>
                </a:solidFill>
              </a:rPr>
              <a:t>但是如果该进程的父进程已经先结束了，那么该进程就不会变成僵尸进程，</a:t>
            </a:r>
            <a:r>
              <a:rPr lang="en-US" altLang="zh-CN" sz="2000" b="1">
                <a:solidFill>
                  <a:schemeClr val="tx2">
                    <a:lumMod val="75000"/>
                  </a:schemeClr>
                </a:solidFill>
              </a:rPr>
              <a:t> </a:t>
            </a:r>
            <a:r>
              <a:rPr lang="zh-CN" altLang="en-US" sz="2000" b="1">
                <a:solidFill>
                  <a:schemeClr val="tx2">
                    <a:lumMod val="75000"/>
                  </a:schemeClr>
                </a:solidFill>
              </a:rPr>
              <a:t>因为每个进程结束的时候，系统都会扫描当前系统中所运行的所有进程，</a:t>
            </a:r>
            <a:r>
              <a:rPr lang="en-US" altLang="zh-CN" sz="2000" b="1">
                <a:solidFill>
                  <a:schemeClr val="tx2">
                    <a:lumMod val="75000"/>
                  </a:schemeClr>
                </a:solidFill>
              </a:rPr>
              <a:t> </a:t>
            </a:r>
            <a:r>
              <a:rPr lang="zh-CN" altLang="en-US" sz="2000" b="1">
                <a:solidFill>
                  <a:schemeClr val="tx2">
                    <a:lumMod val="75000"/>
                  </a:schemeClr>
                </a:solidFill>
              </a:rPr>
              <a:t>看有没有哪个进程是刚刚结束的这个进程的子进程，如果是的话，就由</a:t>
            </a:r>
            <a:r>
              <a:rPr lang="en-US" altLang="zh-CN" sz="2000" b="1">
                <a:solidFill>
                  <a:schemeClr val="tx2">
                    <a:lumMod val="75000"/>
                  </a:schemeClr>
                </a:solidFill>
              </a:rPr>
              <a:t>Init</a:t>
            </a:r>
            <a:r>
              <a:rPr lang="zh-CN" altLang="en-US" sz="2000" b="1">
                <a:solidFill>
                  <a:schemeClr val="tx2">
                    <a:lumMod val="75000"/>
                  </a:schemeClr>
                </a:solidFill>
              </a:rPr>
              <a:t>来接管他，成为他的父进程。</a:t>
            </a:r>
            <a:endParaRPr lang="zh-CN" altLang="en-US" sz="2000" b="1">
              <a:solidFill>
                <a:schemeClr val="tx2">
                  <a:lumMod val="75000"/>
                </a:schemeClr>
              </a:solidFill>
            </a:endParaRPr>
          </a:p>
        </p:txBody>
      </p:sp>
      <p:sp>
        <p:nvSpPr>
          <p:cNvPr id="5" name="文本框 4"/>
          <p:cNvSpPr txBox="1"/>
          <p:nvPr/>
        </p:nvSpPr>
        <p:spPr>
          <a:xfrm>
            <a:off x="533400" y="4191000"/>
            <a:ext cx="8343265" cy="706755"/>
          </a:xfrm>
          <a:prstGeom prst="rect">
            <a:avLst/>
          </a:prstGeom>
          <a:solidFill>
            <a:schemeClr val="accent2">
              <a:lumMod val="20000"/>
              <a:lumOff val="80000"/>
            </a:schemeClr>
          </a:solidFill>
        </p:spPr>
        <p:txBody>
          <a:bodyPr wrap="square" rtlCol="0">
            <a:spAutoFit/>
          </a:bodyPr>
          <a:p>
            <a:pPr lvl="0" algn="l">
              <a:buClrTx/>
              <a:buSzTx/>
              <a:buFontTx/>
            </a:pPr>
            <a:r>
              <a:rPr lang="zh-CN" altLang="en-US" sz="2000" b="1">
                <a:solidFill>
                  <a:schemeClr val="tx2">
                    <a:lumMod val="75000"/>
                  </a:schemeClr>
                </a:solidFill>
                <a:highlight>
                  <a:srgbClr val="FF0000"/>
                </a:highlight>
                <a:sym typeface="+mn-ea"/>
              </a:rPr>
              <a:t>系统调用</a:t>
            </a:r>
            <a:r>
              <a:rPr lang="zh-CN" altLang="en-US" sz="2000" b="1">
                <a:solidFill>
                  <a:schemeClr val="tx2">
                    <a:lumMod val="75000"/>
                  </a:schemeClr>
                </a:solidFill>
                <a:highlight>
                  <a:srgbClr val="FF0000"/>
                </a:highlight>
                <a:sym typeface="+mn-ea"/>
              </a:rPr>
              <a:t>exit</a:t>
            </a:r>
            <a:r>
              <a:rPr lang="zh-CN" altLang="en-US" sz="2000" b="1">
                <a:solidFill>
                  <a:schemeClr val="tx2">
                    <a:lumMod val="75000"/>
                  </a:schemeClr>
                </a:solidFill>
                <a:highlight>
                  <a:srgbClr val="FF0000"/>
                </a:highlight>
                <a:sym typeface="+mn-ea"/>
              </a:rPr>
              <a:t>，</a:t>
            </a:r>
            <a:r>
              <a:rPr lang="zh-CN" altLang="en-US" sz="2000" b="1">
                <a:solidFill>
                  <a:schemeClr val="tx2">
                    <a:lumMod val="75000"/>
                  </a:schemeClr>
                </a:solidFill>
                <a:sym typeface="+mn-ea"/>
              </a:rPr>
              <a:t>它的作用是</a:t>
            </a:r>
            <a:r>
              <a:rPr lang="zh-CN" altLang="en-US" sz="2000" b="1">
                <a:solidFill>
                  <a:schemeClr val="tx2">
                    <a:lumMod val="75000"/>
                  </a:schemeClr>
                </a:solidFill>
                <a:sym typeface="+mn-ea"/>
              </a:rPr>
              <a:t> </a:t>
            </a:r>
            <a:r>
              <a:rPr lang="zh-CN" altLang="en-US" sz="2000" b="1">
                <a:solidFill>
                  <a:schemeClr val="tx2">
                    <a:lumMod val="75000"/>
                  </a:schemeClr>
                </a:solidFill>
                <a:sym typeface="+mn-ea"/>
              </a:rPr>
              <a:t>使进程退出，但也仅仅限于将一个正常的进程变成一个僵尸进程</a:t>
            </a:r>
            <a:r>
              <a:rPr lang="zh-CN" altLang="en-US" sz="2000" b="1">
                <a:solidFill>
                  <a:schemeClr val="tx2">
                    <a:lumMod val="75000"/>
                  </a:schemeClr>
                </a:solidFill>
                <a:sym typeface="+mn-ea"/>
              </a:rPr>
              <a:t>（</a:t>
            </a:r>
            <a:r>
              <a:rPr lang="en-US" altLang="zh-CN" sz="2000" b="1">
                <a:solidFill>
                  <a:schemeClr val="tx2">
                    <a:lumMod val="75000"/>
                  </a:schemeClr>
                </a:solidFill>
                <a:sym typeface="+mn-ea"/>
              </a:rPr>
              <a:t>Zombie</a:t>
            </a:r>
            <a:r>
              <a:rPr lang="zh-CN" altLang="en-US" sz="2000" b="1">
                <a:solidFill>
                  <a:schemeClr val="tx2">
                    <a:lumMod val="75000"/>
                  </a:schemeClr>
                </a:solidFill>
                <a:sym typeface="+mn-ea"/>
              </a:rPr>
              <a:t>）的数据结构</a:t>
            </a:r>
            <a:r>
              <a:rPr lang="zh-CN" altLang="en-US" sz="2000" b="1">
                <a:solidFill>
                  <a:schemeClr val="tx2">
                    <a:lumMod val="75000"/>
                  </a:schemeClr>
                </a:solidFill>
                <a:sym typeface="+mn-ea"/>
              </a:rPr>
              <a:t>，并不能将其完全销毁）</a:t>
            </a:r>
            <a:endParaRPr lang="zh-CN" altLang="en-US" sz="2000" b="1">
              <a:solidFill>
                <a:schemeClr val="tx2">
                  <a:lumMod val="75000"/>
                </a:schemeClr>
              </a:solidFill>
              <a:sym typeface="+mn-ea"/>
            </a:endParaRPr>
          </a:p>
        </p:txBody>
      </p:sp>
      <p:sp>
        <p:nvSpPr>
          <p:cNvPr id="6" name="文本框 5"/>
          <p:cNvSpPr txBox="1"/>
          <p:nvPr/>
        </p:nvSpPr>
        <p:spPr>
          <a:xfrm>
            <a:off x="457200" y="4952365"/>
            <a:ext cx="8376920" cy="1706880"/>
          </a:xfrm>
          <a:prstGeom prst="rect">
            <a:avLst/>
          </a:prstGeom>
          <a:noFill/>
        </p:spPr>
        <p:txBody>
          <a:bodyPr wrap="square" rtlCol="0">
            <a:noAutofit/>
          </a:bodyPr>
          <a:p>
            <a:pPr>
              <a:lnSpc>
                <a:spcPts val="2000"/>
              </a:lnSpc>
            </a:pPr>
            <a:r>
              <a:rPr lang="zh-CN" altLang="en-US" sz="2000" b="1">
                <a:solidFill>
                  <a:srgbClr val="FF0000"/>
                </a:solidFill>
              </a:rPr>
              <a:t>僵尸进程的避免</a:t>
            </a:r>
            <a:endParaRPr lang="zh-CN" altLang="en-US" sz="2000" b="1">
              <a:solidFill>
                <a:srgbClr val="FF0000"/>
              </a:solidFill>
            </a:endParaRPr>
          </a:p>
          <a:p>
            <a:pPr>
              <a:lnSpc>
                <a:spcPts val="2000"/>
              </a:lnSpc>
            </a:pPr>
            <a:r>
              <a:rPr lang="en-US" altLang="zh-CN"/>
              <a:t>1.</a:t>
            </a:r>
            <a:r>
              <a:rPr lang="zh-CN" altLang="en-US"/>
              <a:t>父进程通过</a:t>
            </a:r>
            <a:r>
              <a:rPr lang="en-US" altLang="zh-CN"/>
              <a:t>wait</a:t>
            </a:r>
            <a:r>
              <a:rPr lang="zh-CN" altLang="en-US"/>
              <a:t>和</a:t>
            </a:r>
            <a:r>
              <a:rPr lang="en-US" altLang="zh-CN"/>
              <a:t>waitpid</a:t>
            </a:r>
            <a:r>
              <a:rPr lang="zh-CN" altLang="en-US"/>
              <a:t>等函数等待子进程结束，这会导致父进程挂起。</a:t>
            </a:r>
            <a:endParaRPr lang="zh-CN" altLang="en-US"/>
          </a:p>
          <a:p>
            <a:pPr>
              <a:lnSpc>
                <a:spcPts val="2000"/>
              </a:lnSpc>
            </a:pPr>
            <a:r>
              <a:rPr lang="en-US" altLang="zh-CN"/>
              <a:t>2.</a:t>
            </a:r>
            <a:r>
              <a:rPr lang="zh-CN" altLang="en-US"/>
              <a:t>如果父进程很忙，那么可以用</a:t>
            </a:r>
            <a:r>
              <a:rPr lang="en-US" altLang="zh-CN"/>
              <a:t>signal</a:t>
            </a:r>
            <a:r>
              <a:rPr lang="zh-CN" altLang="en-US"/>
              <a:t>函数为</a:t>
            </a:r>
            <a:r>
              <a:rPr lang="en-US" altLang="zh-CN"/>
              <a:t>SIGCHLD</a:t>
            </a:r>
            <a:r>
              <a:rPr lang="zh-CN" altLang="en-US"/>
              <a:t>安装</a:t>
            </a:r>
            <a:r>
              <a:rPr lang="en-US" altLang="zh-CN"/>
              <a:t>handler</a:t>
            </a:r>
            <a:r>
              <a:rPr lang="zh-CN" altLang="en-US"/>
              <a:t>，因为子进程结束后，</a:t>
            </a:r>
            <a:r>
              <a:rPr lang="en-US" altLang="zh-CN"/>
              <a:t> </a:t>
            </a:r>
            <a:r>
              <a:rPr lang="zh-CN" altLang="en-US"/>
              <a:t>父进程会收到该信号，可以在</a:t>
            </a:r>
            <a:r>
              <a:rPr lang="en-US" altLang="zh-CN"/>
              <a:t>handler</a:t>
            </a:r>
            <a:r>
              <a:rPr lang="zh-CN" altLang="en-US"/>
              <a:t>中调用</a:t>
            </a:r>
            <a:r>
              <a:rPr lang="en-US" altLang="zh-CN"/>
              <a:t>wait</a:t>
            </a:r>
            <a:r>
              <a:rPr lang="zh-CN" altLang="en-US"/>
              <a:t>回收。</a:t>
            </a:r>
            <a:endParaRPr lang="zh-CN" altLang="en-US"/>
          </a:p>
          <a:p>
            <a:pPr>
              <a:lnSpc>
                <a:spcPts val="2000"/>
              </a:lnSpc>
            </a:pPr>
            <a:r>
              <a:rPr lang="en-US" altLang="zh-CN"/>
              <a:t>3.fork</a:t>
            </a:r>
            <a:r>
              <a:rPr lang="zh-CN" altLang="en-US"/>
              <a:t>两次，父进程</a:t>
            </a:r>
            <a:r>
              <a:rPr lang="en-US" altLang="zh-CN"/>
              <a:t>fork</a:t>
            </a:r>
            <a:r>
              <a:rPr lang="zh-CN" altLang="en-US"/>
              <a:t>一个子进程，然后继续工作，子进程</a:t>
            </a:r>
            <a:r>
              <a:rPr lang="en-US" altLang="zh-CN"/>
              <a:t>fork</a:t>
            </a:r>
            <a:r>
              <a:rPr lang="zh-CN" altLang="en-US"/>
              <a:t>一个孙进程后退出，那么孙进程被</a:t>
            </a:r>
            <a:r>
              <a:rPr lang="en-US" altLang="zh-CN"/>
              <a:t>init</a:t>
            </a:r>
            <a:r>
              <a:rPr lang="zh-CN" altLang="en-US"/>
              <a:t>接管，孙进程结束后，</a:t>
            </a:r>
            <a:r>
              <a:rPr lang="en-US" altLang="zh-CN"/>
              <a:t>init</a:t>
            </a:r>
            <a:r>
              <a:rPr lang="zh-CN" altLang="en-US"/>
              <a:t>会回收。不过子进程的回收</a:t>
            </a:r>
            <a:r>
              <a:rPr lang="en-US" altLang="zh-CN"/>
              <a:t> </a:t>
            </a:r>
            <a:r>
              <a:rPr lang="zh-CN" altLang="en-US"/>
              <a:t>还要自己做。</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Rectangle 2"/>
          <p:cNvSpPr>
            <a:spLocks noGrp="1" noRot="1" noChangeArrowheads="1"/>
          </p:cNvSpPr>
          <p:nvPr>
            <p:ph type="title"/>
          </p:nvPr>
        </p:nvSpPr>
        <p:spPr>
          <a:xfrm>
            <a:off x="301625" y="330200"/>
            <a:ext cx="854075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2.3.4 </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的阻塞与唤醒</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7827" name="Rectangle 3"/>
          <p:cNvSpPr>
            <a:spLocks noGrp="1" noRot="1"/>
          </p:cNvSpPr>
          <p:nvPr>
            <p:ph type="body"/>
          </p:nvPr>
        </p:nvSpPr>
        <p:spPr>
          <a:xfrm>
            <a:off x="457200" y="1752600"/>
            <a:ext cx="8382000" cy="4495800"/>
          </a:xfrm>
        </p:spPr>
        <p:txBody>
          <a:bodyPr vert="horz" wrap="square" lIns="91440" tIns="45720" rIns="91440" bIns="45720" anchor="t" anchorCtr="0"/>
          <a:p>
            <a:pPr algn="just" eaLnBrk="1" hangingPunct="1"/>
            <a:r>
              <a:rPr lang="zh-CN" altLang="en-US" sz="4000" b="1" dirty="0">
                <a:latin typeface="楷体_GB2312" pitchFamily="49" charset="-122"/>
                <a:ea typeface="楷体_GB2312" pitchFamily="49" charset="-122"/>
              </a:rPr>
              <a:t>引起进程阻塞和唤醒的事件</a:t>
            </a:r>
            <a:endParaRPr lang="zh-CN" altLang="en-US" sz="4000" b="1" dirty="0">
              <a:latin typeface="楷体_GB2312" pitchFamily="49" charset="-122"/>
              <a:ea typeface="楷体_GB2312" pitchFamily="49" charset="-122"/>
            </a:endParaRPr>
          </a:p>
          <a:p>
            <a:pPr lvl="1" algn="just" eaLnBrk="1" hangingPunct="1">
              <a:buNone/>
            </a:pP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）向系统请求共享资源失败。</a:t>
            </a:r>
            <a:endParaRPr lang="en-US" altLang="zh-CN" b="1" dirty="0">
              <a:latin typeface="楷体_GB2312" pitchFamily="49" charset="-122"/>
              <a:ea typeface="楷体_GB2312" pitchFamily="49" charset="-122"/>
            </a:endParaRPr>
          </a:p>
          <a:p>
            <a:pPr lvl="1" algn="just" eaLnBrk="1" hangingPunct="1">
              <a:buNone/>
            </a:pP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）等待某种操作的完成：如</a:t>
            </a:r>
            <a:r>
              <a:rPr lang="en-US" altLang="zh-CN" b="1" dirty="0">
                <a:latin typeface="楷体_GB2312" pitchFamily="49" charset="-122"/>
                <a:ea typeface="楷体_GB2312" pitchFamily="49" charset="-122"/>
              </a:rPr>
              <a:t>I/O</a:t>
            </a:r>
            <a:r>
              <a:rPr lang="zh-CN" altLang="en-US" b="1" dirty="0">
                <a:latin typeface="楷体_GB2312" pitchFamily="49" charset="-122"/>
                <a:ea typeface="楷体_GB2312" pitchFamily="49" charset="-122"/>
              </a:rPr>
              <a:t>操作时进程进入阻塞状态，</a:t>
            </a:r>
            <a:r>
              <a:rPr lang="en-US" altLang="zh-CN" b="1" dirty="0">
                <a:latin typeface="楷体_GB2312" pitchFamily="49" charset="-122"/>
                <a:ea typeface="楷体_GB2312" pitchFamily="49" charset="-122"/>
              </a:rPr>
              <a:t>I/O</a:t>
            </a:r>
            <a:r>
              <a:rPr lang="zh-CN" altLang="en-US" b="1" dirty="0">
                <a:latin typeface="楷体_GB2312" pitchFamily="49" charset="-122"/>
                <a:ea typeface="楷体_GB2312" pitchFamily="49" charset="-122"/>
              </a:rPr>
              <a:t>完成后，被中断处理程序唤醒。</a:t>
            </a:r>
            <a:endParaRPr lang="zh-CN" altLang="en-US" b="1" dirty="0">
              <a:latin typeface="楷体_GB2312" pitchFamily="49" charset="-122"/>
              <a:ea typeface="楷体_GB2312" pitchFamily="49" charset="-122"/>
            </a:endParaRPr>
          </a:p>
          <a:p>
            <a:pPr lvl="1" algn="just" eaLnBrk="1" hangingPunct="1">
              <a:buNone/>
            </a:pPr>
            <a:r>
              <a:rPr lang="en-US" altLang="zh-CN" b="1" dirty="0">
                <a:latin typeface="楷体_GB2312" pitchFamily="49" charset="-122"/>
                <a:ea typeface="楷体_GB2312" pitchFamily="49" charset="-122"/>
              </a:rPr>
              <a:t>3</a:t>
            </a:r>
            <a:r>
              <a:rPr lang="zh-CN" altLang="en-US" b="1" dirty="0">
                <a:latin typeface="楷体_GB2312" pitchFamily="49" charset="-122"/>
                <a:ea typeface="楷体_GB2312" pitchFamily="49" charset="-122"/>
              </a:rPr>
              <a:t>）新数据尚未到达。处理数据的进程</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阻塞，输入数据的进程</a:t>
            </a:r>
            <a:r>
              <a:rPr lang="en-US" altLang="zh-CN"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完成后去唤醒</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  </a:t>
            </a:r>
            <a:endParaRPr lang="zh-CN" altLang="en-US" b="1" dirty="0">
              <a:latin typeface="楷体_GB2312" pitchFamily="49" charset="-122"/>
              <a:ea typeface="楷体_GB2312" pitchFamily="49" charset="-122"/>
            </a:endParaRPr>
          </a:p>
          <a:p>
            <a:pPr lvl="1" algn="just" eaLnBrk="1" hangingPunct="1">
              <a:buNone/>
            </a:pPr>
            <a:r>
              <a:rPr lang="en-US" altLang="zh-CN" b="1" dirty="0">
                <a:latin typeface="楷体_GB2312" pitchFamily="49" charset="-122"/>
                <a:ea typeface="楷体_GB2312" pitchFamily="49" charset="-122"/>
              </a:rPr>
              <a:t>4</a:t>
            </a:r>
            <a:r>
              <a:rPr lang="zh-CN" altLang="en-US" b="1" dirty="0">
                <a:latin typeface="楷体_GB2312" pitchFamily="49" charset="-122"/>
                <a:ea typeface="楷体_GB2312" pitchFamily="49" charset="-122"/>
              </a:rPr>
              <a:t>）无新工作可做</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如此时使用</a:t>
            </a:r>
            <a:r>
              <a:rPr lang="en-US" altLang="zh-CN" b="1" dirty="0">
                <a:latin typeface="楷体_GB2312" pitchFamily="49" charset="-122"/>
                <a:ea typeface="楷体_GB2312" pitchFamily="49" charset="-122"/>
              </a:rPr>
              <a:t>sleep</a:t>
            </a:r>
            <a:r>
              <a:rPr lang="zh-CN" altLang="en-US" b="1" dirty="0">
                <a:latin typeface="楷体_GB2312" pitchFamily="49" charset="-122"/>
                <a:ea typeface="楷体_GB2312" pitchFamily="49" charset="-122"/>
              </a:rPr>
              <a:t>（）进入休眠</a:t>
            </a:r>
            <a:endParaRPr lang="zh-CN" altLang="en-US"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1426"/>
                                        </p:tgtEl>
                                        <p:attrNameLst>
                                          <p:attrName>style.visibility</p:attrName>
                                        </p:attrNameLst>
                                      </p:cBhvr>
                                      <p:to>
                                        <p:strVal val="visible"/>
                                      </p:to>
                                    </p:set>
                                    <p:animEffect transition="in" filter="fade">
                                      <p:cBhvr>
                                        <p:cTn id="7" dur="2000"/>
                                        <p:tgtEl>
                                          <p:spTgt spid="2314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7827">
                                            <p:txEl>
                                              <p:charRg st="0" end="13"/>
                                            </p:txEl>
                                          </p:spTgt>
                                        </p:tgtEl>
                                        <p:attrNameLst>
                                          <p:attrName>style.visibility</p:attrName>
                                        </p:attrNameLst>
                                      </p:cBhvr>
                                      <p:to>
                                        <p:strVal val="visible"/>
                                      </p:to>
                                    </p:set>
                                    <p:animEffect transition="in" filter="fade">
                                      <p:cBhvr>
                                        <p:cTn id="12" dur="2000"/>
                                        <p:tgtEl>
                                          <p:spTgt spid="77827">
                                            <p:txEl>
                                              <p:charRg st="0" end="1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7827">
                                            <p:txEl>
                                              <p:charRg st="13" end="28"/>
                                            </p:txEl>
                                          </p:spTgt>
                                        </p:tgtEl>
                                        <p:attrNameLst>
                                          <p:attrName>style.visibility</p:attrName>
                                        </p:attrNameLst>
                                      </p:cBhvr>
                                      <p:to>
                                        <p:strVal val="visible"/>
                                      </p:to>
                                    </p:set>
                                    <p:animEffect transition="in" filter="fade">
                                      <p:cBhvr>
                                        <p:cTn id="15" dur="2000"/>
                                        <p:tgtEl>
                                          <p:spTgt spid="77827">
                                            <p:txEl>
                                              <p:charRg st="13" end="2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7827">
                                            <p:txEl>
                                              <p:charRg st="28" end="74"/>
                                            </p:txEl>
                                          </p:spTgt>
                                        </p:tgtEl>
                                        <p:attrNameLst>
                                          <p:attrName>style.visibility</p:attrName>
                                        </p:attrNameLst>
                                      </p:cBhvr>
                                      <p:to>
                                        <p:strVal val="visible"/>
                                      </p:to>
                                    </p:set>
                                    <p:animEffect transition="in" filter="fade">
                                      <p:cBhvr>
                                        <p:cTn id="18" dur="2000"/>
                                        <p:tgtEl>
                                          <p:spTgt spid="77827">
                                            <p:txEl>
                                              <p:charRg st="28" end="7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7827">
                                            <p:txEl>
                                              <p:charRg st="74" end="114"/>
                                            </p:txEl>
                                          </p:spTgt>
                                        </p:tgtEl>
                                        <p:attrNameLst>
                                          <p:attrName>style.visibility</p:attrName>
                                        </p:attrNameLst>
                                      </p:cBhvr>
                                      <p:to>
                                        <p:strVal val="visible"/>
                                      </p:to>
                                    </p:set>
                                    <p:animEffect transition="in" filter="fade">
                                      <p:cBhvr>
                                        <p:cTn id="21" dur="2000"/>
                                        <p:tgtEl>
                                          <p:spTgt spid="77827">
                                            <p:txEl>
                                              <p:charRg st="74" end="11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7827">
                                            <p:txEl>
                                              <p:charRg st="114" end="141"/>
                                            </p:txEl>
                                          </p:spTgt>
                                        </p:tgtEl>
                                        <p:attrNameLst>
                                          <p:attrName>style.visibility</p:attrName>
                                        </p:attrNameLst>
                                      </p:cBhvr>
                                      <p:to>
                                        <p:strVal val="visible"/>
                                      </p:to>
                                    </p:set>
                                    <p:animEffect transition="in" filter="fade">
                                      <p:cBhvr>
                                        <p:cTn id="24" dur="2000"/>
                                        <p:tgtEl>
                                          <p:spTgt spid="77827">
                                            <p:txEl>
                                              <p:charRg st="114" end="1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p:bldP spid="7782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2"/>
          <p:cNvSpPr>
            <a:spLocks noGrp="1" noRot="1" noChangeArrowheads="1"/>
          </p:cNvSpPr>
          <p:nvPr>
            <p:ph type="title"/>
          </p:nvPr>
        </p:nvSpPr>
        <p:spPr>
          <a:xfrm>
            <a:off x="301625" y="228600"/>
            <a:ext cx="8540750" cy="91281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进程阻塞过程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8851" name="Rectangle 3"/>
          <p:cNvSpPr>
            <a:spLocks noGrp="1" noRot="1"/>
          </p:cNvSpPr>
          <p:nvPr>
            <p:ph type="body"/>
          </p:nvPr>
        </p:nvSpPr>
        <p:spPr>
          <a:xfrm>
            <a:off x="463550" y="1603375"/>
            <a:ext cx="8216900" cy="4114800"/>
          </a:xfrm>
        </p:spPr>
        <p:txBody>
          <a:bodyPr vert="horz" wrap="square" lIns="91440" tIns="45720" rIns="91440" bIns="45720" anchor="t" anchorCtr="0"/>
          <a:p>
            <a:pPr marL="579755" indent="-579755" algn="just" eaLnBrk="1" hangingPunct="1">
              <a:lnSpc>
                <a:spcPct val="90000"/>
              </a:lnSpc>
              <a:buNone/>
            </a:pPr>
            <a:r>
              <a:rPr lang="en-US" altLang="zh-CN" b="1" dirty="0"/>
              <a:t>① </a:t>
            </a:r>
            <a:r>
              <a:rPr lang="zh-CN" altLang="en-US" b="1" dirty="0"/>
              <a:t>正在执行的进程，当发现上述某事件时，由于无法继续执行，于是进程便通过调用阻塞原语</a:t>
            </a:r>
            <a:r>
              <a:rPr lang="en-US" altLang="zh-CN" b="1" dirty="0"/>
              <a:t>block</a:t>
            </a:r>
            <a:r>
              <a:rPr lang="zh-CN" altLang="en-US" b="1" dirty="0"/>
              <a:t>把自己阻塞；</a:t>
            </a:r>
            <a:endParaRPr lang="zh-CN" altLang="en-US" b="1" dirty="0">
              <a:solidFill>
                <a:schemeClr val="folHlink"/>
              </a:solidFill>
            </a:endParaRPr>
          </a:p>
          <a:p>
            <a:pPr marL="579755" indent="-579755" algn="just" eaLnBrk="1" hangingPunct="1">
              <a:lnSpc>
                <a:spcPct val="90000"/>
              </a:lnSpc>
              <a:buNone/>
            </a:pPr>
            <a:r>
              <a:rPr lang="zh-CN" altLang="en-US" b="1" dirty="0"/>
              <a:t>② 把进程控制块中的现行状态由</a:t>
            </a:r>
            <a:r>
              <a:rPr lang="zh-CN" altLang="en-US" b="1" dirty="0">
                <a:latin typeface="Courier New" panose="02070309020205020404" pitchFamily="49" charset="0"/>
              </a:rPr>
              <a:t>“</a:t>
            </a:r>
            <a:r>
              <a:rPr lang="zh-CN" altLang="en-US" b="1" dirty="0"/>
              <a:t>执行</a:t>
            </a:r>
            <a:r>
              <a:rPr lang="zh-CN" altLang="en-US" b="1" dirty="0">
                <a:latin typeface="Courier New" panose="02070309020205020404" pitchFamily="49" charset="0"/>
              </a:rPr>
              <a:t>”</a:t>
            </a:r>
            <a:r>
              <a:rPr lang="zh-CN" altLang="en-US" b="1" dirty="0"/>
              <a:t>改为阻塞，并将</a:t>
            </a:r>
            <a:r>
              <a:rPr lang="en-US" altLang="zh-CN" b="1" dirty="0"/>
              <a:t>PCB</a:t>
            </a:r>
            <a:r>
              <a:rPr lang="zh-CN" altLang="en-US" b="1" dirty="0"/>
              <a:t>插入阻塞队列；</a:t>
            </a:r>
            <a:endParaRPr lang="zh-CN" altLang="en-US" b="1" dirty="0"/>
          </a:p>
          <a:p>
            <a:pPr marL="579755" indent="-579755" algn="just" eaLnBrk="1" hangingPunct="1">
              <a:lnSpc>
                <a:spcPct val="90000"/>
              </a:lnSpc>
              <a:buNone/>
            </a:pPr>
            <a:r>
              <a:rPr lang="zh-CN" altLang="en-US" b="1" dirty="0"/>
              <a:t>③ 转调度程序进行</a:t>
            </a:r>
            <a:r>
              <a:rPr lang="zh-CN" altLang="en-US" b="1" dirty="0">
                <a:solidFill>
                  <a:schemeClr val="folHlink"/>
                </a:solidFill>
              </a:rPr>
              <a:t>重新调度</a:t>
            </a:r>
            <a:r>
              <a:rPr lang="zh-CN" altLang="en-US" b="1" dirty="0"/>
              <a:t>，将处理机分配给另一就绪进程，并进行切换。</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2450"/>
                                        </p:tgtEl>
                                        <p:attrNameLst>
                                          <p:attrName>style.visibility</p:attrName>
                                        </p:attrNameLst>
                                      </p:cBhvr>
                                      <p:to>
                                        <p:strVal val="visible"/>
                                      </p:to>
                                    </p:set>
                                    <p:animEffect transition="in" filter="fade">
                                      <p:cBhvr>
                                        <p:cTn id="7" dur="2000"/>
                                        <p:tgtEl>
                                          <p:spTgt spid="2324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8851">
                                            <p:txEl>
                                              <p:charRg st="0" end="54"/>
                                            </p:txEl>
                                          </p:spTgt>
                                        </p:tgtEl>
                                        <p:attrNameLst>
                                          <p:attrName>style.visibility</p:attrName>
                                        </p:attrNameLst>
                                      </p:cBhvr>
                                      <p:to>
                                        <p:strVal val="visible"/>
                                      </p:to>
                                    </p:set>
                                    <p:animEffect transition="in" filter="fade">
                                      <p:cBhvr>
                                        <p:cTn id="12" dur="2000"/>
                                        <p:tgtEl>
                                          <p:spTgt spid="78851">
                                            <p:txEl>
                                              <p:charRg st="0" end="5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8851">
                                            <p:txEl>
                                              <p:charRg st="54" end="91"/>
                                            </p:txEl>
                                          </p:spTgt>
                                        </p:tgtEl>
                                        <p:attrNameLst>
                                          <p:attrName>style.visibility</p:attrName>
                                        </p:attrNameLst>
                                      </p:cBhvr>
                                      <p:to>
                                        <p:strVal val="visible"/>
                                      </p:to>
                                    </p:set>
                                    <p:animEffect transition="in" filter="fade">
                                      <p:cBhvr>
                                        <p:cTn id="17" dur="2000"/>
                                        <p:tgtEl>
                                          <p:spTgt spid="78851">
                                            <p:txEl>
                                              <p:charRg st="54" end="9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8851">
                                            <p:txEl>
                                              <p:charRg st="91" end="126"/>
                                            </p:txEl>
                                          </p:spTgt>
                                        </p:tgtEl>
                                        <p:attrNameLst>
                                          <p:attrName>style.visibility</p:attrName>
                                        </p:attrNameLst>
                                      </p:cBhvr>
                                      <p:to>
                                        <p:strVal val="visible"/>
                                      </p:to>
                                    </p:set>
                                    <p:animEffect transition="in" filter="fade">
                                      <p:cBhvr>
                                        <p:cTn id="22" dur="2000"/>
                                        <p:tgtEl>
                                          <p:spTgt spid="78851">
                                            <p:txEl>
                                              <p:charRg st="91"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p:bldP spid="7885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Rectangle 2"/>
          <p:cNvSpPr>
            <a:spLocks noGrp="1" noRot="1" noChangeArrowheads="1"/>
          </p:cNvSpPr>
          <p:nvPr>
            <p:ph type="title"/>
          </p:nvPr>
        </p:nvSpPr>
        <p:spPr>
          <a:xfrm>
            <a:off x="301625" y="228600"/>
            <a:ext cx="8540750" cy="91281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进程唤醒过程</a:t>
            </a:r>
            <a:endPar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9875" name="Rectangle 3"/>
          <p:cNvSpPr>
            <a:spLocks noGrp="1" noRot="1"/>
          </p:cNvSpPr>
          <p:nvPr>
            <p:ph type="body"/>
          </p:nvPr>
        </p:nvSpPr>
        <p:spPr>
          <a:xfrm>
            <a:off x="533400" y="1752600"/>
            <a:ext cx="8153400" cy="4495800"/>
          </a:xfrm>
        </p:spPr>
        <p:txBody>
          <a:bodyPr vert="horz" wrap="square" lIns="91440" tIns="45720" rIns="91440" bIns="45720" anchor="t" anchorCtr="0"/>
          <a:p>
            <a:pPr marL="579755" indent="-579755" algn="just" eaLnBrk="1" hangingPunct="1">
              <a:buNone/>
            </a:pPr>
            <a:r>
              <a:rPr lang="en-US" altLang="zh-CN" dirty="0"/>
              <a:t>① </a:t>
            </a:r>
            <a:r>
              <a:rPr lang="zh-CN" altLang="en-US" b="1" dirty="0"/>
              <a:t>当被阻塞进程所期待的事件出现时，则由有关进程（比如，用完并释放了该</a:t>
            </a:r>
            <a:r>
              <a:rPr lang="en-US" altLang="zh-CN" b="1" dirty="0"/>
              <a:t>I/O</a:t>
            </a:r>
            <a:r>
              <a:rPr lang="zh-CN" altLang="en-US" b="1" dirty="0"/>
              <a:t>设备的进程）调用唤醒原语</a:t>
            </a:r>
            <a:r>
              <a:rPr lang="en-US" altLang="zh-CN" b="1" dirty="0"/>
              <a:t>wakeup( )</a:t>
            </a:r>
            <a:r>
              <a:rPr lang="zh-CN" altLang="en-US" b="1" dirty="0"/>
              <a:t>，将等待该事件的进程唤醒。</a:t>
            </a:r>
            <a:endParaRPr lang="zh-CN" altLang="en-US" b="1" dirty="0"/>
          </a:p>
          <a:p>
            <a:pPr marL="579755" indent="-579755" algn="just" eaLnBrk="1" hangingPunct="1">
              <a:buNone/>
            </a:pPr>
            <a:r>
              <a:rPr lang="zh-CN" altLang="en-US" b="1" dirty="0"/>
              <a:t>②唤醒原语执行的过程是：首先把被阻塞的进程从等待该事件的阻塞队列中移出，将其</a:t>
            </a:r>
            <a:r>
              <a:rPr lang="en-US" altLang="zh-CN" b="1" dirty="0"/>
              <a:t>PCB</a:t>
            </a:r>
            <a:r>
              <a:rPr lang="zh-CN" altLang="en-US" b="1" dirty="0"/>
              <a:t>中的现行</a:t>
            </a:r>
            <a:r>
              <a:rPr lang="zh-CN" altLang="en-US" b="1" dirty="0">
                <a:solidFill>
                  <a:schemeClr val="folHlink"/>
                </a:solidFill>
              </a:rPr>
              <a:t>状态由阻塞改为就绪</a:t>
            </a:r>
            <a:r>
              <a:rPr lang="zh-CN" altLang="en-US" b="1" dirty="0"/>
              <a:t>，然后再将该</a:t>
            </a:r>
            <a:r>
              <a:rPr lang="en-US" altLang="zh-CN" b="1" dirty="0"/>
              <a:t>PCB</a:t>
            </a:r>
            <a:r>
              <a:rPr lang="zh-CN" altLang="en-US" b="1" dirty="0">
                <a:solidFill>
                  <a:schemeClr val="folHlink"/>
                </a:solidFill>
              </a:rPr>
              <a:t>插入到就绪队列</a:t>
            </a:r>
            <a:r>
              <a:rPr lang="zh-CN" altLang="en-US" b="1" dirty="0"/>
              <a:t>中。</a:t>
            </a:r>
            <a:endParaRPr lang="zh-CN" altLang="en-US" b="1" dirty="0"/>
          </a:p>
          <a:p>
            <a:pPr marL="579755" indent="-579755" algn="just" eaLnBrk="1" hangingPunct="1">
              <a:buNone/>
            </a:pP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3474"/>
                                        </p:tgtEl>
                                        <p:attrNameLst>
                                          <p:attrName>style.visibility</p:attrName>
                                        </p:attrNameLst>
                                      </p:cBhvr>
                                      <p:to>
                                        <p:strVal val="visible"/>
                                      </p:to>
                                    </p:set>
                                    <p:animEffect transition="in" filter="fade">
                                      <p:cBhvr>
                                        <p:cTn id="7" dur="2000"/>
                                        <p:tgtEl>
                                          <p:spTgt spid="2334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875">
                                            <p:txEl>
                                              <p:charRg st="0" end="73"/>
                                            </p:txEl>
                                          </p:spTgt>
                                        </p:tgtEl>
                                        <p:attrNameLst>
                                          <p:attrName>style.visibility</p:attrName>
                                        </p:attrNameLst>
                                      </p:cBhvr>
                                      <p:to>
                                        <p:strVal val="visible"/>
                                      </p:to>
                                    </p:set>
                                    <p:animEffect transition="in" filter="fade">
                                      <p:cBhvr>
                                        <p:cTn id="12" dur="2000"/>
                                        <p:tgtEl>
                                          <p:spTgt spid="79875">
                                            <p:txEl>
                                              <p:charRg st="0" end="7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9875">
                                            <p:txEl>
                                              <p:charRg st="73" end="146"/>
                                            </p:txEl>
                                          </p:spTgt>
                                        </p:tgtEl>
                                        <p:attrNameLst>
                                          <p:attrName>style.visibility</p:attrName>
                                        </p:attrNameLst>
                                      </p:cBhvr>
                                      <p:to>
                                        <p:strVal val="visible"/>
                                      </p:to>
                                    </p:set>
                                    <p:animEffect transition="in" filter="fade">
                                      <p:cBhvr>
                                        <p:cTn id="17" dur="2000"/>
                                        <p:tgtEl>
                                          <p:spTgt spid="79875">
                                            <p:txEl>
                                              <p:charRg st="73" end="1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p:bldP spid="79875"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2.3.5 </a:t>
            </a: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的挂起与激活</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80899" name="Rectangle 3"/>
          <p:cNvSpPr>
            <a:spLocks noGrp="1" noRot="1"/>
          </p:cNvSpPr>
          <p:nvPr>
            <p:ph type="body"/>
          </p:nvPr>
        </p:nvSpPr>
        <p:spPr>
          <a:xfrm>
            <a:off x="76200" y="1676400"/>
            <a:ext cx="8915400" cy="5257800"/>
          </a:xfrm>
        </p:spPr>
        <p:txBody>
          <a:bodyPr vert="horz" wrap="square" lIns="91440" tIns="45720" rIns="91440" bIns="45720" anchor="t" anchorCtr="0"/>
          <a:p>
            <a:pPr algn="just" eaLnBrk="1" hangingPunct="1"/>
            <a:r>
              <a:rPr lang="en-US" altLang="zh-CN" sz="2800" dirty="0"/>
              <a:t> </a:t>
            </a:r>
            <a:r>
              <a:rPr lang="zh-CN" altLang="en-US" b="1" dirty="0"/>
              <a:t>进程的挂起：</a:t>
            </a:r>
            <a:endParaRPr lang="zh-CN" altLang="en-US" b="1" dirty="0"/>
          </a:p>
          <a:p>
            <a:r>
              <a:rPr lang="zh-CN" altLang="en-US" b="1" dirty="0">
                <a:latin typeface="楷体_GB2312" pitchFamily="49" charset="-122"/>
                <a:ea typeface="楷体_GB2312" pitchFamily="49" charset="-122"/>
              </a:rPr>
              <a:t>当出现了引起进程挂起的事件时（</a:t>
            </a:r>
            <a:r>
              <a:rPr lang="zh-CN" altLang="en-US" b="1" dirty="0">
                <a:solidFill>
                  <a:srgbClr val="0066FF"/>
                </a:solidFill>
              </a:rPr>
              <a:t>比如，用户进程请求将自己挂起，或父进程请求将自己的某个子进程挂起</a:t>
            </a:r>
            <a:r>
              <a:rPr lang="zh-CN" altLang="en-US" b="1" dirty="0">
                <a:solidFill>
                  <a:srgbClr val="0066FF"/>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，系统将利用挂起原语</a:t>
            </a:r>
            <a:r>
              <a:rPr lang="en-US" altLang="zh-CN" b="1" dirty="0">
                <a:latin typeface="楷体_GB2312" pitchFamily="49" charset="-122"/>
                <a:ea typeface="楷体_GB2312" pitchFamily="49" charset="-122"/>
              </a:rPr>
              <a:t>suspend( )</a:t>
            </a:r>
            <a:r>
              <a:rPr lang="zh-CN" altLang="en-US" b="1" dirty="0">
                <a:latin typeface="楷体_GB2312" pitchFamily="49" charset="-122"/>
                <a:ea typeface="楷体_GB2312" pitchFamily="49" charset="-122"/>
              </a:rPr>
              <a:t>将</a:t>
            </a:r>
            <a:r>
              <a:rPr lang="zh-CN" altLang="en-US" b="1" dirty="0">
                <a:solidFill>
                  <a:schemeClr val="folHlink"/>
                </a:solidFill>
                <a:latin typeface="楷体_GB2312" pitchFamily="49" charset="-122"/>
                <a:ea typeface="楷体_GB2312" pitchFamily="49" charset="-122"/>
              </a:rPr>
              <a:t>指定进程挂起</a:t>
            </a:r>
            <a:r>
              <a:rPr lang="zh-CN" altLang="en-US" b="1" dirty="0">
                <a:solidFill>
                  <a:schemeClr val="folHlink"/>
                </a:solidFill>
              </a:rPr>
              <a:t>或处于阻塞状态的进程挂起</a:t>
            </a:r>
            <a:r>
              <a:rPr lang="zh-CN" altLang="en-US" b="1" dirty="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pPr eaLnBrk="1" hangingPunct="1">
              <a:buNone/>
            </a:pPr>
            <a:endParaRPr lang="zh-CN" altLang="en-US" b="1"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4498"/>
                                        </p:tgtEl>
                                        <p:attrNameLst>
                                          <p:attrName>style.visibility</p:attrName>
                                        </p:attrNameLst>
                                      </p:cBhvr>
                                      <p:to>
                                        <p:strVal val="visible"/>
                                      </p:to>
                                    </p:set>
                                    <p:animEffect transition="in" filter="fade">
                                      <p:cBhvr>
                                        <p:cTn id="7" dur="2000"/>
                                        <p:tgtEl>
                                          <p:spTgt spid="234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899">
                                            <p:txEl>
                                              <p:charRg st="0" end="8"/>
                                            </p:txEl>
                                          </p:spTgt>
                                        </p:tgtEl>
                                        <p:attrNameLst>
                                          <p:attrName>style.visibility</p:attrName>
                                        </p:attrNameLst>
                                      </p:cBhvr>
                                      <p:to>
                                        <p:strVal val="visible"/>
                                      </p:to>
                                    </p:set>
                                    <p:animEffect transition="in" filter="fade">
                                      <p:cBhvr>
                                        <p:cTn id="12" dur="2000"/>
                                        <p:tgtEl>
                                          <p:spTgt spid="80899">
                                            <p:txEl>
                                              <p:charRg st="0" end="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0899">
                                            <p:txEl>
                                              <p:charRg st="8" end="97"/>
                                            </p:txEl>
                                          </p:spTgt>
                                        </p:tgtEl>
                                        <p:attrNameLst>
                                          <p:attrName>style.visibility</p:attrName>
                                        </p:attrNameLst>
                                      </p:cBhvr>
                                      <p:to>
                                        <p:strVal val="visible"/>
                                      </p:to>
                                    </p:set>
                                    <p:animEffect transition="in" filter="fade">
                                      <p:cBhvr>
                                        <p:cTn id="15" dur="2000"/>
                                        <p:tgtEl>
                                          <p:spTgt spid="80899">
                                            <p:txEl>
                                              <p:charRg st="8" end="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p:bldP spid="80899"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进程挂起的过程</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75779" name="内容占位符 2"/>
          <p:cNvSpPr>
            <a:spLocks noGrp="1"/>
          </p:cNvSpPr>
          <p:nvPr>
            <p:ph idx="1"/>
          </p:nvPr>
        </p:nvSpPr>
        <p:spPr/>
        <p:txBody>
          <a:bodyPr vert="horz" wrap="square" lIns="91440" tIns="45720" rIns="91440" bIns="45720" anchor="t" anchorCtr="0"/>
          <a:p>
            <a:pPr eaLnBrk="1" hangingPunct="1"/>
            <a:r>
              <a:rPr lang="zh-CN" altLang="en-US" b="1" dirty="0"/>
              <a:t>挂起原语的执行过程是：</a:t>
            </a:r>
            <a:endParaRPr lang="zh-CN" altLang="en-US" b="1" dirty="0"/>
          </a:p>
          <a:p>
            <a:pPr marL="533400" lvl="1" indent="-76200" eaLnBrk="1" hangingPunct="1">
              <a:buNone/>
            </a:pPr>
            <a:r>
              <a:rPr lang="en-US" altLang="zh-CN" b="1" dirty="0">
                <a:ea typeface="楷体_GB2312" pitchFamily="49" charset="-122"/>
              </a:rPr>
              <a:t>1</a:t>
            </a:r>
            <a:r>
              <a:rPr lang="zh-CN" altLang="en-US" b="1" dirty="0">
                <a:ea typeface="楷体_GB2312" pitchFamily="49" charset="-122"/>
              </a:rPr>
              <a:t>、首先检查被挂起进程的状态，</a:t>
            </a:r>
            <a:endParaRPr lang="en-US" altLang="zh-CN" b="1" dirty="0">
              <a:ea typeface="楷体_GB2312" pitchFamily="49" charset="-122"/>
            </a:endParaRPr>
          </a:p>
          <a:p>
            <a:pPr marL="533400" lvl="1" indent="-76200" eaLnBrk="1" hangingPunct="1">
              <a:buNone/>
            </a:pPr>
            <a:r>
              <a:rPr lang="zh-CN" altLang="en-US" b="1" dirty="0">
                <a:ea typeface="楷体_GB2312" pitchFamily="49" charset="-122"/>
              </a:rPr>
              <a:t>若处于</a:t>
            </a:r>
            <a:r>
              <a:rPr lang="zh-CN" altLang="en-US" b="1" dirty="0">
                <a:solidFill>
                  <a:srgbClr val="FF0000"/>
                </a:solidFill>
                <a:ea typeface="楷体_GB2312" pitchFamily="49" charset="-122"/>
              </a:rPr>
              <a:t>活动就绪状态，便将其改为静止就绪</a:t>
            </a:r>
            <a:r>
              <a:rPr lang="zh-CN" altLang="en-US" b="1" dirty="0">
                <a:ea typeface="楷体_GB2312" pitchFamily="49" charset="-122"/>
              </a:rPr>
              <a:t>；</a:t>
            </a:r>
            <a:endParaRPr lang="en-US" altLang="zh-CN" b="1" dirty="0">
              <a:ea typeface="楷体_GB2312" pitchFamily="49" charset="-122"/>
            </a:endParaRPr>
          </a:p>
          <a:p>
            <a:pPr marL="533400" lvl="1" indent="-76200" eaLnBrk="1" hangingPunct="1">
              <a:buNone/>
            </a:pPr>
            <a:r>
              <a:rPr lang="zh-CN" altLang="en-US" b="1" dirty="0">
                <a:ea typeface="楷体_GB2312" pitchFamily="49" charset="-122"/>
              </a:rPr>
              <a:t>对于</a:t>
            </a:r>
            <a:r>
              <a:rPr lang="zh-CN" altLang="en-US" b="1" dirty="0">
                <a:solidFill>
                  <a:srgbClr val="FF0000"/>
                </a:solidFill>
                <a:ea typeface="楷体_GB2312" pitchFamily="49" charset="-122"/>
              </a:rPr>
              <a:t>活动阻塞状态的进程，则将之改为静止阻塞</a:t>
            </a:r>
            <a:r>
              <a:rPr lang="zh-CN" altLang="en-US" b="1" dirty="0">
                <a:ea typeface="楷体_GB2312" pitchFamily="49" charset="-122"/>
              </a:rPr>
              <a:t>；</a:t>
            </a:r>
            <a:endParaRPr lang="en-US" altLang="zh-CN" b="1" dirty="0">
              <a:ea typeface="楷体_GB2312" pitchFamily="49" charset="-122"/>
            </a:endParaRPr>
          </a:p>
          <a:p>
            <a:pPr marL="533400" lvl="1" indent="-76200" eaLnBrk="1" hangingPunct="1">
              <a:buNone/>
            </a:pPr>
            <a:endParaRPr lang="en-US" altLang="zh-CN" b="1" dirty="0">
              <a:ea typeface="楷体_GB2312" pitchFamily="49" charset="-122"/>
            </a:endParaRPr>
          </a:p>
          <a:p>
            <a:pPr marL="533400" lvl="1" indent="-76200" eaLnBrk="1" hangingPunct="1">
              <a:buNone/>
            </a:pPr>
            <a:r>
              <a:rPr lang="en-US" altLang="zh-CN" b="1" dirty="0">
                <a:ea typeface="楷体_GB2312" pitchFamily="49" charset="-122"/>
              </a:rPr>
              <a:t>2</a:t>
            </a:r>
            <a:r>
              <a:rPr lang="zh-CN" altLang="en-US" b="1" dirty="0">
                <a:ea typeface="楷体_GB2312" pitchFamily="49" charset="-122"/>
              </a:rPr>
              <a:t>、然后将被挂起进程的</a:t>
            </a:r>
            <a:r>
              <a:rPr lang="en-US" altLang="zh-CN" b="1" dirty="0">
                <a:ea typeface="楷体_GB2312" pitchFamily="49" charset="-122"/>
              </a:rPr>
              <a:t>PCB</a:t>
            </a:r>
            <a:r>
              <a:rPr lang="zh-CN" altLang="en-US" b="1" dirty="0">
                <a:ea typeface="楷体_GB2312" pitchFamily="49" charset="-122"/>
              </a:rPr>
              <a:t>复制到指定的内存区域。</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Text Box 2"/>
          <p:cNvSpPr txBox="1"/>
          <p:nvPr/>
        </p:nvSpPr>
        <p:spPr>
          <a:xfrm>
            <a:off x="304800" y="738188"/>
            <a:ext cx="8137525" cy="6119812"/>
          </a:xfrm>
          <a:prstGeom prst="rect">
            <a:avLst/>
          </a:prstGeom>
          <a:solidFill>
            <a:srgbClr val="CCFFCC"/>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342900" lvl="0" indent="-342900" eaLnBrk="1" hangingPunct="1">
              <a:spcBef>
                <a:spcPct val="0"/>
              </a:spcBef>
              <a:buClrTx/>
              <a:buSzTx/>
              <a:buFontTx/>
              <a:buNone/>
            </a:pPr>
            <a:r>
              <a:rPr lang="en-US" altLang="ko-KR" sz="1400" b="1" dirty="0">
                <a:latin typeface="Times New Roman" panose="02020603050405020304" pitchFamily="18" charset="0"/>
              </a:rPr>
              <a:t>INT8U  OSTaskSuspend (INT8U 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BOOLEAN    self;</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OS_TCB    *ptcb;</a:t>
            </a:r>
            <a:endParaRPr lang="en-US" altLang="zh-CN" sz="1400" b="1" dirty="0">
              <a:latin typeface="Times New Roman" panose="02020603050405020304" pitchFamily="18" charset="0"/>
            </a:endParaRPr>
          </a:p>
          <a:p>
            <a:pPr marL="342900" lvl="0" indent="-342900" eaLnBrk="1" hangingPunct="1">
              <a:spcBef>
                <a:spcPct val="0"/>
              </a:spcBef>
              <a:buClrTx/>
              <a:buSzTx/>
              <a:buFontTx/>
              <a:buNone/>
            </a:pPr>
            <a:r>
              <a:rPr lang="en-US" altLang="zh-CN" sz="2400" dirty="0">
                <a:latin typeface="Times New Roman" panose="02020603050405020304" pitchFamily="18" charset="0"/>
              </a:rPr>
              <a:t>  </a:t>
            </a:r>
            <a:r>
              <a:rPr lang="en-US" altLang="ko-KR" sz="1400" b="1" dirty="0">
                <a:latin typeface="Times New Roman" panose="02020603050405020304" pitchFamily="18" charset="0"/>
              </a:rPr>
              <a:t>OS_ENTER_CRITICAL();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(prio == OS_PRIO_SELF) {                               </a:t>
            </a:r>
            <a:r>
              <a:rPr lang="en-US" altLang="zh-CN" sz="1400" b="1" dirty="0">
                <a:latin typeface="Times New Roman" panose="02020603050405020304" pitchFamily="18" charset="0"/>
              </a:rPr>
              <a:t>         </a:t>
            </a:r>
            <a:r>
              <a:rPr lang="en-US" altLang="ko-KR" sz="1400" b="1" dirty="0">
                <a:latin typeface="Times New Roman" panose="02020603050405020304" pitchFamily="18" charset="0"/>
              </a:rPr>
              <a:t>  /* See if suspend SELF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prio = OSTCBCur-&gt;OSTCBPrio;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self = TRUE;</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 else if (prio == OSTCBCur-&gt;OSTCBPrio) {                   /* See if suspending self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self = TRUE;</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 else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self = FALSE;                                           </a:t>
            </a:r>
            <a:r>
              <a:rPr lang="en-US" altLang="zh-CN" sz="1400" b="1" dirty="0">
                <a:latin typeface="Times New Roman" panose="02020603050405020304" pitchFamily="18" charset="0"/>
              </a:rPr>
              <a:t>                 </a:t>
            </a:r>
            <a:r>
              <a:rPr lang="en-US" altLang="ko-KR" sz="1400" b="1" dirty="0">
                <a:latin typeface="Times New Roman" panose="02020603050405020304" pitchFamily="18" charset="0"/>
              </a:rPr>
              <a:t>/* No suspending another task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ptcb = OSTCBPrioTbl[prio];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(ptcb == (OS_TCB *)0) {                                  </a:t>
            </a:r>
            <a:r>
              <a:rPr lang="en-US" altLang="zh-CN" sz="1400" b="1" dirty="0">
                <a:latin typeface="Times New Roman" panose="02020603050405020304" pitchFamily="18" charset="0"/>
              </a:rPr>
              <a:t>          </a:t>
            </a:r>
            <a:r>
              <a:rPr lang="en-US" altLang="ko-KR" sz="1400" b="1" dirty="0">
                <a:latin typeface="Times New Roman" panose="02020603050405020304" pitchFamily="18" charset="0"/>
              </a:rPr>
              <a:t>/* Task to suspend must exist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(OS_TASK_SUSPEND_PRIO);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((OSRdyTbl[ptcb-&gt;OSTCBY] &amp;= ~ptcb-&gt;OSTCBBitX) == 0x00) { /* Make task not ready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OSRdyGrp &amp;= ~ptcb-&gt;OSTCBBitY;</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ptcb-&gt;OSTCBStat |= OS_STAT_SUSPEND;                         /* Status of task is 'SUSPENDED'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solidFill>
                  <a:srgbClr val="FF0000"/>
                </a:solidFill>
                <a:latin typeface="Times New Roman" panose="02020603050405020304" pitchFamily="18" charset="0"/>
              </a:rPr>
              <a:t>    if (self == TRUE) {                                         </a:t>
            </a:r>
            <a:r>
              <a:rPr lang="en-US" altLang="zh-CN" sz="1400" b="1" dirty="0">
                <a:solidFill>
                  <a:srgbClr val="FF0000"/>
                </a:solidFill>
                <a:latin typeface="Times New Roman" panose="02020603050405020304" pitchFamily="18" charset="0"/>
              </a:rPr>
              <a:t>                               </a:t>
            </a:r>
            <a:r>
              <a:rPr lang="en-US" altLang="ko-KR" sz="1400" b="1" dirty="0">
                <a:solidFill>
                  <a:srgbClr val="FF0000"/>
                </a:solidFill>
                <a:latin typeface="Times New Roman" panose="02020603050405020304" pitchFamily="18" charset="0"/>
              </a:rPr>
              <a:t>/* Context switch only if SELF         */</a:t>
            </a:r>
            <a:endParaRPr lang="en-US" altLang="ko-KR" sz="1400" b="1" dirty="0">
              <a:solidFill>
                <a:srgbClr val="FF0000"/>
              </a:solidFill>
              <a:latin typeface="Times New Roman" panose="02020603050405020304" pitchFamily="18" charset="0"/>
            </a:endParaRPr>
          </a:p>
          <a:p>
            <a:pPr marL="342900" lvl="0" indent="-342900" eaLnBrk="1" hangingPunct="1">
              <a:spcBef>
                <a:spcPct val="0"/>
              </a:spcBef>
              <a:buClrTx/>
              <a:buSzTx/>
              <a:buFontTx/>
              <a:buNone/>
            </a:pPr>
            <a:r>
              <a:rPr lang="en-US" altLang="ko-KR" sz="1400" b="1" dirty="0">
                <a:solidFill>
                  <a:srgbClr val="FF0000"/>
                </a:solidFill>
                <a:latin typeface="Times New Roman" panose="02020603050405020304" pitchFamily="18" charset="0"/>
              </a:rPr>
              <a:t>        OS_Sched();</a:t>
            </a:r>
            <a:endParaRPr lang="en-US" altLang="ko-KR" sz="1400" b="1" dirty="0">
              <a:solidFill>
                <a:srgbClr val="FF0000"/>
              </a:solidFill>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(OS_NO_ERR);</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a:t>
            </a:r>
            <a:endParaRPr lang="en-US" altLang="ko-KR" sz="1400" b="1" dirty="0">
              <a:latin typeface="Times New Roman" panose="02020603050405020304" pitchFamily="18" charset="0"/>
            </a:endParaRPr>
          </a:p>
        </p:txBody>
      </p:sp>
      <p:sp>
        <p:nvSpPr>
          <p:cNvPr id="5" name="Rectangle 3"/>
          <p:cNvSpPr>
            <a:spLocks noChangeArrowheads="1"/>
          </p:cNvSpPr>
          <p:nvPr/>
        </p:nvSpPr>
        <p:spPr bwMode="auto">
          <a:xfrm>
            <a:off x="2093913" y="152400"/>
            <a:ext cx="6196013"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ko-KR"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OSTaskSuspend</a:t>
            </a:r>
            <a:r>
              <a:rPr kumimoji="1" lang="en-US" altLang="ko-KR"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 in </a:t>
            </a:r>
            <a:r>
              <a:rPr kumimoji="1" lang="en-US" altLang="ko-KR"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u</a:t>
            </a:r>
            <a:r>
              <a:rPr kumimoji="1" lang="en-US" altLang="zh-CN"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C</a:t>
            </a:r>
            <a:r>
              <a:rPr kumimoji="1" lang="en-US" altLang="ko-KR" sz="2800" b="1" i="0" u="none" strike="noStrike" kern="1200" cap="none" spc="0" normalizeH="0" baseline="0" noProof="0" dirty="0" err="1">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OS</a:t>
            </a:r>
            <a:endParaRPr kumimoji="1" lang="en-US" altLang="zh-CN" sz="2800" b="1" i="0" u="none" strike="noStrike" kern="1200" cap="none" spc="0" normalizeH="0" baseline="0" noProof="0" dirty="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Rectangle 2"/>
          <p:cNvSpPr>
            <a:spLocks noGrp="1" noRot="1" noChangeArrowheads="1"/>
          </p:cNvSpPr>
          <p:nvPr>
            <p:ph type="title"/>
          </p:nvPr>
        </p:nvSpPr>
        <p:spPr>
          <a:xfrm>
            <a:off x="301625" y="228600"/>
            <a:ext cx="8540750" cy="9064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smtClean="0">
                <a:ln>
                  <a:noFill/>
                </a:ln>
                <a:solidFill>
                  <a:schemeClr val="tx2"/>
                </a:solidFill>
                <a:effectLst>
                  <a:outerShdw blurRad="38100" dist="38100" dir="2700000" algn="tl">
                    <a:srgbClr val="000000"/>
                  </a:outerShdw>
                </a:effectLst>
                <a:uLnTx/>
                <a:uFillTx/>
                <a:latin typeface="+mj-lt"/>
                <a:ea typeface="+mj-ea"/>
                <a:cs typeface="+mj-cs"/>
              </a:rPr>
              <a:t>进程</a:t>
            </a:r>
            <a:r>
              <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rPr>
              <a:t>的激活过程</a:t>
            </a:r>
            <a:endParaRPr kumimoji="0" lang="zh-CN" altLang="en-US" sz="4400" b="1" i="0" u="none" strike="noStrike" kern="0" cap="none" spc="0" normalizeH="0" baseline="0" noProof="0" dirty="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81923" name="Rectangle 3"/>
          <p:cNvSpPr>
            <a:spLocks noGrp="1" noRot="1"/>
          </p:cNvSpPr>
          <p:nvPr>
            <p:ph type="body"/>
          </p:nvPr>
        </p:nvSpPr>
        <p:spPr>
          <a:xfrm>
            <a:off x="457200" y="1600200"/>
            <a:ext cx="8305800" cy="4876800"/>
          </a:xfrm>
        </p:spPr>
        <p:txBody>
          <a:bodyPr vert="horz" wrap="square" lIns="91440" tIns="45720" rIns="91440" bIns="45720" anchor="t" anchorCtr="0"/>
          <a:p>
            <a:pPr algn="just" eaLnBrk="1" hangingPunct="1">
              <a:lnSpc>
                <a:spcPct val="110000"/>
              </a:lnSpc>
              <a:buNone/>
            </a:pPr>
            <a:r>
              <a:rPr lang="en-US" altLang="zh-CN" sz="2800" b="1" dirty="0"/>
              <a:t>①</a:t>
            </a:r>
            <a:r>
              <a:rPr lang="zh-CN" altLang="en-US" sz="2800" b="1" dirty="0"/>
              <a:t>当发生激活进程的事件时，例如，父进程或用户进程请求激活指定进程，系统将利用激活原语</a:t>
            </a:r>
            <a:r>
              <a:rPr lang="en-US" altLang="zh-CN" sz="2800" b="1" dirty="0"/>
              <a:t>active( )</a:t>
            </a:r>
            <a:r>
              <a:rPr lang="zh-CN" altLang="en-US" sz="2800" b="1" dirty="0"/>
              <a:t>将指定进程激活。</a:t>
            </a:r>
            <a:endParaRPr lang="zh-CN" altLang="en-US" sz="2800" b="1" dirty="0"/>
          </a:p>
          <a:p>
            <a:pPr algn="just" eaLnBrk="1" hangingPunct="1">
              <a:lnSpc>
                <a:spcPct val="110000"/>
              </a:lnSpc>
              <a:buNone/>
            </a:pPr>
            <a:r>
              <a:rPr lang="zh-CN" altLang="en-US" sz="2800" b="1" dirty="0"/>
              <a:t>②系统利用激活原语</a:t>
            </a:r>
            <a:r>
              <a:rPr lang="en-US" altLang="zh-CN" sz="2800" b="1" dirty="0"/>
              <a:t>active( )</a:t>
            </a:r>
            <a:r>
              <a:rPr lang="zh-CN" altLang="en-US" sz="2800" b="1" dirty="0"/>
              <a:t>将指定进程激活：</a:t>
            </a:r>
            <a:endParaRPr lang="en-US" altLang="zh-CN" sz="2800" b="1" dirty="0"/>
          </a:p>
          <a:p>
            <a:pPr algn="just" eaLnBrk="1" hangingPunct="1">
              <a:lnSpc>
                <a:spcPct val="110000"/>
              </a:lnSpc>
              <a:buNone/>
            </a:pPr>
            <a:r>
              <a:rPr lang="en-US" altLang="zh-CN" sz="2800" b="1" dirty="0">
                <a:solidFill>
                  <a:srgbClr val="FF0000"/>
                </a:solidFill>
              </a:rPr>
              <a:t>		</a:t>
            </a:r>
            <a:r>
              <a:rPr lang="zh-CN" altLang="en-US" sz="2800" b="1" dirty="0">
                <a:solidFill>
                  <a:srgbClr val="FF0000"/>
                </a:solidFill>
              </a:rPr>
              <a:t>激活原语检查该进程的现行状态，若是静止就绪</a:t>
            </a:r>
            <a:r>
              <a:rPr lang="zh-CN" altLang="en-US" sz="2800" b="1" dirty="0"/>
              <a:t>，</a:t>
            </a:r>
            <a:r>
              <a:rPr lang="zh-CN" altLang="en-US" sz="2800" b="1" dirty="0">
                <a:solidFill>
                  <a:srgbClr val="FF0000"/>
                </a:solidFill>
              </a:rPr>
              <a:t>便将之改为活动就绪；</a:t>
            </a:r>
            <a:endParaRPr lang="en-US" altLang="zh-CN" sz="2800" b="1" dirty="0">
              <a:solidFill>
                <a:srgbClr val="FF0000"/>
              </a:solidFill>
            </a:endParaRPr>
          </a:p>
          <a:p>
            <a:pPr algn="just" eaLnBrk="1" hangingPunct="1">
              <a:lnSpc>
                <a:spcPct val="110000"/>
              </a:lnSpc>
              <a:buNone/>
            </a:pPr>
            <a:r>
              <a:rPr lang="en-US" altLang="zh-CN" sz="2800" b="1" dirty="0">
                <a:solidFill>
                  <a:srgbClr val="FF0000"/>
                </a:solidFill>
              </a:rPr>
              <a:t>		</a:t>
            </a:r>
            <a:r>
              <a:rPr lang="zh-CN" altLang="en-US" sz="2800" b="1" dirty="0">
                <a:solidFill>
                  <a:srgbClr val="FF0000"/>
                </a:solidFill>
              </a:rPr>
              <a:t>若为静止阻塞，便将之改为活动阻塞。</a:t>
            </a:r>
            <a:endParaRPr lang="zh-CN" altLang="en-US" sz="2800" b="1" dirty="0">
              <a:solidFill>
                <a:srgbClr val="FF0000"/>
              </a:solidFill>
            </a:endParaRPr>
          </a:p>
          <a:p>
            <a:pPr algn="just" eaLnBrk="1" hangingPunct="1">
              <a:lnSpc>
                <a:spcPct val="110000"/>
              </a:lnSpc>
              <a:buNone/>
            </a:pPr>
            <a:r>
              <a:rPr lang="zh-CN" altLang="en-US" sz="2800" dirty="0"/>
              <a:t>	</a:t>
            </a:r>
            <a:endParaRPr lang="zh-CN" altLang="en-US" sz="2800" b="1" dirty="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5522"/>
                                        </p:tgtEl>
                                        <p:attrNameLst>
                                          <p:attrName>style.visibility</p:attrName>
                                        </p:attrNameLst>
                                      </p:cBhvr>
                                      <p:to>
                                        <p:strVal val="visible"/>
                                      </p:to>
                                    </p:set>
                                    <p:animEffect transition="in" filter="fade">
                                      <p:cBhvr>
                                        <p:cTn id="7" dur="2000"/>
                                        <p:tgtEl>
                                          <p:spTgt spid="2355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923">
                                            <p:txEl>
                                              <p:charRg st="0" end="60"/>
                                            </p:txEl>
                                          </p:spTgt>
                                        </p:tgtEl>
                                        <p:attrNameLst>
                                          <p:attrName>style.visibility</p:attrName>
                                        </p:attrNameLst>
                                      </p:cBhvr>
                                      <p:to>
                                        <p:strVal val="visible"/>
                                      </p:to>
                                    </p:set>
                                    <p:animEffect transition="in" filter="fade">
                                      <p:cBhvr>
                                        <p:cTn id="12" dur="2000"/>
                                        <p:tgtEl>
                                          <p:spTgt spid="81923">
                                            <p:txEl>
                                              <p:charRg st="0" end="6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923">
                                            <p:txEl>
                                              <p:charRg st="60" end="87"/>
                                            </p:txEl>
                                          </p:spTgt>
                                        </p:tgtEl>
                                        <p:attrNameLst>
                                          <p:attrName>style.visibility</p:attrName>
                                        </p:attrNameLst>
                                      </p:cBhvr>
                                      <p:to>
                                        <p:strVal val="visible"/>
                                      </p:to>
                                    </p:set>
                                    <p:animEffect transition="in" filter="fade">
                                      <p:cBhvr>
                                        <p:cTn id="17" dur="2000"/>
                                        <p:tgtEl>
                                          <p:spTgt spid="81923">
                                            <p:txEl>
                                              <p:charRg st="60" end="8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1923">
                                            <p:txEl>
                                              <p:charRg st="87" end="122"/>
                                            </p:txEl>
                                          </p:spTgt>
                                        </p:tgtEl>
                                        <p:attrNameLst>
                                          <p:attrName>style.visibility</p:attrName>
                                        </p:attrNameLst>
                                      </p:cBhvr>
                                      <p:to>
                                        <p:strVal val="visible"/>
                                      </p:to>
                                    </p:set>
                                    <p:animEffect transition="in" filter="fade">
                                      <p:cBhvr>
                                        <p:cTn id="22" dur="2000"/>
                                        <p:tgtEl>
                                          <p:spTgt spid="81923">
                                            <p:txEl>
                                              <p:charRg st="87" end="12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1923">
                                            <p:txEl>
                                              <p:charRg st="122" end="142"/>
                                            </p:txEl>
                                          </p:spTgt>
                                        </p:tgtEl>
                                        <p:attrNameLst>
                                          <p:attrName>style.visibility</p:attrName>
                                        </p:attrNameLst>
                                      </p:cBhvr>
                                      <p:to>
                                        <p:strVal val="visible"/>
                                      </p:to>
                                    </p:set>
                                    <p:animEffect transition="in" filter="fade">
                                      <p:cBhvr>
                                        <p:cTn id="27" dur="2000"/>
                                        <p:tgtEl>
                                          <p:spTgt spid="81923">
                                            <p:txEl>
                                              <p:charRg st="122" end="14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923">
                                            <p:txEl>
                                              <p:charRg st="142" end="144"/>
                                            </p:txEl>
                                          </p:spTgt>
                                        </p:tgtEl>
                                        <p:attrNameLst>
                                          <p:attrName>style.visibility</p:attrName>
                                        </p:attrNameLst>
                                      </p:cBhvr>
                                      <p:to>
                                        <p:strVal val="visible"/>
                                      </p:to>
                                    </p:set>
                                    <p:animEffect transition="in" filter="fade">
                                      <p:cBhvr>
                                        <p:cTn id="32" dur="2000"/>
                                        <p:tgtEl>
                                          <p:spTgt spid="81923">
                                            <p:txEl>
                                              <p:charRg st="142" end="1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2" grpId="0"/>
      <p:bldP spid="8192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Text Box 2"/>
          <p:cNvSpPr txBox="1"/>
          <p:nvPr/>
        </p:nvSpPr>
        <p:spPr>
          <a:xfrm>
            <a:off x="304800" y="736600"/>
            <a:ext cx="8137525" cy="5500688"/>
          </a:xfrm>
          <a:prstGeom prst="rect">
            <a:avLst/>
          </a:prstGeom>
          <a:solidFill>
            <a:srgbClr val="CCFFCC"/>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342900" lvl="0" indent="-342900" eaLnBrk="1" hangingPunct="1">
              <a:spcBef>
                <a:spcPct val="0"/>
              </a:spcBef>
              <a:buClrTx/>
              <a:buSzTx/>
              <a:buFontTx/>
              <a:buNone/>
            </a:pPr>
            <a:r>
              <a:rPr lang="en-US" altLang="ko-KR" sz="1400" b="1" dirty="0">
                <a:latin typeface="Times New Roman" panose="02020603050405020304" pitchFamily="18" charset="0"/>
              </a:rPr>
              <a:t>INT8U  OSTaskResume (INT8U 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OS_TCB    *ptcb;</a:t>
            </a:r>
            <a:endParaRPr lang="en-US" altLang="zh-CN" sz="1400" b="1" dirty="0">
              <a:latin typeface="Times New Roman" panose="02020603050405020304" pitchFamily="18" charset="0"/>
            </a:endParaRPr>
          </a:p>
          <a:p>
            <a:pPr marL="342900" lvl="0" indent="-342900" eaLnBrk="1" hangingPunct="1">
              <a:spcBef>
                <a:spcPct val="0"/>
              </a:spcBef>
              <a:buClrTx/>
              <a:buSzTx/>
              <a:buFontTx/>
              <a:buNone/>
            </a:pPr>
            <a:r>
              <a:rPr lang="en-US" altLang="zh-CN" sz="2400" dirty="0">
                <a:latin typeface="Times New Roman" panose="02020603050405020304" pitchFamily="18" charset="0"/>
              </a:rPr>
              <a:t>   </a:t>
            </a:r>
            <a:r>
              <a:rPr lang="en-US" altLang="ko-KR" sz="1400" b="1" dirty="0">
                <a:latin typeface="Times New Roman" panose="02020603050405020304" pitchFamily="18" charset="0"/>
              </a:rPr>
              <a:t>OS_ENTER_CRITICAL();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ptcb = OSTCBPrioTbl[prio];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(ptcb == (OS_TCB *)0) {                                  /* Task to suspend must exist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(OS_TASK_RESUME_PRIO);</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((ptcb-&gt;OSTCBStat &amp; OS_STAT_SUSPEND) != OS_STAT_RDY) {   /* Task must be suspended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if (((ptcb-&gt;OSTCBStat &amp;= ~OS_STAT_SUSPEND) == </a:t>
            </a:r>
            <a:r>
              <a:rPr lang="en-US" altLang="ko-KR" sz="1400" b="1" dirty="0">
                <a:solidFill>
                  <a:srgbClr val="FF0000"/>
                </a:solidFill>
                <a:latin typeface="Times New Roman" panose="02020603050405020304" pitchFamily="18" charset="0"/>
              </a:rPr>
              <a:t>OS_STAT_RD</a:t>
            </a:r>
            <a:r>
              <a:rPr lang="en-US" altLang="ko-KR" sz="1400" b="1" dirty="0">
                <a:latin typeface="Times New Roman" panose="02020603050405020304" pitchFamily="18" charset="0"/>
              </a:rPr>
              <a:t>Y) &amp;&amp;  /* </a:t>
            </a:r>
            <a:r>
              <a:rPr lang="en-US" altLang="ko-KR" sz="1200" b="1" dirty="0">
                <a:latin typeface="Times New Roman" panose="02020603050405020304" pitchFamily="18" charset="0"/>
              </a:rPr>
              <a:t>Remove suspension</a:t>
            </a:r>
            <a:r>
              <a:rPr lang="en-US" altLang="ko-KR" sz="1400" b="1" dirty="0">
                <a:latin typeface="Times New Roman" panose="02020603050405020304" pitchFamily="18" charset="0"/>
              </a:rPr>
              <a:t>*/</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(ptcb-&gt;OSTCBDly  == 0)) {                                     /* Must not be delayed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solidFill>
                  <a:srgbClr val="FF0000"/>
                </a:solidFill>
                <a:latin typeface="Times New Roman" panose="02020603050405020304" pitchFamily="18" charset="0"/>
              </a:rPr>
              <a:t>            OSRdyGrp               |= ptcb-&gt;OSTCBBitY;                     /* Make task ready to run   */</a:t>
            </a:r>
            <a:endParaRPr lang="en-US" altLang="ko-KR" sz="1400" b="1" dirty="0">
              <a:solidFill>
                <a:srgbClr val="FF0000"/>
              </a:solidFill>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OSRdyTbl[ptcb-&gt;OSTCBY] |= ptcb-&gt;OSTCBBitX;</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solidFill>
                  <a:srgbClr val="FF0000"/>
                </a:solidFill>
                <a:latin typeface="Times New Roman" panose="02020603050405020304" pitchFamily="18" charset="0"/>
              </a:rPr>
              <a:t>            OS_Sched();</a:t>
            </a:r>
            <a:endParaRPr lang="en-US" altLang="ko-KR" sz="1400" b="1" dirty="0">
              <a:solidFill>
                <a:srgbClr val="FF0000"/>
              </a:solidFill>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 else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(OS_NO_ERR);</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OS_EXIT_CRITICAL();</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    return (OS_TASK_NOT_SUSPENDED);</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r>
              <a:rPr lang="en-US" altLang="ko-KR" sz="1400" b="1" dirty="0">
                <a:latin typeface="Times New Roman" panose="02020603050405020304" pitchFamily="18" charset="0"/>
              </a:rPr>
              <a:t>}</a:t>
            </a:r>
            <a:endParaRPr lang="en-US" altLang="ko-KR" sz="1400" b="1" dirty="0">
              <a:latin typeface="Times New Roman" panose="02020603050405020304" pitchFamily="18" charset="0"/>
            </a:endParaRPr>
          </a:p>
          <a:p>
            <a:pPr marL="342900" lvl="0" indent="-342900" eaLnBrk="1" hangingPunct="1">
              <a:spcBef>
                <a:spcPct val="0"/>
              </a:spcBef>
              <a:buClrTx/>
              <a:buSzTx/>
              <a:buFontTx/>
              <a:buNone/>
            </a:pPr>
            <a:endParaRPr lang="en-US" altLang="ko-KR" sz="1400" b="1" dirty="0">
              <a:latin typeface="Times New Roman" panose="02020603050405020304" pitchFamily="18" charset="0"/>
            </a:endParaRPr>
          </a:p>
        </p:txBody>
      </p:sp>
      <p:sp>
        <p:nvSpPr>
          <p:cNvPr id="5" name="Rectangle 3"/>
          <p:cNvSpPr>
            <a:spLocks noChangeArrowheads="1"/>
          </p:cNvSpPr>
          <p:nvPr/>
        </p:nvSpPr>
        <p:spPr bwMode="auto">
          <a:xfrm>
            <a:off x="2093913" y="152400"/>
            <a:ext cx="6272213" cy="533400"/>
          </a:xfrm>
          <a:prstGeom prst="rect">
            <a:avLst/>
          </a:prstGeom>
          <a:noFill/>
          <a:ln w="9525">
            <a:noFill/>
            <a:miter lim="800000"/>
          </a:ln>
          <a:effectLst/>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ko-KR"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OSTask</a:t>
            </a:r>
            <a:r>
              <a:rPr kumimoji="1" lang="en-US" altLang="zh-CN"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Resume</a:t>
            </a:r>
            <a:r>
              <a:rPr kumimoji="1" lang="en-US" altLang="ko-KR"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 in u</a:t>
            </a:r>
            <a:r>
              <a:rPr kumimoji="1" lang="en-US" altLang="zh-CN"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C</a:t>
            </a:r>
            <a:r>
              <a:rPr kumimoji="1" lang="en-US" altLang="ko-KR"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rPr>
              <a:t>OS</a:t>
            </a:r>
            <a:endParaRPr kumimoji="1" lang="en-US" altLang="zh-CN" sz="2800" b="1" i="0" u="none" strike="noStrike" kern="1200" cap="none" spc="0" normalizeH="0" baseline="0" noProof="0">
              <a:ln>
                <a:noFill/>
              </a:ln>
              <a:solidFill>
                <a:srgbClr val="800000"/>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049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进程控制原语可能引起的调度</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83971" name="Rectangle 3"/>
          <p:cNvSpPr>
            <a:spLocks noGrp="1" noRot="1"/>
          </p:cNvSpPr>
          <p:nvPr>
            <p:ph type="body"/>
          </p:nvPr>
        </p:nvSpPr>
        <p:spPr/>
        <p:txBody>
          <a:bodyPr vert="horz" wrap="square" lIns="91440" tIns="45720" rIns="91440" bIns="45720" anchor="t" anchorCtr="0"/>
          <a:p>
            <a:pPr algn="just" eaLnBrk="1" hangingPunct="1">
              <a:lnSpc>
                <a:spcPct val="110000"/>
              </a:lnSpc>
              <a:buNone/>
            </a:pPr>
            <a:endParaRPr lang="en-US" altLang="zh-CN" b="1" dirty="0">
              <a:solidFill>
                <a:schemeClr val="folHlink"/>
              </a:solidFill>
            </a:endParaRPr>
          </a:p>
          <a:p>
            <a:pPr algn="just" eaLnBrk="1" hangingPunct="1">
              <a:lnSpc>
                <a:spcPct val="110000"/>
              </a:lnSpc>
              <a:buNone/>
            </a:pPr>
            <a:r>
              <a:rPr lang="en-US" altLang="zh-CN" b="1" dirty="0">
                <a:solidFill>
                  <a:schemeClr val="folHlink"/>
                </a:solidFill>
              </a:rPr>
              <a:t>	</a:t>
            </a:r>
            <a:r>
              <a:rPr lang="zh-CN" altLang="en-US" b="1" dirty="0">
                <a:solidFill>
                  <a:schemeClr val="folHlink"/>
                </a:solidFill>
              </a:rPr>
              <a:t>时机：假如采用的是抢占调度策略，则每当有新进程进入就绪队列时，都应检查是否要进行重新调度。</a:t>
            </a:r>
            <a:endParaRPr lang="zh-CN" altLang="en-US" b="1" dirty="0">
              <a:solidFill>
                <a:schemeClr val="folHlink"/>
              </a:solidFill>
            </a:endParaRPr>
          </a:p>
          <a:p>
            <a:pPr algn="just" eaLnBrk="1" hangingPunct="1">
              <a:lnSpc>
                <a:spcPct val="110000"/>
              </a:lnSpc>
              <a:buNone/>
            </a:pPr>
            <a:r>
              <a:rPr lang="zh-CN" altLang="en-US" b="1" dirty="0">
                <a:solidFill>
                  <a:schemeClr val="folHlink"/>
                </a:solidFill>
              </a:rPr>
              <a:t>	</a:t>
            </a:r>
            <a:r>
              <a:rPr lang="zh-CN" altLang="en-US" b="1" dirty="0"/>
              <a:t>创建、终止（自己）、挂起（自己）、激活、阻塞、唤醒都可能会产生新的调度。</a:t>
            </a:r>
            <a:endParaRPr lang="zh-CN" altLang="en-US" b="1" dirty="0"/>
          </a:p>
          <a:p>
            <a:pPr eaLnBrk="1" hangingPunct="1"/>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0498"/>
                                        </p:tgtEl>
                                        <p:attrNameLst>
                                          <p:attrName>style.visibility</p:attrName>
                                        </p:attrNameLst>
                                      </p:cBhvr>
                                      <p:to>
                                        <p:strVal val="visible"/>
                                      </p:to>
                                    </p:set>
                                    <p:animEffect transition="in" filter="fade">
                                      <p:cBhvr>
                                        <p:cTn id="7" dur="2000"/>
                                        <p:tgtEl>
                                          <p:spTgt spid="4904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3971">
                                            <p:txEl>
                                              <p:charRg st="1" end="48"/>
                                            </p:txEl>
                                          </p:spTgt>
                                        </p:tgtEl>
                                        <p:attrNameLst>
                                          <p:attrName>style.visibility</p:attrName>
                                        </p:attrNameLst>
                                      </p:cBhvr>
                                      <p:to>
                                        <p:strVal val="visible"/>
                                      </p:to>
                                    </p:set>
                                    <p:animEffect transition="in" filter="fade">
                                      <p:cBhvr>
                                        <p:cTn id="12" dur="2000"/>
                                        <p:tgtEl>
                                          <p:spTgt spid="83971">
                                            <p:txEl>
                                              <p:charRg st="1" end="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3971">
                                            <p:txEl>
                                              <p:charRg st="48" end="86"/>
                                            </p:txEl>
                                          </p:spTgt>
                                        </p:tgtEl>
                                        <p:attrNameLst>
                                          <p:attrName>style.visibility</p:attrName>
                                        </p:attrNameLst>
                                      </p:cBhvr>
                                      <p:to>
                                        <p:strVal val="visible"/>
                                      </p:to>
                                    </p:set>
                                    <p:animEffect transition="in" filter="fade">
                                      <p:cBhvr>
                                        <p:cTn id="17" dur="2000"/>
                                        <p:tgtEl>
                                          <p:spTgt spid="83971">
                                            <p:txEl>
                                              <p:charRg st="48"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498" grpId="0"/>
      <p:bldP spid="83971"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1220" name="Rectangle 4"/>
          <p:cNvSpPr>
            <a:spLocks noGrp="1" noRot="1" noChangeArrowheads="1"/>
          </p:cNvSpPr>
          <p:nvPr>
            <p:ph type="title"/>
          </p:nvPr>
        </p:nvSpPr>
        <p:spPr>
          <a:xfrm>
            <a:off x="381000" y="2209800"/>
            <a:ext cx="83058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2.4 </a:t>
            </a:r>
            <a:r>
              <a:rPr kumimoji="0" lang="zh-CN" altLang="en-US" sz="4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进程的同步</a:t>
            </a:r>
            <a:r>
              <a:rPr kumimoji="0" lang="zh-CN" altLang="en-US" sz="4800" b="0"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 </a:t>
            </a:r>
            <a:endParaRPr kumimoji="0" lang="zh-CN" altLang="en-US" sz="4800" b="0"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1220"/>
                                        </p:tgtEl>
                                        <p:attrNameLst>
                                          <p:attrName>style.visibility</p:attrName>
                                        </p:attrNameLst>
                                      </p:cBhvr>
                                      <p:to>
                                        <p:strVal val="visible"/>
                                      </p:to>
                                    </p:set>
                                    <p:animEffect transition="in" filter="fade">
                                      <p:cBhvr>
                                        <p:cTn id="7" dur="2000"/>
                                        <p:tgtEl>
                                          <p:spTgt spid="521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122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0979" name="Rectangle 3"/>
          <p:cNvSpPr>
            <a:spLocks noGrp="1" noRot="1" noChangeArrowheads="1"/>
          </p:cNvSpPr>
          <p:nvPr>
            <p:ph type="body" idx="1"/>
          </p:nvPr>
        </p:nvSpPr>
        <p:spPr>
          <a:xfrm>
            <a:off x="533400" y="1597025"/>
            <a:ext cx="8077200" cy="48799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采用多道程序设计技术的操作系统，允许多个进程同时驻留内存并发执行。</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rPr>
              <a:t>如何协调多个进程对系统资源，如内存空间、外部设备等的竞争和共享？</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rPr>
              <a:t>如何解决多个进程因为竞争资源而出现执行结果异常，甚至导致系统不稳定、失效等问题？</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rPr>
              <a:t>例如，多个进程同时申请文件打印，如何有效分配打印机？</a:t>
            </a:r>
            <a:r>
              <a:rPr kumimoji="0" lang="zh-CN" altLang="en-US" sz="2800" b="0" i="0" u="none" strike="noStrike" kern="0" cap="none" spc="0" normalizeH="0" baseline="0" noProof="0" smtClean="0">
                <a:ln>
                  <a:noFill/>
                </a:ln>
                <a:solidFill>
                  <a:schemeClr val="tx1"/>
                </a:solidFill>
                <a:effectLst/>
                <a:uLnTx/>
                <a:uFillTx/>
                <a:latin typeface="+mn-lt"/>
                <a:ea typeface="+mn-ea"/>
              </a:rPr>
              <a:t> </a:t>
            </a:r>
            <a:endParaRPr kumimoji="0" lang="zh-CN" altLang="en-US" sz="2800" b="0" i="0" u="none" strike="noStrike" kern="0" cap="none" spc="0" normalizeH="0" baseline="0" noProof="0" smtClean="0">
              <a:ln>
                <a:noFill/>
              </a:ln>
              <a:solidFill>
                <a:schemeClr val="tx1"/>
              </a:solidFill>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2800" b="0" i="0" u="none" strike="noStrike" kern="0" cap="none" spc="0" normalizeH="0" baseline="0" noProof="0" smtClean="0">
              <a:ln>
                <a:noFill/>
              </a:ln>
              <a:solidFill>
                <a:schemeClr val="tx1"/>
              </a:solidFill>
              <a:effectLst/>
              <a:uLnTx/>
              <a:uFillTx/>
              <a:latin typeface="+mn-lt"/>
              <a:ea typeface="+mn-ea"/>
              <a:cs typeface="+mn-cs"/>
            </a:endParaRPr>
          </a:p>
        </p:txBody>
      </p:sp>
      <p:sp>
        <p:nvSpPr>
          <p:cNvPr id="510981" name="Rectangle 5"/>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rgbClr val="FF0000"/>
                </a:solidFill>
                <a:effectLst>
                  <a:outerShdw blurRad="38100" dist="38100" dir="2700000" algn="tl">
                    <a:srgbClr val="000000"/>
                  </a:outerShdw>
                </a:effectLst>
                <a:uLnTx/>
                <a:uFillTx/>
                <a:latin typeface="+mj-lt"/>
                <a:ea typeface="+mj-ea"/>
                <a:cs typeface="+mj-cs"/>
              </a:rPr>
              <a:t>？（问题引入）</a:t>
            </a:r>
            <a:r>
              <a:rPr kumimoji="0" lang="zh-CN" altLang="en-US" sz="4400" b="0" i="0" u="none" strike="noStrike" kern="0" cap="none" spc="0" normalizeH="0" baseline="0" noProof="0">
                <a:ln>
                  <a:noFill/>
                </a:ln>
                <a:solidFill>
                  <a:srgbClr val="FF0000"/>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a:ln>
                <a:noFill/>
              </a:ln>
              <a:solidFill>
                <a:srgbClr val="FF0000"/>
              </a:solidFill>
              <a:effectLst>
                <a:outerShdw blurRad="38100" dist="38100" dir="2700000" algn="tl">
                  <a:srgbClr val="000000"/>
                </a:outerShdw>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0981"/>
                                        </p:tgtEl>
                                        <p:attrNameLst>
                                          <p:attrName>style.visibility</p:attrName>
                                        </p:attrNameLst>
                                      </p:cBhvr>
                                      <p:to>
                                        <p:strVal val="visible"/>
                                      </p:to>
                                    </p:set>
                                    <p:animEffect transition="in" filter="fade">
                                      <p:cBhvr>
                                        <p:cTn id="7" dur="2000"/>
                                        <p:tgtEl>
                                          <p:spTgt spid="5109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0979">
                                            <p:txEl>
                                              <p:charRg st="0" end="34"/>
                                            </p:txEl>
                                          </p:spTgt>
                                        </p:tgtEl>
                                        <p:attrNameLst>
                                          <p:attrName>style.visibility</p:attrName>
                                        </p:attrNameLst>
                                      </p:cBhvr>
                                      <p:to>
                                        <p:strVal val="visible"/>
                                      </p:to>
                                    </p:set>
                                    <p:animEffect transition="in" filter="fade">
                                      <p:cBhvr>
                                        <p:cTn id="12" dur="2000"/>
                                        <p:tgtEl>
                                          <p:spTgt spid="510979">
                                            <p:txEl>
                                              <p:charRg st="0" end="34"/>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10979">
                                            <p:txEl>
                                              <p:charRg st="34" end="68"/>
                                            </p:txEl>
                                          </p:spTgt>
                                        </p:tgtEl>
                                        <p:attrNameLst>
                                          <p:attrName>style.visibility</p:attrName>
                                        </p:attrNameLst>
                                      </p:cBhvr>
                                      <p:to>
                                        <p:strVal val="visible"/>
                                      </p:to>
                                    </p:set>
                                    <p:animEffect transition="in" filter="fade">
                                      <p:cBhvr>
                                        <p:cTn id="15" dur="2000"/>
                                        <p:tgtEl>
                                          <p:spTgt spid="510979">
                                            <p:txEl>
                                              <p:charRg st="34" end="6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10979">
                                            <p:txEl>
                                              <p:charRg st="68" end="110"/>
                                            </p:txEl>
                                          </p:spTgt>
                                        </p:tgtEl>
                                        <p:attrNameLst>
                                          <p:attrName>style.visibility</p:attrName>
                                        </p:attrNameLst>
                                      </p:cBhvr>
                                      <p:to>
                                        <p:strVal val="visible"/>
                                      </p:to>
                                    </p:set>
                                    <p:animEffect transition="in" filter="fade">
                                      <p:cBhvr>
                                        <p:cTn id="18" dur="2000"/>
                                        <p:tgtEl>
                                          <p:spTgt spid="510979">
                                            <p:txEl>
                                              <p:charRg st="68" end="11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10979">
                                            <p:txEl>
                                              <p:charRg st="110" end="139"/>
                                            </p:txEl>
                                          </p:spTgt>
                                        </p:tgtEl>
                                        <p:attrNameLst>
                                          <p:attrName>style.visibility</p:attrName>
                                        </p:attrNameLst>
                                      </p:cBhvr>
                                      <p:to>
                                        <p:strVal val="visible"/>
                                      </p:to>
                                    </p:set>
                                    <p:animEffect transition="in" filter="fade">
                                      <p:cBhvr>
                                        <p:cTn id="21" dur="2000"/>
                                        <p:tgtEl>
                                          <p:spTgt spid="510979">
                                            <p:txEl>
                                              <p:charRg st="110" end="1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9" grpId="0" build="p"/>
      <p:bldP spid="51098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1"/>
          <p:cNvSpPr>
            <a:spLocks noGrp="1"/>
          </p:cNvSpPr>
          <p:nvPr>
            <p:ph type="title"/>
          </p:nvPr>
        </p:nvSpPr>
        <p:spPr/>
        <p:txBody>
          <a:bodyPr vert="horz" wrap="square" lIns="91440" tIns="45720" rIns="91440" bIns="45720" anchor="ctr" anchorCtr="0"/>
          <a:p>
            <a:r>
              <a:rPr lang="en-US" altLang="zh-CN" b="1" dirty="0"/>
              <a:t>2.4.1 </a:t>
            </a:r>
            <a:r>
              <a:rPr lang="zh-CN" altLang="en-US" b="1" dirty="0"/>
              <a:t>进程同步的基本概念</a:t>
            </a:r>
            <a:endParaRPr lang="zh-CN" altLang="en-US" b="1" dirty="0"/>
          </a:p>
        </p:txBody>
      </p:sp>
      <p:sp>
        <p:nvSpPr>
          <p:cNvPr id="3" name="内容占位符 2"/>
          <p:cNvSpPr>
            <a:spLocks noGrp="1"/>
          </p:cNvSpPr>
          <p:nvPr>
            <p:ph idx="1"/>
          </p:nvPr>
        </p:nvSpPr>
        <p:spPr/>
        <p:txBody>
          <a:bodyPr vert="horz" wrap="square" lIns="91440" tIns="45720" rIns="91440" bIns="45720" anchor="t" anchorCtr="0"/>
          <a:p>
            <a:r>
              <a:rPr lang="zh-CN" altLang="en-US" b="1" dirty="0"/>
              <a:t>进程同步机制的主要任务，是对多个相关进程在执行次序上进行协调，使并发执行的诸进程之间能按照一定的规则（或时序）共享系统资源，并能很好的相互合作，从而使程序的执行具有可再现性。</a:t>
            </a:r>
            <a:endParaRPr lang="en-US" altLang="zh-CN" b="1" dirty="0"/>
          </a:p>
          <a:p>
            <a:r>
              <a:rPr lang="en-US" altLang="zh-CN" b="1" dirty="0">
                <a:solidFill>
                  <a:srgbClr val="FF0000"/>
                </a:solidFill>
              </a:rPr>
              <a:t>1</a:t>
            </a:r>
            <a:r>
              <a:rPr lang="zh-CN" altLang="en-US" b="1" dirty="0">
                <a:solidFill>
                  <a:srgbClr val="FF0000"/>
                </a:solidFill>
              </a:rPr>
              <a:t>）间接相互制约关系  </a:t>
            </a:r>
            <a:r>
              <a:rPr lang="zh-CN" altLang="en-US" b="1" dirty="0"/>
              <a:t>并发执行的进程在使用共享资源时的关系，资源的互斥。</a:t>
            </a:r>
            <a:endParaRPr lang="en-US" altLang="zh-CN" b="1" dirty="0"/>
          </a:p>
          <a:p>
            <a:r>
              <a:rPr lang="en-US" altLang="zh-CN" b="1" dirty="0">
                <a:solidFill>
                  <a:srgbClr val="FF0000"/>
                </a:solidFill>
              </a:rPr>
              <a:t>2</a:t>
            </a:r>
            <a:r>
              <a:rPr lang="zh-CN" altLang="en-US" b="1" dirty="0">
                <a:solidFill>
                  <a:srgbClr val="FF0000"/>
                </a:solidFill>
              </a:rPr>
              <a:t>）直接相互制约关系 </a:t>
            </a:r>
            <a:r>
              <a:rPr lang="zh-CN" altLang="en-US" b="1" dirty="0"/>
              <a:t>多个进程为完成同一项任务而相互合作的关系。</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0" end="8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88" end="12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126" end="15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302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例</a:t>
            </a:r>
            <a:r>
              <a:rPr kumimoji="0" lang="en-US" altLang="zh-CN"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1</a:t>
            </a:r>
            <a:endParaRPr kumimoji="0" lang="en-US" altLang="zh-CN"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513027"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银行的联网储蓄业务允许储户同时用储蓄卡和存折对同一帐户进行存取款操作，如果某储户同时（在</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ATM</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机和营业柜台）办理两笔存款业务（假设分别为</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2000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元）</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从系统的角度看，有两个进程将同时对储户余额等数据进行修改。如果两个进程同时读出原余额（假设为</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5000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元），两个进程分别将最新余额修改为</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6000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5000+1000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7000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5000+2000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3026"/>
                                        </p:tgtEl>
                                        <p:attrNameLst>
                                          <p:attrName>style.visibility</p:attrName>
                                        </p:attrNameLst>
                                      </p:cBhvr>
                                      <p:to>
                                        <p:strVal val="visible"/>
                                      </p:to>
                                    </p:set>
                                    <p:animEffect transition="in" filter="fade">
                                      <p:cBhvr>
                                        <p:cTn id="7" dur="2000"/>
                                        <p:tgtEl>
                                          <p:spTgt spid="513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3027">
                                            <p:txEl>
                                              <p:charRg st="0" end="80"/>
                                            </p:txEl>
                                          </p:spTgt>
                                        </p:tgtEl>
                                        <p:attrNameLst>
                                          <p:attrName>style.visibility</p:attrName>
                                        </p:attrNameLst>
                                      </p:cBhvr>
                                      <p:to>
                                        <p:strVal val="visible"/>
                                      </p:to>
                                    </p:set>
                                    <p:animEffect transition="in" filter="fade">
                                      <p:cBhvr>
                                        <p:cTn id="12" dur="2000"/>
                                        <p:tgtEl>
                                          <p:spTgt spid="513027">
                                            <p:txEl>
                                              <p:charRg st="0" end="8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3027">
                                            <p:txEl>
                                              <p:charRg st="80" end="180"/>
                                            </p:txEl>
                                          </p:spTgt>
                                        </p:tgtEl>
                                        <p:attrNameLst>
                                          <p:attrName>style.visibility</p:attrName>
                                        </p:attrNameLst>
                                      </p:cBhvr>
                                      <p:to>
                                        <p:strVal val="visible"/>
                                      </p:to>
                                    </p:set>
                                    <p:animEffect transition="in" filter="fade">
                                      <p:cBhvr>
                                        <p:cTn id="17" dur="2000"/>
                                        <p:tgtEl>
                                          <p:spTgt spid="513027">
                                            <p:txEl>
                                              <p:charRg st="80" end="1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6" grpId="0"/>
      <p:bldP spid="513027"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40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分析及措施</a:t>
            </a:r>
            <a:endPar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51405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最后，储户余额可能是</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6000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，或者</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7000</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，显然都不正确。</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原因：两个进程同时修改同一数据，而没有进行有效控制。</a:t>
            </a:r>
            <a:endParaRPr kumimoji="0" lang="zh-CN" altLang="en-US" sz="28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正确的方法：如果有多个进程需要同时修改某一数据，系统必须控制，一次仅允许一个进程完成读数据、修改数据两件事以后，才允许别的进程对同一数据的读和修改操作。 </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4050"/>
                                        </p:tgtEl>
                                        <p:attrNameLst>
                                          <p:attrName>style.visibility</p:attrName>
                                        </p:attrNameLst>
                                      </p:cBhvr>
                                      <p:to>
                                        <p:strVal val="visible"/>
                                      </p:to>
                                    </p:set>
                                    <p:animEffect transition="in" filter="fade">
                                      <p:cBhvr>
                                        <p:cTn id="7" dur="2000"/>
                                        <p:tgtEl>
                                          <p:spTgt spid="514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4051">
                                            <p:txEl>
                                              <p:charRg st="0" end="30"/>
                                            </p:txEl>
                                          </p:spTgt>
                                        </p:tgtEl>
                                        <p:attrNameLst>
                                          <p:attrName>style.visibility</p:attrName>
                                        </p:attrNameLst>
                                      </p:cBhvr>
                                      <p:to>
                                        <p:strVal val="visible"/>
                                      </p:to>
                                    </p:set>
                                    <p:animEffect transition="in" filter="fade">
                                      <p:cBhvr>
                                        <p:cTn id="12" dur="2000"/>
                                        <p:tgtEl>
                                          <p:spTgt spid="514051">
                                            <p:txEl>
                                              <p:charRg st="0"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4051">
                                            <p:txEl>
                                              <p:charRg st="30" end="57"/>
                                            </p:txEl>
                                          </p:spTgt>
                                        </p:tgtEl>
                                        <p:attrNameLst>
                                          <p:attrName>style.visibility</p:attrName>
                                        </p:attrNameLst>
                                      </p:cBhvr>
                                      <p:to>
                                        <p:strVal val="visible"/>
                                      </p:to>
                                    </p:set>
                                    <p:animEffect transition="in" filter="fade">
                                      <p:cBhvr>
                                        <p:cTn id="17" dur="2000"/>
                                        <p:tgtEl>
                                          <p:spTgt spid="514051">
                                            <p:txEl>
                                              <p:charRg st="30"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14051">
                                            <p:txEl>
                                              <p:charRg st="57" end="135"/>
                                            </p:txEl>
                                          </p:spTgt>
                                        </p:tgtEl>
                                        <p:attrNameLst>
                                          <p:attrName>style.visibility</p:attrName>
                                        </p:attrNameLst>
                                      </p:cBhvr>
                                      <p:to>
                                        <p:strVal val="visible"/>
                                      </p:to>
                                    </p:set>
                                    <p:animEffect transition="in" filter="fade">
                                      <p:cBhvr>
                                        <p:cTn id="22" dur="2000"/>
                                        <p:tgtEl>
                                          <p:spTgt spid="514051">
                                            <p:txEl>
                                              <p:charRg st="57"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0" grpId="0"/>
      <p:bldP spid="514051"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noRot="1"/>
          </p:cNvSpPr>
          <p:nvPr>
            <p:ph type="title"/>
          </p:nvPr>
        </p:nvSpPr>
        <p:spPr/>
        <p:txBody>
          <a:bodyPr vert="horz" wrap="square" lIns="91440" tIns="45720" rIns="91440" bIns="45720" anchor="ctr" anchorCtr="0"/>
          <a:p>
            <a:r>
              <a:rPr lang="zh-CN" altLang="en-US" b="1" dirty="0">
                <a:solidFill>
                  <a:srgbClr val="FF0000"/>
                </a:solidFill>
              </a:rPr>
              <a:t>例</a:t>
            </a:r>
            <a:r>
              <a:rPr lang="en-US" altLang="zh-CN" b="1" dirty="0">
                <a:solidFill>
                  <a:srgbClr val="FF0000"/>
                </a:solidFill>
              </a:rPr>
              <a:t>2 </a:t>
            </a:r>
            <a:r>
              <a:rPr lang="zh-CN" altLang="en-US" b="1" dirty="0">
                <a:solidFill>
                  <a:srgbClr val="FF0000"/>
                </a:solidFill>
              </a:rPr>
              <a:t>生产者</a:t>
            </a:r>
            <a:r>
              <a:rPr lang="en-US" altLang="zh-CN" b="1" dirty="0">
                <a:solidFill>
                  <a:srgbClr val="FF0000"/>
                </a:solidFill>
              </a:rPr>
              <a:t>-</a:t>
            </a:r>
            <a:r>
              <a:rPr lang="zh-CN" altLang="en-US" b="1" dirty="0">
                <a:solidFill>
                  <a:srgbClr val="FF0000"/>
                </a:solidFill>
              </a:rPr>
              <a:t>消费者</a:t>
            </a:r>
            <a:endParaRPr lang="zh-CN" altLang="en-US" b="1" dirty="0">
              <a:solidFill>
                <a:srgbClr val="FF0000"/>
              </a:solidFill>
            </a:endParaRPr>
          </a:p>
        </p:txBody>
      </p:sp>
      <p:sp>
        <p:nvSpPr>
          <p:cNvPr id="86019" name="Rectangle 3"/>
          <p:cNvSpPr>
            <a:spLocks noGrp="1" noRot="1"/>
          </p:cNvSpPr>
          <p:nvPr>
            <p:ph idx="1"/>
          </p:nvPr>
        </p:nvSpPr>
        <p:spPr>
          <a:xfrm>
            <a:off x="73025" y="1597025"/>
            <a:ext cx="8842375" cy="4498975"/>
          </a:xfrm>
        </p:spPr>
        <p:txBody>
          <a:bodyPr vert="horz" wrap="square" lIns="91440" tIns="45720" rIns="91440" bIns="45720" anchor="t" anchorCtr="0"/>
          <a:p>
            <a:pPr algn="just" eaLnBrk="1" hangingPunct="1">
              <a:spcBef>
                <a:spcPct val="50000"/>
              </a:spcBef>
              <a:buClrTx/>
              <a:buSzTx/>
              <a:buFont typeface="Wingdings" panose="05000000000000000000" pitchFamily="2" charset="2"/>
              <a:buChar char="Ø"/>
            </a:pPr>
            <a:r>
              <a:rPr lang="zh-CN" altLang="en-US" sz="2800" b="1" dirty="0"/>
              <a:t>有一群生产者进程在生产产品，并将这些产品提供给消费者进程去消费。为使生产者进程与消费者进程能并发执行，在两者之间设置了一个具有</a:t>
            </a:r>
            <a:r>
              <a:rPr lang="en-US" altLang="zh-CN" sz="2800" b="1" dirty="0"/>
              <a:t>n</a:t>
            </a:r>
            <a:r>
              <a:rPr lang="zh-CN" altLang="en-US" sz="2800" b="1" dirty="0"/>
              <a:t>个缓冲区的缓冲池：</a:t>
            </a:r>
            <a:endParaRPr lang="zh-CN" altLang="en-US" sz="2800" b="1" dirty="0"/>
          </a:p>
          <a:p>
            <a:pPr algn="just" eaLnBrk="1" hangingPunct="1">
              <a:spcBef>
                <a:spcPct val="50000"/>
              </a:spcBef>
              <a:buClrTx/>
              <a:buSzTx/>
              <a:buFont typeface="Wingdings" panose="05000000000000000000" pitchFamily="2" charset="2"/>
              <a:buChar char="l"/>
            </a:pPr>
            <a:r>
              <a:rPr lang="zh-CN" altLang="en-US" sz="2800" b="1" dirty="0">
                <a:solidFill>
                  <a:srgbClr val="FF0000"/>
                </a:solidFill>
              </a:rPr>
              <a:t>生产者进程将它所生产的产品放入一个缓冲区中； </a:t>
            </a:r>
            <a:endParaRPr lang="zh-CN" altLang="en-US" sz="2800" b="1" dirty="0">
              <a:solidFill>
                <a:srgbClr val="FF0000"/>
              </a:solidFill>
            </a:endParaRPr>
          </a:p>
          <a:p>
            <a:pPr algn="just" eaLnBrk="1" hangingPunct="1">
              <a:spcBef>
                <a:spcPct val="50000"/>
              </a:spcBef>
              <a:buClrTx/>
              <a:buSzTx/>
              <a:buFont typeface="Wingdings" panose="05000000000000000000" pitchFamily="2" charset="2"/>
              <a:buChar char="l"/>
            </a:pPr>
            <a:r>
              <a:rPr lang="zh-CN" altLang="en-US" sz="2800" b="1" dirty="0">
                <a:solidFill>
                  <a:srgbClr val="FF0000"/>
                </a:solidFill>
              </a:rPr>
              <a:t>消费者进程可从一个缓冲区中取走产品去消费。</a:t>
            </a:r>
            <a:endParaRPr lang="zh-CN" altLang="en-US" sz="2800" b="1" dirty="0">
              <a:solidFill>
                <a:srgbClr val="FF0000"/>
              </a:solidFill>
            </a:endParaRPr>
          </a:p>
          <a:p>
            <a:pPr algn="just" eaLnBrk="1" hangingPunct="1">
              <a:spcBef>
                <a:spcPct val="50000"/>
              </a:spcBef>
              <a:buClrTx/>
              <a:buSzTx/>
              <a:buFont typeface="Wingdings" panose="05000000000000000000" pitchFamily="2" charset="2"/>
              <a:buChar char="Ø"/>
            </a:pPr>
            <a:r>
              <a:rPr lang="zh-CN" altLang="en-US" sz="2800" b="1" dirty="0"/>
              <a:t>它们之间必须保持同步原则：</a:t>
            </a:r>
            <a:r>
              <a:rPr lang="zh-CN" altLang="en-US" sz="2800" b="1" dirty="0">
                <a:solidFill>
                  <a:srgbClr val="0066FF"/>
                </a:solidFill>
              </a:rPr>
              <a:t>不允许消费者进程到一个空缓冲区去取产品；也不允许生产者进程向一个已装满产品且尚未被取走的缓冲区中投放产品</a:t>
            </a:r>
            <a:r>
              <a:rPr lang="zh-CN" altLang="en-US" sz="2800" b="1" dirty="0"/>
              <a:t>。 </a:t>
            </a:r>
            <a:endParaRPr lang="zh-CN" altLang="en-US" sz="2800" b="1" dirty="0"/>
          </a:p>
          <a:p>
            <a:pPr>
              <a:buFont typeface="Wingdings 2" panose="05020102010507070707" pitchFamily="18" charset="2"/>
              <a:buChar char="¡"/>
            </a:pPr>
            <a:endParaRPr lang="zh-CN" altLang="en-US" sz="2800" b="1"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3"/>
          <p:cNvSpPr>
            <a:spLocks noGrp="1" noRot="1"/>
          </p:cNvSpPr>
          <p:nvPr>
            <p:ph idx="1"/>
          </p:nvPr>
        </p:nvSpPr>
        <p:spPr>
          <a:xfrm>
            <a:off x="228600" y="228600"/>
            <a:ext cx="8689975" cy="5565775"/>
          </a:xfrm>
        </p:spPr>
        <p:txBody>
          <a:bodyPr vert="horz" wrap="square" lIns="91440" tIns="45720" rIns="91440" bIns="45720" anchor="t" anchorCtr="0"/>
          <a:p>
            <a:pPr>
              <a:lnSpc>
                <a:spcPct val="110000"/>
              </a:lnSpc>
            </a:pPr>
            <a:r>
              <a:rPr lang="zh-CN" altLang="en-US" sz="3600" b="1" dirty="0">
                <a:solidFill>
                  <a:srgbClr val="FF0000"/>
                </a:solidFill>
              </a:rPr>
              <a:t>用一个数组来表示上述的具有</a:t>
            </a:r>
            <a:r>
              <a:rPr lang="en-US" altLang="zh-CN" sz="3600" b="1" dirty="0">
                <a:solidFill>
                  <a:srgbClr val="FF0000"/>
                </a:solidFill>
              </a:rPr>
              <a:t>n</a:t>
            </a:r>
            <a:r>
              <a:rPr lang="zh-CN" altLang="en-US" sz="3600" b="1" dirty="0">
                <a:solidFill>
                  <a:srgbClr val="FF0000"/>
                </a:solidFill>
              </a:rPr>
              <a:t>个</a:t>
            </a:r>
            <a:r>
              <a:rPr lang="en-US" altLang="zh-CN" sz="3600" b="1" dirty="0">
                <a:solidFill>
                  <a:srgbClr val="FF0000"/>
                </a:solidFill>
              </a:rPr>
              <a:t>(0</a:t>
            </a:r>
            <a:r>
              <a:rPr lang="zh-CN" altLang="en-US" sz="3600" b="1" dirty="0">
                <a:solidFill>
                  <a:srgbClr val="FF0000"/>
                </a:solidFill>
              </a:rPr>
              <a:t>，</a:t>
            </a:r>
            <a:r>
              <a:rPr lang="en-US" altLang="zh-CN" sz="3600" b="1" dirty="0">
                <a:solidFill>
                  <a:srgbClr val="FF0000"/>
                </a:solidFill>
              </a:rPr>
              <a:t>1</a:t>
            </a:r>
            <a:r>
              <a:rPr lang="zh-CN" altLang="en-US" sz="3600" b="1" dirty="0">
                <a:solidFill>
                  <a:srgbClr val="FF0000"/>
                </a:solidFill>
              </a:rPr>
              <a:t>，</a:t>
            </a:r>
            <a:r>
              <a:rPr lang="en-US" altLang="zh-CN" sz="3600" b="1" dirty="0">
                <a:solidFill>
                  <a:srgbClr val="FF0000"/>
                </a:solidFill>
              </a:rPr>
              <a:t>…</a:t>
            </a:r>
            <a:r>
              <a:rPr lang="zh-CN" altLang="en-US" sz="3600" b="1" dirty="0">
                <a:solidFill>
                  <a:srgbClr val="FF0000"/>
                </a:solidFill>
              </a:rPr>
              <a:t>，</a:t>
            </a:r>
            <a:r>
              <a:rPr lang="en-US" altLang="zh-CN" sz="3600" b="1" dirty="0">
                <a:solidFill>
                  <a:srgbClr val="FF0000"/>
                </a:solidFill>
              </a:rPr>
              <a:t>n-1)</a:t>
            </a:r>
            <a:r>
              <a:rPr lang="zh-CN" altLang="en-US" sz="3600" b="1" dirty="0">
                <a:solidFill>
                  <a:srgbClr val="FF0000"/>
                </a:solidFill>
              </a:rPr>
              <a:t>缓冲区的缓冲池。</a:t>
            </a:r>
            <a:endParaRPr lang="zh-CN" altLang="en-US" sz="3600" b="1" dirty="0">
              <a:solidFill>
                <a:srgbClr val="FF0000"/>
              </a:solidFill>
            </a:endParaRPr>
          </a:p>
          <a:p>
            <a:pPr>
              <a:lnSpc>
                <a:spcPct val="110000"/>
              </a:lnSpc>
            </a:pPr>
            <a:r>
              <a:rPr lang="zh-CN" altLang="en-US" sz="2800" b="1" dirty="0">
                <a:solidFill>
                  <a:srgbClr val="FF0000"/>
                </a:solidFill>
              </a:rPr>
              <a:t>设置两个指针：</a:t>
            </a:r>
            <a:endParaRPr lang="zh-CN" altLang="en-US" sz="2800" b="1" dirty="0">
              <a:solidFill>
                <a:srgbClr val="FF0000"/>
              </a:solidFill>
            </a:endParaRPr>
          </a:p>
          <a:p>
            <a:pPr lvl="1">
              <a:lnSpc>
                <a:spcPct val="110000"/>
              </a:lnSpc>
            </a:pPr>
            <a:r>
              <a:rPr lang="zh-CN" altLang="en-US" b="1" dirty="0"/>
              <a:t>指针</a:t>
            </a:r>
            <a:r>
              <a:rPr lang="en-US" altLang="zh-CN" b="1" dirty="0"/>
              <a:t>in</a:t>
            </a:r>
            <a:r>
              <a:rPr lang="zh-CN" altLang="en-US" b="1" dirty="0"/>
              <a:t>：指示下一个可投放产品的缓冲区，每当生产者进程生产并投放一个产品后，</a:t>
            </a:r>
            <a:r>
              <a:rPr lang="en-US" altLang="zh-CN" b="1" dirty="0"/>
              <a:t>in</a:t>
            </a:r>
            <a:r>
              <a:rPr lang="zh-CN" altLang="en-US" b="1" dirty="0"/>
              <a:t>指针加</a:t>
            </a:r>
            <a:r>
              <a:rPr lang="en-US" altLang="zh-CN" b="1" dirty="0"/>
              <a:t>1, </a:t>
            </a:r>
            <a:r>
              <a:rPr lang="zh-CN" altLang="en-US" b="1" dirty="0"/>
              <a:t>即</a:t>
            </a:r>
            <a:r>
              <a:rPr lang="en-US" altLang="zh-CN" b="1" dirty="0"/>
              <a:t>in∶=(in+1)mod n </a:t>
            </a:r>
            <a:r>
              <a:rPr lang="zh-CN" altLang="en-US" b="1" dirty="0"/>
              <a:t>；</a:t>
            </a:r>
            <a:endParaRPr lang="zh-CN" altLang="en-US" b="1" dirty="0"/>
          </a:p>
          <a:p>
            <a:pPr lvl="1">
              <a:lnSpc>
                <a:spcPct val="110000"/>
              </a:lnSpc>
            </a:pPr>
            <a:r>
              <a:rPr lang="zh-CN" altLang="en-US" b="1" dirty="0"/>
              <a:t>指针</a:t>
            </a:r>
            <a:r>
              <a:rPr lang="en-US" altLang="zh-CN" b="1" dirty="0"/>
              <a:t>out</a:t>
            </a:r>
            <a:r>
              <a:rPr lang="zh-CN" altLang="en-US" b="1" dirty="0"/>
              <a:t>：指示下一个可从中获取产品的缓冲区，每当消费者进程取走一个产品后，</a:t>
            </a:r>
            <a:r>
              <a:rPr lang="en-US" altLang="zh-CN" b="1" dirty="0"/>
              <a:t>out</a:t>
            </a:r>
            <a:r>
              <a:rPr lang="zh-CN" altLang="en-US" b="1" dirty="0"/>
              <a:t>指针加</a:t>
            </a:r>
            <a:r>
              <a:rPr lang="en-US" altLang="zh-CN" b="1" dirty="0"/>
              <a:t>1</a:t>
            </a:r>
            <a:r>
              <a:rPr lang="zh-CN" altLang="en-US" b="1" dirty="0"/>
              <a:t>，即</a:t>
            </a:r>
            <a:r>
              <a:rPr lang="en-US" altLang="zh-CN" b="1" dirty="0"/>
              <a:t>out∶=(out+1) mod n</a:t>
            </a:r>
            <a:r>
              <a:rPr lang="zh-CN" altLang="en-US" b="1" dirty="0"/>
              <a:t> 。</a:t>
            </a:r>
            <a:endParaRPr lang="zh-CN" altLang="en-US" b="1" dirty="0"/>
          </a:p>
          <a:p>
            <a:pPr>
              <a:lnSpc>
                <a:spcPct val="110000"/>
              </a:lnSpc>
            </a:pPr>
            <a:r>
              <a:rPr lang="zh-CN" altLang="en-US" sz="2800" b="1" dirty="0"/>
              <a:t>当</a:t>
            </a:r>
            <a:r>
              <a:rPr lang="en-US" altLang="zh-CN" sz="2800" b="1" dirty="0"/>
              <a:t>(in+1) mod n=out</a:t>
            </a:r>
            <a:r>
              <a:rPr lang="zh-CN" altLang="en-US" sz="2800" b="1" dirty="0"/>
              <a:t>时表示缓冲池满；而</a:t>
            </a:r>
            <a:r>
              <a:rPr lang="en-US" altLang="zh-CN" sz="2800" b="1" dirty="0"/>
              <a:t>in=out</a:t>
            </a:r>
            <a:r>
              <a:rPr lang="zh-CN" altLang="en-US" sz="2800" b="1" dirty="0"/>
              <a:t>则表示缓冲池空。</a:t>
            </a:r>
            <a:endParaRPr lang="zh-CN" altLang="en-US" sz="2800" b="1" dirty="0"/>
          </a:p>
          <a:p>
            <a:pPr lvl="1">
              <a:lnSpc>
                <a:spcPct val="110000"/>
              </a:lnSpc>
            </a:pPr>
            <a:endParaRPr lang="zh-CN" altLang="en-US"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noRot="1"/>
          </p:cNvSpPr>
          <p:nvPr>
            <p:ph type="title"/>
          </p:nvPr>
        </p:nvSpPr>
        <p:spPr>
          <a:xfrm>
            <a:off x="304800" y="381000"/>
            <a:ext cx="8540750" cy="1143000"/>
          </a:xfrm>
        </p:spPr>
        <p:txBody>
          <a:bodyPr vert="horz" wrap="square" lIns="91440" tIns="45720" rIns="91440" bIns="45720" anchor="ctr" anchorCtr="0"/>
          <a:p>
            <a:pPr algn="l"/>
            <a:r>
              <a:rPr lang="zh-CN" altLang="en-US" sz="3600" b="1" dirty="0">
                <a:solidFill>
                  <a:schemeClr val="tx1"/>
                </a:solidFill>
              </a:rPr>
              <a:t>生产者和消费者两进程共享下面的变量：</a:t>
            </a:r>
            <a:endParaRPr lang="zh-CN" altLang="en-US" sz="3600" b="1" dirty="0">
              <a:solidFill>
                <a:schemeClr val="tx1"/>
              </a:solidFill>
            </a:endParaRPr>
          </a:p>
        </p:txBody>
      </p:sp>
      <p:sp>
        <p:nvSpPr>
          <p:cNvPr id="88067" name="Rectangle 3"/>
          <p:cNvSpPr>
            <a:spLocks noGrp="1" noRot="1"/>
          </p:cNvSpPr>
          <p:nvPr>
            <p:ph idx="1"/>
          </p:nvPr>
        </p:nvSpPr>
        <p:spPr>
          <a:xfrm>
            <a:off x="301625" y="1447800"/>
            <a:ext cx="8540750" cy="2514600"/>
          </a:xfrm>
          <a:solidFill>
            <a:srgbClr val="CCFFFF">
              <a:alpha val="100000"/>
            </a:srgbClr>
          </a:solidFill>
        </p:spPr>
        <p:txBody>
          <a:bodyPr vert="horz" wrap="square" lIns="91440" tIns="45720" rIns="91440" bIns="45720" anchor="t" anchorCtr="0"/>
          <a:p>
            <a:pPr lvl="2">
              <a:lnSpc>
                <a:spcPct val="90000"/>
              </a:lnSpc>
            </a:pPr>
            <a:r>
              <a:rPr lang="en-US" altLang="zh-CN" dirty="0"/>
              <a:t>Var n, integer;</a:t>
            </a:r>
            <a:endParaRPr lang="en-US" altLang="zh-CN" dirty="0"/>
          </a:p>
          <a:p>
            <a:pPr lvl="2">
              <a:lnSpc>
                <a:spcPct val="90000"/>
              </a:lnSpc>
            </a:pPr>
            <a:r>
              <a:rPr lang="en-US" altLang="zh-CN" dirty="0"/>
              <a:t>type item=…;</a:t>
            </a:r>
            <a:endParaRPr lang="en-US" altLang="zh-CN" dirty="0"/>
          </a:p>
          <a:p>
            <a:pPr lvl="2">
              <a:lnSpc>
                <a:spcPct val="90000"/>
              </a:lnSpc>
            </a:pPr>
            <a:r>
              <a:rPr lang="en-US" altLang="zh-CN" dirty="0"/>
              <a:t>var buffer:array</a:t>
            </a:r>
            <a:r>
              <a:rPr lang="zh-CN" altLang="en-US" dirty="0"/>
              <a:t>［</a:t>
            </a:r>
            <a:r>
              <a:rPr lang="en-US" altLang="zh-CN" dirty="0"/>
              <a:t>0, 1, …, n-1</a:t>
            </a:r>
            <a:r>
              <a:rPr lang="zh-CN" altLang="en-US" dirty="0"/>
              <a:t>］ </a:t>
            </a:r>
            <a:r>
              <a:rPr lang="en-US" altLang="zh-CN" dirty="0"/>
              <a:t>of item;</a:t>
            </a:r>
            <a:endParaRPr lang="en-US" altLang="zh-CN" dirty="0"/>
          </a:p>
          <a:p>
            <a:pPr lvl="2">
              <a:lnSpc>
                <a:spcPct val="90000"/>
              </a:lnSpc>
            </a:pPr>
            <a:r>
              <a:rPr lang="en-US" altLang="zh-CN" dirty="0"/>
              <a:t>in, out: 0, 1, …, n-1;</a:t>
            </a:r>
            <a:endParaRPr lang="en-US" altLang="zh-CN" dirty="0"/>
          </a:p>
          <a:p>
            <a:pPr lvl="2">
              <a:lnSpc>
                <a:spcPct val="90000"/>
              </a:lnSpc>
            </a:pPr>
            <a:r>
              <a:rPr lang="en-US" altLang="zh-CN" dirty="0"/>
              <a:t>counter: 0, 1, …, n; </a:t>
            </a:r>
            <a:r>
              <a:rPr lang="en-US" altLang="zh-CN" b="1" dirty="0"/>
              <a:t>// </a:t>
            </a:r>
            <a:r>
              <a:rPr lang="zh-CN" altLang="en-US" b="1" dirty="0"/>
              <a:t>缓冲区中产品的个数，初始值为</a:t>
            </a:r>
            <a:r>
              <a:rPr lang="en-US" altLang="zh-CN" b="1" dirty="0"/>
              <a:t>0</a:t>
            </a:r>
            <a:endParaRPr lang="en-US" altLang="zh-CN" b="1" dirty="0"/>
          </a:p>
          <a:p>
            <a:pPr>
              <a:lnSpc>
                <a:spcPct val="90000"/>
              </a:lnSpc>
            </a:pPr>
            <a:endParaRPr lang="zh-CN" altLang="en-US" sz="2400" b="1" dirty="0"/>
          </a:p>
        </p:txBody>
      </p:sp>
      <p:grpSp>
        <p:nvGrpSpPr>
          <p:cNvPr id="88068" name="Group 65"/>
          <p:cNvGrpSpPr/>
          <p:nvPr/>
        </p:nvGrpSpPr>
        <p:grpSpPr>
          <a:xfrm>
            <a:off x="1066800" y="4092575"/>
            <a:ext cx="6781800" cy="2460625"/>
            <a:chOff x="2697" y="8928"/>
            <a:chExt cx="5220" cy="2652"/>
          </a:xfrm>
        </p:grpSpPr>
        <p:sp>
          <p:nvSpPr>
            <p:cNvPr id="88069" name="Text Box 66"/>
            <p:cNvSpPr txBox="1"/>
            <p:nvPr/>
          </p:nvSpPr>
          <p:spPr>
            <a:xfrm>
              <a:off x="2697" y="8928"/>
              <a:ext cx="5220" cy="471"/>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dirty="0">
                  <a:latin typeface="Times New Roman" panose="02020603050405020304" pitchFamily="18" charset="0"/>
                </a:rPr>
                <a:t> </a:t>
              </a:r>
              <a:r>
                <a:rPr lang="en-US" altLang="zh-CN" dirty="0">
                  <a:solidFill>
                    <a:srgbClr val="003300"/>
                  </a:solidFill>
                  <a:latin typeface="Times New Roman" panose="02020603050405020304" pitchFamily="18" charset="0"/>
                </a:rPr>
                <a:t>0  1   2   3  4   5  6   7  8                    n-1</a:t>
              </a:r>
              <a:endParaRPr lang="en-US" altLang="zh-CN" dirty="0">
                <a:solidFill>
                  <a:srgbClr val="003300"/>
                </a:solidFill>
                <a:latin typeface="Times New Roman" panose="02020603050405020304" pitchFamily="18" charset="0"/>
              </a:endParaRPr>
            </a:p>
          </p:txBody>
        </p:sp>
        <p:grpSp>
          <p:nvGrpSpPr>
            <p:cNvPr id="88070" name="Group 67"/>
            <p:cNvGrpSpPr/>
            <p:nvPr/>
          </p:nvGrpSpPr>
          <p:grpSpPr>
            <a:xfrm>
              <a:off x="2697" y="9396"/>
              <a:ext cx="5220" cy="2184"/>
              <a:chOff x="2697" y="9396"/>
              <a:chExt cx="5220" cy="2184"/>
            </a:xfrm>
          </p:grpSpPr>
          <p:grpSp>
            <p:nvGrpSpPr>
              <p:cNvPr id="88071" name="Group 68"/>
              <p:cNvGrpSpPr/>
              <p:nvPr/>
            </p:nvGrpSpPr>
            <p:grpSpPr>
              <a:xfrm>
                <a:off x="3057" y="11112"/>
                <a:ext cx="180" cy="312"/>
                <a:chOff x="2337" y="10956"/>
                <a:chExt cx="360" cy="624"/>
              </a:xfrm>
            </p:grpSpPr>
            <p:grpSp>
              <p:nvGrpSpPr>
                <p:cNvPr id="88115" name="Group 69"/>
                <p:cNvGrpSpPr/>
                <p:nvPr/>
              </p:nvGrpSpPr>
              <p:grpSpPr>
                <a:xfrm>
                  <a:off x="2337" y="10956"/>
                  <a:ext cx="360" cy="624"/>
                  <a:chOff x="3417" y="9396"/>
                  <a:chExt cx="360" cy="624"/>
                </a:xfrm>
              </p:grpSpPr>
              <p:sp>
                <p:nvSpPr>
                  <p:cNvPr id="88120" name="Line 70"/>
                  <p:cNvSpPr/>
                  <p:nvPr/>
                </p:nvSpPr>
                <p:spPr>
                  <a:xfrm flipH="1">
                    <a:off x="3417" y="9396"/>
                    <a:ext cx="180" cy="156"/>
                  </a:xfrm>
                  <a:prstGeom prst="line">
                    <a:avLst/>
                  </a:prstGeom>
                  <a:ln w="9525" cap="flat" cmpd="sng">
                    <a:solidFill>
                      <a:srgbClr val="000000"/>
                    </a:solidFill>
                    <a:prstDash val="solid"/>
                    <a:headEnd type="none" w="med" len="med"/>
                    <a:tailEnd type="none" w="med" len="med"/>
                  </a:ln>
                </p:spPr>
              </p:sp>
              <p:sp>
                <p:nvSpPr>
                  <p:cNvPr id="88121" name="Line 71"/>
                  <p:cNvSpPr/>
                  <p:nvPr/>
                </p:nvSpPr>
                <p:spPr>
                  <a:xfrm flipH="1">
                    <a:off x="3417" y="9396"/>
                    <a:ext cx="360" cy="312"/>
                  </a:xfrm>
                  <a:prstGeom prst="line">
                    <a:avLst/>
                  </a:prstGeom>
                  <a:ln w="9525" cap="flat" cmpd="sng">
                    <a:solidFill>
                      <a:srgbClr val="000000"/>
                    </a:solidFill>
                    <a:prstDash val="solid"/>
                    <a:headEnd type="none" w="med" len="med"/>
                    <a:tailEnd type="none" w="med" len="med"/>
                  </a:ln>
                </p:spPr>
              </p:sp>
              <p:sp>
                <p:nvSpPr>
                  <p:cNvPr id="88122" name="Line 72"/>
                  <p:cNvSpPr/>
                  <p:nvPr/>
                </p:nvSpPr>
                <p:spPr>
                  <a:xfrm flipH="1">
                    <a:off x="3417" y="9552"/>
                    <a:ext cx="360" cy="312"/>
                  </a:xfrm>
                  <a:prstGeom prst="line">
                    <a:avLst/>
                  </a:prstGeom>
                  <a:ln w="9525" cap="flat" cmpd="sng">
                    <a:solidFill>
                      <a:srgbClr val="000000"/>
                    </a:solidFill>
                    <a:prstDash val="solid"/>
                    <a:headEnd type="none" w="med" len="med"/>
                    <a:tailEnd type="none" w="med" len="med"/>
                  </a:ln>
                </p:spPr>
              </p:sp>
              <p:sp>
                <p:nvSpPr>
                  <p:cNvPr id="88123" name="Line 73"/>
                  <p:cNvSpPr/>
                  <p:nvPr/>
                </p:nvSpPr>
                <p:spPr>
                  <a:xfrm flipH="1">
                    <a:off x="3417" y="9708"/>
                    <a:ext cx="360" cy="312"/>
                  </a:xfrm>
                  <a:prstGeom prst="line">
                    <a:avLst/>
                  </a:prstGeom>
                  <a:ln w="9525" cap="flat" cmpd="sng">
                    <a:solidFill>
                      <a:srgbClr val="000000"/>
                    </a:solidFill>
                    <a:prstDash val="solid"/>
                    <a:headEnd type="none" w="med" len="med"/>
                    <a:tailEnd type="none" w="med" len="med"/>
                  </a:ln>
                </p:spPr>
              </p:sp>
              <p:sp>
                <p:nvSpPr>
                  <p:cNvPr id="88124" name="Line 74"/>
                  <p:cNvSpPr/>
                  <p:nvPr/>
                </p:nvSpPr>
                <p:spPr>
                  <a:xfrm flipH="1">
                    <a:off x="3597" y="9864"/>
                    <a:ext cx="180" cy="156"/>
                  </a:xfrm>
                  <a:prstGeom prst="line">
                    <a:avLst/>
                  </a:prstGeom>
                  <a:ln w="9525" cap="flat" cmpd="sng">
                    <a:solidFill>
                      <a:srgbClr val="000000"/>
                    </a:solidFill>
                    <a:prstDash val="solid"/>
                    <a:headEnd type="none" w="med" len="med"/>
                    <a:tailEnd type="none" w="med" len="med"/>
                  </a:ln>
                </p:spPr>
              </p:sp>
            </p:grpSp>
            <p:sp>
              <p:nvSpPr>
                <p:cNvPr id="88116" name="Line 75"/>
                <p:cNvSpPr/>
                <p:nvPr/>
              </p:nvSpPr>
              <p:spPr>
                <a:xfrm>
                  <a:off x="2337" y="10956"/>
                  <a:ext cx="0" cy="624"/>
                </a:xfrm>
                <a:prstGeom prst="line">
                  <a:avLst/>
                </a:prstGeom>
                <a:ln w="9525" cap="flat" cmpd="sng">
                  <a:solidFill>
                    <a:srgbClr val="000000"/>
                  </a:solidFill>
                  <a:prstDash val="solid"/>
                  <a:headEnd type="none" w="med" len="med"/>
                  <a:tailEnd type="none" w="med" len="med"/>
                </a:ln>
              </p:spPr>
            </p:sp>
            <p:sp>
              <p:nvSpPr>
                <p:cNvPr id="88117" name="Line 76"/>
                <p:cNvSpPr/>
                <p:nvPr/>
              </p:nvSpPr>
              <p:spPr>
                <a:xfrm>
                  <a:off x="2697" y="10956"/>
                  <a:ext cx="0" cy="624"/>
                </a:xfrm>
                <a:prstGeom prst="line">
                  <a:avLst/>
                </a:prstGeom>
                <a:ln w="9525" cap="flat" cmpd="sng">
                  <a:solidFill>
                    <a:srgbClr val="000000"/>
                  </a:solidFill>
                  <a:prstDash val="solid"/>
                  <a:headEnd type="none" w="med" len="med"/>
                  <a:tailEnd type="none" w="med" len="med"/>
                </a:ln>
              </p:spPr>
            </p:sp>
            <p:sp>
              <p:nvSpPr>
                <p:cNvPr id="88118" name="Line 77"/>
                <p:cNvSpPr/>
                <p:nvPr/>
              </p:nvSpPr>
              <p:spPr>
                <a:xfrm>
                  <a:off x="2337" y="10956"/>
                  <a:ext cx="360" cy="0"/>
                </a:xfrm>
                <a:prstGeom prst="line">
                  <a:avLst/>
                </a:prstGeom>
                <a:ln w="9525" cap="flat" cmpd="sng">
                  <a:solidFill>
                    <a:srgbClr val="000000"/>
                  </a:solidFill>
                  <a:prstDash val="solid"/>
                  <a:headEnd type="none" w="med" len="med"/>
                  <a:tailEnd type="none" w="med" len="med"/>
                </a:ln>
              </p:spPr>
            </p:sp>
            <p:sp>
              <p:nvSpPr>
                <p:cNvPr id="88119" name="Line 78"/>
                <p:cNvSpPr/>
                <p:nvPr/>
              </p:nvSpPr>
              <p:spPr>
                <a:xfrm>
                  <a:off x="2337" y="11580"/>
                  <a:ext cx="360" cy="0"/>
                </a:xfrm>
                <a:prstGeom prst="line">
                  <a:avLst/>
                </a:prstGeom>
                <a:ln w="9525" cap="flat" cmpd="sng">
                  <a:solidFill>
                    <a:srgbClr val="000000"/>
                  </a:solidFill>
                  <a:prstDash val="solid"/>
                  <a:headEnd type="none" w="med" len="med"/>
                  <a:tailEnd type="none" w="med" len="med"/>
                </a:ln>
              </p:spPr>
            </p:sp>
          </p:grpSp>
          <p:sp>
            <p:nvSpPr>
              <p:cNvPr id="88072" name="Text Box 79"/>
              <p:cNvSpPr txBox="1"/>
              <p:nvPr/>
            </p:nvSpPr>
            <p:spPr>
              <a:xfrm>
                <a:off x="3237" y="11112"/>
                <a:ext cx="162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2400" b="1" dirty="0">
                    <a:solidFill>
                      <a:srgbClr val="003300"/>
                    </a:solidFill>
                    <a:latin typeface="Times New Roman" panose="02020603050405020304" pitchFamily="18" charset="0"/>
                    <a:ea typeface="仿宋_GB2312" pitchFamily="49" charset="-122"/>
                  </a:rPr>
                  <a:t>：被占用单元</a:t>
                </a:r>
                <a:endParaRPr lang="zh-CN" altLang="en-US" sz="2400" b="1" dirty="0">
                  <a:solidFill>
                    <a:srgbClr val="003300"/>
                  </a:solidFill>
                  <a:latin typeface="Times New Roman" panose="02020603050405020304" pitchFamily="18" charset="0"/>
                  <a:ea typeface="仿宋_GB2312" pitchFamily="49" charset="-122"/>
                </a:endParaRPr>
              </a:p>
            </p:txBody>
          </p:sp>
          <p:sp>
            <p:nvSpPr>
              <p:cNvPr id="88073" name="Rectangle 80"/>
              <p:cNvSpPr/>
              <p:nvPr/>
            </p:nvSpPr>
            <p:spPr>
              <a:xfrm>
                <a:off x="5034" y="11112"/>
                <a:ext cx="180" cy="312"/>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88074" name="Text Box 81"/>
              <p:cNvSpPr txBox="1"/>
              <p:nvPr/>
            </p:nvSpPr>
            <p:spPr>
              <a:xfrm>
                <a:off x="5217" y="11112"/>
                <a:ext cx="162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2400" b="1" dirty="0">
                    <a:solidFill>
                      <a:srgbClr val="003300"/>
                    </a:solidFill>
                    <a:latin typeface="Times New Roman" panose="02020603050405020304" pitchFamily="18" charset="0"/>
                    <a:ea typeface="仿宋_GB2312" pitchFamily="49" charset="-122"/>
                  </a:rPr>
                  <a:t>：空闲单元</a:t>
                </a:r>
                <a:endParaRPr lang="zh-CN" altLang="en-US" sz="2400" b="1" dirty="0">
                  <a:solidFill>
                    <a:srgbClr val="003300"/>
                  </a:solidFill>
                  <a:latin typeface="Times New Roman" panose="02020603050405020304" pitchFamily="18" charset="0"/>
                  <a:ea typeface="仿宋_GB2312" pitchFamily="49" charset="-122"/>
                </a:endParaRPr>
              </a:p>
            </p:txBody>
          </p:sp>
          <p:grpSp>
            <p:nvGrpSpPr>
              <p:cNvPr id="88075" name="Group 82"/>
              <p:cNvGrpSpPr/>
              <p:nvPr/>
            </p:nvGrpSpPr>
            <p:grpSpPr>
              <a:xfrm>
                <a:off x="2697" y="9396"/>
                <a:ext cx="5220" cy="1716"/>
                <a:chOff x="2697" y="9396"/>
                <a:chExt cx="5220" cy="1716"/>
              </a:xfrm>
            </p:grpSpPr>
            <p:grpSp>
              <p:nvGrpSpPr>
                <p:cNvPr id="88076" name="Group 83"/>
                <p:cNvGrpSpPr/>
                <p:nvPr/>
              </p:nvGrpSpPr>
              <p:grpSpPr>
                <a:xfrm>
                  <a:off x="2697" y="9396"/>
                  <a:ext cx="5220" cy="1716"/>
                  <a:chOff x="2697" y="9396"/>
                  <a:chExt cx="5220" cy="1716"/>
                </a:xfrm>
              </p:grpSpPr>
              <p:sp>
                <p:nvSpPr>
                  <p:cNvPr id="88078" name="Text Box 84"/>
                  <p:cNvSpPr txBox="1"/>
                  <p:nvPr/>
                </p:nvSpPr>
                <p:spPr>
                  <a:xfrm>
                    <a:off x="5217" y="10644"/>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in</a:t>
                    </a:r>
                    <a:endParaRPr lang="en-US" altLang="zh-CN" sz="2400" b="1" dirty="0">
                      <a:solidFill>
                        <a:srgbClr val="003300"/>
                      </a:solidFill>
                      <a:latin typeface="Times New Roman" panose="02020603050405020304" pitchFamily="18" charset="0"/>
                    </a:endParaRPr>
                  </a:p>
                </p:txBody>
              </p:sp>
              <p:sp>
                <p:nvSpPr>
                  <p:cNvPr id="88079" name="Text Box 85"/>
                  <p:cNvSpPr txBox="1"/>
                  <p:nvPr/>
                </p:nvSpPr>
                <p:spPr>
                  <a:xfrm>
                    <a:off x="3957" y="10644"/>
                    <a:ext cx="72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out</a:t>
                    </a:r>
                    <a:endParaRPr lang="en-US" altLang="zh-CN" sz="2400" b="1" dirty="0">
                      <a:solidFill>
                        <a:srgbClr val="003300"/>
                      </a:solidFill>
                      <a:latin typeface="Times New Roman" panose="02020603050405020304" pitchFamily="18" charset="0"/>
                    </a:endParaRPr>
                  </a:p>
                </p:txBody>
              </p:sp>
              <p:sp>
                <p:nvSpPr>
                  <p:cNvPr id="88080" name="Line 86"/>
                  <p:cNvSpPr/>
                  <p:nvPr/>
                </p:nvSpPr>
                <p:spPr>
                  <a:xfrm flipV="1">
                    <a:off x="4317" y="10020"/>
                    <a:ext cx="1" cy="624"/>
                  </a:xfrm>
                  <a:prstGeom prst="line">
                    <a:avLst/>
                  </a:prstGeom>
                  <a:ln w="9525" cap="flat" cmpd="sng">
                    <a:solidFill>
                      <a:srgbClr val="000000"/>
                    </a:solidFill>
                    <a:prstDash val="solid"/>
                    <a:headEnd type="none" w="med" len="med"/>
                    <a:tailEnd type="triangle" w="med" len="med"/>
                  </a:ln>
                </p:spPr>
              </p:sp>
              <p:sp>
                <p:nvSpPr>
                  <p:cNvPr id="88081" name="Line 87"/>
                  <p:cNvSpPr/>
                  <p:nvPr/>
                </p:nvSpPr>
                <p:spPr>
                  <a:xfrm flipV="1">
                    <a:off x="5397" y="10020"/>
                    <a:ext cx="1" cy="624"/>
                  </a:xfrm>
                  <a:prstGeom prst="line">
                    <a:avLst/>
                  </a:prstGeom>
                  <a:ln w="9525" cap="flat" cmpd="sng">
                    <a:solidFill>
                      <a:srgbClr val="000000"/>
                    </a:solidFill>
                    <a:prstDash val="solid"/>
                    <a:headEnd type="none" w="med" len="med"/>
                    <a:tailEnd type="triangle" w="med" len="med"/>
                  </a:ln>
                </p:spPr>
              </p:sp>
              <p:sp>
                <p:nvSpPr>
                  <p:cNvPr id="88082" name="Line 88"/>
                  <p:cNvSpPr/>
                  <p:nvPr/>
                </p:nvSpPr>
                <p:spPr>
                  <a:xfrm>
                    <a:off x="2697" y="9396"/>
                    <a:ext cx="5220" cy="0"/>
                  </a:xfrm>
                  <a:prstGeom prst="line">
                    <a:avLst/>
                  </a:prstGeom>
                  <a:ln w="9525" cap="flat" cmpd="sng">
                    <a:solidFill>
                      <a:srgbClr val="000000"/>
                    </a:solidFill>
                    <a:prstDash val="solid"/>
                    <a:headEnd type="none" w="med" len="med"/>
                    <a:tailEnd type="none" w="med" len="med"/>
                  </a:ln>
                </p:spPr>
              </p:sp>
              <p:sp>
                <p:nvSpPr>
                  <p:cNvPr id="88083" name="Line 89"/>
                  <p:cNvSpPr/>
                  <p:nvPr/>
                </p:nvSpPr>
                <p:spPr>
                  <a:xfrm>
                    <a:off x="6297" y="9708"/>
                    <a:ext cx="540" cy="0"/>
                  </a:xfrm>
                  <a:prstGeom prst="line">
                    <a:avLst/>
                  </a:prstGeom>
                  <a:ln w="57150" cap="rnd" cmpd="sng">
                    <a:solidFill>
                      <a:srgbClr val="000000"/>
                    </a:solidFill>
                    <a:prstDash val="sysDot"/>
                    <a:headEnd type="none" w="med" len="med"/>
                    <a:tailEnd type="none" w="med" len="med"/>
                  </a:ln>
                </p:spPr>
              </p:sp>
              <p:sp>
                <p:nvSpPr>
                  <p:cNvPr id="88084" name="Line 90"/>
                  <p:cNvSpPr/>
                  <p:nvPr/>
                </p:nvSpPr>
                <p:spPr>
                  <a:xfrm>
                    <a:off x="2697" y="10020"/>
                    <a:ext cx="5220" cy="0"/>
                  </a:xfrm>
                  <a:prstGeom prst="line">
                    <a:avLst/>
                  </a:prstGeom>
                  <a:ln w="9525" cap="flat" cmpd="sng">
                    <a:solidFill>
                      <a:srgbClr val="000000"/>
                    </a:solidFill>
                    <a:prstDash val="solid"/>
                    <a:headEnd type="none" w="med" len="med"/>
                    <a:tailEnd type="none" w="med" len="med"/>
                  </a:ln>
                </p:spPr>
              </p:sp>
              <p:sp>
                <p:nvSpPr>
                  <p:cNvPr id="88085" name="Line 91"/>
                  <p:cNvSpPr/>
                  <p:nvPr/>
                </p:nvSpPr>
                <p:spPr>
                  <a:xfrm>
                    <a:off x="2697" y="9396"/>
                    <a:ext cx="0" cy="624"/>
                  </a:xfrm>
                  <a:prstGeom prst="line">
                    <a:avLst/>
                  </a:prstGeom>
                  <a:ln w="9525" cap="flat" cmpd="sng">
                    <a:solidFill>
                      <a:srgbClr val="000000"/>
                    </a:solidFill>
                    <a:prstDash val="solid"/>
                    <a:headEnd type="none" w="med" len="med"/>
                    <a:tailEnd type="none" w="med" len="med"/>
                  </a:ln>
                </p:spPr>
              </p:sp>
              <p:sp>
                <p:nvSpPr>
                  <p:cNvPr id="88086" name="Line 92"/>
                  <p:cNvSpPr/>
                  <p:nvPr/>
                </p:nvSpPr>
                <p:spPr>
                  <a:xfrm>
                    <a:off x="3057" y="9396"/>
                    <a:ext cx="0" cy="624"/>
                  </a:xfrm>
                  <a:prstGeom prst="line">
                    <a:avLst/>
                  </a:prstGeom>
                  <a:ln w="9525" cap="flat" cmpd="sng">
                    <a:solidFill>
                      <a:srgbClr val="000000"/>
                    </a:solidFill>
                    <a:prstDash val="solid"/>
                    <a:headEnd type="none" w="med" len="med"/>
                    <a:tailEnd type="none" w="med" len="med"/>
                  </a:ln>
                </p:spPr>
              </p:sp>
              <p:sp>
                <p:nvSpPr>
                  <p:cNvPr id="88087" name="Line 93"/>
                  <p:cNvSpPr/>
                  <p:nvPr/>
                </p:nvSpPr>
                <p:spPr>
                  <a:xfrm>
                    <a:off x="3417" y="9396"/>
                    <a:ext cx="0" cy="624"/>
                  </a:xfrm>
                  <a:prstGeom prst="line">
                    <a:avLst/>
                  </a:prstGeom>
                  <a:ln w="9525" cap="flat" cmpd="sng">
                    <a:solidFill>
                      <a:srgbClr val="000000"/>
                    </a:solidFill>
                    <a:prstDash val="solid"/>
                    <a:headEnd type="none" w="med" len="med"/>
                    <a:tailEnd type="none" w="med" len="med"/>
                  </a:ln>
                </p:spPr>
              </p:sp>
              <p:sp>
                <p:nvSpPr>
                  <p:cNvPr id="88088" name="Line 94"/>
                  <p:cNvSpPr/>
                  <p:nvPr/>
                </p:nvSpPr>
                <p:spPr>
                  <a:xfrm>
                    <a:off x="3777" y="9396"/>
                    <a:ext cx="0" cy="624"/>
                  </a:xfrm>
                  <a:prstGeom prst="line">
                    <a:avLst/>
                  </a:prstGeom>
                  <a:ln w="9525" cap="flat" cmpd="sng">
                    <a:solidFill>
                      <a:srgbClr val="000000"/>
                    </a:solidFill>
                    <a:prstDash val="solid"/>
                    <a:headEnd type="none" w="med" len="med"/>
                    <a:tailEnd type="none" w="med" len="med"/>
                  </a:ln>
                </p:spPr>
              </p:sp>
              <p:sp>
                <p:nvSpPr>
                  <p:cNvPr id="88089" name="Line 95"/>
                  <p:cNvSpPr/>
                  <p:nvPr/>
                </p:nvSpPr>
                <p:spPr>
                  <a:xfrm>
                    <a:off x="5577" y="9396"/>
                    <a:ext cx="0" cy="624"/>
                  </a:xfrm>
                  <a:prstGeom prst="line">
                    <a:avLst/>
                  </a:prstGeom>
                  <a:ln w="9525" cap="flat" cmpd="sng">
                    <a:solidFill>
                      <a:srgbClr val="000000"/>
                    </a:solidFill>
                    <a:prstDash val="solid"/>
                    <a:headEnd type="none" w="med" len="med"/>
                    <a:tailEnd type="none" w="med" len="med"/>
                  </a:ln>
                </p:spPr>
              </p:sp>
              <p:sp>
                <p:nvSpPr>
                  <p:cNvPr id="88090" name="Line 96"/>
                  <p:cNvSpPr/>
                  <p:nvPr/>
                </p:nvSpPr>
                <p:spPr>
                  <a:xfrm>
                    <a:off x="5937" y="9396"/>
                    <a:ext cx="0" cy="624"/>
                  </a:xfrm>
                  <a:prstGeom prst="line">
                    <a:avLst/>
                  </a:prstGeom>
                  <a:ln w="9525" cap="flat" cmpd="sng">
                    <a:solidFill>
                      <a:srgbClr val="000000"/>
                    </a:solidFill>
                    <a:prstDash val="solid"/>
                    <a:headEnd type="none" w="med" len="med"/>
                    <a:tailEnd type="none" w="med" len="med"/>
                  </a:ln>
                </p:spPr>
              </p:sp>
              <p:grpSp>
                <p:nvGrpSpPr>
                  <p:cNvPr id="88091" name="Group 97"/>
                  <p:cNvGrpSpPr/>
                  <p:nvPr/>
                </p:nvGrpSpPr>
                <p:grpSpPr>
                  <a:xfrm>
                    <a:off x="4137" y="9396"/>
                    <a:ext cx="1080" cy="624"/>
                    <a:chOff x="3417" y="9396"/>
                    <a:chExt cx="1080" cy="624"/>
                  </a:xfrm>
                </p:grpSpPr>
                <p:sp>
                  <p:nvSpPr>
                    <p:cNvPr id="88093" name="Line 98"/>
                    <p:cNvSpPr/>
                    <p:nvPr/>
                  </p:nvSpPr>
                  <p:spPr>
                    <a:xfrm>
                      <a:off x="4137" y="9396"/>
                      <a:ext cx="0" cy="624"/>
                    </a:xfrm>
                    <a:prstGeom prst="line">
                      <a:avLst/>
                    </a:prstGeom>
                    <a:ln w="9525" cap="flat" cmpd="sng">
                      <a:solidFill>
                        <a:srgbClr val="000000"/>
                      </a:solidFill>
                      <a:prstDash val="solid"/>
                      <a:headEnd type="none" w="med" len="med"/>
                      <a:tailEnd type="none" w="med" len="med"/>
                    </a:ln>
                  </p:spPr>
                </p:sp>
                <p:grpSp>
                  <p:nvGrpSpPr>
                    <p:cNvPr id="88094" name="Group 99"/>
                    <p:cNvGrpSpPr/>
                    <p:nvPr/>
                  </p:nvGrpSpPr>
                  <p:grpSpPr>
                    <a:xfrm>
                      <a:off x="3417" y="9396"/>
                      <a:ext cx="1080" cy="624"/>
                      <a:chOff x="3417" y="9396"/>
                      <a:chExt cx="1080" cy="624"/>
                    </a:xfrm>
                  </p:grpSpPr>
                  <p:sp>
                    <p:nvSpPr>
                      <p:cNvPr id="88095" name="Line 100"/>
                      <p:cNvSpPr/>
                      <p:nvPr/>
                    </p:nvSpPr>
                    <p:spPr>
                      <a:xfrm>
                        <a:off x="3417" y="9396"/>
                        <a:ext cx="0" cy="624"/>
                      </a:xfrm>
                      <a:prstGeom prst="line">
                        <a:avLst/>
                      </a:prstGeom>
                      <a:ln w="9525" cap="flat" cmpd="sng">
                        <a:solidFill>
                          <a:srgbClr val="000000"/>
                        </a:solidFill>
                        <a:prstDash val="solid"/>
                        <a:headEnd type="none" w="med" len="med"/>
                        <a:tailEnd type="none" w="med" len="med"/>
                      </a:ln>
                    </p:spPr>
                  </p:sp>
                  <p:sp>
                    <p:nvSpPr>
                      <p:cNvPr id="88096" name="Line 101"/>
                      <p:cNvSpPr/>
                      <p:nvPr/>
                    </p:nvSpPr>
                    <p:spPr>
                      <a:xfrm>
                        <a:off x="4497" y="9396"/>
                        <a:ext cx="0" cy="624"/>
                      </a:xfrm>
                      <a:prstGeom prst="line">
                        <a:avLst/>
                      </a:prstGeom>
                      <a:ln w="9525" cap="flat" cmpd="sng">
                        <a:solidFill>
                          <a:srgbClr val="000000"/>
                        </a:solidFill>
                        <a:prstDash val="solid"/>
                        <a:headEnd type="none" w="med" len="med"/>
                        <a:tailEnd type="none" w="med" len="med"/>
                      </a:ln>
                    </p:spPr>
                  </p:sp>
                  <p:grpSp>
                    <p:nvGrpSpPr>
                      <p:cNvPr id="88097" name="Group 102"/>
                      <p:cNvGrpSpPr/>
                      <p:nvPr/>
                    </p:nvGrpSpPr>
                    <p:grpSpPr>
                      <a:xfrm>
                        <a:off x="3417" y="9396"/>
                        <a:ext cx="360" cy="624"/>
                        <a:chOff x="3417" y="9396"/>
                        <a:chExt cx="360" cy="624"/>
                      </a:xfrm>
                    </p:grpSpPr>
                    <p:sp>
                      <p:nvSpPr>
                        <p:cNvPr id="88110" name="Line 103"/>
                        <p:cNvSpPr/>
                        <p:nvPr/>
                      </p:nvSpPr>
                      <p:spPr>
                        <a:xfrm flipH="1">
                          <a:off x="3417" y="9396"/>
                          <a:ext cx="180" cy="156"/>
                        </a:xfrm>
                        <a:prstGeom prst="line">
                          <a:avLst/>
                        </a:prstGeom>
                        <a:ln w="9525" cap="flat" cmpd="sng">
                          <a:solidFill>
                            <a:srgbClr val="000000"/>
                          </a:solidFill>
                          <a:prstDash val="solid"/>
                          <a:headEnd type="none" w="med" len="med"/>
                          <a:tailEnd type="none" w="med" len="med"/>
                        </a:ln>
                      </p:spPr>
                    </p:sp>
                    <p:sp>
                      <p:nvSpPr>
                        <p:cNvPr id="88111" name="Line 104"/>
                        <p:cNvSpPr/>
                        <p:nvPr/>
                      </p:nvSpPr>
                      <p:spPr>
                        <a:xfrm flipH="1">
                          <a:off x="3417" y="9396"/>
                          <a:ext cx="360" cy="312"/>
                        </a:xfrm>
                        <a:prstGeom prst="line">
                          <a:avLst/>
                        </a:prstGeom>
                        <a:ln w="9525" cap="flat" cmpd="sng">
                          <a:solidFill>
                            <a:srgbClr val="000000"/>
                          </a:solidFill>
                          <a:prstDash val="solid"/>
                          <a:headEnd type="none" w="med" len="med"/>
                          <a:tailEnd type="none" w="med" len="med"/>
                        </a:ln>
                      </p:spPr>
                    </p:sp>
                    <p:sp>
                      <p:nvSpPr>
                        <p:cNvPr id="88112" name="Line 105"/>
                        <p:cNvSpPr/>
                        <p:nvPr/>
                      </p:nvSpPr>
                      <p:spPr>
                        <a:xfrm flipH="1">
                          <a:off x="3417" y="9552"/>
                          <a:ext cx="360" cy="312"/>
                        </a:xfrm>
                        <a:prstGeom prst="line">
                          <a:avLst/>
                        </a:prstGeom>
                        <a:ln w="9525" cap="flat" cmpd="sng">
                          <a:solidFill>
                            <a:schemeClr val="folHlink"/>
                          </a:solidFill>
                          <a:prstDash val="solid"/>
                          <a:headEnd type="none" w="med" len="med"/>
                          <a:tailEnd type="none" w="med" len="med"/>
                        </a:ln>
                      </p:spPr>
                    </p:sp>
                    <p:sp>
                      <p:nvSpPr>
                        <p:cNvPr id="88113" name="Line 106"/>
                        <p:cNvSpPr/>
                        <p:nvPr/>
                      </p:nvSpPr>
                      <p:spPr>
                        <a:xfrm flipH="1">
                          <a:off x="3417" y="9708"/>
                          <a:ext cx="360" cy="312"/>
                        </a:xfrm>
                        <a:prstGeom prst="line">
                          <a:avLst/>
                        </a:prstGeom>
                        <a:ln w="9525" cap="flat" cmpd="sng">
                          <a:solidFill>
                            <a:srgbClr val="000000"/>
                          </a:solidFill>
                          <a:prstDash val="solid"/>
                          <a:headEnd type="none" w="med" len="med"/>
                          <a:tailEnd type="none" w="med" len="med"/>
                        </a:ln>
                      </p:spPr>
                    </p:sp>
                    <p:sp>
                      <p:nvSpPr>
                        <p:cNvPr id="88114" name="Line 107"/>
                        <p:cNvSpPr/>
                        <p:nvPr/>
                      </p:nvSpPr>
                      <p:spPr>
                        <a:xfrm flipH="1">
                          <a:off x="3597" y="9864"/>
                          <a:ext cx="180" cy="156"/>
                        </a:xfrm>
                        <a:prstGeom prst="line">
                          <a:avLst/>
                        </a:prstGeom>
                        <a:ln w="9525" cap="flat" cmpd="sng">
                          <a:solidFill>
                            <a:srgbClr val="000000"/>
                          </a:solidFill>
                          <a:prstDash val="solid"/>
                          <a:headEnd type="none" w="med" len="med"/>
                          <a:tailEnd type="none" w="med" len="med"/>
                        </a:ln>
                      </p:spPr>
                    </p:sp>
                  </p:grpSp>
                  <p:grpSp>
                    <p:nvGrpSpPr>
                      <p:cNvPr id="88098" name="Group 108"/>
                      <p:cNvGrpSpPr/>
                      <p:nvPr/>
                    </p:nvGrpSpPr>
                    <p:grpSpPr>
                      <a:xfrm>
                        <a:off x="3777" y="9396"/>
                        <a:ext cx="360" cy="624"/>
                        <a:chOff x="3417" y="9396"/>
                        <a:chExt cx="360" cy="624"/>
                      </a:xfrm>
                    </p:grpSpPr>
                    <p:sp>
                      <p:nvSpPr>
                        <p:cNvPr id="88105" name="Line 109"/>
                        <p:cNvSpPr/>
                        <p:nvPr/>
                      </p:nvSpPr>
                      <p:spPr>
                        <a:xfrm flipH="1">
                          <a:off x="3417" y="9396"/>
                          <a:ext cx="180" cy="156"/>
                        </a:xfrm>
                        <a:prstGeom prst="line">
                          <a:avLst/>
                        </a:prstGeom>
                        <a:ln w="9525" cap="flat" cmpd="sng">
                          <a:solidFill>
                            <a:srgbClr val="000000"/>
                          </a:solidFill>
                          <a:prstDash val="solid"/>
                          <a:headEnd type="none" w="med" len="med"/>
                          <a:tailEnd type="none" w="med" len="med"/>
                        </a:ln>
                      </p:spPr>
                    </p:sp>
                    <p:sp>
                      <p:nvSpPr>
                        <p:cNvPr id="88106" name="Line 110"/>
                        <p:cNvSpPr/>
                        <p:nvPr/>
                      </p:nvSpPr>
                      <p:spPr>
                        <a:xfrm flipH="1">
                          <a:off x="3417" y="9396"/>
                          <a:ext cx="360" cy="312"/>
                        </a:xfrm>
                        <a:prstGeom prst="line">
                          <a:avLst/>
                        </a:prstGeom>
                        <a:ln w="9525" cap="flat" cmpd="sng">
                          <a:solidFill>
                            <a:srgbClr val="000000"/>
                          </a:solidFill>
                          <a:prstDash val="solid"/>
                          <a:headEnd type="none" w="med" len="med"/>
                          <a:tailEnd type="none" w="med" len="med"/>
                        </a:ln>
                      </p:spPr>
                    </p:sp>
                    <p:sp>
                      <p:nvSpPr>
                        <p:cNvPr id="88107" name="Line 111"/>
                        <p:cNvSpPr/>
                        <p:nvPr/>
                      </p:nvSpPr>
                      <p:spPr>
                        <a:xfrm flipH="1">
                          <a:off x="3417" y="9552"/>
                          <a:ext cx="360" cy="312"/>
                        </a:xfrm>
                        <a:prstGeom prst="line">
                          <a:avLst/>
                        </a:prstGeom>
                        <a:ln w="9525" cap="flat" cmpd="sng">
                          <a:solidFill>
                            <a:srgbClr val="000000"/>
                          </a:solidFill>
                          <a:prstDash val="solid"/>
                          <a:headEnd type="none" w="med" len="med"/>
                          <a:tailEnd type="none" w="med" len="med"/>
                        </a:ln>
                      </p:spPr>
                    </p:sp>
                    <p:sp>
                      <p:nvSpPr>
                        <p:cNvPr id="88108" name="Line 112"/>
                        <p:cNvSpPr/>
                        <p:nvPr/>
                      </p:nvSpPr>
                      <p:spPr>
                        <a:xfrm flipH="1">
                          <a:off x="3417" y="9708"/>
                          <a:ext cx="360" cy="312"/>
                        </a:xfrm>
                        <a:prstGeom prst="line">
                          <a:avLst/>
                        </a:prstGeom>
                        <a:ln w="9525" cap="flat" cmpd="sng">
                          <a:solidFill>
                            <a:srgbClr val="000000"/>
                          </a:solidFill>
                          <a:prstDash val="solid"/>
                          <a:headEnd type="none" w="med" len="med"/>
                          <a:tailEnd type="none" w="med" len="med"/>
                        </a:ln>
                      </p:spPr>
                    </p:sp>
                    <p:sp>
                      <p:nvSpPr>
                        <p:cNvPr id="88109" name="Line 113"/>
                        <p:cNvSpPr/>
                        <p:nvPr/>
                      </p:nvSpPr>
                      <p:spPr>
                        <a:xfrm flipH="1">
                          <a:off x="3597" y="9864"/>
                          <a:ext cx="180" cy="156"/>
                        </a:xfrm>
                        <a:prstGeom prst="line">
                          <a:avLst/>
                        </a:prstGeom>
                        <a:ln w="9525" cap="flat" cmpd="sng">
                          <a:solidFill>
                            <a:srgbClr val="000000"/>
                          </a:solidFill>
                          <a:prstDash val="solid"/>
                          <a:headEnd type="none" w="med" len="med"/>
                          <a:tailEnd type="none" w="med" len="med"/>
                        </a:ln>
                      </p:spPr>
                    </p:sp>
                  </p:grpSp>
                  <p:grpSp>
                    <p:nvGrpSpPr>
                      <p:cNvPr id="88099" name="Group 114"/>
                      <p:cNvGrpSpPr/>
                      <p:nvPr/>
                    </p:nvGrpSpPr>
                    <p:grpSpPr>
                      <a:xfrm>
                        <a:off x="4137" y="9396"/>
                        <a:ext cx="360" cy="624"/>
                        <a:chOff x="3417" y="9396"/>
                        <a:chExt cx="360" cy="624"/>
                      </a:xfrm>
                    </p:grpSpPr>
                    <p:sp>
                      <p:nvSpPr>
                        <p:cNvPr id="88100" name="Line 115"/>
                        <p:cNvSpPr/>
                        <p:nvPr/>
                      </p:nvSpPr>
                      <p:spPr>
                        <a:xfrm flipH="1">
                          <a:off x="3417" y="9396"/>
                          <a:ext cx="180" cy="156"/>
                        </a:xfrm>
                        <a:prstGeom prst="line">
                          <a:avLst/>
                        </a:prstGeom>
                        <a:ln w="9525" cap="flat" cmpd="sng">
                          <a:solidFill>
                            <a:srgbClr val="000000"/>
                          </a:solidFill>
                          <a:prstDash val="solid"/>
                          <a:headEnd type="none" w="med" len="med"/>
                          <a:tailEnd type="none" w="med" len="med"/>
                        </a:ln>
                      </p:spPr>
                    </p:sp>
                    <p:sp>
                      <p:nvSpPr>
                        <p:cNvPr id="88101" name="Line 116"/>
                        <p:cNvSpPr/>
                        <p:nvPr/>
                      </p:nvSpPr>
                      <p:spPr>
                        <a:xfrm flipH="1">
                          <a:off x="3417" y="9396"/>
                          <a:ext cx="360" cy="312"/>
                        </a:xfrm>
                        <a:prstGeom prst="line">
                          <a:avLst/>
                        </a:prstGeom>
                        <a:ln w="9525" cap="flat" cmpd="sng">
                          <a:solidFill>
                            <a:srgbClr val="000000"/>
                          </a:solidFill>
                          <a:prstDash val="solid"/>
                          <a:headEnd type="none" w="med" len="med"/>
                          <a:tailEnd type="none" w="med" len="med"/>
                        </a:ln>
                      </p:spPr>
                    </p:sp>
                    <p:sp>
                      <p:nvSpPr>
                        <p:cNvPr id="88102" name="Line 117"/>
                        <p:cNvSpPr/>
                        <p:nvPr/>
                      </p:nvSpPr>
                      <p:spPr>
                        <a:xfrm flipH="1">
                          <a:off x="3417" y="9552"/>
                          <a:ext cx="360" cy="312"/>
                        </a:xfrm>
                        <a:prstGeom prst="line">
                          <a:avLst/>
                        </a:prstGeom>
                        <a:ln w="9525" cap="flat" cmpd="sng">
                          <a:solidFill>
                            <a:srgbClr val="000000"/>
                          </a:solidFill>
                          <a:prstDash val="solid"/>
                          <a:headEnd type="none" w="med" len="med"/>
                          <a:tailEnd type="none" w="med" len="med"/>
                        </a:ln>
                      </p:spPr>
                    </p:sp>
                    <p:sp>
                      <p:nvSpPr>
                        <p:cNvPr id="88103" name="Line 118"/>
                        <p:cNvSpPr/>
                        <p:nvPr/>
                      </p:nvSpPr>
                      <p:spPr>
                        <a:xfrm flipH="1">
                          <a:off x="3417" y="9708"/>
                          <a:ext cx="360" cy="312"/>
                        </a:xfrm>
                        <a:prstGeom prst="line">
                          <a:avLst/>
                        </a:prstGeom>
                        <a:ln w="9525" cap="flat" cmpd="sng">
                          <a:solidFill>
                            <a:srgbClr val="000000"/>
                          </a:solidFill>
                          <a:prstDash val="solid"/>
                          <a:headEnd type="none" w="med" len="med"/>
                          <a:tailEnd type="none" w="med" len="med"/>
                        </a:ln>
                      </p:spPr>
                    </p:sp>
                    <p:sp>
                      <p:nvSpPr>
                        <p:cNvPr id="88104" name="Line 119"/>
                        <p:cNvSpPr/>
                        <p:nvPr/>
                      </p:nvSpPr>
                      <p:spPr>
                        <a:xfrm flipH="1">
                          <a:off x="3597" y="9864"/>
                          <a:ext cx="180" cy="156"/>
                        </a:xfrm>
                        <a:prstGeom prst="line">
                          <a:avLst/>
                        </a:prstGeom>
                        <a:ln w="9525" cap="flat" cmpd="sng">
                          <a:solidFill>
                            <a:srgbClr val="000000"/>
                          </a:solidFill>
                          <a:prstDash val="solid"/>
                          <a:headEnd type="none" w="med" len="med"/>
                          <a:tailEnd type="none" w="med" len="med"/>
                        </a:ln>
                      </p:spPr>
                    </p:sp>
                  </p:grpSp>
                </p:grpSp>
              </p:grpSp>
              <p:sp>
                <p:nvSpPr>
                  <p:cNvPr id="88092" name="Line 120"/>
                  <p:cNvSpPr/>
                  <p:nvPr/>
                </p:nvSpPr>
                <p:spPr>
                  <a:xfrm>
                    <a:off x="7917" y="9396"/>
                    <a:ext cx="0" cy="624"/>
                  </a:xfrm>
                  <a:prstGeom prst="line">
                    <a:avLst/>
                  </a:prstGeom>
                  <a:ln w="9525" cap="flat" cmpd="sng">
                    <a:solidFill>
                      <a:srgbClr val="000000"/>
                    </a:solidFill>
                    <a:prstDash val="solid"/>
                    <a:headEnd type="none" w="med" len="med"/>
                    <a:tailEnd type="none" w="med" len="med"/>
                  </a:ln>
                </p:spPr>
              </p:sp>
            </p:grpSp>
            <p:sp>
              <p:nvSpPr>
                <p:cNvPr id="88077" name="Line 121"/>
                <p:cNvSpPr/>
                <p:nvPr/>
              </p:nvSpPr>
              <p:spPr>
                <a:xfrm>
                  <a:off x="4497" y="9396"/>
                  <a:ext cx="0" cy="624"/>
                </a:xfrm>
                <a:prstGeom prst="line">
                  <a:avLst/>
                </a:prstGeom>
                <a:ln w="9525" cap="flat" cmpd="sng">
                  <a:solidFill>
                    <a:srgbClr val="000000"/>
                  </a:solidFill>
                  <a:prstDash val="solid"/>
                  <a:headEnd type="none" w="med" len="med"/>
                  <a:tailEnd type="none" w="med" len="med"/>
                </a:ln>
              </p:spPr>
            </p:sp>
          </p:grpSp>
        </p:gr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noRot="1"/>
          </p:cNvSpPr>
          <p:nvPr>
            <p:ph type="title"/>
          </p:nvPr>
        </p:nvSpPr>
        <p:spPr/>
        <p:txBody>
          <a:bodyPr vert="horz" wrap="square" lIns="91440" tIns="45720" rIns="91440" bIns="45720" anchor="ctr" anchorCtr="0"/>
          <a:p>
            <a:endParaRPr lang="zh-CN" altLang="en-US" dirty="0"/>
          </a:p>
        </p:txBody>
      </p:sp>
      <p:sp>
        <p:nvSpPr>
          <p:cNvPr id="89091" name="Rectangle 3"/>
          <p:cNvSpPr>
            <a:spLocks noGrp="1" noRot="1"/>
          </p:cNvSpPr>
          <p:nvPr>
            <p:ph idx="1"/>
          </p:nvPr>
        </p:nvSpPr>
        <p:spPr>
          <a:xfrm>
            <a:off x="152400" y="1600200"/>
            <a:ext cx="4114800" cy="4267200"/>
          </a:xfrm>
          <a:solidFill>
            <a:srgbClr val="99CCFF">
              <a:alpha val="100000"/>
            </a:srgbClr>
          </a:solidFill>
        </p:spPr>
        <p:txBody>
          <a:bodyPr vert="horz" wrap="square" lIns="91440" tIns="45720" rIns="91440" bIns="45720" anchor="t" anchorCtr="0"/>
          <a:p>
            <a:pPr>
              <a:lnSpc>
                <a:spcPct val="80000"/>
              </a:lnSpc>
              <a:buNone/>
            </a:pPr>
            <a:r>
              <a:rPr lang="en-US" altLang="zh-CN" sz="2400" b="1" dirty="0"/>
              <a:t>producer: repeat</a:t>
            </a:r>
            <a:endParaRPr lang="en-US" altLang="zh-CN" sz="2400" b="1" dirty="0"/>
          </a:p>
          <a:p>
            <a:pPr>
              <a:lnSpc>
                <a:spcPct val="80000"/>
              </a:lnSpc>
              <a:buNone/>
            </a:pPr>
            <a:r>
              <a:rPr lang="en-US" altLang="zh-CN" sz="2400" b="1" dirty="0"/>
              <a:t>    …</a:t>
            </a:r>
            <a:endParaRPr lang="en-US" altLang="zh-CN" sz="2400" b="1" dirty="0"/>
          </a:p>
          <a:p>
            <a:pPr>
              <a:lnSpc>
                <a:spcPct val="80000"/>
              </a:lnSpc>
              <a:buNone/>
            </a:pPr>
            <a:r>
              <a:rPr lang="en-US" altLang="zh-CN" sz="2400" b="1" dirty="0"/>
              <a:t>produce an item in nextp;     …</a:t>
            </a:r>
            <a:endParaRPr lang="en-US" altLang="zh-CN" sz="2400" b="1" dirty="0"/>
          </a:p>
          <a:p>
            <a:pPr>
              <a:lnSpc>
                <a:spcPct val="80000"/>
              </a:lnSpc>
              <a:buNone/>
            </a:pPr>
            <a:r>
              <a:rPr lang="en-US" altLang="zh-CN" sz="2400" b="1" dirty="0"/>
              <a:t>while counter=n do no-op;</a:t>
            </a:r>
            <a:endParaRPr lang="en-US" altLang="zh-CN" sz="2400" b="1" dirty="0"/>
          </a:p>
          <a:p>
            <a:pPr>
              <a:lnSpc>
                <a:spcPct val="80000"/>
              </a:lnSpc>
              <a:buNone/>
            </a:pPr>
            <a:r>
              <a:rPr lang="en-US" altLang="zh-CN" sz="2400" b="1" dirty="0">
                <a:solidFill>
                  <a:srgbClr val="FF0000"/>
                </a:solidFill>
              </a:rPr>
              <a:t>buffer</a:t>
            </a:r>
            <a:r>
              <a:rPr lang="zh-CN" altLang="en-US" sz="2400" b="1" dirty="0">
                <a:solidFill>
                  <a:srgbClr val="FF0000"/>
                </a:solidFill>
              </a:rPr>
              <a:t>［</a:t>
            </a:r>
            <a:r>
              <a:rPr lang="en-US" altLang="zh-CN" sz="2400" b="1" dirty="0">
                <a:solidFill>
                  <a:srgbClr val="FF0000"/>
                </a:solidFill>
              </a:rPr>
              <a:t>in</a:t>
            </a:r>
            <a:r>
              <a:rPr lang="zh-CN" altLang="en-US" sz="2400" b="1" dirty="0">
                <a:solidFill>
                  <a:srgbClr val="FF0000"/>
                </a:solidFill>
              </a:rPr>
              <a:t>］∶ </a:t>
            </a:r>
            <a:r>
              <a:rPr lang="en-US" altLang="zh-CN" sz="2400" b="1" dirty="0">
                <a:solidFill>
                  <a:srgbClr val="FF0000"/>
                </a:solidFill>
              </a:rPr>
              <a:t>= nextp;</a:t>
            </a:r>
            <a:endParaRPr lang="en-US" altLang="zh-CN" sz="2400" b="1" dirty="0">
              <a:solidFill>
                <a:srgbClr val="FF0000"/>
              </a:solidFill>
            </a:endParaRPr>
          </a:p>
          <a:p>
            <a:pPr>
              <a:lnSpc>
                <a:spcPct val="80000"/>
              </a:lnSpc>
              <a:buNone/>
            </a:pPr>
            <a:r>
              <a:rPr lang="en-US" altLang="zh-CN" sz="2400" b="1" dirty="0">
                <a:solidFill>
                  <a:srgbClr val="FF0000"/>
                </a:solidFill>
              </a:rPr>
              <a:t>in∶ =(in+1) mod n;</a:t>
            </a:r>
            <a:endParaRPr lang="en-US" altLang="zh-CN" sz="2400" b="1" dirty="0">
              <a:solidFill>
                <a:srgbClr val="FF0000"/>
              </a:solidFill>
            </a:endParaRPr>
          </a:p>
          <a:p>
            <a:pPr>
              <a:lnSpc>
                <a:spcPct val="80000"/>
              </a:lnSpc>
              <a:buNone/>
            </a:pPr>
            <a:r>
              <a:rPr lang="en-US" altLang="zh-CN" sz="2400" b="1" dirty="0">
                <a:solidFill>
                  <a:srgbClr val="FF0000"/>
                </a:solidFill>
              </a:rPr>
              <a:t>counter∶  = counter+1;</a:t>
            </a:r>
            <a:endParaRPr lang="en-US" altLang="zh-CN" sz="2400" b="1" dirty="0">
              <a:solidFill>
                <a:srgbClr val="FF0000"/>
              </a:solidFill>
            </a:endParaRPr>
          </a:p>
          <a:p>
            <a:pPr>
              <a:lnSpc>
                <a:spcPct val="80000"/>
              </a:lnSpc>
              <a:buNone/>
            </a:pPr>
            <a:endParaRPr lang="en-US" altLang="zh-CN" sz="2400" b="1" dirty="0">
              <a:solidFill>
                <a:srgbClr val="FF0000"/>
              </a:solidFill>
            </a:endParaRPr>
          </a:p>
          <a:p>
            <a:pPr>
              <a:lnSpc>
                <a:spcPct val="80000"/>
              </a:lnSpc>
              <a:buNone/>
            </a:pPr>
            <a:r>
              <a:rPr lang="en-US" altLang="zh-CN" sz="2400" b="1" dirty="0"/>
              <a:t>until false;</a:t>
            </a:r>
            <a:endParaRPr lang="zh-CN" altLang="en-US" sz="2400" b="1" dirty="0"/>
          </a:p>
        </p:txBody>
      </p:sp>
      <p:sp>
        <p:nvSpPr>
          <p:cNvPr id="89092" name="Text Box 4"/>
          <p:cNvSpPr txBox="1"/>
          <p:nvPr/>
        </p:nvSpPr>
        <p:spPr>
          <a:xfrm>
            <a:off x="4419600" y="1620838"/>
            <a:ext cx="4572000" cy="4340225"/>
          </a:xfrm>
          <a:prstGeom prst="rect">
            <a:avLst/>
          </a:prstGeom>
          <a:solidFill>
            <a:srgbClr val="CC99FF"/>
          </a:solidFill>
          <a:ln w="9525">
            <a:noFill/>
          </a:ln>
          <a:effectLst>
            <a:prstShdw prst="shdw17" dist="17961" dir="13499999">
              <a:srgbClr val="7A5C99"/>
            </a:prstShdw>
          </a:effectLst>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consumer: repeat</a:t>
            </a:r>
            <a:endParaRPr lang="en-US" altLang="zh-CN" sz="2400" b="1" dirty="0"/>
          </a:p>
          <a:p>
            <a:pPr marL="0" lvl="0" indent="0" eaLnBrk="1" hangingPunct="1">
              <a:spcBef>
                <a:spcPct val="0"/>
              </a:spcBef>
              <a:buClrTx/>
              <a:buSzTx/>
              <a:buFontTx/>
              <a:buNone/>
            </a:pPr>
            <a:endParaRPr lang="en-US" altLang="zh-CN" sz="2400" b="1" dirty="0"/>
          </a:p>
          <a:p>
            <a:pPr marL="0" lvl="0" indent="0" eaLnBrk="1" hangingPunct="1">
              <a:spcBef>
                <a:spcPct val="0"/>
              </a:spcBef>
              <a:buClrTx/>
              <a:buSzTx/>
              <a:buFontTx/>
              <a:buNone/>
            </a:pPr>
            <a:r>
              <a:rPr lang="en-US" altLang="zh-CN" sz="2400" b="1" dirty="0"/>
              <a:t> while counter=0 do no-op;</a:t>
            </a:r>
            <a:endParaRPr lang="en-US" altLang="zh-CN" sz="2400" b="1" dirty="0"/>
          </a:p>
          <a:p>
            <a:pPr marL="0" lvl="0" indent="0" eaLnBrk="1" hangingPunct="1">
              <a:spcBef>
                <a:spcPct val="0"/>
              </a:spcBef>
              <a:buClrTx/>
              <a:buSzTx/>
              <a:buFontTx/>
              <a:buNone/>
            </a:pPr>
            <a:r>
              <a:rPr lang="en-US" altLang="zh-CN" sz="2400" b="1" dirty="0"/>
              <a:t> </a:t>
            </a:r>
            <a:endParaRPr lang="en-US" altLang="zh-CN" sz="2400" b="1" dirty="0"/>
          </a:p>
          <a:p>
            <a:pPr marL="0" lvl="0" indent="0" eaLnBrk="1" hangingPunct="1">
              <a:spcBef>
                <a:spcPct val="0"/>
              </a:spcBef>
              <a:buClrTx/>
              <a:buSzTx/>
              <a:buFontTx/>
              <a:buNone/>
            </a:pPr>
            <a:r>
              <a:rPr lang="en-US" altLang="zh-CN" sz="2400" b="1" dirty="0">
                <a:solidFill>
                  <a:srgbClr val="FF0000"/>
                </a:solidFill>
              </a:rPr>
              <a:t>nextc∶ =buffer</a:t>
            </a:r>
            <a:r>
              <a:rPr lang="zh-CN" altLang="en-US" sz="2400" b="1" dirty="0">
                <a:solidFill>
                  <a:srgbClr val="FF0000"/>
                </a:solidFill>
              </a:rPr>
              <a:t>［</a:t>
            </a:r>
            <a:r>
              <a:rPr lang="en-US" altLang="zh-CN" sz="2400" b="1" dirty="0">
                <a:solidFill>
                  <a:srgbClr val="FF0000"/>
                </a:solidFill>
              </a:rPr>
              <a:t>out</a:t>
            </a:r>
            <a:r>
              <a:rPr lang="zh-CN" altLang="en-US" sz="2400" b="1" dirty="0">
                <a:solidFill>
                  <a:srgbClr val="FF0000"/>
                </a:solidFill>
              </a:rPr>
              <a:t>］</a:t>
            </a:r>
            <a:r>
              <a:rPr lang="en-US" altLang="zh-CN" sz="2400" b="1" dirty="0">
                <a:solidFill>
                  <a:srgbClr val="FF0000"/>
                </a:solidFill>
              </a:rPr>
              <a:t>;</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out∶ =(out+1) mod  n;</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counter∶   =counter-1;</a:t>
            </a:r>
            <a:endParaRPr lang="en-US" altLang="zh-CN" sz="2400" b="1" dirty="0">
              <a:solidFill>
                <a:srgbClr val="FF0000"/>
              </a:solidFill>
            </a:endParaRPr>
          </a:p>
          <a:p>
            <a:pPr marL="0" lvl="0" indent="0" eaLnBrk="1" hangingPunct="1">
              <a:spcBef>
                <a:spcPct val="0"/>
              </a:spcBef>
              <a:buClrTx/>
              <a:buSzTx/>
              <a:buFontTx/>
              <a:buNone/>
            </a:pPr>
            <a:endParaRPr lang="en-US" altLang="zh-CN" sz="2400" b="1" dirty="0">
              <a:solidFill>
                <a:srgbClr val="FF0000"/>
              </a:solidFill>
            </a:endParaRPr>
          </a:p>
          <a:p>
            <a:pPr marL="0" lvl="0" indent="0" eaLnBrk="1" hangingPunct="1">
              <a:spcBef>
                <a:spcPct val="0"/>
              </a:spcBef>
              <a:buClrTx/>
              <a:buSzTx/>
              <a:buFontTx/>
              <a:buNone/>
            </a:pPr>
            <a:r>
              <a:rPr lang="en-US" altLang="zh-CN" sz="2400" b="1" dirty="0"/>
              <a:t>consumer the item in nextc;</a:t>
            </a:r>
            <a:endParaRPr lang="en-US" altLang="zh-CN" sz="2400" b="1" dirty="0"/>
          </a:p>
          <a:p>
            <a:pPr marL="0" lvl="0" indent="0" eaLnBrk="1" hangingPunct="1">
              <a:spcBef>
                <a:spcPct val="0"/>
              </a:spcBef>
              <a:buClrTx/>
              <a:buSzTx/>
              <a:buFontTx/>
              <a:buNone/>
            </a:pPr>
            <a:r>
              <a:rPr lang="en-US" altLang="zh-CN" sz="2400" b="1" dirty="0"/>
              <a:t>    until false; </a:t>
            </a:r>
            <a:endParaRPr lang="en-US" altLang="zh-CN" sz="2400" b="1" dirty="0"/>
          </a:p>
          <a:p>
            <a:pPr marL="0" lvl="0" indent="0" eaLnBrk="1" hangingPunct="1">
              <a:spcBef>
                <a:spcPct val="50000"/>
              </a:spcBef>
              <a:buClrTx/>
              <a:buSzTx/>
              <a:buFontTx/>
              <a:buNone/>
            </a:pPr>
            <a:endParaRPr lang="zh-CN" altLang="en-US" sz="2400" b="1"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noRot="1"/>
          </p:cNvSpPr>
          <p:nvPr>
            <p:ph type="title"/>
          </p:nvPr>
        </p:nvSpPr>
        <p:spPr>
          <a:xfrm>
            <a:off x="301625" y="152400"/>
            <a:ext cx="8540750" cy="1143000"/>
          </a:xfrm>
        </p:spPr>
        <p:txBody>
          <a:bodyPr vert="horz" wrap="square" lIns="91440" tIns="45720" rIns="91440" bIns="45720" anchor="ctr" anchorCtr="0"/>
          <a:p>
            <a:endParaRPr lang="zh-CN" altLang="en-US" dirty="0"/>
          </a:p>
        </p:txBody>
      </p:sp>
      <p:sp>
        <p:nvSpPr>
          <p:cNvPr id="90115" name="Rectangle 3"/>
          <p:cNvSpPr>
            <a:spLocks noGrp="1" noRot="1"/>
          </p:cNvSpPr>
          <p:nvPr>
            <p:ph idx="1"/>
          </p:nvPr>
        </p:nvSpPr>
        <p:spPr>
          <a:xfrm>
            <a:off x="149225" y="1520825"/>
            <a:ext cx="8842375" cy="4498975"/>
          </a:xfrm>
        </p:spPr>
        <p:txBody>
          <a:bodyPr vert="horz" wrap="square" lIns="91440" tIns="45720" rIns="91440" bIns="45720" anchor="t" anchorCtr="0"/>
          <a:p>
            <a:r>
              <a:rPr lang="zh-CN" altLang="en-US" sz="2800" b="1" dirty="0"/>
              <a:t>若并发执行时，就会出现差错，问题就在于这两个进程共享变量</a:t>
            </a:r>
            <a:r>
              <a:rPr lang="en-US" altLang="zh-CN" sz="2800" b="1" dirty="0"/>
              <a:t>counter</a:t>
            </a:r>
            <a:r>
              <a:rPr lang="zh-CN" altLang="en-US" sz="2800" b="1" dirty="0"/>
              <a:t>。生产者对它做加</a:t>
            </a:r>
            <a:r>
              <a:rPr lang="en-US" altLang="zh-CN" sz="2800" b="1" dirty="0"/>
              <a:t>1</a:t>
            </a:r>
            <a:r>
              <a:rPr lang="zh-CN" altLang="en-US" sz="2800" b="1" dirty="0"/>
              <a:t>操作，消费者对它做减</a:t>
            </a:r>
            <a:r>
              <a:rPr lang="en-US" altLang="zh-CN" sz="2800" b="1" dirty="0"/>
              <a:t>1</a:t>
            </a:r>
            <a:r>
              <a:rPr lang="zh-CN" altLang="en-US" sz="2800" b="1" dirty="0"/>
              <a:t>操作，这两个操作在用机器语言实现时， 常可用下面的形式描述：</a:t>
            </a:r>
            <a:r>
              <a:rPr lang="zh-CN" altLang="en-US" b="1" dirty="0">
                <a:solidFill>
                  <a:srgbClr val="FF0000"/>
                </a:solidFill>
              </a:rPr>
              <a:t>  </a:t>
            </a:r>
            <a:endParaRPr lang="zh-CN" altLang="en-US" b="1" dirty="0">
              <a:solidFill>
                <a:srgbClr val="FF0000"/>
              </a:solidFill>
            </a:endParaRPr>
          </a:p>
          <a:p>
            <a:r>
              <a:rPr lang="zh-CN" altLang="en-US" b="1" dirty="0">
                <a:solidFill>
                  <a:srgbClr val="FF0000"/>
                </a:solidFill>
              </a:rPr>
              <a:t>     生产者                           消费者</a:t>
            </a:r>
            <a:endParaRPr lang="zh-CN" altLang="en-US" b="1" dirty="0">
              <a:solidFill>
                <a:srgbClr val="FF0000"/>
              </a:solidFill>
            </a:endParaRPr>
          </a:p>
          <a:p>
            <a:r>
              <a:rPr lang="zh-CN" altLang="en-US" dirty="0"/>
              <a:t> </a:t>
            </a:r>
            <a:r>
              <a:rPr lang="en-US" altLang="zh-CN" sz="2400" dirty="0"/>
              <a:t>register 1∶ = counter;            register 2∶= counter;</a:t>
            </a:r>
            <a:endParaRPr lang="en-US" altLang="zh-CN" sz="2400" dirty="0"/>
          </a:p>
          <a:p>
            <a:r>
              <a:rPr lang="en-US" altLang="zh-CN" sz="2400" dirty="0"/>
              <a:t> register1∶= register 1+1;       register 2∶ = register 2-1;     counter∶= register 1;               counter∶   =register 2;</a:t>
            </a:r>
            <a:r>
              <a:rPr lang="en-US" altLang="zh-CN" dirty="0"/>
              <a:t> </a:t>
            </a:r>
            <a:endParaRPr lang="en-US" altLang="zh-CN" dirty="0"/>
          </a:p>
          <a:p>
            <a:pPr algn="just" eaLnBrk="1" hangingPunct="1">
              <a:lnSpc>
                <a:spcPct val="150000"/>
              </a:lnSpc>
              <a:spcBef>
                <a:spcPct val="50000"/>
              </a:spcBef>
              <a:buClrTx/>
              <a:buSzTx/>
              <a:buFontTx/>
              <a:buNone/>
            </a:pPr>
            <a:endParaRPr lang="zh-CN" altLang="en-US" dirty="0"/>
          </a:p>
        </p:txBody>
      </p:sp>
      <p:sp>
        <p:nvSpPr>
          <p:cNvPr id="399364" name="Rectangle 4"/>
          <p:cNvSpPr>
            <a:spLocks noChangeArrowheads="1"/>
          </p:cNvSpPr>
          <p:nvPr/>
        </p:nvSpPr>
        <p:spPr bwMode="auto">
          <a:xfrm>
            <a:off x="304800" y="5641975"/>
            <a:ext cx="7178675" cy="822325"/>
          </a:xfrm>
          <a:prstGeom prst="rect">
            <a:avLst/>
          </a:prstGeom>
          <a:noFill/>
          <a:ln w="9525">
            <a:noFill/>
            <a:miter lim="800000"/>
          </a:ln>
          <a:effectLst>
            <a:prstShdw prst="shdw18" dist="17961" dir="13500000">
              <a:schemeClr val="accent1">
                <a:gamma/>
                <a:shade val="60000"/>
                <a:invGamma/>
              </a:schemeClr>
            </a:prstShdw>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假设：</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counter</a:t>
            </a:r>
            <a:r>
              <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的当前值是</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5</a:t>
            </a:r>
            <a:r>
              <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a:t>
            </a:r>
            <a:endPar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无论生产者先执行，还是消费者先执行，结果都是</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5.</a:t>
            </a:r>
            <a:endPar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99364"/>
                                        </p:tgtEl>
                                        <p:attrNameLst>
                                          <p:attrName>style.visibility</p:attrName>
                                        </p:attrNameLst>
                                      </p:cBhvr>
                                      <p:to>
                                        <p:strVal val="visible"/>
                                      </p:to>
                                    </p:set>
                                    <p:animEffect transition="in" filter="box(in)">
                                      <p:cBhvr>
                                        <p:cTn id="7" dur="500"/>
                                        <p:tgtEl>
                                          <p:spTgt spid="399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noRot="1"/>
          </p:cNvSpPr>
          <p:nvPr>
            <p:ph type="title"/>
          </p:nvPr>
        </p:nvSpPr>
        <p:spPr/>
        <p:txBody>
          <a:bodyPr vert="horz" wrap="square" lIns="91440" tIns="45720" rIns="91440" bIns="45720" anchor="ctr" anchorCtr="0"/>
          <a:p>
            <a:endParaRPr lang="zh-CN" altLang="en-US" dirty="0"/>
          </a:p>
        </p:txBody>
      </p:sp>
      <p:sp>
        <p:nvSpPr>
          <p:cNvPr id="400387" name="Rectangle 3"/>
          <p:cNvSpPr>
            <a:spLocks noGrp="1" noRot="1"/>
          </p:cNvSpPr>
          <p:nvPr>
            <p:ph idx="1"/>
          </p:nvPr>
        </p:nvSpPr>
        <p:spPr>
          <a:xfrm>
            <a:off x="301625" y="1600200"/>
            <a:ext cx="8613775" cy="4498975"/>
          </a:xfrm>
        </p:spPr>
        <p:txBody>
          <a:bodyPr vert="horz" wrap="square" lIns="91440" tIns="45720" rIns="91440" bIns="45720" anchor="t" anchorCtr="0"/>
          <a:p>
            <a:pPr>
              <a:lnSpc>
                <a:spcPct val="80000"/>
              </a:lnSpc>
            </a:pPr>
            <a:r>
              <a:rPr lang="zh-CN" altLang="en-US" sz="2400" b="1" dirty="0">
                <a:solidFill>
                  <a:srgbClr val="FF0000"/>
                </a:solidFill>
              </a:rPr>
              <a:t>但是，如果按下述顺序执行：</a:t>
            </a:r>
            <a:endParaRPr lang="zh-CN" altLang="en-US" sz="2400" b="1" dirty="0">
              <a:solidFill>
                <a:srgbClr val="FF0000"/>
              </a:solidFill>
            </a:endParaRPr>
          </a:p>
          <a:p>
            <a:pPr>
              <a:lnSpc>
                <a:spcPct val="80000"/>
              </a:lnSpc>
            </a:pPr>
            <a:r>
              <a:rPr lang="zh-CN" altLang="en-US" sz="2400" dirty="0"/>
              <a:t>         </a:t>
            </a:r>
            <a:r>
              <a:rPr lang="en-US" altLang="zh-CN" sz="2400" dirty="0"/>
              <a:t>register 1 ∶  =counter; (register 1=5)</a:t>
            </a:r>
            <a:endParaRPr lang="en-US" altLang="zh-CN" sz="2400" dirty="0"/>
          </a:p>
          <a:p>
            <a:pPr>
              <a:lnSpc>
                <a:spcPct val="80000"/>
              </a:lnSpc>
            </a:pPr>
            <a:r>
              <a:rPr lang="en-US" altLang="zh-CN" sz="2400" dirty="0"/>
              <a:t>         register 1 ∶   =register 1+1; (register 1=6)</a:t>
            </a:r>
            <a:endParaRPr lang="en-US" altLang="zh-CN" sz="2400" dirty="0"/>
          </a:p>
          <a:p>
            <a:pPr>
              <a:lnSpc>
                <a:spcPct val="80000"/>
              </a:lnSpc>
            </a:pPr>
            <a:r>
              <a:rPr lang="en-US" altLang="zh-CN" sz="2400" dirty="0"/>
              <a:t>         register 2 ∶   =counter; (register 2=5)</a:t>
            </a:r>
            <a:endParaRPr lang="en-US" altLang="zh-CN" sz="2400" dirty="0"/>
          </a:p>
          <a:p>
            <a:pPr>
              <a:lnSpc>
                <a:spcPct val="80000"/>
              </a:lnSpc>
            </a:pPr>
            <a:r>
              <a:rPr lang="en-US" altLang="zh-CN" sz="2400" dirty="0"/>
              <a:t>         register 2 ∶   =register 2-1; (register 2=4)</a:t>
            </a:r>
            <a:endParaRPr lang="en-US" altLang="zh-CN" sz="2400" dirty="0"/>
          </a:p>
          <a:p>
            <a:pPr>
              <a:lnSpc>
                <a:spcPct val="80000"/>
              </a:lnSpc>
            </a:pPr>
            <a:r>
              <a:rPr lang="en-US" altLang="zh-CN" sz="2400" dirty="0"/>
              <a:t>         counter∶   =register 1; (counter=6)</a:t>
            </a:r>
            <a:endParaRPr lang="en-US" altLang="zh-CN" sz="2400" dirty="0"/>
          </a:p>
          <a:p>
            <a:pPr>
              <a:lnSpc>
                <a:spcPct val="80000"/>
              </a:lnSpc>
            </a:pPr>
            <a:r>
              <a:rPr lang="en-US" altLang="zh-CN" sz="2400" dirty="0"/>
              <a:t>         counter∶   =register 2; (</a:t>
            </a:r>
            <a:r>
              <a:rPr lang="en-US" altLang="zh-CN" sz="2400" dirty="0">
                <a:solidFill>
                  <a:srgbClr val="FF0000"/>
                </a:solidFill>
              </a:rPr>
              <a:t>counter=4</a:t>
            </a:r>
            <a:r>
              <a:rPr lang="en-US" altLang="zh-CN" sz="2400" dirty="0"/>
              <a:t>)</a:t>
            </a:r>
            <a:endParaRPr lang="en-US" altLang="zh-CN" sz="2400" dirty="0"/>
          </a:p>
          <a:p>
            <a:pPr>
              <a:lnSpc>
                <a:spcPct val="80000"/>
              </a:lnSpc>
            </a:pPr>
            <a:endParaRPr lang="en-US" altLang="zh-CN" sz="2400" b="1" dirty="0">
              <a:solidFill>
                <a:srgbClr val="FF0000"/>
              </a:solidFill>
            </a:endParaRPr>
          </a:p>
          <a:p>
            <a:pPr>
              <a:lnSpc>
                <a:spcPct val="80000"/>
              </a:lnSpc>
            </a:pPr>
            <a:r>
              <a:rPr lang="en-US" altLang="zh-CN" sz="2400" b="1" dirty="0">
                <a:solidFill>
                  <a:srgbClr val="FF0000"/>
                </a:solidFill>
              </a:rPr>
              <a:t>Counter</a:t>
            </a:r>
            <a:r>
              <a:rPr lang="zh-CN" altLang="en-US" sz="2400" b="1" dirty="0">
                <a:solidFill>
                  <a:srgbClr val="FF0000"/>
                </a:solidFill>
              </a:rPr>
              <a:t>的值最终为</a:t>
            </a:r>
            <a:r>
              <a:rPr lang="en-US" altLang="zh-CN" sz="2400" b="1" dirty="0">
                <a:solidFill>
                  <a:srgbClr val="FF0000"/>
                </a:solidFill>
              </a:rPr>
              <a:t>4</a:t>
            </a:r>
            <a:r>
              <a:rPr lang="zh-CN" altLang="en-US" sz="2400" b="1" dirty="0">
                <a:solidFill>
                  <a:srgbClr val="FF0000"/>
                </a:solidFill>
              </a:rPr>
              <a:t>。</a:t>
            </a:r>
            <a:endParaRPr lang="zh-CN" altLang="en-US" sz="2400" b="1" dirty="0">
              <a:solidFill>
                <a:srgbClr val="FF0000"/>
              </a:solidFill>
            </a:endParaRPr>
          </a:p>
          <a:p>
            <a:pPr>
              <a:lnSpc>
                <a:spcPct val="80000"/>
              </a:lnSpc>
            </a:pPr>
            <a:r>
              <a:rPr lang="zh-CN" altLang="en-US" sz="2400" b="1" dirty="0">
                <a:solidFill>
                  <a:srgbClr val="FF0000"/>
                </a:solidFill>
              </a:rPr>
              <a:t>问题的原因是什么？该怎么办？</a:t>
            </a:r>
            <a:endParaRPr lang="zh-CN" altLang="en-US" sz="2400" b="1" dirty="0">
              <a:solidFill>
                <a:srgbClr val="FF0000"/>
              </a:solidFill>
            </a:endParaRPr>
          </a:p>
          <a:p>
            <a:pPr>
              <a:lnSpc>
                <a:spcPct val="80000"/>
              </a:lnSpc>
            </a:pPr>
            <a:r>
              <a:rPr lang="zh-CN" altLang="en-US" sz="2400" b="1" dirty="0">
                <a:solidFill>
                  <a:srgbClr val="FF0000"/>
                </a:solidFill>
              </a:rPr>
              <a:t>将</a:t>
            </a:r>
            <a:r>
              <a:rPr lang="en-US" altLang="zh-CN" sz="2400" b="1" dirty="0">
                <a:solidFill>
                  <a:srgbClr val="FF0000"/>
                </a:solidFill>
              </a:rPr>
              <a:t>counter</a:t>
            </a:r>
            <a:r>
              <a:rPr lang="zh-CN" altLang="en-US" sz="2400" b="1" dirty="0">
                <a:solidFill>
                  <a:srgbClr val="FF0000"/>
                </a:solidFill>
              </a:rPr>
              <a:t>作为</a:t>
            </a:r>
            <a:r>
              <a:rPr lang="zh-CN" altLang="en-US" sz="2400" b="1" u="sng" dirty="0">
                <a:solidFill>
                  <a:srgbClr val="0066FF"/>
                </a:solidFill>
              </a:rPr>
              <a:t>临界资源</a:t>
            </a:r>
            <a:r>
              <a:rPr lang="zh-CN" altLang="en-US" sz="2400" b="1" dirty="0">
                <a:solidFill>
                  <a:srgbClr val="FF0000"/>
                </a:solidFill>
              </a:rPr>
              <a:t>处理，使生产者和消费者互斥的访问该变量。</a:t>
            </a:r>
            <a:endParaRPr lang="zh-CN" alt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mph" presetSubtype="0" fill="hold" nodeType="clickEffect">
                                  <p:stCondLst>
                                    <p:cond delay="0"/>
                                  </p:stCondLst>
                                  <p:childTnLst>
                                    <p:animClr clrSpc="hsl" dir="cw">
                                      <p:cBhvr override="childStyle">
                                        <p:cTn id="6" dur="500" fill="hold"/>
                                        <p:tgtEl>
                                          <p:spTgt spid="400387">
                                            <p:txEl>
                                              <p:charRg st="116" end="165"/>
                                            </p:txEl>
                                          </p:spTgt>
                                        </p:tgtEl>
                                        <p:attrNameLst>
                                          <p:attrName>style.color</p:attrName>
                                        </p:attrNameLst>
                                      </p:cBhvr>
                                      <p:by>
                                        <p:hsl h="0" s="-12544" l="-25088"/>
                                      </p:by>
                                    </p:animClr>
                                    <p:animClr clrSpc="hsl" dir="cw">
                                      <p:cBhvr>
                                        <p:cTn id="7" dur="500" fill="hold"/>
                                        <p:tgtEl>
                                          <p:spTgt spid="400387">
                                            <p:txEl>
                                              <p:charRg st="116" end="165"/>
                                            </p:txEl>
                                          </p:spTgt>
                                        </p:tgtEl>
                                        <p:attrNameLst>
                                          <p:attrName>fillcolor</p:attrName>
                                        </p:attrNameLst>
                                      </p:cBhvr>
                                      <p:by>
                                        <p:hsl h="0" s="-12544" l="-25088"/>
                                      </p:by>
                                    </p:animClr>
                                    <p:animClr clrSpc="hsl" dir="cw">
                                      <p:cBhvr>
                                        <p:cTn id="8" dur="500" fill="hold"/>
                                        <p:tgtEl>
                                          <p:spTgt spid="400387">
                                            <p:txEl>
                                              <p:charRg st="116" end="165"/>
                                            </p:txEl>
                                          </p:spTgt>
                                        </p:tgtEl>
                                        <p:attrNameLst>
                                          <p:attrName>stroke.color</p:attrName>
                                        </p:attrNameLst>
                                      </p:cBhvr>
                                      <p:by>
                                        <p:hsl h="0" s="-12544" l="-25088"/>
                                      </p:by>
                                    </p:animClr>
                                    <p:set>
                                      <p:cBhvr>
                                        <p:cTn id="9" dur="500" fill="hold"/>
                                        <p:tgtEl>
                                          <p:spTgt spid="400387">
                                            <p:txEl>
                                              <p:charRg st="116" end="165"/>
                                            </p:txEl>
                                          </p:spTgt>
                                        </p:tgtEl>
                                        <p:attrNameLst>
                                          <p:attrName>fill.type</p:attrName>
                                        </p:attrNameLst>
                                      </p:cBhvr>
                                      <p:to>
                                        <p:strVal val="solid"/>
                                      </p:to>
                                    </p:set>
                                  </p:childTnLst>
                                  <p:subTnLst>
                                    <p:animClr clrSpc="rgb" dir="cw">
                                      <p:cBhvr override="childStyle">
                                        <p:cTn dur="1" fill="hold" display="0" masterRel="nextClick" afterEffect="1"/>
                                        <p:tgtEl>
                                          <p:spTgt spid="400387">
                                            <p:txEl>
                                              <p:charRg st="116" end="165"/>
                                            </p:txEl>
                                          </p:spTgt>
                                        </p:tgtEl>
                                        <p:attrNameLst>
                                          <p:attrName>ppt_c</p:attrName>
                                        </p:attrNameLst>
                                      </p:cBhvr>
                                      <p:to>
                                        <a:srgbClr val="FF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019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结论</a:t>
            </a:r>
            <a:endPar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520195" name="Rectangle 3"/>
          <p:cNvSpPr>
            <a:spLocks noGrp="1" noRot="1" noChangeArrowheads="1"/>
          </p:cNvSpPr>
          <p:nvPr>
            <p:ph type="body" idx="1"/>
          </p:nvPr>
        </p:nvSpPr>
        <p:spPr>
          <a:xfrm>
            <a:off x="304800" y="1676400"/>
            <a:ext cx="8540750" cy="27432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进程竞争资源首先必须解决</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互斥</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问题。某些资源必须互斥使用，如打印机、共享变量、表格、文件等。</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这类资源又称为</a:t>
            </a:r>
            <a:r>
              <a:rPr kumimoji="0" lang="zh-CN" altLang="en-US" sz="24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rPr>
              <a:t>临界资源</a:t>
            </a:r>
            <a:r>
              <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，访问临界资源的那段代码称为</a:t>
            </a:r>
            <a:r>
              <a:rPr kumimoji="0" lang="zh-CN" altLang="en-US" sz="24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rPr>
              <a:t>临界区</a:t>
            </a:r>
            <a:r>
              <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a:t>
            </a:r>
            <a:endPar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任何时刻，只允许一个进程进入临界区，以此实现进程对临界资源的互斥访问。</a:t>
            </a:r>
            <a:endParaRPr kumimoji="0" lang="zh-CN" altLang="en-US" sz="24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通过上述两个例子可见，采用多道程序并发设计技术的操作系统对诸进程的</a:t>
            </a:r>
            <a:r>
              <a:rPr kumimoji="0" lang="zh-CN" altLang="en-US" sz="2800" b="1" i="1"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n-cs"/>
              </a:rPr>
              <a:t>并发控制</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是非常重要和必需的。</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    </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 </a:t>
            </a:r>
            <a:endPar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0194"/>
                                        </p:tgtEl>
                                        <p:attrNameLst>
                                          <p:attrName>style.visibility</p:attrName>
                                        </p:attrNameLst>
                                      </p:cBhvr>
                                      <p:to>
                                        <p:strVal val="visible"/>
                                      </p:to>
                                    </p:set>
                                    <p:animEffect transition="in" filter="fade">
                                      <p:cBhvr>
                                        <p:cTn id="7" dur="2000"/>
                                        <p:tgtEl>
                                          <p:spTgt spid="520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20195">
                                            <p:txEl>
                                              <p:charRg st="0" end="48"/>
                                            </p:txEl>
                                          </p:spTgt>
                                        </p:tgtEl>
                                        <p:attrNameLst>
                                          <p:attrName>style.visibility</p:attrName>
                                        </p:attrNameLst>
                                      </p:cBhvr>
                                      <p:to>
                                        <p:strVal val="visible"/>
                                      </p:to>
                                    </p:set>
                                    <p:animEffect transition="in" filter="fade">
                                      <p:cBhvr>
                                        <p:cTn id="12" dur="2000"/>
                                        <p:tgtEl>
                                          <p:spTgt spid="520195">
                                            <p:txEl>
                                              <p:charRg st="0" end="4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20195">
                                            <p:txEl>
                                              <p:charRg st="48" end="78"/>
                                            </p:txEl>
                                          </p:spTgt>
                                        </p:tgtEl>
                                        <p:attrNameLst>
                                          <p:attrName>style.visibility</p:attrName>
                                        </p:attrNameLst>
                                      </p:cBhvr>
                                      <p:to>
                                        <p:strVal val="visible"/>
                                      </p:to>
                                    </p:set>
                                    <p:animEffect transition="in" filter="fade">
                                      <p:cBhvr>
                                        <p:cTn id="15" dur="2000"/>
                                        <p:tgtEl>
                                          <p:spTgt spid="520195">
                                            <p:txEl>
                                              <p:charRg st="48" end="7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20195">
                                            <p:txEl>
                                              <p:charRg st="78" end="114"/>
                                            </p:txEl>
                                          </p:spTgt>
                                        </p:tgtEl>
                                        <p:attrNameLst>
                                          <p:attrName>style.visibility</p:attrName>
                                        </p:attrNameLst>
                                      </p:cBhvr>
                                      <p:to>
                                        <p:strVal val="visible"/>
                                      </p:to>
                                    </p:set>
                                    <p:animEffect transition="in" filter="fade">
                                      <p:cBhvr>
                                        <p:cTn id="18" dur="2000"/>
                                        <p:tgtEl>
                                          <p:spTgt spid="520195">
                                            <p:txEl>
                                              <p:charRg st="78" end="11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20195">
                                            <p:txEl>
                                              <p:charRg st="115" end="163"/>
                                            </p:txEl>
                                          </p:spTgt>
                                        </p:tgtEl>
                                        <p:attrNameLst>
                                          <p:attrName>style.visibility</p:attrName>
                                        </p:attrNameLst>
                                      </p:cBhvr>
                                      <p:to>
                                        <p:strVal val="visible"/>
                                      </p:to>
                                    </p:set>
                                    <p:animEffect transition="in" filter="fade">
                                      <p:cBhvr>
                                        <p:cTn id="23" dur="2000"/>
                                        <p:tgtEl>
                                          <p:spTgt spid="520195">
                                            <p:txEl>
                                              <p:charRg st="115" end="16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20195">
                                            <p:txEl>
                                              <p:charRg st="163" end="169"/>
                                            </p:txEl>
                                          </p:spTgt>
                                        </p:tgtEl>
                                        <p:attrNameLst>
                                          <p:attrName>style.visibility</p:attrName>
                                        </p:attrNameLst>
                                      </p:cBhvr>
                                      <p:to>
                                        <p:strVal val="visible"/>
                                      </p:to>
                                    </p:set>
                                    <p:animEffect transition="in" filter="fade">
                                      <p:cBhvr>
                                        <p:cTn id="28" dur="2000"/>
                                        <p:tgtEl>
                                          <p:spTgt spid="520195">
                                            <p:txEl>
                                              <p:charRg st="163" end="1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194" grpId="0"/>
      <p:bldP spid="520195"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1437" name="Text Box 29"/>
          <p:cNvSpPr txBox="1">
            <a:spLocks noChangeArrowheads="1"/>
          </p:cNvSpPr>
          <p:nvPr/>
        </p:nvSpPr>
        <p:spPr bwMode="auto">
          <a:xfrm>
            <a:off x="457200" y="1676400"/>
            <a:ext cx="8229600" cy="36671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endParaRPr kumimoji="0" lang="zh-CN" altLang="en-US" kern="1200" cap="none" spc="0" normalizeH="0" baseline="0" noProof="0">
              <a:latin typeface="Arial" panose="020B0604020202020204" pitchFamily="34" charset="0"/>
              <a:ea typeface="宋体" panose="02010600030101010101" pitchFamily="2" charset="-122"/>
              <a:cs typeface="+mn-cs"/>
            </a:endParaRPr>
          </a:p>
        </p:txBody>
      </p:sp>
      <p:sp>
        <p:nvSpPr>
          <p:cNvPr id="93187" name="Text Box 31"/>
          <p:cNvSpPr txBox="1"/>
          <p:nvPr/>
        </p:nvSpPr>
        <p:spPr>
          <a:xfrm>
            <a:off x="1066800" y="1981200"/>
            <a:ext cx="7162800" cy="46672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endParaRPr lang="en-US" altLang="zh-CN" sz="2400" dirty="0">
              <a:latin typeface="Times New Roman" panose="02020603050405020304" pitchFamily="18" charset="0"/>
            </a:endParaRPr>
          </a:p>
        </p:txBody>
      </p:sp>
      <p:sp>
        <p:nvSpPr>
          <p:cNvPr id="93188" name="Text Box 32"/>
          <p:cNvSpPr txBox="1"/>
          <p:nvPr/>
        </p:nvSpPr>
        <p:spPr>
          <a:xfrm>
            <a:off x="1219200" y="939800"/>
            <a:ext cx="37814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FF0000"/>
                </a:solidFill>
                <a:latin typeface="Times New Roman" panose="02020603050405020304" pitchFamily="18" charset="0"/>
              </a:rPr>
              <a:t>临界区</a:t>
            </a:r>
            <a:r>
              <a:rPr lang="en-US" altLang="zh-CN" sz="2800" b="1" dirty="0">
                <a:solidFill>
                  <a:srgbClr val="FF0000"/>
                </a:solidFill>
                <a:latin typeface="Times New Roman" panose="02020603050405020304" pitchFamily="18" charset="0"/>
              </a:rPr>
              <a:t>(critical section) </a:t>
            </a:r>
            <a:endParaRPr lang="en-US" altLang="zh-CN" sz="2800" b="1" dirty="0">
              <a:solidFill>
                <a:srgbClr val="FF0000"/>
              </a:solidFill>
              <a:latin typeface="Times New Roman" panose="02020603050405020304" pitchFamily="18" charset="0"/>
            </a:endParaRPr>
          </a:p>
        </p:txBody>
      </p:sp>
      <p:sp>
        <p:nvSpPr>
          <p:cNvPr id="93189" name="Text Box 33"/>
          <p:cNvSpPr txBox="1"/>
          <p:nvPr/>
        </p:nvSpPr>
        <p:spPr>
          <a:xfrm>
            <a:off x="1066800" y="1981200"/>
            <a:ext cx="7543800" cy="4400550"/>
          </a:xfrm>
          <a:prstGeom prst="rect">
            <a:avLst/>
          </a:prstGeom>
          <a:solidFill>
            <a:srgbClr val="99CCFF"/>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r>
              <a:rPr lang="zh-CN" altLang="en-US" sz="2800" b="1" dirty="0">
                <a:solidFill>
                  <a:srgbClr val="FF0000"/>
                </a:solidFill>
                <a:latin typeface="Times New Roman" panose="02020603050405020304" pitchFamily="18" charset="0"/>
              </a:rPr>
              <a:t>可把一个访问临界资源的循环进程描述如下：</a:t>
            </a:r>
            <a:endParaRPr lang="en-US" altLang="zh-CN" sz="2800" b="1" dirty="0">
              <a:solidFill>
                <a:srgbClr val="FF0000"/>
              </a:solidFill>
              <a:latin typeface="Times New Roman" panose="02020603050405020304" pitchFamily="18" charset="0"/>
            </a:endParaRPr>
          </a:p>
          <a:p>
            <a:pPr marL="0" lvl="0" indent="0" algn="just" eaLnBrk="1" hangingPunct="1">
              <a:spcBef>
                <a:spcPct val="50000"/>
              </a:spcBef>
              <a:buClrTx/>
              <a:buSzTx/>
              <a:buFontTx/>
              <a:buNone/>
            </a:pPr>
            <a:endParaRPr lang="zh-CN" altLang="en-US" sz="2400" dirty="0">
              <a:solidFill>
                <a:srgbClr val="FF0000"/>
              </a:solidFill>
              <a:latin typeface="Times New Roman" panose="02020603050405020304" pitchFamily="18" charset="0"/>
            </a:endParaRPr>
          </a:p>
          <a:p>
            <a:pPr marL="0" lvl="0" indent="0" algn="just" eaLnBrk="1" hangingPunct="1">
              <a:spcBef>
                <a:spcPct val="50000"/>
              </a:spcBef>
              <a:buClrTx/>
              <a:buSzTx/>
              <a:buFontTx/>
              <a:buNone/>
            </a:pPr>
            <a:r>
              <a:rPr lang="en-US" altLang="zh-CN" sz="2400" dirty="0">
                <a:latin typeface="Times New Roman" panose="02020603050405020304" pitchFamily="18" charset="0"/>
              </a:rPr>
              <a:t>repeat</a:t>
            </a:r>
            <a:endParaRPr lang="en-US" altLang="zh-CN" sz="2400" dirty="0">
              <a:latin typeface="Times New Roman" panose="02020603050405020304" pitchFamily="18" charset="0"/>
            </a:endParaRPr>
          </a:p>
          <a:p>
            <a:pPr marL="0" lvl="0" indent="0" algn="just" eaLnBrk="1" hangingPunct="1">
              <a:spcBef>
                <a:spcPct val="50000"/>
              </a:spcBef>
              <a:buClrTx/>
              <a:buSzTx/>
              <a:buFontTx/>
              <a:buNone/>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0" lvl="0" indent="0" algn="just" eaLnBrk="1" hangingPunct="1">
              <a:spcBef>
                <a:spcPct val="50000"/>
              </a:spcBef>
              <a:buClrTx/>
              <a:buSzTx/>
              <a:buFontTx/>
              <a:buNone/>
            </a:pPr>
            <a:r>
              <a:rPr lang="en-US" altLang="zh-CN" sz="2400" dirty="0">
                <a:latin typeface="Times New Roman" panose="02020603050405020304" pitchFamily="18" charset="0"/>
              </a:rPr>
              <a:t>        critical section;</a:t>
            </a:r>
            <a:endParaRPr lang="en-US" altLang="zh-CN" sz="2400" dirty="0">
              <a:latin typeface="Times New Roman" panose="02020603050405020304" pitchFamily="18" charset="0"/>
            </a:endParaRPr>
          </a:p>
          <a:p>
            <a:pPr marL="0" lvl="0" indent="0" algn="just" eaLnBrk="1" hangingPunct="1">
              <a:spcBef>
                <a:spcPct val="50000"/>
              </a:spcBef>
              <a:buClrTx/>
              <a:buSzTx/>
              <a:buFontTx/>
              <a:buNone/>
            </a:pPr>
            <a:endParaRPr lang="en-US" altLang="zh-CN" sz="2400" dirty="0">
              <a:latin typeface="Times New Roman" panose="02020603050405020304" pitchFamily="18" charset="0"/>
            </a:endParaRPr>
          </a:p>
          <a:p>
            <a:pPr marL="0" lvl="0" indent="0" algn="just" eaLnBrk="1" hangingPunct="1">
              <a:spcBef>
                <a:spcPct val="50000"/>
              </a:spcBef>
              <a:buClrTx/>
              <a:buSzTx/>
              <a:buFontTx/>
              <a:buNone/>
            </a:pPr>
            <a:r>
              <a:rPr lang="en-US" altLang="zh-CN" sz="2400" dirty="0">
                <a:latin typeface="Times New Roman" panose="02020603050405020304" pitchFamily="18" charset="0"/>
              </a:rPr>
              <a:t>         remainder section;</a:t>
            </a:r>
            <a:endParaRPr lang="en-US" altLang="zh-CN" sz="2400" dirty="0">
              <a:latin typeface="Times New Roman" panose="02020603050405020304" pitchFamily="18" charset="0"/>
            </a:endParaRPr>
          </a:p>
          <a:p>
            <a:pPr marL="0" lvl="0" indent="0" eaLnBrk="1" hangingPunct="1">
              <a:spcBef>
                <a:spcPct val="50000"/>
              </a:spcBef>
              <a:buClrTx/>
              <a:buSzTx/>
              <a:buFontTx/>
              <a:buNone/>
            </a:pPr>
            <a:r>
              <a:rPr lang="en-US" altLang="zh-CN" sz="2400" dirty="0">
                <a:latin typeface="Times New Roman" panose="02020603050405020304" pitchFamily="18" charset="0"/>
              </a:rPr>
              <a:t>until false; </a:t>
            </a:r>
            <a:endParaRPr lang="en-US" altLang="zh-CN" sz="2400" dirty="0">
              <a:latin typeface="Times New Roman" panose="02020603050405020304" pitchFamily="18" charset="0"/>
            </a:endParaRPr>
          </a:p>
        </p:txBody>
      </p:sp>
      <p:graphicFrame>
        <p:nvGraphicFramePr>
          <p:cNvPr id="401442" name="Group 34"/>
          <p:cNvGraphicFramePr>
            <a:graphicFrameLocks noGrp="1"/>
          </p:cNvGraphicFramePr>
          <p:nvPr/>
        </p:nvGraphicFramePr>
        <p:xfrm>
          <a:off x="2133600" y="3444875"/>
          <a:ext cx="1828800" cy="517525"/>
        </p:xfrm>
        <a:graphic>
          <a:graphicData uri="http://schemas.openxmlformats.org/drawingml/2006/table">
            <a:tbl>
              <a:tblPr/>
              <a:tblGrid>
                <a:gridCol w="1828800"/>
              </a:tblGrid>
              <a:tr h="517525">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pPr>
                      <a:endParaRPr kumimoji="0" lang="zh-CN" altLang="en-US" sz="2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449" marB="45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3196" name="Rectangle 40"/>
          <p:cNvSpPr/>
          <p:nvPr/>
        </p:nvSpPr>
        <p:spPr>
          <a:xfrm>
            <a:off x="2133600" y="3429000"/>
            <a:ext cx="17478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entry section</a:t>
            </a:r>
            <a:endParaRPr lang="en-US" altLang="zh-CN" sz="2400" dirty="0">
              <a:latin typeface="Times New Roman" panose="02020603050405020304" pitchFamily="18" charset="0"/>
            </a:endParaRPr>
          </a:p>
        </p:txBody>
      </p:sp>
      <p:graphicFrame>
        <p:nvGraphicFramePr>
          <p:cNvPr id="401449" name="Group 41"/>
          <p:cNvGraphicFramePr>
            <a:graphicFrameLocks noGrp="1"/>
          </p:cNvGraphicFramePr>
          <p:nvPr/>
        </p:nvGraphicFramePr>
        <p:xfrm>
          <a:off x="2057400" y="4664075"/>
          <a:ext cx="1828800" cy="517525"/>
        </p:xfrm>
        <a:graphic>
          <a:graphicData uri="http://schemas.openxmlformats.org/drawingml/2006/table">
            <a:tbl>
              <a:tblPr/>
              <a:tblGrid>
                <a:gridCol w="1828800"/>
              </a:tblGrid>
              <a:tr h="517525">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pPr>
                      <a:endParaRPr kumimoji="0" lang="zh-CN" altLang="en-US" sz="2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449" marB="454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3203" name="Rectangle 47"/>
          <p:cNvSpPr/>
          <p:nvPr/>
        </p:nvSpPr>
        <p:spPr>
          <a:xfrm>
            <a:off x="2133600" y="4648200"/>
            <a:ext cx="15779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latin typeface="Times New Roman" panose="02020603050405020304" pitchFamily="18" charset="0"/>
              </a:rPr>
              <a:t>exit section</a:t>
            </a:r>
            <a:endParaRPr lang="en-US" altLang="zh-CN" sz="2400" dirty="0">
              <a:latin typeface="Times New Roman" panose="02020603050405020304" pitchFamily="18" charset="0"/>
            </a:endParaRPr>
          </a:p>
        </p:txBody>
      </p:sp>
      <p:sp>
        <p:nvSpPr>
          <p:cNvPr id="401456" name="AutoShape 48"/>
          <p:cNvSpPr>
            <a:spLocks noChangeArrowheads="1"/>
          </p:cNvSpPr>
          <p:nvPr/>
        </p:nvSpPr>
        <p:spPr bwMode="auto">
          <a:xfrm>
            <a:off x="4419600" y="2743200"/>
            <a:ext cx="4114800" cy="1524000"/>
          </a:xfrm>
          <a:prstGeom prst="wedgeRoundRectCallout">
            <a:avLst>
              <a:gd name="adj1" fmla="val -61148"/>
              <a:gd name="adj2" fmla="val 4273"/>
              <a:gd name="adj3" fmla="val 16667"/>
            </a:avLst>
          </a:prstGeom>
          <a:solidFill>
            <a:schemeClr val="accent1"/>
          </a:solidFill>
          <a:ln w="9525">
            <a:noFill/>
            <a:miter lim="800000"/>
          </a:ln>
          <a:effectLst>
            <a:prstShdw prst="shdw18" dist="17961" dir="13500000">
              <a:schemeClr val="accent1">
                <a:gamma/>
                <a:shade val="60000"/>
                <a:invGamma/>
              </a:schemeClr>
            </a:prst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首先，在“进入区”判断是否可以进入临界区，如果可以进入，则必须设置临界区使用标志，阻止其它后来的进程进入临界区。</a:t>
            </a:r>
            <a:endParaRPr kumimoji="0" lang="zh-CN" altLang="en-US" sz="20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401457" name="AutoShape 49"/>
          <p:cNvSpPr>
            <a:spLocks noChangeArrowheads="1"/>
          </p:cNvSpPr>
          <p:nvPr/>
        </p:nvSpPr>
        <p:spPr bwMode="auto">
          <a:xfrm>
            <a:off x="4343400" y="4724400"/>
            <a:ext cx="4572000" cy="1524000"/>
          </a:xfrm>
          <a:prstGeom prst="wedgeRoundRectCallout">
            <a:avLst>
              <a:gd name="adj1" fmla="val -59968"/>
              <a:gd name="adj2" fmla="val -36144"/>
              <a:gd name="adj3" fmla="val 16667"/>
            </a:avLst>
          </a:prstGeom>
          <a:solidFill>
            <a:schemeClr val="accent1"/>
          </a:solidFill>
          <a:ln w="9525">
            <a:noFill/>
            <a:miter lim="800000"/>
          </a:ln>
          <a:effectLst>
            <a:prstShdw prst="shdw18" dist="17961" dir="13500000">
              <a:schemeClr val="accent1">
                <a:gamma/>
                <a:shade val="60000"/>
                <a:invGamma/>
              </a:schemeClr>
            </a:prstShdw>
          </a:effec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000" b="1" i="0" u="none" strike="noStrike" kern="1200" cap="none" spc="0" normalizeH="0" baseline="0" noProof="0" smtClean="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当临界区内的进程使用完毕，退出临界区时，即在“退出区”修改临界区使用标志，</a:t>
            </a:r>
            <a:r>
              <a:rPr kumimoji="0" lang="zh-CN" altLang="en-US" sz="2000" b="1" i="0" u="none" strike="noStrike" kern="1200" cap="none" spc="0" normalizeH="0" baseline="0" noProof="0" smtClean="0">
                <a:ln>
                  <a:noFill/>
                </a:ln>
                <a:solidFill>
                  <a:schemeClr val="fo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并负责唤醒阻塞队列中的一个进程，让其进入临界区。</a:t>
            </a:r>
            <a:endParaRPr kumimoji="0" lang="zh-CN" altLang="en-US" sz="2000" b="1" i="0" u="none" strike="noStrike" kern="1200" cap="none" spc="0" normalizeH="0" baseline="0" noProof="0" smtClean="0">
              <a:ln>
                <a:noFill/>
              </a:ln>
              <a:solidFill>
                <a:schemeClr val="folHlink"/>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0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01456"/>
                                        </p:tgtEl>
                                        <p:attrNameLst>
                                          <p:attrName>style.visibility</p:attrName>
                                        </p:attrNameLst>
                                      </p:cBhvr>
                                      <p:to>
                                        <p:strVal val="visible"/>
                                      </p:to>
                                    </p:set>
                                    <p:animEffect transition="in" filter="box(in)">
                                      <p:cBhvr>
                                        <p:cTn id="7" dur="500"/>
                                        <p:tgtEl>
                                          <p:spTgt spid="40145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01457"/>
                                        </p:tgtEl>
                                        <p:attrNameLst>
                                          <p:attrName>style.visibility</p:attrName>
                                        </p:attrNameLst>
                                      </p:cBhvr>
                                      <p:to>
                                        <p:strVal val="visible"/>
                                      </p:to>
                                    </p:set>
                                    <p:animEffect transition="in" filter="box(in)">
                                      <p:cBhvr>
                                        <p:cTn id="12" dur="500"/>
                                        <p:tgtEl>
                                          <p:spTgt spid="401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56" grpId="0" animBg="1"/>
      <p:bldP spid="401457"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8386" name="Rectangle 2"/>
          <p:cNvSpPr>
            <a:spLocks noGrp="1" noRot="1" noChangeArrowheads="1"/>
          </p:cNvSpPr>
          <p:nvPr>
            <p:ph type="title"/>
          </p:nvPr>
        </p:nvSpPr>
        <p:spPr>
          <a:xfrm>
            <a:off x="533400" y="381000"/>
            <a:ext cx="80772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rPr>
              <a:t>临界区使用原则</a:t>
            </a:r>
            <a:b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rPr>
            </a:br>
            <a:r>
              <a:rPr kumimoji="0" lang="zh-CN" altLang="en-US" sz="3600" b="1" i="0" u="none"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rPr>
              <a:t>（也称为互斥条件）</a:t>
            </a:r>
            <a:r>
              <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endParaRPr kumimoji="0"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77155" name="Rectangle 5"/>
          <p:cNvSpPr>
            <a:spLocks noGrp="1" noRot="1"/>
          </p:cNvSpPr>
          <p:nvPr>
            <p:ph type="body"/>
          </p:nvPr>
        </p:nvSpPr>
        <p:spPr>
          <a:xfrm>
            <a:off x="533400" y="1901825"/>
            <a:ext cx="8077200" cy="4498975"/>
          </a:xfrm>
        </p:spPr>
        <p:txBody>
          <a:bodyPr vert="horz" wrap="square" lIns="91440" tIns="45720" rIns="91440" bIns="45720" anchor="t" anchorCtr="0"/>
          <a:p>
            <a:pPr eaLnBrk="1" hangingPunct="1"/>
            <a:r>
              <a:rPr lang="en-US" altLang="zh-CN" sz="2800" b="1" dirty="0">
                <a:solidFill>
                  <a:schemeClr val="folHlink"/>
                </a:solidFill>
              </a:rPr>
              <a:t>(1) </a:t>
            </a:r>
            <a:r>
              <a:rPr lang="zh-CN" altLang="en-US" sz="2800" b="1" dirty="0">
                <a:solidFill>
                  <a:schemeClr val="folHlink"/>
                </a:solidFill>
              </a:rPr>
              <a:t>空闲让进。</a:t>
            </a:r>
            <a:r>
              <a:rPr lang="zh-CN" altLang="en-US" sz="2800" b="1" dirty="0"/>
              <a:t>如果临界区空闲，则只要有进程申请就立即让其进入。</a:t>
            </a:r>
            <a:endParaRPr lang="zh-CN" altLang="en-US" sz="2800" b="1" dirty="0"/>
          </a:p>
          <a:p>
            <a:pPr eaLnBrk="1" hangingPunct="1"/>
            <a:r>
              <a:rPr lang="en-US" altLang="zh-CN" sz="2800" b="1" dirty="0">
                <a:solidFill>
                  <a:schemeClr val="folHlink"/>
                </a:solidFill>
              </a:rPr>
              <a:t>(2) </a:t>
            </a:r>
            <a:r>
              <a:rPr lang="zh-CN" altLang="en-US" sz="2800" b="1" dirty="0">
                <a:solidFill>
                  <a:schemeClr val="folHlink"/>
                </a:solidFill>
              </a:rPr>
              <a:t>忙则等待。</a:t>
            </a:r>
            <a:r>
              <a:rPr lang="zh-CN" altLang="en-US" sz="2800" b="1" dirty="0"/>
              <a:t>每次</a:t>
            </a:r>
            <a:r>
              <a:rPr lang="zh-CN" altLang="en-US" sz="2800" b="1" dirty="0">
                <a:solidFill>
                  <a:srgbClr val="0066FF"/>
                </a:solidFill>
              </a:rPr>
              <a:t>仅允许一个</a:t>
            </a:r>
            <a:r>
              <a:rPr lang="zh-CN" altLang="en-US" sz="2800" b="1" dirty="0"/>
              <a:t>进程处于临界区。</a:t>
            </a:r>
            <a:endParaRPr lang="zh-CN" altLang="en-US" sz="2800" b="1" dirty="0"/>
          </a:p>
          <a:p>
            <a:pPr eaLnBrk="1" hangingPunct="1"/>
            <a:r>
              <a:rPr lang="en-US" altLang="zh-CN" sz="2800" b="1" dirty="0">
                <a:solidFill>
                  <a:schemeClr val="folHlink"/>
                </a:solidFill>
              </a:rPr>
              <a:t>(3) </a:t>
            </a:r>
            <a:r>
              <a:rPr lang="zh-CN" altLang="en-US" sz="2800" b="1" dirty="0">
                <a:solidFill>
                  <a:schemeClr val="folHlink"/>
                </a:solidFill>
              </a:rPr>
              <a:t>有限等待。</a:t>
            </a:r>
            <a:r>
              <a:rPr lang="zh-CN" altLang="en-US" sz="2800" b="1" dirty="0"/>
              <a:t>进程只能在临界区内逗留有限时间，不得使其他进程在临界区外无限期等待。</a:t>
            </a:r>
            <a:endParaRPr lang="zh-CN" altLang="en-US" sz="2800" b="1" dirty="0"/>
          </a:p>
          <a:p>
            <a:pPr eaLnBrk="1" hangingPunct="1"/>
            <a:r>
              <a:rPr lang="en-US" altLang="zh-CN" sz="2800" b="1" dirty="0">
                <a:solidFill>
                  <a:schemeClr val="folHlink"/>
                </a:solidFill>
              </a:rPr>
              <a:t>(4) </a:t>
            </a:r>
            <a:r>
              <a:rPr lang="zh-CN" altLang="en-US" sz="2800" b="1" dirty="0">
                <a:solidFill>
                  <a:schemeClr val="folHlink"/>
                </a:solidFill>
              </a:rPr>
              <a:t>让权等待。</a:t>
            </a:r>
            <a:r>
              <a:rPr lang="zh-CN" altLang="en-US" sz="2800" b="1" dirty="0"/>
              <a:t>当进程不能进入自己的临界区时，应立即释放处理机，以免进程陷入“忙等”状态。</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8386"/>
                                        </p:tgtEl>
                                        <p:attrNameLst>
                                          <p:attrName>style.visibility</p:attrName>
                                        </p:attrNameLst>
                                      </p:cBhvr>
                                      <p:to>
                                        <p:strVal val="visible"/>
                                      </p:to>
                                    </p:set>
                                    <p:animEffect transition="in" filter="fade">
                                      <p:cBhvr>
                                        <p:cTn id="7" dur="2000"/>
                                        <p:tgtEl>
                                          <p:spTgt spid="5283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7155">
                                            <p:txEl>
                                              <p:charRg st="0" end="34"/>
                                            </p:txEl>
                                          </p:spTgt>
                                        </p:tgtEl>
                                        <p:attrNameLst>
                                          <p:attrName>style.visibility</p:attrName>
                                        </p:attrNameLst>
                                      </p:cBhvr>
                                      <p:to>
                                        <p:strVal val="visible"/>
                                      </p:to>
                                    </p:set>
                                    <p:animEffect transition="in" filter="fade">
                                      <p:cBhvr>
                                        <p:cTn id="12" dur="2000"/>
                                        <p:tgtEl>
                                          <p:spTgt spid="177155">
                                            <p:txEl>
                                              <p:charRg st="0"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7155">
                                            <p:txEl>
                                              <p:charRg st="34" end="59"/>
                                            </p:txEl>
                                          </p:spTgt>
                                        </p:tgtEl>
                                        <p:attrNameLst>
                                          <p:attrName>style.visibility</p:attrName>
                                        </p:attrNameLst>
                                      </p:cBhvr>
                                      <p:to>
                                        <p:strVal val="visible"/>
                                      </p:to>
                                    </p:set>
                                    <p:animEffect transition="in" filter="fade">
                                      <p:cBhvr>
                                        <p:cTn id="17" dur="2000"/>
                                        <p:tgtEl>
                                          <p:spTgt spid="177155">
                                            <p:txEl>
                                              <p:charRg st="34" end="5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7155">
                                            <p:txEl>
                                              <p:charRg st="59" end="103"/>
                                            </p:txEl>
                                          </p:spTgt>
                                        </p:tgtEl>
                                        <p:attrNameLst>
                                          <p:attrName>style.visibility</p:attrName>
                                        </p:attrNameLst>
                                      </p:cBhvr>
                                      <p:to>
                                        <p:strVal val="visible"/>
                                      </p:to>
                                    </p:set>
                                    <p:animEffect transition="in" filter="fade">
                                      <p:cBhvr>
                                        <p:cTn id="22" dur="2000"/>
                                        <p:tgtEl>
                                          <p:spTgt spid="177155">
                                            <p:txEl>
                                              <p:charRg st="59" end="10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7155">
                                            <p:txEl>
                                              <p:charRg st="103" end="150"/>
                                            </p:txEl>
                                          </p:spTgt>
                                        </p:tgtEl>
                                        <p:attrNameLst>
                                          <p:attrName>style.visibility</p:attrName>
                                        </p:attrNameLst>
                                      </p:cBhvr>
                                      <p:to>
                                        <p:strVal val="visible"/>
                                      </p:to>
                                    </p:set>
                                    <p:animEffect transition="in" filter="fade">
                                      <p:cBhvr>
                                        <p:cTn id="27" dur="2000"/>
                                        <p:tgtEl>
                                          <p:spTgt spid="177155">
                                            <p:txEl>
                                              <p:charRg st="103" end="1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6" grpId="0"/>
      <p:bldP spid="177155"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0674" name="Rectangle 2"/>
          <p:cNvSpPr>
            <a:spLocks noGrp="1" noRot="1" noChangeArrowheads="1"/>
          </p:cNvSpPr>
          <p:nvPr>
            <p:ph type="title"/>
          </p:nvPr>
        </p:nvSpPr>
        <p:spPr>
          <a:xfrm>
            <a:off x="304800" y="609600"/>
            <a:ext cx="8077200" cy="10668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2.4.3  </a:t>
            </a:r>
            <a:r>
              <a:rPr kumimoji="0" lang="zh-CN" altLang="en-US" sz="36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rPr>
              <a:t>信号量机制</a:t>
            </a:r>
            <a:endParaRPr kumimoji="0" lang="zh-CN" altLang="en-US" sz="36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mj-ea"/>
              <a:cs typeface="+mj-cs"/>
            </a:endParaRPr>
          </a:p>
        </p:txBody>
      </p:sp>
      <p:sp>
        <p:nvSpPr>
          <p:cNvPr id="540675" name="Rectangle 3"/>
          <p:cNvSpPr>
            <a:spLocks noGrp="1" noRot="1" noChangeArrowheads="1"/>
          </p:cNvSpPr>
          <p:nvPr>
            <p:ph type="body" idx="1"/>
          </p:nvPr>
        </p:nvSpPr>
        <p:spPr>
          <a:xfrm>
            <a:off x="533400" y="1901825"/>
            <a:ext cx="8077200" cy="4498975"/>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信号量方法能实现进程互斥与同步</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当前信号量机制已经广泛地应用于单处理机和多处理机以及计算机网络中。</a:t>
            </a:r>
            <a:endParaRPr kumimoji="0" lang="en-US" altLang="zh-CN" sz="32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0674"/>
                                        </p:tgtEl>
                                        <p:attrNameLst>
                                          <p:attrName>style.visibility</p:attrName>
                                        </p:attrNameLst>
                                      </p:cBhvr>
                                      <p:to>
                                        <p:strVal val="visible"/>
                                      </p:to>
                                    </p:set>
                                    <p:animEffect transition="in" filter="fade">
                                      <p:cBhvr>
                                        <p:cTn id="7" dur="2000"/>
                                        <p:tgtEl>
                                          <p:spTgt spid="5406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0675">
                                            <p:txEl>
                                              <p:charRg st="1" end="18"/>
                                            </p:txEl>
                                          </p:spTgt>
                                        </p:tgtEl>
                                        <p:attrNameLst>
                                          <p:attrName>style.visibility</p:attrName>
                                        </p:attrNameLst>
                                      </p:cBhvr>
                                      <p:to>
                                        <p:strVal val="visible"/>
                                      </p:to>
                                    </p:set>
                                    <p:animEffect transition="in" filter="fade">
                                      <p:cBhvr>
                                        <p:cTn id="12" dur="2000"/>
                                        <p:tgtEl>
                                          <p:spTgt spid="540675">
                                            <p:txEl>
                                              <p:charRg st="1" end="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0675">
                                            <p:txEl>
                                              <p:charRg st="18" end="52"/>
                                            </p:txEl>
                                          </p:spTgt>
                                        </p:tgtEl>
                                        <p:attrNameLst>
                                          <p:attrName>style.visibility</p:attrName>
                                        </p:attrNameLst>
                                      </p:cBhvr>
                                      <p:to>
                                        <p:strVal val="visible"/>
                                      </p:to>
                                    </p:set>
                                    <p:animEffect transition="in" filter="fade">
                                      <p:cBhvr>
                                        <p:cTn id="17" dur="2000"/>
                                        <p:tgtEl>
                                          <p:spTgt spid="540675">
                                            <p:txEl>
                                              <p:charRg st="18" end="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4" grpId="0"/>
      <p:bldP spid="540675"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374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rPr>
              <a:t>信号量实现互斥的基本原理</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43747"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两个或多个进程可以通过传递信号进行合作，可以迫使进程在某个位置暂时停止执行（阻塞等待），直到它收到一个可以</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向前推进</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的信号（被唤醒）。</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相应地，</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将实现</a:t>
            </a:r>
            <a:r>
              <a:rPr kumimoji="0" lang="zh-CN" altLang="en-US" sz="32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仿宋_GB2312" pitchFamily="49" charset="-122"/>
                <a:ea typeface="仿宋_GB2312" pitchFamily="49" charset="-122"/>
                <a:cs typeface="+mn-cs"/>
              </a:rPr>
              <a:t>信号灯</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作用的变量称为</a:t>
            </a:r>
            <a:r>
              <a:rPr kumimoji="0" lang="zh-CN" altLang="en-US" sz="32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仿宋_GB2312" pitchFamily="49" charset="-122"/>
                <a:ea typeface="仿宋_GB2312" pitchFamily="49" charset="-122"/>
                <a:cs typeface="+mn-cs"/>
              </a:rPr>
              <a:t>信号量。</a:t>
            </a:r>
            <a:endParaRPr kumimoji="0" lang="zh-CN" altLang="en-US" sz="3200" b="1" i="0" u="none" strike="noStrike" kern="0" cap="none" spc="0" normalizeH="0" baseline="0" noProof="0" dirty="0" smtClean="0">
              <a:ln>
                <a:noFill/>
              </a:ln>
              <a:solidFill>
                <a:srgbClr val="0066FF"/>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3746"/>
                                        </p:tgtEl>
                                        <p:attrNameLst>
                                          <p:attrName>style.visibility</p:attrName>
                                        </p:attrNameLst>
                                      </p:cBhvr>
                                      <p:to>
                                        <p:strVal val="visible"/>
                                      </p:to>
                                    </p:set>
                                    <p:animEffect transition="in" filter="fade">
                                      <p:cBhvr>
                                        <p:cTn id="7" dur="2000"/>
                                        <p:tgtEl>
                                          <p:spTgt spid="5437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3747">
                                            <p:txEl>
                                              <p:charRg st="0" end="69"/>
                                            </p:txEl>
                                          </p:spTgt>
                                        </p:tgtEl>
                                        <p:attrNameLst>
                                          <p:attrName>style.visibility</p:attrName>
                                        </p:attrNameLst>
                                      </p:cBhvr>
                                      <p:to>
                                        <p:strVal val="visible"/>
                                      </p:to>
                                    </p:set>
                                    <p:animEffect transition="in" filter="fade">
                                      <p:cBhvr>
                                        <p:cTn id="12" dur="2000"/>
                                        <p:tgtEl>
                                          <p:spTgt spid="543747">
                                            <p:txEl>
                                              <p:charRg st="0" end="6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3747">
                                            <p:txEl>
                                              <p:charRg st="69" end="91"/>
                                            </p:txEl>
                                          </p:spTgt>
                                        </p:tgtEl>
                                        <p:attrNameLst>
                                          <p:attrName>style.visibility</p:attrName>
                                        </p:attrNameLst>
                                      </p:cBhvr>
                                      <p:to>
                                        <p:strVal val="visible"/>
                                      </p:to>
                                    </p:set>
                                    <p:animEffect transition="in" filter="fade">
                                      <p:cBhvr>
                                        <p:cTn id="17" dur="2000"/>
                                        <p:tgtEl>
                                          <p:spTgt spid="543747">
                                            <p:txEl>
                                              <p:charRg st="69"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6" grpId="0"/>
      <p:bldP spid="543747"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193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rPr>
              <a:t>信号量的类型</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51939" name="Rectangle 3"/>
          <p:cNvSpPr>
            <a:spLocks noGrp="1" noRot="1" noChangeArrowheads="1"/>
          </p:cNvSpPr>
          <p:nvPr>
            <p:ph type="body" idx="1"/>
          </p:nvPr>
        </p:nvSpPr>
        <p:spPr>
          <a:xfrm>
            <a:off x="685800" y="1676400"/>
            <a:ext cx="7772400" cy="4953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信号量按照功能来分：互斥信号量和资源信号量。</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互斥信号量：</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用于申请或释放资源的使用权，常初始化为</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资源信号量：</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用于申请或归还资源，可以初始化为大于</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的正整数，表示系统中某类资源的可用个数。</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1938"/>
                                        </p:tgtEl>
                                        <p:attrNameLst>
                                          <p:attrName>style.visibility</p:attrName>
                                        </p:attrNameLst>
                                      </p:cBhvr>
                                      <p:to>
                                        <p:strVal val="visible"/>
                                      </p:to>
                                    </p:set>
                                    <p:animEffect transition="in" filter="fade">
                                      <p:cBhvr>
                                        <p:cTn id="7" dur="2000"/>
                                        <p:tgtEl>
                                          <p:spTgt spid="5519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1939">
                                            <p:txEl>
                                              <p:charRg st="0" end="23"/>
                                            </p:txEl>
                                          </p:spTgt>
                                        </p:tgtEl>
                                        <p:attrNameLst>
                                          <p:attrName>style.visibility</p:attrName>
                                        </p:attrNameLst>
                                      </p:cBhvr>
                                      <p:to>
                                        <p:strVal val="visible"/>
                                      </p:to>
                                    </p:set>
                                    <p:animEffect transition="in" filter="fade">
                                      <p:cBhvr>
                                        <p:cTn id="12" dur="2000"/>
                                        <p:tgtEl>
                                          <p:spTgt spid="551939">
                                            <p:txEl>
                                              <p:charRg st="0" end="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1939">
                                            <p:txEl>
                                              <p:charRg st="23" end="51"/>
                                            </p:txEl>
                                          </p:spTgt>
                                        </p:tgtEl>
                                        <p:attrNameLst>
                                          <p:attrName>style.visibility</p:attrName>
                                        </p:attrNameLst>
                                      </p:cBhvr>
                                      <p:to>
                                        <p:strVal val="visible"/>
                                      </p:to>
                                    </p:set>
                                    <p:animEffect transition="in" filter="fade">
                                      <p:cBhvr>
                                        <p:cTn id="17" dur="2000"/>
                                        <p:tgtEl>
                                          <p:spTgt spid="551939">
                                            <p:txEl>
                                              <p:charRg st="23" end="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51939">
                                            <p:txEl>
                                              <p:charRg st="51" end="97"/>
                                            </p:txEl>
                                          </p:spTgt>
                                        </p:tgtEl>
                                        <p:attrNameLst>
                                          <p:attrName>style.visibility</p:attrName>
                                        </p:attrNameLst>
                                      </p:cBhvr>
                                      <p:to>
                                        <p:strVal val="visible"/>
                                      </p:to>
                                    </p:set>
                                    <p:animEffect transition="in" filter="fade">
                                      <p:cBhvr>
                                        <p:cTn id="22" dur="2000"/>
                                        <p:tgtEl>
                                          <p:spTgt spid="551939">
                                            <p:txEl>
                                              <p:charRg st="51" end="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38" grpId="0"/>
      <p:bldP spid="551939"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369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信号量的类型</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98307" name="Rectangle 3"/>
          <p:cNvSpPr>
            <a:spLocks noGrp="1" noRot="1"/>
          </p:cNvSpPr>
          <p:nvPr>
            <p:ph idx="1"/>
          </p:nvPr>
        </p:nvSpPr>
        <p:spPr>
          <a:xfrm>
            <a:off x="301625" y="1749425"/>
            <a:ext cx="8540750" cy="4498975"/>
          </a:xfrm>
        </p:spPr>
        <p:txBody>
          <a:bodyPr vert="horz" wrap="square" lIns="91440" tIns="45720" rIns="91440" bIns="45720" anchor="t" anchorCtr="0"/>
          <a:p>
            <a:r>
              <a:rPr lang="zh-CN" altLang="en-US" b="1" dirty="0"/>
              <a:t>按照信号量机制的发展分为：</a:t>
            </a:r>
            <a:endParaRPr lang="zh-CN" altLang="en-US" b="1" dirty="0"/>
          </a:p>
          <a:p>
            <a:pPr lvl="1"/>
            <a:r>
              <a:rPr lang="zh-CN" altLang="en-US" b="1" dirty="0"/>
              <a:t>整形信号量</a:t>
            </a:r>
            <a:endParaRPr lang="zh-CN" altLang="en-US" b="1" dirty="0"/>
          </a:p>
          <a:p>
            <a:pPr lvl="1"/>
            <a:r>
              <a:rPr lang="zh-CN" altLang="en-US" b="1" dirty="0"/>
              <a:t>记录型信号量</a:t>
            </a:r>
            <a:endParaRPr lang="zh-CN" altLang="en-US" b="1" dirty="0"/>
          </a:p>
          <a:p>
            <a:pPr lvl="1"/>
            <a:r>
              <a:rPr lang="en-US" altLang="zh-CN" b="1" dirty="0"/>
              <a:t>AND</a:t>
            </a:r>
            <a:r>
              <a:rPr lang="zh-CN" altLang="en-US" b="1" dirty="0"/>
              <a:t>型信号量</a:t>
            </a:r>
            <a:endParaRPr lang="zh-CN" altLang="en-US" b="1" dirty="0"/>
          </a:p>
          <a:p>
            <a:pPr lvl="1"/>
            <a:r>
              <a:rPr lang="zh-CN" altLang="en-US" b="1" dirty="0"/>
              <a:t>信号量集</a:t>
            </a:r>
            <a:endParaRPr lang="zh-CN" altLang="en-US" b="1"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3"/>
          <p:cNvSpPr>
            <a:spLocks noGrp="1" noRot="1"/>
          </p:cNvSpPr>
          <p:nvPr>
            <p:ph idx="1"/>
          </p:nvPr>
        </p:nvSpPr>
        <p:spPr>
          <a:xfrm>
            <a:off x="457200" y="1828800"/>
            <a:ext cx="8305800" cy="4648200"/>
          </a:xfrm>
        </p:spPr>
        <p:txBody>
          <a:bodyPr vert="horz" wrap="square" lIns="91440" tIns="45720" rIns="91440" bIns="45720" anchor="t" anchorCtr="0"/>
          <a:p>
            <a:pPr>
              <a:buNone/>
            </a:pPr>
            <a:r>
              <a:rPr lang="zh-CN" altLang="en-US" b="1" dirty="0"/>
              <a:t>整型信号量 </a:t>
            </a:r>
            <a:r>
              <a:rPr lang="en-US" altLang="zh-CN" b="1" dirty="0"/>
              <a:t>:</a:t>
            </a:r>
            <a:r>
              <a:rPr lang="zh-CN" altLang="en-US" b="1" dirty="0"/>
              <a:t>定义为一个整型量 </a:t>
            </a:r>
            <a:r>
              <a:rPr lang="en-US" altLang="zh-CN" b="1" dirty="0"/>
              <a:t>,</a:t>
            </a:r>
            <a:r>
              <a:rPr lang="zh-CN" altLang="en-US" b="1" dirty="0"/>
              <a:t>仅能通过两个标准的原子操作 </a:t>
            </a:r>
            <a:r>
              <a:rPr lang="en-US" altLang="zh-CN" b="1" dirty="0"/>
              <a:t>wait</a:t>
            </a:r>
            <a:r>
              <a:rPr lang="zh-CN" altLang="en-US" b="1" dirty="0"/>
              <a:t>（</a:t>
            </a:r>
            <a:r>
              <a:rPr lang="en-US" altLang="zh-CN" b="1" dirty="0"/>
              <a:t>S</a:t>
            </a:r>
            <a:r>
              <a:rPr lang="zh-CN" altLang="en-US" b="1" dirty="0"/>
              <a:t>）和</a:t>
            </a:r>
            <a:r>
              <a:rPr lang="en-US" altLang="zh-CN" b="1" dirty="0"/>
              <a:t>signal</a:t>
            </a:r>
            <a:r>
              <a:rPr lang="zh-CN" altLang="en-US" b="1" dirty="0"/>
              <a:t>（</a:t>
            </a:r>
            <a:r>
              <a:rPr lang="en-US" altLang="zh-CN" b="1" dirty="0"/>
              <a:t>S</a:t>
            </a:r>
            <a:r>
              <a:rPr lang="zh-CN" altLang="en-US" b="1" dirty="0"/>
              <a:t>）来访问。又称为</a:t>
            </a:r>
            <a:r>
              <a:rPr lang="en-US" altLang="zh-CN" b="1" dirty="0"/>
              <a:t>P</a:t>
            </a:r>
            <a:r>
              <a:rPr lang="zh-CN" altLang="en-US" b="1" dirty="0"/>
              <a:t>、</a:t>
            </a:r>
            <a:r>
              <a:rPr lang="en-US" altLang="zh-CN" b="1" dirty="0"/>
              <a:t>V</a:t>
            </a:r>
            <a:r>
              <a:rPr lang="zh-CN" altLang="en-US" b="1" dirty="0"/>
              <a:t>操作。</a:t>
            </a:r>
            <a:endParaRPr lang="zh-CN" altLang="en-US" b="1" dirty="0"/>
          </a:p>
          <a:p>
            <a:pPr algn="just">
              <a:buNone/>
            </a:pPr>
            <a:r>
              <a:rPr lang="zh-CN" altLang="en-US" b="1" dirty="0"/>
              <a:t>        </a:t>
            </a:r>
            <a:r>
              <a:rPr lang="en-US" altLang="zh-CN" sz="2800" b="1" dirty="0"/>
              <a:t>wait</a:t>
            </a:r>
            <a:r>
              <a:rPr lang="zh-CN" altLang="en-US" sz="2800" b="1" dirty="0"/>
              <a:t>（</a:t>
            </a:r>
            <a:r>
              <a:rPr lang="en-US" altLang="zh-CN" sz="2800" b="1" dirty="0"/>
              <a:t>S</a:t>
            </a:r>
            <a:r>
              <a:rPr lang="zh-CN" altLang="en-US" sz="2800" b="1" dirty="0"/>
              <a:t>）：  </a:t>
            </a:r>
            <a:r>
              <a:rPr lang="en-US" altLang="zh-CN" sz="2800" b="1" dirty="0"/>
              <a:t>while  S</a:t>
            </a:r>
            <a:r>
              <a:rPr lang="zh-CN" altLang="en-US" sz="2800" b="1" dirty="0"/>
              <a:t>＜</a:t>
            </a:r>
            <a:r>
              <a:rPr lang="en-US" altLang="zh-CN" sz="2800" b="1" dirty="0"/>
              <a:t>=0   do  </a:t>
            </a:r>
            <a:r>
              <a:rPr lang="en-US" altLang="zh-CN" sz="2800" b="1" dirty="0">
                <a:solidFill>
                  <a:srgbClr val="0000CC"/>
                </a:solidFill>
              </a:rPr>
              <a:t>no-op</a:t>
            </a:r>
            <a:endParaRPr lang="en-US" altLang="zh-CN" sz="2800" b="1" dirty="0">
              <a:solidFill>
                <a:srgbClr val="0000CC"/>
              </a:solidFill>
            </a:endParaRPr>
          </a:p>
          <a:p>
            <a:pPr algn="just">
              <a:buNone/>
            </a:pPr>
            <a:r>
              <a:rPr lang="en-US" altLang="zh-CN" sz="2800" b="1" dirty="0"/>
              <a:t>                                S</a:t>
            </a:r>
            <a:r>
              <a:rPr lang="zh-CN" altLang="en-US" sz="2800" b="1" dirty="0"/>
              <a:t>：</a:t>
            </a:r>
            <a:r>
              <a:rPr lang="en-US" altLang="zh-CN" sz="2800" b="1" dirty="0"/>
              <a:t>=S--</a:t>
            </a:r>
            <a:r>
              <a:rPr lang="zh-CN" altLang="en-US" sz="2800" b="1" dirty="0"/>
              <a:t>；</a:t>
            </a:r>
            <a:endParaRPr lang="zh-CN" altLang="en-US" sz="2800" b="1" dirty="0"/>
          </a:p>
          <a:p>
            <a:pPr algn="just">
              <a:buNone/>
            </a:pPr>
            <a:r>
              <a:rPr lang="zh-CN" altLang="en-US" sz="2800" b="1" dirty="0"/>
              <a:t>        </a:t>
            </a:r>
            <a:r>
              <a:rPr lang="en-US" altLang="zh-CN" sz="2800" b="1" dirty="0"/>
              <a:t>signal</a:t>
            </a:r>
            <a:r>
              <a:rPr lang="zh-CN" altLang="en-US" sz="2800" b="1" dirty="0"/>
              <a:t>（</a:t>
            </a:r>
            <a:r>
              <a:rPr lang="en-US" altLang="zh-CN" sz="2800" b="1" dirty="0"/>
              <a:t>S</a:t>
            </a:r>
            <a:r>
              <a:rPr lang="zh-CN" altLang="en-US" sz="2800" b="1" dirty="0"/>
              <a:t>）： </a:t>
            </a:r>
            <a:r>
              <a:rPr lang="en-US" altLang="zh-CN" sz="2800" b="1" dirty="0"/>
              <a:t>S</a:t>
            </a:r>
            <a:r>
              <a:rPr lang="zh-CN" altLang="en-US" sz="2800" b="1" dirty="0"/>
              <a:t>：</a:t>
            </a:r>
            <a:r>
              <a:rPr lang="en-US" altLang="zh-CN" sz="2800" b="1" dirty="0"/>
              <a:t>=S++</a:t>
            </a:r>
            <a:r>
              <a:rPr lang="zh-CN" altLang="en-US" sz="2800" b="1" dirty="0"/>
              <a:t>；</a:t>
            </a:r>
            <a:r>
              <a:rPr lang="zh-CN" altLang="en-US" sz="2800" dirty="0"/>
              <a:t>  </a:t>
            </a:r>
            <a:endParaRPr lang="zh-CN" altLang="en-US" sz="2800" dirty="0"/>
          </a:p>
        </p:txBody>
      </p:sp>
      <p:sp>
        <p:nvSpPr>
          <p:cNvPr id="99331" name="AutoShape 4"/>
          <p:cNvSpPr/>
          <p:nvPr/>
        </p:nvSpPr>
        <p:spPr>
          <a:xfrm>
            <a:off x="6781800" y="4572000"/>
            <a:ext cx="1295400" cy="609600"/>
          </a:xfrm>
          <a:prstGeom prst="wedgeRoundRectCallout">
            <a:avLst>
              <a:gd name="adj1" fmla="val -6495"/>
              <a:gd name="adj2" fmla="val -137500"/>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dirty="0">
                <a:latin typeface="Times New Roman" panose="02020603050405020304" pitchFamily="18" charset="0"/>
              </a:rPr>
              <a:t>空操作</a:t>
            </a:r>
            <a:endParaRPr lang="zh-CN" altLang="en-US" sz="2400" dirty="0">
              <a:latin typeface="Times New Roman" panose="02020603050405020304" pitchFamily="18" charset="0"/>
            </a:endParaRPr>
          </a:p>
        </p:txBody>
      </p:sp>
      <p:sp>
        <p:nvSpPr>
          <p:cNvPr id="99332" name="Rectangle 5"/>
          <p:cNvSpPr>
            <a:spLocks noGrp="1" noRot="1"/>
          </p:cNvSpPr>
          <p:nvPr>
            <p:ph type="title"/>
          </p:nvPr>
        </p:nvSpPr>
        <p:spPr/>
        <p:txBody>
          <a:bodyPr vert="horz" wrap="square" lIns="91440" tIns="45720" rIns="91440" bIns="45720" anchor="ctr" anchorCtr="0"/>
          <a:p>
            <a:r>
              <a:rPr lang="en-US" altLang="zh-CN" b="1" dirty="0"/>
              <a:t>1. </a:t>
            </a:r>
            <a:r>
              <a:rPr lang="zh-CN" altLang="en-US" b="1" dirty="0"/>
              <a:t>整型信号量</a:t>
            </a:r>
            <a:endParaRPr lang="zh-CN" altLang="en-US" b="1"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noRot="1"/>
          </p:cNvSpPr>
          <p:nvPr>
            <p:ph type="title"/>
          </p:nvPr>
        </p:nvSpPr>
        <p:spPr/>
        <p:txBody>
          <a:bodyPr vert="horz" wrap="square" lIns="91440" tIns="45720" rIns="91440" bIns="45720" anchor="ctr" anchorCtr="0"/>
          <a:p>
            <a:r>
              <a:rPr lang="en-US" altLang="zh-CN" b="1" dirty="0"/>
              <a:t>2</a:t>
            </a:r>
            <a:r>
              <a:rPr lang="zh-CN" altLang="en-US" b="1" dirty="0"/>
              <a:t>．记录型信号量</a:t>
            </a:r>
            <a:r>
              <a:rPr lang="zh-CN" altLang="en-US" dirty="0"/>
              <a:t> </a:t>
            </a:r>
            <a:endParaRPr lang="zh-CN" altLang="en-US" dirty="0"/>
          </a:p>
        </p:txBody>
      </p:sp>
      <p:sp>
        <p:nvSpPr>
          <p:cNvPr id="101379" name="Rectangle 3"/>
          <p:cNvSpPr>
            <a:spLocks noGrp="1" noRot="1"/>
          </p:cNvSpPr>
          <p:nvPr>
            <p:ph idx="1"/>
          </p:nvPr>
        </p:nvSpPr>
        <p:spPr>
          <a:xfrm>
            <a:off x="152400" y="1600200"/>
            <a:ext cx="8839200" cy="4724400"/>
          </a:xfrm>
        </p:spPr>
        <p:txBody>
          <a:bodyPr vert="horz" wrap="square" lIns="91440" tIns="45720" rIns="91440" bIns="45720" anchor="t" anchorCtr="0"/>
          <a:p>
            <a:r>
              <a:rPr lang="zh-CN" altLang="en-US" sz="2800" b="1" dirty="0"/>
              <a:t>记录型信号量机制，则是一种</a:t>
            </a:r>
            <a:r>
              <a:rPr lang="zh-CN" altLang="en-US" sz="2800" b="1" dirty="0">
                <a:solidFill>
                  <a:srgbClr val="FF0000"/>
                </a:solidFill>
              </a:rPr>
              <a:t>不存在</a:t>
            </a:r>
            <a:r>
              <a:rPr lang="zh-CN" altLang="en-US" sz="2800" b="1" dirty="0">
                <a:solidFill>
                  <a:srgbClr val="FF0000"/>
                </a:solidFill>
                <a:latin typeface="Courier New" panose="02070309020205020404" pitchFamily="49" charset="0"/>
              </a:rPr>
              <a:t>“</a:t>
            </a:r>
            <a:r>
              <a:rPr lang="zh-CN" altLang="en-US" sz="2800" b="1" dirty="0">
                <a:solidFill>
                  <a:srgbClr val="FF0000"/>
                </a:solidFill>
              </a:rPr>
              <a:t>忙等</a:t>
            </a:r>
            <a:r>
              <a:rPr lang="zh-CN" altLang="en-US" sz="2800" b="1" dirty="0">
                <a:solidFill>
                  <a:srgbClr val="FF0000"/>
                </a:solidFill>
                <a:latin typeface="Courier New" panose="02070309020205020404" pitchFamily="49" charset="0"/>
              </a:rPr>
              <a:t>”</a:t>
            </a:r>
            <a:r>
              <a:rPr lang="zh-CN" altLang="en-US" sz="2800" b="1" dirty="0">
                <a:solidFill>
                  <a:srgbClr val="FF0000"/>
                </a:solidFill>
              </a:rPr>
              <a:t>现象</a:t>
            </a:r>
            <a:r>
              <a:rPr lang="zh-CN" altLang="en-US" sz="2800" b="1" dirty="0"/>
              <a:t>的进程同步机制。</a:t>
            </a:r>
            <a:endParaRPr lang="zh-CN" altLang="en-US" sz="2800" b="1" dirty="0"/>
          </a:p>
          <a:p>
            <a:r>
              <a:rPr lang="zh-CN" altLang="en-US" sz="2800" b="1" dirty="0"/>
              <a:t>记录型信号量的数据结构</a:t>
            </a:r>
            <a:r>
              <a:rPr lang="en-US" altLang="zh-CN" sz="2800" b="1" dirty="0"/>
              <a:t>:</a:t>
            </a:r>
            <a:endParaRPr lang="en-US" altLang="zh-CN" sz="2800" b="1" dirty="0"/>
          </a:p>
          <a:p>
            <a:pPr algn="just">
              <a:buNone/>
            </a:pPr>
            <a:r>
              <a:rPr lang="en-US" altLang="zh-CN" sz="2800" b="1" dirty="0"/>
              <a:t>  typedef struc</a:t>
            </a:r>
            <a:r>
              <a:rPr lang="en-US" altLang="zh-CN" sz="2800" b="1" dirty="0"/>
              <a:t>t {</a:t>
            </a:r>
            <a:r>
              <a:rPr lang="en-US" altLang="zh-CN" sz="2800" b="1" dirty="0">
                <a:solidFill>
                  <a:srgbClr val="FF0000"/>
                </a:solidFill>
              </a:rPr>
              <a:t> </a:t>
            </a:r>
            <a:endParaRPr lang="en-US" altLang="zh-CN" sz="2800" b="1" dirty="0">
              <a:solidFill>
                <a:srgbClr val="FF0000"/>
              </a:solidFill>
            </a:endParaRPr>
          </a:p>
          <a:p>
            <a:pPr algn="just">
              <a:buNone/>
            </a:pPr>
            <a:r>
              <a:rPr lang="en-US" altLang="zh-CN" sz="2800" b="1" dirty="0"/>
              <a:t>  int value</a:t>
            </a:r>
            <a:r>
              <a:rPr lang="zh-CN" altLang="en-US" sz="2800" b="1" dirty="0"/>
              <a:t>；</a:t>
            </a:r>
            <a:r>
              <a:rPr lang="zh-CN" altLang="en-US" sz="2400" b="1" dirty="0"/>
              <a:t> </a:t>
            </a:r>
            <a:r>
              <a:rPr lang="en-US" altLang="zh-CN" sz="2400" b="1" dirty="0">
                <a:solidFill>
                  <a:srgbClr val="FF0000"/>
                </a:solidFill>
              </a:rPr>
              <a:t>// value</a:t>
            </a:r>
            <a:r>
              <a:rPr lang="zh-CN" altLang="en-US" sz="2400" b="1" dirty="0">
                <a:solidFill>
                  <a:srgbClr val="FF0000"/>
                </a:solidFill>
              </a:rPr>
              <a:t>的初值表示系统中某类资源的数目， </a:t>
            </a:r>
            <a:r>
              <a:rPr lang="en-US" altLang="zh-CN" sz="2400" b="1" dirty="0">
                <a:solidFill>
                  <a:srgbClr val="FF0000"/>
                </a:solidFill>
              </a:rPr>
              <a:t>value</a:t>
            </a:r>
            <a:r>
              <a:rPr lang="zh-CN" altLang="en-US" sz="2400" b="1" dirty="0">
                <a:solidFill>
                  <a:srgbClr val="FF0000"/>
                </a:solidFill>
              </a:rPr>
              <a:t>的初始值</a:t>
            </a:r>
            <a:r>
              <a:rPr lang="en-US" altLang="zh-CN" sz="2400" b="1" dirty="0">
                <a:solidFill>
                  <a:srgbClr val="FF0000"/>
                </a:solidFill>
              </a:rPr>
              <a:t>&gt;1</a:t>
            </a:r>
            <a:r>
              <a:rPr lang="zh-CN" altLang="en-US" sz="2400" b="1" dirty="0">
                <a:solidFill>
                  <a:srgbClr val="FF0000"/>
                </a:solidFill>
              </a:rPr>
              <a:t>时，称为资源信号量， </a:t>
            </a:r>
            <a:r>
              <a:rPr lang="en-US" altLang="zh-CN" sz="2400" b="1" dirty="0">
                <a:solidFill>
                  <a:srgbClr val="FF0000"/>
                </a:solidFill>
              </a:rPr>
              <a:t>value</a:t>
            </a:r>
            <a:r>
              <a:rPr lang="zh-CN" altLang="en-US" sz="2400" b="1" dirty="0">
                <a:solidFill>
                  <a:srgbClr val="FF0000"/>
                </a:solidFill>
              </a:rPr>
              <a:t>的初始值</a:t>
            </a:r>
            <a:r>
              <a:rPr lang="en-US" altLang="zh-CN" sz="2400" b="1" dirty="0">
                <a:solidFill>
                  <a:srgbClr val="FF0000"/>
                </a:solidFill>
              </a:rPr>
              <a:t>=1</a:t>
            </a:r>
            <a:r>
              <a:rPr lang="zh-CN" altLang="en-US" sz="2400" b="1" dirty="0">
                <a:solidFill>
                  <a:srgbClr val="FF0000"/>
                </a:solidFill>
              </a:rPr>
              <a:t>时，称为互斥信号量</a:t>
            </a:r>
            <a:endParaRPr lang="zh-CN" altLang="en-US" sz="2400" b="1" dirty="0">
              <a:solidFill>
                <a:srgbClr val="FF0000"/>
              </a:solidFill>
            </a:endParaRPr>
          </a:p>
          <a:p>
            <a:pPr algn="just">
              <a:buNone/>
            </a:pPr>
            <a:r>
              <a:rPr lang="zh-CN" altLang="en-US" sz="2800" b="1" dirty="0"/>
              <a:t>      </a:t>
            </a:r>
            <a:r>
              <a:rPr lang="en-US" altLang="zh-CN" sz="2800" b="1" dirty="0"/>
              <a:t>struct process_control_block *list</a:t>
            </a:r>
            <a:r>
              <a:rPr lang="zh-CN" altLang="en-US" sz="2800" b="1" dirty="0"/>
              <a:t>；</a:t>
            </a:r>
            <a:r>
              <a:rPr lang="en-US" altLang="zh-CN" sz="2800" b="1" dirty="0"/>
              <a:t>//</a:t>
            </a:r>
            <a:r>
              <a:rPr lang="zh-CN" altLang="en-US" sz="2800" b="1" dirty="0"/>
              <a:t>信号量的阻塞队列</a:t>
            </a:r>
            <a:endParaRPr lang="zh-CN" altLang="en-US" sz="2800" b="1" dirty="0"/>
          </a:p>
          <a:p>
            <a:pPr algn="just">
              <a:buNone/>
            </a:pPr>
            <a:r>
              <a:rPr lang="en-US" altLang="zh-CN" sz="2800" b="1" dirty="0"/>
              <a:t>} semaphore;</a:t>
            </a:r>
            <a:endParaRPr lang="en-US" altLang="zh-CN" sz="2800" b="1"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477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rPr>
              <a:t>定义对信号量的两个原子操作</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
        <p:nvSpPr>
          <p:cNvPr id="54477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wait(semaphore *s) </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signal(semaphore *s)</a:t>
            </a:r>
            <a:endPar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wait</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操作用于申请资源（或使用权），进程执行</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wait</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原语时，</a:t>
            </a:r>
            <a:r>
              <a:rPr kumimoji="0" lang="zh-CN" altLang="en-US" sz="2800" b="1" i="1"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rPr>
              <a:t>可能会阻塞自己</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signal</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操作用于释放资源（或归还资源使用权），进程执行</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signal</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原语时，有</a:t>
            </a:r>
            <a:r>
              <a:rPr kumimoji="0" lang="zh-CN" altLang="en-US" sz="2800" b="1" i="1"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rPr>
              <a:t>责任唤醒一个阻塞进程</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a:t>
            </a:r>
            <a:r>
              <a:rPr kumimoji="0" lang="zh-CN" altLang="en-US" sz="2800" b="0" i="0" u="none" strike="noStrike" kern="0" cap="none" spc="0" normalizeH="0" baseline="0" noProof="0" dirty="0" smtClean="0">
                <a:ln>
                  <a:noFill/>
                </a:ln>
                <a:solidFill>
                  <a:schemeClr val="tx1"/>
                </a:solidFill>
                <a:effectLst/>
                <a:uLnTx/>
                <a:uFillTx/>
                <a:latin typeface="+mn-lt"/>
                <a:ea typeface="+mn-ea"/>
              </a:rPr>
              <a:t> </a:t>
            </a:r>
            <a:endParaRPr kumimoji="0" lang="zh-CN" altLang="en-US" sz="2800" b="0" i="0" u="none" strike="noStrike" kern="0" cap="none" spc="0" normalizeH="0" baseline="0" noProof="0" dirty="0" smtClean="0">
              <a:ln>
                <a:noFill/>
              </a:ln>
              <a:solidFill>
                <a:schemeClr val="tx1"/>
              </a:solidFill>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早期这两个原语被称作</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P(s)</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V(s)</a:t>
            </a:r>
            <a:endPar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4770"/>
                                        </p:tgtEl>
                                        <p:attrNameLst>
                                          <p:attrName>style.visibility</p:attrName>
                                        </p:attrNameLst>
                                      </p:cBhvr>
                                      <p:to>
                                        <p:strVal val="visible"/>
                                      </p:to>
                                    </p:set>
                                    <p:animEffect transition="in" filter="fade">
                                      <p:cBhvr>
                                        <p:cTn id="7" dur="2000"/>
                                        <p:tgtEl>
                                          <p:spTgt spid="5447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4771">
                                            <p:txEl>
                                              <p:charRg st="0" end="41"/>
                                            </p:txEl>
                                          </p:spTgt>
                                        </p:tgtEl>
                                        <p:attrNameLst>
                                          <p:attrName>style.visibility</p:attrName>
                                        </p:attrNameLst>
                                      </p:cBhvr>
                                      <p:to>
                                        <p:strVal val="visible"/>
                                      </p:to>
                                    </p:set>
                                    <p:animEffect transition="in" filter="fade">
                                      <p:cBhvr>
                                        <p:cTn id="12" dur="2000"/>
                                        <p:tgtEl>
                                          <p:spTgt spid="544771">
                                            <p:txEl>
                                              <p:charRg st="0" end="4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44771">
                                            <p:txEl>
                                              <p:charRg st="41" end="81"/>
                                            </p:txEl>
                                          </p:spTgt>
                                        </p:tgtEl>
                                        <p:attrNameLst>
                                          <p:attrName>style.visibility</p:attrName>
                                        </p:attrNameLst>
                                      </p:cBhvr>
                                      <p:to>
                                        <p:strVal val="visible"/>
                                      </p:to>
                                    </p:set>
                                    <p:animEffect transition="in" filter="fade">
                                      <p:cBhvr>
                                        <p:cTn id="15" dur="2000"/>
                                        <p:tgtEl>
                                          <p:spTgt spid="544771">
                                            <p:txEl>
                                              <p:charRg st="41" end="8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44771">
                                            <p:txEl>
                                              <p:charRg st="81" end="134"/>
                                            </p:txEl>
                                          </p:spTgt>
                                        </p:tgtEl>
                                        <p:attrNameLst>
                                          <p:attrName>style.visibility</p:attrName>
                                        </p:attrNameLst>
                                      </p:cBhvr>
                                      <p:to>
                                        <p:strVal val="visible"/>
                                      </p:to>
                                    </p:set>
                                    <p:animEffect transition="in" filter="fade">
                                      <p:cBhvr>
                                        <p:cTn id="18" dur="2000"/>
                                        <p:tgtEl>
                                          <p:spTgt spid="544771">
                                            <p:txEl>
                                              <p:charRg st="81" end="13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44771">
                                            <p:txEl>
                                              <p:charRg st="135" end="155"/>
                                            </p:txEl>
                                          </p:spTgt>
                                        </p:tgtEl>
                                        <p:attrNameLst>
                                          <p:attrName>style.visibility</p:attrName>
                                        </p:attrNameLst>
                                      </p:cBhvr>
                                      <p:to>
                                        <p:strVal val="visible"/>
                                      </p:to>
                                    </p:set>
                                    <p:animEffect transition="in" filter="fade">
                                      <p:cBhvr>
                                        <p:cTn id="23" dur="2000"/>
                                        <p:tgtEl>
                                          <p:spTgt spid="544771">
                                            <p:txEl>
                                              <p:charRg st="135" end="15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770" grpId="0"/>
      <p:bldP spid="544771"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579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仿宋_GB2312" pitchFamily="49" charset="-122"/>
                <a:cs typeface="+mj-cs"/>
              </a:rPr>
              <a:t>Wait</a:t>
            </a:r>
            <a:r>
              <a:rPr kumimoji="0" lang="zh-CN" altLang="en-US" sz="4400" b="1" i="0" u="sng"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仿宋_GB2312" pitchFamily="49" charset="-122"/>
                <a:cs typeface="+mj-cs"/>
              </a:rPr>
              <a:t>、</a:t>
            </a:r>
            <a:r>
              <a:rPr kumimoji="0" lang="en-US" altLang="zh-CN" sz="4400" b="1" i="0" u="sng"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仿宋_GB2312" pitchFamily="49" charset="-122"/>
                <a:cs typeface="+mj-cs"/>
              </a:rPr>
              <a:t>signal</a:t>
            </a:r>
            <a:endParaRPr kumimoji="0" lang="en-US" altLang="zh-CN" sz="4400" b="1" i="0" u="sng"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45795" name="Rectangle 3"/>
          <p:cNvSpPr>
            <a:spLocks noGrp="1" noRot="1" noChangeArrowheads="1"/>
          </p:cNvSpPr>
          <p:nvPr>
            <p:ph type="body" idx="1"/>
          </p:nvPr>
        </p:nvSpPr>
        <p:spPr>
          <a:xfrm>
            <a:off x="152400" y="1527175"/>
            <a:ext cx="8763000" cy="4568825"/>
          </a:xfrm>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wait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semaphore *</a:t>
            </a:r>
            <a:r>
              <a:rPr kumimoji="0"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S  </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S-&gt;value--;</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if (S-&gt; value</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0) block</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S-&gt;list</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800" b="1" i="0" u="none" strike="noStrike" kern="0" cap="none" spc="0" normalizeH="0" baseline="0" noProof="0" dirty="0" smtClean="0">
                <a:ln>
                  <a:noFill/>
                </a:ln>
                <a:solidFill>
                  <a:srgbClr val="FF0000"/>
                </a:solidFill>
                <a:effectLst/>
                <a:uLnTx/>
                <a:uFillTx/>
                <a:latin typeface="+mn-lt"/>
                <a:ea typeface="+mn-ea"/>
                <a:cs typeface="+mn-cs"/>
              </a:rPr>
              <a:t>//</a:t>
            </a:r>
            <a:r>
              <a:rPr kumimoji="0" lang="zh-CN" altLang="en-US" sz="2800" b="1" i="0" u="none" strike="noStrike" kern="0" cap="none" spc="0" normalizeH="0" baseline="0" noProof="0" dirty="0" smtClean="0">
                <a:ln>
                  <a:noFill/>
                </a:ln>
                <a:solidFill>
                  <a:srgbClr val="FF0000"/>
                </a:solidFill>
                <a:effectLst/>
                <a:uLnTx/>
                <a:uFillTx/>
                <a:latin typeface="+mn-lt"/>
                <a:ea typeface="+mn-ea"/>
                <a:cs typeface="+mn-cs"/>
              </a:rPr>
              <a:t>该</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进程阻塞</a:t>
            </a:r>
            <a:r>
              <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 </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进入</a:t>
            </a:r>
            <a:r>
              <a:rPr kumimoji="0" lang="en-US" altLang="zh-CN" sz="2800" b="1" i="0" u="none" strike="noStrike" kern="0" cap="none" spc="0" normalizeH="0" baseline="0" noProof="0" dirty="0" err="1"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s.list</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队列，“让权等待”；</a:t>
            </a:r>
            <a:endParaRPr kumimoji="0" lang="en-US" altLang="zh-CN" sz="2800" b="1"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       }</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signal(semaphore </a:t>
            </a:r>
            <a:r>
              <a:rPr kumimoji="0" lang="en-US" altLang="zh-CN" sz="2800" b="1" i="0" u="none" strike="noStrike" kern="0" cap="none" spc="0" normalizeH="0" baseline="0" noProof="0" dirty="0">
                <a:ln>
                  <a:noFill/>
                </a:ln>
                <a:solidFill>
                  <a:schemeClr val="tx1"/>
                </a:solidFill>
                <a:effectLst/>
                <a:uLnTx/>
                <a:uFillTx/>
                <a:latin typeface="+mn-lt"/>
                <a:ea typeface="+mn-ea"/>
                <a:cs typeface="+mn-cs"/>
              </a:rPr>
              <a:t>* S) {</a:t>
            </a:r>
            <a:endParaRPr kumimoji="0"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S-&gt; value++;</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value</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仿宋_GB2312" pitchFamily="49" charset="-122"/>
                <a:cs typeface="+mn-cs"/>
              </a:rPr>
              <a:t>的绝对值表示已阻塞的进程的数目。</a:t>
            </a:r>
            <a:endPar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If(S-&gt;value &lt;=0) wakeup(S-&gt;list</a:t>
            </a:r>
            <a:r>
              <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 // </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唤醒队首进程，并从队列中移出。</a:t>
            </a:r>
            <a:endParaRPr kumimoji="0" lang="en-US" altLang="zh-CN"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0" fontAlgn="base" latinLnBrk="0" hangingPunct="0">
              <a:lnSpc>
                <a:spcPct val="90000"/>
              </a:lnSpc>
              <a:spcBef>
                <a:spcPct val="20000"/>
              </a:spcBef>
              <a:spcAft>
                <a:spcPct val="0"/>
              </a:spcAft>
              <a:buClr>
                <a:schemeClr val="folHlink"/>
              </a:buClr>
              <a:buSzPct val="85000"/>
              <a:buFont typeface="Wingdings 2" panose="05020102010507070707" pitchFamily="18" charset="2"/>
              <a:buNone/>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5794"/>
                                        </p:tgtEl>
                                        <p:attrNameLst>
                                          <p:attrName>style.visibility</p:attrName>
                                        </p:attrNameLst>
                                      </p:cBhvr>
                                      <p:to>
                                        <p:strVal val="visible"/>
                                      </p:to>
                                    </p:set>
                                    <p:animEffect transition="in" filter="fade">
                                      <p:cBhvr>
                                        <p:cTn id="7" dur="2000"/>
                                        <p:tgtEl>
                                          <p:spTgt spid="5457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5795">
                                            <p:txEl>
                                              <p:charRg st="0" end="25"/>
                                            </p:txEl>
                                          </p:spTgt>
                                        </p:tgtEl>
                                        <p:attrNameLst>
                                          <p:attrName>style.visibility</p:attrName>
                                        </p:attrNameLst>
                                      </p:cBhvr>
                                      <p:to>
                                        <p:strVal val="visible"/>
                                      </p:to>
                                    </p:set>
                                    <p:animEffect transition="in" filter="fade">
                                      <p:cBhvr>
                                        <p:cTn id="12" dur="2000"/>
                                        <p:tgtEl>
                                          <p:spTgt spid="545795">
                                            <p:txEl>
                                              <p:charRg st="0"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5795">
                                            <p:txEl>
                                              <p:charRg st="25" end="42"/>
                                            </p:txEl>
                                          </p:spTgt>
                                        </p:tgtEl>
                                        <p:attrNameLst>
                                          <p:attrName>style.visibility</p:attrName>
                                        </p:attrNameLst>
                                      </p:cBhvr>
                                      <p:to>
                                        <p:strVal val="visible"/>
                                      </p:to>
                                    </p:set>
                                    <p:animEffect transition="in" filter="fade">
                                      <p:cBhvr>
                                        <p:cTn id="17" dur="2000"/>
                                        <p:tgtEl>
                                          <p:spTgt spid="545795">
                                            <p:txEl>
                                              <p:charRg st="25"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45795">
                                            <p:txEl>
                                              <p:charRg st="42" end="114"/>
                                            </p:txEl>
                                          </p:spTgt>
                                        </p:tgtEl>
                                        <p:attrNameLst>
                                          <p:attrName>style.visibility</p:attrName>
                                        </p:attrNameLst>
                                      </p:cBhvr>
                                      <p:to>
                                        <p:strVal val="visible"/>
                                      </p:to>
                                    </p:set>
                                    <p:animEffect transition="in" filter="fade">
                                      <p:cBhvr>
                                        <p:cTn id="22" dur="2000"/>
                                        <p:tgtEl>
                                          <p:spTgt spid="545795">
                                            <p:txEl>
                                              <p:charRg st="42" end="11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45795">
                                            <p:txEl>
                                              <p:charRg st="114" end="123"/>
                                            </p:txEl>
                                          </p:spTgt>
                                        </p:tgtEl>
                                        <p:attrNameLst>
                                          <p:attrName>style.visibility</p:attrName>
                                        </p:attrNameLst>
                                      </p:cBhvr>
                                      <p:to>
                                        <p:strVal val="visible"/>
                                      </p:to>
                                    </p:set>
                                    <p:animEffect transition="in" filter="fade">
                                      <p:cBhvr>
                                        <p:cTn id="27" dur="2000"/>
                                        <p:tgtEl>
                                          <p:spTgt spid="545795">
                                            <p:txEl>
                                              <p:charRg st="114" end="12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45795">
                                            <p:txEl>
                                              <p:charRg st="124" end="148"/>
                                            </p:txEl>
                                          </p:spTgt>
                                        </p:tgtEl>
                                        <p:attrNameLst>
                                          <p:attrName>style.visibility</p:attrName>
                                        </p:attrNameLst>
                                      </p:cBhvr>
                                      <p:to>
                                        <p:strVal val="visible"/>
                                      </p:to>
                                    </p:set>
                                    <p:animEffect transition="in" filter="fade">
                                      <p:cBhvr>
                                        <p:cTn id="32" dur="2000"/>
                                        <p:tgtEl>
                                          <p:spTgt spid="545795">
                                            <p:txEl>
                                              <p:charRg st="124" end="14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45795">
                                            <p:txEl>
                                              <p:charRg st="148" end="190"/>
                                            </p:txEl>
                                          </p:spTgt>
                                        </p:tgtEl>
                                        <p:attrNameLst>
                                          <p:attrName>style.visibility</p:attrName>
                                        </p:attrNameLst>
                                      </p:cBhvr>
                                      <p:to>
                                        <p:strVal val="visible"/>
                                      </p:to>
                                    </p:set>
                                    <p:animEffect transition="in" filter="fade">
                                      <p:cBhvr>
                                        <p:cTn id="37" dur="2000"/>
                                        <p:tgtEl>
                                          <p:spTgt spid="545795">
                                            <p:txEl>
                                              <p:charRg st="148" end="19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45795">
                                            <p:txEl>
                                              <p:charRg st="190" end="253"/>
                                            </p:txEl>
                                          </p:spTgt>
                                        </p:tgtEl>
                                        <p:attrNameLst>
                                          <p:attrName>style.visibility</p:attrName>
                                        </p:attrNameLst>
                                      </p:cBhvr>
                                      <p:to>
                                        <p:strVal val="visible"/>
                                      </p:to>
                                    </p:set>
                                    <p:animEffect transition="in" filter="fade">
                                      <p:cBhvr>
                                        <p:cTn id="42" dur="2000"/>
                                        <p:tgtEl>
                                          <p:spTgt spid="545795">
                                            <p:txEl>
                                              <p:charRg st="190" end="25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45795">
                                            <p:txEl>
                                              <p:charRg st="253" end="255"/>
                                            </p:txEl>
                                          </p:spTgt>
                                        </p:tgtEl>
                                        <p:attrNameLst>
                                          <p:attrName>style.visibility</p:attrName>
                                        </p:attrNameLst>
                                      </p:cBhvr>
                                      <p:to>
                                        <p:strVal val="visible"/>
                                      </p:to>
                                    </p:set>
                                    <p:animEffect transition="in" filter="fade">
                                      <p:cBhvr>
                                        <p:cTn id="47" dur="2000"/>
                                        <p:tgtEl>
                                          <p:spTgt spid="545795">
                                            <p:txEl>
                                              <p:charRg st="253" end="25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545795">
                                            <p:txEl>
                                              <p:charRg st="0" end="25"/>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545795">
                                            <p:txEl>
                                              <p:charRg st="25" end="42"/>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545795">
                                            <p:txEl>
                                              <p:charRg st="42" end="114"/>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45795">
                                            <p:txEl>
                                              <p:charRg st="114" end="1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4" grpId="0"/>
      <p:bldP spid="545795"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62" name="Rectangle 2"/>
          <p:cNvSpPr>
            <a:spLocks noGrp="1" noRot="1" noChangeArrowheads="1"/>
          </p:cNvSpPr>
          <p:nvPr>
            <p:ph type="title"/>
          </p:nvPr>
        </p:nvSpPr>
        <p:spPr>
          <a:xfrm>
            <a:off x="685800" y="381000"/>
            <a:ext cx="7772400"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rPr>
              <a:t>信号量的物理意义</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52963" name="Rectangle 3"/>
          <p:cNvSpPr>
            <a:spLocks noGrp="1" noRot="1" noChangeArrowheads="1"/>
          </p:cNvSpPr>
          <p:nvPr>
            <p:ph type="body" idx="1"/>
          </p:nvPr>
        </p:nvSpPr>
        <p:spPr>
          <a:xfrm>
            <a:off x="304800" y="1752600"/>
            <a:ext cx="8610600" cy="472440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rPr>
              <a:t>S-&gt; value</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 ≥ 0</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，表示还可执行</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wait(s)</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而不会阻塞的进程数（可用资源数）。</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每执行一次</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wait(s)</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操作，就意味着请求分配一个单位的资源</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rPr>
              <a:t>S-&gt; value </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&lt; 0</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，表示已无资源可用，因此请求该资源的进程被阻塞。</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此时，</a:t>
            </a:r>
            <a:r>
              <a:rPr kumimoji="0" lang="en-US" altLang="zh-CN" sz="2800" b="1" i="0" u="none" strike="noStrike" kern="0" cap="none" spc="0" normalizeH="0" baseline="0" noProof="0" dirty="0">
                <a:ln>
                  <a:noFill/>
                </a:ln>
                <a:solidFill>
                  <a:schemeClr val="tx1"/>
                </a:solidFill>
                <a:effectLst/>
                <a:uLnTx/>
                <a:uFillTx/>
                <a:latin typeface="+mn-lt"/>
                <a:ea typeface="+mn-ea"/>
              </a:rPr>
              <a:t> S-&gt; value</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rPr>
              <a:t>的绝对值等于该信号量阻塞队列中的等待进程数。</a:t>
            </a:r>
            <a:endPar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9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执行一次</a:t>
            </a:r>
            <a:r>
              <a:rPr kumimoji="0" lang="en-US" altLang="zh-CN"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signal</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rPr>
              <a:t>操作，就意味着释放一个单位的资源。</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2962"/>
                                        </p:tgtEl>
                                        <p:attrNameLst>
                                          <p:attrName>style.visibility</p:attrName>
                                        </p:attrNameLst>
                                      </p:cBhvr>
                                      <p:to>
                                        <p:strVal val="visible"/>
                                      </p:to>
                                    </p:set>
                                    <p:animEffect transition="in" filter="fade">
                                      <p:cBhvr>
                                        <p:cTn id="7" dur="2000"/>
                                        <p:tgtEl>
                                          <p:spTgt spid="5529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2963">
                                            <p:txEl>
                                              <p:charRg st="0" end="47"/>
                                            </p:txEl>
                                          </p:spTgt>
                                        </p:tgtEl>
                                        <p:attrNameLst>
                                          <p:attrName>style.visibility</p:attrName>
                                        </p:attrNameLst>
                                      </p:cBhvr>
                                      <p:to>
                                        <p:strVal val="visible"/>
                                      </p:to>
                                    </p:set>
                                    <p:animEffect transition="in" filter="fade">
                                      <p:cBhvr>
                                        <p:cTn id="12" dur="2000"/>
                                        <p:tgtEl>
                                          <p:spTgt spid="552963">
                                            <p:txEl>
                                              <p:charRg st="0" end="47"/>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52963">
                                            <p:txEl>
                                              <p:charRg st="47" end="78"/>
                                            </p:txEl>
                                          </p:spTgt>
                                        </p:tgtEl>
                                        <p:attrNameLst>
                                          <p:attrName>style.visibility</p:attrName>
                                        </p:attrNameLst>
                                      </p:cBhvr>
                                      <p:to>
                                        <p:strVal val="visible"/>
                                      </p:to>
                                    </p:set>
                                    <p:animEffect transition="in" filter="fade">
                                      <p:cBhvr>
                                        <p:cTn id="15" dur="2000"/>
                                        <p:tgtEl>
                                          <p:spTgt spid="552963">
                                            <p:txEl>
                                              <p:charRg st="47" end="7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52963">
                                            <p:txEl>
                                              <p:charRg st="78" end="118"/>
                                            </p:txEl>
                                          </p:spTgt>
                                        </p:tgtEl>
                                        <p:attrNameLst>
                                          <p:attrName>style.visibility</p:attrName>
                                        </p:attrNameLst>
                                      </p:cBhvr>
                                      <p:to>
                                        <p:strVal val="visible"/>
                                      </p:to>
                                    </p:set>
                                    <p:animEffect transition="in" filter="fade">
                                      <p:cBhvr>
                                        <p:cTn id="20" dur="2000"/>
                                        <p:tgtEl>
                                          <p:spTgt spid="552963">
                                            <p:txEl>
                                              <p:charRg st="78" end="118"/>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52963">
                                            <p:txEl>
                                              <p:charRg st="118" end="154"/>
                                            </p:txEl>
                                          </p:spTgt>
                                        </p:tgtEl>
                                        <p:attrNameLst>
                                          <p:attrName>style.visibility</p:attrName>
                                        </p:attrNameLst>
                                      </p:cBhvr>
                                      <p:to>
                                        <p:strVal val="visible"/>
                                      </p:to>
                                    </p:set>
                                    <p:animEffect transition="in" filter="fade">
                                      <p:cBhvr>
                                        <p:cTn id="23" dur="2000"/>
                                        <p:tgtEl>
                                          <p:spTgt spid="552963">
                                            <p:txEl>
                                              <p:charRg st="118" end="15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52963">
                                            <p:txEl>
                                              <p:charRg st="154" end="182"/>
                                            </p:txEl>
                                          </p:spTgt>
                                        </p:tgtEl>
                                        <p:attrNameLst>
                                          <p:attrName>style.visibility</p:attrName>
                                        </p:attrNameLst>
                                      </p:cBhvr>
                                      <p:to>
                                        <p:strVal val="visible"/>
                                      </p:to>
                                    </p:set>
                                    <p:animEffect transition="in" filter="fade">
                                      <p:cBhvr>
                                        <p:cTn id="26" dur="2000"/>
                                        <p:tgtEl>
                                          <p:spTgt spid="552963">
                                            <p:txEl>
                                              <p:charRg st="154" end="1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2" grpId="0"/>
      <p:bldP spid="55296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705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rPr>
              <a:t>信号量的物理意义</a:t>
            </a:r>
            <a:endParaRPr kumimoji="0" lang="zh-CN" altLang="en-US" sz="4400" b="1" i="0" u="sng" strike="noStrike" kern="0" cap="none" spc="0" normalizeH="0" baseline="0" noProof="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57059" name="Rectangle 3"/>
          <p:cNvSpPr>
            <a:spLocks noGrp="1" noRot="1" noChangeArrowheads="1"/>
          </p:cNvSpPr>
          <p:nvPr>
            <p:ph type="body" idx="1"/>
          </p:nvPr>
        </p:nvSpPr>
        <p:spPr>
          <a:xfrm>
            <a:off x="301625" y="1984375"/>
            <a:ext cx="854075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rPr>
              <a:t>S-&gt; value</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 &lt;  0</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s-&gt;list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队列中还有被阻塞的进程， </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signal(s)</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原语需要唤醒该队列中的第一个进程，将它转移到就绪队列中。</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7058"/>
                                        </p:tgtEl>
                                        <p:attrNameLst>
                                          <p:attrName>style.visibility</p:attrName>
                                        </p:attrNameLst>
                                      </p:cBhvr>
                                      <p:to>
                                        <p:strVal val="visible"/>
                                      </p:to>
                                    </p:set>
                                    <p:animEffect transition="in" filter="fade">
                                      <p:cBhvr>
                                        <p:cTn id="7" dur="2000"/>
                                        <p:tgtEl>
                                          <p:spTgt spid="5570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7059">
                                            <p:txEl>
                                              <p:charRg st="0" end="76"/>
                                            </p:txEl>
                                          </p:spTgt>
                                        </p:tgtEl>
                                        <p:attrNameLst>
                                          <p:attrName>style.visibility</p:attrName>
                                        </p:attrNameLst>
                                      </p:cBhvr>
                                      <p:to>
                                        <p:strVal val="visible"/>
                                      </p:to>
                                    </p:set>
                                    <p:animEffect transition="in" filter="fade">
                                      <p:cBhvr>
                                        <p:cTn id="12" dur="2000"/>
                                        <p:tgtEl>
                                          <p:spTgt spid="557059">
                                            <p:txEl>
                                              <p:charRg st="0"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8" grpId="0"/>
      <p:bldP spid="557059"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398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a:ln>
                  <a:noFill/>
                </a:ln>
                <a:solidFill>
                  <a:schemeClr val="tx2"/>
                </a:solidFill>
                <a:effectLst/>
                <a:uLnTx/>
                <a:uFillTx/>
                <a:latin typeface="+mj-lt"/>
                <a:ea typeface="+mj-ea"/>
                <a:cs typeface="+mj-cs"/>
              </a:rPr>
              <a:t>S-&gt; value</a:t>
            </a:r>
            <a:r>
              <a:rPr kumimoji="0" lang="zh-CN" altLang="en-US" sz="4400" b="1" i="0" u="sng" strike="noStrike" kern="0" cap="none" spc="0" normalizeH="0" baseline="0" noProof="0" dirty="0" smtClean="0">
                <a:ln>
                  <a:noFill/>
                </a:ln>
                <a:solidFill>
                  <a:schemeClr val="folHlink"/>
                </a:solidFill>
                <a:effectLst>
                  <a:outerShdw blurRad="38100" dist="38100" dir="2700000" algn="tl">
                    <a:srgbClr val="000000"/>
                  </a:outerShdw>
                </a:effectLst>
                <a:uLnTx/>
                <a:uFillTx/>
                <a:latin typeface="+mj-lt"/>
                <a:ea typeface="仿宋_GB2312" pitchFamily="49" charset="-122"/>
                <a:cs typeface="+mj-cs"/>
              </a:rPr>
              <a:t>的</a:t>
            </a:r>
            <a:r>
              <a:rPr kumimoji="0" lang="zh-CN" altLang="en-US" sz="4400" b="1" i="0" u="sng"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仿宋_GB2312" pitchFamily="49" charset="-122"/>
                <a:cs typeface="+mj-cs"/>
              </a:rPr>
              <a:t>取值范围</a:t>
            </a:r>
            <a:endParaRPr kumimoji="0" lang="zh-CN" altLang="en-US" sz="4400" b="1" i="0" u="sng" strike="noStrike" kern="0" cap="none" spc="0" normalizeH="0" baseline="0" noProof="0" dirty="0">
              <a:ln>
                <a:noFill/>
              </a:ln>
              <a:solidFill>
                <a:schemeClr val="folHlink"/>
              </a:solidFill>
              <a:effectLst>
                <a:outerShdw blurRad="38100" dist="38100" dir="2700000" algn="tl">
                  <a:srgbClr val="000000"/>
                </a:outerShdw>
              </a:effectLst>
              <a:uLnTx/>
              <a:uFillTx/>
              <a:latin typeface="+mj-lt"/>
              <a:ea typeface="仿宋_GB2312" pitchFamily="49" charset="-122"/>
              <a:cs typeface="+mj-cs"/>
            </a:endParaRPr>
          </a:p>
        </p:txBody>
      </p:sp>
      <p:sp>
        <p:nvSpPr>
          <p:cNvPr id="553987"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当仅有两个并发进程共享临界资源时，互斥信号量仅能取值</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0</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。其中，</a:t>
            </a:r>
            <a:endParaRPr kumimoji="0" lang="zh-CN" altLang="en-US" sz="32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S-&gt; value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 </a:t>
            </a: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表示无进程进入临界区</a:t>
            </a:r>
            <a:endPar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S-&gt; value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=0</a:t>
            </a: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，表示已有一个进程进入临界区</a:t>
            </a:r>
            <a:endPar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 S-&gt; value </a:t>
            </a:r>
            <a:r>
              <a:rPr kumimoji="0" lang="en-US" altLang="zh-CN"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- 1,</a:t>
            </a:r>
            <a:r>
              <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则表示已有一进程正在等待进入临界区</a:t>
            </a:r>
            <a:endParaRPr kumimoji="0" lang="zh-CN" altLang="en-US" sz="24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当用</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来实现</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n</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个进程的互斥时，</a:t>
            </a:r>
            <a:r>
              <a:rPr kumimoji="0" lang="en-US" altLang="zh-CN" sz="3200" b="1" i="0" u="none" strike="noStrike" kern="0" cap="none" spc="0" normalizeH="0" baseline="0" noProof="0" dirty="0">
                <a:ln>
                  <a:noFill/>
                </a:ln>
                <a:solidFill>
                  <a:schemeClr val="tx1"/>
                </a:solidFill>
                <a:effectLst/>
                <a:uLnTx/>
                <a:uFillTx/>
                <a:latin typeface="+mn-lt"/>
                <a:ea typeface="+mn-ea"/>
                <a:cs typeface="+mn-cs"/>
              </a:rPr>
              <a:t> S-&gt; value</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的取值范围为</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1</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n-1</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3986"/>
                                        </p:tgtEl>
                                        <p:attrNameLst>
                                          <p:attrName>style.visibility</p:attrName>
                                        </p:attrNameLst>
                                      </p:cBhvr>
                                      <p:to>
                                        <p:strVal val="visible"/>
                                      </p:to>
                                    </p:set>
                                    <p:animEffect transition="in" filter="fade">
                                      <p:cBhvr>
                                        <p:cTn id="7" dur="2000"/>
                                        <p:tgtEl>
                                          <p:spTgt spid="5539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3987">
                                            <p:txEl>
                                              <p:charRg st="0" end="37"/>
                                            </p:txEl>
                                          </p:spTgt>
                                        </p:tgtEl>
                                        <p:attrNameLst>
                                          <p:attrName>style.visibility</p:attrName>
                                        </p:attrNameLst>
                                      </p:cBhvr>
                                      <p:to>
                                        <p:strVal val="visible"/>
                                      </p:to>
                                    </p:set>
                                    <p:animEffect transition="in" filter="fade">
                                      <p:cBhvr>
                                        <p:cTn id="12" dur="2000"/>
                                        <p:tgtEl>
                                          <p:spTgt spid="553987">
                                            <p:txEl>
                                              <p:charRg st="0" end="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3987">
                                            <p:txEl>
                                              <p:charRg st="37" end="65"/>
                                            </p:txEl>
                                          </p:spTgt>
                                        </p:tgtEl>
                                        <p:attrNameLst>
                                          <p:attrName>style.visibility</p:attrName>
                                        </p:attrNameLst>
                                      </p:cBhvr>
                                      <p:to>
                                        <p:strVal val="visible"/>
                                      </p:to>
                                    </p:set>
                                    <p:animEffect transition="in" filter="fade">
                                      <p:cBhvr>
                                        <p:cTn id="17" dur="2000"/>
                                        <p:tgtEl>
                                          <p:spTgt spid="553987">
                                            <p:txEl>
                                              <p:charRg st="37" end="6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53987">
                                            <p:txEl>
                                              <p:charRg st="65" end="95"/>
                                            </p:txEl>
                                          </p:spTgt>
                                        </p:tgtEl>
                                        <p:attrNameLst>
                                          <p:attrName>style.visibility</p:attrName>
                                        </p:attrNameLst>
                                      </p:cBhvr>
                                      <p:to>
                                        <p:strVal val="visible"/>
                                      </p:to>
                                    </p:set>
                                    <p:animEffect transition="in" filter="fade">
                                      <p:cBhvr>
                                        <p:cTn id="22" dur="2000"/>
                                        <p:tgtEl>
                                          <p:spTgt spid="553987">
                                            <p:txEl>
                                              <p:charRg st="65" end="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53987">
                                            <p:txEl>
                                              <p:charRg st="95" end="136"/>
                                            </p:txEl>
                                          </p:spTgt>
                                        </p:tgtEl>
                                        <p:attrNameLst>
                                          <p:attrName>style.visibility</p:attrName>
                                        </p:attrNameLst>
                                      </p:cBhvr>
                                      <p:to>
                                        <p:strVal val="visible"/>
                                      </p:to>
                                    </p:set>
                                    <p:animEffect transition="in" filter="fade">
                                      <p:cBhvr>
                                        <p:cTn id="27" dur="2000"/>
                                        <p:tgtEl>
                                          <p:spTgt spid="553987">
                                            <p:txEl>
                                              <p:charRg st="95" end="13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53987">
                                            <p:txEl>
                                              <p:charRg st="137" end="178"/>
                                            </p:txEl>
                                          </p:spTgt>
                                        </p:tgtEl>
                                        <p:attrNameLst>
                                          <p:attrName>style.visibility</p:attrName>
                                        </p:attrNameLst>
                                      </p:cBhvr>
                                      <p:to>
                                        <p:strVal val="visible"/>
                                      </p:to>
                                    </p:set>
                                    <p:animEffect transition="in" filter="fade">
                                      <p:cBhvr>
                                        <p:cTn id="32" dur="2000"/>
                                        <p:tgtEl>
                                          <p:spTgt spid="553987">
                                            <p:txEl>
                                              <p:charRg st="137"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6" grpId="0"/>
      <p:bldP spid="553987"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501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操作系统内核以系统调用形式提供</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原语，应用程序通过该系统调用实现进程间的互斥。</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工程实践证明，利用信号量方法实现进程互斥是高效的，一直被广泛采用。</a:t>
            </a:r>
            <a:r>
              <a:rPr kumimoji="0" lang="zh-CN" altLang="en-US" sz="3200" b="0" i="0" u="none" strike="noStrike" kern="0" cap="none" spc="0" normalizeH="0" baseline="0" noProof="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5011">
                                            <p:txEl>
                                              <p:charRg st="0" end="50"/>
                                            </p:txEl>
                                          </p:spTgt>
                                        </p:tgtEl>
                                        <p:attrNameLst>
                                          <p:attrName>style.visibility</p:attrName>
                                        </p:attrNameLst>
                                      </p:cBhvr>
                                      <p:to>
                                        <p:strVal val="visible"/>
                                      </p:to>
                                    </p:set>
                                    <p:animEffect transition="in" filter="fade">
                                      <p:cBhvr>
                                        <p:cTn id="7" dur="2000"/>
                                        <p:tgtEl>
                                          <p:spTgt spid="555011">
                                            <p:txEl>
                                              <p:charRg st="0" end="5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5011">
                                            <p:txEl>
                                              <p:charRg st="51" end="86"/>
                                            </p:txEl>
                                          </p:spTgt>
                                        </p:tgtEl>
                                        <p:attrNameLst>
                                          <p:attrName>style.visibility</p:attrName>
                                        </p:attrNameLst>
                                      </p:cBhvr>
                                      <p:to>
                                        <p:strVal val="visible"/>
                                      </p:to>
                                    </p:set>
                                    <p:animEffect transition="in" filter="fade">
                                      <p:cBhvr>
                                        <p:cTn id="12" dur="2000"/>
                                        <p:tgtEl>
                                          <p:spTgt spid="555011">
                                            <p:txEl>
                                              <p:charRg st="51"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1"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80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Linux</a:t>
            </a:r>
            <a:r>
              <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中的信号量</a:t>
            </a:r>
            <a:endParaRPr kumimoji="0" lang="zh-CN" altLang="en-US" sz="44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pic>
        <p:nvPicPr>
          <p:cNvPr id="234499" name="Picture 4"/>
          <p:cNvPicPr>
            <a:picLocks noChangeAspect="1"/>
          </p:cNvPicPr>
          <p:nvPr>
            <p:ph type="body"/>
          </p:nvPr>
        </p:nvPicPr>
        <p:blipFill>
          <a:blip r:embed="rId1"/>
          <a:srcRect/>
          <a:stretch>
            <a:fillRect/>
          </a:stretch>
        </p:blipFill>
        <p:spPr>
          <a:xfrm>
            <a:off x="1676400" y="2667000"/>
            <a:ext cx="6477000" cy="3886200"/>
          </a:xfrm>
        </p:spPr>
      </p:pic>
      <p:sp>
        <p:nvSpPr>
          <p:cNvPr id="108548" name="Text Box 5"/>
          <p:cNvSpPr txBox="1"/>
          <p:nvPr/>
        </p:nvSpPr>
        <p:spPr>
          <a:xfrm>
            <a:off x="685800" y="1676400"/>
            <a:ext cx="75438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t>Linux</a:t>
            </a:r>
            <a:r>
              <a:rPr lang="zh-CN" altLang="en-US" sz="2800" b="1" dirty="0"/>
              <a:t>中使用信号量实现进程间对共享资源的互斥访问，</a:t>
            </a:r>
            <a:r>
              <a:rPr lang="en-US" altLang="zh-CN" sz="2800" b="1" dirty="0"/>
              <a:t>Down()</a:t>
            </a:r>
            <a:r>
              <a:rPr lang="zh-CN" altLang="en-US" sz="2800" b="1" dirty="0"/>
              <a:t>和</a:t>
            </a:r>
            <a:r>
              <a:rPr lang="en-US" altLang="zh-CN" sz="2800" b="1" dirty="0"/>
              <a:t>Up</a:t>
            </a:r>
            <a:r>
              <a:rPr lang="zh-CN" altLang="en-US" sz="2800" b="1" dirty="0"/>
              <a:t>函数对应于</a:t>
            </a:r>
            <a:r>
              <a:rPr lang="en-US" altLang="zh-CN" sz="2800" b="1" dirty="0"/>
              <a:t>P</a:t>
            </a:r>
            <a:r>
              <a:rPr lang="zh-CN" altLang="en-US" sz="2800" b="1" dirty="0"/>
              <a:t>、</a:t>
            </a:r>
            <a:r>
              <a:rPr lang="en-US" altLang="zh-CN" sz="2800" b="1" dirty="0"/>
              <a:t>V</a:t>
            </a:r>
            <a:r>
              <a:rPr lang="zh-CN" altLang="en-US" sz="2800" b="1" dirty="0"/>
              <a:t>操作。</a:t>
            </a:r>
            <a:endParaRPr lang="zh-CN" altLang="en-US" sz="2800" b="1" dirty="0"/>
          </a:p>
        </p:txBody>
      </p:sp>
      <p:sp>
        <p:nvSpPr>
          <p:cNvPr id="108549" name="Text Box 7"/>
          <p:cNvSpPr txBox="1"/>
          <p:nvPr/>
        </p:nvSpPr>
        <p:spPr>
          <a:xfrm>
            <a:off x="5257800" y="3886200"/>
            <a:ext cx="19812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3300"/>
                </a:solidFill>
              </a:rPr>
              <a:t>等待的进程数</a:t>
            </a:r>
            <a:endParaRPr lang="zh-CN" altLang="en-US" sz="1800" b="1" dirty="0">
              <a:solidFill>
                <a:srgbClr val="003300"/>
              </a:solidFill>
            </a:endParaRPr>
          </a:p>
        </p:txBody>
      </p:sp>
      <p:sp>
        <p:nvSpPr>
          <p:cNvPr id="108550" name="Text Box 8"/>
          <p:cNvSpPr txBox="1"/>
          <p:nvPr/>
        </p:nvSpPr>
        <p:spPr>
          <a:xfrm>
            <a:off x="5562600" y="3429000"/>
            <a:ext cx="1981200" cy="3667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3300"/>
                </a:solidFill>
              </a:rPr>
              <a:t>信号量的值</a:t>
            </a:r>
            <a:endParaRPr lang="zh-CN" altLang="en-US" sz="1800" b="1" dirty="0">
              <a:solidFill>
                <a:srgbClr val="003300"/>
              </a:solidFill>
            </a:endParaRPr>
          </a:p>
        </p:txBody>
      </p:sp>
      <p:sp>
        <p:nvSpPr>
          <p:cNvPr id="108551" name="Text Box 9"/>
          <p:cNvSpPr txBox="1"/>
          <p:nvPr/>
        </p:nvSpPr>
        <p:spPr>
          <a:xfrm>
            <a:off x="6934200" y="4281488"/>
            <a:ext cx="19812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3300"/>
                </a:solidFill>
              </a:rPr>
              <a:t>等待队列</a:t>
            </a:r>
            <a:endParaRPr lang="zh-CN" altLang="en-US" sz="1800" b="1" dirty="0">
              <a:solidFill>
                <a:srgbClr val="00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8082"/>
                                        </p:tgtEl>
                                        <p:attrNameLst>
                                          <p:attrName>style.visibility</p:attrName>
                                        </p:attrNameLst>
                                      </p:cBhvr>
                                      <p:to>
                                        <p:strVal val="visible"/>
                                      </p:to>
                                    </p:set>
                                    <p:animEffect transition="in" filter="fade">
                                      <p:cBhvr>
                                        <p:cTn id="7" dur="2000"/>
                                        <p:tgtEl>
                                          <p:spTgt spid="5580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4499"/>
                                        </p:tgtEl>
                                        <p:attrNameLst>
                                          <p:attrName>style.visibility</p:attrName>
                                        </p:attrNameLst>
                                      </p:cBhvr>
                                      <p:to>
                                        <p:strVal val="visible"/>
                                      </p:to>
                                    </p:set>
                                    <p:animEffect transition="in" filter="fade">
                                      <p:cBhvr>
                                        <p:cTn id="12" dur="2000"/>
                                        <p:tgtEl>
                                          <p:spTgt spid="234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2"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p:nvPr/>
        </p:nvSpPr>
        <p:spPr>
          <a:xfrm>
            <a:off x="76200" y="762000"/>
            <a:ext cx="8991600" cy="60960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80808"/>
                </a:solidFill>
              </a:rPr>
              <a:t>void OSSemPend (OS_EVENT *pevent, INT16U timeout, INT8U *err)</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if (</a:t>
            </a:r>
            <a:r>
              <a:rPr lang="en-US" altLang="zh-CN" sz="2000" b="1" dirty="0">
                <a:solidFill>
                  <a:srgbClr val="FF0000"/>
                </a:solidFill>
              </a:rPr>
              <a:t>pevent-&gt;OSEventCnt &gt; 0) { //</a:t>
            </a:r>
            <a:r>
              <a:rPr lang="zh-CN" altLang="en-US" sz="2000" b="1" dirty="0">
                <a:solidFill>
                  <a:srgbClr val="FF0000"/>
                </a:solidFill>
              </a:rPr>
              <a:t>信号量值大于</a:t>
            </a:r>
            <a:r>
              <a:rPr lang="en-US" altLang="zh-CN" sz="2000" b="1" dirty="0">
                <a:solidFill>
                  <a:srgbClr val="FF0000"/>
                </a:solidFill>
              </a:rPr>
              <a:t>0</a:t>
            </a:r>
            <a:r>
              <a:rPr lang="zh-CN" altLang="en-US" sz="2000" b="1" dirty="0">
                <a:solidFill>
                  <a:srgbClr val="FF0000"/>
                </a:solidFill>
              </a:rPr>
              <a:t>，成功获得信号量并返回</a:t>
            </a:r>
            <a:endParaRPr lang="zh-CN" altLang="en-US" sz="2000" b="1" dirty="0">
              <a:solidFill>
                <a:srgbClr val="FF0000"/>
              </a:solidFill>
            </a:endParaRPr>
          </a:p>
          <a:p>
            <a:pPr marL="0" lvl="0" indent="0" eaLnBrk="1" hangingPunct="1">
              <a:spcBef>
                <a:spcPct val="0"/>
              </a:spcBef>
              <a:buClrTx/>
              <a:buSzTx/>
              <a:buFontTx/>
              <a:buNone/>
            </a:pPr>
            <a:r>
              <a:rPr lang="zh-CN" altLang="en-US" sz="2000" b="1" dirty="0">
                <a:solidFill>
                  <a:srgbClr val="FF0000"/>
                </a:solidFill>
              </a:rPr>
              <a:t>	</a:t>
            </a:r>
            <a:r>
              <a:rPr lang="en-US" altLang="zh-CN" sz="2000" b="1" dirty="0">
                <a:solidFill>
                  <a:srgbClr val="FF0000"/>
                </a:solidFill>
              </a:rPr>
              <a:t>pevent-&gt;OSEventCnt---; </a:t>
            </a:r>
            <a:endParaRPr lang="en-US" altLang="zh-CN" sz="2000" b="1" dirty="0">
              <a:solidFill>
                <a:srgbClr val="FF0000"/>
              </a:solidFill>
            </a:endParaRPr>
          </a:p>
          <a:p>
            <a:pPr marL="0" lvl="0" indent="0" eaLnBrk="1" hangingPunct="1">
              <a:spcBef>
                <a:spcPct val="0"/>
              </a:spcBef>
              <a:buClrTx/>
              <a:buSzTx/>
              <a:buFontTx/>
              <a:buNone/>
            </a:pPr>
            <a:r>
              <a:rPr lang="en-US" altLang="zh-CN" sz="2000" b="1" dirty="0">
                <a:solidFill>
                  <a:srgbClr val="FF0000"/>
                </a:solidFill>
              </a:rPr>
              <a:t>	*err = OS_NO_ERR;</a:t>
            </a:r>
            <a:endParaRPr lang="en-US" altLang="zh-CN" sz="2000" b="1" dirty="0">
              <a:solidFill>
                <a:srgbClr val="FF0000"/>
              </a:solidFill>
            </a:endParaRPr>
          </a:p>
          <a:p>
            <a:pPr marL="0" lvl="0" indent="0" eaLnBrk="1" hangingPunct="1">
              <a:spcBef>
                <a:spcPct val="0"/>
              </a:spcBef>
              <a:buClrTx/>
              <a:buSzTx/>
              <a:buFontTx/>
              <a:buNone/>
            </a:pPr>
            <a:r>
              <a:rPr lang="en-US" altLang="zh-CN" sz="2000" b="1" dirty="0">
                <a:solidFill>
                  <a:srgbClr val="FF0000"/>
                </a:solidFill>
              </a:rPr>
              <a:t>	return;} </a:t>
            </a:r>
            <a:endParaRPr lang="en-US" altLang="zh-CN" sz="2000" b="1" dirty="0">
              <a:solidFill>
                <a:srgbClr val="FF0000"/>
              </a:solidFill>
            </a:endParaRPr>
          </a:p>
          <a:p>
            <a:pPr marL="0" lvl="0" indent="0" eaLnBrk="1" hangingPunct="1">
              <a:spcBef>
                <a:spcPct val="0"/>
              </a:spcBef>
              <a:buClrTx/>
              <a:buSzTx/>
              <a:buFontTx/>
              <a:buNone/>
            </a:pPr>
            <a:r>
              <a:rPr lang="en-US" altLang="zh-CN" sz="2000" b="1" dirty="0">
                <a:solidFill>
                  <a:srgbClr val="080808"/>
                </a:solidFill>
              </a:rPr>
              <a:t>OSTCBCur-&gt;OSTCBStat |= OS_STAT_SEM; //</a:t>
            </a:r>
            <a:r>
              <a:rPr lang="zh-CN" altLang="en-US" sz="2000" b="1" dirty="0">
                <a:solidFill>
                  <a:srgbClr val="080808"/>
                </a:solidFill>
              </a:rPr>
              <a:t>设置任务状态为等待信号量</a:t>
            </a:r>
            <a:endParaRPr lang="zh-CN" altLang="en-US"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OSTCBCur-&gt;OSTCBDly = timeout; //</a:t>
            </a:r>
            <a:r>
              <a:rPr lang="zh-CN" altLang="en-US" sz="2000" b="1" dirty="0">
                <a:solidFill>
                  <a:srgbClr val="080808"/>
                </a:solidFill>
              </a:rPr>
              <a:t>设置等待时限</a:t>
            </a:r>
            <a:endParaRPr lang="zh-CN" altLang="en-US" sz="2000" b="1" dirty="0">
              <a:solidFill>
                <a:srgbClr val="080808"/>
              </a:solidFill>
            </a:endParaRPr>
          </a:p>
          <a:p>
            <a:pPr marL="0" lvl="0" indent="0" eaLnBrk="1" hangingPunct="1">
              <a:spcBef>
                <a:spcPct val="0"/>
              </a:spcBef>
              <a:buClrTx/>
              <a:buSzTx/>
              <a:buFontTx/>
              <a:buNone/>
            </a:pPr>
            <a:r>
              <a:rPr lang="en-US" altLang="zh-CN" sz="2000" b="1" dirty="0">
                <a:solidFill>
                  <a:srgbClr val="FF0000"/>
                </a:solidFill>
              </a:rPr>
              <a:t>OS_EventTaskWait(pevent);//</a:t>
            </a:r>
            <a:r>
              <a:rPr lang="zh-CN" altLang="en-US" sz="2000" b="1" dirty="0">
                <a:solidFill>
                  <a:srgbClr val="FF0000"/>
                </a:solidFill>
              </a:rPr>
              <a:t>将任务放置到信号量的等待列表中</a:t>
            </a:r>
            <a:r>
              <a:rPr lang="zh-CN" altLang="en-US" sz="2000" b="1" dirty="0">
                <a:solidFill>
                  <a:srgbClr val="080808"/>
                </a:solidFill>
              </a:rPr>
              <a:t> </a:t>
            </a:r>
            <a:endParaRPr lang="zh-CN" altLang="en-US" sz="2000" b="1" dirty="0">
              <a:solidFill>
                <a:srgbClr val="080808"/>
              </a:solidFill>
            </a:endParaRPr>
          </a:p>
          <a:p>
            <a:pPr marL="0" lvl="0" indent="0" eaLnBrk="1" hangingPunct="1">
              <a:spcBef>
                <a:spcPct val="0"/>
              </a:spcBef>
              <a:buClrTx/>
              <a:buSzTx/>
              <a:buFontTx/>
              <a:buNone/>
            </a:pPr>
            <a:r>
              <a:rPr lang="en-US" altLang="zh-CN" sz="2000" b="1" dirty="0">
                <a:solidFill>
                  <a:srgbClr val="FF0000"/>
                </a:solidFill>
              </a:rPr>
              <a:t>OS_Sched();</a:t>
            </a:r>
            <a:r>
              <a:rPr lang="en-US" altLang="zh-CN" sz="2000" b="1" dirty="0">
                <a:solidFill>
                  <a:srgbClr val="080808"/>
                </a:solidFill>
              </a:rPr>
              <a:t> //</a:t>
            </a:r>
            <a:r>
              <a:rPr lang="zh-CN" altLang="en-US" sz="2000" b="1" dirty="0">
                <a:solidFill>
                  <a:srgbClr val="080808"/>
                </a:solidFill>
              </a:rPr>
              <a:t>内核实施任务调度，系统切换到另一就绪任务执行</a:t>
            </a:r>
            <a:endParaRPr lang="zh-CN" altLang="en-US"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if (OSTCBCur-&gt;OSTCBStat &amp; OS_STAT_SEM) { //</a:t>
            </a:r>
            <a:r>
              <a:rPr lang="zh-CN" altLang="en-US" sz="2000" b="1" dirty="0">
                <a:solidFill>
                  <a:srgbClr val="080808"/>
                </a:solidFill>
              </a:rPr>
              <a:t>判断任务恢复执行的原因，</a:t>
            </a:r>
            <a:endParaRPr lang="zh-CN" altLang="en-US" sz="2000" b="1" dirty="0">
              <a:solidFill>
                <a:srgbClr val="080808"/>
              </a:solidFill>
            </a:endParaRPr>
          </a:p>
          <a:p>
            <a:pPr marL="0" lvl="0" indent="0" eaLnBrk="1" hangingPunct="1">
              <a:spcBef>
                <a:spcPct val="0"/>
              </a:spcBef>
              <a:buClrTx/>
              <a:buSzTx/>
              <a:buFontTx/>
              <a:buNone/>
            </a:pPr>
            <a:r>
              <a:rPr lang="zh-CN" altLang="en-US" sz="2000" b="1" dirty="0">
                <a:solidFill>
                  <a:srgbClr val="080808"/>
                </a:solidFill>
              </a:rPr>
              <a:t>如果等待时限超时但仍然未获得信号量，则返回超时信息</a:t>
            </a:r>
            <a:endParaRPr lang="zh-CN" altLang="en-US" sz="2000" b="1" dirty="0">
              <a:solidFill>
                <a:srgbClr val="080808"/>
              </a:solidFill>
            </a:endParaRPr>
          </a:p>
          <a:p>
            <a:pPr marL="0" lvl="0" indent="0" eaLnBrk="1" hangingPunct="1">
              <a:spcBef>
                <a:spcPct val="0"/>
              </a:spcBef>
              <a:buClrTx/>
              <a:buSzTx/>
              <a:buFontTx/>
              <a:buNone/>
            </a:pPr>
            <a:r>
              <a:rPr lang="zh-CN" altLang="en-US" sz="2000" b="1" dirty="0">
                <a:solidFill>
                  <a:srgbClr val="080808"/>
                </a:solidFill>
              </a:rPr>
              <a:t>	</a:t>
            </a:r>
            <a:r>
              <a:rPr lang="en-US" altLang="zh-CN" sz="2000" b="1" dirty="0">
                <a:solidFill>
                  <a:srgbClr val="080808"/>
                </a:solidFill>
              </a:rPr>
              <a:t>OSEventTO(pevent); </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	*err = OS_TIMEOUT;</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	return;}</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	OSTCBCur-&gt;OSTCBEventPtr = (OS_EVENT *)0; </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	*err = OS_NO_ERR;</a:t>
            </a:r>
            <a:endParaRPr lang="en-US" altLang="zh-CN" sz="2000" b="1" dirty="0">
              <a:solidFill>
                <a:srgbClr val="080808"/>
              </a:solidFill>
            </a:endParaRPr>
          </a:p>
          <a:p>
            <a:pPr marL="0" lvl="0" indent="0" eaLnBrk="1" hangingPunct="1">
              <a:spcBef>
                <a:spcPct val="0"/>
              </a:spcBef>
              <a:buClrTx/>
              <a:buSzTx/>
              <a:buFontTx/>
              <a:buNone/>
            </a:pPr>
            <a:r>
              <a:rPr lang="en-US" altLang="zh-CN" sz="2000" b="1" dirty="0">
                <a:solidFill>
                  <a:srgbClr val="080808"/>
                </a:solidFill>
              </a:rPr>
              <a:t>}</a:t>
            </a:r>
            <a:endParaRPr lang="en-US" altLang="zh-CN" sz="2000" b="1" dirty="0">
              <a:solidFill>
                <a:srgbClr val="080808"/>
              </a:solidFill>
            </a:endParaRPr>
          </a:p>
        </p:txBody>
      </p:sp>
      <p:sp>
        <p:nvSpPr>
          <p:cNvPr id="109571" name="Text Box 3"/>
          <p:cNvSpPr txBox="1"/>
          <p:nvPr/>
        </p:nvSpPr>
        <p:spPr>
          <a:xfrm>
            <a:off x="304800" y="166688"/>
            <a:ext cx="81534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50000"/>
              </a:spcBef>
              <a:buClrTx/>
              <a:buSzTx/>
              <a:buFontTx/>
              <a:buNone/>
            </a:pPr>
            <a:endParaRPr lang="zh-CN" altLang="zh-CN" sz="1800" dirty="0"/>
          </a:p>
        </p:txBody>
      </p:sp>
      <p:sp>
        <p:nvSpPr>
          <p:cNvPr id="109572" name="Text Box 4"/>
          <p:cNvSpPr txBox="1"/>
          <p:nvPr/>
        </p:nvSpPr>
        <p:spPr>
          <a:xfrm>
            <a:off x="381000" y="106363"/>
            <a:ext cx="830580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50000"/>
              </a:spcBef>
              <a:buClrTx/>
              <a:buSzTx/>
              <a:buFontTx/>
              <a:buNone/>
            </a:pPr>
            <a:r>
              <a:rPr lang="zh-CN" altLang="en-US" b="1" dirty="0">
                <a:solidFill>
                  <a:schemeClr val="folHlink"/>
                </a:solidFill>
              </a:rPr>
              <a:t>获取信号量源码举例（</a:t>
            </a:r>
            <a:r>
              <a:rPr lang="en-US" altLang="zh-CN" b="1" dirty="0">
                <a:solidFill>
                  <a:schemeClr val="folHlink"/>
                </a:solidFill>
              </a:rPr>
              <a:t>UC OS</a:t>
            </a:r>
            <a:r>
              <a:rPr lang="zh-CN" altLang="en-US" b="1" dirty="0">
                <a:solidFill>
                  <a:schemeClr val="folHlink"/>
                </a:solidFill>
              </a:rPr>
              <a:t>）</a:t>
            </a:r>
            <a:endParaRPr lang="zh-CN" altLang="en-US" b="1" dirty="0">
              <a:solidFill>
                <a:schemeClr val="folHlink"/>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62" name="Rectangle 2"/>
          <p:cNvSpPr>
            <a:spLocks noGrp="1" noRot="1" noChangeArrowheads="1"/>
          </p:cNvSpPr>
          <p:nvPr>
            <p:ph type="title"/>
          </p:nvPr>
        </p:nvSpPr>
        <p:spPr>
          <a:xfrm>
            <a:off x="533400" y="228600"/>
            <a:ext cx="8077200" cy="762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释放一个信号量</a:t>
            </a:r>
            <a:r>
              <a:rPr kumimoji="0" lang="en-US" altLang="zh-CN" sz="3600" b="1"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OSSemPost()</a:t>
            </a:r>
            <a:r>
              <a:rPr kumimoji="0" lang="en-US" altLang="zh-CN" sz="3600" b="0"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rPr>
              <a:t> </a:t>
            </a:r>
            <a:endParaRPr kumimoji="0" lang="en-US" altLang="zh-CN" sz="3600" b="0" i="0" u="none" strike="noStrike" kern="0" cap="none" spc="0" normalizeH="0" baseline="0" noProof="0">
              <a:ln>
                <a:noFill/>
              </a:ln>
              <a:solidFill>
                <a:schemeClr val="folHlink"/>
              </a:solidFill>
              <a:effectLst>
                <a:outerShdw blurRad="38100" dist="38100" dir="2700000" algn="tl">
                  <a:srgbClr val="000000"/>
                </a:outerShdw>
              </a:effectLst>
              <a:uLnTx/>
              <a:uFillTx/>
              <a:latin typeface="+mj-lt"/>
              <a:ea typeface="+mj-ea"/>
              <a:cs typeface="+mj-cs"/>
            </a:endParaRPr>
          </a:p>
        </p:txBody>
      </p:sp>
      <p:sp>
        <p:nvSpPr>
          <p:cNvPr id="110595" name="Rectangle 3"/>
          <p:cNvSpPr/>
          <p:nvPr/>
        </p:nvSpPr>
        <p:spPr>
          <a:xfrm>
            <a:off x="152400" y="1066800"/>
            <a:ext cx="8534400" cy="5791200"/>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111111"/>
                </a:solidFill>
              </a:rPr>
              <a:t>INT8U OSSemPost (OS_EVENT *pevent)</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FF0000"/>
                </a:solidFill>
              </a:rPr>
              <a:t>if (pevent-&gt;OSEventGrp!=0x00) { </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a:t>
            </a:r>
            <a:r>
              <a:rPr lang="zh-CN" altLang="en-US" sz="2400" b="1" dirty="0">
                <a:solidFill>
                  <a:srgbClr val="FF0000"/>
                </a:solidFill>
              </a:rPr>
              <a:t>如果有任务在等待该信号量</a:t>
            </a:r>
            <a:endParaRPr lang="zh-CN" altLang="en-US"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OS_EventTaskRdy(pevent, (void *)0, OS_STAT_SEM); </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a:t>
            </a:r>
            <a:r>
              <a:rPr lang="zh-CN" altLang="en-US" sz="2400" b="1" dirty="0">
                <a:solidFill>
                  <a:srgbClr val="FF0000"/>
                </a:solidFill>
              </a:rPr>
              <a:t>使等待任务列表中优先级最高的任务就绪</a:t>
            </a:r>
            <a:endParaRPr lang="zh-CN" altLang="en-US"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OS_Sched(); //</a:t>
            </a:r>
            <a:r>
              <a:rPr lang="zh-CN" altLang="en-US" sz="2400" b="1" dirty="0">
                <a:solidFill>
                  <a:srgbClr val="111111"/>
                </a:solidFill>
              </a:rPr>
              <a:t>内核实施任务调度</a:t>
            </a:r>
            <a:endParaRPr lang="zh-CN" altLang="en-US"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return (OS_NO_ERR);//</a:t>
            </a:r>
            <a:r>
              <a:rPr lang="zh-CN" altLang="en-US" sz="2400" b="1" dirty="0">
                <a:solidFill>
                  <a:srgbClr val="111111"/>
                </a:solidFill>
              </a:rPr>
              <a:t>成功返回</a:t>
            </a:r>
            <a:endParaRPr lang="zh-CN" altLang="en-US" sz="2400" b="1" dirty="0">
              <a:solidFill>
                <a:srgbClr val="111111"/>
              </a:solidFill>
            </a:endParaRPr>
          </a:p>
          <a:p>
            <a:pPr marL="0" lvl="0" indent="0" eaLnBrk="1" hangingPunct="1">
              <a:spcBef>
                <a:spcPct val="0"/>
              </a:spcBef>
              <a:buClrTx/>
              <a:buSzTx/>
              <a:buFontTx/>
              <a:buNone/>
            </a:pPr>
            <a:r>
              <a:rPr lang="zh-CN" altLang="en-US" sz="2400" b="1" dirty="0">
                <a:solidFill>
                  <a:srgbClr val="111111"/>
                </a:solidFill>
              </a:rPr>
              <a:t>	</a:t>
            </a:r>
            <a:r>
              <a:rPr lang="en-US" altLang="zh-CN" sz="2400" b="1" dirty="0">
                <a:solidFill>
                  <a:srgbClr val="111111"/>
                </a:solidFill>
              </a:rPr>
              <a:t>} </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if (pevent-&gt;OSEventCnt &lt; 65535) {</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a:t>
            </a:r>
            <a:r>
              <a:rPr lang="zh-CN" altLang="en-US" sz="2400" b="1" dirty="0">
                <a:solidFill>
                  <a:srgbClr val="111111"/>
                </a:solidFill>
              </a:rPr>
              <a:t>如果没有任务等待该信号量，并且信号量的值未溢出</a:t>
            </a:r>
            <a:endParaRPr lang="zh-CN" altLang="en-US" sz="2400" b="1" dirty="0">
              <a:solidFill>
                <a:srgbClr val="111111"/>
              </a:solidFill>
            </a:endParaRPr>
          </a:p>
          <a:p>
            <a:pPr marL="0" lvl="0" indent="0" eaLnBrk="1" hangingPunct="1">
              <a:spcBef>
                <a:spcPct val="0"/>
              </a:spcBef>
              <a:buClrTx/>
              <a:buSzTx/>
              <a:buFontTx/>
              <a:buNone/>
            </a:pPr>
            <a:r>
              <a:rPr lang="zh-CN" altLang="en-US" sz="2400" b="1" dirty="0">
                <a:solidFill>
                  <a:srgbClr val="111111"/>
                </a:solidFill>
              </a:rPr>
              <a:t>	</a:t>
            </a:r>
            <a:r>
              <a:rPr lang="en-US" altLang="zh-CN" sz="2400" b="1" dirty="0">
                <a:solidFill>
                  <a:srgbClr val="FF0000"/>
                </a:solidFill>
              </a:rPr>
              <a:t>pevent-&gt;OSEventCnt++; //</a:t>
            </a:r>
            <a:r>
              <a:rPr lang="zh-CN" altLang="en-US" sz="2400" b="1" dirty="0">
                <a:solidFill>
                  <a:srgbClr val="FF0000"/>
                </a:solidFill>
              </a:rPr>
              <a:t>信号量的值加</a:t>
            </a:r>
            <a:r>
              <a:rPr lang="en-US" altLang="zh-CN" sz="2400" b="1" dirty="0">
                <a:solidFill>
                  <a:srgbClr val="FF0000"/>
                </a:solidFill>
              </a:rPr>
              <a:t>1</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111111"/>
                </a:solidFill>
              </a:rPr>
              <a:t>	return (OS_NO_ERR);//</a:t>
            </a:r>
            <a:r>
              <a:rPr lang="zh-CN" altLang="en-US" sz="2400" b="1" dirty="0">
                <a:solidFill>
                  <a:srgbClr val="111111"/>
                </a:solidFill>
              </a:rPr>
              <a:t>成功返回</a:t>
            </a:r>
            <a:endParaRPr lang="zh-CN" altLang="en-US" sz="2400" b="1" dirty="0">
              <a:solidFill>
                <a:srgbClr val="111111"/>
              </a:solidFill>
            </a:endParaRPr>
          </a:p>
          <a:p>
            <a:pPr marL="0" lvl="0" indent="0" eaLnBrk="1" hangingPunct="1">
              <a:spcBef>
                <a:spcPct val="0"/>
              </a:spcBef>
              <a:buClrTx/>
              <a:buSzTx/>
              <a:buFontTx/>
              <a:buNone/>
            </a:pPr>
            <a:r>
              <a:rPr lang="zh-CN" altLang="en-US" sz="2400" b="1" dirty="0">
                <a:solidFill>
                  <a:srgbClr val="111111"/>
                </a:solidFill>
              </a:rPr>
              <a:t>	</a:t>
            </a:r>
            <a:r>
              <a:rPr lang="en-US" altLang="zh-CN" sz="2400" b="1" dirty="0">
                <a:solidFill>
                  <a:srgbClr val="111111"/>
                </a:solidFill>
              </a:rPr>
              <a:t>} </a:t>
            </a:r>
            <a:endParaRPr lang="en-US" altLang="zh-CN"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	return (OS_SEM_OVF);//</a:t>
            </a:r>
            <a:r>
              <a:rPr lang="zh-CN" altLang="en-US" sz="2400" b="1" dirty="0">
                <a:solidFill>
                  <a:srgbClr val="111111"/>
                </a:solidFill>
              </a:rPr>
              <a:t>信号量溢出</a:t>
            </a:r>
            <a:endParaRPr lang="zh-CN" altLang="en-US" sz="2400" b="1" dirty="0">
              <a:solidFill>
                <a:srgbClr val="111111"/>
              </a:solidFill>
            </a:endParaRPr>
          </a:p>
          <a:p>
            <a:pPr marL="0" lvl="0" indent="0" eaLnBrk="1" hangingPunct="1">
              <a:spcBef>
                <a:spcPct val="0"/>
              </a:spcBef>
              <a:buClrTx/>
              <a:buSzTx/>
              <a:buFontTx/>
              <a:buNone/>
            </a:pPr>
            <a:r>
              <a:rPr lang="en-US" altLang="zh-CN" sz="2400" b="1" dirty="0">
                <a:solidFill>
                  <a:srgbClr val="111111"/>
                </a:solidFill>
              </a:rPr>
              <a:t>}</a:t>
            </a:r>
            <a:r>
              <a:rPr lang="en-US" altLang="zh-CN" sz="2400" dirty="0">
                <a:solidFill>
                  <a:srgbClr val="111111"/>
                </a:solidFill>
              </a:rPr>
              <a:t> </a:t>
            </a:r>
            <a:endParaRPr lang="en-US" altLang="zh-CN" sz="2400" dirty="0">
              <a:solidFill>
                <a:srgbClr val="11111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4162"/>
                                        </p:tgtEl>
                                        <p:attrNameLst>
                                          <p:attrName>style.visibility</p:attrName>
                                        </p:attrNameLst>
                                      </p:cBhvr>
                                      <p:to>
                                        <p:strVal val="visible"/>
                                      </p:to>
                                    </p:set>
                                    <p:animEffect transition="in" filter="fade">
                                      <p:cBhvr>
                                        <p:cTn id="7" dur="2000"/>
                                        <p:tgtEl>
                                          <p:spTgt spid="604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62"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noRot="1"/>
          </p:cNvSpPr>
          <p:nvPr>
            <p:ph type="title"/>
          </p:nvPr>
        </p:nvSpPr>
        <p:spPr>
          <a:xfrm>
            <a:off x="1350963" y="304800"/>
            <a:ext cx="7793037" cy="1143000"/>
          </a:xfrm>
        </p:spPr>
        <p:txBody>
          <a:bodyPr vert="horz" wrap="square" lIns="91440" tIns="45720" rIns="91440" bIns="45720" anchor="ctr" anchorCtr="0"/>
          <a:p>
            <a:r>
              <a:rPr lang="en-US" altLang="zh-CN" b="1" dirty="0"/>
              <a:t>3</a:t>
            </a:r>
            <a:r>
              <a:rPr lang="zh-CN" altLang="en-US" b="1" dirty="0"/>
              <a:t>．</a:t>
            </a:r>
            <a:r>
              <a:rPr lang="en-US" altLang="zh-CN" b="1" dirty="0"/>
              <a:t>AND</a:t>
            </a:r>
            <a:r>
              <a:rPr lang="zh-CN" altLang="en-US" b="1" dirty="0"/>
              <a:t>型信号量</a:t>
            </a:r>
            <a:endParaRPr lang="zh-CN" altLang="en-US" b="1" dirty="0"/>
          </a:p>
        </p:txBody>
      </p:sp>
      <p:sp>
        <p:nvSpPr>
          <p:cNvPr id="407555" name="Rectangle 3"/>
          <p:cNvSpPr>
            <a:spLocks noGrp="1" noRot="1" noChangeArrowheads="1"/>
          </p:cNvSpPr>
          <p:nvPr>
            <p:ph idx="1"/>
          </p:nvPr>
        </p:nvSpPr>
        <p:spPr>
          <a:xfrm>
            <a:off x="304800" y="1600200"/>
            <a:ext cx="8610600" cy="4953000"/>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en-US" altLang="zh-CN" sz="28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n-lt"/>
                <a:ea typeface="+mn-ea"/>
                <a:cs typeface="+mn-cs"/>
              </a:rPr>
              <a:t>AND</a:t>
            </a:r>
            <a:r>
              <a:rPr kumimoji="0" lang="zh-CN" altLang="en-US" sz="28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n-lt"/>
                <a:ea typeface="+mn-ea"/>
                <a:cs typeface="+mn-cs"/>
              </a:rPr>
              <a:t>同步机制的基本思想</a:t>
            </a:r>
            <a:r>
              <a:rPr kumimoji="0" lang="zh-CN" altLang="en-US" sz="2800" b="0" i="0" u="none" strike="noStrike" kern="0" cap="none" spc="0" normalizeH="0" baseline="0" noProof="0" smtClean="0">
                <a:ln>
                  <a:noFill/>
                </a:ln>
                <a:solidFill>
                  <a:schemeClr val="tx1"/>
                </a:solidFill>
                <a:effectLst/>
                <a:uLnTx/>
                <a:uFillTx/>
                <a:latin typeface="+mn-lt"/>
                <a:ea typeface="+mn-ea"/>
                <a:cs typeface="+mn-cs"/>
              </a:rPr>
              <a:t>：</a:t>
            </a:r>
            <a:r>
              <a:rPr kumimoji="0" lang="zh-CN" altLang="en-US" sz="2800" b="1" i="0" u="none" strike="noStrike" kern="0" cap="none" spc="0" normalizeH="0" baseline="0" noProof="0" smtClean="0">
                <a:ln>
                  <a:noFill/>
                </a:ln>
                <a:solidFill>
                  <a:schemeClr val="tx1"/>
                </a:solidFill>
                <a:effectLst/>
                <a:uLnTx/>
                <a:uFillTx/>
                <a:latin typeface="+mn-lt"/>
                <a:ea typeface="+mn-ea"/>
                <a:cs typeface="+mn-cs"/>
              </a:rPr>
              <a:t>将进程在整个运行过程中需要的所有资源，一次性全都地分配给进程，待进程使用完后再一起释放。只要尚有一个资源未能分配给进程，其它所有可能为之分配的资源，也不分配给他。 </a:t>
            </a:r>
            <a:endParaRPr kumimoji="0" lang="zh-CN" altLang="en-US" sz="2800" b="1" i="0" u="none" strike="noStrike" kern="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rgbClr val="0000CC"/>
                </a:solidFill>
                <a:effectLst>
                  <a:outerShdw blurRad="38100" dist="38100" dir="2700000" algn="tl">
                    <a:srgbClr val="C0C0C0"/>
                  </a:outerShdw>
                </a:effectLst>
                <a:uLnTx/>
                <a:uFillTx/>
                <a:latin typeface="+mn-lt"/>
                <a:ea typeface="+mn-ea"/>
                <a:cs typeface="+mn-cs"/>
              </a:rPr>
              <a:t>原子操作</a:t>
            </a:r>
            <a:r>
              <a:rPr kumimoji="0" lang="zh-CN" altLang="en-US" sz="2800" b="1" i="0" u="none" strike="noStrike" kern="0" cap="none" spc="0" normalizeH="0" baseline="0" noProof="0" smtClean="0">
                <a:ln>
                  <a:noFill/>
                </a:ln>
                <a:solidFill>
                  <a:schemeClr val="tx1"/>
                </a:solidFill>
                <a:effectLst/>
                <a:uLnTx/>
                <a:uFillTx/>
                <a:latin typeface="+mn-lt"/>
                <a:ea typeface="+mn-ea"/>
                <a:cs typeface="+mn-cs"/>
              </a:rPr>
              <a:t>：要么全部分配到进程，要么一个也不分配 </a:t>
            </a:r>
            <a:r>
              <a:rPr kumimoji="0" lang="en-US" altLang="zh-CN" sz="2800" b="1" i="0" u="none" strike="noStrike" kern="0" cap="none" spc="0" normalizeH="0" baseline="0" noProof="0" smtClean="0">
                <a:ln>
                  <a:noFill/>
                </a:ln>
                <a:solidFill>
                  <a:schemeClr val="tx1"/>
                </a:solidFill>
                <a:effectLst/>
                <a:uLnTx/>
                <a:uFillTx/>
                <a:latin typeface="+mn-lt"/>
                <a:ea typeface="+mn-ea"/>
                <a:cs typeface="+mn-cs"/>
              </a:rPr>
              <a:t>.</a:t>
            </a:r>
            <a:endParaRPr kumimoji="0" lang="en-US" altLang="zh-CN" sz="2800" b="1" i="0" u="none" strike="noStrike" kern="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rgbClr val="FF0000"/>
                </a:solidFill>
                <a:effectLst/>
                <a:uLnTx/>
                <a:uFillTx/>
                <a:latin typeface="+mn-lt"/>
                <a:ea typeface="+mn-ea"/>
                <a:cs typeface="+mn-cs"/>
              </a:rPr>
              <a:t>在</a:t>
            </a:r>
            <a:r>
              <a:rPr kumimoji="0" lang="en-US" altLang="zh-CN" sz="2800" b="1" i="0" u="none" strike="noStrike" kern="0" cap="none" spc="0" normalizeH="0" baseline="0" noProof="0" smtClean="0">
                <a:ln>
                  <a:noFill/>
                </a:ln>
                <a:solidFill>
                  <a:srgbClr val="FF0000"/>
                </a:solidFill>
                <a:effectLst/>
                <a:uLnTx/>
                <a:uFillTx/>
                <a:latin typeface="+mn-lt"/>
                <a:ea typeface="+mn-ea"/>
                <a:cs typeface="+mn-cs"/>
              </a:rPr>
              <a:t>wait</a:t>
            </a:r>
            <a:r>
              <a:rPr kumimoji="0" lang="zh-CN" altLang="en-US" sz="2800" b="1" i="0" u="none" strike="noStrike" kern="0" cap="none" spc="0" normalizeH="0" baseline="0" noProof="0" smtClean="0">
                <a:ln>
                  <a:noFill/>
                </a:ln>
                <a:solidFill>
                  <a:srgbClr val="FF0000"/>
                </a:solidFill>
                <a:effectLst/>
                <a:uLnTx/>
                <a:uFillTx/>
                <a:latin typeface="+mn-lt"/>
                <a:ea typeface="+mn-ea"/>
                <a:cs typeface="+mn-cs"/>
              </a:rPr>
              <a:t>操作中，增加了一个</a:t>
            </a:r>
            <a:r>
              <a:rPr kumimoji="0" lang="zh-CN" altLang="en-US" sz="2800" b="1" i="0" u="none" strike="noStrike" kern="0" cap="none" spc="0" normalizeH="0" baseline="0" noProof="0" smtClean="0">
                <a:ln>
                  <a:noFill/>
                </a:ln>
                <a:solidFill>
                  <a:srgbClr val="FF0000"/>
                </a:solidFill>
                <a:effectLst/>
                <a:uLnTx/>
                <a:uFillTx/>
                <a:latin typeface="Courier New" panose="02070309020205020404"/>
                <a:ea typeface="+mn-ea"/>
                <a:cs typeface="+mn-cs"/>
              </a:rPr>
              <a:t>“</a:t>
            </a:r>
            <a:r>
              <a:rPr kumimoji="0" lang="en-US" altLang="zh-CN" sz="2800" b="1" i="0" u="none" strike="noStrike" kern="0" cap="none" spc="0" normalizeH="0" baseline="0" noProof="0" smtClean="0">
                <a:ln>
                  <a:noFill/>
                </a:ln>
                <a:solidFill>
                  <a:srgbClr val="FF0000"/>
                </a:solidFill>
                <a:effectLst/>
                <a:uLnTx/>
                <a:uFillTx/>
                <a:latin typeface="+mn-lt"/>
                <a:ea typeface="+mn-ea"/>
                <a:cs typeface="+mn-cs"/>
              </a:rPr>
              <a:t>AND</a:t>
            </a:r>
            <a:r>
              <a:rPr kumimoji="0" lang="en-US" altLang="zh-CN" sz="2800" b="1" i="0" u="none" strike="noStrike" kern="0" cap="none" spc="0" normalizeH="0" baseline="0" noProof="0" smtClean="0">
                <a:ln>
                  <a:noFill/>
                </a:ln>
                <a:solidFill>
                  <a:srgbClr val="FF0000"/>
                </a:solidFill>
                <a:effectLst/>
                <a:uLnTx/>
                <a:uFillTx/>
                <a:latin typeface="Courier New" panose="02070309020205020404"/>
                <a:ea typeface="+mn-ea"/>
                <a:cs typeface="+mn-cs"/>
              </a:rPr>
              <a:t>”</a:t>
            </a:r>
            <a:r>
              <a:rPr kumimoji="0" lang="zh-CN" altLang="en-US" sz="2800" b="1" i="0" u="none" strike="noStrike" kern="0" cap="none" spc="0" normalizeH="0" baseline="0" noProof="0" smtClean="0">
                <a:ln>
                  <a:noFill/>
                </a:ln>
                <a:solidFill>
                  <a:srgbClr val="FF0000"/>
                </a:solidFill>
                <a:effectLst/>
                <a:uLnTx/>
                <a:uFillTx/>
                <a:latin typeface="+mn-lt"/>
                <a:ea typeface="+mn-ea"/>
                <a:cs typeface="+mn-cs"/>
              </a:rPr>
              <a:t>条件，故称为</a:t>
            </a:r>
            <a:r>
              <a:rPr kumimoji="0" lang="en-US" altLang="zh-CN" sz="2800" b="1" i="0" u="none" strike="noStrike" kern="0" cap="none" spc="0" normalizeH="0" baseline="0" noProof="0" smtClean="0">
                <a:ln>
                  <a:noFill/>
                </a:ln>
                <a:solidFill>
                  <a:srgbClr val="FF0000"/>
                </a:solidFill>
                <a:effectLst/>
                <a:uLnTx/>
                <a:uFillTx/>
                <a:latin typeface="+mn-lt"/>
                <a:ea typeface="+mn-ea"/>
                <a:cs typeface="+mn-cs"/>
              </a:rPr>
              <a:t>AND</a:t>
            </a:r>
            <a:r>
              <a:rPr kumimoji="0" lang="zh-CN" altLang="en-US" sz="2800" b="1" i="0" u="none" strike="noStrike" kern="0" cap="none" spc="0" normalizeH="0" baseline="0" noProof="0" smtClean="0">
                <a:ln>
                  <a:noFill/>
                </a:ln>
                <a:solidFill>
                  <a:srgbClr val="FF0000"/>
                </a:solidFill>
                <a:effectLst/>
                <a:uLnTx/>
                <a:uFillTx/>
                <a:latin typeface="+mn-lt"/>
                <a:ea typeface="+mn-ea"/>
                <a:cs typeface="+mn-cs"/>
              </a:rPr>
              <a:t>同步，或称为</a:t>
            </a:r>
            <a:r>
              <a:rPr kumimoji="0" lang="zh-CN" altLang="en-US" sz="2800" b="1" i="1" u="sng" strike="noStrike" kern="0" cap="none" spc="0" normalizeH="0" baseline="0" noProof="0" smtClean="0">
                <a:ln>
                  <a:noFill/>
                </a:ln>
                <a:solidFill>
                  <a:srgbClr val="0066FF"/>
                </a:solidFill>
                <a:effectLst>
                  <a:outerShdw blurRad="38100" dist="38100" dir="2700000" algn="tl">
                    <a:srgbClr val="C0C0C0"/>
                  </a:outerShdw>
                </a:effectLst>
                <a:uLnTx/>
                <a:uFillTx/>
                <a:latin typeface="+mn-lt"/>
                <a:ea typeface="+mn-ea"/>
                <a:cs typeface="+mn-cs"/>
              </a:rPr>
              <a:t>同时</a:t>
            </a:r>
            <a:r>
              <a:rPr kumimoji="0" lang="en-US" altLang="zh-CN" sz="2800" b="1" i="1" u="sng" strike="noStrike" kern="0" cap="none" spc="0" normalizeH="0" baseline="0" noProof="0" smtClean="0">
                <a:ln>
                  <a:noFill/>
                </a:ln>
                <a:solidFill>
                  <a:srgbClr val="0066FF"/>
                </a:solidFill>
                <a:effectLst>
                  <a:outerShdw blurRad="38100" dist="38100" dir="2700000" algn="tl">
                    <a:srgbClr val="C0C0C0"/>
                  </a:outerShdw>
                </a:effectLst>
                <a:uLnTx/>
                <a:uFillTx/>
                <a:latin typeface="+mn-lt"/>
                <a:ea typeface="+mn-ea"/>
                <a:cs typeface="+mn-cs"/>
              </a:rPr>
              <a:t>wait</a:t>
            </a:r>
            <a:r>
              <a:rPr kumimoji="0" lang="zh-CN" altLang="en-US"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cs typeface="+mn-cs"/>
              </a:rPr>
              <a:t>操作</a:t>
            </a:r>
            <a:r>
              <a:rPr kumimoji="0" lang="en-US" altLang="zh-CN" sz="2800" b="1" i="0" u="none" strike="noStrike" kern="0" cap="none" spc="0" normalizeH="0" baseline="0" noProof="0" smtClean="0">
                <a:ln>
                  <a:noFill/>
                </a:ln>
                <a:solidFill>
                  <a:srgbClr val="FF0000"/>
                </a:solidFill>
                <a:effectLst>
                  <a:outerShdw blurRad="38100" dist="38100" dir="2700000" algn="tl">
                    <a:srgbClr val="C0C0C0"/>
                  </a:outerShdw>
                </a:effectLst>
                <a:uLnTx/>
                <a:uFillTx/>
                <a:latin typeface="+mn-lt"/>
                <a:ea typeface="+mn-ea"/>
                <a:cs typeface="+mn-cs"/>
              </a:rPr>
              <a:t>.</a:t>
            </a:r>
            <a:r>
              <a:rPr kumimoji="0" lang="en-US" altLang="zh-CN" sz="2800" b="1" i="0" u="none" strike="noStrike" kern="0" cap="none" spc="0" normalizeH="0" baseline="0" noProof="0" smtClean="0">
                <a:ln>
                  <a:noFill/>
                </a:ln>
                <a:solidFill>
                  <a:srgbClr val="FF0000"/>
                </a:solidFill>
                <a:effectLst/>
                <a:uLnTx/>
                <a:uFillTx/>
                <a:latin typeface="+mn-lt"/>
                <a:ea typeface="+mn-ea"/>
                <a:cs typeface="+mn-cs"/>
              </a:rPr>
              <a:t> </a:t>
            </a:r>
            <a:endParaRPr kumimoji="0" lang="en-US" altLang="zh-CN" sz="2800" b="1" i="0" u="none" strike="noStrike" kern="0" cap="none" spc="0" normalizeH="0" baseline="0" noProof="0" smtClean="0">
              <a:ln>
                <a:noFill/>
              </a:ln>
              <a:solidFill>
                <a:srgbClr val="FF0000"/>
              </a:solidFill>
              <a:effectLst/>
              <a:uLnTx/>
              <a:uFillTx/>
              <a:latin typeface="+mn-lt"/>
              <a:ea typeface="+mn-ea"/>
              <a:cs typeface="+mn-c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2"/>
          <p:cNvSpPr>
            <a:spLocks noGrp="1" noRot="1"/>
          </p:cNvSpPr>
          <p:nvPr>
            <p:ph/>
          </p:nvPr>
        </p:nvSpPr>
        <p:spPr>
          <a:xfrm>
            <a:off x="304800" y="381000"/>
            <a:ext cx="8534400" cy="6096000"/>
          </a:xfrm>
        </p:spPr>
        <p:txBody>
          <a:bodyPr vert="horz" wrap="square" lIns="91440" tIns="45720" rIns="91440" bIns="45720" anchor="t" anchorCtr="0"/>
          <a:p>
            <a:pPr marL="952500" indent="-952500" algn="just">
              <a:buNone/>
            </a:pPr>
            <a:r>
              <a:rPr lang="en-US" altLang="zh-CN" sz="2400" b="1" dirty="0"/>
              <a:t>Swait</a:t>
            </a:r>
            <a:r>
              <a:rPr lang="zh-CN" altLang="en-US" sz="2400" b="1" dirty="0"/>
              <a:t>（</a:t>
            </a:r>
            <a:r>
              <a:rPr lang="en-US" altLang="zh-CN" sz="2400" b="1" dirty="0"/>
              <a:t>S1</a:t>
            </a:r>
            <a:r>
              <a:rPr lang="zh-CN" altLang="en-US" sz="2400" b="1" dirty="0"/>
              <a:t>，</a:t>
            </a:r>
            <a:r>
              <a:rPr lang="en-US" altLang="zh-CN" sz="2400" b="1" dirty="0"/>
              <a:t>S2</a:t>
            </a:r>
            <a:r>
              <a:rPr lang="zh-CN" altLang="en-US" sz="2400" b="1" dirty="0"/>
              <a:t>，</a:t>
            </a:r>
            <a:r>
              <a:rPr lang="en-US" altLang="zh-CN" sz="2400" b="1" dirty="0">
                <a:latin typeface="Courier New" panose="02070309020205020404" pitchFamily="49" charset="0"/>
              </a:rPr>
              <a:t>···</a:t>
            </a:r>
            <a:r>
              <a:rPr lang="zh-CN" altLang="en-US" sz="2400" b="1" dirty="0"/>
              <a:t>，</a:t>
            </a:r>
            <a:r>
              <a:rPr lang="en-US" altLang="zh-CN" sz="2400" b="1" dirty="0"/>
              <a:t>Sn </a:t>
            </a:r>
            <a:r>
              <a:rPr lang="zh-CN" altLang="en-US" sz="2400" b="1" dirty="0"/>
              <a:t>） </a:t>
            </a:r>
            <a:endParaRPr lang="zh-CN" altLang="en-US" sz="2400" b="1" dirty="0"/>
          </a:p>
          <a:p>
            <a:pPr marL="952500" indent="-952500" algn="just">
              <a:buNone/>
            </a:pPr>
            <a:r>
              <a:rPr lang="en-US" altLang="zh-CN" sz="2400" b="1" dirty="0"/>
              <a:t>{</a:t>
            </a:r>
            <a:endParaRPr lang="en-US" altLang="zh-CN" sz="2400" b="1" dirty="0"/>
          </a:p>
          <a:p>
            <a:pPr marL="952500" indent="-952500" algn="just">
              <a:buNone/>
            </a:pPr>
            <a:r>
              <a:rPr lang="en-US" altLang="zh-CN" sz="2400" b="1" dirty="0"/>
              <a:t>while(TRUE)</a:t>
            </a:r>
            <a:endParaRPr lang="en-US" altLang="zh-CN" sz="2400" b="1" dirty="0"/>
          </a:p>
          <a:p>
            <a:pPr marL="952500" indent="-952500" algn="just">
              <a:buNone/>
            </a:pPr>
            <a:r>
              <a:rPr lang="en-US" altLang="zh-CN" sz="2400" b="1" dirty="0"/>
              <a:t>	{</a:t>
            </a:r>
            <a:endParaRPr lang="en-US" altLang="zh-CN" sz="2400" b="1" dirty="0"/>
          </a:p>
          <a:p>
            <a:pPr marL="952500" indent="-952500" algn="just">
              <a:buNone/>
            </a:pPr>
            <a:r>
              <a:rPr lang="en-US" altLang="zh-CN" sz="2400" b="1" dirty="0"/>
              <a:t>	if(Si&gt;=1 &amp;&amp;…&amp;&amp;Sn&gt;=1){</a:t>
            </a:r>
            <a:endParaRPr lang="en-US" altLang="zh-CN" sz="2400" b="1" dirty="0"/>
          </a:p>
          <a:p>
            <a:pPr marL="952500" indent="-952500" algn="just">
              <a:buNone/>
            </a:pPr>
            <a:r>
              <a:rPr lang="en-US" altLang="zh-CN" sz="2400" b="1" dirty="0"/>
              <a:t>		for(i=1;i&lt;=n;i++) Si--;</a:t>
            </a:r>
            <a:endParaRPr lang="en-US" altLang="zh-CN" sz="2400" b="1" dirty="0"/>
          </a:p>
          <a:p>
            <a:pPr marL="952500" indent="-952500" algn="just">
              <a:buNone/>
            </a:pPr>
            <a:r>
              <a:rPr lang="en-US" altLang="zh-CN" sz="2400" b="1" dirty="0"/>
              <a:t>		break;</a:t>
            </a:r>
            <a:endParaRPr lang="en-US" altLang="zh-CN" sz="2400" b="1" dirty="0"/>
          </a:p>
          <a:p>
            <a:pPr marL="952500" indent="-952500" algn="just">
              <a:buNone/>
            </a:pPr>
            <a:r>
              <a:rPr lang="en-US" altLang="zh-CN" sz="2400" b="1" dirty="0"/>
              <a:t>		}</a:t>
            </a:r>
            <a:endParaRPr lang="en-US" altLang="zh-CN" sz="2400" b="1" dirty="0"/>
          </a:p>
          <a:p>
            <a:pPr marL="952500" indent="-952500" algn="just">
              <a:buNone/>
            </a:pPr>
            <a:r>
              <a:rPr lang="en-US" altLang="zh-CN" sz="2400" b="1" dirty="0"/>
              <a:t>else {place  the process  in  the waiting  queue  associated  with  the  first  Si  found  with  Si</a:t>
            </a:r>
            <a:r>
              <a:rPr lang="zh-CN" altLang="en-US" sz="2400" b="1" dirty="0"/>
              <a:t>＜</a:t>
            </a:r>
            <a:r>
              <a:rPr lang="en-US" altLang="zh-CN" sz="2400" b="1" dirty="0"/>
              <a:t>1  </a:t>
            </a:r>
            <a:r>
              <a:rPr lang="zh-CN" altLang="en-US" sz="2400" b="1" dirty="0"/>
              <a:t>，  </a:t>
            </a:r>
            <a:r>
              <a:rPr lang="en-US" altLang="zh-CN" sz="2400" b="1" dirty="0"/>
              <a:t>and  set  the      program  count  of  this  process  to  the  beginning  of  Swait  operation</a:t>
            </a:r>
            <a:endParaRPr lang="en-US" altLang="zh-CN" sz="2400" b="1" dirty="0"/>
          </a:p>
          <a:p>
            <a:pPr marL="952500" indent="-952500" algn="just">
              <a:buNone/>
            </a:pPr>
            <a:r>
              <a:rPr lang="en-US" altLang="zh-CN" sz="2400" b="1" dirty="0"/>
              <a:t>	}</a:t>
            </a:r>
            <a:endParaRPr lang="en-US" altLang="zh-CN" sz="2400" b="1" dirty="0"/>
          </a:p>
          <a:p>
            <a:pPr marL="952500" indent="-952500" algn="just">
              <a:buNone/>
            </a:pPr>
            <a:r>
              <a:rPr lang="en-US" altLang="zh-CN" sz="2400" b="1" dirty="0"/>
              <a:t>      }</a:t>
            </a:r>
            <a:endParaRPr lang="en-US" altLang="zh-CN" sz="2400" b="1" dirty="0"/>
          </a:p>
          <a:p>
            <a:pPr marL="952500" indent="-952500" algn="just">
              <a:buNone/>
            </a:pPr>
            <a:r>
              <a:rPr lang="en-US" altLang="zh-CN" sz="2400" b="1" dirty="0"/>
              <a:t>}</a:t>
            </a:r>
            <a:endParaRPr lang="en-US" altLang="zh-CN" sz="2400" b="1"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noRot="1"/>
          </p:cNvSpPr>
          <p:nvPr>
            <p:ph/>
          </p:nvPr>
        </p:nvSpPr>
        <p:spPr>
          <a:xfrm>
            <a:off x="301625" y="838200"/>
            <a:ext cx="8540750" cy="5870575"/>
          </a:xfrm>
        </p:spPr>
        <p:txBody>
          <a:bodyPr vert="horz" wrap="square" lIns="91440" tIns="45720" rIns="91440" bIns="45720" anchor="t" anchorCtr="0"/>
          <a:p>
            <a:pPr marL="579755" indent="-579755" algn="just">
              <a:buNone/>
            </a:pPr>
            <a:r>
              <a:rPr lang="en-US" altLang="zh-CN" dirty="0"/>
              <a:t>Ssignal</a:t>
            </a:r>
            <a:r>
              <a:rPr lang="zh-CN" altLang="en-US" dirty="0"/>
              <a:t>（</a:t>
            </a:r>
            <a:r>
              <a:rPr lang="en-US" altLang="zh-CN" dirty="0"/>
              <a:t>S1</a:t>
            </a:r>
            <a:r>
              <a:rPr lang="zh-CN" altLang="en-US" dirty="0"/>
              <a:t>，</a:t>
            </a:r>
            <a:r>
              <a:rPr lang="en-US" altLang="zh-CN" dirty="0"/>
              <a:t>S2</a:t>
            </a:r>
            <a:r>
              <a:rPr lang="zh-CN" altLang="en-US" dirty="0"/>
              <a:t>，</a:t>
            </a:r>
            <a:r>
              <a:rPr lang="en-US" altLang="zh-CN" dirty="0">
                <a:latin typeface="Courier New" panose="02070309020205020404" pitchFamily="49" charset="0"/>
              </a:rPr>
              <a:t>···</a:t>
            </a:r>
            <a:r>
              <a:rPr lang="zh-CN" altLang="en-US" dirty="0"/>
              <a:t>，</a:t>
            </a:r>
            <a:r>
              <a:rPr lang="en-US" altLang="zh-CN" dirty="0"/>
              <a:t>Sn</a:t>
            </a:r>
            <a:r>
              <a:rPr lang="zh-CN" altLang="en-US" dirty="0"/>
              <a:t>）</a:t>
            </a:r>
            <a:endParaRPr lang="zh-CN" altLang="en-US" dirty="0"/>
          </a:p>
          <a:p>
            <a:pPr marL="579755" indent="-579755" algn="just">
              <a:buNone/>
            </a:pPr>
            <a:r>
              <a:rPr lang="en-US" altLang="zh-CN" dirty="0"/>
              <a:t> while(TRUE) {</a:t>
            </a:r>
            <a:endParaRPr lang="en-US" altLang="zh-CN" dirty="0"/>
          </a:p>
          <a:p>
            <a:pPr marL="579755" indent="-579755" algn="just">
              <a:buNone/>
            </a:pPr>
            <a:r>
              <a:rPr lang="en-US" altLang="zh-CN" dirty="0"/>
              <a:t>	for (i=1;i&lt;=n;i++) {</a:t>
            </a:r>
            <a:endParaRPr lang="en-US" altLang="zh-CN" dirty="0"/>
          </a:p>
          <a:p>
            <a:pPr marL="579755" indent="-579755" algn="just">
              <a:buNone/>
            </a:pPr>
            <a:r>
              <a:rPr lang="en-US" altLang="zh-CN" dirty="0"/>
              <a:t>		Si++;</a:t>
            </a:r>
            <a:endParaRPr lang="en-US" altLang="zh-CN" dirty="0"/>
          </a:p>
          <a:p>
            <a:pPr marL="579755" indent="-579755" algn="just">
              <a:buNone/>
            </a:pPr>
            <a:r>
              <a:rPr lang="en-US" altLang="zh-CN" dirty="0"/>
              <a:t>		Remove  all  the  process  waiting  in  the  queue  associated  with  Si  into  the  ready  queue</a:t>
            </a:r>
            <a:r>
              <a:rPr lang="zh-CN" altLang="en-US" dirty="0"/>
              <a:t>。</a:t>
            </a:r>
            <a:endParaRPr lang="zh-CN" altLang="en-US" dirty="0"/>
          </a:p>
          <a:p>
            <a:pPr marL="579755" indent="-579755" algn="just">
              <a:buNone/>
            </a:pPr>
            <a:r>
              <a:rPr lang="en-US" altLang="zh-CN" dirty="0"/>
              <a:t>     }</a:t>
            </a:r>
            <a:endParaRPr lang="en-US" altLang="zh-CN" dirty="0"/>
          </a:p>
          <a:p>
            <a:pPr marL="579755" indent="-579755" algn="just">
              <a:buNone/>
            </a:pPr>
            <a:r>
              <a:rPr lang="en-US" altLang="zh-CN" dirty="0"/>
              <a:t>  }</a:t>
            </a:r>
            <a:endParaRPr lang="en-US" altLang="zh-CN" dirty="0"/>
          </a:p>
          <a:p>
            <a:pPr marL="579755" indent="-579755" algn="just">
              <a:buNone/>
            </a:pPr>
            <a:r>
              <a:rPr lang="en-US" altLang="zh-CN" dirty="0"/>
              <a:t>}</a:t>
            </a: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2"/>
          <p:cNvSpPr>
            <a:spLocks noGrp="1" noRot="1"/>
          </p:cNvSpPr>
          <p:nvPr>
            <p:ph type="title"/>
          </p:nvPr>
        </p:nvSpPr>
        <p:spPr>
          <a:xfrm>
            <a:off x="685800" y="381000"/>
            <a:ext cx="7772400" cy="381000"/>
          </a:xfrm>
        </p:spPr>
        <p:txBody>
          <a:bodyPr vert="horz" wrap="square" lIns="91440" tIns="45720" rIns="91440" bIns="45720" anchor="ctr" anchorCtr="0"/>
          <a:p>
            <a:r>
              <a:rPr lang="en-US" altLang="zh-CN" b="1" dirty="0"/>
              <a:t>4</a:t>
            </a:r>
            <a:r>
              <a:rPr lang="zh-CN" altLang="en-US" b="1" dirty="0"/>
              <a:t>．信号量集</a:t>
            </a:r>
            <a:endParaRPr lang="zh-CN" altLang="en-US" b="1" dirty="0"/>
          </a:p>
        </p:txBody>
      </p:sp>
      <p:sp>
        <p:nvSpPr>
          <p:cNvPr id="114691" name="Rectangle 3"/>
          <p:cNvSpPr>
            <a:spLocks noGrp="1" noRot="1"/>
          </p:cNvSpPr>
          <p:nvPr>
            <p:ph idx="1"/>
          </p:nvPr>
        </p:nvSpPr>
        <p:spPr>
          <a:xfrm>
            <a:off x="304800" y="1828800"/>
            <a:ext cx="8610600" cy="4876800"/>
          </a:xfrm>
          <a:ln>
            <a:solidFill>
              <a:schemeClr val="bg1">
                <a:alpha val="100000"/>
              </a:schemeClr>
            </a:solidFill>
            <a:miter lim="800000"/>
          </a:ln>
        </p:spPr>
        <p:txBody>
          <a:bodyPr vert="horz" wrap="square" lIns="91440" tIns="45720" rIns="91440" bIns="45720" anchor="t" anchorCtr="0"/>
          <a:p>
            <a:pPr marL="386080" indent="-386080">
              <a:lnSpc>
                <a:spcPct val="110000"/>
              </a:lnSpc>
            </a:pPr>
            <a:r>
              <a:rPr lang="zh-CN" altLang="en-US" b="1" dirty="0"/>
              <a:t>在记录型信号量机制中，</a:t>
            </a:r>
            <a:r>
              <a:rPr lang="en-US" altLang="zh-CN" b="1" dirty="0"/>
              <a:t>wait(S)</a:t>
            </a:r>
            <a:r>
              <a:rPr lang="zh-CN" altLang="en-US" b="1" dirty="0"/>
              <a:t>或</a:t>
            </a:r>
            <a:r>
              <a:rPr lang="en-US" altLang="zh-CN" b="1" dirty="0"/>
              <a:t>signal(S)</a:t>
            </a:r>
            <a:r>
              <a:rPr lang="zh-CN" altLang="en-US" b="1" dirty="0"/>
              <a:t>操作仅能对信号量施以加</a:t>
            </a:r>
            <a:r>
              <a:rPr lang="en-US" altLang="zh-CN" b="1" dirty="0"/>
              <a:t>1 </a:t>
            </a:r>
            <a:r>
              <a:rPr lang="zh-CN" altLang="en-US" b="1" dirty="0"/>
              <a:t>或减</a:t>
            </a:r>
            <a:r>
              <a:rPr lang="en-US" altLang="zh-CN" b="1" dirty="0"/>
              <a:t>1 </a:t>
            </a:r>
            <a:r>
              <a:rPr lang="zh-CN" altLang="en-US" b="1" dirty="0"/>
              <a:t>操作，意味着每次只能获得或释放一个单位的临界资源。</a:t>
            </a:r>
            <a:endParaRPr lang="zh-CN" altLang="en-US" b="1" dirty="0"/>
          </a:p>
          <a:p>
            <a:pPr marL="386080" indent="-386080">
              <a:lnSpc>
                <a:spcPct val="110000"/>
              </a:lnSpc>
            </a:pPr>
            <a:r>
              <a:rPr lang="zh-CN" altLang="en-US" b="1" dirty="0"/>
              <a:t>在每次分配时，采用信号量集来控制，可以分配多个资源。</a:t>
            </a:r>
            <a:endParaRPr lang="zh-CN" altLang="en-US" b="1" dirty="0"/>
          </a:p>
          <a:p>
            <a:pPr marL="386080" indent="-386080">
              <a:lnSpc>
                <a:spcPct val="110000"/>
              </a:lnSpc>
            </a:pPr>
            <a:endParaRPr lang="zh-CN" altLang="en-US" b="1" dirty="0"/>
          </a:p>
          <a:p>
            <a:pPr marL="386080" indent="-386080" algn="just">
              <a:lnSpc>
                <a:spcPct val="110000"/>
              </a:lnSpc>
              <a:buNone/>
            </a:pPr>
            <a:r>
              <a:rPr lang="zh-CN" altLang="en-US" b="1" dirty="0"/>
              <a:t>    </a:t>
            </a:r>
            <a:endParaRPr lang="en-US" altLang="zh-CN" b="1"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noRot="1"/>
          </p:cNvSpPr>
          <p:nvPr>
            <p:ph type="title"/>
          </p:nvPr>
        </p:nvSpPr>
        <p:spPr/>
        <p:txBody>
          <a:bodyPr vert="horz" wrap="square" lIns="91440" tIns="45720" rIns="91440" bIns="45720" anchor="ctr" anchorCtr="0"/>
          <a:p>
            <a:r>
              <a:rPr lang="en-US" altLang="zh-CN" b="1" dirty="0"/>
              <a:t>4</a:t>
            </a:r>
            <a:r>
              <a:rPr lang="zh-CN" altLang="en-US" b="1" dirty="0"/>
              <a:t>．信号量集</a:t>
            </a:r>
            <a:endParaRPr lang="zh-CN" altLang="en-US" b="1" dirty="0"/>
          </a:p>
        </p:txBody>
      </p:sp>
      <p:sp>
        <p:nvSpPr>
          <p:cNvPr id="115715" name="Rectangle 3"/>
          <p:cNvSpPr>
            <a:spLocks noGrp="1" noRot="1"/>
          </p:cNvSpPr>
          <p:nvPr>
            <p:ph idx="1"/>
          </p:nvPr>
        </p:nvSpPr>
        <p:spPr/>
        <p:txBody>
          <a:bodyPr vert="horz" wrap="square" lIns="91440" tIns="45720" rIns="91440" bIns="45720" anchor="t" anchorCtr="0"/>
          <a:p>
            <a:pPr algn="just">
              <a:lnSpc>
                <a:spcPct val="90000"/>
              </a:lnSpc>
              <a:buNone/>
            </a:pPr>
            <a:r>
              <a:rPr lang="en-US" altLang="zh-CN" sz="2400" b="1" dirty="0"/>
              <a:t>Swait</a:t>
            </a:r>
            <a:r>
              <a:rPr lang="zh-CN" altLang="en-US" sz="2400" b="1" dirty="0"/>
              <a:t>（</a:t>
            </a:r>
            <a:r>
              <a:rPr lang="en-US" altLang="zh-CN" sz="2400" b="1" dirty="0"/>
              <a:t>S1</a:t>
            </a:r>
            <a:r>
              <a:rPr lang="zh-CN" altLang="en-US" sz="2400" b="1" dirty="0"/>
              <a:t>，</a:t>
            </a:r>
            <a:r>
              <a:rPr lang="en-US" altLang="zh-CN" sz="2400" b="1" dirty="0"/>
              <a:t>t1</a:t>
            </a:r>
            <a:r>
              <a:rPr lang="zh-CN" altLang="en-US" sz="2400" b="1" dirty="0"/>
              <a:t>，</a:t>
            </a:r>
            <a:r>
              <a:rPr lang="en-US" altLang="zh-CN" sz="2400" b="1" dirty="0"/>
              <a:t>d1</a:t>
            </a:r>
            <a:r>
              <a:rPr lang="zh-CN" altLang="en-US" sz="2400" b="1" dirty="0"/>
              <a:t>，</a:t>
            </a:r>
            <a:r>
              <a:rPr lang="en-US" altLang="zh-CN" sz="2400" b="1" dirty="0">
                <a:latin typeface="Courier New" panose="02070309020205020404" pitchFamily="49" charset="0"/>
              </a:rPr>
              <a:t>…</a:t>
            </a:r>
            <a:r>
              <a:rPr lang="zh-CN" altLang="en-US" sz="2400" b="1" dirty="0"/>
              <a:t>，</a:t>
            </a:r>
            <a:r>
              <a:rPr lang="en-US" altLang="zh-CN" sz="2400" b="1" dirty="0"/>
              <a:t>Sn</a:t>
            </a:r>
            <a:r>
              <a:rPr lang="zh-CN" altLang="en-US" sz="2400" b="1" dirty="0"/>
              <a:t>，</a:t>
            </a:r>
            <a:r>
              <a:rPr lang="en-US" altLang="zh-CN" sz="2400" b="1" dirty="0"/>
              <a:t>tn</a:t>
            </a:r>
            <a:r>
              <a:rPr lang="zh-CN" altLang="en-US" sz="2400" b="1" dirty="0"/>
              <a:t>，</a:t>
            </a:r>
            <a:r>
              <a:rPr lang="en-US" altLang="zh-CN" sz="2400" b="1" dirty="0"/>
              <a:t>dn</a:t>
            </a:r>
            <a:r>
              <a:rPr lang="zh-CN" altLang="en-US" sz="2400" b="1" dirty="0"/>
              <a:t>）（满足</a:t>
            </a:r>
            <a:r>
              <a:rPr lang="en-US" altLang="zh-CN" sz="2400" b="1" dirty="0"/>
              <a:t>ti≥ di</a:t>
            </a:r>
            <a:r>
              <a:rPr lang="zh-CN" altLang="en-US" sz="2400" b="1" dirty="0"/>
              <a:t>）</a:t>
            </a:r>
            <a:endParaRPr lang="zh-CN" altLang="en-US" sz="2400" b="1" dirty="0"/>
          </a:p>
          <a:p>
            <a:pPr algn="just">
              <a:lnSpc>
                <a:spcPct val="90000"/>
              </a:lnSpc>
              <a:buNone/>
            </a:pPr>
            <a:r>
              <a:rPr lang="zh-CN" altLang="en-US" sz="2400" b="1" dirty="0"/>
              <a:t>    </a:t>
            </a:r>
            <a:endParaRPr lang="zh-CN" altLang="en-US" sz="2400" b="1" dirty="0"/>
          </a:p>
          <a:p>
            <a:pPr algn="just">
              <a:lnSpc>
                <a:spcPct val="90000"/>
              </a:lnSpc>
              <a:buNone/>
            </a:pPr>
            <a:r>
              <a:rPr lang="zh-CN" altLang="en-US" sz="2400" b="1" dirty="0"/>
              <a:t>    </a:t>
            </a:r>
            <a:r>
              <a:rPr lang="en-US" altLang="zh-CN" sz="2400" b="1" dirty="0"/>
              <a:t>if S1 ≥t1  and</a:t>
            </a:r>
            <a:r>
              <a:rPr lang="en-US" altLang="zh-CN" sz="2400" b="1" dirty="0">
                <a:latin typeface="Courier New" panose="02070309020205020404" pitchFamily="49" charset="0"/>
              </a:rPr>
              <a:t>…</a:t>
            </a:r>
            <a:r>
              <a:rPr lang="en-US" altLang="zh-CN" sz="2400" b="1" dirty="0"/>
              <a:t>and  Sn≥tn  then</a:t>
            </a:r>
            <a:endParaRPr lang="en-US" altLang="zh-CN" sz="2400" b="1" dirty="0"/>
          </a:p>
          <a:p>
            <a:pPr algn="just">
              <a:lnSpc>
                <a:spcPct val="90000"/>
              </a:lnSpc>
              <a:buNone/>
            </a:pPr>
            <a:r>
              <a:rPr lang="en-US" altLang="zh-CN" sz="2400" b="1" dirty="0"/>
              <a:t>          for  i</a:t>
            </a:r>
            <a:r>
              <a:rPr lang="zh-CN" altLang="en-US" sz="2400" b="1" dirty="0"/>
              <a:t>：</a:t>
            </a:r>
            <a:r>
              <a:rPr lang="en-US" altLang="zh-CN" sz="2400" b="1" dirty="0"/>
              <a:t>=1  to  n  do</a:t>
            </a:r>
            <a:endParaRPr lang="en-US" altLang="zh-CN" sz="2400" b="1" dirty="0"/>
          </a:p>
          <a:p>
            <a:pPr algn="just">
              <a:lnSpc>
                <a:spcPct val="90000"/>
              </a:lnSpc>
              <a:buNone/>
            </a:pPr>
            <a:r>
              <a:rPr lang="en-US" altLang="zh-CN" sz="2400" b="1" dirty="0"/>
              <a:t>                    Si</a:t>
            </a:r>
            <a:r>
              <a:rPr lang="zh-CN" altLang="en-US" sz="2400" b="1" dirty="0"/>
              <a:t>：＝</a:t>
            </a:r>
            <a:r>
              <a:rPr lang="en-US" altLang="zh-CN" sz="2400" b="1" dirty="0"/>
              <a:t>Si</a:t>
            </a:r>
            <a:r>
              <a:rPr lang="zh-CN" altLang="en-US" sz="2400" b="1" dirty="0"/>
              <a:t>一</a:t>
            </a:r>
            <a:r>
              <a:rPr lang="en-US" altLang="zh-CN" sz="2400" b="1" dirty="0"/>
              <a:t>di</a:t>
            </a:r>
            <a:r>
              <a:rPr lang="zh-CN" altLang="en-US" sz="2400" b="1" dirty="0"/>
              <a:t>；</a:t>
            </a:r>
            <a:endParaRPr lang="zh-CN" altLang="en-US" sz="2400" b="1" dirty="0"/>
          </a:p>
          <a:p>
            <a:pPr algn="just">
              <a:lnSpc>
                <a:spcPct val="90000"/>
              </a:lnSpc>
              <a:buNone/>
            </a:pPr>
            <a:r>
              <a:rPr lang="zh-CN" altLang="en-US" sz="2400" b="1" dirty="0"/>
              <a:t>          </a:t>
            </a:r>
            <a:r>
              <a:rPr lang="en-US" altLang="zh-CN" sz="2400" b="1" dirty="0"/>
              <a:t>endfor</a:t>
            </a:r>
            <a:endParaRPr lang="en-US" altLang="zh-CN" sz="2400" b="1" dirty="0"/>
          </a:p>
          <a:p>
            <a:pPr algn="just">
              <a:lnSpc>
                <a:spcPct val="90000"/>
              </a:lnSpc>
              <a:buNone/>
            </a:pPr>
            <a:r>
              <a:rPr lang="en-US" altLang="zh-CN" sz="2400" b="1" dirty="0"/>
              <a:t>     else</a:t>
            </a:r>
            <a:endParaRPr lang="en-US" altLang="zh-CN" sz="2400" b="1" dirty="0"/>
          </a:p>
          <a:p>
            <a:pPr>
              <a:lnSpc>
                <a:spcPct val="90000"/>
              </a:lnSpc>
              <a:buNone/>
            </a:pPr>
            <a:r>
              <a:rPr lang="en-US" altLang="zh-CN" sz="2400" b="1" dirty="0"/>
              <a:t>          Place  the  executing  process  in  the  waiting  queue  of  the  first Si  with Si</a:t>
            </a:r>
            <a:r>
              <a:rPr lang="zh-CN" altLang="en-US" sz="2400" b="1" dirty="0"/>
              <a:t>＜</a:t>
            </a:r>
            <a:r>
              <a:rPr lang="en-US" altLang="zh-CN" sz="2400" b="1" dirty="0"/>
              <a:t>ti  and  set  its  program    counter  to  the  beginning  of  the  Swait  operation</a:t>
            </a:r>
            <a:r>
              <a:rPr lang="zh-CN" altLang="en-US" sz="2400" b="1" dirty="0"/>
              <a:t>。</a:t>
            </a:r>
            <a:endParaRPr lang="zh-CN" altLang="en-US" sz="2400" b="1" dirty="0"/>
          </a:p>
          <a:p>
            <a:pPr algn="just">
              <a:lnSpc>
                <a:spcPct val="90000"/>
              </a:lnSpc>
              <a:buNone/>
            </a:pPr>
            <a:r>
              <a:rPr lang="zh-CN" altLang="en-US" sz="2400" b="1" dirty="0"/>
              <a:t>    </a:t>
            </a:r>
            <a:r>
              <a:rPr lang="en-US" altLang="zh-CN" sz="2400" b="1" dirty="0"/>
              <a:t>endif</a:t>
            </a:r>
            <a:r>
              <a:rPr lang="en-US" altLang="zh-CN" sz="2800" b="1" dirty="0"/>
              <a:t> </a:t>
            </a:r>
            <a:endParaRPr lang="en-US" altLang="zh-CN" sz="2800" b="1" dirty="0"/>
          </a:p>
          <a:p>
            <a:pPr>
              <a:lnSpc>
                <a:spcPct val="90000"/>
              </a:lnSpc>
            </a:pPr>
            <a:endParaRPr lang="zh-CN" altLang="en-US" sz="2400" dirty="0"/>
          </a:p>
        </p:txBody>
      </p:sp>
      <p:sp>
        <p:nvSpPr>
          <p:cNvPr id="115716" name="AutoShape 4"/>
          <p:cNvSpPr/>
          <p:nvPr/>
        </p:nvSpPr>
        <p:spPr>
          <a:xfrm>
            <a:off x="5257800" y="2743200"/>
            <a:ext cx="1371600" cy="381000"/>
          </a:xfrm>
          <a:prstGeom prst="wedgeRoundRectCallout">
            <a:avLst>
              <a:gd name="adj1" fmla="val -91088"/>
              <a:gd name="adj2" fmla="val -251667"/>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1600" b="1" dirty="0">
                <a:latin typeface="Times New Roman" panose="02020603050405020304" pitchFamily="18" charset="0"/>
              </a:rPr>
              <a:t>资源下限值</a:t>
            </a:r>
            <a:endParaRPr lang="zh-CN" altLang="en-US" sz="1600" b="1" dirty="0">
              <a:latin typeface="Times New Roman" panose="02020603050405020304" pitchFamily="18" charset="0"/>
            </a:endParaRPr>
          </a:p>
        </p:txBody>
      </p:sp>
      <p:sp>
        <p:nvSpPr>
          <p:cNvPr id="115717" name="AutoShape 5"/>
          <p:cNvSpPr/>
          <p:nvPr/>
        </p:nvSpPr>
        <p:spPr>
          <a:xfrm>
            <a:off x="6019800" y="2286000"/>
            <a:ext cx="1219200" cy="304800"/>
          </a:xfrm>
          <a:prstGeom prst="wedgeRoundRectCallout">
            <a:avLst>
              <a:gd name="adj1" fmla="val -102472"/>
              <a:gd name="adj2" fmla="val -168231"/>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1600" b="1" dirty="0">
                <a:latin typeface="Times New Roman" panose="02020603050405020304" pitchFamily="18" charset="0"/>
              </a:rPr>
              <a:t>需求量</a:t>
            </a:r>
            <a:endParaRPr lang="zh-CN" altLang="en-US" sz="1600" b="1" dirty="0">
              <a:latin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noRot="1"/>
          </p:cNvSpPr>
          <p:nvPr>
            <p:ph type="title"/>
          </p:nvPr>
        </p:nvSpPr>
        <p:spPr/>
        <p:txBody>
          <a:bodyPr vert="horz" wrap="square" lIns="91440" tIns="45720" rIns="91440" bIns="45720" anchor="ctr" anchorCtr="0"/>
          <a:p>
            <a:r>
              <a:rPr lang="zh-CN" altLang="en-US" dirty="0"/>
              <a:t>资源释放操作（ </a:t>
            </a:r>
            <a:r>
              <a:rPr lang="en-US" altLang="zh-CN" dirty="0"/>
              <a:t>Ssignal </a:t>
            </a:r>
            <a:r>
              <a:rPr lang="zh-CN" altLang="en-US" dirty="0"/>
              <a:t>）：</a:t>
            </a:r>
            <a:endParaRPr lang="zh-CN" altLang="en-US" dirty="0"/>
          </a:p>
        </p:txBody>
      </p:sp>
      <p:sp>
        <p:nvSpPr>
          <p:cNvPr id="116739" name="Rectangle 3"/>
          <p:cNvSpPr>
            <a:spLocks noGrp="1" noRot="1"/>
          </p:cNvSpPr>
          <p:nvPr>
            <p:ph idx="1"/>
          </p:nvPr>
        </p:nvSpPr>
        <p:spPr/>
        <p:txBody>
          <a:bodyPr vert="horz" wrap="square" lIns="91440" tIns="45720" rIns="91440" bIns="45720" anchor="t" anchorCtr="0"/>
          <a:p>
            <a:pPr algn="just">
              <a:buNone/>
            </a:pPr>
            <a:r>
              <a:rPr lang="en-US" altLang="zh-CN" dirty="0"/>
              <a:t>Ssignal</a:t>
            </a:r>
            <a:r>
              <a:rPr lang="zh-CN" altLang="en-US" dirty="0"/>
              <a:t>（</a:t>
            </a:r>
            <a:r>
              <a:rPr lang="en-US" altLang="zh-CN" dirty="0"/>
              <a:t>S1</a:t>
            </a:r>
            <a:r>
              <a:rPr lang="zh-CN" altLang="en-US" dirty="0"/>
              <a:t>，</a:t>
            </a:r>
            <a:r>
              <a:rPr lang="en-US" altLang="zh-CN" dirty="0"/>
              <a:t>d1</a:t>
            </a:r>
            <a:r>
              <a:rPr lang="zh-CN" altLang="en-US" dirty="0"/>
              <a:t>，</a:t>
            </a:r>
            <a:r>
              <a:rPr lang="en-US" altLang="zh-CN" dirty="0">
                <a:latin typeface="Courier New" panose="02070309020205020404" pitchFamily="49" charset="0"/>
              </a:rPr>
              <a:t>···</a:t>
            </a:r>
            <a:r>
              <a:rPr lang="zh-CN" altLang="en-US" dirty="0"/>
              <a:t>，</a:t>
            </a:r>
            <a:r>
              <a:rPr lang="en-US" altLang="zh-CN" dirty="0"/>
              <a:t>Sn</a:t>
            </a:r>
            <a:r>
              <a:rPr lang="zh-CN" altLang="en-US" dirty="0"/>
              <a:t>，</a:t>
            </a:r>
            <a:r>
              <a:rPr lang="en-US" altLang="zh-CN" dirty="0"/>
              <a:t>dn</a:t>
            </a:r>
            <a:r>
              <a:rPr lang="zh-CN" altLang="en-US" dirty="0"/>
              <a:t>）</a:t>
            </a:r>
            <a:endParaRPr lang="zh-CN" altLang="en-US" dirty="0"/>
          </a:p>
          <a:p>
            <a:pPr algn="just">
              <a:buNone/>
            </a:pPr>
            <a:r>
              <a:rPr lang="zh-CN" altLang="en-US" dirty="0"/>
              <a:t>    </a:t>
            </a:r>
            <a:r>
              <a:rPr lang="en-US" altLang="zh-CN" dirty="0"/>
              <a:t>for i</a:t>
            </a:r>
            <a:r>
              <a:rPr lang="zh-CN" altLang="en-US" dirty="0"/>
              <a:t>：</a:t>
            </a:r>
            <a:r>
              <a:rPr lang="en-US" altLang="zh-CN" dirty="0"/>
              <a:t>=1 to n  do</a:t>
            </a:r>
            <a:endParaRPr lang="en-US" altLang="zh-CN" dirty="0"/>
          </a:p>
          <a:p>
            <a:pPr algn="just">
              <a:buNone/>
            </a:pPr>
            <a:r>
              <a:rPr lang="en-US" altLang="zh-CN" dirty="0"/>
              <a:t>        Si:= Si</a:t>
            </a:r>
            <a:r>
              <a:rPr lang="zh-CN" altLang="en-US" dirty="0"/>
              <a:t>十</a:t>
            </a:r>
            <a:r>
              <a:rPr lang="en-US" altLang="zh-CN" dirty="0"/>
              <a:t>di</a:t>
            </a:r>
            <a:r>
              <a:rPr lang="zh-CN" altLang="en-US" dirty="0"/>
              <a:t>；</a:t>
            </a:r>
            <a:endParaRPr lang="zh-CN" altLang="en-US" dirty="0"/>
          </a:p>
          <a:p>
            <a:pPr algn="just">
              <a:buNone/>
            </a:pPr>
            <a:r>
              <a:rPr lang="zh-CN" altLang="en-US" dirty="0"/>
              <a:t>    </a:t>
            </a:r>
            <a:r>
              <a:rPr lang="en-US" altLang="zh-CN" dirty="0"/>
              <a:t>Remove  all  the  process  waiting  in  the  queue  associated  with  Si  into  the  ready  queue</a:t>
            </a:r>
            <a:endParaRPr lang="en-US" altLang="zh-CN" dirty="0"/>
          </a:p>
          <a:p>
            <a:pPr algn="just">
              <a:buNone/>
            </a:pPr>
            <a:r>
              <a:rPr lang="en-US" altLang="zh-CN" dirty="0"/>
              <a:t>    endfor</a:t>
            </a:r>
            <a:r>
              <a:rPr lang="zh-CN" altLang="en-US" dirty="0"/>
              <a:t>；</a:t>
            </a: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noRot="1"/>
          </p:cNvSpPr>
          <p:nvPr>
            <p:ph type="title"/>
          </p:nvPr>
        </p:nvSpPr>
        <p:spPr>
          <a:xfrm>
            <a:off x="1143000" y="381000"/>
            <a:ext cx="7793038" cy="906463"/>
          </a:xfrm>
        </p:spPr>
        <p:txBody>
          <a:bodyPr vert="horz" wrap="square" lIns="91440" tIns="45720" rIns="91440" bIns="45720" anchor="ctr" anchorCtr="0"/>
          <a:p>
            <a:r>
              <a:rPr lang="en-US" altLang="zh-CN" b="1" dirty="0"/>
              <a:t>2.4.4 </a:t>
            </a:r>
            <a:r>
              <a:rPr lang="zh-CN" altLang="en-US" b="1" dirty="0"/>
              <a:t>信号量的应用</a:t>
            </a:r>
            <a:r>
              <a:rPr lang="zh-CN" altLang="en-US" dirty="0"/>
              <a:t> </a:t>
            </a:r>
            <a:endParaRPr lang="zh-CN" altLang="en-US" dirty="0"/>
          </a:p>
        </p:txBody>
      </p:sp>
      <p:sp>
        <p:nvSpPr>
          <p:cNvPr id="431107" name="Rectangle 3"/>
          <p:cNvSpPr>
            <a:spLocks noGrp="1" noRot="1" noChangeArrowheads="1"/>
          </p:cNvSpPr>
          <p:nvPr>
            <p:ph idx="1"/>
          </p:nvPr>
        </p:nvSpPr>
        <p:spPr>
          <a:xfrm>
            <a:off x="381000" y="1676400"/>
            <a:ext cx="8382000" cy="44196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4000" b="1" i="0" u="none" strike="noStrike" kern="0" cap="none" spc="0" normalizeH="0" baseline="0" noProof="0" dirty="0" smtClean="0">
                <a:ln>
                  <a:noFill/>
                </a:ln>
                <a:solidFill>
                  <a:schemeClr val="tx2"/>
                </a:solidFill>
                <a:effectLst/>
                <a:uLnTx/>
                <a:uFillTx/>
                <a:latin typeface="+mn-lt"/>
                <a:ea typeface="+mn-ea"/>
                <a:cs typeface="+mn-cs"/>
              </a:rPr>
              <a:t> </a:t>
            </a:r>
            <a:r>
              <a:rPr kumimoji="0" lang="en-US" altLang="zh-CN"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n-ea"/>
                <a:cs typeface="+mn-cs"/>
              </a:rPr>
              <a:t>1</a:t>
            </a:r>
            <a:r>
              <a:rPr kumimoji="0" lang="zh-CN" altLang="en-US"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n-ea"/>
                <a:cs typeface="+mn-cs"/>
              </a:rPr>
              <a:t>．利用信号量实现进程互斥</a:t>
            </a:r>
            <a:endParaRPr kumimoji="0" lang="zh-CN" altLang="en-US" sz="4000" b="1" i="0" u="none" strike="noStrike" kern="0" cap="none" spc="0" normalizeH="0" baseline="0" noProof="0" dirty="0" smtClean="0">
              <a:ln>
                <a:noFill/>
              </a:ln>
              <a:solidFill>
                <a:srgbClr val="0000CC"/>
              </a:solidFill>
              <a:effectLst>
                <a:outerShdw blurRad="38100" dist="38100" dir="2700000" algn="tl">
                  <a:srgbClr val="C0C0C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3200" b="1" i="0" u="none" strike="noStrike" kern="0" cap="none" spc="0" normalizeH="0" baseline="0" noProof="0" dirty="0" smtClean="0">
                <a:ln>
                  <a:noFill/>
                </a:ln>
                <a:solidFill>
                  <a:schemeClr val="tx2"/>
                </a:solidFill>
                <a:effectLst/>
                <a:uLnTx/>
                <a:uFillTx/>
                <a:latin typeface="+mn-lt"/>
                <a:ea typeface="+mn-ea"/>
                <a:cs typeface="+mn-cs"/>
              </a:rPr>
              <a:t>  </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为使多个进程能互斥地访问某临界资源，只须为该资源设置一互斥信号量</a:t>
            </a:r>
            <a:r>
              <a:rPr kumimoji="0" lang="en-US" altLang="zh-CN" sz="3200" b="1" i="0" u="none" strike="noStrike" kern="0" cap="none" spc="0" normalizeH="0" baseline="0" noProof="0" dirty="0" err="1" smtClean="0">
                <a:ln>
                  <a:noFill/>
                </a:ln>
                <a:solidFill>
                  <a:schemeClr val="tx1"/>
                </a:solidFill>
                <a:effectLst/>
                <a:uLnTx/>
                <a:uFillTx/>
                <a:latin typeface="+mn-lt"/>
                <a:ea typeface="+mn-ea"/>
                <a:cs typeface="+mn-cs"/>
              </a:rPr>
              <a:t>mutex</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，并设其初始值为</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1</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，然后将各进程访问该资源的临界区</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CS</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置于</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wait</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200" b="1" i="0" u="none" strike="noStrike" kern="0" cap="none" spc="0" normalizeH="0" baseline="0" noProof="0" dirty="0" err="1" smtClean="0">
                <a:ln>
                  <a:noFill/>
                </a:ln>
                <a:solidFill>
                  <a:schemeClr val="tx1"/>
                </a:solidFill>
                <a:effectLst/>
                <a:uLnTx/>
                <a:uFillTx/>
                <a:latin typeface="+mn-lt"/>
                <a:ea typeface="+mn-ea"/>
                <a:cs typeface="+mn-cs"/>
              </a:rPr>
              <a:t>mutex</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）和</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signal</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3200" b="1" i="0" u="none" strike="noStrike" kern="0" cap="none" spc="0" normalizeH="0" baseline="0" noProof="0" dirty="0" err="1" smtClean="0">
                <a:ln>
                  <a:noFill/>
                </a:ln>
                <a:solidFill>
                  <a:schemeClr val="tx1"/>
                </a:solidFill>
                <a:effectLst/>
                <a:uLnTx/>
                <a:uFillTx/>
                <a:latin typeface="+mn-lt"/>
                <a:ea typeface="+mn-ea"/>
                <a:cs typeface="+mn-cs"/>
              </a:rPr>
              <a:t>mutex</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）操作之间即可。</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2131" name="Text Box 3"/>
          <p:cNvSpPr txBox="1">
            <a:spLocks noChangeArrowheads="1"/>
          </p:cNvSpPr>
          <p:nvPr/>
        </p:nvSpPr>
        <p:spPr bwMode="auto">
          <a:xfrm>
            <a:off x="457200" y="609600"/>
            <a:ext cx="8229600" cy="579438"/>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a:solidFill>
                  <a:srgbClr val="FF0000"/>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利用信号量实现进程互斥的进程可描述如下：</a:t>
            </a:r>
            <a:endParaRPr kumimoji="0" lang="zh-CN" altLang="en-US" sz="3200" b="1" kern="1200" cap="none" spc="0" normalizeH="0" baseline="0" noProof="0">
              <a:solidFill>
                <a:srgbClr val="FF0000"/>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432132" name="Text Box 4"/>
          <p:cNvSpPr txBox="1">
            <a:spLocks noChangeArrowheads="1"/>
          </p:cNvSpPr>
          <p:nvPr/>
        </p:nvSpPr>
        <p:spPr bwMode="auto">
          <a:xfrm>
            <a:off x="762000" y="1676400"/>
            <a:ext cx="4038600" cy="489426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Semaphore </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=1;</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P</a:t>
            </a:r>
            <a:r>
              <a:rPr kumimoji="0" lang="en-US" altLang="zh-CN" kern="1200" cap="none" spc="0" normalizeH="0" baseline="0" noProof="0" dirty="0">
                <a:latin typeface="Arial" panose="020B0604020202020204" pitchFamily="34" charset="0"/>
                <a:ea typeface="宋体" panose="02010600030101010101" pitchFamily="2" charset="-122"/>
                <a:cs typeface="+mn-cs"/>
              </a:rPr>
              <a:t>A () </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While (1) {</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wait(</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en-US" sz="2400" kern="1200" cap="none" spc="0" normalizeH="0" baseline="0" noProof="0" dirty="0">
                <a:latin typeface="Arial" panose="020B0604020202020204" pitchFamily="34" charset="0"/>
                <a:ea typeface="宋体" panose="02010600030101010101" pitchFamily="2" charset="-122"/>
                <a:cs typeface="+mn-cs"/>
              </a:rPr>
              <a:t>临界区；</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signal(</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en-US" sz="2400" kern="1200" cap="none" spc="0" normalizeH="0" baseline="0" noProof="0" dirty="0">
                <a:latin typeface="Arial" panose="020B0604020202020204" pitchFamily="34" charset="0"/>
                <a:ea typeface="宋体" panose="02010600030101010101" pitchFamily="2" charset="-122"/>
                <a:cs typeface="+mn-cs"/>
              </a:rPr>
              <a:t>剩余区；</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6" name="Text Box 4"/>
          <p:cNvSpPr txBox="1">
            <a:spLocks noChangeArrowheads="1"/>
          </p:cNvSpPr>
          <p:nvPr/>
        </p:nvSpPr>
        <p:spPr bwMode="auto">
          <a:xfrm>
            <a:off x="4648200" y="1676400"/>
            <a:ext cx="4038600" cy="489426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Semaphore </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=1;</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P</a:t>
            </a:r>
            <a:r>
              <a:rPr kumimoji="0" lang="en-US" altLang="zh-CN" kern="1200" cap="none" spc="0" normalizeH="0" baseline="0" noProof="0" dirty="0">
                <a:latin typeface="Arial" panose="020B0604020202020204" pitchFamily="34" charset="0"/>
                <a:ea typeface="宋体" panose="02010600030101010101" pitchFamily="2" charset="-122"/>
                <a:cs typeface="+mn-cs"/>
              </a:rPr>
              <a:t>A () </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While (1) {</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wait(</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en-US" sz="2400" kern="1200" cap="none" spc="0" normalizeH="0" baseline="0" noProof="0" dirty="0">
                <a:latin typeface="Arial" panose="020B0604020202020204" pitchFamily="34" charset="0"/>
                <a:ea typeface="宋体" panose="02010600030101010101" pitchFamily="2" charset="-122"/>
                <a:cs typeface="+mn-cs"/>
              </a:rPr>
              <a:t>临界区；</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signal(</a:t>
            </a:r>
            <a:r>
              <a:rPr kumimoji="0" lang="en-US" altLang="zh-CN" sz="2400" kern="1200" cap="none" spc="0" normalizeH="0" baseline="0" noProof="0" dirty="0" err="1">
                <a:latin typeface="Arial" panose="020B0604020202020204" pitchFamily="34" charset="0"/>
                <a:ea typeface="宋体" panose="02010600030101010101" pitchFamily="2" charset="-122"/>
                <a:cs typeface="+mn-cs"/>
              </a:rPr>
              <a:t>mutex</a:t>
            </a: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r>
              <a:rPr kumimoji="0" lang="zh-CN" altLang="en-US" sz="2400" kern="1200" cap="none" spc="0" normalizeH="0" baseline="0" noProof="0" dirty="0">
                <a:latin typeface="Arial" panose="020B0604020202020204" pitchFamily="34" charset="0"/>
                <a:ea typeface="宋体" panose="02010600030101010101" pitchFamily="2" charset="-122"/>
                <a:cs typeface="+mn-cs"/>
              </a:rPr>
              <a:t>剩余区；</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  }</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2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2" grpId="0"/>
      <p:bldP spid="6"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noRot="1"/>
          </p:cNvSpPr>
          <p:nvPr>
            <p:ph type="title"/>
          </p:nvPr>
        </p:nvSpPr>
        <p:spPr/>
        <p:txBody>
          <a:bodyPr vert="horz" wrap="square" lIns="91440" tIns="45720" rIns="91440" bIns="45720" anchor="ctr" anchorCtr="0"/>
          <a:p>
            <a:r>
              <a:rPr lang="en-US" altLang="zh-CN" dirty="0"/>
              <a:t>2.4.5 </a:t>
            </a:r>
            <a:r>
              <a:rPr lang="zh-CN" altLang="en-US" dirty="0"/>
              <a:t>管程机制</a:t>
            </a:r>
            <a:endParaRPr lang="zh-CN" altLang="en-US" dirty="0"/>
          </a:p>
        </p:txBody>
      </p:sp>
      <p:sp>
        <p:nvSpPr>
          <p:cNvPr id="119811" name="Rectangle 3"/>
          <p:cNvSpPr>
            <a:spLocks noGrp="1" noRot="1"/>
          </p:cNvSpPr>
          <p:nvPr>
            <p:ph idx="1"/>
          </p:nvPr>
        </p:nvSpPr>
        <p:spPr>
          <a:xfrm>
            <a:off x="304800" y="1600200"/>
            <a:ext cx="8540750" cy="4498975"/>
          </a:xfrm>
        </p:spPr>
        <p:txBody>
          <a:bodyPr vert="horz" wrap="square" lIns="91440" tIns="45720" rIns="91440" bIns="45720" anchor="t" anchorCtr="0"/>
          <a:p>
            <a:r>
              <a:rPr lang="zh-CN" altLang="en-US" b="1" dirty="0"/>
              <a:t>需要知道管程也是一种进程同步的机制。</a:t>
            </a:r>
            <a:endParaRPr lang="zh-CN" altLang="en-US" b="1" dirty="0"/>
          </a:p>
          <a:p>
            <a:endParaRPr lang="zh-CN" altLang="en-US" b="1" dirty="0"/>
          </a:p>
          <a:p>
            <a:r>
              <a:rPr lang="zh-CN" altLang="en-US" b="1" dirty="0"/>
              <a:t>其他管程相关的内容为自学内容。</a:t>
            </a:r>
            <a:endParaRPr lang="zh-CN" altLang="en-US" b="1"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603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FF0000"/>
                </a:solidFill>
                <a:effectLst/>
                <a:uLnTx/>
                <a:uFillTx/>
                <a:latin typeface="+mj-lt"/>
                <a:ea typeface="+mj-ea"/>
                <a:cs typeface="+mj-cs"/>
              </a:rPr>
              <a:t>2.5 </a:t>
            </a:r>
            <a:r>
              <a:rPr kumimoji="0" lang="zh-CN" altLang="en-US" sz="4400" b="1" i="0" u="none" strike="noStrike" kern="0" cap="none" spc="0" normalizeH="0" baseline="0" noProof="0" dirty="0" smtClean="0">
                <a:ln>
                  <a:noFill/>
                </a:ln>
                <a:solidFill>
                  <a:srgbClr val="FF0000"/>
                </a:solidFill>
                <a:effectLst/>
                <a:uLnTx/>
                <a:uFillTx/>
                <a:latin typeface="+mj-lt"/>
                <a:ea typeface="+mj-ea"/>
                <a:cs typeface="+mj-cs"/>
              </a:rPr>
              <a:t>经典进程的同步问题</a:t>
            </a:r>
            <a:endParaRPr kumimoji="0" lang="zh-CN" altLang="en-US" sz="4400" b="1" i="0" u="sng" strike="noStrike" kern="0" cap="none" spc="0" normalizeH="0" baseline="0" noProof="0" dirty="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556035"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生产者</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消费者问题</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读者</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写者问题 </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哲学家进餐问题</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56034"/>
                                        </p:tgtEl>
                                        <p:attrNameLst>
                                          <p:attrName>style.visibility</p:attrName>
                                        </p:attrNameLst>
                                      </p:cBhvr>
                                      <p:to>
                                        <p:strVal val="visible"/>
                                      </p:to>
                                    </p:set>
                                    <p:animEffect transition="in" filter="fade">
                                      <p:cBhvr>
                                        <p:cTn id="7" dur="2000"/>
                                        <p:tgtEl>
                                          <p:spTgt spid="5560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56035">
                                            <p:txEl>
                                              <p:charRg st="1" end="11"/>
                                            </p:txEl>
                                          </p:spTgt>
                                        </p:tgtEl>
                                        <p:attrNameLst>
                                          <p:attrName>style.visibility</p:attrName>
                                        </p:attrNameLst>
                                      </p:cBhvr>
                                      <p:to>
                                        <p:strVal val="visible"/>
                                      </p:to>
                                    </p:set>
                                    <p:animEffect transition="in" filter="fade">
                                      <p:cBhvr>
                                        <p:cTn id="12" dur="2000"/>
                                        <p:tgtEl>
                                          <p:spTgt spid="556035">
                                            <p:txEl>
                                              <p:charRg st="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6035">
                                            <p:txEl>
                                              <p:charRg st="12" end="21"/>
                                            </p:txEl>
                                          </p:spTgt>
                                        </p:tgtEl>
                                        <p:attrNameLst>
                                          <p:attrName>style.visibility</p:attrName>
                                        </p:attrNameLst>
                                      </p:cBhvr>
                                      <p:to>
                                        <p:strVal val="visible"/>
                                      </p:to>
                                    </p:set>
                                    <p:animEffect transition="in" filter="fade">
                                      <p:cBhvr>
                                        <p:cTn id="17" dur="2000"/>
                                        <p:tgtEl>
                                          <p:spTgt spid="556035">
                                            <p:txEl>
                                              <p:charRg st="12" end="2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56035">
                                            <p:txEl>
                                              <p:charRg st="22" end="30"/>
                                            </p:txEl>
                                          </p:spTgt>
                                        </p:tgtEl>
                                        <p:attrNameLst>
                                          <p:attrName>style.visibility</p:attrName>
                                        </p:attrNameLst>
                                      </p:cBhvr>
                                      <p:to>
                                        <p:strVal val="visible"/>
                                      </p:to>
                                    </p:set>
                                    <p:animEffect transition="in" filter="fade">
                                      <p:cBhvr>
                                        <p:cTn id="22" dur="2000"/>
                                        <p:tgtEl>
                                          <p:spTgt spid="556035">
                                            <p:txEl>
                                              <p:charRg st="22"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4" grpId="0"/>
      <p:bldP spid="556035"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5186" name="Rectangle 2"/>
          <p:cNvSpPr>
            <a:spLocks noGrp="1" noRot="1" noChangeArrowheads="1"/>
          </p:cNvSpPr>
          <p:nvPr>
            <p:ph type="title"/>
          </p:nvPr>
        </p:nvSpPr>
        <p:spPr>
          <a:xfrm>
            <a:off x="762000" y="2209800"/>
            <a:ext cx="77724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2.5.1 </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生产者</a:t>
            </a: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消费者问题 </a:t>
            </a:r>
            <a:endPar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5186"/>
                                        </p:tgtEl>
                                        <p:attrNameLst>
                                          <p:attrName>style.visibility</p:attrName>
                                        </p:attrNameLst>
                                      </p:cBhvr>
                                      <p:to>
                                        <p:strVal val="visible"/>
                                      </p:to>
                                    </p:set>
                                    <p:animEffect transition="in" filter="fade">
                                      <p:cBhvr>
                                        <p:cTn id="7" dur="2000"/>
                                        <p:tgtEl>
                                          <p:spTgt spid="605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86"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noRot="1"/>
          </p:cNvSpPr>
          <p:nvPr>
            <p:ph type="title"/>
          </p:nvPr>
        </p:nvSpPr>
        <p:spPr/>
        <p:txBody>
          <a:bodyPr vert="horz" wrap="square" lIns="91440" tIns="45720" rIns="91440" bIns="45720" anchor="ctr" anchorCtr="0"/>
          <a:p>
            <a:r>
              <a:rPr lang="zh-CN" altLang="en-US" dirty="0"/>
              <a:t>问题描述</a:t>
            </a:r>
            <a:endParaRPr lang="zh-CN" altLang="en-US" dirty="0"/>
          </a:p>
        </p:txBody>
      </p:sp>
      <p:sp>
        <p:nvSpPr>
          <p:cNvPr id="122883" name="Rectangle 3"/>
          <p:cNvSpPr>
            <a:spLocks noGrp="1" noRot="1"/>
          </p:cNvSpPr>
          <p:nvPr>
            <p:ph idx="1"/>
          </p:nvPr>
        </p:nvSpPr>
        <p:spPr>
          <a:xfrm>
            <a:off x="76200" y="1673225"/>
            <a:ext cx="8763000" cy="4498975"/>
          </a:xfrm>
        </p:spPr>
        <p:txBody>
          <a:bodyPr vert="horz" wrap="square" lIns="91440" tIns="45720" rIns="91440" bIns="45720" anchor="t" anchorCtr="0"/>
          <a:p>
            <a:pPr algn="just" eaLnBrk="1" hangingPunct="1">
              <a:spcBef>
                <a:spcPct val="50000"/>
              </a:spcBef>
              <a:buClrTx/>
              <a:buSzTx/>
              <a:buFontTx/>
              <a:buNone/>
            </a:pPr>
            <a:r>
              <a:rPr lang="zh-CN" altLang="en-US" sz="2800" b="1" dirty="0"/>
              <a:t>   前面我们已经对生产者</a:t>
            </a:r>
            <a:r>
              <a:rPr lang="en-US" altLang="zh-CN" sz="2800" b="1" dirty="0"/>
              <a:t>—</a:t>
            </a:r>
            <a:r>
              <a:rPr lang="zh-CN" altLang="en-US" sz="2800" b="1" dirty="0"/>
              <a:t>消费者问题</a:t>
            </a:r>
            <a:r>
              <a:rPr lang="en-US" altLang="zh-CN" sz="2800" b="1" dirty="0"/>
              <a:t>(The proceducer-consumer problem)</a:t>
            </a:r>
            <a:r>
              <a:rPr lang="zh-CN" altLang="en-US" sz="2800" b="1" dirty="0"/>
              <a:t>做了一些描述，但未考虑进程的互斥与同步问题，因而造成了数据</a:t>
            </a:r>
            <a:r>
              <a:rPr lang="en-US" altLang="zh-CN" sz="2800" b="1" dirty="0"/>
              <a:t>Counter</a:t>
            </a:r>
            <a:r>
              <a:rPr lang="zh-CN" altLang="en-US" sz="2800" b="1" dirty="0"/>
              <a:t>的不定性。</a:t>
            </a:r>
            <a:endParaRPr lang="zh-CN" altLang="en-US" sz="2800" b="1" dirty="0"/>
          </a:p>
          <a:p>
            <a:pPr algn="just" eaLnBrk="1" hangingPunct="1">
              <a:spcBef>
                <a:spcPct val="50000"/>
              </a:spcBef>
              <a:buClrTx/>
              <a:buSzTx/>
              <a:buFontTx/>
              <a:buNone/>
            </a:pPr>
            <a:r>
              <a:rPr lang="zh-CN" altLang="en-US" sz="2800" b="1" dirty="0"/>
              <a:t>	由于生产者</a:t>
            </a:r>
            <a:r>
              <a:rPr lang="en-US" altLang="zh-CN" sz="2800" b="1" dirty="0"/>
              <a:t>—</a:t>
            </a:r>
            <a:r>
              <a:rPr lang="zh-CN" altLang="en-US" sz="2800" b="1" dirty="0"/>
              <a:t>消费者问题是相互合作的进程关系的一种抽象，例如， 在输入时，输入进程是生产者，计算进程是消费者；而在输出时，则计算进程是生产者，而打印进程是消费者， 因此，该问题有很大的代表性及实用价值。 </a:t>
            </a:r>
            <a:endParaRPr lang="zh-CN" altLang="en-US" sz="2800" b="1" dirty="0"/>
          </a:p>
          <a:p>
            <a:pPr>
              <a:buFont typeface="Wingdings 2" panose="05020102010507070707" pitchFamily="18" charset="2"/>
              <a:buChar char="¡"/>
            </a:pPr>
            <a:endParaRPr lang="zh-CN" altLang="en-US" sz="2800" b="1"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621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621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生产者与消费者是一个广义的概念，可以代表一类具有相同属性的进程。</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生产者和消费者进程共享一个大小固定的缓冲区</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一个或多个生产者生产数据，并将生产的数据存入缓冲区，</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并有一个消费者从缓冲区中取数据。</a:t>
            </a:r>
            <a:r>
              <a:rPr kumimoji="0" lang="zh-CN" altLang="en-US" sz="2800" b="0" i="0" u="none" strike="noStrike" kern="0" cap="none" spc="0" normalizeH="0" baseline="0" noProof="0" smtClean="0">
                <a:ln>
                  <a:noFill/>
                </a:ln>
                <a:solidFill>
                  <a:schemeClr val="tx1"/>
                </a:solidFill>
                <a:effectLst/>
                <a:uLnTx/>
                <a:uFillTx/>
                <a:latin typeface="+mn-lt"/>
                <a:ea typeface="+mn-ea"/>
              </a:rPr>
              <a:t> </a:t>
            </a:r>
            <a:endParaRPr kumimoji="0" lang="zh-CN" altLang="en-US" sz="2800" b="0" i="0" u="none" strike="noStrike" kern="0" cap="none" spc="0" normalizeH="0" baseline="0" noProof="0" smtClean="0">
              <a:ln>
                <a:noFill/>
              </a:ln>
              <a:solidFill>
                <a:schemeClr val="tx1"/>
              </a:solidFill>
              <a:effectLst/>
              <a:uLnTx/>
              <a:uFillTx/>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606210"/>
                                        </p:tgtEl>
                                        <p:attrNameLst>
                                          <p:attrName>style.visibility</p:attrName>
                                        </p:attrNameLst>
                                      </p:cBhvr>
                                      <p:to>
                                        <p:strVal val="visible"/>
                                      </p:to>
                                    </p:set>
                                    <p:animEffect transition="in" filter="fade">
                                      <p:cBhvr>
                                        <p:cTn id="7" dur="2000"/>
                                        <p:tgtEl>
                                          <p:spTgt spid="6062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6211">
                                            <p:txEl>
                                              <p:charRg st="0" end="33"/>
                                            </p:txEl>
                                          </p:spTgt>
                                        </p:tgtEl>
                                        <p:attrNameLst>
                                          <p:attrName>style.visibility</p:attrName>
                                        </p:attrNameLst>
                                      </p:cBhvr>
                                      <p:to>
                                        <p:strVal val="visible"/>
                                      </p:to>
                                    </p:set>
                                    <p:animEffect transition="in" filter="fade">
                                      <p:cBhvr>
                                        <p:cTn id="12" dur="2000"/>
                                        <p:tgtEl>
                                          <p:spTgt spid="606211">
                                            <p:txEl>
                                              <p:charRg st="0"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6211">
                                            <p:txEl>
                                              <p:charRg st="34" end="56"/>
                                            </p:txEl>
                                          </p:spTgt>
                                        </p:tgtEl>
                                        <p:attrNameLst>
                                          <p:attrName>style.visibility</p:attrName>
                                        </p:attrNameLst>
                                      </p:cBhvr>
                                      <p:to>
                                        <p:strVal val="visible"/>
                                      </p:to>
                                    </p:set>
                                    <p:animEffect transition="in" filter="fade">
                                      <p:cBhvr>
                                        <p:cTn id="17" dur="2000"/>
                                        <p:tgtEl>
                                          <p:spTgt spid="606211">
                                            <p:txEl>
                                              <p:charRg st="34" end="56"/>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06211">
                                            <p:txEl>
                                              <p:charRg st="56" end="83"/>
                                            </p:txEl>
                                          </p:spTgt>
                                        </p:tgtEl>
                                        <p:attrNameLst>
                                          <p:attrName>style.visibility</p:attrName>
                                        </p:attrNameLst>
                                      </p:cBhvr>
                                      <p:to>
                                        <p:strVal val="visible"/>
                                      </p:to>
                                    </p:set>
                                    <p:animEffect transition="in" filter="fade">
                                      <p:cBhvr>
                                        <p:cTn id="20" dur="2000"/>
                                        <p:tgtEl>
                                          <p:spTgt spid="606211">
                                            <p:txEl>
                                              <p:charRg st="56" end="8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06211">
                                            <p:txEl>
                                              <p:charRg st="83" end="101"/>
                                            </p:txEl>
                                          </p:spTgt>
                                        </p:tgtEl>
                                        <p:attrNameLst>
                                          <p:attrName>style.visibility</p:attrName>
                                        </p:attrNameLst>
                                      </p:cBhvr>
                                      <p:to>
                                        <p:strVal val="visible"/>
                                      </p:to>
                                    </p:set>
                                    <p:animEffect transition="in" filter="fade">
                                      <p:cBhvr>
                                        <p:cTn id="23" dur="2000"/>
                                        <p:tgtEl>
                                          <p:spTgt spid="606211">
                                            <p:txEl>
                                              <p:charRg st="83"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10" grpId="0"/>
      <p:bldP spid="606211"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723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607235" name="Rectangle 3"/>
          <p:cNvSpPr>
            <a:spLocks noGrp="1" noRot="1" noChangeArrowheads="1"/>
          </p:cNvSpPr>
          <p:nvPr>
            <p:ph type="body" idx="1"/>
          </p:nvPr>
        </p:nvSpPr>
        <p:spPr>
          <a:xfrm>
            <a:off x="463550" y="1679575"/>
            <a:ext cx="8216900" cy="4343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假设缓冲区的大小为</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n</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（存储单元的个数），它可以被生产者和消费者循环使用。</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分别设置两个指针</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in</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和</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out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in</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指向生产者将存放数据的存储单元</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Out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rPr>
              <a:t>指向消费者将取数据的存储单元</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607234"/>
                                        </p:tgtEl>
                                        <p:attrNameLst>
                                          <p:attrName>style.visibility</p:attrName>
                                        </p:attrNameLst>
                                      </p:cBhvr>
                                      <p:to>
                                        <p:strVal val="visible"/>
                                      </p:to>
                                    </p:set>
                                    <p:animEffect transition="in" filter="fade">
                                      <p:cBhvr>
                                        <p:cTn id="7" dur="2000"/>
                                        <p:tgtEl>
                                          <p:spTgt spid="607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7235">
                                            <p:txEl>
                                              <p:charRg st="0" end="37"/>
                                            </p:txEl>
                                          </p:spTgt>
                                        </p:tgtEl>
                                        <p:attrNameLst>
                                          <p:attrName>style.visibility</p:attrName>
                                        </p:attrNameLst>
                                      </p:cBhvr>
                                      <p:to>
                                        <p:strVal val="visible"/>
                                      </p:to>
                                    </p:set>
                                    <p:animEffect transition="in" filter="fade">
                                      <p:cBhvr>
                                        <p:cTn id="12" dur="2000"/>
                                        <p:tgtEl>
                                          <p:spTgt spid="607235">
                                            <p:txEl>
                                              <p:charRg st="0" end="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7235">
                                            <p:txEl>
                                              <p:charRg st="38" end="54"/>
                                            </p:txEl>
                                          </p:spTgt>
                                        </p:tgtEl>
                                        <p:attrNameLst>
                                          <p:attrName>style.visibility</p:attrName>
                                        </p:attrNameLst>
                                      </p:cBhvr>
                                      <p:to>
                                        <p:strVal val="visible"/>
                                      </p:to>
                                    </p:set>
                                    <p:animEffect transition="in" filter="fade">
                                      <p:cBhvr>
                                        <p:cTn id="17" dur="2000"/>
                                        <p:tgtEl>
                                          <p:spTgt spid="607235">
                                            <p:txEl>
                                              <p:charRg st="38" end="5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07235">
                                            <p:txEl>
                                              <p:charRg st="54" end="72"/>
                                            </p:txEl>
                                          </p:spTgt>
                                        </p:tgtEl>
                                        <p:attrNameLst>
                                          <p:attrName>style.visibility</p:attrName>
                                        </p:attrNameLst>
                                      </p:cBhvr>
                                      <p:to>
                                        <p:strVal val="visible"/>
                                      </p:to>
                                    </p:set>
                                    <p:animEffect transition="in" filter="fade">
                                      <p:cBhvr>
                                        <p:cTn id="20" dur="2000"/>
                                        <p:tgtEl>
                                          <p:spTgt spid="607235">
                                            <p:txEl>
                                              <p:charRg st="54" end="7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07235">
                                            <p:txEl>
                                              <p:charRg st="72" end="90"/>
                                            </p:txEl>
                                          </p:spTgt>
                                        </p:tgtEl>
                                        <p:attrNameLst>
                                          <p:attrName>style.visibility</p:attrName>
                                        </p:attrNameLst>
                                      </p:cBhvr>
                                      <p:to>
                                        <p:strVal val="visible"/>
                                      </p:to>
                                    </p:set>
                                    <p:animEffect transition="in" filter="fade">
                                      <p:cBhvr>
                                        <p:cTn id="23" dur="2000"/>
                                        <p:tgtEl>
                                          <p:spTgt spid="607235">
                                            <p:txEl>
                                              <p:charRg st="72" end="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234" grpId="0"/>
      <p:bldP spid="607235"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4"/>
          <p:cNvSpPr/>
          <p:nvPr/>
        </p:nvSpPr>
        <p:spPr>
          <a:xfrm>
            <a:off x="685800" y="838200"/>
            <a:ext cx="8001000" cy="54102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nvGrpSpPr>
          <p:cNvPr id="125955" name="Group 2"/>
          <p:cNvGrpSpPr/>
          <p:nvPr/>
        </p:nvGrpSpPr>
        <p:grpSpPr>
          <a:xfrm>
            <a:off x="2514600" y="990600"/>
            <a:ext cx="3956050" cy="1743075"/>
            <a:chOff x="2697" y="8928"/>
            <a:chExt cx="4500" cy="1872"/>
          </a:xfrm>
        </p:grpSpPr>
        <p:grpSp>
          <p:nvGrpSpPr>
            <p:cNvPr id="126023" name="Group 3"/>
            <p:cNvGrpSpPr/>
            <p:nvPr/>
          </p:nvGrpSpPr>
          <p:grpSpPr>
            <a:xfrm>
              <a:off x="2697" y="8928"/>
              <a:ext cx="4500" cy="936"/>
              <a:chOff x="2697" y="9552"/>
              <a:chExt cx="4500" cy="936"/>
            </a:xfrm>
          </p:grpSpPr>
          <p:grpSp>
            <p:nvGrpSpPr>
              <p:cNvPr id="126031" name="Group 4"/>
              <p:cNvGrpSpPr/>
              <p:nvPr/>
            </p:nvGrpSpPr>
            <p:grpSpPr>
              <a:xfrm>
                <a:off x="3777" y="10020"/>
                <a:ext cx="2700" cy="468"/>
                <a:chOff x="3777" y="9240"/>
                <a:chExt cx="2700" cy="468"/>
              </a:xfrm>
            </p:grpSpPr>
            <p:sp>
              <p:nvSpPr>
                <p:cNvPr id="126060" name="Line 5"/>
                <p:cNvSpPr/>
                <p:nvPr/>
              </p:nvSpPr>
              <p:spPr>
                <a:xfrm>
                  <a:off x="3777" y="9240"/>
                  <a:ext cx="0" cy="468"/>
                </a:xfrm>
                <a:prstGeom prst="line">
                  <a:avLst/>
                </a:prstGeom>
                <a:ln w="9525" cap="flat" cmpd="sng">
                  <a:solidFill>
                    <a:srgbClr val="000000"/>
                  </a:solidFill>
                  <a:prstDash val="solid"/>
                  <a:headEnd type="none" w="med" len="med"/>
                  <a:tailEnd type="none" w="med" len="med"/>
                </a:ln>
              </p:spPr>
            </p:sp>
            <p:sp>
              <p:nvSpPr>
                <p:cNvPr id="126061" name="Line 6"/>
                <p:cNvSpPr/>
                <p:nvPr/>
              </p:nvSpPr>
              <p:spPr>
                <a:xfrm>
                  <a:off x="4137" y="9240"/>
                  <a:ext cx="0" cy="468"/>
                </a:xfrm>
                <a:prstGeom prst="line">
                  <a:avLst/>
                </a:prstGeom>
                <a:ln w="9525" cap="flat" cmpd="sng">
                  <a:solidFill>
                    <a:srgbClr val="000000"/>
                  </a:solidFill>
                  <a:prstDash val="solid"/>
                  <a:headEnd type="none" w="med" len="med"/>
                  <a:tailEnd type="none" w="med" len="med"/>
                </a:ln>
              </p:spPr>
            </p:sp>
            <p:sp>
              <p:nvSpPr>
                <p:cNvPr id="126062" name="Line 7"/>
                <p:cNvSpPr/>
                <p:nvPr/>
              </p:nvSpPr>
              <p:spPr>
                <a:xfrm>
                  <a:off x="4497" y="9240"/>
                  <a:ext cx="0" cy="468"/>
                </a:xfrm>
                <a:prstGeom prst="line">
                  <a:avLst/>
                </a:prstGeom>
                <a:ln w="9525" cap="flat" cmpd="sng">
                  <a:solidFill>
                    <a:srgbClr val="000000"/>
                  </a:solidFill>
                  <a:prstDash val="solid"/>
                  <a:headEnd type="none" w="med" len="med"/>
                  <a:tailEnd type="none" w="med" len="med"/>
                </a:ln>
              </p:spPr>
            </p:sp>
            <p:sp>
              <p:nvSpPr>
                <p:cNvPr id="126063" name="Line 8"/>
                <p:cNvSpPr/>
                <p:nvPr/>
              </p:nvSpPr>
              <p:spPr>
                <a:xfrm>
                  <a:off x="4857" y="9240"/>
                  <a:ext cx="0" cy="468"/>
                </a:xfrm>
                <a:prstGeom prst="line">
                  <a:avLst/>
                </a:prstGeom>
                <a:ln w="9525" cap="flat" cmpd="sng">
                  <a:solidFill>
                    <a:srgbClr val="000000"/>
                  </a:solidFill>
                  <a:prstDash val="solid"/>
                  <a:headEnd type="none" w="med" len="med"/>
                  <a:tailEnd type="none" w="med" len="med"/>
                </a:ln>
              </p:spPr>
            </p:sp>
            <p:sp>
              <p:nvSpPr>
                <p:cNvPr id="126064" name="Line 9"/>
                <p:cNvSpPr/>
                <p:nvPr/>
              </p:nvSpPr>
              <p:spPr>
                <a:xfrm>
                  <a:off x="5937" y="9552"/>
                  <a:ext cx="540" cy="0"/>
                </a:xfrm>
                <a:prstGeom prst="line">
                  <a:avLst/>
                </a:prstGeom>
                <a:ln w="38100" cap="rnd" cmpd="sng">
                  <a:solidFill>
                    <a:srgbClr val="000000"/>
                  </a:solidFill>
                  <a:prstDash val="sysDot"/>
                  <a:headEnd type="none" w="med" len="med"/>
                  <a:tailEnd type="none" w="med" len="med"/>
                </a:ln>
              </p:spPr>
            </p:sp>
          </p:grpSp>
          <p:grpSp>
            <p:nvGrpSpPr>
              <p:cNvPr id="126032" name="Group 10"/>
              <p:cNvGrpSpPr/>
              <p:nvPr/>
            </p:nvGrpSpPr>
            <p:grpSpPr>
              <a:xfrm>
                <a:off x="2697" y="9552"/>
                <a:ext cx="4500" cy="936"/>
                <a:chOff x="2697" y="8772"/>
                <a:chExt cx="4500" cy="936"/>
              </a:xfrm>
            </p:grpSpPr>
            <p:grpSp>
              <p:nvGrpSpPr>
                <p:cNvPr id="126033" name="Group 11"/>
                <p:cNvGrpSpPr/>
                <p:nvPr/>
              </p:nvGrpSpPr>
              <p:grpSpPr>
                <a:xfrm>
                  <a:off x="3777" y="9240"/>
                  <a:ext cx="360" cy="468"/>
                  <a:chOff x="3777" y="9240"/>
                  <a:chExt cx="360" cy="468"/>
                </a:xfrm>
              </p:grpSpPr>
              <p:sp>
                <p:nvSpPr>
                  <p:cNvPr id="126056" name="Line 12"/>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57" name="Line 13"/>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58" name="Line 14"/>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59" name="Line 15"/>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6034" name="Group 16"/>
                <p:cNvGrpSpPr/>
                <p:nvPr/>
              </p:nvGrpSpPr>
              <p:grpSpPr>
                <a:xfrm>
                  <a:off x="4137" y="9240"/>
                  <a:ext cx="360" cy="468"/>
                  <a:chOff x="3777" y="9240"/>
                  <a:chExt cx="360" cy="468"/>
                </a:xfrm>
              </p:grpSpPr>
              <p:sp>
                <p:nvSpPr>
                  <p:cNvPr id="126052" name="Line 17"/>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53" name="Line 18"/>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54" name="Line 19"/>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55" name="Line 20"/>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6035" name="Group 21"/>
                <p:cNvGrpSpPr/>
                <p:nvPr/>
              </p:nvGrpSpPr>
              <p:grpSpPr>
                <a:xfrm>
                  <a:off x="4497" y="9240"/>
                  <a:ext cx="360" cy="468"/>
                  <a:chOff x="3777" y="9240"/>
                  <a:chExt cx="360" cy="468"/>
                </a:xfrm>
              </p:grpSpPr>
              <p:sp>
                <p:nvSpPr>
                  <p:cNvPr id="126048" name="Line 22"/>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49" name="Line 23"/>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50" name="Line 24"/>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51" name="Line 25"/>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6036" name="Group 26"/>
                <p:cNvGrpSpPr/>
                <p:nvPr/>
              </p:nvGrpSpPr>
              <p:grpSpPr>
                <a:xfrm>
                  <a:off x="2697" y="8772"/>
                  <a:ext cx="4500" cy="936"/>
                  <a:chOff x="2697" y="8772"/>
                  <a:chExt cx="4500" cy="936"/>
                </a:xfrm>
              </p:grpSpPr>
              <p:grpSp>
                <p:nvGrpSpPr>
                  <p:cNvPr id="126037" name="Group 27"/>
                  <p:cNvGrpSpPr/>
                  <p:nvPr/>
                </p:nvGrpSpPr>
                <p:grpSpPr>
                  <a:xfrm>
                    <a:off x="2697" y="9240"/>
                    <a:ext cx="4500" cy="468"/>
                    <a:chOff x="2697" y="9240"/>
                    <a:chExt cx="4500" cy="468"/>
                  </a:xfrm>
                </p:grpSpPr>
                <p:sp>
                  <p:nvSpPr>
                    <p:cNvPr id="126039" name="Line 28"/>
                    <p:cNvSpPr/>
                    <p:nvPr/>
                  </p:nvSpPr>
                  <p:spPr>
                    <a:xfrm>
                      <a:off x="2697" y="9240"/>
                      <a:ext cx="4500" cy="0"/>
                    </a:xfrm>
                    <a:prstGeom prst="line">
                      <a:avLst/>
                    </a:prstGeom>
                    <a:ln w="9525" cap="flat" cmpd="sng">
                      <a:solidFill>
                        <a:srgbClr val="000000"/>
                      </a:solidFill>
                      <a:prstDash val="solid"/>
                      <a:headEnd type="none" w="med" len="med"/>
                      <a:tailEnd type="none" w="med" len="med"/>
                    </a:ln>
                  </p:spPr>
                </p:sp>
                <p:sp>
                  <p:nvSpPr>
                    <p:cNvPr id="126040" name="Line 29"/>
                    <p:cNvSpPr/>
                    <p:nvPr/>
                  </p:nvSpPr>
                  <p:spPr>
                    <a:xfrm>
                      <a:off x="2697" y="9708"/>
                      <a:ext cx="4500" cy="0"/>
                    </a:xfrm>
                    <a:prstGeom prst="line">
                      <a:avLst/>
                    </a:prstGeom>
                    <a:ln w="9525" cap="flat" cmpd="sng">
                      <a:solidFill>
                        <a:srgbClr val="000000"/>
                      </a:solidFill>
                      <a:prstDash val="solid"/>
                      <a:headEnd type="none" w="med" len="med"/>
                      <a:tailEnd type="none" w="med" len="med"/>
                    </a:ln>
                  </p:spPr>
                </p:sp>
                <p:sp>
                  <p:nvSpPr>
                    <p:cNvPr id="126041" name="Line 30"/>
                    <p:cNvSpPr/>
                    <p:nvPr/>
                  </p:nvSpPr>
                  <p:spPr>
                    <a:xfrm>
                      <a:off x="2697" y="9240"/>
                      <a:ext cx="0" cy="468"/>
                    </a:xfrm>
                    <a:prstGeom prst="line">
                      <a:avLst/>
                    </a:prstGeom>
                    <a:ln w="9525" cap="flat" cmpd="sng">
                      <a:solidFill>
                        <a:srgbClr val="000000"/>
                      </a:solidFill>
                      <a:prstDash val="solid"/>
                      <a:headEnd type="none" w="med" len="med"/>
                      <a:tailEnd type="none" w="med" len="med"/>
                    </a:ln>
                  </p:spPr>
                </p:sp>
                <p:sp>
                  <p:nvSpPr>
                    <p:cNvPr id="126042" name="Line 31"/>
                    <p:cNvSpPr/>
                    <p:nvPr/>
                  </p:nvSpPr>
                  <p:spPr>
                    <a:xfrm>
                      <a:off x="7197" y="9240"/>
                      <a:ext cx="0" cy="468"/>
                    </a:xfrm>
                    <a:prstGeom prst="line">
                      <a:avLst/>
                    </a:prstGeom>
                    <a:ln w="9525" cap="flat" cmpd="sng">
                      <a:solidFill>
                        <a:srgbClr val="000000"/>
                      </a:solidFill>
                      <a:prstDash val="solid"/>
                      <a:headEnd type="none" w="med" len="med"/>
                      <a:tailEnd type="none" w="med" len="med"/>
                    </a:ln>
                  </p:spPr>
                </p:sp>
                <p:sp>
                  <p:nvSpPr>
                    <p:cNvPr id="126043" name="Line 32"/>
                    <p:cNvSpPr/>
                    <p:nvPr/>
                  </p:nvSpPr>
                  <p:spPr>
                    <a:xfrm>
                      <a:off x="3057" y="9240"/>
                      <a:ext cx="0" cy="468"/>
                    </a:xfrm>
                    <a:prstGeom prst="line">
                      <a:avLst/>
                    </a:prstGeom>
                    <a:ln w="9525" cap="flat" cmpd="sng">
                      <a:solidFill>
                        <a:srgbClr val="000000"/>
                      </a:solidFill>
                      <a:prstDash val="solid"/>
                      <a:headEnd type="none" w="med" len="med"/>
                      <a:tailEnd type="none" w="med" len="med"/>
                    </a:ln>
                  </p:spPr>
                </p:sp>
                <p:sp>
                  <p:nvSpPr>
                    <p:cNvPr id="126044" name="Line 33"/>
                    <p:cNvSpPr/>
                    <p:nvPr/>
                  </p:nvSpPr>
                  <p:spPr>
                    <a:xfrm>
                      <a:off x="3417" y="9240"/>
                      <a:ext cx="0" cy="468"/>
                    </a:xfrm>
                    <a:prstGeom prst="line">
                      <a:avLst/>
                    </a:prstGeom>
                    <a:ln w="9525" cap="flat" cmpd="sng">
                      <a:solidFill>
                        <a:srgbClr val="000000"/>
                      </a:solidFill>
                      <a:prstDash val="solid"/>
                      <a:headEnd type="none" w="med" len="med"/>
                      <a:tailEnd type="none" w="med" len="med"/>
                    </a:ln>
                  </p:spPr>
                </p:sp>
                <p:sp>
                  <p:nvSpPr>
                    <p:cNvPr id="126045" name="Line 34"/>
                    <p:cNvSpPr/>
                    <p:nvPr/>
                  </p:nvSpPr>
                  <p:spPr>
                    <a:xfrm>
                      <a:off x="5217" y="9240"/>
                      <a:ext cx="0" cy="468"/>
                    </a:xfrm>
                    <a:prstGeom prst="line">
                      <a:avLst/>
                    </a:prstGeom>
                    <a:ln w="9525" cap="flat" cmpd="sng">
                      <a:solidFill>
                        <a:srgbClr val="000000"/>
                      </a:solidFill>
                      <a:prstDash val="solid"/>
                      <a:headEnd type="none" w="med" len="med"/>
                      <a:tailEnd type="none" w="med" len="med"/>
                    </a:ln>
                  </p:spPr>
                </p:sp>
                <p:sp>
                  <p:nvSpPr>
                    <p:cNvPr id="126046" name="Line 35"/>
                    <p:cNvSpPr/>
                    <p:nvPr/>
                  </p:nvSpPr>
                  <p:spPr>
                    <a:xfrm>
                      <a:off x="5577" y="9240"/>
                      <a:ext cx="0" cy="468"/>
                    </a:xfrm>
                    <a:prstGeom prst="line">
                      <a:avLst/>
                    </a:prstGeom>
                    <a:ln w="9525" cap="flat" cmpd="sng">
                      <a:solidFill>
                        <a:srgbClr val="000000"/>
                      </a:solidFill>
                      <a:prstDash val="solid"/>
                      <a:headEnd type="none" w="med" len="med"/>
                      <a:tailEnd type="none" w="med" len="med"/>
                    </a:ln>
                  </p:spPr>
                </p:sp>
                <p:sp>
                  <p:nvSpPr>
                    <p:cNvPr id="126047" name="Line 36"/>
                    <p:cNvSpPr/>
                    <p:nvPr/>
                  </p:nvSpPr>
                  <p:spPr>
                    <a:xfrm>
                      <a:off x="6837" y="9240"/>
                      <a:ext cx="0" cy="468"/>
                    </a:xfrm>
                    <a:prstGeom prst="line">
                      <a:avLst/>
                    </a:prstGeom>
                    <a:ln w="9525" cap="flat" cmpd="sng">
                      <a:solidFill>
                        <a:srgbClr val="000000"/>
                      </a:solidFill>
                      <a:prstDash val="solid"/>
                      <a:headEnd type="none" w="med" len="med"/>
                      <a:tailEnd type="none" w="med" len="med"/>
                    </a:ln>
                  </p:spPr>
                </p:sp>
              </p:grpSp>
              <p:sp>
                <p:nvSpPr>
                  <p:cNvPr id="126038" name="Text Box 37"/>
                  <p:cNvSpPr txBox="1"/>
                  <p:nvPr/>
                </p:nvSpPr>
                <p:spPr>
                  <a:xfrm>
                    <a:off x="2697" y="8772"/>
                    <a:ext cx="450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1  2  3   4  5   6  7  8</a:t>
                    </a:r>
                    <a:r>
                      <a:rPr lang="en-US" altLang="zh-CN" sz="2400" b="1" dirty="0">
                        <a:latin typeface="Times New Roman" panose="02020603050405020304" pitchFamily="18" charset="0"/>
                      </a:rPr>
                      <a:t>               n</a:t>
                    </a:r>
                    <a:endParaRPr lang="en-US" altLang="zh-CN" sz="2400" b="1" dirty="0">
                      <a:latin typeface="Times New Roman" panose="02020603050405020304" pitchFamily="18" charset="0"/>
                    </a:endParaRPr>
                  </a:p>
                </p:txBody>
              </p:sp>
            </p:grpSp>
          </p:grpSp>
        </p:grpSp>
        <p:grpSp>
          <p:nvGrpSpPr>
            <p:cNvPr id="126024" name="Group 38"/>
            <p:cNvGrpSpPr/>
            <p:nvPr/>
          </p:nvGrpSpPr>
          <p:grpSpPr>
            <a:xfrm>
              <a:off x="3597" y="9864"/>
              <a:ext cx="717" cy="624"/>
              <a:chOff x="3597" y="9864"/>
              <a:chExt cx="717" cy="624"/>
            </a:xfrm>
          </p:grpSpPr>
          <p:sp>
            <p:nvSpPr>
              <p:cNvPr id="126029" name="Line 39"/>
              <p:cNvSpPr/>
              <p:nvPr/>
            </p:nvSpPr>
            <p:spPr>
              <a:xfrm flipV="1">
                <a:off x="3957" y="9864"/>
                <a:ext cx="0" cy="312"/>
              </a:xfrm>
              <a:prstGeom prst="line">
                <a:avLst/>
              </a:prstGeom>
              <a:ln w="9525" cap="flat" cmpd="sng">
                <a:solidFill>
                  <a:srgbClr val="000000"/>
                </a:solidFill>
                <a:prstDash val="solid"/>
                <a:headEnd type="none" w="med" len="med"/>
                <a:tailEnd type="triangle" w="med" len="med"/>
              </a:ln>
            </p:spPr>
          </p:sp>
          <p:sp>
            <p:nvSpPr>
              <p:cNvPr id="126030" name="Text Box 40"/>
              <p:cNvSpPr txBox="1"/>
              <p:nvPr/>
            </p:nvSpPr>
            <p:spPr>
              <a:xfrm>
                <a:off x="3597" y="10020"/>
                <a:ext cx="717"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out</a:t>
                </a:r>
                <a:endParaRPr lang="en-US" altLang="zh-CN" sz="2400" b="1" dirty="0">
                  <a:solidFill>
                    <a:srgbClr val="003300"/>
                  </a:solidFill>
                  <a:latin typeface="Times New Roman" panose="02020603050405020304" pitchFamily="18" charset="0"/>
                </a:endParaRPr>
              </a:p>
            </p:txBody>
          </p:sp>
        </p:grpSp>
        <p:grpSp>
          <p:nvGrpSpPr>
            <p:cNvPr id="126025" name="Group 41"/>
            <p:cNvGrpSpPr/>
            <p:nvPr/>
          </p:nvGrpSpPr>
          <p:grpSpPr>
            <a:xfrm>
              <a:off x="4857" y="9864"/>
              <a:ext cx="540" cy="624"/>
              <a:chOff x="4857" y="9864"/>
              <a:chExt cx="540" cy="624"/>
            </a:xfrm>
          </p:grpSpPr>
          <p:sp>
            <p:nvSpPr>
              <p:cNvPr id="126027" name="Line 42"/>
              <p:cNvSpPr/>
              <p:nvPr/>
            </p:nvSpPr>
            <p:spPr>
              <a:xfrm flipV="1">
                <a:off x="5037" y="9864"/>
                <a:ext cx="0" cy="312"/>
              </a:xfrm>
              <a:prstGeom prst="line">
                <a:avLst/>
              </a:prstGeom>
              <a:ln w="9525" cap="flat" cmpd="sng">
                <a:solidFill>
                  <a:srgbClr val="000000"/>
                </a:solidFill>
                <a:prstDash val="solid"/>
                <a:headEnd type="none" w="med" len="med"/>
                <a:tailEnd type="triangle" w="med" len="med"/>
              </a:ln>
            </p:spPr>
          </p:sp>
          <p:sp>
            <p:nvSpPr>
              <p:cNvPr id="126028" name="Text Box 43"/>
              <p:cNvSpPr txBox="1"/>
              <p:nvPr/>
            </p:nvSpPr>
            <p:spPr>
              <a:xfrm>
                <a:off x="4857" y="10020"/>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000" b="1" dirty="0">
                    <a:solidFill>
                      <a:srgbClr val="003300"/>
                    </a:solidFill>
                    <a:latin typeface="Times New Roman" panose="02020603050405020304" pitchFamily="18" charset="0"/>
                  </a:rPr>
                  <a:t>in</a:t>
                </a:r>
                <a:endParaRPr lang="en-US" altLang="zh-CN" sz="2000" b="1" dirty="0">
                  <a:solidFill>
                    <a:srgbClr val="003300"/>
                  </a:solidFill>
                  <a:latin typeface="Times New Roman" panose="02020603050405020304" pitchFamily="18" charset="0"/>
                </a:endParaRPr>
              </a:p>
            </p:txBody>
          </p:sp>
        </p:grpSp>
        <p:sp>
          <p:nvSpPr>
            <p:cNvPr id="126026" name="Text Box 44"/>
            <p:cNvSpPr txBox="1"/>
            <p:nvPr/>
          </p:nvSpPr>
          <p:spPr>
            <a:xfrm>
              <a:off x="4317" y="10332"/>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latin typeface="Times New Roman" panose="02020603050405020304" pitchFamily="18" charset="0"/>
                </a:rPr>
                <a:t>(a)</a:t>
              </a:r>
              <a:endParaRPr lang="en-US" altLang="zh-CN" sz="1800" b="1" dirty="0">
                <a:latin typeface="Times New Roman" panose="02020603050405020304" pitchFamily="18" charset="0"/>
              </a:endParaRPr>
            </a:p>
          </p:txBody>
        </p:sp>
      </p:grpSp>
      <p:grpSp>
        <p:nvGrpSpPr>
          <p:cNvPr id="125956" name="Group 45"/>
          <p:cNvGrpSpPr/>
          <p:nvPr/>
        </p:nvGrpSpPr>
        <p:grpSpPr>
          <a:xfrm>
            <a:off x="2514600" y="2514600"/>
            <a:ext cx="3956050" cy="1597025"/>
            <a:chOff x="2697" y="11580"/>
            <a:chExt cx="4500" cy="1716"/>
          </a:xfrm>
        </p:grpSpPr>
        <p:grpSp>
          <p:nvGrpSpPr>
            <p:cNvPr id="125965" name="Group 46"/>
            <p:cNvGrpSpPr/>
            <p:nvPr/>
          </p:nvGrpSpPr>
          <p:grpSpPr>
            <a:xfrm>
              <a:off x="5037" y="12516"/>
              <a:ext cx="717" cy="624"/>
              <a:chOff x="3597" y="9864"/>
              <a:chExt cx="717" cy="624"/>
            </a:xfrm>
          </p:grpSpPr>
          <p:sp>
            <p:nvSpPr>
              <p:cNvPr id="126021" name="Line 47"/>
              <p:cNvSpPr/>
              <p:nvPr/>
            </p:nvSpPr>
            <p:spPr>
              <a:xfrm flipV="1">
                <a:off x="3957" y="9864"/>
                <a:ext cx="0" cy="312"/>
              </a:xfrm>
              <a:prstGeom prst="line">
                <a:avLst/>
              </a:prstGeom>
              <a:ln w="9525" cap="flat" cmpd="sng">
                <a:solidFill>
                  <a:srgbClr val="000000"/>
                </a:solidFill>
                <a:prstDash val="solid"/>
                <a:headEnd type="none" w="med" len="med"/>
                <a:tailEnd type="triangle" w="med" len="med"/>
              </a:ln>
            </p:spPr>
          </p:sp>
          <p:sp>
            <p:nvSpPr>
              <p:cNvPr id="126022" name="Text Box 48"/>
              <p:cNvSpPr txBox="1"/>
              <p:nvPr/>
            </p:nvSpPr>
            <p:spPr>
              <a:xfrm>
                <a:off x="3597" y="10020"/>
                <a:ext cx="717"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latin typeface="Times New Roman" panose="02020603050405020304" pitchFamily="18" charset="0"/>
                  </a:rPr>
                  <a:t>out</a:t>
                </a:r>
                <a:endParaRPr lang="en-US" altLang="zh-CN" sz="2400" b="1" dirty="0">
                  <a:latin typeface="Times New Roman" panose="02020603050405020304" pitchFamily="18" charset="0"/>
                </a:endParaRPr>
              </a:p>
            </p:txBody>
          </p:sp>
        </p:grpSp>
        <p:grpSp>
          <p:nvGrpSpPr>
            <p:cNvPr id="125966" name="Group 49"/>
            <p:cNvGrpSpPr/>
            <p:nvPr/>
          </p:nvGrpSpPr>
          <p:grpSpPr>
            <a:xfrm>
              <a:off x="3417" y="12516"/>
              <a:ext cx="540" cy="624"/>
              <a:chOff x="4857" y="9864"/>
              <a:chExt cx="540" cy="624"/>
            </a:xfrm>
          </p:grpSpPr>
          <p:sp>
            <p:nvSpPr>
              <p:cNvPr id="126019" name="Line 50"/>
              <p:cNvSpPr/>
              <p:nvPr/>
            </p:nvSpPr>
            <p:spPr>
              <a:xfrm flipV="1">
                <a:off x="5037" y="9864"/>
                <a:ext cx="0" cy="312"/>
              </a:xfrm>
              <a:prstGeom prst="line">
                <a:avLst/>
              </a:prstGeom>
              <a:ln w="9525" cap="flat" cmpd="sng">
                <a:solidFill>
                  <a:srgbClr val="000000"/>
                </a:solidFill>
                <a:prstDash val="solid"/>
                <a:headEnd type="none" w="med" len="med"/>
                <a:tailEnd type="triangle" w="med" len="med"/>
              </a:ln>
            </p:spPr>
          </p:sp>
          <p:sp>
            <p:nvSpPr>
              <p:cNvPr id="126020" name="Text Box 51"/>
              <p:cNvSpPr txBox="1"/>
              <p:nvPr/>
            </p:nvSpPr>
            <p:spPr>
              <a:xfrm>
                <a:off x="4857" y="10020"/>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latin typeface="Times New Roman" panose="02020603050405020304" pitchFamily="18" charset="0"/>
                  </a:rPr>
                  <a:t>in</a:t>
                </a:r>
                <a:endParaRPr lang="en-US" altLang="zh-CN" sz="2400" b="1" dirty="0">
                  <a:latin typeface="Times New Roman" panose="02020603050405020304" pitchFamily="18" charset="0"/>
                </a:endParaRPr>
              </a:p>
            </p:txBody>
          </p:sp>
        </p:grpSp>
        <p:grpSp>
          <p:nvGrpSpPr>
            <p:cNvPr id="125967" name="Group 52"/>
            <p:cNvGrpSpPr/>
            <p:nvPr/>
          </p:nvGrpSpPr>
          <p:grpSpPr>
            <a:xfrm>
              <a:off x="2697" y="11580"/>
              <a:ext cx="4500" cy="1716"/>
              <a:chOff x="2697" y="11580"/>
              <a:chExt cx="4500" cy="1716"/>
            </a:xfrm>
          </p:grpSpPr>
          <p:grpSp>
            <p:nvGrpSpPr>
              <p:cNvPr id="125968" name="Group 53"/>
              <p:cNvGrpSpPr/>
              <p:nvPr/>
            </p:nvGrpSpPr>
            <p:grpSpPr>
              <a:xfrm>
                <a:off x="2697" y="11580"/>
                <a:ext cx="4500" cy="936"/>
                <a:chOff x="2697" y="12048"/>
                <a:chExt cx="4500" cy="936"/>
              </a:xfrm>
            </p:grpSpPr>
            <p:grpSp>
              <p:nvGrpSpPr>
                <p:cNvPr id="125970" name="Group 54"/>
                <p:cNvGrpSpPr/>
                <p:nvPr/>
              </p:nvGrpSpPr>
              <p:grpSpPr>
                <a:xfrm>
                  <a:off x="2697" y="12516"/>
                  <a:ext cx="4500" cy="468"/>
                  <a:chOff x="2697" y="11268"/>
                  <a:chExt cx="4500" cy="468"/>
                </a:xfrm>
              </p:grpSpPr>
              <p:grpSp>
                <p:nvGrpSpPr>
                  <p:cNvPr id="125988" name="Group 55"/>
                  <p:cNvGrpSpPr/>
                  <p:nvPr/>
                </p:nvGrpSpPr>
                <p:grpSpPr>
                  <a:xfrm>
                    <a:off x="5217" y="11268"/>
                    <a:ext cx="360" cy="468"/>
                    <a:chOff x="3777" y="9240"/>
                    <a:chExt cx="360" cy="468"/>
                  </a:xfrm>
                </p:grpSpPr>
                <p:sp>
                  <p:nvSpPr>
                    <p:cNvPr id="126015" name="Line 56"/>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16" name="Line 57"/>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17" name="Line 58"/>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18" name="Line 59"/>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89" name="Group 60"/>
                  <p:cNvGrpSpPr/>
                  <p:nvPr/>
                </p:nvGrpSpPr>
                <p:grpSpPr>
                  <a:xfrm>
                    <a:off x="2697" y="11268"/>
                    <a:ext cx="360" cy="468"/>
                    <a:chOff x="3777" y="9240"/>
                    <a:chExt cx="360" cy="468"/>
                  </a:xfrm>
                </p:grpSpPr>
                <p:sp>
                  <p:nvSpPr>
                    <p:cNvPr id="126011" name="Line 61"/>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12" name="Line 62"/>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13" name="Line 63"/>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14" name="Line 64"/>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90" name="Group 65"/>
                  <p:cNvGrpSpPr/>
                  <p:nvPr/>
                </p:nvGrpSpPr>
                <p:grpSpPr>
                  <a:xfrm>
                    <a:off x="3057" y="11268"/>
                    <a:ext cx="360" cy="468"/>
                    <a:chOff x="3777" y="9240"/>
                    <a:chExt cx="360" cy="468"/>
                  </a:xfrm>
                </p:grpSpPr>
                <p:sp>
                  <p:nvSpPr>
                    <p:cNvPr id="126007" name="Line 66"/>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08" name="Line 67"/>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09" name="Line 68"/>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10" name="Line 69"/>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91" name="Group 70"/>
                  <p:cNvGrpSpPr/>
                  <p:nvPr/>
                </p:nvGrpSpPr>
                <p:grpSpPr>
                  <a:xfrm>
                    <a:off x="5577" y="11268"/>
                    <a:ext cx="360" cy="468"/>
                    <a:chOff x="3777" y="9240"/>
                    <a:chExt cx="360" cy="468"/>
                  </a:xfrm>
                </p:grpSpPr>
                <p:sp>
                  <p:nvSpPr>
                    <p:cNvPr id="126003" name="Line 71"/>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04" name="Line 72"/>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05" name="Line 73"/>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06" name="Line 74"/>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92" name="Group 75"/>
                  <p:cNvGrpSpPr/>
                  <p:nvPr/>
                </p:nvGrpSpPr>
                <p:grpSpPr>
                  <a:xfrm>
                    <a:off x="6477" y="11268"/>
                    <a:ext cx="360" cy="468"/>
                    <a:chOff x="3777" y="9240"/>
                    <a:chExt cx="360" cy="468"/>
                  </a:xfrm>
                </p:grpSpPr>
                <p:sp>
                  <p:nvSpPr>
                    <p:cNvPr id="125999" name="Line 76"/>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6000" name="Line 77"/>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6001" name="Line 78"/>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6002" name="Line 79"/>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grpSp>
                <p:nvGrpSpPr>
                  <p:cNvPr id="125993" name="Group 80"/>
                  <p:cNvGrpSpPr/>
                  <p:nvPr/>
                </p:nvGrpSpPr>
                <p:grpSpPr>
                  <a:xfrm>
                    <a:off x="6837" y="11268"/>
                    <a:ext cx="360" cy="468"/>
                    <a:chOff x="3777" y="9240"/>
                    <a:chExt cx="360" cy="468"/>
                  </a:xfrm>
                </p:grpSpPr>
                <p:sp>
                  <p:nvSpPr>
                    <p:cNvPr id="125995" name="Line 81"/>
                    <p:cNvSpPr/>
                    <p:nvPr/>
                  </p:nvSpPr>
                  <p:spPr>
                    <a:xfrm flipH="1">
                      <a:off x="3777" y="9240"/>
                      <a:ext cx="180" cy="156"/>
                    </a:xfrm>
                    <a:prstGeom prst="line">
                      <a:avLst/>
                    </a:prstGeom>
                    <a:ln w="9525" cap="flat" cmpd="sng">
                      <a:solidFill>
                        <a:srgbClr val="000000"/>
                      </a:solidFill>
                      <a:prstDash val="solid"/>
                      <a:headEnd type="none" w="med" len="med"/>
                      <a:tailEnd type="none" w="med" len="med"/>
                    </a:ln>
                  </p:spPr>
                </p:sp>
                <p:sp>
                  <p:nvSpPr>
                    <p:cNvPr id="125996" name="Line 82"/>
                    <p:cNvSpPr/>
                    <p:nvPr/>
                  </p:nvSpPr>
                  <p:spPr>
                    <a:xfrm flipH="1">
                      <a:off x="3957" y="9552"/>
                      <a:ext cx="180" cy="156"/>
                    </a:xfrm>
                    <a:prstGeom prst="line">
                      <a:avLst/>
                    </a:prstGeom>
                    <a:ln w="9525" cap="flat" cmpd="sng">
                      <a:solidFill>
                        <a:srgbClr val="000000"/>
                      </a:solidFill>
                      <a:prstDash val="solid"/>
                      <a:headEnd type="none" w="med" len="med"/>
                      <a:tailEnd type="none" w="med" len="med"/>
                    </a:ln>
                  </p:spPr>
                </p:sp>
                <p:sp>
                  <p:nvSpPr>
                    <p:cNvPr id="125997" name="Line 83"/>
                    <p:cNvSpPr/>
                    <p:nvPr/>
                  </p:nvSpPr>
                  <p:spPr>
                    <a:xfrm flipH="1">
                      <a:off x="3777" y="9240"/>
                      <a:ext cx="360" cy="312"/>
                    </a:xfrm>
                    <a:prstGeom prst="line">
                      <a:avLst/>
                    </a:prstGeom>
                    <a:ln w="9525" cap="flat" cmpd="sng">
                      <a:solidFill>
                        <a:srgbClr val="000000"/>
                      </a:solidFill>
                      <a:prstDash val="solid"/>
                      <a:headEnd type="none" w="med" len="med"/>
                      <a:tailEnd type="none" w="med" len="med"/>
                    </a:ln>
                  </p:spPr>
                </p:sp>
                <p:sp>
                  <p:nvSpPr>
                    <p:cNvPr id="125998" name="Line 84"/>
                    <p:cNvSpPr/>
                    <p:nvPr/>
                  </p:nvSpPr>
                  <p:spPr>
                    <a:xfrm flipH="1">
                      <a:off x="3777" y="9396"/>
                      <a:ext cx="360" cy="312"/>
                    </a:xfrm>
                    <a:prstGeom prst="line">
                      <a:avLst/>
                    </a:prstGeom>
                    <a:ln w="9525" cap="flat" cmpd="sng">
                      <a:solidFill>
                        <a:srgbClr val="000000"/>
                      </a:solidFill>
                      <a:prstDash val="solid"/>
                      <a:headEnd type="none" w="med" len="med"/>
                      <a:tailEnd type="none" w="med" len="med"/>
                    </a:ln>
                  </p:spPr>
                </p:sp>
              </p:grpSp>
              <p:sp>
                <p:nvSpPr>
                  <p:cNvPr id="125994" name="Line 85"/>
                  <p:cNvSpPr/>
                  <p:nvPr/>
                </p:nvSpPr>
                <p:spPr>
                  <a:xfrm>
                    <a:off x="5937" y="11580"/>
                    <a:ext cx="540" cy="0"/>
                  </a:xfrm>
                  <a:prstGeom prst="line">
                    <a:avLst/>
                  </a:prstGeom>
                  <a:ln w="38100" cap="rnd" cmpd="sng">
                    <a:solidFill>
                      <a:srgbClr val="000000"/>
                    </a:solidFill>
                    <a:prstDash val="sysDot"/>
                    <a:headEnd type="none" w="med" len="med"/>
                    <a:tailEnd type="none" w="med" len="med"/>
                  </a:ln>
                </p:spPr>
              </p:sp>
            </p:grpSp>
            <p:grpSp>
              <p:nvGrpSpPr>
                <p:cNvPr id="125971" name="Group 86"/>
                <p:cNvGrpSpPr/>
                <p:nvPr/>
              </p:nvGrpSpPr>
              <p:grpSpPr>
                <a:xfrm>
                  <a:off x="2697" y="12048"/>
                  <a:ext cx="4500" cy="936"/>
                  <a:chOff x="2697" y="10800"/>
                  <a:chExt cx="4500" cy="936"/>
                </a:xfrm>
              </p:grpSpPr>
              <p:grpSp>
                <p:nvGrpSpPr>
                  <p:cNvPr id="125972" name="Group 87"/>
                  <p:cNvGrpSpPr/>
                  <p:nvPr/>
                </p:nvGrpSpPr>
                <p:grpSpPr>
                  <a:xfrm>
                    <a:off x="2697" y="10800"/>
                    <a:ext cx="4500" cy="936"/>
                    <a:chOff x="2697" y="8772"/>
                    <a:chExt cx="4500" cy="936"/>
                  </a:xfrm>
                </p:grpSpPr>
                <p:grpSp>
                  <p:nvGrpSpPr>
                    <p:cNvPr id="125977" name="Group 88"/>
                    <p:cNvGrpSpPr/>
                    <p:nvPr/>
                  </p:nvGrpSpPr>
                  <p:grpSpPr>
                    <a:xfrm>
                      <a:off x="2697" y="9240"/>
                      <a:ext cx="4500" cy="468"/>
                      <a:chOff x="2697" y="9240"/>
                      <a:chExt cx="4500" cy="468"/>
                    </a:xfrm>
                  </p:grpSpPr>
                  <p:sp>
                    <p:nvSpPr>
                      <p:cNvPr id="125979" name="Line 89"/>
                      <p:cNvSpPr/>
                      <p:nvPr/>
                    </p:nvSpPr>
                    <p:spPr>
                      <a:xfrm>
                        <a:off x="2697" y="9240"/>
                        <a:ext cx="4500" cy="0"/>
                      </a:xfrm>
                      <a:prstGeom prst="line">
                        <a:avLst/>
                      </a:prstGeom>
                      <a:ln w="9525" cap="flat" cmpd="sng">
                        <a:solidFill>
                          <a:srgbClr val="000000"/>
                        </a:solidFill>
                        <a:prstDash val="solid"/>
                        <a:headEnd type="none" w="med" len="med"/>
                        <a:tailEnd type="none" w="med" len="med"/>
                      </a:ln>
                    </p:spPr>
                  </p:sp>
                  <p:sp>
                    <p:nvSpPr>
                      <p:cNvPr id="125980" name="Line 90"/>
                      <p:cNvSpPr/>
                      <p:nvPr/>
                    </p:nvSpPr>
                    <p:spPr>
                      <a:xfrm>
                        <a:off x="2697" y="9708"/>
                        <a:ext cx="4500" cy="0"/>
                      </a:xfrm>
                      <a:prstGeom prst="line">
                        <a:avLst/>
                      </a:prstGeom>
                      <a:ln w="9525" cap="flat" cmpd="sng">
                        <a:solidFill>
                          <a:srgbClr val="000000"/>
                        </a:solidFill>
                        <a:prstDash val="solid"/>
                        <a:headEnd type="none" w="med" len="med"/>
                        <a:tailEnd type="none" w="med" len="med"/>
                      </a:ln>
                    </p:spPr>
                  </p:sp>
                  <p:sp>
                    <p:nvSpPr>
                      <p:cNvPr id="125981" name="Line 91"/>
                      <p:cNvSpPr/>
                      <p:nvPr/>
                    </p:nvSpPr>
                    <p:spPr>
                      <a:xfrm>
                        <a:off x="2697" y="9240"/>
                        <a:ext cx="0" cy="468"/>
                      </a:xfrm>
                      <a:prstGeom prst="line">
                        <a:avLst/>
                      </a:prstGeom>
                      <a:ln w="9525" cap="flat" cmpd="sng">
                        <a:solidFill>
                          <a:srgbClr val="000000"/>
                        </a:solidFill>
                        <a:prstDash val="solid"/>
                        <a:headEnd type="none" w="med" len="med"/>
                        <a:tailEnd type="none" w="med" len="med"/>
                      </a:ln>
                    </p:spPr>
                  </p:sp>
                  <p:sp>
                    <p:nvSpPr>
                      <p:cNvPr id="125982" name="Line 92"/>
                      <p:cNvSpPr/>
                      <p:nvPr/>
                    </p:nvSpPr>
                    <p:spPr>
                      <a:xfrm>
                        <a:off x="7197" y="9240"/>
                        <a:ext cx="0" cy="468"/>
                      </a:xfrm>
                      <a:prstGeom prst="line">
                        <a:avLst/>
                      </a:prstGeom>
                      <a:ln w="9525" cap="flat" cmpd="sng">
                        <a:solidFill>
                          <a:srgbClr val="000000"/>
                        </a:solidFill>
                        <a:prstDash val="solid"/>
                        <a:headEnd type="none" w="med" len="med"/>
                        <a:tailEnd type="none" w="med" len="med"/>
                      </a:ln>
                    </p:spPr>
                  </p:sp>
                  <p:sp>
                    <p:nvSpPr>
                      <p:cNvPr id="125983" name="Line 93"/>
                      <p:cNvSpPr/>
                      <p:nvPr/>
                    </p:nvSpPr>
                    <p:spPr>
                      <a:xfrm>
                        <a:off x="3057" y="9240"/>
                        <a:ext cx="0" cy="468"/>
                      </a:xfrm>
                      <a:prstGeom prst="line">
                        <a:avLst/>
                      </a:prstGeom>
                      <a:ln w="9525" cap="flat" cmpd="sng">
                        <a:solidFill>
                          <a:srgbClr val="000000"/>
                        </a:solidFill>
                        <a:prstDash val="solid"/>
                        <a:headEnd type="none" w="med" len="med"/>
                        <a:tailEnd type="none" w="med" len="med"/>
                      </a:ln>
                    </p:spPr>
                  </p:sp>
                  <p:sp>
                    <p:nvSpPr>
                      <p:cNvPr id="125984" name="Line 94"/>
                      <p:cNvSpPr/>
                      <p:nvPr/>
                    </p:nvSpPr>
                    <p:spPr>
                      <a:xfrm>
                        <a:off x="3417" y="9240"/>
                        <a:ext cx="0" cy="468"/>
                      </a:xfrm>
                      <a:prstGeom prst="line">
                        <a:avLst/>
                      </a:prstGeom>
                      <a:ln w="9525" cap="flat" cmpd="sng">
                        <a:solidFill>
                          <a:srgbClr val="000000"/>
                        </a:solidFill>
                        <a:prstDash val="solid"/>
                        <a:headEnd type="none" w="med" len="med"/>
                        <a:tailEnd type="none" w="med" len="med"/>
                      </a:ln>
                    </p:spPr>
                  </p:sp>
                  <p:sp>
                    <p:nvSpPr>
                      <p:cNvPr id="125985" name="Line 95"/>
                      <p:cNvSpPr/>
                      <p:nvPr/>
                    </p:nvSpPr>
                    <p:spPr>
                      <a:xfrm>
                        <a:off x="5217" y="9240"/>
                        <a:ext cx="0" cy="468"/>
                      </a:xfrm>
                      <a:prstGeom prst="line">
                        <a:avLst/>
                      </a:prstGeom>
                      <a:ln w="9525" cap="flat" cmpd="sng">
                        <a:solidFill>
                          <a:srgbClr val="000000"/>
                        </a:solidFill>
                        <a:prstDash val="solid"/>
                        <a:headEnd type="none" w="med" len="med"/>
                        <a:tailEnd type="none" w="med" len="med"/>
                      </a:ln>
                    </p:spPr>
                  </p:sp>
                  <p:sp>
                    <p:nvSpPr>
                      <p:cNvPr id="125986" name="Line 96"/>
                      <p:cNvSpPr/>
                      <p:nvPr/>
                    </p:nvSpPr>
                    <p:spPr>
                      <a:xfrm>
                        <a:off x="5577" y="9240"/>
                        <a:ext cx="0" cy="468"/>
                      </a:xfrm>
                      <a:prstGeom prst="line">
                        <a:avLst/>
                      </a:prstGeom>
                      <a:ln w="9525" cap="flat" cmpd="sng">
                        <a:solidFill>
                          <a:srgbClr val="000000"/>
                        </a:solidFill>
                        <a:prstDash val="solid"/>
                        <a:headEnd type="none" w="med" len="med"/>
                        <a:tailEnd type="none" w="med" len="med"/>
                      </a:ln>
                    </p:spPr>
                  </p:sp>
                  <p:sp>
                    <p:nvSpPr>
                      <p:cNvPr id="125987" name="Line 97"/>
                      <p:cNvSpPr/>
                      <p:nvPr/>
                    </p:nvSpPr>
                    <p:spPr>
                      <a:xfrm>
                        <a:off x="6837" y="9240"/>
                        <a:ext cx="0" cy="468"/>
                      </a:xfrm>
                      <a:prstGeom prst="line">
                        <a:avLst/>
                      </a:prstGeom>
                      <a:ln w="9525" cap="flat" cmpd="sng">
                        <a:solidFill>
                          <a:srgbClr val="000000"/>
                        </a:solidFill>
                        <a:prstDash val="solid"/>
                        <a:headEnd type="none" w="med" len="med"/>
                        <a:tailEnd type="none" w="med" len="med"/>
                      </a:ln>
                    </p:spPr>
                  </p:sp>
                </p:grpSp>
                <p:sp>
                  <p:nvSpPr>
                    <p:cNvPr id="125978" name="Text Box 98"/>
                    <p:cNvSpPr txBox="1"/>
                    <p:nvPr/>
                  </p:nvSpPr>
                  <p:spPr>
                    <a:xfrm>
                      <a:off x="2697" y="8772"/>
                      <a:ext cx="450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400" b="1" dirty="0">
                          <a:solidFill>
                            <a:srgbClr val="003300"/>
                          </a:solidFill>
                          <a:latin typeface="Times New Roman" panose="02020603050405020304" pitchFamily="18" charset="0"/>
                        </a:rPr>
                        <a:t>1  2  3   4  5   6  7  8               n</a:t>
                      </a:r>
                      <a:endParaRPr lang="en-US" altLang="zh-CN" sz="2400" b="1" dirty="0">
                        <a:solidFill>
                          <a:srgbClr val="003300"/>
                        </a:solidFill>
                        <a:latin typeface="Times New Roman" panose="02020603050405020304" pitchFamily="18" charset="0"/>
                      </a:endParaRPr>
                    </a:p>
                  </p:txBody>
                </p:sp>
              </p:grpSp>
              <p:sp>
                <p:nvSpPr>
                  <p:cNvPr id="125973" name="Line 99"/>
                  <p:cNvSpPr/>
                  <p:nvPr/>
                </p:nvSpPr>
                <p:spPr>
                  <a:xfrm>
                    <a:off x="3777" y="11268"/>
                    <a:ext cx="0" cy="468"/>
                  </a:xfrm>
                  <a:prstGeom prst="line">
                    <a:avLst/>
                  </a:prstGeom>
                  <a:ln w="9525" cap="flat" cmpd="sng">
                    <a:solidFill>
                      <a:srgbClr val="000000"/>
                    </a:solidFill>
                    <a:prstDash val="solid"/>
                    <a:headEnd type="none" w="med" len="med"/>
                    <a:tailEnd type="none" w="med" len="med"/>
                  </a:ln>
                </p:spPr>
              </p:sp>
              <p:sp>
                <p:nvSpPr>
                  <p:cNvPr id="125974" name="Line 100"/>
                  <p:cNvSpPr/>
                  <p:nvPr/>
                </p:nvSpPr>
                <p:spPr>
                  <a:xfrm>
                    <a:off x="4137" y="11268"/>
                    <a:ext cx="0" cy="468"/>
                  </a:xfrm>
                  <a:prstGeom prst="line">
                    <a:avLst/>
                  </a:prstGeom>
                  <a:ln w="9525" cap="flat" cmpd="sng">
                    <a:solidFill>
                      <a:srgbClr val="000000"/>
                    </a:solidFill>
                    <a:prstDash val="solid"/>
                    <a:headEnd type="none" w="med" len="med"/>
                    <a:tailEnd type="none" w="med" len="med"/>
                  </a:ln>
                </p:spPr>
              </p:sp>
              <p:sp>
                <p:nvSpPr>
                  <p:cNvPr id="125975" name="Line 101"/>
                  <p:cNvSpPr/>
                  <p:nvPr/>
                </p:nvSpPr>
                <p:spPr>
                  <a:xfrm>
                    <a:off x="4497" y="11268"/>
                    <a:ext cx="0" cy="468"/>
                  </a:xfrm>
                  <a:prstGeom prst="line">
                    <a:avLst/>
                  </a:prstGeom>
                  <a:ln w="9525" cap="flat" cmpd="sng">
                    <a:solidFill>
                      <a:srgbClr val="000000"/>
                    </a:solidFill>
                    <a:prstDash val="solid"/>
                    <a:headEnd type="none" w="med" len="med"/>
                    <a:tailEnd type="none" w="med" len="med"/>
                  </a:ln>
                </p:spPr>
              </p:sp>
              <p:sp>
                <p:nvSpPr>
                  <p:cNvPr id="125976" name="Line 102"/>
                  <p:cNvSpPr/>
                  <p:nvPr/>
                </p:nvSpPr>
                <p:spPr>
                  <a:xfrm>
                    <a:off x="4857" y="11268"/>
                    <a:ext cx="0" cy="468"/>
                  </a:xfrm>
                  <a:prstGeom prst="line">
                    <a:avLst/>
                  </a:prstGeom>
                  <a:ln w="9525" cap="flat" cmpd="sng">
                    <a:solidFill>
                      <a:srgbClr val="000000"/>
                    </a:solidFill>
                    <a:prstDash val="solid"/>
                    <a:headEnd type="none" w="med" len="med"/>
                    <a:tailEnd type="none" w="med" len="med"/>
                  </a:ln>
                </p:spPr>
              </p:sp>
            </p:grpSp>
          </p:grpSp>
          <p:sp>
            <p:nvSpPr>
              <p:cNvPr id="125969" name="Text Box 103"/>
              <p:cNvSpPr txBox="1"/>
              <p:nvPr/>
            </p:nvSpPr>
            <p:spPr>
              <a:xfrm>
                <a:off x="4137" y="12828"/>
                <a:ext cx="540" cy="46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3300"/>
                    </a:solidFill>
                    <a:latin typeface="Times New Roman" panose="02020603050405020304" pitchFamily="18" charset="0"/>
                  </a:rPr>
                  <a:t>(b)</a:t>
                </a:r>
                <a:endParaRPr lang="en-US" altLang="zh-CN" sz="1800" b="1" dirty="0">
                  <a:solidFill>
                    <a:srgbClr val="003300"/>
                  </a:solidFill>
                  <a:latin typeface="Times New Roman" panose="02020603050405020304" pitchFamily="18" charset="0"/>
                </a:endParaRPr>
              </a:p>
            </p:txBody>
          </p:sp>
        </p:grpSp>
      </p:grpSp>
      <p:sp>
        <p:nvSpPr>
          <p:cNvPr id="125957" name="Text Box 104"/>
          <p:cNvSpPr txBox="1"/>
          <p:nvPr/>
        </p:nvSpPr>
        <p:spPr>
          <a:xfrm>
            <a:off x="1447800" y="4194175"/>
            <a:ext cx="5867400" cy="1597025"/>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latin typeface="Times New Roman" panose="02020603050405020304" pitchFamily="18" charset="0"/>
              </a:rPr>
              <a:t>  </a:t>
            </a:r>
            <a:r>
              <a:rPr lang="zh-CN" altLang="en-US" sz="1800" b="1" dirty="0">
                <a:solidFill>
                  <a:srgbClr val="003300"/>
                </a:solidFill>
                <a:latin typeface="Times New Roman" panose="02020603050405020304" pitchFamily="18" charset="0"/>
              </a:rPr>
              <a:t>其中，</a:t>
            </a:r>
            <a:r>
              <a:rPr lang="en-US" altLang="zh-CN" sz="1800" b="1" dirty="0">
                <a:solidFill>
                  <a:srgbClr val="003300"/>
                </a:solidFill>
                <a:latin typeface="Times New Roman" panose="02020603050405020304" pitchFamily="18" charset="0"/>
              </a:rPr>
              <a:t>in</a:t>
            </a:r>
            <a:r>
              <a:rPr lang="zh-CN" altLang="en-US" sz="1800" b="1" dirty="0">
                <a:solidFill>
                  <a:srgbClr val="003300"/>
                </a:solidFill>
                <a:latin typeface="Times New Roman" panose="02020603050405020304" pitchFamily="18" charset="0"/>
              </a:rPr>
              <a:t>表示存数据位置，</a:t>
            </a:r>
            <a:r>
              <a:rPr lang="en-US" altLang="zh-CN" sz="1800" b="1" dirty="0">
                <a:solidFill>
                  <a:srgbClr val="003300"/>
                </a:solidFill>
                <a:latin typeface="Times New Roman" panose="02020603050405020304" pitchFamily="18" charset="0"/>
              </a:rPr>
              <a:t>out</a:t>
            </a:r>
            <a:r>
              <a:rPr lang="zh-CN" altLang="en-US" sz="1800" b="1" dirty="0">
                <a:solidFill>
                  <a:srgbClr val="003300"/>
                </a:solidFill>
                <a:latin typeface="Times New Roman" panose="02020603050405020304" pitchFamily="18" charset="0"/>
              </a:rPr>
              <a:t>表示取数据位置</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    </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             ：被占用单元 ，      ：空存储单元</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         </a:t>
            </a:r>
            <a:endParaRPr lang="zh-CN" altLang="en-US" sz="1800" b="1" dirty="0">
              <a:solidFill>
                <a:srgbClr val="003300"/>
              </a:solidFill>
              <a:latin typeface="Times New Roman" panose="02020603050405020304" pitchFamily="18" charset="0"/>
            </a:endParaRPr>
          </a:p>
          <a:p>
            <a:pPr marL="0" lvl="0" indent="0" algn="ctr">
              <a:spcBef>
                <a:spcPct val="0"/>
              </a:spcBef>
              <a:buClrTx/>
              <a:buSzTx/>
              <a:buFontTx/>
              <a:buNone/>
            </a:pPr>
            <a:r>
              <a:rPr lang="zh-CN" altLang="en-US" sz="1800" b="1" dirty="0">
                <a:solidFill>
                  <a:srgbClr val="003300"/>
                </a:solidFill>
                <a:latin typeface="Times New Roman" panose="02020603050405020304" pitchFamily="18" charset="0"/>
              </a:rPr>
              <a:t>图</a:t>
            </a:r>
            <a:r>
              <a:rPr lang="en-US" altLang="zh-CN" sz="1800" b="1" dirty="0">
                <a:solidFill>
                  <a:srgbClr val="003300"/>
                </a:solidFill>
                <a:latin typeface="Times New Roman" panose="02020603050405020304" pitchFamily="18" charset="0"/>
              </a:rPr>
              <a:t>   </a:t>
            </a:r>
            <a:r>
              <a:rPr lang="zh-CN" altLang="en-US" sz="1800" b="1" dirty="0">
                <a:solidFill>
                  <a:srgbClr val="003300"/>
                </a:solidFill>
                <a:latin typeface="Times New Roman" panose="02020603050405020304" pitchFamily="18" charset="0"/>
              </a:rPr>
              <a:t>生产者</a:t>
            </a:r>
            <a:r>
              <a:rPr lang="en-US" altLang="zh-CN" sz="1800" b="1" dirty="0">
                <a:solidFill>
                  <a:srgbClr val="003300"/>
                </a:solidFill>
                <a:latin typeface="Times New Roman" panose="02020603050405020304" pitchFamily="18" charset="0"/>
              </a:rPr>
              <a:t>/</a:t>
            </a:r>
            <a:r>
              <a:rPr lang="zh-CN" altLang="en-US" sz="1800" b="1" dirty="0">
                <a:solidFill>
                  <a:srgbClr val="003300"/>
                </a:solidFill>
                <a:latin typeface="Times New Roman" panose="02020603050405020304" pitchFamily="18" charset="0"/>
              </a:rPr>
              <a:t>消费者循环使用缓冲区</a:t>
            </a:r>
            <a:endParaRPr lang="zh-CN" altLang="en-US" sz="1800" b="1" dirty="0">
              <a:solidFill>
                <a:srgbClr val="003300"/>
              </a:solidFill>
              <a:latin typeface="Times New Roman" panose="02020603050405020304" pitchFamily="18" charset="0"/>
            </a:endParaRPr>
          </a:p>
        </p:txBody>
      </p:sp>
      <p:grpSp>
        <p:nvGrpSpPr>
          <p:cNvPr id="125958" name="Group 105"/>
          <p:cNvGrpSpPr/>
          <p:nvPr/>
        </p:nvGrpSpPr>
        <p:grpSpPr>
          <a:xfrm>
            <a:off x="1828800" y="4648200"/>
            <a:ext cx="317500" cy="434975"/>
            <a:chOff x="1687" y="2768"/>
            <a:chExt cx="200" cy="274"/>
          </a:xfrm>
        </p:grpSpPr>
        <p:sp>
          <p:nvSpPr>
            <p:cNvPr id="125960" name="Rectangle 106"/>
            <p:cNvSpPr/>
            <p:nvPr/>
          </p:nvSpPr>
          <p:spPr>
            <a:xfrm>
              <a:off x="1687" y="2768"/>
              <a:ext cx="200" cy="274"/>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25961" name="Line 107"/>
            <p:cNvSpPr/>
            <p:nvPr/>
          </p:nvSpPr>
          <p:spPr>
            <a:xfrm flipH="1">
              <a:off x="1687" y="2768"/>
              <a:ext cx="100" cy="91"/>
            </a:xfrm>
            <a:prstGeom prst="line">
              <a:avLst/>
            </a:prstGeom>
            <a:ln w="9525" cap="flat" cmpd="sng">
              <a:solidFill>
                <a:srgbClr val="000000"/>
              </a:solidFill>
              <a:prstDash val="solid"/>
              <a:headEnd type="none" w="med" len="med"/>
              <a:tailEnd type="none" w="med" len="med"/>
            </a:ln>
          </p:spPr>
        </p:sp>
        <p:sp>
          <p:nvSpPr>
            <p:cNvPr id="125962" name="Line 108"/>
            <p:cNvSpPr/>
            <p:nvPr/>
          </p:nvSpPr>
          <p:spPr>
            <a:xfrm flipH="1">
              <a:off x="1687" y="2768"/>
              <a:ext cx="200" cy="183"/>
            </a:xfrm>
            <a:prstGeom prst="line">
              <a:avLst/>
            </a:prstGeom>
            <a:ln w="9525" cap="flat" cmpd="sng">
              <a:solidFill>
                <a:srgbClr val="000000"/>
              </a:solidFill>
              <a:prstDash val="solid"/>
              <a:headEnd type="none" w="med" len="med"/>
              <a:tailEnd type="none" w="med" len="med"/>
            </a:ln>
          </p:spPr>
        </p:sp>
        <p:sp>
          <p:nvSpPr>
            <p:cNvPr id="125963" name="Line 109"/>
            <p:cNvSpPr/>
            <p:nvPr/>
          </p:nvSpPr>
          <p:spPr>
            <a:xfrm flipH="1">
              <a:off x="1687" y="2859"/>
              <a:ext cx="200" cy="183"/>
            </a:xfrm>
            <a:prstGeom prst="line">
              <a:avLst/>
            </a:prstGeom>
            <a:ln w="9525" cap="flat" cmpd="sng">
              <a:solidFill>
                <a:srgbClr val="000000"/>
              </a:solidFill>
              <a:prstDash val="solid"/>
              <a:headEnd type="none" w="med" len="med"/>
              <a:tailEnd type="none" w="med" len="med"/>
            </a:ln>
          </p:spPr>
        </p:sp>
        <p:sp>
          <p:nvSpPr>
            <p:cNvPr id="125964" name="Line 110"/>
            <p:cNvSpPr/>
            <p:nvPr/>
          </p:nvSpPr>
          <p:spPr>
            <a:xfrm flipH="1">
              <a:off x="1787" y="2951"/>
              <a:ext cx="100" cy="91"/>
            </a:xfrm>
            <a:prstGeom prst="line">
              <a:avLst/>
            </a:prstGeom>
            <a:ln w="9525" cap="flat" cmpd="sng">
              <a:solidFill>
                <a:srgbClr val="000000"/>
              </a:solidFill>
              <a:prstDash val="solid"/>
              <a:headEnd type="none" w="med" len="med"/>
              <a:tailEnd type="none" w="med" len="med"/>
            </a:ln>
          </p:spPr>
        </p:sp>
      </p:grpSp>
      <p:sp>
        <p:nvSpPr>
          <p:cNvPr id="125959" name="Rectangle 111"/>
          <p:cNvSpPr/>
          <p:nvPr/>
        </p:nvSpPr>
        <p:spPr>
          <a:xfrm>
            <a:off x="3886200" y="4724400"/>
            <a:ext cx="315913" cy="434975"/>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92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生产者</a:t>
            </a:r>
            <a:r>
              <a:rPr kumimoji="0" lang="en-US" altLang="zh-CN"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消费者</a:t>
            </a:r>
            <a:endPar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609283"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指针</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和</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out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初始化指向缓冲区的第一个存储单元。</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生产者：</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通过</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指针向存储单元存放数据，一次存放一条数据，且</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in</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指针向后移一个位置。</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消费者：</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从缓冲区中逐条取走数据，一次取一条数据，相应的存储单元变为</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空</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。每取走一条数据，</a:t>
            </a:r>
            <a:r>
              <a:rPr kumimoji="0" lang="en-US" altLang="zh-CN"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out</a:t>
            </a:r>
            <a:r>
              <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指针向后移一个存储单元位置。</a:t>
            </a:r>
            <a:endParaRPr kumimoji="0" lang="zh-CN" altLang="en-US" sz="28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9282"/>
                                        </p:tgtEl>
                                        <p:attrNameLst>
                                          <p:attrName>style.visibility</p:attrName>
                                        </p:attrNameLst>
                                      </p:cBhvr>
                                      <p:to>
                                        <p:strVal val="visible"/>
                                      </p:to>
                                    </p:set>
                                    <p:animEffect transition="in" filter="fade">
                                      <p:cBhvr>
                                        <p:cTn id="7" dur="2000"/>
                                        <p:tgtEl>
                                          <p:spTgt spid="6092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9283">
                                            <p:txEl>
                                              <p:charRg st="0" end="26"/>
                                            </p:txEl>
                                          </p:spTgt>
                                        </p:tgtEl>
                                        <p:attrNameLst>
                                          <p:attrName>style.visibility</p:attrName>
                                        </p:attrNameLst>
                                      </p:cBhvr>
                                      <p:to>
                                        <p:strVal val="visible"/>
                                      </p:to>
                                    </p:set>
                                    <p:animEffect transition="in" filter="fade">
                                      <p:cBhvr>
                                        <p:cTn id="12" dur="2000"/>
                                        <p:tgtEl>
                                          <p:spTgt spid="609283">
                                            <p:txEl>
                                              <p:charRg st="0" end="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9283">
                                            <p:txEl>
                                              <p:charRg st="26" end="69"/>
                                            </p:txEl>
                                          </p:spTgt>
                                        </p:tgtEl>
                                        <p:attrNameLst>
                                          <p:attrName>style.visibility</p:attrName>
                                        </p:attrNameLst>
                                      </p:cBhvr>
                                      <p:to>
                                        <p:strVal val="visible"/>
                                      </p:to>
                                    </p:set>
                                    <p:animEffect transition="in" filter="fade">
                                      <p:cBhvr>
                                        <p:cTn id="17" dur="2000"/>
                                        <p:tgtEl>
                                          <p:spTgt spid="609283">
                                            <p:txEl>
                                              <p:charRg st="26" end="6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09283">
                                            <p:txEl>
                                              <p:charRg st="69" end="132"/>
                                            </p:txEl>
                                          </p:spTgt>
                                        </p:tgtEl>
                                        <p:attrNameLst>
                                          <p:attrName>style.visibility</p:attrName>
                                        </p:attrNameLst>
                                      </p:cBhvr>
                                      <p:to>
                                        <p:strVal val="visible"/>
                                      </p:to>
                                    </p:set>
                                    <p:animEffect transition="in" filter="fade">
                                      <p:cBhvr>
                                        <p:cTn id="22" dur="2000"/>
                                        <p:tgtEl>
                                          <p:spTgt spid="609283">
                                            <p:txEl>
                                              <p:charRg st="69" end="1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2" grpId="0"/>
      <p:bldP spid="609283"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030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不控制生产者</a:t>
            </a:r>
            <a:r>
              <a:rPr kumimoji="0" lang="en-US" altLang="zh-CN"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消费者</a:t>
            </a:r>
            <a:r>
              <a:rPr kumimoji="0" lang="zh-CN" altLang="en-US" sz="4400" b="1" i="1"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rPr>
              <a:t>？</a:t>
            </a:r>
            <a:endParaRPr kumimoji="0" lang="zh-CN" altLang="en-US" sz="4400" b="1" i="1" u="sng" strike="noStrike" kern="0" cap="none" spc="0" normalizeH="0" baseline="0" noProof="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610307"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1"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试想，如果不控制生产者与消费者，将会产生什么结果？</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生产者和消费者可能同时进入缓冲区，甚至可能同时读</a:t>
            </a:r>
            <a:r>
              <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写一个存储单元，将导致执行结果不确定。</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这显然是不允许的。</a:t>
            </a:r>
            <a:endPar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0306"/>
                                        </p:tgtEl>
                                        <p:attrNameLst>
                                          <p:attrName>style.visibility</p:attrName>
                                        </p:attrNameLst>
                                      </p:cBhvr>
                                      <p:to>
                                        <p:strVal val="visible"/>
                                      </p:to>
                                    </p:set>
                                    <p:animEffect transition="in" filter="fade">
                                      <p:cBhvr>
                                        <p:cTn id="7" dur="2000"/>
                                        <p:tgtEl>
                                          <p:spTgt spid="6103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0307">
                                            <p:txEl>
                                              <p:charRg st="0" end="26"/>
                                            </p:txEl>
                                          </p:spTgt>
                                        </p:tgtEl>
                                        <p:attrNameLst>
                                          <p:attrName>style.visibility</p:attrName>
                                        </p:attrNameLst>
                                      </p:cBhvr>
                                      <p:to>
                                        <p:strVal val="visible"/>
                                      </p:to>
                                    </p:set>
                                    <p:animEffect transition="in" filter="fade">
                                      <p:cBhvr>
                                        <p:cTn id="12" dur="2000"/>
                                        <p:tgtEl>
                                          <p:spTgt spid="610307">
                                            <p:txEl>
                                              <p:charRg st="0" end="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0307">
                                            <p:txEl>
                                              <p:charRg st="26" end="71"/>
                                            </p:txEl>
                                          </p:spTgt>
                                        </p:tgtEl>
                                        <p:attrNameLst>
                                          <p:attrName>style.visibility</p:attrName>
                                        </p:attrNameLst>
                                      </p:cBhvr>
                                      <p:to>
                                        <p:strVal val="visible"/>
                                      </p:to>
                                    </p:set>
                                    <p:animEffect transition="in" filter="fade">
                                      <p:cBhvr>
                                        <p:cTn id="17" dur="2000"/>
                                        <p:tgtEl>
                                          <p:spTgt spid="610307">
                                            <p:txEl>
                                              <p:charRg st="26"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0307">
                                            <p:txEl>
                                              <p:charRg st="71" end="81"/>
                                            </p:txEl>
                                          </p:spTgt>
                                        </p:tgtEl>
                                        <p:attrNameLst>
                                          <p:attrName>style.visibility</p:attrName>
                                        </p:attrNameLst>
                                      </p:cBhvr>
                                      <p:to>
                                        <p:strVal val="visible"/>
                                      </p:to>
                                    </p:set>
                                    <p:animEffect transition="in" filter="fade">
                                      <p:cBhvr>
                                        <p:cTn id="22" dur="2000"/>
                                        <p:tgtEl>
                                          <p:spTgt spid="610307">
                                            <p:txEl>
                                              <p:charRg st="71" end="8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6" grpId="0"/>
      <p:bldP spid="610307"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133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生产者</a:t>
            </a: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消费者必须同步</a:t>
            </a: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互斥</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61133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必须使生产者和消费者</a:t>
            </a:r>
            <a:r>
              <a:rPr kumimoji="0" lang="zh-CN" altLang="en-US" sz="32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互斥进入缓冲区</a:t>
            </a: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。即，某时刻只允许一个实体（生产者或消费者）访问缓冲区，生产者互斥消费者和其它任何生产者。</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生产者不能向满缓冲区写数据，消费者也不能在空缓冲区中取数据，即生产者与消费者必须</a:t>
            </a:r>
            <a:r>
              <a:rPr kumimoji="0" lang="zh-CN" altLang="en-US" sz="32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同步</a:t>
            </a:r>
            <a:r>
              <a:rPr kumimoji="0" lang="zh-CN" altLang="en-US" sz="3200" b="0" i="0" u="none" strike="noStrike" kern="0" cap="none" spc="0" normalizeH="0" baseline="0" noProof="0" smtClean="0">
                <a:ln>
                  <a:noFill/>
                </a:ln>
                <a:solidFill>
                  <a:schemeClr val="tx1"/>
                </a:solidFill>
                <a:effectLst/>
                <a:uLnTx/>
                <a:uFillTx/>
                <a:latin typeface="+mn-lt"/>
                <a:ea typeface="+mn-ea"/>
                <a:cs typeface="+mn-cs"/>
              </a:rPr>
              <a:t>。</a:t>
            </a: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1330"/>
                                        </p:tgtEl>
                                        <p:attrNameLst>
                                          <p:attrName>style.visibility</p:attrName>
                                        </p:attrNameLst>
                                      </p:cBhvr>
                                      <p:to>
                                        <p:strVal val="visible"/>
                                      </p:to>
                                    </p:set>
                                    <p:animEffect transition="in" filter="fade">
                                      <p:cBhvr>
                                        <p:cTn id="7" dur="2000"/>
                                        <p:tgtEl>
                                          <p:spTgt spid="6113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1331">
                                            <p:txEl>
                                              <p:charRg st="0" end="63"/>
                                            </p:txEl>
                                          </p:spTgt>
                                        </p:tgtEl>
                                        <p:attrNameLst>
                                          <p:attrName>style.visibility</p:attrName>
                                        </p:attrNameLst>
                                      </p:cBhvr>
                                      <p:to>
                                        <p:strVal val="visible"/>
                                      </p:to>
                                    </p:set>
                                    <p:animEffect transition="in" filter="fade">
                                      <p:cBhvr>
                                        <p:cTn id="12" dur="2000"/>
                                        <p:tgtEl>
                                          <p:spTgt spid="611331">
                                            <p:txEl>
                                              <p:charRg st="0" end="6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1331">
                                            <p:txEl>
                                              <p:charRg st="64" end="108"/>
                                            </p:txEl>
                                          </p:spTgt>
                                        </p:tgtEl>
                                        <p:attrNameLst>
                                          <p:attrName>style.visibility</p:attrName>
                                        </p:attrNameLst>
                                      </p:cBhvr>
                                      <p:to>
                                        <p:strVal val="visible"/>
                                      </p:to>
                                    </p:set>
                                    <p:animEffect transition="in" filter="fade">
                                      <p:cBhvr>
                                        <p:cTn id="17" dur="2000"/>
                                        <p:tgtEl>
                                          <p:spTgt spid="611331">
                                            <p:txEl>
                                              <p:charRg st="64" end="10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0" grpId="0"/>
      <p:bldP spid="611331"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3"/>
          <p:cNvSpPr>
            <a:spLocks noGrp="1" noRot="1"/>
          </p:cNvSpPr>
          <p:nvPr>
            <p:ph idx="1"/>
          </p:nvPr>
        </p:nvSpPr>
        <p:spPr/>
        <p:txBody>
          <a:bodyPr vert="horz" wrap="square" lIns="91440" tIns="45720" rIns="91440" bIns="45720" anchor="t" anchorCtr="0"/>
          <a:p>
            <a:pPr eaLnBrk="1" hangingPunct="1">
              <a:lnSpc>
                <a:spcPct val="90000"/>
              </a:lnSpc>
            </a:pPr>
            <a:r>
              <a:rPr lang="zh-CN" altLang="en-US" b="1" dirty="0">
                <a:solidFill>
                  <a:srgbClr val="0066FF"/>
                </a:solidFill>
              </a:rPr>
              <a:t>互斥信号量</a:t>
            </a:r>
            <a:r>
              <a:rPr lang="en-US" altLang="zh-CN" b="1" dirty="0">
                <a:solidFill>
                  <a:srgbClr val="0066FF"/>
                </a:solidFill>
              </a:rPr>
              <a:t>mutex</a:t>
            </a:r>
            <a:r>
              <a:rPr lang="zh-CN" altLang="en-US" b="1" dirty="0">
                <a:solidFill>
                  <a:srgbClr val="0066FF"/>
                </a:solidFill>
              </a:rPr>
              <a:t>：</a:t>
            </a:r>
            <a:r>
              <a:rPr lang="zh-CN" altLang="en-US" b="1" dirty="0"/>
              <a:t>实现诸进程对缓冲池的互斥使用；</a:t>
            </a:r>
            <a:endParaRPr lang="zh-CN" altLang="en-US" b="1" dirty="0"/>
          </a:p>
          <a:p>
            <a:pPr eaLnBrk="1" hangingPunct="1">
              <a:lnSpc>
                <a:spcPct val="90000"/>
              </a:lnSpc>
            </a:pPr>
            <a:r>
              <a:rPr lang="zh-CN" altLang="en-US" b="1" dirty="0">
                <a:solidFill>
                  <a:srgbClr val="0066FF"/>
                </a:solidFill>
              </a:rPr>
              <a:t>资源信号量</a:t>
            </a:r>
            <a:r>
              <a:rPr lang="en-US" altLang="zh-CN" b="1" dirty="0">
                <a:solidFill>
                  <a:srgbClr val="0066FF"/>
                </a:solidFill>
              </a:rPr>
              <a:t>empty</a:t>
            </a:r>
            <a:r>
              <a:rPr lang="zh-CN" altLang="en-US" b="1" dirty="0">
                <a:solidFill>
                  <a:srgbClr val="0066FF"/>
                </a:solidFill>
              </a:rPr>
              <a:t>：</a:t>
            </a:r>
            <a:r>
              <a:rPr lang="zh-CN" altLang="en-US" b="1" dirty="0"/>
              <a:t>表示缓冲池</a:t>
            </a:r>
            <a:r>
              <a:rPr lang="zh-CN" altLang="en-US" b="1" dirty="0">
                <a:solidFill>
                  <a:srgbClr val="0066FF"/>
                </a:solidFill>
              </a:rPr>
              <a:t>中空缓冲区</a:t>
            </a:r>
            <a:r>
              <a:rPr lang="zh-CN" altLang="en-US" b="1" dirty="0"/>
              <a:t>的数量；</a:t>
            </a:r>
            <a:endParaRPr lang="zh-CN" altLang="en-US" b="1" dirty="0"/>
          </a:p>
          <a:p>
            <a:pPr eaLnBrk="1" hangingPunct="1">
              <a:lnSpc>
                <a:spcPct val="90000"/>
              </a:lnSpc>
            </a:pPr>
            <a:r>
              <a:rPr lang="zh-CN" altLang="en-US" b="1" dirty="0">
                <a:solidFill>
                  <a:srgbClr val="0066FF"/>
                </a:solidFill>
              </a:rPr>
              <a:t>资源信号量</a:t>
            </a:r>
            <a:r>
              <a:rPr lang="en-US" altLang="zh-CN" b="1" dirty="0">
                <a:solidFill>
                  <a:srgbClr val="0066FF"/>
                </a:solidFill>
              </a:rPr>
              <a:t>full</a:t>
            </a:r>
            <a:r>
              <a:rPr lang="zh-CN" altLang="en-US" b="1" dirty="0">
                <a:solidFill>
                  <a:srgbClr val="0066FF"/>
                </a:solidFill>
              </a:rPr>
              <a:t>：</a:t>
            </a:r>
            <a:r>
              <a:rPr lang="zh-CN" altLang="en-US" b="1" dirty="0"/>
              <a:t>表示</a:t>
            </a:r>
            <a:r>
              <a:rPr lang="zh-CN" altLang="en-US" b="1" dirty="0">
                <a:solidFill>
                  <a:srgbClr val="0066FF"/>
                </a:solidFill>
              </a:rPr>
              <a:t>满缓冲区</a:t>
            </a:r>
            <a:r>
              <a:rPr lang="zh-CN" altLang="en-US" b="1" dirty="0"/>
              <a:t>的数量</a:t>
            </a:r>
            <a:r>
              <a:rPr lang="en-US" altLang="zh-CN" b="1" dirty="0"/>
              <a:t>;</a:t>
            </a:r>
            <a:endParaRPr lang="en-US" altLang="zh-CN" b="1" dirty="0"/>
          </a:p>
          <a:p>
            <a:pPr eaLnBrk="1" hangingPunct="1">
              <a:lnSpc>
                <a:spcPct val="90000"/>
              </a:lnSpc>
            </a:pPr>
            <a:r>
              <a:rPr lang="zh-CN" altLang="en-US" b="1" dirty="0"/>
              <a:t>只要缓冲池未满，生产者便可将消息送入缓冲池；</a:t>
            </a:r>
            <a:endParaRPr lang="zh-CN" altLang="en-US" b="1" dirty="0"/>
          </a:p>
          <a:p>
            <a:pPr eaLnBrk="1" hangingPunct="1">
              <a:lnSpc>
                <a:spcPct val="90000"/>
              </a:lnSpc>
            </a:pPr>
            <a:r>
              <a:rPr lang="zh-CN" altLang="en-US" b="1" dirty="0"/>
              <a:t>只要缓冲池未空，消费者便可从缓冲池中取走一个消息。</a:t>
            </a:r>
            <a:endParaRPr lang="zh-CN" altLang="en-US" b="1" dirty="0"/>
          </a:p>
        </p:txBody>
      </p:sp>
      <p:sp>
        <p:nvSpPr>
          <p:cNvPr id="246788" name="Text Box 4"/>
          <p:cNvSpPr txBox="1">
            <a:spLocks noChangeArrowheads="1"/>
          </p:cNvSpPr>
          <p:nvPr/>
        </p:nvSpPr>
        <p:spPr bwMode="auto">
          <a:xfrm>
            <a:off x="381000" y="381000"/>
            <a:ext cx="8229600" cy="1066800"/>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a:solidFill>
                  <a:srgbClr val="FF0000"/>
                </a:solidFill>
                <a:latin typeface="Arial" panose="020B0604020202020204" pitchFamily="34" charset="0"/>
                <a:ea typeface="宋体" panose="02010600030101010101" pitchFamily="2" charset="-122"/>
                <a:cs typeface="+mn-cs"/>
              </a:rPr>
              <a:t>创建多个信号量实现生产者与消费者之间的同步：</a:t>
            </a:r>
            <a:endParaRPr kumimoji="0" lang="zh-CN" altLang="en-US" sz="3200" b="1" kern="1200" cap="none" spc="0" normalizeH="0" baseline="0" noProof="0">
              <a:solidFill>
                <a:srgbClr val="FF0000"/>
              </a:solidFill>
              <a:latin typeface="Arial" panose="020B0604020202020204" pitchFamily="34" charset="0"/>
              <a:ea typeface="宋体" panose="02010600030101010101" pitchFamily="2" charset="-122"/>
              <a:cs typeface="+mn-cs"/>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p:nvPr/>
        </p:nvSpPr>
        <p:spPr>
          <a:xfrm>
            <a:off x="304800" y="0"/>
            <a:ext cx="8610600" cy="68580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1075" name="Text Box 2"/>
          <p:cNvSpPr txBox="1"/>
          <p:nvPr/>
        </p:nvSpPr>
        <p:spPr>
          <a:xfrm>
            <a:off x="1689100" y="6142038"/>
            <a:ext cx="1095375" cy="334962"/>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3300"/>
                </a:solidFill>
                <a:latin typeface="Times New Roman" panose="02020603050405020304" pitchFamily="18" charset="0"/>
              </a:rPr>
              <a:t>(a)  </a:t>
            </a:r>
            <a:r>
              <a:rPr lang="zh-CN" altLang="en-US" sz="1800" b="1" dirty="0">
                <a:solidFill>
                  <a:srgbClr val="003300"/>
                </a:solidFill>
                <a:latin typeface="Times New Roman" panose="02020603050405020304" pitchFamily="18" charset="0"/>
              </a:rPr>
              <a:t>生产者</a:t>
            </a:r>
            <a:endParaRPr lang="zh-CN" altLang="en-US" sz="1800" b="1" dirty="0">
              <a:solidFill>
                <a:srgbClr val="003300"/>
              </a:solidFill>
              <a:latin typeface="Times New Roman" panose="02020603050405020304" pitchFamily="18" charset="0"/>
            </a:endParaRPr>
          </a:p>
        </p:txBody>
      </p:sp>
      <p:sp>
        <p:nvSpPr>
          <p:cNvPr id="131076" name="Text Box 3"/>
          <p:cNvSpPr txBox="1"/>
          <p:nvPr/>
        </p:nvSpPr>
        <p:spPr>
          <a:xfrm>
            <a:off x="5657850" y="5989638"/>
            <a:ext cx="1428750" cy="43815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2000" b="1" dirty="0">
                <a:solidFill>
                  <a:srgbClr val="003300"/>
                </a:solidFill>
                <a:latin typeface="Times New Roman" panose="02020603050405020304" pitchFamily="18" charset="0"/>
              </a:rPr>
              <a:t>(b)  </a:t>
            </a:r>
            <a:r>
              <a:rPr lang="zh-CN" altLang="en-US" sz="2000" b="1" dirty="0">
                <a:solidFill>
                  <a:srgbClr val="003300"/>
                </a:solidFill>
                <a:latin typeface="Times New Roman" panose="02020603050405020304" pitchFamily="18" charset="0"/>
              </a:rPr>
              <a:t>消费者</a:t>
            </a:r>
            <a:endParaRPr lang="zh-CN" altLang="en-US" sz="2000" b="1" dirty="0">
              <a:solidFill>
                <a:srgbClr val="003300"/>
              </a:solidFill>
              <a:latin typeface="Times New Roman" panose="02020603050405020304" pitchFamily="18" charset="0"/>
            </a:endParaRPr>
          </a:p>
        </p:txBody>
      </p:sp>
      <p:sp>
        <p:nvSpPr>
          <p:cNvPr id="131077" name="Text Box 4"/>
          <p:cNvSpPr txBox="1"/>
          <p:nvPr/>
        </p:nvSpPr>
        <p:spPr>
          <a:xfrm>
            <a:off x="6069013" y="438150"/>
            <a:ext cx="41116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无</a:t>
            </a:r>
            <a:endParaRPr lang="zh-CN" altLang="en-US" sz="1600" b="1" dirty="0">
              <a:solidFill>
                <a:srgbClr val="003300"/>
              </a:solidFill>
              <a:latin typeface="Times New Roman" panose="02020603050405020304" pitchFamily="18" charset="0"/>
            </a:endParaRPr>
          </a:p>
        </p:txBody>
      </p:sp>
      <p:sp>
        <p:nvSpPr>
          <p:cNvPr id="131078" name="Line 5"/>
          <p:cNvSpPr/>
          <p:nvPr/>
        </p:nvSpPr>
        <p:spPr>
          <a:xfrm>
            <a:off x="6205538" y="730250"/>
            <a:ext cx="138112" cy="0"/>
          </a:xfrm>
          <a:prstGeom prst="line">
            <a:avLst/>
          </a:prstGeom>
          <a:ln w="9525" cap="flat" cmpd="sng">
            <a:solidFill>
              <a:srgbClr val="000000"/>
            </a:solidFill>
            <a:prstDash val="solid"/>
            <a:headEnd type="none" w="med" len="med"/>
            <a:tailEnd type="none" w="med" len="med"/>
          </a:ln>
        </p:spPr>
      </p:sp>
      <p:sp>
        <p:nvSpPr>
          <p:cNvPr id="131079" name="Line 6"/>
          <p:cNvSpPr/>
          <p:nvPr/>
        </p:nvSpPr>
        <p:spPr>
          <a:xfrm>
            <a:off x="7164388" y="146050"/>
            <a:ext cx="0" cy="292100"/>
          </a:xfrm>
          <a:prstGeom prst="line">
            <a:avLst/>
          </a:prstGeom>
          <a:ln w="9525" cap="flat" cmpd="sng">
            <a:solidFill>
              <a:srgbClr val="000000"/>
            </a:solidFill>
            <a:prstDash val="solid"/>
            <a:headEnd type="none" w="med" len="med"/>
            <a:tailEnd type="triangle" w="med" len="med"/>
          </a:ln>
        </p:spPr>
      </p:sp>
      <p:sp>
        <p:nvSpPr>
          <p:cNvPr id="131080" name="Text Box 7"/>
          <p:cNvSpPr txBox="1"/>
          <p:nvPr/>
        </p:nvSpPr>
        <p:spPr>
          <a:xfrm>
            <a:off x="6477000" y="457200"/>
            <a:ext cx="1905000" cy="5524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等待资源，阻塞</a:t>
            </a:r>
            <a:endParaRPr lang="zh-CN" altLang="en-US" sz="1800" b="1" dirty="0">
              <a:solidFill>
                <a:srgbClr val="003300"/>
              </a:solidFill>
              <a:latin typeface="Times New Roman" panose="02020603050405020304" pitchFamily="18" charset="0"/>
            </a:endParaRPr>
          </a:p>
        </p:txBody>
      </p:sp>
      <p:sp>
        <p:nvSpPr>
          <p:cNvPr id="131081" name="Line 8"/>
          <p:cNvSpPr/>
          <p:nvPr/>
        </p:nvSpPr>
        <p:spPr>
          <a:xfrm flipV="1">
            <a:off x="6343650" y="146050"/>
            <a:ext cx="0" cy="584200"/>
          </a:xfrm>
          <a:prstGeom prst="line">
            <a:avLst/>
          </a:prstGeom>
          <a:ln w="9525" cap="flat" cmpd="sng">
            <a:solidFill>
              <a:srgbClr val="000000"/>
            </a:solidFill>
            <a:prstDash val="solid"/>
            <a:headEnd type="none" w="med" len="med"/>
            <a:tailEnd type="none" w="med" len="med"/>
          </a:ln>
        </p:spPr>
      </p:sp>
      <p:sp>
        <p:nvSpPr>
          <p:cNvPr id="131082" name="Line 9"/>
          <p:cNvSpPr/>
          <p:nvPr/>
        </p:nvSpPr>
        <p:spPr>
          <a:xfrm>
            <a:off x="6343650" y="146050"/>
            <a:ext cx="820738" cy="0"/>
          </a:xfrm>
          <a:prstGeom prst="line">
            <a:avLst/>
          </a:prstGeom>
          <a:ln w="9525" cap="flat" cmpd="sng">
            <a:solidFill>
              <a:srgbClr val="000000"/>
            </a:solidFill>
            <a:prstDash val="solid"/>
            <a:headEnd type="none" w="med" len="med"/>
            <a:tailEnd type="none" w="med" len="med"/>
          </a:ln>
        </p:spPr>
      </p:sp>
      <p:sp>
        <p:nvSpPr>
          <p:cNvPr id="131083" name="Line 10"/>
          <p:cNvSpPr/>
          <p:nvPr/>
        </p:nvSpPr>
        <p:spPr>
          <a:xfrm>
            <a:off x="7162800" y="990600"/>
            <a:ext cx="1588" cy="177800"/>
          </a:xfrm>
          <a:prstGeom prst="line">
            <a:avLst/>
          </a:prstGeom>
          <a:ln w="9525" cap="flat" cmpd="sng">
            <a:solidFill>
              <a:srgbClr val="000000"/>
            </a:solidFill>
            <a:prstDash val="solid"/>
            <a:headEnd type="none" w="med" len="med"/>
            <a:tailEnd type="triangle" w="med" len="med"/>
          </a:ln>
        </p:spPr>
      </p:sp>
      <p:sp>
        <p:nvSpPr>
          <p:cNvPr id="131084" name="Text Box 11"/>
          <p:cNvSpPr txBox="1"/>
          <p:nvPr/>
        </p:nvSpPr>
        <p:spPr>
          <a:xfrm>
            <a:off x="6753225" y="1168400"/>
            <a:ext cx="822325" cy="4381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被唤醒</a:t>
            </a:r>
            <a:endParaRPr lang="zh-CN" altLang="en-US" sz="1600" b="1" dirty="0">
              <a:solidFill>
                <a:srgbClr val="003300"/>
              </a:solidFill>
              <a:latin typeface="Times New Roman" panose="02020603050405020304" pitchFamily="18" charset="0"/>
            </a:endParaRPr>
          </a:p>
        </p:txBody>
      </p:sp>
      <p:sp>
        <p:nvSpPr>
          <p:cNvPr id="131085" name="Line 12"/>
          <p:cNvSpPr/>
          <p:nvPr/>
        </p:nvSpPr>
        <p:spPr>
          <a:xfrm>
            <a:off x="7164388" y="1606550"/>
            <a:ext cx="0" cy="146050"/>
          </a:xfrm>
          <a:prstGeom prst="line">
            <a:avLst/>
          </a:prstGeom>
          <a:ln w="9525" cap="flat" cmpd="sng">
            <a:solidFill>
              <a:srgbClr val="000000"/>
            </a:solidFill>
            <a:prstDash val="solid"/>
            <a:headEnd type="none" w="med" len="med"/>
            <a:tailEnd type="none" w="med" len="med"/>
          </a:ln>
        </p:spPr>
      </p:sp>
      <p:sp>
        <p:nvSpPr>
          <p:cNvPr id="131086" name="Line 13"/>
          <p:cNvSpPr/>
          <p:nvPr/>
        </p:nvSpPr>
        <p:spPr>
          <a:xfrm flipH="1">
            <a:off x="5659438" y="1314450"/>
            <a:ext cx="820737" cy="0"/>
          </a:xfrm>
          <a:prstGeom prst="line">
            <a:avLst/>
          </a:prstGeom>
          <a:ln w="9525" cap="flat" cmpd="sng">
            <a:solidFill>
              <a:srgbClr val="000000"/>
            </a:solidFill>
            <a:prstDash val="solid"/>
            <a:headEnd type="none" w="med" len="med"/>
            <a:tailEnd type="triangle" w="med" len="med"/>
          </a:ln>
        </p:spPr>
      </p:sp>
      <p:sp>
        <p:nvSpPr>
          <p:cNvPr id="131087" name="Text Box 14"/>
          <p:cNvSpPr txBox="1"/>
          <p:nvPr/>
        </p:nvSpPr>
        <p:spPr>
          <a:xfrm>
            <a:off x="5932488" y="1460500"/>
            <a:ext cx="41116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否</a:t>
            </a:r>
            <a:endParaRPr lang="zh-CN" altLang="en-US" sz="1800" b="1" dirty="0">
              <a:solidFill>
                <a:srgbClr val="003300"/>
              </a:solidFill>
              <a:latin typeface="Times New Roman" panose="02020603050405020304" pitchFamily="18" charset="0"/>
            </a:endParaRPr>
          </a:p>
        </p:txBody>
      </p:sp>
      <p:sp>
        <p:nvSpPr>
          <p:cNvPr id="131088" name="Line 15"/>
          <p:cNvSpPr/>
          <p:nvPr/>
        </p:nvSpPr>
        <p:spPr>
          <a:xfrm flipH="1">
            <a:off x="7010400" y="1898650"/>
            <a:ext cx="17463" cy="158750"/>
          </a:xfrm>
          <a:prstGeom prst="line">
            <a:avLst/>
          </a:prstGeom>
          <a:ln w="9525" cap="flat" cmpd="sng">
            <a:solidFill>
              <a:srgbClr val="000000"/>
            </a:solidFill>
            <a:prstDash val="solid"/>
            <a:headEnd type="none" w="med" len="med"/>
            <a:tailEnd type="triangle" w="med" len="med"/>
          </a:ln>
        </p:spPr>
      </p:sp>
      <p:sp>
        <p:nvSpPr>
          <p:cNvPr id="131089" name="Line 16"/>
          <p:cNvSpPr/>
          <p:nvPr/>
        </p:nvSpPr>
        <p:spPr>
          <a:xfrm>
            <a:off x="6069013" y="1898650"/>
            <a:ext cx="958850" cy="0"/>
          </a:xfrm>
          <a:prstGeom prst="line">
            <a:avLst/>
          </a:prstGeom>
          <a:ln w="9525" cap="flat" cmpd="sng">
            <a:solidFill>
              <a:srgbClr val="000000"/>
            </a:solidFill>
            <a:prstDash val="solid"/>
            <a:headEnd type="none" w="med" len="med"/>
            <a:tailEnd type="none" w="med" len="med"/>
          </a:ln>
        </p:spPr>
      </p:sp>
      <p:sp>
        <p:nvSpPr>
          <p:cNvPr id="131090" name="Line 17"/>
          <p:cNvSpPr/>
          <p:nvPr/>
        </p:nvSpPr>
        <p:spPr>
          <a:xfrm>
            <a:off x="7027863" y="2628900"/>
            <a:ext cx="0" cy="293688"/>
          </a:xfrm>
          <a:prstGeom prst="line">
            <a:avLst/>
          </a:prstGeom>
          <a:ln w="9525" cap="flat" cmpd="sng">
            <a:solidFill>
              <a:srgbClr val="000000"/>
            </a:solidFill>
            <a:prstDash val="solid"/>
            <a:headEnd type="none" w="med" len="med"/>
            <a:tailEnd type="triangle" w="med" len="med"/>
          </a:ln>
        </p:spPr>
      </p:sp>
      <p:sp>
        <p:nvSpPr>
          <p:cNvPr id="131091" name="Text Box 18"/>
          <p:cNvSpPr txBox="1"/>
          <p:nvPr/>
        </p:nvSpPr>
        <p:spPr>
          <a:xfrm>
            <a:off x="6616700" y="2922588"/>
            <a:ext cx="820738" cy="4381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被唤醒</a:t>
            </a:r>
            <a:endParaRPr lang="zh-CN" altLang="en-US" sz="1600" b="1" dirty="0">
              <a:solidFill>
                <a:srgbClr val="003300"/>
              </a:solidFill>
              <a:latin typeface="Times New Roman" panose="02020603050405020304" pitchFamily="18" charset="0"/>
            </a:endParaRPr>
          </a:p>
        </p:txBody>
      </p:sp>
      <p:sp>
        <p:nvSpPr>
          <p:cNvPr id="131092" name="Line 19"/>
          <p:cNvSpPr/>
          <p:nvPr/>
        </p:nvSpPr>
        <p:spPr>
          <a:xfrm>
            <a:off x="7027863" y="3360738"/>
            <a:ext cx="0" cy="146050"/>
          </a:xfrm>
          <a:prstGeom prst="line">
            <a:avLst/>
          </a:prstGeom>
          <a:ln w="9525" cap="flat" cmpd="sng">
            <a:solidFill>
              <a:srgbClr val="000000"/>
            </a:solidFill>
            <a:prstDash val="solid"/>
            <a:headEnd type="none" w="med" len="med"/>
            <a:tailEnd type="none" w="med" len="med"/>
          </a:ln>
        </p:spPr>
      </p:sp>
      <p:sp>
        <p:nvSpPr>
          <p:cNvPr id="131093" name="Line 20"/>
          <p:cNvSpPr/>
          <p:nvPr/>
        </p:nvSpPr>
        <p:spPr>
          <a:xfrm flipH="1">
            <a:off x="6480175" y="3506788"/>
            <a:ext cx="547688" cy="0"/>
          </a:xfrm>
          <a:prstGeom prst="line">
            <a:avLst/>
          </a:prstGeom>
          <a:ln w="9525" cap="flat" cmpd="sng">
            <a:solidFill>
              <a:srgbClr val="000000"/>
            </a:solidFill>
            <a:prstDash val="solid"/>
            <a:headEnd type="none" w="med" len="med"/>
            <a:tailEnd type="none" w="med" len="med"/>
          </a:ln>
        </p:spPr>
      </p:sp>
      <p:sp>
        <p:nvSpPr>
          <p:cNvPr id="131094" name="Line 21"/>
          <p:cNvSpPr/>
          <p:nvPr/>
        </p:nvSpPr>
        <p:spPr>
          <a:xfrm flipV="1">
            <a:off x="6480175" y="2774950"/>
            <a:ext cx="0" cy="731838"/>
          </a:xfrm>
          <a:prstGeom prst="line">
            <a:avLst/>
          </a:prstGeom>
          <a:ln w="9525" cap="flat" cmpd="sng">
            <a:solidFill>
              <a:srgbClr val="000000"/>
            </a:solidFill>
            <a:prstDash val="solid"/>
            <a:headEnd type="none" w="med" len="med"/>
            <a:tailEnd type="none" w="med" len="med"/>
          </a:ln>
        </p:spPr>
      </p:sp>
      <p:sp>
        <p:nvSpPr>
          <p:cNvPr id="131095" name="Line 22"/>
          <p:cNvSpPr/>
          <p:nvPr/>
        </p:nvSpPr>
        <p:spPr>
          <a:xfrm flipH="1">
            <a:off x="5659438" y="2774950"/>
            <a:ext cx="820737" cy="0"/>
          </a:xfrm>
          <a:prstGeom prst="line">
            <a:avLst/>
          </a:prstGeom>
          <a:ln w="9525" cap="flat" cmpd="sng">
            <a:solidFill>
              <a:srgbClr val="000000"/>
            </a:solidFill>
            <a:prstDash val="solid"/>
            <a:headEnd type="none" w="med" len="med"/>
            <a:tailEnd type="triangle" w="med" len="med"/>
          </a:ln>
        </p:spPr>
      </p:sp>
      <p:sp>
        <p:nvSpPr>
          <p:cNvPr id="131096" name="Line 23"/>
          <p:cNvSpPr/>
          <p:nvPr/>
        </p:nvSpPr>
        <p:spPr>
          <a:xfrm flipH="1">
            <a:off x="6480175" y="1752600"/>
            <a:ext cx="684213" cy="0"/>
          </a:xfrm>
          <a:prstGeom prst="line">
            <a:avLst/>
          </a:prstGeom>
          <a:ln w="9525" cap="flat" cmpd="sng">
            <a:solidFill>
              <a:srgbClr val="000000"/>
            </a:solidFill>
            <a:prstDash val="solid"/>
            <a:headEnd type="none" w="med" len="med"/>
            <a:tailEnd type="none" w="med" len="med"/>
          </a:ln>
        </p:spPr>
      </p:sp>
      <p:sp>
        <p:nvSpPr>
          <p:cNvPr id="131097" name="Line 24"/>
          <p:cNvSpPr/>
          <p:nvPr/>
        </p:nvSpPr>
        <p:spPr>
          <a:xfrm flipV="1">
            <a:off x="6480175" y="1314450"/>
            <a:ext cx="0" cy="438150"/>
          </a:xfrm>
          <a:prstGeom prst="line">
            <a:avLst/>
          </a:prstGeom>
          <a:ln w="9525" cap="flat" cmpd="sng">
            <a:solidFill>
              <a:srgbClr val="000000"/>
            </a:solidFill>
            <a:prstDash val="solid"/>
            <a:headEnd type="none" w="med" len="med"/>
            <a:tailEnd type="none" w="med" len="med"/>
          </a:ln>
        </p:spPr>
      </p:sp>
      <p:sp>
        <p:nvSpPr>
          <p:cNvPr id="131098" name="AutoShape 25"/>
          <p:cNvSpPr/>
          <p:nvPr/>
        </p:nvSpPr>
        <p:spPr>
          <a:xfrm>
            <a:off x="4837113" y="292100"/>
            <a:ext cx="1368425" cy="876300"/>
          </a:xfrm>
          <a:prstGeom prst="flowChartDecision">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solidFill>
                <a:srgbClr val="003300"/>
              </a:solidFill>
            </a:endParaRPr>
          </a:p>
        </p:txBody>
      </p:sp>
      <p:sp>
        <p:nvSpPr>
          <p:cNvPr id="131099" name="Text Box 26"/>
          <p:cNvSpPr txBox="1"/>
          <p:nvPr/>
        </p:nvSpPr>
        <p:spPr>
          <a:xfrm>
            <a:off x="5110163" y="514350"/>
            <a:ext cx="958850" cy="55245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是否有</a:t>
            </a:r>
            <a:endParaRPr lang="zh-CN" altLang="en-US" sz="16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数据单元</a:t>
            </a:r>
            <a:endParaRPr lang="zh-CN" altLang="en-US" sz="1600" b="1" dirty="0">
              <a:solidFill>
                <a:srgbClr val="003300"/>
              </a:solidFill>
              <a:latin typeface="Times New Roman" panose="02020603050405020304" pitchFamily="18" charset="0"/>
            </a:endParaRPr>
          </a:p>
        </p:txBody>
      </p:sp>
      <p:sp>
        <p:nvSpPr>
          <p:cNvPr id="131100" name="Text Box 27"/>
          <p:cNvSpPr txBox="1"/>
          <p:nvPr/>
        </p:nvSpPr>
        <p:spPr>
          <a:xfrm>
            <a:off x="4973638" y="5113338"/>
            <a:ext cx="958850"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消费数据</a:t>
            </a:r>
            <a:endParaRPr lang="zh-CN" altLang="en-US" sz="1600" b="1" dirty="0">
              <a:solidFill>
                <a:srgbClr val="003300"/>
              </a:solidFill>
              <a:latin typeface="Times New Roman" panose="02020603050405020304" pitchFamily="18" charset="0"/>
            </a:endParaRPr>
          </a:p>
        </p:txBody>
      </p:sp>
      <p:sp>
        <p:nvSpPr>
          <p:cNvPr id="131101" name="Line 28"/>
          <p:cNvSpPr/>
          <p:nvPr/>
        </p:nvSpPr>
        <p:spPr>
          <a:xfrm>
            <a:off x="5521325" y="0"/>
            <a:ext cx="0" cy="292100"/>
          </a:xfrm>
          <a:prstGeom prst="line">
            <a:avLst/>
          </a:prstGeom>
          <a:ln w="9525" cap="flat" cmpd="sng">
            <a:solidFill>
              <a:srgbClr val="000000"/>
            </a:solidFill>
            <a:prstDash val="solid"/>
            <a:headEnd type="none" w="med" len="med"/>
            <a:tailEnd type="triangle" w="med" len="med"/>
          </a:ln>
        </p:spPr>
      </p:sp>
      <p:sp>
        <p:nvSpPr>
          <p:cNvPr id="131102" name="Line 29"/>
          <p:cNvSpPr/>
          <p:nvPr/>
        </p:nvSpPr>
        <p:spPr>
          <a:xfrm>
            <a:off x="5521325" y="1168400"/>
            <a:ext cx="0" cy="292100"/>
          </a:xfrm>
          <a:prstGeom prst="line">
            <a:avLst/>
          </a:prstGeom>
          <a:ln w="9525" cap="flat" cmpd="sng">
            <a:solidFill>
              <a:srgbClr val="000000"/>
            </a:solidFill>
            <a:prstDash val="solid"/>
            <a:headEnd type="none" w="med" len="med"/>
            <a:tailEnd type="triangle" w="med" len="med"/>
          </a:ln>
        </p:spPr>
      </p:sp>
      <p:sp>
        <p:nvSpPr>
          <p:cNvPr id="131103" name="AutoShape 30"/>
          <p:cNvSpPr/>
          <p:nvPr/>
        </p:nvSpPr>
        <p:spPr>
          <a:xfrm>
            <a:off x="4973638" y="1460500"/>
            <a:ext cx="1125537" cy="730250"/>
          </a:xfrm>
          <a:prstGeom prst="flowChartDecision">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solidFill>
                <a:srgbClr val="003300"/>
              </a:solidFill>
            </a:endParaRPr>
          </a:p>
        </p:txBody>
      </p:sp>
      <p:sp>
        <p:nvSpPr>
          <p:cNvPr id="131104" name="Text Box 31"/>
          <p:cNvSpPr txBox="1"/>
          <p:nvPr/>
        </p:nvSpPr>
        <p:spPr>
          <a:xfrm>
            <a:off x="5262563" y="1524000"/>
            <a:ext cx="681037"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是否</a:t>
            </a:r>
            <a:endParaRPr lang="zh-CN" altLang="en-US" sz="16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可用</a:t>
            </a:r>
            <a:endParaRPr lang="zh-CN" altLang="en-US" sz="1600" b="1" dirty="0">
              <a:solidFill>
                <a:srgbClr val="003300"/>
              </a:solidFill>
              <a:latin typeface="Times New Roman" panose="02020603050405020304" pitchFamily="18" charset="0"/>
            </a:endParaRPr>
          </a:p>
        </p:txBody>
      </p:sp>
      <p:sp>
        <p:nvSpPr>
          <p:cNvPr id="131105" name="Text Box 32"/>
          <p:cNvSpPr txBox="1"/>
          <p:nvPr/>
        </p:nvSpPr>
        <p:spPr>
          <a:xfrm>
            <a:off x="4989513" y="2922588"/>
            <a:ext cx="1106487"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取一条数据</a:t>
            </a:r>
            <a:endParaRPr lang="zh-CN" altLang="en-US" sz="1600" b="1" dirty="0">
              <a:solidFill>
                <a:srgbClr val="003300"/>
              </a:solidFill>
              <a:latin typeface="Times New Roman" panose="02020603050405020304" pitchFamily="18" charset="0"/>
            </a:endParaRPr>
          </a:p>
        </p:txBody>
      </p:sp>
      <p:sp>
        <p:nvSpPr>
          <p:cNvPr id="131106" name="Line 33"/>
          <p:cNvSpPr/>
          <p:nvPr/>
        </p:nvSpPr>
        <p:spPr>
          <a:xfrm>
            <a:off x="5521325" y="2190750"/>
            <a:ext cx="0" cy="731838"/>
          </a:xfrm>
          <a:prstGeom prst="line">
            <a:avLst/>
          </a:prstGeom>
          <a:ln w="9525" cap="flat" cmpd="sng">
            <a:solidFill>
              <a:srgbClr val="000000"/>
            </a:solidFill>
            <a:prstDash val="solid"/>
            <a:headEnd type="none" w="med" len="med"/>
            <a:tailEnd type="triangle" w="med" len="med"/>
          </a:ln>
        </p:spPr>
      </p:sp>
      <p:sp>
        <p:nvSpPr>
          <p:cNvPr id="131107" name="Line 34"/>
          <p:cNvSpPr/>
          <p:nvPr/>
        </p:nvSpPr>
        <p:spPr>
          <a:xfrm>
            <a:off x="5521325" y="3360738"/>
            <a:ext cx="0" cy="292100"/>
          </a:xfrm>
          <a:prstGeom prst="line">
            <a:avLst/>
          </a:prstGeom>
          <a:ln w="9525" cap="flat" cmpd="sng">
            <a:solidFill>
              <a:srgbClr val="000000"/>
            </a:solidFill>
            <a:prstDash val="solid"/>
            <a:headEnd type="none" w="med" len="med"/>
            <a:tailEnd type="triangle" w="med" len="med"/>
          </a:ln>
        </p:spPr>
      </p:sp>
      <p:sp>
        <p:nvSpPr>
          <p:cNvPr id="131108" name="Line 35"/>
          <p:cNvSpPr/>
          <p:nvPr/>
        </p:nvSpPr>
        <p:spPr>
          <a:xfrm>
            <a:off x="5521325" y="5551488"/>
            <a:ext cx="0" cy="292100"/>
          </a:xfrm>
          <a:prstGeom prst="line">
            <a:avLst/>
          </a:prstGeom>
          <a:ln w="9525" cap="flat" cmpd="sng">
            <a:solidFill>
              <a:srgbClr val="000000"/>
            </a:solidFill>
            <a:prstDash val="solid"/>
            <a:headEnd type="none" w="med" len="med"/>
            <a:tailEnd type="none" w="med" len="med"/>
          </a:ln>
        </p:spPr>
      </p:sp>
      <p:sp>
        <p:nvSpPr>
          <p:cNvPr id="131109" name="Line 36"/>
          <p:cNvSpPr/>
          <p:nvPr/>
        </p:nvSpPr>
        <p:spPr>
          <a:xfrm flipH="1">
            <a:off x="4700588" y="5843588"/>
            <a:ext cx="820737" cy="0"/>
          </a:xfrm>
          <a:prstGeom prst="line">
            <a:avLst/>
          </a:prstGeom>
          <a:ln w="9525" cap="flat" cmpd="sng">
            <a:solidFill>
              <a:srgbClr val="000000"/>
            </a:solidFill>
            <a:prstDash val="solid"/>
            <a:headEnd type="none" w="med" len="med"/>
            <a:tailEnd type="none" w="med" len="med"/>
          </a:ln>
        </p:spPr>
      </p:sp>
      <p:sp>
        <p:nvSpPr>
          <p:cNvPr id="131110" name="Line 37"/>
          <p:cNvSpPr/>
          <p:nvPr/>
        </p:nvSpPr>
        <p:spPr>
          <a:xfrm flipV="1">
            <a:off x="4700588" y="146050"/>
            <a:ext cx="0" cy="5697538"/>
          </a:xfrm>
          <a:prstGeom prst="line">
            <a:avLst/>
          </a:prstGeom>
          <a:ln w="9525" cap="flat" cmpd="sng">
            <a:solidFill>
              <a:srgbClr val="000000"/>
            </a:solidFill>
            <a:prstDash val="solid"/>
            <a:headEnd type="none" w="med" len="med"/>
            <a:tailEnd type="none" w="med" len="med"/>
          </a:ln>
        </p:spPr>
      </p:sp>
      <p:sp>
        <p:nvSpPr>
          <p:cNvPr id="131111" name="Line 38"/>
          <p:cNvSpPr/>
          <p:nvPr/>
        </p:nvSpPr>
        <p:spPr>
          <a:xfrm>
            <a:off x="4700588" y="146050"/>
            <a:ext cx="684212" cy="0"/>
          </a:xfrm>
          <a:prstGeom prst="line">
            <a:avLst/>
          </a:prstGeom>
          <a:ln w="9525" cap="flat" cmpd="sng">
            <a:solidFill>
              <a:srgbClr val="000000"/>
            </a:solidFill>
            <a:prstDash val="solid"/>
            <a:headEnd type="none" w="med" len="med"/>
            <a:tailEnd type="triangle" w="med" len="med"/>
          </a:ln>
        </p:spPr>
      </p:sp>
      <p:sp>
        <p:nvSpPr>
          <p:cNvPr id="131112" name="Text Box 39"/>
          <p:cNvSpPr txBox="1"/>
          <p:nvPr/>
        </p:nvSpPr>
        <p:spPr>
          <a:xfrm>
            <a:off x="5111750" y="1168400"/>
            <a:ext cx="409575"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有</a:t>
            </a:r>
            <a:endParaRPr lang="zh-CN" altLang="en-US" sz="1800" b="1" dirty="0">
              <a:solidFill>
                <a:srgbClr val="003300"/>
              </a:solidFill>
              <a:latin typeface="Times New Roman" panose="02020603050405020304" pitchFamily="18" charset="0"/>
            </a:endParaRPr>
          </a:p>
        </p:txBody>
      </p:sp>
      <p:sp>
        <p:nvSpPr>
          <p:cNvPr id="131113" name="Text Box 40"/>
          <p:cNvSpPr txBox="1"/>
          <p:nvPr/>
        </p:nvSpPr>
        <p:spPr>
          <a:xfrm>
            <a:off x="5181600" y="2336800"/>
            <a:ext cx="409575"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是</a:t>
            </a:r>
            <a:endParaRPr lang="zh-CN" altLang="en-US" sz="1800" b="1" dirty="0">
              <a:solidFill>
                <a:srgbClr val="003300"/>
              </a:solidFill>
              <a:latin typeface="Times New Roman" panose="02020603050405020304" pitchFamily="18" charset="0"/>
            </a:endParaRPr>
          </a:p>
        </p:txBody>
      </p:sp>
      <p:sp>
        <p:nvSpPr>
          <p:cNvPr id="131114" name="Text Box 41"/>
          <p:cNvSpPr txBox="1"/>
          <p:nvPr/>
        </p:nvSpPr>
        <p:spPr>
          <a:xfrm>
            <a:off x="4973638" y="3652838"/>
            <a:ext cx="1231900" cy="4381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归还使用权</a:t>
            </a:r>
            <a:endParaRPr lang="zh-CN" altLang="en-US" sz="1600" b="1" dirty="0">
              <a:solidFill>
                <a:srgbClr val="003300"/>
              </a:solidFill>
              <a:latin typeface="Times New Roman" panose="02020603050405020304" pitchFamily="18" charset="0"/>
            </a:endParaRPr>
          </a:p>
        </p:txBody>
      </p:sp>
      <p:sp>
        <p:nvSpPr>
          <p:cNvPr id="131115" name="Line 42"/>
          <p:cNvSpPr/>
          <p:nvPr/>
        </p:nvSpPr>
        <p:spPr>
          <a:xfrm>
            <a:off x="5521325" y="4090988"/>
            <a:ext cx="0" cy="292100"/>
          </a:xfrm>
          <a:prstGeom prst="line">
            <a:avLst/>
          </a:prstGeom>
          <a:ln w="9525" cap="flat" cmpd="sng">
            <a:solidFill>
              <a:srgbClr val="000000"/>
            </a:solidFill>
            <a:prstDash val="solid"/>
            <a:headEnd type="none" w="med" len="med"/>
            <a:tailEnd type="triangle" w="med" len="med"/>
          </a:ln>
        </p:spPr>
      </p:sp>
      <p:sp>
        <p:nvSpPr>
          <p:cNvPr id="131116" name="Text Box 43"/>
          <p:cNvSpPr txBox="1"/>
          <p:nvPr/>
        </p:nvSpPr>
        <p:spPr>
          <a:xfrm>
            <a:off x="4973638" y="4383088"/>
            <a:ext cx="1808162" cy="493712"/>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600" b="1" dirty="0">
                <a:solidFill>
                  <a:srgbClr val="003300"/>
                </a:solidFill>
                <a:latin typeface="Times New Roman" panose="02020603050405020304" pitchFamily="18" charset="0"/>
              </a:rPr>
              <a:t>Empty</a:t>
            </a:r>
            <a:r>
              <a:rPr lang="zh-CN" altLang="en-US" sz="1600" b="1" dirty="0">
                <a:solidFill>
                  <a:srgbClr val="003300"/>
                </a:solidFill>
                <a:latin typeface="Times New Roman" panose="02020603050405020304" pitchFamily="18" charset="0"/>
              </a:rPr>
              <a:t>信号量加</a:t>
            </a:r>
            <a:r>
              <a:rPr lang="en-US" altLang="zh-CN" sz="1600" b="1" dirty="0">
                <a:solidFill>
                  <a:srgbClr val="003300"/>
                </a:solidFill>
                <a:latin typeface="Times New Roman" panose="02020603050405020304" pitchFamily="18" charset="0"/>
              </a:rPr>
              <a:t>1</a:t>
            </a:r>
            <a:endParaRPr lang="en-US" altLang="zh-CN" sz="16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唤醒一个生产者</a:t>
            </a:r>
            <a:endParaRPr lang="zh-CN" altLang="en-US" sz="1600" b="1" dirty="0">
              <a:solidFill>
                <a:srgbClr val="003300"/>
              </a:solidFill>
              <a:latin typeface="Times New Roman" panose="02020603050405020304" pitchFamily="18" charset="0"/>
            </a:endParaRPr>
          </a:p>
        </p:txBody>
      </p:sp>
      <p:sp>
        <p:nvSpPr>
          <p:cNvPr id="131117" name="Line 44"/>
          <p:cNvSpPr/>
          <p:nvPr/>
        </p:nvSpPr>
        <p:spPr>
          <a:xfrm>
            <a:off x="3468688" y="3798888"/>
            <a:ext cx="0" cy="146050"/>
          </a:xfrm>
          <a:prstGeom prst="line">
            <a:avLst/>
          </a:prstGeom>
          <a:ln w="9525" cap="flat" cmpd="sng">
            <a:solidFill>
              <a:srgbClr val="000000"/>
            </a:solidFill>
            <a:prstDash val="solid"/>
            <a:headEnd type="none" w="med" len="med"/>
            <a:tailEnd type="none" w="med" len="med"/>
          </a:ln>
        </p:spPr>
      </p:sp>
      <p:sp>
        <p:nvSpPr>
          <p:cNvPr id="131118" name="Line 45"/>
          <p:cNvSpPr/>
          <p:nvPr/>
        </p:nvSpPr>
        <p:spPr>
          <a:xfrm flipH="1">
            <a:off x="1962150" y="3360738"/>
            <a:ext cx="958850" cy="0"/>
          </a:xfrm>
          <a:prstGeom prst="line">
            <a:avLst/>
          </a:prstGeom>
          <a:ln w="9525" cap="flat" cmpd="sng">
            <a:solidFill>
              <a:srgbClr val="000000"/>
            </a:solidFill>
            <a:prstDash val="solid"/>
            <a:headEnd type="none" w="med" len="med"/>
            <a:tailEnd type="triangle" w="med" len="med"/>
          </a:ln>
        </p:spPr>
      </p:sp>
      <p:sp>
        <p:nvSpPr>
          <p:cNvPr id="131119" name="Line 46"/>
          <p:cNvSpPr/>
          <p:nvPr/>
        </p:nvSpPr>
        <p:spPr>
          <a:xfrm>
            <a:off x="3605213" y="292100"/>
            <a:ext cx="0" cy="292100"/>
          </a:xfrm>
          <a:prstGeom prst="line">
            <a:avLst/>
          </a:prstGeom>
          <a:ln w="9525" cap="flat" cmpd="sng">
            <a:solidFill>
              <a:srgbClr val="000000"/>
            </a:solidFill>
            <a:prstDash val="solid"/>
            <a:headEnd type="none" w="med" len="med"/>
            <a:tailEnd type="triangle" w="med" len="med"/>
          </a:ln>
        </p:spPr>
      </p:sp>
      <p:sp>
        <p:nvSpPr>
          <p:cNvPr id="131120" name="Text Box 47"/>
          <p:cNvSpPr txBox="1"/>
          <p:nvPr/>
        </p:nvSpPr>
        <p:spPr>
          <a:xfrm>
            <a:off x="2895600" y="609600"/>
            <a:ext cx="1600200" cy="55880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等待资源，阻塞</a:t>
            </a:r>
            <a:endParaRPr lang="zh-CN" altLang="en-US" sz="1800" b="1" dirty="0">
              <a:solidFill>
                <a:srgbClr val="003300"/>
              </a:solidFill>
              <a:latin typeface="Times New Roman" panose="02020603050405020304" pitchFamily="18" charset="0"/>
            </a:endParaRPr>
          </a:p>
        </p:txBody>
      </p:sp>
      <p:sp>
        <p:nvSpPr>
          <p:cNvPr id="131121" name="Text Box 48"/>
          <p:cNvSpPr txBox="1"/>
          <p:nvPr/>
        </p:nvSpPr>
        <p:spPr>
          <a:xfrm>
            <a:off x="2919413" y="2630488"/>
            <a:ext cx="1271587" cy="569912"/>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阻塞</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等待使用权</a:t>
            </a:r>
            <a:endParaRPr lang="zh-CN" altLang="en-US" sz="1800" b="1" dirty="0">
              <a:solidFill>
                <a:srgbClr val="003300"/>
              </a:solidFill>
              <a:latin typeface="Times New Roman" panose="02020603050405020304" pitchFamily="18" charset="0"/>
            </a:endParaRPr>
          </a:p>
        </p:txBody>
      </p:sp>
      <p:sp>
        <p:nvSpPr>
          <p:cNvPr id="131122" name="Line 49"/>
          <p:cNvSpPr/>
          <p:nvPr/>
        </p:nvSpPr>
        <p:spPr>
          <a:xfrm flipV="1">
            <a:off x="2819400" y="292100"/>
            <a:ext cx="0" cy="1314450"/>
          </a:xfrm>
          <a:prstGeom prst="line">
            <a:avLst/>
          </a:prstGeom>
          <a:ln w="9525" cap="flat" cmpd="sng">
            <a:solidFill>
              <a:srgbClr val="000000"/>
            </a:solidFill>
            <a:prstDash val="solid"/>
            <a:headEnd type="none" w="med" len="med"/>
            <a:tailEnd type="none" w="med" len="med"/>
          </a:ln>
        </p:spPr>
      </p:sp>
      <p:sp>
        <p:nvSpPr>
          <p:cNvPr id="131123" name="Line 50"/>
          <p:cNvSpPr/>
          <p:nvPr/>
        </p:nvSpPr>
        <p:spPr>
          <a:xfrm>
            <a:off x="2782888" y="292100"/>
            <a:ext cx="822325" cy="0"/>
          </a:xfrm>
          <a:prstGeom prst="line">
            <a:avLst/>
          </a:prstGeom>
          <a:ln w="9525" cap="flat" cmpd="sng">
            <a:solidFill>
              <a:srgbClr val="000000"/>
            </a:solidFill>
            <a:prstDash val="solid"/>
            <a:headEnd type="none" w="med" len="med"/>
            <a:tailEnd type="none" w="med" len="med"/>
          </a:ln>
        </p:spPr>
      </p:sp>
      <p:sp>
        <p:nvSpPr>
          <p:cNvPr id="131124" name="Text Box 51"/>
          <p:cNvSpPr txBox="1"/>
          <p:nvPr/>
        </p:nvSpPr>
        <p:spPr>
          <a:xfrm>
            <a:off x="3194050" y="1314450"/>
            <a:ext cx="820738"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被唤醒</a:t>
            </a:r>
            <a:endParaRPr lang="zh-CN" altLang="en-US" sz="1800" b="1" dirty="0">
              <a:solidFill>
                <a:srgbClr val="003300"/>
              </a:solidFill>
              <a:latin typeface="Times New Roman" panose="02020603050405020304" pitchFamily="18" charset="0"/>
            </a:endParaRPr>
          </a:p>
        </p:txBody>
      </p:sp>
      <p:sp>
        <p:nvSpPr>
          <p:cNvPr id="131125" name="Line 52"/>
          <p:cNvSpPr/>
          <p:nvPr/>
        </p:nvSpPr>
        <p:spPr>
          <a:xfrm>
            <a:off x="3605213" y="1752600"/>
            <a:ext cx="0" cy="439738"/>
          </a:xfrm>
          <a:prstGeom prst="line">
            <a:avLst/>
          </a:prstGeom>
          <a:ln w="9525" cap="flat" cmpd="sng">
            <a:solidFill>
              <a:srgbClr val="000000"/>
            </a:solidFill>
            <a:prstDash val="solid"/>
            <a:headEnd type="none" w="med" len="med"/>
            <a:tailEnd type="none" w="med" len="med"/>
          </a:ln>
        </p:spPr>
      </p:sp>
      <p:sp>
        <p:nvSpPr>
          <p:cNvPr id="131126" name="Line 53"/>
          <p:cNvSpPr/>
          <p:nvPr/>
        </p:nvSpPr>
        <p:spPr>
          <a:xfrm flipH="1">
            <a:off x="2098675" y="2192338"/>
            <a:ext cx="1506538" cy="0"/>
          </a:xfrm>
          <a:prstGeom prst="line">
            <a:avLst/>
          </a:prstGeom>
          <a:ln w="9525" cap="flat" cmpd="sng">
            <a:solidFill>
              <a:srgbClr val="000000"/>
            </a:solidFill>
            <a:prstDash val="solid"/>
            <a:headEnd type="none" w="med" len="med"/>
            <a:tailEnd type="triangle" w="med" len="med"/>
          </a:ln>
        </p:spPr>
      </p:sp>
      <p:sp>
        <p:nvSpPr>
          <p:cNvPr id="131127" name="Text Box 54"/>
          <p:cNvSpPr txBox="1"/>
          <p:nvPr/>
        </p:nvSpPr>
        <p:spPr>
          <a:xfrm>
            <a:off x="2287588" y="2362200"/>
            <a:ext cx="41116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否</a:t>
            </a:r>
            <a:endParaRPr lang="zh-CN" altLang="en-US" sz="1800" b="1" dirty="0">
              <a:solidFill>
                <a:srgbClr val="003300"/>
              </a:solidFill>
              <a:latin typeface="Times New Roman" panose="02020603050405020304" pitchFamily="18" charset="0"/>
            </a:endParaRPr>
          </a:p>
        </p:txBody>
      </p:sp>
      <p:sp>
        <p:nvSpPr>
          <p:cNvPr id="131128" name="Line 55"/>
          <p:cNvSpPr/>
          <p:nvPr/>
        </p:nvSpPr>
        <p:spPr>
          <a:xfrm>
            <a:off x="2562225" y="2749550"/>
            <a:ext cx="136525" cy="0"/>
          </a:xfrm>
          <a:prstGeom prst="line">
            <a:avLst/>
          </a:prstGeom>
          <a:ln w="9525" cap="flat" cmpd="sng">
            <a:solidFill>
              <a:srgbClr val="000000"/>
            </a:solidFill>
            <a:prstDash val="solid"/>
            <a:headEnd type="none" w="med" len="med"/>
            <a:tailEnd type="none" w="med" len="med"/>
          </a:ln>
        </p:spPr>
      </p:sp>
      <p:sp>
        <p:nvSpPr>
          <p:cNvPr id="131129" name="Line 56"/>
          <p:cNvSpPr/>
          <p:nvPr/>
        </p:nvSpPr>
        <p:spPr>
          <a:xfrm>
            <a:off x="3657600" y="2457450"/>
            <a:ext cx="0" cy="209550"/>
          </a:xfrm>
          <a:prstGeom prst="line">
            <a:avLst/>
          </a:prstGeom>
          <a:ln w="9525" cap="flat" cmpd="sng">
            <a:solidFill>
              <a:srgbClr val="000000"/>
            </a:solidFill>
            <a:prstDash val="solid"/>
            <a:headEnd type="none" w="med" len="med"/>
            <a:tailEnd type="triangle" w="med" len="med"/>
          </a:ln>
        </p:spPr>
      </p:sp>
      <p:sp>
        <p:nvSpPr>
          <p:cNvPr id="131130" name="Line 57"/>
          <p:cNvSpPr/>
          <p:nvPr/>
        </p:nvSpPr>
        <p:spPr>
          <a:xfrm flipV="1">
            <a:off x="2698750" y="2457450"/>
            <a:ext cx="0" cy="292100"/>
          </a:xfrm>
          <a:prstGeom prst="line">
            <a:avLst/>
          </a:prstGeom>
          <a:ln w="9525" cap="flat" cmpd="sng">
            <a:solidFill>
              <a:srgbClr val="000000"/>
            </a:solidFill>
            <a:prstDash val="solid"/>
            <a:headEnd type="none" w="med" len="med"/>
            <a:tailEnd type="none" w="med" len="med"/>
          </a:ln>
        </p:spPr>
      </p:sp>
      <p:sp>
        <p:nvSpPr>
          <p:cNvPr id="131131" name="Line 58"/>
          <p:cNvSpPr/>
          <p:nvPr/>
        </p:nvSpPr>
        <p:spPr>
          <a:xfrm>
            <a:off x="2698750" y="2457450"/>
            <a:ext cx="958850" cy="0"/>
          </a:xfrm>
          <a:prstGeom prst="line">
            <a:avLst/>
          </a:prstGeom>
          <a:ln w="9525" cap="flat" cmpd="sng">
            <a:solidFill>
              <a:srgbClr val="000000"/>
            </a:solidFill>
            <a:prstDash val="solid"/>
            <a:headEnd type="none" w="med" len="med"/>
            <a:tailEnd type="none" w="med" len="med"/>
          </a:ln>
        </p:spPr>
      </p:sp>
      <p:sp>
        <p:nvSpPr>
          <p:cNvPr id="131132" name="Line 59"/>
          <p:cNvSpPr/>
          <p:nvPr/>
        </p:nvSpPr>
        <p:spPr>
          <a:xfrm>
            <a:off x="3581400" y="3200400"/>
            <a:ext cx="23813" cy="160338"/>
          </a:xfrm>
          <a:prstGeom prst="line">
            <a:avLst/>
          </a:prstGeom>
          <a:ln w="9525" cap="flat" cmpd="sng">
            <a:solidFill>
              <a:srgbClr val="000000"/>
            </a:solidFill>
            <a:prstDash val="solid"/>
            <a:headEnd type="none" w="med" len="med"/>
            <a:tailEnd type="triangle" w="med" len="med"/>
          </a:ln>
        </p:spPr>
      </p:sp>
      <p:sp>
        <p:nvSpPr>
          <p:cNvPr id="131133" name="Text Box 60"/>
          <p:cNvSpPr txBox="1"/>
          <p:nvPr/>
        </p:nvSpPr>
        <p:spPr>
          <a:xfrm>
            <a:off x="3057525" y="3360738"/>
            <a:ext cx="820738" cy="438150"/>
          </a:xfrm>
          <a:prstGeom prst="rect">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600" b="1" dirty="0">
                <a:solidFill>
                  <a:srgbClr val="003300"/>
                </a:solidFill>
                <a:latin typeface="Times New Roman" panose="02020603050405020304" pitchFamily="18" charset="0"/>
              </a:rPr>
              <a:t>被唤醒</a:t>
            </a:r>
            <a:endParaRPr lang="zh-CN" altLang="en-US" sz="1600" b="1" dirty="0">
              <a:solidFill>
                <a:srgbClr val="003300"/>
              </a:solidFill>
              <a:latin typeface="Times New Roman" panose="02020603050405020304" pitchFamily="18" charset="0"/>
            </a:endParaRPr>
          </a:p>
        </p:txBody>
      </p:sp>
      <p:sp>
        <p:nvSpPr>
          <p:cNvPr id="131134" name="Line 61"/>
          <p:cNvSpPr/>
          <p:nvPr/>
        </p:nvSpPr>
        <p:spPr>
          <a:xfrm flipH="1">
            <a:off x="2921000" y="3944938"/>
            <a:ext cx="547688" cy="0"/>
          </a:xfrm>
          <a:prstGeom prst="line">
            <a:avLst/>
          </a:prstGeom>
          <a:ln w="9525" cap="flat" cmpd="sng">
            <a:solidFill>
              <a:srgbClr val="000000"/>
            </a:solidFill>
            <a:prstDash val="solid"/>
            <a:headEnd type="none" w="med" len="med"/>
            <a:tailEnd type="none" w="med" len="med"/>
          </a:ln>
        </p:spPr>
      </p:sp>
      <p:sp>
        <p:nvSpPr>
          <p:cNvPr id="131135" name="Line 62"/>
          <p:cNvSpPr/>
          <p:nvPr/>
        </p:nvSpPr>
        <p:spPr>
          <a:xfrm flipV="1">
            <a:off x="2921000" y="3360738"/>
            <a:ext cx="0" cy="584200"/>
          </a:xfrm>
          <a:prstGeom prst="line">
            <a:avLst/>
          </a:prstGeom>
          <a:ln w="9525" cap="flat" cmpd="sng">
            <a:solidFill>
              <a:srgbClr val="000000"/>
            </a:solidFill>
            <a:prstDash val="solid"/>
            <a:headEnd type="none" w="med" len="med"/>
            <a:tailEnd type="none" w="med" len="med"/>
          </a:ln>
        </p:spPr>
      </p:sp>
      <p:sp>
        <p:nvSpPr>
          <p:cNvPr id="131136" name="AutoShape 63"/>
          <p:cNvSpPr/>
          <p:nvPr/>
        </p:nvSpPr>
        <p:spPr>
          <a:xfrm>
            <a:off x="1143000" y="1143000"/>
            <a:ext cx="1676400" cy="876300"/>
          </a:xfrm>
          <a:prstGeom prst="flowChartDecision">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solidFill>
                <a:srgbClr val="003300"/>
              </a:solidFill>
            </a:endParaRPr>
          </a:p>
        </p:txBody>
      </p:sp>
      <p:sp>
        <p:nvSpPr>
          <p:cNvPr id="131137" name="Text Box 64"/>
          <p:cNvSpPr txBox="1"/>
          <p:nvPr/>
        </p:nvSpPr>
        <p:spPr>
          <a:xfrm>
            <a:off x="1550988" y="1314450"/>
            <a:ext cx="958850" cy="59055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ea typeface="仿宋_GB2312" pitchFamily="49" charset="-122"/>
              </a:rPr>
              <a:t>是否有空</a:t>
            </a:r>
            <a:endParaRPr lang="zh-CN" altLang="en-US" sz="1800" b="1" dirty="0">
              <a:solidFill>
                <a:srgbClr val="003300"/>
              </a:solidFill>
              <a:latin typeface="Times New Roman" panose="02020603050405020304" pitchFamily="18" charset="0"/>
              <a:ea typeface="仿宋_GB2312" pitchFamily="49" charset="-122"/>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ea typeface="仿宋_GB2312" pitchFamily="49" charset="-122"/>
              </a:rPr>
              <a:t>存储单元</a:t>
            </a:r>
            <a:endParaRPr lang="zh-CN" altLang="en-US" sz="1800" b="1" dirty="0">
              <a:solidFill>
                <a:srgbClr val="003300"/>
              </a:solidFill>
              <a:latin typeface="Times New Roman" panose="02020603050405020304" pitchFamily="18" charset="0"/>
              <a:ea typeface="仿宋_GB2312" pitchFamily="49" charset="-122"/>
            </a:endParaRPr>
          </a:p>
        </p:txBody>
      </p:sp>
      <p:sp>
        <p:nvSpPr>
          <p:cNvPr id="131138" name="Text Box 65"/>
          <p:cNvSpPr txBox="1"/>
          <p:nvPr/>
        </p:nvSpPr>
        <p:spPr>
          <a:xfrm>
            <a:off x="1223963" y="438150"/>
            <a:ext cx="1443037"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生产一条数据</a:t>
            </a:r>
            <a:endParaRPr lang="zh-CN" altLang="en-US" sz="1800" b="1" dirty="0">
              <a:solidFill>
                <a:srgbClr val="003300"/>
              </a:solidFill>
              <a:latin typeface="Times New Roman" panose="02020603050405020304" pitchFamily="18" charset="0"/>
            </a:endParaRPr>
          </a:p>
        </p:txBody>
      </p:sp>
      <p:sp>
        <p:nvSpPr>
          <p:cNvPr id="131139" name="Line 66"/>
          <p:cNvSpPr/>
          <p:nvPr/>
        </p:nvSpPr>
        <p:spPr>
          <a:xfrm>
            <a:off x="1962150" y="876300"/>
            <a:ext cx="0" cy="292100"/>
          </a:xfrm>
          <a:prstGeom prst="line">
            <a:avLst/>
          </a:prstGeom>
          <a:ln w="9525" cap="flat" cmpd="sng">
            <a:solidFill>
              <a:srgbClr val="000000"/>
            </a:solidFill>
            <a:prstDash val="solid"/>
            <a:headEnd type="none" w="med" len="med"/>
            <a:tailEnd type="triangle" w="med" len="med"/>
          </a:ln>
        </p:spPr>
      </p:sp>
      <p:sp>
        <p:nvSpPr>
          <p:cNvPr id="131140" name="Line 67"/>
          <p:cNvSpPr/>
          <p:nvPr/>
        </p:nvSpPr>
        <p:spPr>
          <a:xfrm>
            <a:off x="1962150" y="0"/>
            <a:ext cx="0" cy="438150"/>
          </a:xfrm>
          <a:prstGeom prst="line">
            <a:avLst/>
          </a:prstGeom>
          <a:ln w="9525" cap="flat" cmpd="sng">
            <a:solidFill>
              <a:srgbClr val="000000"/>
            </a:solidFill>
            <a:prstDash val="solid"/>
            <a:headEnd type="none" w="med" len="med"/>
            <a:tailEnd type="triangle" w="med" len="med"/>
          </a:ln>
        </p:spPr>
      </p:sp>
      <p:sp>
        <p:nvSpPr>
          <p:cNvPr id="131141" name="Line 68"/>
          <p:cNvSpPr/>
          <p:nvPr/>
        </p:nvSpPr>
        <p:spPr>
          <a:xfrm>
            <a:off x="1962150" y="2044700"/>
            <a:ext cx="0" cy="292100"/>
          </a:xfrm>
          <a:prstGeom prst="line">
            <a:avLst/>
          </a:prstGeom>
          <a:ln w="9525" cap="flat" cmpd="sng">
            <a:solidFill>
              <a:srgbClr val="000000"/>
            </a:solidFill>
            <a:prstDash val="solid"/>
            <a:headEnd type="none" w="med" len="med"/>
            <a:tailEnd type="triangle" w="med" len="med"/>
          </a:ln>
        </p:spPr>
      </p:sp>
      <p:sp>
        <p:nvSpPr>
          <p:cNvPr id="131142" name="AutoShape 69"/>
          <p:cNvSpPr/>
          <p:nvPr/>
        </p:nvSpPr>
        <p:spPr>
          <a:xfrm>
            <a:off x="1414463" y="2336800"/>
            <a:ext cx="1095375" cy="731838"/>
          </a:xfrm>
          <a:prstGeom prst="flowChartDecision">
            <a:avLst/>
          </a:prstGeom>
          <a:no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solidFill>
                <a:srgbClr val="003300"/>
              </a:solidFill>
            </a:endParaRPr>
          </a:p>
        </p:txBody>
      </p:sp>
      <p:sp>
        <p:nvSpPr>
          <p:cNvPr id="131143" name="Text Box 70"/>
          <p:cNvSpPr txBox="1"/>
          <p:nvPr/>
        </p:nvSpPr>
        <p:spPr>
          <a:xfrm>
            <a:off x="1627188" y="2362200"/>
            <a:ext cx="73501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ea typeface="仿宋_GB2312" pitchFamily="49" charset="-122"/>
              </a:rPr>
              <a:t>是否</a:t>
            </a:r>
            <a:endParaRPr lang="zh-CN" altLang="en-US" sz="1800" b="1" dirty="0">
              <a:solidFill>
                <a:srgbClr val="003300"/>
              </a:solidFill>
              <a:latin typeface="Times New Roman" panose="02020603050405020304" pitchFamily="18" charset="0"/>
              <a:ea typeface="仿宋_GB2312" pitchFamily="49" charset="-122"/>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ea typeface="仿宋_GB2312" pitchFamily="49" charset="-122"/>
              </a:rPr>
              <a:t>可用</a:t>
            </a:r>
            <a:endParaRPr lang="zh-CN" altLang="en-US" sz="1800" b="1" dirty="0">
              <a:solidFill>
                <a:srgbClr val="003300"/>
              </a:solidFill>
              <a:latin typeface="Times New Roman" panose="02020603050405020304" pitchFamily="18" charset="0"/>
              <a:ea typeface="仿宋_GB2312" pitchFamily="49" charset="-122"/>
            </a:endParaRPr>
          </a:p>
        </p:txBody>
      </p:sp>
      <p:sp>
        <p:nvSpPr>
          <p:cNvPr id="131144" name="Text Box 71"/>
          <p:cNvSpPr txBox="1"/>
          <p:nvPr/>
        </p:nvSpPr>
        <p:spPr>
          <a:xfrm>
            <a:off x="1550988" y="1898650"/>
            <a:ext cx="411162"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有</a:t>
            </a:r>
            <a:endParaRPr lang="zh-CN" altLang="en-US" sz="1800" b="1" dirty="0">
              <a:solidFill>
                <a:srgbClr val="003300"/>
              </a:solidFill>
              <a:latin typeface="Times New Roman" panose="02020603050405020304" pitchFamily="18" charset="0"/>
            </a:endParaRPr>
          </a:p>
        </p:txBody>
      </p:sp>
      <p:sp>
        <p:nvSpPr>
          <p:cNvPr id="131145" name="Text Box 72"/>
          <p:cNvSpPr txBox="1"/>
          <p:nvPr/>
        </p:nvSpPr>
        <p:spPr>
          <a:xfrm>
            <a:off x="1219200" y="3652838"/>
            <a:ext cx="1435100"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存入一条数据</a:t>
            </a:r>
            <a:endParaRPr lang="zh-CN" altLang="en-US" sz="1800" b="1" dirty="0">
              <a:solidFill>
                <a:srgbClr val="003300"/>
              </a:solidFill>
              <a:latin typeface="Times New Roman" panose="02020603050405020304" pitchFamily="18" charset="0"/>
            </a:endParaRPr>
          </a:p>
        </p:txBody>
      </p:sp>
      <p:sp>
        <p:nvSpPr>
          <p:cNvPr id="131146" name="Line 73"/>
          <p:cNvSpPr/>
          <p:nvPr/>
        </p:nvSpPr>
        <p:spPr>
          <a:xfrm>
            <a:off x="1968500" y="3070225"/>
            <a:ext cx="1588" cy="582613"/>
          </a:xfrm>
          <a:prstGeom prst="line">
            <a:avLst/>
          </a:prstGeom>
          <a:ln w="9525" cap="flat" cmpd="sng">
            <a:solidFill>
              <a:srgbClr val="000000"/>
            </a:solidFill>
            <a:prstDash val="solid"/>
            <a:headEnd type="none" w="med" len="med"/>
            <a:tailEnd type="triangle" w="med" len="med"/>
          </a:ln>
        </p:spPr>
      </p:sp>
      <p:sp>
        <p:nvSpPr>
          <p:cNvPr id="131147" name="Text Box 74"/>
          <p:cNvSpPr txBox="1"/>
          <p:nvPr/>
        </p:nvSpPr>
        <p:spPr>
          <a:xfrm>
            <a:off x="1219200" y="4383088"/>
            <a:ext cx="1435100" cy="438150"/>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  归还使用权</a:t>
            </a:r>
            <a:endParaRPr lang="zh-CN" altLang="en-US" sz="1800" b="1" dirty="0">
              <a:solidFill>
                <a:srgbClr val="003300"/>
              </a:solidFill>
              <a:latin typeface="Times New Roman" panose="02020603050405020304" pitchFamily="18" charset="0"/>
            </a:endParaRPr>
          </a:p>
        </p:txBody>
      </p:sp>
      <p:sp>
        <p:nvSpPr>
          <p:cNvPr id="131148" name="Line 75"/>
          <p:cNvSpPr/>
          <p:nvPr/>
        </p:nvSpPr>
        <p:spPr>
          <a:xfrm>
            <a:off x="1970088" y="4090988"/>
            <a:ext cx="0" cy="292100"/>
          </a:xfrm>
          <a:prstGeom prst="line">
            <a:avLst/>
          </a:prstGeom>
          <a:ln w="9525" cap="flat" cmpd="sng">
            <a:solidFill>
              <a:srgbClr val="000000"/>
            </a:solidFill>
            <a:prstDash val="solid"/>
            <a:headEnd type="none" w="med" len="med"/>
            <a:tailEnd type="triangle" w="med" len="med"/>
          </a:ln>
        </p:spPr>
      </p:sp>
      <p:sp>
        <p:nvSpPr>
          <p:cNvPr id="131149" name="Line 76"/>
          <p:cNvSpPr/>
          <p:nvPr/>
        </p:nvSpPr>
        <p:spPr>
          <a:xfrm>
            <a:off x="1970088" y="5727700"/>
            <a:ext cx="0" cy="292100"/>
          </a:xfrm>
          <a:prstGeom prst="line">
            <a:avLst/>
          </a:prstGeom>
          <a:ln w="9525" cap="flat" cmpd="sng">
            <a:solidFill>
              <a:srgbClr val="000000"/>
            </a:solidFill>
            <a:prstDash val="solid"/>
            <a:headEnd type="none" w="med" len="med"/>
            <a:tailEnd type="none" w="med" len="med"/>
          </a:ln>
        </p:spPr>
      </p:sp>
      <p:sp>
        <p:nvSpPr>
          <p:cNvPr id="131150" name="Line 77"/>
          <p:cNvSpPr/>
          <p:nvPr/>
        </p:nvSpPr>
        <p:spPr>
          <a:xfrm flipH="1">
            <a:off x="838200" y="6019800"/>
            <a:ext cx="1143000" cy="0"/>
          </a:xfrm>
          <a:prstGeom prst="line">
            <a:avLst/>
          </a:prstGeom>
          <a:ln w="9525" cap="flat" cmpd="sng">
            <a:solidFill>
              <a:srgbClr val="000000"/>
            </a:solidFill>
            <a:prstDash val="solid"/>
            <a:headEnd type="none" w="med" len="med"/>
            <a:tailEnd type="none" w="med" len="med"/>
          </a:ln>
        </p:spPr>
      </p:sp>
      <p:sp>
        <p:nvSpPr>
          <p:cNvPr id="131151" name="Line 78"/>
          <p:cNvSpPr/>
          <p:nvPr/>
        </p:nvSpPr>
        <p:spPr>
          <a:xfrm flipV="1">
            <a:off x="838200" y="292100"/>
            <a:ext cx="0" cy="5727700"/>
          </a:xfrm>
          <a:prstGeom prst="line">
            <a:avLst/>
          </a:prstGeom>
          <a:ln w="9525" cap="flat" cmpd="sng">
            <a:solidFill>
              <a:srgbClr val="000000"/>
            </a:solidFill>
            <a:prstDash val="solid"/>
            <a:headEnd type="none" w="med" len="med"/>
            <a:tailEnd type="none" w="med" len="med"/>
          </a:ln>
        </p:spPr>
      </p:sp>
      <p:sp>
        <p:nvSpPr>
          <p:cNvPr id="131152" name="Line 79"/>
          <p:cNvSpPr/>
          <p:nvPr/>
        </p:nvSpPr>
        <p:spPr>
          <a:xfrm>
            <a:off x="838200" y="292100"/>
            <a:ext cx="927100" cy="0"/>
          </a:xfrm>
          <a:prstGeom prst="line">
            <a:avLst/>
          </a:prstGeom>
          <a:ln w="9525" cap="flat" cmpd="sng">
            <a:solidFill>
              <a:srgbClr val="000000"/>
            </a:solidFill>
            <a:prstDash val="solid"/>
            <a:headEnd type="none" w="med" len="med"/>
            <a:tailEnd type="triangle" w="med" len="med"/>
          </a:ln>
        </p:spPr>
      </p:sp>
      <p:sp>
        <p:nvSpPr>
          <p:cNvPr id="131153" name="Text Box 80"/>
          <p:cNvSpPr txBox="1"/>
          <p:nvPr/>
        </p:nvSpPr>
        <p:spPr>
          <a:xfrm>
            <a:off x="1560513" y="3068638"/>
            <a:ext cx="409575"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是</a:t>
            </a:r>
            <a:endParaRPr lang="zh-CN" altLang="en-US" sz="1800" b="1" dirty="0">
              <a:solidFill>
                <a:srgbClr val="003300"/>
              </a:solidFill>
              <a:latin typeface="Times New Roman" panose="02020603050405020304" pitchFamily="18" charset="0"/>
            </a:endParaRPr>
          </a:p>
        </p:txBody>
      </p:sp>
      <p:sp>
        <p:nvSpPr>
          <p:cNvPr id="131154" name="Line 81"/>
          <p:cNvSpPr/>
          <p:nvPr/>
        </p:nvSpPr>
        <p:spPr>
          <a:xfrm>
            <a:off x="1970088" y="4821238"/>
            <a:ext cx="0" cy="292100"/>
          </a:xfrm>
          <a:prstGeom prst="line">
            <a:avLst/>
          </a:prstGeom>
          <a:ln w="9525" cap="flat" cmpd="sng">
            <a:solidFill>
              <a:srgbClr val="000000"/>
            </a:solidFill>
            <a:prstDash val="solid"/>
            <a:headEnd type="none" w="med" len="med"/>
            <a:tailEnd type="triangle" w="med" len="med"/>
          </a:ln>
        </p:spPr>
      </p:sp>
      <p:sp>
        <p:nvSpPr>
          <p:cNvPr id="131155" name="Text Box 82"/>
          <p:cNvSpPr txBox="1"/>
          <p:nvPr/>
        </p:nvSpPr>
        <p:spPr>
          <a:xfrm>
            <a:off x="1143000" y="5113338"/>
            <a:ext cx="1752600" cy="601662"/>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en-US" altLang="zh-CN" sz="1800" b="1" dirty="0">
                <a:solidFill>
                  <a:srgbClr val="003300"/>
                </a:solidFill>
                <a:latin typeface="Times New Roman" panose="02020603050405020304" pitchFamily="18" charset="0"/>
              </a:rPr>
              <a:t>Full</a:t>
            </a:r>
            <a:r>
              <a:rPr lang="zh-CN" altLang="en-US" sz="1800" b="1" dirty="0">
                <a:solidFill>
                  <a:srgbClr val="003300"/>
                </a:solidFill>
                <a:latin typeface="Times New Roman" panose="02020603050405020304" pitchFamily="18" charset="0"/>
              </a:rPr>
              <a:t>信号量加</a:t>
            </a:r>
            <a:r>
              <a:rPr lang="en-US" altLang="zh-CN" sz="1800" b="1" dirty="0">
                <a:solidFill>
                  <a:srgbClr val="003300"/>
                </a:solidFill>
                <a:latin typeface="Times New Roman" panose="02020603050405020304" pitchFamily="18" charset="0"/>
              </a:rPr>
              <a:t>1</a:t>
            </a:r>
            <a:endParaRPr lang="en-US" altLang="zh-CN"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唤醒一个消费者</a:t>
            </a:r>
            <a:endParaRPr lang="zh-CN" altLang="en-US" sz="1800" b="1" dirty="0">
              <a:solidFill>
                <a:srgbClr val="003300"/>
              </a:solidFill>
              <a:latin typeface="Times New Roman" panose="02020603050405020304" pitchFamily="18" charset="0"/>
            </a:endParaRPr>
          </a:p>
        </p:txBody>
      </p:sp>
      <p:sp>
        <p:nvSpPr>
          <p:cNvPr id="131156" name="Text Box 83"/>
          <p:cNvSpPr txBox="1"/>
          <p:nvPr/>
        </p:nvSpPr>
        <p:spPr>
          <a:xfrm>
            <a:off x="2438400" y="6427788"/>
            <a:ext cx="4800600"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2000" b="1" dirty="0">
                <a:solidFill>
                  <a:srgbClr val="003300"/>
                </a:solidFill>
                <a:latin typeface="Times New Roman" panose="02020603050405020304" pitchFamily="18" charset="0"/>
              </a:rPr>
              <a:t>图  生产者</a:t>
            </a:r>
            <a:r>
              <a:rPr lang="en-US" altLang="zh-CN" sz="2000" b="1" dirty="0">
                <a:solidFill>
                  <a:srgbClr val="003300"/>
                </a:solidFill>
                <a:latin typeface="Times New Roman" panose="02020603050405020304" pitchFamily="18" charset="0"/>
              </a:rPr>
              <a:t>/</a:t>
            </a:r>
            <a:r>
              <a:rPr lang="zh-CN" altLang="en-US" sz="2000" b="1" dirty="0">
                <a:solidFill>
                  <a:srgbClr val="003300"/>
                </a:solidFill>
                <a:latin typeface="Times New Roman" panose="02020603050405020304" pitchFamily="18" charset="0"/>
              </a:rPr>
              <a:t>消费者执行流程图</a:t>
            </a:r>
            <a:endParaRPr lang="zh-CN" altLang="en-US" sz="2000" b="1" dirty="0">
              <a:solidFill>
                <a:srgbClr val="003300"/>
              </a:solidFill>
              <a:latin typeface="Times New Roman" panose="02020603050405020304" pitchFamily="18" charset="0"/>
            </a:endParaRPr>
          </a:p>
        </p:txBody>
      </p:sp>
      <p:sp>
        <p:nvSpPr>
          <p:cNvPr id="131157" name="Line 84"/>
          <p:cNvSpPr/>
          <p:nvPr/>
        </p:nvSpPr>
        <p:spPr>
          <a:xfrm>
            <a:off x="5486400" y="4876800"/>
            <a:ext cx="0" cy="228600"/>
          </a:xfrm>
          <a:prstGeom prst="line">
            <a:avLst/>
          </a:prstGeom>
          <a:ln w="9525" cap="flat" cmpd="sng">
            <a:solidFill>
              <a:srgbClr val="000000"/>
            </a:solidFill>
            <a:prstDash val="solid"/>
            <a:headEnd type="none" w="med" len="med"/>
            <a:tailEnd type="triangle" w="med" len="med"/>
          </a:ln>
        </p:spPr>
      </p:sp>
      <p:sp>
        <p:nvSpPr>
          <p:cNvPr id="131158" name="Line 85"/>
          <p:cNvSpPr/>
          <p:nvPr/>
        </p:nvSpPr>
        <p:spPr>
          <a:xfrm>
            <a:off x="3557588" y="1143000"/>
            <a:ext cx="23812" cy="160338"/>
          </a:xfrm>
          <a:prstGeom prst="line">
            <a:avLst/>
          </a:prstGeom>
          <a:ln w="9525" cap="flat" cmpd="sng">
            <a:solidFill>
              <a:srgbClr val="000000"/>
            </a:solidFill>
            <a:prstDash val="solid"/>
            <a:headEnd type="none" w="med" len="med"/>
            <a:tailEnd type="triangle" w="med" len="med"/>
          </a:ln>
        </p:spPr>
      </p:sp>
      <p:sp>
        <p:nvSpPr>
          <p:cNvPr id="131159" name="Text Box 86"/>
          <p:cNvSpPr txBox="1"/>
          <p:nvPr/>
        </p:nvSpPr>
        <p:spPr>
          <a:xfrm>
            <a:off x="2362200" y="990600"/>
            <a:ext cx="411163" cy="43815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无</a:t>
            </a:r>
            <a:endParaRPr lang="zh-CN" altLang="en-US" sz="1800" b="1" dirty="0">
              <a:solidFill>
                <a:srgbClr val="003300"/>
              </a:solidFill>
              <a:latin typeface="Times New Roman" panose="02020603050405020304" pitchFamily="18" charset="0"/>
            </a:endParaRPr>
          </a:p>
        </p:txBody>
      </p:sp>
      <p:sp>
        <p:nvSpPr>
          <p:cNvPr id="131160" name="Text Box 87"/>
          <p:cNvSpPr txBox="1"/>
          <p:nvPr/>
        </p:nvSpPr>
        <p:spPr>
          <a:xfrm>
            <a:off x="6477000" y="2057400"/>
            <a:ext cx="1271588" cy="569913"/>
          </a:xfrm>
          <a:prstGeom prst="rect">
            <a:avLst/>
          </a:prstGeom>
          <a:no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阻塞</a:t>
            </a:r>
            <a:endParaRPr lang="zh-CN" altLang="en-US" sz="1800" b="1" dirty="0">
              <a:solidFill>
                <a:srgbClr val="003300"/>
              </a:solidFill>
              <a:latin typeface="Times New Roman" panose="02020603050405020304" pitchFamily="18" charset="0"/>
            </a:endParaRPr>
          </a:p>
          <a:p>
            <a:pPr marL="0" lvl="0" indent="0" algn="just">
              <a:spcBef>
                <a:spcPct val="0"/>
              </a:spcBef>
              <a:buClrTx/>
              <a:buSzTx/>
              <a:buFontTx/>
              <a:buNone/>
            </a:pPr>
            <a:r>
              <a:rPr lang="zh-CN" altLang="en-US" sz="1800" b="1" dirty="0">
                <a:solidFill>
                  <a:srgbClr val="003300"/>
                </a:solidFill>
                <a:latin typeface="Times New Roman" panose="02020603050405020304" pitchFamily="18" charset="0"/>
              </a:rPr>
              <a:t>等待使用权</a:t>
            </a:r>
            <a:endParaRPr lang="zh-CN" altLang="en-US" sz="1800" b="1" dirty="0">
              <a:solidFill>
                <a:srgbClr val="003300"/>
              </a:solidFill>
              <a:latin typeface="Times New Roman" panose="02020603050405020304" pitchFamily="18"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4"/>
          <p:cNvSpPr/>
          <p:nvPr/>
        </p:nvSpPr>
        <p:spPr>
          <a:xfrm>
            <a:off x="381000" y="381000"/>
            <a:ext cx="8534400" cy="60960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200" b="1" dirty="0">
                <a:solidFill>
                  <a:srgbClr val="003300"/>
                </a:solidFill>
              </a:rPr>
              <a:t> int in=0</a:t>
            </a:r>
            <a:r>
              <a:rPr lang="zh-CN" altLang="en-US" sz="2200" b="1" dirty="0">
                <a:solidFill>
                  <a:srgbClr val="003300"/>
                </a:solidFill>
              </a:rPr>
              <a:t>，</a:t>
            </a:r>
            <a:r>
              <a:rPr lang="en-US" altLang="zh-CN" sz="2200" b="1" dirty="0">
                <a:solidFill>
                  <a:srgbClr val="003300"/>
                </a:solidFill>
              </a:rPr>
              <a:t>out=0;</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Item buffer[n];</a:t>
            </a:r>
            <a:endParaRPr lang="zh-CN" altLang="en-US"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Semaphore </a:t>
            </a:r>
            <a:r>
              <a:rPr lang="en-US" altLang="zh-CN" sz="2200" b="1" dirty="0">
                <a:solidFill>
                  <a:srgbClr val="FF0000"/>
                </a:solidFill>
              </a:rPr>
              <a:t>mutex=1,empty=n,full=0;</a:t>
            </a:r>
            <a:endParaRPr lang="en-US" altLang="zh-CN" sz="2200" b="1" dirty="0">
              <a:solidFill>
                <a:srgbClr val="FF0000"/>
              </a:solidFill>
            </a:endParaRPr>
          </a:p>
          <a:p>
            <a:pPr marL="0" lvl="0" indent="0" eaLnBrk="1" hangingPunct="1">
              <a:spcBef>
                <a:spcPct val="0"/>
              </a:spcBef>
              <a:buClrTx/>
              <a:buSzTx/>
              <a:buFontTx/>
              <a:buNone/>
            </a:pPr>
            <a:r>
              <a:rPr lang="en-US" altLang="zh-CN" sz="2200" b="1" dirty="0">
                <a:solidFill>
                  <a:srgbClr val="003300"/>
                </a:solidFill>
              </a:rPr>
              <a:t>Void proceducer() {</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   do {</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  	 producer an item nextp;</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	…</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FF0000"/>
                </a:solidFill>
              </a:rPr>
              <a:t>	wait</a:t>
            </a:r>
            <a:r>
              <a:rPr lang="zh-CN" altLang="en-US" sz="2200" b="1" dirty="0">
                <a:solidFill>
                  <a:srgbClr val="FF0000"/>
                </a:solidFill>
              </a:rPr>
              <a:t>（</a:t>
            </a:r>
            <a:r>
              <a:rPr lang="en-US" altLang="zh-CN" sz="2200" b="1" dirty="0">
                <a:solidFill>
                  <a:srgbClr val="FF0000"/>
                </a:solidFill>
              </a:rPr>
              <a:t>empty</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zh-CN" altLang="en-US" sz="2200" b="1" dirty="0">
                <a:solidFill>
                  <a:srgbClr val="FF0000"/>
                </a:solidFill>
              </a:rPr>
              <a:t>            </a:t>
            </a:r>
            <a:r>
              <a:rPr lang="en-US" altLang="zh-CN" sz="2200" b="1" dirty="0">
                <a:solidFill>
                  <a:srgbClr val="FF0000"/>
                </a:solidFill>
              </a:rPr>
              <a:t>wait</a:t>
            </a:r>
            <a:r>
              <a:rPr lang="zh-CN" altLang="en-US" sz="2200" b="1" dirty="0">
                <a:solidFill>
                  <a:srgbClr val="FF0000"/>
                </a:solidFill>
              </a:rPr>
              <a:t>（</a:t>
            </a:r>
            <a:r>
              <a:rPr lang="en-US" altLang="zh-CN" sz="2200" b="1" dirty="0">
                <a:solidFill>
                  <a:srgbClr val="FF0000"/>
                </a:solidFill>
              </a:rPr>
              <a:t>mutex</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FF0000"/>
                </a:solidFill>
              </a:rPr>
              <a:t>	buffer[in]</a:t>
            </a:r>
            <a:r>
              <a:rPr lang="zh-CN" altLang="en-US" sz="2200" b="1" dirty="0">
                <a:solidFill>
                  <a:srgbClr val="FF0000"/>
                </a:solidFill>
              </a:rPr>
              <a:t>：</a:t>
            </a:r>
            <a:r>
              <a:rPr lang="en-US" altLang="zh-CN" sz="2200" b="1" dirty="0">
                <a:solidFill>
                  <a:srgbClr val="FF0000"/>
                </a:solidFill>
              </a:rPr>
              <a:t>=nextp</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FF0000"/>
                </a:solidFill>
              </a:rPr>
              <a:t>	in</a:t>
            </a:r>
            <a:r>
              <a:rPr lang="zh-CN" altLang="en-US" sz="2200" b="1" dirty="0">
                <a:solidFill>
                  <a:srgbClr val="FF0000"/>
                </a:solidFill>
              </a:rPr>
              <a:t>：</a:t>
            </a:r>
            <a:r>
              <a:rPr lang="en-US" altLang="zh-CN" sz="2200" b="1" dirty="0">
                <a:solidFill>
                  <a:srgbClr val="FF0000"/>
                </a:solidFill>
              </a:rPr>
              <a:t>=</a:t>
            </a:r>
            <a:r>
              <a:rPr lang="zh-CN" altLang="en-US" sz="2200" b="1" dirty="0">
                <a:solidFill>
                  <a:srgbClr val="FF0000"/>
                </a:solidFill>
              </a:rPr>
              <a:t>（</a:t>
            </a:r>
            <a:r>
              <a:rPr lang="en-US" altLang="zh-CN" sz="2200" b="1" dirty="0">
                <a:solidFill>
                  <a:srgbClr val="FF0000"/>
                </a:solidFill>
              </a:rPr>
              <a:t>in</a:t>
            </a:r>
            <a:r>
              <a:rPr lang="zh-CN" altLang="en-US" sz="2200" b="1" dirty="0">
                <a:solidFill>
                  <a:srgbClr val="FF0000"/>
                </a:solidFill>
              </a:rPr>
              <a:t>十</a:t>
            </a:r>
            <a:r>
              <a:rPr lang="en-US" altLang="zh-CN" sz="2200" b="1" dirty="0">
                <a:solidFill>
                  <a:srgbClr val="FF0000"/>
                </a:solidFill>
              </a:rPr>
              <a:t>1</a:t>
            </a:r>
            <a:r>
              <a:rPr lang="zh-CN" altLang="en-US" sz="2200" b="1" dirty="0">
                <a:solidFill>
                  <a:srgbClr val="FF0000"/>
                </a:solidFill>
              </a:rPr>
              <a:t>）</a:t>
            </a:r>
            <a:r>
              <a:rPr lang="en-US" altLang="zh-CN" sz="2200" b="1" dirty="0">
                <a:solidFill>
                  <a:srgbClr val="FF0000"/>
                </a:solidFill>
              </a:rPr>
              <a:t>%  n</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FF0000"/>
                </a:solidFill>
              </a:rPr>
              <a:t>	signal</a:t>
            </a:r>
            <a:r>
              <a:rPr lang="zh-CN" altLang="en-US" sz="2200" b="1" dirty="0">
                <a:solidFill>
                  <a:srgbClr val="FF0000"/>
                </a:solidFill>
              </a:rPr>
              <a:t>（</a:t>
            </a:r>
            <a:r>
              <a:rPr lang="en-US" altLang="zh-CN" sz="2200" b="1" dirty="0">
                <a:solidFill>
                  <a:srgbClr val="FF0000"/>
                </a:solidFill>
              </a:rPr>
              <a:t>mutex</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FF0000"/>
                </a:solidFill>
              </a:rPr>
              <a:t>	signal</a:t>
            </a:r>
            <a:r>
              <a:rPr lang="zh-CN" altLang="en-US" sz="2200" b="1" dirty="0">
                <a:solidFill>
                  <a:srgbClr val="FF0000"/>
                </a:solidFill>
              </a:rPr>
              <a:t>（</a:t>
            </a:r>
            <a:r>
              <a:rPr lang="en-US" altLang="zh-CN" sz="2200" b="1" dirty="0">
                <a:solidFill>
                  <a:srgbClr val="FF0000"/>
                </a:solidFill>
              </a:rPr>
              <a:t>full</a:t>
            </a:r>
            <a:r>
              <a:rPr lang="zh-CN" altLang="en-US" sz="2200" b="1" dirty="0">
                <a:solidFill>
                  <a:srgbClr val="FF0000"/>
                </a:solidFill>
              </a:rPr>
              <a:t>）；</a:t>
            </a:r>
            <a:endParaRPr lang="zh-CN" altLang="en-US" sz="2200" b="1" dirty="0">
              <a:solidFill>
                <a:srgbClr val="FF0000"/>
              </a:solidFill>
            </a:endParaRPr>
          </a:p>
          <a:p>
            <a:pPr marL="0" lvl="0" indent="0" eaLnBrk="1" hangingPunct="1">
              <a:spcBef>
                <a:spcPct val="0"/>
              </a:spcBef>
              <a:buClrTx/>
              <a:buSzTx/>
              <a:buFontTx/>
              <a:buNone/>
            </a:pPr>
            <a:r>
              <a:rPr lang="en-US" altLang="zh-CN" sz="2200" b="1" dirty="0">
                <a:solidFill>
                  <a:srgbClr val="003300"/>
                </a:solidFill>
              </a:rPr>
              <a:t>}  while(TRUE);</a:t>
            </a:r>
            <a:endParaRPr lang="en-US" altLang="zh-CN" sz="2200" b="1" dirty="0">
              <a:solidFill>
                <a:srgbClr val="003300"/>
              </a:solidFill>
            </a:endParaRPr>
          </a:p>
          <a:p>
            <a:pPr marL="0" lvl="0" indent="0" eaLnBrk="1" hangingPunct="1">
              <a:spcBef>
                <a:spcPct val="0"/>
              </a:spcBef>
              <a:buClrTx/>
              <a:buSzTx/>
              <a:buFontTx/>
              <a:buNone/>
            </a:pPr>
            <a:r>
              <a:rPr lang="en-US" altLang="zh-CN" sz="2200" b="1" dirty="0">
                <a:solidFill>
                  <a:srgbClr val="003300"/>
                </a:solidFill>
              </a:rPr>
              <a:t>}</a:t>
            </a:r>
            <a:r>
              <a:rPr lang="en-US" altLang="zh-CN" sz="2200" b="1" dirty="0">
                <a:solidFill>
                  <a:srgbClr val="003300"/>
                </a:solidFill>
              </a:rPr>
              <a:t>    </a:t>
            </a:r>
            <a:endParaRPr lang="zh-CN" altLang="en-US" sz="2200" dirty="0">
              <a:solidFill>
                <a:srgbClr val="003300"/>
              </a:solidFil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4"/>
          <p:cNvSpPr/>
          <p:nvPr/>
        </p:nvSpPr>
        <p:spPr>
          <a:xfrm>
            <a:off x="457200" y="533400"/>
            <a:ext cx="8229600" cy="57912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3300"/>
                </a:solidFill>
              </a:rPr>
              <a:t> void consumer()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do{</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FF0000"/>
                </a:solidFill>
              </a:rPr>
              <a:t>		    wait(full);</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wait</a:t>
            </a:r>
            <a:r>
              <a:rPr lang="zh-CN" altLang="en-US" sz="2400" b="1" dirty="0">
                <a:solidFill>
                  <a:srgbClr val="FF0000"/>
                </a:solidFill>
              </a:rPr>
              <a:t>（</a:t>
            </a:r>
            <a:r>
              <a:rPr lang="en-US" altLang="zh-CN" sz="2400" b="1" dirty="0">
                <a:solidFill>
                  <a:srgbClr val="FF0000"/>
                </a:solidFill>
              </a:rPr>
              <a:t>mutex</a:t>
            </a:r>
            <a:r>
              <a:rPr lang="zh-CN" altLang="en-US" sz="2400" b="1" dirty="0">
                <a:solidFill>
                  <a:srgbClr val="FF0000"/>
                </a:solidFill>
              </a:rPr>
              <a:t>）；</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nextc  </a:t>
            </a:r>
            <a:r>
              <a:rPr lang="zh-CN" altLang="en-US" sz="2400" b="1" dirty="0">
                <a:solidFill>
                  <a:srgbClr val="FF0000"/>
                </a:solidFill>
              </a:rPr>
              <a:t>：</a:t>
            </a:r>
            <a:r>
              <a:rPr lang="en-US" altLang="zh-CN" sz="2400" b="1" dirty="0">
                <a:solidFill>
                  <a:srgbClr val="FF0000"/>
                </a:solidFill>
              </a:rPr>
              <a:t>=buffer[out]</a:t>
            </a:r>
            <a:r>
              <a:rPr lang="zh-CN" altLang="en-US" sz="2400" b="1" dirty="0">
                <a:solidFill>
                  <a:srgbClr val="FF0000"/>
                </a:solidFill>
              </a:rPr>
              <a:t>；</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out</a:t>
            </a:r>
            <a:r>
              <a:rPr lang="zh-CN" altLang="en-US" sz="2400" b="1" dirty="0">
                <a:solidFill>
                  <a:srgbClr val="FF0000"/>
                </a:solidFill>
              </a:rPr>
              <a:t>：</a:t>
            </a:r>
            <a:r>
              <a:rPr lang="en-US" altLang="zh-CN" sz="2400" b="1" dirty="0">
                <a:solidFill>
                  <a:srgbClr val="FF0000"/>
                </a:solidFill>
              </a:rPr>
              <a:t>= </a:t>
            </a:r>
            <a:r>
              <a:rPr lang="zh-CN" altLang="en-US" sz="2400" b="1" dirty="0">
                <a:solidFill>
                  <a:srgbClr val="FF0000"/>
                </a:solidFill>
              </a:rPr>
              <a:t>（</a:t>
            </a:r>
            <a:r>
              <a:rPr lang="en-US" altLang="zh-CN" sz="2400" b="1" dirty="0">
                <a:solidFill>
                  <a:srgbClr val="FF0000"/>
                </a:solidFill>
              </a:rPr>
              <a:t>out</a:t>
            </a:r>
            <a:r>
              <a:rPr lang="zh-CN" altLang="en-US" sz="2400" b="1" dirty="0">
                <a:solidFill>
                  <a:srgbClr val="FF0000"/>
                </a:solidFill>
              </a:rPr>
              <a:t>十</a:t>
            </a:r>
            <a:r>
              <a:rPr lang="en-US" altLang="zh-CN" sz="2400" b="1" dirty="0">
                <a:solidFill>
                  <a:srgbClr val="FF0000"/>
                </a:solidFill>
              </a:rPr>
              <a:t>1</a:t>
            </a:r>
            <a:r>
              <a:rPr lang="zh-CN" altLang="en-US" sz="2400" b="1" dirty="0">
                <a:solidFill>
                  <a:srgbClr val="FF0000"/>
                </a:solidFill>
              </a:rPr>
              <a:t>）</a:t>
            </a:r>
            <a:r>
              <a:rPr lang="en-US" altLang="zh-CN" sz="2400" b="1" dirty="0">
                <a:solidFill>
                  <a:srgbClr val="FF0000"/>
                </a:solidFill>
              </a:rPr>
              <a:t>% n;</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signal</a:t>
            </a:r>
            <a:r>
              <a:rPr lang="zh-CN" altLang="en-US" sz="2400" b="1" dirty="0">
                <a:solidFill>
                  <a:srgbClr val="FF0000"/>
                </a:solidFill>
              </a:rPr>
              <a:t>（</a:t>
            </a:r>
            <a:r>
              <a:rPr lang="en-US" altLang="zh-CN" sz="2400" b="1" dirty="0">
                <a:solidFill>
                  <a:srgbClr val="FF0000"/>
                </a:solidFill>
              </a:rPr>
              <a:t>mutex</a:t>
            </a:r>
            <a:r>
              <a:rPr lang="zh-CN" altLang="en-US" sz="2400" b="1" dirty="0">
                <a:solidFill>
                  <a:srgbClr val="FF0000"/>
                </a:solidFill>
              </a:rPr>
              <a:t>）；</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signal</a:t>
            </a:r>
            <a:r>
              <a:rPr lang="zh-CN" altLang="en-US" sz="2400" b="1" dirty="0">
                <a:solidFill>
                  <a:srgbClr val="FF0000"/>
                </a:solidFill>
              </a:rPr>
              <a:t>（</a:t>
            </a:r>
            <a:r>
              <a:rPr lang="en-US" altLang="zh-CN" sz="2400" b="1" dirty="0">
                <a:solidFill>
                  <a:srgbClr val="FF0000"/>
                </a:solidFill>
              </a:rPr>
              <a:t>empty</a:t>
            </a:r>
            <a:r>
              <a:rPr lang="zh-CN" altLang="en-US" sz="2400" b="1" dirty="0">
                <a:solidFill>
                  <a:srgbClr val="FF0000"/>
                </a:solidFill>
              </a:rPr>
              <a:t>）；</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consumer  the item  in  nextc;</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a:t>
            </a:r>
            <a:endParaRPr lang="zh-CN" altLang="en-US"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 while(TRUE)</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endParaRPr lang="en-US" altLang="zh-CN" sz="2400" b="1" dirty="0">
              <a:solidFill>
                <a:srgbClr val="003300"/>
              </a:solidFill>
            </a:endParaRPr>
          </a:p>
          <a:p>
            <a:pPr marL="0" lvl="0" indent="0" eaLnBrk="1" hangingPunct="1">
              <a:spcBef>
                <a:spcPct val="0"/>
              </a:spcBef>
              <a:buClrTx/>
              <a:buSzTx/>
              <a:buFontTx/>
              <a:buNone/>
            </a:pPr>
            <a:endParaRPr lang="zh-CN" altLang="en-US" sz="2400" b="1" dirty="0">
              <a:solidFill>
                <a:srgbClr val="003300"/>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02" name="Rectangle 2"/>
          <p:cNvSpPr>
            <a:spLocks noGrp="1" noRot="1" noChangeArrowheads="1"/>
          </p:cNvSpPr>
          <p:nvPr>
            <p:ph type="title"/>
          </p:nvPr>
        </p:nvSpPr>
        <p:spPr>
          <a:xfrm>
            <a:off x="685800" y="228600"/>
            <a:ext cx="7772400" cy="9144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rPr>
              <a:t>注意</a:t>
            </a:r>
            <a:endParaRPr kumimoji="0" lang="zh-CN" altLang="en-US" sz="4400" b="1" i="0" u="sng" strike="noStrike" kern="0" cap="none" spc="0" normalizeH="0" baseline="0" noProof="0" smtClean="0">
              <a:ln>
                <a:noFill/>
              </a:ln>
              <a:solidFill>
                <a:srgbClr val="FF0000"/>
              </a:solidFill>
              <a:effectLst>
                <a:outerShdw blurRad="38100" dist="38100" dir="2700000" algn="tl">
                  <a:srgbClr val="C0C0C0"/>
                </a:outerShdw>
              </a:effectLst>
              <a:uLnTx/>
              <a:uFillTx/>
              <a:latin typeface="+mj-lt"/>
              <a:ea typeface="仿宋_GB2312" pitchFamily="49" charset="-122"/>
              <a:cs typeface="+mj-cs"/>
            </a:endParaRPr>
          </a:p>
        </p:txBody>
      </p:sp>
      <p:sp>
        <p:nvSpPr>
          <p:cNvPr id="614403" name="Rectangle 3"/>
          <p:cNvSpPr>
            <a:spLocks noGrp="1" noRot="1" noChangeArrowheads="1"/>
          </p:cNvSpPr>
          <p:nvPr>
            <p:ph type="body" idx="1"/>
          </p:nvPr>
        </p:nvSpPr>
        <p:spPr>
          <a:xfrm>
            <a:off x="304800" y="1676400"/>
            <a:ext cx="8534400" cy="4648200"/>
          </a:xfrm>
        </p:spPr>
        <p:txBody>
          <a:bodyPr vert="horz" wrap="square" lIns="91440" tIns="45720" rIns="91440" bIns="45720" numCol="1" anchor="t" anchorCtr="0" compatLnSpc="1"/>
          <a:lstStyle/>
          <a:p>
            <a:pPr marL="533400" marR="0" lvl="0" indent="-533400" algn="just" defTabSz="914400" rtl="0" eaLnBrk="1" fontAlgn="base" latinLnBrk="0" hangingPunct="1">
              <a:lnSpc>
                <a:spcPct val="90000"/>
              </a:lnSpc>
              <a:spcBef>
                <a:spcPct val="20000"/>
              </a:spcBef>
              <a:spcAft>
                <a:spcPct val="0"/>
              </a:spcAft>
              <a:buClr>
                <a:schemeClr val="folHlink"/>
              </a:buClr>
              <a:buSzPct val="85000"/>
              <a:buFontTx/>
              <a:buAutoNum type="arabicPeriod"/>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进程应该先申请资源信号量，再申请互斥信号量，顺序不能颠倒。</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533400" marR="0" lvl="0" indent="-533400" algn="just" defTabSz="914400" rtl="0" eaLnBrk="1" fontAlgn="base" latinLnBrk="0" hangingPunct="1">
              <a:lnSpc>
                <a:spcPct val="90000"/>
              </a:lnSpc>
              <a:spcBef>
                <a:spcPct val="20000"/>
              </a:spcBef>
              <a:spcAft>
                <a:spcPct val="0"/>
              </a:spcAft>
              <a:buClr>
                <a:schemeClr val="folHlink"/>
              </a:buClr>
              <a:buSzPct val="85000"/>
              <a:buFontTx/>
              <a:buAutoNum type="arabicPeriod"/>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对任何信号量的</a:t>
            </a:r>
            <a:r>
              <a:rPr kumimoji="0" lang="en-US" altLang="zh-CN"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与</a:t>
            </a:r>
            <a:r>
              <a:rPr kumimoji="0" lang="en-US" altLang="zh-CN"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操作必须配对</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。同一进程中的多对</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与</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语句只能嵌套，不能交叉。</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533400" marR="0" lvl="0" indent="-533400" algn="just" defTabSz="914400" rtl="0" eaLnBrk="1" fontAlgn="base" latinLnBrk="0" hangingPunct="1">
              <a:lnSpc>
                <a:spcPct val="90000"/>
              </a:lnSpc>
              <a:spcBef>
                <a:spcPct val="20000"/>
              </a:spcBef>
              <a:spcAft>
                <a:spcPct val="0"/>
              </a:spcAft>
              <a:buClr>
                <a:schemeClr val="folHlink"/>
              </a:buClr>
              <a:buSzPct val="85000"/>
              <a:buFontTx/>
              <a:buAutoNum type="arabicPeriod"/>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对同一个</a:t>
            </a: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仿宋_GB2312" pitchFamily="49" charset="-122"/>
                <a:cs typeface="+mn-cs"/>
              </a:rPr>
              <a:t>资源信号量</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的</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与</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可以不在同一个进程中。</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533400" marR="0" lvl="0" indent="-533400" algn="just" defTabSz="914400" rtl="0" eaLnBrk="1" fontAlgn="base" latinLnBrk="0" hangingPunct="1">
              <a:lnSpc>
                <a:spcPct val="90000"/>
              </a:lnSpc>
              <a:spcBef>
                <a:spcPct val="20000"/>
              </a:spcBef>
              <a:spcAft>
                <a:spcPct val="0"/>
              </a:spcAft>
              <a:buClr>
                <a:schemeClr val="folHlink"/>
              </a:buClr>
              <a:buSzPct val="85000"/>
              <a:buFontTx/>
              <a:buAutoNum type="arabicPeriod"/>
              <a:defRPr/>
            </a:pP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与</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语句不能颠倒顺序，</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wait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语句一定先于</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signal</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语句。</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4402"/>
                                        </p:tgtEl>
                                        <p:attrNameLst>
                                          <p:attrName>style.visibility</p:attrName>
                                        </p:attrNameLst>
                                      </p:cBhvr>
                                      <p:to>
                                        <p:strVal val="visible"/>
                                      </p:to>
                                    </p:set>
                                    <p:animEffect transition="in" filter="fade">
                                      <p:cBhvr>
                                        <p:cTn id="7" dur="2000"/>
                                        <p:tgtEl>
                                          <p:spTgt spid="6144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403">
                                            <p:txEl>
                                              <p:charRg st="0" end="30"/>
                                            </p:txEl>
                                          </p:spTgt>
                                        </p:tgtEl>
                                        <p:attrNameLst>
                                          <p:attrName>style.visibility</p:attrName>
                                        </p:attrNameLst>
                                      </p:cBhvr>
                                      <p:to>
                                        <p:strVal val="visible"/>
                                      </p:to>
                                    </p:set>
                                    <p:animEffect transition="in" filter="fade">
                                      <p:cBhvr>
                                        <p:cTn id="12" dur="2000"/>
                                        <p:tgtEl>
                                          <p:spTgt spid="614403">
                                            <p:txEl>
                                              <p:charRg st="0"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403">
                                            <p:txEl>
                                              <p:charRg st="30" end="87"/>
                                            </p:txEl>
                                          </p:spTgt>
                                        </p:tgtEl>
                                        <p:attrNameLst>
                                          <p:attrName>style.visibility</p:attrName>
                                        </p:attrNameLst>
                                      </p:cBhvr>
                                      <p:to>
                                        <p:strVal val="visible"/>
                                      </p:to>
                                    </p:set>
                                    <p:animEffect transition="in" filter="fade">
                                      <p:cBhvr>
                                        <p:cTn id="17" dur="2000"/>
                                        <p:tgtEl>
                                          <p:spTgt spid="614403">
                                            <p:txEl>
                                              <p:charRg st="30" end="8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403">
                                            <p:txEl>
                                              <p:charRg st="87" end="120"/>
                                            </p:txEl>
                                          </p:spTgt>
                                        </p:tgtEl>
                                        <p:attrNameLst>
                                          <p:attrName>style.visibility</p:attrName>
                                        </p:attrNameLst>
                                      </p:cBhvr>
                                      <p:to>
                                        <p:strVal val="visible"/>
                                      </p:to>
                                    </p:set>
                                    <p:animEffect transition="in" filter="fade">
                                      <p:cBhvr>
                                        <p:cTn id="22" dur="2000"/>
                                        <p:tgtEl>
                                          <p:spTgt spid="614403">
                                            <p:txEl>
                                              <p:charRg st="87" end="12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403">
                                            <p:txEl>
                                              <p:charRg st="120" end="160"/>
                                            </p:txEl>
                                          </p:spTgt>
                                        </p:tgtEl>
                                        <p:attrNameLst>
                                          <p:attrName>style.visibility</p:attrName>
                                        </p:attrNameLst>
                                      </p:cBhvr>
                                      <p:to>
                                        <p:strVal val="visible"/>
                                      </p:to>
                                    </p:set>
                                    <p:animEffect transition="in" filter="fade">
                                      <p:cBhvr>
                                        <p:cTn id="27" dur="2000"/>
                                        <p:tgtEl>
                                          <p:spTgt spid="614403">
                                            <p:txEl>
                                              <p:charRg st="120" end="1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02" grpId="0"/>
      <p:bldP spid="614403"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426" name="Rectangle 2"/>
          <p:cNvSpPr>
            <a:spLocks noRot="1" noChangeArrowheads="1"/>
          </p:cNvSpPr>
          <p:nvPr/>
        </p:nvSpPr>
        <p:spPr bwMode="auto">
          <a:xfrm>
            <a:off x="762000" y="1524000"/>
            <a:ext cx="7772400" cy="1524000"/>
          </a:xfrm>
          <a:prstGeom prst="rect">
            <a:avLst/>
          </a:prstGeom>
          <a:gradFill rotWithShape="0">
            <a:gsLst>
              <a:gs pos="0">
                <a:srgbClr val="404552"/>
              </a:gs>
              <a:gs pos="50000">
                <a:schemeClr val="accent1"/>
              </a:gs>
              <a:gs pos="100000">
                <a:srgbClr val="404552"/>
              </a:gs>
            </a:gsLst>
            <a:lin ang="5400000" scaled="1"/>
          </a:gradFill>
          <a:ln w="9525">
            <a:noFill/>
            <a:miter lim="800000"/>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n-cs"/>
              </a:rPr>
              <a:t>2.5.2 </a:t>
            </a:r>
            <a:r>
              <a:rPr kumimoji="0" lang="zh-CN" altLang="en-US" sz="4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n-cs"/>
              </a:rPr>
              <a:t>哲学家就餐问题</a:t>
            </a:r>
            <a:endParaRPr kumimoji="0" lang="zh-CN" altLang="en-US" sz="4800" b="1" i="0" u="none" strike="noStrike" kern="1200" cap="none" spc="0" normalizeH="0" baseline="0" noProof="0" dirty="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n-cs"/>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noRot="1"/>
          </p:cNvSpPr>
          <p:nvPr>
            <p:ph type="title"/>
          </p:nvPr>
        </p:nvSpPr>
        <p:spPr/>
        <p:txBody>
          <a:bodyPr vert="horz" wrap="square" lIns="91440" tIns="45720" rIns="91440" bIns="45720" anchor="ctr" anchorCtr="0"/>
          <a:p>
            <a:pPr eaLnBrk="1" hangingPunct="1"/>
            <a:r>
              <a:rPr lang="zh-CN" altLang="en-US" dirty="0"/>
              <a:t>问题描述</a:t>
            </a:r>
            <a:endParaRPr lang="zh-CN" altLang="en-US" dirty="0"/>
          </a:p>
        </p:txBody>
      </p:sp>
      <p:sp>
        <p:nvSpPr>
          <p:cNvPr id="129027" name="Rectangle 3"/>
          <p:cNvSpPr>
            <a:spLocks noGrp="1" noRot="1"/>
          </p:cNvSpPr>
          <p:nvPr>
            <p:ph type="body"/>
          </p:nvPr>
        </p:nvSpPr>
        <p:spPr>
          <a:xfrm>
            <a:off x="76200" y="1216025"/>
            <a:ext cx="8763000" cy="4498975"/>
          </a:xfrm>
        </p:spPr>
        <p:txBody>
          <a:bodyPr vert="horz" wrap="square" lIns="91440" tIns="45720" rIns="91440" bIns="45720" anchor="t" anchorCtr="0"/>
          <a:p>
            <a:pPr lvl="2" eaLnBrk="1" hangingPunct="1">
              <a:spcBef>
                <a:spcPct val="0"/>
              </a:spcBef>
              <a:buClrTx/>
              <a:buSzTx/>
              <a:buFontTx/>
              <a:buNone/>
            </a:pPr>
            <a:endParaRPr lang="zh-CN" altLang="en-US" b="1" dirty="0"/>
          </a:p>
          <a:p>
            <a:pPr eaLnBrk="1" hangingPunct="1"/>
            <a:r>
              <a:rPr lang="zh-CN" altLang="en-US" b="1" dirty="0"/>
              <a:t>五个哲学家五只筷子，哲学家循环做着思考和吃饭的动作，吃饭程序是：先取左边筷子，再取右边筷子，再吃饭，再放筷子。</a:t>
            </a:r>
            <a:endParaRPr lang="zh-CN" altLang="en-US" b="1" dirty="0"/>
          </a:p>
        </p:txBody>
      </p:sp>
      <p:sp>
        <p:nvSpPr>
          <p:cNvPr id="136196" name="Oval 4"/>
          <p:cNvSpPr/>
          <p:nvPr/>
        </p:nvSpPr>
        <p:spPr>
          <a:xfrm>
            <a:off x="3200400" y="3733800"/>
            <a:ext cx="2514600" cy="2438400"/>
          </a:xfrm>
          <a:prstGeom prst="ellipse">
            <a:avLst/>
          </a:prstGeom>
          <a:solidFill>
            <a:schemeClr val="tx2"/>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197" name="Oval 5"/>
          <p:cNvSpPr/>
          <p:nvPr/>
        </p:nvSpPr>
        <p:spPr>
          <a:xfrm>
            <a:off x="4343400" y="55626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198" name="Oval 6"/>
          <p:cNvSpPr/>
          <p:nvPr/>
        </p:nvSpPr>
        <p:spPr>
          <a:xfrm>
            <a:off x="5105400" y="49530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199" name="Oval 7"/>
          <p:cNvSpPr/>
          <p:nvPr/>
        </p:nvSpPr>
        <p:spPr>
          <a:xfrm>
            <a:off x="4648200" y="4038600"/>
            <a:ext cx="457200" cy="457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0" name="Oval 8"/>
          <p:cNvSpPr/>
          <p:nvPr/>
        </p:nvSpPr>
        <p:spPr>
          <a:xfrm>
            <a:off x="3657600" y="41910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1" name="Oval 9"/>
          <p:cNvSpPr/>
          <p:nvPr/>
        </p:nvSpPr>
        <p:spPr>
          <a:xfrm>
            <a:off x="3505200" y="5105400"/>
            <a:ext cx="381000" cy="381000"/>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2" name="Line 10"/>
          <p:cNvSpPr/>
          <p:nvPr/>
        </p:nvSpPr>
        <p:spPr>
          <a:xfrm flipH="1">
            <a:off x="3962400" y="5410200"/>
            <a:ext cx="228600" cy="381000"/>
          </a:xfrm>
          <a:prstGeom prst="line">
            <a:avLst/>
          </a:prstGeom>
          <a:ln w="28575" cap="flat" cmpd="sng">
            <a:solidFill>
              <a:schemeClr val="bg2"/>
            </a:solidFill>
            <a:prstDash val="solid"/>
            <a:headEnd type="none" w="med" len="med"/>
            <a:tailEnd type="none" w="med" len="med"/>
          </a:ln>
        </p:spPr>
      </p:sp>
      <p:sp>
        <p:nvSpPr>
          <p:cNvPr id="136203" name="Line 11"/>
          <p:cNvSpPr/>
          <p:nvPr/>
        </p:nvSpPr>
        <p:spPr>
          <a:xfrm>
            <a:off x="4800600" y="5410200"/>
            <a:ext cx="304800" cy="304800"/>
          </a:xfrm>
          <a:prstGeom prst="line">
            <a:avLst/>
          </a:prstGeom>
          <a:ln w="28575" cap="flat" cmpd="sng">
            <a:solidFill>
              <a:schemeClr val="bg2"/>
            </a:solidFill>
            <a:prstDash val="solid"/>
            <a:headEnd type="none" w="med" len="med"/>
            <a:tailEnd type="none" w="med" len="med"/>
          </a:ln>
        </p:spPr>
      </p:sp>
      <p:sp>
        <p:nvSpPr>
          <p:cNvPr id="136204" name="Line 12"/>
          <p:cNvSpPr/>
          <p:nvPr/>
        </p:nvSpPr>
        <p:spPr>
          <a:xfrm flipV="1">
            <a:off x="5105400" y="4648200"/>
            <a:ext cx="304800" cy="152400"/>
          </a:xfrm>
          <a:prstGeom prst="line">
            <a:avLst/>
          </a:prstGeom>
          <a:ln w="28575" cap="flat" cmpd="sng">
            <a:solidFill>
              <a:schemeClr val="bg2"/>
            </a:solidFill>
            <a:prstDash val="solid"/>
            <a:headEnd type="none" w="med" len="med"/>
            <a:tailEnd type="none" w="med" len="med"/>
          </a:ln>
        </p:spPr>
      </p:sp>
      <p:sp>
        <p:nvSpPr>
          <p:cNvPr id="136205" name="Line 13"/>
          <p:cNvSpPr/>
          <p:nvPr/>
        </p:nvSpPr>
        <p:spPr>
          <a:xfrm flipH="1" flipV="1">
            <a:off x="4267200" y="4038600"/>
            <a:ext cx="76200" cy="457200"/>
          </a:xfrm>
          <a:prstGeom prst="line">
            <a:avLst/>
          </a:prstGeom>
          <a:ln w="28575" cap="flat" cmpd="sng">
            <a:solidFill>
              <a:schemeClr val="bg2"/>
            </a:solidFill>
            <a:prstDash val="solid"/>
            <a:headEnd type="none" w="med" len="med"/>
            <a:tailEnd type="none" w="med" len="med"/>
          </a:ln>
        </p:spPr>
      </p:sp>
      <p:sp>
        <p:nvSpPr>
          <p:cNvPr id="136206" name="Line 14"/>
          <p:cNvSpPr/>
          <p:nvPr/>
        </p:nvSpPr>
        <p:spPr>
          <a:xfrm>
            <a:off x="3429000" y="4800600"/>
            <a:ext cx="457200" cy="0"/>
          </a:xfrm>
          <a:prstGeom prst="line">
            <a:avLst/>
          </a:prstGeom>
          <a:ln w="28575" cap="flat" cmpd="sng">
            <a:solidFill>
              <a:schemeClr val="bg2"/>
            </a:solidFill>
            <a:prstDash val="solid"/>
            <a:headEnd type="none" w="med" len="med"/>
            <a:tailEnd type="none" w="med" len="med"/>
          </a:ln>
        </p:spPr>
      </p:sp>
      <p:sp>
        <p:nvSpPr>
          <p:cNvPr id="136207" name="Oval 15"/>
          <p:cNvSpPr/>
          <p:nvPr/>
        </p:nvSpPr>
        <p:spPr>
          <a:xfrm>
            <a:off x="5105400" y="34290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8" name="Oval 16"/>
          <p:cNvSpPr/>
          <p:nvPr/>
        </p:nvSpPr>
        <p:spPr>
          <a:xfrm>
            <a:off x="5943600" y="51054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09" name="Oval 17"/>
          <p:cNvSpPr/>
          <p:nvPr/>
        </p:nvSpPr>
        <p:spPr>
          <a:xfrm>
            <a:off x="3124200" y="37338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10" name="Oval 18"/>
          <p:cNvSpPr/>
          <p:nvPr/>
        </p:nvSpPr>
        <p:spPr>
          <a:xfrm>
            <a:off x="2819400" y="5410200"/>
            <a:ext cx="381000" cy="3810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36211" name="Oval 19"/>
          <p:cNvSpPr/>
          <p:nvPr/>
        </p:nvSpPr>
        <p:spPr>
          <a:xfrm>
            <a:off x="4495800" y="6324600"/>
            <a:ext cx="304800" cy="304800"/>
          </a:xfrm>
          <a:prstGeom prst="ellipse">
            <a:avLst/>
          </a:prstGeom>
          <a:solidFill>
            <a:schemeClr val="folHlink"/>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fade">
                                      <p:cBhvr>
                                        <p:cTn id="7" dur="2000"/>
                                        <p:tgtEl>
                                          <p:spTgt spid="129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9027">
                                            <p:txEl>
                                              <p:charRg st="1" end="57"/>
                                            </p:txEl>
                                          </p:spTgt>
                                        </p:tgtEl>
                                        <p:attrNameLst>
                                          <p:attrName>style.visibility</p:attrName>
                                        </p:attrNameLst>
                                      </p:cBhvr>
                                      <p:to>
                                        <p:strVal val="visible"/>
                                      </p:to>
                                    </p:set>
                                    <p:animEffect transition="in" filter="fade">
                                      <p:cBhvr>
                                        <p:cTn id="12" dur="2000"/>
                                        <p:tgtEl>
                                          <p:spTgt spid="129027">
                                            <p:txEl>
                                              <p:charRg st="1" end="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p:bldP spid="129027"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noRot="1"/>
          </p:cNvSpPr>
          <p:nvPr>
            <p:ph type="title"/>
          </p:nvPr>
        </p:nvSpPr>
        <p:spPr>
          <a:xfrm>
            <a:off x="533400" y="304800"/>
            <a:ext cx="8077200" cy="1066800"/>
          </a:xfrm>
        </p:spPr>
        <p:txBody>
          <a:bodyPr vert="horz" wrap="square" lIns="91440" tIns="45720" rIns="91440" bIns="45720" anchor="ctr" anchorCtr="0"/>
          <a:p>
            <a:pPr eaLnBrk="1" hangingPunct="1"/>
            <a:r>
              <a:rPr lang="zh-CN" altLang="en-US" sz="4000" b="1" dirty="0">
                <a:solidFill>
                  <a:schemeClr val="folHlink"/>
                </a:solidFill>
              </a:rPr>
              <a:t>利用记录型信号量解决</a:t>
            </a:r>
            <a:br>
              <a:rPr lang="zh-CN" altLang="en-US" sz="4000" b="1" dirty="0">
                <a:solidFill>
                  <a:schemeClr val="folHlink"/>
                </a:solidFill>
              </a:rPr>
            </a:br>
            <a:r>
              <a:rPr lang="zh-CN" altLang="en-US" sz="4000" b="1" dirty="0">
                <a:solidFill>
                  <a:schemeClr val="folHlink"/>
                </a:solidFill>
              </a:rPr>
              <a:t>哲学家进餐问题</a:t>
            </a:r>
            <a:endParaRPr lang="zh-CN" altLang="en-US" sz="4000" b="1" dirty="0">
              <a:solidFill>
                <a:schemeClr val="folHlink"/>
              </a:solidFill>
            </a:endParaRPr>
          </a:p>
        </p:txBody>
      </p:sp>
      <p:sp>
        <p:nvSpPr>
          <p:cNvPr id="130051" name="Rectangle 3"/>
          <p:cNvSpPr>
            <a:spLocks noGrp="1" noRot="1"/>
          </p:cNvSpPr>
          <p:nvPr>
            <p:ph type="body"/>
          </p:nvPr>
        </p:nvSpPr>
        <p:spPr>
          <a:xfrm>
            <a:off x="381000" y="1673225"/>
            <a:ext cx="8305800" cy="4498975"/>
          </a:xfrm>
        </p:spPr>
        <p:txBody>
          <a:bodyPr vert="horz" wrap="square" lIns="91440" tIns="45720" rIns="91440" bIns="45720" anchor="t" anchorCtr="0"/>
          <a:p>
            <a:pPr eaLnBrk="1" hangingPunct="1"/>
            <a:r>
              <a:rPr lang="zh-CN" altLang="en-US" dirty="0"/>
              <a:t> </a:t>
            </a:r>
            <a:r>
              <a:rPr lang="zh-CN" altLang="en-US" b="1" dirty="0"/>
              <a:t>经分析可知，放在桌子上的筷子是临界资源，在一段时间内只允许一位哲学家使用。为了实现对筷子的互斥使用，可以用一个信号量表示一只筷子，由这五个信号量构成信号量数组。其描述如下：</a:t>
            </a:r>
            <a:endParaRPr lang="zh-CN" altLang="en-US" b="1" dirty="0"/>
          </a:p>
          <a:p>
            <a:pPr eaLnBrk="1" hangingPunct="1"/>
            <a:r>
              <a:rPr lang="zh-CN" altLang="en-US" b="1" dirty="0"/>
              <a:t> </a:t>
            </a:r>
            <a:r>
              <a:rPr lang="en-US" altLang="zh-CN" b="1" dirty="0"/>
              <a:t>semaphore chopstick chopstick[5]={1,1,1,1,1} ;</a:t>
            </a:r>
            <a:endParaRPr lang="en-US" altLang="zh-CN" b="1" dirty="0"/>
          </a:p>
          <a:p>
            <a:pPr eaLnBrk="1" hangingPunct="1"/>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0050"/>
                                        </p:tgtEl>
                                        <p:attrNameLst>
                                          <p:attrName>style.visibility</p:attrName>
                                        </p:attrNameLst>
                                      </p:cBhvr>
                                      <p:to>
                                        <p:strVal val="visible"/>
                                      </p:to>
                                    </p:set>
                                    <p:animEffect transition="in" filter="fade">
                                      <p:cBhvr>
                                        <p:cTn id="7" dur="2000"/>
                                        <p:tgtEl>
                                          <p:spTgt spid="130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0051">
                                            <p:txEl>
                                              <p:charRg st="0" end="88"/>
                                            </p:txEl>
                                          </p:spTgt>
                                        </p:tgtEl>
                                        <p:attrNameLst>
                                          <p:attrName>style.visibility</p:attrName>
                                        </p:attrNameLst>
                                      </p:cBhvr>
                                      <p:to>
                                        <p:strVal val="visible"/>
                                      </p:to>
                                    </p:set>
                                    <p:animEffect transition="in" filter="fade">
                                      <p:cBhvr>
                                        <p:cTn id="12" dur="2000"/>
                                        <p:tgtEl>
                                          <p:spTgt spid="130051">
                                            <p:txEl>
                                              <p:charRg st="0" end="8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0051">
                                            <p:txEl>
                                              <p:charRg st="88" end="136"/>
                                            </p:txEl>
                                          </p:spTgt>
                                        </p:tgtEl>
                                        <p:attrNameLst>
                                          <p:attrName>style.visibility</p:attrName>
                                        </p:attrNameLst>
                                      </p:cBhvr>
                                      <p:to>
                                        <p:strVal val="visible"/>
                                      </p:to>
                                    </p:set>
                                    <p:animEffect transition="in" filter="fade">
                                      <p:cBhvr>
                                        <p:cTn id="17" dur="2000"/>
                                        <p:tgtEl>
                                          <p:spTgt spid="130051">
                                            <p:txEl>
                                              <p:charRg st="88"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p:bldP spid="130051"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500" name="Rectangle 4"/>
          <p:cNvSpPr>
            <a:spLocks noChangeArrowheads="1"/>
          </p:cNvSpPr>
          <p:nvPr/>
        </p:nvSpPr>
        <p:spPr bwMode="auto">
          <a:xfrm>
            <a:off x="228600" y="0"/>
            <a:ext cx="8458200" cy="143351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实现：</a:t>
            </a:r>
            <a:endParaRPr kumimoji="1" lang="zh-CN" altLang="en-US" sz="32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为每个筷子设一把锁（信号量，初值为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a:t>
            </a: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r>
            <a:endPar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每个哲学家是一个进程。</a:t>
            </a:r>
            <a:endPar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8243" name="Rectangle 5"/>
          <p:cNvSpPr/>
          <p:nvPr/>
        </p:nvSpPr>
        <p:spPr>
          <a:xfrm>
            <a:off x="228600" y="1433513"/>
            <a:ext cx="7696200" cy="4586287"/>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3300"/>
                </a:solidFill>
              </a:rPr>
              <a:t>Do{</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wait</a:t>
            </a:r>
            <a:r>
              <a:rPr lang="zh-CN" altLang="en-US" sz="2400" b="1" dirty="0">
                <a:solidFill>
                  <a:srgbClr val="003300"/>
                </a:solidFill>
              </a:rPr>
              <a:t>（</a:t>
            </a:r>
            <a:r>
              <a:rPr lang="en-US" altLang="zh-CN" sz="2400" b="1" dirty="0">
                <a:solidFill>
                  <a:srgbClr val="003300"/>
                </a:solidFill>
              </a:rPr>
              <a:t>chopstick[i]</a:t>
            </a:r>
            <a:r>
              <a:rPr lang="zh-CN" altLang="en-US" sz="2400" b="1" dirty="0">
                <a:solidFill>
                  <a:srgbClr val="003300"/>
                </a:solidFill>
              </a:rPr>
              <a:t>）</a:t>
            </a:r>
            <a:r>
              <a:rPr lang="en-US" altLang="zh-CN" sz="2400" b="1" dirty="0">
                <a:solidFill>
                  <a:srgbClr val="003300"/>
                </a:solidFill>
              </a:rPr>
              <a:t>;</a:t>
            </a:r>
            <a:r>
              <a:rPr lang="zh-CN" altLang="en-US" sz="2400" b="1" dirty="0">
                <a:solidFill>
                  <a:srgbClr val="003300"/>
                </a:solidFill>
              </a:rPr>
              <a:t>取左筷子；</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wait(chopstick[(i+1)%5])</a:t>
            </a:r>
            <a:r>
              <a:rPr lang="zh-CN" altLang="en-US" sz="2400" b="1" dirty="0">
                <a:solidFill>
                  <a:srgbClr val="003300"/>
                </a:solidFill>
              </a:rPr>
              <a:t>；取右筷子；</a:t>
            </a:r>
            <a:endParaRPr lang="zh-CN" altLang="en-US"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r>
              <a:rPr lang="zh-CN" altLang="en-US" sz="2400" b="1" dirty="0">
                <a:solidFill>
                  <a:srgbClr val="003300"/>
                </a:solidFill>
              </a:rPr>
              <a:t>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eat;</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endParaRPr lang="en-US" altLang="zh-CN"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signal(chopstick[i]);</a:t>
            </a:r>
            <a:r>
              <a:rPr lang="zh-CN" altLang="en-US" sz="2400" b="1" dirty="0">
                <a:solidFill>
                  <a:srgbClr val="003300"/>
                </a:solidFill>
              </a:rPr>
              <a:t>放左筷子</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signal (Chopstick[(i+1)% 5]</a:t>
            </a:r>
            <a:r>
              <a:rPr lang="zh-CN" altLang="en-US" sz="2400" b="1" dirty="0">
                <a:solidFill>
                  <a:srgbClr val="003300"/>
                </a:solidFill>
              </a:rPr>
              <a:t>；放右筷子；</a:t>
            </a:r>
            <a:endParaRPr lang="zh-CN" altLang="en-US"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r>
              <a:rPr lang="zh-CN" altLang="en-US" sz="2400" b="1" dirty="0">
                <a:solidFill>
                  <a:srgbClr val="003300"/>
                </a:solidFill>
              </a:rPr>
              <a:t>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think;</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while[TRUE];</a:t>
            </a:r>
            <a:endParaRPr lang="en-US" altLang="zh-CN" sz="2400" b="1" dirty="0">
              <a:solidFill>
                <a:srgbClr val="003300"/>
              </a:solidFill>
            </a:endParaRPr>
          </a:p>
          <a:p>
            <a:pPr marL="0" lvl="0" indent="0" eaLnBrk="1" hangingPunct="1">
              <a:spcBef>
                <a:spcPct val="0"/>
              </a:spcBef>
              <a:buClrTx/>
              <a:buSzTx/>
              <a:buFontTx/>
              <a:buNone/>
            </a:pPr>
            <a:endParaRPr lang="zh-CN" altLang="en-US" sz="2400" dirty="0">
              <a:solidFill>
                <a:srgbClr val="003300"/>
              </a:solidFill>
            </a:endParaRPr>
          </a:p>
        </p:txBody>
      </p:sp>
      <p:sp>
        <p:nvSpPr>
          <p:cNvPr id="362502" name="Rectangle 6"/>
          <p:cNvSpPr>
            <a:spLocks noChangeArrowheads="1"/>
          </p:cNvSpPr>
          <p:nvPr/>
        </p:nvSpPr>
        <p:spPr bwMode="auto">
          <a:xfrm>
            <a:off x="228600" y="6096000"/>
            <a:ext cx="8686800" cy="519113"/>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a:t>
            </a:r>
            <a:r>
              <a:rPr kumimoji="1" lang="zh-CN" altLang="en-US"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这可能导致死锁！！！</a:t>
            </a:r>
            <a:r>
              <a:rPr kumimoji="1" lang="en-US" altLang="zh-CN"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 </a:t>
            </a:r>
            <a:r>
              <a:rPr kumimoji="1" lang="zh-CN" altLang="en-US"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rPr>
              <a:t>第三章讲死锁时再讲</a:t>
            </a:r>
            <a:endParaRPr kumimoji="1" lang="zh-CN" altLang="en-US" sz="28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noRot="1"/>
          </p:cNvSpPr>
          <p:nvPr>
            <p:ph type="title"/>
          </p:nvPr>
        </p:nvSpPr>
        <p:spPr/>
        <p:txBody>
          <a:bodyPr vert="horz" wrap="square" lIns="91440" tIns="45720" rIns="91440" bIns="45720" anchor="ctr" anchorCtr="0"/>
          <a:p>
            <a:r>
              <a:rPr lang="en-US" altLang="zh-CN" sz="3600" b="1" dirty="0"/>
              <a:t>2. </a:t>
            </a:r>
            <a:r>
              <a:rPr lang="zh-CN" altLang="en-US" sz="3600" b="1" dirty="0"/>
              <a:t>利用</a:t>
            </a:r>
            <a:r>
              <a:rPr lang="en-US" altLang="zh-CN" sz="3600" b="1" dirty="0"/>
              <a:t>AND</a:t>
            </a:r>
            <a:r>
              <a:rPr lang="zh-CN" altLang="en-US" sz="3600" b="1" dirty="0"/>
              <a:t>信号量机制解决</a:t>
            </a:r>
            <a:br>
              <a:rPr lang="zh-CN" altLang="en-US" sz="3600" b="1" dirty="0"/>
            </a:br>
            <a:r>
              <a:rPr lang="zh-CN" altLang="en-US" sz="3600" b="1" dirty="0"/>
              <a:t>哲学家进餐问题</a:t>
            </a:r>
            <a:endParaRPr lang="zh-CN" altLang="en-US" sz="3600" b="1" dirty="0"/>
          </a:p>
        </p:txBody>
      </p:sp>
      <p:sp>
        <p:nvSpPr>
          <p:cNvPr id="139267" name="Rectangle 3"/>
          <p:cNvSpPr>
            <a:spLocks noGrp="1" noRot="1"/>
          </p:cNvSpPr>
          <p:nvPr>
            <p:ph idx="1"/>
          </p:nvPr>
        </p:nvSpPr>
        <p:spPr>
          <a:xfrm>
            <a:off x="304800" y="1600200"/>
            <a:ext cx="8540750" cy="5029200"/>
          </a:xfrm>
        </p:spPr>
        <p:txBody>
          <a:bodyPr vert="horz" wrap="square" lIns="91440" tIns="45720" rIns="91440" bIns="45720" anchor="t" anchorCtr="0"/>
          <a:p>
            <a:pPr>
              <a:lnSpc>
                <a:spcPct val="90000"/>
              </a:lnSpc>
            </a:pPr>
            <a:r>
              <a:rPr lang="zh-CN" altLang="en-US" sz="2800" dirty="0"/>
              <a:t> 在哲学家进餐问题中，要求每个哲学家先获得两个临界资源</a:t>
            </a:r>
            <a:r>
              <a:rPr lang="en-US" altLang="zh-CN" sz="2800" dirty="0"/>
              <a:t>(</a:t>
            </a:r>
            <a:r>
              <a:rPr lang="zh-CN" altLang="en-US" sz="2800" dirty="0"/>
              <a:t>筷子</a:t>
            </a:r>
            <a:r>
              <a:rPr lang="en-US" altLang="zh-CN" sz="2800" dirty="0"/>
              <a:t>)</a:t>
            </a:r>
            <a:r>
              <a:rPr lang="zh-CN" altLang="en-US" sz="2800" dirty="0"/>
              <a:t>后方能进餐，这在本质上就是前面所介绍的</a:t>
            </a:r>
            <a:r>
              <a:rPr lang="en-US" altLang="zh-CN" sz="2800" dirty="0"/>
              <a:t>AND</a:t>
            </a:r>
            <a:r>
              <a:rPr lang="zh-CN" altLang="en-US" sz="2800" dirty="0"/>
              <a:t>同步问题，故用</a:t>
            </a:r>
            <a:r>
              <a:rPr lang="en-US" altLang="zh-CN" sz="2800" dirty="0"/>
              <a:t>AND</a:t>
            </a:r>
            <a:r>
              <a:rPr lang="zh-CN" altLang="en-US" sz="2800" dirty="0"/>
              <a:t>信号量机制可获得最简洁的解法</a:t>
            </a:r>
            <a:r>
              <a:rPr lang="en-US" altLang="zh-CN" sz="2800" dirty="0"/>
              <a:t>,</a:t>
            </a:r>
            <a:r>
              <a:rPr lang="zh-CN" altLang="en-US" sz="2800" b="1" dirty="0">
                <a:solidFill>
                  <a:srgbClr val="FF0000"/>
                </a:solidFill>
              </a:rPr>
              <a:t>且可避免死锁</a:t>
            </a:r>
            <a:r>
              <a:rPr lang="zh-CN" altLang="en-US" sz="2800" dirty="0"/>
              <a:t>。</a:t>
            </a:r>
            <a:endParaRPr lang="zh-CN" altLang="en-US" sz="2800" dirty="0"/>
          </a:p>
          <a:p>
            <a:pPr lvl="1">
              <a:lnSpc>
                <a:spcPts val="2000"/>
              </a:lnSpc>
              <a:buNone/>
            </a:pPr>
            <a:r>
              <a:rPr lang="en-US" altLang="zh-CN" sz="2400" dirty="0"/>
              <a:t>Do {</a:t>
            </a:r>
            <a:endParaRPr lang="en-US" altLang="zh-CN" sz="2400" dirty="0"/>
          </a:p>
          <a:p>
            <a:pPr lvl="1">
              <a:lnSpc>
                <a:spcPts val="2000"/>
              </a:lnSpc>
              <a:buNone/>
            </a:pPr>
            <a:r>
              <a:rPr lang="en-US" altLang="zh-CN" sz="2400" dirty="0"/>
              <a:t>…</a:t>
            </a:r>
            <a:endParaRPr lang="en-US" altLang="zh-CN" sz="2400" dirty="0"/>
          </a:p>
          <a:p>
            <a:pPr lvl="1">
              <a:lnSpc>
                <a:spcPts val="2000"/>
              </a:lnSpc>
              <a:buNone/>
            </a:pPr>
            <a:r>
              <a:rPr lang="en-US" altLang="zh-CN" sz="2400" dirty="0"/>
              <a:t>think</a:t>
            </a:r>
            <a:r>
              <a:rPr lang="zh-CN" altLang="en-US" sz="2400" dirty="0"/>
              <a:t>；</a:t>
            </a:r>
            <a:endParaRPr lang="en-US" altLang="zh-CN" sz="2400" dirty="0"/>
          </a:p>
          <a:p>
            <a:pPr lvl="1">
              <a:lnSpc>
                <a:spcPts val="2000"/>
              </a:lnSpc>
              <a:buNone/>
            </a:pPr>
            <a:r>
              <a:rPr lang="en-US" altLang="zh-CN" sz="2400" dirty="0"/>
              <a:t>…</a:t>
            </a:r>
            <a:endParaRPr lang="zh-CN" altLang="en-US" sz="2400" dirty="0"/>
          </a:p>
          <a:p>
            <a:pPr lvl="1">
              <a:lnSpc>
                <a:spcPts val="2000"/>
              </a:lnSpc>
              <a:buNone/>
            </a:pPr>
            <a:r>
              <a:rPr lang="en-US" altLang="zh-CN" sz="2400" dirty="0"/>
              <a:t>Sswait(chopstick[(i+1) %5]</a:t>
            </a:r>
            <a:r>
              <a:rPr lang="zh-CN" altLang="en-US" sz="2400" dirty="0"/>
              <a:t>，</a:t>
            </a:r>
            <a:r>
              <a:rPr lang="en-US" altLang="zh-CN" sz="2400" dirty="0"/>
              <a:t>chopstick[i])</a:t>
            </a:r>
            <a:r>
              <a:rPr lang="zh-CN" altLang="en-US" sz="2400" dirty="0"/>
              <a:t>；</a:t>
            </a:r>
            <a:endParaRPr lang="en-US" altLang="zh-CN" sz="2400" dirty="0"/>
          </a:p>
          <a:p>
            <a:pPr lvl="1">
              <a:lnSpc>
                <a:spcPts val="2000"/>
              </a:lnSpc>
              <a:buNone/>
            </a:pPr>
            <a:r>
              <a:rPr lang="en-US" altLang="zh-CN" sz="2400" dirty="0"/>
              <a:t>…</a:t>
            </a:r>
            <a:endParaRPr lang="zh-CN" altLang="en-US" sz="2400" dirty="0"/>
          </a:p>
          <a:p>
            <a:pPr lvl="1">
              <a:lnSpc>
                <a:spcPts val="2000"/>
              </a:lnSpc>
              <a:buNone/>
            </a:pPr>
            <a:r>
              <a:rPr lang="en-US" altLang="zh-CN" sz="2400" dirty="0"/>
              <a:t>eat</a:t>
            </a:r>
            <a:r>
              <a:rPr lang="zh-CN" altLang="en-US" sz="2400" dirty="0"/>
              <a:t>；</a:t>
            </a:r>
            <a:endParaRPr lang="en-US" altLang="zh-CN" sz="2400" dirty="0"/>
          </a:p>
          <a:p>
            <a:pPr lvl="1">
              <a:lnSpc>
                <a:spcPts val="2000"/>
              </a:lnSpc>
              <a:buNone/>
            </a:pPr>
            <a:r>
              <a:rPr lang="en-US" altLang="zh-CN" sz="2400" dirty="0"/>
              <a:t>…</a:t>
            </a:r>
            <a:endParaRPr lang="zh-CN" altLang="en-US" sz="2400" dirty="0"/>
          </a:p>
          <a:p>
            <a:pPr lvl="1">
              <a:lnSpc>
                <a:spcPts val="2000"/>
              </a:lnSpc>
              <a:buNone/>
            </a:pPr>
            <a:r>
              <a:rPr lang="en-US" altLang="zh-CN" sz="2400" dirty="0"/>
              <a:t>Ssignat(chopstick[(i+1) % 5]</a:t>
            </a:r>
            <a:r>
              <a:rPr lang="zh-CN" altLang="en-US" sz="2400" dirty="0"/>
              <a:t>，</a:t>
            </a:r>
            <a:r>
              <a:rPr lang="en-US" altLang="zh-CN" sz="2400" dirty="0"/>
              <a:t>chopstick[i])</a:t>
            </a:r>
            <a:r>
              <a:rPr lang="zh-CN" altLang="en-US" sz="2400" dirty="0"/>
              <a:t>；</a:t>
            </a:r>
            <a:endParaRPr lang="zh-CN" altLang="en-US" sz="2400" dirty="0"/>
          </a:p>
          <a:p>
            <a:pPr lvl="1">
              <a:lnSpc>
                <a:spcPts val="2000"/>
              </a:lnSpc>
              <a:buNone/>
            </a:pPr>
            <a:r>
              <a:rPr lang="en-US" altLang="zh-CN" sz="2400" dirty="0"/>
              <a:t>} while[TRUE];</a:t>
            </a:r>
            <a:endParaRPr lang="zh-CN" altLang="en-US" sz="24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426" name="Rectangle 2"/>
          <p:cNvSpPr>
            <a:spLocks noGrp="1" noRot="1" noChangeArrowheads="1"/>
          </p:cNvSpPr>
          <p:nvPr>
            <p:ph type="title"/>
          </p:nvPr>
        </p:nvSpPr>
        <p:spPr>
          <a:xfrm>
            <a:off x="762000" y="1524000"/>
            <a:ext cx="77724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2.5.3  </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读者</a:t>
            </a:r>
            <a:r>
              <a:rPr kumimoji="0" lang="en-US" altLang="zh-CN"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a:t>
            </a:r>
            <a:r>
              <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写者问题 </a:t>
            </a:r>
            <a:endParaRPr kumimoji="0" lang="zh-CN" altLang="en-US" sz="48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5426"/>
                                        </p:tgtEl>
                                        <p:attrNameLst>
                                          <p:attrName>style.visibility</p:attrName>
                                        </p:attrNameLst>
                                      </p:cBhvr>
                                      <p:to>
                                        <p:strVal val="visible"/>
                                      </p:to>
                                    </p:set>
                                    <p:animEffect transition="in" filter="fade">
                                      <p:cBhvr>
                                        <p:cTn id="7" dur="2000"/>
                                        <p:tgtEl>
                                          <p:spTgt spid="615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26"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645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问题描述</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616451"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该问题为多个进程访问一个共享数据区，如数据库、文件、内存区及一组寄存器等的数据问题建立了一个通用模型</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若干读进程只能读数据，若干写进程只能写数据。</a:t>
            </a:r>
            <a:endParaRPr kumimoji="0" lang="zh-CN" altLang="en-US" sz="3200" b="1" i="1"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6450"/>
                                        </p:tgtEl>
                                        <p:attrNameLst>
                                          <p:attrName>style.visibility</p:attrName>
                                        </p:attrNameLst>
                                      </p:cBhvr>
                                      <p:to>
                                        <p:strVal val="visible"/>
                                      </p:to>
                                    </p:set>
                                    <p:animEffect transition="in" filter="fade">
                                      <p:cBhvr>
                                        <p:cTn id="7" dur="2000"/>
                                        <p:tgtEl>
                                          <p:spTgt spid="6164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6451">
                                            <p:txEl>
                                              <p:charRg st="0" end="51"/>
                                            </p:txEl>
                                          </p:spTgt>
                                        </p:tgtEl>
                                        <p:attrNameLst>
                                          <p:attrName>style.visibility</p:attrName>
                                        </p:attrNameLst>
                                      </p:cBhvr>
                                      <p:to>
                                        <p:strVal val="visible"/>
                                      </p:to>
                                    </p:set>
                                    <p:animEffect transition="in" filter="fade">
                                      <p:cBhvr>
                                        <p:cTn id="12" dur="2000"/>
                                        <p:tgtEl>
                                          <p:spTgt spid="616451">
                                            <p:txEl>
                                              <p:charRg st="0" end="5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6451">
                                            <p:txEl>
                                              <p:charRg st="51" end="74"/>
                                            </p:txEl>
                                          </p:spTgt>
                                        </p:tgtEl>
                                        <p:attrNameLst>
                                          <p:attrName>style.visibility</p:attrName>
                                        </p:attrNameLst>
                                      </p:cBhvr>
                                      <p:to>
                                        <p:strVal val="visible"/>
                                      </p:to>
                                    </p:set>
                                    <p:animEffect transition="in" filter="fade">
                                      <p:cBhvr>
                                        <p:cTn id="17" dur="2000"/>
                                        <p:tgtEl>
                                          <p:spTgt spid="616451">
                                            <p:txEl>
                                              <p:charRg st="51" end="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50" grpId="0"/>
      <p:bldP spid="616451"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4306"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问题描述</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354307"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例如，一个联网售票系统，数据的查询和更新非常频繁，不可避免会出现多个进程试图查询或修改（读</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写）其中某一条数据的情形。</a:t>
            </a:r>
            <a:endPar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仿宋_GB2312" pitchFamily="49" charset="-122"/>
                <a:ea typeface="仿宋_GB2312" pitchFamily="49" charset="-122"/>
                <a:cs typeface="+mn-cs"/>
              </a:rPr>
              <a:t>多个进程同时读一条记录</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是可以的。</a:t>
            </a:r>
            <a:endPar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如果一个进程正在更新数据库中的某条记录，则所有其他进程都不能访问（读或写）该记录，否则可能会将同一个座位销售多次。</a:t>
            </a:r>
            <a:r>
              <a:rPr kumimoji="0" lang="zh-CN" altLang="en-US" sz="3200" b="0" i="0" u="none" strike="noStrike" kern="0" cap="none" spc="0" normalizeH="0" baseline="0" noProof="0" dirty="0" smtClean="0">
                <a:ln>
                  <a:noFill/>
                </a:ln>
                <a:solidFill>
                  <a:schemeClr val="tx1"/>
                </a:solidFill>
                <a:effectLst/>
                <a:uLnTx/>
                <a:uFillTx/>
                <a:latin typeface="+mn-lt"/>
                <a:ea typeface="+mn-ea"/>
                <a:cs typeface="+mn-cs"/>
              </a:rPr>
              <a:t> </a:t>
            </a: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747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读者</a:t>
            </a: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rPr>
              <a:t>写者进程满足的条件</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j-cs"/>
            </a:endParaRPr>
          </a:p>
        </p:txBody>
      </p:sp>
      <p:sp>
        <p:nvSpPr>
          <p:cNvPr id="617475" name="Rectangle 3"/>
          <p:cNvSpPr>
            <a:spLocks noGrp="1" noRot="1" noChangeArrowheads="1"/>
          </p:cNvSpPr>
          <p:nvPr>
            <p:ph type="body"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1</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）允许多个读者进程</a:t>
            </a: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可以同时读数据</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2</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）不允许多个写者进程同时写数据，即</a:t>
            </a: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只能互斥写数据；</a:t>
            </a:r>
            <a:endPar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85000"/>
              <a:buFont typeface="Wingdings 2" panose="05020102010507070707" pitchFamily="18" charset="2"/>
              <a:buChar char="¡"/>
              <a:defRPr/>
            </a:pP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3</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）若有写者进程正在写数据，则不允许读者进程读数据。 </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7474"/>
                                        </p:tgtEl>
                                        <p:attrNameLst>
                                          <p:attrName>style.visibility</p:attrName>
                                        </p:attrNameLst>
                                      </p:cBhvr>
                                      <p:to>
                                        <p:strVal val="visible"/>
                                      </p:to>
                                    </p:set>
                                    <p:animEffect transition="in" filter="fade">
                                      <p:cBhvr>
                                        <p:cTn id="7" dur="2000"/>
                                        <p:tgtEl>
                                          <p:spTgt spid="6174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7475">
                                            <p:txEl>
                                              <p:charRg st="1" end="20"/>
                                            </p:txEl>
                                          </p:spTgt>
                                        </p:tgtEl>
                                        <p:attrNameLst>
                                          <p:attrName>style.visibility</p:attrName>
                                        </p:attrNameLst>
                                      </p:cBhvr>
                                      <p:to>
                                        <p:strVal val="visible"/>
                                      </p:to>
                                    </p:set>
                                    <p:animEffect transition="in" filter="fade">
                                      <p:cBhvr>
                                        <p:cTn id="12" dur="2000"/>
                                        <p:tgtEl>
                                          <p:spTgt spid="617475">
                                            <p:txEl>
                                              <p:charRg st="1"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7475">
                                            <p:txEl>
                                              <p:charRg st="21" end="48"/>
                                            </p:txEl>
                                          </p:spTgt>
                                        </p:tgtEl>
                                        <p:attrNameLst>
                                          <p:attrName>style.visibility</p:attrName>
                                        </p:attrNameLst>
                                      </p:cBhvr>
                                      <p:to>
                                        <p:strVal val="visible"/>
                                      </p:to>
                                    </p:set>
                                    <p:animEffect transition="in" filter="fade">
                                      <p:cBhvr>
                                        <p:cTn id="17" dur="2000"/>
                                        <p:tgtEl>
                                          <p:spTgt spid="617475">
                                            <p:txEl>
                                              <p:charRg st="21" end="4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7475">
                                            <p:txEl>
                                              <p:charRg st="49" end="77"/>
                                            </p:txEl>
                                          </p:spTgt>
                                        </p:tgtEl>
                                        <p:attrNameLst>
                                          <p:attrName>style.visibility</p:attrName>
                                        </p:attrNameLst>
                                      </p:cBhvr>
                                      <p:to>
                                        <p:strVal val="visible"/>
                                      </p:to>
                                    </p:set>
                                    <p:animEffect transition="in" filter="fade">
                                      <p:cBhvr>
                                        <p:cTn id="22" dur="2000"/>
                                        <p:tgtEl>
                                          <p:spTgt spid="617475">
                                            <p:txEl>
                                              <p:charRg st="49" end="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4" grpId="0"/>
      <p:bldP spid="617475"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4418"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如何控制读者和写者？</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619523"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当一个读者正在读数据时，另一个读者也需要读数据，应允许第二个读者进入，同理第三个及随后更多的读者都被允许进入。</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现在假设一个写者到来，由于写操作是排他的，所以它不能访问数据，需要阻塞等待。如果一直都有新的读者陆续到来，写者的</a:t>
            </a:r>
            <a:r>
              <a:rPr kumimoji="0" lang="zh-CN" altLang="en-US" sz="28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mn-ea"/>
                <a:cs typeface="+mn-cs"/>
              </a:rPr>
              <a:t>写操作将被严重推迟</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该方法称为</a:t>
            </a:r>
            <a:r>
              <a:rPr kumimoji="0" lang="zh-CN" altLang="en-US" sz="2800" b="1" i="1" u="sng"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800" b="1" i="1" u="sng"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mn-ea"/>
                <a:cs typeface="+mn-cs"/>
              </a:rPr>
              <a:t>读者优先”</a:t>
            </a:r>
            <a:r>
              <a:rPr kumimoji="0" lang="zh-CN" altLang="en-US" sz="2800" b="1" i="1" u="sng"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即，一旦有读者正在读数据，允许多个读者同时进入读数据，</a:t>
            </a:r>
            <a:r>
              <a:rPr kumimoji="0" lang="zh-CN" altLang="en-US" sz="2800" b="1" i="1" u="sng"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mn-ea"/>
                <a:cs typeface="+mn-cs"/>
              </a:rPr>
              <a:t>只有当全部读者退出，才允许写者进入写数据</a:t>
            </a:r>
            <a:r>
              <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rPr>
              <a:t>。用信号量实现的具体过程见图</a:t>
            </a:r>
            <a:endParaRPr kumimoji="0" lang="zh-CN" altLang="en-US" sz="28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noRot="1"/>
          </p:cNvSpPr>
          <p:nvPr>
            <p:ph type="title"/>
          </p:nvPr>
        </p:nvSpPr>
        <p:spPr/>
        <p:txBody>
          <a:bodyPr vert="horz" wrap="square" lIns="91440" tIns="45720" rIns="91440" bIns="45720" anchor="ctr" anchorCtr="0"/>
          <a:p>
            <a:r>
              <a:rPr lang="en-US" altLang="zh-CN" sz="3600" b="1" dirty="0">
                <a:solidFill>
                  <a:srgbClr val="FF0000"/>
                </a:solidFill>
              </a:rPr>
              <a:t>1. </a:t>
            </a:r>
            <a:r>
              <a:rPr lang="zh-CN" altLang="en-US" sz="3600" b="1" dirty="0">
                <a:solidFill>
                  <a:srgbClr val="FF0000"/>
                </a:solidFill>
              </a:rPr>
              <a:t>利用记录型信号量解决读者</a:t>
            </a:r>
            <a:r>
              <a:rPr lang="en-US" altLang="zh-CN" sz="3600" b="1" dirty="0">
                <a:solidFill>
                  <a:srgbClr val="FF0000"/>
                </a:solidFill>
              </a:rPr>
              <a:t>-</a:t>
            </a:r>
            <a:r>
              <a:rPr lang="zh-CN" altLang="en-US" sz="3600" b="1" dirty="0">
                <a:solidFill>
                  <a:srgbClr val="FF0000"/>
                </a:solidFill>
              </a:rPr>
              <a:t>写者问题</a:t>
            </a:r>
            <a:endParaRPr lang="zh-CN" altLang="en-US" sz="3600" b="1" dirty="0">
              <a:solidFill>
                <a:srgbClr val="FF0000"/>
              </a:solidFill>
            </a:endParaRPr>
          </a:p>
        </p:txBody>
      </p:sp>
      <p:sp>
        <p:nvSpPr>
          <p:cNvPr id="145411" name="Rectangle 3"/>
          <p:cNvSpPr>
            <a:spLocks noGrp="1" noRot="1"/>
          </p:cNvSpPr>
          <p:nvPr>
            <p:ph idx="1"/>
          </p:nvPr>
        </p:nvSpPr>
        <p:spPr>
          <a:xfrm>
            <a:off x="301625" y="1524000"/>
            <a:ext cx="8540750" cy="4953000"/>
          </a:xfrm>
        </p:spPr>
        <p:txBody>
          <a:bodyPr vert="horz" wrap="square" lIns="91440" tIns="45720" rIns="91440" bIns="45720" anchor="t" anchorCtr="0"/>
          <a:p>
            <a:pPr algn="just" eaLnBrk="1" hangingPunct="1">
              <a:lnSpc>
                <a:spcPct val="90000"/>
              </a:lnSpc>
              <a:spcBef>
                <a:spcPct val="50000"/>
              </a:spcBef>
              <a:buClrTx/>
              <a:buSzTx/>
              <a:buFontTx/>
              <a:buNone/>
            </a:pPr>
            <a:r>
              <a:rPr lang="zh-CN" altLang="en-US" b="1" dirty="0">
                <a:solidFill>
                  <a:srgbClr val="FF0000"/>
                </a:solidFill>
              </a:rPr>
              <a:t>规则：只要有一个</a:t>
            </a:r>
            <a:r>
              <a:rPr lang="en-US" altLang="zh-CN" b="1" dirty="0">
                <a:solidFill>
                  <a:srgbClr val="FF0000"/>
                </a:solidFill>
              </a:rPr>
              <a:t>Reader</a:t>
            </a:r>
            <a:r>
              <a:rPr lang="zh-CN" altLang="en-US" b="1" dirty="0">
                <a:solidFill>
                  <a:srgbClr val="FF0000"/>
                </a:solidFill>
              </a:rPr>
              <a:t>进程在读，便不允许</a:t>
            </a:r>
            <a:r>
              <a:rPr lang="en-US" altLang="zh-CN" b="1" dirty="0">
                <a:solidFill>
                  <a:srgbClr val="FF0000"/>
                </a:solidFill>
              </a:rPr>
              <a:t>Writer</a:t>
            </a:r>
            <a:r>
              <a:rPr lang="zh-CN" altLang="en-US" b="1" dirty="0">
                <a:solidFill>
                  <a:srgbClr val="FF0000"/>
                </a:solidFill>
              </a:rPr>
              <a:t>进程去写。</a:t>
            </a:r>
            <a:endParaRPr lang="zh-CN" altLang="en-US" b="1" dirty="0">
              <a:solidFill>
                <a:srgbClr val="FF0000"/>
              </a:solidFill>
            </a:endParaRPr>
          </a:p>
          <a:p>
            <a:pPr algn="just" eaLnBrk="1" hangingPunct="1">
              <a:lnSpc>
                <a:spcPct val="90000"/>
              </a:lnSpc>
              <a:spcBef>
                <a:spcPct val="50000"/>
              </a:spcBef>
              <a:buClrTx/>
              <a:buSzTx/>
              <a:buFont typeface="Wingdings" panose="05000000000000000000" pitchFamily="2" charset="2"/>
              <a:buChar char="Ø"/>
            </a:pPr>
            <a:r>
              <a:rPr lang="zh-CN" altLang="en-US" b="1" dirty="0"/>
              <a:t>为实现</a:t>
            </a:r>
            <a:r>
              <a:rPr lang="en-US" altLang="zh-CN" b="1" dirty="0"/>
              <a:t>Reader</a:t>
            </a:r>
            <a:r>
              <a:rPr lang="zh-CN" altLang="en-US" b="1" dirty="0"/>
              <a:t>与</a:t>
            </a:r>
            <a:r>
              <a:rPr lang="en-US" altLang="zh-CN" b="1" dirty="0"/>
              <a:t>Writer</a:t>
            </a:r>
            <a:r>
              <a:rPr lang="zh-CN" altLang="en-US" b="1" dirty="0"/>
              <a:t>进程间在读或写时的互斥而设置了一个互斥信号量</a:t>
            </a:r>
            <a:r>
              <a:rPr lang="en-US" altLang="zh-CN" b="1" dirty="0"/>
              <a:t>Wmutex</a:t>
            </a:r>
            <a:r>
              <a:rPr lang="zh-CN" altLang="en-US" b="1" dirty="0"/>
              <a:t>。</a:t>
            </a:r>
            <a:endParaRPr lang="zh-CN" altLang="en-US" b="1" dirty="0"/>
          </a:p>
          <a:p>
            <a:pPr algn="just" eaLnBrk="1" hangingPunct="1">
              <a:lnSpc>
                <a:spcPct val="90000"/>
              </a:lnSpc>
              <a:spcBef>
                <a:spcPct val="50000"/>
              </a:spcBef>
              <a:buClrTx/>
              <a:buSzTx/>
              <a:buFont typeface="Wingdings" panose="05000000000000000000" pitchFamily="2" charset="2"/>
              <a:buChar char="Ø"/>
            </a:pPr>
            <a:r>
              <a:rPr lang="zh-CN" altLang="en-US" b="1" dirty="0"/>
              <a:t>仅当</a:t>
            </a:r>
            <a:r>
              <a:rPr lang="en-US" altLang="zh-CN" b="1" dirty="0"/>
              <a:t>Readcount=0, </a:t>
            </a:r>
            <a:r>
              <a:rPr lang="zh-CN" altLang="en-US" b="1" dirty="0"/>
              <a:t>表示尚无</a:t>
            </a:r>
            <a:r>
              <a:rPr lang="en-US" altLang="zh-CN" b="1" dirty="0"/>
              <a:t>Reader</a:t>
            </a:r>
            <a:r>
              <a:rPr lang="zh-CN" altLang="en-US" b="1" dirty="0"/>
              <a:t>进程在读时，</a:t>
            </a:r>
            <a:r>
              <a:rPr lang="en-US" altLang="zh-CN" b="1" dirty="0"/>
              <a:t>Reader</a:t>
            </a:r>
            <a:r>
              <a:rPr lang="zh-CN" altLang="en-US" b="1" dirty="0"/>
              <a:t>进程才需要执行</a:t>
            </a:r>
            <a:r>
              <a:rPr lang="en-US" altLang="zh-CN" b="1" dirty="0"/>
              <a:t>Wait(Wmutex)</a:t>
            </a:r>
            <a:r>
              <a:rPr lang="zh-CN" altLang="en-US" b="1" dirty="0"/>
              <a:t>操作。若</a:t>
            </a:r>
            <a:r>
              <a:rPr lang="en-US" altLang="zh-CN" b="1" dirty="0"/>
              <a:t>wait(Wmutex)</a:t>
            </a:r>
            <a:r>
              <a:rPr lang="zh-CN" altLang="en-US" b="1" dirty="0"/>
              <a:t>操作成功，</a:t>
            </a:r>
            <a:r>
              <a:rPr lang="en-US" altLang="zh-CN" b="1" dirty="0"/>
              <a:t>Reader</a:t>
            </a:r>
            <a:r>
              <a:rPr lang="zh-CN" altLang="en-US" b="1" dirty="0"/>
              <a:t>进程便可去读，相应地，做</a:t>
            </a:r>
            <a:r>
              <a:rPr lang="en-US" altLang="zh-CN" b="1" dirty="0"/>
              <a:t>Readcount+1</a:t>
            </a:r>
            <a:r>
              <a:rPr lang="zh-CN" altLang="en-US" b="1" dirty="0"/>
              <a:t>操作。</a:t>
            </a:r>
            <a:endParaRPr lang="zh-CN" altLang="en-US" b="1"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noRot="1"/>
          </p:cNvSpPr>
          <p:nvPr>
            <p:ph type="title"/>
          </p:nvPr>
        </p:nvSpPr>
        <p:spPr/>
        <p:txBody>
          <a:bodyPr vert="horz" wrap="square" lIns="91440" tIns="45720" rIns="91440" bIns="45720" anchor="ctr" anchorCtr="0"/>
          <a:p>
            <a:endParaRPr lang="zh-CN" altLang="en-US" dirty="0"/>
          </a:p>
        </p:txBody>
      </p:sp>
      <p:sp>
        <p:nvSpPr>
          <p:cNvPr id="146435" name="Rectangle 3"/>
          <p:cNvSpPr>
            <a:spLocks noGrp="1" noRot="1"/>
          </p:cNvSpPr>
          <p:nvPr>
            <p:ph idx="1"/>
          </p:nvPr>
        </p:nvSpPr>
        <p:spPr/>
        <p:txBody>
          <a:bodyPr vert="horz" wrap="square" lIns="91440" tIns="45720" rIns="91440" bIns="45720" anchor="t" anchorCtr="0"/>
          <a:p>
            <a:pPr algn="just" eaLnBrk="1" hangingPunct="1">
              <a:lnSpc>
                <a:spcPct val="90000"/>
              </a:lnSpc>
              <a:spcBef>
                <a:spcPct val="50000"/>
              </a:spcBef>
              <a:buClrTx/>
              <a:buSzTx/>
              <a:buFont typeface="Wingdings" panose="05000000000000000000" pitchFamily="2" charset="2"/>
              <a:buChar char="Ø"/>
            </a:pPr>
            <a:r>
              <a:rPr lang="zh-CN" altLang="en-US" sz="3600" b="1" dirty="0"/>
              <a:t>同理，仅当</a:t>
            </a:r>
            <a:r>
              <a:rPr lang="en-US" altLang="zh-CN" sz="3600" b="1" dirty="0"/>
              <a:t>Reader</a:t>
            </a:r>
            <a:r>
              <a:rPr lang="zh-CN" altLang="en-US" sz="3600" b="1" dirty="0"/>
              <a:t>进程在执行了</a:t>
            </a:r>
            <a:r>
              <a:rPr lang="en-US" altLang="zh-CN" sz="3600" b="1" dirty="0"/>
              <a:t>Readcount</a:t>
            </a:r>
            <a:r>
              <a:rPr lang="zh-CN" altLang="en-US" sz="3600" b="1" dirty="0"/>
              <a:t>减</a:t>
            </a:r>
            <a:r>
              <a:rPr lang="en-US" altLang="zh-CN" sz="3600" b="1" dirty="0"/>
              <a:t>1</a:t>
            </a:r>
            <a:r>
              <a:rPr lang="zh-CN" altLang="en-US" sz="3600" b="1" dirty="0"/>
              <a:t>操作后其值为</a:t>
            </a:r>
            <a:r>
              <a:rPr lang="en-US" altLang="zh-CN" sz="3600" b="1" dirty="0"/>
              <a:t>0</a:t>
            </a:r>
            <a:r>
              <a:rPr lang="zh-CN" altLang="en-US" sz="3600" b="1" dirty="0"/>
              <a:t>时，才须执行</a:t>
            </a:r>
            <a:r>
              <a:rPr lang="en-US" altLang="zh-CN" sz="3600" b="1" dirty="0"/>
              <a:t>signal(Wmutex)</a:t>
            </a:r>
            <a:r>
              <a:rPr lang="zh-CN" altLang="en-US" sz="3600" b="1" dirty="0"/>
              <a:t>操作，以便让</a:t>
            </a:r>
            <a:r>
              <a:rPr lang="en-US" altLang="zh-CN" sz="3600" b="1" dirty="0"/>
              <a:t>Writer</a:t>
            </a:r>
            <a:r>
              <a:rPr lang="zh-CN" altLang="en-US" sz="3600" b="1" dirty="0"/>
              <a:t>进程写。</a:t>
            </a:r>
            <a:endParaRPr lang="zh-CN" altLang="en-US" sz="3600" b="1" dirty="0"/>
          </a:p>
          <a:p>
            <a:pPr algn="just" eaLnBrk="1" hangingPunct="1">
              <a:lnSpc>
                <a:spcPct val="90000"/>
              </a:lnSpc>
              <a:spcBef>
                <a:spcPct val="50000"/>
              </a:spcBef>
              <a:buClrTx/>
              <a:buSzTx/>
              <a:buFont typeface="Wingdings" panose="05000000000000000000" pitchFamily="2" charset="2"/>
              <a:buChar char="Ø"/>
            </a:pPr>
            <a:r>
              <a:rPr lang="zh-CN" altLang="en-US" sz="3600" b="1" dirty="0"/>
              <a:t>又因为</a:t>
            </a:r>
            <a:r>
              <a:rPr lang="en-US" altLang="zh-CN" sz="3600" b="1" dirty="0"/>
              <a:t>Readcount</a:t>
            </a:r>
            <a:r>
              <a:rPr lang="zh-CN" altLang="en-US" sz="3600" b="1" dirty="0"/>
              <a:t>是一个可被多个</a:t>
            </a:r>
            <a:r>
              <a:rPr lang="en-US" altLang="zh-CN" sz="3600" b="1" dirty="0"/>
              <a:t>Reader</a:t>
            </a:r>
            <a:r>
              <a:rPr lang="zh-CN" altLang="en-US" sz="3600" b="1" dirty="0"/>
              <a:t>进程访问的临界资源，因此，应该为它设置一个互斥信号量</a:t>
            </a:r>
            <a:r>
              <a:rPr lang="en-US" altLang="zh-CN" sz="3600" b="1" dirty="0"/>
              <a:t>rmutex</a:t>
            </a:r>
            <a:r>
              <a:rPr lang="zh-CN" altLang="en-US" sz="3600" b="1" dirty="0"/>
              <a:t>。 </a:t>
            </a:r>
            <a:endParaRPr lang="zh-CN" altLang="en-US" sz="3600" b="1" dirty="0"/>
          </a:p>
          <a:p>
            <a:pPr>
              <a:lnSpc>
                <a:spcPct val="90000"/>
              </a:lnSpc>
              <a:buFont typeface="Wingdings 2" panose="05020102010507070707" pitchFamily="18" charset="2"/>
              <a:buChar char="¡"/>
            </a:pPr>
            <a:endParaRPr lang="zh-CN" altLang="en-US" sz="3600" b="1" dirty="0"/>
          </a:p>
          <a:p>
            <a:pPr>
              <a:buFont typeface="Wingdings 2" panose="05020102010507070707" pitchFamily="18" charset="2"/>
              <a:buChar char="¡"/>
            </a:pPr>
            <a:endParaRPr lang="zh-CN" alt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Text Box 2"/>
          <p:cNvSpPr txBox="1"/>
          <p:nvPr/>
        </p:nvSpPr>
        <p:spPr>
          <a:xfrm>
            <a:off x="228600" y="76200"/>
            <a:ext cx="8686800" cy="64944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FF0000"/>
                </a:solidFill>
                <a:latin typeface="Times New Roman" panose="02020603050405020304" pitchFamily="18" charset="0"/>
              </a:rPr>
              <a:t>读者</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写者问题可描述如下：</a:t>
            </a:r>
            <a:endParaRPr lang="en-US" altLang="zh-CN" sz="2800" b="1" dirty="0">
              <a:solidFill>
                <a:srgbClr val="FF0000"/>
              </a:solidFill>
              <a:latin typeface="Times New Roman" panose="02020603050405020304" pitchFamily="18" charset="0"/>
            </a:endParaRPr>
          </a:p>
          <a:p>
            <a:pPr marL="0" lvl="0" indent="0" eaLnBrk="1" hangingPunct="1">
              <a:spcBef>
                <a:spcPct val="0"/>
              </a:spcBef>
              <a:buClrTx/>
              <a:buSzTx/>
              <a:buFontTx/>
              <a:buNone/>
            </a:pPr>
            <a:endParaRPr lang="zh-CN" altLang="en-US" sz="2800" b="1" dirty="0">
              <a:solidFill>
                <a:srgbClr val="FF0000"/>
              </a:solidFill>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Semaphore rmutex=1,wmutex=1; </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int readcount=0;  </a:t>
            </a:r>
            <a:r>
              <a:rPr lang="en-US" altLang="zh-CN" sz="2400" b="1" dirty="0">
                <a:solidFill>
                  <a:srgbClr val="0066FF"/>
                </a:solidFill>
                <a:latin typeface="Times New Roman" panose="02020603050405020304" pitchFamily="18" charset="0"/>
              </a:rPr>
              <a:t>// </a:t>
            </a:r>
            <a:r>
              <a:rPr lang="zh-CN" altLang="en-US" sz="2400" b="1" dirty="0">
                <a:solidFill>
                  <a:srgbClr val="0066FF"/>
                </a:solidFill>
              </a:rPr>
              <a:t>表示正在读的进程数目</a:t>
            </a:r>
            <a:endParaRPr lang="en-US" altLang="zh-CN" sz="2400" b="1" dirty="0">
              <a:solidFill>
                <a:srgbClr val="0066FF"/>
              </a:solidFill>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void reader() {</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do{</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wait(rmutex);   </a:t>
            </a:r>
            <a:r>
              <a:rPr lang="en-US" altLang="zh-CN" sz="2000" b="1" dirty="0">
                <a:solidFill>
                  <a:srgbClr val="0066FF"/>
                </a:solidFill>
                <a:latin typeface="Times New Roman" panose="02020603050405020304" pitchFamily="18" charset="0"/>
              </a:rPr>
              <a:t>// </a:t>
            </a:r>
            <a:r>
              <a:rPr lang="zh-CN" altLang="en-US" sz="2000" b="1" dirty="0">
                <a:solidFill>
                  <a:srgbClr val="0066FF"/>
                </a:solidFill>
                <a:latin typeface="Times New Roman" panose="02020603050405020304" pitchFamily="18" charset="0"/>
              </a:rPr>
              <a:t>保护</a:t>
            </a:r>
            <a:r>
              <a:rPr lang="en-US" altLang="zh-CN" sz="2000" b="1" dirty="0">
                <a:solidFill>
                  <a:srgbClr val="0066FF"/>
                </a:solidFill>
              </a:rPr>
              <a:t>Readcount</a:t>
            </a:r>
            <a:r>
              <a:rPr lang="zh-CN" altLang="en-US" sz="2000" b="1" dirty="0">
                <a:solidFill>
                  <a:srgbClr val="0066FF"/>
                </a:solidFill>
              </a:rPr>
              <a:t>变量同时只能被一个读者使用</a:t>
            </a:r>
            <a:endParaRPr lang="zh-CN" altLang="en-US" sz="2000" b="1" dirty="0">
              <a:solidFill>
                <a:srgbClr val="0066FF"/>
              </a:solidFill>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a:t>
            </a:r>
            <a:r>
              <a:rPr lang="en-US" altLang="zh-CN" sz="2400" dirty="0">
                <a:solidFill>
                  <a:srgbClr val="FF0000"/>
                </a:solidFill>
                <a:latin typeface="Times New Roman" panose="02020603050405020304" pitchFamily="18" charset="0"/>
              </a:rPr>
              <a:t>if (readcount==0) wait(wmutex); </a:t>
            </a:r>
            <a:r>
              <a:rPr lang="en-US" altLang="zh-CN" sz="2400" dirty="0">
                <a:solidFill>
                  <a:srgbClr val="0066FF"/>
                </a:solidFill>
                <a:latin typeface="Times New Roman" panose="02020603050405020304" pitchFamily="18" charset="0"/>
              </a:rPr>
              <a:t>//</a:t>
            </a:r>
            <a:r>
              <a:rPr lang="zh-CN" altLang="en-US" sz="1800" b="1" dirty="0">
                <a:solidFill>
                  <a:srgbClr val="0066FF"/>
                </a:solidFill>
              </a:rPr>
              <a:t>表示尚无</a:t>
            </a:r>
            <a:r>
              <a:rPr lang="en-US" altLang="zh-CN" sz="1800" b="1" dirty="0">
                <a:solidFill>
                  <a:srgbClr val="0066FF"/>
                </a:solidFill>
              </a:rPr>
              <a:t>Reader</a:t>
            </a:r>
            <a:r>
              <a:rPr lang="zh-CN" altLang="en-US" sz="1800" b="1" dirty="0">
                <a:solidFill>
                  <a:srgbClr val="0066FF"/>
                </a:solidFill>
              </a:rPr>
              <a:t>进程在读时，允许读，互斥写者</a:t>
            </a:r>
            <a:endParaRPr lang="en-US" altLang="zh-CN" sz="2400" dirty="0">
              <a:solidFill>
                <a:srgbClr val="0066FF"/>
              </a:solidFill>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Readcount++;</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signal(rmutex);</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a:t>
            </a:r>
            <a:r>
              <a:rPr lang="en-US" altLang="zh-CN" sz="2400" dirty="0">
                <a:latin typeface="Courier New" panose="02070309020205020404" pitchFamily="49" charset="0"/>
              </a:rPr>
              <a:t>…</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perform read operation;</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0" lvl="0" indent="0" eaLnBrk="1" hangingPunct="1">
              <a:lnSpc>
                <a:spcPct val="80000"/>
              </a:lnSpc>
              <a:spcBef>
                <a:spcPct val="0"/>
              </a:spcBef>
              <a:buClrTx/>
              <a:buSzTx/>
              <a:buFontTx/>
              <a:buNone/>
            </a:pPr>
            <a:r>
              <a:rPr lang="en-US" altLang="zh-CN" sz="2400" dirty="0"/>
              <a:t>        wait(rmutex);</a:t>
            </a:r>
            <a:endParaRPr lang="en-US" altLang="zh-CN" sz="2400" dirty="0"/>
          </a:p>
          <a:p>
            <a:pPr marL="0" lvl="0" indent="0" eaLnBrk="1" hangingPunct="1">
              <a:lnSpc>
                <a:spcPct val="80000"/>
              </a:lnSpc>
              <a:spcBef>
                <a:spcPct val="0"/>
              </a:spcBef>
              <a:buClrTx/>
              <a:buSzTx/>
              <a:buFontTx/>
              <a:buNone/>
            </a:pPr>
            <a:r>
              <a:rPr lang="en-US" altLang="zh-CN" sz="2400" dirty="0"/>
              <a:t>         readcount--</a:t>
            </a:r>
            <a:r>
              <a:rPr lang="zh-CN" altLang="en-US" sz="2400" dirty="0"/>
              <a:t>；</a:t>
            </a:r>
            <a:endParaRPr lang="en-US" altLang="zh-CN" sz="2400" dirty="0"/>
          </a:p>
          <a:p>
            <a:pPr marL="0" lvl="0" indent="0" eaLnBrk="1" hangingPunct="1">
              <a:lnSpc>
                <a:spcPct val="80000"/>
              </a:lnSpc>
              <a:spcBef>
                <a:spcPct val="0"/>
              </a:spcBef>
              <a:buClrTx/>
              <a:buSzTx/>
              <a:buFontTx/>
              <a:buNone/>
            </a:pPr>
            <a:r>
              <a:rPr lang="en-US" altLang="zh-CN" sz="2400" dirty="0"/>
              <a:t>  </a:t>
            </a:r>
            <a:r>
              <a:rPr lang="en-US" altLang="zh-CN" sz="2400" dirty="0">
                <a:solidFill>
                  <a:srgbClr val="FF0000"/>
                </a:solidFill>
              </a:rPr>
              <a:t>if </a:t>
            </a:r>
            <a:r>
              <a:rPr lang="zh-CN" altLang="en-US" sz="2400" dirty="0">
                <a:solidFill>
                  <a:srgbClr val="FF0000"/>
                </a:solidFill>
              </a:rPr>
              <a:t>（</a:t>
            </a:r>
            <a:r>
              <a:rPr lang="en-US" altLang="zh-CN" sz="2400" dirty="0">
                <a:solidFill>
                  <a:srgbClr val="FF0000"/>
                </a:solidFill>
              </a:rPr>
              <a:t>readcount==0</a:t>
            </a:r>
            <a:r>
              <a:rPr lang="zh-CN" altLang="en-US" sz="2400" dirty="0">
                <a:solidFill>
                  <a:srgbClr val="FF0000"/>
                </a:solidFill>
              </a:rPr>
              <a:t>）</a:t>
            </a:r>
            <a:r>
              <a:rPr lang="en-US" altLang="zh-CN" sz="2400" dirty="0">
                <a:solidFill>
                  <a:srgbClr val="FF0000"/>
                </a:solidFill>
              </a:rPr>
              <a:t>signal(wmutex); </a:t>
            </a:r>
            <a:r>
              <a:rPr lang="en-US" altLang="zh-CN" sz="2400" dirty="0">
                <a:solidFill>
                  <a:srgbClr val="0066FF"/>
                </a:solidFill>
              </a:rPr>
              <a:t>//</a:t>
            </a:r>
            <a:r>
              <a:rPr lang="zh-CN" altLang="en-US" sz="1800" b="1" dirty="0">
                <a:solidFill>
                  <a:srgbClr val="0066FF"/>
                </a:solidFill>
              </a:rPr>
              <a:t>没有读者进程执行时，以便让</a:t>
            </a:r>
            <a:r>
              <a:rPr lang="en-US" altLang="zh-CN" sz="1800" b="1" dirty="0">
                <a:solidFill>
                  <a:srgbClr val="0066FF"/>
                </a:solidFill>
              </a:rPr>
              <a:t>Writer</a:t>
            </a:r>
            <a:r>
              <a:rPr lang="zh-CN" altLang="en-US" sz="1800" b="1" dirty="0">
                <a:solidFill>
                  <a:srgbClr val="0066FF"/>
                </a:solidFill>
              </a:rPr>
              <a:t>进程写。</a:t>
            </a:r>
            <a:endParaRPr lang="zh-CN" altLang="en-US" sz="1800" b="1" dirty="0">
              <a:solidFill>
                <a:srgbClr val="0066FF"/>
              </a:solidFill>
            </a:endParaRPr>
          </a:p>
          <a:p>
            <a:pPr marL="0" lvl="0" indent="0" eaLnBrk="1" hangingPunct="1">
              <a:lnSpc>
                <a:spcPct val="80000"/>
              </a:lnSpc>
              <a:spcBef>
                <a:spcPct val="0"/>
              </a:spcBef>
              <a:buClrTx/>
              <a:buSzTx/>
              <a:buFontTx/>
              <a:buNone/>
            </a:pPr>
            <a:r>
              <a:rPr lang="en-US" altLang="zh-CN" sz="2400" dirty="0"/>
              <a:t>         signal(rmutex);</a:t>
            </a:r>
            <a:endParaRPr lang="en-US" altLang="zh-CN" sz="2400" dirty="0"/>
          </a:p>
          <a:p>
            <a:pPr marL="0" lvl="0" indent="0" eaLnBrk="1" hangingPunct="1">
              <a:lnSpc>
                <a:spcPct val="80000"/>
              </a:lnSpc>
              <a:spcBef>
                <a:spcPct val="0"/>
              </a:spcBef>
              <a:buClrTx/>
              <a:buSzTx/>
              <a:buFontTx/>
              <a:buNone/>
            </a:pPr>
            <a:r>
              <a:rPr lang="en-US" altLang="zh-CN" sz="2400" dirty="0"/>
              <a:t>        } while(true);</a:t>
            </a:r>
            <a:endParaRPr lang="en-US" altLang="zh-CN" sz="2400" dirty="0"/>
          </a:p>
          <a:p>
            <a:pPr marL="0" lvl="0" indent="0" eaLnBrk="1" hangingPunct="1">
              <a:lnSpc>
                <a:spcPct val="80000"/>
              </a:lnSpc>
              <a:spcBef>
                <a:spcPct val="0"/>
              </a:spcBef>
              <a:buClrTx/>
              <a:buSzTx/>
              <a:buFontTx/>
              <a:buNone/>
            </a:pP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3"/>
          <p:cNvSpPr>
            <a:spLocks noGrp="1" noRot="1"/>
          </p:cNvSpPr>
          <p:nvPr>
            <p:ph idx="1"/>
          </p:nvPr>
        </p:nvSpPr>
        <p:spPr/>
        <p:txBody>
          <a:bodyPr vert="horz" wrap="square" lIns="91440" tIns="45720" rIns="91440" bIns="45720" anchor="t" anchorCtr="0"/>
          <a:p>
            <a:pPr>
              <a:lnSpc>
                <a:spcPct val="90000"/>
              </a:lnSpc>
            </a:pPr>
            <a:r>
              <a:rPr lang="en-US" altLang="zh-CN" sz="2800" dirty="0"/>
              <a:t>Void writer() {</a:t>
            </a:r>
            <a:endParaRPr lang="en-US" altLang="zh-CN" sz="2800" dirty="0"/>
          </a:p>
          <a:p>
            <a:pPr>
              <a:lnSpc>
                <a:spcPct val="90000"/>
              </a:lnSpc>
            </a:pPr>
            <a:r>
              <a:rPr lang="en-US" altLang="zh-CN" sz="2800" dirty="0"/>
              <a:t>        do {</a:t>
            </a:r>
            <a:endParaRPr lang="en-US" altLang="zh-CN" sz="2800" dirty="0"/>
          </a:p>
          <a:p>
            <a:pPr>
              <a:lnSpc>
                <a:spcPct val="90000"/>
              </a:lnSpc>
            </a:pPr>
            <a:r>
              <a:rPr lang="en-US" altLang="zh-CN" sz="2800" dirty="0"/>
              <a:t>         wait(wmutex);</a:t>
            </a:r>
            <a:endParaRPr lang="en-US" altLang="zh-CN" sz="2800" dirty="0"/>
          </a:p>
          <a:p>
            <a:pPr>
              <a:lnSpc>
                <a:spcPct val="90000"/>
              </a:lnSpc>
            </a:pPr>
            <a:r>
              <a:rPr lang="en-US" altLang="zh-CN" sz="2800" dirty="0"/>
              <a:t>         perform write operation;</a:t>
            </a:r>
            <a:endParaRPr lang="en-US" altLang="zh-CN" sz="2800" dirty="0"/>
          </a:p>
          <a:p>
            <a:pPr>
              <a:lnSpc>
                <a:spcPct val="90000"/>
              </a:lnSpc>
            </a:pPr>
            <a:r>
              <a:rPr lang="en-US" altLang="zh-CN" sz="2800" dirty="0"/>
              <a:t>         signal(wmutex);</a:t>
            </a:r>
            <a:endParaRPr lang="en-US" altLang="zh-CN" sz="2800" dirty="0"/>
          </a:p>
          <a:p>
            <a:pPr>
              <a:lnSpc>
                <a:spcPct val="90000"/>
              </a:lnSpc>
            </a:pPr>
            <a:r>
              <a:rPr lang="en-US" altLang="zh-CN" sz="2800" dirty="0"/>
              <a:t>        } while(true);</a:t>
            </a:r>
            <a:endParaRPr lang="en-US" altLang="zh-CN" sz="2800" dirty="0"/>
          </a:p>
          <a:p>
            <a:pPr>
              <a:lnSpc>
                <a:spcPct val="90000"/>
              </a:lnSpc>
            </a:pPr>
            <a:endParaRPr lang="zh-CN" altLang="en-US" sz="28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7858" name="Rectangle 2"/>
          <p:cNvSpPr>
            <a:spLocks noGrp="1" noRot="1" noChangeArrowheads="1"/>
          </p:cNvSpPr>
          <p:nvPr>
            <p:ph type="title"/>
          </p:nvPr>
        </p:nvSpPr>
        <p:spPr>
          <a:xfrm>
            <a:off x="0" y="1524000"/>
            <a:ext cx="8991600" cy="1524000"/>
          </a:xfrm>
          <a:gradFill rotWithShape="0">
            <a:gsLst>
              <a:gs pos="0">
                <a:schemeClr val="accent1">
                  <a:gamma/>
                  <a:shade val="46275"/>
                  <a:invGamma/>
                </a:schemeClr>
              </a:gs>
              <a:gs pos="50000">
                <a:schemeClr val="accent1"/>
              </a:gs>
              <a:gs pos="100000">
                <a:schemeClr val="accent1">
                  <a:gamma/>
                  <a:shade val="46275"/>
                  <a:invGamma/>
                </a:schemeClr>
              </a:gs>
            </a:gsLst>
            <a:lin ang="5400000" scaled="1"/>
          </a:gradFill>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2.6 </a:t>
            </a:r>
            <a:r>
              <a:rPr kumimoji="0" lang="zh-CN" altLang="en-US" sz="36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进程间通信</a:t>
            </a:r>
            <a:r>
              <a:rPr kumimoji="0" lang="zh-CN" altLang="en-US" sz="40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rPr>
              <a:t> </a:t>
            </a:r>
            <a:endParaRPr kumimoji="0" lang="zh-CN" altLang="en-US" sz="4000" b="1" i="0" u="none" strike="noStrike" kern="0" cap="none" spc="0" normalizeH="0" baseline="0" noProof="0" dirty="0" smtClean="0">
              <a:ln>
                <a:noFill/>
              </a:ln>
              <a:solidFill>
                <a:schemeClr val="accent2"/>
              </a:solidFill>
              <a:effectLst>
                <a:outerShdw blurRad="38100" dist="38100" dir="2700000" algn="tl">
                  <a:srgbClr val="000000"/>
                </a:outerShdw>
              </a:effectLst>
              <a:uLnTx/>
              <a:uFillTx/>
              <a:latin typeface="仿宋_GB2312" pitchFamily="49" charset="-122"/>
              <a:ea typeface="仿宋_GB2312" pitchFamily="49" charset="-122"/>
              <a:cs typeface="+mj-cs"/>
            </a:endParaRP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进程通信的方式</a:t>
            </a:r>
            <a:r>
              <a:rPr kumimoji="0" lang="zh-CN" altLang="en-US" sz="4400" b="0" i="0" u="none" strike="noStrike" kern="0" cap="none" spc="0" normalizeH="0" baseline="0" noProof="0" smtClean="0">
                <a:ln>
                  <a:noFill/>
                </a:ln>
                <a:solidFill>
                  <a:schemeClr val="tx2"/>
                </a:solidFill>
                <a:effectLst/>
                <a:uLnTx/>
                <a:uFillTx/>
                <a:latin typeface="+mj-lt"/>
                <a:ea typeface="+mj-ea"/>
                <a:cs typeface="+mj-cs"/>
              </a:rPr>
              <a:t> </a:t>
            </a:r>
            <a:endParaRPr kumimoji="0" lang="zh-CN" altLang="en-US" sz="4400" b="0" i="0" u="none" strike="noStrike" kern="0" cap="none" spc="0" normalizeH="0" baseline="0" noProof="0" smtClean="0">
              <a:ln>
                <a:noFill/>
              </a:ln>
              <a:solidFill>
                <a:schemeClr val="tx2"/>
              </a:solidFill>
              <a:effectLst/>
              <a:uLnTx/>
              <a:uFillTx/>
              <a:latin typeface="+mj-lt"/>
              <a:ea typeface="+mj-ea"/>
              <a:cs typeface="+mj-cs"/>
            </a:endParaRPr>
          </a:p>
        </p:txBody>
      </p:sp>
      <p:sp>
        <p:nvSpPr>
          <p:cNvPr id="378883"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1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低级通信：</a:t>
            </a:r>
            <a:r>
              <a:rPr kumimoji="0" lang="zh-CN" altLang="en-US" sz="3200" b="1" i="0" u="none" strike="noStrike" kern="0" cap="none" spc="0" normalizeH="0" baseline="0" noProof="0" smtClean="0">
                <a:ln>
                  <a:noFill/>
                </a:ln>
                <a:solidFill>
                  <a:schemeClr val="tx1"/>
                </a:solidFill>
                <a:effectLst/>
                <a:uLnTx/>
                <a:uFillTx/>
                <a:latin typeface="+mn-lt"/>
                <a:ea typeface="+mn-ea"/>
                <a:cs typeface="+mn-cs"/>
              </a:rPr>
              <a:t>进程之间的互斥和同步，由于其所交换的信息量少而被归结为低级通信。</a:t>
            </a: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高级通信：</a:t>
            </a:r>
            <a:r>
              <a:rPr kumimoji="0" lang="zh-CN" altLang="en-US" sz="3200" b="1" i="0" u="none" strike="noStrike" kern="0" cap="none" spc="0" normalizeH="0" baseline="0" noProof="0" smtClean="0">
                <a:ln>
                  <a:noFill/>
                </a:ln>
                <a:solidFill>
                  <a:schemeClr val="tx1"/>
                </a:solidFill>
                <a:effectLst/>
                <a:uLnTx/>
                <a:uFillTx/>
                <a:latin typeface="+mn-lt"/>
                <a:ea typeface="+mn-ea"/>
                <a:cs typeface="+mn-cs"/>
              </a:rPr>
              <a:t>是指用户可直接利用操作系统所提供的一组通信命令高效地传送大量数据的一种通信方式。</a:t>
            </a:r>
            <a:endParaRPr kumimoji="0" lang="zh-CN" altLang="en-US" sz="32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noRot="1"/>
          </p:cNvSpPr>
          <p:nvPr>
            <p:ph type="title"/>
          </p:nvPr>
        </p:nvSpPr>
        <p:spPr/>
        <p:txBody>
          <a:bodyPr vert="horz" wrap="square" lIns="91440" tIns="45720" rIns="91440" bIns="45720" anchor="ctr" anchorCtr="0"/>
          <a:p>
            <a:endParaRPr lang="zh-CN" altLang="en-US" dirty="0"/>
          </a:p>
        </p:txBody>
      </p:sp>
      <p:sp>
        <p:nvSpPr>
          <p:cNvPr id="151555" name="Rectangle 3"/>
          <p:cNvSpPr>
            <a:spLocks noGrp="1" noRot="1"/>
          </p:cNvSpPr>
          <p:nvPr>
            <p:ph idx="1"/>
          </p:nvPr>
        </p:nvSpPr>
        <p:spPr/>
        <p:txBody>
          <a:bodyPr vert="horz" wrap="square" lIns="91440" tIns="45720" rIns="91440" bIns="45720" anchor="t" anchorCtr="0"/>
          <a:p>
            <a:r>
              <a:rPr lang="zh-CN" altLang="en-US" b="1" dirty="0"/>
              <a:t>应当指出，信号量机制作为同步工具是卓有成效的，但作为通信工具，则不够理想，</a:t>
            </a:r>
            <a:endParaRPr lang="zh-CN" altLang="en-US" b="1" dirty="0"/>
          </a:p>
          <a:p>
            <a:r>
              <a:rPr lang="zh-CN" altLang="en-US" b="1" dirty="0"/>
              <a:t>主要表现在下述两方面：</a:t>
            </a:r>
            <a:endParaRPr lang="zh-CN" altLang="en-US" b="1" dirty="0"/>
          </a:p>
          <a:p>
            <a:r>
              <a:rPr lang="en-US" altLang="zh-CN" b="1" dirty="0"/>
              <a:t>(1) </a:t>
            </a:r>
            <a:r>
              <a:rPr lang="zh-CN" altLang="en-US" b="1" dirty="0"/>
              <a:t>效率低，生产者每次只能向缓冲池投放一个产品</a:t>
            </a:r>
            <a:r>
              <a:rPr lang="en-US" altLang="zh-CN" b="1" dirty="0"/>
              <a:t>(</a:t>
            </a:r>
            <a:r>
              <a:rPr lang="zh-CN" altLang="en-US" b="1" dirty="0"/>
              <a:t>消息</a:t>
            </a:r>
            <a:r>
              <a:rPr lang="en-US" altLang="zh-CN" b="1" dirty="0"/>
              <a:t>)</a:t>
            </a:r>
            <a:r>
              <a:rPr lang="zh-CN" altLang="en-US" b="1" dirty="0"/>
              <a:t>，消费者每次只能从缓冲区中取得一个消息；</a:t>
            </a:r>
            <a:endParaRPr lang="zh-CN" altLang="en-US" b="1" dirty="0"/>
          </a:p>
          <a:p>
            <a:r>
              <a:rPr lang="en-US" altLang="zh-CN" b="1" dirty="0"/>
              <a:t>(2) </a:t>
            </a:r>
            <a:r>
              <a:rPr lang="zh-CN" altLang="en-US" b="1" dirty="0"/>
              <a:t>通信对用户不透明。</a:t>
            </a:r>
            <a:endParaRPr lang="zh-CN" altLang="en-US" b="1"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0930"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2.6.1 </a:t>
            </a:r>
            <a:r>
              <a:rPr kumimoji="0" lang="zh-CN" altLang="en-US" sz="4400" b="1" i="0"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进程通信的类型</a:t>
            </a:r>
            <a:endParaRPr kumimoji="0" lang="zh-CN" altLang="en-US" sz="4400" b="1" i="0"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380931" name="Rectangle 3"/>
          <p:cNvSpPr>
            <a:spLocks noGrp="1" noRot="1" noChangeArrowheads="1"/>
          </p:cNvSpPr>
          <p:nvPr>
            <p:ph idx="1"/>
          </p:nvPr>
        </p:nvSpPr>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共享存储器系统</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共享数据结构，共享存储区通信方式。</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  管道通信</a:t>
            </a:r>
            <a:endPar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  </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消息传递方式</a:t>
            </a:r>
            <a:endParaRPr kumimoji="0" lang="en-US" altLang="zh-CN"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仿宋_GB2312" pitchFamily="49" charset="-122"/>
                <a:cs typeface="+mn-cs"/>
              </a:rPr>
              <a:t>客户</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机</a:t>
            </a:r>
            <a:r>
              <a:rPr kumimoji="0" lang="en-US" altLang="zh-CN"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rgbClr val="FF0000"/>
                </a:solidFill>
                <a:effectLst>
                  <a:outerShdw blurRad="38100" dist="38100" dir="2700000" algn="tl">
                    <a:srgbClr val="C0C0C0"/>
                  </a:outerShdw>
                </a:effectLst>
                <a:uLnTx/>
                <a:uFillTx/>
                <a:latin typeface="+mn-lt"/>
                <a:ea typeface="仿宋_GB2312" pitchFamily="49" charset="-122"/>
                <a:cs typeface="+mn-cs"/>
              </a:rPr>
              <a:t>服务器系统</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网络通信，套接字、</a:t>
            </a:r>
            <a:r>
              <a:rPr kumimoji="0" lang="en-US" altLang="zh-CN"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rPr>
              <a:t>RPC</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仿宋_GB2312" pitchFamily="49" charset="-122"/>
              <a:cs typeface="+mn-cs"/>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1954"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1.</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共享存储器系统</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153603" name="Rectangle 3"/>
          <p:cNvSpPr>
            <a:spLocks noGrp="1" noRot="1"/>
          </p:cNvSpPr>
          <p:nvPr>
            <p:ph idx="1"/>
          </p:nvPr>
        </p:nvSpPr>
        <p:spPr>
          <a:xfrm>
            <a:off x="301625" y="1749425"/>
            <a:ext cx="8540750" cy="4498975"/>
          </a:xfrm>
        </p:spPr>
        <p:txBody>
          <a:bodyPr vert="horz" wrap="square" lIns="91440" tIns="45720" rIns="91440" bIns="45720" anchor="t" anchorCtr="0"/>
          <a:p>
            <a:pPr marL="533400" indent="-533400"/>
            <a:r>
              <a:rPr lang="zh-CN" altLang="en-US" b="1" i="1" dirty="0">
                <a:solidFill>
                  <a:schemeClr val="folHlink"/>
                </a:solidFill>
              </a:rPr>
              <a:t>（</a:t>
            </a:r>
            <a:r>
              <a:rPr lang="en-US" altLang="zh-CN" b="1" i="1" dirty="0">
                <a:solidFill>
                  <a:schemeClr val="folHlink"/>
                </a:solidFill>
              </a:rPr>
              <a:t>1</a:t>
            </a:r>
            <a:r>
              <a:rPr lang="zh-CN" altLang="en-US" b="1" i="1" dirty="0">
                <a:solidFill>
                  <a:schemeClr val="folHlink"/>
                </a:solidFill>
              </a:rPr>
              <a:t>）基于共享数据结构的通信方式。</a:t>
            </a:r>
            <a:endParaRPr lang="zh-CN" altLang="en-US" b="1" i="1" dirty="0">
              <a:solidFill>
                <a:schemeClr val="folHlink"/>
              </a:solidFill>
            </a:endParaRPr>
          </a:p>
          <a:p>
            <a:pPr marL="533400" indent="-533400"/>
            <a:r>
              <a:rPr lang="zh-CN" altLang="en-US" b="1" dirty="0">
                <a:solidFill>
                  <a:srgbClr val="0070C0"/>
                </a:solidFill>
              </a:rPr>
              <a:t>诸进程公用某些数据结构，借以实现诸进程间的信息交换。</a:t>
            </a:r>
            <a:endParaRPr lang="en-US" altLang="zh-CN" b="1" dirty="0">
              <a:solidFill>
                <a:srgbClr val="0070C0"/>
              </a:solidFill>
            </a:endParaRPr>
          </a:p>
          <a:p>
            <a:pPr marL="533400" indent="-533400"/>
            <a:r>
              <a:rPr lang="zh-CN" altLang="en-US" b="1" dirty="0"/>
              <a:t>如在生产者</a:t>
            </a:r>
            <a:r>
              <a:rPr lang="en-US" altLang="zh-CN" b="1" dirty="0"/>
              <a:t>—</a:t>
            </a:r>
            <a:r>
              <a:rPr lang="zh-CN" altLang="en-US" b="1" dirty="0"/>
              <a:t>消费者问题中，就是用有界缓冲区这种数据结构来实现通信的，这种通信方式是低效的，只适于传递相对少量的数据。</a:t>
            </a:r>
            <a:endParaRPr lang="zh-CN" altLang="en-US" b="1" dirty="0"/>
          </a:p>
          <a:p>
            <a:pPr marL="533400" indent="-533400"/>
            <a:endParaRPr lang="zh-CN" altLang="en-US" b="1"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noRot="1"/>
          </p:cNvSpPr>
          <p:nvPr>
            <p:ph type="title"/>
          </p:nvPr>
        </p:nvSpPr>
        <p:spPr/>
        <p:txBody>
          <a:bodyPr vert="horz" wrap="square" lIns="91440" tIns="45720" rIns="91440" bIns="45720" anchor="ctr" anchorCtr="0"/>
          <a:p>
            <a:r>
              <a:rPr lang="en-US" altLang="zh-CN" sz="3600" b="1" dirty="0">
                <a:solidFill>
                  <a:schemeClr val="folHlink"/>
                </a:solidFill>
              </a:rPr>
              <a:t>(2) </a:t>
            </a:r>
            <a:r>
              <a:rPr lang="zh-CN" altLang="en-US" sz="3600" b="1" dirty="0">
                <a:solidFill>
                  <a:schemeClr val="folHlink"/>
                </a:solidFill>
              </a:rPr>
              <a:t>基于共享存储区的通信方式。</a:t>
            </a:r>
            <a:endParaRPr lang="zh-CN" altLang="en-US" sz="3600" b="1" dirty="0">
              <a:solidFill>
                <a:schemeClr val="folHlink"/>
              </a:solidFill>
            </a:endParaRPr>
          </a:p>
        </p:txBody>
      </p:sp>
      <p:sp>
        <p:nvSpPr>
          <p:cNvPr id="446467" name="Rectangle 3"/>
          <p:cNvSpPr>
            <a:spLocks noGrp="1" noRot="1" noChangeArrowheads="1"/>
          </p:cNvSpPr>
          <p:nvPr>
            <p:ph idx="1"/>
          </p:nvPr>
        </p:nvSpPr>
        <p:spPr>
          <a:xfrm>
            <a:off x="301625" y="1600200"/>
            <a:ext cx="8540750" cy="5105400"/>
          </a:xfrm>
        </p:spPr>
        <p:txBody>
          <a:bodyPr vert="horz" wrap="square" lIns="91440" tIns="45720" rIns="91440" bIns="45720" numCol="1" anchor="t" anchorCtr="0" compatLnSpc="1"/>
          <a:lstStyle/>
          <a:p>
            <a:pPr marL="342900" marR="0" lvl="0" indent="-342900" algn="just"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1" u="sng" strike="noStrike" kern="0" cap="none" spc="0" normalizeH="0" baseline="0" noProof="0" dirty="0" smtClean="0">
                <a:ln>
                  <a:noFill/>
                </a:ln>
                <a:solidFill>
                  <a:schemeClr val="folHlink"/>
                </a:solidFill>
                <a:effectLst>
                  <a:outerShdw blurRad="38100" dist="38100" dir="2700000" algn="tl">
                    <a:srgbClr val="C0C0C0"/>
                  </a:outerShdw>
                </a:effectLst>
                <a:uLnTx/>
                <a:uFillTx/>
                <a:latin typeface="仿宋_GB2312" pitchFamily="49" charset="-122"/>
                <a:ea typeface="仿宋_GB2312" pitchFamily="49" charset="-122"/>
                <a:cs typeface="+mn-cs"/>
              </a:rPr>
              <a:t>由操作系统在内存中划分出一块区域作为共享存储区</a:t>
            </a:r>
            <a:r>
              <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rPr>
              <a:t>。</a:t>
            </a:r>
            <a:endParaRPr kumimoji="0" lang="zh-CN" altLang="en-US" sz="32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cs typeface="+mn-cs"/>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进程在通信前向系统申请共享存储区中的一个分区。</a:t>
            </a:r>
            <a:endPar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然后，申请进程把获得的共享存储分区连接到本进程上，此后便可象读</a:t>
            </a:r>
            <a:r>
              <a:rPr kumimoji="0" lang="en-US" altLang="zh-CN"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a:t>
            </a: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写普通存储器一样地读</a:t>
            </a:r>
            <a:r>
              <a:rPr kumimoji="0" lang="en-US" altLang="zh-CN"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a:t>
            </a: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写共享存储分区。</a:t>
            </a:r>
            <a:endPar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a:p>
            <a:pPr marL="742950" marR="0" lvl="1" indent="-285750" algn="just" defTabSz="914400" rtl="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rPr>
              <a:t>该方式下，通信进程之间的同步与互斥访问共享存储区可以由操作系统实现。</a:t>
            </a:r>
            <a:endParaRPr kumimoji="0" lang="zh-CN" altLang="en-US" sz="3000" b="1"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仿宋_GB2312" pitchFamily="49" charset="-122"/>
              <a:ea typeface="仿宋_GB2312" pitchFamily="49"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noRot="1"/>
          </p:cNvSpPr>
          <p:nvPr>
            <p:ph type="title"/>
          </p:nvPr>
        </p:nvSpPr>
        <p:spPr/>
        <p:txBody>
          <a:bodyPr vert="horz" wrap="square" lIns="91440" tIns="45720" rIns="91440" bIns="45720" anchor="ctr" anchorCtr="0"/>
          <a:p>
            <a:pPr eaLnBrk="1" hangingPunct="1"/>
            <a:r>
              <a:rPr lang="en-US" altLang="zh-CN" b="1" dirty="0">
                <a:solidFill>
                  <a:schemeClr val="folHlink"/>
                </a:solidFill>
              </a:rPr>
              <a:t>2. </a:t>
            </a:r>
            <a:r>
              <a:rPr lang="zh-CN" altLang="en-US" b="1" dirty="0">
                <a:solidFill>
                  <a:schemeClr val="folHlink"/>
                </a:solidFill>
              </a:rPr>
              <a:t>管道</a:t>
            </a:r>
            <a:r>
              <a:rPr lang="en-US" altLang="zh-CN" b="1" dirty="0">
                <a:solidFill>
                  <a:schemeClr val="folHlink"/>
                </a:solidFill>
              </a:rPr>
              <a:t>(Pipe)</a:t>
            </a:r>
            <a:r>
              <a:rPr lang="zh-CN" altLang="en-US" b="1" dirty="0">
                <a:solidFill>
                  <a:schemeClr val="folHlink"/>
                </a:solidFill>
              </a:rPr>
              <a:t>通信</a:t>
            </a:r>
            <a:endParaRPr lang="zh-CN" altLang="en-US" b="1" dirty="0">
              <a:solidFill>
                <a:schemeClr val="folHlink"/>
              </a:solidFill>
            </a:endParaRPr>
          </a:p>
        </p:txBody>
      </p:sp>
      <p:sp>
        <p:nvSpPr>
          <p:cNvPr id="156675" name="Rectangle 3"/>
          <p:cNvSpPr>
            <a:spLocks noGrp="1" noRot="1"/>
          </p:cNvSpPr>
          <p:nvPr>
            <p:ph idx="1"/>
          </p:nvPr>
        </p:nvSpPr>
        <p:spPr>
          <a:xfrm>
            <a:off x="228600" y="1673225"/>
            <a:ext cx="8382000" cy="4879975"/>
          </a:xfrm>
        </p:spPr>
        <p:txBody>
          <a:bodyPr vert="horz" wrap="square" lIns="91440" tIns="45720" rIns="91440" bIns="45720" anchor="t" anchorCtr="0"/>
          <a:p>
            <a:pPr eaLnBrk="1" hangingPunct="1">
              <a:lnSpc>
                <a:spcPct val="110000"/>
              </a:lnSpc>
            </a:pPr>
            <a:r>
              <a:rPr lang="zh-CN" altLang="en-US" sz="2600" b="1" dirty="0"/>
              <a:t>所谓“管道”，是指用于连接一个读进程和一个写进程以实现他们之间通信的一个共享文件，又名</a:t>
            </a:r>
            <a:r>
              <a:rPr lang="en-US" altLang="zh-CN" sz="2600" b="1" dirty="0"/>
              <a:t>pipe</a:t>
            </a:r>
            <a:r>
              <a:rPr lang="zh-CN" altLang="en-US" sz="2600" b="1" dirty="0"/>
              <a:t>文件。</a:t>
            </a:r>
            <a:endParaRPr lang="zh-CN" altLang="en-US" sz="2600" b="1" dirty="0"/>
          </a:p>
          <a:p>
            <a:pPr eaLnBrk="1" hangingPunct="1">
              <a:lnSpc>
                <a:spcPct val="110000"/>
              </a:lnSpc>
            </a:pPr>
            <a:r>
              <a:rPr lang="zh-CN" altLang="en-US" sz="2600" b="1" dirty="0"/>
              <a:t>向管道</a:t>
            </a:r>
            <a:r>
              <a:rPr lang="en-US" altLang="zh-CN" sz="2600" b="1" dirty="0"/>
              <a:t>(</a:t>
            </a:r>
            <a:r>
              <a:rPr lang="zh-CN" altLang="en-US" sz="2600" b="1" dirty="0"/>
              <a:t>共享文件</a:t>
            </a:r>
            <a:r>
              <a:rPr lang="en-US" altLang="zh-CN" sz="2600" b="1" dirty="0"/>
              <a:t>)</a:t>
            </a:r>
            <a:r>
              <a:rPr lang="zh-CN" altLang="en-US" sz="2600" b="1" i="1" u="sng" dirty="0">
                <a:solidFill>
                  <a:schemeClr val="folHlink"/>
                </a:solidFill>
              </a:rPr>
              <a:t>提供输入的发送进程</a:t>
            </a:r>
            <a:r>
              <a:rPr lang="en-US" altLang="zh-CN" sz="2600" b="1" i="1" u="sng" dirty="0">
                <a:solidFill>
                  <a:schemeClr val="folHlink"/>
                </a:solidFill>
              </a:rPr>
              <a:t>(</a:t>
            </a:r>
            <a:r>
              <a:rPr lang="zh-CN" altLang="en-US" sz="2600" b="1" i="1" u="sng" dirty="0">
                <a:solidFill>
                  <a:schemeClr val="folHlink"/>
                </a:solidFill>
              </a:rPr>
              <a:t>即写进程</a:t>
            </a:r>
            <a:r>
              <a:rPr lang="en-US" altLang="zh-CN" sz="2600" b="1" i="1" u="sng" dirty="0">
                <a:solidFill>
                  <a:schemeClr val="folHlink"/>
                </a:solidFill>
              </a:rPr>
              <a:t>)</a:t>
            </a:r>
            <a:r>
              <a:rPr lang="zh-CN" altLang="en-US" sz="2600" b="1" dirty="0"/>
              <a:t>， 以</a:t>
            </a:r>
            <a:r>
              <a:rPr lang="zh-CN" altLang="en-US" sz="2600" b="1" dirty="0">
                <a:solidFill>
                  <a:schemeClr val="folHlink"/>
                </a:solidFill>
              </a:rPr>
              <a:t>字符流形式</a:t>
            </a:r>
            <a:r>
              <a:rPr lang="zh-CN" altLang="en-US" sz="2600" b="1" dirty="0"/>
              <a:t>将大量的数据送入管道；</a:t>
            </a:r>
            <a:endParaRPr lang="zh-CN" altLang="en-US" sz="2600" b="1" dirty="0"/>
          </a:p>
          <a:p>
            <a:pPr eaLnBrk="1" hangingPunct="1">
              <a:lnSpc>
                <a:spcPct val="110000"/>
              </a:lnSpc>
            </a:pPr>
            <a:r>
              <a:rPr lang="zh-CN" altLang="en-US" sz="2600" b="1" dirty="0"/>
              <a:t>而</a:t>
            </a:r>
            <a:r>
              <a:rPr lang="zh-CN" altLang="en-US" sz="2600" b="1" i="1" u="sng" dirty="0">
                <a:solidFill>
                  <a:schemeClr val="folHlink"/>
                </a:solidFill>
              </a:rPr>
              <a:t>接受管道输出的接收进程</a:t>
            </a:r>
            <a:r>
              <a:rPr lang="en-US" altLang="zh-CN" sz="2600" b="1" i="1" u="sng" dirty="0">
                <a:solidFill>
                  <a:schemeClr val="folHlink"/>
                </a:solidFill>
              </a:rPr>
              <a:t>(</a:t>
            </a:r>
            <a:r>
              <a:rPr lang="zh-CN" altLang="en-US" sz="2600" b="1" i="1" u="sng" dirty="0">
                <a:solidFill>
                  <a:schemeClr val="folHlink"/>
                </a:solidFill>
              </a:rPr>
              <a:t>即读进程</a:t>
            </a:r>
            <a:r>
              <a:rPr lang="en-US" altLang="zh-CN" sz="2600" b="1" i="1" u="sng" dirty="0">
                <a:solidFill>
                  <a:schemeClr val="folHlink"/>
                </a:solidFill>
              </a:rPr>
              <a:t>)</a:t>
            </a:r>
            <a:r>
              <a:rPr lang="zh-CN" altLang="en-US" sz="2600" b="1" dirty="0"/>
              <a:t>，则从管道中接收</a:t>
            </a:r>
            <a:r>
              <a:rPr lang="en-US" altLang="zh-CN" sz="2600" b="1" dirty="0"/>
              <a:t>(</a:t>
            </a:r>
            <a:r>
              <a:rPr lang="zh-CN" altLang="en-US" sz="2600" b="1" dirty="0"/>
              <a:t>读</a:t>
            </a:r>
            <a:r>
              <a:rPr lang="en-US" altLang="zh-CN" sz="2600" b="1" dirty="0"/>
              <a:t>)</a:t>
            </a:r>
            <a:r>
              <a:rPr lang="zh-CN" altLang="en-US" sz="2600" b="1" dirty="0"/>
              <a:t>数据。由于发送进程和接收进程是利用管道进行通信的，故又称为管道通信。</a:t>
            </a:r>
            <a:endParaRPr lang="zh-CN" altLang="en-US" sz="2600" b="1" dirty="0"/>
          </a:p>
          <a:p>
            <a:pPr eaLnBrk="1" hangingPunct="1">
              <a:lnSpc>
                <a:spcPct val="110000"/>
              </a:lnSpc>
            </a:pPr>
            <a:r>
              <a:rPr lang="zh-CN" altLang="en-US" sz="2600" b="1" dirty="0"/>
              <a:t>这种方式首创于</a:t>
            </a:r>
            <a:r>
              <a:rPr lang="en-US" altLang="zh-CN" sz="2600" b="1" dirty="0"/>
              <a:t>UNIX</a:t>
            </a:r>
            <a:r>
              <a:rPr lang="zh-CN" altLang="en-US" sz="2600" b="1" dirty="0"/>
              <a:t>系统，由于它能有效地传送大量数据，因而又被引入到许多其它操作系统中。</a:t>
            </a:r>
            <a:endParaRPr lang="zh-CN" altLang="en-US" sz="2600" b="1"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3"/>
          <p:cNvSpPr>
            <a:spLocks noGrp="1" noRot="1"/>
          </p:cNvSpPr>
          <p:nvPr>
            <p:ph idx="1"/>
          </p:nvPr>
        </p:nvSpPr>
        <p:spPr>
          <a:xfrm>
            <a:off x="301625" y="381000"/>
            <a:ext cx="8540750" cy="4953000"/>
          </a:xfrm>
        </p:spPr>
        <p:txBody>
          <a:bodyPr vert="horz" wrap="square" lIns="91440" tIns="45720" rIns="91440" bIns="45720" anchor="t" anchorCtr="0"/>
          <a:p>
            <a:pPr algn="just" eaLnBrk="1" hangingPunct="1">
              <a:spcBef>
                <a:spcPct val="50000"/>
              </a:spcBef>
              <a:buClrTx/>
              <a:buSzTx/>
              <a:buFontTx/>
              <a:buNone/>
            </a:pPr>
            <a:r>
              <a:rPr lang="zh-CN" altLang="en-US" b="1" dirty="0">
                <a:solidFill>
                  <a:srgbClr val="FF0000"/>
                </a:solidFill>
              </a:rPr>
              <a:t>为了协调双方的通信，管道机制必须提供以下三方面的协调能力：</a:t>
            </a:r>
            <a:endParaRPr lang="zh-CN" altLang="en-US" b="1" dirty="0">
              <a:solidFill>
                <a:srgbClr val="FF0000"/>
              </a:solidFill>
            </a:endParaRPr>
          </a:p>
          <a:p>
            <a:pPr algn="just" eaLnBrk="1" hangingPunct="1">
              <a:spcBef>
                <a:spcPct val="50000"/>
              </a:spcBef>
              <a:buClrTx/>
              <a:buSzTx/>
              <a:buFontTx/>
              <a:buNone/>
            </a:pPr>
            <a:r>
              <a:rPr lang="zh-CN" altLang="en-US" sz="2800" b="1" dirty="0"/>
              <a:t>① 互斥，即当一个进程正在对</a:t>
            </a:r>
            <a:r>
              <a:rPr lang="en-US" altLang="zh-CN" sz="2800" b="1" dirty="0"/>
              <a:t>pipe</a:t>
            </a:r>
            <a:r>
              <a:rPr lang="zh-CN" altLang="en-US" sz="2800" b="1" dirty="0"/>
              <a:t>执行读</a:t>
            </a:r>
            <a:r>
              <a:rPr lang="en-US" altLang="zh-CN" sz="2800" b="1" dirty="0"/>
              <a:t>/</a:t>
            </a:r>
            <a:r>
              <a:rPr lang="zh-CN" altLang="en-US" sz="2800" b="1" dirty="0"/>
              <a:t>写操作时，其它</a:t>
            </a:r>
            <a:r>
              <a:rPr lang="en-US" altLang="zh-CN" sz="2800" b="1" dirty="0"/>
              <a:t>(</a:t>
            </a:r>
            <a:r>
              <a:rPr lang="zh-CN" altLang="en-US" sz="2800" b="1" dirty="0"/>
              <a:t>另一</a:t>
            </a:r>
            <a:r>
              <a:rPr lang="en-US" altLang="zh-CN" sz="2800" b="1" dirty="0"/>
              <a:t>)</a:t>
            </a:r>
            <a:r>
              <a:rPr lang="zh-CN" altLang="en-US" sz="2800" b="1" dirty="0"/>
              <a:t>进程必须等待。 </a:t>
            </a:r>
            <a:endParaRPr lang="zh-CN" altLang="en-US" sz="2800" b="1" dirty="0"/>
          </a:p>
          <a:p>
            <a:pPr algn="just" eaLnBrk="1" hangingPunct="1">
              <a:spcBef>
                <a:spcPct val="50000"/>
              </a:spcBef>
              <a:buClrTx/>
              <a:buSzTx/>
              <a:buFontTx/>
              <a:buNone/>
            </a:pPr>
            <a:r>
              <a:rPr lang="zh-CN" altLang="en-US" sz="2800" b="1" dirty="0"/>
              <a:t>② 同步，指当写</a:t>
            </a:r>
            <a:r>
              <a:rPr lang="en-US" altLang="zh-CN" sz="2800" b="1" dirty="0"/>
              <a:t>(</a:t>
            </a:r>
            <a:r>
              <a:rPr lang="zh-CN" altLang="en-US" sz="2800" b="1" dirty="0"/>
              <a:t>输入</a:t>
            </a:r>
            <a:r>
              <a:rPr lang="en-US" altLang="zh-CN" sz="2800" b="1" dirty="0"/>
              <a:t>)</a:t>
            </a:r>
            <a:r>
              <a:rPr lang="zh-CN" altLang="en-US" sz="2800" b="1" dirty="0"/>
              <a:t>进程把一定数量</a:t>
            </a:r>
            <a:r>
              <a:rPr lang="en-US" altLang="zh-CN" sz="2800" b="1" dirty="0"/>
              <a:t>(</a:t>
            </a:r>
            <a:r>
              <a:rPr lang="zh-CN" altLang="en-US" sz="2800" b="1" dirty="0"/>
              <a:t>如</a:t>
            </a:r>
            <a:r>
              <a:rPr lang="en-US" altLang="zh-CN" sz="2800" b="1" dirty="0"/>
              <a:t>4 KB)</a:t>
            </a:r>
            <a:r>
              <a:rPr lang="zh-CN" altLang="en-US" sz="2800" b="1" dirty="0"/>
              <a:t>的数据写入</a:t>
            </a:r>
            <a:r>
              <a:rPr lang="en-US" altLang="zh-CN" sz="2800" b="1" dirty="0"/>
              <a:t>pipe</a:t>
            </a:r>
            <a:r>
              <a:rPr lang="zh-CN" altLang="en-US" sz="2800" b="1" dirty="0"/>
              <a:t>，便去睡眠等待， 直到读</a:t>
            </a:r>
            <a:r>
              <a:rPr lang="en-US" altLang="zh-CN" sz="2800" b="1" dirty="0"/>
              <a:t>(</a:t>
            </a:r>
            <a:r>
              <a:rPr lang="zh-CN" altLang="en-US" sz="2800" b="1" dirty="0"/>
              <a:t>输出</a:t>
            </a:r>
            <a:r>
              <a:rPr lang="en-US" altLang="zh-CN" sz="2800" b="1" dirty="0"/>
              <a:t>)</a:t>
            </a:r>
            <a:r>
              <a:rPr lang="zh-CN" altLang="en-US" sz="2800" b="1" dirty="0"/>
              <a:t>进程取走数据后，再把他唤醒。当读进程读一空</a:t>
            </a:r>
            <a:r>
              <a:rPr lang="en-US" altLang="zh-CN" sz="2800" b="1" dirty="0"/>
              <a:t>pipe</a:t>
            </a:r>
            <a:r>
              <a:rPr lang="zh-CN" altLang="en-US" sz="2800" b="1" dirty="0"/>
              <a:t>时，也应睡眠等待，直至写进程将数据写入管道后，才将之唤醒。</a:t>
            </a:r>
            <a:endParaRPr lang="zh-CN" altLang="en-US" sz="2800" b="1" dirty="0"/>
          </a:p>
          <a:p>
            <a:pPr algn="just" eaLnBrk="1" hangingPunct="1">
              <a:spcBef>
                <a:spcPct val="50000"/>
              </a:spcBef>
              <a:buClrTx/>
              <a:buSzTx/>
              <a:buFontTx/>
              <a:buNone/>
            </a:pPr>
            <a:r>
              <a:rPr lang="zh-CN" altLang="en-US" sz="2800" b="1" dirty="0"/>
              <a:t>③ 确定对方是否存在，只有确定了对方已存在时，才能进行通信。 </a:t>
            </a:r>
            <a:endParaRPr lang="zh-CN" altLang="en-US" sz="2800" b="1" dirty="0"/>
          </a:p>
          <a:p>
            <a:pPr>
              <a:buFont typeface="Wingdings 2" panose="05020102010507070707" pitchFamily="18" charset="2"/>
              <a:buChar char="¡"/>
            </a:pPr>
            <a:endParaRPr lang="zh-CN" altLang="en-US" sz="2800" b="1"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noRot="1"/>
          </p:cNvSpPr>
          <p:nvPr>
            <p:ph type="title"/>
          </p:nvPr>
        </p:nvSpPr>
        <p:spPr/>
        <p:txBody>
          <a:bodyPr vert="horz" wrap="square" lIns="91440" tIns="45720" rIns="91440" bIns="45720" anchor="ctr" anchorCtr="0"/>
          <a:p>
            <a:pPr eaLnBrk="1" hangingPunct="1"/>
            <a:endParaRPr lang="zh-CN" altLang="en-US" dirty="0"/>
          </a:p>
        </p:txBody>
      </p:sp>
      <p:sp>
        <p:nvSpPr>
          <p:cNvPr id="158723" name="Rectangle 3"/>
          <p:cNvSpPr>
            <a:spLocks noGrp="1" noRot="1"/>
          </p:cNvSpPr>
          <p:nvPr>
            <p:ph idx="1"/>
          </p:nvPr>
        </p:nvSpPr>
        <p:spPr/>
        <p:txBody>
          <a:bodyPr vert="horz" wrap="square" lIns="91440" tIns="45720" rIns="91440" bIns="45720" anchor="t" anchorCtr="0"/>
          <a:p>
            <a:pPr eaLnBrk="1" hangingPunct="1"/>
            <a:r>
              <a:rPr lang="en-US" altLang="zh-CN" b="1" dirty="0"/>
              <a:t>Linux</a:t>
            </a:r>
            <a:r>
              <a:rPr lang="zh-CN" altLang="en-US" b="1" dirty="0"/>
              <a:t>命名管道非常适合同一机器上两个进程之间传递数据，其形式也是一个文件，但是读取与写入时遵循</a:t>
            </a:r>
            <a:r>
              <a:rPr lang="en-US" altLang="zh-CN" b="1" dirty="0"/>
              <a:t>FIFO</a:t>
            </a:r>
            <a:r>
              <a:rPr lang="zh-CN" altLang="en-US" b="1" dirty="0"/>
              <a:t>的原则。</a:t>
            </a:r>
            <a:r>
              <a:rPr lang="zh-CN" altLang="en-US" dirty="0"/>
              <a:t> </a:t>
            </a:r>
            <a:endParaRPr lang="zh-CN" altLang="en-US" dirty="0"/>
          </a:p>
          <a:p>
            <a:pPr eaLnBrk="1" hangingPunct="1"/>
            <a:r>
              <a:rPr lang="en-US" altLang="zh-CN" dirty="0"/>
              <a:t>#define FIFO_NAME "/tmp/my_fifo"</a:t>
            </a:r>
            <a:br>
              <a:rPr lang="en-US" altLang="zh-CN" dirty="0"/>
            </a:br>
            <a:r>
              <a:rPr lang="en-US" altLang="zh-CN" dirty="0"/>
              <a:t>#define BUFFER_SIZE PIPE_BUF</a:t>
            </a:r>
            <a:br>
              <a:rPr lang="en-US" altLang="zh-CN" dirty="0"/>
            </a:br>
            <a:r>
              <a:rPr lang="en-US" altLang="zh-CN" dirty="0"/>
              <a:t>mkfifo(FIFO_NAME,0777);</a:t>
            </a:r>
            <a:br>
              <a:rPr lang="en-US" altLang="zh-CN" dirty="0"/>
            </a:br>
            <a:endParaRPr lang="en-US" altLang="zh-CN" dirty="0"/>
          </a:p>
          <a:p>
            <a:pPr eaLnBrk="1" hangingPunct="1"/>
            <a:endParaRPr lang="en-US" altLang="zh-CN" dirty="0"/>
          </a:p>
          <a:p>
            <a:pPr eaLnBrk="1" hangingPunct="1"/>
            <a:endParaRPr lang="zh-CN" alt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4002" name="Rectangle 2"/>
          <p:cNvSpPr>
            <a:spLocks noGrp="1" noRot="1" noChangeArrowheads="1"/>
          </p:cNvSpPr>
          <p:nvPr>
            <p:ph type="title"/>
          </p:nvPr>
        </p:nvSpPr>
        <p:spPr>
          <a:xfrm>
            <a:off x="542925" y="309563"/>
            <a:ext cx="8218488" cy="817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3. </a:t>
            </a:r>
            <a:r>
              <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rPr>
              <a:t>消息传递方式</a:t>
            </a:r>
            <a:endParaRPr kumimoji="0" lang="zh-CN" altLang="en-US" sz="4400" b="1" i="0" u="sng" strike="noStrike" kern="0" cap="none" spc="0" normalizeH="0" baseline="0" noProof="0" smtClean="0">
              <a:ln>
                <a:noFill/>
              </a:ln>
              <a:solidFill>
                <a:schemeClr val="folHlink"/>
              </a:solidFill>
              <a:effectLst>
                <a:outerShdw blurRad="38100" dist="38100" dir="2700000" algn="tl">
                  <a:srgbClr val="C0C0C0"/>
                </a:outerShdw>
              </a:effectLst>
              <a:uLnTx/>
              <a:uFillTx/>
              <a:latin typeface="+mj-lt"/>
              <a:ea typeface="仿宋_GB2312" pitchFamily="49" charset="-122"/>
              <a:cs typeface="+mj-cs"/>
            </a:endParaRPr>
          </a:p>
        </p:txBody>
      </p:sp>
      <p:sp>
        <p:nvSpPr>
          <p:cNvPr id="384031" name="Text Box 31"/>
          <p:cNvSpPr txBox="1">
            <a:spLocks noChangeArrowheads="1"/>
          </p:cNvSpPr>
          <p:nvPr/>
        </p:nvSpPr>
        <p:spPr bwMode="auto">
          <a:xfrm>
            <a:off x="838200" y="1828800"/>
            <a:ext cx="7620000" cy="3506788"/>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消息通信实现方法：</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3200" b="1" kern="1200" cap="none" spc="0" normalizeH="0" baseline="0" noProof="0">
                <a:solidFill>
                  <a:schemeClr val="folHlink"/>
                </a:solidFill>
                <a:latin typeface="Arial" panose="020B0604020202020204" pitchFamily="34" charset="0"/>
                <a:ea typeface="宋体" panose="02010600030101010101" pitchFamily="2" charset="-122"/>
                <a:cs typeface="+mn-cs"/>
              </a:rPr>
              <a:t>1.</a:t>
            </a:r>
            <a:r>
              <a:rPr kumimoji="0" lang="zh-CN" altLang="en-US" sz="3200" b="1" kern="1200" cap="none" spc="0" normalizeH="0" baseline="0" noProof="0">
                <a:solidFill>
                  <a:schemeClr val="folHlink"/>
                </a:solidFill>
                <a:latin typeface="Arial" panose="020B0604020202020204" pitchFamily="34" charset="0"/>
                <a:ea typeface="宋体" panose="02010600030101010101" pitchFamily="2" charset="-122"/>
                <a:cs typeface="+mn-cs"/>
              </a:rPr>
              <a:t>直接通信</a:t>
            </a:r>
            <a:endParaRPr kumimoji="0" lang="zh-CN" altLang="en-US" sz="3200" b="1" kern="1200" cap="none" spc="0" normalizeH="0" baseline="0" noProof="0">
              <a:solidFill>
                <a:schemeClr val="folHlink"/>
              </a:solidFill>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en-US" altLang="zh-CN" sz="3200" b="1" kern="1200" cap="none" spc="0" normalizeH="0" baseline="0" noProof="0">
                <a:solidFill>
                  <a:schemeClr val="folHlink"/>
                </a:solidFill>
                <a:latin typeface="Arial" panose="020B0604020202020204" pitchFamily="34" charset="0"/>
                <a:ea typeface="宋体" panose="02010600030101010101" pitchFamily="2" charset="-122"/>
                <a:cs typeface="+mn-cs"/>
              </a:rPr>
              <a:t>2.</a:t>
            </a:r>
            <a:r>
              <a:rPr kumimoji="0" lang="zh-CN" altLang="en-US" sz="3200" b="1" kern="1200" cap="none" spc="0" normalizeH="0" baseline="0" noProof="0">
                <a:solidFill>
                  <a:schemeClr val="folHlink"/>
                </a:solidFill>
                <a:latin typeface="Arial" panose="020B0604020202020204" pitchFamily="34" charset="0"/>
                <a:ea typeface="宋体" panose="02010600030101010101" pitchFamily="2" charset="-122"/>
                <a:cs typeface="+mn-cs"/>
              </a:rPr>
              <a:t>间接通信</a:t>
            </a:r>
            <a:endParaRPr kumimoji="0" lang="zh-CN" altLang="en-US" sz="3200" b="1" kern="1200" cap="none" spc="0" normalizeH="0" baseline="0" noProof="0">
              <a:solidFill>
                <a:schemeClr val="folHlink"/>
              </a:solidFill>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    </a:t>
            </a:r>
            <a:r>
              <a:rPr kumimoji="0" lang="en-US" altLang="zh-CN" sz="3200" b="1" kern="1200" cap="none" spc="0" normalizeH="0" baseline="0" noProof="0">
                <a:latin typeface="Arial" panose="020B0604020202020204" pitchFamily="34" charset="0"/>
                <a:ea typeface="宋体" panose="02010600030101010101" pitchFamily="2" charset="-122"/>
                <a:cs typeface="+mn-cs"/>
              </a:rPr>
              <a:t>1</a:t>
            </a:r>
            <a:r>
              <a:rPr kumimoji="0" lang="zh-CN" altLang="en-US" sz="3200" b="1" kern="1200" cap="none" spc="0" normalizeH="0" baseline="0" noProof="0">
                <a:latin typeface="Arial" panose="020B0604020202020204" pitchFamily="34" charset="0"/>
                <a:ea typeface="宋体" panose="02010600030101010101" pitchFamily="2" charset="-122"/>
                <a:cs typeface="+mn-cs"/>
              </a:rPr>
              <a:t>）信箱</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    </a:t>
            </a:r>
            <a:r>
              <a:rPr kumimoji="0" lang="en-US" altLang="zh-CN" sz="3200" b="1" kern="1200" cap="none" spc="0" normalizeH="0" baseline="0" noProof="0">
                <a:latin typeface="Arial" panose="020B0604020202020204" pitchFamily="34" charset="0"/>
                <a:ea typeface="宋体" panose="02010600030101010101" pitchFamily="2" charset="-122"/>
                <a:cs typeface="+mn-cs"/>
              </a:rPr>
              <a:t>2</a:t>
            </a:r>
            <a:r>
              <a:rPr kumimoji="0" lang="zh-CN" altLang="en-US" sz="3200" b="1" kern="1200" cap="none" spc="0" normalizeH="0" baseline="0" noProof="0">
                <a:latin typeface="Arial" panose="020B0604020202020204" pitchFamily="34" charset="0"/>
                <a:ea typeface="宋体" panose="02010600030101010101" pitchFamily="2" charset="-122"/>
                <a:cs typeface="+mn-cs"/>
              </a:rPr>
              <a:t>）消息缓冲队列通信</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noRot="1"/>
          </p:cNvSpPr>
          <p:nvPr>
            <p:ph type="title"/>
          </p:nvPr>
        </p:nvSpPr>
        <p:spPr>
          <a:xfrm>
            <a:off x="301625" y="228600"/>
            <a:ext cx="8540750" cy="838200"/>
          </a:xfrm>
        </p:spPr>
        <p:txBody>
          <a:bodyPr vert="horz" wrap="square" lIns="91440" tIns="45720" rIns="91440" bIns="45720" anchor="ctr" anchorCtr="0"/>
          <a:p>
            <a:pPr eaLnBrk="1" hangingPunct="1"/>
            <a:r>
              <a:rPr lang="en-US" altLang="zh-CN" b="1" dirty="0">
                <a:solidFill>
                  <a:schemeClr val="folHlink"/>
                </a:solidFill>
              </a:rPr>
              <a:t>2.6.2 </a:t>
            </a:r>
            <a:r>
              <a:rPr lang="zh-CN" altLang="en-US" b="1" dirty="0">
                <a:solidFill>
                  <a:schemeClr val="folHlink"/>
                </a:solidFill>
              </a:rPr>
              <a:t>消息传递通信的实现方法</a:t>
            </a:r>
            <a:endParaRPr lang="zh-CN" altLang="en-US" b="1" dirty="0">
              <a:solidFill>
                <a:schemeClr val="folHlink"/>
              </a:solidFill>
            </a:endParaRPr>
          </a:p>
        </p:txBody>
      </p:sp>
      <p:sp>
        <p:nvSpPr>
          <p:cNvPr id="160771" name="Rectangle 3"/>
          <p:cNvSpPr>
            <a:spLocks noGrp="1" noRot="1"/>
          </p:cNvSpPr>
          <p:nvPr>
            <p:ph idx="1"/>
          </p:nvPr>
        </p:nvSpPr>
        <p:spPr>
          <a:xfrm>
            <a:off x="457200" y="1600200"/>
            <a:ext cx="8229600" cy="4876800"/>
          </a:xfrm>
        </p:spPr>
        <p:txBody>
          <a:bodyPr vert="horz" wrap="square" lIns="91440" tIns="45720" rIns="91440" bIns="45720" anchor="t" anchorCtr="0"/>
          <a:p>
            <a:pPr eaLnBrk="1" hangingPunct="1">
              <a:lnSpc>
                <a:spcPct val="110000"/>
              </a:lnSpc>
            </a:pPr>
            <a:r>
              <a:rPr lang="en-US" altLang="zh-CN" b="1" dirty="0">
                <a:solidFill>
                  <a:schemeClr val="folHlink"/>
                </a:solidFill>
              </a:rPr>
              <a:t>1. </a:t>
            </a:r>
            <a:r>
              <a:rPr lang="zh-CN" altLang="en-US" b="1" dirty="0">
                <a:solidFill>
                  <a:schemeClr val="folHlink"/>
                </a:solidFill>
              </a:rPr>
              <a:t>直接通信方式</a:t>
            </a:r>
            <a:endParaRPr lang="zh-CN" altLang="en-US" b="1" dirty="0">
              <a:solidFill>
                <a:schemeClr val="folHlink"/>
              </a:solidFill>
            </a:endParaRPr>
          </a:p>
          <a:p>
            <a:pPr eaLnBrk="1" hangingPunct="1">
              <a:lnSpc>
                <a:spcPct val="110000"/>
              </a:lnSpc>
            </a:pPr>
            <a:r>
              <a:rPr lang="zh-CN" altLang="en-US" sz="2800" dirty="0"/>
              <a:t> </a:t>
            </a:r>
            <a:r>
              <a:rPr lang="zh-CN" altLang="en-US" sz="2800" b="1" dirty="0"/>
              <a:t>这是指发送进程利用</a:t>
            </a:r>
            <a:r>
              <a:rPr lang="en-US" altLang="zh-CN" sz="2800" b="1" dirty="0"/>
              <a:t>OS</a:t>
            </a:r>
            <a:r>
              <a:rPr lang="zh-CN" altLang="en-US" sz="2800" b="1" dirty="0"/>
              <a:t>所提供的发送命令，直接把消息发送给目标进程。通常，系统提供下述两条通信命令</a:t>
            </a:r>
            <a:r>
              <a:rPr lang="en-US" altLang="zh-CN" sz="2800" b="1" dirty="0"/>
              <a:t>(</a:t>
            </a:r>
            <a:r>
              <a:rPr lang="zh-CN" altLang="en-US" sz="2800" b="1" dirty="0"/>
              <a:t>原语</a:t>
            </a:r>
            <a:r>
              <a:rPr lang="en-US" altLang="zh-CN" sz="2800" b="1" dirty="0"/>
              <a:t>)</a:t>
            </a:r>
            <a:r>
              <a:rPr lang="zh-CN" altLang="en-US" sz="2800" b="1" dirty="0"/>
              <a:t>：</a:t>
            </a:r>
            <a:endParaRPr lang="zh-CN" altLang="en-US" sz="2800" b="1" dirty="0"/>
          </a:p>
          <a:p>
            <a:pPr eaLnBrk="1" hangingPunct="1">
              <a:lnSpc>
                <a:spcPct val="110000"/>
              </a:lnSpc>
            </a:pPr>
            <a:r>
              <a:rPr lang="en-US" altLang="zh-CN" sz="2400" b="1" dirty="0">
                <a:solidFill>
                  <a:srgbClr val="FF0000"/>
                </a:solidFill>
              </a:rPr>
              <a:t>Send(Receiver, message); </a:t>
            </a:r>
            <a:r>
              <a:rPr lang="zh-CN" altLang="en-US" sz="2400" b="1" dirty="0">
                <a:solidFill>
                  <a:srgbClr val="FF0000"/>
                </a:solidFill>
              </a:rPr>
              <a:t>发送一个消息给接收进程；</a:t>
            </a:r>
            <a:endParaRPr lang="zh-CN" altLang="en-US" sz="2400" b="1" dirty="0">
              <a:solidFill>
                <a:srgbClr val="FF0000"/>
              </a:solidFill>
            </a:endParaRPr>
          </a:p>
          <a:p>
            <a:pPr eaLnBrk="1" hangingPunct="1">
              <a:lnSpc>
                <a:spcPct val="110000"/>
              </a:lnSpc>
            </a:pPr>
            <a:r>
              <a:rPr lang="en-US" altLang="zh-CN" sz="2400" b="1" dirty="0">
                <a:solidFill>
                  <a:srgbClr val="FF0000"/>
                </a:solidFill>
              </a:rPr>
              <a:t>Receive(Sender, message); </a:t>
            </a:r>
            <a:r>
              <a:rPr lang="zh-CN" altLang="en-US" sz="2400" b="1" dirty="0">
                <a:solidFill>
                  <a:srgbClr val="FF0000"/>
                </a:solidFill>
              </a:rPr>
              <a:t>接收</a:t>
            </a:r>
            <a:r>
              <a:rPr lang="en-US" altLang="zh-CN" sz="2400" b="1" dirty="0">
                <a:solidFill>
                  <a:srgbClr val="FF0000"/>
                </a:solidFill>
              </a:rPr>
              <a:t>Sender</a:t>
            </a:r>
            <a:r>
              <a:rPr lang="zh-CN" altLang="en-US" sz="2400" b="1" dirty="0">
                <a:solidFill>
                  <a:srgbClr val="FF0000"/>
                </a:solidFill>
              </a:rPr>
              <a:t>发来的消息；</a:t>
            </a:r>
            <a:endParaRPr lang="zh-CN" altLang="en-US" sz="2400" b="1" dirty="0">
              <a:solidFill>
                <a:srgbClr val="FF0000"/>
              </a:solidFill>
            </a:endParaRPr>
          </a:p>
          <a:p>
            <a:pPr eaLnBrk="1" hangingPunct="1">
              <a:lnSpc>
                <a:spcPct val="110000"/>
              </a:lnSpc>
            </a:pPr>
            <a:r>
              <a:rPr lang="zh-CN" altLang="en-US" sz="2400" b="1" dirty="0"/>
              <a:t>例如，原语</a:t>
            </a:r>
            <a:r>
              <a:rPr lang="en-US" altLang="zh-CN" sz="2400" b="1" dirty="0"/>
              <a:t>Send(P2, m1)</a:t>
            </a:r>
            <a:r>
              <a:rPr lang="zh-CN" altLang="en-US" sz="2400" b="1" dirty="0"/>
              <a:t>表示将消息</a:t>
            </a:r>
            <a:r>
              <a:rPr lang="en-US" altLang="zh-CN" sz="2400" b="1" dirty="0"/>
              <a:t>m1</a:t>
            </a:r>
            <a:r>
              <a:rPr lang="zh-CN" altLang="en-US" sz="2400" b="1" dirty="0"/>
              <a:t>发送给接收进程</a:t>
            </a:r>
            <a:r>
              <a:rPr lang="en-US" altLang="zh-CN" sz="2400" b="1" dirty="0"/>
              <a:t>P2; </a:t>
            </a:r>
            <a:r>
              <a:rPr lang="zh-CN" altLang="en-US" sz="2400" b="1" dirty="0"/>
              <a:t>而原语</a:t>
            </a:r>
            <a:r>
              <a:rPr lang="en-US" altLang="zh-CN" sz="2400" b="1" dirty="0"/>
              <a:t>Receive(P1</a:t>
            </a:r>
            <a:r>
              <a:rPr lang="zh-CN" altLang="en-US" sz="2400" b="1" dirty="0"/>
              <a:t>，</a:t>
            </a:r>
            <a:r>
              <a:rPr lang="en-US" altLang="zh-CN" sz="2400" b="1" dirty="0"/>
              <a:t>m1)</a:t>
            </a:r>
            <a:r>
              <a:rPr lang="zh-CN" altLang="en-US" sz="2400" b="1" dirty="0"/>
              <a:t>则表示接收由</a:t>
            </a:r>
            <a:r>
              <a:rPr lang="en-US" altLang="zh-CN" sz="2400" b="1" dirty="0"/>
              <a:t>P1</a:t>
            </a:r>
            <a:r>
              <a:rPr lang="zh-CN" altLang="en-US" sz="2400" b="1" dirty="0"/>
              <a:t>发来的消息</a:t>
            </a:r>
            <a:r>
              <a:rPr lang="en-US" altLang="zh-CN" sz="2400" b="1" dirty="0"/>
              <a:t>m1</a:t>
            </a:r>
            <a:r>
              <a:rPr lang="zh-CN" altLang="en-US" sz="2400" b="1" dirty="0"/>
              <a:t>。 </a:t>
            </a:r>
            <a:endParaRPr lang="zh-CN" altLang="en-US" sz="2400" b="1"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标题 1"/>
          <p:cNvSpPr>
            <a:spLocks noGrp="1"/>
          </p:cNvSpPr>
          <p:nvPr>
            <p:ph type="title"/>
          </p:nvPr>
        </p:nvSpPr>
        <p:spPr/>
        <p:txBody>
          <a:bodyPr vert="horz" wrap="square" lIns="91440" tIns="45720" rIns="91440" bIns="45720" anchor="ctr" anchorCtr="0"/>
          <a:p>
            <a:r>
              <a:rPr lang="zh-CN" altLang="en-US" b="1" dirty="0"/>
              <a:t>直接消息通信的缺陷</a:t>
            </a:r>
            <a:endParaRPr lang="zh-CN" altLang="en-US" b="1" dirty="0"/>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uLnTx/>
                <a:uFillTx/>
                <a:latin typeface="+mn-lt"/>
                <a:ea typeface="+mn-ea"/>
                <a:cs typeface="+mn-cs"/>
              </a:rPr>
              <a:t>由于没有一个机构管理消息，因此发送方和接收方之间在程序设计时需要考虑同步问题。可能出现三种情况：</a:t>
            </a:r>
            <a:endParaRPr kumimoji="0" lang="en-US" altLang="zh-CN" sz="3200" b="1" i="0" u="none" strike="noStrike" kern="0" cap="none" spc="0" normalizeH="0" baseline="0" noProof="0" dirty="0" smtClean="0">
              <a:ln>
                <a:noFill/>
              </a:ln>
              <a:solidFill>
                <a:srgbClr val="FF0000"/>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rPr>
              <a:t>发送进程阻塞，接收进程阻塞，二者之间无缓冲时。</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mn-lt"/>
                <a:ea typeface="+mn-ea"/>
              </a:rPr>
              <a:t>发送进程不</a:t>
            </a:r>
            <a:r>
              <a:rPr kumimoji="0" lang="zh-CN" altLang="en-US" sz="2800" b="1" i="0" u="none" strike="noStrike" kern="0" cap="none" spc="0" normalizeH="0" baseline="0" noProof="0" dirty="0" smtClean="0">
                <a:ln>
                  <a:noFill/>
                </a:ln>
                <a:solidFill>
                  <a:schemeClr val="tx1"/>
                </a:solidFill>
                <a:effectLst/>
                <a:uLnTx/>
                <a:uFillTx/>
                <a:latin typeface="+mn-lt"/>
                <a:ea typeface="+mn-ea"/>
              </a:rPr>
              <a:t>阻塞，接收进程阻塞。</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mn-lt"/>
                <a:ea typeface="+mn-ea"/>
              </a:rPr>
              <a:t>发送进程和接收进程均不</a:t>
            </a:r>
            <a:r>
              <a:rPr kumimoji="0" lang="zh-CN" altLang="en-US" sz="2800" b="1" i="0" u="none" strike="noStrike" kern="0" cap="none" spc="0" normalizeH="0" baseline="0" noProof="0" dirty="0" smtClean="0">
                <a:ln>
                  <a:noFill/>
                </a:ln>
                <a:solidFill>
                  <a:schemeClr val="tx1"/>
                </a:solidFill>
                <a:effectLst/>
                <a:uLnTx/>
                <a:uFillTx/>
                <a:latin typeface="+mn-lt"/>
                <a:ea typeface="+mn-ea"/>
              </a:rPr>
              <a:t>阻塞。</a:t>
            </a: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457200" marR="0" lvl="1" indent="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hlink"/>
              </a:buClr>
              <a:buSzPct val="85000"/>
              <a:buFont typeface="Wingdings" panose="05000000000000000000" pitchFamily="2" charset="2"/>
              <a:buChar char=""/>
              <a:defRPr/>
            </a:pPr>
            <a:endParaRPr kumimoji="0" lang="zh-CN" altLang="en-US" sz="2800" b="1" i="0" u="none" strike="noStrike" kern="0" cap="none" spc="0" normalizeH="0" baseline="0" noProof="0" dirty="0">
              <a:ln>
                <a:noFill/>
              </a:ln>
              <a:solidFill>
                <a:schemeClr val="tx1"/>
              </a:solidFill>
              <a:effectLst/>
              <a:uLnTx/>
              <a:uFillTx/>
              <a:latin typeface="+mn-lt"/>
              <a:ea typeface="+mn-ea"/>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noRot="1"/>
          </p:cNvSpPr>
          <p:nvPr>
            <p:ph type="title"/>
          </p:nvPr>
        </p:nvSpPr>
        <p:spPr/>
        <p:txBody>
          <a:bodyPr vert="horz" wrap="square" lIns="91440" tIns="45720" rIns="91440" bIns="45720" anchor="ctr" anchorCtr="0"/>
          <a:p>
            <a:pPr eaLnBrk="1" hangingPunct="1"/>
            <a:endParaRPr lang="zh-CN" altLang="en-US" dirty="0"/>
          </a:p>
        </p:txBody>
      </p:sp>
      <p:sp>
        <p:nvSpPr>
          <p:cNvPr id="162819" name="Text Box 4"/>
          <p:cNvSpPr/>
          <p:nvPr>
            <p:ph idx="1"/>
          </p:nvPr>
        </p:nvSpPr>
        <p:spPr/>
        <p:txBody>
          <a:bodyPr vert="horz" wrap="square" lIns="91440" tIns="45720" rIns="91440" bIns="45720" anchor="t" anchorCtr="0"/>
          <a:p>
            <a:pPr eaLnBrk="1" hangingPunct="1">
              <a:lnSpc>
                <a:spcPct val="130000"/>
              </a:lnSpc>
              <a:spcBef>
                <a:spcPct val="0"/>
              </a:spcBef>
              <a:buClrTx/>
              <a:buSzTx/>
              <a:buFontTx/>
              <a:buNone/>
            </a:pPr>
            <a:r>
              <a:rPr lang="en-US" altLang="zh-CN" b="1" dirty="0">
                <a:solidFill>
                  <a:schemeClr val="folHlink"/>
                </a:solidFill>
              </a:rPr>
              <a:t>2. </a:t>
            </a:r>
            <a:r>
              <a:rPr lang="zh-CN" altLang="en-US" b="1" dirty="0">
                <a:solidFill>
                  <a:schemeClr val="folHlink"/>
                </a:solidFill>
              </a:rPr>
              <a:t>间接通信方式</a:t>
            </a:r>
            <a:r>
              <a:rPr lang="zh-CN" altLang="en-US" dirty="0"/>
              <a:t> 	</a:t>
            </a:r>
            <a:endParaRPr lang="zh-CN" altLang="en-US" dirty="0"/>
          </a:p>
          <a:p>
            <a:pPr lvl="1" eaLnBrk="1" hangingPunct="1">
              <a:lnSpc>
                <a:spcPct val="130000"/>
              </a:lnSpc>
              <a:spcBef>
                <a:spcPct val="0"/>
              </a:spcBef>
              <a:buClrTx/>
              <a:buFont typeface="Wingdings" panose="05000000000000000000" pitchFamily="2" charset="2"/>
              <a:buChar char="Ø"/>
            </a:pPr>
            <a:r>
              <a:rPr lang="zh-CN" altLang="en-US" sz="3200" b="1" dirty="0">
                <a:solidFill>
                  <a:srgbClr val="FF0000"/>
                </a:solidFill>
              </a:rPr>
              <a:t>信箱</a:t>
            </a:r>
            <a:r>
              <a:rPr lang="zh-CN" altLang="en-US" sz="3200" b="1" dirty="0"/>
              <a:t>  进程之间的通信，需要通过某种中间实体（如共享数据结构等）来完成。</a:t>
            </a:r>
            <a:endParaRPr lang="zh-CN" altLang="en-US" sz="3200" b="1"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Text Box 4"/>
          <p:cNvSpPr txBox="1"/>
          <p:nvPr/>
        </p:nvSpPr>
        <p:spPr>
          <a:xfrm>
            <a:off x="533400" y="496888"/>
            <a:ext cx="2384425"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3600" b="1" dirty="0">
                <a:solidFill>
                  <a:schemeClr val="folHlink"/>
                </a:solidFill>
                <a:latin typeface="Times New Roman" panose="02020603050405020304" pitchFamily="18" charset="0"/>
              </a:rPr>
              <a:t>（</a:t>
            </a:r>
            <a:r>
              <a:rPr lang="en-US" altLang="zh-CN" sz="3600" b="1" dirty="0">
                <a:solidFill>
                  <a:schemeClr val="folHlink"/>
                </a:solidFill>
                <a:latin typeface="Times New Roman" panose="02020603050405020304" pitchFamily="18" charset="0"/>
              </a:rPr>
              <a:t>1</a:t>
            </a:r>
            <a:r>
              <a:rPr lang="zh-CN" altLang="en-US" sz="3600" b="1" dirty="0">
                <a:solidFill>
                  <a:schemeClr val="folHlink"/>
                </a:solidFill>
                <a:latin typeface="Times New Roman" panose="02020603050405020304" pitchFamily="18" charset="0"/>
              </a:rPr>
              <a:t>）信箱 </a:t>
            </a:r>
            <a:endParaRPr lang="zh-CN" altLang="en-US" sz="3600" b="1" dirty="0">
              <a:solidFill>
                <a:schemeClr val="folHlink"/>
              </a:solidFill>
              <a:latin typeface="Times New Roman" panose="02020603050405020304" pitchFamily="18" charset="0"/>
            </a:endParaRPr>
          </a:p>
        </p:txBody>
      </p:sp>
      <p:sp>
        <p:nvSpPr>
          <p:cNvPr id="413701" name="Text Box 5"/>
          <p:cNvSpPr txBox="1"/>
          <p:nvPr/>
        </p:nvSpPr>
        <p:spPr>
          <a:xfrm>
            <a:off x="304800" y="1495425"/>
            <a:ext cx="8458200" cy="50577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en-US" altLang="zh-CN" sz="2600" b="1" dirty="0">
                <a:solidFill>
                  <a:schemeClr val="folHlink"/>
                </a:solidFill>
                <a:latin typeface="Times New Roman" panose="02020603050405020304" pitchFamily="18" charset="0"/>
              </a:rPr>
              <a:t>(1) </a:t>
            </a:r>
            <a:r>
              <a:rPr lang="zh-CN" altLang="en-US" sz="2600" b="1" dirty="0">
                <a:solidFill>
                  <a:schemeClr val="folHlink"/>
                </a:solidFill>
                <a:latin typeface="Times New Roman" panose="02020603050405020304" pitchFamily="18" charset="0"/>
              </a:rPr>
              <a:t>信箱的创建和撤消。</a:t>
            </a:r>
            <a:r>
              <a:rPr lang="zh-CN" altLang="en-US" sz="2600" b="1" dirty="0">
                <a:latin typeface="Times New Roman" panose="02020603050405020304" pitchFamily="18" charset="0"/>
              </a:rPr>
              <a:t>进程可利用信箱创建原语来建立一个新信箱。创建者进程应给出信箱名字、信箱属性</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公用、私用或共享</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；对于共享信箱， 还应给出共享者的名字。当进程不再需要读信箱时，可用信箱撤消原语将之撤消。</a:t>
            </a:r>
            <a:endParaRPr lang="zh-CN" altLang="en-US" sz="26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en-US" altLang="zh-CN" sz="2600" b="1" dirty="0">
                <a:solidFill>
                  <a:schemeClr val="folHlink"/>
                </a:solidFill>
                <a:latin typeface="Times New Roman" panose="02020603050405020304" pitchFamily="18" charset="0"/>
              </a:rPr>
              <a:t>(2) </a:t>
            </a:r>
            <a:r>
              <a:rPr lang="zh-CN" altLang="en-US" sz="2600" b="1" dirty="0">
                <a:solidFill>
                  <a:schemeClr val="folHlink"/>
                </a:solidFill>
                <a:latin typeface="Times New Roman" panose="02020603050405020304" pitchFamily="18" charset="0"/>
              </a:rPr>
              <a:t>消息的发送和接收。</a:t>
            </a:r>
            <a:r>
              <a:rPr lang="zh-CN" altLang="en-US" sz="2600" b="1" dirty="0">
                <a:latin typeface="Times New Roman" panose="02020603050405020304" pitchFamily="18" charset="0"/>
              </a:rPr>
              <a:t>当进程之间要利用信箱进行通信时，必须使用共享信箱，并利用系统提供的下述通信原语进行通信。</a:t>
            </a:r>
            <a:endParaRPr lang="zh-CN" altLang="en-US" sz="26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en-US" altLang="zh-CN" sz="2600" b="1" dirty="0">
                <a:solidFill>
                  <a:srgbClr val="FF0000"/>
                </a:solidFill>
                <a:latin typeface="Times New Roman" panose="02020603050405020304" pitchFamily="18" charset="0"/>
              </a:rPr>
              <a:t>Send(mailbox, message); </a:t>
            </a:r>
            <a:r>
              <a:rPr lang="zh-CN" altLang="en-US" sz="2600" b="1" dirty="0">
                <a:solidFill>
                  <a:srgbClr val="FF0000"/>
                </a:solidFill>
                <a:latin typeface="Times New Roman" panose="02020603050405020304" pitchFamily="18" charset="0"/>
              </a:rPr>
              <a:t>将一个消息发送到指定信箱；</a:t>
            </a:r>
            <a:endParaRPr lang="zh-CN" altLang="en-US" sz="2600" b="1" dirty="0">
              <a:solidFill>
                <a:srgbClr val="FF0000"/>
              </a:solidFill>
              <a:latin typeface="Times New Roman" panose="02020603050405020304" pitchFamily="18" charset="0"/>
            </a:endParaRPr>
          </a:p>
          <a:p>
            <a:pPr marL="0" lvl="0" indent="0" eaLnBrk="1" hangingPunct="1">
              <a:lnSpc>
                <a:spcPct val="110000"/>
              </a:lnSpc>
              <a:spcBef>
                <a:spcPct val="50000"/>
              </a:spcBef>
              <a:buClrTx/>
              <a:buSzTx/>
              <a:buFontTx/>
              <a:buNone/>
            </a:pPr>
            <a:r>
              <a:rPr lang="en-US" altLang="zh-CN" sz="2600" b="1" dirty="0">
                <a:solidFill>
                  <a:srgbClr val="FF0000"/>
                </a:solidFill>
                <a:latin typeface="Times New Roman" panose="02020603050405020304" pitchFamily="18" charset="0"/>
              </a:rPr>
              <a:t>Receive(mailbox, message); </a:t>
            </a:r>
            <a:r>
              <a:rPr lang="zh-CN" altLang="en-US" sz="2600" b="1" dirty="0">
                <a:solidFill>
                  <a:srgbClr val="FF0000"/>
                </a:solidFill>
                <a:latin typeface="Times New Roman" panose="02020603050405020304" pitchFamily="18" charset="0"/>
              </a:rPr>
              <a:t>从指定信箱中接收一个消息； </a:t>
            </a:r>
            <a:endParaRPr lang="zh-CN" altLang="en-US" sz="2600" b="1"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3701">
                                            <p:txEl>
                                              <p:charRg st="0" end="10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3701">
                                            <p:txEl>
                                              <p:charRg st="106" end="16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3701">
                                            <p:txEl>
                                              <p:charRg st="164" end="20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3701">
                                            <p:txEl>
                                              <p:charRg st="202" end="24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Text Box 2"/>
          <p:cNvSpPr txBox="1"/>
          <p:nvPr/>
        </p:nvSpPr>
        <p:spPr>
          <a:xfrm>
            <a:off x="457200" y="762000"/>
            <a:ext cx="8229600" cy="5486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zh-CN" altLang="en-US" sz="2800" b="1" dirty="0">
                <a:latin typeface="Times New Roman" panose="02020603050405020304" pitchFamily="18" charset="0"/>
              </a:rPr>
              <a:t>        信箱可由操作系统创建，也可由用户进程创建，创建者是信箱的拥有者。据此，可把信箱分为以下三类：</a:t>
            </a:r>
            <a:endParaRPr lang="zh-CN" altLang="en-US" sz="28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solidFill>
                  <a:schemeClr val="folHlink"/>
                </a:solidFill>
                <a:latin typeface="Times New Roman" panose="02020603050405020304" pitchFamily="18" charset="0"/>
              </a:rPr>
              <a:t>        </a:t>
            </a:r>
            <a:r>
              <a:rPr lang="en-US" altLang="zh-CN" sz="3600" b="1" dirty="0">
                <a:solidFill>
                  <a:schemeClr val="folHlink"/>
                </a:solidFill>
                <a:latin typeface="Times New Roman" panose="02020603050405020304" pitchFamily="18" charset="0"/>
              </a:rPr>
              <a:t>1) </a:t>
            </a:r>
            <a:r>
              <a:rPr lang="zh-CN" altLang="en-US" sz="3600" b="1" dirty="0">
                <a:solidFill>
                  <a:schemeClr val="folHlink"/>
                </a:solidFill>
                <a:latin typeface="Times New Roman" panose="02020603050405020304" pitchFamily="18" charset="0"/>
              </a:rPr>
              <a:t>私用信箱</a:t>
            </a:r>
            <a:endParaRPr lang="zh-CN" altLang="en-US" sz="3600" b="1" dirty="0">
              <a:solidFill>
                <a:schemeClr val="folHlink"/>
              </a:solidFill>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latin typeface="Times New Roman" panose="02020603050405020304" pitchFamily="18" charset="0"/>
              </a:rPr>
              <a:t>        用户进程可为自己建立一个新信箱，并作为该进程的一部分。</a:t>
            </a:r>
            <a:r>
              <a:rPr lang="zh-CN" altLang="en-US" sz="2800" b="1" i="1" u="sng" dirty="0">
                <a:solidFill>
                  <a:schemeClr val="folHlink"/>
                </a:solidFill>
                <a:latin typeface="Times New Roman" panose="02020603050405020304" pitchFamily="18" charset="0"/>
              </a:rPr>
              <a:t>信箱的拥有者有权从信箱中读取消息，其他用户则只能将自己构成的消息发送到该信箱中。</a:t>
            </a:r>
            <a:r>
              <a:rPr lang="zh-CN" altLang="en-US" sz="2800" b="1" dirty="0">
                <a:latin typeface="Times New Roman" panose="02020603050405020304" pitchFamily="18" charset="0"/>
              </a:rPr>
              <a:t>这种私用信箱可采用</a:t>
            </a:r>
            <a:r>
              <a:rPr lang="zh-CN" altLang="en-US" sz="2800" b="1" dirty="0">
                <a:solidFill>
                  <a:schemeClr val="folHlink"/>
                </a:solidFill>
                <a:latin typeface="Times New Roman" panose="02020603050405020304" pitchFamily="18" charset="0"/>
              </a:rPr>
              <a:t>单向通信链路</a:t>
            </a:r>
            <a:r>
              <a:rPr lang="zh-CN" altLang="en-US" sz="2800" b="1" dirty="0">
                <a:latin typeface="Times New Roman" panose="02020603050405020304" pitchFamily="18" charset="0"/>
              </a:rPr>
              <a:t>的信箱来实现。 当拥有该信箱的进程结束时，信箱也随之消失。 </a:t>
            </a:r>
            <a:endParaRPr lang="zh-CN" altLang="en-US" sz="2800" b="1" dirty="0">
              <a:latin typeface="Times New Roman" panose="02020603050405020304" pitchFamily="18" charset="0"/>
            </a:endParaRP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5746" name="Text Box 2"/>
          <p:cNvSpPr txBox="1"/>
          <p:nvPr/>
        </p:nvSpPr>
        <p:spPr>
          <a:xfrm>
            <a:off x="457200" y="457200"/>
            <a:ext cx="8077200" cy="59039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zh-CN" altLang="en-US" sz="2800" b="1" dirty="0">
                <a:solidFill>
                  <a:schemeClr val="folHlink"/>
                </a:solidFill>
                <a:latin typeface="Times New Roman" panose="02020603050405020304" pitchFamily="18" charset="0"/>
              </a:rPr>
              <a:t>        </a:t>
            </a:r>
            <a:r>
              <a:rPr lang="en-US" altLang="zh-CN" sz="2800" b="1" dirty="0">
                <a:solidFill>
                  <a:schemeClr val="folHlink"/>
                </a:solidFill>
                <a:latin typeface="Times New Roman" panose="02020603050405020304" pitchFamily="18" charset="0"/>
              </a:rPr>
              <a:t>2) </a:t>
            </a:r>
            <a:r>
              <a:rPr lang="zh-CN" altLang="en-US" sz="2800" b="1" dirty="0">
                <a:solidFill>
                  <a:schemeClr val="folHlink"/>
                </a:solidFill>
                <a:latin typeface="Times New Roman" panose="02020603050405020304" pitchFamily="18" charset="0"/>
              </a:rPr>
              <a:t>公用信箱</a:t>
            </a:r>
            <a:endParaRPr lang="zh-CN" altLang="en-US" sz="28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latin typeface="Times New Roman" panose="02020603050405020304" pitchFamily="18" charset="0"/>
              </a:rPr>
              <a:t>        它由操作系统创建，并提供给系统中的所有核准进程使用。</a:t>
            </a:r>
            <a:r>
              <a:rPr lang="zh-CN" altLang="en-US" sz="2800" b="1" i="1" u="sng" dirty="0">
                <a:solidFill>
                  <a:schemeClr val="folHlink"/>
                </a:solidFill>
                <a:latin typeface="Times New Roman" panose="02020603050405020304" pitchFamily="18" charset="0"/>
              </a:rPr>
              <a:t>进程既可把消息发送到该信箱中，也可从信箱中读取发送给自己的消息</a:t>
            </a:r>
            <a:r>
              <a:rPr lang="zh-CN" altLang="en-US" sz="2800" b="1" dirty="0">
                <a:latin typeface="Times New Roman" panose="02020603050405020304" pitchFamily="18" charset="0"/>
              </a:rPr>
              <a:t>。显然，公用信箱应采用</a:t>
            </a:r>
            <a:r>
              <a:rPr lang="zh-CN" altLang="en-US" sz="2800" b="1" dirty="0">
                <a:solidFill>
                  <a:schemeClr val="folHlink"/>
                </a:solidFill>
                <a:latin typeface="Times New Roman" panose="02020603050405020304" pitchFamily="18" charset="0"/>
              </a:rPr>
              <a:t>双向通信链路</a:t>
            </a:r>
            <a:r>
              <a:rPr lang="zh-CN" altLang="en-US" sz="2800" b="1" dirty="0">
                <a:latin typeface="Times New Roman" panose="02020603050405020304" pitchFamily="18" charset="0"/>
              </a:rPr>
              <a:t>的信箱来实现。通常，公用信箱在系统运行期间始终存在。</a:t>
            </a:r>
            <a:endParaRPr lang="zh-CN" altLang="en-US" sz="2800" b="1" dirty="0">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solidFill>
                  <a:schemeClr val="folHlink"/>
                </a:solidFill>
                <a:latin typeface="Times New Roman" panose="02020603050405020304" pitchFamily="18" charset="0"/>
              </a:rPr>
              <a:t>        </a:t>
            </a:r>
            <a:r>
              <a:rPr lang="en-US" altLang="zh-CN" sz="2800" b="1" dirty="0">
                <a:solidFill>
                  <a:schemeClr val="folHlink"/>
                </a:solidFill>
                <a:latin typeface="Times New Roman" panose="02020603050405020304" pitchFamily="18" charset="0"/>
              </a:rPr>
              <a:t>3) </a:t>
            </a:r>
            <a:r>
              <a:rPr lang="zh-CN" altLang="en-US" sz="2800" b="1" dirty="0">
                <a:solidFill>
                  <a:schemeClr val="folHlink"/>
                </a:solidFill>
                <a:latin typeface="Times New Roman" panose="02020603050405020304" pitchFamily="18" charset="0"/>
              </a:rPr>
              <a:t>共享信箱</a:t>
            </a:r>
            <a:endParaRPr lang="zh-CN" altLang="en-US" sz="2800" b="1" dirty="0">
              <a:solidFill>
                <a:schemeClr val="folHlink"/>
              </a:solidFill>
              <a:latin typeface="Times New Roman" panose="02020603050405020304" pitchFamily="18" charset="0"/>
            </a:endParaRPr>
          </a:p>
          <a:p>
            <a:pPr marL="0" lvl="0" indent="0" algn="just" eaLnBrk="1" hangingPunct="1">
              <a:lnSpc>
                <a:spcPct val="110000"/>
              </a:lnSpc>
              <a:spcBef>
                <a:spcPct val="50000"/>
              </a:spcBef>
              <a:buClrTx/>
              <a:buSzTx/>
              <a:buFontTx/>
              <a:buNone/>
            </a:pPr>
            <a:r>
              <a:rPr lang="zh-CN" altLang="en-US" sz="2800" b="1" dirty="0">
                <a:latin typeface="Times New Roman" panose="02020603050405020304" pitchFamily="18" charset="0"/>
              </a:rPr>
              <a:t>       它由某进程创建，在创建时或创建后，指明它是可共享的，同时须指出共享进程</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用户</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的名字。</a:t>
            </a:r>
            <a:r>
              <a:rPr lang="zh-CN" altLang="en-US" sz="2800" b="1" i="1" u="sng" dirty="0">
                <a:solidFill>
                  <a:schemeClr val="folHlink"/>
                </a:solidFill>
                <a:latin typeface="Times New Roman" panose="02020603050405020304" pitchFamily="18" charset="0"/>
              </a:rPr>
              <a:t>信箱的拥有者和共享者，都有权从信箱中取走发送给自己的消息</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746">
                                            <p:txEl>
                                              <p:charRg st="0" end="1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5746">
                                            <p:txEl>
                                              <p:charRg st="16" end="12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5746">
                                            <p:txEl>
                                              <p:charRg st="125" end="14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5746">
                                            <p:txEl>
                                              <p:charRg st="141" end="2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Text Box 2"/>
          <p:cNvSpPr txBox="1"/>
          <p:nvPr/>
        </p:nvSpPr>
        <p:spPr>
          <a:xfrm>
            <a:off x="228600" y="490538"/>
            <a:ext cx="8534400" cy="60690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r>
              <a:rPr lang="zh-CN" altLang="en-US" sz="2800" b="1" dirty="0">
                <a:latin typeface="Times New Roman" panose="02020603050405020304" pitchFamily="18" charset="0"/>
              </a:rPr>
              <a:t>       在利用信箱通信时，在发送进程和接收进程之间，存在以下四种关系：</a:t>
            </a:r>
            <a:endParaRPr lang="zh-CN" altLang="en-US" sz="2800" b="1" dirty="0">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800" b="1" dirty="0">
                <a:solidFill>
                  <a:schemeClr val="folHlink"/>
                </a:solidFill>
                <a:latin typeface="Times New Roman" panose="02020603050405020304" pitchFamily="18" charset="0"/>
              </a:rPr>
              <a:t>       </a:t>
            </a:r>
            <a:r>
              <a:rPr lang="en-US" altLang="zh-CN" sz="2600" b="1" dirty="0">
                <a:solidFill>
                  <a:schemeClr val="folHlink"/>
                </a:solidFill>
                <a:latin typeface="Times New Roman" panose="02020603050405020304" pitchFamily="18" charset="0"/>
              </a:rPr>
              <a:t>(1) </a:t>
            </a:r>
            <a:r>
              <a:rPr lang="zh-CN" altLang="en-US" sz="2600" b="1" dirty="0">
                <a:solidFill>
                  <a:schemeClr val="folHlink"/>
                </a:solidFill>
                <a:latin typeface="Times New Roman" panose="02020603050405020304" pitchFamily="18" charset="0"/>
              </a:rPr>
              <a:t>一对一关系。</a:t>
            </a:r>
            <a:r>
              <a:rPr lang="zh-CN" altLang="en-US" sz="2600" b="1" dirty="0">
                <a:latin typeface="Times New Roman" panose="02020603050405020304" pitchFamily="18" charset="0"/>
              </a:rPr>
              <a:t>这时可为发送进程和接收进程建立一条</a:t>
            </a:r>
            <a:r>
              <a:rPr lang="zh-CN" altLang="en-US" sz="2600" b="1" i="1" dirty="0">
                <a:solidFill>
                  <a:schemeClr val="folHlink"/>
                </a:solidFill>
                <a:latin typeface="Times New Roman" panose="02020603050405020304" pitchFamily="18" charset="0"/>
              </a:rPr>
              <a:t>两者专用的通信链路</a:t>
            </a:r>
            <a:r>
              <a:rPr lang="zh-CN" altLang="en-US" sz="2600" b="1" dirty="0">
                <a:latin typeface="Times New Roman" panose="02020603050405020304" pitchFamily="18" charset="0"/>
              </a:rPr>
              <a:t>，使两者之间的交互不受其他进程的干扰。</a:t>
            </a:r>
            <a:endParaRPr lang="zh-CN" altLang="en-US" sz="2600" b="1" dirty="0">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600" b="1" dirty="0">
                <a:solidFill>
                  <a:schemeClr val="folHlink"/>
                </a:solidFill>
                <a:latin typeface="Times New Roman" panose="02020603050405020304" pitchFamily="18" charset="0"/>
              </a:rPr>
              <a:t>       </a:t>
            </a:r>
            <a:r>
              <a:rPr lang="en-US" altLang="zh-CN" sz="2600" b="1" dirty="0">
                <a:solidFill>
                  <a:schemeClr val="folHlink"/>
                </a:solidFill>
                <a:latin typeface="Times New Roman" panose="02020603050405020304" pitchFamily="18" charset="0"/>
              </a:rPr>
              <a:t>(2) </a:t>
            </a:r>
            <a:r>
              <a:rPr lang="zh-CN" altLang="en-US" sz="2600" b="1" dirty="0">
                <a:solidFill>
                  <a:schemeClr val="folHlink"/>
                </a:solidFill>
                <a:latin typeface="Times New Roman" panose="02020603050405020304" pitchFamily="18" charset="0"/>
              </a:rPr>
              <a:t>多对一关系。</a:t>
            </a:r>
            <a:r>
              <a:rPr lang="zh-CN" altLang="en-US" sz="2600" b="1" dirty="0">
                <a:latin typeface="Times New Roman" panose="02020603050405020304" pitchFamily="18" charset="0"/>
              </a:rPr>
              <a:t>允许</a:t>
            </a:r>
            <a:r>
              <a:rPr lang="zh-CN" altLang="en-US" sz="2600" b="1" i="1" dirty="0">
                <a:solidFill>
                  <a:schemeClr val="folHlink"/>
                </a:solidFill>
                <a:latin typeface="Times New Roman" panose="02020603050405020304" pitchFamily="18" charset="0"/>
              </a:rPr>
              <a:t>提供服务的进程与多个用户进程之间进行交互</a:t>
            </a:r>
            <a:r>
              <a:rPr lang="zh-CN" altLang="en-US" sz="2600" b="1" dirty="0">
                <a:latin typeface="Times New Roman" panose="02020603050405020304" pitchFamily="18" charset="0"/>
              </a:rPr>
              <a:t>，也称为客户</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服务器交互</a:t>
            </a:r>
            <a:r>
              <a:rPr lang="en-US" altLang="zh-CN" sz="2600" b="1" dirty="0">
                <a:latin typeface="Times New Roman" panose="02020603050405020304" pitchFamily="18" charset="0"/>
              </a:rPr>
              <a:t>(client/server interaction)</a:t>
            </a:r>
            <a:r>
              <a:rPr lang="zh-CN" altLang="en-US" sz="2600" b="1" dirty="0">
                <a:latin typeface="Times New Roman" panose="02020603050405020304" pitchFamily="18" charset="0"/>
              </a:rPr>
              <a:t>。</a:t>
            </a:r>
            <a:endParaRPr lang="zh-CN" altLang="en-US" sz="2600" b="1" dirty="0">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600" b="1" dirty="0">
                <a:latin typeface="Times New Roman" panose="02020603050405020304" pitchFamily="18" charset="0"/>
              </a:rPr>
              <a:t>        </a:t>
            </a:r>
            <a:r>
              <a:rPr lang="en-US" altLang="zh-CN" sz="2600" b="1" dirty="0">
                <a:solidFill>
                  <a:schemeClr val="folHlink"/>
                </a:solidFill>
                <a:latin typeface="Times New Roman" panose="02020603050405020304" pitchFamily="18" charset="0"/>
              </a:rPr>
              <a:t>(3) </a:t>
            </a:r>
            <a:r>
              <a:rPr lang="zh-CN" altLang="en-US" sz="2600" b="1" dirty="0">
                <a:solidFill>
                  <a:schemeClr val="folHlink"/>
                </a:solidFill>
                <a:latin typeface="Times New Roman" panose="02020603050405020304" pitchFamily="18" charset="0"/>
              </a:rPr>
              <a:t>一对多关系。</a:t>
            </a:r>
            <a:r>
              <a:rPr lang="zh-CN" altLang="en-US" sz="2600" b="1" dirty="0">
                <a:latin typeface="Times New Roman" panose="02020603050405020304" pitchFamily="18" charset="0"/>
              </a:rPr>
              <a:t>允许</a:t>
            </a:r>
            <a:r>
              <a:rPr lang="zh-CN" altLang="en-US" sz="2600" b="1" i="1" dirty="0">
                <a:solidFill>
                  <a:schemeClr val="folHlink"/>
                </a:solidFill>
                <a:latin typeface="Times New Roman" panose="02020603050405020304" pitchFamily="18" charset="0"/>
              </a:rPr>
              <a:t>一个发送进程与多个接收进程进行交互</a:t>
            </a:r>
            <a:r>
              <a:rPr lang="zh-CN" altLang="en-US" sz="2600" b="1" dirty="0">
                <a:latin typeface="Times New Roman" panose="02020603050405020304" pitchFamily="18" charset="0"/>
              </a:rPr>
              <a:t>，使发送进程可用广播方式，向接收者</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多个</a:t>
            </a:r>
            <a:r>
              <a:rPr lang="en-US" altLang="zh-CN" sz="2600" b="1" dirty="0">
                <a:latin typeface="Times New Roman" panose="02020603050405020304" pitchFamily="18" charset="0"/>
              </a:rPr>
              <a:t>)</a:t>
            </a:r>
            <a:r>
              <a:rPr lang="zh-CN" altLang="en-US" sz="2600" b="1" dirty="0">
                <a:latin typeface="Times New Roman" panose="02020603050405020304" pitchFamily="18" charset="0"/>
              </a:rPr>
              <a:t>发送消息。</a:t>
            </a:r>
            <a:endParaRPr lang="zh-CN" altLang="en-US" sz="2600" b="1" dirty="0">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600" b="1" dirty="0">
                <a:latin typeface="Times New Roman" panose="02020603050405020304" pitchFamily="18" charset="0"/>
              </a:rPr>
              <a:t>        </a:t>
            </a:r>
            <a:r>
              <a:rPr lang="en-US" altLang="zh-CN" sz="2600" b="1" dirty="0">
                <a:solidFill>
                  <a:schemeClr val="folHlink"/>
                </a:solidFill>
                <a:latin typeface="Times New Roman" panose="02020603050405020304" pitchFamily="18" charset="0"/>
              </a:rPr>
              <a:t>(4) </a:t>
            </a:r>
            <a:r>
              <a:rPr lang="zh-CN" altLang="en-US" sz="2600" b="1" dirty="0">
                <a:solidFill>
                  <a:schemeClr val="folHlink"/>
                </a:solidFill>
                <a:latin typeface="Times New Roman" panose="02020603050405020304" pitchFamily="18" charset="0"/>
              </a:rPr>
              <a:t>多对多关系。</a:t>
            </a:r>
            <a:r>
              <a:rPr lang="zh-CN" altLang="en-US" sz="2600" b="1" dirty="0">
                <a:latin typeface="Times New Roman" panose="02020603050405020304" pitchFamily="18" charset="0"/>
              </a:rPr>
              <a:t>允许</a:t>
            </a:r>
            <a:r>
              <a:rPr lang="zh-CN" altLang="en-US" sz="2600" b="1" i="1" dirty="0">
                <a:solidFill>
                  <a:schemeClr val="folHlink"/>
                </a:solidFill>
                <a:latin typeface="Times New Roman" panose="02020603050405020304" pitchFamily="18" charset="0"/>
              </a:rPr>
              <a:t>建立一个公用信箱</a:t>
            </a:r>
            <a:r>
              <a:rPr lang="zh-CN" altLang="en-US" sz="2600" b="1" dirty="0">
                <a:latin typeface="Times New Roman" panose="02020603050405020304" pitchFamily="18" charset="0"/>
              </a:rPr>
              <a:t>，让多个进程都能向信箱中投递消息；也可从信箱中取走属于自己的消息。 </a:t>
            </a:r>
            <a:endParaRPr lang="zh-CN" altLang="en-US" sz="2600" b="1" dirty="0">
              <a:latin typeface="Times New Roman" panose="02020603050405020304" pitchFamily="18" charset="0"/>
            </a:endParaRPr>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Text Box 2"/>
          <p:cNvSpPr txBox="1"/>
          <p:nvPr/>
        </p:nvSpPr>
        <p:spPr>
          <a:xfrm>
            <a:off x="838200" y="762000"/>
            <a:ext cx="6484938" cy="7080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4000" b="1" dirty="0">
                <a:solidFill>
                  <a:schemeClr val="folHlink"/>
                </a:solidFill>
                <a:latin typeface="Times New Roman" panose="02020603050405020304" pitchFamily="18" charset="0"/>
              </a:rPr>
              <a:t>2.6.3 </a:t>
            </a:r>
            <a:r>
              <a:rPr lang="zh-CN" altLang="en-US" sz="4000" b="1" dirty="0">
                <a:solidFill>
                  <a:schemeClr val="folHlink"/>
                </a:solidFill>
                <a:latin typeface="Times New Roman" panose="02020603050405020304" pitchFamily="18" charset="0"/>
              </a:rPr>
              <a:t>直接消息传递系统实例</a:t>
            </a:r>
            <a:endParaRPr lang="zh-CN" altLang="en-US" sz="4000" b="1" dirty="0">
              <a:solidFill>
                <a:schemeClr val="folHlink"/>
              </a:solidFill>
              <a:latin typeface="Times New Roman" panose="02020603050405020304" pitchFamily="18" charset="0"/>
            </a:endParaRPr>
          </a:p>
        </p:txBody>
      </p:sp>
      <p:sp>
        <p:nvSpPr>
          <p:cNvPr id="167939" name="Text Box 3"/>
          <p:cNvSpPr txBox="1"/>
          <p:nvPr/>
        </p:nvSpPr>
        <p:spPr>
          <a:xfrm>
            <a:off x="609600" y="1744663"/>
            <a:ext cx="80772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endParaRPr lang="en-US" altLang="zh-CN" sz="2400" b="1" dirty="0">
              <a:solidFill>
                <a:schemeClr val="folHlink"/>
              </a:solidFill>
              <a:latin typeface="Times New Roman" panose="02020603050405020304" pitchFamily="18" charset="0"/>
            </a:endParaRPr>
          </a:p>
        </p:txBody>
      </p:sp>
      <p:sp>
        <p:nvSpPr>
          <p:cNvPr id="291845" name="Text Box 5"/>
          <p:cNvSpPr txBox="1">
            <a:spLocks noChangeArrowheads="1"/>
          </p:cNvSpPr>
          <p:nvPr/>
        </p:nvSpPr>
        <p:spPr bwMode="auto">
          <a:xfrm>
            <a:off x="381000" y="1905000"/>
            <a:ext cx="8458200" cy="2530475"/>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p>
            <a:pPr marR="0" defTabSz="914400" eaLnBrk="1" hangingPunct="1">
              <a:spcBef>
                <a:spcPct val="50000"/>
              </a:spcBef>
              <a:buClrTx/>
              <a:buSzTx/>
              <a:buFontTx/>
              <a:buNone/>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消息缓冲队列通信机制：</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 typeface="Wingdings" panose="05000000000000000000" pitchFamily="2" charset="2"/>
              <a:buChar char="Ø"/>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发送进程利用</a:t>
            </a:r>
            <a:r>
              <a:rPr kumimoji="0" lang="en-US" altLang="zh-CN" sz="3200" b="1" kern="1200" cap="none" spc="0" normalizeH="0" baseline="0" noProof="0">
                <a:latin typeface="Arial" panose="020B0604020202020204" pitchFamily="34" charset="0"/>
                <a:ea typeface="宋体" panose="02010600030101010101" pitchFamily="2" charset="-122"/>
                <a:cs typeface="+mn-cs"/>
              </a:rPr>
              <a:t>send</a:t>
            </a:r>
            <a:r>
              <a:rPr kumimoji="0" lang="zh-CN" altLang="en-US" sz="3200" b="1" kern="1200" cap="none" spc="0" normalizeH="0" baseline="0" noProof="0">
                <a:latin typeface="Arial" panose="020B0604020202020204" pitchFamily="34" charset="0"/>
                <a:ea typeface="宋体" panose="02010600030101010101" pitchFamily="2" charset="-122"/>
                <a:cs typeface="+mn-cs"/>
              </a:rPr>
              <a:t>原语将消息直接发送给接收进程；</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spcBef>
                <a:spcPct val="50000"/>
              </a:spcBef>
              <a:buClrTx/>
              <a:buSzTx/>
              <a:buFont typeface="Wingdings" panose="05000000000000000000" pitchFamily="2" charset="2"/>
              <a:buChar char="Ø"/>
              <a:defRPr/>
            </a:pPr>
            <a:r>
              <a:rPr kumimoji="0" lang="zh-CN" altLang="en-US" sz="3200" b="1" kern="1200" cap="none" spc="0" normalizeH="0" baseline="0" noProof="0">
                <a:latin typeface="Arial" panose="020B0604020202020204" pitchFamily="34" charset="0"/>
                <a:ea typeface="宋体" panose="02010600030101010101" pitchFamily="2" charset="-122"/>
                <a:cs typeface="+mn-cs"/>
              </a:rPr>
              <a:t>接收进程则利用</a:t>
            </a:r>
            <a:r>
              <a:rPr kumimoji="0" lang="en-US" altLang="zh-CN" sz="3200" b="1" kern="1200" cap="none" spc="0" normalizeH="0" baseline="0" noProof="0">
                <a:latin typeface="Arial" panose="020B0604020202020204" pitchFamily="34" charset="0"/>
                <a:ea typeface="宋体" panose="02010600030101010101" pitchFamily="2" charset="-122"/>
                <a:cs typeface="+mn-cs"/>
              </a:rPr>
              <a:t>receive</a:t>
            </a:r>
            <a:r>
              <a:rPr kumimoji="0" lang="zh-CN" altLang="en-US" sz="3200" b="1" kern="1200" cap="none" spc="0" normalizeH="0" baseline="0" noProof="0">
                <a:latin typeface="Arial" panose="020B0604020202020204" pitchFamily="34" charset="0"/>
                <a:ea typeface="宋体" panose="02010600030101010101" pitchFamily="2" charset="-122"/>
                <a:cs typeface="+mn-cs"/>
              </a:rPr>
              <a:t>原语接收消息。</a:t>
            </a:r>
            <a:endParaRPr kumimoji="0" lang="zh-CN" altLang="en-US" sz="3200" b="1" kern="1200" cap="none" spc="0" normalizeH="0" baseline="0" noProof="0">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3"/>
          <p:cNvSpPr>
            <a:spLocks noGrp="1" noRot="1"/>
          </p:cNvSpPr>
          <p:nvPr>
            <p:ph idx="1"/>
          </p:nvPr>
        </p:nvSpPr>
        <p:spPr>
          <a:xfrm>
            <a:off x="301625" y="1676400"/>
            <a:ext cx="8540750" cy="4498975"/>
          </a:xfrm>
        </p:spPr>
        <p:txBody>
          <a:bodyPr vert="horz" wrap="square" lIns="91440" tIns="45720" rIns="91440" bIns="45720" anchor="t" anchorCtr="0"/>
          <a:p>
            <a:pPr>
              <a:lnSpc>
                <a:spcPct val="80000"/>
              </a:lnSpc>
            </a:pPr>
            <a:r>
              <a:rPr lang="en-US" altLang="zh-CN" sz="2800" b="1" dirty="0"/>
              <a:t>       (1) </a:t>
            </a:r>
            <a:r>
              <a:rPr lang="zh-CN" altLang="en-US" sz="2800" b="1" dirty="0"/>
              <a:t>消息缓冲区。在消息缓冲队列通信方式中，主要利用的数据结构是消息缓冲区。它可描述如下：</a:t>
            </a:r>
            <a:endParaRPr lang="zh-CN" altLang="en-US" sz="2800" b="1" dirty="0"/>
          </a:p>
          <a:p>
            <a:pPr>
              <a:lnSpc>
                <a:spcPct val="80000"/>
              </a:lnSpc>
            </a:pPr>
            <a:r>
              <a:rPr lang="en-US" altLang="zh-CN" sz="2800" b="1" dirty="0">
                <a:solidFill>
                  <a:schemeClr val="folHlink"/>
                </a:solidFill>
              </a:rPr>
              <a:t>Typedef struct message_buffer{</a:t>
            </a:r>
            <a:endParaRPr lang="en-US" altLang="zh-CN" sz="2800" b="1" dirty="0">
              <a:solidFill>
                <a:schemeClr val="folHlink"/>
              </a:solidFill>
            </a:endParaRPr>
          </a:p>
          <a:p>
            <a:pPr>
              <a:lnSpc>
                <a:spcPct val="80000"/>
              </a:lnSpc>
            </a:pPr>
            <a:r>
              <a:rPr lang="en-US" altLang="zh-CN" sz="2800" b="1" dirty="0">
                <a:solidFill>
                  <a:schemeClr val="folHlink"/>
                </a:solidFill>
              </a:rPr>
              <a:t>         sender; </a:t>
            </a:r>
            <a:r>
              <a:rPr lang="zh-CN" altLang="en-US" sz="2800" b="1" dirty="0">
                <a:solidFill>
                  <a:schemeClr val="folHlink"/>
                </a:solidFill>
              </a:rPr>
              <a:t>发送者进程标识符</a:t>
            </a:r>
            <a:endParaRPr lang="zh-CN" altLang="en-US" sz="2800" b="1" dirty="0">
              <a:solidFill>
                <a:schemeClr val="folHlink"/>
              </a:solidFill>
            </a:endParaRPr>
          </a:p>
          <a:p>
            <a:pPr>
              <a:lnSpc>
                <a:spcPct val="80000"/>
              </a:lnSpc>
            </a:pPr>
            <a:r>
              <a:rPr lang="zh-CN" altLang="en-US" sz="2800" b="1" dirty="0">
                <a:solidFill>
                  <a:schemeClr val="folHlink"/>
                </a:solidFill>
              </a:rPr>
              <a:t>	   </a:t>
            </a:r>
            <a:r>
              <a:rPr lang="en-US" altLang="zh-CN" sz="2800" b="1" dirty="0">
                <a:solidFill>
                  <a:schemeClr val="folHlink"/>
                </a:solidFill>
              </a:rPr>
              <a:t>size; </a:t>
            </a:r>
            <a:r>
              <a:rPr lang="zh-CN" altLang="en-US" sz="2800" b="1" dirty="0">
                <a:solidFill>
                  <a:schemeClr val="folHlink"/>
                </a:solidFill>
              </a:rPr>
              <a:t>消息长度</a:t>
            </a:r>
            <a:endParaRPr lang="zh-CN" altLang="en-US" sz="2800" b="1" dirty="0">
              <a:solidFill>
                <a:schemeClr val="folHlink"/>
              </a:solidFill>
            </a:endParaRPr>
          </a:p>
          <a:p>
            <a:pPr>
              <a:lnSpc>
                <a:spcPct val="80000"/>
              </a:lnSpc>
            </a:pPr>
            <a:r>
              <a:rPr lang="zh-CN" altLang="en-US" sz="2800" b="1" dirty="0">
                <a:solidFill>
                  <a:schemeClr val="folHlink"/>
                </a:solidFill>
              </a:rPr>
              <a:t>         </a:t>
            </a:r>
            <a:r>
              <a:rPr lang="en-US" altLang="zh-CN" sz="2800" b="1" dirty="0">
                <a:solidFill>
                  <a:schemeClr val="folHlink"/>
                </a:solidFill>
              </a:rPr>
              <a:t>text; </a:t>
            </a:r>
            <a:r>
              <a:rPr lang="zh-CN" altLang="en-US" sz="2800" b="1" dirty="0">
                <a:solidFill>
                  <a:schemeClr val="folHlink"/>
                </a:solidFill>
              </a:rPr>
              <a:t>消息正文</a:t>
            </a:r>
            <a:endParaRPr lang="zh-CN" altLang="en-US" sz="2800" b="1" dirty="0">
              <a:solidFill>
                <a:schemeClr val="folHlink"/>
              </a:solidFill>
            </a:endParaRPr>
          </a:p>
          <a:p>
            <a:pPr>
              <a:lnSpc>
                <a:spcPct val="80000"/>
              </a:lnSpc>
            </a:pPr>
            <a:r>
              <a:rPr lang="zh-CN" altLang="en-US" sz="2800" b="1" dirty="0">
                <a:solidFill>
                  <a:schemeClr val="folHlink"/>
                </a:solidFill>
              </a:rPr>
              <a:t>         </a:t>
            </a:r>
            <a:r>
              <a:rPr lang="en-US" altLang="zh-CN" sz="2800" b="1" dirty="0">
                <a:solidFill>
                  <a:schemeClr val="folHlink"/>
                </a:solidFill>
              </a:rPr>
              <a:t> struct message_buffer *next; </a:t>
            </a:r>
            <a:r>
              <a:rPr lang="zh-CN" altLang="en-US" sz="2800" b="1" dirty="0">
                <a:solidFill>
                  <a:schemeClr val="folHlink"/>
                </a:solidFill>
              </a:rPr>
              <a:t>指向下一个消息缓冲区的指针</a:t>
            </a:r>
            <a:endParaRPr lang="zh-CN" altLang="en-US" sz="2800" b="1" dirty="0">
              <a:solidFill>
                <a:schemeClr val="folHlink"/>
              </a:solidFill>
            </a:endParaRPr>
          </a:p>
          <a:p>
            <a:pPr>
              <a:lnSpc>
                <a:spcPct val="80000"/>
              </a:lnSpc>
            </a:pPr>
            <a:r>
              <a:rPr lang="en-US" altLang="zh-CN" sz="2800" b="1" dirty="0">
                <a:solidFill>
                  <a:schemeClr val="folHlink"/>
                </a:solidFill>
              </a:rPr>
              <a:t>}</a:t>
            </a:r>
            <a:endParaRPr lang="en-US" altLang="zh-CN" sz="2800" b="1" dirty="0">
              <a:solidFill>
                <a:schemeClr val="folHlink"/>
              </a:solidFill>
            </a:endParaRPr>
          </a:p>
          <a:p>
            <a:pPr>
              <a:lnSpc>
                <a:spcPct val="80000"/>
              </a:lnSpc>
            </a:pPr>
            <a:endParaRPr lang="zh-CN" altLang="en-US" sz="2800" dirty="0"/>
          </a:p>
        </p:txBody>
      </p:sp>
      <p:sp>
        <p:nvSpPr>
          <p:cNvPr id="168963" name="标题 1"/>
          <p:cNvSpPr>
            <a:spLocks noGrp="1"/>
          </p:cNvSpPr>
          <p:nvPr>
            <p:ph type="title"/>
          </p:nvPr>
        </p:nvSpPr>
        <p:spPr/>
        <p:txBody>
          <a:bodyPr vert="horz" wrap="square" lIns="91440" tIns="45720" rIns="91440" bIns="45720" anchor="ctr" anchorCtr="0"/>
          <a:p>
            <a:r>
              <a:rPr lang="zh-CN" altLang="en-US" sz="3600" dirty="0"/>
              <a:t> </a:t>
            </a:r>
            <a:r>
              <a:rPr lang="en-US" altLang="zh-CN" sz="3600" b="1" dirty="0">
                <a:solidFill>
                  <a:schemeClr val="folHlink"/>
                </a:solidFill>
              </a:rPr>
              <a:t>1. </a:t>
            </a:r>
            <a:r>
              <a:rPr lang="zh-CN" altLang="en-US" sz="3600" b="1" dirty="0">
                <a:solidFill>
                  <a:schemeClr val="folHlink"/>
                </a:solidFill>
              </a:rPr>
              <a:t>消息缓冲队列通信机制中的数据结构</a:t>
            </a:r>
            <a:endParaRPr lang="zh-CN" altLang="en-US" sz="36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Text Box 2"/>
          <p:cNvSpPr txBox="1"/>
          <p:nvPr/>
        </p:nvSpPr>
        <p:spPr>
          <a:xfrm>
            <a:off x="609600" y="914400"/>
            <a:ext cx="7924800" cy="5441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zh-CN" altLang="en-US" sz="3600" b="1" dirty="0">
                <a:solidFill>
                  <a:srgbClr val="C00000"/>
                </a:solidFill>
                <a:latin typeface="Times New Roman" panose="02020603050405020304" pitchFamily="18" charset="0"/>
              </a:rPr>
              <a:t>        </a:t>
            </a:r>
            <a:r>
              <a:rPr lang="en-US" altLang="zh-CN" sz="3600" b="1" dirty="0">
                <a:solidFill>
                  <a:srgbClr val="C00000"/>
                </a:solidFill>
                <a:latin typeface="Times New Roman" panose="02020603050405020304" pitchFamily="18" charset="0"/>
              </a:rPr>
              <a:t>(2) PCB</a:t>
            </a:r>
            <a:r>
              <a:rPr lang="zh-CN" altLang="en-US" sz="3600" b="1" dirty="0">
                <a:solidFill>
                  <a:srgbClr val="C00000"/>
                </a:solidFill>
                <a:latin typeface="Times New Roman" panose="02020603050405020304" pitchFamily="18" charset="0"/>
              </a:rPr>
              <a:t>中有关通信的数据项。</a:t>
            </a:r>
            <a:endParaRPr lang="zh-CN" altLang="en-US" sz="3600" b="1" dirty="0">
              <a:solidFill>
                <a:srgbClr val="C00000"/>
              </a:solidFill>
              <a:latin typeface="Times New Roman" panose="02020603050405020304" pitchFamily="18" charset="0"/>
            </a:endParaRPr>
          </a:p>
          <a:p>
            <a:pPr marL="0" lvl="0" indent="0" algn="just" eaLnBrk="1" hangingPunct="1">
              <a:lnSpc>
                <a:spcPct val="90000"/>
              </a:lnSpc>
              <a:spcBef>
                <a:spcPct val="50000"/>
              </a:spcBef>
              <a:buClrTx/>
              <a:buSzTx/>
              <a:buFontTx/>
              <a:buNone/>
            </a:pPr>
            <a:r>
              <a:rPr lang="zh-CN" altLang="en-US" sz="2800" b="1" dirty="0">
                <a:latin typeface="Times New Roman" panose="02020603050405020304" pitchFamily="18" charset="0"/>
              </a:rPr>
              <a:t>在</a:t>
            </a:r>
            <a:r>
              <a:rPr lang="en-US" altLang="zh-CN" sz="2800" b="1" dirty="0">
                <a:latin typeface="Times New Roman" panose="02020603050405020304" pitchFamily="18" charset="0"/>
              </a:rPr>
              <a:t>PCB</a:t>
            </a:r>
            <a:r>
              <a:rPr lang="zh-CN" altLang="en-US" sz="2800" b="1" dirty="0">
                <a:latin typeface="Times New Roman" panose="02020603050405020304" pitchFamily="18" charset="0"/>
              </a:rPr>
              <a:t>中增加用于对消息队列进行操作和实现同步的信号量，并将它们置入进程的</a:t>
            </a:r>
            <a:r>
              <a:rPr lang="en-US" altLang="zh-CN" sz="2800" b="1" dirty="0">
                <a:latin typeface="Times New Roman" panose="02020603050405020304" pitchFamily="18" charset="0"/>
              </a:rPr>
              <a:t>PCB</a:t>
            </a:r>
            <a:r>
              <a:rPr lang="zh-CN" altLang="en-US" sz="2800" b="1" dirty="0">
                <a:latin typeface="Times New Roman" panose="02020603050405020304" pitchFamily="18" charset="0"/>
              </a:rPr>
              <a:t>中。在</a:t>
            </a:r>
            <a:r>
              <a:rPr lang="en-US" altLang="zh-CN" sz="2800" b="1" dirty="0">
                <a:latin typeface="Times New Roman" panose="02020603050405020304" pitchFamily="18" charset="0"/>
              </a:rPr>
              <a:t>PCB</a:t>
            </a:r>
            <a:r>
              <a:rPr lang="zh-CN" altLang="en-US" sz="2800" b="1" dirty="0">
                <a:latin typeface="Times New Roman" panose="02020603050405020304" pitchFamily="18" charset="0"/>
              </a:rPr>
              <a:t>中应增加的数据项可描述如下：                 	</a:t>
            </a:r>
            <a:endParaRPr lang="zh-CN" altLang="en-US" sz="2800" b="1" dirty="0">
              <a:latin typeface="Times New Roman" panose="02020603050405020304" pitchFamily="18" charset="0"/>
            </a:endParaRPr>
          </a:p>
          <a:p>
            <a:pPr marL="0" lvl="0" indent="0" algn="just" eaLnBrk="1" hangingPunct="1">
              <a:lnSpc>
                <a:spcPct val="80000"/>
              </a:lnSpc>
              <a:spcBef>
                <a:spcPct val="50000"/>
              </a:spcBef>
              <a:buClrTx/>
              <a:buSzTx/>
              <a:buFontTx/>
              <a:buNone/>
            </a:pPr>
            <a:r>
              <a:rPr lang="en-US" altLang="zh-CN" sz="2400" b="1" dirty="0">
                <a:solidFill>
                  <a:srgbClr val="FF0000"/>
                </a:solidFill>
                <a:latin typeface="Times New Roman" panose="02020603050405020304" pitchFamily="18" charset="0"/>
              </a:rPr>
              <a:t>typedef struct processcontrol_block {</a:t>
            </a:r>
            <a:endParaRPr lang="en-US" altLang="zh-CN"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en-US" altLang="zh-CN" sz="2400" b="1" dirty="0">
                <a:solidFill>
                  <a:srgbClr val="FF0000"/>
                </a:solidFill>
                <a:latin typeface="Times New Roman" panose="02020603050405020304" pitchFamily="18" charset="0"/>
              </a:rPr>
              <a:t>                      </a:t>
            </a:r>
            <a:r>
              <a:rPr lang="en-US" altLang="zh-CN" sz="2400" b="1" dirty="0">
                <a:solidFill>
                  <a:srgbClr val="FF0000"/>
                </a:solidFill>
                <a:latin typeface="Courier New" panose="02070309020205020404" pitchFamily="49" charset="0"/>
              </a:rPr>
              <a:t>…</a:t>
            </a:r>
            <a:endParaRPr lang="en-US" altLang="zh-CN"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en-US" altLang="zh-CN" sz="2400" b="1" dirty="0">
                <a:solidFill>
                  <a:srgbClr val="FF0000"/>
                </a:solidFill>
                <a:latin typeface="Times New Roman" panose="02020603050405020304" pitchFamily="18" charset="0"/>
              </a:rPr>
              <a:t>                 struct message_buffer *mq; </a:t>
            </a:r>
            <a:r>
              <a:rPr lang="zh-CN" altLang="en-US" sz="2400" b="1" dirty="0">
                <a:solidFill>
                  <a:srgbClr val="FF0000"/>
                </a:solidFill>
                <a:latin typeface="Times New Roman" panose="02020603050405020304" pitchFamily="18" charset="0"/>
              </a:rPr>
              <a:t>消息队列队首指针</a:t>
            </a:r>
            <a:endParaRPr lang="zh-CN" altLang="en-US"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zh-CN" altLang="en-US" sz="2400" b="1" dirty="0">
                <a:solidFill>
                  <a:srgbClr val="FF0000"/>
                </a:solidFill>
                <a:latin typeface="Times New Roman" panose="02020603050405020304" pitchFamily="18" charset="0"/>
              </a:rPr>
              <a:t>                 </a:t>
            </a:r>
            <a:r>
              <a:rPr lang="en-US" altLang="zh-CN" sz="2400" b="1" dirty="0">
                <a:solidFill>
                  <a:srgbClr val="FF0000"/>
                </a:solidFill>
                <a:latin typeface="Times New Roman" panose="02020603050405020304" pitchFamily="18" charset="0"/>
              </a:rPr>
              <a:t>semaphore mutex; </a:t>
            </a:r>
            <a:r>
              <a:rPr lang="zh-CN" altLang="en-US" sz="2400" b="1" dirty="0">
                <a:solidFill>
                  <a:srgbClr val="FF0000"/>
                </a:solidFill>
                <a:latin typeface="Times New Roman" panose="02020603050405020304" pitchFamily="18" charset="0"/>
              </a:rPr>
              <a:t>消息队列互斥信号量</a:t>
            </a:r>
            <a:endParaRPr lang="zh-CN" altLang="en-US"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zh-CN" altLang="en-US" sz="2400" b="1" dirty="0">
                <a:solidFill>
                  <a:srgbClr val="FF0000"/>
                </a:solidFill>
                <a:latin typeface="Times New Roman" panose="02020603050405020304" pitchFamily="18" charset="0"/>
              </a:rPr>
              <a:t>                  </a:t>
            </a:r>
            <a:r>
              <a:rPr lang="en-US" altLang="zh-CN" sz="2400" b="1" dirty="0">
                <a:solidFill>
                  <a:srgbClr val="FF0000"/>
                </a:solidFill>
                <a:latin typeface="Times New Roman" panose="02020603050405020304" pitchFamily="18" charset="0"/>
              </a:rPr>
              <a:t>semaphore sm; </a:t>
            </a:r>
            <a:r>
              <a:rPr lang="zh-CN" altLang="en-US" sz="2400" b="1" dirty="0">
                <a:solidFill>
                  <a:srgbClr val="FF0000"/>
                </a:solidFill>
                <a:latin typeface="Times New Roman" panose="02020603050405020304" pitchFamily="18" charset="0"/>
              </a:rPr>
              <a:t>消息队列资源信号量</a:t>
            </a:r>
            <a:endParaRPr lang="zh-CN" altLang="en-US" sz="2400" b="1" dirty="0">
              <a:solidFill>
                <a:srgbClr val="FF0000"/>
              </a:solidFill>
              <a:latin typeface="Times New Roman" panose="02020603050405020304" pitchFamily="18" charset="0"/>
            </a:endParaRPr>
          </a:p>
          <a:p>
            <a:pPr marL="0" lvl="0" indent="0" algn="just" eaLnBrk="1" hangingPunct="1">
              <a:lnSpc>
                <a:spcPct val="80000"/>
              </a:lnSpc>
              <a:spcBef>
                <a:spcPct val="50000"/>
              </a:spcBef>
              <a:buClrTx/>
              <a:buSzTx/>
              <a:buFontTx/>
              <a:buNone/>
            </a:pPr>
            <a:r>
              <a:rPr lang="zh-CN" altLang="en-US" sz="2400" b="1" dirty="0">
                <a:solidFill>
                  <a:srgbClr val="FF0000"/>
                </a:solidFill>
                <a:latin typeface="Times New Roman" panose="02020603050405020304" pitchFamily="18" charset="0"/>
              </a:rPr>
              <a:t>                     </a:t>
            </a:r>
            <a:r>
              <a:rPr lang="en-US" altLang="zh-CN" sz="2400" b="1" dirty="0">
                <a:solidFill>
                  <a:srgbClr val="FF0000"/>
                </a:solidFill>
                <a:latin typeface="Courier New" panose="02070309020205020404" pitchFamily="49" charset="0"/>
              </a:rPr>
              <a:t>…</a:t>
            </a:r>
            <a:endParaRPr lang="en-US" altLang="zh-CN" sz="2400" b="1" dirty="0">
              <a:solidFill>
                <a:srgbClr val="FF0000"/>
              </a:solidFill>
              <a:latin typeface="Times New Roman" panose="02020603050405020304" pitchFamily="18" charset="0"/>
            </a:endParaRPr>
          </a:p>
          <a:p>
            <a:pPr marL="0" lvl="0" indent="0" eaLnBrk="1" hangingPunct="1">
              <a:lnSpc>
                <a:spcPct val="80000"/>
              </a:lnSpc>
              <a:spcBef>
                <a:spcPct val="50000"/>
              </a:spcBef>
              <a:buClrTx/>
              <a:buSzTx/>
              <a:buFontTx/>
              <a:buNone/>
            </a:pPr>
            <a:r>
              <a:rPr lang="en-US" altLang="zh-CN" sz="2400" b="1" dirty="0">
                <a:solidFill>
                  <a:srgbClr val="FF0000"/>
                </a:solidFill>
                <a:latin typeface="Times New Roman" panose="02020603050405020304" pitchFamily="18" charset="0"/>
              </a:rPr>
              <a:t>}</a:t>
            </a:r>
            <a:endParaRPr lang="en-US" altLang="zh-CN" sz="2400" b="1" dirty="0">
              <a:solidFill>
                <a:srgbClr val="FF0000"/>
              </a:solidFill>
              <a:latin typeface="Times New Roman" panose="02020603050405020304" pitchFamily="18" charset="0"/>
            </a:endParaRPr>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5202" name="Text Box 2"/>
          <p:cNvSpPr txBox="1"/>
          <p:nvPr/>
        </p:nvSpPr>
        <p:spPr>
          <a:xfrm>
            <a:off x="457200" y="838200"/>
            <a:ext cx="8305800" cy="5251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10000"/>
              </a:lnSpc>
              <a:spcBef>
                <a:spcPct val="50000"/>
              </a:spcBef>
              <a:buClrTx/>
              <a:buSzTx/>
              <a:buFontTx/>
              <a:buNone/>
            </a:pPr>
            <a:r>
              <a:rPr lang="en-US" altLang="zh-CN" b="1" dirty="0">
                <a:solidFill>
                  <a:schemeClr val="folHlink"/>
                </a:solidFill>
                <a:latin typeface="Times New Roman" panose="02020603050405020304" pitchFamily="18" charset="0"/>
              </a:rPr>
              <a:t>2. </a:t>
            </a:r>
            <a:r>
              <a:rPr lang="zh-CN" altLang="en-US" b="1" dirty="0">
                <a:solidFill>
                  <a:schemeClr val="folHlink"/>
                </a:solidFill>
                <a:latin typeface="Times New Roman" panose="02020603050405020304" pitchFamily="18" charset="0"/>
              </a:rPr>
              <a:t>发送原语</a:t>
            </a:r>
            <a:endParaRPr lang="zh-CN" altLang="en-US" b="1" dirty="0">
              <a:solidFill>
                <a:schemeClr val="folHlink"/>
              </a:solidFill>
              <a:latin typeface="Times New Roman" panose="02020603050405020304" pitchFamily="18" charset="0"/>
            </a:endParaRPr>
          </a:p>
          <a:p>
            <a:pPr marL="0" lvl="0" indent="0" algn="just" eaLnBrk="1" hangingPunct="1">
              <a:lnSpc>
                <a:spcPct val="110000"/>
              </a:lnSpc>
              <a:spcBef>
                <a:spcPct val="50000"/>
              </a:spcBef>
              <a:buClrTx/>
              <a:buSzTx/>
              <a:buFont typeface="Wingdings" panose="05000000000000000000" pitchFamily="2" charset="2"/>
              <a:buChar char="Ø"/>
            </a:pPr>
            <a:r>
              <a:rPr lang="zh-CN" altLang="en-US" sz="2400" b="1" dirty="0">
                <a:latin typeface="Times New Roman" panose="02020603050405020304" pitchFamily="18" charset="0"/>
              </a:rPr>
              <a:t> 发送进程在利用发送原语发送消息之前，应先在自己的内存空间，设置一发送区</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，把待发送的消息正文、发送进程标识符、消息长度等信息填入其中，然后调用发送原语，把消息发送给目标</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接收</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进程。</a:t>
            </a:r>
            <a:endParaRPr lang="zh-CN" altLang="en-US" sz="2400" b="1" dirty="0">
              <a:latin typeface="Times New Roman" panose="02020603050405020304" pitchFamily="18" charset="0"/>
            </a:endParaRPr>
          </a:p>
          <a:p>
            <a:pPr marL="0" lvl="0" indent="0" algn="just" eaLnBrk="1" hangingPunct="1">
              <a:lnSpc>
                <a:spcPct val="110000"/>
              </a:lnSpc>
              <a:spcBef>
                <a:spcPct val="50000"/>
              </a:spcBef>
              <a:buClrTx/>
              <a:buSzTx/>
              <a:buFont typeface="Wingdings" panose="05000000000000000000" pitchFamily="2" charset="2"/>
              <a:buChar char="Ø"/>
            </a:pPr>
            <a:r>
              <a:rPr lang="zh-CN" altLang="en-US" sz="2400" b="1" dirty="0">
                <a:latin typeface="Times New Roman" panose="02020603050405020304" pitchFamily="18" charset="0"/>
              </a:rPr>
              <a:t> 发送原语首先根据发送区</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中所设置的消息长度</a:t>
            </a:r>
            <a:r>
              <a:rPr lang="en-US" altLang="zh-CN" sz="2400" b="1" dirty="0">
                <a:latin typeface="Times New Roman" panose="02020603050405020304" pitchFamily="18" charset="0"/>
              </a:rPr>
              <a:t>a.size</a:t>
            </a:r>
            <a:r>
              <a:rPr lang="zh-CN" altLang="en-US" sz="2400" b="1" dirty="0">
                <a:latin typeface="Times New Roman" panose="02020603050405020304" pitchFamily="18" charset="0"/>
              </a:rPr>
              <a:t>来申请一缓冲区</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，接着，把发送区</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中的信息复制到缓冲区</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中。为了能将</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挂在接收进程的消息队列</a:t>
            </a:r>
            <a:r>
              <a:rPr lang="en-US" altLang="zh-CN" sz="2400" b="1" dirty="0">
                <a:latin typeface="Times New Roman" panose="02020603050405020304" pitchFamily="18" charset="0"/>
              </a:rPr>
              <a:t>mq</a:t>
            </a:r>
            <a:r>
              <a:rPr lang="zh-CN" altLang="en-US" sz="2400" b="1" dirty="0">
                <a:latin typeface="Times New Roman" panose="02020603050405020304" pitchFamily="18" charset="0"/>
              </a:rPr>
              <a:t>上，应先获得接收进程的内部标识符</a:t>
            </a:r>
            <a:r>
              <a:rPr lang="en-US" altLang="zh-CN" sz="2400" b="1" dirty="0">
                <a:latin typeface="Times New Roman" panose="02020603050405020304" pitchFamily="18" charset="0"/>
              </a:rPr>
              <a:t>j</a:t>
            </a:r>
            <a:r>
              <a:rPr lang="zh-CN" altLang="en-US" sz="2400" b="1" dirty="0">
                <a:latin typeface="Times New Roman" panose="02020603050405020304" pitchFamily="18" charset="0"/>
              </a:rPr>
              <a:t>，然后将</a:t>
            </a:r>
            <a:r>
              <a:rPr lang="en-US" altLang="zh-CN" sz="2400" b="1" dirty="0">
                <a:latin typeface="Times New Roman" panose="02020603050405020304" pitchFamily="18" charset="0"/>
              </a:rPr>
              <a:t>i</a:t>
            </a:r>
            <a:r>
              <a:rPr lang="zh-CN" altLang="en-US" sz="2400" b="1" dirty="0">
                <a:latin typeface="Times New Roman" panose="02020603050405020304" pitchFamily="18" charset="0"/>
              </a:rPr>
              <a:t>挂在</a:t>
            </a:r>
            <a:r>
              <a:rPr lang="en-US" altLang="zh-CN" sz="2400" b="1" dirty="0">
                <a:latin typeface="Times New Roman" panose="02020603050405020304" pitchFamily="18" charset="0"/>
              </a:rPr>
              <a:t>j.mq</a:t>
            </a:r>
            <a:r>
              <a:rPr lang="zh-CN" altLang="en-US" sz="2400" b="1" dirty="0">
                <a:latin typeface="Times New Roman" panose="02020603050405020304" pitchFamily="18" charset="0"/>
              </a:rPr>
              <a:t>上。</a:t>
            </a:r>
            <a:endParaRPr lang="zh-CN" altLang="en-US" sz="2400" b="1" dirty="0">
              <a:latin typeface="Times New Roman" panose="02020603050405020304" pitchFamily="18" charset="0"/>
            </a:endParaRPr>
          </a:p>
          <a:p>
            <a:pPr marL="0" lvl="0" indent="0" algn="just" eaLnBrk="1" hangingPunct="1">
              <a:lnSpc>
                <a:spcPct val="110000"/>
              </a:lnSpc>
              <a:spcBef>
                <a:spcPct val="50000"/>
              </a:spcBef>
              <a:buClrTx/>
              <a:buSzTx/>
              <a:buFont typeface="Wingdings" panose="05000000000000000000" pitchFamily="2" charset="2"/>
              <a:buChar char="Ø"/>
            </a:pPr>
            <a:r>
              <a:rPr lang="zh-CN" altLang="en-US" sz="2400" b="1" dirty="0">
                <a:latin typeface="Times New Roman" panose="02020603050405020304" pitchFamily="18" charset="0"/>
              </a:rPr>
              <a:t>由于</a:t>
            </a:r>
            <a:r>
              <a:rPr lang="zh-CN" altLang="en-US" sz="2400" b="1" dirty="0">
                <a:solidFill>
                  <a:srgbClr val="FF0000"/>
                </a:solidFill>
                <a:latin typeface="Times New Roman" panose="02020603050405020304" pitchFamily="18" charset="0"/>
              </a:rPr>
              <a:t>该队列属于临界资源</a:t>
            </a:r>
            <a:r>
              <a:rPr lang="zh-CN" altLang="en-US" sz="2400" b="1" dirty="0">
                <a:latin typeface="Times New Roman" panose="02020603050405020304" pitchFamily="18" charset="0"/>
              </a:rPr>
              <a:t>， 故在执行</a:t>
            </a:r>
            <a:r>
              <a:rPr lang="en-US" altLang="zh-CN" sz="2400" b="1" dirty="0">
                <a:latin typeface="Times New Roman" panose="02020603050405020304" pitchFamily="18" charset="0"/>
              </a:rPr>
              <a:t>insert</a:t>
            </a:r>
            <a:r>
              <a:rPr lang="zh-CN" altLang="en-US" sz="2400" b="1" dirty="0">
                <a:latin typeface="Times New Roman" panose="02020603050405020304" pitchFamily="18" charset="0"/>
              </a:rPr>
              <a:t>操作的前后，都要执行</a:t>
            </a:r>
            <a:r>
              <a:rPr lang="en-US" altLang="zh-CN" sz="2400" b="1" dirty="0">
                <a:latin typeface="Times New Roman" panose="02020603050405020304" pitchFamily="18" charset="0"/>
              </a:rPr>
              <a:t>wait</a:t>
            </a:r>
            <a:r>
              <a:rPr lang="zh-CN" altLang="en-US" sz="2400" b="1" dirty="0">
                <a:latin typeface="Times New Roman" panose="02020603050405020304" pitchFamily="18" charset="0"/>
              </a:rPr>
              <a:t>和</a:t>
            </a:r>
            <a:r>
              <a:rPr lang="en-US" altLang="zh-CN" sz="2400" b="1" dirty="0">
                <a:latin typeface="Times New Roman" panose="02020603050405020304" pitchFamily="18" charset="0"/>
              </a:rPr>
              <a:t>signal</a:t>
            </a:r>
            <a:r>
              <a:rPr lang="zh-CN" altLang="en-US" sz="2400" b="1" dirty="0">
                <a:latin typeface="Times New Roman" panose="02020603050405020304" pitchFamily="18" charset="0"/>
              </a:rPr>
              <a:t>操作。 </a:t>
            </a:r>
            <a:endParaRPr lang="zh-CN" altLang="en-US" sz="2400" b="1"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5202">
                                            <p:txEl>
                                              <p:charRg st="8" end="10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5202">
                                            <p:txEl>
                                              <p:charRg st="101" end="20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5202">
                                            <p:txEl>
                                              <p:charRg st="208" end="25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p:nvPr/>
        </p:nvSpPr>
        <p:spPr>
          <a:xfrm>
            <a:off x="381000" y="304800"/>
            <a:ext cx="8382000" cy="6172200"/>
          </a:xfrm>
          <a:prstGeom prst="rect">
            <a:avLst/>
          </a:prstGeom>
          <a:solidFill>
            <a:srgbClr val="CCFFCC"/>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aphicFrame>
        <p:nvGraphicFramePr>
          <p:cNvPr id="172035" name="Object 3"/>
          <p:cNvGraphicFramePr>
            <a:graphicFrameLocks noChangeAspect="1"/>
          </p:cNvGraphicFramePr>
          <p:nvPr>
            <p:ph/>
          </p:nvPr>
        </p:nvGraphicFramePr>
        <p:xfrm>
          <a:off x="0" y="762000"/>
          <a:ext cx="8077200" cy="4876800"/>
        </p:xfrm>
        <a:graphic>
          <a:graphicData uri="http://schemas.openxmlformats.org/presentationml/2006/ole">
            <mc:AlternateContent xmlns:mc="http://schemas.openxmlformats.org/markup-compatibility/2006">
              <mc:Choice xmlns:v="urn:schemas-microsoft-com:vml" Requires="v">
                <p:oleObj spid="_x0000_s3080" name="" r:id="rId1" imgW="4462145" imgH="2243455" progId="Visio.Drawing.11">
                  <p:embed/>
                </p:oleObj>
              </mc:Choice>
              <mc:Fallback>
                <p:oleObj name="" r:id="rId1" imgW="4462145" imgH="2243455" progId="Visio.Drawing.11">
                  <p:embed/>
                  <p:pic>
                    <p:nvPicPr>
                      <p:cNvPr id="0" name="图片 3079"/>
                      <p:cNvPicPr/>
                      <p:nvPr/>
                    </p:nvPicPr>
                    <p:blipFill>
                      <a:blip r:embed="rId2"/>
                      <a:srcRect/>
                      <a:stretch>
                        <a:fillRect/>
                      </a:stretch>
                    </p:blipFill>
                    <p:spPr>
                      <a:xfrm>
                        <a:off x="0" y="762000"/>
                        <a:ext cx="8077200" cy="4876800"/>
                      </a:xfrm>
                      <a:prstGeom prst="rect">
                        <a:avLst/>
                      </a:prstGeom>
                      <a:noFill/>
                      <a:ln w="38100">
                        <a:miter/>
                      </a:ln>
                    </p:spPr>
                  </p:pic>
                </p:oleObj>
              </mc:Fallback>
            </mc:AlternateContent>
          </a:graphicData>
        </a:graphic>
      </p:graphicFrame>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p:nvPr/>
        </p:nvSpPr>
        <p:spPr>
          <a:xfrm>
            <a:off x="228600" y="228600"/>
            <a:ext cx="8686800" cy="6400800"/>
          </a:xfrm>
          <a:prstGeom prst="rect">
            <a:avLst/>
          </a:prstGeom>
          <a:solidFill>
            <a:srgbClr val="CCFFCC"/>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3300"/>
                </a:solidFill>
              </a:rPr>
              <a:t>void  send(receiver, a)</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getbuf(a.size,i);                    //</a:t>
            </a:r>
            <a:r>
              <a:rPr lang="zh-CN" altLang="en-US" sz="2400" b="1" dirty="0">
                <a:solidFill>
                  <a:srgbClr val="003300"/>
                </a:solidFill>
              </a:rPr>
              <a:t>根据</a:t>
            </a:r>
            <a:r>
              <a:rPr lang="en-US" altLang="zh-CN" sz="2400" b="1" dirty="0">
                <a:solidFill>
                  <a:srgbClr val="003300"/>
                </a:solidFill>
              </a:rPr>
              <a:t>a.size</a:t>
            </a:r>
            <a:r>
              <a:rPr lang="zh-CN" altLang="en-US" sz="2400" b="1" dirty="0">
                <a:solidFill>
                  <a:srgbClr val="003300"/>
                </a:solidFill>
              </a:rPr>
              <a:t>申请缓冲区；</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i.sender∶   =a.sender; // </a:t>
            </a:r>
            <a:r>
              <a:rPr lang="zh-CN" altLang="en-US" sz="2400" b="1" dirty="0">
                <a:solidFill>
                  <a:srgbClr val="003300"/>
                </a:solidFill>
              </a:rPr>
              <a:t>将发送者标识符复制给</a:t>
            </a:r>
            <a:r>
              <a:rPr lang="en-US" altLang="zh-CN" sz="2400" b="1" dirty="0">
                <a:solidFill>
                  <a:srgbClr val="003300"/>
                </a:solidFill>
              </a:rPr>
              <a:t>i </a:t>
            </a:r>
            <a:endParaRPr lang="en-US" altLang="zh-CN"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 </a:t>
            </a:r>
            <a:r>
              <a:rPr lang="zh-CN" altLang="en-US" sz="2400" b="1" dirty="0">
                <a:solidFill>
                  <a:srgbClr val="003300"/>
                </a:solidFill>
              </a:rPr>
              <a:t>将发送区</a:t>
            </a:r>
            <a:r>
              <a:rPr lang="en-US" altLang="zh-CN" sz="2400" b="1" dirty="0">
                <a:solidFill>
                  <a:srgbClr val="003300"/>
                </a:solidFill>
              </a:rPr>
              <a:t>a</a:t>
            </a:r>
            <a:r>
              <a:rPr lang="zh-CN" altLang="en-US" sz="2400" b="1" dirty="0">
                <a:solidFill>
                  <a:srgbClr val="003300"/>
                </a:solidFill>
              </a:rPr>
              <a:t>中的信息复制到消息缓冲区之中；</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i.size∶   =a.size;</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copy(i.text,a.text);</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i.next∶   =0;</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getid(PCBset, receiver.j);   </a:t>
            </a:r>
            <a:r>
              <a:rPr lang="zh-CN" altLang="en-US" sz="2400" b="1" dirty="0">
                <a:solidFill>
                  <a:srgbClr val="003300"/>
                </a:solidFill>
              </a:rPr>
              <a:t>获得接收进程内部标识符；</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FF0000"/>
                </a:solidFill>
              </a:rPr>
              <a:t>wait(j.mutex);</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insert(j.mq, i);   </a:t>
            </a:r>
            <a:r>
              <a:rPr lang="zh-CN" altLang="en-US" sz="2400" b="1" dirty="0">
                <a:solidFill>
                  <a:srgbClr val="FF0000"/>
                </a:solidFill>
              </a:rPr>
              <a:t>将消息缓冲区插入消息队列；</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signal(j.mutex);</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003300"/>
                </a:solidFill>
              </a:rPr>
              <a:t>       </a:t>
            </a:r>
            <a:r>
              <a:rPr lang="en-US" altLang="zh-CN" sz="2400" b="1" dirty="0">
                <a:solidFill>
                  <a:srgbClr val="0070C0"/>
                </a:solidFill>
              </a:rPr>
              <a:t>signal(j.sm);    </a:t>
            </a:r>
            <a:r>
              <a:rPr lang="en-US" altLang="zh-CN" sz="2400" b="1" dirty="0">
                <a:solidFill>
                  <a:srgbClr val="FF0000"/>
                </a:solidFill>
              </a:rPr>
              <a:t>//</a:t>
            </a:r>
            <a:r>
              <a:rPr lang="zh-CN" altLang="en-US" sz="2400" b="1" dirty="0">
                <a:solidFill>
                  <a:srgbClr val="FF0000"/>
                </a:solidFill>
              </a:rPr>
              <a:t>消息队列资源信号量加</a:t>
            </a:r>
            <a:r>
              <a:rPr lang="en-US" altLang="zh-CN" sz="2400" b="1" dirty="0">
                <a:solidFill>
                  <a:srgbClr val="FF0000"/>
                </a:solidFill>
              </a:rPr>
              <a:t>1</a:t>
            </a:r>
            <a:endParaRPr lang="en-US" altLang="zh-CN" sz="2400" b="1" dirty="0">
              <a:solidFill>
                <a:srgbClr val="FF0000"/>
              </a:solidFill>
            </a:endParaRPr>
          </a:p>
          <a:p>
            <a:pPr marL="0" lvl="0" indent="0" eaLnBrk="1" hangingPunct="1">
              <a:spcBef>
                <a:spcPct val="0"/>
              </a:spcBef>
              <a:buClrTx/>
              <a:buSzTx/>
              <a:buFontTx/>
              <a:buNone/>
            </a:pPr>
            <a:r>
              <a:rPr lang="en-US" altLang="zh-CN" sz="1800" b="1" dirty="0">
                <a:solidFill>
                  <a:srgbClr val="003300"/>
                </a:solidFill>
              </a:rPr>
              <a:t>    end </a:t>
            </a:r>
            <a:endParaRPr lang="en-US" altLang="zh-CN" sz="1800" b="1" dirty="0">
              <a:solidFill>
                <a:srgbClr val="003300"/>
              </a:solidFill>
            </a:endParaRPr>
          </a:p>
          <a:p>
            <a:pPr marL="0" lvl="0" indent="0" eaLnBrk="1" hangingPunct="1">
              <a:spcBef>
                <a:spcPct val="0"/>
              </a:spcBef>
              <a:buClrTx/>
              <a:buSzTx/>
              <a:buFontTx/>
              <a:buNone/>
            </a:pPr>
            <a:endParaRPr lang="zh-CN" altLang="en-US" sz="18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p:nvPr/>
        </p:nvSpPr>
        <p:spPr>
          <a:xfrm>
            <a:off x="304800" y="1143000"/>
            <a:ext cx="8610600" cy="5562600"/>
          </a:xfrm>
          <a:prstGeom prst="rect">
            <a:avLst/>
          </a:prstGeom>
          <a:solidFill>
            <a:srgbClr val="CCFFFF"/>
          </a:solidFill>
          <a:ln w="9525">
            <a:noFill/>
          </a:ln>
          <a:effectLst>
            <a:prstShdw prst="shdw17" dist="17961" dir="13499999">
              <a:srgbClr val="050505"/>
            </a:prstShdw>
          </a:effectLst>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3300"/>
                </a:solidFill>
              </a:rPr>
              <a:t>void receive(b)</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 </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j∶  =internal name;  // j</a:t>
            </a:r>
            <a:r>
              <a:rPr lang="zh-CN" altLang="en-US" sz="2400" b="1" dirty="0">
                <a:solidFill>
                  <a:srgbClr val="003300"/>
                </a:solidFill>
              </a:rPr>
              <a:t>为接收进程内部的标识符；</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70C0"/>
                </a:solidFill>
              </a:rPr>
              <a:t>wait(j.sm);</a:t>
            </a:r>
            <a:r>
              <a:rPr lang="en-US" altLang="zh-CN" sz="2400" b="1" dirty="0">
                <a:solidFill>
                  <a:srgbClr val="003300"/>
                </a:solidFill>
              </a:rPr>
              <a:t> //</a:t>
            </a:r>
            <a:r>
              <a:rPr lang="zh-CN" altLang="en-US" sz="2400" b="1" dirty="0">
                <a:solidFill>
                  <a:srgbClr val="003300"/>
                </a:solidFill>
              </a:rPr>
              <a:t>首先申请消息队列资源性信号量，从而才有权</a:t>
            </a:r>
            <a:endParaRPr lang="zh-CN" altLang="en-US"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获得一个消息；</a:t>
            </a:r>
            <a:endParaRPr lang="zh-CN" altLang="en-US"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a:t>
            </a:r>
            <a:r>
              <a:rPr lang="en-US" altLang="zh-CN" sz="2400" b="1" dirty="0">
                <a:solidFill>
                  <a:srgbClr val="FF0000"/>
                </a:solidFill>
              </a:rPr>
              <a:t>wait(j.mutex);</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FF0000"/>
                </a:solidFill>
              </a:rPr>
              <a:t>    remove(j.mq, i); //</a:t>
            </a:r>
            <a:r>
              <a:rPr lang="zh-CN" altLang="en-US" sz="2400" b="1" dirty="0">
                <a:solidFill>
                  <a:srgbClr val="FF0000"/>
                </a:solidFill>
              </a:rPr>
              <a:t>将消息队列中第一个消息移出；</a:t>
            </a:r>
            <a:endParaRPr lang="zh-CN" altLang="en-US" sz="2400" b="1" dirty="0">
              <a:solidFill>
                <a:srgbClr val="FF0000"/>
              </a:solidFill>
            </a:endParaRPr>
          </a:p>
          <a:p>
            <a:pPr marL="0" lvl="0" indent="0" eaLnBrk="1" hangingPunct="1">
              <a:spcBef>
                <a:spcPct val="0"/>
              </a:spcBef>
              <a:buClrTx/>
              <a:buSzTx/>
              <a:buFontTx/>
              <a:buNone/>
            </a:pPr>
            <a:r>
              <a:rPr lang="zh-CN" altLang="en-US" sz="2400" b="1" dirty="0">
                <a:solidFill>
                  <a:srgbClr val="FF0000"/>
                </a:solidFill>
              </a:rPr>
              <a:t>    </a:t>
            </a:r>
            <a:r>
              <a:rPr lang="en-US" altLang="zh-CN" sz="2400" b="1" dirty="0">
                <a:solidFill>
                  <a:srgbClr val="FF0000"/>
                </a:solidFill>
              </a:rPr>
              <a:t>signal(j.mutex);</a:t>
            </a:r>
            <a:endParaRPr lang="en-US" altLang="zh-CN" sz="2400" b="1" dirty="0">
              <a:solidFill>
                <a:srgbClr val="FF0000"/>
              </a:solidFill>
            </a:endParaRPr>
          </a:p>
          <a:p>
            <a:pPr marL="0" lvl="0" indent="0" eaLnBrk="1" hangingPunct="1">
              <a:spcBef>
                <a:spcPct val="0"/>
              </a:spcBef>
              <a:buClrTx/>
              <a:buSzTx/>
              <a:buFontTx/>
              <a:buNone/>
            </a:pPr>
            <a:r>
              <a:rPr lang="en-US" altLang="zh-CN" sz="2400" b="1" dirty="0">
                <a:solidFill>
                  <a:srgbClr val="003300"/>
                </a:solidFill>
              </a:rPr>
              <a:t>    b.sender∶  =i.sender; </a:t>
            </a:r>
            <a:endParaRPr lang="en-US" altLang="zh-CN" sz="2400" b="1" dirty="0">
              <a:solidFill>
                <a:srgbClr val="003300"/>
              </a:solidFill>
            </a:endParaRPr>
          </a:p>
          <a:p>
            <a:pPr marL="0" lvl="0" indent="0" eaLnBrk="1" hangingPunct="1">
              <a:spcBef>
                <a:spcPct val="0"/>
              </a:spcBef>
              <a:buClrTx/>
              <a:buSzTx/>
              <a:buFontTx/>
              <a:buNone/>
            </a:pPr>
            <a:r>
              <a:rPr lang="zh-CN" altLang="en-US" sz="2400" b="1" dirty="0">
                <a:solidFill>
                  <a:srgbClr val="003300"/>
                </a:solidFill>
              </a:rPr>
              <a:t>   </a:t>
            </a:r>
            <a:r>
              <a:rPr lang="en-US" altLang="zh-CN" sz="2400" b="1" dirty="0">
                <a:solidFill>
                  <a:srgbClr val="003300"/>
                </a:solidFill>
              </a:rPr>
              <a:t>// </a:t>
            </a:r>
            <a:r>
              <a:rPr lang="zh-CN" altLang="en-US" sz="2400" b="1" dirty="0">
                <a:solidFill>
                  <a:srgbClr val="003300"/>
                </a:solidFill>
              </a:rPr>
              <a:t>将消息缓冲区</a:t>
            </a:r>
            <a:r>
              <a:rPr lang="en-US" altLang="zh-CN" sz="2400" b="1" dirty="0">
                <a:solidFill>
                  <a:srgbClr val="003300"/>
                </a:solidFill>
              </a:rPr>
              <a:t>i</a:t>
            </a:r>
            <a:r>
              <a:rPr lang="zh-CN" altLang="en-US" sz="2400" b="1" dirty="0">
                <a:solidFill>
                  <a:srgbClr val="003300"/>
                </a:solidFill>
              </a:rPr>
              <a:t>中的信息复制到接收区</a:t>
            </a:r>
            <a:r>
              <a:rPr lang="en-US" altLang="zh-CN" sz="2400" b="1" dirty="0">
                <a:solidFill>
                  <a:srgbClr val="003300"/>
                </a:solidFill>
              </a:rPr>
              <a:t>b;</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b.size∶   =i.size;</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copy(b.text,i.text); //</a:t>
            </a:r>
            <a:r>
              <a:rPr lang="zh-CN" altLang="en-US" sz="2400" b="1" dirty="0">
                <a:solidFill>
                  <a:srgbClr val="003300"/>
                </a:solidFill>
              </a:rPr>
              <a:t>将缓冲区</a:t>
            </a:r>
            <a:r>
              <a:rPr lang="en-US" altLang="zh-CN" sz="2400" b="1" dirty="0">
                <a:solidFill>
                  <a:srgbClr val="003300"/>
                </a:solidFill>
              </a:rPr>
              <a:t>i</a:t>
            </a:r>
            <a:r>
              <a:rPr lang="zh-CN" altLang="en-US" sz="2400" b="1" dirty="0">
                <a:solidFill>
                  <a:srgbClr val="003300"/>
                </a:solidFill>
              </a:rPr>
              <a:t>中的信息复制到接收区</a:t>
            </a:r>
            <a:r>
              <a:rPr lang="en-US" altLang="zh-CN" sz="2400" b="1" dirty="0">
                <a:solidFill>
                  <a:srgbClr val="003300"/>
                </a:solidFill>
              </a:rPr>
              <a:t>b</a:t>
            </a:r>
            <a:r>
              <a:rPr lang="zh-CN" altLang="en-US" sz="2400" b="1" dirty="0">
                <a:solidFill>
                  <a:srgbClr val="003300"/>
                </a:solidFill>
              </a:rPr>
              <a:t>；</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releasebuf(i); //</a:t>
            </a:r>
            <a:r>
              <a:rPr lang="zh-CN" altLang="en-US" sz="2400" b="1" dirty="0">
                <a:solidFill>
                  <a:srgbClr val="003300"/>
                </a:solidFill>
              </a:rPr>
              <a:t>释放消息缓冲区；</a:t>
            </a:r>
            <a:endParaRPr lang="en-US" altLang="zh-CN" sz="2400" b="1" dirty="0">
              <a:solidFill>
                <a:srgbClr val="003300"/>
              </a:solidFill>
            </a:endParaRPr>
          </a:p>
          <a:p>
            <a:pPr marL="0" lvl="0" indent="0" eaLnBrk="1" hangingPunct="1">
              <a:spcBef>
                <a:spcPct val="0"/>
              </a:spcBef>
              <a:buClrTx/>
              <a:buSzTx/>
              <a:buFontTx/>
              <a:buNone/>
            </a:pPr>
            <a:r>
              <a:rPr lang="en-US" altLang="zh-CN" sz="2400" b="1" dirty="0">
                <a:solidFill>
                  <a:srgbClr val="003300"/>
                </a:solidFill>
              </a:rPr>
              <a:t>  }</a:t>
            </a:r>
            <a:endParaRPr lang="en-US" altLang="zh-CN" sz="2400" b="1" dirty="0">
              <a:solidFill>
                <a:srgbClr val="003300"/>
              </a:solidFill>
            </a:endParaRPr>
          </a:p>
          <a:p>
            <a:pPr marL="0" lvl="0" indent="0" eaLnBrk="1" hangingPunct="1">
              <a:spcBef>
                <a:spcPct val="0"/>
              </a:spcBef>
              <a:buClrTx/>
              <a:buSzTx/>
              <a:buFontTx/>
              <a:buNone/>
            </a:pPr>
            <a:endParaRPr lang="zh-CN" altLang="en-US" sz="2400" b="1" dirty="0">
              <a:solidFill>
                <a:srgbClr val="003300"/>
              </a:solidFill>
            </a:endParaRPr>
          </a:p>
        </p:txBody>
      </p:sp>
      <p:sp>
        <p:nvSpPr>
          <p:cNvPr id="174083" name="Text Box 3"/>
          <p:cNvSpPr txBox="1"/>
          <p:nvPr/>
        </p:nvSpPr>
        <p:spPr>
          <a:xfrm>
            <a:off x="990600" y="457200"/>
            <a:ext cx="2324100"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b="1" dirty="0">
                <a:solidFill>
                  <a:schemeClr val="folHlink"/>
                </a:solidFill>
                <a:latin typeface="Times New Roman" panose="02020603050405020304" pitchFamily="18" charset="0"/>
              </a:rPr>
              <a:t>3. </a:t>
            </a:r>
            <a:r>
              <a:rPr lang="zh-CN" altLang="en-US" b="1" dirty="0">
                <a:solidFill>
                  <a:schemeClr val="folHlink"/>
                </a:solidFill>
                <a:latin typeface="Times New Roman" panose="02020603050405020304" pitchFamily="18" charset="0"/>
              </a:rPr>
              <a:t>接收原语 </a:t>
            </a:r>
            <a:endParaRPr lang="zh-CN" altLang="en-US" b="1" dirty="0">
              <a:solidFill>
                <a:schemeClr val="folHlink"/>
              </a:solidFill>
              <a:latin typeface="Times New Roman" panose="02020603050405020304" pitchFamily="18" charset="0"/>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标题 1"/>
          <p:cNvSpPr>
            <a:spLocks noGrp="1"/>
          </p:cNvSpPr>
          <p:nvPr>
            <p:ph type="title"/>
          </p:nvPr>
        </p:nvSpPr>
        <p:spPr/>
        <p:txBody>
          <a:bodyPr vert="horz" wrap="square" lIns="91440" tIns="45720" rIns="91440" bIns="45720" anchor="ctr" anchorCtr="0"/>
          <a:p>
            <a:r>
              <a:rPr lang="zh-CN" altLang="en-US" sz="4000" b="1" dirty="0"/>
              <a:t>补充内容</a:t>
            </a:r>
            <a:r>
              <a:rPr lang="en-US" altLang="zh-CN" sz="4000" b="1" dirty="0"/>
              <a:t>-</a:t>
            </a:r>
            <a:r>
              <a:rPr lang="zh-CN" altLang="en-US" sz="4000" b="1" dirty="0"/>
              <a:t>消息队列（间接通信方式）</a:t>
            </a:r>
            <a:endParaRPr lang="zh-CN" altLang="en-US" sz="4000" b="1" dirty="0"/>
          </a:p>
        </p:txBody>
      </p:sp>
      <p:sp>
        <p:nvSpPr>
          <p:cNvPr id="175107" name="内容占位符 2"/>
          <p:cNvSpPr>
            <a:spLocks noGrp="1"/>
          </p:cNvSpPr>
          <p:nvPr>
            <p:ph idx="1"/>
          </p:nvPr>
        </p:nvSpPr>
        <p:spPr/>
        <p:txBody>
          <a:bodyPr vert="horz" wrap="square" lIns="91440" tIns="45720" rIns="91440" bIns="45720" anchor="t" anchorCtr="0"/>
          <a:p>
            <a:r>
              <a:rPr lang="zh-CN" altLang="en-US" dirty="0"/>
              <a:t>现有操作系统对于消息队列的做法与教材的概念有所不同，现有的消息队列如</a:t>
            </a:r>
            <a:r>
              <a:rPr lang="en-US" altLang="zh-CN" dirty="0"/>
              <a:t>Linux</a:t>
            </a:r>
            <a:r>
              <a:rPr lang="zh-CN" altLang="en-US" dirty="0"/>
              <a:t>，</a:t>
            </a:r>
            <a:r>
              <a:rPr lang="en-US" altLang="zh-CN" dirty="0"/>
              <a:t>ucOS</a:t>
            </a:r>
            <a:r>
              <a:rPr lang="zh-CN" altLang="en-US" dirty="0"/>
              <a:t>，</a:t>
            </a:r>
            <a:r>
              <a:rPr lang="en-US" altLang="zh-CN" dirty="0"/>
              <a:t>vxworks</a:t>
            </a:r>
            <a:r>
              <a:rPr lang="zh-CN" altLang="en-US" dirty="0"/>
              <a:t>等将消息队列作为一种间接通信机制，而非直接通信机制。</a:t>
            </a:r>
            <a:endParaRPr lang="en-US" altLang="zh-CN" dirty="0"/>
          </a:p>
          <a:p>
            <a:pPr lvl="1"/>
            <a:r>
              <a:rPr lang="zh-CN" altLang="en-US" b="1" dirty="0">
                <a:solidFill>
                  <a:srgbClr val="C00000"/>
                </a:solidFill>
              </a:rPr>
              <a:t>发送者将消息发送到消息队列中。</a:t>
            </a:r>
            <a:endParaRPr lang="en-US" altLang="zh-CN" b="1" dirty="0">
              <a:solidFill>
                <a:srgbClr val="C00000"/>
              </a:solidFill>
            </a:endParaRPr>
          </a:p>
          <a:p>
            <a:pPr lvl="1"/>
            <a:r>
              <a:rPr lang="zh-CN" altLang="en-US" b="1" dirty="0">
                <a:solidFill>
                  <a:srgbClr val="C00000"/>
                </a:solidFill>
              </a:rPr>
              <a:t>接收者从消息队列中获取一条消息。</a:t>
            </a:r>
            <a:endParaRPr lang="zh-CN" altLang="en-US" b="1" dirty="0">
              <a:solidFill>
                <a:srgbClr val="C00000"/>
              </a:solidFill>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2"/>
          <p:cNvSpPr>
            <a:spLocks noGrp="1"/>
          </p:cNvSpPr>
          <p:nvPr>
            <p:ph type="title"/>
          </p:nvPr>
        </p:nvSpPr>
        <p:spPr>
          <a:xfrm>
            <a:off x="457200" y="274638"/>
            <a:ext cx="8229600" cy="1143000"/>
          </a:xfrm>
        </p:spPr>
        <p:txBody>
          <a:bodyPr vert="horz" wrap="square" lIns="91440" tIns="45720" rIns="91440" bIns="45720" anchor="ctr" anchorCtr="0"/>
          <a:p>
            <a:r>
              <a:rPr lang="zh-CN" altLang="en-US" sz="3600" dirty="0"/>
              <a:t>消息队列机制的主要数据结构</a:t>
            </a:r>
            <a:endParaRPr lang="zh-CN" altLang="en-US" sz="3600" dirty="0"/>
          </a:p>
        </p:txBody>
      </p:sp>
      <p:sp>
        <p:nvSpPr>
          <p:cNvPr id="176131" name="Rectangle 40"/>
          <p:cNvSpPr/>
          <p:nvPr/>
        </p:nvSpPr>
        <p:spPr>
          <a:xfrm>
            <a:off x="0" y="1870075"/>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nvGrpSpPr>
          <p:cNvPr id="176132" name="Group 4"/>
          <p:cNvGrpSpPr>
            <a:grpSpLocks noChangeAspect="1"/>
          </p:cNvGrpSpPr>
          <p:nvPr/>
        </p:nvGrpSpPr>
        <p:grpSpPr>
          <a:xfrm>
            <a:off x="762000" y="1371600"/>
            <a:ext cx="7845425" cy="4370388"/>
            <a:chOff x="900" y="112"/>
            <a:chExt cx="8820" cy="4913"/>
          </a:xfrm>
        </p:grpSpPr>
        <p:sp>
          <p:nvSpPr>
            <p:cNvPr id="176134" name="AutoShape 39"/>
            <p:cNvSpPr>
              <a:spLocks noChangeAspect="1" noTextEdit="1"/>
            </p:cNvSpPr>
            <p:nvPr/>
          </p:nvSpPr>
          <p:spPr>
            <a:xfrm>
              <a:off x="900" y="112"/>
              <a:ext cx="8820" cy="4913"/>
            </a:xfrm>
            <a:prstGeom prst="rect">
              <a:avLst/>
            </a:prstGeom>
            <a:noFill/>
            <a:ln w="9525">
              <a:noFill/>
            </a:ln>
          </p:spPr>
          <p:txBody>
            <a:bodyPr/>
            <a:p>
              <a:endParaRPr lang="zh-CN" altLang="en-US"/>
            </a:p>
          </p:txBody>
        </p:sp>
        <p:sp>
          <p:nvSpPr>
            <p:cNvPr id="176135" name="Text Box 38"/>
            <p:cNvSpPr txBox="1"/>
            <p:nvPr/>
          </p:nvSpPr>
          <p:spPr>
            <a:xfrm>
              <a:off x="3420" y="268"/>
              <a:ext cx="1800" cy="46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队列控制块</a:t>
              </a:r>
              <a:endParaRPr lang="zh-CN" altLang="en-US" sz="1600" b="1" dirty="0"/>
            </a:p>
          </p:txBody>
        </p:sp>
        <p:sp>
          <p:nvSpPr>
            <p:cNvPr id="176136" name="Line 37"/>
            <p:cNvSpPr/>
            <p:nvPr/>
          </p:nvSpPr>
          <p:spPr>
            <a:xfrm>
              <a:off x="5940" y="3544"/>
              <a:ext cx="360" cy="1"/>
            </a:xfrm>
            <a:prstGeom prst="line">
              <a:avLst/>
            </a:prstGeom>
            <a:ln w="9525" cap="flat" cmpd="sng">
              <a:solidFill>
                <a:srgbClr val="000000"/>
              </a:solidFill>
              <a:prstDash val="solid"/>
              <a:headEnd type="none" w="med" len="med"/>
              <a:tailEnd type="none" w="med" len="med"/>
            </a:ln>
          </p:spPr>
        </p:sp>
        <p:sp>
          <p:nvSpPr>
            <p:cNvPr id="176137" name="Line 36"/>
            <p:cNvSpPr/>
            <p:nvPr/>
          </p:nvSpPr>
          <p:spPr>
            <a:xfrm>
              <a:off x="4140" y="2764"/>
              <a:ext cx="0" cy="1404"/>
            </a:xfrm>
            <a:prstGeom prst="line">
              <a:avLst/>
            </a:prstGeom>
            <a:ln w="9525" cap="flat" cmpd="sng">
              <a:solidFill>
                <a:srgbClr val="000000"/>
              </a:solidFill>
              <a:prstDash val="solid"/>
              <a:headEnd type="none" w="med" len="med"/>
              <a:tailEnd type="none" w="med" len="med"/>
            </a:ln>
          </p:spPr>
        </p:sp>
        <p:sp>
          <p:nvSpPr>
            <p:cNvPr id="176138" name="Line 35"/>
            <p:cNvSpPr/>
            <p:nvPr/>
          </p:nvSpPr>
          <p:spPr>
            <a:xfrm>
              <a:off x="4680" y="2764"/>
              <a:ext cx="1" cy="1404"/>
            </a:xfrm>
            <a:prstGeom prst="line">
              <a:avLst/>
            </a:prstGeom>
            <a:ln w="9525" cap="flat" cmpd="sng">
              <a:solidFill>
                <a:srgbClr val="000000"/>
              </a:solidFill>
              <a:prstDash val="solid"/>
              <a:headEnd type="none" w="med" len="med"/>
              <a:tailEnd type="none" w="med" len="med"/>
            </a:ln>
          </p:spPr>
        </p:sp>
        <p:sp>
          <p:nvSpPr>
            <p:cNvPr id="176139" name="Line 34"/>
            <p:cNvSpPr/>
            <p:nvPr/>
          </p:nvSpPr>
          <p:spPr>
            <a:xfrm>
              <a:off x="5220" y="2764"/>
              <a:ext cx="1" cy="1404"/>
            </a:xfrm>
            <a:prstGeom prst="line">
              <a:avLst/>
            </a:prstGeom>
            <a:ln w="9525" cap="flat" cmpd="sng">
              <a:solidFill>
                <a:srgbClr val="000000"/>
              </a:solidFill>
              <a:prstDash val="solid"/>
              <a:headEnd type="none" w="med" len="med"/>
              <a:tailEnd type="none" w="med" len="med"/>
            </a:ln>
          </p:spPr>
        </p:sp>
        <p:sp>
          <p:nvSpPr>
            <p:cNvPr id="176140" name="Text Box 33"/>
            <p:cNvSpPr txBox="1"/>
            <p:nvPr/>
          </p:nvSpPr>
          <p:spPr>
            <a:xfrm>
              <a:off x="4290" y="4557"/>
              <a:ext cx="1260" cy="468"/>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队列长度</a:t>
              </a:r>
              <a:endParaRPr lang="zh-CN" altLang="en-US" sz="1600" b="1" dirty="0"/>
            </a:p>
          </p:txBody>
        </p:sp>
        <p:sp>
          <p:nvSpPr>
            <p:cNvPr id="176141" name="Line 32"/>
            <p:cNvSpPr/>
            <p:nvPr/>
          </p:nvSpPr>
          <p:spPr>
            <a:xfrm>
              <a:off x="3780" y="3544"/>
              <a:ext cx="360" cy="1"/>
            </a:xfrm>
            <a:prstGeom prst="line">
              <a:avLst/>
            </a:prstGeom>
            <a:ln w="9525" cap="flat" cmpd="sng">
              <a:solidFill>
                <a:srgbClr val="000000"/>
              </a:solidFill>
              <a:prstDash val="solid"/>
              <a:headEnd type="none" w="med" len="med"/>
              <a:tailEnd type="none" w="med" len="med"/>
            </a:ln>
          </p:spPr>
        </p:sp>
        <p:sp>
          <p:nvSpPr>
            <p:cNvPr id="176142" name="Text Box 31"/>
            <p:cNvSpPr txBox="1"/>
            <p:nvPr/>
          </p:nvSpPr>
          <p:spPr>
            <a:xfrm>
              <a:off x="3960" y="892"/>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QCB1</a:t>
              </a:r>
              <a:endParaRPr lang="en-US" altLang="zh-CN" sz="1600" b="1" dirty="0"/>
            </a:p>
          </p:txBody>
        </p:sp>
        <p:sp>
          <p:nvSpPr>
            <p:cNvPr id="176143" name="Text Box 30"/>
            <p:cNvSpPr txBox="1"/>
            <p:nvPr/>
          </p:nvSpPr>
          <p:spPr>
            <a:xfrm>
              <a:off x="4140" y="2296"/>
              <a:ext cx="1800" cy="46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队列名或</a:t>
              </a:r>
              <a:r>
                <a:rPr lang="en-US" altLang="zh-CN" sz="1600" b="1" dirty="0">
                  <a:latin typeface="Times New Roman" panose="02020603050405020304" pitchFamily="18" charset="0"/>
                  <a:cs typeface="Times New Roman" panose="02020603050405020304" pitchFamily="18" charset="0"/>
                </a:rPr>
                <a:t>ID</a:t>
              </a:r>
              <a:endParaRPr lang="en-US" altLang="zh-CN" sz="1600" b="1" dirty="0"/>
            </a:p>
          </p:txBody>
        </p:sp>
        <p:sp>
          <p:nvSpPr>
            <p:cNvPr id="176144" name="Line 29"/>
            <p:cNvSpPr/>
            <p:nvPr/>
          </p:nvSpPr>
          <p:spPr>
            <a:xfrm>
              <a:off x="6300" y="3076"/>
              <a:ext cx="3240" cy="0"/>
            </a:xfrm>
            <a:prstGeom prst="line">
              <a:avLst/>
            </a:prstGeom>
            <a:ln w="28575" cap="flat" cmpd="sng">
              <a:solidFill>
                <a:srgbClr val="000000"/>
              </a:solidFill>
              <a:prstDash val="solid"/>
              <a:headEnd type="none" w="med" len="med"/>
              <a:tailEnd type="none" w="med" len="med"/>
            </a:ln>
          </p:spPr>
        </p:sp>
        <p:sp>
          <p:nvSpPr>
            <p:cNvPr id="176145" name="Line 28"/>
            <p:cNvSpPr/>
            <p:nvPr/>
          </p:nvSpPr>
          <p:spPr>
            <a:xfrm>
              <a:off x="6300" y="3936"/>
              <a:ext cx="3240" cy="0"/>
            </a:xfrm>
            <a:prstGeom prst="line">
              <a:avLst/>
            </a:prstGeom>
            <a:ln w="28575" cap="flat" cmpd="sng">
              <a:solidFill>
                <a:srgbClr val="000000"/>
              </a:solidFill>
              <a:prstDash val="solid"/>
              <a:headEnd type="none" w="med" len="med"/>
              <a:tailEnd type="none" w="med" len="med"/>
            </a:ln>
          </p:spPr>
        </p:sp>
        <p:sp>
          <p:nvSpPr>
            <p:cNvPr id="176146" name="Text Box 27"/>
            <p:cNvSpPr txBox="1"/>
            <p:nvPr/>
          </p:nvSpPr>
          <p:spPr>
            <a:xfrm>
              <a:off x="6300" y="3388"/>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Task3</a:t>
              </a:r>
              <a:endParaRPr lang="en-US" altLang="zh-CN" sz="1600" b="1" dirty="0"/>
            </a:p>
          </p:txBody>
        </p:sp>
        <p:sp>
          <p:nvSpPr>
            <p:cNvPr id="176147" name="Text Box 26"/>
            <p:cNvSpPr txBox="1"/>
            <p:nvPr/>
          </p:nvSpPr>
          <p:spPr>
            <a:xfrm>
              <a:off x="7380" y="3388"/>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Task4</a:t>
              </a:r>
              <a:endParaRPr lang="en-US" altLang="zh-CN" sz="1600" b="1" dirty="0"/>
            </a:p>
          </p:txBody>
        </p:sp>
        <p:sp>
          <p:nvSpPr>
            <p:cNvPr id="176148" name="Text Box 25"/>
            <p:cNvSpPr txBox="1"/>
            <p:nvPr/>
          </p:nvSpPr>
          <p:spPr>
            <a:xfrm>
              <a:off x="8460" y="3388"/>
              <a:ext cx="900" cy="313"/>
            </a:xfrm>
            <a:prstGeom prst="rect">
              <a:avLst/>
            </a:prstGeom>
            <a:solidFill>
              <a:srgbClr val="FFFFFF"/>
            </a:solidFill>
            <a:ln w="9525">
              <a:noFill/>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cs typeface="Times New Roman" panose="02020603050405020304" pitchFamily="18" charset="0"/>
                </a:rPr>
                <a:t>……</a:t>
              </a:r>
              <a:endParaRPr lang="en-US" altLang="zh-CN" sz="1600" b="1" dirty="0"/>
            </a:p>
          </p:txBody>
        </p:sp>
        <p:sp>
          <p:nvSpPr>
            <p:cNvPr id="176149" name="Text Box 24"/>
            <p:cNvSpPr txBox="1"/>
            <p:nvPr/>
          </p:nvSpPr>
          <p:spPr>
            <a:xfrm>
              <a:off x="6480" y="2453"/>
              <a:ext cx="1980" cy="46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接收任务等待列表</a:t>
              </a:r>
              <a:endParaRPr lang="zh-CN" altLang="en-US" sz="1600" b="1" dirty="0"/>
            </a:p>
          </p:txBody>
        </p:sp>
        <p:sp>
          <p:nvSpPr>
            <p:cNvPr id="176150" name="Line 23"/>
            <p:cNvSpPr/>
            <p:nvPr/>
          </p:nvSpPr>
          <p:spPr>
            <a:xfrm>
              <a:off x="900" y="3075"/>
              <a:ext cx="2880" cy="1"/>
            </a:xfrm>
            <a:prstGeom prst="line">
              <a:avLst/>
            </a:prstGeom>
            <a:ln w="28575" cap="flat" cmpd="sng">
              <a:solidFill>
                <a:srgbClr val="000000"/>
              </a:solidFill>
              <a:prstDash val="solid"/>
              <a:headEnd type="none" w="med" len="med"/>
              <a:tailEnd type="none" w="med" len="med"/>
            </a:ln>
          </p:spPr>
        </p:sp>
        <p:sp>
          <p:nvSpPr>
            <p:cNvPr id="176151" name="Line 22"/>
            <p:cNvSpPr/>
            <p:nvPr/>
          </p:nvSpPr>
          <p:spPr>
            <a:xfrm flipV="1">
              <a:off x="900" y="3856"/>
              <a:ext cx="2880" cy="1"/>
            </a:xfrm>
            <a:prstGeom prst="line">
              <a:avLst/>
            </a:prstGeom>
            <a:ln w="28575" cap="flat" cmpd="sng">
              <a:solidFill>
                <a:srgbClr val="000000"/>
              </a:solidFill>
              <a:prstDash val="solid"/>
              <a:headEnd type="none" w="med" len="med"/>
              <a:tailEnd type="none" w="med" len="med"/>
            </a:ln>
          </p:spPr>
        </p:sp>
        <p:sp>
          <p:nvSpPr>
            <p:cNvPr id="176152" name="Text Box 21"/>
            <p:cNvSpPr txBox="1"/>
            <p:nvPr/>
          </p:nvSpPr>
          <p:spPr>
            <a:xfrm>
              <a:off x="1620" y="3387"/>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Task1</a:t>
              </a:r>
              <a:endParaRPr lang="en-US" altLang="zh-CN" sz="1600" b="1" dirty="0"/>
            </a:p>
          </p:txBody>
        </p:sp>
        <p:sp>
          <p:nvSpPr>
            <p:cNvPr id="176153" name="Text Box 20"/>
            <p:cNvSpPr txBox="1"/>
            <p:nvPr/>
          </p:nvSpPr>
          <p:spPr>
            <a:xfrm>
              <a:off x="2700" y="3387"/>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Task2</a:t>
              </a:r>
              <a:endParaRPr lang="en-US" altLang="zh-CN" sz="1600" b="1" dirty="0"/>
            </a:p>
          </p:txBody>
        </p:sp>
        <p:sp>
          <p:nvSpPr>
            <p:cNvPr id="176154" name="Text Box 19"/>
            <p:cNvSpPr txBox="1"/>
            <p:nvPr/>
          </p:nvSpPr>
          <p:spPr>
            <a:xfrm>
              <a:off x="900" y="3388"/>
              <a:ext cx="720" cy="313"/>
            </a:xfrm>
            <a:prstGeom prst="rect">
              <a:avLst/>
            </a:prstGeom>
            <a:solidFill>
              <a:srgbClr val="FFFFFF"/>
            </a:solidFill>
            <a:ln w="9525">
              <a:noFill/>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cs typeface="Times New Roman" panose="02020603050405020304" pitchFamily="18" charset="0"/>
                </a:rPr>
                <a:t>……</a:t>
              </a:r>
              <a:endParaRPr lang="en-US" altLang="zh-CN" sz="1600" b="1" dirty="0"/>
            </a:p>
          </p:txBody>
        </p:sp>
        <p:sp>
          <p:nvSpPr>
            <p:cNvPr id="176155" name="Text Box 18"/>
            <p:cNvSpPr txBox="1"/>
            <p:nvPr/>
          </p:nvSpPr>
          <p:spPr>
            <a:xfrm>
              <a:off x="1080" y="2452"/>
              <a:ext cx="1980" cy="467"/>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发送任务等待列表</a:t>
              </a:r>
              <a:endParaRPr lang="zh-CN" altLang="en-US" sz="1600" b="1" dirty="0"/>
            </a:p>
          </p:txBody>
        </p:sp>
        <p:sp>
          <p:nvSpPr>
            <p:cNvPr id="176156" name="Line 17"/>
            <p:cNvSpPr/>
            <p:nvPr/>
          </p:nvSpPr>
          <p:spPr>
            <a:xfrm>
              <a:off x="3960" y="2764"/>
              <a:ext cx="1800" cy="1"/>
            </a:xfrm>
            <a:prstGeom prst="line">
              <a:avLst/>
            </a:prstGeom>
            <a:ln w="9525" cap="flat" cmpd="sng">
              <a:solidFill>
                <a:srgbClr val="000000"/>
              </a:solidFill>
              <a:prstDash val="solid"/>
              <a:headEnd type="none" w="med" len="med"/>
              <a:tailEnd type="none" w="med" len="med"/>
            </a:ln>
          </p:spPr>
        </p:sp>
        <p:sp>
          <p:nvSpPr>
            <p:cNvPr id="176157" name="Line 16"/>
            <p:cNvSpPr/>
            <p:nvPr/>
          </p:nvSpPr>
          <p:spPr>
            <a:xfrm>
              <a:off x="5760" y="2764"/>
              <a:ext cx="1" cy="1404"/>
            </a:xfrm>
            <a:prstGeom prst="line">
              <a:avLst/>
            </a:prstGeom>
            <a:ln w="9525" cap="flat" cmpd="sng">
              <a:solidFill>
                <a:srgbClr val="000000"/>
              </a:solidFill>
              <a:prstDash val="solid"/>
              <a:headEnd type="none" w="med" len="med"/>
              <a:tailEnd type="none" w="med" len="med"/>
            </a:ln>
          </p:spPr>
        </p:sp>
        <p:sp>
          <p:nvSpPr>
            <p:cNvPr id="176158" name="Line 15"/>
            <p:cNvSpPr/>
            <p:nvPr/>
          </p:nvSpPr>
          <p:spPr>
            <a:xfrm>
              <a:off x="3960" y="4168"/>
              <a:ext cx="1800" cy="1"/>
            </a:xfrm>
            <a:prstGeom prst="line">
              <a:avLst/>
            </a:prstGeom>
            <a:ln w="9525" cap="flat" cmpd="sng">
              <a:solidFill>
                <a:srgbClr val="000000"/>
              </a:solidFill>
              <a:prstDash val="solid"/>
              <a:headEnd type="none" w="med" len="med"/>
              <a:tailEnd type="none" w="med" len="med"/>
            </a:ln>
          </p:spPr>
        </p:sp>
        <p:sp>
          <p:nvSpPr>
            <p:cNvPr id="176159" name="Line 14"/>
            <p:cNvSpPr/>
            <p:nvPr/>
          </p:nvSpPr>
          <p:spPr>
            <a:xfrm>
              <a:off x="4500" y="2764"/>
              <a:ext cx="0" cy="1404"/>
            </a:xfrm>
            <a:prstGeom prst="line">
              <a:avLst/>
            </a:prstGeom>
            <a:ln w="9525" cap="flat" cmpd="sng">
              <a:solidFill>
                <a:srgbClr val="000000"/>
              </a:solidFill>
              <a:prstDash val="solid"/>
              <a:headEnd type="triangle" w="med" len="med"/>
              <a:tailEnd type="triangle" w="med" len="med"/>
            </a:ln>
          </p:spPr>
        </p:sp>
        <p:sp>
          <p:nvSpPr>
            <p:cNvPr id="176160" name="Text Box 13"/>
            <p:cNvSpPr txBox="1"/>
            <p:nvPr/>
          </p:nvSpPr>
          <p:spPr>
            <a:xfrm>
              <a:off x="4680" y="2764"/>
              <a:ext cx="540" cy="1404"/>
            </a:xfrm>
            <a:prstGeom prst="rect">
              <a:avLst/>
            </a:prstGeom>
            <a:solidFill>
              <a:srgbClr val="FFFFFF"/>
            </a:solidFill>
            <a:ln w="9525" cap="flat" cmpd="sng">
              <a:solidFill>
                <a:srgbClr val="000000"/>
              </a:solidFill>
              <a:prstDash val="solid"/>
              <a:miter/>
              <a:headEnd type="none" w="med" len="med"/>
              <a:tailEnd type="none" w="med" len="med"/>
            </a:ln>
          </p:spPr>
          <p:txBody>
            <a:bodyPr lIns="18000" tIns="10800" rIns="18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最大</a:t>
              </a:r>
              <a:endParaRPr lang="zh-CN" altLang="en-US" sz="1600" b="1" dirty="0"/>
            </a:p>
            <a:p>
              <a:pPr marL="0" lvl="0" indent="0">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消息</a:t>
              </a:r>
              <a:endParaRPr lang="zh-CN" altLang="en-US" sz="1600" b="1" dirty="0"/>
            </a:p>
            <a:p>
              <a:pPr marL="0" lvl="0" indent="0">
                <a:spcBef>
                  <a:spcPct val="0"/>
                </a:spcBef>
                <a:buClrTx/>
                <a:buSzTx/>
                <a:buFontTx/>
                <a:buNone/>
              </a:pPr>
              <a:r>
                <a:rPr lang="zh-CN" altLang="en-US" sz="1600" b="1" dirty="0">
                  <a:latin typeface="Times New Roman" panose="02020603050405020304" pitchFamily="18" charset="0"/>
                  <a:cs typeface="Times New Roman" panose="02020603050405020304" pitchFamily="18" charset="0"/>
                </a:rPr>
                <a:t>长度</a:t>
              </a:r>
              <a:endParaRPr lang="zh-CN" altLang="en-US" sz="1600" b="1" dirty="0"/>
            </a:p>
          </p:txBody>
        </p:sp>
        <p:sp>
          <p:nvSpPr>
            <p:cNvPr id="176161" name="Line 12"/>
            <p:cNvSpPr/>
            <p:nvPr/>
          </p:nvSpPr>
          <p:spPr>
            <a:xfrm>
              <a:off x="3960" y="4168"/>
              <a:ext cx="0" cy="312"/>
            </a:xfrm>
            <a:prstGeom prst="line">
              <a:avLst/>
            </a:prstGeom>
            <a:ln w="9525" cap="flat" cmpd="sng">
              <a:solidFill>
                <a:srgbClr val="000000"/>
              </a:solidFill>
              <a:prstDash val="solid"/>
              <a:headEnd type="none" w="med" len="med"/>
              <a:tailEnd type="none" w="med" len="med"/>
            </a:ln>
          </p:spPr>
        </p:sp>
        <p:sp>
          <p:nvSpPr>
            <p:cNvPr id="176162" name="Line 11"/>
            <p:cNvSpPr/>
            <p:nvPr/>
          </p:nvSpPr>
          <p:spPr>
            <a:xfrm>
              <a:off x="5760" y="4167"/>
              <a:ext cx="1" cy="312"/>
            </a:xfrm>
            <a:prstGeom prst="line">
              <a:avLst/>
            </a:prstGeom>
            <a:ln w="9525" cap="flat" cmpd="sng">
              <a:solidFill>
                <a:srgbClr val="000000"/>
              </a:solidFill>
              <a:prstDash val="solid"/>
              <a:headEnd type="none" w="med" len="med"/>
              <a:tailEnd type="none" w="med" len="med"/>
            </a:ln>
          </p:spPr>
        </p:sp>
        <p:sp>
          <p:nvSpPr>
            <p:cNvPr id="176163" name="Line 10"/>
            <p:cNvSpPr/>
            <p:nvPr/>
          </p:nvSpPr>
          <p:spPr>
            <a:xfrm>
              <a:off x="3930" y="4401"/>
              <a:ext cx="1800" cy="0"/>
            </a:xfrm>
            <a:prstGeom prst="line">
              <a:avLst/>
            </a:prstGeom>
            <a:ln w="9525" cap="flat" cmpd="sng">
              <a:solidFill>
                <a:srgbClr val="000000"/>
              </a:solidFill>
              <a:prstDash val="solid"/>
              <a:headEnd type="triangle" w="med" len="med"/>
              <a:tailEnd type="triangle" w="med" len="med"/>
            </a:ln>
          </p:spPr>
        </p:sp>
        <p:sp>
          <p:nvSpPr>
            <p:cNvPr id="176164" name="AutoShape 9"/>
            <p:cNvSpPr/>
            <p:nvPr/>
          </p:nvSpPr>
          <p:spPr>
            <a:xfrm>
              <a:off x="3780" y="3388"/>
              <a:ext cx="360" cy="312"/>
            </a:xfrm>
            <a:prstGeom prst="rightArrow">
              <a:avLst>
                <a:gd name="adj1" fmla="val 50000"/>
                <a:gd name="adj2" fmla="val 28846"/>
              </a:avLst>
            </a:prstGeom>
            <a:solidFill>
              <a:srgbClr val="FFFF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76165" name="AutoShape 8"/>
            <p:cNvSpPr/>
            <p:nvPr/>
          </p:nvSpPr>
          <p:spPr>
            <a:xfrm>
              <a:off x="5940" y="3388"/>
              <a:ext cx="360" cy="312"/>
            </a:xfrm>
            <a:prstGeom prst="rightArrow">
              <a:avLst>
                <a:gd name="adj1" fmla="val 50000"/>
                <a:gd name="adj2" fmla="val 28846"/>
              </a:avLst>
            </a:prstGeom>
            <a:solidFill>
              <a:srgbClr val="FFFF0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76166" name="Line 7"/>
            <p:cNvSpPr/>
            <p:nvPr/>
          </p:nvSpPr>
          <p:spPr>
            <a:xfrm>
              <a:off x="4140" y="2140"/>
              <a:ext cx="0" cy="624"/>
            </a:xfrm>
            <a:prstGeom prst="line">
              <a:avLst/>
            </a:prstGeom>
            <a:ln w="9525" cap="flat" cmpd="sng">
              <a:solidFill>
                <a:srgbClr val="000000"/>
              </a:solidFill>
              <a:prstDash val="sysDot"/>
              <a:headEnd type="none" w="med" len="med"/>
              <a:tailEnd type="none" w="med" len="med"/>
            </a:ln>
          </p:spPr>
        </p:sp>
        <p:sp>
          <p:nvSpPr>
            <p:cNvPr id="176167" name="Text Box 6"/>
            <p:cNvSpPr txBox="1"/>
            <p:nvPr/>
          </p:nvSpPr>
          <p:spPr>
            <a:xfrm>
              <a:off x="3960" y="1204"/>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latin typeface="Times New Roman" panose="02020603050405020304" pitchFamily="18" charset="0"/>
                  <a:cs typeface="Times New Roman" panose="02020603050405020304" pitchFamily="18" charset="0"/>
                </a:rPr>
                <a:t>QCB2</a:t>
              </a:r>
              <a:endParaRPr lang="en-US" altLang="zh-CN" sz="1600" b="1" dirty="0"/>
            </a:p>
          </p:txBody>
        </p:sp>
        <p:sp>
          <p:nvSpPr>
            <p:cNvPr id="176168" name="Text Box 5"/>
            <p:cNvSpPr txBox="1"/>
            <p:nvPr/>
          </p:nvSpPr>
          <p:spPr>
            <a:xfrm>
              <a:off x="3960" y="1516"/>
              <a:ext cx="900" cy="313"/>
            </a:xfrm>
            <a:prstGeom prst="rect">
              <a:avLst/>
            </a:prstGeom>
            <a:solidFill>
              <a:srgbClr val="FFFFFF"/>
            </a:solidFill>
            <a:ln w="9525" cap="flat" cmpd="sng">
              <a:solidFill>
                <a:srgbClr val="000000"/>
              </a:solidFill>
              <a:prstDash val="solid"/>
              <a:miter/>
              <a:headEnd type="none" w="med" len="med"/>
              <a:tailEnd type="none" w="med" len="med"/>
            </a:ln>
          </p:spPr>
          <p:txBody>
            <a:bodyPr lIns="54000" tIns="10800" rIns="54000" bIns="1080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1600" b="1" dirty="0">
                  <a:cs typeface="Times New Roman" panose="02020603050405020304" pitchFamily="18" charset="0"/>
                </a:rPr>
                <a:t>……</a:t>
              </a:r>
              <a:endParaRPr lang="en-US" altLang="zh-CN" sz="1600" b="1" dirty="0"/>
            </a:p>
          </p:txBody>
        </p:sp>
      </p:grpSp>
      <p:sp>
        <p:nvSpPr>
          <p:cNvPr id="176133" name="Rectangle 56"/>
          <p:cNvSpPr/>
          <p:nvPr/>
        </p:nvSpPr>
        <p:spPr>
          <a:xfrm>
            <a:off x="1981200" y="5853113"/>
            <a:ext cx="4913313" cy="3968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800000"/>
                </a:solidFill>
                <a:latin typeface="楷体_GB2312" pitchFamily="49" charset="-122"/>
                <a:ea typeface="楷体_GB2312" pitchFamily="49" charset="-122"/>
              </a:rPr>
              <a:t>消息队列及其相关的参数和支持数据结构 </a:t>
            </a:r>
            <a:endParaRPr lang="zh-CN" altLang="en-US" sz="2000" b="1" dirty="0">
              <a:solidFill>
                <a:srgbClr val="800000"/>
              </a:solidFill>
              <a:latin typeface="楷体_GB2312" pitchFamily="49" charset="-122"/>
              <a:ea typeface="楷体_GB2312" pitchFamily="49" charset="-122"/>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标题 1"/>
          <p:cNvSpPr>
            <a:spLocks noGrp="1"/>
          </p:cNvSpPr>
          <p:nvPr>
            <p:ph type="title"/>
          </p:nvPr>
        </p:nvSpPr>
        <p:spPr/>
        <p:txBody>
          <a:bodyPr vert="horz" wrap="square" lIns="91440" tIns="45720" rIns="91440" bIns="45720" anchor="ctr" anchorCtr="0"/>
          <a:p>
            <a:r>
              <a:rPr lang="en-US" altLang="zh-CN" b="1" dirty="0"/>
              <a:t>Linux</a:t>
            </a:r>
            <a:r>
              <a:rPr lang="zh-CN" altLang="en-US" b="1" dirty="0"/>
              <a:t>的消息队列</a:t>
            </a:r>
            <a:endParaRPr lang="zh-CN" altLang="en-US" b="1" dirty="0"/>
          </a:p>
        </p:txBody>
      </p:sp>
      <p:sp>
        <p:nvSpPr>
          <p:cNvPr id="177155" name="内容占位符 2"/>
          <p:cNvSpPr>
            <a:spLocks noGrp="1"/>
          </p:cNvSpPr>
          <p:nvPr>
            <p:ph idx="1"/>
          </p:nvPr>
        </p:nvSpPr>
        <p:spPr/>
        <p:txBody>
          <a:bodyPr vert="horz" wrap="square" lIns="91440" tIns="45720" rIns="91440" bIns="45720" anchor="t" anchorCtr="0"/>
          <a:p>
            <a:r>
              <a:rPr lang="zh-CN" altLang="en-US" dirty="0">
                <a:solidFill>
                  <a:srgbClr val="111111"/>
                </a:solidFill>
              </a:rPr>
              <a:t>函数声明： </a:t>
            </a:r>
            <a:r>
              <a:rPr lang="en-US" altLang="zh-CN" dirty="0">
                <a:solidFill>
                  <a:srgbClr val="FF0000"/>
                </a:solidFill>
              </a:rPr>
              <a:t>int msgsnd ( int msqid, struct msgbuf *msgp, int msgsz, int msgflg )</a:t>
            </a:r>
            <a:endParaRPr lang="en-US" altLang="zh-CN" dirty="0">
              <a:solidFill>
                <a:srgbClr val="FF0000"/>
              </a:solidFill>
            </a:endParaRPr>
          </a:p>
          <a:p>
            <a:r>
              <a:rPr lang="zh-CN" altLang="en-US" dirty="0">
                <a:solidFill>
                  <a:srgbClr val="FF0000"/>
                </a:solidFill>
              </a:rPr>
              <a:t>注意：</a:t>
            </a:r>
            <a:r>
              <a:rPr lang="zh-CN" altLang="en-US" dirty="0"/>
              <a:t>参数</a:t>
            </a:r>
            <a:r>
              <a:rPr lang="en-US" altLang="zh-CN" dirty="0"/>
              <a:t>msgflg0</a:t>
            </a:r>
            <a:r>
              <a:rPr lang="zh-CN" altLang="en-US" dirty="0"/>
              <a:t>，忽略标志位；</a:t>
            </a:r>
            <a:br>
              <a:rPr lang="zh-CN" altLang="en-US" dirty="0"/>
            </a:br>
            <a:r>
              <a:rPr lang="en-US" altLang="zh-CN" dirty="0"/>
              <a:t>IPC_NOWAIT</a:t>
            </a:r>
            <a:r>
              <a:rPr lang="zh-CN" altLang="en-US" dirty="0"/>
              <a:t>，如果消息队列已满，消息将不被写入队列，控制权返回调用函数的线</a:t>
            </a:r>
            <a:br>
              <a:rPr lang="zh-CN" altLang="en-US" dirty="0"/>
            </a:br>
            <a:r>
              <a:rPr lang="zh-CN" altLang="en-US" dirty="0"/>
              <a:t>程。如果不指定这个参数，线程将被阻塞直到消息被可以被写入。</a:t>
            </a:r>
            <a:endParaRPr lang="zh-CN" alt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标题 1"/>
          <p:cNvSpPr>
            <a:spLocks noGrp="1"/>
          </p:cNvSpPr>
          <p:nvPr>
            <p:ph type="title"/>
          </p:nvPr>
        </p:nvSpPr>
        <p:spPr/>
        <p:txBody>
          <a:bodyPr vert="horz" wrap="square" lIns="91440" tIns="45720" rIns="91440" bIns="45720" anchor="ctr" anchorCtr="0"/>
          <a:p>
            <a:endParaRPr lang="zh-CN" altLang="en-US" dirty="0"/>
          </a:p>
        </p:txBody>
      </p:sp>
      <p:sp>
        <p:nvSpPr>
          <p:cNvPr id="178179" name="内容占位符 2"/>
          <p:cNvSpPr>
            <a:spLocks noGrp="1"/>
          </p:cNvSpPr>
          <p:nvPr>
            <p:ph idx="1"/>
          </p:nvPr>
        </p:nvSpPr>
        <p:spPr/>
        <p:txBody>
          <a:bodyPr vert="horz" wrap="square" lIns="91440" tIns="45720" rIns="91440" bIns="45720" anchor="t" anchorCtr="0"/>
          <a:p>
            <a:r>
              <a:rPr lang="zh-CN" altLang="en-US" dirty="0"/>
              <a:t>函数声明： </a:t>
            </a:r>
            <a:r>
              <a:rPr lang="en-US" altLang="zh-CN" dirty="0">
                <a:solidFill>
                  <a:srgbClr val="FF0000"/>
                </a:solidFill>
              </a:rPr>
              <a:t>int msgrcv ( int msqid, struct msgbuf *msgp, int msgsz, long mtype,int msgflg )</a:t>
            </a:r>
            <a:endParaRPr lang="en-US" altLang="zh-CN" dirty="0">
              <a:solidFill>
                <a:srgbClr val="FF0000"/>
              </a:solidFill>
            </a:endParaRPr>
          </a:p>
          <a:p>
            <a:r>
              <a:rPr lang="zh-CN" altLang="en-US" dirty="0"/>
              <a:t>注意：第四个参数</a:t>
            </a:r>
            <a:r>
              <a:rPr lang="en-US" altLang="zh-CN" dirty="0"/>
              <a:t>mtype</a:t>
            </a:r>
            <a:r>
              <a:rPr lang="zh-CN" altLang="en-US" dirty="0"/>
              <a:t>指定了函数从队列中所取的消息的类型。函数将从队列中搜索类型与之匹配的消息并将之返回。如果</a:t>
            </a:r>
            <a:r>
              <a:rPr lang="en-US" altLang="zh-CN" dirty="0"/>
              <a:t>mtype </a:t>
            </a:r>
            <a:r>
              <a:rPr lang="zh-CN" altLang="en-US" dirty="0"/>
              <a:t>的值是零的话，函数将不做类型检查而自动返回队列中的最旧的消息。</a:t>
            </a:r>
            <a:endParaRPr lang="zh-CN" altLang="en-US"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标题 1"/>
          <p:cNvSpPr>
            <a:spLocks noGrp="1"/>
          </p:cNvSpPr>
          <p:nvPr>
            <p:ph type="title"/>
          </p:nvPr>
        </p:nvSpPr>
        <p:spPr/>
        <p:txBody>
          <a:bodyPr vert="horz" wrap="square" lIns="91440" tIns="45720" rIns="91440" bIns="45720" anchor="ctr" anchorCtr="0"/>
          <a:p>
            <a:endParaRPr lang="zh-CN" altLang="en-US" dirty="0"/>
          </a:p>
        </p:txBody>
      </p:sp>
      <p:sp>
        <p:nvSpPr>
          <p:cNvPr id="179203" name="内容占位符 2"/>
          <p:cNvSpPr>
            <a:spLocks noGrp="1"/>
          </p:cNvSpPr>
          <p:nvPr>
            <p:ph idx="1"/>
          </p:nvPr>
        </p:nvSpPr>
        <p:spPr/>
        <p:txBody>
          <a:bodyPr vert="horz" wrap="square" lIns="91440" tIns="45720" rIns="91440" bIns="45720" anchor="t" anchorCtr="0"/>
          <a:p>
            <a:r>
              <a:rPr lang="zh-CN" altLang="en-US" dirty="0"/>
              <a:t>函数说明：</a:t>
            </a:r>
            <a:r>
              <a:rPr lang="en-US" altLang="zh-CN" dirty="0">
                <a:solidFill>
                  <a:srgbClr val="FF0000"/>
                </a:solidFill>
              </a:rPr>
              <a:t>int msgget(key_t key, int msgflg); </a:t>
            </a:r>
            <a:r>
              <a:rPr lang="zh-CN" altLang="en-US" dirty="0"/>
              <a:t>创建消息队列</a:t>
            </a:r>
            <a:endParaRPr lang="zh-CN" altLang="en-US" dirty="0"/>
          </a:p>
          <a:p>
            <a:r>
              <a:rPr lang="zh-CN" altLang="en-US" dirty="0"/>
              <a:t>参数： </a:t>
            </a:r>
            <a:endParaRPr lang="zh-CN" altLang="en-US" dirty="0"/>
          </a:p>
          <a:p>
            <a:r>
              <a:rPr lang="en-US" altLang="zh-CN" dirty="0"/>
              <a:t>key</a:t>
            </a:r>
            <a:r>
              <a:rPr lang="zh-CN" altLang="en-US" dirty="0"/>
              <a:t>：消息队列关联的键。 </a:t>
            </a:r>
            <a:endParaRPr lang="zh-CN" altLang="en-US" dirty="0"/>
          </a:p>
          <a:p>
            <a:r>
              <a:rPr lang="en-US" altLang="zh-CN" dirty="0"/>
              <a:t>msgflg</a:t>
            </a:r>
            <a:r>
              <a:rPr lang="zh-CN" altLang="en-US" dirty="0"/>
              <a:t>：消息队列的建立标志和存取权限。 </a:t>
            </a:r>
            <a:endParaRPr lang="zh-CN" altLang="en-US" dirty="0"/>
          </a:p>
          <a:p>
            <a:r>
              <a:rPr lang="zh-CN" altLang="en-US" dirty="0"/>
              <a:t>返回说明： </a:t>
            </a:r>
            <a:endParaRPr lang="zh-CN" altLang="en-US" dirty="0"/>
          </a:p>
          <a:p>
            <a:r>
              <a:rPr lang="zh-CN" altLang="en-US" dirty="0"/>
              <a:t>成功执行时，返回消息队列标识值。失败返回</a:t>
            </a:r>
            <a:r>
              <a:rPr lang="en-US" altLang="zh-CN" dirty="0"/>
              <a:t>-1</a:t>
            </a:r>
            <a:r>
              <a:rPr lang="zh-CN" altLang="en-US" dirty="0"/>
              <a:t>，</a:t>
            </a:r>
            <a:endParaRPr lang="zh-CN" altLang="en-US" dirty="0"/>
          </a:p>
          <a:p>
            <a:endParaRPr lang="zh-CN" alt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22313" y="1905000"/>
            <a:ext cx="7772400" cy="38639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all" spc="0" normalizeH="0" baseline="0" noProof="0" dirty="0" smtClean="0">
                <a:ln>
                  <a:noFill/>
                </a:ln>
                <a:solidFill>
                  <a:schemeClr val="tx2"/>
                </a:solidFill>
                <a:effectLst/>
                <a:uLnTx/>
                <a:uFillTx/>
                <a:latin typeface="+mj-lt"/>
                <a:ea typeface="+mj-ea"/>
                <a:cs typeface="+mj-cs"/>
              </a:rPr>
              <a:t>用</a:t>
            </a:r>
            <a:r>
              <a:rPr kumimoji="0" lang="en-US" altLang="zh-CN" sz="3600" b="1" i="0" u="none" strike="noStrike" kern="0" cap="all" spc="0" normalizeH="0" baseline="0" noProof="0" dirty="0" smtClean="0">
                <a:ln>
                  <a:noFill/>
                </a:ln>
                <a:solidFill>
                  <a:schemeClr val="tx2"/>
                </a:solidFill>
                <a:effectLst/>
                <a:uLnTx/>
                <a:uFillTx/>
                <a:latin typeface="+mj-lt"/>
                <a:ea typeface="+mj-ea"/>
                <a:cs typeface="+mj-cs"/>
              </a:rPr>
              <a:t>Linux</a:t>
            </a:r>
            <a:r>
              <a:rPr kumimoji="0" lang="zh-CN" altLang="en-US" sz="3600" b="1" i="0" u="none" strike="noStrike" kern="0" cap="all" spc="0" normalizeH="0" baseline="0" noProof="0" dirty="0" smtClean="0">
                <a:ln>
                  <a:noFill/>
                </a:ln>
                <a:solidFill>
                  <a:schemeClr val="tx2"/>
                </a:solidFill>
                <a:effectLst/>
                <a:uLnTx/>
                <a:uFillTx/>
                <a:latin typeface="+mj-lt"/>
                <a:ea typeface="+mj-ea"/>
                <a:cs typeface="+mj-cs"/>
              </a:rPr>
              <a:t>的消息队列机制编程实现生产者</a:t>
            </a:r>
            <a:r>
              <a:rPr kumimoji="0" lang="en-US" altLang="zh-CN" sz="3600" b="1" i="0" u="none" strike="noStrike" kern="0" cap="all" spc="0" normalizeH="0" baseline="0" noProof="0" dirty="0" smtClean="0">
                <a:ln>
                  <a:noFill/>
                </a:ln>
                <a:solidFill>
                  <a:schemeClr val="tx2"/>
                </a:solidFill>
                <a:effectLst/>
                <a:uLnTx/>
                <a:uFillTx/>
                <a:latin typeface="+mj-lt"/>
                <a:ea typeface="+mj-ea"/>
                <a:cs typeface="+mj-cs"/>
              </a:rPr>
              <a:t>-</a:t>
            </a:r>
            <a:r>
              <a:rPr kumimoji="0" lang="zh-CN" altLang="en-US" sz="3600" b="1" i="0" u="none" strike="noStrike" kern="0" cap="all" spc="0" normalizeH="0" baseline="0" noProof="0" dirty="0" smtClean="0">
                <a:ln>
                  <a:noFill/>
                </a:ln>
                <a:solidFill>
                  <a:schemeClr val="tx2"/>
                </a:solidFill>
                <a:effectLst/>
                <a:uLnTx/>
                <a:uFillTx/>
                <a:latin typeface="+mj-lt"/>
                <a:ea typeface="+mj-ea"/>
                <a:cs typeface="+mj-cs"/>
              </a:rPr>
              <a:t>消费者问题。</a:t>
            </a:r>
            <a:endParaRPr kumimoji="0" lang="zh-CN" altLang="en-US" sz="3600" b="1" i="0" u="none" strike="noStrike" kern="0" cap="all" spc="0" normalizeH="0" baseline="0" noProof="0" dirty="0">
              <a:ln>
                <a:noFill/>
              </a:ln>
              <a:solidFill>
                <a:schemeClr val="tx2"/>
              </a:solidFill>
              <a:effectLst/>
              <a:uLnTx/>
              <a:uFillTx/>
              <a:latin typeface="+mj-lt"/>
              <a:ea typeface="+mj-ea"/>
              <a:cs typeface="+mj-cs"/>
            </a:endParaRPr>
          </a:p>
        </p:txBody>
      </p:sp>
      <p:sp>
        <p:nvSpPr>
          <p:cNvPr id="180227" name="文本占位符 2"/>
          <p:cNvSpPr>
            <a:spLocks noGrp="1"/>
          </p:cNvSpPr>
          <p:nvPr>
            <p:ph type="body" idx="1"/>
          </p:nvPr>
        </p:nvSpPr>
        <p:spPr>
          <a:xfrm>
            <a:off x="533400" y="381000"/>
            <a:ext cx="7772400" cy="1119188"/>
          </a:xfrm>
        </p:spPr>
        <p:txBody>
          <a:bodyPr vert="horz" wrap="square" lIns="91440" tIns="45720" rIns="91440" bIns="45720" anchor="b" anchorCtr="0"/>
          <a:p>
            <a:pPr>
              <a:buSzPct val="85000"/>
            </a:pPr>
            <a:r>
              <a:rPr lang="zh-CN" altLang="en-US" sz="4000" dirty="0">
                <a:latin typeface="+mn-lt"/>
                <a:ea typeface="+mn-ea"/>
                <a:cs typeface="+mn-cs"/>
              </a:rPr>
              <a:t>作业</a:t>
            </a:r>
            <a:r>
              <a:rPr lang="en-US" altLang="zh-CN" sz="4000" dirty="0">
                <a:latin typeface="+mn-lt"/>
                <a:ea typeface="+mn-ea"/>
                <a:cs typeface="+mn-cs"/>
              </a:rPr>
              <a:t>4</a:t>
            </a:r>
            <a:r>
              <a:rPr lang="zh-CN" altLang="en-US" sz="4000" dirty="0">
                <a:latin typeface="+mn-lt"/>
                <a:ea typeface="+mn-ea"/>
                <a:cs typeface="+mn-cs"/>
              </a:rPr>
              <a:t>：</a:t>
            </a:r>
            <a:endParaRPr lang="zh-CN" altLang="en-US" sz="4000" dirty="0">
              <a:latin typeface="+mn-lt"/>
              <a:ea typeface="+mn-ea"/>
              <a:cs typeface="+mn-cs"/>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Rectangle 2"/>
          <p:cNvSpPr>
            <a:spLocks noGrp="1" noRot="1" noChangeArrowheads="1"/>
          </p:cNvSpPr>
          <p:nvPr>
            <p:ph type="title"/>
          </p:nvPr>
        </p:nvSpPr>
        <p:spPr>
          <a:xfrm>
            <a:off x="381000" y="609600"/>
            <a:ext cx="7793038" cy="9906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2.7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线程 </a:t>
            </a:r>
            <a:r>
              <a:rPr kumimoji="0" lang="en-US" altLang="zh-CN"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 </a:t>
            </a:r>
            <a:r>
              <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rPr>
              <a:t>另一种并发实体 </a:t>
            </a:r>
            <a:endParaRPr kumimoji="0" lang="zh-CN" altLang="en-US" sz="4400" b="1" i="0" u="none" strike="noStrike" kern="0" cap="none" spc="0" normalizeH="0" baseline="0" noProof="0" dirty="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89091" name="Rectangle 3"/>
          <p:cNvSpPr>
            <a:spLocks noGrp="1" noRot="1"/>
          </p:cNvSpPr>
          <p:nvPr>
            <p:ph type="body"/>
          </p:nvPr>
        </p:nvSpPr>
        <p:spPr>
          <a:xfrm>
            <a:off x="609600" y="1752600"/>
            <a:ext cx="7772400" cy="4648200"/>
          </a:xfrm>
        </p:spPr>
        <p:txBody>
          <a:bodyPr vert="horz" wrap="square" lIns="91440" tIns="45720" rIns="91440" bIns="45720" anchor="t" anchorCtr="0"/>
          <a:p>
            <a:pPr eaLnBrk="1" hangingPunct="1">
              <a:lnSpc>
                <a:spcPct val="110000"/>
              </a:lnSpc>
            </a:pPr>
            <a:r>
              <a:rPr lang="en-US" altLang="zh-CN" sz="2800" b="1" dirty="0"/>
              <a:t>20</a:t>
            </a:r>
            <a:r>
              <a:rPr lang="zh-CN" altLang="en-US" sz="2800" b="1" dirty="0"/>
              <a:t>世纪</a:t>
            </a:r>
            <a:r>
              <a:rPr lang="en-US" altLang="zh-CN" sz="2800" b="1" dirty="0"/>
              <a:t>80</a:t>
            </a:r>
            <a:r>
              <a:rPr lang="zh-CN" altLang="en-US" sz="2800" b="1" dirty="0"/>
              <a:t>年代中期，人们又提出了比进程更小的能独立运行的基本单位</a:t>
            </a:r>
            <a:r>
              <a:rPr lang="en-US" altLang="zh-CN" sz="2800" b="1" dirty="0">
                <a:latin typeface="Courier New" panose="02070309020205020404" pitchFamily="49" charset="0"/>
              </a:rPr>
              <a:t>——</a:t>
            </a:r>
            <a:r>
              <a:rPr lang="zh-CN" altLang="en-US" sz="2800" b="1" dirty="0"/>
              <a:t>线程（</a:t>
            </a:r>
            <a:r>
              <a:rPr lang="en-US" altLang="zh-CN" sz="2800" b="1" dirty="0"/>
              <a:t>Threads</a:t>
            </a:r>
            <a:r>
              <a:rPr lang="zh-CN" altLang="en-US" sz="2800" b="1" dirty="0"/>
              <a:t>）；以提高程序并发执行的程度，进一步提高系统的吞吐量。</a:t>
            </a:r>
            <a:endParaRPr lang="zh-CN" altLang="en-US" sz="2800" b="1" dirty="0"/>
          </a:p>
          <a:p>
            <a:pPr eaLnBrk="1" hangingPunct="1">
              <a:lnSpc>
                <a:spcPct val="110000"/>
              </a:lnSpc>
            </a:pPr>
            <a:r>
              <a:rPr lang="zh-CN" altLang="en-US" sz="2800" b="1" dirty="0"/>
              <a:t>线程能比进程更好地提高程序的并行执行程度，充分地发挥多处理机的优越性，在多处理机</a:t>
            </a:r>
            <a:r>
              <a:rPr lang="en-US" altLang="zh-CN" sz="2800" b="1" dirty="0"/>
              <a:t>0S</a:t>
            </a:r>
            <a:r>
              <a:rPr lang="zh-CN" altLang="en-US" sz="2800" b="1" dirty="0"/>
              <a:t>中也都引入了线程，以改善</a:t>
            </a:r>
            <a:r>
              <a:rPr lang="en-US" altLang="zh-CN" sz="2800" b="1" dirty="0"/>
              <a:t>OS</a:t>
            </a:r>
            <a:r>
              <a:rPr lang="zh-CN" altLang="en-US" sz="2800" b="1" dirty="0"/>
              <a:t>的性能。 </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7570"/>
                                        </p:tgtEl>
                                        <p:attrNameLst>
                                          <p:attrName>style.visibility</p:attrName>
                                        </p:attrNameLst>
                                      </p:cBhvr>
                                      <p:to>
                                        <p:strVal val="visible"/>
                                      </p:to>
                                    </p:set>
                                    <p:animEffect transition="in" filter="fade">
                                      <p:cBhvr>
                                        <p:cTn id="7" dur="2000"/>
                                        <p:tgtEl>
                                          <p:spTgt spid="2375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9091">
                                            <p:txEl>
                                              <p:charRg st="0" end="73"/>
                                            </p:txEl>
                                          </p:spTgt>
                                        </p:tgtEl>
                                        <p:attrNameLst>
                                          <p:attrName>style.visibility</p:attrName>
                                        </p:attrNameLst>
                                      </p:cBhvr>
                                      <p:to>
                                        <p:strVal val="visible"/>
                                      </p:to>
                                    </p:set>
                                    <p:animEffect transition="in" filter="fade">
                                      <p:cBhvr>
                                        <p:cTn id="12" dur="2000"/>
                                        <p:tgtEl>
                                          <p:spTgt spid="89091">
                                            <p:txEl>
                                              <p:charRg st="0" end="7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9091">
                                            <p:txEl>
                                              <p:charRg st="73" end="135"/>
                                            </p:txEl>
                                          </p:spTgt>
                                        </p:tgtEl>
                                        <p:attrNameLst>
                                          <p:attrName>style.visibility</p:attrName>
                                        </p:attrNameLst>
                                      </p:cBhvr>
                                      <p:to>
                                        <p:strVal val="visible"/>
                                      </p:to>
                                    </p:set>
                                    <p:animEffect transition="in" filter="fade">
                                      <p:cBhvr>
                                        <p:cTn id="17" dur="2000"/>
                                        <p:tgtEl>
                                          <p:spTgt spid="89091">
                                            <p:txEl>
                                              <p:charRg st="73"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p:bldP spid="89091"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noRot="1"/>
          </p:cNvSpPr>
          <p:nvPr>
            <p:ph type="title"/>
          </p:nvPr>
        </p:nvSpPr>
        <p:spPr>
          <a:xfrm>
            <a:off x="381000" y="76200"/>
            <a:ext cx="8540750" cy="1143000"/>
          </a:xfrm>
        </p:spPr>
        <p:txBody>
          <a:bodyPr vert="horz" wrap="square" lIns="91440" tIns="45720" rIns="91440" bIns="45720" anchor="ctr" anchorCtr="0"/>
          <a:p>
            <a:r>
              <a:rPr lang="en-US" altLang="zh-CN" b="1" dirty="0">
                <a:solidFill>
                  <a:srgbClr val="FF0000"/>
                </a:solidFill>
              </a:rPr>
              <a:t>2.7.1</a:t>
            </a:r>
            <a:r>
              <a:rPr lang="zh-CN" altLang="en-US" b="1" dirty="0">
                <a:solidFill>
                  <a:srgbClr val="FF0000"/>
                </a:solidFill>
              </a:rPr>
              <a:t>线程的引入</a:t>
            </a:r>
            <a:endParaRPr lang="zh-CN" altLang="en-US" b="1" dirty="0">
              <a:solidFill>
                <a:srgbClr val="FF0000"/>
              </a:solidFill>
            </a:endParaRPr>
          </a:p>
        </p:txBody>
      </p:sp>
      <p:sp>
        <p:nvSpPr>
          <p:cNvPr id="182275" name="Rectangle 3"/>
          <p:cNvSpPr>
            <a:spLocks noGrp="1" noRot="1"/>
          </p:cNvSpPr>
          <p:nvPr>
            <p:ph idx="1"/>
          </p:nvPr>
        </p:nvSpPr>
        <p:spPr>
          <a:xfrm>
            <a:off x="301625" y="1828800"/>
            <a:ext cx="8540750" cy="3965575"/>
          </a:xfrm>
        </p:spPr>
        <p:txBody>
          <a:bodyPr vert="horz" wrap="square" lIns="91440" tIns="45720" rIns="91440" bIns="45720" anchor="t" anchorCtr="0"/>
          <a:p>
            <a:pPr>
              <a:lnSpc>
                <a:spcPct val="80000"/>
              </a:lnSpc>
            </a:pPr>
            <a:r>
              <a:rPr lang="zh-CN" altLang="en-US" sz="2800" b="1" dirty="0"/>
              <a:t>为使程序能并发执行，系统还必须进行以下的一系列操作。</a:t>
            </a:r>
            <a:endParaRPr lang="zh-CN" altLang="en-US" sz="2800" b="1" dirty="0"/>
          </a:p>
          <a:p>
            <a:pPr>
              <a:lnSpc>
                <a:spcPct val="80000"/>
              </a:lnSpc>
            </a:pPr>
            <a:r>
              <a:rPr lang="zh-CN" altLang="en-US" sz="2800" b="1" dirty="0"/>
              <a:t>         </a:t>
            </a:r>
            <a:r>
              <a:rPr lang="en-US" altLang="zh-CN" sz="2800" b="1" dirty="0"/>
              <a:t>1) </a:t>
            </a:r>
            <a:r>
              <a:rPr lang="zh-CN" altLang="en-US" sz="2800" b="1" dirty="0"/>
              <a:t>创建进程</a:t>
            </a:r>
            <a:endParaRPr lang="zh-CN" altLang="en-US" sz="2800" b="1" dirty="0"/>
          </a:p>
          <a:p>
            <a:pPr>
              <a:lnSpc>
                <a:spcPct val="80000"/>
              </a:lnSpc>
            </a:pPr>
            <a:r>
              <a:rPr lang="zh-CN" altLang="en-US" sz="2800" b="1" dirty="0"/>
              <a:t>         </a:t>
            </a:r>
            <a:r>
              <a:rPr lang="en-US" altLang="zh-CN" sz="2800" b="1" dirty="0"/>
              <a:t>2) </a:t>
            </a:r>
            <a:r>
              <a:rPr lang="zh-CN" altLang="en-US" sz="2800" b="1" dirty="0"/>
              <a:t>撤消进程 </a:t>
            </a:r>
            <a:endParaRPr lang="zh-CN" altLang="en-US" sz="2800" b="1" dirty="0"/>
          </a:p>
          <a:p>
            <a:pPr>
              <a:lnSpc>
                <a:spcPct val="80000"/>
              </a:lnSpc>
            </a:pPr>
            <a:r>
              <a:rPr lang="zh-CN" altLang="en-US" sz="2800" b="1" dirty="0"/>
              <a:t>         </a:t>
            </a:r>
            <a:r>
              <a:rPr lang="en-US" altLang="zh-CN" sz="2800" b="1" dirty="0"/>
              <a:t>3) </a:t>
            </a:r>
            <a:r>
              <a:rPr lang="zh-CN" altLang="en-US" sz="2800" b="1" dirty="0"/>
              <a:t>进程切换 </a:t>
            </a:r>
            <a:endParaRPr lang="zh-CN" altLang="en-US" sz="2800" b="1" dirty="0"/>
          </a:p>
          <a:p>
            <a:pPr>
              <a:lnSpc>
                <a:spcPct val="80000"/>
              </a:lnSpc>
            </a:pPr>
            <a:r>
              <a:rPr lang="zh-CN" altLang="en-US" sz="2800" b="1" dirty="0"/>
              <a:t>由于进程是一个资源的拥有者，因而在创建、撤销和切换中，系统必须为此付出较大的时间和空间的开销。</a:t>
            </a:r>
            <a:endParaRPr lang="zh-CN" altLang="en-US" sz="2800" b="1" dirty="0"/>
          </a:p>
          <a:p>
            <a:pPr>
              <a:lnSpc>
                <a:spcPct val="80000"/>
              </a:lnSpc>
            </a:pPr>
            <a:r>
              <a:rPr lang="zh-CN" altLang="en-US" sz="2800" b="1" dirty="0">
                <a:solidFill>
                  <a:srgbClr val="FF0000"/>
                </a:solidFill>
              </a:rPr>
              <a:t>如何使多个程序更好的并发执行，同时又能减少系统开销？？ </a:t>
            </a:r>
            <a:endParaRPr lang="zh-CN" altLang="en-US" sz="2800" b="1" dirty="0">
              <a:solidFill>
                <a:srgbClr val="FF0000"/>
              </a:solidFill>
            </a:endParaRPr>
          </a:p>
          <a:p>
            <a:pPr>
              <a:lnSpc>
                <a:spcPct val="80000"/>
              </a:lnSpc>
            </a:pPr>
            <a:endParaRPr lang="zh-CN" altLang="en-US" sz="2800" b="1" dirty="0">
              <a:solidFill>
                <a:srgbClr val="FF0000"/>
              </a:solidFill>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5" name="Rectangle 3"/>
          <p:cNvSpPr>
            <a:spLocks noGrp="1" noRot="1" noChangeArrowheads="1"/>
          </p:cNvSpPr>
          <p:nvPr>
            <p:ph type="body" idx="1"/>
          </p:nvPr>
        </p:nvSpPr>
        <p:spPr>
          <a:xfrm>
            <a:off x="457200" y="1524000"/>
            <a:ext cx="8153400" cy="4800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进程的概念体现出两个特点： </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①</a:t>
            </a:r>
            <a:r>
              <a:rPr kumimoji="0" lang="zh-CN" altLang="en-US" sz="2800" b="1" i="0" u="none" strike="noStrike" kern="0" cap="none" spc="0" normalizeH="0" baseline="0" noProof="0" dirty="0" smtClean="0">
                <a:ln>
                  <a:noFill/>
                </a:ln>
                <a:solidFill>
                  <a:schemeClr val="folHlink"/>
                </a:solidFill>
                <a:effectLst/>
                <a:uLnTx/>
                <a:uFillTx/>
                <a:latin typeface="楷体_GB2312" pitchFamily="49" charset="-122"/>
                <a:ea typeface="楷体_GB2312" pitchFamily="49" charset="-122"/>
                <a:cs typeface="+mn-cs"/>
              </a:rPr>
              <a:t>资源所有权</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：一个进程包括一个保存进程映像的虚地址空间，并且随时分配对资源的的控制或所有权，包括内存、</a:t>
            </a:r>
            <a:r>
              <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I/O</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通道、</a:t>
            </a:r>
            <a:r>
              <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I/O</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设备、文件等。</a:t>
            </a:r>
            <a:endPar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endPar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②</a:t>
            </a:r>
            <a:r>
              <a:rPr kumimoji="0" lang="zh-CN" altLang="en-US" sz="2800" b="1" i="0" u="none" strike="noStrike" kern="0" cap="none" spc="0" normalizeH="0" baseline="0" noProof="0" dirty="0" smtClean="0">
                <a:ln>
                  <a:noFill/>
                </a:ln>
                <a:solidFill>
                  <a:schemeClr val="folHlink"/>
                </a:solidFill>
                <a:effectLst/>
                <a:uLnTx/>
                <a:uFillTx/>
                <a:latin typeface="楷体_GB2312" pitchFamily="49" charset="-122"/>
                <a:ea typeface="楷体_GB2312" pitchFamily="49" charset="-122"/>
                <a:cs typeface="+mn-cs"/>
              </a:rPr>
              <a:t>调度／执行</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：进程是被操作系统</a:t>
            </a:r>
            <a:r>
              <a:rPr kumimoji="0" lang="zh-CN" altLang="en-US" sz="2800" b="1" i="0" u="none" strike="noStrike" kern="0" cap="none" spc="0" normalizeH="0" baseline="0" noProof="0" dirty="0" smtClean="0">
                <a:ln>
                  <a:noFill/>
                </a:ln>
                <a:solidFill>
                  <a:schemeClr val="folHlink"/>
                </a:solidFill>
                <a:effectLst/>
                <a:uLnTx/>
                <a:uFillTx/>
                <a:latin typeface="楷体_GB2312" pitchFamily="49" charset="-122"/>
                <a:ea typeface="楷体_GB2312" pitchFamily="49" charset="-122"/>
                <a:cs typeface="+mn-cs"/>
              </a:rPr>
              <a:t>调度的实体</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调度并分派的部分通常称为</a:t>
            </a:r>
            <a:r>
              <a:rPr kumimoji="0" lang="zh-CN" altLang="en-US" sz="2800" b="1" i="0" u="none" strike="noStrike" kern="0" cap="none" spc="0" normalizeH="0" baseline="0" noProof="0" dirty="0" smtClean="0">
                <a:ln>
                  <a:noFill/>
                </a:ln>
                <a:solidFill>
                  <a:schemeClr val="folHlink"/>
                </a:solidFill>
                <a:effectLst>
                  <a:outerShdw blurRad="38100" dist="38100" dir="2700000" algn="tl">
                    <a:srgbClr val="C0C0C0"/>
                  </a:outerShdw>
                </a:effectLst>
                <a:uLnTx/>
                <a:uFillTx/>
                <a:latin typeface="+mn-lt"/>
                <a:ea typeface="+mn-ea"/>
                <a:cs typeface="+mn-cs"/>
              </a:rPr>
              <a:t>线程或轻便进程</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cs"/>
              </a:rPr>
              <a:t>lightweight process</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），而</a:t>
            </a:r>
            <a:r>
              <a:rPr kumimoji="0" lang="zh-CN" altLang="en-US" sz="2800" b="1" i="0" u="none" strike="noStrike" kern="0" cap="none" spc="0" normalizeH="0" baseline="0" noProof="0" dirty="0" smtClean="0">
                <a:ln>
                  <a:noFill/>
                </a:ln>
                <a:solidFill>
                  <a:schemeClr val="folHlink"/>
                </a:solidFill>
                <a:effectLst/>
                <a:uLnTx/>
                <a:uFillTx/>
                <a:latin typeface="+mn-lt"/>
                <a:ea typeface="+mn-ea"/>
                <a:cs typeface="+mn-cs"/>
              </a:rPr>
              <a:t>资源所有权</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的部分通常称为进程。</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238596" name="Rectangle 4"/>
          <p:cNvSpPr>
            <a:spLocks noGrp="1" noRot="1"/>
          </p:cNvSpPr>
          <p:nvPr>
            <p:ph type="title"/>
          </p:nvPr>
        </p:nvSpPr>
        <p:spPr/>
        <p:txBody>
          <a:bodyPr vert="horz" wrap="square" lIns="91440" tIns="45720" rIns="91440" bIns="45720" anchor="ctr" anchorCtr="0"/>
          <a:p>
            <a:pPr eaLnBrk="1" hangingPunct="1"/>
            <a:r>
              <a:rPr lang="en-US" altLang="zh-CN" b="1" dirty="0">
                <a:solidFill>
                  <a:srgbClr val="FF0000"/>
                </a:solidFill>
              </a:rPr>
              <a:t>1</a:t>
            </a:r>
            <a:r>
              <a:rPr lang="zh-CN" altLang="en-US" b="1" dirty="0">
                <a:solidFill>
                  <a:srgbClr val="FF0000"/>
                </a:solidFill>
              </a:rPr>
              <a:t>、线程的引入</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8596"/>
                                        </p:tgtEl>
                                        <p:attrNameLst>
                                          <p:attrName>style.visibility</p:attrName>
                                        </p:attrNameLst>
                                      </p:cBhvr>
                                      <p:to>
                                        <p:strVal val="visible"/>
                                      </p:to>
                                    </p:set>
                                    <p:animEffect transition="in" filter="fade">
                                      <p:cBhvr>
                                        <p:cTn id="7" dur="2000"/>
                                        <p:tgtEl>
                                          <p:spTgt spid="2385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8595">
                                            <p:txEl>
                                              <p:charRg st="0" end="15"/>
                                            </p:txEl>
                                          </p:spTgt>
                                        </p:tgtEl>
                                        <p:attrNameLst>
                                          <p:attrName>style.visibility</p:attrName>
                                        </p:attrNameLst>
                                      </p:cBhvr>
                                      <p:to>
                                        <p:strVal val="visible"/>
                                      </p:to>
                                    </p:set>
                                    <p:animEffect transition="in" filter="fade">
                                      <p:cBhvr>
                                        <p:cTn id="12" dur="2000"/>
                                        <p:tgtEl>
                                          <p:spTgt spid="238595">
                                            <p:txEl>
                                              <p:charRg st="0" end="1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8595">
                                            <p:txEl>
                                              <p:charRg st="15" end="83"/>
                                            </p:txEl>
                                          </p:spTgt>
                                        </p:tgtEl>
                                        <p:attrNameLst>
                                          <p:attrName>style.visibility</p:attrName>
                                        </p:attrNameLst>
                                      </p:cBhvr>
                                      <p:to>
                                        <p:strVal val="visible"/>
                                      </p:to>
                                    </p:set>
                                    <p:animEffect transition="in" filter="fade">
                                      <p:cBhvr>
                                        <p:cTn id="17" dur="2000"/>
                                        <p:tgtEl>
                                          <p:spTgt spid="238595">
                                            <p:txEl>
                                              <p:charRg st="15" end="8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8595">
                                            <p:txEl>
                                              <p:charRg st="84" end="106"/>
                                            </p:txEl>
                                          </p:spTgt>
                                        </p:tgtEl>
                                        <p:attrNameLst>
                                          <p:attrName>style.visibility</p:attrName>
                                        </p:attrNameLst>
                                      </p:cBhvr>
                                      <p:to>
                                        <p:strVal val="visible"/>
                                      </p:to>
                                    </p:set>
                                    <p:animEffect transition="in" filter="fade">
                                      <p:cBhvr>
                                        <p:cTn id="22" dur="2000"/>
                                        <p:tgtEl>
                                          <p:spTgt spid="238595">
                                            <p:txEl>
                                              <p:charRg st="84" end="10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8595">
                                            <p:txEl>
                                              <p:charRg st="106" end="164"/>
                                            </p:txEl>
                                          </p:spTgt>
                                        </p:tgtEl>
                                        <p:attrNameLst>
                                          <p:attrName>style.visibility</p:attrName>
                                        </p:attrNameLst>
                                      </p:cBhvr>
                                      <p:to>
                                        <p:strVal val="visible"/>
                                      </p:to>
                                    </p:set>
                                    <p:animEffect transition="in" filter="fade">
                                      <p:cBhvr>
                                        <p:cTn id="27" dur="2000"/>
                                        <p:tgtEl>
                                          <p:spTgt spid="238595">
                                            <p:txEl>
                                              <p:charRg st="106"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P spid="238596"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2"/>
          <p:cNvSpPr>
            <a:spLocks noGrp="1" noRot="1"/>
          </p:cNvSpPr>
          <p:nvPr>
            <p:ph type="title"/>
          </p:nvPr>
        </p:nvSpPr>
        <p:spPr/>
        <p:txBody>
          <a:bodyPr vert="horz" wrap="square" lIns="91440" tIns="45720" rIns="91440" bIns="45720" anchor="ctr" anchorCtr="0"/>
          <a:p>
            <a:r>
              <a:rPr lang="en-US" altLang="zh-CN" b="1" dirty="0">
                <a:solidFill>
                  <a:srgbClr val="FF0000"/>
                </a:solidFill>
              </a:rPr>
              <a:t>2.7.2 </a:t>
            </a:r>
            <a:r>
              <a:rPr lang="zh-CN" altLang="en-US" b="1" dirty="0">
                <a:solidFill>
                  <a:srgbClr val="FF0000"/>
                </a:solidFill>
              </a:rPr>
              <a:t>线程与进程的比较</a:t>
            </a:r>
            <a:endParaRPr lang="zh-CN" altLang="en-US" b="1" dirty="0">
              <a:solidFill>
                <a:srgbClr val="FF0000"/>
              </a:solidFill>
            </a:endParaRPr>
          </a:p>
        </p:txBody>
      </p:sp>
      <p:sp>
        <p:nvSpPr>
          <p:cNvPr id="184323" name="Rectangle 3"/>
          <p:cNvSpPr>
            <a:spLocks noGrp="1" noRot="1"/>
          </p:cNvSpPr>
          <p:nvPr>
            <p:ph idx="1"/>
          </p:nvPr>
        </p:nvSpPr>
        <p:spPr>
          <a:xfrm>
            <a:off x="301625" y="1749425"/>
            <a:ext cx="8540750" cy="4498975"/>
          </a:xfrm>
        </p:spPr>
        <p:txBody>
          <a:bodyPr vert="horz" wrap="square" lIns="91440" tIns="45720" rIns="91440" bIns="45720" anchor="t" anchorCtr="0"/>
          <a:p>
            <a:r>
              <a:rPr lang="zh-CN" altLang="en-US" sz="2800" b="1" dirty="0"/>
              <a:t>线程具有许多传统进程所具有的特征，所以又称为轻型进程</a:t>
            </a:r>
            <a:r>
              <a:rPr lang="en-US" altLang="zh-CN" sz="2800" b="1" dirty="0"/>
              <a:t>(Light-Weight Process)</a:t>
            </a:r>
            <a:r>
              <a:rPr lang="zh-CN" altLang="en-US" sz="2800" b="1" dirty="0"/>
              <a:t> ，相应地把传统进程称为重型进程</a:t>
            </a:r>
            <a:r>
              <a:rPr lang="en-US" altLang="zh-CN" sz="2800" b="1" dirty="0"/>
              <a:t>(Heavy-Weight Process)</a:t>
            </a:r>
            <a:r>
              <a:rPr lang="zh-CN" altLang="en-US" sz="2800" b="1" dirty="0"/>
              <a:t>，传统进程相当于只有一个线程的任务。</a:t>
            </a:r>
            <a:endParaRPr lang="zh-CN" altLang="en-US" sz="2800" b="1" dirty="0"/>
          </a:p>
          <a:p>
            <a:r>
              <a:rPr lang="zh-CN" altLang="en-US" sz="2800" b="1" dirty="0"/>
              <a:t>在引入了线程的操作系统中，通常一个进程都拥有若干个线程，至少也有一个线程。</a:t>
            </a:r>
            <a:endParaRPr lang="zh-CN" altLang="en-US" sz="2800" b="1"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noRot="1"/>
          </p:cNvSpPr>
          <p:nvPr>
            <p:ph type="title"/>
          </p:nvPr>
        </p:nvSpPr>
        <p:spPr/>
        <p:txBody>
          <a:bodyPr vert="horz" wrap="square" lIns="91440" tIns="45720" rIns="91440" bIns="45720" anchor="ctr" anchorCtr="0"/>
          <a:p>
            <a:r>
              <a:rPr lang="en-US" altLang="zh-CN" b="1" dirty="0">
                <a:solidFill>
                  <a:srgbClr val="FF0000"/>
                </a:solidFill>
              </a:rPr>
              <a:t>2.</a:t>
            </a:r>
            <a:r>
              <a:rPr lang="zh-CN" altLang="en-US" b="1" dirty="0">
                <a:solidFill>
                  <a:srgbClr val="FF0000"/>
                </a:solidFill>
              </a:rPr>
              <a:t>线程与进程的比较</a:t>
            </a:r>
            <a:endParaRPr lang="zh-CN" altLang="en-US" b="1" dirty="0">
              <a:solidFill>
                <a:srgbClr val="FF0000"/>
              </a:solidFill>
            </a:endParaRPr>
          </a:p>
        </p:txBody>
      </p:sp>
      <p:sp>
        <p:nvSpPr>
          <p:cNvPr id="185347" name="Rectangle 3"/>
          <p:cNvSpPr>
            <a:spLocks noGrp="1" noRot="1"/>
          </p:cNvSpPr>
          <p:nvPr>
            <p:ph idx="1"/>
          </p:nvPr>
        </p:nvSpPr>
        <p:spPr/>
        <p:txBody>
          <a:bodyPr vert="horz" wrap="square" lIns="91440" tIns="45720" rIns="91440" bIns="45720" anchor="t" anchorCtr="0"/>
          <a:p>
            <a:pPr>
              <a:lnSpc>
                <a:spcPct val="90000"/>
              </a:lnSpc>
            </a:pPr>
            <a:r>
              <a:rPr lang="zh-CN" altLang="en-US" sz="2800" b="1" dirty="0"/>
              <a:t>从调度性、并发性、系统开销和拥有资源等方面对线程和进程进行比较。</a:t>
            </a:r>
            <a:endParaRPr lang="zh-CN" altLang="en-US" sz="2800" b="1" dirty="0"/>
          </a:p>
          <a:p>
            <a:pPr>
              <a:lnSpc>
                <a:spcPct val="90000"/>
              </a:lnSpc>
            </a:pPr>
            <a:r>
              <a:rPr lang="en-US" altLang="zh-CN" sz="2800" b="1" dirty="0">
                <a:solidFill>
                  <a:srgbClr val="FF0000"/>
                </a:solidFill>
              </a:rPr>
              <a:t>1) </a:t>
            </a:r>
            <a:r>
              <a:rPr lang="zh-CN" altLang="en-US" sz="2800" b="1" dirty="0">
                <a:solidFill>
                  <a:srgbClr val="FF0000"/>
                </a:solidFill>
              </a:rPr>
              <a:t>调度</a:t>
            </a:r>
            <a:endParaRPr lang="zh-CN" altLang="en-US" sz="2800" b="1" dirty="0">
              <a:solidFill>
                <a:srgbClr val="FF0000"/>
              </a:solidFill>
            </a:endParaRPr>
          </a:p>
          <a:p>
            <a:pPr>
              <a:lnSpc>
                <a:spcPct val="90000"/>
              </a:lnSpc>
            </a:pPr>
            <a:r>
              <a:rPr lang="zh-CN" altLang="en-US" sz="2800" b="1" dirty="0"/>
              <a:t>在传统的操作系统中，进程作为拥有资源和独立调度、分派的基本单位。而在引入线程的操作系统中，则把</a:t>
            </a:r>
            <a:r>
              <a:rPr lang="zh-CN" altLang="en-US" sz="2800" b="1" dirty="0">
                <a:solidFill>
                  <a:srgbClr val="FF0000"/>
                </a:solidFill>
              </a:rPr>
              <a:t>线程作为调度和分派的基本单位</a:t>
            </a:r>
            <a:r>
              <a:rPr lang="zh-CN" altLang="en-US" sz="2800" b="1" dirty="0"/>
              <a:t>，而</a:t>
            </a:r>
            <a:r>
              <a:rPr lang="zh-CN" altLang="en-US" sz="2800" b="1" dirty="0">
                <a:solidFill>
                  <a:srgbClr val="FF0000"/>
                </a:solidFill>
              </a:rPr>
              <a:t>进程作为资源拥有的基本单位</a:t>
            </a:r>
            <a:r>
              <a:rPr lang="zh-CN" altLang="en-US" sz="2800" b="1" dirty="0"/>
              <a:t>。</a:t>
            </a:r>
            <a:endParaRPr lang="zh-CN" altLang="en-US" sz="2800" b="1" dirty="0"/>
          </a:p>
          <a:p>
            <a:pPr>
              <a:lnSpc>
                <a:spcPct val="90000"/>
              </a:lnSpc>
            </a:pPr>
            <a:r>
              <a:rPr lang="zh-CN" altLang="en-US" sz="2800" b="1" dirty="0"/>
              <a:t>在同一进程中，</a:t>
            </a:r>
            <a:r>
              <a:rPr lang="zh-CN" altLang="en-US" sz="2800" b="1" dirty="0">
                <a:solidFill>
                  <a:srgbClr val="FF0000"/>
                </a:solidFill>
              </a:rPr>
              <a:t>线程的切换不会引起进程的切换</a:t>
            </a:r>
            <a:r>
              <a:rPr lang="zh-CN" altLang="en-US" sz="2800" b="1" dirty="0"/>
              <a:t>，但从一个进程中的线程切换到另一个进程中的线程时，将会引起进程的切换。</a:t>
            </a:r>
            <a:endParaRPr lang="zh-CN" altLang="en-US" sz="2800" b="1"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3"/>
          <p:cNvSpPr>
            <a:spLocks noGrp="1" noRot="1"/>
          </p:cNvSpPr>
          <p:nvPr>
            <p:ph idx="1"/>
          </p:nvPr>
        </p:nvSpPr>
        <p:spPr>
          <a:xfrm>
            <a:off x="301625" y="685800"/>
            <a:ext cx="8540750" cy="5413375"/>
          </a:xfrm>
        </p:spPr>
        <p:txBody>
          <a:bodyPr vert="horz" wrap="square" lIns="91440" tIns="45720" rIns="91440" bIns="45720" anchor="t" anchorCtr="0"/>
          <a:p>
            <a:pPr>
              <a:lnSpc>
                <a:spcPct val="80000"/>
              </a:lnSpc>
            </a:pPr>
            <a:r>
              <a:rPr lang="en-US" altLang="zh-CN" b="1" dirty="0">
                <a:solidFill>
                  <a:srgbClr val="FF0000"/>
                </a:solidFill>
              </a:rPr>
              <a:t>2) </a:t>
            </a:r>
            <a:r>
              <a:rPr lang="zh-CN" altLang="en-US" b="1" dirty="0">
                <a:solidFill>
                  <a:srgbClr val="FF0000"/>
                </a:solidFill>
              </a:rPr>
              <a:t>并发性</a:t>
            </a:r>
            <a:endParaRPr lang="zh-CN" altLang="en-US" b="1" dirty="0">
              <a:solidFill>
                <a:srgbClr val="FF0000"/>
              </a:solidFill>
            </a:endParaRPr>
          </a:p>
          <a:p>
            <a:pPr>
              <a:lnSpc>
                <a:spcPct val="80000"/>
              </a:lnSpc>
            </a:pPr>
            <a:endParaRPr lang="zh-CN" altLang="en-US" sz="2800" b="1" dirty="0">
              <a:solidFill>
                <a:srgbClr val="FF0000"/>
              </a:solidFill>
            </a:endParaRPr>
          </a:p>
          <a:p>
            <a:r>
              <a:rPr lang="zh-CN" altLang="en-US" sz="2400" b="1" dirty="0"/>
              <a:t>在引入线程的操作系统中，不仅进程之间可以并发执行，而且在一个进程中的</a:t>
            </a:r>
            <a:r>
              <a:rPr lang="zh-CN" altLang="en-US" sz="2400" b="1" dirty="0">
                <a:solidFill>
                  <a:srgbClr val="FF0000"/>
                </a:solidFill>
              </a:rPr>
              <a:t>多个线程之间亦可并发执行</a:t>
            </a:r>
            <a:r>
              <a:rPr lang="zh-CN" altLang="en-US" sz="2400" b="1" dirty="0"/>
              <a:t>，使得操作系统具有更好的并发性，从而能更加有效地提高系统资源的利用率和系统的吞吐量。</a:t>
            </a:r>
            <a:endParaRPr lang="zh-CN" altLang="en-US" sz="2400" b="1" dirty="0"/>
          </a:p>
          <a:p>
            <a:r>
              <a:rPr lang="zh-CN" altLang="en-US" sz="2400" b="1" dirty="0"/>
              <a:t>例如，在一个未引入线程的单</a:t>
            </a:r>
            <a:r>
              <a:rPr lang="en-US" altLang="zh-CN" sz="2400" b="1" dirty="0"/>
              <a:t>CPU</a:t>
            </a:r>
            <a:r>
              <a:rPr lang="zh-CN" altLang="en-US" sz="2400" b="1" dirty="0"/>
              <a:t>操作系统中，若仅设置一个文件服务进程，当该进程由于某种原因而被阻塞时，便没有其它的文件服务进程来提供服务。</a:t>
            </a:r>
            <a:endParaRPr lang="zh-CN" altLang="en-US" sz="2400" b="1" dirty="0"/>
          </a:p>
          <a:p>
            <a:r>
              <a:rPr lang="zh-CN" altLang="en-US" sz="2400" b="1" dirty="0"/>
              <a:t>在引入线程的操作系统中，则可以在一个文件服务进程中设置多个服务线程。当第一个线程等待时，文件服务进程中的第二个线程可以继续运行，以提供文件服务；当第二个线程阻塞时，则可由第三个继续执行，提供服务。显然，这样的方法可以显著地提高文件服务的质量和系统的吞吐量。</a:t>
            </a:r>
            <a:endParaRPr lang="zh-CN" altLang="en-US" sz="2400" b="1"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noRot="1"/>
          </p:cNvSpPr>
          <p:nvPr>
            <p:ph type="title"/>
          </p:nvPr>
        </p:nvSpPr>
        <p:spPr/>
        <p:txBody>
          <a:bodyPr vert="horz" wrap="square" lIns="91440" tIns="45720" rIns="91440" bIns="45720" anchor="ctr" anchorCtr="0"/>
          <a:p>
            <a:endParaRPr lang="zh-CN" altLang="en-US" dirty="0"/>
          </a:p>
        </p:txBody>
      </p:sp>
      <p:sp>
        <p:nvSpPr>
          <p:cNvPr id="187395" name="Rectangle 3"/>
          <p:cNvSpPr>
            <a:spLocks noGrp="1" noRot="1"/>
          </p:cNvSpPr>
          <p:nvPr>
            <p:ph idx="1"/>
          </p:nvPr>
        </p:nvSpPr>
        <p:spPr/>
        <p:txBody>
          <a:bodyPr vert="horz" wrap="square" lIns="91440" tIns="45720" rIns="91440" bIns="45720" anchor="t" anchorCtr="0"/>
          <a:p>
            <a:pPr>
              <a:lnSpc>
                <a:spcPct val="120000"/>
              </a:lnSpc>
            </a:pPr>
            <a:r>
              <a:rPr lang="en-US" altLang="zh-CN" b="1" dirty="0">
                <a:solidFill>
                  <a:srgbClr val="FF0000"/>
                </a:solidFill>
              </a:rPr>
              <a:t>3) </a:t>
            </a:r>
            <a:r>
              <a:rPr lang="zh-CN" altLang="en-US" b="1" dirty="0">
                <a:solidFill>
                  <a:srgbClr val="FF0000"/>
                </a:solidFill>
              </a:rPr>
              <a:t>拥有资源</a:t>
            </a:r>
            <a:endParaRPr lang="zh-CN" altLang="en-US" b="1" dirty="0">
              <a:solidFill>
                <a:srgbClr val="FF0000"/>
              </a:solidFill>
            </a:endParaRPr>
          </a:p>
          <a:p>
            <a:pPr>
              <a:lnSpc>
                <a:spcPct val="120000"/>
              </a:lnSpc>
            </a:pPr>
            <a:r>
              <a:rPr lang="zh-CN" altLang="en-US" b="1" dirty="0"/>
              <a:t>一般而言，线程自己不拥有系统资源</a:t>
            </a:r>
            <a:r>
              <a:rPr lang="en-US" altLang="zh-CN" b="1" dirty="0"/>
              <a:t>(</a:t>
            </a:r>
            <a:r>
              <a:rPr lang="zh-CN" altLang="en-US" b="1" dirty="0"/>
              <a:t>也有一点必不可少的资源</a:t>
            </a:r>
            <a:r>
              <a:rPr lang="en-US" altLang="zh-CN" b="1" dirty="0"/>
              <a:t>)</a:t>
            </a:r>
            <a:r>
              <a:rPr lang="zh-CN" altLang="en-US" b="1" dirty="0"/>
              <a:t>，但它可以访问其隶属进程的资源，即一个进程的代码段、数据段及所拥有的系统资源，如已打开的文件、</a:t>
            </a:r>
            <a:r>
              <a:rPr lang="en-US" altLang="zh-CN" b="1" dirty="0"/>
              <a:t>I/O </a:t>
            </a:r>
            <a:r>
              <a:rPr lang="zh-CN" altLang="en-US" b="1" dirty="0"/>
              <a:t>设备等，可以供该进程中的所有线程所共享。</a:t>
            </a:r>
            <a:endParaRPr lang="zh-CN" altLang="en-US" b="1"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标题 1"/>
          <p:cNvSpPr>
            <a:spLocks noGrp="1"/>
          </p:cNvSpPr>
          <p:nvPr>
            <p:ph type="title"/>
          </p:nvPr>
        </p:nvSpPr>
        <p:spPr/>
        <p:txBody>
          <a:bodyPr vert="horz" wrap="square" lIns="91440" tIns="45720" rIns="91440" bIns="45720" anchor="ctr" anchorCtr="0"/>
          <a:p>
            <a:endParaRPr lang="zh-CN" altLang="en-US" dirty="0"/>
          </a:p>
        </p:txBody>
      </p:sp>
      <p:sp>
        <p:nvSpPr>
          <p:cNvPr id="188419" name="内容占位符 2"/>
          <p:cNvSpPr>
            <a:spLocks noGrp="1"/>
          </p:cNvSpPr>
          <p:nvPr>
            <p:ph idx="1"/>
          </p:nvPr>
        </p:nvSpPr>
        <p:spPr>
          <a:xfrm>
            <a:off x="301625" y="1524000"/>
            <a:ext cx="8540750" cy="4498975"/>
          </a:xfrm>
        </p:spPr>
        <p:txBody>
          <a:bodyPr vert="horz" wrap="square" lIns="91440" tIns="45720" rIns="91440" bIns="45720" anchor="t" anchorCtr="0"/>
          <a:p>
            <a:r>
              <a:rPr lang="en-US" altLang="zh-CN" b="1" dirty="0">
                <a:solidFill>
                  <a:srgbClr val="C00000"/>
                </a:solidFill>
              </a:rPr>
              <a:t>4. </a:t>
            </a:r>
            <a:r>
              <a:rPr lang="zh-CN" altLang="en-US" b="1" dirty="0">
                <a:solidFill>
                  <a:srgbClr val="C00000"/>
                </a:solidFill>
              </a:rPr>
              <a:t>独立性</a:t>
            </a:r>
            <a:endParaRPr lang="en-US" altLang="zh-CN" b="1" dirty="0">
              <a:solidFill>
                <a:srgbClr val="C00000"/>
              </a:solidFill>
            </a:endParaRPr>
          </a:p>
          <a:p>
            <a:r>
              <a:rPr lang="zh-CN" altLang="en-US" b="1" dirty="0"/>
              <a:t>同一进程中的不同线程之间的独立性要比不同进程之间的独立性低得多。</a:t>
            </a:r>
            <a:endParaRPr lang="en-US" altLang="zh-CN" b="1" dirty="0"/>
          </a:p>
          <a:p>
            <a:pPr>
              <a:lnSpc>
                <a:spcPct val="120000"/>
              </a:lnSpc>
            </a:pPr>
            <a:r>
              <a:rPr lang="en-US" altLang="zh-CN" b="1" dirty="0">
                <a:solidFill>
                  <a:srgbClr val="FF0000"/>
                </a:solidFill>
              </a:rPr>
              <a:t>5</a:t>
            </a:r>
            <a:r>
              <a:rPr lang="zh-CN" altLang="en-US" b="1" dirty="0">
                <a:solidFill>
                  <a:srgbClr val="FF0000"/>
                </a:solidFill>
              </a:rPr>
              <a:t>）系统开销</a:t>
            </a:r>
            <a:endParaRPr lang="zh-CN" altLang="en-US" b="1" dirty="0">
              <a:solidFill>
                <a:srgbClr val="FF0000"/>
              </a:solidFill>
            </a:endParaRPr>
          </a:p>
          <a:p>
            <a:pPr>
              <a:lnSpc>
                <a:spcPct val="120000"/>
              </a:lnSpc>
              <a:buNone/>
            </a:pPr>
            <a:r>
              <a:rPr lang="zh-CN" altLang="en-US" b="1" dirty="0"/>
              <a:t>  由于一个进程中的多个线程具有相同的址空间，在同步和通信的实现方面线程也比进程容易。在一些操作系统中，线程的切换、同步和通信都无须操作系统内核的干预。</a:t>
            </a:r>
            <a:endParaRPr lang="zh-CN" altLang="en-US" b="1" dirty="0"/>
          </a:p>
          <a:p>
            <a:endParaRPr lang="zh-CN" altLang="en-US" b="1"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2"/>
          <p:cNvSpPr>
            <a:spLocks noGrp="1" noRot="1"/>
          </p:cNvSpPr>
          <p:nvPr>
            <p:ph type="title"/>
          </p:nvPr>
        </p:nvSpPr>
        <p:spPr/>
        <p:txBody>
          <a:bodyPr vert="horz" wrap="square" lIns="91440" tIns="45720" rIns="91440" bIns="45720" anchor="ctr" anchorCtr="0"/>
          <a:p>
            <a:endParaRPr lang="zh-CN" altLang="en-US" dirty="0"/>
          </a:p>
        </p:txBody>
      </p:sp>
      <p:sp>
        <p:nvSpPr>
          <p:cNvPr id="189443" name="Rectangle 3"/>
          <p:cNvSpPr>
            <a:spLocks noGrp="1" noRot="1"/>
          </p:cNvSpPr>
          <p:nvPr>
            <p:ph idx="1"/>
          </p:nvPr>
        </p:nvSpPr>
        <p:spPr/>
        <p:txBody>
          <a:bodyPr vert="horz" wrap="square" lIns="91440" tIns="45720" rIns="91440" bIns="45720" anchor="t" anchorCtr="0"/>
          <a:p>
            <a:pPr>
              <a:lnSpc>
                <a:spcPct val="120000"/>
              </a:lnSpc>
            </a:pPr>
            <a:r>
              <a:rPr lang="en-US" altLang="zh-CN" b="1" dirty="0">
                <a:solidFill>
                  <a:srgbClr val="C00000"/>
                </a:solidFill>
              </a:rPr>
              <a:t>6</a:t>
            </a:r>
            <a:r>
              <a:rPr lang="zh-CN" altLang="en-US" b="1" dirty="0">
                <a:solidFill>
                  <a:srgbClr val="C00000"/>
                </a:solidFill>
              </a:rPr>
              <a:t>。支持多处理机系统</a:t>
            </a:r>
            <a:endParaRPr lang="en-US" altLang="zh-CN" b="1" dirty="0">
              <a:solidFill>
                <a:srgbClr val="C00000"/>
              </a:solidFill>
            </a:endParaRPr>
          </a:p>
          <a:p>
            <a:pPr>
              <a:lnSpc>
                <a:spcPct val="120000"/>
              </a:lnSpc>
            </a:pPr>
            <a:r>
              <a:rPr lang="zh-CN" altLang="en-US" b="1" dirty="0"/>
              <a:t>可以将一个进程中的多个线程分配到多个处理机上，使他们并行执行，加速进程的完成。</a:t>
            </a:r>
            <a:endParaRPr lang="zh-CN" altLang="en-US" b="1"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Text Box 2"/>
          <p:cNvSpPr txBox="1"/>
          <p:nvPr/>
        </p:nvSpPr>
        <p:spPr>
          <a:xfrm>
            <a:off x="304800" y="457200"/>
            <a:ext cx="8382000" cy="6216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spcBef>
                <a:spcPct val="50000"/>
              </a:spcBef>
              <a:buClrTx/>
              <a:buSzTx/>
              <a:buFontTx/>
              <a:buNone/>
            </a:pPr>
            <a:r>
              <a:rPr lang="en-US" altLang="zh-CN" sz="3600" b="1" dirty="0">
                <a:solidFill>
                  <a:srgbClr val="FF0000"/>
                </a:solidFill>
                <a:latin typeface="Times New Roman" panose="02020603050405020304" pitchFamily="18" charset="0"/>
              </a:rPr>
              <a:t>2.7.3 </a:t>
            </a:r>
            <a:r>
              <a:rPr lang="zh-CN" altLang="en-US" sz="3600" b="1" dirty="0">
                <a:solidFill>
                  <a:srgbClr val="FF0000"/>
                </a:solidFill>
                <a:latin typeface="Times New Roman" panose="02020603050405020304" pitchFamily="18" charset="0"/>
              </a:rPr>
              <a:t>线程的状态和控制块</a:t>
            </a:r>
            <a:endParaRPr lang="en-US" altLang="zh-CN" sz="3600" b="1" dirty="0">
              <a:solidFill>
                <a:srgbClr val="FF0000"/>
              </a:solidFill>
              <a:latin typeface="Times New Roman" panose="02020603050405020304" pitchFamily="18" charset="0"/>
            </a:endParaRPr>
          </a:p>
          <a:p>
            <a:pPr marL="0" lvl="0" indent="0" algn="just" eaLnBrk="1" hangingPunct="1">
              <a:spcBef>
                <a:spcPct val="50000"/>
              </a:spcBef>
              <a:buClrTx/>
              <a:buSzTx/>
              <a:buFontTx/>
              <a:buNone/>
            </a:pPr>
            <a:r>
              <a:rPr lang="en-US" altLang="zh-CN" sz="3600" b="1" dirty="0">
                <a:solidFill>
                  <a:srgbClr val="FF0000"/>
                </a:solidFill>
                <a:latin typeface="Times New Roman" panose="02020603050405020304" pitchFamily="18" charset="0"/>
              </a:rPr>
              <a:t>1</a:t>
            </a:r>
            <a:r>
              <a:rPr lang="zh-CN" altLang="en-US" sz="3600" b="1" dirty="0">
                <a:solidFill>
                  <a:srgbClr val="FF0000"/>
                </a:solidFill>
                <a:latin typeface="Times New Roman" panose="02020603050405020304" pitchFamily="18" charset="0"/>
              </a:rPr>
              <a:t>。线程运行状态</a:t>
            </a:r>
            <a:r>
              <a:rPr lang="zh-CN" altLang="en-US" sz="3600" b="1" dirty="0">
                <a:latin typeface="Times New Roman" panose="02020603050405020304" pitchFamily="18" charset="0"/>
              </a:rPr>
              <a:t> </a:t>
            </a:r>
            <a:endParaRPr lang="zh-CN" altLang="en-US" sz="3600" b="1" dirty="0">
              <a:latin typeface="Times New Roman" panose="02020603050405020304" pitchFamily="18" charset="0"/>
            </a:endParaRPr>
          </a:p>
          <a:p>
            <a:pPr marL="0" lvl="0" indent="0" algn="just" eaLnBrk="1" hangingPunct="1">
              <a:spcBef>
                <a:spcPct val="50000"/>
              </a:spcBef>
              <a:buClrTx/>
              <a:buSzTx/>
              <a:buFontTx/>
              <a:buNone/>
            </a:pPr>
            <a:r>
              <a:rPr lang="zh-CN" altLang="en-US" sz="2800" b="1" dirty="0">
                <a:latin typeface="Times New Roman" panose="02020603050405020304" pitchFamily="18" charset="0"/>
              </a:rPr>
              <a:t>        如同传统的进程一样，在各线程之间也存在着共享资源和相互合作的制约关系，致使线程在运行时也具有间断性。线程在运行时，也具有下述三种基本状态：</a:t>
            </a:r>
            <a:endParaRPr lang="zh-CN" altLang="en-US" sz="2800" b="1" dirty="0">
              <a:latin typeface="Times New Roman" panose="02020603050405020304" pitchFamily="18" charset="0"/>
            </a:endParaRPr>
          </a:p>
          <a:p>
            <a:pPr marL="0" lvl="0" indent="0" algn="just" eaLnBrk="1" hangingPunct="1">
              <a:spcBef>
                <a:spcPct val="50000"/>
              </a:spcBef>
              <a:buClrTx/>
              <a:buSzTx/>
              <a:buFontTx/>
              <a:buNone/>
            </a:pPr>
            <a:r>
              <a:rPr lang="zh-CN" altLang="en-US" sz="2800" b="1" dirty="0">
                <a:latin typeface="Times New Roman" panose="02020603050405020304" pitchFamily="18" charset="0"/>
              </a:rPr>
              <a:t>① </a:t>
            </a:r>
            <a:r>
              <a:rPr lang="zh-CN" altLang="en-US" sz="2800" b="1" dirty="0">
                <a:solidFill>
                  <a:srgbClr val="FF0000"/>
                </a:solidFill>
                <a:latin typeface="Times New Roman" panose="02020603050405020304" pitchFamily="18" charset="0"/>
              </a:rPr>
              <a:t>执行状态</a:t>
            </a:r>
            <a:r>
              <a:rPr lang="zh-CN" altLang="en-US" sz="2800" b="1" dirty="0">
                <a:latin typeface="Times New Roman" panose="02020603050405020304" pitchFamily="18" charset="0"/>
              </a:rPr>
              <a:t>，表示线程正获得处理机而运行；</a:t>
            </a:r>
            <a:endParaRPr lang="zh-CN" altLang="en-US" sz="2800" b="1" dirty="0">
              <a:latin typeface="Times New Roman" panose="02020603050405020304" pitchFamily="18" charset="0"/>
            </a:endParaRPr>
          </a:p>
          <a:p>
            <a:pPr marL="0" lvl="0" indent="0" algn="just" eaLnBrk="1" hangingPunct="1">
              <a:spcBef>
                <a:spcPct val="50000"/>
              </a:spcBef>
              <a:buClrTx/>
              <a:buSzTx/>
              <a:buFontTx/>
              <a:buNone/>
            </a:pPr>
            <a:r>
              <a:rPr lang="zh-CN" altLang="en-US" sz="2800" b="1" dirty="0">
                <a:latin typeface="Times New Roman" panose="02020603050405020304" pitchFamily="18" charset="0"/>
              </a:rPr>
              <a:t>② </a:t>
            </a:r>
            <a:r>
              <a:rPr lang="zh-CN" altLang="en-US" sz="2800" b="1" dirty="0">
                <a:solidFill>
                  <a:srgbClr val="FF0000"/>
                </a:solidFill>
                <a:latin typeface="Times New Roman" panose="02020603050405020304" pitchFamily="18" charset="0"/>
              </a:rPr>
              <a:t>就绪状态</a:t>
            </a:r>
            <a:r>
              <a:rPr lang="zh-CN" altLang="en-US" sz="2800" b="1" dirty="0">
                <a:latin typeface="Times New Roman" panose="02020603050405020304" pitchFamily="18" charset="0"/>
              </a:rPr>
              <a:t>， 指线程已具备了各种执行条件，一旦获得</a:t>
            </a:r>
            <a:r>
              <a:rPr lang="en-US" altLang="zh-CN" sz="2800" b="1" dirty="0">
                <a:latin typeface="Times New Roman" panose="02020603050405020304" pitchFamily="18" charset="0"/>
              </a:rPr>
              <a:t>CPU</a:t>
            </a:r>
            <a:r>
              <a:rPr lang="zh-CN" altLang="en-US" sz="2800" b="1" dirty="0">
                <a:latin typeface="Times New Roman" panose="02020603050405020304" pitchFamily="18" charset="0"/>
              </a:rPr>
              <a:t>便可执行的状态；</a:t>
            </a:r>
            <a:endParaRPr lang="zh-CN" altLang="en-US" sz="2800" b="1" dirty="0">
              <a:latin typeface="Times New Roman" panose="02020603050405020304" pitchFamily="18" charset="0"/>
            </a:endParaRPr>
          </a:p>
          <a:p>
            <a:pPr marL="0" lvl="0" indent="0" algn="just" eaLnBrk="1" hangingPunct="1">
              <a:spcBef>
                <a:spcPct val="50000"/>
              </a:spcBef>
              <a:buClrTx/>
              <a:buSzTx/>
              <a:buFontTx/>
              <a:buNone/>
            </a:pPr>
            <a:r>
              <a:rPr lang="zh-CN" altLang="en-US" sz="2800" b="1" dirty="0">
                <a:latin typeface="Times New Roman" panose="02020603050405020304" pitchFamily="18" charset="0"/>
              </a:rPr>
              <a:t>③ </a:t>
            </a:r>
            <a:r>
              <a:rPr lang="zh-CN" altLang="en-US" sz="2800" b="1" dirty="0">
                <a:solidFill>
                  <a:srgbClr val="FF0000"/>
                </a:solidFill>
                <a:latin typeface="Times New Roman" panose="02020603050405020304" pitchFamily="18" charset="0"/>
              </a:rPr>
              <a:t>阻塞状态</a:t>
            </a:r>
            <a:r>
              <a:rPr lang="zh-CN" altLang="en-US" sz="2800" b="1" dirty="0">
                <a:latin typeface="Times New Roman" panose="02020603050405020304" pitchFamily="18" charset="0"/>
              </a:rPr>
              <a:t>，指线程在执行中因某事件而受阻，处于暂停执行时的状态。 </a:t>
            </a:r>
            <a:endParaRPr lang="zh-CN" altLang="en-US" sz="2800" b="1" dirty="0">
              <a:latin typeface="Times New Roman" panose="02020603050405020304" pitchFamily="18" charset="0"/>
            </a:endParaRPr>
          </a:p>
        </p:txBody>
      </p:sp>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标题 1"/>
          <p:cNvSpPr>
            <a:spLocks noGrp="1"/>
          </p:cNvSpPr>
          <p:nvPr>
            <p:ph type="title"/>
          </p:nvPr>
        </p:nvSpPr>
        <p:spPr>
          <a:xfrm>
            <a:off x="457200" y="304800"/>
            <a:ext cx="8540750" cy="1143000"/>
          </a:xfrm>
        </p:spPr>
        <p:txBody>
          <a:bodyPr vert="horz" wrap="square" lIns="91440" tIns="45720" rIns="91440" bIns="45720" anchor="ctr" anchorCtr="0"/>
          <a:p>
            <a:r>
              <a:rPr lang="en-US" altLang="zh-CN" sz="3600" b="1" dirty="0">
                <a:solidFill>
                  <a:srgbClr val="FF0000"/>
                </a:solidFill>
              </a:rPr>
              <a:t>2</a:t>
            </a:r>
            <a:r>
              <a:rPr lang="zh-CN" altLang="en-US" sz="3600" b="1" dirty="0">
                <a:solidFill>
                  <a:srgbClr val="FF0000"/>
                </a:solidFill>
              </a:rPr>
              <a:t>。线程控制块</a:t>
            </a:r>
            <a:r>
              <a:rPr lang="en-US" altLang="zh-CN" sz="3600" b="1" dirty="0">
                <a:solidFill>
                  <a:srgbClr val="FF0000"/>
                </a:solidFill>
              </a:rPr>
              <a:t>TCB</a:t>
            </a:r>
            <a:endParaRPr lang="zh-CN" altLang="en-US" sz="3600" b="1" dirty="0">
              <a:solidFill>
                <a:srgbClr val="FF0000"/>
              </a:solidFill>
            </a:endParaRPr>
          </a:p>
        </p:txBody>
      </p:sp>
      <p:sp>
        <p:nvSpPr>
          <p:cNvPr id="191491" name="内容占位符 2"/>
          <p:cNvSpPr>
            <a:spLocks noGrp="1"/>
          </p:cNvSpPr>
          <p:nvPr>
            <p:ph idx="1"/>
          </p:nvPr>
        </p:nvSpPr>
        <p:spPr/>
        <p:txBody>
          <a:bodyPr vert="horz" wrap="square" lIns="91440" tIns="45720" rIns="91440" bIns="45720" anchor="t" anchorCtr="0"/>
          <a:p>
            <a:r>
              <a:rPr lang="zh-CN" altLang="en-US" b="1" dirty="0"/>
              <a:t>每个线程也有个控制块，包含的内容有：</a:t>
            </a:r>
            <a:endParaRPr lang="en-US" altLang="zh-CN" b="1" dirty="0"/>
          </a:p>
          <a:p>
            <a:pPr lvl="1"/>
            <a:r>
              <a:rPr lang="zh-CN" altLang="en-US" b="1" dirty="0"/>
              <a:t>标识符</a:t>
            </a:r>
            <a:endParaRPr lang="en-US" altLang="zh-CN" b="1" dirty="0"/>
          </a:p>
          <a:p>
            <a:pPr lvl="1"/>
            <a:r>
              <a:rPr lang="zh-CN" altLang="en-US" b="1" dirty="0"/>
              <a:t>一组寄存器</a:t>
            </a:r>
            <a:endParaRPr lang="en-US" altLang="zh-CN" b="1" dirty="0"/>
          </a:p>
          <a:p>
            <a:pPr lvl="1"/>
            <a:r>
              <a:rPr lang="zh-CN" altLang="en-US" b="1" dirty="0"/>
              <a:t>线程运行状态</a:t>
            </a:r>
            <a:endParaRPr lang="en-US" altLang="zh-CN" b="1" dirty="0"/>
          </a:p>
          <a:p>
            <a:pPr lvl="1"/>
            <a:r>
              <a:rPr lang="zh-CN" altLang="en-US" b="1" dirty="0"/>
              <a:t>优先级</a:t>
            </a:r>
            <a:endParaRPr lang="en-US" altLang="zh-CN" b="1" dirty="0"/>
          </a:p>
          <a:p>
            <a:pPr lvl="1"/>
            <a:r>
              <a:rPr lang="zh-CN" altLang="en-US" b="1" dirty="0"/>
              <a:t>线程专有存储区</a:t>
            </a:r>
            <a:endParaRPr lang="en-US" altLang="zh-CN" b="1" dirty="0"/>
          </a:p>
          <a:p>
            <a:pPr lvl="1"/>
            <a:r>
              <a:rPr lang="zh-CN" altLang="en-US" b="1" dirty="0"/>
              <a:t>信号屏蔽</a:t>
            </a:r>
            <a:endParaRPr lang="en-US" altLang="zh-CN" b="1" dirty="0"/>
          </a:p>
          <a:p>
            <a:pPr lvl="1"/>
            <a:r>
              <a:rPr lang="zh-CN" altLang="en-US" b="1" dirty="0"/>
              <a:t>堆栈指针</a:t>
            </a:r>
            <a:endParaRPr lang="zh-CN" altLang="en-US" b="1"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Text Box 2"/>
          <p:cNvSpPr txBox="1"/>
          <p:nvPr/>
        </p:nvSpPr>
        <p:spPr>
          <a:xfrm>
            <a:off x="381000" y="809625"/>
            <a:ext cx="8458200" cy="50228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30000"/>
              </a:lnSpc>
              <a:spcBef>
                <a:spcPct val="50000"/>
              </a:spcBef>
              <a:buClrTx/>
              <a:buSzTx/>
              <a:buFontTx/>
              <a:buNone/>
            </a:pPr>
            <a:r>
              <a:rPr lang="zh-CN" altLang="en-US" b="1" dirty="0">
                <a:solidFill>
                  <a:srgbClr val="FF0000"/>
                </a:solidFill>
                <a:latin typeface="Times New Roman" panose="02020603050405020304" pitchFamily="18" charset="0"/>
              </a:rPr>
              <a:t>       </a:t>
            </a:r>
            <a:r>
              <a:rPr lang="en-US" altLang="zh-CN" sz="3600" b="1" dirty="0">
                <a:solidFill>
                  <a:srgbClr val="FF0000"/>
                </a:solidFill>
                <a:latin typeface="Times New Roman" panose="02020603050405020304" pitchFamily="18" charset="0"/>
              </a:rPr>
              <a:t>3. </a:t>
            </a:r>
            <a:r>
              <a:rPr lang="zh-CN" altLang="en-US" sz="3600" b="1" dirty="0">
                <a:solidFill>
                  <a:srgbClr val="FF0000"/>
                </a:solidFill>
                <a:latin typeface="Times New Roman" panose="02020603050405020304" pitchFamily="18" charset="0"/>
              </a:rPr>
              <a:t>线程的创建和终止</a:t>
            </a:r>
            <a:endParaRPr lang="zh-CN" altLang="en-US" sz="3600" b="1" dirty="0">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400" b="1" dirty="0">
                <a:latin typeface="Times New Roman" panose="02020603050405020304" pitchFamily="18" charset="0"/>
              </a:rPr>
              <a:t>        在多线程</a:t>
            </a:r>
            <a:r>
              <a:rPr lang="en-US" altLang="zh-CN" sz="2400" b="1" dirty="0">
                <a:latin typeface="Times New Roman" panose="02020603050405020304" pitchFamily="18" charset="0"/>
              </a:rPr>
              <a:t>OS</a:t>
            </a:r>
            <a:r>
              <a:rPr lang="zh-CN" altLang="en-US" sz="2400" b="1" dirty="0">
                <a:latin typeface="Times New Roman" panose="02020603050405020304" pitchFamily="18" charset="0"/>
              </a:rPr>
              <a:t>环境下，应用程序在启动时，通常仅有一个线程在执行，该线程被人们称为</a:t>
            </a:r>
            <a:r>
              <a:rPr lang="zh-CN" altLang="en-US" sz="2400" b="1" dirty="0">
                <a:latin typeface="Courier New" panose="02070309020205020404" pitchFamily="49" charset="0"/>
              </a:rPr>
              <a:t>“</a:t>
            </a:r>
            <a:r>
              <a:rPr lang="zh-CN" altLang="en-US" sz="2400" b="1" dirty="0">
                <a:latin typeface="Times New Roman" panose="02020603050405020304" pitchFamily="18" charset="0"/>
              </a:rPr>
              <a:t>初始化线程</a:t>
            </a:r>
            <a:r>
              <a:rPr lang="zh-CN" altLang="en-US" sz="2400" b="1" dirty="0">
                <a:latin typeface="Courier New" panose="02070309020205020404" pitchFamily="49" charset="0"/>
              </a:rPr>
              <a:t>”</a:t>
            </a:r>
            <a:r>
              <a:rPr lang="zh-CN" altLang="en-US" sz="2400" b="1" dirty="0">
                <a:latin typeface="Times New Roman" panose="02020603050405020304" pitchFamily="18" charset="0"/>
              </a:rPr>
              <a:t>。在创建新线程时，提供相应的参数，如指向线程主程序的入口指针、堆栈的大小，以及用于调度的优先级等。在线程创建函数执行完后，将返回一个线程标识符供以后使用。</a:t>
            </a:r>
            <a:endParaRPr lang="zh-CN" altLang="en-US" sz="2400" b="1" dirty="0">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400" b="1" dirty="0">
                <a:latin typeface="Times New Roman" panose="02020603050405020304" pitchFamily="18" charset="0"/>
              </a:rPr>
              <a:t>        </a:t>
            </a:r>
            <a:r>
              <a:rPr lang="zh-CN" altLang="en-US" sz="2400" b="1" dirty="0">
                <a:solidFill>
                  <a:srgbClr val="FF0000"/>
                </a:solidFill>
                <a:latin typeface="Times New Roman" panose="02020603050405020304" pitchFamily="18" charset="0"/>
              </a:rPr>
              <a:t>终止线程</a:t>
            </a:r>
            <a:r>
              <a:rPr lang="zh-CN" altLang="en-US" sz="2400" b="1" dirty="0">
                <a:latin typeface="Times New Roman" panose="02020603050405020304" pitchFamily="18" charset="0"/>
              </a:rPr>
              <a:t>的方式有两种：一种是在线程完成了自己的工作后自愿退出；另一种是线程在运行中出现错误或由于某种原因而被其它线程强行终止。 </a:t>
            </a:r>
            <a:endParaRPr lang="zh-CN" altLang="en-US" sz="2400" b="1" dirty="0">
              <a:latin typeface="Times New Roman" panose="02020603050405020304" pitchFamily="18" charset="0"/>
            </a:endParaRPr>
          </a:p>
        </p:txBody>
      </p:sp>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3"/>
          <p:cNvSpPr>
            <a:spLocks noGrp="1" noRot="1"/>
          </p:cNvSpPr>
          <p:nvPr>
            <p:ph idx="1"/>
          </p:nvPr>
        </p:nvSpPr>
        <p:spPr>
          <a:xfrm>
            <a:off x="301625" y="533400"/>
            <a:ext cx="8537575" cy="5638800"/>
          </a:xfrm>
        </p:spPr>
        <p:txBody>
          <a:bodyPr vert="horz" wrap="square" lIns="91440" tIns="45720" rIns="91440" bIns="45720" anchor="t" anchorCtr="0"/>
          <a:p>
            <a:r>
              <a:rPr lang="en-US" altLang="zh-CN" sz="2400" b="1" dirty="0"/>
              <a:t>linux</a:t>
            </a:r>
            <a:r>
              <a:rPr lang="zh-CN" altLang="en-US" sz="2400" b="1" dirty="0"/>
              <a:t>下用</a:t>
            </a:r>
            <a:r>
              <a:rPr lang="en-US" altLang="zh-CN" sz="2400" b="1" dirty="0"/>
              <a:t>C</a:t>
            </a:r>
            <a:r>
              <a:rPr lang="zh-CN" altLang="en-US" sz="2400" b="1" dirty="0"/>
              <a:t>开发多线程程序，</a:t>
            </a:r>
            <a:r>
              <a:rPr lang="en-US" altLang="zh-CN" sz="2400" b="1" dirty="0"/>
              <a:t>Linux</a:t>
            </a:r>
            <a:r>
              <a:rPr lang="zh-CN" altLang="en-US" sz="2400" b="1" dirty="0"/>
              <a:t>系统下的多线程遵循</a:t>
            </a:r>
            <a:r>
              <a:rPr lang="en-US" altLang="zh-CN" sz="2400" b="1" dirty="0"/>
              <a:t>POSIX</a:t>
            </a:r>
            <a:r>
              <a:rPr lang="zh-CN" altLang="en-US" sz="2400" b="1" dirty="0"/>
              <a:t>线程接口，称为</a:t>
            </a:r>
            <a:r>
              <a:rPr lang="en-US" altLang="zh-CN" sz="2400" b="1" dirty="0"/>
              <a:t>pthread</a:t>
            </a:r>
            <a:r>
              <a:rPr lang="zh-CN" altLang="en-US" sz="2400" b="1" dirty="0"/>
              <a:t>。</a:t>
            </a:r>
            <a:endParaRPr lang="zh-CN" altLang="en-US" sz="2400" b="1" dirty="0"/>
          </a:p>
          <a:p>
            <a:br>
              <a:rPr lang="zh-CN" altLang="en-US" sz="2400" b="1" dirty="0"/>
            </a:br>
            <a:r>
              <a:rPr lang="en-US" altLang="zh-CN" sz="2400" b="1" dirty="0"/>
              <a:t>#include &lt;pthread.h&gt;</a:t>
            </a:r>
            <a:br>
              <a:rPr lang="en-US" altLang="zh-CN" sz="2400" b="1" dirty="0"/>
            </a:br>
            <a:r>
              <a:rPr lang="en-US" altLang="zh-CN" sz="2400" b="1" dirty="0"/>
              <a:t>int </a:t>
            </a:r>
            <a:r>
              <a:rPr lang="en-US" altLang="zh-CN" sz="2400" b="1" dirty="0">
                <a:solidFill>
                  <a:srgbClr val="FF0000"/>
                </a:solidFill>
              </a:rPr>
              <a:t>pthread_create</a:t>
            </a:r>
            <a:r>
              <a:rPr lang="en-US" altLang="zh-CN" sz="2400" b="1" dirty="0"/>
              <a:t>(</a:t>
            </a:r>
            <a:endParaRPr lang="en-US" altLang="zh-CN" sz="2400" b="1" dirty="0"/>
          </a:p>
          <a:p>
            <a:r>
              <a:rPr lang="en-US" altLang="zh-CN" sz="2400" b="1" dirty="0"/>
              <a:t>pthread_t *restrict tidp,  </a:t>
            </a:r>
            <a:r>
              <a:rPr lang="zh-CN" altLang="en-US" sz="2400" b="1" dirty="0"/>
              <a:t>指向线程标识符的指针。</a:t>
            </a:r>
            <a:br>
              <a:rPr lang="zh-CN" altLang="en-US" sz="2400" b="1" dirty="0"/>
            </a:br>
            <a:r>
              <a:rPr lang="en-US" altLang="zh-CN" sz="2400" b="1" dirty="0"/>
              <a:t>const pthread_attr_t *restrict attr,  </a:t>
            </a:r>
            <a:r>
              <a:rPr lang="zh-CN" altLang="en-US" sz="2400" b="1" dirty="0"/>
              <a:t>设置线程属性。</a:t>
            </a:r>
            <a:br>
              <a:rPr lang="zh-CN" altLang="en-US" sz="2400" b="1" dirty="0"/>
            </a:br>
            <a:r>
              <a:rPr lang="en-US" altLang="zh-CN" sz="2400" b="1" dirty="0"/>
              <a:t>void *(*start_rtn)(void),   </a:t>
            </a:r>
            <a:r>
              <a:rPr lang="zh-CN" altLang="en-US" sz="2400" b="1" dirty="0"/>
              <a:t>线程运行函数的起始地址。</a:t>
            </a:r>
            <a:br>
              <a:rPr lang="zh-CN" altLang="en-US" sz="2400" b="1" dirty="0"/>
            </a:br>
            <a:r>
              <a:rPr lang="en-US" altLang="zh-CN" sz="2400" b="1" dirty="0"/>
              <a:t>void *restrict arg);  </a:t>
            </a:r>
            <a:r>
              <a:rPr lang="zh-CN" altLang="en-US" sz="2400" b="1" dirty="0"/>
              <a:t>运行函数的参数。</a:t>
            </a:r>
            <a:endParaRPr lang="zh-CN" altLang="en-US" sz="2400" b="1" dirty="0"/>
          </a:p>
          <a:p>
            <a:endParaRPr lang="zh-CN" altLang="en-US" sz="2400" b="1" dirty="0"/>
          </a:p>
          <a:p>
            <a:r>
              <a:rPr lang="zh-CN" altLang="en-US" sz="2400" b="1" dirty="0"/>
              <a:t>由于</a:t>
            </a:r>
            <a:r>
              <a:rPr lang="en-US" altLang="zh-CN" sz="2400" b="1" dirty="0"/>
              <a:t>pthread</a:t>
            </a:r>
            <a:r>
              <a:rPr lang="zh-CN" altLang="en-US" sz="2400" b="1" dirty="0"/>
              <a:t>库不是</a:t>
            </a:r>
            <a:r>
              <a:rPr lang="en-US" altLang="zh-CN" sz="2400" b="1" dirty="0"/>
              <a:t>Linux</a:t>
            </a:r>
            <a:r>
              <a:rPr lang="zh-CN" altLang="en-US" sz="2400" b="1" dirty="0"/>
              <a:t>系统默认的库，连接时需要使用库</a:t>
            </a:r>
            <a:r>
              <a:rPr lang="en-US" altLang="zh-CN" sz="2400" b="1" dirty="0"/>
              <a:t>libpthread.a,</a:t>
            </a:r>
            <a:r>
              <a:rPr lang="zh-CN" altLang="en-US" sz="2400" b="1" dirty="0"/>
              <a:t>所以在使用</a:t>
            </a:r>
            <a:r>
              <a:rPr lang="en-US" altLang="zh-CN" sz="2400" b="1" dirty="0"/>
              <a:t>pthread_create</a:t>
            </a:r>
            <a:r>
              <a:rPr lang="zh-CN" altLang="en-US" sz="2400" b="1" dirty="0"/>
              <a:t>创建线程时，在编译中要加</a:t>
            </a:r>
            <a:r>
              <a:rPr lang="en-US" altLang="zh-CN" sz="2400" b="1" dirty="0"/>
              <a:t>-lpthread</a:t>
            </a:r>
            <a:r>
              <a:rPr lang="zh-CN" altLang="en-US" sz="2400" b="1" dirty="0"/>
              <a:t>参数</a:t>
            </a:r>
            <a:r>
              <a:rPr lang="en-US" altLang="zh-CN" sz="2400" b="1" dirty="0"/>
              <a:t>:</a:t>
            </a:r>
            <a:br>
              <a:rPr lang="en-US" altLang="zh-CN" sz="2400" b="1" dirty="0"/>
            </a:br>
            <a:r>
              <a:rPr lang="en-US" altLang="zh-CN" sz="2400" b="1" dirty="0"/>
              <a:t>gcc -o XXX -lpthread XXX.c</a:t>
            </a:r>
            <a:r>
              <a:rPr lang="en-US" altLang="zh-CN" sz="2400" dirty="0"/>
              <a:t> </a:t>
            </a:r>
            <a:endParaRPr lang="en-US" altLang="zh-CN" sz="2400" b="1"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3"/>
          <p:cNvSpPr>
            <a:spLocks noGrp="1" noRot="1"/>
          </p:cNvSpPr>
          <p:nvPr>
            <p:ph idx="1"/>
          </p:nvPr>
        </p:nvSpPr>
        <p:spPr/>
        <p:txBody>
          <a:bodyPr vert="horz" wrap="square" lIns="91440" tIns="45720" rIns="91440" bIns="45720" anchor="t" anchorCtr="0"/>
          <a:p>
            <a:r>
              <a:rPr lang="en-US" altLang="zh-CN" b="1" dirty="0"/>
              <a:t>Linix</a:t>
            </a:r>
            <a:r>
              <a:rPr lang="zh-CN" altLang="en-US" b="1" dirty="0"/>
              <a:t>线程的退出：</a:t>
            </a:r>
            <a:endParaRPr lang="zh-CN" altLang="en-US" b="1" dirty="0"/>
          </a:p>
          <a:p>
            <a:r>
              <a:rPr lang="en-US" altLang="zh-CN" b="1" dirty="0"/>
              <a:t>pthread_exit(NULL);</a:t>
            </a:r>
            <a:endParaRPr lang="en-US" altLang="zh-CN" b="1" dirty="0"/>
          </a:p>
          <a:p>
            <a:endParaRPr lang="zh-CN" altLang="en-US" b="1" dirty="0"/>
          </a:p>
          <a:p>
            <a:endParaRPr lang="zh-CN" altLang="en-US" b="1"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Text Box 2"/>
          <p:cNvSpPr txBox="1"/>
          <p:nvPr/>
        </p:nvSpPr>
        <p:spPr>
          <a:xfrm>
            <a:off x="1081088" y="630238"/>
            <a:ext cx="4127500" cy="5857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b="1" dirty="0">
                <a:solidFill>
                  <a:srgbClr val="FF0000"/>
                </a:solidFill>
                <a:latin typeface="Times New Roman" panose="02020603050405020304" pitchFamily="18" charset="0"/>
              </a:rPr>
              <a:t>4. </a:t>
            </a:r>
            <a:r>
              <a:rPr lang="zh-CN" altLang="en-US" b="1" dirty="0">
                <a:solidFill>
                  <a:srgbClr val="FF0000"/>
                </a:solidFill>
                <a:latin typeface="Times New Roman" panose="02020603050405020304" pitchFamily="18" charset="0"/>
              </a:rPr>
              <a:t>多线程</a:t>
            </a:r>
            <a:r>
              <a:rPr lang="en-US" altLang="zh-CN" b="1" dirty="0">
                <a:solidFill>
                  <a:srgbClr val="FF0000"/>
                </a:solidFill>
                <a:latin typeface="Times New Roman" panose="02020603050405020304" pitchFamily="18" charset="0"/>
              </a:rPr>
              <a:t>OS</a:t>
            </a:r>
            <a:r>
              <a:rPr lang="zh-CN" altLang="en-US" b="1" dirty="0">
                <a:solidFill>
                  <a:srgbClr val="FF0000"/>
                </a:solidFill>
                <a:latin typeface="Times New Roman" panose="02020603050405020304" pitchFamily="18" charset="0"/>
              </a:rPr>
              <a:t>中的进程 </a:t>
            </a:r>
            <a:endParaRPr lang="zh-CN" altLang="en-US" b="1" dirty="0">
              <a:solidFill>
                <a:srgbClr val="FF0000"/>
              </a:solidFill>
              <a:latin typeface="Times New Roman" panose="02020603050405020304" pitchFamily="18" charset="0"/>
            </a:endParaRPr>
          </a:p>
        </p:txBody>
      </p:sp>
      <p:sp>
        <p:nvSpPr>
          <p:cNvPr id="195587" name="Text Box 3"/>
          <p:cNvSpPr txBox="1"/>
          <p:nvPr/>
        </p:nvSpPr>
        <p:spPr>
          <a:xfrm>
            <a:off x="228600" y="1543050"/>
            <a:ext cx="8610600" cy="4324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457200" lvl="0" indent="-457200" algn="just" eaLnBrk="1" hangingPunct="1">
              <a:lnSpc>
                <a:spcPct val="120000"/>
              </a:lnSpc>
              <a:spcBef>
                <a:spcPct val="50000"/>
              </a:spcBef>
              <a:buClrTx/>
              <a:buSzTx/>
              <a:buFontTx/>
              <a:buNone/>
            </a:pPr>
            <a:r>
              <a:rPr lang="zh-CN" altLang="en-US" sz="2800" b="1" dirty="0">
                <a:latin typeface="Times New Roman" panose="02020603050405020304" pitchFamily="18" charset="0"/>
              </a:rPr>
              <a:t>              在多线程</a:t>
            </a:r>
            <a:r>
              <a:rPr lang="en-US" altLang="zh-CN" sz="2800" b="1" dirty="0">
                <a:latin typeface="Times New Roman" panose="02020603050405020304" pitchFamily="18" charset="0"/>
              </a:rPr>
              <a:t>OS</a:t>
            </a:r>
            <a:r>
              <a:rPr lang="zh-CN" altLang="en-US" sz="2800" b="1" dirty="0">
                <a:latin typeface="Times New Roman" panose="02020603050405020304" pitchFamily="18" charset="0"/>
              </a:rPr>
              <a:t>中，进程是作为拥有系统资源的基本单位，通常的进程都包含多个线程并为它们提供资源，但此时的进程就不再作为一个执行的实体。 </a:t>
            </a:r>
            <a:r>
              <a:rPr lang="zh-CN" altLang="en-US" sz="2800" b="1" dirty="0">
                <a:solidFill>
                  <a:srgbClr val="FF0000"/>
                </a:solidFill>
                <a:latin typeface="Times New Roman" panose="02020603050405020304" pitchFamily="18" charset="0"/>
              </a:rPr>
              <a:t>多线程</a:t>
            </a:r>
            <a:r>
              <a:rPr lang="en-US" altLang="zh-CN" sz="2800" b="1" dirty="0">
                <a:solidFill>
                  <a:srgbClr val="FF0000"/>
                </a:solidFill>
                <a:latin typeface="Times New Roman" panose="02020603050405020304" pitchFamily="18" charset="0"/>
              </a:rPr>
              <a:t>OS</a:t>
            </a:r>
            <a:r>
              <a:rPr lang="zh-CN" altLang="en-US" sz="2800" b="1" dirty="0">
                <a:solidFill>
                  <a:srgbClr val="FF0000"/>
                </a:solidFill>
                <a:latin typeface="Times New Roman" panose="02020603050405020304" pitchFamily="18" charset="0"/>
              </a:rPr>
              <a:t>中的进程有以下属性：</a:t>
            </a:r>
            <a:endParaRPr lang="zh-CN" altLang="en-US" sz="2800" b="1" dirty="0">
              <a:solidFill>
                <a:srgbClr val="FF0000"/>
              </a:solidFill>
              <a:latin typeface="Times New Roman" panose="02020603050405020304" pitchFamily="18" charset="0"/>
            </a:endParaRPr>
          </a:p>
          <a:p>
            <a:pPr marL="457200" lvl="0" indent="-457200" eaLnBrk="1" hangingPunct="1">
              <a:lnSpc>
                <a:spcPct val="120000"/>
              </a:lnSpc>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(1) </a:t>
            </a:r>
            <a:r>
              <a:rPr lang="zh-CN" altLang="en-US" sz="2800" b="1" dirty="0">
                <a:latin typeface="Times New Roman" panose="02020603050405020304" pitchFamily="18" charset="0"/>
              </a:rPr>
              <a:t>作为系统资源分配的单位。 </a:t>
            </a:r>
            <a:endParaRPr lang="zh-CN" altLang="en-US" sz="2800" b="1" dirty="0">
              <a:latin typeface="Times New Roman" panose="02020603050405020304" pitchFamily="18" charset="0"/>
            </a:endParaRPr>
          </a:p>
          <a:p>
            <a:pPr marL="457200" lvl="0" indent="-457200" eaLnBrk="1" hangingPunct="1">
              <a:lnSpc>
                <a:spcPct val="120000"/>
              </a:lnSpc>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(2) </a:t>
            </a:r>
            <a:r>
              <a:rPr lang="zh-CN" altLang="en-US" sz="2800" b="1" dirty="0">
                <a:latin typeface="Times New Roman" panose="02020603050405020304" pitchFamily="18" charset="0"/>
              </a:rPr>
              <a:t>可包括多个线程。 </a:t>
            </a:r>
            <a:endParaRPr lang="zh-CN" altLang="en-US" sz="2800" b="1" dirty="0">
              <a:latin typeface="Times New Roman" panose="02020603050405020304" pitchFamily="18" charset="0"/>
            </a:endParaRPr>
          </a:p>
          <a:p>
            <a:pPr marL="457200" lvl="0" indent="-457200" eaLnBrk="1" hangingPunct="1">
              <a:lnSpc>
                <a:spcPct val="120000"/>
              </a:lnSpc>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(3) </a:t>
            </a:r>
            <a:r>
              <a:rPr lang="zh-CN" altLang="en-US" sz="2800" b="1" dirty="0">
                <a:latin typeface="Times New Roman" panose="02020603050405020304" pitchFamily="18" charset="0"/>
              </a:rPr>
              <a:t>进程不是一个可执行的实体。 </a:t>
            </a:r>
            <a:endParaRPr lang="zh-CN" altLang="en-US" sz="2800" b="1" dirty="0">
              <a:latin typeface="Times New Roman" panose="02020603050405020304" pitchFamily="18" charset="0"/>
            </a:endParaRPr>
          </a:p>
        </p:txBody>
      </p:sp>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Text Box 2"/>
          <p:cNvSpPr txBox="1"/>
          <p:nvPr/>
        </p:nvSpPr>
        <p:spPr>
          <a:xfrm>
            <a:off x="1447800" y="892175"/>
            <a:ext cx="5164138"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600" b="1" dirty="0">
                <a:solidFill>
                  <a:srgbClr val="FF0000"/>
                </a:solidFill>
                <a:latin typeface="Times New Roman" panose="02020603050405020304" pitchFamily="18" charset="0"/>
              </a:rPr>
              <a:t>5</a:t>
            </a:r>
            <a:r>
              <a:rPr lang="zh-CN" altLang="en-US" sz="3600" b="1" dirty="0">
                <a:solidFill>
                  <a:srgbClr val="FF0000"/>
                </a:solidFill>
                <a:latin typeface="Times New Roman" panose="02020603050405020304" pitchFamily="18" charset="0"/>
              </a:rPr>
              <a:t>。线程间的同步和通信 </a:t>
            </a:r>
            <a:endParaRPr lang="zh-CN" altLang="en-US" sz="3600" b="1" dirty="0">
              <a:solidFill>
                <a:srgbClr val="FF0000"/>
              </a:solidFill>
              <a:latin typeface="Times New Roman" panose="02020603050405020304" pitchFamily="18" charset="0"/>
            </a:endParaRPr>
          </a:p>
        </p:txBody>
      </p:sp>
      <p:sp>
        <p:nvSpPr>
          <p:cNvPr id="196611" name="Text Box 3"/>
          <p:cNvSpPr txBox="1"/>
          <p:nvPr/>
        </p:nvSpPr>
        <p:spPr>
          <a:xfrm>
            <a:off x="304800" y="1752600"/>
            <a:ext cx="8305800" cy="300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35000"/>
              </a:lnSpc>
              <a:spcBef>
                <a:spcPct val="50000"/>
              </a:spcBef>
              <a:buClrTx/>
              <a:buSzTx/>
              <a:buFontTx/>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互斥锁是一种比较简单的、用于实现进程间对资源互斥访问的机制。由于操作互斥锁的时间和空间开锁都较低， 因而较适合于高频度使用的关键共享数据和程序段。互斥锁可以</a:t>
            </a:r>
            <a:r>
              <a:rPr lang="zh-CN" altLang="en-US" sz="2800" b="1" dirty="0">
                <a:solidFill>
                  <a:srgbClr val="FF0000"/>
                </a:solidFill>
                <a:latin typeface="Times New Roman" panose="02020603050405020304" pitchFamily="18" charset="0"/>
              </a:rPr>
              <a:t>有两种状态， 即开锁</a:t>
            </a:r>
            <a:r>
              <a:rPr lang="en-US" altLang="zh-CN" sz="2800" b="1" dirty="0">
                <a:solidFill>
                  <a:srgbClr val="FF0000"/>
                </a:solidFill>
                <a:latin typeface="Times New Roman" panose="02020603050405020304" pitchFamily="18" charset="0"/>
              </a:rPr>
              <a:t>(unlock)</a:t>
            </a:r>
            <a:r>
              <a:rPr lang="zh-CN" altLang="en-US" sz="2800" b="1" dirty="0">
                <a:solidFill>
                  <a:srgbClr val="FF0000"/>
                </a:solidFill>
                <a:latin typeface="Times New Roman" panose="02020603050405020304" pitchFamily="18" charset="0"/>
              </a:rPr>
              <a:t>和关锁</a:t>
            </a:r>
            <a:r>
              <a:rPr lang="en-US" altLang="zh-CN" sz="2800" b="1" dirty="0">
                <a:solidFill>
                  <a:srgbClr val="FF0000"/>
                </a:solidFill>
                <a:latin typeface="Times New Roman" panose="02020603050405020304" pitchFamily="18" charset="0"/>
              </a:rPr>
              <a:t>(lock)</a:t>
            </a:r>
            <a:r>
              <a:rPr lang="zh-CN" altLang="en-US" sz="2800" b="1" dirty="0">
                <a:solidFill>
                  <a:srgbClr val="FF0000"/>
                </a:solidFill>
                <a:latin typeface="Times New Roman" panose="02020603050405020304" pitchFamily="18" charset="0"/>
              </a:rPr>
              <a:t>状态。 </a:t>
            </a:r>
            <a:endParaRPr lang="zh-CN" altLang="en-US" sz="2800" b="1" dirty="0">
              <a:solidFill>
                <a:srgbClr val="FF0000"/>
              </a:solidFill>
              <a:latin typeface="Times New Roman" panose="02020603050405020304" pitchFamily="18" charset="0"/>
            </a:endParaRPr>
          </a:p>
        </p:txBody>
      </p:sp>
    </p:spTree>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2"/>
          <p:cNvSpPr>
            <a:spLocks noGrp="1" noRot="1"/>
          </p:cNvSpPr>
          <p:nvPr>
            <p:ph type="title"/>
          </p:nvPr>
        </p:nvSpPr>
        <p:spPr/>
        <p:txBody>
          <a:bodyPr vert="horz" wrap="square" lIns="91440" tIns="45720" rIns="91440" bIns="45720" anchor="ctr" anchorCtr="0"/>
          <a:p>
            <a:r>
              <a:rPr lang="en-US" altLang="zh-CN" b="1" dirty="0">
                <a:solidFill>
                  <a:srgbClr val="FF0000"/>
                </a:solidFill>
              </a:rPr>
              <a:t>Linux </a:t>
            </a:r>
            <a:r>
              <a:rPr lang="zh-CN" altLang="en-US" b="1" dirty="0">
                <a:solidFill>
                  <a:srgbClr val="FF0000"/>
                </a:solidFill>
              </a:rPr>
              <a:t>中的线程互斥锁</a:t>
            </a:r>
            <a:endParaRPr lang="zh-CN" altLang="en-US" b="1" dirty="0">
              <a:solidFill>
                <a:srgbClr val="FF0000"/>
              </a:solidFill>
            </a:endParaRPr>
          </a:p>
        </p:txBody>
      </p:sp>
      <p:sp>
        <p:nvSpPr>
          <p:cNvPr id="197635" name="Rectangle 3"/>
          <p:cNvSpPr>
            <a:spLocks noGrp="1" noRot="1"/>
          </p:cNvSpPr>
          <p:nvPr>
            <p:ph idx="1"/>
          </p:nvPr>
        </p:nvSpPr>
        <p:spPr>
          <a:xfrm>
            <a:off x="149225" y="1600200"/>
            <a:ext cx="8842375" cy="4498975"/>
          </a:xfrm>
        </p:spPr>
        <p:txBody>
          <a:bodyPr vert="horz" wrap="square" lIns="91440" tIns="45720" rIns="91440" bIns="45720" anchor="t" anchorCtr="0"/>
          <a:p>
            <a:pPr>
              <a:buNone/>
            </a:pPr>
            <a:r>
              <a:rPr lang="en-US" altLang="zh-CN" b="1" dirty="0"/>
              <a:t>int pthread_mutex_lock(pthread_mutex_t *mutex);</a:t>
            </a:r>
            <a:r>
              <a:rPr lang="zh-CN" altLang="en-US" dirty="0"/>
              <a:t> </a:t>
            </a:r>
            <a:r>
              <a:rPr lang="en-US" altLang="zh-CN" dirty="0"/>
              <a:t> </a:t>
            </a:r>
            <a:r>
              <a:rPr lang="zh-CN" altLang="en-US" sz="2800" b="1" dirty="0"/>
              <a:t>返回时，该</a:t>
            </a:r>
            <a:r>
              <a:rPr lang="zh-CN" altLang="en-US" sz="2800" b="1" dirty="0">
                <a:hlinkClick r:id="rId1"/>
              </a:rPr>
              <a:t>互斥锁</a:t>
            </a:r>
            <a:r>
              <a:rPr lang="zh-CN" altLang="en-US" sz="2800" b="1" dirty="0"/>
              <a:t>已被锁定。调用该</a:t>
            </a:r>
            <a:r>
              <a:rPr lang="zh-CN" altLang="en-US" sz="2800" b="1" dirty="0">
                <a:hlinkClick r:id="rId2"/>
              </a:rPr>
              <a:t>线程</a:t>
            </a:r>
            <a:r>
              <a:rPr lang="zh-CN" altLang="en-US" sz="2800" b="1" dirty="0"/>
              <a:t>使该互斥锁的锁住。如果该互斥锁已被另一个线程锁定和拥有，则调用该线程将阻塞，直到该互斥锁变为可用为止。 </a:t>
            </a:r>
            <a:endParaRPr lang="zh-CN" altLang="en-US" sz="2800" b="1" dirty="0"/>
          </a:p>
          <a:p>
            <a:pPr>
              <a:buNone/>
            </a:pPr>
            <a:r>
              <a:rPr lang="en-US" altLang="zh-CN" b="1" dirty="0"/>
              <a:t>int pthread_mutex_unlock(pthread_mutex_t *mutex);</a:t>
            </a:r>
            <a:r>
              <a:rPr lang="zh-CN" altLang="en-US" b="1" dirty="0"/>
              <a:t>释放互斥锁，</a:t>
            </a:r>
            <a:r>
              <a:rPr lang="en-US" altLang="zh-CN" b="1" dirty="0"/>
              <a:t>pthread_mutex_lock</a:t>
            </a:r>
            <a:r>
              <a:rPr lang="zh-CN" altLang="en-US" b="1" dirty="0"/>
              <a:t>成对存在。</a:t>
            </a:r>
            <a:r>
              <a:rPr lang="zh-CN" altLang="en-US" dirty="0"/>
              <a:t> </a:t>
            </a:r>
            <a:endParaRPr lang="zh-CN" altLang="en-US" dirty="0"/>
          </a:p>
          <a:p>
            <a:endParaRPr lang="zh-CN" alt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565785" y="2404110"/>
            <a:ext cx="7660640" cy="2477135"/>
          </a:xfrm>
          <a:prstGeom prst="rect">
            <a:avLst/>
          </a:prstGeom>
        </p:spPr>
      </p:pic>
      <p:sp>
        <p:nvSpPr>
          <p:cNvPr id="3" name="标题 2"/>
          <p:cNvSpPr>
            <a:spLocks noGrp="1"/>
          </p:cNvSpPr>
          <p:nvPr>
            <p:ph type="title"/>
          </p:nvPr>
        </p:nvSpPr>
        <p:spPr>
          <a:xfrm>
            <a:off x="914451" y="914481"/>
            <a:ext cx="7330537" cy="411956"/>
          </a:xfrm>
        </p:spPr>
        <p:txBody>
          <a:bodyPr/>
          <a:lstStyle/>
          <a:p>
            <a:pPr algn="l"/>
            <a:r>
              <a:rPr lang="en-US" altLang="zh-CN" sz="3600" b="1" dirty="0"/>
              <a:t>2.7.6  </a:t>
            </a:r>
            <a:r>
              <a:rPr lang="zh-CN" altLang="en-US" sz="3600" b="1" dirty="0"/>
              <a:t>线程的实现方式</a:t>
            </a:r>
            <a:endParaRPr lang="zh-CN" altLang="en-US" sz="3600" b="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Text Box 2"/>
          <p:cNvSpPr txBox="1"/>
          <p:nvPr/>
        </p:nvSpPr>
        <p:spPr>
          <a:xfrm>
            <a:off x="609600" y="609600"/>
            <a:ext cx="7922260" cy="95313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l" eaLnBrk="1" hangingPunct="1">
              <a:spcBef>
                <a:spcPct val="0"/>
              </a:spcBef>
              <a:buClrTx/>
              <a:buSzTx/>
              <a:buFontTx/>
              <a:buNone/>
            </a:pPr>
            <a:r>
              <a:rPr kumimoji="1" lang="en-US" altLang="zh-CN" sz="2800" b="1" dirty="0">
                <a:solidFill>
                  <a:srgbClr val="0070C0"/>
                </a:solidFill>
                <a:latin typeface="微软雅黑" panose="020B0503020204020204" charset="-122"/>
                <a:ea typeface="微软雅黑" panose="020B0503020204020204" charset="-122"/>
                <a:sym typeface="+mn-ea"/>
              </a:rPr>
              <a:t>1 </a:t>
            </a:r>
            <a:r>
              <a:rPr kumimoji="1" lang="zh-CN" altLang="en-US" sz="2800" b="1" dirty="0">
                <a:solidFill>
                  <a:srgbClr val="0070C0"/>
                </a:solidFill>
                <a:latin typeface="微软雅黑" panose="020B0503020204020204" charset="-122"/>
                <a:ea typeface="微软雅黑" panose="020B0503020204020204" charset="-122"/>
                <a:sym typeface="+mn-ea"/>
              </a:rPr>
              <a:t>内核支持线程 （</a:t>
            </a:r>
            <a:r>
              <a:rPr kumimoji="1" lang="en-US" altLang="zh-CN" sz="2800" b="1" dirty="0">
                <a:solidFill>
                  <a:srgbClr val="0070C0"/>
                </a:solidFill>
                <a:latin typeface="微软雅黑" panose="020B0503020204020204" charset="-122"/>
                <a:ea typeface="微软雅黑" panose="020B0503020204020204" charset="-122"/>
                <a:sym typeface="+mn-ea"/>
              </a:rPr>
              <a:t>Kernel Supported Threads)</a:t>
            </a:r>
            <a:endParaRPr kumimoji="1" lang="zh-CN" altLang="en-US" sz="2800" b="1" dirty="0">
              <a:solidFill>
                <a:srgbClr val="0070C0"/>
              </a:solidFill>
              <a:latin typeface="微软雅黑" panose="020B0503020204020204" charset="-122"/>
              <a:ea typeface="微软雅黑" panose="020B0503020204020204" charset="-122"/>
            </a:endParaRPr>
          </a:p>
          <a:p>
            <a:pPr marL="0" lvl="0" indent="0" algn="l" eaLnBrk="1" hangingPunct="1">
              <a:spcBef>
                <a:spcPct val="0"/>
              </a:spcBef>
              <a:buClrTx/>
              <a:buSzTx/>
              <a:buFontTx/>
              <a:buNone/>
            </a:pPr>
            <a:r>
              <a:rPr lang="zh-CN" altLang="en-US" sz="2800" b="1" dirty="0">
                <a:solidFill>
                  <a:srgbClr val="0070C0"/>
                </a:solidFill>
                <a:latin typeface="Times New Roman" panose="02020603050405020304" pitchFamily="18" charset="0"/>
              </a:rPr>
              <a:t> </a:t>
            </a:r>
            <a:endParaRPr lang="zh-CN" altLang="en-US" sz="2800" b="1" dirty="0">
              <a:solidFill>
                <a:srgbClr val="0070C0"/>
              </a:solidFill>
              <a:latin typeface="Times New Roman" panose="02020603050405020304" pitchFamily="18" charset="0"/>
            </a:endParaRPr>
          </a:p>
        </p:txBody>
      </p:sp>
      <p:sp>
        <p:nvSpPr>
          <p:cNvPr id="2" name="内容占位符 1"/>
          <p:cNvSpPr>
            <a:spLocks noGrp="1"/>
          </p:cNvSpPr>
          <p:nvPr/>
        </p:nvSpPr>
        <p:spPr>
          <a:xfrm>
            <a:off x="228600" y="1524000"/>
            <a:ext cx="8588375" cy="2422525"/>
          </a:xfrm>
          <a:prstGeom prst="rect">
            <a:avLst/>
          </a:prstGeom>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pPr lvl="1" algn="just">
              <a:lnSpc>
                <a:spcPct val="120000"/>
              </a:lnSpc>
              <a:spcBef>
                <a:spcPct val="50000"/>
              </a:spcBef>
              <a:buClrTx/>
              <a:buSzTx/>
            </a:pPr>
            <a:r>
              <a:rPr kumimoji="1" lang="zh-CN" altLang="en-US" sz="2000" dirty="0">
                <a:latin typeface="微软雅黑" panose="020B0503020204020204" charset="-122"/>
                <a:ea typeface="微软雅黑" panose="020B0503020204020204" charset="-122"/>
              </a:rPr>
              <a:t> </a:t>
            </a:r>
            <a:r>
              <a:rPr kumimoji="1" lang="zh-CN" altLang="en-US" sz="2200" dirty="0">
                <a:latin typeface="微软雅黑" panose="020B0503020204020204" charset="-122"/>
                <a:ea typeface="微软雅黑" panose="020B0503020204020204" charset="-122"/>
              </a:rPr>
              <a:t>内核支持线程，是在内核的支持下运行的，</a:t>
            </a:r>
            <a:r>
              <a:rPr kumimoji="1" lang="zh-CN" altLang="en-US" sz="2200" u="sng" dirty="0">
                <a:solidFill>
                  <a:srgbClr val="FF0000"/>
                </a:solidFill>
                <a:latin typeface="微软雅黑" panose="020B0503020204020204" charset="-122"/>
                <a:ea typeface="微软雅黑" panose="020B0503020204020204" charset="-122"/>
              </a:rPr>
              <a:t>即无论是用户进程中的线程，还是系统进程中的线程，他们的创建、撤消和切换等，是依靠内核实现的。</a:t>
            </a:r>
            <a:endParaRPr kumimoji="1" lang="zh-CN" altLang="en-US" sz="2200" u="sng" dirty="0">
              <a:solidFill>
                <a:srgbClr val="FF0000"/>
              </a:solidFill>
              <a:latin typeface="微软雅黑" panose="020B0503020204020204" charset="-122"/>
              <a:ea typeface="微软雅黑" panose="020B0503020204020204" charset="-122"/>
            </a:endParaRPr>
          </a:p>
          <a:p>
            <a:pPr lvl="1" algn="just">
              <a:lnSpc>
                <a:spcPct val="120000"/>
              </a:lnSpc>
              <a:spcBef>
                <a:spcPct val="50000"/>
              </a:spcBef>
              <a:buClrTx/>
              <a:buSzTx/>
            </a:pPr>
            <a:r>
              <a:rPr kumimoji="1" lang="zh-CN" altLang="en-US" sz="2200" dirty="0">
                <a:latin typeface="微软雅黑" panose="020B0503020204020204" charset="-122"/>
                <a:ea typeface="微软雅黑" panose="020B0503020204020204" charset="-122"/>
              </a:rPr>
              <a:t>在内核空间中为每一个内核支持线程设置了一个线程控制块</a:t>
            </a:r>
            <a:r>
              <a:rPr kumimoji="1" lang="en-US" altLang="zh-CN" sz="2200" dirty="0">
                <a:solidFill>
                  <a:srgbClr val="FF0000"/>
                </a:solidFill>
                <a:latin typeface="微软雅黑" panose="020B0503020204020204" charset="-122"/>
                <a:ea typeface="微软雅黑" panose="020B0503020204020204" charset="-122"/>
              </a:rPr>
              <a:t>TCB</a:t>
            </a:r>
            <a:r>
              <a:rPr kumimoji="1" lang="zh-CN" altLang="en-US" sz="2200" dirty="0">
                <a:latin typeface="微软雅黑" panose="020B0503020204020204" charset="-122"/>
                <a:ea typeface="微软雅黑" panose="020B0503020204020204" charset="-122"/>
              </a:rPr>
              <a:t>， 内核是根据该控制块而感知某线程的存在的，并对其加以控制。 </a:t>
            </a:r>
            <a:endParaRPr kumimoji="1" lang="zh-CN" altLang="en-US" sz="2200" dirty="0">
              <a:latin typeface="微软雅黑" panose="020B0503020204020204" charset="-122"/>
              <a:ea typeface="微软雅黑" panose="020B0503020204020204" charset="-122"/>
            </a:endParaRPr>
          </a:p>
        </p:txBody>
      </p:sp>
      <p:sp>
        <p:nvSpPr>
          <p:cNvPr id="6" name="Rectangle 3"/>
          <p:cNvSpPr txBox="1">
            <a:spLocks noChangeArrowheads="1"/>
          </p:cNvSpPr>
          <p:nvPr/>
        </p:nvSpPr>
        <p:spPr>
          <a:xfrm>
            <a:off x="838200" y="3962400"/>
            <a:ext cx="7543165" cy="2314575"/>
          </a:xfrm>
          <a:prstGeom prst="rect">
            <a:avLst/>
          </a:prstGeom>
          <a:noFill/>
        </p:spPr>
        <p:txBody>
          <a:bodyPr/>
          <a:lstStyle>
            <a:lvl1pPr marL="171450" indent="-171450" algn="l" defTabSz="685800" rtl="0" eaLnBrk="1" latinLnBrk="0" hangingPunct="1">
              <a:lnSpc>
                <a:spcPct val="100000"/>
              </a:lnSpc>
              <a:spcBef>
                <a:spcPts val="1350"/>
              </a:spcBef>
              <a:buClr>
                <a:schemeClr val="accent1">
                  <a:lumMod val="75000"/>
                </a:schemeClr>
              </a:buClr>
              <a:buSzPct val="100000"/>
              <a:buFont typeface="Arial" panose="020B0604020202020204" pitchFamily="34" charset="0"/>
              <a:buChar char="▪"/>
              <a:defRPr sz="2400" b="1" kern="1200">
                <a:solidFill>
                  <a:schemeClr val="tx1"/>
                </a:solidFill>
                <a:latin typeface="华文楷体" panose="02010600040101010101" pitchFamily="2" charset="-122"/>
                <a:ea typeface="华文楷体" panose="02010600040101010101" pitchFamily="2" charset="-122"/>
                <a:cs typeface="+mn-cs"/>
              </a:defRPr>
            </a:lvl1pPr>
            <a:lvl2pPr marL="342900" indent="-137160" algn="l" defTabSz="685800" rtl="0" eaLnBrk="1" latinLnBrk="0" hangingPunct="1">
              <a:lnSpc>
                <a:spcPct val="100000"/>
              </a:lnSpc>
              <a:spcBef>
                <a:spcPts val="900"/>
              </a:spcBef>
              <a:buClr>
                <a:schemeClr val="accent1">
                  <a:lumMod val="75000"/>
                </a:schemeClr>
              </a:buClr>
              <a:buSzPct val="100000"/>
              <a:buFont typeface="Arial" panose="020B0604020202020204" pitchFamily="34" charset="0"/>
              <a:buChar char="▪"/>
              <a:defRPr sz="2100" b="1" kern="1200">
                <a:solidFill>
                  <a:schemeClr val="tx1"/>
                </a:solidFill>
                <a:latin typeface="微软雅黑" panose="020B0503020204020204" charset="-122"/>
                <a:ea typeface="微软雅黑" panose="020B0503020204020204" charset="-122"/>
                <a:cs typeface="+mn-cs"/>
              </a:defRPr>
            </a:lvl2pPr>
            <a:lvl3pPr marL="514350" indent="-13462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800" b="1" kern="1200">
                <a:solidFill>
                  <a:schemeClr val="tx1"/>
                </a:solidFill>
                <a:latin typeface="微软雅黑" panose="020B0503020204020204" charset="-122"/>
                <a:ea typeface="微软雅黑" panose="020B0503020204020204" charset="-122"/>
                <a:cs typeface="+mn-cs"/>
              </a:defRPr>
            </a:lvl3pPr>
            <a:lvl4pPr marL="685800" indent="-137160" algn="l" defTabSz="685800" rtl="0" eaLnBrk="1" latinLnBrk="0" hangingPunct="1">
              <a:lnSpc>
                <a:spcPct val="100000"/>
              </a:lnSpc>
              <a:spcBef>
                <a:spcPts val="600"/>
              </a:spcBef>
              <a:buClr>
                <a:schemeClr val="accent1">
                  <a:lumMod val="75000"/>
                </a:schemeClr>
              </a:buClr>
              <a:buSzPct val="100000"/>
              <a:buFont typeface="Arial" panose="020B0604020202020204" pitchFamily="34" charset="0"/>
              <a:buChar char="▪"/>
              <a:defRPr sz="1500" b="1" kern="1200">
                <a:solidFill>
                  <a:schemeClr val="tx1"/>
                </a:solidFill>
                <a:latin typeface="微软雅黑" panose="020B0503020204020204" charset="-122"/>
                <a:ea typeface="微软雅黑" panose="020B0503020204020204" charset="-122"/>
                <a:cs typeface="+mn-cs"/>
              </a:defRPr>
            </a:lvl4pPr>
            <a:lvl5pPr marL="857250" indent="-134620" algn="l" defTabSz="685800" rtl="0" eaLnBrk="1" latinLnBrk="0" hangingPunct="1">
              <a:lnSpc>
                <a:spcPct val="100000"/>
              </a:lnSpc>
              <a:spcBef>
                <a:spcPts val="450"/>
              </a:spcBef>
              <a:buClr>
                <a:schemeClr val="accent1">
                  <a:lumMod val="75000"/>
                </a:schemeClr>
              </a:buClr>
              <a:buSzPct val="100000"/>
              <a:buFont typeface="Arial" panose="020B0604020202020204" pitchFamily="34" charset="0"/>
              <a:buChar char="▪"/>
              <a:defRPr sz="1350" b="1" kern="1200">
                <a:solidFill>
                  <a:schemeClr val="tx1"/>
                </a:solidFill>
                <a:latin typeface="微软雅黑" panose="020B0503020204020204" charset="-122"/>
                <a:ea typeface="微软雅黑" panose="020B050302020402020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6pPr>
            <a:lvl7pPr marL="1200150" indent="-13462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Char char="▪"/>
              <a:defRPr sz="1050" kern="1200">
                <a:solidFill>
                  <a:schemeClr val="tx1"/>
                </a:solidFill>
                <a:latin typeface="+mn-lt"/>
                <a:ea typeface="+mn-ea"/>
                <a:cs typeface="+mn-cs"/>
              </a:defRPr>
            </a:lvl8pPr>
            <a:lvl9pPr marL="1408430" indent="0" algn="l" defTabSz="685800" rtl="0" eaLnBrk="1" latinLnBrk="0" hangingPunct="1">
              <a:lnSpc>
                <a:spcPct val="90000"/>
              </a:lnSpc>
              <a:spcBef>
                <a:spcPts val="450"/>
              </a:spcBef>
              <a:buClr>
                <a:schemeClr val="accent1">
                  <a:lumMod val="75000"/>
                </a:schemeClr>
              </a:buClr>
              <a:buSzPct val="100000"/>
              <a:buFont typeface="Arial" panose="020B0604020202020204" pitchFamily="34" charset="0"/>
              <a:buNone/>
              <a:defRPr sz="1050" kern="1200">
                <a:solidFill>
                  <a:schemeClr val="tx1"/>
                </a:solidFill>
                <a:latin typeface="+mn-lt"/>
                <a:ea typeface="+mn-ea"/>
                <a:cs typeface="+mn-cs"/>
              </a:defRPr>
            </a:lvl9pPr>
          </a:lstStyle>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所有线程管理由内核完成</a:t>
            </a:r>
            <a:endParaRPr lang="zh-CN" altLang="en-US"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没有线程库，但内核提供</a:t>
            </a:r>
            <a:r>
              <a:rPr lang="en-US" altLang="zh-CN" sz="2200" dirty="0" smtClean="0">
                <a:solidFill>
                  <a:srgbClr val="000000"/>
                </a:solidFill>
                <a:latin typeface="微软雅黑" panose="020B0503020204020204" charset="-122"/>
                <a:ea typeface="微软雅黑" panose="020B0503020204020204" charset="-122"/>
              </a:rPr>
              <a:t>API</a:t>
            </a:r>
            <a:endParaRPr lang="en-US" altLang="zh-CN"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线程的创建、撤消是依靠内核实现的</a:t>
            </a:r>
            <a:endParaRPr lang="zh-CN" altLang="en-US"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线程之间的切换需要内核支持</a:t>
            </a:r>
            <a:endParaRPr lang="zh-CN" altLang="en-US"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以线程为基础进行调度</a:t>
            </a:r>
            <a:endParaRPr lang="zh-CN" altLang="en-US" sz="2200" dirty="0" smtClean="0">
              <a:solidFill>
                <a:srgbClr val="000000"/>
              </a:solidFill>
              <a:latin typeface="微软雅黑" panose="020B0503020204020204" charset="-122"/>
              <a:ea typeface="微软雅黑" panose="020B0503020204020204" charset="-122"/>
            </a:endParaRPr>
          </a:p>
          <a:p>
            <a:pPr>
              <a:lnSpc>
                <a:spcPct val="120000"/>
              </a:lnSpc>
              <a:spcBef>
                <a:spcPts val="0"/>
              </a:spcBef>
            </a:pPr>
            <a:r>
              <a:rPr lang="zh-CN" altLang="en-US" sz="2200" dirty="0" smtClean="0">
                <a:solidFill>
                  <a:srgbClr val="000000"/>
                </a:solidFill>
                <a:latin typeface="微软雅黑" panose="020B0503020204020204" charset="-122"/>
                <a:ea typeface="微软雅黑" panose="020B0503020204020204" charset="-122"/>
              </a:rPr>
              <a:t>内核是根据每个线程的控制块来控制线程的</a:t>
            </a:r>
            <a:endParaRPr lang="zh-CN" altLang="en-US" sz="2200" dirty="0" smtClean="0">
              <a:solidFill>
                <a:srgbClr val="000000"/>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ox(i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ox(i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ox(i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ox(i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ox(i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box(i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noChangeArrowheads="1"/>
          </p:cNvSpPr>
          <p:nvPr/>
        </p:nvSpPr>
        <p:spPr>
          <a:xfrm>
            <a:off x="-228600" y="304801"/>
            <a:ext cx="8763000" cy="67627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r>
              <a:rPr lang="zh-CN" altLang="en-US" sz="2800" dirty="0">
                <a:solidFill>
                  <a:srgbClr val="0070C0"/>
                </a:solidFill>
              </a:rPr>
              <a:t>内核支持线程的工作模型</a:t>
            </a:r>
            <a:endParaRPr lang="zh-CN" altLang="en-US" sz="2800" dirty="0">
              <a:solidFill>
                <a:srgbClr val="0070C0"/>
              </a:solidFill>
            </a:endParaRPr>
          </a:p>
        </p:txBody>
      </p:sp>
      <p:sp>
        <p:nvSpPr>
          <p:cNvPr id="199683" name="Rectangle 3"/>
          <p:cNvSpPr>
            <a:spLocks noChangeArrowheads="1"/>
          </p:cNvSpPr>
          <p:nvPr/>
        </p:nvSpPr>
        <p:spPr bwMode="auto">
          <a:xfrm>
            <a:off x="76200" y="5764214"/>
            <a:ext cx="84582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dirty="0">
                <a:solidFill>
                  <a:srgbClr val="FF0000"/>
                </a:solidFill>
              </a:rPr>
              <a:t>用户创建的就是核心级线程</a:t>
            </a:r>
            <a:r>
              <a:rPr lang="en-US" altLang="zh-CN" dirty="0">
                <a:solidFill>
                  <a:srgbClr val="FF0000"/>
                </a:solidFill>
              </a:rPr>
              <a:t>!  </a:t>
            </a:r>
            <a:r>
              <a:rPr lang="en-US" altLang="zh-CN" dirty="0">
                <a:solidFill>
                  <a:srgbClr val="FF0000"/>
                </a:solidFill>
                <a:sym typeface="Symbol" panose="05050102010706020507" pitchFamily="18" charset="2"/>
              </a:rPr>
              <a:t></a:t>
            </a:r>
            <a:r>
              <a:rPr lang="en-US" altLang="zh-CN" dirty="0">
                <a:solidFill>
                  <a:srgbClr val="FF0000"/>
                </a:solidFill>
              </a:rPr>
              <a:t> </a:t>
            </a:r>
            <a:r>
              <a:rPr lang="zh-CN" altLang="en-US" dirty="0">
                <a:solidFill>
                  <a:srgbClr val="FF0000"/>
                </a:solidFill>
              </a:rPr>
              <a:t>系统调用</a:t>
            </a:r>
            <a:endParaRPr lang="zh-CN" altLang="en-US" dirty="0">
              <a:solidFill>
                <a:srgbClr val="FF0000"/>
              </a:solidFill>
            </a:endParaRPr>
          </a:p>
        </p:txBody>
      </p:sp>
      <p:grpSp>
        <p:nvGrpSpPr>
          <p:cNvPr id="199753" name="Group 73"/>
          <p:cNvGrpSpPr/>
          <p:nvPr/>
        </p:nvGrpSpPr>
        <p:grpSpPr bwMode="auto">
          <a:xfrm>
            <a:off x="441326" y="1143000"/>
            <a:ext cx="6645275" cy="4572000"/>
            <a:chOff x="662" y="720"/>
            <a:chExt cx="4042" cy="2880"/>
          </a:xfrm>
        </p:grpSpPr>
        <p:sp>
          <p:nvSpPr>
            <p:cNvPr id="199685" name="Rectangle 5"/>
            <p:cNvSpPr>
              <a:spLocks noChangeArrowheads="1"/>
            </p:cNvSpPr>
            <p:nvPr/>
          </p:nvSpPr>
          <p:spPr bwMode="auto">
            <a:xfrm>
              <a:off x="3531" y="1015"/>
              <a:ext cx="837"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686" name="Rectangle 6"/>
            <p:cNvSpPr>
              <a:spLocks noChangeArrowheads="1"/>
            </p:cNvSpPr>
            <p:nvPr/>
          </p:nvSpPr>
          <p:spPr bwMode="auto">
            <a:xfrm>
              <a:off x="1600" y="1015"/>
              <a:ext cx="1472"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687" name="Line 7"/>
            <p:cNvSpPr>
              <a:spLocks noChangeShapeType="1"/>
            </p:cNvSpPr>
            <p:nvPr/>
          </p:nvSpPr>
          <p:spPr bwMode="auto">
            <a:xfrm>
              <a:off x="720" y="1872"/>
              <a:ext cx="3984"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nvGrpSpPr>
            <p:cNvPr id="199692" name="Group 12"/>
            <p:cNvGrpSpPr/>
            <p:nvPr/>
          </p:nvGrpSpPr>
          <p:grpSpPr bwMode="auto">
            <a:xfrm>
              <a:off x="2304" y="2400"/>
              <a:ext cx="288" cy="288"/>
              <a:chOff x="832" y="2920"/>
              <a:chExt cx="288" cy="288"/>
            </a:xfrm>
          </p:grpSpPr>
          <p:sp>
            <p:nvSpPr>
              <p:cNvPr id="199693" name="Oval 13"/>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694" name="Freeform 14"/>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99700" name="Group 20"/>
            <p:cNvGrpSpPr/>
            <p:nvPr/>
          </p:nvGrpSpPr>
          <p:grpSpPr bwMode="auto">
            <a:xfrm>
              <a:off x="2928" y="3217"/>
              <a:ext cx="272" cy="288"/>
              <a:chOff x="888" y="3472"/>
              <a:chExt cx="272" cy="288"/>
            </a:xfrm>
          </p:grpSpPr>
          <p:sp>
            <p:nvSpPr>
              <p:cNvPr id="199701" name="Rectangle 21"/>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02" name="Text Box 22"/>
              <p:cNvSpPr txBox="1">
                <a:spLocks noChangeArrowheads="1"/>
              </p:cNvSpPr>
              <p:nvPr/>
            </p:nvSpPr>
            <p:spPr bwMode="auto">
              <a:xfrm>
                <a:off x="913" y="3472"/>
                <a:ext cx="2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grpSp>
          <p:nvGrpSpPr>
            <p:cNvPr id="199703" name="Group 23"/>
            <p:cNvGrpSpPr/>
            <p:nvPr/>
          </p:nvGrpSpPr>
          <p:grpSpPr bwMode="auto">
            <a:xfrm>
              <a:off x="3648" y="3217"/>
              <a:ext cx="272" cy="288"/>
              <a:chOff x="888" y="3472"/>
              <a:chExt cx="272" cy="288"/>
            </a:xfrm>
          </p:grpSpPr>
          <p:sp>
            <p:nvSpPr>
              <p:cNvPr id="199704" name="Rectangle 24"/>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05" name="Text Box 25"/>
              <p:cNvSpPr txBox="1">
                <a:spLocks noChangeArrowheads="1"/>
              </p:cNvSpPr>
              <p:nvPr/>
            </p:nvSpPr>
            <p:spPr bwMode="auto">
              <a:xfrm>
                <a:off x="913" y="3472"/>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sp>
          <p:nvSpPr>
            <p:cNvPr id="199706" name="Text Box 26"/>
            <p:cNvSpPr txBox="1">
              <a:spLocks noChangeArrowheads="1"/>
            </p:cNvSpPr>
            <p:nvPr/>
          </p:nvSpPr>
          <p:spPr bwMode="auto">
            <a:xfrm>
              <a:off x="1557" y="720"/>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进程 </a:t>
              </a:r>
              <a:r>
                <a:rPr lang="en-US" altLang="zh-CN" sz="2400" b="1">
                  <a:solidFill>
                    <a:prstClr val="black"/>
                  </a:solidFill>
                  <a:latin typeface="Times New Roman" panose="02020603050405020304" pitchFamily="18" charset="0"/>
                  <a:ea typeface="黑体" panose="02010609060101010101" pitchFamily="2" charset="-122"/>
                </a:rPr>
                <a:t>1</a:t>
              </a:r>
              <a:endParaRPr lang="en-US" altLang="zh-CN" sz="2400" b="1">
                <a:solidFill>
                  <a:prstClr val="black"/>
                </a:solidFill>
                <a:latin typeface="Times New Roman" panose="02020603050405020304" pitchFamily="18" charset="0"/>
                <a:ea typeface="黑体" panose="02010609060101010101" pitchFamily="2" charset="-122"/>
              </a:endParaRPr>
            </a:p>
          </p:txBody>
        </p:sp>
        <p:sp>
          <p:nvSpPr>
            <p:cNvPr id="199707" name="Line 27"/>
            <p:cNvSpPr>
              <a:spLocks noChangeShapeType="1"/>
            </p:cNvSpPr>
            <p:nvPr/>
          </p:nvSpPr>
          <p:spPr bwMode="auto">
            <a:xfrm flipV="1">
              <a:off x="720" y="3216"/>
              <a:ext cx="3984" cy="1"/>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08" name="Text Box 28"/>
            <p:cNvSpPr txBox="1">
              <a:spLocks noChangeArrowheads="1"/>
            </p:cNvSpPr>
            <p:nvPr/>
          </p:nvSpPr>
          <p:spPr bwMode="auto">
            <a:xfrm>
              <a:off x="662" y="1584"/>
              <a:ext cx="5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用户</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9709" name="Text Box 29"/>
            <p:cNvSpPr txBox="1">
              <a:spLocks noChangeArrowheads="1"/>
            </p:cNvSpPr>
            <p:nvPr/>
          </p:nvSpPr>
          <p:spPr bwMode="auto">
            <a:xfrm>
              <a:off x="672" y="2364"/>
              <a:ext cx="4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核心</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9710" name="Text Box 30"/>
            <p:cNvSpPr txBox="1">
              <a:spLocks noChangeArrowheads="1"/>
            </p:cNvSpPr>
            <p:nvPr/>
          </p:nvSpPr>
          <p:spPr bwMode="auto">
            <a:xfrm>
              <a:off x="672" y="3312"/>
              <a:ext cx="4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硬件</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9714" name="Text Box 34"/>
            <p:cNvSpPr txBox="1">
              <a:spLocks noChangeArrowheads="1"/>
            </p:cNvSpPr>
            <p:nvPr/>
          </p:nvSpPr>
          <p:spPr bwMode="auto">
            <a:xfrm>
              <a:off x="3483" y="768"/>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进程 </a:t>
              </a:r>
              <a:r>
                <a:rPr lang="en-US" altLang="zh-CN" sz="2400" b="1">
                  <a:solidFill>
                    <a:prstClr val="black"/>
                  </a:solidFill>
                  <a:latin typeface="Times New Roman" panose="02020603050405020304" pitchFamily="18" charset="0"/>
                  <a:ea typeface="黑体" panose="02010609060101010101" pitchFamily="2" charset="-122"/>
                </a:rPr>
                <a:t>2</a:t>
              </a:r>
              <a:endParaRPr lang="en-US" altLang="zh-CN" sz="2400" b="1">
                <a:solidFill>
                  <a:prstClr val="black"/>
                </a:solidFill>
                <a:latin typeface="Times New Roman" panose="02020603050405020304" pitchFamily="18" charset="0"/>
                <a:ea typeface="黑体" panose="02010609060101010101" pitchFamily="2" charset="-122"/>
              </a:endParaRPr>
            </a:p>
          </p:txBody>
        </p:sp>
        <p:sp>
          <p:nvSpPr>
            <p:cNvPr id="199716" name="Text Box 36"/>
            <p:cNvSpPr txBox="1">
              <a:spLocks noChangeArrowheads="1"/>
            </p:cNvSpPr>
            <p:nvPr/>
          </p:nvSpPr>
          <p:spPr bwMode="auto">
            <a:xfrm>
              <a:off x="1170" y="2719"/>
              <a:ext cx="5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线程 </a:t>
              </a:r>
              <a:r>
                <a:rPr lang="en-US" altLang="zh-CN" sz="2000" b="1">
                  <a:solidFill>
                    <a:srgbClr val="FF0000"/>
                  </a:solidFill>
                  <a:latin typeface="Times New Roman" panose="02020603050405020304" pitchFamily="18" charset="0"/>
                  <a:ea typeface="黑体" panose="02010609060101010101" pitchFamily="2" charset="-122"/>
                </a:rPr>
                <a:t>1</a:t>
              </a:r>
              <a:endParaRPr lang="en-US" altLang="zh-CN" sz="2000" b="1">
                <a:solidFill>
                  <a:srgbClr val="FF0000"/>
                </a:solidFill>
                <a:latin typeface="Times New Roman" panose="02020603050405020304" pitchFamily="18" charset="0"/>
                <a:ea typeface="黑体" panose="02010609060101010101" pitchFamily="2" charset="-122"/>
              </a:endParaRPr>
            </a:p>
          </p:txBody>
        </p:sp>
        <p:grpSp>
          <p:nvGrpSpPr>
            <p:cNvPr id="199717" name="Group 37"/>
            <p:cNvGrpSpPr/>
            <p:nvPr/>
          </p:nvGrpSpPr>
          <p:grpSpPr bwMode="auto">
            <a:xfrm>
              <a:off x="3792" y="2430"/>
              <a:ext cx="288" cy="288"/>
              <a:chOff x="832" y="2920"/>
              <a:chExt cx="288" cy="288"/>
            </a:xfrm>
          </p:grpSpPr>
          <p:sp>
            <p:nvSpPr>
              <p:cNvPr id="199718" name="Oval 38"/>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19" name="Freeform 39"/>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99722" name="Group 42"/>
            <p:cNvGrpSpPr/>
            <p:nvPr/>
          </p:nvGrpSpPr>
          <p:grpSpPr bwMode="auto">
            <a:xfrm>
              <a:off x="2080" y="3216"/>
              <a:ext cx="272" cy="288"/>
              <a:chOff x="888" y="3472"/>
              <a:chExt cx="272" cy="288"/>
            </a:xfrm>
          </p:grpSpPr>
          <p:sp>
            <p:nvSpPr>
              <p:cNvPr id="199723" name="Rectangle 43"/>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24" name="Text Box 44"/>
              <p:cNvSpPr txBox="1">
                <a:spLocks noChangeArrowheads="1"/>
              </p:cNvSpPr>
              <p:nvPr/>
            </p:nvSpPr>
            <p:spPr bwMode="auto">
              <a:xfrm>
                <a:off x="913" y="3472"/>
                <a:ext cx="2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grpSp>
          <p:nvGrpSpPr>
            <p:cNvPr id="199725" name="Group 45"/>
            <p:cNvGrpSpPr/>
            <p:nvPr/>
          </p:nvGrpSpPr>
          <p:grpSpPr bwMode="auto">
            <a:xfrm>
              <a:off x="1632" y="2400"/>
              <a:ext cx="288" cy="288"/>
              <a:chOff x="832" y="2920"/>
              <a:chExt cx="288" cy="288"/>
            </a:xfrm>
          </p:grpSpPr>
          <p:sp>
            <p:nvSpPr>
              <p:cNvPr id="199726" name="Oval 46"/>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27" name="Freeform 47"/>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99728" name="Group 48"/>
            <p:cNvGrpSpPr/>
            <p:nvPr/>
          </p:nvGrpSpPr>
          <p:grpSpPr bwMode="auto">
            <a:xfrm>
              <a:off x="2640" y="2400"/>
              <a:ext cx="288" cy="288"/>
              <a:chOff x="832" y="2920"/>
              <a:chExt cx="288" cy="288"/>
            </a:xfrm>
          </p:grpSpPr>
          <p:sp>
            <p:nvSpPr>
              <p:cNvPr id="199729" name="Oval 49"/>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0" name="Freeform 50"/>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99731" name="Group 51"/>
            <p:cNvGrpSpPr/>
            <p:nvPr/>
          </p:nvGrpSpPr>
          <p:grpSpPr bwMode="auto">
            <a:xfrm>
              <a:off x="1968" y="2400"/>
              <a:ext cx="288" cy="288"/>
              <a:chOff x="832" y="2920"/>
              <a:chExt cx="288" cy="288"/>
            </a:xfrm>
          </p:grpSpPr>
          <p:sp>
            <p:nvSpPr>
              <p:cNvPr id="199732" name="Oval 52"/>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3" name="Freeform 53"/>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sp>
          <p:nvSpPr>
            <p:cNvPr id="199721" name="Line 41"/>
            <p:cNvSpPr>
              <a:spLocks noChangeShapeType="1"/>
            </p:cNvSpPr>
            <p:nvPr/>
          </p:nvSpPr>
          <p:spPr bwMode="auto">
            <a:xfrm>
              <a:off x="1776" y="2688"/>
              <a:ext cx="1104"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4" name="Text Box 54"/>
            <p:cNvSpPr txBox="1">
              <a:spLocks noChangeArrowheads="1"/>
            </p:cNvSpPr>
            <p:nvPr/>
          </p:nvSpPr>
          <p:spPr bwMode="auto">
            <a:xfrm>
              <a:off x="3936" y="2719"/>
              <a:ext cx="5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线程 </a:t>
              </a:r>
              <a:r>
                <a:rPr lang="en-US" altLang="zh-CN" sz="2000" b="1">
                  <a:solidFill>
                    <a:srgbClr val="FF0000"/>
                  </a:solidFill>
                  <a:latin typeface="Times New Roman" panose="02020603050405020304" pitchFamily="18" charset="0"/>
                  <a:ea typeface="黑体" panose="02010609060101010101" pitchFamily="2" charset="-122"/>
                </a:rPr>
                <a:t>n</a:t>
              </a:r>
              <a:endParaRPr lang="en-US" altLang="zh-CN" sz="2000" b="1">
                <a:solidFill>
                  <a:srgbClr val="FF0000"/>
                </a:solidFill>
                <a:latin typeface="Times New Roman" panose="02020603050405020304" pitchFamily="18" charset="0"/>
                <a:ea typeface="黑体" panose="02010609060101010101" pitchFamily="2" charset="-122"/>
              </a:endParaRPr>
            </a:p>
          </p:txBody>
        </p:sp>
        <p:sp>
          <p:nvSpPr>
            <p:cNvPr id="199715" name="Line 35"/>
            <p:cNvSpPr>
              <a:spLocks noChangeShapeType="1"/>
            </p:cNvSpPr>
            <p:nvPr/>
          </p:nvSpPr>
          <p:spPr bwMode="auto">
            <a:xfrm flipH="1">
              <a:off x="2880" y="2736"/>
              <a:ext cx="1056" cy="192"/>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5" name="Freeform 55"/>
            <p:cNvSpPr/>
            <p:nvPr/>
          </p:nvSpPr>
          <p:spPr bwMode="auto">
            <a:xfrm>
              <a:off x="2094" y="1131"/>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6" name="Line 56"/>
            <p:cNvSpPr>
              <a:spLocks noChangeShapeType="1"/>
            </p:cNvSpPr>
            <p:nvPr/>
          </p:nvSpPr>
          <p:spPr bwMode="auto">
            <a:xfrm flipH="1">
              <a:off x="2121" y="1379"/>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7" name="Freeform 57"/>
            <p:cNvSpPr/>
            <p:nvPr/>
          </p:nvSpPr>
          <p:spPr bwMode="auto">
            <a:xfrm>
              <a:off x="2421" y="1131"/>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8" name="Line 58"/>
            <p:cNvSpPr>
              <a:spLocks noChangeShapeType="1"/>
            </p:cNvSpPr>
            <p:nvPr/>
          </p:nvSpPr>
          <p:spPr bwMode="auto">
            <a:xfrm flipH="1">
              <a:off x="2448" y="1379"/>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39" name="Freeform 59"/>
            <p:cNvSpPr/>
            <p:nvPr/>
          </p:nvSpPr>
          <p:spPr bwMode="auto">
            <a:xfrm>
              <a:off x="2766" y="1143"/>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0" name="Line 60"/>
            <p:cNvSpPr>
              <a:spLocks noChangeShapeType="1"/>
            </p:cNvSpPr>
            <p:nvPr/>
          </p:nvSpPr>
          <p:spPr bwMode="auto">
            <a:xfrm flipH="1">
              <a:off x="2793" y="1391"/>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1" name="Freeform 61"/>
            <p:cNvSpPr/>
            <p:nvPr/>
          </p:nvSpPr>
          <p:spPr bwMode="auto">
            <a:xfrm>
              <a:off x="1737" y="1137"/>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2" name="Line 62"/>
            <p:cNvSpPr>
              <a:spLocks noChangeShapeType="1"/>
            </p:cNvSpPr>
            <p:nvPr/>
          </p:nvSpPr>
          <p:spPr bwMode="auto">
            <a:xfrm flipH="1">
              <a:off x="1764" y="1385"/>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3" name="Freeform 63"/>
            <p:cNvSpPr/>
            <p:nvPr/>
          </p:nvSpPr>
          <p:spPr bwMode="auto">
            <a:xfrm>
              <a:off x="3918" y="11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4" name="Line 64"/>
            <p:cNvSpPr>
              <a:spLocks noChangeShapeType="1"/>
            </p:cNvSpPr>
            <p:nvPr/>
          </p:nvSpPr>
          <p:spPr bwMode="auto">
            <a:xfrm flipH="1">
              <a:off x="3945" y="1392"/>
              <a:ext cx="5" cy="101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5" name="Line 65"/>
            <p:cNvSpPr>
              <a:spLocks noChangeShapeType="1"/>
            </p:cNvSpPr>
            <p:nvPr/>
          </p:nvSpPr>
          <p:spPr bwMode="auto">
            <a:xfrm>
              <a:off x="2112" y="2688"/>
              <a:ext cx="768"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6" name="Line 66"/>
            <p:cNvSpPr>
              <a:spLocks noChangeShapeType="1"/>
            </p:cNvSpPr>
            <p:nvPr/>
          </p:nvSpPr>
          <p:spPr bwMode="auto">
            <a:xfrm>
              <a:off x="2448" y="2688"/>
              <a:ext cx="432"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47" name="Line 67"/>
            <p:cNvSpPr>
              <a:spLocks noChangeShapeType="1"/>
            </p:cNvSpPr>
            <p:nvPr/>
          </p:nvSpPr>
          <p:spPr bwMode="auto">
            <a:xfrm>
              <a:off x="2784" y="2688"/>
              <a:ext cx="96" cy="2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50" name="Line 70"/>
            <p:cNvSpPr>
              <a:spLocks noChangeShapeType="1"/>
            </p:cNvSpPr>
            <p:nvPr/>
          </p:nvSpPr>
          <p:spPr bwMode="auto">
            <a:xfrm flipH="1">
              <a:off x="2160" y="2928"/>
              <a:ext cx="720"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51" name="Line 71"/>
            <p:cNvSpPr>
              <a:spLocks noChangeShapeType="1"/>
            </p:cNvSpPr>
            <p:nvPr/>
          </p:nvSpPr>
          <p:spPr bwMode="auto">
            <a:xfrm flipH="1" flipV="1">
              <a:off x="2880" y="2928"/>
              <a:ext cx="912"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99752" name="Line 72"/>
            <p:cNvSpPr>
              <a:spLocks noChangeShapeType="1"/>
            </p:cNvSpPr>
            <p:nvPr/>
          </p:nvSpPr>
          <p:spPr bwMode="auto">
            <a:xfrm>
              <a:off x="2880" y="2928"/>
              <a:ext cx="144" cy="28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sp>
        <p:nvSpPr>
          <p:cNvPr id="3" name="矩形 2"/>
          <p:cNvSpPr/>
          <p:nvPr/>
        </p:nvSpPr>
        <p:spPr>
          <a:xfrm>
            <a:off x="6303488" y="304801"/>
            <a:ext cx="2179158" cy="646331"/>
          </a:xfrm>
          <a:prstGeom prst="rect">
            <a:avLst/>
          </a:prstGeom>
          <a:solidFill>
            <a:srgbClr val="FFC000"/>
          </a:solidFill>
        </p:spPr>
        <p:txBody>
          <a:bodyPr wrap="square">
            <a:spAutoFit/>
          </a:bodyPr>
          <a:lstStyle/>
          <a:p>
            <a:pPr defTabSz="457200">
              <a:defRPr/>
            </a:pPr>
            <a:r>
              <a:rPr lang="zh-CN" altLang="en-US" dirty="0">
                <a:solidFill>
                  <a:prstClr val="black"/>
                </a:solidFill>
                <a:latin typeface="Arial" panose="020B0604020202020204"/>
                <a:ea typeface="黑体" panose="02010609060101010101" pitchFamily="2" charset="-122"/>
              </a:rPr>
              <a:t>内核级线程对多核的支持怎么样？</a:t>
            </a:r>
            <a:endParaRPr lang="zh-CN" altLang="en-US" dirty="0">
              <a:solidFill>
                <a:prstClr val="black"/>
              </a:solidFill>
              <a:latin typeface="Arial" panose="020B0604020202020204"/>
              <a:ea typeface="黑体" panose="02010609060101010101" pitchFamily="2" charset="-122"/>
            </a:endParaRPr>
          </a:p>
        </p:txBody>
      </p:sp>
      <p:pic>
        <p:nvPicPr>
          <p:cNvPr id="2" name="图片 1"/>
          <p:cNvPicPr>
            <a:picLocks noChangeAspect="1"/>
          </p:cNvPicPr>
          <p:nvPr/>
        </p:nvPicPr>
        <p:blipFill>
          <a:blip r:embed="rId1"/>
          <a:stretch>
            <a:fillRect/>
          </a:stretch>
        </p:blipFill>
        <p:spPr>
          <a:xfrm>
            <a:off x="7007819" y="1489061"/>
            <a:ext cx="1412111" cy="978061"/>
          </a:xfrm>
          <a:prstGeom prst="rect">
            <a:avLst/>
          </a:prstGeom>
        </p:spPr>
      </p:pic>
      <p:pic>
        <p:nvPicPr>
          <p:cNvPr id="4" name="图片 3"/>
          <p:cNvPicPr>
            <a:picLocks noChangeAspect="1"/>
          </p:cNvPicPr>
          <p:nvPr/>
        </p:nvPicPr>
        <p:blipFill>
          <a:blip r:embed="rId2"/>
          <a:stretch>
            <a:fillRect/>
          </a:stretch>
        </p:blipFill>
        <p:spPr>
          <a:xfrm>
            <a:off x="7007818" y="3244771"/>
            <a:ext cx="1412111" cy="978061"/>
          </a:xfrm>
          <a:prstGeom prst="rect">
            <a:avLst/>
          </a:prstGeom>
        </p:spPr>
      </p:pic>
      <p:sp>
        <p:nvSpPr>
          <p:cNvPr id="5" name="矩形 4"/>
          <p:cNvSpPr/>
          <p:nvPr/>
        </p:nvSpPr>
        <p:spPr>
          <a:xfrm>
            <a:off x="7086600" y="1205775"/>
            <a:ext cx="1107996" cy="369332"/>
          </a:xfrm>
          <a:prstGeom prst="rect">
            <a:avLst/>
          </a:prstGeom>
        </p:spPr>
        <p:txBody>
          <a:bodyPr wrap="none">
            <a:spAutoFit/>
          </a:bodyPr>
          <a:lstStyle/>
          <a:p>
            <a:pPr defTabSz="457200">
              <a:defRPr/>
            </a:pPr>
            <a:r>
              <a:rPr lang="zh-CN" altLang="en-US" dirty="0">
                <a:solidFill>
                  <a:prstClr val="black"/>
                </a:solidFill>
                <a:latin typeface="宋体" panose="02010600030101010101" pitchFamily="2" charset="-122"/>
                <a:ea typeface="宋体" panose="02010600030101010101" pitchFamily="2" charset="-122"/>
              </a:rPr>
              <a:t>多处理器</a:t>
            </a:r>
            <a:endParaRPr lang="zh-CN" altLang="en-US" dirty="0">
              <a:solidFill>
                <a:prstClr val="black"/>
              </a:solidFill>
              <a:latin typeface="Arial" panose="020B0604020202020204"/>
              <a:ea typeface="黑体" panose="02010609060101010101" pitchFamily="2" charset="-122"/>
            </a:endParaRPr>
          </a:p>
        </p:txBody>
      </p:sp>
      <p:sp>
        <p:nvSpPr>
          <p:cNvPr id="6" name="矩形 5"/>
          <p:cNvSpPr/>
          <p:nvPr/>
        </p:nvSpPr>
        <p:spPr>
          <a:xfrm>
            <a:off x="7206176" y="2875438"/>
            <a:ext cx="646331" cy="369332"/>
          </a:xfrm>
          <a:prstGeom prst="rect">
            <a:avLst/>
          </a:prstGeom>
        </p:spPr>
        <p:txBody>
          <a:bodyPr wrap="none">
            <a:spAutoFit/>
          </a:bodyPr>
          <a:lstStyle/>
          <a:p>
            <a:pPr defTabSz="457200">
              <a:defRPr/>
            </a:pPr>
            <a:r>
              <a:rPr lang="zh-CN" altLang="en-US" dirty="0">
                <a:solidFill>
                  <a:prstClr val="black"/>
                </a:solidFill>
                <a:latin typeface="宋体" panose="02010600030101010101" pitchFamily="2" charset="-122"/>
                <a:ea typeface="宋体" panose="02010600030101010101" pitchFamily="2" charset="-122"/>
              </a:rPr>
              <a:t>多核</a:t>
            </a:r>
            <a:endParaRPr lang="zh-CN" altLang="en-US" dirty="0">
              <a:solidFill>
                <a:prstClr val="black"/>
              </a:solidFill>
              <a:latin typeface="Arial" panose="020B0604020202020204"/>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9683"/>
                                        </p:tgtEl>
                                        <p:attrNameLst>
                                          <p:attrName>style.visibility</p:attrName>
                                        </p:attrNameLst>
                                      </p:cBhvr>
                                      <p:to>
                                        <p:strVal val="visible"/>
                                      </p:to>
                                    </p:set>
                                    <p:animEffect transition="in" filter="dissolve">
                                      <p:cBhvr>
                                        <p:cTn id="7" dur="500"/>
                                        <p:tgtEl>
                                          <p:spTgt spid="19968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ldLvl="0" animBg="1"/>
      <p:bldP spid="3" grpId="0" bldLvl="0" animBg="1"/>
      <p:bldP spid="5" grpId="0"/>
      <p:bldP spid="6"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noRot="1"/>
          </p:cNvSpPr>
          <p:nvPr>
            <p:ph type="title"/>
          </p:nvPr>
        </p:nvSpPr>
        <p:spPr/>
        <p:txBody>
          <a:bodyPr vert="horz" wrap="square" lIns="91440" tIns="45720" rIns="91440" bIns="45720" anchor="ctr" anchorCtr="0"/>
          <a:p>
            <a:endParaRPr lang="zh-CN" altLang="en-US" dirty="0"/>
          </a:p>
        </p:txBody>
      </p:sp>
      <p:sp>
        <p:nvSpPr>
          <p:cNvPr id="478212" name="Text Box 4"/>
          <p:cNvSpPr txBox="1">
            <a:spLocks noGrp="1" noChangeArrowheads="1"/>
          </p:cNvSpPr>
          <p:nvPr>
            <p:ph idx="1"/>
          </p:nvPr>
        </p:nvSpPr>
        <p:spPr>
          <a:effectLst>
            <a:prstShdw prst="shdw18" dist="17961" dir="13500000">
              <a:schemeClr val="accent1">
                <a:gamma/>
                <a:shade val="60000"/>
                <a:invGamma/>
              </a:schemeClr>
            </a:prstShdw>
          </a:effec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rgbClr val="FF0000"/>
                </a:solidFill>
                <a:effectLst/>
                <a:uLnTx/>
                <a:uFillTx/>
                <a:latin typeface="+mn-lt"/>
                <a:ea typeface="+mn-ea"/>
                <a:cs typeface="+mn-cs"/>
              </a:rPr>
              <a:t>内核支持线程的主要缺点是：</a:t>
            </a:r>
            <a:endParaRPr kumimoji="0" lang="zh-CN" altLang="en-US" sz="3200" b="1" i="0" u="none" strike="noStrike" kern="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对于线程切换而言，其模式切换的开销较大，在同一个进程中，从一个线程切换到另一个线程时，需要从用户态转到内核态进行，</a:t>
            </a:r>
            <a:r>
              <a:rPr kumimoji="0" lang="zh-CN" altLang="zh-CN" sz="3200" b="0" i="0" u="none" strike="noStrike" kern="0" cap="none" spc="0" normalizeH="0" baseline="0" noProof="0" dirty="0">
                <a:ln>
                  <a:noFill/>
                </a:ln>
                <a:solidFill>
                  <a:schemeClr val="tx1"/>
                </a:solidFill>
                <a:effectLst/>
                <a:uLnTx/>
                <a:uFillTx/>
                <a:latin typeface="+mn-lt"/>
                <a:ea typeface="+mn-ea"/>
                <a:cs typeface="+mn-cs"/>
              </a:rPr>
              <a:t>切换完毕要从内核态返回用户态</a:t>
            </a:r>
            <a:r>
              <a:rPr kumimoji="0" lang="en-US" altLang="zh-CN" sz="3200" b="0" i="0" u="none" strike="noStrike" kern="0" cap="none" spc="0" normalizeH="0" baseline="0" noProof="0" dirty="0">
                <a:ln>
                  <a:noFill/>
                </a:ln>
                <a:solidFill>
                  <a:schemeClr val="tx1"/>
                </a:solidFill>
                <a:effectLst/>
                <a:uLnTx/>
                <a:uFillTx/>
                <a:latin typeface="+mn-lt"/>
                <a:ea typeface="+mn-ea"/>
                <a:cs typeface="+mn-cs"/>
              </a:rPr>
              <a:t>.</a:t>
            </a:r>
            <a:endParaRPr kumimoji="0" lang="zh-CN" altLang="zh-CN"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Char char="¡"/>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这是因为</a:t>
            </a:r>
            <a:r>
              <a:rPr kumimoji="0" lang="zh-CN" altLang="en-US" sz="3200" b="1" i="1" u="sng" strike="noStrike" kern="0" cap="none" spc="0" normalizeH="0" baseline="0" noProof="0" dirty="0" smtClean="0">
                <a:ln>
                  <a:noFill/>
                </a:ln>
                <a:solidFill>
                  <a:schemeClr val="folHlink"/>
                </a:solidFill>
                <a:effectLst/>
                <a:uLnTx/>
                <a:uFillTx/>
                <a:latin typeface="+mn-lt"/>
                <a:ea typeface="+mn-ea"/>
                <a:cs typeface="+mn-cs"/>
              </a:rPr>
              <a:t>用户进程的线程在用户态运行，而线程调度和管理是在内核实现的</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，系统开销较大。</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50000"/>
              </a:spcBef>
              <a:spcAft>
                <a:spcPct val="0"/>
              </a:spcAft>
              <a:buClrTx/>
              <a:buSzTx/>
              <a:buFontTx/>
              <a:buNone/>
              <a:defRPr/>
            </a:pPr>
            <a:endParaRPr kumimoji="0" lang="zh-CN" altLang="en-US" sz="24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内容占位符 2"/>
          <p:cNvSpPr>
            <a:spLocks noGrp="1"/>
          </p:cNvSpPr>
          <p:nvPr>
            <p:ph idx="1"/>
          </p:nvPr>
        </p:nvSpPr>
        <p:spPr>
          <a:xfrm>
            <a:off x="304800" y="457200"/>
            <a:ext cx="8540750" cy="4498975"/>
          </a:xfrm>
        </p:spPr>
        <p:txBody>
          <a:bodyPr vert="horz" wrap="square" lIns="91440" tIns="45720" rIns="91440" bIns="45720" anchor="t" anchorCtr="0"/>
          <a:p>
            <a:r>
              <a:rPr lang="en-US" altLang="zh-CN" sz="2800" dirty="0"/>
              <a:t>include/linux/kthread.h</a:t>
            </a:r>
            <a:r>
              <a:rPr lang="zh-CN" altLang="en-US" sz="2800" dirty="0"/>
              <a:t>，你就看到了它全部的</a:t>
            </a:r>
            <a:r>
              <a:rPr lang="en-US" altLang="zh-CN" sz="2800" dirty="0"/>
              <a:t>API</a:t>
            </a:r>
            <a:r>
              <a:rPr lang="zh-CN" altLang="en-US" sz="2800" dirty="0"/>
              <a:t>，一共三个函数。</a:t>
            </a:r>
            <a:endParaRPr lang="en-US" altLang="zh-CN" sz="2800" dirty="0"/>
          </a:p>
          <a:p>
            <a:endParaRPr lang="en-US" altLang="zh-CN" dirty="0"/>
          </a:p>
          <a:p>
            <a:endParaRPr lang="en-US" altLang="zh-CN" dirty="0"/>
          </a:p>
          <a:p>
            <a:endParaRPr lang="en-US" altLang="zh-CN" dirty="0"/>
          </a:p>
          <a:p>
            <a:endParaRPr lang="en-US" altLang="zh-CN" sz="2800" dirty="0"/>
          </a:p>
          <a:p>
            <a:r>
              <a:rPr lang="en-US" altLang="zh-CN" sz="2000" dirty="0"/>
              <a:t>kthread_run()</a:t>
            </a:r>
            <a:r>
              <a:rPr lang="zh-CN" altLang="en-US" sz="2000" dirty="0"/>
              <a:t>负责内核线程的创建，</a:t>
            </a:r>
            <a:endParaRPr lang="en-US" altLang="zh-CN" sz="2000" dirty="0"/>
          </a:p>
          <a:p>
            <a:r>
              <a:rPr lang="en-US" altLang="zh-CN" sz="2400" dirty="0"/>
              <a:t> kthread_stop()</a:t>
            </a:r>
            <a:r>
              <a:rPr lang="zh-CN" altLang="en-US" sz="2400" dirty="0"/>
              <a:t>负责结束创建的线程，参数是创建时返回的</a:t>
            </a:r>
            <a:r>
              <a:rPr lang="en-US" altLang="zh-CN" sz="2400" dirty="0"/>
              <a:t>task_struct</a:t>
            </a:r>
            <a:r>
              <a:rPr lang="zh-CN" altLang="en-US" sz="2400" dirty="0"/>
              <a:t>指针。</a:t>
            </a:r>
            <a:endParaRPr lang="en-US" altLang="zh-CN" sz="2400" dirty="0"/>
          </a:p>
          <a:p>
            <a:r>
              <a:rPr lang="en-US" altLang="zh-CN" sz="2400" dirty="0"/>
              <a:t>kthread_should_stop()</a:t>
            </a:r>
            <a:r>
              <a:rPr lang="zh-CN" altLang="en-US" sz="2400" dirty="0"/>
              <a:t>返回</a:t>
            </a:r>
            <a:r>
              <a:rPr lang="en-US" altLang="zh-CN" sz="2400" dirty="0"/>
              <a:t>should_stop</a:t>
            </a:r>
            <a:r>
              <a:rPr lang="zh-CN" altLang="en-US" sz="2400" dirty="0"/>
              <a:t>标志。它用于创建的线程检查结束标志，并决定是否退出。</a:t>
            </a:r>
            <a:endParaRPr lang="en-US" altLang="zh-CN" sz="2000" dirty="0"/>
          </a:p>
          <a:p>
            <a:endParaRPr lang="zh-CN" altLang="en-US" dirty="0"/>
          </a:p>
        </p:txBody>
      </p:sp>
      <p:pic>
        <p:nvPicPr>
          <p:cNvPr id="200707" name="图片 4"/>
          <p:cNvPicPr>
            <a:picLocks noChangeAspect="1"/>
          </p:cNvPicPr>
          <p:nvPr/>
        </p:nvPicPr>
        <p:blipFill>
          <a:blip r:embed="rId1"/>
          <a:stretch>
            <a:fillRect/>
          </a:stretch>
        </p:blipFill>
        <p:spPr>
          <a:xfrm>
            <a:off x="533400" y="1600200"/>
            <a:ext cx="7848600" cy="1905000"/>
          </a:xfrm>
          <a:prstGeom prst="rect">
            <a:avLst/>
          </a:prstGeom>
          <a:noFill/>
          <a:ln w="9525">
            <a:noFill/>
          </a:ln>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标题 1"/>
          <p:cNvSpPr>
            <a:spLocks noGrp="1"/>
          </p:cNvSpPr>
          <p:nvPr>
            <p:ph type="title"/>
          </p:nvPr>
        </p:nvSpPr>
        <p:spPr/>
        <p:txBody>
          <a:bodyPr vert="horz" wrap="square" lIns="91440" tIns="45720" rIns="91440" bIns="45720" anchor="ctr" anchorCtr="0"/>
          <a:p>
            <a:r>
              <a:rPr lang="zh-CN" altLang="en-US" dirty="0"/>
              <a:t>作业</a:t>
            </a:r>
            <a:r>
              <a:rPr lang="en-US" altLang="zh-CN" dirty="0"/>
              <a:t>5</a:t>
            </a:r>
            <a:r>
              <a:rPr lang="zh-CN" altLang="en-US" dirty="0"/>
              <a:t>：</a:t>
            </a:r>
            <a:endParaRPr lang="zh-CN" altLang="en-US" dirty="0"/>
          </a:p>
        </p:txBody>
      </p:sp>
      <p:sp>
        <p:nvSpPr>
          <p:cNvPr id="201731" name="内容占位符 2"/>
          <p:cNvSpPr>
            <a:spLocks noGrp="1"/>
          </p:cNvSpPr>
          <p:nvPr>
            <p:ph idx="1"/>
          </p:nvPr>
        </p:nvSpPr>
        <p:spPr/>
        <p:txBody>
          <a:bodyPr vert="horz" wrap="square" lIns="91440" tIns="45720" rIns="91440" bIns="45720" anchor="t" anchorCtr="0"/>
          <a:p>
            <a:r>
              <a:rPr lang="zh-CN" altLang="en-US" dirty="0"/>
              <a:t>利用上面提到的系统调用，在</a:t>
            </a:r>
            <a:r>
              <a:rPr lang="en-US" altLang="zh-CN" dirty="0"/>
              <a:t>Linux</a:t>
            </a:r>
            <a:r>
              <a:rPr lang="zh-CN" altLang="en-US" dirty="0"/>
              <a:t>系统中实现一个可加载的内核模块，里面至少包含一个内核线程。</a:t>
            </a:r>
            <a:endParaRPr lang="zh-CN" altLang="en-US"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Text Box 2"/>
          <p:cNvSpPr txBox="1"/>
          <p:nvPr/>
        </p:nvSpPr>
        <p:spPr>
          <a:xfrm>
            <a:off x="304800" y="915988"/>
            <a:ext cx="8458200" cy="51355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algn="just" eaLnBrk="1" hangingPunct="1">
              <a:lnSpc>
                <a:spcPct val="120000"/>
              </a:lnSpc>
              <a:spcBef>
                <a:spcPct val="50000"/>
              </a:spcBef>
              <a:buClrTx/>
              <a:buSzTx/>
              <a:buFontTx/>
              <a:buNone/>
            </a:pPr>
            <a:r>
              <a:rPr lang="zh-CN" altLang="en-US" sz="2800" b="1" dirty="0">
                <a:solidFill>
                  <a:srgbClr val="FF0000"/>
                </a:solidFill>
                <a:latin typeface="Times New Roman" panose="02020603050405020304" pitchFamily="18" charset="0"/>
              </a:rPr>
              <a:t>        </a:t>
            </a:r>
            <a:r>
              <a:rPr lang="en-US" altLang="zh-CN" sz="2800" b="1" dirty="0">
                <a:solidFill>
                  <a:srgbClr val="FF0000"/>
                </a:solidFill>
                <a:latin typeface="Times New Roman" panose="02020603050405020304" pitchFamily="18" charset="0"/>
              </a:rPr>
              <a:t>2. </a:t>
            </a:r>
            <a:r>
              <a:rPr lang="zh-CN" altLang="en-US" sz="2800" b="1" dirty="0">
                <a:solidFill>
                  <a:srgbClr val="FF0000"/>
                </a:solidFill>
                <a:latin typeface="Times New Roman" panose="02020603050405020304" pitchFamily="18" charset="0"/>
              </a:rPr>
              <a:t>用户级线程</a:t>
            </a:r>
            <a:endParaRPr lang="zh-CN" altLang="en-US" sz="2800" b="1" dirty="0">
              <a:solidFill>
                <a:srgbClr val="FF0000"/>
              </a:solidFill>
              <a:latin typeface="Times New Roman" panose="02020603050405020304" pitchFamily="18" charset="0"/>
            </a:endParaRPr>
          </a:p>
          <a:p>
            <a:pPr marL="0" lvl="0" indent="0" algn="just" eaLnBrk="1" hangingPunct="1">
              <a:lnSpc>
                <a:spcPct val="120000"/>
              </a:lnSpc>
              <a:spcBef>
                <a:spcPct val="50000"/>
              </a:spcBef>
              <a:buClrTx/>
              <a:buSzTx/>
              <a:buFont typeface="Wingdings" panose="05000000000000000000" pitchFamily="2" charset="2"/>
              <a:buChar char="Ø"/>
            </a:pPr>
            <a:r>
              <a:rPr lang="zh-CN" altLang="en-US" sz="2800" b="1" dirty="0">
                <a:latin typeface="Times New Roman" panose="02020603050405020304" pitchFamily="18" charset="0"/>
              </a:rPr>
              <a:t>  </a:t>
            </a:r>
            <a:r>
              <a:rPr lang="zh-CN" altLang="en-US" sz="2800" b="1" dirty="0">
                <a:solidFill>
                  <a:srgbClr val="FF0000"/>
                </a:solidFill>
                <a:latin typeface="Times New Roman" panose="02020603050405020304" pitchFamily="18" charset="0"/>
              </a:rPr>
              <a:t>用户级线程仅存在于用户空间中。对于这种线程的创建、 撤消、线程之间的同步与通信等功能，都无须利用系统调用来实现。</a:t>
            </a:r>
            <a:endParaRPr lang="zh-CN" altLang="en-US" sz="2800" b="1" dirty="0">
              <a:solidFill>
                <a:srgbClr val="FF0000"/>
              </a:solidFill>
              <a:latin typeface="Times New Roman" panose="02020603050405020304" pitchFamily="18" charset="0"/>
            </a:endParaRPr>
          </a:p>
          <a:p>
            <a:pPr marL="0" lvl="0" indent="0" algn="just" eaLnBrk="1" hangingPunct="1">
              <a:lnSpc>
                <a:spcPct val="120000"/>
              </a:lnSpc>
              <a:spcBef>
                <a:spcPct val="50000"/>
              </a:spcBef>
              <a:buClrTx/>
              <a:buSzTx/>
              <a:buFont typeface="Wingdings" panose="05000000000000000000" pitchFamily="2" charset="2"/>
              <a:buChar char="Ø"/>
            </a:pPr>
            <a:r>
              <a:rPr lang="zh-CN" altLang="en-US" sz="2800" b="1" dirty="0">
                <a:latin typeface="Times New Roman" panose="02020603050405020304" pitchFamily="18" charset="0"/>
              </a:rPr>
              <a:t> 对于用户级线程的切换，通常是发生在一个应用进程的诸多线程之间，这时，也同样无须内核的支持。由于切换的规则远比进程调度和切换的规则简单，因而使线程的切换速度特别快。可见，这种线程是与内核无关的。</a:t>
            </a:r>
            <a:endParaRPr lang="zh-CN" altLang="en-US" sz="2800" b="1" dirty="0">
              <a:latin typeface="Times New Roman" panose="02020603050405020304" pitchFamily="18" charset="0"/>
            </a:endParaRPr>
          </a:p>
        </p:txBody>
      </p:sp>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80" name="AutoShape 4">
            <a:hlinkClick r:id="" action="ppaction://hlinkshowjump?jump=firstslide"/>
          </p:cNvPr>
          <p:cNvSpPr/>
          <p:nvPr/>
        </p:nvSpPr>
        <p:spPr>
          <a:xfrm>
            <a:off x="8534400" y="6470650"/>
            <a:ext cx="6096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nvGrpSpPr>
          <p:cNvPr id="196768" name="Group 160"/>
          <p:cNvGrpSpPr/>
          <p:nvPr/>
        </p:nvGrpSpPr>
        <p:grpSpPr bwMode="auto">
          <a:xfrm>
            <a:off x="898526" y="1600200"/>
            <a:ext cx="6797675" cy="4572000"/>
            <a:chOff x="662" y="1200"/>
            <a:chExt cx="4234" cy="2880"/>
          </a:xfrm>
        </p:grpSpPr>
        <p:sp>
          <p:nvSpPr>
            <p:cNvPr id="196655" name="Rectangle 47"/>
            <p:cNvSpPr>
              <a:spLocks noChangeArrowheads="1"/>
            </p:cNvSpPr>
            <p:nvPr/>
          </p:nvSpPr>
          <p:spPr bwMode="auto">
            <a:xfrm>
              <a:off x="3667" y="1495"/>
              <a:ext cx="877"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56" name="Rectangle 48"/>
            <p:cNvSpPr>
              <a:spLocks noChangeArrowheads="1"/>
            </p:cNvSpPr>
            <p:nvPr/>
          </p:nvSpPr>
          <p:spPr bwMode="auto">
            <a:xfrm>
              <a:off x="1645" y="1495"/>
              <a:ext cx="1541" cy="85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57" name="Line 49"/>
            <p:cNvSpPr>
              <a:spLocks noChangeShapeType="1"/>
            </p:cNvSpPr>
            <p:nvPr/>
          </p:nvSpPr>
          <p:spPr bwMode="auto">
            <a:xfrm>
              <a:off x="723" y="2352"/>
              <a:ext cx="4173"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65" name="Line 57"/>
            <p:cNvSpPr>
              <a:spLocks noChangeShapeType="1"/>
            </p:cNvSpPr>
            <p:nvPr/>
          </p:nvSpPr>
          <p:spPr bwMode="auto">
            <a:xfrm>
              <a:off x="2382" y="2352"/>
              <a:ext cx="0" cy="52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68" name="Freeform 60"/>
            <p:cNvSpPr/>
            <p:nvPr/>
          </p:nvSpPr>
          <p:spPr bwMode="auto">
            <a:xfrm>
              <a:off x="2236" y="1617"/>
              <a:ext cx="51"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72" name="Freeform 64"/>
            <p:cNvSpPr/>
            <p:nvPr/>
          </p:nvSpPr>
          <p:spPr bwMode="auto">
            <a:xfrm>
              <a:off x="2563"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73" name="Freeform 65"/>
            <p:cNvSpPr/>
            <p:nvPr/>
          </p:nvSpPr>
          <p:spPr bwMode="auto">
            <a:xfrm>
              <a:off x="1901"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nvGrpSpPr>
            <p:cNvPr id="196674" name="Group 66"/>
            <p:cNvGrpSpPr/>
            <p:nvPr/>
          </p:nvGrpSpPr>
          <p:grpSpPr bwMode="auto">
            <a:xfrm>
              <a:off x="2231" y="2880"/>
              <a:ext cx="302" cy="288"/>
              <a:chOff x="832" y="2920"/>
              <a:chExt cx="288" cy="288"/>
            </a:xfrm>
          </p:grpSpPr>
          <p:sp>
            <p:nvSpPr>
              <p:cNvPr id="196675" name="Oval 67"/>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76" name="Freeform 68"/>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sp>
          <p:nvSpPr>
            <p:cNvPr id="196690" name="Freeform 82"/>
            <p:cNvSpPr/>
            <p:nvPr/>
          </p:nvSpPr>
          <p:spPr bwMode="auto">
            <a:xfrm>
              <a:off x="2882" y="1617"/>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1" name="Line 83"/>
            <p:cNvSpPr>
              <a:spLocks noChangeShapeType="1"/>
            </p:cNvSpPr>
            <p:nvPr/>
          </p:nvSpPr>
          <p:spPr bwMode="auto">
            <a:xfrm>
              <a:off x="1935" y="1865"/>
              <a:ext cx="447" cy="487"/>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2" name="Line 84"/>
            <p:cNvSpPr>
              <a:spLocks noChangeShapeType="1"/>
            </p:cNvSpPr>
            <p:nvPr/>
          </p:nvSpPr>
          <p:spPr bwMode="auto">
            <a:xfrm>
              <a:off x="2257" y="1857"/>
              <a:ext cx="125" cy="495"/>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3" name="Line 85"/>
            <p:cNvSpPr>
              <a:spLocks noChangeShapeType="1"/>
            </p:cNvSpPr>
            <p:nvPr/>
          </p:nvSpPr>
          <p:spPr bwMode="auto">
            <a:xfrm flipH="1">
              <a:off x="2382" y="1865"/>
              <a:ext cx="190" cy="487"/>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4" name="Line 86"/>
            <p:cNvSpPr>
              <a:spLocks noChangeShapeType="1"/>
            </p:cNvSpPr>
            <p:nvPr/>
          </p:nvSpPr>
          <p:spPr bwMode="auto">
            <a:xfrm flipH="1">
              <a:off x="2382" y="1872"/>
              <a:ext cx="503" cy="47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nvGrpSpPr>
            <p:cNvPr id="196696" name="Group 88"/>
            <p:cNvGrpSpPr/>
            <p:nvPr/>
          </p:nvGrpSpPr>
          <p:grpSpPr bwMode="auto">
            <a:xfrm>
              <a:off x="3036" y="3697"/>
              <a:ext cx="285" cy="288"/>
              <a:chOff x="888" y="3472"/>
              <a:chExt cx="272" cy="288"/>
            </a:xfrm>
          </p:grpSpPr>
          <p:sp>
            <p:nvSpPr>
              <p:cNvPr id="196697" name="Rectangle 89"/>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698" name="Text Box 90"/>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grpSp>
          <p:nvGrpSpPr>
            <p:cNvPr id="196699" name="Group 91"/>
            <p:cNvGrpSpPr/>
            <p:nvPr/>
          </p:nvGrpSpPr>
          <p:grpSpPr bwMode="auto">
            <a:xfrm>
              <a:off x="3790" y="3697"/>
              <a:ext cx="285" cy="288"/>
              <a:chOff x="888" y="3472"/>
              <a:chExt cx="272" cy="288"/>
            </a:xfrm>
          </p:grpSpPr>
          <p:sp>
            <p:nvSpPr>
              <p:cNvPr id="196700" name="Rectangle 92"/>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01" name="Text Box 93"/>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sp>
          <p:nvSpPr>
            <p:cNvPr id="196702" name="Text Box 94"/>
            <p:cNvSpPr txBox="1">
              <a:spLocks noChangeArrowheads="1"/>
            </p:cNvSpPr>
            <p:nvPr/>
          </p:nvSpPr>
          <p:spPr bwMode="auto">
            <a:xfrm>
              <a:off x="1600" y="1200"/>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进程 </a:t>
              </a:r>
              <a:r>
                <a:rPr lang="en-US" altLang="zh-CN" sz="2400" b="1">
                  <a:solidFill>
                    <a:prstClr val="black"/>
                  </a:solidFill>
                  <a:latin typeface="Times New Roman" panose="02020603050405020304" pitchFamily="18" charset="0"/>
                  <a:ea typeface="黑体" panose="02010609060101010101" pitchFamily="2" charset="-122"/>
                </a:rPr>
                <a:t>1</a:t>
              </a:r>
              <a:endParaRPr lang="en-US" altLang="zh-CN" sz="2400" b="1">
                <a:solidFill>
                  <a:prstClr val="black"/>
                </a:solidFill>
                <a:latin typeface="Times New Roman" panose="02020603050405020304" pitchFamily="18" charset="0"/>
                <a:ea typeface="黑体" panose="02010609060101010101" pitchFamily="2" charset="-122"/>
              </a:endParaRPr>
            </a:p>
          </p:txBody>
        </p:sp>
        <p:sp>
          <p:nvSpPr>
            <p:cNvPr id="196703" name="Line 95"/>
            <p:cNvSpPr>
              <a:spLocks noChangeShapeType="1"/>
            </p:cNvSpPr>
            <p:nvPr/>
          </p:nvSpPr>
          <p:spPr bwMode="auto">
            <a:xfrm flipV="1">
              <a:off x="723" y="3696"/>
              <a:ext cx="4173" cy="1"/>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04" name="Text Box 96"/>
            <p:cNvSpPr txBox="1">
              <a:spLocks noChangeArrowheads="1"/>
            </p:cNvSpPr>
            <p:nvPr/>
          </p:nvSpPr>
          <p:spPr bwMode="auto">
            <a:xfrm>
              <a:off x="662" y="2085"/>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用户</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6705" name="Text Box 97"/>
            <p:cNvSpPr txBox="1">
              <a:spLocks noChangeArrowheads="1"/>
            </p:cNvSpPr>
            <p:nvPr/>
          </p:nvSpPr>
          <p:spPr bwMode="auto">
            <a:xfrm>
              <a:off x="672" y="2844"/>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核心</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6706" name="Text Box 98"/>
            <p:cNvSpPr txBox="1">
              <a:spLocks noChangeArrowheads="1"/>
            </p:cNvSpPr>
            <p:nvPr/>
          </p:nvSpPr>
          <p:spPr bwMode="auto">
            <a:xfrm>
              <a:off x="672" y="3792"/>
              <a:ext cx="4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硬件</a:t>
              </a:r>
              <a:endParaRPr lang="zh-CN" altLang="en-US" sz="2400" b="1">
                <a:solidFill>
                  <a:prstClr val="black"/>
                </a:solidFill>
                <a:latin typeface="Times New Roman" panose="02020603050405020304" pitchFamily="18" charset="0"/>
                <a:ea typeface="黑体" panose="02010609060101010101" pitchFamily="2" charset="-122"/>
              </a:endParaRPr>
            </a:p>
          </p:txBody>
        </p:sp>
        <p:sp>
          <p:nvSpPr>
            <p:cNvPr id="196707" name="Line 99"/>
            <p:cNvSpPr>
              <a:spLocks noChangeShapeType="1"/>
            </p:cNvSpPr>
            <p:nvPr/>
          </p:nvSpPr>
          <p:spPr bwMode="auto">
            <a:xfrm>
              <a:off x="4092" y="2352"/>
              <a:ext cx="0" cy="576"/>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14" name="Freeform 106"/>
            <p:cNvSpPr/>
            <p:nvPr/>
          </p:nvSpPr>
          <p:spPr bwMode="auto">
            <a:xfrm>
              <a:off x="4100" y="1633"/>
              <a:ext cx="50"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15" name="Line 107"/>
            <p:cNvSpPr>
              <a:spLocks noChangeShapeType="1"/>
            </p:cNvSpPr>
            <p:nvPr/>
          </p:nvSpPr>
          <p:spPr bwMode="auto">
            <a:xfrm flipH="1">
              <a:off x="4092" y="1872"/>
              <a:ext cx="0" cy="48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21" name="Text Box 113"/>
            <p:cNvSpPr txBox="1">
              <a:spLocks noChangeArrowheads="1"/>
            </p:cNvSpPr>
            <p:nvPr/>
          </p:nvSpPr>
          <p:spPr bwMode="auto">
            <a:xfrm>
              <a:off x="3617" y="1248"/>
              <a:ext cx="6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400" b="1">
                  <a:solidFill>
                    <a:prstClr val="black"/>
                  </a:solidFill>
                  <a:latin typeface="Times New Roman" panose="02020603050405020304" pitchFamily="18" charset="0"/>
                  <a:ea typeface="黑体" panose="02010609060101010101" pitchFamily="2" charset="-122"/>
                </a:rPr>
                <a:t>进程 </a:t>
              </a:r>
              <a:r>
                <a:rPr lang="en-US" altLang="zh-CN" sz="2400" b="1">
                  <a:solidFill>
                    <a:prstClr val="black"/>
                  </a:solidFill>
                  <a:latin typeface="Times New Roman" panose="02020603050405020304" pitchFamily="18" charset="0"/>
                  <a:ea typeface="黑体" panose="02010609060101010101" pitchFamily="2" charset="-122"/>
                </a:rPr>
                <a:t>2</a:t>
              </a:r>
              <a:endParaRPr lang="en-US" altLang="zh-CN" sz="2400" b="1">
                <a:solidFill>
                  <a:prstClr val="black"/>
                </a:solidFill>
                <a:latin typeface="Times New Roman" panose="02020603050405020304" pitchFamily="18" charset="0"/>
                <a:ea typeface="黑体" panose="02010609060101010101" pitchFamily="2" charset="-122"/>
              </a:endParaRPr>
            </a:p>
          </p:txBody>
        </p:sp>
        <p:sp>
          <p:nvSpPr>
            <p:cNvPr id="196725" name="Line 117"/>
            <p:cNvSpPr>
              <a:spLocks noChangeShapeType="1"/>
            </p:cNvSpPr>
            <p:nvPr/>
          </p:nvSpPr>
          <p:spPr bwMode="auto">
            <a:xfrm flipH="1">
              <a:off x="3186" y="3216"/>
              <a:ext cx="906" cy="48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54" name="Text Box 146"/>
            <p:cNvSpPr txBox="1">
              <a:spLocks noChangeArrowheads="1"/>
            </p:cNvSpPr>
            <p:nvPr/>
          </p:nvSpPr>
          <p:spPr bwMode="auto">
            <a:xfrm>
              <a:off x="1650" y="2911"/>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进程 </a:t>
              </a:r>
              <a:r>
                <a:rPr lang="en-US" altLang="zh-CN" sz="2000" b="1">
                  <a:solidFill>
                    <a:srgbClr val="FF0000"/>
                  </a:solidFill>
                  <a:latin typeface="Times New Roman" panose="02020603050405020304" pitchFamily="18" charset="0"/>
                  <a:ea typeface="黑体" panose="02010609060101010101" pitchFamily="2" charset="-122"/>
                </a:rPr>
                <a:t>1</a:t>
              </a:r>
              <a:endParaRPr lang="en-US" altLang="zh-CN" sz="2000" b="1">
                <a:solidFill>
                  <a:srgbClr val="FF0000"/>
                </a:solidFill>
                <a:latin typeface="Times New Roman" panose="02020603050405020304" pitchFamily="18" charset="0"/>
                <a:ea typeface="黑体" panose="02010609060101010101" pitchFamily="2" charset="-122"/>
              </a:endParaRPr>
            </a:p>
          </p:txBody>
        </p:sp>
        <p:grpSp>
          <p:nvGrpSpPr>
            <p:cNvPr id="196755" name="Group 147"/>
            <p:cNvGrpSpPr/>
            <p:nvPr/>
          </p:nvGrpSpPr>
          <p:grpSpPr bwMode="auto">
            <a:xfrm>
              <a:off x="3941" y="2928"/>
              <a:ext cx="301" cy="288"/>
              <a:chOff x="832" y="2920"/>
              <a:chExt cx="288" cy="288"/>
            </a:xfrm>
          </p:grpSpPr>
          <p:sp>
            <p:nvSpPr>
              <p:cNvPr id="196756" name="Oval 148"/>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57" name="Freeform 149"/>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sp>
          <p:nvSpPr>
            <p:cNvPr id="196758" name="Text Box 150"/>
            <p:cNvSpPr txBox="1">
              <a:spLocks noChangeArrowheads="1"/>
            </p:cNvSpPr>
            <p:nvPr/>
          </p:nvSpPr>
          <p:spPr bwMode="auto">
            <a:xfrm>
              <a:off x="3360" y="2928"/>
              <a:ext cx="5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进程 </a:t>
              </a:r>
              <a:r>
                <a:rPr lang="en-US" altLang="zh-CN" sz="2000" b="1">
                  <a:solidFill>
                    <a:srgbClr val="FF0000"/>
                  </a:solidFill>
                  <a:latin typeface="Times New Roman" panose="02020603050405020304" pitchFamily="18" charset="0"/>
                  <a:ea typeface="黑体" panose="02010609060101010101" pitchFamily="2" charset="-122"/>
                </a:rPr>
                <a:t>2</a:t>
              </a:r>
              <a:endParaRPr lang="en-US" altLang="zh-CN" sz="2000" b="1">
                <a:solidFill>
                  <a:srgbClr val="FF0000"/>
                </a:solidFill>
                <a:latin typeface="Times New Roman" panose="02020603050405020304" pitchFamily="18" charset="0"/>
                <a:ea typeface="黑体" panose="02010609060101010101" pitchFamily="2" charset="-122"/>
              </a:endParaRPr>
            </a:p>
          </p:txBody>
        </p:sp>
        <p:sp>
          <p:nvSpPr>
            <p:cNvPr id="196759" name="Line 151"/>
            <p:cNvSpPr>
              <a:spLocks noChangeShapeType="1"/>
            </p:cNvSpPr>
            <p:nvPr/>
          </p:nvSpPr>
          <p:spPr bwMode="auto">
            <a:xfrm>
              <a:off x="2382" y="3168"/>
              <a:ext cx="804" cy="528"/>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grpSp>
          <p:nvGrpSpPr>
            <p:cNvPr id="196762" name="Group 154"/>
            <p:cNvGrpSpPr/>
            <p:nvPr/>
          </p:nvGrpSpPr>
          <p:grpSpPr bwMode="auto">
            <a:xfrm>
              <a:off x="2147" y="3696"/>
              <a:ext cx="285" cy="288"/>
              <a:chOff x="888" y="3472"/>
              <a:chExt cx="272" cy="288"/>
            </a:xfrm>
          </p:grpSpPr>
          <p:sp>
            <p:nvSpPr>
              <p:cNvPr id="196763" name="Rectangle 155"/>
              <p:cNvSpPr>
                <a:spLocks noChangeArrowheads="1"/>
              </p:cNvSpPr>
              <p:nvPr/>
            </p:nvSpPr>
            <p:spPr bwMode="auto">
              <a:xfrm>
                <a:off x="888" y="3472"/>
                <a:ext cx="272" cy="288"/>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64" name="Text Box 156"/>
              <p:cNvSpPr txBox="1">
                <a:spLocks noChangeArrowheads="1"/>
              </p:cNvSpPr>
              <p:nvPr/>
            </p:nvSpPr>
            <p:spPr bwMode="auto">
              <a:xfrm>
                <a:off x="913" y="3472"/>
                <a:ext cx="2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en-US" altLang="zh-CN" sz="2400" b="1">
                    <a:solidFill>
                      <a:prstClr val="black"/>
                    </a:solidFill>
                    <a:latin typeface="Times New Roman" panose="02020603050405020304" pitchFamily="18" charset="0"/>
                    <a:ea typeface="黑体" panose="02010609060101010101" pitchFamily="2" charset="-122"/>
                  </a:rPr>
                  <a:t>P</a:t>
                </a:r>
                <a:endParaRPr lang="en-US" altLang="zh-CN" sz="2400" b="1">
                  <a:solidFill>
                    <a:prstClr val="black"/>
                  </a:solidFill>
                  <a:latin typeface="Times New Roman" panose="02020603050405020304" pitchFamily="18" charset="0"/>
                  <a:ea typeface="黑体" panose="02010609060101010101" pitchFamily="2" charset="-122"/>
                </a:endParaRPr>
              </a:p>
            </p:txBody>
          </p:sp>
        </p:grpSp>
        <p:sp>
          <p:nvSpPr>
            <p:cNvPr id="196766" name="Text Box 158"/>
            <p:cNvSpPr txBox="1">
              <a:spLocks noChangeArrowheads="1"/>
            </p:cNvSpPr>
            <p:nvPr/>
          </p:nvSpPr>
          <p:spPr bwMode="auto">
            <a:xfrm>
              <a:off x="1392" y="1536"/>
              <a:ext cx="55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线程 </a:t>
              </a:r>
              <a:r>
                <a:rPr lang="en-US" altLang="zh-CN" sz="2000" b="1">
                  <a:solidFill>
                    <a:srgbClr val="FF0000"/>
                  </a:solidFill>
                  <a:latin typeface="Times New Roman" panose="02020603050405020304" pitchFamily="18" charset="0"/>
                  <a:ea typeface="黑体" panose="02010609060101010101" pitchFamily="2" charset="-122"/>
                </a:rPr>
                <a:t>1</a:t>
              </a:r>
              <a:endParaRPr lang="en-US" altLang="zh-CN" sz="2000" b="1">
                <a:solidFill>
                  <a:srgbClr val="FF0000"/>
                </a:solidFill>
                <a:latin typeface="Times New Roman" panose="02020603050405020304" pitchFamily="18" charset="0"/>
                <a:ea typeface="黑体" panose="02010609060101010101" pitchFamily="2" charset="-122"/>
              </a:endParaRPr>
            </a:p>
          </p:txBody>
        </p:sp>
        <p:sp>
          <p:nvSpPr>
            <p:cNvPr id="196767" name="Text Box 159"/>
            <p:cNvSpPr txBox="1">
              <a:spLocks noChangeArrowheads="1"/>
            </p:cNvSpPr>
            <p:nvPr/>
          </p:nvSpPr>
          <p:spPr bwMode="auto">
            <a:xfrm>
              <a:off x="2361" y="1536"/>
              <a:ext cx="5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defTabSz="457200" eaLnBrk="0" hangingPunct="0">
                <a:defRPr/>
              </a:pPr>
              <a:r>
                <a:rPr lang="zh-CN" altLang="en-US" sz="2000" b="1">
                  <a:solidFill>
                    <a:srgbClr val="FF0000"/>
                  </a:solidFill>
                  <a:latin typeface="Times New Roman" panose="02020603050405020304" pitchFamily="18" charset="0"/>
                  <a:ea typeface="黑体" panose="02010609060101010101" pitchFamily="2" charset="-122"/>
                </a:rPr>
                <a:t>线程 </a:t>
              </a:r>
              <a:r>
                <a:rPr lang="en-US" altLang="zh-CN" sz="2000" b="1">
                  <a:solidFill>
                    <a:srgbClr val="FF0000"/>
                  </a:solidFill>
                  <a:latin typeface="Times New Roman" panose="02020603050405020304" pitchFamily="18" charset="0"/>
                  <a:ea typeface="黑体" panose="02010609060101010101" pitchFamily="2" charset="-122"/>
                </a:rPr>
                <a:t>n</a:t>
              </a:r>
              <a:endParaRPr lang="en-US" altLang="zh-CN" sz="2000" b="1">
                <a:solidFill>
                  <a:srgbClr val="FF0000"/>
                </a:solidFill>
                <a:latin typeface="Times New Roman" panose="02020603050405020304" pitchFamily="18" charset="0"/>
                <a:ea typeface="黑体" panose="02010609060101010101" pitchFamily="2" charset="-122"/>
              </a:endParaRPr>
            </a:p>
          </p:txBody>
        </p:sp>
      </p:grpSp>
      <p:grpSp>
        <p:nvGrpSpPr>
          <p:cNvPr id="196771" name="Group 163"/>
          <p:cNvGrpSpPr/>
          <p:nvPr/>
        </p:nvGrpSpPr>
        <p:grpSpPr bwMode="auto">
          <a:xfrm>
            <a:off x="5105400" y="3581400"/>
            <a:ext cx="3581400" cy="2057400"/>
            <a:chOff x="3312" y="2448"/>
            <a:chExt cx="2256" cy="1296"/>
          </a:xfrm>
        </p:grpSpPr>
        <p:sp>
          <p:nvSpPr>
            <p:cNvPr id="196769" name="Line 161"/>
            <p:cNvSpPr>
              <a:spLocks noChangeShapeType="1"/>
            </p:cNvSpPr>
            <p:nvPr/>
          </p:nvSpPr>
          <p:spPr bwMode="auto">
            <a:xfrm flipH="1">
              <a:off x="3312" y="3264"/>
              <a:ext cx="1152" cy="480"/>
            </a:xfrm>
            <a:prstGeom prst="line">
              <a:avLst/>
            </a:prstGeom>
            <a:no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defTabSz="457200">
                <a:defRPr/>
              </a:pPr>
              <a:endParaRPr lang="zh-CN" altLang="en-US">
                <a:solidFill>
                  <a:prstClr val="black"/>
                </a:solidFill>
                <a:latin typeface="Arial" panose="020B0604020202020204"/>
                <a:ea typeface="黑体" panose="02010609060101010101" pitchFamily="2" charset="-122"/>
              </a:endParaRPr>
            </a:p>
          </p:txBody>
        </p:sp>
        <p:sp>
          <p:nvSpPr>
            <p:cNvPr id="196770" name="Text Box 162"/>
            <p:cNvSpPr txBox="1">
              <a:spLocks noChangeArrowheads="1"/>
            </p:cNvSpPr>
            <p:nvPr/>
          </p:nvSpPr>
          <p:spPr bwMode="auto">
            <a:xfrm>
              <a:off x="4416" y="2448"/>
              <a:ext cx="1152" cy="1214"/>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defTabSz="457200">
                <a:spcBef>
                  <a:spcPct val="50000"/>
                </a:spcBef>
                <a:defRPr/>
              </a:pPr>
              <a:r>
                <a:rPr lang="zh-CN" altLang="en-US" sz="2400" b="1" dirty="0">
                  <a:solidFill>
                    <a:srgbClr val="FF0000"/>
                  </a:solidFill>
                  <a:latin typeface="Arial" panose="020B0604020202020204"/>
                  <a:ea typeface="黑体" panose="02010609060101010101" pitchFamily="2" charset="-122"/>
                </a:rPr>
                <a:t>进程不能很好的利用多</a:t>
              </a:r>
              <a:r>
                <a:rPr lang="en-US" altLang="zh-CN" sz="2400" b="1" dirty="0">
                  <a:solidFill>
                    <a:srgbClr val="FF0000"/>
                  </a:solidFill>
                  <a:latin typeface="Arial" panose="020B0604020202020204"/>
                  <a:ea typeface="黑体" panose="02010609060101010101" pitchFamily="2" charset="-122"/>
                </a:rPr>
                <a:t>CPU</a:t>
              </a:r>
              <a:r>
                <a:rPr lang="zh-CN" altLang="en-US" sz="2400" b="1" dirty="0">
                  <a:solidFill>
                    <a:srgbClr val="FF0000"/>
                  </a:solidFill>
                  <a:latin typeface="Arial" panose="020B0604020202020204"/>
                  <a:ea typeface="黑体" panose="02010609060101010101" pitchFamily="2" charset="-122"/>
                </a:rPr>
                <a:t>，因为进程的地址空间不同</a:t>
              </a:r>
              <a:endParaRPr lang="zh-CN" altLang="en-US" sz="2400" b="1" dirty="0">
                <a:solidFill>
                  <a:srgbClr val="FF0000"/>
                </a:solidFill>
                <a:latin typeface="Arial" panose="020B0604020202020204"/>
                <a:ea typeface="黑体" panose="02010609060101010101" pitchFamily="2" charset="-122"/>
              </a:endParaRPr>
            </a:p>
          </p:txBody>
        </p:sp>
      </p:grpSp>
      <p:pic>
        <p:nvPicPr>
          <p:cNvPr id="2" name="图片 1"/>
          <p:cNvPicPr>
            <a:picLocks noChangeAspect="1"/>
          </p:cNvPicPr>
          <p:nvPr/>
        </p:nvPicPr>
        <p:blipFill>
          <a:blip r:embed="rId1"/>
          <a:stretch>
            <a:fillRect/>
          </a:stretch>
        </p:blipFill>
        <p:spPr>
          <a:xfrm>
            <a:off x="6770915" y="-70789"/>
            <a:ext cx="2126902" cy="1986004"/>
          </a:xfrm>
          <a:prstGeom prst="rect">
            <a:avLst/>
          </a:prstGeom>
        </p:spPr>
      </p:pic>
      <p:sp>
        <p:nvSpPr>
          <p:cNvPr id="196610" name="Rectangle 2"/>
          <p:cNvSpPr>
            <a:spLocks noGrp="1" noChangeArrowheads="1"/>
          </p:cNvSpPr>
          <p:nvPr/>
        </p:nvSpPr>
        <p:spPr>
          <a:xfrm>
            <a:off x="-390920" y="685643"/>
            <a:ext cx="8763000" cy="676275"/>
          </a:xfrm>
          <a:prstGeom prst="rect">
            <a:avLst/>
          </a:prstGeom>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r>
              <a:rPr lang="zh-CN" altLang="en-US" sz="3200" dirty="0">
                <a:solidFill>
                  <a:srgbClr val="0070C0"/>
                </a:solidFill>
              </a:rPr>
              <a:t>用户级线程的工作模型</a:t>
            </a:r>
            <a:endParaRPr lang="zh-CN" altLang="en-US" sz="3200" dirty="0">
              <a:solidFill>
                <a:srgbClr val="0070C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6771"/>
                                        </p:tgtEl>
                                        <p:attrNameLst>
                                          <p:attrName>style.visibility</p:attrName>
                                        </p:attrNameLst>
                                      </p:cBhvr>
                                      <p:to>
                                        <p:strVal val="visible"/>
                                      </p:to>
                                    </p:set>
                                    <p:animEffect transition="in" filter="dissolve">
                                      <p:cBhvr>
                                        <p:cTn id="12" dur="500"/>
                                        <p:tgtEl>
                                          <p:spTgt spid="196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2" name="Rectangle 2"/>
          <p:cNvSpPr>
            <a:spLocks noGrp="1" noRot="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采用线程的优点</a:t>
            </a:r>
            <a:r>
              <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endParaRPr kumimoji="0" lang="en-US" altLang="zh-CN" sz="4400" b="1"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endParaRPr>
          </a:p>
        </p:txBody>
      </p:sp>
      <p:sp>
        <p:nvSpPr>
          <p:cNvPr id="104451" name="Rectangle 3"/>
          <p:cNvSpPr>
            <a:spLocks noGrp="1" noRot="1"/>
          </p:cNvSpPr>
          <p:nvPr>
            <p:ph type="body"/>
          </p:nvPr>
        </p:nvSpPr>
        <p:spPr>
          <a:xfrm>
            <a:off x="228600" y="1676400"/>
            <a:ext cx="8686800" cy="4343400"/>
          </a:xfrm>
        </p:spPr>
        <p:txBody>
          <a:bodyPr vert="horz" wrap="square" lIns="91440" tIns="45720" rIns="91440" bIns="45720" anchor="t" anchorCtr="0"/>
          <a:p>
            <a:pPr marL="565150" indent="-565150" algn="just" eaLnBrk="1" hangingPunct="1">
              <a:buNone/>
            </a:pPr>
            <a:r>
              <a:rPr lang="en-US" altLang="zh-CN" b="1" dirty="0"/>
              <a:t>1</a:t>
            </a:r>
            <a:r>
              <a:rPr lang="zh-CN" altLang="en-US" b="1" dirty="0"/>
              <a:t>．在一个已有进程中创建一个新线程比创建一个全新进程所需的时间少。</a:t>
            </a:r>
            <a:endParaRPr lang="zh-CN" altLang="en-US" b="1" dirty="0"/>
          </a:p>
          <a:p>
            <a:pPr marL="565150" indent="-565150" algn="just" eaLnBrk="1" hangingPunct="1">
              <a:buClrTx/>
              <a:buSzTx/>
              <a:buFontTx/>
              <a:buNone/>
            </a:pPr>
            <a:r>
              <a:rPr lang="en-US" altLang="zh-CN" b="1" dirty="0"/>
              <a:t>2</a:t>
            </a:r>
            <a:r>
              <a:rPr lang="zh-CN" altLang="en-US" b="1" dirty="0"/>
              <a:t>．终止一个线程比终止一个进程花费的时间少。</a:t>
            </a:r>
            <a:endParaRPr lang="zh-CN" altLang="en-US" b="1" dirty="0"/>
          </a:p>
          <a:p>
            <a:pPr marL="565150" indent="-565150" algn="just" eaLnBrk="1" hangingPunct="1">
              <a:buClrTx/>
              <a:buSzTx/>
              <a:buFontTx/>
              <a:buNone/>
            </a:pPr>
            <a:r>
              <a:rPr lang="en-US" altLang="zh-CN" b="1" dirty="0"/>
              <a:t>3</a:t>
            </a:r>
            <a:r>
              <a:rPr lang="zh-CN" altLang="en-US" b="1" dirty="0"/>
              <a:t>．线程间切换比进程间切换花费的时间少。</a:t>
            </a:r>
            <a:endParaRPr lang="zh-CN" altLang="en-US" b="1" dirty="0"/>
          </a:p>
          <a:p>
            <a:pPr marL="565150" indent="-565150" algn="just" eaLnBrk="1" hangingPunct="1">
              <a:buClrTx/>
              <a:buSzTx/>
              <a:buFontTx/>
              <a:buNone/>
            </a:pPr>
            <a:r>
              <a:rPr lang="en-US" altLang="zh-CN" b="1" dirty="0"/>
              <a:t>4</a:t>
            </a:r>
            <a:r>
              <a:rPr lang="zh-CN" altLang="en-US" b="1" dirty="0"/>
              <a:t>．线程提高了不同的执行程序间通信的效率。同一个进程中的线程共享存储空间和文件，它们无需调用内核就可以互相通信。</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0882"/>
                                        </p:tgtEl>
                                        <p:attrNameLst>
                                          <p:attrName>style.visibility</p:attrName>
                                        </p:attrNameLst>
                                      </p:cBhvr>
                                      <p:to>
                                        <p:strVal val="visible"/>
                                      </p:to>
                                    </p:set>
                                    <p:animEffect transition="in" filter="fade">
                                      <p:cBhvr>
                                        <p:cTn id="7" dur="2000"/>
                                        <p:tgtEl>
                                          <p:spTgt spid="2508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451">
                                            <p:txEl>
                                              <p:charRg st="0" end="34"/>
                                            </p:txEl>
                                          </p:spTgt>
                                        </p:tgtEl>
                                        <p:attrNameLst>
                                          <p:attrName>style.visibility</p:attrName>
                                        </p:attrNameLst>
                                      </p:cBhvr>
                                      <p:to>
                                        <p:strVal val="visible"/>
                                      </p:to>
                                    </p:set>
                                    <p:animEffect transition="in" filter="fade">
                                      <p:cBhvr>
                                        <p:cTn id="12" dur="2000"/>
                                        <p:tgtEl>
                                          <p:spTgt spid="104451">
                                            <p:txEl>
                                              <p:charRg st="0"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451">
                                            <p:txEl>
                                              <p:charRg st="34" end="57"/>
                                            </p:txEl>
                                          </p:spTgt>
                                        </p:tgtEl>
                                        <p:attrNameLst>
                                          <p:attrName>style.visibility</p:attrName>
                                        </p:attrNameLst>
                                      </p:cBhvr>
                                      <p:to>
                                        <p:strVal val="visible"/>
                                      </p:to>
                                    </p:set>
                                    <p:animEffect transition="in" filter="fade">
                                      <p:cBhvr>
                                        <p:cTn id="17" dur="2000"/>
                                        <p:tgtEl>
                                          <p:spTgt spid="104451">
                                            <p:txEl>
                                              <p:charRg st="34" end="5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451">
                                            <p:txEl>
                                              <p:charRg st="57" end="78"/>
                                            </p:txEl>
                                          </p:spTgt>
                                        </p:tgtEl>
                                        <p:attrNameLst>
                                          <p:attrName>style.visibility</p:attrName>
                                        </p:attrNameLst>
                                      </p:cBhvr>
                                      <p:to>
                                        <p:strVal val="visible"/>
                                      </p:to>
                                    </p:set>
                                    <p:animEffect transition="in" filter="fade">
                                      <p:cBhvr>
                                        <p:cTn id="22" dur="2000"/>
                                        <p:tgtEl>
                                          <p:spTgt spid="104451">
                                            <p:txEl>
                                              <p:charRg st="57" end="7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4451">
                                            <p:txEl>
                                              <p:charRg st="78" end="135"/>
                                            </p:txEl>
                                          </p:spTgt>
                                        </p:tgtEl>
                                        <p:attrNameLst>
                                          <p:attrName>style.visibility</p:attrName>
                                        </p:attrNameLst>
                                      </p:cBhvr>
                                      <p:to>
                                        <p:strVal val="visible"/>
                                      </p:to>
                                    </p:set>
                                    <p:animEffect transition="in" filter="fade">
                                      <p:cBhvr>
                                        <p:cTn id="27" dur="2000"/>
                                        <p:tgtEl>
                                          <p:spTgt spid="104451">
                                            <p:txEl>
                                              <p:charRg st="78"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2" grpId="0"/>
      <p:bldP spid="104451" grpId="0" build="p"/>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p:nvPr>
            <p:ph idx="1"/>
          </p:nvPr>
        </p:nvSpPr>
        <p:spPr/>
        <p:txBody>
          <a:bodyPr/>
          <a:p>
            <a:pPr>
              <a:buFont typeface="Wingdings" panose="05000000000000000000" pitchFamily="2" charset="2"/>
              <a:buNone/>
            </a:pPr>
            <a:r>
              <a:rPr lang="zh-CN" altLang="en-US" sz="2400" dirty="0">
                <a:solidFill>
                  <a:srgbClr val="19079B"/>
                </a:solidFill>
                <a:latin typeface="微软雅黑" panose="020B0503020204020204" charset="-122"/>
                <a:ea typeface="微软雅黑" panose="020B0503020204020204" charset="-122"/>
                <a:sym typeface="+mn-ea"/>
              </a:rPr>
              <a:t>优点：</a:t>
            </a:r>
            <a:endParaRPr lang="zh-CN" altLang="en-US" sz="2400" dirty="0">
              <a:solidFill>
                <a:srgbClr val="19079B"/>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线程切换不调用内核</a:t>
            </a:r>
            <a:endParaRPr lang="zh-CN" altLang="en-US" sz="2400" b="0" dirty="0">
              <a:solidFill>
                <a:srgbClr val="000000"/>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调度是应用程序特定的：可以选择最好的算法</a:t>
            </a:r>
            <a:endParaRPr lang="zh-CN" altLang="en-US" sz="2400" b="0" dirty="0">
              <a:solidFill>
                <a:srgbClr val="000000"/>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可运行在任何操作系统上（只需要线程库），可以在一个不支持线程的</a:t>
            </a:r>
            <a:r>
              <a:rPr lang="en-US" altLang="zh-CN" sz="2400" dirty="0">
                <a:solidFill>
                  <a:srgbClr val="000000"/>
                </a:solidFill>
                <a:latin typeface="微软雅黑" panose="020B0503020204020204" charset="-122"/>
                <a:ea typeface="微软雅黑" panose="020B0503020204020204" charset="-122"/>
                <a:sym typeface="+mn-ea"/>
              </a:rPr>
              <a:t>OS</a:t>
            </a:r>
            <a:r>
              <a:rPr lang="zh-CN" altLang="en-US" sz="2400" dirty="0">
                <a:solidFill>
                  <a:srgbClr val="000000"/>
                </a:solidFill>
                <a:latin typeface="微软雅黑" panose="020B0503020204020204" charset="-122"/>
                <a:ea typeface="微软雅黑" panose="020B0503020204020204" charset="-122"/>
                <a:sym typeface="+mn-ea"/>
              </a:rPr>
              <a:t>上实现</a:t>
            </a:r>
            <a:endParaRPr lang="zh-CN" altLang="en-US" sz="2400" b="0" dirty="0">
              <a:solidFill>
                <a:srgbClr val="000000"/>
              </a:solidFill>
              <a:latin typeface="微软雅黑" panose="020B0503020204020204" charset="-122"/>
              <a:ea typeface="微软雅黑" panose="020B0503020204020204" charset="-122"/>
            </a:endParaRPr>
          </a:p>
          <a:p>
            <a:pPr>
              <a:buFont typeface="Wingdings" panose="05000000000000000000" pitchFamily="2" charset="2"/>
              <a:buNone/>
            </a:pPr>
            <a:r>
              <a:rPr lang="zh-CN" altLang="en-US" sz="2400" dirty="0">
                <a:solidFill>
                  <a:srgbClr val="19079B"/>
                </a:solidFill>
                <a:latin typeface="微软雅黑" panose="020B0503020204020204" charset="-122"/>
                <a:ea typeface="微软雅黑" panose="020B0503020204020204" charset="-122"/>
                <a:sym typeface="+mn-ea"/>
              </a:rPr>
              <a:t>缺点：</a:t>
            </a:r>
            <a:endParaRPr lang="zh-CN" altLang="en-US" sz="2400" dirty="0">
              <a:solidFill>
                <a:srgbClr val="19079B"/>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当线程执行一个系统调用时，该线程及其所属进程内的所有线程都会被阻塞。</a:t>
            </a:r>
            <a:endParaRPr lang="en-US" altLang="zh-CN" sz="2400" b="0" dirty="0">
              <a:solidFill>
                <a:srgbClr val="000000"/>
              </a:solidFill>
              <a:latin typeface="微软雅黑" panose="020B0503020204020204" charset="-122"/>
              <a:ea typeface="微软雅黑" panose="020B0503020204020204" charset="-122"/>
            </a:endParaRPr>
          </a:p>
          <a:p>
            <a:r>
              <a:rPr lang="zh-CN" altLang="en-US" sz="2400" dirty="0">
                <a:solidFill>
                  <a:srgbClr val="000000"/>
                </a:solidFill>
                <a:latin typeface="微软雅黑" panose="020B0503020204020204" charset="-122"/>
                <a:ea typeface="微软雅黑" panose="020B0503020204020204" charset="-122"/>
                <a:sym typeface="+mn-ea"/>
              </a:rPr>
              <a:t>多线程应用不能利用多处理机进行多重处理。</a:t>
            </a:r>
            <a:endParaRPr lang="zh-CN" altLang="en-US" sz="2400" b="0" dirty="0">
              <a:solidFill>
                <a:srgbClr val="000000"/>
              </a:solidFill>
              <a:latin typeface="微软雅黑" panose="020B0503020204020204" charset="-122"/>
              <a:ea typeface="微软雅黑" panose="020B0503020204020204" charset="-122"/>
            </a:endParaRPr>
          </a:p>
          <a:p>
            <a:endParaRPr lang="zh-CN" altLang="en-US" sz="2400" b="0" dirty="0">
              <a:solidFill>
                <a:srgbClr val="000000"/>
              </a:solidFill>
              <a:latin typeface="微软雅黑" panose="020B0503020204020204" charset="-122"/>
              <a:ea typeface="微软雅黑" panose="020B0503020204020204" charset="-122"/>
            </a:endParaRPr>
          </a:p>
        </p:txBody>
      </p:sp>
      <p:sp>
        <p:nvSpPr>
          <p:cNvPr id="336898" name="Rectangle 2"/>
          <p:cNvSpPr>
            <a:spLocks noGrp="1" noRot="1" noChangeArrowheads="1"/>
          </p:cNvSpPr>
          <p:nvPr/>
        </p:nvSpPr>
        <p:spPr>
          <a:xfrm>
            <a:off x="2333120" y="449378"/>
            <a:ext cx="7691437" cy="690563"/>
          </a:xfrm>
          <a:prstGeom prst="rect">
            <a:avLst/>
          </a:prstGeom>
          <a:noFill/>
        </p:spPr>
        <p:txBody>
          <a:bodyPr/>
          <a:lstStyle>
            <a:lvl1pPr algn="ctr" defTabSz="685800" rtl="0" eaLnBrk="1" latinLnBrk="0" hangingPunct="1">
              <a:lnSpc>
                <a:spcPct val="90000"/>
              </a:lnSpc>
              <a:spcBef>
                <a:spcPct val="0"/>
              </a:spcBef>
              <a:buNone/>
              <a:defRPr sz="2400" b="1" kern="1200">
                <a:solidFill>
                  <a:schemeClr val="accent1">
                    <a:lumMod val="75000"/>
                  </a:schemeClr>
                </a:solidFill>
                <a:latin typeface="微软雅黑" panose="020B0503020204020204" charset="-122"/>
                <a:ea typeface="微软雅黑" panose="020B0503020204020204" charset="-122"/>
                <a:cs typeface="+mj-cs"/>
              </a:defRPr>
            </a:lvl1pPr>
          </a:lstStyle>
          <a:p>
            <a:pPr algn="l"/>
            <a:r>
              <a:rPr lang="zh-CN" altLang="en-US" sz="3200" b="1" dirty="0">
                <a:solidFill>
                  <a:srgbClr val="0070C0"/>
                </a:solidFill>
                <a:latin typeface="+mj-ea"/>
                <a:ea typeface="+mj-ea"/>
              </a:rPr>
              <a:t>用户级线程的优点和缺点</a:t>
            </a:r>
            <a:endParaRPr lang="zh-CN" altLang="en-US" sz="3200" b="1" dirty="0">
              <a:solidFill>
                <a:srgbClr val="0070C0"/>
              </a:solidFill>
              <a:latin typeface="+mj-ea"/>
              <a:ea typeface="+mj-ea"/>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9" name="Rectangle 3"/>
          <p:cNvSpPr>
            <a:spLocks noGrp="1" noChangeArrowheads="1"/>
          </p:cNvSpPr>
          <p:nvPr>
            <p:ph type="title"/>
          </p:nvPr>
        </p:nvSpPr>
        <p:spPr>
          <a:xfrm>
            <a:off x="609600" y="609601"/>
            <a:ext cx="8458200" cy="676275"/>
          </a:xfrm>
        </p:spPr>
        <p:txBody>
          <a:bodyPr/>
          <a:lstStyle/>
          <a:p>
            <a:r>
              <a:rPr lang="zh-CN" altLang="en-US" sz="3200" dirty="0"/>
              <a:t>和用户级相比，内核支持线程有什么不同</a:t>
            </a:r>
            <a:r>
              <a:rPr lang="en-US" altLang="zh-CN" sz="3200" dirty="0"/>
              <a:t>?</a:t>
            </a:r>
            <a:endParaRPr lang="en-US" altLang="zh-CN" sz="3200" dirty="0"/>
          </a:p>
        </p:txBody>
      </p:sp>
      <p:sp>
        <p:nvSpPr>
          <p:cNvPr id="167967" name="Rectangle 31"/>
          <p:cNvSpPr>
            <a:spLocks noChangeArrowheads="1"/>
          </p:cNvSpPr>
          <p:nvPr/>
        </p:nvSpPr>
        <p:spPr bwMode="auto">
          <a:xfrm>
            <a:off x="188913" y="1611841"/>
            <a:ext cx="5647266"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prstClr val="black"/>
                </a:solidFill>
                <a:latin typeface="微软雅黑" panose="020B0503020204020204" charset="-122"/>
                <a:ea typeface="微软雅黑" panose="020B0503020204020204" charset="-122"/>
              </a:rPr>
              <a:t>由内核完成线程的创建、调度等</a:t>
            </a:r>
            <a:endParaRPr lang="zh-CN" altLang="en-US" sz="2400" dirty="0">
              <a:solidFill>
                <a:prstClr val="black"/>
              </a:solidFill>
              <a:latin typeface="微软雅黑" panose="020B0503020204020204" charset="-122"/>
              <a:ea typeface="微软雅黑" panose="020B0503020204020204" charset="-122"/>
            </a:endParaRPr>
          </a:p>
        </p:txBody>
      </p:sp>
      <p:sp>
        <p:nvSpPr>
          <p:cNvPr id="167968" name="Rectangle 32"/>
          <p:cNvSpPr>
            <a:spLocks noChangeArrowheads="1"/>
          </p:cNvSpPr>
          <p:nvPr/>
        </p:nvSpPr>
        <p:spPr bwMode="auto">
          <a:xfrm>
            <a:off x="188913" y="2415116"/>
            <a:ext cx="52578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srgbClr val="FF0000"/>
                </a:solidFill>
                <a:latin typeface="微软雅黑" panose="020B0503020204020204" charset="-122"/>
                <a:ea typeface="微软雅黑" panose="020B0503020204020204" charset="-122"/>
              </a:rPr>
              <a:t>主要工作仍是保存现场 </a:t>
            </a:r>
            <a:r>
              <a:rPr lang="zh-CN" altLang="en-US" sz="2400" dirty="0">
                <a:solidFill>
                  <a:srgbClr val="FF0000"/>
                </a:solidFill>
                <a:latin typeface="微软雅黑" panose="020B0503020204020204" charset="-122"/>
                <a:ea typeface="微软雅黑" panose="020B0503020204020204" charset="-122"/>
                <a:sym typeface="Symbol" panose="05050102010706020507" pitchFamily="18" charset="2"/>
              </a:rPr>
              <a:t> 在哪里</a:t>
            </a:r>
            <a:r>
              <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rPr>
              <a:t>?</a:t>
            </a:r>
            <a:endPar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endParaRPr>
          </a:p>
          <a:p>
            <a:pPr marL="0" indent="0" defTabSz="457200">
              <a:lnSpc>
                <a:spcPct val="130000"/>
              </a:lnSpc>
              <a:buNone/>
              <a:defRPr/>
            </a:pPr>
            <a:r>
              <a:rPr lang="en-US" altLang="zh-CN" sz="2400" dirty="0">
                <a:solidFill>
                  <a:srgbClr val="FF0000"/>
                </a:solidFill>
                <a:latin typeface="微软雅黑" panose="020B0503020204020204" charset="-122"/>
                <a:ea typeface="微软雅黑" panose="020B0503020204020204" charset="-122"/>
                <a:sym typeface="Symbol" panose="05050102010706020507" pitchFamily="18" charset="2"/>
              </a:rPr>
              <a:t> </a:t>
            </a:r>
            <a:r>
              <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rPr>
              <a:t>  </a:t>
            </a:r>
            <a:r>
              <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rPr>
              <a:t> </a:t>
            </a:r>
            <a:r>
              <a:rPr lang="en-US" altLang="zh-CN" sz="2400" dirty="0" smtClean="0">
                <a:solidFill>
                  <a:srgbClr val="FF0000"/>
                </a:solidFill>
                <a:latin typeface="微软雅黑" panose="020B0503020204020204" charset="-122"/>
                <a:ea typeface="微软雅黑" panose="020B0503020204020204" charset="-122"/>
                <a:sym typeface="Symbol" panose="05050102010706020507" pitchFamily="18" charset="2"/>
              </a:rPr>
              <a:t> </a:t>
            </a:r>
            <a:r>
              <a:rPr lang="zh-CN" altLang="en-US" sz="2400" dirty="0">
                <a:solidFill>
                  <a:srgbClr val="FF0000"/>
                </a:solidFill>
                <a:latin typeface="微软雅黑" panose="020B0503020204020204" charset="-122"/>
                <a:ea typeface="微软雅黑" panose="020B0503020204020204" charset="-122"/>
                <a:sym typeface="Symbol" panose="05050102010706020507" pitchFamily="18" charset="2"/>
              </a:rPr>
              <a:t>内核栈</a:t>
            </a:r>
            <a:endParaRPr lang="zh-CN" altLang="zh-CN" sz="2400" dirty="0">
              <a:solidFill>
                <a:srgbClr val="FF0000"/>
              </a:solidFill>
              <a:latin typeface="微软雅黑" panose="020B0503020204020204" charset="-122"/>
              <a:ea typeface="微软雅黑" panose="020B0503020204020204" charset="-122"/>
              <a:sym typeface="Symbol" panose="05050102010706020507" pitchFamily="18" charset="2"/>
            </a:endParaRPr>
          </a:p>
        </p:txBody>
      </p:sp>
      <p:grpSp>
        <p:nvGrpSpPr>
          <p:cNvPr id="167998" name="Group 62"/>
          <p:cNvGrpSpPr/>
          <p:nvPr/>
        </p:nvGrpSpPr>
        <p:grpSpPr bwMode="auto">
          <a:xfrm>
            <a:off x="6019800" y="1295400"/>
            <a:ext cx="2647950" cy="5334000"/>
            <a:chOff x="3600" y="768"/>
            <a:chExt cx="1668" cy="3360"/>
          </a:xfrm>
        </p:grpSpPr>
        <p:sp>
          <p:nvSpPr>
            <p:cNvPr id="167999" name="Rectangle 63"/>
            <p:cNvSpPr>
              <a:spLocks noChangeArrowheads="1"/>
            </p:cNvSpPr>
            <p:nvPr/>
          </p:nvSpPr>
          <p:spPr bwMode="auto">
            <a:xfrm>
              <a:off x="4128" y="2208"/>
              <a:ext cx="1056" cy="624"/>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0" name="Text Box 64"/>
            <p:cNvSpPr txBox="1">
              <a:spLocks noChangeArrowheads="1"/>
            </p:cNvSpPr>
            <p:nvPr/>
          </p:nvSpPr>
          <p:spPr bwMode="auto">
            <a:xfrm>
              <a:off x="4107" y="2352"/>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2400" b="1">
                  <a:solidFill>
                    <a:prstClr val="black"/>
                  </a:solidFill>
                  <a:latin typeface="Arial" panose="020B0604020202020204"/>
                  <a:ea typeface="黑体" panose="02010609060101010101" pitchFamily="2" charset="-122"/>
                </a:rPr>
                <a:t>代码和数据</a:t>
              </a:r>
              <a:endParaRPr lang="zh-CN" altLang="en-US" sz="2400" b="1">
                <a:solidFill>
                  <a:prstClr val="black"/>
                </a:solidFill>
                <a:latin typeface="Arial" panose="020B0604020202020204"/>
                <a:ea typeface="黑体" panose="02010609060101010101" pitchFamily="2" charset="-122"/>
              </a:endParaRPr>
            </a:p>
          </p:txBody>
        </p:sp>
        <p:sp>
          <p:nvSpPr>
            <p:cNvPr id="168001" name="Line 65"/>
            <p:cNvSpPr>
              <a:spLocks noChangeShapeType="1"/>
            </p:cNvSpPr>
            <p:nvPr/>
          </p:nvSpPr>
          <p:spPr bwMode="auto">
            <a:xfrm>
              <a:off x="3600" y="2832"/>
              <a:ext cx="1584" cy="0"/>
            </a:xfrm>
            <a:prstGeom prst="line">
              <a:avLst/>
            </a:prstGeom>
            <a:noFill/>
            <a:ln w="9525">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2" name="Text Box 66"/>
            <p:cNvSpPr txBox="1">
              <a:spLocks noChangeArrowheads="1"/>
            </p:cNvSpPr>
            <p:nvPr/>
          </p:nvSpPr>
          <p:spPr bwMode="auto">
            <a:xfrm>
              <a:off x="3600" y="2448"/>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2400" b="1">
                  <a:solidFill>
                    <a:prstClr val="black"/>
                  </a:solidFill>
                  <a:latin typeface="Arial" panose="020B0604020202020204"/>
                  <a:ea typeface="黑体" panose="02010609060101010101" pitchFamily="2" charset="-122"/>
                </a:rPr>
                <a:t>用户</a:t>
              </a:r>
              <a:endParaRPr lang="zh-CN" altLang="en-US" sz="2400" b="1">
                <a:solidFill>
                  <a:prstClr val="black"/>
                </a:solidFill>
                <a:latin typeface="Arial" panose="020B0604020202020204"/>
                <a:ea typeface="黑体" panose="02010609060101010101" pitchFamily="2" charset="-122"/>
              </a:endParaRPr>
            </a:p>
          </p:txBody>
        </p:sp>
        <p:sp>
          <p:nvSpPr>
            <p:cNvPr id="168003" name="Text Box 67"/>
            <p:cNvSpPr txBox="1">
              <a:spLocks noChangeArrowheads="1"/>
            </p:cNvSpPr>
            <p:nvPr/>
          </p:nvSpPr>
          <p:spPr bwMode="auto">
            <a:xfrm>
              <a:off x="3600" y="2880"/>
              <a:ext cx="7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2400" b="1">
                  <a:solidFill>
                    <a:prstClr val="black"/>
                  </a:solidFill>
                  <a:latin typeface="Arial" panose="020B0604020202020204"/>
                  <a:ea typeface="黑体" panose="02010609060101010101" pitchFamily="2" charset="-122"/>
                </a:rPr>
                <a:t>内核</a:t>
              </a:r>
              <a:endParaRPr lang="zh-CN" altLang="en-US" sz="2400" b="1">
                <a:solidFill>
                  <a:prstClr val="black"/>
                </a:solidFill>
                <a:latin typeface="Arial" panose="020B0604020202020204"/>
                <a:ea typeface="黑体" panose="02010609060101010101" pitchFamily="2" charset="-122"/>
              </a:endParaRPr>
            </a:p>
          </p:txBody>
        </p:sp>
        <p:sp>
          <p:nvSpPr>
            <p:cNvPr id="168004" name="Rectangle 68"/>
            <p:cNvSpPr>
              <a:spLocks noChangeArrowheads="1"/>
            </p:cNvSpPr>
            <p:nvPr/>
          </p:nvSpPr>
          <p:spPr bwMode="auto">
            <a:xfrm>
              <a:off x="4128" y="3696"/>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5" name="Text Box 69"/>
            <p:cNvSpPr txBox="1">
              <a:spLocks noChangeArrowheads="1"/>
            </p:cNvSpPr>
            <p:nvPr/>
          </p:nvSpPr>
          <p:spPr bwMode="auto">
            <a:xfrm>
              <a:off x="4116" y="3744"/>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spcBef>
                  <a:spcPct val="50000"/>
                </a:spcBef>
                <a:defRPr/>
              </a:pPr>
              <a:r>
                <a:rPr lang="zh-CN" altLang="en-US" sz="2400" b="1">
                  <a:solidFill>
                    <a:prstClr val="black"/>
                  </a:solidFill>
                  <a:latin typeface="Arial" panose="020B0604020202020204"/>
                  <a:ea typeface="黑体" panose="02010609060101010101" pitchFamily="2" charset="-122"/>
                </a:rPr>
                <a:t>线程控制块</a:t>
              </a:r>
              <a:endParaRPr lang="zh-CN" altLang="en-US" sz="2400" b="1">
                <a:solidFill>
                  <a:prstClr val="black"/>
                </a:solidFill>
                <a:latin typeface="Arial" panose="020B0604020202020204"/>
                <a:ea typeface="黑体" panose="02010609060101010101" pitchFamily="2" charset="-122"/>
              </a:endParaRPr>
            </a:p>
          </p:txBody>
        </p:sp>
        <p:sp>
          <p:nvSpPr>
            <p:cNvPr id="168006" name="Rectangle 70"/>
            <p:cNvSpPr>
              <a:spLocks noChangeArrowheads="1"/>
            </p:cNvSpPr>
            <p:nvPr/>
          </p:nvSpPr>
          <p:spPr bwMode="auto">
            <a:xfrm>
              <a:off x="4128" y="3264"/>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7" name="Rectangle 71"/>
            <p:cNvSpPr>
              <a:spLocks noChangeArrowheads="1"/>
            </p:cNvSpPr>
            <p:nvPr/>
          </p:nvSpPr>
          <p:spPr bwMode="auto">
            <a:xfrm>
              <a:off x="4128" y="2832"/>
              <a:ext cx="1056" cy="432"/>
            </a:xfrm>
            <a:prstGeom prst="rect">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08" name="Text Box 72"/>
            <p:cNvSpPr txBox="1">
              <a:spLocks noChangeArrowheads="1"/>
            </p:cNvSpPr>
            <p:nvPr/>
          </p:nvSpPr>
          <p:spPr bwMode="auto">
            <a:xfrm>
              <a:off x="4080" y="2880"/>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457200">
                <a:spcBef>
                  <a:spcPct val="50000"/>
                </a:spcBef>
                <a:defRPr/>
              </a:pPr>
              <a:r>
                <a:rPr lang="zh-CN" altLang="en-US" sz="2400" b="1">
                  <a:solidFill>
                    <a:prstClr val="black"/>
                  </a:solidFill>
                  <a:latin typeface="Arial" panose="020B0604020202020204"/>
                  <a:ea typeface="黑体" panose="02010609060101010101" pitchFamily="2" charset="-122"/>
                </a:rPr>
                <a:t>内核栈</a:t>
              </a:r>
              <a:endParaRPr lang="zh-CN" altLang="en-US" sz="2400" b="1">
                <a:solidFill>
                  <a:prstClr val="black"/>
                </a:solidFill>
                <a:latin typeface="Arial" panose="020B0604020202020204"/>
                <a:ea typeface="黑体" panose="02010609060101010101" pitchFamily="2" charset="-122"/>
              </a:endParaRPr>
            </a:p>
          </p:txBody>
        </p:sp>
        <p:sp>
          <p:nvSpPr>
            <p:cNvPr id="168009" name="Rectangle 73"/>
            <p:cNvSpPr>
              <a:spLocks noChangeArrowheads="1"/>
            </p:cNvSpPr>
            <p:nvPr/>
          </p:nvSpPr>
          <p:spPr bwMode="auto">
            <a:xfrm>
              <a:off x="4128" y="1776"/>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10" name="Rectangle 74"/>
            <p:cNvSpPr>
              <a:spLocks noChangeArrowheads="1"/>
            </p:cNvSpPr>
            <p:nvPr/>
          </p:nvSpPr>
          <p:spPr bwMode="auto">
            <a:xfrm>
              <a:off x="4128" y="1200"/>
              <a:ext cx="1056" cy="576"/>
            </a:xfrm>
            <a:prstGeom prst="rect">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sp>
          <p:nvSpPr>
            <p:cNvPr id="168011" name="Text Box 75"/>
            <p:cNvSpPr txBox="1">
              <a:spLocks noChangeArrowheads="1"/>
            </p:cNvSpPr>
            <p:nvPr/>
          </p:nvSpPr>
          <p:spPr bwMode="auto">
            <a:xfrm>
              <a:off x="4128" y="1344"/>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457200">
                <a:spcBef>
                  <a:spcPct val="50000"/>
                </a:spcBef>
                <a:defRPr/>
              </a:pPr>
              <a:r>
                <a:rPr lang="zh-CN" altLang="en-US" sz="2400" b="1">
                  <a:solidFill>
                    <a:prstClr val="black"/>
                  </a:solidFill>
                  <a:latin typeface="Arial" panose="020B0604020202020204"/>
                  <a:ea typeface="黑体" panose="02010609060101010101" pitchFamily="2" charset="-122"/>
                </a:rPr>
                <a:t>用户栈</a:t>
              </a:r>
              <a:endParaRPr lang="zh-CN" altLang="en-US" sz="2400" b="1">
                <a:solidFill>
                  <a:prstClr val="black"/>
                </a:solidFill>
                <a:latin typeface="Arial" panose="020B0604020202020204"/>
                <a:ea typeface="黑体" panose="02010609060101010101" pitchFamily="2" charset="-122"/>
              </a:endParaRPr>
            </a:p>
          </p:txBody>
        </p:sp>
        <p:sp>
          <p:nvSpPr>
            <p:cNvPr id="168012" name="Rectangle 76"/>
            <p:cNvSpPr>
              <a:spLocks noChangeArrowheads="1"/>
            </p:cNvSpPr>
            <p:nvPr/>
          </p:nvSpPr>
          <p:spPr bwMode="auto">
            <a:xfrm>
              <a:off x="4128" y="768"/>
              <a:ext cx="1056" cy="432"/>
            </a:xfrm>
            <a:prstGeom prst="rect">
              <a:avLst/>
            </a:prstGeom>
            <a:solidFill>
              <a:schemeClr val="bg1"/>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defRPr/>
              </a:pPr>
              <a:endParaRPr lang="zh-CN" altLang="en-US">
                <a:solidFill>
                  <a:prstClr val="black"/>
                </a:solidFill>
                <a:latin typeface="Arial" panose="020B0604020202020204"/>
                <a:ea typeface="黑体" panose="02010609060101010101" pitchFamily="2" charset="-122"/>
              </a:endParaRPr>
            </a:p>
          </p:txBody>
        </p:sp>
      </p:grpSp>
      <p:grpSp>
        <p:nvGrpSpPr>
          <p:cNvPr id="168018" name="Group 82"/>
          <p:cNvGrpSpPr/>
          <p:nvPr/>
        </p:nvGrpSpPr>
        <p:grpSpPr bwMode="auto">
          <a:xfrm>
            <a:off x="493713" y="3710517"/>
            <a:ext cx="4114800" cy="1127125"/>
            <a:chOff x="624" y="2064"/>
            <a:chExt cx="2592" cy="710"/>
          </a:xfrm>
        </p:grpSpPr>
        <p:sp>
          <p:nvSpPr>
            <p:cNvPr id="168014" name="Rectangle 78"/>
            <p:cNvSpPr>
              <a:spLocks noChangeArrowheads="1"/>
            </p:cNvSpPr>
            <p:nvPr/>
          </p:nvSpPr>
          <p:spPr bwMode="auto">
            <a:xfrm>
              <a:off x="624" y="2064"/>
              <a:ext cx="2592"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400" b="1" dirty="0">
                  <a:solidFill>
                    <a:prstClr val="black"/>
                  </a:solidFill>
                  <a:latin typeface="微软雅黑" panose="020B0503020204020204" charset="-122"/>
                  <a:ea typeface="微软雅黑" panose="020B0503020204020204" charset="-122"/>
                </a:rPr>
                <a:t>每个执行序列需有两个栈</a:t>
              </a:r>
              <a:r>
                <a:rPr lang="en-US" altLang="zh-CN" sz="2400" b="1" dirty="0">
                  <a:solidFill>
                    <a:prstClr val="black"/>
                  </a:solidFill>
                  <a:latin typeface="微软雅黑" panose="020B0503020204020204" charset="-122"/>
                  <a:ea typeface="微软雅黑" panose="020B0503020204020204" charset="-122"/>
                </a:rPr>
                <a:t>: </a:t>
              </a:r>
              <a:r>
                <a:rPr lang="zh-CN" altLang="en-US" sz="2400" b="1" dirty="0">
                  <a:solidFill>
                    <a:prstClr val="black"/>
                  </a:solidFill>
                  <a:latin typeface="微软雅黑" panose="020B0503020204020204" charset="-122"/>
                  <a:ea typeface="微软雅黑" panose="020B0503020204020204" charset="-122"/>
                </a:rPr>
                <a:t>用户栈</a:t>
              </a:r>
              <a:r>
                <a:rPr lang="en-US" altLang="zh-CN" sz="2400" b="1" dirty="0">
                  <a:solidFill>
                    <a:prstClr val="black"/>
                  </a:solidFill>
                  <a:latin typeface="微软雅黑" panose="020B0503020204020204" charset="-122"/>
                  <a:ea typeface="微软雅黑" panose="020B0503020204020204" charset="-122"/>
                </a:rPr>
                <a:t>+</a:t>
              </a:r>
              <a:r>
                <a:rPr lang="zh-CN" altLang="en-US" sz="2400" b="1" dirty="0">
                  <a:solidFill>
                    <a:prstClr val="black"/>
                  </a:solidFill>
                  <a:latin typeface="微软雅黑" panose="020B0503020204020204" charset="-122"/>
                  <a:ea typeface="微软雅黑" panose="020B0503020204020204" charset="-122"/>
                </a:rPr>
                <a:t>内核栈</a:t>
              </a:r>
              <a:endParaRPr lang="zh-CN" altLang="en-US" sz="2400" b="1" dirty="0">
                <a:solidFill>
                  <a:prstClr val="black"/>
                </a:solidFill>
                <a:latin typeface="微软雅黑" panose="020B0503020204020204" charset="-122"/>
                <a:ea typeface="微软雅黑" panose="020B0503020204020204" charset="-122"/>
              </a:endParaRPr>
            </a:p>
          </p:txBody>
        </p:sp>
        <p:pic>
          <p:nvPicPr>
            <p:cNvPr id="168015" name="Picture 7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9" y="2213"/>
              <a:ext cx="119" cy="1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8020" name="Group 84"/>
          <p:cNvGrpSpPr/>
          <p:nvPr/>
        </p:nvGrpSpPr>
        <p:grpSpPr bwMode="auto">
          <a:xfrm>
            <a:off x="493713" y="4882092"/>
            <a:ext cx="5181600" cy="1273175"/>
            <a:chOff x="624" y="2802"/>
            <a:chExt cx="3264" cy="802"/>
          </a:xfrm>
        </p:grpSpPr>
        <p:sp>
          <p:nvSpPr>
            <p:cNvPr id="167973" name="Rectangle 37"/>
            <p:cNvSpPr>
              <a:spLocks noChangeArrowheads="1"/>
            </p:cNvSpPr>
            <p:nvPr/>
          </p:nvSpPr>
          <p:spPr bwMode="auto">
            <a:xfrm>
              <a:off x="624" y="2802"/>
              <a:ext cx="326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400" b="1">
                  <a:solidFill>
                    <a:prstClr val="black"/>
                  </a:solidFill>
                  <a:latin typeface="微软雅黑" panose="020B0503020204020204" charset="-122"/>
                  <a:ea typeface="微软雅黑" panose="020B0503020204020204" charset="-122"/>
                </a:rPr>
                <a:t>用户栈：</a:t>
              </a:r>
              <a:r>
                <a:rPr lang="zh-CN" altLang="en-US" sz="2400" b="1">
                  <a:solidFill>
                    <a:srgbClr val="FF0000"/>
                  </a:solidFill>
                  <a:latin typeface="微软雅黑" panose="020B0503020204020204" charset="-122"/>
                  <a:ea typeface="微软雅黑" panose="020B0503020204020204" charset="-122"/>
                </a:rPr>
                <a:t>普通的函数调用</a:t>
              </a:r>
              <a:endParaRPr lang="zh-CN" altLang="en-US" sz="2400" b="1">
                <a:solidFill>
                  <a:srgbClr val="FF0000"/>
                </a:solidFill>
                <a:latin typeface="微软雅黑" panose="020B0503020204020204" charset="-122"/>
                <a:ea typeface="微软雅黑" panose="020B0503020204020204" charset="-122"/>
              </a:endParaRPr>
            </a:p>
          </p:txBody>
        </p:sp>
        <p:sp>
          <p:nvSpPr>
            <p:cNvPr id="167976" name="Rectangle 40"/>
            <p:cNvSpPr>
              <a:spLocks noChangeArrowheads="1"/>
            </p:cNvSpPr>
            <p:nvPr/>
          </p:nvSpPr>
          <p:spPr bwMode="auto">
            <a:xfrm>
              <a:off x="624" y="3220"/>
              <a:ext cx="312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defTabSz="457200">
                <a:lnSpc>
                  <a:spcPct val="140000"/>
                </a:lnSpc>
                <a:defRPr/>
              </a:pPr>
              <a:r>
                <a:rPr lang="zh-CN" altLang="en-US" sz="2400" b="1">
                  <a:solidFill>
                    <a:prstClr val="black"/>
                  </a:solidFill>
                  <a:latin typeface="微软雅黑" panose="020B0503020204020204" charset="-122"/>
                  <a:ea typeface="微软雅黑" panose="020B0503020204020204" charset="-122"/>
                </a:rPr>
                <a:t>内核栈：</a:t>
              </a:r>
              <a:r>
                <a:rPr lang="zh-CN" altLang="en-US" sz="2400" b="1">
                  <a:solidFill>
                    <a:srgbClr val="FF0000"/>
                  </a:solidFill>
                  <a:latin typeface="微软雅黑" panose="020B0503020204020204" charset="-122"/>
                  <a:ea typeface="微软雅黑" panose="020B0503020204020204" charset="-122"/>
                </a:rPr>
                <a:t>系统调用、中断处理</a:t>
              </a:r>
              <a:endParaRPr lang="zh-CN" altLang="en-US" sz="2400" b="1">
                <a:solidFill>
                  <a:srgbClr val="FF0000"/>
                </a:solidFill>
                <a:latin typeface="微软雅黑" panose="020B0503020204020204" charset="-122"/>
                <a:ea typeface="微软雅黑" panose="020B0503020204020204" charset="-122"/>
              </a:endParaRPr>
            </a:p>
          </p:txBody>
        </p:sp>
        <p:pic>
          <p:nvPicPr>
            <p:cNvPr id="168016" name="Picture 8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 y="2970"/>
              <a:ext cx="129" cy="121"/>
            </a:xfrm>
            <a:prstGeom prst="rect">
              <a:avLst/>
            </a:prstGeom>
            <a:noFill/>
            <a:extLst>
              <a:ext uri="{909E8E84-426E-40DD-AFC4-6F175D3DCCD1}">
                <a14:hiddenFill xmlns:a14="http://schemas.microsoft.com/office/drawing/2010/main">
                  <a:solidFill>
                    <a:srgbClr val="FFFFFF"/>
                  </a:solidFill>
                </a14:hiddenFill>
              </a:ext>
            </a:extLst>
          </p:spPr>
        </p:pic>
        <p:pic>
          <p:nvPicPr>
            <p:cNvPr id="168017" name="Picture 8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 y="3395"/>
              <a:ext cx="129" cy="12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7967"/>
                                        </p:tgtEl>
                                        <p:attrNameLst>
                                          <p:attrName>style.visibility</p:attrName>
                                        </p:attrNameLst>
                                      </p:cBhvr>
                                      <p:to>
                                        <p:strVal val="visible"/>
                                      </p:to>
                                    </p:set>
                                    <p:animEffect transition="in" filter="dissolve">
                                      <p:cBhvr>
                                        <p:cTn id="7" dur="500"/>
                                        <p:tgtEl>
                                          <p:spTgt spid="1679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7968"/>
                                        </p:tgtEl>
                                        <p:attrNameLst>
                                          <p:attrName>style.visibility</p:attrName>
                                        </p:attrNameLst>
                                      </p:cBhvr>
                                      <p:to>
                                        <p:strVal val="visible"/>
                                      </p:to>
                                    </p:set>
                                    <p:animEffect transition="in" filter="dissolve">
                                      <p:cBhvr>
                                        <p:cTn id="12" dur="500"/>
                                        <p:tgtEl>
                                          <p:spTgt spid="16796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8018"/>
                                        </p:tgtEl>
                                        <p:attrNameLst>
                                          <p:attrName>style.visibility</p:attrName>
                                        </p:attrNameLst>
                                      </p:cBhvr>
                                      <p:to>
                                        <p:strVal val="visible"/>
                                      </p:to>
                                    </p:set>
                                    <p:animEffect transition="in" filter="dissolve">
                                      <p:cBhvr>
                                        <p:cTn id="17" dur="500"/>
                                        <p:tgtEl>
                                          <p:spTgt spid="1680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8020"/>
                                        </p:tgtEl>
                                        <p:attrNameLst>
                                          <p:attrName>style.visibility</p:attrName>
                                        </p:attrNameLst>
                                      </p:cBhvr>
                                      <p:to>
                                        <p:strVal val="visible"/>
                                      </p:to>
                                    </p:set>
                                    <p:animEffect transition="in" filter="dissolve">
                                      <p:cBhvr>
                                        <p:cTn id="22" dur="500"/>
                                        <p:tgtEl>
                                          <p:spTgt spid="1680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7998"/>
                                        </p:tgtEl>
                                        <p:attrNameLst>
                                          <p:attrName>style.visibility</p:attrName>
                                        </p:attrNameLst>
                                      </p:cBhvr>
                                      <p:to>
                                        <p:strVal val="visible"/>
                                      </p:to>
                                    </p:set>
                                    <p:animEffect transition="in" filter="dissolve">
                                      <p:cBhvr>
                                        <p:cTn id="27" dur="500"/>
                                        <p:tgtEl>
                                          <p:spTgt spid="167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67" grpId="0" bldLvl="0" animBg="1"/>
      <p:bldP spid="167968" grpId="0" bldLvl="0" animBg="1"/>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4_6"/>
          <p:cNvPicPr>
            <a:picLocks noChangeAspect="1" noChangeArrowheads="1"/>
          </p:cNvPicPr>
          <p:nvPr/>
        </p:nvPicPr>
        <p:blipFill rotWithShape="1">
          <a:blip r:embed="rId1">
            <a:extLst>
              <a:ext uri="{28A0092B-C50C-407E-A947-70E740481C1C}">
                <a14:useLocalDpi xmlns:a14="http://schemas.microsoft.com/office/drawing/2010/main" val="0"/>
              </a:ext>
            </a:extLst>
          </a:blip>
          <a:srcRect b="17629"/>
          <a:stretch>
            <a:fillRect/>
          </a:stretch>
        </p:blipFill>
        <p:spPr bwMode="auto">
          <a:xfrm>
            <a:off x="762000" y="2057400"/>
            <a:ext cx="7727315" cy="372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62000" y="609600"/>
            <a:ext cx="7989570" cy="521970"/>
          </a:xfrm>
          <a:prstGeom prst="rect">
            <a:avLst/>
          </a:prstGeom>
          <a:noFill/>
        </p:spPr>
        <p:txBody>
          <a:bodyPr wrap="square" rtlCol="0">
            <a:spAutoFit/>
          </a:bodyPr>
          <a:p>
            <a:pPr marL="0" indent="0">
              <a:buNone/>
            </a:pPr>
            <a:r>
              <a:rPr kumimoji="1" lang="en-US" altLang="zh-CN" sz="2800" b="1" dirty="0">
                <a:solidFill>
                  <a:srgbClr val="0070C0"/>
                </a:solidFill>
                <a:latin typeface="微软雅黑" panose="020B0503020204020204" charset="-122"/>
                <a:ea typeface="微软雅黑" panose="020B0503020204020204" charset="-122"/>
                <a:sym typeface="+mn-ea"/>
              </a:rPr>
              <a:t>3. </a:t>
            </a:r>
            <a:r>
              <a:rPr kumimoji="1" lang="zh-CN" altLang="en-US" sz="2800" b="1" dirty="0">
                <a:solidFill>
                  <a:srgbClr val="0070C0"/>
                </a:solidFill>
                <a:latin typeface="微软雅黑" panose="020B0503020204020204" charset="-122"/>
                <a:ea typeface="微软雅黑" panose="020B0503020204020204" charset="-122"/>
                <a:sym typeface="+mn-ea"/>
              </a:rPr>
              <a:t>组合方式（用户级线程和内核支持线程并存）</a:t>
            </a:r>
            <a:endParaRPr kumimoji="1" lang="zh-CN" altLang="en-US" sz="2800" b="1" dirty="0">
              <a:solidFill>
                <a:srgbClr val="0070C0"/>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zh-CN" altLang="en-US"/>
              <a:t>实现方案的对比</a:t>
            </a:r>
            <a:endParaRPr lang="zh-CN" altLang="en-US"/>
          </a:p>
        </p:txBody>
      </p:sp>
      <p:grpSp>
        <p:nvGrpSpPr>
          <p:cNvPr id="2" name="组合 1"/>
          <p:cNvGrpSpPr/>
          <p:nvPr/>
        </p:nvGrpSpPr>
        <p:grpSpPr>
          <a:xfrm>
            <a:off x="702945" y="1885251"/>
            <a:ext cx="6969841" cy="4521835"/>
            <a:chOff x="2307" y="2969"/>
            <a:chExt cx="9450" cy="6030"/>
          </a:xfrm>
        </p:grpSpPr>
        <p:sp>
          <p:nvSpPr>
            <p:cNvPr id="169005" name="Line 45"/>
            <p:cNvSpPr>
              <a:spLocks noChangeShapeType="1"/>
            </p:cNvSpPr>
            <p:nvPr/>
          </p:nvSpPr>
          <p:spPr bwMode="auto">
            <a:xfrm>
              <a:off x="2577" y="368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6" name="Line 46"/>
            <p:cNvSpPr>
              <a:spLocks noChangeShapeType="1"/>
            </p:cNvSpPr>
            <p:nvPr/>
          </p:nvSpPr>
          <p:spPr bwMode="auto">
            <a:xfrm>
              <a:off x="4557" y="2969"/>
              <a:ext cx="0" cy="60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7" name="Line 47"/>
            <p:cNvSpPr>
              <a:spLocks noChangeShapeType="1"/>
            </p:cNvSpPr>
            <p:nvPr/>
          </p:nvSpPr>
          <p:spPr bwMode="auto">
            <a:xfrm>
              <a:off x="6987" y="2969"/>
              <a:ext cx="0" cy="60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08" name="Line 48"/>
            <p:cNvSpPr>
              <a:spLocks noChangeShapeType="1"/>
            </p:cNvSpPr>
            <p:nvPr/>
          </p:nvSpPr>
          <p:spPr bwMode="auto">
            <a:xfrm>
              <a:off x="9417" y="2969"/>
              <a:ext cx="0" cy="60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0" name="Line 50"/>
            <p:cNvSpPr>
              <a:spLocks noChangeShapeType="1"/>
            </p:cNvSpPr>
            <p:nvPr/>
          </p:nvSpPr>
          <p:spPr bwMode="auto">
            <a:xfrm>
              <a:off x="2577" y="827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1" name="Line 51"/>
            <p:cNvSpPr>
              <a:spLocks noChangeShapeType="1"/>
            </p:cNvSpPr>
            <p:nvPr/>
          </p:nvSpPr>
          <p:spPr bwMode="auto">
            <a:xfrm>
              <a:off x="11757" y="2969"/>
              <a:ext cx="0" cy="603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2" name="Line 52"/>
            <p:cNvSpPr>
              <a:spLocks noChangeShapeType="1"/>
            </p:cNvSpPr>
            <p:nvPr/>
          </p:nvSpPr>
          <p:spPr bwMode="auto">
            <a:xfrm>
              <a:off x="2577" y="683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13" name="Text Box 53"/>
            <p:cNvSpPr txBox="1">
              <a:spLocks noChangeArrowheads="1"/>
            </p:cNvSpPr>
            <p:nvPr/>
          </p:nvSpPr>
          <p:spPr bwMode="auto">
            <a:xfrm>
              <a:off x="4737" y="3059"/>
              <a:ext cx="225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FF0000"/>
                  </a:solidFill>
                  <a:latin typeface="Arial" panose="020B0604020202020204"/>
                  <a:ea typeface="黑体" panose="02010609060101010101" pitchFamily="2" charset="-122"/>
                </a:rPr>
                <a:t>用户级线程</a:t>
              </a:r>
              <a:endParaRPr lang="zh-CN" altLang="en-US" sz="1800" b="1">
                <a:solidFill>
                  <a:srgbClr val="FF0000"/>
                </a:solidFill>
                <a:latin typeface="Arial" panose="020B0604020202020204"/>
                <a:ea typeface="黑体" panose="02010609060101010101" pitchFamily="2" charset="-122"/>
              </a:endParaRPr>
            </a:p>
          </p:txBody>
        </p:sp>
        <p:sp>
          <p:nvSpPr>
            <p:cNvPr id="169014" name="Text Box 54"/>
            <p:cNvSpPr txBox="1">
              <a:spLocks noChangeArrowheads="1"/>
            </p:cNvSpPr>
            <p:nvPr/>
          </p:nvSpPr>
          <p:spPr bwMode="auto">
            <a:xfrm>
              <a:off x="6987" y="3059"/>
              <a:ext cx="2545"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zh-CN" altLang="en-US" sz="1800" b="1" dirty="0">
                  <a:solidFill>
                    <a:srgbClr val="FF0000"/>
                  </a:solidFill>
                  <a:latin typeface="Arial" panose="020B0604020202020204"/>
                  <a:ea typeface="黑体" panose="02010609060101010101" pitchFamily="2" charset="-122"/>
                </a:rPr>
                <a:t>内核支持线程</a:t>
              </a:r>
              <a:endParaRPr lang="zh-CN" altLang="en-US" sz="1800" b="1" dirty="0">
                <a:solidFill>
                  <a:srgbClr val="FF0000"/>
                </a:solidFill>
                <a:latin typeface="Arial" panose="020B0604020202020204"/>
                <a:ea typeface="黑体" panose="02010609060101010101" pitchFamily="2" charset="-122"/>
              </a:endParaRPr>
            </a:p>
          </p:txBody>
        </p:sp>
        <p:sp>
          <p:nvSpPr>
            <p:cNvPr id="169015" name="Text Box 55"/>
            <p:cNvSpPr txBox="1">
              <a:spLocks noChangeArrowheads="1"/>
            </p:cNvSpPr>
            <p:nvPr/>
          </p:nvSpPr>
          <p:spPr bwMode="auto">
            <a:xfrm>
              <a:off x="9417" y="3093"/>
              <a:ext cx="2250" cy="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dirty="0">
                  <a:solidFill>
                    <a:srgbClr val="FF0000"/>
                  </a:solidFill>
                  <a:latin typeface="Arial" panose="020B0604020202020204"/>
                  <a:ea typeface="黑体" panose="02010609060101010101" pitchFamily="2" charset="-122"/>
                </a:rPr>
                <a:t>用户</a:t>
              </a:r>
              <a:r>
                <a:rPr lang="en-US" altLang="zh-CN" sz="1800" b="1" dirty="0">
                  <a:solidFill>
                    <a:srgbClr val="FF0000"/>
                  </a:solidFill>
                  <a:latin typeface="Arial" panose="020B0604020202020204"/>
                  <a:ea typeface="黑体" panose="02010609060101010101" pitchFamily="2" charset="-122"/>
                </a:rPr>
                <a:t>+</a:t>
              </a:r>
              <a:r>
                <a:rPr lang="zh-CN" altLang="en-US" sz="1800" b="1" dirty="0">
                  <a:solidFill>
                    <a:srgbClr val="FF0000"/>
                  </a:solidFill>
                  <a:latin typeface="Arial" panose="020B0604020202020204"/>
                  <a:ea typeface="黑体" panose="02010609060101010101" pitchFamily="2" charset="-122"/>
                </a:rPr>
                <a:t>内核级</a:t>
              </a:r>
              <a:endParaRPr lang="zh-CN" altLang="en-US" sz="1800" b="1" dirty="0">
                <a:solidFill>
                  <a:srgbClr val="FF0000"/>
                </a:solidFill>
                <a:latin typeface="Arial" panose="020B0604020202020204"/>
                <a:ea typeface="黑体" panose="02010609060101010101" pitchFamily="2" charset="-122"/>
              </a:endParaRPr>
            </a:p>
          </p:txBody>
        </p:sp>
        <p:sp>
          <p:nvSpPr>
            <p:cNvPr id="169016" name="Text Box 56"/>
            <p:cNvSpPr txBox="1">
              <a:spLocks noChangeArrowheads="1"/>
            </p:cNvSpPr>
            <p:nvPr/>
          </p:nvSpPr>
          <p:spPr bwMode="auto">
            <a:xfrm>
              <a:off x="2791" y="6209"/>
              <a:ext cx="15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并发度</a:t>
              </a:r>
              <a:endParaRPr lang="zh-CN" altLang="en-US" sz="1800" b="1">
                <a:solidFill>
                  <a:srgbClr val="629DD1"/>
                </a:solidFill>
                <a:latin typeface="Arial" panose="020B0604020202020204"/>
                <a:ea typeface="黑体" panose="02010609060101010101" pitchFamily="2" charset="-122"/>
              </a:endParaRPr>
            </a:p>
          </p:txBody>
        </p:sp>
        <p:sp>
          <p:nvSpPr>
            <p:cNvPr id="169017" name="Text Box 57"/>
            <p:cNvSpPr txBox="1">
              <a:spLocks noChangeArrowheads="1"/>
            </p:cNvSpPr>
            <p:nvPr/>
          </p:nvSpPr>
          <p:spPr bwMode="auto">
            <a:xfrm>
              <a:off x="5457" y="620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低</a:t>
              </a:r>
              <a:endParaRPr lang="zh-CN" altLang="en-US" sz="1800" b="1">
                <a:solidFill>
                  <a:prstClr val="black"/>
                </a:solidFill>
                <a:latin typeface="Arial" panose="020B0604020202020204"/>
                <a:ea typeface="黑体" panose="02010609060101010101" pitchFamily="2" charset="-122"/>
              </a:endParaRPr>
            </a:p>
          </p:txBody>
        </p:sp>
        <p:sp>
          <p:nvSpPr>
            <p:cNvPr id="169019" name="Text Box 59"/>
            <p:cNvSpPr txBox="1">
              <a:spLocks noChangeArrowheads="1"/>
            </p:cNvSpPr>
            <p:nvPr/>
          </p:nvSpPr>
          <p:spPr bwMode="auto">
            <a:xfrm>
              <a:off x="7887" y="620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高</a:t>
              </a:r>
              <a:endParaRPr lang="zh-CN" altLang="en-US" sz="1800" b="1">
                <a:solidFill>
                  <a:prstClr val="black"/>
                </a:solidFill>
                <a:latin typeface="Arial" panose="020B0604020202020204"/>
                <a:ea typeface="黑体" panose="02010609060101010101" pitchFamily="2" charset="-122"/>
              </a:endParaRPr>
            </a:p>
          </p:txBody>
        </p:sp>
        <p:sp>
          <p:nvSpPr>
            <p:cNvPr id="169020" name="Text Box 60"/>
            <p:cNvSpPr txBox="1">
              <a:spLocks noChangeArrowheads="1"/>
            </p:cNvSpPr>
            <p:nvPr/>
          </p:nvSpPr>
          <p:spPr bwMode="auto">
            <a:xfrm>
              <a:off x="10317" y="620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高</a:t>
              </a:r>
              <a:endParaRPr lang="zh-CN" altLang="en-US" sz="1800" b="1">
                <a:solidFill>
                  <a:prstClr val="black"/>
                </a:solidFill>
                <a:latin typeface="Arial" panose="020B0604020202020204"/>
                <a:ea typeface="黑体" panose="02010609060101010101" pitchFamily="2" charset="-122"/>
              </a:endParaRPr>
            </a:p>
          </p:txBody>
        </p:sp>
        <p:sp>
          <p:nvSpPr>
            <p:cNvPr id="169021" name="Text Box 61"/>
            <p:cNvSpPr txBox="1">
              <a:spLocks noChangeArrowheads="1"/>
            </p:cNvSpPr>
            <p:nvPr/>
          </p:nvSpPr>
          <p:spPr bwMode="auto">
            <a:xfrm>
              <a:off x="2667" y="6929"/>
              <a:ext cx="15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代价</a:t>
              </a:r>
              <a:endParaRPr lang="zh-CN" altLang="en-US" sz="1800" b="1">
                <a:solidFill>
                  <a:srgbClr val="629DD1"/>
                </a:solidFill>
                <a:latin typeface="Arial" panose="020B0604020202020204"/>
                <a:ea typeface="黑体" panose="02010609060101010101" pitchFamily="2" charset="-122"/>
              </a:endParaRPr>
            </a:p>
          </p:txBody>
        </p:sp>
        <p:sp>
          <p:nvSpPr>
            <p:cNvPr id="169022" name="Text Box 62"/>
            <p:cNvSpPr txBox="1">
              <a:spLocks noChangeArrowheads="1"/>
            </p:cNvSpPr>
            <p:nvPr/>
          </p:nvSpPr>
          <p:spPr bwMode="auto">
            <a:xfrm>
              <a:off x="5457" y="692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小</a:t>
              </a:r>
              <a:endParaRPr lang="zh-CN" altLang="en-US" sz="1800" b="1">
                <a:solidFill>
                  <a:prstClr val="black"/>
                </a:solidFill>
                <a:latin typeface="Arial" panose="020B0604020202020204"/>
                <a:ea typeface="黑体" panose="02010609060101010101" pitchFamily="2" charset="-122"/>
              </a:endParaRPr>
            </a:p>
          </p:txBody>
        </p:sp>
        <p:sp>
          <p:nvSpPr>
            <p:cNvPr id="169023" name="Text Box 63"/>
            <p:cNvSpPr txBox="1">
              <a:spLocks noChangeArrowheads="1"/>
            </p:cNvSpPr>
            <p:nvPr/>
          </p:nvSpPr>
          <p:spPr bwMode="auto">
            <a:xfrm>
              <a:off x="7887" y="692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24" name="Text Box 64"/>
            <p:cNvSpPr txBox="1">
              <a:spLocks noChangeArrowheads="1"/>
            </p:cNvSpPr>
            <p:nvPr/>
          </p:nvSpPr>
          <p:spPr bwMode="auto">
            <a:xfrm>
              <a:off x="10317" y="692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中</a:t>
              </a:r>
              <a:endParaRPr lang="zh-CN" altLang="en-US" sz="1800" b="1">
                <a:solidFill>
                  <a:prstClr val="black"/>
                </a:solidFill>
                <a:latin typeface="Arial" panose="020B0604020202020204"/>
                <a:ea typeface="黑体" panose="02010609060101010101" pitchFamily="2" charset="-122"/>
              </a:endParaRPr>
            </a:p>
          </p:txBody>
        </p:sp>
        <p:sp>
          <p:nvSpPr>
            <p:cNvPr id="169025" name="Line 65"/>
            <p:cNvSpPr>
              <a:spLocks noChangeShapeType="1"/>
            </p:cNvSpPr>
            <p:nvPr/>
          </p:nvSpPr>
          <p:spPr bwMode="auto">
            <a:xfrm>
              <a:off x="2577" y="755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27" name="Text Box 67"/>
            <p:cNvSpPr txBox="1">
              <a:spLocks noChangeArrowheads="1"/>
            </p:cNvSpPr>
            <p:nvPr/>
          </p:nvSpPr>
          <p:spPr bwMode="auto">
            <a:xfrm>
              <a:off x="2307" y="7649"/>
              <a:ext cx="216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内核改动</a:t>
              </a:r>
              <a:endParaRPr lang="zh-CN" altLang="en-US" sz="1800" b="1">
                <a:solidFill>
                  <a:srgbClr val="629DD1"/>
                </a:solidFill>
                <a:latin typeface="Arial" panose="020B0604020202020204"/>
                <a:ea typeface="黑体" panose="02010609060101010101" pitchFamily="2" charset="-122"/>
              </a:endParaRPr>
            </a:p>
          </p:txBody>
        </p:sp>
        <p:sp>
          <p:nvSpPr>
            <p:cNvPr id="169028" name="Text Box 68"/>
            <p:cNvSpPr txBox="1">
              <a:spLocks noChangeArrowheads="1"/>
            </p:cNvSpPr>
            <p:nvPr/>
          </p:nvSpPr>
          <p:spPr bwMode="auto">
            <a:xfrm>
              <a:off x="5457" y="764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无</a:t>
              </a:r>
              <a:endParaRPr lang="zh-CN" altLang="en-US" sz="1800" b="1">
                <a:solidFill>
                  <a:prstClr val="black"/>
                </a:solidFill>
                <a:latin typeface="Arial" panose="020B0604020202020204"/>
                <a:ea typeface="黑体" panose="02010609060101010101" pitchFamily="2" charset="-122"/>
              </a:endParaRPr>
            </a:p>
          </p:txBody>
        </p:sp>
        <p:sp>
          <p:nvSpPr>
            <p:cNvPr id="169029" name="Text Box 69"/>
            <p:cNvSpPr txBox="1">
              <a:spLocks noChangeArrowheads="1"/>
            </p:cNvSpPr>
            <p:nvPr/>
          </p:nvSpPr>
          <p:spPr bwMode="auto">
            <a:xfrm>
              <a:off x="7887" y="764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30" name="Text Box 70"/>
            <p:cNvSpPr txBox="1">
              <a:spLocks noChangeArrowheads="1"/>
            </p:cNvSpPr>
            <p:nvPr/>
          </p:nvSpPr>
          <p:spPr bwMode="auto">
            <a:xfrm>
              <a:off x="10317" y="764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31" name="Line 71"/>
            <p:cNvSpPr>
              <a:spLocks noChangeShapeType="1"/>
            </p:cNvSpPr>
            <p:nvPr/>
          </p:nvSpPr>
          <p:spPr bwMode="auto">
            <a:xfrm>
              <a:off x="2577" y="539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2" name="Text Box 72"/>
            <p:cNvSpPr txBox="1">
              <a:spLocks noChangeArrowheads="1"/>
            </p:cNvSpPr>
            <p:nvPr/>
          </p:nvSpPr>
          <p:spPr bwMode="auto">
            <a:xfrm>
              <a:off x="2757" y="4319"/>
              <a:ext cx="1693" cy="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实现模型</a:t>
              </a:r>
              <a:endParaRPr lang="zh-CN" altLang="en-US" sz="1800" b="1">
                <a:solidFill>
                  <a:srgbClr val="629DD1"/>
                </a:solidFill>
                <a:latin typeface="Arial" panose="020B0604020202020204"/>
                <a:ea typeface="黑体" panose="02010609060101010101" pitchFamily="2" charset="-122"/>
              </a:endParaRPr>
            </a:p>
          </p:txBody>
        </p:sp>
        <p:sp>
          <p:nvSpPr>
            <p:cNvPr id="169033" name="Freeform 73"/>
            <p:cNvSpPr/>
            <p:nvPr/>
          </p:nvSpPr>
          <p:spPr bwMode="auto">
            <a:xfrm>
              <a:off x="491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34" name="Group 74"/>
            <p:cNvGrpSpPr/>
            <p:nvPr/>
          </p:nvGrpSpPr>
          <p:grpSpPr bwMode="auto">
            <a:xfrm>
              <a:off x="5547" y="4825"/>
              <a:ext cx="540" cy="540"/>
              <a:chOff x="832" y="2920"/>
              <a:chExt cx="288" cy="288"/>
            </a:xfrm>
          </p:grpSpPr>
          <p:sp>
            <p:nvSpPr>
              <p:cNvPr id="169035" name="Oval 75"/>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6" name="Freeform 76"/>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37" name="Freeform 77"/>
            <p:cNvSpPr/>
            <p:nvPr/>
          </p:nvSpPr>
          <p:spPr bwMode="auto">
            <a:xfrm>
              <a:off x="545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8" name="Freeform 78"/>
            <p:cNvSpPr/>
            <p:nvPr/>
          </p:nvSpPr>
          <p:spPr bwMode="auto">
            <a:xfrm>
              <a:off x="599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39" name="Freeform 79"/>
            <p:cNvSpPr/>
            <p:nvPr/>
          </p:nvSpPr>
          <p:spPr bwMode="auto">
            <a:xfrm>
              <a:off x="662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0" name="Line 80"/>
            <p:cNvSpPr>
              <a:spLocks noChangeShapeType="1"/>
            </p:cNvSpPr>
            <p:nvPr/>
          </p:nvSpPr>
          <p:spPr bwMode="auto">
            <a:xfrm>
              <a:off x="4917" y="4195"/>
              <a:ext cx="90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1" name="Line 81"/>
            <p:cNvSpPr>
              <a:spLocks noChangeShapeType="1"/>
            </p:cNvSpPr>
            <p:nvPr/>
          </p:nvSpPr>
          <p:spPr bwMode="auto">
            <a:xfrm>
              <a:off x="5457" y="4195"/>
              <a:ext cx="36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2" name="Line 82"/>
            <p:cNvSpPr>
              <a:spLocks noChangeShapeType="1"/>
            </p:cNvSpPr>
            <p:nvPr/>
          </p:nvSpPr>
          <p:spPr bwMode="auto">
            <a:xfrm flipH="1">
              <a:off x="5817" y="4195"/>
              <a:ext cx="18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3" name="Line 83"/>
            <p:cNvSpPr>
              <a:spLocks noChangeShapeType="1"/>
            </p:cNvSpPr>
            <p:nvPr/>
          </p:nvSpPr>
          <p:spPr bwMode="auto">
            <a:xfrm flipH="1">
              <a:off x="5817" y="4195"/>
              <a:ext cx="81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4" name="Line 84"/>
            <p:cNvSpPr>
              <a:spLocks noChangeShapeType="1"/>
            </p:cNvSpPr>
            <p:nvPr/>
          </p:nvSpPr>
          <p:spPr bwMode="auto">
            <a:xfrm flipH="1">
              <a:off x="5817" y="4555"/>
              <a:ext cx="0" cy="27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46" name="Group 86"/>
            <p:cNvGrpSpPr/>
            <p:nvPr/>
          </p:nvGrpSpPr>
          <p:grpSpPr bwMode="auto">
            <a:xfrm>
              <a:off x="7921" y="4808"/>
              <a:ext cx="540" cy="540"/>
              <a:chOff x="832" y="2920"/>
              <a:chExt cx="288" cy="288"/>
            </a:xfrm>
          </p:grpSpPr>
          <p:sp>
            <p:nvSpPr>
              <p:cNvPr id="169047" name="Oval 87"/>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48" name="Freeform 88"/>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49" name="Freeform 89"/>
            <p:cNvSpPr/>
            <p:nvPr/>
          </p:nvSpPr>
          <p:spPr bwMode="auto">
            <a:xfrm>
              <a:off x="7561"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53" name="Line 93"/>
            <p:cNvSpPr>
              <a:spLocks noChangeShapeType="1"/>
            </p:cNvSpPr>
            <p:nvPr/>
          </p:nvSpPr>
          <p:spPr bwMode="auto">
            <a:xfrm>
              <a:off x="7561" y="4229"/>
              <a:ext cx="0" cy="5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57" name="Freeform 97"/>
            <p:cNvSpPr/>
            <p:nvPr/>
          </p:nvSpPr>
          <p:spPr bwMode="auto">
            <a:xfrm>
              <a:off x="968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58" name="Group 98"/>
            <p:cNvGrpSpPr/>
            <p:nvPr/>
          </p:nvGrpSpPr>
          <p:grpSpPr bwMode="auto">
            <a:xfrm>
              <a:off x="9867" y="4814"/>
              <a:ext cx="540" cy="540"/>
              <a:chOff x="832" y="2920"/>
              <a:chExt cx="288" cy="288"/>
            </a:xfrm>
          </p:grpSpPr>
          <p:sp>
            <p:nvSpPr>
              <p:cNvPr id="169059" name="Oval 99"/>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0" name="Freeform 100"/>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61" name="Freeform 101"/>
            <p:cNvSpPr/>
            <p:nvPr/>
          </p:nvSpPr>
          <p:spPr bwMode="auto">
            <a:xfrm>
              <a:off x="1022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2" name="Freeform 102"/>
            <p:cNvSpPr/>
            <p:nvPr/>
          </p:nvSpPr>
          <p:spPr bwMode="auto">
            <a:xfrm>
              <a:off x="1076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3" name="Freeform 103"/>
            <p:cNvSpPr/>
            <p:nvPr/>
          </p:nvSpPr>
          <p:spPr bwMode="auto">
            <a:xfrm>
              <a:off x="11397"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4" name="Line 104"/>
            <p:cNvSpPr>
              <a:spLocks noChangeShapeType="1"/>
            </p:cNvSpPr>
            <p:nvPr/>
          </p:nvSpPr>
          <p:spPr bwMode="auto">
            <a:xfrm>
              <a:off x="9687" y="4195"/>
              <a:ext cx="90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5" name="Line 105"/>
            <p:cNvSpPr>
              <a:spLocks noChangeShapeType="1"/>
            </p:cNvSpPr>
            <p:nvPr/>
          </p:nvSpPr>
          <p:spPr bwMode="auto">
            <a:xfrm>
              <a:off x="10227" y="4195"/>
              <a:ext cx="36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6" name="Line 106"/>
            <p:cNvSpPr>
              <a:spLocks noChangeShapeType="1"/>
            </p:cNvSpPr>
            <p:nvPr/>
          </p:nvSpPr>
          <p:spPr bwMode="auto">
            <a:xfrm flipH="1">
              <a:off x="10587" y="4195"/>
              <a:ext cx="18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7" name="Line 107"/>
            <p:cNvSpPr>
              <a:spLocks noChangeShapeType="1"/>
            </p:cNvSpPr>
            <p:nvPr/>
          </p:nvSpPr>
          <p:spPr bwMode="auto">
            <a:xfrm flipH="1">
              <a:off x="10587" y="4195"/>
              <a:ext cx="810" cy="36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68" name="Line 108"/>
            <p:cNvSpPr>
              <a:spLocks noChangeShapeType="1"/>
            </p:cNvSpPr>
            <p:nvPr/>
          </p:nvSpPr>
          <p:spPr bwMode="auto">
            <a:xfrm flipH="1">
              <a:off x="10137" y="4555"/>
              <a:ext cx="450" cy="214"/>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75" name="Group 115"/>
            <p:cNvGrpSpPr/>
            <p:nvPr/>
          </p:nvGrpSpPr>
          <p:grpSpPr bwMode="auto">
            <a:xfrm>
              <a:off x="10767" y="4820"/>
              <a:ext cx="540" cy="540"/>
              <a:chOff x="832" y="2920"/>
              <a:chExt cx="288" cy="288"/>
            </a:xfrm>
          </p:grpSpPr>
          <p:sp>
            <p:nvSpPr>
              <p:cNvPr id="169076" name="Oval 116"/>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77" name="Freeform 117"/>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78" name="Line 118"/>
            <p:cNvSpPr>
              <a:spLocks noChangeShapeType="1"/>
            </p:cNvSpPr>
            <p:nvPr/>
          </p:nvSpPr>
          <p:spPr bwMode="auto">
            <a:xfrm>
              <a:off x="10587" y="4548"/>
              <a:ext cx="450" cy="221"/>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79" name="Group 119"/>
            <p:cNvGrpSpPr/>
            <p:nvPr/>
          </p:nvGrpSpPr>
          <p:grpSpPr bwMode="auto">
            <a:xfrm>
              <a:off x="7291" y="4808"/>
              <a:ext cx="540" cy="540"/>
              <a:chOff x="832" y="2920"/>
              <a:chExt cx="288" cy="288"/>
            </a:xfrm>
          </p:grpSpPr>
          <p:sp>
            <p:nvSpPr>
              <p:cNvPr id="169080" name="Oval 120"/>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1" name="Freeform 121"/>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82" name="Freeform 122"/>
            <p:cNvSpPr/>
            <p:nvPr/>
          </p:nvSpPr>
          <p:spPr bwMode="auto">
            <a:xfrm>
              <a:off x="8191" y="3762"/>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3" name="Line 123"/>
            <p:cNvSpPr>
              <a:spLocks noChangeShapeType="1"/>
            </p:cNvSpPr>
            <p:nvPr/>
          </p:nvSpPr>
          <p:spPr bwMode="auto">
            <a:xfrm>
              <a:off x="8191" y="4246"/>
              <a:ext cx="0" cy="5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grpSp>
          <p:nvGrpSpPr>
            <p:cNvPr id="169084" name="Group 124"/>
            <p:cNvGrpSpPr/>
            <p:nvPr/>
          </p:nvGrpSpPr>
          <p:grpSpPr bwMode="auto">
            <a:xfrm>
              <a:off x="8551" y="4803"/>
              <a:ext cx="540" cy="540"/>
              <a:chOff x="832" y="2920"/>
              <a:chExt cx="288" cy="288"/>
            </a:xfrm>
          </p:grpSpPr>
          <p:sp>
            <p:nvSpPr>
              <p:cNvPr id="169085" name="Oval 125"/>
              <p:cNvSpPr>
                <a:spLocks noChangeArrowheads="1"/>
              </p:cNvSpPr>
              <p:nvPr/>
            </p:nvSpPr>
            <p:spPr bwMode="auto">
              <a:xfrm>
                <a:off x="832" y="2920"/>
                <a:ext cx="288" cy="288"/>
              </a:xfrm>
              <a:prstGeom prst="ellipse">
                <a:avLst/>
              </a:prstGeom>
              <a:solidFill>
                <a:srgbClr val="990033"/>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6" name="Freeform 126"/>
              <p:cNvSpPr/>
              <p:nvPr/>
            </p:nvSpPr>
            <p:spPr bwMode="auto">
              <a:xfrm>
                <a:off x="960" y="2944"/>
                <a:ext cx="48" cy="24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19050">
                <a:solidFill>
                  <a:srgbClr val="FFFF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grpSp>
        <p:sp>
          <p:nvSpPr>
            <p:cNvPr id="169087" name="Freeform 127"/>
            <p:cNvSpPr/>
            <p:nvPr/>
          </p:nvSpPr>
          <p:spPr bwMode="auto">
            <a:xfrm>
              <a:off x="8804" y="3745"/>
              <a:ext cx="90" cy="450"/>
            </a:xfrm>
            <a:custGeom>
              <a:avLst/>
              <a:gdLst>
                <a:gd name="T0" fmla="*/ 48 w 104"/>
                <a:gd name="T1" fmla="*/ 0 h 192"/>
                <a:gd name="T2" fmla="*/ 96 w 104"/>
                <a:gd name="T3" fmla="*/ 48 h 192"/>
                <a:gd name="T4" fmla="*/ 0 w 104"/>
                <a:gd name="T5" fmla="*/ 96 h 192"/>
                <a:gd name="T6" fmla="*/ 96 w 104"/>
                <a:gd name="T7" fmla="*/ 144 h 192"/>
                <a:gd name="T8" fmla="*/ 0 w 104"/>
                <a:gd name="T9" fmla="*/ 192 h 192"/>
              </a:gdLst>
              <a:ahLst/>
              <a:cxnLst>
                <a:cxn ang="0">
                  <a:pos x="T0" y="T1"/>
                </a:cxn>
                <a:cxn ang="0">
                  <a:pos x="T2" y="T3"/>
                </a:cxn>
                <a:cxn ang="0">
                  <a:pos x="T4" y="T5"/>
                </a:cxn>
                <a:cxn ang="0">
                  <a:pos x="T6" y="T7"/>
                </a:cxn>
                <a:cxn ang="0">
                  <a:pos x="T8" y="T9"/>
                </a:cxn>
              </a:cxnLst>
              <a:rect l="0" t="0" r="r" b="b"/>
              <a:pathLst>
                <a:path w="104" h="192">
                  <a:moveTo>
                    <a:pt x="48" y="0"/>
                  </a:moveTo>
                  <a:cubicBezTo>
                    <a:pt x="76" y="16"/>
                    <a:pt x="104" y="32"/>
                    <a:pt x="96" y="48"/>
                  </a:cubicBezTo>
                  <a:cubicBezTo>
                    <a:pt x="88" y="64"/>
                    <a:pt x="0" y="80"/>
                    <a:pt x="0" y="96"/>
                  </a:cubicBezTo>
                  <a:cubicBezTo>
                    <a:pt x="0" y="112"/>
                    <a:pt x="96" y="128"/>
                    <a:pt x="96" y="144"/>
                  </a:cubicBezTo>
                  <a:cubicBezTo>
                    <a:pt x="96" y="160"/>
                    <a:pt x="48" y="176"/>
                    <a:pt x="0" y="192"/>
                  </a:cubicBezTo>
                </a:path>
              </a:pathLst>
            </a:cu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8" name="Line 128"/>
            <p:cNvSpPr>
              <a:spLocks noChangeShapeType="1"/>
            </p:cNvSpPr>
            <p:nvPr/>
          </p:nvSpPr>
          <p:spPr bwMode="auto">
            <a:xfrm>
              <a:off x="8804" y="4229"/>
              <a:ext cx="0" cy="540"/>
            </a:xfrm>
            <a:prstGeom prst="line">
              <a:avLst/>
            </a:prstGeom>
            <a:noFill/>
            <a:ln w="9525">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89" name="Line 129"/>
            <p:cNvSpPr>
              <a:spLocks noChangeShapeType="1"/>
            </p:cNvSpPr>
            <p:nvPr/>
          </p:nvSpPr>
          <p:spPr bwMode="auto">
            <a:xfrm>
              <a:off x="2577" y="899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91" name="Text Box 131"/>
            <p:cNvSpPr txBox="1">
              <a:spLocks noChangeArrowheads="1"/>
            </p:cNvSpPr>
            <p:nvPr/>
          </p:nvSpPr>
          <p:spPr bwMode="auto">
            <a:xfrm>
              <a:off x="2307" y="8369"/>
              <a:ext cx="216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1800" b="1">
                  <a:solidFill>
                    <a:srgbClr val="629DD1"/>
                  </a:solidFill>
                  <a:latin typeface="Arial" panose="020B0604020202020204"/>
                  <a:ea typeface="黑体" panose="02010609060101010101" pitchFamily="2" charset="-122"/>
                </a:rPr>
                <a:t>灵活性</a:t>
              </a:r>
              <a:endParaRPr lang="zh-CN" altLang="en-US" sz="1800" b="1">
                <a:solidFill>
                  <a:srgbClr val="629DD1"/>
                </a:solidFill>
                <a:latin typeface="Arial" panose="020B0604020202020204"/>
                <a:ea typeface="黑体" panose="02010609060101010101" pitchFamily="2" charset="-122"/>
              </a:endParaRPr>
            </a:p>
          </p:txBody>
        </p:sp>
        <p:sp>
          <p:nvSpPr>
            <p:cNvPr id="169092" name="Text Box 132"/>
            <p:cNvSpPr txBox="1">
              <a:spLocks noChangeArrowheads="1"/>
            </p:cNvSpPr>
            <p:nvPr/>
          </p:nvSpPr>
          <p:spPr bwMode="auto">
            <a:xfrm>
              <a:off x="5457" y="836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93" name="Text Box 133"/>
            <p:cNvSpPr txBox="1">
              <a:spLocks noChangeArrowheads="1"/>
            </p:cNvSpPr>
            <p:nvPr/>
          </p:nvSpPr>
          <p:spPr bwMode="auto">
            <a:xfrm>
              <a:off x="7887" y="836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小</a:t>
              </a:r>
              <a:endParaRPr lang="zh-CN" altLang="en-US" sz="1800" b="1">
                <a:solidFill>
                  <a:prstClr val="black"/>
                </a:solidFill>
                <a:latin typeface="Arial" panose="020B0604020202020204"/>
                <a:ea typeface="黑体" panose="02010609060101010101" pitchFamily="2" charset="-122"/>
              </a:endParaRPr>
            </a:p>
          </p:txBody>
        </p:sp>
        <p:sp>
          <p:nvSpPr>
            <p:cNvPr id="169094" name="Text Box 134"/>
            <p:cNvSpPr txBox="1">
              <a:spLocks noChangeArrowheads="1"/>
            </p:cNvSpPr>
            <p:nvPr/>
          </p:nvSpPr>
          <p:spPr bwMode="auto">
            <a:xfrm>
              <a:off x="10317" y="836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大</a:t>
              </a:r>
              <a:endParaRPr lang="zh-CN" altLang="en-US" sz="1800" b="1">
                <a:solidFill>
                  <a:prstClr val="black"/>
                </a:solidFill>
                <a:latin typeface="Arial" panose="020B0604020202020204"/>
                <a:ea typeface="黑体" panose="02010609060101010101" pitchFamily="2" charset="-122"/>
              </a:endParaRPr>
            </a:p>
          </p:txBody>
        </p:sp>
        <p:sp>
          <p:nvSpPr>
            <p:cNvPr id="169095" name="Line 135"/>
            <p:cNvSpPr>
              <a:spLocks noChangeShapeType="1"/>
            </p:cNvSpPr>
            <p:nvPr/>
          </p:nvSpPr>
          <p:spPr bwMode="auto">
            <a:xfrm>
              <a:off x="2577" y="6119"/>
              <a:ext cx="91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00">
                <a:solidFill>
                  <a:prstClr val="black"/>
                </a:solidFill>
                <a:latin typeface="Arial" panose="020B0604020202020204"/>
                <a:ea typeface="黑体" panose="02010609060101010101" pitchFamily="2" charset="-122"/>
              </a:endParaRPr>
            </a:p>
          </p:txBody>
        </p:sp>
        <p:sp>
          <p:nvSpPr>
            <p:cNvPr id="169096" name="Text Box 136"/>
            <p:cNvSpPr txBox="1">
              <a:spLocks noChangeArrowheads="1"/>
            </p:cNvSpPr>
            <p:nvPr/>
          </p:nvSpPr>
          <p:spPr bwMode="auto">
            <a:xfrm>
              <a:off x="2397" y="5489"/>
              <a:ext cx="216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srgbClr val="629DD1"/>
                  </a:solidFill>
                  <a:latin typeface="Arial" panose="020B0604020202020204"/>
                  <a:ea typeface="黑体" panose="02010609060101010101" pitchFamily="2" charset="-122"/>
                </a:rPr>
                <a:t>利用多</a:t>
              </a:r>
              <a:r>
                <a:rPr lang="en-US" altLang="zh-CN" sz="1800" b="1">
                  <a:solidFill>
                    <a:srgbClr val="629DD1"/>
                  </a:solidFill>
                  <a:latin typeface="Arial" panose="020B0604020202020204"/>
                  <a:ea typeface="黑体" panose="02010609060101010101" pitchFamily="2" charset="-122"/>
                </a:rPr>
                <a:t>CPU</a:t>
              </a:r>
              <a:endParaRPr lang="en-US" altLang="zh-CN" sz="1800" b="1">
                <a:solidFill>
                  <a:srgbClr val="629DD1"/>
                </a:solidFill>
                <a:latin typeface="Arial" panose="020B0604020202020204"/>
                <a:ea typeface="黑体" panose="02010609060101010101" pitchFamily="2" charset="-122"/>
              </a:endParaRPr>
            </a:p>
          </p:txBody>
        </p:sp>
        <p:sp>
          <p:nvSpPr>
            <p:cNvPr id="169097" name="Text Box 137"/>
            <p:cNvSpPr txBox="1">
              <a:spLocks noChangeArrowheads="1"/>
            </p:cNvSpPr>
            <p:nvPr/>
          </p:nvSpPr>
          <p:spPr bwMode="auto">
            <a:xfrm>
              <a:off x="5457" y="548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差</a:t>
              </a:r>
              <a:endParaRPr lang="zh-CN" altLang="en-US" sz="1800" b="1">
                <a:solidFill>
                  <a:prstClr val="black"/>
                </a:solidFill>
                <a:latin typeface="Arial" panose="020B0604020202020204"/>
                <a:ea typeface="黑体" panose="02010609060101010101" pitchFamily="2" charset="-122"/>
              </a:endParaRPr>
            </a:p>
          </p:txBody>
        </p:sp>
        <p:sp>
          <p:nvSpPr>
            <p:cNvPr id="169098" name="Text Box 138"/>
            <p:cNvSpPr txBox="1">
              <a:spLocks noChangeArrowheads="1"/>
            </p:cNvSpPr>
            <p:nvPr/>
          </p:nvSpPr>
          <p:spPr bwMode="auto">
            <a:xfrm>
              <a:off x="7887" y="548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好</a:t>
              </a:r>
              <a:endParaRPr lang="zh-CN" altLang="en-US" sz="1800" b="1">
                <a:solidFill>
                  <a:prstClr val="black"/>
                </a:solidFill>
                <a:latin typeface="Arial" panose="020B0604020202020204"/>
                <a:ea typeface="黑体" panose="02010609060101010101" pitchFamily="2" charset="-122"/>
              </a:endParaRPr>
            </a:p>
          </p:txBody>
        </p:sp>
        <p:sp>
          <p:nvSpPr>
            <p:cNvPr id="169099" name="Text Box 139"/>
            <p:cNvSpPr txBox="1">
              <a:spLocks noChangeArrowheads="1"/>
            </p:cNvSpPr>
            <p:nvPr/>
          </p:nvSpPr>
          <p:spPr bwMode="auto">
            <a:xfrm>
              <a:off x="10317" y="5489"/>
              <a:ext cx="630" cy="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1800" b="1">
                  <a:solidFill>
                    <a:prstClr val="black"/>
                  </a:solidFill>
                  <a:latin typeface="Arial" panose="020B0604020202020204"/>
                  <a:ea typeface="黑体" panose="02010609060101010101" pitchFamily="2" charset="-122"/>
                </a:rPr>
                <a:t>好</a:t>
              </a:r>
              <a:endParaRPr lang="zh-CN" altLang="en-US" sz="1800" b="1">
                <a:solidFill>
                  <a:prstClr val="black"/>
                </a:solidFill>
                <a:latin typeface="Arial" panose="020B0604020202020204"/>
                <a:ea typeface="黑体" panose="0201060906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01625" y="1752600"/>
            <a:ext cx="8540750" cy="4498975"/>
          </a:xfrm>
        </p:spPr>
        <p:txBody>
          <a:bodyPr/>
          <a:lstStyle/>
          <a:p>
            <a:pPr marL="565150" indent="-565150" algn="just">
              <a:buNone/>
            </a:pPr>
            <a:r>
              <a:rPr lang="en-US" altLang="zh-CN" sz="2800" dirty="0">
                <a:latin typeface="微软雅黑" panose="020B0503020204020204" charset="-122"/>
                <a:ea typeface="微软雅黑" panose="020B0503020204020204" charset="-122"/>
              </a:rPr>
              <a:t>1</a:t>
            </a:r>
            <a:r>
              <a:rPr lang="zh-CN" altLang="en-US" sz="2800" dirty="0">
                <a:latin typeface="微软雅黑" panose="020B0503020204020204" charset="-122"/>
                <a:ea typeface="微软雅黑" panose="020B0503020204020204" charset="-122"/>
              </a:rPr>
              <a:t>．在一个已有进程中创建一个新线程比创建一个全新进程所需的时间少。</a:t>
            </a:r>
            <a:endParaRPr lang="zh-CN" altLang="en-US" sz="2800" dirty="0">
              <a:latin typeface="微软雅黑" panose="020B0503020204020204" charset="-122"/>
              <a:ea typeface="微软雅黑" panose="020B0503020204020204" charset="-122"/>
            </a:endParaRPr>
          </a:p>
          <a:p>
            <a:pPr marL="565150" indent="-565150" algn="just">
              <a:buClrTx/>
              <a:buSzTx/>
              <a:buNone/>
            </a:pPr>
            <a:r>
              <a:rPr lang="en-US" altLang="zh-CN" sz="2800" dirty="0">
                <a:latin typeface="微软雅黑" panose="020B0503020204020204" charset="-122"/>
                <a:ea typeface="微软雅黑" panose="020B0503020204020204" charset="-122"/>
              </a:rPr>
              <a:t>2</a:t>
            </a:r>
            <a:r>
              <a:rPr lang="zh-CN" altLang="en-US" sz="2800" dirty="0">
                <a:latin typeface="微软雅黑" panose="020B0503020204020204" charset="-122"/>
                <a:ea typeface="微软雅黑" panose="020B0503020204020204" charset="-122"/>
              </a:rPr>
              <a:t>．终止一个线程比终止一个进程花费的时间少。</a:t>
            </a:r>
            <a:endParaRPr lang="zh-CN" altLang="en-US" sz="2800" dirty="0">
              <a:latin typeface="微软雅黑" panose="020B0503020204020204" charset="-122"/>
              <a:ea typeface="微软雅黑" panose="020B0503020204020204" charset="-122"/>
            </a:endParaRPr>
          </a:p>
          <a:p>
            <a:pPr marL="565150" indent="-565150" algn="just">
              <a:buClrTx/>
              <a:buSzTx/>
              <a:buNone/>
            </a:pPr>
            <a:r>
              <a:rPr lang="en-US" altLang="zh-CN" sz="2800" dirty="0">
                <a:latin typeface="微软雅黑" panose="020B0503020204020204" charset="-122"/>
                <a:ea typeface="微软雅黑" panose="020B0503020204020204" charset="-122"/>
              </a:rPr>
              <a:t>3</a:t>
            </a:r>
            <a:r>
              <a:rPr lang="zh-CN" altLang="en-US" sz="2800" dirty="0">
                <a:latin typeface="微软雅黑" panose="020B0503020204020204" charset="-122"/>
                <a:ea typeface="微软雅黑" panose="020B0503020204020204" charset="-122"/>
              </a:rPr>
              <a:t>．线程间切换比进程间切换花费的时间少。</a:t>
            </a:r>
            <a:endParaRPr lang="zh-CN" altLang="en-US" sz="2800" dirty="0">
              <a:latin typeface="微软雅黑" panose="020B0503020204020204" charset="-122"/>
              <a:ea typeface="微软雅黑" panose="020B0503020204020204" charset="-122"/>
            </a:endParaRPr>
          </a:p>
          <a:p>
            <a:pPr marL="565150" indent="-565150" algn="just">
              <a:buClrTx/>
              <a:buSzTx/>
              <a:buNone/>
            </a:pPr>
            <a:r>
              <a:rPr lang="en-US" altLang="zh-CN" sz="2800" dirty="0">
                <a:latin typeface="微软雅黑" panose="020B0503020204020204" charset="-122"/>
                <a:ea typeface="微软雅黑" panose="020B0503020204020204" charset="-122"/>
              </a:rPr>
              <a:t>4</a:t>
            </a:r>
            <a:r>
              <a:rPr lang="zh-CN" altLang="en-US" sz="2800" dirty="0">
                <a:latin typeface="微软雅黑" panose="020B0503020204020204" charset="-122"/>
                <a:ea typeface="微软雅黑" panose="020B0503020204020204" charset="-122"/>
              </a:rPr>
              <a:t>．线程提高了不同的执行程序间通信的效率。同一个进程中的线程共享存储空间和文件，它们无需调用内核就可以互相通信。</a:t>
            </a:r>
            <a:endParaRPr lang="zh-CN" altLang="en-US" sz="2800" dirty="0">
              <a:latin typeface="微软雅黑" panose="020B0503020204020204" charset="-122"/>
              <a:ea typeface="微软雅黑" panose="020B0503020204020204" charset="-122"/>
            </a:endParaRPr>
          </a:p>
          <a:p>
            <a:endParaRPr lang="zh-CN" altLang="en-US" sz="2800" dirty="0">
              <a:latin typeface="微软雅黑" panose="020B0503020204020204" charset="-122"/>
              <a:ea typeface="微软雅黑" panose="020B0503020204020204" charset="-122"/>
            </a:endParaRPr>
          </a:p>
        </p:txBody>
      </p:sp>
      <p:sp>
        <p:nvSpPr>
          <p:cNvPr id="3" name="标题 2"/>
          <p:cNvSpPr>
            <a:spLocks noGrp="1"/>
          </p:cNvSpPr>
          <p:nvPr>
            <p:ph type="title"/>
          </p:nvPr>
        </p:nvSpPr>
        <p:spPr/>
        <p:txBody>
          <a:bodyPr/>
          <a:lstStyle/>
          <a:p>
            <a:r>
              <a:rPr lang="zh-CN" altLang="en-US" dirty="0"/>
              <a:t>采用线程的优点</a:t>
            </a:r>
            <a:r>
              <a:rPr lang="en-US" altLang="zh-CN"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r>
              <a:rPr lang="zh-CN" altLang="en-US"/>
              <a:t>线程总结</a:t>
            </a:r>
            <a:endParaRPr lang="zh-CN" altLang="en-US"/>
          </a:p>
        </p:txBody>
      </p:sp>
      <p:sp>
        <p:nvSpPr>
          <p:cNvPr id="171013" name="Rectangle 5"/>
          <p:cNvSpPr>
            <a:spLocks noChangeArrowheads="1"/>
          </p:cNvSpPr>
          <p:nvPr/>
        </p:nvSpPr>
        <p:spPr bwMode="auto">
          <a:xfrm>
            <a:off x="764540" y="1808480"/>
            <a:ext cx="6860540"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a:solidFill>
                  <a:prstClr val="black"/>
                </a:solidFill>
                <a:latin typeface="微软雅黑" panose="020B0503020204020204" charset="-122"/>
                <a:ea typeface="微软雅黑" panose="020B0503020204020204" charset="-122"/>
              </a:rPr>
              <a:t>进程 </a:t>
            </a:r>
            <a:r>
              <a:rPr lang="en-US" altLang="zh-CN" sz="2400">
                <a:solidFill>
                  <a:prstClr val="black"/>
                </a:solidFill>
                <a:latin typeface="微软雅黑" panose="020B0503020204020204" charset="-122"/>
                <a:ea typeface="微软雅黑" panose="020B0503020204020204" charset="-122"/>
              </a:rPr>
              <a:t>= </a:t>
            </a:r>
            <a:r>
              <a:rPr lang="zh-CN" altLang="en-US" sz="2400">
                <a:solidFill>
                  <a:prstClr val="black"/>
                </a:solidFill>
                <a:latin typeface="微软雅黑" panose="020B0503020204020204" charset="-122"/>
                <a:ea typeface="微软雅黑" panose="020B0503020204020204" charset="-122"/>
              </a:rPr>
              <a:t>地址空间 </a:t>
            </a:r>
            <a:r>
              <a:rPr lang="en-US" altLang="zh-CN" sz="2400">
                <a:solidFill>
                  <a:prstClr val="black"/>
                </a:solidFill>
                <a:latin typeface="微软雅黑" panose="020B0503020204020204" charset="-122"/>
                <a:ea typeface="微软雅黑" panose="020B0503020204020204" charset="-122"/>
              </a:rPr>
              <a:t>+ </a:t>
            </a:r>
            <a:r>
              <a:rPr lang="zh-CN" altLang="en-US" sz="2400">
                <a:solidFill>
                  <a:prstClr val="black"/>
                </a:solidFill>
                <a:latin typeface="微软雅黑" panose="020B0503020204020204" charset="-122"/>
                <a:ea typeface="微软雅黑" panose="020B0503020204020204" charset="-122"/>
              </a:rPr>
              <a:t>指令执行序列</a:t>
            </a:r>
            <a:r>
              <a:rPr lang="zh-CN" altLang="en-US" sz="2400">
                <a:solidFill>
                  <a:srgbClr val="FF0000"/>
                </a:solidFill>
                <a:latin typeface="微软雅黑" panose="020B0503020204020204" charset="-122"/>
                <a:ea typeface="微软雅黑" panose="020B0503020204020204" charset="-122"/>
              </a:rPr>
              <a:t> </a:t>
            </a:r>
            <a:endParaRPr lang="zh-CN" altLang="en-US" sz="2400">
              <a:solidFill>
                <a:srgbClr val="FF0000"/>
              </a:solidFill>
              <a:latin typeface="微软雅黑" panose="020B0503020204020204" charset="-122"/>
              <a:ea typeface="微软雅黑" panose="020B0503020204020204" charset="-122"/>
            </a:endParaRPr>
          </a:p>
        </p:txBody>
      </p:sp>
      <p:sp>
        <p:nvSpPr>
          <p:cNvPr id="171014" name="Rectangle 6"/>
          <p:cNvSpPr>
            <a:spLocks noChangeArrowheads="1"/>
          </p:cNvSpPr>
          <p:nvPr/>
        </p:nvSpPr>
        <p:spPr bwMode="auto">
          <a:xfrm>
            <a:off x="762000" y="228600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rPr>
              <a:t>一个地址空间</a:t>
            </a:r>
            <a:r>
              <a:rPr lang="en-US" altLang="zh-CN" sz="2400" dirty="0">
                <a:solidFill>
                  <a:prstClr val="black"/>
                </a:solidFill>
                <a:latin typeface="微软雅黑" panose="020B0503020204020204" charset="-122"/>
                <a:ea typeface="微软雅黑" panose="020B0503020204020204" charset="-122"/>
                <a:sym typeface="Symbol" panose="05050102010706020507" pitchFamily="18" charset="2"/>
              </a:rPr>
              <a:t>+</a:t>
            </a:r>
            <a:r>
              <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rPr>
              <a:t>多个指令执行序列  引出线程</a:t>
            </a:r>
            <a:endPar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5" name="Rectangle 7"/>
          <p:cNvSpPr>
            <a:spLocks noChangeArrowheads="1"/>
          </p:cNvSpPr>
          <p:nvPr/>
        </p:nvSpPr>
        <p:spPr bwMode="auto">
          <a:xfrm>
            <a:off x="762000" y="274320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a:solidFill>
                  <a:prstClr val="black"/>
                </a:solidFill>
                <a:latin typeface="微软雅黑" panose="020B0503020204020204" charset="-122"/>
                <a:ea typeface="微软雅黑" panose="020B0503020204020204" charset="-122"/>
                <a:sym typeface="Symbol" panose="05050102010706020507" pitchFamily="18" charset="2"/>
              </a:rPr>
              <a:t>线程具有并发的优点，却比进程的代价低得多</a:t>
            </a:r>
            <a:endParaRPr lang="zh-CN" altLang="en-US" sz="24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7" name="Rectangle 9"/>
          <p:cNvSpPr>
            <a:spLocks noChangeArrowheads="1"/>
          </p:cNvSpPr>
          <p:nvPr/>
        </p:nvSpPr>
        <p:spPr bwMode="auto">
          <a:xfrm>
            <a:off x="762000" y="325755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en-US" altLang="zh-CN" sz="2400">
                <a:solidFill>
                  <a:prstClr val="black"/>
                </a:solidFill>
                <a:latin typeface="微软雅黑" panose="020B0503020204020204" charset="-122"/>
                <a:ea typeface="微软雅黑" panose="020B0503020204020204" charset="-122"/>
                <a:sym typeface="Symbol" panose="05050102010706020507" pitchFamily="18" charset="2"/>
              </a:rPr>
              <a:t>WebExplorer</a:t>
            </a:r>
            <a:r>
              <a:rPr lang="zh-CN" altLang="en-US" sz="2400">
                <a:solidFill>
                  <a:prstClr val="black"/>
                </a:solidFill>
                <a:latin typeface="微软雅黑" panose="020B0503020204020204" charset="-122"/>
                <a:ea typeface="微软雅黑" panose="020B0503020204020204" charset="-122"/>
                <a:sym typeface="Symbol" panose="05050102010706020507" pitchFamily="18" charset="2"/>
              </a:rPr>
              <a:t>表明线程简单实用  线程怎么实现</a:t>
            </a:r>
            <a:endParaRPr lang="zh-CN" altLang="en-US" sz="24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8" name="Rectangle 10"/>
          <p:cNvSpPr>
            <a:spLocks noChangeArrowheads="1"/>
          </p:cNvSpPr>
          <p:nvPr/>
        </p:nvSpPr>
        <p:spPr bwMode="auto">
          <a:xfrm>
            <a:off x="762000" y="377190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a:solidFill>
                  <a:prstClr val="black"/>
                </a:solidFill>
                <a:latin typeface="微软雅黑" panose="020B0503020204020204" charset="-122"/>
                <a:ea typeface="微软雅黑" panose="020B0503020204020204" charset="-122"/>
                <a:sym typeface="Symbol" panose="05050102010706020507" pitchFamily="18" charset="2"/>
              </a:rPr>
              <a:t>线程在同一地址空间中  线程库可以用户级实现</a:t>
            </a:r>
            <a:endParaRPr lang="zh-CN" altLang="en-US" sz="24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19" name="Rectangle 11"/>
          <p:cNvSpPr>
            <a:spLocks noChangeArrowheads="1"/>
          </p:cNvSpPr>
          <p:nvPr/>
        </p:nvSpPr>
        <p:spPr bwMode="auto">
          <a:xfrm>
            <a:off x="762000" y="428625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a:solidFill>
                  <a:prstClr val="black"/>
                </a:solidFill>
                <a:latin typeface="微软雅黑" panose="020B0503020204020204" charset="-122"/>
                <a:ea typeface="微软雅黑" panose="020B0503020204020204" charset="-122"/>
                <a:sym typeface="Symbol" panose="05050102010706020507" pitchFamily="18" charset="2"/>
              </a:rPr>
              <a:t>用户级线程，核心级线程，两者都有 </a:t>
            </a:r>
            <a:endParaRPr lang="zh-CN" altLang="en-US" sz="2400">
              <a:solidFill>
                <a:prstClr val="black"/>
              </a:solidFill>
              <a:latin typeface="微软雅黑" panose="020B0503020204020204" charset="-122"/>
              <a:ea typeface="微软雅黑" panose="020B0503020204020204" charset="-122"/>
              <a:sym typeface="Symbol" panose="05050102010706020507" pitchFamily="18" charset="2"/>
            </a:endParaRPr>
          </a:p>
        </p:txBody>
      </p:sp>
      <p:sp>
        <p:nvSpPr>
          <p:cNvPr id="171022" name="Rectangle 14"/>
          <p:cNvSpPr>
            <a:spLocks noChangeArrowheads="1"/>
          </p:cNvSpPr>
          <p:nvPr/>
        </p:nvSpPr>
        <p:spPr bwMode="auto">
          <a:xfrm>
            <a:off x="762000" y="4800600"/>
            <a:ext cx="7458075" cy="65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defTabSz="457200">
              <a:lnSpc>
                <a:spcPct val="130000"/>
              </a:lnSpc>
              <a:defRPr/>
            </a:pPr>
            <a:r>
              <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rPr>
              <a:t>各类线程的实现细节，其中上下文切换是核心</a:t>
            </a:r>
            <a:endParaRPr lang="zh-CN" altLang="en-US" sz="2400" dirty="0">
              <a:solidFill>
                <a:prstClr val="black"/>
              </a:solidFill>
              <a:latin typeface="微软雅黑" panose="020B0503020204020204" charset="-122"/>
              <a:ea typeface="微软雅黑" panose="020B0503020204020204"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1013"/>
                                        </p:tgtEl>
                                        <p:attrNameLst>
                                          <p:attrName>style.visibility</p:attrName>
                                        </p:attrNameLst>
                                      </p:cBhvr>
                                      <p:to>
                                        <p:strVal val="visible"/>
                                      </p:to>
                                    </p:set>
                                    <p:animEffect transition="in" filter="dissolve">
                                      <p:cBhvr>
                                        <p:cTn id="7" dur="500"/>
                                        <p:tgtEl>
                                          <p:spTgt spid="1710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1014"/>
                                        </p:tgtEl>
                                        <p:attrNameLst>
                                          <p:attrName>style.visibility</p:attrName>
                                        </p:attrNameLst>
                                      </p:cBhvr>
                                      <p:to>
                                        <p:strVal val="visible"/>
                                      </p:to>
                                    </p:set>
                                    <p:animEffect transition="in" filter="dissolve">
                                      <p:cBhvr>
                                        <p:cTn id="12" dur="500"/>
                                        <p:tgtEl>
                                          <p:spTgt spid="1710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1015"/>
                                        </p:tgtEl>
                                        <p:attrNameLst>
                                          <p:attrName>style.visibility</p:attrName>
                                        </p:attrNameLst>
                                      </p:cBhvr>
                                      <p:to>
                                        <p:strVal val="visible"/>
                                      </p:to>
                                    </p:set>
                                    <p:animEffect transition="in" filter="dissolve">
                                      <p:cBhvr>
                                        <p:cTn id="17" dur="500"/>
                                        <p:tgtEl>
                                          <p:spTgt spid="1710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1017"/>
                                        </p:tgtEl>
                                        <p:attrNameLst>
                                          <p:attrName>style.visibility</p:attrName>
                                        </p:attrNameLst>
                                      </p:cBhvr>
                                      <p:to>
                                        <p:strVal val="visible"/>
                                      </p:to>
                                    </p:set>
                                    <p:animEffect transition="in" filter="dissolve">
                                      <p:cBhvr>
                                        <p:cTn id="22" dur="500"/>
                                        <p:tgtEl>
                                          <p:spTgt spid="1710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1018"/>
                                        </p:tgtEl>
                                        <p:attrNameLst>
                                          <p:attrName>style.visibility</p:attrName>
                                        </p:attrNameLst>
                                      </p:cBhvr>
                                      <p:to>
                                        <p:strVal val="visible"/>
                                      </p:to>
                                    </p:set>
                                    <p:animEffect transition="in" filter="dissolve">
                                      <p:cBhvr>
                                        <p:cTn id="27" dur="500"/>
                                        <p:tgtEl>
                                          <p:spTgt spid="1710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1019"/>
                                        </p:tgtEl>
                                        <p:attrNameLst>
                                          <p:attrName>style.visibility</p:attrName>
                                        </p:attrNameLst>
                                      </p:cBhvr>
                                      <p:to>
                                        <p:strVal val="visible"/>
                                      </p:to>
                                    </p:set>
                                    <p:animEffect transition="in" filter="dissolve">
                                      <p:cBhvr>
                                        <p:cTn id="32" dur="500"/>
                                        <p:tgtEl>
                                          <p:spTgt spid="1710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1022"/>
                                        </p:tgtEl>
                                        <p:attrNameLst>
                                          <p:attrName>style.visibility</p:attrName>
                                        </p:attrNameLst>
                                      </p:cBhvr>
                                      <p:to>
                                        <p:strVal val="visible"/>
                                      </p:to>
                                    </p:set>
                                    <p:animEffect transition="in" filter="dissolve">
                                      <p:cBhvr>
                                        <p:cTn id="37" dur="500"/>
                                        <p:tgtEl>
                                          <p:spTgt spid="171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bldLvl="0" animBg="1"/>
      <p:bldP spid="171014" grpId="0" bldLvl="0" animBg="1"/>
      <p:bldP spid="171015" grpId="0" bldLvl="0" animBg="1"/>
      <p:bldP spid="171017" grpId="0" bldLvl="0" animBg="1"/>
      <p:bldP spid="171018" grpId="0" bldLvl="0" animBg="1"/>
      <p:bldP spid="171019" grpId="0" bldLvl="0" animBg="1"/>
      <p:bldP spid="171022" grpId="0" bldLvl="0" animBg="1"/>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noRot="1"/>
          </p:cNvSpPr>
          <p:nvPr>
            <p:ph type="title"/>
          </p:nvPr>
        </p:nvSpPr>
        <p:spPr/>
        <p:txBody>
          <a:bodyPr vert="horz" wrap="square" lIns="91440" tIns="45720" rIns="91440" bIns="45720" anchor="ctr" anchorCtr="0"/>
          <a:p>
            <a:r>
              <a:rPr lang="zh-CN" altLang="en-US" dirty="0"/>
              <a:t>第二章作业 </a:t>
            </a:r>
            <a:r>
              <a:rPr lang="en-US" altLang="zh-CN" dirty="0"/>
              <a:t>4</a:t>
            </a:r>
            <a:endParaRPr lang="zh-CN" altLang="en-US" dirty="0"/>
          </a:p>
        </p:txBody>
      </p:sp>
      <p:sp>
        <p:nvSpPr>
          <p:cNvPr id="205827" name="Rectangle 3"/>
          <p:cNvSpPr>
            <a:spLocks noGrp="1" noRot="1"/>
          </p:cNvSpPr>
          <p:nvPr>
            <p:ph idx="1"/>
          </p:nvPr>
        </p:nvSpPr>
        <p:spPr/>
        <p:txBody>
          <a:bodyPr vert="horz" wrap="square" lIns="91440" tIns="45720" rIns="91440" bIns="45720" anchor="t" anchorCtr="0"/>
          <a:p>
            <a:r>
              <a:rPr lang="en-US" dirty="0"/>
              <a:t>p72</a:t>
            </a:r>
            <a:r>
              <a:rPr lang="zh-CN" altLang="en-US" dirty="0"/>
              <a:t>：</a:t>
            </a:r>
            <a:r>
              <a:rPr dirty="0"/>
              <a:t>5、6、7、8、11、12、13、14、15、16、17、18、19、</a:t>
            </a:r>
            <a:r>
              <a:rPr lang="en-US" dirty="0"/>
              <a:t>21</a:t>
            </a:r>
            <a:r>
              <a:rPr lang="zh-CN" altLang="en-US" dirty="0"/>
              <a:t>、</a:t>
            </a:r>
            <a:r>
              <a:rPr dirty="0"/>
              <a:t>22。</a:t>
            </a:r>
            <a:endParaRPr dirty="0"/>
          </a:p>
          <a:p>
            <a:r>
              <a:rPr lang="en-US" dirty="0"/>
              <a:t>p134:1</a:t>
            </a:r>
            <a:r>
              <a:rPr lang="zh-CN" altLang="en-US" dirty="0"/>
              <a:t>、</a:t>
            </a:r>
            <a:r>
              <a:rPr lang="en-US" altLang="zh-CN" dirty="0"/>
              <a:t>2</a:t>
            </a:r>
            <a:r>
              <a:rPr lang="zh-CN" altLang="en-US" dirty="0"/>
              <a:t>、</a:t>
            </a:r>
            <a:r>
              <a:rPr lang="en-US" altLang="zh-CN" dirty="0"/>
              <a:t>4</a:t>
            </a:r>
            <a:r>
              <a:rPr lang="zh-CN" altLang="en-US" dirty="0"/>
              <a:t>、</a:t>
            </a:r>
            <a:r>
              <a:rPr lang="en-US" altLang="zh-CN" dirty="0"/>
              <a:t>9</a:t>
            </a:r>
            <a:r>
              <a:rPr lang="zh-CN" altLang="en-US" dirty="0"/>
              <a:t>、</a:t>
            </a:r>
            <a:r>
              <a:rPr lang="en-US" altLang="zh-CN" dirty="0"/>
              <a:t>13</a:t>
            </a:r>
            <a:r>
              <a:rPr lang="zh-CN" altLang="en-US" dirty="0"/>
              <a:t>、</a:t>
            </a:r>
            <a:r>
              <a:rPr lang="en-US" altLang="zh-CN" dirty="0"/>
              <a:t>15</a:t>
            </a:r>
            <a:r>
              <a:rPr lang="zh-CN" altLang="en-US" dirty="0"/>
              <a:t>、</a:t>
            </a:r>
            <a:r>
              <a:rPr lang="en-US" altLang="zh-CN" dirty="0"/>
              <a:t>16-21</a:t>
            </a:r>
            <a:endParaRPr dirty="0"/>
          </a:p>
          <a:p>
            <a:endParaRPr dirty="0"/>
          </a:p>
        </p:txBody>
      </p:sp>
    </p:spTree>
  </p:cSld>
  <p:clrMapOvr>
    <a:masterClrMapping/>
  </p:clrMapOvr>
</p:sld>
</file>

<file path=ppt/tags/tag1.xml><?xml version="1.0" encoding="utf-8"?>
<p:tagLst xmlns:p="http://schemas.openxmlformats.org/presentationml/2006/main">
  <p:tag name="commondata" val="eyJoZGlkIjoiOWJkY2VmZjY5MjJkNjJkODRiYmIxZjc4Mjk2MjJmOWYifQ=="/>
</p:tagLst>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13500000">
            <a:schemeClr val="bg2"/>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CDESIGNC</Template>
  <TotalTime>0</TotalTime>
  <Words>32693</Words>
  <Application>WPS 演示</Application>
  <PresentationFormat>全屏显示(4:3)</PresentationFormat>
  <Paragraphs>1827</Paragraphs>
  <Slides>204</Slides>
  <Notes>4</Notes>
  <HiddenSlides>0</HiddenSlides>
  <MMClips>0</MMClips>
  <ScaleCrop>false</ScaleCrop>
  <HeadingPairs>
    <vt:vector size="8" baseType="variant">
      <vt:variant>
        <vt:lpstr>已用的字体</vt:lpstr>
      </vt:variant>
      <vt:variant>
        <vt:i4>21</vt:i4>
      </vt:variant>
      <vt:variant>
        <vt:lpstr>主题</vt:lpstr>
      </vt:variant>
      <vt:variant>
        <vt:i4>2</vt:i4>
      </vt:variant>
      <vt:variant>
        <vt:lpstr>嵌入 OLE 服务器</vt:lpstr>
      </vt:variant>
      <vt:variant>
        <vt:i4>9</vt:i4>
      </vt:variant>
      <vt:variant>
        <vt:lpstr>幻灯片标题</vt:lpstr>
      </vt:variant>
      <vt:variant>
        <vt:i4>204</vt:i4>
      </vt:variant>
    </vt:vector>
  </HeadingPairs>
  <TitlesOfParts>
    <vt:vector size="236" baseType="lpstr">
      <vt:lpstr>Arial</vt:lpstr>
      <vt:lpstr>宋体</vt:lpstr>
      <vt:lpstr>Wingdings</vt:lpstr>
      <vt:lpstr>Wingdings 2</vt:lpstr>
      <vt:lpstr>微软雅黑</vt:lpstr>
      <vt:lpstr>仿宋_GB2312</vt:lpstr>
      <vt:lpstr>仿宋</vt:lpstr>
      <vt:lpstr>Times New Roman</vt:lpstr>
      <vt:lpstr>Courier New</vt:lpstr>
      <vt:lpstr>Courier New</vt:lpstr>
      <vt:lpstr>Arial Unicode MS</vt:lpstr>
      <vt:lpstr>Tahoma</vt:lpstr>
      <vt:lpstr>楷体_GB2312</vt:lpstr>
      <vt:lpstr>新宋体</vt:lpstr>
      <vt:lpstr>Gulim</vt:lpstr>
      <vt:lpstr>Malgun Gothic</vt:lpstr>
      <vt:lpstr>华文楷体</vt:lpstr>
      <vt:lpstr>Webdings</vt:lpstr>
      <vt:lpstr>Symbol</vt:lpstr>
      <vt:lpstr>Arial</vt:lpstr>
      <vt:lpstr>黑体</vt:lpstr>
      <vt:lpstr>砖雕艺术</vt:lpstr>
      <vt:lpstr>1_砖雕艺术</vt:lpstr>
      <vt:lpstr>Visio.Drawing.4</vt:lpstr>
      <vt:lpstr>WangImage.Document</vt:lpstr>
      <vt:lpstr>Visio.Drawing.4</vt:lpstr>
      <vt:lpstr>Visio.Drawing.4</vt:lpstr>
      <vt:lpstr>Visio.Drawing.11</vt:lpstr>
      <vt:lpstr>Visio.Drawing.11</vt:lpstr>
      <vt:lpstr>Visio.Drawing.11</vt:lpstr>
      <vt:lpstr>Visio.Drawing.11</vt:lpstr>
      <vt:lpstr>Visio.Drawing.11</vt:lpstr>
      <vt:lpstr>  第二章  进程的描述与控制</vt:lpstr>
      <vt:lpstr>PowerPoint 演示文稿</vt:lpstr>
      <vt:lpstr>PowerPoint 演示文稿</vt:lpstr>
      <vt:lpstr>PowerPoint 演示文稿</vt:lpstr>
      <vt:lpstr>PowerPoint 演示文稿</vt:lpstr>
      <vt:lpstr>2.1.2 程序顺序执行</vt:lpstr>
      <vt:lpstr>PowerPoint 演示文稿</vt:lpstr>
      <vt:lpstr>PowerPoint 演示文稿</vt:lpstr>
      <vt:lpstr>PowerPoint 演示文稿</vt:lpstr>
      <vt:lpstr>PowerPoint 演示文稿</vt:lpstr>
      <vt:lpstr>PowerPoint 演示文稿</vt:lpstr>
      <vt:lpstr>PowerPoint 演示文稿</vt:lpstr>
      <vt:lpstr>程序A和B以不同的速度运行出现的情况：</vt:lpstr>
      <vt:lpstr>作业1 </vt:lpstr>
      <vt:lpstr>2.2 进程的描述</vt:lpstr>
      <vt:lpstr>2.2 进程的描述</vt:lpstr>
      <vt:lpstr> </vt:lpstr>
      <vt:lpstr>PowerPoint 演示文稿</vt:lpstr>
      <vt:lpstr>PowerPoint 演示文稿</vt:lpstr>
      <vt:lpstr>PowerPoint 演示文稿</vt:lpstr>
      <vt:lpstr>PowerPoint 演示文稿</vt:lpstr>
      <vt:lpstr>进程的三种基本状态及其转换</vt:lpstr>
      <vt:lpstr>PowerPoint 演示文稿</vt:lpstr>
      <vt:lpstr>3. 创建状态和终止状态</vt:lpstr>
      <vt:lpstr>PowerPoint 演示文稿</vt:lpstr>
      <vt:lpstr>1）引入挂起状态的原因</vt:lpstr>
      <vt:lpstr>2）进程挂起状态的转换</vt:lpstr>
      <vt:lpstr>有挂起状态的进程转换</vt:lpstr>
      <vt:lpstr>PowerPoint 演示文稿</vt:lpstr>
      <vt:lpstr>PowerPoint 演示文稿</vt:lpstr>
      <vt:lpstr>2.2.4 进程管理中的数据结构</vt:lpstr>
      <vt:lpstr>2.1.5 进程控制块</vt:lpstr>
      <vt:lpstr> 2．进程控制块中的信息 </vt:lpstr>
      <vt:lpstr>2）处理机状态</vt:lpstr>
      <vt:lpstr>3）进程调度信息</vt:lpstr>
      <vt:lpstr>PowerPoint 演示文稿</vt:lpstr>
      <vt:lpstr>4）进程控制信息</vt:lpstr>
      <vt:lpstr>Linux进程控制块</vt:lpstr>
      <vt:lpstr>PowerPoint 演示文稿</vt:lpstr>
      <vt:lpstr>PowerPoint 演示文稿</vt:lpstr>
      <vt:lpstr>PowerPoint 演示文稿</vt:lpstr>
      <vt:lpstr>PowerPoint 演示文稿</vt:lpstr>
      <vt:lpstr> 3．进程控制块的组织方式 </vt:lpstr>
      <vt:lpstr>PowerPoint 演示文稿</vt:lpstr>
      <vt:lpstr>3．进程控制块的组织方式</vt:lpstr>
      <vt:lpstr>PowerPoint 演示文稿</vt:lpstr>
      <vt:lpstr>3．进程控制块的组织方式</vt:lpstr>
      <vt:lpstr>3．进程控制块的组织方式</vt:lpstr>
      <vt:lpstr>2.2.5 PCB实例解析</vt:lpstr>
      <vt:lpstr>作业 2：</vt:lpstr>
      <vt:lpstr>2.3 进程控制</vt:lpstr>
      <vt:lpstr>PowerPoint 演示文稿</vt:lpstr>
      <vt:lpstr>2.3.2  进程的创建</vt:lpstr>
      <vt:lpstr>PowerPoint 演示文稿</vt:lpstr>
      <vt:lpstr> 引起创建进程的事件</vt:lpstr>
      <vt:lpstr>进程的创建</vt:lpstr>
      <vt:lpstr>进程创建举例</vt:lpstr>
      <vt:lpstr>Linux进程空间获取讲解</vt:lpstr>
      <vt:lpstr>PowerPoint 演示文稿</vt:lpstr>
      <vt:lpstr>作业3：</vt:lpstr>
      <vt:lpstr>2.3.3 进程的终止 </vt:lpstr>
      <vt:lpstr>PowerPoint 演示文稿</vt:lpstr>
      <vt:lpstr>进程的终止过程</vt:lpstr>
      <vt:lpstr>Linux进程终止</vt:lpstr>
      <vt:lpstr>PowerPoint 演示文稿</vt:lpstr>
      <vt:lpstr>PowerPoint 演示文稿</vt:lpstr>
      <vt:lpstr>2.3.4 进程的阻塞与唤醒</vt:lpstr>
      <vt:lpstr>进程阻塞过程</vt:lpstr>
      <vt:lpstr>进程唤醒过程</vt:lpstr>
      <vt:lpstr>2.3.5 进程的挂起与激活</vt:lpstr>
      <vt:lpstr>进程挂起的过程</vt:lpstr>
      <vt:lpstr>PowerPoint 演示文稿</vt:lpstr>
      <vt:lpstr>进程的激活过程</vt:lpstr>
      <vt:lpstr>PowerPoint 演示文稿</vt:lpstr>
      <vt:lpstr>进程控制原语可能引起的调度</vt:lpstr>
      <vt:lpstr>2.4 进程的同步 </vt:lpstr>
      <vt:lpstr>？（问题引入） </vt:lpstr>
      <vt:lpstr>2.4.1 进程同步的基本概念</vt:lpstr>
      <vt:lpstr>例1</vt:lpstr>
      <vt:lpstr>分析及措施</vt:lpstr>
      <vt:lpstr>例2 生产者-消费者</vt:lpstr>
      <vt:lpstr>PowerPoint 演示文稿</vt:lpstr>
      <vt:lpstr>生产者和消费者两进程共享下面的变量：</vt:lpstr>
      <vt:lpstr>PowerPoint 演示文稿</vt:lpstr>
      <vt:lpstr>PowerPoint 演示文稿</vt:lpstr>
      <vt:lpstr>PowerPoint 演示文稿</vt:lpstr>
      <vt:lpstr>结论</vt:lpstr>
      <vt:lpstr>PowerPoint 演示文稿</vt:lpstr>
      <vt:lpstr>临界区使用原则 （也称为互斥条件） </vt:lpstr>
      <vt:lpstr>2.4.3  信号量机制</vt:lpstr>
      <vt:lpstr>信号量实现互斥的基本原理</vt:lpstr>
      <vt:lpstr>信号量的类型</vt:lpstr>
      <vt:lpstr>信号量的类型</vt:lpstr>
      <vt:lpstr>1. 整型信号量</vt:lpstr>
      <vt:lpstr>2．记录型信号量 </vt:lpstr>
      <vt:lpstr>定义对信号量的两个原子操作</vt:lpstr>
      <vt:lpstr>Wait、signal</vt:lpstr>
      <vt:lpstr>信号量的物理意义</vt:lpstr>
      <vt:lpstr>信号量的物理意义</vt:lpstr>
      <vt:lpstr>S-&gt; value的取值范围</vt:lpstr>
      <vt:lpstr>PowerPoint 演示文稿</vt:lpstr>
      <vt:lpstr>Linux中的信号量</vt:lpstr>
      <vt:lpstr>PowerPoint 演示文稿</vt:lpstr>
      <vt:lpstr>释放一个信号量OSSemPost() </vt:lpstr>
      <vt:lpstr>3．AND型信号量</vt:lpstr>
      <vt:lpstr>PowerPoint 演示文稿</vt:lpstr>
      <vt:lpstr>PowerPoint 演示文稿</vt:lpstr>
      <vt:lpstr>4．信号量集</vt:lpstr>
      <vt:lpstr>4．信号量集</vt:lpstr>
      <vt:lpstr>资源释放操作（ Ssignal ）：</vt:lpstr>
      <vt:lpstr>2.4.4 信号量的应用 </vt:lpstr>
      <vt:lpstr>PowerPoint 演示文稿</vt:lpstr>
      <vt:lpstr>2.4.5 管程机制</vt:lpstr>
      <vt:lpstr>2.5 经典进程的同步问题</vt:lpstr>
      <vt:lpstr>2.5.1 生产者/消费者问题 </vt:lpstr>
      <vt:lpstr>问题描述</vt:lpstr>
      <vt:lpstr>PowerPoint 演示文稿</vt:lpstr>
      <vt:lpstr>PowerPoint 演示文稿</vt:lpstr>
      <vt:lpstr>PowerPoint 演示文稿</vt:lpstr>
      <vt:lpstr>生产者/消费者</vt:lpstr>
      <vt:lpstr>不控制生产者/消费者？</vt:lpstr>
      <vt:lpstr>生产者/消费者必须同步/互斥</vt:lpstr>
      <vt:lpstr>PowerPoint 演示文稿</vt:lpstr>
      <vt:lpstr>PowerPoint 演示文稿</vt:lpstr>
      <vt:lpstr>PowerPoint 演示文稿</vt:lpstr>
      <vt:lpstr>PowerPoint 演示文稿</vt:lpstr>
      <vt:lpstr>注意</vt:lpstr>
      <vt:lpstr>PowerPoint 演示文稿</vt:lpstr>
      <vt:lpstr>问题描述</vt:lpstr>
      <vt:lpstr>利用记录型信号量解决 哲学家进餐问题</vt:lpstr>
      <vt:lpstr>PowerPoint 演示文稿</vt:lpstr>
      <vt:lpstr>2. 利用AND信号量机制解决 哲学家进餐问题</vt:lpstr>
      <vt:lpstr>2.5.3  读者/写者问题 </vt:lpstr>
      <vt:lpstr>问题描述</vt:lpstr>
      <vt:lpstr>问题描述</vt:lpstr>
      <vt:lpstr>读者/写者进程满足的条件</vt:lpstr>
      <vt:lpstr>如何控制读者和写者？</vt:lpstr>
      <vt:lpstr>1. 利用记录型信号量解决读者-写者问题</vt:lpstr>
      <vt:lpstr>PowerPoint 演示文稿</vt:lpstr>
      <vt:lpstr>PowerPoint 演示文稿</vt:lpstr>
      <vt:lpstr>PowerPoint 演示文稿</vt:lpstr>
      <vt:lpstr>2.6 进程间通信 </vt:lpstr>
      <vt:lpstr>进程通信的方式 </vt:lpstr>
      <vt:lpstr>PowerPoint 演示文稿</vt:lpstr>
      <vt:lpstr>2.6.1 进程通信的类型</vt:lpstr>
      <vt:lpstr>1.共享存储器系统</vt:lpstr>
      <vt:lpstr>(2) 基于共享存储区的通信方式。</vt:lpstr>
      <vt:lpstr>2. 管道(Pipe)通信</vt:lpstr>
      <vt:lpstr>PowerPoint 演示文稿</vt:lpstr>
      <vt:lpstr>PowerPoint 演示文稿</vt:lpstr>
      <vt:lpstr>3. 消息传递方式</vt:lpstr>
      <vt:lpstr>2.6.2 消息传递通信的实现方法</vt:lpstr>
      <vt:lpstr>直接消息通信的缺陷</vt:lpstr>
      <vt:lpstr>PowerPoint 演示文稿</vt:lpstr>
      <vt:lpstr>PowerPoint 演示文稿</vt:lpstr>
      <vt:lpstr>PowerPoint 演示文稿</vt:lpstr>
      <vt:lpstr>PowerPoint 演示文稿</vt:lpstr>
      <vt:lpstr>PowerPoint 演示文稿</vt:lpstr>
      <vt:lpstr>PowerPoint 演示文稿</vt:lpstr>
      <vt:lpstr> 1. 消息缓冲队列通信机制中的数据结构</vt:lpstr>
      <vt:lpstr>PowerPoint 演示文稿</vt:lpstr>
      <vt:lpstr>PowerPoint 演示文稿</vt:lpstr>
      <vt:lpstr>PowerPoint 演示文稿</vt:lpstr>
      <vt:lpstr>PowerPoint 演示文稿</vt:lpstr>
      <vt:lpstr>PowerPoint 演示文稿</vt:lpstr>
      <vt:lpstr>补充内容-消息队列（间接通信方式）</vt:lpstr>
      <vt:lpstr>消息队列机制的主要数据结构</vt:lpstr>
      <vt:lpstr>Linux的消息队列</vt:lpstr>
      <vt:lpstr>PowerPoint 演示文稿</vt:lpstr>
      <vt:lpstr>PowerPoint 演示文稿</vt:lpstr>
      <vt:lpstr>用Linux的消息队列机制编程实现生产者-消费者问题。</vt:lpstr>
      <vt:lpstr>2.7 线程 -- 另一种并发实体 </vt:lpstr>
      <vt:lpstr>2.7.1线程的引入</vt:lpstr>
      <vt:lpstr>1、线程的引入</vt:lpstr>
      <vt:lpstr>2.7.2 线程与进程的比较</vt:lpstr>
      <vt:lpstr>2.线程与进程的比较</vt:lpstr>
      <vt:lpstr>PowerPoint 演示文稿</vt:lpstr>
      <vt:lpstr>PowerPoint 演示文稿</vt:lpstr>
      <vt:lpstr>PowerPoint 演示文稿</vt:lpstr>
      <vt:lpstr>PowerPoint 演示文稿</vt:lpstr>
      <vt:lpstr>PowerPoint 演示文稿</vt:lpstr>
      <vt:lpstr>2。线程控制块TCB</vt:lpstr>
      <vt:lpstr>PowerPoint 演示文稿</vt:lpstr>
      <vt:lpstr>PowerPoint 演示文稿</vt:lpstr>
      <vt:lpstr>PowerPoint 演示文稿</vt:lpstr>
      <vt:lpstr>PowerPoint 演示文稿</vt:lpstr>
      <vt:lpstr>PowerPoint 演示文稿</vt:lpstr>
      <vt:lpstr>Linux 中的线程互斥锁</vt:lpstr>
      <vt:lpstr>2.7.6  线程的实现方式</vt:lpstr>
      <vt:lpstr>PowerPoint 演示文稿</vt:lpstr>
      <vt:lpstr>PowerPoint 演示文稿</vt:lpstr>
      <vt:lpstr>PowerPoint 演示文稿</vt:lpstr>
      <vt:lpstr>PowerPoint 演示文稿</vt:lpstr>
      <vt:lpstr>作业5：</vt:lpstr>
      <vt:lpstr>PowerPoint 演示文稿</vt:lpstr>
      <vt:lpstr>PowerPoint 演示文稿</vt:lpstr>
      <vt:lpstr>采用线程的优点: </vt:lpstr>
      <vt:lpstr>PowerPoint 演示文稿</vt:lpstr>
      <vt:lpstr>和用户级相比，内核支持线程有什么不同?</vt:lpstr>
      <vt:lpstr>PowerPoint 演示文稿</vt:lpstr>
      <vt:lpstr>实现方案的对比</vt:lpstr>
      <vt:lpstr>采用线程的优点: </vt:lpstr>
      <vt:lpstr>线程总结</vt:lpstr>
      <vt:lpstr>作业 4</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xieying</dc:creator>
  <cp:lastModifiedBy>Administrator</cp:lastModifiedBy>
  <cp:revision>513</cp:revision>
  <dcterms:created xsi:type="dcterms:W3CDTF">2010-02-05T03:22:00Z</dcterms:created>
  <dcterms:modified xsi:type="dcterms:W3CDTF">2025-04-07T11:34:38Z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97271828971249DBBFE16D815AAA1105_12</vt:lpwstr>
  </property>
  <property fmtid="{D5CDD505-2E9C-101B-9397-08002B2CF9AE}" pid="4" name="KSOProductBuildVer">
    <vt:lpwstr>2052-11.1.0.9021</vt:lpwstr>
  </property>
</Properties>
</file>