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45"/>
  </p:notesMasterIdLst>
  <p:handoutMasterIdLst>
    <p:handoutMasterId r:id="rId274"/>
  </p:handoutMasterIdLst>
  <p:sldIdLst>
    <p:sldId id="256" r:id="rId4"/>
    <p:sldId id="759" r:id="rId5"/>
    <p:sldId id="897" r:id="rId6"/>
    <p:sldId id="898" r:id="rId7"/>
    <p:sldId id="899" r:id="rId8"/>
    <p:sldId id="772" r:id="rId9"/>
    <p:sldId id="773" r:id="rId10"/>
    <p:sldId id="766" r:id="rId11"/>
    <p:sldId id="767" r:id="rId12"/>
    <p:sldId id="768" r:id="rId13"/>
    <p:sldId id="769" r:id="rId14"/>
    <p:sldId id="774" r:id="rId15"/>
    <p:sldId id="775" r:id="rId16"/>
    <p:sldId id="884" r:id="rId17"/>
    <p:sldId id="903" r:id="rId18"/>
    <p:sldId id="265" r:id="rId19"/>
    <p:sldId id="901" r:id="rId20"/>
    <p:sldId id="902" r:id="rId21"/>
    <p:sldId id="266" r:id="rId22"/>
    <p:sldId id="267" r:id="rId23"/>
    <p:sldId id="272" r:id="rId24"/>
    <p:sldId id="486" r:id="rId25"/>
    <p:sldId id="489" r:id="rId26"/>
    <p:sldId id="904" r:id="rId27"/>
    <p:sldId id="278" r:id="rId28"/>
    <p:sldId id="279" r:id="rId29"/>
    <p:sldId id="466" r:id="rId30"/>
    <p:sldId id="487" r:id="rId31"/>
    <p:sldId id="280" r:id="rId32"/>
    <p:sldId id="488" r:id="rId33"/>
    <p:sldId id="285" r:id="rId34"/>
    <p:sldId id="482" r:id="rId35"/>
    <p:sldId id="286" r:id="rId36"/>
    <p:sldId id="287" r:id="rId37"/>
    <p:sldId id="288" r:id="rId38"/>
    <p:sldId id="485" r:id="rId39"/>
    <p:sldId id="289" r:id="rId40"/>
    <p:sldId id="906" r:id="rId41"/>
    <p:sldId id="907" r:id="rId42"/>
    <p:sldId id="908" r:id="rId43"/>
    <p:sldId id="777" r:id="rId44"/>
    <p:sldId id="779" r:id="rId46"/>
    <p:sldId id="290" r:id="rId47"/>
    <p:sldId id="291" r:id="rId48"/>
    <p:sldId id="495" r:id="rId49"/>
    <p:sldId id="292" r:id="rId50"/>
    <p:sldId id="496" r:id="rId51"/>
    <p:sldId id="497" r:id="rId52"/>
    <p:sldId id="293" r:id="rId53"/>
    <p:sldId id="882" r:id="rId54"/>
    <p:sldId id="296" r:id="rId55"/>
    <p:sldId id="776" r:id="rId56"/>
    <p:sldId id="297" r:id="rId57"/>
    <p:sldId id="467" r:id="rId58"/>
    <p:sldId id="299" r:id="rId59"/>
    <p:sldId id="300" r:id="rId60"/>
    <p:sldId id="494" r:id="rId61"/>
    <p:sldId id="501" r:id="rId62"/>
    <p:sldId id="484" r:id="rId63"/>
    <p:sldId id="883" r:id="rId64"/>
    <p:sldId id="301" r:id="rId65"/>
    <p:sldId id="302" r:id="rId66"/>
    <p:sldId id="303" r:id="rId67"/>
    <p:sldId id="511" r:id="rId68"/>
    <p:sldId id="1155" r:id="rId69"/>
    <p:sldId id="304" r:id="rId70"/>
    <p:sldId id="305" r:id="rId71"/>
    <p:sldId id="306" r:id="rId72"/>
    <p:sldId id="307" r:id="rId73"/>
    <p:sldId id="891" r:id="rId74"/>
    <p:sldId id="885" r:id="rId75"/>
    <p:sldId id="308" r:id="rId76"/>
    <p:sldId id="886" r:id="rId77"/>
    <p:sldId id="514" r:id="rId78"/>
    <p:sldId id="781" r:id="rId79"/>
    <p:sldId id="528" r:id="rId80"/>
    <p:sldId id="905" r:id="rId81"/>
    <p:sldId id="529" r:id="rId82"/>
    <p:sldId id="530" r:id="rId83"/>
    <p:sldId id="798" r:id="rId84"/>
    <p:sldId id="799" r:id="rId85"/>
    <p:sldId id="801" r:id="rId86"/>
    <p:sldId id="800" r:id="rId87"/>
    <p:sldId id="802" r:id="rId88"/>
    <p:sldId id="803" r:id="rId89"/>
    <p:sldId id="536" r:id="rId90"/>
    <p:sldId id="804" r:id="rId91"/>
    <p:sldId id="544" r:id="rId92"/>
    <p:sldId id="554" r:id="rId93"/>
    <p:sldId id="556" r:id="rId94"/>
    <p:sldId id="805" r:id="rId95"/>
    <p:sldId id="816" r:id="rId96"/>
    <p:sldId id="806" r:id="rId97"/>
    <p:sldId id="807" r:id="rId98"/>
    <p:sldId id="818" r:id="rId99"/>
    <p:sldId id="828" r:id="rId100"/>
    <p:sldId id="823" r:id="rId101"/>
    <p:sldId id="824" r:id="rId102"/>
    <p:sldId id="825" r:id="rId103"/>
    <p:sldId id="826" r:id="rId104"/>
    <p:sldId id="827" r:id="rId105"/>
    <p:sldId id="829" r:id="rId106"/>
    <p:sldId id="830" r:id="rId107"/>
    <p:sldId id="810" r:id="rId108"/>
    <p:sldId id="811" r:id="rId109"/>
    <p:sldId id="812" r:id="rId110"/>
    <p:sldId id="813" r:id="rId111"/>
    <p:sldId id="831" r:id="rId112"/>
    <p:sldId id="814" r:id="rId113"/>
    <p:sldId id="833" r:id="rId114"/>
    <p:sldId id="834" r:id="rId115"/>
    <p:sldId id="832" r:id="rId116"/>
    <p:sldId id="568" r:id="rId117"/>
    <p:sldId id="611" r:id="rId118"/>
    <p:sldId id="835" r:id="rId119"/>
    <p:sldId id="612" r:id="rId120"/>
    <p:sldId id="613" r:id="rId121"/>
    <p:sldId id="629" r:id="rId122"/>
    <p:sldId id="615" r:id="rId123"/>
    <p:sldId id="616" r:id="rId124"/>
    <p:sldId id="617" r:id="rId125"/>
    <p:sldId id="636" r:id="rId126"/>
    <p:sldId id="643" r:id="rId127"/>
    <p:sldId id="632" r:id="rId128"/>
    <p:sldId id="635" r:id="rId129"/>
    <p:sldId id="620" r:id="rId130"/>
    <p:sldId id="836" r:id="rId131"/>
    <p:sldId id="837" r:id="rId132"/>
    <p:sldId id="838" r:id="rId133"/>
    <p:sldId id="839" r:id="rId134"/>
    <p:sldId id="840" r:id="rId135"/>
    <p:sldId id="621" r:id="rId136"/>
    <p:sldId id="622" r:id="rId137"/>
    <p:sldId id="633" r:id="rId138"/>
    <p:sldId id="623" r:id="rId139"/>
    <p:sldId id="846" r:id="rId140"/>
    <p:sldId id="843" r:id="rId141"/>
    <p:sldId id="845" r:id="rId142"/>
    <p:sldId id="841" r:id="rId143"/>
    <p:sldId id="844" r:id="rId144"/>
    <p:sldId id="656" r:id="rId145"/>
    <p:sldId id="657" r:id="rId146"/>
    <p:sldId id="847" r:id="rId147"/>
    <p:sldId id="659" r:id="rId148"/>
    <p:sldId id="660" r:id="rId149"/>
    <p:sldId id="848" r:id="rId150"/>
    <p:sldId id="713" r:id="rId151"/>
    <p:sldId id="849" r:id="rId152"/>
    <p:sldId id="714" r:id="rId153"/>
    <p:sldId id="662" r:id="rId154"/>
    <p:sldId id="668" r:id="rId155"/>
    <p:sldId id="909" r:id="rId156"/>
    <p:sldId id="705" r:id="rId157"/>
    <p:sldId id="691" r:id="rId158"/>
    <p:sldId id="692" r:id="rId159"/>
    <p:sldId id="693" r:id="rId160"/>
    <p:sldId id="694" r:id="rId161"/>
    <p:sldId id="706" r:id="rId162"/>
    <p:sldId id="850" r:id="rId163"/>
    <p:sldId id="707" r:id="rId164"/>
    <p:sldId id="708" r:id="rId165"/>
    <p:sldId id="709" r:id="rId166"/>
    <p:sldId id="710" r:id="rId167"/>
    <p:sldId id="711" r:id="rId168"/>
    <p:sldId id="895" r:id="rId169"/>
    <p:sldId id="896" r:id="rId170"/>
    <p:sldId id="892" r:id="rId171"/>
    <p:sldId id="893" r:id="rId172"/>
    <p:sldId id="894" r:id="rId173"/>
    <p:sldId id="912" r:id="rId174"/>
    <p:sldId id="1089" r:id="rId175"/>
    <p:sldId id="1090" r:id="rId176"/>
    <p:sldId id="1091" r:id="rId177"/>
    <p:sldId id="1092" r:id="rId178"/>
    <p:sldId id="1093" r:id="rId179"/>
    <p:sldId id="1094" r:id="rId180"/>
    <p:sldId id="1095" r:id="rId181"/>
    <p:sldId id="1096" r:id="rId182"/>
    <p:sldId id="1097" r:id="rId183"/>
    <p:sldId id="1098" r:id="rId184"/>
    <p:sldId id="1099" r:id="rId185"/>
    <p:sldId id="1100" r:id="rId186"/>
    <p:sldId id="1101" r:id="rId187"/>
    <p:sldId id="1102" r:id="rId188"/>
    <p:sldId id="1103" r:id="rId189"/>
    <p:sldId id="1104" r:id="rId190"/>
    <p:sldId id="1105" r:id="rId191"/>
    <p:sldId id="1106" r:id="rId192"/>
    <p:sldId id="1107" r:id="rId193"/>
    <p:sldId id="1108" r:id="rId194"/>
    <p:sldId id="1109" r:id="rId195"/>
    <p:sldId id="1110" r:id="rId196"/>
    <p:sldId id="1111" r:id="rId197"/>
    <p:sldId id="1112" r:id="rId198"/>
    <p:sldId id="1113" r:id="rId199"/>
    <p:sldId id="1114" r:id="rId200"/>
    <p:sldId id="1115" r:id="rId201"/>
    <p:sldId id="1116" r:id="rId202"/>
    <p:sldId id="1117" r:id="rId203"/>
    <p:sldId id="1118" r:id="rId204"/>
    <p:sldId id="1119" r:id="rId205"/>
    <p:sldId id="1120" r:id="rId206"/>
    <p:sldId id="1121" r:id="rId207"/>
    <p:sldId id="1122" r:id="rId208"/>
    <p:sldId id="1123" r:id="rId209"/>
    <p:sldId id="1124" r:id="rId210"/>
    <p:sldId id="1125" r:id="rId211"/>
    <p:sldId id="1126" r:id="rId212"/>
    <p:sldId id="1127" r:id="rId213"/>
    <p:sldId id="1128" r:id="rId214"/>
    <p:sldId id="1129" r:id="rId215"/>
    <p:sldId id="1130" r:id="rId216"/>
    <p:sldId id="1131" r:id="rId217"/>
    <p:sldId id="1132" r:id="rId218"/>
    <p:sldId id="1133" r:id="rId219"/>
    <p:sldId id="1134" r:id="rId220"/>
    <p:sldId id="1135" r:id="rId221"/>
    <p:sldId id="1136" r:id="rId222"/>
    <p:sldId id="1137" r:id="rId223"/>
    <p:sldId id="1138" r:id="rId224"/>
    <p:sldId id="1139" r:id="rId225"/>
    <p:sldId id="1140" r:id="rId226"/>
    <p:sldId id="1141" r:id="rId227"/>
    <p:sldId id="1142" r:id="rId228"/>
    <p:sldId id="1143" r:id="rId229"/>
    <p:sldId id="1144" r:id="rId230"/>
    <p:sldId id="1145" r:id="rId231"/>
    <p:sldId id="1146" r:id="rId232"/>
    <p:sldId id="1147" r:id="rId233"/>
    <p:sldId id="1148" r:id="rId234"/>
    <p:sldId id="1149" r:id="rId235"/>
    <p:sldId id="1150" r:id="rId236"/>
    <p:sldId id="1151" r:id="rId237"/>
    <p:sldId id="1152" r:id="rId238"/>
    <p:sldId id="1153" r:id="rId239"/>
    <p:sldId id="1154" r:id="rId240"/>
    <p:sldId id="782" r:id="rId241"/>
    <p:sldId id="851" r:id="rId242"/>
    <p:sldId id="783" r:id="rId243"/>
    <p:sldId id="853" r:id="rId244"/>
    <p:sldId id="854" r:id="rId245"/>
    <p:sldId id="855" r:id="rId246"/>
    <p:sldId id="856" r:id="rId247"/>
    <p:sldId id="910" r:id="rId248"/>
    <p:sldId id="857" r:id="rId249"/>
    <p:sldId id="859" r:id="rId250"/>
    <p:sldId id="911" r:id="rId251"/>
    <p:sldId id="860" r:id="rId252"/>
    <p:sldId id="873" r:id="rId253"/>
    <p:sldId id="874" r:id="rId254"/>
    <p:sldId id="861" r:id="rId255"/>
    <p:sldId id="862" r:id="rId256"/>
    <p:sldId id="875" r:id="rId257"/>
    <p:sldId id="1163" r:id="rId258"/>
    <p:sldId id="867" r:id="rId259"/>
    <p:sldId id="1157" r:id="rId260"/>
    <p:sldId id="878" r:id="rId261"/>
    <p:sldId id="913" r:id="rId262"/>
    <p:sldId id="914" r:id="rId263"/>
    <p:sldId id="868" r:id="rId264"/>
    <p:sldId id="872" r:id="rId265"/>
    <p:sldId id="797" r:id="rId266"/>
    <p:sldId id="1156" r:id="rId267"/>
    <p:sldId id="1158" r:id="rId268"/>
    <p:sldId id="1161" r:id="rId269"/>
    <p:sldId id="1162" r:id="rId270"/>
    <p:sldId id="1159" r:id="rId271"/>
    <p:sldId id="1160" r:id="rId272"/>
    <p:sldId id="877" r:id="rId273"/>
  </p:sldIdLst>
  <p:sldSz cx="9144000" cy="6858000" type="screen4x3"/>
  <p:notesSz cx="6797675" cy="9928225"/>
  <p:custDataLst>
    <p:tags r:id="rId278"/>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8" userDrawn="1">
          <p15:clr>
            <a:srgbClr val="A4A3A4"/>
          </p15:clr>
        </p15:guide>
        <p15:guide id="2" pos="28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111111"/>
    <a:srgbClr val="000099"/>
    <a:srgbClr val="080808"/>
    <a:srgbClr val="0033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202"/>
    <p:restoredTop sz="94290"/>
  </p:normalViewPr>
  <p:slideViewPr>
    <p:cSldViewPr showGuides="1">
      <p:cViewPr varScale="1">
        <p:scale>
          <a:sx n="108" d="100"/>
          <a:sy n="108" d="100"/>
        </p:scale>
        <p:origin x="1614" y="108"/>
      </p:cViewPr>
      <p:guideLst>
        <p:guide orient="horz" pos="2208"/>
        <p:guide pos="289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8732"/>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notesMaster" Target="notesMasters/notes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8" Type="http://schemas.openxmlformats.org/officeDocument/2006/relationships/tags" Target="tags/tag1.xml"/><Relationship Id="rId277" Type="http://schemas.openxmlformats.org/officeDocument/2006/relationships/tableStyles" Target="tableStyles.xml"/><Relationship Id="rId276" Type="http://schemas.openxmlformats.org/officeDocument/2006/relationships/viewProps" Target="viewProps.xml"/><Relationship Id="rId275" Type="http://schemas.openxmlformats.org/officeDocument/2006/relationships/presProps" Target="presProps.xml"/><Relationship Id="rId274" Type="http://schemas.openxmlformats.org/officeDocument/2006/relationships/handoutMaster" Target="handoutMasters/handoutMaster1.xml"/><Relationship Id="rId273" Type="http://schemas.openxmlformats.org/officeDocument/2006/relationships/slide" Target="slides/slide269.xml"/><Relationship Id="rId272" Type="http://schemas.openxmlformats.org/officeDocument/2006/relationships/slide" Target="slides/slide268.xml"/><Relationship Id="rId271" Type="http://schemas.openxmlformats.org/officeDocument/2006/relationships/slide" Target="slides/slide267.xml"/><Relationship Id="rId270" Type="http://schemas.openxmlformats.org/officeDocument/2006/relationships/slide" Target="slides/slide266.xml"/><Relationship Id="rId27" Type="http://schemas.openxmlformats.org/officeDocument/2006/relationships/slide" Target="slides/slide24.xml"/><Relationship Id="rId269" Type="http://schemas.openxmlformats.org/officeDocument/2006/relationships/slide" Target="slides/slide265.xml"/><Relationship Id="rId268" Type="http://schemas.openxmlformats.org/officeDocument/2006/relationships/slide" Target="slides/slide264.xml"/><Relationship Id="rId267" Type="http://schemas.openxmlformats.org/officeDocument/2006/relationships/slide" Target="slides/slide263.xml"/><Relationship Id="rId266" Type="http://schemas.openxmlformats.org/officeDocument/2006/relationships/slide" Target="slides/slide262.xml"/><Relationship Id="rId265" Type="http://schemas.openxmlformats.org/officeDocument/2006/relationships/slide" Target="slides/slide261.xml"/><Relationship Id="rId264" Type="http://schemas.openxmlformats.org/officeDocument/2006/relationships/slide" Target="slides/slide260.xml"/><Relationship Id="rId263" Type="http://schemas.openxmlformats.org/officeDocument/2006/relationships/slide" Target="slides/slide259.xml"/><Relationship Id="rId262" Type="http://schemas.openxmlformats.org/officeDocument/2006/relationships/slide" Target="slides/slide258.xml"/><Relationship Id="rId261" Type="http://schemas.openxmlformats.org/officeDocument/2006/relationships/slide" Target="slides/slide257.xml"/><Relationship Id="rId260" Type="http://schemas.openxmlformats.org/officeDocument/2006/relationships/slide" Target="slides/slide256.xml"/><Relationship Id="rId26" Type="http://schemas.openxmlformats.org/officeDocument/2006/relationships/slide" Target="slides/slide23.xml"/><Relationship Id="rId259" Type="http://schemas.openxmlformats.org/officeDocument/2006/relationships/slide" Target="slides/slide255.xml"/><Relationship Id="rId258" Type="http://schemas.openxmlformats.org/officeDocument/2006/relationships/slide" Target="slides/slide254.xml"/><Relationship Id="rId257" Type="http://schemas.openxmlformats.org/officeDocument/2006/relationships/slide" Target="slides/slide253.xml"/><Relationship Id="rId256" Type="http://schemas.openxmlformats.org/officeDocument/2006/relationships/slide" Target="slides/slide252.xml"/><Relationship Id="rId255" Type="http://schemas.openxmlformats.org/officeDocument/2006/relationships/slide" Target="slides/slide251.xml"/><Relationship Id="rId254" Type="http://schemas.openxmlformats.org/officeDocument/2006/relationships/slide" Target="slides/slide250.xml"/><Relationship Id="rId253" Type="http://schemas.openxmlformats.org/officeDocument/2006/relationships/slide" Target="slides/slide249.xml"/><Relationship Id="rId252" Type="http://schemas.openxmlformats.org/officeDocument/2006/relationships/slide" Target="slides/slide248.xml"/><Relationship Id="rId251" Type="http://schemas.openxmlformats.org/officeDocument/2006/relationships/slide" Target="slides/slide247.xml"/><Relationship Id="rId250" Type="http://schemas.openxmlformats.org/officeDocument/2006/relationships/slide" Target="slides/slide246.xml"/><Relationship Id="rId25" Type="http://schemas.openxmlformats.org/officeDocument/2006/relationships/slide" Target="slides/slide22.xml"/><Relationship Id="rId249" Type="http://schemas.openxmlformats.org/officeDocument/2006/relationships/slide" Target="slides/slide245.xml"/><Relationship Id="rId248" Type="http://schemas.openxmlformats.org/officeDocument/2006/relationships/slide" Target="slides/slide244.xml"/><Relationship Id="rId247" Type="http://schemas.openxmlformats.org/officeDocument/2006/relationships/slide" Target="slides/slide243.xml"/><Relationship Id="rId246" Type="http://schemas.openxmlformats.org/officeDocument/2006/relationships/slide" Target="slides/slide242.xml"/><Relationship Id="rId245" Type="http://schemas.openxmlformats.org/officeDocument/2006/relationships/slide" Target="slides/slide241.xml"/><Relationship Id="rId244" Type="http://schemas.openxmlformats.org/officeDocument/2006/relationships/slide" Target="slides/slide240.xml"/><Relationship Id="rId243" Type="http://schemas.openxmlformats.org/officeDocument/2006/relationships/slide" Target="slides/slide239.xml"/><Relationship Id="rId242" Type="http://schemas.openxmlformats.org/officeDocument/2006/relationships/slide" Target="slides/slide238.xml"/><Relationship Id="rId241" Type="http://schemas.openxmlformats.org/officeDocument/2006/relationships/slide" Target="slides/slide237.xml"/><Relationship Id="rId240" Type="http://schemas.openxmlformats.org/officeDocument/2006/relationships/slide" Target="slides/slide236.xml"/><Relationship Id="rId24" Type="http://schemas.openxmlformats.org/officeDocument/2006/relationships/slide" Target="slides/slide21.xml"/><Relationship Id="rId239" Type="http://schemas.openxmlformats.org/officeDocument/2006/relationships/slide" Target="slides/slide235.xml"/><Relationship Id="rId238" Type="http://schemas.openxmlformats.org/officeDocument/2006/relationships/slide" Target="slides/slide234.xml"/><Relationship Id="rId237" Type="http://schemas.openxmlformats.org/officeDocument/2006/relationships/slide" Target="slides/slide233.xml"/><Relationship Id="rId236" Type="http://schemas.openxmlformats.org/officeDocument/2006/relationships/slide" Target="slides/slide232.xml"/><Relationship Id="rId235" Type="http://schemas.openxmlformats.org/officeDocument/2006/relationships/slide" Target="slides/slide231.xml"/><Relationship Id="rId234" Type="http://schemas.openxmlformats.org/officeDocument/2006/relationships/slide" Target="slides/slide230.xml"/><Relationship Id="rId233" Type="http://schemas.openxmlformats.org/officeDocument/2006/relationships/slide" Target="slides/slide229.xml"/><Relationship Id="rId232" Type="http://schemas.openxmlformats.org/officeDocument/2006/relationships/slide" Target="slides/slide228.xml"/><Relationship Id="rId231" Type="http://schemas.openxmlformats.org/officeDocument/2006/relationships/slide" Target="slides/slide227.xml"/><Relationship Id="rId230" Type="http://schemas.openxmlformats.org/officeDocument/2006/relationships/slide" Target="slides/slide226.xml"/><Relationship Id="rId23" Type="http://schemas.openxmlformats.org/officeDocument/2006/relationships/slide" Target="slides/slide20.xml"/><Relationship Id="rId229" Type="http://schemas.openxmlformats.org/officeDocument/2006/relationships/slide" Target="slides/slide225.xml"/><Relationship Id="rId228" Type="http://schemas.openxmlformats.org/officeDocument/2006/relationships/slide" Target="slides/slide224.xml"/><Relationship Id="rId227" Type="http://schemas.openxmlformats.org/officeDocument/2006/relationships/slide" Target="slides/slide223.xml"/><Relationship Id="rId226" Type="http://schemas.openxmlformats.org/officeDocument/2006/relationships/slide" Target="slides/slide222.xml"/><Relationship Id="rId225" Type="http://schemas.openxmlformats.org/officeDocument/2006/relationships/slide" Target="slides/slide221.xml"/><Relationship Id="rId224" Type="http://schemas.openxmlformats.org/officeDocument/2006/relationships/slide" Target="slides/slide220.xml"/><Relationship Id="rId223" Type="http://schemas.openxmlformats.org/officeDocument/2006/relationships/slide" Target="slides/slide219.xml"/><Relationship Id="rId222" Type="http://schemas.openxmlformats.org/officeDocument/2006/relationships/slide" Target="slides/slide218.xml"/><Relationship Id="rId221" Type="http://schemas.openxmlformats.org/officeDocument/2006/relationships/slide" Target="slides/slide217.xml"/><Relationship Id="rId220" Type="http://schemas.openxmlformats.org/officeDocument/2006/relationships/slide" Target="slides/slide216.xml"/><Relationship Id="rId22" Type="http://schemas.openxmlformats.org/officeDocument/2006/relationships/slide" Target="slides/slide19.xml"/><Relationship Id="rId219" Type="http://schemas.openxmlformats.org/officeDocument/2006/relationships/slide" Target="slides/slide215.xml"/><Relationship Id="rId218" Type="http://schemas.openxmlformats.org/officeDocument/2006/relationships/slide" Target="slides/slide214.xml"/><Relationship Id="rId217" Type="http://schemas.openxmlformats.org/officeDocument/2006/relationships/slide" Target="slides/slide213.xml"/><Relationship Id="rId216" Type="http://schemas.openxmlformats.org/officeDocument/2006/relationships/slide" Target="slides/slide212.xml"/><Relationship Id="rId215" Type="http://schemas.openxmlformats.org/officeDocument/2006/relationships/slide" Target="slides/slide211.xml"/><Relationship Id="rId214" Type="http://schemas.openxmlformats.org/officeDocument/2006/relationships/slide" Target="slides/slide210.xml"/><Relationship Id="rId213" Type="http://schemas.openxmlformats.org/officeDocument/2006/relationships/slide" Target="slides/slide209.xml"/><Relationship Id="rId212" Type="http://schemas.openxmlformats.org/officeDocument/2006/relationships/slide" Target="slides/slide208.xml"/><Relationship Id="rId211" Type="http://schemas.openxmlformats.org/officeDocument/2006/relationships/slide" Target="slides/slide207.xml"/><Relationship Id="rId210" Type="http://schemas.openxmlformats.org/officeDocument/2006/relationships/slide" Target="slides/slide206.xml"/><Relationship Id="rId21" Type="http://schemas.openxmlformats.org/officeDocument/2006/relationships/slide" Target="slides/slide18.xml"/><Relationship Id="rId209" Type="http://schemas.openxmlformats.org/officeDocument/2006/relationships/slide" Target="slides/slide205.xml"/><Relationship Id="rId208" Type="http://schemas.openxmlformats.org/officeDocument/2006/relationships/slide" Target="slides/slide204.xml"/><Relationship Id="rId207" Type="http://schemas.openxmlformats.org/officeDocument/2006/relationships/slide" Target="slides/slide203.xml"/><Relationship Id="rId206" Type="http://schemas.openxmlformats.org/officeDocument/2006/relationships/slide" Target="slides/slide202.xml"/><Relationship Id="rId205" Type="http://schemas.openxmlformats.org/officeDocument/2006/relationships/slide" Target="slides/slide201.xml"/><Relationship Id="rId204" Type="http://schemas.openxmlformats.org/officeDocument/2006/relationships/slide" Target="slides/slide200.xml"/><Relationship Id="rId203" Type="http://schemas.openxmlformats.org/officeDocument/2006/relationships/slide" Target="slides/slide199.xml"/><Relationship Id="rId202" Type="http://schemas.openxmlformats.org/officeDocument/2006/relationships/slide" Target="slides/slide198.xml"/><Relationship Id="rId201" Type="http://schemas.openxmlformats.org/officeDocument/2006/relationships/slide" Target="slides/slide197.xml"/><Relationship Id="rId200" Type="http://schemas.openxmlformats.org/officeDocument/2006/relationships/slide" Target="slides/slide196.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5.xml"/><Relationship Id="rId198" Type="http://schemas.openxmlformats.org/officeDocument/2006/relationships/slide" Target="slides/slide194.xml"/><Relationship Id="rId197" Type="http://schemas.openxmlformats.org/officeDocument/2006/relationships/slide" Target="slides/slide193.xml"/><Relationship Id="rId196" Type="http://schemas.openxmlformats.org/officeDocument/2006/relationships/slide" Target="slides/slide192.xml"/><Relationship Id="rId195" Type="http://schemas.openxmlformats.org/officeDocument/2006/relationships/slide" Target="slides/slide191.xml"/><Relationship Id="rId194" Type="http://schemas.openxmlformats.org/officeDocument/2006/relationships/slide" Target="slides/slide190.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6.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5.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2189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1891" name="Rectangle 3"/>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1892" name="Rectangle 4"/>
          <p:cNvSpPr>
            <a:spLocks noGrp="1" noChangeArrowheads="1"/>
          </p:cNvSpPr>
          <p:nvPr>
            <p:ph type="ftr" sz="quarter" idx="2"/>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1893" name="Rectangle 5"/>
          <p:cNvSpPr>
            <a:spLocks noGrp="1" noChangeArrowheads="1"/>
          </p:cNvSpPr>
          <p:nvPr>
            <p:ph type="sldNum" sz="quarter" idx="3"/>
          </p:nvPr>
        </p:nvSpPr>
        <p:spPr bwMode="auto">
          <a:xfrm>
            <a:off x="3849688"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0CBE45C-4671-4CFA-A662-19CF5B79D412}"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493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93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noTextEdit="1"/>
          </p:cNvSpPr>
          <p:nvPr>
            <p:ph type="sldImg" idx="2"/>
          </p:nvPr>
        </p:nvSpPr>
        <p:spPr>
          <a:xfrm>
            <a:off x="915988" y="744538"/>
            <a:ext cx="4965700" cy="3722687"/>
          </a:xfrm>
          <a:prstGeom prst="rect">
            <a:avLst/>
          </a:prstGeom>
          <a:noFill/>
          <a:ln w="9525" cap="flat" cmpd="sng">
            <a:solidFill>
              <a:srgbClr val="000000"/>
            </a:solidFill>
            <a:prstDash val="solid"/>
            <a:miter/>
            <a:headEnd type="none" w="med" len="med"/>
            <a:tailEnd type="none" w="med" len="med"/>
          </a:ln>
        </p:spPr>
      </p:sp>
      <p:sp>
        <p:nvSpPr>
          <p:cNvPr id="124933" name="Rectangle 5"/>
          <p:cNvSpPr>
            <a:spLocks noGrp="1" noChangeArrowheads="1"/>
          </p:cNvSpPr>
          <p:nvPr>
            <p:ph type="body" sz="quarter" idx="3"/>
          </p:nvPr>
        </p:nvSpPr>
        <p:spPr bwMode="auto">
          <a:xfrm>
            <a:off x="679450" y="4716463"/>
            <a:ext cx="5438775" cy="4467225"/>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934" name="Rectangle 6"/>
          <p:cNvSpPr>
            <a:spLocks noGrp="1" noChangeArrowheads="1"/>
          </p:cNvSpPr>
          <p:nvPr>
            <p:ph type="ftr" sz="quarter" idx="4"/>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935" name="Rectangle 7"/>
          <p:cNvSpPr>
            <a:spLocks noGrp="1" noChangeArrowheads="1"/>
          </p:cNvSpPr>
          <p:nvPr>
            <p:ph type="sldNum" sz="quarter" idx="5"/>
          </p:nvPr>
        </p:nvSpPr>
        <p:spPr bwMode="auto">
          <a:xfrm>
            <a:off x="3849688"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669E229E-58A5-463E-B12B-CB37BDF50DAE}"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49688"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46083" name="Rectangle 2"/>
          <p:cNvSpPr>
            <a:spLocks noRot="1" noTextEdit="1"/>
          </p:cNvSpPr>
          <p:nvPr>
            <p:ph type="sldImg"/>
          </p:nvPr>
        </p:nvSpPr>
        <p:spPr>
          <a:xfrm>
            <a:off x="917575" y="744538"/>
            <a:ext cx="4962525" cy="3722687"/>
          </a:xfrm>
          <a:ln/>
        </p:spPr>
      </p:sp>
      <p:sp>
        <p:nvSpPr>
          <p:cNvPr id="46084"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49688"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48131" name="Rectangle 2"/>
          <p:cNvSpPr>
            <a:spLocks noRot="1" noTextEdit="1"/>
          </p:cNvSpPr>
          <p:nvPr>
            <p:ph type="sldImg"/>
          </p:nvPr>
        </p:nvSpPr>
        <p:spPr>
          <a:xfrm>
            <a:off x="917575" y="744538"/>
            <a:ext cx="4962525" cy="3722687"/>
          </a:xfrm>
          <a:ln/>
        </p:spPr>
      </p:sp>
      <p:sp>
        <p:nvSpPr>
          <p:cNvPr id="48132"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E6002CC-815D-BE4B-81EB-EBA1045E37A0}" type="slidenum">
              <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endParaRPr>
          </a:p>
        </p:txBody>
      </p:sp>
      <p:sp>
        <p:nvSpPr>
          <p:cNvPr id="33795" name="Rectangle 2"/>
          <p:cNvSpPr>
            <a:spLocks noGrp="1" noRot="1" noChangeAspect="1" noChangeArrowheads="1" noTextEdit="1"/>
          </p:cNvSpPr>
          <p:nvPr>
            <p:ph type="sldImg"/>
          </p:nvPr>
        </p:nvSpPr>
        <p:spPr>
          <a:xfrm>
            <a:off x="381000" y="685800"/>
            <a:ext cx="6096000" cy="3429000"/>
          </a:xfrm>
        </p:spPr>
      </p:sp>
      <p:sp>
        <p:nvSpPr>
          <p:cNvPr id="3379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lgn="just">
              <a:lnSpc>
                <a:spcPct val="120000"/>
              </a:lnSpc>
              <a:spcBef>
                <a:spcPts val="0"/>
              </a:spcBef>
            </a:pPr>
            <a:r>
              <a:rPr lang="zh-CN" altLang="en-US" sz="2200" b="0" kern="1200" dirty="0">
                <a:solidFill>
                  <a:schemeClr val="tx1"/>
                </a:solidFill>
                <a:latin typeface="+mj-ea"/>
                <a:ea typeface="微软雅黑" panose="020B0503020204020204" charset="-122"/>
                <a:cs typeface="+mn-cs"/>
              </a:rPr>
              <a:t>进程在退出之前会释放进程用户空间的所有资源，但</a:t>
            </a:r>
            <a:r>
              <a:rPr lang="en-GB" altLang="zh-CN" sz="2200" b="0" kern="1200" dirty="0">
                <a:solidFill>
                  <a:schemeClr val="tx1"/>
                </a:solidFill>
                <a:latin typeface="+mj-ea"/>
                <a:ea typeface="微软雅黑" panose="020B0503020204020204" charset="-122"/>
                <a:cs typeface="+mn-cs"/>
              </a:rPr>
              <a:t>PCB</a:t>
            </a:r>
            <a:r>
              <a:rPr lang="zh-CN" altLang="en-US" sz="2200" b="0" kern="1200" dirty="0">
                <a:solidFill>
                  <a:schemeClr val="tx1"/>
                </a:solidFill>
                <a:latin typeface="+mj-ea"/>
                <a:ea typeface="微软雅黑" panose="020B0503020204020204" charset="-122"/>
                <a:cs typeface="+mn-cs"/>
              </a:rPr>
              <a:t>等内核空间资源不会被释放</a:t>
            </a:r>
            <a:endParaRPr lang="zh-CN" altLang="en-US" sz="2200" b="0" kern="1200" dirty="0">
              <a:solidFill>
                <a:schemeClr val="tx1"/>
              </a:solidFill>
              <a:latin typeface="+mj-ea"/>
              <a:ea typeface="微软雅黑" panose="020B0503020204020204" charset="-122"/>
              <a:cs typeface="+mn-cs"/>
            </a:endParaRPr>
          </a:p>
          <a:p>
            <a:pPr lvl="1" algn="just">
              <a:lnSpc>
                <a:spcPct val="120000"/>
              </a:lnSpc>
              <a:spcBef>
                <a:spcPts val="0"/>
              </a:spcBef>
            </a:pPr>
            <a:r>
              <a:rPr lang="zh-CN" altLang="en-US" sz="2200" b="0" kern="1200" dirty="0">
                <a:solidFill>
                  <a:schemeClr val="tx1"/>
                </a:solidFill>
                <a:latin typeface="+mj-ea"/>
                <a:ea typeface="微软雅黑" panose="020B0503020204020204" charset="-122"/>
                <a:cs typeface="+mn-cs"/>
              </a:rPr>
              <a:t>对于已经终止但父进程尚未对其调用</a:t>
            </a:r>
            <a:r>
              <a:rPr lang="en-GB" altLang="zh-CN" sz="2200" b="0" kern="1200" dirty="0">
                <a:solidFill>
                  <a:schemeClr val="tx1"/>
                </a:solidFill>
                <a:latin typeface="+mj-ea"/>
                <a:ea typeface="微软雅黑" panose="020B0503020204020204" charset="-122"/>
                <a:cs typeface="+mn-cs"/>
              </a:rPr>
              <a:t>wait</a:t>
            </a:r>
            <a:r>
              <a:rPr lang="zh-CN" altLang="en-US" sz="2200" b="0" kern="1200" dirty="0">
                <a:solidFill>
                  <a:schemeClr val="tx1"/>
                </a:solidFill>
                <a:latin typeface="+mj-ea"/>
                <a:ea typeface="微软雅黑" panose="020B0503020204020204" charset="-122"/>
                <a:cs typeface="+mn-cs"/>
              </a:rPr>
              <a:t>或</a:t>
            </a:r>
            <a:r>
              <a:rPr lang="en-GB" altLang="zh-CN" sz="2200" b="0" kern="1200" dirty="0" err="1">
                <a:solidFill>
                  <a:schemeClr val="tx1"/>
                </a:solidFill>
                <a:latin typeface="+mj-ea"/>
                <a:ea typeface="微软雅黑" panose="020B0503020204020204" charset="-122"/>
                <a:cs typeface="+mn-cs"/>
              </a:rPr>
              <a:t>waitpid</a:t>
            </a:r>
            <a:r>
              <a:rPr lang="zh-CN" altLang="en-US" sz="2200" b="0" kern="1200" dirty="0">
                <a:solidFill>
                  <a:schemeClr val="tx1"/>
                </a:solidFill>
                <a:latin typeface="+mj-ea"/>
                <a:ea typeface="微软雅黑" panose="020B0503020204020204" charset="-122"/>
                <a:cs typeface="+mn-cs"/>
              </a:rPr>
              <a:t>函数的进程（</a:t>
            </a:r>
            <a:r>
              <a:rPr lang="en-GB" altLang="zh-CN" sz="2200" b="0" kern="1200" dirty="0">
                <a:solidFill>
                  <a:schemeClr val="tx1"/>
                </a:solidFill>
                <a:latin typeface="+mj-ea"/>
                <a:ea typeface="微软雅黑" panose="020B0503020204020204" charset="-122"/>
                <a:cs typeface="+mn-cs"/>
              </a:rPr>
              <a:t>TASK_ZOMBIE</a:t>
            </a:r>
            <a:r>
              <a:rPr lang="zh-CN" altLang="en-US" sz="2200" b="0" kern="1200" dirty="0">
                <a:solidFill>
                  <a:schemeClr val="tx1"/>
                </a:solidFill>
                <a:latin typeface="+mj-ea"/>
                <a:ea typeface="微软雅黑" panose="020B0503020204020204" charset="-122"/>
                <a:cs typeface="+mn-cs"/>
              </a:rPr>
              <a:t>状态），称为僵尸进程</a:t>
            </a:r>
            <a:endParaRPr lang="zh-CN" altLang="en-US" sz="22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endParaRPr lang="en-US" altLang="zh-CN" sz="8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endParaRPr lang="en-US" altLang="zh-CN" sz="8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r>
              <a:rPr lang="zh-CN" altLang="en-US" sz="800" b="0" kern="1200" dirty="0">
                <a:solidFill>
                  <a:schemeClr val="tx1"/>
                </a:solidFill>
                <a:latin typeface="+mj-ea"/>
                <a:ea typeface="微软雅黑" panose="020B0503020204020204" charset="-122"/>
                <a:cs typeface="+mn-cs"/>
              </a:rPr>
              <a:t>内核将根据情况关闭该进程打开的所有文件，释放</a:t>
            </a:r>
            <a:r>
              <a:rPr lang="en-US" altLang="zh-CN" sz="800" b="0" kern="1200" dirty="0">
                <a:solidFill>
                  <a:schemeClr val="tx1"/>
                </a:solidFill>
                <a:latin typeface="+mj-ea"/>
                <a:ea typeface="微软雅黑" panose="020B0503020204020204" charset="-122"/>
                <a:cs typeface="+mn-cs"/>
              </a:rPr>
              <a:t>PCB</a:t>
            </a:r>
            <a:r>
              <a:rPr lang="zh-CN" altLang="en-US" sz="800" b="0" kern="1200" dirty="0">
                <a:solidFill>
                  <a:schemeClr val="tx1"/>
                </a:solidFill>
                <a:latin typeface="+mj-ea"/>
                <a:ea typeface="微软雅黑" panose="020B0503020204020204" charset="-122"/>
                <a:cs typeface="+mn-cs"/>
              </a:rPr>
              <a:t>（释放内核空间资源）</a:t>
            </a:r>
            <a:endParaRPr lang="zh-CN" altLang="en-US" sz="800" b="0" kern="1200" dirty="0">
              <a:solidFill>
                <a:schemeClr val="tx1"/>
              </a:solidFill>
              <a:latin typeface="+mj-ea"/>
              <a:ea typeface="微软雅黑" panose="020B0503020204020204" charset="-122"/>
              <a:cs typeface="+mn-cs"/>
            </a:endParaRPr>
          </a:p>
          <a:p>
            <a:pPr algn="just" eaLnBrk="1" hangingPunct="1">
              <a:lnSpc>
                <a:spcPct val="115000"/>
              </a:lnSpc>
              <a:defRPr/>
            </a:pPr>
            <a:endParaRPr lang="zh-CN" altLang="en-US" sz="1200" b="1" dirty="0">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幻灯片图像占位符 1"/>
          <p:cNvSpPr>
            <a:spLocks noGrp="1" noRot="1" noChangeAspect="1" noTextEdit="1"/>
          </p:cNvSpPr>
          <p:nvPr>
            <p:ph type="sldImg"/>
          </p:nvPr>
        </p:nvSpPr>
        <p:spPr>
          <a:xfrm>
            <a:off x="917575" y="744538"/>
            <a:ext cx="4962525" cy="3722687"/>
          </a:xfrm>
          <a:ln/>
        </p:spPr>
      </p:sp>
      <p:sp>
        <p:nvSpPr>
          <p:cNvPr id="100355"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100356" name="灯片编号占位符 3"/>
          <p:cNvSpPr txBox="1">
            <a:spLocks noGrp="1"/>
          </p:cNvSpPr>
          <p:nvPr>
            <p:ph type="sldNum" sz="quarter"/>
          </p:nvPr>
        </p:nvSpPr>
        <p:spPr>
          <a:xfrm>
            <a:off x="3849688"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幻灯片图像占位符 1"/>
          <p:cNvSpPr>
            <a:spLocks noGrp="1" noRot="1" noChangeAspect="1" noTextEdit="1"/>
          </p:cNvSpPr>
          <p:nvPr>
            <p:ph type="sldImg"/>
          </p:nvPr>
        </p:nvSpPr>
        <p:spPr>
          <a:xfrm>
            <a:off x="917575" y="744538"/>
            <a:ext cx="4962525" cy="3722687"/>
          </a:xfrm>
          <a:ln/>
        </p:spPr>
      </p:sp>
      <p:sp>
        <p:nvSpPr>
          <p:cNvPr id="155651"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155652" name="灯片编号占位符 3"/>
          <p:cNvSpPr txBox="1">
            <a:spLocks noGrp="1"/>
          </p:cNvSpPr>
          <p:nvPr>
            <p:ph type="sldNum" sz="quarter"/>
          </p:nvPr>
        </p:nvSpPr>
        <p:spPr>
          <a:xfrm>
            <a:off x="3849688"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狭义仅指操作系统中为进程分配处理机。广义扩展到为各种形式的任务分配计算资源。</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线程的切换只涉及指令的切换</a:t>
            </a:r>
            <a:endParaRPr lang="zh-CN" altLang="en-US" dirty="0"/>
          </a:p>
          <a:p>
            <a:r>
              <a:rPr lang="zh-CN" altLang="en-US" dirty="0"/>
              <a:t>进程的切换涉及到映射表的切换。映射表代表着进程的内存空间映像</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这几个线程并发执行。接收一段数据，切换到显示文本，再切换回接收数据。</a:t>
            </a:r>
            <a:endParaRPr lang="en-US" altLang="zh-CN" dirty="0"/>
          </a:p>
          <a:p>
            <a:r>
              <a:rPr lang="zh-CN" altLang="en-US" dirty="0"/>
              <a:t>这几个线程共用进程的同一个内存地址空间，线程切换时资源不会切换。</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0"/>
              </a:spcBef>
              <a:defRPr/>
            </a:pPr>
            <a:r>
              <a:rPr lang="zh-CN" altLang="en-US" dirty="0">
                <a:latin typeface="微软雅黑" panose="020B0503020204020204" charset="-122"/>
                <a:ea typeface="微软雅黑" panose="020B0503020204020204" charset="-122"/>
              </a:rPr>
              <a:t>进程的概念体现出两个特点： </a:t>
            </a:r>
            <a:endParaRPr lang="zh-CN" altLang="en-US" dirty="0">
              <a:latin typeface="微软雅黑" panose="020B0503020204020204" charset="-122"/>
              <a:ea typeface="微软雅黑" panose="020B0503020204020204" charset="-122"/>
            </a:endParaRPr>
          </a:p>
          <a:p>
            <a:pPr>
              <a:lnSpc>
                <a:spcPct val="150000"/>
              </a:lnSpc>
              <a:spcBef>
                <a:spcPts val="0"/>
              </a:spcBef>
              <a:buNone/>
              <a:defRPr/>
            </a:pPr>
            <a:r>
              <a:rPr lang="zh-CN" altLang="en-US" b="0" dirty="0">
                <a:latin typeface="微软雅黑" panose="020B0503020204020204" charset="-122"/>
                <a:ea typeface="微软雅黑" panose="020B0503020204020204" charset="-122"/>
              </a:rPr>
              <a:t>①</a:t>
            </a:r>
            <a:r>
              <a:rPr lang="zh-CN" altLang="en-US" b="0" dirty="0">
                <a:solidFill>
                  <a:schemeClr val="bg2">
                    <a:lumMod val="50000"/>
                  </a:schemeClr>
                </a:solidFill>
                <a:latin typeface="微软雅黑" panose="020B0503020204020204" charset="-122"/>
                <a:ea typeface="微软雅黑" panose="020B0503020204020204" charset="-122"/>
              </a:rPr>
              <a:t>资源所有权</a:t>
            </a:r>
            <a:r>
              <a:rPr lang="zh-CN" altLang="en-US" b="0" dirty="0">
                <a:latin typeface="微软雅黑" panose="020B0503020204020204" charset="-122"/>
                <a:ea typeface="微软雅黑" panose="020B0503020204020204" charset="-122"/>
              </a:rPr>
              <a:t>：一个进程包括一个保存进程映像的虚地址空间，并且随时分配对资源的控制或所有权，包括内存、</a:t>
            </a:r>
            <a:r>
              <a:rPr lang="en-US" altLang="zh-CN" b="0" dirty="0">
                <a:latin typeface="微软雅黑" panose="020B0503020204020204" charset="-122"/>
                <a:ea typeface="微软雅黑" panose="020B0503020204020204" charset="-122"/>
              </a:rPr>
              <a:t>I/O</a:t>
            </a:r>
            <a:r>
              <a:rPr lang="zh-CN" altLang="en-US" b="0" dirty="0">
                <a:latin typeface="微软雅黑" panose="020B0503020204020204" charset="-122"/>
                <a:ea typeface="微软雅黑" panose="020B0503020204020204" charset="-122"/>
              </a:rPr>
              <a:t>通道、</a:t>
            </a:r>
            <a:r>
              <a:rPr lang="en-US" altLang="zh-CN" b="0" dirty="0">
                <a:latin typeface="微软雅黑" panose="020B0503020204020204" charset="-122"/>
                <a:ea typeface="微软雅黑" panose="020B0503020204020204" charset="-122"/>
              </a:rPr>
              <a:t>I/O</a:t>
            </a:r>
            <a:r>
              <a:rPr lang="zh-CN" altLang="en-US" b="0" dirty="0">
                <a:latin typeface="微软雅黑" panose="020B0503020204020204" charset="-122"/>
                <a:ea typeface="微软雅黑" panose="020B0503020204020204" charset="-122"/>
              </a:rPr>
              <a:t>设备、文件等。</a:t>
            </a:r>
            <a:endParaRPr lang="zh-CN" altLang="en-US" b="0" dirty="0">
              <a:latin typeface="微软雅黑" panose="020B0503020204020204" charset="-122"/>
              <a:ea typeface="微软雅黑" panose="020B0503020204020204" charset="-122"/>
            </a:endParaRPr>
          </a:p>
          <a:p>
            <a:pPr>
              <a:lnSpc>
                <a:spcPct val="150000"/>
              </a:lnSpc>
              <a:spcBef>
                <a:spcPts val="0"/>
              </a:spcBef>
              <a:buNone/>
              <a:defRPr/>
            </a:pPr>
            <a:r>
              <a:rPr lang="zh-CN" altLang="en-US" b="0" dirty="0">
                <a:latin typeface="微软雅黑" panose="020B0503020204020204" charset="-122"/>
                <a:ea typeface="微软雅黑" panose="020B0503020204020204" charset="-122"/>
              </a:rPr>
              <a:t>②</a:t>
            </a:r>
            <a:r>
              <a:rPr lang="zh-CN" altLang="en-US" b="0" dirty="0">
                <a:solidFill>
                  <a:schemeClr val="bg2">
                    <a:lumMod val="50000"/>
                  </a:schemeClr>
                </a:solidFill>
                <a:latin typeface="微软雅黑" panose="020B0503020204020204" charset="-122"/>
                <a:ea typeface="微软雅黑" panose="020B0503020204020204" charset="-122"/>
              </a:rPr>
              <a:t>调度／执行：</a:t>
            </a:r>
            <a:r>
              <a:rPr lang="zh-CN" altLang="en-US" b="0" dirty="0">
                <a:latin typeface="微软雅黑" panose="020B0503020204020204" charset="-122"/>
                <a:ea typeface="微软雅黑" panose="020B0503020204020204" charset="-122"/>
              </a:rPr>
              <a:t>进程是被操作系统</a:t>
            </a:r>
            <a:r>
              <a:rPr lang="zh-CN" altLang="en-US" b="0" dirty="0">
                <a:solidFill>
                  <a:schemeClr val="bg2">
                    <a:lumMod val="50000"/>
                  </a:schemeClr>
                </a:solidFill>
                <a:latin typeface="微软雅黑" panose="020B0503020204020204" charset="-122"/>
                <a:ea typeface="微软雅黑" panose="020B0503020204020204" charset="-122"/>
              </a:rPr>
              <a:t>调度的实体</a:t>
            </a:r>
            <a:r>
              <a:rPr lang="zh-CN" altLang="en-US" b="0" dirty="0">
                <a:latin typeface="微软雅黑" panose="020B0503020204020204" charset="-122"/>
                <a:ea typeface="微软雅黑" panose="020B0503020204020204" charset="-122"/>
              </a:rPr>
              <a:t>。</a:t>
            </a:r>
            <a:endParaRPr lang="en-US" altLang="zh-CN" b="0" dirty="0">
              <a:latin typeface="微软雅黑" panose="020B0503020204020204" charset="-122"/>
              <a:ea typeface="微软雅黑" panose="020B0503020204020204" charset="-122"/>
            </a:endParaRPr>
          </a:p>
          <a:p>
            <a:pPr>
              <a:lnSpc>
                <a:spcPct val="150000"/>
              </a:lnSpc>
              <a:spcBef>
                <a:spcPts val="0"/>
              </a:spcBef>
              <a:buNone/>
              <a:defRPr/>
            </a:pPr>
            <a:endParaRPr lang="zh-CN" altLang="en-US" dirty="0">
              <a:latin typeface="楷体_GB2312" pitchFamily="49" charset="-122"/>
              <a:ea typeface="楷体_GB2312" pitchFamily="49" charset="-122"/>
            </a:endParaRPr>
          </a:p>
          <a:p>
            <a:pPr>
              <a:lnSpc>
                <a:spcPct val="150000"/>
              </a:lnSpc>
              <a:spcBef>
                <a:spcPts val="0"/>
              </a:spcBef>
              <a:defRPr/>
            </a:pPr>
            <a:r>
              <a:rPr lang="zh-CN" altLang="en-US" dirty="0">
                <a:latin typeface="微软雅黑" panose="020B0503020204020204" charset="-122"/>
                <a:ea typeface="微软雅黑" panose="020B0503020204020204" charset="-122"/>
              </a:rPr>
              <a:t>调度和分派的部分通常称为</a:t>
            </a:r>
            <a:r>
              <a:rPr lang="zh-CN" altLang="en-US" dirty="0">
                <a:solidFill>
                  <a:schemeClr val="bg2">
                    <a:lumMod val="50000"/>
                  </a:schemeClr>
                </a:solidFill>
                <a:effectLst>
                  <a:outerShdw blurRad="38100" dist="38100" dir="2700000" algn="tl">
                    <a:srgbClr val="C0C0C0"/>
                  </a:outerShdw>
                </a:effectLst>
                <a:latin typeface="微软雅黑" panose="020B0503020204020204" charset="-122"/>
                <a:ea typeface="微软雅黑" panose="020B0503020204020204" charset="-122"/>
              </a:rPr>
              <a:t>线程或轻型进程</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lightweight process</a:t>
            </a:r>
            <a:r>
              <a:rPr lang="zh-CN" altLang="en-US" dirty="0">
                <a:latin typeface="微软雅黑" panose="020B0503020204020204" charset="-122"/>
                <a:ea typeface="微软雅黑" panose="020B0503020204020204" charset="-122"/>
              </a:rPr>
              <a:t>），而资源所有权的部分通常称为</a:t>
            </a:r>
            <a:r>
              <a:rPr lang="zh-CN" altLang="en-US" dirty="0">
                <a:solidFill>
                  <a:srgbClr val="0070C0"/>
                </a:solidFill>
                <a:latin typeface="微软雅黑" panose="020B0503020204020204" charset="-122"/>
                <a:ea typeface="微软雅黑" panose="020B0503020204020204" charset="-122"/>
              </a:rPr>
              <a:t>进程</a:t>
            </a:r>
            <a:r>
              <a:rPr lang="zh-CN" altLang="en-US" dirty="0">
                <a:latin typeface="微软雅黑" panose="020B0503020204020204" charset="-122"/>
                <a:ea typeface="微软雅黑" panose="020B0503020204020204" charset="-122"/>
              </a:rPr>
              <a:t>。</a:t>
            </a:r>
            <a:endParaRPr lang="zh-CN" altLang="en-US" dirty="0">
              <a:latin typeface="微软雅黑" panose="020B0503020204020204" charset="-122"/>
              <a:ea typeface="微软雅黑" panose="020B0503020204020204" charset="-122"/>
            </a:endParaRP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eaLnBrk="1" hangingPunct="1">
              <a:defRPr/>
            </a:pPr>
            <a:r>
              <a:rPr lang="zh-CN" altLang="en-US" b="0" dirty="0">
                <a:latin typeface="微软雅黑" panose="020B0503020204020204" charset="-122"/>
                <a:ea typeface="微软雅黑" panose="020B0503020204020204" charset="-122"/>
              </a:rPr>
              <a:t>线程间共享的数据和资源：</a:t>
            </a:r>
            <a:r>
              <a:rPr lang="zh-CN" altLang="zh-CN" b="0" dirty="0">
                <a:latin typeface="微软雅黑" panose="020B0503020204020204" charset="-122"/>
                <a:ea typeface="微软雅黑" panose="020B0503020204020204" charset="-122"/>
              </a:rPr>
              <a:t>进程</a:t>
            </a:r>
            <a:r>
              <a:rPr lang="zh-CN" altLang="en-US" b="0" dirty="0">
                <a:latin typeface="微软雅黑" panose="020B0503020204020204" charset="-122"/>
                <a:ea typeface="微软雅黑" panose="020B0503020204020204" charset="-122"/>
              </a:rPr>
              <a:t>代码段、进程中的全局变量、进程</a:t>
            </a:r>
            <a:r>
              <a:rPr lang="zh-CN" altLang="zh-CN" b="0" dirty="0">
                <a:latin typeface="微软雅黑" panose="020B0503020204020204" charset="-122"/>
                <a:ea typeface="微软雅黑" panose="020B0503020204020204" charset="-122"/>
              </a:rPr>
              <a:t>打开的文件</a:t>
            </a:r>
            <a:r>
              <a:rPr lang="en-US" altLang="zh-CN" b="0" dirty="0">
                <a:latin typeface="微软雅黑" panose="020B0503020204020204" charset="-122"/>
                <a:ea typeface="微软雅黑" panose="020B0503020204020204" charset="-122"/>
              </a:rPr>
              <a:t>……</a:t>
            </a:r>
            <a:endParaRPr lang="en-US" altLang="zh-CN" b="0" dirty="0">
              <a:latin typeface="微软雅黑" panose="020B0503020204020204" charset="-122"/>
              <a:ea typeface="微软雅黑" panose="020B0503020204020204" charset="-122"/>
            </a:endParaRPr>
          </a:p>
          <a:p>
            <a:pPr>
              <a:defRPr/>
            </a:pPr>
            <a:r>
              <a:rPr lang="zh-CN" altLang="en-US" b="0" dirty="0">
                <a:latin typeface="微软雅黑" panose="020B0503020204020204" charset="-122"/>
                <a:ea typeface="微软雅黑" panose="020B0503020204020204" charset="-122"/>
              </a:rPr>
              <a:t>每个线程私有的数据和资源：线程</a:t>
            </a:r>
            <a:r>
              <a:rPr lang="en-US" altLang="zh-CN" b="0" dirty="0">
                <a:latin typeface="微软雅黑" panose="020B0503020204020204" charset="-122"/>
                <a:ea typeface="微软雅黑" panose="020B0503020204020204" charset="-122"/>
              </a:rPr>
              <a:t>ID</a:t>
            </a:r>
            <a:r>
              <a:rPr lang="zh-CN" altLang="en-US" b="0" dirty="0">
                <a:latin typeface="微软雅黑" panose="020B0503020204020204" charset="-122"/>
                <a:ea typeface="微软雅黑" panose="020B0503020204020204" charset="-122"/>
              </a:rPr>
              <a:t>、线程上下文（一组寄存器值的集合）、线程局部变量（存储在栈中）</a:t>
            </a:r>
            <a:endParaRPr lang="zh-CN" altLang="zh-CN" b="0" dirty="0">
              <a:latin typeface="微软雅黑" panose="020B0503020204020204" charset="-122"/>
              <a:ea typeface="微软雅黑" panose="020B0503020204020204" charset="-122"/>
            </a:endParaRPr>
          </a:p>
          <a:p>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全局变量在数据段中（内存单元中）</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不一样。线程只有</a:t>
            </a:r>
            <a:r>
              <a:rPr lang="en-US" altLang="zh-CN" dirty="0"/>
              <a:t>CPU</a:t>
            </a:r>
            <a:r>
              <a:rPr lang="zh-CN" altLang="en-US" dirty="0"/>
              <a:t>资源，不会申请如</a:t>
            </a:r>
            <a:r>
              <a:rPr lang="en-US" altLang="zh-CN" dirty="0"/>
              <a:t>I/O</a:t>
            </a:r>
            <a:r>
              <a:rPr lang="zh-CN" altLang="en-US" dirty="0"/>
              <a:t>设备这样的的其他资源，所以挂起线程就是剥夺它的</a:t>
            </a:r>
            <a:r>
              <a:rPr lang="en-US" altLang="zh-CN" dirty="0"/>
              <a:t>CPU,</a:t>
            </a:r>
            <a:r>
              <a:rPr lang="zh-CN" altLang="en-US" dirty="0"/>
              <a:t>使其进入阻塞状态</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如进程一样，线程也有生命期。由创建而产生，由调度而执行，由终止而消亡。</a:t>
            </a:r>
            <a:endParaRPr lang="en-US" altLang="zh-CN" dirty="0"/>
          </a:p>
          <a:p>
            <a:endParaRPr lang="en-US" altLang="zh-CN" dirty="0"/>
          </a:p>
          <a:p>
            <a:r>
              <a:rPr kumimoji="1" lang="zh-CN" altLang="en-US" dirty="0">
                <a:solidFill>
                  <a:srgbClr val="FF0000"/>
                </a:solidFill>
                <a:latin typeface="Times New Roman" panose="02020603050405020304" pitchFamily="18" charset="0"/>
              </a:rPr>
              <a:t>终止线程</a:t>
            </a:r>
            <a:r>
              <a:rPr kumimoji="1" lang="zh-CN" altLang="en-US" dirty="0">
                <a:latin typeface="Times New Roman" panose="02020603050405020304" pitchFamily="18" charset="0"/>
              </a:rPr>
              <a:t>的方式有两种：自愿退出 </a:t>
            </a:r>
            <a:r>
              <a:rPr kumimoji="1" lang="en-US" altLang="zh-CN" dirty="0">
                <a:latin typeface="Times New Roman" panose="02020603050405020304" pitchFamily="18" charset="0"/>
              </a:rPr>
              <a:t>return , </a:t>
            </a:r>
            <a:r>
              <a:rPr kumimoji="1" lang="en-US" altLang="zh-CN" dirty="0" err="1">
                <a:latin typeface="Times New Roman" panose="02020603050405020304" pitchFamily="18" charset="0"/>
              </a:rPr>
              <a:t>pthread_exit</a:t>
            </a:r>
            <a:endParaRPr kumimoji="1" lang="en-US" altLang="zh-CN" dirty="0">
              <a:latin typeface="Times New Roman" panose="02020603050405020304" pitchFamily="18" charset="0"/>
            </a:endParaRPr>
          </a:p>
          <a:p>
            <a:r>
              <a:rPr kumimoji="1" lang="en-US" altLang="zh-CN" dirty="0">
                <a:latin typeface="Times New Roman" panose="02020603050405020304" pitchFamily="18" charset="0"/>
              </a:rPr>
              <a:t>                                      </a:t>
            </a:r>
            <a:r>
              <a:rPr kumimoji="1" lang="zh-CN" altLang="en-US" dirty="0">
                <a:latin typeface="Times New Roman" panose="02020603050405020304" pitchFamily="18" charset="0"/>
              </a:rPr>
              <a:t>强行终止 </a:t>
            </a:r>
            <a:r>
              <a:rPr kumimoji="1" lang="en-US" altLang="zh-CN" dirty="0" err="1">
                <a:latin typeface="Times New Roman" panose="02020603050405020304" pitchFamily="18" charset="0"/>
              </a:rPr>
              <a:t>pthread_cancel</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幻灯片图像占位符 1"/>
          <p:cNvSpPr>
            <a:spLocks noGrp="1" noRot="1" noChangeAspect="1" noTextEdit="1"/>
          </p:cNvSpPr>
          <p:nvPr>
            <p:ph type="sldImg"/>
          </p:nvPr>
        </p:nvSpPr>
        <p:spPr>
          <a:xfrm>
            <a:off x="90488" y="744538"/>
            <a:ext cx="6616700" cy="3722687"/>
          </a:xfrm>
        </p:spPr>
      </p:sp>
      <p:sp>
        <p:nvSpPr>
          <p:cNvPr id="317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Restrict</a:t>
            </a:r>
            <a:r>
              <a:rPr lang="zh-CN" altLang="en-US" dirty="0">
                <a:latin typeface="Arial" panose="020B0604020202020204" pitchFamily="34" charset="0"/>
              </a:rPr>
              <a:t>用于限定和约束指针，表明指针是访问一个数据对象的唯一且初始的方式，所有修改该指针所指向的内存的操作都必须且只能通过该指针来修改。</a:t>
            </a:r>
            <a:endParaRPr lang="en-US" altLang="zh-CN" dirty="0">
              <a:latin typeface="Arial" panose="020B0604020202020204" pitchFamily="34" charset="0"/>
            </a:endParaRPr>
          </a:p>
          <a:p>
            <a:r>
              <a:rPr lang="en-US" altLang="zh-CN" dirty="0">
                <a:latin typeface="Arial" panose="020B0604020202020204" pitchFamily="34" charset="0"/>
              </a:rPr>
              <a:t>int *restrict </a:t>
            </a:r>
            <a:r>
              <a:rPr lang="en-US" altLang="zh-CN" dirty="0" err="1">
                <a:latin typeface="Arial" panose="020B0604020202020204" pitchFamily="34" charset="0"/>
              </a:rPr>
              <a:t>ptr</a:t>
            </a:r>
            <a:r>
              <a:rPr lang="en-US" altLang="zh-CN" dirty="0">
                <a:latin typeface="Arial" panose="020B0604020202020204" pitchFamily="34" charset="0"/>
              </a:rPr>
              <a:t>  //</a:t>
            </a:r>
            <a:r>
              <a:rPr lang="en-US" altLang="zh-CN" dirty="0" err="1">
                <a:latin typeface="Arial" panose="020B0604020202020204" pitchFamily="34" charset="0"/>
              </a:rPr>
              <a:t>ptr</a:t>
            </a:r>
            <a:r>
              <a:rPr lang="zh-CN" altLang="en-US" dirty="0">
                <a:latin typeface="Arial" panose="020B0604020202020204" pitchFamily="34" charset="0"/>
              </a:rPr>
              <a:t>指向的内存单元只能被</a:t>
            </a:r>
            <a:r>
              <a:rPr lang="en-US" altLang="zh-CN" dirty="0" err="1">
                <a:latin typeface="Arial" panose="020B0604020202020204" pitchFamily="34" charset="0"/>
              </a:rPr>
              <a:t>ptr</a:t>
            </a:r>
            <a:r>
              <a:rPr lang="zh-CN" altLang="en-US" dirty="0">
                <a:latin typeface="Arial" panose="020B0604020202020204" pitchFamily="34" charset="0"/>
              </a:rPr>
              <a:t>访问到，任何同样指向该内存单元的指针都是无效的。</a:t>
            </a:r>
            <a:endParaRPr lang="zh-CN" altLang="en-US" dirty="0">
              <a:latin typeface="Arial" panose="020B0604020202020204" pitchFamily="34" charset="0"/>
            </a:endParaRPr>
          </a:p>
        </p:txBody>
      </p:sp>
      <p:sp>
        <p:nvSpPr>
          <p:cNvPr id="317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defRPr/>
            </a:pPr>
            <a:fld id="{E4C4FF66-01AA-40B6-9A14-49B208D3FEF6}" type="slidenum">
              <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sz="1200" b="0" i="0" kern="1200" dirty="0" err="1">
                <a:solidFill>
                  <a:schemeClr val="tx1"/>
                </a:solidFill>
                <a:effectLst/>
                <a:latin typeface="+mn-lt"/>
                <a:ea typeface="+mn-ea"/>
                <a:cs typeface="+mn-cs"/>
              </a:rPr>
              <a:t>thread_attr_init</a:t>
            </a:r>
            <a:r>
              <a:rPr lang="zh-CN" altLang="en-US" sz="1200" b="0" i="0" kern="1200" dirty="0">
                <a:solidFill>
                  <a:schemeClr val="tx1"/>
                </a:solidFill>
                <a:effectLst/>
                <a:latin typeface="+mn-lt"/>
                <a:ea typeface="+mn-ea"/>
                <a:cs typeface="+mn-cs"/>
              </a:rPr>
              <a:t>，函数，作用是初始化一个线程对象的属性</a:t>
            </a:r>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Creat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创建   </a:t>
            </a:r>
            <a:r>
              <a:rPr lang="en-US" altLang="zh-CN" sz="1200" b="0" i="0" kern="1200" dirty="0">
                <a:solidFill>
                  <a:schemeClr val="tx1"/>
                </a:solidFill>
                <a:effectLst/>
                <a:latin typeface="+mn-lt"/>
                <a:ea typeface="+mn-ea"/>
                <a:cs typeface="+mn-cs"/>
              </a:rPr>
              <a:t>yield</a:t>
            </a:r>
            <a:r>
              <a:rPr lang="zh-CN" altLang="en-US" sz="1200" b="0" i="0" kern="1200" dirty="0">
                <a:solidFill>
                  <a:schemeClr val="tx1"/>
                </a:solidFill>
                <a:effectLst/>
                <a:latin typeface="+mn-lt"/>
                <a:ea typeface="+mn-ea"/>
                <a:cs typeface="+mn-cs"/>
              </a:rPr>
              <a:t>切换  </a:t>
            </a:r>
            <a:r>
              <a:rPr lang="en-US" altLang="zh-CN" sz="1200" b="0" i="0" kern="1200" dirty="0">
                <a:solidFill>
                  <a:schemeClr val="tx1"/>
                </a:solidFill>
                <a:effectLst/>
                <a:latin typeface="+mn-lt"/>
                <a:ea typeface="+mn-ea"/>
                <a:cs typeface="+mn-cs"/>
              </a:rPr>
              <a:t>yield</a:t>
            </a:r>
            <a:r>
              <a:rPr lang="zh-CN" altLang="en-US" sz="1200" b="0" i="0" kern="1200" dirty="0">
                <a:solidFill>
                  <a:schemeClr val="tx1"/>
                </a:solidFill>
                <a:effectLst/>
                <a:latin typeface="+mn-lt"/>
                <a:ea typeface="+mn-ea"/>
                <a:cs typeface="+mn-cs"/>
              </a:rPr>
              <a:t>是用户程序</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dirty="0">
                <a:solidFill>
                  <a:srgbClr val="3D3D3D"/>
                </a:solidFill>
                <a:effectLst/>
                <a:latin typeface="宋体" panose="02010600030101010101" pitchFamily="2" charset="-122"/>
                <a:ea typeface="宋体" panose="02010600030101010101" pitchFamily="2" charset="-122"/>
              </a:rPr>
              <a:t>//</a:t>
            </a:r>
            <a:r>
              <a:rPr lang="zh-CN" altLang="en-US" b="0" i="0" dirty="0">
                <a:solidFill>
                  <a:srgbClr val="3D3D3D"/>
                </a:solidFill>
                <a:effectLst/>
                <a:latin typeface="宋体" panose="02010600030101010101" pitchFamily="2" charset="-122"/>
                <a:ea typeface="宋体" panose="02010600030101010101" pitchFamily="2" charset="-122"/>
              </a:rPr>
              <a:t>以阻塞方式等待</a:t>
            </a:r>
            <a:r>
              <a:rPr lang="en-US" altLang="zh-CN" b="0" i="0" dirty="0">
                <a:solidFill>
                  <a:srgbClr val="3D3D3D"/>
                </a:solidFill>
                <a:effectLst/>
                <a:latin typeface="宋体" panose="02010600030101010101" pitchFamily="2" charset="-122"/>
                <a:ea typeface="宋体" panose="02010600030101010101" pitchFamily="2" charset="-122"/>
              </a:rPr>
              <a:t>thread</a:t>
            </a:r>
            <a:r>
              <a:rPr lang="zh-CN" altLang="en-US" b="0" i="0" dirty="0">
                <a:solidFill>
                  <a:srgbClr val="3D3D3D"/>
                </a:solidFill>
                <a:effectLst/>
                <a:latin typeface="宋体" panose="02010600030101010101" pitchFamily="2" charset="-122"/>
                <a:ea typeface="宋体" panose="02010600030101010101" pitchFamily="2" charset="-122"/>
              </a:rPr>
              <a:t>指定线程结束，参数</a:t>
            </a:r>
            <a:r>
              <a:rPr lang="en-US" altLang="zh-CN" b="0" i="0" dirty="0">
                <a:solidFill>
                  <a:srgbClr val="3D3D3D"/>
                </a:solidFill>
                <a:effectLst/>
                <a:latin typeface="宋体" panose="02010600030101010101" pitchFamily="2" charset="-122"/>
                <a:ea typeface="宋体" panose="02010600030101010101" pitchFamily="2" charset="-122"/>
              </a:rPr>
              <a:t>thread</a:t>
            </a:r>
            <a:r>
              <a:rPr lang="zh-CN" altLang="en-US" b="0" i="0" dirty="0">
                <a:solidFill>
                  <a:srgbClr val="3D3D3D"/>
                </a:solidFill>
                <a:effectLst/>
                <a:latin typeface="宋体" panose="02010600030101010101" pitchFamily="2" charset="-122"/>
                <a:ea typeface="宋体" panose="02010600030101010101" pitchFamily="2" charset="-122"/>
              </a:rPr>
              <a:t>是需要等待的线程</a:t>
            </a:r>
            <a:r>
              <a:rPr lang="en-US" altLang="zh-CN" b="0" i="0" dirty="0">
                <a:solidFill>
                  <a:srgbClr val="3D3D3D"/>
                </a:solidFill>
                <a:effectLst/>
                <a:latin typeface="宋体" panose="02010600030101010101" pitchFamily="2" charset="-122"/>
                <a:ea typeface="宋体" panose="02010600030101010101" pitchFamily="2" charset="-122"/>
              </a:rPr>
              <a:t>ID</a:t>
            </a:r>
            <a:r>
              <a:rPr lang="zh-CN" altLang="en-US" b="0" i="0" dirty="0">
                <a:solidFill>
                  <a:srgbClr val="3D3D3D"/>
                </a:solidFill>
                <a:effectLst/>
                <a:latin typeface="宋体" panose="02010600030101010101" pitchFamily="2" charset="-122"/>
                <a:ea typeface="宋体" panose="02010600030101010101" pitchFamily="2" charset="-122"/>
              </a:rPr>
              <a:t>，</a:t>
            </a:r>
            <a:r>
              <a:rPr lang="en-US" altLang="zh-CN" b="0" i="0" dirty="0" err="1">
                <a:solidFill>
                  <a:srgbClr val="3D3D3D"/>
                </a:solidFill>
                <a:effectLst/>
                <a:latin typeface="宋体" panose="02010600030101010101" pitchFamily="2" charset="-122"/>
                <a:ea typeface="宋体" panose="02010600030101010101" pitchFamily="2" charset="-122"/>
              </a:rPr>
              <a:t>rval_ptr</a:t>
            </a:r>
            <a:r>
              <a:rPr lang="zh-CN" altLang="en-US" b="0" i="0" dirty="0">
                <a:solidFill>
                  <a:srgbClr val="3D3D3D"/>
                </a:solidFill>
                <a:effectLst/>
                <a:latin typeface="宋体" panose="02010600030101010101" pitchFamily="2" charset="-122"/>
                <a:ea typeface="宋体" panose="02010600030101010101" pitchFamily="2" charset="-122"/>
              </a:rPr>
              <a:t>是用户定义的指针，用来存储被等待线程的返回值</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a:t>
            </a:r>
            <a:r>
              <a:rPr lang="zh-CN" altLang="en-US" dirty="0"/>
              <a:t>发送终止信号给</a:t>
            </a:r>
            <a:r>
              <a:rPr lang="en-US" altLang="zh-CN" dirty="0" err="1"/>
              <a:t>tid</a:t>
            </a:r>
            <a:r>
              <a:rPr lang="zh-CN" altLang="en-US" dirty="0"/>
              <a:t>线程，如果成功则返回</a:t>
            </a:r>
            <a:r>
              <a:rPr lang="en-US" altLang="zh-CN" dirty="0"/>
              <a:t>0</a:t>
            </a:r>
            <a:r>
              <a:rPr lang="zh-CN" altLang="en-US" dirty="0"/>
              <a:t>，否则为非</a:t>
            </a:r>
            <a:r>
              <a:rPr lang="en-US" altLang="zh-CN" dirty="0"/>
              <a:t>0</a:t>
            </a:r>
            <a:r>
              <a:rPr lang="zh-CN" altLang="en-US" dirty="0"/>
              <a:t>值。发送成功并不意味着</a:t>
            </a:r>
            <a:r>
              <a:rPr lang="en-US" altLang="zh-CN" dirty="0"/>
              <a:t>thread</a:t>
            </a:r>
            <a:r>
              <a:rPr lang="zh-CN" altLang="en-US" dirty="0"/>
              <a:t>会终止。</a:t>
            </a:r>
            <a:endParaRPr lang="en-US" altLang="zh-CN" dirty="0"/>
          </a:p>
          <a:p>
            <a:r>
              <a:rPr lang="zh-CN" altLang="en-US" sz="800" kern="1200" dirty="0">
                <a:solidFill>
                  <a:schemeClr val="tx1"/>
                </a:solidFill>
                <a:latin typeface="+mj-ea"/>
                <a:ea typeface="微软雅黑" panose="020B0503020204020204" charset="-122"/>
                <a:cs typeface="+mn-cs"/>
              </a:rPr>
              <a:t>在默认情况下，</a:t>
            </a:r>
            <a:r>
              <a:rPr lang="en-US" altLang="zh-CN" sz="800" kern="1200" dirty="0" err="1">
                <a:solidFill>
                  <a:schemeClr val="tx1"/>
                </a:solidFill>
                <a:latin typeface="+mj-ea"/>
                <a:ea typeface="微软雅黑" panose="020B0503020204020204" charset="-122"/>
                <a:cs typeface="+mn-cs"/>
              </a:rPr>
              <a:t>pthread_cancel</a:t>
            </a:r>
            <a:r>
              <a:rPr lang="zh-CN" altLang="en-US" sz="800" kern="1200" dirty="0">
                <a:solidFill>
                  <a:schemeClr val="tx1"/>
                </a:solidFill>
                <a:latin typeface="+mj-ea"/>
                <a:ea typeface="微软雅黑" panose="020B0503020204020204" charset="-122"/>
                <a:cs typeface="+mn-cs"/>
              </a:rPr>
              <a:t>函数与线程</a:t>
            </a:r>
            <a:r>
              <a:rPr lang="en-US" altLang="zh-CN" sz="800" kern="1200" dirty="0">
                <a:solidFill>
                  <a:schemeClr val="tx1"/>
                </a:solidFill>
                <a:latin typeface="+mj-ea"/>
                <a:ea typeface="微软雅黑" panose="020B0503020204020204" charset="-122"/>
                <a:cs typeface="+mn-cs"/>
              </a:rPr>
              <a:t>ID</a:t>
            </a:r>
            <a:r>
              <a:rPr lang="zh-CN" altLang="en-US" sz="800" kern="1200" dirty="0">
                <a:solidFill>
                  <a:schemeClr val="tx1"/>
                </a:solidFill>
                <a:latin typeface="+mj-ea"/>
                <a:ea typeface="微软雅黑" panose="020B0503020204020204" charset="-122"/>
                <a:cs typeface="+mn-cs"/>
              </a:rPr>
              <a:t>等于</a:t>
            </a:r>
            <a:r>
              <a:rPr lang="en-US" altLang="zh-CN" sz="800" kern="1200" dirty="0" err="1">
                <a:solidFill>
                  <a:schemeClr val="tx1"/>
                </a:solidFill>
                <a:latin typeface="+mj-ea"/>
                <a:ea typeface="微软雅黑" panose="020B0503020204020204" charset="-122"/>
                <a:cs typeface="+mn-cs"/>
              </a:rPr>
              <a:t>tid</a:t>
            </a:r>
            <a:r>
              <a:rPr lang="zh-CN" altLang="en-US" sz="800" kern="1200" dirty="0">
                <a:solidFill>
                  <a:schemeClr val="tx1"/>
                </a:solidFill>
                <a:latin typeface="+mj-ea"/>
                <a:ea typeface="微软雅黑" panose="020B0503020204020204" charset="-122"/>
                <a:cs typeface="+mn-cs"/>
              </a:rPr>
              <a:t>的线程自身调用</a:t>
            </a:r>
            <a:r>
              <a:rPr lang="en-US" altLang="zh-CN" sz="800" kern="1200" dirty="0" err="1">
                <a:solidFill>
                  <a:schemeClr val="tx1"/>
                </a:solidFill>
                <a:latin typeface="+mj-ea"/>
                <a:ea typeface="微软雅黑" panose="020B0503020204020204" charset="-122"/>
                <a:cs typeface="+mn-cs"/>
              </a:rPr>
              <a:t>pthread_exit</a:t>
            </a:r>
            <a:r>
              <a:rPr lang="zh-CN" altLang="en-US" sz="800" kern="1200" dirty="0">
                <a:solidFill>
                  <a:schemeClr val="tx1"/>
                </a:solidFill>
                <a:latin typeface="+mj-ea"/>
                <a:ea typeface="微软雅黑" panose="020B0503020204020204" charset="-122"/>
                <a:cs typeface="+mn-cs"/>
              </a:rPr>
              <a:t>函数（参数为</a:t>
            </a:r>
            <a:r>
              <a:rPr lang="en-US" altLang="zh-CN" sz="800" kern="1200" dirty="0">
                <a:solidFill>
                  <a:schemeClr val="tx1"/>
                </a:solidFill>
                <a:latin typeface="+mj-ea"/>
                <a:ea typeface="微软雅黑" panose="020B0503020204020204" charset="-122"/>
                <a:cs typeface="+mn-cs"/>
              </a:rPr>
              <a:t>PTHREAD_CANCELED</a:t>
            </a:r>
            <a:r>
              <a:rPr lang="zh-CN" altLang="en-US" sz="800" kern="1200" dirty="0">
                <a:solidFill>
                  <a:schemeClr val="tx1"/>
                </a:solidFill>
                <a:latin typeface="+mj-ea"/>
                <a:ea typeface="微软雅黑" panose="020B0503020204020204" charset="-122"/>
                <a:cs typeface="+mn-cs"/>
              </a:rPr>
              <a:t>）效果等同；</a:t>
            </a:r>
            <a:endParaRPr lang="en-US" altLang="zh-CN" sz="800" kern="1200" dirty="0">
              <a:solidFill>
                <a:schemeClr val="tx1"/>
              </a:solidFill>
              <a:latin typeface="+mj-ea"/>
              <a:ea typeface="微软雅黑" panose="020B0503020204020204" charset="-122"/>
              <a:cs typeface="+mn-cs"/>
            </a:endParaRPr>
          </a:p>
          <a:p>
            <a:r>
              <a:rPr lang="zh-CN" altLang="en-US" sz="800" kern="1200" dirty="0">
                <a:solidFill>
                  <a:schemeClr val="tx1"/>
                </a:solidFill>
                <a:latin typeface="+mj-ea"/>
                <a:ea typeface="微软雅黑" panose="020B0503020204020204" charset="-122"/>
                <a:cs typeface="+mn-cs"/>
              </a:rPr>
              <a:t>线程可以选择忽略取消方式或者控制取消方式；</a:t>
            </a:r>
            <a:endParaRPr lang="zh-CN" altLang="en-US" sz="800" kern="1200" dirty="0">
              <a:solidFill>
                <a:schemeClr val="tx1"/>
              </a:solidFill>
              <a:latin typeface="+mj-ea"/>
              <a:ea typeface="微软雅黑" panose="020B0503020204020204" charset="-122"/>
              <a:cs typeface="+mn-cs"/>
            </a:endParaRPr>
          </a:p>
          <a:p>
            <a:r>
              <a:rPr lang="en-US" altLang="zh-CN" sz="800" kern="1200" dirty="0" err="1">
                <a:solidFill>
                  <a:schemeClr val="tx1"/>
                </a:solidFill>
                <a:latin typeface="+mj-ea"/>
                <a:ea typeface="微软雅黑" panose="020B0503020204020204" charset="-122"/>
                <a:cs typeface="+mn-cs"/>
              </a:rPr>
              <a:t>pthread_cancel</a:t>
            </a:r>
            <a:r>
              <a:rPr lang="zh-CN" altLang="en-US" sz="800" kern="1200" dirty="0">
                <a:solidFill>
                  <a:schemeClr val="tx1"/>
                </a:solidFill>
                <a:latin typeface="+mj-ea"/>
                <a:ea typeface="微软雅黑" panose="020B0503020204020204" charset="-122"/>
                <a:cs typeface="+mn-cs"/>
              </a:rPr>
              <a:t>并不等待线程终止，它仅仅是提出请求</a:t>
            </a:r>
            <a:endParaRPr lang="en-US" altLang="zh-CN" sz="800" kern="1200" dirty="0">
              <a:solidFill>
                <a:schemeClr val="tx1"/>
              </a:solidFill>
              <a:latin typeface="+mj-ea"/>
              <a:ea typeface="微软雅黑" panose="020B0503020204020204" charset="-122"/>
              <a:cs typeface="+mn-cs"/>
            </a:endParaRPr>
          </a:p>
          <a:p>
            <a:endParaRPr lang="en-US" altLang="zh-CN" sz="800" kern="1200" dirty="0">
              <a:solidFill>
                <a:schemeClr val="tx1"/>
              </a:solidFill>
              <a:latin typeface="+mj-ea"/>
              <a:ea typeface="微软雅黑" panose="020B0503020204020204" charset="-122"/>
              <a:cs typeface="+mn-cs"/>
            </a:endParaRPr>
          </a:p>
          <a:p>
            <a:r>
              <a:rPr lang="zh-CN" altLang="en-US" sz="800" dirty="0"/>
              <a:t>演示</a:t>
            </a:r>
            <a:r>
              <a:rPr lang="en-US" altLang="zh-CN" sz="800" dirty="0" err="1"/>
              <a:t>threadexit</a:t>
            </a:r>
            <a:r>
              <a:rPr lang="zh-CN" altLang="en-US" sz="800" dirty="0"/>
              <a:t>代码，在</a:t>
            </a:r>
            <a:r>
              <a:rPr lang="en-US" altLang="zh-CN" sz="800" dirty="0"/>
              <a:t>./</a:t>
            </a:r>
            <a:r>
              <a:rPr lang="en-US" altLang="zh-CN" sz="800" dirty="0" err="1"/>
              <a:t>src</a:t>
            </a:r>
            <a:r>
              <a:rPr lang="zh-CN" altLang="en-US" sz="800" dirty="0"/>
              <a:t>下</a:t>
            </a:r>
            <a:endParaRPr lang="en-US" altLang="zh-CN" sz="800" dirty="0"/>
          </a:p>
          <a:p>
            <a:endParaRPr lang="en-US" altLang="zh-CN" sz="800" dirty="0"/>
          </a:p>
          <a:p>
            <a:r>
              <a:rPr lang="zh-CN" altLang="en-US" sz="800" dirty="0"/>
              <a:t>一般来说，</a:t>
            </a:r>
            <a:r>
              <a:rPr lang="en-US" altLang="zh-CN" sz="800" dirty="0" err="1"/>
              <a:t>Posix</a:t>
            </a:r>
            <a:r>
              <a:rPr lang="zh-CN" altLang="en-US" sz="800" dirty="0"/>
              <a:t>的线程终止有两种情况：正常终止和非正常终止。线程主动调用</a:t>
            </a:r>
            <a:r>
              <a:rPr lang="en-US" altLang="zh-CN" sz="800" dirty="0" err="1"/>
              <a:t>pthread_exit</a:t>
            </a:r>
            <a:r>
              <a:rPr lang="en-US" altLang="zh-CN" sz="800" dirty="0"/>
              <a:t>()</a:t>
            </a:r>
            <a:r>
              <a:rPr lang="zh-CN" altLang="en-US" sz="800" dirty="0"/>
              <a:t>或者从例程函数中</a:t>
            </a:r>
            <a:r>
              <a:rPr lang="en-US" altLang="zh-CN" sz="800" dirty="0"/>
              <a:t>return</a:t>
            </a:r>
            <a:r>
              <a:rPr lang="zh-CN" altLang="en-US" sz="800" dirty="0"/>
              <a:t>都将使线程正常退出，这是可预见的退出方式；非正常终止是线程在其他线程的干预下，或者由于自身运行出错（比如访问非法地址）而退出，这种退出方式是不可预见的。</a:t>
            </a:r>
            <a:endParaRPr lang="zh-CN" altLang="en-US" sz="800" dirty="0"/>
          </a:p>
          <a:p>
            <a:r>
              <a:rPr lang="zh-CN" altLang="en-US" sz="800" dirty="0"/>
              <a:t>不论是可预见的线程终止还是异常终止，都会存在资源释放的问题，在不考虑因运行出错而退出的前提下，如何保证线程终止时能顺利的释放掉自己所占用的资源，特别是锁资源，就是一个必须考虑解决的问题。所以引入清理处理函数</a:t>
            </a:r>
            <a:endParaRPr lang="zh-CN" altLang="en-US" sz="800" dirty="0"/>
          </a:p>
          <a:p>
            <a:endParaRPr lang="zh-CN" altLang="en-US" sz="800" kern="1200" dirty="0">
              <a:solidFill>
                <a:schemeClr val="tx1"/>
              </a:solidFill>
              <a:latin typeface="+mj-ea"/>
              <a:ea typeface="微软雅黑" panose="020B0503020204020204" charset="-122"/>
              <a:cs typeface="+mn-cs"/>
            </a:endParaRP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205740" lvl="1" indent="0">
              <a:buNone/>
            </a:pPr>
            <a:r>
              <a:rPr lang="en-US" altLang="zh-CN" sz="2400" b="0" kern="1200" dirty="0" err="1">
                <a:solidFill>
                  <a:schemeClr val="tx1"/>
                </a:solidFill>
                <a:latin typeface="+mj-ea"/>
                <a:ea typeface="微软雅黑" panose="020B0503020204020204" charset="-122"/>
                <a:cs typeface="+mn-cs"/>
              </a:rPr>
              <a:t>attr</a:t>
            </a:r>
            <a:r>
              <a:rPr lang="zh-CN" altLang="en-US" sz="2400" b="0" kern="1200" dirty="0">
                <a:solidFill>
                  <a:schemeClr val="tx1"/>
                </a:solidFill>
                <a:latin typeface="+mj-ea"/>
                <a:ea typeface="微软雅黑" panose="020B0503020204020204" charset="-122"/>
                <a:cs typeface="+mn-cs"/>
              </a:rPr>
              <a:t>：线程属性</a:t>
            </a:r>
            <a:endParaRPr lang="zh-CN" altLang="en-US" sz="2400" b="0" kern="1200" dirty="0">
              <a:solidFill>
                <a:schemeClr val="tx1"/>
              </a:solidFill>
              <a:latin typeface="+mj-ea"/>
              <a:ea typeface="微软雅黑" panose="020B0503020204020204" charset="-122"/>
              <a:cs typeface="+mn-cs"/>
            </a:endParaRPr>
          </a:p>
          <a:p>
            <a:pPr marL="205740" lvl="1" indent="0">
              <a:buNone/>
            </a:pPr>
            <a:r>
              <a:rPr lang="en-US" altLang="zh-CN" sz="2400" b="0" kern="1200" dirty="0" err="1">
                <a:solidFill>
                  <a:schemeClr val="tx1"/>
                </a:solidFill>
                <a:latin typeface="+mj-ea"/>
                <a:ea typeface="微软雅黑" panose="020B0503020204020204" charset="-122"/>
                <a:cs typeface="+mn-cs"/>
              </a:rPr>
              <a:t>stackaddr</a:t>
            </a:r>
            <a:r>
              <a:rPr lang="zh-CN" altLang="en-US" sz="2400" b="0" kern="1200" dirty="0">
                <a:solidFill>
                  <a:schemeClr val="tx1"/>
                </a:solidFill>
                <a:latin typeface="+mj-ea"/>
                <a:ea typeface="微软雅黑" panose="020B0503020204020204" charset="-122"/>
                <a:cs typeface="+mn-cs"/>
              </a:rPr>
              <a:t>：新栈的内存单元的最低地址，通常是栈的开始位置；对于某些处理器，栈是从高地址向低地址方向伸展的，</a:t>
            </a:r>
            <a:r>
              <a:rPr lang="en-US" altLang="zh-CN" sz="2400" b="0" kern="1200" dirty="0" err="1">
                <a:solidFill>
                  <a:schemeClr val="tx1"/>
                </a:solidFill>
                <a:latin typeface="+mj-ea"/>
                <a:ea typeface="微软雅黑" panose="020B0503020204020204" charset="-122"/>
                <a:cs typeface="+mn-cs"/>
              </a:rPr>
              <a:t>stackaddr</a:t>
            </a:r>
            <a:r>
              <a:rPr lang="zh-CN" altLang="en-US" sz="2400" b="0" kern="1200" dirty="0">
                <a:solidFill>
                  <a:schemeClr val="tx1"/>
                </a:solidFill>
                <a:latin typeface="+mj-ea"/>
                <a:ea typeface="微软雅黑" panose="020B0503020204020204" charset="-122"/>
                <a:cs typeface="+mn-cs"/>
              </a:rPr>
              <a:t>就是栈的结尾</a:t>
            </a:r>
            <a:endParaRPr lang="zh-CN" altLang="en-US" sz="2400" b="0" kern="1200" dirty="0">
              <a:solidFill>
                <a:schemeClr val="tx1"/>
              </a:solidFill>
              <a:latin typeface="+mj-ea"/>
              <a:ea typeface="微软雅黑" panose="020B0503020204020204" charset="-122"/>
              <a:cs typeface="+mn-cs"/>
            </a:endParaRPr>
          </a:p>
          <a:p>
            <a:pPr marL="205740" lvl="1" indent="0">
              <a:buNone/>
            </a:pPr>
            <a:r>
              <a:rPr lang="en-US" altLang="zh-CN" sz="2400" b="0" kern="1200" dirty="0" err="1">
                <a:solidFill>
                  <a:schemeClr val="tx1"/>
                </a:solidFill>
                <a:latin typeface="+mj-ea"/>
                <a:ea typeface="微软雅黑" panose="020B0503020204020204" charset="-122"/>
                <a:cs typeface="+mn-cs"/>
              </a:rPr>
              <a:t>stacksize</a:t>
            </a:r>
            <a:r>
              <a:rPr lang="zh-CN" altLang="en-US" sz="2400" b="0" kern="1200" dirty="0">
                <a:solidFill>
                  <a:schemeClr val="tx1"/>
                </a:solidFill>
                <a:latin typeface="+mj-ea"/>
                <a:ea typeface="微软雅黑" panose="020B0503020204020204" charset="-122"/>
                <a:cs typeface="+mn-cs"/>
              </a:rPr>
              <a:t>：新栈的大小</a:t>
            </a:r>
            <a:endParaRPr lang="zh-CN" altLang="en-US" sz="2400" b="0" kern="1200" dirty="0">
              <a:solidFill>
                <a:schemeClr val="tx1"/>
              </a:solidFill>
              <a:latin typeface="+mj-ea"/>
              <a:ea typeface="微软雅黑" panose="020B0503020204020204" charset="-122"/>
              <a:cs typeface="+mn-cs"/>
            </a:endParaRPr>
          </a:p>
          <a:p>
            <a:pPr marL="205740" lvl="1" indent="0">
              <a:buNone/>
            </a:pPr>
            <a:r>
              <a:rPr lang="zh-CN" altLang="en-US" sz="2400" b="0" kern="1200" dirty="0">
                <a:solidFill>
                  <a:schemeClr val="tx1"/>
                </a:solidFill>
                <a:latin typeface="+mj-ea"/>
                <a:ea typeface="微软雅黑" panose="020B0503020204020204" charset="-122"/>
                <a:cs typeface="+mn-cs"/>
              </a:rPr>
              <a:t>成功返回</a:t>
            </a:r>
            <a:r>
              <a:rPr lang="en-US" altLang="zh-CN" sz="2400" b="0" kern="1200" dirty="0">
                <a:solidFill>
                  <a:schemeClr val="tx1"/>
                </a:solidFill>
                <a:latin typeface="+mj-ea"/>
                <a:ea typeface="微软雅黑" panose="020B0503020204020204" charset="-122"/>
                <a:cs typeface="+mn-cs"/>
              </a:rPr>
              <a:t>0</a:t>
            </a:r>
            <a:r>
              <a:rPr lang="zh-CN" altLang="en-US" sz="2400" b="0" kern="1200" dirty="0">
                <a:solidFill>
                  <a:schemeClr val="tx1"/>
                </a:solidFill>
                <a:latin typeface="+mj-ea"/>
                <a:ea typeface="微软雅黑" panose="020B0503020204020204" charset="-122"/>
                <a:cs typeface="+mn-cs"/>
              </a:rPr>
              <a:t>，否则返回错误编号</a:t>
            </a:r>
            <a:endParaRPr lang="zh-CN" altLang="en-US" sz="2400" b="0" kern="1200" dirty="0">
              <a:solidFill>
                <a:schemeClr val="tx1"/>
              </a:solidFill>
              <a:latin typeface="+mj-ea"/>
              <a:ea typeface="微软雅黑" panose="020B0503020204020204" charset="-122"/>
              <a:cs typeface="+mn-cs"/>
            </a:endParaRPr>
          </a:p>
          <a:p>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狭义仅指操作系统中为进程分配处理机。广义扩展到为各种形式的任务分配计算资源。</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微软雅黑" panose="020B0503020204020204" charset="-122"/>
                <a:ea typeface="微软雅黑" panose="020B0503020204020204" charset="-122"/>
                <a:cs typeface="+mn-cs"/>
              </a:rPr>
              <a:t>信号量</a:t>
            </a:r>
            <a:r>
              <a:rPr lang="en-US" altLang="zh-CN" sz="1200" b="0" i="0" u="none" strike="noStrike" kern="1200" dirty="0">
                <a:solidFill>
                  <a:schemeClr val="tx1"/>
                </a:solidFill>
                <a:effectLst/>
                <a:latin typeface="微软雅黑" panose="020B0503020204020204" charset="-122"/>
                <a:ea typeface="微软雅黑" panose="020B0503020204020204" charset="-122"/>
                <a:cs typeface="+mn-cs"/>
              </a:rPr>
              <a:t>: </a:t>
            </a:r>
            <a:r>
              <a:rPr lang="zh-CN" altLang="en-US" sz="1200" b="0" i="0" u="none" strike="noStrike" kern="1200" dirty="0">
                <a:solidFill>
                  <a:schemeClr val="tx1"/>
                </a:solidFill>
                <a:effectLst/>
                <a:latin typeface="微软雅黑" panose="020B0503020204020204" charset="-122"/>
                <a:ea typeface="微软雅黑" panose="020B0503020204020204" charset="-122"/>
                <a:cs typeface="+mn-cs"/>
              </a:rPr>
              <a:t>进程间或线程间</a:t>
            </a:r>
            <a:r>
              <a:rPr lang="en-US" altLang="zh-CN" sz="1200" b="0" i="0" u="none" strike="noStrike" kern="1200" dirty="0">
                <a:solidFill>
                  <a:schemeClr val="tx1"/>
                </a:solidFill>
                <a:effectLst/>
                <a:latin typeface="微软雅黑" panose="020B0503020204020204" charset="-122"/>
                <a:ea typeface="微软雅黑" panose="020B0503020204020204" charset="-122"/>
                <a:cs typeface="+mn-cs"/>
              </a:rPr>
              <a:t>(</a:t>
            </a:r>
            <a:r>
              <a:rPr lang="en-US" altLang="zh-CN" sz="1200" b="0" i="0" u="none" strike="noStrike" kern="1200" dirty="0" err="1">
                <a:solidFill>
                  <a:schemeClr val="tx1"/>
                </a:solidFill>
                <a:effectLst/>
                <a:latin typeface="微软雅黑" panose="020B0503020204020204" charset="-122"/>
                <a:ea typeface="微软雅黑" panose="020B0503020204020204" charset="-122"/>
                <a:cs typeface="+mn-cs"/>
              </a:rPr>
              <a:t>linux</a:t>
            </a:r>
            <a:r>
              <a:rPr lang="zh-CN" altLang="en-US" sz="1200" b="0" i="0" u="none" strike="noStrike" kern="1200" dirty="0">
                <a:solidFill>
                  <a:schemeClr val="tx1"/>
                </a:solidFill>
                <a:effectLst/>
                <a:latin typeface="微软雅黑" panose="020B0503020204020204" charset="-122"/>
                <a:ea typeface="微软雅黑" panose="020B0503020204020204" charset="-122"/>
                <a:cs typeface="+mn-cs"/>
              </a:rPr>
              <a:t>仅线程间的无名信号量</a:t>
            </a:r>
            <a:r>
              <a:rPr lang="en-US" altLang="zh-CN" sz="1200" b="0" i="0" u="none" strike="noStrike" kern="1200" dirty="0" err="1">
                <a:solidFill>
                  <a:schemeClr val="tx1"/>
                </a:solidFill>
                <a:effectLst/>
                <a:latin typeface="微软雅黑" panose="020B0503020204020204" charset="-122"/>
                <a:ea typeface="微软雅黑" panose="020B0503020204020204" charset="-122"/>
                <a:cs typeface="+mn-cs"/>
              </a:rPr>
              <a:t>pthread</a:t>
            </a:r>
            <a:r>
              <a:rPr lang="en-US" altLang="zh-CN" sz="1200" b="0" i="0" u="none" strike="noStrike" kern="1200" dirty="0">
                <a:solidFill>
                  <a:schemeClr val="tx1"/>
                </a:solidFill>
                <a:effectLst/>
                <a:latin typeface="微软雅黑" panose="020B0503020204020204" charset="-122"/>
                <a:ea typeface="微软雅黑" panose="020B0503020204020204" charset="-122"/>
                <a:cs typeface="+mn-cs"/>
              </a:rPr>
              <a:t> semaphore)</a:t>
            </a:r>
            <a:r>
              <a:rPr lang="zh-CN" altLang="en-US" sz="1200" b="0" i="0" u="none" strike="noStrike" kern="1200" dirty="0">
                <a:solidFill>
                  <a:schemeClr val="tx1"/>
                </a:solidFill>
                <a:effectLst/>
                <a:latin typeface="微软雅黑" panose="020B0503020204020204" charset="-122"/>
                <a:ea typeface="微软雅黑" panose="020B0503020204020204" charset="-122"/>
                <a:cs typeface="+mn-cs"/>
              </a:rPr>
              <a:t>。信号量既可以实现互斥也可以实现同步。</a:t>
            </a:r>
            <a:br>
              <a:rPr lang="zh-CN" altLang="en-US" dirty="0"/>
            </a:br>
            <a:r>
              <a:rPr lang="zh-CN" altLang="en-US" sz="1200" b="0" i="0" u="none" strike="noStrike" kern="1200" dirty="0">
                <a:solidFill>
                  <a:schemeClr val="tx1"/>
                </a:solidFill>
                <a:effectLst/>
                <a:latin typeface="微软雅黑" panose="020B0503020204020204" charset="-122"/>
                <a:ea typeface="微软雅黑" panose="020B0503020204020204" charset="-122"/>
                <a:cs typeface="+mn-cs"/>
              </a:rPr>
              <a:t>互斥锁</a:t>
            </a:r>
            <a:r>
              <a:rPr lang="en-US" altLang="zh-CN" sz="1200" b="0" i="0" u="none" strike="noStrike" kern="1200" dirty="0">
                <a:solidFill>
                  <a:schemeClr val="tx1"/>
                </a:solidFill>
                <a:effectLst/>
                <a:latin typeface="微软雅黑" panose="020B0503020204020204" charset="-122"/>
                <a:ea typeface="微软雅黑" panose="020B0503020204020204" charset="-122"/>
                <a:cs typeface="+mn-cs"/>
              </a:rPr>
              <a:t>: </a:t>
            </a:r>
            <a:r>
              <a:rPr lang="zh-CN" altLang="en-US" sz="1200" b="0" i="0" u="none" strike="noStrike" kern="1200" dirty="0">
                <a:solidFill>
                  <a:schemeClr val="tx1"/>
                </a:solidFill>
                <a:effectLst/>
                <a:latin typeface="微软雅黑" panose="020B0503020204020204" charset="-122"/>
                <a:ea typeface="微软雅黑" panose="020B0503020204020204" charset="-122"/>
                <a:cs typeface="+mn-cs"/>
              </a:rPr>
              <a:t>线程间。互斥锁只能实现互斥</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sz="1200" b="1" i="0" u="none" strike="noStrike" kern="1200" dirty="0" err="1">
                <a:solidFill>
                  <a:schemeClr val="tx1"/>
                </a:solidFill>
                <a:effectLst/>
                <a:latin typeface="微软雅黑" panose="020B0503020204020204" charset="-122"/>
                <a:ea typeface="微软雅黑" panose="020B0503020204020204" charset="-122"/>
                <a:cs typeface="+mn-cs"/>
              </a:rPr>
              <a:t>trylock</a:t>
            </a:r>
            <a:r>
              <a:rPr lang="en-US" altLang="zh-CN" sz="1200" b="1" i="0" u="none" strike="noStrike" kern="1200" dirty="0">
                <a:solidFill>
                  <a:schemeClr val="tx1"/>
                </a:solidFill>
                <a:effectLst/>
                <a:latin typeface="微软雅黑" panose="020B0503020204020204" charset="-122"/>
                <a:ea typeface="微软雅黑" panose="020B0503020204020204" charset="-122"/>
                <a:cs typeface="+mn-cs"/>
              </a:rPr>
              <a:t> </a:t>
            </a:r>
            <a:r>
              <a:rPr lang="zh-CN" altLang="en-US" sz="1200" b="1" i="0" u="none" strike="noStrike" kern="1200" dirty="0">
                <a:solidFill>
                  <a:schemeClr val="tx1"/>
                </a:solidFill>
                <a:effectLst/>
                <a:latin typeface="微软雅黑" panose="020B0503020204020204" charset="-122"/>
                <a:ea typeface="微软雅黑" panose="020B0503020204020204" charset="-122"/>
                <a:cs typeface="+mn-cs"/>
              </a:rPr>
              <a:t>尝试加锁，失败返回不阻塞</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kumimoji="1" lang="zh-CN" altLang="en-US" sz="1200" dirty="0"/>
              <a:t> 每一个条件变量通常都与一个互斥锁一起使用，亦即，在创建一个互斥锁时便联系着一个条件变量。</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spcBef>
                <a:spcPct val="0"/>
              </a:spcBef>
              <a:buClrTx/>
              <a:buSzTx/>
            </a:pPr>
            <a:r>
              <a:rPr kumimoji="1" lang="zh-CN" altLang="en-US" sz="2400" dirty="0">
                <a:latin typeface="微软雅黑" panose="020B0503020204020204" charset="-122"/>
                <a:ea typeface="微软雅黑" panose="020B0503020204020204" charset="-122"/>
              </a:rPr>
              <a:t>使用步骤：</a:t>
            </a:r>
            <a:endParaRPr kumimoji="1" lang="zh-CN" altLang="en-US" sz="2400" dirty="0">
              <a:latin typeface="微软雅黑" panose="020B0503020204020204" charset="-122"/>
              <a:ea typeface="微软雅黑" panose="020B0503020204020204" charset="-122"/>
            </a:endParaRPr>
          </a:p>
          <a:p>
            <a:pPr lvl="1" algn="just">
              <a:lnSpc>
                <a:spcPct val="110000"/>
              </a:lnSpc>
              <a:spcBef>
                <a:spcPct val="0"/>
              </a:spcBef>
              <a:buClrTx/>
              <a:buSzTx/>
              <a:buFont typeface="Wingdings" panose="05000000000000000000" pitchFamily="2" charset="2"/>
              <a:buChar char="l"/>
            </a:pPr>
            <a:r>
              <a:rPr kumimoji="1" lang="zh-CN" altLang="en-US" sz="2200" b="0" dirty="0">
                <a:latin typeface="微软雅黑" panose="020B0503020204020204" charset="-122"/>
                <a:ea typeface="微软雅黑" panose="020B0503020204020204" charset="-122"/>
              </a:rPr>
              <a:t>线程首先对</a:t>
            </a:r>
            <a:r>
              <a:rPr kumimoji="1" lang="en-US" altLang="zh-CN" sz="2200" b="0" dirty="0">
                <a:latin typeface="微软雅黑" panose="020B0503020204020204" charset="-122"/>
                <a:ea typeface="微软雅黑" panose="020B0503020204020204" charset="-122"/>
              </a:rPr>
              <a:t>mutex</a:t>
            </a:r>
            <a:r>
              <a:rPr kumimoji="1" lang="zh-CN" altLang="en-US" sz="2200" b="0" dirty="0">
                <a:latin typeface="微软雅黑" panose="020B0503020204020204" charset="-122"/>
                <a:ea typeface="微软雅黑" panose="020B0503020204020204" charset="-122"/>
              </a:rPr>
              <a:t>执行关锁操作，若成功便进入临界区，然后查找用于描述资源状态的数据结构，以了解资源的情况。 </a:t>
            </a:r>
            <a:endParaRPr kumimoji="1" lang="en-US" altLang="zh-CN" sz="2200" b="0" dirty="0">
              <a:latin typeface="微软雅黑" panose="020B0503020204020204" charset="-122"/>
              <a:ea typeface="微软雅黑" panose="020B0503020204020204" charset="-122"/>
            </a:endParaRPr>
          </a:p>
          <a:p>
            <a:pPr lvl="1" algn="just">
              <a:lnSpc>
                <a:spcPct val="110000"/>
              </a:lnSpc>
              <a:spcBef>
                <a:spcPct val="0"/>
              </a:spcBef>
              <a:buClrTx/>
              <a:buSzTx/>
              <a:buFont typeface="Wingdings" panose="05000000000000000000" pitchFamily="2" charset="2"/>
              <a:buChar char="l"/>
            </a:pPr>
            <a:r>
              <a:rPr kumimoji="1" lang="zh-CN" altLang="en-US" sz="2200" b="0" dirty="0">
                <a:latin typeface="微软雅黑" panose="020B0503020204020204" charset="-122"/>
                <a:ea typeface="微软雅黑" panose="020B0503020204020204" charset="-122"/>
              </a:rPr>
              <a:t>只要发现所需资源</a:t>
            </a:r>
            <a:r>
              <a:rPr kumimoji="1" lang="en-US" altLang="zh-CN" sz="2200" b="0" dirty="0">
                <a:latin typeface="微软雅黑" panose="020B0503020204020204" charset="-122"/>
                <a:ea typeface="微软雅黑" panose="020B0503020204020204" charset="-122"/>
              </a:rPr>
              <a:t>R</a:t>
            </a:r>
            <a:r>
              <a:rPr kumimoji="1" lang="zh-CN" altLang="en-US" sz="2200" b="0" dirty="0">
                <a:latin typeface="微软雅黑" panose="020B0503020204020204" charset="-122"/>
                <a:ea typeface="微软雅黑" panose="020B0503020204020204" charset="-122"/>
              </a:rPr>
              <a:t>正处于忙碌状态，线程便转为等待状态，并对</a:t>
            </a:r>
            <a:r>
              <a:rPr kumimoji="1" lang="en-US" altLang="zh-CN" sz="2200" b="0" dirty="0">
                <a:latin typeface="微软雅黑" panose="020B0503020204020204" charset="-122"/>
                <a:ea typeface="微软雅黑" panose="020B0503020204020204" charset="-122"/>
              </a:rPr>
              <a:t>mutex</a:t>
            </a:r>
            <a:r>
              <a:rPr kumimoji="1" lang="zh-CN" altLang="en-US" sz="2200" b="0" dirty="0">
                <a:latin typeface="微软雅黑" panose="020B0503020204020204" charset="-122"/>
                <a:ea typeface="微软雅黑" panose="020B0503020204020204" charset="-122"/>
              </a:rPr>
              <a:t>执行开锁操作后，等待该资源被释放；</a:t>
            </a:r>
            <a:endParaRPr kumimoji="1" lang="en-US" altLang="zh-CN" sz="2200" b="0" dirty="0">
              <a:latin typeface="微软雅黑" panose="020B0503020204020204" charset="-122"/>
              <a:ea typeface="微软雅黑" panose="020B0503020204020204" charset="-122"/>
            </a:endParaRPr>
          </a:p>
          <a:p>
            <a:pPr lvl="1" algn="just">
              <a:lnSpc>
                <a:spcPct val="110000"/>
              </a:lnSpc>
              <a:spcBef>
                <a:spcPct val="0"/>
              </a:spcBef>
              <a:buClrTx/>
              <a:buSzTx/>
              <a:buFont typeface="Wingdings" panose="05000000000000000000" pitchFamily="2" charset="2"/>
              <a:buChar char="l"/>
            </a:pPr>
            <a:r>
              <a:rPr kumimoji="1" lang="zh-CN" altLang="en-US" sz="2200" b="0" dirty="0">
                <a:latin typeface="微软雅黑" panose="020B0503020204020204" charset="-122"/>
                <a:ea typeface="微软雅黑" panose="020B0503020204020204" charset="-122"/>
              </a:rPr>
              <a:t> 若资源处于空闲状态，表明线程可以使用该资源，于是将该资源设置为忙碌状态，再对</a:t>
            </a:r>
            <a:r>
              <a:rPr kumimoji="1" lang="en-US" altLang="zh-CN" sz="2200" b="0" dirty="0">
                <a:latin typeface="微软雅黑" panose="020B0503020204020204" charset="-122"/>
                <a:ea typeface="微软雅黑" panose="020B0503020204020204" charset="-122"/>
              </a:rPr>
              <a:t>mutex</a:t>
            </a:r>
            <a:r>
              <a:rPr kumimoji="1" lang="zh-CN" altLang="en-US" sz="2200" b="0" dirty="0">
                <a:latin typeface="微软雅黑" panose="020B0503020204020204" charset="-122"/>
                <a:ea typeface="微软雅黑" panose="020B0503020204020204" charset="-122"/>
              </a:rPr>
              <a:t>执行开锁操作。</a:t>
            </a:r>
            <a:endParaRPr kumimoji="1" lang="zh-CN" altLang="en-US" sz="2200" b="0" dirty="0">
              <a:latin typeface="微软雅黑" panose="020B0503020204020204" charset="-122"/>
              <a:ea typeface="微软雅黑" panose="020B0503020204020204" charset="-122"/>
            </a:endParaRPr>
          </a:p>
          <a:p>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2.8</a:t>
            </a:r>
            <a:r>
              <a:rPr lang="zh-CN" altLang="en-US" dirty="0"/>
              <a:t>小节自学</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这里的</a:t>
            </a:r>
            <a:r>
              <a:rPr lang="en-US" altLang="zh-CN" dirty="0"/>
              <a:t>P</a:t>
            </a:r>
            <a:r>
              <a:rPr lang="zh-CN" altLang="en-US" dirty="0"/>
              <a:t>代表</a:t>
            </a:r>
            <a:r>
              <a:rPr lang="en-US" altLang="zh-CN" dirty="0"/>
              <a:t>CPU</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000000"/>
                </a:solidFill>
                <a:latin typeface="楷体_GB2312" pitchFamily="49" charset="-122"/>
                <a:ea typeface="楷体_GB2312" pitchFamily="49" charset="-122"/>
              </a:rPr>
              <a:t>缺点：</a:t>
            </a:r>
            <a:endParaRPr lang="en-US" altLang="zh-CN" sz="1200" b="1" dirty="0">
              <a:solidFill>
                <a:srgbClr val="000000"/>
              </a:solidFill>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rgbClr val="000000"/>
                </a:solidFill>
                <a:latin typeface="楷体_GB2312" pitchFamily="49" charset="-122"/>
                <a:ea typeface="楷体_GB2312" pitchFamily="49" charset="-122"/>
              </a:rPr>
              <a:t>1.</a:t>
            </a:r>
            <a:r>
              <a:rPr lang="zh-CN" altLang="en-US" sz="1200" b="1" dirty="0">
                <a:solidFill>
                  <a:srgbClr val="000000"/>
                </a:solidFill>
                <a:latin typeface="楷体_GB2312" pitchFamily="49" charset="-122"/>
                <a:ea typeface="楷体_GB2312" pitchFamily="49" charset="-122"/>
              </a:rPr>
              <a:t>大多数系统调用会引起进程阻塞，并且是进程中所有线程将被阻塞。因此，当线程执行一个系统调用时，不仅该线程会被阻塞，其所属进程内的所有线程都会被阻塞。</a:t>
            </a:r>
            <a:endParaRPr lang="en-US" altLang="zh-CN" sz="1200" b="1" dirty="0">
              <a:solidFill>
                <a:srgbClr val="000000"/>
              </a:solidFill>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rgbClr val="000000"/>
                </a:solidFill>
                <a:latin typeface="楷体_GB2312" pitchFamily="49" charset="-122"/>
                <a:ea typeface="楷体_GB2312" pitchFamily="49" charset="-122"/>
              </a:rPr>
              <a:t>2. </a:t>
            </a:r>
            <a:r>
              <a:rPr lang="zh-CN" altLang="en-US" sz="1200" b="1" dirty="0">
                <a:solidFill>
                  <a:srgbClr val="000000"/>
                </a:solidFill>
                <a:latin typeface="楷体_GB2312" pitchFamily="49" charset="-122"/>
                <a:ea typeface="楷体_GB2312" pitchFamily="49" charset="-122"/>
              </a:rPr>
              <a:t>纯用户级的多线程应用不能利用多处理机进行多重处理。因为内核只将处理器分配给进程，一个进程只能占有一个</a:t>
            </a:r>
            <a:r>
              <a:rPr lang="en-US" altLang="zh-CN" sz="1200" b="1" dirty="0">
                <a:solidFill>
                  <a:srgbClr val="000000"/>
                </a:solidFill>
                <a:latin typeface="楷体_GB2312" pitchFamily="49" charset="-122"/>
                <a:ea typeface="楷体_GB2312" pitchFamily="49" charset="-122"/>
              </a:rPr>
              <a:t>CPU</a:t>
            </a:r>
            <a:r>
              <a:rPr lang="zh-CN" altLang="en-US" sz="1200" b="1" dirty="0">
                <a:solidFill>
                  <a:srgbClr val="000000"/>
                </a:solidFill>
                <a:latin typeface="楷体_GB2312" pitchFamily="49" charset="-122"/>
                <a:ea typeface="楷体_GB2312" pitchFamily="49" charset="-122"/>
              </a:rPr>
              <a:t>，同一进程中的两个线程不能同时运行于两个处理器上</a:t>
            </a:r>
            <a:endParaRPr lang="zh-CN" altLang="en-US" sz="1200" b="1" dirty="0">
              <a:solidFill>
                <a:srgbClr val="000000"/>
              </a:solidFill>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000000"/>
              </a:solidFill>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rgbClr val="000000"/>
              </a:solidFill>
              <a:latin typeface="楷体_GB2312" pitchFamily="49" charset="-122"/>
              <a:ea typeface="楷体_GB2312" pitchFamily="49"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sz="1200" b="1" i="0" u="none" strike="noStrike" kern="1200" baseline="0" dirty="0" err="1">
                <a:solidFill>
                  <a:schemeClr val="tx1"/>
                </a:solidFill>
                <a:latin typeface="+mn-lt"/>
                <a:ea typeface="+mn-ea"/>
                <a:cs typeface="+mn-cs"/>
              </a:rPr>
              <a:t>ThreadCreate</a:t>
            </a:r>
            <a:r>
              <a:rPr lang="zh-CN" altLang="en-US" sz="1200" b="0" i="0" u="none" strike="noStrike" kern="1200" baseline="0" dirty="0">
                <a:solidFill>
                  <a:schemeClr val="tx1"/>
                </a:solidFill>
                <a:latin typeface="+mn-lt"/>
                <a:ea typeface="+mn-ea"/>
                <a:cs typeface="+mn-cs"/>
              </a:rPr>
              <a:t>是系统调用，</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sz="1200" b="1" i="0" u="none" strike="noStrike" kern="1200" baseline="0" dirty="0" err="1">
                <a:solidFill>
                  <a:schemeClr val="tx1"/>
                </a:solidFill>
                <a:latin typeface="+mn-lt"/>
                <a:ea typeface="+mn-ea"/>
                <a:cs typeface="+mn-cs"/>
              </a:rPr>
              <a:t>ThreadCreate</a:t>
            </a:r>
            <a:r>
              <a:rPr lang="zh-CN" altLang="en-US" sz="1200" b="0" i="0" u="none" strike="noStrike" kern="1200" baseline="0" dirty="0">
                <a:solidFill>
                  <a:schemeClr val="tx1"/>
                </a:solidFill>
                <a:latin typeface="+mn-lt"/>
                <a:ea typeface="+mn-ea"/>
                <a:cs typeface="+mn-cs"/>
              </a:rPr>
              <a:t>是系统调用，内核管理</a:t>
            </a:r>
            <a:r>
              <a:rPr lang="en-US" altLang="zh-CN" sz="1200" b="1" i="0" u="none" strike="noStrike" kern="1200" baseline="0" dirty="0">
                <a:solidFill>
                  <a:schemeClr val="tx1"/>
                </a:solidFill>
                <a:latin typeface="+mn-lt"/>
                <a:ea typeface="+mn-ea"/>
                <a:cs typeface="+mn-cs"/>
              </a:rPr>
              <a:t>TCB</a:t>
            </a:r>
            <a:r>
              <a:rPr lang="zh-CN" altLang="en-US" sz="1200" b="0" i="0" u="none" strike="noStrike" kern="1200" baseline="0" dirty="0">
                <a:solidFill>
                  <a:schemeClr val="tx1"/>
                </a:solidFill>
                <a:latin typeface="+mn-lt"/>
                <a:ea typeface="+mn-ea"/>
                <a:cs typeface="+mn-cs"/>
              </a:rPr>
              <a:t>，内核负责切换线程</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这里的</a:t>
            </a:r>
            <a:r>
              <a:rPr lang="en-US" altLang="zh-CN" dirty="0"/>
              <a:t>P</a:t>
            </a:r>
            <a:r>
              <a:rPr lang="zh-CN" altLang="en-US" dirty="0"/>
              <a:t>是进程</a:t>
            </a:r>
            <a:endParaRPr lang="en-US" altLang="zh-CN" dirty="0"/>
          </a:p>
          <a:p>
            <a:pPr marL="171450" indent="-171450">
              <a:buFont typeface="Arial" panose="020B0604020202020204" pitchFamily="34" charset="0"/>
              <a:buChar char="•"/>
            </a:pPr>
            <a:r>
              <a:rPr lang="zh-CN" altLang="en-US" dirty="0"/>
              <a:t>在组合方式中，内核支持多个内核支持线程的建立、调度和管理。同时，也允许用户程序建立、调度和管理用户级线程。一些内核支持线程对应多个用户级线程，这是用户级线程通过时分多路复用内核支持线程来实现。</a:t>
            </a:r>
            <a:endParaRPr lang="en-US" altLang="zh-CN" dirty="0"/>
          </a:p>
          <a:p>
            <a:pPr marL="171450" indent="-171450">
              <a:buFont typeface="Arial" panose="020B0604020202020204" pitchFamily="34" charset="0"/>
              <a:buChar char="•"/>
            </a:pPr>
            <a:r>
              <a:rPr lang="zh-CN" altLang="en-US" dirty="0"/>
              <a:t>在组合方式中，同一个进程内的多个线程可以同时在多处理器上并行执行，阻塞一个线程时不会导致整个进程阻塞。</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b="1">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b="1">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b="1">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b="1">
                <a:solidFill>
                  <a:schemeClr val="tx1"/>
                </a:solidFill>
                <a:latin typeface="Times New Roman" panose="02020603050405020304" pitchFamily="18" charset="0"/>
                <a:ea typeface="黑体" panose="02010609060101010101" pitchFamily="2" charset="-122"/>
              </a:defRPr>
            </a:lvl5pPr>
            <a:lvl6pPr marL="2514600" indent="-228600" algn="ctr" eaLnBrk="0" fontAlgn="base" hangingPunct="0">
              <a:lnSpc>
                <a:spcPct val="130000"/>
              </a:lnSpc>
              <a:spcBef>
                <a:spcPct val="30000"/>
              </a:spcBef>
              <a:spcAft>
                <a:spcPct val="0"/>
              </a:spcAft>
              <a:buClr>
                <a:schemeClr val="tx2"/>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2" charset="-122"/>
              </a:defRPr>
            </a:lvl6pPr>
            <a:lvl7pPr marL="2971800" indent="-228600" algn="ctr" eaLnBrk="0" fontAlgn="base" hangingPunct="0">
              <a:lnSpc>
                <a:spcPct val="130000"/>
              </a:lnSpc>
              <a:spcBef>
                <a:spcPct val="30000"/>
              </a:spcBef>
              <a:spcAft>
                <a:spcPct val="0"/>
              </a:spcAft>
              <a:buClr>
                <a:schemeClr val="tx2"/>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2" charset="-122"/>
              </a:defRPr>
            </a:lvl7pPr>
            <a:lvl8pPr marL="3429000" indent="-228600" algn="ctr" eaLnBrk="0" fontAlgn="base" hangingPunct="0">
              <a:lnSpc>
                <a:spcPct val="130000"/>
              </a:lnSpc>
              <a:spcBef>
                <a:spcPct val="30000"/>
              </a:spcBef>
              <a:spcAft>
                <a:spcPct val="0"/>
              </a:spcAft>
              <a:buClr>
                <a:schemeClr val="tx2"/>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2" charset="-122"/>
              </a:defRPr>
            </a:lvl8pPr>
            <a:lvl9pPr marL="3886200" indent="-228600" algn="ctr" eaLnBrk="0" fontAlgn="base" hangingPunct="0">
              <a:lnSpc>
                <a:spcPct val="130000"/>
              </a:lnSpc>
              <a:spcBef>
                <a:spcPct val="30000"/>
              </a:spcBef>
              <a:spcAft>
                <a:spcPct val="0"/>
              </a:spcAft>
              <a:buClr>
                <a:schemeClr val="tx2"/>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2" charset="-122"/>
              </a:defRPr>
            </a:lvl9pPr>
          </a:lstStyle>
          <a:p>
            <a:pPr algn="r" eaLnBrk="1" hangingPunct="1">
              <a:lnSpc>
                <a:spcPct val="100000"/>
              </a:lnSpc>
              <a:spcBef>
                <a:spcPct val="0"/>
              </a:spcBef>
              <a:buClrTx/>
              <a:buFontTx/>
              <a:buNone/>
              <a:defRPr/>
            </a:pPr>
            <a:fld id="{49CD1C7F-0836-45EF-B0D5-C8289C26A76C}" type="slidenum">
              <a:rPr kumimoji="0" lang="zh-CN" altLang="en-US" sz="1200" b="0" smtClean="0">
                <a:latin typeface="Arial" panose="020B0604020202020204" pitchFamily="34" charset="0"/>
                <a:ea typeface="宋体" panose="02010600030101010101" pitchFamily="2" charset="-122"/>
              </a:rPr>
            </a:fld>
            <a:endParaRPr kumimoji="0" lang="en-US" altLang="zh-CN" sz="1200" b="0" dirty="0">
              <a:latin typeface="Arial" panose="020B0604020202020204" pitchFamily="34" charset="0"/>
              <a:ea typeface="宋体" panose="02010600030101010101" pitchFamily="2" charset="-122"/>
            </a:endParaRPr>
          </a:p>
        </p:txBody>
      </p:sp>
      <p:sp>
        <p:nvSpPr>
          <p:cNvPr id="52227" name="Rectangle 2"/>
          <p:cNvSpPr>
            <a:spLocks noGrp="1" noRot="1" noChangeAspect="1" noChangeArrowheads="1" noTextEdit="1"/>
          </p:cNvSpPr>
          <p:nvPr>
            <p:ph type="sldImg"/>
          </p:nvPr>
        </p:nvSpPr>
        <p:spPr>
          <a:xfrm>
            <a:off x="381000" y="685800"/>
            <a:ext cx="6096000" cy="3429000"/>
          </a:xfrm>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2.8</a:t>
            </a:r>
            <a:r>
              <a:rPr lang="zh-CN" altLang="en-US" dirty="0"/>
              <a:t>小节自学</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这里的</a:t>
            </a:r>
            <a:r>
              <a:rPr lang="en-US" altLang="zh-CN" dirty="0"/>
              <a:t>P</a:t>
            </a:r>
            <a:r>
              <a:rPr lang="zh-CN" altLang="en-US" dirty="0"/>
              <a:t>是进程</a:t>
            </a:r>
            <a:endParaRPr lang="en-US" altLang="zh-CN" dirty="0"/>
          </a:p>
          <a:p>
            <a:pPr marL="171450" indent="-171450">
              <a:buFont typeface="Arial" panose="020B0604020202020204" pitchFamily="34" charset="0"/>
              <a:buChar char="•"/>
            </a:pPr>
            <a:r>
              <a:rPr lang="zh-CN" altLang="en-US" dirty="0"/>
              <a:t>在组合方式中，内核支持多个内核支持线程的建立、调度和管理。同时，也允许用户程序建立、调度和管理用户级线程。一些内核支持线程对应多个用户级线程，这是用户级线程通过时分多路复用内核支持线程来实现。</a:t>
            </a:r>
            <a:endParaRPr lang="en-US" altLang="zh-CN" dirty="0"/>
          </a:p>
          <a:p>
            <a:pPr marL="171450" indent="-171450">
              <a:buFont typeface="Arial" panose="020B0604020202020204" pitchFamily="34" charset="0"/>
              <a:buChar char="•"/>
            </a:pPr>
            <a:r>
              <a:rPr lang="zh-CN" altLang="en-US" dirty="0"/>
              <a:t>在组合方式中，同一个进程内的多个线程可以同时在多处理器上并行执行，阻塞一个线程时不会导致整个进程阻塞。</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228600"/>
            <a:ext cx="8540750" cy="5870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首页">
    <p:spTree>
      <p:nvGrpSpPr>
        <p:cNvPr id="1" name=""/>
        <p:cNvGrpSpPr/>
        <p:nvPr/>
      </p:nvGrpSpPr>
      <p:grpSpPr>
        <a:xfrm>
          <a:off x="0" y="0"/>
          <a:ext cx="0" cy="0"/>
          <a:chOff x="0" y="0"/>
          <a:chExt cx="0" cy="0"/>
        </a:xfrm>
      </p:grpSpPr>
      <p:grpSp>
        <p:nvGrpSpPr>
          <p:cNvPr id="5" name="组 4"/>
          <p:cNvGrpSpPr/>
          <p:nvPr userDrawn="1"/>
        </p:nvGrpSpPr>
        <p:grpSpPr bwMode="hidden">
          <a:xfrm>
            <a:off x="-1" y="0"/>
            <a:ext cx="9144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457173" y="3421152"/>
            <a:ext cx="8196547" cy="1871475"/>
          </a:xfrm>
          <a:prstGeom prst="rect">
            <a:avLst/>
          </a:prstGeom>
        </p:spPr>
        <p:txBody>
          <a:bodyPr rtlCol="0" anchor="b">
            <a:noAutofit/>
          </a:bodyPr>
          <a:lstStyle>
            <a:lvl1pPr algn="ctr">
              <a:lnSpc>
                <a:spcPct val="100000"/>
              </a:lnSpc>
              <a:defRPr sz="3040" cap="none" baseline="0">
                <a:solidFill>
                  <a:schemeClr val="accent2">
                    <a:lumMod val="75000"/>
                  </a:schemeClr>
                </a:solidFill>
                <a:latin typeface="微软雅黑" panose="020B0503020204020204" charset="-122"/>
                <a:ea typeface="微软雅黑" panose="020B0503020204020204" charset="-122"/>
              </a:defRPr>
            </a:lvl1pPr>
          </a:lstStyle>
          <a:p>
            <a:pPr rtl="0"/>
            <a:r>
              <a:rPr lang="zh-CN" altLang="en-US" noProof="0" dirty="0"/>
              <a:t>单击此处编辑母版标题样式</a:t>
            </a:r>
            <a:endParaRPr lang="zh-CN" altLang="en-US" noProof="0" dirty="0"/>
          </a:p>
        </p:txBody>
      </p:sp>
      <p:sp>
        <p:nvSpPr>
          <p:cNvPr id="3" name="副标题 2"/>
          <p:cNvSpPr>
            <a:spLocks noGrp="1"/>
          </p:cNvSpPr>
          <p:nvPr>
            <p:ph type="subTitle" idx="1" hasCustomPrompt="1"/>
          </p:nvPr>
        </p:nvSpPr>
        <p:spPr>
          <a:xfrm>
            <a:off x="970385" y="5432564"/>
            <a:ext cx="7203233" cy="457200"/>
          </a:xfrm>
          <a:prstGeom prst="rect">
            <a:avLst/>
          </a:prstGeom>
        </p:spPr>
        <p:txBody>
          <a:bodyPr rtlCol="0">
            <a:normAutofit/>
          </a:bodyPr>
          <a:lstStyle>
            <a:lvl1pPr marL="0" indent="0" algn="just">
              <a:spcBef>
                <a:spcPts val="0"/>
              </a:spcBef>
              <a:buNone/>
              <a:defRPr sz="1125" b="0">
                <a:solidFill>
                  <a:schemeClr val="accent1">
                    <a:lumMod val="75000"/>
                  </a:schemeClr>
                </a:solidFill>
                <a:latin typeface="微软雅黑" panose="020B0503020204020204" charset="-122"/>
                <a:ea typeface="微软雅黑" panose="020B0503020204020204" charset="-122"/>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pPr rtl="0"/>
            <a:r>
              <a:rPr lang="zh-CN" altLang="en-US" noProof="0" dirty="0"/>
              <a:t>单击以编辑母版副标题样式</a:t>
            </a:r>
            <a:endParaRPr lang="zh-CN" altLang="en-US" noProof="0" dirty="0"/>
          </a:p>
        </p:txBody>
      </p:sp>
      <p:cxnSp>
        <p:nvCxnSpPr>
          <p:cNvPr id="58" name="直接连接符​​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p:cNvPicPr>
            <a:picLocks noChangeAspect="1"/>
          </p:cNvPicPr>
          <p:nvPr userDrawn="1"/>
        </p:nvPicPr>
        <p:blipFill>
          <a:blip r:embed="rId2"/>
          <a:stretch>
            <a:fillRect/>
          </a:stretch>
        </p:blipFill>
        <p:spPr>
          <a:xfrm>
            <a:off x="1211963" y="156092"/>
            <a:ext cx="6774147"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228600"/>
            <a:ext cx="8540750" cy="5870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首页">
    <p:spTree>
      <p:nvGrpSpPr>
        <p:cNvPr id="1" name=""/>
        <p:cNvGrpSpPr/>
        <p:nvPr/>
      </p:nvGrpSpPr>
      <p:grpSpPr>
        <a:xfrm>
          <a:off x="0" y="0"/>
          <a:ext cx="0" cy="0"/>
          <a:chOff x="0" y="0"/>
          <a:chExt cx="0" cy="0"/>
        </a:xfrm>
      </p:grpSpPr>
      <p:grpSp>
        <p:nvGrpSpPr>
          <p:cNvPr id="5" name="组 4"/>
          <p:cNvGrpSpPr/>
          <p:nvPr userDrawn="1"/>
        </p:nvGrpSpPr>
        <p:grpSpPr bwMode="hidden">
          <a:xfrm>
            <a:off x="-1" y="0"/>
            <a:ext cx="9144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457173" y="3421152"/>
            <a:ext cx="8196547" cy="1871475"/>
          </a:xfrm>
          <a:prstGeom prst="rect">
            <a:avLst/>
          </a:prstGeom>
        </p:spPr>
        <p:txBody>
          <a:bodyPr rtlCol="0" anchor="b">
            <a:noAutofit/>
          </a:bodyPr>
          <a:lstStyle>
            <a:lvl1pPr algn="ctr">
              <a:lnSpc>
                <a:spcPct val="100000"/>
              </a:lnSpc>
              <a:defRPr sz="3040" cap="none" baseline="0">
                <a:solidFill>
                  <a:schemeClr val="accent2">
                    <a:lumMod val="75000"/>
                  </a:schemeClr>
                </a:solidFill>
                <a:latin typeface="微软雅黑" panose="020B0503020204020204" charset="-122"/>
                <a:ea typeface="微软雅黑" panose="020B0503020204020204" charset="-122"/>
              </a:defRPr>
            </a:lvl1pPr>
          </a:lstStyle>
          <a:p>
            <a:pPr rtl="0"/>
            <a:r>
              <a:rPr lang="zh-CN" altLang="en-US" noProof="0" dirty="0"/>
              <a:t>单击此处编辑母版标题样式</a:t>
            </a:r>
            <a:endParaRPr lang="zh-CN" altLang="en-US" noProof="0" dirty="0"/>
          </a:p>
        </p:txBody>
      </p:sp>
      <p:sp>
        <p:nvSpPr>
          <p:cNvPr id="3" name="副标题 2"/>
          <p:cNvSpPr>
            <a:spLocks noGrp="1"/>
          </p:cNvSpPr>
          <p:nvPr>
            <p:ph type="subTitle" idx="1" hasCustomPrompt="1"/>
          </p:nvPr>
        </p:nvSpPr>
        <p:spPr>
          <a:xfrm>
            <a:off x="970385" y="5432564"/>
            <a:ext cx="7203233" cy="457200"/>
          </a:xfrm>
          <a:prstGeom prst="rect">
            <a:avLst/>
          </a:prstGeom>
        </p:spPr>
        <p:txBody>
          <a:bodyPr rtlCol="0">
            <a:normAutofit/>
          </a:bodyPr>
          <a:lstStyle>
            <a:lvl1pPr marL="0" indent="0" algn="just">
              <a:spcBef>
                <a:spcPts val="0"/>
              </a:spcBef>
              <a:buNone/>
              <a:defRPr sz="1125" b="0">
                <a:solidFill>
                  <a:schemeClr val="accent1">
                    <a:lumMod val="75000"/>
                  </a:schemeClr>
                </a:solidFill>
                <a:latin typeface="微软雅黑" panose="020B0503020204020204" charset="-122"/>
                <a:ea typeface="微软雅黑" panose="020B0503020204020204" charset="-122"/>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pPr rtl="0"/>
            <a:r>
              <a:rPr lang="zh-CN" altLang="en-US" noProof="0" dirty="0"/>
              <a:t>单击以编辑母版副标题样式</a:t>
            </a:r>
            <a:endParaRPr lang="zh-CN" altLang="en-US" noProof="0" dirty="0"/>
          </a:p>
        </p:txBody>
      </p:sp>
      <p:cxnSp>
        <p:nvCxnSpPr>
          <p:cNvPr id="58" name="直接连接符​​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p:cNvPicPr>
            <a:picLocks noChangeAspect="1"/>
          </p:cNvPicPr>
          <p:nvPr userDrawn="1"/>
        </p:nvPicPr>
        <p:blipFill>
          <a:blip r:embed="rId2"/>
          <a:stretch>
            <a:fillRect/>
          </a:stretch>
        </p:blipFill>
        <p:spPr>
          <a:xfrm>
            <a:off x="1211963" y="156092"/>
            <a:ext cx="6774147"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2.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02786" name="Rectangle 2"/>
          <p:cNvSpPr>
            <a:spLocks noGrp="1" noRot="1"/>
          </p:cNvSpPr>
          <p:nvPr>
            <p:ph type="title"/>
          </p:nvPr>
        </p:nvSpPr>
        <p:spPr>
          <a:xfrm>
            <a:off x="301625" y="228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502787" name="Rectangle 3"/>
          <p:cNvSpPr>
            <a:spLocks noGrp="1" noRot="1"/>
          </p:cNvSpPr>
          <p:nvPr>
            <p:ph type="body" idx="1"/>
          </p:nvPr>
        </p:nvSpPr>
        <p:spPr>
          <a:xfrm>
            <a:off x="301625" y="1600200"/>
            <a:ext cx="8540750" cy="44989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02788"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278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2790"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Text Box 7"/>
          <p:cNvSpPr txBox="1">
            <a:spLocks noChangeArrowheads="1"/>
          </p:cNvSpPr>
          <p:nvPr/>
        </p:nvSpPr>
        <p:spPr bwMode="auto">
          <a:xfrm>
            <a:off x="6172200" y="6324600"/>
            <a:ext cx="2667000" cy="366713"/>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Line 8"/>
          <p:cNvSpPr/>
          <p:nvPr userDrawn="1"/>
        </p:nvSpPr>
        <p:spPr>
          <a:xfrm>
            <a:off x="457200" y="1524000"/>
            <a:ext cx="8229600" cy="0"/>
          </a:xfrm>
          <a:prstGeom prst="line">
            <a:avLst/>
          </a:prstGeom>
          <a:ln w="19050" cap="flat" cmpd="sng">
            <a:solidFill>
              <a:schemeClr val="accent1"/>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02786"/>
                                        </p:tgtEl>
                                        <p:attrNameLst>
                                          <p:attrName>style.visibility</p:attrName>
                                        </p:attrNameLst>
                                      </p:cBhvr>
                                      <p:to>
                                        <p:strVal val="visible"/>
                                      </p:to>
                                    </p:set>
                                    <p:animEffect transition="in" filter="fade">
                                      <p:cBhvr>
                                        <p:cTn id="7" dur="2000"/>
                                        <p:tgtEl>
                                          <p:spTgt spid="5027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2787">
                                            <p:txEl>
                                              <p:pRg st="0" end="0"/>
                                            </p:txEl>
                                          </p:spTgt>
                                        </p:tgtEl>
                                        <p:attrNameLst>
                                          <p:attrName>style.visibility</p:attrName>
                                        </p:attrNameLst>
                                      </p:cBhvr>
                                      <p:to>
                                        <p:strVal val="visible"/>
                                      </p:to>
                                    </p:set>
                                    <p:animEffect transition="in" filter="fade">
                                      <p:cBhvr>
                                        <p:cTn id="12" dur="2000"/>
                                        <p:tgtEl>
                                          <p:spTgt spid="50278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02787">
                                            <p:txEl>
                                              <p:pRg st="1" end="1"/>
                                            </p:txEl>
                                          </p:spTgt>
                                        </p:tgtEl>
                                        <p:attrNameLst>
                                          <p:attrName>style.visibility</p:attrName>
                                        </p:attrNameLst>
                                      </p:cBhvr>
                                      <p:to>
                                        <p:strVal val="visible"/>
                                      </p:to>
                                    </p:set>
                                    <p:animEffect transition="in" filter="fade">
                                      <p:cBhvr>
                                        <p:cTn id="15" dur="2000"/>
                                        <p:tgtEl>
                                          <p:spTgt spid="50278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02787">
                                            <p:txEl>
                                              <p:pRg st="2" end="2"/>
                                            </p:txEl>
                                          </p:spTgt>
                                        </p:tgtEl>
                                        <p:attrNameLst>
                                          <p:attrName>style.visibility</p:attrName>
                                        </p:attrNameLst>
                                      </p:cBhvr>
                                      <p:to>
                                        <p:strVal val="visible"/>
                                      </p:to>
                                    </p:set>
                                    <p:animEffect transition="in" filter="fade">
                                      <p:cBhvr>
                                        <p:cTn id="18" dur="2000"/>
                                        <p:tgtEl>
                                          <p:spTgt spid="502787">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02787">
                                            <p:txEl>
                                              <p:pRg st="3" end="3"/>
                                            </p:txEl>
                                          </p:spTgt>
                                        </p:tgtEl>
                                        <p:attrNameLst>
                                          <p:attrName>style.visibility</p:attrName>
                                        </p:attrNameLst>
                                      </p:cBhvr>
                                      <p:to>
                                        <p:strVal val="visible"/>
                                      </p:to>
                                    </p:set>
                                    <p:animEffect transition="in" filter="fade">
                                      <p:cBhvr>
                                        <p:cTn id="21" dur="2000"/>
                                        <p:tgtEl>
                                          <p:spTgt spid="502787">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2787">
                                            <p:txEl>
                                              <p:pRg st="4" end="4"/>
                                            </p:txEl>
                                          </p:spTgt>
                                        </p:tgtEl>
                                        <p:attrNameLst>
                                          <p:attrName>style.visibility</p:attrName>
                                        </p:attrNameLst>
                                      </p:cBhvr>
                                      <p:to>
                                        <p:strVal val="visible"/>
                                      </p:to>
                                    </p:set>
                                    <p:animEffect transition="in" filter="fade">
                                      <p:cBhvr>
                                        <p:cTn id="24" dur="2000"/>
                                        <p:tgtEl>
                                          <p:spTgt spid="5027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6" grpId="0"/>
      <p:bldP spid="502787" grpId="0" build="p">
        <p:tmplLst>
          <p:tmpl lvl="1">
            <p:tnLst>
              <p:par>
                <p:cTn presetID="10" presetClass="entr" presetSubtype="0" fill="hold" nodeType="click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Lst>
      </p:bldP>
    </p:bldLst>
  </p:timing>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02786" name="Rectangle 2"/>
          <p:cNvSpPr>
            <a:spLocks noGrp="1" noRot="1"/>
          </p:cNvSpPr>
          <p:nvPr>
            <p:ph type="title"/>
          </p:nvPr>
        </p:nvSpPr>
        <p:spPr>
          <a:xfrm>
            <a:off x="301625" y="228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502787" name="Rectangle 3"/>
          <p:cNvSpPr>
            <a:spLocks noGrp="1" noRot="1"/>
          </p:cNvSpPr>
          <p:nvPr>
            <p:ph type="body" idx="1"/>
          </p:nvPr>
        </p:nvSpPr>
        <p:spPr>
          <a:xfrm>
            <a:off x="301625" y="1600200"/>
            <a:ext cx="8540750" cy="44989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02788"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278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2790"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Text Box 7"/>
          <p:cNvSpPr txBox="1">
            <a:spLocks noChangeArrowheads="1"/>
          </p:cNvSpPr>
          <p:nvPr/>
        </p:nvSpPr>
        <p:spPr bwMode="auto">
          <a:xfrm>
            <a:off x="6172200" y="6324600"/>
            <a:ext cx="2667000" cy="366713"/>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Line 8"/>
          <p:cNvSpPr/>
          <p:nvPr userDrawn="1"/>
        </p:nvSpPr>
        <p:spPr>
          <a:xfrm>
            <a:off x="457200" y="1524000"/>
            <a:ext cx="8229600" cy="0"/>
          </a:xfrm>
          <a:prstGeom prst="line">
            <a:avLst/>
          </a:prstGeom>
          <a:ln w="19050" cap="flat" cmpd="sng">
            <a:solidFill>
              <a:schemeClr val="accent1"/>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02786"/>
                                        </p:tgtEl>
                                        <p:attrNameLst>
                                          <p:attrName>style.visibility</p:attrName>
                                        </p:attrNameLst>
                                      </p:cBhvr>
                                      <p:to>
                                        <p:strVal val="visible"/>
                                      </p:to>
                                    </p:set>
                                    <p:animEffect transition="in" filter="fade">
                                      <p:cBhvr>
                                        <p:cTn id="7" dur="2000"/>
                                        <p:tgtEl>
                                          <p:spTgt spid="5027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2787">
                                            <p:txEl>
                                              <p:pRg st="0" end="0"/>
                                            </p:txEl>
                                          </p:spTgt>
                                        </p:tgtEl>
                                        <p:attrNameLst>
                                          <p:attrName>style.visibility</p:attrName>
                                        </p:attrNameLst>
                                      </p:cBhvr>
                                      <p:to>
                                        <p:strVal val="visible"/>
                                      </p:to>
                                    </p:set>
                                    <p:animEffect transition="in" filter="fade">
                                      <p:cBhvr>
                                        <p:cTn id="12" dur="2000"/>
                                        <p:tgtEl>
                                          <p:spTgt spid="50278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02787">
                                            <p:txEl>
                                              <p:pRg st="1" end="1"/>
                                            </p:txEl>
                                          </p:spTgt>
                                        </p:tgtEl>
                                        <p:attrNameLst>
                                          <p:attrName>style.visibility</p:attrName>
                                        </p:attrNameLst>
                                      </p:cBhvr>
                                      <p:to>
                                        <p:strVal val="visible"/>
                                      </p:to>
                                    </p:set>
                                    <p:animEffect transition="in" filter="fade">
                                      <p:cBhvr>
                                        <p:cTn id="15" dur="2000"/>
                                        <p:tgtEl>
                                          <p:spTgt spid="50278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02787">
                                            <p:txEl>
                                              <p:pRg st="2" end="2"/>
                                            </p:txEl>
                                          </p:spTgt>
                                        </p:tgtEl>
                                        <p:attrNameLst>
                                          <p:attrName>style.visibility</p:attrName>
                                        </p:attrNameLst>
                                      </p:cBhvr>
                                      <p:to>
                                        <p:strVal val="visible"/>
                                      </p:to>
                                    </p:set>
                                    <p:animEffect transition="in" filter="fade">
                                      <p:cBhvr>
                                        <p:cTn id="18" dur="2000"/>
                                        <p:tgtEl>
                                          <p:spTgt spid="502787">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02787">
                                            <p:txEl>
                                              <p:pRg st="3" end="3"/>
                                            </p:txEl>
                                          </p:spTgt>
                                        </p:tgtEl>
                                        <p:attrNameLst>
                                          <p:attrName>style.visibility</p:attrName>
                                        </p:attrNameLst>
                                      </p:cBhvr>
                                      <p:to>
                                        <p:strVal val="visible"/>
                                      </p:to>
                                    </p:set>
                                    <p:animEffect transition="in" filter="fade">
                                      <p:cBhvr>
                                        <p:cTn id="21" dur="2000"/>
                                        <p:tgtEl>
                                          <p:spTgt spid="502787">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2787">
                                            <p:txEl>
                                              <p:pRg st="4" end="4"/>
                                            </p:txEl>
                                          </p:spTgt>
                                        </p:tgtEl>
                                        <p:attrNameLst>
                                          <p:attrName>style.visibility</p:attrName>
                                        </p:attrNameLst>
                                      </p:cBhvr>
                                      <p:to>
                                        <p:strVal val="visible"/>
                                      </p:to>
                                    </p:set>
                                    <p:animEffect transition="in" filter="fade">
                                      <p:cBhvr>
                                        <p:cTn id="24" dur="2000"/>
                                        <p:tgtEl>
                                          <p:spTgt spid="5027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6" grpId="0"/>
      <p:bldP spid="502787" grpId="0" build="p">
        <p:tmplLst>
          <p:tmpl lvl="1">
            <p:tnLst>
              <p:par>
                <p:cTn presetID="10" presetClass="entr" presetSubtype="0" fill="hold" nodeType="click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Lst>
      </p:bldP>
    </p:bldLst>
  </p:timing>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6.xml"/><Relationship Id="rId2" Type="http://schemas.openxmlformats.org/officeDocument/2006/relationships/image" Target="../media/image6.wmf"/><Relationship Id="rId1"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jpeg"/></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6.xml"/><Relationship Id="rId2" Type="http://schemas.openxmlformats.org/officeDocument/2006/relationships/image" Target="../media/image11.emf"/><Relationship Id="rId1"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12.wmf"/><Relationship Id="rId1" Type="http://schemas.openxmlformats.org/officeDocument/2006/relationships/oleObject" Target="../embeddings/oleObject6.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13.emf"/><Relationship Id="rId1" Type="http://schemas.openxmlformats.org/officeDocument/2006/relationships/oleObject" Target="../embeddings/oleObject7.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6.xml"/><Relationship Id="rId2" Type="http://schemas.openxmlformats.org/officeDocument/2006/relationships/image" Target="../media/image14.emf"/><Relationship Id="rId1" Type="http://schemas.openxmlformats.org/officeDocument/2006/relationships/oleObject" Target="../embeddings/oleObject8.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19.jpeg"/><Relationship Id="rId1" Type="http://schemas.openxmlformats.org/officeDocument/2006/relationships/image" Target="../media/image18.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w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1.xml"/><Relationship Id="rId2" Type="http://schemas.openxmlformats.org/officeDocument/2006/relationships/image" Target="../media/image21.emf"/><Relationship Id="rId1" Type="http://schemas.openxmlformats.org/officeDocument/2006/relationships/oleObject" Target="../embeddings/oleObject9.bin"/></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vmlDrawing" Target="../drawings/vmlDrawing10.v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oleObject" Target="../embeddings/oleObject10.bin"/></Relationships>
</file>

<file path=ppt/slides/_rels/slide176.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77.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11.vml"/><Relationship Id="rId5" Type="http://schemas.openxmlformats.org/officeDocument/2006/relationships/slideLayout" Target="../slideLayouts/slideLayout1.xml"/><Relationship Id="rId4" Type="http://schemas.openxmlformats.org/officeDocument/2006/relationships/image" Target="../media/image27.emf"/><Relationship Id="rId3" Type="http://schemas.openxmlformats.org/officeDocument/2006/relationships/oleObject" Target="../embeddings/oleObject12.bin"/><Relationship Id="rId2" Type="http://schemas.openxmlformats.org/officeDocument/2006/relationships/image" Target="../media/image26.emf"/><Relationship Id="rId1" Type="http://schemas.openxmlformats.org/officeDocument/2006/relationships/oleObject" Target="../embeddings/oleObject11.bin"/></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8.emf"/></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18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34.wdp"/><Relationship Id="rId1" Type="http://schemas.openxmlformats.org/officeDocument/2006/relationships/image" Target="../media/image33.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baike.baidu.com/view/1053.htm" TargetMode="External"/><Relationship Id="rId1" Type="http://schemas.openxmlformats.org/officeDocument/2006/relationships/hyperlink" Target="http://baike.baidu.com/view/1461738.htm" TargetMode="Externa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38.emf"/><Relationship Id="rId1" Type="http://schemas.openxmlformats.org/officeDocument/2006/relationships/image" Target="../media/image37.emf"/></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39.jpe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baike.baidu.com/view/1053.htm" TargetMode="External"/><Relationship Id="rId1" Type="http://schemas.openxmlformats.org/officeDocument/2006/relationships/hyperlink" Target="http://baike.baidu.com/view/1461738.htm" TargetMode="External"/></Relationships>
</file>

<file path=ppt/slides/_rels/slide25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8.emf"/><Relationship Id="rId1" Type="http://schemas.openxmlformats.org/officeDocument/2006/relationships/image" Target="../media/image37.emf"/></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0.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6.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26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image" Target="../media/image39.jpe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noRot="1" noChangeArrowheads="1"/>
          </p:cNvSpPr>
          <p:nvPr>
            <p:ph type="ctrTitle"/>
          </p:nvPr>
        </p:nvSpPr>
        <p:spPr>
          <a:xfrm>
            <a:off x="228600" y="2895600"/>
            <a:ext cx="883920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仿宋_GB2312" pitchFamily="49" charset="-122"/>
                <a:cs typeface="+mj-cs"/>
              </a:rPr>
              <a:t>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仿宋_GB2312" pitchFamily="49" charset="-122"/>
                <a:cs typeface="+mj-cs"/>
              </a:rPr>
              <a:t>第二章  进程的描述与控制</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2274"/>
                                        </p:tgtEl>
                                        <p:attrNameLst>
                                          <p:attrName>style.visibility</p:attrName>
                                        </p:attrNameLst>
                                      </p:cBhvr>
                                      <p:to>
                                        <p:strVal val="visible"/>
                                      </p:to>
                                    </p:set>
                                    <p:animEffect transition="in" filter="fade">
                                      <p:cBhvr>
                                        <p:cTn id="7" dur="2000"/>
                                        <p:tgtEl>
                                          <p:spTgt spid="18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3"/>
          <p:cNvSpPr>
            <a:spLocks noGrp="1" noRot="1"/>
          </p:cNvSpPr>
          <p:nvPr>
            <p:ph idx="1"/>
          </p:nvPr>
        </p:nvSpPr>
        <p:spPr>
          <a:xfrm>
            <a:off x="2133600" y="758825"/>
            <a:ext cx="6096000" cy="4498975"/>
          </a:xfrm>
          <a:ln/>
        </p:spPr>
        <p:txBody>
          <a:bodyPr vert="horz" wrap="square" lIns="91440" tIns="45720" rIns="91440" bIns="45720" anchor="t" anchorCtr="0"/>
          <a:p>
            <a:pPr eaLnBrk="1" hangingPunct="1"/>
            <a:r>
              <a:rPr lang="en-US" altLang="zh-CN" sz="3600" b="1" dirty="0">
                <a:solidFill>
                  <a:schemeClr val="folHlink"/>
                </a:solidFill>
              </a:rPr>
              <a:t>2.1 </a:t>
            </a:r>
            <a:r>
              <a:rPr lang="zh-CN" altLang="en-US" sz="3600" b="1" dirty="0">
                <a:solidFill>
                  <a:schemeClr val="folHlink"/>
                </a:solidFill>
              </a:rPr>
              <a:t>前趋图和程序执行</a:t>
            </a:r>
            <a:endParaRPr lang="zh-CN" altLang="en-US" sz="3600" b="1" dirty="0">
              <a:solidFill>
                <a:schemeClr val="folHlink"/>
              </a:solidFill>
            </a:endParaRPr>
          </a:p>
          <a:p>
            <a:pPr eaLnBrk="1" hangingPunct="1"/>
            <a:r>
              <a:rPr lang="en-US" altLang="zh-CN" sz="3600" b="1" dirty="0">
                <a:solidFill>
                  <a:schemeClr val="folHlink"/>
                </a:solidFill>
              </a:rPr>
              <a:t>2.2 </a:t>
            </a:r>
            <a:r>
              <a:rPr lang="zh-CN" altLang="en-US" sz="3600" b="1" dirty="0">
                <a:solidFill>
                  <a:schemeClr val="folHlink"/>
                </a:solidFill>
              </a:rPr>
              <a:t>进程的描述</a:t>
            </a:r>
            <a:endParaRPr lang="en-US" altLang="zh-CN" sz="3600" b="1" dirty="0">
              <a:solidFill>
                <a:schemeClr val="folHlink"/>
              </a:solidFill>
            </a:endParaRPr>
          </a:p>
          <a:p>
            <a:pPr eaLnBrk="1" hangingPunct="1"/>
            <a:r>
              <a:rPr lang="en-US" altLang="zh-CN" sz="3600" b="1" dirty="0">
                <a:solidFill>
                  <a:schemeClr val="folHlink"/>
                </a:solidFill>
              </a:rPr>
              <a:t>2.3 </a:t>
            </a:r>
            <a:r>
              <a:rPr lang="zh-CN" altLang="en-US" sz="3600" b="1" dirty="0">
                <a:solidFill>
                  <a:schemeClr val="folHlink"/>
                </a:solidFill>
              </a:rPr>
              <a:t>进程控制</a:t>
            </a:r>
            <a:endParaRPr lang="zh-CN" altLang="en-US" sz="3600" b="1" dirty="0">
              <a:solidFill>
                <a:schemeClr val="folHlink"/>
              </a:solidFill>
            </a:endParaRPr>
          </a:p>
          <a:p>
            <a:pPr eaLnBrk="1" hangingPunct="1"/>
            <a:r>
              <a:rPr lang="en-US" altLang="zh-CN" sz="3600" b="1" dirty="0">
                <a:solidFill>
                  <a:schemeClr val="folHlink"/>
                </a:solidFill>
              </a:rPr>
              <a:t>2.4 </a:t>
            </a:r>
            <a:r>
              <a:rPr lang="zh-CN" altLang="en-US" sz="3600" b="1" dirty="0">
                <a:solidFill>
                  <a:schemeClr val="folHlink"/>
                </a:solidFill>
              </a:rPr>
              <a:t>进程同步</a:t>
            </a:r>
            <a:endParaRPr lang="en-US" altLang="zh-CN" sz="3600" b="1" dirty="0">
              <a:solidFill>
                <a:schemeClr val="folHlink"/>
              </a:solidFill>
            </a:endParaRPr>
          </a:p>
          <a:p>
            <a:pPr eaLnBrk="1" hangingPunct="1"/>
            <a:r>
              <a:rPr lang="en-US" altLang="zh-CN" sz="3600" b="1" dirty="0">
                <a:solidFill>
                  <a:schemeClr val="folHlink"/>
                </a:solidFill>
              </a:rPr>
              <a:t>2.5 </a:t>
            </a:r>
            <a:r>
              <a:rPr lang="zh-CN" altLang="en-US" sz="3600" b="1" dirty="0">
                <a:solidFill>
                  <a:schemeClr val="folHlink"/>
                </a:solidFill>
              </a:rPr>
              <a:t>经典进程的同步问题</a:t>
            </a:r>
            <a:endParaRPr lang="zh-CN" altLang="en-US" sz="3600" b="1" dirty="0">
              <a:solidFill>
                <a:schemeClr val="folHlink"/>
              </a:solidFill>
            </a:endParaRPr>
          </a:p>
          <a:p>
            <a:pPr eaLnBrk="1" hangingPunct="1"/>
            <a:r>
              <a:rPr lang="en-US" altLang="zh-CN" sz="3600" b="1" dirty="0">
                <a:solidFill>
                  <a:schemeClr val="folHlink"/>
                </a:solidFill>
              </a:rPr>
              <a:t>2.6 </a:t>
            </a:r>
            <a:r>
              <a:rPr lang="zh-CN" altLang="en-US" sz="3600" b="1" dirty="0">
                <a:solidFill>
                  <a:schemeClr val="folHlink"/>
                </a:solidFill>
              </a:rPr>
              <a:t>进程通信</a:t>
            </a:r>
            <a:endParaRPr lang="zh-CN" altLang="en-US" sz="3600" b="1" dirty="0">
              <a:solidFill>
                <a:schemeClr val="folHlink"/>
              </a:solidFill>
            </a:endParaRPr>
          </a:p>
          <a:p>
            <a:pPr eaLnBrk="1" hangingPunct="1"/>
            <a:r>
              <a:rPr lang="en-US" altLang="zh-CN" sz="3600" b="1" dirty="0">
                <a:solidFill>
                  <a:schemeClr val="folHlink"/>
                </a:solidFill>
              </a:rPr>
              <a:t>2.7 </a:t>
            </a:r>
            <a:r>
              <a:rPr lang="zh-CN" altLang="en-US" sz="3600" b="1" dirty="0">
                <a:solidFill>
                  <a:schemeClr val="folHlink"/>
                </a:solidFill>
              </a:rPr>
              <a:t>线程的基本概念</a:t>
            </a:r>
            <a:endParaRPr lang="en-US" altLang="zh-CN" sz="3600" b="1" dirty="0">
              <a:solidFill>
                <a:schemeClr val="folHlink"/>
              </a:solidFill>
            </a:endParaRPr>
          </a:p>
          <a:p>
            <a:pPr eaLnBrk="1" hangingPunct="1"/>
            <a:r>
              <a:rPr lang="en-US" altLang="zh-CN" sz="3600" b="1" dirty="0">
                <a:solidFill>
                  <a:schemeClr val="folHlink"/>
                </a:solidFill>
              </a:rPr>
              <a:t>2.8 </a:t>
            </a:r>
            <a:r>
              <a:rPr lang="zh-CN" altLang="en-US" sz="3600" b="1" dirty="0">
                <a:solidFill>
                  <a:schemeClr val="folHlink"/>
                </a:solidFill>
              </a:rPr>
              <a:t>线程的实现</a:t>
            </a:r>
            <a:endParaRPr lang="zh-CN" altLang="en-US" sz="3600" b="1" dirty="0">
              <a:solidFill>
                <a:schemeClr val="folHlink"/>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ext Box 2"/>
          <p:cNvSpPr txBox="1"/>
          <p:nvPr/>
        </p:nvSpPr>
        <p:spPr>
          <a:xfrm>
            <a:off x="3124200" y="685800"/>
            <a:ext cx="2728913"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600" b="1" dirty="0">
                <a:solidFill>
                  <a:srgbClr val="0066FF"/>
                </a:solidFill>
                <a:latin typeface="Times New Roman" panose="02020603050405020304" pitchFamily="18" charset="0"/>
              </a:rPr>
              <a:t>2.1.1 </a:t>
            </a:r>
            <a:r>
              <a:rPr lang="zh-CN" altLang="en-US" sz="3600" b="1" dirty="0">
                <a:solidFill>
                  <a:srgbClr val="0066FF"/>
                </a:solidFill>
                <a:latin typeface="Times New Roman" panose="02020603050405020304" pitchFamily="18" charset="0"/>
              </a:rPr>
              <a:t>前趋图 </a:t>
            </a:r>
            <a:endParaRPr lang="zh-CN" altLang="en-US" sz="3600" b="1" dirty="0">
              <a:solidFill>
                <a:srgbClr val="0066FF"/>
              </a:solidFill>
              <a:latin typeface="Times New Roman" panose="02020603050405020304" pitchFamily="18" charset="0"/>
            </a:endParaRPr>
          </a:p>
        </p:txBody>
      </p:sp>
      <p:sp>
        <p:nvSpPr>
          <p:cNvPr id="492547" name="Text Box 3"/>
          <p:cNvSpPr txBox="1">
            <a:spLocks noChangeArrowheads="1"/>
          </p:cNvSpPr>
          <p:nvPr/>
        </p:nvSpPr>
        <p:spPr bwMode="auto">
          <a:xfrm>
            <a:off x="457200" y="1536700"/>
            <a:ext cx="8305800" cy="5092700"/>
          </a:xfrm>
          <a:prstGeom prst="rect">
            <a:avLst/>
          </a:prstGeom>
          <a:noFill/>
          <a:ln w="9525">
            <a:noFill/>
            <a:miter lim="800000"/>
          </a:ln>
          <a:effectLst/>
        </p:spPr>
        <p:txBody>
          <a:bodyPr>
            <a:spAutoFit/>
          </a:bodyPr>
          <a:lstStyle/>
          <a:p>
            <a:pPr marR="0" algn="just" defTabSz="914400" eaLnBrk="1" hangingPunct="1">
              <a:lnSpc>
                <a:spcPct val="110000"/>
              </a:lnSpc>
              <a:spcBef>
                <a:spcPct val="50000"/>
              </a:spcBef>
              <a:buClrTx/>
              <a:buSzTx/>
              <a:buFontTx/>
              <a:buNone/>
              <a:defRPr/>
            </a:pP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        </a:t>
            </a:r>
            <a:r>
              <a:rPr kumimoji="1" lang="zh-CN" altLang="en-US" sz="2600" b="1" kern="1200" cap="none" spc="0" normalizeH="0" baseline="0" noProof="0" dirty="0">
                <a:latin typeface="Times New Roman" panose="02020603050405020304" pitchFamily="18" charset="0"/>
                <a:ea typeface="宋体" panose="02010600030101010101" pitchFamily="2" charset="-122"/>
                <a:cs typeface="+mn-cs"/>
              </a:rPr>
              <a:t>前趋图</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(Precedence Graph)</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是一个</a:t>
            </a:r>
            <a:r>
              <a:rPr kumimoji="1" lang="zh-CN" altLang="en-US" sz="2600" kern="1200" cap="none" spc="0" normalizeH="0" baseline="0" noProof="0" dirty="0">
                <a:solidFill>
                  <a:srgbClr val="FF0000"/>
                </a:solidFill>
                <a:latin typeface="Times New Roman" panose="02020603050405020304" pitchFamily="18" charset="0"/>
                <a:ea typeface="宋体" panose="02010600030101010101" pitchFamily="2" charset="-122"/>
                <a:cs typeface="+mn-cs"/>
              </a:rPr>
              <a:t>有向无循环图</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，记为</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DAG(Directed Acyclic Graph)</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用于描述进程之间执行的前后关系。</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图中的每个结点可用于描述一个程序段或进程，乃至一条语句；结点间的有向边则用于表示两个结点之间存在的偏序</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(Partial Order)</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或前趋关系</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(Precedence Relation)</a:t>
            </a:r>
            <a:r>
              <a:rPr kumimoji="1" lang="en-US" altLang="zh-CN" sz="2600" kern="1200" cap="none" spc="0" normalizeH="0" baseline="0" noProof="0" dirty="0">
                <a:latin typeface="Courier New" panose="02070309020205020404"/>
                <a:ea typeface="宋体" panose="02010600030101010101" pitchFamily="2" charset="-122"/>
                <a:cs typeface="+mn-cs"/>
              </a:rPr>
              <a:t>“</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sz="2600" kern="1200" cap="none" spc="0" normalizeH="0" baseline="0" noProof="0" dirty="0">
                <a:latin typeface="Courier New" panose="02070309020205020404"/>
                <a:ea typeface="宋体" panose="02010600030101010101" pitchFamily="2" charset="-122"/>
                <a:cs typeface="+mn-cs"/>
              </a:rPr>
              <a:t>”</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a:t>
            </a:r>
            <a:endParaRPr kumimoji="1" lang="zh-CN" altLang="en-US" sz="26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10000"/>
              </a:lnSpc>
              <a:spcBef>
                <a:spcPct val="50000"/>
              </a:spcBef>
              <a:buClrTx/>
              <a:buSzTx/>
              <a:buFontTx/>
              <a:buNone/>
              <a:defRPr/>
            </a:pP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 must complete before </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 may start}, </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如果</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可写成</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i</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，称</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是</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的直接前趋，而称</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是</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的直接后继。</a:t>
            </a:r>
            <a:r>
              <a:rPr kumimoji="1" lang="zh-CN" altLang="en-US"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在前趋图中，把没有前趋的结点称为初始结点</a:t>
            </a:r>
            <a:r>
              <a:rPr kumimoji="1" lang="en-US" altLang="zh-CN"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(Initial Node)</a:t>
            </a:r>
            <a:r>
              <a:rPr kumimoji="1" lang="zh-CN" altLang="en-US"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，把没有后继的结点称为终止结点</a:t>
            </a:r>
            <a:r>
              <a:rPr kumimoji="1" lang="en-US" altLang="zh-CN"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(Final Node)</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a:t>
            </a:r>
            <a:endParaRPr kumimoji="1" lang="zh-CN" altLang="en-US" sz="2600" kern="1200" cap="none" spc="0" normalizeH="0" baseline="0" noProof="0" dirty="0">
              <a:latin typeface="Times New Roman" panose="02020603050405020304" pitchFamily="18" charset="0"/>
              <a:ea typeface="宋体" panose="02010600030101010101" pitchFamily="2" charset="-122"/>
              <a:cs typeface="+mn-cs"/>
            </a:endParaRPr>
          </a:p>
        </p:txBody>
      </p:sp>
      <p:sp>
        <p:nvSpPr>
          <p:cNvPr id="6148" name="Text Box 4"/>
          <p:cNvSpPr txBox="1"/>
          <p:nvPr/>
        </p:nvSpPr>
        <p:spPr>
          <a:xfrm>
            <a:off x="3276600" y="735013"/>
            <a:ext cx="1841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b="1" dirty="0">
              <a:latin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2"/>
          <p:cNvSpPr txBox="1"/>
          <p:nvPr/>
        </p:nvSpPr>
        <p:spPr>
          <a:xfrm>
            <a:off x="685800" y="609600"/>
            <a:ext cx="7924800" cy="1041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30000"/>
              </a:lnSpc>
              <a:spcBef>
                <a:spcPct val="50000"/>
              </a:spcBef>
              <a:buClrTx/>
              <a:buSzTx/>
              <a:buFontTx/>
              <a:buNone/>
            </a:pPr>
            <a:r>
              <a:rPr lang="zh-CN" altLang="en-US" sz="2400" b="1" dirty="0">
                <a:latin typeface="Times New Roman" panose="02020603050405020304" pitchFamily="18" charset="0"/>
              </a:rPr>
              <a:t>       每个结点还具有一个重量</a:t>
            </a:r>
            <a:r>
              <a:rPr lang="en-US" altLang="zh-CN" sz="2400" b="1" dirty="0">
                <a:latin typeface="Times New Roman" panose="02020603050405020304" pitchFamily="18" charset="0"/>
              </a:rPr>
              <a:t>(Weight)</a:t>
            </a:r>
            <a:r>
              <a:rPr lang="zh-CN" altLang="en-US" sz="2400" b="1" dirty="0">
                <a:latin typeface="Times New Roman" panose="02020603050405020304" pitchFamily="18" charset="0"/>
              </a:rPr>
              <a:t>，用于表示该结点所含有的程序量或结点的执行时间。 </a:t>
            </a:r>
            <a:endParaRPr lang="zh-CN" altLang="en-US" sz="2400" b="1" dirty="0">
              <a:latin typeface="Times New Roman" panose="02020603050405020304" pitchFamily="18" charset="0"/>
            </a:endParaRPr>
          </a:p>
        </p:txBody>
      </p:sp>
      <p:sp>
        <p:nvSpPr>
          <p:cNvPr id="7171" name="Text Box 3"/>
          <p:cNvSpPr txBox="1"/>
          <p:nvPr/>
        </p:nvSpPr>
        <p:spPr>
          <a:xfrm>
            <a:off x="2971800" y="1828800"/>
            <a:ext cx="32194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I</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i</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3 </a:t>
            </a:r>
            <a:endParaRPr lang="en-US" altLang="zh-CN" sz="2400" b="1" baseline="-25000" dirty="0">
              <a:latin typeface="Times New Roman" panose="02020603050405020304" pitchFamily="18" charset="0"/>
            </a:endParaRPr>
          </a:p>
        </p:txBody>
      </p:sp>
      <p:sp>
        <p:nvSpPr>
          <p:cNvPr id="7172" name="Text Box 4"/>
          <p:cNvSpPr txBox="1"/>
          <p:nvPr/>
        </p:nvSpPr>
        <p:spPr>
          <a:xfrm>
            <a:off x="3657600" y="6400800"/>
            <a:ext cx="2038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latin typeface="Times New Roman" panose="02020603050405020304" pitchFamily="18" charset="0"/>
              </a:rPr>
              <a:t>图 </a:t>
            </a:r>
            <a:r>
              <a:rPr lang="en-US" altLang="zh-CN" sz="2400" b="1" dirty="0">
                <a:latin typeface="Times New Roman" panose="02020603050405020304" pitchFamily="18" charset="0"/>
              </a:rPr>
              <a:t>2-2 </a:t>
            </a:r>
            <a:r>
              <a:rPr lang="zh-CN" altLang="en-US" sz="2400" b="1" dirty="0">
                <a:latin typeface="Times New Roman" panose="02020603050405020304" pitchFamily="18" charset="0"/>
              </a:rPr>
              <a:t>前趋图 </a:t>
            </a:r>
            <a:endParaRPr lang="zh-CN" altLang="en-US" sz="2400" b="1" dirty="0">
              <a:latin typeface="Times New Roman" panose="02020603050405020304" pitchFamily="18" charset="0"/>
            </a:endParaRPr>
          </a:p>
        </p:txBody>
      </p:sp>
      <p:graphicFrame>
        <p:nvGraphicFramePr>
          <p:cNvPr id="7173" name="Object 5"/>
          <p:cNvGraphicFramePr>
            <a:graphicFrameLocks noChangeAspect="1"/>
          </p:cNvGraphicFramePr>
          <p:nvPr/>
        </p:nvGraphicFramePr>
        <p:xfrm>
          <a:off x="914400" y="2362200"/>
          <a:ext cx="8001000" cy="4103688"/>
        </p:xfrm>
        <a:graphic>
          <a:graphicData uri="http://schemas.openxmlformats.org/presentationml/2006/ole">
            <mc:AlternateContent xmlns:mc="http://schemas.openxmlformats.org/markup-compatibility/2006">
              <mc:Choice xmlns:v="urn:schemas-microsoft-com:vml" Requires="v">
                <p:oleObj spid="_x0000_s3079" name="" r:id="rId1" imgW="3421380" imgH="1760220" progId="Visio.Drawing.4">
                  <p:embed/>
                </p:oleObj>
              </mc:Choice>
              <mc:Fallback>
                <p:oleObj name="" r:id="rId1" imgW="3421380" imgH="1760220" progId="Visio.Drawing.4">
                  <p:embed/>
                  <p:pic>
                    <p:nvPicPr>
                      <p:cNvPr id="0" name="图片 3078"/>
                      <p:cNvPicPr/>
                      <p:nvPr/>
                    </p:nvPicPr>
                    <p:blipFill>
                      <a:blip r:embed="rId2"/>
                      <a:stretch>
                        <a:fillRect/>
                      </a:stretch>
                    </p:blipFill>
                    <p:spPr>
                      <a:xfrm>
                        <a:off x="914400" y="2362200"/>
                        <a:ext cx="8001000" cy="4103688"/>
                      </a:xfrm>
                      <a:prstGeom prst="rect">
                        <a:avLst/>
                      </a:prstGeom>
                      <a:noFill/>
                      <a:ln w="38100">
                        <a:noFill/>
                        <a:miter/>
                      </a:ln>
                    </p:spPr>
                  </p:pic>
                </p:oleObj>
              </mc:Fallback>
            </mc:AlternateContent>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2"/>
          <p:cNvSpPr txBox="1"/>
          <p:nvPr/>
        </p:nvSpPr>
        <p:spPr>
          <a:xfrm>
            <a:off x="838200" y="685800"/>
            <a:ext cx="6965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对于图 </a:t>
            </a:r>
            <a:r>
              <a:rPr lang="en-US" altLang="zh-CN" sz="2400" dirty="0">
                <a:latin typeface="Times New Roman" panose="02020603050405020304" pitchFamily="18" charset="0"/>
              </a:rPr>
              <a:t>2-2(</a:t>
            </a:r>
            <a:r>
              <a:rPr lang="en-US" altLang="zh-CN" sz="2400" i="1" dirty="0">
                <a:latin typeface="Times New Roman" panose="02020603050405020304" pitchFamily="18" charset="0"/>
              </a:rPr>
              <a:t>a</a:t>
            </a:r>
            <a:r>
              <a:rPr lang="en-US" altLang="zh-CN" sz="2400" dirty="0">
                <a:latin typeface="Times New Roman" panose="02020603050405020304" pitchFamily="18" charset="0"/>
              </a:rPr>
              <a:t>)</a:t>
            </a:r>
            <a:r>
              <a:rPr lang="zh-CN" altLang="en-US" sz="2400" dirty="0">
                <a:latin typeface="Times New Roman" panose="02020603050405020304" pitchFamily="18" charset="0"/>
              </a:rPr>
              <a:t>所示的前趋图， 存在下述前趋关系： </a:t>
            </a:r>
            <a:endParaRPr lang="zh-CN" altLang="en-US" sz="2400" dirty="0">
              <a:latin typeface="Times New Roman" panose="02020603050405020304" pitchFamily="18" charset="0"/>
            </a:endParaRPr>
          </a:p>
        </p:txBody>
      </p:sp>
      <p:sp>
        <p:nvSpPr>
          <p:cNvPr id="494595" name="Text Box 3"/>
          <p:cNvSpPr txBox="1">
            <a:spLocks noChangeArrowheads="1"/>
          </p:cNvSpPr>
          <p:nvPr/>
        </p:nvSpPr>
        <p:spPr bwMode="auto">
          <a:xfrm>
            <a:off x="457200" y="990600"/>
            <a:ext cx="8305800" cy="5521325"/>
          </a:xfrm>
          <a:prstGeom prst="rect">
            <a:avLst/>
          </a:prstGeom>
          <a:noFill/>
          <a:ln w="9525">
            <a:noFill/>
            <a:miter lim="800000"/>
          </a:ln>
          <a:effectLst/>
        </p:spPr>
        <p:txBody>
          <a:bodyPr>
            <a:spAutoFit/>
          </a:bodyPr>
          <a:lstStyle/>
          <a:p>
            <a:pPr marR="0" algn="just" defTabSz="914400" eaLnBrk="1" hangingPunct="1">
              <a:lnSpc>
                <a:spcPct val="130000"/>
              </a:lnSpc>
              <a:spcBef>
                <a:spcPct val="50000"/>
              </a:spcBef>
              <a:buClrTx/>
              <a:buSzTx/>
              <a:buFontTx/>
              <a:buNone/>
              <a:defRPr/>
            </a:pP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或表示为：</a:t>
            </a:r>
            <a:endParaRPr kumimoji="1" lang="zh-CN" altLang="en-US"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应当注意，</a:t>
            </a:r>
            <a:r>
              <a:rPr kumimoji="1" lang="zh-CN" altLang="en-US" sz="2400" b="1"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前趋图中必须不存在循环</a:t>
            </a:r>
            <a:r>
              <a:rPr kumimoji="1" lang="zh-CN" altLang="en-US" sz="2400" kern="1200" cap="none" spc="0" normalizeH="0" baseline="0" noProof="0" dirty="0">
                <a:solidFill>
                  <a:srgbClr val="FF0000"/>
                </a:solidFill>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但在图</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2-2(</a:t>
            </a:r>
            <a:r>
              <a:rPr kumimoji="1" lang="en-US" altLang="zh-CN" sz="2400" i="1" kern="1200" cap="none" spc="0" normalizeH="0" baseline="0" noProof="0" dirty="0">
                <a:latin typeface="Times New Roman" panose="02020603050405020304" pitchFamily="18" charset="0"/>
                <a:ea typeface="宋体" panose="02010600030101010101" pitchFamily="2" charset="-122"/>
                <a:cs typeface="+mn-cs"/>
              </a:rPr>
              <a:t>b</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中却有着下述的前趋关系：</a:t>
            </a:r>
            <a:endParaRPr kumimoji="1" lang="zh-CN" altLang="en-US" sz="2400" kern="1200" cap="none" spc="0" normalizeH="0" baseline="0" noProof="0" dirty="0">
              <a:latin typeface="Times New Roman" panose="02020603050405020304" pitchFamily="18" charset="0"/>
              <a:ea typeface="宋体" panose="02010600030101010101" pitchFamily="2" charset="-122"/>
              <a:cs typeface="+mn-cs"/>
            </a:endParaRPr>
          </a:p>
          <a:p>
            <a:pPr marR="0" algn="ctr" defTabSz="914400" eaLnBrk="1" hangingPunct="1">
              <a:lnSpc>
                <a:spcPct val="130000"/>
              </a:lnSpc>
              <a:spcBef>
                <a:spcPct val="50000"/>
              </a:spcBef>
              <a:buClrTx/>
              <a:buSzTx/>
              <a:buFontTx/>
              <a:buNone/>
              <a:defRPr/>
            </a:pP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S</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→S</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S</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→S</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424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hlink"/>
                </a:solidFill>
                <a:effectLst>
                  <a:outerShdw blurRad="38100" dist="38100" dir="2700000" algn="tl">
                    <a:srgbClr val="C0C0C0"/>
                  </a:outerShdw>
                </a:effectLst>
                <a:uLnTx/>
                <a:uFillTx/>
                <a:latin typeface="+mj-lt"/>
                <a:ea typeface="+mj-ea"/>
                <a:cs typeface="+mj-cs"/>
              </a:rPr>
              <a:t>2.1.2 </a:t>
            </a:r>
            <a:r>
              <a:rPr kumimoji="0" lang="zh-CN" altLang="en-US" sz="4400" b="1" i="0" u="none" strike="noStrike" kern="0" cap="none" spc="0" normalizeH="0" baseline="0" noProof="0" dirty="0" smtClean="0">
                <a:ln>
                  <a:noFill/>
                </a:ln>
                <a:solidFill>
                  <a:schemeClr val="hlink"/>
                </a:solidFill>
                <a:effectLst>
                  <a:outerShdw blurRad="38100" dist="38100" dir="2700000" algn="tl">
                    <a:srgbClr val="C0C0C0"/>
                  </a:outerShdw>
                </a:effectLst>
                <a:uLnTx/>
                <a:uFillTx/>
                <a:latin typeface="+mj-lt"/>
                <a:ea typeface="+mj-ea"/>
                <a:cs typeface="+mj-cs"/>
              </a:rPr>
              <a:t>程序顺序执行</a:t>
            </a:r>
            <a:endParaRPr kumimoji="0" lang="zh-CN" altLang="en-US" sz="4400" b="1" i="0" u="none" strike="noStrike" kern="0" cap="none" spc="0" normalizeH="0" baseline="0" noProof="0" dirty="0" smtClean="0">
              <a:ln>
                <a:noFill/>
              </a:ln>
              <a:solidFill>
                <a:schemeClr val="hlink"/>
              </a:solidFill>
              <a:effectLst>
                <a:outerShdw blurRad="38100" dist="38100" dir="2700000" algn="tl">
                  <a:srgbClr val="C0C0C0"/>
                </a:outerShdw>
              </a:effectLst>
              <a:uLnTx/>
              <a:uFillTx/>
              <a:latin typeface="+mj-lt"/>
              <a:ea typeface="+mj-ea"/>
              <a:cs typeface="+mj-cs"/>
            </a:endParaRPr>
          </a:p>
        </p:txBody>
      </p:sp>
      <p:sp>
        <p:nvSpPr>
          <p:cNvPr id="1028" name="Rectangle 3"/>
          <p:cNvSpPr>
            <a:spLocks noGrp="1" noRot="1"/>
          </p:cNvSpPr>
          <p:nvPr>
            <p:ph type="body" sz="half"/>
          </p:nvPr>
        </p:nvSpPr>
        <p:spPr>
          <a:xfrm>
            <a:off x="301625" y="1600200"/>
            <a:ext cx="4833938" cy="4498975"/>
          </a:xfrm>
          <a:ln/>
        </p:spPr>
        <p:txBody>
          <a:bodyPr vert="horz" wrap="square" lIns="91440" tIns="45720" rIns="91440" bIns="45720" anchor="t" anchorCtr="0"/>
          <a:lstStyle>
            <a:lvl1pPr lvl="0">
              <a:buClr>
                <a:schemeClr val="folHlink"/>
              </a:buClr>
              <a:buSzPct val="85000"/>
              <a:buFont typeface="Wingdings 2" panose="05020102010507070707" pitchFamily="18" charset="2"/>
              <a:defRPr sz="2800"/>
            </a:lvl1pPr>
            <a:lvl2pPr lvl="1">
              <a:buClr>
                <a:schemeClr val="hlink"/>
              </a:buClr>
              <a:buSzPct val="85000"/>
              <a:buFont typeface="Wingdings" panose="05000000000000000000" pitchFamily="2" charset="2"/>
              <a:defRPr sz="2400"/>
            </a:lvl2pPr>
            <a:lvl3pPr lvl="2">
              <a:buClr>
                <a:schemeClr val="folHlink"/>
              </a:buClr>
              <a:buSzPct val="90000"/>
              <a:buFont typeface="Wingdings 2" panose="05020102010507070707" pitchFamily="18" charset="2"/>
              <a:defRPr sz="2000"/>
            </a:lvl3pPr>
            <a:lvl4pPr lvl="3">
              <a:buClr>
                <a:schemeClr val="hlink"/>
              </a:buClr>
              <a:buSzPct val="90000"/>
              <a:buFont typeface="Wingdings" panose="05000000000000000000" pitchFamily="2" charset="2"/>
              <a:defRPr sz="1800"/>
            </a:lvl4pPr>
            <a:lvl5pPr lvl="4">
              <a:buClr>
                <a:schemeClr val="folHlink"/>
              </a:buClr>
              <a:buSzPct val="90000"/>
              <a:buFont typeface="Wingdings 2" panose="05020102010507070707" pitchFamily="18" charset="2"/>
              <a:defRPr sz="1800"/>
            </a:lvl5pPr>
          </a:lstStyle>
          <a:p>
            <a:pPr lvl="0" eaLnBrk="1" hangingPunct="1"/>
            <a:r>
              <a:rPr lang="en-US" altLang="zh-CN" sz="3200" b="1" dirty="0">
                <a:solidFill>
                  <a:srgbClr val="00B050"/>
                </a:solidFill>
              </a:rPr>
              <a:t>1</a:t>
            </a:r>
            <a:r>
              <a:rPr lang="zh-CN" altLang="en-US" sz="3200" b="1" dirty="0">
                <a:solidFill>
                  <a:srgbClr val="00B050"/>
                </a:solidFill>
              </a:rPr>
              <a:t>．程序的顺序执行</a:t>
            </a:r>
            <a:endParaRPr lang="zh-CN" altLang="en-US" sz="3200" b="1" dirty="0">
              <a:solidFill>
                <a:srgbClr val="00B050"/>
              </a:solidFill>
            </a:endParaRPr>
          </a:p>
          <a:p>
            <a:pPr lvl="0" eaLnBrk="1" hangingPunct="1">
              <a:buNone/>
            </a:pPr>
            <a:r>
              <a:rPr lang="zh-CN" altLang="en-US" dirty="0"/>
              <a:t>	例子：</a:t>
            </a:r>
            <a:endParaRPr lang="zh-CN" altLang="en-US" dirty="0"/>
          </a:p>
          <a:p>
            <a:pPr lvl="0" eaLnBrk="1" hangingPunct="1">
              <a:buNone/>
            </a:pPr>
            <a:r>
              <a:rPr lang="zh-CN" altLang="en-US" dirty="0"/>
              <a:t>	</a:t>
            </a:r>
            <a:r>
              <a:rPr lang="en-US" altLang="zh-CN" dirty="0"/>
              <a:t>S1</a:t>
            </a:r>
            <a:r>
              <a:rPr lang="zh-CN" altLang="en-US" dirty="0"/>
              <a:t>：</a:t>
            </a:r>
            <a:r>
              <a:rPr lang="en-US" altLang="zh-CN" dirty="0"/>
              <a:t>a</a:t>
            </a:r>
            <a:r>
              <a:rPr lang="zh-CN" altLang="en-US" dirty="0"/>
              <a:t>： ＝ </a:t>
            </a:r>
            <a:r>
              <a:rPr lang="en-US" altLang="zh-CN" dirty="0"/>
              <a:t>x+y</a:t>
            </a:r>
            <a:r>
              <a:rPr lang="zh-CN" altLang="en-US" dirty="0"/>
              <a:t>；</a:t>
            </a:r>
            <a:endParaRPr lang="zh-CN" altLang="en-US" dirty="0"/>
          </a:p>
          <a:p>
            <a:pPr lvl="0" eaLnBrk="1" hangingPunct="1">
              <a:buNone/>
            </a:pPr>
            <a:r>
              <a:rPr lang="zh-CN" altLang="en-US" dirty="0"/>
              <a:t>	</a:t>
            </a:r>
            <a:r>
              <a:rPr lang="en-US" altLang="zh-CN" dirty="0"/>
              <a:t>S2</a:t>
            </a:r>
            <a:r>
              <a:rPr lang="zh-CN" altLang="en-US" dirty="0"/>
              <a:t>：</a:t>
            </a:r>
            <a:r>
              <a:rPr lang="en-US" altLang="zh-CN" dirty="0"/>
              <a:t>b</a:t>
            </a:r>
            <a:r>
              <a:rPr lang="zh-CN" altLang="en-US" dirty="0"/>
              <a:t>： ＝ </a:t>
            </a:r>
            <a:r>
              <a:rPr lang="en-US" altLang="zh-CN" dirty="0"/>
              <a:t>a-5</a:t>
            </a:r>
            <a:r>
              <a:rPr lang="zh-CN" altLang="en-US" dirty="0"/>
              <a:t>；</a:t>
            </a:r>
            <a:endParaRPr lang="zh-CN" altLang="en-US" dirty="0"/>
          </a:p>
          <a:p>
            <a:pPr lvl="0" eaLnBrk="1" hangingPunct="1">
              <a:buNone/>
            </a:pPr>
            <a:r>
              <a:rPr lang="zh-CN" altLang="en-US" dirty="0"/>
              <a:t>	</a:t>
            </a:r>
            <a:r>
              <a:rPr lang="en-US" altLang="zh-CN" dirty="0"/>
              <a:t>S3</a:t>
            </a:r>
            <a:r>
              <a:rPr lang="zh-CN" altLang="en-US" dirty="0"/>
              <a:t>：</a:t>
            </a:r>
            <a:r>
              <a:rPr lang="en-US" altLang="zh-CN" dirty="0"/>
              <a:t>c</a:t>
            </a:r>
            <a:r>
              <a:rPr lang="zh-CN" altLang="en-US" dirty="0"/>
              <a:t>： ＝ </a:t>
            </a:r>
            <a:r>
              <a:rPr lang="en-US" altLang="zh-CN" dirty="0"/>
              <a:t>b+1</a:t>
            </a:r>
            <a:r>
              <a:rPr lang="zh-CN" altLang="en-US" dirty="0"/>
              <a:t>；</a:t>
            </a:r>
            <a:endParaRPr lang="zh-CN" altLang="en-US" dirty="0"/>
          </a:p>
        </p:txBody>
      </p:sp>
      <p:graphicFrame>
        <p:nvGraphicFramePr>
          <p:cNvPr id="9220" name="Object 4"/>
          <p:cNvGraphicFramePr>
            <a:graphicFrameLocks noChangeAspect="1"/>
          </p:cNvGraphicFramePr>
          <p:nvPr>
            <p:ph sz="half" idx="1"/>
          </p:nvPr>
        </p:nvGraphicFramePr>
        <p:xfrm>
          <a:off x="228600" y="4495800"/>
          <a:ext cx="8458200" cy="1700213"/>
        </p:xfrm>
        <a:graphic>
          <a:graphicData uri="http://schemas.openxmlformats.org/presentationml/2006/ole">
            <mc:AlternateContent xmlns:mc="http://schemas.openxmlformats.org/markup-compatibility/2006">
              <mc:Choice xmlns:v="urn:schemas-microsoft-com:vml" Requires="v">
                <p:oleObj spid="_x0000_s3077" name="" r:id="rId1" imgW="5507355" imgH="3357245" progId="WangImage.Document">
                  <p:embed/>
                </p:oleObj>
              </mc:Choice>
              <mc:Fallback>
                <p:oleObj name="" r:id="rId1" imgW="5507355" imgH="3357245" progId="WangImage.Document">
                  <p:embed/>
                  <p:pic>
                    <p:nvPicPr>
                      <p:cNvPr id="0" name="图片 3076"/>
                      <p:cNvPicPr/>
                      <p:nvPr/>
                    </p:nvPicPr>
                    <p:blipFill>
                      <a:blip r:embed="rId2"/>
                      <a:srcRect/>
                      <a:stretch>
                        <a:fillRect/>
                      </a:stretch>
                    </p:blipFill>
                    <p:spPr>
                      <a:xfrm>
                        <a:off x="228600" y="4495800"/>
                        <a:ext cx="8458200" cy="1700213"/>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4242"/>
                                        </p:tgtEl>
                                        <p:attrNameLst>
                                          <p:attrName>style.visibility</p:attrName>
                                        </p:attrNameLst>
                                      </p:cBhvr>
                                      <p:to>
                                        <p:strVal val="visible"/>
                                      </p:to>
                                    </p:set>
                                    <p:animEffect transition="in" filter="fade">
                                      <p:cBhvr>
                                        <p:cTn id="7" dur="2000"/>
                                        <p:tgtEl>
                                          <p:spTgt spid="3942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8">
                                            <p:txEl>
                                              <p:charRg st="0" end="10"/>
                                            </p:txEl>
                                          </p:spTgt>
                                        </p:tgtEl>
                                        <p:attrNameLst>
                                          <p:attrName>style.visibility</p:attrName>
                                        </p:attrNameLst>
                                      </p:cBhvr>
                                      <p:to>
                                        <p:strVal val="visible"/>
                                      </p:to>
                                    </p:set>
                                    <p:animEffect transition="in" filter="fade">
                                      <p:cBhvr>
                                        <p:cTn id="12" dur="2000"/>
                                        <p:tgtEl>
                                          <p:spTgt spid="1028">
                                            <p:txEl>
                                              <p:charRg st="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8">
                                            <p:txEl>
                                              <p:charRg st="10" end="15"/>
                                            </p:txEl>
                                          </p:spTgt>
                                        </p:tgtEl>
                                        <p:attrNameLst>
                                          <p:attrName>style.visibility</p:attrName>
                                        </p:attrNameLst>
                                      </p:cBhvr>
                                      <p:to>
                                        <p:strVal val="visible"/>
                                      </p:to>
                                    </p:set>
                                    <p:animEffect transition="in" filter="fade">
                                      <p:cBhvr>
                                        <p:cTn id="17" dur="2000"/>
                                        <p:tgtEl>
                                          <p:spTgt spid="1028">
                                            <p:txEl>
                                              <p:charRg st="10" end="1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8">
                                            <p:txEl>
                                              <p:charRg st="15" end="29"/>
                                            </p:txEl>
                                          </p:spTgt>
                                        </p:tgtEl>
                                        <p:attrNameLst>
                                          <p:attrName>style.visibility</p:attrName>
                                        </p:attrNameLst>
                                      </p:cBhvr>
                                      <p:to>
                                        <p:strVal val="visible"/>
                                      </p:to>
                                    </p:set>
                                    <p:animEffect transition="in" filter="fade">
                                      <p:cBhvr>
                                        <p:cTn id="22" dur="2000"/>
                                        <p:tgtEl>
                                          <p:spTgt spid="1028">
                                            <p:txEl>
                                              <p:charRg st="15" end="2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8">
                                            <p:txEl>
                                              <p:charRg st="29" end="43"/>
                                            </p:txEl>
                                          </p:spTgt>
                                        </p:tgtEl>
                                        <p:attrNameLst>
                                          <p:attrName>style.visibility</p:attrName>
                                        </p:attrNameLst>
                                      </p:cBhvr>
                                      <p:to>
                                        <p:strVal val="visible"/>
                                      </p:to>
                                    </p:set>
                                    <p:animEffect transition="in" filter="fade">
                                      <p:cBhvr>
                                        <p:cTn id="27" dur="2000"/>
                                        <p:tgtEl>
                                          <p:spTgt spid="1028">
                                            <p:txEl>
                                              <p:charRg st="29" end="4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28">
                                            <p:txEl>
                                              <p:charRg st="43" end="57"/>
                                            </p:txEl>
                                          </p:spTgt>
                                        </p:tgtEl>
                                        <p:attrNameLst>
                                          <p:attrName>style.visibility</p:attrName>
                                        </p:attrNameLst>
                                      </p:cBhvr>
                                      <p:to>
                                        <p:strVal val="visible"/>
                                      </p:to>
                                    </p:set>
                                    <p:animEffect transition="in" filter="fade">
                                      <p:cBhvr>
                                        <p:cTn id="32" dur="2000"/>
                                        <p:tgtEl>
                                          <p:spTgt spid="1028">
                                            <p:txEl>
                                              <p:charRg st="43" end="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2" grpId="0"/>
      <p:bldP spid="102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noRot="1"/>
          </p:cNvSpPr>
          <p:nvPr>
            <p:ph idx="1"/>
          </p:nvPr>
        </p:nvSpPr>
        <p:spPr>
          <a:xfrm>
            <a:off x="457200" y="304800"/>
            <a:ext cx="8229600" cy="5514975"/>
          </a:xfrm>
          <a:ln/>
        </p:spPr>
        <p:txBody>
          <a:bodyPr vert="horz" wrap="square" lIns="91440" tIns="45720" rIns="91440" bIns="45720" anchor="t" anchorCtr="0"/>
          <a:p>
            <a:pPr algn="just" eaLnBrk="1" hangingPunct="1">
              <a:buNone/>
            </a:pPr>
            <a:r>
              <a:rPr lang="en-US" altLang="zh-CN" sz="3600" b="1" dirty="0">
                <a:solidFill>
                  <a:srgbClr val="00B050"/>
                </a:solidFill>
                <a:latin typeface="仿宋_GB2312" pitchFamily="49" charset="-122"/>
                <a:ea typeface="仿宋_GB2312" pitchFamily="49" charset="-122"/>
              </a:rPr>
              <a:t>2</a:t>
            </a:r>
            <a:r>
              <a:rPr lang="zh-CN" altLang="en-US" sz="3600" b="1" dirty="0">
                <a:solidFill>
                  <a:srgbClr val="00B050"/>
                </a:solidFill>
                <a:latin typeface="仿宋_GB2312" pitchFamily="49" charset="-122"/>
                <a:ea typeface="仿宋_GB2312" pitchFamily="49" charset="-122"/>
              </a:rPr>
              <a:t>．程序顺序执行时的特征</a:t>
            </a:r>
            <a:endParaRPr lang="en-US" altLang="zh-CN" sz="3600" b="1" dirty="0">
              <a:solidFill>
                <a:srgbClr val="00B050"/>
              </a:solidFill>
              <a:latin typeface="仿宋_GB2312" pitchFamily="49" charset="-122"/>
              <a:ea typeface="仿宋_GB2312" pitchFamily="49" charset="-122"/>
            </a:endParaRPr>
          </a:p>
          <a:p>
            <a:pPr algn="just" eaLnBrk="1" hangingPunct="1">
              <a:buNone/>
            </a:pPr>
            <a:endParaRPr lang="zh-CN" altLang="en-US" sz="3600" b="1" dirty="0">
              <a:solidFill>
                <a:srgbClr val="00B050"/>
              </a:solidFill>
              <a:latin typeface="仿宋_GB2312" pitchFamily="49" charset="-122"/>
              <a:ea typeface="仿宋_GB2312" pitchFamily="49" charset="-122"/>
            </a:endParaRPr>
          </a:p>
          <a:p>
            <a:pPr algn="just" eaLnBrk="1" hangingPunct="1">
              <a:buNone/>
            </a:pPr>
            <a:r>
              <a:rPr lang="zh-CN" altLang="en-US" b="1" dirty="0">
                <a:solidFill>
                  <a:srgbClr val="FF0000"/>
                </a:solidFill>
                <a:latin typeface="仿宋_GB2312" pitchFamily="49" charset="-122"/>
                <a:ea typeface="仿宋_GB2312" pitchFamily="49" charset="-122"/>
              </a:rPr>
              <a:t>（</a:t>
            </a:r>
            <a:r>
              <a:rPr lang="en-US" altLang="zh-CN" b="1" dirty="0">
                <a:solidFill>
                  <a:srgbClr val="FF0000"/>
                </a:solidFill>
                <a:latin typeface="仿宋_GB2312" pitchFamily="49" charset="-122"/>
                <a:ea typeface="仿宋_GB2312" pitchFamily="49" charset="-122"/>
              </a:rPr>
              <a:t>1</a:t>
            </a:r>
            <a:r>
              <a:rPr lang="zh-CN" altLang="en-US" b="1" dirty="0">
                <a:solidFill>
                  <a:srgbClr val="FF0000"/>
                </a:solidFill>
                <a:latin typeface="仿宋_GB2312" pitchFamily="49" charset="-122"/>
                <a:ea typeface="仿宋_GB2312" pitchFamily="49" charset="-122"/>
              </a:rPr>
              <a:t>）顺序性</a:t>
            </a:r>
            <a:r>
              <a:rPr lang="zh-CN" altLang="en-US" b="1" dirty="0">
                <a:latin typeface="仿宋_GB2312" pitchFamily="49" charset="-122"/>
                <a:ea typeface="仿宋_GB2312" pitchFamily="49" charset="-122"/>
              </a:rPr>
              <a:t>：处理机的操作严格按照程序所规定的顺序执行。</a:t>
            </a:r>
            <a:endParaRPr lang="zh-CN" altLang="en-US" b="1" dirty="0">
              <a:latin typeface="仿宋_GB2312" pitchFamily="49" charset="-122"/>
              <a:ea typeface="仿宋_GB2312" pitchFamily="49" charset="-122"/>
            </a:endParaRPr>
          </a:p>
          <a:p>
            <a:pPr algn="just" eaLnBrk="1" hangingPunct="1">
              <a:buNone/>
            </a:pPr>
            <a:r>
              <a:rPr lang="zh-CN" altLang="en-US" b="1" dirty="0">
                <a:solidFill>
                  <a:srgbClr val="FF0000"/>
                </a:solidFill>
                <a:latin typeface="仿宋_GB2312" pitchFamily="49" charset="-122"/>
                <a:ea typeface="仿宋_GB2312" pitchFamily="49" charset="-122"/>
              </a:rPr>
              <a:t>（</a:t>
            </a:r>
            <a:r>
              <a:rPr lang="en-US" altLang="zh-CN" b="1" dirty="0">
                <a:solidFill>
                  <a:srgbClr val="FF0000"/>
                </a:solidFill>
                <a:latin typeface="仿宋_GB2312" pitchFamily="49" charset="-122"/>
                <a:ea typeface="仿宋_GB2312" pitchFamily="49" charset="-122"/>
              </a:rPr>
              <a:t>2</a:t>
            </a:r>
            <a:r>
              <a:rPr lang="zh-CN" altLang="en-US" b="1" dirty="0">
                <a:solidFill>
                  <a:srgbClr val="FF0000"/>
                </a:solidFill>
                <a:latin typeface="仿宋_GB2312" pitchFamily="49" charset="-122"/>
                <a:ea typeface="仿宋_GB2312" pitchFamily="49" charset="-122"/>
              </a:rPr>
              <a:t>）封闭性</a:t>
            </a:r>
            <a:r>
              <a:rPr lang="zh-CN" altLang="en-US" b="1" dirty="0">
                <a:latin typeface="仿宋_GB2312" pitchFamily="49" charset="-122"/>
                <a:ea typeface="仿宋_GB2312" pitchFamily="49" charset="-122"/>
              </a:rPr>
              <a:t>：程序运行时独占全机资源，程序一旦开始执行，其执行结果不受外界因素影响。</a:t>
            </a:r>
            <a:endParaRPr lang="zh-CN" altLang="en-US" b="1" dirty="0">
              <a:latin typeface="仿宋_GB2312" pitchFamily="49" charset="-122"/>
              <a:ea typeface="仿宋_GB2312" pitchFamily="49" charset="-122"/>
            </a:endParaRPr>
          </a:p>
          <a:p>
            <a:pPr algn="just" eaLnBrk="1" hangingPunct="1">
              <a:buNone/>
            </a:pPr>
            <a:r>
              <a:rPr lang="zh-CN" altLang="en-US" b="1" dirty="0">
                <a:solidFill>
                  <a:srgbClr val="FF0000"/>
                </a:solidFill>
                <a:latin typeface="仿宋_GB2312" pitchFamily="49" charset="-122"/>
                <a:ea typeface="仿宋_GB2312" pitchFamily="49" charset="-122"/>
              </a:rPr>
              <a:t>（</a:t>
            </a:r>
            <a:r>
              <a:rPr lang="en-US" altLang="zh-CN" b="1" dirty="0">
                <a:solidFill>
                  <a:srgbClr val="FF0000"/>
                </a:solidFill>
                <a:latin typeface="仿宋_GB2312" pitchFamily="49" charset="-122"/>
                <a:ea typeface="仿宋_GB2312" pitchFamily="49" charset="-122"/>
              </a:rPr>
              <a:t>3</a:t>
            </a:r>
            <a:r>
              <a:rPr lang="zh-CN" altLang="en-US" b="1" dirty="0">
                <a:solidFill>
                  <a:srgbClr val="FF0000"/>
                </a:solidFill>
                <a:latin typeface="仿宋_GB2312" pitchFamily="49" charset="-122"/>
                <a:ea typeface="仿宋_GB2312" pitchFamily="49" charset="-122"/>
              </a:rPr>
              <a:t>）可再现性</a:t>
            </a:r>
            <a:r>
              <a:rPr lang="zh-CN" altLang="en-US" b="1" dirty="0">
                <a:latin typeface="仿宋_GB2312" pitchFamily="49" charset="-122"/>
                <a:ea typeface="仿宋_GB2312" pitchFamily="49" charset="-122"/>
              </a:rPr>
              <a:t>：只要程序执行时的环境和初始条件相同，都将获得相同的结果。</a:t>
            </a:r>
            <a:endParaRPr lang="zh-CN" altLang="en-US" b="1" dirty="0">
              <a:latin typeface="仿宋_GB2312" pitchFamily="49" charset="-122"/>
              <a:ea typeface="仿宋_GB2312" pitchFamily="49" charset="-122"/>
            </a:endParaRPr>
          </a:p>
          <a:p>
            <a:pPr algn="just" eaLnBrk="1" hangingPunct="1">
              <a:buNone/>
            </a:pPr>
            <a:r>
              <a:rPr lang="zh-CN" altLang="en-US" b="1" dirty="0">
                <a:latin typeface="仿宋_GB2312" pitchFamily="49" charset="-122"/>
                <a:ea typeface="仿宋_GB2312" pitchFamily="49" charset="-122"/>
              </a:rPr>
              <a:t>（不论它是从头到尾不停顿地执行，还是</a:t>
            </a:r>
            <a:r>
              <a:rPr lang="zh-CN" altLang="en-US" b="1" dirty="0">
                <a:latin typeface="Courier New" panose="02070309020205020404" pitchFamily="49" charset="0"/>
                <a:ea typeface="仿宋_GB2312" pitchFamily="49" charset="-122"/>
              </a:rPr>
              <a:t>“</a:t>
            </a:r>
            <a:r>
              <a:rPr lang="zh-CN" altLang="en-US" b="1" dirty="0">
                <a:latin typeface="仿宋_GB2312" pitchFamily="49" charset="-122"/>
                <a:ea typeface="仿宋_GB2312" pitchFamily="49" charset="-122"/>
              </a:rPr>
              <a:t>停停走走</a:t>
            </a:r>
            <a:r>
              <a:rPr lang="zh-CN" altLang="en-US" b="1" dirty="0">
                <a:latin typeface="Courier New" panose="02070309020205020404" pitchFamily="49" charset="0"/>
                <a:ea typeface="仿宋_GB2312" pitchFamily="49" charset="-122"/>
              </a:rPr>
              <a:t>”</a:t>
            </a:r>
            <a:r>
              <a:rPr lang="zh-CN" altLang="en-US" b="1" dirty="0">
                <a:latin typeface="仿宋_GB2312" pitchFamily="49" charset="-122"/>
                <a:ea typeface="仿宋_GB2312" pitchFamily="49" charset="-122"/>
              </a:rPr>
              <a:t>地执行）</a:t>
            </a:r>
            <a:endParaRPr lang="zh-CN" altLang="en-US" b="1" dirty="0">
              <a:latin typeface="仿宋_GB2312" pitchFamily="49" charset="-122"/>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0">
                                            <p:txEl>
                                              <p:charRg st="0" end="13"/>
                                            </p:txEl>
                                          </p:spTgt>
                                        </p:tgtEl>
                                        <p:attrNameLst>
                                          <p:attrName>style.visibility</p:attrName>
                                        </p:attrNameLst>
                                      </p:cBhvr>
                                      <p:to>
                                        <p:strVal val="visible"/>
                                      </p:to>
                                    </p:set>
                                    <p:animEffect transition="in" filter="fade">
                                      <p:cBhvr>
                                        <p:cTn id="7" dur="2000"/>
                                        <p:tgtEl>
                                          <p:spTgt spid="27650">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0">
                                            <p:txEl>
                                              <p:charRg st="14" end="43"/>
                                            </p:txEl>
                                          </p:spTgt>
                                        </p:tgtEl>
                                        <p:attrNameLst>
                                          <p:attrName>style.visibility</p:attrName>
                                        </p:attrNameLst>
                                      </p:cBhvr>
                                      <p:to>
                                        <p:strVal val="visible"/>
                                      </p:to>
                                    </p:set>
                                    <p:animEffect transition="in" filter="fade">
                                      <p:cBhvr>
                                        <p:cTn id="12" dur="2000"/>
                                        <p:tgtEl>
                                          <p:spTgt spid="27650">
                                            <p:txEl>
                                              <p:charRg st="14" end="4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650">
                                            <p:txEl>
                                              <p:charRg st="43" end="86"/>
                                            </p:txEl>
                                          </p:spTgt>
                                        </p:tgtEl>
                                        <p:attrNameLst>
                                          <p:attrName>style.visibility</p:attrName>
                                        </p:attrNameLst>
                                      </p:cBhvr>
                                      <p:to>
                                        <p:strVal val="visible"/>
                                      </p:to>
                                    </p:set>
                                    <p:animEffect transition="in" filter="fade">
                                      <p:cBhvr>
                                        <p:cTn id="17" dur="2000"/>
                                        <p:tgtEl>
                                          <p:spTgt spid="27650">
                                            <p:txEl>
                                              <p:charRg st="43" end="8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650">
                                            <p:txEl>
                                              <p:charRg st="86" end="123"/>
                                            </p:txEl>
                                          </p:spTgt>
                                        </p:tgtEl>
                                        <p:attrNameLst>
                                          <p:attrName>style.visibility</p:attrName>
                                        </p:attrNameLst>
                                      </p:cBhvr>
                                      <p:to>
                                        <p:strVal val="visible"/>
                                      </p:to>
                                    </p:set>
                                    <p:animEffect transition="in" filter="fade">
                                      <p:cBhvr>
                                        <p:cTn id="22" dur="2000"/>
                                        <p:tgtEl>
                                          <p:spTgt spid="27650">
                                            <p:txEl>
                                              <p:charRg st="86" end="12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650">
                                            <p:txEl>
                                              <p:charRg st="123" end="152"/>
                                            </p:txEl>
                                          </p:spTgt>
                                        </p:tgtEl>
                                        <p:attrNameLst>
                                          <p:attrName>style.visibility</p:attrName>
                                        </p:attrNameLst>
                                      </p:cBhvr>
                                      <p:to>
                                        <p:strVal val="visible"/>
                                      </p:to>
                                    </p:set>
                                    <p:animEffect transition="in" filter="fade">
                                      <p:cBhvr>
                                        <p:cTn id="27" dur="2000"/>
                                        <p:tgtEl>
                                          <p:spTgt spid="27650">
                                            <p:txEl>
                                              <p:charRg st="123" end="1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2"/>
          <p:cNvSpPr txBox="1"/>
          <p:nvPr/>
        </p:nvSpPr>
        <p:spPr>
          <a:xfrm>
            <a:off x="1050925" y="606425"/>
            <a:ext cx="4940300" cy="708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4000" b="1" dirty="0">
                <a:solidFill>
                  <a:srgbClr val="0066FF"/>
                </a:solidFill>
                <a:latin typeface="Times New Roman" panose="02020603050405020304" pitchFamily="18" charset="0"/>
              </a:rPr>
              <a:t>2.1.3 </a:t>
            </a:r>
            <a:r>
              <a:rPr lang="zh-CN" altLang="en-US" sz="4000" b="1" dirty="0">
                <a:solidFill>
                  <a:srgbClr val="0066FF"/>
                </a:solidFill>
                <a:latin typeface="Times New Roman" panose="02020603050405020304" pitchFamily="18" charset="0"/>
              </a:rPr>
              <a:t>程序的并发执行</a:t>
            </a:r>
            <a:endParaRPr lang="zh-CN" altLang="en-US" sz="4000" b="1" dirty="0">
              <a:solidFill>
                <a:srgbClr val="0066FF"/>
              </a:solidFill>
              <a:latin typeface="Times New Roman" panose="02020603050405020304" pitchFamily="18" charset="0"/>
            </a:endParaRPr>
          </a:p>
        </p:txBody>
      </p:sp>
      <p:sp>
        <p:nvSpPr>
          <p:cNvPr id="11267" name="Text Box 3"/>
          <p:cNvSpPr txBox="1"/>
          <p:nvPr/>
        </p:nvSpPr>
        <p:spPr>
          <a:xfrm>
            <a:off x="1066800" y="1538288"/>
            <a:ext cx="311785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rgbClr val="FF0000"/>
                </a:solidFill>
                <a:latin typeface="Times New Roman" panose="02020603050405020304" pitchFamily="18" charset="0"/>
              </a:rPr>
              <a:t>1. </a:t>
            </a:r>
            <a:r>
              <a:rPr lang="zh-CN" altLang="en-US" sz="2800" b="1" dirty="0">
                <a:solidFill>
                  <a:srgbClr val="FF0000"/>
                </a:solidFill>
                <a:latin typeface="Times New Roman" panose="02020603050405020304" pitchFamily="18" charset="0"/>
              </a:rPr>
              <a:t>程序的并发执行 </a:t>
            </a:r>
            <a:endParaRPr lang="zh-CN" altLang="en-US" sz="2800" b="1" dirty="0">
              <a:solidFill>
                <a:srgbClr val="FF0000"/>
              </a:solidFill>
              <a:latin typeface="Times New Roman" panose="02020603050405020304" pitchFamily="18" charset="0"/>
            </a:endParaRPr>
          </a:p>
        </p:txBody>
      </p:sp>
      <p:sp>
        <p:nvSpPr>
          <p:cNvPr id="11268" name="Text Box 4"/>
          <p:cNvSpPr txBox="1"/>
          <p:nvPr/>
        </p:nvSpPr>
        <p:spPr>
          <a:xfrm>
            <a:off x="2895600" y="6172200"/>
            <a:ext cx="3867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图 </a:t>
            </a:r>
            <a:r>
              <a:rPr lang="en-US" altLang="zh-CN" sz="2400" dirty="0">
                <a:latin typeface="Times New Roman" panose="02020603050405020304" pitchFamily="18" charset="0"/>
              </a:rPr>
              <a:t>2-3 </a:t>
            </a:r>
            <a:r>
              <a:rPr lang="zh-CN" altLang="en-US" sz="2400" dirty="0">
                <a:latin typeface="Times New Roman" panose="02020603050405020304" pitchFamily="18" charset="0"/>
              </a:rPr>
              <a:t>并发执行时的前趋图 </a:t>
            </a:r>
            <a:endParaRPr lang="zh-CN" altLang="en-US" sz="2400" dirty="0">
              <a:latin typeface="Times New Roman" panose="02020603050405020304" pitchFamily="18" charset="0"/>
            </a:endParaRPr>
          </a:p>
        </p:txBody>
      </p:sp>
      <p:graphicFrame>
        <p:nvGraphicFramePr>
          <p:cNvPr id="11269" name="Object 5"/>
          <p:cNvGraphicFramePr>
            <a:graphicFrameLocks noChangeAspect="1"/>
          </p:cNvGraphicFramePr>
          <p:nvPr/>
        </p:nvGraphicFramePr>
        <p:xfrm>
          <a:off x="381000" y="2743200"/>
          <a:ext cx="8991600" cy="2997200"/>
        </p:xfrm>
        <a:graphic>
          <a:graphicData uri="http://schemas.openxmlformats.org/presentationml/2006/ole">
            <mc:AlternateContent xmlns:mc="http://schemas.openxmlformats.org/markup-compatibility/2006">
              <mc:Choice xmlns:v="urn:schemas-microsoft-com:vml" Requires="v">
                <p:oleObj spid="_x0000_s3078" name="" r:id="rId1" imgW="3756660" imgH="1249680" progId="Visio.Drawing.4">
                  <p:embed/>
                </p:oleObj>
              </mc:Choice>
              <mc:Fallback>
                <p:oleObj name="" r:id="rId1" imgW="3756660" imgH="1249680" progId="Visio.Drawing.4">
                  <p:embed/>
                  <p:pic>
                    <p:nvPicPr>
                      <p:cNvPr id="0" name="图片 3077"/>
                      <p:cNvPicPr/>
                      <p:nvPr/>
                    </p:nvPicPr>
                    <p:blipFill>
                      <a:blip r:embed="rId2"/>
                      <a:stretch>
                        <a:fillRect/>
                      </a:stretch>
                    </p:blipFill>
                    <p:spPr>
                      <a:xfrm>
                        <a:off x="381000" y="2743200"/>
                        <a:ext cx="8991600" cy="2997200"/>
                      </a:xfrm>
                      <a:prstGeom prst="rect">
                        <a:avLst/>
                      </a:prstGeom>
                      <a:noFill/>
                      <a:ln w="38100">
                        <a:noFill/>
                        <a:miter/>
                      </a:ln>
                    </p:spPr>
                  </p:pic>
                </p:oleObj>
              </mc:Fallback>
            </mc:AlternateContent>
          </a:graphicData>
        </a:graphic>
      </p:graphicFrame>
      <p:sp>
        <p:nvSpPr>
          <p:cNvPr id="495622" name="Text Box 6"/>
          <p:cNvSpPr txBox="1">
            <a:spLocks noChangeArrowheads="1"/>
          </p:cNvSpPr>
          <p:nvPr/>
        </p:nvSpPr>
        <p:spPr bwMode="auto">
          <a:xfrm>
            <a:off x="609600" y="2133600"/>
            <a:ext cx="7924800" cy="457200"/>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2400" b="1" kern="1200" cap="none" spc="0" normalizeH="0" baseline="0" noProof="0" dirty="0">
                <a:solidFill>
                  <a:srgbClr val="0066FF"/>
                </a:solidFill>
                <a:latin typeface="Arial" panose="020B0604020202020204" pitchFamily="34" charset="0"/>
                <a:ea typeface="宋体" panose="02010600030101010101" pitchFamily="2" charset="-122"/>
                <a:cs typeface="+mn-cs"/>
              </a:rPr>
              <a:t>一个作业由输入程序、计算程序、打印程序组成。</a:t>
            </a:r>
            <a:endParaRPr kumimoji="0" lang="zh-CN" altLang="en-US" sz="2400" b="1" kern="1200" cap="none" spc="0" normalizeH="0" baseline="0" noProof="0" dirty="0">
              <a:solidFill>
                <a:srgbClr val="0066FF"/>
              </a:solidFill>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2"/>
          <p:cNvSpPr txBox="1"/>
          <p:nvPr/>
        </p:nvSpPr>
        <p:spPr>
          <a:xfrm>
            <a:off x="609600" y="685800"/>
            <a:ext cx="8077200" cy="5632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50000"/>
              </a:lnSpc>
              <a:spcBef>
                <a:spcPct val="50000"/>
              </a:spcBef>
              <a:buClrTx/>
              <a:buSzTx/>
              <a:buFontTx/>
              <a:buNone/>
            </a:pPr>
            <a:r>
              <a:rPr lang="zh-CN" altLang="en-US" sz="2400" b="1" dirty="0">
                <a:latin typeface="Times New Roman" panose="02020603050405020304" pitchFamily="18" charset="0"/>
              </a:rPr>
              <a:t>在该例中存在下述前趋关系：</a:t>
            </a:r>
            <a:endParaRPr lang="zh-CN" altLang="en-US" sz="2400" b="1"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I</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i</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I</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→I</a:t>
            </a:r>
            <a:r>
              <a:rPr lang="en-US" altLang="zh-CN" sz="2400" b="1" baseline="-25000" dirty="0">
                <a:latin typeface="Times New Roman" panose="02020603050405020304" pitchFamily="18" charset="0"/>
              </a:rPr>
              <a:t>i+1</a:t>
            </a:r>
            <a:r>
              <a:rPr lang="en-US" altLang="zh-CN" sz="2400" b="1" dirty="0">
                <a:latin typeface="Times New Roman" panose="02020603050405020304" pitchFamily="18" charset="0"/>
              </a:rPr>
              <a:t>, C</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 C</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i+1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i+1</a:t>
            </a:r>
            <a:endParaRPr lang="en-US" altLang="zh-CN" sz="2400" b="1" baseline="-25000"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zh-CN" altLang="en-US" sz="2400" b="1" dirty="0">
                <a:solidFill>
                  <a:srgbClr val="FF0000"/>
                </a:solidFill>
                <a:latin typeface="Times New Roman" panose="02020603050405020304" pitchFamily="18" charset="0"/>
              </a:rPr>
              <a:t>而</a:t>
            </a:r>
            <a:r>
              <a:rPr lang="en-US" altLang="zh-CN" sz="2400" b="1" dirty="0">
                <a:solidFill>
                  <a:srgbClr val="FF0000"/>
                </a:solidFill>
                <a:latin typeface="Times New Roman" panose="02020603050405020304" pitchFamily="18" charset="0"/>
              </a:rPr>
              <a:t>I</a:t>
            </a:r>
            <a:r>
              <a:rPr lang="en-US" altLang="zh-CN" sz="2400" b="1" baseline="-25000" dirty="0">
                <a:solidFill>
                  <a:srgbClr val="FF0000"/>
                </a:solidFill>
                <a:latin typeface="Times New Roman" panose="02020603050405020304" pitchFamily="18" charset="0"/>
              </a:rPr>
              <a:t>i+1</a:t>
            </a:r>
            <a:r>
              <a:rPr lang="zh-CN" altLang="en-US" sz="2400" b="1" dirty="0">
                <a:solidFill>
                  <a:srgbClr val="FF0000"/>
                </a:solidFill>
                <a:latin typeface="Times New Roman" panose="02020603050405020304" pitchFamily="18" charset="0"/>
              </a:rPr>
              <a:t>和</a:t>
            </a:r>
            <a:r>
              <a:rPr lang="en-US" altLang="zh-CN" sz="2400" b="1" dirty="0">
                <a:solidFill>
                  <a:srgbClr val="FF0000"/>
                </a:solidFill>
                <a:latin typeface="Times New Roman" panose="02020603050405020304" pitchFamily="18" charset="0"/>
              </a:rPr>
              <a:t>C</a:t>
            </a:r>
            <a:r>
              <a:rPr lang="en-US" altLang="zh-CN" sz="2400" b="1" baseline="-25000" dirty="0">
                <a:solidFill>
                  <a:srgbClr val="FF0000"/>
                </a:solidFill>
                <a:latin typeface="Times New Roman" panose="02020603050405020304" pitchFamily="18" charset="0"/>
              </a:rPr>
              <a:t>i</a:t>
            </a:r>
            <a:r>
              <a:rPr lang="zh-CN" altLang="en-US" sz="2400" b="1" dirty="0">
                <a:solidFill>
                  <a:srgbClr val="FF0000"/>
                </a:solidFill>
                <a:latin typeface="Times New Roman" panose="02020603050405020304" pitchFamily="18" charset="0"/>
              </a:rPr>
              <a:t>及</a:t>
            </a:r>
            <a:r>
              <a:rPr lang="en-US" altLang="zh-CN" sz="2400" b="1" dirty="0">
                <a:solidFill>
                  <a:srgbClr val="FF0000"/>
                </a:solidFill>
                <a:latin typeface="Times New Roman" panose="02020603050405020304" pitchFamily="18" charset="0"/>
              </a:rPr>
              <a:t>P</a:t>
            </a:r>
            <a:r>
              <a:rPr lang="en-US" altLang="zh-CN" sz="2400" b="1" baseline="-25000" dirty="0">
                <a:solidFill>
                  <a:srgbClr val="FF0000"/>
                </a:solidFill>
                <a:latin typeface="Times New Roman" panose="02020603050405020304" pitchFamily="18" charset="0"/>
              </a:rPr>
              <a:t>i-1</a:t>
            </a:r>
            <a:r>
              <a:rPr lang="zh-CN" altLang="en-US" sz="2400" b="1" dirty="0">
                <a:solidFill>
                  <a:srgbClr val="FF0000"/>
                </a:solidFill>
                <a:latin typeface="Times New Roman" panose="02020603050405020304" pitchFamily="18" charset="0"/>
              </a:rPr>
              <a:t>是重迭的，亦即在</a:t>
            </a:r>
            <a:r>
              <a:rPr lang="en-US" altLang="zh-CN" sz="2400" b="1" dirty="0">
                <a:solidFill>
                  <a:srgbClr val="FF0000"/>
                </a:solidFill>
                <a:latin typeface="Times New Roman" panose="02020603050405020304" pitchFamily="18" charset="0"/>
              </a:rPr>
              <a:t>P</a:t>
            </a:r>
            <a:r>
              <a:rPr lang="en-US" altLang="zh-CN" sz="2400" b="1" baseline="-25000" dirty="0">
                <a:solidFill>
                  <a:srgbClr val="FF0000"/>
                </a:solidFill>
                <a:latin typeface="Times New Roman" panose="02020603050405020304" pitchFamily="18" charset="0"/>
              </a:rPr>
              <a:t>i-1</a:t>
            </a:r>
            <a:r>
              <a:rPr lang="zh-CN" altLang="en-US" sz="2400" b="1" dirty="0">
                <a:solidFill>
                  <a:srgbClr val="FF0000"/>
                </a:solidFill>
                <a:latin typeface="Times New Roman" panose="02020603050405020304" pitchFamily="18" charset="0"/>
              </a:rPr>
              <a:t>和</a:t>
            </a:r>
            <a:r>
              <a:rPr lang="en-US" altLang="zh-CN" sz="2400" b="1" dirty="0">
                <a:solidFill>
                  <a:srgbClr val="FF0000"/>
                </a:solidFill>
                <a:latin typeface="Times New Roman" panose="02020603050405020304" pitchFamily="18" charset="0"/>
              </a:rPr>
              <a:t>C</a:t>
            </a:r>
            <a:r>
              <a:rPr lang="en-US" altLang="zh-CN" sz="2400" b="1" baseline="-25000" dirty="0">
                <a:solidFill>
                  <a:srgbClr val="FF0000"/>
                </a:solidFill>
                <a:latin typeface="Times New Roman" panose="02020603050405020304" pitchFamily="18" charset="0"/>
              </a:rPr>
              <a:t>i</a:t>
            </a:r>
            <a:r>
              <a:rPr lang="zh-CN" altLang="en-US" sz="2400" b="1" dirty="0">
                <a:solidFill>
                  <a:srgbClr val="FF0000"/>
                </a:solidFill>
                <a:latin typeface="Times New Roman" panose="02020603050405020304" pitchFamily="18" charset="0"/>
              </a:rPr>
              <a:t>以及</a:t>
            </a:r>
            <a:r>
              <a:rPr lang="en-US" altLang="zh-CN" sz="2400" b="1" dirty="0">
                <a:solidFill>
                  <a:srgbClr val="FF0000"/>
                </a:solidFill>
                <a:latin typeface="Times New Roman" panose="02020603050405020304" pitchFamily="18" charset="0"/>
              </a:rPr>
              <a:t>I</a:t>
            </a:r>
            <a:r>
              <a:rPr lang="en-US" altLang="zh-CN" sz="2400" b="1" baseline="-25000" dirty="0">
                <a:solidFill>
                  <a:srgbClr val="FF0000"/>
                </a:solidFill>
                <a:latin typeface="Times New Roman" panose="02020603050405020304" pitchFamily="18" charset="0"/>
              </a:rPr>
              <a:t>i+1</a:t>
            </a:r>
            <a:r>
              <a:rPr lang="zh-CN" altLang="en-US" sz="2400" b="1" dirty="0">
                <a:solidFill>
                  <a:srgbClr val="FF0000"/>
                </a:solidFill>
                <a:latin typeface="Times New Roman" panose="02020603050405020304" pitchFamily="18" charset="0"/>
              </a:rPr>
              <a:t>之间，可以并发执行</a:t>
            </a:r>
            <a:r>
              <a:rPr lang="zh-CN" altLang="en-US" sz="2400" b="1" dirty="0">
                <a:latin typeface="Times New Roman" panose="02020603050405020304" pitchFamily="18" charset="0"/>
              </a:rPr>
              <a:t>。 对于具有下述四条语句的程序段：</a:t>
            </a:r>
            <a:endParaRPr lang="zh-CN" altLang="en-US" sz="2400" b="1"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 a∶=x+2</a:t>
            </a:r>
            <a:endParaRPr lang="en-US" altLang="zh-CN" sz="2400" b="1"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en-US" altLang="zh-CN" sz="2400" b="1" dirty="0">
                <a:latin typeface="Times New Roman" panose="02020603050405020304" pitchFamily="18" charset="0"/>
              </a:rPr>
              <a:t>         S</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b∶=y+4</a:t>
            </a:r>
            <a:endParaRPr lang="en-US" altLang="zh-CN" sz="2400" b="1"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en-US" altLang="zh-CN" sz="2400" b="1" dirty="0">
                <a:latin typeface="Times New Roman" panose="02020603050405020304" pitchFamily="18" charset="0"/>
              </a:rPr>
              <a:t>         S</a:t>
            </a:r>
            <a:r>
              <a:rPr lang="en-US" altLang="zh-CN" sz="2400" b="1" baseline="-25000" dirty="0">
                <a:latin typeface="Times New Roman" panose="02020603050405020304" pitchFamily="18" charset="0"/>
              </a:rPr>
              <a:t>3</a:t>
            </a:r>
            <a:r>
              <a:rPr lang="en-US" altLang="zh-CN" sz="2400" b="1" dirty="0">
                <a:latin typeface="Times New Roman" panose="02020603050405020304" pitchFamily="18" charset="0"/>
              </a:rPr>
              <a:t>: c∶=a+b</a:t>
            </a:r>
            <a:endParaRPr lang="en-US" altLang="zh-CN" sz="2400" b="1" dirty="0">
              <a:latin typeface="Times New Roman" panose="02020603050405020304" pitchFamily="18" charset="0"/>
            </a:endParaRPr>
          </a:p>
          <a:p>
            <a:pPr marL="0" lvl="0" indent="0" eaLnBrk="1" hangingPunct="1">
              <a:lnSpc>
                <a:spcPct val="150000"/>
              </a:lnSpc>
              <a:spcBef>
                <a:spcPct val="50000"/>
              </a:spcBef>
              <a:buClrTx/>
              <a:buSzTx/>
              <a:buFontTx/>
              <a:buNone/>
            </a:pPr>
            <a:r>
              <a:rPr lang="en-US" altLang="zh-CN" sz="2400" b="1" dirty="0">
                <a:latin typeface="Times New Roman" panose="02020603050405020304" pitchFamily="18" charset="0"/>
              </a:rPr>
              <a:t>         S</a:t>
            </a:r>
            <a:r>
              <a:rPr lang="en-US" altLang="zh-CN" sz="2400" b="1" baseline="-25000" dirty="0">
                <a:latin typeface="Times New Roman" panose="02020603050405020304" pitchFamily="18" charset="0"/>
              </a:rPr>
              <a:t>4</a:t>
            </a:r>
            <a:r>
              <a:rPr lang="en-US" altLang="zh-CN" sz="2400" b="1" dirty="0">
                <a:latin typeface="Times New Roman" panose="02020603050405020304" pitchFamily="18" charset="0"/>
              </a:rPr>
              <a:t>: d∶=c+b </a:t>
            </a:r>
            <a:endParaRPr lang="en-US" altLang="zh-CN" sz="2400" b="1" dirty="0">
              <a:latin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2"/>
          <p:cNvSpPr txBox="1"/>
          <p:nvPr/>
        </p:nvSpPr>
        <p:spPr>
          <a:xfrm>
            <a:off x="2971800" y="5715000"/>
            <a:ext cx="3790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dirty="0">
                <a:latin typeface="Times New Roman" panose="02020603050405020304" pitchFamily="18" charset="0"/>
              </a:rPr>
              <a:t>图 </a:t>
            </a:r>
            <a:r>
              <a:rPr lang="en-US" altLang="zh-CN" sz="2400" dirty="0">
                <a:latin typeface="Times New Roman" panose="02020603050405020304" pitchFamily="18" charset="0"/>
              </a:rPr>
              <a:t>2-4 </a:t>
            </a:r>
            <a:r>
              <a:rPr lang="zh-CN" altLang="en-US" sz="2400" dirty="0">
                <a:latin typeface="Times New Roman" panose="02020603050405020304" pitchFamily="18" charset="0"/>
              </a:rPr>
              <a:t>四条语句的前趋关系</a:t>
            </a:r>
            <a:endParaRPr lang="zh-CN" altLang="en-US" sz="2400" dirty="0">
              <a:latin typeface="Times New Roman" panose="02020603050405020304" pitchFamily="18" charset="0"/>
            </a:endParaRPr>
          </a:p>
        </p:txBody>
      </p:sp>
      <p:graphicFrame>
        <p:nvGraphicFramePr>
          <p:cNvPr id="13315" name="Object 3"/>
          <p:cNvGraphicFramePr>
            <a:graphicFrameLocks noChangeAspect="1"/>
          </p:cNvGraphicFramePr>
          <p:nvPr/>
        </p:nvGraphicFramePr>
        <p:xfrm>
          <a:off x="2057400" y="1981200"/>
          <a:ext cx="6400800" cy="2994025"/>
        </p:xfrm>
        <a:graphic>
          <a:graphicData uri="http://schemas.openxmlformats.org/presentationml/2006/ole">
            <mc:AlternateContent xmlns:mc="http://schemas.openxmlformats.org/markup-compatibility/2006">
              <mc:Choice xmlns:v="urn:schemas-microsoft-com:vml" Requires="v">
                <p:oleObj spid="_x0000_s3076" name="" r:id="rId1" imgW="1752600" imgH="822960" progId="Visio.Drawing.4">
                  <p:embed/>
                </p:oleObj>
              </mc:Choice>
              <mc:Fallback>
                <p:oleObj name="" r:id="rId1" imgW="1752600" imgH="822960" progId="Visio.Drawing.4">
                  <p:embed/>
                  <p:pic>
                    <p:nvPicPr>
                      <p:cNvPr id="0" name="图片 3075"/>
                      <p:cNvPicPr/>
                      <p:nvPr/>
                    </p:nvPicPr>
                    <p:blipFill>
                      <a:blip r:embed="rId2"/>
                      <a:stretch>
                        <a:fillRect/>
                      </a:stretch>
                    </p:blipFill>
                    <p:spPr>
                      <a:xfrm>
                        <a:off x="2057400" y="1981200"/>
                        <a:ext cx="6400800" cy="2994025"/>
                      </a:xfrm>
                      <a:prstGeom prst="rect">
                        <a:avLst/>
                      </a:prstGeom>
                      <a:noFill/>
                      <a:ln w="38100">
                        <a:noFill/>
                        <a:miter/>
                      </a:ln>
                    </p:spPr>
                  </p:pic>
                </p:oleObj>
              </mc:Fallback>
            </mc:AlternateContent>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p:nvPr/>
        </p:nvSpPr>
        <p:spPr>
          <a:xfrm>
            <a:off x="1682750" y="533400"/>
            <a:ext cx="53276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600" b="1" dirty="0">
                <a:solidFill>
                  <a:srgbClr val="FF0000"/>
                </a:solidFill>
                <a:latin typeface="Times New Roman" panose="02020603050405020304" pitchFamily="18" charset="0"/>
              </a:rPr>
              <a:t>2. </a:t>
            </a:r>
            <a:r>
              <a:rPr lang="zh-CN" altLang="en-US" sz="3600" b="1" dirty="0">
                <a:solidFill>
                  <a:srgbClr val="FF0000"/>
                </a:solidFill>
                <a:latin typeface="Times New Roman" panose="02020603050405020304" pitchFamily="18" charset="0"/>
              </a:rPr>
              <a:t>程序并发执行时的特征 </a:t>
            </a:r>
            <a:endParaRPr lang="zh-CN" altLang="en-US" sz="3600" b="1" dirty="0">
              <a:solidFill>
                <a:srgbClr val="FF0000"/>
              </a:solidFill>
              <a:latin typeface="Times New Roman" panose="02020603050405020304" pitchFamily="18" charset="0"/>
            </a:endParaRPr>
          </a:p>
        </p:txBody>
      </p:sp>
      <p:sp>
        <p:nvSpPr>
          <p:cNvPr id="498691" name="Text Box 3"/>
          <p:cNvSpPr txBox="1"/>
          <p:nvPr/>
        </p:nvSpPr>
        <p:spPr>
          <a:xfrm>
            <a:off x="381000" y="1524000"/>
            <a:ext cx="8245475" cy="3978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457200" lvl="0" indent="-457200" eaLnBrk="1" hangingPunct="1">
              <a:lnSpc>
                <a:spcPct val="125000"/>
              </a:lnSpc>
              <a:spcBef>
                <a:spcPct val="0"/>
              </a:spcBef>
              <a:buClrTx/>
              <a:buSzTx/>
              <a:buFontTx/>
              <a:buAutoNum type="arabicParenR"/>
            </a:pPr>
            <a:r>
              <a:rPr lang="zh-CN" altLang="en-US" b="1" dirty="0">
                <a:solidFill>
                  <a:srgbClr val="0066FF"/>
                </a:solidFill>
                <a:latin typeface="Times New Roman" panose="02020603050405020304" pitchFamily="18" charset="0"/>
              </a:rPr>
              <a:t>间断性</a:t>
            </a:r>
            <a:endParaRPr lang="zh-CN" altLang="en-US" b="1" dirty="0">
              <a:solidFill>
                <a:srgbClr val="0066FF"/>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程序并发执行是，由于共享系统资源，这些程序</a:t>
            </a:r>
            <a:endParaRPr lang="zh-CN" altLang="en-US" sz="2800" b="1" dirty="0">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形成相互制约的关系，具有“执行</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暂停</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执行”特征。</a:t>
            </a:r>
            <a:endParaRPr lang="zh-CN" altLang="en-US" sz="2800" b="1" dirty="0">
              <a:latin typeface="Times New Roman" panose="02020603050405020304" pitchFamily="18" charset="0"/>
            </a:endParaRPr>
          </a:p>
          <a:p>
            <a:pPr marL="457200" lvl="0" indent="-457200" eaLnBrk="1" hangingPunct="1">
              <a:lnSpc>
                <a:spcPct val="125000"/>
              </a:lnSpc>
              <a:spcBef>
                <a:spcPct val="0"/>
              </a:spcBef>
              <a:buClrTx/>
              <a:buSzTx/>
              <a:buFontTx/>
              <a:buNone/>
            </a:pPr>
            <a:r>
              <a:rPr lang="en-US" altLang="zh-CN" b="1" dirty="0">
                <a:solidFill>
                  <a:srgbClr val="0066FF"/>
                </a:solidFill>
                <a:latin typeface="Times New Roman" panose="02020603050405020304" pitchFamily="18" charset="0"/>
              </a:rPr>
              <a:t>2) </a:t>
            </a:r>
            <a:r>
              <a:rPr lang="zh-CN" altLang="en-US" b="1" dirty="0">
                <a:solidFill>
                  <a:srgbClr val="0066FF"/>
                </a:solidFill>
                <a:latin typeface="Times New Roman" panose="02020603050405020304" pitchFamily="18" charset="0"/>
              </a:rPr>
              <a:t>失去封闭性 </a:t>
            </a:r>
            <a:endParaRPr lang="zh-CN" altLang="en-US" b="1" dirty="0">
              <a:solidFill>
                <a:srgbClr val="0066FF"/>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程序并发执行时，多个程序共享系统资源，因而</a:t>
            </a:r>
            <a:endParaRPr lang="zh-CN" altLang="en-US" sz="2800" b="1" dirty="0">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这些资源的状态将由多个程序来改变，从而导致</a:t>
            </a:r>
            <a:endParaRPr lang="zh-CN" altLang="en-US" sz="2800" b="1" dirty="0">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程序的运行失去封闭性。</a:t>
            </a:r>
            <a:endParaRPr lang="zh-CN" altLang="en-US" sz="28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98691">
                                            <p:txEl>
                                              <p:charRg st="0" end="4"/>
                                            </p:txEl>
                                          </p:spTgt>
                                        </p:tgtEl>
                                        <p:attrNameLst>
                                          <p:attrName>style.visibility</p:attrName>
                                        </p:attrNameLst>
                                      </p:cBhvr>
                                      <p:to>
                                        <p:strVal val="visible"/>
                                      </p:to>
                                    </p:set>
                                    <p:animEffect transition="in" filter="box(in)">
                                      <p:cBhvr>
                                        <p:cTn id="7" dur="500"/>
                                        <p:tgtEl>
                                          <p:spTgt spid="498691">
                                            <p:txEl>
                                              <p:charRg st="0"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98691">
                                            <p:txEl>
                                              <p:charRg st="4" end="26"/>
                                            </p:txEl>
                                          </p:spTgt>
                                        </p:tgtEl>
                                        <p:attrNameLst>
                                          <p:attrName>style.visibility</p:attrName>
                                        </p:attrNameLst>
                                      </p:cBhvr>
                                      <p:to>
                                        <p:strVal val="visible"/>
                                      </p:to>
                                    </p:set>
                                    <p:animEffect transition="in" filter="box(in)">
                                      <p:cBhvr>
                                        <p:cTn id="10" dur="500"/>
                                        <p:tgtEl>
                                          <p:spTgt spid="498691">
                                            <p:txEl>
                                              <p:charRg st="4" end="26"/>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98691">
                                            <p:txEl>
                                              <p:charRg st="26" end="52"/>
                                            </p:txEl>
                                          </p:spTgt>
                                        </p:tgtEl>
                                        <p:attrNameLst>
                                          <p:attrName>style.visibility</p:attrName>
                                        </p:attrNameLst>
                                      </p:cBhvr>
                                      <p:to>
                                        <p:strVal val="visible"/>
                                      </p:to>
                                    </p:set>
                                    <p:animEffect transition="in" filter="box(in)">
                                      <p:cBhvr>
                                        <p:cTn id="13" dur="500"/>
                                        <p:tgtEl>
                                          <p:spTgt spid="498691">
                                            <p:txEl>
                                              <p:charRg st="26" end="5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498691">
                                            <p:txEl>
                                              <p:charRg st="52" end="62"/>
                                            </p:txEl>
                                          </p:spTgt>
                                        </p:tgtEl>
                                        <p:attrNameLst>
                                          <p:attrName>style.visibility</p:attrName>
                                        </p:attrNameLst>
                                      </p:cBhvr>
                                      <p:to>
                                        <p:strVal val="visible"/>
                                      </p:to>
                                    </p:set>
                                    <p:animEffect transition="in" filter="box(in)">
                                      <p:cBhvr>
                                        <p:cTn id="18" dur="500"/>
                                        <p:tgtEl>
                                          <p:spTgt spid="498691">
                                            <p:txEl>
                                              <p:charRg st="52" end="62"/>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498691">
                                            <p:txEl>
                                              <p:charRg st="62" end="84"/>
                                            </p:txEl>
                                          </p:spTgt>
                                        </p:tgtEl>
                                        <p:attrNameLst>
                                          <p:attrName>style.visibility</p:attrName>
                                        </p:attrNameLst>
                                      </p:cBhvr>
                                      <p:to>
                                        <p:strVal val="visible"/>
                                      </p:to>
                                    </p:set>
                                    <p:animEffect transition="in" filter="box(in)">
                                      <p:cBhvr>
                                        <p:cTn id="21" dur="500"/>
                                        <p:tgtEl>
                                          <p:spTgt spid="498691">
                                            <p:txEl>
                                              <p:charRg st="62" end="84"/>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498691">
                                            <p:txEl>
                                              <p:charRg st="84" end="106"/>
                                            </p:txEl>
                                          </p:spTgt>
                                        </p:tgtEl>
                                        <p:attrNameLst>
                                          <p:attrName>style.visibility</p:attrName>
                                        </p:attrNameLst>
                                      </p:cBhvr>
                                      <p:to>
                                        <p:strVal val="visible"/>
                                      </p:to>
                                    </p:set>
                                    <p:animEffect transition="in" filter="box(in)">
                                      <p:cBhvr>
                                        <p:cTn id="24" dur="500"/>
                                        <p:tgtEl>
                                          <p:spTgt spid="498691">
                                            <p:txEl>
                                              <p:charRg st="84" end="10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498691">
                                            <p:txEl>
                                              <p:charRg st="106" end="118"/>
                                            </p:txEl>
                                          </p:spTgt>
                                        </p:tgtEl>
                                        <p:attrNameLst>
                                          <p:attrName>style.visibility</p:attrName>
                                        </p:attrNameLst>
                                      </p:cBhvr>
                                      <p:to>
                                        <p:strVal val="visible"/>
                                      </p:to>
                                    </p:set>
                                    <p:animEffect transition="in" filter="box(in)">
                                      <p:cBhvr>
                                        <p:cTn id="27" dur="500"/>
                                        <p:tgtEl>
                                          <p:spTgt spid="498691">
                                            <p:txEl>
                                              <p:charRg st="106"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4"/>
          <p:cNvSpPr/>
          <p:nvPr>
            <p:ph idx="1"/>
          </p:nvPr>
        </p:nvSpPr>
        <p:spPr>
          <a:xfrm>
            <a:off x="457200" y="1600200"/>
            <a:ext cx="8156575" cy="4953000"/>
          </a:xfrm>
          <a:ln/>
        </p:spPr>
        <p:txBody>
          <a:bodyPr vert="horz" wrap="square" lIns="91440" tIns="45720" rIns="91440" bIns="45720" anchor="t" anchorCtr="0"/>
          <a:p>
            <a:pPr eaLnBrk="1" hangingPunct="1">
              <a:lnSpc>
                <a:spcPct val="125000"/>
              </a:lnSpc>
              <a:spcBef>
                <a:spcPct val="0"/>
              </a:spcBef>
              <a:buClrTx/>
              <a:buSzTx/>
              <a:buFontTx/>
              <a:buNone/>
            </a:pPr>
            <a:r>
              <a:rPr lang="en-US" altLang="zh-CN" b="1" dirty="0">
                <a:solidFill>
                  <a:srgbClr val="0066FF"/>
                </a:solidFill>
              </a:rPr>
              <a:t>3) </a:t>
            </a:r>
            <a:r>
              <a:rPr lang="zh-CN" altLang="en-US" b="1" dirty="0">
                <a:solidFill>
                  <a:srgbClr val="0066FF"/>
                </a:solidFill>
              </a:rPr>
              <a:t>不可再现性</a:t>
            </a:r>
            <a:r>
              <a:rPr lang="zh-CN" altLang="en-US" sz="2800" b="1" dirty="0"/>
              <a:t> </a:t>
            </a:r>
            <a:endParaRPr lang="zh-CN" altLang="en-US" sz="2800" b="1" dirty="0"/>
          </a:p>
          <a:p>
            <a:pPr eaLnBrk="1" hangingPunct="1">
              <a:lnSpc>
                <a:spcPct val="125000"/>
              </a:lnSpc>
              <a:spcBef>
                <a:spcPct val="0"/>
              </a:spcBef>
              <a:buClrTx/>
              <a:buSzTx/>
              <a:buFontTx/>
              <a:buNone/>
            </a:pPr>
            <a:r>
              <a:rPr lang="zh-CN" altLang="en-US" sz="2800" b="1" dirty="0">
                <a:solidFill>
                  <a:srgbClr val="FF0000"/>
                </a:solidFill>
              </a:rPr>
              <a:t>	程序并发执行，由于失去了封闭性，从而也失去了可再现性。</a:t>
            </a:r>
            <a:r>
              <a:rPr lang="zh-CN" altLang="en-US" sz="2800" b="1" dirty="0"/>
              <a:t>       </a:t>
            </a:r>
            <a:endParaRPr lang="zh-CN" altLang="en-US" sz="2800" b="1" dirty="0"/>
          </a:p>
          <a:p>
            <a:pPr eaLnBrk="1" hangingPunct="1">
              <a:lnSpc>
                <a:spcPct val="110000"/>
              </a:lnSpc>
              <a:buFont typeface="Wingdings 2" panose="05020102010507070707" pitchFamily="18" charset="2"/>
              <a:buChar char="¡"/>
            </a:pPr>
            <a:r>
              <a:rPr lang="zh-CN" altLang="en-US" sz="2800" b="1" dirty="0"/>
              <a:t>例如，有两个循环程序</a:t>
            </a:r>
            <a:r>
              <a:rPr lang="en-US" altLang="zh-CN" sz="2800" b="1" dirty="0"/>
              <a:t>A</a:t>
            </a:r>
            <a:r>
              <a:rPr lang="zh-CN" altLang="en-US" sz="2800" b="1" dirty="0"/>
              <a:t>和</a:t>
            </a:r>
            <a:r>
              <a:rPr lang="en-US" altLang="zh-CN" sz="2800" b="1" dirty="0"/>
              <a:t>B</a:t>
            </a:r>
            <a:r>
              <a:rPr lang="zh-CN" altLang="en-US" sz="2800" b="1" dirty="0"/>
              <a:t>，它们共享一个变量</a:t>
            </a:r>
            <a:r>
              <a:rPr lang="en-US" altLang="zh-CN" sz="2800" b="1" dirty="0"/>
              <a:t>N</a:t>
            </a:r>
            <a:r>
              <a:rPr lang="zh-CN" altLang="en-US" sz="2800" b="1" dirty="0"/>
              <a:t>。程序</a:t>
            </a:r>
            <a:r>
              <a:rPr lang="en-US" altLang="zh-CN" sz="2800" b="1" dirty="0"/>
              <a:t>A</a:t>
            </a:r>
            <a:r>
              <a:rPr lang="zh-CN" altLang="en-US" sz="2800" b="1" dirty="0"/>
              <a:t>每执行一次时，都要做</a:t>
            </a:r>
            <a:r>
              <a:rPr lang="en-US" altLang="zh-CN" sz="2800" b="1" dirty="0"/>
              <a:t>N∶=N+1</a:t>
            </a:r>
            <a:r>
              <a:rPr lang="zh-CN" altLang="en-US" sz="2800" b="1" dirty="0"/>
              <a:t>操作；程序</a:t>
            </a:r>
            <a:r>
              <a:rPr lang="en-US" altLang="zh-CN" sz="2800" b="1" dirty="0"/>
              <a:t>B</a:t>
            </a:r>
            <a:r>
              <a:rPr lang="zh-CN" altLang="en-US" sz="2800" b="1" dirty="0"/>
              <a:t>每执行一次时， 都要执行</a:t>
            </a:r>
            <a:r>
              <a:rPr lang="en-US" altLang="zh-CN" sz="2800" b="1" dirty="0"/>
              <a:t>Print(N)</a:t>
            </a:r>
            <a:r>
              <a:rPr lang="zh-CN" altLang="en-US" sz="2800" b="1" dirty="0"/>
              <a:t>操作，然后再将</a:t>
            </a:r>
            <a:r>
              <a:rPr lang="en-US" altLang="zh-CN" sz="2800" b="1" dirty="0"/>
              <a:t>N</a:t>
            </a:r>
            <a:r>
              <a:rPr lang="zh-CN" altLang="en-US" sz="2800" b="1" dirty="0"/>
              <a:t>置成“</a:t>
            </a:r>
            <a:r>
              <a:rPr lang="en-US" altLang="zh-CN" sz="2800" b="1" dirty="0"/>
              <a:t>0”</a:t>
            </a:r>
            <a:r>
              <a:rPr lang="zh-CN" altLang="en-US" sz="2800" b="1" dirty="0"/>
              <a:t>。程序</a:t>
            </a:r>
            <a:r>
              <a:rPr lang="en-US" altLang="zh-CN" sz="2800" b="1" dirty="0"/>
              <a:t>A</a:t>
            </a:r>
            <a:r>
              <a:rPr lang="zh-CN" altLang="en-US" sz="2800" b="1" dirty="0"/>
              <a:t>和</a:t>
            </a:r>
            <a:r>
              <a:rPr lang="en-US" altLang="zh-CN" sz="2800" b="1" dirty="0"/>
              <a:t>B</a:t>
            </a:r>
            <a:r>
              <a:rPr lang="zh-CN" altLang="en-US" sz="2800" b="1" dirty="0"/>
              <a:t>以不同的速度运行。 </a:t>
            </a:r>
            <a:endParaRPr lang="zh-CN" altLang="en-US" sz="2800" b="1" dirty="0"/>
          </a:p>
          <a:p>
            <a:pPr eaLnBrk="1" hangingPunct="1">
              <a:buNone/>
            </a:pPr>
            <a:r>
              <a:rPr lang="zh-CN" altLang="en-US" sz="2800" b="1" dirty="0"/>
              <a:t>       </a:t>
            </a:r>
            <a:endParaRPr lang="zh-CN" altLang="en-US" sz="2800" b="1" dirty="0"/>
          </a:p>
        </p:txBody>
      </p:sp>
      <p:sp>
        <p:nvSpPr>
          <p:cNvPr id="15363" name="Text Box 5"/>
          <p:cNvSpPr txBox="1"/>
          <p:nvPr/>
        </p:nvSpPr>
        <p:spPr>
          <a:xfrm>
            <a:off x="1066800" y="741363"/>
            <a:ext cx="53276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600" b="1" dirty="0">
                <a:solidFill>
                  <a:srgbClr val="FF0000"/>
                </a:solidFill>
                <a:latin typeface="Times New Roman" panose="02020603050405020304" pitchFamily="18" charset="0"/>
              </a:rPr>
              <a:t>2. </a:t>
            </a:r>
            <a:r>
              <a:rPr lang="zh-CN" altLang="en-US" sz="3600" b="1" dirty="0">
                <a:solidFill>
                  <a:srgbClr val="FF0000"/>
                </a:solidFill>
                <a:latin typeface="Times New Roman" panose="02020603050405020304" pitchFamily="18" charset="0"/>
              </a:rPr>
              <a:t>程序并发执行时的特征 </a:t>
            </a:r>
            <a:endParaRPr lang="zh-CN" altLang="en-US" sz="3600" b="1" dirty="0">
              <a:solidFill>
                <a:srgbClr val="FF0000"/>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noRot="1" noChangeArrowheads="1"/>
          </p:cNvSpPr>
          <p:nvPr>
            <p:ph type="title"/>
          </p:nvPr>
        </p:nvSpPr>
        <p:spPr>
          <a:xfrm>
            <a:off x="304800" y="465138"/>
            <a:ext cx="7793038" cy="5254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程序</a:t>
            </a:r>
            <a:r>
              <a:rPr kumimoji="0"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A</a:t>
            </a:r>
            <a:r>
              <a:rPr kumimoji="0"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和</a:t>
            </a:r>
            <a:r>
              <a:rPr kumimoji="0"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B</a:t>
            </a:r>
            <a:r>
              <a:rPr kumimoji="0"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以不同的速度运行出现的情况：</a:t>
            </a:r>
            <a:endParaRPr kumimoji="0"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3795" name="Rectangle 3"/>
          <p:cNvSpPr>
            <a:spLocks noGrp="1" noRot="1"/>
          </p:cNvSpPr>
          <p:nvPr>
            <p:ph type="body"/>
          </p:nvPr>
        </p:nvSpPr>
        <p:spPr>
          <a:xfrm>
            <a:off x="381000" y="1219200"/>
            <a:ext cx="8305800" cy="5562600"/>
          </a:xfrm>
          <a:ln/>
        </p:spPr>
        <p:txBody>
          <a:bodyPr vert="horz" wrap="square" lIns="91440" tIns="45720" rIns="91440" bIns="45720" anchor="t" anchorCtr="0"/>
          <a:p>
            <a:pPr eaLnBrk="1" hangingPunct="1">
              <a:lnSpc>
                <a:spcPct val="90000"/>
              </a:lnSpc>
              <a:buNone/>
            </a:pPr>
            <a:r>
              <a:rPr lang="en-US" altLang="zh-CN" sz="2800" b="1" dirty="0"/>
              <a:t>1</a:t>
            </a:r>
            <a:r>
              <a:rPr lang="zh-CN" altLang="en-US" sz="2800" b="1" dirty="0"/>
              <a:t>、</a:t>
            </a:r>
            <a:r>
              <a:rPr lang="en-US" altLang="zh-CN" sz="2800" b="1" dirty="0"/>
              <a:t>N=N+1</a:t>
            </a:r>
            <a:r>
              <a:rPr lang="zh-CN" altLang="en-US" sz="2800" b="1" dirty="0"/>
              <a:t>，在</a:t>
            </a:r>
            <a:r>
              <a:rPr lang="en-US" altLang="zh-CN" sz="2800" b="1" dirty="0"/>
              <a:t>Print</a:t>
            </a:r>
            <a:r>
              <a:rPr lang="zh-CN" altLang="en-US" sz="2800" b="1" dirty="0"/>
              <a:t>（</a:t>
            </a:r>
            <a:r>
              <a:rPr lang="en-US" altLang="zh-CN" sz="2800" b="1" dirty="0"/>
              <a:t>N</a:t>
            </a:r>
            <a:r>
              <a:rPr lang="zh-CN" altLang="en-US" sz="2800" b="1" dirty="0"/>
              <a:t>）和</a:t>
            </a:r>
            <a:r>
              <a:rPr lang="en-US" altLang="zh-CN" sz="2800" b="1" dirty="0"/>
              <a:t>N=0</a:t>
            </a:r>
            <a:r>
              <a:rPr lang="zh-CN" altLang="en-US" sz="2800" b="1" dirty="0"/>
              <a:t>之前执行，</a:t>
            </a:r>
            <a:endParaRPr lang="zh-CN" altLang="en-US" sz="2800" b="1" dirty="0"/>
          </a:p>
          <a:p>
            <a:pPr eaLnBrk="1" hangingPunct="1">
              <a:lnSpc>
                <a:spcPct val="90000"/>
              </a:lnSpc>
              <a:buClrTx/>
              <a:buSzTx/>
              <a:buFontTx/>
              <a:buNone/>
            </a:pPr>
            <a:r>
              <a:rPr lang="zh-CN" altLang="en-US" sz="2800" b="1" dirty="0"/>
              <a:t>     即执行次序： </a:t>
            </a:r>
            <a:r>
              <a:rPr lang="en-US" altLang="zh-CN" sz="2800" b="1" dirty="0"/>
              <a:t>N=N+1		 </a:t>
            </a:r>
            <a:r>
              <a:rPr lang="en-US" altLang="zh-CN" sz="2800" b="1" dirty="0">
                <a:solidFill>
                  <a:srgbClr val="FF0000"/>
                </a:solidFill>
              </a:rPr>
              <a:t>n+1 </a:t>
            </a:r>
            <a:endParaRPr lang="en-US" altLang="zh-CN" sz="2800" b="1" dirty="0">
              <a:solidFill>
                <a:srgbClr val="FF0000"/>
              </a:solidFill>
            </a:endParaRPr>
          </a:p>
          <a:p>
            <a:pPr eaLnBrk="1" hangingPunct="1">
              <a:lnSpc>
                <a:spcPct val="90000"/>
              </a:lnSpc>
              <a:buClrTx/>
              <a:buSzTx/>
              <a:buFontTx/>
              <a:buNone/>
            </a:pPr>
            <a:r>
              <a:rPr lang="en-US" altLang="zh-CN" sz="2800" b="1" dirty="0"/>
              <a:t>				Print</a:t>
            </a:r>
            <a:r>
              <a:rPr lang="zh-CN" altLang="en-US" sz="2800" b="1" dirty="0"/>
              <a:t>（</a:t>
            </a:r>
            <a:r>
              <a:rPr lang="en-US" altLang="zh-CN" sz="2800" b="1" dirty="0"/>
              <a:t>N</a:t>
            </a:r>
            <a:r>
              <a:rPr lang="zh-CN" altLang="en-US" sz="2800" b="1" dirty="0"/>
              <a:t>）		 </a:t>
            </a:r>
            <a:r>
              <a:rPr lang="en-US" altLang="zh-CN" sz="2800" b="1" dirty="0">
                <a:solidFill>
                  <a:srgbClr val="FF0000"/>
                </a:solidFill>
              </a:rPr>
              <a:t>n+1	</a:t>
            </a:r>
            <a:r>
              <a:rPr lang="en-US" altLang="zh-CN" sz="2800" b="1" dirty="0"/>
              <a:t> 	</a:t>
            </a:r>
            <a:endParaRPr lang="en-US" altLang="zh-CN" sz="2800" b="1" dirty="0"/>
          </a:p>
          <a:p>
            <a:pPr eaLnBrk="1" hangingPunct="1">
              <a:lnSpc>
                <a:spcPct val="90000"/>
              </a:lnSpc>
              <a:buClrTx/>
              <a:buSzTx/>
              <a:buFontTx/>
              <a:buNone/>
            </a:pPr>
            <a:r>
              <a:rPr lang="en-US" altLang="zh-CN" sz="2800" b="1" dirty="0"/>
              <a:t>				N=0			 </a:t>
            </a:r>
            <a:r>
              <a:rPr lang="en-US" altLang="zh-CN" sz="2800" b="1" dirty="0">
                <a:solidFill>
                  <a:srgbClr val="FF0000"/>
                </a:solidFill>
              </a:rPr>
              <a:t>0</a:t>
            </a:r>
            <a:endParaRPr lang="en-US" altLang="zh-CN" sz="2800" b="1" dirty="0">
              <a:solidFill>
                <a:srgbClr val="FF0000"/>
              </a:solidFill>
            </a:endParaRPr>
          </a:p>
          <a:p>
            <a:pPr eaLnBrk="1" hangingPunct="1">
              <a:lnSpc>
                <a:spcPct val="90000"/>
              </a:lnSpc>
              <a:buClrTx/>
              <a:buSzTx/>
              <a:buFontTx/>
              <a:buNone/>
            </a:pPr>
            <a:r>
              <a:rPr lang="en-US" altLang="zh-CN" sz="2800" b="1" dirty="0"/>
              <a:t>2</a:t>
            </a:r>
            <a:r>
              <a:rPr lang="zh-CN" altLang="en-US" sz="2800" b="1" dirty="0"/>
              <a:t>、</a:t>
            </a:r>
            <a:r>
              <a:rPr lang="en-US" altLang="zh-CN" sz="2800" b="1" dirty="0"/>
              <a:t>N=N+1</a:t>
            </a:r>
            <a:r>
              <a:rPr lang="zh-CN" altLang="en-US" sz="2800" b="1" dirty="0"/>
              <a:t>，在</a:t>
            </a:r>
            <a:r>
              <a:rPr lang="en-US" altLang="zh-CN" sz="2800" b="1" dirty="0"/>
              <a:t>Print</a:t>
            </a:r>
            <a:r>
              <a:rPr lang="zh-CN" altLang="en-US" sz="2800" b="1" dirty="0"/>
              <a:t>和</a:t>
            </a:r>
            <a:r>
              <a:rPr lang="en-US" altLang="zh-CN" sz="2800" b="1" dirty="0"/>
              <a:t>N=0</a:t>
            </a:r>
            <a:r>
              <a:rPr lang="zh-CN" altLang="en-US" sz="2800" b="1" dirty="0"/>
              <a:t>之后执行，</a:t>
            </a:r>
            <a:endParaRPr lang="zh-CN" altLang="en-US" sz="2800" b="1" dirty="0"/>
          </a:p>
          <a:p>
            <a:pPr eaLnBrk="1" hangingPunct="1">
              <a:lnSpc>
                <a:spcPct val="90000"/>
              </a:lnSpc>
              <a:buClrTx/>
              <a:buSzTx/>
              <a:buFontTx/>
              <a:buNone/>
            </a:pPr>
            <a:r>
              <a:rPr lang="zh-CN" altLang="en-US" sz="2800" b="1" dirty="0"/>
              <a:t>     即执行次序：	</a:t>
            </a:r>
            <a:r>
              <a:rPr lang="en-US" altLang="zh-CN" sz="2800" b="1" dirty="0"/>
              <a:t>Print</a:t>
            </a:r>
            <a:r>
              <a:rPr lang="zh-CN" altLang="en-US" sz="2800" b="1" dirty="0"/>
              <a:t>（</a:t>
            </a:r>
            <a:r>
              <a:rPr lang="en-US" altLang="zh-CN" sz="2800" b="1" dirty="0"/>
              <a:t>N</a:t>
            </a:r>
            <a:r>
              <a:rPr lang="zh-CN" altLang="en-US" sz="2800" b="1" dirty="0"/>
              <a:t>）		 </a:t>
            </a:r>
            <a:r>
              <a:rPr lang="en-US" altLang="zh-CN" sz="2800" b="1" dirty="0">
                <a:solidFill>
                  <a:srgbClr val="FF0000"/>
                </a:solidFill>
              </a:rPr>
              <a:t>n</a:t>
            </a:r>
            <a:r>
              <a:rPr lang="en-US" altLang="zh-CN" sz="2800" b="1" dirty="0"/>
              <a:t>				 	N=0			 </a:t>
            </a:r>
            <a:r>
              <a:rPr lang="en-US" altLang="zh-CN" sz="2800" b="1" dirty="0">
                <a:solidFill>
                  <a:srgbClr val="FF0000"/>
                </a:solidFill>
              </a:rPr>
              <a:t>0</a:t>
            </a:r>
            <a:r>
              <a:rPr lang="en-US" altLang="zh-CN" sz="2800" b="1" dirty="0"/>
              <a:t>				 	N=N+1		 </a:t>
            </a:r>
            <a:r>
              <a:rPr lang="en-US" altLang="zh-CN" sz="2800" b="1" dirty="0">
                <a:solidFill>
                  <a:srgbClr val="FF0000"/>
                </a:solidFill>
              </a:rPr>
              <a:t>1</a:t>
            </a:r>
            <a:endParaRPr lang="en-US" altLang="zh-CN" sz="2800" b="1" dirty="0">
              <a:solidFill>
                <a:srgbClr val="FF0000"/>
              </a:solidFill>
            </a:endParaRPr>
          </a:p>
          <a:p>
            <a:pPr eaLnBrk="1" hangingPunct="1">
              <a:lnSpc>
                <a:spcPct val="90000"/>
              </a:lnSpc>
              <a:buClrTx/>
              <a:buSzTx/>
              <a:buFontTx/>
              <a:buNone/>
            </a:pPr>
            <a:r>
              <a:rPr lang="en-US" altLang="zh-CN" sz="2800" b="1" dirty="0"/>
              <a:t>3</a:t>
            </a:r>
            <a:r>
              <a:rPr lang="zh-CN" altLang="en-US" sz="2800" b="1" dirty="0"/>
              <a:t>、</a:t>
            </a:r>
            <a:r>
              <a:rPr lang="en-US" altLang="zh-CN" sz="2800" b="1" dirty="0"/>
              <a:t>N=N+1</a:t>
            </a:r>
            <a:r>
              <a:rPr lang="zh-CN" altLang="en-US" sz="2800" b="1" dirty="0"/>
              <a:t>，在</a:t>
            </a:r>
            <a:r>
              <a:rPr lang="en-US" altLang="zh-CN" sz="2800" b="1" dirty="0"/>
              <a:t>Print</a:t>
            </a:r>
            <a:r>
              <a:rPr lang="zh-CN" altLang="en-US" sz="2800" b="1" dirty="0"/>
              <a:t>和</a:t>
            </a:r>
            <a:r>
              <a:rPr lang="en-US" altLang="zh-CN" sz="2800" b="1" dirty="0"/>
              <a:t>N=0</a:t>
            </a:r>
            <a:r>
              <a:rPr lang="zh-CN" altLang="en-US" sz="2800" b="1" dirty="0"/>
              <a:t>之间执行，</a:t>
            </a:r>
            <a:endParaRPr lang="zh-CN" altLang="en-US" sz="2800" b="1" dirty="0"/>
          </a:p>
          <a:p>
            <a:pPr eaLnBrk="1" hangingPunct="1">
              <a:lnSpc>
                <a:spcPct val="90000"/>
              </a:lnSpc>
              <a:buClrTx/>
              <a:buSzTx/>
              <a:buFontTx/>
              <a:buNone/>
            </a:pPr>
            <a:r>
              <a:rPr lang="zh-CN" altLang="en-US" sz="2800" b="1" dirty="0"/>
              <a:t>     即执行次序：	</a:t>
            </a:r>
            <a:r>
              <a:rPr lang="en-US" altLang="zh-CN" sz="2800" b="1" dirty="0"/>
              <a:t>Print</a:t>
            </a:r>
            <a:r>
              <a:rPr lang="zh-CN" altLang="en-US" sz="2800" b="1" dirty="0"/>
              <a:t>（</a:t>
            </a:r>
            <a:r>
              <a:rPr lang="en-US" altLang="zh-CN" sz="2800" b="1" dirty="0"/>
              <a:t>N</a:t>
            </a:r>
            <a:r>
              <a:rPr lang="zh-CN" altLang="en-US" sz="2800" b="1" dirty="0"/>
              <a:t>）		</a:t>
            </a:r>
            <a:r>
              <a:rPr lang="zh-CN" altLang="en-US" sz="2800" b="1" dirty="0">
                <a:solidFill>
                  <a:srgbClr val="FF0000"/>
                </a:solidFill>
              </a:rPr>
              <a:t> </a:t>
            </a:r>
            <a:r>
              <a:rPr lang="en-US" altLang="zh-CN" sz="2800" b="1" dirty="0">
                <a:solidFill>
                  <a:srgbClr val="FF0000"/>
                </a:solidFill>
              </a:rPr>
              <a:t>n</a:t>
            </a:r>
            <a:r>
              <a:rPr lang="en-US" altLang="zh-CN" sz="2800" b="1" dirty="0"/>
              <a:t>				 	N=N+1		 </a:t>
            </a:r>
            <a:r>
              <a:rPr lang="en-US" altLang="zh-CN" sz="2800" b="1" dirty="0">
                <a:solidFill>
                  <a:srgbClr val="FF0000"/>
                </a:solidFill>
              </a:rPr>
              <a:t>n+1</a:t>
            </a:r>
            <a:endParaRPr lang="en-US" altLang="zh-CN" sz="2800" b="1" dirty="0">
              <a:solidFill>
                <a:srgbClr val="FF0000"/>
              </a:solidFill>
            </a:endParaRPr>
          </a:p>
          <a:p>
            <a:pPr eaLnBrk="1" hangingPunct="1">
              <a:lnSpc>
                <a:spcPct val="90000"/>
              </a:lnSpc>
              <a:buClrTx/>
              <a:buSzTx/>
              <a:buFontTx/>
              <a:buNone/>
            </a:pPr>
            <a:r>
              <a:rPr lang="en-US" altLang="zh-CN" sz="2800" b="1" dirty="0">
                <a:solidFill>
                  <a:schemeClr val="hlink"/>
                </a:solidFill>
              </a:rPr>
              <a:t>				</a:t>
            </a:r>
            <a:r>
              <a:rPr lang="en-US" altLang="zh-CN" sz="2800" b="1" dirty="0"/>
              <a:t>N=0			 </a:t>
            </a:r>
            <a:r>
              <a:rPr lang="en-US" altLang="zh-CN" sz="2800" b="1" dirty="0">
                <a:solidFill>
                  <a:srgbClr val="FF0000"/>
                </a:solidFill>
              </a:rPr>
              <a:t>0</a:t>
            </a:r>
            <a:endParaRPr lang="en-US" altLang="zh-CN" sz="2800" b="1" dirty="0">
              <a:solidFill>
                <a:srgbClr val="FF0000"/>
              </a:solidFill>
            </a:endParaRPr>
          </a:p>
        </p:txBody>
      </p:sp>
      <p:sp>
        <p:nvSpPr>
          <p:cNvPr id="16388" name="AutoShape 4"/>
          <p:cNvSpPr/>
          <p:nvPr/>
        </p:nvSpPr>
        <p:spPr>
          <a:xfrm>
            <a:off x="7924800" y="1143000"/>
            <a:ext cx="685800" cy="5410200"/>
          </a:xfrm>
          <a:prstGeom prst="wedgeRoundRectCallout">
            <a:avLst>
              <a:gd name="adj1" fmla="val -46528"/>
              <a:gd name="adj2" fmla="val -47653"/>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Tahoma" panose="020B0604030504040204" pitchFamily="34" charset="0"/>
              </a:rPr>
              <a:t>彩色的为执行结果</a:t>
            </a:r>
            <a:endParaRPr lang="zh-CN" altLang="en-US" sz="2400" b="1" dirty="0">
              <a:latin typeface="Tahoma" panose="020B0604030504040204" pitchFamily="34" charset="0"/>
            </a:endParaRPr>
          </a:p>
          <a:p>
            <a:pPr marL="0" lvl="0" indent="0" algn="ctr" eaLnBrk="1" hangingPunct="1">
              <a:spcBef>
                <a:spcPct val="0"/>
              </a:spcBef>
              <a:buClrTx/>
              <a:buSzTx/>
              <a:buFontTx/>
              <a:buNone/>
            </a:pPr>
            <a:r>
              <a:rPr lang="zh-CN" altLang="en-US" sz="2400" b="1" dirty="0">
                <a:latin typeface="Tahoma" panose="020B0604030504040204" pitchFamily="34" charset="0"/>
              </a:rPr>
              <a:t>，各不相同</a:t>
            </a:r>
            <a:endParaRPr lang="zh-CN" altLang="en-US" sz="2400" b="1"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0466"/>
                                        </p:tgtEl>
                                        <p:attrNameLst>
                                          <p:attrName>style.visibility</p:attrName>
                                        </p:attrNameLst>
                                      </p:cBhvr>
                                      <p:to>
                                        <p:strVal val="visible"/>
                                      </p:to>
                                    </p:set>
                                    <p:animEffect transition="in" filter="fade">
                                      <p:cBhvr>
                                        <p:cTn id="7" dur="2000"/>
                                        <p:tgtEl>
                                          <p:spTgt spid="1904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795">
                                            <p:txEl>
                                              <p:charRg st="0" end="27"/>
                                            </p:txEl>
                                          </p:spTgt>
                                        </p:tgtEl>
                                        <p:attrNameLst>
                                          <p:attrName>style.visibility</p:attrName>
                                        </p:attrNameLst>
                                      </p:cBhvr>
                                      <p:to>
                                        <p:strVal val="visible"/>
                                      </p:to>
                                    </p:set>
                                    <p:animEffect transition="in" filter="fade">
                                      <p:cBhvr>
                                        <p:cTn id="12" dur="2000"/>
                                        <p:tgtEl>
                                          <p:spTgt spid="33795">
                                            <p:txEl>
                                              <p:charRg st="0"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3795">
                                            <p:txEl>
                                              <p:charRg st="27" end="52"/>
                                            </p:txEl>
                                          </p:spTgt>
                                        </p:tgtEl>
                                        <p:attrNameLst>
                                          <p:attrName>style.visibility</p:attrName>
                                        </p:attrNameLst>
                                      </p:cBhvr>
                                      <p:to>
                                        <p:strVal val="visible"/>
                                      </p:to>
                                    </p:set>
                                    <p:animEffect transition="in" filter="fade">
                                      <p:cBhvr>
                                        <p:cTn id="17" dur="2000"/>
                                        <p:tgtEl>
                                          <p:spTgt spid="33795">
                                            <p:txEl>
                                              <p:charRg st="27" end="5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3795">
                                            <p:txEl>
                                              <p:charRg st="52" end="74"/>
                                            </p:txEl>
                                          </p:spTgt>
                                        </p:tgtEl>
                                        <p:attrNameLst>
                                          <p:attrName>style.visibility</p:attrName>
                                        </p:attrNameLst>
                                      </p:cBhvr>
                                      <p:to>
                                        <p:strVal val="visible"/>
                                      </p:to>
                                    </p:set>
                                    <p:animEffect transition="in" filter="fade">
                                      <p:cBhvr>
                                        <p:cTn id="22" dur="2000"/>
                                        <p:tgtEl>
                                          <p:spTgt spid="33795">
                                            <p:txEl>
                                              <p:charRg st="52" end="7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795">
                                            <p:txEl>
                                              <p:charRg st="74" end="87"/>
                                            </p:txEl>
                                          </p:spTgt>
                                        </p:tgtEl>
                                        <p:attrNameLst>
                                          <p:attrName>style.visibility</p:attrName>
                                        </p:attrNameLst>
                                      </p:cBhvr>
                                      <p:to>
                                        <p:strVal val="visible"/>
                                      </p:to>
                                    </p:set>
                                    <p:animEffect transition="in" filter="fade">
                                      <p:cBhvr>
                                        <p:cTn id="27" dur="2000"/>
                                        <p:tgtEl>
                                          <p:spTgt spid="33795">
                                            <p:txEl>
                                              <p:charRg st="74" end="8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3795">
                                            <p:txEl>
                                              <p:charRg st="87" end="111"/>
                                            </p:txEl>
                                          </p:spTgt>
                                        </p:tgtEl>
                                        <p:attrNameLst>
                                          <p:attrName>style.visibility</p:attrName>
                                        </p:attrNameLst>
                                      </p:cBhvr>
                                      <p:to>
                                        <p:strVal val="visible"/>
                                      </p:to>
                                    </p:set>
                                    <p:animEffect transition="in" filter="fade">
                                      <p:cBhvr>
                                        <p:cTn id="32" dur="2000"/>
                                        <p:tgtEl>
                                          <p:spTgt spid="33795">
                                            <p:txEl>
                                              <p:charRg st="87" end="1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3795">
                                            <p:txEl>
                                              <p:charRg st="111" end="165"/>
                                            </p:txEl>
                                          </p:spTgt>
                                        </p:tgtEl>
                                        <p:attrNameLst>
                                          <p:attrName>style.visibility</p:attrName>
                                        </p:attrNameLst>
                                      </p:cBhvr>
                                      <p:to>
                                        <p:strVal val="visible"/>
                                      </p:to>
                                    </p:set>
                                    <p:animEffect transition="in" filter="fade">
                                      <p:cBhvr>
                                        <p:cTn id="37" dur="2000"/>
                                        <p:tgtEl>
                                          <p:spTgt spid="33795">
                                            <p:txEl>
                                              <p:charRg st="111" end="16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795">
                                            <p:txEl>
                                              <p:charRg st="165" end="189"/>
                                            </p:txEl>
                                          </p:spTgt>
                                        </p:tgtEl>
                                        <p:attrNameLst>
                                          <p:attrName>style.visibility</p:attrName>
                                        </p:attrNameLst>
                                      </p:cBhvr>
                                      <p:to>
                                        <p:strVal val="visible"/>
                                      </p:to>
                                    </p:set>
                                    <p:animEffect transition="in" filter="fade">
                                      <p:cBhvr>
                                        <p:cTn id="42" dur="2000"/>
                                        <p:tgtEl>
                                          <p:spTgt spid="33795">
                                            <p:txEl>
                                              <p:charRg st="165" end="18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3795">
                                            <p:txEl>
                                              <p:charRg st="189" end="231"/>
                                            </p:txEl>
                                          </p:spTgt>
                                        </p:tgtEl>
                                        <p:attrNameLst>
                                          <p:attrName>style.visibility</p:attrName>
                                        </p:attrNameLst>
                                      </p:cBhvr>
                                      <p:to>
                                        <p:strVal val="visible"/>
                                      </p:to>
                                    </p:set>
                                    <p:animEffect transition="in" filter="fade">
                                      <p:cBhvr>
                                        <p:cTn id="47" dur="2000"/>
                                        <p:tgtEl>
                                          <p:spTgt spid="33795">
                                            <p:txEl>
                                              <p:charRg st="189" end="23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3795">
                                            <p:txEl>
                                              <p:charRg st="231" end="244"/>
                                            </p:txEl>
                                          </p:spTgt>
                                        </p:tgtEl>
                                        <p:attrNameLst>
                                          <p:attrName>style.visibility</p:attrName>
                                        </p:attrNameLst>
                                      </p:cBhvr>
                                      <p:to>
                                        <p:strVal val="visible"/>
                                      </p:to>
                                    </p:set>
                                    <p:animEffect transition="in" filter="fade">
                                      <p:cBhvr>
                                        <p:cTn id="52" dur="2000"/>
                                        <p:tgtEl>
                                          <p:spTgt spid="33795">
                                            <p:txEl>
                                              <p:charRg st="231" end="2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p:bldP spid="3379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a:ln/>
        </p:spPr>
        <p:txBody>
          <a:bodyPr vert="horz" wrap="square" lIns="91440" tIns="45720" rIns="91440" bIns="45720" anchor="ctr" anchorCtr="0"/>
          <a:p>
            <a:r>
              <a:rPr lang="zh-CN" altLang="en-US" dirty="0"/>
              <a:t>作业</a:t>
            </a:r>
            <a:r>
              <a:rPr lang="en-US" altLang="zh-CN" dirty="0"/>
              <a:t>1 </a:t>
            </a:r>
            <a:endParaRPr lang="zh-CN" altLang="en-US" dirty="0"/>
          </a:p>
        </p:txBody>
      </p:sp>
      <p:sp>
        <p:nvSpPr>
          <p:cNvPr id="17411" name="内容占位符 2"/>
          <p:cNvSpPr>
            <a:spLocks noGrp="1"/>
          </p:cNvSpPr>
          <p:nvPr>
            <p:ph idx="1"/>
          </p:nvPr>
        </p:nvSpPr>
        <p:spPr>
          <a:ln/>
        </p:spPr>
        <p:txBody>
          <a:bodyPr vert="horz" wrap="square" lIns="91440" tIns="45720" rIns="91440" bIns="45720" anchor="t" anchorCtr="0"/>
          <a:p>
            <a:r>
              <a:rPr lang="zh-CN" altLang="en-US" dirty="0"/>
              <a:t>在</a:t>
            </a:r>
            <a:r>
              <a:rPr lang="en-US" altLang="zh-CN" dirty="0"/>
              <a:t>Linux</a:t>
            </a:r>
            <a:r>
              <a:rPr lang="zh-CN" altLang="en-US" dirty="0"/>
              <a:t>操作系统中实现上页中例子，运行多次，每次的结果有什么不同？</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2.2 </a:t>
            </a:r>
            <a:r>
              <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进程的描述</a:t>
            </a:r>
            <a:endParaRPr kumimoji="0" lang="zh-CN" altLang="en-US" sz="4400" b="0" i="0" u="none" strike="noStrike" kern="0" cap="none" spc="0" normalizeH="0" baseline="0" noProof="0" dirty="0">
              <a:ln>
                <a:noFill/>
              </a:ln>
              <a:solidFill>
                <a:schemeClr val="tx2"/>
              </a:solidFill>
              <a:effectLst/>
              <a:uLnTx/>
              <a:uFillTx/>
              <a:latin typeface="+mj-lt"/>
              <a:ea typeface="+mj-ea"/>
              <a:cs typeface="+mj-cs"/>
            </a:endParaRPr>
          </a:p>
        </p:txBody>
      </p:sp>
      <p:sp>
        <p:nvSpPr>
          <p:cNvPr id="18435" name="内容占位符 2"/>
          <p:cNvSpPr>
            <a:spLocks noGrp="1"/>
          </p:cNvSpPr>
          <p:nvPr>
            <p:ph idx="1"/>
          </p:nvPr>
        </p:nvSpPr>
        <p:spPr>
          <a:ln/>
        </p:spPr>
        <p:txBody>
          <a:bodyPr vert="horz" wrap="square" lIns="91440" tIns="45720" rIns="91440" bIns="45720" anchor="t" anchorCtr="0"/>
          <a:p>
            <a:pPr algn="just" eaLnBrk="1" hangingPunct="1">
              <a:buNone/>
            </a:pPr>
            <a:r>
              <a:rPr lang="en-US" altLang="zh-CN" sz="3600" b="1" dirty="0">
                <a:solidFill>
                  <a:srgbClr val="0066FF"/>
                </a:solidFill>
              </a:rPr>
              <a:t>2.2.1 </a:t>
            </a:r>
            <a:r>
              <a:rPr lang="zh-CN" altLang="en-US" b="1" dirty="0">
                <a:solidFill>
                  <a:srgbClr val="0066FF"/>
                </a:solidFill>
              </a:rPr>
              <a:t>进程的定义和特征 </a:t>
            </a:r>
            <a:endParaRPr lang="en-US" altLang="zh-CN" b="1" dirty="0"/>
          </a:p>
          <a:p>
            <a:pPr algn="just" eaLnBrk="1" hangingPunct="1">
              <a:buNone/>
            </a:pPr>
            <a:r>
              <a:rPr lang="en-US" altLang="zh-CN" b="1" dirty="0">
                <a:solidFill>
                  <a:srgbClr val="00B050"/>
                </a:solidFill>
              </a:rPr>
              <a:t>1. </a:t>
            </a:r>
            <a:r>
              <a:rPr lang="zh-CN" altLang="en-US" b="1" dirty="0">
                <a:solidFill>
                  <a:srgbClr val="00B050"/>
                </a:solidFill>
              </a:rPr>
              <a:t>典型的进程定义有：</a:t>
            </a:r>
            <a:endParaRPr lang="zh-CN" altLang="en-US" b="1" dirty="0"/>
          </a:p>
          <a:p>
            <a:pPr algn="just" eaLnBrk="1" hangingPunct="1">
              <a:buNone/>
            </a:pPr>
            <a:r>
              <a:rPr lang="zh-CN" altLang="en-US" b="1" dirty="0"/>
              <a:t>（</a:t>
            </a:r>
            <a:r>
              <a:rPr lang="en-US" altLang="zh-CN" b="1" dirty="0"/>
              <a:t>1</a:t>
            </a:r>
            <a:r>
              <a:rPr lang="zh-CN" altLang="en-US" b="1" dirty="0"/>
              <a:t>）进程是程序的一次执行。</a:t>
            </a:r>
            <a:endParaRPr lang="zh-CN" altLang="en-US" b="1" dirty="0"/>
          </a:p>
          <a:p>
            <a:pPr algn="just" eaLnBrk="1" hangingPunct="1">
              <a:buNone/>
            </a:pPr>
            <a:r>
              <a:rPr lang="zh-CN" altLang="en-US" b="1" dirty="0"/>
              <a:t>（</a:t>
            </a:r>
            <a:r>
              <a:rPr lang="en-US" altLang="zh-CN" b="1" dirty="0"/>
              <a:t>2</a:t>
            </a:r>
            <a:r>
              <a:rPr lang="zh-CN" altLang="en-US" b="1" dirty="0"/>
              <a:t>）进程是一个</a:t>
            </a:r>
            <a:r>
              <a:rPr lang="zh-CN" altLang="en-US" b="1" dirty="0">
                <a:solidFill>
                  <a:srgbClr val="FF0000"/>
                </a:solidFill>
              </a:rPr>
              <a:t>程序</a:t>
            </a:r>
            <a:r>
              <a:rPr lang="zh-CN" altLang="en-US" b="1" dirty="0"/>
              <a:t>及其数据在处理机上顺序</a:t>
            </a:r>
            <a:r>
              <a:rPr lang="zh-CN" altLang="en-US" b="1" dirty="0">
                <a:solidFill>
                  <a:srgbClr val="FF0000"/>
                </a:solidFill>
              </a:rPr>
              <a:t>执行</a:t>
            </a:r>
            <a:r>
              <a:rPr lang="zh-CN" altLang="en-US" b="1" dirty="0"/>
              <a:t>时所发生的活动。</a:t>
            </a:r>
            <a:endParaRPr lang="zh-CN" altLang="en-US" b="1" dirty="0"/>
          </a:p>
          <a:p>
            <a:pPr algn="just" eaLnBrk="1" hangingPunct="1">
              <a:buNone/>
            </a:pPr>
            <a:r>
              <a:rPr lang="zh-CN" altLang="en-US" b="1" dirty="0"/>
              <a:t>（</a:t>
            </a:r>
            <a:r>
              <a:rPr lang="en-US" altLang="zh-CN" b="1" dirty="0"/>
              <a:t>3</a:t>
            </a:r>
            <a:r>
              <a:rPr lang="zh-CN" altLang="en-US" b="1" dirty="0"/>
              <a:t>）进程是程序在一个数据集合上运行的过程，它是系统进行资源分配和调度的一个独立单位。</a:t>
            </a:r>
            <a:endParaRPr lang="zh-CN" altLang="en-US" b="1" dirty="0"/>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noRot="1" noChangeArrowheads="1"/>
          </p:cNvSpPr>
          <p:nvPr>
            <p:ph type="title"/>
          </p:nvPr>
        </p:nvSpPr>
        <p:spPr>
          <a:xfrm>
            <a:off x="381000" y="609600"/>
            <a:ext cx="7772400" cy="762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2.2 </a:t>
            </a:r>
            <a:r>
              <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进程的描述</a:t>
            </a:r>
            <a:endPar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endParaRPr>
          </a:p>
        </p:txBody>
      </p:sp>
      <p:sp>
        <p:nvSpPr>
          <p:cNvPr id="34819" name="Rectangle 3"/>
          <p:cNvSpPr>
            <a:spLocks noGrp="1" noRot="1"/>
          </p:cNvSpPr>
          <p:nvPr>
            <p:ph type="body"/>
          </p:nvPr>
        </p:nvSpPr>
        <p:spPr>
          <a:xfrm>
            <a:off x="381000" y="1676400"/>
            <a:ext cx="8382000" cy="4495800"/>
          </a:xfrm>
          <a:ln/>
        </p:spPr>
        <p:txBody>
          <a:bodyPr vert="horz" wrap="square" lIns="91440" tIns="45720" rIns="91440" bIns="45720" anchor="t" anchorCtr="0"/>
          <a:p>
            <a:pPr marL="579755" indent="-579755" algn="just" eaLnBrk="1" hangingPunct="1">
              <a:lnSpc>
                <a:spcPct val="90000"/>
              </a:lnSpc>
            </a:pPr>
            <a:r>
              <a:rPr lang="en-US" altLang="zh-CN" sz="3600" b="1" dirty="0">
                <a:solidFill>
                  <a:srgbClr val="00B050"/>
                </a:solidFill>
              </a:rPr>
              <a:t>2. </a:t>
            </a:r>
            <a:r>
              <a:rPr lang="zh-CN" altLang="en-US" sz="3600" b="1" dirty="0">
                <a:solidFill>
                  <a:srgbClr val="00B050"/>
                </a:solidFill>
              </a:rPr>
              <a:t>进程的结构</a:t>
            </a:r>
            <a:endParaRPr lang="en-US" altLang="zh-CN" sz="3600" b="1" dirty="0">
              <a:solidFill>
                <a:srgbClr val="00B050"/>
              </a:solidFill>
            </a:endParaRPr>
          </a:p>
          <a:p>
            <a:pPr marL="579755" indent="-579755" algn="just" eaLnBrk="1" hangingPunct="1">
              <a:lnSpc>
                <a:spcPct val="90000"/>
              </a:lnSpc>
            </a:pPr>
            <a:r>
              <a:rPr lang="zh-CN" altLang="en-US" b="1" dirty="0"/>
              <a:t>为使程序（含数据）能独立运行，应为之配置一进程控制块，即</a:t>
            </a:r>
            <a:r>
              <a:rPr lang="en-US" altLang="zh-CN" b="1" dirty="0"/>
              <a:t>PCB</a:t>
            </a:r>
            <a:r>
              <a:rPr lang="zh-CN" altLang="en-US" b="1" dirty="0"/>
              <a:t>；</a:t>
            </a:r>
            <a:endParaRPr lang="zh-CN" altLang="en-US" b="1" dirty="0"/>
          </a:p>
          <a:p>
            <a:pPr marL="579755" indent="-579755" algn="just" eaLnBrk="1" hangingPunct="1">
              <a:lnSpc>
                <a:spcPct val="90000"/>
              </a:lnSpc>
            </a:pPr>
            <a:r>
              <a:rPr lang="zh-CN" altLang="en-US" b="1" dirty="0"/>
              <a:t>而由</a:t>
            </a:r>
            <a:r>
              <a:rPr lang="zh-CN" altLang="en-US" b="1" dirty="0">
                <a:solidFill>
                  <a:srgbClr val="FF0000"/>
                </a:solidFill>
              </a:rPr>
              <a:t>程序段、</a:t>
            </a:r>
            <a:r>
              <a:rPr lang="zh-CN" altLang="en-US" b="1" dirty="0"/>
              <a:t>相关的</a:t>
            </a:r>
            <a:r>
              <a:rPr lang="zh-CN" altLang="en-US" b="1" dirty="0">
                <a:solidFill>
                  <a:srgbClr val="FF0000"/>
                </a:solidFill>
              </a:rPr>
              <a:t>数据段和</a:t>
            </a:r>
            <a:r>
              <a:rPr lang="en-US" altLang="zh-CN" b="1" dirty="0">
                <a:solidFill>
                  <a:srgbClr val="FF0000"/>
                </a:solidFill>
              </a:rPr>
              <a:t>PCB</a:t>
            </a:r>
            <a:r>
              <a:rPr lang="zh-CN" altLang="en-US" b="1" dirty="0"/>
              <a:t>三部分便构成了进程实体。</a:t>
            </a:r>
            <a:endParaRPr lang="zh-CN" altLang="en-US" b="1" dirty="0"/>
          </a:p>
          <a:p>
            <a:pPr marL="579755" indent="-579755" algn="just" eaLnBrk="1" hangingPunct="1">
              <a:lnSpc>
                <a:spcPct val="90000"/>
              </a:lnSpc>
            </a:pPr>
            <a:r>
              <a:rPr lang="zh-CN" altLang="en-US" b="1" dirty="0"/>
              <a:t>所谓创建进程，实质上是创建进程实体中的</a:t>
            </a:r>
            <a:r>
              <a:rPr lang="en-US" altLang="zh-CN" b="1" dirty="0"/>
              <a:t>PCB</a:t>
            </a:r>
            <a:r>
              <a:rPr lang="zh-CN" altLang="en-US" b="1" dirty="0"/>
              <a:t>；而撤消进程，实质上是撤消进程的</a:t>
            </a:r>
            <a:r>
              <a:rPr lang="en-US" altLang="zh-CN" b="1" dirty="0"/>
              <a:t>PCB</a:t>
            </a:r>
            <a:r>
              <a:rPr lang="zh-CN" altLang="en-US" b="1" dirty="0"/>
              <a:t>。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1490"/>
                                        </p:tgtEl>
                                        <p:attrNameLst>
                                          <p:attrName>style.visibility</p:attrName>
                                        </p:attrNameLst>
                                      </p:cBhvr>
                                      <p:to>
                                        <p:strVal val="visible"/>
                                      </p:to>
                                    </p:set>
                                    <p:animEffect transition="in" filter="fade">
                                      <p:cBhvr>
                                        <p:cTn id="7" dur="2000"/>
                                        <p:tgtEl>
                                          <p:spTgt spid="1914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charRg st="0" end="9"/>
                                            </p:txEl>
                                          </p:spTgt>
                                        </p:tgtEl>
                                        <p:attrNameLst>
                                          <p:attrName>style.visibility</p:attrName>
                                        </p:attrNameLst>
                                      </p:cBhvr>
                                      <p:to>
                                        <p:strVal val="visible"/>
                                      </p:to>
                                    </p:set>
                                    <p:animEffect transition="in" filter="fade">
                                      <p:cBhvr>
                                        <p:cTn id="12" dur="2000"/>
                                        <p:tgtEl>
                                          <p:spTgt spid="34819">
                                            <p:txEl>
                                              <p:charRg st="0"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xEl>
                                              <p:charRg st="9" end="42"/>
                                            </p:txEl>
                                          </p:spTgt>
                                        </p:tgtEl>
                                        <p:attrNameLst>
                                          <p:attrName>style.visibility</p:attrName>
                                        </p:attrNameLst>
                                      </p:cBhvr>
                                      <p:to>
                                        <p:strVal val="visible"/>
                                      </p:to>
                                    </p:set>
                                    <p:animEffect transition="in" filter="fade">
                                      <p:cBhvr>
                                        <p:cTn id="17" dur="2000"/>
                                        <p:tgtEl>
                                          <p:spTgt spid="34819">
                                            <p:txEl>
                                              <p:charRg st="9"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819">
                                            <p:txEl>
                                              <p:charRg st="42" end="71"/>
                                            </p:txEl>
                                          </p:spTgt>
                                        </p:tgtEl>
                                        <p:attrNameLst>
                                          <p:attrName>style.visibility</p:attrName>
                                        </p:attrNameLst>
                                      </p:cBhvr>
                                      <p:to>
                                        <p:strVal val="visible"/>
                                      </p:to>
                                    </p:set>
                                    <p:animEffect transition="in" filter="fade">
                                      <p:cBhvr>
                                        <p:cTn id="22" dur="2000"/>
                                        <p:tgtEl>
                                          <p:spTgt spid="34819">
                                            <p:txEl>
                                              <p:charRg st="42" end="7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819">
                                            <p:txEl>
                                              <p:charRg st="71" end="119"/>
                                            </p:txEl>
                                          </p:spTgt>
                                        </p:tgtEl>
                                        <p:attrNameLst>
                                          <p:attrName>style.visibility</p:attrName>
                                        </p:attrNameLst>
                                      </p:cBhvr>
                                      <p:to>
                                        <p:strVal val="visible"/>
                                      </p:to>
                                    </p:set>
                                    <p:animEffect transition="in" filter="fade">
                                      <p:cBhvr>
                                        <p:cTn id="27" dur="2000"/>
                                        <p:tgtEl>
                                          <p:spTgt spid="34819">
                                            <p:txEl>
                                              <p:charRg st="71" end="1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P spid="348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833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pic>
        <p:nvPicPr>
          <p:cNvPr id="20483" name="Picture 4"/>
          <p:cNvPicPr>
            <a:picLocks noChangeAspect="1"/>
          </p:cNvPicPr>
          <p:nvPr/>
        </p:nvPicPr>
        <p:blipFill>
          <a:blip r:embed="rId1"/>
          <a:stretch>
            <a:fillRect/>
          </a:stretch>
        </p:blipFill>
        <p:spPr>
          <a:xfrm>
            <a:off x="2209800" y="304800"/>
            <a:ext cx="5111750" cy="5410200"/>
          </a:xfrm>
          <a:prstGeom prst="rect">
            <a:avLst/>
          </a:prstGeom>
          <a:noFill/>
          <a:ln w="9525">
            <a:noFill/>
          </a:ln>
        </p:spPr>
      </p:pic>
      <p:sp>
        <p:nvSpPr>
          <p:cNvPr id="20484" name="Text Box 5"/>
          <p:cNvSpPr txBox="1"/>
          <p:nvPr/>
        </p:nvSpPr>
        <p:spPr>
          <a:xfrm>
            <a:off x="2514600" y="5867400"/>
            <a:ext cx="3657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dirty="0"/>
              <a:t>三个进程同时驻留内存</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8338"/>
                                        </p:tgtEl>
                                        <p:attrNameLst>
                                          <p:attrName>style.visibility</p:attrName>
                                        </p:attrNameLst>
                                      </p:cBhvr>
                                      <p:to>
                                        <p:strVal val="visible"/>
                                      </p:to>
                                    </p:set>
                                    <p:animEffect transition="in" filter="fade">
                                      <p:cBhvr>
                                        <p:cTn id="7" dur="2000"/>
                                        <p:tgtEl>
                                          <p:spTgt spid="398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6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9939" name="Rectangle 3"/>
          <p:cNvSpPr>
            <a:spLocks noGrp="1" noRot="1"/>
          </p:cNvSpPr>
          <p:nvPr>
            <p:ph type="body"/>
          </p:nvPr>
        </p:nvSpPr>
        <p:spPr>
          <a:ln/>
        </p:spPr>
        <p:txBody>
          <a:bodyPr vert="horz" wrap="square" lIns="91440" tIns="45720" rIns="91440" bIns="45720" anchor="t" anchorCtr="0"/>
          <a:p>
            <a:pPr eaLnBrk="1" hangingPunct="1"/>
            <a:endParaRPr lang="zh-CN" altLang="zh-CN" dirty="0"/>
          </a:p>
        </p:txBody>
      </p:sp>
      <p:pic>
        <p:nvPicPr>
          <p:cNvPr id="21508" name="Picture 4"/>
          <p:cNvPicPr>
            <a:picLocks noChangeAspect="1"/>
          </p:cNvPicPr>
          <p:nvPr/>
        </p:nvPicPr>
        <p:blipFill>
          <a:blip r:embed="rId1"/>
          <a:stretch>
            <a:fillRect/>
          </a:stretch>
        </p:blipFill>
        <p:spPr>
          <a:xfrm>
            <a:off x="2438400" y="381000"/>
            <a:ext cx="4219575" cy="5791200"/>
          </a:xfrm>
          <a:prstGeom prst="rect">
            <a:avLst/>
          </a:prstGeom>
          <a:noFill/>
          <a:ln w="9525">
            <a:noFill/>
          </a:ln>
        </p:spPr>
      </p:pic>
      <p:sp>
        <p:nvSpPr>
          <p:cNvPr id="21509" name="Text Box 5"/>
          <p:cNvSpPr txBox="1"/>
          <p:nvPr/>
        </p:nvSpPr>
        <p:spPr>
          <a:xfrm>
            <a:off x="2286000" y="6096000"/>
            <a:ext cx="3657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dirty="0"/>
              <a:t>三个进程交替执行</a:t>
            </a:r>
            <a:endParaRPr lang="zh-CN" altLang="en-US" sz="2400" dirty="0"/>
          </a:p>
        </p:txBody>
      </p:sp>
      <p:sp>
        <p:nvSpPr>
          <p:cNvPr id="399366" name="AutoShape 6"/>
          <p:cNvSpPr/>
          <p:nvPr/>
        </p:nvSpPr>
        <p:spPr>
          <a:xfrm>
            <a:off x="3581400" y="457200"/>
            <a:ext cx="152400" cy="838200"/>
          </a:xfrm>
          <a:prstGeom prst="rightBrace">
            <a:avLst>
              <a:gd name="adj1" fmla="val 4583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进程</a:t>
            </a:r>
            <a:r>
              <a:rPr lang="en-US" altLang="zh-CN" sz="1800" dirty="0"/>
              <a:t>A</a:t>
            </a:r>
            <a:endParaRPr lang="en-US" altLang="zh-CN" sz="1800" dirty="0"/>
          </a:p>
        </p:txBody>
      </p:sp>
      <p:sp>
        <p:nvSpPr>
          <p:cNvPr id="399367" name="AutoShape 7"/>
          <p:cNvSpPr/>
          <p:nvPr/>
        </p:nvSpPr>
        <p:spPr>
          <a:xfrm>
            <a:off x="3581400" y="1600200"/>
            <a:ext cx="152400" cy="838200"/>
          </a:xfrm>
          <a:prstGeom prst="rightBrace">
            <a:avLst>
              <a:gd name="adj1" fmla="val 4583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调度程序</a:t>
            </a:r>
            <a:endParaRPr lang="zh-CN" altLang="en-US" sz="1800" dirty="0"/>
          </a:p>
        </p:txBody>
      </p:sp>
      <p:sp>
        <p:nvSpPr>
          <p:cNvPr id="399368" name="AutoShape 8"/>
          <p:cNvSpPr/>
          <p:nvPr/>
        </p:nvSpPr>
        <p:spPr>
          <a:xfrm>
            <a:off x="3581400" y="2590800"/>
            <a:ext cx="152400" cy="457200"/>
          </a:xfrm>
          <a:prstGeom prst="rightBrace">
            <a:avLst>
              <a:gd name="adj1" fmla="val 25000"/>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进程</a:t>
            </a:r>
            <a:r>
              <a:rPr lang="en-US" altLang="zh-CN" sz="1800" dirty="0"/>
              <a:t>B</a:t>
            </a:r>
            <a:endParaRPr lang="en-US" altLang="zh-CN" sz="1800" dirty="0"/>
          </a:p>
        </p:txBody>
      </p:sp>
      <p:sp>
        <p:nvSpPr>
          <p:cNvPr id="399369" name="AutoShape 9"/>
          <p:cNvSpPr/>
          <p:nvPr/>
        </p:nvSpPr>
        <p:spPr>
          <a:xfrm>
            <a:off x="3733800" y="3352800"/>
            <a:ext cx="152400" cy="838200"/>
          </a:xfrm>
          <a:prstGeom prst="rightBrace">
            <a:avLst>
              <a:gd name="adj1" fmla="val 4583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调度程序</a:t>
            </a:r>
            <a:endParaRPr lang="zh-CN" altLang="en-US" sz="1800" dirty="0"/>
          </a:p>
        </p:txBody>
      </p:sp>
      <p:sp>
        <p:nvSpPr>
          <p:cNvPr id="399370" name="AutoShape 10"/>
          <p:cNvSpPr/>
          <p:nvPr/>
        </p:nvSpPr>
        <p:spPr>
          <a:xfrm>
            <a:off x="3810000" y="4343400"/>
            <a:ext cx="76200" cy="381000"/>
          </a:xfrm>
          <a:prstGeom prst="rightBrace">
            <a:avLst>
              <a:gd name="adj1" fmla="val 41666"/>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进程</a:t>
            </a:r>
            <a:r>
              <a:rPr lang="en-US" altLang="zh-CN" sz="1800" dirty="0"/>
              <a:t>C</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99362"/>
                                        </p:tgtEl>
                                        <p:attrNameLst>
                                          <p:attrName>style.visibility</p:attrName>
                                        </p:attrNameLst>
                                      </p:cBhvr>
                                      <p:to>
                                        <p:strVal val="visible"/>
                                      </p:to>
                                    </p:set>
                                    <p:animEffect transition="in" filter="fade">
                                      <p:cBhvr>
                                        <p:cTn id="7" dur="2000"/>
                                        <p:tgtEl>
                                          <p:spTgt spid="3993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9939">
                                            <p:txEl>
                                              <p:charRg st="0" end="1"/>
                                            </p:txEl>
                                          </p:spTgt>
                                        </p:tgtEl>
                                        <p:attrNameLst>
                                          <p:attrName>style.visibility</p:attrName>
                                        </p:attrNameLst>
                                      </p:cBhvr>
                                      <p:to>
                                        <p:strVal val="visible"/>
                                      </p:to>
                                    </p:set>
                                    <p:animEffect transition="in" filter="fade">
                                      <p:cBhvr>
                                        <p:cTn id="12" dur="2000"/>
                                        <p:tgtEl>
                                          <p:spTgt spid="39939">
                                            <p:txEl>
                                              <p:charRg st="0"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99366"/>
                                        </p:tgtEl>
                                        <p:attrNameLst>
                                          <p:attrName>style.visibility</p:attrName>
                                        </p:attrNameLst>
                                      </p:cBhvr>
                                      <p:to>
                                        <p:strVal val="visible"/>
                                      </p:to>
                                    </p:set>
                                    <p:animEffect transition="in" filter="box(in)">
                                      <p:cBhvr>
                                        <p:cTn id="17" dur="500"/>
                                        <p:tgtEl>
                                          <p:spTgt spid="39936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99367"/>
                                        </p:tgtEl>
                                        <p:attrNameLst>
                                          <p:attrName>style.visibility</p:attrName>
                                        </p:attrNameLst>
                                      </p:cBhvr>
                                      <p:to>
                                        <p:strVal val="visible"/>
                                      </p:to>
                                    </p:set>
                                    <p:animEffect transition="in" filter="box(in)">
                                      <p:cBhvr>
                                        <p:cTn id="22" dur="500"/>
                                        <p:tgtEl>
                                          <p:spTgt spid="39936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99368"/>
                                        </p:tgtEl>
                                        <p:attrNameLst>
                                          <p:attrName>style.visibility</p:attrName>
                                        </p:attrNameLst>
                                      </p:cBhvr>
                                      <p:to>
                                        <p:strVal val="visible"/>
                                      </p:to>
                                    </p:set>
                                    <p:animEffect transition="in" filter="box(in)">
                                      <p:cBhvr>
                                        <p:cTn id="27" dur="500"/>
                                        <p:tgtEl>
                                          <p:spTgt spid="39936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99369"/>
                                        </p:tgtEl>
                                        <p:attrNameLst>
                                          <p:attrName>style.visibility</p:attrName>
                                        </p:attrNameLst>
                                      </p:cBhvr>
                                      <p:to>
                                        <p:strVal val="visible"/>
                                      </p:to>
                                    </p:set>
                                    <p:animEffect transition="in" filter="box(in)">
                                      <p:cBhvr>
                                        <p:cTn id="32" dur="500"/>
                                        <p:tgtEl>
                                          <p:spTgt spid="39936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99370"/>
                                        </p:tgtEl>
                                        <p:attrNameLst>
                                          <p:attrName>style.visibility</p:attrName>
                                        </p:attrNameLst>
                                      </p:cBhvr>
                                      <p:to>
                                        <p:strVal val="visible"/>
                                      </p:to>
                                    </p:set>
                                    <p:animEffect transition="in" filter="box(in)">
                                      <p:cBhvr>
                                        <p:cTn id="37" dur="500"/>
                                        <p:tgtEl>
                                          <p:spTgt spid="399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2" grpId="0"/>
      <p:bldP spid="39939" grpId="0" build="p"/>
      <p:bldP spid="399366" grpId="0" animBg="1"/>
      <p:bldP spid="399367" grpId="0" animBg="1"/>
      <p:bldP spid="399368" grpId="0" animBg="1"/>
      <p:bldP spid="399369" grpId="0" animBg="1"/>
      <p:bldP spid="39937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noRot="1"/>
          </p:cNvSpPr>
          <p:nvPr>
            <p:ph idx="1"/>
          </p:nvPr>
        </p:nvSpPr>
        <p:spPr>
          <a:xfrm>
            <a:off x="381000" y="1447800"/>
            <a:ext cx="8229600" cy="4724400"/>
          </a:xfrm>
          <a:ln/>
        </p:spPr>
        <p:txBody>
          <a:bodyPr vert="horz" wrap="square" lIns="91440" tIns="45720" rIns="91440" bIns="45720" anchor="t" anchorCtr="0"/>
          <a:p>
            <a:pPr algn="just" eaLnBrk="1" hangingPunct="1">
              <a:buNone/>
            </a:pPr>
            <a:r>
              <a:rPr lang="en-US" altLang="zh-CN" b="1" dirty="0">
                <a:solidFill>
                  <a:srgbClr val="00B050"/>
                </a:solidFill>
              </a:rPr>
              <a:t>3. </a:t>
            </a:r>
            <a:r>
              <a:rPr lang="zh-CN" altLang="en-US" b="1" dirty="0">
                <a:solidFill>
                  <a:srgbClr val="00B050"/>
                </a:solidFill>
              </a:rPr>
              <a:t>进程的特征</a:t>
            </a:r>
            <a:r>
              <a:rPr lang="en-US" altLang="zh-CN" b="1" dirty="0">
                <a:solidFill>
                  <a:srgbClr val="00B050"/>
                </a:solidFill>
              </a:rPr>
              <a:t> </a:t>
            </a:r>
            <a:endParaRPr lang="en-US" altLang="zh-CN" b="1" dirty="0">
              <a:solidFill>
                <a:srgbClr val="00B050"/>
              </a:solidFill>
            </a:endParaRPr>
          </a:p>
          <a:p>
            <a:pPr algn="just" eaLnBrk="1" hangingPunct="1">
              <a:buNone/>
            </a:pPr>
            <a:r>
              <a:rPr lang="en-US" altLang="zh-CN" b="1" dirty="0">
                <a:solidFill>
                  <a:srgbClr val="FF0000"/>
                </a:solidFill>
              </a:rPr>
              <a:t>1</a:t>
            </a:r>
            <a:r>
              <a:rPr lang="zh-CN" altLang="en-US" b="1" dirty="0">
                <a:solidFill>
                  <a:srgbClr val="FF0000"/>
                </a:solidFill>
              </a:rPr>
              <a:t>）动态性</a:t>
            </a:r>
            <a:endParaRPr lang="zh-CN" altLang="en-US" b="1" dirty="0">
              <a:solidFill>
                <a:srgbClr val="FF0000"/>
              </a:solidFill>
            </a:endParaRPr>
          </a:p>
          <a:p>
            <a:pPr algn="just" eaLnBrk="1" hangingPunct="1"/>
            <a:r>
              <a:rPr lang="zh-CN" altLang="en-US" b="1" dirty="0"/>
              <a:t>  进程的实质是进程实体的一次执行过程，因此，</a:t>
            </a:r>
            <a:r>
              <a:rPr lang="zh-CN" altLang="en-US" b="1" dirty="0">
                <a:solidFill>
                  <a:srgbClr val="FF0000"/>
                </a:solidFill>
              </a:rPr>
              <a:t>动态性</a:t>
            </a:r>
            <a:r>
              <a:rPr lang="zh-CN" altLang="en-US" b="1" dirty="0"/>
              <a:t>是进程的</a:t>
            </a:r>
            <a:r>
              <a:rPr lang="zh-CN" altLang="en-US" b="1" dirty="0">
                <a:solidFill>
                  <a:srgbClr val="FF0000"/>
                </a:solidFill>
              </a:rPr>
              <a:t>最基本</a:t>
            </a:r>
            <a:r>
              <a:rPr lang="zh-CN" altLang="en-US" b="1" dirty="0"/>
              <a:t>的特征。</a:t>
            </a:r>
            <a:endParaRPr lang="zh-CN" altLang="en-US" b="1" dirty="0"/>
          </a:p>
          <a:p>
            <a:pPr algn="just" eaLnBrk="1" hangingPunct="1"/>
            <a:r>
              <a:rPr lang="zh-CN" altLang="en-US" b="1" dirty="0"/>
              <a:t>动态性表现：</a:t>
            </a:r>
            <a:r>
              <a:rPr lang="zh-CN" altLang="en-US" b="1" dirty="0">
                <a:latin typeface="Courier New" panose="02070309020205020404" pitchFamily="49" charset="0"/>
              </a:rPr>
              <a:t>“</a:t>
            </a:r>
            <a:r>
              <a:rPr lang="zh-CN" altLang="en-US" b="1" dirty="0">
                <a:solidFill>
                  <a:srgbClr val="FF0000"/>
                </a:solidFill>
              </a:rPr>
              <a:t>它由创建而产生，由调度而执行，由撤消而消亡</a:t>
            </a:r>
            <a:r>
              <a:rPr lang="zh-CN" altLang="en-US" b="1" dirty="0">
                <a:latin typeface="Courier New" panose="02070309020205020404" pitchFamily="49" charset="0"/>
              </a:rPr>
              <a:t>”</a:t>
            </a:r>
            <a:r>
              <a:rPr lang="zh-CN" altLang="en-US" b="1" dirty="0"/>
              <a:t>。可见，进程实体有一定的生命期。</a:t>
            </a:r>
            <a:endParaRPr lang="zh-CN" altLang="en-US" b="1" dirty="0"/>
          </a:p>
          <a:p>
            <a:pPr algn="just" eaLnBrk="1" hangingPunct="1"/>
            <a:r>
              <a:rPr lang="zh-CN" altLang="en-US" b="1" dirty="0"/>
              <a:t>程序是一组有序指令的集合，其本身并不具有运动的含义，因而是静态的。</a:t>
            </a:r>
            <a:endParaRPr lang="zh-CN" altLang="en-US" b="1" dirty="0"/>
          </a:p>
          <a:p>
            <a:pPr algn="just" eaLnBrk="1" hangingPunct="1">
              <a:buNone/>
            </a:pPr>
            <a:r>
              <a:rPr lang="zh-CN" altLang="en-US" b="1" dirty="0"/>
              <a:t> </a:t>
            </a:r>
            <a:endParaRPr lang="zh-CN" altLang="en-US" b="1" dirty="0"/>
          </a:p>
        </p:txBody>
      </p:sp>
      <p:sp>
        <p:nvSpPr>
          <p:cNvPr id="3" name="标题 1"/>
          <p:cNvSpPr txBox="1"/>
          <p:nvPr/>
        </p:nvSpPr>
        <p:spPr>
          <a:xfrm>
            <a:off x="301625" y="228600"/>
            <a:ext cx="854075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2.2 </a:t>
            </a:r>
            <a:r>
              <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进程的描述</a:t>
            </a:r>
            <a:endParaRPr kumimoji="0" lang="zh-CN" altLang="en-US" sz="4400" b="0"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842">
                                            <p:txEl>
                                              <p:charRg st="0" end="10"/>
                                            </p:txEl>
                                          </p:spTgt>
                                        </p:tgtEl>
                                        <p:attrNameLst>
                                          <p:attrName>style.visibility</p:attrName>
                                        </p:attrNameLst>
                                      </p:cBhvr>
                                      <p:to>
                                        <p:strVal val="visible"/>
                                      </p:to>
                                    </p:set>
                                    <p:animEffect transition="in" filter="fade">
                                      <p:cBhvr>
                                        <p:cTn id="7" dur="2000"/>
                                        <p:tgtEl>
                                          <p:spTgt spid="35842">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842">
                                            <p:txEl>
                                              <p:charRg st="10" end="16"/>
                                            </p:txEl>
                                          </p:spTgt>
                                        </p:tgtEl>
                                        <p:attrNameLst>
                                          <p:attrName>style.visibility</p:attrName>
                                        </p:attrNameLst>
                                      </p:cBhvr>
                                      <p:to>
                                        <p:strVal val="visible"/>
                                      </p:to>
                                    </p:set>
                                    <p:animEffect transition="in" filter="fade">
                                      <p:cBhvr>
                                        <p:cTn id="12" dur="2000"/>
                                        <p:tgtEl>
                                          <p:spTgt spid="35842">
                                            <p:txEl>
                                              <p:charRg st="1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842">
                                            <p:txEl>
                                              <p:charRg st="16" end="54"/>
                                            </p:txEl>
                                          </p:spTgt>
                                        </p:tgtEl>
                                        <p:attrNameLst>
                                          <p:attrName>style.visibility</p:attrName>
                                        </p:attrNameLst>
                                      </p:cBhvr>
                                      <p:to>
                                        <p:strVal val="visible"/>
                                      </p:to>
                                    </p:set>
                                    <p:animEffect transition="in" filter="fade">
                                      <p:cBhvr>
                                        <p:cTn id="17" dur="2000"/>
                                        <p:tgtEl>
                                          <p:spTgt spid="35842">
                                            <p:txEl>
                                              <p:charRg st="16" end="5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842">
                                            <p:txEl>
                                              <p:charRg st="54" end="100"/>
                                            </p:txEl>
                                          </p:spTgt>
                                        </p:tgtEl>
                                        <p:attrNameLst>
                                          <p:attrName>style.visibility</p:attrName>
                                        </p:attrNameLst>
                                      </p:cBhvr>
                                      <p:to>
                                        <p:strVal val="visible"/>
                                      </p:to>
                                    </p:set>
                                    <p:animEffect transition="in" filter="fade">
                                      <p:cBhvr>
                                        <p:cTn id="22" dur="2000"/>
                                        <p:tgtEl>
                                          <p:spTgt spid="35842">
                                            <p:txEl>
                                              <p:charRg st="54" end="10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842">
                                            <p:txEl>
                                              <p:charRg st="100" end="134"/>
                                            </p:txEl>
                                          </p:spTgt>
                                        </p:tgtEl>
                                        <p:attrNameLst>
                                          <p:attrName>style.visibility</p:attrName>
                                        </p:attrNameLst>
                                      </p:cBhvr>
                                      <p:to>
                                        <p:strVal val="visible"/>
                                      </p:to>
                                    </p:set>
                                    <p:animEffect transition="in" filter="fade">
                                      <p:cBhvr>
                                        <p:cTn id="27" dur="2000"/>
                                        <p:tgtEl>
                                          <p:spTgt spid="35842">
                                            <p:txEl>
                                              <p:charRg st="100" end="1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842">
                                            <p:txEl>
                                              <p:charRg st="134" end="136"/>
                                            </p:txEl>
                                          </p:spTgt>
                                        </p:tgtEl>
                                        <p:attrNameLst>
                                          <p:attrName>style.visibility</p:attrName>
                                        </p:attrNameLst>
                                      </p:cBhvr>
                                      <p:to>
                                        <p:strVal val="visible"/>
                                      </p:to>
                                    </p:set>
                                    <p:animEffect transition="in" filter="fade">
                                      <p:cBhvr>
                                        <p:cTn id="32" dur="2000"/>
                                        <p:tgtEl>
                                          <p:spTgt spid="35842">
                                            <p:txEl>
                                              <p:charRg st="134"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noRot="1"/>
          </p:cNvSpPr>
          <p:nvPr>
            <p:ph idx="1"/>
          </p:nvPr>
        </p:nvSpPr>
        <p:spPr>
          <a:xfrm>
            <a:off x="381000" y="914400"/>
            <a:ext cx="8229600" cy="5410200"/>
          </a:xfrm>
          <a:ln/>
        </p:spPr>
        <p:txBody>
          <a:bodyPr vert="horz" wrap="square" lIns="91440" tIns="45720" rIns="91440" bIns="45720" anchor="t" anchorCtr="0"/>
          <a:p>
            <a:pPr algn="just" eaLnBrk="1" hangingPunct="1">
              <a:buNone/>
            </a:pPr>
            <a:r>
              <a:rPr lang="en-US" altLang="zh-CN" b="1" dirty="0">
                <a:solidFill>
                  <a:srgbClr val="FF0000"/>
                </a:solidFill>
              </a:rPr>
              <a:t> 2</a:t>
            </a:r>
            <a:r>
              <a:rPr lang="zh-CN" altLang="en-US" b="1" dirty="0">
                <a:solidFill>
                  <a:srgbClr val="FF0000"/>
                </a:solidFill>
              </a:rPr>
              <a:t>）并发性</a:t>
            </a:r>
            <a:endParaRPr lang="zh-CN" altLang="en-US" b="1" dirty="0">
              <a:solidFill>
                <a:srgbClr val="FF0000"/>
              </a:solidFill>
            </a:endParaRPr>
          </a:p>
          <a:p>
            <a:pPr algn="just" eaLnBrk="1" hangingPunct="1">
              <a:buNone/>
            </a:pPr>
            <a:r>
              <a:rPr lang="zh-CN" altLang="en-US" b="1" dirty="0"/>
              <a:t>   这是指多个进程实体同存于内存中，且能在一段时间内同时运行。</a:t>
            </a:r>
            <a:endParaRPr lang="zh-CN" altLang="en-US" b="1" dirty="0"/>
          </a:p>
          <a:p>
            <a:pPr algn="just" eaLnBrk="1" hangingPunct="1">
              <a:buNone/>
            </a:pPr>
            <a:r>
              <a:rPr lang="zh-CN" altLang="en-US" b="1" dirty="0">
                <a:solidFill>
                  <a:srgbClr val="FF0000"/>
                </a:solidFill>
              </a:rPr>
              <a:t> </a:t>
            </a:r>
            <a:r>
              <a:rPr lang="en-US" altLang="zh-CN" b="1" dirty="0">
                <a:solidFill>
                  <a:srgbClr val="FF0000"/>
                </a:solidFill>
              </a:rPr>
              <a:t>3</a:t>
            </a:r>
            <a:r>
              <a:rPr lang="zh-CN" altLang="en-US" b="1" dirty="0">
                <a:solidFill>
                  <a:srgbClr val="FF0000"/>
                </a:solidFill>
              </a:rPr>
              <a:t>）独立性</a:t>
            </a:r>
            <a:endParaRPr lang="zh-CN" altLang="en-US" b="1" dirty="0">
              <a:solidFill>
                <a:srgbClr val="FF0000"/>
              </a:solidFill>
            </a:endParaRPr>
          </a:p>
          <a:p>
            <a:pPr algn="just" eaLnBrk="1" hangingPunct="1">
              <a:buNone/>
            </a:pPr>
            <a:r>
              <a:rPr lang="zh-CN" altLang="en-US" b="1" dirty="0"/>
              <a:t>   指进程实体是一个能独立运行、独立分配资源和独立接受调度的基本单位；</a:t>
            </a:r>
            <a:endParaRPr lang="zh-CN" altLang="en-US" b="1" dirty="0"/>
          </a:p>
          <a:p>
            <a:pPr algn="just" eaLnBrk="1" hangingPunct="1">
              <a:buNone/>
            </a:pPr>
            <a:r>
              <a:rPr lang="zh-CN" altLang="en-US" b="1" dirty="0">
                <a:solidFill>
                  <a:srgbClr val="FF0000"/>
                </a:solidFill>
              </a:rPr>
              <a:t> </a:t>
            </a:r>
            <a:r>
              <a:rPr lang="en-US" altLang="zh-CN" b="1" dirty="0">
                <a:solidFill>
                  <a:srgbClr val="FF0000"/>
                </a:solidFill>
              </a:rPr>
              <a:t>4</a:t>
            </a:r>
            <a:r>
              <a:rPr lang="zh-CN" altLang="en-US" b="1" dirty="0">
                <a:solidFill>
                  <a:srgbClr val="FF0000"/>
                </a:solidFill>
              </a:rPr>
              <a:t>）异步性</a:t>
            </a:r>
            <a:endParaRPr lang="zh-CN" altLang="en-US" b="1" dirty="0">
              <a:solidFill>
                <a:srgbClr val="FF0000"/>
              </a:solidFill>
            </a:endParaRPr>
          </a:p>
          <a:p>
            <a:pPr eaLnBrk="1" hangingPunct="1">
              <a:buNone/>
            </a:pPr>
            <a:r>
              <a:rPr lang="zh-CN" altLang="en-US" b="1" dirty="0"/>
              <a:t>   指进程按各自独立的、不可预知的速度向前推进，或说进程实体按异步方式运行。</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866">
                                            <p:txEl>
                                              <p:charRg st="0" end="7"/>
                                            </p:txEl>
                                          </p:spTgt>
                                        </p:tgtEl>
                                        <p:attrNameLst>
                                          <p:attrName>style.visibility</p:attrName>
                                        </p:attrNameLst>
                                      </p:cBhvr>
                                      <p:to>
                                        <p:strVal val="visible"/>
                                      </p:to>
                                    </p:set>
                                    <p:animEffect transition="in" filter="fade">
                                      <p:cBhvr>
                                        <p:cTn id="7" dur="2000"/>
                                        <p:tgtEl>
                                          <p:spTgt spid="36866">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866">
                                            <p:txEl>
                                              <p:charRg st="7" end="40"/>
                                            </p:txEl>
                                          </p:spTgt>
                                        </p:tgtEl>
                                        <p:attrNameLst>
                                          <p:attrName>style.visibility</p:attrName>
                                        </p:attrNameLst>
                                      </p:cBhvr>
                                      <p:to>
                                        <p:strVal val="visible"/>
                                      </p:to>
                                    </p:set>
                                    <p:animEffect transition="in" filter="fade">
                                      <p:cBhvr>
                                        <p:cTn id="12" dur="2000"/>
                                        <p:tgtEl>
                                          <p:spTgt spid="36866">
                                            <p:txEl>
                                              <p:charRg st="7"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866">
                                            <p:txEl>
                                              <p:charRg st="40" end="47"/>
                                            </p:txEl>
                                          </p:spTgt>
                                        </p:tgtEl>
                                        <p:attrNameLst>
                                          <p:attrName>style.visibility</p:attrName>
                                        </p:attrNameLst>
                                      </p:cBhvr>
                                      <p:to>
                                        <p:strVal val="visible"/>
                                      </p:to>
                                    </p:set>
                                    <p:animEffect transition="in" filter="fade">
                                      <p:cBhvr>
                                        <p:cTn id="17" dur="2000"/>
                                        <p:tgtEl>
                                          <p:spTgt spid="36866">
                                            <p:txEl>
                                              <p:charRg st="40" end="4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866">
                                            <p:txEl>
                                              <p:charRg st="47" end="84"/>
                                            </p:txEl>
                                          </p:spTgt>
                                        </p:tgtEl>
                                        <p:attrNameLst>
                                          <p:attrName>style.visibility</p:attrName>
                                        </p:attrNameLst>
                                      </p:cBhvr>
                                      <p:to>
                                        <p:strVal val="visible"/>
                                      </p:to>
                                    </p:set>
                                    <p:animEffect transition="in" filter="fade">
                                      <p:cBhvr>
                                        <p:cTn id="22" dur="2000"/>
                                        <p:tgtEl>
                                          <p:spTgt spid="36866">
                                            <p:txEl>
                                              <p:charRg st="47" end="8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866">
                                            <p:txEl>
                                              <p:charRg st="84" end="91"/>
                                            </p:txEl>
                                          </p:spTgt>
                                        </p:tgtEl>
                                        <p:attrNameLst>
                                          <p:attrName>style.visibility</p:attrName>
                                        </p:attrNameLst>
                                      </p:cBhvr>
                                      <p:to>
                                        <p:strVal val="visible"/>
                                      </p:to>
                                    </p:set>
                                    <p:animEffect transition="in" filter="fade">
                                      <p:cBhvr>
                                        <p:cTn id="27" dur="2000"/>
                                        <p:tgtEl>
                                          <p:spTgt spid="36866">
                                            <p:txEl>
                                              <p:charRg st="84" end="9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6866">
                                            <p:txEl>
                                              <p:charRg st="91" end="131"/>
                                            </p:txEl>
                                          </p:spTgt>
                                        </p:tgtEl>
                                        <p:attrNameLst>
                                          <p:attrName>style.visibility</p:attrName>
                                        </p:attrNameLst>
                                      </p:cBhvr>
                                      <p:to>
                                        <p:strVal val="visible"/>
                                      </p:to>
                                    </p:set>
                                    <p:animEffect transition="in" filter="fade">
                                      <p:cBhvr>
                                        <p:cTn id="32" dur="2000"/>
                                        <p:tgtEl>
                                          <p:spTgt spid="36866">
                                            <p:txEl>
                                              <p:charRg st="91" end="1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3"/>
          <p:cNvSpPr>
            <a:spLocks noGrp="1" noRot="1"/>
          </p:cNvSpPr>
          <p:nvPr>
            <p:ph type="body"/>
          </p:nvPr>
        </p:nvSpPr>
        <p:spPr>
          <a:xfrm>
            <a:off x="381000" y="1673225"/>
            <a:ext cx="8077200" cy="4498975"/>
          </a:xfrm>
          <a:ln/>
        </p:spPr>
        <p:txBody>
          <a:bodyPr vert="horz" wrap="square" lIns="91440" tIns="45720" rIns="91440" bIns="45720" anchor="t" anchorCtr="0"/>
          <a:p>
            <a:pPr algn="just" eaLnBrk="1" hangingPunct="1">
              <a:buNone/>
            </a:pPr>
            <a:r>
              <a:rPr lang="en-US" altLang="zh-CN" sz="2800" b="1" dirty="0">
                <a:solidFill>
                  <a:srgbClr val="FF0000"/>
                </a:solidFill>
              </a:rPr>
              <a:t>1. </a:t>
            </a:r>
            <a:r>
              <a:rPr lang="zh-CN" altLang="en-US" sz="2800" b="1" dirty="0">
                <a:solidFill>
                  <a:srgbClr val="FF0000"/>
                </a:solidFill>
              </a:rPr>
              <a:t>进程的三种基本状态：</a:t>
            </a:r>
            <a:endParaRPr lang="zh-CN" altLang="en-US" sz="2800" b="1" dirty="0">
              <a:solidFill>
                <a:srgbClr val="FF0000"/>
              </a:solidFill>
            </a:endParaRPr>
          </a:p>
          <a:p>
            <a:pPr algn="just" eaLnBrk="1" hangingPunct="1">
              <a:buNone/>
            </a:pPr>
            <a:r>
              <a:rPr lang="en-US" altLang="zh-CN" sz="2800" b="1" dirty="0">
                <a:solidFill>
                  <a:srgbClr val="FF0000"/>
                </a:solidFill>
              </a:rPr>
              <a:t>1</a:t>
            </a:r>
            <a:r>
              <a:rPr lang="zh-CN" altLang="en-US" sz="2800" b="1" dirty="0">
                <a:solidFill>
                  <a:srgbClr val="FF0000"/>
                </a:solidFill>
              </a:rPr>
              <a:t>）就绪（</a:t>
            </a:r>
            <a:r>
              <a:rPr lang="en-US" altLang="zh-CN" sz="2800" b="1" dirty="0">
                <a:solidFill>
                  <a:srgbClr val="FF0000"/>
                </a:solidFill>
              </a:rPr>
              <a:t>Ready</a:t>
            </a:r>
            <a:r>
              <a:rPr lang="zh-CN" altLang="en-US" sz="2800" b="1" dirty="0">
                <a:solidFill>
                  <a:srgbClr val="FF0000"/>
                </a:solidFill>
              </a:rPr>
              <a:t>）状态：</a:t>
            </a:r>
            <a:r>
              <a:rPr lang="zh-CN" altLang="en-US" sz="2800" b="1" dirty="0"/>
              <a:t>当进程已分配到除</a:t>
            </a:r>
            <a:r>
              <a:rPr lang="en-US" altLang="zh-CN" sz="2800" b="1" dirty="0"/>
              <a:t>CPU</a:t>
            </a:r>
            <a:r>
              <a:rPr lang="zh-CN" altLang="en-US" sz="2800" b="1" dirty="0"/>
              <a:t>以外的所有必要资源后，只要再获得</a:t>
            </a:r>
            <a:r>
              <a:rPr lang="en-US" altLang="zh-CN" sz="2800" b="1" dirty="0"/>
              <a:t>CPU</a:t>
            </a:r>
            <a:r>
              <a:rPr lang="zh-CN" altLang="en-US" sz="2800" b="1" dirty="0"/>
              <a:t>，便可立即执行。</a:t>
            </a:r>
            <a:endParaRPr lang="zh-CN" altLang="en-US" sz="2800" b="1" dirty="0"/>
          </a:p>
          <a:p>
            <a:pPr algn="just" eaLnBrk="1" hangingPunct="1">
              <a:buNone/>
            </a:pPr>
            <a:r>
              <a:rPr lang="zh-CN" altLang="en-US" sz="2800" b="1" dirty="0"/>
              <a:t> </a:t>
            </a:r>
            <a:r>
              <a:rPr lang="en-US" altLang="zh-CN" sz="2800" b="1" dirty="0">
                <a:solidFill>
                  <a:srgbClr val="FF0000"/>
                </a:solidFill>
              </a:rPr>
              <a:t>2</a:t>
            </a:r>
            <a:r>
              <a:rPr lang="zh-CN" altLang="en-US" sz="2800" b="1" dirty="0">
                <a:solidFill>
                  <a:srgbClr val="FF0000"/>
                </a:solidFill>
              </a:rPr>
              <a:t>）执行状态：</a:t>
            </a:r>
            <a:r>
              <a:rPr lang="zh-CN" altLang="en-US" sz="2800" b="1" dirty="0"/>
              <a:t>进程已获得</a:t>
            </a:r>
            <a:r>
              <a:rPr lang="en-US" altLang="zh-CN" sz="2800" b="1" dirty="0"/>
              <a:t>CPU</a:t>
            </a:r>
            <a:r>
              <a:rPr lang="zh-CN" altLang="en-US" sz="2800" b="1" dirty="0"/>
              <a:t>，其程序正在执行。</a:t>
            </a:r>
            <a:endParaRPr lang="zh-CN" altLang="en-US" sz="2800" b="1" dirty="0"/>
          </a:p>
          <a:p>
            <a:pPr algn="just" eaLnBrk="1" hangingPunct="1">
              <a:buNone/>
            </a:pPr>
            <a:r>
              <a:rPr lang="zh-CN" altLang="en-US" sz="2800" b="1" dirty="0"/>
              <a:t> </a:t>
            </a:r>
            <a:r>
              <a:rPr lang="en-US" altLang="zh-CN" sz="2800" b="1" dirty="0">
                <a:solidFill>
                  <a:srgbClr val="FF0000"/>
                </a:solidFill>
              </a:rPr>
              <a:t>3</a:t>
            </a:r>
            <a:r>
              <a:rPr lang="zh-CN" altLang="en-US" sz="2800" b="1" dirty="0">
                <a:solidFill>
                  <a:srgbClr val="FF0000"/>
                </a:solidFill>
              </a:rPr>
              <a:t>）阻塞状态：</a:t>
            </a:r>
            <a:r>
              <a:rPr lang="zh-CN" altLang="en-US" sz="2800" b="1" dirty="0"/>
              <a:t>正在执行的进程由于发生某事件而暂时无法继续执行时，便放弃处理机而处于暂停状态，把这种暂停状态称为阻塞状态，有时也称为等待状态。根据阻塞原因，系统中设置多个阻塞队列。</a:t>
            </a:r>
            <a:endParaRPr lang="zh-CN" altLang="en-US" sz="2800" b="1" dirty="0"/>
          </a:p>
        </p:txBody>
      </p:sp>
      <p:sp>
        <p:nvSpPr>
          <p:cNvPr id="191490" name="Rectangle 2"/>
          <p:cNvSpPr>
            <a:spLocks noRot="1" noChangeArrowheads="1"/>
          </p:cNvSpPr>
          <p:nvPr/>
        </p:nvSpPr>
        <p:spPr bwMode="auto">
          <a:xfrm>
            <a:off x="381000" y="762000"/>
            <a:ext cx="7772400" cy="7620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rgbClr val="0066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2.2.2 </a:t>
            </a:r>
            <a:r>
              <a:rPr kumimoji="0" lang="zh-CN" altLang="en-US" sz="4400" b="1" i="0" u="none" strike="noStrike" kern="1200" cap="none" spc="0" normalizeH="0" baseline="0" noProof="0" dirty="0">
                <a:ln>
                  <a:noFill/>
                </a:ln>
                <a:solidFill>
                  <a:srgbClr val="0066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进程的基本状态及转换</a:t>
            </a:r>
            <a:endParaRPr kumimoji="0" lang="zh-CN" altLang="en-US" sz="4400" b="1" i="0" u="none" strike="noStrike" kern="1200" cap="none" spc="0" normalizeH="0" baseline="0" noProof="0" dirty="0">
              <a:ln>
                <a:noFill/>
              </a:ln>
              <a:solidFill>
                <a:srgbClr val="0066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962">
                                            <p:txEl>
                                              <p:charRg st="0" end="14"/>
                                            </p:txEl>
                                          </p:spTgt>
                                        </p:tgtEl>
                                        <p:attrNameLst>
                                          <p:attrName>style.visibility</p:attrName>
                                        </p:attrNameLst>
                                      </p:cBhvr>
                                      <p:to>
                                        <p:strVal val="visible"/>
                                      </p:to>
                                    </p:set>
                                    <p:animEffect transition="in" filter="fade">
                                      <p:cBhvr>
                                        <p:cTn id="7" dur="2000"/>
                                        <p:tgtEl>
                                          <p:spTgt spid="40962">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962">
                                            <p:txEl>
                                              <p:charRg st="14" end="67"/>
                                            </p:txEl>
                                          </p:spTgt>
                                        </p:tgtEl>
                                        <p:attrNameLst>
                                          <p:attrName>style.visibility</p:attrName>
                                        </p:attrNameLst>
                                      </p:cBhvr>
                                      <p:to>
                                        <p:strVal val="visible"/>
                                      </p:to>
                                    </p:set>
                                    <p:animEffect transition="in" filter="fade">
                                      <p:cBhvr>
                                        <p:cTn id="12" dur="2000"/>
                                        <p:tgtEl>
                                          <p:spTgt spid="40962">
                                            <p:txEl>
                                              <p:charRg st="14"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962">
                                            <p:txEl>
                                              <p:charRg st="67" end="93"/>
                                            </p:txEl>
                                          </p:spTgt>
                                        </p:tgtEl>
                                        <p:attrNameLst>
                                          <p:attrName>style.visibility</p:attrName>
                                        </p:attrNameLst>
                                      </p:cBhvr>
                                      <p:to>
                                        <p:strVal val="visible"/>
                                      </p:to>
                                    </p:set>
                                    <p:animEffect transition="in" filter="fade">
                                      <p:cBhvr>
                                        <p:cTn id="17" dur="2000"/>
                                        <p:tgtEl>
                                          <p:spTgt spid="40962">
                                            <p:txEl>
                                              <p:charRg st="67" end="9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962">
                                            <p:txEl>
                                              <p:charRg st="93" end="184"/>
                                            </p:txEl>
                                          </p:spTgt>
                                        </p:tgtEl>
                                        <p:attrNameLst>
                                          <p:attrName>style.visibility</p:attrName>
                                        </p:attrNameLst>
                                      </p:cBhvr>
                                      <p:to>
                                        <p:strVal val="visible"/>
                                      </p:to>
                                    </p:set>
                                    <p:animEffect transition="in" filter="fade">
                                      <p:cBhvr>
                                        <p:cTn id="22" dur="2000"/>
                                        <p:tgtEl>
                                          <p:spTgt spid="40962">
                                            <p:txEl>
                                              <p:charRg st="93" end="1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Oval 4"/>
          <p:cNvSpPr/>
          <p:nvPr/>
        </p:nvSpPr>
        <p:spPr>
          <a:xfrm>
            <a:off x="1260475" y="4068763"/>
            <a:ext cx="1882775"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就绪态</a:t>
            </a:r>
            <a:endParaRPr lang="zh-CN" altLang="en-US" sz="2400" b="1" dirty="0">
              <a:latin typeface="楷体_GB2312" pitchFamily="49" charset="-122"/>
              <a:ea typeface="楷体_GB2312" pitchFamily="49" charset="-122"/>
            </a:endParaRPr>
          </a:p>
        </p:txBody>
      </p:sp>
      <p:sp>
        <p:nvSpPr>
          <p:cNvPr id="25603" name="Oval 5"/>
          <p:cNvSpPr/>
          <p:nvPr/>
        </p:nvSpPr>
        <p:spPr>
          <a:xfrm>
            <a:off x="3348038" y="1874838"/>
            <a:ext cx="1881187"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运行态</a:t>
            </a:r>
            <a:endParaRPr lang="zh-CN" altLang="en-US" sz="2400" b="1" dirty="0">
              <a:latin typeface="楷体_GB2312" pitchFamily="49" charset="-122"/>
              <a:ea typeface="楷体_GB2312" pitchFamily="49" charset="-122"/>
            </a:endParaRPr>
          </a:p>
        </p:txBody>
      </p:sp>
      <p:sp>
        <p:nvSpPr>
          <p:cNvPr id="25604" name="Oval 6"/>
          <p:cNvSpPr/>
          <p:nvPr/>
        </p:nvSpPr>
        <p:spPr>
          <a:xfrm>
            <a:off x="5434013" y="4027488"/>
            <a:ext cx="1881187"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等待态</a:t>
            </a:r>
            <a:endParaRPr lang="zh-CN" altLang="en-US" sz="2400" b="1" dirty="0">
              <a:latin typeface="楷体_GB2312" pitchFamily="49" charset="-122"/>
              <a:ea typeface="楷体_GB2312" pitchFamily="49" charset="-122"/>
            </a:endParaRPr>
          </a:p>
        </p:txBody>
      </p:sp>
      <p:sp>
        <p:nvSpPr>
          <p:cNvPr id="452615" name="Freeform 7"/>
          <p:cNvSpPr/>
          <p:nvPr/>
        </p:nvSpPr>
        <p:spPr>
          <a:xfrm>
            <a:off x="2176463" y="2530475"/>
            <a:ext cx="1222375" cy="1517650"/>
          </a:xfrm>
          <a:custGeom>
            <a:avLst/>
            <a:gdLst>
              <a:gd name="txL" fmla="*/ 0 w 1080"/>
              <a:gd name="txT" fmla="*/ 0 h 1110"/>
              <a:gd name="txR" fmla="*/ 1080 w 1080"/>
              <a:gd name="txB" fmla="*/ 1110 h 1110"/>
            </a:gdLst>
            <a:ahLst/>
            <a:cxnLst>
              <a:cxn ang="0">
                <a:pos x="0" y="2147483646"/>
              </a:cxn>
              <a:cxn ang="0">
                <a:pos x="2147483646" y="2147483646"/>
              </a:cxn>
              <a:cxn ang="0">
                <a:pos x="2147483646" y="0"/>
              </a:cxn>
            </a:cxnLst>
            <a:rect l="txL" t="txT" r="txR" b="txB"/>
            <a:pathLst>
              <a:path w="1080" h="1110">
                <a:moveTo>
                  <a:pt x="0" y="1110"/>
                </a:moveTo>
                <a:cubicBezTo>
                  <a:pt x="52" y="842"/>
                  <a:pt x="104" y="575"/>
                  <a:pt x="284" y="390"/>
                </a:cubicBezTo>
                <a:cubicBezTo>
                  <a:pt x="464" y="205"/>
                  <a:pt x="945" y="50"/>
                  <a:pt x="1080" y="0"/>
                </a:cubicBezTo>
              </a:path>
            </a:pathLst>
          </a:custGeom>
          <a:noFill/>
          <a:ln w="38100" cap="flat" cmpd="sng">
            <a:solidFill>
              <a:schemeClr val="accent2">
                <a:alpha val="100000"/>
              </a:schemeClr>
            </a:solidFill>
            <a:prstDash val="solid"/>
            <a:round/>
            <a:headEnd type="none" w="med" len="med"/>
            <a:tailEnd type="arrow" w="med" len="med"/>
          </a:ln>
        </p:spPr>
        <p:txBody>
          <a:bodyPr/>
          <a:p>
            <a:endParaRPr lang="zh-CN" altLang="en-US"/>
          </a:p>
        </p:txBody>
      </p:sp>
      <p:sp>
        <p:nvSpPr>
          <p:cNvPr id="452616" name="Freeform 8"/>
          <p:cNvSpPr/>
          <p:nvPr/>
        </p:nvSpPr>
        <p:spPr>
          <a:xfrm>
            <a:off x="5253038" y="2484438"/>
            <a:ext cx="1409700" cy="1557337"/>
          </a:xfrm>
          <a:custGeom>
            <a:avLst/>
            <a:gdLst>
              <a:gd name="txL" fmla="*/ 0 w 1246"/>
              <a:gd name="txT" fmla="*/ 0 h 1140"/>
              <a:gd name="txR" fmla="*/ 1246 w 1246"/>
              <a:gd name="txB" fmla="*/ 1140 h 1140"/>
            </a:gdLst>
            <a:ahLst/>
            <a:cxnLst>
              <a:cxn ang="0">
                <a:pos x="0" y="0"/>
              </a:cxn>
              <a:cxn ang="0">
                <a:pos x="2147483646" y="2147483646"/>
              </a:cxn>
              <a:cxn ang="0">
                <a:pos x="2147483646" y="2147483646"/>
              </a:cxn>
            </a:cxnLst>
            <a:rect l="txL" t="txT" r="txR" b="txB"/>
            <a:pathLst>
              <a:path w="1246" h="1140">
                <a:moveTo>
                  <a:pt x="0" y="0"/>
                </a:moveTo>
                <a:cubicBezTo>
                  <a:pt x="316" y="17"/>
                  <a:pt x="632" y="35"/>
                  <a:pt x="840" y="225"/>
                </a:cubicBezTo>
                <a:cubicBezTo>
                  <a:pt x="1048" y="415"/>
                  <a:pt x="1178" y="988"/>
                  <a:pt x="1246" y="1140"/>
                </a:cubicBezTo>
              </a:path>
            </a:pathLst>
          </a:custGeom>
          <a:noFill/>
          <a:ln w="38100" cap="flat" cmpd="sng">
            <a:solidFill>
              <a:schemeClr val="accent2">
                <a:alpha val="100000"/>
              </a:schemeClr>
            </a:solidFill>
            <a:prstDash val="solid"/>
            <a:round/>
            <a:headEnd type="none" w="med" len="med"/>
            <a:tailEnd type="arrow" w="med" len="med"/>
          </a:ln>
        </p:spPr>
        <p:txBody>
          <a:bodyPr/>
          <a:p>
            <a:endParaRPr lang="zh-CN" altLang="en-US"/>
          </a:p>
        </p:txBody>
      </p:sp>
      <p:sp>
        <p:nvSpPr>
          <p:cNvPr id="452617" name="Freeform 9"/>
          <p:cNvSpPr/>
          <p:nvPr/>
        </p:nvSpPr>
        <p:spPr>
          <a:xfrm>
            <a:off x="2967038" y="2865438"/>
            <a:ext cx="762000" cy="1476375"/>
          </a:xfrm>
          <a:custGeom>
            <a:avLst/>
            <a:gdLst>
              <a:gd name="txL" fmla="*/ 0 w 674"/>
              <a:gd name="txT" fmla="*/ 0 h 1080"/>
              <a:gd name="txR" fmla="*/ 674 w 674"/>
              <a:gd name="txB" fmla="*/ 1080 h 1080"/>
            </a:gdLst>
            <a:ahLst/>
            <a:cxnLst>
              <a:cxn ang="0">
                <a:pos x="2147483646" y="0"/>
              </a:cxn>
              <a:cxn ang="0">
                <a:pos x="2147483646" y="2147483646"/>
              </a:cxn>
              <a:cxn ang="0">
                <a:pos x="0" y="2147483646"/>
              </a:cxn>
            </a:cxnLst>
            <a:rect l="txL" t="txT" r="txR" b="txB"/>
            <a:pathLst>
              <a:path w="674" h="1080">
                <a:moveTo>
                  <a:pt x="674" y="0"/>
                </a:moveTo>
                <a:cubicBezTo>
                  <a:pt x="648" y="292"/>
                  <a:pt x="622" y="585"/>
                  <a:pt x="510" y="765"/>
                </a:cubicBezTo>
                <a:cubicBezTo>
                  <a:pt x="398" y="945"/>
                  <a:pt x="85" y="1028"/>
                  <a:pt x="0" y="1080"/>
                </a:cubicBezTo>
              </a:path>
            </a:pathLst>
          </a:custGeom>
          <a:noFill/>
          <a:ln w="38100" cap="flat" cmpd="sng">
            <a:solidFill>
              <a:schemeClr val="accent2">
                <a:alpha val="100000"/>
              </a:schemeClr>
            </a:solidFill>
            <a:prstDash val="solid"/>
            <a:round/>
            <a:headEnd type="none" w="med" len="med"/>
            <a:tailEnd type="arrow" w="med" len="med"/>
          </a:ln>
        </p:spPr>
        <p:txBody>
          <a:bodyPr/>
          <a:p>
            <a:endParaRPr lang="zh-CN" altLang="en-US"/>
          </a:p>
        </p:txBody>
      </p:sp>
      <p:sp>
        <p:nvSpPr>
          <p:cNvPr id="452618" name="Freeform 10"/>
          <p:cNvSpPr/>
          <p:nvPr/>
        </p:nvSpPr>
        <p:spPr>
          <a:xfrm>
            <a:off x="3119438" y="4618038"/>
            <a:ext cx="2306637" cy="414337"/>
          </a:xfrm>
          <a:custGeom>
            <a:avLst/>
            <a:gdLst>
              <a:gd name="txL" fmla="*/ 0 w 2040"/>
              <a:gd name="txT" fmla="*/ 0 h 303"/>
              <a:gd name="txR" fmla="*/ 2040 w 2040"/>
              <a:gd name="txB" fmla="*/ 303 h 303"/>
            </a:gdLst>
            <a:ahLst/>
            <a:cxnLst>
              <a:cxn ang="0">
                <a:pos x="2147483646" y="0"/>
              </a:cxn>
              <a:cxn ang="0">
                <a:pos x="2147483646" y="2147483646"/>
              </a:cxn>
              <a:cxn ang="0">
                <a:pos x="0" y="2147483646"/>
              </a:cxn>
            </a:cxnLst>
            <a:rect l="txL" t="txT" r="txR" b="txB"/>
            <a:pathLst>
              <a:path w="2040" h="303">
                <a:moveTo>
                  <a:pt x="2040" y="0"/>
                </a:moveTo>
                <a:cubicBezTo>
                  <a:pt x="1782" y="133"/>
                  <a:pt x="1524" y="267"/>
                  <a:pt x="1184" y="285"/>
                </a:cubicBezTo>
                <a:cubicBezTo>
                  <a:pt x="844" y="303"/>
                  <a:pt x="197" y="135"/>
                  <a:pt x="0" y="105"/>
                </a:cubicBezTo>
              </a:path>
            </a:pathLst>
          </a:custGeom>
          <a:noFill/>
          <a:ln w="38100" cap="flat" cmpd="sng">
            <a:solidFill>
              <a:schemeClr val="accent2">
                <a:alpha val="100000"/>
              </a:schemeClr>
            </a:solidFill>
            <a:prstDash val="solid"/>
            <a:round/>
            <a:headEnd type="none" w="med" len="med"/>
            <a:tailEnd type="arrow" w="med" len="med"/>
          </a:ln>
        </p:spPr>
        <p:txBody>
          <a:bodyPr/>
          <a:p>
            <a:endParaRPr lang="zh-CN" altLang="en-US"/>
          </a:p>
        </p:txBody>
      </p:sp>
      <p:sp>
        <p:nvSpPr>
          <p:cNvPr id="452619" name="Text Box 11"/>
          <p:cNvSpPr txBox="1"/>
          <p:nvPr/>
        </p:nvSpPr>
        <p:spPr>
          <a:xfrm>
            <a:off x="833438" y="3398838"/>
            <a:ext cx="1306512" cy="411162"/>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调度</a:t>
            </a:r>
            <a:endParaRPr lang="zh-CN" altLang="en-US" sz="2400" b="1" dirty="0">
              <a:solidFill>
                <a:srgbClr val="FF0000"/>
              </a:solidFill>
              <a:latin typeface="楷体_GB2312" pitchFamily="49" charset="-122"/>
              <a:ea typeface="楷体_GB2312" pitchFamily="49" charset="-122"/>
            </a:endParaRPr>
          </a:p>
        </p:txBody>
      </p:sp>
      <p:sp>
        <p:nvSpPr>
          <p:cNvPr id="452620" name="Text Box 12"/>
          <p:cNvSpPr txBox="1"/>
          <p:nvPr/>
        </p:nvSpPr>
        <p:spPr>
          <a:xfrm>
            <a:off x="3652838" y="3170238"/>
            <a:ext cx="1981200" cy="841375"/>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被高优先级任务抢占或超时</a:t>
            </a:r>
            <a:endParaRPr lang="zh-CN" altLang="en-US" sz="2400" b="1" dirty="0">
              <a:solidFill>
                <a:srgbClr val="FF0000"/>
              </a:solidFill>
              <a:latin typeface="楷体_GB2312" pitchFamily="49" charset="-122"/>
              <a:ea typeface="楷体_GB2312" pitchFamily="49" charset="-122"/>
            </a:endParaRPr>
          </a:p>
        </p:txBody>
      </p:sp>
      <p:sp>
        <p:nvSpPr>
          <p:cNvPr id="452622" name="Text Box 14"/>
          <p:cNvSpPr txBox="1"/>
          <p:nvPr/>
        </p:nvSpPr>
        <p:spPr>
          <a:xfrm>
            <a:off x="5786438" y="2636838"/>
            <a:ext cx="1087437" cy="409575"/>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楷体_GB2312" pitchFamily="49" charset="-122"/>
                <a:ea typeface="楷体_GB2312" pitchFamily="49" charset="-122"/>
              </a:rPr>
              <a:t>I/O</a:t>
            </a:r>
            <a:r>
              <a:rPr lang="zh-CN" altLang="en-US" sz="2400" b="1" dirty="0">
                <a:solidFill>
                  <a:srgbClr val="FF0000"/>
                </a:solidFill>
                <a:latin typeface="楷体_GB2312" pitchFamily="49" charset="-122"/>
                <a:ea typeface="楷体_GB2312" pitchFamily="49" charset="-122"/>
              </a:rPr>
              <a:t>请求</a:t>
            </a:r>
            <a:endParaRPr lang="zh-CN" altLang="en-US" sz="2400" b="1" dirty="0">
              <a:solidFill>
                <a:srgbClr val="FF0000"/>
              </a:solidFill>
              <a:latin typeface="楷体_GB2312" pitchFamily="49" charset="-122"/>
              <a:ea typeface="楷体_GB2312" pitchFamily="49" charset="-122"/>
            </a:endParaRPr>
          </a:p>
        </p:txBody>
      </p:sp>
      <p:sp>
        <p:nvSpPr>
          <p:cNvPr id="25612" name="Oval 15"/>
          <p:cNvSpPr/>
          <p:nvPr/>
        </p:nvSpPr>
        <p:spPr>
          <a:xfrm>
            <a:off x="1290638" y="4084638"/>
            <a:ext cx="1882775"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就绪态</a:t>
            </a:r>
            <a:endParaRPr lang="zh-CN" altLang="en-US" sz="2400" b="1" dirty="0">
              <a:latin typeface="楷体_GB2312" pitchFamily="49" charset="-122"/>
              <a:ea typeface="楷体_GB2312" pitchFamily="49" charset="-122"/>
            </a:endParaRPr>
          </a:p>
        </p:txBody>
      </p:sp>
      <p:sp>
        <p:nvSpPr>
          <p:cNvPr id="25613" name="Oval 16"/>
          <p:cNvSpPr/>
          <p:nvPr/>
        </p:nvSpPr>
        <p:spPr>
          <a:xfrm>
            <a:off x="3378200" y="1890713"/>
            <a:ext cx="1881188"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运行态</a:t>
            </a:r>
            <a:endParaRPr lang="zh-CN" altLang="en-US" sz="2400" b="1" dirty="0">
              <a:latin typeface="楷体_GB2312" pitchFamily="49" charset="-122"/>
              <a:ea typeface="楷体_GB2312" pitchFamily="49" charset="-122"/>
            </a:endParaRPr>
          </a:p>
        </p:txBody>
      </p:sp>
      <p:sp>
        <p:nvSpPr>
          <p:cNvPr id="25614" name="Oval 17"/>
          <p:cNvSpPr/>
          <p:nvPr/>
        </p:nvSpPr>
        <p:spPr>
          <a:xfrm>
            <a:off x="5405438" y="4008438"/>
            <a:ext cx="1881187"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阻塞态</a:t>
            </a:r>
            <a:endParaRPr lang="zh-CN" altLang="en-US" sz="2400" b="1" dirty="0">
              <a:solidFill>
                <a:srgbClr val="FF0000"/>
              </a:solidFill>
              <a:latin typeface="楷体_GB2312" pitchFamily="49" charset="-122"/>
              <a:ea typeface="楷体_GB2312" pitchFamily="49" charset="-122"/>
            </a:endParaRPr>
          </a:p>
        </p:txBody>
      </p:sp>
      <p:sp>
        <p:nvSpPr>
          <p:cNvPr id="25615" name="Oval 18"/>
          <p:cNvSpPr/>
          <p:nvPr/>
        </p:nvSpPr>
        <p:spPr>
          <a:xfrm>
            <a:off x="1262063" y="4065588"/>
            <a:ext cx="1882775"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就绪态</a:t>
            </a:r>
            <a:endParaRPr lang="zh-CN" altLang="en-US" sz="2400" b="1" dirty="0">
              <a:solidFill>
                <a:srgbClr val="FF0000"/>
              </a:solidFill>
              <a:latin typeface="楷体_GB2312" pitchFamily="49" charset="-122"/>
              <a:ea typeface="楷体_GB2312" pitchFamily="49" charset="-122"/>
            </a:endParaRPr>
          </a:p>
        </p:txBody>
      </p:sp>
      <p:sp>
        <p:nvSpPr>
          <p:cNvPr id="25616" name="Oval 19"/>
          <p:cNvSpPr/>
          <p:nvPr/>
        </p:nvSpPr>
        <p:spPr>
          <a:xfrm>
            <a:off x="3352800" y="1905000"/>
            <a:ext cx="1881188" cy="1046163"/>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运行态</a:t>
            </a:r>
            <a:endParaRPr lang="zh-CN" altLang="en-US" sz="2400" b="1" dirty="0">
              <a:solidFill>
                <a:srgbClr val="FF0000"/>
              </a:solidFill>
              <a:latin typeface="楷体_GB2312" pitchFamily="49" charset="-122"/>
              <a:ea typeface="楷体_GB2312" pitchFamily="49" charset="-122"/>
            </a:endParaRPr>
          </a:p>
        </p:txBody>
      </p:sp>
      <p:sp>
        <p:nvSpPr>
          <p:cNvPr id="452629" name="Text Box 21"/>
          <p:cNvSpPr txBox="1"/>
          <p:nvPr/>
        </p:nvSpPr>
        <p:spPr>
          <a:xfrm>
            <a:off x="3729038" y="5075238"/>
            <a:ext cx="1306512" cy="411162"/>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rPr>
              <a:t>I/O</a:t>
            </a:r>
            <a:r>
              <a:rPr lang="zh-CN" altLang="en-US" sz="2400" b="1" dirty="0">
                <a:solidFill>
                  <a:srgbClr val="FF0000"/>
                </a:solidFill>
              </a:rPr>
              <a:t>完成</a:t>
            </a:r>
            <a:endParaRPr lang="zh-CN" altLang="en-US" sz="2400" b="1" dirty="0">
              <a:solidFill>
                <a:srgbClr val="FF0000"/>
              </a:solidFill>
            </a:endParaRPr>
          </a:p>
        </p:txBody>
      </p:sp>
      <p:sp>
        <p:nvSpPr>
          <p:cNvPr id="452630" name="Rectangle 2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的三种基本状态及其转换</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2630"/>
                                        </p:tgtEl>
                                        <p:attrNameLst>
                                          <p:attrName>style.visibility</p:attrName>
                                        </p:attrNameLst>
                                      </p:cBhvr>
                                      <p:to>
                                        <p:strVal val="visible"/>
                                      </p:to>
                                    </p:set>
                                    <p:animEffect transition="in" filter="fade">
                                      <p:cBhvr>
                                        <p:cTn id="7" dur="2000"/>
                                        <p:tgtEl>
                                          <p:spTgt spid="4526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2619"/>
                                        </p:tgtEl>
                                        <p:attrNameLst>
                                          <p:attrName>style.visibility</p:attrName>
                                        </p:attrNameLst>
                                      </p:cBhvr>
                                      <p:to>
                                        <p:strVal val="visible"/>
                                      </p:to>
                                    </p:set>
                                    <p:animEffect transition="in" filter="blinds(horizontal)">
                                      <p:cBhvr>
                                        <p:cTn id="12" dur="500"/>
                                        <p:tgtEl>
                                          <p:spTgt spid="452619"/>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452615"/>
                                        </p:tgtEl>
                                        <p:attrNameLst>
                                          <p:attrName>style.visibility</p:attrName>
                                        </p:attrNameLst>
                                      </p:cBhvr>
                                      <p:to>
                                        <p:strVal val="visible"/>
                                      </p:to>
                                    </p:set>
                                    <p:animEffect transition="in" filter="wipe(down)">
                                      <p:cBhvr>
                                        <p:cTn id="16" dur="500"/>
                                        <p:tgtEl>
                                          <p:spTgt spid="45261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52620"/>
                                        </p:tgtEl>
                                        <p:attrNameLst>
                                          <p:attrName>style.visibility</p:attrName>
                                        </p:attrNameLst>
                                      </p:cBhvr>
                                      <p:to>
                                        <p:strVal val="visible"/>
                                      </p:to>
                                    </p:set>
                                    <p:animEffect transition="in" filter="blinds(horizontal)">
                                      <p:cBhvr>
                                        <p:cTn id="21" dur="500"/>
                                        <p:tgtEl>
                                          <p:spTgt spid="452620"/>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452617"/>
                                        </p:tgtEl>
                                        <p:attrNameLst>
                                          <p:attrName>style.visibility</p:attrName>
                                        </p:attrNameLst>
                                      </p:cBhvr>
                                      <p:to>
                                        <p:strVal val="visible"/>
                                      </p:to>
                                    </p:set>
                                    <p:animEffect transition="in" filter="wipe(up)">
                                      <p:cBhvr>
                                        <p:cTn id="25" dur="500"/>
                                        <p:tgtEl>
                                          <p:spTgt spid="45261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52622"/>
                                        </p:tgtEl>
                                        <p:attrNameLst>
                                          <p:attrName>style.visibility</p:attrName>
                                        </p:attrNameLst>
                                      </p:cBhvr>
                                      <p:to>
                                        <p:strVal val="visible"/>
                                      </p:to>
                                    </p:set>
                                    <p:animEffect transition="in" filter="blinds(horizontal)">
                                      <p:cBhvr>
                                        <p:cTn id="30" dur="500"/>
                                        <p:tgtEl>
                                          <p:spTgt spid="452622"/>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452616"/>
                                        </p:tgtEl>
                                        <p:attrNameLst>
                                          <p:attrName>style.visibility</p:attrName>
                                        </p:attrNameLst>
                                      </p:cBhvr>
                                      <p:to>
                                        <p:strVal val="visible"/>
                                      </p:to>
                                    </p:set>
                                    <p:animEffect transition="in" filter="wipe(up)">
                                      <p:cBhvr>
                                        <p:cTn id="34" dur="500"/>
                                        <p:tgtEl>
                                          <p:spTgt spid="452616"/>
                                        </p:tgtEl>
                                      </p:cBhvr>
                                    </p:animEffect>
                                  </p:childTnLst>
                                </p:cTn>
                              </p:par>
                            </p:childTnLst>
                          </p:cTn>
                        </p:par>
                        <p:par>
                          <p:cTn id="35" fill="hold">
                            <p:stCondLst>
                              <p:cond delay="1000"/>
                            </p:stCondLst>
                            <p:childTnLst>
                              <p:par>
                                <p:cTn id="36" presetID="22" presetClass="entr" presetSubtype="2" fill="hold" nodeType="afterEffect">
                                  <p:stCondLst>
                                    <p:cond delay="0"/>
                                  </p:stCondLst>
                                  <p:childTnLst>
                                    <p:set>
                                      <p:cBhvr>
                                        <p:cTn id="37" dur="1" fill="hold">
                                          <p:stCondLst>
                                            <p:cond delay="0"/>
                                          </p:stCondLst>
                                        </p:cTn>
                                        <p:tgtEl>
                                          <p:spTgt spid="452618"/>
                                        </p:tgtEl>
                                        <p:attrNameLst>
                                          <p:attrName>style.visibility</p:attrName>
                                        </p:attrNameLst>
                                      </p:cBhvr>
                                      <p:to>
                                        <p:strVal val="visible"/>
                                      </p:to>
                                    </p:set>
                                    <p:animEffect transition="in" filter="wipe(right)">
                                      <p:cBhvr>
                                        <p:cTn id="38" dur="500"/>
                                        <p:tgtEl>
                                          <p:spTgt spid="452618"/>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52629"/>
                                        </p:tgtEl>
                                        <p:attrNameLst>
                                          <p:attrName>style.visibility</p:attrName>
                                        </p:attrNameLst>
                                      </p:cBhvr>
                                      <p:to>
                                        <p:strVal val="visible"/>
                                      </p:to>
                                    </p:set>
                                    <p:animEffect transition="in" filter="blinds(horizontal)">
                                      <p:cBhvr>
                                        <p:cTn id="43" dur="500"/>
                                        <p:tgtEl>
                                          <p:spTgt spid="452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9" grpId="0" animBg="1"/>
      <p:bldP spid="452620" grpId="0" animBg="1"/>
      <p:bldP spid="452622" grpId="0" animBg="1"/>
      <p:bldP spid="452629" grpId="0" animBg="1"/>
      <p:bldP spid="4526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内容占位符 2"/>
          <p:cNvSpPr>
            <a:spLocks noGrp="1"/>
          </p:cNvSpPr>
          <p:nvPr>
            <p:ph type="body"/>
          </p:nvPr>
        </p:nvSpPr>
        <p:spPr>
          <a:xfrm>
            <a:off x="228600" y="762000"/>
            <a:ext cx="8382000" cy="4498975"/>
          </a:xfrm>
          <a:ln/>
        </p:spPr>
        <p:txBody>
          <a:bodyPr vert="horz" wrap="square" lIns="91440" tIns="45720" rIns="91440" bIns="45720" anchor="t" anchorCtr="0"/>
          <a:p>
            <a:pPr eaLnBrk="1" hangingPunct="1"/>
            <a:r>
              <a:rPr lang="zh-CN" altLang="en-US" b="1" dirty="0">
                <a:solidFill>
                  <a:schemeClr val="folHlink"/>
                </a:solidFill>
              </a:rPr>
              <a:t>三种基本状态的思考</a:t>
            </a:r>
            <a:endParaRPr lang="zh-CN" altLang="en-US" b="1" dirty="0">
              <a:solidFill>
                <a:schemeClr val="folHlink"/>
              </a:solidFill>
            </a:endParaRPr>
          </a:p>
          <a:p>
            <a:pPr lvl="1" eaLnBrk="1" hangingPunct="1"/>
            <a:endParaRPr lang="zh-CN" altLang="en-US" b="1" dirty="0">
              <a:solidFill>
                <a:schemeClr val="folHlink"/>
              </a:solidFill>
            </a:endParaRPr>
          </a:p>
          <a:p>
            <a:pPr lvl="1" eaLnBrk="1" hangingPunct="1"/>
            <a:r>
              <a:rPr lang="zh-CN" altLang="en-US" b="1" dirty="0"/>
              <a:t>进程主动完成状态转换，还是被动完成？</a:t>
            </a:r>
            <a:endParaRPr lang="zh-CN" altLang="en-US" b="1" dirty="0"/>
          </a:p>
          <a:p>
            <a:pPr lvl="1" eaLnBrk="1" hangingPunct="1"/>
            <a:r>
              <a:rPr lang="zh-CN" altLang="en-US" b="1" dirty="0"/>
              <a:t>进程状态是否唯一？</a:t>
            </a:r>
            <a:endParaRPr lang="zh-CN" altLang="en-US" b="1" dirty="0"/>
          </a:p>
          <a:p>
            <a:pPr lvl="1" eaLnBrk="1" hangingPunct="1"/>
            <a:r>
              <a:rPr lang="zh-CN" altLang="en-US" b="1" dirty="0"/>
              <a:t>时间片用完是否是进程由执行变为就绪的唯一原因？</a:t>
            </a:r>
            <a:endParaRPr lang="zh-CN" altLang="en-US" b="1" dirty="0"/>
          </a:p>
          <a:p>
            <a:pPr lvl="1" eaLnBrk="1" hangingPunct="1"/>
            <a:r>
              <a:rPr lang="zh-CN" altLang="en-US" b="1" dirty="0"/>
              <a:t>在单处理机系统中，是否可以有多个进程同时处于执行状态？</a:t>
            </a:r>
            <a:endParaRPr lang="zh-CN" altLang="en-US" b="1" dirty="0"/>
          </a:p>
          <a:p>
            <a:pPr lvl="1" eaLnBrk="1" hangingPunct="1"/>
            <a:r>
              <a:rPr lang="zh-CN" altLang="en-US" b="1" dirty="0"/>
              <a:t>在多处理机系统中，是否可以有多个进程同时处于执行状态？</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010">
                                            <p:txEl>
                                              <p:charRg st="0" end="10"/>
                                            </p:txEl>
                                          </p:spTgt>
                                        </p:tgtEl>
                                        <p:attrNameLst>
                                          <p:attrName>style.visibility</p:attrName>
                                        </p:attrNameLst>
                                      </p:cBhvr>
                                      <p:to>
                                        <p:strVal val="visible"/>
                                      </p:to>
                                    </p:set>
                                    <p:animEffect transition="in" filter="fade">
                                      <p:cBhvr>
                                        <p:cTn id="7" dur="2000"/>
                                        <p:tgtEl>
                                          <p:spTgt spid="43010">
                                            <p:txEl>
                                              <p:charRg st="0" end="1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010">
                                            <p:txEl>
                                              <p:charRg st="11" end="30"/>
                                            </p:txEl>
                                          </p:spTgt>
                                        </p:tgtEl>
                                        <p:attrNameLst>
                                          <p:attrName>style.visibility</p:attrName>
                                        </p:attrNameLst>
                                      </p:cBhvr>
                                      <p:to>
                                        <p:strVal val="visible"/>
                                      </p:to>
                                    </p:set>
                                    <p:animEffect transition="in" filter="fade">
                                      <p:cBhvr>
                                        <p:cTn id="10" dur="2000"/>
                                        <p:tgtEl>
                                          <p:spTgt spid="43010">
                                            <p:txEl>
                                              <p:charRg st="11" end="3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010">
                                            <p:txEl>
                                              <p:charRg st="30" end="40"/>
                                            </p:txEl>
                                          </p:spTgt>
                                        </p:tgtEl>
                                        <p:attrNameLst>
                                          <p:attrName>style.visibility</p:attrName>
                                        </p:attrNameLst>
                                      </p:cBhvr>
                                      <p:to>
                                        <p:strVal val="visible"/>
                                      </p:to>
                                    </p:set>
                                    <p:animEffect transition="in" filter="fade">
                                      <p:cBhvr>
                                        <p:cTn id="13" dur="2000"/>
                                        <p:tgtEl>
                                          <p:spTgt spid="43010">
                                            <p:txEl>
                                              <p:charRg st="30" end="4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010">
                                            <p:txEl>
                                              <p:charRg st="40" end="64"/>
                                            </p:txEl>
                                          </p:spTgt>
                                        </p:tgtEl>
                                        <p:attrNameLst>
                                          <p:attrName>style.visibility</p:attrName>
                                        </p:attrNameLst>
                                      </p:cBhvr>
                                      <p:to>
                                        <p:strVal val="visible"/>
                                      </p:to>
                                    </p:set>
                                    <p:animEffect transition="in" filter="fade">
                                      <p:cBhvr>
                                        <p:cTn id="16" dur="2000"/>
                                        <p:tgtEl>
                                          <p:spTgt spid="43010">
                                            <p:txEl>
                                              <p:charRg st="40" end="6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010">
                                            <p:txEl>
                                              <p:charRg st="64" end="92"/>
                                            </p:txEl>
                                          </p:spTgt>
                                        </p:tgtEl>
                                        <p:attrNameLst>
                                          <p:attrName>style.visibility</p:attrName>
                                        </p:attrNameLst>
                                      </p:cBhvr>
                                      <p:to>
                                        <p:strVal val="visible"/>
                                      </p:to>
                                    </p:set>
                                    <p:animEffect transition="in" filter="fade">
                                      <p:cBhvr>
                                        <p:cTn id="19" dur="2000"/>
                                        <p:tgtEl>
                                          <p:spTgt spid="43010">
                                            <p:txEl>
                                              <p:charRg st="64" end="9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3010">
                                            <p:txEl>
                                              <p:charRg st="92" end="120"/>
                                            </p:txEl>
                                          </p:spTgt>
                                        </p:tgtEl>
                                        <p:attrNameLst>
                                          <p:attrName>style.visibility</p:attrName>
                                        </p:attrNameLst>
                                      </p:cBhvr>
                                      <p:to>
                                        <p:strVal val="visible"/>
                                      </p:to>
                                    </p:set>
                                    <p:animEffect transition="in" filter="fade">
                                      <p:cBhvr>
                                        <p:cTn id="22" dur="2000"/>
                                        <p:tgtEl>
                                          <p:spTgt spid="43010">
                                            <p:txEl>
                                              <p:charRg st="92" end="1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a:ln/>
        </p:spPr>
        <p:txBody>
          <a:bodyPr vert="horz" wrap="square" lIns="91440" tIns="45720" rIns="91440" bIns="45720" anchor="ctr" anchorCtr="0"/>
          <a:p>
            <a:r>
              <a:rPr lang="en-US" altLang="zh-CN" b="1" dirty="0"/>
              <a:t>3. </a:t>
            </a:r>
            <a:r>
              <a:rPr lang="zh-CN" altLang="en-US" b="1" dirty="0"/>
              <a:t>创建状态和终止状态</a:t>
            </a:r>
            <a:endParaRPr lang="zh-CN" altLang="en-US" b="1" dirty="0"/>
          </a:p>
        </p:txBody>
      </p:sp>
      <p:sp>
        <p:nvSpPr>
          <p:cNvPr id="27651" name="内容占位符 2"/>
          <p:cNvSpPr>
            <a:spLocks noGrp="1"/>
          </p:cNvSpPr>
          <p:nvPr>
            <p:ph idx="1"/>
          </p:nvPr>
        </p:nvSpPr>
        <p:spPr>
          <a:ln/>
        </p:spPr>
        <p:txBody>
          <a:bodyPr vert="horz" wrap="square" lIns="91440" tIns="45720" rIns="91440" bIns="45720" anchor="t" anchorCtr="0"/>
          <a:p>
            <a:r>
              <a:rPr lang="en-US" altLang="zh-CN" b="1" dirty="0">
                <a:solidFill>
                  <a:srgbClr val="0066FF"/>
                </a:solidFill>
              </a:rPr>
              <a:t>1</a:t>
            </a:r>
            <a:r>
              <a:rPr lang="zh-CN" altLang="en-US" b="1" dirty="0">
                <a:solidFill>
                  <a:srgbClr val="0066FF"/>
                </a:solidFill>
              </a:rPr>
              <a:t>）创建状态</a:t>
            </a:r>
            <a:endParaRPr lang="en-US" altLang="zh-CN" b="1" dirty="0">
              <a:solidFill>
                <a:srgbClr val="0066FF"/>
              </a:solidFill>
            </a:endParaRPr>
          </a:p>
          <a:p>
            <a:pPr lvl="1"/>
            <a:r>
              <a:rPr lang="zh-CN" altLang="en-US" b="1" dirty="0"/>
              <a:t>如果进程所需资源尚不能得到满足，如无足够的内存空间，创建工作将无法完成，进程不能被调度，此时的进程状态为创建状态。</a:t>
            </a:r>
            <a:endParaRPr lang="en-US" altLang="zh-CN" b="1" dirty="0"/>
          </a:p>
          <a:p>
            <a:r>
              <a:rPr lang="en-US" altLang="zh-CN" b="1" dirty="0">
                <a:solidFill>
                  <a:srgbClr val="0066FF"/>
                </a:solidFill>
              </a:rPr>
              <a:t>2</a:t>
            </a:r>
            <a:r>
              <a:rPr lang="zh-CN" altLang="en-US" b="1" dirty="0">
                <a:solidFill>
                  <a:srgbClr val="0066FF"/>
                </a:solidFill>
              </a:rPr>
              <a:t>）终止状态</a:t>
            </a:r>
            <a:endParaRPr lang="en-US" altLang="zh-CN" b="1" dirty="0">
              <a:solidFill>
                <a:srgbClr val="0066FF"/>
              </a:solidFill>
            </a:endParaRPr>
          </a:p>
          <a:p>
            <a:pPr lvl="1"/>
            <a:r>
              <a:rPr lang="zh-CN" altLang="en-US" b="1" dirty="0"/>
              <a:t>一个进程到达了自然结束点，或者出现了无法克服的错误，或是被操作系统所终结，或是被其他有终止权的进程所终结，它将进入终止状态。</a:t>
            </a:r>
            <a:endParaRPr lang="zh-CN" altLang="en-US"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3"/>
          <p:cNvSpPr>
            <a:spLocks noGrp="1" noRot="1"/>
          </p:cNvSpPr>
          <p:nvPr>
            <p:ph type="body"/>
          </p:nvPr>
        </p:nvSpPr>
        <p:spPr>
          <a:xfrm>
            <a:off x="457200" y="2133600"/>
            <a:ext cx="8289925" cy="3108325"/>
          </a:xfrm>
          <a:ln/>
        </p:spPr>
        <p:txBody>
          <a:bodyPr vert="horz" wrap="square" lIns="91440" tIns="45720" rIns="91440" bIns="45720" anchor="t" anchorCtr="0"/>
          <a:p>
            <a:pPr marL="0" indent="0" algn="just" eaLnBrk="1" hangingPunct="1">
              <a:lnSpc>
                <a:spcPct val="150000"/>
              </a:lnSpc>
            </a:pPr>
            <a:r>
              <a:rPr lang="zh-CN" altLang="en-US" sz="3600" b="1" dirty="0">
                <a:solidFill>
                  <a:srgbClr val="FF0000"/>
                </a:solidFill>
              </a:rPr>
              <a:t>挂起状态</a:t>
            </a:r>
            <a:endParaRPr lang="en-US" altLang="zh-CN" sz="3600" b="1" dirty="0">
              <a:solidFill>
                <a:srgbClr val="FF0000"/>
              </a:solidFill>
            </a:endParaRPr>
          </a:p>
          <a:p>
            <a:pPr marL="0" indent="0" algn="just" eaLnBrk="1" hangingPunct="1">
              <a:lnSpc>
                <a:spcPct val="150000"/>
              </a:lnSpc>
              <a:buNone/>
            </a:pPr>
            <a:r>
              <a:rPr lang="zh-CN" altLang="en-US" sz="3600" b="1" dirty="0"/>
              <a:t>使执行的进程暂停执行</a:t>
            </a:r>
            <a:r>
              <a:rPr lang="en-US" altLang="zh-CN" sz="3600" b="1" dirty="0"/>
              <a:t>,</a:t>
            </a:r>
            <a:r>
              <a:rPr lang="zh-CN" altLang="en-US" sz="3600" b="1" dirty="0"/>
              <a:t>静止下来</a:t>
            </a:r>
            <a:r>
              <a:rPr lang="en-US" altLang="zh-CN" sz="3600" b="1" dirty="0"/>
              <a:t>,</a:t>
            </a:r>
            <a:r>
              <a:rPr lang="zh-CN" altLang="en-US" sz="3600" b="1" dirty="0"/>
              <a:t>我们把这种静止状态称为挂起状态。</a:t>
            </a:r>
            <a:endParaRPr lang="zh-CN" altLang="en-US" sz="3600" b="1" dirty="0"/>
          </a:p>
          <a:p>
            <a:pPr marL="0" indent="0" algn="just" eaLnBrk="1" hangingPunct="1">
              <a:buNone/>
            </a:pPr>
            <a:endParaRPr lang="en-US" altLang="zh-CN" sz="3600" b="1" dirty="0"/>
          </a:p>
        </p:txBody>
      </p:sp>
      <p:sp>
        <p:nvSpPr>
          <p:cNvPr id="3" name="Rectangle 22"/>
          <p:cNvSpPr txBox="1">
            <a:spLocks noRot="1" noChangeArrowheads="1"/>
          </p:cNvSpPr>
          <p:nvPr/>
        </p:nvSpPr>
        <p:spPr bwMode="auto">
          <a:xfrm>
            <a:off x="301625" y="228600"/>
            <a:ext cx="8540750" cy="1143000"/>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2.2.3 </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挂起操作和进程状态的转换</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4">
                                            <p:txEl>
                                              <p:charRg st="0" end="5"/>
                                            </p:txEl>
                                          </p:spTgt>
                                        </p:tgtEl>
                                        <p:attrNameLst>
                                          <p:attrName>style.visibility</p:attrName>
                                        </p:attrNameLst>
                                      </p:cBhvr>
                                      <p:to>
                                        <p:strVal val="visible"/>
                                      </p:to>
                                    </p:set>
                                    <p:animEffect transition="in" filter="fade">
                                      <p:cBhvr>
                                        <p:cTn id="7" dur="2000"/>
                                        <p:tgtEl>
                                          <p:spTgt spid="44034">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034">
                                            <p:txEl>
                                              <p:charRg st="5" end="38"/>
                                            </p:txEl>
                                          </p:spTgt>
                                        </p:tgtEl>
                                        <p:attrNameLst>
                                          <p:attrName>style.visibility</p:attrName>
                                        </p:attrNameLst>
                                      </p:cBhvr>
                                      <p:to>
                                        <p:strVal val="visible"/>
                                      </p:to>
                                    </p:set>
                                    <p:animEffect transition="in" filter="fade">
                                      <p:cBhvr>
                                        <p:cTn id="12" dur="2000"/>
                                        <p:tgtEl>
                                          <p:spTgt spid="44034">
                                            <p:txEl>
                                              <p:charRg st="5" end="3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0066FF"/>
                </a:solidFill>
                <a:effectLst>
                  <a:outerShdw blurRad="38100" dist="38100" dir="2700000" algn="tl">
                    <a:srgbClr val="C0C0C0"/>
                  </a:outerShdw>
                </a:effectLst>
                <a:uLnTx/>
                <a:uFillTx/>
                <a:latin typeface="+mj-lt"/>
                <a:ea typeface="+mj-ea"/>
                <a:cs typeface="+mj-cs"/>
              </a:rPr>
              <a:t>1</a:t>
            </a:r>
            <a:r>
              <a:rPr kumimoji="0" lang="zh-CN" altLang="en-US" sz="4400" b="1" i="0" u="none" strike="noStrike" kern="0" cap="none" spc="0" normalizeH="0" baseline="0" noProof="0" smtClean="0">
                <a:ln>
                  <a:noFill/>
                </a:ln>
                <a:solidFill>
                  <a:srgbClr val="0066FF"/>
                </a:solidFill>
                <a:effectLst>
                  <a:outerShdw blurRad="38100" dist="38100" dir="2700000" algn="tl">
                    <a:srgbClr val="C0C0C0"/>
                  </a:outerShdw>
                </a:effectLst>
                <a:uLnTx/>
                <a:uFillTx/>
                <a:latin typeface="+mj-lt"/>
                <a:ea typeface="+mj-ea"/>
                <a:cs typeface="+mj-cs"/>
              </a:rPr>
              <a:t>）引入挂起状态的原因</a:t>
            </a:r>
            <a:endParaRPr kumimoji="0" lang="zh-CN" altLang="en-US" sz="4400" b="1" i="0" u="none" strike="noStrike" kern="0" cap="none" spc="0" normalizeH="0" baseline="0" noProof="0" smtClean="0">
              <a:ln>
                <a:noFill/>
              </a:ln>
              <a:solidFill>
                <a:srgbClr val="0066FF"/>
              </a:solidFill>
              <a:effectLst>
                <a:outerShdw blurRad="38100" dist="38100" dir="2700000" algn="tl">
                  <a:srgbClr val="C0C0C0"/>
                </a:outerShdw>
              </a:effectLst>
              <a:uLnTx/>
              <a:uFillTx/>
              <a:latin typeface="+mj-lt"/>
              <a:ea typeface="+mj-ea"/>
              <a:cs typeface="+mj-cs"/>
            </a:endParaRPr>
          </a:p>
        </p:txBody>
      </p:sp>
      <p:sp>
        <p:nvSpPr>
          <p:cNvPr id="45059" name="Rectangle 3"/>
          <p:cNvSpPr>
            <a:spLocks noGrp="1" noRot="1"/>
          </p:cNvSpPr>
          <p:nvPr>
            <p:ph type="body"/>
          </p:nvPr>
        </p:nvSpPr>
        <p:spPr>
          <a:xfrm>
            <a:off x="152400" y="1600200"/>
            <a:ext cx="8540750" cy="4498975"/>
          </a:xfrm>
          <a:ln/>
        </p:spPr>
        <p:txBody>
          <a:bodyPr vert="horz" wrap="square" lIns="91440" tIns="45720" rIns="91440" bIns="45720" anchor="t" anchorCtr="0"/>
          <a:p>
            <a:pPr algn="just" eaLnBrk="1" hangingPunct="1">
              <a:buNone/>
            </a:pPr>
            <a:r>
              <a:rPr lang="zh-CN" altLang="en-US" sz="2800" b="1" dirty="0"/>
              <a:t>（</a:t>
            </a:r>
            <a:r>
              <a:rPr lang="en-US" altLang="zh-CN" sz="2800" b="1" dirty="0"/>
              <a:t>1</a:t>
            </a:r>
            <a:r>
              <a:rPr lang="zh-CN" altLang="en-US" sz="2800" b="1" dirty="0"/>
              <a:t>）</a:t>
            </a:r>
            <a:r>
              <a:rPr lang="zh-CN" altLang="en-US" sz="2800" b="1" dirty="0">
                <a:solidFill>
                  <a:srgbClr val="FF0000"/>
                </a:solidFill>
              </a:rPr>
              <a:t>终端用户的请求</a:t>
            </a:r>
            <a:r>
              <a:rPr lang="zh-CN" altLang="en-US" sz="2800" b="1" dirty="0"/>
              <a:t>。（用户发现程序运行有问题，将其暂停）</a:t>
            </a:r>
            <a:endParaRPr lang="zh-CN" altLang="en-US" sz="2800" b="1" dirty="0"/>
          </a:p>
          <a:p>
            <a:pPr algn="just" eaLnBrk="1" hangingPunct="1">
              <a:buClrTx/>
              <a:buSzTx/>
              <a:buFontTx/>
              <a:buNone/>
            </a:pPr>
            <a:r>
              <a:rPr lang="zh-CN" altLang="en-US" sz="2800" b="1" dirty="0"/>
              <a:t>（</a:t>
            </a:r>
            <a:r>
              <a:rPr lang="en-US" altLang="zh-CN" sz="2800" b="1" dirty="0"/>
              <a:t>2</a:t>
            </a:r>
            <a:r>
              <a:rPr lang="zh-CN" altLang="en-US" sz="2800" b="1" dirty="0"/>
              <a:t>）</a:t>
            </a:r>
            <a:r>
              <a:rPr lang="zh-CN" altLang="en-US" sz="2800" b="1" dirty="0">
                <a:solidFill>
                  <a:srgbClr val="FF0000"/>
                </a:solidFill>
              </a:rPr>
              <a:t>父进程请求</a:t>
            </a:r>
            <a:r>
              <a:rPr lang="zh-CN" altLang="en-US" sz="2800" b="1" dirty="0"/>
              <a:t>。</a:t>
            </a:r>
            <a:r>
              <a:rPr lang="en-US" altLang="zh-CN" sz="2800" b="1" dirty="0"/>
              <a:t>(</a:t>
            </a:r>
            <a:r>
              <a:rPr lang="zh-CN" altLang="en-US" sz="2800" b="1" dirty="0"/>
              <a:t>挂起子进程，协调子进程的活动</a:t>
            </a:r>
            <a:r>
              <a:rPr lang="en-US" altLang="zh-CN" sz="2800" b="1" dirty="0"/>
              <a:t>)</a:t>
            </a:r>
            <a:r>
              <a:rPr lang="zh-CN" altLang="en-US" sz="2800" b="1" dirty="0"/>
              <a:t>   </a:t>
            </a:r>
            <a:endParaRPr lang="zh-CN" altLang="en-US" sz="2800" b="1" dirty="0"/>
          </a:p>
          <a:p>
            <a:pPr algn="just" eaLnBrk="1" hangingPunct="1">
              <a:buClrTx/>
              <a:buSzTx/>
              <a:buFontTx/>
              <a:buNone/>
            </a:pPr>
            <a:r>
              <a:rPr lang="zh-CN" altLang="en-US" sz="2800" b="1" dirty="0"/>
              <a:t>（</a:t>
            </a:r>
            <a:r>
              <a:rPr lang="en-US" altLang="zh-CN" sz="2800" b="1" dirty="0"/>
              <a:t>3</a:t>
            </a:r>
            <a:r>
              <a:rPr lang="zh-CN" altLang="en-US" sz="2800" b="1" dirty="0"/>
              <a:t>）</a:t>
            </a:r>
            <a:r>
              <a:rPr lang="zh-CN" altLang="en-US" sz="2800" b="1" dirty="0">
                <a:solidFill>
                  <a:srgbClr val="FF0000"/>
                </a:solidFill>
              </a:rPr>
              <a:t>负荷调节的需要</a:t>
            </a:r>
            <a:r>
              <a:rPr lang="zh-CN" altLang="en-US" sz="2800" b="1" dirty="0"/>
              <a:t>。当实时系统中的工作负荷较重，把一些不重要的进程挂起，以保证系统能正常运行。</a:t>
            </a:r>
            <a:endParaRPr lang="zh-CN" altLang="en-US" sz="2800" b="1" dirty="0"/>
          </a:p>
          <a:p>
            <a:pPr eaLnBrk="1" hangingPunct="1">
              <a:buClrTx/>
              <a:buSzTx/>
              <a:buFontTx/>
              <a:buNone/>
            </a:pPr>
            <a:r>
              <a:rPr lang="zh-CN" altLang="en-US" sz="2800" b="1" dirty="0"/>
              <a:t>（</a:t>
            </a:r>
            <a:r>
              <a:rPr lang="en-US" altLang="zh-CN" sz="2800" b="1" dirty="0"/>
              <a:t>4</a:t>
            </a:r>
            <a:r>
              <a:rPr lang="zh-CN" altLang="en-US" sz="2800" b="1" dirty="0"/>
              <a:t>）</a:t>
            </a:r>
            <a:r>
              <a:rPr lang="zh-CN" altLang="en-US" sz="2800" b="1" dirty="0">
                <a:solidFill>
                  <a:srgbClr val="FF0000"/>
                </a:solidFill>
              </a:rPr>
              <a:t>操作系统的需要</a:t>
            </a:r>
            <a:r>
              <a:rPr lang="zh-CN" altLang="en-US" sz="2800" b="1" dirty="0"/>
              <a:t>。操作系统有时希望挂起某些进程，以便检查运行中的资源使用情况或进行记账。 </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fade">
                                      <p:cBhvr>
                                        <p:cTn id="7" dur="2000"/>
                                        <p:tgtEl>
                                          <p:spTgt spid="2058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059">
                                            <p:txEl>
                                              <p:charRg st="0" end="30"/>
                                            </p:txEl>
                                          </p:spTgt>
                                        </p:tgtEl>
                                        <p:attrNameLst>
                                          <p:attrName>style.visibility</p:attrName>
                                        </p:attrNameLst>
                                      </p:cBhvr>
                                      <p:to>
                                        <p:strVal val="visible"/>
                                      </p:to>
                                    </p:set>
                                    <p:animEffect transition="in" filter="fade">
                                      <p:cBhvr>
                                        <p:cTn id="12" dur="2000"/>
                                        <p:tgtEl>
                                          <p:spTgt spid="45059">
                                            <p:txEl>
                                              <p:charRg st="0"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059">
                                            <p:txEl>
                                              <p:charRg st="30" end="59"/>
                                            </p:txEl>
                                          </p:spTgt>
                                        </p:tgtEl>
                                        <p:attrNameLst>
                                          <p:attrName>style.visibility</p:attrName>
                                        </p:attrNameLst>
                                      </p:cBhvr>
                                      <p:to>
                                        <p:strVal val="visible"/>
                                      </p:to>
                                    </p:set>
                                    <p:animEffect transition="in" filter="fade">
                                      <p:cBhvr>
                                        <p:cTn id="17" dur="2000"/>
                                        <p:tgtEl>
                                          <p:spTgt spid="45059">
                                            <p:txEl>
                                              <p:charRg st="30" end="5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059">
                                            <p:txEl>
                                              <p:charRg st="59" end="108"/>
                                            </p:txEl>
                                          </p:spTgt>
                                        </p:tgtEl>
                                        <p:attrNameLst>
                                          <p:attrName>style.visibility</p:attrName>
                                        </p:attrNameLst>
                                      </p:cBhvr>
                                      <p:to>
                                        <p:strVal val="visible"/>
                                      </p:to>
                                    </p:set>
                                    <p:animEffect transition="in" filter="fade">
                                      <p:cBhvr>
                                        <p:cTn id="22" dur="2000"/>
                                        <p:tgtEl>
                                          <p:spTgt spid="45059">
                                            <p:txEl>
                                              <p:charRg st="59" end="10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5059">
                                            <p:txEl>
                                              <p:charRg st="108" end="156"/>
                                            </p:txEl>
                                          </p:spTgt>
                                        </p:tgtEl>
                                        <p:attrNameLst>
                                          <p:attrName>style.visibility</p:attrName>
                                        </p:attrNameLst>
                                      </p:cBhvr>
                                      <p:to>
                                        <p:strVal val="visible"/>
                                      </p:to>
                                    </p:set>
                                    <p:animEffect transition="in" filter="fade">
                                      <p:cBhvr>
                                        <p:cTn id="27" dur="2000"/>
                                        <p:tgtEl>
                                          <p:spTgt spid="45059">
                                            <p:txEl>
                                              <p:charRg st="108" end="1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P spid="4505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345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）进程挂起状态的转换</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pic>
        <p:nvPicPr>
          <p:cNvPr id="46083" name="Picture 4" descr="3_8a"/>
          <p:cNvPicPr>
            <a:picLocks noChangeAspect="1"/>
          </p:cNvPicPr>
          <p:nvPr>
            <p:ph type="body"/>
          </p:nvPr>
        </p:nvPicPr>
        <p:blipFill>
          <a:blip r:embed="rId1"/>
          <a:srcRect/>
          <a:stretch>
            <a:fillRect/>
          </a:stretch>
        </p:blipFill>
        <p:spPr>
          <a:xfrm>
            <a:off x="542925" y="1679575"/>
            <a:ext cx="8067675" cy="3716338"/>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3458"/>
                                        </p:tgtEl>
                                        <p:attrNameLst>
                                          <p:attrName>style.visibility</p:attrName>
                                        </p:attrNameLst>
                                      </p:cBhvr>
                                      <p:to>
                                        <p:strVal val="visible"/>
                                      </p:to>
                                    </p:set>
                                    <p:animEffect transition="in" filter="fade">
                                      <p:cBhvr>
                                        <p:cTn id="7" dur="2000"/>
                                        <p:tgtEl>
                                          <p:spTgt spid="4034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083"/>
                                        </p:tgtEl>
                                        <p:attrNameLst>
                                          <p:attrName>style.visibility</p:attrName>
                                        </p:attrNameLst>
                                      </p:cBhvr>
                                      <p:to>
                                        <p:strVal val="visible"/>
                                      </p:to>
                                    </p:set>
                                    <p:animEffect transition="in" filter="fade">
                                      <p:cBhvr>
                                        <p:cTn id="12" dur="2000"/>
                                        <p:tgtEl>
                                          <p:spTgt spid="46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363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有挂起状态的进程转换</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pic>
        <p:nvPicPr>
          <p:cNvPr id="31747" name="Picture 4" descr="3_8b"/>
          <p:cNvPicPr>
            <a:picLocks noChangeAspect="1"/>
          </p:cNvPicPr>
          <p:nvPr/>
        </p:nvPicPr>
        <p:blipFill>
          <a:blip r:embed="rId1"/>
          <a:stretch>
            <a:fillRect/>
          </a:stretch>
        </p:blipFill>
        <p:spPr>
          <a:xfrm>
            <a:off x="685800" y="1600200"/>
            <a:ext cx="7620000" cy="49133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3634"/>
                                        </p:tgtEl>
                                        <p:attrNameLst>
                                          <p:attrName>style.visibility</p:attrName>
                                        </p:attrNameLst>
                                      </p:cBhvr>
                                      <p:to>
                                        <p:strVal val="visible"/>
                                      </p:to>
                                    </p:set>
                                    <p:animEffect transition="in" filter="fade">
                                      <p:cBhvr>
                                        <p:cTn id="7" dur="2000"/>
                                        <p:tgtEl>
                                          <p:spTgt spid="453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5"/>
          <p:cNvSpPr txBox="1"/>
          <p:nvPr/>
        </p:nvSpPr>
        <p:spPr>
          <a:xfrm>
            <a:off x="5562600" y="3276600"/>
            <a:ext cx="3200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p>
        </p:txBody>
      </p:sp>
      <p:sp>
        <p:nvSpPr>
          <p:cNvPr id="32771" name="Text Box 9"/>
          <p:cNvSpPr txBox="1"/>
          <p:nvPr/>
        </p:nvSpPr>
        <p:spPr>
          <a:xfrm>
            <a:off x="2700338" y="5805488"/>
            <a:ext cx="4629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图</a:t>
            </a:r>
            <a:r>
              <a:rPr lang="en-US" altLang="zh-CN" sz="2400" dirty="0">
                <a:latin typeface="Times New Roman" panose="02020603050405020304" pitchFamily="18" charset="0"/>
              </a:rPr>
              <a:t>2-6 </a:t>
            </a:r>
            <a:r>
              <a:rPr lang="zh-CN" altLang="en-US" sz="2400" dirty="0">
                <a:latin typeface="Times New Roman" panose="02020603050405020304" pitchFamily="18" charset="0"/>
              </a:rPr>
              <a:t>具有挂起状态的进程状态图</a:t>
            </a:r>
            <a:endParaRPr lang="zh-CN" altLang="en-US" sz="2400" dirty="0">
              <a:latin typeface="Times New Roman" panose="02020603050405020304" pitchFamily="18" charset="0"/>
            </a:endParaRPr>
          </a:p>
        </p:txBody>
      </p:sp>
      <p:graphicFrame>
        <p:nvGraphicFramePr>
          <p:cNvPr id="32772" name="Object 10"/>
          <p:cNvGraphicFramePr>
            <a:graphicFrameLocks noChangeAspect="1"/>
          </p:cNvGraphicFramePr>
          <p:nvPr/>
        </p:nvGraphicFramePr>
        <p:xfrm>
          <a:off x="1143000" y="228600"/>
          <a:ext cx="7010400" cy="5426075"/>
        </p:xfrm>
        <a:graphic>
          <a:graphicData uri="http://schemas.openxmlformats.org/presentationml/2006/ole">
            <mc:AlternateContent xmlns:mc="http://schemas.openxmlformats.org/markup-compatibility/2006">
              <mc:Choice xmlns:v="urn:schemas-microsoft-com:vml" Requires="v">
                <p:oleObj spid="_x0000_s3076" name="" r:id="rId1" imgW="2921000" imgH="2260600" progId="Visio.Drawing.11">
                  <p:embed/>
                </p:oleObj>
              </mc:Choice>
              <mc:Fallback>
                <p:oleObj name="" r:id="rId1" imgW="2921000" imgH="2260600" progId="Visio.Drawing.11">
                  <p:embed/>
                  <p:pic>
                    <p:nvPicPr>
                      <p:cNvPr id="0" name="图片 3075"/>
                      <p:cNvPicPr/>
                      <p:nvPr/>
                    </p:nvPicPr>
                    <p:blipFill>
                      <a:blip r:embed="rId2"/>
                      <a:stretch>
                        <a:fillRect/>
                      </a:stretch>
                    </p:blipFill>
                    <p:spPr>
                      <a:xfrm>
                        <a:off x="1143000" y="228600"/>
                        <a:ext cx="7010400" cy="5426075"/>
                      </a:xfrm>
                      <a:prstGeom prst="rect">
                        <a:avLst/>
                      </a:prstGeom>
                      <a:noFill/>
                      <a:ln w="38100">
                        <a:noFill/>
                        <a:miter/>
                      </a:ln>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内容占位符 2"/>
          <p:cNvSpPr>
            <a:spLocks noGrp="1"/>
          </p:cNvSpPr>
          <p:nvPr>
            <p:ph type="body"/>
          </p:nvPr>
        </p:nvSpPr>
        <p:spPr>
          <a:xfrm>
            <a:off x="304800" y="838200"/>
            <a:ext cx="8382000" cy="4498975"/>
          </a:xfrm>
          <a:ln/>
        </p:spPr>
        <p:txBody>
          <a:bodyPr vert="horz" wrap="square" lIns="91440" tIns="45720" rIns="91440" bIns="45720" anchor="t" anchorCtr="0"/>
          <a:p>
            <a:pPr eaLnBrk="1" hangingPunct="1"/>
            <a:r>
              <a:rPr lang="zh-CN" altLang="en-US" sz="3600" b="1" dirty="0">
                <a:solidFill>
                  <a:schemeClr val="folHlink"/>
                </a:solidFill>
              </a:rPr>
              <a:t>挂起状态的思考</a:t>
            </a:r>
            <a:endParaRPr lang="zh-CN" altLang="en-US" sz="3600" b="1" dirty="0">
              <a:solidFill>
                <a:schemeClr val="folHlink"/>
              </a:solidFill>
            </a:endParaRPr>
          </a:p>
          <a:p>
            <a:pPr lvl="1" eaLnBrk="1" hangingPunct="1"/>
            <a:endParaRPr lang="zh-CN" altLang="en-US" sz="3200" b="1" dirty="0"/>
          </a:p>
          <a:p>
            <a:pPr lvl="1" eaLnBrk="1" hangingPunct="1"/>
            <a:r>
              <a:rPr lang="zh-CN" altLang="en-US" sz="3200" b="1" dirty="0"/>
              <a:t>就绪</a:t>
            </a:r>
            <a:r>
              <a:rPr lang="en-US" altLang="zh-CN" sz="3200" b="1" dirty="0"/>
              <a:t>/</a:t>
            </a:r>
            <a:r>
              <a:rPr lang="zh-CN" altLang="en-US" sz="3200" b="1" dirty="0"/>
              <a:t>挂起和就绪状态的区别？</a:t>
            </a:r>
            <a:endParaRPr lang="zh-CN" altLang="en-US" sz="3200" b="1" dirty="0"/>
          </a:p>
          <a:p>
            <a:pPr lvl="1" eaLnBrk="1" hangingPunct="1"/>
            <a:r>
              <a:rPr lang="zh-CN" altLang="en-US" sz="3200" b="1" dirty="0"/>
              <a:t>就绪</a:t>
            </a:r>
            <a:r>
              <a:rPr lang="en-US" altLang="zh-CN" sz="3200" b="1" dirty="0"/>
              <a:t>/</a:t>
            </a:r>
            <a:r>
              <a:rPr lang="zh-CN" altLang="en-US" sz="3200" b="1" dirty="0"/>
              <a:t>挂起状态是否可以直接进入执行状态</a:t>
            </a:r>
            <a:r>
              <a:rPr lang="en-US" altLang="zh-CN" sz="3200" b="1" dirty="0"/>
              <a:t>?</a:t>
            </a:r>
            <a:endParaRPr lang="en-US" altLang="zh-CN" sz="3200" b="1" dirty="0"/>
          </a:p>
          <a:p>
            <a:pPr lvl="1" eaLnBrk="1" hangingPunct="1"/>
            <a:r>
              <a:rPr lang="zh-CN" altLang="en-US" sz="3200" b="1" dirty="0"/>
              <a:t>挂起状态是否可以进入执行状态</a:t>
            </a:r>
            <a:r>
              <a:rPr lang="en-US" altLang="zh-CN" sz="3200" b="1" dirty="0"/>
              <a:t>?</a:t>
            </a:r>
            <a:endParaRPr lang="en-US" altLang="zh-CN" sz="3200" b="1" dirty="0"/>
          </a:p>
          <a:p>
            <a:pPr lvl="1" eaLnBrk="1" hangingPunct="1"/>
            <a:r>
              <a:rPr lang="zh-CN" altLang="en-US" sz="3200" b="1" dirty="0"/>
              <a:t>挂起进程是否可以自我激活？</a:t>
            </a:r>
            <a:endParaRPr lang="zh-CN" alt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130">
                                            <p:txEl>
                                              <p:charRg st="0" end="8"/>
                                            </p:txEl>
                                          </p:spTgt>
                                        </p:tgtEl>
                                        <p:attrNameLst>
                                          <p:attrName>style.visibility</p:attrName>
                                        </p:attrNameLst>
                                      </p:cBhvr>
                                      <p:to>
                                        <p:strVal val="visible"/>
                                      </p:to>
                                    </p:set>
                                    <p:animEffect transition="in" filter="fade">
                                      <p:cBhvr>
                                        <p:cTn id="7" dur="2000"/>
                                        <p:tgtEl>
                                          <p:spTgt spid="48130">
                                            <p:txEl>
                                              <p:charRg st="0" end="8"/>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8130">
                                            <p:txEl>
                                              <p:charRg st="9" end="24"/>
                                            </p:txEl>
                                          </p:spTgt>
                                        </p:tgtEl>
                                        <p:attrNameLst>
                                          <p:attrName>style.visibility</p:attrName>
                                        </p:attrNameLst>
                                      </p:cBhvr>
                                      <p:to>
                                        <p:strVal val="visible"/>
                                      </p:to>
                                    </p:set>
                                    <p:animEffect transition="in" filter="fade">
                                      <p:cBhvr>
                                        <p:cTn id="10" dur="2000"/>
                                        <p:tgtEl>
                                          <p:spTgt spid="48130">
                                            <p:txEl>
                                              <p:charRg st="9" end="24"/>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8130">
                                            <p:txEl>
                                              <p:charRg st="24" end="45"/>
                                            </p:txEl>
                                          </p:spTgt>
                                        </p:tgtEl>
                                        <p:attrNameLst>
                                          <p:attrName>style.visibility</p:attrName>
                                        </p:attrNameLst>
                                      </p:cBhvr>
                                      <p:to>
                                        <p:strVal val="visible"/>
                                      </p:to>
                                    </p:set>
                                    <p:animEffect transition="in" filter="fade">
                                      <p:cBhvr>
                                        <p:cTn id="13" dur="2000"/>
                                        <p:tgtEl>
                                          <p:spTgt spid="48130">
                                            <p:txEl>
                                              <p:charRg st="24" end="45"/>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8130">
                                            <p:txEl>
                                              <p:charRg st="45" end="61"/>
                                            </p:txEl>
                                          </p:spTgt>
                                        </p:tgtEl>
                                        <p:attrNameLst>
                                          <p:attrName>style.visibility</p:attrName>
                                        </p:attrNameLst>
                                      </p:cBhvr>
                                      <p:to>
                                        <p:strVal val="visible"/>
                                      </p:to>
                                    </p:set>
                                    <p:animEffect transition="in" filter="fade">
                                      <p:cBhvr>
                                        <p:cTn id="16" dur="2000"/>
                                        <p:tgtEl>
                                          <p:spTgt spid="48130">
                                            <p:txEl>
                                              <p:charRg st="45" end="6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8130">
                                            <p:txEl>
                                              <p:charRg st="61" end="75"/>
                                            </p:txEl>
                                          </p:spTgt>
                                        </p:tgtEl>
                                        <p:attrNameLst>
                                          <p:attrName>style.visibility</p:attrName>
                                        </p:attrNameLst>
                                      </p:cBhvr>
                                      <p:to>
                                        <p:strVal val="visible"/>
                                      </p:to>
                                    </p:set>
                                    <p:animEffect transition="in" filter="fade">
                                      <p:cBhvr>
                                        <p:cTn id="19" dur="2000"/>
                                        <p:tgtEl>
                                          <p:spTgt spid="48130">
                                            <p:txEl>
                                              <p:charRg st="61"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noRot="1"/>
          </p:cNvSpPr>
          <p:nvPr>
            <p:ph type="title"/>
          </p:nvPr>
        </p:nvSpPr>
        <p:spPr>
          <a:xfrm>
            <a:off x="457200" y="635000"/>
            <a:ext cx="7494588" cy="711200"/>
          </a:xfrm>
          <a:ln/>
        </p:spPr>
        <p:txBody>
          <a:bodyPr vert="horz" wrap="square" lIns="91440" tIns="45720" rIns="91440" bIns="45720" anchor="ctr" anchorCtr="0"/>
          <a:p>
            <a:pPr eaLnBrk="1" hangingPunct="1"/>
            <a:r>
              <a:rPr lang="en-US" altLang="zh-CN" b="1" dirty="0"/>
              <a:t>2.2.4 </a:t>
            </a:r>
            <a:r>
              <a:rPr lang="zh-CN" altLang="en-US" b="1" dirty="0"/>
              <a:t>进程管理中的数据结构</a:t>
            </a:r>
            <a:endParaRPr lang="zh-CN" altLang="en-US" b="1" dirty="0"/>
          </a:p>
        </p:txBody>
      </p:sp>
      <p:sp>
        <p:nvSpPr>
          <p:cNvPr id="49155" name="Rectangle 3"/>
          <p:cNvSpPr>
            <a:spLocks noGrp="1" noRot="1"/>
          </p:cNvSpPr>
          <p:nvPr>
            <p:ph type="body"/>
          </p:nvPr>
        </p:nvSpPr>
        <p:spPr>
          <a:xfrm>
            <a:off x="269875" y="1676400"/>
            <a:ext cx="8645525" cy="4419600"/>
          </a:xfrm>
          <a:ln/>
        </p:spPr>
        <p:txBody>
          <a:bodyPr vert="horz" wrap="square" lIns="91440" tIns="45720" rIns="91440" bIns="45720" anchor="t" anchorCtr="0"/>
          <a:p>
            <a:pPr marL="476250" indent="-476250" algn="just" defTabSz="914400" eaLnBrk="1" hangingPunct="1">
              <a:buNone/>
              <a:tabLst>
                <a:tab pos="476250" algn="l"/>
              </a:tabLst>
            </a:pPr>
            <a:r>
              <a:rPr lang="en-US" altLang="zh-CN" sz="3600" b="1" dirty="0">
                <a:solidFill>
                  <a:srgbClr val="FF0000"/>
                </a:solidFill>
              </a:rPr>
              <a:t>1.</a:t>
            </a:r>
            <a:r>
              <a:rPr lang="zh-CN" altLang="en-US" sz="3600" b="1" dirty="0">
                <a:solidFill>
                  <a:srgbClr val="FF0000"/>
                </a:solidFill>
              </a:rPr>
              <a:t>进程控制块的作用</a:t>
            </a:r>
            <a:endParaRPr lang="zh-CN" altLang="en-US" sz="3600" b="1" dirty="0">
              <a:solidFill>
                <a:srgbClr val="FF0000"/>
              </a:solidFill>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独立运行基本单位的标志。</a:t>
            </a:r>
            <a:endParaRPr lang="zh-CN" altLang="en-US" sz="2800" b="1" dirty="0">
              <a:latin typeface="楷体_GB2312" pitchFamily="49" charset="-122"/>
              <a:ea typeface="楷体_GB2312" pitchFamily="49" charset="-122"/>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能实现间断性运行方式。（保护</a:t>
            </a:r>
            <a:r>
              <a:rPr lang="en-US" altLang="zh-CN" sz="2800" b="1" dirty="0">
                <a:latin typeface="楷体_GB2312" pitchFamily="49" charset="-122"/>
                <a:ea typeface="楷体_GB2312" pitchFamily="49" charset="-122"/>
              </a:rPr>
              <a:t>CPU</a:t>
            </a:r>
            <a:r>
              <a:rPr lang="zh-CN" altLang="en-US" sz="2800" b="1" dirty="0">
                <a:latin typeface="楷体_GB2312" pitchFamily="49" charset="-122"/>
                <a:ea typeface="楷体_GB2312" pitchFamily="49" charset="-122"/>
              </a:rPr>
              <a:t>现场）</a:t>
            </a:r>
            <a:endParaRPr lang="zh-CN" altLang="en-US" sz="2800" b="1" dirty="0">
              <a:latin typeface="楷体_GB2312" pitchFamily="49" charset="-122"/>
              <a:ea typeface="楷体_GB2312" pitchFamily="49" charset="-122"/>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提供进程管理所需要的信息。（</a:t>
            </a:r>
            <a:r>
              <a:rPr lang="en-US" altLang="zh-CN" sz="2800" b="1" dirty="0">
                <a:latin typeface="楷体_GB2312" pitchFamily="49" charset="-122"/>
                <a:ea typeface="楷体_GB2312" pitchFamily="49" charset="-122"/>
              </a:rPr>
              <a:t>OS</a:t>
            </a:r>
            <a:r>
              <a:rPr lang="zh-CN" altLang="en-US" sz="2800" b="1" dirty="0">
                <a:latin typeface="楷体_GB2312" pitchFamily="49" charset="-122"/>
                <a:ea typeface="楷体_GB2312" pitchFamily="49" charset="-122"/>
              </a:rPr>
              <a:t>通过</a:t>
            </a:r>
            <a:r>
              <a:rPr lang="en-US" altLang="zh-CN" sz="2800" b="1" dirty="0">
                <a:latin typeface="楷体_GB2312" pitchFamily="49" charset="-122"/>
                <a:ea typeface="楷体_GB2312" pitchFamily="49" charset="-122"/>
              </a:rPr>
              <a:t>PCB</a:t>
            </a:r>
            <a:r>
              <a:rPr lang="zh-CN" altLang="en-US" sz="2800" b="1" dirty="0">
                <a:latin typeface="楷体_GB2312" pitchFamily="49" charset="-122"/>
                <a:ea typeface="楷体_GB2312" pitchFamily="49" charset="-122"/>
              </a:rPr>
              <a:t>对进程实施控制和管理。）</a:t>
            </a:r>
            <a:endParaRPr lang="en-US" altLang="zh-CN" sz="2800" b="1" dirty="0">
              <a:latin typeface="楷体_GB2312" pitchFamily="49" charset="-122"/>
              <a:ea typeface="楷体_GB2312" pitchFamily="49" charset="-122"/>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提供进程调度所需要的信息。（提供进程状态、优先级等信息）</a:t>
            </a:r>
            <a:endParaRPr lang="en-US" altLang="zh-CN" sz="2800" b="1" dirty="0">
              <a:latin typeface="楷体_GB2312" pitchFamily="49" charset="-122"/>
              <a:ea typeface="楷体_GB2312" pitchFamily="49" charset="-122"/>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实现与其它进程的同步与通信。（消息队列指针，信号量等）</a:t>
            </a:r>
            <a:endParaRPr lang="zh-CN" altLang="en-US" sz="28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fade">
                                      <p:cBhvr>
                                        <p:cTn id="7" dur="2000"/>
                                        <p:tgtEl>
                                          <p:spTgt spid="491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155">
                                            <p:txEl>
                                              <p:charRg st="0" end="11"/>
                                            </p:txEl>
                                          </p:spTgt>
                                        </p:tgtEl>
                                        <p:attrNameLst>
                                          <p:attrName>style.visibility</p:attrName>
                                        </p:attrNameLst>
                                      </p:cBhvr>
                                      <p:to>
                                        <p:strVal val="visible"/>
                                      </p:to>
                                    </p:set>
                                    <p:animEffect transition="in" filter="fade">
                                      <p:cBhvr>
                                        <p:cTn id="12" dur="2000"/>
                                        <p:tgtEl>
                                          <p:spTgt spid="49155">
                                            <p:txEl>
                                              <p:charRg st="0"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155">
                                            <p:txEl>
                                              <p:charRg st="11" end="24"/>
                                            </p:txEl>
                                          </p:spTgt>
                                        </p:tgtEl>
                                        <p:attrNameLst>
                                          <p:attrName>style.visibility</p:attrName>
                                        </p:attrNameLst>
                                      </p:cBhvr>
                                      <p:to>
                                        <p:strVal val="visible"/>
                                      </p:to>
                                    </p:set>
                                    <p:animEffect transition="in" filter="fade">
                                      <p:cBhvr>
                                        <p:cTn id="17" dur="2000"/>
                                        <p:tgtEl>
                                          <p:spTgt spid="49155">
                                            <p:txEl>
                                              <p:charRg st="11" end="2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9155">
                                            <p:txEl>
                                              <p:charRg st="24" end="45"/>
                                            </p:txEl>
                                          </p:spTgt>
                                        </p:tgtEl>
                                        <p:attrNameLst>
                                          <p:attrName>style.visibility</p:attrName>
                                        </p:attrNameLst>
                                      </p:cBhvr>
                                      <p:to>
                                        <p:strVal val="visible"/>
                                      </p:to>
                                    </p:set>
                                    <p:animEffect transition="in" filter="fade">
                                      <p:cBhvr>
                                        <p:cTn id="22" dur="2000"/>
                                        <p:tgtEl>
                                          <p:spTgt spid="49155">
                                            <p:txEl>
                                              <p:charRg st="24" end="4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9155">
                                            <p:txEl>
                                              <p:charRg st="45" end="79"/>
                                            </p:txEl>
                                          </p:spTgt>
                                        </p:tgtEl>
                                        <p:attrNameLst>
                                          <p:attrName>style.visibility</p:attrName>
                                        </p:attrNameLst>
                                      </p:cBhvr>
                                      <p:to>
                                        <p:strVal val="visible"/>
                                      </p:to>
                                    </p:set>
                                    <p:animEffect transition="in" filter="fade">
                                      <p:cBhvr>
                                        <p:cTn id="27" dur="2000"/>
                                        <p:tgtEl>
                                          <p:spTgt spid="49155">
                                            <p:txEl>
                                              <p:charRg st="45" end="7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9155">
                                            <p:txEl>
                                              <p:charRg st="79" end="108"/>
                                            </p:txEl>
                                          </p:spTgt>
                                        </p:tgtEl>
                                        <p:attrNameLst>
                                          <p:attrName>style.visibility</p:attrName>
                                        </p:attrNameLst>
                                      </p:cBhvr>
                                      <p:to>
                                        <p:strVal val="visible"/>
                                      </p:to>
                                    </p:set>
                                    <p:animEffect transition="in" filter="fade">
                                      <p:cBhvr>
                                        <p:cTn id="32" dur="2000"/>
                                        <p:tgtEl>
                                          <p:spTgt spid="49155">
                                            <p:txEl>
                                              <p:charRg st="79" end="10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9155">
                                            <p:txEl>
                                              <p:charRg st="108" end="136"/>
                                            </p:txEl>
                                          </p:spTgt>
                                        </p:tgtEl>
                                        <p:attrNameLst>
                                          <p:attrName>style.visibility</p:attrName>
                                        </p:attrNameLst>
                                      </p:cBhvr>
                                      <p:to>
                                        <p:strVal val="visible"/>
                                      </p:to>
                                    </p:set>
                                    <p:animEffect transition="in" filter="fade">
                                      <p:cBhvr>
                                        <p:cTn id="37" dur="2000"/>
                                        <p:tgtEl>
                                          <p:spTgt spid="49155">
                                            <p:txEl>
                                              <p:charRg st="108"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3"/>
          <p:cNvSpPr>
            <a:spLocks noGrp="1" noRot="1"/>
          </p:cNvSpPr>
          <p:nvPr>
            <p:ph type="body"/>
          </p:nvPr>
        </p:nvSpPr>
        <p:spPr>
          <a:xfrm>
            <a:off x="301625" y="1749425"/>
            <a:ext cx="8540750" cy="4498975"/>
          </a:xfrm>
          <a:ln/>
        </p:spPr>
        <p:txBody>
          <a:bodyPr vert="horz" wrap="square" lIns="91440" tIns="45720" rIns="91440" bIns="45720" anchor="t" anchorCtr="0"/>
          <a:p>
            <a:pPr eaLnBrk="1" hangingPunct="1"/>
            <a:r>
              <a:rPr lang="zh-CN" altLang="en-US" sz="3600" b="1" dirty="0">
                <a:solidFill>
                  <a:schemeClr val="folHlink"/>
                </a:solidFill>
              </a:rPr>
              <a:t>进程控制块的内容</a:t>
            </a:r>
            <a:endParaRPr lang="zh-CN" altLang="en-US" sz="3600" b="1" dirty="0">
              <a:solidFill>
                <a:schemeClr val="folHlink"/>
              </a:solidFill>
            </a:endParaRPr>
          </a:p>
          <a:p>
            <a:pPr lvl="1" eaLnBrk="1" hangingPunct="1"/>
            <a:r>
              <a:rPr lang="zh-CN" altLang="en-US" sz="3200" b="1" dirty="0">
                <a:solidFill>
                  <a:srgbClr val="FF0000"/>
                </a:solidFill>
              </a:rPr>
              <a:t>进程标识符信息</a:t>
            </a:r>
            <a:endParaRPr lang="zh-CN" altLang="en-US" sz="3200" b="1" dirty="0">
              <a:solidFill>
                <a:srgbClr val="FF0000"/>
              </a:solidFill>
            </a:endParaRPr>
          </a:p>
          <a:p>
            <a:pPr lvl="1" eaLnBrk="1" hangingPunct="1"/>
            <a:r>
              <a:rPr lang="zh-CN" altLang="en-US" sz="3200" b="1" dirty="0">
                <a:solidFill>
                  <a:srgbClr val="FF0000"/>
                </a:solidFill>
              </a:rPr>
              <a:t>处理器状态信息</a:t>
            </a:r>
            <a:endParaRPr lang="zh-CN" altLang="en-US" sz="3200" b="1" dirty="0">
              <a:solidFill>
                <a:srgbClr val="FF0000"/>
              </a:solidFill>
            </a:endParaRPr>
          </a:p>
          <a:p>
            <a:pPr lvl="1" eaLnBrk="1" hangingPunct="1"/>
            <a:r>
              <a:rPr lang="zh-CN" altLang="en-US" sz="3200" b="1" dirty="0">
                <a:solidFill>
                  <a:srgbClr val="FF0000"/>
                </a:solidFill>
              </a:rPr>
              <a:t>进程调度信息</a:t>
            </a:r>
            <a:endParaRPr lang="zh-CN" altLang="en-US" sz="3200" b="1" dirty="0">
              <a:solidFill>
                <a:srgbClr val="FF0000"/>
              </a:solidFill>
            </a:endParaRPr>
          </a:p>
          <a:p>
            <a:pPr lvl="1" eaLnBrk="1" hangingPunct="1"/>
            <a:r>
              <a:rPr lang="zh-CN" altLang="en-US" sz="3200" b="1" dirty="0">
                <a:solidFill>
                  <a:srgbClr val="FF0000"/>
                </a:solidFill>
              </a:rPr>
              <a:t>进程控制信息</a:t>
            </a:r>
            <a:endParaRPr lang="zh-CN" altLang="en-US" sz="3200" b="1" dirty="0">
              <a:solidFill>
                <a:srgbClr val="FF0000"/>
              </a:solidFill>
            </a:endParaRPr>
          </a:p>
        </p:txBody>
      </p:sp>
      <p:sp>
        <p:nvSpPr>
          <p:cNvPr id="51203" name="Rectangle 4"/>
          <p:cNvSpPr>
            <a:spLocks noGrp="1"/>
          </p:cNvSpPr>
          <p:nvPr>
            <p:ph type="title"/>
          </p:nvPr>
        </p:nvSpPr>
        <p:spPr>
          <a:ln/>
        </p:spPr>
        <p:txBody>
          <a:bodyPr vert="horz" wrap="square" lIns="91440" tIns="45720" rIns="91440" bIns="45720" anchor="ctr" anchorCtr="0"/>
          <a:p>
            <a:pPr eaLnBrk="1" hangingPunct="1"/>
            <a:r>
              <a:rPr lang="en-US" altLang="zh-CN" b="1" dirty="0"/>
              <a:t>2.1.5 </a:t>
            </a:r>
            <a:r>
              <a:rPr lang="zh-CN" altLang="en-US" b="1" dirty="0"/>
              <a:t>进程控制块</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fade">
                                      <p:cBhvr>
                                        <p:cTn id="7" dur="2000"/>
                                        <p:tgtEl>
                                          <p:spTgt spid="512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02">
                                            <p:txEl>
                                              <p:charRg st="0" end="9"/>
                                            </p:txEl>
                                          </p:spTgt>
                                        </p:tgtEl>
                                        <p:attrNameLst>
                                          <p:attrName>style.visibility</p:attrName>
                                        </p:attrNameLst>
                                      </p:cBhvr>
                                      <p:to>
                                        <p:strVal val="visible"/>
                                      </p:to>
                                    </p:set>
                                    <p:animEffect transition="in" filter="fade">
                                      <p:cBhvr>
                                        <p:cTn id="12" dur="2000"/>
                                        <p:tgtEl>
                                          <p:spTgt spid="51202">
                                            <p:txEl>
                                              <p:charRg st="0" end="9"/>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1202">
                                            <p:txEl>
                                              <p:charRg st="9" end="17"/>
                                            </p:txEl>
                                          </p:spTgt>
                                        </p:tgtEl>
                                        <p:attrNameLst>
                                          <p:attrName>style.visibility</p:attrName>
                                        </p:attrNameLst>
                                      </p:cBhvr>
                                      <p:to>
                                        <p:strVal val="visible"/>
                                      </p:to>
                                    </p:set>
                                    <p:animEffect transition="in" filter="fade">
                                      <p:cBhvr>
                                        <p:cTn id="15" dur="2000"/>
                                        <p:tgtEl>
                                          <p:spTgt spid="51202">
                                            <p:txEl>
                                              <p:charRg st="9" end="1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1202">
                                            <p:txEl>
                                              <p:charRg st="17" end="25"/>
                                            </p:txEl>
                                          </p:spTgt>
                                        </p:tgtEl>
                                        <p:attrNameLst>
                                          <p:attrName>style.visibility</p:attrName>
                                        </p:attrNameLst>
                                      </p:cBhvr>
                                      <p:to>
                                        <p:strVal val="visible"/>
                                      </p:to>
                                    </p:set>
                                    <p:animEffect transition="in" filter="fade">
                                      <p:cBhvr>
                                        <p:cTn id="18" dur="2000"/>
                                        <p:tgtEl>
                                          <p:spTgt spid="51202">
                                            <p:txEl>
                                              <p:charRg st="17" end="2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1202">
                                            <p:txEl>
                                              <p:charRg st="25" end="32"/>
                                            </p:txEl>
                                          </p:spTgt>
                                        </p:tgtEl>
                                        <p:attrNameLst>
                                          <p:attrName>style.visibility</p:attrName>
                                        </p:attrNameLst>
                                      </p:cBhvr>
                                      <p:to>
                                        <p:strVal val="visible"/>
                                      </p:to>
                                    </p:set>
                                    <p:animEffect transition="in" filter="fade">
                                      <p:cBhvr>
                                        <p:cTn id="21" dur="2000"/>
                                        <p:tgtEl>
                                          <p:spTgt spid="51202">
                                            <p:txEl>
                                              <p:charRg st="25" end="3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202">
                                            <p:txEl>
                                              <p:charRg st="32" end="39"/>
                                            </p:txEl>
                                          </p:spTgt>
                                        </p:tgtEl>
                                        <p:attrNameLst>
                                          <p:attrName>style.visibility</p:attrName>
                                        </p:attrNameLst>
                                      </p:cBhvr>
                                      <p:to>
                                        <p:strVal val="visible"/>
                                      </p:to>
                                    </p:set>
                                    <p:animEffect transition="in" filter="fade">
                                      <p:cBhvr>
                                        <p:cTn id="24" dur="2000"/>
                                        <p:tgtEl>
                                          <p:spTgt spid="51202">
                                            <p:txEl>
                                              <p:charRg st="32" end="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uild="p"/>
      <p:bldP spid="5120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2"/>
          <p:cNvSpPr>
            <a:spLocks noGrp="1" noRot="1" noChangeArrowheads="1"/>
          </p:cNvSpPr>
          <p:nvPr>
            <p:ph type="title"/>
          </p:nvPr>
        </p:nvSpPr>
        <p:spPr>
          <a:xfrm>
            <a:off x="301625" y="228600"/>
            <a:ext cx="8540750" cy="9064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2</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．进程控制块中的信息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2227" name="Rectangle 3"/>
          <p:cNvSpPr>
            <a:spLocks noGrp="1" noRot="1"/>
          </p:cNvSpPr>
          <p:nvPr>
            <p:ph type="body"/>
          </p:nvPr>
        </p:nvSpPr>
        <p:spPr>
          <a:xfrm>
            <a:off x="304800" y="1600200"/>
            <a:ext cx="8305800" cy="4419600"/>
          </a:xfrm>
          <a:ln/>
        </p:spPr>
        <p:txBody>
          <a:bodyPr vert="horz" wrap="square" lIns="91440" tIns="45720" rIns="91440" bIns="45720" anchor="t" anchorCtr="0"/>
          <a:p>
            <a:pPr marL="193675" indent="-193675" algn="just" eaLnBrk="1" hangingPunct="1">
              <a:lnSpc>
                <a:spcPct val="90000"/>
              </a:lnSpc>
              <a:buNone/>
            </a:pPr>
            <a:r>
              <a:rPr lang="en-US" altLang="zh-CN" dirty="0">
                <a:solidFill>
                  <a:schemeClr val="folHlink"/>
                </a:solidFill>
              </a:rPr>
              <a:t> </a:t>
            </a:r>
            <a:r>
              <a:rPr lang="en-US" altLang="zh-CN" sz="4000" b="1" dirty="0">
                <a:solidFill>
                  <a:schemeClr val="folHlink"/>
                </a:solidFill>
                <a:latin typeface="楷体_GB2312" pitchFamily="49" charset="-122"/>
                <a:ea typeface="楷体_GB2312" pitchFamily="49" charset="-122"/>
              </a:rPr>
              <a:t>1</a:t>
            </a:r>
            <a:r>
              <a:rPr lang="zh-CN" altLang="en-US" sz="4000" b="1" dirty="0">
                <a:solidFill>
                  <a:schemeClr val="folHlink"/>
                </a:solidFill>
                <a:latin typeface="楷体_GB2312" pitchFamily="49" charset="-122"/>
                <a:ea typeface="楷体_GB2312" pitchFamily="49" charset="-122"/>
              </a:rPr>
              <a:t>）进程标识符</a:t>
            </a:r>
            <a:endParaRPr lang="zh-CN" altLang="en-US" sz="4000" b="1" dirty="0">
              <a:solidFill>
                <a:schemeClr val="folHlink"/>
              </a:solidFill>
              <a:latin typeface="楷体_GB2312" pitchFamily="49" charset="-122"/>
              <a:ea typeface="楷体_GB2312" pitchFamily="49" charset="-122"/>
            </a:endParaRPr>
          </a:p>
          <a:p>
            <a:pPr marL="193675" indent="-193675" algn="just" eaLnBrk="1" hangingPunct="1">
              <a:lnSpc>
                <a:spcPct val="90000"/>
              </a:lnSpc>
              <a:buNone/>
            </a:pPr>
            <a:r>
              <a:rPr lang="zh-CN" altLang="en-US" dirty="0">
                <a:latin typeface="楷体_GB2312" pitchFamily="49" charset="-122"/>
                <a:ea typeface="楷体_GB2312" pitchFamily="49" charset="-122"/>
              </a:rPr>
              <a:t> </a:t>
            </a:r>
            <a:r>
              <a:rPr lang="zh-CN" altLang="en-US" b="1" dirty="0">
                <a:latin typeface="楷体_GB2312" pitchFamily="49" charset="-122"/>
                <a:ea typeface="楷体_GB2312" pitchFamily="49" charset="-122"/>
              </a:rPr>
              <a:t>进程标识符用于惟一地标识一个进程。一个进程通常有两种标识符：</a:t>
            </a:r>
            <a:endParaRPr lang="zh-CN" altLang="en-US" b="1" dirty="0">
              <a:latin typeface="楷体_GB2312" pitchFamily="49" charset="-122"/>
              <a:ea typeface="楷体_GB2312" pitchFamily="49" charset="-122"/>
            </a:endParaRPr>
          </a:p>
          <a:p>
            <a:pPr marL="1428750" lvl="1" indent="-955675" algn="just" eaLnBrk="1" hangingPunct="1">
              <a:lnSpc>
                <a:spcPct val="90000"/>
              </a:lnSpc>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内部标识符。</a:t>
            </a:r>
            <a:r>
              <a:rPr lang="zh-CN" altLang="en-US" b="1" dirty="0">
                <a:latin typeface="楷体_GB2312" pitchFamily="49" charset="-122"/>
                <a:ea typeface="楷体_GB2312" pitchFamily="49" charset="-122"/>
              </a:rPr>
              <a:t>为每一个进程赋予一个惟一的数字标识符，通常是进程的序号</a:t>
            </a:r>
            <a:r>
              <a:rPr lang="en-US" altLang="zh-CN" b="1" dirty="0">
                <a:solidFill>
                  <a:srgbClr val="FF0000"/>
                </a:solidFill>
                <a:latin typeface="楷体_GB2312" pitchFamily="49" charset="-122"/>
                <a:ea typeface="楷体_GB2312" pitchFamily="49" charset="-122"/>
              </a:rPr>
              <a:t>(Pid)</a:t>
            </a:r>
            <a:r>
              <a:rPr lang="zh-CN" altLang="en-US" b="1" dirty="0">
                <a:latin typeface="楷体_GB2312" pitchFamily="49" charset="-122"/>
                <a:ea typeface="楷体_GB2312" pitchFamily="49" charset="-122"/>
              </a:rPr>
              <a:t>。设置内部标识符主要是为了方便操作系统使用。</a:t>
            </a:r>
            <a:endParaRPr lang="zh-CN" altLang="en-US" b="1" dirty="0">
              <a:latin typeface="楷体_GB2312" pitchFamily="49" charset="-122"/>
              <a:ea typeface="楷体_GB2312" pitchFamily="49" charset="-122"/>
            </a:endParaRPr>
          </a:p>
          <a:p>
            <a:pPr marL="1428750" lvl="1" indent="-955675" algn="just" eaLnBrk="1" hangingPunct="1">
              <a:lnSpc>
                <a:spcPct val="90000"/>
              </a:lnSpc>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外部标识符。</a:t>
            </a:r>
            <a:r>
              <a:rPr lang="zh-CN" altLang="en-US" b="1" dirty="0">
                <a:latin typeface="楷体_GB2312" pitchFamily="49" charset="-122"/>
                <a:ea typeface="楷体_GB2312" pitchFamily="49" charset="-122"/>
              </a:rPr>
              <a:t>它由创建者提供</a:t>
            </a:r>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进程的名字</a:t>
            </a:r>
            <a:r>
              <a:rPr lang="en-US" altLang="zh-CN" b="1" dirty="0">
                <a:solidFill>
                  <a:srgbClr val="FF0000"/>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，通常是由字母、数字组成，往往是由用户（进程）在访问该进程时使用。</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2994"/>
                                        </p:tgtEl>
                                        <p:attrNameLst>
                                          <p:attrName>style.visibility</p:attrName>
                                        </p:attrNameLst>
                                      </p:cBhvr>
                                      <p:to>
                                        <p:strVal val="visible"/>
                                      </p:to>
                                    </p:set>
                                    <p:animEffect transition="in" filter="fade">
                                      <p:cBhvr>
                                        <p:cTn id="7" dur="2000"/>
                                        <p:tgtEl>
                                          <p:spTgt spid="2129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227">
                                            <p:txEl>
                                              <p:charRg st="0" end="9"/>
                                            </p:txEl>
                                          </p:spTgt>
                                        </p:tgtEl>
                                        <p:attrNameLst>
                                          <p:attrName>style.visibility</p:attrName>
                                        </p:attrNameLst>
                                      </p:cBhvr>
                                      <p:to>
                                        <p:strVal val="visible"/>
                                      </p:to>
                                    </p:set>
                                    <p:animEffect transition="in" filter="fade">
                                      <p:cBhvr>
                                        <p:cTn id="12" dur="2000"/>
                                        <p:tgtEl>
                                          <p:spTgt spid="52227">
                                            <p:txEl>
                                              <p:charRg st="0"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2227">
                                            <p:txEl>
                                              <p:charRg st="9" end="41"/>
                                            </p:txEl>
                                          </p:spTgt>
                                        </p:tgtEl>
                                        <p:attrNameLst>
                                          <p:attrName>style.visibility</p:attrName>
                                        </p:attrNameLst>
                                      </p:cBhvr>
                                      <p:to>
                                        <p:strVal val="visible"/>
                                      </p:to>
                                    </p:set>
                                    <p:animEffect transition="in" filter="fade">
                                      <p:cBhvr>
                                        <p:cTn id="17" dur="2000"/>
                                        <p:tgtEl>
                                          <p:spTgt spid="52227">
                                            <p:txEl>
                                              <p:charRg st="9" end="4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2227">
                                            <p:txEl>
                                              <p:charRg st="41" end="105"/>
                                            </p:txEl>
                                          </p:spTgt>
                                        </p:tgtEl>
                                        <p:attrNameLst>
                                          <p:attrName>style.visibility</p:attrName>
                                        </p:attrNameLst>
                                      </p:cBhvr>
                                      <p:to>
                                        <p:strVal val="visible"/>
                                      </p:to>
                                    </p:set>
                                    <p:animEffect transition="in" filter="fade">
                                      <p:cBhvr>
                                        <p:cTn id="20" dur="2000"/>
                                        <p:tgtEl>
                                          <p:spTgt spid="52227">
                                            <p:txEl>
                                              <p:charRg st="41" end="10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2227">
                                            <p:txEl>
                                              <p:charRg st="105" end="162"/>
                                            </p:txEl>
                                          </p:spTgt>
                                        </p:tgtEl>
                                        <p:attrNameLst>
                                          <p:attrName>style.visibility</p:attrName>
                                        </p:attrNameLst>
                                      </p:cBhvr>
                                      <p:to>
                                        <p:strVal val="visible"/>
                                      </p:to>
                                    </p:set>
                                    <p:animEffect transition="in" filter="fade">
                                      <p:cBhvr>
                                        <p:cTn id="23" dur="2000"/>
                                        <p:tgtEl>
                                          <p:spTgt spid="52227">
                                            <p:txEl>
                                              <p:charRg st="105" end="1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p:bldP spid="5222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2"/>
          <p:cNvSpPr>
            <a:spLocks noGrp="1" noRot="1" noChangeArrowheads="1"/>
          </p:cNvSpPr>
          <p:nvPr>
            <p:ph type="title"/>
          </p:nvPr>
        </p:nvSpPr>
        <p:spPr>
          <a:xfrm>
            <a:off x="309563" y="482600"/>
            <a:ext cx="7424738" cy="69215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2</a:t>
            </a: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）处理机状态</a:t>
            </a:r>
            <a:endPar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53251" name="Rectangle 3"/>
          <p:cNvSpPr>
            <a:spLocks noGrp="1" noRot="1"/>
          </p:cNvSpPr>
          <p:nvPr>
            <p:ph type="body"/>
          </p:nvPr>
        </p:nvSpPr>
        <p:spPr>
          <a:xfrm>
            <a:off x="381000" y="1600200"/>
            <a:ext cx="8305800" cy="4306888"/>
          </a:xfrm>
          <a:ln/>
        </p:spPr>
        <p:txBody>
          <a:bodyPr vert="horz" wrap="square" lIns="91440" tIns="45720" rIns="91440" bIns="45720" anchor="t" anchorCtr="0"/>
          <a:p>
            <a:pPr algn="just" eaLnBrk="1" hangingPunct="1">
              <a:lnSpc>
                <a:spcPct val="90000"/>
              </a:lnSpc>
            </a:pPr>
            <a:r>
              <a:rPr lang="zh-CN" altLang="en-US" b="1" dirty="0">
                <a:latin typeface="楷体_GB2312" pitchFamily="49" charset="-122"/>
                <a:ea typeface="楷体_GB2312" pitchFamily="49" charset="-122"/>
              </a:rPr>
              <a:t>处理机状态信息主要是由处理机的各种寄存器中的内容组成的。</a:t>
            </a:r>
            <a:endParaRPr lang="zh-CN" altLang="en-US" b="1" dirty="0">
              <a:latin typeface="楷体_GB2312" pitchFamily="49" charset="-122"/>
              <a:ea typeface="楷体_GB2312" pitchFamily="49" charset="-122"/>
            </a:endParaRP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通用寄存器，</a:t>
            </a:r>
            <a:r>
              <a:rPr lang="zh-CN" altLang="en-US" b="1" dirty="0">
                <a:latin typeface="楷体_GB2312" pitchFamily="49" charset="-122"/>
                <a:ea typeface="楷体_GB2312" pitchFamily="49" charset="-122"/>
              </a:rPr>
              <a:t>又称为用户可视寄存器。</a:t>
            </a:r>
            <a:endParaRPr lang="zh-CN" altLang="en-US" b="1" dirty="0">
              <a:latin typeface="楷体_GB2312" pitchFamily="49" charset="-122"/>
              <a:ea typeface="楷体_GB2312" pitchFamily="49" charset="-122"/>
            </a:endParaRP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指令计数器（</a:t>
            </a:r>
            <a:r>
              <a:rPr lang="en-US" altLang="zh-CN" b="1" dirty="0">
                <a:solidFill>
                  <a:srgbClr val="FF0000"/>
                </a:solidFill>
                <a:latin typeface="楷体_GB2312" pitchFamily="49" charset="-122"/>
                <a:ea typeface="楷体_GB2312" pitchFamily="49" charset="-122"/>
              </a:rPr>
              <a:t>PC</a:t>
            </a:r>
            <a:r>
              <a:rPr lang="zh-CN" altLang="en-US" b="1" dirty="0">
                <a:solidFill>
                  <a:srgbClr val="FF0000"/>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，其中存放了要访问的下一条指令的地址。</a:t>
            </a:r>
            <a:endParaRPr lang="zh-CN" altLang="en-US" b="1" dirty="0">
              <a:latin typeface="楷体_GB2312" pitchFamily="49" charset="-122"/>
              <a:ea typeface="楷体_GB2312" pitchFamily="49" charset="-122"/>
            </a:endParaRP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程序状态字</a:t>
            </a:r>
            <a:r>
              <a:rPr lang="en-US" altLang="zh-CN" b="1" dirty="0">
                <a:solidFill>
                  <a:srgbClr val="FF0000"/>
                </a:solidFill>
                <a:latin typeface="楷体_GB2312" pitchFamily="49" charset="-122"/>
                <a:ea typeface="楷体_GB2312" pitchFamily="49" charset="-122"/>
              </a:rPr>
              <a:t>PSW</a:t>
            </a:r>
            <a:r>
              <a:rPr lang="zh-CN" altLang="en-US" b="1" dirty="0">
                <a:latin typeface="楷体_GB2312" pitchFamily="49" charset="-122"/>
                <a:ea typeface="楷体_GB2312" pitchFamily="49" charset="-122"/>
              </a:rPr>
              <a:t>，其中含有状态信息，如条件码、执行方式、中断屏蔽标志等</a:t>
            </a:r>
            <a:endParaRPr lang="zh-CN" altLang="en-US" b="1" dirty="0">
              <a:latin typeface="楷体_GB2312" pitchFamily="49" charset="-122"/>
              <a:ea typeface="楷体_GB2312" pitchFamily="49" charset="-122"/>
            </a:endParaRP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用户栈指针</a:t>
            </a:r>
            <a:r>
              <a:rPr lang="en-US" altLang="zh-CN" b="1" dirty="0">
                <a:solidFill>
                  <a:srgbClr val="FF0000"/>
                </a:solidFill>
                <a:latin typeface="楷体_GB2312" pitchFamily="49" charset="-122"/>
                <a:ea typeface="楷体_GB2312" pitchFamily="49" charset="-122"/>
              </a:rPr>
              <a:t>(SP)</a:t>
            </a:r>
            <a:r>
              <a:rPr lang="zh-CN" altLang="en-US" b="1" dirty="0">
                <a:latin typeface="楷体_GB2312" pitchFamily="49" charset="-122"/>
                <a:ea typeface="楷体_GB2312" pitchFamily="49" charset="-122"/>
              </a:rPr>
              <a:t>，用于存放系统调用参数及调用地址。栈指针指向该栈的栈顶。</a:t>
            </a:r>
            <a:endParaRPr lang="zh-CN" altLang="en-US" dirty="0">
              <a:latin typeface="楷体_GB2312" pitchFamily="49" charset="-122"/>
              <a:ea typeface="楷体_GB2312" pitchFamily="49" charset="-122"/>
            </a:endParaRPr>
          </a:p>
        </p:txBody>
      </p:sp>
      <p:sp>
        <p:nvSpPr>
          <p:cNvPr id="214020" name="Text Box 4"/>
          <p:cNvSpPr txBox="1"/>
          <p:nvPr/>
        </p:nvSpPr>
        <p:spPr>
          <a:xfrm>
            <a:off x="304800" y="5867400"/>
            <a:ext cx="8458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0000"/>
                </a:solidFill>
              </a:rPr>
              <a:t>这些都是中断和进程切换时需要保护的内容！</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4018"/>
                                        </p:tgtEl>
                                        <p:attrNameLst>
                                          <p:attrName>style.visibility</p:attrName>
                                        </p:attrNameLst>
                                      </p:cBhvr>
                                      <p:to>
                                        <p:strVal val="visible"/>
                                      </p:to>
                                    </p:set>
                                    <p:animEffect transition="in" filter="fade">
                                      <p:cBhvr>
                                        <p:cTn id="7" dur="2000"/>
                                        <p:tgtEl>
                                          <p:spTgt spid="2140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251">
                                            <p:txEl>
                                              <p:charRg st="0" end="29"/>
                                            </p:txEl>
                                          </p:spTgt>
                                        </p:tgtEl>
                                        <p:attrNameLst>
                                          <p:attrName>style.visibility</p:attrName>
                                        </p:attrNameLst>
                                      </p:cBhvr>
                                      <p:to>
                                        <p:strVal val="visible"/>
                                      </p:to>
                                    </p:set>
                                    <p:animEffect transition="in" filter="fade">
                                      <p:cBhvr>
                                        <p:cTn id="12" dur="2000"/>
                                        <p:tgtEl>
                                          <p:spTgt spid="53251">
                                            <p:txEl>
                                              <p:charRg st="0" end="29"/>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3251">
                                            <p:txEl>
                                              <p:charRg st="29" end="47"/>
                                            </p:txEl>
                                          </p:spTgt>
                                        </p:tgtEl>
                                        <p:attrNameLst>
                                          <p:attrName>style.visibility</p:attrName>
                                        </p:attrNameLst>
                                      </p:cBhvr>
                                      <p:to>
                                        <p:strVal val="visible"/>
                                      </p:to>
                                    </p:set>
                                    <p:animEffect transition="in" filter="fade">
                                      <p:cBhvr>
                                        <p:cTn id="15" dur="2000"/>
                                        <p:tgtEl>
                                          <p:spTgt spid="53251">
                                            <p:txEl>
                                              <p:charRg st="29" end="4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3251">
                                            <p:txEl>
                                              <p:charRg st="47" end="76"/>
                                            </p:txEl>
                                          </p:spTgt>
                                        </p:tgtEl>
                                        <p:attrNameLst>
                                          <p:attrName>style.visibility</p:attrName>
                                        </p:attrNameLst>
                                      </p:cBhvr>
                                      <p:to>
                                        <p:strVal val="visible"/>
                                      </p:to>
                                    </p:set>
                                    <p:animEffect transition="in" filter="fade">
                                      <p:cBhvr>
                                        <p:cTn id="18" dur="2000"/>
                                        <p:tgtEl>
                                          <p:spTgt spid="53251">
                                            <p:txEl>
                                              <p:charRg st="47" end="76"/>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3251">
                                            <p:txEl>
                                              <p:charRg st="76" end="112"/>
                                            </p:txEl>
                                          </p:spTgt>
                                        </p:tgtEl>
                                        <p:attrNameLst>
                                          <p:attrName>style.visibility</p:attrName>
                                        </p:attrNameLst>
                                      </p:cBhvr>
                                      <p:to>
                                        <p:strVal val="visible"/>
                                      </p:to>
                                    </p:set>
                                    <p:animEffect transition="in" filter="fade">
                                      <p:cBhvr>
                                        <p:cTn id="21" dur="2000"/>
                                        <p:tgtEl>
                                          <p:spTgt spid="53251">
                                            <p:txEl>
                                              <p:charRg st="76" end="11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3251">
                                            <p:txEl>
                                              <p:charRg st="112" end="150"/>
                                            </p:txEl>
                                          </p:spTgt>
                                        </p:tgtEl>
                                        <p:attrNameLst>
                                          <p:attrName>style.visibility</p:attrName>
                                        </p:attrNameLst>
                                      </p:cBhvr>
                                      <p:to>
                                        <p:strVal val="visible"/>
                                      </p:to>
                                    </p:set>
                                    <p:animEffect transition="in" filter="fade">
                                      <p:cBhvr>
                                        <p:cTn id="24" dur="2000"/>
                                        <p:tgtEl>
                                          <p:spTgt spid="53251">
                                            <p:txEl>
                                              <p:charRg st="112" end="15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14020"/>
                                        </p:tgtEl>
                                        <p:attrNameLst>
                                          <p:attrName>style.visibility</p:attrName>
                                        </p:attrNameLst>
                                      </p:cBhvr>
                                      <p:to>
                                        <p:strVal val="visible"/>
                                      </p:to>
                                    </p:set>
                                    <p:anim calcmode="lin" valueType="num">
                                      <p:cBhvr additive="base">
                                        <p:cTn id="29" dur="500" fill="hold"/>
                                        <p:tgtEl>
                                          <p:spTgt spid="214020"/>
                                        </p:tgtEl>
                                        <p:attrNameLst>
                                          <p:attrName>ppt_x</p:attrName>
                                        </p:attrNameLst>
                                      </p:cBhvr>
                                      <p:tavLst>
                                        <p:tav tm="0">
                                          <p:val>
                                            <p:strVal val="#ppt_x"/>
                                          </p:val>
                                        </p:tav>
                                        <p:tav tm="100000">
                                          <p:val>
                                            <p:strVal val="#ppt_x"/>
                                          </p:val>
                                        </p:tav>
                                      </p:tavLst>
                                    </p:anim>
                                    <p:anim calcmode="lin" valueType="num">
                                      <p:cBhvr additive="base">
                                        <p:cTn id="30" dur="500" fill="hold"/>
                                        <p:tgtEl>
                                          <p:spTgt spid="2140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p:bldP spid="53251" grpId="0" build="p"/>
      <p:bldP spid="2140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Rot="1" noChangeArrowheads="1"/>
          </p:cNvSpPr>
          <p:nvPr>
            <p:ph type="title"/>
          </p:nvPr>
        </p:nvSpPr>
        <p:spPr>
          <a:xfrm>
            <a:off x="381000" y="533400"/>
            <a:ext cx="8229600" cy="99695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rPr>
              <a:t>）进程调度信息</a:t>
            </a:r>
            <a:endParaRPr kumimoji="0" lang="zh-CN" altLang="en-US"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54275" name="Rectangle 3"/>
          <p:cNvSpPr>
            <a:spLocks noGrp="1" noRot="1"/>
          </p:cNvSpPr>
          <p:nvPr>
            <p:ph type="body"/>
          </p:nvPr>
        </p:nvSpPr>
        <p:spPr>
          <a:xfrm>
            <a:off x="301625" y="1603375"/>
            <a:ext cx="8459788" cy="4495800"/>
          </a:xfrm>
          <a:ln/>
        </p:spPr>
        <p:txBody>
          <a:bodyPr vert="horz" wrap="square" lIns="91440" tIns="45720" rIns="91440" bIns="45720" anchor="t" anchorCtr="0"/>
          <a:p>
            <a:pPr eaLnBrk="1" hangingPunct="1"/>
            <a:r>
              <a:rPr lang="zh-CN" altLang="en-US" b="1" dirty="0">
                <a:latin typeface="仿宋_GB2312" pitchFamily="49" charset="-122"/>
                <a:ea typeface="仿宋_GB2312" pitchFamily="49" charset="-122"/>
              </a:rPr>
              <a:t>在</a:t>
            </a:r>
            <a:r>
              <a:rPr lang="en-US" altLang="zh-CN" b="1" dirty="0">
                <a:latin typeface="仿宋_GB2312" pitchFamily="49" charset="-122"/>
                <a:ea typeface="仿宋_GB2312" pitchFamily="49" charset="-122"/>
              </a:rPr>
              <a:t>PCB</a:t>
            </a:r>
            <a:r>
              <a:rPr lang="zh-CN" altLang="en-US" b="1" dirty="0">
                <a:latin typeface="仿宋_GB2312" pitchFamily="49" charset="-122"/>
                <a:ea typeface="仿宋_GB2312" pitchFamily="49" charset="-122"/>
              </a:rPr>
              <a:t>中还存放一些与进程调度和进程切换有关的信息。</a:t>
            </a:r>
            <a:endParaRPr lang="zh-CN" altLang="en-US" b="1" dirty="0">
              <a:latin typeface="仿宋_GB2312" pitchFamily="49" charset="-122"/>
              <a:ea typeface="仿宋_GB2312" pitchFamily="49" charset="-122"/>
            </a:endParaRPr>
          </a:p>
          <a:p>
            <a:pPr lvl="1" eaLnBrk="1" hangingPunct="1">
              <a:buClrTx/>
              <a:buFontTx/>
              <a:buNone/>
            </a:pPr>
            <a:r>
              <a:rPr lang="zh-CN" altLang="en-US" b="1" dirty="0">
                <a:solidFill>
                  <a:srgbClr val="FF0000"/>
                </a:solidFill>
                <a:latin typeface="楷体_GB2312" pitchFamily="49" charset="-122"/>
                <a:ea typeface="楷体_GB2312" pitchFamily="49" charset="-122"/>
              </a:rPr>
              <a:t>①进程状态。指明进程的当前状态。</a:t>
            </a:r>
            <a:endParaRPr lang="zh-CN" altLang="en-US" b="1" dirty="0">
              <a:solidFill>
                <a:srgbClr val="FF0000"/>
              </a:solidFill>
              <a:latin typeface="楷体_GB2312" pitchFamily="49" charset="-122"/>
              <a:ea typeface="楷体_GB2312" pitchFamily="49" charset="-122"/>
            </a:endParaRPr>
          </a:p>
          <a:p>
            <a:pPr lvl="1" eaLnBrk="1" hangingPunct="1">
              <a:buClrTx/>
              <a:buFontTx/>
              <a:buNone/>
            </a:pPr>
            <a:r>
              <a:rPr lang="zh-CN" altLang="en-US" b="1" dirty="0">
                <a:latin typeface="楷体_GB2312" pitchFamily="49" charset="-122"/>
                <a:ea typeface="楷体_GB2312" pitchFamily="49" charset="-122"/>
              </a:rPr>
              <a:t>在</a:t>
            </a:r>
            <a:r>
              <a:rPr lang="en-US" altLang="zh-CN" b="1" dirty="0">
                <a:latin typeface="楷体_GB2312" pitchFamily="49" charset="-122"/>
                <a:ea typeface="楷体_GB2312" pitchFamily="49" charset="-122"/>
              </a:rPr>
              <a:t>Linux</a:t>
            </a:r>
            <a:r>
              <a:rPr lang="zh-CN" altLang="en-US" b="1" dirty="0">
                <a:latin typeface="楷体_GB2312" pitchFamily="49" charset="-122"/>
                <a:ea typeface="楷体_GB2312" pitchFamily="49" charset="-122"/>
              </a:rPr>
              <a:t>操作系统中在</a:t>
            </a:r>
            <a:r>
              <a:rPr lang="en-US" altLang="zh-CN" b="1" dirty="0">
                <a:latin typeface="楷体_GB2312" pitchFamily="49" charset="-122"/>
                <a:ea typeface="楷体_GB2312" pitchFamily="49" charset="-122"/>
              </a:rPr>
              <a:t>sched.h</a:t>
            </a:r>
            <a:r>
              <a:rPr lang="zh-CN" altLang="en-US" b="1" dirty="0">
                <a:latin typeface="楷体_GB2312" pitchFamily="49" charset="-122"/>
                <a:ea typeface="楷体_GB2312" pitchFamily="49" charset="-122"/>
              </a:rPr>
              <a:t>中定义了进程的</a:t>
            </a:r>
            <a:r>
              <a:rPr lang="en-US" altLang="zh-CN" b="1" dirty="0">
                <a:latin typeface="楷体_GB2312" pitchFamily="49" charset="-122"/>
                <a:ea typeface="楷体_GB2312" pitchFamily="49" charset="-122"/>
              </a:rPr>
              <a:t>6</a:t>
            </a:r>
            <a:r>
              <a:rPr lang="zh-CN" altLang="en-US" b="1" dirty="0">
                <a:latin typeface="楷体_GB2312" pitchFamily="49" charset="-122"/>
                <a:ea typeface="楷体_GB2312" pitchFamily="49" charset="-122"/>
              </a:rPr>
              <a:t>个状态：</a:t>
            </a:r>
            <a:endParaRPr lang="en-US" altLang="zh-CN" b="1" dirty="0">
              <a:latin typeface="楷体_GB2312" pitchFamily="49" charset="-122"/>
              <a:ea typeface="楷体_GB2312" pitchFamily="49" charset="-122"/>
            </a:endParaRPr>
          </a:p>
          <a:p>
            <a:pPr lvl="1" eaLnBrk="1" hangingPunct="1">
              <a:buClrTx/>
              <a:buFontTx/>
              <a:buNone/>
            </a:pPr>
            <a:r>
              <a:rPr lang="en-US" altLang="zh-CN" sz="2400" b="1" dirty="0"/>
              <a:t>	</a:t>
            </a:r>
            <a:r>
              <a:rPr lang="zh-CN" altLang="en-US" sz="2400" b="1" dirty="0">
                <a:solidFill>
                  <a:srgbClr val="0066FF"/>
                </a:solidFill>
              </a:rPr>
              <a:t>可运行状态</a:t>
            </a:r>
            <a:r>
              <a:rPr lang="en-US" altLang="zh-CN" sz="2400" b="1" dirty="0">
                <a:solidFill>
                  <a:srgbClr val="0066FF"/>
                </a:solidFill>
              </a:rPr>
              <a:t>(TASK-RUNING);</a:t>
            </a:r>
            <a:br>
              <a:rPr lang="en-US" altLang="zh-CN" sz="2400" b="1" dirty="0">
                <a:solidFill>
                  <a:srgbClr val="0066FF"/>
                </a:solidFill>
              </a:rPr>
            </a:br>
            <a:r>
              <a:rPr lang="zh-CN" altLang="en-US" sz="2400" b="1" dirty="0">
                <a:solidFill>
                  <a:srgbClr val="0066FF"/>
                </a:solidFill>
              </a:rPr>
              <a:t>可中断阻塞状态</a:t>
            </a:r>
            <a:r>
              <a:rPr lang="en-US" altLang="zh-CN" sz="2400" b="1" dirty="0">
                <a:solidFill>
                  <a:srgbClr val="0066FF"/>
                </a:solidFill>
              </a:rPr>
              <a:t>(TASK-UBERRUPTIBLE)</a:t>
            </a:r>
            <a:br>
              <a:rPr lang="en-US" altLang="zh-CN" sz="2400" b="1" dirty="0">
                <a:solidFill>
                  <a:srgbClr val="0066FF"/>
                </a:solidFill>
              </a:rPr>
            </a:br>
            <a:r>
              <a:rPr lang="zh-CN" altLang="en-US" sz="2400" b="1" dirty="0">
                <a:solidFill>
                  <a:srgbClr val="0066FF"/>
                </a:solidFill>
              </a:rPr>
              <a:t>不可中断阻塞状态</a:t>
            </a:r>
            <a:r>
              <a:rPr lang="en-US" altLang="zh-CN" sz="2400" b="1" dirty="0">
                <a:solidFill>
                  <a:srgbClr val="0066FF"/>
                </a:solidFill>
              </a:rPr>
              <a:t>(TASK-UNINTERRUPTIBLE)</a:t>
            </a:r>
            <a:br>
              <a:rPr lang="en-US" altLang="zh-CN" sz="2400" b="1" dirty="0">
                <a:solidFill>
                  <a:srgbClr val="0066FF"/>
                </a:solidFill>
              </a:rPr>
            </a:br>
            <a:r>
              <a:rPr lang="zh-CN" altLang="en-US" sz="2400" b="1" dirty="0">
                <a:solidFill>
                  <a:srgbClr val="0066FF"/>
                </a:solidFill>
              </a:rPr>
              <a:t>僵死状态</a:t>
            </a:r>
            <a:r>
              <a:rPr lang="en-US" altLang="zh-CN" sz="2400" b="1" dirty="0">
                <a:solidFill>
                  <a:srgbClr val="0066FF"/>
                </a:solidFill>
              </a:rPr>
              <a:t>(TASK-ZOMBLE)</a:t>
            </a:r>
            <a:br>
              <a:rPr lang="en-US" altLang="zh-CN" sz="2400" b="1" dirty="0">
                <a:solidFill>
                  <a:srgbClr val="0066FF"/>
                </a:solidFill>
              </a:rPr>
            </a:br>
            <a:r>
              <a:rPr lang="zh-CN" altLang="en-US" sz="2400" b="1" dirty="0">
                <a:solidFill>
                  <a:srgbClr val="0066FF"/>
                </a:solidFill>
              </a:rPr>
              <a:t>暂停态</a:t>
            </a:r>
            <a:r>
              <a:rPr lang="en-US" altLang="zh-CN" sz="2400" b="1" dirty="0">
                <a:solidFill>
                  <a:srgbClr val="0066FF"/>
                </a:solidFill>
              </a:rPr>
              <a:t>(TASK_STOPPED)</a:t>
            </a:r>
            <a:br>
              <a:rPr lang="en-US" altLang="zh-CN" sz="2400" b="1" dirty="0">
                <a:solidFill>
                  <a:srgbClr val="0066FF"/>
                </a:solidFill>
              </a:rPr>
            </a:br>
            <a:r>
              <a:rPr lang="zh-CN" altLang="en-US" sz="2400" b="1" dirty="0">
                <a:solidFill>
                  <a:srgbClr val="0066FF"/>
                </a:solidFill>
              </a:rPr>
              <a:t>交换态</a:t>
            </a:r>
            <a:r>
              <a:rPr lang="en-US" altLang="zh-CN" sz="2400" b="1" dirty="0">
                <a:solidFill>
                  <a:srgbClr val="0066FF"/>
                </a:solidFill>
              </a:rPr>
              <a:t>(TASK_SWAPPING)</a:t>
            </a:r>
            <a:br>
              <a:rPr lang="en-US" altLang="zh-CN" dirty="0">
                <a:solidFill>
                  <a:srgbClr val="0066FF"/>
                </a:solidFill>
              </a:rPr>
            </a:br>
            <a:endParaRPr lang="zh-CN" altLang="en-US" b="1" dirty="0">
              <a:solidFill>
                <a:srgbClr val="0066FF"/>
              </a:solidFill>
              <a:latin typeface="楷体_GB2312" pitchFamily="49" charset="-122"/>
              <a:ea typeface="楷体_GB2312" pitchFamily="49" charset="-122"/>
            </a:endParaRPr>
          </a:p>
          <a:p>
            <a:pPr lvl="1" eaLnBrk="1" hangingPunct="1">
              <a:buClrTx/>
              <a:buFontTx/>
              <a:buNone/>
            </a:pPr>
            <a:endParaRPr lang="en-US" altLang="zh-CN"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5042"/>
                                        </p:tgtEl>
                                        <p:attrNameLst>
                                          <p:attrName>style.visibility</p:attrName>
                                        </p:attrNameLst>
                                      </p:cBhvr>
                                      <p:to>
                                        <p:strVal val="visible"/>
                                      </p:to>
                                    </p:set>
                                    <p:animEffect transition="in" filter="fade">
                                      <p:cBhvr>
                                        <p:cTn id="7" dur="2000"/>
                                        <p:tgtEl>
                                          <p:spTgt spid="2150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275">
                                            <p:txEl>
                                              <p:charRg st="0" end="27"/>
                                            </p:txEl>
                                          </p:spTgt>
                                        </p:tgtEl>
                                        <p:attrNameLst>
                                          <p:attrName>style.visibility</p:attrName>
                                        </p:attrNameLst>
                                      </p:cBhvr>
                                      <p:to>
                                        <p:strVal val="visible"/>
                                      </p:to>
                                    </p:set>
                                    <p:animEffect transition="in" filter="fade">
                                      <p:cBhvr>
                                        <p:cTn id="12" dur="2000"/>
                                        <p:tgtEl>
                                          <p:spTgt spid="54275">
                                            <p:txEl>
                                              <p:charRg st="0" end="27"/>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4275">
                                            <p:txEl>
                                              <p:charRg st="27" end="44"/>
                                            </p:txEl>
                                          </p:spTgt>
                                        </p:tgtEl>
                                        <p:attrNameLst>
                                          <p:attrName>style.visibility</p:attrName>
                                        </p:attrNameLst>
                                      </p:cBhvr>
                                      <p:to>
                                        <p:strVal val="visible"/>
                                      </p:to>
                                    </p:set>
                                    <p:animEffect transition="in" filter="fade">
                                      <p:cBhvr>
                                        <p:cTn id="15" dur="2000"/>
                                        <p:tgtEl>
                                          <p:spTgt spid="54275">
                                            <p:txEl>
                                              <p:charRg st="27" end="4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4275">
                                            <p:txEl>
                                              <p:charRg st="44" end="76"/>
                                            </p:txEl>
                                          </p:spTgt>
                                        </p:tgtEl>
                                        <p:attrNameLst>
                                          <p:attrName>style.visibility</p:attrName>
                                        </p:attrNameLst>
                                      </p:cBhvr>
                                      <p:to>
                                        <p:strVal val="visible"/>
                                      </p:to>
                                    </p:set>
                                    <p:animEffect transition="in" filter="fade">
                                      <p:cBhvr>
                                        <p:cTn id="18" dur="2000"/>
                                        <p:tgtEl>
                                          <p:spTgt spid="54275">
                                            <p:txEl>
                                              <p:charRg st="44" end="76"/>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4275">
                                            <p:txEl>
                                              <p:charRg st="76" end="211"/>
                                            </p:txEl>
                                          </p:spTgt>
                                        </p:tgtEl>
                                        <p:attrNameLst>
                                          <p:attrName>style.visibility</p:attrName>
                                        </p:attrNameLst>
                                      </p:cBhvr>
                                      <p:to>
                                        <p:strVal val="visible"/>
                                      </p:to>
                                    </p:set>
                                    <p:animEffect transition="in" filter="fade">
                                      <p:cBhvr>
                                        <p:cTn id="21" dur="2000"/>
                                        <p:tgtEl>
                                          <p:spTgt spid="54275">
                                            <p:txEl>
                                              <p:charRg st="76" end="2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p:bldP spid="5427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134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5299" name="Rectangle 3"/>
          <p:cNvSpPr>
            <a:spLocks noGrp="1" noRot="1"/>
          </p:cNvSpPr>
          <p:nvPr>
            <p:ph type="body"/>
          </p:nvPr>
        </p:nvSpPr>
        <p:spPr>
          <a:ln/>
        </p:spPr>
        <p:txBody>
          <a:bodyPr vert="horz" wrap="square" lIns="91440" tIns="45720" rIns="91440" bIns="45720" anchor="t" anchorCtr="0"/>
          <a:p>
            <a:pPr lvl="1" eaLnBrk="1" hangingPunct="1">
              <a:buClrTx/>
              <a:buFontTx/>
              <a:buNone/>
            </a:pPr>
            <a:r>
              <a:rPr lang="en-US" altLang="zh-CN" sz="3200" b="1" dirty="0">
                <a:solidFill>
                  <a:srgbClr val="FF0000"/>
                </a:solidFill>
                <a:latin typeface="楷体_GB2312" pitchFamily="49" charset="-122"/>
                <a:ea typeface="楷体_GB2312" pitchFamily="49" charset="-122"/>
              </a:rPr>
              <a:t>②</a:t>
            </a:r>
            <a:r>
              <a:rPr lang="zh-CN" altLang="en-US" sz="3200" b="1" dirty="0">
                <a:solidFill>
                  <a:srgbClr val="FF0000"/>
                </a:solidFill>
                <a:latin typeface="楷体_GB2312" pitchFamily="49" charset="-122"/>
                <a:ea typeface="楷体_GB2312" pitchFamily="49" charset="-122"/>
              </a:rPr>
              <a:t>进程优先级。</a:t>
            </a:r>
            <a:endParaRPr lang="zh-CN" altLang="en-US" sz="3200" b="1" dirty="0">
              <a:solidFill>
                <a:srgbClr val="FF0000"/>
              </a:solidFill>
              <a:latin typeface="楷体_GB2312" pitchFamily="49" charset="-122"/>
              <a:ea typeface="楷体_GB2312" pitchFamily="49" charset="-122"/>
            </a:endParaRPr>
          </a:p>
          <a:p>
            <a:pPr lvl="1" eaLnBrk="1" hangingPunct="1">
              <a:buClrTx/>
              <a:buFontTx/>
              <a:buNone/>
            </a:pPr>
            <a:r>
              <a:rPr lang="zh-CN" altLang="en-US" sz="3200" b="1" dirty="0">
                <a:solidFill>
                  <a:srgbClr val="FF0000"/>
                </a:solidFill>
                <a:latin typeface="楷体_GB2312" pitchFamily="49" charset="-122"/>
                <a:ea typeface="楷体_GB2312" pitchFamily="49" charset="-122"/>
              </a:rPr>
              <a:t>③进程调度所需的其它信息。</a:t>
            </a:r>
            <a:r>
              <a:rPr lang="zh-CN" altLang="en-US" sz="3200" b="1" dirty="0">
                <a:latin typeface="楷体_GB2312" pitchFamily="49" charset="-122"/>
                <a:ea typeface="楷体_GB2312" pitchFamily="49" charset="-122"/>
              </a:rPr>
              <a:t>如：进程已等待</a:t>
            </a:r>
            <a:r>
              <a:rPr lang="en-US" altLang="zh-CN" sz="3200" b="1" dirty="0">
                <a:latin typeface="楷体_GB2312" pitchFamily="49" charset="-122"/>
                <a:ea typeface="楷体_GB2312" pitchFamily="49" charset="-122"/>
              </a:rPr>
              <a:t>CPU</a:t>
            </a:r>
            <a:r>
              <a:rPr lang="zh-CN" altLang="en-US" sz="3200" b="1" dirty="0">
                <a:latin typeface="楷体_GB2312" pitchFamily="49" charset="-122"/>
                <a:ea typeface="楷体_GB2312" pitchFamily="49" charset="-122"/>
              </a:rPr>
              <a:t>的时间总和、进程已执行的时间总和等；</a:t>
            </a:r>
            <a:endParaRPr lang="zh-CN" altLang="en-US" sz="3200" b="1" dirty="0">
              <a:latin typeface="楷体_GB2312" pitchFamily="49" charset="-122"/>
              <a:ea typeface="楷体_GB2312" pitchFamily="49" charset="-122"/>
            </a:endParaRPr>
          </a:p>
          <a:p>
            <a:pPr lvl="1" eaLnBrk="1" hangingPunct="1">
              <a:buClrTx/>
              <a:buFontTx/>
              <a:buNone/>
            </a:pPr>
            <a:r>
              <a:rPr lang="zh-CN" altLang="en-US" sz="3200" b="1" dirty="0">
                <a:solidFill>
                  <a:srgbClr val="FF0000"/>
                </a:solidFill>
                <a:latin typeface="楷体_GB2312" pitchFamily="49" charset="-122"/>
                <a:ea typeface="楷体_GB2312" pitchFamily="49" charset="-122"/>
              </a:rPr>
              <a:t>④事件。</a:t>
            </a:r>
            <a:r>
              <a:rPr lang="zh-CN" altLang="en-US" sz="3200" b="1" dirty="0">
                <a:latin typeface="楷体_GB2312" pitchFamily="49" charset="-122"/>
                <a:ea typeface="楷体_GB2312" pitchFamily="49" charset="-122"/>
              </a:rPr>
              <a:t>是指进程由执行状态转变为阻塞状态所等待发生的事件，即</a:t>
            </a:r>
            <a:r>
              <a:rPr lang="zh-CN" altLang="en-US" sz="3200" b="1" dirty="0">
                <a:solidFill>
                  <a:srgbClr val="FF0000"/>
                </a:solidFill>
                <a:latin typeface="楷体_GB2312" pitchFamily="49" charset="-122"/>
                <a:ea typeface="楷体_GB2312" pitchFamily="49" charset="-122"/>
              </a:rPr>
              <a:t>阻塞原因</a:t>
            </a:r>
            <a:r>
              <a:rPr lang="zh-CN" altLang="en-US" sz="3200" b="1" dirty="0">
                <a:latin typeface="楷体_GB2312" pitchFamily="49" charset="-122"/>
                <a:ea typeface="楷体_GB2312" pitchFamily="49" charset="-122"/>
              </a:rPr>
              <a:t>。</a:t>
            </a:r>
            <a:endParaRPr lang="zh-CN" altLang="en-US" sz="3200" dirty="0">
              <a:latin typeface="楷体_GB2312" pitchFamily="49" charset="-122"/>
              <a:ea typeface="楷体_GB2312" pitchFamily="49" charset="-122"/>
            </a:endParaRPr>
          </a:p>
          <a:p>
            <a:pPr eaLnBrk="1" hangingPunct="1">
              <a:buFont typeface="Wingdings 2" panose="05020102010507070707" pitchFamily="18" charset="2"/>
              <a:buChar char="¡"/>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41346"/>
                                        </p:tgtEl>
                                        <p:attrNameLst>
                                          <p:attrName>style.visibility</p:attrName>
                                        </p:attrNameLst>
                                      </p:cBhvr>
                                      <p:to>
                                        <p:strVal val="visible"/>
                                      </p:to>
                                    </p:set>
                                    <p:animEffect transition="in" filter="fade">
                                      <p:cBhvr>
                                        <p:cTn id="7" dur="2000"/>
                                        <p:tgtEl>
                                          <p:spTgt spid="4413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299">
                                            <p:txEl>
                                              <p:charRg st="0" end="8"/>
                                            </p:txEl>
                                          </p:spTgt>
                                        </p:tgtEl>
                                        <p:attrNameLst>
                                          <p:attrName>style.visibility</p:attrName>
                                        </p:attrNameLst>
                                      </p:cBhvr>
                                      <p:to>
                                        <p:strVal val="visible"/>
                                      </p:to>
                                    </p:set>
                                    <p:animEffect transition="in" filter="fade">
                                      <p:cBhvr>
                                        <p:cTn id="12" dur="2000"/>
                                        <p:tgtEl>
                                          <p:spTgt spid="55299">
                                            <p:txEl>
                                              <p:charRg st="0" end="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5299">
                                            <p:txEl>
                                              <p:charRg st="8" end="50"/>
                                            </p:txEl>
                                          </p:spTgt>
                                        </p:tgtEl>
                                        <p:attrNameLst>
                                          <p:attrName>style.visibility</p:attrName>
                                        </p:attrNameLst>
                                      </p:cBhvr>
                                      <p:to>
                                        <p:strVal val="visible"/>
                                      </p:to>
                                    </p:set>
                                    <p:animEffect transition="in" filter="fade">
                                      <p:cBhvr>
                                        <p:cTn id="15" dur="2000"/>
                                        <p:tgtEl>
                                          <p:spTgt spid="55299">
                                            <p:txEl>
                                              <p:charRg st="8" end="5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5299">
                                            <p:txEl>
                                              <p:charRg st="50" end="86"/>
                                            </p:txEl>
                                          </p:spTgt>
                                        </p:tgtEl>
                                        <p:attrNameLst>
                                          <p:attrName>style.visibility</p:attrName>
                                        </p:attrNameLst>
                                      </p:cBhvr>
                                      <p:to>
                                        <p:strVal val="visible"/>
                                      </p:to>
                                    </p:set>
                                    <p:animEffect transition="in" filter="fade">
                                      <p:cBhvr>
                                        <p:cTn id="18" dur="2000"/>
                                        <p:tgtEl>
                                          <p:spTgt spid="55299">
                                            <p:txEl>
                                              <p:charRg st="50"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6" grpId="0"/>
      <p:bldP spid="55299"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4</a:t>
            </a: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）进程控制信息</a:t>
            </a:r>
            <a:endPar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56323" name="Rectangle 3"/>
          <p:cNvSpPr>
            <a:spLocks noGrp="1" noRot="1"/>
          </p:cNvSpPr>
          <p:nvPr>
            <p:ph type="body"/>
          </p:nvPr>
        </p:nvSpPr>
        <p:spPr>
          <a:xfrm>
            <a:off x="301625" y="1752600"/>
            <a:ext cx="8502650" cy="4114800"/>
          </a:xfrm>
          <a:ln/>
        </p:spPr>
        <p:txBody>
          <a:bodyPr vert="horz" wrap="square" lIns="91440" tIns="45720" rIns="91440" bIns="45720" anchor="t" anchorCtr="0"/>
          <a:p>
            <a:pPr eaLnBrk="1" hangingPunct="1">
              <a:buNone/>
            </a:pPr>
            <a:r>
              <a:rPr lang="en-US" altLang="zh-CN" sz="2800" b="1" dirty="0"/>
              <a:t>①</a:t>
            </a:r>
            <a:r>
              <a:rPr lang="zh-CN" altLang="en-US" sz="2800" b="1" dirty="0">
                <a:solidFill>
                  <a:srgbClr val="FF0000"/>
                </a:solidFill>
              </a:rPr>
              <a:t>程序和数据的地址</a:t>
            </a:r>
            <a:r>
              <a:rPr lang="zh-CN" altLang="en-US" sz="2800" b="1" dirty="0"/>
              <a:t>，是指进程的程序和数据所在的内存或外存地址。</a:t>
            </a:r>
            <a:endParaRPr lang="zh-CN" altLang="en-US" sz="2800" b="1" dirty="0"/>
          </a:p>
          <a:p>
            <a:pPr eaLnBrk="1" hangingPunct="1">
              <a:buClrTx/>
              <a:buSzTx/>
              <a:buFontTx/>
              <a:buNone/>
            </a:pPr>
            <a:r>
              <a:rPr lang="zh-CN" altLang="en-US" sz="2800" b="1" dirty="0"/>
              <a:t>②</a:t>
            </a:r>
            <a:r>
              <a:rPr lang="zh-CN" altLang="en-US" sz="2800" b="1" dirty="0">
                <a:solidFill>
                  <a:srgbClr val="FF0000"/>
                </a:solidFill>
              </a:rPr>
              <a:t>进程同步和通信机制</a:t>
            </a:r>
            <a:r>
              <a:rPr lang="zh-CN" altLang="en-US" sz="2800" b="1" dirty="0"/>
              <a:t>，指实现进程同步和通信时必需的机制，如消息队列指针、信号量等，他们可能全部或部分的放在</a:t>
            </a:r>
            <a:r>
              <a:rPr lang="en-US" altLang="zh-CN" sz="2800" b="1" dirty="0"/>
              <a:t>PCB</a:t>
            </a:r>
            <a:r>
              <a:rPr lang="zh-CN" altLang="en-US" sz="2800" b="1" dirty="0"/>
              <a:t>中。</a:t>
            </a:r>
            <a:endParaRPr lang="zh-CN" altLang="en-US" sz="2800" b="1" dirty="0"/>
          </a:p>
          <a:p>
            <a:pPr eaLnBrk="1" hangingPunct="1">
              <a:buClrTx/>
              <a:buSzTx/>
              <a:buFontTx/>
              <a:buNone/>
            </a:pPr>
            <a:r>
              <a:rPr lang="zh-CN" altLang="en-US" sz="2800" b="1" dirty="0"/>
              <a:t>③</a:t>
            </a:r>
            <a:r>
              <a:rPr lang="zh-CN" altLang="en-US" sz="2800" b="1" dirty="0">
                <a:solidFill>
                  <a:srgbClr val="FF0000"/>
                </a:solidFill>
              </a:rPr>
              <a:t>资源清单</a:t>
            </a:r>
            <a:r>
              <a:rPr lang="zh-CN" altLang="en-US" sz="2800" b="1" dirty="0"/>
              <a:t>。进程所需的全部资源及已经分配到该进程的资源的清单；</a:t>
            </a:r>
            <a:endParaRPr lang="zh-CN" altLang="en-US" sz="2800" b="1" dirty="0"/>
          </a:p>
          <a:p>
            <a:pPr eaLnBrk="1" hangingPunct="1">
              <a:buClrTx/>
              <a:buSzTx/>
              <a:buFontTx/>
              <a:buNone/>
            </a:pPr>
            <a:r>
              <a:rPr lang="zh-CN" altLang="en-US" sz="2800" b="1" dirty="0"/>
              <a:t>④</a:t>
            </a:r>
            <a:r>
              <a:rPr lang="zh-CN" altLang="en-US" sz="2800" b="1" dirty="0">
                <a:solidFill>
                  <a:srgbClr val="FF0000"/>
                </a:solidFill>
              </a:rPr>
              <a:t>链接指针</a:t>
            </a:r>
            <a:r>
              <a:rPr lang="zh-CN" altLang="en-US" sz="2800" b="1" dirty="0"/>
              <a:t>。本进程所在队列的下一个进程的</a:t>
            </a:r>
            <a:r>
              <a:rPr lang="en-US" altLang="zh-CN" sz="2800" b="1" dirty="0"/>
              <a:t>PCB</a:t>
            </a:r>
            <a:r>
              <a:rPr lang="zh-CN" altLang="en-US" sz="2800" b="1" dirty="0"/>
              <a:t>的首地址。 </a:t>
            </a:r>
            <a:endParaRPr lang="zh-CN" altLang="en-US" sz="2800" b="1" dirty="0"/>
          </a:p>
          <a:p>
            <a:pPr eaLnBrk="1" hangingPunct="1">
              <a:buClrTx/>
              <a:buSzTx/>
              <a:buFontTx/>
              <a:buNone/>
            </a:pPr>
            <a:endParaRPr lang="en-US" altLang="zh-CN"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fade">
                                      <p:cBhvr>
                                        <p:cTn id="7" dur="2000"/>
                                        <p:tgtEl>
                                          <p:spTgt spid="2160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323">
                                            <p:txEl>
                                              <p:charRg st="0" end="32"/>
                                            </p:txEl>
                                          </p:spTgt>
                                        </p:tgtEl>
                                        <p:attrNameLst>
                                          <p:attrName>style.visibility</p:attrName>
                                        </p:attrNameLst>
                                      </p:cBhvr>
                                      <p:to>
                                        <p:strVal val="visible"/>
                                      </p:to>
                                    </p:set>
                                    <p:animEffect transition="in" filter="fade">
                                      <p:cBhvr>
                                        <p:cTn id="12" dur="2000"/>
                                        <p:tgtEl>
                                          <p:spTgt spid="56323">
                                            <p:txEl>
                                              <p:charRg st="0" end="3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6323">
                                            <p:txEl>
                                              <p:charRg st="32" end="91"/>
                                            </p:txEl>
                                          </p:spTgt>
                                        </p:tgtEl>
                                        <p:attrNameLst>
                                          <p:attrName>style.visibility</p:attrName>
                                        </p:attrNameLst>
                                      </p:cBhvr>
                                      <p:to>
                                        <p:strVal val="visible"/>
                                      </p:to>
                                    </p:set>
                                    <p:animEffect transition="in" filter="fade">
                                      <p:cBhvr>
                                        <p:cTn id="17" dur="2000"/>
                                        <p:tgtEl>
                                          <p:spTgt spid="56323">
                                            <p:txEl>
                                              <p:charRg st="32" end="9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323">
                                            <p:txEl>
                                              <p:charRg st="91" end="123"/>
                                            </p:txEl>
                                          </p:spTgt>
                                        </p:tgtEl>
                                        <p:attrNameLst>
                                          <p:attrName>style.visibility</p:attrName>
                                        </p:attrNameLst>
                                      </p:cBhvr>
                                      <p:to>
                                        <p:strVal val="visible"/>
                                      </p:to>
                                    </p:set>
                                    <p:animEffect transition="in" filter="fade">
                                      <p:cBhvr>
                                        <p:cTn id="22" dur="2000"/>
                                        <p:tgtEl>
                                          <p:spTgt spid="56323">
                                            <p:txEl>
                                              <p:charRg st="91" end="12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6323">
                                            <p:txEl>
                                              <p:charRg st="123" end="153"/>
                                            </p:txEl>
                                          </p:spTgt>
                                        </p:tgtEl>
                                        <p:attrNameLst>
                                          <p:attrName>style.visibility</p:attrName>
                                        </p:attrNameLst>
                                      </p:cBhvr>
                                      <p:to>
                                        <p:strVal val="visible"/>
                                      </p:to>
                                    </p:set>
                                    <p:animEffect transition="in" filter="fade">
                                      <p:cBhvr>
                                        <p:cTn id="27" dur="2000"/>
                                        <p:tgtEl>
                                          <p:spTgt spid="56323">
                                            <p:txEl>
                                              <p:charRg st="123" end="1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p:bldP spid="5632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xfrm>
            <a:off x="301625" y="304800"/>
            <a:ext cx="8540750" cy="1143000"/>
          </a:xfrm>
          <a:ln/>
        </p:spPr>
        <p:txBody>
          <a:bodyPr vert="horz" wrap="square" lIns="91440" tIns="45720" rIns="91440" bIns="45720" anchor="ctr" anchorCtr="0"/>
          <a:p>
            <a:r>
              <a:rPr lang="en-US" altLang="zh-CN" b="1" dirty="0"/>
              <a:t>Linux</a:t>
            </a:r>
            <a:r>
              <a:rPr lang="zh-CN" altLang="en-US" b="1" dirty="0"/>
              <a:t>进程控制块</a:t>
            </a:r>
            <a:endParaRPr lang="zh-CN" altLang="en-US" b="1" dirty="0"/>
          </a:p>
        </p:txBody>
      </p:sp>
      <p:sp>
        <p:nvSpPr>
          <p:cNvPr id="41987" name="内容占位符 2"/>
          <p:cNvSpPr>
            <a:spLocks noGrp="1"/>
          </p:cNvSpPr>
          <p:nvPr>
            <p:ph idx="1"/>
          </p:nvPr>
        </p:nvSpPr>
        <p:spPr>
          <a:xfrm>
            <a:off x="454025" y="1600200"/>
            <a:ext cx="8232775" cy="4498975"/>
          </a:xfrm>
          <a:ln/>
        </p:spPr>
        <p:txBody>
          <a:bodyPr vert="horz" wrap="square" lIns="91440" tIns="45720" rIns="91440" bIns="45720" anchor="t" anchorCtr="0"/>
          <a:p>
            <a:pPr>
              <a:lnSpc>
                <a:spcPct val="150000"/>
              </a:lnSpc>
            </a:pPr>
            <a:r>
              <a:rPr lang="en-US" altLang="zh-CN" dirty="0"/>
              <a:t>Linux</a:t>
            </a:r>
            <a:r>
              <a:rPr lang="zh-CN" altLang="en-US" dirty="0"/>
              <a:t>的进程控制块为一个由结构</a:t>
            </a:r>
            <a:r>
              <a:rPr lang="en-US" altLang="zh-CN" dirty="0"/>
              <a:t>task_struct</a:t>
            </a:r>
            <a:r>
              <a:rPr lang="zh-CN" altLang="en-US" dirty="0"/>
              <a:t>所定义的数据结构，</a:t>
            </a:r>
            <a:r>
              <a:rPr lang="en-US" altLang="zh-CN" dirty="0"/>
              <a:t>task_struct</a:t>
            </a:r>
            <a:r>
              <a:rPr lang="zh-CN" altLang="en-US" dirty="0"/>
              <a:t>存放在</a:t>
            </a:r>
            <a:r>
              <a:rPr lang="en-US" altLang="zh-CN" dirty="0"/>
              <a:t>/include/linux/sched.h</a:t>
            </a:r>
            <a:r>
              <a:rPr lang="zh-CN" altLang="en-US" dirty="0"/>
              <a:t>中。</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内容占位符 2"/>
          <p:cNvSpPr>
            <a:spLocks noGrp="1"/>
          </p:cNvSpPr>
          <p:nvPr>
            <p:ph idx="1"/>
          </p:nvPr>
        </p:nvSpPr>
        <p:spPr>
          <a:xfrm>
            <a:off x="301625" y="228600"/>
            <a:ext cx="8540750" cy="5870575"/>
          </a:xfrm>
          <a:ln/>
        </p:spPr>
        <p:txBody>
          <a:bodyPr vert="horz" wrap="square" lIns="91440" tIns="45720" rIns="91440" bIns="45720" anchor="t" anchorCtr="0"/>
          <a:p>
            <a:r>
              <a:rPr lang="en-US" altLang="zh-CN" sz="2200" dirty="0"/>
              <a:t>struct task_struct{</a:t>
            </a:r>
            <a:br>
              <a:rPr lang="en-US" altLang="zh-CN" sz="2200" dirty="0"/>
            </a:br>
            <a:r>
              <a:rPr lang="en-US" altLang="zh-CN" sz="2200" dirty="0"/>
              <a:t>...</a:t>
            </a:r>
            <a:br>
              <a:rPr lang="en-US" altLang="zh-CN" sz="2200" dirty="0"/>
            </a:br>
            <a:r>
              <a:rPr lang="en-US" altLang="zh-CN" sz="2200" dirty="0">
                <a:solidFill>
                  <a:srgbClr val="FF0000"/>
                </a:solidFill>
              </a:rPr>
              <a:t>unsigned short uid;  </a:t>
            </a:r>
            <a:r>
              <a:rPr lang="en-US" altLang="zh-CN" sz="2200" dirty="0"/>
              <a:t>//</a:t>
            </a:r>
            <a:r>
              <a:rPr lang="zh-CN" altLang="en-US" sz="2200" dirty="0"/>
              <a:t>为用户标识</a:t>
            </a:r>
            <a:br>
              <a:rPr lang="en-US" altLang="zh-CN" sz="2200" dirty="0"/>
            </a:br>
            <a:r>
              <a:rPr lang="en-US" altLang="zh-CN" sz="2200" dirty="0">
                <a:solidFill>
                  <a:srgbClr val="FF0000"/>
                </a:solidFill>
              </a:rPr>
              <a:t>int pid;  </a:t>
            </a:r>
            <a:r>
              <a:rPr lang="en-US" altLang="zh-CN" sz="2200" dirty="0"/>
              <a:t>//</a:t>
            </a:r>
            <a:r>
              <a:rPr lang="zh-CN" altLang="en-US" sz="2200" dirty="0"/>
              <a:t>为进程标识</a:t>
            </a:r>
            <a:br>
              <a:rPr lang="en-US" altLang="zh-CN" sz="2200" dirty="0"/>
            </a:br>
            <a:r>
              <a:rPr lang="en-US" altLang="zh-CN" sz="2200" dirty="0">
                <a:solidFill>
                  <a:srgbClr val="FF0000"/>
                </a:solidFill>
              </a:rPr>
              <a:t>int processor;  </a:t>
            </a:r>
            <a:r>
              <a:rPr lang="en-US" altLang="zh-CN" sz="2200" dirty="0"/>
              <a:t>//</a:t>
            </a:r>
            <a:r>
              <a:rPr lang="zh-CN" altLang="en-US" sz="2200" dirty="0"/>
              <a:t>标识用户正在使用的</a:t>
            </a:r>
            <a:r>
              <a:rPr lang="en-US" altLang="zh-CN" sz="2200" dirty="0"/>
              <a:t>CPU,</a:t>
            </a:r>
            <a:r>
              <a:rPr lang="zh-CN" altLang="en-US" sz="2200" dirty="0"/>
              <a:t>以支持多处理机方式</a:t>
            </a:r>
            <a:br>
              <a:rPr lang="en-US" altLang="zh-CN" sz="2200" dirty="0"/>
            </a:br>
            <a:r>
              <a:rPr lang="en-US" altLang="zh-CN" sz="2200" dirty="0"/>
              <a:t>...</a:t>
            </a:r>
            <a:br>
              <a:rPr lang="en-US" altLang="zh-CN" sz="2200" dirty="0"/>
            </a:br>
            <a:r>
              <a:rPr lang="en-US" altLang="zh-CN" sz="2200" dirty="0">
                <a:solidFill>
                  <a:srgbClr val="FF0000"/>
                </a:solidFill>
              </a:rPr>
              <a:t>volatile long state; </a:t>
            </a:r>
            <a:r>
              <a:rPr lang="en-US" altLang="zh-CN" sz="2200" dirty="0"/>
              <a:t>//</a:t>
            </a:r>
            <a:r>
              <a:rPr lang="zh-CN" altLang="en-US" sz="2200" dirty="0"/>
              <a:t>进程的状态，有</a:t>
            </a:r>
            <a:r>
              <a:rPr lang="en-US" altLang="zh-CN" sz="2200" dirty="0"/>
              <a:t>6</a:t>
            </a:r>
            <a:r>
              <a:rPr lang="zh-CN" altLang="en-US" sz="2200" dirty="0"/>
              <a:t>种状态</a:t>
            </a:r>
            <a:br>
              <a:rPr lang="en-US" altLang="zh-CN" sz="2200" dirty="0"/>
            </a:br>
            <a:r>
              <a:rPr lang="en-US" altLang="zh-CN" sz="2200" dirty="0">
                <a:solidFill>
                  <a:srgbClr val="FF0000"/>
                </a:solidFill>
              </a:rPr>
              <a:t>long prority; </a:t>
            </a:r>
            <a:r>
              <a:rPr lang="en-US" altLang="zh-CN" sz="2200" dirty="0"/>
              <a:t>//</a:t>
            </a:r>
            <a:r>
              <a:rPr lang="zh-CN" altLang="en-US" sz="2200" dirty="0"/>
              <a:t>进程的优先级</a:t>
            </a:r>
            <a:br>
              <a:rPr lang="en-US" altLang="zh-CN" sz="2200" dirty="0"/>
            </a:br>
            <a:r>
              <a:rPr lang="en-US" altLang="zh-CN" sz="2200" dirty="0">
                <a:solidFill>
                  <a:srgbClr val="FF0000"/>
                </a:solidFill>
              </a:rPr>
              <a:t>unsighed long rt_prority; </a:t>
            </a:r>
            <a:r>
              <a:rPr lang="en-US" altLang="zh-CN" sz="2200" dirty="0"/>
              <a:t>//</a:t>
            </a:r>
            <a:r>
              <a:rPr lang="zh-CN" altLang="en-US" sz="2200" dirty="0"/>
              <a:t>表示实时进程的优先级，对于普通进程无效</a:t>
            </a:r>
            <a:br>
              <a:rPr lang="zh-CN" altLang="en-US" sz="2200" dirty="0"/>
            </a:br>
            <a:r>
              <a:rPr lang="en-US" altLang="zh-CN" sz="2200" dirty="0">
                <a:solidFill>
                  <a:srgbClr val="FF0000"/>
                </a:solidFill>
              </a:rPr>
              <a:t>long counter; </a:t>
            </a:r>
            <a:r>
              <a:rPr lang="en-US" altLang="zh-CN" sz="2200" dirty="0"/>
              <a:t>//</a:t>
            </a:r>
            <a:r>
              <a:rPr lang="zh-CN" altLang="en-US" sz="2200" dirty="0"/>
              <a:t>为进程动态优先级计数器，用于进程轮转调度算法</a:t>
            </a:r>
            <a:br>
              <a:rPr lang="en-US" altLang="zh-CN" sz="2200" dirty="0"/>
            </a:br>
            <a:r>
              <a:rPr lang="en-US" altLang="zh-CN" sz="2200" dirty="0">
                <a:solidFill>
                  <a:srgbClr val="FF0000"/>
                </a:solidFill>
              </a:rPr>
              <a:t>unsigned long flags;</a:t>
            </a:r>
            <a:br>
              <a:rPr lang="en-US" altLang="zh-CN" sz="2200" dirty="0"/>
            </a:br>
            <a:r>
              <a:rPr lang="en-US" altLang="zh-CN" sz="2200" dirty="0">
                <a:solidFill>
                  <a:srgbClr val="FF0000"/>
                </a:solidFill>
              </a:rPr>
              <a:t>unsigned long policy;  </a:t>
            </a:r>
            <a:r>
              <a:rPr lang="en-US" altLang="zh-CN" sz="2200" dirty="0"/>
              <a:t>//</a:t>
            </a:r>
            <a:r>
              <a:rPr lang="zh-CN" altLang="en-US" sz="2200" dirty="0"/>
              <a:t>表示进程调度策略，其值为下列三种情况之一：</a:t>
            </a:r>
            <a:br>
              <a:rPr lang="zh-CN" altLang="en-US" sz="2200" dirty="0"/>
            </a:br>
            <a:r>
              <a:rPr lang="en-US" altLang="zh-CN" sz="2200" b="1" dirty="0">
                <a:solidFill>
                  <a:srgbClr val="0070C0"/>
                </a:solidFill>
              </a:rPr>
              <a:t>SCHED_OTHER(</a:t>
            </a:r>
            <a:r>
              <a:rPr lang="zh-CN" altLang="en-US" sz="2200" b="1" dirty="0">
                <a:solidFill>
                  <a:srgbClr val="0070C0"/>
                </a:solidFill>
              </a:rPr>
              <a:t>值为</a:t>
            </a:r>
            <a:r>
              <a:rPr lang="en-US" altLang="zh-CN" sz="2200" b="1" dirty="0">
                <a:solidFill>
                  <a:srgbClr val="0070C0"/>
                </a:solidFill>
              </a:rPr>
              <a:t>0)</a:t>
            </a:r>
            <a:r>
              <a:rPr lang="zh-CN" altLang="en-US" sz="2200" b="1" dirty="0">
                <a:solidFill>
                  <a:srgbClr val="0070C0"/>
                </a:solidFill>
              </a:rPr>
              <a:t>对应普通进程，优先级轮转法</a:t>
            </a:r>
            <a:r>
              <a:rPr lang="en-US" altLang="zh-CN" sz="2200" b="1" dirty="0">
                <a:solidFill>
                  <a:srgbClr val="0070C0"/>
                </a:solidFill>
              </a:rPr>
              <a:t>(round robin)</a:t>
            </a:r>
            <a:br>
              <a:rPr lang="en-US" altLang="zh-CN" sz="2200" b="1" dirty="0">
                <a:solidFill>
                  <a:srgbClr val="0070C0"/>
                </a:solidFill>
              </a:rPr>
            </a:br>
            <a:r>
              <a:rPr lang="en-US" altLang="zh-CN" sz="2200" b="1" dirty="0">
                <a:solidFill>
                  <a:srgbClr val="0070C0"/>
                </a:solidFill>
              </a:rPr>
              <a:t>SCHED_FIFO(</a:t>
            </a:r>
            <a:r>
              <a:rPr lang="zh-CN" altLang="en-US" sz="2200" b="1" dirty="0">
                <a:solidFill>
                  <a:srgbClr val="0070C0"/>
                </a:solidFill>
              </a:rPr>
              <a:t>值为</a:t>
            </a:r>
            <a:r>
              <a:rPr lang="en-US" altLang="zh-CN" sz="2200" b="1" dirty="0">
                <a:solidFill>
                  <a:srgbClr val="0070C0"/>
                </a:solidFill>
              </a:rPr>
              <a:t>1)</a:t>
            </a:r>
            <a:r>
              <a:rPr lang="zh-CN" altLang="en-US" sz="2200" b="1" dirty="0">
                <a:solidFill>
                  <a:srgbClr val="0070C0"/>
                </a:solidFill>
              </a:rPr>
              <a:t>对应实时进程，先来先服务算法；</a:t>
            </a:r>
            <a:br>
              <a:rPr lang="zh-CN" altLang="en-US" sz="2200" b="1" dirty="0">
                <a:solidFill>
                  <a:srgbClr val="0070C0"/>
                </a:solidFill>
              </a:rPr>
            </a:br>
            <a:r>
              <a:rPr lang="en-US" altLang="zh-CN" sz="2200" b="1" dirty="0">
                <a:solidFill>
                  <a:srgbClr val="0070C0"/>
                </a:solidFill>
              </a:rPr>
              <a:t>SCHED_RR(</a:t>
            </a:r>
            <a:r>
              <a:rPr lang="zh-CN" altLang="en-US" sz="2200" b="1" dirty="0">
                <a:solidFill>
                  <a:srgbClr val="0070C0"/>
                </a:solidFill>
              </a:rPr>
              <a:t>值为</a:t>
            </a:r>
            <a:r>
              <a:rPr lang="en-US" altLang="zh-CN" sz="2200" b="1" dirty="0">
                <a:solidFill>
                  <a:srgbClr val="0070C0"/>
                </a:solidFill>
              </a:rPr>
              <a:t>2)</a:t>
            </a:r>
            <a:r>
              <a:rPr lang="zh-CN" altLang="en-US" sz="2200" b="1" dirty="0">
                <a:solidFill>
                  <a:srgbClr val="0070C0"/>
                </a:solidFill>
              </a:rPr>
              <a:t>对应实时进程，时间片轮转算法</a:t>
            </a:r>
            <a:br>
              <a:rPr lang="zh-CN" altLang="en-US" sz="2200" b="1" dirty="0">
                <a:solidFill>
                  <a:srgbClr val="0070C0"/>
                </a:solidFill>
              </a:rPr>
            </a:br>
            <a:br>
              <a:rPr lang="en-US" altLang="zh-CN" sz="2200" b="1" dirty="0">
                <a:solidFill>
                  <a:srgbClr val="0070C0"/>
                </a:solidFill>
              </a:rPr>
            </a:br>
            <a:r>
              <a:rPr lang="en-US" altLang="zh-CN" sz="2200" dirty="0"/>
              <a:t>...</a:t>
            </a:r>
            <a:br>
              <a:rPr lang="en-US" altLang="zh-CN" sz="2200" dirty="0"/>
            </a:br>
            <a:br>
              <a:rPr lang="en-US" altLang="zh-CN" sz="2200" dirty="0"/>
            </a:br>
            <a:endParaRPr lang="zh-CN" alt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内容占位符 2"/>
          <p:cNvSpPr>
            <a:spLocks noGrp="1"/>
          </p:cNvSpPr>
          <p:nvPr>
            <p:ph idx="1"/>
          </p:nvPr>
        </p:nvSpPr>
        <p:spPr>
          <a:xfrm>
            <a:off x="301625" y="990600"/>
            <a:ext cx="8540750" cy="5108575"/>
          </a:xfrm>
          <a:ln/>
        </p:spPr>
        <p:txBody>
          <a:bodyPr vert="horz" wrap="square" lIns="91440" tIns="45720" rIns="91440" bIns="45720" anchor="t" anchorCtr="0"/>
          <a:p>
            <a:r>
              <a:rPr lang="en-US" altLang="zh-CN" sz="2800" dirty="0">
                <a:solidFill>
                  <a:srgbClr val="FF0000"/>
                </a:solidFill>
              </a:rPr>
              <a:t>Struct task_struct *next_task, *prev_task</a:t>
            </a:r>
            <a:r>
              <a:rPr lang="en-US" altLang="zh-CN" sz="2800" dirty="0"/>
              <a:t>;  //</a:t>
            </a:r>
            <a:r>
              <a:rPr lang="zh-CN" altLang="en-US" sz="2800" dirty="0"/>
              <a:t>为进程</a:t>
            </a:r>
            <a:r>
              <a:rPr lang="en-US" altLang="zh-CN" sz="2800" dirty="0"/>
              <a:t>PCB</a:t>
            </a:r>
            <a:r>
              <a:rPr lang="zh-CN" altLang="en-US" sz="2800" dirty="0"/>
              <a:t>双向链表的前后项指针</a:t>
            </a:r>
            <a:br>
              <a:rPr lang="en-US" altLang="zh-CN" sz="2800" dirty="0"/>
            </a:br>
            <a:r>
              <a:rPr lang="en-US" altLang="zh-CN" sz="2800" dirty="0">
                <a:solidFill>
                  <a:srgbClr val="FF0000"/>
                </a:solidFill>
              </a:rPr>
              <a:t>Struct task_struct *next_run,*prev_run</a:t>
            </a:r>
            <a:r>
              <a:rPr lang="en-US" altLang="zh-CN" sz="2800" dirty="0"/>
              <a:t>; //</a:t>
            </a:r>
            <a:r>
              <a:rPr lang="zh-CN" altLang="en-US" sz="2800" dirty="0"/>
              <a:t>为就绪队列双向链表的前后项指针</a:t>
            </a:r>
            <a:br>
              <a:rPr lang="zh-CN" altLang="en-US" sz="2800" dirty="0"/>
            </a:br>
            <a:r>
              <a:rPr lang="zh-CN" altLang="en-US" sz="2800" dirty="0"/>
              <a:t> </a:t>
            </a:r>
            <a:br>
              <a:rPr lang="en-US" altLang="zh-CN" sz="2800" dirty="0"/>
            </a:br>
            <a:r>
              <a:rPr lang="en-US" altLang="zh-CN" sz="2800" dirty="0">
                <a:solidFill>
                  <a:srgbClr val="FF0000"/>
                </a:solidFill>
              </a:rPr>
              <a:t>Struct task_struct *p_opptr,*p_pptr,*p_cptr,*pysptr,*p_ptr; </a:t>
            </a:r>
            <a:r>
              <a:rPr lang="en-US" altLang="zh-CN" sz="2800" dirty="0"/>
              <a:t> //</a:t>
            </a:r>
            <a:r>
              <a:rPr lang="zh-CN" altLang="en-US" sz="2800" dirty="0"/>
              <a:t>指明进程家族间的关系，分别为指向祖父进程、父进程、子进程以及新老进程的指针</a:t>
            </a:r>
            <a:endParaRPr lang="zh-CN" altLang="en-US" sz="2800" dirty="0"/>
          </a:p>
          <a:p>
            <a:pPr>
              <a:buNone/>
            </a:pPr>
            <a:r>
              <a:rPr lang="en-US" altLang="zh-CN" sz="2800" dirty="0"/>
              <a:t>      ...</a:t>
            </a:r>
            <a:br>
              <a:rPr lang="en-US" altLang="zh-CN" sz="2800" dirty="0"/>
            </a:br>
            <a:r>
              <a:rPr lang="en-US" altLang="zh-CN" sz="2800" dirty="0"/>
              <a:t>};</a:t>
            </a:r>
            <a:endParaRPr lang="zh-CN" alt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Text Box 2"/>
          <p:cNvSpPr txBox="1"/>
          <p:nvPr/>
        </p:nvSpPr>
        <p:spPr>
          <a:xfrm>
            <a:off x="228600" y="1016000"/>
            <a:ext cx="8763000" cy="5689600"/>
          </a:xfrm>
          <a:prstGeom prst="rect">
            <a:avLst/>
          </a:prstGeom>
          <a:solidFill>
            <a:srgbClr val="CCFFCC"/>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342900" lvl="0" indent="-342900" eaLnBrk="1" hangingPunct="1">
              <a:lnSpc>
                <a:spcPct val="90000"/>
              </a:lnSpc>
              <a:buClrTx/>
              <a:buSzTx/>
              <a:buFontTx/>
              <a:buNone/>
            </a:pPr>
            <a:r>
              <a:rPr lang="en-US" altLang="ko-KR" sz="1800" b="1" dirty="0">
                <a:latin typeface="Courier New" panose="02070309020205020404" pitchFamily="49" charset="0"/>
                <a:ea typeface="Gulim" pitchFamily="34" charset="-127"/>
              </a:rPr>
              <a:t>typedef struct os_tcb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dirty="0">
                <a:latin typeface="Times New Roman" panose="02020603050405020304" pitchFamily="18" charset="0"/>
              </a:rPr>
              <a:t> </a:t>
            </a:r>
            <a:r>
              <a:rPr lang="en-US" altLang="zh-CN" sz="1800" dirty="0">
                <a:latin typeface="Times New Roman" panose="02020603050405020304" pitchFamily="18" charset="0"/>
              </a:rPr>
              <a:t>       </a:t>
            </a:r>
            <a:r>
              <a:rPr lang="en-US" altLang="ko-KR" sz="1800" b="1" dirty="0">
                <a:solidFill>
                  <a:srgbClr val="FF0000"/>
                </a:solidFill>
                <a:latin typeface="Courier New" panose="02070309020205020404" pitchFamily="49" charset="0"/>
                <a:ea typeface="Gulim" pitchFamily="34" charset="-127"/>
              </a:rPr>
              <a:t>OS_STK  *OSTCBStkPtr; /* Pointer to current top of stack*/</a:t>
            </a:r>
            <a:endParaRPr lang="en-US" altLang="ko-KR" sz="18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#if OS_TASK_CREATE_EXT_EN &gt; 0</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void   </a:t>
            </a:r>
            <a:r>
              <a:rPr lang="en-US" altLang="zh-CN" sz="1800" b="1" dirty="0">
                <a:latin typeface="Courier New" panose="02070309020205020404" pitchFamily="49" charset="0"/>
                <a:ea typeface="Gulim" pitchFamily="34" charset="-127"/>
              </a:rPr>
              <a:t> </a:t>
            </a:r>
            <a:r>
              <a:rPr lang="en-US" altLang="ko-KR" sz="1800" b="1" dirty="0">
                <a:latin typeface="Courier New" panose="02070309020205020404" pitchFamily="49" charset="0"/>
                <a:ea typeface="Gulim" pitchFamily="34" charset="-127"/>
              </a:rPr>
              <a:t>*OSTCBExtPtr;</a:t>
            </a:r>
            <a:r>
              <a:rPr lang="en-US" altLang="zh-CN" sz="1800" b="1" dirty="0">
                <a:latin typeface="Courier New" panose="02070309020205020404" pitchFamily="49" charset="0"/>
                <a:ea typeface="Gulim" pitchFamily="34" charset="-127"/>
              </a:rPr>
              <a:t>    </a:t>
            </a:r>
            <a:r>
              <a:rPr lang="en-US" altLang="ko-KR" sz="1800" b="1" dirty="0">
                <a:latin typeface="Courier New" panose="02070309020205020404" pitchFamily="49" charset="0"/>
                <a:ea typeface="Gulim" pitchFamily="34" charset="-127"/>
              </a:rPr>
              <a:t>/* Pointer to user definable data for TCB extension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OS_STK  *OSTCBStkBottom; /* Pointer to bottom of stack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INT32U OSTCBStkSize;     /* Size of task stack (in number of stack elements)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INT16U OSTCBOpt; /* Task options as passed by OSTaskCreateExt()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solidFill>
                  <a:srgbClr val="FF0000"/>
                </a:solidFill>
                <a:latin typeface="Courier New" panose="02070309020205020404" pitchFamily="49" charset="0"/>
                <a:ea typeface="Gulim" pitchFamily="34" charset="-127"/>
              </a:rPr>
              <a:t>   INT16U OSTCBId;          /* Task ID (0..65535) */</a:t>
            </a:r>
            <a:endParaRPr lang="en-US" altLang="ko-KR" sz="18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#endif</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solidFill>
                  <a:srgbClr val="FF0000"/>
                </a:solidFill>
                <a:latin typeface="Courier New" panose="02070309020205020404" pitchFamily="49" charset="0"/>
                <a:ea typeface="Gulim" pitchFamily="34" charset="-127"/>
              </a:rPr>
              <a:t>   struct os_tcb *OSTCBNext;/* Pointer to next TCB in the TCB </a:t>
            </a:r>
            <a:r>
              <a:rPr lang="en-US" altLang="ko-KR" sz="1800" b="1" dirty="0">
                <a:latin typeface="Courier New" panose="02070309020205020404" pitchFamily="49" charset="0"/>
                <a:ea typeface="Gulim" pitchFamily="34" charset="-127"/>
              </a:rPr>
              <a:t>list</a:t>
            </a:r>
            <a:r>
              <a:rPr lang="en-US" altLang="zh-CN" sz="1800" b="1" dirty="0">
                <a:latin typeface="Courier New" panose="02070309020205020404" pitchFamily="49" charset="0"/>
                <a:ea typeface="Gulim" pitchFamily="34" charset="-127"/>
              </a:rPr>
              <a:t> </a:t>
            </a:r>
            <a:r>
              <a:rPr lang="en-US" altLang="ko-KR" sz="1800" b="1" dirty="0">
                <a:latin typeface="Courier New" panose="02070309020205020404" pitchFamily="49" charset="0"/>
                <a:ea typeface="Gulim" pitchFamily="34" charset="-127"/>
              </a:rPr>
              <a:t>*/</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a:t>
            </a:r>
            <a:r>
              <a:rPr lang="en-US" altLang="ko-KR" sz="1800" b="1" dirty="0">
                <a:solidFill>
                  <a:srgbClr val="FF0000"/>
                </a:solidFill>
                <a:latin typeface="Courier New" panose="02070309020205020404" pitchFamily="49" charset="0"/>
                <a:ea typeface="Gulim" pitchFamily="34" charset="-127"/>
              </a:rPr>
              <a:t>struct os_tcb *OSTCBPrev;/* Pointer to previous TCB in the </a:t>
            </a:r>
            <a:r>
              <a:rPr lang="en-US" altLang="ko-KR" sz="1800" b="1" dirty="0">
                <a:latin typeface="Courier New" panose="02070309020205020404" pitchFamily="49" charset="0"/>
                <a:ea typeface="Gulim" pitchFamily="34" charset="-127"/>
              </a:rPr>
              <a:t>TCB list</a:t>
            </a:r>
            <a:r>
              <a:rPr lang="en-US" altLang="zh-CN" sz="1800" b="1" dirty="0">
                <a:latin typeface="Courier New" panose="02070309020205020404" pitchFamily="49" charset="0"/>
                <a:ea typeface="Gulim" pitchFamily="34" charset="-127"/>
              </a:rPr>
              <a:t>*</a:t>
            </a:r>
            <a:r>
              <a:rPr lang="en-US" altLang="ko-KR" sz="1800" b="1" dirty="0">
                <a:latin typeface="Courier New" panose="02070309020205020404" pitchFamily="49" charset="0"/>
                <a:ea typeface="Gulim" pitchFamily="34" charset="-127"/>
              </a:rPr>
              <a:t>/</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endParaRPr lang="en-US" altLang="ko-KR" sz="1800" b="1" dirty="0">
              <a:latin typeface="Courier New" panose="02070309020205020404" pitchFamily="49" charset="0"/>
              <a:ea typeface="Gulim" pitchFamily="34" charset="-127"/>
            </a:endParaRPr>
          </a:p>
        </p:txBody>
      </p:sp>
      <p:sp>
        <p:nvSpPr>
          <p:cNvPr id="172035" name="Rectangle 3"/>
          <p:cNvSpPr>
            <a:spLocks noChangeArrowheads="1"/>
          </p:cNvSpPr>
          <p:nvPr/>
        </p:nvSpPr>
        <p:spPr bwMode="auto">
          <a:xfrm>
            <a:off x="533400" y="228600"/>
            <a:ext cx="7813675"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TCB of </a:t>
            </a:r>
            <a:r>
              <a:rPr kumimoji="1" lang="en-US" altLang="zh-CN"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uCOS</a:t>
            </a:r>
            <a:endPar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wheel(4)">
                                      <p:cBhvr>
                                        <p:cTn id="7" dur="500"/>
                                        <p:tgtEl>
                                          <p:spTgt spid="172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Text Box 2"/>
          <p:cNvSpPr txBox="1"/>
          <p:nvPr/>
        </p:nvSpPr>
        <p:spPr>
          <a:xfrm>
            <a:off x="304800" y="990600"/>
            <a:ext cx="8610600" cy="5638800"/>
          </a:xfrm>
          <a:prstGeom prst="rect">
            <a:avLst/>
          </a:prstGeom>
          <a:solidFill>
            <a:srgbClr val="CCFFCC"/>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342900" lvl="0" indent="-342900" eaLnBrk="1" hangingPunct="1">
              <a:buClrTx/>
              <a:buSzTx/>
              <a:buFontTx/>
              <a:buNone/>
            </a:pPr>
            <a:r>
              <a:rPr lang="en-US" altLang="ko-KR" sz="2000" b="1" dirty="0">
                <a:latin typeface="Courier New" panose="02070309020205020404" pitchFamily="49" charset="0"/>
                <a:ea typeface="Gulim" pitchFamily="34" charset="-127"/>
              </a:rPr>
              <a:t>#if (OS_VERSION &gt;= 251) &amp;&amp; (OS_FLAG_EN &gt; 0) &amp;&amp; (OS_MAX_FLAGS &gt; 0)</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#if OS_TASK_DEL_EN &gt; 0</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    OS_FLAG_NODE  *OSTCBFlagNode; /* Pointer to event flag node*/</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#endif    </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OS_FLAGS OSTCBFlagsRdy; /* Event flags that made task ready to run*/ </a:t>
            </a:r>
            <a:r>
              <a:rPr lang="zh-CN" altLang="en-US" sz="2000" b="1" dirty="0">
                <a:solidFill>
                  <a:srgbClr val="FF0000"/>
                </a:solidFill>
                <a:latin typeface="Courier New" panose="02070309020205020404" pitchFamily="49" charset="0"/>
                <a:ea typeface="Gulim" pitchFamily="34" charset="-127"/>
              </a:rPr>
              <a:t>使进程就绪的事件</a:t>
            </a:r>
            <a:endParaRPr lang="en-US" altLang="ko-KR"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#endif</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    INT16U  OSTCBDly; /* Nbr ticks to delay task or, timeout waiting for event*/</a:t>
            </a:r>
            <a:endParaRPr lang="en-US" altLang="zh-CN"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    INT8U      OSTCBStat;/* Task status */</a:t>
            </a:r>
            <a:endParaRPr lang="en-US" altLang="ko-KR"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    INT8U      OSTCBPrio;/* Task priority (0 == highest, 63 == lowest)</a:t>
            </a:r>
            <a:r>
              <a:rPr lang="en-US" altLang="zh-CN" sz="2000" b="1" dirty="0">
                <a:solidFill>
                  <a:srgbClr val="FF0000"/>
                </a:solidFill>
                <a:latin typeface="Courier New" panose="02070309020205020404" pitchFamily="49" charset="0"/>
                <a:ea typeface="Gulim" pitchFamily="34" charset="-127"/>
              </a:rPr>
              <a:t> </a:t>
            </a:r>
            <a:r>
              <a:rPr lang="en-US" altLang="ko-KR" sz="2000" b="1" dirty="0">
                <a:solidFill>
                  <a:srgbClr val="FF0000"/>
                </a:solidFill>
                <a:latin typeface="Courier New" panose="02070309020205020404" pitchFamily="49" charset="0"/>
                <a:ea typeface="Gulim" pitchFamily="34" charset="-127"/>
              </a:rPr>
              <a:t>*/</a:t>
            </a:r>
            <a:endParaRPr lang="en-US" altLang="ko-KR"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a:t>
            </a:r>
            <a:endParaRPr lang="en-US" altLang="ko-KR"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 OS_TCB;</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endParaRPr lang="en-US" altLang="ko-KR" sz="2000" b="1" dirty="0">
              <a:solidFill>
                <a:srgbClr val="FF0000"/>
              </a:solidFill>
              <a:latin typeface="Courier New" panose="02070309020205020404" pitchFamily="49" charset="0"/>
              <a:ea typeface="Gulim" pitchFamily="34" charset="-127"/>
            </a:endParaRPr>
          </a:p>
        </p:txBody>
      </p:sp>
      <p:sp>
        <p:nvSpPr>
          <p:cNvPr id="174083" name="Rectangle 3"/>
          <p:cNvSpPr>
            <a:spLocks noChangeArrowheads="1"/>
          </p:cNvSpPr>
          <p:nvPr/>
        </p:nvSpPr>
        <p:spPr bwMode="auto">
          <a:xfrm>
            <a:off x="609600" y="228600"/>
            <a:ext cx="7813675"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TCB of </a:t>
            </a:r>
            <a:r>
              <a:rPr kumimoji="1" lang="en-US" altLang="zh-CN"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uCOS</a:t>
            </a:r>
            <a:endPar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174082"/>
                                        </p:tgtEl>
                                        <p:attrNameLst>
                                          <p:attrName>style.visibility</p:attrName>
                                        </p:attrNameLst>
                                      </p:cBhvr>
                                      <p:to>
                                        <p:strVal val="visible"/>
                                      </p:to>
                                    </p:set>
                                    <p:animEffect transition="in" filter="wheel(4)">
                                      <p:cBhvr>
                                        <p:cTn id="7" dur="500"/>
                                        <p:tgtEl>
                                          <p:spTgt spid="174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．进程控制块的组织方式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419" name="Rectangle 3"/>
          <p:cNvSpPr>
            <a:spLocks noGrp="1" noRot="1"/>
          </p:cNvSpPr>
          <p:nvPr>
            <p:ph type="body"/>
          </p:nvPr>
        </p:nvSpPr>
        <p:spPr>
          <a:xfrm>
            <a:off x="533400" y="1828800"/>
            <a:ext cx="8077200" cy="4498975"/>
          </a:xfrm>
          <a:ln/>
        </p:spPr>
        <p:txBody>
          <a:bodyPr vert="horz" wrap="square" lIns="91440" tIns="45720" rIns="91440" bIns="45720" anchor="t" anchorCtr="0"/>
          <a:p>
            <a:pPr algn="just" eaLnBrk="1" hangingPunct="1">
              <a:buNone/>
            </a:pPr>
            <a:r>
              <a:rPr lang="en-US" altLang="zh-CN" b="1" dirty="0">
                <a:solidFill>
                  <a:srgbClr val="0066FF"/>
                </a:solidFill>
              </a:rPr>
              <a:t> 1</a:t>
            </a:r>
            <a:r>
              <a:rPr lang="zh-CN" altLang="en-US" b="1" dirty="0">
                <a:solidFill>
                  <a:srgbClr val="0066FF"/>
                </a:solidFill>
              </a:rPr>
              <a:t>）链接方式</a:t>
            </a:r>
            <a:endParaRPr lang="zh-CN" altLang="en-US" b="1" dirty="0">
              <a:solidFill>
                <a:srgbClr val="0066FF"/>
              </a:solidFill>
            </a:endParaRPr>
          </a:p>
          <a:p>
            <a:pPr algn="just" eaLnBrk="1" hangingPunct="1">
              <a:buNone/>
            </a:pPr>
            <a:r>
              <a:rPr lang="zh-CN" altLang="en-US" b="1" dirty="0"/>
              <a:t> 把具有同一状态的</a:t>
            </a:r>
            <a:r>
              <a:rPr lang="en-US" altLang="zh-CN" b="1" dirty="0"/>
              <a:t>PCB</a:t>
            </a:r>
            <a:r>
              <a:rPr lang="zh-CN" altLang="en-US" b="1" dirty="0"/>
              <a:t>，用其中的链接字链接成一个队列。</a:t>
            </a:r>
            <a:endParaRPr lang="zh-CN" altLang="en-US" b="1" dirty="0"/>
          </a:p>
          <a:p>
            <a:pPr algn="just" eaLnBrk="1" hangingPunct="1">
              <a:buNone/>
            </a:pPr>
            <a:r>
              <a:rPr lang="zh-CN" altLang="en-US" b="1" dirty="0"/>
              <a:t>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fade">
                                      <p:cBhvr>
                                        <p:cTn id="7" dur="2000"/>
                                        <p:tgtEl>
                                          <p:spTgt spid="2170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419">
                                            <p:txEl>
                                              <p:charRg st="0" end="8"/>
                                            </p:txEl>
                                          </p:spTgt>
                                        </p:tgtEl>
                                        <p:attrNameLst>
                                          <p:attrName>style.visibility</p:attrName>
                                        </p:attrNameLst>
                                      </p:cBhvr>
                                      <p:to>
                                        <p:strVal val="visible"/>
                                      </p:to>
                                    </p:set>
                                    <p:animEffect transition="in" filter="fade">
                                      <p:cBhvr>
                                        <p:cTn id="12" dur="2000"/>
                                        <p:tgtEl>
                                          <p:spTgt spid="60419">
                                            <p:txEl>
                                              <p:charRg st="0"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419">
                                            <p:txEl>
                                              <p:charRg st="8" end="37"/>
                                            </p:txEl>
                                          </p:spTgt>
                                        </p:tgtEl>
                                        <p:attrNameLst>
                                          <p:attrName>style.visibility</p:attrName>
                                        </p:attrNameLst>
                                      </p:cBhvr>
                                      <p:to>
                                        <p:strVal val="visible"/>
                                      </p:to>
                                    </p:set>
                                    <p:animEffect transition="in" filter="fade">
                                      <p:cBhvr>
                                        <p:cTn id="17" dur="2000"/>
                                        <p:tgtEl>
                                          <p:spTgt spid="60419">
                                            <p:txEl>
                                              <p:charRg st="8" end="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0419">
                                            <p:txEl>
                                              <p:charRg st="37" end="39"/>
                                            </p:txEl>
                                          </p:spTgt>
                                        </p:tgtEl>
                                        <p:attrNameLst>
                                          <p:attrName>style.visibility</p:attrName>
                                        </p:attrNameLst>
                                      </p:cBhvr>
                                      <p:to>
                                        <p:strVal val="visible"/>
                                      </p:to>
                                    </p:set>
                                    <p:animEffect transition="in" filter="fade">
                                      <p:cBhvr>
                                        <p:cTn id="22" dur="2000"/>
                                        <p:tgtEl>
                                          <p:spTgt spid="60419">
                                            <p:txEl>
                                              <p:charRg st="37" end="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p:bldP spid="6041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3"/>
          <p:cNvSpPr txBox="1"/>
          <p:nvPr/>
        </p:nvSpPr>
        <p:spPr>
          <a:xfrm>
            <a:off x="3429000" y="5486400"/>
            <a:ext cx="2133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dirty="0"/>
              <a:t>链接方式</a:t>
            </a:r>
            <a:endParaRPr lang="zh-CN" altLang="en-US" sz="2800" dirty="0"/>
          </a:p>
        </p:txBody>
      </p:sp>
      <p:graphicFrame>
        <p:nvGraphicFramePr>
          <p:cNvPr id="50179" name="Object 5"/>
          <p:cNvGraphicFramePr>
            <a:graphicFrameLocks noChangeAspect="1"/>
          </p:cNvGraphicFramePr>
          <p:nvPr/>
        </p:nvGraphicFramePr>
        <p:xfrm>
          <a:off x="457200" y="838200"/>
          <a:ext cx="8458200" cy="4806950"/>
        </p:xfrm>
        <a:graphic>
          <a:graphicData uri="http://schemas.openxmlformats.org/presentationml/2006/ole">
            <mc:AlternateContent xmlns:mc="http://schemas.openxmlformats.org/markup-compatibility/2006">
              <mc:Choice xmlns:v="urn:schemas-microsoft-com:vml" Requires="v">
                <p:oleObj spid="_x0000_s3077" name="" r:id="rId1" imgW="2849880" imgH="1615440" progId="Visio.Drawing.11">
                  <p:embed/>
                </p:oleObj>
              </mc:Choice>
              <mc:Fallback>
                <p:oleObj name="" r:id="rId1" imgW="2849880" imgH="1615440" progId="Visio.Drawing.11">
                  <p:embed/>
                  <p:pic>
                    <p:nvPicPr>
                      <p:cNvPr id="0" name="图片 3076"/>
                      <p:cNvPicPr/>
                      <p:nvPr/>
                    </p:nvPicPr>
                    <p:blipFill>
                      <a:blip r:embed="rId2"/>
                      <a:stretch>
                        <a:fillRect/>
                      </a:stretch>
                    </p:blipFill>
                    <p:spPr>
                      <a:xfrm>
                        <a:off x="457200" y="838200"/>
                        <a:ext cx="8458200" cy="4806950"/>
                      </a:xfrm>
                      <a:prstGeom prst="rect">
                        <a:avLst/>
                      </a:prstGeom>
                      <a:noFill/>
                      <a:ln w="38100">
                        <a:noFill/>
                        <a:miter/>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28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．进程控制块的组织方式</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1443" name="Rectangle 3"/>
          <p:cNvSpPr>
            <a:spLocks noGrp="1" noRot="1"/>
          </p:cNvSpPr>
          <p:nvPr>
            <p:ph type="body"/>
          </p:nvPr>
        </p:nvSpPr>
        <p:spPr>
          <a:ln/>
        </p:spPr>
        <p:txBody>
          <a:bodyPr vert="horz" wrap="square" lIns="91440" tIns="45720" rIns="91440" bIns="45720" anchor="t" anchorCtr="0"/>
          <a:p>
            <a:pPr algn="just" eaLnBrk="1" hangingPunct="1">
              <a:lnSpc>
                <a:spcPct val="150000"/>
              </a:lnSpc>
              <a:buNone/>
            </a:pPr>
            <a:r>
              <a:rPr lang="en-US" altLang="zh-CN" b="1" dirty="0">
                <a:solidFill>
                  <a:srgbClr val="0066FF"/>
                </a:solidFill>
              </a:rPr>
              <a:t>2</a:t>
            </a:r>
            <a:r>
              <a:rPr lang="zh-CN" altLang="en-US" b="1" dirty="0">
                <a:solidFill>
                  <a:srgbClr val="0066FF"/>
                </a:solidFill>
              </a:rPr>
              <a:t>）索引方式</a:t>
            </a:r>
            <a:endParaRPr lang="zh-CN" altLang="en-US" b="1" dirty="0">
              <a:solidFill>
                <a:srgbClr val="0066FF"/>
              </a:solidFill>
            </a:endParaRPr>
          </a:p>
          <a:p>
            <a:pPr eaLnBrk="1" hangingPunct="1">
              <a:lnSpc>
                <a:spcPct val="150000"/>
              </a:lnSpc>
              <a:buNone/>
            </a:pPr>
            <a:r>
              <a:rPr lang="zh-CN" altLang="en-US" b="1" dirty="0"/>
              <a:t>   相同状态进程的</a:t>
            </a:r>
            <a:r>
              <a:rPr lang="en-US" altLang="zh-CN" b="1" dirty="0"/>
              <a:t>PCB</a:t>
            </a:r>
            <a:r>
              <a:rPr lang="zh-CN" altLang="en-US" b="1" dirty="0"/>
              <a:t>组织在一张表格中，系统根据所有进程的状态建立几张索引表，系统分别记载各</a:t>
            </a:r>
            <a:r>
              <a:rPr lang="en-US" altLang="zh-CN" b="1" dirty="0"/>
              <a:t>PCB</a:t>
            </a:r>
            <a:r>
              <a:rPr lang="zh-CN" altLang="en-US" b="1" dirty="0"/>
              <a:t>表格的起始地址。 </a:t>
            </a:r>
            <a:endParaRPr lang="zh-CN" altLang="en-US" b="1" dirty="0"/>
          </a:p>
          <a:p>
            <a:pPr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2850"/>
                                        </p:tgtEl>
                                        <p:attrNameLst>
                                          <p:attrName>style.visibility</p:attrName>
                                        </p:attrNameLst>
                                      </p:cBhvr>
                                      <p:to>
                                        <p:strVal val="visible"/>
                                      </p:to>
                                    </p:set>
                                    <p:animEffect transition="in" filter="fade">
                                      <p:cBhvr>
                                        <p:cTn id="7" dur="2000"/>
                                        <p:tgtEl>
                                          <p:spTgt spid="4628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43">
                                            <p:txEl>
                                              <p:charRg st="0" end="7"/>
                                            </p:txEl>
                                          </p:spTgt>
                                        </p:tgtEl>
                                        <p:attrNameLst>
                                          <p:attrName>style.visibility</p:attrName>
                                        </p:attrNameLst>
                                      </p:cBhvr>
                                      <p:to>
                                        <p:strVal val="visible"/>
                                      </p:to>
                                    </p:set>
                                    <p:animEffect transition="in" filter="fade">
                                      <p:cBhvr>
                                        <p:cTn id="12" dur="2000"/>
                                        <p:tgtEl>
                                          <p:spTgt spid="61443">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43">
                                            <p:txEl>
                                              <p:charRg st="7" end="68"/>
                                            </p:txEl>
                                          </p:spTgt>
                                        </p:tgtEl>
                                        <p:attrNameLst>
                                          <p:attrName>style.visibility</p:attrName>
                                        </p:attrNameLst>
                                      </p:cBhvr>
                                      <p:to>
                                        <p:strVal val="visible"/>
                                      </p:to>
                                    </p:set>
                                    <p:animEffect transition="in" filter="fade">
                                      <p:cBhvr>
                                        <p:cTn id="17" dur="2000"/>
                                        <p:tgtEl>
                                          <p:spTgt spid="61443">
                                            <p:txEl>
                                              <p:charRg st="7"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0" grpId="0"/>
      <p:bldP spid="6144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 Box 3"/>
          <p:cNvSpPr txBox="1"/>
          <p:nvPr/>
        </p:nvSpPr>
        <p:spPr>
          <a:xfrm>
            <a:off x="3276600" y="5576888"/>
            <a:ext cx="21336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dirty="0"/>
              <a:t>索引方式</a:t>
            </a:r>
            <a:endParaRPr lang="zh-CN" altLang="en-US" sz="2800" dirty="0"/>
          </a:p>
        </p:txBody>
      </p:sp>
      <p:graphicFrame>
        <p:nvGraphicFramePr>
          <p:cNvPr id="52227" name="Object 8"/>
          <p:cNvGraphicFramePr>
            <a:graphicFrameLocks noChangeAspect="1"/>
          </p:cNvGraphicFramePr>
          <p:nvPr/>
        </p:nvGraphicFramePr>
        <p:xfrm>
          <a:off x="457200" y="1219200"/>
          <a:ext cx="8077200" cy="4572000"/>
        </p:xfrm>
        <a:graphic>
          <a:graphicData uri="http://schemas.openxmlformats.org/presentationml/2006/ole">
            <mc:AlternateContent xmlns:mc="http://schemas.openxmlformats.org/markup-compatibility/2006">
              <mc:Choice xmlns:v="urn:schemas-microsoft-com:vml" Requires="v">
                <p:oleObj spid="_x0000_s3079" name="" r:id="rId1" imgW="3987800" imgH="2260600" progId="Visio.Drawing.11">
                  <p:embed/>
                </p:oleObj>
              </mc:Choice>
              <mc:Fallback>
                <p:oleObj name="" r:id="rId1" imgW="3987800" imgH="2260600" progId="Visio.Drawing.11">
                  <p:embed/>
                  <p:pic>
                    <p:nvPicPr>
                      <p:cNvPr id="0" name="图片 3078"/>
                      <p:cNvPicPr/>
                      <p:nvPr/>
                    </p:nvPicPr>
                    <p:blipFill>
                      <a:blip r:embed="rId2"/>
                      <a:stretch>
                        <a:fillRect/>
                      </a:stretch>
                    </p:blipFill>
                    <p:spPr>
                      <a:xfrm>
                        <a:off x="457200" y="1219200"/>
                        <a:ext cx="8077200" cy="4572000"/>
                      </a:xfrm>
                      <a:prstGeom prst="rect">
                        <a:avLst/>
                      </a:prstGeom>
                      <a:noFill/>
                      <a:ln w="38100">
                        <a:noFill/>
                        <a:miter/>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387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．进程控制块的组织方式</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2467" name="Rectangle 3"/>
          <p:cNvSpPr>
            <a:spLocks noGrp="1" noRot="1"/>
          </p:cNvSpPr>
          <p:nvPr>
            <p:ph type="body"/>
          </p:nvPr>
        </p:nvSpPr>
        <p:spPr>
          <a:ln/>
        </p:spPr>
        <p:txBody>
          <a:bodyPr vert="horz" wrap="square" lIns="91440" tIns="45720" rIns="91440" bIns="45720" anchor="t" anchorCtr="0"/>
          <a:p>
            <a:pPr eaLnBrk="1" hangingPunct="1">
              <a:lnSpc>
                <a:spcPct val="150000"/>
              </a:lnSpc>
            </a:pPr>
            <a:r>
              <a:rPr lang="en-US" altLang="zh-CN" b="1" dirty="0">
                <a:solidFill>
                  <a:srgbClr val="0066FF"/>
                </a:solidFill>
              </a:rPr>
              <a:t>3</a:t>
            </a:r>
            <a:r>
              <a:rPr lang="zh-CN" altLang="en-US" b="1" dirty="0">
                <a:solidFill>
                  <a:srgbClr val="0066FF"/>
                </a:solidFill>
              </a:rPr>
              <a:t>）多级队列：</a:t>
            </a:r>
            <a:endParaRPr lang="en-US" altLang="zh-CN" b="1" dirty="0">
              <a:solidFill>
                <a:srgbClr val="0066FF"/>
              </a:solidFill>
            </a:endParaRPr>
          </a:p>
          <a:p>
            <a:pPr eaLnBrk="1" hangingPunct="1">
              <a:lnSpc>
                <a:spcPct val="150000"/>
              </a:lnSpc>
            </a:pPr>
            <a:r>
              <a:rPr lang="zh-CN" altLang="en-US" b="1" dirty="0"/>
              <a:t>按照进程状态不同分别组织</a:t>
            </a:r>
            <a:r>
              <a:rPr lang="en-US" altLang="zh-CN" b="1" dirty="0"/>
              <a:t>PCB</a:t>
            </a:r>
            <a:r>
              <a:rPr lang="zh-CN" altLang="en-US" b="1" dirty="0"/>
              <a:t>队列，同一状态进程</a:t>
            </a:r>
            <a:r>
              <a:rPr lang="en-US" altLang="zh-CN" b="1" dirty="0"/>
              <a:t>PCB</a:t>
            </a:r>
            <a:r>
              <a:rPr lang="zh-CN" altLang="en-US" b="1" dirty="0"/>
              <a:t>按照优先级高低（或者到达的先后顺序）用链接指针连接起来。</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3874"/>
                                        </p:tgtEl>
                                        <p:attrNameLst>
                                          <p:attrName>style.visibility</p:attrName>
                                        </p:attrNameLst>
                                      </p:cBhvr>
                                      <p:to>
                                        <p:strVal val="visible"/>
                                      </p:to>
                                    </p:set>
                                    <p:animEffect transition="in" filter="fade">
                                      <p:cBhvr>
                                        <p:cTn id="7" dur="2000"/>
                                        <p:tgtEl>
                                          <p:spTgt spid="4638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2467">
                                            <p:txEl>
                                              <p:charRg st="0" end="8"/>
                                            </p:txEl>
                                          </p:spTgt>
                                        </p:tgtEl>
                                        <p:attrNameLst>
                                          <p:attrName>style.visibility</p:attrName>
                                        </p:attrNameLst>
                                      </p:cBhvr>
                                      <p:to>
                                        <p:strVal val="visible"/>
                                      </p:to>
                                    </p:set>
                                    <p:animEffect transition="in" filter="fade">
                                      <p:cBhvr>
                                        <p:cTn id="12" dur="2000"/>
                                        <p:tgtEl>
                                          <p:spTgt spid="62467">
                                            <p:txEl>
                                              <p:charRg st="0"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2467">
                                            <p:txEl>
                                              <p:charRg st="8" end="64"/>
                                            </p:txEl>
                                          </p:spTgt>
                                        </p:tgtEl>
                                        <p:attrNameLst>
                                          <p:attrName>style.visibility</p:attrName>
                                        </p:attrNameLst>
                                      </p:cBhvr>
                                      <p:to>
                                        <p:strVal val="visible"/>
                                      </p:to>
                                    </p:set>
                                    <p:animEffect transition="in" filter="fade">
                                      <p:cBhvr>
                                        <p:cTn id="17" dur="2000"/>
                                        <p:tgtEl>
                                          <p:spTgt spid="62467">
                                            <p:txEl>
                                              <p:charRg st="8" end="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4" grpId="0"/>
      <p:bldP spid="6246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4901" name="Rectangle 5"/>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．进程控制块的组织方式</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graphicFrame>
        <p:nvGraphicFramePr>
          <p:cNvPr id="54275" name="Object 4"/>
          <p:cNvGraphicFramePr>
            <a:graphicFrameLocks noChangeAspect="1"/>
          </p:cNvGraphicFramePr>
          <p:nvPr/>
        </p:nvGraphicFramePr>
        <p:xfrm>
          <a:off x="112713" y="1752600"/>
          <a:ext cx="8726487" cy="3886200"/>
        </p:xfrm>
        <a:graphic>
          <a:graphicData uri="http://schemas.openxmlformats.org/presentationml/2006/ole">
            <mc:AlternateContent xmlns:mc="http://schemas.openxmlformats.org/markup-compatibility/2006">
              <mc:Choice xmlns:v="urn:schemas-microsoft-com:vml" Requires="v">
                <p:oleObj spid="_x0000_s3078" name="" r:id="rId1" imgW="7975600" imgH="3568700" progId="Visio.Drawing.11">
                  <p:embed/>
                </p:oleObj>
              </mc:Choice>
              <mc:Fallback>
                <p:oleObj name="" r:id="rId1" imgW="7975600" imgH="3568700" progId="Visio.Drawing.11">
                  <p:embed/>
                  <p:pic>
                    <p:nvPicPr>
                      <p:cNvPr id="0" name="图片 3077"/>
                      <p:cNvPicPr/>
                      <p:nvPr/>
                    </p:nvPicPr>
                    <p:blipFill>
                      <a:blip r:embed="rId2"/>
                      <a:stretch>
                        <a:fillRect/>
                      </a:stretch>
                    </p:blipFill>
                    <p:spPr>
                      <a:xfrm>
                        <a:off x="112713" y="1752600"/>
                        <a:ext cx="8726487" cy="38862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4901"/>
                                        </p:tgtEl>
                                        <p:attrNameLst>
                                          <p:attrName>style.visibility</p:attrName>
                                        </p:attrNameLst>
                                      </p:cBhvr>
                                      <p:to>
                                        <p:strVal val="visible"/>
                                      </p:to>
                                    </p:set>
                                    <p:animEffect transition="in" filter="fade">
                                      <p:cBhvr>
                                        <p:cTn id="7" dur="2000"/>
                                        <p:tgtEl>
                                          <p:spTgt spid="464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2.2.5 PCB</a:t>
            </a:r>
            <a:r>
              <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实例解析</a:t>
            </a:r>
            <a:endPar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endParaRPr>
          </a:p>
        </p:txBody>
      </p:sp>
      <p:sp>
        <p:nvSpPr>
          <p:cNvPr id="63491" name="Rectangle 3"/>
          <p:cNvSpPr>
            <a:spLocks noGrp="1" noRot="1"/>
          </p:cNvSpPr>
          <p:nvPr>
            <p:ph type="body"/>
          </p:nvPr>
        </p:nvSpPr>
        <p:spPr>
          <a:xfrm>
            <a:off x="304800" y="1600200"/>
            <a:ext cx="8610600" cy="4648200"/>
          </a:xfrm>
          <a:ln/>
        </p:spPr>
        <p:txBody>
          <a:bodyPr vert="horz" wrap="square" lIns="91440" tIns="45720" rIns="91440" bIns="45720" anchor="t" anchorCtr="0"/>
          <a:p>
            <a:pPr eaLnBrk="1" hangingPunct="1">
              <a:lnSpc>
                <a:spcPct val="90000"/>
              </a:lnSpc>
            </a:pPr>
            <a:r>
              <a:rPr lang="en-US" altLang="zh-CN" b="1" dirty="0"/>
              <a:t>Linux</a:t>
            </a:r>
            <a:r>
              <a:rPr lang="zh-CN" altLang="en-US" b="1" dirty="0"/>
              <a:t>操作系统中采用</a:t>
            </a:r>
            <a:r>
              <a:rPr lang="en-US" altLang="zh-CN" b="1" dirty="0"/>
              <a:t>task_struct</a:t>
            </a:r>
            <a:r>
              <a:rPr lang="zh-CN" altLang="en-US" b="1" dirty="0"/>
              <a:t>来表示进程控制块。</a:t>
            </a:r>
            <a:endParaRPr lang="en-US" altLang="zh-CN" b="1" dirty="0"/>
          </a:p>
          <a:p>
            <a:pPr eaLnBrk="1" hangingPunct="1">
              <a:lnSpc>
                <a:spcPct val="90000"/>
              </a:lnSpc>
            </a:pPr>
            <a:r>
              <a:rPr lang="en-US" altLang="zh-CN" b="1" dirty="0"/>
              <a:t>Linux</a:t>
            </a:r>
            <a:r>
              <a:rPr lang="zh-CN" altLang="en-US" b="1" dirty="0"/>
              <a:t>操作系统最多允许</a:t>
            </a:r>
            <a:r>
              <a:rPr lang="en-US" altLang="zh-CN" b="1" dirty="0"/>
              <a:t>512</a:t>
            </a:r>
            <a:r>
              <a:rPr lang="zh-CN" altLang="en-US" b="1" dirty="0"/>
              <a:t>个进程，采用结构指针数组来表示。</a:t>
            </a:r>
            <a:endParaRPr lang="zh-CN" altLang="en-US" b="1" dirty="0"/>
          </a:p>
          <a:p>
            <a:pPr lvl="1" eaLnBrk="1" hangingPunct="1">
              <a:lnSpc>
                <a:spcPct val="90000"/>
              </a:lnSpc>
            </a:pPr>
            <a:r>
              <a:rPr lang="zh-CN" altLang="en-US" b="1" dirty="0"/>
              <a:t>定义格式：</a:t>
            </a:r>
            <a:endParaRPr lang="zh-CN" altLang="en-US" b="1" dirty="0"/>
          </a:p>
          <a:p>
            <a:pPr lvl="1" eaLnBrk="1" hangingPunct="1">
              <a:lnSpc>
                <a:spcPct val="90000"/>
              </a:lnSpc>
              <a:buNone/>
            </a:pPr>
            <a:r>
              <a:rPr lang="zh-CN" altLang="en-US" b="1" dirty="0"/>
              <a:t>       </a:t>
            </a:r>
            <a:r>
              <a:rPr lang="en-US" altLang="zh-CN" b="1" dirty="0"/>
              <a:t>struct task_struct *task[NR_TASKS];</a:t>
            </a:r>
            <a:endParaRPr lang="en-US" altLang="zh-CN" b="1" dirty="0"/>
          </a:p>
          <a:p>
            <a:pPr lvl="1" eaLnBrk="1" hangingPunct="1">
              <a:lnSpc>
                <a:spcPct val="90000"/>
              </a:lnSpc>
              <a:buNone/>
            </a:pPr>
            <a:r>
              <a:rPr lang="en-US" altLang="zh-CN" b="1" dirty="0"/>
              <a:t>       </a:t>
            </a:r>
            <a:r>
              <a:rPr lang="zh-CN" altLang="en-US" b="1" dirty="0"/>
              <a:t>其中， </a:t>
            </a:r>
            <a:r>
              <a:rPr lang="en-US" altLang="zh-CN" b="1" dirty="0"/>
              <a:t>NR_TASKS=512</a:t>
            </a:r>
            <a:endParaRPr lang="en-US" altLang="zh-CN" b="1" dirty="0"/>
          </a:p>
          <a:p>
            <a:pPr lvl="1" eaLnBrk="1" hangingPunct="1">
              <a:lnSpc>
                <a:spcPct val="90000"/>
              </a:lnSpc>
            </a:pP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0162"/>
                                        </p:tgtEl>
                                        <p:attrNameLst>
                                          <p:attrName>style.visibility</p:attrName>
                                        </p:attrNameLst>
                                      </p:cBhvr>
                                      <p:to>
                                        <p:strVal val="visible"/>
                                      </p:to>
                                    </p:set>
                                    <p:animEffect transition="in" filter="fade">
                                      <p:cBhvr>
                                        <p:cTn id="7" dur="2000"/>
                                        <p:tgtEl>
                                          <p:spTgt spid="2201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491">
                                            <p:txEl>
                                              <p:charRg st="0" end="33"/>
                                            </p:txEl>
                                          </p:spTgt>
                                        </p:tgtEl>
                                        <p:attrNameLst>
                                          <p:attrName>style.visibility</p:attrName>
                                        </p:attrNameLst>
                                      </p:cBhvr>
                                      <p:to>
                                        <p:strVal val="visible"/>
                                      </p:to>
                                    </p:set>
                                    <p:animEffect transition="in" filter="fade">
                                      <p:cBhvr>
                                        <p:cTn id="12" dur="2000"/>
                                        <p:tgtEl>
                                          <p:spTgt spid="63491">
                                            <p:txEl>
                                              <p:charRg st="0"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3491">
                                            <p:txEl>
                                              <p:charRg st="33" end="66"/>
                                            </p:txEl>
                                          </p:spTgt>
                                        </p:tgtEl>
                                        <p:attrNameLst>
                                          <p:attrName>style.visibility</p:attrName>
                                        </p:attrNameLst>
                                      </p:cBhvr>
                                      <p:to>
                                        <p:strVal val="visible"/>
                                      </p:to>
                                    </p:set>
                                    <p:animEffect transition="in" filter="fade">
                                      <p:cBhvr>
                                        <p:cTn id="17" dur="2000"/>
                                        <p:tgtEl>
                                          <p:spTgt spid="63491">
                                            <p:txEl>
                                              <p:charRg st="33" end="66"/>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3491">
                                            <p:txEl>
                                              <p:charRg st="66" end="72"/>
                                            </p:txEl>
                                          </p:spTgt>
                                        </p:tgtEl>
                                        <p:attrNameLst>
                                          <p:attrName>style.visibility</p:attrName>
                                        </p:attrNameLst>
                                      </p:cBhvr>
                                      <p:to>
                                        <p:strVal val="visible"/>
                                      </p:to>
                                    </p:set>
                                    <p:animEffect transition="in" filter="fade">
                                      <p:cBhvr>
                                        <p:cTn id="20" dur="2000"/>
                                        <p:tgtEl>
                                          <p:spTgt spid="63491">
                                            <p:txEl>
                                              <p:charRg st="66" end="7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3491">
                                            <p:txEl>
                                              <p:charRg st="72" end="115"/>
                                            </p:txEl>
                                          </p:spTgt>
                                        </p:tgtEl>
                                        <p:attrNameLst>
                                          <p:attrName>style.visibility</p:attrName>
                                        </p:attrNameLst>
                                      </p:cBhvr>
                                      <p:to>
                                        <p:strVal val="visible"/>
                                      </p:to>
                                    </p:set>
                                    <p:animEffect transition="in" filter="fade">
                                      <p:cBhvr>
                                        <p:cTn id="23" dur="2000"/>
                                        <p:tgtEl>
                                          <p:spTgt spid="63491">
                                            <p:txEl>
                                              <p:charRg st="72" end="11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3491">
                                            <p:txEl>
                                              <p:charRg st="115" end="139"/>
                                            </p:txEl>
                                          </p:spTgt>
                                        </p:tgtEl>
                                        <p:attrNameLst>
                                          <p:attrName>style.visibility</p:attrName>
                                        </p:attrNameLst>
                                      </p:cBhvr>
                                      <p:to>
                                        <p:strVal val="visible"/>
                                      </p:to>
                                    </p:set>
                                    <p:animEffect transition="in" filter="fade">
                                      <p:cBhvr>
                                        <p:cTn id="26" dur="2000"/>
                                        <p:tgtEl>
                                          <p:spTgt spid="63491">
                                            <p:txEl>
                                              <p:charRg st="115" end="1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2" grpId="0"/>
      <p:bldP spid="6349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91440" tIns="45720" rIns="91440" bIns="45720" anchor="ctr" anchorCtr="0"/>
          <a:p>
            <a:r>
              <a:rPr lang="zh-CN" altLang="en-US" dirty="0"/>
              <a:t>作业 </a:t>
            </a:r>
            <a:r>
              <a:rPr lang="en-US" altLang="zh-CN" dirty="0"/>
              <a:t>2</a:t>
            </a:r>
            <a:r>
              <a:rPr lang="zh-CN" altLang="en-US" dirty="0"/>
              <a:t>：</a:t>
            </a:r>
            <a:endParaRPr lang="zh-CN" altLang="en-US" dirty="0"/>
          </a:p>
        </p:txBody>
      </p:sp>
      <p:sp>
        <p:nvSpPr>
          <p:cNvPr id="56323" name="内容占位符 2"/>
          <p:cNvSpPr>
            <a:spLocks noGrp="1"/>
          </p:cNvSpPr>
          <p:nvPr>
            <p:ph idx="1"/>
          </p:nvPr>
        </p:nvSpPr>
        <p:spPr>
          <a:ln/>
        </p:spPr>
        <p:txBody>
          <a:bodyPr vert="horz" wrap="square" lIns="91440" tIns="45720" rIns="91440" bIns="45720" anchor="t" anchorCtr="0"/>
          <a:p>
            <a:r>
              <a:rPr lang="zh-CN" altLang="en-US" dirty="0"/>
              <a:t>阅读</a:t>
            </a:r>
            <a:r>
              <a:rPr lang="en-US" altLang="zh-CN" dirty="0"/>
              <a:t>Linux 3.0</a:t>
            </a:r>
            <a:r>
              <a:rPr lang="zh-CN" altLang="en-US" dirty="0"/>
              <a:t>以上 版本的内核代码中进程控制块和进程调度的代码，然后回答下面的问题：</a:t>
            </a:r>
            <a:endParaRPr lang="en-US" altLang="zh-CN" dirty="0"/>
          </a:p>
          <a:p>
            <a:pPr lvl="1"/>
            <a:r>
              <a:rPr lang="en-US" altLang="zh-CN" dirty="0"/>
              <a:t>Linux</a:t>
            </a:r>
            <a:r>
              <a:rPr lang="zh-CN" altLang="en-US" dirty="0"/>
              <a:t>的进程控制块的组织方式是什么？</a:t>
            </a:r>
            <a:endParaRPr lang="en-US" altLang="zh-CN" dirty="0"/>
          </a:p>
          <a:p>
            <a:pPr lvl="1"/>
            <a:r>
              <a:rPr lang="zh-CN" altLang="en-US" dirty="0"/>
              <a:t>请问它里面设定了那些进程状态，这些状态代表什么意义？</a:t>
            </a:r>
            <a:endParaRPr lang="en-US" altLang="zh-CN" dirty="0"/>
          </a:p>
          <a:p>
            <a:pPr lvl="1"/>
            <a:r>
              <a:rPr lang="zh-CN" altLang="en-US" dirty="0"/>
              <a:t>状态之间如何转换？并画出状态转换图。</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2.3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进程控制</a:t>
            </a:r>
            <a:endPar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4515" name="Rectangle 3"/>
          <p:cNvSpPr>
            <a:spLocks noGrp="1" noRot="1"/>
          </p:cNvSpPr>
          <p:nvPr>
            <p:ph type="body"/>
          </p:nvPr>
        </p:nvSpPr>
        <p:spPr>
          <a:ln/>
        </p:spPr>
        <p:txBody>
          <a:bodyPr vert="horz" wrap="square" lIns="91440" tIns="45720" rIns="91440" bIns="45720" anchor="t" anchorCtr="0"/>
          <a:p>
            <a:pPr eaLnBrk="1" hangingPunct="1"/>
            <a:r>
              <a:rPr lang="zh-CN" altLang="en-US" b="1" dirty="0">
                <a:solidFill>
                  <a:schemeClr val="folHlink"/>
                </a:solidFill>
              </a:rPr>
              <a:t>进程控制</a:t>
            </a:r>
            <a:endParaRPr lang="zh-CN" altLang="en-US" b="1" dirty="0">
              <a:solidFill>
                <a:schemeClr val="folHlink"/>
              </a:solidFill>
            </a:endParaRPr>
          </a:p>
          <a:p>
            <a:pPr lvl="1" eaLnBrk="1" hangingPunct="1"/>
            <a:r>
              <a:rPr lang="zh-CN" altLang="en-US" b="1" dirty="0"/>
              <a:t>创建一个新进程，终止进程</a:t>
            </a:r>
            <a:endParaRPr lang="zh-CN" altLang="en-US" b="1" dirty="0"/>
          </a:p>
          <a:p>
            <a:pPr lvl="1" eaLnBrk="1" hangingPunct="1"/>
            <a:r>
              <a:rPr lang="zh-CN" altLang="en-US" b="1" dirty="0"/>
              <a:t>进程运行中的状态转换。</a:t>
            </a:r>
            <a:endParaRPr lang="zh-CN" altLang="en-US" b="1" dirty="0"/>
          </a:p>
          <a:p>
            <a:pPr lvl="1" eaLnBrk="1" hangingPunct="1"/>
            <a:endParaRPr lang="zh-CN" altLang="en-US" b="1" dirty="0"/>
          </a:p>
          <a:p>
            <a:pPr eaLnBrk="1" hangingPunct="1"/>
            <a:r>
              <a:rPr lang="zh-CN" altLang="en-US" b="1" dirty="0"/>
              <a:t>进程控制一般是由</a:t>
            </a:r>
            <a:r>
              <a:rPr lang="en-US" altLang="zh-CN" b="1" dirty="0"/>
              <a:t>OS</a:t>
            </a:r>
            <a:r>
              <a:rPr lang="zh-CN" altLang="en-US" b="1" dirty="0"/>
              <a:t>内核中的一组原语来实现的。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3234"/>
                                        </p:tgtEl>
                                        <p:attrNameLst>
                                          <p:attrName>style.visibility</p:attrName>
                                        </p:attrNameLst>
                                      </p:cBhvr>
                                      <p:to>
                                        <p:strVal val="visible"/>
                                      </p:to>
                                    </p:set>
                                    <p:animEffect transition="in" filter="fade">
                                      <p:cBhvr>
                                        <p:cTn id="7" dur="2000"/>
                                        <p:tgtEl>
                                          <p:spTgt spid="223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515">
                                            <p:txEl>
                                              <p:charRg st="0" end="5"/>
                                            </p:txEl>
                                          </p:spTgt>
                                        </p:tgtEl>
                                        <p:attrNameLst>
                                          <p:attrName>style.visibility</p:attrName>
                                        </p:attrNameLst>
                                      </p:cBhvr>
                                      <p:to>
                                        <p:strVal val="visible"/>
                                      </p:to>
                                    </p:set>
                                    <p:animEffect transition="in" filter="fade">
                                      <p:cBhvr>
                                        <p:cTn id="12" dur="2000"/>
                                        <p:tgtEl>
                                          <p:spTgt spid="64515">
                                            <p:txEl>
                                              <p:charRg st="0" end="5"/>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4515">
                                            <p:txEl>
                                              <p:charRg st="5" end="18"/>
                                            </p:txEl>
                                          </p:spTgt>
                                        </p:tgtEl>
                                        <p:attrNameLst>
                                          <p:attrName>style.visibility</p:attrName>
                                        </p:attrNameLst>
                                      </p:cBhvr>
                                      <p:to>
                                        <p:strVal val="visible"/>
                                      </p:to>
                                    </p:set>
                                    <p:animEffect transition="in" filter="fade">
                                      <p:cBhvr>
                                        <p:cTn id="15" dur="2000"/>
                                        <p:tgtEl>
                                          <p:spTgt spid="64515">
                                            <p:txEl>
                                              <p:charRg st="5" end="1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4515">
                                            <p:txEl>
                                              <p:charRg st="18" end="30"/>
                                            </p:txEl>
                                          </p:spTgt>
                                        </p:tgtEl>
                                        <p:attrNameLst>
                                          <p:attrName>style.visibility</p:attrName>
                                        </p:attrNameLst>
                                      </p:cBhvr>
                                      <p:to>
                                        <p:strVal val="visible"/>
                                      </p:to>
                                    </p:set>
                                    <p:animEffect transition="in" filter="fade">
                                      <p:cBhvr>
                                        <p:cTn id="18" dur="2000"/>
                                        <p:tgtEl>
                                          <p:spTgt spid="64515">
                                            <p:txEl>
                                              <p:charRg st="18" end="3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4515">
                                            <p:txEl>
                                              <p:charRg st="31" end="56"/>
                                            </p:txEl>
                                          </p:spTgt>
                                        </p:tgtEl>
                                        <p:attrNameLst>
                                          <p:attrName>style.visibility</p:attrName>
                                        </p:attrNameLst>
                                      </p:cBhvr>
                                      <p:to>
                                        <p:strVal val="visible"/>
                                      </p:to>
                                    </p:set>
                                    <p:animEffect transition="in" filter="fade">
                                      <p:cBhvr>
                                        <p:cTn id="23" dur="2000"/>
                                        <p:tgtEl>
                                          <p:spTgt spid="64515">
                                            <p:txEl>
                                              <p:charRg st="31" end="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p:bldP spid="6451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3"/>
          <p:cNvSpPr>
            <a:spLocks noGrp="1" noRot="1"/>
          </p:cNvSpPr>
          <p:nvPr>
            <p:ph idx="1"/>
          </p:nvPr>
        </p:nvSpPr>
        <p:spPr>
          <a:ln/>
        </p:spPr>
        <p:txBody>
          <a:bodyPr vert="horz" wrap="square" lIns="91440" tIns="45720" rIns="91440" bIns="45720" anchor="t" anchorCtr="0"/>
          <a:p>
            <a:pPr eaLnBrk="1" hangingPunct="1"/>
            <a:r>
              <a:rPr lang="zh-CN" altLang="en-US" b="1" dirty="0">
                <a:solidFill>
                  <a:srgbClr val="0066FF"/>
                </a:solidFill>
              </a:rPr>
              <a:t>什么是原语？</a:t>
            </a:r>
            <a:endParaRPr lang="zh-CN" altLang="en-US" b="1" dirty="0">
              <a:solidFill>
                <a:srgbClr val="0066FF"/>
              </a:solidFill>
            </a:endParaRPr>
          </a:p>
          <a:p>
            <a:pPr eaLnBrk="1" hangingPunct="1"/>
            <a:r>
              <a:rPr lang="zh-CN" altLang="en-US" b="1" dirty="0"/>
              <a:t>原语是由若干条指令组成的，用于完成一定功能的一个过程。是“原子操作”，即一个操作中的所有动作要么全做，要么全不做，换言之，是</a:t>
            </a:r>
            <a:r>
              <a:rPr lang="zh-CN" altLang="en-US" b="1" dirty="0">
                <a:solidFill>
                  <a:srgbClr val="FF0000"/>
                </a:solidFill>
              </a:rPr>
              <a:t>一个不可分割的基本单位</a:t>
            </a:r>
            <a:r>
              <a:rPr lang="zh-CN" altLang="en-US" b="1" dirty="0"/>
              <a:t>，在执行过程中</a:t>
            </a:r>
            <a:r>
              <a:rPr lang="zh-CN" altLang="en-US" b="1" dirty="0">
                <a:solidFill>
                  <a:srgbClr val="FF0000"/>
                </a:solidFill>
              </a:rPr>
              <a:t>不允许被中断</a:t>
            </a:r>
            <a:r>
              <a:rPr lang="zh-CN" altLang="en-US" b="1" dirty="0"/>
              <a:t>。</a:t>
            </a:r>
            <a:endParaRPr lang="zh-CN" altLang="en-US" b="1" dirty="0"/>
          </a:p>
        </p:txBody>
      </p:sp>
      <p:sp>
        <p:nvSpPr>
          <p:cNvPr id="58371" name="标题 1"/>
          <p:cNvSpPr>
            <a:spLocks noGrp="1"/>
          </p:cNvSpPr>
          <p:nvPr>
            <p:ph type="title"/>
          </p:nvPr>
        </p:nvSpPr>
        <p:spPr>
          <a:ln/>
        </p:spPr>
        <p:txBody>
          <a:bodyPr vert="horz" wrap="square" lIns="91440" tIns="45720" rIns="91440" bIns="45720" anchor="ctr" anchorCtr="0"/>
          <a:p>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2.3.2  </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进程的</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创建</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6563" name="Rectangle 3"/>
          <p:cNvSpPr>
            <a:spLocks noGrp="1" noRot="1"/>
          </p:cNvSpPr>
          <p:nvPr>
            <p:ph type="body"/>
          </p:nvPr>
        </p:nvSpPr>
        <p:spPr>
          <a:xfrm>
            <a:off x="304800" y="1752600"/>
            <a:ext cx="8534400" cy="4114800"/>
          </a:xfrm>
          <a:ln/>
        </p:spPr>
        <p:txBody>
          <a:bodyPr vert="horz" wrap="square" lIns="91440" tIns="45720" rIns="91440" bIns="45720" anchor="t" anchorCtr="0"/>
          <a:p>
            <a:pPr algn="just" eaLnBrk="1" hangingPunct="1">
              <a:buNone/>
            </a:pPr>
            <a:r>
              <a:rPr lang="en-US" altLang="zh-CN" dirty="0"/>
              <a:t> </a:t>
            </a:r>
            <a:r>
              <a:rPr lang="en-US" altLang="zh-CN" b="1" dirty="0">
                <a:solidFill>
                  <a:srgbClr val="FF0000"/>
                </a:solidFill>
              </a:rPr>
              <a:t>1</a:t>
            </a:r>
            <a:r>
              <a:rPr lang="zh-CN" altLang="en-US" b="1" dirty="0">
                <a:solidFill>
                  <a:srgbClr val="FF0000"/>
                </a:solidFill>
              </a:rPr>
              <a:t>．进程图（</a:t>
            </a:r>
            <a:r>
              <a:rPr lang="en-US" altLang="zh-CN" b="1" dirty="0">
                <a:solidFill>
                  <a:srgbClr val="FF0000"/>
                </a:solidFill>
              </a:rPr>
              <a:t>Process  Graph</a:t>
            </a:r>
            <a:r>
              <a:rPr lang="zh-CN" altLang="en-US" b="1" dirty="0">
                <a:solidFill>
                  <a:srgbClr val="FF0000"/>
                </a:solidFill>
              </a:rPr>
              <a:t>）</a:t>
            </a:r>
            <a:endParaRPr lang="zh-CN" altLang="en-US" b="1" dirty="0">
              <a:solidFill>
                <a:srgbClr val="FF0000"/>
              </a:solidFill>
            </a:endParaRPr>
          </a:p>
          <a:p>
            <a:pPr lvl="1" eaLnBrk="1" hangingPunct="1"/>
            <a:r>
              <a:rPr lang="zh-CN" altLang="en-US" b="1" dirty="0"/>
              <a:t>进程图是用于描述一个进程的家族关系的有向树。</a:t>
            </a:r>
            <a:endParaRPr lang="zh-CN" altLang="en-US" b="1" dirty="0"/>
          </a:p>
          <a:p>
            <a:pPr lvl="1" eaLnBrk="1" hangingPunct="1"/>
            <a:r>
              <a:rPr lang="zh-CN" altLang="en-US" b="1" dirty="0"/>
              <a:t>子进程可以继承父进程所拥有的资源。</a:t>
            </a:r>
            <a:endParaRPr lang="zh-CN" altLang="en-US" b="1" dirty="0"/>
          </a:p>
          <a:p>
            <a:pPr lvl="1" eaLnBrk="1" hangingPunct="1"/>
            <a:r>
              <a:rPr lang="zh-CN" altLang="en-US" b="1" dirty="0"/>
              <a:t>当子进程被撤消时，应将其从父进程那里获得的资源归还给父进程。 </a:t>
            </a:r>
            <a:endParaRPr lang="zh-CN" altLang="en-US" b="1" dirty="0"/>
          </a:p>
          <a:p>
            <a:pPr lvl="1" eaLnBrk="1" hangingPunct="1"/>
            <a:r>
              <a:rPr lang="zh-CN" altLang="en-US" b="1" dirty="0"/>
              <a:t>在撤消父进程时，也必须同时撤消其所有的子进程。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4258"/>
                                        </p:tgtEl>
                                        <p:attrNameLst>
                                          <p:attrName>style.visibility</p:attrName>
                                        </p:attrNameLst>
                                      </p:cBhvr>
                                      <p:to>
                                        <p:strVal val="visible"/>
                                      </p:to>
                                    </p:set>
                                    <p:animEffect transition="in" filter="fade">
                                      <p:cBhvr>
                                        <p:cTn id="7" dur="2000"/>
                                        <p:tgtEl>
                                          <p:spTgt spid="2242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6563">
                                            <p:txEl>
                                              <p:charRg st="0" end="23"/>
                                            </p:txEl>
                                          </p:spTgt>
                                        </p:tgtEl>
                                        <p:attrNameLst>
                                          <p:attrName>style.visibility</p:attrName>
                                        </p:attrNameLst>
                                      </p:cBhvr>
                                      <p:to>
                                        <p:strVal val="visible"/>
                                      </p:to>
                                    </p:set>
                                    <p:animEffect transition="in" filter="fade">
                                      <p:cBhvr>
                                        <p:cTn id="12" dur="2000"/>
                                        <p:tgtEl>
                                          <p:spTgt spid="66563">
                                            <p:txEl>
                                              <p:charRg st="0" end="2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6563">
                                            <p:txEl>
                                              <p:charRg st="23" end="46"/>
                                            </p:txEl>
                                          </p:spTgt>
                                        </p:tgtEl>
                                        <p:attrNameLst>
                                          <p:attrName>style.visibility</p:attrName>
                                        </p:attrNameLst>
                                      </p:cBhvr>
                                      <p:to>
                                        <p:strVal val="visible"/>
                                      </p:to>
                                    </p:set>
                                    <p:animEffect transition="in" filter="fade">
                                      <p:cBhvr>
                                        <p:cTn id="15" dur="2000"/>
                                        <p:tgtEl>
                                          <p:spTgt spid="66563">
                                            <p:txEl>
                                              <p:charRg st="23" end="46"/>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6563">
                                            <p:txEl>
                                              <p:charRg st="46" end="64"/>
                                            </p:txEl>
                                          </p:spTgt>
                                        </p:tgtEl>
                                        <p:attrNameLst>
                                          <p:attrName>style.visibility</p:attrName>
                                        </p:attrNameLst>
                                      </p:cBhvr>
                                      <p:to>
                                        <p:strVal val="visible"/>
                                      </p:to>
                                    </p:set>
                                    <p:animEffect transition="in" filter="fade">
                                      <p:cBhvr>
                                        <p:cTn id="18" dur="2000"/>
                                        <p:tgtEl>
                                          <p:spTgt spid="66563">
                                            <p:txEl>
                                              <p:charRg st="46" end="6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6563">
                                            <p:txEl>
                                              <p:charRg st="64" end="96"/>
                                            </p:txEl>
                                          </p:spTgt>
                                        </p:tgtEl>
                                        <p:attrNameLst>
                                          <p:attrName>style.visibility</p:attrName>
                                        </p:attrNameLst>
                                      </p:cBhvr>
                                      <p:to>
                                        <p:strVal val="visible"/>
                                      </p:to>
                                    </p:set>
                                    <p:animEffect transition="in" filter="fade">
                                      <p:cBhvr>
                                        <p:cTn id="21" dur="2000"/>
                                        <p:tgtEl>
                                          <p:spTgt spid="66563">
                                            <p:txEl>
                                              <p:charRg st="64" end="96"/>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6563">
                                            <p:txEl>
                                              <p:charRg st="96" end="121"/>
                                            </p:txEl>
                                          </p:spTgt>
                                        </p:tgtEl>
                                        <p:attrNameLst>
                                          <p:attrName>style.visibility</p:attrName>
                                        </p:attrNameLst>
                                      </p:cBhvr>
                                      <p:to>
                                        <p:strVal val="visible"/>
                                      </p:to>
                                    </p:set>
                                    <p:animEffect transition="in" filter="fade">
                                      <p:cBhvr>
                                        <p:cTn id="24" dur="2000"/>
                                        <p:tgtEl>
                                          <p:spTgt spid="66563">
                                            <p:txEl>
                                              <p:charRg st="96" end="1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p:bldP spid="6656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0418" name="Picture 4"/>
          <p:cNvPicPr>
            <a:picLocks noChangeAspect="1"/>
          </p:cNvPicPr>
          <p:nvPr/>
        </p:nvPicPr>
        <p:blipFill>
          <a:blip r:embed="rId1"/>
          <a:stretch>
            <a:fillRect/>
          </a:stretch>
        </p:blipFill>
        <p:spPr>
          <a:xfrm>
            <a:off x="685800" y="685800"/>
            <a:ext cx="7315200" cy="4533900"/>
          </a:xfrm>
          <a:prstGeom prst="rect">
            <a:avLst/>
          </a:prstGeom>
          <a:noFill/>
          <a:ln w="9525">
            <a:noFill/>
          </a:ln>
        </p:spPr>
      </p:pic>
      <p:sp>
        <p:nvSpPr>
          <p:cNvPr id="60419" name="Text Box 5"/>
          <p:cNvSpPr txBox="1"/>
          <p:nvPr/>
        </p:nvSpPr>
        <p:spPr>
          <a:xfrm>
            <a:off x="3886200" y="5486400"/>
            <a:ext cx="18288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dirty="0"/>
              <a:t>进程图</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2"/>
          <p:cNvSpPr>
            <a:spLocks noGrp="1" noRot="1" noChangeArrowheads="1"/>
          </p:cNvSpPr>
          <p:nvPr>
            <p:ph type="title"/>
          </p:nvPr>
        </p:nvSpPr>
        <p:spPr>
          <a:xfrm>
            <a:off x="304800" y="457200"/>
            <a:ext cx="7772400" cy="838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引起创建进程的事件</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8611" name="Rectangle 3"/>
          <p:cNvSpPr>
            <a:spLocks noGrp="1" noRot="1"/>
          </p:cNvSpPr>
          <p:nvPr>
            <p:ph type="body"/>
          </p:nvPr>
        </p:nvSpPr>
        <p:spPr>
          <a:xfrm>
            <a:off x="304800" y="1676400"/>
            <a:ext cx="8686800" cy="4495800"/>
          </a:xfrm>
          <a:ln/>
        </p:spPr>
        <p:txBody>
          <a:bodyPr vert="horz" wrap="square" lIns="91440" tIns="45720" rIns="91440" bIns="45720" anchor="t" anchorCtr="0"/>
          <a:p>
            <a:pPr algn="just" eaLnBrk="1" hangingPunct="1"/>
            <a:r>
              <a:rPr lang="zh-CN" altLang="en-US" b="1" dirty="0">
                <a:latin typeface="楷体_GB2312" pitchFamily="49" charset="-122"/>
                <a:ea typeface="楷体_GB2312" pitchFamily="49" charset="-122"/>
              </a:rPr>
              <a:t>导致一个进程去创建另一个进程的典型事件，可有以下四类：</a:t>
            </a:r>
            <a:endParaRPr lang="zh-CN" altLang="en-US" b="1" dirty="0">
              <a:latin typeface="楷体_GB2312" pitchFamily="49" charset="-122"/>
              <a:ea typeface="楷体_GB2312" pitchFamily="49" charset="-122"/>
            </a:endParaRPr>
          </a:p>
          <a:p>
            <a:pPr lvl="1" algn="just" eaLnBrk="1" hangingPunct="1">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用户登录</a:t>
            </a:r>
            <a:r>
              <a:rPr lang="zh-CN" altLang="en-US" b="1" dirty="0">
                <a:latin typeface="楷体_GB2312" pitchFamily="49" charset="-122"/>
                <a:ea typeface="楷体_GB2312" pitchFamily="49" charset="-122"/>
              </a:rPr>
              <a:t>。分时系统中，用户通过终端登录成功后，系统将为用户建立一个进程。</a:t>
            </a:r>
            <a:endParaRPr lang="zh-CN" altLang="en-US" b="1" dirty="0">
              <a:latin typeface="楷体_GB2312" pitchFamily="49" charset="-122"/>
              <a:ea typeface="楷体_GB2312" pitchFamily="49" charset="-122"/>
            </a:endParaRPr>
          </a:p>
          <a:p>
            <a:pPr lvl="1" algn="just" eaLnBrk="1" hangingPunct="1">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作业调度</a:t>
            </a:r>
            <a:r>
              <a:rPr lang="zh-CN" altLang="en-US" b="1" dirty="0">
                <a:latin typeface="楷体_GB2312" pitchFamily="49" charset="-122"/>
                <a:ea typeface="楷体_GB2312" pitchFamily="49" charset="-122"/>
              </a:rPr>
              <a:t>。将作业调入内存后，创建进程。</a:t>
            </a:r>
            <a:endParaRPr lang="zh-CN" altLang="en-US" b="1" dirty="0">
              <a:latin typeface="楷体_GB2312" pitchFamily="49" charset="-122"/>
              <a:ea typeface="楷体_GB2312" pitchFamily="49" charset="-122"/>
            </a:endParaRPr>
          </a:p>
          <a:p>
            <a:pPr lvl="1" algn="just" eaLnBrk="1" hangingPunct="1">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提供服务</a:t>
            </a:r>
            <a:r>
              <a:rPr lang="zh-CN" altLang="en-US" b="1" dirty="0">
                <a:latin typeface="楷体_GB2312" pitchFamily="49" charset="-122"/>
                <a:ea typeface="楷体_GB2312" pitchFamily="49" charset="-122"/>
              </a:rPr>
              <a:t>。例如：</a:t>
            </a:r>
            <a:r>
              <a:rPr lang="en-US" altLang="zh-CN" b="1" dirty="0">
                <a:latin typeface="楷体_GB2312" pitchFamily="49" charset="-122"/>
                <a:ea typeface="楷体_GB2312" pitchFamily="49" charset="-122"/>
              </a:rPr>
              <a:t>I/O</a:t>
            </a:r>
            <a:r>
              <a:rPr lang="zh-CN" altLang="en-US" b="1" dirty="0">
                <a:latin typeface="楷体_GB2312" pitchFamily="49" charset="-122"/>
                <a:ea typeface="楷体_GB2312" pitchFamily="49" charset="-122"/>
              </a:rPr>
              <a:t>请求，打印进程等。</a:t>
            </a:r>
            <a:endParaRPr lang="zh-CN" altLang="en-US" b="1" dirty="0">
              <a:latin typeface="楷体_GB2312" pitchFamily="49" charset="-122"/>
              <a:ea typeface="楷体_GB2312" pitchFamily="49" charset="-122"/>
            </a:endParaRPr>
          </a:p>
          <a:p>
            <a:pPr lvl="1" algn="just" eaLnBrk="1" hangingPunct="1">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应用请求</a:t>
            </a:r>
            <a:r>
              <a:rPr lang="zh-CN" altLang="en-US" b="1" dirty="0">
                <a:latin typeface="楷体_GB2312" pitchFamily="49" charset="-122"/>
                <a:ea typeface="楷体_GB2312" pitchFamily="49" charset="-122"/>
              </a:rPr>
              <a:t>。基于应用进程的需求，由它自己创建一个新进程，以便使新进程以并发运行方式完成特定任务。</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6306"/>
                                        </p:tgtEl>
                                        <p:attrNameLst>
                                          <p:attrName>style.visibility</p:attrName>
                                        </p:attrNameLst>
                                      </p:cBhvr>
                                      <p:to>
                                        <p:strVal val="visible"/>
                                      </p:to>
                                    </p:set>
                                    <p:animEffect transition="in" filter="fade">
                                      <p:cBhvr>
                                        <p:cTn id="7" dur="2000"/>
                                        <p:tgtEl>
                                          <p:spTgt spid="2263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8611">
                                            <p:txEl>
                                              <p:charRg st="0" end="28"/>
                                            </p:txEl>
                                          </p:spTgt>
                                        </p:tgtEl>
                                        <p:attrNameLst>
                                          <p:attrName>style.visibility</p:attrName>
                                        </p:attrNameLst>
                                      </p:cBhvr>
                                      <p:to>
                                        <p:strVal val="visible"/>
                                      </p:to>
                                    </p:set>
                                    <p:animEffect transition="in" filter="fade">
                                      <p:cBhvr>
                                        <p:cTn id="12" dur="2000"/>
                                        <p:tgtEl>
                                          <p:spTgt spid="68611">
                                            <p:txEl>
                                              <p:charRg st="0" end="2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8611">
                                            <p:txEl>
                                              <p:charRg st="28" end="68"/>
                                            </p:txEl>
                                          </p:spTgt>
                                        </p:tgtEl>
                                        <p:attrNameLst>
                                          <p:attrName>style.visibility</p:attrName>
                                        </p:attrNameLst>
                                      </p:cBhvr>
                                      <p:to>
                                        <p:strVal val="visible"/>
                                      </p:to>
                                    </p:set>
                                    <p:animEffect transition="in" filter="fade">
                                      <p:cBhvr>
                                        <p:cTn id="15" dur="2000"/>
                                        <p:tgtEl>
                                          <p:spTgt spid="68611">
                                            <p:txEl>
                                              <p:charRg st="28" end="6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8611">
                                            <p:txEl>
                                              <p:charRg st="68" end="91"/>
                                            </p:txEl>
                                          </p:spTgt>
                                        </p:tgtEl>
                                        <p:attrNameLst>
                                          <p:attrName>style.visibility</p:attrName>
                                        </p:attrNameLst>
                                      </p:cBhvr>
                                      <p:to>
                                        <p:strVal val="visible"/>
                                      </p:to>
                                    </p:set>
                                    <p:animEffect transition="in" filter="fade">
                                      <p:cBhvr>
                                        <p:cTn id="18" dur="2000"/>
                                        <p:tgtEl>
                                          <p:spTgt spid="68611">
                                            <p:txEl>
                                              <p:charRg st="68" end="9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8611">
                                            <p:txEl>
                                              <p:charRg st="91" end="115"/>
                                            </p:txEl>
                                          </p:spTgt>
                                        </p:tgtEl>
                                        <p:attrNameLst>
                                          <p:attrName>style.visibility</p:attrName>
                                        </p:attrNameLst>
                                      </p:cBhvr>
                                      <p:to>
                                        <p:strVal val="visible"/>
                                      </p:to>
                                    </p:set>
                                    <p:animEffect transition="in" filter="fade">
                                      <p:cBhvr>
                                        <p:cTn id="21" dur="2000"/>
                                        <p:tgtEl>
                                          <p:spTgt spid="68611">
                                            <p:txEl>
                                              <p:charRg st="91" end="11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8611">
                                            <p:txEl>
                                              <p:charRg st="115" end="166"/>
                                            </p:txEl>
                                          </p:spTgt>
                                        </p:tgtEl>
                                        <p:attrNameLst>
                                          <p:attrName>style.visibility</p:attrName>
                                        </p:attrNameLst>
                                      </p:cBhvr>
                                      <p:to>
                                        <p:strVal val="visible"/>
                                      </p:to>
                                    </p:set>
                                    <p:animEffect transition="in" filter="fade">
                                      <p:cBhvr>
                                        <p:cTn id="24" dur="2000"/>
                                        <p:tgtEl>
                                          <p:spTgt spid="68611">
                                            <p:txEl>
                                              <p:charRg st="115" end="1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p:bldP spid="68611"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Rectangle 2"/>
          <p:cNvSpPr>
            <a:spLocks noGrp="1" noRot="1" noChangeArrowheads="1"/>
          </p:cNvSpPr>
          <p:nvPr>
            <p:ph type="title"/>
          </p:nvPr>
        </p:nvSpPr>
        <p:spPr>
          <a:xfrm>
            <a:off x="301625" y="355600"/>
            <a:ext cx="6802438" cy="6985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进程的创建</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9635" name="Rectangle 3"/>
          <p:cNvSpPr>
            <a:spLocks noGrp="1" noRot="1"/>
          </p:cNvSpPr>
          <p:nvPr>
            <p:ph type="body"/>
          </p:nvPr>
        </p:nvSpPr>
        <p:spPr>
          <a:xfrm>
            <a:off x="381000" y="1524000"/>
            <a:ext cx="8305800" cy="4800600"/>
          </a:xfrm>
          <a:ln/>
        </p:spPr>
        <p:txBody>
          <a:bodyPr vert="horz" wrap="square" lIns="91440" tIns="45720" rIns="91440" bIns="45720" anchor="t" anchorCtr="0"/>
          <a:p>
            <a:pPr marL="387350" indent="-387350" algn="just" eaLnBrk="1" hangingPunct="1">
              <a:lnSpc>
                <a:spcPct val="90000"/>
              </a:lnSpc>
            </a:pPr>
            <a:r>
              <a:rPr lang="zh-CN" altLang="en-US" sz="3600" b="1" dirty="0">
                <a:solidFill>
                  <a:schemeClr val="folHlink"/>
                </a:solidFill>
              </a:rPr>
              <a:t>调用进程创建原语步骤：</a:t>
            </a:r>
            <a:endParaRPr lang="zh-CN" altLang="en-US" sz="3600" b="1" dirty="0">
              <a:solidFill>
                <a:schemeClr val="folHlink"/>
              </a:solidFill>
            </a:endParaRPr>
          </a:p>
          <a:p>
            <a:pPr marL="1339850" lvl="1" indent="-762000" algn="just" eaLnBrk="1" hangingPunct="1">
              <a:lnSpc>
                <a:spcPct val="90000"/>
              </a:lnSpc>
              <a:buNone/>
            </a:pPr>
            <a:r>
              <a:rPr lang="zh-CN" altLang="en-US" b="1" dirty="0">
                <a:solidFill>
                  <a:srgbClr val="0066FF"/>
                </a:solidFill>
              </a:rPr>
              <a:t>（</a:t>
            </a:r>
            <a:r>
              <a:rPr lang="en-US" altLang="zh-CN" b="1" dirty="0">
                <a:solidFill>
                  <a:srgbClr val="0066FF"/>
                </a:solidFill>
              </a:rPr>
              <a:t>1</a:t>
            </a:r>
            <a:r>
              <a:rPr lang="zh-CN" altLang="en-US" b="1" dirty="0">
                <a:solidFill>
                  <a:srgbClr val="0066FF"/>
                </a:solidFill>
              </a:rPr>
              <a:t>）申请空白</a:t>
            </a:r>
            <a:r>
              <a:rPr lang="en-US" altLang="zh-CN" b="1" dirty="0">
                <a:solidFill>
                  <a:srgbClr val="0066FF"/>
                </a:solidFill>
              </a:rPr>
              <a:t>PCB</a:t>
            </a:r>
            <a:r>
              <a:rPr lang="zh-CN" altLang="en-US" b="1" dirty="0">
                <a:solidFill>
                  <a:srgbClr val="0066FF"/>
                </a:solidFill>
              </a:rPr>
              <a:t>。   </a:t>
            </a:r>
            <a:endParaRPr lang="zh-CN" altLang="en-US" b="1" dirty="0">
              <a:solidFill>
                <a:srgbClr val="0066FF"/>
              </a:solidFill>
            </a:endParaRPr>
          </a:p>
          <a:p>
            <a:pPr marL="1339850" lvl="1" indent="-762000" algn="just" eaLnBrk="1" hangingPunct="1">
              <a:lnSpc>
                <a:spcPct val="90000"/>
              </a:lnSpc>
              <a:buNone/>
            </a:pPr>
            <a:r>
              <a:rPr lang="zh-CN" altLang="en-US" b="1" dirty="0">
                <a:solidFill>
                  <a:srgbClr val="0066FF"/>
                </a:solidFill>
              </a:rPr>
              <a:t>（</a:t>
            </a:r>
            <a:r>
              <a:rPr lang="en-US" altLang="zh-CN" b="1" dirty="0">
                <a:solidFill>
                  <a:srgbClr val="0066FF"/>
                </a:solidFill>
              </a:rPr>
              <a:t>2</a:t>
            </a:r>
            <a:r>
              <a:rPr lang="zh-CN" altLang="en-US" b="1" dirty="0">
                <a:solidFill>
                  <a:srgbClr val="0066FF"/>
                </a:solidFill>
              </a:rPr>
              <a:t>）为新进程分配资源。</a:t>
            </a:r>
            <a:endParaRPr lang="zh-CN" altLang="en-US" b="1" dirty="0">
              <a:solidFill>
                <a:srgbClr val="0066FF"/>
              </a:solidFill>
            </a:endParaRPr>
          </a:p>
          <a:p>
            <a:pPr marL="1339850" lvl="1" indent="-762000" algn="just" eaLnBrk="1" hangingPunct="1">
              <a:lnSpc>
                <a:spcPct val="90000"/>
              </a:lnSpc>
              <a:buNone/>
            </a:pPr>
            <a:r>
              <a:rPr lang="zh-CN" altLang="en-US" b="1" dirty="0">
                <a:solidFill>
                  <a:srgbClr val="0066FF"/>
                </a:solidFill>
              </a:rPr>
              <a:t>（</a:t>
            </a:r>
            <a:r>
              <a:rPr lang="en-US" altLang="zh-CN" b="1" dirty="0">
                <a:solidFill>
                  <a:srgbClr val="0066FF"/>
                </a:solidFill>
              </a:rPr>
              <a:t>3</a:t>
            </a:r>
            <a:r>
              <a:rPr lang="zh-CN" altLang="en-US" b="1" dirty="0">
                <a:solidFill>
                  <a:srgbClr val="0066FF"/>
                </a:solidFill>
              </a:rPr>
              <a:t>）初始化进程控制块。</a:t>
            </a:r>
            <a:endParaRPr lang="zh-CN" altLang="en-US" b="1" dirty="0">
              <a:solidFill>
                <a:srgbClr val="0066FF"/>
              </a:solidFill>
            </a:endParaRPr>
          </a:p>
          <a:p>
            <a:pPr marL="1847850" lvl="2" algn="just" eaLnBrk="1" hangingPunct="1">
              <a:lnSpc>
                <a:spcPct val="90000"/>
              </a:lnSpc>
              <a:buNone/>
            </a:pPr>
            <a:r>
              <a:rPr lang="zh-CN" altLang="en-US" b="1" dirty="0"/>
              <a:t>①初始化标识信息。</a:t>
            </a:r>
            <a:endParaRPr lang="zh-CN" altLang="en-US" b="1" dirty="0"/>
          </a:p>
          <a:p>
            <a:pPr marL="1847850" lvl="2" algn="just" eaLnBrk="1" hangingPunct="1">
              <a:lnSpc>
                <a:spcPct val="90000"/>
              </a:lnSpc>
              <a:buNone/>
            </a:pPr>
            <a:r>
              <a:rPr lang="zh-CN" altLang="en-US" b="1" dirty="0"/>
              <a:t>②初始化处理机状态信息。使程序计数器指向程序的入口地址，使栈指针指向栈顶；</a:t>
            </a:r>
            <a:endParaRPr lang="zh-CN" altLang="en-US" b="1" dirty="0"/>
          </a:p>
          <a:p>
            <a:pPr marL="1847850" lvl="2" algn="just" eaLnBrk="1" hangingPunct="1">
              <a:lnSpc>
                <a:spcPct val="90000"/>
              </a:lnSpc>
              <a:buNone/>
            </a:pPr>
            <a:r>
              <a:rPr lang="zh-CN" altLang="en-US" b="1" dirty="0"/>
              <a:t>③初始化处理机控制信息：进程的状态、优先级。</a:t>
            </a:r>
            <a:endParaRPr lang="zh-CN" altLang="en-US" b="1" dirty="0"/>
          </a:p>
          <a:p>
            <a:pPr marL="1339850" lvl="1" indent="-762000" eaLnBrk="1" hangingPunct="1">
              <a:lnSpc>
                <a:spcPct val="90000"/>
              </a:lnSpc>
              <a:buNone/>
            </a:pPr>
            <a:r>
              <a:rPr lang="zh-CN" altLang="en-US" b="1" dirty="0">
                <a:solidFill>
                  <a:srgbClr val="0066FF"/>
                </a:solidFill>
              </a:rPr>
              <a:t> （</a:t>
            </a:r>
            <a:r>
              <a:rPr lang="en-US" altLang="zh-CN" b="1" dirty="0">
                <a:solidFill>
                  <a:srgbClr val="0066FF"/>
                </a:solidFill>
              </a:rPr>
              <a:t>4</a:t>
            </a:r>
            <a:r>
              <a:rPr lang="zh-CN" altLang="en-US" b="1" dirty="0">
                <a:solidFill>
                  <a:srgbClr val="0066FF"/>
                </a:solidFill>
              </a:rPr>
              <a:t>）将新进程插入就绪队列，</a:t>
            </a:r>
            <a:r>
              <a:rPr lang="zh-CN" altLang="en-US" b="1" dirty="0">
                <a:solidFill>
                  <a:schemeClr val="folHlink"/>
                </a:solidFill>
              </a:rPr>
              <a:t>启动调度</a:t>
            </a:r>
            <a:r>
              <a:rPr lang="zh-CN" altLang="en-US" b="1" dirty="0"/>
              <a:t>。</a:t>
            </a:r>
            <a:endParaRPr lang="zh-CN" altLang="en-US" b="1" dirty="0"/>
          </a:p>
          <a:p>
            <a:pPr marL="387350" indent="-387350" eaLnBrk="1" hangingPunct="1">
              <a:lnSpc>
                <a:spcPct val="90000"/>
              </a:lnSpc>
            </a:pPr>
            <a:r>
              <a:rPr lang="en-US" altLang="zh-CN" b="1" dirty="0"/>
              <a:t>UNIX</a:t>
            </a:r>
            <a:r>
              <a:rPr lang="zh-CN" altLang="en-US" b="1" dirty="0"/>
              <a:t>用</a:t>
            </a:r>
            <a:r>
              <a:rPr lang="en-US" altLang="zh-CN" b="1" dirty="0"/>
              <a:t>fork()</a:t>
            </a:r>
            <a:r>
              <a:rPr lang="zh-CN" altLang="en-US" b="1" dirty="0"/>
              <a:t>函数创建进程</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330"/>
                                        </p:tgtEl>
                                        <p:attrNameLst>
                                          <p:attrName>style.visibility</p:attrName>
                                        </p:attrNameLst>
                                      </p:cBhvr>
                                      <p:to>
                                        <p:strVal val="visible"/>
                                      </p:to>
                                    </p:set>
                                    <p:animEffect transition="in" filter="fade">
                                      <p:cBhvr>
                                        <p:cTn id="7" dur="2000"/>
                                        <p:tgtEl>
                                          <p:spTgt spid="2273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9635">
                                            <p:txEl>
                                              <p:charRg st="0" end="12"/>
                                            </p:txEl>
                                          </p:spTgt>
                                        </p:tgtEl>
                                        <p:attrNameLst>
                                          <p:attrName>style.visibility</p:attrName>
                                        </p:attrNameLst>
                                      </p:cBhvr>
                                      <p:to>
                                        <p:strVal val="visible"/>
                                      </p:to>
                                    </p:set>
                                    <p:animEffect transition="in" filter="fade">
                                      <p:cBhvr>
                                        <p:cTn id="12" dur="2000"/>
                                        <p:tgtEl>
                                          <p:spTgt spid="69635">
                                            <p:txEl>
                                              <p:charRg st="0" end="1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9635">
                                            <p:txEl>
                                              <p:charRg st="12" end="27"/>
                                            </p:txEl>
                                          </p:spTgt>
                                        </p:tgtEl>
                                        <p:attrNameLst>
                                          <p:attrName>style.visibility</p:attrName>
                                        </p:attrNameLst>
                                      </p:cBhvr>
                                      <p:to>
                                        <p:strVal val="visible"/>
                                      </p:to>
                                    </p:set>
                                    <p:animEffect transition="in" filter="fade">
                                      <p:cBhvr>
                                        <p:cTn id="15" dur="2000"/>
                                        <p:tgtEl>
                                          <p:spTgt spid="69635">
                                            <p:txEl>
                                              <p:charRg st="12" end="2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9635">
                                            <p:txEl>
                                              <p:charRg st="27" end="40"/>
                                            </p:txEl>
                                          </p:spTgt>
                                        </p:tgtEl>
                                        <p:attrNameLst>
                                          <p:attrName>style.visibility</p:attrName>
                                        </p:attrNameLst>
                                      </p:cBhvr>
                                      <p:to>
                                        <p:strVal val="visible"/>
                                      </p:to>
                                    </p:set>
                                    <p:animEffect transition="in" filter="fade">
                                      <p:cBhvr>
                                        <p:cTn id="18" dur="2000"/>
                                        <p:tgtEl>
                                          <p:spTgt spid="69635">
                                            <p:txEl>
                                              <p:charRg st="27" end="4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9635">
                                            <p:txEl>
                                              <p:charRg st="40" end="53"/>
                                            </p:txEl>
                                          </p:spTgt>
                                        </p:tgtEl>
                                        <p:attrNameLst>
                                          <p:attrName>style.visibility</p:attrName>
                                        </p:attrNameLst>
                                      </p:cBhvr>
                                      <p:to>
                                        <p:strVal val="visible"/>
                                      </p:to>
                                    </p:set>
                                    <p:animEffect transition="in" filter="fade">
                                      <p:cBhvr>
                                        <p:cTn id="21" dur="2000"/>
                                        <p:tgtEl>
                                          <p:spTgt spid="69635">
                                            <p:txEl>
                                              <p:charRg st="40" end="5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9635">
                                            <p:txEl>
                                              <p:charRg st="53" end="63"/>
                                            </p:txEl>
                                          </p:spTgt>
                                        </p:tgtEl>
                                        <p:attrNameLst>
                                          <p:attrName>style.visibility</p:attrName>
                                        </p:attrNameLst>
                                      </p:cBhvr>
                                      <p:to>
                                        <p:strVal val="visible"/>
                                      </p:to>
                                    </p:set>
                                    <p:animEffect transition="in" filter="fade">
                                      <p:cBhvr>
                                        <p:cTn id="24" dur="2000"/>
                                        <p:tgtEl>
                                          <p:spTgt spid="69635">
                                            <p:txEl>
                                              <p:charRg st="53" end="6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9635">
                                            <p:txEl>
                                              <p:charRg st="63" end="101"/>
                                            </p:txEl>
                                          </p:spTgt>
                                        </p:tgtEl>
                                        <p:attrNameLst>
                                          <p:attrName>style.visibility</p:attrName>
                                        </p:attrNameLst>
                                      </p:cBhvr>
                                      <p:to>
                                        <p:strVal val="visible"/>
                                      </p:to>
                                    </p:set>
                                    <p:animEffect transition="in" filter="fade">
                                      <p:cBhvr>
                                        <p:cTn id="27" dur="2000"/>
                                        <p:tgtEl>
                                          <p:spTgt spid="69635">
                                            <p:txEl>
                                              <p:charRg st="63" end="10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9635">
                                            <p:txEl>
                                              <p:charRg st="101" end="124"/>
                                            </p:txEl>
                                          </p:spTgt>
                                        </p:tgtEl>
                                        <p:attrNameLst>
                                          <p:attrName>style.visibility</p:attrName>
                                        </p:attrNameLst>
                                      </p:cBhvr>
                                      <p:to>
                                        <p:strVal val="visible"/>
                                      </p:to>
                                    </p:set>
                                    <p:animEffect transition="in" filter="fade">
                                      <p:cBhvr>
                                        <p:cTn id="30" dur="2000"/>
                                        <p:tgtEl>
                                          <p:spTgt spid="69635">
                                            <p:txEl>
                                              <p:charRg st="101" end="124"/>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9635">
                                            <p:txEl>
                                              <p:charRg st="124" end="145"/>
                                            </p:txEl>
                                          </p:spTgt>
                                        </p:tgtEl>
                                        <p:attrNameLst>
                                          <p:attrName>style.visibility</p:attrName>
                                        </p:attrNameLst>
                                      </p:cBhvr>
                                      <p:to>
                                        <p:strVal val="visible"/>
                                      </p:to>
                                    </p:set>
                                    <p:animEffect transition="in" filter="fade">
                                      <p:cBhvr>
                                        <p:cTn id="33" dur="2000"/>
                                        <p:tgtEl>
                                          <p:spTgt spid="69635">
                                            <p:txEl>
                                              <p:charRg st="124" end="14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9635">
                                            <p:txEl>
                                              <p:charRg st="145" end="163"/>
                                            </p:txEl>
                                          </p:spTgt>
                                        </p:tgtEl>
                                        <p:attrNameLst>
                                          <p:attrName>style.visibility</p:attrName>
                                        </p:attrNameLst>
                                      </p:cBhvr>
                                      <p:to>
                                        <p:strVal val="visible"/>
                                      </p:to>
                                    </p:set>
                                    <p:animEffect transition="in" filter="fade">
                                      <p:cBhvr>
                                        <p:cTn id="38" dur="2000"/>
                                        <p:tgtEl>
                                          <p:spTgt spid="69635">
                                            <p:txEl>
                                              <p:charRg st="145" end="1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0" grpId="0"/>
      <p:bldP spid="6963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0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进程创建举例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0659" name="Rectangle 3"/>
          <p:cNvSpPr>
            <a:spLocks noGrp="1" noRot="1"/>
          </p:cNvSpPr>
          <p:nvPr>
            <p:ph type="body"/>
          </p:nvPr>
        </p:nvSpPr>
        <p:spPr>
          <a:xfrm>
            <a:off x="301625" y="1603375"/>
            <a:ext cx="8540750" cy="4498975"/>
          </a:xfrm>
          <a:ln/>
        </p:spPr>
        <p:txBody>
          <a:bodyPr vert="horz" wrap="square" lIns="91440" tIns="45720" rIns="91440" bIns="45720" anchor="t" anchorCtr="0"/>
          <a:p>
            <a:pPr eaLnBrk="1" hangingPunct="1"/>
            <a:r>
              <a:rPr lang="en-US" altLang="zh-CN" sz="2800" b="1" dirty="0"/>
              <a:t>Fork():</a:t>
            </a:r>
            <a:r>
              <a:rPr lang="zh-CN" altLang="en-US" sz="2800" b="1" dirty="0"/>
              <a:t>复制父进程全部资源。</a:t>
            </a:r>
            <a:endParaRPr lang="zh-CN" altLang="en-US" sz="2800" b="1" dirty="0"/>
          </a:p>
          <a:p>
            <a:pPr eaLnBrk="1" hangingPunct="1"/>
            <a:r>
              <a:rPr lang="en-US" altLang="zh-CN" sz="2800" b="1" dirty="0"/>
              <a:t>Clone():</a:t>
            </a:r>
            <a:r>
              <a:rPr lang="zh-CN" altLang="en-US" sz="2800" b="1" dirty="0"/>
              <a:t>有选择的复制父进程的资源。</a:t>
            </a:r>
            <a:r>
              <a:rPr lang="en-US" altLang="zh-CN" sz="2800" b="1" dirty="0"/>
              <a:t>(</a:t>
            </a:r>
            <a:r>
              <a:rPr lang="zh-CN" altLang="en-US" sz="2800" b="1" dirty="0"/>
              <a:t>带参数</a:t>
            </a:r>
            <a:r>
              <a:rPr lang="en-US" altLang="zh-CN" sz="2800" b="1" dirty="0"/>
              <a:t>)</a:t>
            </a:r>
            <a:endParaRPr lang="en-US" altLang="zh-CN" sz="2800" b="1" dirty="0"/>
          </a:p>
          <a:p>
            <a:pPr eaLnBrk="1" hangingPunct="1"/>
            <a:endParaRPr lang="en-US" altLang="zh-CN" sz="2800" b="1" dirty="0"/>
          </a:p>
          <a:p>
            <a:pPr eaLnBrk="1" hangingPunct="1"/>
            <a:endParaRPr lang="en-US" altLang="zh-CN" sz="2800" b="1" dirty="0"/>
          </a:p>
          <a:p>
            <a:pPr eaLnBrk="1" hangingPunct="1"/>
            <a:r>
              <a:rPr lang="en-US" altLang="zh-CN" sz="2800" b="1" dirty="0"/>
              <a:t>Vfork()</a:t>
            </a:r>
            <a:r>
              <a:rPr lang="zh-CN" altLang="en-US" sz="2800" b="1" dirty="0"/>
              <a:t>：创建一个线程。复制除</a:t>
            </a:r>
            <a:r>
              <a:rPr lang="en-US" altLang="zh-CN" sz="2800" b="1" dirty="0"/>
              <a:t>tast_struct</a:t>
            </a:r>
            <a:r>
              <a:rPr lang="zh-CN" altLang="en-US" sz="2800" b="1" dirty="0"/>
              <a:t>和系统空间堆栈外的所有资源。</a:t>
            </a:r>
            <a:endParaRPr lang="zh-CN" altLang="en-US" sz="2800" b="1" dirty="0"/>
          </a:p>
          <a:p>
            <a:pPr eaLnBrk="1" hangingPunct="1"/>
            <a:r>
              <a:rPr lang="zh-CN" altLang="en-US" sz="2800" b="1" dirty="0"/>
              <a:t>这三个系统调用</a:t>
            </a:r>
            <a:r>
              <a:rPr lang="zh-CN" altLang="en-US" sz="2800" b="1" dirty="0">
                <a:solidFill>
                  <a:srgbClr val="FF0000"/>
                </a:solidFill>
              </a:rPr>
              <a:t>都是通过调用</a:t>
            </a:r>
            <a:r>
              <a:rPr lang="en-US" altLang="zh-CN" sz="2800" b="1" dirty="0">
                <a:solidFill>
                  <a:srgbClr val="FF0000"/>
                </a:solidFill>
              </a:rPr>
              <a:t>do_fork()</a:t>
            </a:r>
            <a:r>
              <a:rPr lang="zh-CN" altLang="en-US" sz="2800" b="1" dirty="0">
                <a:solidFill>
                  <a:srgbClr val="FF0000"/>
                </a:solidFill>
              </a:rPr>
              <a:t>实现</a:t>
            </a:r>
            <a:r>
              <a:rPr lang="zh-CN" altLang="en-US" sz="2800" b="1" dirty="0"/>
              <a:t>，只是参数不同。</a:t>
            </a:r>
            <a:endParaRPr lang="zh-CN" altLang="en-US" sz="2800" b="1" dirty="0"/>
          </a:p>
        </p:txBody>
      </p:sp>
      <p:pic>
        <p:nvPicPr>
          <p:cNvPr id="63492" name="Picture 6"/>
          <p:cNvPicPr>
            <a:picLocks noChangeAspect="1"/>
          </p:cNvPicPr>
          <p:nvPr/>
        </p:nvPicPr>
        <p:blipFill>
          <a:blip r:embed="rId1"/>
          <a:stretch>
            <a:fillRect/>
          </a:stretch>
        </p:blipFill>
        <p:spPr>
          <a:xfrm>
            <a:off x="228600" y="2895600"/>
            <a:ext cx="8382000" cy="6858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0802"/>
                                        </p:tgtEl>
                                        <p:attrNameLst>
                                          <p:attrName>style.visibility</p:attrName>
                                        </p:attrNameLst>
                                      </p:cBhvr>
                                      <p:to>
                                        <p:strVal val="visible"/>
                                      </p:to>
                                    </p:set>
                                    <p:animEffect transition="in" filter="fade">
                                      <p:cBhvr>
                                        <p:cTn id="7" dur="2000"/>
                                        <p:tgtEl>
                                          <p:spTgt spid="4608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659">
                                            <p:txEl>
                                              <p:charRg st="0" end="18"/>
                                            </p:txEl>
                                          </p:spTgt>
                                        </p:tgtEl>
                                        <p:attrNameLst>
                                          <p:attrName>style.visibility</p:attrName>
                                        </p:attrNameLst>
                                      </p:cBhvr>
                                      <p:to>
                                        <p:strVal val="visible"/>
                                      </p:to>
                                    </p:set>
                                    <p:animEffect transition="in" filter="fade">
                                      <p:cBhvr>
                                        <p:cTn id="12" dur="2000"/>
                                        <p:tgtEl>
                                          <p:spTgt spid="70659">
                                            <p:txEl>
                                              <p:charRg st="0" end="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0659">
                                            <p:txEl>
                                              <p:charRg st="18" end="45"/>
                                            </p:txEl>
                                          </p:spTgt>
                                        </p:tgtEl>
                                        <p:attrNameLst>
                                          <p:attrName>style.visibility</p:attrName>
                                        </p:attrNameLst>
                                      </p:cBhvr>
                                      <p:to>
                                        <p:strVal val="visible"/>
                                      </p:to>
                                    </p:set>
                                    <p:animEffect transition="in" filter="fade">
                                      <p:cBhvr>
                                        <p:cTn id="17" dur="2000"/>
                                        <p:tgtEl>
                                          <p:spTgt spid="70659">
                                            <p:txEl>
                                              <p:charRg st="18" end="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0659">
                                            <p:txEl>
                                              <p:charRg st="47" end="91"/>
                                            </p:txEl>
                                          </p:spTgt>
                                        </p:tgtEl>
                                        <p:attrNameLst>
                                          <p:attrName>style.visibility</p:attrName>
                                        </p:attrNameLst>
                                      </p:cBhvr>
                                      <p:to>
                                        <p:strVal val="visible"/>
                                      </p:to>
                                    </p:set>
                                    <p:animEffect transition="in" filter="fade">
                                      <p:cBhvr>
                                        <p:cTn id="22" dur="2000"/>
                                        <p:tgtEl>
                                          <p:spTgt spid="70659">
                                            <p:txEl>
                                              <p:charRg st="47" end="9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0659">
                                            <p:txEl>
                                              <p:charRg st="91" end="124"/>
                                            </p:txEl>
                                          </p:spTgt>
                                        </p:tgtEl>
                                        <p:attrNameLst>
                                          <p:attrName>style.visibility</p:attrName>
                                        </p:attrNameLst>
                                      </p:cBhvr>
                                      <p:to>
                                        <p:strVal val="visible"/>
                                      </p:to>
                                    </p:set>
                                    <p:animEffect transition="in" filter="fade">
                                      <p:cBhvr>
                                        <p:cTn id="27" dur="2000"/>
                                        <p:tgtEl>
                                          <p:spTgt spid="70659">
                                            <p:txEl>
                                              <p:charRg st="91" end="1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2" grpId="0"/>
      <p:bldP spid="7065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4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Linux</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进程空间获取讲解</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1683" name="Rectangle 3"/>
          <p:cNvSpPr>
            <a:spLocks noGrp="1" noRot="1"/>
          </p:cNvSpPr>
          <p:nvPr>
            <p:ph type="body"/>
          </p:nvPr>
        </p:nvSpPr>
        <p:spPr>
          <a:xfrm>
            <a:off x="301625" y="1603375"/>
            <a:ext cx="8540750" cy="4498975"/>
          </a:xfrm>
          <a:ln/>
        </p:spPr>
        <p:txBody>
          <a:bodyPr vert="horz" wrap="square" lIns="91440" tIns="45720" rIns="91440" bIns="45720" anchor="t" anchorCtr="0"/>
          <a:p>
            <a:pPr eaLnBrk="1" hangingPunct="1"/>
            <a:r>
              <a:rPr lang="zh-CN" altLang="en-US" b="1" dirty="0"/>
              <a:t>申请空白</a:t>
            </a:r>
            <a:r>
              <a:rPr lang="en-US" altLang="zh-CN" b="1" dirty="0"/>
              <a:t>PCB</a:t>
            </a:r>
            <a:r>
              <a:rPr lang="zh-CN" altLang="en-US" b="1" dirty="0"/>
              <a:t>详细阐述：</a:t>
            </a:r>
            <a:endParaRPr lang="zh-CN" altLang="en-US" b="1" dirty="0"/>
          </a:p>
          <a:p>
            <a:pPr eaLnBrk="1" hangingPunct="1"/>
            <a:r>
              <a:rPr lang="en-US" altLang="zh-CN" dirty="0"/>
              <a:t>Do_fork()           alloc_task_struct(void) </a:t>
            </a:r>
            <a:endParaRPr lang="en-US" altLang="zh-CN" dirty="0"/>
          </a:p>
          <a:p>
            <a:pPr eaLnBrk="1" hangingPunct="1"/>
            <a:endParaRPr lang="en-US" altLang="zh-CN" dirty="0"/>
          </a:p>
        </p:txBody>
      </p:sp>
      <p:sp>
        <p:nvSpPr>
          <p:cNvPr id="64516" name="Rectangle 5"/>
          <p:cNvSpPr/>
          <p:nvPr/>
        </p:nvSpPr>
        <p:spPr>
          <a:xfrm>
            <a:off x="1981200" y="3094038"/>
            <a:ext cx="6400800" cy="155416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b="1" dirty="0"/>
              <a:t>_get_free_pages()</a:t>
            </a:r>
            <a:r>
              <a:rPr lang="zh-CN" altLang="en-US" b="1" dirty="0"/>
              <a:t>申请两个页面，其中控制块占用</a:t>
            </a:r>
            <a:r>
              <a:rPr lang="en-US" altLang="zh-CN" b="1" dirty="0"/>
              <a:t>1.5K</a:t>
            </a:r>
            <a:r>
              <a:rPr lang="zh-CN" altLang="en-US" b="1" dirty="0"/>
              <a:t>，其余空间为进程的内核栈空间。</a:t>
            </a:r>
            <a:endParaRPr lang="zh-CN" altLang="en-US" b="1" dirty="0"/>
          </a:p>
        </p:txBody>
      </p:sp>
      <p:sp>
        <p:nvSpPr>
          <p:cNvPr id="64517" name="AutoShape 7"/>
          <p:cNvSpPr/>
          <p:nvPr/>
        </p:nvSpPr>
        <p:spPr>
          <a:xfrm>
            <a:off x="838200" y="3276600"/>
            <a:ext cx="1143000" cy="304800"/>
          </a:xfrm>
          <a:prstGeom prst="rightArrow">
            <a:avLst>
              <a:gd name="adj1" fmla="val 50000"/>
              <a:gd name="adj2" fmla="val 9375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64518" name="AutoShape 8"/>
          <p:cNvSpPr/>
          <p:nvPr/>
        </p:nvSpPr>
        <p:spPr>
          <a:xfrm>
            <a:off x="2667000" y="2362200"/>
            <a:ext cx="838200" cy="304800"/>
          </a:xfrm>
          <a:prstGeom prst="rightArrow">
            <a:avLst>
              <a:gd name="adj1" fmla="val 50000"/>
              <a:gd name="adj2" fmla="val 6875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1042"/>
                                        </p:tgtEl>
                                        <p:attrNameLst>
                                          <p:attrName>style.visibility</p:attrName>
                                        </p:attrNameLst>
                                      </p:cBhvr>
                                      <p:to>
                                        <p:strVal val="visible"/>
                                      </p:to>
                                    </p:set>
                                    <p:animEffect transition="in" filter="fade">
                                      <p:cBhvr>
                                        <p:cTn id="7" dur="2000"/>
                                        <p:tgtEl>
                                          <p:spTgt spid="4710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683">
                                            <p:txEl>
                                              <p:charRg st="0" end="13"/>
                                            </p:txEl>
                                          </p:spTgt>
                                        </p:tgtEl>
                                        <p:attrNameLst>
                                          <p:attrName>style.visibility</p:attrName>
                                        </p:attrNameLst>
                                      </p:cBhvr>
                                      <p:to>
                                        <p:strVal val="visible"/>
                                      </p:to>
                                    </p:set>
                                    <p:animEffect transition="in" filter="fade">
                                      <p:cBhvr>
                                        <p:cTn id="12" dur="2000"/>
                                        <p:tgtEl>
                                          <p:spTgt spid="71683">
                                            <p:txEl>
                                              <p:charRg st="0"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683">
                                            <p:txEl>
                                              <p:charRg st="13" end="58"/>
                                            </p:txEl>
                                          </p:spTgt>
                                        </p:tgtEl>
                                        <p:attrNameLst>
                                          <p:attrName>style.visibility</p:attrName>
                                        </p:attrNameLst>
                                      </p:cBhvr>
                                      <p:to>
                                        <p:strVal val="visible"/>
                                      </p:to>
                                    </p:set>
                                    <p:animEffect transition="in" filter="fade">
                                      <p:cBhvr>
                                        <p:cTn id="17" dur="2000"/>
                                        <p:tgtEl>
                                          <p:spTgt spid="71683">
                                            <p:txEl>
                                              <p:charRg st="13" end="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2" grpId="0"/>
      <p:bldP spid="7168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5538" name="Picture 4"/>
          <p:cNvPicPr>
            <a:picLocks noChangeAspect="1"/>
          </p:cNvPicPr>
          <p:nvPr/>
        </p:nvPicPr>
        <p:blipFill>
          <a:blip r:embed="rId1"/>
          <a:stretch>
            <a:fillRect/>
          </a:stretch>
        </p:blipFill>
        <p:spPr>
          <a:xfrm>
            <a:off x="304800" y="0"/>
            <a:ext cx="8077200" cy="6497638"/>
          </a:xfrm>
          <a:prstGeom prst="rect">
            <a:avLst/>
          </a:prstGeom>
          <a:noFill/>
          <a:ln w="9525">
            <a:noFill/>
          </a:ln>
        </p:spPr>
      </p:pic>
      <p:sp>
        <p:nvSpPr>
          <p:cNvPr id="65539" name="Text Box 8"/>
          <p:cNvSpPr txBox="1"/>
          <p:nvPr/>
        </p:nvSpPr>
        <p:spPr>
          <a:xfrm>
            <a:off x="3581400" y="1828800"/>
            <a:ext cx="4191000" cy="915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FF0000"/>
                </a:solidFill>
              </a:rPr>
              <a:t>子进程从</a:t>
            </a:r>
            <a:r>
              <a:rPr lang="en-US" altLang="zh-CN" sz="1800" b="1" dirty="0">
                <a:solidFill>
                  <a:srgbClr val="FF0000"/>
                </a:solidFill>
              </a:rPr>
              <a:t>fork</a:t>
            </a:r>
            <a:r>
              <a:rPr lang="zh-CN" altLang="en-US" sz="1800" b="1" dirty="0">
                <a:solidFill>
                  <a:srgbClr val="FF0000"/>
                </a:solidFill>
              </a:rPr>
              <a:t>返回时，返回值为</a:t>
            </a:r>
            <a:r>
              <a:rPr lang="en-US" altLang="zh-CN" sz="1800" b="1" dirty="0">
                <a:solidFill>
                  <a:srgbClr val="FF0000"/>
                </a:solidFill>
              </a:rPr>
              <a:t>0</a:t>
            </a:r>
            <a:r>
              <a:rPr lang="zh-CN" altLang="en-US" sz="1800" b="1" dirty="0">
                <a:solidFill>
                  <a:srgbClr val="FF0000"/>
                </a:solidFill>
              </a:rPr>
              <a:t>；</a:t>
            </a:r>
            <a:endParaRPr lang="zh-CN" altLang="en-US" sz="1800" b="1" dirty="0">
              <a:solidFill>
                <a:srgbClr val="FF0000"/>
              </a:solidFill>
            </a:endParaRPr>
          </a:p>
          <a:p>
            <a:pPr marL="0" lvl="0" indent="0" eaLnBrk="1" hangingPunct="1">
              <a:spcBef>
                <a:spcPct val="0"/>
              </a:spcBef>
              <a:buClrTx/>
              <a:buSzTx/>
              <a:buFontTx/>
              <a:buNone/>
            </a:pPr>
            <a:r>
              <a:rPr lang="zh-CN" altLang="en-US" sz="1800" b="1" dirty="0">
                <a:solidFill>
                  <a:srgbClr val="FF0000"/>
                </a:solidFill>
              </a:rPr>
              <a:t>父进程从</a:t>
            </a:r>
            <a:r>
              <a:rPr lang="en-US" altLang="zh-CN" sz="1800" b="1" dirty="0">
                <a:solidFill>
                  <a:srgbClr val="FF0000"/>
                </a:solidFill>
              </a:rPr>
              <a:t>fork()</a:t>
            </a:r>
            <a:r>
              <a:rPr lang="zh-CN" altLang="en-US" sz="1800" b="1" dirty="0">
                <a:solidFill>
                  <a:srgbClr val="FF0000"/>
                </a:solidFill>
              </a:rPr>
              <a:t>返回时，返回值为子进程的</a:t>
            </a:r>
            <a:r>
              <a:rPr lang="en-US" altLang="zh-CN" sz="1800" b="1" dirty="0">
                <a:solidFill>
                  <a:srgbClr val="FF0000"/>
                </a:solidFill>
              </a:rPr>
              <a:t>id</a:t>
            </a:r>
            <a:r>
              <a:rPr lang="zh-CN" altLang="en-US" sz="1800" b="1" dirty="0">
                <a:solidFill>
                  <a:srgbClr val="FF0000"/>
                </a:solidFill>
              </a:rPr>
              <a:t>时，非</a:t>
            </a:r>
            <a:r>
              <a:rPr lang="en-US" altLang="zh-CN" sz="1800" b="1" dirty="0">
                <a:solidFill>
                  <a:srgbClr val="FF0000"/>
                </a:solidFill>
              </a:rPr>
              <a:t>0</a:t>
            </a:r>
            <a:r>
              <a:rPr lang="zh-CN" altLang="en-US" sz="1800" b="1" dirty="0">
                <a:solidFill>
                  <a:srgbClr val="FF0000"/>
                </a:solidFill>
              </a:rPr>
              <a:t>。</a:t>
            </a:r>
            <a:endParaRPr lang="zh-CN" altLang="en-US" sz="1800" dirty="0">
              <a:solidFill>
                <a:srgbClr val="FF0000"/>
              </a:solidFill>
            </a:endParaRPr>
          </a:p>
        </p:txBody>
      </p:sp>
      <p:sp>
        <p:nvSpPr>
          <p:cNvPr id="65540" name="Text Box 9"/>
          <p:cNvSpPr txBox="1"/>
          <p:nvPr/>
        </p:nvSpPr>
        <p:spPr>
          <a:xfrm>
            <a:off x="4419600" y="5105400"/>
            <a:ext cx="25146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p>
        </p:txBody>
      </p:sp>
      <p:sp>
        <p:nvSpPr>
          <p:cNvPr id="65541" name="Text Box 10"/>
          <p:cNvSpPr txBox="1"/>
          <p:nvPr/>
        </p:nvSpPr>
        <p:spPr>
          <a:xfrm>
            <a:off x="4648200" y="5029200"/>
            <a:ext cx="34290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FF0000"/>
                </a:solidFill>
              </a:rPr>
              <a:t>等待子进程执行结束。</a:t>
            </a:r>
            <a:endParaRPr lang="zh-CN" altLang="en-US" sz="1800" b="1" dirty="0">
              <a:solidFill>
                <a:srgbClr val="FF0000"/>
              </a:solidFill>
            </a:endParaRPr>
          </a:p>
        </p:txBody>
      </p:sp>
      <p:sp>
        <p:nvSpPr>
          <p:cNvPr id="65542" name="AutoShape 12"/>
          <p:cNvSpPr/>
          <p:nvPr/>
        </p:nvSpPr>
        <p:spPr>
          <a:xfrm>
            <a:off x="4876800" y="3810000"/>
            <a:ext cx="2971800" cy="762000"/>
          </a:xfrm>
          <a:prstGeom prst="wedgeRoundRectCallout">
            <a:avLst>
              <a:gd name="adj1" fmla="val -54273"/>
              <a:gd name="adj2" fmla="val -115000"/>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FF0000"/>
                </a:solidFill>
              </a:rPr>
              <a:t>通过系统调用使子进程执行某段可执行程序。</a:t>
            </a:r>
            <a:endParaRPr lang="zh-CN" altLang="en-US" sz="1800" b="1" dirty="0">
              <a:solidFill>
                <a:srgbClr val="FF0000"/>
              </a:solidFill>
            </a:endParaRPr>
          </a:p>
          <a:p>
            <a:pPr marL="0" lvl="0" indent="0" algn="ctr" eaLnBrk="1" hangingPunct="1">
              <a:spcBef>
                <a:spcPct val="0"/>
              </a:spcBef>
              <a:buClrTx/>
              <a:buSzTx/>
              <a:buFontTx/>
              <a:buNone/>
            </a:pPr>
            <a:endParaRPr lang="en-US" altLang="zh-CN"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a:ln/>
        </p:spPr>
        <p:txBody>
          <a:bodyPr vert="horz" wrap="square" lIns="91440" tIns="45720" rIns="91440" bIns="45720" anchor="ctr" anchorCtr="0"/>
          <a:p>
            <a:r>
              <a:rPr lang="zh-CN" altLang="en-US" dirty="0"/>
              <a:t>作业</a:t>
            </a:r>
            <a:r>
              <a:rPr lang="en-US" altLang="zh-CN" dirty="0"/>
              <a:t>3</a:t>
            </a:r>
            <a:r>
              <a:rPr lang="zh-CN" altLang="en-US" dirty="0"/>
              <a:t>：</a:t>
            </a:r>
            <a:endParaRPr lang="zh-CN" altLang="en-US" dirty="0"/>
          </a:p>
        </p:txBody>
      </p:sp>
      <p:sp>
        <p:nvSpPr>
          <p:cNvPr id="66563" name="内容占位符 2"/>
          <p:cNvSpPr>
            <a:spLocks noGrp="1"/>
          </p:cNvSpPr>
          <p:nvPr>
            <p:ph idx="1"/>
          </p:nvPr>
        </p:nvSpPr>
        <p:spPr>
          <a:ln/>
        </p:spPr>
        <p:txBody>
          <a:bodyPr vert="horz" wrap="square" lIns="91440" tIns="45720" rIns="91440" bIns="45720" anchor="t" anchorCtr="0"/>
          <a:p>
            <a:r>
              <a:rPr lang="zh-CN" altLang="en-US" dirty="0"/>
              <a:t>将上页中的例子在</a:t>
            </a:r>
            <a:r>
              <a:rPr lang="en-US" altLang="zh-CN" dirty="0"/>
              <a:t>Linux</a:t>
            </a:r>
            <a:r>
              <a:rPr lang="zh-CN" altLang="en-US" dirty="0"/>
              <a:t>操作系统中运行，并得出执行结果，学会 </a:t>
            </a:r>
            <a:r>
              <a:rPr lang="en-US" altLang="zh-CN" dirty="0"/>
              <a:t>wait4</a:t>
            </a:r>
            <a:r>
              <a:rPr lang="zh-CN" altLang="en-US" dirty="0"/>
              <a:t>函数和</a:t>
            </a:r>
            <a:r>
              <a:rPr lang="en-US" altLang="zh-CN" dirty="0"/>
              <a:t>fork</a:t>
            </a:r>
            <a:r>
              <a:rPr lang="zh-CN" altLang="en-US" dirty="0"/>
              <a:t>函数的功能和使用方法。</a:t>
            </a:r>
            <a:endParaRPr lang="en-US" altLang="zh-CN" dirty="0"/>
          </a:p>
          <a:p>
            <a:r>
              <a:rPr lang="zh-CN" altLang="en-US" dirty="0"/>
              <a:t>学习 </a:t>
            </a:r>
            <a:r>
              <a:rPr lang="en-US" altLang="zh-CN" dirty="0"/>
              <a:t>Linux</a:t>
            </a:r>
            <a:r>
              <a:rPr lang="zh-CN" altLang="en-US" dirty="0"/>
              <a:t>系统调用</a:t>
            </a:r>
            <a:r>
              <a:rPr lang="en-US" altLang="zh-CN" dirty="0"/>
              <a:t>wait3</a:t>
            </a:r>
            <a:r>
              <a:rPr lang="zh-CN" altLang="en-US" dirty="0"/>
              <a:t>，</a:t>
            </a:r>
            <a:r>
              <a:rPr lang="en-US" altLang="zh-CN" dirty="0"/>
              <a:t>wait4</a:t>
            </a:r>
            <a:r>
              <a:rPr lang="zh-CN" altLang="en-US" dirty="0"/>
              <a:t>，</a:t>
            </a:r>
            <a:r>
              <a:rPr lang="en-US" altLang="zh-CN" dirty="0"/>
              <a:t>waitpid</a:t>
            </a:r>
            <a:r>
              <a:rPr lang="zh-CN" altLang="en-US" dirty="0"/>
              <a:t>的 功能和使用方法，他们都是指定要等待某进程结束，他们有何区别？编程练习这</a:t>
            </a:r>
            <a:r>
              <a:rPr lang="en-US" altLang="zh-CN" dirty="0"/>
              <a:t>3</a:t>
            </a:r>
            <a:r>
              <a:rPr lang="zh-CN" altLang="en-US" dirty="0"/>
              <a:t>个函数的 使用。</a:t>
            </a:r>
            <a:endParaRPr lang="en-US" altLang="zh-CN" dirty="0"/>
          </a:p>
          <a:p>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2"/>
          <p:cNvSpPr>
            <a:spLocks noGrp="1" noRot="1" noChangeArrowheads="1"/>
          </p:cNvSpPr>
          <p:nvPr>
            <p:ph type="title"/>
          </p:nvPr>
        </p:nvSpPr>
        <p:spPr>
          <a:xfrm>
            <a:off x="412750" y="685800"/>
            <a:ext cx="514985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2.3.3 </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的终止 </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3731" name="Rectangle 3"/>
          <p:cNvSpPr>
            <a:spLocks noGrp="1" noRot="1"/>
          </p:cNvSpPr>
          <p:nvPr>
            <p:ph type="body"/>
          </p:nvPr>
        </p:nvSpPr>
        <p:spPr>
          <a:xfrm>
            <a:off x="457200" y="1600200"/>
            <a:ext cx="8153400" cy="4648200"/>
          </a:xfrm>
          <a:ln/>
        </p:spPr>
        <p:txBody>
          <a:bodyPr vert="horz" wrap="square" lIns="91440" tIns="45720" rIns="91440" bIns="45720" anchor="t" anchorCtr="0"/>
          <a:p>
            <a:pPr marL="387350" indent="-387350" algn="just" eaLnBrk="1" hangingPunct="1"/>
            <a:r>
              <a:rPr lang="zh-CN" altLang="en-US" b="1" dirty="0">
                <a:solidFill>
                  <a:schemeClr val="folHlink"/>
                </a:solidFill>
              </a:rPr>
              <a:t>引起进程终止的事件   </a:t>
            </a:r>
            <a:endParaRPr lang="zh-CN" altLang="en-US" b="1" dirty="0">
              <a:solidFill>
                <a:schemeClr val="folHlink"/>
              </a:solidFill>
            </a:endParaRPr>
          </a:p>
          <a:p>
            <a:pPr marL="1041400" lvl="1" indent="-463550" algn="just" eaLnBrk="1" hangingPunct="1">
              <a:buNone/>
            </a:pPr>
            <a:r>
              <a:rPr lang="en-US" altLang="zh-CN" b="1" dirty="0">
                <a:solidFill>
                  <a:schemeClr val="folHlink"/>
                </a:solidFill>
              </a:rPr>
              <a:t>1</a:t>
            </a:r>
            <a:r>
              <a:rPr lang="zh-CN" altLang="en-US" b="1" dirty="0">
                <a:solidFill>
                  <a:schemeClr val="folHlink"/>
                </a:solidFill>
              </a:rPr>
              <a:t>）正常结束。</a:t>
            </a:r>
            <a:endParaRPr lang="zh-CN" altLang="en-US" b="1" dirty="0">
              <a:solidFill>
                <a:schemeClr val="folHlink"/>
              </a:solidFill>
            </a:endParaRPr>
          </a:p>
          <a:p>
            <a:pPr marL="1041400" lvl="1" indent="-463550" algn="just" eaLnBrk="1" hangingPunct="1">
              <a:buNone/>
            </a:pPr>
            <a:r>
              <a:rPr lang="en-US" altLang="zh-CN" b="1" dirty="0">
                <a:solidFill>
                  <a:schemeClr val="folHlink"/>
                </a:solidFill>
              </a:rPr>
              <a:t>2</a:t>
            </a:r>
            <a:r>
              <a:rPr lang="zh-CN" altLang="en-US" b="1" dirty="0">
                <a:solidFill>
                  <a:schemeClr val="folHlink"/>
                </a:solidFill>
              </a:rPr>
              <a:t>）异常结束：</a:t>
            </a:r>
            <a:endParaRPr lang="zh-CN" altLang="en-US" b="1" dirty="0">
              <a:solidFill>
                <a:schemeClr val="folHlink"/>
              </a:solidFill>
            </a:endParaRPr>
          </a:p>
          <a:p>
            <a:pPr marL="2041525" lvl="2" algn="just" eaLnBrk="1" hangingPunct="1">
              <a:buNone/>
            </a:pPr>
            <a:r>
              <a:rPr lang="zh-CN" altLang="en-US" sz="2000" b="1" dirty="0">
                <a:latin typeface="楷体_GB2312" pitchFamily="49" charset="-122"/>
                <a:ea typeface="楷体_GB2312" pitchFamily="49" charset="-122"/>
              </a:rPr>
              <a:t>①越界错误。</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②保护错。</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③非法指令。</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④特权指令错。</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⑤运行超时。</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⑥等待超时。</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⑦算术运算错、被</a:t>
            </a:r>
            <a:r>
              <a:rPr lang="en-US" altLang="zh-CN" sz="2000" b="1" dirty="0">
                <a:latin typeface="楷体_GB2312" pitchFamily="49" charset="-122"/>
                <a:ea typeface="楷体_GB2312" pitchFamily="49" charset="-122"/>
              </a:rPr>
              <a:t>0</a:t>
            </a:r>
            <a:r>
              <a:rPr lang="zh-CN" altLang="en-US" sz="2000" b="1" dirty="0">
                <a:latin typeface="楷体_GB2312" pitchFamily="49" charset="-122"/>
                <a:ea typeface="楷体_GB2312" pitchFamily="49" charset="-122"/>
              </a:rPr>
              <a:t>除：</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⑧</a:t>
            </a:r>
            <a:r>
              <a:rPr lang="en-US" altLang="zh-CN" sz="2000" b="1" dirty="0">
                <a:latin typeface="楷体_GB2312" pitchFamily="49" charset="-122"/>
                <a:ea typeface="楷体_GB2312" pitchFamily="49" charset="-122"/>
              </a:rPr>
              <a:t>I/O</a:t>
            </a:r>
            <a:r>
              <a:rPr lang="zh-CN" altLang="en-US" sz="2000" b="1" dirty="0">
                <a:latin typeface="楷体_GB2312" pitchFamily="49" charset="-122"/>
                <a:ea typeface="楷体_GB2312" pitchFamily="49" charset="-122"/>
              </a:rPr>
              <a:t>故障。</a:t>
            </a:r>
            <a:endParaRPr lang="zh-CN" altLang="en-US" sz="20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8354"/>
                                        </p:tgtEl>
                                        <p:attrNameLst>
                                          <p:attrName>style.visibility</p:attrName>
                                        </p:attrNameLst>
                                      </p:cBhvr>
                                      <p:to>
                                        <p:strVal val="visible"/>
                                      </p:to>
                                    </p:set>
                                    <p:animEffect transition="in" filter="fade">
                                      <p:cBhvr>
                                        <p:cTn id="7" dur="2000"/>
                                        <p:tgtEl>
                                          <p:spTgt spid="2283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3731">
                                            <p:txEl>
                                              <p:charRg st="0" end="13"/>
                                            </p:txEl>
                                          </p:spTgt>
                                        </p:tgtEl>
                                        <p:attrNameLst>
                                          <p:attrName>style.visibility</p:attrName>
                                        </p:attrNameLst>
                                      </p:cBhvr>
                                      <p:to>
                                        <p:strVal val="visible"/>
                                      </p:to>
                                    </p:set>
                                    <p:animEffect transition="in" filter="fade">
                                      <p:cBhvr>
                                        <p:cTn id="12" dur="2000"/>
                                        <p:tgtEl>
                                          <p:spTgt spid="73731">
                                            <p:txEl>
                                              <p:charRg st="0" end="1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3731">
                                            <p:txEl>
                                              <p:charRg st="13" end="21"/>
                                            </p:txEl>
                                          </p:spTgt>
                                        </p:tgtEl>
                                        <p:attrNameLst>
                                          <p:attrName>style.visibility</p:attrName>
                                        </p:attrNameLst>
                                      </p:cBhvr>
                                      <p:to>
                                        <p:strVal val="visible"/>
                                      </p:to>
                                    </p:set>
                                    <p:animEffect transition="in" filter="fade">
                                      <p:cBhvr>
                                        <p:cTn id="15" dur="2000"/>
                                        <p:tgtEl>
                                          <p:spTgt spid="73731">
                                            <p:txEl>
                                              <p:charRg st="13" end="2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3731">
                                            <p:txEl>
                                              <p:charRg st="21" end="29"/>
                                            </p:txEl>
                                          </p:spTgt>
                                        </p:tgtEl>
                                        <p:attrNameLst>
                                          <p:attrName>style.visibility</p:attrName>
                                        </p:attrNameLst>
                                      </p:cBhvr>
                                      <p:to>
                                        <p:strVal val="visible"/>
                                      </p:to>
                                    </p:set>
                                    <p:animEffect transition="in" filter="fade">
                                      <p:cBhvr>
                                        <p:cTn id="18" dur="2000"/>
                                        <p:tgtEl>
                                          <p:spTgt spid="73731">
                                            <p:txEl>
                                              <p:charRg st="21" end="29"/>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3731">
                                            <p:txEl>
                                              <p:charRg st="29" end="36"/>
                                            </p:txEl>
                                          </p:spTgt>
                                        </p:tgtEl>
                                        <p:attrNameLst>
                                          <p:attrName>style.visibility</p:attrName>
                                        </p:attrNameLst>
                                      </p:cBhvr>
                                      <p:to>
                                        <p:strVal val="visible"/>
                                      </p:to>
                                    </p:set>
                                    <p:animEffect transition="in" filter="fade">
                                      <p:cBhvr>
                                        <p:cTn id="21" dur="2000"/>
                                        <p:tgtEl>
                                          <p:spTgt spid="73731">
                                            <p:txEl>
                                              <p:charRg st="29" end="36"/>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3731">
                                            <p:txEl>
                                              <p:charRg st="36" end="42"/>
                                            </p:txEl>
                                          </p:spTgt>
                                        </p:tgtEl>
                                        <p:attrNameLst>
                                          <p:attrName>style.visibility</p:attrName>
                                        </p:attrNameLst>
                                      </p:cBhvr>
                                      <p:to>
                                        <p:strVal val="visible"/>
                                      </p:to>
                                    </p:set>
                                    <p:animEffect transition="in" filter="fade">
                                      <p:cBhvr>
                                        <p:cTn id="24" dur="2000"/>
                                        <p:tgtEl>
                                          <p:spTgt spid="73731">
                                            <p:txEl>
                                              <p:charRg st="36" end="4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3731">
                                            <p:txEl>
                                              <p:charRg st="42" end="49"/>
                                            </p:txEl>
                                          </p:spTgt>
                                        </p:tgtEl>
                                        <p:attrNameLst>
                                          <p:attrName>style.visibility</p:attrName>
                                        </p:attrNameLst>
                                      </p:cBhvr>
                                      <p:to>
                                        <p:strVal val="visible"/>
                                      </p:to>
                                    </p:set>
                                    <p:animEffect transition="in" filter="fade">
                                      <p:cBhvr>
                                        <p:cTn id="27" dur="2000"/>
                                        <p:tgtEl>
                                          <p:spTgt spid="73731">
                                            <p:txEl>
                                              <p:charRg st="42" end="49"/>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3731">
                                            <p:txEl>
                                              <p:charRg st="49" end="57"/>
                                            </p:txEl>
                                          </p:spTgt>
                                        </p:tgtEl>
                                        <p:attrNameLst>
                                          <p:attrName>style.visibility</p:attrName>
                                        </p:attrNameLst>
                                      </p:cBhvr>
                                      <p:to>
                                        <p:strVal val="visible"/>
                                      </p:to>
                                    </p:set>
                                    <p:animEffect transition="in" filter="fade">
                                      <p:cBhvr>
                                        <p:cTn id="30" dur="2000"/>
                                        <p:tgtEl>
                                          <p:spTgt spid="73731">
                                            <p:txEl>
                                              <p:charRg st="49" end="5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3731">
                                            <p:txEl>
                                              <p:charRg st="57" end="64"/>
                                            </p:txEl>
                                          </p:spTgt>
                                        </p:tgtEl>
                                        <p:attrNameLst>
                                          <p:attrName>style.visibility</p:attrName>
                                        </p:attrNameLst>
                                      </p:cBhvr>
                                      <p:to>
                                        <p:strVal val="visible"/>
                                      </p:to>
                                    </p:set>
                                    <p:animEffect transition="in" filter="fade">
                                      <p:cBhvr>
                                        <p:cTn id="33" dur="2000"/>
                                        <p:tgtEl>
                                          <p:spTgt spid="73731">
                                            <p:txEl>
                                              <p:charRg st="57" end="64"/>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3731">
                                            <p:txEl>
                                              <p:charRg st="64" end="71"/>
                                            </p:txEl>
                                          </p:spTgt>
                                        </p:tgtEl>
                                        <p:attrNameLst>
                                          <p:attrName>style.visibility</p:attrName>
                                        </p:attrNameLst>
                                      </p:cBhvr>
                                      <p:to>
                                        <p:strVal val="visible"/>
                                      </p:to>
                                    </p:set>
                                    <p:animEffect transition="in" filter="fade">
                                      <p:cBhvr>
                                        <p:cTn id="36" dur="2000"/>
                                        <p:tgtEl>
                                          <p:spTgt spid="73731">
                                            <p:txEl>
                                              <p:charRg st="64" end="7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3731">
                                            <p:txEl>
                                              <p:charRg st="71" end="83"/>
                                            </p:txEl>
                                          </p:spTgt>
                                        </p:tgtEl>
                                        <p:attrNameLst>
                                          <p:attrName>style.visibility</p:attrName>
                                        </p:attrNameLst>
                                      </p:cBhvr>
                                      <p:to>
                                        <p:strVal val="visible"/>
                                      </p:to>
                                    </p:set>
                                    <p:animEffect transition="in" filter="fade">
                                      <p:cBhvr>
                                        <p:cTn id="39" dur="2000"/>
                                        <p:tgtEl>
                                          <p:spTgt spid="73731">
                                            <p:txEl>
                                              <p:charRg st="71" end="83"/>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3731">
                                            <p:txEl>
                                              <p:charRg st="83" end="91"/>
                                            </p:txEl>
                                          </p:spTgt>
                                        </p:tgtEl>
                                        <p:attrNameLst>
                                          <p:attrName>style.visibility</p:attrName>
                                        </p:attrNameLst>
                                      </p:cBhvr>
                                      <p:to>
                                        <p:strVal val="visible"/>
                                      </p:to>
                                    </p:set>
                                    <p:animEffect transition="in" filter="fade">
                                      <p:cBhvr>
                                        <p:cTn id="42" dur="2000"/>
                                        <p:tgtEl>
                                          <p:spTgt spid="73731">
                                            <p:txEl>
                                              <p:charRg st="83"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p:bldP spid="7373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3"/>
          <p:cNvSpPr>
            <a:spLocks noGrp="1" noRot="1"/>
          </p:cNvSpPr>
          <p:nvPr>
            <p:ph type="body"/>
          </p:nvPr>
        </p:nvSpPr>
        <p:spPr>
          <a:xfrm>
            <a:off x="304800" y="1752600"/>
            <a:ext cx="8534400" cy="4724400"/>
          </a:xfrm>
          <a:ln/>
        </p:spPr>
        <p:txBody>
          <a:bodyPr vert="horz" wrap="square" lIns="91440" tIns="45720" rIns="91440" bIns="45720" anchor="t" anchorCtr="0"/>
          <a:p>
            <a:pPr marL="0" indent="0" algn="just" eaLnBrk="1" hangingPunct="1">
              <a:buNone/>
            </a:pPr>
            <a:r>
              <a:rPr lang="en-US" altLang="zh-CN" sz="2800" b="1" dirty="0">
                <a:solidFill>
                  <a:schemeClr val="folHlink"/>
                </a:solidFill>
              </a:rPr>
              <a:t>3</a:t>
            </a:r>
            <a:r>
              <a:rPr lang="zh-CN" altLang="en-US" sz="2800" b="1" dirty="0">
                <a:solidFill>
                  <a:schemeClr val="folHlink"/>
                </a:solidFill>
              </a:rPr>
              <a:t>）外界干预</a:t>
            </a:r>
            <a:r>
              <a:rPr lang="zh-CN" altLang="en-US" b="1" dirty="0">
                <a:solidFill>
                  <a:srgbClr val="0000CC"/>
                </a:solidFill>
              </a:rPr>
              <a:t>  </a:t>
            </a:r>
            <a:r>
              <a:rPr lang="zh-CN" altLang="en-US" sz="2800" b="1" dirty="0"/>
              <a:t>外界干预并非指在本进程运行中出现了异常事件，而是指</a:t>
            </a:r>
            <a:r>
              <a:rPr lang="zh-CN" altLang="en-US" sz="2800" b="1" dirty="0">
                <a:solidFill>
                  <a:srgbClr val="FF0000"/>
                </a:solidFill>
              </a:rPr>
              <a:t>进程因外界的请求而终止运行</a:t>
            </a:r>
            <a:r>
              <a:rPr lang="zh-CN" altLang="en-US" sz="2800" b="1" dirty="0"/>
              <a:t>。</a:t>
            </a:r>
            <a:endParaRPr lang="zh-CN" altLang="en-US" sz="2800" b="1" dirty="0"/>
          </a:p>
          <a:p>
            <a:pPr marL="863600" lvl="1" indent="-390525" algn="just" eaLnBrk="1" hangingPunct="1">
              <a:buClrTx/>
              <a:buFontTx/>
              <a:buNone/>
            </a:pPr>
            <a:r>
              <a:rPr lang="zh-CN" altLang="en-US" b="1" dirty="0">
                <a:latin typeface="楷体_GB2312" pitchFamily="49" charset="-122"/>
                <a:ea typeface="楷体_GB2312" pitchFamily="49" charset="-122"/>
              </a:rPr>
              <a:t>①操作员或操作系统干预。</a:t>
            </a:r>
            <a:endParaRPr lang="zh-CN" altLang="en-US" b="1" dirty="0">
              <a:latin typeface="楷体_GB2312" pitchFamily="49" charset="-122"/>
              <a:ea typeface="楷体_GB2312" pitchFamily="49" charset="-122"/>
            </a:endParaRPr>
          </a:p>
          <a:p>
            <a:pPr marL="863600" lvl="1" indent="-390525" algn="just" eaLnBrk="1" hangingPunct="1">
              <a:buClrTx/>
              <a:buFontTx/>
              <a:buNone/>
            </a:pPr>
            <a:r>
              <a:rPr lang="zh-CN" altLang="en-US" b="1" dirty="0">
                <a:latin typeface="楷体_GB2312" pitchFamily="49" charset="-122"/>
                <a:ea typeface="楷体_GB2312" pitchFamily="49" charset="-122"/>
              </a:rPr>
              <a:t>  由于某种原因，例如，发生了死锁，由操作员或操作系统终止该进程；</a:t>
            </a:r>
            <a:endParaRPr lang="zh-CN" altLang="en-US" b="1" dirty="0">
              <a:latin typeface="楷体_GB2312" pitchFamily="49" charset="-122"/>
              <a:ea typeface="楷体_GB2312" pitchFamily="49" charset="-122"/>
            </a:endParaRPr>
          </a:p>
          <a:p>
            <a:pPr marL="863600" lvl="1" indent="-390525" algn="just" eaLnBrk="1" hangingPunct="1">
              <a:buClrTx/>
              <a:buFontTx/>
              <a:buNone/>
            </a:pPr>
            <a:r>
              <a:rPr lang="zh-CN" altLang="en-US" b="1" dirty="0">
                <a:latin typeface="楷体_GB2312" pitchFamily="49" charset="-122"/>
                <a:ea typeface="楷体_GB2312" pitchFamily="49" charset="-122"/>
              </a:rPr>
              <a:t>②父进程请求终止该进程；</a:t>
            </a:r>
            <a:endParaRPr lang="zh-CN" altLang="en-US" b="1" dirty="0">
              <a:latin typeface="楷体_GB2312" pitchFamily="49" charset="-122"/>
              <a:ea typeface="楷体_GB2312" pitchFamily="49" charset="-122"/>
            </a:endParaRPr>
          </a:p>
          <a:p>
            <a:pPr marL="863600" lvl="1" indent="-390525" algn="just" eaLnBrk="1" hangingPunct="1">
              <a:buNone/>
            </a:pPr>
            <a:r>
              <a:rPr lang="zh-CN" altLang="en-US" b="1" dirty="0">
                <a:latin typeface="楷体_GB2312" pitchFamily="49" charset="-122"/>
                <a:ea typeface="楷体_GB2312" pitchFamily="49" charset="-122"/>
              </a:rPr>
              <a:t>③</a:t>
            </a:r>
            <a:r>
              <a:rPr lang="zh-CN" altLang="en-US" b="1" dirty="0">
                <a:solidFill>
                  <a:srgbClr val="FF0000"/>
                </a:solidFill>
                <a:latin typeface="楷体_GB2312" pitchFamily="49" charset="-122"/>
                <a:ea typeface="楷体_GB2312" pitchFamily="49" charset="-122"/>
              </a:rPr>
              <a:t>当父进程终止时，</a:t>
            </a:r>
            <a:r>
              <a:rPr lang="en-US" altLang="zh-CN" b="1" dirty="0">
                <a:solidFill>
                  <a:srgbClr val="FF0000"/>
                </a:solidFill>
                <a:latin typeface="楷体_GB2312" pitchFamily="49" charset="-122"/>
                <a:ea typeface="楷体_GB2312" pitchFamily="49" charset="-122"/>
              </a:rPr>
              <a:t>OS</a:t>
            </a:r>
            <a:r>
              <a:rPr lang="zh-CN" altLang="en-US" b="1" dirty="0">
                <a:solidFill>
                  <a:srgbClr val="FF0000"/>
                </a:solidFill>
                <a:latin typeface="楷体_GB2312" pitchFamily="49" charset="-122"/>
                <a:ea typeface="楷体_GB2312" pitchFamily="49" charset="-122"/>
              </a:rPr>
              <a:t>也将他的所有子孙进程终止。</a:t>
            </a:r>
            <a:endParaRPr lang="zh-CN" altLang="en-US" b="1" dirty="0">
              <a:solidFill>
                <a:srgbClr val="FF0000"/>
              </a:solidFill>
              <a:latin typeface="楷体_GB2312" pitchFamily="49" charset="-122"/>
              <a:ea typeface="楷体_GB2312" pitchFamily="49" charset="-122"/>
            </a:endParaRPr>
          </a:p>
        </p:txBody>
      </p:sp>
      <p:sp>
        <p:nvSpPr>
          <p:cNvPr id="229380" name="Rectangle 4"/>
          <p:cNvSpPr>
            <a:spLocks noChangeArrowheads="1"/>
          </p:cNvSpPr>
          <p:nvPr/>
        </p:nvSpPr>
        <p:spPr bwMode="auto">
          <a:xfrm>
            <a:off x="412750" y="685800"/>
            <a:ext cx="5149850" cy="914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进程的终止 </a:t>
            </a:r>
            <a:endParaRPr kumimoji="0" lang="zh-CN" altLang="en-US" sz="44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754">
                                            <p:txEl>
                                              <p:charRg st="0" end="48"/>
                                            </p:txEl>
                                          </p:spTgt>
                                        </p:tgtEl>
                                        <p:attrNameLst>
                                          <p:attrName>style.visibility</p:attrName>
                                        </p:attrNameLst>
                                      </p:cBhvr>
                                      <p:to>
                                        <p:strVal val="visible"/>
                                      </p:to>
                                    </p:set>
                                    <p:animEffect transition="in" filter="fade">
                                      <p:cBhvr>
                                        <p:cTn id="7" dur="2000"/>
                                        <p:tgtEl>
                                          <p:spTgt spid="74754">
                                            <p:txEl>
                                              <p:charRg st="0" end="48"/>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4754">
                                            <p:txEl>
                                              <p:charRg st="48" end="61"/>
                                            </p:txEl>
                                          </p:spTgt>
                                        </p:tgtEl>
                                        <p:attrNameLst>
                                          <p:attrName>style.visibility</p:attrName>
                                        </p:attrNameLst>
                                      </p:cBhvr>
                                      <p:to>
                                        <p:strVal val="visible"/>
                                      </p:to>
                                    </p:set>
                                    <p:animEffect transition="in" filter="fade">
                                      <p:cBhvr>
                                        <p:cTn id="10" dur="2000"/>
                                        <p:tgtEl>
                                          <p:spTgt spid="74754">
                                            <p:txEl>
                                              <p:charRg st="48" end="6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4754">
                                            <p:txEl>
                                              <p:charRg st="61" end="95"/>
                                            </p:txEl>
                                          </p:spTgt>
                                        </p:tgtEl>
                                        <p:attrNameLst>
                                          <p:attrName>style.visibility</p:attrName>
                                        </p:attrNameLst>
                                      </p:cBhvr>
                                      <p:to>
                                        <p:strVal val="visible"/>
                                      </p:to>
                                    </p:set>
                                    <p:animEffect transition="in" filter="fade">
                                      <p:cBhvr>
                                        <p:cTn id="13" dur="2000"/>
                                        <p:tgtEl>
                                          <p:spTgt spid="74754">
                                            <p:txEl>
                                              <p:charRg st="61" end="95"/>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4754">
                                            <p:txEl>
                                              <p:charRg st="95" end="108"/>
                                            </p:txEl>
                                          </p:spTgt>
                                        </p:tgtEl>
                                        <p:attrNameLst>
                                          <p:attrName>style.visibility</p:attrName>
                                        </p:attrNameLst>
                                      </p:cBhvr>
                                      <p:to>
                                        <p:strVal val="visible"/>
                                      </p:to>
                                    </p:set>
                                    <p:animEffect transition="in" filter="fade">
                                      <p:cBhvr>
                                        <p:cTn id="16" dur="2000"/>
                                        <p:tgtEl>
                                          <p:spTgt spid="74754">
                                            <p:txEl>
                                              <p:charRg st="95" end="108"/>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4754">
                                            <p:txEl>
                                              <p:charRg st="108" end="133"/>
                                            </p:txEl>
                                          </p:spTgt>
                                        </p:tgtEl>
                                        <p:attrNameLst>
                                          <p:attrName>style.visibility</p:attrName>
                                        </p:attrNameLst>
                                      </p:cBhvr>
                                      <p:to>
                                        <p:strVal val="visible"/>
                                      </p:to>
                                    </p:set>
                                    <p:animEffect transition="in" filter="fade">
                                      <p:cBhvr>
                                        <p:cTn id="19" dur="2000"/>
                                        <p:tgtEl>
                                          <p:spTgt spid="74754">
                                            <p:txEl>
                                              <p:charRg st="108" end="1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Rectangle 2"/>
          <p:cNvSpPr>
            <a:spLocks noGrp="1" noRot="1" noChangeArrowheads="1"/>
          </p:cNvSpPr>
          <p:nvPr>
            <p:ph type="title"/>
          </p:nvPr>
        </p:nvSpPr>
        <p:spPr>
          <a:xfrm>
            <a:off x="301625" y="228600"/>
            <a:ext cx="8540750" cy="83185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进程的终止过程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5779" name="Rectangle 3"/>
          <p:cNvSpPr>
            <a:spLocks noGrp="1" noRot="1"/>
          </p:cNvSpPr>
          <p:nvPr>
            <p:ph type="body"/>
          </p:nvPr>
        </p:nvSpPr>
        <p:spPr>
          <a:xfrm>
            <a:off x="381000" y="1524000"/>
            <a:ext cx="8382000" cy="4724400"/>
          </a:xfrm>
          <a:ln/>
        </p:spPr>
        <p:txBody>
          <a:bodyPr vert="horz" wrap="square" lIns="91440" tIns="45720" rIns="91440" bIns="45720" anchor="t" anchorCtr="0"/>
          <a:p>
            <a:pPr algn="just" eaLnBrk="1" hangingPunct="1">
              <a:lnSpc>
                <a:spcPct val="90000"/>
              </a:lnSpc>
              <a:buNone/>
            </a:pPr>
            <a:r>
              <a:rPr lang="zh-CN" altLang="en-US" sz="2800" b="1" dirty="0"/>
              <a:t>（</a:t>
            </a:r>
            <a:r>
              <a:rPr lang="en-US" altLang="zh-CN" sz="2800" b="1" dirty="0"/>
              <a:t>1</a:t>
            </a:r>
            <a:r>
              <a:rPr lang="zh-CN" altLang="en-US" sz="2800" b="1" dirty="0"/>
              <a:t>）根据被终止进程的</a:t>
            </a:r>
            <a:r>
              <a:rPr lang="en-US" altLang="zh-CN" sz="2800" b="1" dirty="0"/>
              <a:t>PID</a:t>
            </a:r>
            <a:r>
              <a:rPr lang="zh-CN" altLang="en-US" sz="2800" b="1" dirty="0"/>
              <a:t>找到它的</a:t>
            </a:r>
            <a:r>
              <a:rPr lang="en-US" altLang="zh-CN" sz="2800" b="1" dirty="0"/>
              <a:t>PCB</a:t>
            </a:r>
            <a:r>
              <a:rPr lang="zh-CN" altLang="en-US" sz="2800" b="1" dirty="0"/>
              <a:t>，从中读出该进程的状态。</a:t>
            </a:r>
            <a:endParaRPr lang="zh-CN" altLang="en-US" sz="2800" b="1" dirty="0"/>
          </a:p>
          <a:p>
            <a:pPr algn="just" eaLnBrk="1" hangingPunct="1">
              <a:lnSpc>
                <a:spcPct val="90000"/>
              </a:lnSpc>
              <a:buNone/>
            </a:pPr>
            <a:r>
              <a:rPr lang="zh-CN" altLang="en-US" sz="2800" b="1" dirty="0"/>
              <a:t>（</a:t>
            </a:r>
            <a:r>
              <a:rPr lang="en-US" altLang="zh-CN" sz="2800" b="1" dirty="0"/>
              <a:t>2</a:t>
            </a:r>
            <a:r>
              <a:rPr lang="zh-CN" altLang="en-US" sz="2800" b="1" dirty="0"/>
              <a:t>）若被终止进程正处于执行状态，应立即终止该进程的执行，</a:t>
            </a:r>
            <a:r>
              <a:rPr lang="zh-CN" altLang="en-US" sz="2800" b="1" dirty="0">
                <a:solidFill>
                  <a:schemeClr val="folHlink"/>
                </a:solidFill>
              </a:rPr>
              <a:t>重新进行调度</a:t>
            </a:r>
            <a:r>
              <a:rPr lang="zh-CN" altLang="en-US" sz="2800" b="1" dirty="0"/>
              <a:t>。</a:t>
            </a:r>
            <a:endParaRPr lang="zh-CN" altLang="en-US" sz="2800" b="1" dirty="0"/>
          </a:p>
          <a:p>
            <a:pPr algn="just" eaLnBrk="1" hangingPunct="1">
              <a:lnSpc>
                <a:spcPct val="90000"/>
              </a:lnSpc>
              <a:buNone/>
            </a:pPr>
            <a:r>
              <a:rPr lang="zh-CN" altLang="en-US" sz="2800" b="1" dirty="0"/>
              <a:t>（</a:t>
            </a:r>
            <a:r>
              <a:rPr lang="en-US" altLang="zh-CN" sz="2800" b="1" dirty="0"/>
              <a:t>3</a:t>
            </a:r>
            <a:r>
              <a:rPr lang="zh-CN" altLang="en-US" sz="2800" b="1" dirty="0"/>
              <a:t>）若该进程还有子孙进程，立即</a:t>
            </a:r>
            <a:r>
              <a:rPr lang="zh-CN" altLang="en-US" sz="2800" b="1" dirty="0">
                <a:solidFill>
                  <a:srgbClr val="FF0000"/>
                </a:solidFill>
              </a:rPr>
              <a:t>将其所有子孙进程终止</a:t>
            </a:r>
            <a:r>
              <a:rPr lang="zh-CN" altLang="en-US" sz="2800" b="1" dirty="0"/>
              <a:t>。</a:t>
            </a:r>
            <a:endParaRPr lang="zh-CN" altLang="en-US" sz="2800" b="1" dirty="0"/>
          </a:p>
          <a:p>
            <a:pPr algn="just" eaLnBrk="1" hangingPunct="1">
              <a:lnSpc>
                <a:spcPct val="90000"/>
              </a:lnSpc>
              <a:buNone/>
            </a:pPr>
            <a:r>
              <a:rPr lang="zh-CN" altLang="en-US" sz="2800" b="1" dirty="0"/>
              <a:t>（</a:t>
            </a:r>
            <a:r>
              <a:rPr lang="en-US" altLang="zh-CN" sz="2800" b="1" dirty="0"/>
              <a:t>4</a:t>
            </a:r>
            <a:r>
              <a:rPr lang="zh-CN" altLang="en-US" sz="2800" b="1" dirty="0"/>
              <a:t>）将被终止进程所拥有的全部资源，</a:t>
            </a:r>
            <a:r>
              <a:rPr lang="zh-CN" altLang="en-US" sz="2800" b="1" dirty="0">
                <a:solidFill>
                  <a:schemeClr val="folHlink"/>
                </a:solidFill>
              </a:rPr>
              <a:t>归还给其父进程，或者归还给系统</a:t>
            </a:r>
            <a:r>
              <a:rPr lang="zh-CN" altLang="en-US" sz="2800" b="1" dirty="0"/>
              <a:t>。</a:t>
            </a:r>
            <a:endParaRPr lang="zh-CN" altLang="en-US" sz="2800" b="1" dirty="0"/>
          </a:p>
          <a:p>
            <a:pPr eaLnBrk="1" hangingPunct="1">
              <a:lnSpc>
                <a:spcPct val="90000"/>
              </a:lnSpc>
              <a:buNone/>
            </a:pPr>
            <a:r>
              <a:rPr lang="zh-CN" altLang="en-US" sz="2800" b="1" dirty="0"/>
              <a:t>（</a:t>
            </a:r>
            <a:r>
              <a:rPr lang="en-US" altLang="zh-CN" sz="2800" b="1" dirty="0"/>
              <a:t>5</a:t>
            </a:r>
            <a:r>
              <a:rPr lang="zh-CN" altLang="en-US" sz="2800" b="1" dirty="0"/>
              <a:t>）将被终止进程的</a:t>
            </a:r>
            <a:r>
              <a:rPr lang="en-US" altLang="zh-CN" sz="2800" b="1" dirty="0"/>
              <a:t>PCB</a:t>
            </a:r>
            <a:r>
              <a:rPr lang="zh-CN" altLang="en-US" sz="2800" b="1" dirty="0"/>
              <a:t>从所在队列中移出。 </a:t>
            </a:r>
            <a:endParaRPr lang="zh-CN" altLang="en-US" sz="2800" b="1" dirty="0"/>
          </a:p>
          <a:p>
            <a:pPr eaLnBrk="1" hangingPunct="1">
              <a:lnSpc>
                <a:spcPct val="90000"/>
              </a:lnSpc>
              <a:buNone/>
            </a:pPr>
            <a:endParaRPr lang="zh-CN" altLang="en-US" sz="2800" b="1" dirty="0"/>
          </a:p>
          <a:p>
            <a:pPr eaLnBrk="1" hangingPunct="1">
              <a:lnSpc>
                <a:spcPct val="90000"/>
              </a:lnSpc>
              <a:buNone/>
            </a:pPr>
            <a:r>
              <a:rPr lang="en-US" altLang="zh-CN" sz="2800" b="1" dirty="0">
                <a:solidFill>
                  <a:schemeClr val="folHlink"/>
                </a:solidFill>
              </a:rPr>
              <a:t>Linux</a:t>
            </a:r>
            <a:r>
              <a:rPr lang="zh-CN" altLang="en-US" sz="2800" b="1" dirty="0">
                <a:solidFill>
                  <a:schemeClr val="folHlink"/>
                </a:solidFill>
              </a:rPr>
              <a:t>中，系统调用</a:t>
            </a:r>
            <a:r>
              <a:rPr lang="en-US" altLang="zh-CN" sz="2800" b="1" dirty="0">
                <a:solidFill>
                  <a:schemeClr val="folHlink"/>
                </a:solidFill>
              </a:rPr>
              <a:t>exit</a:t>
            </a:r>
            <a:r>
              <a:rPr lang="zh-CN" altLang="en-US" sz="2800" b="1" dirty="0">
                <a:solidFill>
                  <a:schemeClr val="folHlink"/>
                </a:solidFill>
              </a:rPr>
              <a:t>（）结束进程。</a:t>
            </a:r>
            <a:endParaRPr lang="zh-CN" altLang="en-US" sz="2800" b="1" dirty="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0402"/>
                                        </p:tgtEl>
                                        <p:attrNameLst>
                                          <p:attrName>style.visibility</p:attrName>
                                        </p:attrNameLst>
                                      </p:cBhvr>
                                      <p:to>
                                        <p:strVal val="visible"/>
                                      </p:to>
                                    </p:set>
                                    <p:animEffect transition="in" filter="fade">
                                      <p:cBhvr>
                                        <p:cTn id="7" dur="2000"/>
                                        <p:tgtEl>
                                          <p:spTgt spid="230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5779">
                                            <p:txEl>
                                              <p:charRg st="0" end="34"/>
                                            </p:txEl>
                                          </p:spTgt>
                                        </p:tgtEl>
                                        <p:attrNameLst>
                                          <p:attrName>style.visibility</p:attrName>
                                        </p:attrNameLst>
                                      </p:cBhvr>
                                      <p:to>
                                        <p:strVal val="visible"/>
                                      </p:to>
                                    </p:set>
                                    <p:animEffect transition="in" filter="fade">
                                      <p:cBhvr>
                                        <p:cTn id="12" dur="2000"/>
                                        <p:tgtEl>
                                          <p:spTgt spid="75779">
                                            <p:txEl>
                                              <p:charRg st="0"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5779">
                                            <p:txEl>
                                              <p:charRg st="34" end="71"/>
                                            </p:txEl>
                                          </p:spTgt>
                                        </p:tgtEl>
                                        <p:attrNameLst>
                                          <p:attrName>style.visibility</p:attrName>
                                        </p:attrNameLst>
                                      </p:cBhvr>
                                      <p:to>
                                        <p:strVal val="visible"/>
                                      </p:to>
                                    </p:set>
                                    <p:animEffect transition="in" filter="fade">
                                      <p:cBhvr>
                                        <p:cTn id="17" dur="2000"/>
                                        <p:tgtEl>
                                          <p:spTgt spid="75779">
                                            <p:txEl>
                                              <p:charRg st="34"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5779">
                                            <p:txEl>
                                              <p:charRg st="71" end="99"/>
                                            </p:txEl>
                                          </p:spTgt>
                                        </p:tgtEl>
                                        <p:attrNameLst>
                                          <p:attrName>style.visibility</p:attrName>
                                        </p:attrNameLst>
                                      </p:cBhvr>
                                      <p:to>
                                        <p:strVal val="visible"/>
                                      </p:to>
                                    </p:set>
                                    <p:animEffect transition="in" filter="fade">
                                      <p:cBhvr>
                                        <p:cTn id="22" dur="2000"/>
                                        <p:tgtEl>
                                          <p:spTgt spid="75779">
                                            <p:txEl>
                                              <p:charRg st="71" end="9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5779">
                                            <p:txEl>
                                              <p:charRg st="99" end="134"/>
                                            </p:txEl>
                                          </p:spTgt>
                                        </p:tgtEl>
                                        <p:attrNameLst>
                                          <p:attrName>style.visibility</p:attrName>
                                        </p:attrNameLst>
                                      </p:cBhvr>
                                      <p:to>
                                        <p:strVal val="visible"/>
                                      </p:to>
                                    </p:set>
                                    <p:animEffect transition="in" filter="fade">
                                      <p:cBhvr>
                                        <p:cTn id="27" dur="2000"/>
                                        <p:tgtEl>
                                          <p:spTgt spid="75779">
                                            <p:txEl>
                                              <p:charRg st="99" end="1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5779">
                                            <p:txEl>
                                              <p:charRg st="134" end="158"/>
                                            </p:txEl>
                                          </p:spTgt>
                                        </p:tgtEl>
                                        <p:attrNameLst>
                                          <p:attrName>style.visibility</p:attrName>
                                        </p:attrNameLst>
                                      </p:cBhvr>
                                      <p:to>
                                        <p:strVal val="visible"/>
                                      </p:to>
                                    </p:set>
                                    <p:animEffect transition="in" filter="fade">
                                      <p:cBhvr>
                                        <p:cTn id="32" dur="2000"/>
                                        <p:tgtEl>
                                          <p:spTgt spid="75779">
                                            <p:txEl>
                                              <p:charRg st="134" end="15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5779">
                                            <p:txEl>
                                              <p:charRg st="159" end="182"/>
                                            </p:txEl>
                                          </p:spTgt>
                                        </p:tgtEl>
                                        <p:attrNameLst>
                                          <p:attrName>style.visibility</p:attrName>
                                        </p:attrNameLst>
                                      </p:cBhvr>
                                      <p:to>
                                        <p:strVal val="visible"/>
                                      </p:to>
                                    </p:set>
                                    <p:animEffect transition="in" filter="fade">
                                      <p:cBhvr>
                                        <p:cTn id="37" dur="2000"/>
                                        <p:tgtEl>
                                          <p:spTgt spid="75779">
                                            <p:txEl>
                                              <p:charRg st="159" end="1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p:bldP spid="7577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640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Linux</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进程终止</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6803" name="Rectangle 3"/>
          <p:cNvSpPr>
            <a:spLocks noGrp="1" noRot="1"/>
          </p:cNvSpPr>
          <p:nvPr>
            <p:ph type="body"/>
          </p:nvPr>
        </p:nvSpPr>
        <p:spPr>
          <a:ln/>
        </p:spPr>
        <p:txBody>
          <a:bodyPr vert="horz" wrap="square" lIns="91440" tIns="45720" rIns="91440" bIns="45720" anchor="t" anchorCtr="0"/>
          <a:p>
            <a:pPr eaLnBrk="1" hangingPunct="1">
              <a:lnSpc>
                <a:spcPct val="90000"/>
              </a:lnSpc>
            </a:pPr>
            <a:r>
              <a:rPr lang="en-US" altLang="zh-CN" b="1" dirty="0"/>
              <a:t>1&gt;</a:t>
            </a:r>
            <a:r>
              <a:rPr lang="zh-CN" altLang="en-US" b="1" dirty="0"/>
              <a:t>正常退出</a:t>
            </a:r>
            <a:endParaRPr lang="zh-CN" altLang="en-US" b="1" dirty="0"/>
          </a:p>
          <a:p>
            <a:pPr lvl="1" eaLnBrk="1" hangingPunct="1">
              <a:lnSpc>
                <a:spcPct val="90000"/>
              </a:lnSpc>
            </a:pPr>
            <a:r>
              <a:rPr lang="en-US" altLang="zh-CN" b="1" dirty="0"/>
              <a:t>a. </a:t>
            </a:r>
            <a:r>
              <a:rPr lang="zh-CN" altLang="en-US" b="1" dirty="0"/>
              <a:t>在</a:t>
            </a:r>
            <a:r>
              <a:rPr lang="en-US" altLang="zh-CN" b="1" dirty="0"/>
              <a:t>main()</a:t>
            </a:r>
            <a:r>
              <a:rPr lang="zh-CN" altLang="en-US" b="1" dirty="0"/>
              <a:t>函数中执行</a:t>
            </a:r>
            <a:r>
              <a:rPr lang="en-US" altLang="zh-CN" b="1" dirty="0"/>
              <a:t>return </a:t>
            </a:r>
            <a:r>
              <a:rPr lang="zh-CN" altLang="en-US" b="1" dirty="0"/>
              <a:t>。</a:t>
            </a:r>
            <a:endParaRPr lang="zh-CN" altLang="en-US" b="1" dirty="0"/>
          </a:p>
          <a:p>
            <a:pPr lvl="1" eaLnBrk="1" hangingPunct="1">
              <a:lnSpc>
                <a:spcPct val="90000"/>
              </a:lnSpc>
            </a:pPr>
            <a:r>
              <a:rPr lang="en-US" altLang="zh-CN" b="1" dirty="0"/>
              <a:t>b.</a:t>
            </a:r>
            <a:r>
              <a:rPr lang="zh-CN" altLang="en-US" b="1" dirty="0"/>
              <a:t>调用</a:t>
            </a:r>
            <a:r>
              <a:rPr lang="en-US" altLang="zh-CN" b="1" dirty="0"/>
              <a:t>exit()</a:t>
            </a:r>
            <a:r>
              <a:rPr lang="zh-CN" altLang="en-US" b="1" dirty="0"/>
              <a:t>函数</a:t>
            </a:r>
            <a:endParaRPr lang="zh-CN" altLang="en-US" b="1" dirty="0"/>
          </a:p>
          <a:p>
            <a:pPr lvl="1" eaLnBrk="1" hangingPunct="1">
              <a:lnSpc>
                <a:spcPct val="90000"/>
              </a:lnSpc>
            </a:pPr>
            <a:r>
              <a:rPr lang="en-US" altLang="zh-CN" b="1" dirty="0"/>
              <a:t>c.</a:t>
            </a:r>
            <a:r>
              <a:rPr lang="zh-CN" altLang="en-US" b="1" dirty="0"/>
              <a:t>调用</a:t>
            </a:r>
            <a:r>
              <a:rPr lang="en-US" altLang="zh-CN" b="1" dirty="0"/>
              <a:t>_exit()</a:t>
            </a:r>
            <a:r>
              <a:rPr lang="zh-CN" altLang="en-US" b="1" dirty="0"/>
              <a:t>函数</a:t>
            </a:r>
            <a:endParaRPr lang="zh-CN" altLang="en-US" b="1" dirty="0"/>
          </a:p>
          <a:p>
            <a:pPr eaLnBrk="1" hangingPunct="1">
              <a:lnSpc>
                <a:spcPct val="90000"/>
              </a:lnSpc>
            </a:pPr>
            <a:r>
              <a:rPr lang="en-US" altLang="zh-CN" b="1" dirty="0"/>
              <a:t>2&gt;</a:t>
            </a:r>
            <a:r>
              <a:rPr lang="zh-CN" altLang="en-US" b="1" dirty="0"/>
              <a:t>异常退出</a:t>
            </a:r>
            <a:endParaRPr lang="zh-CN" altLang="en-US" b="1" dirty="0"/>
          </a:p>
          <a:p>
            <a:pPr lvl="1" eaLnBrk="1" hangingPunct="1">
              <a:lnSpc>
                <a:spcPct val="90000"/>
              </a:lnSpc>
            </a:pPr>
            <a:r>
              <a:rPr lang="en-US" altLang="zh-CN" b="1" dirty="0"/>
              <a:t>a.</a:t>
            </a:r>
            <a:r>
              <a:rPr lang="zh-CN" altLang="en-US" b="1" dirty="0"/>
              <a:t>调用</a:t>
            </a:r>
            <a:r>
              <a:rPr lang="en-US" altLang="zh-CN" b="1" dirty="0"/>
              <a:t>abort</a:t>
            </a:r>
            <a:r>
              <a:rPr lang="zh-CN" altLang="en-US" b="1" dirty="0"/>
              <a:t>函数</a:t>
            </a:r>
            <a:endParaRPr lang="zh-CN" altLang="en-US" b="1" dirty="0"/>
          </a:p>
          <a:p>
            <a:pPr lvl="1" eaLnBrk="1" hangingPunct="1">
              <a:lnSpc>
                <a:spcPct val="90000"/>
              </a:lnSpc>
            </a:pPr>
            <a:r>
              <a:rPr lang="en-US" altLang="zh-CN" b="1" dirty="0"/>
              <a:t>b.</a:t>
            </a:r>
            <a:r>
              <a:rPr lang="zh-CN" altLang="en-US" b="1" dirty="0"/>
              <a:t>进程收到某个信号，而该信号使程序终止。</a:t>
            </a:r>
            <a:endParaRPr lang="zh-CN" altLang="en-US" b="1" dirty="0"/>
          </a:p>
          <a:p>
            <a:pPr lvl="1" eaLnBrk="1" hangingPunct="1">
              <a:lnSpc>
                <a:spcPct val="90000"/>
              </a:lnSpc>
              <a:buNone/>
            </a:pPr>
            <a:endParaRPr lang="en-US" altLang="zh-CN" b="1" dirty="0">
              <a:solidFill>
                <a:schemeClr val="folHlink"/>
              </a:solidFill>
            </a:endParaRPr>
          </a:p>
          <a:p>
            <a:pPr lvl="1" eaLnBrk="1" hangingPunct="1">
              <a:lnSpc>
                <a:spcPct val="90000"/>
              </a:lnSpc>
              <a:buNone/>
            </a:pPr>
            <a:r>
              <a:rPr lang="zh-CN" altLang="en-US" b="1" dirty="0">
                <a:solidFill>
                  <a:schemeClr val="folHlink"/>
                </a:solidFill>
              </a:rPr>
              <a:t>课后学习： </a:t>
            </a:r>
            <a:r>
              <a:rPr lang="en-US" altLang="zh-CN" b="1" dirty="0">
                <a:solidFill>
                  <a:schemeClr val="folHlink"/>
                </a:solidFill>
              </a:rPr>
              <a:t>exit()</a:t>
            </a:r>
            <a:r>
              <a:rPr lang="zh-CN" altLang="en-US" b="1" dirty="0">
                <a:solidFill>
                  <a:schemeClr val="folHlink"/>
                </a:solidFill>
              </a:rPr>
              <a:t>、 </a:t>
            </a:r>
            <a:r>
              <a:rPr lang="en-US" altLang="zh-CN" b="1" dirty="0">
                <a:solidFill>
                  <a:schemeClr val="folHlink"/>
                </a:solidFill>
              </a:rPr>
              <a:t>_exit()</a:t>
            </a:r>
            <a:r>
              <a:rPr lang="zh-CN" altLang="en-US" b="1" dirty="0">
                <a:solidFill>
                  <a:schemeClr val="folHlink"/>
                </a:solidFill>
              </a:rPr>
              <a:t>、 </a:t>
            </a:r>
            <a:r>
              <a:rPr lang="en-US" altLang="zh-CN" b="1" dirty="0">
                <a:solidFill>
                  <a:schemeClr val="folHlink"/>
                </a:solidFill>
              </a:rPr>
              <a:t>return</a:t>
            </a:r>
            <a:r>
              <a:rPr lang="zh-CN" altLang="en-US" b="1" dirty="0">
                <a:solidFill>
                  <a:schemeClr val="folHlink"/>
                </a:solidFill>
              </a:rPr>
              <a:t>的区别及</a:t>
            </a:r>
            <a:endParaRPr lang="zh-CN" altLang="en-US" b="1" dirty="0">
              <a:solidFill>
                <a:schemeClr val="folHlink"/>
              </a:solidFill>
            </a:endParaRPr>
          </a:p>
          <a:p>
            <a:pPr lvl="1" eaLnBrk="1" hangingPunct="1">
              <a:lnSpc>
                <a:spcPct val="90000"/>
              </a:lnSpc>
              <a:buNone/>
            </a:pPr>
            <a:r>
              <a:rPr lang="zh-CN" altLang="en-US" b="1" dirty="0">
                <a:solidFill>
                  <a:schemeClr val="folHlink"/>
                </a:solidFill>
              </a:rPr>
              <a:t>各自的使用方法。</a:t>
            </a:r>
            <a:endParaRPr lang="zh-CN" altLang="en-US" b="1" dirty="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6402"/>
                                        </p:tgtEl>
                                        <p:attrNameLst>
                                          <p:attrName>style.visibility</p:attrName>
                                        </p:attrNameLst>
                                      </p:cBhvr>
                                      <p:to>
                                        <p:strVal val="visible"/>
                                      </p:to>
                                    </p:set>
                                    <p:animEffect transition="in" filter="fade">
                                      <p:cBhvr>
                                        <p:cTn id="7" dur="2000"/>
                                        <p:tgtEl>
                                          <p:spTgt spid="486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6803">
                                            <p:txEl>
                                              <p:charRg st="0" end="7"/>
                                            </p:txEl>
                                          </p:spTgt>
                                        </p:tgtEl>
                                        <p:attrNameLst>
                                          <p:attrName>style.visibility</p:attrName>
                                        </p:attrNameLst>
                                      </p:cBhvr>
                                      <p:to>
                                        <p:strVal val="visible"/>
                                      </p:to>
                                    </p:set>
                                    <p:animEffect transition="in" filter="fade">
                                      <p:cBhvr>
                                        <p:cTn id="12" dur="2000"/>
                                        <p:tgtEl>
                                          <p:spTgt spid="76803">
                                            <p:txEl>
                                              <p:charRg st="0" end="7"/>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6803">
                                            <p:txEl>
                                              <p:charRg st="7" end="31"/>
                                            </p:txEl>
                                          </p:spTgt>
                                        </p:tgtEl>
                                        <p:attrNameLst>
                                          <p:attrName>style.visibility</p:attrName>
                                        </p:attrNameLst>
                                      </p:cBhvr>
                                      <p:to>
                                        <p:strVal val="visible"/>
                                      </p:to>
                                    </p:set>
                                    <p:animEffect transition="in" filter="fade">
                                      <p:cBhvr>
                                        <p:cTn id="15" dur="2000"/>
                                        <p:tgtEl>
                                          <p:spTgt spid="76803">
                                            <p:txEl>
                                              <p:charRg st="7" end="3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6803">
                                            <p:txEl>
                                              <p:charRg st="31" end="44"/>
                                            </p:txEl>
                                          </p:spTgt>
                                        </p:tgtEl>
                                        <p:attrNameLst>
                                          <p:attrName>style.visibility</p:attrName>
                                        </p:attrNameLst>
                                      </p:cBhvr>
                                      <p:to>
                                        <p:strVal val="visible"/>
                                      </p:to>
                                    </p:set>
                                    <p:animEffect transition="in" filter="fade">
                                      <p:cBhvr>
                                        <p:cTn id="18" dur="2000"/>
                                        <p:tgtEl>
                                          <p:spTgt spid="76803">
                                            <p:txEl>
                                              <p:charRg st="31" end="4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6803">
                                            <p:txEl>
                                              <p:charRg st="44" end="58"/>
                                            </p:txEl>
                                          </p:spTgt>
                                        </p:tgtEl>
                                        <p:attrNameLst>
                                          <p:attrName>style.visibility</p:attrName>
                                        </p:attrNameLst>
                                      </p:cBhvr>
                                      <p:to>
                                        <p:strVal val="visible"/>
                                      </p:to>
                                    </p:set>
                                    <p:animEffect transition="in" filter="fade">
                                      <p:cBhvr>
                                        <p:cTn id="21" dur="2000"/>
                                        <p:tgtEl>
                                          <p:spTgt spid="76803">
                                            <p:txEl>
                                              <p:charRg st="44" end="5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6803">
                                            <p:txEl>
                                              <p:charRg st="58" end="65"/>
                                            </p:txEl>
                                          </p:spTgt>
                                        </p:tgtEl>
                                        <p:attrNameLst>
                                          <p:attrName>style.visibility</p:attrName>
                                        </p:attrNameLst>
                                      </p:cBhvr>
                                      <p:to>
                                        <p:strVal val="visible"/>
                                      </p:to>
                                    </p:set>
                                    <p:animEffect transition="in" filter="fade">
                                      <p:cBhvr>
                                        <p:cTn id="26" dur="2000"/>
                                        <p:tgtEl>
                                          <p:spTgt spid="76803">
                                            <p:txEl>
                                              <p:charRg st="58" end="6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6803">
                                            <p:txEl>
                                              <p:charRg st="65" end="77"/>
                                            </p:txEl>
                                          </p:spTgt>
                                        </p:tgtEl>
                                        <p:attrNameLst>
                                          <p:attrName>style.visibility</p:attrName>
                                        </p:attrNameLst>
                                      </p:cBhvr>
                                      <p:to>
                                        <p:strVal val="visible"/>
                                      </p:to>
                                    </p:set>
                                    <p:animEffect transition="in" filter="fade">
                                      <p:cBhvr>
                                        <p:cTn id="29" dur="2000"/>
                                        <p:tgtEl>
                                          <p:spTgt spid="76803">
                                            <p:txEl>
                                              <p:charRg st="65" end="77"/>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6803">
                                            <p:txEl>
                                              <p:charRg st="77" end="99"/>
                                            </p:txEl>
                                          </p:spTgt>
                                        </p:tgtEl>
                                        <p:attrNameLst>
                                          <p:attrName>style.visibility</p:attrName>
                                        </p:attrNameLst>
                                      </p:cBhvr>
                                      <p:to>
                                        <p:strVal val="visible"/>
                                      </p:to>
                                    </p:set>
                                    <p:animEffect transition="in" filter="fade">
                                      <p:cBhvr>
                                        <p:cTn id="32" dur="2000"/>
                                        <p:tgtEl>
                                          <p:spTgt spid="76803">
                                            <p:txEl>
                                              <p:charRg st="77" end="9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6803">
                                            <p:txEl>
                                              <p:charRg st="100" end="134"/>
                                            </p:txEl>
                                          </p:spTgt>
                                        </p:tgtEl>
                                        <p:attrNameLst>
                                          <p:attrName>style.visibility</p:attrName>
                                        </p:attrNameLst>
                                      </p:cBhvr>
                                      <p:to>
                                        <p:strVal val="visible"/>
                                      </p:to>
                                    </p:set>
                                    <p:animEffect transition="in" filter="fade">
                                      <p:cBhvr>
                                        <p:cTn id="35" dur="2000"/>
                                        <p:tgtEl>
                                          <p:spTgt spid="76803">
                                            <p:txEl>
                                              <p:charRg st="100" end="134"/>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6803">
                                            <p:txEl>
                                              <p:charRg st="134" end="143"/>
                                            </p:txEl>
                                          </p:spTgt>
                                        </p:tgtEl>
                                        <p:attrNameLst>
                                          <p:attrName>style.visibility</p:attrName>
                                        </p:attrNameLst>
                                      </p:cBhvr>
                                      <p:to>
                                        <p:strVal val="visible"/>
                                      </p:to>
                                    </p:set>
                                    <p:animEffect transition="in" filter="fade">
                                      <p:cBhvr>
                                        <p:cTn id="38" dur="2000"/>
                                        <p:tgtEl>
                                          <p:spTgt spid="76803">
                                            <p:txEl>
                                              <p:charRg st="134"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2" grpId="0"/>
      <p:bldP spid="7680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33312" y="990853"/>
            <a:ext cx="4347087" cy="1076325"/>
          </a:xfrm>
          <a:prstGeom prst="rect">
            <a:avLst/>
          </a:prstGeom>
        </p:spPr>
        <p:txBody>
          <a:bodyPr wrap="square">
            <a:spAutoFit/>
          </a:bodyPr>
          <a:lstStyle/>
          <a:p>
            <a:pPr algn="just">
              <a:defRPr/>
            </a:pPr>
            <a:r>
              <a:rPr lang="zh-CN" altLang="en-US" sz="3200" b="1" dirty="0">
                <a:solidFill>
                  <a:srgbClr val="0000FF"/>
                </a:solidFill>
                <a:latin typeface="+mj-ea"/>
              </a:rPr>
              <a:t>进程的控制</a:t>
            </a:r>
            <a:r>
              <a:rPr lang="en-US" altLang="zh-CN" sz="3200" b="1" dirty="0">
                <a:solidFill>
                  <a:srgbClr val="0000FF"/>
                </a:solidFill>
                <a:latin typeface="+mj-ea"/>
              </a:rPr>
              <a:t>—</a:t>
            </a:r>
            <a:r>
              <a:rPr lang="zh-CN" altLang="en-US" sz="3200" b="1" dirty="0">
                <a:solidFill>
                  <a:srgbClr val="0000FF"/>
                </a:solidFill>
                <a:latin typeface="+mj-ea"/>
              </a:rPr>
              <a:t>等待与睡眠</a:t>
            </a:r>
            <a:endParaRPr lang="zh-CN" altLang="en-US" sz="3200" b="1" dirty="0">
              <a:solidFill>
                <a:srgbClr val="0000FF"/>
              </a:solidFill>
              <a:latin typeface="+mj-ea"/>
              <a:ea typeface="+mj-ea"/>
            </a:endParaRPr>
          </a:p>
        </p:txBody>
      </p:sp>
      <p:pic>
        <p:nvPicPr>
          <p:cNvPr id="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85440" y="1985645"/>
            <a:ext cx="535178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2590" y="4070985"/>
            <a:ext cx="5295265" cy="2153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3"/>
          <p:cNvSpPr>
            <a:spLocks noGrp="1"/>
          </p:cNvSpPr>
          <p:nvPr>
            <p:ph idx="1"/>
          </p:nvPr>
        </p:nvSpPr>
        <p:spPr>
          <a:xfrm>
            <a:off x="918352" y="2785520"/>
            <a:ext cx="2398773" cy="630761"/>
          </a:xfrm>
        </p:spPr>
        <p:txBody>
          <a:bodyPr/>
          <a:lstStyle/>
          <a:p>
            <a:r>
              <a:rPr lang="zh-CN" altLang="en-US" sz="2400" b="1" dirty="0">
                <a:latin typeface="微软雅黑" panose="020B0503020204020204" charset="-122"/>
                <a:ea typeface="微软雅黑" panose="020B0503020204020204" charset="-122"/>
              </a:rPr>
              <a:t>孤儿进程</a:t>
            </a:r>
            <a:endParaRPr lang="zh-CN" altLang="en-US" sz="2400" b="1" dirty="0">
              <a:latin typeface="微软雅黑" panose="020B0503020204020204" charset="-122"/>
              <a:ea typeface="微软雅黑" panose="020B0503020204020204" charset="-122"/>
            </a:endParaRPr>
          </a:p>
        </p:txBody>
      </p:sp>
      <p:sp>
        <p:nvSpPr>
          <p:cNvPr id="11" name="内容占位符 3"/>
          <p:cNvSpPr txBox="1"/>
          <p:nvPr/>
        </p:nvSpPr>
        <p:spPr>
          <a:xfrm>
            <a:off x="994552" y="4589447"/>
            <a:ext cx="2398773" cy="630761"/>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r>
              <a:rPr lang="zh-CN" altLang="en-US" dirty="0">
                <a:latin typeface="微软雅黑" panose="020B0503020204020204" charset="-122"/>
                <a:ea typeface="微软雅黑" panose="020B0503020204020204" charset="-122"/>
              </a:rPr>
              <a:t>僵尸进程</a:t>
            </a:r>
            <a:endParaRPr lang="zh-CN" altLang="en-US"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Rectangle 2"/>
          <p:cNvSpPr>
            <a:spLocks noGrp="1" noRot="1" noChangeArrowheads="1"/>
          </p:cNvSpPr>
          <p:nvPr>
            <p:ph type="title"/>
          </p:nvPr>
        </p:nvSpPr>
        <p:spPr>
          <a:xfrm>
            <a:off x="301625" y="330200"/>
            <a:ext cx="854075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2.3.4 </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的阻塞与唤醒</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7827" name="Rectangle 3"/>
          <p:cNvSpPr>
            <a:spLocks noGrp="1" noRot="1"/>
          </p:cNvSpPr>
          <p:nvPr>
            <p:ph type="body"/>
          </p:nvPr>
        </p:nvSpPr>
        <p:spPr>
          <a:xfrm>
            <a:off x="457200" y="1752600"/>
            <a:ext cx="8382000" cy="4495800"/>
          </a:xfrm>
          <a:ln/>
        </p:spPr>
        <p:txBody>
          <a:bodyPr vert="horz" wrap="square" lIns="91440" tIns="45720" rIns="91440" bIns="45720" anchor="t" anchorCtr="0"/>
          <a:p>
            <a:pPr algn="just" eaLnBrk="1" hangingPunct="1"/>
            <a:r>
              <a:rPr lang="zh-CN" altLang="en-US" sz="4000" b="1" dirty="0">
                <a:latin typeface="楷体_GB2312" pitchFamily="49" charset="-122"/>
                <a:ea typeface="楷体_GB2312" pitchFamily="49" charset="-122"/>
              </a:rPr>
              <a:t>引起进程阻塞和唤醒的事件</a:t>
            </a:r>
            <a:endParaRPr lang="zh-CN" altLang="en-US" sz="4000" b="1" dirty="0">
              <a:latin typeface="楷体_GB2312" pitchFamily="49" charset="-122"/>
              <a:ea typeface="楷体_GB2312" pitchFamily="49" charset="-122"/>
            </a:endParaRPr>
          </a:p>
          <a:p>
            <a:pPr lvl="1" algn="just" eaLnBrk="1" hangingPunct="1">
              <a:buNone/>
            </a:pP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）向系统请求共享资源失败。</a:t>
            </a:r>
            <a:endParaRPr lang="en-US" altLang="zh-CN" b="1" dirty="0">
              <a:latin typeface="楷体_GB2312" pitchFamily="49" charset="-122"/>
              <a:ea typeface="楷体_GB2312" pitchFamily="49" charset="-122"/>
            </a:endParaRPr>
          </a:p>
          <a:p>
            <a:pPr lvl="1" algn="just" eaLnBrk="1" hangingPunct="1">
              <a:buNone/>
            </a:pP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）等待某种操作的完成：如</a:t>
            </a:r>
            <a:r>
              <a:rPr lang="en-US" altLang="zh-CN" b="1" dirty="0">
                <a:latin typeface="楷体_GB2312" pitchFamily="49" charset="-122"/>
                <a:ea typeface="楷体_GB2312" pitchFamily="49" charset="-122"/>
              </a:rPr>
              <a:t>I/O</a:t>
            </a:r>
            <a:r>
              <a:rPr lang="zh-CN" altLang="en-US" b="1" dirty="0">
                <a:latin typeface="楷体_GB2312" pitchFamily="49" charset="-122"/>
                <a:ea typeface="楷体_GB2312" pitchFamily="49" charset="-122"/>
              </a:rPr>
              <a:t>操作时进程进入阻塞状态，</a:t>
            </a:r>
            <a:r>
              <a:rPr lang="en-US" altLang="zh-CN" b="1" dirty="0">
                <a:latin typeface="楷体_GB2312" pitchFamily="49" charset="-122"/>
                <a:ea typeface="楷体_GB2312" pitchFamily="49" charset="-122"/>
              </a:rPr>
              <a:t>I/O</a:t>
            </a:r>
            <a:r>
              <a:rPr lang="zh-CN" altLang="en-US" b="1" dirty="0">
                <a:latin typeface="楷体_GB2312" pitchFamily="49" charset="-122"/>
                <a:ea typeface="楷体_GB2312" pitchFamily="49" charset="-122"/>
              </a:rPr>
              <a:t>完成后，被中断处理程序唤醒。</a:t>
            </a:r>
            <a:endParaRPr lang="zh-CN" altLang="en-US" b="1" dirty="0">
              <a:latin typeface="楷体_GB2312" pitchFamily="49" charset="-122"/>
              <a:ea typeface="楷体_GB2312" pitchFamily="49" charset="-122"/>
            </a:endParaRPr>
          </a:p>
          <a:p>
            <a:pPr lvl="1" algn="just" eaLnBrk="1" hangingPunct="1">
              <a:buNone/>
            </a:pP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）新数据尚未到达。处理数据的进程</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阻塞，输入数据的进程</a:t>
            </a:r>
            <a:r>
              <a:rPr lang="en-US" altLang="zh-CN"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完成后去唤醒</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  </a:t>
            </a:r>
            <a:endParaRPr lang="zh-CN" altLang="en-US" b="1" dirty="0">
              <a:latin typeface="楷体_GB2312" pitchFamily="49" charset="-122"/>
              <a:ea typeface="楷体_GB2312" pitchFamily="49" charset="-122"/>
            </a:endParaRPr>
          </a:p>
          <a:p>
            <a:pPr lvl="1" algn="just" eaLnBrk="1" hangingPunct="1">
              <a:buNone/>
            </a:pP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）无新工作可做</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如此时使用</a:t>
            </a:r>
            <a:r>
              <a:rPr lang="en-US" altLang="zh-CN" b="1" dirty="0">
                <a:latin typeface="楷体_GB2312" pitchFamily="49" charset="-122"/>
                <a:ea typeface="楷体_GB2312" pitchFamily="49" charset="-122"/>
              </a:rPr>
              <a:t>sleep</a:t>
            </a:r>
            <a:r>
              <a:rPr lang="zh-CN" altLang="en-US" b="1" dirty="0">
                <a:latin typeface="楷体_GB2312" pitchFamily="49" charset="-122"/>
                <a:ea typeface="楷体_GB2312" pitchFamily="49" charset="-122"/>
              </a:rPr>
              <a:t>（）进入休眠</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1426"/>
                                        </p:tgtEl>
                                        <p:attrNameLst>
                                          <p:attrName>style.visibility</p:attrName>
                                        </p:attrNameLst>
                                      </p:cBhvr>
                                      <p:to>
                                        <p:strVal val="visible"/>
                                      </p:to>
                                    </p:set>
                                    <p:animEffect transition="in" filter="fade">
                                      <p:cBhvr>
                                        <p:cTn id="7" dur="2000"/>
                                        <p:tgtEl>
                                          <p:spTgt spid="2314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7827">
                                            <p:txEl>
                                              <p:charRg st="0" end="13"/>
                                            </p:txEl>
                                          </p:spTgt>
                                        </p:tgtEl>
                                        <p:attrNameLst>
                                          <p:attrName>style.visibility</p:attrName>
                                        </p:attrNameLst>
                                      </p:cBhvr>
                                      <p:to>
                                        <p:strVal val="visible"/>
                                      </p:to>
                                    </p:set>
                                    <p:animEffect transition="in" filter="fade">
                                      <p:cBhvr>
                                        <p:cTn id="12" dur="2000"/>
                                        <p:tgtEl>
                                          <p:spTgt spid="77827">
                                            <p:txEl>
                                              <p:charRg st="0" end="1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7827">
                                            <p:txEl>
                                              <p:charRg st="13" end="28"/>
                                            </p:txEl>
                                          </p:spTgt>
                                        </p:tgtEl>
                                        <p:attrNameLst>
                                          <p:attrName>style.visibility</p:attrName>
                                        </p:attrNameLst>
                                      </p:cBhvr>
                                      <p:to>
                                        <p:strVal val="visible"/>
                                      </p:to>
                                    </p:set>
                                    <p:animEffect transition="in" filter="fade">
                                      <p:cBhvr>
                                        <p:cTn id="15" dur="2000"/>
                                        <p:tgtEl>
                                          <p:spTgt spid="77827">
                                            <p:txEl>
                                              <p:charRg st="13" end="2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7827">
                                            <p:txEl>
                                              <p:charRg st="28" end="74"/>
                                            </p:txEl>
                                          </p:spTgt>
                                        </p:tgtEl>
                                        <p:attrNameLst>
                                          <p:attrName>style.visibility</p:attrName>
                                        </p:attrNameLst>
                                      </p:cBhvr>
                                      <p:to>
                                        <p:strVal val="visible"/>
                                      </p:to>
                                    </p:set>
                                    <p:animEffect transition="in" filter="fade">
                                      <p:cBhvr>
                                        <p:cTn id="18" dur="2000"/>
                                        <p:tgtEl>
                                          <p:spTgt spid="77827">
                                            <p:txEl>
                                              <p:charRg st="28" end="7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7827">
                                            <p:txEl>
                                              <p:charRg st="74" end="114"/>
                                            </p:txEl>
                                          </p:spTgt>
                                        </p:tgtEl>
                                        <p:attrNameLst>
                                          <p:attrName>style.visibility</p:attrName>
                                        </p:attrNameLst>
                                      </p:cBhvr>
                                      <p:to>
                                        <p:strVal val="visible"/>
                                      </p:to>
                                    </p:set>
                                    <p:animEffect transition="in" filter="fade">
                                      <p:cBhvr>
                                        <p:cTn id="21" dur="2000"/>
                                        <p:tgtEl>
                                          <p:spTgt spid="77827">
                                            <p:txEl>
                                              <p:charRg st="74" end="11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7827">
                                            <p:txEl>
                                              <p:charRg st="114" end="141"/>
                                            </p:txEl>
                                          </p:spTgt>
                                        </p:tgtEl>
                                        <p:attrNameLst>
                                          <p:attrName>style.visibility</p:attrName>
                                        </p:attrNameLst>
                                      </p:cBhvr>
                                      <p:to>
                                        <p:strVal val="visible"/>
                                      </p:to>
                                    </p:set>
                                    <p:animEffect transition="in" filter="fade">
                                      <p:cBhvr>
                                        <p:cTn id="24" dur="2000"/>
                                        <p:tgtEl>
                                          <p:spTgt spid="77827">
                                            <p:txEl>
                                              <p:charRg st="114" end="1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p:bldP spid="77827"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2"/>
          <p:cNvSpPr>
            <a:spLocks noGrp="1" noRot="1" noChangeArrowheads="1"/>
          </p:cNvSpPr>
          <p:nvPr>
            <p:ph type="title"/>
          </p:nvPr>
        </p:nvSpPr>
        <p:spPr>
          <a:xfrm>
            <a:off x="301625" y="228600"/>
            <a:ext cx="8540750" cy="91281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进程阻塞过程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8851" name="Rectangle 3"/>
          <p:cNvSpPr>
            <a:spLocks noGrp="1" noRot="1"/>
          </p:cNvSpPr>
          <p:nvPr>
            <p:ph type="body"/>
          </p:nvPr>
        </p:nvSpPr>
        <p:spPr>
          <a:xfrm>
            <a:off x="463550" y="1603375"/>
            <a:ext cx="8216900" cy="4114800"/>
          </a:xfrm>
          <a:ln/>
        </p:spPr>
        <p:txBody>
          <a:bodyPr vert="horz" wrap="square" lIns="91440" tIns="45720" rIns="91440" bIns="45720" anchor="t" anchorCtr="0"/>
          <a:p>
            <a:pPr marL="579755" indent="-579755" algn="just" eaLnBrk="1" hangingPunct="1">
              <a:lnSpc>
                <a:spcPct val="90000"/>
              </a:lnSpc>
              <a:buNone/>
            </a:pPr>
            <a:r>
              <a:rPr lang="en-US" altLang="zh-CN" b="1" dirty="0"/>
              <a:t>① </a:t>
            </a:r>
            <a:r>
              <a:rPr lang="zh-CN" altLang="en-US" b="1" dirty="0"/>
              <a:t>正在执行的进程，当发现上述某事件时，由于无法继续执行，于是进程便通过调用阻塞原语</a:t>
            </a:r>
            <a:r>
              <a:rPr lang="en-US" altLang="zh-CN" b="1" dirty="0"/>
              <a:t>block</a:t>
            </a:r>
            <a:r>
              <a:rPr lang="zh-CN" altLang="en-US" b="1" dirty="0"/>
              <a:t>把自己阻塞；</a:t>
            </a:r>
            <a:endParaRPr lang="zh-CN" altLang="en-US" b="1" dirty="0">
              <a:solidFill>
                <a:schemeClr val="folHlink"/>
              </a:solidFill>
            </a:endParaRPr>
          </a:p>
          <a:p>
            <a:pPr marL="579755" indent="-579755" algn="just" eaLnBrk="1" hangingPunct="1">
              <a:lnSpc>
                <a:spcPct val="90000"/>
              </a:lnSpc>
              <a:buNone/>
            </a:pPr>
            <a:r>
              <a:rPr lang="zh-CN" altLang="en-US" b="1" dirty="0"/>
              <a:t>② 把进程控制块中的现行状态由</a:t>
            </a:r>
            <a:r>
              <a:rPr lang="zh-CN" altLang="en-US" b="1" dirty="0">
                <a:latin typeface="Courier New" panose="02070309020205020404" pitchFamily="49" charset="0"/>
              </a:rPr>
              <a:t>“</a:t>
            </a:r>
            <a:r>
              <a:rPr lang="zh-CN" altLang="en-US" b="1" dirty="0"/>
              <a:t>执行</a:t>
            </a:r>
            <a:r>
              <a:rPr lang="zh-CN" altLang="en-US" b="1" dirty="0">
                <a:latin typeface="Courier New" panose="02070309020205020404" pitchFamily="49" charset="0"/>
              </a:rPr>
              <a:t>”</a:t>
            </a:r>
            <a:r>
              <a:rPr lang="zh-CN" altLang="en-US" b="1" dirty="0"/>
              <a:t>改为阻塞，并将</a:t>
            </a:r>
            <a:r>
              <a:rPr lang="en-US" altLang="zh-CN" b="1" dirty="0"/>
              <a:t>PCB</a:t>
            </a:r>
            <a:r>
              <a:rPr lang="zh-CN" altLang="en-US" b="1" dirty="0"/>
              <a:t>插入阻塞队列；</a:t>
            </a:r>
            <a:endParaRPr lang="zh-CN" altLang="en-US" b="1" dirty="0"/>
          </a:p>
          <a:p>
            <a:pPr marL="579755" indent="-579755" algn="just" eaLnBrk="1" hangingPunct="1">
              <a:lnSpc>
                <a:spcPct val="90000"/>
              </a:lnSpc>
              <a:buNone/>
            </a:pPr>
            <a:r>
              <a:rPr lang="zh-CN" altLang="en-US" b="1" dirty="0"/>
              <a:t>③ 转调度程序进行</a:t>
            </a:r>
            <a:r>
              <a:rPr lang="zh-CN" altLang="en-US" b="1" dirty="0">
                <a:solidFill>
                  <a:schemeClr val="folHlink"/>
                </a:solidFill>
              </a:rPr>
              <a:t>重新调度</a:t>
            </a:r>
            <a:r>
              <a:rPr lang="zh-CN" altLang="en-US" b="1" dirty="0"/>
              <a:t>，将处理机分配给另一就绪进程，并进行切换。</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2450"/>
                                        </p:tgtEl>
                                        <p:attrNameLst>
                                          <p:attrName>style.visibility</p:attrName>
                                        </p:attrNameLst>
                                      </p:cBhvr>
                                      <p:to>
                                        <p:strVal val="visible"/>
                                      </p:to>
                                    </p:set>
                                    <p:animEffect transition="in" filter="fade">
                                      <p:cBhvr>
                                        <p:cTn id="7" dur="2000"/>
                                        <p:tgtEl>
                                          <p:spTgt spid="2324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8851">
                                            <p:txEl>
                                              <p:charRg st="0" end="54"/>
                                            </p:txEl>
                                          </p:spTgt>
                                        </p:tgtEl>
                                        <p:attrNameLst>
                                          <p:attrName>style.visibility</p:attrName>
                                        </p:attrNameLst>
                                      </p:cBhvr>
                                      <p:to>
                                        <p:strVal val="visible"/>
                                      </p:to>
                                    </p:set>
                                    <p:animEffect transition="in" filter="fade">
                                      <p:cBhvr>
                                        <p:cTn id="12" dur="2000"/>
                                        <p:tgtEl>
                                          <p:spTgt spid="78851">
                                            <p:txEl>
                                              <p:charRg st="0" end="5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8851">
                                            <p:txEl>
                                              <p:charRg st="54" end="91"/>
                                            </p:txEl>
                                          </p:spTgt>
                                        </p:tgtEl>
                                        <p:attrNameLst>
                                          <p:attrName>style.visibility</p:attrName>
                                        </p:attrNameLst>
                                      </p:cBhvr>
                                      <p:to>
                                        <p:strVal val="visible"/>
                                      </p:to>
                                    </p:set>
                                    <p:animEffect transition="in" filter="fade">
                                      <p:cBhvr>
                                        <p:cTn id="17" dur="2000"/>
                                        <p:tgtEl>
                                          <p:spTgt spid="78851">
                                            <p:txEl>
                                              <p:charRg st="54" end="9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8851">
                                            <p:txEl>
                                              <p:charRg st="91" end="126"/>
                                            </p:txEl>
                                          </p:spTgt>
                                        </p:tgtEl>
                                        <p:attrNameLst>
                                          <p:attrName>style.visibility</p:attrName>
                                        </p:attrNameLst>
                                      </p:cBhvr>
                                      <p:to>
                                        <p:strVal val="visible"/>
                                      </p:to>
                                    </p:set>
                                    <p:animEffect transition="in" filter="fade">
                                      <p:cBhvr>
                                        <p:cTn id="22" dur="2000"/>
                                        <p:tgtEl>
                                          <p:spTgt spid="78851">
                                            <p:txEl>
                                              <p:charRg st="91"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p:bldP spid="78851"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Rectangle 2"/>
          <p:cNvSpPr>
            <a:spLocks noGrp="1" noRot="1" noChangeArrowheads="1"/>
          </p:cNvSpPr>
          <p:nvPr>
            <p:ph type="title"/>
          </p:nvPr>
        </p:nvSpPr>
        <p:spPr>
          <a:xfrm>
            <a:off x="301625" y="228600"/>
            <a:ext cx="8540750" cy="91281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进程唤醒过程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9875" name="Rectangle 3"/>
          <p:cNvSpPr>
            <a:spLocks noGrp="1" noRot="1"/>
          </p:cNvSpPr>
          <p:nvPr>
            <p:ph type="body"/>
          </p:nvPr>
        </p:nvSpPr>
        <p:spPr>
          <a:xfrm>
            <a:off x="533400" y="1752600"/>
            <a:ext cx="8153400" cy="4495800"/>
          </a:xfrm>
          <a:ln/>
        </p:spPr>
        <p:txBody>
          <a:bodyPr vert="horz" wrap="square" lIns="91440" tIns="45720" rIns="91440" bIns="45720" anchor="t" anchorCtr="0"/>
          <a:p>
            <a:pPr marL="579755" indent="-579755" algn="just" eaLnBrk="1" hangingPunct="1">
              <a:buNone/>
            </a:pPr>
            <a:r>
              <a:rPr lang="en-US" altLang="zh-CN" dirty="0"/>
              <a:t>① </a:t>
            </a:r>
            <a:r>
              <a:rPr lang="zh-CN" altLang="en-US" b="1" dirty="0"/>
              <a:t>当被阻塞进程所期待的事件出现时，则由有关进程（比如，用完并释放了该</a:t>
            </a:r>
            <a:r>
              <a:rPr lang="en-US" altLang="zh-CN" b="1" dirty="0"/>
              <a:t>I/O</a:t>
            </a:r>
            <a:r>
              <a:rPr lang="zh-CN" altLang="en-US" b="1" dirty="0"/>
              <a:t>设备的进程）调用唤醒原语</a:t>
            </a:r>
            <a:r>
              <a:rPr lang="en-US" altLang="zh-CN" b="1" dirty="0"/>
              <a:t>wakeup( )</a:t>
            </a:r>
            <a:r>
              <a:rPr lang="zh-CN" altLang="en-US" b="1" dirty="0"/>
              <a:t>，将等待该事件的进程唤醒。</a:t>
            </a:r>
            <a:endParaRPr lang="zh-CN" altLang="en-US" b="1" dirty="0"/>
          </a:p>
          <a:p>
            <a:pPr marL="579755" indent="-579755" algn="just" eaLnBrk="1" hangingPunct="1">
              <a:buNone/>
            </a:pPr>
            <a:r>
              <a:rPr lang="zh-CN" altLang="en-US" b="1" dirty="0"/>
              <a:t>②唤醒原语执行的过程是：首先把被阻塞的进程从等待该事件的阻塞队列中移出，将其</a:t>
            </a:r>
            <a:r>
              <a:rPr lang="en-US" altLang="zh-CN" b="1" dirty="0"/>
              <a:t>PCB</a:t>
            </a:r>
            <a:r>
              <a:rPr lang="zh-CN" altLang="en-US" b="1" dirty="0"/>
              <a:t>中的现行</a:t>
            </a:r>
            <a:r>
              <a:rPr lang="zh-CN" altLang="en-US" b="1" dirty="0">
                <a:solidFill>
                  <a:schemeClr val="folHlink"/>
                </a:solidFill>
              </a:rPr>
              <a:t>状态由阻塞改为就绪</a:t>
            </a:r>
            <a:r>
              <a:rPr lang="zh-CN" altLang="en-US" b="1" dirty="0"/>
              <a:t>，然后再将该</a:t>
            </a:r>
            <a:r>
              <a:rPr lang="en-US" altLang="zh-CN" b="1" dirty="0"/>
              <a:t>PCB</a:t>
            </a:r>
            <a:r>
              <a:rPr lang="zh-CN" altLang="en-US" b="1" dirty="0">
                <a:solidFill>
                  <a:schemeClr val="folHlink"/>
                </a:solidFill>
              </a:rPr>
              <a:t>插入到就绪队列</a:t>
            </a:r>
            <a:r>
              <a:rPr lang="zh-CN" altLang="en-US" b="1" dirty="0"/>
              <a:t>中。</a:t>
            </a:r>
            <a:endParaRPr lang="zh-CN" altLang="en-US" b="1" dirty="0"/>
          </a:p>
          <a:p>
            <a:pPr marL="579755" indent="-579755" algn="just" eaLnBrk="1" hangingPunct="1">
              <a:buNone/>
            </a:pP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3474"/>
                                        </p:tgtEl>
                                        <p:attrNameLst>
                                          <p:attrName>style.visibility</p:attrName>
                                        </p:attrNameLst>
                                      </p:cBhvr>
                                      <p:to>
                                        <p:strVal val="visible"/>
                                      </p:to>
                                    </p:set>
                                    <p:animEffect transition="in" filter="fade">
                                      <p:cBhvr>
                                        <p:cTn id="7" dur="2000"/>
                                        <p:tgtEl>
                                          <p:spTgt spid="2334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875">
                                            <p:txEl>
                                              <p:charRg st="0" end="73"/>
                                            </p:txEl>
                                          </p:spTgt>
                                        </p:tgtEl>
                                        <p:attrNameLst>
                                          <p:attrName>style.visibility</p:attrName>
                                        </p:attrNameLst>
                                      </p:cBhvr>
                                      <p:to>
                                        <p:strVal val="visible"/>
                                      </p:to>
                                    </p:set>
                                    <p:animEffect transition="in" filter="fade">
                                      <p:cBhvr>
                                        <p:cTn id="12" dur="2000"/>
                                        <p:tgtEl>
                                          <p:spTgt spid="79875">
                                            <p:txEl>
                                              <p:charRg st="0" end="7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9875">
                                            <p:txEl>
                                              <p:charRg st="73" end="146"/>
                                            </p:txEl>
                                          </p:spTgt>
                                        </p:tgtEl>
                                        <p:attrNameLst>
                                          <p:attrName>style.visibility</p:attrName>
                                        </p:attrNameLst>
                                      </p:cBhvr>
                                      <p:to>
                                        <p:strVal val="visible"/>
                                      </p:to>
                                    </p:set>
                                    <p:animEffect transition="in" filter="fade">
                                      <p:cBhvr>
                                        <p:cTn id="17" dur="2000"/>
                                        <p:tgtEl>
                                          <p:spTgt spid="79875">
                                            <p:txEl>
                                              <p:charRg st="73" end="1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p:bldP spid="79875"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2.3.5 </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的挂起与激活</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80899" name="Rectangle 3"/>
          <p:cNvSpPr>
            <a:spLocks noGrp="1" noRot="1"/>
          </p:cNvSpPr>
          <p:nvPr>
            <p:ph type="body"/>
          </p:nvPr>
        </p:nvSpPr>
        <p:spPr>
          <a:xfrm>
            <a:off x="76200" y="1676400"/>
            <a:ext cx="8915400" cy="5257800"/>
          </a:xfrm>
          <a:ln/>
        </p:spPr>
        <p:txBody>
          <a:bodyPr vert="horz" wrap="square" lIns="91440" tIns="45720" rIns="91440" bIns="45720" anchor="t" anchorCtr="0"/>
          <a:p>
            <a:pPr algn="just" eaLnBrk="1" hangingPunct="1"/>
            <a:r>
              <a:rPr lang="en-US" altLang="zh-CN" sz="2800" dirty="0"/>
              <a:t> </a:t>
            </a:r>
            <a:r>
              <a:rPr lang="zh-CN" altLang="en-US" b="1" dirty="0"/>
              <a:t>进程的挂起：</a:t>
            </a:r>
            <a:endParaRPr lang="zh-CN" altLang="en-US" b="1" dirty="0"/>
          </a:p>
          <a:p>
            <a:r>
              <a:rPr lang="zh-CN" altLang="en-US" b="1" dirty="0">
                <a:latin typeface="楷体_GB2312" pitchFamily="49" charset="-122"/>
                <a:ea typeface="楷体_GB2312" pitchFamily="49" charset="-122"/>
              </a:rPr>
              <a:t>当出现了引起进程挂起的事件时（</a:t>
            </a:r>
            <a:r>
              <a:rPr lang="zh-CN" altLang="en-US" b="1" dirty="0">
                <a:solidFill>
                  <a:srgbClr val="0066FF"/>
                </a:solidFill>
              </a:rPr>
              <a:t>比如，用户进程请求将自己挂起，或父进程请求将自己的某个子进程挂起</a:t>
            </a:r>
            <a:r>
              <a:rPr lang="zh-CN" altLang="en-US" b="1" dirty="0">
                <a:solidFill>
                  <a:srgbClr val="0066FF"/>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，系统将利用挂起原语</a:t>
            </a:r>
            <a:r>
              <a:rPr lang="en-US" altLang="zh-CN" b="1" dirty="0">
                <a:latin typeface="楷体_GB2312" pitchFamily="49" charset="-122"/>
                <a:ea typeface="楷体_GB2312" pitchFamily="49" charset="-122"/>
              </a:rPr>
              <a:t>suspend( )</a:t>
            </a:r>
            <a:r>
              <a:rPr lang="zh-CN" altLang="en-US" b="1" dirty="0">
                <a:latin typeface="楷体_GB2312" pitchFamily="49" charset="-122"/>
                <a:ea typeface="楷体_GB2312" pitchFamily="49" charset="-122"/>
              </a:rPr>
              <a:t>将</a:t>
            </a:r>
            <a:r>
              <a:rPr lang="zh-CN" altLang="en-US" b="1" dirty="0">
                <a:solidFill>
                  <a:schemeClr val="folHlink"/>
                </a:solidFill>
                <a:latin typeface="楷体_GB2312" pitchFamily="49" charset="-122"/>
                <a:ea typeface="楷体_GB2312" pitchFamily="49" charset="-122"/>
              </a:rPr>
              <a:t>指定进程挂起</a:t>
            </a:r>
            <a:r>
              <a:rPr lang="zh-CN" altLang="en-US" b="1" dirty="0">
                <a:solidFill>
                  <a:schemeClr val="folHlink"/>
                </a:solidFill>
              </a:rPr>
              <a:t>或处于阻塞状态的进程挂起</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eaLnBrk="1" hangingPunct="1">
              <a:buNone/>
            </a:pPr>
            <a:endParaRPr lang="zh-CN" altLang="en-US" b="1"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4498"/>
                                        </p:tgtEl>
                                        <p:attrNameLst>
                                          <p:attrName>style.visibility</p:attrName>
                                        </p:attrNameLst>
                                      </p:cBhvr>
                                      <p:to>
                                        <p:strVal val="visible"/>
                                      </p:to>
                                    </p:set>
                                    <p:animEffect transition="in" filter="fade">
                                      <p:cBhvr>
                                        <p:cTn id="7" dur="2000"/>
                                        <p:tgtEl>
                                          <p:spTgt spid="234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899">
                                            <p:txEl>
                                              <p:charRg st="0" end="8"/>
                                            </p:txEl>
                                          </p:spTgt>
                                        </p:tgtEl>
                                        <p:attrNameLst>
                                          <p:attrName>style.visibility</p:attrName>
                                        </p:attrNameLst>
                                      </p:cBhvr>
                                      <p:to>
                                        <p:strVal val="visible"/>
                                      </p:to>
                                    </p:set>
                                    <p:animEffect transition="in" filter="fade">
                                      <p:cBhvr>
                                        <p:cTn id="12" dur="2000"/>
                                        <p:tgtEl>
                                          <p:spTgt spid="80899">
                                            <p:txEl>
                                              <p:charRg st="0" end="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0899">
                                            <p:txEl>
                                              <p:charRg st="8" end="97"/>
                                            </p:txEl>
                                          </p:spTgt>
                                        </p:tgtEl>
                                        <p:attrNameLst>
                                          <p:attrName>style.visibility</p:attrName>
                                        </p:attrNameLst>
                                      </p:cBhvr>
                                      <p:to>
                                        <p:strVal val="visible"/>
                                      </p:to>
                                    </p:set>
                                    <p:animEffect transition="in" filter="fade">
                                      <p:cBhvr>
                                        <p:cTn id="15" dur="2000"/>
                                        <p:tgtEl>
                                          <p:spTgt spid="80899">
                                            <p:txEl>
                                              <p:charRg st="8" end="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p:bldP spid="8089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进程挂起的过程</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5779" name="内容占位符 2"/>
          <p:cNvSpPr>
            <a:spLocks noGrp="1"/>
          </p:cNvSpPr>
          <p:nvPr>
            <p:ph idx="1"/>
          </p:nvPr>
        </p:nvSpPr>
        <p:spPr>
          <a:ln/>
        </p:spPr>
        <p:txBody>
          <a:bodyPr vert="horz" wrap="square" lIns="91440" tIns="45720" rIns="91440" bIns="45720" anchor="t" anchorCtr="0"/>
          <a:p>
            <a:pPr eaLnBrk="1" hangingPunct="1"/>
            <a:r>
              <a:rPr lang="zh-CN" altLang="en-US" b="1" dirty="0"/>
              <a:t>挂起原语的执行过程是：</a:t>
            </a:r>
            <a:endParaRPr lang="zh-CN" altLang="en-US" b="1" dirty="0"/>
          </a:p>
          <a:p>
            <a:pPr marL="533400" lvl="1" indent="-76200" eaLnBrk="1" hangingPunct="1">
              <a:buNone/>
            </a:pPr>
            <a:r>
              <a:rPr lang="en-US" altLang="zh-CN" b="1" dirty="0">
                <a:ea typeface="楷体_GB2312" pitchFamily="49" charset="-122"/>
              </a:rPr>
              <a:t>1</a:t>
            </a:r>
            <a:r>
              <a:rPr lang="zh-CN" altLang="en-US" b="1" dirty="0">
                <a:ea typeface="楷体_GB2312" pitchFamily="49" charset="-122"/>
              </a:rPr>
              <a:t>、首先检查被挂起进程的状态，</a:t>
            </a:r>
            <a:endParaRPr lang="en-US" altLang="zh-CN" b="1" dirty="0">
              <a:ea typeface="楷体_GB2312" pitchFamily="49" charset="-122"/>
            </a:endParaRPr>
          </a:p>
          <a:p>
            <a:pPr marL="533400" lvl="1" indent="-76200" eaLnBrk="1" hangingPunct="1">
              <a:buNone/>
            </a:pPr>
            <a:r>
              <a:rPr lang="zh-CN" altLang="en-US" b="1" dirty="0">
                <a:ea typeface="楷体_GB2312" pitchFamily="49" charset="-122"/>
              </a:rPr>
              <a:t>若处于</a:t>
            </a:r>
            <a:r>
              <a:rPr lang="zh-CN" altLang="en-US" b="1" dirty="0">
                <a:solidFill>
                  <a:srgbClr val="FF0000"/>
                </a:solidFill>
                <a:ea typeface="楷体_GB2312" pitchFamily="49" charset="-122"/>
              </a:rPr>
              <a:t>活动就绪状态，便将其改为静止就绪</a:t>
            </a:r>
            <a:r>
              <a:rPr lang="zh-CN" altLang="en-US" b="1" dirty="0">
                <a:ea typeface="楷体_GB2312" pitchFamily="49" charset="-122"/>
              </a:rPr>
              <a:t>；</a:t>
            </a:r>
            <a:endParaRPr lang="en-US" altLang="zh-CN" b="1" dirty="0">
              <a:ea typeface="楷体_GB2312" pitchFamily="49" charset="-122"/>
            </a:endParaRPr>
          </a:p>
          <a:p>
            <a:pPr marL="533400" lvl="1" indent="-76200" eaLnBrk="1" hangingPunct="1">
              <a:buNone/>
            </a:pPr>
            <a:r>
              <a:rPr lang="zh-CN" altLang="en-US" b="1" dirty="0">
                <a:ea typeface="楷体_GB2312" pitchFamily="49" charset="-122"/>
              </a:rPr>
              <a:t>对于</a:t>
            </a:r>
            <a:r>
              <a:rPr lang="zh-CN" altLang="en-US" b="1" dirty="0">
                <a:solidFill>
                  <a:srgbClr val="FF0000"/>
                </a:solidFill>
                <a:ea typeface="楷体_GB2312" pitchFamily="49" charset="-122"/>
              </a:rPr>
              <a:t>活动阻塞状态的进程，则将之改为静止阻塞</a:t>
            </a:r>
            <a:r>
              <a:rPr lang="zh-CN" altLang="en-US" b="1" dirty="0">
                <a:ea typeface="楷体_GB2312" pitchFamily="49" charset="-122"/>
              </a:rPr>
              <a:t>；</a:t>
            </a:r>
            <a:endParaRPr lang="en-US" altLang="zh-CN" b="1" dirty="0">
              <a:ea typeface="楷体_GB2312" pitchFamily="49" charset="-122"/>
            </a:endParaRPr>
          </a:p>
          <a:p>
            <a:pPr marL="533400" lvl="1" indent="-76200" eaLnBrk="1" hangingPunct="1">
              <a:buNone/>
            </a:pPr>
            <a:endParaRPr lang="en-US" altLang="zh-CN" b="1" dirty="0">
              <a:ea typeface="楷体_GB2312" pitchFamily="49" charset="-122"/>
            </a:endParaRPr>
          </a:p>
          <a:p>
            <a:pPr marL="533400" lvl="1" indent="-76200" eaLnBrk="1" hangingPunct="1">
              <a:buNone/>
            </a:pPr>
            <a:r>
              <a:rPr lang="en-US" altLang="zh-CN" b="1" dirty="0">
                <a:ea typeface="楷体_GB2312" pitchFamily="49" charset="-122"/>
              </a:rPr>
              <a:t>2</a:t>
            </a:r>
            <a:r>
              <a:rPr lang="zh-CN" altLang="en-US" b="1" dirty="0">
                <a:ea typeface="楷体_GB2312" pitchFamily="49" charset="-122"/>
              </a:rPr>
              <a:t>、然后将被挂起进程的</a:t>
            </a:r>
            <a:r>
              <a:rPr lang="en-US" altLang="zh-CN" b="1" dirty="0">
                <a:ea typeface="楷体_GB2312" pitchFamily="49" charset="-122"/>
              </a:rPr>
              <a:t>PCB</a:t>
            </a:r>
            <a:r>
              <a:rPr lang="zh-CN" altLang="en-US" b="1" dirty="0">
                <a:ea typeface="楷体_GB2312" pitchFamily="49" charset="-122"/>
              </a:rPr>
              <a:t>复制到指定的内存区域。</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Text Box 2"/>
          <p:cNvSpPr txBox="1"/>
          <p:nvPr/>
        </p:nvSpPr>
        <p:spPr>
          <a:xfrm>
            <a:off x="304800" y="738188"/>
            <a:ext cx="8137525" cy="6119812"/>
          </a:xfrm>
          <a:prstGeom prst="rect">
            <a:avLst/>
          </a:prstGeom>
          <a:solidFill>
            <a:srgbClr val="CCFFCC"/>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342900" lvl="0" indent="-342900" eaLnBrk="1" hangingPunct="1">
              <a:spcBef>
                <a:spcPct val="0"/>
              </a:spcBef>
              <a:buClrTx/>
              <a:buSzTx/>
              <a:buFontTx/>
              <a:buNone/>
            </a:pPr>
            <a:r>
              <a:rPr lang="en-US" altLang="ko-KR" sz="1400" b="1" dirty="0">
                <a:latin typeface="Times New Roman" panose="02020603050405020304" pitchFamily="18" charset="0"/>
              </a:rPr>
              <a:t>INT8U  OSTaskSuspend (INT8U 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BOOLEAN    self;</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OS_TCB    *ptcb;</a:t>
            </a:r>
            <a:endParaRPr lang="en-US" altLang="zh-CN" sz="1400" b="1" dirty="0">
              <a:latin typeface="Times New Roman" panose="02020603050405020304" pitchFamily="18" charset="0"/>
            </a:endParaRPr>
          </a:p>
          <a:p>
            <a:pPr marL="342900" lvl="0" indent="-342900" eaLnBrk="1" hangingPunct="1">
              <a:spcBef>
                <a:spcPct val="0"/>
              </a:spcBef>
              <a:buClrTx/>
              <a:buSzTx/>
              <a:buFontTx/>
              <a:buNone/>
            </a:pPr>
            <a:r>
              <a:rPr lang="en-US" altLang="zh-CN" sz="2400" dirty="0">
                <a:latin typeface="Times New Roman" panose="02020603050405020304" pitchFamily="18" charset="0"/>
              </a:rPr>
              <a:t>  </a:t>
            </a:r>
            <a:r>
              <a:rPr lang="en-US" altLang="ko-KR" sz="1400" b="1" dirty="0">
                <a:latin typeface="Times New Roman" panose="02020603050405020304" pitchFamily="18" charset="0"/>
              </a:rPr>
              <a:t>OS_ENTER_CRITICAL();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(prio == OS_PRIO_SELF) {                               </a:t>
            </a:r>
            <a:r>
              <a:rPr lang="en-US" altLang="zh-CN" sz="1400" b="1" dirty="0">
                <a:latin typeface="Times New Roman" panose="02020603050405020304" pitchFamily="18" charset="0"/>
              </a:rPr>
              <a:t>         </a:t>
            </a:r>
            <a:r>
              <a:rPr lang="en-US" altLang="ko-KR" sz="1400" b="1" dirty="0">
                <a:latin typeface="Times New Roman" panose="02020603050405020304" pitchFamily="18" charset="0"/>
              </a:rPr>
              <a:t>  /* See if suspend SELF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prio = OSTCBCur-&gt;OSTCBPrio;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self = TRUE;</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 else if (prio == OSTCBCur-&gt;OSTCBPrio) {                   /* See if suspending self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self = TRUE;</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 else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self = FALSE;                                           </a:t>
            </a:r>
            <a:r>
              <a:rPr lang="en-US" altLang="zh-CN" sz="1400" b="1" dirty="0">
                <a:latin typeface="Times New Roman" panose="02020603050405020304" pitchFamily="18" charset="0"/>
              </a:rPr>
              <a:t>                 </a:t>
            </a:r>
            <a:r>
              <a:rPr lang="en-US" altLang="ko-KR" sz="1400" b="1" dirty="0">
                <a:latin typeface="Times New Roman" panose="02020603050405020304" pitchFamily="18" charset="0"/>
              </a:rPr>
              <a:t>/* No suspending another task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ptcb = OSTCBPrioTbl[prio];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(ptcb == (OS_TCB *)0) {                                  </a:t>
            </a:r>
            <a:r>
              <a:rPr lang="en-US" altLang="zh-CN" sz="1400" b="1" dirty="0">
                <a:latin typeface="Times New Roman" panose="02020603050405020304" pitchFamily="18" charset="0"/>
              </a:rPr>
              <a:t>          </a:t>
            </a:r>
            <a:r>
              <a:rPr lang="en-US" altLang="ko-KR" sz="1400" b="1" dirty="0">
                <a:latin typeface="Times New Roman" panose="02020603050405020304" pitchFamily="18" charset="0"/>
              </a:rPr>
              <a:t>/* Task to suspend must exist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(OS_TASK_SUSPEND_PRIO);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((OSRdyTbl[ptcb-&gt;OSTCBY] &amp;= ~ptcb-&gt;OSTCBBitX) == 0x00) { /* Make task not ready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OSRdyGrp &amp;= ~ptcb-&gt;OSTCBBitY;</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ptcb-&gt;OSTCBStat |= OS_STAT_SUSPEND;                         /* Status of task is 'SUSPENDED'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solidFill>
                  <a:srgbClr val="FF0000"/>
                </a:solidFill>
                <a:latin typeface="Times New Roman" panose="02020603050405020304" pitchFamily="18" charset="0"/>
              </a:rPr>
              <a:t>    if (self == TRUE) {                                         </a:t>
            </a:r>
            <a:r>
              <a:rPr lang="en-US" altLang="zh-CN" sz="1400" b="1" dirty="0">
                <a:solidFill>
                  <a:srgbClr val="FF0000"/>
                </a:solidFill>
                <a:latin typeface="Times New Roman" panose="02020603050405020304" pitchFamily="18" charset="0"/>
              </a:rPr>
              <a:t>                               </a:t>
            </a:r>
            <a:r>
              <a:rPr lang="en-US" altLang="ko-KR" sz="1400" b="1" dirty="0">
                <a:solidFill>
                  <a:srgbClr val="FF0000"/>
                </a:solidFill>
                <a:latin typeface="Times New Roman" panose="02020603050405020304" pitchFamily="18" charset="0"/>
              </a:rPr>
              <a:t>/* Context switch only if SELF         */</a:t>
            </a:r>
            <a:endParaRPr lang="en-US" altLang="ko-KR" sz="1400" b="1" dirty="0">
              <a:solidFill>
                <a:srgbClr val="FF0000"/>
              </a:solidFill>
              <a:latin typeface="Times New Roman" panose="02020603050405020304" pitchFamily="18" charset="0"/>
            </a:endParaRPr>
          </a:p>
          <a:p>
            <a:pPr marL="342900" lvl="0" indent="-342900" eaLnBrk="1" hangingPunct="1">
              <a:spcBef>
                <a:spcPct val="0"/>
              </a:spcBef>
              <a:buClrTx/>
              <a:buSzTx/>
              <a:buFontTx/>
              <a:buNone/>
            </a:pPr>
            <a:r>
              <a:rPr lang="en-US" altLang="ko-KR" sz="1400" b="1" dirty="0">
                <a:solidFill>
                  <a:srgbClr val="FF0000"/>
                </a:solidFill>
                <a:latin typeface="Times New Roman" panose="02020603050405020304" pitchFamily="18" charset="0"/>
              </a:rPr>
              <a:t>        OS_Sched();</a:t>
            </a:r>
            <a:endParaRPr lang="en-US" altLang="ko-KR" sz="1400" b="1" dirty="0">
              <a:solidFill>
                <a:srgbClr val="FF0000"/>
              </a:solidFill>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(OS_NO_ERR);</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a:t>
            </a:r>
            <a:endParaRPr lang="en-US" altLang="ko-KR" sz="1400" b="1" dirty="0">
              <a:latin typeface="Times New Roman" panose="02020603050405020304" pitchFamily="18" charset="0"/>
            </a:endParaRPr>
          </a:p>
        </p:txBody>
      </p:sp>
      <p:sp>
        <p:nvSpPr>
          <p:cNvPr id="5" name="Rectangle 3"/>
          <p:cNvSpPr>
            <a:spLocks noChangeArrowheads="1"/>
          </p:cNvSpPr>
          <p:nvPr/>
        </p:nvSpPr>
        <p:spPr bwMode="auto">
          <a:xfrm>
            <a:off x="2093913" y="152400"/>
            <a:ext cx="6196013"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ko-KR"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OSTaskSuspend</a:t>
            </a:r>
            <a:r>
              <a:rPr kumimoji="1" lang="en-US" altLang="ko-KR"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 in </a:t>
            </a:r>
            <a:r>
              <a:rPr kumimoji="1" lang="en-US" altLang="ko-KR"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u</a:t>
            </a:r>
            <a:r>
              <a:rPr kumimoji="1" lang="en-US" altLang="zh-CN"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C</a:t>
            </a:r>
            <a:r>
              <a:rPr kumimoji="1" lang="en-US" altLang="ko-KR"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OS</a:t>
            </a:r>
            <a:endPar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Rectangle 2"/>
          <p:cNvSpPr>
            <a:spLocks noGrp="1" noRot="1" noChangeArrowheads="1"/>
          </p:cNvSpPr>
          <p:nvPr>
            <p:ph type="title"/>
          </p:nvPr>
        </p:nvSpPr>
        <p:spPr>
          <a:xfrm>
            <a:off x="301625" y="228600"/>
            <a:ext cx="8540750" cy="9064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的激活过程</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81923" name="Rectangle 3"/>
          <p:cNvSpPr>
            <a:spLocks noGrp="1" noRot="1"/>
          </p:cNvSpPr>
          <p:nvPr>
            <p:ph type="body"/>
          </p:nvPr>
        </p:nvSpPr>
        <p:spPr>
          <a:xfrm>
            <a:off x="457200" y="1600200"/>
            <a:ext cx="8305800" cy="4876800"/>
          </a:xfrm>
          <a:ln/>
        </p:spPr>
        <p:txBody>
          <a:bodyPr vert="horz" wrap="square" lIns="91440" tIns="45720" rIns="91440" bIns="45720" anchor="t" anchorCtr="0"/>
          <a:p>
            <a:pPr algn="just" eaLnBrk="1" hangingPunct="1">
              <a:lnSpc>
                <a:spcPct val="110000"/>
              </a:lnSpc>
              <a:buNone/>
            </a:pPr>
            <a:r>
              <a:rPr lang="en-US" altLang="zh-CN" sz="2800" b="1" dirty="0"/>
              <a:t>①</a:t>
            </a:r>
            <a:r>
              <a:rPr lang="zh-CN" altLang="en-US" sz="2800" b="1" dirty="0"/>
              <a:t>当发生激活进程的事件时，例如，父进程或用户进程请求激活指定进程，系统将利用激活原语</a:t>
            </a:r>
            <a:r>
              <a:rPr lang="en-US" altLang="zh-CN" sz="2800" b="1" dirty="0"/>
              <a:t>active( )</a:t>
            </a:r>
            <a:r>
              <a:rPr lang="zh-CN" altLang="en-US" sz="2800" b="1" dirty="0"/>
              <a:t>将指定进程激活。</a:t>
            </a:r>
            <a:endParaRPr lang="zh-CN" altLang="en-US" sz="2800" b="1" dirty="0"/>
          </a:p>
          <a:p>
            <a:pPr algn="just" eaLnBrk="1" hangingPunct="1">
              <a:lnSpc>
                <a:spcPct val="110000"/>
              </a:lnSpc>
              <a:buNone/>
            </a:pPr>
            <a:r>
              <a:rPr lang="zh-CN" altLang="en-US" sz="2800" b="1" dirty="0"/>
              <a:t>②系统利用激活原语</a:t>
            </a:r>
            <a:r>
              <a:rPr lang="en-US" altLang="zh-CN" sz="2800" b="1" dirty="0"/>
              <a:t>active( )</a:t>
            </a:r>
            <a:r>
              <a:rPr lang="zh-CN" altLang="en-US" sz="2800" b="1" dirty="0"/>
              <a:t>将指定进程激活：</a:t>
            </a:r>
            <a:endParaRPr lang="en-US" altLang="zh-CN" sz="2800" b="1" dirty="0"/>
          </a:p>
          <a:p>
            <a:pPr algn="just" eaLnBrk="1" hangingPunct="1">
              <a:lnSpc>
                <a:spcPct val="110000"/>
              </a:lnSpc>
              <a:buNone/>
            </a:pPr>
            <a:r>
              <a:rPr lang="en-US" altLang="zh-CN" sz="2800" b="1" dirty="0">
                <a:solidFill>
                  <a:srgbClr val="FF0000"/>
                </a:solidFill>
              </a:rPr>
              <a:t>		</a:t>
            </a:r>
            <a:r>
              <a:rPr lang="zh-CN" altLang="en-US" sz="2800" b="1" dirty="0">
                <a:solidFill>
                  <a:srgbClr val="FF0000"/>
                </a:solidFill>
              </a:rPr>
              <a:t>激活原语检查该进程的现行状态，若是静止就绪</a:t>
            </a:r>
            <a:r>
              <a:rPr lang="zh-CN" altLang="en-US" sz="2800" b="1" dirty="0"/>
              <a:t>，</a:t>
            </a:r>
            <a:r>
              <a:rPr lang="zh-CN" altLang="en-US" sz="2800" b="1" dirty="0">
                <a:solidFill>
                  <a:srgbClr val="FF0000"/>
                </a:solidFill>
              </a:rPr>
              <a:t>便将之改为活动就绪；</a:t>
            </a:r>
            <a:endParaRPr lang="en-US" altLang="zh-CN" sz="2800" b="1" dirty="0">
              <a:solidFill>
                <a:srgbClr val="FF0000"/>
              </a:solidFill>
            </a:endParaRPr>
          </a:p>
          <a:p>
            <a:pPr algn="just" eaLnBrk="1" hangingPunct="1">
              <a:lnSpc>
                <a:spcPct val="110000"/>
              </a:lnSpc>
              <a:buNone/>
            </a:pPr>
            <a:r>
              <a:rPr lang="en-US" altLang="zh-CN" sz="2800" b="1" dirty="0">
                <a:solidFill>
                  <a:srgbClr val="FF0000"/>
                </a:solidFill>
              </a:rPr>
              <a:t>		</a:t>
            </a:r>
            <a:r>
              <a:rPr lang="zh-CN" altLang="en-US" sz="2800" b="1" dirty="0">
                <a:solidFill>
                  <a:srgbClr val="FF0000"/>
                </a:solidFill>
              </a:rPr>
              <a:t>若为静止阻塞，便将之改为活动阻塞。</a:t>
            </a:r>
            <a:endParaRPr lang="zh-CN" altLang="en-US" sz="2800" b="1" dirty="0">
              <a:solidFill>
                <a:srgbClr val="FF0000"/>
              </a:solidFill>
            </a:endParaRPr>
          </a:p>
          <a:p>
            <a:pPr algn="just" eaLnBrk="1" hangingPunct="1">
              <a:lnSpc>
                <a:spcPct val="110000"/>
              </a:lnSpc>
              <a:buNone/>
            </a:pPr>
            <a:r>
              <a:rPr lang="zh-CN" altLang="en-US" sz="2800" dirty="0"/>
              <a:t>	</a:t>
            </a:r>
            <a:endParaRPr lang="zh-CN" altLang="en-US" sz="2800" b="1" dirty="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5522"/>
                                        </p:tgtEl>
                                        <p:attrNameLst>
                                          <p:attrName>style.visibility</p:attrName>
                                        </p:attrNameLst>
                                      </p:cBhvr>
                                      <p:to>
                                        <p:strVal val="visible"/>
                                      </p:to>
                                    </p:set>
                                    <p:animEffect transition="in" filter="fade">
                                      <p:cBhvr>
                                        <p:cTn id="7" dur="2000"/>
                                        <p:tgtEl>
                                          <p:spTgt spid="2355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923">
                                            <p:txEl>
                                              <p:charRg st="0" end="60"/>
                                            </p:txEl>
                                          </p:spTgt>
                                        </p:tgtEl>
                                        <p:attrNameLst>
                                          <p:attrName>style.visibility</p:attrName>
                                        </p:attrNameLst>
                                      </p:cBhvr>
                                      <p:to>
                                        <p:strVal val="visible"/>
                                      </p:to>
                                    </p:set>
                                    <p:animEffect transition="in" filter="fade">
                                      <p:cBhvr>
                                        <p:cTn id="12" dur="2000"/>
                                        <p:tgtEl>
                                          <p:spTgt spid="81923">
                                            <p:txEl>
                                              <p:charRg st="0" end="6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923">
                                            <p:txEl>
                                              <p:charRg st="60" end="87"/>
                                            </p:txEl>
                                          </p:spTgt>
                                        </p:tgtEl>
                                        <p:attrNameLst>
                                          <p:attrName>style.visibility</p:attrName>
                                        </p:attrNameLst>
                                      </p:cBhvr>
                                      <p:to>
                                        <p:strVal val="visible"/>
                                      </p:to>
                                    </p:set>
                                    <p:animEffect transition="in" filter="fade">
                                      <p:cBhvr>
                                        <p:cTn id="17" dur="2000"/>
                                        <p:tgtEl>
                                          <p:spTgt spid="81923">
                                            <p:txEl>
                                              <p:charRg st="60" end="8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1923">
                                            <p:txEl>
                                              <p:charRg st="87" end="122"/>
                                            </p:txEl>
                                          </p:spTgt>
                                        </p:tgtEl>
                                        <p:attrNameLst>
                                          <p:attrName>style.visibility</p:attrName>
                                        </p:attrNameLst>
                                      </p:cBhvr>
                                      <p:to>
                                        <p:strVal val="visible"/>
                                      </p:to>
                                    </p:set>
                                    <p:animEffect transition="in" filter="fade">
                                      <p:cBhvr>
                                        <p:cTn id="22" dur="2000"/>
                                        <p:tgtEl>
                                          <p:spTgt spid="81923">
                                            <p:txEl>
                                              <p:charRg st="87" end="12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1923">
                                            <p:txEl>
                                              <p:charRg st="122" end="142"/>
                                            </p:txEl>
                                          </p:spTgt>
                                        </p:tgtEl>
                                        <p:attrNameLst>
                                          <p:attrName>style.visibility</p:attrName>
                                        </p:attrNameLst>
                                      </p:cBhvr>
                                      <p:to>
                                        <p:strVal val="visible"/>
                                      </p:to>
                                    </p:set>
                                    <p:animEffect transition="in" filter="fade">
                                      <p:cBhvr>
                                        <p:cTn id="27" dur="2000"/>
                                        <p:tgtEl>
                                          <p:spTgt spid="81923">
                                            <p:txEl>
                                              <p:charRg st="122" end="14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923">
                                            <p:txEl>
                                              <p:charRg st="142" end="144"/>
                                            </p:txEl>
                                          </p:spTgt>
                                        </p:tgtEl>
                                        <p:attrNameLst>
                                          <p:attrName>style.visibility</p:attrName>
                                        </p:attrNameLst>
                                      </p:cBhvr>
                                      <p:to>
                                        <p:strVal val="visible"/>
                                      </p:to>
                                    </p:set>
                                    <p:animEffect transition="in" filter="fade">
                                      <p:cBhvr>
                                        <p:cTn id="32" dur="2000"/>
                                        <p:tgtEl>
                                          <p:spTgt spid="81923">
                                            <p:txEl>
                                              <p:charRg st="142" end="1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2" grpId="0"/>
      <p:bldP spid="8192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Text Box 2"/>
          <p:cNvSpPr txBox="1"/>
          <p:nvPr/>
        </p:nvSpPr>
        <p:spPr>
          <a:xfrm>
            <a:off x="304800" y="736600"/>
            <a:ext cx="8137525" cy="5500688"/>
          </a:xfrm>
          <a:prstGeom prst="rect">
            <a:avLst/>
          </a:prstGeom>
          <a:solidFill>
            <a:srgbClr val="CCFFCC"/>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342900" lvl="0" indent="-342900" eaLnBrk="1" hangingPunct="1">
              <a:spcBef>
                <a:spcPct val="0"/>
              </a:spcBef>
              <a:buClrTx/>
              <a:buSzTx/>
              <a:buFontTx/>
              <a:buNone/>
            </a:pPr>
            <a:r>
              <a:rPr lang="en-US" altLang="ko-KR" sz="1400" b="1" dirty="0">
                <a:latin typeface="Times New Roman" panose="02020603050405020304" pitchFamily="18" charset="0"/>
              </a:rPr>
              <a:t>INT8U  OSTaskResume (INT8U 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OS_TCB    *ptcb;</a:t>
            </a:r>
            <a:endParaRPr lang="en-US" altLang="zh-CN" sz="1400" b="1" dirty="0">
              <a:latin typeface="Times New Roman" panose="02020603050405020304" pitchFamily="18" charset="0"/>
            </a:endParaRPr>
          </a:p>
          <a:p>
            <a:pPr marL="342900" lvl="0" indent="-342900" eaLnBrk="1" hangingPunct="1">
              <a:spcBef>
                <a:spcPct val="0"/>
              </a:spcBef>
              <a:buClrTx/>
              <a:buSzTx/>
              <a:buFontTx/>
              <a:buNone/>
            </a:pPr>
            <a:r>
              <a:rPr lang="en-US" altLang="zh-CN" sz="2400" dirty="0">
                <a:latin typeface="Times New Roman" panose="02020603050405020304" pitchFamily="18" charset="0"/>
              </a:rPr>
              <a:t>   </a:t>
            </a:r>
            <a:r>
              <a:rPr lang="en-US" altLang="ko-KR" sz="1400" b="1" dirty="0">
                <a:latin typeface="Times New Roman" panose="02020603050405020304" pitchFamily="18" charset="0"/>
              </a:rPr>
              <a:t>OS_ENTER_CRITICAL();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ptcb = OSTCBPrioTbl[prio];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(ptcb == (OS_TCB *)0) {                                  /* Task to suspend must exist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(OS_TASK_RESUME_PRIO);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((ptcb-&gt;OSTCBStat &amp; OS_STAT_SUSPEND) != OS_STAT_RDY) {   /* Task must be suspended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(((ptcb-&gt;OSTCBStat &amp;= ~OS_STAT_SUSPEND) == </a:t>
            </a:r>
            <a:r>
              <a:rPr lang="en-US" altLang="ko-KR" sz="1400" b="1" dirty="0">
                <a:solidFill>
                  <a:srgbClr val="FF0000"/>
                </a:solidFill>
                <a:latin typeface="Times New Roman" panose="02020603050405020304" pitchFamily="18" charset="0"/>
              </a:rPr>
              <a:t>OS_STAT_RD</a:t>
            </a:r>
            <a:r>
              <a:rPr lang="en-US" altLang="ko-KR" sz="1400" b="1" dirty="0">
                <a:latin typeface="Times New Roman" panose="02020603050405020304" pitchFamily="18" charset="0"/>
              </a:rPr>
              <a:t>Y) &amp;&amp;  /* </a:t>
            </a:r>
            <a:r>
              <a:rPr lang="en-US" altLang="ko-KR" sz="1200" b="1" dirty="0">
                <a:latin typeface="Times New Roman" panose="02020603050405020304" pitchFamily="18" charset="0"/>
              </a:rPr>
              <a:t>Remove suspension</a:t>
            </a:r>
            <a:r>
              <a:rPr lang="en-US" altLang="ko-KR" sz="1400" b="1" dirty="0">
                <a:latin typeface="Times New Roman" panose="02020603050405020304" pitchFamily="18" charset="0"/>
              </a:rPr>
              <a:t>*/</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(ptcb-&gt;OSTCBDly  == 0)) {                                     /* Must not be delayed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solidFill>
                  <a:srgbClr val="FF0000"/>
                </a:solidFill>
                <a:latin typeface="Times New Roman" panose="02020603050405020304" pitchFamily="18" charset="0"/>
              </a:rPr>
              <a:t>            OSRdyGrp               |= ptcb-&gt;OSTCBBitY;                     /* Make task ready to run   */</a:t>
            </a:r>
            <a:endParaRPr lang="en-US" altLang="ko-KR" sz="1400" b="1" dirty="0">
              <a:solidFill>
                <a:srgbClr val="FF0000"/>
              </a:solidFill>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OSRdyTbl[ptcb-&gt;OSTCBY] |= ptcb-&gt;OSTCBBitX;</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solidFill>
                  <a:srgbClr val="FF0000"/>
                </a:solidFill>
                <a:latin typeface="Times New Roman" panose="02020603050405020304" pitchFamily="18" charset="0"/>
              </a:rPr>
              <a:t>            OS_Sched();</a:t>
            </a:r>
            <a:endParaRPr lang="en-US" altLang="ko-KR" sz="1400" b="1" dirty="0">
              <a:solidFill>
                <a:srgbClr val="FF0000"/>
              </a:solidFill>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 else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(OS_NO_ERR);</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(OS_TASK_NOT_SUSPENDED);</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endParaRPr lang="en-US" altLang="ko-KR" sz="1400" b="1" dirty="0">
              <a:latin typeface="Times New Roman" panose="02020603050405020304" pitchFamily="18" charset="0"/>
            </a:endParaRPr>
          </a:p>
        </p:txBody>
      </p:sp>
      <p:sp>
        <p:nvSpPr>
          <p:cNvPr id="5" name="Rectangle 3"/>
          <p:cNvSpPr>
            <a:spLocks noChangeArrowheads="1"/>
          </p:cNvSpPr>
          <p:nvPr/>
        </p:nvSpPr>
        <p:spPr bwMode="auto">
          <a:xfrm>
            <a:off x="2093913" y="152400"/>
            <a:ext cx="6272213"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ko-KR"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OSTask</a:t>
            </a:r>
            <a:r>
              <a:rPr kumimoji="1" lang="en-US" altLang="zh-CN"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Resume</a:t>
            </a:r>
            <a:r>
              <a:rPr kumimoji="1" lang="en-US" altLang="ko-KR"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 in u</a:t>
            </a:r>
            <a:r>
              <a:rPr kumimoji="1" lang="en-US" altLang="zh-CN"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C</a:t>
            </a:r>
            <a:r>
              <a:rPr kumimoji="1" lang="en-US" altLang="ko-KR"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OS</a:t>
            </a:r>
            <a:endParaRPr kumimoji="1" lang="en-US" altLang="zh-CN"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049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进程控制原语可能引起的调度</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83971" name="Rectangle 3"/>
          <p:cNvSpPr>
            <a:spLocks noGrp="1" noRot="1"/>
          </p:cNvSpPr>
          <p:nvPr>
            <p:ph type="body"/>
          </p:nvPr>
        </p:nvSpPr>
        <p:spPr>
          <a:ln/>
        </p:spPr>
        <p:txBody>
          <a:bodyPr vert="horz" wrap="square" lIns="91440" tIns="45720" rIns="91440" bIns="45720" anchor="t" anchorCtr="0"/>
          <a:p>
            <a:pPr algn="just" eaLnBrk="1" hangingPunct="1">
              <a:lnSpc>
                <a:spcPct val="110000"/>
              </a:lnSpc>
              <a:buNone/>
            </a:pPr>
            <a:endParaRPr lang="en-US" altLang="zh-CN" b="1" dirty="0">
              <a:solidFill>
                <a:schemeClr val="folHlink"/>
              </a:solidFill>
            </a:endParaRPr>
          </a:p>
          <a:p>
            <a:pPr algn="just" eaLnBrk="1" hangingPunct="1">
              <a:lnSpc>
                <a:spcPct val="110000"/>
              </a:lnSpc>
              <a:buNone/>
            </a:pPr>
            <a:r>
              <a:rPr lang="en-US" altLang="zh-CN" b="1" dirty="0">
                <a:solidFill>
                  <a:schemeClr val="folHlink"/>
                </a:solidFill>
              </a:rPr>
              <a:t>	</a:t>
            </a:r>
            <a:r>
              <a:rPr lang="zh-CN" altLang="en-US" b="1" dirty="0">
                <a:solidFill>
                  <a:schemeClr val="folHlink"/>
                </a:solidFill>
              </a:rPr>
              <a:t>时机：假如采用的是抢占调度策略，则每当有新进程进入就绪队列时，都应检查是否要进行重新调度。</a:t>
            </a:r>
            <a:endParaRPr lang="zh-CN" altLang="en-US" b="1" dirty="0">
              <a:solidFill>
                <a:schemeClr val="folHlink"/>
              </a:solidFill>
            </a:endParaRPr>
          </a:p>
          <a:p>
            <a:pPr algn="just" eaLnBrk="1" hangingPunct="1">
              <a:lnSpc>
                <a:spcPct val="110000"/>
              </a:lnSpc>
              <a:buNone/>
            </a:pPr>
            <a:r>
              <a:rPr lang="zh-CN" altLang="en-US" b="1" dirty="0">
                <a:solidFill>
                  <a:schemeClr val="folHlink"/>
                </a:solidFill>
              </a:rPr>
              <a:t>	</a:t>
            </a:r>
            <a:r>
              <a:rPr lang="zh-CN" altLang="en-US" b="1" dirty="0"/>
              <a:t>创建、终止（自己）、挂起（自己）、激活、阻塞、唤醒都可能会产生新的调度。</a:t>
            </a:r>
            <a:endParaRPr lang="zh-CN" altLang="en-US" b="1" dirty="0"/>
          </a:p>
          <a:p>
            <a:pPr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0498"/>
                                        </p:tgtEl>
                                        <p:attrNameLst>
                                          <p:attrName>style.visibility</p:attrName>
                                        </p:attrNameLst>
                                      </p:cBhvr>
                                      <p:to>
                                        <p:strVal val="visible"/>
                                      </p:to>
                                    </p:set>
                                    <p:animEffect transition="in" filter="fade">
                                      <p:cBhvr>
                                        <p:cTn id="7" dur="2000"/>
                                        <p:tgtEl>
                                          <p:spTgt spid="490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3971">
                                            <p:txEl>
                                              <p:charRg st="1" end="48"/>
                                            </p:txEl>
                                          </p:spTgt>
                                        </p:tgtEl>
                                        <p:attrNameLst>
                                          <p:attrName>style.visibility</p:attrName>
                                        </p:attrNameLst>
                                      </p:cBhvr>
                                      <p:to>
                                        <p:strVal val="visible"/>
                                      </p:to>
                                    </p:set>
                                    <p:animEffect transition="in" filter="fade">
                                      <p:cBhvr>
                                        <p:cTn id="12" dur="2000"/>
                                        <p:tgtEl>
                                          <p:spTgt spid="83971">
                                            <p:txEl>
                                              <p:charRg st="1" end="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3971">
                                            <p:txEl>
                                              <p:charRg st="48" end="86"/>
                                            </p:txEl>
                                          </p:spTgt>
                                        </p:tgtEl>
                                        <p:attrNameLst>
                                          <p:attrName>style.visibility</p:attrName>
                                        </p:attrNameLst>
                                      </p:cBhvr>
                                      <p:to>
                                        <p:strVal val="visible"/>
                                      </p:to>
                                    </p:set>
                                    <p:animEffect transition="in" filter="fade">
                                      <p:cBhvr>
                                        <p:cTn id="17" dur="2000"/>
                                        <p:tgtEl>
                                          <p:spTgt spid="83971">
                                            <p:txEl>
                                              <p:charRg st="48"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498" grpId="0"/>
      <p:bldP spid="83971"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1220" name="Rectangle 4"/>
          <p:cNvSpPr>
            <a:spLocks noGrp="1" noRot="1" noChangeArrowheads="1"/>
          </p:cNvSpPr>
          <p:nvPr>
            <p:ph type="title"/>
          </p:nvPr>
        </p:nvSpPr>
        <p:spPr>
          <a:xfrm>
            <a:off x="381000" y="2209800"/>
            <a:ext cx="83058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2.4 </a:t>
            </a:r>
            <a:r>
              <a:rPr kumimoji="0" lang="zh-CN" altLang="en-US" sz="4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进程的同步</a:t>
            </a:r>
            <a:r>
              <a:rPr kumimoji="0" lang="zh-CN" altLang="en-US" sz="4800" b="0"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 </a:t>
            </a:r>
            <a:endParaRPr kumimoji="0" lang="zh-CN" altLang="en-US" sz="4800" b="0"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1220"/>
                                        </p:tgtEl>
                                        <p:attrNameLst>
                                          <p:attrName>style.visibility</p:attrName>
                                        </p:attrNameLst>
                                      </p:cBhvr>
                                      <p:to>
                                        <p:strVal val="visible"/>
                                      </p:to>
                                    </p:set>
                                    <p:animEffect transition="in" filter="fade">
                                      <p:cBhvr>
                                        <p:cTn id="7" dur="2000"/>
                                        <p:tgtEl>
                                          <p:spTgt spid="521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2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0979" name="Rectangle 3"/>
          <p:cNvSpPr>
            <a:spLocks noGrp="1" noRot="1" noChangeArrowheads="1"/>
          </p:cNvSpPr>
          <p:nvPr>
            <p:ph type="body" idx="1"/>
          </p:nvPr>
        </p:nvSpPr>
        <p:spPr>
          <a:xfrm>
            <a:off x="533400" y="1597025"/>
            <a:ext cx="8077200" cy="48799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采用多道程序设计技术的操作系统，允许多个进程同时驻留内存并发执行。</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rPr>
              <a:t>如何协调多个进程对系统资源，如内存空间、外部设备等的竞争和共享？</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rPr>
              <a:t>如何解决多个进程因为竞争资源而出现执行结果异常，甚至导致系统不稳定、失效等问题？</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rPr>
              <a:t>例如，多个进程同时申请文件打印，如何有效分配打印机？</a:t>
            </a:r>
            <a:r>
              <a:rPr kumimoji="0" lang="zh-CN" altLang="en-US" sz="2800" b="0" i="0" u="none" strike="noStrike" kern="0" cap="none" spc="0" normalizeH="0" baseline="0" noProof="0" smtClean="0">
                <a:ln>
                  <a:noFill/>
                </a:ln>
                <a:solidFill>
                  <a:schemeClr val="tx1"/>
                </a:solidFill>
                <a:effectLst/>
                <a:uLnTx/>
                <a:uFillTx/>
                <a:latin typeface="+mn-lt"/>
                <a:ea typeface="+mn-ea"/>
              </a:rPr>
              <a:t> </a:t>
            </a:r>
            <a:endParaRPr kumimoji="0" lang="zh-CN" altLang="en-US" sz="2800" b="0" i="0" u="none" strike="noStrike" kern="0" cap="none" spc="0" normalizeH="0" baseline="0" noProof="0" smtClean="0">
              <a:ln>
                <a:noFill/>
              </a:ln>
              <a:solidFill>
                <a:schemeClr val="tx1"/>
              </a:solidFill>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2800" b="0" i="0" u="none" strike="noStrike" kern="0" cap="none" spc="0" normalizeH="0" baseline="0" noProof="0" smtClean="0">
              <a:ln>
                <a:noFill/>
              </a:ln>
              <a:solidFill>
                <a:schemeClr val="tx1"/>
              </a:solidFill>
              <a:effectLst/>
              <a:uLnTx/>
              <a:uFillTx/>
              <a:latin typeface="+mn-lt"/>
              <a:ea typeface="+mn-ea"/>
              <a:cs typeface="+mn-cs"/>
            </a:endParaRPr>
          </a:p>
        </p:txBody>
      </p:sp>
      <p:sp>
        <p:nvSpPr>
          <p:cNvPr id="510981" name="Rectangle 5"/>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FF0000"/>
                </a:solidFill>
                <a:effectLst>
                  <a:outerShdw blurRad="38100" dist="38100" dir="2700000" algn="tl">
                    <a:srgbClr val="000000"/>
                  </a:outerShdw>
                </a:effectLst>
                <a:uLnTx/>
                <a:uFillTx/>
                <a:latin typeface="+mj-lt"/>
                <a:ea typeface="+mj-ea"/>
                <a:cs typeface="+mj-cs"/>
              </a:rPr>
              <a:t>？（问题引入）</a:t>
            </a:r>
            <a:r>
              <a:rPr kumimoji="0" lang="zh-CN" altLang="en-US" sz="4400" b="0" i="0" u="none" strike="noStrike" kern="0" cap="none" spc="0" normalizeH="0" baseline="0" noProof="0">
                <a:ln>
                  <a:noFill/>
                </a:ln>
                <a:solidFill>
                  <a:srgbClr val="FF0000"/>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0981"/>
                                        </p:tgtEl>
                                        <p:attrNameLst>
                                          <p:attrName>style.visibility</p:attrName>
                                        </p:attrNameLst>
                                      </p:cBhvr>
                                      <p:to>
                                        <p:strVal val="visible"/>
                                      </p:to>
                                    </p:set>
                                    <p:animEffect transition="in" filter="fade">
                                      <p:cBhvr>
                                        <p:cTn id="7" dur="2000"/>
                                        <p:tgtEl>
                                          <p:spTgt spid="5109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0979">
                                            <p:txEl>
                                              <p:charRg st="0" end="34"/>
                                            </p:txEl>
                                          </p:spTgt>
                                        </p:tgtEl>
                                        <p:attrNameLst>
                                          <p:attrName>style.visibility</p:attrName>
                                        </p:attrNameLst>
                                      </p:cBhvr>
                                      <p:to>
                                        <p:strVal val="visible"/>
                                      </p:to>
                                    </p:set>
                                    <p:animEffect transition="in" filter="fade">
                                      <p:cBhvr>
                                        <p:cTn id="12" dur="2000"/>
                                        <p:tgtEl>
                                          <p:spTgt spid="510979">
                                            <p:txEl>
                                              <p:charRg st="0" end="34"/>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10979">
                                            <p:txEl>
                                              <p:charRg st="34" end="68"/>
                                            </p:txEl>
                                          </p:spTgt>
                                        </p:tgtEl>
                                        <p:attrNameLst>
                                          <p:attrName>style.visibility</p:attrName>
                                        </p:attrNameLst>
                                      </p:cBhvr>
                                      <p:to>
                                        <p:strVal val="visible"/>
                                      </p:to>
                                    </p:set>
                                    <p:animEffect transition="in" filter="fade">
                                      <p:cBhvr>
                                        <p:cTn id="15" dur="2000"/>
                                        <p:tgtEl>
                                          <p:spTgt spid="510979">
                                            <p:txEl>
                                              <p:charRg st="34" end="6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10979">
                                            <p:txEl>
                                              <p:charRg st="68" end="110"/>
                                            </p:txEl>
                                          </p:spTgt>
                                        </p:tgtEl>
                                        <p:attrNameLst>
                                          <p:attrName>style.visibility</p:attrName>
                                        </p:attrNameLst>
                                      </p:cBhvr>
                                      <p:to>
                                        <p:strVal val="visible"/>
                                      </p:to>
                                    </p:set>
                                    <p:animEffect transition="in" filter="fade">
                                      <p:cBhvr>
                                        <p:cTn id="18" dur="2000"/>
                                        <p:tgtEl>
                                          <p:spTgt spid="510979">
                                            <p:txEl>
                                              <p:charRg st="68" end="11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10979">
                                            <p:txEl>
                                              <p:charRg st="110" end="139"/>
                                            </p:txEl>
                                          </p:spTgt>
                                        </p:tgtEl>
                                        <p:attrNameLst>
                                          <p:attrName>style.visibility</p:attrName>
                                        </p:attrNameLst>
                                      </p:cBhvr>
                                      <p:to>
                                        <p:strVal val="visible"/>
                                      </p:to>
                                    </p:set>
                                    <p:animEffect transition="in" filter="fade">
                                      <p:cBhvr>
                                        <p:cTn id="21" dur="2000"/>
                                        <p:tgtEl>
                                          <p:spTgt spid="510979">
                                            <p:txEl>
                                              <p:charRg st="110" end="1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9" grpId="0" build="p"/>
      <p:bldP spid="51098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1"/>
          <p:cNvSpPr>
            <a:spLocks noGrp="1"/>
          </p:cNvSpPr>
          <p:nvPr>
            <p:ph type="title"/>
          </p:nvPr>
        </p:nvSpPr>
        <p:spPr>
          <a:ln/>
        </p:spPr>
        <p:txBody>
          <a:bodyPr vert="horz" wrap="square" lIns="91440" tIns="45720" rIns="91440" bIns="45720" anchor="ctr" anchorCtr="0"/>
          <a:p>
            <a:r>
              <a:rPr lang="en-US" altLang="zh-CN" b="1" dirty="0"/>
              <a:t>2.4.1 </a:t>
            </a:r>
            <a:r>
              <a:rPr lang="zh-CN" altLang="en-US" b="1" dirty="0"/>
              <a:t>进程同步的基本概念</a:t>
            </a:r>
            <a:endParaRPr lang="zh-CN" altLang="en-US" b="1" dirty="0"/>
          </a:p>
        </p:txBody>
      </p:sp>
      <p:sp>
        <p:nvSpPr>
          <p:cNvPr id="3" name="内容占位符 2"/>
          <p:cNvSpPr>
            <a:spLocks noGrp="1"/>
          </p:cNvSpPr>
          <p:nvPr>
            <p:ph idx="1"/>
          </p:nvPr>
        </p:nvSpPr>
        <p:spPr>
          <a:ln/>
        </p:spPr>
        <p:txBody>
          <a:bodyPr vert="horz" wrap="square" lIns="91440" tIns="45720" rIns="91440" bIns="45720" anchor="t" anchorCtr="0"/>
          <a:p>
            <a:r>
              <a:rPr lang="zh-CN" altLang="en-US" b="1" dirty="0"/>
              <a:t>进程同步机制的主要任务，是对多个相关进程在执行次序上进行协调，使并发执行的诸进程之间能按照一定的规则（或时序）共享系统资源，并能很好的相互合作，从而使程序的执行具有可再现性。</a:t>
            </a:r>
            <a:endParaRPr lang="en-US" altLang="zh-CN" b="1" dirty="0"/>
          </a:p>
          <a:p>
            <a:r>
              <a:rPr lang="en-US" altLang="zh-CN" b="1" dirty="0">
                <a:solidFill>
                  <a:srgbClr val="FF0000"/>
                </a:solidFill>
              </a:rPr>
              <a:t>1</a:t>
            </a:r>
            <a:r>
              <a:rPr lang="zh-CN" altLang="en-US" b="1" dirty="0">
                <a:solidFill>
                  <a:srgbClr val="FF0000"/>
                </a:solidFill>
              </a:rPr>
              <a:t>）间接相互制约关系  </a:t>
            </a:r>
            <a:r>
              <a:rPr lang="zh-CN" altLang="en-US" b="1" dirty="0"/>
              <a:t>并发执行的进程在使用共享资源时的关系，资源的互斥。</a:t>
            </a:r>
            <a:endParaRPr lang="en-US" altLang="zh-CN" b="1" dirty="0"/>
          </a:p>
          <a:p>
            <a:r>
              <a:rPr lang="en-US" altLang="zh-CN" b="1" dirty="0">
                <a:solidFill>
                  <a:srgbClr val="FF0000"/>
                </a:solidFill>
              </a:rPr>
              <a:t>2</a:t>
            </a:r>
            <a:r>
              <a:rPr lang="zh-CN" altLang="en-US" b="1" dirty="0">
                <a:solidFill>
                  <a:srgbClr val="FF0000"/>
                </a:solidFill>
              </a:rPr>
              <a:t>）直接相互制约关系 </a:t>
            </a:r>
            <a:r>
              <a:rPr lang="zh-CN" altLang="en-US" b="1" dirty="0"/>
              <a:t>多个进程为完成同一项任务而相互合作的关系。</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0" end="8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88" end="12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126" end="15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02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例</a:t>
            </a:r>
            <a:r>
              <a:rPr kumimoji="0" lang="en-US" altLang="zh-CN"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1</a:t>
            </a:r>
            <a:endParaRPr kumimoji="0" lang="en-US" altLang="zh-CN"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513027"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银行的联网储蓄业务允许储户同时用储蓄卡和存折对同一帐户进行存取款操作，如果某储户同时（在</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ATM</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机和营业柜台）办理两笔存款业务（假设分别为</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2000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元）</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从系统的角度看，有两个进程将同时对储户余额等数据进行修改。如果两个进程同时读出原余额（假设为</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5000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元），两个进程分别将最新余额修改为</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6000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5000+1000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7000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5000+2000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3026"/>
                                        </p:tgtEl>
                                        <p:attrNameLst>
                                          <p:attrName>style.visibility</p:attrName>
                                        </p:attrNameLst>
                                      </p:cBhvr>
                                      <p:to>
                                        <p:strVal val="visible"/>
                                      </p:to>
                                    </p:set>
                                    <p:animEffect transition="in" filter="fade">
                                      <p:cBhvr>
                                        <p:cTn id="7" dur="2000"/>
                                        <p:tgtEl>
                                          <p:spTgt spid="513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3027">
                                            <p:txEl>
                                              <p:charRg st="0" end="80"/>
                                            </p:txEl>
                                          </p:spTgt>
                                        </p:tgtEl>
                                        <p:attrNameLst>
                                          <p:attrName>style.visibility</p:attrName>
                                        </p:attrNameLst>
                                      </p:cBhvr>
                                      <p:to>
                                        <p:strVal val="visible"/>
                                      </p:to>
                                    </p:set>
                                    <p:animEffect transition="in" filter="fade">
                                      <p:cBhvr>
                                        <p:cTn id="12" dur="2000"/>
                                        <p:tgtEl>
                                          <p:spTgt spid="513027">
                                            <p:txEl>
                                              <p:charRg st="0" end="8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3027">
                                            <p:txEl>
                                              <p:charRg st="80" end="180"/>
                                            </p:txEl>
                                          </p:spTgt>
                                        </p:tgtEl>
                                        <p:attrNameLst>
                                          <p:attrName>style.visibility</p:attrName>
                                        </p:attrNameLst>
                                      </p:cBhvr>
                                      <p:to>
                                        <p:strVal val="visible"/>
                                      </p:to>
                                    </p:set>
                                    <p:animEffect transition="in" filter="fade">
                                      <p:cBhvr>
                                        <p:cTn id="17" dur="2000"/>
                                        <p:tgtEl>
                                          <p:spTgt spid="513027">
                                            <p:txEl>
                                              <p:charRg st="80" end="1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6" grpId="0"/>
      <p:bldP spid="513027"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40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分析及措施</a:t>
            </a:r>
            <a:endPar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51405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最后，储户余额可能是</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6000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，或者</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7000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，显然都不正确。</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原因：两个进程同时修改同一数据，而没有进行有效控制。</a:t>
            </a:r>
            <a:endParaRPr kumimoji="0" lang="zh-CN" altLang="en-US" sz="28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正确的方法：如果有多个进程需要同时修改某一数据，系统必须控制，一次仅允许一个进程完成读数据、修改数据两件事以后，才允许别的进程对同一数据的读和修改操作。 </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4050"/>
                                        </p:tgtEl>
                                        <p:attrNameLst>
                                          <p:attrName>style.visibility</p:attrName>
                                        </p:attrNameLst>
                                      </p:cBhvr>
                                      <p:to>
                                        <p:strVal val="visible"/>
                                      </p:to>
                                    </p:set>
                                    <p:animEffect transition="in" filter="fade">
                                      <p:cBhvr>
                                        <p:cTn id="7" dur="2000"/>
                                        <p:tgtEl>
                                          <p:spTgt spid="514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4051">
                                            <p:txEl>
                                              <p:charRg st="0" end="30"/>
                                            </p:txEl>
                                          </p:spTgt>
                                        </p:tgtEl>
                                        <p:attrNameLst>
                                          <p:attrName>style.visibility</p:attrName>
                                        </p:attrNameLst>
                                      </p:cBhvr>
                                      <p:to>
                                        <p:strVal val="visible"/>
                                      </p:to>
                                    </p:set>
                                    <p:animEffect transition="in" filter="fade">
                                      <p:cBhvr>
                                        <p:cTn id="12" dur="2000"/>
                                        <p:tgtEl>
                                          <p:spTgt spid="514051">
                                            <p:txEl>
                                              <p:charRg st="0"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4051">
                                            <p:txEl>
                                              <p:charRg st="30" end="57"/>
                                            </p:txEl>
                                          </p:spTgt>
                                        </p:tgtEl>
                                        <p:attrNameLst>
                                          <p:attrName>style.visibility</p:attrName>
                                        </p:attrNameLst>
                                      </p:cBhvr>
                                      <p:to>
                                        <p:strVal val="visible"/>
                                      </p:to>
                                    </p:set>
                                    <p:animEffect transition="in" filter="fade">
                                      <p:cBhvr>
                                        <p:cTn id="17" dur="2000"/>
                                        <p:tgtEl>
                                          <p:spTgt spid="514051">
                                            <p:txEl>
                                              <p:charRg st="30"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14051">
                                            <p:txEl>
                                              <p:charRg st="57" end="135"/>
                                            </p:txEl>
                                          </p:spTgt>
                                        </p:tgtEl>
                                        <p:attrNameLst>
                                          <p:attrName>style.visibility</p:attrName>
                                        </p:attrNameLst>
                                      </p:cBhvr>
                                      <p:to>
                                        <p:strVal val="visible"/>
                                      </p:to>
                                    </p:set>
                                    <p:animEffect transition="in" filter="fade">
                                      <p:cBhvr>
                                        <p:cTn id="22" dur="2000"/>
                                        <p:tgtEl>
                                          <p:spTgt spid="514051">
                                            <p:txEl>
                                              <p:charRg st="57"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0" grpId="0"/>
      <p:bldP spid="514051"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noRot="1"/>
          </p:cNvSpPr>
          <p:nvPr>
            <p:ph type="title"/>
          </p:nvPr>
        </p:nvSpPr>
        <p:spPr>
          <a:ln/>
        </p:spPr>
        <p:txBody>
          <a:bodyPr vert="horz" wrap="square" lIns="91440" tIns="45720" rIns="91440" bIns="45720" anchor="ctr" anchorCtr="0"/>
          <a:p>
            <a:r>
              <a:rPr lang="zh-CN" altLang="en-US" b="1" dirty="0">
                <a:solidFill>
                  <a:srgbClr val="FF0000"/>
                </a:solidFill>
              </a:rPr>
              <a:t>例</a:t>
            </a:r>
            <a:r>
              <a:rPr lang="en-US" altLang="zh-CN" b="1" dirty="0">
                <a:solidFill>
                  <a:srgbClr val="FF0000"/>
                </a:solidFill>
              </a:rPr>
              <a:t>2 </a:t>
            </a:r>
            <a:r>
              <a:rPr lang="zh-CN" altLang="en-US" b="1" dirty="0">
                <a:solidFill>
                  <a:srgbClr val="FF0000"/>
                </a:solidFill>
              </a:rPr>
              <a:t>生产者</a:t>
            </a:r>
            <a:r>
              <a:rPr lang="en-US" altLang="zh-CN" b="1" dirty="0">
                <a:solidFill>
                  <a:srgbClr val="FF0000"/>
                </a:solidFill>
              </a:rPr>
              <a:t>-</a:t>
            </a:r>
            <a:r>
              <a:rPr lang="zh-CN" altLang="en-US" b="1" dirty="0">
                <a:solidFill>
                  <a:srgbClr val="FF0000"/>
                </a:solidFill>
              </a:rPr>
              <a:t>消费者</a:t>
            </a:r>
            <a:endParaRPr lang="zh-CN" altLang="en-US" b="1" dirty="0">
              <a:solidFill>
                <a:srgbClr val="FF0000"/>
              </a:solidFill>
            </a:endParaRPr>
          </a:p>
        </p:txBody>
      </p:sp>
      <p:sp>
        <p:nvSpPr>
          <p:cNvPr id="86019" name="Rectangle 3"/>
          <p:cNvSpPr>
            <a:spLocks noGrp="1" noRot="1"/>
          </p:cNvSpPr>
          <p:nvPr>
            <p:ph idx="1"/>
          </p:nvPr>
        </p:nvSpPr>
        <p:spPr>
          <a:xfrm>
            <a:off x="73025" y="1597025"/>
            <a:ext cx="8842375" cy="4498975"/>
          </a:xfrm>
          <a:ln/>
        </p:spPr>
        <p:txBody>
          <a:bodyPr vert="horz" wrap="square" lIns="91440" tIns="45720" rIns="91440" bIns="45720" anchor="t" anchorCtr="0"/>
          <a:p>
            <a:pPr algn="just" eaLnBrk="1" hangingPunct="1">
              <a:spcBef>
                <a:spcPct val="50000"/>
              </a:spcBef>
              <a:buClrTx/>
              <a:buSzTx/>
              <a:buFont typeface="Wingdings" panose="05000000000000000000" pitchFamily="2" charset="2"/>
              <a:buChar char="Ø"/>
            </a:pPr>
            <a:r>
              <a:rPr lang="zh-CN" altLang="en-US" sz="2800" b="1" dirty="0"/>
              <a:t>有一群生产者进程在生产产品，并将这些产品提供给消费者进程去消费。为使生产者进程与消费者进程能并发执行，在两者之间设置了一个具有</a:t>
            </a:r>
            <a:r>
              <a:rPr lang="en-US" altLang="zh-CN" sz="2800" b="1" dirty="0"/>
              <a:t>n</a:t>
            </a:r>
            <a:r>
              <a:rPr lang="zh-CN" altLang="en-US" sz="2800" b="1" dirty="0"/>
              <a:t>个缓冲区的缓冲池：</a:t>
            </a:r>
            <a:endParaRPr lang="zh-CN" altLang="en-US" sz="2800" b="1" dirty="0"/>
          </a:p>
          <a:p>
            <a:pPr algn="just" eaLnBrk="1" hangingPunct="1">
              <a:spcBef>
                <a:spcPct val="50000"/>
              </a:spcBef>
              <a:buClrTx/>
              <a:buSzTx/>
              <a:buFont typeface="Wingdings" panose="05000000000000000000" pitchFamily="2" charset="2"/>
              <a:buChar char="l"/>
            </a:pPr>
            <a:r>
              <a:rPr lang="zh-CN" altLang="en-US" sz="2800" b="1" dirty="0">
                <a:solidFill>
                  <a:srgbClr val="FF0000"/>
                </a:solidFill>
              </a:rPr>
              <a:t>生产者进程将它所生产的产品放入一个缓冲区中； </a:t>
            </a:r>
            <a:endParaRPr lang="zh-CN" altLang="en-US" sz="2800" b="1" dirty="0">
              <a:solidFill>
                <a:srgbClr val="FF0000"/>
              </a:solidFill>
            </a:endParaRPr>
          </a:p>
          <a:p>
            <a:pPr algn="just" eaLnBrk="1" hangingPunct="1">
              <a:spcBef>
                <a:spcPct val="50000"/>
              </a:spcBef>
              <a:buClrTx/>
              <a:buSzTx/>
              <a:buFont typeface="Wingdings" panose="05000000000000000000" pitchFamily="2" charset="2"/>
              <a:buChar char="l"/>
            </a:pPr>
            <a:r>
              <a:rPr lang="zh-CN" altLang="en-US" sz="2800" b="1" dirty="0">
                <a:solidFill>
                  <a:srgbClr val="FF0000"/>
                </a:solidFill>
              </a:rPr>
              <a:t>消费者进程可从一个缓冲区中取走产品去消费。</a:t>
            </a:r>
            <a:endParaRPr lang="zh-CN" altLang="en-US" sz="2800" b="1" dirty="0">
              <a:solidFill>
                <a:srgbClr val="FF0000"/>
              </a:solidFill>
            </a:endParaRPr>
          </a:p>
          <a:p>
            <a:pPr algn="just" eaLnBrk="1" hangingPunct="1">
              <a:spcBef>
                <a:spcPct val="50000"/>
              </a:spcBef>
              <a:buClrTx/>
              <a:buSzTx/>
              <a:buFont typeface="Wingdings" panose="05000000000000000000" pitchFamily="2" charset="2"/>
              <a:buChar char="Ø"/>
            </a:pPr>
            <a:r>
              <a:rPr lang="zh-CN" altLang="en-US" sz="2800" b="1" dirty="0"/>
              <a:t>它们之间必须保持同步原则：</a:t>
            </a:r>
            <a:r>
              <a:rPr lang="zh-CN" altLang="en-US" sz="2800" b="1" dirty="0">
                <a:solidFill>
                  <a:srgbClr val="0066FF"/>
                </a:solidFill>
              </a:rPr>
              <a:t>不允许消费者进程到一个空缓冲区去取产品；也不允许生产者进程向一个已装满产品且尚未被取走的缓冲区中投放产品</a:t>
            </a:r>
            <a:r>
              <a:rPr lang="zh-CN" altLang="en-US" sz="2800" b="1" dirty="0"/>
              <a:t>。 </a:t>
            </a:r>
            <a:endParaRPr lang="zh-CN" altLang="en-US" sz="2800" b="1" dirty="0"/>
          </a:p>
          <a:p>
            <a:pPr>
              <a:buFont typeface="Wingdings 2" panose="05020102010507070707" pitchFamily="18" charset="2"/>
              <a:buChar char="¡"/>
            </a:pPr>
            <a:endParaRPr lang="zh-CN" altLang="en-US" sz="2800" b="1"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3"/>
          <p:cNvSpPr>
            <a:spLocks noGrp="1" noRot="1"/>
          </p:cNvSpPr>
          <p:nvPr>
            <p:ph idx="1"/>
          </p:nvPr>
        </p:nvSpPr>
        <p:spPr>
          <a:xfrm>
            <a:off x="228600" y="228600"/>
            <a:ext cx="8689975" cy="5565775"/>
          </a:xfrm>
          <a:ln/>
        </p:spPr>
        <p:txBody>
          <a:bodyPr vert="horz" wrap="square" lIns="91440" tIns="45720" rIns="91440" bIns="45720" anchor="t" anchorCtr="0"/>
          <a:p>
            <a:pPr>
              <a:lnSpc>
                <a:spcPct val="110000"/>
              </a:lnSpc>
            </a:pPr>
            <a:r>
              <a:rPr lang="zh-CN" altLang="en-US" sz="3600" b="1" dirty="0">
                <a:solidFill>
                  <a:srgbClr val="FF0000"/>
                </a:solidFill>
              </a:rPr>
              <a:t>用一个数组来表示上述的具有</a:t>
            </a:r>
            <a:r>
              <a:rPr lang="en-US" altLang="zh-CN" sz="3600" b="1" dirty="0">
                <a:solidFill>
                  <a:srgbClr val="FF0000"/>
                </a:solidFill>
              </a:rPr>
              <a:t>n</a:t>
            </a:r>
            <a:r>
              <a:rPr lang="zh-CN" altLang="en-US" sz="3600" b="1" dirty="0">
                <a:solidFill>
                  <a:srgbClr val="FF0000"/>
                </a:solidFill>
              </a:rPr>
              <a:t>个</a:t>
            </a:r>
            <a:r>
              <a:rPr lang="en-US" altLang="zh-CN" sz="3600" b="1" dirty="0">
                <a:solidFill>
                  <a:srgbClr val="FF0000"/>
                </a:solidFill>
              </a:rPr>
              <a:t>(0</a:t>
            </a:r>
            <a:r>
              <a:rPr lang="zh-CN" altLang="en-US" sz="3600" b="1" dirty="0">
                <a:solidFill>
                  <a:srgbClr val="FF0000"/>
                </a:solidFill>
              </a:rPr>
              <a:t>，</a:t>
            </a:r>
            <a:r>
              <a:rPr lang="en-US" altLang="zh-CN" sz="3600" b="1" dirty="0">
                <a:solidFill>
                  <a:srgbClr val="FF0000"/>
                </a:solidFill>
              </a:rPr>
              <a:t>1</a:t>
            </a:r>
            <a:r>
              <a:rPr lang="zh-CN" altLang="en-US" sz="3600" b="1" dirty="0">
                <a:solidFill>
                  <a:srgbClr val="FF0000"/>
                </a:solidFill>
              </a:rPr>
              <a:t>，</a:t>
            </a:r>
            <a:r>
              <a:rPr lang="en-US" altLang="zh-CN" sz="3600" b="1" dirty="0">
                <a:solidFill>
                  <a:srgbClr val="FF0000"/>
                </a:solidFill>
              </a:rPr>
              <a:t>…</a:t>
            </a:r>
            <a:r>
              <a:rPr lang="zh-CN" altLang="en-US" sz="3600" b="1" dirty="0">
                <a:solidFill>
                  <a:srgbClr val="FF0000"/>
                </a:solidFill>
              </a:rPr>
              <a:t>，</a:t>
            </a:r>
            <a:r>
              <a:rPr lang="en-US" altLang="zh-CN" sz="3600" b="1" dirty="0">
                <a:solidFill>
                  <a:srgbClr val="FF0000"/>
                </a:solidFill>
              </a:rPr>
              <a:t>n-1)</a:t>
            </a:r>
            <a:r>
              <a:rPr lang="zh-CN" altLang="en-US" sz="3600" b="1" dirty="0">
                <a:solidFill>
                  <a:srgbClr val="FF0000"/>
                </a:solidFill>
              </a:rPr>
              <a:t>缓冲区的缓冲池。</a:t>
            </a:r>
            <a:endParaRPr lang="zh-CN" altLang="en-US" sz="3600" b="1" dirty="0">
              <a:solidFill>
                <a:srgbClr val="FF0000"/>
              </a:solidFill>
            </a:endParaRPr>
          </a:p>
          <a:p>
            <a:pPr>
              <a:lnSpc>
                <a:spcPct val="110000"/>
              </a:lnSpc>
            </a:pPr>
            <a:r>
              <a:rPr lang="zh-CN" altLang="en-US" sz="2800" b="1" dirty="0">
                <a:solidFill>
                  <a:srgbClr val="FF0000"/>
                </a:solidFill>
              </a:rPr>
              <a:t>设置两个指针：</a:t>
            </a:r>
            <a:endParaRPr lang="zh-CN" altLang="en-US" sz="2800" b="1" dirty="0">
              <a:solidFill>
                <a:srgbClr val="FF0000"/>
              </a:solidFill>
            </a:endParaRPr>
          </a:p>
          <a:p>
            <a:pPr lvl="1">
              <a:lnSpc>
                <a:spcPct val="110000"/>
              </a:lnSpc>
            </a:pPr>
            <a:r>
              <a:rPr lang="zh-CN" altLang="en-US" b="1" dirty="0"/>
              <a:t>指针</a:t>
            </a:r>
            <a:r>
              <a:rPr lang="en-US" altLang="zh-CN" b="1" dirty="0"/>
              <a:t>in</a:t>
            </a:r>
            <a:r>
              <a:rPr lang="zh-CN" altLang="en-US" b="1" dirty="0"/>
              <a:t>：指示下一个可投放产品的缓冲区，每当生产者进程生产并投放一个产品后，</a:t>
            </a:r>
            <a:r>
              <a:rPr lang="en-US" altLang="zh-CN" b="1" dirty="0"/>
              <a:t>in</a:t>
            </a:r>
            <a:r>
              <a:rPr lang="zh-CN" altLang="en-US" b="1" dirty="0"/>
              <a:t>指针加</a:t>
            </a:r>
            <a:r>
              <a:rPr lang="en-US" altLang="zh-CN" b="1" dirty="0"/>
              <a:t>1, </a:t>
            </a:r>
            <a:r>
              <a:rPr lang="zh-CN" altLang="en-US" b="1" dirty="0"/>
              <a:t>即</a:t>
            </a:r>
            <a:r>
              <a:rPr lang="en-US" altLang="zh-CN" b="1" dirty="0"/>
              <a:t>in∶=(in+1)mod n </a:t>
            </a:r>
            <a:r>
              <a:rPr lang="zh-CN" altLang="en-US" b="1" dirty="0"/>
              <a:t>；</a:t>
            </a:r>
            <a:endParaRPr lang="zh-CN" altLang="en-US" b="1" dirty="0"/>
          </a:p>
          <a:p>
            <a:pPr lvl="1">
              <a:lnSpc>
                <a:spcPct val="110000"/>
              </a:lnSpc>
            </a:pPr>
            <a:r>
              <a:rPr lang="zh-CN" altLang="en-US" b="1" dirty="0"/>
              <a:t>指针</a:t>
            </a:r>
            <a:r>
              <a:rPr lang="en-US" altLang="zh-CN" b="1" dirty="0"/>
              <a:t>out</a:t>
            </a:r>
            <a:r>
              <a:rPr lang="zh-CN" altLang="en-US" b="1" dirty="0"/>
              <a:t>：指示下一个可从中获取产品的缓冲区，每当消费者进程取走一个产品后，</a:t>
            </a:r>
            <a:r>
              <a:rPr lang="en-US" altLang="zh-CN" b="1" dirty="0"/>
              <a:t>out</a:t>
            </a:r>
            <a:r>
              <a:rPr lang="zh-CN" altLang="en-US" b="1" dirty="0"/>
              <a:t>指针加</a:t>
            </a:r>
            <a:r>
              <a:rPr lang="en-US" altLang="zh-CN" b="1" dirty="0"/>
              <a:t>1</a:t>
            </a:r>
            <a:r>
              <a:rPr lang="zh-CN" altLang="en-US" b="1" dirty="0"/>
              <a:t>，即</a:t>
            </a:r>
            <a:r>
              <a:rPr lang="en-US" altLang="zh-CN" b="1" dirty="0"/>
              <a:t>out∶=(out+1) mod n</a:t>
            </a:r>
            <a:r>
              <a:rPr lang="zh-CN" altLang="en-US" b="1" dirty="0"/>
              <a:t> 。</a:t>
            </a:r>
            <a:endParaRPr lang="zh-CN" altLang="en-US" b="1" dirty="0"/>
          </a:p>
          <a:p>
            <a:pPr>
              <a:lnSpc>
                <a:spcPct val="110000"/>
              </a:lnSpc>
            </a:pPr>
            <a:r>
              <a:rPr lang="zh-CN" altLang="en-US" sz="2800" b="1" dirty="0"/>
              <a:t>当</a:t>
            </a:r>
            <a:r>
              <a:rPr lang="en-US" altLang="zh-CN" sz="2800" b="1" dirty="0"/>
              <a:t>(in+1) mod n=out</a:t>
            </a:r>
            <a:r>
              <a:rPr lang="zh-CN" altLang="en-US" sz="2800" b="1" dirty="0"/>
              <a:t>时表示缓冲池满；而</a:t>
            </a:r>
            <a:r>
              <a:rPr lang="en-US" altLang="zh-CN" sz="2800" b="1" dirty="0"/>
              <a:t>in=out</a:t>
            </a:r>
            <a:r>
              <a:rPr lang="zh-CN" altLang="en-US" sz="2800" b="1" dirty="0"/>
              <a:t>则表示缓冲池空。</a:t>
            </a:r>
            <a:endParaRPr lang="zh-CN" altLang="en-US" sz="2800" b="1" dirty="0"/>
          </a:p>
          <a:p>
            <a:pPr lvl="1">
              <a:lnSpc>
                <a:spcPct val="110000"/>
              </a:lnSpc>
            </a:pPr>
            <a:endParaRPr lang="zh-CN" altLang="en-US"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noRot="1"/>
          </p:cNvSpPr>
          <p:nvPr>
            <p:ph type="title"/>
          </p:nvPr>
        </p:nvSpPr>
        <p:spPr>
          <a:xfrm>
            <a:off x="304800" y="381000"/>
            <a:ext cx="8540750" cy="1143000"/>
          </a:xfrm>
          <a:ln/>
        </p:spPr>
        <p:txBody>
          <a:bodyPr vert="horz" wrap="square" lIns="91440" tIns="45720" rIns="91440" bIns="45720" anchor="ctr" anchorCtr="0"/>
          <a:p>
            <a:pPr algn="l"/>
            <a:r>
              <a:rPr lang="zh-CN" altLang="en-US" sz="3600" b="1" dirty="0">
                <a:solidFill>
                  <a:schemeClr val="tx1"/>
                </a:solidFill>
              </a:rPr>
              <a:t>生产者和消费者两进程共享下面的变量：</a:t>
            </a:r>
            <a:endParaRPr lang="zh-CN" altLang="en-US" sz="3600" b="1" dirty="0">
              <a:solidFill>
                <a:schemeClr val="tx1"/>
              </a:solidFill>
            </a:endParaRPr>
          </a:p>
        </p:txBody>
      </p:sp>
      <p:sp>
        <p:nvSpPr>
          <p:cNvPr id="88067" name="Rectangle 3"/>
          <p:cNvSpPr>
            <a:spLocks noGrp="1" noRot="1"/>
          </p:cNvSpPr>
          <p:nvPr>
            <p:ph idx="1"/>
          </p:nvPr>
        </p:nvSpPr>
        <p:spPr>
          <a:xfrm>
            <a:off x="301625" y="1447800"/>
            <a:ext cx="8540750" cy="2514600"/>
          </a:xfrm>
          <a:solidFill>
            <a:srgbClr val="CCFFFF">
              <a:alpha val="100000"/>
            </a:srgbClr>
          </a:solidFill>
          <a:ln/>
        </p:spPr>
        <p:txBody>
          <a:bodyPr vert="horz" wrap="square" lIns="91440" tIns="45720" rIns="91440" bIns="45720" anchor="t" anchorCtr="0"/>
          <a:p>
            <a:pPr lvl="2">
              <a:lnSpc>
                <a:spcPct val="90000"/>
              </a:lnSpc>
            </a:pPr>
            <a:r>
              <a:rPr lang="en-US" altLang="zh-CN" dirty="0"/>
              <a:t>Var n, integer;</a:t>
            </a:r>
            <a:endParaRPr lang="en-US" altLang="zh-CN" dirty="0"/>
          </a:p>
          <a:p>
            <a:pPr lvl="2">
              <a:lnSpc>
                <a:spcPct val="90000"/>
              </a:lnSpc>
            </a:pPr>
            <a:r>
              <a:rPr lang="en-US" altLang="zh-CN" dirty="0"/>
              <a:t>type item=…;</a:t>
            </a:r>
            <a:endParaRPr lang="en-US" altLang="zh-CN" dirty="0"/>
          </a:p>
          <a:p>
            <a:pPr lvl="2">
              <a:lnSpc>
                <a:spcPct val="90000"/>
              </a:lnSpc>
            </a:pPr>
            <a:r>
              <a:rPr lang="en-US" altLang="zh-CN" dirty="0"/>
              <a:t>var buffer:array</a:t>
            </a:r>
            <a:r>
              <a:rPr lang="zh-CN" altLang="en-US" dirty="0"/>
              <a:t>［</a:t>
            </a:r>
            <a:r>
              <a:rPr lang="en-US" altLang="zh-CN" dirty="0"/>
              <a:t>0, 1, …, n-1</a:t>
            </a:r>
            <a:r>
              <a:rPr lang="zh-CN" altLang="en-US" dirty="0"/>
              <a:t>］ </a:t>
            </a:r>
            <a:r>
              <a:rPr lang="en-US" altLang="zh-CN" dirty="0"/>
              <a:t>of item;</a:t>
            </a:r>
            <a:endParaRPr lang="en-US" altLang="zh-CN" dirty="0"/>
          </a:p>
          <a:p>
            <a:pPr lvl="2">
              <a:lnSpc>
                <a:spcPct val="90000"/>
              </a:lnSpc>
            </a:pPr>
            <a:r>
              <a:rPr lang="en-US" altLang="zh-CN" dirty="0"/>
              <a:t>in, out: 0, 1, …, n-1;</a:t>
            </a:r>
            <a:endParaRPr lang="en-US" altLang="zh-CN" dirty="0"/>
          </a:p>
          <a:p>
            <a:pPr lvl="2">
              <a:lnSpc>
                <a:spcPct val="90000"/>
              </a:lnSpc>
            </a:pPr>
            <a:r>
              <a:rPr lang="en-US" altLang="zh-CN" dirty="0"/>
              <a:t>counter: 0, 1, …, n; </a:t>
            </a:r>
            <a:r>
              <a:rPr lang="en-US" altLang="zh-CN" b="1" dirty="0"/>
              <a:t>// </a:t>
            </a:r>
            <a:r>
              <a:rPr lang="zh-CN" altLang="en-US" b="1" dirty="0"/>
              <a:t>缓冲区中产品的个数，初始值为</a:t>
            </a:r>
            <a:r>
              <a:rPr lang="en-US" altLang="zh-CN" b="1" dirty="0"/>
              <a:t>0</a:t>
            </a:r>
            <a:endParaRPr lang="en-US" altLang="zh-CN" b="1" dirty="0"/>
          </a:p>
          <a:p>
            <a:pPr>
              <a:lnSpc>
                <a:spcPct val="90000"/>
              </a:lnSpc>
            </a:pPr>
            <a:endParaRPr lang="zh-CN" altLang="en-US" sz="2400" b="1" dirty="0"/>
          </a:p>
        </p:txBody>
      </p:sp>
      <p:grpSp>
        <p:nvGrpSpPr>
          <p:cNvPr id="88068" name="Group 65"/>
          <p:cNvGrpSpPr/>
          <p:nvPr/>
        </p:nvGrpSpPr>
        <p:grpSpPr>
          <a:xfrm>
            <a:off x="1066800" y="4092575"/>
            <a:ext cx="6781800" cy="2460625"/>
            <a:chOff x="2697" y="8928"/>
            <a:chExt cx="5220" cy="2652"/>
          </a:xfrm>
        </p:grpSpPr>
        <p:sp>
          <p:nvSpPr>
            <p:cNvPr id="88069" name="Text Box 66"/>
            <p:cNvSpPr txBox="1"/>
            <p:nvPr/>
          </p:nvSpPr>
          <p:spPr>
            <a:xfrm>
              <a:off x="2697" y="8928"/>
              <a:ext cx="5220" cy="471"/>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dirty="0">
                  <a:latin typeface="Times New Roman" panose="02020603050405020304" pitchFamily="18" charset="0"/>
                </a:rPr>
                <a:t> </a:t>
              </a:r>
              <a:r>
                <a:rPr lang="en-US" altLang="zh-CN" dirty="0">
                  <a:solidFill>
                    <a:srgbClr val="003300"/>
                  </a:solidFill>
                  <a:latin typeface="Times New Roman" panose="02020603050405020304" pitchFamily="18" charset="0"/>
                </a:rPr>
                <a:t>0  1   2   3  4   5  6   7  8                    n-1</a:t>
              </a:r>
              <a:endParaRPr lang="en-US" altLang="zh-CN" dirty="0">
                <a:solidFill>
                  <a:srgbClr val="003300"/>
                </a:solidFill>
                <a:latin typeface="Times New Roman" panose="02020603050405020304" pitchFamily="18" charset="0"/>
              </a:endParaRPr>
            </a:p>
          </p:txBody>
        </p:sp>
        <p:grpSp>
          <p:nvGrpSpPr>
            <p:cNvPr id="88070" name="Group 67"/>
            <p:cNvGrpSpPr/>
            <p:nvPr/>
          </p:nvGrpSpPr>
          <p:grpSpPr>
            <a:xfrm>
              <a:off x="2697" y="9396"/>
              <a:ext cx="5220" cy="2184"/>
              <a:chOff x="2697" y="9396"/>
              <a:chExt cx="5220" cy="2184"/>
            </a:xfrm>
          </p:grpSpPr>
          <p:grpSp>
            <p:nvGrpSpPr>
              <p:cNvPr id="88071" name="Group 68"/>
              <p:cNvGrpSpPr/>
              <p:nvPr/>
            </p:nvGrpSpPr>
            <p:grpSpPr>
              <a:xfrm>
                <a:off x="3057" y="11112"/>
                <a:ext cx="180" cy="312"/>
                <a:chOff x="2337" y="10956"/>
                <a:chExt cx="360" cy="624"/>
              </a:xfrm>
            </p:grpSpPr>
            <p:grpSp>
              <p:nvGrpSpPr>
                <p:cNvPr id="88115" name="Group 69"/>
                <p:cNvGrpSpPr/>
                <p:nvPr/>
              </p:nvGrpSpPr>
              <p:grpSpPr>
                <a:xfrm>
                  <a:off x="2337" y="10956"/>
                  <a:ext cx="360" cy="624"/>
                  <a:chOff x="3417" y="9396"/>
                  <a:chExt cx="360" cy="624"/>
                </a:xfrm>
              </p:grpSpPr>
              <p:sp>
                <p:nvSpPr>
                  <p:cNvPr id="88120" name="Line 70"/>
                  <p:cNvSpPr/>
                  <p:nvPr/>
                </p:nvSpPr>
                <p:spPr>
                  <a:xfrm flipH="1">
                    <a:off x="3417" y="9396"/>
                    <a:ext cx="180" cy="156"/>
                  </a:xfrm>
                  <a:prstGeom prst="line">
                    <a:avLst/>
                  </a:prstGeom>
                  <a:ln w="9525" cap="flat" cmpd="sng">
                    <a:solidFill>
                      <a:srgbClr val="000000"/>
                    </a:solidFill>
                    <a:prstDash val="solid"/>
                    <a:headEnd type="none" w="med" len="med"/>
                    <a:tailEnd type="none" w="med" len="med"/>
                  </a:ln>
                </p:spPr>
              </p:sp>
              <p:sp>
                <p:nvSpPr>
                  <p:cNvPr id="88121" name="Line 71"/>
                  <p:cNvSpPr/>
                  <p:nvPr/>
                </p:nvSpPr>
                <p:spPr>
                  <a:xfrm flipH="1">
                    <a:off x="3417" y="9396"/>
                    <a:ext cx="360" cy="312"/>
                  </a:xfrm>
                  <a:prstGeom prst="line">
                    <a:avLst/>
                  </a:prstGeom>
                  <a:ln w="9525" cap="flat" cmpd="sng">
                    <a:solidFill>
                      <a:srgbClr val="000000"/>
                    </a:solidFill>
                    <a:prstDash val="solid"/>
                    <a:headEnd type="none" w="med" len="med"/>
                    <a:tailEnd type="none" w="med" len="med"/>
                  </a:ln>
                </p:spPr>
              </p:sp>
              <p:sp>
                <p:nvSpPr>
                  <p:cNvPr id="88122" name="Line 72"/>
                  <p:cNvSpPr/>
                  <p:nvPr/>
                </p:nvSpPr>
                <p:spPr>
                  <a:xfrm flipH="1">
                    <a:off x="3417" y="9552"/>
                    <a:ext cx="360" cy="312"/>
                  </a:xfrm>
                  <a:prstGeom prst="line">
                    <a:avLst/>
                  </a:prstGeom>
                  <a:ln w="9525" cap="flat" cmpd="sng">
                    <a:solidFill>
                      <a:srgbClr val="000000"/>
                    </a:solidFill>
                    <a:prstDash val="solid"/>
                    <a:headEnd type="none" w="med" len="med"/>
                    <a:tailEnd type="none" w="med" len="med"/>
                  </a:ln>
                </p:spPr>
              </p:sp>
              <p:sp>
                <p:nvSpPr>
                  <p:cNvPr id="88123" name="Line 73"/>
                  <p:cNvSpPr/>
                  <p:nvPr/>
                </p:nvSpPr>
                <p:spPr>
                  <a:xfrm flipH="1">
                    <a:off x="3417" y="9708"/>
                    <a:ext cx="360" cy="312"/>
                  </a:xfrm>
                  <a:prstGeom prst="line">
                    <a:avLst/>
                  </a:prstGeom>
                  <a:ln w="9525" cap="flat" cmpd="sng">
                    <a:solidFill>
                      <a:srgbClr val="000000"/>
                    </a:solidFill>
                    <a:prstDash val="solid"/>
                    <a:headEnd type="none" w="med" len="med"/>
                    <a:tailEnd type="none" w="med" len="med"/>
                  </a:ln>
                </p:spPr>
              </p:sp>
              <p:sp>
                <p:nvSpPr>
                  <p:cNvPr id="88124" name="Line 74"/>
                  <p:cNvSpPr/>
                  <p:nvPr/>
                </p:nvSpPr>
                <p:spPr>
                  <a:xfrm flipH="1">
                    <a:off x="3597" y="9864"/>
                    <a:ext cx="180" cy="156"/>
                  </a:xfrm>
                  <a:prstGeom prst="line">
                    <a:avLst/>
                  </a:prstGeom>
                  <a:ln w="9525" cap="flat" cmpd="sng">
                    <a:solidFill>
                      <a:srgbClr val="000000"/>
                    </a:solidFill>
                    <a:prstDash val="solid"/>
                    <a:headEnd type="none" w="med" len="med"/>
                    <a:tailEnd type="none" w="med" len="med"/>
                  </a:ln>
                </p:spPr>
              </p:sp>
            </p:grpSp>
            <p:sp>
              <p:nvSpPr>
                <p:cNvPr id="88116" name="Line 75"/>
                <p:cNvSpPr/>
                <p:nvPr/>
              </p:nvSpPr>
              <p:spPr>
                <a:xfrm>
                  <a:off x="2337" y="10956"/>
                  <a:ext cx="0" cy="624"/>
                </a:xfrm>
                <a:prstGeom prst="line">
                  <a:avLst/>
                </a:prstGeom>
                <a:ln w="9525" cap="flat" cmpd="sng">
                  <a:solidFill>
                    <a:srgbClr val="000000"/>
                  </a:solidFill>
                  <a:prstDash val="solid"/>
                  <a:headEnd type="none" w="med" len="med"/>
                  <a:tailEnd type="none" w="med" len="med"/>
                </a:ln>
              </p:spPr>
            </p:sp>
            <p:sp>
              <p:nvSpPr>
                <p:cNvPr id="88117" name="Line 76"/>
                <p:cNvSpPr/>
                <p:nvPr/>
              </p:nvSpPr>
              <p:spPr>
                <a:xfrm>
                  <a:off x="2697" y="10956"/>
                  <a:ext cx="0" cy="624"/>
                </a:xfrm>
                <a:prstGeom prst="line">
                  <a:avLst/>
                </a:prstGeom>
                <a:ln w="9525" cap="flat" cmpd="sng">
                  <a:solidFill>
                    <a:srgbClr val="000000"/>
                  </a:solidFill>
                  <a:prstDash val="solid"/>
                  <a:headEnd type="none" w="med" len="med"/>
                  <a:tailEnd type="none" w="med" len="med"/>
                </a:ln>
              </p:spPr>
            </p:sp>
            <p:sp>
              <p:nvSpPr>
                <p:cNvPr id="88118" name="Line 77"/>
                <p:cNvSpPr/>
                <p:nvPr/>
              </p:nvSpPr>
              <p:spPr>
                <a:xfrm>
                  <a:off x="2337" y="10956"/>
                  <a:ext cx="360" cy="0"/>
                </a:xfrm>
                <a:prstGeom prst="line">
                  <a:avLst/>
                </a:prstGeom>
                <a:ln w="9525" cap="flat" cmpd="sng">
                  <a:solidFill>
                    <a:srgbClr val="000000"/>
                  </a:solidFill>
                  <a:prstDash val="solid"/>
                  <a:headEnd type="none" w="med" len="med"/>
                  <a:tailEnd type="none" w="med" len="med"/>
                </a:ln>
              </p:spPr>
            </p:sp>
            <p:sp>
              <p:nvSpPr>
                <p:cNvPr id="88119" name="Line 78"/>
                <p:cNvSpPr/>
                <p:nvPr/>
              </p:nvSpPr>
              <p:spPr>
                <a:xfrm>
                  <a:off x="2337" y="11580"/>
                  <a:ext cx="360" cy="0"/>
                </a:xfrm>
                <a:prstGeom prst="line">
                  <a:avLst/>
                </a:prstGeom>
                <a:ln w="9525" cap="flat" cmpd="sng">
                  <a:solidFill>
                    <a:srgbClr val="000000"/>
                  </a:solidFill>
                  <a:prstDash val="solid"/>
                  <a:headEnd type="none" w="med" len="med"/>
                  <a:tailEnd type="none" w="med" len="med"/>
                </a:ln>
              </p:spPr>
            </p:sp>
          </p:grpSp>
          <p:sp>
            <p:nvSpPr>
              <p:cNvPr id="88072" name="Text Box 79"/>
              <p:cNvSpPr txBox="1"/>
              <p:nvPr/>
            </p:nvSpPr>
            <p:spPr>
              <a:xfrm>
                <a:off x="3237" y="11112"/>
                <a:ext cx="162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2400" b="1" dirty="0">
                    <a:solidFill>
                      <a:srgbClr val="003300"/>
                    </a:solidFill>
                    <a:latin typeface="Times New Roman" panose="02020603050405020304" pitchFamily="18" charset="0"/>
                    <a:ea typeface="仿宋_GB2312" pitchFamily="49" charset="-122"/>
                  </a:rPr>
                  <a:t>：被占用单元</a:t>
                </a:r>
                <a:endParaRPr lang="zh-CN" altLang="en-US" sz="2400" b="1" dirty="0">
                  <a:solidFill>
                    <a:srgbClr val="003300"/>
                  </a:solidFill>
                  <a:latin typeface="Times New Roman" panose="02020603050405020304" pitchFamily="18" charset="0"/>
                  <a:ea typeface="仿宋_GB2312" pitchFamily="49" charset="-122"/>
                </a:endParaRPr>
              </a:p>
            </p:txBody>
          </p:sp>
          <p:sp>
            <p:nvSpPr>
              <p:cNvPr id="88073" name="Rectangle 80"/>
              <p:cNvSpPr/>
              <p:nvPr/>
            </p:nvSpPr>
            <p:spPr>
              <a:xfrm>
                <a:off x="5034" y="11112"/>
                <a:ext cx="180" cy="31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88074" name="Text Box 81"/>
              <p:cNvSpPr txBox="1"/>
              <p:nvPr/>
            </p:nvSpPr>
            <p:spPr>
              <a:xfrm>
                <a:off x="5217" y="11112"/>
                <a:ext cx="162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2400" b="1" dirty="0">
                    <a:solidFill>
                      <a:srgbClr val="003300"/>
                    </a:solidFill>
                    <a:latin typeface="Times New Roman" panose="02020603050405020304" pitchFamily="18" charset="0"/>
                    <a:ea typeface="仿宋_GB2312" pitchFamily="49" charset="-122"/>
                  </a:rPr>
                  <a:t>：空闲单元</a:t>
                </a:r>
                <a:endParaRPr lang="zh-CN" altLang="en-US" sz="2400" b="1" dirty="0">
                  <a:solidFill>
                    <a:srgbClr val="003300"/>
                  </a:solidFill>
                  <a:latin typeface="Times New Roman" panose="02020603050405020304" pitchFamily="18" charset="0"/>
                  <a:ea typeface="仿宋_GB2312" pitchFamily="49" charset="-122"/>
                </a:endParaRPr>
              </a:p>
            </p:txBody>
          </p:sp>
          <p:grpSp>
            <p:nvGrpSpPr>
              <p:cNvPr id="88075" name="Group 82"/>
              <p:cNvGrpSpPr/>
              <p:nvPr/>
            </p:nvGrpSpPr>
            <p:grpSpPr>
              <a:xfrm>
                <a:off x="2697" y="9396"/>
                <a:ext cx="5220" cy="1716"/>
                <a:chOff x="2697" y="9396"/>
                <a:chExt cx="5220" cy="1716"/>
              </a:xfrm>
            </p:grpSpPr>
            <p:grpSp>
              <p:nvGrpSpPr>
                <p:cNvPr id="88076" name="Group 83"/>
                <p:cNvGrpSpPr/>
                <p:nvPr/>
              </p:nvGrpSpPr>
              <p:grpSpPr>
                <a:xfrm>
                  <a:off x="2697" y="9396"/>
                  <a:ext cx="5220" cy="1716"/>
                  <a:chOff x="2697" y="9396"/>
                  <a:chExt cx="5220" cy="1716"/>
                </a:xfrm>
              </p:grpSpPr>
              <p:sp>
                <p:nvSpPr>
                  <p:cNvPr id="88078" name="Text Box 84"/>
                  <p:cNvSpPr txBox="1"/>
                  <p:nvPr/>
                </p:nvSpPr>
                <p:spPr>
                  <a:xfrm>
                    <a:off x="5217" y="10644"/>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in</a:t>
                    </a:r>
                    <a:endParaRPr lang="en-US" altLang="zh-CN" sz="2400" b="1" dirty="0">
                      <a:solidFill>
                        <a:srgbClr val="003300"/>
                      </a:solidFill>
                      <a:latin typeface="Times New Roman" panose="02020603050405020304" pitchFamily="18" charset="0"/>
                    </a:endParaRPr>
                  </a:p>
                </p:txBody>
              </p:sp>
              <p:sp>
                <p:nvSpPr>
                  <p:cNvPr id="88079" name="Text Box 85"/>
                  <p:cNvSpPr txBox="1"/>
                  <p:nvPr/>
                </p:nvSpPr>
                <p:spPr>
                  <a:xfrm>
                    <a:off x="3957" y="10644"/>
                    <a:ext cx="72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out</a:t>
                    </a:r>
                    <a:endParaRPr lang="en-US" altLang="zh-CN" sz="2400" b="1" dirty="0">
                      <a:solidFill>
                        <a:srgbClr val="003300"/>
                      </a:solidFill>
                      <a:latin typeface="Times New Roman" panose="02020603050405020304" pitchFamily="18" charset="0"/>
                    </a:endParaRPr>
                  </a:p>
                </p:txBody>
              </p:sp>
              <p:sp>
                <p:nvSpPr>
                  <p:cNvPr id="88080" name="Line 86"/>
                  <p:cNvSpPr/>
                  <p:nvPr/>
                </p:nvSpPr>
                <p:spPr>
                  <a:xfrm flipV="1">
                    <a:off x="4317" y="10020"/>
                    <a:ext cx="1" cy="624"/>
                  </a:xfrm>
                  <a:prstGeom prst="line">
                    <a:avLst/>
                  </a:prstGeom>
                  <a:ln w="9525" cap="flat" cmpd="sng">
                    <a:solidFill>
                      <a:srgbClr val="000000"/>
                    </a:solidFill>
                    <a:prstDash val="solid"/>
                    <a:headEnd type="none" w="med" len="med"/>
                    <a:tailEnd type="triangle" w="med" len="med"/>
                  </a:ln>
                </p:spPr>
              </p:sp>
              <p:sp>
                <p:nvSpPr>
                  <p:cNvPr id="88081" name="Line 87"/>
                  <p:cNvSpPr/>
                  <p:nvPr/>
                </p:nvSpPr>
                <p:spPr>
                  <a:xfrm flipV="1">
                    <a:off x="5397" y="10020"/>
                    <a:ext cx="1" cy="624"/>
                  </a:xfrm>
                  <a:prstGeom prst="line">
                    <a:avLst/>
                  </a:prstGeom>
                  <a:ln w="9525" cap="flat" cmpd="sng">
                    <a:solidFill>
                      <a:srgbClr val="000000"/>
                    </a:solidFill>
                    <a:prstDash val="solid"/>
                    <a:headEnd type="none" w="med" len="med"/>
                    <a:tailEnd type="triangle" w="med" len="med"/>
                  </a:ln>
                </p:spPr>
              </p:sp>
              <p:sp>
                <p:nvSpPr>
                  <p:cNvPr id="88082" name="Line 88"/>
                  <p:cNvSpPr/>
                  <p:nvPr/>
                </p:nvSpPr>
                <p:spPr>
                  <a:xfrm>
                    <a:off x="2697" y="9396"/>
                    <a:ext cx="5220" cy="0"/>
                  </a:xfrm>
                  <a:prstGeom prst="line">
                    <a:avLst/>
                  </a:prstGeom>
                  <a:ln w="9525" cap="flat" cmpd="sng">
                    <a:solidFill>
                      <a:srgbClr val="000000"/>
                    </a:solidFill>
                    <a:prstDash val="solid"/>
                    <a:headEnd type="none" w="med" len="med"/>
                    <a:tailEnd type="none" w="med" len="med"/>
                  </a:ln>
                </p:spPr>
              </p:sp>
              <p:sp>
                <p:nvSpPr>
                  <p:cNvPr id="88083" name="Line 89"/>
                  <p:cNvSpPr/>
                  <p:nvPr/>
                </p:nvSpPr>
                <p:spPr>
                  <a:xfrm>
                    <a:off x="6297" y="9708"/>
                    <a:ext cx="540" cy="0"/>
                  </a:xfrm>
                  <a:prstGeom prst="line">
                    <a:avLst/>
                  </a:prstGeom>
                  <a:ln w="57150" cap="rnd" cmpd="sng">
                    <a:solidFill>
                      <a:srgbClr val="000000"/>
                    </a:solidFill>
                    <a:prstDash val="sysDot"/>
                    <a:headEnd type="none" w="med" len="med"/>
                    <a:tailEnd type="none" w="med" len="med"/>
                  </a:ln>
                </p:spPr>
              </p:sp>
              <p:sp>
                <p:nvSpPr>
                  <p:cNvPr id="88084" name="Line 90"/>
                  <p:cNvSpPr/>
                  <p:nvPr/>
                </p:nvSpPr>
                <p:spPr>
                  <a:xfrm>
                    <a:off x="2697" y="10020"/>
                    <a:ext cx="5220" cy="0"/>
                  </a:xfrm>
                  <a:prstGeom prst="line">
                    <a:avLst/>
                  </a:prstGeom>
                  <a:ln w="9525" cap="flat" cmpd="sng">
                    <a:solidFill>
                      <a:srgbClr val="000000"/>
                    </a:solidFill>
                    <a:prstDash val="solid"/>
                    <a:headEnd type="none" w="med" len="med"/>
                    <a:tailEnd type="none" w="med" len="med"/>
                  </a:ln>
                </p:spPr>
              </p:sp>
              <p:sp>
                <p:nvSpPr>
                  <p:cNvPr id="88085" name="Line 91"/>
                  <p:cNvSpPr/>
                  <p:nvPr/>
                </p:nvSpPr>
                <p:spPr>
                  <a:xfrm>
                    <a:off x="2697" y="9396"/>
                    <a:ext cx="0" cy="624"/>
                  </a:xfrm>
                  <a:prstGeom prst="line">
                    <a:avLst/>
                  </a:prstGeom>
                  <a:ln w="9525" cap="flat" cmpd="sng">
                    <a:solidFill>
                      <a:srgbClr val="000000"/>
                    </a:solidFill>
                    <a:prstDash val="solid"/>
                    <a:headEnd type="none" w="med" len="med"/>
                    <a:tailEnd type="none" w="med" len="med"/>
                  </a:ln>
                </p:spPr>
              </p:sp>
              <p:sp>
                <p:nvSpPr>
                  <p:cNvPr id="88086" name="Line 92"/>
                  <p:cNvSpPr/>
                  <p:nvPr/>
                </p:nvSpPr>
                <p:spPr>
                  <a:xfrm>
                    <a:off x="3057" y="9396"/>
                    <a:ext cx="0" cy="624"/>
                  </a:xfrm>
                  <a:prstGeom prst="line">
                    <a:avLst/>
                  </a:prstGeom>
                  <a:ln w="9525" cap="flat" cmpd="sng">
                    <a:solidFill>
                      <a:srgbClr val="000000"/>
                    </a:solidFill>
                    <a:prstDash val="solid"/>
                    <a:headEnd type="none" w="med" len="med"/>
                    <a:tailEnd type="none" w="med" len="med"/>
                  </a:ln>
                </p:spPr>
              </p:sp>
              <p:sp>
                <p:nvSpPr>
                  <p:cNvPr id="88087" name="Line 93"/>
                  <p:cNvSpPr/>
                  <p:nvPr/>
                </p:nvSpPr>
                <p:spPr>
                  <a:xfrm>
                    <a:off x="3417" y="9396"/>
                    <a:ext cx="0" cy="624"/>
                  </a:xfrm>
                  <a:prstGeom prst="line">
                    <a:avLst/>
                  </a:prstGeom>
                  <a:ln w="9525" cap="flat" cmpd="sng">
                    <a:solidFill>
                      <a:srgbClr val="000000"/>
                    </a:solidFill>
                    <a:prstDash val="solid"/>
                    <a:headEnd type="none" w="med" len="med"/>
                    <a:tailEnd type="none" w="med" len="med"/>
                  </a:ln>
                </p:spPr>
              </p:sp>
              <p:sp>
                <p:nvSpPr>
                  <p:cNvPr id="88088" name="Line 94"/>
                  <p:cNvSpPr/>
                  <p:nvPr/>
                </p:nvSpPr>
                <p:spPr>
                  <a:xfrm>
                    <a:off x="3777" y="9396"/>
                    <a:ext cx="0" cy="624"/>
                  </a:xfrm>
                  <a:prstGeom prst="line">
                    <a:avLst/>
                  </a:prstGeom>
                  <a:ln w="9525" cap="flat" cmpd="sng">
                    <a:solidFill>
                      <a:srgbClr val="000000"/>
                    </a:solidFill>
                    <a:prstDash val="solid"/>
                    <a:headEnd type="none" w="med" len="med"/>
                    <a:tailEnd type="none" w="med" len="med"/>
                  </a:ln>
                </p:spPr>
              </p:sp>
              <p:sp>
                <p:nvSpPr>
                  <p:cNvPr id="88089" name="Line 95"/>
                  <p:cNvSpPr/>
                  <p:nvPr/>
                </p:nvSpPr>
                <p:spPr>
                  <a:xfrm>
                    <a:off x="5577" y="9396"/>
                    <a:ext cx="0" cy="624"/>
                  </a:xfrm>
                  <a:prstGeom prst="line">
                    <a:avLst/>
                  </a:prstGeom>
                  <a:ln w="9525" cap="flat" cmpd="sng">
                    <a:solidFill>
                      <a:srgbClr val="000000"/>
                    </a:solidFill>
                    <a:prstDash val="solid"/>
                    <a:headEnd type="none" w="med" len="med"/>
                    <a:tailEnd type="none" w="med" len="med"/>
                  </a:ln>
                </p:spPr>
              </p:sp>
              <p:sp>
                <p:nvSpPr>
                  <p:cNvPr id="88090" name="Line 96"/>
                  <p:cNvSpPr/>
                  <p:nvPr/>
                </p:nvSpPr>
                <p:spPr>
                  <a:xfrm>
                    <a:off x="5937" y="9396"/>
                    <a:ext cx="0" cy="624"/>
                  </a:xfrm>
                  <a:prstGeom prst="line">
                    <a:avLst/>
                  </a:prstGeom>
                  <a:ln w="9525" cap="flat" cmpd="sng">
                    <a:solidFill>
                      <a:srgbClr val="000000"/>
                    </a:solidFill>
                    <a:prstDash val="solid"/>
                    <a:headEnd type="none" w="med" len="med"/>
                    <a:tailEnd type="none" w="med" len="med"/>
                  </a:ln>
                </p:spPr>
              </p:sp>
              <p:grpSp>
                <p:nvGrpSpPr>
                  <p:cNvPr id="88091" name="Group 97"/>
                  <p:cNvGrpSpPr/>
                  <p:nvPr/>
                </p:nvGrpSpPr>
                <p:grpSpPr>
                  <a:xfrm>
                    <a:off x="4137" y="9396"/>
                    <a:ext cx="1080" cy="624"/>
                    <a:chOff x="3417" y="9396"/>
                    <a:chExt cx="1080" cy="624"/>
                  </a:xfrm>
                </p:grpSpPr>
                <p:sp>
                  <p:nvSpPr>
                    <p:cNvPr id="88093" name="Line 98"/>
                    <p:cNvSpPr/>
                    <p:nvPr/>
                  </p:nvSpPr>
                  <p:spPr>
                    <a:xfrm>
                      <a:off x="4137" y="9396"/>
                      <a:ext cx="0" cy="624"/>
                    </a:xfrm>
                    <a:prstGeom prst="line">
                      <a:avLst/>
                    </a:prstGeom>
                    <a:ln w="9525" cap="flat" cmpd="sng">
                      <a:solidFill>
                        <a:srgbClr val="000000"/>
                      </a:solidFill>
                      <a:prstDash val="solid"/>
                      <a:headEnd type="none" w="med" len="med"/>
                      <a:tailEnd type="none" w="med" len="med"/>
                    </a:ln>
                  </p:spPr>
                </p:sp>
                <p:grpSp>
                  <p:nvGrpSpPr>
                    <p:cNvPr id="88094" name="Group 99"/>
                    <p:cNvGrpSpPr/>
                    <p:nvPr/>
                  </p:nvGrpSpPr>
                  <p:grpSpPr>
                    <a:xfrm>
                      <a:off x="3417" y="9396"/>
                      <a:ext cx="1080" cy="624"/>
                      <a:chOff x="3417" y="9396"/>
                      <a:chExt cx="1080" cy="624"/>
                    </a:xfrm>
                  </p:grpSpPr>
                  <p:sp>
                    <p:nvSpPr>
                      <p:cNvPr id="88095" name="Line 100"/>
                      <p:cNvSpPr/>
                      <p:nvPr/>
                    </p:nvSpPr>
                    <p:spPr>
                      <a:xfrm>
                        <a:off x="3417" y="9396"/>
                        <a:ext cx="0" cy="624"/>
                      </a:xfrm>
                      <a:prstGeom prst="line">
                        <a:avLst/>
                      </a:prstGeom>
                      <a:ln w="9525" cap="flat" cmpd="sng">
                        <a:solidFill>
                          <a:srgbClr val="000000"/>
                        </a:solidFill>
                        <a:prstDash val="solid"/>
                        <a:headEnd type="none" w="med" len="med"/>
                        <a:tailEnd type="none" w="med" len="med"/>
                      </a:ln>
                    </p:spPr>
                  </p:sp>
                  <p:sp>
                    <p:nvSpPr>
                      <p:cNvPr id="88096" name="Line 101"/>
                      <p:cNvSpPr/>
                      <p:nvPr/>
                    </p:nvSpPr>
                    <p:spPr>
                      <a:xfrm>
                        <a:off x="4497" y="9396"/>
                        <a:ext cx="0" cy="624"/>
                      </a:xfrm>
                      <a:prstGeom prst="line">
                        <a:avLst/>
                      </a:prstGeom>
                      <a:ln w="9525" cap="flat" cmpd="sng">
                        <a:solidFill>
                          <a:srgbClr val="000000"/>
                        </a:solidFill>
                        <a:prstDash val="solid"/>
                        <a:headEnd type="none" w="med" len="med"/>
                        <a:tailEnd type="none" w="med" len="med"/>
                      </a:ln>
                    </p:spPr>
                  </p:sp>
                  <p:grpSp>
                    <p:nvGrpSpPr>
                      <p:cNvPr id="88097" name="Group 102"/>
                      <p:cNvGrpSpPr/>
                      <p:nvPr/>
                    </p:nvGrpSpPr>
                    <p:grpSpPr>
                      <a:xfrm>
                        <a:off x="3417" y="9396"/>
                        <a:ext cx="360" cy="624"/>
                        <a:chOff x="3417" y="9396"/>
                        <a:chExt cx="360" cy="624"/>
                      </a:xfrm>
                    </p:grpSpPr>
                    <p:sp>
                      <p:nvSpPr>
                        <p:cNvPr id="88110" name="Line 103"/>
                        <p:cNvSpPr/>
                        <p:nvPr/>
                      </p:nvSpPr>
                      <p:spPr>
                        <a:xfrm flipH="1">
                          <a:off x="3417" y="9396"/>
                          <a:ext cx="180" cy="156"/>
                        </a:xfrm>
                        <a:prstGeom prst="line">
                          <a:avLst/>
                        </a:prstGeom>
                        <a:ln w="9525" cap="flat" cmpd="sng">
                          <a:solidFill>
                            <a:srgbClr val="000000"/>
                          </a:solidFill>
                          <a:prstDash val="solid"/>
                          <a:headEnd type="none" w="med" len="med"/>
                          <a:tailEnd type="none" w="med" len="med"/>
                        </a:ln>
                      </p:spPr>
                    </p:sp>
                    <p:sp>
                      <p:nvSpPr>
                        <p:cNvPr id="88111" name="Line 104"/>
                        <p:cNvSpPr/>
                        <p:nvPr/>
                      </p:nvSpPr>
                      <p:spPr>
                        <a:xfrm flipH="1">
                          <a:off x="3417" y="9396"/>
                          <a:ext cx="360" cy="312"/>
                        </a:xfrm>
                        <a:prstGeom prst="line">
                          <a:avLst/>
                        </a:prstGeom>
                        <a:ln w="9525" cap="flat" cmpd="sng">
                          <a:solidFill>
                            <a:srgbClr val="000000"/>
                          </a:solidFill>
                          <a:prstDash val="solid"/>
                          <a:headEnd type="none" w="med" len="med"/>
                          <a:tailEnd type="none" w="med" len="med"/>
                        </a:ln>
                      </p:spPr>
                    </p:sp>
                    <p:sp>
                      <p:nvSpPr>
                        <p:cNvPr id="88112" name="Line 105"/>
                        <p:cNvSpPr/>
                        <p:nvPr/>
                      </p:nvSpPr>
                      <p:spPr>
                        <a:xfrm flipH="1">
                          <a:off x="3417" y="9552"/>
                          <a:ext cx="360" cy="312"/>
                        </a:xfrm>
                        <a:prstGeom prst="line">
                          <a:avLst/>
                        </a:prstGeom>
                        <a:ln w="9525" cap="flat" cmpd="sng">
                          <a:solidFill>
                            <a:schemeClr val="folHlink"/>
                          </a:solidFill>
                          <a:prstDash val="solid"/>
                          <a:headEnd type="none" w="med" len="med"/>
                          <a:tailEnd type="none" w="med" len="med"/>
                        </a:ln>
                      </p:spPr>
                    </p:sp>
                    <p:sp>
                      <p:nvSpPr>
                        <p:cNvPr id="88113" name="Line 106"/>
                        <p:cNvSpPr/>
                        <p:nvPr/>
                      </p:nvSpPr>
                      <p:spPr>
                        <a:xfrm flipH="1">
                          <a:off x="3417" y="9708"/>
                          <a:ext cx="360" cy="312"/>
                        </a:xfrm>
                        <a:prstGeom prst="line">
                          <a:avLst/>
                        </a:prstGeom>
                        <a:ln w="9525" cap="flat" cmpd="sng">
                          <a:solidFill>
                            <a:srgbClr val="000000"/>
                          </a:solidFill>
                          <a:prstDash val="solid"/>
                          <a:headEnd type="none" w="med" len="med"/>
                          <a:tailEnd type="none" w="med" len="med"/>
                        </a:ln>
                      </p:spPr>
                    </p:sp>
                    <p:sp>
                      <p:nvSpPr>
                        <p:cNvPr id="88114" name="Line 107"/>
                        <p:cNvSpPr/>
                        <p:nvPr/>
                      </p:nvSpPr>
                      <p:spPr>
                        <a:xfrm flipH="1">
                          <a:off x="3597" y="9864"/>
                          <a:ext cx="180" cy="156"/>
                        </a:xfrm>
                        <a:prstGeom prst="line">
                          <a:avLst/>
                        </a:prstGeom>
                        <a:ln w="9525" cap="flat" cmpd="sng">
                          <a:solidFill>
                            <a:srgbClr val="000000"/>
                          </a:solidFill>
                          <a:prstDash val="solid"/>
                          <a:headEnd type="none" w="med" len="med"/>
                          <a:tailEnd type="none" w="med" len="med"/>
                        </a:ln>
                      </p:spPr>
                    </p:sp>
                  </p:grpSp>
                  <p:grpSp>
                    <p:nvGrpSpPr>
                      <p:cNvPr id="88098" name="Group 108"/>
                      <p:cNvGrpSpPr/>
                      <p:nvPr/>
                    </p:nvGrpSpPr>
                    <p:grpSpPr>
                      <a:xfrm>
                        <a:off x="3777" y="9396"/>
                        <a:ext cx="360" cy="624"/>
                        <a:chOff x="3417" y="9396"/>
                        <a:chExt cx="360" cy="624"/>
                      </a:xfrm>
                    </p:grpSpPr>
                    <p:sp>
                      <p:nvSpPr>
                        <p:cNvPr id="88105" name="Line 109"/>
                        <p:cNvSpPr/>
                        <p:nvPr/>
                      </p:nvSpPr>
                      <p:spPr>
                        <a:xfrm flipH="1">
                          <a:off x="3417" y="9396"/>
                          <a:ext cx="180" cy="156"/>
                        </a:xfrm>
                        <a:prstGeom prst="line">
                          <a:avLst/>
                        </a:prstGeom>
                        <a:ln w="9525" cap="flat" cmpd="sng">
                          <a:solidFill>
                            <a:srgbClr val="000000"/>
                          </a:solidFill>
                          <a:prstDash val="solid"/>
                          <a:headEnd type="none" w="med" len="med"/>
                          <a:tailEnd type="none" w="med" len="med"/>
                        </a:ln>
                      </p:spPr>
                    </p:sp>
                    <p:sp>
                      <p:nvSpPr>
                        <p:cNvPr id="88106" name="Line 110"/>
                        <p:cNvSpPr/>
                        <p:nvPr/>
                      </p:nvSpPr>
                      <p:spPr>
                        <a:xfrm flipH="1">
                          <a:off x="3417" y="9396"/>
                          <a:ext cx="360" cy="312"/>
                        </a:xfrm>
                        <a:prstGeom prst="line">
                          <a:avLst/>
                        </a:prstGeom>
                        <a:ln w="9525" cap="flat" cmpd="sng">
                          <a:solidFill>
                            <a:srgbClr val="000000"/>
                          </a:solidFill>
                          <a:prstDash val="solid"/>
                          <a:headEnd type="none" w="med" len="med"/>
                          <a:tailEnd type="none" w="med" len="med"/>
                        </a:ln>
                      </p:spPr>
                    </p:sp>
                    <p:sp>
                      <p:nvSpPr>
                        <p:cNvPr id="88107" name="Line 111"/>
                        <p:cNvSpPr/>
                        <p:nvPr/>
                      </p:nvSpPr>
                      <p:spPr>
                        <a:xfrm flipH="1">
                          <a:off x="3417" y="9552"/>
                          <a:ext cx="360" cy="312"/>
                        </a:xfrm>
                        <a:prstGeom prst="line">
                          <a:avLst/>
                        </a:prstGeom>
                        <a:ln w="9525" cap="flat" cmpd="sng">
                          <a:solidFill>
                            <a:srgbClr val="000000"/>
                          </a:solidFill>
                          <a:prstDash val="solid"/>
                          <a:headEnd type="none" w="med" len="med"/>
                          <a:tailEnd type="none" w="med" len="med"/>
                        </a:ln>
                      </p:spPr>
                    </p:sp>
                    <p:sp>
                      <p:nvSpPr>
                        <p:cNvPr id="88108" name="Line 112"/>
                        <p:cNvSpPr/>
                        <p:nvPr/>
                      </p:nvSpPr>
                      <p:spPr>
                        <a:xfrm flipH="1">
                          <a:off x="3417" y="9708"/>
                          <a:ext cx="360" cy="312"/>
                        </a:xfrm>
                        <a:prstGeom prst="line">
                          <a:avLst/>
                        </a:prstGeom>
                        <a:ln w="9525" cap="flat" cmpd="sng">
                          <a:solidFill>
                            <a:srgbClr val="000000"/>
                          </a:solidFill>
                          <a:prstDash val="solid"/>
                          <a:headEnd type="none" w="med" len="med"/>
                          <a:tailEnd type="none" w="med" len="med"/>
                        </a:ln>
                      </p:spPr>
                    </p:sp>
                    <p:sp>
                      <p:nvSpPr>
                        <p:cNvPr id="88109" name="Line 113"/>
                        <p:cNvSpPr/>
                        <p:nvPr/>
                      </p:nvSpPr>
                      <p:spPr>
                        <a:xfrm flipH="1">
                          <a:off x="3597" y="9864"/>
                          <a:ext cx="180" cy="156"/>
                        </a:xfrm>
                        <a:prstGeom prst="line">
                          <a:avLst/>
                        </a:prstGeom>
                        <a:ln w="9525" cap="flat" cmpd="sng">
                          <a:solidFill>
                            <a:srgbClr val="000000"/>
                          </a:solidFill>
                          <a:prstDash val="solid"/>
                          <a:headEnd type="none" w="med" len="med"/>
                          <a:tailEnd type="none" w="med" len="med"/>
                        </a:ln>
                      </p:spPr>
                    </p:sp>
                  </p:grpSp>
                  <p:grpSp>
                    <p:nvGrpSpPr>
                      <p:cNvPr id="88099" name="Group 114"/>
                      <p:cNvGrpSpPr/>
                      <p:nvPr/>
                    </p:nvGrpSpPr>
                    <p:grpSpPr>
                      <a:xfrm>
                        <a:off x="4137" y="9396"/>
                        <a:ext cx="360" cy="624"/>
                        <a:chOff x="3417" y="9396"/>
                        <a:chExt cx="360" cy="624"/>
                      </a:xfrm>
                    </p:grpSpPr>
                    <p:sp>
                      <p:nvSpPr>
                        <p:cNvPr id="88100" name="Line 115"/>
                        <p:cNvSpPr/>
                        <p:nvPr/>
                      </p:nvSpPr>
                      <p:spPr>
                        <a:xfrm flipH="1">
                          <a:off x="3417" y="9396"/>
                          <a:ext cx="180" cy="156"/>
                        </a:xfrm>
                        <a:prstGeom prst="line">
                          <a:avLst/>
                        </a:prstGeom>
                        <a:ln w="9525" cap="flat" cmpd="sng">
                          <a:solidFill>
                            <a:srgbClr val="000000"/>
                          </a:solidFill>
                          <a:prstDash val="solid"/>
                          <a:headEnd type="none" w="med" len="med"/>
                          <a:tailEnd type="none" w="med" len="med"/>
                        </a:ln>
                      </p:spPr>
                    </p:sp>
                    <p:sp>
                      <p:nvSpPr>
                        <p:cNvPr id="88101" name="Line 116"/>
                        <p:cNvSpPr/>
                        <p:nvPr/>
                      </p:nvSpPr>
                      <p:spPr>
                        <a:xfrm flipH="1">
                          <a:off x="3417" y="9396"/>
                          <a:ext cx="360" cy="312"/>
                        </a:xfrm>
                        <a:prstGeom prst="line">
                          <a:avLst/>
                        </a:prstGeom>
                        <a:ln w="9525" cap="flat" cmpd="sng">
                          <a:solidFill>
                            <a:srgbClr val="000000"/>
                          </a:solidFill>
                          <a:prstDash val="solid"/>
                          <a:headEnd type="none" w="med" len="med"/>
                          <a:tailEnd type="none" w="med" len="med"/>
                        </a:ln>
                      </p:spPr>
                    </p:sp>
                    <p:sp>
                      <p:nvSpPr>
                        <p:cNvPr id="88102" name="Line 117"/>
                        <p:cNvSpPr/>
                        <p:nvPr/>
                      </p:nvSpPr>
                      <p:spPr>
                        <a:xfrm flipH="1">
                          <a:off x="3417" y="9552"/>
                          <a:ext cx="360" cy="312"/>
                        </a:xfrm>
                        <a:prstGeom prst="line">
                          <a:avLst/>
                        </a:prstGeom>
                        <a:ln w="9525" cap="flat" cmpd="sng">
                          <a:solidFill>
                            <a:srgbClr val="000000"/>
                          </a:solidFill>
                          <a:prstDash val="solid"/>
                          <a:headEnd type="none" w="med" len="med"/>
                          <a:tailEnd type="none" w="med" len="med"/>
                        </a:ln>
                      </p:spPr>
                    </p:sp>
                    <p:sp>
                      <p:nvSpPr>
                        <p:cNvPr id="88103" name="Line 118"/>
                        <p:cNvSpPr/>
                        <p:nvPr/>
                      </p:nvSpPr>
                      <p:spPr>
                        <a:xfrm flipH="1">
                          <a:off x="3417" y="9708"/>
                          <a:ext cx="360" cy="312"/>
                        </a:xfrm>
                        <a:prstGeom prst="line">
                          <a:avLst/>
                        </a:prstGeom>
                        <a:ln w="9525" cap="flat" cmpd="sng">
                          <a:solidFill>
                            <a:srgbClr val="000000"/>
                          </a:solidFill>
                          <a:prstDash val="solid"/>
                          <a:headEnd type="none" w="med" len="med"/>
                          <a:tailEnd type="none" w="med" len="med"/>
                        </a:ln>
                      </p:spPr>
                    </p:sp>
                    <p:sp>
                      <p:nvSpPr>
                        <p:cNvPr id="88104" name="Line 119"/>
                        <p:cNvSpPr/>
                        <p:nvPr/>
                      </p:nvSpPr>
                      <p:spPr>
                        <a:xfrm flipH="1">
                          <a:off x="3597" y="9864"/>
                          <a:ext cx="180" cy="156"/>
                        </a:xfrm>
                        <a:prstGeom prst="line">
                          <a:avLst/>
                        </a:prstGeom>
                        <a:ln w="9525" cap="flat" cmpd="sng">
                          <a:solidFill>
                            <a:srgbClr val="000000"/>
                          </a:solidFill>
                          <a:prstDash val="solid"/>
                          <a:headEnd type="none" w="med" len="med"/>
                          <a:tailEnd type="none" w="med" len="med"/>
                        </a:ln>
                      </p:spPr>
                    </p:sp>
                  </p:grpSp>
                </p:grpSp>
              </p:grpSp>
              <p:sp>
                <p:nvSpPr>
                  <p:cNvPr id="88092" name="Line 120"/>
                  <p:cNvSpPr/>
                  <p:nvPr/>
                </p:nvSpPr>
                <p:spPr>
                  <a:xfrm>
                    <a:off x="7917" y="9396"/>
                    <a:ext cx="0" cy="624"/>
                  </a:xfrm>
                  <a:prstGeom prst="line">
                    <a:avLst/>
                  </a:prstGeom>
                  <a:ln w="9525" cap="flat" cmpd="sng">
                    <a:solidFill>
                      <a:srgbClr val="000000"/>
                    </a:solidFill>
                    <a:prstDash val="solid"/>
                    <a:headEnd type="none" w="med" len="med"/>
                    <a:tailEnd type="none" w="med" len="med"/>
                  </a:ln>
                </p:spPr>
              </p:sp>
            </p:grpSp>
            <p:sp>
              <p:nvSpPr>
                <p:cNvPr id="88077" name="Line 121"/>
                <p:cNvSpPr/>
                <p:nvPr/>
              </p:nvSpPr>
              <p:spPr>
                <a:xfrm>
                  <a:off x="4497" y="9396"/>
                  <a:ext cx="0" cy="624"/>
                </a:xfrm>
                <a:prstGeom prst="line">
                  <a:avLst/>
                </a:prstGeom>
                <a:ln w="9525" cap="flat" cmpd="sng">
                  <a:solidFill>
                    <a:srgbClr val="000000"/>
                  </a:solidFill>
                  <a:prstDash val="solid"/>
                  <a:headEnd type="none" w="med" len="med"/>
                  <a:tailEnd type="none" w="med" len="med"/>
                </a:ln>
              </p:spPr>
            </p:sp>
          </p:grpSp>
        </p:gr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noRot="1"/>
          </p:cNvSpPr>
          <p:nvPr>
            <p:ph type="title"/>
          </p:nvPr>
        </p:nvSpPr>
        <p:spPr>
          <a:ln/>
        </p:spPr>
        <p:txBody>
          <a:bodyPr vert="horz" wrap="square" lIns="91440" tIns="45720" rIns="91440" bIns="45720" anchor="ctr" anchorCtr="0"/>
          <a:p>
            <a:endParaRPr lang="zh-CN" altLang="en-US" dirty="0"/>
          </a:p>
        </p:txBody>
      </p:sp>
      <p:sp>
        <p:nvSpPr>
          <p:cNvPr id="89091" name="Rectangle 3"/>
          <p:cNvSpPr>
            <a:spLocks noGrp="1" noRot="1"/>
          </p:cNvSpPr>
          <p:nvPr>
            <p:ph idx="1"/>
          </p:nvPr>
        </p:nvSpPr>
        <p:spPr>
          <a:xfrm>
            <a:off x="152400" y="1600200"/>
            <a:ext cx="4114800" cy="4267200"/>
          </a:xfrm>
          <a:solidFill>
            <a:srgbClr val="99CCFF">
              <a:alpha val="100000"/>
            </a:srgbClr>
          </a:solidFill>
          <a:ln/>
        </p:spPr>
        <p:txBody>
          <a:bodyPr vert="horz" wrap="square" lIns="91440" tIns="45720" rIns="91440" bIns="45720" anchor="t" anchorCtr="0"/>
          <a:p>
            <a:pPr>
              <a:lnSpc>
                <a:spcPct val="80000"/>
              </a:lnSpc>
              <a:buNone/>
            </a:pPr>
            <a:r>
              <a:rPr lang="en-US" altLang="zh-CN" sz="2400" b="1" dirty="0"/>
              <a:t>producer: repeat</a:t>
            </a:r>
            <a:endParaRPr lang="en-US" altLang="zh-CN" sz="2400" b="1" dirty="0"/>
          </a:p>
          <a:p>
            <a:pPr>
              <a:lnSpc>
                <a:spcPct val="80000"/>
              </a:lnSpc>
              <a:buNone/>
            </a:pPr>
            <a:r>
              <a:rPr lang="en-US" altLang="zh-CN" sz="2400" b="1" dirty="0"/>
              <a:t>    …</a:t>
            </a:r>
            <a:endParaRPr lang="en-US" altLang="zh-CN" sz="2400" b="1" dirty="0"/>
          </a:p>
          <a:p>
            <a:pPr>
              <a:lnSpc>
                <a:spcPct val="80000"/>
              </a:lnSpc>
              <a:buNone/>
            </a:pPr>
            <a:r>
              <a:rPr lang="en-US" altLang="zh-CN" sz="2400" b="1" dirty="0"/>
              <a:t>produce an item in nextp;     …</a:t>
            </a:r>
            <a:endParaRPr lang="en-US" altLang="zh-CN" sz="2400" b="1" dirty="0"/>
          </a:p>
          <a:p>
            <a:pPr>
              <a:lnSpc>
                <a:spcPct val="80000"/>
              </a:lnSpc>
              <a:buNone/>
            </a:pPr>
            <a:r>
              <a:rPr lang="en-US" altLang="zh-CN" sz="2400" b="1" dirty="0"/>
              <a:t>while counter=n do no-op;</a:t>
            </a:r>
            <a:endParaRPr lang="en-US" altLang="zh-CN" sz="2400" b="1" dirty="0"/>
          </a:p>
          <a:p>
            <a:pPr>
              <a:lnSpc>
                <a:spcPct val="80000"/>
              </a:lnSpc>
              <a:buNone/>
            </a:pPr>
            <a:r>
              <a:rPr lang="en-US" altLang="zh-CN" sz="2400" b="1" dirty="0">
                <a:solidFill>
                  <a:srgbClr val="FF0000"/>
                </a:solidFill>
              </a:rPr>
              <a:t>buffer</a:t>
            </a:r>
            <a:r>
              <a:rPr lang="zh-CN" altLang="en-US" sz="2400" b="1" dirty="0">
                <a:solidFill>
                  <a:srgbClr val="FF0000"/>
                </a:solidFill>
              </a:rPr>
              <a:t>［</a:t>
            </a:r>
            <a:r>
              <a:rPr lang="en-US" altLang="zh-CN" sz="2400" b="1" dirty="0">
                <a:solidFill>
                  <a:srgbClr val="FF0000"/>
                </a:solidFill>
              </a:rPr>
              <a:t>in</a:t>
            </a:r>
            <a:r>
              <a:rPr lang="zh-CN" altLang="en-US" sz="2400" b="1" dirty="0">
                <a:solidFill>
                  <a:srgbClr val="FF0000"/>
                </a:solidFill>
              </a:rPr>
              <a:t>］∶ </a:t>
            </a:r>
            <a:r>
              <a:rPr lang="en-US" altLang="zh-CN" sz="2400" b="1" dirty="0">
                <a:solidFill>
                  <a:srgbClr val="FF0000"/>
                </a:solidFill>
              </a:rPr>
              <a:t>= nextp;</a:t>
            </a:r>
            <a:endParaRPr lang="en-US" altLang="zh-CN" sz="2400" b="1" dirty="0">
              <a:solidFill>
                <a:srgbClr val="FF0000"/>
              </a:solidFill>
            </a:endParaRPr>
          </a:p>
          <a:p>
            <a:pPr>
              <a:lnSpc>
                <a:spcPct val="80000"/>
              </a:lnSpc>
              <a:buNone/>
            </a:pPr>
            <a:r>
              <a:rPr lang="en-US" altLang="zh-CN" sz="2400" b="1" dirty="0">
                <a:solidFill>
                  <a:srgbClr val="FF0000"/>
                </a:solidFill>
              </a:rPr>
              <a:t>in∶ =(in+1) mod n;</a:t>
            </a:r>
            <a:endParaRPr lang="en-US" altLang="zh-CN" sz="2400" b="1" dirty="0">
              <a:solidFill>
                <a:srgbClr val="FF0000"/>
              </a:solidFill>
            </a:endParaRPr>
          </a:p>
          <a:p>
            <a:pPr>
              <a:lnSpc>
                <a:spcPct val="80000"/>
              </a:lnSpc>
              <a:buNone/>
            </a:pPr>
            <a:r>
              <a:rPr lang="en-US" altLang="zh-CN" sz="2400" b="1" dirty="0">
                <a:solidFill>
                  <a:srgbClr val="FF0000"/>
                </a:solidFill>
              </a:rPr>
              <a:t>counter∶  = counter+1;</a:t>
            </a:r>
            <a:endParaRPr lang="en-US" altLang="zh-CN" sz="2400" b="1" dirty="0">
              <a:solidFill>
                <a:srgbClr val="FF0000"/>
              </a:solidFill>
            </a:endParaRPr>
          </a:p>
          <a:p>
            <a:pPr>
              <a:lnSpc>
                <a:spcPct val="80000"/>
              </a:lnSpc>
              <a:buNone/>
            </a:pPr>
            <a:endParaRPr lang="en-US" altLang="zh-CN" sz="2400" b="1" dirty="0">
              <a:solidFill>
                <a:srgbClr val="FF0000"/>
              </a:solidFill>
            </a:endParaRPr>
          </a:p>
          <a:p>
            <a:pPr>
              <a:lnSpc>
                <a:spcPct val="80000"/>
              </a:lnSpc>
              <a:buNone/>
            </a:pPr>
            <a:r>
              <a:rPr lang="en-US" altLang="zh-CN" sz="2400" b="1" dirty="0"/>
              <a:t>until false;</a:t>
            </a:r>
            <a:endParaRPr lang="zh-CN" altLang="en-US" sz="2400" b="1" dirty="0"/>
          </a:p>
        </p:txBody>
      </p:sp>
      <p:sp>
        <p:nvSpPr>
          <p:cNvPr id="89092" name="Text Box 4"/>
          <p:cNvSpPr txBox="1"/>
          <p:nvPr/>
        </p:nvSpPr>
        <p:spPr>
          <a:xfrm>
            <a:off x="4419600" y="1620838"/>
            <a:ext cx="4572000" cy="4340225"/>
          </a:xfrm>
          <a:prstGeom prst="rect">
            <a:avLst/>
          </a:prstGeom>
          <a:solidFill>
            <a:srgbClr val="CC99FF"/>
          </a:solidFill>
          <a:ln w="9525">
            <a:noFill/>
          </a:ln>
          <a:effectLst>
            <a:prstShdw prst="shdw17" dist="17961" dir="13499999">
              <a:srgbClr val="7A5C99"/>
            </a:prstShdw>
          </a:effectLst>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consumer: repeat</a:t>
            </a:r>
            <a:endParaRPr lang="en-US" altLang="zh-CN" sz="2400" b="1" dirty="0"/>
          </a:p>
          <a:p>
            <a:pPr marL="0" lvl="0" indent="0" eaLnBrk="1" hangingPunct="1">
              <a:spcBef>
                <a:spcPct val="0"/>
              </a:spcBef>
              <a:buClrTx/>
              <a:buSzTx/>
              <a:buFontTx/>
              <a:buNone/>
            </a:pPr>
            <a:endParaRPr lang="en-US" altLang="zh-CN" sz="2400" b="1" dirty="0"/>
          </a:p>
          <a:p>
            <a:pPr marL="0" lvl="0" indent="0" eaLnBrk="1" hangingPunct="1">
              <a:spcBef>
                <a:spcPct val="0"/>
              </a:spcBef>
              <a:buClrTx/>
              <a:buSzTx/>
              <a:buFontTx/>
              <a:buNone/>
            </a:pPr>
            <a:r>
              <a:rPr lang="en-US" altLang="zh-CN" sz="2400" b="1" dirty="0"/>
              <a:t> while counter=0 do no-op;</a:t>
            </a:r>
            <a:endParaRPr lang="en-US" altLang="zh-CN" sz="2400" b="1" dirty="0"/>
          </a:p>
          <a:p>
            <a:pPr marL="0" lvl="0" indent="0" eaLnBrk="1" hangingPunct="1">
              <a:spcBef>
                <a:spcPct val="0"/>
              </a:spcBef>
              <a:buClrTx/>
              <a:buSzTx/>
              <a:buFontTx/>
              <a:buNone/>
            </a:pPr>
            <a:r>
              <a:rPr lang="en-US" altLang="zh-CN" sz="2400" b="1" dirty="0"/>
              <a:t> </a:t>
            </a:r>
            <a:endParaRPr lang="en-US" altLang="zh-CN" sz="2400" b="1" dirty="0"/>
          </a:p>
          <a:p>
            <a:pPr marL="0" lvl="0" indent="0" eaLnBrk="1" hangingPunct="1">
              <a:spcBef>
                <a:spcPct val="0"/>
              </a:spcBef>
              <a:buClrTx/>
              <a:buSzTx/>
              <a:buFontTx/>
              <a:buNone/>
            </a:pPr>
            <a:r>
              <a:rPr lang="en-US" altLang="zh-CN" sz="2400" b="1" dirty="0">
                <a:solidFill>
                  <a:srgbClr val="FF0000"/>
                </a:solidFill>
              </a:rPr>
              <a:t>nextc∶ =buffer</a:t>
            </a:r>
            <a:r>
              <a:rPr lang="zh-CN" altLang="en-US" sz="2400" b="1" dirty="0">
                <a:solidFill>
                  <a:srgbClr val="FF0000"/>
                </a:solidFill>
              </a:rPr>
              <a:t>［</a:t>
            </a:r>
            <a:r>
              <a:rPr lang="en-US" altLang="zh-CN" sz="2400" b="1" dirty="0">
                <a:solidFill>
                  <a:srgbClr val="FF0000"/>
                </a:solidFill>
              </a:rPr>
              <a:t>out</a:t>
            </a:r>
            <a:r>
              <a:rPr lang="zh-CN" altLang="en-US" sz="2400" b="1" dirty="0">
                <a:solidFill>
                  <a:srgbClr val="FF0000"/>
                </a:solidFill>
              </a:rPr>
              <a:t>］</a:t>
            </a:r>
            <a:r>
              <a:rPr lang="en-US" altLang="zh-CN" sz="2400" b="1" dirty="0">
                <a:solidFill>
                  <a:srgbClr val="FF0000"/>
                </a:solidFill>
              </a:rPr>
              <a:t>;</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out∶ =(out+1) mod  n;</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counter∶   =counter-1;</a:t>
            </a:r>
            <a:endParaRPr lang="en-US" altLang="zh-CN" sz="2400" b="1" dirty="0">
              <a:solidFill>
                <a:srgbClr val="FF0000"/>
              </a:solidFill>
            </a:endParaRPr>
          </a:p>
          <a:p>
            <a:pPr marL="0" lvl="0" indent="0" eaLnBrk="1" hangingPunct="1">
              <a:spcBef>
                <a:spcPct val="0"/>
              </a:spcBef>
              <a:buClrTx/>
              <a:buSzTx/>
              <a:buFontTx/>
              <a:buNone/>
            </a:pPr>
            <a:endParaRPr lang="en-US" altLang="zh-CN" sz="2400" b="1" dirty="0">
              <a:solidFill>
                <a:srgbClr val="FF0000"/>
              </a:solidFill>
            </a:endParaRPr>
          </a:p>
          <a:p>
            <a:pPr marL="0" lvl="0" indent="0" eaLnBrk="1" hangingPunct="1">
              <a:spcBef>
                <a:spcPct val="0"/>
              </a:spcBef>
              <a:buClrTx/>
              <a:buSzTx/>
              <a:buFontTx/>
              <a:buNone/>
            </a:pPr>
            <a:r>
              <a:rPr lang="en-US" altLang="zh-CN" sz="2400" b="1" dirty="0"/>
              <a:t>consumer the item in nextc;</a:t>
            </a:r>
            <a:endParaRPr lang="en-US" altLang="zh-CN" sz="2400" b="1" dirty="0"/>
          </a:p>
          <a:p>
            <a:pPr marL="0" lvl="0" indent="0" eaLnBrk="1" hangingPunct="1">
              <a:spcBef>
                <a:spcPct val="0"/>
              </a:spcBef>
              <a:buClrTx/>
              <a:buSzTx/>
              <a:buFontTx/>
              <a:buNone/>
            </a:pPr>
            <a:r>
              <a:rPr lang="en-US" altLang="zh-CN" sz="2400" b="1" dirty="0"/>
              <a:t>    until false; </a:t>
            </a:r>
            <a:endParaRPr lang="en-US" altLang="zh-CN" sz="2400" b="1" dirty="0"/>
          </a:p>
          <a:p>
            <a:pPr marL="0" lvl="0" indent="0" eaLnBrk="1" hangingPunct="1">
              <a:spcBef>
                <a:spcPct val="50000"/>
              </a:spcBef>
              <a:buClrTx/>
              <a:buSzTx/>
              <a:buFontTx/>
              <a:buNone/>
            </a:pPr>
            <a:endParaRPr lang="zh-CN" altLang="en-US" sz="24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noRot="1"/>
          </p:cNvSpPr>
          <p:nvPr>
            <p:ph type="title"/>
          </p:nvPr>
        </p:nvSpPr>
        <p:spPr>
          <a:xfrm>
            <a:off x="301625" y="152400"/>
            <a:ext cx="8540750" cy="1143000"/>
          </a:xfrm>
          <a:ln/>
        </p:spPr>
        <p:txBody>
          <a:bodyPr vert="horz" wrap="square" lIns="91440" tIns="45720" rIns="91440" bIns="45720" anchor="ctr" anchorCtr="0"/>
          <a:p>
            <a:endParaRPr lang="zh-CN" altLang="en-US" dirty="0"/>
          </a:p>
        </p:txBody>
      </p:sp>
      <p:sp>
        <p:nvSpPr>
          <p:cNvPr id="90115" name="Rectangle 3"/>
          <p:cNvSpPr>
            <a:spLocks noGrp="1" noRot="1"/>
          </p:cNvSpPr>
          <p:nvPr>
            <p:ph idx="1"/>
          </p:nvPr>
        </p:nvSpPr>
        <p:spPr>
          <a:xfrm>
            <a:off x="149225" y="1520825"/>
            <a:ext cx="8842375" cy="4498975"/>
          </a:xfrm>
          <a:ln/>
        </p:spPr>
        <p:txBody>
          <a:bodyPr vert="horz" wrap="square" lIns="91440" tIns="45720" rIns="91440" bIns="45720" anchor="t" anchorCtr="0"/>
          <a:p>
            <a:r>
              <a:rPr lang="zh-CN" altLang="en-US" sz="2800" b="1" dirty="0"/>
              <a:t>若并发执行时，就会出现差错，问题就在于这两个进程共享变量</a:t>
            </a:r>
            <a:r>
              <a:rPr lang="en-US" altLang="zh-CN" sz="2800" b="1" dirty="0"/>
              <a:t>counter</a:t>
            </a:r>
            <a:r>
              <a:rPr lang="zh-CN" altLang="en-US" sz="2800" b="1" dirty="0"/>
              <a:t>。生产者对它做加</a:t>
            </a:r>
            <a:r>
              <a:rPr lang="en-US" altLang="zh-CN" sz="2800" b="1" dirty="0"/>
              <a:t>1</a:t>
            </a:r>
            <a:r>
              <a:rPr lang="zh-CN" altLang="en-US" sz="2800" b="1" dirty="0"/>
              <a:t>操作，消费者对它做减</a:t>
            </a:r>
            <a:r>
              <a:rPr lang="en-US" altLang="zh-CN" sz="2800" b="1" dirty="0"/>
              <a:t>1</a:t>
            </a:r>
            <a:r>
              <a:rPr lang="zh-CN" altLang="en-US" sz="2800" b="1" dirty="0"/>
              <a:t>操作，这两个操作在用机器语言实现时， 常可用下面的形式描述：</a:t>
            </a:r>
            <a:r>
              <a:rPr lang="zh-CN" altLang="en-US" b="1" dirty="0">
                <a:solidFill>
                  <a:srgbClr val="FF0000"/>
                </a:solidFill>
              </a:rPr>
              <a:t>  </a:t>
            </a:r>
            <a:endParaRPr lang="zh-CN" altLang="en-US" b="1" dirty="0">
              <a:solidFill>
                <a:srgbClr val="FF0000"/>
              </a:solidFill>
            </a:endParaRPr>
          </a:p>
          <a:p>
            <a:r>
              <a:rPr lang="zh-CN" altLang="en-US" b="1" dirty="0">
                <a:solidFill>
                  <a:srgbClr val="FF0000"/>
                </a:solidFill>
              </a:rPr>
              <a:t>     生产者                           消费者</a:t>
            </a:r>
            <a:endParaRPr lang="zh-CN" altLang="en-US" b="1" dirty="0">
              <a:solidFill>
                <a:srgbClr val="FF0000"/>
              </a:solidFill>
            </a:endParaRPr>
          </a:p>
          <a:p>
            <a:r>
              <a:rPr lang="zh-CN" altLang="en-US" dirty="0"/>
              <a:t> </a:t>
            </a:r>
            <a:r>
              <a:rPr lang="en-US" altLang="zh-CN" sz="2400" dirty="0"/>
              <a:t>register 1∶ = counter;            register 2∶= counter;</a:t>
            </a:r>
            <a:endParaRPr lang="en-US" altLang="zh-CN" sz="2400" dirty="0"/>
          </a:p>
          <a:p>
            <a:r>
              <a:rPr lang="en-US" altLang="zh-CN" sz="2400" dirty="0"/>
              <a:t> register1∶= register 1+1;       register 2∶ = register 2-1;     counter∶= register 1;               counter∶   =register 2;</a:t>
            </a:r>
            <a:r>
              <a:rPr lang="en-US" altLang="zh-CN" dirty="0"/>
              <a:t> </a:t>
            </a:r>
            <a:endParaRPr lang="en-US" altLang="zh-CN" dirty="0"/>
          </a:p>
          <a:p>
            <a:pPr algn="just" eaLnBrk="1" hangingPunct="1">
              <a:lnSpc>
                <a:spcPct val="150000"/>
              </a:lnSpc>
              <a:spcBef>
                <a:spcPct val="50000"/>
              </a:spcBef>
              <a:buClrTx/>
              <a:buSzTx/>
              <a:buFontTx/>
              <a:buNone/>
            </a:pPr>
            <a:endParaRPr lang="zh-CN" altLang="en-US" dirty="0"/>
          </a:p>
        </p:txBody>
      </p:sp>
      <p:sp>
        <p:nvSpPr>
          <p:cNvPr id="399364" name="Rectangle 4"/>
          <p:cNvSpPr>
            <a:spLocks noChangeArrowheads="1"/>
          </p:cNvSpPr>
          <p:nvPr/>
        </p:nvSpPr>
        <p:spPr bwMode="auto">
          <a:xfrm>
            <a:off x="304800" y="5641975"/>
            <a:ext cx="7178675" cy="822325"/>
          </a:xfrm>
          <a:prstGeom prst="rect">
            <a:avLst/>
          </a:prstGeom>
          <a:noFill/>
          <a:ln w="9525">
            <a:noFill/>
            <a:miter lim="800000"/>
          </a:ln>
          <a:effectLst>
            <a:prstShdw prst="shdw18" dist="17961" dir="13500000">
              <a:schemeClr val="accent1">
                <a:gamma/>
                <a:shade val="60000"/>
                <a:invGamma/>
              </a:schemeClr>
            </a:prstShdw>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假设：</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counter</a:t>
            </a:r>
            <a:r>
              <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的当前值是</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5</a:t>
            </a:r>
            <a:r>
              <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a:t>
            </a:r>
            <a:endPar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无论生产者先执行，还是消费者先执行，结果都是</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5.</a:t>
            </a:r>
            <a:endPar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99364"/>
                                        </p:tgtEl>
                                        <p:attrNameLst>
                                          <p:attrName>style.visibility</p:attrName>
                                        </p:attrNameLst>
                                      </p:cBhvr>
                                      <p:to>
                                        <p:strVal val="visible"/>
                                      </p:to>
                                    </p:set>
                                    <p:animEffect transition="in" filter="box(in)">
                                      <p:cBhvr>
                                        <p:cTn id="7" dur="500"/>
                                        <p:tgtEl>
                                          <p:spTgt spid="399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noRot="1"/>
          </p:cNvSpPr>
          <p:nvPr>
            <p:ph type="title"/>
          </p:nvPr>
        </p:nvSpPr>
        <p:spPr>
          <a:ln/>
        </p:spPr>
        <p:txBody>
          <a:bodyPr vert="horz" wrap="square" lIns="91440" tIns="45720" rIns="91440" bIns="45720" anchor="ctr" anchorCtr="0"/>
          <a:p>
            <a:endParaRPr lang="zh-CN" altLang="en-US" dirty="0"/>
          </a:p>
        </p:txBody>
      </p:sp>
      <p:sp>
        <p:nvSpPr>
          <p:cNvPr id="400387" name="Rectangle 3"/>
          <p:cNvSpPr>
            <a:spLocks noGrp="1" noRot="1"/>
          </p:cNvSpPr>
          <p:nvPr>
            <p:ph idx="1"/>
          </p:nvPr>
        </p:nvSpPr>
        <p:spPr>
          <a:xfrm>
            <a:off x="301625" y="1600200"/>
            <a:ext cx="8613775" cy="4498975"/>
          </a:xfrm>
          <a:ln/>
        </p:spPr>
        <p:txBody>
          <a:bodyPr vert="horz" wrap="square" lIns="91440" tIns="45720" rIns="91440" bIns="45720" anchor="t" anchorCtr="0"/>
          <a:p>
            <a:pPr>
              <a:lnSpc>
                <a:spcPct val="80000"/>
              </a:lnSpc>
            </a:pPr>
            <a:r>
              <a:rPr lang="zh-CN" altLang="en-US" sz="2400" b="1" dirty="0">
                <a:solidFill>
                  <a:srgbClr val="FF0000"/>
                </a:solidFill>
              </a:rPr>
              <a:t>但是，如果按下述顺序执行：</a:t>
            </a:r>
            <a:endParaRPr lang="zh-CN" altLang="en-US" sz="2400" b="1" dirty="0">
              <a:solidFill>
                <a:srgbClr val="FF0000"/>
              </a:solidFill>
            </a:endParaRPr>
          </a:p>
          <a:p>
            <a:pPr>
              <a:lnSpc>
                <a:spcPct val="80000"/>
              </a:lnSpc>
            </a:pPr>
            <a:r>
              <a:rPr lang="zh-CN" altLang="en-US" sz="2400" dirty="0"/>
              <a:t>         </a:t>
            </a:r>
            <a:r>
              <a:rPr lang="en-US" altLang="zh-CN" sz="2400" dirty="0"/>
              <a:t>register 1 ∶  =counter; (register 1=5)</a:t>
            </a:r>
            <a:endParaRPr lang="en-US" altLang="zh-CN" sz="2400" dirty="0"/>
          </a:p>
          <a:p>
            <a:pPr>
              <a:lnSpc>
                <a:spcPct val="80000"/>
              </a:lnSpc>
            </a:pPr>
            <a:r>
              <a:rPr lang="en-US" altLang="zh-CN" sz="2400" dirty="0"/>
              <a:t>         register 1 ∶   =register 1+1; (register 1=6)</a:t>
            </a:r>
            <a:endParaRPr lang="en-US" altLang="zh-CN" sz="2400" dirty="0"/>
          </a:p>
          <a:p>
            <a:pPr>
              <a:lnSpc>
                <a:spcPct val="80000"/>
              </a:lnSpc>
            </a:pPr>
            <a:r>
              <a:rPr lang="en-US" altLang="zh-CN" sz="2400" dirty="0"/>
              <a:t>         register 2 ∶   =counter; (register 2=5)</a:t>
            </a:r>
            <a:endParaRPr lang="en-US" altLang="zh-CN" sz="2400" dirty="0"/>
          </a:p>
          <a:p>
            <a:pPr>
              <a:lnSpc>
                <a:spcPct val="80000"/>
              </a:lnSpc>
            </a:pPr>
            <a:r>
              <a:rPr lang="en-US" altLang="zh-CN" sz="2400" dirty="0"/>
              <a:t>         register 2 ∶   =register 2-1; (register 2=4)</a:t>
            </a:r>
            <a:endParaRPr lang="en-US" altLang="zh-CN" sz="2400" dirty="0"/>
          </a:p>
          <a:p>
            <a:pPr>
              <a:lnSpc>
                <a:spcPct val="80000"/>
              </a:lnSpc>
            </a:pPr>
            <a:r>
              <a:rPr lang="en-US" altLang="zh-CN" sz="2400" dirty="0"/>
              <a:t>         counter∶   =register 1; (counter=6)</a:t>
            </a:r>
            <a:endParaRPr lang="en-US" altLang="zh-CN" sz="2400" dirty="0"/>
          </a:p>
          <a:p>
            <a:pPr>
              <a:lnSpc>
                <a:spcPct val="80000"/>
              </a:lnSpc>
            </a:pPr>
            <a:r>
              <a:rPr lang="en-US" altLang="zh-CN" sz="2400" dirty="0"/>
              <a:t>         counter∶   =register 2; (</a:t>
            </a:r>
            <a:r>
              <a:rPr lang="en-US" altLang="zh-CN" sz="2400" dirty="0">
                <a:solidFill>
                  <a:srgbClr val="FF0000"/>
                </a:solidFill>
              </a:rPr>
              <a:t>counter=4</a:t>
            </a:r>
            <a:r>
              <a:rPr lang="en-US" altLang="zh-CN" sz="2400" dirty="0"/>
              <a:t>)</a:t>
            </a:r>
            <a:endParaRPr lang="en-US" altLang="zh-CN" sz="2400" dirty="0"/>
          </a:p>
          <a:p>
            <a:pPr>
              <a:lnSpc>
                <a:spcPct val="80000"/>
              </a:lnSpc>
            </a:pPr>
            <a:endParaRPr lang="en-US" altLang="zh-CN" sz="2400" b="1" dirty="0">
              <a:solidFill>
                <a:srgbClr val="FF0000"/>
              </a:solidFill>
            </a:endParaRPr>
          </a:p>
          <a:p>
            <a:pPr>
              <a:lnSpc>
                <a:spcPct val="80000"/>
              </a:lnSpc>
            </a:pPr>
            <a:r>
              <a:rPr lang="en-US" altLang="zh-CN" sz="2400" b="1" dirty="0">
                <a:solidFill>
                  <a:srgbClr val="FF0000"/>
                </a:solidFill>
              </a:rPr>
              <a:t>Counter</a:t>
            </a:r>
            <a:r>
              <a:rPr lang="zh-CN" altLang="en-US" sz="2400" b="1" dirty="0">
                <a:solidFill>
                  <a:srgbClr val="FF0000"/>
                </a:solidFill>
              </a:rPr>
              <a:t>的值最终为</a:t>
            </a:r>
            <a:r>
              <a:rPr lang="en-US" altLang="zh-CN" sz="2400" b="1" dirty="0">
                <a:solidFill>
                  <a:srgbClr val="FF0000"/>
                </a:solidFill>
              </a:rPr>
              <a:t>4</a:t>
            </a:r>
            <a:r>
              <a:rPr lang="zh-CN" altLang="en-US" sz="2400" b="1" dirty="0">
                <a:solidFill>
                  <a:srgbClr val="FF0000"/>
                </a:solidFill>
              </a:rPr>
              <a:t>。</a:t>
            </a:r>
            <a:endParaRPr lang="zh-CN" altLang="en-US" sz="2400" b="1" dirty="0">
              <a:solidFill>
                <a:srgbClr val="FF0000"/>
              </a:solidFill>
            </a:endParaRPr>
          </a:p>
          <a:p>
            <a:pPr>
              <a:lnSpc>
                <a:spcPct val="80000"/>
              </a:lnSpc>
            </a:pPr>
            <a:r>
              <a:rPr lang="zh-CN" altLang="en-US" sz="2400" b="1" dirty="0">
                <a:solidFill>
                  <a:srgbClr val="FF0000"/>
                </a:solidFill>
              </a:rPr>
              <a:t>问题的原因是什么？该怎么办？</a:t>
            </a:r>
            <a:endParaRPr lang="zh-CN" altLang="en-US" sz="2400" b="1" dirty="0">
              <a:solidFill>
                <a:srgbClr val="FF0000"/>
              </a:solidFill>
            </a:endParaRPr>
          </a:p>
          <a:p>
            <a:pPr>
              <a:lnSpc>
                <a:spcPct val="80000"/>
              </a:lnSpc>
            </a:pPr>
            <a:r>
              <a:rPr lang="zh-CN" altLang="en-US" sz="2400" b="1" dirty="0">
                <a:solidFill>
                  <a:srgbClr val="FF0000"/>
                </a:solidFill>
              </a:rPr>
              <a:t>将</a:t>
            </a:r>
            <a:r>
              <a:rPr lang="en-US" altLang="zh-CN" sz="2400" b="1" dirty="0">
                <a:solidFill>
                  <a:srgbClr val="FF0000"/>
                </a:solidFill>
              </a:rPr>
              <a:t>counter</a:t>
            </a:r>
            <a:r>
              <a:rPr lang="zh-CN" altLang="en-US" sz="2400" b="1" dirty="0">
                <a:solidFill>
                  <a:srgbClr val="FF0000"/>
                </a:solidFill>
              </a:rPr>
              <a:t>作为</a:t>
            </a:r>
            <a:r>
              <a:rPr lang="zh-CN" altLang="en-US" sz="2400" b="1" u="sng" dirty="0">
                <a:solidFill>
                  <a:srgbClr val="0066FF"/>
                </a:solidFill>
              </a:rPr>
              <a:t>临界资源</a:t>
            </a:r>
            <a:r>
              <a:rPr lang="zh-CN" altLang="en-US" sz="2400" b="1" dirty="0">
                <a:solidFill>
                  <a:srgbClr val="FF0000"/>
                </a:solidFill>
              </a:rPr>
              <a:t>处理，使生产者和消费者互斥的访问该变量。</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nodeType="clickEffect">
                                  <p:stCondLst>
                                    <p:cond delay="0"/>
                                  </p:stCondLst>
                                  <p:childTnLst>
                                    <p:animClr clrSpc="hsl" dir="cw">
                                      <p:cBhvr override="childStyle">
                                        <p:cTn id="6" dur="500" fill="hold"/>
                                        <p:tgtEl>
                                          <p:spTgt spid="400387">
                                            <p:txEl>
                                              <p:charRg st="116" end="165"/>
                                            </p:txEl>
                                          </p:spTgt>
                                        </p:tgtEl>
                                        <p:attrNameLst>
                                          <p:attrName>style.color</p:attrName>
                                        </p:attrNameLst>
                                      </p:cBhvr>
                                      <p:by>
                                        <p:hsl h="0" s="-12544" l="-25088"/>
                                      </p:by>
                                    </p:animClr>
                                    <p:animClr clrSpc="hsl" dir="cw">
                                      <p:cBhvr>
                                        <p:cTn id="7" dur="500" fill="hold"/>
                                        <p:tgtEl>
                                          <p:spTgt spid="400387">
                                            <p:txEl>
                                              <p:charRg st="116" end="165"/>
                                            </p:txEl>
                                          </p:spTgt>
                                        </p:tgtEl>
                                        <p:attrNameLst>
                                          <p:attrName>fillcolor</p:attrName>
                                        </p:attrNameLst>
                                      </p:cBhvr>
                                      <p:by>
                                        <p:hsl h="0" s="-12544" l="-25088"/>
                                      </p:by>
                                    </p:animClr>
                                    <p:animClr clrSpc="hsl" dir="cw">
                                      <p:cBhvr>
                                        <p:cTn id="8" dur="500" fill="hold"/>
                                        <p:tgtEl>
                                          <p:spTgt spid="400387">
                                            <p:txEl>
                                              <p:charRg st="116" end="165"/>
                                            </p:txEl>
                                          </p:spTgt>
                                        </p:tgtEl>
                                        <p:attrNameLst>
                                          <p:attrName>stroke.color</p:attrName>
                                        </p:attrNameLst>
                                      </p:cBhvr>
                                      <p:by>
                                        <p:hsl h="0" s="-12544" l="-25088"/>
                                      </p:by>
                                    </p:animClr>
                                    <p:set>
                                      <p:cBhvr>
                                        <p:cTn id="9" dur="500" fill="hold"/>
                                        <p:tgtEl>
                                          <p:spTgt spid="400387">
                                            <p:txEl>
                                              <p:charRg st="116" end="165"/>
                                            </p:txEl>
                                          </p:spTgt>
                                        </p:tgtEl>
                                        <p:attrNameLst>
                                          <p:attrName>fill.type</p:attrName>
                                        </p:attrNameLst>
                                      </p:cBhvr>
                                      <p:to>
                                        <p:strVal val="solid"/>
                                      </p:to>
                                    </p:set>
                                  </p:childTnLst>
                                  <p:subTnLst>
                                    <p:animClr clrSpc="rgb" dir="cw">
                                      <p:cBhvr override="childStyle">
                                        <p:cTn dur="1" fill="hold" display="0" masterRel="nextClick" afterEffect="1"/>
                                        <p:tgtEl>
                                          <p:spTgt spid="400387">
                                            <p:txEl>
                                              <p:charRg st="116" end="165"/>
                                            </p:txEl>
                                          </p:spTgt>
                                        </p:tgtEl>
                                        <p:attrNameLst>
                                          <p:attrName>ppt_c</p:attrName>
                                        </p:attrNameLst>
                                      </p:cBhvr>
                                      <p:to>
                                        <a:srgbClr val="FF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019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结论</a:t>
            </a:r>
            <a:endPar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520195" name="Rectangle 3"/>
          <p:cNvSpPr>
            <a:spLocks noGrp="1" noRot="1" noChangeArrowheads="1"/>
          </p:cNvSpPr>
          <p:nvPr>
            <p:ph type="body" idx="1"/>
          </p:nvPr>
        </p:nvSpPr>
        <p:spPr>
          <a:xfrm>
            <a:off x="304800" y="1676400"/>
            <a:ext cx="8540750" cy="27432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进程竞争资源首先必须解决</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互斥</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问题。某些资源必须互斥使用，如打印机、共享变量、表格、文件等。</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这类资源又称为</a:t>
            </a:r>
            <a:r>
              <a:rPr kumimoji="0" lang="zh-CN" altLang="en-US" sz="24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rPr>
              <a:t>临界资源</a:t>
            </a:r>
            <a:r>
              <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，访问临界资源的那段代码称为</a:t>
            </a:r>
            <a:r>
              <a:rPr kumimoji="0" lang="zh-CN" altLang="en-US" sz="24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rPr>
              <a:t>临界区</a:t>
            </a:r>
            <a:r>
              <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a:t>
            </a:r>
            <a:endPar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任何时刻，只允许一个进程进入临界区，以此实现进程对临界资源的互斥访问。</a:t>
            </a:r>
            <a:endPar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通过上述两个例子可见，采用多道程序并发设计技术的操作系统对诸进程的</a:t>
            </a:r>
            <a:r>
              <a:rPr kumimoji="0" lang="zh-CN" altLang="en-US" sz="2800" b="1" i="1"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n-cs"/>
              </a:rPr>
              <a:t>并发控制</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是非常重要和必需的。</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    </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 </a:t>
            </a:r>
            <a:endPar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0194"/>
                                        </p:tgtEl>
                                        <p:attrNameLst>
                                          <p:attrName>style.visibility</p:attrName>
                                        </p:attrNameLst>
                                      </p:cBhvr>
                                      <p:to>
                                        <p:strVal val="visible"/>
                                      </p:to>
                                    </p:set>
                                    <p:animEffect transition="in" filter="fade">
                                      <p:cBhvr>
                                        <p:cTn id="7" dur="2000"/>
                                        <p:tgtEl>
                                          <p:spTgt spid="520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0195">
                                            <p:txEl>
                                              <p:charRg st="0" end="48"/>
                                            </p:txEl>
                                          </p:spTgt>
                                        </p:tgtEl>
                                        <p:attrNameLst>
                                          <p:attrName>style.visibility</p:attrName>
                                        </p:attrNameLst>
                                      </p:cBhvr>
                                      <p:to>
                                        <p:strVal val="visible"/>
                                      </p:to>
                                    </p:set>
                                    <p:animEffect transition="in" filter="fade">
                                      <p:cBhvr>
                                        <p:cTn id="12" dur="2000"/>
                                        <p:tgtEl>
                                          <p:spTgt spid="520195">
                                            <p:txEl>
                                              <p:charRg st="0" end="4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20195">
                                            <p:txEl>
                                              <p:charRg st="48" end="78"/>
                                            </p:txEl>
                                          </p:spTgt>
                                        </p:tgtEl>
                                        <p:attrNameLst>
                                          <p:attrName>style.visibility</p:attrName>
                                        </p:attrNameLst>
                                      </p:cBhvr>
                                      <p:to>
                                        <p:strVal val="visible"/>
                                      </p:to>
                                    </p:set>
                                    <p:animEffect transition="in" filter="fade">
                                      <p:cBhvr>
                                        <p:cTn id="15" dur="2000"/>
                                        <p:tgtEl>
                                          <p:spTgt spid="520195">
                                            <p:txEl>
                                              <p:charRg st="48" end="7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20195">
                                            <p:txEl>
                                              <p:charRg st="78" end="114"/>
                                            </p:txEl>
                                          </p:spTgt>
                                        </p:tgtEl>
                                        <p:attrNameLst>
                                          <p:attrName>style.visibility</p:attrName>
                                        </p:attrNameLst>
                                      </p:cBhvr>
                                      <p:to>
                                        <p:strVal val="visible"/>
                                      </p:to>
                                    </p:set>
                                    <p:animEffect transition="in" filter="fade">
                                      <p:cBhvr>
                                        <p:cTn id="18" dur="2000"/>
                                        <p:tgtEl>
                                          <p:spTgt spid="520195">
                                            <p:txEl>
                                              <p:charRg st="78" end="11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20195">
                                            <p:txEl>
                                              <p:charRg st="115" end="163"/>
                                            </p:txEl>
                                          </p:spTgt>
                                        </p:tgtEl>
                                        <p:attrNameLst>
                                          <p:attrName>style.visibility</p:attrName>
                                        </p:attrNameLst>
                                      </p:cBhvr>
                                      <p:to>
                                        <p:strVal val="visible"/>
                                      </p:to>
                                    </p:set>
                                    <p:animEffect transition="in" filter="fade">
                                      <p:cBhvr>
                                        <p:cTn id="23" dur="2000"/>
                                        <p:tgtEl>
                                          <p:spTgt spid="520195">
                                            <p:txEl>
                                              <p:charRg st="115" end="16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20195">
                                            <p:txEl>
                                              <p:charRg st="163" end="169"/>
                                            </p:txEl>
                                          </p:spTgt>
                                        </p:tgtEl>
                                        <p:attrNameLst>
                                          <p:attrName>style.visibility</p:attrName>
                                        </p:attrNameLst>
                                      </p:cBhvr>
                                      <p:to>
                                        <p:strVal val="visible"/>
                                      </p:to>
                                    </p:set>
                                    <p:animEffect transition="in" filter="fade">
                                      <p:cBhvr>
                                        <p:cTn id="28" dur="2000"/>
                                        <p:tgtEl>
                                          <p:spTgt spid="520195">
                                            <p:txEl>
                                              <p:charRg st="163" end="1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4" grpId="0"/>
      <p:bldP spid="520195"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1437" name="Text Box 29"/>
          <p:cNvSpPr txBox="1">
            <a:spLocks noChangeArrowheads="1"/>
          </p:cNvSpPr>
          <p:nvPr/>
        </p:nvSpPr>
        <p:spPr bwMode="auto">
          <a:xfrm>
            <a:off x="457200" y="1676400"/>
            <a:ext cx="8229600" cy="36671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endParaRPr kumimoji="0" lang="zh-CN" altLang="en-US" kern="1200" cap="none" spc="0" normalizeH="0" baseline="0" noProof="0">
              <a:latin typeface="Arial" panose="020B0604020202020204" pitchFamily="34" charset="0"/>
              <a:ea typeface="宋体" panose="02010600030101010101" pitchFamily="2" charset="-122"/>
              <a:cs typeface="+mn-cs"/>
            </a:endParaRPr>
          </a:p>
        </p:txBody>
      </p:sp>
      <p:sp>
        <p:nvSpPr>
          <p:cNvPr id="93187" name="Text Box 31"/>
          <p:cNvSpPr txBox="1"/>
          <p:nvPr/>
        </p:nvSpPr>
        <p:spPr>
          <a:xfrm>
            <a:off x="1066800" y="1981200"/>
            <a:ext cx="7162800" cy="4667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endParaRPr lang="en-US" altLang="zh-CN" sz="2400" dirty="0">
              <a:latin typeface="Times New Roman" panose="02020603050405020304" pitchFamily="18" charset="0"/>
            </a:endParaRPr>
          </a:p>
        </p:txBody>
      </p:sp>
      <p:sp>
        <p:nvSpPr>
          <p:cNvPr id="93188" name="Text Box 32"/>
          <p:cNvSpPr txBox="1"/>
          <p:nvPr/>
        </p:nvSpPr>
        <p:spPr>
          <a:xfrm>
            <a:off x="1219200" y="939800"/>
            <a:ext cx="37814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FF0000"/>
                </a:solidFill>
                <a:latin typeface="Times New Roman" panose="02020603050405020304" pitchFamily="18" charset="0"/>
              </a:rPr>
              <a:t>临界区</a:t>
            </a:r>
            <a:r>
              <a:rPr lang="en-US" altLang="zh-CN" sz="2800" b="1" dirty="0">
                <a:solidFill>
                  <a:srgbClr val="FF0000"/>
                </a:solidFill>
                <a:latin typeface="Times New Roman" panose="02020603050405020304" pitchFamily="18" charset="0"/>
              </a:rPr>
              <a:t>(critical section) </a:t>
            </a:r>
            <a:endParaRPr lang="en-US" altLang="zh-CN" sz="2800" b="1" dirty="0">
              <a:solidFill>
                <a:srgbClr val="FF0000"/>
              </a:solidFill>
              <a:latin typeface="Times New Roman" panose="02020603050405020304" pitchFamily="18" charset="0"/>
            </a:endParaRPr>
          </a:p>
        </p:txBody>
      </p:sp>
      <p:sp>
        <p:nvSpPr>
          <p:cNvPr id="93189" name="Text Box 33"/>
          <p:cNvSpPr txBox="1"/>
          <p:nvPr/>
        </p:nvSpPr>
        <p:spPr>
          <a:xfrm>
            <a:off x="1066800" y="1981200"/>
            <a:ext cx="7543800" cy="4400550"/>
          </a:xfrm>
          <a:prstGeom prst="rect">
            <a:avLst/>
          </a:prstGeom>
          <a:solidFill>
            <a:srgbClr val="99CCFF"/>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r>
              <a:rPr lang="zh-CN" altLang="en-US" sz="2800" b="1" dirty="0">
                <a:solidFill>
                  <a:srgbClr val="FF0000"/>
                </a:solidFill>
                <a:latin typeface="Times New Roman" panose="02020603050405020304" pitchFamily="18" charset="0"/>
              </a:rPr>
              <a:t>可把一个访问临界资源的循环进程描述如下：</a:t>
            </a:r>
            <a:endParaRPr lang="en-US" altLang="zh-CN" sz="2800" b="1" dirty="0">
              <a:solidFill>
                <a:srgbClr val="FF0000"/>
              </a:solidFill>
              <a:latin typeface="Times New Roman" panose="02020603050405020304" pitchFamily="18" charset="0"/>
            </a:endParaRPr>
          </a:p>
          <a:p>
            <a:pPr marL="0" lvl="0" indent="0" algn="just" eaLnBrk="1" hangingPunct="1">
              <a:spcBef>
                <a:spcPct val="50000"/>
              </a:spcBef>
              <a:buClrTx/>
              <a:buSzTx/>
              <a:buFontTx/>
              <a:buNone/>
            </a:pPr>
            <a:endParaRPr lang="zh-CN" altLang="en-US" sz="2400" dirty="0">
              <a:solidFill>
                <a:srgbClr val="FF0000"/>
              </a:solidFill>
              <a:latin typeface="Times New Roman" panose="02020603050405020304" pitchFamily="18" charset="0"/>
            </a:endParaRPr>
          </a:p>
          <a:p>
            <a:pPr marL="0" lvl="0" indent="0" algn="just" eaLnBrk="1" hangingPunct="1">
              <a:spcBef>
                <a:spcPct val="50000"/>
              </a:spcBef>
              <a:buClrTx/>
              <a:buSzTx/>
              <a:buFontTx/>
              <a:buNone/>
            </a:pPr>
            <a:r>
              <a:rPr lang="en-US" altLang="zh-CN" sz="2400" dirty="0">
                <a:latin typeface="Times New Roman" panose="02020603050405020304" pitchFamily="18" charset="0"/>
              </a:rPr>
              <a:t>repeat</a:t>
            </a:r>
            <a:endParaRPr lang="en-US" altLang="zh-CN" sz="2400" dirty="0">
              <a:latin typeface="Times New Roman" panose="02020603050405020304" pitchFamily="18" charset="0"/>
            </a:endParaRPr>
          </a:p>
          <a:p>
            <a:pPr marL="0" lvl="0" indent="0" algn="just" eaLnBrk="1" hangingPunct="1">
              <a:spcBef>
                <a:spcPct val="50000"/>
              </a:spcBef>
              <a:buClrTx/>
              <a:buSzTx/>
              <a:buFontTx/>
              <a:buNone/>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0" lvl="0" indent="0" algn="just" eaLnBrk="1" hangingPunct="1">
              <a:spcBef>
                <a:spcPct val="50000"/>
              </a:spcBef>
              <a:buClrTx/>
              <a:buSzTx/>
              <a:buFontTx/>
              <a:buNone/>
            </a:pPr>
            <a:r>
              <a:rPr lang="en-US" altLang="zh-CN" sz="2400" dirty="0">
                <a:latin typeface="Times New Roman" panose="02020603050405020304" pitchFamily="18" charset="0"/>
              </a:rPr>
              <a:t>        critical section;</a:t>
            </a:r>
            <a:endParaRPr lang="en-US" altLang="zh-CN" sz="2400" dirty="0">
              <a:latin typeface="Times New Roman" panose="02020603050405020304" pitchFamily="18" charset="0"/>
            </a:endParaRPr>
          </a:p>
          <a:p>
            <a:pPr marL="0" lvl="0" indent="0" algn="just" eaLnBrk="1" hangingPunct="1">
              <a:spcBef>
                <a:spcPct val="50000"/>
              </a:spcBef>
              <a:buClrTx/>
              <a:buSzTx/>
              <a:buFontTx/>
              <a:buNone/>
            </a:pPr>
            <a:endParaRPr lang="en-US" altLang="zh-CN" sz="2400" dirty="0">
              <a:latin typeface="Times New Roman" panose="02020603050405020304" pitchFamily="18" charset="0"/>
            </a:endParaRPr>
          </a:p>
          <a:p>
            <a:pPr marL="0" lvl="0" indent="0" algn="just" eaLnBrk="1" hangingPunct="1">
              <a:spcBef>
                <a:spcPct val="50000"/>
              </a:spcBef>
              <a:buClrTx/>
              <a:buSzTx/>
              <a:buFontTx/>
              <a:buNone/>
            </a:pPr>
            <a:r>
              <a:rPr lang="en-US" altLang="zh-CN" sz="2400" dirty="0">
                <a:latin typeface="Times New Roman" panose="02020603050405020304" pitchFamily="18" charset="0"/>
              </a:rPr>
              <a:t>         remainder section;</a:t>
            </a:r>
            <a:endParaRPr lang="en-US" altLang="zh-CN" sz="2400" dirty="0">
              <a:latin typeface="Times New Roman" panose="02020603050405020304" pitchFamily="18" charset="0"/>
            </a:endParaRPr>
          </a:p>
          <a:p>
            <a:pPr marL="0" lvl="0" indent="0" eaLnBrk="1" hangingPunct="1">
              <a:spcBef>
                <a:spcPct val="50000"/>
              </a:spcBef>
              <a:buClrTx/>
              <a:buSzTx/>
              <a:buFontTx/>
              <a:buNone/>
            </a:pPr>
            <a:r>
              <a:rPr lang="en-US" altLang="zh-CN" sz="2400" dirty="0">
                <a:latin typeface="Times New Roman" panose="02020603050405020304" pitchFamily="18" charset="0"/>
              </a:rPr>
              <a:t>until false; </a:t>
            </a:r>
            <a:endParaRPr lang="en-US" altLang="zh-CN" sz="2400" dirty="0">
              <a:latin typeface="Times New Roman" panose="02020603050405020304" pitchFamily="18" charset="0"/>
            </a:endParaRPr>
          </a:p>
        </p:txBody>
      </p:sp>
      <p:graphicFrame>
        <p:nvGraphicFramePr>
          <p:cNvPr id="401442" name="Group 34"/>
          <p:cNvGraphicFramePr>
            <a:graphicFrameLocks noGrp="1"/>
          </p:cNvGraphicFramePr>
          <p:nvPr/>
        </p:nvGraphicFramePr>
        <p:xfrm>
          <a:off x="2133600" y="3444875"/>
          <a:ext cx="1828800" cy="517525"/>
        </p:xfrm>
        <a:graphic>
          <a:graphicData uri="http://schemas.openxmlformats.org/drawingml/2006/table">
            <a:tbl>
              <a:tblPr/>
              <a:tblGrid>
                <a:gridCol w="1828800"/>
              </a:tblGrid>
              <a:tr h="517525">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pP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449" marB="45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3196" name="Rectangle 40"/>
          <p:cNvSpPr/>
          <p:nvPr/>
        </p:nvSpPr>
        <p:spPr>
          <a:xfrm>
            <a:off x="2133600" y="3429000"/>
            <a:ext cx="17478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entry section</a:t>
            </a:r>
            <a:endParaRPr lang="en-US" altLang="zh-CN" sz="2400" dirty="0">
              <a:latin typeface="Times New Roman" panose="02020603050405020304" pitchFamily="18" charset="0"/>
            </a:endParaRPr>
          </a:p>
        </p:txBody>
      </p:sp>
      <p:graphicFrame>
        <p:nvGraphicFramePr>
          <p:cNvPr id="401449" name="Group 41"/>
          <p:cNvGraphicFramePr>
            <a:graphicFrameLocks noGrp="1"/>
          </p:cNvGraphicFramePr>
          <p:nvPr/>
        </p:nvGraphicFramePr>
        <p:xfrm>
          <a:off x="2057400" y="4664075"/>
          <a:ext cx="1828800" cy="517525"/>
        </p:xfrm>
        <a:graphic>
          <a:graphicData uri="http://schemas.openxmlformats.org/drawingml/2006/table">
            <a:tbl>
              <a:tblPr/>
              <a:tblGrid>
                <a:gridCol w="1828800"/>
              </a:tblGrid>
              <a:tr h="517525">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pPr>
                      <a:endParaRPr kumimoji="0" lang="zh-CN" altLang="en-US"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449" marB="45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3203" name="Rectangle 47"/>
          <p:cNvSpPr/>
          <p:nvPr/>
        </p:nvSpPr>
        <p:spPr>
          <a:xfrm>
            <a:off x="2133600" y="4648200"/>
            <a:ext cx="15779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exit section</a:t>
            </a:r>
            <a:endParaRPr lang="en-US" altLang="zh-CN" sz="2400" dirty="0">
              <a:latin typeface="Times New Roman" panose="02020603050405020304" pitchFamily="18" charset="0"/>
            </a:endParaRPr>
          </a:p>
        </p:txBody>
      </p:sp>
      <p:sp>
        <p:nvSpPr>
          <p:cNvPr id="401456" name="AutoShape 48"/>
          <p:cNvSpPr>
            <a:spLocks noChangeArrowheads="1"/>
          </p:cNvSpPr>
          <p:nvPr/>
        </p:nvSpPr>
        <p:spPr bwMode="auto">
          <a:xfrm>
            <a:off x="4419600" y="2743200"/>
            <a:ext cx="4114800" cy="1524000"/>
          </a:xfrm>
          <a:prstGeom prst="wedgeRoundRectCallout">
            <a:avLst>
              <a:gd name="adj1" fmla="val -61148"/>
              <a:gd name="adj2" fmla="val 4273"/>
              <a:gd name="adj3" fmla="val 16667"/>
            </a:avLst>
          </a:prstGeom>
          <a:solidFill>
            <a:schemeClr val="accent1"/>
          </a:solidFill>
          <a:ln w="9525">
            <a:noFill/>
            <a:miter lim="800000"/>
          </a:ln>
          <a:effectLst>
            <a:prstShdw prst="shdw18" dist="17961" dir="13500000">
              <a:schemeClr val="accent1">
                <a:gamma/>
                <a:shade val="60000"/>
                <a:invGamma/>
              </a:schemeClr>
            </a:prst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首先，在“进入区”判断是否可以进入临界区，如果可以进入，则必须设置临界区使用标志，阻止其它后来的进程进入临界区。</a:t>
            </a:r>
            <a:endParaRPr kumimoji="0" lang="zh-CN" altLang="en-US" sz="20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401457" name="AutoShape 49"/>
          <p:cNvSpPr>
            <a:spLocks noChangeArrowheads="1"/>
          </p:cNvSpPr>
          <p:nvPr/>
        </p:nvSpPr>
        <p:spPr bwMode="auto">
          <a:xfrm>
            <a:off x="4343400" y="4724400"/>
            <a:ext cx="4572000" cy="1524000"/>
          </a:xfrm>
          <a:prstGeom prst="wedgeRoundRectCallout">
            <a:avLst>
              <a:gd name="adj1" fmla="val -59968"/>
              <a:gd name="adj2" fmla="val -36144"/>
              <a:gd name="adj3" fmla="val 16667"/>
            </a:avLst>
          </a:prstGeom>
          <a:solidFill>
            <a:schemeClr val="accent1"/>
          </a:solidFill>
          <a:ln w="9525">
            <a:noFill/>
            <a:miter lim="800000"/>
          </a:ln>
          <a:effectLst>
            <a:prstShdw prst="shdw18" dist="17961" dir="13500000">
              <a:schemeClr val="accent1">
                <a:gamma/>
                <a:shade val="60000"/>
                <a:invGamma/>
              </a:schemeClr>
            </a:prstShdw>
          </a:effec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0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当临界区内的进程使用完毕，退出临界区时，即在“退出区”修改临界区使用标志，</a:t>
            </a:r>
            <a:r>
              <a:rPr kumimoji="0" lang="zh-CN" altLang="en-US" sz="2000" b="1" i="0" u="none" strike="noStrike" kern="1200" cap="none" spc="0" normalizeH="0" baseline="0" noProof="0" smtClean="0">
                <a:ln>
                  <a:noFill/>
                </a:ln>
                <a:solidFill>
                  <a:schemeClr val="fo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并负责唤醒阻塞队列中的一个进程，让其进入临界区。</a:t>
            </a:r>
            <a:endParaRPr kumimoji="0" lang="zh-CN" altLang="en-US" sz="2000" b="1" i="0" u="none" strike="noStrike" kern="1200" cap="none" spc="0" normalizeH="0" baseline="0" noProof="0" smtClean="0">
              <a:ln>
                <a:noFill/>
              </a:ln>
              <a:solidFill>
                <a:schemeClr val="fo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01456"/>
                                        </p:tgtEl>
                                        <p:attrNameLst>
                                          <p:attrName>style.visibility</p:attrName>
                                        </p:attrNameLst>
                                      </p:cBhvr>
                                      <p:to>
                                        <p:strVal val="visible"/>
                                      </p:to>
                                    </p:set>
                                    <p:animEffect transition="in" filter="box(in)">
                                      <p:cBhvr>
                                        <p:cTn id="7" dur="500"/>
                                        <p:tgtEl>
                                          <p:spTgt spid="40145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01457"/>
                                        </p:tgtEl>
                                        <p:attrNameLst>
                                          <p:attrName>style.visibility</p:attrName>
                                        </p:attrNameLst>
                                      </p:cBhvr>
                                      <p:to>
                                        <p:strVal val="visible"/>
                                      </p:to>
                                    </p:set>
                                    <p:animEffect transition="in" filter="box(in)">
                                      <p:cBhvr>
                                        <p:cTn id="12" dur="500"/>
                                        <p:tgtEl>
                                          <p:spTgt spid="401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56" grpId="0" animBg="1"/>
      <p:bldP spid="40145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8386" name="Rectangle 2"/>
          <p:cNvSpPr>
            <a:spLocks noGrp="1" noRot="1" noChangeArrowheads="1"/>
          </p:cNvSpPr>
          <p:nvPr>
            <p:ph type="title"/>
          </p:nvPr>
        </p:nvSpPr>
        <p:spPr>
          <a:xfrm>
            <a:off x="533400" y="381000"/>
            <a:ext cx="80772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rPr>
              <a:t>临界区使用原则</a:t>
            </a:r>
            <a:b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rPr>
            </a:br>
            <a:r>
              <a:rPr kumimoji="0" lang="zh-CN" altLang="en-US" sz="3600" b="1" i="0" u="none"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rPr>
              <a:t>（也称为互斥条件）</a:t>
            </a: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77155" name="Rectangle 5"/>
          <p:cNvSpPr>
            <a:spLocks noGrp="1" noRot="1"/>
          </p:cNvSpPr>
          <p:nvPr>
            <p:ph type="body"/>
          </p:nvPr>
        </p:nvSpPr>
        <p:spPr>
          <a:xfrm>
            <a:off x="533400" y="1901825"/>
            <a:ext cx="8077200" cy="4498975"/>
          </a:xfrm>
          <a:ln/>
        </p:spPr>
        <p:txBody>
          <a:bodyPr vert="horz" wrap="square" lIns="91440" tIns="45720" rIns="91440" bIns="45720" anchor="t" anchorCtr="0"/>
          <a:p>
            <a:pPr eaLnBrk="1" hangingPunct="1"/>
            <a:r>
              <a:rPr lang="en-US" altLang="zh-CN" sz="2800" b="1" dirty="0">
                <a:solidFill>
                  <a:schemeClr val="folHlink"/>
                </a:solidFill>
              </a:rPr>
              <a:t>(1) </a:t>
            </a:r>
            <a:r>
              <a:rPr lang="zh-CN" altLang="en-US" sz="2800" b="1" dirty="0">
                <a:solidFill>
                  <a:schemeClr val="folHlink"/>
                </a:solidFill>
              </a:rPr>
              <a:t>空闲让进。</a:t>
            </a:r>
            <a:r>
              <a:rPr lang="zh-CN" altLang="en-US" sz="2800" b="1" dirty="0"/>
              <a:t>如果临界区空闲，则只要有进程申请就立即让其进入。</a:t>
            </a:r>
            <a:endParaRPr lang="zh-CN" altLang="en-US" sz="2800" b="1" dirty="0"/>
          </a:p>
          <a:p>
            <a:pPr eaLnBrk="1" hangingPunct="1"/>
            <a:r>
              <a:rPr lang="en-US" altLang="zh-CN" sz="2800" b="1" dirty="0">
                <a:solidFill>
                  <a:schemeClr val="folHlink"/>
                </a:solidFill>
              </a:rPr>
              <a:t>(2) </a:t>
            </a:r>
            <a:r>
              <a:rPr lang="zh-CN" altLang="en-US" sz="2800" b="1" dirty="0">
                <a:solidFill>
                  <a:schemeClr val="folHlink"/>
                </a:solidFill>
              </a:rPr>
              <a:t>忙则等待。</a:t>
            </a:r>
            <a:r>
              <a:rPr lang="zh-CN" altLang="en-US" sz="2800" b="1" dirty="0"/>
              <a:t>每次</a:t>
            </a:r>
            <a:r>
              <a:rPr lang="zh-CN" altLang="en-US" sz="2800" b="1" dirty="0">
                <a:solidFill>
                  <a:srgbClr val="0066FF"/>
                </a:solidFill>
              </a:rPr>
              <a:t>仅允许一个</a:t>
            </a:r>
            <a:r>
              <a:rPr lang="zh-CN" altLang="en-US" sz="2800" b="1" dirty="0"/>
              <a:t>进程处于临界区。</a:t>
            </a:r>
            <a:endParaRPr lang="zh-CN" altLang="en-US" sz="2800" b="1" dirty="0"/>
          </a:p>
          <a:p>
            <a:pPr eaLnBrk="1" hangingPunct="1"/>
            <a:r>
              <a:rPr lang="en-US" altLang="zh-CN" sz="2800" b="1" dirty="0">
                <a:solidFill>
                  <a:schemeClr val="folHlink"/>
                </a:solidFill>
              </a:rPr>
              <a:t>(3) </a:t>
            </a:r>
            <a:r>
              <a:rPr lang="zh-CN" altLang="en-US" sz="2800" b="1" dirty="0">
                <a:solidFill>
                  <a:schemeClr val="folHlink"/>
                </a:solidFill>
              </a:rPr>
              <a:t>有限等待。</a:t>
            </a:r>
            <a:r>
              <a:rPr lang="zh-CN" altLang="en-US" sz="2800" b="1" dirty="0"/>
              <a:t>进程只能在临界区内逗留有限时间，不得使其他进程在临界区外无限期等待。</a:t>
            </a:r>
            <a:endParaRPr lang="zh-CN" altLang="en-US" sz="2800" b="1" dirty="0"/>
          </a:p>
          <a:p>
            <a:pPr eaLnBrk="1" hangingPunct="1"/>
            <a:r>
              <a:rPr lang="en-US" altLang="zh-CN" sz="2800" b="1" dirty="0">
                <a:solidFill>
                  <a:schemeClr val="folHlink"/>
                </a:solidFill>
              </a:rPr>
              <a:t>(4) </a:t>
            </a:r>
            <a:r>
              <a:rPr lang="zh-CN" altLang="en-US" sz="2800" b="1" dirty="0">
                <a:solidFill>
                  <a:schemeClr val="folHlink"/>
                </a:solidFill>
              </a:rPr>
              <a:t>让权等待。</a:t>
            </a:r>
            <a:r>
              <a:rPr lang="zh-CN" altLang="en-US" sz="2800" b="1" dirty="0"/>
              <a:t>当进程不能进入自己的临界区时，应立即释放处理机，以免进程陷入“忙等”状态。</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8386"/>
                                        </p:tgtEl>
                                        <p:attrNameLst>
                                          <p:attrName>style.visibility</p:attrName>
                                        </p:attrNameLst>
                                      </p:cBhvr>
                                      <p:to>
                                        <p:strVal val="visible"/>
                                      </p:to>
                                    </p:set>
                                    <p:animEffect transition="in" filter="fade">
                                      <p:cBhvr>
                                        <p:cTn id="7" dur="2000"/>
                                        <p:tgtEl>
                                          <p:spTgt spid="5283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7155">
                                            <p:txEl>
                                              <p:charRg st="0" end="34"/>
                                            </p:txEl>
                                          </p:spTgt>
                                        </p:tgtEl>
                                        <p:attrNameLst>
                                          <p:attrName>style.visibility</p:attrName>
                                        </p:attrNameLst>
                                      </p:cBhvr>
                                      <p:to>
                                        <p:strVal val="visible"/>
                                      </p:to>
                                    </p:set>
                                    <p:animEffect transition="in" filter="fade">
                                      <p:cBhvr>
                                        <p:cTn id="12" dur="2000"/>
                                        <p:tgtEl>
                                          <p:spTgt spid="177155">
                                            <p:txEl>
                                              <p:charRg st="0"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7155">
                                            <p:txEl>
                                              <p:charRg st="34" end="59"/>
                                            </p:txEl>
                                          </p:spTgt>
                                        </p:tgtEl>
                                        <p:attrNameLst>
                                          <p:attrName>style.visibility</p:attrName>
                                        </p:attrNameLst>
                                      </p:cBhvr>
                                      <p:to>
                                        <p:strVal val="visible"/>
                                      </p:to>
                                    </p:set>
                                    <p:animEffect transition="in" filter="fade">
                                      <p:cBhvr>
                                        <p:cTn id="17" dur="2000"/>
                                        <p:tgtEl>
                                          <p:spTgt spid="177155">
                                            <p:txEl>
                                              <p:charRg st="34" end="5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7155">
                                            <p:txEl>
                                              <p:charRg st="59" end="103"/>
                                            </p:txEl>
                                          </p:spTgt>
                                        </p:tgtEl>
                                        <p:attrNameLst>
                                          <p:attrName>style.visibility</p:attrName>
                                        </p:attrNameLst>
                                      </p:cBhvr>
                                      <p:to>
                                        <p:strVal val="visible"/>
                                      </p:to>
                                    </p:set>
                                    <p:animEffect transition="in" filter="fade">
                                      <p:cBhvr>
                                        <p:cTn id="22" dur="2000"/>
                                        <p:tgtEl>
                                          <p:spTgt spid="177155">
                                            <p:txEl>
                                              <p:charRg st="59" end="10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7155">
                                            <p:txEl>
                                              <p:charRg st="103" end="150"/>
                                            </p:txEl>
                                          </p:spTgt>
                                        </p:tgtEl>
                                        <p:attrNameLst>
                                          <p:attrName>style.visibility</p:attrName>
                                        </p:attrNameLst>
                                      </p:cBhvr>
                                      <p:to>
                                        <p:strVal val="visible"/>
                                      </p:to>
                                    </p:set>
                                    <p:animEffect transition="in" filter="fade">
                                      <p:cBhvr>
                                        <p:cTn id="27" dur="2000"/>
                                        <p:tgtEl>
                                          <p:spTgt spid="177155">
                                            <p:txEl>
                                              <p:charRg st="103" end="1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6" grpId="0"/>
      <p:bldP spid="177155"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0674" name="Rectangle 2"/>
          <p:cNvSpPr>
            <a:spLocks noGrp="1" noRot="1" noChangeArrowheads="1"/>
          </p:cNvSpPr>
          <p:nvPr>
            <p:ph type="title"/>
          </p:nvPr>
        </p:nvSpPr>
        <p:spPr>
          <a:xfrm>
            <a:off x="304800" y="609600"/>
            <a:ext cx="80772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2.4.3  </a:t>
            </a:r>
            <a:r>
              <a:rPr kumimoji="0" lang="zh-CN" altLang="en-US" sz="36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信号量机制</a:t>
            </a:r>
            <a:endParaRPr kumimoji="0" lang="zh-CN" altLang="en-US" sz="36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540675" name="Rectangle 3"/>
          <p:cNvSpPr>
            <a:spLocks noGrp="1" noRot="1" noChangeArrowheads="1"/>
          </p:cNvSpPr>
          <p:nvPr>
            <p:ph type="body" idx="1"/>
          </p:nvPr>
        </p:nvSpPr>
        <p:spPr>
          <a:xfrm>
            <a:off x="533400" y="1901825"/>
            <a:ext cx="8077200" cy="4498975"/>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信号量方法能实现进程互斥与同步</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当前信号量机制已经广泛地应用于单处理机和多处理机以及计算机网络中。</a:t>
            </a:r>
            <a:endParaRPr kumimoji="0" lang="en-US" altLang="zh-CN" sz="32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0674"/>
                                        </p:tgtEl>
                                        <p:attrNameLst>
                                          <p:attrName>style.visibility</p:attrName>
                                        </p:attrNameLst>
                                      </p:cBhvr>
                                      <p:to>
                                        <p:strVal val="visible"/>
                                      </p:to>
                                    </p:set>
                                    <p:animEffect transition="in" filter="fade">
                                      <p:cBhvr>
                                        <p:cTn id="7" dur="2000"/>
                                        <p:tgtEl>
                                          <p:spTgt spid="5406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0675">
                                            <p:txEl>
                                              <p:charRg st="1" end="18"/>
                                            </p:txEl>
                                          </p:spTgt>
                                        </p:tgtEl>
                                        <p:attrNameLst>
                                          <p:attrName>style.visibility</p:attrName>
                                        </p:attrNameLst>
                                      </p:cBhvr>
                                      <p:to>
                                        <p:strVal val="visible"/>
                                      </p:to>
                                    </p:set>
                                    <p:animEffect transition="in" filter="fade">
                                      <p:cBhvr>
                                        <p:cTn id="12" dur="2000"/>
                                        <p:tgtEl>
                                          <p:spTgt spid="540675">
                                            <p:txEl>
                                              <p:charRg st="1" end="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0675">
                                            <p:txEl>
                                              <p:charRg st="18" end="52"/>
                                            </p:txEl>
                                          </p:spTgt>
                                        </p:tgtEl>
                                        <p:attrNameLst>
                                          <p:attrName>style.visibility</p:attrName>
                                        </p:attrNameLst>
                                      </p:cBhvr>
                                      <p:to>
                                        <p:strVal val="visible"/>
                                      </p:to>
                                    </p:set>
                                    <p:animEffect transition="in" filter="fade">
                                      <p:cBhvr>
                                        <p:cTn id="17" dur="2000"/>
                                        <p:tgtEl>
                                          <p:spTgt spid="540675">
                                            <p:txEl>
                                              <p:charRg st="18" end="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4" grpId="0"/>
      <p:bldP spid="540675"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374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rPr>
              <a:t>信号量实现互斥的基本原理</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43747"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两个或多个进程可以通过传递信号进行合作，可以迫使进程在某个位置暂时停止执行（阻塞等待），直到它收到一个可以</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向前推进</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的信号（被唤醒）。</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相应地，</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将实现</a:t>
            </a:r>
            <a:r>
              <a:rPr kumimoji="0" lang="zh-CN" altLang="en-US" sz="32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仿宋_GB2312" pitchFamily="49" charset="-122"/>
                <a:ea typeface="仿宋_GB2312" pitchFamily="49" charset="-122"/>
                <a:cs typeface="+mn-cs"/>
              </a:rPr>
              <a:t>信号灯</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作用的变量称为</a:t>
            </a:r>
            <a:r>
              <a:rPr kumimoji="0" lang="zh-CN" altLang="en-US" sz="32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仿宋_GB2312" pitchFamily="49" charset="-122"/>
                <a:ea typeface="仿宋_GB2312" pitchFamily="49" charset="-122"/>
                <a:cs typeface="+mn-cs"/>
              </a:rPr>
              <a:t>信号量。</a:t>
            </a:r>
            <a:endParaRPr kumimoji="0" lang="zh-CN" altLang="en-US" sz="32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3746"/>
                                        </p:tgtEl>
                                        <p:attrNameLst>
                                          <p:attrName>style.visibility</p:attrName>
                                        </p:attrNameLst>
                                      </p:cBhvr>
                                      <p:to>
                                        <p:strVal val="visible"/>
                                      </p:to>
                                    </p:set>
                                    <p:animEffect transition="in" filter="fade">
                                      <p:cBhvr>
                                        <p:cTn id="7" dur="2000"/>
                                        <p:tgtEl>
                                          <p:spTgt spid="5437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3747">
                                            <p:txEl>
                                              <p:charRg st="0" end="69"/>
                                            </p:txEl>
                                          </p:spTgt>
                                        </p:tgtEl>
                                        <p:attrNameLst>
                                          <p:attrName>style.visibility</p:attrName>
                                        </p:attrNameLst>
                                      </p:cBhvr>
                                      <p:to>
                                        <p:strVal val="visible"/>
                                      </p:to>
                                    </p:set>
                                    <p:animEffect transition="in" filter="fade">
                                      <p:cBhvr>
                                        <p:cTn id="12" dur="2000"/>
                                        <p:tgtEl>
                                          <p:spTgt spid="543747">
                                            <p:txEl>
                                              <p:charRg st="0" end="6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3747">
                                            <p:txEl>
                                              <p:charRg st="69" end="91"/>
                                            </p:txEl>
                                          </p:spTgt>
                                        </p:tgtEl>
                                        <p:attrNameLst>
                                          <p:attrName>style.visibility</p:attrName>
                                        </p:attrNameLst>
                                      </p:cBhvr>
                                      <p:to>
                                        <p:strVal val="visible"/>
                                      </p:to>
                                    </p:set>
                                    <p:animEffect transition="in" filter="fade">
                                      <p:cBhvr>
                                        <p:cTn id="17" dur="2000"/>
                                        <p:tgtEl>
                                          <p:spTgt spid="543747">
                                            <p:txEl>
                                              <p:charRg st="69"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6" grpId="0"/>
      <p:bldP spid="543747"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193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rPr>
              <a:t>信号量的类型</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51939" name="Rectangle 3"/>
          <p:cNvSpPr>
            <a:spLocks noGrp="1" noRot="1" noChangeArrowheads="1"/>
          </p:cNvSpPr>
          <p:nvPr>
            <p:ph type="body" idx="1"/>
          </p:nvPr>
        </p:nvSpPr>
        <p:spPr>
          <a:xfrm>
            <a:off x="685800" y="1676400"/>
            <a:ext cx="7772400" cy="4953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信号量按照功能来分：互斥信号量和资源信号量。</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互斥信号量：</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用于申请或释放资源的使用权，常初始化为</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资源信号量：</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用于申请或归还资源，可以初始化为大于</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的正整数，表示系统中某类资源的可用个数。</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1938"/>
                                        </p:tgtEl>
                                        <p:attrNameLst>
                                          <p:attrName>style.visibility</p:attrName>
                                        </p:attrNameLst>
                                      </p:cBhvr>
                                      <p:to>
                                        <p:strVal val="visible"/>
                                      </p:to>
                                    </p:set>
                                    <p:animEffect transition="in" filter="fade">
                                      <p:cBhvr>
                                        <p:cTn id="7" dur="2000"/>
                                        <p:tgtEl>
                                          <p:spTgt spid="5519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1939">
                                            <p:txEl>
                                              <p:charRg st="0" end="23"/>
                                            </p:txEl>
                                          </p:spTgt>
                                        </p:tgtEl>
                                        <p:attrNameLst>
                                          <p:attrName>style.visibility</p:attrName>
                                        </p:attrNameLst>
                                      </p:cBhvr>
                                      <p:to>
                                        <p:strVal val="visible"/>
                                      </p:to>
                                    </p:set>
                                    <p:animEffect transition="in" filter="fade">
                                      <p:cBhvr>
                                        <p:cTn id="12" dur="2000"/>
                                        <p:tgtEl>
                                          <p:spTgt spid="551939">
                                            <p:txEl>
                                              <p:charRg st="0" end="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1939">
                                            <p:txEl>
                                              <p:charRg st="23" end="51"/>
                                            </p:txEl>
                                          </p:spTgt>
                                        </p:tgtEl>
                                        <p:attrNameLst>
                                          <p:attrName>style.visibility</p:attrName>
                                        </p:attrNameLst>
                                      </p:cBhvr>
                                      <p:to>
                                        <p:strVal val="visible"/>
                                      </p:to>
                                    </p:set>
                                    <p:animEffect transition="in" filter="fade">
                                      <p:cBhvr>
                                        <p:cTn id="17" dur="2000"/>
                                        <p:tgtEl>
                                          <p:spTgt spid="551939">
                                            <p:txEl>
                                              <p:charRg st="23" end="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51939">
                                            <p:txEl>
                                              <p:charRg st="51" end="97"/>
                                            </p:txEl>
                                          </p:spTgt>
                                        </p:tgtEl>
                                        <p:attrNameLst>
                                          <p:attrName>style.visibility</p:attrName>
                                        </p:attrNameLst>
                                      </p:cBhvr>
                                      <p:to>
                                        <p:strVal val="visible"/>
                                      </p:to>
                                    </p:set>
                                    <p:animEffect transition="in" filter="fade">
                                      <p:cBhvr>
                                        <p:cTn id="22" dur="2000"/>
                                        <p:tgtEl>
                                          <p:spTgt spid="551939">
                                            <p:txEl>
                                              <p:charRg st="51" end="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8" grpId="0"/>
      <p:bldP spid="551939"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369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信号量的类型</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98307" name="Rectangle 3"/>
          <p:cNvSpPr>
            <a:spLocks noGrp="1" noRot="1"/>
          </p:cNvSpPr>
          <p:nvPr>
            <p:ph idx="1"/>
          </p:nvPr>
        </p:nvSpPr>
        <p:spPr>
          <a:xfrm>
            <a:off x="301625" y="1749425"/>
            <a:ext cx="8540750" cy="4498975"/>
          </a:xfrm>
          <a:ln/>
        </p:spPr>
        <p:txBody>
          <a:bodyPr vert="horz" wrap="square" lIns="91440" tIns="45720" rIns="91440" bIns="45720" anchor="t" anchorCtr="0"/>
          <a:p>
            <a:r>
              <a:rPr lang="zh-CN" altLang="en-US" b="1" dirty="0"/>
              <a:t>按照信号量机制的发展分为：</a:t>
            </a:r>
            <a:endParaRPr lang="zh-CN" altLang="en-US" b="1" dirty="0"/>
          </a:p>
          <a:p>
            <a:pPr lvl="1"/>
            <a:r>
              <a:rPr lang="zh-CN" altLang="en-US" b="1" dirty="0"/>
              <a:t>整形信号量</a:t>
            </a:r>
            <a:endParaRPr lang="zh-CN" altLang="en-US" b="1" dirty="0"/>
          </a:p>
          <a:p>
            <a:pPr lvl="1"/>
            <a:r>
              <a:rPr lang="zh-CN" altLang="en-US" b="1" dirty="0"/>
              <a:t>记录型信号量</a:t>
            </a:r>
            <a:endParaRPr lang="zh-CN" altLang="en-US" b="1" dirty="0"/>
          </a:p>
          <a:p>
            <a:pPr lvl="1"/>
            <a:r>
              <a:rPr lang="en-US" altLang="zh-CN" b="1" dirty="0"/>
              <a:t>AND</a:t>
            </a:r>
            <a:r>
              <a:rPr lang="zh-CN" altLang="en-US" b="1" dirty="0"/>
              <a:t>型信号量</a:t>
            </a:r>
            <a:endParaRPr lang="zh-CN" altLang="en-US" b="1" dirty="0"/>
          </a:p>
          <a:p>
            <a:pPr lvl="1"/>
            <a:r>
              <a:rPr lang="zh-CN" altLang="en-US" b="1" dirty="0"/>
              <a:t>信号量集</a:t>
            </a:r>
            <a:endParaRPr lang="zh-CN" altLang="en-US" b="1"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3"/>
          <p:cNvSpPr>
            <a:spLocks noGrp="1" noRot="1"/>
          </p:cNvSpPr>
          <p:nvPr>
            <p:ph idx="1"/>
          </p:nvPr>
        </p:nvSpPr>
        <p:spPr>
          <a:xfrm>
            <a:off x="457200" y="1828800"/>
            <a:ext cx="8305800" cy="4648200"/>
          </a:xfrm>
          <a:ln/>
        </p:spPr>
        <p:txBody>
          <a:bodyPr vert="horz" wrap="square" lIns="91440" tIns="45720" rIns="91440" bIns="45720" anchor="t" anchorCtr="0"/>
          <a:p>
            <a:pPr>
              <a:buNone/>
            </a:pPr>
            <a:r>
              <a:rPr lang="zh-CN" altLang="en-US" b="1" dirty="0"/>
              <a:t>整型信号量 </a:t>
            </a:r>
            <a:r>
              <a:rPr lang="en-US" altLang="zh-CN" b="1" dirty="0"/>
              <a:t>:</a:t>
            </a:r>
            <a:r>
              <a:rPr lang="zh-CN" altLang="en-US" b="1" dirty="0"/>
              <a:t>定义为一个整型量 </a:t>
            </a:r>
            <a:r>
              <a:rPr lang="en-US" altLang="zh-CN" b="1" dirty="0"/>
              <a:t>,</a:t>
            </a:r>
            <a:r>
              <a:rPr lang="zh-CN" altLang="en-US" b="1" dirty="0"/>
              <a:t>仅能通过两个标准的原子操作 </a:t>
            </a:r>
            <a:r>
              <a:rPr lang="en-US" altLang="zh-CN" b="1" dirty="0"/>
              <a:t>wait</a:t>
            </a:r>
            <a:r>
              <a:rPr lang="zh-CN" altLang="en-US" b="1" dirty="0"/>
              <a:t>（</a:t>
            </a:r>
            <a:r>
              <a:rPr lang="en-US" altLang="zh-CN" b="1" dirty="0"/>
              <a:t>S</a:t>
            </a:r>
            <a:r>
              <a:rPr lang="zh-CN" altLang="en-US" b="1" dirty="0"/>
              <a:t>）和</a:t>
            </a:r>
            <a:r>
              <a:rPr lang="en-US" altLang="zh-CN" b="1" dirty="0"/>
              <a:t>signal</a:t>
            </a:r>
            <a:r>
              <a:rPr lang="zh-CN" altLang="en-US" b="1" dirty="0"/>
              <a:t>（</a:t>
            </a:r>
            <a:r>
              <a:rPr lang="en-US" altLang="zh-CN" b="1" dirty="0"/>
              <a:t>S</a:t>
            </a:r>
            <a:r>
              <a:rPr lang="zh-CN" altLang="en-US" b="1" dirty="0"/>
              <a:t>）来访问。又称为</a:t>
            </a:r>
            <a:r>
              <a:rPr lang="en-US" altLang="zh-CN" b="1" dirty="0"/>
              <a:t>P</a:t>
            </a:r>
            <a:r>
              <a:rPr lang="zh-CN" altLang="en-US" b="1" dirty="0"/>
              <a:t>、</a:t>
            </a:r>
            <a:r>
              <a:rPr lang="en-US" altLang="zh-CN" b="1" dirty="0"/>
              <a:t>V</a:t>
            </a:r>
            <a:r>
              <a:rPr lang="zh-CN" altLang="en-US" b="1" dirty="0"/>
              <a:t>操作。</a:t>
            </a:r>
            <a:endParaRPr lang="zh-CN" altLang="en-US" b="1" dirty="0"/>
          </a:p>
          <a:p>
            <a:pPr algn="just">
              <a:buNone/>
            </a:pPr>
            <a:r>
              <a:rPr lang="zh-CN" altLang="en-US" b="1" dirty="0"/>
              <a:t>        </a:t>
            </a:r>
            <a:r>
              <a:rPr lang="en-US" altLang="zh-CN" sz="2800" b="1" dirty="0"/>
              <a:t>wait</a:t>
            </a:r>
            <a:r>
              <a:rPr lang="zh-CN" altLang="en-US" sz="2800" b="1" dirty="0"/>
              <a:t>（</a:t>
            </a:r>
            <a:r>
              <a:rPr lang="en-US" altLang="zh-CN" sz="2800" b="1" dirty="0"/>
              <a:t>S</a:t>
            </a:r>
            <a:r>
              <a:rPr lang="zh-CN" altLang="en-US" sz="2800" b="1" dirty="0"/>
              <a:t>）：  </a:t>
            </a:r>
            <a:r>
              <a:rPr lang="en-US" altLang="zh-CN" sz="2800" b="1" dirty="0"/>
              <a:t>while  S</a:t>
            </a:r>
            <a:r>
              <a:rPr lang="zh-CN" altLang="en-US" sz="2800" b="1" dirty="0"/>
              <a:t>＜</a:t>
            </a:r>
            <a:r>
              <a:rPr lang="en-US" altLang="zh-CN" sz="2800" b="1" dirty="0"/>
              <a:t>=0   do  </a:t>
            </a:r>
            <a:r>
              <a:rPr lang="en-US" altLang="zh-CN" sz="2800" b="1" dirty="0">
                <a:solidFill>
                  <a:srgbClr val="0000CC"/>
                </a:solidFill>
              </a:rPr>
              <a:t>no-op</a:t>
            </a:r>
            <a:endParaRPr lang="en-US" altLang="zh-CN" sz="2800" b="1" dirty="0">
              <a:solidFill>
                <a:srgbClr val="0000CC"/>
              </a:solidFill>
            </a:endParaRPr>
          </a:p>
          <a:p>
            <a:pPr algn="just">
              <a:buNone/>
            </a:pPr>
            <a:r>
              <a:rPr lang="en-US" altLang="zh-CN" sz="2800" b="1" dirty="0"/>
              <a:t>                                S</a:t>
            </a:r>
            <a:r>
              <a:rPr lang="zh-CN" altLang="en-US" sz="2800" b="1" dirty="0"/>
              <a:t>：</a:t>
            </a:r>
            <a:r>
              <a:rPr lang="en-US" altLang="zh-CN" sz="2800" b="1" dirty="0"/>
              <a:t>=S--</a:t>
            </a:r>
            <a:r>
              <a:rPr lang="zh-CN" altLang="en-US" sz="2800" b="1" dirty="0"/>
              <a:t>；</a:t>
            </a:r>
            <a:endParaRPr lang="zh-CN" altLang="en-US" sz="2800" b="1" dirty="0"/>
          </a:p>
          <a:p>
            <a:pPr algn="just">
              <a:buNone/>
            </a:pPr>
            <a:r>
              <a:rPr lang="zh-CN" altLang="en-US" sz="2800" b="1" dirty="0"/>
              <a:t>        </a:t>
            </a:r>
            <a:r>
              <a:rPr lang="en-US" altLang="zh-CN" sz="2800" b="1" dirty="0"/>
              <a:t>signal</a:t>
            </a:r>
            <a:r>
              <a:rPr lang="zh-CN" altLang="en-US" sz="2800" b="1" dirty="0"/>
              <a:t>（</a:t>
            </a:r>
            <a:r>
              <a:rPr lang="en-US" altLang="zh-CN" sz="2800" b="1" dirty="0"/>
              <a:t>S</a:t>
            </a:r>
            <a:r>
              <a:rPr lang="zh-CN" altLang="en-US" sz="2800" b="1" dirty="0"/>
              <a:t>）： </a:t>
            </a:r>
            <a:r>
              <a:rPr lang="en-US" altLang="zh-CN" sz="2800" b="1" dirty="0"/>
              <a:t>S</a:t>
            </a:r>
            <a:r>
              <a:rPr lang="zh-CN" altLang="en-US" sz="2800" b="1" dirty="0"/>
              <a:t>：</a:t>
            </a:r>
            <a:r>
              <a:rPr lang="en-US" altLang="zh-CN" sz="2800" b="1" dirty="0"/>
              <a:t>=S++</a:t>
            </a:r>
            <a:r>
              <a:rPr lang="zh-CN" altLang="en-US" sz="2800" b="1" dirty="0"/>
              <a:t>；</a:t>
            </a:r>
            <a:r>
              <a:rPr lang="zh-CN" altLang="en-US" sz="2800" dirty="0"/>
              <a:t>  </a:t>
            </a:r>
            <a:endParaRPr lang="zh-CN" altLang="en-US" sz="2800" dirty="0"/>
          </a:p>
        </p:txBody>
      </p:sp>
      <p:sp>
        <p:nvSpPr>
          <p:cNvPr id="99331" name="AutoShape 4"/>
          <p:cNvSpPr/>
          <p:nvPr/>
        </p:nvSpPr>
        <p:spPr>
          <a:xfrm>
            <a:off x="6781800" y="4572000"/>
            <a:ext cx="1295400" cy="609600"/>
          </a:xfrm>
          <a:prstGeom prst="wedgeRoundRectCallout">
            <a:avLst>
              <a:gd name="adj1" fmla="val -6495"/>
              <a:gd name="adj2" fmla="val -137500"/>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dirty="0">
                <a:latin typeface="Times New Roman" panose="02020603050405020304" pitchFamily="18" charset="0"/>
              </a:rPr>
              <a:t>空操作</a:t>
            </a:r>
            <a:endParaRPr lang="zh-CN" altLang="en-US" sz="2400" dirty="0">
              <a:latin typeface="Times New Roman" panose="02020603050405020304" pitchFamily="18" charset="0"/>
            </a:endParaRPr>
          </a:p>
        </p:txBody>
      </p:sp>
      <p:sp>
        <p:nvSpPr>
          <p:cNvPr id="99332" name="Rectangle 5"/>
          <p:cNvSpPr>
            <a:spLocks noGrp="1" noRot="1"/>
          </p:cNvSpPr>
          <p:nvPr>
            <p:ph type="title"/>
          </p:nvPr>
        </p:nvSpPr>
        <p:spPr>
          <a:ln/>
        </p:spPr>
        <p:txBody>
          <a:bodyPr vert="horz" wrap="square" lIns="91440" tIns="45720" rIns="91440" bIns="45720" anchor="ctr" anchorCtr="0"/>
          <a:p>
            <a:r>
              <a:rPr lang="en-US" altLang="zh-CN" b="1" dirty="0"/>
              <a:t>1. </a:t>
            </a:r>
            <a:r>
              <a:rPr lang="zh-CN" altLang="en-US" b="1" dirty="0"/>
              <a:t>整型信号量</a:t>
            </a:r>
            <a:endParaRPr lang="zh-CN" altLang="en-US" b="1"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noRot="1"/>
          </p:cNvSpPr>
          <p:nvPr>
            <p:ph type="title"/>
          </p:nvPr>
        </p:nvSpPr>
        <p:spPr>
          <a:ln/>
        </p:spPr>
        <p:txBody>
          <a:bodyPr vert="horz" wrap="square" lIns="91440" tIns="45720" rIns="91440" bIns="45720" anchor="ctr" anchorCtr="0"/>
          <a:p>
            <a:r>
              <a:rPr lang="en-US" altLang="zh-CN" b="1" dirty="0"/>
              <a:t>2</a:t>
            </a:r>
            <a:r>
              <a:rPr lang="zh-CN" altLang="en-US" b="1" dirty="0"/>
              <a:t>．记录型信号量</a:t>
            </a:r>
            <a:r>
              <a:rPr lang="zh-CN" altLang="en-US" dirty="0"/>
              <a:t> </a:t>
            </a:r>
            <a:endParaRPr lang="zh-CN" altLang="en-US" dirty="0"/>
          </a:p>
        </p:txBody>
      </p:sp>
      <p:sp>
        <p:nvSpPr>
          <p:cNvPr id="101379" name="Rectangle 3"/>
          <p:cNvSpPr>
            <a:spLocks noGrp="1" noRot="1"/>
          </p:cNvSpPr>
          <p:nvPr>
            <p:ph idx="1"/>
          </p:nvPr>
        </p:nvSpPr>
        <p:spPr>
          <a:xfrm>
            <a:off x="152400" y="1600200"/>
            <a:ext cx="8839200" cy="4724400"/>
          </a:xfrm>
          <a:ln/>
        </p:spPr>
        <p:txBody>
          <a:bodyPr vert="horz" wrap="square" lIns="91440" tIns="45720" rIns="91440" bIns="45720" anchor="t" anchorCtr="0"/>
          <a:p>
            <a:r>
              <a:rPr lang="zh-CN" altLang="en-US" sz="2800" b="1" dirty="0"/>
              <a:t>记录型信号量机制，则是一种</a:t>
            </a:r>
            <a:r>
              <a:rPr lang="zh-CN" altLang="en-US" sz="2800" b="1" dirty="0">
                <a:solidFill>
                  <a:srgbClr val="FF0000"/>
                </a:solidFill>
              </a:rPr>
              <a:t>不存在</a:t>
            </a:r>
            <a:r>
              <a:rPr lang="zh-CN" altLang="en-US" sz="2800" b="1" dirty="0">
                <a:solidFill>
                  <a:srgbClr val="FF0000"/>
                </a:solidFill>
                <a:latin typeface="Courier New" panose="02070309020205020404" pitchFamily="49" charset="0"/>
              </a:rPr>
              <a:t>“</a:t>
            </a:r>
            <a:r>
              <a:rPr lang="zh-CN" altLang="en-US" sz="2800" b="1" dirty="0">
                <a:solidFill>
                  <a:srgbClr val="FF0000"/>
                </a:solidFill>
              </a:rPr>
              <a:t>忙等</a:t>
            </a:r>
            <a:r>
              <a:rPr lang="zh-CN" altLang="en-US" sz="2800" b="1" dirty="0">
                <a:solidFill>
                  <a:srgbClr val="FF0000"/>
                </a:solidFill>
                <a:latin typeface="Courier New" panose="02070309020205020404" pitchFamily="49" charset="0"/>
              </a:rPr>
              <a:t>”</a:t>
            </a:r>
            <a:r>
              <a:rPr lang="zh-CN" altLang="en-US" sz="2800" b="1" dirty="0">
                <a:solidFill>
                  <a:srgbClr val="FF0000"/>
                </a:solidFill>
              </a:rPr>
              <a:t>现象</a:t>
            </a:r>
            <a:r>
              <a:rPr lang="zh-CN" altLang="en-US" sz="2800" b="1" dirty="0"/>
              <a:t>的进程同步机制。</a:t>
            </a:r>
            <a:endParaRPr lang="zh-CN" altLang="en-US" sz="2800" b="1" dirty="0"/>
          </a:p>
          <a:p>
            <a:r>
              <a:rPr lang="zh-CN" altLang="en-US" sz="2800" b="1" dirty="0"/>
              <a:t>记录型信号量的数据结构</a:t>
            </a:r>
            <a:r>
              <a:rPr lang="en-US" altLang="zh-CN" sz="2800" b="1" dirty="0"/>
              <a:t>:</a:t>
            </a:r>
            <a:endParaRPr lang="en-US" altLang="zh-CN" sz="2800" b="1" dirty="0"/>
          </a:p>
          <a:p>
            <a:pPr algn="just">
              <a:buNone/>
            </a:pPr>
            <a:r>
              <a:rPr lang="en-US" altLang="zh-CN" sz="2800" b="1" dirty="0"/>
              <a:t>  typedef strust {</a:t>
            </a:r>
            <a:r>
              <a:rPr lang="en-US" altLang="zh-CN" sz="2800" b="1" dirty="0">
                <a:solidFill>
                  <a:srgbClr val="FF0000"/>
                </a:solidFill>
              </a:rPr>
              <a:t> </a:t>
            </a:r>
            <a:endParaRPr lang="en-US" altLang="zh-CN" sz="2800" b="1" dirty="0">
              <a:solidFill>
                <a:srgbClr val="FF0000"/>
              </a:solidFill>
            </a:endParaRPr>
          </a:p>
          <a:p>
            <a:pPr algn="just">
              <a:buNone/>
            </a:pPr>
            <a:r>
              <a:rPr lang="en-US" altLang="zh-CN" sz="2800" b="1" dirty="0"/>
              <a:t>  int value</a:t>
            </a:r>
            <a:r>
              <a:rPr lang="zh-CN" altLang="en-US" sz="2800" b="1" dirty="0"/>
              <a:t>；</a:t>
            </a:r>
            <a:r>
              <a:rPr lang="zh-CN" altLang="en-US" sz="2400" b="1" dirty="0"/>
              <a:t> </a:t>
            </a:r>
            <a:r>
              <a:rPr lang="en-US" altLang="zh-CN" sz="2400" b="1" dirty="0">
                <a:solidFill>
                  <a:srgbClr val="FF0000"/>
                </a:solidFill>
              </a:rPr>
              <a:t>// value</a:t>
            </a:r>
            <a:r>
              <a:rPr lang="zh-CN" altLang="en-US" sz="2400" b="1" dirty="0">
                <a:solidFill>
                  <a:srgbClr val="FF0000"/>
                </a:solidFill>
              </a:rPr>
              <a:t>的初值表示系统中某类资源的数目， </a:t>
            </a:r>
            <a:r>
              <a:rPr lang="en-US" altLang="zh-CN" sz="2400" b="1" dirty="0">
                <a:solidFill>
                  <a:srgbClr val="FF0000"/>
                </a:solidFill>
              </a:rPr>
              <a:t>value</a:t>
            </a:r>
            <a:r>
              <a:rPr lang="zh-CN" altLang="en-US" sz="2400" b="1" dirty="0">
                <a:solidFill>
                  <a:srgbClr val="FF0000"/>
                </a:solidFill>
              </a:rPr>
              <a:t>的初始值</a:t>
            </a:r>
            <a:r>
              <a:rPr lang="en-US" altLang="zh-CN" sz="2400" b="1" dirty="0">
                <a:solidFill>
                  <a:srgbClr val="FF0000"/>
                </a:solidFill>
              </a:rPr>
              <a:t>&gt;1</a:t>
            </a:r>
            <a:r>
              <a:rPr lang="zh-CN" altLang="en-US" sz="2400" b="1" dirty="0">
                <a:solidFill>
                  <a:srgbClr val="FF0000"/>
                </a:solidFill>
              </a:rPr>
              <a:t>时，称为资源信号量， </a:t>
            </a:r>
            <a:r>
              <a:rPr lang="en-US" altLang="zh-CN" sz="2400" b="1" dirty="0">
                <a:solidFill>
                  <a:srgbClr val="FF0000"/>
                </a:solidFill>
              </a:rPr>
              <a:t>value</a:t>
            </a:r>
            <a:r>
              <a:rPr lang="zh-CN" altLang="en-US" sz="2400" b="1" dirty="0">
                <a:solidFill>
                  <a:srgbClr val="FF0000"/>
                </a:solidFill>
              </a:rPr>
              <a:t>的初始值</a:t>
            </a:r>
            <a:r>
              <a:rPr lang="en-US" altLang="zh-CN" sz="2400" b="1" dirty="0">
                <a:solidFill>
                  <a:srgbClr val="FF0000"/>
                </a:solidFill>
              </a:rPr>
              <a:t>=1</a:t>
            </a:r>
            <a:r>
              <a:rPr lang="zh-CN" altLang="en-US" sz="2400" b="1" dirty="0">
                <a:solidFill>
                  <a:srgbClr val="FF0000"/>
                </a:solidFill>
              </a:rPr>
              <a:t>时，称为互斥信号量</a:t>
            </a:r>
            <a:endParaRPr lang="zh-CN" altLang="en-US" sz="2400" b="1" dirty="0">
              <a:solidFill>
                <a:srgbClr val="FF0000"/>
              </a:solidFill>
            </a:endParaRPr>
          </a:p>
          <a:p>
            <a:pPr algn="just">
              <a:buNone/>
            </a:pPr>
            <a:r>
              <a:rPr lang="zh-CN" altLang="en-US" sz="2800" b="1" dirty="0"/>
              <a:t>      </a:t>
            </a:r>
            <a:r>
              <a:rPr lang="en-US" altLang="zh-CN" sz="2800" b="1" dirty="0"/>
              <a:t>struct process_control_block *list</a:t>
            </a:r>
            <a:r>
              <a:rPr lang="zh-CN" altLang="en-US" sz="2800" b="1" dirty="0"/>
              <a:t>；</a:t>
            </a:r>
            <a:r>
              <a:rPr lang="en-US" altLang="zh-CN" sz="2800" b="1" dirty="0"/>
              <a:t>//</a:t>
            </a:r>
            <a:r>
              <a:rPr lang="zh-CN" altLang="en-US" sz="2800" b="1" dirty="0"/>
              <a:t>信号量的阻塞队列</a:t>
            </a:r>
            <a:endParaRPr lang="zh-CN" altLang="en-US" sz="2800" b="1" dirty="0"/>
          </a:p>
          <a:p>
            <a:pPr algn="just">
              <a:buNone/>
            </a:pPr>
            <a:r>
              <a:rPr lang="en-US" altLang="zh-CN" sz="2800" b="1" dirty="0"/>
              <a:t>} semaphore;</a:t>
            </a:r>
            <a:endParaRPr lang="en-US" altLang="zh-CN" sz="2800" b="1"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477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rPr>
              <a:t>定义对信号量的两个原子操作</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
        <p:nvSpPr>
          <p:cNvPr id="54477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wait(semaphore *s) </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signal(semaphore *s)</a:t>
            </a:r>
            <a:endPar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wait</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操作用于申请资源（或使用权），进程执行</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wait</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原语时，</a:t>
            </a:r>
            <a:r>
              <a:rPr kumimoji="0" lang="zh-CN" altLang="en-US" sz="2800" b="1" i="1"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rPr>
              <a:t>可能会阻塞自己</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signal</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操作用于释放资源（或归还资源使用权），进程执行</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signal</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原语时，有</a:t>
            </a:r>
            <a:r>
              <a:rPr kumimoji="0" lang="zh-CN" altLang="en-US" sz="2800" b="1" i="1"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rPr>
              <a:t>责任唤醒一个阻塞进程</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0" i="0" u="none" strike="noStrike" kern="0" cap="none" spc="0" normalizeH="0" baseline="0" noProof="0" dirty="0" smtClean="0">
                <a:ln>
                  <a:noFill/>
                </a:ln>
                <a:solidFill>
                  <a:schemeClr val="tx1"/>
                </a:solidFill>
                <a:effectLst/>
                <a:uLnTx/>
                <a:uFillTx/>
                <a:latin typeface="+mn-lt"/>
                <a:ea typeface="+mn-ea"/>
              </a:rPr>
              <a:t> </a:t>
            </a:r>
            <a:endParaRPr kumimoji="0" lang="zh-CN" altLang="en-US" sz="2800" b="0" i="0" u="none" strike="noStrike" kern="0" cap="none" spc="0" normalizeH="0" baseline="0" noProof="0" dirty="0" smtClean="0">
              <a:ln>
                <a:noFill/>
              </a:ln>
              <a:solidFill>
                <a:schemeClr val="tx1"/>
              </a:solidFill>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早期这两个原语被称作</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P(s)</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V(s)</a:t>
            </a:r>
            <a:endPar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4770"/>
                                        </p:tgtEl>
                                        <p:attrNameLst>
                                          <p:attrName>style.visibility</p:attrName>
                                        </p:attrNameLst>
                                      </p:cBhvr>
                                      <p:to>
                                        <p:strVal val="visible"/>
                                      </p:to>
                                    </p:set>
                                    <p:animEffect transition="in" filter="fade">
                                      <p:cBhvr>
                                        <p:cTn id="7" dur="2000"/>
                                        <p:tgtEl>
                                          <p:spTgt spid="5447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4771">
                                            <p:txEl>
                                              <p:charRg st="0" end="41"/>
                                            </p:txEl>
                                          </p:spTgt>
                                        </p:tgtEl>
                                        <p:attrNameLst>
                                          <p:attrName>style.visibility</p:attrName>
                                        </p:attrNameLst>
                                      </p:cBhvr>
                                      <p:to>
                                        <p:strVal val="visible"/>
                                      </p:to>
                                    </p:set>
                                    <p:animEffect transition="in" filter="fade">
                                      <p:cBhvr>
                                        <p:cTn id="12" dur="2000"/>
                                        <p:tgtEl>
                                          <p:spTgt spid="544771">
                                            <p:txEl>
                                              <p:charRg st="0" end="4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44771">
                                            <p:txEl>
                                              <p:charRg st="41" end="81"/>
                                            </p:txEl>
                                          </p:spTgt>
                                        </p:tgtEl>
                                        <p:attrNameLst>
                                          <p:attrName>style.visibility</p:attrName>
                                        </p:attrNameLst>
                                      </p:cBhvr>
                                      <p:to>
                                        <p:strVal val="visible"/>
                                      </p:to>
                                    </p:set>
                                    <p:animEffect transition="in" filter="fade">
                                      <p:cBhvr>
                                        <p:cTn id="15" dur="2000"/>
                                        <p:tgtEl>
                                          <p:spTgt spid="544771">
                                            <p:txEl>
                                              <p:charRg st="41" end="8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44771">
                                            <p:txEl>
                                              <p:charRg st="81" end="134"/>
                                            </p:txEl>
                                          </p:spTgt>
                                        </p:tgtEl>
                                        <p:attrNameLst>
                                          <p:attrName>style.visibility</p:attrName>
                                        </p:attrNameLst>
                                      </p:cBhvr>
                                      <p:to>
                                        <p:strVal val="visible"/>
                                      </p:to>
                                    </p:set>
                                    <p:animEffect transition="in" filter="fade">
                                      <p:cBhvr>
                                        <p:cTn id="18" dur="2000"/>
                                        <p:tgtEl>
                                          <p:spTgt spid="544771">
                                            <p:txEl>
                                              <p:charRg st="81" end="13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44771">
                                            <p:txEl>
                                              <p:charRg st="135" end="155"/>
                                            </p:txEl>
                                          </p:spTgt>
                                        </p:tgtEl>
                                        <p:attrNameLst>
                                          <p:attrName>style.visibility</p:attrName>
                                        </p:attrNameLst>
                                      </p:cBhvr>
                                      <p:to>
                                        <p:strVal val="visible"/>
                                      </p:to>
                                    </p:set>
                                    <p:animEffect transition="in" filter="fade">
                                      <p:cBhvr>
                                        <p:cTn id="23" dur="2000"/>
                                        <p:tgtEl>
                                          <p:spTgt spid="544771">
                                            <p:txEl>
                                              <p:charRg st="135" end="15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0" grpId="0"/>
      <p:bldP spid="544771"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579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仿宋_GB2312" pitchFamily="49" charset="-122"/>
                <a:cs typeface="+mj-cs"/>
              </a:rPr>
              <a:t>Wait</a:t>
            </a:r>
            <a:r>
              <a:rPr kumimoji="0" lang="zh-CN" altLang="en-US" sz="4400" b="1" i="0" u="sng"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仿宋_GB2312" pitchFamily="49" charset="-122"/>
                <a:cs typeface="+mj-cs"/>
              </a:rPr>
              <a:t>、</a:t>
            </a:r>
            <a:r>
              <a:rPr kumimoji="0" lang="en-US" altLang="zh-CN" sz="4400" b="1" i="0" u="sng"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仿宋_GB2312" pitchFamily="49" charset="-122"/>
                <a:cs typeface="+mj-cs"/>
              </a:rPr>
              <a:t>signal</a:t>
            </a:r>
            <a:endParaRPr kumimoji="0" lang="en-US" altLang="zh-CN" sz="4400" b="1" i="0" u="sng"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45795" name="Rectangle 3"/>
          <p:cNvSpPr>
            <a:spLocks noGrp="1" noRot="1" noChangeArrowheads="1"/>
          </p:cNvSpPr>
          <p:nvPr>
            <p:ph type="body" idx="1"/>
          </p:nvPr>
        </p:nvSpPr>
        <p:spPr>
          <a:xfrm>
            <a:off x="152400" y="1527175"/>
            <a:ext cx="8763000" cy="4568825"/>
          </a:xfrm>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wait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semaphore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S-&gt;value--;</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if (S-&gt; value</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0) block</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S-&gt;list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该</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进程阻塞</a:t>
            </a:r>
            <a:r>
              <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 </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进入</a:t>
            </a:r>
            <a:r>
              <a:rPr kumimoji="0" lang="en-US" altLang="zh-CN" sz="2800" b="1" i="0" u="none" strike="noStrike" kern="0" cap="none" spc="0" normalizeH="0" baseline="0" noProof="0" dirty="0" err="1"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s.list</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队列，“让权等待”；</a:t>
            </a:r>
            <a:endParaRPr kumimoji="0" lang="en-US" altLang="zh-CN" sz="2800" b="1"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signal(semaphore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 S) {</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S-&gt; value++;</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value</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仿宋_GB2312" pitchFamily="49" charset="-122"/>
                <a:cs typeface="+mn-cs"/>
              </a:rPr>
              <a:t>的绝对值表示已阻塞的进程的数目。</a:t>
            </a:r>
            <a:endPar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If(S-&gt;value &lt;=0) wakeup(S-&gt;list</a:t>
            </a:r>
            <a:r>
              <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 // </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唤醒队首进程，并从队列中移出。</a:t>
            </a:r>
            <a:endPar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5794"/>
                                        </p:tgtEl>
                                        <p:attrNameLst>
                                          <p:attrName>style.visibility</p:attrName>
                                        </p:attrNameLst>
                                      </p:cBhvr>
                                      <p:to>
                                        <p:strVal val="visible"/>
                                      </p:to>
                                    </p:set>
                                    <p:animEffect transition="in" filter="fade">
                                      <p:cBhvr>
                                        <p:cTn id="7" dur="2000"/>
                                        <p:tgtEl>
                                          <p:spTgt spid="5457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5795">
                                            <p:txEl>
                                              <p:charRg st="0" end="25"/>
                                            </p:txEl>
                                          </p:spTgt>
                                        </p:tgtEl>
                                        <p:attrNameLst>
                                          <p:attrName>style.visibility</p:attrName>
                                        </p:attrNameLst>
                                      </p:cBhvr>
                                      <p:to>
                                        <p:strVal val="visible"/>
                                      </p:to>
                                    </p:set>
                                    <p:animEffect transition="in" filter="fade">
                                      <p:cBhvr>
                                        <p:cTn id="12" dur="2000"/>
                                        <p:tgtEl>
                                          <p:spTgt spid="545795">
                                            <p:txEl>
                                              <p:charRg st="0"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5795">
                                            <p:txEl>
                                              <p:charRg st="25" end="42"/>
                                            </p:txEl>
                                          </p:spTgt>
                                        </p:tgtEl>
                                        <p:attrNameLst>
                                          <p:attrName>style.visibility</p:attrName>
                                        </p:attrNameLst>
                                      </p:cBhvr>
                                      <p:to>
                                        <p:strVal val="visible"/>
                                      </p:to>
                                    </p:set>
                                    <p:animEffect transition="in" filter="fade">
                                      <p:cBhvr>
                                        <p:cTn id="17" dur="2000"/>
                                        <p:tgtEl>
                                          <p:spTgt spid="545795">
                                            <p:txEl>
                                              <p:charRg st="25"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45795">
                                            <p:txEl>
                                              <p:charRg st="42" end="114"/>
                                            </p:txEl>
                                          </p:spTgt>
                                        </p:tgtEl>
                                        <p:attrNameLst>
                                          <p:attrName>style.visibility</p:attrName>
                                        </p:attrNameLst>
                                      </p:cBhvr>
                                      <p:to>
                                        <p:strVal val="visible"/>
                                      </p:to>
                                    </p:set>
                                    <p:animEffect transition="in" filter="fade">
                                      <p:cBhvr>
                                        <p:cTn id="22" dur="2000"/>
                                        <p:tgtEl>
                                          <p:spTgt spid="545795">
                                            <p:txEl>
                                              <p:charRg st="42" end="11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45795">
                                            <p:txEl>
                                              <p:charRg st="114" end="123"/>
                                            </p:txEl>
                                          </p:spTgt>
                                        </p:tgtEl>
                                        <p:attrNameLst>
                                          <p:attrName>style.visibility</p:attrName>
                                        </p:attrNameLst>
                                      </p:cBhvr>
                                      <p:to>
                                        <p:strVal val="visible"/>
                                      </p:to>
                                    </p:set>
                                    <p:animEffect transition="in" filter="fade">
                                      <p:cBhvr>
                                        <p:cTn id="27" dur="2000"/>
                                        <p:tgtEl>
                                          <p:spTgt spid="545795">
                                            <p:txEl>
                                              <p:charRg st="114" end="12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45795">
                                            <p:txEl>
                                              <p:charRg st="124" end="148"/>
                                            </p:txEl>
                                          </p:spTgt>
                                        </p:tgtEl>
                                        <p:attrNameLst>
                                          <p:attrName>style.visibility</p:attrName>
                                        </p:attrNameLst>
                                      </p:cBhvr>
                                      <p:to>
                                        <p:strVal val="visible"/>
                                      </p:to>
                                    </p:set>
                                    <p:animEffect transition="in" filter="fade">
                                      <p:cBhvr>
                                        <p:cTn id="32" dur="2000"/>
                                        <p:tgtEl>
                                          <p:spTgt spid="545795">
                                            <p:txEl>
                                              <p:charRg st="124" end="14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45795">
                                            <p:txEl>
                                              <p:charRg st="148" end="190"/>
                                            </p:txEl>
                                          </p:spTgt>
                                        </p:tgtEl>
                                        <p:attrNameLst>
                                          <p:attrName>style.visibility</p:attrName>
                                        </p:attrNameLst>
                                      </p:cBhvr>
                                      <p:to>
                                        <p:strVal val="visible"/>
                                      </p:to>
                                    </p:set>
                                    <p:animEffect transition="in" filter="fade">
                                      <p:cBhvr>
                                        <p:cTn id="37" dur="2000"/>
                                        <p:tgtEl>
                                          <p:spTgt spid="545795">
                                            <p:txEl>
                                              <p:charRg st="148" end="19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45795">
                                            <p:txEl>
                                              <p:charRg st="190" end="253"/>
                                            </p:txEl>
                                          </p:spTgt>
                                        </p:tgtEl>
                                        <p:attrNameLst>
                                          <p:attrName>style.visibility</p:attrName>
                                        </p:attrNameLst>
                                      </p:cBhvr>
                                      <p:to>
                                        <p:strVal val="visible"/>
                                      </p:to>
                                    </p:set>
                                    <p:animEffect transition="in" filter="fade">
                                      <p:cBhvr>
                                        <p:cTn id="42" dur="2000"/>
                                        <p:tgtEl>
                                          <p:spTgt spid="545795">
                                            <p:txEl>
                                              <p:charRg st="190" end="25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45795">
                                            <p:txEl>
                                              <p:charRg st="253" end="255"/>
                                            </p:txEl>
                                          </p:spTgt>
                                        </p:tgtEl>
                                        <p:attrNameLst>
                                          <p:attrName>style.visibility</p:attrName>
                                        </p:attrNameLst>
                                      </p:cBhvr>
                                      <p:to>
                                        <p:strVal val="visible"/>
                                      </p:to>
                                    </p:set>
                                    <p:animEffect transition="in" filter="fade">
                                      <p:cBhvr>
                                        <p:cTn id="47" dur="2000"/>
                                        <p:tgtEl>
                                          <p:spTgt spid="545795">
                                            <p:txEl>
                                              <p:charRg st="253" end="25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545795">
                                            <p:txEl>
                                              <p:charRg st="0" end="25"/>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545795">
                                            <p:txEl>
                                              <p:charRg st="25" end="42"/>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545795">
                                            <p:txEl>
                                              <p:charRg st="42" end="114"/>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45795">
                                            <p:txEl>
                                              <p:charRg st="114" end="1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4" grpId="0"/>
      <p:bldP spid="545795"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62" name="Rectangle 2"/>
          <p:cNvSpPr>
            <a:spLocks noGrp="1" noRot="1" noChangeArrowheads="1"/>
          </p:cNvSpPr>
          <p:nvPr>
            <p:ph type="title"/>
          </p:nvPr>
        </p:nvSpPr>
        <p:spPr>
          <a:xfrm>
            <a:off x="685800" y="381000"/>
            <a:ext cx="777240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rPr>
              <a:t>信号量的物理意义</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52963" name="Rectangle 3"/>
          <p:cNvSpPr>
            <a:spLocks noGrp="1" noRot="1" noChangeArrowheads="1"/>
          </p:cNvSpPr>
          <p:nvPr>
            <p:ph type="body" idx="1"/>
          </p:nvPr>
        </p:nvSpPr>
        <p:spPr>
          <a:xfrm>
            <a:off x="304800" y="1752600"/>
            <a:ext cx="8610600" cy="47244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rPr>
              <a:t>S-&gt; value</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 ≥ 0</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，表示还可执行</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wait(s)</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而不会阻塞的进程数（可用资源数）。</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每执行一次</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wait(s)</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操作，就意味着请求分配一个单位的资源</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rPr>
              <a:t>S-&gt; value </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&lt; 0</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，表示已无资源可用，因此请求该资源的进程被阻塞。</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此时，</a:t>
            </a:r>
            <a:r>
              <a:rPr kumimoji="0" lang="en-US" altLang="zh-CN" sz="2800" b="1" i="0" u="none" strike="noStrike" kern="0" cap="none" spc="0" normalizeH="0" baseline="0" noProof="0" dirty="0">
                <a:ln>
                  <a:noFill/>
                </a:ln>
                <a:solidFill>
                  <a:schemeClr val="tx1"/>
                </a:solidFill>
                <a:effectLst/>
                <a:uLnTx/>
                <a:uFillTx/>
                <a:latin typeface="+mn-lt"/>
                <a:ea typeface="+mn-ea"/>
              </a:rPr>
              <a:t> S-&gt; value</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rPr>
              <a:t>的绝对值等于该信号量阻塞队列中的等待进程数。</a:t>
            </a:r>
            <a:endPar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执行一次</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signal</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操作，就意味着释放一个单位的资源。</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2962"/>
                                        </p:tgtEl>
                                        <p:attrNameLst>
                                          <p:attrName>style.visibility</p:attrName>
                                        </p:attrNameLst>
                                      </p:cBhvr>
                                      <p:to>
                                        <p:strVal val="visible"/>
                                      </p:to>
                                    </p:set>
                                    <p:animEffect transition="in" filter="fade">
                                      <p:cBhvr>
                                        <p:cTn id="7" dur="2000"/>
                                        <p:tgtEl>
                                          <p:spTgt spid="5529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2963">
                                            <p:txEl>
                                              <p:charRg st="0" end="47"/>
                                            </p:txEl>
                                          </p:spTgt>
                                        </p:tgtEl>
                                        <p:attrNameLst>
                                          <p:attrName>style.visibility</p:attrName>
                                        </p:attrNameLst>
                                      </p:cBhvr>
                                      <p:to>
                                        <p:strVal val="visible"/>
                                      </p:to>
                                    </p:set>
                                    <p:animEffect transition="in" filter="fade">
                                      <p:cBhvr>
                                        <p:cTn id="12" dur="2000"/>
                                        <p:tgtEl>
                                          <p:spTgt spid="552963">
                                            <p:txEl>
                                              <p:charRg st="0" end="47"/>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52963">
                                            <p:txEl>
                                              <p:charRg st="47" end="78"/>
                                            </p:txEl>
                                          </p:spTgt>
                                        </p:tgtEl>
                                        <p:attrNameLst>
                                          <p:attrName>style.visibility</p:attrName>
                                        </p:attrNameLst>
                                      </p:cBhvr>
                                      <p:to>
                                        <p:strVal val="visible"/>
                                      </p:to>
                                    </p:set>
                                    <p:animEffect transition="in" filter="fade">
                                      <p:cBhvr>
                                        <p:cTn id="15" dur="2000"/>
                                        <p:tgtEl>
                                          <p:spTgt spid="552963">
                                            <p:txEl>
                                              <p:charRg st="47" end="7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52963">
                                            <p:txEl>
                                              <p:charRg st="78" end="118"/>
                                            </p:txEl>
                                          </p:spTgt>
                                        </p:tgtEl>
                                        <p:attrNameLst>
                                          <p:attrName>style.visibility</p:attrName>
                                        </p:attrNameLst>
                                      </p:cBhvr>
                                      <p:to>
                                        <p:strVal val="visible"/>
                                      </p:to>
                                    </p:set>
                                    <p:animEffect transition="in" filter="fade">
                                      <p:cBhvr>
                                        <p:cTn id="20" dur="2000"/>
                                        <p:tgtEl>
                                          <p:spTgt spid="552963">
                                            <p:txEl>
                                              <p:charRg st="78" end="118"/>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52963">
                                            <p:txEl>
                                              <p:charRg st="118" end="154"/>
                                            </p:txEl>
                                          </p:spTgt>
                                        </p:tgtEl>
                                        <p:attrNameLst>
                                          <p:attrName>style.visibility</p:attrName>
                                        </p:attrNameLst>
                                      </p:cBhvr>
                                      <p:to>
                                        <p:strVal val="visible"/>
                                      </p:to>
                                    </p:set>
                                    <p:animEffect transition="in" filter="fade">
                                      <p:cBhvr>
                                        <p:cTn id="23" dur="2000"/>
                                        <p:tgtEl>
                                          <p:spTgt spid="552963">
                                            <p:txEl>
                                              <p:charRg st="118" end="15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52963">
                                            <p:txEl>
                                              <p:charRg st="154" end="182"/>
                                            </p:txEl>
                                          </p:spTgt>
                                        </p:tgtEl>
                                        <p:attrNameLst>
                                          <p:attrName>style.visibility</p:attrName>
                                        </p:attrNameLst>
                                      </p:cBhvr>
                                      <p:to>
                                        <p:strVal val="visible"/>
                                      </p:to>
                                    </p:set>
                                    <p:animEffect transition="in" filter="fade">
                                      <p:cBhvr>
                                        <p:cTn id="26" dur="2000"/>
                                        <p:tgtEl>
                                          <p:spTgt spid="552963">
                                            <p:txEl>
                                              <p:charRg st="154" end="1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2" grpId="0"/>
      <p:bldP spid="55296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705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rPr>
              <a:t>信号量的物理意义</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57059" name="Rectangle 3"/>
          <p:cNvSpPr>
            <a:spLocks noGrp="1" noRot="1" noChangeArrowheads="1"/>
          </p:cNvSpPr>
          <p:nvPr>
            <p:ph type="body" idx="1"/>
          </p:nvPr>
        </p:nvSpPr>
        <p:spPr>
          <a:xfrm>
            <a:off x="301625" y="1984375"/>
            <a:ext cx="854075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rPr>
              <a:t>S-&gt; value</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 &lt;  0</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s-&gt;list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队列中还有被阻塞的进程， </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signal(s)</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原语需要唤醒该队列中的第一个进程，将它转移到就绪队列中。</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7058"/>
                                        </p:tgtEl>
                                        <p:attrNameLst>
                                          <p:attrName>style.visibility</p:attrName>
                                        </p:attrNameLst>
                                      </p:cBhvr>
                                      <p:to>
                                        <p:strVal val="visible"/>
                                      </p:to>
                                    </p:set>
                                    <p:animEffect transition="in" filter="fade">
                                      <p:cBhvr>
                                        <p:cTn id="7" dur="2000"/>
                                        <p:tgtEl>
                                          <p:spTgt spid="5570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7059">
                                            <p:txEl>
                                              <p:charRg st="0" end="76"/>
                                            </p:txEl>
                                          </p:spTgt>
                                        </p:tgtEl>
                                        <p:attrNameLst>
                                          <p:attrName>style.visibility</p:attrName>
                                        </p:attrNameLst>
                                      </p:cBhvr>
                                      <p:to>
                                        <p:strVal val="visible"/>
                                      </p:to>
                                    </p:set>
                                    <p:animEffect transition="in" filter="fade">
                                      <p:cBhvr>
                                        <p:cTn id="12" dur="2000"/>
                                        <p:tgtEl>
                                          <p:spTgt spid="557059">
                                            <p:txEl>
                                              <p:charRg st="0"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8" grpId="0"/>
      <p:bldP spid="557059"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398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chemeClr val="tx2"/>
                </a:solidFill>
                <a:effectLst/>
                <a:uLnTx/>
                <a:uFillTx/>
                <a:latin typeface="+mj-lt"/>
                <a:ea typeface="+mj-ea"/>
                <a:cs typeface="+mj-cs"/>
              </a:rPr>
              <a:t>S-&gt; value</a:t>
            </a:r>
            <a:r>
              <a:rPr kumimoji="0" lang="zh-CN" altLang="en-US" sz="4400" b="1" i="0" u="sng"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仿宋_GB2312" pitchFamily="49" charset="-122"/>
                <a:cs typeface="+mj-cs"/>
              </a:rPr>
              <a:t>的</a:t>
            </a:r>
            <a:r>
              <a:rPr kumimoji="0" lang="zh-CN" altLang="en-US" sz="4400" b="1" i="0" u="sng"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仿宋_GB2312" pitchFamily="49" charset="-122"/>
                <a:cs typeface="+mj-cs"/>
              </a:rPr>
              <a:t>取值范围</a:t>
            </a:r>
            <a:endParaRPr kumimoji="0" lang="zh-CN" altLang="en-US" sz="4400" b="1" i="0" u="sng"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53987"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当仅有两个并发进程共享临界资源时，互斥信号量仅能取值</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。其中，</a:t>
            </a:r>
            <a:endPar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S-&gt; value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 </a:t>
            </a: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表示无进程进入临界区</a:t>
            </a:r>
            <a:endPar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S-&gt; value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，表示已有一个进程进入临界区</a:t>
            </a:r>
            <a:endPar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 S-&gt; value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- 1,</a:t>
            </a: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则表示已有一进程正在等待进入临界区</a:t>
            </a:r>
            <a:endPar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当用</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来实现</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n</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个进程的互斥时，</a:t>
            </a:r>
            <a:r>
              <a:rPr kumimoji="0" lang="en-US" altLang="zh-CN" sz="3200" b="1" i="0" u="none" strike="noStrike" kern="0" cap="none" spc="0" normalizeH="0" baseline="0" noProof="0" dirty="0">
                <a:ln>
                  <a:noFill/>
                </a:ln>
                <a:solidFill>
                  <a:schemeClr val="tx1"/>
                </a:solidFill>
                <a:effectLst/>
                <a:uLnTx/>
                <a:uFillTx/>
                <a:latin typeface="+mn-lt"/>
                <a:ea typeface="+mn-ea"/>
                <a:cs typeface="+mn-cs"/>
              </a:rPr>
              <a:t> S-&gt; value</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的取值范围为</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n-1</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3986"/>
                                        </p:tgtEl>
                                        <p:attrNameLst>
                                          <p:attrName>style.visibility</p:attrName>
                                        </p:attrNameLst>
                                      </p:cBhvr>
                                      <p:to>
                                        <p:strVal val="visible"/>
                                      </p:to>
                                    </p:set>
                                    <p:animEffect transition="in" filter="fade">
                                      <p:cBhvr>
                                        <p:cTn id="7" dur="2000"/>
                                        <p:tgtEl>
                                          <p:spTgt spid="5539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3987">
                                            <p:txEl>
                                              <p:charRg st="0" end="37"/>
                                            </p:txEl>
                                          </p:spTgt>
                                        </p:tgtEl>
                                        <p:attrNameLst>
                                          <p:attrName>style.visibility</p:attrName>
                                        </p:attrNameLst>
                                      </p:cBhvr>
                                      <p:to>
                                        <p:strVal val="visible"/>
                                      </p:to>
                                    </p:set>
                                    <p:animEffect transition="in" filter="fade">
                                      <p:cBhvr>
                                        <p:cTn id="12" dur="2000"/>
                                        <p:tgtEl>
                                          <p:spTgt spid="553987">
                                            <p:txEl>
                                              <p:charRg st="0" end="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3987">
                                            <p:txEl>
                                              <p:charRg st="37" end="65"/>
                                            </p:txEl>
                                          </p:spTgt>
                                        </p:tgtEl>
                                        <p:attrNameLst>
                                          <p:attrName>style.visibility</p:attrName>
                                        </p:attrNameLst>
                                      </p:cBhvr>
                                      <p:to>
                                        <p:strVal val="visible"/>
                                      </p:to>
                                    </p:set>
                                    <p:animEffect transition="in" filter="fade">
                                      <p:cBhvr>
                                        <p:cTn id="17" dur="2000"/>
                                        <p:tgtEl>
                                          <p:spTgt spid="553987">
                                            <p:txEl>
                                              <p:charRg st="37" end="6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53987">
                                            <p:txEl>
                                              <p:charRg st="65" end="95"/>
                                            </p:txEl>
                                          </p:spTgt>
                                        </p:tgtEl>
                                        <p:attrNameLst>
                                          <p:attrName>style.visibility</p:attrName>
                                        </p:attrNameLst>
                                      </p:cBhvr>
                                      <p:to>
                                        <p:strVal val="visible"/>
                                      </p:to>
                                    </p:set>
                                    <p:animEffect transition="in" filter="fade">
                                      <p:cBhvr>
                                        <p:cTn id="22" dur="2000"/>
                                        <p:tgtEl>
                                          <p:spTgt spid="553987">
                                            <p:txEl>
                                              <p:charRg st="65" end="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53987">
                                            <p:txEl>
                                              <p:charRg st="95" end="136"/>
                                            </p:txEl>
                                          </p:spTgt>
                                        </p:tgtEl>
                                        <p:attrNameLst>
                                          <p:attrName>style.visibility</p:attrName>
                                        </p:attrNameLst>
                                      </p:cBhvr>
                                      <p:to>
                                        <p:strVal val="visible"/>
                                      </p:to>
                                    </p:set>
                                    <p:animEffect transition="in" filter="fade">
                                      <p:cBhvr>
                                        <p:cTn id="27" dur="2000"/>
                                        <p:tgtEl>
                                          <p:spTgt spid="553987">
                                            <p:txEl>
                                              <p:charRg st="95" end="13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53987">
                                            <p:txEl>
                                              <p:charRg st="137" end="178"/>
                                            </p:txEl>
                                          </p:spTgt>
                                        </p:tgtEl>
                                        <p:attrNameLst>
                                          <p:attrName>style.visibility</p:attrName>
                                        </p:attrNameLst>
                                      </p:cBhvr>
                                      <p:to>
                                        <p:strVal val="visible"/>
                                      </p:to>
                                    </p:set>
                                    <p:animEffect transition="in" filter="fade">
                                      <p:cBhvr>
                                        <p:cTn id="32" dur="2000"/>
                                        <p:tgtEl>
                                          <p:spTgt spid="553987">
                                            <p:txEl>
                                              <p:charRg st="137"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6" grpId="0"/>
      <p:bldP spid="553987"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501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操作系统内核以系统调用形式提供</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原语，应用程序通过该系统调用实现进程间的互斥。</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工程实践证明，利用信号量方法实现进程互斥是高效的，一直被广泛采用。</a:t>
            </a:r>
            <a:r>
              <a:rPr kumimoji="0" lang="zh-CN" altLang="en-US" sz="3200" b="0" i="0" u="none" strike="noStrike" kern="0" cap="none" spc="0" normalizeH="0" baseline="0" noProof="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5011">
                                            <p:txEl>
                                              <p:charRg st="0" end="50"/>
                                            </p:txEl>
                                          </p:spTgt>
                                        </p:tgtEl>
                                        <p:attrNameLst>
                                          <p:attrName>style.visibility</p:attrName>
                                        </p:attrNameLst>
                                      </p:cBhvr>
                                      <p:to>
                                        <p:strVal val="visible"/>
                                      </p:to>
                                    </p:set>
                                    <p:animEffect transition="in" filter="fade">
                                      <p:cBhvr>
                                        <p:cTn id="7" dur="2000"/>
                                        <p:tgtEl>
                                          <p:spTgt spid="555011">
                                            <p:txEl>
                                              <p:charRg st="0" end="5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5011">
                                            <p:txEl>
                                              <p:charRg st="51" end="86"/>
                                            </p:txEl>
                                          </p:spTgt>
                                        </p:tgtEl>
                                        <p:attrNameLst>
                                          <p:attrName>style.visibility</p:attrName>
                                        </p:attrNameLst>
                                      </p:cBhvr>
                                      <p:to>
                                        <p:strVal val="visible"/>
                                      </p:to>
                                    </p:set>
                                    <p:animEffect transition="in" filter="fade">
                                      <p:cBhvr>
                                        <p:cTn id="12" dur="2000"/>
                                        <p:tgtEl>
                                          <p:spTgt spid="555011">
                                            <p:txEl>
                                              <p:charRg st="51"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1"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80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Linux</a:t>
            </a: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中的信号量</a:t>
            </a:r>
            <a:endPar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pic>
        <p:nvPicPr>
          <p:cNvPr id="234499" name="Picture 4"/>
          <p:cNvPicPr>
            <a:picLocks noChangeAspect="1"/>
          </p:cNvPicPr>
          <p:nvPr>
            <p:ph type="body"/>
          </p:nvPr>
        </p:nvPicPr>
        <p:blipFill>
          <a:blip r:embed="rId1"/>
          <a:srcRect/>
          <a:stretch>
            <a:fillRect/>
          </a:stretch>
        </p:blipFill>
        <p:spPr>
          <a:xfrm>
            <a:off x="1676400" y="2667000"/>
            <a:ext cx="6477000" cy="3886200"/>
          </a:xfrm>
          <a:ln/>
        </p:spPr>
      </p:pic>
      <p:sp>
        <p:nvSpPr>
          <p:cNvPr id="108548" name="Text Box 5"/>
          <p:cNvSpPr txBox="1"/>
          <p:nvPr/>
        </p:nvSpPr>
        <p:spPr>
          <a:xfrm>
            <a:off x="685800" y="1676400"/>
            <a:ext cx="75438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t>Linux</a:t>
            </a:r>
            <a:r>
              <a:rPr lang="zh-CN" altLang="en-US" sz="2800" b="1" dirty="0"/>
              <a:t>中使用信号量实现进程间对共享资源的互斥访问，</a:t>
            </a:r>
            <a:r>
              <a:rPr lang="en-US" altLang="zh-CN" sz="2800" b="1" dirty="0"/>
              <a:t>Down()</a:t>
            </a:r>
            <a:r>
              <a:rPr lang="zh-CN" altLang="en-US" sz="2800" b="1" dirty="0"/>
              <a:t>和</a:t>
            </a:r>
            <a:r>
              <a:rPr lang="en-US" altLang="zh-CN" sz="2800" b="1" dirty="0"/>
              <a:t>Up</a:t>
            </a:r>
            <a:r>
              <a:rPr lang="zh-CN" altLang="en-US" sz="2800" b="1" dirty="0"/>
              <a:t>函数对应于</a:t>
            </a:r>
            <a:r>
              <a:rPr lang="en-US" altLang="zh-CN" sz="2800" b="1" dirty="0"/>
              <a:t>P</a:t>
            </a:r>
            <a:r>
              <a:rPr lang="zh-CN" altLang="en-US" sz="2800" b="1" dirty="0"/>
              <a:t>、</a:t>
            </a:r>
            <a:r>
              <a:rPr lang="en-US" altLang="zh-CN" sz="2800" b="1" dirty="0"/>
              <a:t>V</a:t>
            </a:r>
            <a:r>
              <a:rPr lang="zh-CN" altLang="en-US" sz="2800" b="1" dirty="0"/>
              <a:t>操作。</a:t>
            </a:r>
            <a:endParaRPr lang="zh-CN" altLang="en-US" sz="2800" b="1" dirty="0"/>
          </a:p>
        </p:txBody>
      </p:sp>
      <p:sp>
        <p:nvSpPr>
          <p:cNvPr id="108549" name="Text Box 7"/>
          <p:cNvSpPr txBox="1"/>
          <p:nvPr/>
        </p:nvSpPr>
        <p:spPr>
          <a:xfrm>
            <a:off x="5257800" y="3886200"/>
            <a:ext cx="19812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3300"/>
                </a:solidFill>
              </a:rPr>
              <a:t>等待的进程数</a:t>
            </a:r>
            <a:endParaRPr lang="zh-CN" altLang="en-US" sz="1800" b="1" dirty="0">
              <a:solidFill>
                <a:srgbClr val="003300"/>
              </a:solidFill>
            </a:endParaRPr>
          </a:p>
        </p:txBody>
      </p:sp>
      <p:sp>
        <p:nvSpPr>
          <p:cNvPr id="108550" name="Text Box 8"/>
          <p:cNvSpPr txBox="1"/>
          <p:nvPr/>
        </p:nvSpPr>
        <p:spPr>
          <a:xfrm>
            <a:off x="5562600" y="3429000"/>
            <a:ext cx="19812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3300"/>
                </a:solidFill>
              </a:rPr>
              <a:t>信号量的值</a:t>
            </a:r>
            <a:endParaRPr lang="zh-CN" altLang="en-US" sz="1800" b="1" dirty="0">
              <a:solidFill>
                <a:srgbClr val="003300"/>
              </a:solidFill>
            </a:endParaRPr>
          </a:p>
        </p:txBody>
      </p:sp>
      <p:sp>
        <p:nvSpPr>
          <p:cNvPr id="108551" name="Text Box 9"/>
          <p:cNvSpPr txBox="1"/>
          <p:nvPr/>
        </p:nvSpPr>
        <p:spPr>
          <a:xfrm>
            <a:off x="6934200" y="4281488"/>
            <a:ext cx="19812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3300"/>
                </a:solidFill>
              </a:rPr>
              <a:t>等待队列</a:t>
            </a:r>
            <a:endParaRPr lang="zh-CN" altLang="en-US" sz="1800" b="1" dirty="0">
              <a:solidFill>
                <a:srgbClr val="00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8082"/>
                                        </p:tgtEl>
                                        <p:attrNameLst>
                                          <p:attrName>style.visibility</p:attrName>
                                        </p:attrNameLst>
                                      </p:cBhvr>
                                      <p:to>
                                        <p:strVal val="visible"/>
                                      </p:to>
                                    </p:set>
                                    <p:animEffect transition="in" filter="fade">
                                      <p:cBhvr>
                                        <p:cTn id="7" dur="2000"/>
                                        <p:tgtEl>
                                          <p:spTgt spid="5580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4499"/>
                                        </p:tgtEl>
                                        <p:attrNameLst>
                                          <p:attrName>style.visibility</p:attrName>
                                        </p:attrNameLst>
                                      </p:cBhvr>
                                      <p:to>
                                        <p:strVal val="visible"/>
                                      </p:to>
                                    </p:set>
                                    <p:animEffect transition="in" filter="fade">
                                      <p:cBhvr>
                                        <p:cTn id="12" dur="2000"/>
                                        <p:tgtEl>
                                          <p:spTgt spid="234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p:nvPr/>
        </p:nvSpPr>
        <p:spPr>
          <a:xfrm>
            <a:off x="76200" y="762000"/>
            <a:ext cx="8991600" cy="60960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80808"/>
                </a:solidFill>
              </a:rPr>
              <a:t>void OSSemPend (OS_EVENT *pevent, INT16U timeout, INT8U *err)</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if (</a:t>
            </a:r>
            <a:r>
              <a:rPr lang="en-US" altLang="zh-CN" sz="2000" b="1" dirty="0">
                <a:solidFill>
                  <a:srgbClr val="FF0000"/>
                </a:solidFill>
              </a:rPr>
              <a:t>pevent-&gt;OSEventCnt &gt; 0) { //</a:t>
            </a:r>
            <a:r>
              <a:rPr lang="zh-CN" altLang="en-US" sz="2000" b="1" dirty="0">
                <a:solidFill>
                  <a:srgbClr val="FF0000"/>
                </a:solidFill>
              </a:rPr>
              <a:t>信号量值大于</a:t>
            </a:r>
            <a:r>
              <a:rPr lang="en-US" altLang="zh-CN" sz="2000" b="1" dirty="0">
                <a:solidFill>
                  <a:srgbClr val="FF0000"/>
                </a:solidFill>
              </a:rPr>
              <a:t>0</a:t>
            </a:r>
            <a:r>
              <a:rPr lang="zh-CN" altLang="en-US" sz="2000" b="1" dirty="0">
                <a:solidFill>
                  <a:srgbClr val="FF0000"/>
                </a:solidFill>
              </a:rPr>
              <a:t>，成功获得信号量并返回</a:t>
            </a:r>
            <a:endParaRPr lang="zh-CN" altLang="en-US" sz="2000" b="1" dirty="0">
              <a:solidFill>
                <a:srgbClr val="FF0000"/>
              </a:solidFill>
            </a:endParaRPr>
          </a:p>
          <a:p>
            <a:pPr marL="0" lvl="0" indent="0" eaLnBrk="1" hangingPunct="1">
              <a:spcBef>
                <a:spcPct val="0"/>
              </a:spcBef>
              <a:buClrTx/>
              <a:buSzTx/>
              <a:buFontTx/>
              <a:buNone/>
            </a:pPr>
            <a:r>
              <a:rPr lang="zh-CN" altLang="en-US" sz="2000" b="1" dirty="0">
                <a:solidFill>
                  <a:srgbClr val="FF0000"/>
                </a:solidFill>
              </a:rPr>
              <a:t>	</a:t>
            </a:r>
            <a:r>
              <a:rPr lang="en-US" altLang="zh-CN" sz="2000" b="1" dirty="0">
                <a:solidFill>
                  <a:srgbClr val="FF0000"/>
                </a:solidFill>
              </a:rPr>
              <a:t>pevent-&gt;OSEventCnt---; </a:t>
            </a:r>
            <a:endParaRPr lang="en-US" altLang="zh-CN" sz="2000" b="1" dirty="0">
              <a:solidFill>
                <a:srgbClr val="FF0000"/>
              </a:solidFill>
            </a:endParaRPr>
          </a:p>
          <a:p>
            <a:pPr marL="0" lvl="0" indent="0" eaLnBrk="1" hangingPunct="1">
              <a:spcBef>
                <a:spcPct val="0"/>
              </a:spcBef>
              <a:buClrTx/>
              <a:buSzTx/>
              <a:buFontTx/>
              <a:buNone/>
            </a:pPr>
            <a:r>
              <a:rPr lang="en-US" altLang="zh-CN" sz="2000" b="1" dirty="0">
                <a:solidFill>
                  <a:srgbClr val="FF0000"/>
                </a:solidFill>
              </a:rPr>
              <a:t>	*err = OS_NO_ERR;</a:t>
            </a:r>
            <a:endParaRPr lang="en-US" altLang="zh-CN" sz="2000" b="1" dirty="0">
              <a:solidFill>
                <a:srgbClr val="FF0000"/>
              </a:solidFill>
            </a:endParaRPr>
          </a:p>
          <a:p>
            <a:pPr marL="0" lvl="0" indent="0" eaLnBrk="1" hangingPunct="1">
              <a:spcBef>
                <a:spcPct val="0"/>
              </a:spcBef>
              <a:buClrTx/>
              <a:buSzTx/>
              <a:buFontTx/>
              <a:buNone/>
            </a:pPr>
            <a:r>
              <a:rPr lang="en-US" altLang="zh-CN" sz="2000" b="1" dirty="0">
                <a:solidFill>
                  <a:srgbClr val="FF0000"/>
                </a:solidFill>
              </a:rPr>
              <a:t>	return;} </a:t>
            </a:r>
            <a:endParaRPr lang="en-US" altLang="zh-CN" sz="2000" b="1" dirty="0">
              <a:solidFill>
                <a:srgbClr val="FF0000"/>
              </a:solidFill>
            </a:endParaRPr>
          </a:p>
          <a:p>
            <a:pPr marL="0" lvl="0" indent="0" eaLnBrk="1" hangingPunct="1">
              <a:spcBef>
                <a:spcPct val="0"/>
              </a:spcBef>
              <a:buClrTx/>
              <a:buSzTx/>
              <a:buFontTx/>
              <a:buNone/>
            </a:pPr>
            <a:r>
              <a:rPr lang="en-US" altLang="zh-CN" sz="2000" b="1" dirty="0">
                <a:solidFill>
                  <a:srgbClr val="080808"/>
                </a:solidFill>
              </a:rPr>
              <a:t>OSTCBCur-&gt;OSTCBStat |= OS_STAT_SEM; //</a:t>
            </a:r>
            <a:r>
              <a:rPr lang="zh-CN" altLang="en-US" sz="2000" b="1" dirty="0">
                <a:solidFill>
                  <a:srgbClr val="080808"/>
                </a:solidFill>
              </a:rPr>
              <a:t>设置任务状态为等待信号量</a:t>
            </a:r>
            <a:endParaRPr lang="zh-CN" altLang="en-US"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OSTCBCur-&gt;OSTCBDly = timeout; //</a:t>
            </a:r>
            <a:r>
              <a:rPr lang="zh-CN" altLang="en-US" sz="2000" b="1" dirty="0">
                <a:solidFill>
                  <a:srgbClr val="080808"/>
                </a:solidFill>
              </a:rPr>
              <a:t>设置等待时限</a:t>
            </a:r>
            <a:endParaRPr lang="zh-CN" altLang="en-US" sz="2000" b="1" dirty="0">
              <a:solidFill>
                <a:srgbClr val="080808"/>
              </a:solidFill>
            </a:endParaRPr>
          </a:p>
          <a:p>
            <a:pPr marL="0" lvl="0" indent="0" eaLnBrk="1" hangingPunct="1">
              <a:spcBef>
                <a:spcPct val="0"/>
              </a:spcBef>
              <a:buClrTx/>
              <a:buSzTx/>
              <a:buFontTx/>
              <a:buNone/>
            </a:pPr>
            <a:r>
              <a:rPr lang="en-US" altLang="zh-CN" sz="2000" b="1" dirty="0">
                <a:solidFill>
                  <a:srgbClr val="FF0000"/>
                </a:solidFill>
              </a:rPr>
              <a:t>OS_EventTaskWait(pevent);//</a:t>
            </a:r>
            <a:r>
              <a:rPr lang="zh-CN" altLang="en-US" sz="2000" b="1" dirty="0">
                <a:solidFill>
                  <a:srgbClr val="FF0000"/>
                </a:solidFill>
              </a:rPr>
              <a:t>将任务放置到信号量的等待列表中</a:t>
            </a:r>
            <a:r>
              <a:rPr lang="zh-CN" altLang="en-US" sz="2000" b="1" dirty="0">
                <a:solidFill>
                  <a:srgbClr val="080808"/>
                </a:solidFill>
              </a:rPr>
              <a:t> </a:t>
            </a:r>
            <a:endParaRPr lang="zh-CN" altLang="en-US" sz="2000" b="1" dirty="0">
              <a:solidFill>
                <a:srgbClr val="080808"/>
              </a:solidFill>
            </a:endParaRPr>
          </a:p>
          <a:p>
            <a:pPr marL="0" lvl="0" indent="0" eaLnBrk="1" hangingPunct="1">
              <a:spcBef>
                <a:spcPct val="0"/>
              </a:spcBef>
              <a:buClrTx/>
              <a:buSzTx/>
              <a:buFontTx/>
              <a:buNone/>
            </a:pPr>
            <a:r>
              <a:rPr lang="en-US" altLang="zh-CN" sz="2000" b="1" dirty="0">
                <a:solidFill>
                  <a:srgbClr val="FF0000"/>
                </a:solidFill>
              </a:rPr>
              <a:t>OS_Sched();</a:t>
            </a:r>
            <a:r>
              <a:rPr lang="en-US" altLang="zh-CN" sz="2000" b="1" dirty="0">
                <a:solidFill>
                  <a:srgbClr val="080808"/>
                </a:solidFill>
              </a:rPr>
              <a:t> //</a:t>
            </a:r>
            <a:r>
              <a:rPr lang="zh-CN" altLang="en-US" sz="2000" b="1" dirty="0">
                <a:solidFill>
                  <a:srgbClr val="080808"/>
                </a:solidFill>
              </a:rPr>
              <a:t>内核实施任务调度，系统切换到另一就绪任务执行</a:t>
            </a:r>
            <a:endParaRPr lang="zh-CN" altLang="en-US"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if (OSTCBCur-&gt;OSTCBStat &amp; OS_STAT_SEM) { //</a:t>
            </a:r>
            <a:r>
              <a:rPr lang="zh-CN" altLang="en-US" sz="2000" b="1" dirty="0">
                <a:solidFill>
                  <a:srgbClr val="080808"/>
                </a:solidFill>
              </a:rPr>
              <a:t>判断任务恢复执行的原因，</a:t>
            </a:r>
            <a:endParaRPr lang="zh-CN" altLang="en-US" sz="2000" b="1" dirty="0">
              <a:solidFill>
                <a:srgbClr val="080808"/>
              </a:solidFill>
            </a:endParaRPr>
          </a:p>
          <a:p>
            <a:pPr marL="0" lvl="0" indent="0" eaLnBrk="1" hangingPunct="1">
              <a:spcBef>
                <a:spcPct val="0"/>
              </a:spcBef>
              <a:buClrTx/>
              <a:buSzTx/>
              <a:buFontTx/>
              <a:buNone/>
            </a:pPr>
            <a:r>
              <a:rPr lang="zh-CN" altLang="en-US" sz="2000" b="1" dirty="0">
                <a:solidFill>
                  <a:srgbClr val="080808"/>
                </a:solidFill>
              </a:rPr>
              <a:t>如果等待时限超时但仍然未获得信号量，则返回超时信息</a:t>
            </a:r>
            <a:endParaRPr lang="zh-CN" altLang="en-US" sz="2000" b="1" dirty="0">
              <a:solidFill>
                <a:srgbClr val="080808"/>
              </a:solidFill>
            </a:endParaRPr>
          </a:p>
          <a:p>
            <a:pPr marL="0" lvl="0" indent="0" eaLnBrk="1" hangingPunct="1">
              <a:spcBef>
                <a:spcPct val="0"/>
              </a:spcBef>
              <a:buClrTx/>
              <a:buSzTx/>
              <a:buFontTx/>
              <a:buNone/>
            </a:pPr>
            <a:r>
              <a:rPr lang="zh-CN" altLang="en-US" sz="2000" b="1" dirty="0">
                <a:solidFill>
                  <a:srgbClr val="080808"/>
                </a:solidFill>
              </a:rPr>
              <a:t>	</a:t>
            </a:r>
            <a:r>
              <a:rPr lang="en-US" altLang="zh-CN" sz="2000" b="1" dirty="0">
                <a:solidFill>
                  <a:srgbClr val="080808"/>
                </a:solidFill>
              </a:rPr>
              <a:t>OSEventTO(pevent); </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	*err = OS_TIMEOUT;</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	return;}</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	OSTCBCur-&gt;OSTCBEventPtr = (OS_EVENT *)0; </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	*err = OS_NO_ERR;</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a:t>
            </a:r>
            <a:endParaRPr lang="en-US" altLang="zh-CN" sz="2000" b="1" dirty="0">
              <a:solidFill>
                <a:srgbClr val="080808"/>
              </a:solidFill>
            </a:endParaRPr>
          </a:p>
        </p:txBody>
      </p:sp>
      <p:sp>
        <p:nvSpPr>
          <p:cNvPr id="109571" name="Text Box 3"/>
          <p:cNvSpPr txBox="1"/>
          <p:nvPr/>
        </p:nvSpPr>
        <p:spPr>
          <a:xfrm>
            <a:off x="304800" y="166688"/>
            <a:ext cx="81534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p>
        </p:txBody>
      </p:sp>
      <p:sp>
        <p:nvSpPr>
          <p:cNvPr id="109572" name="Text Box 4"/>
          <p:cNvSpPr txBox="1"/>
          <p:nvPr/>
        </p:nvSpPr>
        <p:spPr>
          <a:xfrm>
            <a:off x="381000" y="106363"/>
            <a:ext cx="830580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zh-CN" altLang="en-US" b="1" dirty="0">
                <a:solidFill>
                  <a:schemeClr val="folHlink"/>
                </a:solidFill>
              </a:rPr>
              <a:t>获取信号量源码举例（</a:t>
            </a:r>
            <a:r>
              <a:rPr lang="en-US" altLang="zh-CN" b="1" dirty="0">
                <a:solidFill>
                  <a:schemeClr val="folHlink"/>
                </a:solidFill>
              </a:rPr>
              <a:t>UC OS</a:t>
            </a:r>
            <a:r>
              <a:rPr lang="zh-CN" altLang="en-US" b="1" dirty="0">
                <a:solidFill>
                  <a:schemeClr val="folHlink"/>
                </a:solidFill>
              </a:rPr>
              <a:t>）</a:t>
            </a:r>
            <a:endParaRPr lang="zh-CN" altLang="en-US" b="1" dirty="0">
              <a:solidFill>
                <a:schemeClr val="folHlink"/>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62" name="Rectangle 2"/>
          <p:cNvSpPr>
            <a:spLocks noGrp="1" noRot="1" noChangeArrowheads="1"/>
          </p:cNvSpPr>
          <p:nvPr>
            <p:ph type="title"/>
          </p:nvPr>
        </p:nvSpPr>
        <p:spPr>
          <a:xfrm>
            <a:off x="533400" y="228600"/>
            <a:ext cx="8077200" cy="762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释放一个信号量</a:t>
            </a:r>
            <a:r>
              <a:rPr kumimoji="0" lang="en-US" altLang="zh-CN" sz="36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OSSemPost()</a:t>
            </a:r>
            <a:r>
              <a:rPr kumimoji="0" lang="en-US" altLang="zh-CN" sz="3600" b="0"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 </a:t>
            </a:r>
            <a:endParaRPr kumimoji="0" lang="en-US" altLang="zh-CN" sz="3600" b="0"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110595" name="Rectangle 3"/>
          <p:cNvSpPr/>
          <p:nvPr/>
        </p:nvSpPr>
        <p:spPr>
          <a:xfrm>
            <a:off x="152400" y="1066800"/>
            <a:ext cx="8534400" cy="57912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111111"/>
                </a:solidFill>
              </a:rPr>
              <a:t>INT8U OSSemPost (OS_EVENT *pevent)</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FF0000"/>
                </a:solidFill>
              </a:rPr>
              <a:t>if (pevent-&gt;OSEventGrp!=0x00) { </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a:t>
            </a:r>
            <a:r>
              <a:rPr lang="zh-CN" altLang="en-US" sz="2400" b="1" dirty="0">
                <a:solidFill>
                  <a:srgbClr val="FF0000"/>
                </a:solidFill>
              </a:rPr>
              <a:t>如果有任务在等待该信号量</a:t>
            </a:r>
            <a:endParaRPr lang="zh-CN" altLang="en-US"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OS_EventTaskRdy(pevent, (void *)0, OS_STAT_SEM); </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a:t>
            </a:r>
            <a:r>
              <a:rPr lang="zh-CN" altLang="en-US" sz="2400" b="1" dirty="0">
                <a:solidFill>
                  <a:srgbClr val="FF0000"/>
                </a:solidFill>
              </a:rPr>
              <a:t>使等待任务列表中优先级最高的任务就绪</a:t>
            </a:r>
            <a:endParaRPr lang="zh-CN" altLang="en-US"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OS_Sched(); //</a:t>
            </a:r>
            <a:r>
              <a:rPr lang="zh-CN" altLang="en-US" sz="2400" b="1" dirty="0">
                <a:solidFill>
                  <a:srgbClr val="111111"/>
                </a:solidFill>
              </a:rPr>
              <a:t>内核实施任务调度</a:t>
            </a:r>
            <a:endParaRPr lang="zh-CN" altLang="en-US"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return (OS_NO_ERR);//</a:t>
            </a:r>
            <a:r>
              <a:rPr lang="zh-CN" altLang="en-US" sz="2400" b="1" dirty="0">
                <a:solidFill>
                  <a:srgbClr val="111111"/>
                </a:solidFill>
              </a:rPr>
              <a:t>成功返回</a:t>
            </a:r>
            <a:endParaRPr lang="zh-CN" altLang="en-US" sz="2400" b="1" dirty="0">
              <a:solidFill>
                <a:srgbClr val="111111"/>
              </a:solidFill>
            </a:endParaRPr>
          </a:p>
          <a:p>
            <a:pPr marL="0" lvl="0" indent="0" eaLnBrk="1" hangingPunct="1">
              <a:spcBef>
                <a:spcPct val="0"/>
              </a:spcBef>
              <a:buClrTx/>
              <a:buSzTx/>
              <a:buFontTx/>
              <a:buNone/>
            </a:pPr>
            <a:r>
              <a:rPr lang="zh-CN" altLang="en-US" sz="2400" b="1" dirty="0">
                <a:solidFill>
                  <a:srgbClr val="111111"/>
                </a:solidFill>
              </a:rPr>
              <a:t>	</a:t>
            </a:r>
            <a:r>
              <a:rPr lang="en-US" altLang="zh-CN" sz="2400" b="1" dirty="0">
                <a:solidFill>
                  <a:srgbClr val="111111"/>
                </a:solidFill>
              </a:rPr>
              <a:t>} </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if (pevent-&gt;OSEventCnt &lt; 65535) {</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a:t>
            </a:r>
            <a:r>
              <a:rPr lang="zh-CN" altLang="en-US" sz="2400" b="1" dirty="0">
                <a:solidFill>
                  <a:srgbClr val="111111"/>
                </a:solidFill>
              </a:rPr>
              <a:t>如果没有任务等待该信号量，并且信号量的值未溢出</a:t>
            </a:r>
            <a:endParaRPr lang="zh-CN" altLang="en-US" sz="2400" b="1" dirty="0">
              <a:solidFill>
                <a:srgbClr val="111111"/>
              </a:solidFill>
            </a:endParaRPr>
          </a:p>
          <a:p>
            <a:pPr marL="0" lvl="0" indent="0" eaLnBrk="1" hangingPunct="1">
              <a:spcBef>
                <a:spcPct val="0"/>
              </a:spcBef>
              <a:buClrTx/>
              <a:buSzTx/>
              <a:buFontTx/>
              <a:buNone/>
            </a:pPr>
            <a:r>
              <a:rPr lang="zh-CN" altLang="en-US" sz="2400" b="1" dirty="0">
                <a:solidFill>
                  <a:srgbClr val="111111"/>
                </a:solidFill>
              </a:rPr>
              <a:t>	</a:t>
            </a:r>
            <a:r>
              <a:rPr lang="en-US" altLang="zh-CN" sz="2400" b="1" dirty="0">
                <a:solidFill>
                  <a:srgbClr val="FF0000"/>
                </a:solidFill>
              </a:rPr>
              <a:t>pevent-&gt;OSEventCnt++; //</a:t>
            </a:r>
            <a:r>
              <a:rPr lang="zh-CN" altLang="en-US" sz="2400" b="1" dirty="0">
                <a:solidFill>
                  <a:srgbClr val="FF0000"/>
                </a:solidFill>
              </a:rPr>
              <a:t>信号量的值加</a:t>
            </a:r>
            <a:r>
              <a:rPr lang="en-US" altLang="zh-CN" sz="2400" b="1" dirty="0">
                <a:solidFill>
                  <a:srgbClr val="FF0000"/>
                </a:solidFill>
              </a:rPr>
              <a:t>1</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111111"/>
                </a:solidFill>
              </a:rPr>
              <a:t>	return (OS_NO_ERR);//</a:t>
            </a:r>
            <a:r>
              <a:rPr lang="zh-CN" altLang="en-US" sz="2400" b="1" dirty="0">
                <a:solidFill>
                  <a:srgbClr val="111111"/>
                </a:solidFill>
              </a:rPr>
              <a:t>成功返回</a:t>
            </a:r>
            <a:endParaRPr lang="zh-CN" altLang="en-US" sz="2400" b="1" dirty="0">
              <a:solidFill>
                <a:srgbClr val="111111"/>
              </a:solidFill>
            </a:endParaRPr>
          </a:p>
          <a:p>
            <a:pPr marL="0" lvl="0" indent="0" eaLnBrk="1" hangingPunct="1">
              <a:spcBef>
                <a:spcPct val="0"/>
              </a:spcBef>
              <a:buClrTx/>
              <a:buSzTx/>
              <a:buFontTx/>
              <a:buNone/>
            </a:pPr>
            <a:r>
              <a:rPr lang="zh-CN" altLang="en-US" sz="2400" b="1" dirty="0">
                <a:solidFill>
                  <a:srgbClr val="111111"/>
                </a:solidFill>
              </a:rPr>
              <a:t>	</a:t>
            </a:r>
            <a:r>
              <a:rPr lang="en-US" altLang="zh-CN" sz="2400" b="1" dirty="0">
                <a:solidFill>
                  <a:srgbClr val="111111"/>
                </a:solidFill>
              </a:rPr>
              <a:t>} </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	return (OS_SEM_OVF);//</a:t>
            </a:r>
            <a:r>
              <a:rPr lang="zh-CN" altLang="en-US" sz="2400" b="1" dirty="0">
                <a:solidFill>
                  <a:srgbClr val="111111"/>
                </a:solidFill>
              </a:rPr>
              <a:t>信号量溢出</a:t>
            </a:r>
            <a:endParaRPr lang="zh-CN" altLang="en-US"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a:t>
            </a:r>
            <a:r>
              <a:rPr lang="en-US" altLang="zh-CN" sz="2400" dirty="0">
                <a:solidFill>
                  <a:srgbClr val="111111"/>
                </a:solidFill>
              </a:rPr>
              <a:t> </a:t>
            </a:r>
            <a:endParaRPr lang="en-US" altLang="zh-CN" sz="2400" dirty="0">
              <a:solidFill>
                <a:srgbClr val="11111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4162"/>
                                        </p:tgtEl>
                                        <p:attrNameLst>
                                          <p:attrName>style.visibility</p:attrName>
                                        </p:attrNameLst>
                                      </p:cBhvr>
                                      <p:to>
                                        <p:strVal val="visible"/>
                                      </p:to>
                                    </p:set>
                                    <p:animEffect transition="in" filter="fade">
                                      <p:cBhvr>
                                        <p:cTn id="7" dur="2000"/>
                                        <p:tgtEl>
                                          <p:spTgt spid="604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62"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noRot="1"/>
          </p:cNvSpPr>
          <p:nvPr>
            <p:ph type="title"/>
          </p:nvPr>
        </p:nvSpPr>
        <p:spPr>
          <a:xfrm>
            <a:off x="1350963" y="304800"/>
            <a:ext cx="7793037" cy="1143000"/>
          </a:xfrm>
          <a:ln/>
        </p:spPr>
        <p:txBody>
          <a:bodyPr vert="horz" wrap="square" lIns="91440" tIns="45720" rIns="91440" bIns="45720" anchor="ctr" anchorCtr="0"/>
          <a:p>
            <a:r>
              <a:rPr lang="en-US" altLang="zh-CN" b="1" dirty="0"/>
              <a:t>3</a:t>
            </a:r>
            <a:r>
              <a:rPr lang="zh-CN" altLang="en-US" b="1" dirty="0"/>
              <a:t>．</a:t>
            </a:r>
            <a:r>
              <a:rPr lang="en-US" altLang="zh-CN" b="1" dirty="0"/>
              <a:t>AND</a:t>
            </a:r>
            <a:r>
              <a:rPr lang="zh-CN" altLang="en-US" b="1" dirty="0"/>
              <a:t>型信号量</a:t>
            </a:r>
            <a:endParaRPr lang="zh-CN" altLang="en-US" b="1" dirty="0"/>
          </a:p>
        </p:txBody>
      </p:sp>
      <p:sp>
        <p:nvSpPr>
          <p:cNvPr id="407555" name="Rectangle 3"/>
          <p:cNvSpPr>
            <a:spLocks noGrp="1" noRot="1" noChangeArrowheads="1"/>
          </p:cNvSpPr>
          <p:nvPr>
            <p:ph idx="1"/>
          </p:nvPr>
        </p:nvSpPr>
        <p:spPr>
          <a:xfrm>
            <a:off x="304800" y="1600200"/>
            <a:ext cx="8610600" cy="4953000"/>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en-US" altLang="zh-CN" sz="28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n-lt"/>
                <a:ea typeface="+mn-ea"/>
                <a:cs typeface="+mn-cs"/>
              </a:rPr>
              <a:t>AND</a:t>
            </a:r>
            <a:r>
              <a:rPr kumimoji="0" lang="zh-CN" altLang="en-US" sz="28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n-lt"/>
                <a:ea typeface="+mn-ea"/>
                <a:cs typeface="+mn-cs"/>
              </a:rPr>
              <a:t>同步机制的基本思想</a:t>
            </a:r>
            <a:r>
              <a:rPr kumimoji="0" lang="zh-CN" altLang="en-US" sz="2800" b="0" i="0" u="none" strike="noStrike" kern="0" cap="none" spc="0" normalizeH="0" baseline="0" noProof="0" smtClean="0">
                <a:ln>
                  <a:noFill/>
                </a:ln>
                <a:solidFill>
                  <a:schemeClr val="tx1"/>
                </a:solidFill>
                <a:effectLst/>
                <a:uLnTx/>
                <a:uFillTx/>
                <a:latin typeface="+mn-lt"/>
                <a:ea typeface="+mn-ea"/>
                <a:cs typeface="+mn-cs"/>
              </a:rPr>
              <a:t>：</a:t>
            </a:r>
            <a:r>
              <a:rPr kumimoji="0" lang="zh-CN" altLang="en-US" sz="2800" b="1" i="0" u="none" strike="noStrike" kern="0" cap="none" spc="0" normalizeH="0" baseline="0" noProof="0" smtClean="0">
                <a:ln>
                  <a:noFill/>
                </a:ln>
                <a:solidFill>
                  <a:schemeClr val="tx1"/>
                </a:solidFill>
                <a:effectLst/>
                <a:uLnTx/>
                <a:uFillTx/>
                <a:latin typeface="+mn-lt"/>
                <a:ea typeface="+mn-ea"/>
                <a:cs typeface="+mn-cs"/>
              </a:rPr>
              <a:t>将进程在整个运行过程中需要的所有资源，一次性全都地分配给进程，待进程使用完后再一起释放。只要尚有一个资源未能分配给进程，其它所有可能为之分配的资源，也不分配给他。 </a:t>
            </a:r>
            <a:endParaRPr kumimoji="0" lang="zh-CN" altLang="en-US" sz="2800" b="1" i="0" u="none" strike="noStrike" kern="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n-lt"/>
                <a:ea typeface="+mn-ea"/>
                <a:cs typeface="+mn-cs"/>
              </a:rPr>
              <a:t>原子操作</a:t>
            </a:r>
            <a:r>
              <a:rPr kumimoji="0" lang="zh-CN" altLang="en-US" sz="2800" b="1" i="0" u="none" strike="noStrike" kern="0" cap="none" spc="0" normalizeH="0" baseline="0" noProof="0" smtClean="0">
                <a:ln>
                  <a:noFill/>
                </a:ln>
                <a:solidFill>
                  <a:schemeClr val="tx1"/>
                </a:solidFill>
                <a:effectLst/>
                <a:uLnTx/>
                <a:uFillTx/>
                <a:latin typeface="+mn-lt"/>
                <a:ea typeface="+mn-ea"/>
                <a:cs typeface="+mn-cs"/>
              </a:rPr>
              <a:t>：要么全部分配到进程，要么一个也不分配 </a:t>
            </a:r>
            <a:r>
              <a:rPr kumimoji="0" lang="en-US" altLang="zh-CN" sz="2800" b="1" i="0" u="none" strike="noStrike" kern="0" cap="none" spc="0" normalizeH="0" baseline="0" noProof="0" smtClean="0">
                <a:ln>
                  <a:noFill/>
                </a:ln>
                <a:solidFill>
                  <a:schemeClr val="tx1"/>
                </a:solidFill>
                <a:effectLst/>
                <a:uLnTx/>
                <a:uFillTx/>
                <a:latin typeface="+mn-lt"/>
                <a:ea typeface="+mn-ea"/>
                <a:cs typeface="+mn-cs"/>
              </a:rPr>
              <a:t>.</a:t>
            </a:r>
            <a:endParaRPr kumimoji="0" lang="en-US" altLang="zh-CN" sz="2800" b="1" i="0" u="none" strike="noStrike" kern="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rgbClr val="FF0000"/>
                </a:solidFill>
                <a:effectLst/>
                <a:uLnTx/>
                <a:uFillTx/>
                <a:latin typeface="+mn-lt"/>
                <a:ea typeface="+mn-ea"/>
                <a:cs typeface="+mn-cs"/>
              </a:rPr>
              <a:t>在</a:t>
            </a:r>
            <a:r>
              <a:rPr kumimoji="0" lang="en-US" altLang="zh-CN" sz="2800" b="1" i="0" u="none" strike="noStrike" kern="0" cap="none" spc="0" normalizeH="0" baseline="0" noProof="0" smtClean="0">
                <a:ln>
                  <a:noFill/>
                </a:ln>
                <a:solidFill>
                  <a:srgbClr val="FF0000"/>
                </a:solidFill>
                <a:effectLst/>
                <a:uLnTx/>
                <a:uFillTx/>
                <a:latin typeface="+mn-lt"/>
                <a:ea typeface="+mn-ea"/>
                <a:cs typeface="+mn-cs"/>
              </a:rPr>
              <a:t>wait</a:t>
            </a:r>
            <a:r>
              <a:rPr kumimoji="0" lang="zh-CN" altLang="en-US" sz="2800" b="1" i="0" u="none" strike="noStrike" kern="0" cap="none" spc="0" normalizeH="0" baseline="0" noProof="0" smtClean="0">
                <a:ln>
                  <a:noFill/>
                </a:ln>
                <a:solidFill>
                  <a:srgbClr val="FF0000"/>
                </a:solidFill>
                <a:effectLst/>
                <a:uLnTx/>
                <a:uFillTx/>
                <a:latin typeface="+mn-lt"/>
                <a:ea typeface="+mn-ea"/>
                <a:cs typeface="+mn-cs"/>
              </a:rPr>
              <a:t>操作中，增加了一个</a:t>
            </a:r>
            <a:r>
              <a:rPr kumimoji="0" lang="zh-CN" altLang="en-US" sz="2800" b="1" i="0" u="none" strike="noStrike" kern="0" cap="none" spc="0" normalizeH="0" baseline="0" noProof="0" smtClean="0">
                <a:ln>
                  <a:noFill/>
                </a:ln>
                <a:solidFill>
                  <a:srgbClr val="FF0000"/>
                </a:solidFill>
                <a:effectLst/>
                <a:uLnTx/>
                <a:uFillTx/>
                <a:latin typeface="Courier New" panose="02070309020205020404"/>
                <a:ea typeface="+mn-ea"/>
                <a:cs typeface="+mn-cs"/>
              </a:rPr>
              <a:t>“</a:t>
            </a:r>
            <a:r>
              <a:rPr kumimoji="0" lang="en-US" altLang="zh-CN" sz="2800" b="1" i="0" u="none" strike="noStrike" kern="0" cap="none" spc="0" normalizeH="0" baseline="0" noProof="0" smtClean="0">
                <a:ln>
                  <a:noFill/>
                </a:ln>
                <a:solidFill>
                  <a:srgbClr val="FF0000"/>
                </a:solidFill>
                <a:effectLst/>
                <a:uLnTx/>
                <a:uFillTx/>
                <a:latin typeface="+mn-lt"/>
                <a:ea typeface="+mn-ea"/>
                <a:cs typeface="+mn-cs"/>
              </a:rPr>
              <a:t>AND</a:t>
            </a:r>
            <a:r>
              <a:rPr kumimoji="0" lang="en-US" altLang="zh-CN" sz="2800" b="1" i="0" u="none" strike="noStrike" kern="0" cap="none" spc="0" normalizeH="0" baseline="0" noProof="0" smtClean="0">
                <a:ln>
                  <a:noFill/>
                </a:ln>
                <a:solidFill>
                  <a:srgbClr val="FF0000"/>
                </a:solidFill>
                <a:effectLst/>
                <a:uLnTx/>
                <a:uFillTx/>
                <a:latin typeface="Courier New" panose="02070309020205020404"/>
                <a:ea typeface="+mn-ea"/>
                <a:cs typeface="+mn-cs"/>
              </a:rPr>
              <a:t>”</a:t>
            </a:r>
            <a:r>
              <a:rPr kumimoji="0" lang="zh-CN" altLang="en-US" sz="2800" b="1" i="0" u="none" strike="noStrike" kern="0" cap="none" spc="0" normalizeH="0" baseline="0" noProof="0" smtClean="0">
                <a:ln>
                  <a:noFill/>
                </a:ln>
                <a:solidFill>
                  <a:srgbClr val="FF0000"/>
                </a:solidFill>
                <a:effectLst/>
                <a:uLnTx/>
                <a:uFillTx/>
                <a:latin typeface="+mn-lt"/>
                <a:ea typeface="+mn-ea"/>
                <a:cs typeface="+mn-cs"/>
              </a:rPr>
              <a:t>条件，故称为</a:t>
            </a:r>
            <a:r>
              <a:rPr kumimoji="0" lang="en-US" altLang="zh-CN" sz="2800" b="1" i="0" u="none" strike="noStrike" kern="0" cap="none" spc="0" normalizeH="0" baseline="0" noProof="0" smtClean="0">
                <a:ln>
                  <a:noFill/>
                </a:ln>
                <a:solidFill>
                  <a:srgbClr val="FF0000"/>
                </a:solidFill>
                <a:effectLst/>
                <a:uLnTx/>
                <a:uFillTx/>
                <a:latin typeface="+mn-lt"/>
                <a:ea typeface="+mn-ea"/>
                <a:cs typeface="+mn-cs"/>
              </a:rPr>
              <a:t>AND</a:t>
            </a:r>
            <a:r>
              <a:rPr kumimoji="0" lang="zh-CN" altLang="en-US" sz="2800" b="1" i="0" u="none" strike="noStrike" kern="0" cap="none" spc="0" normalizeH="0" baseline="0" noProof="0" smtClean="0">
                <a:ln>
                  <a:noFill/>
                </a:ln>
                <a:solidFill>
                  <a:srgbClr val="FF0000"/>
                </a:solidFill>
                <a:effectLst/>
                <a:uLnTx/>
                <a:uFillTx/>
                <a:latin typeface="+mn-lt"/>
                <a:ea typeface="+mn-ea"/>
                <a:cs typeface="+mn-cs"/>
              </a:rPr>
              <a:t>同步，或称为</a:t>
            </a:r>
            <a:r>
              <a:rPr kumimoji="0" lang="zh-CN" altLang="en-US" sz="2800" b="1" i="1" u="sng" strike="noStrike" kern="0" cap="none" spc="0" normalizeH="0" baseline="0" noProof="0" smtClean="0">
                <a:ln>
                  <a:noFill/>
                </a:ln>
                <a:solidFill>
                  <a:srgbClr val="0066FF"/>
                </a:solidFill>
                <a:effectLst>
                  <a:outerShdw blurRad="38100" dist="38100" dir="2700000" algn="tl">
                    <a:srgbClr val="C0C0C0"/>
                  </a:outerShdw>
                </a:effectLst>
                <a:uLnTx/>
                <a:uFillTx/>
                <a:latin typeface="+mn-lt"/>
                <a:ea typeface="+mn-ea"/>
                <a:cs typeface="+mn-cs"/>
              </a:rPr>
              <a:t>同时</a:t>
            </a:r>
            <a:r>
              <a:rPr kumimoji="0" lang="en-US" altLang="zh-CN" sz="2800" b="1" i="1" u="sng" strike="noStrike" kern="0" cap="none" spc="0" normalizeH="0" baseline="0" noProof="0" smtClean="0">
                <a:ln>
                  <a:noFill/>
                </a:ln>
                <a:solidFill>
                  <a:srgbClr val="0066FF"/>
                </a:solidFill>
                <a:effectLst>
                  <a:outerShdw blurRad="38100" dist="38100" dir="2700000" algn="tl">
                    <a:srgbClr val="C0C0C0"/>
                  </a:outerShdw>
                </a:effectLst>
                <a:uLnTx/>
                <a:uFillTx/>
                <a:latin typeface="+mn-lt"/>
                <a:ea typeface="+mn-ea"/>
                <a:cs typeface="+mn-cs"/>
              </a:rPr>
              <a:t>wait</a:t>
            </a:r>
            <a:r>
              <a:rPr kumimoji="0" lang="zh-CN" altLang="en-US"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cs typeface="+mn-cs"/>
              </a:rPr>
              <a:t>操作</a:t>
            </a:r>
            <a:r>
              <a:rPr kumimoji="0" lang="en-US" altLang="zh-CN"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smtClean="0">
                <a:ln>
                  <a:noFill/>
                </a:ln>
                <a:solidFill>
                  <a:srgbClr val="FF0000"/>
                </a:solidFill>
                <a:effectLst/>
                <a:uLnTx/>
                <a:uFillTx/>
                <a:latin typeface="+mn-lt"/>
                <a:ea typeface="+mn-ea"/>
                <a:cs typeface="+mn-cs"/>
              </a:rPr>
              <a:t> </a:t>
            </a:r>
            <a:endParaRPr kumimoji="0" lang="en-US" altLang="zh-CN" sz="2800" b="1" i="0" u="none" strike="noStrike" kern="0" cap="none" spc="0" normalizeH="0" baseline="0" noProof="0" smtClean="0">
              <a:ln>
                <a:noFill/>
              </a:ln>
              <a:solidFill>
                <a:srgbClr val="FF0000"/>
              </a:solidFill>
              <a:effectLst/>
              <a:uLnTx/>
              <a:uFillTx/>
              <a:latin typeface="+mn-lt"/>
              <a:ea typeface="+mn-ea"/>
              <a:cs typeface="+mn-cs"/>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noRot="1"/>
          </p:cNvSpPr>
          <p:nvPr>
            <p:ph/>
          </p:nvPr>
        </p:nvSpPr>
        <p:spPr>
          <a:xfrm>
            <a:off x="304800" y="381000"/>
            <a:ext cx="8534400" cy="6096000"/>
          </a:xfrm>
          <a:ln/>
        </p:spPr>
        <p:txBody>
          <a:bodyPr vert="horz" wrap="square" lIns="91440" tIns="45720" rIns="91440" bIns="45720" anchor="t" anchorCtr="0"/>
          <a:p>
            <a:pPr marL="952500" indent="-952500" algn="just">
              <a:buNone/>
            </a:pPr>
            <a:r>
              <a:rPr lang="en-US" altLang="zh-CN" sz="2400" b="1" dirty="0"/>
              <a:t>Swait</a:t>
            </a:r>
            <a:r>
              <a:rPr lang="zh-CN" altLang="en-US" sz="2400" b="1" dirty="0"/>
              <a:t>（</a:t>
            </a:r>
            <a:r>
              <a:rPr lang="en-US" altLang="zh-CN" sz="2400" b="1" dirty="0"/>
              <a:t>S1</a:t>
            </a:r>
            <a:r>
              <a:rPr lang="zh-CN" altLang="en-US" sz="2400" b="1" dirty="0"/>
              <a:t>，</a:t>
            </a:r>
            <a:r>
              <a:rPr lang="en-US" altLang="zh-CN" sz="2400" b="1" dirty="0"/>
              <a:t>S2</a:t>
            </a:r>
            <a:r>
              <a:rPr lang="zh-CN" altLang="en-US" sz="2400" b="1" dirty="0"/>
              <a:t>，</a:t>
            </a:r>
            <a:r>
              <a:rPr lang="en-US" altLang="zh-CN" sz="2400" b="1" dirty="0">
                <a:latin typeface="Courier New" panose="02070309020205020404" pitchFamily="49" charset="0"/>
              </a:rPr>
              <a:t>···</a:t>
            </a:r>
            <a:r>
              <a:rPr lang="zh-CN" altLang="en-US" sz="2400" b="1" dirty="0"/>
              <a:t>，</a:t>
            </a:r>
            <a:r>
              <a:rPr lang="en-US" altLang="zh-CN" sz="2400" b="1" dirty="0"/>
              <a:t>Sn </a:t>
            </a:r>
            <a:r>
              <a:rPr lang="zh-CN" altLang="en-US" sz="2400" b="1" dirty="0"/>
              <a:t>） </a:t>
            </a:r>
            <a:endParaRPr lang="zh-CN" altLang="en-US" sz="2400" b="1" dirty="0"/>
          </a:p>
          <a:p>
            <a:pPr marL="952500" indent="-952500" algn="just">
              <a:buNone/>
            </a:pPr>
            <a:r>
              <a:rPr lang="en-US" altLang="zh-CN" sz="2400" b="1" dirty="0"/>
              <a:t>{</a:t>
            </a:r>
            <a:endParaRPr lang="en-US" altLang="zh-CN" sz="2400" b="1" dirty="0"/>
          </a:p>
          <a:p>
            <a:pPr marL="952500" indent="-952500" algn="just">
              <a:buNone/>
            </a:pPr>
            <a:r>
              <a:rPr lang="en-US" altLang="zh-CN" sz="2400" b="1" dirty="0"/>
              <a:t>while(TRUE)</a:t>
            </a:r>
            <a:endParaRPr lang="en-US" altLang="zh-CN" sz="2400" b="1" dirty="0"/>
          </a:p>
          <a:p>
            <a:pPr marL="952500" indent="-952500" algn="just">
              <a:buNone/>
            </a:pPr>
            <a:r>
              <a:rPr lang="en-US" altLang="zh-CN" sz="2400" b="1" dirty="0"/>
              <a:t>	{</a:t>
            </a:r>
            <a:endParaRPr lang="en-US" altLang="zh-CN" sz="2400" b="1" dirty="0"/>
          </a:p>
          <a:p>
            <a:pPr marL="952500" indent="-952500" algn="just">
              <a:buNone/>
            </a:pPr>
            <a:r>
              <a:rPr lang="en-US" altLang="zh-CN" sz="2400" b="1" dirty="0"/>
              <a:t>	if(Si&gt;=1 &amp;&amp;…&amp;&amp;Sn&gt;=1){</a:t>
            </a:r>
            <a:endParaRPr lang="en-US" altLang="zh-CN" sz="2400" b="1" dirty="0"/>
          </a:p>
          <a:p>
            <a:pPr marL="952500" indent="-952500" algn="just">
              <a:buNone/>
            </a:pPr>
            <a:r>
              <a:rPr lang="en-US" altLang="zh-CN" sz="2400" b="1" dirty="0"/>
              <a:t>		for(i=1;i&lt;=n;i++) Si--;</a:t>
            </a:r>
            <a:endParaRPr lang="en-US" altLang="zh-CN" sz="2400" b="1" dirty="0"/>
          </a:p>
          <a:p>
            <a:pPr marL="952500" indent="-952500" algn="just">
              <a:buNone/>
            </a:pPr>
            <a:r>
              <a:rPr lang="en-US" altLang="zh-CN" sz="2400" b="1" dirty="0"/>
              <a:t>		break;</a:t>
            </a:r>
            <a:endParaRPr lang="en-US" altLang="zh-CN" sz="2400" b="1" dirty="0"/>
          </a:p>
          <a:p>
            <a:pPr marL="952500" indent="-952500" algn="just">
              <a:buNone/>
            </a:pPr>
            <a:r>
              <a:rPr lang="en-US" altLang="zh-CN" sz="2400" b="1" dirty="0"/>
              <a:t>		}</a:t>
            </a:r>
            <a:endParaRPr lang="en-US" altLang="zh-CN" sz="2400" b="1" dirty="0"/>
          </a:p>
          <a:p>
            <a:pPr marL="952500" indent="-952500" algn="just">
              <a:buNone/>
            </a:pPr>
            <a:r>
              <a:rPr lang="en-US" altLang="zh-CN" sz="2400" b="1" dirty="0"/>
              <a:t>else {place  the process  in  the waiting  queue  associated  with  the  first  Si  found  with  Si</a:t>
            </a:r>
            <a:r>
              <a:rPr lang="zh-CN" altLang="en-US" sz="2400" b="1" dirty="0"/>
              <a:t>＜</a:t>
            </a:r>
            <a:r>
              <a:rPr lang="en-US" altLang="zh-CN" sz="2400" b="1" dirty="0"/>
              <a:t>1  </a:t>
            </a:r>
            <a:r>
              <a:rPr lang="zh-CN" altLang="en-US" sz="2400" b="1" dirty="0"/>
              <a:t>，  </a:t>
            </a:r>
            <a:r>
              <a:rPr lang="en-US" altLang="zh-CN" sz="2400" b="1" dirty="0"/>
              <a:t>and  set  the      program  count  of  this  process  to  the  beginning  of  Swait  operation</a:t>
            </a:r>
            <a:endParaRPr lang="en-US" altLang="zh-CN" sz="2400" b="1" dirty="0"/>
          </a:p>
          <a:p>
            <a:pPr marL="952500" indent="-952500" algn="just">
              <a:buNone/>
            </a:pPr>
            <a:r>
              <a:rPr lang="en-US" altLang="zh-CN" sz="2400" b="1" dirty="0"/>
              <a:t>	}</a:t>
            </a:r>
            <a:endParaRPr lang="en-US" altLang="zh-CN" sz="2400" b="1" dirty="0"/>
          </a:p>
          <a:p>
            <a:pPr marL="952500" indent="-952500" algn="just">
              <a:buNone/>
            </a:pPr>
            <a:r>
              <a:rPr lang="en-US" altLang="zh-CN" sz="2400" b="1" dirty="0"/>
              <a:t>      }</a:t>
            </a:r>
            <a:endParaRPr lang="en-US" altLang="zh-CN" sz="2400" b="1" dirty="0"/>
          </a:p>
          <a:p>
            <a:pPr marL="952500" indent="-952500" algn="just">
              <a:buNone/>
            </a:pPr>
            <a:r>
              <a:rPr lang="en-US" altLang="zh-CN" sz="2400" b="1" dirty="0"/>
              <a:t>}</a:t>
            </a:r>
            <a:endParaRPr lang="en-US" altLang="zh-CN" sz="2400" b="1"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noRot="1"/>
          </p:cNvSpPr>
          <p:nvPr>
            <p:ph/>
          </p:nvPr>
        </p:nvSpPr>
        <p:spPr>
          <a:xfrm>
            <a:off x="301625" y="838200"/>
            <a:ext cx="8540750" cy="5870575"/>
          </a:xfrm>
          <a:ln/>
        </p:spPr>
        <p:txBody>
          <a:bodyPr vert="horz" wrap="square" lIns="91440" tIns="45720" rIns="91440" bIns="45720" anchor="t" anchorCtr="0"/>
          <a:p>
            <a:pPr marL="579755" indent="-579755" algn="just">
              <a:buNone/>
            </a:pPr>
            <a:r>
              <a:rPr lang="en-US" altLang="zh-CN" dirty="0"/>
              <a:t>Ssignal</a:t>
            </a:r>
            <a:r>
              <a:rPr lang="zh-CN" altLang="en-US" dirty="0"/>
              <a:t>（</a:t>
            </a:r>
            <a:r>
              <a:rPr lang="en-US" altLang="zh-CN" dirty="0"/>
              <a:t>S1</a:t>
            </a:r>
            <a:r>
              <a:rPr lang="zh-CN" altLang="en-US" dirty="0"/>
              <a:t>，</a:t>
            </a:r>
            <a:r>
              <a:rPr lang="en-US" altLang="zh-CN" dirty="0"/>
              <a:t>S2</a:t>
            </a:r>
            <a:r>
              <a:rPr lang="zh-CN" altLang="en-US" dirty="0"/>
              <a:t>，</a:t>
            </a:r>
            <a:r>
              <a:rPr lang="en-US" altLang="zh-CN" dirty="0">
                <a:latin typeface="Courier New" panose="02070309020205020404" pitchFamily="49" charset="0"/>
              </a:rPr>
              <a:t>···</a:t>
            </a:r>
            <a:r>
              <a:rPr lang="zh-CN" altLang="en-US" dirty="0"/>
              <a:t>，</a:t>
            </a:r>
            <a:r>
              <a:rPr lang="en-US" altLang="zh-CN" dirty="0"/>
              <a:t>Sn</a:t>
            </a:r>
            <a:r>
              <a:rPr lang="zh-CN" altLang="en-US" dirty="0"/>
              <a:t>）</a:t>
            </a:r>
            <a:endParaRPr lang="zh-CN" altLang="en-US" dirty="0"/>
          </a:p>
          <a:p>
            <a:pPr marL="579755" indent="-579755" algn="just">
              <a:buNone/>
            </a:pPr>
            <a:r>
              <a:rPr lang="en-US" altLang="zh-CN" dirty="0"/>
              <a:t> while(TRUE) {</a:t>
            </a:r>
            <a:endParaRPr lang="en-US" altLang="zh-CN" dirty="0"/>
          </a:p>
          <a:p>
            <a:pPr marL="579755" indent="-579755" algn="just">
              <a:buNone/>
            </a:pPr>
            <a:r>
              <a:rPr lang="en-US" altLang="zh-CN" dirty="0"/>
              <a:t>	for (i=1;i&lt;=n;i++) {</a:t>
            </a:r>
            <a:endParaRPr lang="en-US" altLang="zh-CN" dirty="0"/>
          </a:p>
          <a:p>
            <a:pPr marL="579755" indent="-579755" algn="just">
              <a:buNone/>
            </a:pPr>
            <a:r>
              <a:rPr lang="en-US" altLang="zh-CN" dirty="0"/>
              <a:t>		Si++;</a:t>
            </a:r>
            <a:endParaRPr lang="en-US" altLang="zh-CN" dirty="0"/>
          </a:p>
          <a:p>
            <a:pPr marL="579755" indent="-579755" algn="just">
              <a:buNone/>
            </a:pPr>
            <a:r>
              <a:rPr lang="en-US" altLang="zh-CN" dirty="0"/>
              <a:t>		Remove  all  the  process  waiting  in  the  queue  associated  with  Si  into  the  ready  queue</a:t>
            </a:r>
            <a:r>
              <a:rPr lang="zh-CN" altLang="en-US" dirty="0"/>
              <a:t>。</a:t>
            </a:r>
            <a:endParaRPr lang="zh-CN" altLang="en-US" dirty="0"/>
          </a:p>
          <a:p>
            <a:pPr marL="579755" indent="-579755" algn="just">
              <a:buNone/>
            </a:pPr>
            <a:r>
              <a:rPr lang="en-US" altLang="zh-CN" dirty="0"/>
              <a:t>     }</a:t>
            </a:r>
            <a:endParaRPr lang="en-US" altLang="zh-CN" dirty="0"/>
          </a:p>
          <a:p>
            <a:pPr marL="579755" indent="-579755" algn="just">
              <a:buNone/>
            </a:pPr>
            <a:r>
              <a:rPr lang="en-US" altLang="zh-CN" dirty="0"/>
              <a:t>  }</a:t>
            </a:r>
            <a:endParaRPr lang="en-US" altLang="zh-CN" dirty="0"/>
          </a:p>
          <a:p>
            <a:pPr marL="579755" indent="-579755" algn="just">
              <a:buNone/>
            </a:pPr>
            <a:r>
              <a:rPr lang="en-US" altLang="zh-CN" dirty="0"/>
              <a:t>}</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noRot="1"/>
          </p:cNvSpPr>
          <p:nvPr>
            <p:ph type="title"/>
          </p:nvPr>
        </p:nvSpPr>
        <p:spPr>
          <a:xfrm>
            <a:off x="685800" y="381000"/>
            <a:ext cx="7772400" cy="381000"/>
          </a:xfrm>
          <a:ln/>
        </p:spPr>
        <p:txBody>
          <a:bodyPr vert="horz" wrap="square" lIns="91440" tIns="45720" rIns="91440" bIns="45720" anchor="ctr" anchorCtr="0"/>
          <a:p>
            <a:r>
              <a:rPr lang="en-US" altLang="zh-CN" b="1" dirty="0"/>
              <a:t>4</a:t>
            </a:r>
            <a:r>
              <a:rPr lang="zh-CN" altLang="en-US" b="1" dirty="0"/>
              <a:t>．信号量集</a:t>
            </a:r>
            <a:endParaRPr lang="zh-CN" altLang="en-US" b="1" dirty="0"/>
          </a:p>
        </p:txBody>
      </p:sp>
      <p:sp>
        <p:nvSpPr>
          <p:cNvPr id="114691" name="Rectangle 3"/>
          <p:cNvSpPr>
            <a:spLocks noGrp="1" noRot="1"/>
          </p:cNvSpPr>
          <p:nvPr>
            <p:ph idx="1"/>
          </p:nvPr>
        </p:nvSpPr>
        <p:spPr>
          <a:xfrm>
            <a:off x="304800" y="1828800"/>
            <a:ext cx="8610600" cy="4876800"/>
          </a:xfrm>
          <a:ln>
            <a:solidFill>
              <a:schemeClr val="bg1">
                <a:alpha val="100000"/>
              </a:schemeClr>
            </a:solidFill>
            <a:miter lim="800000"/>
          </a:ln>
        </p:spPr>
        <p:txBody>
          <a:bodyPr vert="horz" wrap="square" lIns="91440" tIns="45720" rIns="91440" bIns="45720" anchor="t" anchorCtr="0"/>
          <a:p>
            <a:pPr marL="386080" indent="-386080">
              <a:lnSpc>
                <a:spcPct val="110000"/>
              </a:lnSpc>
            </a:pPr>
            <a:r>
              <a:rPr lang="zh-CN" altLang="en-US" b="1" dirty="0"/>
              <a:t>在记录型信号量机制中，</a:t>
            </a:r>
            <a:r>
              <a:rPr lang="en-US" altLang="zh-CN" b="1" dirty="0"/>
              <a:t>wait(S)</a:t>
            </a:r>
            <a:r>
              <a:rPr lang="zh-CN" altLang="en-US" b="1" dirty="0"/>
              <a:t>或</a:t>
            </a:r>
            <a:r>
              <a:rPr lang="en-US" altLang="zh-CN" b="1" dirty="0"/>
              <a:t>signal(S)</a:t>
            </a:r>
            <a:r>
              <a:rPr lang="zh-CN" altLang="en-US" b="1" dirty="0"/>
              <a:t>操作仅能对信号量施以加</a:t>
            </a:r>
            <a:r>
              <a:rPr lang="en-US" altLang="zh-CN" b="1" dirty="0"/>
              <a:t>1 </a:t>
            </a:r>
            <a:r>
              <a:rPr lang="zh-CN" altLang="en-US" b="1" dirty="0"/>
              <a:t>或减</a:t>
            </a:r>
            <a:r>
              <a:rPr lang="en-US" altLang="zh-CN" b="1" dirty="0"/>
              <a:t>1 </a:t>
            </a:r>
            <a:r>
              <a:rPr lang="zh-CN" altLang="en-US" b="1" dirty="0"/>
              <a:t>操作，意味着每次只能获得或释放一个单位的临界资源。</a:t>
            </a:r>
            <a:endParaRPr lang="zh-CN" altLang="en-US" b="1" dirty="0"/>
          </a:p>
          <a:p>
            <a:pPr marL="386080" indent="-386080">
              <a:lnSpc>
                <a:spcPct val="110000"/>
              </a:lnSpc>
            </a:pPr>
            <a:r>
              <a:rPr lang="zh-CN" altLang="en-US" b="1" dirty="0"/>
              <a:t>在每次分配时，采用信号量集来控制，可以分配多个资源。</a:t>
            </a:r>
            <a:endParaRPr lang="zh-CN" altLang="en-US" b="1" dirty="0"/>
          </a:p>
          <a:p>
            <a:pPr marL="386080" indent="-386080">
              <a:lnSpc>
                <a:spcPct val="110000"/>
              </a:lnSpc>
            </a:pPr>
            <a:endParaRPr lang="zh-CN" altLang="en-US" b="1" dirty="0"/>
          </a:p>
          <a:p>
            <a:pPr marL="386080" indent="-386080" algn="just">
              <a:lnSpc>
                <a:spcPct val="110000"/>
              </a:lnSpc>
              <a:buNone/>
            </a:pPr>
            <a:r>
              <a:rPr lang="zh-CN" altLang="en-US" b="1" dirty="0"/>
              <a:t>    </a:t>
            </a:r>
            <a:endParaRPr lang="en-US" altLang="zh-CN" b="1"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noRot="1"/>
          </p:cNvSpPr>
          <p:nvPr>
            <p:ph type="title"/>
          </p:nvPr>
        </p:nvSpPr>
        <p:spPr>
          <a:ln/>
        </p:spPr>
        <p:txBody>
          <a:bodyPr vert="horz" wrap="square" lIns="91440" tIns="45720" rIns="91440" bIns="45720" anchor="ctr" anchorCtr="0"/>
          <a:p>
            <a:r>
              <a:rPr lang="en-US" altLang="zh-CN" b="1" dirty="0"/>
              <a:t>4</a:t>
            </a:r>
            <a:r>
              <a:rPr lang="zh-CN" altLang="en-US" b="1" dirty="0"/>
              <a:t>．信号量集</a:t>
            </a:r>
            <a:endParaRPr lang="zh-CN" altLang="en-US" b="1" dirty="0"/>
          </a:p>
        </p:txBody>
      </p:sp>
      <p:sp>
        <p:nvSpPr>
          <p:cNvPr id="115715" name="Rectangle 3"/>
          <p:cNvSpPr>
            <a:spLocks noGrp="1" noRot="1"/>
          </p:cNvSpPr>
          <p:nvPr>
            <p:ph idx="1"/>
          </p:nvPr>
        </p:nvSpPr>
        <p:spPr>
          <a:ln/>
        </p:spPr>
        <p:txBody>
          <a:bodyPr vert="horz" wrap="square" lIns="91440" tIns="45720" rIns="91440" bIns="45720" anchor="t" anchorCtr="0"/>
          <a:p>
            <a:pPr algn="just">
              <a:lnSpc>
                <a:spcPct val="90000"/>
              </a:lnSpc>
              <a:buNone/>
            </a:pPr>
            <a:r>
              <a:rPr lang="en-US" altLang="zh-CN" sz="2400" b="1" dirty="0"/>
              <a:t>Swait</a:t>
            </a:r>
            <a:r>
              <a:rPr lang="zh-CN" altLang="en-US" sz="2400" b="1" dirty="0"/>
              <a:t>（</a:t>
            </a:r>
            <a:r>
              <a:rPr lang="en-US" altLang="zh-CN" sz="2400" b="1" dirty="0"/>
              <a:t>S1</a:t>
            </a:r>
            <a:r>
              <a:rPr lang="zh-CN" altLang="en-US" sz="2400" b="1" dirty="0"/>
              <a:t>，</a:t>
            </a:r>
            <a:r>
              <a:rPr lang="en-US" altLang="zh-CN" sz="2400" b="1" dirty="0"/>
              <a:t>t1</a:t>
            </a:r>
            <a:r>
              <a:rPr lang="zh-CN" altLang="en-US" sz="2400" b="1" dirty="0"/>
              <a:t>，</a:t>
            </a:r>
            <a:r>
              <a:rPr lang="en-US" altLang="zh-CN" sz="2400" b="1" dirty="0"/>
              <a:t>d1</a:t>
            </a:r>
            <a:r>
              <a:rPr lang="zh-CN" altLang="en-US" sz="2400" b="1" dirty="0"/>
              <a:t>，</a:t>
            </a:r>
            <a:r>
              <a:rPr lang="en-US" altLang="zh-CN" sz="2400" b="1" dirty="0">
                <a:latin typeface="Courier New" panose="02070309020205020404" pitchFamily="49" charset="0"/>
              </a:rPr>
              <a:t>…</a:t>
            </a:r>
            <a:r>
              <a:rPr lang="zh-CN" altLang="en-US" sz="2400" b="1" dirty="0"/>
              <a:t>，</a:t>
            </a:r>
            <a:r>
              <a:rPr lang="en-US" altLang="zh-CN" sz="2400" b="1" dirty="0"/>
              <a:t>Sn</a:t>
            </a:r>
            <a:r>
              <a:rPr lang="zh-CN" altLang="en-US" sz="2400" b="1" dirty="0"/>
              <a:t>，</a:t>
            </a:r>
            <a:r>
              <a:rPr lang="en-US" altLang="zh-CN" sz="2400" b="1" dirty="0"/>
              <a:t>tn</a:t>
            </a:r>
            <a:r>
              <a:rPr lang="zh-CN" altLang="en-US" sz="2400" b="1" dirty="0"/>
              <a:t>，</a:t>
            </a:r>
            <a:r>
              <a:rPr lang="en-US" altLang="zh-CN" sz="2400" b="1" dirty="0"/>
              <a:t>dn</a:t>
            </a:r>
            <a:r>
              <a:rPr lang="zh-CN" altLang="en-US" sz="2400" b="1" dirty="0"/>
              <a:t>）（满足</a:t>
            </a:r>
            <a:r>
              <a:rPr lang="en-US" altLang="zh-CN" sz="2400" b="1" dirty="0"/>
              <a:t>ti≥ di</a:t>
            </a:r>
            <a:r>
              <a:rPr lang="zh-CN" altLang="en-US" sz="2400" b="1" dirty="0"/>
              <a:t>）</a:t>
            </a:r>
            <a:endParaRPr lang="zh-CN" altLang="en-US" sz="2400" b="1" dirty="0"/>
          </a:p>
          <a:p>
            <a:pPr algn="just">
              <a:lnSpc>
                <a:spcPct val="90000"/>
              </a:lnSpc>
              <a:buNone/>
            </a:pPr>
            <a:r>
              <a:rPr lang="zh-CN" altLang="en-US" sz="2400" b="1" dirty="0"/>
              <a:t>    </a:t>
            </a:r>
            <a:endParaRPr lang="zh-CN" altLang="en-US" sz="2400" b="1" dirty="0"/>
          </a:p>
          <a:p>
            <a:pPr algn="just">
              <a:lnSpc>
                <a:spcPct val="90000"/>
              </a:lnSpc>
              <a:buNone/>
            </a:pPr>
            <a:r>
              <a:rPr lang="zh-CN" altLang="en-US" sz="2400" b="1" dirty="0"/>
              <a:t>    </a:t>
            </a:r>
            <a:r>
              <a:rPr lang="en-US" altLang="zh-CN" sz="2400" b="1" dirty="0"/>
              <a:t>if S1 ≥t1  and</a:t>
            </a:r>
            <a:r>
              <a:rPr lang="en-US" altLang="zh-CN" sz="2400" b="1" dirty="0">
                <a:latin typeface="Courier New" panose="02070309020205020404" pitchFamily="49" charset="0"/>
              </a:rPr>
              <a:t>…</a:t>
            </a:r>
            <a:r>
              <a:rPr lang="en-US" altLang="zh-CN" sz="2400" b="1" dirty="0"/>
              <a:t>and  Sn≥tn  then</a:t>
            </a:r>
            <a:endParaRPr lang="en-US" altLang="zh-CN" sz="2400" b="1" dirty="0"/>
          </a:p>
          <a:p>
            <a:pPr algn="just">
              <a:lnSpc>
                <a:spcPct val="90000"/>
              </a:lnSpc>
              <a:buNone/>
            </a:pPr>
            <a:r>
              <a:rPr lang="en-US" altLang="zh-CN" sz="2400" b="1" dirty="0"/>
              <a:t>          for  i</a:t>
            </a:r>
            <a:r>
              <a:rPr lang="zh-CN" altLang="en-US" sz="2400" b="1" dirty="0"/>
              <a:t>：</a:t>
            </a:r>
            <a:r>
              <a:rPr lang="en-US" altLang="zh-CN" sz="2400" b="1" dirty="0"/>
              <a:t>=1  to  n  do</a:t>
            </a:r>
            <a:endParaRPr lang="en-US" altLang="zh-CN" sz="2400" b="1" dirty="0"/>
          </a:p>
          <a:p>
            <a:pPr algn="just">
              <a:lnSpc>
                <a:spcPct val="90000"/>
              </a:lnSpc>
              <a:buNone/>
            </a:pPr>
            <a:r>
              <a:rPr lang="en-US" altLang="zh-CN" sz="2400" b="1" dirty="0"/>
              <a:t>                    Si</a:t>
            </a:r>
            <a:r>
              <a:rPr lang="zh-CN" altLang="en-US" sz="2400" b="1" dirty="0"/>
              <a:t>：＝</a:t>
            </a:r>
            <a:r>
              <a:rPr lang="en-US" altLang="zh-CN" sz="2400" b="1" dirty="0"/>
              <a:t>Si</a:t>
            </a:r>
            <a:r>
              <a:rPr lang="zh-CN" altLang="en-US" sz="2400" b="1" dirty="0"/>
              <a:t>一</a:t>
            </a:r>
            <a:r>
              <a:rPr lang="en-US" altLang="zh-CN" sz="2400" b="1" dirty="0"/>
              <a:t>di</a:t>
            </a:r>
            <a:r>
              <a:rPr lang="zh-CN" altLang="en-US" sz="2400" b="1" dirty="0"/>
              <a:t>；</a:t>
            </a:r>
            <a:endParaRPr lang="zh-CN" altLang="en-US" sz="2400" b="1" dirty="0"/>
          </a:p>
          <a:p>
            <a:pPr algn="just">
              <a:lnSpc>
                <a:spcPct val="90000"/>
              </a:lnSpc>
              <a:buNone/>
            </a:pPr>
            <a:r>
              <a:rPr lang="zh-CN" altLang="en-US" sz="2400" b="1" dirty="0"/>
              <a:t>          </a:t>
            </a:r>
            <a:r>
              <a:rPr lang="en-US" altLang="zh-CN" sz="2400" b="1" dirty="0"/>
              <a:t>endfor</a:t>
            </a:r>
            <a:endParaRPr lang="en-US" altLang="zh-CN" sz="2400" b="1" dirty="0"/>
          </a:p>
          <a:p>
            <a:pPr algn="just">
              <a:lnSpc>
                <a:spcPct val="90000"/>
              </a:lnSpc>
              <a:buNone/>
            </a:pPr>
            <a:r>
              <a:rPr lang="en-US" altLang="zh-CN" sz="2400" b="1" dirty="0"/>
              <a:t>     else</a:t>
            </a:r>
            <a:endParaRPr lang="en-US" altLang="zh-CN" sz="2400" b="1" dirty="0"/>
          </a:p>
          <a:p>
            <a:pPr>
              <a:lnSpc>
                <a:spcPct val="90000"/>
              </a:lnSpc>
              <a:buNone/>
            </a:pPr>
            <a:r>
              <a:rPr lang="en-US" altLang="zh-CN" sz="2400" b="1" dirty="0"/>
              <a:t>          Place  the  executing  process  in  the  waiting  queue  of  the  first Si  with Si</a:t>
            </a:r>
            <a:r>
              <a:rPr lang="zh-CN" altLang="en-US" sz="2400" b="1" dirty="0"/>
              <a:t>＜</a:t>
            </a:r>
            <a:r>
              <a:rPr lang="en-US" altLang="zh-CN" sz="2400" b="1" dirty="0"/>
              <a:t>ti  and  set  its  program    counter  to  the  beginning  of  the  Swait  operation</a:t>
            </a:r>
            <a:r>
              <a:rPr lang="zh-CN" altLang="en-US" sz="2400" b="1" dirty="0"/>
              <a:t>。</a:t>
            </a:r>
            <a:endParaRPr lang="zh-CN" altLang="en-US" sz="2400" b="1" dirty="0"/>
          </a:p>
          <a:p>
            <a:pPr algn="just">
              <a:lnSpc>
                <a:spcPct val="90000"/>
              </a:lnSpc>
              <a:buNone/>
            </a:pPr>
            <a:r>
              <a:rPr lang="zh-CN" altLang="en-US" sz="2400" b="1" dirty="0"/>
              <a:t>    </a:t>
            </a:r>
            <a:r>
              <a:rPr lang="en-US" altLang="zh-CN" sz="2400" b="1" dirty="0"/>
              <a:t>endif</a:t>
            </a:r>
            <a:r>
              <a:rPr lang="en-US" altLang="zh-CN" sz="2800" b="1" dirty="0"/>
              <a:t> </a:t>
            </a:r>
            <a:endParaRPr lang="en-US" altLang="zh-CN" sz="2800" b="1" dirty="0"/>
          </a:p>
          <a:p>
            <a:pPr>
              <a:lnSpc>
                <a:spcPct val="90000"/>
              </a:lnSpc>
            </a:pPr>
            <a:endParaRPr lang="zh-CN" altLang="en-US" sz="2400" dirty="0"/>
          </a:p>
        </p:txBody>
      </p:sp>
      <p:sp>
        <p:nvSpPr>
          <p:cNvPr id="115716" name="AutoShape 4"/>
          <p:cNvSpPr/>
          <p:nvPr/>
        </p:nvSpPr>
        <p:spPr>
          <a:xfrm>
            <a:off x="5257800" y="2743200"/>
            <a:ext cx="1371600" cy="381000"/>
          </a:xfrm>
          <a:prstGeom prst="wedgeRoundRectCallout">
            <a:avLst>
              <a:gd name="adj1" fmla="val -91088"/>
              <a:gd name="adj2" fmla="val -251667"/>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1600" b="1" dirty="0">
                <a:latin typeface="Times New Roman" panose="02020603050405020304" pitchFamily="18" charset="0"/>
              </a:rPr>
              <a:t>资源下限值</a:t>
            </a:r>
            <a:endParaRPr lang="zh-CN" altLang="en-US" sz="1600" b="1" dirty="0">
              <a:latin typeface="Times New Roman" panose="02020603050405020304" pitchFamily="18" charset="0"/>
            </a:endParaRPr>
          </a:p>
        </p:txBody>
      </p:sp>
      <p:sp>
        <p:nvSpPr>
          <p:cNvPr id="115717" name="AutoShape 5"/>
          <p:cNvSpPr/>
          <p:nvPr/>
        </p:nvSpPr>
        <p:spPr>
          <a:xfrm>
            <a:off x="6019800" y="2286000"/>
            <a:ext cx="1219200" cy="304800"/>
          </a:xfrm>
          <a:prstGeom prst="wedgeRoundRectCallout">
            <a:avLst>
              <a:gd name="adj1" fmla="val -102472"/>
              <a:gd name="adj2" fmla="val -168231"/>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1600" b="1" dirty="0">
                <a:latin typeface="Times New Roman" panose="02020603050405020304" pitchFamily="18" charset="0"/>
              </a:rPr>
              <a:t>需求量</a:t>
            </a:r>
            <a:endParaRPr lang="zh-CN" altLang="en-US" sz="1600" b="1" dirty="0">
              <a:latin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noRot="1"/>
          </p:cNvSpPr>
          <p:nvPr>
            <p:ph type="title"/>
          </p:nvPr>
        </p:nvSpPr>
        <p:spPr>
          <a:ln/>
        </p:spPr>
        <p:txBody>
          <a:bodyPr vert="horz" wrap="square" lIns="91440" tIns="45720" rIns="91440" bIns="45720" anchor="ctr" anchorCtr="0"/>
          <a:p>
            <a:r>
              <a:rPr lang="zh-CN" altLang="en-US" dirty="0"/>
              <a:t>资源释放操作（ </a:t>
            </a:r>
            <a:r>
              <a:rPr lang="en-US" altLang="zh-CN" dirty="0"/>
              <a:t>Ssignal </a:t>
            </a:r>
            <a:r>
              <a:rPr lang="zh-CN" altLang="en-US" dirty="0"/>
              <a:t>）：</a:t>
            </a:r>
            <a:endParaRPr lang="zh-CN" altLang="en-US" dirty="0"/>
          </a:p>
        </p:txBody>
      </p:sp>
      <p:sp>
        <p:nvSpPr>
          <p:cNvPr id="116739" name="Rectangle 3"/>
          <p:cNvSpPr>
            <a:spLocks noGrp="1" noRot="1"/>
          </p:cNvSpPr>
          <p:nvPr>
            <p:ph idx="1"/>
          </p:nvPr>
        </p:nvSpPr>
        <p:spPr>
          <a:ln/>
        </p:spPr>
        <p:txBody>
          <a:bodyPr vert="horz" wrap="square" lIns="91440" tIns="45720" rIns="91440" bIns="45720" anchor="t" anchorCtr="0"/>
          <a:p>
            <a:pPr algn="just">
              <a:buNone/>
            </a:pPr>
            <a:r>
              <a:rPr lang="en-US" altLang="zh-CN" dirty="0"/>
              <a:t>Ssignal</a:t>
            </a:r>
            <a:r>
              <a:rPr lang="zh-CN" altLang="en-US" dirty="0"/>
              <a:t>（</a:t>
            </a:r>
            <a:r>
              <a:rPr lang="en-US" altLang="zh-CN" dirty="0"/>
              <a:t>S1</a:t>
            </a:r>
            <a:r>
              <a:rPr lang="zh-CN" altLang="en-US" dirty="0"/>
              <a:t>，</a:t>
            </a:r>
            <a:r>
              <a:rPr lang="en-US" altLang="zh-CN" dirty="0"/>
              <a:t>d1</a:t>
            </a:r>
            <a:r>
              <a:rPr lang="zh-CN" altLang="en-US" dirty="0"/>
              <a:t>，</a:t>
            </a:r>
            <a:r>
              <a:rPr lang="en-US" altLang="zh-CN" dirty="0">
                <a:latin typeface="Courier New" panose="02070309020205020404" pitchFamily="49" charset="0"/>
              </a:rPr>
              <a:t>···</a:t>
            </a:r>
            <a:r>
              <a:rPr lang="zh-CN" altLang="en-US" dirty="0"/>
              <a:t>，</a:t>
            </a:r>
            <a:r>
              <a:rPr lang="en-US" altLang="zh-CN" dirty="0"/>
              <a:t>Sn</a:t>
            </a:r>
            <a:r>
              <a:rPr lang="zh-CN" altLang="en-US" dirty="0"/>
              <a:t>，</a:t>
            </a:r>
            <a:r>
              <a:rPr lang="en-US" altLang="zh-CN" dirty="0"/>
              <a:t>dn</a:t>
            </a:r>
            <a:r>
              <a:rPr lang="zh-CN" altLang="en-US" dirty="0"/>
              <a:t>）</a:t>
            </a:r>
            <a:endParaRPr lang="zh-CN" altLang="en-US" dirty="0"/>
          </a:p>
          <a:p>
            <a:pPr algn="just">
              <a:buNone/>
            </a:pPr>
            <a:r>
              <a:rPr lang="zh-CN" altLang="en-US" dirty="0"/>
              <a:t>    </a:t>
            </a:r>
            <a:r>
              <a:rPr lang="en-US" altLang="zh-CN" dirty="0"/>
              <a:t>for i</a:t>
            </a:r>
            <a:r>
              <a:rPr lang="zh-CN" altLang="en-US" dirty="0"/>
              <a:t>：</a:t>
            </a:r>
            <a:r>
              <a:rPr lang="en-US" altLang="zh-CN" dirty="0"/>
              <a:t>=1 to n  do</a:t>
            </a:r>
            <a:endParaRPr lang="en-US" altLang="zh-CN" dirty="0"/>
          </a:p>
          <a:p>
            <a:pPr algn="just">
              <a:buNone/>
            </a:pPr>
            <a:r>
              <a:rPr lang="en-US" altLang="zh-CN" dirty="0"/>
              <a:t>        Si:= Si</a:t>
            </a:r>
            <a:r>
              <a:rPr lang="zh-CN" altLang="en-US" dirty="0"/>
              <a:t>十</a:t>
            </a:r>
            <a:r>
              <a:rPr lang="en-US" altLang="zh-CN" dirty="0"/>
              <a:t>di</a:t>
            </a:r>
            <a:r>
              <a:rPr lang="zh-CN" altLang="en-US" dirty="0"/>
              <a:t>；</a:t>
            </a:r>
            <a:endParaRPr lang="zh-CN" altLang="en-US" dirty="0"/>
          </a:p>
          <a:p>
            <a:pPr algn="just">
              <a:buNone/>
            </a:pPr>
            <a:r>
              <a:rPr lang="zh-CN" altLang="en-US" dirty="0"/>
              <a:t>    </a:t>
            </a:r>
            <a:r>
              <a:rPr lang="en-US" altLang="zh-CN" dirty="0"/>
              <a:t>Remove  all  the  process  waiting  in  the  queue  associated  with  Si  into  the  ready  queue</a:t>
            </a:r>
            <a:endParaRPr lang="en-US" altLang="zh-CN" dirty="0"/>
          </a:p>
          <a:p>
            <a:pPr algn="just">
              <a:buNone/>
            </a:pPr>
            <a:r>
              <a:rPr lang="en-US" altLang="zh-CN" dirty="0"/>
              <a:t>    endfor</a:t>
            </a:r>
            <a:r>
              <a:rPr lang="zh-CN" altLang="en-US" dirty="0"/>
              <a:t>；</a:t>
            </a:r>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noRot="1"/>
          </p:cNvSpPr>
          <p:nvPr>
            <p:ph type="title"/>
          </p:nvPr>
        </p:nvSpPr>
        <p:spPr>
          <a:xfrm>
            <a:off x="1143000" y="381000"/>
            <a:ext cx="7793038" cy="906463"/>
          </a:xfrm>
          <a:ln/>
        </p:spPr>
        <p:txBody>
          <a:bodyPr vert="horz" wrap="square" lIns="91440" tIns="45720" rIns="91440" bIns="45720" anchor="ctr" anchorCtr="0"/>
          <a:p>
            <a:r>
              <a:rPr lang="en-US" altLang="zh-CN" b="1" dirty="0"/>
              <a:t>2.4.4 </a:t>
            </a:r>
            <a:r>
              <a:rPr lang="zh-CN" altLang="en-US" b="1" dirty="0"/>
              <a:t>信号量的应用</a:t>
            </a:r>
            <a:r>
              <a:rPr lang="zh-CN" altLang="en-US" dirty="0"/>
              <a:t> </a:t>
            </a:r>
            <a:endParaRPr lang="zh-CN" altLang="en-US" dirty="0"/>
          </a:p>
        </p:txBody>
      </p:sp>
      <p:sp>
        <p:nvSpPr>
          <p:cNvPr id="431107" name="Rectangle 3"/>
          <p:cNvSpPr>
            <a:spLocks noGrp="1" noRot="1" noChangeArrowheads="1"/>
          </p:cNvSpPr>
          <p:nvPr>
            <p:ph idx="1"/>
          </p:nvPr>
        </p:nvSpPr>
        <p:spPr>
          <a:xfrm>
            <a:off x="381000" y="1676400"/>
            <a:ext cx="8382000" cy="44196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4000" b="1" i="0" u="none" strike="noStrike" kern="0" cap="none" spc="0" normalizeH="0" baseline="0" noProof="0" dirty="0" smtClean="0">
                <a:ln>
                  <a:noFill/>
                </a:ln>
                <a:solidFill>
                  <a:schemeClr val="tx2"/>
                </a:solidFill>
                <a:effectLst/>
                <a:uLnTx/>
                <a:uFillTx/>
                <a:latin typeface="+mn-lt"/>
                <a:ea typeface="+mn-ea"/>
                <a:cs typeface="+mn-cs"/>
              </a:rPr>
              <a:t> </a:t>
            </a:r>
            <a:r>
              <a:rPr kumimoji="0" lang="en-US" altLang="zh-CN"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n-ea"/>
                <a:cs typeface="+mn-cs"/>
              </a:rPr>
              <a:t>1</a:t>
            </a:r>
            <a:r>
              <a:rPr kumimoji="0" lang="zh-CN" altLang="en-US"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n-ea"/>
                <a:cs typeface="+mn-cs"/>
              </a:rPr>
              <a:t>．利用信号量实现进程互斥</a:t>
            </a:r>
            <a:endParaRPr kumimoji="0" lang="zh-CN" altLang="en-US"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dirty="0" smtClean="0">
                <a:ln>
                  <a:noFill/>
                </a:ln>
                <a:solidFill>
                  <a:schemeClr val="tx2"/>
                </a:solidFill>
                <a:effectLst/>
                <a:uLnTx/>
                <a:uFillTx/>
                <a:latin typeface="+mn-lt"/>
                <a:ea typeface="+mn-ea"/>
                <a:cs typeface="+mn-cs"/>
              </a:rPr>
              <a:t>  </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为使多个进程能互斥地访问某临界资源，只须为该资源设置一互斥信号量</a:t>
            </a:r>
            <a:r>
              <a:rPr kumimoji="0" lang="en-US" altLang="zh-CN" sz="3200" b="1" i="0" u="none" strike="noStrike" kern="0" cap="none" spc="0" normalizeH="0" baseline="0" noProof="0" dirty="0" err="1" smtClean="0">
                <a:ln>
                  <a:noFill/>
                </a:ln>
                <a:solidFill>
                  <a:schemeClr val="tx1"/>
                </a:solidFill>
                <a:effectLst/>
                <a:uLnTx/>
                <a:uFillTx/>
                <a:latin typeface="+mn-lt"/>
                <a:ea typeface="+mn-ea"/>
                <a:cs typeface="+mn-cs"/>
              </a:rPr>
              <a:t>mutex</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，并设其初始值为</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1</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，然后将各进程访问该资源的临界区</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CS</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置于</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wait</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200" b="1" i="0" u="none" strike="noStrike" kern="0" cap="none" spc="0" normalizeH="0" baseline="0" noProof="0" dirty="0" err="1" smtClean="0">
                <a:ln>
                  <a:noFill/>
                </a:ln>
                <a:solidFill>
                  <a:schemeClr val="tx1"/>
                </a:solidFill>
                <a:effectLst/>
                <a:uLnTx/>
                <a:uFillTx/>
                <a:latin typeface="+mn-lt"/>
                <a:ea typeface="+mn-ea"/>
                <a:cs typeface="+mn-cs"/>
              </a:rPr>
              <a:t>mutex</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）和</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signal</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200" b="1" i="0" u="none" strike="noStrike" kern="0" cap="none" spc="0" normalizeH="0" baseline="0" noProof="0" dirty="0" err="1" smtClean="0">
                <a:ln>
                  <a:noFill/>
                </a:ln>
                <a:solidFill>
                  <a:schemeClr val="tx1"/>
                </a:solidFill>
                <a:effectLst/>
                <a:uLnTx/>
                <a:uFillTx/>
                <a:latin typeface="+mn-lt"/>
                <a:ea typeface="+mn-ea"/>
                <a:cs typeface="+mn-cs"/>
              </a:rPr>
              <a:t>mutex</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）操作之间即可。</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2131" name="Text Box 3"/>
          <p:cNvSpPr txBox="1">
            <a:spLocks noChangeArrowheads="1"/>
          </p:cNvSpPr>
          <p:nvPr/>
        </p:nvSpPr>
        <p:spPr bwMode="auto">
          <a:xfrm>
            <a:off x="457200" y="609600"/>
            <a:ext cx="8229600" cy="579438"/>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a:solidFill>
                  <a:srgbClr val="FF0000"/>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利用信号量实现进程互斥的进程可描述如下：</a:t>
            </a:r>
            <a:endParaRPr kumimoji="0" lang="zh-CN" altLang="en-US" sz="3200" b="1" kern="1200" cap="none" spc="0" normalizeH="0" baseline="0" noProof="0">
              <a:solidFill>
                <a:srgbClr val="FF0000"/>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432132" name="Text Box 4"/>
          <p:cNvSpPr txBox="1">
            <a:spLocks noChangeArrowheads="1"/>
          </p:cNvSpPr>
          <p:nvPr/>
        </p:nvSpPr>
        <p:spPr bwMode="auto">
          <a:xfrm>
            <a:off x="762000" y="1676400"/>
            <a:ext cx="4038600" cy="489426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Semaphore </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=1;</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P</a:t>
            </a:r>
            <a:r>
              <a:rPr kumimoji="0" lang="en-US" altLang="zh-CN" kern="1200" cap="none" spc="0" normalizeH="0" baseline="0" noProof="0" dirty="0">
                <a:latin typeface="Arial" panose="020B0604020202020204" pitchFamily="34" charset="0"/>
                <a:ea typeface="宋体" panose="02010600030101010101" pitchFamily="2" charset="-122"/>
                <a:cs typeface="+mn-cs"/>
              </a:rPr>
              <a:t>A () </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While (1) {</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wait(</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en-US" sz="2400" kern="1200" cap="none" spc="0" normalizeH="0" baseline="0" noProof="0" dirty="0">
                <a:latin typeface="Arial" panose="020B0604020202020204" pitchFamily="34" charset="0"/>
                <a:ea typeface="宋体" panose="02010600030101010101" pitchFamily="2" charset="-122"/>
                <a:cs typeface="+mn-cs"/>
              </a:rPr>
              <a:t>临界区；</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signal(</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en-US" sz="2400" kern="1200" cap="none" spc="0" normalizeH="0" baseline="0" noProof="0" dirty="0">
                <a:latin typeface="Arial" panose="020B0604020202020204" pitchFamily="34" charset="0"/>
                <a:ea typeface="宋体" panose="02010600030101010101" pitchFamily="2" charset="-122"/>
                <a:cs typeface="+mn-cs"/>
              </a:rPr>
              <a:t>剩余区；</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6" name="Text Box 4"/>
          <p:cNvSpPr txBox="1">
            <a:spLocks noChangeArrowheads="1"/>
          </p:cNvSpPr>
          <p:nvPr/>
        </p:nvSpPr>
        <p:spPr bwMode="auto">
          <a:xfrm>
            <a:off x="4648200" y="1676400"/>
            <a:ext cx="4038600" cy="489426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Semaphore </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=1;</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P</a:t>
            </a:r>
            <a:r>
              <a:rPr kumimoji="0" lang="en-US" altLang="zh-CN" kern="1200" cap="none" spc="0" normalizeH="0" baseline="0" noProof="0" dirty="0">
                <a:latin typeface="Arial" panose="020B0604020202020204" pitchFamily="34" charset="0"/>
                <a:ea typeface="宋体" panose="02010600030101010101" pitchFamily="2" charset="-122"/>
                <a:cs typeface="+mn-cs"/>
              </a:rPr>
              <a:t>A () </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While (1) {</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wait(</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en-US" sz="2400" kern="1200" cap="none" spc="0" normalizeH="0" baseline="0" noProof="0" dirty="0">
                <a:latin typeface="Arial" panose="020B0604020202020204" pitchFamily="34" charset="0"/>
                <a:ea typeface="宋体" panose="02010600030101010101" pitchFamily="2" charset="-122"/>
                <a:cs typeface="+mn-cs"/>
              </a:rPr>
              <a:t>临界区；</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signal(</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en-US" sz="2400" kern="1200" cap="none" spc="0" normalizeH="0" baseline="0" noProof="0" dirty="0">
                <a:latin typeface="Arial" panose="020B0604020202020204" pitchFamily="34" charset="0"/>
                <a:ea typeface="宋体" panose="02010600030101010101" pitchFamily="2" charset="-122"/>
                <a:cs typeface="+mn-cs"/>
              </a:rPr>
              <a:t>剩余区；</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2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2" grpId="0"/>
      <p:bldP spid="6"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noRot="1"/>
          </p:cNvSpPr>
          <p:nvPr>
            <p:ph type="title"/>
          </p:nvPr>
        </p:nvSpPr>
        <p:spPr>
          <a:ln/>
        </p:spPr>
        <p:txBody>
          <a:bodyPr vert="horz" wrap="square" lIns="91440" tIns="45720" rIns="91440" bIns="45720" anchor="ctr" anchorCtr="0"/>
          <a:p>
            <a:r>
              <a:rPr lang="en-US" altLang="zh-CN" dirty="0"/>
              <a:t>2.4.5 </a:t>
            </a:r>
            <a:r>
              <a:rPr lang="zh-CN" altLang="en-US" dirty="0"/>
              <a:t>管程机制</a:t>
            </a:r>
            <a:endParaRPr lang="zh-CN" altLang="en-US" dirty="0"/>
          </a:p>
        </p:txBody>
      </p:sp>
      <p:sp>
        <p:nvSpPr>
          <p:cNvPr id="119811" name="Rectangle 3"/>
          <p:cNvSpPr>
            <a:spLocks noGrp="1" noRot="1"/>
          </p:cNvSpPr>
          <p:nvPr>
            <p:ph idx="1"/>
          </p:nvPr>
        </p:nvSpPr>
        <p:spPr>
          <a:xfrm>
            <a:off x="304800" y="1600200"/>
            <a:ext cx="8540750" cy="4498975"/>
          </a:xfrm>
          <a:ln/>
        </p:spPr>
        <p:txBody>
          <a:bodyPr vert="horz" wrap="square" lIns="91440" tIns="45720" rIns="91440" bIns="45720" anchor="t" anchorCtr="0"/>
          <a:p>
            <a:r>
              <a:rPr lang="zh-CN" altLang="en-US" b="1" dirty="0"/>
              <a:t>需要知道管程也是一种进程同步的机制。</a:t>
            </a:r>
            <a:endParaRPr lang="zh-CN" altLang="en-US" b="1" dirty="0"/>
          </a:p>
          <a:p>
            <a:endParaRPr lang="zh-CN" altLang="en-US" b="1" dirty="0"/>
          </a:p>
          <a:p>
            <a:r>
              <a:rPr lang="zh-CN" altLang="en-US" b="1" dirty="0"/>
              <a:t>其他管程相关的内容为自学内容。</a:t>
            </a:r>
            <a:endParaRPr lang="zh-CN" altLang="en-US" b="1"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603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FF0000"/>
                </a:solidFill>
                <a:effectLst/>
                <a:uLnTx/>
                <a:uFillTx/>
                <a:latin typeface="+mj-lt"/>
                <a:ea typeface="+mj-ea"/>
                <a:cs typeface="+mj-cs"/>
              </a:rPr>
              <a:t>2.5 </a:t>
            </a:r>
            <a:r>
              <a:rPr kumimoji="0" lang="zh-CN" altLang="en-US" sz="4400" b="1" i="0" u="none" strike="noStrike" kern="0" cap="none" spc="0" normalizeH="0" baseline="0" noProof="0" dirty="0" smtClean="0">
                <a:ln>
                  <a:noFill/>
                </a:ln>
                <a:solidFill>
                  <a:srgbClr val="FF0000"/>
                </a:solidFill>
                <a:effectLst/>
                <a:uLnTx/>
                <a:uFillTx/>
                <a:latin typeface="+mj-lt"/>
                <a:ea typeface="+mj-ea"/>
                <a:cs typeface="+mj-cs"/>
              </a:rPr>
              <a:t>经典进程的同步问题</a:t>
            </a:r>
            <a:endParaRPr kumimoji="0" lang="zh-CN" altLang="en-US" sz="4400" b="1" i="0" u="sng"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556035"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生产者</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消费者问题</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读者</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写者问题 </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哲学家进餐问题</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6034"/>
                                        </p:tgtEl>
                                        <p:attrNameLst>
                                          <p:attrName>style.visibility</p:attrName>
                                        </p:attrNameLst>
                                      </p:cBhvr>
                                      <p:to>
                                        <p:strVal val="visible"/>
                                      </p:to>
                                    </p:set>
                                    <p:animEffect transition="in" filter="fade">
                                      <p:cBhvr>
                                        <p:cTn id="7" dur="2000"/>
                                        <p:tgtEl>
                                          <p:spTgt spid="5560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6035">
                                            <p:txEl>
                                              <p:charRg st="1" end="11"/>
                                            </p:txEl>
                                          </p:spTgt>
                                        </p:tgtEl>
                                        <p:attrNameLst>
                                          <p:attrName>style.visibility</p:attrName>
                                        </p:attrNameLst>
                                      </p:cBhvr>
                                      <p:to>
                                        <p:strVal val="visible"/>
                                      </p:to>
                                    </p:set>
                                    <p:animEffect transition="in" filter="fade">
                                      <p:cBhvr>
                                        <p:cTn id="12" dur="2000"/>
                                        <p:tgtEl>
                                          <p:spTgt spid="556035">
                                            <p:txEl>
                                              <p:charRg st="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6035">
                                            <p:txEl>
                                              <p:charRg st="12" end="21"/>
                                            </p:txEl>
                                          </p:spTgt>
                                        </p:tgtEl>
                                        <p:attrNameLst>
                                          <p:attrName>style.visibility</p:attrName>
                                        </p:attrNameLst>
                                      </p:cBhvr>
                                      <p:to>
                                        <p:strVal val="visible"/>
                                      </p:to>
                                    </p:set>
                                    <p:animEffect transition="in" filter="fade">
                                      <p:cBhvr>
                                        <p:cTn id="17" dur="2000"/>
                                        <p:tgtEl>
                                          <p:spTgt spid="556035">
                                            <p:txEl>
                                              <p:charRg st="12" end="2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56035">
                                            <p:txEl>
                                              <p:charRg st="22" end="30"/>
                                            </p:txEl>
                                          </p:spTgt>
                                        </p:tgtEl>
                                        <p:attrNameLst>
                                          <p:attrName>style.visibility</p:attrName>
                                        </p:attrNameLst>
                                      </p:cBhvr>
                                      <p:to>
                                        <p:strVal val="visible"/>
                                      </p:to>
                                    </p:set>
                                    <p:animEffect transition="in" filter="fade">
                                      <p:cBhvr>
                                        <p:cTn id="22" dur="2000"/>
                                        <p:tgtEl>
                                          <p:spTgt spid="556035">
                                            <p:txEl>
                                              <p:charRg st="22"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4" grpId="0"/>
      <p:bldP spid="556035"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5186" name="Rectangle 2"/>
          <p:cNvSpPr>
            <a:spLocks noGrp="1" noRot="1" noChangeArrowheads="1"/>
          </p:cNvSpPr>
          <p:nvPr>
            <p:ph type="title"/>
          </p:nvPr>
        </p:nvSpPr>
        <p:spPr>
          <a:xfrm>
            <a:off x="762000" y="2209800"/>
            <a:ext cx="77724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2.5.1 </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生产者</a:t>
            </a: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消费者问题 </a:t>
            </a:r>
            <a:endPar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5186"/>
                                        </p:tgtEl>
                                        <p:attrNameLst>
                                          <p:attrName>style.visibility</p:attrName>
                                        </p:attrNameLst>
                                      </p:cBhvr>
                                      <p:to>
                                        <p:strVal val="visible"/>
                                      </p:to>
                                    </p:set>
                                    <p:animEffect transition="in" filter="fade">
                                      <p:cBhvr>
                                        <p:cTn id="7" dur="2000"/>
                                        <p:tgtEl>
                                          <p:spTgt spid="605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86"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noRot="1"/>
          </p:cNvSpPr>
          <p:nvPr>
            <p:ph type="title"/>
          </p:nvPr>
        </p:nvSpPr>
        <p:spPr>
          <a:ln/>
        </p:spPr>
        <p:txBody>
          <a:bodyPr vert="horz" wrap="square" lIns="91440" tIns="45720" rIns="91440" bIns="45720" anchor="ctr" anchorCtr="0"/>
          <a:p>
            <a:r>
              <a:rPr lang="zh-CN" altLang="en-US" dirty="0"/>
              <a:t>问题描述</a:t>
            </a:r>
            <a:endParaRPr lang="zh-CN" altLang="en-US" dirty="0"/>
          </a:p>
        </p:txBody>
      </p:sp>
      <p:sp>
        <p:nvSpPr>
          <p:cNvPr id="122883" name="Rectangle 3"/>
          <p:cNvSpPr>
            <a:spLocks noGrp="1" noRot="1"/>
          </p:cNvSpPr>
          <p:nvPr>
            <p:ph idx="1"/>
          </p:nvPr>
        </p:nvSpPr>
        <p:spPr>
          <a:xfrm>
            <a:off x="76200" y="1673225"/>
            <a:ext cx="8763000" cy="4498975"/>
          </a:xfrm>
          <a:ln/>
        </p:spPr>
        <p:txBody>
          <a:bodyPr vert="horz" wrap="square" lIns="91440" tIns="45720" rIns="91440" bIns="45720" anchor="t" anchorCtr="0"/>
          <a:p>
            <a:pPr algn="just" eaLnBrk="1" hangingPunct="1">
              <a:spcBef>
                <a:spcPct val="50000"/>
              </a:spcBef>
              <a:buClrTx/>
              <a:buSzTx/>
              <a:buFontTx/>
              <a:buNone/>
            </a:pPr>
            <a:r>
              <a:rPr lang="zh-CN" altLang="en-US" sz="2800" b="1" dirty="0"/>
              <a:t>   前面我们已经对生产者</a:t>
            </a:r>
            <a:r>
              <a:rPr lang="en-US" altLang="zh-CN" sz="2800" b="1" dirty="0"/>
              <a:t>—</a:t>
            </a:r>
            <a:r>
              <a:rPr lang="zh-CN" altLang="en-US" sz="2800" b="1" dirty="0"/>
              <a:t>消费者问题</a:t>
            </a:r>
            <a:r>
              <a:rPr lang="en-US" altLang="zh-CN" sz="2800" b="1" dirty="0"/>
              <a:t>(The proceducer-consumer problem)</a:t>
            </a:r>
            <a:r>
              <a:rPr lang="zh-CN" altLang="en-US" sz="2800" b="1" dirty="0"/>
              <a:t>做了一些描述，但未考虑进程的互斥与同步问题，因而造成了数据</a:t>
            </a:r>
            <a:r>
              <a:rPr lang="en-US" altLang="zh-CN" sz="2800" b="1" dirty="0"/>
              <a:t>Counter</a:t>
            </a:r>
            <a:r>
              <a:rPr lang="zh-CN" altLang="en-US" sz="2800" b="1" dirty="0"/>
              <a:t>的不定性。</a:t>
            </a:r>
            <a:endParaRPr lang="zh-CN" altLang="en-US" sz="2800" b="1" dirty="0"/>
          </a:p>
          <a:p>
            <a:pPr algn="just" eaLnBrk="1" hangingPunct="1">
              <a:spcBef>
                <a:spcPct val="50000"/>
              </a:spcBef>
              <a:buClrTx/>
              <a:buSzTx/>
              <a:buFontTx/>
              <a:buNone/>
            </a:pPr>
            <a:r>
              <a:rPr lang="zh-CN" altLang="en-US" sz="2800" b="1" dirty="0"/>
              <a:t>	由于生产者</a:t>
            </a:r>
            <a:r>
              <a:rPr lang="en-US" altLang="zh-CN" sz="2800" b="1" dirty="0"/>
              <a:t>—</a:t>
            </a:r>
            <a:r>
              <a:rPr lang="zh-CN" altLang="en-US" sz="2800" b="1" dirty="0"/>
              <a:t>消费者问题是相互合作的进程关系的一种抽象，例如， 在输入时，输入进程是生产者，计算进程是消费者；而在输出时，则计算进程是生产者，而打印进程是消费者， 因此，该问题有很大的代表性及实用价值。 </a:t>
            </a:r>
            <a:endParaRPr lang="zh-CN" altLang="en-US" sz="2800" b="1" dirty="0"/>
          </a:p>
          <a:p>
            <a:pPr>
              <a:buFont typeface="Wingdings 2" panose="05020102010507070707" pitchFamily="18" charset="2"/>
              <a:buChar char="¡"/>
            </a:pPr>
            <a:endParaRPr lang="zh-CN" altLang="en-US" sz="2800" b="1"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621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621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生产者与消费者是一个广义的概念，可以代表一类具有相同属性的进程。</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生产者和消费者进程共享一个大小固定的缓冲区</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一个或多个生产者生产数据，并将生产的数据存入缓冲区，</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并有一个消费者从缓冲区中取数据。</a:t>
            </a:r>
            <a:r>
              <a:rPr kumimoji="0" lang="zh-CN" altLang="en-US" sz="2800" b="0" i="0" u="none" strike="noStrike" kern="0" cap="none" spc="0" normalizeH="0" baseline="0" noProof="0" smtClean="0">
                <a:ln>
                  <a:noFill/>
                </a:ln>
                <a:solidFill>
                  <a:schemeClr val="tx1"/>
                </a:solidFill>
                <a:effectLst/>
                <a:uLnTx/>
                <a:uFillTx/>
                <a:latin typeface="+mn-lt"/>
                <a:ea typeface="+mn-ea"/>
              </a:rPr>
              <a:t> </a:t>
            </a:r>
            <a:endParaRPr kumimoji="0" lang="zh-CN" altLang="en-US" sz="2800" b="0" i="0" u="none" strike="noStrike" kern="0" cap="none" spc="0" normalizeH="0" baseline="0" noProof="0" smtClean="0">
              <a:ln>
                <a:noFill/>
              </a:ln>
              <a:solidFill>
                <a:schemeClr val="tx1"/>
              </a:solidFill>
              <a:effectLst/>
              <a:uLnTx/>
              <a:uFillTx/>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606210"/>
                                        </p:tgtEl>
                                        <p:attrNameLst>
                                          <p:attrName>style.visibility</p:attrName>
                                        </p:attrNameLst>
                                      </p:cBhvr>
                                      <p:to>
                                        <p:strVal val="visible"/>
                                      </p:to>
                                    </p:set>
                                    <p:animEffect transition="in" filter="fade">
                                      <p:cBhvr>
                                        <p:cTn id="7" dur="2000"/>
                                        <p:tgtEl>
                                          <p:spTgt spid="6062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6211">
                                            <p:txEl>
                                              <p:charRg st="0" end="33"/>
                                            </p:txEl>
                                          </p:spTgt>
                                        </p:tgtEl>
                                        <p:attrNameLst>
                                          <p:attrName>style.visibility</p:attrName>
                                        </p:attrNameLst>
                                      </p:cBhvr>
                                      <p:to>
                                        <p:strVal val="visible"/>
                                      </p:to>
                                    </p:set>
                                    <p:animEffect transition="in" filter="fade">
                                      <p:cBhvr>
                                        <p:cTn id="12" dur="2000"/>
                                        <p:tgtEl>
                                          <p:spTgt spid="606211">
                                            <p:txEl>
                                              <p:charRg st="0"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6211">
                                            <p:txEl>
                                              <p:charRg st="34" end="56"/>
                                            </p:txEl>
                                          </p:spTgt>
                                        </p:tgtEl>
                                        <p:attrNameLst>
                                          <p:attrName>style.visibility</p:attrName>
                                        </p:attrNameLst>
                                      </p:cBhvr>
                                      <p:to>
                                        <p:strVal val="visible"/>
                                      </p:to>
                                    </p:set>
                                    <p:animEffect transition="in" filter="fade">
                                      <p:cBhvr>
                                        <p:cTn id="17" dur="2000"/>
                                        <p:tgtEl>
                                          <p:spTgt spid="606211">
                                            <p:txEl>
                                              <p:charRg st="34" end="56"/>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06211">
                                            <p:txEl>
                                              <p:charRg st="56" end="83"/>
                                            </p:txEl>
                                          </p:spTgt>
                                        </p:tgtEl>
                                        <p:attrNameLst>
                                          <p:attrName>style.visibility</p:attrName>
                                        </p:attrNameLst>
                                      </p:cBhvr>
                                      <p:to>
                                        <p:strVal val="visible"/>
                                      </p:to>
                                    </p:set>
                                    <p:animEffect transition="in" filter="fade">
                                      <p:cBhvr>
                                        <p:cTn id="20" dur="2000"/>
                                        <p:tgtEl>
                                          <p:spTgt spid="606211">
                                            <p:txEl>
                                              <p:charRg st="56" end="8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06211">
                                            <p:txEl>
                                              <p:charRg st="83" end="101"/>
                                            </p:txEl>
                                          </p:spTgt>
                                        </p:tgtEl>
                                        <p:attrNameLst>
                                          <p:attrName>style.visibility</p:attrName>
                                        </p:attrNameLst>
                                      </p:cBhvr>
                                      <p:to>
                                        <p:strVal val="visible"/>
                                      </p:to>
                                    </p:set>
                                    <p:animEffect transition="in" filter="fade">
                                      <p:cBhvr>
                                        <p:cTn id="23" dur="2000"/>
                                        <p:tgtEl>
                                          <p:spTgt spid="606211">
                                            <p:txEl>
                                              <p:charRg st="83"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10" grpId="0"/>
      <p:bldP spid="606211"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723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7235" name="Rectangle 3"/>
          <p:cNvSpPr>
            <a:spLocks noGrp="1" noRot="1" noChangeArrowheads="1"/>
          </p:cNvSpPr>
          <p:nvPr>
            <p:ph type="body" idx="1"/>
          </p:nvPr>
        </p:nvSpPr>
        <p:spPr>
          <a:xfrm>
            <a:off x="463550" y="1679575"/>
            <a:ext cx="8216900" cy="4343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假设缓冲区的大小为</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n</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（存储单元的个数），它可以被生产者和消费者循环使用。</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分别设置两个指针</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in</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out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in</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指向生产者将存放数据的存储单元</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Out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指向消费者将取数据的存储单元</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607234"/>
                                        </p:tgtEl>
                                        <p:attrNameLst>
                                          <p:attrName>style.visibility</p:attrName>
                                        </p:attrNameLst>
                                      </p:cBhvr>
                                      <p:to>
                                        <p:strVal val="visible"/>
                                      </p:to>
                                    </p:set>
                                    <p:animEffect transition="in" filter="fade">
                                      <p:cBhvr>
                                        <p:cTn id="7" dur="2000"/>
                                        <p:tgtEl>
                                          <p:spTgt spid="607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7235">
                                            <p:txEl>
                                              <p:charRg st="0" end="37"/>
                                            </p:txEl>
                                          </p:spTgt>
                                        </p:tgtEl>
                                        <p:attrNameLst>
                                          <p:attrName>style.visibility</p:attrName>
                                        </p:attrNameLst>
                                      </p:cBhvr>
                                      <p:to>
                                        <p:strVal val="visible"/>
                                      </p:to>
                                    </p:set>
                                    <p:animEffect transition="in" filter="fade">
                                      <p:cBhvr>
                                        <p:cTn id="12" dur="2000"/>
                                        <p:tgtEl>
                                          <p:spTgt spid="607235">
                                            <p:txEl>
                                              <p:charRg st="0" end="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7235">
                                            <p:txEl>
                                              <p:charRg st="38" end="54"/>
                                            </p:txEl>
                                          </p:spTgt>
                                        </p:tgtEl>
                                        <p:attrNameLst>
                                          <p:attrName>style.visibility</p:attrName>
                                        </p:attrNameLst>
                                      </p:cBhvr>
                                      <p:to>
                                        <p:strVal val="visible"/>
                                      </p:to>
                                    </p:set>
                                    <p:animEffect transition="in" filter="fade">
                                      <p:cBhvr>
                                        <p:cTn id="17" dur="2000"/>
                                        <p:tgtEl>
                                          <p:spTgt spid="607235">
                                            <p:txEl>
                                              <p:charRg st="38" end="5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07235">
                                            <p:txEl>
                                              <p:charRg st="54" end="72"/>
                                            </p:txEl>
                                          </p:spTgt>
                                        </p:tgtEl>
                                        <p:attrNameLst>
                                          <p:attrName>style.visibility</p:attrName>
                                        </p:attrNameLst>
                                      </p:cBhvr>
                                      <p:to>
                                        <p:strVal val="visible"/>
                                      </p:to>
                                    </p:set>
                                    <p:animEffect transition="in" filter="fade">
                                      <p:cBhvr>
                                        <p:cTn id="20" dur="2000"/>
                                        <p:tgtEl>
                                          <p:spTgt spid="607235">
                                            <p:txEl>
                                              <p:charRg st="54" end="7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07235">
                                            <p:txEl>
                                              <p:charRg st="72" end="90"/>
                                            </p:txEl>
                                          </p:spTgt>
                                        </p:tgtEl>
                                        <p:attrNameLst>
                                          <p:attrName>style.visibility</p:attrName>
                                        </p:attrNameLst>
                                      </p:cBhvr>
                                      <p:to>
                                        <p:strVal val="visible"/>
                                      </p:to>
                                    </p:set>
                                    <p:animEffect transition="in" filter="fade">
                                      <p:cBhvr>
                                        <p:cTn id="23" dur="2000"/>
                                        <p:tgtEl>
                                          <p:spTgt spid="607235">
                                            <p:txEl>
                                              <p:charRg st="72" end="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234" grpId="0"/>
      <p:bldP spid="607235"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4"/>
          <p:cNvSpPr/>
          <p:nvPr/>
        </p:nvSpPr>
        <p:spPr>
          <a:xfrm>
            <a:off x="685800" y="838200"/>
            <a:ext cx="8001000" cy="54102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nvGrpSpPr>
          <p:cNvPr id="125955" name="Group 2"/>
          <p:cNvGrpSpPr/>
          <p:nvPr/>
        </p:nvGrpSpPr>
        <p:grpSpPr>
          <a:xfrm>
            <a:off x="2514600" y="990600"/>
            <a:ext cx="3956050" cy="1743075"/>
            <a:chOff x="2697" y="8928"/>
            <a:chExt cx="4500" cy="1872"/>
          </a:xfrm>
        </p:grpSpPr>
        <p:grpSp>
          <p:nvGrpSpPr>
            <p:cNvPr id="126023" name="Group 3"/>
            <p:cNvGrpSpPr/>
            <p:nvPr/>
          </p:nvGrpSpPr>
          <p:grpSpPr>
            <a:xfrm>
              <a:off x="2697" y="8928"/>
              <a:ext cx="4500" cy="936"/>
              <a:chOff x="2697" y="9552"/>
              <a:chExt cx="4500" cy="936"/>
            </a:xfrm>
          </p:grpSpPr>
          <p:grpSp>
            <p:nvGrpSpPr>
              <p:cNvPr id="126031" name="Group 4"/>
              <p:cNvGrpSpPr/>
              <p:nvPr/>
            </p:nvGrpSpPr>
            <p:grpSpPr>
              <a:xfrm>
                <a:off x="3777" y="10020"/>
                <a:ext cx="2700" cy="468"/>
                <a:chOff x="3777" y="9240"/>
                <a:chExt cx="2700" cy="468"/>
              </a:xfrm>
            </p:grpSpPr>
            <p:sp>
              <p:nvSpPr>
                <p:cNvPr id="126060" name="Line 5"/>
                <p:cNvSpPr/>
                <p:nvPr/>
              </p:nvSpPr>
              <p:spPr>
                <a:xfrm>
                  <a:off x="3777" y="9240"/>
                  <a:ext cx="0" cy="468"/>
                </a:xfrm>
                <a:prstGeom prst="line">
                  <a:avLst/>
                </a:prstGeom>
                <a:ln w="9525" cap="flat" cmpd="sng">
                  <a:solidFill>
                    <a:srgbClr val="000000"/>
                  </a:solidFill>
                  <a:prstDash val="solid"/>
                  <a:headEnd type="none" w="med" len="med"/>
                  <a:tailEnd type="none" w="med" len="med"/>
                </a:ln>
              </p:spPr>
            </p:sp>
            <p:sp>
              <p:nvSpPr>
                <p:cNvPr id="126061" name="Line 6"/>
                <p:cNvSpPr/>
                <p:nvPr/>
              </p:nvSpPr>
              <p:spPr>
                <a:xfrm>
                  <a:off x="4137" y="9240"/>
                  <a:ext cx="0" cy="468"/>
                </a:xfrm>
                <a:prstGeom prst="line">
                  <a:avLst/>
                </a:prstGeom>
                <a:ln w="9525" cap="flat" cmpd="sng">
                  <a:solidFill>
                    <a:srgbClr val="000000"/>
                  </a:solidFill>
                  <a:prstDash val="solid"/>
                  <a:headEnd type="none" w="med" len="med"/>
                  <a:tailEnd type="none" w="med" len="med"/>
                </a:ln>
              </p:spPr>
            </p:sp>
            <p:sp>
              <p:nvSpPr>
                <p:cNvPr id="126062" name="Line 7"/>
                <p:cNvSpPr/>
                <p:nvPr/>
              </p:nvSpPr>
              <p:spPr>
                <a:xfrm>
                  <a:off x="4497" y="9240"/>
                  <a:ext cx="0" cy="468"/>
                </a:xfrm>
                <a:prstGeom prst="line">
                  <a:avLst/>
                </a:prstGeom>
                <a:ln w="9525" cap="flat" cmpd="sng">
                  <a:solidFill>
                    <a:srgbClr val="000000"/>
                  </a:solidFill>
                  <a:prstDash val="solid"/>
                  <a:headEnd type="none" w="med" len="med"/>
                  <a:tailEnd type="none" w="med" len="med"/>
                </a:ln>
              </p:spPr>
            </p:sp>
            <p:sp>
              <p:nvSpPr>
                <p:cNvPr id="126063" name="Line 8"/>
                <p:cNvSpPr/>
                <p:nvPr/>
              </p:nvSpPr>
              <p:spPr>
                <a:xfrm>
                  <a:off x="4857" y="9240"/>
                  <a:ext cx="0" cy="468"/>
                </a:xfrm>
                <a:prstGeom prst="line">
                  <a:avLst/>
                </a:prstGeom>
                <a:ln w="9525" cap="flat" cmpd="sng">
                  <a:solidFill>
                    <a:srgbClr val="000000"/>
                  </a:solidFill>
                  <a:prstDash val="solid"/>
                  <a:headEnd type="none" w="med" len="med"/>
                  <a:tailEnd type="none" w="med" len="med"/>
                </a:ln>
              </p:spPr>
            </p:sp>
            <p:sp>
              <p:nvSpPr>
                <p:cNvPr id="126064" name="Line 9"/>
                <p:cNvSpPr/>
                <p:nvPr/>
              </p:nvSpPr>
              <p:spPr>
                <a:xfrm>
                  <a:off x="5937" y="9552"/>
                  <a:ext cx="540" cy="0"/>
                </a:xfrm>
                <a:prstGeom prst="line">
                  <a:avLst/>
                </a:prstGeom>
                <a:ln w="38100" cap="rnd" cmpd="sng">
                  <a:solidFill>
                    <a:srgbClr val="000000"/>
                  </a:solidFill>
                  <a:prstDash val="sysDot"/>
                  <a:headEnd type="none" w="med" len="med"/>
                  <a:tailEnd type="none" w="med" len="med"/>
                </a:ln>
              </p:spPr>
            </p:sp>
          </p:grpSp>
          <p:grpSp>
            <p:nvGrpSpPr>
              <p:cNvPr id="126032" name="Group 10"/>
              <p:cNvGrpSpPr/>
              <p:nvPr/>
            </p:nvGrpSpPr>
            <p:grpSpPr>
              <a:xfrm>
                <a:off x="2697" y="9552"/>
                <a:ext cx="4500" cy="936"/>
                <a:chOff x="2697" y="8772"/>
                <a:chExt cx="4500" cy="936"/>
              </a:xfrm>
            </p:grpSpPr>
            <p:grpSp>
              <p:nvGrpSpPr>
                <p:cNvPr id="126033" name="Group 11"/>
                <p:cNvGrpSpPr/>
                <p:nvPr/>
              </p:nvGrpSpPr>
              <p:grpSpPr>
                <a:xfrm>
                  <a:off x="3777" y="9240"/>
                  <a:ext cx="360" cy="468"/>
                  <a:chOff x="3777" y="9240"/>
                  <a:chExt cx="360" cy="468"/>
                </a:xfrm>
              </p:grpSpPr>
              <p:sp>
                <p:nvSpPr>
                  <p:cNvPr id="126056" name="Line 12"/>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57" name="Line 13"/>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58" name="Line 14"/>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59" name="Line 15"/>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6034" name="Group 16"/>
                <p:cNvGrpSpPr/>
                <p:nvPr/>
              </p:nvGrpSpPr>
              <p:grpSpPr>
                <a:xfrm>
                  <a:off x="4137" y="9240"/>
                  <a:ext cx="360" cy="468"/>
                  <a:chOff x="3777" y="9240"/>
                  <a:chExt cx="360" cy="468"/>
                </a:xfrm>
              </p:grpSpPr>
              <p:sp>
                <p:nvSpPr>
                  <p:cNvPr id="126052" name="Line 17"/>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53" name="Line 18"/>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54" name="Line 19"/>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55" name="Line 20"/>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6035" name="Group 21"/>
                <p:cNvGrpSpPr/>
                <p:nvPr/>
              </p:nvGrpSpPr>
              <p:grpSpPr>
                <a:xfrm>
                  <a:off x="4497" y="9240"/>
                  <a:ext cx="360" cy="468"/>
                  <a:chOff x="3777" y="9240"/>
                  <a:chExt cx="360" cy="468"/>
                </a:xfrm>
              </p:grpSpPr>
              <p:sp>
                <p:nvSpPr>
                  <p:cNvPr id="126048" name="Line 22"/>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49" name="Line 23"/>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50" name="Line 24"/>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51" name="Line 25"/>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6036" name="Group 26"/>
                <p:cNvGrpSpPr/>
                <p:nvPr/>
              </p:nvGrpSpPr>
              <p:grpSpPr>
                <a:xfrm>
                  <a:off x="2697" y="8772"/>
                  <a:ext cx="4500" cy="936"/>
                  <a:chOff x="2697" y="8772"/>
                  <a:chExt cx="4500" cy="936"/>
                </a:xfrm>
              </p:grpSpPr>
              <p:grpSp>
                <p:nvGrpSpPr>
                  <p:cNvPr id="126037" name="Group 27"/>
                  <p:cNvGrpSpPr/>
                  <p:nvPr/>
                </p:nvGrpSpPr>
                <p:grpSpPr>
                  <a:xfrm>
                    <a:off x="2697" y="9240"/>
                    <a:ext cx="4500" cy="468"/>
                    <a:chOff x="2697" y="9240"/>
                    <a:chExt cx="4500" cy="468"/>
                  </a:xfrm>
                </p:grpSpPr>
                <p:sp>
                  <p:nvSpPr>
                    <p:cNvPr id="126039" name="Line 28"/>
                    <p:cNvSpPr/>
                    <p:nvPr/>
                  </p:nvSpPr>
                  <p:spPr>
                    <a:xfrm>
                      <a:off x="2697" y="9240"/>
                      <a:ext cx="4500" cy="0"/>
                    </a:xfrm>
                    <a:prstGeom prst="line">
                      <a:avLst/>
                    </a:prstGeom>
                    <a:ln w="9525" cap="flat" cmpd="sng">
                      <a:solidFill>
                        <a:srgbClr val="000000"/>
                      </a:solidFill>
                      <a:prstDash val="solid"/>
                      <a:headEnd type="none" w="med" len="med"/>
                      <a:tailEnd type="none" w="med" len="med"/>
                    </a:ln>
                  </p:spPr>
                </p:sp>
                <p:sp>
                  <p:nvSpPr>
                    <p:cNvPr id="126040" name="Line 29"/>
                    <p:cNvSpPr/>
                    <p:nvPr/>
                  </p:nvSpPr>
                  <p:spPr>
                    <a:xfrm>
                      <a:off x="2697" y="9708"/>
                      <a:ext cx="4500" cy="0"/>
                    </a:xfrm>
                    <a:prstGeom prst="line">
                      <a:avLst/>
                    </a:prstGeom>
                    <a:ln w="9525" cap="flat" cmpd="sng">
                      <a:solidFill>
                        <a:srgbClr val="000000"/>
                      </a:solidFill>
                      <a:prstDash val="solid"/>
                      <a:headEnd type="none" w="med" len="med"/>
                      <a:tailEnd type="none" w="med" len="med"/>
                    </a:ln>
                  </p:spPr>
                </p:sp>
                <p:sp>
                  <p:nvSpPr>
                    <p:cNvPr id="126041" name="Line 30"/>
                    <p:cNvSpPr/>
                    <p:nvPr/>
                  </p:nvSpPr>
                  <p:spPr>
                    <a:xfrm>
                      <a:off x="2697" y="9240"/>
                      <a:ext cx="0" cy="468"/>
                    </a:xfrm>
                    <a:prstGeom prst="line">
                      <a:avLst/>
                    </a:prstGeom>
                    <a:ln w="9525" cap="flat" cmpd="sng">
                      <a:solidFill>
                        <a:srgbClr val="000000"/>
                      </a:solidFill>
                      <a:prstDash val="solid"/>
                      <a:headEnd type="none" w="med" len="med"/>
                      <a:tailEnd type="none" w="med" len="med"/>
                    </a:ln>
                  </p:spPr>
                </p:sp>
                <p:sp>
                  <p:nvSpPr>
                    <p:cNvPr id="126042" name="Line 31"/>
                    <p:cNvSpPr/>
                    <p:nvPr/>
                  </p:nvSpPr>
                  <p:spPr>
                    <a:xfrm>
                      <a:off x="7197" y="9240"/>
                      <a:ext cx="0" cy="468"/>
                    </a:xfrm>
                    <a:prstGeom prst="line">
                      <a:avLst/>
                    </a:prstGeom>
                    <a:ln w="9525" cap="flat" cmpd="sng">
                      <a:solidFill>
                        <a:srgbClr val="000000"/>
                      </a:solidFill>
                      <a:prstDash val="solid"/>
                      <a:headEnd type="none" w="med" len="med"/>
                      <a:tailEnd type="none" w="med" len="med"/>
                    </a:ln>
                  </p:spPr>
                </p:sp>
                <p:sp>
                  <p:nvSpPr>
                    <p:cNvPr id="126043" name="Line 32"/>
                    <p:cNvSpPr/>
                    <p:nvPr/>
                  </p:nvSpPr>
                  <p:spPr>
                    <a:xfrm>
                      <a:off x="3057" y="9240"/>
                      <a:ext cx="0" cy="468"/>
                    </a:xfrm>
                    <a:prstGeom prst="line">
                      <a:avLst/>
                    </a:prstGeom>
                    <a:ln w="9525" cap="flat" cmpd="sng">
                      <a:solidFill>
                        <a:srgbClr val="000000"/>
                      </a:solidFill>
                      <a:prstDash val="solid"/>
                      <a:headEnd type="none" w="med" len="med"/>
                      <a:tailEnd type="none" w="med" len="med"/>
                    </a:ln>
                  </p:spPr>
                </p:sp>
                <p:sp>
                  <p:nvSpPr>
                    <p:cNvPr id="126044" name="Line 33"/>
                    <p:cNvSpPr/>
                    <p:nvPr/>
                  </p:nvSpPr>
                  <p:spPr>
                    <a:xfrm>
                      <a:off x="3417" y="9240"/>
                      <a:ext cx="0" cy="468"/>
                    </a:xfrm>
                    <a:prstGeom prst="line">
                      <a:avLst/>
                    </a:prstGeom>
                    <a:ln w="9525" cap="flat" cmpd="sng">
                      <a:solidFill>
                        <a:srgbClr val="000000"/>
                      </a:solidFill>
                      <a:prstDash val="solid"/>
                      <a:headEnd type="none" w="med" len="med"/>
                      <a:tailEnd type="none" w="med" len="med"/>
                    </a:ln>
                  </p:spPr>
                </p:sp>
                <p:sp>
                  <p:nvSpPr>
                    <p:cNvPr id="126045" name="Line 34"/>
                    <p:cNvSpPr/>
                    <p:nvPr/>
                  </p:nvSpPr>
                  <p:spPr>
                    <a:xfrm>
                      <a:off x="5217" y="9240"/>
                      <a:ext cx="0" cy="468"/>
                    </a:xfrm>
                    <a:prstGeom prst="line">
                      <a:avLst/>
                    </a:prstGeom>
                    <a:ln w="9525" cap="flat" cmpd="sng">
                      <a:solidFill>
                        <a:srgbClr val="000000"/>
                      </a:solidFill>
                      <a:prstDash val="solid"/>
                      <a:headEnd type="none" w="med" len="med"/>
                      <a:tailEnd type="none" w="med" len="med"/>
                    </a:ln>
                  </p:spPr>
                </p:sp>
                <p:sp>
                  <p:nvSpPr>
                    <p:cNvPr id="126046" name="Line 35"/>
                    <p:cNvSpPr/>
                    <p:nvPr/>
                  </p:nvSpPr>
                  <p:spPr>
                    <a:xfrm>
                      <a:off x="5577" y="9240"/>
                      <a:ext cx="0" cy="468"/>
                    </a:xfrm>
                    <a:prstGeom prst="line">
                      <a:avLst/>
                    </a:prstGeom>
                    <a:ln w="9525" cap="flat" cmpd="sng">
                      <a:solidFill>
                        <a:srgbClr val="000000"/>
                      </a:solidFill>
                      <a:prstDash val="solid"/>
                      <a:headEnd type="none" w="med" len="med"/>
                      <a:tailEnd type="none" w="med" len="med"/>
                    </a:ln>
                  </p:spPr>
                </p:sp>
                <p:sp>
                  <p:nvSpPr>
                    <p:cNvPr id="126047" name="Line 36"/>
                    <p:cNvSpPr/>
                    <p:nvPr/>
                  </p:nvSpPr>
                  <p:spPr>
                    <a:xfrm>
                      <a:off x="6837" y="9240"/>
                      <a:ext cx="0" cy="468"/>
                    </a:xfrm>
                    <a:prstGeom prst="line">
                      <a:avLst/>
                    </a:prstGeom>
                    <a:ln w="9525" cap="flat" cmpd="sng">
                      <a:solidFill>
                        <a:srgbClr val="000000"/>
                      </a:solidFill>
                      <a:prstDash val="solid"/>
                      <a:headEnd type="none" w="med" len="med"/>
                      <a:tailEnd type="none" w="med" len="med"/>
                    </a:ln>
                  </p:spPr>
                </p:sp>
              </p:grpSp>
              <p:sp>
                <p:nvSpPr>
                  <p:cNvPr id="126038" name="Text Box 37"/>
                  <p:cNvSpPr txBox="1"/>
                  <p:nvPr/>
                </p:nvSpPr>
                <p:spPr>
                  <a:xfrm>
                    <a:off x="2697" y="8772"/>
                    <a:ext cx="450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1  2  3   4  5   6  7  8</a:t>
                    </a:r>
                    <a:r>
                      <a:rPr lang="en-US" altLang="zh-CN" sz="2400" b="1" dirty="0">
                        <a:latin typeface="Times New Roman" panose="02020603050405020304" pitchFamily="18" charset="0"/>
                      </a:rPr>
                      <a:t>               n</a:t>
                    </a:r>
                    <a:endParaRPr lang="en-US" altLang="zh-CN" sz="2400" b="1" dirty="0">
                      <a:latin typeface="Times New Roman" panose="02020603050405020304" pitchFamily="18" charset="0"/>
                    </a:endParaRPr>
                  </a:p>
                </p:txBody>
              </p:sp>
            </p:grpSp>
          </p:grpSp>
        </p:grpSp>
        <p:grpSp>
          <p:nvGrpSpPr>
            <p:cNvPr id="126024" name="Group 38"/>
            <p:cNvGrpSpPr/>
            <p:nvPr/>
          </p:nvGrpSpPr>
          <p:grpSpPr>
            <a:xfrm>
              <a:off x="3597" y="9864"/>
              <a:ext cx="717" cy="624"/>
              <a:chOff x="3597" y="9864"/>
              <a:chExt cx="717" cy="624"/>
            </a:xfrm>
          </p:grpSpPr>
          <p:sp>
            <p:nvSpPr>
              <p:cNvPr id="126029" name="Line 39"/>
              <p:cNvSpPr/>
              <p:nvPr/>
            </p:nvSpPr>
            <p:spPr>
              <a:xfrm flipV="1">
                <a:off x="3957" y="9864"/>
                <a:ext cx="0" cy="312"/>
              </a:xfrm>
              <a:prstGeom prst="line">
                <a:avLst/>
              </a:prstGeom>
              <a:ln w="9525" cap="flat" cmpd="sng">
                <a:solidFill>
                  <a:srgbClr val="000000"/>
                </a:solidFill>
                <a:prstDash val="solid"/>
                <a:headEnd type="none" w="med" len="med"/>
                <a:tailEnd type="triangle" w="med" len="med"/>
              </a:ln>
            </p:spPr>
          </p:sp>
          <p:sp>
            <p:nvSpPr>
              <p:cNvPr id="126030" name="Text Box 40"/>
              <p:cNvSpPr txBox="1"/>
              <p:nvPr/>
            </p:nvSpPr>
            <p:spPr>
              <a:xfrm>
                <a:off x="3597" y="10020"/>
                <a:ext cx="717"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out</a:t>
                </a:r>
                <a:endParaRPr lang="en-US" altLang="zh-CN" sz="2400" b="1" dirty="0">
                  <a:solidFill>
                    <a:srgbClr val="003300"/>
                  </a:solidFill>
                  <a:latin typeface="Times New Roman" panose="02020603050405020304" pitchFamily="18" charset="0"/>
                </a:endParaRPr>
              </a:p>
            </p:txBody>
          </p:sp>
        </p:grpSp>
        <p:grpSp>
          <p:nvGrpSpPr>
            <p:cNvPr id="126025" name="Group 41"/>
            <p:cNvGrpSpPr/>
            <p:nvPr/>
          </p:nvGrpSpPr>
          <p:grpSpPr>
            <a:xfrm>
              <a:off x="4857" y="9864"/>
              <a:ext cx="540" cy="624"/>
              <a:chOff x="4857" y="9864"/>
              <a:chExt cx="540" cy="624"/>
            </a:xfrm>
          </p:grpSpPr>
          <p:sp>
            <p:nvSpPr>
              <p:cNvPr id="126027" name="Line 42"/>
              <p:cNvSpPr/>
              <p:nvPr/>
            </p:nvSpPr>
            <p:spPr>
              <a:xfrm flipV="1">
                <a:off x="5037" y="9864"/>
                <a:ext cx="0" cy="312"/>
              </a:xfrm>
              <a:prstGeom prst="line">
                <a:avLst/>
              </a:prstGeom>
              <a:ln w="9525" cap="flat" cmpd="sng">
                <a:solidFill>
                  <a:srgbClr val="000000"/>
                </a:solidFill>
                <a:prstDash val="solid"/>
                <a:headEnd type="none" w="med" len="med"/>
                <a:tailEnd type="triangle" w="med" len="med"/>
              </a:ln>
            </p:spPr>
          </p:sp>
          <p:sp>
            <p:nvSpPr>
              <p:cNvPr id="126028" name="Text Box 43"/>
              <p:cNvSpPr txBox="1"/>
              <p:nvPr/>
            </p:nvSpPr>
            <p:spPr>
              <a:xfrm>
                <a:off x="4857" y="10020"/>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000" b="1" dirty="0">
                    <a:solidFill>
                      <a:srgbClr val="003300"/>
                    </a:solidFill>
                    <a:latin typeface="Times New Roman" panose="02020603050405020304" pitchFamily="18" charset="0"/>
                  </a:rPr>
                  <a:t>in</a:t>
                </a:r>
                <a:endParaRPr lang="en-US" altLang="zh-CN" sz="2000" b="1" dirty="0">
                  <a:solidFill>
                    <a:srgbClr val="003300"/>
                  </a:solidFill>
                  <a:latin typeface="Times New Roman" panose="02020603050405020304" pitchFamily="18" charset="0"/>
                </a:endParaRPr>
              </a:p>
            </p:txBody>
          </p:sp>
        </p:grpSp>
        <p:sp>
          <p:nvSpPr>
            <p:cNvPr id="126026" name="Text Box 44"/>
            <p:cNvSpPr txBox="1"/>
            <p:nvPr/>
          </p:nvSpPr>
          <p:spPr>
            <a:xfrm>
              <a:off x="4317" y="10332"/>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latin typeface="Times New Roman" panose="02020603050405020304" pitchFamily="18" charset="0"/>
                </a:rPr>
                <a:t>(a)</a:t>
              </a:r>
              <a:endParaRPr lang="en-US" altLang="zh-CN" sz="1800" b="1" dirty="0">
                <a:latin typeface="Times New Roman" panose="02020603050405020304" pitchFamily="18" charset="0"/>
              </a:endParaRPr>
            </a:p>
          </p:txBody>
        </p:sp>
      </p:grpSp>
      <p:grpSp>
        <p:nvGrpSpPr>
          <p:cNvPr id="125956" name="Group 45"/>
          <p:cNvGrpSpPr/>
          <p:nvPr/>
        </p:nvGrpSpPr>
        <p:grpSpPr>
          <a:xfrm>
            <a:off x="2514600" y="2514600"/>
            <a:ext cx="3956050" cy="1597025"/>
            <a:chOff x="2697" y="11580"/>
            <a:chExt cx="4500" cy="1716"/>
          </a:xfrm>
        </p:grpSpPr>
        <p:grpSp>
          <p:nvGrpSpPr>
            <p:cNvPr id="125965" name="Group 46"/>
            <p:cNvGrpSpPr/>
            <p:nvPr/>
          </p:nvGrpSpPr>
          <p:grpSpPr>
            <a:xfrm>
              <a:off x="5037" y="12516"/>
              <a:ext cx="717" cy="624"/>
              <a:chOff x="3597" y="9864"/>
              <a:chExt cx="717" cy="624"/>
            </a:xfrm>
          </p:grpSpPr>
          <p:sp>
            <p:nvSpPr>
              <p:cNvPr id="126021" name="Line 47"/>
              <p:cNvSpPr/>
              <p:nvPr/>
            </p:nvSpPr>
            <p:spPr>
              <a:xfrm flipV="1">
                <a:off x="3957" y="9864"/>
                <a:ext cx="0" cy="312"/>
              </a:xfrm>
              <a:prstGeom prst="line">
                <a:avLst/>
              </a:prstGeom>
              <a:ln w="9525" cap="flat" cmpd="sng">
                <a:solidFill>
                  <a:srgbClr val="000000"/>
                </a:solidFill>
                <a:prstDash val="solid"/>
                <a:headEnd type="none" w="med" len="med"/>
                <a:tailEnd type="triangle" w="med" len="med"/>
              </a:ln>
            </p:spPr>
          </p:sp>
          <p:sp>
            <p:nvSpPr>
              <p:cNvPr id="126022" name="Text Box 48"/>
              <p:cNvSpPr txBox="1"/>
              <p:nvPr/>
            </p:nvSpPr>
            <p:spPr>
              <a:xfrm>
                <a:off x="3597" y="10020"/>
                <a:ext cx="717"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latin typeface="Times New Roman" panose="02020603050405020304" pitchFamily="18" charset="0"/>
                  </a:rPr>
                  <a:t>out</a:t>
                </a:r>
                <a:endParaRPr lang="en-US" altLang="zh-CN" sz="2400" b="1" dirty="0">
                  <a:latin typeface="Times New Roman" panose="02020603050405020304" pitchFamily="18" charset="0"/>
                </a:endParaRPr>
              </a:p>
            </p:txBody>
          </p:sp>
        </p:grpSp>
        <p:grpSp>
          <p:nvGrpSpPr>
            <p:cNvPr id="125966" name="Group 49"/>
            <p:cNvGrpSpPr/>
            <p:nvPr/>
          </p:nvGrpSpPr>
          <p:grpSpPr>
            <a:xfrm>
              <a:off x="3417" y="12516"/>
              <a:ext cx="540" cy="624"/>
              <a:chOff x="4857" y="9864"/>
              <a:chExt cx="540" cy="624"/>
            </a:xfrm>
          </p:grpSpPr>
          <p:sp>
            <p:nvSpPr>
              <p:cNvPr id="126019" name="Line 50"/>
              <p:cNvSpPr/>
              <p:nvPr/>
            </p:nvSpPr>
            <p:spPr>
              <a:xfrm flipV="1">
                <a:off x="5037" y="9864"/>
                <a:ext cx="0" cy="312"/>
              </a:xfrm>
              <a:prstGeom prst="line">
                <a:avLst/>
              </a:prstGeom>
              <a:ln w="9525" cap="flat" cmpd="sng">
                <a:solidFill>
                  <a:srgbClr val="000000"/>
                </a:solidFill>
                <a:prstDash val="solid"/>
                <a:headEnd type="none" w="med" len="med"/>
                <a:tailEnd type="triangle" w="med" len="med"/>
              </a:ln>
            </p:spPr>
          </p:sp>
          <p:sp>
            <p:nvSpPr>
              <p:cNvPr id="126020" name="Text Box 51"/>
              <p:cNvSpPr txBox="1"/>
              <p:nvPr/>
            </p:nvSpPr>
            <p:spPr>
              <a:xfrm>
                <a:off x="4857" y="10020"/>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latin typeface="Times New Roman" panose="02020603050405020304" pitchFamily="18" charset="0"/>
                  </a:rPr>
                  <a:t>in</a:t>
                </a:r>
                <a:endParaRPr lang="en-US" altLang="zh-CN" sz="2400" b="1" dirty="0">
                  <a:latin typeface="Times New Roman" panose="02020603050405020304" pitchFamily="18" charset="0"/>
                </a:endParaRPr>
              </a:p>
            </p:txBody>
          </p:sp>
        </p:grpSp>
        <p:grpSp>
          <p:nvGrpSpPr>
            <p:cNvPr id="125967" name="Group 52"/>
            <p:cNvGrpSpPr/>
            <p:nvPr/>
          </p:nvGrpSpPr>
          <p:grpSpPr>
            <a:xfrm>
              <a:off x="2697" y="11580"/>
              <a:ext cx="4500" cy="1716"/>
              <a:chOff x="2697" y="11580"/>
              <a:chExt cx="4500" cy="1716"/>
            </a:xfrm>
          </p:grpSpPr>
          <p:grpSp>
            <p:nvGrpSpPr>
              <p:cNvPr id="125968" name="Group 53"/>
              <p:cNvGrpSpPr/>
              <p:nvPr/>
            </p:nvGrpSpPr>
            <p:grpSpPr>
              <a:xfrm>
                <a:off x="2697" y="11580"/>
                <a:ext cx="4500" cy="936"/>
                <a:chOff x="2697" y="12048"/>
                <a:chExt cx="4500" cy="936"/>
              </a:xfrm>
            </p:grpSpPr>
            <p:grpSp>
              <p:nvGrpSpPr>
                <p:cNvPr id="125970" name="Group 54"/>
                <p:cNvGrpSpPr/>
                <p:nvPr/>
              </p:nvGrpSpPr>
              <p:grpSpPr>
                <a:xfrm>
                  <a:off x="2697" y="12516"/>
                  <a:ext cx="4500" cy="468"/>
                  <a:chOff x="2697" y="11268"/>
                  <a:chExt cx="4500" cy="468"/>
                </a:xfrm>
              </p:grpSpPr>
              <p:grpSp>
                <p:nvGrpSpPr>
                  <p:cNvPr id="125988" name="Group 55"/>
                  <p:cNvGrpSpPr/>
                  <p:nvPr/>
                </p:nvGrpSpPr>
                <p:grpSpPr>
                  <a:xfrm>
                    <a:off x="5217" y="11268"/>
                    <a:ext cx="360" cy="468"/>
                    <a:chOff x="3777" y="9240"/>
                    <a:chExt cx="360" cy="468"/>
                  </a:xfrm>
                </p:grpSpPr>
                <p:sp>
                  <p:nvSpPr>
                    <p:cNvPr id="126015" name="Line 56"/>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16" name="Line 57"/>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17" name="Line 58"/>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18" name="Line 59"/>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89" name="Group 60"/>
                  <p:cNvGrpSpPr/>
                  <p:nvPr/>
                </p:nvGrpSpPr>
                <p:grpSpPr>
                  <a:xfrm>
                    <a:off x="2697" y="11268"/>
                    <a:ext cx="360" cy="468"/>
                    <a:chOff x="3777" y="9240"/>
                    <a:chExt cx="360" cy="468"/>
                  </a:xfrm>
                </p:grpSpPr>
                <p:sp>
                  <p:nvSpPr>
                    <p:cNvPr id="126011" name="Line 61"/>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12" name="Line 62"/>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13" name="Line 63"/>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14" name="Line 64"/>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90" name="Group 65"/>
                  <p:cNvGrpSpPr/>
                  <p:nvPr/>
                </p:nvGrpSpPr>
                <p:grpSpPr>
                  <a:xfrm>
                    <a:off x="3057" y="11268"/>
                    <a:ext cx="360" cy="468"/>
                    <a:chOff x="3777" y="9240"/>
                    <a:chExt cx="360" cy="468"/>
                  </a:xfrm>
                </p:grpSpPr>
                <p:sp>
                  <p:nvSpPr>
                    <p:cNvPr id="126007" name="Line 66"/>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08" name="Line 67"/>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09" name="Line 68"/>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10" name="Line 69"/>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91" name="Group 70"/>
                  <p:cNvGrpSpPr/>
                  <p:nvPr/>
                </p:nvGrpSpPr>
                <p:grpSpPr>
                  <a:xfrm>
                    <a:off x="5577" y="11268"/>
                    <a:ext cx="360" cy="468"/>
                    <a:chOff x="3777" y="9240"/>
                    <a:chExt cx="360" cy="468"/>
                  </a:xfrm>
                </p:grpSpPr>
                <p:sp>
                  <p:nvSpPr>
                    <p:cNvPr id="126003" name="Line 71"/>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04" name="Line 72"/>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05" name="Line 73"/>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06" name="Line 74"/>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92" name="Group 75"/>
                  <p:cNvGrpSpPr/>
                  <p:nvPr/>
                </p:nvGrpSpPr>
                <p:grpSpPr>
                  <a:xfrm>
                    <a:off x="6477" y="11268"/>
                    <a:ext cx="360" cy="468"/>
                    <a:chOff x="3777" y="9240"/>
                    <a:chExt cx="360" cy="468"/>
                  </a:xfrm>
                </p:grpSpPr>
                <p:sp>
                  <p:nvSpPr>
                    <p:cNvPr id="125999" name="Line 76"/>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00" name="Line 77"/>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01" name="Line 78"/>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02" name="Line 79"/>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93" name="Group 80"/>
                  <p:cNvGrpSpPr/>
                  <p:nvPr/>
                </p:nvGrpSpPr>
                <p:grpSpPr>
                  <a:xfrm>
                    <a:off x="6837" y="11268"/>
                    <a:ext cx="360" cy="468"/>
                    <a:chOff x="3777" y="9240"/>
                    <a:chExt cx="360" cy="468"/>
                  </a:xfrm>
                </p:grpSpPr>
                <p:sp>
                  <p:nvSpPr>
                    <p:cNvPr id="125995" name="Line 81"/>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5996" name="Line 82"/>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5997" name="Line 83"/>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5998" name="Line 84"/>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sp>
                <p:nvSpPr>
                  <p:cNvPr id="125994" name="Line 85"/>
                  <p:cNvSpPr/>
                  <p:nvPr/>
                </p:nvSpPr>
                <p:spPr>
                  <a:xfrm>
                    <a:off x="5937" y="11580"/>
                    <a:ext cx="540" cy="0"/>
                  </a:xfrm>
                  <a:prstGeom prst="line">
                    <a:avLst/>
                  </a:prstGeom>
                  <a:ln w="38100" cap="rnd" cmpd="sng">
                    <a:solidFill>
                      <a:srgbClr val="000000"/>
                    </a:solidFill>
                    <a:prstDash val="sysDot"/>
                    <a:headEnd type="none" w="med" len="med"/>
                    <a:tailEnd type="none" w="med" len="med"/>
                  </a:ln>
                </p:spPr>
              </p:sp>
            </p:grpSp>
            <p:grpSp>
              <p:nvGrpSpPr>
                <p:cNvPr id="125971" name="Group 86"/>
                <p:cNvGrpSpPr/>
                <p:nvPr/>
              </p:nvGrpSpPr>
              <p:grpSpPr>
                <a:xfrm>
                  <a:off x="2697" y="12048"/>
                  <a:ext cx="4500" cy="936"/>
                  <a:chOff x="2697" y="10800"/>
                  <a:chExt cx="4500" cy="936"/>
                </a:xfrm>
              </p:grpSpPr>
              <p:grpSp>
                <p:nvGrpSpPr>
                  <p:cNvPr id="125972" name="Group 87"/>
                  <p:cNvGrpSpPr/>
                  <p:nvPr/>
                </p:nvGrpSpPr>
                <p:grpSpPr>
                  <a:xfrm>
                    <a:off x="2697" y="10800"/>
                    <a:ext cx="4500" cy="936"/>
                    <a:chOff x="2697" y="8772"/>
                    <a:chExt cx="4500" cy="936"/>
                  </a:xfrm>
                </p:grpSpPr>
                <p:grpSp>
                  <p:nvGrpSpPr>
                    <p:cNvPr id="125977" name="Group 88"/>
                    <p:cNvGrpSpPr/>
                    <p:nvPr/>
                  </p:nvGrpSpPr>
                  <p:grpSpPr>
                    <a:xfrm>
                      <a:off x="2697" y="9240"/>
                      <a:ext cx="4500" cy="468"/>
                      <a:chOff x="2697" y="9240"/>
                      <a:chExt cx="4500" cy="468"/>
                    </a:xfrm>
                  </p:grpSpPr>
                  <p:sp>
                    <p:nvSpPr>
                      <p:cNvPr id="125979" name="Line 89"/>
                      <p:cNvSpPr/>
                      <p:nvPr/>
                    </p:nvSpPr>
                    <p:spPr>
                      <a:xfrm>
                        <a:off x="2697" y="9240"/>
                        <a:ext cx="4500" cy="0"/>
                      </a:xfrm>
                      <a:prstGeom prst="line">
                        <a:avLst/>
                      </a:prstGeom>
                      <a:ln w="9525" cap="flat" cmpd="sng">
                        <a:solidFill>
                          <a:srgbClr val="000000"/>
                        </a:solidFill>
                        <a:prstDash val="solid"/>
                        <a:headEnd type="none" w="med" len="med"/>
                        <a:tailEnd type="none" w="med" len="med"/>
                      </a:ln>
                    </p:spPr>
                  </p:sp>
                  <p:sp>
                    <p:nvSpPr>
                      <p:cNvPr id="125980" name="Line 90"/>
                      <p:cNvSpPr/>
                      <p:nvPr/>
                    </p:nvSpPr>
                    <p:spPr>
                      <a:xfrm>
                        <a:off x="2697" y="9708"/>
                        <a:ext cx="4500" cy="0"/>
                      </a:xfrm>
                      <a:prstGeom prst="line">
                        <a:avLst/>
                      </a:prstGeom>
                      <a:ln w="9525" cap="flat" cmpd="sng">
                        <a:solidFill>
                          <a:srgbClr val="000000"/>
                        </a:solidFill>
                        <a:prstDash val="solid"/>
                        <a:headEnd type="none" w="med" len="med"/>
                        <a:tailEnd type="none" w="med" len="med"/>
                      </a:ln>
                    </p:spPr>
                  </p:sp>
                  <p:sp>
                    <p:nvSpPr>
                      <p:cNvPr id="125981" name="Line 91"/>
                      <p:cNvSpPr/>
                      <p:nvPr/>
                    </p:nvSpPr>
                    <p:spPr>
                      <a:xfrm>
                        <a:off x="2697" y="9240"/>
                        <a:ext cx="0" cy="468"/>
                      </a:xfrm>
                      <a:prstGeom prst="line">
                        <a:avLst/>
                      </a:prstGeom>
                      <a:ln w="9525" cap="flat" cmpd="sng">
                        <a:solidFill>
                          <a:srgbClr val="000000"/>
                        </a:solidFill>
                        <a:prstDash val="solid"/>
                        <a:headEnd type="none" w="med" len="med"/>
                        <a:tailEnd type="none" w="med" len="med"/>
                      </a:ln>
                    </p:spPr>
                  </p:sp>
                  <p:sp>
                    <p:nvSpPr>
                      <p:cNvPr id="125982" name="Line 92"/>
                      <p:cNvSpPr/>
                      <p:nvPr/>
                    </p:nvSpPr>
                    <p:spPr>
                      <a:xfrm>
                        <a:off x="7197" y="9240"/>
                        <a:ext cx="0" cy="468"/>
                      </a:xfrm>
                      <a:prstGeom prst="line">
                        <a:avLst/>
                      </a:prstGeom>
                      <a:ln w="9525" cap="flat" cmpd="sng">
                        <a:solidFill>
                          <a:srgbClr val="000000"/>
                        </a:solidFill>
                        <a:prstDash val="solid"/>
                        <a:headEnd type="none" w="med" len="med"/>
                        <a:tailEnd type="none" w="med" len="med"/>
                      </a:ln>
                    </p:spPr>
                  </p:sp>
                  <p:sp>
                    <p:nvSpPr>
                      <p:cNvPr id="125983" name="Line 93"/>
                      <p:cNvSpPr/>
                      <p:nvPr/>
                    </p:nvSpPr>
                    <p:spPr>
                      <a:xfrm>
                        <a:off x="3057" y="9240"/>
                        <a:ext cx="0" cy="468"/>
                      </a:xfrm>
                      <a:prstGeom prst="line">
                        <a:avLst/>
                      </a:prstGeom>
                      <a:ln w="9525" cap="flat" cmpd="sng">
                        <a:solidFill>
                          <a:srgbClr val="000000"/>
                        </a:solidFill>
                        <a:prstDash val="solid"/>
                        <a:headEnd type="none" w="med" len="med"/>
                        <a:tailEnd type="none" w="med" len="med"/>
                      </a:ln>
                    </p:spPr>
                  </p:sp>
                  <p:sp>
                    <p:nvSpPr>
                      <p:cNvPr id="125984" name="Line 94"/>
                      <p:cNvSpPr/>
                      <p:nvPr/>
                    </p:nvSpPr>
                    <p:spPr>
                      <a:xfrm>
                        <a:off x="3417" y="9240"/>
                        <a:ext cx="0" cy="468"/>
                      </a:xfrm>
                      <a:prstGeom prst="line">
                        <a:avLst/>
                      </a:prstGeom>
                      <a:ln w="9525" cap="flat" cmpd="sng">
                        <a:solidFill>
                          <a:srgbClr val="000000"/>
                        </a:solidFill>
                        <a:prstDash val="solid"/>
                        <a:headEnd type="none" w="med" len="med"/>
                        <a:tailEnd type="none" w="med" len="med"/>
                      </a:ln>
                    </p:spPr>
                  </p:sp>
                  <p:sp>
                    <p:nvSpPr>
                      <p:cNvPr id="125985" name="Line 95"/>
                      <p:cNvSpPr/>
                      <p:nvPr/>
                    </p:nvSpPr>
                    <p:spPr>
                      <a:xfrm>
                        <a:off x="5217" y="9240"/>
                        <a:ext cx="0" cy="468"/>
                      </a:xfrm>
                      <a:prstGeom prst="line">
                        <a:avLst/>
                      </a:prstGeom>
                      <a:ln w="9525" cap="flat" cmpd="sng">
                        <a:solidFill>
                          <a:srgbClr val="000000"/>
                        </a:solidFill>
                        <a:prstDash val="solid"/>
                        <a:headEnd type="none" w="med" len="med"/>
                        <a:tailEnd type="none" w="med" len="med"/>
                      </a:ln>
                    </p:spPr>
                  </p:sp>
                  <p:sp>
                    <p:nvSpPr>
                      <p:cNvPr id="125986" name="Line 96"/>
                      <p:cNvSpPr/>
                      <p:nvPr/>
                    </p:nvSpPr>
                    <p:spPr>
                      <a:xfrm>
                        <a:off x="5577" y="9240"/>
                        <a:ext cx="0" cy="468"/>
                      </a:xfrm>
                      <a:prstGeom prst="line">
                        <a:avLst/>
                      </a:prstGeom>
                      <a:ln w="9525" cap="flat" cmpd="sng">
                        <a:solidFill>
                          <a:srgbClr val="000000"/>
                        </a:solidFill>
                        <a:prstDash val="solid"/>
                        <a:headEnd type="none" w="med" len="med"/>
                        <a:tailEnd type="none" w="med" len="med"/>
                      </a:ln>
                    </p:spPr>
                  </p:sp>
                  <p:sp>
                    <p:nvSpPr>
                      <p:cNvPr id="125987" name="Line 97"/>
                      <p:cNvSpPr/>
                      <p:nvPr/>
                    </p:nvSpPr>
                    <p:spPr>
                      <a:xfrm>
                        <a:off x="6837" y="9240"/>
                        <a:ext cx="0" cy="468"/>
                      </a:xfrm>
                      <a:prstGeom prst="line">
                        <a:avLst/>
                      </a:prstGeom>
                      <a:ln w="9525" cap="flat" cmpd="sng">
                        <a:solidFill>
                          <a:srgbClr val="000000"/>
                        </a:solidFill>
                        <a:prstDash val="solid"/>
                        <a:headEnd type="none" w="med" len="med"/>
                        <a:tailEnd type="none" w="med" len="med"/>
                      </a:ln>
                    </p:spPr>
                  </p:sp>
                </p:grpSp>
                <p:sp>
                  <p:nvSpPr>
                    <p:cNvPr id="125978" name="Text Box 98"/>
                    <p:cNvSpPr txBox="1"/>
                    <p:nvPr/>
                  </p:nvSpPr>
                  <p:spPr>
                    <a:xfrm>
                      <a:off x="2697" y="8772"/>
                      <a:ext cx="450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1  2  3   4  5   6  7  8               n</a:t>
                      </a:r>
                      <a:endParaRPr lang="en-US" altLang="zh-CN" sz="2400" b="1" dirty="0">
                        <a:solidFill>
                          <a:srgbClr val="003300"/>
                        </a:solidFill>
                        <a:latin typeface="Times New Roman" panose="02020603050405020304" pitchFamily="18" charset="0"/>
                      </a:endParaRPr>
                    </a:p>
                  </p:txBody>
                </p:sp>
              </p:grpSp>
              <p:sp>
                <p:nvSpPr>
                  <p:cNvPr id="125973" name="Line 99"/>
                  <p:cNvSpPr/>
                  <p:nvPr/>
                </p:nvSpPr>
                <p:spPr>
                  <a:xfrm>
                    <a:off x="3777" y="11268"/>
                    <a:ext cx="0" cy="468"/>
                  </a:xfrm>
                  <a:prstGeom prst="line">
                    <a:avLst/>
                  </a:prstGeom>
                  <a:ln w="9525" cap="flat" cmpd="sng">
                    <a:solidFill>
                      <a:srgbClr val="000000"/>
                    </a:solidFill>
                    <a:prstDash val="solid"/>
                    <a:headEnd type="none" w="med" len="med"/>
                    <a:tailEnd type="none" w="med" len="med"/>
                  </a:ln>
                </p:spPr>
              </p:sp>
              <p:sp>
                <p:nvSpPr>
                  <p:cNvPr id="125974" name="Line 100"/>
                  <p:cNvSpPr/>
                  <p:nvPr/>
                </p:nvSpPr>
                <p:spPr>
                  <a:xfrm>
                    <a:off x="4137" y="11268"/>
                    <a:ext cx="0" cy="468"/>
                  </a:xfrm>
                  <a:prstGeom prst="line">
                    <a:avLst/>
                  </a:prstGeom>
                  <a:ln w="9525" cap="flat" cmpd="sng">
                    <a:solidFill>
                      <a:srgbClr val="000000"/>
                    </a:solidFill>
                    <a:prstDash val="solid"/>
                    <a:headEnd type="none" w="med" len="med"/>
                    <a:tailEnd type="none" w="med" len="med"/>
                  </a:ln>
                </p:spPr>
              </p:sp>
              <p:sp>
                <p:nvSpPr>
                  <p:cNvPr id="125975" name="Line 101"/>
                  <p:cNvSpPr/>
                  <p:nvPr/>
                </p:nvSpPr>
                <p:spPr>
                  <a:xfrm>
                    <a:off x="4497" y="11268"/>
                    <a:ext cx="0" cy="468"/>
                  </a:xfrm>
                  <a:prstGeom prst="line">
                    <a:avLst/>
                  </a:prstGeom>
                  <a:ln w="9525" cap="flat" cmpd="sng">
                    <a:solidFill>
                      <a:srgbClr val="000000"/>
                    </a:solidFill>
                    <a:prstDash val="solid"/>
                    <a:headEnd type="none" w="med" len="med"/>
                    <a:tailEnd type="none" w="med" len="med"/>
                  </a:ln>
                </p:spPr>
              </p:sp>
              <p:sp>
                <p:nvSpPr>
                  <p:cNvPr id="125976" name="Line 102"/>
                  <p:cNvSpPr/>
                  <p:nvPr/>
                </p:nvSpPr>
                <p:spPr>
                  <a:xfrm>
                    <a:off x="4857" y="11268"/>
                    <a:ext cx="0" cy="468"/>
                  </a:xfrm>
                  <a:prstGeom prst="line">
                    <a:avLst/>
                  </a:prstGeom>
                  <a:ln w="9525" cap="flat" cmpd="sng">
                    <a:solidFill>
                      <a:srgbClr val="000000"/>
                    </a:solidFill>
                    <a:prstDash val="solid"/>
                    <a:headEnd type="none" w="med" len="med"/>
                    <a:tailEnd type="none" w="med" len="med"/>
                  </a:ln>
                </p:spPr>
              </p:sp>
            </p:grpSp>
          </p:grpSp>
          <p:sp>
            <p:nvSpPr>
              <p:cNvPr id="125969" name="Text Box 103"/>
              <p:cNvSpPr txBox="1"/>
              <p:nvPr/>
            </p:nvSpPr>
            <p:spPr>
              <a:xfrm>
                <a:off x="4137" y="12828"/>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3300"/>
                    </a:solidFill>
                    <a:latin typeface="Times New Roman" panose="02020603050405020304" pitchFamily="18" charset="0"/>
                  </a:rPr>
                  <a:t>(b)</a:t>
                </a:r>
                <a:endParaRPr lang="en-US" altLang="zh-CN" sz="1800" b="1" dirty="0">
                  <a:solidFill>
                    <a:srgbClr val="003300"/>
                  </a:solidFill>
                  <a:latin typeface="Times New Roman" panose="02020603050405020304" pitchFamily="18" charset="0"/>
                </a:endParaRPr>
              </a:p>
            </p:txBody>
          </p:sp>
        </p:grpSp>
      </p:grpSp>
      <p:sp>
        <p:nvSpPr>
          <p:cNvPr id="125957" name="Text Box 104"/>
          <p:cNvSpPr txBox="1"/>
          <p:nvPr/>
        </p:nvSpPr>
        <p:spPr>
          <a:xfrm>
            <a:off x="1447800" y="4194175"/>
            <a:ext cx="5867400" cy="1597025"/>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latin typeface="Times New Roman" panose="02020603050405020304" pitchFamily="18" charset="0"/>
              </a:rPr>
              <a:t>  </a:t>
            </a:r>
            <a:r>
              <a:rPr lang="zh-CN" altLang="en-US" sz="1800" b="1" dirty="0">
                <a:solidFill>
                  <a:srgbClr val="003300"/>
                </a:solidFill>
                <a:latin typeface="Times New Roman" panose="02020603050405020304" pitchFamily="18" charset="0"/>
              </a:rPr>
              <a:t>其中，</a:t>
            </a:r>
            <a:r>
              <a:rPr lang="en-US" altLang="zh-CN" sz="1800" b="1" dirty="0">
                <a:solidFill>
                  <a:srgbClr val="003300"/>
                </a:solidFill>
                <a:latin typeface="Times New Roman" panose="02020603050405020304" pitchFamily="18" charset="0"/>
              </a:rPr>
              <a:t>in</a:t>
            </a:r>
            <a:r>
              <a:rPr lang="zh-CN" altLang="en-US" sz="1800" b="1" dirty="0">
                <a:solidFill>
                  <a:srgbClr val="003300"/>
                </a:solidFill>
                <a:latin typeface="Times New Roman" panose="02020603050405020304" pitchFamily="18" charset="0"/>
              </a:rPr>
              <a:t>表示存数据位置，</a:t>
            </a:r>
            <a:r>
              <a:rPr lang="en-US" altLang="zh-CN" sz="1800" b="1" dirty="0">
                <a:solidFill>
                  <a:srgbClr val="003300"/>
                </a:solidFill>
                <a:latin typeface="Times New Roman" panose="02020603050405020304" pitchFamily="18" charset="0"/>
              </a:rPr>
              <a:t>out</a:t>
            </a:r>
            <a:r>
              <a:rPr lang="zh-CN" altLang="en-US" sz="1800" b="1" dirty="0">
                <a:solidFill>
                  <a:srgbClr val="003300"/>
                </a:solidFill>
                <a:latin typeface="Times New Roman" panose="02020603050405020304" pitchFamily="18" charset="0"/>
              </a:rPr>
              <a:t>表示取数据位置</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    </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             ：被占用单元 ，      ：空存储单元</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         </a:t>
            </a:r>
            <a:endParaRPr lang="zh-CN" altLang="en-US" sz="1800" b="1" dirty="0">
              <a:solidFill>
                <a:srgbClr val="003300"/>
              </a:solidFill>
              <a:latin typeface="Times New Roman" panose="02020603050405020304" pitchFamily="18" charset="0"/>
            </a:endParaRPr>
          </a:p>
          <a:p>
            <a:pPr marL="0" lvl="0" indent="0" algn="ctr">
              <a:spcBef>
                <a:spcPct val="0"/>
              </a:spcBef>
              <a:buClrTx/>
              <a:buSzTx/>
              <a:buFontTx/>
              <a:buNone/>
            </a:pPr>
            <a:r>
              <a:rPr lang="zh-CN" altLang="en-US" sz="1800" b="1" dirty="0">
                <a:solidFill>
                  <a:srgbClr val="003300"/>
                </a:solidFill>
                <a:latin typeface="Times New Roman" panose="02020603050405020304" pitchFamily="18" charset="0"/>
              </a:rPr>
              <a:t>图</a:t>
            </a:r>
            <a:r>
              <a:rPr lang="en-US" altLang="zh-CN" sz="1800" b="1" dirty="0">
                <a:solidFill>
                  <a:srgbClr val="003300"/>
                </a:solidFill>
                <a:latin typeface="Times New Roman" panose="02020603050405020304" pitchFamily="18" charset="0"/>
              </a:rPr>
              <a:t>   </a:t>
            </a:r>
            <a:r>
              <a:rPr lang="zh-CN" altLang="en-US" sz="1800" b="1" dirty="0">
                <a:solidFill>
                  <a:srgbClr val="003300"/>
                </a:solidFill>
                <a:latin typeface="Times New Roman" panose="02020603050405020304" pitchFamily="18" charset="0"/>
              </a:rPr>
              <a:t>生产者</a:t>
            </a:r>
            <a:r>
              <a:rPr lang="en-US" altLang="zh-CN" sz="1800" b="1" dirty="0">
                <a:solidFill>
                  <a:srgbClr val="003300"/>
                </a:solidFill>
                <a:latin typeface="Times New Roman" panose="02020603050405020304" pitchFamily="18" charset="0"/>
              </a:rPr>
              <a:t>/</a:t>
            </a:r>
            <a:r>
              <a:rPr lang="zh-CN" altLang="en-US" sz="1800" b="1" dirty="0">
                <a:solidFill>
                  <a:srgbClr val="003300"/>
                </a:solidFill>
                <a:latin typeface="Times New Roman" panose="02020603050405020304" pitchFamily="18" charset="0"/>
              </a:rPr>
              <a:t>消费者循环使用缓冲区</a:t>
            </a:r>
            <a:endParaRPr lang="zh-CN" altLang="en-US" sz="1800" b="1" dirty="0">
              <a:solidFill>
                <a:srgbClr val="003300"/>
              </a:solidFill>
              <a:latin typeface="Times New Roman" panose="02020603050405020304" pitchFamily="18" charset="0"/>
            </a:endParaRPr>
          </a:p>
        </p:txBody>
      </p:sp>
      <p:grpSp>
        <p:nvGrpSpPr>
          <p:cNvPr id="125958" name="Group 105"/>
          <p:cNvGrpSpPr/>
          <p:nvPr/>
        </p:nvGrpSpPr>
        <p:grpSpPr>
          <a:xfrm>
            <a:off x="1828800" y="4648200"/>
            <a:ext cx="317500" cy="434975"/>
            <a:chOff x="1687" y="2768"/>
            <a:chExt cx="200" cy="274"/>
          </a:xfrm>
        </p:grpSpPr>
        <p:sp>
          <p:nvSpPr>
            <p:cNvPr id="125960" name="Rectangle 106"/>
            <p:cNvSpPr/>
            <p:nvPr/>
          </p:nvSpPr>
          <p:spPr>
            <a:xfrm>
              <a:off x="1687" y="2768"/>
              <a:ext cx="200" cy="274"/>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25961" name="Line 107"/>
            <p:cNvSpPr/>
            <p:nvPr/>
          </p:nvSpPr>
          <p:spPr>
            <a:xfrm flipH="1">
              <a:off x="1687" y="2768"/>
              <a:ext cx="100" cy="91"/>
            </a:xfrm>
            <a:prstGeom prst="line">
              <a:avLst/>
            </a:prstGeom>
            <a:ln w="9525" cap="flat" cmpd="sng">
              <a:solidFill>
                <a:srgbClr val="000000"/>
              </a:solidFill>
              <a:prstDash val="solid"/>
              <a:headEnd type="none" w="med" len="med"/>
              <a:tailEnd type="none" w="med" len="med"/>
            </a:ln>
          </p:spPr>
        </p:sp>
        <p:sp>
          <p:nvSpPr>
            <p:cNvPr id="125962" name="Line 108"/>
            <p:cNvSpPr/>
            <p:nvPr/>
          </p:nvSpPr>
          <p:spPr>
            <a:xfrm flipH="1">
              <a:off x="1687" y="2768"/>
              <a:ext cx="200" cy="183"/>
            </a:xfrm>
            <a:prstGeom prst="line">
              <a:avLst/>
            </a:prstGeom>
            <a:ln w="9525" cap="flat" cmpd="sng">
              <a:solidFill>
                <a:srgbClr val="000000"/>
              </a:solidFill>
              <a:prstDash val="solid"/>
              <a:headEnd type="none" w="med" len="med"/>
              <a:tailEnd type="none" w="med" len="med"/>
            </a:ln>
          </p:spPr>
        </p:sp>
        <p:sp>
          <p:nvSpPr>
            <p:cNvPr id="125963" name="Line 109"/>
            <p:cNvSpPr/>
            <p:nvPr/>
          </p:nvSpPr>
          <p:spPr>
            <a:xfrm flipH="1">
              <a:off x="1687" y="2859"/>
              <a:ext cx="200" cy="183"/>
            </a:xfrm>
            <a:prstGeom prst="line">
              <a:avLst/>
            </a:prstGeom>
            <a:ln w="9525" cap="flat" cmpd="sng">
              <a:solidFill>
                <a:srgbClr val="000000"/>
              </a:solidFill>
              <a:prstDash val="solid"/>
              <a:headEnd type="none" w="med" len="med"/>
              <a:tailEnd type="none" w="med" len="med"/>
            </a:ln>
          </p:spPr>
        </p:sp>
        <p:sp>
          <p:nvSpPr>
            <p:cNvPr id="125964" name="Line 110"/>
            <p:cNvSpPr/>
            <p:nvPr/>
          </p:nvSpPr>
          <p:spPr>
            <a:xfrm flipH="1">
              <a:off x="1787" y="2951"/>
              <a:ext cx="100" cy="91"/>
            </a:xfrm>
            <a:prstGeom prst="line">
              <a:avLst/>
            </a:prstGeom>
            <a:ln w="9525" cap="flat" cmpd="sng">
              <a:solidFill>
                <a:srgbClr val="000000"/>
              </a:solidFill>
              <a:prstDash val="solid"/>
              <a:headEnd type="none" w="med" len="med"/>
              <a:tailEnd type="none" w="med" len="med"/>
            </a:ln>
          </p:spPr>
        </p:sp>
      </p:grpSp>
      <p:sp>
        <p:nvSpPr>
          <p:cNvPr id="125959" name="Rectangle 111"/>
          <p:cNvSpPr/>
          <p:nvPr/>
        </p:nvSpPr>
        <p:spPr>
          <a:xfrm>
            <a:off x="3886200" y="4724400"/>
            <a:ext cx="315913" cy="43497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92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生产者</a:t>
            </a:r>
            <a:r>
              <a:rPr kumimoji="0" lang="en-US" altLang="zh-CN"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消费者</a:t>
            </a:r>
            <a:endPar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609283"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指针</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out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初始化指向缓冲区的第一个存储单元。</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生产者：</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通过</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指针向存储单元存放数据，一次存放一条数据，且</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指针向后移一个位置。</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消费者：</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从缓冲区中逐条取走数据，一次取一条数据，相应的存储单元变为</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空</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。每取走一条数据，</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out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指针向后移一个存储单元位置。</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9282"/>
                                        </p:tgtEl>
                                        <p:attrNameLst>
                                          <p:attrName>style.visibility</p:attrName>
                                        </p:attrNameLst>
                                      </p:cBhvr>
                                      <p:to>
                                        <p:strVal val="visible"/>
                                      </p:to>
                                    </p:set>
                                    <p:animEffect transition="in" filter="fade">
                                      <p:cBhvr>
                                        <p:cTn id="7" dur="2000"/>
                                        <p:tgtEl>
                                          <p:spTgt spid="6092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9283">
                                            <p:txEl>
                                              <p:charRg st="0" end="26"/>
                                            </p:txEl>
                                          </p:spTgt>
                                        </p:tgtEl>
                                        <p:attrNameLst>
                                          <p:attrName>style.visibility</p:attrName>
                                        </p:attrNameLst>
                                      </p:cBhvr>
                                      <p:to>
                                        <p:strVal val="visible"/>
                                      </p:to>
                                    </p:set>
                                    <p:animEffect transition="in" filter="fade">
                                      <p:cBhvr>
                                        <p:cTn id="12" dur="2000"/>
                                        <p:tgtEl>
                                          <p:spTgt spid="609283">
                                            <p:txEl>
                                              <p:charRg st="0" end="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9283">
                                            <p:txEl>
                                              <p:charRg st="26" end="69"/>
                                            </p:txEl>
                                          </p:spTgt>
                                        </p:tgtEl>
                                        <p:attrNameLst>
                                          <p:attrName>style.visibility</p:attrName>
                                        </p:attrNameLst>
                                      </p:cBhvr>
                                      <p:to>
                                        <p:strVal val="visible"/>
                                      </p:to>
                                    </p:set>
                                    <p:animEffect transition="in" filter="fade">
                                      <p:cBhvr>
                                        <p:cTn id="17" dur="2000"/>
                                        <p:tgtEl>
                                          <p:spTgt spid="609283">
                                            <p:txEl>
                                              <p:charRg st="26" end="6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09283">
                                            <p:txEl>
                                              <p:charRg st="69" end="132"/>
                                            </p:txEl>
                                          </p:spTgt>
                                        </p:tgtEl>
                                        <p:attrNameLst>
                                          <p:attrName>style.visibility</p:attrName>
                                        </p:attrNameLst>
                                      </p:cBhvr>
                                      <p:to>
                                        <p:strVal val="visible"/>
                                      </p:to>
                                    </p:set>
                                    <p:animEffect transition="in" filter="fade">
                                      <p:cBhvr>
                                        <p:cTn id="22" dur="2000"/>
                                        <p:tgtEl>
                                          <p:spTgt spid="609283">
                                            <p:txEl>
                                              <p:charRg st="69" end="1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2" grpId="0"/>
      <p:bldP spid="60928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030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不控制生产者</a:t>
            </a:r>
            <a:r>
              <a:rPr kumimoji="0" lang="en-US" altLang="zh-CN"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消费者</a:t>
            </a:r>
            <a:r>
              <a:rPr kumimoji="0" lang="zh-CN" altLang="en-US" sz="4400" b="1" i="1"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a:t>
            </a:r>
            <a:endParaRPr kumimoji="0" lang="zh-CN" altLang="en-US" sz="4400" b="1" i="1"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610307"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试想，如果不控制生产者与消费者，将会产生什么结果？</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生产者和消费者可能同时进入缓冲区，甚至可能同时读</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写一个存储单元，将导致执行结果不确定。</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这显然是不允许的。</a:t>
            </a:r>
            <a:endPar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0306"/>
                                        </p:tgtEl>
                                        <p:attrNameLst>
                                          <p:attrName>style.visibility</p:attrName>
                                        </p:attrNameLst>
                                      </p:cBhvr>
                                      <p:to>
                                        <p:strVal val="visible"/>
                                      </p:to>
                                    </p:set>
                                    <p:animEffect transition="in" filter="fade">
                                      <p:cBhvr>
                                        <p:cTn id="7" dur="2000"/>
                                        <p:tgtEl>
                                          <p:spTgt spid="6103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0307">
                                            <p:txEl>
                                              <p:charRg st="0" end="26"/>
                                            </p:txEl>
                                          </p:spTgt>
                                        </p:tgtEl>
                                        <p:attrNameLst>
                                          <p:attrName>style.visibility</p:attrName>
                                        </p:attrNameLst>
                                      </p:cBhvr>
                                      <p:to>
                                        <p:strVal val="visible"/>
                                      </p:to>
                                    </p:set>
                                    <p:animEffect transition="in" filter="fade">
                                      <p:cBhvr>
                                        <p:cTn id="12" dur="2000"/>
                                        <p:tgtEl>
                                          <p:spTgt spid="610307">
                                            <p:txEl>
                                              <p:charRg st="0" end="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0307">
                                            <p:txEl>
                                              <p:charRg st="26" end="71"/>
                                            </p:txEl>
                                          </p:spTgt>
                                        </p:tgtEl>
                                        <p:attrNameLst>
                                          <p:attrName>style.visibility</p:attrName>
                                        </p:attrNameLst>
                                      </p:cBhvr>
                                      <p:to>
                                        <p:strVal val="visible"/>
                                      </p:to>
                                    </p:set>
                                    <p:animEffect transition="in" filter="fade">
                                      <p:cBhvr>
                                        <p:cTn id="17" dur="2000"/>
                                        <p:tgtEl>
                                          <p:spTgt spid="610307">
                                            <p:txEl>
                                              <p:charRg st="26"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0307">
                                            <p:txEl>
                                              <p:charRg st="71" end="81"/>
                                            </p:txEl>
                                          </p:spTgt>
                                        </p:tgtEl>
                                        <p:attrNameLst>
                                          <p:attrName>style.visibility</p:attrName>
                                        </p:attrNameLst>
                                      </p:cBhvr>
                                      <p:to>
                                        <p:strVal val="visible"/>
                                      </p:to>
                                    </p:set>
                                    <p:animEffect transition="in" filter="fade">
                                      <p:cBhvr>
                                        <p:cTn id="22" dur="2000"/>
                                        <p:tgtEl>
                                          <p:spTgt spid="610307">
                                            <p:txEl>
                                              <p:charRg st="71" end="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6" grpId="0"/>
      <p:bldP spid="610307"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133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生产者</a:t>
            </a: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消费者必须同步</a:t>
            </a: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互斥</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61133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必须使生产者和消费者</a:t>
            </a:r>
            <a:r>
              <a:rPr kumimoji="0" lang="zh-CN" altLang="en-US" sz="32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互斥进入缓冲区</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。即，某时刻只允许一个实体（生产者或消费者）访问缓冲区，生产者互斥消费者和其它任何生产者。</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生产者不能向满缓冲区写数据，消费者也不能在空缓冲区中取数据，即生产者与消费者必须</a:t>
            </a:r>
            <a:r>
              <a:rPr kumimoji="0" lang="zh-CN" altLang="en-US" sz="32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同步</a:t>
            </a:r>
            <a:r>
              <a:rPr kumimoji="0" lang="zh-CN" altLang="en-US" sz="3200" b="0" i="0" u="none" strike="noStrike" kern="0" cap="none" spc="0" normalizeH="0" baseline="0" noProof="0" smtClean="0">
                <a:ln>
                  <a:noFill/>
                </a:ln>
                <a:solidFill>
                  <a:schemeClr val="tx1"/>
                </a:solidFill>
                <a:effectLst/>
                <a:uLnTx/>
                <a:uFillTx/>
                <a:latin typeface="+mn-lt"/>
                <a:ea typeface="+mn-ea"/>
                <a:cs typeface="+mn-cs"/>
              </a:rPr>
              <a:t>。</a:t>
            </a: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1330"/>
                                        </p:tgtEl>
                                        <p:attrNameLst>
                                          <p:attrName>style.visibility</p:attrName>
                                        </p:attrNameLst>
                                      </p:cBhvr>
                                      <p:to>
                                        <p:strVal val="visible"/>
                                      </p:to>
                                    </p:set>
                                    <p:animEffect transition="in" filter="fade">
                                      <p:cBhvr>
                                        <p:cTn id="7" dur="2000"/>
                                        <p:tgtEl>
                                          <p:spTgt spid="6113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1331">
                                            <p:txEl>
                                              <p:charRg st="0" end="63"/>
                                            </p:txEl>
                                          </p:spTgt>
                                        </p:tgtEl>
                                        <p:attrNameLst>
                                          <p:attrName>style.visibility</p:attrName>
                                        </p:attrNameLst>
                                      </p:cBhvr>
                                      <p:to>
                                        <p:strVal val="visible"/>
                                      </p:to>
                                    </p:set>
                                    <p:animEffect transition="in" filter="fade">
                                      <p:cBhvr>
                                        <p:cTn id="12" dur="2000"/>
                                        <p:tgtEl>
                                          <p:spTgt spid="611331">
                                            <p:txEl>
                                              <p:charRg st="0" end="6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1331">
                                            <p:txEl>
                                              <p:charRg st="64" end="108"/>
                                            </p:txEl>
                                          </p:spTgt>
                                        </p:tgtEl>
                                        <p:attrNameLst>
                                          <p:attrName>style.visibility</p:attrName>
                                        </p:attrNameLst>
                                      </p:cBhvr>
                                      <p:to>
                                        <p:strVal val="visible"/>
                                      </p:to>
                                    </p:set>
                                    <p:animEffect transition="in" filter="fade">
                                      <p:cBhvr>
                                        <p:cTn id="17" dur="2000"/>
                                        <p:tgtEl>
                                          <p:spTgt spid="611331">
                                            <p:txEl>
                                              <p:charRg st="64" end="10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0" grpId="0"/>
      <p:bldP spid="611331"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3"/>
          <p:cNvSpPr>
            <a:spLocks noGrp="1" noRot="1"/>
          </p:cNvSpPr>
          <p:nvPr>
            <p:ph idx="1"/>
          </p:nvPr>
        </p:nvSpPr>
        <p:spPr>
          <a:ln/>
        </p:spPr>
        <p:txBody>
          <a:bodyPr vert="horz" wrap="square" lIns="91440" tIns="45720" rIns="91440" bIns="45720" anchor="t" anchorCtr="0"/>
          <a:p>
            <a:pPr eaLnBrk="1" hangingPunct="1">
              <a:lnSpc>
                <a:spcPct val="90000"/>
              </a:lnSpc>
            </a:pPr>
            <a:r>
              <a:rPr lang="zh-CN" altLang="en-US" b="1" dirty="0">
                <a:solidFill>
                  <a:srgbClr val="0066FF"/>
                </a:solidFill>
              </a:rPr>
              <a:t>互斥信号量</a:t>
            </a:r>
            <a:r>
              <a:rPr lang="en-US" altLang="zh-CN" b="1" dirty="0">
                <a:solidFill>
                  <a:srgbClr val="0066FF"/>
                </a:solidFill>
              </a:rPr>
              <a:t>mutex</a:t>
            </a:r>
            <a:r>
              <a:rPr lang="zh-CN" altLang="en-US" b="1" dirty="0">
                <a:solidFill>
                  <a:srgbClr val="0066FF"/>
                </a:solidFill>
              </a:rPr>
              <a:t>：</a:t>
            </a:r>
            <a:r>
              <a:rPr lang="zh-CN" altLang="en-US" b="1" dirty="0"/>
              <a:t>实现诸进程对缓冲池的互斥使用；</a:t>
            </a:r>
            <a:endParaRPr lang="zh-CN" altLang="en-US" b="1" dirty="0"/>
          </a:p>
          <a:p>
            <a:pPr eaLnBrk="1" hangingPunct="1">
              <a:lnSpc>
                <a:spcPct val="90000"/>
              </a:lnSpc>
            </a:pPr>
            <a:r>
              <a:rPr lang="zh-CN" altLang="en-US" b="1" dirty="0">
                <a:solidFill>
                  <a:srgbClr val="0066FF"/>
                </a:solidFill>
              </a:rPr>
              <a:t>资源信号量</a:t>
            </a:r>
            <a:r>
              <a:rPr lang="en-US" altLang="zh-CN" b="1" dirty="0">
                <a:solidFill>
                  <a:srgbClr val="0066FF"/>
                </a:solidFill>
              </a:rPr>
              <a:t>empty</a:t>
            </a:r>
            <a:r>
              <a:rPr lang="zh-CN" altLang="en-US" b="1" dirty="0">
                <a:solidFill>
                  <a:srgbClr val="0066FF"/>
                </a:solidFill>
              </a:rPr>
              <a:t>：</a:t>
            </a:r>
            <a:r>
              <a:rPr lang="zh-CN" altLang="en-US" b="1" dirty="0"/>
              <a:t>表示缓冲池</a:t>
            </a:r>
            <a:r>
              <a:rPr lang="zh-CN" altLang="en-US" b="1" dirty="0">
                <a:solidFill>
                  <a:srgbClr val="0066FF"/>
                </a:solidFill>
              </a:rPr>
              <a:t>中空缓冲区</a:t>
            </a:r>
            <a:r>
              <a:rPr lang="zh-CN" altLang="en-US" b="1" dirty="0"/>
              <a:t>的数量；</a:t>
            </a:r>
            <a:endParaRPr lang="zh-CN" altLang="en-US" b="1" dirty="0"/>
          </a:p>
          <a:p>
            <a:pPr eaLnBrk="1" hangingPunct="1">
              <a:lnSpc>
                <a:spcPct val="90000"/>
              </a:lnSpc>
            </a:pPr>
            <a:r>
              <a:rPr lang="zh-CN" altLang="en-US" b="1" dirty="0">
                <a:solidFill>
                  <a:srgbClr val="0066FF"/>
                </a:solidFill>
              </a:rPr>
              <a:t>资源信号量</a:t>
            </a:r>
            <a:r>
              <a:rPr lang="en-US" altLang="zh-CN" b="1" dirty="0">
                <a:solidFill>
                  <a:srgbClr val="0066FF"/>
                </a:solidFill>
              </a:rPr>
              <a:t>full</a:t>
            </a:r>
            <a:r>
              <a:rPr lang="zh-CN" altLang="en-US" b="1" dirty="0">
                <a:solidFill>
                  <a:srgbClr val="0066FF"/>
                </a:solidFill>
              </a:rPr>
              <a:t>：</a:t>
            </a:r>
            <a:r>
              <a:rPr lang="zh-CN" altLang="en-US" b="1" dirty="0"/>
              <a:t>表示</a:t>
            </a:r>
            <a:r>
              <a:rPr lang="zh-CN" altLang="en-US" b="1" dirty="0">
                <a:solidFill>
                  <a:srgbClr val="0066FF"/>
                </a:solidFill>
              </a:rPr>
              <a:t>满缓冲区</a:t>
            </a:r>
            <a:r>
              <a:rPr lang="zh-CN" altLang="en-US" b="1" dirty="0"/>
              <a:t>的数量</a:t>
            </a:r>
            <a:r>
              <a:rPr lang="en-US" altLang="zh-CN" b="1" dirty="0"/>
              <a:t>;</a:t>
            </a:r>
            <a:endParaRPr lang="en-US" altLang="zh-CN" b="1" dirty="0"/>
          </a:p>
          <a:p>
            <a:pPr eaLnBrk="1" hangingPunct="1">
              <a:lnSpc>
                <a:spcPct val="90000"/>
              </a:lnSpc>
            </a:pPr>
            <a:r>
              <a:rPr lang="zh-CN" altLang="en-US" b="1" dirty="0"/>
              <a:t>只要缓冲池未满，生产者便可将消息送入缓冲池；</a:t>
            </a:r>
            <a:endParaRPr lang="zh-CN" altLang="en-US" b="1" dirty="0"/>
          </a:p>
          <a:p>
            <a:pPr eaLnBrk="1" hangingPunct="1">
              <a:lnSpc>
                <a:spcPct val="90000"/>
              </a:lnSpc>
            </a:pPr>
            <a:r>
              <a:rPr lang="zh-CN" altLang="en-US" b="1" dirty="0"/>
              <a:t>只要缓冲池未空，消费者便可从缓冲池中取走一个消息。</a:t>
            </a:r>
            <a:endParaRPr lang="zh-CN" altLang="en-US" b="1" dirty="0"/>
          </a:p>
        </p:txBody>
      </p:sp>
      <p:sp>
        <p:nvSpPr>
          <p:cNvPr id="246788" name="Text Box 4"/>
          <p:cNvSpPr txBox="1">
            <a:spLocks noChangeArrowheads="1"/>
          </p:cNvSpPr>
          <p:nvPr/>
        </p:nvSpPr>
        <p:spPr bwMode="auto">
          <a:xfrm>
            <a:off x="381000" y="381000"/>
            <a:ext cx="8229600" cy="1066800"/>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a:solidFill>
                  <a:srgbClr val="FF0000"/>
                </a:solidFill>
                <a:latin typeface="Arial" panose="020B0604020202020204" pitchFamily="34" charset="0"/>
                <a:ea typeface="宋体" panose="02010600030101010101" pitchFamily="2" charset="-122"/>
                <a:cs typeface="+mn-cs"/>
              </a:rPr>
              <a:t>创建多个信号量实现生产者与消费者之间的同步：</a:t>
            </a:r>
            <a:endParaRPr kumimoji="0" lang="zh-CN" altLang="en-US" sz="3200" b="1" kern="1200" cap="none" spc="0" normalizeH="0" baseline="0" noProof="0">
              <a:solidFill>
                <a:srgbClr val="FF0000"/>
              </a:solidFill>
              <a:latin typeface="Arial" panose="020B0604020202020204" pitchFamily="34" charset="0"/>
              <a:ea typeface="宋体" panose="02010600030101010101" pitchFamily="2" charset="-122"/>
              <a:cs typeface="+mn-cs"/>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p:nvPr/>
        </p:nvSpPr>
        <p:spPr>
          <a:xfrm>
            <a:off x="304800" y="0"/>
            <a:ext cx="8610600" cy="68580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1075" name="Text Box 2"/>
          <p:cNvSpPr txBox="1"/>
          <p:nvPr/>
        </p:nvSpPr>
        <p:spPr>
          <a:xfrm>
            <a:off x="1689100" y="6142038"/>
            <a:ext cx="1095375" cy="334962"/>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3300"/>
                </a:solidFill>
                <a:latin typeface="Times New Roman" panose="02020603050405020304" pitchFamily="18" charset="0"/>
              </a:rPr>
              <a:t>(a)  </a:t>
            </a:r>
            <a:r>
              <a:rPr lang="zh-CN" altLang="en-US" sz="1800" b="1" dirty="0">
                <a:solidFill>
                  <a:srgbClr val="003300"/>
                </a:solidFill>
                <a:latin typeface="Times New Roman" panose="02020603050405020304" pitchFamily="18" charset="0"/>
              </a:rPr>
              <a:t>生产者</a:t>
            </a:r>
            <a:endParaRPr lang="zh-CN" altLang="en-US" sz="1800" b="1" dirty="0">
              <a:solidFill>
                <a:srgbClr val="003300"/>
              </a:solidFill>
              <a:latin typeface="Times New Roman" panose="02020603050405020304" pitchFamily="18" charset="0"/>
            </a:endParaRPr>
          </a:p>
        </p:txBody>
      </p:sp>
      <p:sp>
        <p:nvSpPr>
          <p:cNvPr id="131076" name="Text Box 3"/>
          <p:cNvSpPr txBox="1"/>
          <p:nvPr/>
        </p:nvSpPr>
        <p:spPr>
          <a:xfrm>
            <a:off x="5657850" y="5989638"/>
            <a:ext cx="1428750" cy="43815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000" b="1" dirty="0">
                <a:solidFill>
                  <a:srgbClr val="003300"/>
                </a:solidFill>
                <a:latin typeface="Times New Roman" panose="02020603050405020304" pitchFamily="18" charset="0"/>
              </a:rPr>
              <a:t>(b)  </a:t>
            </a:r>
            <a:r>
              <a:rPr lang="zh-CN" altLang="en-US" sz="2000" b="1" dirty="0">
                <a:solidFill>
                  <a:srgbClr val="003300"/>
                </a:solidFill>
                <a:latin typeface="Times New Roman" panose="02020603050405020304" pitchFamily="18" charset="0"/>
              </a:rPr>
              <a:t>消费者</a:t>
            </a:r>
            <a:endParaRPr lang="zh-CN" altLang="en-US" sz="2000" b="1" dirty="0">
              <a:solidFill>
                <a:srgbClr val="003300"/>
              </a:solidFill>
              <a:latin typeface="Times New Roman" panose="02020603050405020304" pitchFamily="18" charset="0"/>
            </a:endParaRPr>
          </a:p>
        </p:txBody>
      </p:sp>
      <p:sp>
        <p:nvSpPr>
          <p:cNvPr id="131077" name="Text Box 4"/>
          <p:cNvSpPr txBox="1"/>
          <p:nvPr/>
        </p:nvSpPr>
        <p:spPr>
          <a:xfrm>
            <a:off x="6069013" y="438150"/>
            <a:ext cx="41116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无</a:t>
            </a:r>
            <a:endParaRPr lang="zh-CN" altLang="en-US" sz="1600" b="1" dirty="0">
              <a:solidFill>
                <a:srgbClr val="003300"/>
              </a:solidFill>
              <a:latin typeface="Times New Roman" panose="02020603050405020304" pitchFamily="18" charset="0"/>
            </a:endParaRPr>
          </a:p>
        </p:txBody>
      </p:sp>
      <p:sp>
        <p:nvSpPr>
          <p:cNvPr id="131078" name="Line 5"/>
          <p:cNvSpPr/>
          <p:nvPr/>
        </p:nvSpPr>
        <p:spPr>
          <a:xfrm>
            <a:off x="6205538" y="730250"/>
            <a:ext cx="138112" cy="0"/>
          </a:xfrm>
          <a:prstGeom prst="line">
            <a:avLst/>
          </a:prstGeom>
          <a:ln w="9525" cap="flat" cmpd="sng">
            <a:solidFill>
              <a:srgbClr val="000000"/>
            </a:solidFill>
            <a:prstDash val="solid"/>
            <a:headEnd type="none" w="med" len="med"/>
            <a:tailEnd type="none" w="med" len="med"/>
          </a:ln>
        </p:spPr>
      </p:sp>
      <p:sp>
        <p:nvSpPr>
          <p:cNvPr id="131079" name="Line 6"/>
          <p:cNvSpPr/>
          <p:nvPr/>
        </p:nvSpPr>
        <p:spPr>
          <a:xfrm>
            <a:off x="7164388" y="146050"/>
            <a:ext cx="0" cy="292100"/>
          </a:xfrm>
          <a:prstGeom prst="line">
            <a:avLst/>
          </a:prstGeom>
          <a:ln w="9525" cap="flat" cmpd="sng">
            <a:solidFill>
              <a:srgbClr val="000000"/>
            </a:solidFill>
            <a:prstDash val="solid"/>
            <a:headEnd type="none" w="med" len="med"/>
            <a:tailEnd type="triangle" w="med" len="med"/>
          </a:ln>
        </p:spPr>
      </p:sp>
      <p:sp>
        <p:nvSpPr>
          <p:cNvPr id="131080" name="Text Box 7"/>
          <p:cNvSpPr txBox="1"/>
          <p:nvPr/>
        </p:nvSpPr>
        <p:spPr>
          <a:xfrm>
            <a:off x="6477000" y="457200"/>
            <a:ext cx="1905000" cy="5524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等待资源，阻塞</a:t>
            </a:r>
            <a:endParaRPr lang="zh-CN" altLang="en-US" sz="1800" b="1" dirty="0">
              <a:solidFill>
                <a:srgbClr val="003300"/>
              </a:solidFill>
              <a:latin typeface="Times New Roman" panose="02020603050405020304" pitchFamily="18" charset="0"/>
            </a:endParaRPr>
          </a:p>
        </p:txBody>
      </p:sp>
      <p:sp>
        <p:nvSpPr>
          <p:cNvPr id="131081" name="Line 8"/>
          <p:cNvSpPr/>
          <p:nvPr/>
        </p:nvSpPr>
        <p:spPr>
          <a:xfrm flipV="1">
            <a:off x="6343650" y="146050"/>
            <a:ext cx="0" cy="584200"/>
          </a:xfrm>
          <a:prstGeom prst="line">
            <a:avLst/>
          </a:prstGeom>
          <a:ln w="9525" cap="flat" cmpd="sng">
            <a:solidFill>
              <a:srgbClr val="000000"/>
            </a:solidFill>
            <a:prstDash val="solid"/>
            <a:headEnd type="none" w="med" len="med"/>
            <a:tailEnd type="none" w="med" len="med"/>
          </a:ln>
        </p:spPr>
      </p:sp>
      <p:sp>
        <p:nvSpPr>
          <p:cNvPr id="131082" name="Line 9"/>
          <p:cNvSpPr/>
          <p:nvPr/>
        </p:nvSpPr>
        <p:spPr>
          <a:xfrm>
            <a:off x="6343650" y="146050"/>
            <a:ext cx="820738" cy="0"/>
          </a:xfrm>
          <a:prstGeom prst="line">
            <a:avLst/>
          </a:prstGeom>
          <a:ln w="9525" cap="flat" cmpd="sng">
            <a:solidFill>
              <a:srgbClr val="000000"/>
            </a:solidFill>
            <a:prstDash val="solid"/>
            <a:headEnd type="none" w="med" len="med"/>
            <a:tailEnd type="none" w="med" len="med"/>
          </a:ln>
        </p:spPr>
      </p:sp>
      <p:sp>
        <p:nvSpPr>
          <p:cNvPr id="131083" name="Line 10"/>
          <p:cNvSpPr/>
          <p:nvPr/>
        </p:nvSpPr>
        <p:spPr>
          <a:xfrm>
            <a:off x="7162800" y="990600"/>
            <a:ext cx="1588" cy="177800"/>
          </a:xfrm>
          <a:prstGeom prst="line">
            <a:avLst/>
          </a:prstGeom>
          <a:ln w="9525" cap="flat" cmpd="sng">
            <a:solidFill>
              <a:srgbClr val="000000"/>
            </a:solidFill>
            <a:prstDash val="solid"/>
            <a:headEnd type="none" w="med" len="med"/>
            <a:tailEnd type="triangle" w="med" len="med"/>
          </a:ln>
        </p:spPr>
      </p:sp>
      <p:sp>
        <p:nvSpPr>
          <p:cNvPr id="131084" name="Text Box 11"/>
          <p:cNvSpPr txBox="1"/>
          <p:nvPr/>
        </p:nvSpPr>
        <p:spPr>
          <a:xfrm>
            <a:off x="6753225" y="1168400"/>
            <a:ext cx="822325" cy="4381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被唤醒</a:t>
            </a:r>
            <a:endParaRPr lang="zh-CN" altLang="en-US" sz="1600" b="1" dirty="0">
              <a:solidFill>
                <a:srgbClr val="003300"/>
              </a:solidFill>
              <a:latin typeface="Times New Roman" panose="02020603050405020304" pitchFamily="18" charset="0"/>
            </a:endParaRPr>
          </a:p>
        </p:txBody>
      </p:sp>
      <p:sp>
        <p:nvSpPr>
          <p:cNvPr id="131085" name="Line 12"/>
          <p:cNvSpPr/>
          <p:nvPr/>
        </p:nvSpPr>
        <p:spPr>
          <a:xfrm>
            <a:off x="7164388" y="1606550"/>
            <a:ext cx="0" cy="146050"/>
          </a:xfrm>
          <a:prstGeom prst="line">
            <a:avLst/>
          </a:prstGeom>
          <a:ln w="9525" cap="flat" cmpd="sng">
            <a:solidFill>
              <a:srgbClr val="000000"/>
            </a:solidFill>
            <a:prstDash val="solid"/>
            <a:headEnd type="none" w="med" len="med"/>
            <a:tailEnd type="none" w="med" len="med"/>
          </a:ln>
        </p:spPr>
      </p:sp>
      <p:sp>
        <p:nvSpPr>
          <p:cNvPr id="131086" name="Line 13"/>
          <p:cNvSpPr/>
          <p:nvPr/>
        </p:nvSpPr>
        <p:spPr>
          <a:xfrm flipH="1">
            <a:off x="5659438" y="1314450"/>
            <a:ext cx="820737" cy="0"/>
          </a:xfrm>
          <a:prstGeom prst="line">
            <a:avLst/>
          </a:prstGeom>
          <a:ln w="9525" cap="flat" cmpd="sng">
            <a:solidFill>
              <a:srgbClr val="000000"/>
            </a:solidFill>
            <a:prstDash val="solid"/>
            <a:headEnd type="none" w="med" len="med"/>
            <a:tailEnd type="triangle" w="med" len="med"/>
          </a:ln>
        </p:spPr>
      </p:sp>
      <p:sp>
        <p:nvSpPr>
          <p:cNvPr id="131087" name="Text Box 14"/>
          <p:cNvSpPr txBox="1"/>
          <p:nvPr/>
        </p:nvSpPr>
        <p:spPr>
          <a:xfrm>
            <a:off x="5932488" y="1460500"/>
            <a:ext cx="41116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否</a:t>
            </a:r>
            <a:endParaRPr lang="zh-CN" altLang="en-US" sz="1800" b="1" dirty="0">
              <a:solidFill>
                <a:srgbClr val="003300"/>
              </a:solidFill>
              <a:latin typeface="Times New Roman" panose="02020603050405020304" pitchFamily="18" charset="0"/>
            </a:endParaRPr>
          </a:p>
        </p:txBody>
      </p:sp>
      <p:sp>
        <p:nvSpPr>
          <p:cNvPr id="131088" name="Line 15"/>
          <p:cNvSpPr/>
          <p:nvPr/>
        </p:nvSpPr>
        <p:spPr>
          <a:xfrm flipH="1">
            <a:off x="7010400" y="1898650"/>
            <a:ext cx="17463" cy="158750"/>
          </a:xfrm>
          <a:prstGeom prst="line">
            <a:avLst/>
          </a:prstGeom>
          <a:ln w="9525" cap="flat" cmpd="sng">
            <a:solidFill>
              <a:srgbClr val="000000"/>
            </a:solidFill>
            <a:prstDash val="solid"/>
            <a:headEnd type="none" w="med" len="med"/>
            <a:tailEnd type="triangle" w="med" len="med"/>
          </a:ln>
        </p:spPr>
      </p:sp>
      <p:sp>
        <p:nvSpPr>
          <p:cNvPr id="131089" name="Line 16"/>
          <p:cNvSpPr/>
          <p:nvPr/>
        </p:nvSpPr>
        <p:spPr>
          <a:xfrm>
            <a:off x="6069013" y="1898650"/>
            <a:ext cx="958850" cy="0"/>
          </a:xfrm>
          <a:prstGeom prst="line">
            <a:avLst/>
          </a:prstGeom>
          <a:ln w="9525" cap="flat" cmpd="sng">
            <a:solidFill>
              <a:srgbClr val="000000"/>
            </a:solidFill>
            <a:prstDash val="solid"/>
            <a:headEnd type="none" w="med" len="med"/>
            <a:tailEnd type="none" w="med" len="med"/>
          </a:ln>
        </p:spPr>
      </p:sp>
      <p:sp>
        <p:nvSpPr>
          <p:cNvPr id="131090" name="Line 17"/>
          <p:cNvSpPr/>
          <p:nvPr/>
        </p:nvSpPr>
        <p:spPr>
          <a:xfrm>
            <a:off x="7027863" y="2628900"/>
            <a:ext cx="0" cy="293688"/>
          </a:xfrm>
          <a:prstGeom prst="line">
            <a:avLst/>
          </a:prstGeom>
          <a:ln w="9525" cap="flat" cmpd="sng">
            <a:solidFill>
              <a:srgbClr val="000000"/>
            </a:solidFill>
            <a:prstDash val="solid"/>
            <a:headEnd type="none" w="med" len="med"/>
            <a:tailEnd type="triangle" w="med" len="med"/>
          </a:ln>
        </p:spPr>
      </p:sp>
      <p:sp>
        <p:nvSpPr>
          <p:cNvPr id="131091" name="Text Box 18"/>
          <p:cNvSpPr txBox="1"/>
          <p:nvPr/>
        </p:nvSpPr>
        <p:spPr>
          <a:xfrm>
            <a:off x="6616700" y="2922588"/>
            <a:ext cx="820738" cy="4381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被唤醒</a:t>
            </a:r>
            <a:endParaRPr lang="zh-CN" altLang="en-US" sz="1600" b="1" dirty="0">
              <a:solidFill>
                <a:srgbClr val="003300"/>
              </a:solidFill>
              <a:latin typeface="Times New Roman" panose="02020603050405020304" pitchFamily="18" charset="0"/>
            </a:endParaRPr>
          </a:p>
        </p:txBody>
      </p:sp>
      <p:sp>
        <p:nvSpPr>
          <p:cNvPr id="131092" name="Line 19"/>
          <p:cNvSpPr/>
          <p:nvPr/>
        </p:nvSpPr>
        <p:spPr>
          <a:xfrm>
            <a:off x="7027863" y="3360738"/>
            <a:ext cx="0" cy="146050"/>
          </a:xfrm>
          <a:prstGeom prst="line">
            <a:avLst/>
          </a:prstGeom>
          <a:ln w="9525" cap="flat" cmpd="sng">
            <a:solidFill>
              <a:srgbClr val="000000"/>
            </a:solidFill>
            <a:prstDash val="solid"/>
            <a:headEnd type="none" w="med" len="med"/>
            <a:tailEnd type="none" w="med" len="med"/>
          </a:ln>
        </p:spPr>
      </p:sp>
      <p:sp>
        <p:nvSpPr>
          <p:cNvPr id="131093" name="Line 20"/>
          <p:cNvSpPr/>
          <p:nvPr/>
        </p:nvSpPr>
        <p:spPr>
          <a:xfrm flipH="1">
            <a:off x="6480175" y="3506788"/>
            <a:ext cx="547688" cy="0"/>
          </a:xfrm>
          <a:prstGeom prst="line">
            <a:avLst/>
          </a:prstGeom>
          <a:ln w="9525" cap="flat" cmpd="sng">
            <a:solidFill>
              <a:srgbClr val="000000"/>
            </a:solidFill>
            <a:prstDash val="solid"/>
            <a:headEnd type="none" w="med" len="med"/>
            <a:tailEnd type="none" w="med" len="med"/>
          </a:ln>
        </p:spPr>
      </p:sp>
      <p:sp>
        <p:nvSpPr>
          <p:cNvPr id="131094" name="Line 21"/>
          <p:cNvSpPr/>
          <p:nvPr/>
        </p:nvSpPr>
        <p:spPr>
          <a:xfrm flipV="1">
            <a:off x="6480175" y="2774950"/>
            <a:ext cx="0" cy="731838"/>
          </a:xfrm>
          <a:prstGeom prst="line">
            <a:avLst/>
          </a:prstGeom>
          <a:ln w="9525" cap="flat" cmpd="sng">
            <a:solidFill>
              <a:srgbClr val="000000"/>
            </a:solidFill>
            <a:prstDash val="solid"/>
            <a:headEnd type="none" w="med" len="med"/>
            <a:tailEnd type="none" w="med" len="med"/>
          </a:ln>
        </p:spPr>
      </p:sp>
      <p:sp>
        <p:nvSpPr>
          <p:cNvPr id="131095" name="Line 22"/>
          <p:cNvSpPr/>
          <p:nvPr/>
        </p:nvSpPr>
        <p:spPr>
          <a:xfrm flipH="1">
            <a:off x="5659438" y="2774950"/>
            <a:ext cx="820737" cy="0"/>
          </a:xfrm>
          <a:prstGeom prst="line">
            <a:avLst/>
          </a:prstGeom>
          <a:ln w="9525" cap="flat" cmpd="sng">
            <a:solidFill>
              <a:srgbClr val="000000"/>
            </a:solidFill>
            <a:prstDash val="solid"/>
            <a:headEnd type="none" w="med" len="med"/>
            <a:tailEnd type="triangle" w="med" len="med"/>
          </a:ln>
        </p:spPr>
      </p:sp>
      <p:sp>
        <p:nvSpPr>
          <p:cNvPr id="131096" name="Line 23"/>
          <p:cNvSpPr/>
          <p:nvPr/>
        </p:nvSpPr>
        <p:spPr>
          <a:xfrm flipH="1">
            <a:off x="6480175" y="1752600"/>
            <a:ext cx="684213" cy="0"/>
          </a:xfrm>
          <a:prstGeom prst="line">
            <a:avLst/>
          </a:prstGeom>
          <a:ln w="9525" cap="flat" cmpd="sng">
            <a:solidFill>
              <a:srgbClr val="000000"/>
            </a:solidFill>
            <a:prstDash val="solid"/>
            <a:headEnd type="none" w="med" len="med"/>
            <a:tailEnd type="none" w="med" len="med"/>
          </a:ln>
        </p:spPr>
      </p:sp>
      <p:sp>
        <p:nvSpPr>
          <p:cNvPr id="131097" name="Line 24"/>
          <p:cNvSpPr/>
          <p:nvPr/>
        </p:nvSpPr>
        <p:spPr>
          <a:xfrm flipV="1">
            <a:off x="6480175" y="1314450"/>
            <a:ext cx="0" cy="438150"/>
          </a:xfrm>
          <a:prstGeom prst="line">
            <a:avLst/>
          </a:prstGeom>
          <a:ln w="9525" cap="flat" cmpd="sng">
            <a:solidFill>
              <a:srgbClr val="000000"/>
            </a:solidFill>
            <a:prstDash val="solid"/>
            <a:headEnd type="none" w="med" len="med"/>
            <a:tailEnd type="none" w="med" len="med"/>
          </a:ln>
        </p:spPr>
      </p:sp>
      <p:sp>
        <p:nvSpPr>
          <p:cNvPr id="131098" name="AutoShape 25"/>
          <p:cNvSpPr/>
          <p:nvPr/>
        </p:nvSpPr>
        <p:spPr>
          <a:xfrm>
            <a:off x="4837113" y="292100"/>
            <a:ext cx="1368425" cy="876300"/>
          </a:xfrm>
          <a:prstGeom prst="flowChartDecision">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solidFill>
                <a:srgbClr val="003300"/>
              </a:solidFill>
            </a:endParaRPr>
          </a:p>
        </p:txBody>
      </p:sp>
      <p:sp>
        <p:nvSpPr>
          <p:cNvPr id="131099" name="Text Box 26"/>
          <p:cNvSpPr txBox="1"/>
          <p:nvPr/>
        </p:nvSpPr>
        <p:spPr>
          <a:xfrm>
            <a:off x="5110163" y="514350"/>
            <a:ext cx="958850" cy="55245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是否有</a:t>
            </a:r>
            <a:endParaRPr lang="zh-CN" altLang="en-US" sz="16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数据单元</a:t>
            </a:r>
            <a:endParaRPr lang="zh-CN" altLang="en-US" sz="1600" b="1" dirty="0">
              <a:solidFill>
                <a:srgbClr val="003300"/>
              </a:solidFill>
              <a:latin typeface="Times New Roman" panose="02020603050405020304" pitchFamily="18" charset="0"/>
            </a:endParaRPr>
          </a:p>
        </p:txBody>
      </p:sp>
      <p:sp>
        <p:nvSpPr>
          <p:cNvPr id="131100" name="Text Box 27"/>
          <p:cNvSpPr txBox="1"/>
          <p:nvPr/>
        </p:nvSpPr>
        <p:spPr>
          <a:xfrm>
            <a:off x="4973638" y="5113338"/>
            <a:ext cx="958850"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消费数据</a:t>
            </a:r>
            <a:endParaRPr lang="zh-CN" altLang="en-US" sz="1600" b="1" dirty="0">
              <a:solidFill>
                <a:srgbClr val="003300"/>
              </a:solidFill>
              <a:latin typeface="Times New Roman" panose="02020603050405020304" pitchFamily="18" charset="0"/>
            </a:endParaRPr>
          </a:p>
        </p:txBody>
      </p:sp>
      <p:sp>
        <p:nvSpPr>
          <p:cNvPr id="131101" name="Line 28"/>
          <p:cNvSpPr/>
          <p:nvPr/>
        </p:nvSpPr>
        <p:spPr>
          <a:xfrm>
            <a:off x="5521325" y="0"/>
            <a:ext cx="0" cy="292100"/>
          </a:xfrm>
          <a:prstGeom prst="line">
            <a:avLst/>
          </a:prstGeom>
          <a:ln w="9525" cap="flat" cmpd="sng">
            <a:solidFill>
              <a:srgbClr val="000000"/>
            </a:solidFill>
            <a:prstDash val="solid"/>
            <a:headEnd type="none" w="med" len="med"/>
            <a:tailEnd type="triangle" w="med" len="med"/>
          </a:ln>
        </p:spPr>
      </p:sp>
      <p:sp>
        <p:nvSpPr>
          <p:cNvPr id="131102" name="Line 29"/>
          <p:cNvSpPr/>
          <p:nvPr/>
        </p:nvSpPr>
        <p:spPr>
          <a:xfrm>
            <a:off x="5521325" y="1168400"/>
            <a:ext cx="0" cy="292100"/>
          </a:xfrm>
          <a:prstGeom prst="line">
            <a:avLst/>
          </a:prstGeom>
          <a:ln w="9525" cap="flat" cmpd="sng">
            <a:solidFill>
              <a:srgbClr val="000000"/>
            </a:solidFill>
            <a:prstDash val="solid"/>
            <a:headEnd type="none" w="med" len="med"/>
            <a:tailEnd type="triangle" w="med" len="med"/>
          </a:ln>
        </p:spPr>
      </p:sp>
      <p:sp>
        <p:nvSpPr>
          <p:cNvPr id="131103" name="AutoShape 30"/>
          <p:cNvSpPr/>
          <p:nvPr/>
        </p:nvSpPr>
        <p:spPr>
          <a:xfrm>
            <a:off x="4973638" y="1460500"/>
            <a:ext cx="1125537" cy="730250"/>
          </a:xfrm>
          <a:prstGeom prst="flowChartDecision">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solidFill>
                <a:srgbClr val="003300"/>
              </a:solidFill>
            </a:endParaRPr>
          </a:p>
        </p:txBody>
      </p:sp>
      <p:sp>
        <p:nvSpPr>
          <p:cNvPr id="131104" name="Text Box 31"/>
          <p:cNvSpPr txBox="1"/>
          <p:nvPr/>
        </p:nvSpPr>
        <p:spPr>
          <a:xfrm>
            <a:off x="5262563" y="1524000"/>
            <a:ext cx="681037"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是否</a:t>
            </a:r>
            <a:endParaRPr lang="zh-CN" altLang="en-US" sz="16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可用</a:t>
            </a:r>
            <a:endParaRPr lang="zh-CN" altLang="en-US" sz="1600" b="1" dirty="0">
              <a:solidFill>
                <a:srgbClr val="003300"/>
              </a:solidFill>
              <a:latin typeface="Times New Roman" panose="02020603050405020304" pitchFamily="18" charset="0"/>
            </a:endParaRPr>
          </a:p>
        </p:txBody>
      </p:sp>
      <p:sp>
        <p:nvSpPr>
          <p:cNvPr id="131105" name="Text Box 32"/>
          <p:cNvSpPr txBox="1"/>
          <p:nvPr/>
        </p:nvSpPr>
        <p:spPr>
          <a:xfrm>
            <a:off x="4989513" y="2922588"/>
            <a:ext cx="1106487"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取一条数据</a:t>
            </a:r>
            <a:endParaRPr lang="zh-CN" altLang="en-US" sz="1600" b="1" dirty="0">
              <a:solidFill>
                <a:srgbClr val="003300"/>
              </a:solidFill>
              <a:latin typeface="Times New Roman" panose="02020603050405020304" pitchFamily="18" charset="0"/>
            </a:endParaRPr>
          </a:p>
        </p:txBody>
      </p:sp>
      <p:sp>
        <p:nvSpPr>
          <p:cNvPr id="131106" name="Line 33"/>
          <p:cNvSpPr/>
          <p:nvPr/>
        </p:nvSpPr>
        <p:spPr>
          <a:xfrm>
            <a:off x="5521325" y="2190750"/>
            <a:ext cx="0" cy="731838"/>
          </a:xfrm>
          <a:prstGeom prst="line">
            <a:avLst/>
          </a:prstGeom>
          <a:ln w="9525" cap="flat" cmpd="sng">
            <a:solidFill>
              <a:srgbClr val="000000"/>
            </a:solidFill>
            <a:prstDash val="solid"/>
            <a:headEnd type="none" w="med" len="med"/>
            <a:tailEnd type="triangle" w="med" len="med"/>
          </a:ln>
        </p:spPr>
      </p:sp>
      <p:sp>
        <p:nvSpPr>
          <p:cNvPr id="131107" name="Line 34"/>
          <p:cNvSpPr/>
          <p:nvPr/>
        </p:nvSpPr>
        <p:spPr>
          <a:xfrm>
            <a:off x="5521325" y="3360738"/>
            <a:ext cx="0" cy="292100"/>
          </a:xfrm>
          <a:prstGeom prst="line">
            <a:avLst/>
          </a:prstGeom>
          <a:ln w="9525" cap="flat" cmpd="sng">
            <a:solidFill>
              <a:srgbClr val="000000"/>
            </a:solidFill>
            <a:prstDash val="solid"/>
            <a:headEnd type="none" w="med" len="med"/>
            <a:tailEnd type="triangle" w="med" len="med"/>
          </a:ln>
        </p:spPr>
      </p:sp>
      <p:sp>
        <p:nvSpPr>
          <p:cNvPr id="131108" name="Line 35"/>
          <p:cNvSpPr/>
          <p:nvPr/>
        </p:nvSpPr>
        <p:spPr>
          <a:xfrm>
            <a:off x="5521325" y="5551488"/>
            <a:ext cx="0" cy="292100"/>
          </a:xfrm>
          <a:prstGeom prst="line">
            <a:avLst/>
          </a:prstGeom>
          <a:ln w="9525" cap="flat" cmpd="sng">
            <a:solidFill>
              <a:srgbClr val="000000"/>
            </a:solidFill>
            <a:prstDash val="solid"/>
            <a:headEnd type="none" w="med" len="med"/>
            <a:tailEnd type="none" w="med" len="med"/>
          </a:ln>
        </p:spPr>
      </p:sp>
      <p:sp>
        <p:nvSpPr>
          <p:cNvPr id="131109" name="Line 36"/>
          <p:cNvSpPr/>
          <p:nvPr/>
        </p:nvSpPr>
        <p:spPr>
          <a:xfrm flipH="1">
            <a:off x="4700588" y="5843588"/>
            <a:ext cx="820737" cy="0"/>
          </a:xfrm>
          <a:prstGeom prst="line">
            <a:avLst/>
          </a:prstGeom>
          <a:ln w="9525" cap="flat" cmpd="sng">
            <a:solidFill>
              <a:srgbClr val="000000"/>
            </a:solidFill>
            <a:prstDash val="solid"/>
            <a:headEnd type="none" w="med" len="med"/>
            <a:tailEnd type="none" w="med" len="med"/>
          </a:ln>
        </p:spPr>
      </p:sp>
      <p:sp>
        <p:nvSpPr>
          <p:cNvPr id="131110" name="Line 37"/>
          <p:cNvSpPr/>
          <p:nvPr/>
        </p:nvSpPr>
        <p:spPr>
          <a:xfrm flipV="1">
            <a:off x="4700588" y="146050"/>
            <a:ext cx="0" cy="5697538"/>
          </a:xfrm>
          <a:prstGeom prst="line">
            <a:avLst/>
          </a:prstGeom>
          <a:ln w="9525" cap="flat" cmpd="sng">
            <a:solidFill>
              <a:srgbClr val="000000"/>
            </a:solidFill>
            <a:prstDash val="solid"/>
            <a:headEnd type="none" w="med" len="med"/>
            <a:tailEnd type="none" w="med" len="med"/>
          </a:ln>
        </p:spPr>
      </p:sp>
      <p:sp>
        <p:nvSpPr>
          <p:cNvPr id="131111" name="Line 38"/>
          <p:cNvSpPr/>
          <p:nvPr/>
        </p:nvSpPr>
        <p:spPr>
          <a:xfrm>
            <a:off x="4700588" y="146050"/>
            <a:ext cx="684212" cy="0"/>
          </a:xfrm>
          <a:prstGeom prst="line">
            <a:avLst/>
          </a:prstGeom>
          <a:ln w="9525" cap="flat" cmpd="sng">
            <a:solidFill>
              <a:srgbClr val="000000"/>
            </a:solidFill>
            <a:prstDash val="solid"/>
            <a:headEnd type="none" w="med" len="med"/>
            <a:tailEnd type="triangle" w="med" len="med"/>
          </a:ln>
        </p:spPr>
      </p:sp>
      <p:sp>
        <p:nvSpPr>
          <p:cNvPr id="131112" name="Text Box 39"/>
          <p:cNvSpPr txBox="1"/>
          <p:nvPr/>
        </p:nvSpPr>
        <p:spPr>
          <a:xfrm>
            <a:off x="5111750" y="1168400"/>
            <a:ext cx="409575"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有</a:t>
            </a:r>
            <a:endParaRPr lang="zh-CN" altLang="en-US" sz="1800" b="1" dirty="0">
              <a:solidFill>
                <a:srgbClr val="003300"/>
              </a:solidFill>
              <a:latin typeface="Times New Roman" panose="02020603050405020304" pitchFamily="18" charset="0"/>
            </a:endParaRPr>
          </a:p>
        </p:txBody>
      </p:sp>
      <p:sp>
        <p:nvSpPr>
          <p:cNvPr id="131113" name="Text Box 40"/>
          <p:cNvSpPr txBox="1"/>
          <p:nvPr/>
        </p:nvSpPr>
        <p:spPr>
          <a:xfrm>
            <a:off x="5181600" y="2336800"/>
            <a:ext cx="409575"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是</a:t>
            </a:r>
            <a:endParaRPr lang="zh-CN" altLang="en-US" sz="1800" b="1" dirty="0">
              <a:solidFill>
                <a:srgbClr val="003300"/>
              </a:solidFill>
              <a:latin typeface="Times New Roman" panose="02020603050405020304" pitchFamily="18" charset="0"/>
            </a:endParaRPr>
          </a:p>
        </p:txBody>
      </p:sp>
      <p:sp>
        <p:nvSpPr>
          <p:cNvPr id="131114" name="Text Box 41"/>
          <p:cNvSpPr txBox="1"/>
          <p:nvPr/>
        </p:nvSpPr>
        <p:spPr>
          <a:xfrm>
            <a:off x="4973638" y="3652838"/>
            <a:ext cx="1231900" cy="4381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归还使用权</a:t>
            </a:r>
            <a:endParaRPr lang="zh-CN" altLang="en-US" sz="1600" b="1" dirty="0">
              <a:solidFill>
                <a:srgbClr val="003300"/>
              </a:solidFill>
              <a:latin typeface="Times New Roman" panose="02020603050405020304" pitchFamily="18" charset="0"/>
            </a:endParaRPr>
          </a:p>
        </p:txBody>
      </p:sp>
      <p:sp>
        <p:nvSpPr>
          <p:cNvPr id="131115" name="Line 42"/>
          <p:cNvSpPr/>
          <p:nvPr/>
        </p:nvSpPr>
        <p:spPr>
          <a:xfrm>
            <a:off x="5521325" y="4090988"/>
            <a:ext cx="0" cy="292100"/>
          </a:xfrm>
          <a:prstGeom prst="line">
            <a:avLst/>
          </a:prstGeom>
          <a:ln w="9525" cap="flat" cmpd="sng">
            <a:solidFill>
              <a:srgbClr val="000000"/>
            </a:solidFill>
            <a:prstDash val="solid"/>
            <a:headEnd type="none" w="med" len="med"/>
            <a:tailEnd type="triangle" w="med" len="med"/>
          </a:ln>
        </p:spPr>
      </p:sp>
      <p:sp>
        <p:nvSpPr>
          <p:cNvPr id="131116" name="Text Box 43"/>
          <p:cNvSpPr txBox="1"/>
          <p:nvPr/>
        </p:nvSpPr>
        <p:spPr>
          <a:xfrm>
            <a:off x="4973638" y="4383088"/>
            <a:ext cx="1808162" cy="493712"/>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600" b="1" dirty="0">
                <a:solidFill>
                  <a:srgbClr val="003300"/>
                </a:solidFill>
                <a:latin typeface="Times New Roman" panose="02020603050405020304" pitchFamily="18" charset="0"/>
              </a:rPr>
              <a:t>Empty</a:t>
            </a:r>
            <a:r>
              <a:rPr lang="zh-CN" altLang="en-US" sz="1600" b="1" dirty="0">
                <a:solidFill>
                  <a:srgbClr val="003300"/>
                </a:solidFill>
                <a:latin typeface="Times New Roman" panose="02020603050405020304" pitchFamily="18" charset="0"/>
              </a:rPr>
              <a:t>信号量加</a:t>
            </a:r>
            <a:r>
              <a:rPr lang="en-US" altLang="zh-CN" sz="1600" b="1" dirty="0">
                <a:solidFill>
                  <a:srgbClr val="003300"/>
                </a:solidFill>
                <a:latin typeface="Times New Roman" panose="02020603050405020304" pitchFamily="18" charset="0"/>
              </a:rPr>
              <a:t>1</a:t>
            </a:r>
            <a:endParaRPr lang="en-US" altLang="zh-CN" sz="16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唤醒一个生产者</a:t>
            </a:r>
            <a:endParaRPr lang="zh-CN" altLang="en-US" sz="1600" b="1" dirty="0">
              <a:solidFill>
                <a:srgbClr val="003300"/>
              </a:solidFill>
              <a:latin typeface="Times New Roman" panose="02020603050405020304" pitchFamily="18" charset="0"/>
            </a:endParaRPr>
          </a:p>
        </p:txBody>
      </p:sp>
      <p:sp>
        <p:nvSpPr>
          <p:cNvPr id="131117" name="Line 44"/>
          <p:cNvSpPr/>
          <p:nvPr/>
        </p:nvSpPr>
        <p:spPr>
          <a:xfrm>
            <a:off x="3468688" y="3798888"/>
            <a:ext cx="0" cy="146050"/>
          </a:xfrm>
          <a:prstGeom prst="line">
            <a:avLst/>
          </a:prstGeom>
          <a:ln w="9525" cap="flat" cmpd="sng">
            <a:solidFill>
              <a:srgbClr val="000000"/>
            </a:solidFill>
            <a:prstDash val="solid"/>
            <a:headEnd type="none" w="med" len="med"/>
            <a:tailEnd type="none" w="med" len="med"/>
          </a:ln>
        </p:spPr>
      </p:sp>
      <p:sp>
        <p:nvSpPr>
          <p:cNvPr id="131118" name="Line 45"/>
          <p:cNvSpPr/>
          <p:nvPr/>
        </p:nvSpPr>
        <p:spPr>
          <a:xfrm flipH="1">
            <a:off x="1962150" y="3360738"/>
            <a:ext cx="958850" cy="0"/>
          </a:xfrm>
          <a:prstGeom prst="line">
            <a:avLst/>
          </a:prstGeom>
          <a:ln w="9525" cap="flat" cmpd="sng">
            <a:solidFill>
              <a:srgbClr val="000000"/>
            </a:solidFill>
            <a:prstDash val="solid"/>
            <a:headEnd type="none" w="med" len="med"/>
            <a:tailEnd type="triangle" w="med" len="med"/>
          </a:ln>
        </p:spPr>
      </p:sp>
      <p:sp>
        <p:nvSpPr>
          <p:cNvPr id="131119" name="Line 46"/>
          <p:cNvSpPr/>
          <p:nvPr/>
        </p:nvSpPr>
        <p:spPr>
          <a:xfrm>
            <a:off x="3605213" y="292100"/>
            <a:ext cx="0" cy="292100"/>
          </a:xfrm>
          <a:prstGeom prst="line">
            <a:avLst/>
          </a:prstGeom>
          <a:ln w="9525" cap="flat" cmpd="sng">
            <a:solidFill>
              <a:srgbClr val="000000"/>
            </a:solidFill>
            <a:prstDash val="solid"/>
            <a:headEnd type="none" w="med" len="med"/>
            <a:tailEnd type="triangle" w="med" len="med"/>
          </a:ln>
        </p:spPr>
      </p:sp>
      <p:sp>
        <p:nvSpPr>
          <p:cNvPr id="131120" name="Text Box 47"/>
          <p:cNvSpPr txBox="1"/>
          <p:nvPr/>
        </p:nvSpPr>
        <p:spPr>
          <a:xfrm>
            <a:off x="2895600" y="609600"/>
            <a:ext cx="1600200" cy="55880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等待资源，阻塞</a:t>
            </a:r>
            <a:endParaRPr lang="zh-CN" altLang="en-US" sz="1800" b="1" dirty="0">
              <a:solidFill>
                <a:srgbClr val="003300"/>
              </a:solidFill>
              <a:latin typeface="Times New Roman" panose="02020603050405020304" pitchFamily="18" charset="0"/>
            </a:endParaRPr>
          </a:p>
        </p:txBody>
      </p:sp>
      <p:sp>
        <p:nvSpPr>
          <p:cNvPr id="131121" name="Text Box 48"/>
          <p:cNvSpPr txBox="1"/>
          <p:nvPr/>
        </p:nvSpPr>
        <p:spPr>
          <a:xfrm>
            <a:off x="2919413" y="2630488"/>
            <a:ext cx="1271587" cy="569912"/>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阻塞</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等待使用权</a:t>
            </a:r>
            <a:endParaRPr lang="zh-CN" altLang="en-US" sz="1800" b="1" dirty="0">
              <a:solidFill>
                <a:srgbClr val="003300"/>
              </a:solidFill>
              <a:latin typeface="Times New Roman" panose="02020603050405020304" pitchFamily="18" charset="0"/>
            </a:endParaRPr>
          </a:p>
        </p:txBody>
      </p:sp>
      <p:sp>
        <p:nvSpPr>
          <p:cNvPr id="131122" name="Line 49"/>
          <p:cNvSpPr/>
          <p:nvPr/>
        </p:nvSpPr>
        <p:spPr>
          <a:xfrm flipV="1">
            <a:off x="2819400" y="292100"/>
            <a:ext cx="0" cy="1314450"/>
          </a:xfrm>
          <a:prstGeom prst="line">
            <a:avLst/>
          </a:prstGeom>
          <a:ln w="9525" cap="flat" cmpd="sng">
            <a:solidFill>
              <a:srgbClr val="000000"/>
            </a:solidFill>
            <a:prstDash val="solid"/>
            <a:headEnd type="none" w="med" len="med"/>
            <a:tailEnd type="none" w="med" len="med"/>
          </a:ln>
        </p:spPr>
      </p:sp>
      <p:sp>
        <p:nvSpPr>
          <p:cNvPr id="131123" name="Line 50"/>
          <p:cNvSpPr/>
          <p:nvPr/>
        </p:nvSpPr>
        <p:spPr>
          <a:xfrm>
            <a:off x="2782888" y="292100"/>
            <a:ext cx="822325" cy="0"/>
          </a:xfrm>
          <a:prstGeom prst="line">
            <a:avLst/>
          </a:prstGeom>
          <a:ln w="9525" cap="flat" cmpd="sng">
            <a:solidFill>
              <a:srgbClr val="000000"/>
            </a:solidFill>
            <a:prstDash val="solid"/>
            <a:headEnd type="none" w="med" len="med"/>
            <a:tailEnd type="none" w="med" len="med"/>
          </a:ln>
        </p:spPr>
      </p:sp>
      <p:sp>
        <p:nvSpPr>
          <p:cNvPr id="131124" name="Text Box 51"/>
          <p:cNvSpPr txBox="1"/>
          <p:nvPr/>
        </p:nvSpPr>
        <p:spPr>
          <a:xfrm>
            <a:off x="3194050" y="1314450"/>
            <a:ext cx="820738"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被唤醒</a:t>
            </a:r>
            <a:endParaRPr lang="zh-CN" altLang="en-US" sz="1800" b="1" dirty="0">
              <a:solidFill>
                <a:srgbClr val="003300"/>
              </a:solidFill>
              <a:latin typeface="Times New Roman" panose="02020603050405020304" pitchFamily="18" charset="0"/>
            </a:endParaRPr>
          </a:p>
        </p:txBody>
      </p:sp>
      <p:sp>
        <p:nvSpPr>
          <p:cNvPr id="131125" name="Line 52"/>
          <p:cNvSpPr/>
          <p:nvPr/>
        </p:nvSpPr>
        <p:spPr>
          <a:xfrm>
            <a:off x="3605213" y="1752600"/>
            <a:ext cx="0" cy="439738"/>
          </a:xfrm>
          <a:prstGeom prst="line">
            <a:avLst/>
          </a:prstGeom>
          <a:ln w="9525" cap="flat" cmpd="sng">
            <a:solidFill>
              <a:srgbClr val="000000"/>
            </a:solidFill>
            <a:prstDash val="solid"/>
            <a:headEnd type="none" w="med" len="med"/>
            <a:tailEnd type="none" w="med" len="med"/>
          </a:ln>
        </p:spPr>
      </p:sp>
      <p:sp>
        <p:nvSpPr>
          <p:cNvPr id="131126" name="Line 53"/>
          <p:cNvSpPr/>
          <p:nvPr/>
        </p:nvSpPr>
        <p:spPr>
          <a:xfrm flipH="1">
            <a:off x="2098675" y="2192338"/>
            <a:ext cx="1506538" cy="0"/>
          </a:xfrm>
          <a:prstGeom prst="line">
            <a:avLst/>
          </a:prstGeom>
          <a:ln w="9525" cap="flat" cmpd="sng">
            <a:solidFill>
              <a:srgbClr val="000000"/>
            </a:solidFill>
            <a:prstDash val="solid"/>
            <a:headEnd type="none" w="med" len="med"/>
            <a:tailEnd type="triangle" w="med" len="med"/>
          </a:ln>
        </p:spPr>
      </p:sp>
      <p:sp>
        <p:nvSpPr>
          <p:cNvPr id="131127" name="Text Box 54"/>
          <p:cNvSpPr txBox="1"/>
          <p:nvPr/>
        </p:nvSpPr>
        <p:spPr>
          <a:xfrm>
            <a:off x="2287588" y="2362200"/>
            <a:ext cx="41116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否</a:t>
            </a:r>
            <a:endParaRPr lang="zh-CN" altLang="en-US" sz="1800" b="1" dirty="0">
              <a:solidFill>
                <a:srgbClr val="003300"/>
              </a:solidFill>
              <a:latin typeface="Times New Roman" panose="02020603050405020304" pitchFamily="18" charset="0"/>
            </a:endParaRPr>
          </a:p>
        </p:txBody>
      </p:sp>
      <p:sp>
        <p:nvSpPr>
          <p:cNvPr id="131128" name="Line 55"/>
          <p:cNvSpPr/>
          <p:nvPr/>
        </p:nvSpPr>
        <p:spPr>
          <a:xfrm>
            <a:off x="2562225" y="2749550"/>
            <a:ext cx="136525" cy="0"/>
          </a:xfrm>
          <a:prstGeom prst="line">
            <a:avLst/>
          </a:prstGeom>
          <a:ln w="9525" cap="flat" cmpd="sng">
            <a:solidFill>
              <a:srgbClr val="000000"/>
            </a:solidFill>
            <a:prstDash val="solid"/>
            <a:headEnd type="none" w="med" len="med"/>
            <a:tailEnd type="none" w="med" len="med"/>
          </a:ln>
        </p:spPr>
      </p:sp>
      <p:sp>
        <p:nvSpPr>
          <p:cNvPr id="131129" name="Line 56"/>
          <p:cNvSpPr/>
          <p:nvPr/>
        </p:nvSpPr>
        <p:spPr>
          <a:xfrm>
            <a:off x="3657600" y="2457450"/>
            <a:ext cx="0" cy="209550"/>
          </a:xfrm>
          <a:prstGeom prst="line">
            <a:avLst/>
          </a:prstGeom>
          <a:ln w="9525" cap="flat" cmpd="sng">
            <a:solidFill>
              <a:srgbClr val="000000"/>
            </a:solidFill>
            <a:prstDash val="solid"/>
            <a:headEnd type="none" w="med" len="med"/>
            <a:tailEnd type="triangle" w="med" len="med"/>
          </a:ln>
        </p:spPr>
      </p:sp>
      <p:sp>
        <p:nvSpPr>
          <p:cNvPr id="131130" name="Line 57"/>
          <p:cNvSpPr/>
          <p:nvPr/>
        </p:nvSpPr>
        <p:spPr>
          <a:xfrm flipV="1">
            <a:off x="2698750" y="2457450"/>
            <a:ext cx="0" cy="292100"/>
          </a:xfrm>
          <a:prstGeom prst="line">
            <a:avLst/>
          </a:prstGeom>
          <a:ln w="9525" cap="flat" cmpd="sng">
            <a:solidFill>
              <a:srgbClr val="000000"/>
            </a:solidFill>
            <a:prstDash val="solid"/>
            <a:headEnd type="none" w="med" len="med"/>
            <a:tailEnd type="none" w="med" len="med"/>
          </a:ln>
        </p:spPr>
      </p:sp>
      <p:sp>
        <p:nvSpPr>
          <p:cNvPr id="131131" name="Line 58"/>
          <p:cNvSpPr/>
          <p:nvPr/>
        </p:nvSpPr>
        <p:spPr>
          <a:xfrm>
            <a:off x="2698750" y="2457450"/>
            <a:ext cx="958850" cy="0"/>
          </a:xfrm>
          <a:prstGeom prst="line">
            <a:avLst/>
          </a:prstGeom>
          <a:ln w="9525" cap="flat" cmpd="sng">
            <a:solidFill>
              <a:srgbClr val="000000"/>
            </a:solidFill>
            <a:prstDash val="solid"/>
            <a:headEnd type="none" w="med" len="med"/>
            <a:tailEnd type="none" w="med" len="med"/>
          </a:ln>
        </p:spPr>
      </p:sp>
      <p:sp>
        <p:nvSpPr>
          <p:cNvPr id="131132" name="Line 59"/>
          <p:cNvSpPr/>
          <p:nvPr/>
        </p:nvSpPr>
        <p:spPr>
          <a:xfrm>
            <a:off x="3581400" y="3200400"/>
            <a:ext cx="23813" cy="160338"/>
          </a:xfrm>
          <a:prstGeom prst="line">
            <a:avLst/>
          </a:prstGeom>
          <a:ln w="9525" cap="flat" cmpd="sng">
            <a:solidFill>
              <a:srgbClr val="000000"/>
            </a:solidFill>
            <a:prstDash val="solid"/>
            <a:headEnd type="none" w="med" len="med"/>
            <a:tailEnd type="triangle" w="med" len="med"/>
          </a:ln>
        </p:spPr>
      </p:sp>
      <p:sp>
        <p:nvSpPr>
          <p:cNvPr id="131133" name="Text Box 60"/>
          <p:cNvSpPr txBox="1"/>
          <p:nvPr/>
        </p:nvSpPr>
        <p:spPr>
          <a:xfrm>
            <a:off x="3057525" y="3360738"/>
            <a:ext cx="820738" cy="4381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被唤醒</a:t>
            </a:r>
            <a:endParaRPr lang="zh-CN" altLang="en-US" sz="1600" b="1" dirty="0">
              <a:solidFill>
                <a:srgbClr val="003300"/>
              </a:solidFill>
              <a:latin typeface="Times New Roman" panose="02020603050405020304" pitchFamily="18" charset="0"/>
            </a:endParaRPr>
          </a:p>
        </p:txBody>
      </p:sp>
      <p:sp>
        <p:nvSpPr>
          <p:cNvPr id="131134" name="Line 61"/>
          <p:cNvSpPr/>
          <p:nvPr/>
        </p:nvSpPr>
        <p:spPr>
          <a:xfrm flipH="1">
            <a:off x="2921000" y="3944938"/>
            <a:ext cx="547688" cy="0"/>
          </a:xfrm>
          <a:prstGeom prst="line">
            <a:avLst/>
          </a:prstGeom>
          <a:ln w="9525" cap="flat" cmpd="sng">
            <a:solidFill>
              <a:srgbClr val="000000"/>
            </a:solidFill>
            <a:prstDash val="solid"/>
            <a:headEnd type="none" w="med" len="med"/>
            <a:tailEnd type="none" w="med" len="med"/>
          </a:ln>
        </p:spPr>
      </p:sp>
      <p:sp>
        <p:nvSpPr>
          <p:cNvPr id="131135" name="Line 62"/>
          <p:cNvSpPr/>
          <p:nvPr/>
        </p:nvSpPr>
        <p:spPr>
          <a:xfrm flipV="1">
            <a:off x="2921000" y="3360738"/>
            <a:ext cx="0" cy="584200"/>
          </a:xfrm>
          <a:prstGeom prst="line">
            <a:avLst/>
          </a:prstGeom>
          <a:ln w="9525" cap="flat" cmpd="sng">
            <a:solidFill>
              <a:srgbClr val="000000"/>
            </a:solidFill>
            <a:prstDash val="solid"/>
            <a:headEnd type="none" w="med" len="med"/>
            <a:tailEnd type="none" w="med" len="med"/>
          </a:ln>
        </p:spPr>
      </p:sp>
      <p:sp>
        <p:nvSpPr>
          <p:cNvPr id="131136" name="AutoShape 63"/>
          <p:cNvSpPr/>
          <p:nvPr/>
        </p:nvSpPr>
        <p:spPr>
          <a:xfrm>
            <a:off x="1143000" y="1143000"/>
            <a:ext cx="1676400" cy="876300"/>
          </a:xfrm>
          <a:prstGeom prst="flowChartDecision">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solidFill>
                <a:srgbClr val="003300"/>
              </a:solidFill>
            </a:endParaRPr>
          </a:p>
        </p:txBody>
      </p:sp>
      <p:sp>
        <p:nvSpPr>
          <p:cNvPr id="131137" name="Text Box 64"/>
          <p:cNvSpPr txBox="1"/>
          <p:nvPr/>
        </p:nvSpPr>
        <p:spPr>
          <a:xfrm>
            <a:off x="1550988" y="1314450"/>
            <a:ext cx="958850" cy="59055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ea typeface="仿宋_GB2312" pitchFamily="49" charset="-122"/>
              </a:rPr>
              <a:t>是否有空</a:t>
            </a:r>
            <a:endParaRPr lang="zh-CN" altLang="en-US" sz="1800" b="1" dirty="0">
              <a:solidFill>
                <a:srgbClr val="003300"/>
              </a:solidFill>
              <a:latin typeface="Times New Roman" panose="02020603050405020304" pitchFamily="18" charset="0"/>
              <a:ea typeface="仿宋_GB2312" pitchFamily="49" charset="-122"/>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ea typeface="仿宋_GB2312" pitchFamily="49" charset="-122"/>
              </a:rPr>
              <a:t>存储单元</a:t>
            </a:r>
            <a:endParaRPr lang="zh-CN" altLang="en-US" sz="1800" b="1" dirty="0">
              <a:solidFill>
                <a:srgbClr val="003300"/>
              </a:solidFill>
              <a:latin typeface="Times New Roman" panose="02020603050405020304" pitchFamily="18" charset="0"/>
              <a:ea typeface="仿宋_GB2312" pitchFamily="49" charset="-122"/>
            </a:endParaRPr>
          </a:p>
        </p:txBody>
      </p:sp>
      <p:sp>
        <p:nvSpPr>
          <p:cNvPr id="131138" name="Text Box 65"/>
          <p:cNvSpPr txBox="1"/>
          <p:nvPr/>
        </p:nvSpPr>
        <p:spPr>
          <a:xfrm>
            <a:off x="1223963" y="438150"/>
            <a:ext cx="1443037"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生产一条数据</a:t>
            </a:r>
            <a:endParaRPr lang="zh-CN" altLang="en-US" sz="1800" b="1" dirty="0">
              <a:solidFill>
                <a:srgbClr val="003300"/>
              </a:solidFill>
              <a:latin typeface="Times New Roman" panose="02020603050405020304" pitchFamily="18" charset="0"/>
            </a:endParaRPr>
          </a:p>
        </p:txBody>
      </p:sp>
      <p:sp>
        <p:nvSpPr>
          <p:cNvPr id="131139" name="Line 66"/>
          <p:cNvSpPr/>
          <p:nvPr/>
        </p:nvSpPr>
        <p:spPr>
          <a:xfrm>
            <a:off x="1962150" y="876300"/>
            <a:ext cx="0" cy="292100"/>
          </a:xfrm>
          <a:prstGeom prst="line">
            <a:avLst/>
          </a:prstGeom>
          <a:ln w="9525" cap="flat" cmpd="sng">
            <a:solidFill>
              <a:srgbClr val="000000"/>
            </a:solidFill>
            <a:prstDash val="solid"/>
            <a:headEnd type="none" w="med" len="med"/>
            <a:tailEnd type="triangle" w="med" len="med"/>
          </a:ln>
        </p:spPr>
      </p:sp>
      <p:sp>
        <p:nvSpPr>
          <p:cNvPr id="131140" name="Line 67"/>
          <p:cNvSpPr/>
          <p:nvPr/>
        </p:nvSpPr>
        <p:spPr>
          <a:xfrm>
            <a:off x="1962150" y="0"/>
            <a:ext cx="0" cy="438150"/>
          </a:xfrm>
          <a:prstGeom prst="line">
            <a:avLst/>
          </a:prstGeom>
          <a:ln w="9525" cap="flat" cmpd="sng">
            <a:solidFill>
              <a:srgbClr val="000000"/>
            </a:solidFill>
            <a:prstDash val="solid"/>
            <a:headEnd type="none" w="med" len="med"/>
            <a:tailEnd type="triangle" w="med" len="med"/>
          </a:ln>
        </p:spPr>
      </p:sp>
      <p:sp>
        <p:nvSpPr>
          <p:cNvPr id="131141" name="Line 68"/>
          <p:cNvSpPr/>
          <p:nvPr/>
        </p:nvSpPr>
        <p:spPr>
          <a:xfrm>
            <a:off x="1962150" y="2044700"/>
            <a:ext cx="0" cy="292100"/>
          </a:xfrm>
          <a:prstGeom prst="line">
            <a:avLst/>
          </a:prstGeom>
          <a:ln w="9525" cap="flat" cmpd="sng">
            <a:solidFill>
              <a:srgbClr val="000000"/>
            </a:solidFill>
            <a:prstDash val="solid"/>
            <a:headEnd type="none" w="med" len="med"/>
            <a:tailEnd type="triangle" w="med" len="med"/>
          </a:ln>
        </p:spPr>
      </p:sp>
      <p:sp>
        <p:nvSpPr>
          <p:cNvPr id="131142" name="AutoShape 69"/>
          <p:cNvSpPr/>
          <p:nvPr/>
        </p:nvSpPr>
        <p:spPr>
          <a:xfrm>
            <a:off x="1414463" y="2336800"/>
            <a:ext cx="1095375" cy="731838"/>
          </a:xfrm>
          <a:prstGeom prst="flowChartDecision">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solidFill>
                <a:srgbClr val="003300"/>
              </a:solidFill>
            </a:endParaRPr>
          </a:p>
        </p:txBody>
      </p:sp>
      <p:sp>
        <p:nvSpPr>
          <p:cNvPr id="131143" name="Text Box 70"/>
          <p:cNvSpPr txBox="1"/>
          <p:nvPr/>
        </p:nvSpPr>
        <p:spPr>
          <a:xfrm>
            <a:off x="1627188" y="2362200"/>
            <a:ext cx="73501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ea typeface="仿宋_GB2312" pitchFamily="49" charset="-122"/>
              </a:rPr>
              <a:t>是否</a:t>
            </a:r>
            <a:endParaRPr lang="zh-CN" altLang="en-US" sz="1800" b="1" dirty="0">
              <a:solidFill>
                <a:srgbClr val="003300"/>
              </a:solidFill>
              <a:latin typeface="Times New Roman" panose="02020603050405020304" pitchFamily="18" charset="0"/>
              <a:ea typeface="仿宋_GB2312" pitchFamily="49" charset="-122"/>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ea typeface="仿宋_GB2312" pitchFamily="49" charset="-122"/>
              </a:rPr>
              <a:t>可用</a:t>
            </a:r>
            <a:endParaRPr lang="zh-CN" altLang="en-US" sz="1800" b="1" dirty="0">
              <a:solidFill>
                <a:srgbClr val="003300"/>
              </a:solidFill>
              <a:latin typeface="Times New Roman" panose="02020603050405020304" pitchFamily="18" charset="0"/>
              <a:ea typeface="仿宋_GB2312" pitchFamily="49" charset="-122"/>
            </a:endParaRPr>
          </a:p>
        </p:txBody>
      </p:sp>
      <p:sp>
        <p:nvSpPr>
          <p:cNvPr id="131144" name="Text Box 71"/>
          <p:cNvSpPr txBox="1"/>
          <p:nvPr/>
        </p:nvSpPr>
        <p:spPr>
          <a:xfrm>
            <a:off x="1550988" y="1898650"/>
            <a:ext cx="41116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有</a:t>
            </a:r>
            <a:endParaRPr lang="zh-CN" altLang="en-US" sz="1800" b="1" dirty="0">
              <a:solidFill>
                <a:srgbClr val="003300"/>
              </a:solidFill>
              <a:latin typeface="Times New Roman" panose="02020603050405020304" pitchFamily="18" charset="0"/>
            </a:endParaRPr>
          </a:p>
        </p:txBody>
      </p:sp>
      <p:sp>
        <p:nvSpPr>
          <p:cNvPr id="131145" name="Text Box 72"/>
          <p:cNvSpPr txBox="1"/>
          <p:nvPr/>
        </p:nvSpPr>
        <p:spPr>
          <a:xfrm>
            <a:off x="1219200" y="3652838"/>
            <a:ext cx="1435100"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存入一条数据</a:t>
            </a:r>
            <a:endParaRPr lang="zh-CN" altLang="en-US" sz="1800" b="1" dirty="0">
              <a:solidFill>
                <a:srgbClr val="003300"/>
              </a:solidFill>
              <a:latin typeface="Times New Roman" panose="02020603050405020304" pitchFamily="18" charset="0"/>
            </a:endParaRPr>
          </a:p>
        </p:txBody>
      </p:sp>
      <p:sp>
        <p:nvSpPr>
          <p:cNvPr id="131146" name="Line 73"/>
          <p:cNvSpPr/>
          <p:nvPr/>
        </p:nvSpPr>
        <p:spPr>
          <a:xfrm>
            <a:off x="1968500" y="3070225"/>
            <a:ext cx="1588" cy="582613"/>
          </a:xfrm>
          <a:prstGeom prst="line">
            <a:avLst/>
          </a:prstGeom>
          <a:ln w="9525" cap="flat" cmpd="sng">
            <a:solidFill>
              <a:srgbClr val="000000"/>
            </a:solidFill>
            <a:prstDash val="solid"/>
            <a:headEnd type="none" w="med" len="med"/>
            <a:tailEnd type="triangle" w="med" len="med"/>
          </a:ln>
        </p:spPr>
      </p:sp>
      <p:sp>
        <p:nvSpPr>
          <p:cNvPr id="131147" name="Text Box 74"/>
          <p:cNvSpPr txBox="1"/>
          <p:nvPr/>
        </p:nvSpPr>
        <p:spPr>
          <a:xfrm>
            <a:off x="1219200" y="4383088"/>
            <a:ext cx="1435100"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  归还使用权</a:t>
            </a:r>
            <a:endParaRPr lang="zh-CN" altLang="en-US" sz="1800" b="1" dirty="0">
              <a:solidFill>
                <a:srgbClr val="003300"/>
              </a:solidFill>
              <a:latin typeface="Times New Roman" panose="02020603050405020304" pitchFamily="18" charset="0"/>
            </a:endParaRPr>
          </a:p>
        </p:txBody>
      </p:sp>
      <p:sp>
        <p:nvSpPr>
          <p:cNvPr id="131148" name="Line 75"/>
          <p:cNvSpPr/>
          <p:nvPr/>
        </p:nvSpPr>
        <p:spPr>
          <a:xfrm>
            <a:off x="1970088" y="4090988"/>
            <a:ext cx="0" cy="292100"/>
          </a:xfrm>
          <a:prstGeom prst="line">
            <a:avLst/>
          </a:prstGeom>
          <a:ln w="9525" cap="flat" cmpd="sng">
            <a:solidFill>
              <a:srgbClr val="000000"/>
            </a:solidFill>
            <a:prstDash val="solid"/>
            <a:headEnd type="none" w="med" len="med"/>
            <a:tailEnd type="triangle" w="med" len="med"/>
          </a:ln>
        </p:spPr>
      </p:sp>
      <p:sp>
        <p:nvSpPr>
          <p:cNvPr id="131149" name="Line 76"/>
          <p:cNvSpPr/>
          <p:nvPr/>
        </p:nvSpPr>
        <p:spPr>
          <a:xfrm>
            <a:off x="1970088" y="5727700"/>
            <a:ext cx="0" cy="292100"/>
          </a:xfrm>
          <a:prstGeom prst="line">
            <a:avLst/>
          </a:prstGeom>
          <a:ln w="9525" cap="flat" cmpd="sng">
            <a:solidFill>
              <a:srgbClr val="000000"/>
            </a:solidFill>
            <a:prstDash val="solid"/>
            <a:headEnd type="none" w="med" len="med"/>
            <a:tailEnd type="none" w="med" len="med"/>
          </a:ln>
        </p:spPr>
      </p:sp>
      <p:sp>
        <p:nvSpPr>
          <p:cNvPr id="131150" name="Line 77"/>
          <p:cNvSpPr/>
          <p:nvPr/>
        </p:nvSpPr>
        <p:spPr>
          <a:xfrm flipH="1">
            <a:off x="838200" y="6019800"/>
            <a:ext cx="1143000" cy="0"/>
          </a:xfrm>
          <a:prstGeom prst="line">
            <a:avLst/>
          </a:prstGeom>
          <a:ln w="9525" cap="flat" cmpd="sng">
            <a:solidFill>
              <a:srgbClr val="000000"/>
            </a:solidFill>
            <a:prstDash val="solid"/>
            <a:headEnd type="none" w="med" len="med"/>
            <a:tailEnd type="none" w="med" len="med"/>
          </a:ln>
        </p:spPr>
      </p:sp>
      <p:sp>
        <p:nvSpPr>
          <p:cNvPr id="131151" name="Line 78"/>
          <p:cNvSpPr/>
          <p:nvPr/>
        </p:nvSpPr>
        <p:spPr>
          <a:xfrm flipV="1">
            <a:off x="838200" y="292100"/>
            <a:ext cx="0" cy="5727700"/>
          </a:xfrm>
          <a:prstGeom prst="line">
            <a:avLst/>
          </a:prstGeom>
          <a:ln w="9525" cap="flat" cmpd="sng">
            <a:solidFill>
              <a:srgbClr val="000000"/>
            </a:solidFill>
            <a:prstDash val="solid"/>
            <a:headEnd type="none" w="med" len="med"/>
            <a:tailEnd type="none" w="med" len="med"/>
          </a:ln>
        </p:spPr>
      </p:sp>
      <p:sp>
        <p:nvSpPr>
          <p:cNvPr id="131152" name="Line 79"/>
          <p:cNvSpPr/>
          <p:nvPr/>
        </p:nvSpPr>
        <p:spPr>
          <a:xfrm>
            <a:off x="838200" y="292100"/>
            <a:ext cx="927100" cy="0"/>
          </a:xfrm>
          <a:prstGeom prst="line">
            <a:avLst/>
          </a:prstGeom>
          <a:ln w="9525" cap="flat" cmpd="sng">
            <a:solidFill>
              <a:srgbClr val="000000"/>
            </a:solidFill>
            <a:prstDash val="solid"/>
            <a:headEnd type="none" w="med" len="med"/>
            <a:tailEnd type="triangle" w="med" len="med"/>
          </a:ln>
        </p:spPr>
      </p:sp>
      <p:sp>
        <p:nvSpPr>
          <p:cNvPr id="131153" name="Text Box 80"/>
          <p:cNvSpPr txBox="1"/>
          <p:nvPr/>
        </p:nvSpPr>
        <p:spPr>
          <a:xfrm>
            <a:off x="1560513" y="3068638"/>
            <a:ext cx="409575"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是</a:t>
            </a:r>
            <a:endParaRPr lang="zh-CN" altLang="en-US" sz="1800" b="1" dirty="0">
              <a:solidFill>
                <a:srgbClr val="003300"/>
              </a:solidFill>
              <a:latin typeface="Times New Roman" panose="02020603050405020304" pitchFamily="18" charset="0"/>
            </a:endParaRPr>
          </a:p>
        </p:txBody>
      </p:sp>
      <p:sp>
        <p:nvSpPr>
          <p:cNvPr id="131154" name="Line 81"/>
          <p:cNvSpPr/>
          <p:nvPr/>
        </p:nvSpPr>
        <p:spPr>
          <a:xfrm>
            <a:off x="1970088" y="4821238"/>
            <a:ext cx="0" cy="292100"/>
          </a:xfrm>
          <a:prstGeom prst="line">
            <a:avLst/>
          </a:prstGeom>
          <a:ln w="9525" cap="flat" cmpd="sng">
            <a:solidFill>
              <a:srgbClr val="000000"/>
            </a:solidFill>
            <a:prstDash val="solid"/>
            <a:headEnd type="none" w="med" len="med"/>
            <a:tailEnd type="triangle" w="med" len="med"/>
          </a:ln>
        </p:spPr>
      </p:sp>
      <p:sp>
        <p:nvSpPr>
          <p:cNvPr id="131155" name="Text Box 82"/>
          <p:cNvSpPr txBox="1"/>
          <p:nvPr/>
        </p:nvSpPr>
        <p:spPr>
          <a:xfrm>
            <a:off x="1143000" y="5113338"/>
            <a:ext cx="1752600" cy="601662"/>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3300"/>
                </a:solidFill>
                <a:latin typeface="Times New Roman" panose="02020603050405020304" pitchFamily="18" charset="0"/>
              </a:rPr>
              <a:t>Full</a:t>
            </a:r>
            <a:r>
              <a:rPr lang="zh-CN" altLang="en-US" sz="1800" b="1" dirty="0">
                <a:solidFill>
                  <a:srgbClr val="003300"/>
                </a:solidFill>
                <a:latin typeface="Times New Roman" panose="02020603050405020304" pitchFamily="18" charset="0"/>
              </a:rPr>
              <a:t>信号量加</a:t>
            </a:r>
            <a:r>
              <a:rPr lang="en-US" altLang="zh-CN" sz="1800" b="1" dirty="0">
                <a:solidFill>
                  <a:srgbClr val="003300"/>
                </a:solidFill>
                <a:latin typeface="Times New Roman" panose="02020603050405020304" pitchFamily="18" charset="0"/>
              </a:rPr>
              <a:t>1</a:t>
            </a:r>
            <a:endParaRPr lang="en-US" altLang="zh-CN"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唤醒一个消费者</a:t>
            </a:r>
            <a:endParaRPr lang="zh-CN" altLang="en-US" sz="1800" b="1" dirty="0">
              <a:solidFill>
                <a:srgbClr val="003300"/>
              </a:solidFill>
              <a:latin typeface="Times New Roman" panose="02020603050405020304" pitchFamily="18" charset="0"/>
            </a:endParaRPr>
          </a:p>
        </p:txBody>
      </p:sp>
      <p:sp>
        <p:nvSpPr>
          <p:cNvPr id="131156" name="Text Box 83"/>
          <p:cNvSpPr txBox="1"/>
          <p:nvPr/>
        </p:nvSpPr>
        <p:spPr>
          <a:xfrm>
            <a:off x="2438400" y="6427788"/>
            <a:ext cx="4800600"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2000" b="1" dirty="0">
                <a:solidFill>
                  <a:srgbClr val="003300"/>
                </a:solidFill>
                <a:latin typeface="Times New Roman" panose="02020603050405020304" pitchFamily="18" charset="0"/>
              </a:rPr>
              <a:t>图  生产者</a:t>
            </a:r>
            <a:r>
              <a:rPr lang="en-US" altLang="zh-CN" sz="2000" b="1" dirty="0">
                <a:solidFill>
                  <a:srgbClr val="003300"/>
                </a:solidFill>
                <a:latin typeface="Times New Roman" panose="02020603050405020304" pitchFamily="18" charset="0"/>
              </a:rPr>
              <a:t>/</a:t>
            </a:r>
            <a:r>
              <a:rPr lang="zh-CN" altLang="en-US" sz="2000" b="1" dirty="0">
                <a:solidFill>
                  <a:srgbClr val="003300"/>
                </a:solidFill>
                <a:latin typeface="Times New Roman" panose="02020603050405020304" pitchFamily="18" charset="0"/>
              </a:rPr>
              <a:t>消费者执行流程图</a:t>
            </a:r>
            <a:endParaRPr lang="zh-CN" altLang="en-US" sz="2000" b="1" dirty="0">
              <a:solidFill>
                <a:srgbClr val="003300"/>
              </a:solidFill>
              <a:latin typeface="Times New Roman" panose="02020603050405020304" pitchFamily="18" charset="0"/>
            </a:endParaRPr>
          </a:p>
        </p:txBody>
      </p:sp>
      <p:sp>
        <p:nvSpPr>
          <p:cNvPr id="131157" name="Line 84"/>
          <p:cNvSpPr/>
          <p:nvPr/>
        </p:nvSpPr>
        <p:spPr>
          <a:xfrm>
            <a:off x="5486400" y="4876800"/>
            <a:ext cx="0" cy="228600"/>
          </a:xfrm>
          <a:prstGeom prst="line">
            <a:avLst/>
          </a:prstGeom>
          <a:ln w="9525" cap="flat" cmpd="sng">
            <a:solidFill>
              <a:srgbClr val="000000"/>
            </a:solidFill>
            <a:prstDash val="solid"/>
            <a:headEnd type="none" w="med" len="med"/>
            <a:tailEnd type="triangle" w="med" len="med"/>
          </a:ln>
        </p:spPr>
      </p:sp>
      <p:sp>
        <p:nvSpPr>
          <p:cNvPr id="131158" name="Line 85"/>
          <p:cNvSpPr/>
          <p:nvPr/>
        </p:nvSpPr>
        <p:spPr>
          <a:xfrm>
            <a:off x="3557588" y="1143000"/>
            <a:ext cx="23812" cy="160338"/>
          </a:xfrm>
          <a:prstGeom prst="line">
            <a:avLst/>
          </a:prstGeom>
          <a:ln w="9525" cap="flat" cmpd="sng">
            <a:solidFill>
              <a:srgbClr val="000000"/>
            </a:solidFill>
            <a:prstDash val="solid"/>
            <a:headEnd type="none" w="med" len="med"/>
            <a:tailEnd type="triangle" w="med" len="med"/>
          </a:ln>
        </p:spPr>
      </p:sp>
      <p:sp>
        <p:nvSpPr>
          <p:cNvPr id="131159" name="Text Box 86"/>
          <p:cNvSpPr txBox="1"/>
          <p:nvPr/>
        </p:nvSpPr>
        <p:spPr>
          <a:xfrm>
            <a:off x="2362200" y="990600"/>
            <a:ext cx="411163"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无</a:t>
            </a:r>
            <a:endParaRPr lang="zh-CN" altLang="en-US" sz="1800" b="1" dirty="0">
              <a:solidFill>
                <a:srgbClr val="003300"/>
              </a:solidFill>
              <a:latin typeface="Times New Roman" panose="02020603050405020304" pitchFamily="18" charset="0"/>
            </a:endParaRPr>
          </a:p>
        </p:txBody>
      </p:sp>
      <p:sp>
        <p:nvSpPr>
          <p:cNvPr id="131160" name="Text Box 87"/>
          <p:cNvSpPr txBox="1"/>
          <p:nvPr/>
        </p:nvSpPr>
        <p:spPr>
          <a:xfrm>
            <a:off x="6477000" y="2057400"/>
            <a:ext cx="1271588" cy="569913"/>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阻塞</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等待使用权</a:t>
            </a:r>
            <a:endParaRPr lang="zh-CN" altLang="en-US" sz="1800" b="1" dirty="0">
              <a:solidFill>
                <a:srgbClr val="003300"/>
              </a:solidFill>
              <a:latin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4"/>
          <p:cNvSpPr/>
          <p:nvPr/>
        </p:nvSpPr>
        <p:spPr>
          <a:xfrm>
            <a:off x="381000" y="381000"/>
            <a:ext cx="8534400" cy="60960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200" b="1" dirty="0">
                <a:solidFill>
                  <a:srgbClr val="003300"/>
                </a:solidFill>
              </a:rPr>
              <a:t> int in=0</a:t>
            </a:r>
            <a:r>
              <a:rPr lang="zh-CN" altLang="en-US" sz="2200" b="1" dirty="0">
                <a:solidFill>
                  <a:srgbClr val="003300"/>
                </a:solidFill>
              </a:rPr>
              <a:t>，</a:t>
            </a:r>
            <a:r>
              <a:rPr lang="en-US" altLang="zh-CN" sz="2200" b="1" dirty="0">
                <a:solidFill>
                  <a:srgbClr val="003300"/>
                </a:solidFill>
              </a:rPr>
              <a:t>out=0;</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Item buffer[n];</a:t>
            </a:r>
            <a:endParaRPr lang="zh-CN" altLang="en-US"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Semaphore </a:t>
            </a:r>
            <a:r>
              <a:rPr lang="en-US" altLang="zh-CN" sz="2200" b="1" dirty="0">
                <a:solidFill>
                  <a:srgbClr val="FF0000"/>
                </a:solidFill>
              </a:rPr>
              <a:t>mutex=1,empty=n,full=0;</a:t>
            </a:r>
            <a:endParaRPr lang="en-US" altLang="zh-CN" sz="2200" b="1" dirty="0">
              <a:solidFill>
                <a:srgbClr val="FF0000"/>
              </a:solidFill>
            </a:endParaRPr>
          </a:p>
          <a:p>
            <a:pPr marL="0" lvl="0" indent="0" eaLnBrk="1" hangingPunct="1">
              <a:spcBef>
                <a:spcPct val="0"/>
              </a:spcBef>
              <a:buClrTx/>
              <a:buSzTx/>
              <a:buFontTx/>
              <a:buNone/>
            </a:pPr>
            <a:r>
              <a:rPr lang="en-US" altLang="zh-CN" sz="2200" b="1" dirty="0">
                <a:solidFill>
                  <a:srgbClr val="003300"/>
                </a:solidFill>
              </a:rPr>
              <a:t>Void proceducer() {</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   do {</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  	 producer an item nextp;</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	…</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FF0000"/>
                </a:solidFill>
              </a:rPr>
              <a:t>	wait</a:t>
            </a:r>
            <a:r>
              <a:rPr lang="zh-CN" altLang="en-US" sz="2200" b="1" dirty="0">
                <a:solidFill>
                  <a:srgbClr val="FF0000"/>
                </a:solidFill>
              </a:rPr>
              <a:t>（</a:t>
            </a:r>
            <a:r>
              <a:rPr lang="en-US" altLang="zh-CN" sz="2200" b="1" dirty="0">
                <a:solidFill>
                  <a:srgbClr val="FF0000"/>
                </a:solidFill>
              </a:rPr>
              <a:t>empty</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zh-CN" altLang="en-US" sz="2200" b="1" dirty="0">
                <a:solidFill>
                  <a:srgbClr val="FF0000"/>
                </a:solidFill>
              </a:rPr>
              <a:t>            </a:t>
            </a:r>
            <a:r>
              <a:rPr lang="en-US" altLang="zh-CN" sz="2200" b="1" dirty="0">
                <a:solidFill>
                  <a:srgbClr val="FF0000"/>
                </a:solidFill>
              </a:rPr>
              <a:t>wait</a:t>
            </a:r>
            <a:r>
              <a:rPr lang="zh-CN" altLang="en-US" sz="2200" b="1" dirty="0">
                <a:solidFill>
                  <a:srgbClr val="FF0000"/>
                </a:solidFill>
              </a:rPr>
              <a:t>（</a:t>
            </a:r>
            <a:r>
              <a:rPr lang="en-US" altLang="zh-CN" sz="2200" b="1" dirty="0">
                <a:solidFill>
                  <a:srgbClr val="FF0000"/>
                </a:solidFill>
              </a:rPr>
              <a:t>mutex</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FF0000"/>
                </a:solidFill>
              </a:rPr>
              <a:t>	buffer[in]</a:t>
            </a:r>
            <a:r>
              <a:rPr lang="zh-CN" altLang="en-US" sz="2200" b="1" dirty="0">
                <a:solidFill>
                  <a:srgbClr val="FF0000"/>
                </a:solidFill>
              </a:rPr>
              <a:t>：</a:t>
            </a:r>
            <a:r>
              <a:rPr lang="en-US" altLang="zh-CN" sz="2200" b="1" dirty="0">
                <a:solidFill>
                  <a:srgbClr val="FF0000"/>
                </a:solidFill>
              </a:rPr>
              <a:t>=nextp</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FF0000"/>
                </a:solidFill>
              </a:rPr>
              <a:t>	in</a:t>
            </a:r>
            <a:r>
              <a:rPr lang="zh-CN" altLang="en-US" sz="2200" b="1" dirty="0">
                <a:solidFill>
                  <a:srgbClr val="FF0000"/>
                </a:solidFill>
              </a:rPr>
              <a:t>：</a:t>
            </a:r>
            <a:r>
              <a:rPr lang="en-US" altLang="zh-CN" sz="2200" b="1" dirty="0">
                <a:solidFill>
                  <a:srgbClr val="FF0000"/>
                </a:solidFill>
              </a:rPr>
              <a:t>=</a:t>
            </a:r>
            <a:r>
              <a:rPr lang="zh-CN" altLang="en-US" sz="2200" b="1" dirty="0">
                <a:solidFill>
                  <a:srgbClr val="FF0000"/>
                </a:solidFill>
              </a:rPr>
              <a:t>（</a:t>
            </a:r>
            <a:r>
              <a:rPr lang="en-US" altLang="zh-CN" sz="2200" b="1" dirty="0">
                <a:solidFill>
                  <a:srgbClr val="FF0000"/>
                </a:solidFill>
              </a:rPr>
              <a:t>in</a:t>
            </a:r>
            <a:r>
              <a:rPr lang="zh-CN" altLang="en-US" sz="2200" b="1" dirty="0">
                <a:solidFill>
                  <a:srgbClr val="FF0000"/>
                </a:solidFill>
              </a:rPr>
              <a:t>十</a:t>
            </a:r>
            <a:r>
              <a:rPr lang="en-US" altLang="zh-CN" sz="2200" b="1" dirty="0">
                <a:solidFill>
                  <a:srgbClr val="FF0000"/>
                </a:solidFill>
              </a:rPr>
              <a:t>1</a:t>
            </a:r>
            <a:r>
              <a:rPr lang="zh-CN" altLang="en-US" sz="2200" b="1" dirty="0">
                <a:solidFill>
                  <a:srgbClr val="FF0000"/>
                </a:solidFill>
              </a:rPr>
              <a:t>）</a:t>
            </a:r>
            <a:r>
              <a:rPr lang="en-US" altLang="zh-CN" sz="2200" b="1" dirty="0">
                <a:solidFill>
                  <a:srgbClr val="FF0000"/>
                </a:solidFill>
              </a:rPr>
              <a:t>%  n</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FF0000"/>
                </a:solidFill>
              </a:rPr>
              <a:t>	signal</a:t>
            </a:r>
            <a:r>
              <a:rPr lang="zh-CN" altLang="en-US" sz="2200" b="1" dirty="0">
                <a:solidFill>
                  <a:srgbClr val="FF0000"/>
                </a:solidFill>
              </a:rPr>
              <a:t>（</a:t>
            </a:r>
            <a:r>
              <a:rPr lang="en-US" altLang="zh-CN" sz="2200" b="1" dirty="0">
                <a:solidFill>
                  <a:srgbClr val="FF0000"/>
                </a:solidFill>
              </a:rPr>
              <a:t>mutex</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FF0000"/>
                </a:solidFill>
              </a:rPr>
              <a:t>	signal</a:t>
            </a:r>
            <a:r>
              <a:rPr lang="zh-CN" altLang="en-US" sz="2200" b="1" dirty="0">
                <a:solidFill>
                  <a:srgbClr val="FF0000"/>
                </a:solidFill>
              </a:rPr>
              <a:t>（</a:t>
            </a:r>
            <a:r>
              <a:rPr lang="en-US" altLang="zh-CN" sz="2200" b="1" dirty="0">
                <a:solidFill>
                  <a:srgbClr val="FF0000"/>
                </a:solidFill>
              </a:rPr>
              <a:t>full</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003300"/>
                </a:solidFill>
              </a:rPr>
              <a:t>}  while(TRUE);</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a:t>
            </a:r>
            <a:r>
              <a:rPr lang="en-US" altLang="zh-CN" sz="2200" b="1" dirty="0">
                <a:solidFill>
                  <a:srgbClr val="003300"/>
                </a:solidFill>
              </a:rPr>
              <a:t>    </a:t>
            </a:r>
            <a:endParaRPr lang="zh-CN" altLang="en-US" sz="2200" dirty="0">
              <a:solidFill>
                <a:srgbClr val="003300"/>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4"/>
          <p:cNvSpPr/>
          <p:nvPr/>
        </p:nvSpPr>
        <p:spPr>
          <a:xfrm>
            <a:off x="457200" y="533400"/>
            <a:ext cx="8229600" cy="57912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3300"/>
                </a:solidFill>
              </a:rPr>
              <a:t> void consumer()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do{</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FF0000"/>
                </a:solidFill>
              </a:rPr>
              <a:t>		    wait(full);</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wait</a:t>
            </a:r>
            <a:r>
              <a:rPr lang="zh-CN" altLang="en-US" sz="2400" b="1" dirty="0">
                <a:solidFill>
                  <a:srgbClr val="FF0000"/>
                </a:solidFill>
              </a:rPr>
              <a:t>（</a:t>
            </a:r>
            <a:r>
              <a:rPr lang="en-US" altLang="zh-CN" sz="2400" b="1" dirty="0">
                <a:solidFill>
                  <a:srgbClr val="FF0000"/>
                </a:solidFill>
              </a:rPr>
              <a:t>mutex</a:t>
            </a:r>
            <a:r>
              <a:rPr lang="zh-CN" altLang="en-US" sz="2400" b="1" dirty="0">
                <a:solidFill>
                  <a:srgbClr val="FF0000"/>
                </a:solidFill>
              </a:rPr>
              <a:t>）；</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nextc  </a:t>
            </a:r>
            <a:r>
              <a:rPr lang="zh-CN" altLang="en-US" sz="2400" b="1" dirty="0">
                <a:solidFill>
                  <a:srgbClr val="FF0000"/>
                </a:solidFill>
              </a:rPr>
              <a:t>：</a:t>
            </a:r>
            <a:r>
              <a:rPr lang="en-US" altLang="zh-CN" sz="2400" b="1" dirty="0">
                <a:solidFill>
                  <a:srgbClr val="FF0000"/>
                </a:solidFill>
              </a:rPr>
              <a:t>=buffer[out]</a:t>
            </a:r>
            <a:r>
              <a:rPr lang="zh-CN" altLang="en-US" sz="2400" b="1" dirty="0">
                <a:solidFill>
                  <a:srgbClr val="FF0000"/>
                </a:solidFill>
              </a:rPr>
              <a:t>；</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out</a:t>
            </a:r>
            <a:r>
              <a:rPr lang="zh-CN" altLang="en-US" sz="2400" b="1" dirty="0">
                <a:solidFill>
                  <a:srgbClr val="FF0000"/>
                </a:solidFill>
              </a:rPr>
              <a:t>：</a:t>
            </a:r>
            <a:r>
              <a:rPr lang="en-US" altLang="zh-CN" sz="2400" b="1" dirty="0">
                <a:solidFill>
                  <a:srgbClr val="FF0000"/>
                </a:solidFill>
              </a:rPr>
              <a:t>= </a:t>
            </a:r>
            <a:r>
              <a:rPr lang="zh-CN" altLang="en-US" sz="2400" b="1" dirty="0">
                <a:solidFill>
                  <a:srgbClr val="FF0000"/>
                </a:solidFill>
              </a:rPr>
              <a:t>（</a:t>
            </a:r>
            <a:r>
              <a:rPr lang="en-US" altLang="zh-CN" sz="2400" b="1" dirty="0">
                <a:solidFill>
                  <a:srgbClr val="FF0000"/>
                </a:solidFill>
              </a:rPr>
              <a:t>out</a:t>
            </a:r>
            <a:r>
              <a:rPr lang="zh-CN" altLang="en-US" sz="2400" b="1" dirty="0">
                <a:solidFill>
                  <a:srgbClr val="FF0000"/>
                </a:solidFill>
              </a:rPr>
              <a:t>十</a:t>
            </a:r>
            <a:r>
              <a:rPr lang="en-US" altLang="zh-CN" sz="2400" b="1" dirty="0">
                <a:solidFill>
                  <a:srgbClr val="FF0000"/>
                </a:solidFill>
              </a:rPr>
              <a:t>1</a:t>
            </a:r>
            <a:r>
              <a:rPr lang="zh-CN" altLang="en-US" sz="2400" b="1" dirty="0">
                <a:solidFill>
                  <a:srgbClr val="FF0000"/>
                </a:solidFill>
              </a:rPr>
              <a:t>）</a:t>
            </a:r>
            <a:r>
              <a:rPr lang="en-US" altLang="zh-CN" sz="2400" b="1" dirty="0">
                <a:solidFill>
                  <a:srgbClr val="FF0000"/>
                </a:solidFill>
              </a:rPr>
              <a:t>% n;</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signal</a:t>
            </a:r>
            <a:r>
              <a:rPr lang="zh-CN" altLang="en-US" sz="2400" b="1" dirty="0">
                <a:solidFill>
                  <a:srgbClr val="FF0000"/>
                </a:solidFill>
              </a:rPr>
              <a:t>（</a:t>
            </a:r>
            <a:r>
              <a:rPr lang="en-US" altLang="zh-CN" sz="2400" b="1" dirty="0">
                <a:solidFill>
                  <a:srgbClr val="FF0000"/>
                </a:solidFill>
              </a:rPr>
              <a:t>mutex</a:t>
            </a:r>
            <a:r>
              <a:rPr lang="zh-CN" altLang="en-US" sz="2400" b="1" dirty="0">
                <a:solidFill>
                  <a:srgbClr val="FF0000"/>
                </a:solidFill>
              </a:rPr>
              <a:t>）；</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signal</a:t>
            </a:r>
            <a:r>
              <a:rPr lang="zh-CN" altLang="en-US" sz="2400" b="1" dirty="0">
                <a:solidFill>
                  <a:srgbClr val="FF0000"/>
                </a:solidFill>
              </a:rPr>
              <a:t>（</a:t>
            </a:r>
            <a:r>
              <a:rPr lang="en-US" altLang="zh-CN" sz="2400" b="1" dirty="0">
                <a:solidFill>
                  <a:srgbClr val="FF0000"/>
                </a:solidFill>
              </a:rPr>
              <a:t>empty</a:t>
            </a:r>
            <a:r>
              <a:rPr lang="zh-CN" altLang="en-US" sz="2400" b="1" dirty="0">
                <a:solidFill>
                  <a:srgbClr val="FF0000"/>
                </a:solidFill>
              </a:rPr>
              <a:t>）；</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consumer  the item  in  nextc;</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a:t>
            </a:r>
            <a:endParaRPr lang="zh-CN" altLang="en-US"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 while(TRUE)</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endParaRPr lang="en-US" altLang="zh-CN" sz="2400" b="1" dirty="0">
              <a:solidFill>
                <a:srgbClr val="003300"/>
              </a:solidFill>
            </a:endParaRPr>
          </a:p>
          <a:p>
            <a:pPr marL="0" lvl="0" indent="0" eaLnBrk="1" hangingPunct="1">
              <a:spcBef>
                <a:spcPct val="0"/>
              </a:spcBef>
              <a:buClrTx/>
              <a:buSzTx/>
              <a:buFontTx/>
              <a:buNone/>
            </a:pPr>
            <a:endParaRPr lang="zh-CN" altLang="en-US" sz="2400" b="1" dirty="0">
              <a:solidFill>
                <a:srgbClr val="003300"/>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02" name="Rectangle 2"/>
          <p:cNvSpPr>
            <a:spLocks noGrp="1" noRot="1" noChangeArrowheads="1"/>
          </p:cNvSpPr>
          <p:nvPr>
            <p:ph type="title"/>
          </p:nvPr>
        </p:nvSpPr>
        <p:spPr>
          <a:xfrm>
            <a:off x="685800" y="228600"/>
            <a:ext cx="777240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注意</a:t>
            </a:r>
            <a:endPar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614403" name="Rectangle 3"/>
          <p:cNvSpPr>
            <a:spLocks noGrp="1" noRot="1" noChangeArrowheads="1"/>
          </p:cNvSpPr>
          <p:nvPr>
            <p:ph type="body" idx="1"/>
          </p:nvPr>
        </p:nvSpPr>
        <p:spPr>
          <a:xfrm>
            <a:off x="304800" y="1676400"/>
            <a:ext cx="8534400" cy="4648200"/>
          </a:xfrm>
        </p:spPr>
        <p:txBody>
          <a:bodyPr vert="horz" wrap="square" lIns="91440" tIns="45720" rIns="91440" bIns="45720" numCol="1" anchor="t" anchorCtr="0" compatLnSpc="1"/>
          <a:lstStyle/>
          <a:p>
            <a:pPr marL="533400" marR="0" lvl="0" indent="-533400" algn="just" defTabSz="914400" rtl="0" eaLnBrk="1" fontAlgn="base" latinLnBrk="0" hangingPunct="1">
              <a:lnSpc>
                <a:spcPct val="90000"/>
              </a:lnSpc>
              <a:spcBef>
                <a:spcPct val="20000"/>
              </a:spcBef>
              <a:spcAft>
                <a:spcPct val="0"/>
              </a:spcAft>
              <a:buClr>
                <a:schemeClr val="folHlink"/>
              </a:buClr>
              <a:buSzPct val="85000"/>
              <a:buFontTx/>
              <a:buAutoNum type="arabicPeriod"/>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进程应该先申请资源信号量，再申请互斥信号量，顺序不能颠倒。</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533400" marR="0" lvl="0" indent="-533400" algn="just" defTabSz="914400" rtl="0" eaLnBrk="1" fontAlgn="base" latinLnBrk="0" hangingPunct="1">
              <a:lnSpc>
                <a:spcPct val="90000"/>
              </a:lnSpc>
              <a:spcBef>
                <a:spcPct val="20000"/>
              </a:spcBef>
              <a:spcAft>
                <a:spcPct val="0"/>
              </a:spcAft>
              <a:buClr>
                <a:schemeClr val="folHlink"/>
              </a:buClr>
              <a:buSzPct val="85000"/>
              <a:buFontTx/>
              <a:buAutoNum type="arabicPeriod"/>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对任何信号量的</a:t>
            </a:r>
            <a:r>
              <a:rPr kumimoji="0" lang="en-US" altLang="zh-CN"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与</a:t>
            </a:r>
            <a:r>
              <a:rPr kumimoji="0" lang="en-US" altLang="zh-CN"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操作必须配对</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。同一进程中的多对</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与</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语句只能嵌套，不能交叉。</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533400" marR="0" lvl="0" indent="-533400" algn="just" defTabSz="914400" rtl="0" eaLnBrk="1" fontAlgn="base" latinLnBrk="0" hangingPunct="1">
              <a:lnSpc>
                <a:spcPct val="90000"/>
              </a:lnSpc>
              <a:spcBef>
                <a:spcPct val="20000"/>
              </a:spcBef>
              <a:spcAft>
                <a:spcPct val="0"/>
              </a:spcAft>
              <a:buClr>
                <a:schemeClr val="folHlink"/>
              </a:buClr>
              <a:buSzPct val="85000"/>
              <a:buFontTx/>
              <a:buAutoNum type="arabicPeriod"/>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对同一个</a:t>
            </a: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资源信号量</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的</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与</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可以不在同一个进程中。</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533400" marR="0" lvl="0" indent="-533400" algn="just" defTabSz="914400" rtl="0" eaLnBrk="1" fontAlgn="base" latinLnBrk="0" hangingPunct="1">
              <a:lnSpc>
                <a:spcPct val="90000"/>
              </a:lnSpc>
              <a:spcBef>
                <a:spcPct val="20000"/>
              </a:spcBef>
              <a:spcAft>
                <a:spcPct val="0"/>
              </a:spcAft>
              <a:buClr>
                <a:schemeClr val="folHlink"/>
              </a:buClr>
              <a:buSzPct val="85000"/>
              <a:buFontTx/>
              <a:buAutoNum type="arabicPeriod"/>
              <a:defRPr/>
            </a:pP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与</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语句不能颠倒顺序，</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语句一定先于</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语句。</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4402"/>
                                        </p:tgtEl>
                                        <p:attrNameLst>
                                          <p:attrName>style.visibility</p:attrName>
                                        </p:attrNameLst>
                                      </p:cBhvr>
                                      <p:to>
                                        <p:strVal val="visible"/>
                                      </p:to>
                                    </p:set>
                                    <p:animEffect transition="in" filter="fade">
                                      <p:cBhvr>
                                        <p:cTn id="7" dur="2000"/>
                                        <p:tgtEl>
                                          <p:spTgt spid="614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403">
                                            <p:txEl>
                                              <p:charRg st="0" end="30"/>
                                            </p:txEl>
                                          </p:spTgt>
                                        </p:tgtEl>
                                        <p:attrNameLst>
                                          <p:attrName>style.visibility</p:attrName>
                                        </p:attrNameLst>
                                      </p:cBhvr>
                                      <p:to>
                                        <p:strVal val="visible"/>
                                      </p:to>
                                    </p:set>
                                    <p:animEffect transition="in" filter="fade">
                                      <p:cBhvr>
                                        <p:cTn id="12" dur="2000"/>
                                        <p:tgtEl>
                                          <p:spTgt spid="614403">
                                            <p:txEl>
                                              <p:charRg st="0"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403">
                                            <p:txEl>
                                              <p:charRg st="30" end="87"/>
                                            </p:txEl>
                                          </p:spTgt>
                                        </p:tgtEl>
                                        <p:attrNameLst>
                                          <p:attrName>style.visibility</p:attrName>
                                        </p:attrNameLst>
                                      </p:cBhvr>
                                      <p:to>
                                        <p:strVal val="visible"/>
                                      </p:to>
                                    </p:set>
                                    <p:animEffect transition="in" filter="fade">
                                      <p:cBhvr>
                                        <p:cTn id="17" dur="2000"/>
                                        <p:tgtEl>
                                          <p:spTgt spid="614403">
                                            <p:txEl>
                                              <p:charRg st="30" end="8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403">
                                            <p:txEl>
                                              <p:charRg st="87" end="120"/>
                                            </p:txEl>
                                          </p:spTgt>
                                        </p:tgtEl>
                                        <p:attrNameLst>
                                          <p:attrName>style.visibility</p:attrName>
                                        </p:attrNameLst>
                                      </p:cBhvr>
                                      <p:to>
                                        <p:strVal val="visible"/>
                                      </p:to>
                                    </p:set>
                                    <p:animEffect transition="in" filter="fade">
                                      <p:cBhvr>
                                        <p:cTn id="22" dur="2000"/>
                                        <p:tgtEl>
                                          <p:spTgt spid="614403">
                                            <p:txEl>
                                              <p:charRg st="87" end="12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403">
                                            <p:txEl>
                                              <p:charRg st="120" end="160"/>
                                            </p:txEl>
                                          </p:spTgt>
                                        </p:tgtEl>
                                        <p:attrNameLst>
                                          <p:attrName>style.visibility</p:attrName>
                                        </p:attrNameLst>
                                      </p:cBhvr>
                                      <p:to>
                                        <p:strVal val="visible"/>
                                      </p:to>
                                    </p:set>
                                    <p:animEffect transition="in" filter="fade">
                                      <p:cBhvr>
                                        <p:cTn id="27" dur="2000"/>
                                        <p:tgtEl>
                                          <p:spTgt spid="614403">
                                            <p:txEl>
                                              <p:charRg st="120" end="1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02" grpId="0"/>
      <p:bldP spid="614403"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426" name="Rectangle 2"/>
          <p:cNvSpPr>
            <a:spLocks noRot="1" noChangeArrowheads="1"/>
          </p:cNvSpPr>
          <p:nvPr/>
        </p:nvSpPr>
        <p:spPr bwMode="auto">
          <a:xfrm>
            <a:off x="762000" y="1524000"/>
            <a:ext cx="7772400" cy="1524000"/>
          </a:xfrm>
          <a:prstGeom prst="rect">
            <a:avLst/>
          </a:prstGeom>
          <a:gradFill rotWithShape="0">
            <a:gsLst>
              <a:gs pos="0">
                <a:srgbClr val="404552"/>
              </a:gs>
              <a:gs pos="50000">
                <a:schemeClr val="accent1"/>
              </a:gs>
              <a:gs pos="100000">
                <a:srgbClr val="404552"/>
              </a:gs>
            </a:gsLst>
            <a:lin ang="5400000" scaled="1"/>
          </a:gra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n-cs"/>
              </a:rPr>
              <a:t>2.5.2 </a:t>
            </a:r>
            <a:r>
              <a:rPr kumimoji="0" lang="zh-CN" altLang="en-US" sz="4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n-cs"/>
              </a:rPr>
              <a:t>哲学家就餐问题</a:t>
            </a:r>
            <a:endParaRPr kumimoji="0" lang="zh-CN" altLang="en-US" sz="4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n-cs"/>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noRot="1"/>
          </p:cNvSpPr>
          <p:nvPr>
            <p:ph type="title"/>
          </p:nvPr>
        </p:nvSpPr>
        <p:spPr>
          <a:ln/>
        </p:spPr>
        <p:txBody>
          <a:bodyPr vert="horz" wrap="square" lIns="91440" tIns="45720" rIns="91440" bIns="45720" anchor="ctr" anchorCtr="0"/>
          <a:p>
            <a:pPr eaLnBrk="1" hangingPunct="1"/>
            <a:r>
              <a:rPr lang="zh-CN" altLang="en-US" dirty="0"/>
              <a:t>问题描述</a:t>
            </a:r>
            <a:endParaRPr lang="zh-CN" altLang="en-US" dirty="0"/>
          </a:p>
        </p:txBody>
      </p:sp>
      <p:sp>
        <p:nvSpPr>
          <p:cNvPr id="129027" name="Rectangle 3"/>
          <p:cNvSpPr>
            <a:spLocks noGrp="1" noRot="1"/>
          </p:cNvSpPr>
          <p:nvPr>
            <p:ph type="body"/>
          </p:nvPr>
        </p:nvSpPr>
        <p:spPr>
          <a:xfrm>
            <a:off x="76200" y="1216025"/>
            <a:ext cx="8763000" cy="4498975"/>
          </a:xfrm>
          <a:ln/>
        </p:spPr>
        <p:txBody>
          <a:bodyPr vert="horz" wrap="square" lIns="91440" tIns="45720" rIns="91440" bIns="45720" anchor="t" anchorCtr="0"/>
          <a:p>
            <a:pPr lvl="2" eaLnBrk="1" hangingPunct="1">
              <a:spcBef>
                <a:spcPct val="0"/>
              </a:spcBef>
              <a:buClrTx/>
              <a:buSzTx/>
              <a:buFontTx/>
              <a:buNone/>
            </a:pPr>
            <a:endParaRPr lang="zh-CN" altLang="en-US" b="1" dirty="0"/>
          </a:p>
          <a:p>
            <a:pPr eaLnBrk="1" hangingPunct="1"/>
            <a:r>
              <a:rPr lang="zh-CN" altLang="en-US" b="1" dirty="0"/>
              <a:t>五个哲学家五只筷子，哲学家循环做着思考和吃饭的动作，吃饭程序是：先取左边筷子，再取右边筷子，再吃饭，再放筷子。</a:t>
            </a:r>
            <a:endParaRPr lang="zh-CN" altLang="en-US" b="1" dirty="0"/>
          </a:p>
        </p:txBody>
      </p:sp>
      <p:sp>
        <p:nvSpPr>
          <p:cNvPr id="136196" name="Oval 4"/>
          <p:cNvSpPr/>
          <p:nvPr/>
        </p:nvSpPr>
        <p:spPr>
          <a:xfrm>
            <a:off x="3200400" y="3733800"/>
            <a:ext cx="2514600" cy="2438400"/>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197" name="Oval 5"/>
          <p:cNvSpPr/>
          <p:nvPr/>
        </p:nvSpPr>
        <p:spPr>
          <a:xfrm>
            <a:off x="4343400" y="55626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198" name="Oval 6"/>
          <p:cNvSpPr/>
          <p:nvPr/>
        </p:nvSpPr>
        <p:spPr>
          <a:xfrm>
            <a:off x="5105400" y="49530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199" name="Oval 7"/>
          <p:cNvSpPr/>
          <p:nvPr/>
        </p:nvSpPr>
        <p:spPr>
          <a:xfrm>
            <a:off x="4648200" y="4038600"/>
            <a:ext cx="457200" cy="457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0" name="Oval 8"/>
          <p:cNvSpPr/>
          <p:nvPr/>
        </p:nvSpPr>
        <p:spPr>
          <a:xfrm>
            <a:off x="3657600" y="41910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1" name="Oval 9"/>
          <p:cNvSpPr/>
          <p:nvPr/>
        </p:nvSpPr>
        <p:spPr>
          <a:xfrm>
            <a:off x="3505200" y="51054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2" name="Line 10"/>
          <p:cNvSpPr/>
          <p:nvPr/>
        </p:nvSpPr>
        <p:spPr>
          <a:xfrm flipH="1">
            <a:off x="3962400" y="5410200"/>
            <a:ext cx="228600" cy="381000"/>
          </a:xfrm>
          <a:prstGeom prst="line">
            <a:avLst/>
          </a:prstGeom>
          <a:ln w="28575" cap="flat" cmpd="sng">
            <a:solidFill>
              <a:schemeClr val="bg2"/>
            </a:solidFill>
            <a:prstDash val="solid"/>
            <a:headEnd type="none" w="med" len="med"/>
            <a:tailEnd type="none" w="med" len="med"/>
          </a:ln>
        </p:spPr>
      </p:sp>
      <p:sp>
        <p:nvSpPr>
          <p:cNvPr id="136203" name="Line 11"/>
          <p:cNvSpPr/>
          <p:nvPr/>
        </p:nvSpPr>
        <p:spPr>
          <a:xfrm>
            <a:off x="4800600" y="5410200"/>
            <a:ext cx="304800" cy="304800"/>
          </a:xfrm>
          <a:prstGeom prst="line">
            <a:avLst/>
          </a:prstGeom>
          <a:ln w="28575" cap="flat" cmpd="sng">
            <a:solidFill>
              <a:schemeClr val="bg2"/>
            </a:solidFill>
            <a:prstDash val="solid"/>
            <a:headEnd type="none" w="med" len="med"/>
            <a:tailEnd type="none" w="med" len="med"/>
          </a:ln>
        </p:spPr>
      </p:sp>
      <p:sp>
        <p:nvSpPr>
          <p:cNvPr id="136204" name="Line 12"/>
          <p:cNvSpPr/>
          <p:nvPr/>
        </p:nvSpPr>
        <p:spPr>
          <a:xfrm flipV="1">
            <a:off x="5105400" y="4648200"/>
            <a:ext cx="304800" cy="152400"/>
          </a:xfrm>
          <a:prstGeom prst="line">
            <a:avLst/>
          </a:prstGeom>
          <a:ln w="28575" cap="flat" cmpd="sng">
            <a:solidFill>
              <a:schemeClr val="bg2"/>
            </a:solidFill>
            <a:prstDash val="solid"/>
            <a:headEnd type="none" w="med" len="med"/>
            <a:tailEnd type="none" w="med" len="med"/>
          </a:ln>
        </p:spPr>
      </p:sp>
      <p:sp>
        <p:nvSpPr>
          <p:cNvPr id="136205" name="Line 13"/>
          <p:cNvSpPr/>
          <p:nvPr/>
        </p:nvSpPr>
        <p:spPr>
          <a:xfrm flipH="1" flipV="1">
            <a:off x="4267200" y="4038600"/>
            <a:ext cx="76200" cy="457200"/>
          </a:xfrm>
          <a:prstGeom prst="line">
            <a:avLst/>
          </a:prstGeom>
          <a:ln w="28575" cap="flat" cmpd="sng">
            <a:solidFill>
              <a:schemeClr val="bg2"/>
            </a:solidFill>
            <a:prstDash val="solid"/>
            <a:headEnd type="none" w="med" len="med"/>
            <a:tailEnd type="none" w="med" len="med"/>
          </a:ln>
        </p:spPr>
      </p:sp>
      <p:sp>
        <p:nvSpPr>
          <p:cNvPr id="136206" name="Line 14"/>
          <p:cNvSpPr/>
          <p:nvPr/>
        </p:nvSpPr>
        <p:spPr>
          <a:xfrm>
            <a:off x="3429000" y="4800600"/>
            <a:ext cx="457200" cy="0"/>
          </a:xfrm>
          <a:prstGeom prst="line">
            <a:avLst/>
          </a:prstGeom>
          <a:ln w="28575" cap="flat" cmpd="sng">
            <a:solidFill>
              <a:schemeClr val="bg2"/>
            </a:solidFill>
            <a:prstDash val="solid"/>
            <a:headEnd type="none" w="med" len="med"/>
            <a:tailEnd type="none" w="med" len="med"/>
          </a:ln>
        </p:spPr>
      </p:sp>
      <p:sp>
        <p:nvSpPr>
          <p:cNvPr id="136207" name="Oval 15"/>
          <p:cNvSpPr/>
          <p:nvPr/>
        </p:nvSpPr>
        <p:spPr>
          <a:xfrm>
            <a:off x="5105400" y="34290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8" name="Oval 16"/>
          <p:cNvSpPr/>
          <p:nvPr/>
        </p:nvSpPr>
        <p:spPr>
          <a:xfrm>
            <a:off x="5943600" y="51054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9" name="Oval 17"/>
          <p:cNvSpPr/>
          <p:nvPr/>
        </p:nvSpPr>
        <p:spPr>
          <a:xfrm>
            <a:off x="3124200" y="37338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10" name="Oval 18"/>
          <p:cNvSpPr/>
          <p:nvPr/>
        </p:nvSpPr>
        <p:spPr>
          <a:xfrm>
            <a:off x="2819400" y="5410200"/>
            <a:ext cx="381000" cy="3810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11" name="Oval 19"/>
          <p:cNvSpPr/>
          <p:nvPr/>
        </p:nvSpPr>
        <p:spPr>
          <a:xfrm>
            <a:off x="4495800" y="63246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fade">
                                      <p:cBhvr>
                                        <p:cTn id="7" dur="2000"/>
                                        <p:tgtEl>
                                          <p:spTgt spid="129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9027">
                                            <p:txEl>
                                              <p:charRg st="1" end="57"/>
                                            </p:txEl>
                                          </p:spTgt>
                                        </p:tgtEl>
                                        <p:attrNameLst>
                                          <p:attrName>style.visibility</p:attrName>
                                        </p:attrNameLst>
                                      </p:cBhvr>
                                      <p:to>
                                        <p:strVal val="visible"/>
                                      </p:to>
                                    </p:set>
                                    <p:animEffect transition="in" filter="fade">
                                      <p:cBhvr>
                                        <p:cTn id="12" dur="2000"/>
                                        <p:tgtEl>
                                          <p:spTgt spid="129027">
                                            <p:txEl>
                                              <p:charRg st="1" end="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p:bldP spid="129027"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noRot="1"/>
          </p:cNvSpPr>
          <p:nvPr>
            <p:ph type="title"/>
          </p:nvPr>
        </p:nvSpPr>
        <p:spPr>
          <a:xfrm>
            <a:off x="533400" y="304800"/>
            <a:ext cx="8077200" cy="1066800"/>
          </a:xfrm>
          <a:ln/>
        </p:spPr>
        <p:txBody>
          <a:bodyPr vert="horz" wrap="square" lIns="91440" tIns="45720" rIns="91440" bIns="45720" anchor="ctr" anchorCtr="0"/>
          <a:p>
            <a:pPr eaLnBrk="1" hangingPunct="1"/>
            <a:r>
              <a:rPr lang="zh-CN" altLang="en-US" sz="4000" b="1" dirty="0">
                <a:solidFill>
                  <a:schemeClr val="folHlink"/>
                </a:solidFill>
              </a:rPr>
              <a:t>利用记录型信号量解决</a:t>
            </a:r>
            <a:br>
              <a:rPr lang="zh-CN" altLang="en-US" sz="4000" b="1" dirty="0">
                <a:solidFill>
                  <a:schemeClr val="folHlink"/>
                </a:solidFill>
              </a:rPr>
            </a:br>
            <a:r>
              <a:rPr lang="zh-CN" altLang="en-US" sz="4000" b="1" dirty="0">
                <a:solidFill>
                  <a:schemeClr val="folHlink"/>
                </a:solidFill>
              </a:rPr>
              <a:t>哲学家进餐问题</a:t>
            </a:r>
            <a:endParaRPr lang="zh-CN" altLang="en-US" sz="4000" b="1" dirty="0">
              <a:solidFill>
                <a:schemeClr val="folHlink"/>
              </a:solidFill>
            </a:endParaRPr>
          </a:p>
        </p:txBody>
      </p:sp>
      <p:sp>
        <p:nvSpPr>
          <p:cNvPr id="130051" name="Rectangle 3"/>
          <p:cNvSpPr>
            <a:spLocks noGrp="1" noRot="1"/>
          </p:cNvSpPr>
          <p:nvPr>
            <p:ph type="body"/>
          </p:nvPr>
        </p:nvSpPr>
        <p:spPr>
          <a:xfrm>
            <a:off x="381000" y="1673225"/>
            <a:ext cx="8305800" cy="4498975"/>
          </a:xfrm>
          <a:ln/>
        </p:spPr>
        <p:txBody>
          <a:bodyPr vert="horz" wrap="square" lIns="91440" tIns="45720" rIns="91440" bIns="45720" anchor="t" anchorCtr="0"/>
          <a:p>
            <a:pPr eaLnBrk="1" hangingPunct="1"/>
            <a:r>
              <a:rPr lang="zh-CN" altLang="en-US" dirty="0"/>
              <a:t> </a:t>
            </a:r>
            <a:r>
              <a:rPr lang="zh-CN" altLang="en-US" b="1" dirty="0"/>
              <a:t>经分析可知，放在桌子上的筷子是临界资源，在一段时间内只允许一位哲学家使用。为了实现对筷子的互斥使用，可以用一个信号量表示一只筷子，由这五个信号量构成信号量数组。其描述如下：</a:t>
            </a:r>
            <a:endParaRPr lang="zh-CN" altLang="en-US" b="1" dirty="0"/>
          </a:p>
          <a:p>
            <a:pPr eaLnBrk="1" hangingPunct="1"/>
            <a:r>
              <a:rPr lang="zh-CN" altLang="en-US" b="1" dirty="0"/>
              <a:t> </a:t>
            </a:r>
            <a:r>
              <a:rPr lang="en-US" altLang="zh-CN" b="1" dirty="0"/>
              <a:t>semaphore chopstick chopstick[5]={1,1,1,1,1} ;</a:t>
            </a:r>
            <a:endParaRPr lang="en-US" altLang="zh-CN" b="1" dirty="0"/>
          </a:p>
          <a:p>
            <a:pPr eaLnBrk="1" hangingPunct="1"/>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0050"/>
                                        </p:tgtEl>
                                        <p:attrNameLst>
                                          <p:attrName>style.visibility</p:attrName>
                                        </p:attrNameLst>
                                      </p:cBhvr>
                                      <p:to>
                                        <p:strVal val="visible"/>
                                      </p:to>
                                    </p:set>
                                    <p:animEffect transition="in" filter="fade">
                                      <p:cBhvr>
                                        <p:cTn id="7" dur="2000"/>
                                        <p:tgtEl>
                                          <p:spTgt spid="130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0051">
                                            <p:txEl>
                                              <p:charRg st="0" end="88"/>
                                            </p:txEl>
                                          </p:spTgt>
                                        </p:tgtEl>
                                        <p:attrNameLst>
                                          <p:attrName>style.visibility</p:attrName>
                                        </p:attrNameLst>
                                      </p:cBhvr>
                                      <p:to>
                                        <p:strVal val="visible"/>
                                      </p:to>
                                    </p:set>
                                    <p:animEffect transition="in" filter="fade">
                                      <p:cBhvr>
                                        <p:cTn id="12" dur="2000"/>
                                        <p:tgtEl>
                                          <p:spTgt spid="130051">
                                            <p:txEl>
                                              <p:charRg st="0" end="8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0051">
                                            <p:txEl>
                                              <p:charRg st="88" end="136"/>
                                            </p:txEl>
                                          </p:spTgt>
                                        </p:tgtEl>
                                        <p:attrNameLst>
                                          <p:attrName>style.visibility</p:attrName>
                                        </p:attrNameLst>
                                      </p:cBhvr>
                                      <p:to>
                                        <p:strVal val="visible"/>
                                      </p:to>
                                    </p:set>
                                    <p:animEffect transition="in" filter="fade">
                                      <p:cBhvr>
                                        <p:cTn id="17" dur="2000"/>
                                        <p:tgtEl>
                                          <p:spTgt spid="130051">
                                            <p:txEl>
                                              <p:charRg st="88"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p:bldP spid="130051"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500" name="Rectangle 4"/>
          <p:cNvSpPr>
            <a:spLocks noChangeArrowheads="1"/>
          </p:cNvSpPr>
          <p:nvPr/>
        </p:nvSpPr>
        <p:spPr bwMode="auto">
          <a:xfrm>
            <a:off x="228600" y="0"/>
            <a:ext cx="8458200" cy="143351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实现：</a:t>
            </a:r>
            <a:endParaRPr kumimoji="1" lang="zh-CN" altLang="en-US" sz="32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为每个筷子设一把锁（信号量，初值为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a:t>
            </a: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r>
            <a:endPar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每个哲学家是一个进程。</a:t>
            </a:r>
            <a:endPar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8243" name="Rectangle 5"/>
          <p:cNvSpPr/>
          <p:nvPr/>
        </p:nvSpPr>
        <p:spPr>
          <a:xfrm>
            <a:off x="228600" y="1433513"/>
            <a:ext cx="7696200" cy="4586287"/>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3300"/>
                </a:solidFill>
              </a:rPr>
              <a:t>Do{</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wait</a:t>
            </a:r>
            <a:r>
              <a:rPr lang="zh-CN" altLang="en-US" sz="2400" b="1" dirty="0">
                <a:solidFill>
                  <a:srgbClr val="003300"/>
                </a:solidFill>
              </a:rPr>
              <a:t>（</a:t>
            </a:r>
            <a:r>
              <a:rPr lang="en-US" altLang="zh-CN" sz="2400" b="1" dirty="0">
                <a:solidFill>
                  <a:srgbClr val="003300"/>
                </a:solidFill>
              </a:rPr>
              <a:t>chopstick[i]</a:t>
            </a:r>
            <a:r>
              <a:rPr lang="zh-CN" altLang="en-US" sz="2400" b="1" dirty="0">
                <a:solidFill>
                  <a:srgbClr val="003300"/>
                </a:solidFill>
              </a:rPr>
              <a:t>）</a:t>
            </a:r>
            <a:r>
              <a:rPr lang="en-US" altLang="zh-CN" sz="2400" b="1" dirty="0">
                <a:solidFill>
                  <a:srgbClr val="003300"/>
                </a:solidFill>
              </a:rPr>
              <a:t>;</a:t>
            </a:r>
            <a:r>
              <a:rPr lang="zh-CN" altLang="en-US" sz="2400" b="1" dirty="0">
                <a:solidFill>
                  <a:srgbClr val="003300"/>
                </a:solidFill>
              </a:rPr>
              <a:t>取左筷子；</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wait(chopstick[(i+1)%5])</a:t>
            </a:r>
            <a:r>
              <a:rPr lang="zh-CN" altLang="en-US" sz="2400" b="1" dirty="0">
                <a:solidFill>
                  <a:srgbClr val="003300"/>
                </a:solidFill>
              </a:rPr>
              <a:t>；取右筷子；</a:t>
            </a:r>
            <a:endParaRPr lang="zh-CN" altLang="en-US"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r>
              <a:rPr lang="zh-CN" altLang="en-US" sz="2400" b="1" dirty="0">
                <a:solidFill>
                  <a:srgbClr val="003300"/>
                </a:solidFill>
              </a:rPr>
              <a:t>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eat;</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endParaRPr lang="en-US" altLang="zh-CN"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signal(chopstick[i]);</a:t>
            </a:r>
            <a:r>
              <a:rPr lang="zh-CN" altLang="en-US" sz="2400" b="1" dirty="0">
                <a:solidFill>
                  <a:srgbClr val="003300"/>
                </a:solidFill>
              </a:rPr>
              <a:t>放左筷子</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signal (Chopstick[(i+1)% 5]</a:t>
            </a:r>
            <a:r>
              <a:rPr lang="zh-CN" altLang="en-US" sz="2400" b="1" dirty="0">
                <a:solidFill>
                  <a:srgbClr val="003300"/>
                </a:solidFill>
              </a:rPr>
              <a:t>；放右筷子；</a:t>
            </a:r>
            <a:endParaRPr lang="zh-CN" altLang="en-US"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r>
              <a:rPr lang="zh-CN" altLang="en-US" sz="2400" b="1" dirty="0">
                <a:solidFill>
                  <a:srgbClr val="003300"/>
                </a:solidFill>
              </a:rPr>
              <a:t>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think;</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while[TRUE];</a:t>
            </a:r>
            <a:endParaRPr lang="en-US" altLang="zh-CN" sz="2400" b="1" dirty="0">
              <a:solidFill>
                <a:srgbClr val="003300"/>
              </a:solidFill>
            </a:endParaRPr>
          </a:p>
          <a:p>
            <a:pPr marL="0" lvl="0" indent="0" eaLnBrk="1" hangingPunct="1">
              <a:spcBef>
                <a:spcPct val="0"/>
              </a:spcBef>
              <a:buClrTx/>
              <a:buSzTx/>
              <a:buFontTx/>
              <a:buNone/>
            </a:pPr>
            <a:endParaRPr lang="zh-CN" altLang="en-US" sz="2400" dirty="0">
              <a:solidFill>
                <a:srgbClr val="003300"/>
              </a:solidFill>
            </a:endParaRPr>
          </a:p>
        </p:txBody>
      </p:sp>
      <p:sp>
        <p:nvSpPr>
          <p:cNvPr id="362502" name="Rectangle 6"/>
          <p:cNvSpPr>
            <a:spLocks noChangeArrowheads="1"/>
          </p:cNvSpPr>
          <p:nvPr/>
        </p:nvSpPr>
        <p:spPr bwMode="auto">
          <a:xfrm>
            <a:off x="228600" y="6096000"/>
            <a:ext cx="8686800" cy="51911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a:t>
            </a:r>
            <a:r>
              <a:rPr kumimoji="1" lang="zh-CN" altLang="en-US"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这可能导致死锁！！！</a:t>
            </a:r>
            <a:r>
              <a:rPr kumimoji="1" lang="en-US" altLang="zh-CN"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 </a:t>
            </a:r>
            <a:r>
              <a:rPr kumimoji="1" lang="zh-CN" altLang="en-US"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第三章讲死锁时再讲</a:t>
            </a:r>
            <a:endParaRPr kumimoji="1" lang="zh-CN" altLang="en-US"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noRot="1"/>
          </p:cNvSpPr>
          <p:nvPr>
            <p:ph type="title"/>
          </p:nvPr>
        </p:nvSpPr>
        <p:spPr>
          <a:ln/>
        </p:spPr>
        <p:txBody>
          <a:bodyPr vert="horz" wrap="square" lIns="91440" tIns="45720" rIns="91440" bIns="45720" anchor="ctr" anchorCtr="0"/>
          <a:p>
            <a:r>
              <a:rPr lang="en-US" altLang="zh-CN" sz="3600" b="1" dirty="0"/>
              <a:t>2. </a:t>
            </a:r>
            <a:r>
              <a:rPr lang="zh-CN" altLang="en-US" sz="3600" b="1" dirty="0"/>
              <a:t>利用</a:t>
            </a:r>
            <a:r>
              <a:rPr lang="en-US" altLang="zh-CN" sz="3600" b="1" dirty="0"/>
              <a:t>AND</a:t>
            </a:r>
            <a:r>
              <a:rPr lang="zh-CN" altLang="en-US" sz="3600" b="1" dirty="0"/>
              <a:t>信号量机制解决</a:t>
            </a:r>
            <a:br>
              <a:rPr lang="zh-CN" altLang="en-US" sz="3600" b="1" dirty="0"/>
            </a:br>
            <a:r>
              <a:rPr lang="zh-CN" altLang="en-US" sz="3600" b="1" dirty="0"/>
              <a:t>哲学家进餐问题</a:t>
            </a:r>
            <a:endParaRPr lang="zh-CN" altLang="en-US" sz="3600" b="1" dirty="0"/>
          </a:p>
        </p:txBody>
      </p:sp>
      <p:sp>
        <p:nvSpPr>
          <p:cNvPr id="139267" name="Rectangle 3"/>
          <p:cNvSpPr>
            <a:spLocks noGrp="1" noRot="1"/>
          </p:cNvSpPr>
          <p:nvPr>
            <p:ph idx="1"/>
          </p:nvPr>
        </p:nvSpPr>
        <p:spPr>
          <a:xfrm>
            <a:off x="304800" y="1600200"/>
            <a:ext cx="8540750" cy="5029200"/>
          </a:xfrm>
          <a:ln/>
        </p:spPr>
        <p:txBody>
          <a:bodyPr vert="horz" wrap="square" lIns="91440" tIns="45720" rIns="91440" bIns="45720" anchor="t" anchorCtr="0"/>
          <a:p>
            <a:pPr>
              <a:lnSpc>
                <a:spcPct val="90000"/>
              </a:lnSpc>
            </a:pPr>
            <a:r>
              <a:rPr lang="zh-CN" altLang="en-US" sz="2800" dirty="0"/>
              <a:t> 在哲学家进餐问题中，要求每个哲学家先获得两个临界资源</a:t>
            </a:r>
            <a:r>
              <a:rPr lang="en-US" altLang="zh-CN" sz="2800" dirty="0"/>
              <a:t>(</a:t>
            </a:r>
            <a:r>
              <a:rPr lang="zh-CN" altLang="en-US" sz="2800" dirty="0"/>
              <a:t>筷子</a:t>
            </a:r>
            <a:r>
              <a:rPr lang="en-US" altLang="zh-CN" sz="2800" dirty="0"/>
              <a:t>)</a:t>
            </a:r>
            <a:r>
              <a:rPr lang="zh-CN" altLang="en-US" sz="2800" dirty="0"/>
              <a:t>后方能进餐，这在本质上就是前面所介绍的</a:t>
            </a:r>
            <a:r>
              <a:rPr lang="en-US" altLang="zh-CN" sz="2800" dirty="0"/>
              <a:t>AND</a:t>
            </a:r>
            <a:r>
              <a:rPr lang="zh-CN" altLang="en-US" sz="2800" dirty="0"/>
              <a:t>同步问题，故用</a:t>
            </a:r>
            <a:r>
              <a:rPr lang="en-US" altLang="zh-CN" sz="2800" dirty="0"/>
              <a:t>AND</a:t>
            </a:r>
            <a:r>
              <a:rPr lang="zh-CN" altLang="en-US" sz="2800" dirty="0"/>
              <a:t>信号量机制可获得最简洁的解法</a:t>
            </a:r>
            <a:r>
              <a:rPr lang="en-US" altLang="zh-CN" sz="2800" dirty="0"/>
              <a:t>,</a:t>
            </a:r>
            <a:r>
              <a:rPr lang="zh-CN" altLang="en-US" sz="2800" b="1" dirty="0">
                <a:solidFill>
                  <a:srgbClr val="FF0000"/>
                </a:solidFill>
              </a:rPr>
              <a:t>且可避免死锁</a:t>
            </a:r>
            <a:r>
              <a:rPr lang="zh-CN" altLang="en-US" sz="2800" dirty="0"/>
              <a:t>。</a:t>
            </a:r>
            <a:endParaRPr lang="zh-CN" altLang="en-US" sz="2800" dirty="0"/>
          </a:p>
          <a:p>
            <a:pPr lvl="1">
              <a:lnSpc>
                <a:spcPts val="2000"/>
              </a:lnSpc>
              <a:buNone/>
            </a:pPr>
            <a:r>
              <a:rPr lang="en-US" altLang="zh-CN" sz="2400" dirty="0"/>
              <a:t>Do {</a:t>
            </a:r>
            <a:endParaRPr lang="en-US" altLang="zh-CN" sz="2400" dirty="0"/>
          </a:p>
          <a:p>
            <a:pPr lvl="1">
              <a:lnSpc>
                <a:spcPts val="2000"/>
              </a:lnSpc>
              <a:buNone/>
            </a:pPr>
            <a:r>
              <a:rPr lang="en-US" altLang="zh-CN" sz="2400" dirty="0"/>
              <a:t>…</a:t>
            </a:r>
            <a:endParaRPr lang="en-US" altLang="zh-CN" sz="2400" dirty="0"/>
          </a:p>
          <a:p>
            <a:pPr lvl="1">
              <a:lnSpc>
                <a:spcPts val="2000"/>
              </a:lnSpc>
              <a:buNone/>
            </a:pPr>
            <a:r>
              <a:rPr lang="en-US" altLang="zh-CN" sz="2400" dirty="0"/>
              <a:t>think</a:t>
            </a:r>
            <a:r>
              <a:rPr lang="zh-CN" altLang="en-US" sz="2400" dirty="0"/>
              <a:t>；</a:t>
            </a:r>
            <a:endParaRPr lang="en-US" altLang="zh-CN" sz="2400" dirty="0"/>
          </a:p>
          <a:p>
            <a:pPr lvl="1">
              <a:lnSpc>
                <a:spcPts val="2000"/>
              </a:lnSpc>
              <a:buNone/>
            </a:pPr>
            <a:r>
              <a:rPr lang="en-US" altLang="zh-CN" sz="2400" dirty="0"/>
              <a:t>…</a:t>
            </a:r>
            <a:endParaRPr lang="zh-CN" altLang="en-US" sz="2400" dirty="0"/>
          </a:p>
          <a:p>
            <a:pPr lvl="1">
              <a:lnSpc>
                <a:spcPts val="2000"/>
              </a:lnSpc>
              <a:buNone/>
            </a:pPr>
            <a:r>
              <a:rPr lang="en-US" altLang="zh-CN" sz="2400" dirty="0"/>
              <a:t>Sswait(chopstick[(i+1) %5]</a:t>
            </a:r>
            <a:r>
              <a:rPr lang="zh-CN" altLang="en-US" sz="2400" dirty="0"/>
              <a:t>，</a:t>
            </a:r>
            <a:r>
              <a:rPr lang="en-US" altLang="zh-CN" sz="2400" dirty="0"/>
              <a:t>chopstick[i])</a:t>
            </a:r>
            <a:r>
              <a:rPr lang="zh-CN" altLang="en-US" sz="2400" dirty="0"/>
              <a:t>；</a:t>
            </a:r>
            <a:endParaRPr lang="en-US" altLang="zh-CN" sz="2400" dirty="0"/>
          </a:p>
          <a:p>
            <a:pPr lvl="1">
              <a:lnSpc>
                <a:spcPts val="2000"/>
              </a:lnSpc>
              <a:buNone/>
            </a:pPr>
            <a:r>
              <a:rPr lang="en-US" altLang="zh-CN" sz="2400" dirty="0"/>
              <a:t>…</a:t>
            </a:r>
            <a:endParaRPr lang="zh-CN" altLang="en-US" sz="2400" dirty="0"/>
          </a:p>
          <a:p>
            <a:pPr lvl="1">
              <a:lnSpc>
                <a:spcPts val="2000"/>
              </a:lnSpc>
              <a:buNone/>
            </a:pPr>
            <a:r>
              <a:rPr lang="en-US" altLang="zh-CN" sz="2400" dirty="0"/>
              <a:t>eat</a:t>
            </a:r>
            <a:r>
              <a:rPr lang="zh-CN" altLang="en-US" sz="2400" dirty="0"/>
              <a:t>；</a:t>
            </a:r>
            <a:endParaRPr lang="en-US" altLang="zh-CN" sz="2400" dirty="0"/>
          </a:p>
          <a:p>
            <a:pPr lvl="1">
              <a:lnSpc>
                <a:spcPts val="2000"/>
              </a:lnSpc>
              <a:buNone/>
            </a:pPr>
            <a:r>
              <a:rPr lang="en-US" altLang="zh-CN" sz="2400" dirty="0"/>
              <a:t>…</a:t>
            </a:r>
            <a:endParaRPr lang="zh-CN" altLang="en-US" sz="2400" dirty="0"/>
          </a:p>
          <a:p>
            <a:pPr lvl="1">
              <a:lnSpc>
                <a:spcPts val="2000"/>
              </a:lnSpc>
              <a:buNone/>
            </a:pPr>
            <a:r>
              <a:rPr lang="en-US" altLang="zh-CN" sz="2400" dirty="0"/>
              <a:t>Ssignat(chopstick[(i+1) % 5]</a:t>
            </a:r>
            <a:r>
              <a:rPr lang="zh-CN" altLang="en-US" sz="2400" dirty="0"/>
              <a:t>，</a:t>
            </a:r>
            <a:r>
              <a:rPr lang="en-US" altLang="zh-CN" sz="2400" dirty="0"/>
              <a:t>chopstick[i])</a:t>
            </a:r>
            <a:r>
              <a:rPr lang="zh-CN" altLang="en-US" sz="2400" dirty="0"/>
              <a:t>；</a:t>
            </a:r>
            <a:endParaRPr lang="zh-CN" altLang="en-US" sz="2400" dirty="0"/>
          </a:p>
          <a:p>
            <a:pPr lvl="1">
              <a:lnSpc>
                <a:spcPts val="2000"/>
              </a:lnSpc>
              <a:buNone/>
            </a:pPr>
            <a:r>
              <a:rPr lang="en-US" altLang="zh-CN" sz="2400" dirty="0"/>
              <a:t>} while[TRUE];</a:t>
            </a:r>
            <a:endParaRPr lang="zh-CN" altLang="en-US" sz="2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426" name="Rectangle 2"/>
          <p:cNvSpPr>
            <a:spLocks noGrp="1" noRot="1" noChangeArrowheads="1"/>
          </p:cNvSpPr>
          <p:nvPr>
            <p:ph type="title"/>
          </p:nvPr>
        </p:nvSpPr>
        <p:spPr>
          <a:xfrm>
            <a:off x="762000" y="1524000"/>
            <a:ext cx="77724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2.5.3  </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读者</a:t>
            </a: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写者问题 </a:t>
            </a:r>
            <a:endPar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5426"/>
                                        </p:tgtEl>
                                        <p:attrNameLst>
                                          <p:attrName>style.visibility</p:attrName>
                                        </p:attrNameLst>
                                      </p:cBhvr>
                                      <p:to>
                                        <p:strVal val="visible"/>
                                      </p:to>
                                    </p:set>
                                    <p:animEffect transition="in" filter="fade">
                                      <p:cBhvr>
                                        <p:cTn id="7" dur="2000"/>
                                        <p:tgtEl>
                                          <p:spTgt spid="615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26"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64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问题描述</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61645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该问题为多个进程访问一个共享数据区，如数据库、文件、内存区及一组寄存器等的数据问题建立了一个通用模型</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若干读进程只能读数据，若干写进程只能写数据。</a:t>
            </a:r>
            <a:endParaRPr kumimoji="0" lang="zh-CN" altLang="en-US" sz="32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6450"/>
                                        </p:tgtEl>
                                        <p:attrNameLst>
                                          <p:attrName>style.visibility</p:attrName>
                                        </p:attrNameLst>
                                      </p:cBhvr>
                                      <p:to>
                                        <p:strVal val="visible"/>
                                      </p:to>
                                    </p:set>
                                    <p:animEffect transition="in" filter="fade">
                                      <p:cBhvr>
                                        <p:cTn id="7" dur="2000"/>
                                        <p:tgtEl>
                                          <p:spTgt spid="6164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6451">
                                            <p:txEl>
                                              <p:charRg st="0" end="51"/>
                                            </p:txEl>
                                          </p:spTgt>
                                        </p:tgtEl>
                                        <p:attrNameLst>
                                          <p:attrName>style.visibility</p:attrName>
                                        </p:attrNameLst>
                                      </p:cBhvr>
                                      <p:to>
                                        <p:strVal val="visible"/>
                                      </p:to>
                                    </p:set>
                                    <p:animEffect transition="in" filter="fade">
                                      <p:cBhvr>
                                        <p:cTn id="12" dur="2000"/>
                                        <p:tgtEl>
                                          <p:spTgt spid="616451">
                                            <p:txEl>
                                              <p:charRg st="0" end="5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6451">
                                            <p:txEl>
                                              <p:charRg st="51" end="74"/>
                                            </p:txEl>
                                          </p:spTgt>
                                        </p:tgtEl>
                                        <p:attrNameLst>
                                          <p:attrName>style.visibility</p:attrName>
                                        </p:attrNameLst>
                                      </p:cBhvr>
                                      <p:to>
                                        <p:strVal val="visible"/>
                                      </p:to>
                                    </p:set>
                                    <p:animEffect transition="in" filter="fade">
                                      <p:cBhvr>
                                        <p:cTn id="17" dur="2000"/>
                                        <p:tgtEl>
                                          <p:spTgt spid="616451">
                                            <p:txEl>
                                              <p:charRg st="51" end="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50" grpId="0"/>
      <p:bldP spid="616451"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430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问题描述</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354307"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例如，一个联网售票系统，数据的查询和更新非常频繁，不可避免会出现多个进程试图查询或修改（读</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写）其中某一条数据的情形。</a:t>
            </a:r>
            <a:endPar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n-cs"/>
              </a:rPr>
              <a:t>多个进程同时读一条记录</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是可以的。</a:t>
            </a:r>
            <a:endPar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如果一个进程正在更新数据库中的某条记录，则所有其他进程都不能访问（读或写）该记录，否则可能会将同一个座位销售多次。</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747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读者</a:t>
            </a: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写者进程满足的条件</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617475"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1</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）允许多个读者进程</a:t>
            </a: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可以同时读数据</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2</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）不允许多个写者进程同时写数据，即</a:t>
            </a: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只能互斥写数据；</a:t>
            </a:r>
            <a:endPar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3</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）若有写者进程正在写数据，则不允许读者进程读数据。 </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7474"/>
                                        </p:tgtEl>
                                        <p:attrNameLst>
                                          <p:attrName>style.visibility</p:attrName>
                                        </p:attrNameLst>
                                      </p:cBhvr>
                                      <p:to>
                                        <p:strVal val="visible"/>
                                      </p:to>
                                    </p:set>
                                    <p:animEffect transition="in" filter="fade">
                                      <p:cBhvr>
                                        <p:cTn id="7" dur="2000"/>
                                        <p:tgtEl>
                                          <p:spTgt spid="6174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7475">
                                            <p:txEl>
                                              <p:charRg st="1" end="20"/>
                                            </p:txEl>
                                          </p:spTgt>
                                        </p:tgtEl>
                                        <p:attrNameLst>
                                          <p:attrName>style.visibility</p:attrName>
                                        </p:attrNameLst>
                                      </p:cBhvr>
                                      <p:to>
                                        <p:strVal val="visible"/>
                                      </p:to>
                                    </p:set>
                                    <p:animEffect transition="in" filter="fade">
                                      <p:cBhvr>
                                        <p:cTn id="12" dur="2000"/>
                                        <p:tgtEl>
                                          <p:spTgt spid="617475">
                                            <p:txEl>
                                              <p:charRg st="1"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7475">
                                            <p:txEl>
                                              <p:charRg st="21" end="48"/>
                                            </p:txEl>
                                          </p:spTgt>
                                        </p:tgtEl>
                                        <p:attrNameLst>
                                          <p:attrName>style.visibility</p:attrName>
                                        </p:attrNameLst>
                                      </p:cBhvr>
                                      <p:to>
                                        <p:strVal val="visible"/>
                                      </p:to>
                                    </p:set>
                                    <p:animEffect transition="in" filter="fade">
                                      <p:cBhvr>
                                        <p:cTn id="17" dur="2000"/>
                                        <p:tgtEl>
                                          <p:spTgt spid="617475">
                                            <p:txEl>
                                              <p:charRg st="21" end="4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7475">
                                            <p:txEl>
                                              <p:charRg st="49" end="77"/>
                                            </p:txEl>
                                          </p:spTgt>
                                        </p:tgtEl>
                                        <p:attrNameLst>
                                          <p:attrName>style.visibility</p:attrName>
                                        </p:attrNameLst>
                                      </p:cBhvr>
                                      <p:to>
                                        <p:strVal val="visible"/>
                                      </p:to>
                                    </p:set>
                                    <p:animEffect transition="in" filter="fade">
                                      <p:cBhvr>
                                        <p:cTn id="22" dur="2000"/>
                                        <p:tgtEl>
                                          <p:spTgt spid="617475">
                                            <p:txEl>
                                              <p:charRg st="49" end="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4" grpId="0"/>
      <p:bldP spid="617475"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441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如何控制读者和写者？</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619523"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当一个读者正在读数据时，另一个读者也需要读数据，应允许第二个读者进入，同理第三个及随后更多的读者都被允许进入。</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现在假设一个写者到来，由于写操作是排他的，所以它不能访问数据，需要阻塞等待。如果一直都有新的读者陆续到来，写者的</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mn-ea"/>
                <a:cs typeface="+mn-cs"/>
              </a:rPr>
              <a:t>写操作将被严重推迟</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该方法称为</a:t>
            </a:r>
            <a:r>
              <a:rPr kumimoji="0" lang="zh-CN" altLang="en-US" sz="2800" b="1" i="1" u="sng"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800" b="1" i="1" u="sng"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mn-ea"/>
                <a:cs typeface="+mn-cs"/>
              </a:rPr>
              <a:t>读者优先”</a:t>
            </a:r>
            <a:r>
              <a:rPr kumimoji="0" lang="zh-CN" altLang="en-US" sz="2800" b="1" i="1" u="sng"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即，一旦有读者正在读数据，允许多个读者同时进入读数据，</a:t>
            </a:r>
            <a:r>
              <a:rPr kumimoji="0" lang="zh-CN" altLang="en-US" sz="2800" b="1" i="1" u="sng"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mn-ea"/>
                <a:cs typeface="+mn-cs"/>
              </a:rPr>
              <a:t>只有当全部读者退出，才允许写者进入写数据</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。用信号量实现的具体过程见图</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noRot="1"/>
          </p:cNvSpPr>
          <p:nvPr>
            <p:ph type="title"/>
          </p:nvPr>
        </p:nvSpPr>
        <p:spPr>
          <a:ln/>
        </p:spPr>
        <p:txBody>
          <a:bodyPr vert="horz" wrap="square" lIns="91440" tIns="45720" rIns="91440" bIns="45720" anchor="ctr" anchorCtr="0"/>
          <a:p>
            <a:r>
              <a:rPr lang="en-US" altLang="zh-CN" sz="3600" b="1" dirty="0">
                <a:solidFill>
                  <a:srgbClr val="FF0000"/>
                </a:solidFill>
              </a:rPr>
              <a:t>1. </a:t>
            </a:r>
            <a:r>
              <a:rPr lang="zh-CN" altLang="en-US" sz="3600" b="1" dirty="0">
                <a:solidFill>
                  <a:srgbClr val="FF0000"/>
                </a:solidFill>
              </a:rPr>
              <a:t>利用记录型信号量解决读者</a:t>
            </a:r>
            <a:r>
              <a:rPr lang="en-US" altLang="zh-CN" sz="3600" b="1" dirty="0">
                <a:solidFill>
                  <a:srgbClr val="FF0000"/>
                </a:solidFill>
              </a:rPr>
              <a:t>-</a:t>
            </a:r>
            <a:r>
              <a:rPr lang="zh-CN" altLang="en-US" sz="3600" b="1" dirty="0">
                <a:solidFill>
                  <a:srgbClr val="FF0000"/>
                </a:solidFill>
              </a:rPr>
              <a:t>写者问题</a:t>
            </a:r>
            <a:endParaRPr lang="zh-CN" altLang="en-US" sz="3600" b="1" dirty="0">
              <a:solidFill>
                <a:srgbClr val="FF0000"/>
              </a:solidFill>
            </a:endParaRPr>
          </a:p>
        </p:txBody>
      </p:sp>
      <p:sp>
        <p:nvSpPr>
          <p:cNvPr id="145411" name="Rectangle 3"/>
          <p:cNvSpPr>
            <a:spLocks noGrp="1" noRot="1"/>
          </p:cNvSpPr>
          <p:nvPr>
            <p:ph idx="1"/>
          </p:nvPr>
        </p:nvSpPr>
        <p:spPr>
          <a:xfrm>
            <a:off x="301625" y="1524000"/>
            <a:ext cx="8540750" cy="4953000"/>
          </a:xfrm>
          <a:ln/>
        </p:spPr>
        <p:txBody>
          <a:bodyPr vert="horz" wrap="square" lIns="91440" tIns="45720" rIns="91440" bIns="45720" anchor="t" anchorCtr="0"/>
          <a:p>
            <a:pPr algn="just" eaLnBrk="1" hangingPunct="1">
              <a:lnSpc>
                <a:spcPct val="90000"/>
              </a:lnSpc>
              <a:spcBef>
                <a:spcPct val="50000"/>
              </a:spcBef>
              <a:buClrTx/>
              <a:buSzTx/>
              <a:buFontTx/>
              <a:buNone/>
            </a:pPr>
            <a:r>
              <a:rPr lang="zh-CN" altLang="en-US" b="1" dirty="0">
                <a:solidFill>
                  <a:srgbClr val="FF0000"/>
                </a:solidFill>
              </a:rPr>
              <a:t>规则：只要有一个</a:t>
            </a:r>
            <a:r>
              <a:rPr lang="en-US" altLang="zh-CN" b="1" dirty="0">
                <a:solidFill>
                  <a:srgbClr val="FF0000"/>
                </a:solidFill>
              </a:rPr>
              <a:t>Reader</a:t>
            </a:r>
            <a:r>
              <a:rPr lang="zh-CN" altLang="en-US" b="1" dirty="0">
                <a:solidFill>
                  <a:srgbClr val="FF0000"/>
                </a:solidFill>
              </a:rPr>
              <a:t>进程在读，便不允许</a:t>
            </a:r>
            <a:r>
              <a:rPr lang="en-US" altLang="zh-CN" b="1" dirty="0">
                <a:solidFill>
                  <a:srgbClr val="FF0000"/>
                </a:solidFill>
              </a:rPr>
              <a:t>Writer</a:t>
            </a:r>
            <a:r>
              <a:rPr lang="zh-CN" altLang="en-US" b="1" dirty="0">
                <a:solidFill>
                  <a:srgbClr val="FF0000"/>
                </a:solidFill>
              </a:rPr>
              <a:t>进程去写。</a:t>
            </a:r>
            <a:endParaRPr lang="zh-CN" altLang="en-US" b="1" dirty="0">
              <a:solidFill>
                <a:srgbClr val="FF0000"/>
              </a:solidFill>
            </a:endParaRPr>
          </a:p>
          <a:p>
            <a:pPr algn="just" eaLnBrk="1" hangingPunct="1">
              <a:lnSpc>
                <a:spcPct val="90000"/>
              </a:lnSpc>
              <a:spcBef>
                <a:spcPct val="50000"/>
              </a:spcBef>
              <a:buClrTx/>
              <a:buSzTx/>
              <a:buFont typeface="Wingdings" panose="05000000000000000000" pitchFamily="2" charset="2"/>
              <a:buChar char="Ø"/>
            </a:pPr>
            <a:r>
              <a:rPr lang="zh-CN" altLang="en-US" b="1" dirty="0"/>
              <a:t>为实现</a:t>
            </a:r>
            <a:r>
              <a:rPr lang="en-US" altLang="zh-CN" b="1" dirty="0"/>
              <a:t>Reader</a:t>
            </a:r>
            <a:r>
              <a:rPr lang="zh-CN" altLang="en-US" b="1" dirty="0"/>
              <a:t>与</a:t>
            </a:r>
            <a:r>
              <a:rPr lang="en-US" altLang="zh-CN" b="1" dirty="0"/>
              <a:t>Writer</a:t>
            </a:r>
            <a:r>
              <a:rPr lang="zh-CN" altLang="en-US" b="1" dirty="0"/>
              <a:t>进程间在读或写时的互斥而设置了一个互斥信号量</a:t>
            </a:r>
            <a:r>
              <a:rPr lang="en-US" altLang="zh-CN" b="1" dirty="0"/>
              <a:t>Wmutex</a:t>
            </a:r>
            <a:r>
              <a:rPr lang="zh-CN" altLang="en-US" b="1" dirty="0"/>
              <a:t>。</a:t>
            </a:r>
            <a:endParaRPr lang="zh-CN" altLang="en-US" b="1" dirty="0"/>
          </a:p>
          <a:p>
            <a:pPr algn="just" eaLnBrk="1" hangingPunct="1">
              <a:lnSpc>
                <a:spcPct val="90000"/>
              </a:lnSpc>
              <a:spcBef>
                <a:spcPct val="50000"/>
              </a:spcBef>
              <a:buClrTx/>
              <a:buSzTx/>
              <a:buFont typeface="Wingdings" panose="05000000000000000000" pitchFamily="2" charset="2"/>
              <a:buChar char="Ø"/>
            </a:pPr>
            <a:r>
              <a:rPr lang="zh-CN" altLang="en-US" b="1" dirty="0"/>
              <a:t>仅当</a:t>
            </a:r>
            <a:r>
              <a:rPr lang="en-US" altLang="zh-CN" b="1" dirty="0"/>
              <a:t>Readcount=0, </a:t>
            </a:r>
            <a:r>
              <a:rPr lang="zh-CN" altLang="en-US" b="1" dirty="0"/>
              <a:t>表示尚无</a:t>
            </a:r>
            <a:r>
              <a:rPr lang="en-US" altLang="zh-CN" b="1" dirty="0"/>
              <a:t>Reader</a:t>
            </a:r>
            <a:r>
              <a:rPr lang="zh-CN" altLang="en-US" b="1" dirty="0"/>
              <a:t>进程在读时，</a:t>
            </a:r>
            <a:r>
              <a:rPr lang="en-US" altLang="zh-CN" b="1" dirty="0"/>
              <a:t>Reader</a:t>
            </a:r>
            <a:r>
              <a:rPr lang="zh-CN" altLang="en-US" b="1" dirty="0"/>
              <a:t>进程才需要执行</a:t>
            </a:r>
            <a:r>
              <a:rPr lang="en-US" altLang="zh-CN" b="1" dirty="0"/>
              <a:t>Wait(Wmutex)</a:t>
            </a:r>
            <a:r>
              <a:rPr lang="zh-CN" altLang="en-US" b="1" dirty="0"/>
              <a:t>操作。若</a:t>
            </a:r>
            <a:r>
              <a:rPr lang="en-US" altLang="zh-CN" b="1" dirty="0"/>
              <a:t>wait(Wmutex)</a:t>
            </a:r>
            <a:r>
              <a:rPr lang="zh-CN" altLang="en-US" b="1" dirty="0"/>
              <a:t>操作成功，</a:t>
            </a:r>
            <a:r>
              <a:rPr lang="en-US" altLang="zh-CN" b="1" dirty="0"/>
              <a:t>Reader</a:t>
            </a:r>
            <a:r>
              <a:rPr lang="zh-CN" altLang="en-US" b="1" dirty="0"/>
              <a:t>进程便可去读，相应地，做</a:t>
            </a:r>
            <a:r>
              <a:rPr lang="en-US" altLang="zh-CN" b="1" dirty="0"/>
              <a:t>Readcount+1</a:t>
            </a:r>
            <a:r>
              <a:rPr lang="zh-CN" altLang="en-US" b="1" dirty="0"/>
              <a:t>操作。</a:t>
            </a:r>
            <a:endParaRPr lang="zh-CN" altLang="en-US" b="1"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noRot="1"/>
          </p:cNvSpPr>
          <p:nvPr>
            <p:ph type="title"/>
          </p:nvPr>
        </p:nvSpPr>
        <p:spPr>
          <a:ln/>
        </p:spPr>
        <p:txBody>
          <a:bodyPr vert="horz" wrap="square" lIns="91440" tIns="45720" rIns="91440" bIns="45720" anchor="ctr" anchorCtr="0"/>
          <a:p>
            <a:endParaRPr lang="zh-CN" altLang="en-US" dirty="0"/>
          </a:p>
        </p:txBody>
      </p:sp>
      <p:sp>
        <p:nvSpPr>
          <p:cNvPr id="146435" name="Rectangle 3"/>
          <p:cNvSpPr>
            <a:spLocks noGrp="1" noRot="1"/>
          </p:cNvSpPr>
          <p:nvPr>
            <p:ph idx="1"/>
          </p:nvPr>
        </p:nvSpPr>
        <p:spPr>
          <a:ln/>
        </p:spPr>
        <p:txBody>
          <a:bodyPr vert="horz" wrap="square" lIns="91440" tIns="45720" rIns="91440" bIns="45720" anchor="t" anchorCtr="0"/>
          <a:p>
            <a:pPr algn="just" eaLnBrk="1" hangingPunct="1">
              <a:lnSpc>
                <a:spcPct val="90000"/>
              </a:lnSpc>
              <a:spcBef>
                <a:spcPct val="50000"/>
              </a:spcBef>
              <a:buClrTx/>
              <a:buSzTx/>
              <a:buFont typeface="Wingdings" panose="05000000000000000000" pitchFamily="2" charset="2"/>
              <a:buChar char="Ø"/>
            </a:pPr>
            <a:r>
              <a:rPr lang="zh-CN" altLang="en-US" sz="3600" b="1" dirty="0"/>
              <a:t>同理，仅当</a:t>
            </a:r>
            <a:r>
              <a:rPr lang="en-US" altLang="zh-CN" sz="3600" b="1" dirty="0"/>
              <a:t>Reader</a:t>
            </a:r>
            <a:r>
              <a:rPr lang="zh-CN" altLang="en-US" sz="3600" b="1" dirty="0"/>
              <a:t>进程在执行了</a:t>
            </a:r>
            <a:r>
              <a:rPr lang="en-US" altLang="zh-CN" sz="3600" b="1" dirty="0"/>
              <a:t>Readcount</a:t>
            </a:r>
            <a:r>
              <a:rPr lang="zh-CN" altLang="en-US" sz="3600" b="1" dirty="0"/>
              <a:t>减</a:t>
            </a:r>
            <a:r>
              <a:rPr lang="en-US" altLang="zh-CN" sz="3600" b="1" dirty="0"/>
              <a:t>1</a:t>
            </a:r>
            <a:r>
              <a:rPr lang="zh-CN" altLang="en-US" sz="3600" b="1" dirty="0"/>
              <a:t>操作后其值为</a:t>
            </a:r>
            <a:r>
              <a:rPr lang="en-US" altLang="zh-CN" sz="3600" b="1" dirty="0"/>
              <a:t>0</a:t>
            </a:r>
            <a:r>
              <a:rPr lang="zh-CN" altLang="en-US" sz="3600" b="1" dirty="0"/>
              <a:t>时，才须执行</a:t>
            </a:r>
            <a:r>
              <a:rPr lang="en-US" altLang="zh-CN" sz="3600" b="1" dirty="0"/>
              <a:t>signal(Wmutex)</a:t>
            </a:r>
            <a:r>
              <a:rPr lang="zh-CN" altLang="en-US" sz="3600" b="1" dirty="0"/>
              <a:t>操作，以便让</a:t>
            </a:r>
            <a:r>
              <a:rPr lang="en-US" altLang="zh-CN" sz="3600" b="1" dirty="0"/>
              <a:t>Writer</a:t>
            </a:r>
            <a:r>
              <a:rPr lang="zh-CN" altLang="en-US" sz="3600" b="1" dirty="0"/>
              <a:t>进程写。</a:t>
            </a:r>
            <a:endParaRPr lang="zh-CN" altLang="en-US" sz="3600" b="1" dirty="0"/>
          </a:p>
          <a:p>
            <a:pPr algn="just" eaLnBrk="1" hangingPunct="1">
              <a:lnSpc>
                <a:spcPct val="90000"/>
              </a:lnSpc>
              <a:spcBef>
                <a:spcPct val="50000"/>
              </a:spcBef>
              <a:buClrTx/>
              <a:buSzTx/>
              <a:buFont typeface="Wingdings" panose="05000000000000000000" pitchFamily="2" charset="2"/>
              <a:buChar char="Ø"/>
            </a:pPr>
            <a:r>
              <a:rPr lang="zh-CN" altLang="en-US" sz="3600" b="1" dirty="0"/>
              <a:t>又因为</a:t>
            </a:r>
            <a:r>
              <a:rPr lang="en-US" altLang="zh-CN" sz="3600" b="1" dirty="0"/>
              <a:t>Readcount</a:t>
            </a:r>
            <a:r>
              <a:rPr lang="zh-CN" altLang="en-US" sz="3600" b="1" dirty="0"/>
              <a:t>是一个可被多个</a:t>
            </a:r>
            <a:r>
              <a:rPr lang="en-US" altLang="zh-CN" sz="3600" b="1" dirty="0"/>
              <a:t>Reader</a:t>
            </a:r>
            <a:r>
              <a:rPr lang="zh-CN" altLang="en-US" sz="3600" b="1" dirty="0"/>
              <a:t>进程访问的临界资源，因此，应该为它设置一个互斥信号量</a:t>
            </a:r>
            <a:r>
              <a:rPr lang="en-US" altLang="zh-CN" sz="3600" b="1" dirty="0"/>
              <a:t>rmutex</a:t>
            </a:r>
            <a:r>
              <a:rPr lang="zh-CN" altLang="en-US" sz="3600" b="1" dirty="0"/>
              <a:t>。 </a:t>
            </a:r>
            <a:endParaRPr lang="zh-CN" altLang="en-US" sz="3600" b="1" dirty="0"/>
          </a:p>
          <a:p>
            <a:pPr>
              <a:lnSpc>
                <a:spcPct val="90000"/>
              </a:lnSpc>
              <a:buFont typeface="Wingdings 2" panose="05020102010507070707" pitchFamily="18" charset="2"/>
              <a:buChar char="¡"/>
            </a:pPr>
            <a:endParaRPr lang="zh-CN" altLang="en-US" sz="3600" b="1" dirty="0"/>
          </a:p>
          <a:p>
            <a:pPr>
              <a:buFont typeface="Wingdings 2" panose="05020102010507070707" pitchFamily="18" charset="2"/>
              <a:buChar char="¡"/>
            </a:pPr>
            <a:endParaRPr lang="zh-CN" alt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Text Box 2"/>
          <p:cNvSpPr txBox="1"/>
          <p:nvPr/>
        </p:nvSpPr>
        <p:spPr>
          <a:xfrm>
            <a:off x="228600" y="76200"/>
            <a:ext cx="8686800" cy="64944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FF0000"/>
                </a:solidFill>
                <a:latin typeface="Times New Roman" panose="02020603050405020304" pitchFamily="18" charset="0"/>
              </a:rPr>
              <a:t>读者</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写者问题可描述如下：</a:t>
            </a:r>
            <a:endParaRPr lang="en-US" altLang="zh-CN" sz="2800" b="1" dirty="0">
              <a:solidFill>
                <a:srgbClr val="FF0000"/>
              </a:solidFill>
              <a:latin typeface="Times New Roman" panose="02020603050405020304" pitchFamily="18" charset="0"/>
            </a:endParaRPr>
          </a:p>
          <a:p>
            <a:pPr marL="0" lvl="0" indent="0" eaLnBrk="1" hangingPunct="1">
              <a:spcBef>
                <a:spcPct val="0"/>
              </a:spcBef>
              <a:buClrTx/>
              <a:buSzTx/>
              <a:buFontTx/>
              <a:buNone/>
            </a:pPr>
            <a:endParaRPr lang="zh-CN" altLang="en-US" sz="2800" b="1" dirty="0">
              <a:solidFill>
                <a:srgbClr val="FF0000"/>
              </a:solidFill>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Semaphore rmutex=1,wmutex=1; </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int readcount=0;  </a:t>
            </a:r>
            <a:r>
              <a:rPr lang="en-US" altLang="zh-CN" sz="2400" b="1" dirty="0">
                <a:solidFill>
                  <a:srgbClr val="0066FF"/>
                </a:solidFill>
                <a:latin typeface="Times New Roman" panose="02020603050405020304" pitchFamily="18" charset="0"/>
              </a:rPr>
              <a:t>// </a:t>
            </a:r>
            <a:r>
              <a:rPr lang="zh-CN" altLang="en-US" sz="2400" b="1" dirty="0">
                <a:solidFill>
                  <a:srgbClr val="0066FF"/>
                </a:solidFill>
              </a:rPr>
              <a:t>表示正在读的进程数目</a:t>
            </a:r>
            <a:endParaRPr lang="en-US" altLang="zh-CN" sz="2400" b="1" dirty="0">
              <a:solidFill>
                <a:srgbClr val="0066FF"/>
              </a:solidFill>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void reader() {</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do{</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wait(rmutex);   </a:t>
            </a:r>
            <a:r>
              <a:rPr lang="en-US" altLang="zh-CN" sz="2000" b="1" dirty="0">
                <a:solidFill>
                  <a:srgbClr val="0066FF"/>
                </a:solidFill>
                <a:latin typeface="Times New Roman" panose="02020603050405020304" pitchFamily="18" charset="0"/>
              </a:rPr>
              <a:t>// </a:t>
            </a:r>
            <a:r>
              <a:rPr lang="zh-CN" altLang="en-US" sz="2000" b="1" dirty="0">
                <a:solidFill>
                  <a:srgbClr val="0066FF"/>
                </a:solidFill>
                <a:latin typeface="Times New Roman" panose="02020603050405020304" pitchFamily="18" charset="0"/>
              </a:rPr>
              <a:t>保护</a:t>
            </a:r>
            <a:r>
              <a:rPr lang="en-US" altLang="zh-CN" sz="2000" b="1" dirty="0">
                <a:solidFill>
                  <a:srgbClr val="0066FF"/>
                </a:solidFill>
              </a:rPr>
              <a:t>Readcount</a:t>
            </a:r>
            <a:r>
              <a:rPr lang="zh-CN" altLang="en-US" sz="2000" b="1" dirty="0">
                <a:solidFill>
                  <a:srgbClr val="0066FF"/>
                </a:solidFill>
              </a:rPr>
              <a:t>变量同时只能被一个读者使用</a:t>
            </a:r>
            <a:endParaRPr lang="zh-CN" altLang="en-US" sz="2000" b="1" dirty="0">
              <a:solidFill>
                <a:srgbClr val="0066FF"/>
              </a:solidFill>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a:t>
            </a:r>
            <a:r>
              <a:rPr lang="en-US" altLang="zh-CN" sz="2400" dirty="0">
                <a:solidFill>
                  <a:srgbClr val="FF0000"/>
                </a:solidFill>
                <a:latin typeface="Times New Roman" panose="02020603050405020304" pitchFamily="18" charset="0"/>
              </a:rPr>
              <a:t>if (readcount==0) wait(wmutex); </a:t>
            </a:r>
            <a:r>
              <a:rPr lang="en-US" altLang="zh-CN" sz="2400" dirty="0">
                <a:solidFill>
                  <a:srgbClr val="0066FF"/>
                </a:solidFill>
                <a:latin typeface="Times New Roman" panose="02020603050405020304" pitchFamily="18" charset="0"/>
              </a:rPr>
              <a:t>//</a:t>
            </a:r>
            <a:r>
              <a:rPr lang="zh-CN" altLang="en-US" sz="1800" b="1" dirty="0">
                <a:solidFill>
                  <a:srgbClr val="0066FF"/>
                </a:solidFill>
              </a:rPr>
              <a:t>表示尚无</a:t>
            </a:r>
            <a:r>
              <a:rPr lang="en-US" altLang="zh-CN" sz="1800" b="1" dirty="0">
                <a:solidFill>
                  <a:srgbClr val="0066FF"/>
                </a:solidFill>
              </a:rPr>
              <a:t>Reader</a:t>
            </a:r>
            <a:r>
              <a:rPr lang="zh-CN" altLang="en-US" sz="1800" b="1" dirty="0">
                <a:solidFill>
                  <a:srgbClr val="0066FF"/>
                </a:solidFill>
              </a:rPr>
              <a:t>进程在读时，允许读，互斥写者</a:t>
            </a:r>
            <a:endParaRPr lang="en-US" altLang="zh-CN" sz="2400" dirty="0">
              <a:solidFill>
                <a:srgbClr val="0066FF"/>
              </a:solidFill>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Readcount++;</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signal(rmutex);</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a:t>
            </a:r>
            <a:r>
              <a:rPr lang="en-US" altLang="zh-CN" sz="2400" dirty="0">
                <a:latin typeface="Courier New" panose="02070309020205020404" pitchFamily="49" charset="0"/>
              </a:rPr>
              <a:t>…</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perform read operation;</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t>        wait(rmutex);</a:t>
            </a:r>
            <a:endParaRPr lang="en-US" altLang="zh-CN" sz="2400" dirty="0"/>
          </a:p>
          <a:p>
            <a:pPr marL="0" lvl="0" indent="0" eaLnBrk="1" hangingPunct="1">
              <a:lnSpc>
                <a:spcPct val="80000"/>
              </a:lnSpc>
              <a:spcBef>
                <a:spcPct val="0"/>
              </a:spcBef>
              <a:buClrTx/>
              <a:buSzTx/>
              <a:buFontTx/>
              <a:buNone/>
            </a:pPr>
            <a:r>
              <a:rPr lang="en-US" altLang="zh-CN" sz="2400" dirty="0"/>
              <a:t>         readcount--</a:t>
            </a:r>
            <a:r>
              <a:rPr lang="zh-CN" altLang="en-US" sz="2400" dirty="0"/>
              <a:t>；</a:t>
            </a:r>
            <a:endParaRPr lang="en-US" altLang="zh-CN" sz="2400" dirty="0"/>
          </a:p>
          <a:p>
            <a:pPr marL="0" lvl="0" indent="0" eaLnBrk="1" hangingPunct="1">
              <a:lnSpc>
                <a:spcPct val="80000"/>
              </a:lnSpc>
              <a:spcBef>
                <a:spcPct val="0"/>
              </a:spcBef>
              <a:buClrTx/>
              <a:buSzTx/>
              <a:buFontTx/>
              <a:buNone/>
            </a:pPr>
            <a:r>
              <a:rPr lang="en-US" altLang="zh-CN" sz="2400" dirty="0"/>
              <a:t>  </a:t>
            </a:r>
            <a:r>
              <a:rPr lang="en-US" altLang="zh-CN" sz="2400" dirty="0">
                <a:solidFill>
                  <a:srgbClr val="FF0000"/>
                </a:solidFill>
              </a:rPr>
              <a:t>if </a:t>
            </a:r>
            <a:r>
              <a:rPr lang="zh-CN" altLang="en-US" sz="2400" dirty="0">
                <a:solidFill>
                  <a:srgbClr val="FF0000"/>
                </a:solidFill>
              </a:rPr>
              <a:t>（</a:t>
            </a:r>
            <a:r>
              <a:rPr lang="en-US" altLang="zh-CN" sz="2400" dirty="0">
                <a:solidFill>
                  <a:srgbClr val="FF0000"/>
                </a:solidFill>
              </a:rPr>
              <a:t>readcount==0</a:t>
            </a:r>
            <a:r>
              <a:rPr lang="zh-CN" altLang="en-US" sz="2400" dirty="0">
                <a:solidFill>
                  <a:srgbClr val="FF0000"/>
                </a:solidFill>
              </a:rPr>
              <a:t>）</a:t>
            </a:r>
            <a:r>
              <a:rPr lang="en-US" altLang="zh-CN" sz="2400" dirty="0">
                <a:solidFill>
                  <a:srgbClr val="FF0000"/>
                </a:solidFill>
              </a:rPr>
              <a:t>signal(wmutex); </a:t>
            </a:r>
            <a:r>
              <a:rPr lang="en-US" altLang="zh-CN" sz="2400" dirty="0">
                <a:solidFill>
                  <a:srgbClr val="0066FF"/>
                </a:solidFill>
              </a:rPr>
              <a:t>//</a:t>
            </a:r>
            <a:r>
              <a:rPr lang="zh-CN" altLang="en-US" sz="1800" b="1" dirty="0">
                <a:solidFill>
                  <a:srgbClr val="0066FF"/>
                </a:solidFill>
              </a:rPr>
              <a:t>没有读者进程执行时，以便让</a:t>
            </a:r>
            <a:r>
              <a:rPr lang="en-US" altLang="zh-CN" sz="1800" b="1" dirty="0">
                <a:solidFill>
                  <a:srgbClr val="0066FF"/>
                </a:solidFill>
              </a:rPr>
              <a:t>Writer</a:t>
            </a:r>
            <a:r>
              <a:rPr lang="zh-CN" altLang="en-US" sz="1800" b="1" dirty="0">
                <a:solidFill>
                  <a:srgbClr val="0066FF"/>
                </a:solidFill>
              </a:rPr>
              <a:t>进程写。</a:t>
            </a:r>
            <a:endParaRPr lang="zh-CN" altLang="en-US" sz="1800" b="1" dirty="0">
              <a:solidFill>
                <a:srgbClr val="0066FF"/>
              </a:solidFill>
            </a:endParaRPr>
          </a:p>
          <a:p>
            <a:pPr marL="0" lvl="0" indent="0" eaLnBrk="1" hangingPunct="1">
              <a:lnSpc>
                <a:spcPct val="80000"/>
              </a:lnSpc>
              <a:spcBef>
                <a:spcPct val="0"/>
              </a:spcBef>
              <a:buClrTx/>
              <a:buSzTx/>
              <a:buFontTx/>
              <a:buNone/>
            </a:pPr>
            <a:r>
              <a:rPr lang="en-US" altLang="zh-CN" sz="2400" dirty="0"/>
              <a:t>         signal(rmutex);</a:t>
            </a:r>
            <a:endParaRPr lang="en-US" altLang="zh-CN" sz="2400" dirty="0"/>
          </a:p>
          <a:p>
            <a:pPr marL="0" lvl="0" indent="0" eaLnBrk="1" hangingPunct="1">
              <a:lnSpc>
                <a:spcPct val="80000"/>
              </a:lnSpc>
              <a:spcBef>
                <a:spcPct val="0"/>
              </a:spcBef>
              <a:buClrTx/>
              <a:buSzTx/>
              <a:buFontTx/>
              <a:buNone/>
            </a:pPr>
            <a:r>
              <a:rPr lang="en-US" altLang="zh-CN" sz="2400" dirty="0"/>
              <a:t>        } while(true);</a:t>
            </a:r>
            <a:endParaRPr lang="en-US" altLang="zh-CN" sz="2400" dirty="0"/>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3"/>
          <p:cNvSpPr>
            <a:spLocks noGrp="1" noRot="1"/>
          </p:cNvSpPr>
          <p:nvPr>
            <p:ph idx="1"/>
          </p:nvPr>
        </p:nvSpPr>
        <p:spPr>
          <a:ln/>
        </p:spPr>
        <p:txBody>
          <a:bodyPr vert="horz" wrap="square" lIns="91440" tIns="45720" rIns="91440" bIns="45720" anchor="t" anchorCtr="0"/>
          <a:p>
            <a:pPr>
              <a:lnSpc>
                <a:spcPct val="90000"/>
              </a:lnSpc>
            </a:pPr>
            <a:r>
              <a:rPr lang="en-US" altLang="zh-CN" sz="2800" dirty="0"/>
              <a:t>Void writer() {</a:t>
            </a:r>
            <a:endParaRPr lang="en-US" altLang="zh-CN" sz="2800" dirty="0"/>
          </a:p>
          <a:p>
            <a:pPr>
              <a:lnSpc>
                <a:spcPct val="90000"/>
              </a:lnSpc>
            </a:pPr>
            <a:r>
              <a:rPr lang="en-US" altLang="zh-CN" sz="2800" dirty="0"/>
              <a:t>        do {</a:t>
            </a:r>
            <a:endParaRPr lang="en-US" altLang="zh-CN" sz="2800" dirty="0"/>
          </a:p>
          <a:p>
            <a:pPr>
              <a:lnSpc>
                <a:spcPct val="90000"/>
              </a:lnSpc>
            </a:pPr>
            <a:r>
              <a:rPr lang="en-US" altLang="zh-CN" sz="2800" dirty="0"/>
              <a:t>         wait(wmutex);</a:t>
            </a:r>
            <a:endParaRPr lang="en-US" altLang="zh-CN" sz="2800" dirty="0"/>
          </a:p>
          <a:p>
            <a:pPr>
              <a:lnSpc>
                <a:spcPct val="90000"/>
              </a:lnSpc>
            </a:pPr>
            <a:r>
              <a:rPr lang="en-US" altLang="zh-CN" sz="2800" dirty="0"/>
              <a:t>         perform write operation;</a:t>
            </a:r>
            <a:endParaRPr lang="en-US" altLang="zh-CN" sz="2800" dirty="0"/>
          </a:p>
          <a:p>
            <a:pPr>
              <a:lnSpc>
                <a:spcPct val="90000"/>
              </a:lnSpc>
            </a:pPr>
            <a:r>
              <a:rPr lang="en-US" altLang="zh-CN" sz="2800" dirty="0"/>
              <a:t>         signal(wmutex);</a:t>
            </a:r>
            <a:endParaRPr lang="en-US" altLang="zh-CN" sz="2800" dirty="0"/>
          </a:p>
          <a:p>
            <a:pPr>
              <a:lnSpc>
                <a:spcPct val="90000"/>
              </a:lnSpc>
            </a:pPr>
            <a:r>
              <a:rPr lang="en-US" altLang="zh-CN" sz="2800" dirty="0"/>
              <a:t>        } while(true);</a:t>
            </a:r>
            <a:endParaRPr lang="en-US" altLang="zh-CN" sz="2800" dirty="0"/>
          </a:p>
          <a:p>
            <a:pPr>
              <a:lnSpc>
                <a:spcPct val="90000"/>
              </a:lnSpc>
            </a:pPr>
            <a:endParaRPr lang="zh-CN" altLang="en-US" sz="28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7858" name="Rectangle 2"/>
          <p:cNvSpPr>
            <a:spLocks noGrp="1" noRot="1" noChangeArrowheads="1"/>
          </p:cNvSpPr>
          <p:nvPr>
            <p:ph type="title"/>
          </p:nvPr>
        </p:nvSpPr>
        <p:spPr>
          <a:xfrm>
            <a:off x="0" y="1524000"/>
            <a:ext cx="89916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2.6 </a:t>
            </a:r>
            <a:r>
              <a:rPr kumimoji="0" lang="zh-CN" altLang="en-US" sz="36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进程间通信</a:t>
            </a:r>
            <a:r>
              <a:rPr kumimoji="0" lang="zh-CN" altLang="en-US" sz="40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 </a:t>
            </a:r>
            <a:endParaRPr kumimoji="0" lang="zh-CN" altLang="en-US" sz="40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进程通信的方式</a:t>
            </a:r>
            <a:r>
              <a:rPr kumimoji="0" lang="zh-CN" altLang="en-US" sz="4400" b="0" i="0" u="none" strike="noStrike" kern="0" cap="none" spc="0" normalizeH="0" baseline="0" noProof="0" smtClean="0">
                <a:ln>
                  <a:noFill/>
                </a:ln>
                <a:solidFill>
                  <a:schemeClr val="tx2"/>
                </a:solidFill>
                <a:effectLst/>
                <a:uLnTx/>
                <a:uFillTx/>
                <a:latin typeface="+mj-lt"/>
                <a:ea typeface="+mj-ea"/>
                <a:cs typeface="+mj-cs"/>
              </a:rPr>
              <a:t> </a:t>
            </a:r>
            <a:endParaRPr kumimoji="0" lang="zh-CN" altLang="en-US" sz="4400" b="0" i="0" u="none" strike="noStrike" kern="0" cap="none" spc="0" normalizeH="0" baseline="0" noProof="0" smtClean="0">
              <a:ln>
                <a:noFill/>
              </a:ln>
              <a:solidFill>
                <a:schemeClr val="tx2"/>
              </a:solidFill>
              <a:effectLst/>
              <a:uLnTx/>
              <a:uFillTx/>
              <a:latin typeface="+mj-lt"/>
              <a:ea typeface="+mj-ea"/>
              <a:cs typeface="+mj-cs"/>
            </a:endParaRPr>
          </a:p>
        </p:txBody>
      </p:sp>
      <p:sp>
        <p:nvSpPr>
          <p:cNvPr id="378883"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低级通信：</a:t>
            </a:r>
            <a:r>
              <a:rPr kumimoji="0" lang="zh-CN" altLang="en-US" sz="3200" b="1" i="0" u="none" strike="noStrike" kern="0" cap="none" spc="0" normalizeH="0" baseline="0" noProof="0" smtClean="0">
                <a:ln>
                  <a:noFill/>
                </a:ln>
                <a:solidFill>
                  <a:schemeClr val="tx1"/>
                </a:solidFill>
                <a:effectLst/>
                <a:uLnTx/>
                <a:uFillTx/>
                <a:latin typeface="+mn-lt"/>
                <a:ea typeface="+mn-ea"/>
                <a:cs typeface="+mn-cs"/>
              </a:rPr>
              <a:t>进程之间的互斥和同步，由于其所交换的信息量少而被归结为低级通信。</a:t>
            </a: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高级通信：</a:t>
            </a:r>
            <a:r>
              <a:rPr kumimoji="0" lang="zh-CN" altLang="en-US" sz="3200" b="1" i="0" u="none" strike="noStrike" kern="0" cap="none" spc="0" normalizeH="0" baseline="0" noProof="0" smtClean="0">
                <a:ln>
                  <a:noFill/>
                </a:ln>
                <a:solidFill>
                  <a:schemeClr val="tx1"/>
                </a:solidFill>
                <a:effectLst/>
                <a:uLnTx/>
                <a:uFillTx/>
                <a:latin typeface="+mn-lt"/>
                <a:ea typeface="+mn-ea"/>
                <a:cs typeface="+mn-cs"/>
              </a:rPr>
              <a:t>是指用户可直接利用操作系统所提供的一组通信命令高效地传送大量数据的一种通信方式。</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noRot="1"/>
          </p:cNvSpPr>
          <p:nvPr>
            <p:ph type="title"/>
          </p:nvPr>
        </p:nvSpPr>
        <p:spPr>
          <a:ln/>
        </p:spPr>
        <p:txBody>
          <a:bodyPr vert="horz" wrap="square" lIns="91440" tIns="45720" rIns="91440" bIns="45720" anchor="ctr" anchorCtr="0"/>
          <a:p>
            <a:endParaRPr lang="zh-CN" altLang="en-US" dirty="0"/>
          </a:p>
        </p:txBody>
      </p:sp>
      <p:sp>
        <p:nvSpPr>
          <p:cNvPr id="151555" name="Rectangle 3"/>
          <p:cNvSpPr>
            <a:spLocks noGrp="1" noRot="1"/>
          </p:cNvSpPr>
          <p:nvPr>
            <p:ph idx="1"/>
          </p:nvPr>
        </p:nvSpPr>
        <p:spPr>
          <a:ln/>
        </p:spPr>
        <p:txBody>
          <a:bodyPr vert="horz" wrap="square" lIns="91440" tIns="45720" rIns="91440" bIns="45720" anchor="t" anchorCtr="0"/>
          <a:p>
            <a:r>
              <a:rPr lang="zh-CN" altLang="en-US" b="1" dirty="0"/>
              <a:t>应当指出，信号量机制作为同步工具是卓有成效的，但作为通信工具，则不够理想，</a:t>
            </a:r>
            <a:endParaRPr lang="zh-CN" altLang="en-US" b="1" dirty="0"/>
          </a:p>
          <a:p>
            <a:r>
              <a:rPr lang="zh-CN" altLang="en-US" b="1" dirty="0"/>
              <a:t>主要表现在下述两方面：</a:t>
            </a:r>
            <a:endParaRPr lang="zh-CN" altLang="en-US" b="1" dirty="0"/>
          </a:p>
          <a:p>
            <a:r>
              <a:rPr lang="en-US" altLang="zh-CN" b="1" dirty="0"/>
              <a:t>(1) </a:t>
            </a:r>
            <a:r>
              <a:rPr lang="zh-CN" altLang="en-US" b="1" dirty="0"/>
              <a:t>效率低，生产者每次只能向缓冲池投放一个产品</a:t>
            </a:r>
            <a:r>
              <a:rPr lang="en-US" altLang="zh-CN" b="1" dirty="0"/>
              <a:t>(</a:t>
            </a:r>
            <a:r>
              <a:rPr lang="zh-CN" altLang="en-US" b="1" dirty="0"/>
              <a:t>消息</a:t>
            </a:r>
            <a:r>
              <a:rPr lang="en-US" altLang="zh-CN" b="1" dirty="0"/>
              <a:t>)</a:t>
            </a:r>
            <a:r>
              <a:rPr lang="zh-CN" altLang="en-US" b="1" dirty="0"/>
              <a:t>，消费者每次只能从缓冲区中取得一个消息；</a:t>
            </a:r>
            <a:endParaRPr lang="zh-CN" altLang="en-US" b="1" dirty="0"/>
          </a:p>
          <a:p>
            <a:r>
              <a:rPr lang="en-US" altLang="zh-CN" b="1" dirty="0"/>
              <a:t>(2) </a:t>
            </a:r>
            <a:r>
              <a:rPr lang="zh-CN" altLang="en-US" b="1" dirty="0"/>
              <a:t>通信对用户不透明。</a:t>
            </a:r>
            <a:endParaRPr lang="zh-CN" altLang="en-US" b="1"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093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2.6.1 </a:t>
            </a:r>
            <a:r>
              <a:rPr kumimoji="0" lang="zh-CN" altLang="en-US" sz="4400" b="1" i="0"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进程通信的类型</a:t>
            </a:r>
            <a:endParaRPr kumimoji="0" lang="zh-CN" altLang="en-US" sz="4400" b="1" i="0"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380931"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共享存储器系统</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共享数据结构，共享存储区通信方式。</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  管道通信</a:t>
            </a:r>
            <a:endPar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消息传递方式</a:t>
            </a:r>
            <a:endParaRPr kumimoji="0" lang="en-US" altLang="zh-CN"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仿宋_GB2312" pitchFamily="49" charset="-122"/>
                <a:cs typeface="+mn-cs"/>
              </a:rPr>
              <a:t>客户</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机</a:t>
            </a:r>
            <a:r>
              <a:rPr kumimoji="0" lang="en-US" altLang="zh-CN"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服务器系统</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网络通信，套接字、</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RPC</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195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1.</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共享存储器系统</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153603" name="Rectangle 3"/>
          <p:cNvSpPr>
            <a:spLocks noGrp="1" noRot="1"/>
          </p:cNvSpPr>
          <p:nvPr>
            <p:ph idx="1"/>
          </p:nvPr>
        </p:nvSpPr>
        <p:spPr>
          <a:xfrm>
            <a:off x="301625" y="1749425"/>
            <a:ext cx="8540750" cy="4498975"/>
          </a:xfrm>
          <a:ln/>
        </p:spPr>
        <p:txBody>
          <a:bodyPr vert="horz" wrap="square" lIns="91440" tIns="45720" rIns="91440" bIns="45720" anchor="t" anchorCtr="0"/>
          <a:p>
            <a:pPr marL="533400" indent="-533400"/>
            <a:r>
              <a:rPr lang="zh-CN" altLang="en-US" b="1" i="1" dirty="0">
                <a:solidFill>
                  <a:schemeClr val="folHlink"/>
                </a:solidFill>
              </a:rPr>
              <a:t>（</a:t>
            </a:r>
            <a:r>
              <a:rPr lang="en-US" altLang="zh-CN" b="1" i="1" dirty="0">
                <a:solidFill>
                  <a:schemeClr val="folHlink"/>
                </a:solidFill>
              </a:rPr>
              <a:t>1</a:t>
            </a:r>
            <a:r>
              <a:rPr lang="zh-CN" altLang="en-US" b="1" i="1" dirty="0">
                <a:solidFill>
                  <a:schemeClr val="folHlink"/>
                </a:solidFill>
              </a:rPr>
              <a:t>）基于共享数据结构的通信方式。</a:t>
            </a:r>
            <a:endParaRPr lang="zh-CN" altLang="en-US" b="1" i="1" dirty="0">
              <a:solidFill>
                <a:schemeClr val="folHlink"/>
              </a:solidFill>
            </a:endParaRPr>
          </a:p>
          <a:p>
            <a:pPr marL="533400" indent="-533400"/>
            <a:r>
              <a:rPr lang="zh-CN" altLang="en-US" b="1" dirty="0">
                <a:solidFill>
                  <a:srgbClr val="0070C0"/>
                </a:solidFill>
              </a:rPr>
              <a:t>诸进程公用某些数据结构，借以实现诸进程间的信息交换。</a:t>
            </a:r>
            <a:endParaRPr lang="en-US" altLang="zh-CN" b="1" dirty="0">
              <a:solidFill>
                <a:srgbClr val="0070C0"/>
              </a:solidFill>
            </a:endParaRPr>
          </a:p>
          <a:p>
            <a:pPr marL="533400" indent="-533400"/>
            <a:r>
              <a:rPr lang="zh-CN" altLang="en-US" b="1" dirty="0"/>
              <a:t>如在生产者</a:t>
            </a:r>
            <a:r>
              <a:rPr lang="en-US" altLang="zh-CN" b="1" dirty="0"/>
              <a:t>—</a:t>
            </a:r>
            <a:r>
              <a:rPr lang="zh-CN" altLang="en-US" b="1" dirty="0"/>
              <a:t>消费者问题中，就是用有界缓冲区这种数据结构来实现通信的，这种通信方式是低效的，只适于传递相对少量的数据。</a:t>
            </a:r>
            <a:endParaRPr lang="zh-CN" altLang="en-US" b="1" dirty="0"/>
          </a:p>
          <a:p>
            <a:pPr marL="533400" indent="-533400"/>
            <a:endParaRPr lang="zh-CN" altLang="en-US" b="1"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noRot="1"/>
          </p:cNvSpPr>
          <p:nvPr>
            <p:ph type="title"/>
          </p:nvPr>
        </p:nvSpPr>
        <p:spPr>
          <a:ln/>
        </p:spPr>
        <p:txBody>
          <a:bodyPr vert="horz" wrap="square" lIns="91440" tIns="45720" rIns="91440" bIns="45720" anchor="ctr" anchorCtr="0"/>
          <a:p>
            <a:r>
              <a:rPr lang="en-US" altLang="zh-CN" sz="3600" b="1" dirty="0">
                <a:solidFill>
                  <a:schemeClr val="folHlink"/>
                </a:solidFill>
              </a:rPr>
              <a:t>(2) </a:t>
            </a:r>
            <a:r>
              <a:rPr lang="zh-CN" altLang="en-US" sz="3600" b="1" dirty="0">
                <a:solidFill>
                  <a:schemeClr val="folHlink"/>
                </a:solidFill>
              </a:rPr>
              <a:t>基于共享存储区的通信方式。</a:t>
            </a:r>
            <a:endParaRPr lang="zh-CN" altLang="en-US" sz="3600" b="1" dirty="0">
              <a:solidFill>
                <a:schemeClr val="folHlink"/>
              </a:solidFill>
            </a:endParaRPr>
          </a:p>
        </p:txBody>
      </p:sp>
      <p:sp>
        <p:nvSpPr>
          <p:cNvPr id="446467" name="Rectangle 3"/>
          <p:cNvSpPr>
            <a:spLocks noGrp="1" noRot="1" noChangeArrowheads="1"/>
          </p:cNvSpPr>
          <p:nvPr>
            <p:ph idx="1"/>
          </p:nvPr>
        </p:nvSpPr>
        <p:spPr>
          <a:xfrm>
            <a:off x="301625" y="1600200"/>
            <a:ext cx="8540750" cy="51054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由操作系统在内存中划分出一块区域作为共享存储区</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进程在通信前向系统申请共享存储区中的一个分区。</a:t>
            </a:r>
            <a:endPar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然后，申请进程把获得的共享存储分区连接到本进程上，此后便可象读</a:t>
            </a:r>
            <a:r>
              <a:rPr kumimoji="0" lang="en-US" altLang="zh-CN"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a:t>
            </a: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写普通存储器一样地读</a:t>
            </a:r>
            <a:r>
              <a:rPr kumimoji="0" lang="en-US" altLang="zh-CN"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a:t>
            </a: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写共享存储分区。</a:t>
            </a:r>
            <a:endPar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该方式下，通信进程之间的同步与互斥访问共享存储区可以由操作系统实现。</a:t>
            </a:r>
            <a:endPar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noRot="1"/>
          </p:cNvSpPr>
          <p:nvPr>
            <p:ph type="title"/>
          </p:nvPr>
        </p:nvSpPr>
        <p:spPr>
          <a:ln/>
        </p:spPr>
        <p:txBody>
          <a:bodyPr vert="horz" wrap="square" lIns="91440" tIns="45720" rIns="91440" bIns="45720" anchor="ctr" anchorCtr="0"/>
          <a:p>
            <a:pPr eaLnBrk="1" hangingPunct="1"/>
            <a:r>
              <a:rPr lang="en-US" altLang="zh-CN" b="1" dirty="0">
                <a:solidFill>
                  <a:schemeClr val="folHlink"/>
                </a:solidFill>
              </a:rPr>
              <a:t>2. </a:t>
            </a:r>
            <a:r>
              <a:rPr lang="zh-CN" altLang="en-US" b="1" dirty="0">
                <a:solidFill>
                  <a:schemeClr val="folHlink"/>
                </a:solidFill>
              </a:rPr>
              <a:t>管道</a:t>
            </a:r>
            <a:r>
              <a:rPr lang="en-US" altLang="zh-CN" b="1" dirty="0">
                <a:solidFill>
                  <a:schemeClr val="folHlink"/>
                </a:solidFill>
              </a:rPr>
              <a:t>(Pipe)</a:t>
            </a:r>
            <a:r>
              <a:rPr lang="zh-CN" altLang="en-US" b="1" dirty="0">
                <a:solidFill>
                  <a:schemeClr val="folHlink"/>
                </a:solidFill>
              </a:rPr>
              <a:t>通信</a:t>
            </a:r>
            <a:endParaRPr lang="zh-CN" altLang="en-US" b="1" dirty="0">
              <a:solidFill>
                <a:schemeClr val="folHlink"/>
              </a:solidFill>
            </a:endParaRPr>
          </a:p>
        </p:txBody>
      </p:sp>
      <p:sp>
        <p:nvSpPr>
          <p:cNvPr id="156675" name="Rectangle 3"/>
          <p:cNvSpPr>
            <a:spLocks noGrp="1" noRot="1"/>
          </p:cNvSpPr>
          <p:nvPr>
            <p:ph idx="1"/>
          </p:nvPr>
        </p:nvSpPr>
        <p:spPr>
          <a:xfrm>
            <a:off x="228600" y="1673225"/>
            <a:ext cx="8382000" cy="4879975"/>
          </a:xfrm>
          <a:ln/>
        </p:spPr>
        <p:txBody>
          <a:bodyPr vert="horz" wrap="square" lIns="91440" tIns="45720" rIns="91440" bIns="45720" anchor="t" anchorCtr="0"/>
          <a:p>
            <a:pPr eaLnBrk="1" hangingPunct="1">
              <a:lnSpc>
                <a:spcPct val="110000"/>
              </a:lnSpc>
            </a:pPr>
            <a:r>
              <a:rPr lang="zh-CN" altLang="en-US" sz="2600" b="1" dirty="0"/>
              <a:t>所谓“管道”，是指用于连接一个读进程和一个写进程以实现他们之间通信的一个共享文件，又名</a:t>
            </a:r>
            <a:r>
              <a:rPr lang="en-US" altLang="zh-CN" sz="2600" b="1" dirty="0"/>
              <a:t>pipe</a:t>
            </a:r>
            <a:r>
              <a:rPr lang="zh-CN" altLang="en-US" sz="2600" b="1" dirty="0"/>
              <a:t>文件。</a:t>
            </a:r>
            <a:endParaRPr lang="zh-CN" altLang="en-US" sz="2600" b="1" dirty="0"/>
          </a:p>
          <a:p>
            <a:pPr eaLnBrk="1" hangingPunct="1">
              <a:lnSpc>
                <a:spcPct val="110000"/>
              </a:lnSpc>
            </a:pPr>
            <a:r>
              <a:rPr lang="zh-CN" altLang="en-US" sz="2600" b="1" dirty="0"/>
              <a:t>向管道</a:t>
            </a:r>
            <a:r>
              <a:rPr lang="en-US" altLang="zh-CN" sz="2600" b="1" dirty="0"/>
              <a:t>(</a:t>
            </a:r>
            <a:r>
              <a:rPr lang="zh-CN" altLang="en-US" sz="2600" b="1" dirty="0"/>
              <a:t>共享文件</a:t>
            </a:r>
            <a:r>
              <a:rPr lang="en-US" altLang="zh-CN" sz="2600" b="1" dirty="0"/>
              <a:t>)</a:t>
            </a:r>
            <a:r>
              <a:rPr lang="zh-CN" altLang="en-US" sz="2600" b="1" i="1" u="sng" dirty="0">
                <a:solidFill>
                  <a:schemeClr val="folHlink"/>
                </a:solidFill>
              </a:rPr>
              <a:t>提供输入的发送进程</a:t>
            </a:r>
            <a:r>
              <a:rPr lang="en-US" altLang="zh-CN" sz="2600" b="1" i="1" u="sng" dirty="0">
                <a:solidFill>
                  <a:schemeClr val="folHlink"/>
                </a:solidFill>
              </a:rPr>
              <a:t>(</a:t>
            </a:r>
            <a:r>
              <a:rPr lang="zh-CN" altLang="en-US" sz="2600" b="1" i="1" u="sng" dirty="0">
                <a:solidFill>
                  <a:schemeClr val="folHlink"/>
                </a:solidFill>
              </a:rPr>
              <a:t>即写进程</a:t>
            </a:r>
            <a:r>
              <a:rPr lang="en-US" altLang="zh-CN" sz="2600" b="1" i="1" u="sng" dirty="0">
                <a:solidFill>
                  <a:schemeClr val="folHlink"/>
                </a:solidFill>
              </a:rPr>
              <a:t>)</a:t>
            </a:r>
            <a:r>
              <a:rPr lang="zh-CN" altLang="en-US" sz="2600" b="1" dirty="0"/>
              <a:t>， 以</a:t>
            </a:r>
            <a:r>
              <a:rPr lang="zh-CN" altLang="en-US" sz="2600" b="1" dirty="0">
                <a:solidFill>
                  <a:schemeClr val="folHlink"/>
                </a:solidFill>
              </a:rPr>
              <a:t>字符流形式</a:t>
            </a:r>
            <a:r>
              <a:rPr lang="zh-CN" altLang="en-US" sz="2600" b="1" dirty="0"/>
              <a:t>将大量的数据送入管道；</a:t>
            </a:r>
            <a:endParaRPr lang="zh-CN" altLang="en-US" sz="2600" b="1" dirty="0"/>
          </a:p>
          <a:p>
            <a:pPr eaLnBrk="1" hangingPunct="1">
              <a:lnSpc>
                <a:spcPct val="110000"/>
              </a:lnSpc>
            </a:pPr>
            <a:r>
              <a:rPr lang="zh-CN" altLang="en-US" sz="2600" b="1" dirty="0"/>
              <a:t>而</a:t>
            </a:r>
            <a:r>
              <a:rPr lang="zh-CN" altLang="en-US" sz="2600" b="1" i="1" u="sng" dirty="0">
                <a:solidFill>
                  <a:schemeClr val="folHlink"/>
                </a:solidFill>
              </a:rPr>
              <a:t>接受管道输出的接收进程</a:t>
            </a:r>
            <a:r>
              <a:rPr lang="en-US" altLang="zh-CN" sz="2600" b="1" i="1" u="sng" dirty="0">
                <a:solidFill>
                  <a:schemeClr val="folHlink"/>
                </a:solidFill>
              </a:rPr>
              <a:t>(</a:t>
            </a:r>
            <a:r>
              <a:rPr lang="zh-CN" altLang="en-US" sz="2600" b="1" i="1" u="sng" dirty="0">
                <a:solidFill>
                  <a:schemeClr val="folHlink"/>
                </a:solidFill>
              </a:rPr>
              <a:t>即读进程</a:t>
            </a:r>
            <a:r>
              <a:rPr lang="en-US" altLang="zh-CN" sz="2600" b="1" i="1" u="sng" dirty="0">
                <a:solidFill>
                  <a:schemeClr val="folHlink"/>
                </a:solidFill>
              </a:rPr>
              <a:t>)</a:t>
            </a:r>
            <a:r>
              <a:rPr lang="zh-CN" altLang="en-US" sz="2600" b="1" dirty="0"/>
              <a:t>，则从管道中接收</a:t>
            </a:r>
            <a:r>
              <a:rPr lang="en-US" altLang="zh-CN" sz="2600" b="1" dirty="0"/>
              <a:t>(</a:t>
            </a:r>
            <a:r>
              <a:rPr lang="zh-CN" altLang="en-US" sz="2600" b="1" dirty="0"/>
              <a:t>读</a:t>
            </a:r>
            <a:r>
              <a:rPr lang="en-US" altLang="zh-CN" sz="2600" b="1" dirty="0"/>
              <a:t>)</a:t>
            </a:r>
            <a:r>
              <a:rPr lang="zh-CN" altLang="en-US" sz="2600" b="1" dirty="0"/>
              <a:t>数据。由于发送进程和接收进程是利用管道进行通信的，故又称为管道通信。</a:t>
            </a:r>
            <a:endParaRPr lang="zh-CN" altLang="en-US" sz="2600" b="1" dirty="0"/>
          </a:p>
          <a:p>
            <a:pPr eaLnBrk="1" hangingPunct="1">
              <a:lnSpc>
                <a:spcPct val="110000"/>
              </a:lnSpc>
            </a:pPr>
            <a:r>
              <a:rPr lang="zh-CN" altLang="en-US" sz="2600" b="1" dirty="0"/>
              <a:t>这种方式首创于</a:t>
            </a:r>
            <a:r>
              <a:rPr lang="en-US" altLang="zh-CN" sz="2600" b="1" dirty="0"/>
              <a:t>UNIX</a:t>
            </a:r>
            <a:r>
              <a:rPr lang="zh-CN" altLang="en-US" sz="2600" b="1" dirty="0"/>
              <a:t>系统，由于它能有效地传送大量数据，因而又被引入到许多其它操作系统中。</a:t>
            </a:r>
            <a:endParaRPr lang="zh-CN" altLang="en-US" sz="2600" b="1"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3"/>
          <p:cNvSpPr>
            <a:spLocks noGrp="1" noRot="1"/>
          </p:cNvSpPr>
          <p:nvPr>
            <p:ph idx="1"/>
          </p:nvPr>
        </p:nvSpPr>
        <p:spPr>
          <a:xfrm>
            <a:off x="301625" y="381000"/>
            <a:ext cx="8540750" cy="4953000"/>
          </a:xfrm>
          <a:ln/>
        </p:spPr>
        <p:txBody>
          <a:bodyPr vert="horz" wrap="square" lIns="91440" tIns="45720" rIns="91440" bIns="45720" anchor="t" anchorCtr="0"/>
          <a:p>
            <a:pPr algn="just" eaLnBrk="1" hangingPunct="1">
              <a:spcBef>
                <a:spcPct val="50000"/>
              </a:spcBef>
              <a:buClrTx/>
              <a:buSzTx/>
              <a:buFontTx/>
              <a:buNone/>
            </a:pPr>
            <a:r>
              <a:rPr lang="zh-CN" altLang="en-US" b="1" dirty="0">
                <a:solidFill>
                  <a:srgbClr val="FF0000"/>
                </a:solidFill>
              </a:rPr>
              <a:t>为了协调双方的通信，管道机制必须提供以下三方面的协调能力：</a:t>
            </a:r>
            <a:endParaRPr lang="zh-CN" altLang="en-US" b="1" dirty="0">
              <a:solidFill>
                <a:srgbClr val="FF0000"/>
              </a:solidFill>
            </a:endParaRPr>
          </a:p>
          <a:p>
            <a:pPr algn="just" eaLnBrk="1" hangingPunct="1">
              <a:spcBef>
                <a:spcPct val="50000"/>
              </a:spcBef>
              <a:buClrTx/>
              <a:buSzTx/>
              <a:buFontTx/>
              <a:buNone/>
            </a:pPr>
            <a:r>
              <a:rPr lang="zh-CN" altLang="en-US" sz="2800" b="1" dirty="0"/>
              <a:t>① 互斥，即当一个进程正在对</a:t>
            </a:r>
            <a:r>
              <a:rPr lang="en-US" altLang="zh-CN" sz="2800" b="1" dirty="0"/>
              <a:t>pipe</a:t>
            </a:r>
            <a:r>
              <a:rPr lang="zh-CN" altLang="en-US" sz="2800" b="1" dirty="0"/>
              <a:t>执行读</a:t>
            </a:r>
            <a:r>
              <a:rPr lang="en-US" altLang="zh-CN" sz="2800" b="1" dirty="0"/>
              <a:t>/</a:t>
            </a:r>
            <a:r>
              <a:rPr lang="zh-CN" altLang="en-US" sz="2800" b="1" dirty="0"/>
              <a:t>写操作时，其它</a:t>
            </a:r>
            <a:r>
              <a:rPr lang="en-US" altLang="zh-CN" sz="2800" b="1" dirty="0"/>
              <a:t>(</a:t>
            </a:r>
            <a:r>
              <a:rPr lang="zh-CN" altLang="en-US" sz="2800" b="1" dirty="0"/>
              <a:t>另一</a:t>
            </a:r>
            <a:r>
              <a:rPr lang="en-US" altLang="zh-CN" sz="2800" b="1" dirty="0"/>
              <a:t>)</a:t>
            </a:r>
            <a:r>
              <a:rPr lang="zh-CN" altLang="en-US" sz="2800" b="1" dirty="0"/>
              <a:t>进程必须等待。 </a:t>
            </a:r>
            <a:endParaRPr lang="zh-CN" altLang="en-US" sz="2800" b="1" dirty="0"/>
          </a:p>
          <a:p>
            <a:pPr algn="just" eaLnBrk="1" hangingPunct="1">
              <a:spcBef>
                <a:spcPct val="50000"/>
              </a:spcBef>
              <a:buClrTx/>
              <a:buSzTx/>
              <a:buFontTx/>
              <a:buNone/>
            </a:pPr>
            <a:r>
              <a:rPr lang="zh-CN" altLang="en-US" sz="2800" b="1" dirty="0"/>
              <a:t>② 同步，指当写</a:t>
            </a:r>
            <a:r>
              <a:rPr lang="en-US" altLang="zh-CN" sz="2800" b="1" dirty="0"/>
              <a:t>(</a:t>
            </a:r>
            <a:r>
              <a:rPr lang="zh-CN" altLang="en-US" sz="2800" b="1" dirty="0"/>
              <a:t>输入</a:t>
            </a:r>
            <a:r>
              <a:rPr lang="en-US" altLang="zh-CN" sz="2800" b="1" dirty="0"/>
              <a:t>)</a:t>
            </a:r>
            <a:r>
              <a:rPr lang="zh-CN" altLang="en-US" sz="2800" b="1" dirty="0"/>
              <a:t>进程把一定数量</a:t>
            </a:r>
            <a:r>
              <a:rPr lang="en-US" altLang="zh-CN" sz="2800" b="1" dirty="0"/>
              <a:t>(</a:t>
            </a:r>
            <a:r>
              <a:rPr lang="zh-CN" altLang="en-US" sz="2800" b="1" dirty="0"/>
              <a:t>如</a:t>
            </a:r>
            <a:r>
              <a:rPr lang="en-US" altLang="zh-CN" sz="2800" b="1" dirty="0"/>
              <a:t>4 KB)</a:t>
            </a:r>
            <a:r>
              <a:rPr lang="zh-CN" altLang="en-US" sz="2800" b="1" dirty="0"/>
              <a:t>的数据写入</a:t>
            </a:r>
            <a:r>
              <a:rPr lang="en-US" altLang="zh-CN" sz="2800" b="1" dirty="0"/>
              <a:t>pipe</a:t>
            </a:r>
            <a:r>
              <a:rPr lang="zh-CN" altLang="en-US" sz="2800" b="1" dirty="0"/>
              <a:t>，便去睡眠等待， 直到读</a:t>
            </a:r>
            <a:r>
              <a:rPr lang="en-US" altLang="zh-CN" sz="2800" b="1" dirty="0"/>
              <a:t>(</a:t>
            </a:r>
            <a:r>
              <a:rPr lang="zh-CN" altLang="en-US" sz="2800" b="1" dirty="0"/>
              <a:t>输出</a:t>
            </a:r>
            <a:r>
              <a:rPr lang="en-US" altLang="zh-CN" sz="2800" b="1" dirty="0"/>
              <a:t>)</a:t>
            </a:r>
            <a:r>
              <a:rPr lang="zh-CN" altLang="en-US" sz="2800" b="1" dirty="0"/>
              <a:t>进程取走数据后，再把他唤醒。当读进程读一空</a:t>
            </a:r>
            <a:r>
              <a:rPr lang="en-US" altLang="zh-CN" sz="2800" b="1" dirty="0"/>
              <a:t>pipe</a:t>
            </a:r>
            <a:r>
              <a:rPr lang="zh-CN" altLang="en-US" sz="2800" b="1" dirty="0"/>
              <a:t>时，也应睡眠等待，直至写进程将数据写入管道后，才将之唤醒。</a:t>
            </a:r>
            <a:endParaRPr lang="zh-CN" altLang="en-US" sz="2800" b="1" dirty="0"/>
          </a:p>
          <a:p>
            <a:pPr algn="just" eaLnBrk="1" hangingPunct="1">
              <a:spcBef>
                <a:spcPct val="50000"/>
              </a:spcBef>
              <a:buClrTx/>
              <a:buSzTx/>
              <a:buFontTx/>
              <a:buNone/>
            </a:pPr>
            <a:r>
              <a:rPr lang="zh-CN" altLang="en-US" sz="2800" b="1" dirty="0"/>
              <a:t>③ 确定对方是否存在，只有确定了对方已存在时，才能进行通信。 </a:t>
            </a:r>
            <a:endParaRPr lang="zh-CN" altLang="en-US" sz="2800" b="1" dirty="0"/>
          </a:p>
          <a:p>
            <a:pPr>
              <a:buFont typeface="Wingdings 2" panose="05020102010507070707" pitchFamily="18" charset="2"/>
              <a:buChar char="¡"/>
            </a:pPr>
            <a:endParaRPr lang="zh-CN" altLang="en-US" sz="2800" b="1"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noRot="1"/>
          </p:cNvSpPr>
          <p:nvPr>
            <p:ph type="title"/>
          </p:nvPr>
        </p:nvSpPr>
        <p:spPr>
          <a:ln/>
        </p:spPr>
        <p:txBody>
          <a:bodyPr vert="horz" wrap="square" lIns="91440" tIns="45720" rIns="91440" bIns="45720" anchor="ctr" anchorCtr="0"/>
          <a:p>
            <a:pPr eaLnBrk="1" hangingPunct="1"/>
            <a:endParaRPr lang="zh-CN" altLang="en-US" dirty="0"/>
          </a:p>
        </p:txBody>
      </p:sp>
      <p:sp>
        <p:nvSpPr>
          <p:cNvPr id="158723" name="Rectangle 3"/>
          <p:cNvSpPr>
            <a:spLocks noGrp="1" noRot="1"/>
          </p:cNvSpPr>
          <p:nvPr>
            <p:ph idx="1"/>
          </p:nvPr>
        </p:nvSpPr>
        <p:spPr>
          <a:ln/>
        </p:spPr>
        <p:txBody>
          <a:bodyPr vert="horz" wrap="square" lIns="91440" tIns="45720" rIns="91440" bIns="45720" anchor="t" anchorCtr="0"/>
          <a:p>
            <a:pPr eaLnBrk="1" hangingPunct="1"/>
            <a:r>
              <a:rPr lang="en-US" altLang="zh-CN" b="1" dirty="0"/>
              <a:t>Linux</a:t>
            </a:r>
            <a:r>
              <a:rPr lang="zh-CN" altLang="en-US" b="1" dirty="0"/>
              <a:t>命名管道非常适合同一机器上两个进程之间传递数据，其形式也是一个文件，但是读取与写入时遵循</a:t>
            </a:r>
            <a:r>
              <a:rPr lang="en-US" altLang="zh-CN" b="1" dirty="0"/>
              <a:t>FIFO</a:t>
            </a:r>
            <a:r>
              <a:rPr lang="zh-CN" altLang="en-US" b="1" dirty="0"/>
              <a:t>的原则。</a:t>
            </a:r>
            <a:r>
              <a:rPr lang="zh-CN" altLang="en-US" dirty="0"/>
              <a:t> </a:t>
            </a:r>
            <a:endParaRPr lang="zh-CN" altLang="en-US" dirty="0"/>
          </a:p>
          <a:p>
            <a:pPr eaLnBrk="1" hangingPunct="1"/>
            <a:r>
              <a:rPr lang="en-US" altLang="zh-CN" dirty="0"/>
              <a:t>#define FIFO_NAME "/tmp/my_fifo"</a:t>
            </a:r>
            <a:br>
              <a:rPr lang="en-US" altLang="zh-CN" dirty="0"/>
            </a:br>
            <a:r>
              <a:rPr lang="en-US" altLang="zh-CN" dirty="0"/>
              <a:t>#define BUFFER_SIZE PIPE_BUF</a:t>
            </a:r>
            <a:br>
              <a:rPr lang="en-US" altLang="zh-CN" dirty="0"/>
            </a:br>
            <a:r>
              <a:rPr lang="en-US" altLang="zh-CN" dirty="0"/>
              <a:t>mkfifo(FIFO_NAME,0777);</a:t>
            </a:r>
            <a:br>
              <a:rPr lang="en-US" altLang="zh-CN" dirty="0"/>
            </a:br>
            <a:endParaRPr lang="en-US" altLang="zh-CN" dirty="0"/>
          </a:p>
          <a:p>
            <a:pPr eaLnBrk="1" hangingPunct="1"/>
            <a:endParaRPr lang="en-US" altLang="zh-CN" dirty="0"/>
          </a:p>
          <a:p>
            <a:pPr eaLnBrk="1" hangingPunct="1"/>
            <a:endParaRPr lang="zh-CN" alt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4002" name="Rectangle 2"/>
          <p:cNvSpPr>
            <a:spLocks noGrp="1" noRot="1" noChangeArrowheads="1"/>
          </p:cNvSpPr>
          <p:nvPr>
            <p:ph type="title"/>
          </p:nvPr>
        </p:nvSpPr>
        <p:spPr>
          <a:xfrm>
            <a:off x="542925" y="309563"/>
            <a:ext cx="8218488" cy="817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3. </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消息传递方式</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384031" name="Text Box 31"/>
          <p:cNvSpPr txBox="1">
            <a:spLocks noChangeArrowheads="1"/>
          </p:cNvSpPr>
          <p:nvPr/>
        </p:nvSpPr>
        <p:spPr bwMode="auto">
          <a:xfrm>
            <a:off x="838200" y="1828800"/>
            <a:ext cx="7620000" cy="3506788"/>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消息通信实现方法：</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3200" b="1" kern="1200" cap="none" spc="0" normalizeH="0" baseline="0" noProof="0">
                <a:solidFill>
                  <a:schemeClr val="folHlink"/>
                </a:solidFill>
                <a:latin typeface="Arial" panose="020B0604020202020204" pitchFamily="34" charset="0"/>
                <a:ea typeface="宋体" panose="02010600030101010101" pitchFamily="2" charset="-122"/>
                <a:cs typeface="+mn-cs"/>
              </a:rPr>
              <a:t>1.</a:t>
            </a:r>
            <a:r>
              <a:rPr kumimoji="0" lang="zh-CN" altLang="en-US" sz="3200" b="1" kern="1200" cap="none" spc="0" normalizeH="0" baseline="0" noProof="0">
                <a:solidFill>
                  <a:schemeClr val="folHlink"/>
                </a:solidFill>
                <a:latin typeface="Arial" panose="020B0604020202020204" pitchFamily="34" charset="0"/>
                <a:ea typeface="宋体" panose="02010600030101010101" pitchFamily="2" charset="-122"/>
                <a:cs typeface="+mn-cs"/>
              </a:rPr>
              <a:t>直接通信</a:t>
            </a:r>
            <a:endParaRPr kumimoji="0" lang="zh-CN" altLang="en-US" sz="3200" b="1" kern="1200" cap="none" spc="0" normalizeH="0" baseline="0" noProof="0">
              <a:solidFill>
                <a:schemeClr val="folHlink"/>
              </a:solidFill>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3200" b="1" kern="1200" cap="none" spc="0" normalizeH="0" baseline="0" noProof="0">
                <a:solidFill>
                  <a:schemeClr val="folHlink"/>
                </a:solidFill>
                <a:latin typeface="Arial" panose="020B0604020202020204" pitchFamily="34" charset="0"/>
                <a:ea typeface="宋体" panose="02010600030101010101" pitchFamily="2" charset="-122"/>
                <a:cs typeface="+mn-cs"/>
              </a:rPr>
              <a:t>2.</a:t>
            </a:r>
            <a:r>
              <a:rPr kumimoji="0" lang="zh-CN" altLang="en-US" sz="3200" b="1" kern="1200" cap="none" spc="0" normalizeH="0" baseline="0" noProof="0">
                <a:solidFill>
                  <a:schemeClr val="folHlink"/>
                </a:solidFill>
                <a:latin typeface="Arial" panose="020B0604020202020204" pitchFamily="34" charset="0"/>
                <a:ea typeface="宋体" panose="02010600030101010101" pitchFamily="2" charset="-122"/>
                <a:cs typeface="+mn-cs"/>
              </a:rPr>
              <a:t>间接通信</a:t>
            </a:r>
            <a:endParaRPr kumimoji="0" lang="zh-CN" altLang="en-US" sz="3200" b="1" kern="1200" cap="none" spc="0" normalizeH="0" baseline="0" noProof="0">
              <a:solidFill>
                <a:schemeClr val="folHlink"/>
              </a:solidFill>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    </a:t>
            </a:r>
            <a:r>
              <a:rPr kumimoji="0" lang="en-US" altLang="zh-CN" sz="3200" b="1" kern="1200" cap="none" spc="0" normalizeH="0" baseline="0" noProof="0">
                <a:latin typeface="Arial" panose="020B0604020202020204" pitchFamily="34" charset="0"/>
                <a:ea typeface="宋体" panose="02010600030101010101" pitchFamily="2" charset="-122"/>
                <a:cs typeface="+mn-cs"/>
              </a:rPr>
              <a:t>1</a:t>
            </a:r>
            <a:r>
              <a:rPr kumimoji="0" lang="zh-CN" altLang="en-US" sz="3200" b="1" kern="1200" cap="none" spc="0" normalizeH="0" baseline="0" noProof="0">
                <a:latin typeface="Arial" panose="020B0604020202020204" pitchFamily="34" charset="0"/>
                <a:ea typeface="宋体" panose="02010600030101010101" pitchFamily="2" charset="-122"/>
                <a:cs typeface="+mn-cs"/>
              </a:rPr>
              <a:t>）信箱</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    </a:t>
            </a:r>
            <a:r>
              <a:rPr kumimoji="0" lang="en-US" altLang="zh-CN" sz="3200" b="1" kern="1200" cap="none" spc="0" normalizeH="0" baseline="0" noProof="0">
                <a:latin typeface="Arial" panose="020B0604020202020204" pitchFamily="34" charset="0"/>
                <a:ea typeface="宋体" panose="02010600030101010101" pitchFamily="2" charset="-122"/>
                <a:cs typeface="+mn-cs"/>
              </a:rPr>
              <a:t>2</a:t>
            </a:r>
            <a:r>
              <a:rPr kumimoji="0" lang="zh-CN" altLang="en-US" sz="3200" b="1" kern="1200" cap="none" spc="0" normalizeH="0" baseline="0" noProof="0">
                <a:latin typeface="Arial" panose="020B0604020202020204" pitchFamily="34" charset="0"/>
                <a:ea typeface="宋体" panose="02010600030101010101" pitchFamily="2" charset="-122"/>
                <a:cs typeface="+mn-cs"/>
              </a:rPr>
              <a:t>）消息缓冲队列通信</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noRot="1"/>
          </p:cNvSpPr>
          <p:nvPr>
            <p:ph type="title"/>
          </p:nvPr>
        </p:nvSpPr>
        <p:spPr>
          <a:xfrm>
            <a:off x="301625" y="228600"/>
            <a:ext cx="8540750" cy="838200"/>
          </a:xfrm>
          <a:ln/>
        </p:spPr>
        <p:txBody>
          <a:bodyPr vert="horz" wrap="square" lIns="91440" tIns="45720" rIns="91440" bIns="45720" anchor="ctr" anchorCtr="0"/>
          <a:p>
            <a:pPr eaLnBrk="1" hangingPunct="1"/>
            <a:r>
              <a:rPr lang="en-US" altLang="zh-CN" b="1" dirty="0">
                <a:solidFill>
                  <a:schemeClr val="folHlink"/>
                </a:solidFill>
              </a:rPr>
              <a:t>2.6.2 </a:t>
            </a:r>
            <a:r>
              <a:rPr lang="zh-CN" altLang="en-US" b="1" dirty="0">
                <a:solidFill>
                  <a:schemeClr val="folHlink"/>
                </a:solidFill>
              </a:rPr>
              <a:t>消息传递通信的实现方法</a:t>
            </a:r>
            <a:endParaRPr lang="zh-CN" altLang="en-US" b="1" dirty="0">
              <a:solidFill>
                <a:schemeClr val="folHlink"/>
              </a:solidFill>
            </a:endParaRPr>
          </a:p>
        </p:txBody>
      </p:sp>
      <p:sp>
        <p:nvSpPr>
          <p:cNvPr id="160771" name="Rectangle 3"/>
          <p:cNvSpPr>
            <a:spLocks noGrp="1" noRot="1"/>
          </p:cNvSpPr>
          <p:nvPr>
            <p:ph idx="1"/>
          </p:nvPr>
        </p:nvSpPr>
        <p:spPr>
          <a:xfrm>
            <a:off x="457200" y="1600200"/>
            <a:ext cx="8229600" cy="4876800"/>
          </a:xfrm>
          <a:ln/>
        </p:spPr>
        <p:txBody>
          <a:bodyPr vert="horz" wrap="square" lIns="91440" tIns="45720" rIns="91440" bIns="45720" anchor="t" anchorCtr="0"/>
          <a:p>
            <a:pPr eaLnBrk="1" hangingPunct="1">
              <a:lnSpc>
                <a:spcPct val="110000"/>
              </a:lnSpc>
            </a:pPr>
            <a:r>
              <a:rPr lang="en-US" altLang="zh-CN" b="1" dirty="0">
                <a:solidFill>
                  <a:schemeClr val="folHlink"/>
                </a:solidFill>
              </a:rPr>
              <a:t>1. </a:t>
            </a:r>
            <a:r>
              <a:rPr lang="zh-CN" altLang="en-US" b="1" dirty="0">
                <a:solidFill>
                  <a:schemeClr val="folHlink"/>
                </a:solidFill>
              </a:rPr>
              <a:t>直接通信方式</a:t>
            </a:r>
            <a:endParaRPr lang="zh-CN" altLang="en-US" b="1" dirty="0">
              <a:solidFill>
                <a:schemeClr val="folHlink"/>
              </a:solidFill>
            </a:endParaRPr>
          </a:p>
          <a:p>
            <a:pPr eaLnBrk="1" hangingPunct="1">
              <a:lnSpc>
                <a:spcPct val="110000"/>
              </a:lnSpc>
            </a:pPr>
            <a:r>
              <a:rPr lang="zh-CN" altLang="en-US" sz="2800" dirty="0"/>
              <a:t> </a:t>
            </a:r>
            <a:r>
              <a:rPr lang="zh-CN" altLang="en-US" sz="2800" b="1" dirty="0"/>
              <a:t>这是指发送进程利用</a:t>
            </a:r>
            <a:r>
              <a:rPr lang="en-US" altLang="zh-CN" sz="2800" b="1" dirty="0"/>
              <a:t>OS</a:t>
            </a:r>
            <a:r>
              <a:rPr lang="zh-CN" altLang="en-US" sz="2800" b="1" dirty="0"/>
              <a:t>所提供的发送命令，直接把消息发送给目标进程。通常，系统提供下述两条通信命令</a:t>
            </a:r>
            <a:r>
              <a:rPr lang="en-US" altLang="zh-CN" sz="2800" b="1" dirty="0"/>
              <a:t>(</a:t>
            </a:r>
            <a:r>
              <a:rPr lang="zh-CN" altLang="en-US" sz="2800" b="1" dirty="0"/>
              <a:t>原语</a:t>
            </a:r>
            <a:r>
              <a:rPr lang="en-US" altLang="zh-CN" sz="2800" b="1" dirty="0"/>
              <a:t>)</a:t>
            </a:r>
            <a:r>
              <a:rPr lang="zh-CN" altLang="en-US" sz="2800" b="1" dirty="0"/>
              <a:t>：</a:t>
            </a:r>
            <a:endParaRPr lang="zh-CN" altLang="en-US" sz="2800" b="1" dirty="0"/>
          </a:p>
          <a:p>
            <a:pPr eaLnBrk="1" hangingPunct="1">
              <a:lnSpc>
                <a:spcPct val="110000"/>
              </a:lnSpc>
            </a:pPr>
            <a:r>
              <a:rPr lang="en-US" altLang="zh-CN" sz="2400" b="1" dirty="0">
                <a:solidFill>
                  <a:srgbClr val="FF0000"/>
                </a:solidFill>
              </a:rPr>
              <a:t>Send(Receiver, message); </a:t>
            </a:r>
            <a:r>
              <a:rPr lang="zh-CN" altLang="en-US" sz="2400" b="1" dirty="0">
                <a:solidFill>
                  <a:srgbClr val="FF0000"/>
                </a:solidFill>
              </a:rPr>
              <a:t>发送一个消息给接收进程；</a:t>
            </a:r>
            <a:endParaRPr lang="zh-CN" altLang="en-US" sz="2400" b="1" dirty="0">
              <a:solidFill>
                <a:srgbClr val="FF0000"/>
              </a:solidFill>
            </a:endParaRPr>
          </a:p>
          <a:p>
            <a:pPr eaLnBrk="1" hangingPunct="1">
              <a:lnSpc>
                <a:spcPct val="110000"/>
              </a:lnSpc>
            </a:pPr>
            <a:r>
              <a:rPr lang="en-US" altLang="zh-CN" sz="2400" b="1" dirty="0">
                <a:solidFill>
                  <a:srgbClr val="FF0000"/>
                </a:solidFill>
              </a:rPr>
              <a:t>Receive(Sender, message); </a:t>
            </a:r>
            <a:r>
              <a:rPr lang="zh-CN" altLang="en-US" sz="2400" b="1" dirty="0">
                <a:solidFill>
                  <a:srgbClr val="FF0000"/>
                </a:solidFill>
              </a:rPr>
              <a:t>接收</a:t>
            </a:r>
            <a:r>
              <a:rPr lang="en-US" altLang="zh-CN" sz="2400" b="1" dirty="0">
                <a:solidFill>
                  <a:srgbClr val="FF0000"/>
                </a:solidFill>
              </a:rPr>
              <a:t>Sender</a:t>
            </a:r>
            <a:r>
              <a:rPr lang="zh-CN" altLang="en-US" sz="2400" b="1" dirty="0">
                <a:solidFill>
                  <a:srgbClr val="FF0000"/>
                </a:solidFill>
              </a:rPr>
              <a:t>发来的消息；</a:t>
            </a:r>
            <a:endParaRPr lang="zh-CN" altLang="en-US" sz="2400" b="1" dirty="0">
              <a:solidFill>
                <a:srgbClr val="FF0000"/>
              </a:solidFill>
            </a:endParaRPr>
          </a:p>
          <a:p>
            <a:pPr eaLnBrk="1" hangingPunct="1">
              <a:lnSpc>
                <a:spcPct val="110000"/>
              </a:lnSpc>
            </a:pPr>
            <a:r>
              <a:rPr lang="zh-CN" altLang="en-US" sz="2400" b="1" dirty="0"/>
              <a:t>例如，原语</a:t>
            </a:r>
            <a:r>
              <a:rPr lang="en-US" altLang="zh-CN" sz="2400" b="1" dirty="0"/>
              <a:t>Send(P2, m1)</a:t>
            </a:r>
            <a:r>
              <a:rPr lang="zh-CN" altLang="en-US" sz="2400" b="1" dirty="0"/>
              <a:t>表示将消息</a:t>
            </a:r>
            <a:r>
              <a:rPr lang="en-US" altLang="zh-CN" sz="2400" b="1" dirty="0"/>
              <a:t>m1</a:t>
            </a:r>
            <a:r>
              <a:rPr lang="zh-CN" altLang="en-US" sz="2400" b="1" dirty="0"/>
              <a:t>发送给接收进程</a:t>
            </a:r>
            <a:r>
              <a:rPr lang="en-US" altLang="zh-CN" sz="2400" b="1" dirty="0"/>
              <a:t>P2; </a:t>
            </a:r>
            <a:r>
              <a:rPr lang="zh-CN" altLang="en-US" sz="2400" b="1" dirty="0"/>
              <a:t>而原语</a:t>
            </a:r>
            <a:r>
              <a:rPr lang="en-US" altLang="zh-CN" sz="2400" b="1" dirty="0"/>
              <a:t>Receive(P1</a:t>
            </a:r>
            <a:r>
              <a:rPr lang="zh-CN" altLang="en-US" sz="2400" b="1" dirty="0"/>
              <a:t>，</a:t>
            </a:r>
            <a:r>
              <a:rPr lang="en-US" altLang="zh-CN" sz="2400" b="1" dirty="0"/>
              <a:t>m1)</a:t>
            </a:r>
            <a:r>
              <a:rPr lang="zh-CN" altLang="en-US" sz="2400" b="1" dirty="0"/>
              <a:t>则表示接收由</a:t>
            </a:r>
            <a:r>
              <a:rPr lang="en-US" altLang="zh-CN" sz="2400" b="1" dirty="0"/>
              <a:t>P1</a:t>
            </a:r>
            <a:r>
              <a:rPr lang="zh-CN" altLang="en-US" sz="2400" b="1" dirty="0"/>
              <a:t>发来的消息</a:t>
            </a:r>
            <a:r>
              <a:rPr lang="en-US" altLang="zh-CN" sz="2400" b="1" dirty="0"/>
              <a:t>m1</a:t>
            </a:r>
            <a:r>
              <a:rPr lang="zh-CN" altLang="en-US" sz="2400" b="1" dirty="0"/>
              <a:t>。 </a:t>
            </a:r>
            <a:endParaRPr lang="zh-CN" altLang="en-US" sz="2400" b="1"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标题 1"/>
          <p:cNvSpPr>
            <a:spLocks noGrp="1"/>
          </p:cNvSpPr>
          <p:nvPr>
            <p:ph type="title"/>
          </p:nvPr>
        </p:nvSpPr>
        <p:spPr>
          <a:ln/>
        </p:spPr>
        <p:txBody>
          <a:bodyPr vert="horz" wrap="square" lIns="91440" tIns="45720" rIns="91440" bIns="45720" anchor="ctr" anchorCtr="0"/>
          <a:p>
            <a:r>
              <a:rPr lang="zh-CN" altLang="en-US" b="1" dirty="0"/>
              <a:t>直接消息通信的缺陷</a:t>
            </a:r>
            <a:endParaRPr lang="zh-CN" altLang="en-US" b="1" dirty="0"/>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uLnTx/>
                <a:uFillTx/>
                <a:latin typeface="+mn-lt"/>
                <a:ea typeface="+mn-ea"/>
                <a:cs typeface="+mn-cs"/>
              </a:rPr>
              <a:t>由于没有一个机构管理消息，因此发送方和接收方之间在程序设计时需要考虑同步问题。可能出现三种情况：</a:t>
            </a:r>
            <a:endParaRPr kumimoji="0" lang="en-US" altLang="zh-CN" sz="3200" b="1" i="0" u="none" strike="noStrike" kern="0" cap="none" spc="0" normalizeH="0" baseline="0" noProof="0" dirty="0" smtClean="0">
              <a:ln>
                <a:noFill/>
              </a:ln>
              <a:solidFill>
                <a:srgbClr val="FF0000"/>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发送进程阻塞，接收进程阻塞，二者之间无缓冲时。</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mn-lt"/>
                <a:ea typeface="+mn-ea"/>
              </a:rPr>
              <a:t>发送进程不</a:t>
            </a:r>
            <a:r>
              <a:rPr kumimoji="0" lang="zh-CN" altLang="en-US" sz="2800" b="1" i="0" u="none" strike="noStrike" kern="0" cap="none" spc="0" normalizeH="0" baseline="0" noProof="0" dirty="0" smtClean="0">
                <a:ln>
                  <a:noFill/>
                </a:ln>
                <a:solidFill>
                  <a:schemeClr val="tx1"/>
                </a:solidFill>
                <a:effectLst/>
                <a:uLnTx/>
                <a:uFillTx/>
                <a:latin typeface="+mn-lt"/>
                <a:ea typeface="+mn-ea"/>
              </a:rPr>
              <a:t>阻塞，接收进程阻塞。</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mn-lt"/>
                <a:ea typeface="+mn-ea"/>
              </a:rPr>
              <a:t>发送进程和接收进程均不</a:t>
            </a:r>
            <a:r>
              <a:rPr kumimoji="0" lang="zh-CN" altLang="en-US" sz="2800" b="1" i="0" u="none" strike="noStrike" kern="0" cap="none" spc="0" normalizeH="0" baseline="0" noProof="0" dirty="0" smtClean="0">
                <a:ln>
                  <a:noFill/>
                </a:ln>
                <a:solidFill>
                  <a:schemeClr val="tx1"/>
                </a:solidFill>
                <a:effectLst/>
                <a:uLnTx/>
                <a:uFillTx/>
                <a:latin typeface="+mn-lt"/>
                <a:ea typeface="+mn-ea"/>
              </a:rPr>
              <a:t>阻塞。</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endParaRPr kumimoji="0" lang="zh-CN" altLang="en-US" sz="2800" b="1" i="0" u="none" strike="noStrike" kern="0" cap="none" spc="0" normalizeH="0" baseline="0" noProof="0" dirty="0">
              <a:ln>
                <a:noFill/>
              </a:ln>
              <a:solidFill>
                <a:schemeClr val="tx1"/>
              </a:solidFill>
              <a:effectLst/>
              <a:uLnTx/>
              <a:uFillTx/>
              <a:latin typeface="+mn-lt"/>
              <a:ea typeface="+mn-ea"/>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noRot="1"/>
          </p:cNvSpPr>
          <p:nvPr>
            <p:ph type="title"/>
          </p:nvPr>
        </p:nvSpPr>
        <p:spPr>
          <a:ln/>
        </p:spPr>
        <p:txBody>
          <a:bodyPr vert="horz" wrap="square" lIns="91440" tIns="45720" rIns="91440" bIns="45720" anchor="ctr" anchorCtr="0"/>
          <a:p>
            <a:pPr eaLnBrk="1" hangingPunct="1"/>
            <a:endParaRPr lang="zh-CN" altLang="en-US" dirty="0"/>
          </a:p>
        </p:txBody>
      </p:sp>
      <p:sp>
        <p:nvSpPr>
          <p:cNvPr id="162819" name="Text Box 4"/>
          <p:cNvSpPr/>
          <p:nvPr>
            <p:ph idx="1"/>
          </p:nvPr>
        </p:nvSpPr>
        <p:spPr>
          <a:ln/>
        </p:spPr>
        <p:txBody>
          <a:bodyPr vert="horz" wrap="square" lIns="91440" tIns="45720" rIns="91440" bIns="45720" anchor="t" anchorCtr="0"/>
          <a:p>
            <a:pPr eaLnBrk="1" hangingPunct="1">
              <a:lnSpc>
                <a:spcPct val="130000"/>
              </a:lnSpc>
              <a:spcBef>
                <a:spcPct val="0"/>
              </a:spcBef>
              <a:buClrTx/>
              <a:buSzTx/>
              <a:buFontTx/>
              <a:buNone/>
            </a:pPr>
            <a:r>
              <a:rPr lang="en-US" altLang="zh-CN" b="1" dirty="0">
                <a:solidFill>
                  <a:schemeClr val="folHlink"/>
                </a:solidFill>
              </a:rPr>
              <a:t>2. </a:t>
            </a:r>
            <a:r>
              <a:rPr lang="zh-CN" altLang="en-US" b="1" dirty="0">
                <a:solidFill>
                  <a:schemeClr val="folHlink"/>
                </a:solidFill>
              </a:rPr>
              <a:t>间接通信方式</a:t>
            </a:r>
            <a:r>
              <a:rPr lang="zh-CN" altLang="en-US" dirty="0"/>
              <a:t> 	</a:t>
            </a:r>
            <a:endParaRPr lang="zh-CN" altLang="en-US" dirty="0"/>
          </a:p>
          <a:p>
            <a:pPr lvl="1" eaLnBrk="1" hangingPunct="1">
              <a:lnSpc>
                <a:spcPct val="130000"/>
              </a:lnSpc>
              <a:spcBef>
                <a:spcPct val="0"/>
              </a:spcBef>
              <a:buClrTx/>
              <a:buFont typeface="Wingdings" panose="05000000000000000000" pitchFamily="2" charset="2"/>
              <a:buChar char="Ø"/>
            </a:pPr>
            <a:r>
              <a:rPr lang="zh-CN" altLang="en-US" sz="3200" b="1" dirty="0">
                <a:solidFill>
                  <a:srgbClr val="FF0000"/>
                </a:solidFill>
              </a:rPr>
              <a:t>信箱</a:t>
            </a:r>
            <a:r>
              <a:rPr lang="zh-CN" altLang="en-US" sz="3200" b="1" dirty="0"/>
              <a:t>  进程之间的通信，需要通过某种中间实体（如共享数据结构等）来完成。</a:t>
            </a:r>
            <a:endParaRPr lang="zh-CN" altLang="en-US" sz="3200" b="1"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Text Box 4"/>
          <p:cNvSpPr txBox="1"/>
          <p:nvPr/>
        </p:nvSpPr>
        <p:spPr>
          <a:xfrm>
            <a:off x="533400" y="496888"/>
            <a:ext cx="2384425"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3600" b="1" dirty="0">
                <a:solidFill>
                  <a:schemeClr val="folHlink"/>
                </a:solidFill>
                <a:latin typeface="Times New Roman" panose="02020603050405020304" pitchFamily="18" charset="0"/>
              </a:rPr>
              <a:t>（</a:t>
            </a:r>
            <a:r>
              <a:rPr lang="en-US" altLang="zh-CN" sz="3600" b="1" dirty="0">
                <a:solidFill>
                  <a:schemeClr val="folHlink"/>
                </a:solidFill>
                <a:latin typeface="Times New Roman" panose="02020603050405020304" pitchFamily="18" charset="0"/>
              </a:rPr>
              <a:t>1</a:t>
            </a:r>
            <a:r>
              <a:rPr lang="zh-CN" altLang="en-US" sz="3600" b="1" dirty="0">
                <a:solidFill>
                  <a:schemeClr val="folHlink"/>
                </a:solidFill>
                <a:latin typeface="Times New Roman" panose="02020603050405020304" pitchFamily="18" charset="0"/>
              </a:rPr>
              <a:t>）信箱 </a:t>
            </a:r>
            <a:endParaRPr lang="zh-CN" altLang="en-US" sz="3600" b="1" dirty="0">
              <a:solidFill>
                <a:schemeClr val="folHlink"/>
              </a:solidFill>
              <a:latin typeface="Times New Roman" panose="02020603050405020304" pitchFamily="18" charset="0"/>
            </a:endParaRPr>
          </a:p>
        </p:txBody>
      </p:sp>
      <p:sp>
        <p:nvSpPr>
          <p:cNvPr id="413701" name="Text Box 5"/>
          <p:cNvSpPr txBox="1"/>
          <p:nvPr/>
        </p:nvSpPr>
        <p:spPr>
          <a:xfrm>
            <a:off x="304800" y="1495425"/>
            <a:ext cx="8458200" cy="50577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en-US" altLang="zh-CN" sz="2600" b="1" dirty="0">
                <a:solidFill>
                  <a:schemeClr val="folHlink"/>
                </a:solidFill>
                <a:latin typeface="Times New Roman" panose="02020603050405020304" pitchFamily="18" charset="0"/>
              </a:rPr>
              <a:t>(1) </a:t>
            </a:r>
            <a:r>
              <a:rPr lang="zh-CN" altLang="en-US" sz="2600" b="1" dirty="0">
                <a:solidFill>
                  <a:schemeClr val="folHlink"/>
                </a:solidFill>
                <a:latin typeface="Times New Roman" panose="02020603050405020304" pitchFamily="18" charset="0"/>
              </a:rPr>
              <a:t>信箱的创建和撤消。</a:t>
            </a:r>
            <a:r>
              <a:rPr lang="zh-CN" altLang="en-US" sz="2600" b="1" dirty="0">
                <a:latin typeface="Times New Roman" panose="02020603050405020304" pitchFamily="18" charset="0"/>
              </a:rPr>
              <a:t>进程可利用信箱创建原语来建立一个新信箱。创建者进程应给出信箱名字、信箱属性</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公用、私用或共享</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；对于共享信箱， 还应给出共享者的名字。当进程不再需要读信箱时，可用信箱撤消原语将之撤消。</a:t>
            </a:r>
            <a:endParaRPr lang="zh-CN" altLang="en-US" sz="26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en-US" altLang="zh-CN" sz="2600" b="1" dirty="0">
                <a:solidFill>
                  <a:schemeClr val="folHlink"/>
                </a:solidFill>
                <a:latin typeface="Times New Roman" panose="02020603050405020304" pitchFamily="18" charset="0"/>
              </a:rPr>
              <a:t>(2) </a:t>
            </a:r>
            <a:r>
              <a:rPr lang="zh-CN" altLang="en-US" sz="2600" b="1" dirty="0">
                <a:solidFill>
                  <a:schemeClr val="folHlink"/>
                </a:solidFill>
                <a:latin typeface="Times New Roman" panose="02020603050405020304" pitchFamily="18" charset="0"/>
              </a:rPr>
              <a:t>消息的发送和接收。</a:t>
            </a:r>
            <a:r>
              <a:rPr lang="zh-CN" altLang="en-US" sz="2600" b="1" dirty="0">
                <a:latin typeface="Times New Roman" panose="02020603050405020304" pitchFamily="18" charset="0"/>
              </a:rPr>
              <a:t>当进程之间要利用信箱进行通信时，必须使用共享信箱，并利用系统提供的下述通信原语进行通信。</a:t>
            </a:r>
            <a:endParaRPr lang="zh-CN" altLang="en-US" sz="26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en-US" altLang="zh-CN" sz="2600" b="1" dirty="0">
                <a:solidFill>
                  <a:srgbClr val="FF0000"/>
                </a:solidFill>
                <a:latin typeface="Times New Roman" panose="02020603050405020304" pitchFamily="18" charset="0"/>
              </a:rPr>
              <a:t>Send(mailbox, message); </a:t>
            </a:r>
            <a:r>
              <a:rPr lang="zh-CN" altLang="en-US" sz="2600" b="1" dirty="0">
                <a:solidFill>
                  <a:srgbClr val="FF0000"/>
                </a:solidFill>
                <a:latin typeface="Times New Roman" panose="02020603050405020304" pitchFamily="18" charset="0"/>
              </a:rPr>
              <a:t>将一个消息发送到指定信箱；</a:t>
            </a:r>
            <a:endParaRPr lang="zh-CN" altLang="en-US" sz="2600" b="1" dirty="0">
              <a:solidFill>
                <a:srgbClr val="FF0000"/>
              </a:solidFill>
              <a:latin typeface="Times New Roman" panose="02020603050405020304" pitchFamily="18" charset="0"/>
            </a:endParaRPr>
          </a:p>
          <a:p>
            <a:pPr marL="0" lvl="0" indent="0" eaLnBrk="1" hangingPunct="1">
              <a:lnSpc>
                <a:spcPct val="110000"/>
              </a:lnSpc>
              <a:spcBef>
                <a:spcPct val="50000"/>
              </a:spcBef>
              <a:buClrTx/>
              <a:buSzTx/>
              <a:buFontTx/>
              <a:buNone/>
            </a:pPr>
            <a:r>
              <a:rPr lang="en-US" altLang="zh-CN" sz="2600" b="1" dirty="0">
                <a:solidFill>
                  <a:srgbClr val="FF0000"/>
                </a:solidFill>
                <a:latin typeface="Times New Roman" panose="02020603050405020304" pitchFamily="18" charset="0"/>
              </a:rPr>
              <a:t>Receive(mailbox, message); </a:t>
            </a:r>
            <a:r>
              <a:rPr lang="zh-CN" altLang="en-US" sz="2600" b="1" dirty="0">
                <a:solidFill>
                  <a:srgbClr val="FF0000"/>
                </a:solidFill>
                <a:latin typeface="Times New Roman" panose="02020603050405020304" pitchFamily="18" charset="0"/>
              </a:rPr>
              <a:t>从指定信箱中接收一个消息； </a:t>
            </a:r>
            <a:endParaRPr lang="zh-CN" altLang="en-US" sz="2600" b="1"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3701">
                                            <p:txEl>
                                              <p:charRg st="0" end="10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3701">
                                            <p:txEl>
                                              <p:charRg st="106" end="16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3701">
                                            <p:txEl>
                                              <p:charRg st="164" end="20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3701">
                                            <p:txEl>
                                              <p:charRg st="202" end="24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Text Box 2"/>
          <p:cNvSpPr txBox="1"/>
          <p:nvPr/>
        </p:nvSpPr>
        <p:spPr>
          <a:xfrm>
            <a:off x="457200" y="762000"/>
            <a:ext cx="8229600" cy="5486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zh-CN" altLang="en-US" sz="2800" b="1" dirty="0">
                <a:latin typeface="Times New Roman" panose="02020603050405020304" pitchFamily="18" charset="0"/>
              </a:rPr>
              <a:t>        信箱可由操作系统创建，也可由用户进程创建，创建者是信箱的拥有者。据此，可把信箱分为以下三类：</a:t>
            </a:r>
            <a:endParaRPr lang="zh-CN" altLang="en-US" sz="28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solidFill>
                  <a:schemeClr val="folHlink"/>
                </a:solidFill>
                <a:latin typeface="Times New Roman" panose="02020603050405020304" pitchFamily="18" charset="0"/>
              </a:rPr>
              <a:t>        </a:t>
            </a:r>
            <a:r>
              <a:rPr lang="en-US" altLang="zh-CN" sz="3600" b="1" dirty="0">
                <a:solidFill>
                  <a:schemeClr val="folHlink"/>
                </a:solidFill>
                <a:latin typeface="Times New Roman" panose="02020603050405020304" pitchFamily="18" charset="0"/>
              </a:rPr>
              <a:t>1) </a:t>
            </a:r>
            <a:r>
              <a:rPr lang="zh-CN" altLang="en-US" sz="3600" b="1" dirty="0">
                <a:solidFill>
                  <a:schemeClr val="folHlink"/>
                </a:solidFill>
                <a:latin typeface="Times New Roman" panose="02020603050405020304" pitchFamily="18" charset="0"/>
              </a:rPr>
              <a:t>私用信箱</a:t>
            </a:r>
            <a:endParaRPr lang="zh-CN" altLang="en-US" sz="3600" b="1" dirty="0">
              <a:solidFill>
                <a:schemeClr val="folHlink"/>
              </a:solidFill>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latin typeface="Times New Roman" panose="02020603050405020304" pitchFamily="18" charset="0"/>
              </a:rPr>
              <a:t>        用户进程可为自己建立一个新信箱，并作为该进程的一部分。</a:t>
            </a:r>
            <a:r>
              <a:rPr lang="zh-CN" altLang="en-US" sz="2800" b="1" i="1" u="sng" dirty="0">
                <a:solidFill>
                  <a:schemeClr val="folHlink"/>
                </a:solidFill>
                <a:latin typeface="Times New Roman" panose="02020603050405020304" pitchFamily="18" charset="0"/>
              </a:rPr>
              <a:t>信箱的拥有者有权从信箱中读取消息，其他用户则只能将自己构成的消息发送到该信箱中。</a:t>
            </a:r>
            <a:r>
              <a:rPr lang="zh-CN" altLang="en-US" sz="2800" b="1" dirty="0">
                <a:latin typeface="Times New Roman" panose="02020603050405020304" pitchFamily="18" charset="0"/>
              </a:rPr>
              <a:t>这种私用信箱可采用</a:t>
            </a:r>
            <a:r>
              <a:rPr lang="zh-CN" altLang="en-US" sz="2800" b="1" dirty="0">
                <a:solidFill>
                  <a:schemeClr val="folHlink"/>
                </a:solidFill>
                <a:latin typeface="Times New Roman" panose="02020603050405020304" pitchFamily="18" charset="0"/>
              </a:rPr>
              <a:t>单向通信链路</a:t>
            </a:r>
            <a:r>
              <a:rPr lang="zh-CN" altLang="en-US" sz="2800" b="1" dirty="0">
                <a:latin typeface="Times New Roman" panose="02020603050405020304" pitchFamily="18" charset="0"/>
              </a:rPr>
              <a:t>的信箱来实现。 当拥有该信箱的进程结束时，信箱也随之消失。 </a:t>
            </a:r>
            <a:endParaRPr lang="zh-CN" altLang="en-US" sz="2800" b="1" dirty="0">
              <a:latin typeface="Times New Roman" panose="02020603050405020304" pitchFamily="18" charset="0"/>
            </a:endParaRP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5746" name="Text Box 2"/>
          <p:cNvSpPr txBox="1"/>
          <p:nvPr/>
        </p:nvSpPr>
        <p:spPr>
          <a:xfrm>
            <a:off x="457200" y="457200"/>
            <a:ext cx="8077200" cy="59039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zh-CN" altLang="en-US" sz="2800" b="1" dirty="0">
                <a:solidFill>
                  <a:schemeClr val="folHlink"/>
                </a:solidFill>
                <a:latin typeface="Times New Roman" panose="02020603050405020304" pitchFamily="18" charset="0"/>
              </a:rPr>
              <a:t>        </a:t>
            </a:r>
            <a:r>
              <a:rPr lang="en-US" altLang="zh-CN" sz="2800" b="1" dirty="0">
                <a:solidFill>
                  <a:schemeClr val="folHlink"/>
                </a:solidFill>
                <a:latin typeface="Times New Roman" panose="02020603050405020304" pitchFamily="18" charset="0"/>
              </a:rPr>
              <a:t>2) </a:t>
            </a:r>
            <a:r>
              <a:rPr lang="zh-CN" altLang="en-US" sz="2800" b="1" dirty="0">
                <a:solidFill>
                  <a:schemeClr val="folHlink"/>
                </a:solidFill>
                <a:latin typeface="Times New Roman" panose="02020603050405020304" pitchFamily="18" charset="0"/>
              </a:rPr>
              <a:t>公用信箱</a:t>
            </a:r>
            <a:endParaRPr lang="zh-CN" altLang="en-US" sz="28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latin typeface="Times New Roman" panose="02020603050405020304" pitchFamily="18" charset="0"/>
              </a:rPr>
              <a:t>        它由操作系统创建，并提供给系统中的所有核准进程使用。</a:t>
            </a:r>
            <a:r>
              <a:rPr lang="zh-CN" altLang="en-US" sz="2800" b="1" i="1" u="sng" dirty="0">
                <a:solidFill>
                  <a:schemeClr val="folHlink"/>
                </a:solidFill>
                <a:latin typeface="Times New Roman" panose="02020603050405020304" pitchFamily="18" charset="0"/>
              </a:rPr>
              <a:t>进程既可把消息发送到该信箱中，也可从信箱中读取发送给自己的消息</a:t>
            </a:r>
            <a:r>
              <a:rPr lang="zh-CN" altLang="en-US" sz="2800" b="1" dirty="0">
                <a:latin typeface="Times New Roman" panose="02020603050405020304" pitchFamily="18" charset="0"/>
              </a:rPr>
              <a:t>。显然，公用信箱应采用</a:t>
            </a:r>
            <a:r>
              <a:rPr lang="zh-CN" altLang="en-US" sz="2800" b="1" dirty="0">
                <a:solidFill>
                  <a:schemeClr val="folHlink"/>
                </a:solidFill>
                <a:latin typeface="Times New Roman" panose="02020603050405020304" pitchFamily="18" charset="0"/>
              </a:rPr>
              <a:t>双向通信链路</a:t>
            </a:r>
            <a:r>
              <a:rPr lang="zh-CN" altLang="en-US" sz="2800" b="1" dirty="0">
                <a:latin typeface="Times New Roman" panose="02020603050405020304" pitchFamily="18" charset="0"/>
              </a:rPr>
              <a:t>的信箱来实现。通常，公用信箱在系统运行期间始终存在。</a:t>
            </a:r>
            <a:endParaRPr lang="zh-CN" altLang="en-US" sz="28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solidFill>
                  <a:schemeClr val="folHlink"/>
                </a:solidFill>
                <a:latin typeface="Times New Roman" panose="02020603050405020304" pitchFamily="18" charset="0"/>
              </a:rPr>
              <a:t>        </a:t>
            </a:r>
            <a:r>
              <a:rPr lang="en-US" altLang="zh-CN" sz="2800" b="1" dirty="0">
                <a:solidFill>
                  <a:schemeClr val="folHlink"/>
                </a:solidFill>
                <a:latin typeface="Times New Roman" panose="02020603050405020304" pitchFamily="18" charset="0"/>
              </a:rPr>
              <a:t>3) </a:t>
            </a:r>
            <a:r>
              <a:rPr lang="zh-CN" altLang="en-US" sz="2800" b="1" dirty="0">
                <a:solidFill>
                  <a:schemeClr val="folHlink"/>
                </a:solidFill>
                <a:latin typeface="Times New Roman" panose="02020603050405020304" pitchFamily="18" charset="0"/>
              </a:rPr>
              <a:t>共享信箱</a:t>
            </a:r>
            <a:endParaRPr lang="zh-CN" altLang="en-US" sz="2800" b="1" dirty="0">
              <a:solidFill>
                <a:schemeClr val="folHlink"/>
              </a:solidFill>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latin typeface="Times New Roman" panose="02020603050405020304" pitchFamily="18" charset="0"/>
              </a:rPr>
              <a:t>       它由某进程创建，在创建时或创建后，指明它是可共享的，同时须指出共享进程</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用户</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的名字。</a:t>
            </a:r>
            <a:r>
              <a:rPr lang="zh-CN" altLang="en-US" sz="2800" b="1" i="1" u="sng" dirty="0">
                <a:solidFill>
                  <a:schemeClr val="folHlink"/>
                </a:solidFill>
                <a:latin typeface="Times New Roman" panose="02020603050405020304" pitchFamily="18" charset="0"/>
              </a:rPr>
              <a:t>信箱的拥有者和共享者，都有权从信箱中取走发送给自己的消息</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746">
                                            <p:txEl>
                                              <p:charRg st="0" end="1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5746">
                                            <p:txEl>
                                              <p:charRg st="16" end="12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5746">
                                            <p:txEl>
                                              <p:charRg st="125" end="14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5746">
                                            <p:txEl>
                                              <p:charRg st="141" end="2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Text Box 2"/>
          <p:cNvSpPr txBox="1"/>
          <p:nvPr/>
        </p:nvSpPr>
        <p:spPr>
          <a:xfrm>
            <a:off x="228600" y="490538"/>
            <a:ext cx="8534400" cy="60690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r>
              <a:rPr lang="zh-CN" altLang="en-US" sz="2800" b="1" dirty="0">
                <a:latin typeface="Times New Roman" panose="02020603050405020304" pitchFamily="18" charset="0"/>
              </a:rPr>
              <a:t>       在利用信箱通信时，在发送进程和接收进程之间，存在以下四种关系：</a:t>
            </a:r>
            <a:endParaRPr lang="zh-CN" altLang="en-US" sz="2800" b="1" dirty="0">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800" b="1" dirty="0">
                <a:solidFill>
                  <a:schemeClr val="folHlink"/>
                </a:solidFill>
                <a:latin typeface="Times New Roman" panose="02020603050405020304" pitchFamily="18" charset="0"/>
              </a:rPr>
              <a:t>       </a:t>
            </a:r>
            <a:r>
              <a:rPr lang="en-US" altLang="zh-CN" sz="2600" b="1" dirty="0">
                <a:solidFill>
                  <a:schemeClr val="folHlink"/>
                </a:solidFill>
                <a:latin typeface="Times New Roman" panose="02020603050405020304" pitchFamily="18" charset="0"/>
              </a:rPr>
              <a:t>(1) </a:t>
            </a:r>
            <a:r>
              <a:rPr lang="zh-CN" altLang="en-US" sz="2600" b="1" dirty="0">
                <a:solidFill>
                  <a:schemeClr val="folHlink"/>
                </a:solidFill>
                <a:latin typeface="Times New Roman" panose="02020603050405020304" pitchFamily="18" charset="0"/>
              </a:rPr>
              <a:t>一对一关系。</a:t>
            </a:r>
            <a:r>
              <a:rPr lang="zh-CN" altLang="en-US" sz="2600" b="1" dirty="0">
                <a:latin typeface="Times New Roman" panose="02020603050405020304" pitchFamily="18" charset="0"/>
              </a:rPr>
              <a:t>这时可为发送进程和接收进程建立一条</a:t>
            </a:r>
            <a:r>
              <a:rPr lang="zh-CN" altLang="en-US" sz="2600" b="1" i="1" dirty="0">
                <a:solidFill>
                  <a:schemeClr val="folHlink"/>
                </a:solidFill>
                <a:latin typeface="Times New Roman" panose="02020603050405020304" pitchFamily="18" charset="0"/>
              </a:rPr>
              <a:t>两者专用的通信链路</a:t>
            </a:r>
            <a:r>
              <a:rPr lang="zh-CN" altLang="en-US" sz="2600" b="1" dirty="0">
                <a:latin typeface="Times New Roman" panose="02020603050405020304" pitchFamily="18" charset="0"/>
              </a:rPr>
              <a:t>，使两者之间的交互不受其他进程的干扰。</a:t>
            </a:r>
            <a:endParaRPr lang="zh-CN" altLang="en-US" sz="2600" b="1" dirty="0">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600" b="1" dirty="0">
                <a:solidFill>
                  <a:schemeClr val="folHlink"/>
                </a:solidFill>
                <a:latin typeface="Times New Roman" panose="02020603050405020304" pitchFamily="18" charset="0"/>
              </a:rPr>
              <a:t>       </a:t>
            </a:r>
            <a:r>
              <a:rPr lang="en-US" altLang="zh-CN" sz="2600" b="1" dirty="0">
                <a:solidFill>
                  <a:schemeClr val="folHlink"/>
                </a:solidFill>
                <a:latin typeface="Times New Roman" panose="02020603050405020304" pitchFamily="18" charset="0"/>
              </a:rPr>
              <a:t>(2) </a:t>
            </a:r>
            <a:r>
              <a:rPr lang="zh-CN" altLang="en-US" sz="2600" b="1" dirty="0">
                <a:solidFill>
                  <a:schemeClr val="folHlink"/>
                </a:solidFill>
                <a:latin typeface="Times New Roman" panose="02020603050405020304" pitchFamily="18" charset="0"/>
              </a:rPr>
              <a:t>多对一关系。</a:t>
            </a:r>
            <a:r>
              <a:rPr lang="zh-CN" altLang="en-US" sz="2600" b="1" dirty="0">
                <a:latin typeface="Times New Roman" panose="02020603050405020304" pitchFamily="18" charset="0"/>
              </a:rPr>
              <a:t>允许</a:t>
            </a:r>
            <a:r>
              <a:rPr lang="zh-CN" altLang="en-US" sz="2600" b="1" i="1" dirty="0">
                <a:solidFill>
                  <a:schemeClr val="folHlink"/>
                </a:solidFill>
                <a:latin typeface="Times New Roman" panose="02020603050405020304" pitchFamily="18" charset="0"/>
              </a:rPr>
              <a:t>提供服务的进程与多个用户进程之间进行交互</a:t>
            </a:r>
            <a:r>
              <a:rPr lang="zh-CN" altLang="en-US" sz="2600" b="1" dirty="0">
                <a:latin typeface="Times New Roman" panose="02020603050405020304" pitchFamily="18" charset="0"/>
              </a:rPr>
              <a:t>，也称为客户</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服务器交互</a:t>
            </a:r>
            <a:r>
              <a:rPr lang="en-US" altLang="zh-CN" sz="2600" b="1" dirty="0">
                <a:latin typeface="Times New Roman" panose="02020603050405020304" pitchFamily="18" charset="0"/>
              </a:rPr>
              <a:t>(client/server interaction)</a:t>
            </a:r>
            <a:r>
              <a:rPr lang="zh-CN" altLang="en-US" sz="2600" b="1" dirty="0">
                <a:latin typeface="Times New Roman" panose="02020603050405020304" pitchFamily="18" charset="0"/>
              </a:rPr>
              <a:t>。</a:t>
            </a:r>
            <a:endParaRPr lang="zh-CN" altLang="en-US" sz="2600" b="1" dirty="0">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600" b="1" dirty="0">
                <a:latin typeface="Times New Roman" panose="02020603050405020304" pitchFamily="18" charset="0"/>
              </a:rPr>
              <a:t>        </a:t>
            </a:r>
            <a:r>
              <a:rPr lang="en-US" altLang="zh-CN" sz="2600" b="1" dirty="0">
                <a:solidFill>
                  <a:schemeClr val="folHlink"/>
                </a:solidFill>
                <a:latin typeface="Times New Roman" panose="02020603050405020304" pitchFamily="18" charset="0"/>
              </a:rPr>
              <a:t>(3) </a:t>
            </a:r>
            <a:r>
              <a:rPr lang="zh-CN" altLang="en-US" sz="2600" b="1" dirty="0">
                <a:solidFill>
                  <a:schemeClr val="folHlink"/>
                </a:solidFill>
                <a:latin typeface="Times New Roman" panose="02020603050405020304" pitchFamily="18" charset="0"/>
              </a:rPr>
              <a:t>一对多关系。</a:t>
            </a:r>
            <a:r>
              <a:rPr lang="zh-CN" altLang="en-US" sz="2600" b="1" dirty="0">
                <a:latin typeface="Times New Roman" panose="02020603050405020304" pitchFamily="18" charset="0"/>
              </a:rPr>
              <a:t>允许</a:t>
            </a:r>
            <a:r>
              <a:rPr lang="zh-CN" altLang="en-US" sz="2600" b="1" i="1" dirty="0">
                <a:solidFill>
                  <a:schemeClr val="folHlink"/>
                </a:solidFill>
                <a:latin typeface="Times New Roman" panose="02020603050405020304" pitchFamily="18" charset="0"/>
              </a:rPr>
              <a:t>一个发送进程与多个接收进程进行交互</a:t>
            </a:r>
            <a:r>
              <a:rPr lang="zh-CN" altLang="en-US" sz="2600" b="1" dirty="0">
                <a:latin typeface="Times New Roman" panose="02020603050405020304" pitchFamily="18" charset="0"/>
              </a:rPr>
              <a:t>，使发送进程可用广播方式，向接收者</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多个</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发送消息。</a:t>
            </a:r>
            <a:endParaRPr lang="zh-CN" altLang="en-US" sz="2600" b="1" dirty="0">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600" b="1" dirty="0">
                <a:latin typeface="Times New Roman" panose="02020603050405020304" pitchFamily="18" charset="0"/>
              </a:rPr>
              <a:t>        </a:t>
            </a:r>
            <a:r>
              <a:rPr lang="en-US" altLang="zh-CN" sz="2600" b="1" dirty="0">
                <a:solidFill>
                  <a:schemeClr val="folHlink"/>
                </a:solidFill>
                <a:latin typeface="Times New Roman" panose="02020603050405020304" pitchFamily="18" charset="0"/>
              </a:rPr>
              <a:t>(4) </a:t>
            </a:r>
            <a:r>
              <a:rPr lang="zh-CN" altLang="en-US" sz="2600" b="1" dirty="0">
                <a:solidFill>
                  <a:schemeClr val="folHlink"/>
                </a:solidFill>
                <a:latin typeface="Times New Roman" panose="02020603050405020304" pitchFamily="18" charset="0"/>
              </a:rPr>
              <a:t>多对多关系。</a:t>
            </a:r>
            <a:r>
              <a:rPr lang="zh-CN" altLang="en-US" sz="2600" b="1" dirty="0">
                <a:latin typeface="Times New Roman" panose="02020603050405020304" pitchFamily="18" charset="0"/>
              </a:rPr>
              <a:t>允许</a:t>
            </a:r>
            <a:r>
              <a:rPr lang="zh-CN" altLang="en-US" sz="2600" b="1" i="1" dirty="0">
                <a:solidFill>
                  <a:schemeClr val="folHlink"/>
                </a:solidFill>
                <a:latin typeface="Times New Roman" panose="02020603050405020304" pitchFamily="18" charset="0"/>
              </a:rPr>
              <a:t>建立一个公用信箱</a:t>
            </a:r>
            <a:r>
              <a:rPr lang="zh-CN" altLang="en-US" sz="2600" b="1" dirty="0">
                <a:latin typeface="Times New Roman" panose="02020603050405020304" pitchFamily="18" charset="0"/>
              </a:rPr>
              <a:t>，让多个进程都能向信箱中投递消息；也可从信箱中取走属于自己的消息。 </a:t>
            </a:r>
            <a:endParaRPr lang="zh-CN" altLang="en-US" sz="2600" b="1" dirty="0">
              <a:latin typeface="Times New Roman" panose="02020603050405020304" pitchFamily="18" charset="0"/>
            </a:endParaRPr>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Text Box 2"/>
          <p:cNvSpPr txBox="1"/>
          <p:nvPr/>
        </p:nvSpPr>
        <p:spPr>
          <a:xfrm>
            <a:off x="838200" y="762000"/>
            <a:ext cx="6484938" cy="708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4000" b="1" dirty="0">
                <a:solidFill>
                  <a:schemeClr val="folHlink"/>
                </a:solidFill>
                <a:latin typeface="Times New Roman" panose="02020603050405020304" pitchFamily="18" charset="0"/>
              </a:rPr>
              <a:t>2.6.3 </a:t>
            </a:r>
            <a:r>
              <a:rPr lang="zh-CN" altLang="en-US" sz="4000" b="1" dirty="0">
                <a:solidFill>
                  <a:schemeClr val="folHlink"/>
                </a:solidFill>
                <a:latin typeface="Times New Roman" panose="02020603050405020304" pitchFamily="18" charset="0"/>
              </a:rPr>
              <a:t>直接消息传递系统实例</a:t>
            </a:r>
            <a:endParaRPr lang="zh-CN" altLang="en-US" sz="4000" b="1" dirty="0">
              <a:solidFill>
                <a:schemeClr val="folHlink"/>
              </a:solidFill>
              <a:latin typeface="Times New Roman" panose="02020603050405020304" pitchFamily="18" charset="0"/>
            </a:endParaRPr>
          </a:p>
        </p:txBody>
      </p:sp>
      <p:sp>
        <p:nvSpPr>
          <p:cNvPr id="167939" name="Text Box 3"/>
          <p:cNvSpPr txBox="1"/>
          <p:nvPr/>
        </p:nvSpPr>
        <p:spPr>
          <a:xfrm>
            <a:off x="609600" y="1744663"/>
            <a:ext cx="807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endParaRPr lang="en-US" altLang="zh-CN" sz="2400" b="1" dirty="0">
              <a:solidFill>
                <a:schemeClr val="folHlink"/>
              </a:solidFill>
              <a:latin typeface="Times New Roman" panose="02020603050405020304" pitchFamily="18" charset="0"/>
            </a:endParaRPr>
          </a:p>
        </p:txBody>
      </p:sp>
      <p:sp>
        <p:nvSpPr>
          <p:cNvPr id="291845" name="Text Box 5"/>
          <p:cNvSpPr txBox="1">
            <a:spLocks noChangeArrowheads="1"/>
          </p:cNvSpPr>
          <p:nvPr/>
        </p:nvSpPr>
        <p:spPr bwMode="auto">
          <a:xfrm>
            <a:off x="381000" y="1905000"/>
            <a:ext cx="8458200" cy="2530475"/>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消息缓冲队列通信机制：</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 typeface="Wingdings" panose="05000000000000000000" pitchFamily="2" charset="2"/>
              <a:buChar char="Ø"/>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发送进程利用</a:t>
            </a:r>
            <a:r>
              <a:rPr kumimoji="0" lang="en-US" altLang="zh-CN" sz="3200" b="1" kern="1200" cap="none" spc="0" normalizeH="0" baseline="0" noProof="0">
                <a:latin typeface="Arial" panose="020B0604020202020204" pitchFamily="34" charset="0"/>
                <a:ea typeface="宋体" panose="02010600030101010101" pitchFamily="2" charset="-122"/>
                <a:cs typeface="+mn-cs"/>
              </a:rPr>
              <a:t>send</a:t>
            </a:r>
            <a:r>
              <a:rPr kumimoji="0" lang="zh-CN" altLang="en-US" sz="3200" b="1" kern="1200" cap="none" spc="0" normalizeH="0" baseline="0" noProof="0">
                <a:latin typeface="Arial" panose="020B0604020202020204" pitchFamily="34" charset="0"/>
                <a:ea typeface="宋体" panose="02010600030101010101" pitchFamily="2" charset="-122"/>
                <a:cs typeface="+mn-cs"/>
              </a:rPr>
              <a:t>原语将消息直接发送给接收进程；</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 typeface="Wingdings" panose="05000000000000000000" pitchFamily="2" charset="2"/>
              <a:buChar char="Ø"/>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接收进程则利用</a:t>
            </a:r>
            <a:r>
              <a:rPr kumimoji="0" lang="en-US" altLang="zh-CN" sz="3200" b="1" kern="1200" cap="none" spc="0" normalizeH="0" baseline="0" noProof="0">
                <a:latin typeface="Arial" panose="020B0604020202020204" pitchFamily="34" charset="0"/>
                <a:ea typeface="宋体" panose="02010600030101010101" pitchFamily="2" charset="-122"/>
                <a:cs typeface="+mn-cs"/>
              </a:rPr>
              <a:t>receive</a:t>
            </a:r>
            <a:r>
              <a:rPr kumimoji="0" lang="zh-CN" altLang="en-US" sz="3200" b="1" kern="1200" cap="none" spc="0" normalizeH="0" baseline="0" noProof="0">
                <a:latin typeface="Arial" panose="020B0604020202020204" pitchFamily="34" charset="0"/>
                <a:ea typeface="宋体" panose="02010600030101010101" pitchFamily="2" charset="-122"/>
                <a:cs typeface="+mn-cs"/>
              </a:rPr>
              <a:t>原语接收消息。</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3"/>
          <p:cNvSpPr>
            <a:spLocks noGrp="1" noRot="1"/>
          </p:cNvSpPr>
          <p:nvPr>
            <p:ph idx="1"/>
          </p:nvPr>
        </p:nvSpPr>
        <p:spPr>
          <a:xfrm>
            <a:off x="301625" y="1676400"/>
            <a:ext cx="8540750" cy="4498975"/>
          </a:xfrm>
          <a:ln/>
        </p:spPr>
        <p:txBody>
          <a:bodyPr vert="horz" wrap="square" lIns="91440" tIns="45720" rIns="91440" bIns="45720" anchor="t" anchorCtr="0"/>
          <a:p>
            <a:pPr>
              <a:lnSpc>
                <a:spcPct val="80000"/>
              </a:lnSpc>
            </a:pPr>
            <a:r>
              <a:rPr lang="en-US" altLang="zh-CN" sz="2800" b="1" dirty="0"/>
              <a:t>       (1) </a:t>
            </a:r>
            <a:r>
              <a:rPr lang="zh-CN" altLang="en-US" sz="2800" b="1" dirty="0"/>
              <a:t>消息缓冲区。在消息缓冲队列通信方式中，主要利用的数据结构是消息缓冲区。它可描述如下：</a:t>
            </a:r>
            <a:endParaRPr lang="zh-CN" altLang="en-US" sz="2800" b="1" dirty="0"/>
          </a:p>
          <a:p>
            <a:pPr>
              <a:lnSpc>
                <a:spcPct val="80000"/>
              </a:lnSpc>
            </a:pPr>
            <a:r>
              <a:rPr lang="en-US" altLang="zh-CN" sz="2800" b="1" dirty="0">
                <a:solidFill>
                  <a:schemeClr val="folHlink"/>
                </a:solidFill>
              </a:rPr>
              <a:t>Typedef struct message_buffer{</a:t>
            </a:r>
            <a:endParaRPr lang="en-US" altLang="zh-CN" sz="2800" b="1" dirty="0">
              <a:solidFill>
                <a:schemeClr val="folHlink"/>
              </a:solidFill>
            </a:endParaRPr>
          </a:p>
          <a:p>
            <a:pPr>
              <a:lnSpc>
                <a:spcPct val="80000"/>
              </a:lnSpc>
            </a:pPr>
            <a:r>
              <a:rPr lang="en-US" altLang="zh-CN" sz="2800" b="1" dirty="0">
                <a:solidFill>
                  <a:schemeClr val="folHlink"/>
                </a:solidFill>
              </a:rPr>
              <a:t>         sender; </a:t>
            </a:r>
            <a:r>
              <a:rPr lang="zh-CN" altLang="en-US" sz="2800" b="1" dirty="0">
                <a:solidFill>
                  <a:schemeClr val="folHlink"/>
                </a:solidFill>
              </a:rPr>
              <a:t>发送者进程标识符</a:t>
            </a:r>
            <a:endParaRPr lang="zh-CN" altLang="en-US" sz="2800" b="1" dirty="0">
              <a:solidFill>
                <a:schemeClr val="folHlink"/>
              </a:solidFill>
            </a:endParaRPr>
          </a:p>
          <a:p>
            <a:pPr>
              <a:lnSpc>
                <a:spcPct val="80000"/>
              </a:lnSpc>
            </a:pPr>
            <a:r>
              <a:rPr lang="zh-CN" altLang="en-US" sz="2800" b="1" dirty="0">
                <a:solidFill>
                  <a:schemeClr val="folHlink"/>
                </a:solidFill>
              </a:rPr>
              <a:t>	   </a:t>
            </a:r>
            <a:r>
              <a:rPr lang="en-US" altLang="zh-CN" sz="2800" b="1" dirty="0">
                <a:solidFill>
                  <a:schemeClr val="folHlink"/>
                </a:solidFill>
              </a:rPr>
              <a:t>size; </a:t>
            </a:r>
            <a:r>
              <a:rPr lang="zh-CN" altLang="en-US" sz="2800" b="1" dirty="0">
                <a:solidFill>
                  <a:schemeClr val="folHlink"/>
                </a:solidFill>
              </a:rPr>
              <a:t>消息长度</a:t>
            </a:r>
            <a:endParaRPr lang="zh-CN" altLang="en-US" sz="2800" b="1" dirty="0">
              <a:solidFill>
                <a:schemeClr val="folHlink"/>
              </a:solidFill>
            </a:endParaRPr>
          </a:p>
          <a:p>
            <a:pPr>
              <a:lnSpc>
                <a:spcPct val="80000"/>
              </a:lnSpc>
            </a:pPr>
            <a:r>
              <a:rPr lang="zh-CN" altLang="en-US" sz="2800" b="1" dirty="0">
                <a:solidFill>
                  <a:schemeClr val="folHlink"/>
                </a:solidFill>
              </a:rPr>
              <a:t>         </a:t>
            </a:r>
            <a:r>
              <a:rPr lang="en-US" altLang="zh-CN" sz="2800" b="1" dirty="0">
                <a:solidFill>
                  <a:schemeClr val="folHlink"/>
                </a:solidFill>
              </a:rPr>
              <a:t>text; </a:t>
            </a:r>
            <a:r>
              <a:rPr lang="zh-CN" altLang="en-US" sz="2800" b="1" dirty="0">
                <a:solidFill>
                  <a:schemeClr val="folHlink"/>
                </a:solidFill>
              </a:rPr>
              <a:t>消息正文</a:t>
            </a:r>
            <a:endParaRPr lang="zh-CN" altLang="en-US" sz="2800" b="1" dirty="0">
              <a:solidFill>
                <a:schemeClr val="folHlink"/>
              </a:solidFill>
            </a:endParaRPr>
          </a:p>
          <a:p>
            <a:pPr>
              <a:lnSpc>
                <a:spcPct val="80000"/>
              </a:lnSpc>
            </a:pPr>
            <a:r>
              <a:rPr lang="zh-CN" altLang="en-US" sz="2800" b="1" dirty="0">
                <a:solidFill>
                  <a:schemeClr val="folHlink"/>
                </a:solidFill>
              </a:rPr>
              <a:t>         </a:t>
            </a:r>
            <a:r>
              <a:rPr lang="en-US" altLang="zh-CN" sz="2800" b="1" dirty="0">
                <a:solidFill>
                  <a:schemeClr val="folHlink"/>
                </a:solidFill>
              </a:rPr>
              <a:t> struct message_buffer *next; </a:t>
            </a:r>
            <a:r>
              <a:rPr lang="zh-CN" altLang="en-US" sz="2800" b="1" dirty="0">
                <a:solidFill>
                  <a:schemeClr val="folHlink"/>
                </a:solidFill>
              </a:rPr>
              <a:t>指向下一个消息缓冲区的指针</a:t>
            </a:r>
            <a:endParaRPr lang="zh-CN" altLang="en-US" sz="2800" b="1" dirty="0">
              <a:solidFill>
                <a:schemeClr val="folHlink"/>
              </a:solidFill>
            </a:endParaRPr>
          </a:p>
          <a:p>
            <a:pPr>
              <a:lnSpc>
                <a:spcPct val="80000"/>
              </a:lnSpc>
            </a:pPr>
            <a:r>
              <a:rPr lang="en-US" altLang="zh-CN" sz="2800" b="1" dirty="0">
                <a:solidFill>
                  <a:schemeClr val="folHlink"/>
                </a:solidFill>
              </a:rPr>
              <a:t>}</a:t>
            </a:r>
            <a:endParaRPr lang="en-US" altLang="zh-CN" sz="2800" b="1" dirty="0">
              <a:solidFill>
                <a:schemeClr val="folHlink"/>
              </a:solidFill>
            </a:endParaRPr>
          </a:p>
          <a:p>
            <a:pPr>
              <a:lnSpc>
                <a:spcPct val="80000"/>
              </a:lnSpc>
            </a:pPr>
            <a:endParaRPr lang="zh-CN" altLang="en-US" sz="2800" dirty="0"/>
          </a:p>
        </p:txBody>
      </p:sp>
      <p:sp>
        <p:nvSpPr>
          <p:cNvPr id="168963" name="标题 1"/>
          <p:cNvSpPr>
            <a:spLocks noGrp="1"/>
          </p:cNvSpPr>
          <p:nvPr>
            <p:ph type="title"/>
          </p:nvPr>
        </p:nvSpPr>
        <p:spPr>
          <a:ln/>
        </p:spPr>
        <p:txBody>
          <a:bodyPr vert="horz" wrap="square" lIns="91440" tIns="45720" rIns="91440" bIns="45720" anchor="ctr" anchorCtr="0"/>
          <a:p>
            <a:r>
              <a:rPr lang="zh-CN" altLang="en-US" sz="3600" dirty="0"/>
              <a:t> </a:t>
            </a:r>
            <a:r>
              <a:rPr lang="en-US" altLang="zh-CN" sz="3600" b="1" dirty="0">
                <a:solidFill>
                  <a:schemeClr val="folHlink"/>
                </a:solidFill>
              </a:rPr>
              <a:t>1. </a:t>
            </a:r>
            <a:r>
              <a:rPr lang="zh-CN" altLang="en-US" sz="3600" b="1" dirty="0">
                <a:solidFill>
                  <a:schemeClr val="folHlink"/>
                </a:solidFill>
              </a:rPr>
              <a:t>消息缓冲队列通信机制中的数据结构</a:t>
            </a:r>
            <a:endParaRPr lang="zh-CN" altLang="en-US" sz="36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Text Box 2"/>
          <p:cNvSpPr txBox="1"/>
          <p:nvPr/>
        </p:nvSpPr>
        <p:spPr>
          <a:xfrm>
            <a:off x="609600" y="914400"/>
            <a:ext cx="7924800" cy="5441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zh-CN" altLang="en-US" sz="3600" b="1" dirty="0">
                <a:solidFill>
                  <a:srgbClr val="C00000"/>
                </a:solidFill>
                <a:latin typeface="Times New Roman" panose="02020603050405020304" pitchFamily="18" charset="0"/>
              </a:rPr>
              <a:t>        </a:t>
            </a:r>
            <a:r>
              <a:rPr lang="en-US" altLang="zh-CN" sz="3600" b="1" dirty="0">
                <a:solidFill>
                  <a:srgbClr val="C00000"/>
                </a:solidFill>
                <a:latin typeface="Times New Roman" panose="02020603050405020304" pitchFamily="18" charset="0"/>
              </a:rPr>
              <a:t>(2) PCB</a:t>
            </a:r>
            <a:r>
              <a:rPr lang="zh-CN" altLang="en-US" sz="3600" b="1" dirty="0">
                <a:solidFill>
                  <a:srgbClr val="C00000"/>
                </a:solidFill>
                <a:latin typeface="Times New Roman" panose="02020603050405020304" pitchFamily="18" charset="0"/>
              </a:rPr>
              <a:t>中有关通信的数据项。</a:t>
            </a:r>
            <a:endParaRPr lang="zh-CN" altLang="en-US" sz="3600" b="1" dirty="0">
              <a:solidFill>
                <a:srgbClr val="C00000"/>
              </a:solidFill>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800" b="1" dirty="0">
                <a:latin typeface="Times New Roman" panose="02020603050405020304" pitchFamily="18" charset="0"/>
              </a:rPr>
              <a:t>在</a:t>
            </a:r>
            <a:r>
              <a:rPr lang="en-US" altLang="zh-CN" sz="2800" b="1" dirty="0">
                <a:latin typeface="Times New Roman" panose="02020603050405020304" pitchFamily="18" charset="0"/>
              </a:rPr>
              <a:t>PCB</a:t>
            </a:r>
            <a:r>
              <a:rPr lang="zh-CN" altLang="en-US" sz="2800" b="1" dirty="0">
                <a:latin typeface="Times New Roman" panose="02020603050405020304" pitchFamily="18" charset="0"/>
              </a:rPr>
              <a:t>中增加用于对消息队列进行操作和实现同步的信号量，并将它们置入进程的</a:t>
            </a:r>
            <a:r>
              <a:rPr lang="en-US" altLang="zh-CN" sz="2800" b="1" dirty="0">
                <a:latin typeface="Times New Roman" panose="02020603050405020304" pitchFamily="18" charset="0"/>
              </a:rPr>
              <a:t>PCB</a:t>
            </a:r>
            <a:r>
              <a:rPr lang="zh-CN" altLang="en-US" sz="2800" b="1" dirty="0">
                <a:latin typeface="Times New Roman" panose="02020603050405020304" pitchFamily="18" charset="0"/>
              </a:rPr>
              <a:t>中。在</a:t>
            </a:r>
            <a:r>
              <a:rPr lang="en-US" altLang="zh-CN" sz="2800" b="1" dirty="0">
                <a:latin typeface="Times New Roman" panose="02020603050405020304" pitchFamily="18" charset="0"/>
              </a:rPr>
              <a:t>PCB</a:t>
            </a:r>
            <a:r>
              <a:rPr lang="zh-CN" altLang="en-US" sz="2800" b="1" dirty="0">
                <a:latin typeface="Times New Roman" panose="02020603050405020304" pitchFamily="18" charset="0"/>
              </a:rPr>
              <a:t>中应增加的数据项可描述如下：                 	</a:t>
            </a:r>
            <a:endParaRPr lang="zh-CN" altLang="en-US" sz="2800" b="1" dirty="0">
              <a:latin typeface="Times New Roman" panose="02020603050405020304" pitchFamily="18" charset="0"/>
            </a:endParaRPr>
          </a:p>
          <a:p>
            <a:pPr marL="0" lvl="0" indent="0" algn="just" eaLnBrk="1" hangingPunct="1">
              <a:lnSpc>
                <a:spcPct val="80000"/>
              </a:lnSpc>
              <a:spcBef>
                <a:spcPct val="50000"/>
              </a:spcBef>
              <a:buClrTx/>
              <a:buSzTx/>
              <a:buFontTx/>
              <a:buNone/>
            </a:pPr>
            <a:r>
              <a:rPr lang="en-US" altLang="zh-CN" sz="2400" b="1" dirty="0">
                <a:solidFill>
                  <a:srgbClr val="FF0000"/>
                </a:solidFill>
                <a:latin typeface="Times New Roman" panose="02020603050405020304" pitchFamily="18" charset="0"/>
              </a:rPr>
              <a:t>typedef struct processcontrol_block {</a:t>
            </a:r>
            <a:endParaRPr lang="en-US" altLang="zh-CN"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en-US" altLang="zh-CN" sz="2400" b="1" dirty="0">
                <a:solidFill>
                  <a:srgbClr val="FF0000"/>
                </a:solidFill>
                <a:latin typeface="Times New Roman" panose="02020603050405020304" pitchFamily="18" charset="0"/>
              </a:rPr>
              <a:t>                      </a:t>
            </a:r>
            <a:r>
              <a:rPr lang="en-US" altLang="zh-CN" sz="2400" b="1" dirty="0">
                <a:solidFill>
                  <a:srgbClr val="FF0000"/>
                </a:solidFill>
                <a:latin typeface="Courier New" panose="02070309020205020404" pitchFamily="49" charset="0"/>
              </a:rPr>
              <a:t>…</a:t>
            </a:r>
            <a:endParaRPr lang="en-US" altLang="zh-CN"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en-US" altLang="zh-CN" sz="2400" b="1" dirty="0">
                <a:solidFill>
                  <a:srgbClr val="FF0000"/>
                </a:solidFill>
                <a:latin typeface="Times New Roman" panose="02020603050405020304" pitchFamily="18" charset="0"/>
              </a:rPr>
              <a:t>                 struct message_buffer *mq; </a:t>
            </a:r>
            <a:r>
              <a:rPr lang="zh-CN" altLang="en-US" sz="2400" b="1" dirty="0">
                <a:solidFill>
                  <a:srgbClr val="FF0000"/>
                </a:solidFill>
                <a:latin typeface="Times New Roman" panose="02020603050405020304" pitchFamily="18" charset="0"/>
              </a:rPr>
              <a:t>消息队列队首指针</a:t>
            </a:r>
            <a:endParaRPr lang="zh-CN" altLang="en-US"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zh-CN" altLang="en-US" sz="2400" b="1" dirty="0">
                <a:solidFill>
                  <a:srgbClr val="FF0000"/>
                </a:solidFill>
                <a:latin typeface="Times New Roman" panose="02020603050405020304" pitchFamily="18" charset="0"/>
              </a:rPr>
              <a:t>                 </a:t>
            </a:r>
            <a:r>
              <a:rPr lang="en-US" altLang="zh-CN" sz="2400" b="1" dirty="0">
                <a:solidFill>
                  <a:srgbClr val="FF0000"/>
                </a:solidFill>
                <a:latin typeface="Times New Roman" panose="02020603050405020304" pitchFamily="18" charset="0"/>
              </a:rPr>
              <a:t>semaphore mutex; </a:t>
            </a:r>
            <a:r>
              <a:rPr lang="zh-CN" altLang="en-US" sz="2400" b="1" dirty="0">
                <a:solidFill>
                  <a:srgbClr val="FF0000"/>
                </a:solidFill>
                <a:latin typeface="Times New Roman" panose="02020603050405020304" pitchFamily="18" charset="0"/>
              </a:rPr>
              <a:t>消息队列互斥信号量</a:t>
            </a:r>
            <a:endParaRPr lang="zh-CN" altLang="en-US"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zh-CN" altLang="en-US" sz="2400" b="1" dirty="0">
                <a:solidFill>
                  <a:srgbClr val="FF0000"/>
                </a:solidFill>
                <a:latin typeface="Times New Roman" panose="02020603050405020304" pitchFamily="18" charset="0"/>
              </a:rPr>
              <a:t>                  </a:t>
            </a:r>
            <a:r>
              <a:rPr lang="en-US" altLang="zh-CN" sz="2400" b="1" dirty="0">
                <a:solidFill>
                  <a:srgbClr val="FF0000"/>
                </a:solidFill>
                <a:latin typeface="Times New Roman" panose="02020603050405020304" pitchFamily="18" charset="0"/>
              </a:rPr>
              <a:t>semaphore sm; </a:t>
            </a:r>
            <a:r>
              <a:rPr lang="zh-CN" altLang="en-US" sz="2400" b="1" dirty="0">
                <a:solidFill>
                  <a:srgbClr val="FF0000"/>
                </a:solidFill>
                <a:latin typeface="Times New Roman" panose="02020603050405020304" pitchFamily="18" charset="0"/>
              </a:rPr>
              <a:t>消息队列资源信号量</a:t>
            </a:r>
            <a:endParaRPr lang="zh-CN" altLang="en-US"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zh-CN" altLang="en-US" sz="2400" b="1" dirty="0">
                <a:solidFill>
                  <a:srgbClr val="FF0000"/>
                </a:solidFill>
                <a:latin typeface="Times New Roman" panose="02020603050405020304" pitchFamily="18" charset="0"/>
              </a:rPr>
              <a:t>                     </a:t>
            </a:r>
            <a:r>
              <a:rPr lang="en-US" altLang="zh-CN" sz="2400" b="1" dirty="0">
                <a:solidFill>
                  <a:srgbClr val="FF0000"/>
                </a:solidFill>
                <a:latin typeface="Courier New" panose="02070309020205020404" pitchFamily="49" charset="0"/>
              </a:rPr>
              <a:t>…</a:t>
            </a:r>
            <a:endParaRPr lang="en-US" altLang="zh-CN" sz="2400" b="1" dirty="0">
              <a:solidFill>
                <a:srgbClr val="FF0000"/>
              </a:solidFill>
              <a:latin typeface="Times New Roman" panose="02020603050405020304" pitchFamily="18" charset="0"/>
            </a:endParaRPr>
          </a:p>
          <a:p>
            <a:pPr marL="0" lvl="0" indent="0" eaLnBrk="1" hangingPunct="1">
              <a:lnSpc>
                <a:spcPct val="80000"/>
              </a:lnSpc>
              <a:spcBef>
                <a:spcPct val="50000"/>
              </a:spcBef>
              <a:buClrTx/>
              <a:buSzTx/>
              <a:buFontTx/>
              <a:buNone/>
            </a:pPr>
            <a:r>
              <a:rPr lang="en-US" altLang="zh-CN" sz="2400" b="1" dirty="0">
                <a:solidFill>
                  <a:srgbClr val="FF0000"/>
                </a:solidFill>
                <a:latin typeface="Times New Roman" panose="02020603050405020304" pitchFamily="18" charset="0"/>
              </a:rPr>
              <a:t>}</a:t>
            </a:r>
            <a:endParaRPr lang="en-US" altLang="zh-CN" sz="2400" b="1" dirty="0">
              <a:solidFill>
                <a:srgbClr val="FF0000"/>
              </a:solidFill>
              <a:latin typeface="Times New Roman" panose="02020603050405020304" pitchFamily="18" charset="0"/>
            </a:endParaRP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5202" name="Text Box 2"/>
          <p:cNvSpPr txBox="1"/>
          <p:nvPr/>
        </p:nvSpPr>
        <p:spPr>
          <a:xfrm>
            <a:off x="457200" y="838200"/>
            <a:ext cx="8305800" cy="5251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en-US" altLang="zh-CN" b="1" dirty="0">
                <a:solidFill>
                  <a:schemeClr val="folHlink"/>
                </a:solidFill>
                <a:latin typeface="Times New Roman" panose="02020603050405020304" pitchFamily="18" charset="0"/>
              </a:rPr>
              <a:t>2. </a:t>
            </a:r>
            <a:r>
              <a:rPr lang="zh-CN" altLang="en-US" b="1" dirty="0">
                <a:solidFill>
                  <a:schemeClr val="folHlink"/>
                </a:solidFill>
                <a:latin typeface="Times New Roman" panose="02020603050405020304" pitchFamily="18" charset="0"/>
              </a:rPr>
              <a:t>发送原语</a:t>
            </a:r>
            <a:endParaRPr lang="zh-CN" altLang="en-US" b="1" dirty="0">
              <a:solidFill>
                <a:schemeClr val="folHlink"/>
              </a:solidFill>
              <a:latin typeface="Times New Roman" panose="02020603050405020304" pitchFamily="18" charset="0"/>
            </a:endParaRPr>
          </a:p>
          <a:p>
            <a:pPr marL="0" lvl="0" indent="0" algn="just" eaLnBrk="1" hangingPunct="1">
              <a:lnSpc>
                <a:spcPct val="110000"/>
              </a:lnSpc>
              <a:spcBef>
                <a:spcPct val="50000"/>
              </a:spcBef>
              <a:buClrTx/>
              <a:buSzTx/>
              <a:buFont typeface="Wingdings" panose="05000000000000000000" pitchFamily="2" charset="2"/>
              <a:buChar char="Ø"/>
            </a:pPr>
            <a:r>
              <a:rPr lang="zh-CN" altLang="en-US" sz="2400" b="1" dirty="0">
                <a:latin typeface="Times New Roman" panose="02020603050405020304" pitchFamily="18" charset="0"/>
              </a:rPr>
              <a:t> 发送进程在利用发送原语发送消息之前，应先在自己的内存空间，设置一发送区</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，把待发送的消息正文、发送进程标识符、消息长度等信息填入其中，然后调用发送原语，把消息发送给目标</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接收</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进程。</a:t>
            </a:r>
            <a:endParaRPr lang="zh-CN" altLang="en-US" sz="2400" b="1" dirty="0">
              <a:latin typeface="Times New Roman" panose="02020603050405020304" pitchFamily="18" charset="0"/>
            </a:endParaRPr>
          </a:p>
          <a:p>
            <a:pPr marL="0" lvl="0" indent="0" algn="just" eaLnBrk="1" hangingPunct="1">
              <a:lnSpc>
                <a:spcPct val="110000"/>
              </a:lnSpc>
              <a:spcBef>
                <a:spcPct val="50000"/>
              </a:spcBef>
              <a:buClrTx/>
              <a:buSzTx/>
              <a:buFont typeface="Wingdings" panose="05000000000000000000" pitchFamily="2" charset="2"/>
              <a:buChar char="Ø"/>
            </a:pPr>
            <a:r>
              <a:rPr lang="zh-CN" altLang="en-US" sz="2400" b="1" dirty="0">
                <a:latin typeface="Times New Roman" panose="02020603050405020304" pitchFamily="18" charset="0"/>
              </a:rPr>
              <a:t> 发送原语首先根据发送区</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中所设置的消息长度</a:t>
            </a:r>
            <a:r>
              <a:rPr lang="en-US" altLang="zh-CN" sz="2400" b="1" dirty="0">
                <a:latin typeface="Times New Roman" panose="02020603050405020304" pitchFamily="18" charset="0"/>
              </a:rPr>
              <a:t>a.size</a:t>
            </a:r>
            <a:r>
              <a:rPr lang="zh-CN" altLang="en-US" sz="2400" b="1" dirty="0">
                <a:latin typeface="Times New Roman" panose="02020603050405020304" pitchFamily="18" charset="0"/>
              </a:rPr>
              <a:t>来申请一缓冲区</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，接着，把发送区</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中的信息复制到缓冲区</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中。为了能将</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挂在接收进程的消息队列</a:t>
            </a:r>
            <a:r>
              <a:rPr lang="en-US" altLang="zh-CN" sz="2400" b="1" dirty="0">
                <a:latin typeface="Times New Roman" panose="02020603050405020304" pitchFamily="18" charset="0"/>
              </a:rPr>
              <a:t>mq</a:t>
            </a:r>
            <a:r>
              <a:rPr lang="zh-CN" altLang="en-US" sz="2400" b="1" dirty="0">
                <a:latin typeface="Times New Roman" panose="02020603050405020304" pitchFamily="18" charset="0"/>
              </a:rPr>
              <a:t>上，应先获得接收进程的内部标识符</a:t>
            </a:r>
            <a:r>
              <a:rPr lang="en-US" altLang="zh-CN" sz="2400" b="1" dirty="0">
                <a:latin typeface="Times New Roman" panose="02020603050405020304" pitchFamily="18" charset="0"/>
              </a:rPr>
              <a:t>j</a:t>
            </a:r>
            <a:r>
              <a:rPr lang="zh-CN" altLang="en-US" sz="2400" b="1" dirty="0">
                <a:latin typeface="Times New Roman" panose="02020603050405020304" pitchFamily="18" charset="0"/>
              </a:rPr>
              <a:t>，然后将</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挂在</a:t>
            </a:r>
            <a:r>
              <a:rPr lang="en-US" altLang="zh-CN" sz="2400" b="1" dirty="0">
                <a:latin typeface="Times New Roman" panose="02020603050405020304" pitchFamily="18" charset="0"/>
              </a:rPr>
              <a:t>j.mq</a:t>
            </a:r>
            <a:r>
              <a:rPr lang="zh-CN" altLang="en-US" sz="2400" b="1" dirty="0">
                <a:latin typeface="Times New Roman" panose="02020603050405020304" pitchFamily="18" charset="0"/>
              </a:rPr>
              <a:t>上。</a:t>
            </a:r>
            <a:endParaRPr lang="zh-CN" altLang="en-US" sz="2400" b="1" dirty="0">
              <a:latin typeface="Times New Roman" panose="02020603050405020304" pitchFamily="18" charset="0"/>
            </a:endParaRPr>
          </a:p>
          <a:p>
            <a:pPr marL="0" lvl="0" indent="0" algn="just" eaLnBrk="1" hangingPunct="1">
              <a:lnSpc>
                <a:spcPct val="110000"/>
              </a:lnSpc>
              <a:spcBef>
                <a:spcPct val="50000"/>
              </a:spcBef>
              <a:buClrTx/>
              <a:buSzTx/>
              <a:buFont typeface="Wingdings" panose="05000000000000000000" pitchFamily="2" charset="2"/>
              <a:buChar char="Ø"/>
            </a:pPr>
            <a:r>
              <a:rPr lang="zh-CN" altLang="en-US" sz="2400" b="1" dirty="0">
                <a:latin typeface="Times New Roman" panose="02020603050405020304" pitchFamily="18" charset="0"/>
              </a:rPr>
              <a:t>由于</a:t>
            </a:r>
            <a:r>
              <a:rPr lang="zh-CN" altLang="en-US" sz="2400" b="1" dirty="0">
                <a:solidFill>
                  <a:srgbClr val="FF0000"/>
                </a:solidFill>
                <a:latin typeface="Times New Roman" panose="02020603050405020304" pitchFamily="18" charset="0"/>
              </a:rPr>
              <a:t>该队列属于临界资源</a:t>
            </a:r>
            <a:r>
              <a:rPr lang="zh-CN" altLang="en-US" sz="2400" b="1" dirty="0">
                <a:latin typeface="Times New Roman" panose="02020603050405020304" pitchFamily="18" charset="0"/>
              </a:rPr>
              <a:t>， 故在执行</a:t>
            </a:r>
            <a:r>
              <a:rPr lang="en-US" altLang="zh-CN" sz="2400" b="1" dirty="0">
                <a:latin typeface="Times New Roman" panose="02020603050405020304" pitchFamily="18" charset="0"/>
              </a:rPr>
              <a:t>insert</a:t>
            </a:r>
            <a:r>
              <a:rPr lang="zh-CN" altLang="en-US" sz="2400" b="1" dirty="0">
                <a:latin typeface="Times New Roman" panose="02020603050405020304" pitchFamily="18" charset="0"/>
              </a:rPr>
              <a:t>操作的前后，都要执行</a:t>
            </a:r>
            <a:r>
              <a:rPr lang="en-US" altLang="zh-CN" sz="2400" b="1" dirty="0">
                <a:latin typeface="Times New Roman" panose="02020603050405020304" pitchFamily="18" charset="0"/>
              </a:rPr>
              <a:t>wait</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signal</a:t>
            </a:r>
            <a:r>
              <a:rPr lang="zh-CN" altLang="en-US" sz="2400" b="1" dirty="0">
                <a:latin typeface="Times New Roman" panose="02020603050405020304" pitchFamily="18" charset="0"/>
              </a:rPr>
              <a:t>操作。 </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5202">
                                            <p:txEl>
                                              <p:charRg st="8" end="10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5202">
                                            <p:txEl>
                                              <p:charRg st="101" end="20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5202">
                                            <p:txEl>
                                              <p:charRg st="208" end="25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p:nvPr/>
        </p:nvSpPr>
        <p:spPr>
          <a:xfrm>
            <a:off x="381000" y="304800"/>
            <a:ext cx="8382000" cy="6172200"/>
          </a:xfrm>
          <a:prstGeom prst="rect">
            <a:avLst/>
          </a:prstGeom>
          <a:solidFill>
            <a:srgbClr val="CCFFCC"/>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aphicFrame>
        <p:nvGraphicFramePr>
          <p:cNvPr id="172035" name="Object 3"/>
          <p:cNvGraphicFramePr>
            <a:graphicFrameLocks noChangeAspect="1"/>
          </p:cNvGraphicFramePr>
          <p:nvPr>
            <p:ph/>
          </p:nvPr>
        </p:nvGraphicFramePr>
        <p:xfrm>
          <a:off x="0" y="762000"/>
          <a:ext cx="8077200" cy="4876800"/>
        </p:xfrm>
        <a:graphic>
          <a:graphicData uri="http://schemas.openxmlformats.org/presentationml/2006/ole">
            <mc:AlternateContent xmlns:mc="http://schemas.openxmlformats.org/markup-compatibility/2006">
              <mc:Choice xmlns:v="urn:schemas-microsoft-com:vml" Requires="v">
                <p:oleObj spid="_x0000_s3080" name="" r:id="rId1" imgW="4462145" imgH="2243455" progId="Visio.Drawing.11">
                  <p:embed/>
                </p:oleObj>
              </mc:Choice>
              <mc:Fallback>
                <p:oleObj name="" r:id="rId1" imgW="4462145" imgH="2243455" progId="Visio.Drawing.11">
                  <p:embed/>
                  <p:pic>
                    <p:nvPicPr>
                      <p:cNvPr id="0" name="图片 3079"/>
                      <p:cNvPicPr/>
                      <p:nvPr/>
                    </p:nvPicPr>
                    <p:blipFill>
                      <a:blip r:embed="rId2"/>
                      <a:srcRect/>
                      <a:stretch>
                        <a:fillRect/>
                      </a:stretch>
                    </p:blipFill>
                    <p:spPr>
                      <a:xfrm>
                        <a:off x="0" y="762000"/>
                        <a:ext cx="8077200" cy="4876800"/>
                      </a:xfrm>
                      <a:prstGeom prst="rect">
                        <a:avLst/>
                      </a:prstGeom>
                      <a:noFill/>
                      <a:ln w="38100">
                        <a:miter/>
                      </a:ln>
                    </p:spPr>
                  </p:pic>
                </p:oleObj>
              </mc:Fallback>
            </mc:AlternateContent>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p:nvPr/>
        </p:nvSpPr>
        <p:spPr>
          <a:xfrm>
            <a:off x="228600" y="228600"/>
            <a:ext cx="8686800" cy="6400800"/>
          </a:xfrm>
          <a:prstGeom prst="rect">
            <a:avLst/>
          </a:prstGeom>
          <a:solidFill>
            <a:srgbClr val="CCFFCC"/>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3300"/>
                </a:solidFill>
              </a:rPr>
              <a:t>void  send(receiver, a)</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getbuf(a.size,i);                    //</a:t>
            </a:r>
            <a:r>
              <a:rPr lang="zh-CN" altLang="en-US" sz="2400" b="1" dirty="0">
                <a:solidFill>
                  <a:srgbClr val="003300"/>
                </a:solidFill>
              </a:rPr>
              <a:t>根据</a:t>
            </a:r>
            <a:r>
              <a:rPr lang="en-US" altLang="zh-CN" sz="2400" b="1" dirty="0">
                <a:solidFill>
                  <a:srgbClr val="003300"/>
                </a:solidFill>
              </a:rPr>
              <a:t>a.size</a:t>
            </a:r>
            <a:r>
              <a:rPr lang="zh-CN" altLang="en-US" sz="2400" b="1" dirty="0">
                <a:solidFill>
                  <a:srgbClr val="003300"/>
                </a:solidFill>
              </a:rPr>
              <a:t>申请缓冲区；</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i.sender∶   =a.sender; // </a:t>
            </a:r>
            <a:r>
              <a:rPr lang="zh-CN" altLang="en-US" sz="2400" b="1" dirty="0">
                <a:solidFill>
                  <a:srgbClr val="003300"/>
                </a:solidFill>
              </a:rPr>
              <a:t>将发送者标识符复制给</a:t>
            </a:r>
            <a:r>
              <a:rPr lang="en-US" altLang="zh-CN" sz="2400" b="1" dirty="0">
                <a:solidFill>
                  <a:srgbClr val="003300"/>
                </a:solidFill>
              </a:rPr>
              <a:t>i </a:t>
            </a:r>
            <a:endParaRPr lang="en-US" altLang="zh-CN"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 </a:t>
            </a:r>
            <a:r>
              <a:rPr lang="zh-CN" altLang="en-US" sz="2400" b="1" dirty="0">
                <a:solidFill>
                  <a:srgbClr val="003300"/>
                </a:solidFill>
              </a:rPr>
              <a:t>将发送区</a:t>
            </a:r>
            <a:r>
              <a:rPr lang="en-US" altLang="zh-CN" sz="2400" b="1" dirty="0">
                <a:solidFill>
                  <a:srgbClr val="003300"/>
                </a:solidFill>
              </a:rPr>
              <a:t>a</a:t>
            </a:r>
            <a:r>
              <a:rPr lang="zh-CN" altLang="en-US" sz="2400" b="1" dirty="0">
                <a:solidFill>
                  <a:srgbClr val="003300"/>
                </a:solidFill>
              </a:rPr>
              <a:t>中的信息复制到消息缓冲区之中；</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i.size∶   =a.size;</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copy(i.text,a.text);</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i.next∶   =0;</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getid(PCBset, receiver.j);   </a:t>
            </a:r>
            <a:r>
              <a:rPr lang="zh-CN" altLang="en-US" sz="2400" b="1" dirty="0">
                <a:solidFill>
                  <a:srgbClr val="003300"/>
                </a:solidFill>
              </a:rPr>
              <a:t>获得接收进程内部标识符；</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FF0000"/>
                </a:solidFill>
              </a:rPr>
              <a:t>wait(j.mutex);</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insert(j.mq, i);   </a:t>
            </a:r>
            <a:r>
              <a:rPr lang="zh-CN" altLang="en-US" sz="2400" b="1" dirty="0">
                <a:solidFill>
                  <a:srgbClr val="FF0000"/>
                </a:solidFill>
              </a:rPr>
              <a:t>将消息缓冲区插入消息队列；</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signal(j.mutex);</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003300"/>
                </a:solidFill>
              </a:rPr>
              <a:t>       </a:t>
            </a:r>
            <a:r>
              <a:rPr lang="en-US" altLang="zh-CN" sz="2400" b="1" dirty="0">
                <a:solidFill>
                  <a:srgbClr val="0070C0"/>
                </a:solidFill>
              </a:rPr>
              <a:t>signal(j.sm);    </a:t>
            </a:r>
            <a:r>
              <a:rPr lang="en-US" altLang="zh-CN" sz="2400" b="1" dirty="0">
                <a:solidFill>
                  <a:srgbClr val="FF0000"/>
                </a:solidFill>
              </a:rPr>
              <a:t>//</a:t>
            </a:r>
            <a:r>
              <a:rPr lang="zh-CN" altLang="en-US" sz="2400" b="1" dirty="0">
                <a:solidFill>
                  <a:srgbClr val="FF0000"/>
                </a:solidFill>
              </a:rPr>
              <a:t>消息队列资源信号量加</a:t>
            </a:r>
            <a:r>
              <a:rPr lang="en-US" altLang="zh-CN" sz="2400" b="1" dirty="0">
                <a:solidFill>
                  <a:srgbClr val="FF0000"/>
                </a:solidFill>
              </a:rPr>
              <a:t>1</a:t>
            </a:r>
            <a:endParaRPr lang="en-US" altLang="zh-CN" sz="2400" b="1" dirty="0">
              <a:solidFill>
                <a:srgbClr val="FF0000"/>
              </a:solidFill>
            </a:endParaRPr>
          </a:p>
          <a:p>
            <a:pPr marL="0" lvl="0" indent="0" eaLnBrk="1" hangingPunct="1">
              <a:spcBef>
                <a:spcPct val="0"/>
              </a:spcBef>
              <a:buClrTx/>
              <a:buSzTx/>
              <a:buFontTx/>
              <a:buNone/>
            </a:pPr>
            <a:r>
              <a:rPr lang="en-US" altLang="zh-CN" sz="1800" b="1" dirty="0">
                <a:solidFill>
                  <a:srgbClr val="003300"/>
                </a:solidFill>
              </a:rPr>
              <a:t>    end </a:t>
            </a:r>
            <a:endParaRPr lang="en-US" altLang="zh-CN" sz="1800" b="1" dirty="0">
              <a:solidFill>
                <a:srgbClr val="003300"/>
              </a:solidFill>
            </a:endParaRPr>
          </a:p>
          <a:p>
            <a:pPr marL="0" lvl="0" indent="0" eaLnBrk="1" hangingPunct="1">
              <a:spcBef>
                <a:spcPct val="0"/>
              </a:spcBef>
              <a:buClrTx/>
              <a:buSzTx/>
              <a:buFontTx/>
              <a:buNone/>
            </a:pPr>
            <a:endParaRPr lang="zh-CN" altLang="en-US" sz="18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p:nvPr/>
        </p:nvSpPr>
        <p:spPr>
          <a:xfrm>
            <a:off x="304800" y="1143000"/>
            <a:ext cx="8610600" cy="55626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3300"/>
                </a:solidFill>
              </a:rPr>
              <a:t>void receive(b)</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j∶  =internal name;  // j</a:t>
            </a:r>
            <a:r>
              <a:rPr lang="zh-CN" altLang="en-US" sz="2400" b="1" dirty="0">
                <a:solidFill>
                  <a:srgbClr val="003300"/>
                </a:solidFill>
              </a:rPr>
              <a:t>为接收进程内部的标识符；</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70C0"/>
                </a:solidFill>
              </a:rPr>
              <a:t>wait(j.sm);</a:t>
            </a:r>
            <a:r>
              <a:rPr lang="en-US" altLang="zh-CN" sz="2400" b="1" dirty="0">
                <a:solidFill>
                  <a:srgbClr val="003300"/>
                </a:solidFill>
              </a:rPr>
              <a:t> //</a:t>
            </a:r>
            <a:r>
              <a:rPr lang="zh-CN" altLang="en-US" sz="2400" b="1" dirty="0">
                <a:solidFill>
                  <a:srgbClr val="003300"/>
                </a:solidFill>
              </a:rPr>
              <a:t>首先申请消息队列资源性信号量，从而才有权</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获得一个消息；</a:t>
            </a:r>
            <a:endParaRPr lang="zh-CN" altLang="en-US"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a:t>
            </a:r>
            <a:r>
              <a:rPr lang="en-US" altLang="zh-CN" sz="2400" b="1" dirty="0">
                <a:solidFill>
                  <a:srgbClr val="FF0000"/>
                </a:solidFill>
              </a:rPr>
              <a:t>wait(j.mutex);</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remove(j.mq, i); //</a:t>
            </a:r>
            <a:r>
              <a:rPr lang="zh-CN" altLang="en-US" sz="2400" b="1" dirty="0">
                <a:solidFill>
                  <a:srgbClr val="FF0000"/>
                </a:solidFill>
              </a:rPr>
              <a:t>将消息队列中第一个消息移出；</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signal(j.mutex);</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003300"/>
                </a:solidFill>
              </a:rPr>
              <a:t>    b.sender∶  =i.sender; </a:t>
            </a:r>
            <a:endParaRPr lang="en-US" altLang="zh-CN"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 </a:t>
            </a:r>
            <a:r>
              <a:rPr lang="zh-CN" altLang="en-US" sz="2400" b="1" dirty="0">
                <a:solidFill>
                  <a:srgbClr val="003300"/>
                </a:solidFill>
              </a:rPr>
              <a:t>将消息缓冲区</a:t>
            </a:r>
            <a:r>
              <a:rPr lang="en-US" altLang="zh-CN" sz="2400" b="1" dirty="0">
                <a:solidFill>
                  <a:srgbClr val="003300"/>
                </a:solidFill>
              </a:rPr>
              <a:t>i</a:t>
            </a:r>
            <a:r>
              <a:rPr lang="zh-CN" altLang="en-US" sz="2400" b="1" dirty="0">
                <a:solidFill>
                  <a:srgbClr val="003300"/>
                </a:solidFill>
              </a:rPr>
              <a:t>中的信息复制到接收区</a:t>
            </a:r>
            <a:r>
              <a:rPr lang="en-US" altLang="zh-CN" sz="2400" b="1" dirty="0">
                <a:solidFill>
                  <a:srgbClr val="003300"/>
                </a:solidFill>
              </a:rPr>
              <a:t>b;</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b.size∶   =i.size;</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copy(b.text,i.text); //</a:t>
            </a:r>
            <a:r>
              <a:rPr lang="zh-CN" altLang="en-US" sz="2400" b="1" dirty="0">
                <a:solidFill>
                  <a:srgbClr val="003300"/>
                </a:solidFill>
              </a:rPr>
              <a:t>将缓冲区</a:t>
            </a:r>
            <a:r>
              <a:rPr lang="en-US" altLang="zh-CN" sz="2400" b="1" dirty="0">
                <a:solidFill>
                  <a:srgbClr val="003300"/>
                </a:solidFill>
              </a:rPr>
              <a:t>i</a:t>
            </a:r>
            <a:r>
              <a:rPr lang="zh-CN" altLang="en-US" sz="2400" b="1" dirty="0">
                <a:solidFill>
                  <a:srgbClr val="003300"/>
                </a:solidFill>
              </a:rPr>
              <a:t>中的信息复制到接收区</a:t>
            </a:r>
            <a:r>
              <a:rPr lang="en-US" altLang="zh-CN" sz="2400" b="1" dirty="0">
                <a:solidFill>
                  <a:srgbClr val="003300"/>
                </a:solidFill>
              </a:rPr>
              <a:t>b</a:t>
            </a:r>
            <a:r>
              <a:rPr lang="zh-CN" altLang="en-US" sz="2400" b="1" dirty="0">
                <a:solidFill>
                  <a:srgbClr val="003300"/>
                </a:solidFill>
              </a:rPr>
              <a:t>；</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releasebuf(i); //</a:t>
            </a:r>
            <a:r>
              <a:rPr lang="zh-CN" altLang="en-US" sz="2400" b="1" dirty="0">
                <a:solidFill>
                  <a:srgbClr val="003300"/>
                </a:solidFill>
              </a:rPr>
              <a:t>释放消息缓冲区；</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a:t>
            </a:r>
            <a:endParaRPr lang="en-US" altLang="zh-CN" sz="2400" b="1" dirty="0">
              <a:solidFill>
                <a:srgbClr val="003300"/>
              </a:solidFill>
            </a:endParaRPr>
          </a:p>
          <a:p>
            <a:pPr marL="0" lvl="0" indent="0" eaLnBrk="1" hangingPunct="1">
              <a:spcBef>
                <a:spcPct val="0"/>
              </a:spcBef>
              <a:buClrTx/>
              <a:buSzTx/>
              <a:buFontTx/>
              <a:buNone/>
            </a:pPr>
            <a:endParaRPr lang="zh-CN" altLang="en-US" sz="2400" b="1" dirty="0">
              <a:solidFill>
                <a:srgbClr val="003300"/>
              </a:solidFill>
            </a:endParaRPr>
          </a:p>
        </p:txBody>
      </p:sp>
      <p:sp>
        <p:nvSpPr>
          <p:cNvPr id="174083" name="Text Box 3"/>
          <p:cNvSpPr txBox="1"/>
          <p:nvPr/>
        </p:nvSpPr>
        <p:spPr>
          <a:xfrm>
            <a:off x="990600" y="457200"/>
            <a:ext cx="23241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b="1" dirty="0">
                <a:solidFill>
                  <a:schemeClr val="folHlink"/>
                </a:solidFill>
                <a:latin typeface="Times New Roman" panose="02020603050405020304" pitchFamily="18" charset="0"/>
              </a:rPr>
              <a:t>3. </a:t>
            </a:r>
            <a:r>
              <a:rPr lang="zh-CN" altLang="en-US" b="1" dirty="0">
                <a:solidFill>
                  <a:schemeClr val="folHlink"/>
                </a:solidFill>
                <a:latin typeface="Times New Roman" panose="02020603050405020304" pitchFamily="18" charset="0"/>
              </a:rPr>
              <a:t>接收原语 </a:t>
            </a:r>
            <a:endParaRPr lang="zh-CN" altLang="en-US" b="1" dirty="0">
              <a:solidFill>
                <a:schemeClr val="folHlink"/>
              </a:solidFill>
              <a:latin typeface="Times New Roman" panose="02020603050405020304" pitchFamily="18" charset="0"/>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标题 1"/>
          <p:cNvSpPr>
            <a:spLocks noGrp="1"/>
          </p:cNvSpPr>
          <p:nvPr>
            <p:ph type="title"/>
          </p:nvPr>
        </p:nvSpPr>
        <p:spPr>
          <a:ln/>
        </p:spPr>
        <p:txBody>
          <a:bodyPr vert="horz" wrap="square" lIns="91440" tIns="45720" rIns="91440" bIns="45720" anchor="ctr" anchorCtr="0"/>
          <a:p>
            <a:r>
              <a:rPr lang="zh-CN" altLang="en-US" sz="4000" b="1" dirty="0"/>
              <a:t>补充内容</a:t>
            </a:r>
            <a:r>
              <a:rPr lang="en-US" altLang="zh-CN" sz="4000" b="1" dirty="0"/>
              <a:t>-</a:t>
            </a:r>
            <a:r>
              <a:rPr lang="zh-CN" altLang="en-US" sz="4000" b="1" dirty="0"/>
              <a:t>消息队列（间接通信方式）</a:t>
            </a:r>
            <a:endParaRPr lang="zh-CN" altLang="en-US" sz="4000" b="1" dirty="0"/>
          </a:p>
        </p:txBody>
      </p:sp>
      <p:sp>
        <p:nvSpPr>
          <p:cNvPr id="175107" name="内容占位符 2"/>
          <p:cNvSpPr>
            <a:spLocks noGrp="1"/>
          </p:cNvSpPr>
          <p:nvPr>
            <p:ph idx="1"/>
          </p:nvPr>
        </p:nvSpPr>
        <p:spPr>
          <a:ln/>
        </p:spPr>
        <p:txBody>
          <a:bodyPr vert="horz" wrap="square" lIns="91440" tIns="45720" rIns="91440" bIns="45720" anchor="t" anchorCtr="0"/>
          <a:p>
            <a:r>
              <a:rPr lang="zh-CN" altLang="en-US" dirty="0"/>
              <a:t>现有操作系统对于消息队列的做法与教材的概念有所不同，现有的消息队列如</a:t>
            </a:r>
            <a:r>
              <a:rPr lang="en-US" altLang="zh-CN" dirty="0"/>
              <a:t>Linux</a:t>
            </a:r>
            <a:r>
              <a:rPr lang="zh-CN" altLang="en-US" dirty="0"/>
              <a:t>，</a:t>
            </a:r>
            <a:r>
              <a:rPr lang="en-US" altLang="zh-CN" dirty="0"/>
              <a:t>ucOS</a:t>
            </a:r>
            <a:r>
              <a:rPr lang="zh-CN" altLang="en-US" dirty="0"/>
              <a:t>，</a:t>
            </a:r>
            <a:r>
              <a:rPr lang="en-US" altLang="zh-CN" dirty="0"/>
              <a:t>vxworks</a:t>
            </a:r>
            <a:r>
              <a:rPr lang="zh-CN" altLang="en-US" dirty="0"/>
              <a:t>等将消息队列作为一种间接通信机制，而非直接通信机制。</a:t>
            </a:r>
            <a:endParaRPr lang="en-US" altLang="zh-CN" dirty="0"/>
          </a:p>
          <a:p>
            <a:pPr lvl="1"/>
            <a:r>
              <a:rPr lang="zh-CN" altLang="en-US" b="1" dirty="0">
                <a:solidFill>
                  <a:srgbClr val="C00000"/>
                </a:solidFill>
              </a:rPr>
              <a:t>发送者将消息发送到消息队列中。</a:t>
            </a:r>
            <a:endParaRPr lang="en-US" altLang="zh-CN" b="1" dirty="0">
              <a:solidFill>
                <a:srgbClr val="C00000"/>
              </a:solidFill>
            </a:endParaRPr>
          </a:p>
          <a:p>
            <a:pPr lvl="1"/>
            <a:r>
              <a:rPr lang="zh-CN" altLang="en-US" b="1" dirty="0">
                <a:solidFill>
                  <a:srgbClr val="C00000"/>
                </a:solidFill>
              </a:rPr>
              <a:t>接收者从消息队列中获取一条消息。</a:t>
            </a:r>
            <a:endParaRPr lang="zh-CN" altLang="en-US" b="1" dirty="0">
              <a:solidFill>
                <a:srgbClr val="C00000"/>
              </a:solidFil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title"/>
          </p:nvPr>
        </p:nvSpPr>
        <p:spPr>
          <a:xfrm>
            <a:off x="457200" y="274638"/>
            <a:ext cx="8229600" cy="1143000"/>
          </a:xfrm>
          <a:ln/>
        </p:spPr>
        <p:txBody>
          <a:bodyPr vert="horz" wrap="square" lIns="91440" tIns="45720" rIns="91440" bIns="45720" anchor="ctr" anchorCtr="0"/>
          <a:p>
            <a:r>
              <a:rPr lang="zh-CN" altLang="en-US" sz="3600" dirty="0"/>
              <a:t>消息队列机制的主要数据结构</a:t>
            </a:r>
            <a:endParaRPr lang="zh-CN" altLang="en-US" sz="3600" dirty="0"/>
          </a:p>
        </p:txBody>
      </p:sp>
      <p:sp>
        <p:nvSpPr>
          <p:cNvPr id="176131" name="Rectangle 40"/>
          <p:cNvSpPr/>
          <p:nvPr/>
        </p:nvSpPr>
        <p:spPr>
          <a:xfrm>
            <a:off x="0" y="187007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nvGrpSpPr>
          <p:cNvPr id="176132" name="Group 4"/>
          <p:cNvGrpSpPr>
            <a:grpSpLocks noChangeAspect="1"/>
          </p:cNvGrpSpPr>
          <p:nvPr/>
        </p:nvGrpSpPr>
        <p:grpSpPr>
          <a:xfrm>
            <a:off x="762000" y="1371600"/>
            <a:ext cx="7845425" cy="4370388"/>
            <a:chOff x="900" y="112"/>
            <a:chExt cx="8820" cy="4913"/>
          </a:xfrm>
        </p:grpSpPr>
        <p:sp>
          <p:nvSpPr>
            <p:cNvPr id="176134" name="AutoShape 39"/>
            <p:cNvSpPr>
              <a:spLocks noChangeAspect="1" noTextEdit="1"/>
            </p:cNvSpPr>
            <p:nvPr/>
          </p:nvSpPr>
          <p:spPr>
            <a:xfrm>
              <a:off x="900" y="112"/>
              <a:ext cx="8820" cy="4913"/>
            </a:xfrm>
            <a:prstGeom prst="rect">
              <a:avLst/>
            </a:prstGeom>
            <a:noFill/>
            <a:ln w="9525">
              <a:noFill/>
            </a:ln>
          </p:spPr>
          <p:txBody>
            <a:bodyPr/>
            <a:p>
              <a:endParaRPr lang="zh-CN" altLang="en-US"/>
            </a:p>
          </p:txBody>
        </p:sp>
        <p:sp>
          <p:nvSpPr>
            <p:cNvPr id="176135" name="Text Box 38"/>
            <p:cNvSpPr txBox="1"/>
            <p:nvPr/>
          </p:nvSpPr>
          <p:spPr>
            <a:xfrm>
              <a:off x="3420" y="268"/>
              <a:ext cx="1800" cy="46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队列控制块</a:t>
              </a:r>
              <a:endParaRPr lang="zh-CN" altLang="en-US" sz="1600" b="1" dirty="0"/>
            </a:p>
          </p:txBody>
        </p:sp>
        <p:sp>
          <p:nvSpPr>
            <p:cNvPr id="176136" name="Line 37"/>
            <p:cNvSpPr/>
            <p:nvPr/>
          </p:nvSpPr>
          <p:spPr>
            <a:xfrm>
              <a:off x="5940" y="3544"/>
              <a:ext cx="360" cy="1"/>
            </a:xfrm>
            <a:prstGeom prst="line">
              <a:avLst/>
            </a:prstGeom>
            <a:ln w="9525" cap="flat" cmpd="sng">
              <a:solidFill>
                <a:srgbClr val="000000"/>
              </a:solidFill>
              <a:prstDash val="solid"/>
              <a:headEnd type="none" w="med" len="med"/>
              <a:tailEnd type="none" w="med" len="med"/>
            </a:ln>
          </p:spPr>
        </p:sp>
        <p:sp>
          <p:nvSpPr>
            <p:cNvPr id="176137" name="Line 36"/>
            <p:cNvSpPr/>
            <p:nvPr/>
          </p:nvSpPr>
          <p:spPr>
            <a:xfrm>
              <a:off x="4140" y="2764"/>
              <a:ext cx="0" cy="1404"/>
            </a:xfrm>
            <a:prstGeom prst="line">
              <a:avLst/>
            </a:prstGeom>
            <a:ln w="9525" cap="flat" cmpd="sng">
              <a:solidFill>
                <a:srgbClr val="000000"/>
              </a:solidFill>
              <a:prstDash val="solid"/>
              <a:headEnd type="none" w="med" len="med"/>
              <a:tailEnd type="none" w="med" len="med"/>
            </a:ln>
          </p:spPr>
        </p:sp>
        <p:sp>
          <p:nvSpPr>
            <p:cNvPr id="176138" name="Line 35"/>
            <p:cNvSpPr/>
            <p:nvPr/>
          </p:nvSpPr>
          <p:spPr>
            <a:xfrm>
              <a:off x="4680" y="2764"/>
              <a:ext cx="1" cy="1404"/>
            </a:xfrm>
            <a:prstGeom prst="line">
              <a:avLst/>
            </a:prstGeom>
            <a:ln w="9525" cap="flat" cmpd="sng">
              <a:solidFill>
                <a:srgbClr val="000000"/>
              </a:solidFill>
              <a:prstDash val="solid"/>
              <a:headEnd type="none" w="med" len="med"/>
              <a:tailEnd type="none" w="med" len="med"/>
            </a:ln>
          </p:spPr>
        </p:sp>
        <p:sp>
          <p:nvSpPr>
            <p:cNvPr id="176139" name="Line 34"/>
            <p:cNvSpPr/>
            <p:nvPr/>
          </p:nvSpPr>
          <p:spPr>
            <a:xfrm>
              <a:off x="5220" y="2764"/>
              <a:ext cx="1" cy="1404"/>
            </a:xfrm>
            <a:prstGeom prst="line">
              <a:avLst/>
            </a:prstGeom>
            <a:ln w="9525" cap="flat" cmpd="sng">
              <a:solidFill>
                <a:srgbClr val="000000"/>
              </a:solidFill>
              <a:prstDash val="solid"/>
              <a:headEnd type="none" w="med" len="med"/>
              <a:tailEnd type="none" w="med" len="med"/>
            </a:ln>
          </p:spPr>
        </p:sp>
        <p:sp>
          <p:nvSpPr>
            <p:cNvPr id="176140" name="Text Box 33"/>
            <p:cNvSpPr txBox="1"/>
            <p:nvPr/>
          </p:nvSpPr>
          <p:spPr>
            <a:xfrm>
              <a:off x="4290" y="4557"/>
              <a:ext cx="1260" cy="468"/>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队列长度</a:t>
              </a:r>
              <a:endParaRPr lang="zh-CN" altLang="en-US" sz="1600" b="1" dirty="0"/>
            </a:p>
          </p:txBody>
        </p:sp>
        <p:sp>
          <p:nvSpPr>
            <p:cNvPr id="176141" name="Line 32"/>
            <p:cNvSpPr/>
            <p:nvPr/>
          </p:nvSpPr>
          <p:spPr>
            <a:xfrm>
              <a:off x="3780" y="3544"/>
              <a:ext cx="360" cy="1"/>
            </a:xfrm>
            <a:prstGeom prst="line">
              <a:avLst/>
            </a:prstGeom>
            <a:ln w="9525" cap="flat" cmpd="sng">
              <a:solidFill>
                <a:srgbClr val="000000"/>
              </a:solidFill>
              <a:prstDash val="solid"/>
              <a:headEnd type="none" w="med" len="med"/>
              <a:tailEnd type="none" w="med" len="med"/>
            </a:ln>
          </p:spPr>
        </p:sp>
        <p:sp>
          <p:nvSpPr>
            <p:cNvPr id="176142" name="Text Box 31"/>
            <p:cNvSpPr txBox="1"/>
            <p:nvPr/>
          </p:nvSpPr>
          <p:spPr>
            <a:xfrm>
              <a:off x="3960" y="892"/>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QCB1</a:t>
              </a:r>
              <a:endParaRPr lang="en-US" altLang="zh-CN" sz="1600" b="1" dirty="0"/>
            </a:p>
          </p:txBody>
        </p:sp>
        <p:sp>
          <p:nvSpPr>
            <p:cNvPr id="176143" name="Text Box 30"/>
            <p:cNvSpPr txBox="1"/>
            <p:nvPr/>
          </p:nvSpPr>
          <p:spPr>
            <a:xfrm>
              <a:off x="4140" y="2296"/>
              <a:ext cx="1800" cy="46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队列名或</a:t>
              </a:r>
              <a:r>
                <a:rPr lang="en-US" altLang="zh-CN" sz="1600" b="1" dirty="0">
                  <a:latin typeface="Times New Roman" panose="02020603050405020304" pitchFamily="18" charset="0"/>
                  <a:cs typeface="Times New Roman" panose="02020603050405020304" pitchFamily="18" charset="0"/>
                </a:rPr>
                <a:t>ID</a:t>
              </a:r>
              <a:endParaRPr lang="en-US" altLang="zh-CN" sz="1600" b="1" dirty="0"/>
            </a:p>
          </p:txBody>
        </p:sp>
        <p:sp>
          <p:nvSpPr>
            <p:cNvPr id="176144" name="Line 29"/>
            <p:cNvSpPr/>
            <p:nvPr/>
          </p:nvSpPr>
          <p:spPr>
            <a:xfrm>
              <a:off x="6300" y="3076"/>
              <a:ext cx="3240" cy="0"/>
            </a:xfrm>
            <a:prstGeom prst="line">
              <a:avLst/>
            </a:prstGeom>
            <a:ln w="28575" cap="flat" cmpd="sng">
              <a:solidFill>
                <a:srgbClr val="000000"/>
              </a:solidFill>
              <a:prstDash val="solid"/>
              <a:headEnd type="none" w="med" len="med"/>
              <a:tailEnd type="none" w="med" len="med"/>
            </a:ln>
          </p:spPr>
        </p:sp>
        <p:sp>
          <p:nvSpPr>
            <p:cNvPr id="176145" name="Line 28"/>
            <p:cNvSpPr/>
            <p:nvPr/>
          </p:nvSpPr>
          <p:spPr>
            <a:xfrm>
              <a:off x="6300" y="3936"/>
              <a:ext cx="3240" cy="0"/>
            </a:xfrm>
            <a:prstGeom prst="line">
              <a:avLst/>
            </a:prstGeom>
            <a:ln w="28575" cap="flat" cmpd="sng">
              <a:solidFill>
                <a:srgbClr val="000000"/>
              </a:solidFill>
              <a:prstDash val="solid"/>
              <a:headEnd type="none" w="med" len="med"/>
              <a:tailEnd type="none" w="med" len="med"/>
            </a:ln>
          </p:spPr>
        </p:sp>
        <p:sp>
          <p:nvSpPr>
            <p:cNvPr id="176146" name="Text Box 27"/>
            <p:cNvSpPr txBox="1"/>
            <p:nvPr/>
          </p:nvSpPr>
          <p:spPr>
            <a:xfrm>
              <a:off x="6300" y="3388"/>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Task3</a:t>
              </a:r>
              <a:endParaRPr lang="en-US" altLang="zh-CN" sz="1600" b="1" dirty="0"/>
            </a:p>
          </p:txBody>
        </p:sp>
        <p:sp>
          <p:nvSpPr>
            <p:cNvPr id="176147" name="Text Box 26"/>
            <p:cNvSpPr txBox="1"/>
            <p:nvPr/>
          </p:nvSpPr>
          <p:spPr>
            <a:xfrm>
              <a:off x="7380" y="3388"/>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Task4</a:t>
              </a:r>
              <a:endParaRPr lang="en-US" altLang="zh-CN" sz="1600" b="1" dirty="0"/>
            </a:p>
          </p:txBody>
        </p:sp>
        <p:sp>
          <p:nvSpPr>
            <p:cNvPr id="176148" name="Text Box 25"/>
            <p:cNvSpPr txBox="1"/>
            <p:nvPr/>
          </p:nvSpPr>
          <p:spPr>
            <a:xfrm>
              <a:off x="8460" y="3388"/>
              <a:ext cx="900" cy="313"/>
            </a:xfrm>
            <a:prstGeom prst="rect">
              <a:avLst/>
            </a:prstGeom>
            <a:solidFill>
              <a:srgbClr val="FFFFFF"/>
            </a:solidFill>
            <a:ln w="9525">
              <a:noFill/>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cs typeface="Times New Roman" panose="02020603050405020304" pitchFamily="18" charset="0"/>
                </a:rPr>
                <a:t>……</a:t>
              </a:r>
              <a:endParaRPr lang="en-US" altLang="zh-CN" sz="1600" b="1" dirty="0"/>
            </a:p>
          </p:txBody>
        </p:sp>
        <p:sp>
          <p:nvSpPr>
            <p:cNvPr id="176149" name="Text Box 24"/>
            <p:cNvSpPr txBox="1"/>
            <p:nvPr/>
          </p:nvSpPr>
          <p:spPr>
            <a:xfrm>
              <a:off x="6480" y="2453"/>
              <a:ext cx="1980" cy="46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接收任务等待列表</a:t>
              </a:r>
              <a:endParaRPr lang="zh-CN" altLang="en-US" sz="1600" b="1" dirty="0"/>
            </a:p>
          </p:txBody>
        </p:sp>
        <p:sp>
          <p:nvSpPr>
            <p:cNvPr id="176150" name="Line 23"/>
            <p:cNvSpPr/>
            <p:nvPr/>
          </p:nvSpPr>
          <p:spPr>
            <a:xfrm>
              <a:off x="900" y="3075"/>
              <a:ext cx="2880" cy="1"/>
            </a:xfrm>
            <a:prstGeom prst="line">
              <a:avLst/>
            </a:prstGeom>
            <a:ln w="28575" cap="flat" cmpd="sng">
              <a:solidFill>
                <a:srgbClr val="000000"/>
              </a:solidFill>
              <a:prstDash val="solid"/>
              <a:headEnd type="none" w="med" len="med"/>
              <a:tailEnd type="none" w="med" len="med"/>
            </a:ln>
          </p:spPr>
        </p:sp>
        <p:sp>
          <p:nvSpPr>
            <p:cNvPr id="176151" name="Line 22"/>
            <p:cNvSpPr/>
            <p:nvPr/>
          </p:nvSpPr>
          <p:spPr>
            <a:xfrm flipV="1">
              <a:off x="900" y="3856"/>
              <a:ext cx="2880" cy="1"/>
            </a:xfrm>
            <a:prstGeom prst="line">
              <a:avLst/>
            </a:prstGeom>
            <a:ln w="28575" cap="flat" cmpd="sng">
              <a:solidFill>
                <a:srgbClr val="000000"/>
              </a:solidFill>
              <a:prstDash val="solid"/>
              <a:headEnd type="none" w="med" len="med"/>
              <a:tailEnd type="none" w="med" len="med"/>
            </a:ln>
          </p:spPr>
        </p:sp>
        <p:sp>
          <p:nvSpPr>
            <p:cNvPr id="176152" name="Text Box 21"/>
            <p:cNvSpPr txBox="1"/>
            <p:nvPr/>
          </p:nvSpPr>
          <p:spPr>
            <a:xfrm>
              <a:off x="1620" y="3387"/>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Task1</a:t>
              </a:r>
              <a:endParaRPr lang="en-US" altLang="zh-CN" sz="1600" b="1" dirty="0"/>
            </a:p>
          </p:txBody>
        </p:sp>
        <p:sp>
          <p:nvSpPr>
            <p:cNvPr id="176153" name="Text Box 20"/>
            <p:cNvSpPr txBox="1"/>
            <p:nvPr/>
          </p:nvSpPr>
          <p:spPr>
            <a:xfrm>
              <a:off x="2700" y="3387"/>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Task2</a:t>
              </a:r>
              <a:endParaRPr lang="en-US" altLang="zh-CN" sz="1600" b="1" dirty="0"/>
            </a:p>
          </p:txBody>
        </p:sp>
        <p:sp>
          <p:nvSpPr>
            <p:cNvPr id="176154" name="Text Box 19"/>
            <p:cNvSpPr txBox="1"/>
            <p:nvPr/>
          </p:nvSpPr>
          <p:spPr>
            <a:xfrm>
              <a:off x="900" y="3388"/>
              <a:ext cx="720" cy="313"/>
            </a:xfrm>
            <a:prstGeom prst="rect">
              <a:avLst/>
            </a:prstGeom>
            <a:solidFill>
              <a:srgbClr val="FFFFFF"/>
            </a:solidFill>
            <a:ln w="9525">
              <a:noFill/>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cs typeface="Times New Roman" panose="02020603050405020304" pitchFamily="18" charset="0"/>
                </a:rPr>
                <a:t>……</a:t>
              </a:r>
              <a:endParaRPr lang="en-US" altLang="zh-CN" sz="1600" b="1" dirty="0"/>
            </a:p>
          </p:txBody>
        </p:sp>
        <p:sp>
          <p:nvSpPr>
            <p:cNvPr id="176155" name="Text Box 18"/>
            <p:cNvSpPr txBox="1"/>
            <p:nvPr/>
          </p:nvSpPr>
          <p:spPr>
            <a:xfrm>
              <a:off x="1080" y="2452"/>
              <a:ext cx="1980" cy="46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发送任务等待列表</a:t>
              </a:r>
              <a:endParaRPr lang="zh-CN" altLang="en-US" sz="1600" b="1" dirty="0"/>
            </a:p>
          </p:txBody>
        </p:sp>
        <p:sp>
          <p:nvSpPr>
            <p:cNvPr id="176156" name="Line 17"/>
            <p:cNvSpPr/>
            <p:nvPr/>
          </p:nvSpPr>
          <p:spPr>
            <a:xfrm>
              <a:off x="3960" y="2764"/>
              <a:ext cx="1800" cy="1"/>
            </a:xfrm>
            <a:prstGeom prst="line">
              <a:avLst/>
            </a:prstGeom>
            <a:ln w="9525" cap="flat" cmpd="sng">
              <a:solidFill>
                <a:srgbClr val="000000"/>
              </a:solidFill>
              <a:prstDash val="solid"/>
              <a:headEnd type="none" w="med" len="med"/>
              <a:tailEnd type="none" w="med" len="med"/>
            </a:ln>
          </p:spPr>
        </p:sp>
        <p:sp>
          <p:nvSpPr>
            <p:cNvPr id="176157" name="Line 16"/>
            <p:cNvSpPr/>
            <p:nvPr/>
          </p:nvSpPr>
          <p:spPr>
            <a:xfrm>
              <a:off x="5760" y="2764"/>
              <a:ext cx="1" cy="1404"/>
            </a:xfrm>
            <a:prstGeom prst="line">
              <a:avLst/>
            </a:prstGeom>
            <a:ln w="9525" cap="flat" cmpd="sng">
              <a:solidFill>
                <a:srgbClr val="000000"/>
              </a:solidFill>
              <a:prstDash val="solid"/>
              <a:headEnd type="none" w="med" len="med"/>
              <a:tailEnd type="none" w="med" len="med"/>
            </a:ln>
          </p:spPr>
        </p:sp>
        <p:sp>
          <p:nvSpPr>
            <p:cNvPr id="176158" name="Line 15"/>
            <p:cNvSpPr/>
            <p:nvPr/>
          </p:nvSpPr>
          <p:spPr>
            <a:xfrm>
              <a:off x="3960" y="4168"/>
              <a:ext cx="1800" cy="1"/>
            </a:xfrm>
            <a:prstGeom prst="line">
              <a:avLst/>
            </a:prstGeom>
            <a:ln w="9525" cap="flat" cmpd="sng">
              <a:solidFill>
                <a:srgbClr val="000000"/>
              </a:solidFill>
              <a:prstDash val="solid"/>
              <a:headEnd type="none" w="med" len="med"/>
              <a:tailEnd type="none" w="med" len="med"/>
            </a:ln>
          </p:spPr>
        </p:sp>
        <p:sp>
          <p:nvSpPr>
            <p:cNvPr id="176159" name="Line 14"/>
            <p:cNvSpPr/>
            <p:nvPr/>
          </p:nvSpPr>
          <p:spPr>
            <a:xfrm>
              <a:off x="4500" y="2764"/>
              <a:ext cx="0" cy="1404"/>
            </a:xfrm>
            <a:prstGeom prst="line">
              <a:avLst/>
            </a:prstGeom>
            <a:ln w="9525" cap="flat" cmpd="sng">
              <a:solidFill>
                <a:srgbClr val="000000"/>
              </a:solidFill>
              <a:prstDash val="solid"/>
              <a:headEnd type="triangle" w="med" len="med"/>
              <a:tailEnd type="triangle" w="med" len="med"/>
            </a:ln>
          </p:spPr>
        </p:sp>
        <p:sp>
          <p:nvSpPr>
            <p:cNvPr id="176160" name="Text Box 13"/>
            <p:cNvSpPr txBox="1"/>
            <p:nvPr/>
          </p:nvSpPr>
          <p:spPr>
            <a:xfrm>
              <a:off x="4680" y="2764"/>
              <a:ext cx="540" cy="1404"/>
            </a:xfrm>
            <a:prstGeom prst="rect">
              <a:avLst/>
            </a:prstGeom>
            <a:solidFill>
              <a:srgbClr val="FFFFFF"/>
            </a:solidFill>
            <a:ln w="9525" cap="flat" cmpd="sng">
              <a:solidFill>
                <a:srgbClr val="000000"/>
              </a:solidFill>
              <a:prstDash val="solid"/>
              <a:miter/>
              <a:headEnd type="none" w="med" len="med"/>
              <a:tailEnd type="none" w="med" len="med"/>
            </a:ln>
          </p:spPr>
          <p:txBody>
            <a:bodyPr lIns="18000" tIns="10800" rIns="18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最大</a:t>
              </a:r>
              <a:endParaRPr lang="zh-CN" altLang="en-US" sz="1600" b="1" dirty="0"/>
            </a:p>
            <a:p>
              <a:pPr marL="0" lvl="0" indent="0">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消息</a:t>
              </a:r>
              <a:endParaRPr lang="zh-CN" altLang="en-US" sz="1600" b="1" dirty="0"/>
            </a:p>
            <a:p>
              <a:pPr marL="0" lvl="0" indent="0">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长度</a:t>
              </a:r>
              <a:endParaRPr lang="zh-CN" altLang="en-US" sz="1600" b="1" dirty="0"/>
            </a:p>
          </p:txBody>
        </p:sp>
        <p:sp>
          <p:nvSpPr>
            <p:cNvPr id="176161" name="Line 12"/>
            <p:cNvSpPr/>
            <p:nvPr/>
          </p:nvSpPr>
          <p:spPr>
            <a:xfrm>
              <a:off x="3960" y="4168"/>
              <a:ext cx="0" cy="312"/>
            </a:xfrm>
            <a:prstGeom prst="line">
              <a:avLst/>
            </a:prstGeom>
            <a:ln w="9525" cap="flat" cmpd="sng">
              <a:solidFill>
                <a:srgbClr val="000000"/>
              </a:solidFill>
              <a:prstDash val="solid"/>
              <a:headEnd type="none" w="med" len="med"/>
              <a:tailEnd type="none" w="med" len="med"/>
            </a:ln>
          </p:spPr>
        </p:sp>
        <p:sp>
          <p:nvSpPr>
            <p:cNvPr id="176162" name="Line 11"/>
            <p:cNvSpPr/>
            <p:nvPr/>
          </p:nvSpPr>
          <p:spPr>
            <a:xfrm>
              <a:off x="5760" y="4167"/>
              <a:ext cx="1" cy="312"/>
            </a:xfrm>
            <a:prstGeom prst="line">
              <a:avLst/>
            </a:prstGeom>
            <a:ln w="9525" cap="flat" cmpd="sng">
              <a:solidFill>
                <a:srgbClr val="000000"/>
              </a:solidFill>
              <a:prstDash val="solid"/>
              <a:headEnd type="none" w="med" len="med"/>
              <a:tailEnd type="none" w="med" len="med"/>
            </a:ln>
          </p:spPr>
        </p:sp>
        <p:sp>
          <p:nvSpPr>
            <p:cNvPr id="176163" name="Line 10"/>
            <p:cNvSpPr/>
            <p:nvPr/>
          </p:nvSpPr>
          <p:spPr>
            <a:xfrm>
              <a:off x="3930" y="4401"/>
              <a:ext cx="1800" cy="0"/>
            </a:xfrm>
            <a:prstGeom prst="line">
              <a:avLst/>
            </a:prstGeom>
            <a:ln w="9525" cap="flat" cmpd="sng">
              <a:solidFill>
                <a:srgbClr val="000000"/>
              </a:solidFill>
              <a:prstDash val="solid"/>
              <a:headEnd type="triangle" w="med" len="med"/>
              <a:tailEnd type="triangle" w="med" len="med"/>
            </a:ln>
          </p:spPr>
        </p:sp>
        <p:sp>
          <p:nvSpPr>
            <p:cNvPr id="176164" name="AutoShape 9"/>
            <p:cNvSpPr/>
            <p:nvPr/>
          </p:nvSpPr>
          <p:spPr>
            <a:xfrm>
              <a:off x="3780" y="3388"/>
              <a:ext cx="360" cy="312"/>
            </a:xfrm>
            <a:prstGeom prst="rightArrow">
              <a:avLst>
                <a:gd name="adj1" fmla="val 50000"/>
                <a:gd name="adj2" fmla="val 28846"/>
              </a:avLst>
            </a:prstGeom>
            <a:solidFill>
              <a:srgbClr val="FFFF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76165" name="AutoShape 8"/>
            <p:cNvSpPr/>
            <p:nvPr/>
          </p:nvSpPr>
          <p:spPr>
            <a:xfrm>
              <a:off x="5940" y="3388"/>
              <a:ext cx="360" cy="312"/>
            </a:xfrm>
            <a:prstGeom prst="rightArrow">
              <a:avLst>
                <a:gd name="adj1" fmla="val 50000"/>
                <a:gd name="adj2" fmla="val 28846"/>
              </a:avLst>
            </a:prstGeom>
            <a:solidFill>
              <a:srgbClr val="FFFF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76166" name="Line 7"/>
            <p:cNvSpPr/>
            <p:nvPr/>
          </p:nvSpPr>
          <p:spPr>
            <a:xfrm>
              <a:off x="4140" y="2140"/>
              <a:ext cx="0" cy="624"/>
            </a:xfrm>
            <a:prstGeom prst="line">
              <a:avLst/>
            </a:prstGeom>
            <a:ln w="9525" cap="flat" cmpd="sng">
              <a:solidFill>
                <a:srgbClr val="000000"/>
              </a:solidFill>
              <a:prstDash val="sysDot"/>
              <a:headEnd type="none" w="med" len="med"/>
              <a:tailEnd type="none" w="med" len="med"/>
            </a:ln>
          </p:spPr>
        </p:sp>
        <p:sp>
          <p:nvSpPr>
            <p:cNvPr id="176167" name="Text Box 6"/>
            <p:cNvSpPr txBox="1"/>
            <p:nvPr/>
          </p:nvSpPr>
          <p:spPr>
            <a:xfrm>
              <a:off x="3960" y="1204"/>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QCB2</a:t>
              </a:r>
              <a:endParaRPr lang="en-US" altLang="zh-CN" sz="1600" b="1" dirty="0"/>
            </a:p>
          </p:txBody>
        </p:sp>
        <p:sp>
          <p:nvSpPr>
            <p:cNvPr id="176168" name="Text Box 5"/>
            <p:cNvSpPr txBox="1"/>
            <p:nvPr/>
          </p:nvSpPr>
          <p:spPr>
            <a:xfrm>
              <a:off x="3960" y="1516"/>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cs typeface="Times New Roman" panose="02020603050405020304" pitchFamily="18" charset="0"/>
                </a:rPr>
                <a:t>……</a:t>
              </a:r>
              <a:endParaRPr lang="en-US" altLang="zh-CN" sz="1600" b="1" dirty="0"/>
            </a:p>
          </p:txBody>
        </p:sp>
      </p:grpSp>
      <p:sp>
        <p:nvSpPr>
          <p:cNvPr id="176133" name="Rectangle 56"/>
          <p:cNvSpPr/>
          <p:nvPr/>
        </p:nvSpPr>
        <p:spPr>
          <a:xfrm>
            <a:off x="1981200" y="5853113"/>
            <a:ext cx="4913313" cy="3968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800000"/>
                </a:solidFill>
                <a:latin typeface="楷体_GB2312" pitchFamily="49" charset="-122"/>
                <a:ea typeface="楷体_GB2312" pitchFamily="49" charset="-122"/>
              </a:rPr>
              <a:t>消息队列及其相关的参数和支持数据结构 </a:t>
            </a:r>
            <a:endParaRPr lang="zh-CN" altLang="en-US" sz="2000" b="1" dirty="0">
              <a:solidFill>
                <a:srgbClr val="800000"/>
              </a:solidFill>
              <a:latin typeface="楷体_GB2312" pitchFamily="49" charset="-122"/>
              <a:ea typeface="楷体_GB2312" pitchFamily="49" charset="-122"/>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标题 1"/>
          <p:cNvSpPr>
            <a:spLocks noGrp="1"/>
          </p:cNvSpPr>
          <p:nvPr>
            <p:ph type="title"/>
          </p:nvPr>
        </p:nvSpPr>
        <p:spPr>
          <a:ln/>
        </p:spPr>
        <p:txBody>
          <a:bodyPr vert="horz" wrap="square" lIns="91440" tIns="45720" rIns="91440" bIns="45720" anchor="ctr" anchorCtr="0"/>
          <a:p>
            <a:r>
              <a:rPr lang="en-US" altLang="zh-CN" b="1" dirty="0"/>
              <a:t>Linux</a:t>
            </a:r>
            <a:r>
              <a:rPr lang="zh-CN" altLang="en-US" b="1" dirty="0"/>
              <a:t>的消息队列</a:t>
            </a:r>
            <a:endParaRPr lang="zh-CN" altLang="en-US" b="1" dirty="0"/>
          </a:p>
        </p:txBody>
      </p:sp>
      <p:sp>
        <p:nvSpPr>
          <p:cNvPr id="177155" name="内容占位符 2"/>
          <p:cNvSpPr>
            <a:spLocks noGrp="1"/>
          </p:cNvSpPr>
          <p:nvPr>
            <p:ph idx="1"/>
          </p:nvPr>
        </p:nvSpPr>
        <p:spPr>
          <a:ln/>
        </p:spPr>
        <p:txBody>
          <a:bodyPr vert="horz" wrap="square" lIns="91440" tIns="45720" rIns="91440" bIns="45720" anchor="t" anchorCtr="0"/>
          <a:p>
            <a:r>
              <a:rPr lang="zh-CN" altLang="en-US" dirty="0">
                <a:solidFill>
                  <a:srgbClr val="111111"/>
                </a:solidFill>
              </a:rPr>
              <a:t>函数声明： </a:t>
            </a:r>
            <a:r>
              <a:rPr lang="en-US" altLang="zh-CN" dirty="0">
                <a:solidFill>
                  <a:srgbClr val="FF0000"/>
                </a:solidFill>
              </a:rPr>
              <a:t>int msgsnd ( int msqid, struct msgbuf *msgp, int msgsz, int msgflg )</a:t>
            </a:r>
            <a:endParaRPr lang="en-US" altLang="zh-CN" dirty="0">
              <a:solidFill>
                <a:srgbClr val="FF0000"/>
              </a:solidFill>
            </a:endParaRPr>
          </a:p>
          <a:p>
            <a:r>
              <a:rPr lang="zh-CN" altLang="en-US" dirty="0">
                <a:solidFill>
                  <a:srgbClr val="FF0000"/>
                </a:solidFill>
              </a:rPr>
              <a:t>注意：</a:t>
            </a:r>
            <a:r>
              <a:rPr lang="zh-CN" altLang="en-US" dirty="0"/>
              <a:t>参数</a:t>
            </a:r>
            <a:r>
              <a:rPr lang="en-US" altLang="zh-CN" dirty="0"/>
              <a:t>msgflg0</a:t>
            </a:r>
            <a:r>
              <a:rPr lang="zh-CN" altLang="en-US" dirty="0"/>
              <a:t>，忽略标志位；</a:t>
            </a:r>
            <a:br>
              <a:rPr lang="zh-CN" altLang="en-US" dirty="0"/>
            </a:br>
            <a:r>
              <a:rPr lang="en-US" altLang="zh-CN" dirty="0"/>
              <a:t>IPC_NOWAIT</a:t>
            </a:r>
            <a:r>
              <a:rPr lang="zh-CN" altLang="en-US" dirty="0"/>
              <a:t>，如果消息队列已满，消息将不被写入队列，控制权返回调用函数的线</a:t>
            </a:r>
            <a:br>
              <a:rPr lang="zh-CN" altLang="en-US" dirty="0"/>
            </a:br>
            <a:r>
              <a:rPr lang="zh-CN" altLang="en-US" dirty="0"/>
              <a:t>程。如果不指定这个参数，线程将被阻塞直到消息被可以被写入。</a:t>
            </a:r>
            <a:endParaRPr lang="zh-CN" alt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标题 1"/>
          <p:cNvSpPr>
            <a:spLocks noGrp="1"/>
          </p:cNvSpPr>
          <p:nvPr>
            <p:ph type="title"/>
          </p:nvPr>
        </p:nvSpPr>
        <p:spPr>
          <a:ln/>
        </p:spPr>
        <p:txBody>
          <a:bodyPr vert="horz" wrap="square" lIns="91440" tIns="45720" rIns="91440" bIns="45720" anchor="ctr" anchorCtr="0"/>
          <a:p>
            <a:endParaRPr lang="zh-CN" altLang="en-US" dirty="0"/>
          </a:p>
        </p:txBody>
      </p:sp>
      <p:sp>
        <p:nvSpPr>
          <p:cNvPr id="178179" name="内容占位符 2"/>
          <p:cNvSpPr>
            <a:spLocks noGrp="1"/>
          </p:cNvSpPr>
          <p:nvPr>
            <p:ph idx="1"/>
          </p:nvPr>
        </p:nvSpPr>
        <p:spPr>
          <a:ln/>
        </p:spPr>
        <p:txBody>
          <a:bodyPr vert="horz" wrap="square" lIns="91440" tIns="45720" rIns="91440" bIns="45720" anchor="t" anchorCtr="0"/>
          <a:p>
            <a:r>
              <a:rPr lang="zh-CN" altLang="en-US" dirty="0"/>
              <a:t>函数声明： </a:t>
            </a:r>
            <a:r>
              <a:rPr lang="en-US" altLang="zh-CN" dirty="0">
                <a:solidFill>
                  <a:srgbClr val="FF0000"/>
                </a:solidFill>
              </a:rPr>
              <a:t>int msgrcv ( int msqid, struct msgbuf *msgp, int msgsz, long mtype,int msgflg )</a:t>
            </a:r>
            <a:endParaRPr lang="en-US" altLang="zh-CN" dirty="0">
              <a:solidFill>
                <a:srgbClr val="FF0000"/>
              </a:solidFill>
            </a:endParaRPr>
          </a:p>
          <a:p>
            <a:r>
              <a:rPr lang="zh-CN" altLang="en-US" dirty="0"/>
              <a:t>注意：第四个参数</a:t>
            </a:r>
            <a:r>
              <a:rPr lang="en-US" altLang="zh-CN" dirty="0"/>
              <a:t>mtype</a:t>
            </a:r>
            <a:r>
              <a:rPr lang="zh-CN" altLang="en-US" dirty="0"/>
              <a:t>指定了函数从队列中所取的消息的类型。函数将从队列中搜索类型与之匹配的消息并将之返回。如果</a:t>
            </a:r>
            <a:r>
              <a:rPr lang="en-US" altLang="zh-CN" dirty="0"/>
              <a:t>mtype </a:t>
            </a:r>
            <a:r>
              <a:rPr lang="zh-CN" altLang="en-US" dirty="0"/>
              <a:t>的值是零的话，函数将不做类型检查而自动返回队列中的最旧的消息。</a:t>
            </a:r>
            <a:endParaRPr lang="zh-CN" alt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标题 1"/>
          <p:cNvSpPr>
            <a:spLocks noGrp="1"/>
          </p:cNvSpPr>
          <p:nvPr>
            <p:ph type="title"/>
          </p:nvPr>
        </p:nvSpPr>
        <p:spPr>
          <a:ln/>
        </p:spPr>
        <p:txBody>
          <a:bodyPr vert="horz" wrap="square" lIns="91440" tIns="45720" rIns="91440" bIns="45720" anchor="ctr" anchorCtr="0"/>
          <a:p>
            <a:endParaRPr lang="zh-CN" altLang="en-US" dirty="0"/>
          </a:p>
        </p:txBody>
      </p:sp>
      <p:sp>
        <p:nvSpPr>
          <p:cNvPr id="179203" name="内容占位符 2"/>
          <p:cNvSpPr>
            <a:spLocks noGrp="1"/>
          </p:cNvSpPr>
          <p:nvPr>
            <p:ph idx="1"/>
          </p:nvPr>
        </p:nvSpPr>
        <p:spPr>
          <a:ln/>
        </p:spPr>
        <p:txBody>
          <a:bodyPr vert="horz" wrap="square" lIns="91440" tIns="45720" rIns="91440" bIns="45720" anchor="t" anchorCtr="0"/>
          <a:p>
            <a:r>
              <a:rPr lang="zh-CN" altLang="en-US" dirty="0"/>
              <a:t>函数说明：</a:t>
            </a:r>
            <a:r>
              <a:rPr lang="en-US" altLang="zh-CN" dirty="0">
                <a:solidFill>
                  <a:srgbClr val="FF0000"/>
                </a:solidFill>
              </a:rPr>
              <a:t>int msgget(key_t key, int msgflg); </a:t>
            </a:r>
            <a:r>
              <a:rPr lang="zh-CN" altLang="en-US" dirty="0"/>
              <a:t>创建消息队列</a:t>
            </a:r>
            <a:endParaRPr lang="zh-CN" altLang="en-US" dirty="0"/>
          </a:p>
          <a:p>
            <a:r>
              <a:rPr lang="zh-CN" altLang="en-US" dirty="0"/>
              <a:t>参数： </a:t>
            </a:r>
            <a:endParaRPr lang="zh-CN" altLang="en-US" dirty="0"/>
          </a:p>
          <a:p>
            <a:r>
              <a:rPr lang="en-US" altLang="zh-CN" dirty="0"/>
              <a:t>key</a:t>
            </a:r>
            <a:r>
              <a:rPr lang="zh-CN" altLang="en-US" dirty="0"/>
              <a:t>：消息队列关联的键。 </a:t>
            </a:r>
            <a:endParaRPr lang="zh-CN" altLang="en-US" dirty="0"/>
          </a:p>
          <a:p>
            <a:r>
              <a:rPr lang="en-US" altLang="zh-CN" dirty="0"/>
              <a:t>msgflg</a:t>
            </a:r>
            <a:r>
              <a:rPr lang="zh-CN" altLang="en-US" dirty="0"/>
              <a:t>：消息队列的建立标志和存取权限。 </a:t>
            </a:r>
            <a:endParaRPr lang="zh-CN" altLang="en-US" dirty="0"/>
          </a:p>
          <a:p>
            <a:r>
              <a:rPr lang="zh-CN" altLang="en-US" dirty="0"/>
              <a:t>返回说明： </a:t>
            </a:r>
            <a:endParaRPr lang="zh-CN" altLang="en-US" dirty="0"/>
          </a:p>
          <a:p>
            <a:r>
              <a:rPr lang="zh-CN" altLang="en-US" dirty="0"/>
              <a:t>成功执行时，返回消息队列标识值。失败返回</a:t>
            </a:r>
            <a:r>
              <a:rPr lang="en-US" altLang="zh-CN" dirty="0"/>
              <a:t>-1</a:t>
            </a:r>
            <a:r>
              <a:rPr lang="zh-CN" altLang="en-US" dirty="0"/>
              <a:t>，</a:t>
            </a:r>
            <a:endParaRPr lang="zh-CN" altLang="en-US" dirty="0"/>
          </a:p>
          <a:p>
            <a:endParaRPr lang="zh-CN" altLang="en-US"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22313" y="1905000"/>
            <a:ext cx="7772400" cy="38639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all" spc="0" normalizeH="0" baseline="0" noProof="0" dirty="0" smtClean="0">
                <a:ln>
                  <a:noFill/>
                </a:ln>
                <a:solidFill>
                  <a:schemeClr val="tx2"/>
                </a:solidFill>
                <a:effectLst/>
                <a:uLnTx/>
                <a:uFillTx/>
                <a:latin typeface="+mj-lt"/>
                <a:ea typeface="+mj-ea"/>
                <a:cs typeface="+mj-cs"/>
              </a:rPr>
              <a:t>用</a:t>
            </a:r>
            <a:r>
              <a:rPr kumimoji="0" lang="en-US" altLang="zh-CN" sz="3600" b="1" i="0" u="none" strike="noStrike" kern="0" cap="all" spc="0" normalizeH="0" baseline="0" noProof="0" dirty="0" smtClean="0">
                <a:ln>
                  <a:noFill/>
                </a:ln>
                <a:solidFill>
                  <a:schemeClr val="tx2"/>
                </a:solidFill>
                <a:effectLst/>
                <a:uLnTx/>
                <a:uFillTx/>
                <a:latin typeface="+mj-lt"/>
                <a:ea typeface="+mj-ea"/>
                <a:cs typeface="+mj-cs"/>
              </a:rPr>
              <a:t>Linux</a:t>
            </a:r>
            <a:r>
              <a:rPr kumimoji="0" lang="zh-CN" altLang="en-US" sz="3600" b="1" i="0" u="none" strike="noStrike" kern="0" cap="all" spc="0" normalizeH="0" baseline="0" noProof="0" dirty="0" smtClean="0">
                <a:ln>
                  <a:noFill/>
                </a:ln>
                <a:solidFill>
                  <a:schemeClr val="tx2"/>
                </a:solidFill>
                <a:effectLst/>
                <a:uLnTx/>
                <a:uFillTx/>
                <a:latin typeface="+mj-lt"/>
                <a:ea typeface="+mj-ea"/>
                <a:cs typeface="+mj-cs"/>
              </a:rPr>
              <a:t>的消息队列机制编程实现生产者</a:t>
            </a:r>
            <a:r>
              <a:rPr kumimoji="0" lang="en-US" altLang="zh-CN" sz="3600" b="1" i="0" u="none" strike="noStrike" kern="0" cap="all" spc="0" normalizeH="0" baseline="0" noProof="0" dirty="0" smtClean="0">
                <a:ln>
                  <a:noFill/>
                </a:ln>
                <a:solidFill>
                  <a:schemeClr val="tx2"/>
                </a:solidFill>
                <a:effectLst/>
                <a:uLnTx/>
                <a:uFillTx/>
                <a:latin typeface="+mj-lt"/>
                <a:ea typeface="+mj-ea"/>
                <a:cs typeface="+mj-cs"/>
              </a:rPr>
              <a:t>-</a:t>
            </a:r>
            <a:r>
              <a:rPr kumimoji="0" lang="zh-CN" altLang="en-US" sz="3600" b="1" i="0" u="none" strike="noStrike" kern="0" cap="all" spc="0" normalizeH="0" baseline="0" noProof="0" dirty="0" smtClean="0">
                <a:ln>
                  <a:noFill/>
                </a:ln>
                <a:solidFill>
                  <a:schemeClr val="tx2"/>
                </a:solidFill>
                <a:effectLst/>
                <a:uLnTx/>
                <a:uFillTx/>
                <a:latin typeface="+mj-lt"/>
                <a:ea typeface="+mj-ea"/>
                <a:cs typeface="+mj-cs"/>
              </a:rPr>
              <a:t>消费者问题。</a:t>
            </a:r>
            <a:endParaRPr kumimoji="0" lang="zh-CN" altLang="en-US" sz="3600" b="1" i="0" u="none" strike="noStrike" kern="0" cap="all" spc="0" normalizeH="0" baseline="0" noProof="0" dirty="0">
              <a:ln>
                <a:noFill/>
              </a:ln>
              <a:solidFill>
                <a:schemeClr val="tx2"/>
              </a:solidFill>
              <a:effectLst/>
              <a:uLnTx/>
              <a:uFillTx/>
              <a:latin typeface="+mj-lt"/>
              <a:ea typeface="+mj-ea"/>
              <a:cs typeface="+mj-cs"/>
            </a:endParaRPr>
          </a:p>
        </p:txBody>
      </p:sp>
      <p:sp>
        <p:nvSpPr>
          <p:cNvPr id="180227" name="文本占位符 2"/>
          <p:cNvSpPr>
            <a:spLocks noGrp="1"/>
          </p:cNvSpPr>
          <p:nvPr>
            <p:ph type="body" idx="1"/>
          </p:nvPr>
        </p:nvSpPr>
        <p:spPr>
          <a:xfrm>
            <a:off x="533400" y="381000"/>
            <a:ext cx="7772400" cy="1119188"/>
          </a:xfrm>
          <a:ln/>
        </p:spPr>
        <p:txBody>
          <a:bodyPr vert="horz" wrap="square" lIns="91440" tIns="45720" rIns="91440" bIns="45720" anchor="b" anchorCtr="0"/>
          <a:p>
            <a:pPr>
              <a:buSzPct val="85000"/>
            </a:pPr>
            <a:r>
              <a:rPr lang="zh-CN" altLang="en-US" sz="4000" dirty="0">
                <a:latin typeface="+mn-lt"/>
                <a:ea typeface="+mn-ea"/>
                <a:cs typeface="+mn-cs"/>
              </a:rPr>
              <a:t>作业</a:t>
            </a:r>
            <a:r>
              <a:rPr lang="en-US" altLang="zh-CN" sz="4000" dirty="0">
                <a:latin typeface="+mn-lt"/>
                <a:ea typeface="+mn-ea"/>
                <a:cs typeface="+mn-cs"/>
              </a:rPr>
              <a:t>4</a:t>
            </a:r>
            <a:r>
              <a:rPr lang="zh-CN" altLang="en-US" sz="4000" dirty="0">
                <a:latin typeface="+mn-lt"/>
                <a:ea typeface="+mn-ea"/>
                <a:cs typeface="+mn-cs"/>
              </a:rPr>
              <a:t>：</a:t>
            </a:r>
            <a:endParaRPr lang="zh-CN" altLang="en-US" sz="4000" dirty="0">
              <a:latin typeface="+mn-lt"/>
              <a:ea typeface="+mn-ea"/>
              <a:cs typeface="+mn-cs"/>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0875" y="1035688"/>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
        <p:nvSpPr>
          <p:cNvPr id="10" name="Rectangle 2051"/>
          <p:cNvSpPr txBox="1">
            <a:spLocks noChangeArrowheads="1"/>
          </p:cNvSpPr>
          <p:nvPr/>
        </p:nvSpPr>
        <p:spPr bwMode="auto">
          <a:xfrm>
            <a:off x="2316876" y="1984838"/>
            <a:ext cx="3967085" cy="315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42900" indent="-342900"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l"/>
              <a:defRPr sz="24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9pPr>
          </a:lstStyle>
          <a:p>
            <a:pPr eaLnBrk="1" hangingPunct="1">
              <a:lnSpc>
                <a:spcPct val="150000"/>
              </a:lnSpc>
              <a:defRPr/>
            </a:pPr>
            <a:r>
              <a:rPr lang="en-US" altLang="zh-CN" sz="2100" kern="0" dirty="0" smtClean="0">
                <a:solidFill>
                  <a:srgbClr val="C00000"/>
                </a:solidFill>
                <a:latin typeface="微软雅黑" panose="020B0503020204020204" charset="-122"/>
                <a:ea typeface="微软雅黑" panose="020B0503020204020204" charset="-122"/>
              </a:rPr>
              <a:t>2.7.1</a:t>
            </a:r>
            <a:r>
              <a:rPr lang="zh-CN" altLang="en-US" sz="2100" kern="0" dirty="0" smtClean="0">
                <a:solidFill>
                  <a:srgbClr val="C00000"/>
                </a:solidFill>
                <a:latin typeface="微软雅黑" panose="020B0503020204020204" charset="-122"/>
                <a:ea typeface="微软雅黑" panose="020B0503020204020204" charset="-122"/>
              </a:rPr>
              <a:t> </a:t>
            </a:r>
            <a:r>
              <a:rPr lang="zh-CN" altLang="en-US" sz="2100" kern="0" dirty="0">
                <a:solidFill>
                  <a:srgbClr val="C00000"/>
                </a:solidFill>
                <a:latin typeface="微软雅黑" panose="020B0503020204020204" charset="-122"/>
                <a:ea typeface="微软雅黑" panose="020B0503020204020204" charset="-122"/>
              </a:rPr>
              <a:t>线程概述</a:t>
            </a:r>
            <a:endParaRPr lang="en-US" altLang="zh-CN" sz="2100" kern="0" dirty="0">
              <a:solidFill>
                <a:srgbClr val="C00000"/>
              </a:solidFill>
              <a:latin typeface="微软雅黑" panose="020B0503020204020204" charset="-122"/>
              <a:ea typeface="微软雅黑" panose="020B0503020204020204" charset="-122"/>
            </a:endParaRPr>
          </a:p>
          <a:p>
            <a:pPr eaLnBrk="1" hangingPunct="1">
              <a:lnSpc>
                <a:spcPct val="150000"/>
              </a:lnSpc>
              <a:defRPr/>
            </a:pPr>
            <a:r>
              <a:rPr lang="en-US" altLang="zh-CN" sz="2100" kern="0" dirty="0">
                <a:solidFill>
                  <a:schemeClr val="bg2">
                    <a:lumMod val="25000"/>
                  </a:schemeClr>
                </a:solidFill>
                <a:latin typeface="微软雅黑" panose="020B0503020204020204" charset="-122"/>
                <a:ea typeface="微软雅黑" panose="020B0503020204020204" charset="-122"/>
              </a:rPr>
              <a:t>2.7.2</a:t>
            </a:r>
            <a:r>
              <a:rPr lang="zh-CN" altLang="en-US" sz="2100" kern="0" dirty="0">
                <a:solidFill>
                  <a:schemeClr val="bg2">
                    <a:lumMod val="25000"/>
                  </a:schemeClr>
                </a:solidFill>
                <a:latin typeface="微软雅黑" panose="020B0503020204020204" charset="-122"/>
                <a:ea typeface="微软雅黑" panose="020B0503020204020204" charset="-122"/>
              </a:rPr>
              <a:t> 线程与进程的比较</a:t>
            </a:r>
            <a:endParaRPr lang="en-US" altLang="zh-CN" sz="2100" kern="0" dirty="0">
              <a:solidFill>
                <a:schemeClr val="bg2">
                  <a:lumMod val="25000"/>
                </a:schemeClr>
              </a:solidFill>
              <a:latin typeface="微软雅黑" panose="020B0503020204020204" charset="-122"/>
              <a:ea typeface="微软雅黑" panose="020B0503020204020204" charset="-122"/>
            </a:endParaRPr>
          </a:p>
          <a:p>
            <a:pPr eaLnBrk="1" hangingPunct="1">
              <a:lnSpc>
                <a:spcPct val="150000"/>
              </a:lnSpc>
              <a:defRPr/>
            </a:pPr>
            <a:r>
              <a:rPr lang="en-US" altLang="zh-CN" sz="2100" kern="0" dirty="0">
                <a:solidFill>
                  <a:schemeClr val="bg2">
                    <a:lumMod val="25000"/>
                  </a:schemeClr>
                </a:solidFill>
                <a:latin typeface="微软雅黑" panose="020B0503020204020204" charset="-122"/>
                <a:ea typeface="微软雅黑" panose="020B0503020204020204" charset="-122"/>
              </a:rPr>
              <a:t>2.7.3</a:t>
            </a:r>
            <a:r>
              <a:rPr lang="zh-CN" altLang="en-US" sz="2100" kern="0" dirty="0">
                <a:solidFill>
                  <a:schemeClr val="bg2">
                    <a:lumMod val="25000"/>
                  </a:schemeClr>
                </a:solidFill>
                <a:latin typeface="微软雅黑" panose="020B0503020204020204" charset="-122"/>
                <a:ea typeface="微软雅黑" panose="020B0503020204020204" charset="-122"/>
              </a:rPr>
              <a:t> 线程的控制</a:t>
            </a:r>
            <a:endParaRPr lang="en-US" altLang="zh-CN" sz="2100" kern="0" dirty="0">
              <a:solidFill>
                <a:schemeClr val="bg2">
                  <a:lumMod val="25000"/>
                </a:schemeClr>
              </a:solidFill>
              <a:latin typeface="微软雅黑" panose="020B0503020204020204" charset="-122"/>
              <a:ea typeface="微软雅黑" panose="020B0503020204020204" charset="-122"/>
            </a:endParaRPr>
          </a:p>
          <a:p>
            <a:pPr eaLnBrk="1" hangingPunct="1">
              <a:lnSpc>
                <a:spcPct val="150000"/>
              </a:lnSpc>
              <a:defRPr/>
            </a:pPr>
            <a:r>
              <a:rPr kumimoji="1" lang="en-US" altLang="zh-CN" sz="2100" dirty="0">
                <a:solidFill>
                  <a:srgbClr val="002060"/>
                </a:solidFill>
                <a:latin typeface="微软雅黑" panose="020B0503020204020204" charset="-122"/>
                <a:ea typeface="微软雅黑" panose="020B0503020204020204" charset="-122"/>
              </a:rPr>
              <a:t>2.7.4</a:t>
            </a:r>
            <a:r>
              <a:rPr kumimoji="1" lang="zh-CN" altLang="en-US" sz="2100" dirty="0">
                <a:solidFill>
                  <a:srgbClr val="002060"/>
                </a:solidFill>
                <a:latin typeface="微软雅黑" panose="020B0503020204020204" charset="-122"/>
                <a:ea typeface="微软雅黑" panose="020B0503020204020204" charset="-122"/>
              </a:rPr>
              <a:t> 线程的属性</a:t>
            </a:r>
            <a:endParaRPr lang="en-US" altLang="zh-CN" sz="2100" kern="0" dirty="0">
              <a:solidFill>
                <a:srgbClr val="C00000"/>
              </a:solidFill>
              <a:latin typeface="微软雅黑" panose="020B0503020204020204" charset="-122"/>
              <a:ea typeface="微软雅黑" panose="020B0503020204020204" charset="-122"/>
            </a:endParaRPr>
          </a:p>
          <a:p>
            <a:pPr eaLnBrk="1" hangingPunct="1">
              <a:lnSpc>
                <a:spcPct val="150000"/>
              </a:lnSpc>
              <a:defRPr/>
            </a:pPr>
            <a:r>
              <a:rPr lang="en-US" altLang="zh-CN" sz="2100" kern="0" dirty="0">
                <a:solidFill>
                  <a:schemeClr val="bg2">
                    <a:lumMod val="25000"/>
                  </a:schemeClr>
                </a:solidFill>
                <a:latin typeface="微软雅黑" panose="020B0503020204020204" charset="-122"/>
                <a:ea typeface="微软雅黑" panose="020B0503020204020204" charset="-122"/>
              </a:rPr>
              <a:t>2.7.5 </a:t>
            </a:r>
            <a:r>
              <a:rPr lang="zh-CN" altLang="en-US" sz="2100" kern="0" dirty="0">
                <a:solidFill>
                  <a:schemeClr val="bg2">
                    <a:lumMod val="25000"/>
                  </a:schemeClr>
                </a:solidFill>
                <a:latin typeface="微软雅黑" panose="020B0503020204020204" charset="-122"/>
                <a:ea typeface="微软雅黑" panose="020B0503020204020204" charset="-122"/>
              </a:rPr>
              <a:t>线程间的同步和通信</a:t>
            </a:r>
            <a:endParaRPr lang="en-US" altLang="zh-CN" sz="2100" kern="0" dirty="0">
              <a:solidFill>
                <a:schemeClr val="bg2">
                  <a:lumMod val="25000"/>
                </a:schemeClr>
              </a:solidFill>
              <a:latin typeface="微软雅黑" panose="020B0503020204020204" charset="-122"/>
              <a:ea typeface="微软雅黑" panose="020B0503020204020204" charset="-122"/>
            </a:endParaRPr>
          </a:p>
          <a:p>
            <a:pPr lvl="0" eaLnBrk="1" hangingPunct="1">
              <a:lnSpc>
                <a:spcPct val="150000"/>
              </a:lnSpc>
              <a:defRPr/>
            </a:pPr>
            <a:r>
              <a:rPr lang="en-US" altLang="zh-CN" sz="2100" kern="0" dirty="0">
                <a:solidFill>
                  <a:schemeClr val="bg2">
                    <a:lumMod val="25000"/>
                  </a:schemeClr>
                </a:solidFill>
                <a:latin typeface="微软雅黑" panose="020B0503020204020204" charset="-122"/>
                <a:ea typeface="微软雅黑" panose="020B0503020204020204" charset="-122"/>
              </a:rPr>
              <a:t>2.7.6  </a:t>
            </a:r>
            <a:r>
              <a:rPr lang="zh-CN" altLang="en-US" sz="2100" kern="0" dirty="0">
                <a:solidFill>
                  <a:schemeClr val="bg2">
                    <a:lumMod val="25000"/>
                  </a:schemeClr>
                </a:solidFill>
                <a:latin typeface="微软雅黑" panose="020B0503020204020204" charset="-122"/>
                <a:ea typeface="微软雅黑" panose="020B0503020204020204" charset="-122"/>
              </a:rPr>
              <a:t>线程的实现方式</a:t>
            </a:r>
            <a:endParaRPr lang="zh-CN" altLang="en-US" sz="2100" kern="0" dirty="0">
              <a:solidFill>
                <a:schemeClr val="bg2">
                  <a:lumMod val="25000"/>
                </a:schemeClr>
              </a:solidFill>
              <a:latin typeface="微软雅黑" panose="020B0503020204020204" charset="-122"/>
              <a:ea typeface="微软雅黑" panose="020B0503020204020204" charset="-122"/>
            </a:endParaRPr>
          </a:p>
          <a:p>
            <a:pPr eaLnBrk="1" hangingPunct="1">
              <a:lnSpc>
                <a:spcPct val="150000"/>
              </a:lnSpc>
              <a:defRPr/>
            </a:pPr>
            <a:endParaRPr lang="zh-CN" altLang="en-US" sz="2100" kern="0" dirty="0">
              <a:solidFill>
                <a:schemeClr val="bg2">
                  <a:lumMod val="25000"/>
                </a:schemeClr>
              </a:solidFill>
              <a:latin typeface="微软雅黑" panose="020B0503020204020204" charset="-122"/>
              <a:ea typeface="微软雅黑" panose="020B0503020204020204" charset="-122"/>
            </a:endParaRPr>
          </a:p>
        </p:txBody>
      </p:sp>
      <p:sp>
        <p:nvSpPr>
          <p:cNvPr id="3" name="矩形 2"/>
          <p:cNvSpPr/>
          <p:nvPr/>
        </p:nvSpPr>
        <p:spPr>
          <a:xfrm>
            <a:off x="7645400" y="1125605"/>
            <a:ext cx="1097280" cy="368300"/>
          </a:xfrm>
          <a:prstGeom prst="rect">
            <a:avLst/>
          </a:prstGeom>
        </p:spPr>
        <p:txBody>
          <a:bodyPr wrap="none">
            <a:spAutoFit/>
          </a:bodyPr>
          <a:lstStyle/>
          <a:p>
            <a:pPr algn="ctr">
              <a:defRPr/>
            </a:pPr>
            <a:r>
              <a:rPr lang="zh-CN" altLang="en-US" sz="1800" b="1" kern="0" dirty="0">
                <a:solidFill>
                  <a:schemeClr val="bg2">
                    <a:lumMod val="25000"/>
                  </a:schemeClr>
                </a:solidFill>
                <a:latin typeface="微软雅黑" panose="020B0503020204020204" charset="-122"/>
                <a:ea typeface="微软雅黑" panose="020B0503020204020204" charset="-122"/>
              </a:rPr>
              <a:t>主要内容</a:t>
            </a:r>
            <a:endParaRPr lang="en-US" altLang="zh-CN" sz="1800" b="1" kern="0" dirty="0">
              <a:solidFill>
                <a:schemeClr val="bg2">
                  <a:lumMod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3" name="Rectangle 3"/>
          <p:cNvSpPr>
            <a:spLocks noGrp="1" noRot="1" noChangeArrowheads="1"/>
          </p:cNvSpPr>
          <p:nvPr>
            <p:ph type="body" idx="1"/>
          </p:nvPr>
        </p:nvSpPr>
        <p:spPr>
          <a:xfrm>
            <a:off x="1082040" y="2327565"/>
            <a:ext cx="7868920" cy="2974181"/>
          </a:xfrm>
        </p:spPr>
        <p:txBody>
          <a:bodyPr/>
          <a:lstStyle/>
          <a:p>
            <a:r>
              <a:rPr kumimoji="1" lang="zh-CN" altLang="en-US" sz="2400" b="1" dirty="0">
                <a:latin typeface="微软雅黑" panose="020B0503020204020204" charset="-122"/>
                <a:ea typeface="微软雅黑" panose="020B0503020204020204" charset="-122"/>
              </a:rPr>
              <a:t>为使程序能并发执行，系统必须进行以下的一系列操作：</a:t>
            </a:r>
            <a:endParaRPr kumimoji="1" lang="zh-CN" altLang="en-US" sz="2400" b="1" dirty="0">
              <a:latin typeface="微软雅黑" panose="020B0503020204020204" charset="-122"/>
              <a:ea typeface="微软雅黑" panose="020B0503020204020204" charset="-122"/>
            </a:endParaRPr>
          </a:p>
          <a:p>
            <a:pPr marL="457200" indent="31750">
              <a:buFont typeface="+mj-ea"/>
              <a:buAutoNum type="circleNumDbPlain"/>
            </a:pPr>
            <a:r>
              <a:rPr kumimoji="1" lang="zh-CN" altLang="en-US" sz="2400" b="1" dirty="0">
                <a:latin typeface="微软雅黑" panose="020B0503020204020204" charset="-122"/>
                <a:ea typeface="微软雅黑" panose="020B0503020204020204" charset="-122"/>
              </a:rPr>
              <a:t>创建进程</a:t>
            </a:r>
            <a:endParaRPr kumimoji="1" lang="zh-CN" altLang="en-US" sz="2400" b="1" dirty="0">
              <a:latin typeface="微软雅黑" panose="020B0503020204020204" charset="-122"/>
              <a:ea typeface="微软雅黑" panose="020B0503020204020204" charset="-122"/>
            </a:endParaRPr>
          </a:p>
          <a:p>
            <a:pPr marL="457200" indent="31750">
              <a:buFont typeface="+mj-ea"/>
              <a:buAutoNum type="circleNumDbPlain"/>
            </a:pPr>
            <a:r>
              <a:rPr kumimoji="1" lang="zh-CN" altLang="en-US" sz="2400" b="1" dirty="0">
                <a:latin typeface="微软雅黑" panose="020B0503020204020204" charset="-122"/>
                <a:ea typeface="微软雅黑" panose="020B0503020204020204" charset="-122"/>
              </a:rPr>
              <a:t>撤消进程 </a:t>
            </a:r>
            <a:endParaRPr kumimoji="1" lang="zh-CN" altLang="en-US" sz="2400" b="1" dirty="0">
              <a:latin typeface="微软雅黑" panose="020B0503020204020204" charset="-122"/>
              <a:ea typeface="微软雅黑" panose="020B0503020204020204" charset="-122"/>
            </a:endParaRPr>
          </a:p>
          <a:p>
            <a:pPr marL="457200" indent="31750">
              <a:buFont typeface="+mj-ea"/>
              <a:buAutoNum type="circleNumDbPlain"/>
            </a:pPr>
            <a:r>
              <a:rPr kumimoji="1" lang="zh-CN" altLang="en-US" sz="2400" b="1" dirty="0">
                <a:latin typeface="微软雅黑" panose="020B0503020204020204" charset="-122"/>
                <a:ea typeface="微软雅黑" panose="020B0503020204020204" charset="-122"/>
              </a:rPr>
              <a:t>进程切换 </a:t>
            </a:r>
            <a:endParaRPr kumimoji="1" lang="zh-CN" altLang="en-US" sz="2400" b="1" dirty="0">
              <a:latin typeface="微软雅黑" panose="020B0503020204020204" charset="-122"/>
              <a:ea typeface="微软雅黑" panose="020B0503020204020204" charset="-122"/>
            </a:endParaRPr>
          </a:p>
          <a:p>
            <a:r>
              <a:rPr kumimoji="1" lang="zh-CN" altLang="en-US" sz="2400" b="1" dirty="0">
                <a:latin typeface="微软雅黑" panose="020B0503020204020204" charset="-122"/>
                <a:ea typeface="微软雅黑" panose="020B0503020204020204" charset="-122"/>
              </a:rPr>
              <a:t>由于进程是一个资源的拥有者，因此在创建、撤销和切换中，系统必须为此付出较大的时间和空间的开销。</a:t>
            </a:r>
            <a:endParaRPr kumimoji="1" lang="zh-CN" altLang="en-US" sz="2400" b="1" dirty="0">
              <a:latin typeface="微软雅黑" panose="020B0503020204020204" charset="-122"/>
              <a:ea typeface="微软雅黑" panose="020B0503020204020204" charset="-122"/>
            </a:endParaRPr>
          </a:p>
          <a:p>
            <a:r>
              <a:rPr kumimoji="1" lang="zh-CN" altLang="en-US" sz="2400" b="1" dirty="0">
                <a:solidFill>
                  <a:srgbClr val="FF0000"/>
                </a:solidFill>
                <a:latin typeface="微软雅黑" panose="020B0503020204020204" charset="-122"/>
                <a:ea typeface="微软雅黑" panose="020B0503020204020204" charset="-122"/>
              </a:rPr>
              <a:t>如何使多个程序更好的并发执行，同时又能减少系统开销？</a:t>
            </a:r>
            <a:endParaRPr kumimoji="1" lang="zh-CN" altLang="en-US" sz="2400" b="1" dirty="0">
              <a:solidFill>
                <a:srgbClr val="FF0000"/>
              </a:solidFill>
              <a:latin typeface="微软雅黑" panose="020B0503020204020204" charset="-122"/>
              <a:ea typeface="微软雅黑" panose="020B0503020204020204" charset="-122"/>
            </a:endParaRPr>
          </a:p>
          <a:p>
            <a:endParaRPr kumimoji="1" lang="zh-CN" altLang="en-US" sz="2400" b="1" dirty="0">
              <a:solidFill>
                <a:srgbClr val="FF0000"/>
              </a:solidFill>
              <a:latin typeface="微软雅黑" panose="020B0503020204020204" charset="-122"/>
              <a:ea typeface="微软雅黑" panose="020B0503020204020204" charset="-122"/>
            </a:endParaRPr>
          </a:p>
        </p:txBody>
      </p:sp>
      <p:sp>
        <p:nvSpPr>
          <p:cNvPr id="450565" name="Text Box 5"/>
          <p:cNvSpPr txBox="1">
            <a:spLocks noChangeArrowheads="1"/>
          </p:cNvSpPr>
          <p:nvPr/>
        </p:nvSpPr>
        <p:spPr bwMode="auto">
          <a:xfrm>
            <a:off x="1017040" y="1833362"/>
            <a:ext cx="2371320" cy="368300"/>
          </a:xfrm>
          <a:prstGeom prst="rect">
            <a:avLst/>
          </a:prstGeom>
          <a:noFill/>
          <a:ln w="9525">
            <a:noFill/>
            <a:miter lim="800000"/>
          </a:ln>
          <a:effectLst>
            <a:prstShdw prst="shdw18" dist="17961" dir="13500000">
              <a:schemeClr val="accent1">
                <a:gamma/>
                <a:shade val="60000"/>
                <a:invGamma/>
              </a:schemeClr>
            </a:prstShdw>
          </a:effectLst>
        </p:spPr>
        <p:txBody>
          <a:bodyPr wrap="square">
            <a:spAutoFit/>
          </a:bodyPr>
          <a:lstStyle/>
          <a:p>
            <a:pPr>
              <a:spcBef>
                <a:spcPct val="50000"/>
              </a:spcBef>
              <a:defRPr/>
            </a:pPr>
            <a:r>
              <a:rPr lang="en-US" altLang="zh-CN" sz="1800" b="1" dirty="0">
                <a:solidFill>
                  <a:srgbClr val="0000CC"/>
                </a:solidFill>
                <a:latin typeface="微软雅黑" panose="020B0503020204020204" charset="-122"/>
                <a:ea typeface="微软雅黑" panose="020B0503020204020204" charset="-122"/>
              </a:rPr>
              <a:t>1.</a:t>
            </a:r>
            <a:r>
              <a:rPr lang="zh-CN" altLang="en-US" sz="1800" b="1" dirty="0">
                <a:solidFill>
                  <a:srgbClr val="0000CC"/>
                </a:solidFill>
                <a:latin typeface="微软雅黑" panose="020B0503020204020204" charset="-122"/>
                <a:ea typeface="微软雅黑" panose="020B0503020204020204" charset="-122"/>
              </a:rPr>
              <a:t> 线程的引入</a:t>
            </a:r>
            <a:endParaRPr lang="zh-CN" altLang="en-US" sz="1800" b="1" dirty="0">
              <a:solidFill>
                <a:srgbClr val="0000CC"/>
              </a:solidFill>
              <a:latin typeface="微软雅黑" panose="020B0503020204020204" charset="-122"/>
              <a:ea typeface="微软雅黑" panose="020B0503020204020204" charset="-122"/>
            </a:endParaRPr>
          </a:p>
        </p:txBody>
      </p:sp>
      <p:sp>
        <p:nvSpPr>
          <p:cNvPr id="2" name="TextBox 1"/>
          <p:cNvSpPr txBox="1">
            <a:spLocks noChangeArrowheads="1"/>
          </p:cNvSpPr>
          <p:nvPr/>
        </p:nvSpPr>
        <p:spPr bwMode="auto">
          <a:xfrm>
            <a:off x="3736263" y="5211638"/>
            <a:ext cx="1247218"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None/>
              <a:defRPr/>
            </a:pPr>
            <a:r>
              <a:rPr lang="zh-CN" altLang="en-US" sz="2100" b="1" dirty="0">
                <a:solidFill>
                  <a:prstClr val="black"/>
                </a:solidFill>
                <a:latin typeface="微软雅黑" panose="020B0503020204020204" charset="-122"/>
                <a:ea typeface="微软雅黑" panose="020B0503020204020204" charset="-122"/>
              </a:rPr>
              <a:t>引入线程</a:t>
            </a:r>
            <a:endParaRPr lang="zh-CN" altLang="en-US" sz="2100" b="1" dirty="0">
              <a:solidFill>
                <a:prstClr val="black"/>
              </a:solidFill>
              <a:latin typeface="微软雅黑" panose="020B0503020204020204" charset="-122"/>
              <a:ea typeface="微软雅黑" panose="020B0503020204020204" charset="-122"/>
            </a:endParaRPr>
          </a:p>
        </p:txBody>
      </p:sp>
      <p:sp>
        <p:nvSpPr>
          <p:cNvPr id="6" name="标题 1"/>
          <p:cNvSpPr txBox="1"/>
          <p:nvPr/>
        </p:nvSpPr>
        <p:spPr>
          <a:xfrm>
            <a:off x="6906515" y="1176061"/>
            <a:ext cx="2171445"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2.7.1 </a:t>
            </a:r>
            <a:r>
              <a:rPr kumimoji="1" lang="zh-CN" altLang="en-US" sz="2100" dirty="0">
                <a:solidFill>
                  <a:srgbClr val="002060"/>
                </a:solidFill>
                <a:cs typeface="+mn-cs"/>
              </a:rPr>
              <a:t>线程概述</a:t>
            </a:r>
            <a:endParaRPr kumimoji="1" lang="zh-CN" altLang="en-US" sz="2100" dirty="0">
              <a:solidFill>
                <a:srgbClr val="002060"/>
              </a:solidFill>
              <a:cs typeface="+mn-cs"/>
            </a:endParaRPr>
          </a:p>
        </p:txBody>
      </p:sp>
      <p:sp>
        <p:nvSpPr>
          <p:cNvPr id="7" name="标题 1"/>
          <p:cNvSpPr>
            <a:spLocks noGrp="1"/>
          </p:cNvSpPr>
          <p:nvPr>
            <p:ph type="title"/>
          </p:nvPr>
        </p:nvSpPr>
        <p:spPr>
          <a:xfrm>
            <a:off x="1150875" y="1035688"/>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0163">
                                            <p:txEl>
                                              <p:pRg st="4" end="4"/>
                                            </p:txEl>
                                          </p:spTgt>
                                        </p:tgtEl>
                                        <p:attrNameLst>
                                          <p:attrName>style.visibility</p:attrName>
                                        </p:attrNameLst>
                                      </p:cBhvr>
                                      <p:to>
                                        <p:strVal val="visible"/>
                                      </p:to>
                                    </p:set>
                                    <p:animEffect transition="in" filter="wipe(left)">
                                      <p:cBhvr>
                                        <p:cTn id="7" dur="500"/>
                                        <p:tgtEl>
                                          <p:spTgt spid="22016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0163">
                                            <p:txEl>
                                              <p:pRg st="5" end="5"/>
                                            </p:txEl>
                                          </p:spTgt>
                                        </p:tgtEl>
                                        <p:attrNameLst>
                                          <p:attrName>style.visibility</p:attrName>
                                        </p:attrNameLst>
                                      </p:cBhvr>
                                      <p:to>
                                        <p:strVal val="visible"/>
                                      </p:to>
                                    </p:set>
                                    <p:animEffect transition="in" filter="wipe(left)">
                                      <p:cBhvr>
                                        <p:cTn id="12" dur="500"/>
                                        <p:tgtEl>
                                          <p:spTgt spid="22016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wipe(left)">
                                      <p:cBhvr>
                                        <p:cTn id="1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8480" y="1840865"/>
            <a:ext cx="8331200" cy="3868420"/>
          </a:xfrm>
        </p:spPr>
        <p:txBody>
          <a:bodyPr/>
          <a:lstStyle/>
          <a:p>
            <a:pPr>
              <a:lnSpc>
                <a:spcPct val="150000"/>
              </a:lnSpc>
              <a:spcBef>
                <a:spcPts val="0"/>
              </a:spcBef>
              <a:defRPr/>
            </a:pPr>
            <a:r>
              <a:rPr lang="zh-CN" altLang="en-US" sz="2400" dirty="0">
                <a:latin typeface="微软雅黑" panose="020B0503020204020204" charset="-122"/>
                <a:ea typeface="微软雅黑" panose="020B0503020204020204" charset="-122"/>
              </a:rPr>
              <a:t>进程的概念体现出两个特点： </a:t>
            </a:r>
            <a:endParaRPr lang="zh-CN" altLang="en-US" sz="2400" dirty="0">
              <a:latin typeface="微软雅黑" panose="020B0503020204020204" charset="-122"/>
              <a:ea typeface="微软雅黑" panose="020B0503020204020204" charset="-122"/>
            </a:endParaRPr>
          </a:p>
          <a:p>
            <a:pPr>
              <a:lnSpc>
                <a:spcPct val="150000"/>
              </a:lnSpc>
              <a:spcBef>
                <a:spcPts val="0"/>
              </a:spcBef>
              <a:buNone/>
              <a:defRPr/>
            </a:pPr>
            <a:r>
              <a:rPr lang="zh-CN" altLang="en-US" sz="2400" b="0" dirty="0">
                <a:latin typeface="微软雅黑" panose="020B0503020204020204" charset="-122"/>
                <a:ea typeface="微软雅黑" panose="020B0503020204020204" charset="-122"/>
              </a:rPr>
              <a:t>①</a:t>
            </a:r>
            <a:r>
              <a:rPr lang="zh-CN" altLang="en-US" sz="2400" b="0" dirty="0">
                <a:solidFill>
                  <a:schemeClr val="bg2">
                    <a:lumMod val="50000"/>
                  </a:schemeClr>
                </a:solidFill>
                <a:latin typeface="微软雅黑" panose="020B0503020204020204" charset="-122"/>
                <a:ea typeface="微软雅黑" panose="020B0503020204020204" charset="-122"/>
              </a:rPr>
              <a:t>资源所有权</a:t>
            </a:r>
            <a:r>
              <a:rPr lang="zh-CN" altLang="en-US" sz="2400" b="0" dirty="0">
                <a:latin typeface="微软雅黑" panose="020B0503020204020204" charset="-122"/>
                <a:ea typeface="微软雅黑" panose="020B0503020204020204" charset="-122"/>
              </a:rPr>
              <a:t>：一个进程包括一个保存进程映像的虚地址空间，并且随时分配对资源的控制或所有权，包括内存、</a:t>
            </a:r>
            <a:r>
              <a:rPr lang="en-US" altLang="zh-CN" sz="2400" b="0" dirty="0">
                <a:latin typeface="微软雅黑" panose="020B0503020204020204" charset="-122"/>
                <a:ea typeface="微软雅黑" panose="020B0503020204020204" charset="-122"/>
              </a:rPr>
              <a:t>I/O</a:t>
            </a:r>
            <a:r>
              <a:rPr lang="zh-CN" altLang="en-US" sz="2400" b="0" dirty="0">
                <a:latin typeface="微软雅黑" panose="020B0503020204020204" charset="-122"/>
                <a:ea typeface="微软雅黑" panose="020B0503020204020204" charset="-122"/>
              </a:rPr>
              <a:t>通道、</a:t>
            </a:r>
            <a:r>
              <a:rPr lang="en-US" altLang="zh-CN" sz="2400" b="0" dirty="0">
                <a:latin typeface="微软雅黑" panose="020B0503020204020204" charset="-122"/>
                <a:ea typeface="微软雅黑" panose="020B0503020204020204" charset="-122"/>
              </a:rPr>
              <a:t>I/O</a:t>
            </a:r>
            <a:r>
              <a:rPr lang="zh-CN" altLang="en-US" sz="2400" b="0" dirty="0">
                <a:latin typeface="微软雅黑" panose="020B0503020204020204" charset="-122"/>
                <a:ea typeface="微软雅黑" panose="020B0503020204020204" charset="-122"/>
              </a:rPr>
              <a:t>设备、文件等。</a:t>
            </a:r>
            <a:endParaRPr lang="zh-CN" altLang="en-US" sz="2400" b="0" dirty="0">
              <a:latin typeface="微软雅黑" panose="020B0503020204020204" charset="-122"/>
              <a:ea typeface="微软雅黑" panose="020B0503020204020204" charset="-122"/>
            </a:endParaRPr>
          </a:p>
          <a:p>
            <a:pPr>
              <a:lnSpc>
                <a:spcPct val="150000"/>
              </a:lnSpc>
              <a:spcBef>
                <a:spcPts val="0"/>
              </a:spcBef>
              <a:buNone/>
              <a:defRPr/>
            </a:pPr>
            <a:r>
              <a:rPr lang="zh-CN" altLang="en-US" sz="2400" b="0" dirty="0">
                <a:latin typeface="微软雅黑" panose="020B0503020204020204" charset="-122"/>
                <a:ea typeface="微软雅黑" panose="020B0503020204020204" charset="-122"/>
              </a:rPr>
              <a:t>②</a:t>
            </a:r>
            <a:r>
              <a:rPr lang="zh-CN" altLang="en-US" sz="2400" b="0" dirty="0">
                <a:solidFill>
                  <a:schemeClr val="bg2">
                    <a:lumMod val="50000"/>
                  </a:schemeClr>
                </a:solidFill>
                <a:latin typeface="微软雅黑" panose="020B0503020204020204" charset="-122"/>
                <a:ea typeface="微软雅黑" panose="020B0503020204020204" charset="-122"/>
              </a:rPr>
              <a:t>调度／执行：</a:t>
            </a:r>
            <a:r>
              <a:rPr lang="zh-CN" altLang="en-US" sz="2400" b="0" dirty="0">
                <a:latin typeface="微软雅黑" panose="020B0503020204020204" charset="-122"/>
                <a:ea typeface="微软雅黑" panose="020B0503020204020204" charset="-122"/>
              </a:rPr>
              <a:t>进程是被操作系统</a:t>
            </a:r>
            <a:r>
              <a:rPr lang="zh-CN" altLang="en-US" sz="2400" b="0" dirty="0">
                <a:solidFill>
                  <a:schemeClr val="bg2">
                    <a:lumMod val="50000"/>
                  </a:schemeClr>
                </a:solidFill>
                <a:latin typeface="微软雅黑" panose="020B0503020204020204" charset="-122"/>
                <a:ea typeface="微软雅黑" panose="020B0503020204020204" charset="-122"/>
              </a:rPr>
              <a:t>调度的实体</a:t>
            </a:r>
            <a:r>
              <a:rPr lang="zh-CN" altLang="en-US" sz="2400" b="0" dirty="0">
                <a:latin typeface="微软雅黑" panose="020B0503020204020204" charset="-122"/>
                <a:ea typeface="微软雅黑" panose="020B0503020204020204" charset="-122"/>
              </a:rPr>
              <a:t>。</a:t>
            </a:r>
            <a:endParaRPr lang="en-US" altLang="zh-CN" sz="2400" b="0" dirty="0">
              <a:latin typeface="微软雅黑" panose="020B0503020204020204" charset="-122"/>
              <a:ea typeface="微软雅黑" panose="020B0503020204020204" charset="-122"/>
            </a:endParaRPr>
          </a:p>
          <a:p>
            <a:pPr>
              <a:lnSpc>
                <a:spcPct val="150000"/>
              </a:lnSpc>
              <a:spcBef>
                <a:spcPts val="0"/>
              </a:spcBef>
              <a:buNone/>
              <a:defRPr/>
            </a:pPr>
            <a:endParaRPr lang="zh-CN" altLang="en-US" sz="2400" dirty="0">
              <a:latin typeface="楷体_GB2312" pitchFamily="49" charset="-122"/>
              <a:ea typeface="楷体_GB2312" pitchFamily="49" charset="-122"/>
            </a:endParaRPr>
          </a:p>
          <a:p>
            <a:pPr>
              <a:lnSpc>
                <a:spcPct val="150000"/>
              </a:lnSpc>
              <a:spcBef>
                <a:spcPts val="0"/>
              </a:spcBef>
              <a:defRPr/>
            </a:pPr>
            <a:r>
              <a:rPr lang="zh-CN" altLang="en-US" sz="2400" dirty="0">
                <a:latin typeface="微软雅黑" panose="020B0503020204020204" charset="-122"/>
                <a:ea typeface="微软雅黑" panose="020B0503020204020204" charset="-122"/>
              </a:rPr>
              <a:t>调度和分派的部分通常称为</a:t>
            </a:r>
            <a:r>
              <a:rPr lang="zh-CN" altLang="en-US" sz="2400" dirty="0">
                <a:solidFill>
                  <a:schemeClr val="bg2">
                    <a:lumMod val="50000"/>
                  </a:schemeClr>
                </a:solidFill>
                <a:effectLst>
                  <a:outerShdw blurRad="38100" dist="38100" dir="2700000" algn="tl">
                    <a:srgbClr val="C0C0C0"/>
                  </a:outerShdw>
                </a:effectLst>
                <a:latin typeface="微软雅黑" panose="020B0503020204020204" charset="-122"/>
                <a:ea typeface="微软雅黑" panose="020B0503020204020204" charset="-122"/>
              </a:rPr>
              <a:t>线程或轻型进程</a:t>
            </a:r>
            <a:r>
              <a:rPr lang="zh-CN" altLang="en-US" sz="2400" dirty="0">
                <a:latin typeface="微软雅黑" panose="020B0503020204020204" charset="-122"/>
                <a:ea typeface="微软雅黑" panose="020B0503020204020204" charset="-122"/>
              </a:rPr>
              <a:t>（</a:t>
            </a:r>
            <a:r>
              <a:rPr lang="en-US" altLang="zh-CN" sz="2400" dirty="0">
                <a:latin typeface="微软雅黑" panose="020B0503020204020204" charset="-122"/>
                <a:ea typeface="微软雅黑" panose="020B0503020204020204" charset="-122"/>
              </a:rPr>
              <a:t>lightweight process</a:t>
            </a:r>
            <a:r>
              <a:rPr lang="zh-CN" altLang="en-US" sz="2400" dirty="0">
                <a:latin typeface="微软雅黑" panose="020B0503020204020204" charset="-122"/>
                <a:ea typeface="微软雅黑" panose="020B0503020204020204" charset="-122"/>
              </a:rPr>
              <a:t>），而资源所有权的部分通常称为</a:t>
            </a:r>
            <a:r>
              <a:rPr lang="zh-CN" altLang="en-US" sz="2400" dirty="0">
                <a:solidFill>
                  <a:srgbClr val="0070C0"/>
                </a:solidFill>
                <a:latin typeface="微软雅黑" panose="020B0503020204020204" charset="-122"/>
                <a:ea typeface="微软雅黑" panose="020B0503020204020204" charset="-122"/>
              </a:rPr>
              <a:t>进程</a:t>
            </a:r>
            <a:r>
              <a:rPr lang="zh-CN" altLang="en-US" sz="2400" dirty="0">
                <a:latin typeface="微软雅黑" panose="020B0503020204020204" charset="-122"/>
                <a:ea typeface="微软雅黑" panose="020B0503020204020204" charset="-122"/>
              </a:rPr>
              <a:t>。</a:t>
            </a:r>
            <a:endParaRPr lang="zh-CN" altLang="en-US" sz="2400" dirty="0">
              <a:latin typeface="微软雅黑" panose="020B0503020204020204" charset="-122"/>
              <a:ea typeface="微软雅黑" panose="020B0503020204020204" charset="-122"/>
            </a:endParaRPr>
          </a:p>
          <a:p>
            <a:pPr>
              <a:lnSpc>
                <a:spcPct val="150000"/>
              </a:lnSpc>
              <a:spcBef>
                <a:spcPts val="0"/>
              </a:spcBef>
            </a:pPr>
            <a:endParaRPr lang="zh-CN" altLang="en-US" sz="2400" dirty="0">
              <a:latin typeface="微软雅黑" panose="020B0503020204020204" charset="-122"/>
              <a:ea typeface="微软雅黑" panose="020B0503020204020204" charset="-122"/>
            </a:endParaRPr>
          </a:p>
        </p:txBody>
      </p:sp>
      <p:sp>
        <p:nvSpPr>
          <p:cNvPr id="5" name="标题 1"/>
          <p:cNvSpPr txBox="1"/>
          <p:nvPr/>
        </p:nvSpPr>
        <p:spPr>
          <a:xfrm>
            <a:off x="6906515" y="1176061"/>
            <a:ext cx="2171445"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2.7.1 </a:t>
            </a:r>
            <a:r>
              <a:rPr kumimoji="1" lang="zh-CN" altLang="en-US" sz="2100" dirty="0">
                <a:solidFill>
                  <a:srgbClr val="002060"/>
                </a:solidFill>
                <a:cs typeface="+mn-cs"/>
              </a:rPr>
              <a:t>线程概述</a:t>
            </a:r>
            <a:endParaRPr kumimoji="1" lang="zh-CN" altLang="en-US" sz="2100" dirty="0">
              <a:solidFill>
                <a:srgbClr val="002060"/>
              </a:solidFill>
              <a:cs typeface="+mn-cs"/>
            </a:endParaRPr>
          </a:p>
        </p:txBody>
      </p:sp>
      <p:sp>
        <p:nvSpPr>
          <p:cNvPr id="6" name="标题 1"/>
          <p:cNvSpPr>
            <a:spLocks noGrp="1"/>
          </p:cNvSpPr>
          <p:nvPr>
            <p:ph type="title"/>
          </p:nvPr>
        </p:nvSpPr>
        <p:spPr>
          <a:xfrm>
            <a:off x="1150875" y="1035688"/>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left)">
                                      <p:cBhvr>
                                        <p:cTn id="7" dur="25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6565" y="2233295"/>
            <a:ext cx="8336915" cy="3282950"/>
          </a:xfrm>
        </p:spPr>
        <p:txBody>
          <a:bodyPr/>
          <a:lstStyle/>
          <a:p>
            <a:pPr>
              <a:lnSpc>
                <a:spcPct val="150000"/>
              </a:lnSpc>
              <a:spcBef>
                <a:spcPts val="0"/>
              </a:spcBef>
            </a:pPr>
            <a:r>
              <a:rPr lang="en-US" altLang="zh-CN" sz="2400" dirty="0">
                <a:latin typeface="微软雅黑" panose="020B0503020204020204" charset="-122"/>
                <a:ea typeface="微软雅黑" panose="020B0503020204020204" charset="-122"/>
              </a:rPr>
              <a:t>60</a:t>
            </a:r>
            <a:r>
              <a:rPr lang="zh-CN" altLang="en-US" sz="2400" dirty="0">
                <a:latin typeface="微软雅黑" panose="020B0503020204020204" charset="-122"/>
                <a:ea typeface="微软雅黑" panose="020B0503020204020204" charset="-122"/>
              </a:rPr>
              <a:t>年代：提出</a:t>
            </a:r>
            <a:r>
              <a:rPr lang="zh-CN" altLang="en-US" sz="2400" dirty="0">
                <a:solidFill>
                  <a:srgbClr val="FF0000"/>
                </a:solidFill>
                <a:latin typeface="微软雅黑" panose="020B0503020204020204" charset="-122"/>
                <a:ea typeface="微软雅黑" panose="020B0503020204020204" charset="-122"/>
              </a:rPr>
              <a:t>进程</a:t>
            </a:r>
            <a:r>
              <a:rPr lang="en-US" altLang="zh-CN" sz="2400" dirty="0">
                <a:solidFill>
                  <a:srgbClr val="FF0000"/>
                </a:solidFill>
                <a:latin typeface="微软雅黑" panose="020B0503020204020204" charset="-122"/>
                <a:ea typeface="微软雅黑" panose="020B0503020204020204" charset="-122"/>
              </a:rPr>
              <a:t>(Process)</a:t>
            </a:r>
            <a:r>
              <a:rPr lang="zh-CN" altLang="en-US" sz="2400" dirty="0">
                <a:latin typeface="微软雅黑" panose="020B0503020204020204" charset="-122"/>
                <a:ea typeface="微软雅黑" panose="020B0503020204020204" charset="-122"/>
              </a:rPr>
              <a:t>概念，在</a:t>
            </a:r>
            <a:r>
              <a:rPr lang="en-US" altLang="zh-CN" sz="2400" dirty="0">
                <a:latin typeface="微软雅黑" panose="020B0503020204020204" charset="-122"/>
                <a:ea typeface="微软雅黑" panose="020B0503020204020204" charset="-122"/>
              </a:rPr>
              <a:t>OS</a:t>
            </a:r>
            <a:r>
              <a:rPr lang="zh-CN" altLang="en-US" sz="2400" dirty="0">
                <a:latin typeface="微软雅黑" panose="020B0503020204020204" charset="-122"/>
                <a:ea typeface="微软雅黑" panose="020B0503020204020204" charset="-122"/>
              </a:rPr>
              <a:t>中一直都是以进程作为能拥有资源和独立运行的基本单位的。</a:t>
            </a:r>
            <a:endParaRPr lang="zh-CN" altLang="en-US" sz="2400" dirty="0">
              <a:latin typeface="微软雅黑" panose="020B0503020204020204" charset="-122"/>
              <a:ea typeface="微软雅黑" panose="020B0503020204020204" charset="-122"/>
            </a:endParaRPr>
          </a:p>
          <a:p>
            <a:pPr>
              <a:lnSpc>
                <a:spcPct val="150000"/>
              </a:lnSpc>
              <a:spcBef>
                <a:spcPts val="0"/>
              </a:spcBef>
            </a:pPr>
            <a:r>
              <a:rPr lang="en-US" altLang="zh-CN" sz="2400" dirty="0">
                <a:latin typeface="微软雅黑" panose="020B0503020204020204" charset="-122"/>
                <a:ea typeface="微软雅黑" panose="020B0503020204020204" charset="-122"/>
              </a:rPr>
              <a:t>80</a:t>
            </a:r>
            <a:r>
              <a:rPr lang="zh-CN" altLang="en-US" sz="2400" dirty="0">
                <a:latin typeface="微软雅黑" panose="020B0503020204020204" charset="-122"/>
                <a:ea typeface="微软雅黑" panose="020B0503020204020204" charset="-122"/>
              </a:rPr>
              <a:t>年代中期：提出</a:t>
            </a:r>
            <a:r>
              <a:rPr lang="zh-CN" altLang="en-US" sz="2400" dirty="0">
                <a:solidFill>
                  <a:srgbClr val="FF0000"/>
                </a:solidFill>
                <a:latin typeface="微软雅黑" panose="020B0503020204020204" charset="-122"/>
                <a:ea typeface="微软雅黑" panose="020B0503020204020204" charset="-122"/>
              </a:rPr>
              <a:t>线程（</a:t>
            </a:r>
            <a:r>
              <a:rPr lang="en-US" altLang="zh-CN" sz="2400" dirty="0">
                <a:solidFill>
                  <a:srgbClr val="FF0000"/>
                </a:solidFill>
                <a:latin typeface="微软雅黑" panose="020B0503020204020204" charset="-122"/>
                <a:ea typeface="微软雅黑" panose="020B0503020204020204" charset="-122"/>
              </a:rPr>
              <a:t>Thread</a:t>
            </a:r>
            <a:r>
              <a:rPr lang="zh-CN" altLang="en-US" sz="2400" dirty="0">
                <a:solidFill>
                  <a:srgbClr val="FF0000"/>
                </a:solidFill>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概念，线程是比进程更小的能独立运行的基本单位，目的是提高系统内程序并发执行的程度，进一步提高系统的吞吐量。</a:t>
            </a:r>
            <a:endParaRPr lang="zh-CN" altLang="en-US" sz="2400" dirty="0">
              <a:latin typeface="微软雅黑" panose="020B0503020204020204" charset="-122"/>
              <a:ea typeface="微软雅黑" panose="020B0503020204020204" charset="-122"/>
            </a:endParaRPr>
          </a:p>
          <a:p>
            <a:pPr>
              <a:lnSpc>
                <a:spcPct val="150000"/>
              </a:lnSpc>
              <a:spcBef>
                <a:spcPts val="0"/>
              </a:spcBef>
            </a:pPr>
            <a:r>
              <a:rPr lang="en-US" altLang="zh-CN" sz="2400" dirty="0">
                <a:latin typeface="微软雅黑" panose="020B0503020204020204" charset="-122"/>
                <a:ea typeface="微软雅黑" panose="020B0503020204020204" charset="-122"/>
              </a:rPr>
              <a:t>90</a:t>
            </a:r>
            <a:r>
              <a:rPr lang="zh-CN" altLang="en-US" sz="2400" dirty="0">
                <a:latin typeface="微软雅黑" panose="020B0503020204020204" charset="-122"/>
                <a:ea typeface="微软雅黑" panose="020B0503020204020204" charset="-122"/>
              </a:rPr>
              <a:t>年代：多处理机系统得到迅速发展，线程能比进程更好地提高程序的并行执行程度，充分发挥多处理机的优越性。</a:t>
            </a:r>
            <a:endParaRPr lang="zh-CN" altLang="en-US" sz="2400" dirty="0">
              <a:latin typeface="微软雅黑" panose="020B0503020204020204" charset="-122"/>
              <a:ea typeface="微软雅黑" panose="020B0503020204020204" charset="-122"/>
            </a:endParaRPr>
          </a:p>
          <a:p>
            <a:pPr>
              <a:lnSpc>
                <a:spcPct val="150000"/>
              </a:lnSpc>
              <a:spcBef>
                <a:spcPts val="0"/>
              </a:spcBef>
            </a:pPr>
            <a:endParaRPr lang="zh-CN" altLang="en-US" sz="2400" dirty="0">
              <a:latin typeface="微软雅黑" panose="020B0503020204020204" charset="-122"/>
              <a:ea typeface="微软雅黑" panose="020B0503020204020204" charset="-122"/>
            </a:endParaRPr>
          </a:p>
        </p:txBody>
      </p:sp>
      <p:sp>
        <p:nvSpPr>
          <p:cNvPr id="3" name="标题 2"/>
          <p:cNvSpPr>
            <a:spLocks noGrp="1"/>
          </p:cNvSpPr>
          <p:nvPr>
            <p:ph type="title"/>
          </p:nvPr>
        </p:nvSpPr>
        <p:spPr>
          <a:xfrm>
            <a:off x="1752898" y="1676713"/>
            <a:ext cx="5497903" cy="411956"/>
          </a:xfrm>
        </p:spPr>
        <p:txBody>
          <a:bodyPr/>
          <a:lstStyle/>
          <a:p>
            <a:r>
              <a:rPr lang="zh-CN" altLang="en-US" sz="3200" dirty="0">
                <a:effectLst>
                  <a:outerShdw blurRad="38100" dist="38100" dir="2700000" algn="tl">
                    <a:srgbClr val="C0C0C0"/>
                  </a:outerShdw>
                </a:effectLst>
              </a:rPr>
              <a:t>线程 </a:t>
            </a:r>
            <a:r>
              <a:rPr lang="en-US" altLang="zh-CN" sz="3200" dirty="0">
                <a:effectLst>
                  <a:outerShdw blurRad="38100" dist="38100" dir="2700000" algn="tl">
                    <a:srgbClr val="C0C0C0"/>
                  </a:outerShdw>
                </a:effectLst>
              </a:rPr>
              <a:t>-- </a:t>
            </a:r>
            <a:r>
              <a:rPr lang="zh-CN" altLang="en-US" sz="3200" dirty="0">
                <a:effectLst>
                  <a:outerShdw blurRad="38100" dist="38100" dir="2700000" algn="tl">
                    <a:srgbClr val="C0C0C0"/>
                  </a:outerShdw>
                </a:effectLst>
              </a:rPr>
              <a:t>另一种并发实体 </a:t>
            </a:r>
            <a:endParaRPr lang="zh-CN" altLang="en-US" sz="3200" dirty="0">
              <a:effectLst>
                <a:outerShdw blurRad="38100" dist="38100" dir="2700000" algn="tl">
                  <a:srgbClr val="C0C0C0"/>
                </a:outerShdw>
              </a:effectLst>
            </a:endParaRPr>
          </a:p>
        </p:txBody>
      </p:sp>
      <p:sp>
        <p:nvSpPr>
          <p:cNvPr id="5" name="标题 1"/>
          <p:cNvSpPr txBox="1"/>
          <p:nvPr/>
        </p:nvSpPr>
        <p:spPr>
          <a:xfrm>
            <a:off x="6906515" y="1176061"/>
            <a:ext cx="2171445"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2.7.1 </a:t>
            </a:r>
            <a:r>
              <a:rPr kumimoji="1" lang="zh-CN" altLang="en-US" sz="2100" dirty="0">
                <a:solidFill>
                  <a:srgbClr val="002060"/>
                </a:solidFill>
                <a:cs typeface="+mn-cs"/>
              </a:rPr>
              <a:t>线程概述</a:t>
            </a:r>
            <a:endParaRPr kumimoji="1" lang="zh-CN" altLang="en-US" sz="2100" dirty="0">
              <a:solidFill>
                <a:srgbClr val="002060"/>
              </a:solidFill>
              <a:cs typeface="+mn-cs"/>
            </a:endParaRPr>
          </a:p>
        </p:txBody>
      </p:sp>
      <p:sp>
        <p:nvSpPr>
          <p:cNvPr id="6" name="标题 1"/>
          <p:cNvSpPr txBox="1"/>
          <p:nvPr/>
        </p:nvSpPr>
        <p:spPr>
          <a:xfrm>
            <a:off x="1150875" y="1059897"/>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smtClean="0">
                <a:solidFill>
                  <a:srgbClr val="242852"/>
                </a:solidFill>
                <a:cs typeface="+mn-cs"/>
              </a:rPr>
              <a:t>2.7 </a:t>
            </a:r>
            <a:r>
              <a:rPr kumimoji="1" lang="zh-CN" altLang="en-US"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25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25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25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1645848" y="1668879"/>
            <a:ext cx="5497903" cy="411956"/>
          </a:xfrm>
        </p:spPr>
        <p:txBody>
          <a:bodyPr/>
          <a:lstStyle/>
          <a:p>
            <a:r>
              <a:rPr lang="zh-CN" altLang="en-US" sz="2800" dirty="0">
                <a:latin typeface="+mj-ea"/>
                <a:ea typeface="+mj-ea"/>
              </a:rPr>
              <a:t>进程回顾</a:t>
            </a:r>
            <a:endParaRPr lang="zh-CN" altLang="en-US" sz="2800" dirty="0">
              <a:latin typeface="+mj-ea"/>
              <a:ea typeface="+mj-ea"/>
            </a:endParaRPr>
          </a:p>
        </p:txBody>
      </p:sp>
      <p:graphicFrame>
        <p:nvGraphicFramePr>
          <p:cNvPr id="177155" name="Object 3"/>
          <p:cNvGraphicFramePr>
            <a:graphicFrameLocks noGrp="1" noChangeAspect="1"/>
          </p:cNvGraphicFramePr>
          <p:nvPr>
            <p:ph idx="1"/>
          </p:nvPr>
        </p:nvGraphicFramePr>
        <p:xfrm>
          <a:off x="7033640" y="1725218"/>
          <a:ext cx="866775" cy="914400"/>
        </p:xfrm>
        <a:graphic>
          <a:graphicData uri="http://schemas.openxmlformats.org/presentationml/2006/ole">
            <mc:AlternateContent xmlns:mc="http://schemas.openxmlformats.org/markup-compatibility/2006">
              <mc:Choice xmlns:v="urn:schemas-microsoft-com:vml" Requires="v">
                <p:oleObj spid="_x0000_s61616" name="剪辑" r:id="rId1" imgW="19660235" imgH="20754975" progId="MS_ClipArt_Gallery.2">
                  <p:embed/>
                </p:oleObj>
              </mc:Choice>
              <mc:Fallback>
                <p:oleObj name="剪辑" r:id="rId1" imgW="19660235" imgH="20754975" progId="MS_ClipArt_Gallery.2">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640" y="1725218"/>
                        <a:ext cx="86677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7156" name="Rectangle 4"/>
          <p:cNvSpPr>
            <a:spLocks noChangeArrowheads="1"/>
          </p:cNvSpPr>
          <p:nvPr/>
        </p:nvSpPr>
        <p:spPr bwMode="auto">
          <a:xfrm>
            <a:off x="1597387" y="1974702"/>
            <a:ext cx="5941219" cy="60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srgbClr val="FF0000"/>
                </a:solidFill>
                <a:latin typeface="+mj-ea"/>
                <a:ea typeface="+mj-ea"/>
              </a:rPr>
              <a:t>进程 </a:t>
            </a:r>
            <a:r>
              <a:rPr lang="en-US" altLang="zh-CN" sz="2400" dirty="0">
                <a:solidFill>
                  <a:srgbClr val="FF0000"/>
                </a:solidFill>
                <a:latin typeface="+mj-ea"/>
                <a:ea typeface="+mj-ea"/>
                <a:sym typeface="Symbol" panose="05050102010706020507" pitchFamily="18" charset="2"/>
              </a:rPr>
              <a:t>= </a:t>
            </a:r>
            <a:r>
              <a:rPr lang="zh-CN" altLang="en-US" sz="2400" dirty="0">
                <a:solidFill>
                  <a:srgbClr val="FF0000"/>
                </a:solidFill>
                <a:latin typeface="+mj-ea"/>
                <a:ea typeface="+mj-ea"/>
                <a:sym typeface="Symbol" panose="05050102010706020507" pitchFamily="18" charset="2"/>
              </a:rPr>
              <a:t>资源 </a:t>
            </a:r>
            <a:r>
              <a:rPr lang="en-US" altLang="zh-CN" sz="2400" dirty="0">
                <a:solidFill>
                  <a:srgbClr val="FF0000"/>
                </a:solidFill>
                <a:latin typeface="+mj-ea"/>
                <a:ea typeface="+mj-ea"/>
                <a:sym typeface="Symbol" panose="05050102010706020507" pitchFamily="18" charset="2"/>
              </a:rPr>
              <a:t>+ </a:t>
            </a:r>
            <a:r>
              <a:rPr lang="zh-CN" altLang="en-US" sz="2400" dirty="0">
                <a:solidFill>
                  <a:srgbClr val="FF0000"/>
                </a:solidFill>
                <a:latin typeface="+mj-ea"/>
                <a:ea typeface="+mj-ea"/>
                <a:sym typeface="Symbol" panose="05050102010706020507" pitchFamily="18" charset="2"/>
              </a:rPr>
              <a:t>指令执行</a:t>
            </a:r>
            <a:endParaRPr lang="zh-CN" altLang="en-US" sz="2400" dirty="0">
              <a:solidFill>
                <a:srgbClr val="FF0000"/>
              </a:solidFill>
              <a:latin typeface="+mj-ea"/>
              <a:ea typeface="+mj-ea"/>
              <a:sym typeface="Symbol" panose="05050102010706020507" pitchFamily="18" charset="2"/>
            </a:endParaRPr>
          </a:p>
        </p:txBody>
      </p:sp>
      <p:grpSp>
        <p:nvGrpSpPr>
          <p:cNvPr id="177199" name="Group 47"/>
          <p:cNvGrpSpPr/>
          <p:nvPr/>
        </p:nvGrpSpPr>
        <p:grpSpPr bwMode="auto">
          <a:xfrm>
            <a:off x="1828800" y="2474769"/>
            <a:ext cx="4692254" cy="521495"/>
            <a:chOff x="523" y="1876"/>
            <a:chExt cx="3941" cy="438"/>
          </a:xfrm>
        </p:grpSpPr>
        <p:sp>
          <p:nvSpPr>
            <p:cNvPr id="177200" name="Rectangle 48"/>
            <p:cNvSpPr>
              <a:spLocks noChangeArrowheads="1"/>
            </p:cNvSpPr>
            <p:nvPr/>
          </p:nvSpPr>
          <p:spPr bwMode="auto">
            <a:xfrm>
              <a:off x="523" y="1876"/>
              <a:ext cx="3941"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000" b="1" dirty="0">
                  <a:solidFill>
                    <a:prstClr val="black"/>
                  </a:solidFill>
                  <a:latin typeface="+mj-ea"/>
                  <a:ea typeface="+mj-ea"/>
                </a:rPr>
                <a:t>将资源和指令执行分开</a:t>
              </a:r>
              <a:endParaRPr lang="zh-CN" altLang="en-US" sz="2000" b="1" dirty="0">
                <a:solidFill>
                  <a:prstClr val="black"/>
                </a:solidFill>
                <a:latin typeface="+mj-ea"/>
                <a:ea typeface="+mj-ea"/>
              </a:endParaRPr>
            </a:p>
          </p:txBody>
        </p:sp>
        <p:pic>
          <p:nvPicPr>
            <p:cNvPr id="177201" name="Picture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7202" name="Group 50"/>
          <p:cNvGrpSpPr/>
          <p:nvPr/>
        </p:nvGrpSpPr>
        <p:grpSpPr bwMode="auto">
          <a:xfrm>
            <a:off x="1822848" y="2786067"/>
            <a:ext cx="4692253" cy="521495"/>
            <a:chOff x="523" y="1876"/>
            <a:chExt cx="3941" cy="438"/>
          </a:xfrm>
        </p:grpSpPr>
        <p:sp>
          <p:nvSpPr>
            <p:cNvPr id="177203" name="Rectangle 51"/>
            <p:cNvSpPr>
              <a:spLocks noChangeArrowheads="1"/>
            </p:cNvSpPr>
            <p:nvPr/>
          </p:nvSpPr>
          <p:spPr bwMode="auto">
            <a:xfrm>
              <a:off x="523" y="1876"/>
              <a:ext cx="3941"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000" b="1" dirty="0">
                  <a:solidFill>
                    <a:prstClr val="black"/>
                  </a:solidFill>
                  <a:latin typeface="+mj-ea"/>
                  <a:ea typeface="+mj-ea"/>
                </a:rPr>
                <a:t>一个资源 </a:t>
              </a:r>
              <a:r>
                <a:rPr lang="en-US" altLang="zh-CN" sz="2000" b="1" dirty="0">
                  <a:solidFill>
                    <a:prstClr val="black"/>
                  </a:solidFill>
                  <a:latin typeface="+mj-ea"/>
                  <a:ea typeface="+mj-ea"/>
                </a:rPr>
                <a:t>+ </a:t>
              </a:r>
              <a:r>
                <a:rPr lang="zh-CN" altLang="en-US" sz="2000" b="1" dirty="0">
                  <a:solidFill>
                    <a:prstClr val="black"/>
                  </a:solidFill>
                  <a:latin typeface="+mj-ea"/>
                  <a:ea typeface="+mj-ea"/>
                </a:rPr>
                <a:t>多个指令执行序列</a:t>
              </a:r>
              <a:endParaRPr lang="zh-CN" altLang="en-US" sz="2000" b="1" dirty="0">
                <a:solidFill>
                  <a:prstClr val="black"/>
                </a:solidFill>
                <a:latin typeface="+mj-ea"/>
                <a:ea typeface="+mj-ea"/>
              </a:endParaRPr>
            </a:p>
          </p:txBody>
        </p:sp>
        <p:pic>
          <p:nvPicPr>
            <p:cNvPr id="177204" name="Picture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7205" name="Group 53"/>
          <p:cNvGrpSpPr/>
          <p:nvPr/>
        </p:nvGrpSpPr>
        <p:grpSpPr bwMode="auto">
          <a:xfrm>
            <a:off x="1371600" y="3295650"/>
            <a:ext cx="6591504" cy="2057400"/>
            <a:chOff x="192" y="1296"/>
            <a:chExt cx="5218" cy="1728"/>
          </a:xfrm>
        </p:grpSpPr>
        <p:sp>
          <p:nvSpPr>
            <p:cNvPr id="177206" name="Rectangle 54"/>
            <p:cNvSpPr>
              <a:spLocks noChangeArrowheads="1"/>
            </p:cNvSpPr>
            <p:nvPr/>
          </p:nvSpPr>
          <p:spPr bwMode="auto">
            <a:xfrm>
              <a:off x="768" y="1296"/>
              <a:ext cx="3216" cy="1728"/>
            </a:xfrm>
            <a:prstGeom prst="rect">
              <a:avLst/>
            </a:prstGeom>
            <a:solidFill>
              <a:schemeClr val="bg1"/>
            </a:solidFill>
            <a:ln w="952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07" name="Rectangle 55"/>
            <p:cNvSpPr>
              <a:spLocks noChangeArrowheads="1"/>
            </p:cNvSpPr>
            <p:nvPr/>
          </p:nvSpPr>
          <p:spPr bwMode="auto">
            <a:xfrm>
              <a:off x="892" y="1355"/>
              <a:ext cx="1440" cy="1199"/>
            </a:xfrm>
            <a:prstGeom prst="rect">
              <a:avLst/>
            </a:prstGeom>
            <a:solidFill>
              <a:schemeClr val="bg1"/>
            </a:solidFill>
            <a:ln w="952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08" name="Text Box 56"/>
            <p:cNvSpPr txBox="1">
              <a:spLocks noChangeArrowheads="1"/>
            </p:cNvSpPr>
            <p:nvPr/>
          </p:nvSpPr>
          <p:spPr bwMode="auto">
            <a:xfrm>
              <a:off x="892" y="1391"/>
              <a:ext cx="1581"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en-US" altLang="zh-CN" sz="1600" b="1" dirty="0">
                  <a:solidFill>
                    <a:prstClr val="black"/>
                  </a:solidFill>
                  <a:latin typeface="+mj-ea"/>
                  <a:ea typeface="+mj-ea"/>
                </a:rPr>
                <a:t>   mov [100], ax</a:t>
              </a:r>
              <a:endParaRPr lang="en-US" altLang="zh-CN" sz="1600" b="1" dirty="0">
                <a:solidFill>
                  <a:prstClr val="black"/>
                </a:solidFill>
                <a:latin typeface="+mj-ea"/>
                <a:ea typeface="+mj-ea"/>
              </a:endParaRPr>
            </a:p>
          </p:txBody>
        </p:sp>
        <p:sp>
          <p:nvSpPr>
            <p:cNvPr id="177209" name="Rectangle 57"/>
            <p:cNvSpPr>
              <a:spLocks noChangeArrowheads="1"/>
            </p:cNvSpPr>
            <p:nvPr/>
          </p:nvSpPr>
          <p:spPr bwMode="auto">
            <a:xfrm>
              <a:off x="192" y="1440"/>
              <a:ext cx="579"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457200">
                <a:defRPr/>
              </a:pPr>
              <a:r>
                <a:rPr lang="zh-CN" altLang="en-US" sz="2000" b="1">
                  <a:solidFill>
                    <a:prstClr val="black"/>
                  </a:solidFill>
                  <a:latin typeface="+mj-ea"/>
                  <a:ea typeface="+mj-ea"/>
                </a:rPr>
                <a:t>进程</a:t>
              </a:r>
              <a:endParaRPr lang="zh-CN" altLang="en-US" sz="2000" b="1">
                <a:solidFill>
                  <a:prstClr val="black"/>
                </a:solidFill>
                <a:latin typeface="+mj-ea"/>
                <a:ea typeface="+mj-ea"/>
              </a:endParaRPr>
            </a:p>
          </p:txBody>
        </p:sp>
        <p:sp>
          <p:nvSpPr>
            <p:cNvPr id="177210" name="AutoShape 58"/>
            <p:cNvSpPr>
              <a:spLocks noChangeArrowheads="1"/>
            </p:cNvSpPr>
            <p:nvPr/>
          </p:nvSpPr>
          <p:spPr bwMode="auto">
            <a:xfrm>
              <a:off x="4464" y="1584"/>
              <a:ext cx="480" cy="1296"/>
            </a:xfrm>
            <a:prstGeom prst="irregularSeal2">
              <a:avLst/>
            </a:prstGeom>
            <a:solidFill>
              <a:srgbClr val="EAEAEA"/>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11" name="Rectangle 59"/>
            <p:cNvSpPr>
              <a:spLocks noChangeArrowheads="1"/>
            </p:cNvSpPr>
            <p:nvPr/>
          </p:nvSpPr>
          <p:spPr bwMode="auto">
            <a:xfrm>
              <a:off x="4464" y="1296"/>
              <a:ext cx="946"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457200">
                <a:defRPr/>
              </a:pPr>
              <a:r>
                <a:rPr lang="zh-CN" altLang="en-US" sz="2000" b="1">
                  <a:solidFill>
                    <a:prstClr val="black"/>
                  </a:solidFill>
                  <a:latin typeface="+mj-ea"/>
                  <a:ea typeface="+mj-ea"/>
                </a:rPr>
                <a:t>映射表</a:t>
              </a:r>
              <a:endParaRPr lang="zh-CN" altLang="en-US" sz="2000" b="1">
                <a:solidFill>
                  <a:prstClr val="black"/>
                </a:solidFill>
                <a:latin typeface="+mj-ea"/>
                <a:ea typeface="+mj-ea"/>
              </a:endParaRPr>
            </a:p>
          </p:txBody>
        </p:sp>
        <p:sp>
          <p:nvSpPr>
            <p:cNvPr id="177212" name="Freeform 60"/>
            <p:cNvSpPr/>
            <p:nvPr/>
          </p:nvSpPr>
          <p:spPr bwMode="auto">
            <a:xfrm>
              <a:off x="1564" y="1632"/>
              <a:ext cx="96" cy="48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2857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13" name="Rectangle 61"/>
            <p:cNvSpPr>
              <a:spLocks noChangeArrowheads="1"/>
            </p:cNvSpPr>
            <p:nvPr/>
          </p:nvSpPr>
          <p:spPr bwMode="auto">
            <a:xfrm>
              <a:off x="2431" y="1345"/>
              <a:ext cx="1440" cy="1199"/>
            </a:xfrm>
            <a:prstGeom prst="rect">
              <a:avLst/>
            </a:prstGeom>
            <a:solidFill>
              <a:schemeClr val="bg1"/>
            </a:solidFill>
            <a:ln w="952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14" name="Text Box 62"/>
            <p:cNvSpPr txBox="1">
              <a:spLocks noChangeArrowheads="1"/>
            </p:cNvSpPr>
            <p:nvPr/>
          </p:nvSpPr>
          <p:spPr bwMode="auto">
            <a:xfrm>
              <a:off x="2431" y="1381"/>
              <a:ext cx="1581"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en-US" altLang="zh-CN" sz="1600" b="1" dirty="0">
                  <a:solidFill>
                    <a:prstClr val="black"/>
                  </a:solidFill>
                  <a:latin typeface="+mj-ea"/>
                  <a:ea typeface="+mj-ea"/>
                </a:rPr>
                <a:t>   mov [100], ax</a:t>
              </a:r>
              <a:endParaRPr lang="en-US" altLang="zh-CN" sz="1600" b="1" dirty="0">
                <a:solidFill>
                  <a:prstClr val="black"/>
                </a:solidFill>
                <a:latin typeface="+mj-ea"/>
                <a:ea typeface="+mj-ea"/>
              </a:endParaRPr>
            </a:p>
          </p:txBody>
        </p:sp>
        <p:sp>
          <p:nvSpPr>
            <p:cNvPr id="177215" name="Freeform 63"/>
            <p:cNvSpPr/>
            <p:nvPr/>
          </p:nvSpPr>
          <p:spPr bwMode="auto">
            <a:xfrm>
              <a:off x="3103" y="1632"/>
              <a:ext cx="96" cy="48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2857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16" name="Rectangle 64"/>
            <p:cNvSpPr>
              <a:spLocks noChangeArrowheads="1"/>
            </p:cNvSpPr>
            <p:nvPr/>
          </p:nvSpPr>
          <p:spPr bwMode="auto">
            <a:xfrm>
              <a:off x="892" y="2208"/>
              <a:ext cx="1440" cy="346"/>
            </a:xfrm>
            <a:prstGeom prst="rect">
              <a:avLst/>
            </a:prstGeom>
            <a:solidFill>
              <a:schemeClr val="bg1"/>
            </a:solidFill>
            <a:ln w="952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17" name="Text Box 65"/>
            <p:cNvSpPr txBox="1">
              <a:spLocks noChangeArrowheads="1"/>
            </p:cNvSpPr>
            <p:nvPr/>
          </p:nvSpPr>
          <p:spPr bwMode="auto">
            <a:xfrm>
              <a:off x="988" y="2256"/>
              <a:ext cx="1200" cy="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en-US" altLang="zh-CN" sz="1600" b="1" dirty="0">
                  <a:solidFill>
                    <a:prstClr val="black"/>
                  </a:solidFill>
                  <a:latin typeface="+mj-ea"/>
                  <a:ea typeface="+mj-ea"/>
                </a:rPr>
                <a:t>   </a:t>
              </a:r>
              <a:r>
                <a:rPr lang="zh-CN" altLang="en-US" sz="1600" b="1">
                  <a:solidFill>
                    <a:prstClr val="black"/>
                  </a:solidFill>
                  <a:latin typeface="+mj-ea"/>
                  <a:ea typeface="+mj-ea"/>
                </a:rPr>
                <a:t>寄存器映像</a:t>
              </a:r>
              <a:endParaRPr lang="zh-CN" altLang="en-US" sz="1600" b="1">
                <a:solidFill>
                  <a:prstClr val="black"/>
                </a:solidFill>
                <a:latin typeface="+mj-ea"/>
                <a:ea typeface="+mj-ea"/>
              </a:endParaRPr>
            </a:p>
          </p:txBody>
        </p:sp>
        <p:sp>
          <p:nvSpPr>
            <p:cNvPr id="177218" name="Rectangle 66"/>
            <p:cNvSpPr>
              <a:spLocks noChangeArrowheads="1"/>
            </p:cNvSpPr>
            <p:nvPr/>
          </p:nvSpPr>
          <p:spPr bwMode="auto">
            <a:xfrm>
              <a:off x="2430" y="2208"/>
              <a:ext cx="1440" cy="346"/>
            </a:xfrm>
            <a:prstGeom prst="rect">
              <a:avLst/>
            </a:prstGeom>
            <a:solidFill>
              <a:schemeClr val="bg1"/>
            </a:solidFill>
            <a:ln w="952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19" name="Text Box 67"/>
            <p:cNvSpPr txBox="1">
              <a:spLocks noChangeArrowheads="1"/>
            </p:cNvSpPr>
            <p:nvPr/>
          </p:nvSpPr>
          <p:spPr bwMode="auto">
            <a:xfrm>
              <a:off x="2524" y="2256"/>
              <a:ext cx="1200" cy="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en-US" altLang="zh-CN" sz="1600" b="1" dirty="0">
                  <a:solidFill>
                    <a:prstClr val="black"/>
                  </a:solidFill>
                  <a:latin typeface="+mj-ea"/>
                  <a:ea typeface="+mj-ea"/>
                </a:rPr>
                <a:t>   </a:t>
              </a:r>
              <a:r>
                <a:rPr lang="zh-CN" altLang="en-US" sz="1600" b="1">
                  <a:solidFill>
                    <a:prstClr val="black"/>
                  </a:solidFill>
                  <a:latin typeface="+mj-ea"/>
                  <a:ea typeface="+mj-ea"/>
                </a:rPr>
                <a:t>寄存器映像</a:t>
              </a:r>
              <a:endParaRPr lang="zh-CN" altLang="en-US" sz="1600" b="1">
                <a:solidFill>
                  <a:prstClr val="black"/>
                </a:solidFill>
                <a:latin typeface="+mj-ea"/>
                <a:ea typeface="+mj-ea"/>
              </a:endParaRPr>
            </a:p>
          </p:txBody>
        </p:sp>
        <p:sp>
          <p:nvSpPr>
            <p:cNvPr id="177220" name="Rectangle 68"/>
            <p:cNvSpPr>
              <a:spLocks noChangeArrowheads="1"/>
            </p:cNvSpPr>
            <p:nvPr/>
          </p:nvSpPr>
          <p:spPr bwMode="auto">
            <a:xfrm>
              <a:off x="768" y="2678"/>
              <a:ext cx="3216" cy="346"/>
            </a:xfrm>
            <a:prstGeom prst="rect">
              <a:avLst/>
            </a:prstGeom>
            <a:solidFill>
              <a:schemeClr val="bg1"/>
            </a:solidFill>
            <a:ln w="952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200">
                <a:solidFill>
                  <a:prstClr val="black"/>
                </a:solidFill>
                <a:latin typeface="+mj-ea"/>
                <a:ea typeface="+mj-ea"/>
              </a:endParaRPr>
            </a:p>
          </p:txBody>
        </p:sp>
        <p:sp>
          <p:nvSpPr>
            <p:cNvPr id="177221" name="Text Box 69"/>
            <p:cNvSpPr txBox="1">
              <a:spLocks noChangeArrowheads="1"/>
            </p:cNvSpPr>
            <p:nvPr/>
          </p:nvSpPr>
          <p:spPr bwMode="auto">
            <a:xfrm>
              <a:off x="864" y="2726"/>
              <a:ext cx="3072"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457200">
                <a:spcBef>
                  <a:spcPct val="50000"/>
                </a:spcBef>
                <a:defRPr/>
              </a:pPr>
              <a:r>
                <a:rPr lang="zh-CN" altLang="en-US" sz="1600" b="1">
                  <a:solidFill>
                    <a:prstClr val="black"/>
                  </a:solidFill>
                  <a:latin typeface="+mj-ea"/>
                  <a:ea typeface="+mj-ea"/>
                </a:rPr>
                <a:t>进程代码、进程数据、进程资源</a:t>
              </a:r>
              <a:endParaRPr lang="zh-CN" altLang="en-US" sz="1600" b="1">
                <a:solidFill>
                  <a:prstClr val="black"/>
                </a:solidFill>
                <a:latin typeface="+mj-ea"/>
                <a:ea typeface="+mj-ea"/>
              </a:endParaRPr>
            </a:p>
          </p:txBody>
        </p:sp>
        <p:sp>
          <p:nvSpPr>
            <p:cNvPr id="177222" name="Line 70"/>
            <p:cNvSpPr>
              <a:spLocks noChangeShapeType="1"/>
            </p:cNvSpPr>
            <p:nvPr/>
          </p:nvSpPr>
          <p:spPr bwMode="auto">
            <a:xfrm flipV="1">
              <a:off x="3840" y="2304"/>
              <a:ext cx="768" cy="52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57200">
                <a:defRPr/>
              </a:pPr>
              <a:endParaRPr lang="zh-CN" altLang="en-US" sz="100">
                <a:solidFill>
                  <a:prstClr val="black"/>
                </a:solidFill>
                <a:latin typeface="+mj-ea"/>
                <a:ea typeface="+mj-ea"/>
              </a:endParaRPr>
            </a:p>
          </p:txBody>
        </p:sp>
      </p:grpSp>
      <p:grpSp>
        <p:nvGrpSpPr>
          <p:cNvPr id="177232" name="Group 80"/>
          <p:cNvGrpSpPr/>
          <p:nvPr/>
        </p:nvGrpSpPr>
        <p:grpSpPr bwMode="auto">
          <a:xfrm>
            <a:off x="3829050" y="2438400"/>
            <a:ext cx="3314700" cy="1028700"/>
            <a:chOff x="2256" y="1200"/>
            <a:chExt cx="2784" cy="864"/>
          </a:xfrm>
        </p:grpSpPr>
        <p:sp>
          <p:nvSpPr>
            <p:cNvPr id="177223" name="Line 71"/>
            <p:cNvSpPr>
              <a:spLocks noChangeShapeType="1"/>
            </p:cNvSpPr>
            <p:nvPr/>
          </p:nvSpPr>
          <p:spPr bwMode="auto">
            <a:xfrm flipH="1">
              <a:off x="2256" y="1440"/>
              <a:ext cx="2112" cy="624"/>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57200">
                <a:defRPr/>
              </a:pPr>
              <a:endParaRPr lang="zh-CN" altLang="en-US" sz="100">
                <a:solidFill>
                  <a:prstClr val="black"/>
                </a:solidFill>
                <a:latin typeface="+mj-ea"/>
                <a:ea typeface="+mj-ea"/>
              </a:endParaRPr>
            </a:p>
          </p:txBody>
        </p:sp>
        <p:sp>
          <p:nvSpPr>
            <p:cNvPr id="177224" name="Line 72"/>
            <p:cNvSpPr>
              <a:spLocks noChangeShapeType="1"/>
            </p:cNvSpPr>
            <p:nvPr/>
          </p:nvSpPr>
          <p:spPr bwMode="auto">
            <a:xfrm flipH="1">
              <a:off x="3792" y="1440"/>
              <a:ext cx="576" cy="624"/>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57200">
                <a:defRPr/>
              </a:pPr>
              <a:endParaRPr lang="zh-CN" altLang="en-US" sz="100">
                <a:solidFill>
                  <a:prstClr val="black"/>
                </a:solidFill>
                <a:latin typeface="+mj-ea"/>
                <a:ea typeface="+mj-ea"/>
              </a:endParaRPr>
            </a:p>
          </p:txBody>
        </p:sp>
        <p:sp>
          <p:nvSpPr>
            <p:cNvPr id="177225" name="Rectangle 73"/>
            <p:cNvSpPr>
              <a:spLocks noChangeArrowheads="1"/>
            </p:cNvSpPr>
            <p:nvPr/>
          </p:nvSpPr>
          <p:spPr bwMode="auto">
            <a:xfrm>
              <a:off x="4416" y="1200"/>
              <a:ext cx="624"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defRPr/>
              </a:pPr>
              <a:r>
                <a:rPr lang="zh-CN" altLang="en-US" sz="2000" b="1" dirty="0">
                  <a:solidFill>
                    <a:srgbClr val="FF0000"/>
                  </a:solidFill>
                  <a:latin typeface="+mj-ea"/>
                  <a:ea typeface="+mj-ea"/>
                </a:rPr>
                <a:t>线程</a:t>
              </a:r>
              <a:endParaRPr lang="zh-CN" altLang="en-US" sz="2000" b="1" dirty="0">
                <a:solidFill>
                  <a:srgbClr val="FF0000"/>
                </a:solidFill>
                <a:latin typeface="+mj-ea"/>
                <a:ea typeface="+mj-ea"/>
              </a:endParaRPr>
            </a:p>
          </p:txBody>
        </p:sp>
      </p:grpSp>
      <p:grpSp>
        <p:nvGrpSpPr>
          <p:cNvPr id="177231" name="Group 79"/>
          <p:cNvGrpSpPr/>
          <p:nvPr/>
        </p:nvGrpSpPr>
        <p:grpSpPr bwMode="auto">
          <a:xfrm>
            <a:off x="1822848" y="5467358"/>
            <a:ext cx="5378053" cy="953692"/>
            <a:chOff x="571" y="3744"/>
            <a:chExt cx="4517" cy="801"/>
          </a:xfrm>
        </p:grpSpPr>
        <p:sp>
          <p:nvSpPr>
            <p:cNvPr id="177228" name="Rectangle 76"/>
            <p:cNvSpPr>
              <a:spLocks noChangeArrowheads="1"/>
            </p:cNvSpPr>
            <p:nvPr/>
          </p:nvSpPr>
          <p:spPr bwMode="auto">
            <a:xfrm>
              <a:off x="571" y="3744"/>
              <a:ext cx="4517" cy="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000" b="1">
                  <a:solidFill>
                    <a:srgbClr val="FF0000"/>
                  </a:solidFill>
                  <a:latin typeface="+mj-ea"/>
                  <a:ea typeface="+mj-ea"/>
                </a:rPr>
                <a:t>线程</a:t>
              </a:r>
              <a:r>
                <a:rPr lang="en-US" altLang="zh-CN" sz="2000" b="1" dirty="0">
                  <a:solidFill>
                    <a:srgbClr val="FF0000"/>
                  </a:solidFill>
                  <a:latin typeface="+mj-ea"/>
                  <a:ea typeface="+mj-ea"/>
                </a:rPr>
                <a:t>: </a:t>
              </a:r>
              <a:r>
                <a:rPr lang="zh-CN" altLang="en-US" sz="2000" b="1">
                  <a:solidFill>
                    <a:srgbClr val="FF0000"/>
                  </a:solidFill>
                  <a:latin typeface="+mj-ea"/>
                  <a:ea typeface="+mj-ea"/>
                </a:rPr>
                <a:t>保留了并发的优点，避免了进程的高代价</a:t>
              </a:r>
              <a:endParaRPr lang="zh-CN" altLang="en-US" sz="2000" b="1">
                <a:solidFill>
                  <a:srgbClr val="FF0000"/>
                </a:solidFill>
                <a:latin typeface="+mj-ea"/>
                <a:ea typeface="+mj-ea"/>
              </a:endParaRPr>
            </a:p>
          </p:txBody>
        </p:sp>
        <p:pic>
          <p:nvPicPr>
            <p:cNvPr id="177229" name="Picture 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3893"/>
              <a:ext cx="119" cy="121"/>
            </a:xfrm>
            <a:prstGeom prst="rect">
              <a:avLst/>
            </a:prstGeom>
            <a:noFill/>
            <a:extLst>
              <a:ext uri="{909E8E84-426E-40DD-AFC4-6F175D3DCCD1}">
                <a14:hiddenFill xmlns:a14="http://schemas.microsoft.com/office/drawing/2010/main">
                  <a:solidFill>
                    <a:srgbClr val="FFFFFF"/>
                  </a:solidFill>
                </a14:hiddenFill>
              </a:ext>
            </a:extLst>
          </p:spPr>
        </p:pic>
      </p:grpSp>
      <p:sp>
        <p:nvSpPr>
          <p:cNvPr id="37" name="标题 1"/>
          <p:cNvSpPr txBox="1"/>
          <p:nvPr/>
        </p:nvSpPr>
        <p:spPr>
          <a:xfrm>
            <a:off x="6906515" y="1176061"/>
            <a:ext cx="2171445"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2.7.1 </a:t>
            </a:r>
            <a:r>
              <a:rPr kumimoji="1" lang="zh-CN" altLang="en-US" sz="2100" dirty="0">
                <a:solidFill>
                  <a:srgbClr val="002060"/>
                </a:solidFill>
                <a:cs typeface="+mn-cs"/>
              </a:rPr>
              <a:t>线程概述</a:t>
            </a:r>
            <a:endParaRPr kumimoji="1" lang="zh-CN" altLang="en-US" sz="2100" dirty="0">
              <a:solidFill>
                <a:srgbClr val="002060"/>
              </a:solidFill>
              <a:cs typeface="+mn-cs"/>
            </a:endParaRPr>
          </a:p>
        </p:txBody>
      </p:sp>
      <p:sp>
        <p:nvSpPr>
          <p:cNvPr id="38" name="标题 1"/>
          <p:cNvSpPr txBox="1"/>
          <p:nvPr/>
        </p:nvSpPr>
        <p:spPr>
          <a:xfrm>
            <a:off x="1150875" y="1059897"/>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smtClean="0">
                <a:solidFill>
                  <a:srgbClr val="242852"/>
                </a:solidFill>
                <a:cs typeface="+mn-cs"/>
              </a:rPr>
              <a:t>2.7 </a:t>
            </a:r>
            <a:r>
              <a:rPr kumimoji="1" lang="zh-CN" altLang="en-US"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7199"/>
                                        </p:tgtEl>
                                        <p:attrNameLst>
                                          <p:attrName>style.visibility</p:attrName>
                                        </p:attrNameLst>
                                      </p:cBhvr>
                                      <p:to>
                                        <p:strVal val="visible"/>
                                      </p:to>
                                    </p:set>
                                    <p:animEffect transition="in" filter="dissolve">
                                      <p:cBhvr>
                                        <p:cTn id="7" dur="500"/>
                                        <p:tgtEl>
                                          <p:spTgt spid="17719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7202"/>
                                        </p:tgtEl>
                                        <p:attrNameLst>
                                          <p:attrName>style.visibility</p:attrName>
                                        </p:attrNameLst>
                                      </p:cBhvr>
                                      <p:to>
                                        <p:strVal val="visible"/>
                                      </p:to>
                                    </p:set>
                                    <p:animEffect transition="in" filter="dissolve">
                                      <p:cBhvr>
                                        <p:cTn id="12" dur="500"/>
                                        <p:tgtEl>
                                          <p:spTgt spid="17720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7205"/>
                                        </p:tgtEl>
                                        <p:attrNameLst>
                                          <p:attrName>style.visibility</p:attrName>
                                        </p:attrNameLst>
                                      </p:cBhvr>
                                      <p:to>
                                        <p:strVal val="visible"/>
                                      </p:to>
                                    </p:set>
                                    <p:animEffect transition="in" filter="dissolve">
                                      <p:cBhvr>
                                        <p:cTn id="17" dur="500"/>
                                        <p:tgtEl>
                                          <p:spTgt spid="17720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77232"/>
                                        </p:tgtEl>
                                        <p:attrNameLst>
                                          <p:attrName>style.visibility</p:attrName>
                                        </p:attrNameLst>
                                      </p:cBhvr>
                                      <p:to>
                                        <p:strVal val="visible"/>
                                      </p:to>
                                    </p:set>
                                    <p:animEffect transition="in" filter="dissolve">
                                      <p:cBhvr>
                                        <p:cTn id="22" dur="500"/>
                                        <p:tgtEl>
                                          <p:spTgt spid="17723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77231"/>
                                        </p:tgtEl>
                                        <p:attrNameLst>
                                          <p:attrName>style.visibility</p:attrName>
                                        </p:attrNameLst>
                                      </p:cBhvr>
                                      <p:to>
                                        <p:strVal val="visible"/>
                                      </p:to>
                                    </p:set>
                                    <p:animEffect transition="in" filter="dissolve">
                                      <p:cBhvr>
                                        <p:cTn id="27" dur="500"/>
                                        <p:tgtEl>
                                          <p:spTgt spid="177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a:xfrm>
            <a:off x="1428750" y="628651"/>
            <a:ext cx="6572250" cy="507206"/>
          </a:xfrm>
        </p:spPr>
        <p:txBody>
          <a:bodyPr/>
          <a:lstStyle/>
          <a:p>
            <a:r>
              <a:rPr lang="zh-CN" altLang="en-US" sz="3600">
                <a:latin typeface="微软雅黑" panose="020B0503020204020204" charset="-122"/>
                <a:ea typeface="微软雅黑" panose="020B0503020204020204" charset="-122"/>
              </a:rPr>
              <a:t>多个执行序列</a:t>
            </a:r>
            <a:r>
              <a:rPr lang="en-US" altLang="zh-CN" sz="3600">
                <a:latin typeface="微软雅黑" panose="020B0503020204020204" charset="-122"/>
                <a:ea typeface="微软雅黑" panose="020B0503020204020204" charset="-122"/>
              </a:rPr>
              <a:t>+</a:t>
            </a:r>
            <a:r>
              <a:rPr lang="zh-CN" altLang="en-US" sz="3600">
                <a:latin typeface="微软雅黑" panose="020B0503020204020204" charset="-122"/>
                <a:ea typeface="微软雅黑" panose="020B0503020204020204" charset="-122"/>
              </a:rPr>
              <a:t>一个地址空间是否实用</a:t>
            </a:r>
            <a:r>
              <a:rPr lang="en-US" altLang="zh-CN" sz="3600">
                <a:latin typeface="微软雅黑" panose="020B0503020204020204" charset="-122"/>
                <a:ea typeface="微软雅黑" panose="020B0503020204020204" charset="-122"/>
              </a:rPr>
              <a:t>?</a:t>
            </a:r>
            <a:endParaRPr lang="en-US" altLang="zh-CN" sz="3600">
              <a:latin typeface="微软雅黑" panose="020B0503020204020204" charset="-122"/>
              <a:ea typeface="微软雅黑" panose="020B0503020204020204" charset="-122"/>
            </a:endParaRPr>
          </a:p>
        </p:txBody>
      </p:sp>
      <p:sp>
        <p:nvSpPr>
          <p:cNvPr id="162828" name="Rectangle 12"/>
          <p:cNvSpPr>
            <a:spLocks noChangeArrowheads="1"/>
          </p:cNvSpPr>
          <p:nvPr/>
        </p:nvSpPr>
        <p:spPr bwMode="auto">
          <a:xfrm>
            <a:off x="1428751" y="4075511"/>
            <a:ext cx="5941219" cy="648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dirty="0">
                <a:solidFill>
                  <a:srgbClr val="FF0000"/>
                </a:solidFill>
                <a:latin typeface="微软雅黑" panose="020B0503020204020204" charset="-122"/>
                <a:ea typeface="微软雅黑" panose="020B0503020204020204" charset="-122"/>
              </a:rPr>
              <a:t>这些线程共用一个地址空间吗</a:t>
            </a:r>
            <a:r>
              <a:rPr lang="en-US" altLang="zh-CN" sz="1800" dirty="0">
                <a:solidFill>
                  <a:srgbClr val="FF0000"/>
                </a:solidFill>
                <a:latin typeface="微软雅黑" panose="020B0503020204020204" charset="-122"/>
                <a:ea typeface="微软雅黑" panose="020B0503020204020204" charset="-122"/>
              </a:rPr>
              <a:t>?</a:t>
            </a:r>
            <a:endParaRPr lang="en-US" altLang="zh-CN" sz="1800" dirty="0">
              <a:solidFill>
                <a:srgbClr val="FF0000"/>
              </a:solidFill>
              <a:latin typeface="微软雅黑" panose="020B0503020204020204" charset="-122"/>
              <a:ea typeface="微软雅黑" panose="020B0503020204020204" charset="-122"/>
            </a:endParaRPr>
          </a:p>
        </p:txBody>
      </p:sp>
      <p:sp>
        <p:nvSpPr>
          <p:cNvPr id="162844" name="Rectangle 28"/>
          <p:cNvSpPr>
            <a:spLocks noChangeArrowheads="1"/>
          </p:cNvSpPr>
          <p:nvPr/>
        </p:nvSpPr>
        <p:spPr bwMode="auto">
          <a:xfrm>
            <a:off x="1602582" y="1808561"/>
            <a:ext cx="5941219" cy="648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dirty="0">
                <a:solidFill>
                  <a:srgbClr val="FF0000"/>
                </a:solidFill>
                <a:latin typeface="微软雅黑" panose="020B0503020204020204" charset="-122"/>
                <a:ea typeface="微软雅黑" panose="020B0503020204020204" charset="-122"/>
              </a:rPr>
              <a:t>一个网页浏览器</a:t>
            </a:r>
            <a:endParaRPr lang="zh-CN" altLang="zh-CN" sz="1800" dirty="0">
              <a:solidFill>
                <a:srgbClr val="FF0000"/>
              </a:solidFill>
              <a:latin typeface="微软雅黑" panose="020B0503020204020204" charset="-122"/>
              <a:ea typeface="微软雅黑" panose="020B0503020204020204" charset="-122"/>
              <a:sym typeface="Symbol" panose="05050102010706020507" pitchFamily="18" charset="2"/>
            </a:endParaRPr>
          </a:p>
        </p:txBody>
      </p:sp>
      <p:grpSp>
        <p:nvGrpSpPr>
          <p:cNvPr id="162845" name="Group 29"/>
          <p:cNvGrpSpPr/>
          <p:nvPr/>
        </p:nvGrpSpPr>
        <p:grpSpPr bwMode="auto">
          <a:xfrm>
            <a:off x="914400" y="2214567"/>
            <a:ext cx="4692254" cy="478632"/>
            <a:chOff x="523" y="1876"/>
            <a:chExt cx="3941" cy="402"/>
          </a:xfrm>
        </p:grpSpPr>
        <p:sp>
          <p:nvSpPr>
            <p:cNvPr id="162846" name="Rectangle 30"/>
            <p:cNvSpPr>
              <a:spLocks noChangeArrowheads="1"/>
            </p:cNvSpPr>
            <p:nvPr/>
          </p:nvSpPr>
          <p:spPr bwMode="auto">
            <a:xfrm>
              <a:off x="523" y="1876"/>
              <a:ext cx="3941"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a:solidFill>
                    <a:prstClr val="black"/>
                  </a:solidFill>
                  <a:latin typeface="微软雅黑" panose="020B0503020204020204" charset="-122"/>
                  <a:ea typeface="微软雅黑" panose="020B0503020204020204" charset="-122"/>
                </a:rPr>
                <a:t>一个线程用来从服务器接收数据</a:t>
              </a:r>
              <a:endParaRPr lang="zh-CN" altLang="en-US" sz="1800" b="1">
                <a:solidFill>
                  <a:srgbClr val="FF0000"/>
                </a:solidFill>
                <a:latin typeface="微软雅黑" panose="020B0503020204020204" charset="-122"/>
                <a:ea typeface="微软雅黑" panose="020B0503020204020204" charset="-122"/>
              </a:endParaRPr>
            </a:p>
          </p:txBody>
        </p:sp>
        <p:pic>
          <p:nvPicPr>
            <p:cNvPr id="162847" name="Picture 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51" name="Group 35"/>
          <p:cNvGrpSpPr/>
          <p:nvPr/>
        </p:nvGrpSpPr>
        <p:grpSpPr bwMode="auto">
          <a:xfrm>
            <a:off x="914400" y="3014667"/>
            <a:ext cx="4692254" cy="478632"/>
            <a:chOff x="523" y="1876"/>
            <a:chExt cx="3941" cy="402"/>
          </a:xfrm>
        </p:grpSpPr>
        <p:sp>
          <p:nvSpPr>
            <p:cNvPr id="162852" name="Rectangle 36"/>
            <p:cNvSpPr>
              <a:spLocks noChangeArrowheads="1"/>
            </p:cNvSpPr>
            <p:nvPr/>
          </p:nvSpPr>
          <p:spPr bwMode="auto">
            <a:xfrm>
              <a:off x="523" y="1876"/>
              <a:ext cx="3941"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dirty="0">
                  <a:solidFill>
                    <a:prstClr val="black"/>
                  </a:solidFill>
                  <a:latin typeface="微软雅黑" panose="020B0503020204020204" charset="-122"/>
                  <a:ea typeface="微软雅黑" panose="020B0503020204020204" charset="-122"/>
                </a:rPr>
                <a:t>一个线程用来处理图片</a:t>
              </a:r>
              <a:r>
                <a:rPr lang="en-US" altLang="zh-CN" sz="1800" b="1" dirty="0">
                  <a:solidFill>
                    <a:prstClr val="black"/>
                  </a:solidFill>
                  <a:latin typeface="微软雅黑" panose="020B0503020204020204" charset="-122"/>
                  <a:ea typeface="微软雅黑" panose="020B0503020204020204" charset="-122"/>
                </a:rPr>
                <a:t>(</a:t>
              </a:r>
              <a:r>
                <a:rPr lang="zh-CN" altLang="en-US" sz="1800" b="1" dirty="0">
                  <a:solidFill>
                    <a:prstClr val="black"/>
                  </a:solidFill>
                  <a:latin typeface="微软雅黑" panose="020B0503020204020204" charset="-122"/>
                  <a:ea typeface="微软雅黑" panose="020B0503020204020204" charset="-122"/>
                </a:rPr>
                <a:t>如解压缩</a:t>
              </a:r>
              <a:r>
                <a:rPr lang="en-US" altLang="zh-CN" sz="1800" b="1" dirty="0">
                  <a:solidFill>
                    <a:prstClr val="black"/>
                  </a:solidFill>
                  <a:latin typeface="微软雅黑" panose="020B0503020204020204" charset="-122"/>
                  <a:ea typeface="微软雅黑" panose="020B0503020204020204" charset="-122"/>
                </a:rPr>
                <a:t>)</a:t>
              </a:r>
              <a:endParaRPr lang="en-US" altLang="zh-CN" sz="1800" b="1" dirty="0">
                <a:solidFill>
                  <a:srgbClr val="FF0000"/>
                </a:solidFill>
                <a:latin typeface="微软雅黑" panose="020B0503020204020204" charset="-122"/>
                <a:ea typeface="微软雅黑" panose="020B0503020204020204" charset="-122"/>
              </a:endParaRPr>
            </a:p>
          </p:txBody>
        </p:sp>
        <p:pic>
          <p:nvPicPr>
            <p:cNvPr id="162853" name="Picture 3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54" name="Group 38"/>
          <p:cNvGrpSpPr/>
          <p:nvPr/>
        </p:nvGrpSpPr>
        <p:grpSpPr bwMode="auto">
          <a:xfrm>
            <a:off x="914400" y="2609855"/>
            <a:ext cx="4692254" cy="478632"/>
            <a:chOff x="523" y="1876"/>
            <a:chExt cx="3941" cy="402"/>
          </a:xfrm>
        </p:grpSpPr>
        <p:sp>
          <p:nvSpPr>
            <p:cNvPr id="162855" name="Rectangle 39"/>
            <p:cNvSpPr>
              <a:spLocks noChangeArrowheads="1"/>
            </p:cNvSpPr>
            <p:nvPr/>
          </p:nvSpPr>
          <p:spPr bwMode="auto">
            <a:xfrm>
              <a:off x="523" y="1876"/>
              <a:ext cx="3941"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a:solidFill>
                    <a:prstClr val="black"/>
                  </a:solidFill>
                  <a:latin typeface="微软雅黑" panose="020B0503020204020204" charset="-122"/>
                  <a:ea typeface="微软雅黑" panose="020B0503020204020204" charset="-122"/>
                </a:rPr>
                <a:t>一个线程用来显示文本</a:t>
              </a:r>
              <a:endParaRPr lang="zh-CN" altLang="en-US" sz="1800" b="1">
                <a:solidFill>
                  <a:srgbClr val="FF0000"/>
                </a:solidFill>
                <a:latin typeface="微软雅黑" panose="020B0503020204020204" charset="-122"/>
                <a:ea typeface="微软雅黑" panose="020B0503020204020204" charset="-122"/>
              </a:endParaRPr>
            </a:p>
          </p:txBody>
        </p:sp>
        <p:pic>
          <p:nvPicPr>
            <p:cNvPr id="162856" name="Picture 4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57" name="Group 41"/>
          <p:cNvGrpSpPr/>
          <p:nvPr/>
        </p:nvGrpSpPr>
        <p:grpSpPr bwMode="auto">
          <a:xfrm>
            <a:off x="914400" y="3467105"/>
            <a:ext cx="4692254" cy="478632"/>
            <a:chOff x="523" y="1876"/>
            <a:chExt cx="3941" cy="402"/>
          </a:xfrm>
        </p:grpSpPr>
        <p:sp>
          <p:nvSpPr>
            <p:cNvPr id="162858" name="Rectangle 42"/>
            <p:cNvSpPr>
              <a:spLocks noChangeArrowheads="1"/>
            </p:cNvSpPr>
            <p:nvPr/>
          </p:nvSpPr>
          <p:spPr bwMode="auto">
            <a:xfrm>
              <a:off x="523" y="1876"/>
              <a:ext cx="3941"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a:solidFill>
                    <a:prstClr val="black"/>
                  </a:solidFill>
                  <a:latin typeface="微软雅黑" panose="020B0503020204020204" charset="-122"/>
                  <a:ea typeface="微软雅黑" panose="020B0503020204020204" charset="-122"/>
                </a:rPr>
                <a:t>一个线程用来显示图片</a:t>
              </a:r>
              <a:endParaRPr lang="zh-CN" altLang="en-US" sz="1800" b="1">
                <a:solidFill>
                  <a:srgbClr val="FF0000"/>
                </a:solidFill>
                <a:latin typeface="微软雅黑" panose="020B0503020204020204" charset="-122"/>
                <a:ea typeface="微软雅黑" panose="020B0503020204020204" charset="-122"/>
              </a:endParaRPr>
            </a:p>
          </p:txBody>
        </p:sp>
        <p:pic>
          <p:nvPicPr>
            <p:cNvPr id="162859" name="Picture 4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60" name="Group 44"/>
          <p:cNvGrpSpPr/>
          <p:nvPr/>
        </p:nvGrpSpPr>
        <p:grpSpPr bwMode="auto">
          <a:xfrm>
            <a:off x="914400" y="4581530"/>
            <a:ext cx="4692254" cy="478632"/>
            <a:chOff x="523" y="1876"/>
            <a:chExt cx="3941" cy="402"/>
          </a:xfrm>
        </p:grpSpPr>
        <p:sp>
          <p:nvSpPr>
            <p:cNvPr id="162861" name="Rectangle 45"/>
            <p:cNvSpPr>
              <a:spLocks noChangeArrowheads="1"/>
            </p:cNvSpPr>
            <p:nvPr/>
          </p:nvSpPr>
          <p:spPr bwMode="auto">
            <a:xfrm>
              <a:off x="523" y="1876"/>
              <a:ext cx="3941"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a:solidFill>
                    <a:prstClr val="black"/>
                  </a:solidFill>
                  <a:latin typeface="微软雅黑" panose="020B0503020204020204" charset="-122"/>
                  <a:ea typeface="微软雅黑" panose="020B0503020204020204" charset="-122"/>
                </a:rPr>
                <a:t>同一个服务器建立连接并接收数据</a:t>
              </a:r>
              <a:endParaRPr lang="zh-CN" altLang="en-US" sz="1800" b="1">
                <a:solidFill>
                  <a:srgbClr val="FF0000"/>
                </a:solidFill>
                <a:latin typeface="微软雅黑" panose="020B0503020204020204" charset="-122"/>
                <a:ea typeface="微软雅黑" panose="020B0503020204020204" charset="-122"/>
              </a:endParaRPr>
            </a:p>
          </p:txBody>
        </p:sp>
        <p:pic>
          <p:nvPicPr>
            <p:cNvPr id="162862" name="Picture 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63" name="Group 47"/>
          <p:cNvGrpSpPr/>
          <p:nvPr/>
        </p:nvGrpSpPr>
        <p:grpSpPr bwMode="auto">
          <a:xfrm>
            <a:off x="908448" y="5105405"/>
            <a:ext cx="4692253" cy="478632"/>
            <a:chOff x="523" y="1876"/>
            <a:chExt cx="3941" cy="402"/>
          </a:xfrm>
        </p:grpSpPr>
        <p:sp>
          <p:nvSpPr>
            <p:cNvPr id="162864" name="Rectangle 48"/>
            <p:cNvSpPr>
              <a:spLocks noChangeArrowheads="1"/>
            </p:cNvSpPr>
            <p:nvPr/>
          </p:nvSpPr>
          <p:spPr bwMode="auto">
            <a:xfrm>
              <a:off x="523" y="1876"/>
              <a:ext cx="3941"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a:solidFill>
                    <a:prstClr val="black"/>
                  </a:solidFill>
                  <a:latin typeface="微软雅黑" panose="020B0503020204020204" charset="-122"/>
                  <a:ea typeface="微软雅黑" panose="020B0503020204020204" charset="-122"/>
                </a:rPr>
                <a:t>所有的文本、图片都显示在一个屏幕上</a:t>
              </a:r>
              <a:endParaRPr lang="zh-CN" altLang="en-US" sz="1800" b="1">
                <a:solidFill>
                  <a:srgbClr val="FF0000"/>
                </a:solidFill>
                <a:latin typeface="微软雅黑" panose="020B0503020204020204" charset="-122"/>
                <a:ea typeface="微软雅黑" panose="020B0503020204020204" charset="-122"/>
              </a:endParaRPr>
            </a:p>
          </p:txBody>
        </p:sp>
        <p:pic>
          <p:nvPicPr>
            <p:cNvPr id="162865" name="Picture 4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pic>
        <p:nvPicPr>
          <p:cNvPr id="162866" name="Picture 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828800"/>
            <a:ext cx="26924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62867" name="Picture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4343400"/>
            <a:ext cx="2766060" cy="1791335"/>
          </a:xfrm>
          <a:prstGeom prst="rect">
            <a:avLst/>
          </a:prstGeom>
          <a:noFill/>
          <a:extLst>
            <a:ext uri="{909E8E84-426E-40DD-AFC4-6F175D3DCCD1}">
              <a14:hiddenFill xmlns:a14="http://schemas.microsoft.com/office/drawing/2010/main">
                <a:solidFill>
                  <a:srgbClr val="FFFFFF"/>
                </a:solidFill>
              </a14:hiddenFill>
            </a:ext>
          </a:extLst>
        </p:spPr>
      </p:pic>
      <p:sp>
        <p:nvSpPr>
          <p:cNvPr id="162868" name="AutoShape 52"/>
          <p:cNvSpPr>
            <a:spLocks noChangeArrowheads="1"/>
          </p:cNvSpPr>
          <p:nvPr/>
        </p:nvSpPr>
        <p:spPr bwMode="auto">
          <a:xfrm rot="16200000" flipH="1">
            <a:off x="7196138" y="3915093"/>
            <a:ext cx="371475" cy="57150"/>
          </a:xfrm>
          <a:prstGeom prst="rightArrow">
            <a:avLst>
              <a:gd name="adj1" fmla="val 50000"/>
              <a:gd name="adj2" fmla="val 16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44"/>
                                        </p:tgtEl>
                                        <p:attrNameLst>
                                          <p:attrName>style.visibility</p:attrName>
                                        </p:attrNameLst>
                                      </p:cBhvr>
                                      <p:to>
                                        <p:strVal val="visible"/>
                                      </p:to>
                                    </p:set>
                                    <p:animEffect transition="in" filter="dissolve">
                                      <p:cBhvr>
                                        <p:cTn id="7" dur="500"/>
                                        <p:tgtEl>
                                          <p:spTgt spid="1628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2845"/>
                                        </p:tgtEl>
                                        <p:attrNameLst>
                                          <p:attrName>style.visibility</p:attrName>
                                        </p:attrNameLst>
                                      </p:cBhvr>
                                      <p:to>
                                        <p:strVal val="visible"/>
                                      </p:to>
                                    </p:set>
                                    <p:animEffect transition="in" filter="dissolve">
                                      <p:cBhvr>
                                        <p:cTn id="12" dur="500"/>
                                        <p:tgtEl>
                                          <p:spTgt spid="1628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2854"/>
                                        </p:tgtEl>
                                        <p:attrNameLst>
                                          <p:attrName>style.visibility</p:attrName>
                                        </p:attrNameLst>
                                      </p:cBhvr>
                                      <p:to>
                                        <p:strVal val="visible"/>
                                      </p:to>
                                    </p:set>
                                    <p:animEffect transition="in" filter="dissolve">
                                      <p:cBhvr>
                                        <p:cTn id="17" dur="500"/>
                                        <p:tgtEl>
                                          <p:spTgt spid="16285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2851"/>
                                        </p:tgtEl>
                                        <p:attrNameLst>
                                          <p:attrName>style.visibility</p:attrName>
                                        </p:attrNameLst>
                                      </p:cBhvr>
                                      <p:to>
                                        <p:strVal val="visible"/>
                                      </p:to>
                                    </p:set>
                                    <p:animEffect transition="in" filter="dissolve">
                                      <p:cBhvr>
                                        <p:cTn id="22" dur="500"/>
                                        <p:tgtEl>
                                          <p:spTgt spid="16285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2857"/>
                                        </p:tgtEl>
                                        <p:attrNameLst>
                                          <p:attrName>style.visibility</p:attrName>
                                        </p:attrNameLst>
                                      </p:cBhvr>
                                      <p:to>
                                        <p:strVal val="visible"/>
                                      </p:to>
                                    </p:set>
                                    <p:animEffect transition="in" filter="dissolve">
                                      <p:cBhvr>
                                        <p:cTn id="27" dur="500"/>
                                        <p:tgtEl>
                                          <p:spTgt spid="16285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2828">
                                            <p:txEl>
                                              <p:pRg st="4294967295" end="4294967295"/>
                                            </p:txEl>
                                          </p:spTgt>
                                        </p:tgtEl>
                                        <p:attrNameLst>
                                          <p:attrName>style.visibility</p:attrName>
                                        </p:attrNameLst>
                                      </p:cBhvr>
                                      <p:to>
                                        <p:strVal val="visible"/>
                                      </p:to>
                                    </p:set>
                                    <p:animEffect transition="in" filter="dissolve">
                                      <p:cBhvr>
                                        <p:cTn id="32" dur="500"/>
                                        <p:tgtEl>
                                          <p:spTgt spid="162828">
                                            <p:txEl>
                                              <p:pRg st="4294967295" end="429496729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2828">
                                            <p:txEl>
                                              <p:pRg st="0" end="0"/>
                                            </p:txEl>
                                          </p:spTgt>
                                        </p:tgtEl>
                                        <p:attrNameLst>
                                          <p:attrName>style.visibility</p:attrName>
                                        </p:attrNameLst>
                                      </p:cBhvr>
                                      <p:to>
                                        <p:strVal val="visible"/>
                                      </p:to>
                                    </p:set>
                                    <p:animEffect transition="in" filter="dissolve">
                                      <p:cBhvr>
                                        <p:cTn id="37" dur="500"/>
                                        <p:tgtEl>
                                          <p:spTgt spid="16282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62860"/>
                                        </p:tgtEl>
                                        <p:attrNameLst>
                                          <p:attrName>style.visibility</p:attrName>
                                        </p:attrNameLst>
                                      </p:cBhvr>
                                      <p:to>
                                        <p:strVal val="visible"/>
                                      </p:to>
                                    </p:set>
                                    <p:animEffect transition="in" filter="dissolve">
                                      <p:cBhvr>
                                        <p:cTn id="42" dur="500"/>
                                        <p:tgtEl>
                                          <p:spTgt spid="16286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62863"/>
                                        </p:tgtEl>
                                        <p:attrNameLst>
                                          <p:attrName>style.visibility</p:attrName>
                                        </p:attrNameLst>
                                      </p:cBhvr>
                                      <p:to>
                                        <p:strVal val="visible"/>
                                      </p:to>
                                    </p:set>
                                    <p:animEffect transition="in" filter="dissolve">
                                      <p:cBhvr>
                                        <p:cTn id="47" dur="500"/>
                                        <p:tgtEl>
                                          <p:spTgt spid="162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8" grpId="0" build="p"/>
      <p:bldP spid="162844" grpId="0" bldLvl="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937260" y="1705610"/>
            <a:ext cx="4965065" cy="412115"/>
          </a:xfrm>
        </p:spPr>
        <p:txBody>
          <a:bodyPr anchor="ctr"/>
          <a:lstStyle/>
          <a:p>
            <a:pPr algn="l">
              <a:defRPr/>
            </a:pPr>
            <a:r>
              <a:rPr lang="zh-CN" altLang="en-US" sz="3600" dirty="0"/>
              <a:t>创建进程和线程</a:t>
            </a:r>
            <a:endParaRPr lang="zh-CN" altLang="en-US" sz="3600" dirty="0"/>
          </a:p>
        </p:txBody>
      </p:sp>
      <p:sp>
        <p:nvSpPr>
          <p:cNvPr id="152578" name="灯片编号占位符 5"/>
          <p:cNvSpPr>
            <a:spLocks noGrp="1"/>
          </p:cNvSpPr>
          <p:nvPr>
            <p:ph type="sldNum" sz="quarter" idx="4294967295"/>
          </p:nvPr>
        </p:nvSpPr>
        <p:spPr bwMode="auto">
          <a:xfrm>
            <a:off x="4483826" y="6133400"/>
            <a:ext cx="1600200" cy="362495"/>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z="1200" smtClean="0">
                <a:latin typeface="+mj-ea"/>
                <a:ea typeface="+mj-ea"/>
              </a:rPr>
            </a:fld>
            <a:endParaRPr lang="zh-CN" altLang="en-US" sz="1200" smtClean="0">
              <a:latin typeface="+mj-ea"/>
              <a:ea typeface="+mj-ea"/>
            </a:endParaRPr>
          </a:p>
        </p:txBody>
      </p:sp>
      <p:sp>
        <p:nvSpPr>
          <p:cNvPr id="152581" name="Rectangle 5"/>
          <p:cNvSpPr>
            <a:spLocks noChangeArrowheads="1"/>
          </p:cNvSpPr>
          <p:nvPr/>
        </p:nvSpPr>
        <p:spPr bwMode="auto">
          <a:xfrm>
            <a:off x="685801" y="3595626"/>
            <a:ext cx="30988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2"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400" b="0">
              <a:latin typeface="+mj-ea"/>
              <a:ea typeface="+mj-ea"/>
            </a:endParaRPr>
          </a:p>
        </p:txBody>
      </p:sp>
      <p:graphicFrame>
        <p:nvGraphicFramePr>
          <p:cNvPr id="152582" name="Object 2"/>
          <p:cNvGraphicFramePr>
            <a:graphicFrameLocks noChangeAspect="1"/>
          </p:cNvGraphicFramePr>
          <p:nvPr/>
        </p:nvGraphicFramePr>
        <p:xfrm>
          <a:off x="370205" y="3783330"/>
          <a:ext cx="3476625" cy="2889885"/>
        </p:xfrm>
        <a:graphic>
          <a:graphicData uri="http://schemas.openxmlformats.org/presentationml/2006/ole">
            <mc:AlternateContent xmlns:mc="http://schemas.openxmlformats.org/markup-compatibility/2006">
              <mc:Choice xmlns:v="urn:schemas-microsoft-com:vml" Requires="v">
                <p:oleObj spid="_x0000_s62815" name="Visio" r:id="rId1" imgW="3905885" imgH="3251200" progId="Visio.Drawing.11">
                  <p:embed/>
                </p:oleObj>
              </mc:Choice>
              <mc:Fallback>
                <p:oleObj name="Visio" r:id="rId1" imgW="3905885" imgH="3251200"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205" y="3783330"/>
                        <a:ext cx="3476625" cy="288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583" name="Rectangle 7"/>
          <p:cNvSpPr>
            <a:spLocks noChangeArrowheads="1"/>
          </p:cNvSpPr>
          <p:nvPr/>
        </p:nvSpPr>
        <p:spPr bwMode="auto">
          <a:xfrm>
            <a:off x="685801" y="3734929"/>
            <a:ext cx="30988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2"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400" b="0">
              <a:latin typeface="+mj-ea"/>
              <a:ea typeface="+mj-ea"/>
            </a:endParaRPr>
          </a:p>
        </p:txBody>
      </p:sp>
      <p:graphicFrame>
        <p:nvGraphicFramePr>
          <p:cNvPr id="152584" name="Object 3"/>
          <p:cNvGraphicFramePr>
            <a:graphicFrameLocks noChangeAspect="1"/>
          </p:cNvGraphicFramePr>
          <p:nvPr/>
        </p:nvGraphicFramePr>
        <p:xfrm>
          <a:off x="4041775" y="3794760"/>
          <a:ext cx="4307840" cy="2877820"/>
        </p:xfrm>
        <a:graphic>
          <a:graphicData uri="http://schemas.openxmlformats.org/presentationml/2006/ole">
            <mc:AlternateContent xmlns:mc="http://schemas.openxmlformats.org/markup-compatibility/2006">
              <mc:Choice xmlns:v="urn:schemas-microsoft-com:vml" Requires="v">
                <p:oleObj spid="_x0000_s62816" name="Visio" r:id="rId3" imgW="3905885" imgH="2630170" progId="Visio.Drawing.11">
                  <p:embed/>
                </p:oleObj>
              </mc:Choice>
              <mc:Fallback>
                <p:oleObj name="Visio" r:id="rId3" imgW="3905885" imgH="263017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1775" y="3794760"/>
                        <a:ext cx="4307840" cy="28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467361" y="2346075"/>
            <a:ext cx="7960359" cy="1291590"/>
          </a:xfrm>
          <a:prstGeom prst="rect">
            <a:avLst/>
          </a:prstGeom>
        </p:spPr>
        <p:txBody>
          <a:bodyPr wrap="square">
            <a:spAutoFit/>
          </a:bodyPr>
          <a:lstStyle/>
          <a:p>
            <a:pPr>
              <a:lnSpc>
                <a:spcPct val="130000"/>
              </a:lnSpc>
            </a:pPr>
            <a:r>
              <a:rPr lang="zh-CN" altLang="en-US" sz="2000" b="1" dirty="0">
                <a:solidFill>
                  <a:srgbClr val="FF0000"/>
                </a:solidFill>
                <a:latin typeface="微软雅黑" panose="020B0503020204020204" charset="-122"/>
                <a:ea typeface="微软雅黑" panose="020B0503020204020204" charset="-122"/>
              </a:rPr>
              <a:t>进程</a:t>
            </a:r>
            <a:r>
              <a:rPr lang="zh-CN" altLang="en-US" sz="2000" b="1" dirty="0">
                <a:latin typeface="微软雅黑" panose="020B0503020204020204" charset="-122"/>
                <a:ea typeface="微软雅黑" panose="020B0503020204020204" charset="-122"/>
              </a:rPr>
              <a:t>的概念体现出两个特点：资源（代码和数据空间、打开的文件等）以及调度执行。</a:t>
            </a:r>
            <a:endParaRPr lang="en-US" altLang="zh-CN" sz="2000" b="1" dirty="0">
              <a:latin typeface="微软雅黑" panose="020B0503020204020204" charset="-122"/>
              <a:ea typeface="微软雅黑" panose="020B0503020204020204" charset="-122"/>
            </a:endParaRPr>
          </a:p>
          <a:p>
            <a:pPr>
              <a:lnSpc>
                <a:spcPct val="130000"/>
              </a:lnSpc>
            </a:pPr>
            <a:r>
              <a:rPr lang="zh-CN" altLang="en-US" sz="2000" b="1" dirty="0">
                <a:solidFill>
                  <a:srgbClr val="FF0000"/>
                </a:solidFill>
                <a:latin typeface="微软雅黑" panose="020B0503020204020204" charset="-122"/>
                <a:ea typeface="微软雅黑" panose="020B0503020204020204" charset="-122"/>
              </a:rPr>
              <a:t>线程</a:t>
            </a:r>
            <a:r>
              <a:rPr lang="zh-CN" altLang="en-US" sz="2000" b="1" dirty="0">
                <a:latin typeface="微软雅黑" panose="020B0503020204020204" charset="-122"/>
                <a:ea typeface="微软雅黑" panose="020B0503020204020204" charset="-122"/>
              </a:rPr>
              <a:t>是进程内的独立执行代码的实体和调度单元。</a:t>
            </a:r>
            <a:endParaRPr lang="zh-CN" altLang="en-US" sz="2000" b="1" dirty="0">
              <a:latin typeface="微软雅黑" panose="020B0503020204020204" charset="-122"/>
              <a:ea typeface="微软雅黑" panose="020B0503020204020204" charset="-122"/>
            </a:endParaRPr>
          </a:p>
        </p:txBody>
      </p:sp>
      <p:sp>
        <p:nvSpPr>
          <p:cNvPr id="10" name="标题 1"/>
          <p:cNvSpPr txBox="1"/>
          <p:nvPr/>
        </p:nvSpPr>
        <p:spPr>
          <a:xfrm>
            <a:off x="6906515" y="1176061"/>
            <a:ext cx="2171445"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2.7.1 </a:t>
            </a:r>
            <a:r>
              <a:rPr kumimoji="1" lang="zh-CN" altLang="en-US" sz="2100" dirty="0">
                <a:solidFill>
                  <a:srgbClr val="002060"/>
                </a:solidFill>
                <a:cs typeface="+mn-cs"/>
              </a:rPr>
              <a:t>线程概述</a:t>
            </a:r>
            <a:endParaRPr kumimoji="1" lang="zh-CN" altLang="en-US" sz="2100" dirty="0">
              <a:solidFill>
                <a:srgbClr val="002060"/>
              </a:solidFill>
              <a:cs typeface="+mn-cs"/>
            </a:endParaRPr>
          </a:p>
        </p:txBody>
      </p:sp>
      <p:sp>
        <p:nvSpPr>
          <p:cNvPr id="11" name="标题 1"/>
          <p:cNvSpPr txBox="1"/>
          <p:nvPr/>
        </p:nvSpPr>
        <p:spPr>
          <a:xfrm>
            <a:off x="1150875" y="1059897"/>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smtClean="0">
                <a:solidFill>
                  <a:srgbClr val="242852"/>
                </a:solidFill>
                <a:cs typeface="+mn-cs"/>
              </a:rPr>
              <a:t>2.7 </a:t>
            </a:r>
            <a:r>
              <a:rPr kumimoji="1" lang="zh-CN" altLang="en-US"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Text Box 4"/>
          <p:cNvSpPr txBox="1">
            <a:spLocks noChangeArrowheads="1"/>
          </p:cNvSpPr>
          <p:nvPr/>
        </p:nvSpPr>
        <p:spPr bwMode="auto">
          <a:xfrm>
            <a:off x="882015" y="1710690"/>
            <a:ext cx="1859915" cy="41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defTabSz="685800">
              <a:lnSpc>
                <a:spcPct val="90000"/>
              </a:lnSpc>
              <a:spcBef>
                <a:spcPct val="0"/>
              </a:spcBef>
              <a:buClrTx/>
              <a:buSzTx/>
              <a:buNone/>
              <a:defRPr/>
            </a:pPr>
            <a:r>
              <a:rPr lang="zh-CN" altLang="en-US" sz="2400" b="1" dirty="0">
                <a:solidFill>
                  <a:srgbClr val="4A66AC">
                    <a:lumMod val="75000"/>
                  </a:srgbClr>
                </a:solidFill>
                <a:latin typeface="微软雅黑" panose="020B0503020204020204" charset="-122"/>
                <a:ea typeface="微软雅黑" panose="020B0503020204020204" charset="-122"/>
              </a:rPr>
              <a:t>线程的属性 </a:t>
            </a:r>
            <a:endParaRPr lang="zh-CN" altLang="en-US" sz="2400" b="1" dirty="0">
              <a:solidFill>
                <a:srgbClr val="4A66AC">
                  <a:lumMod val="75000"/>
                </a:srgbClr>
              </a:solidFill>
              <a:latin typeface="微软雅黑" panose="020B0503020204020204" charset="-122"/>
              <a:ea typeface="微软雅黑" panose="020B0503020204020204" charset="-122"/>
            </a:endParaRPr>
          </a:p>
        </p:txBody>
      </p:sp>
      <p:sp>
        <p:nvSpPr>
          <p:cNvPr id="189443" name="Text Box 5"/>
          <p:cNvSpPr txBox="1">
            <a:spLocks noChangeArrowheads="1"/>
          </p:cNvSpPr>
          <p:nvPr/>
        </p:nvSpPr>
        <p:spPr bwMode="auto">
          <a:xfrm>
            <a:off x="353060" y="2564765"/>
            <a:ext cx="8447405" cy="3681730"/>
          </a:xfrm>
          <a:prstGeom prst="rect">
            <a:avLst/>
          </a:prstGeom>
          <a:noFill/>
          <a:ln w="9525">
            <a:noFill/>
            <a:miter lim="800000"/>
          </a:ln>
        </p:spPr>
        <p:txBody>
          <a:bodyPr wrap="square">
            <a:spAutoFit/>
          </a:bodyPr>
          <a:lstStyle/>
          <a:p>
            <a:pPr>
              <a:lnSpc>
                <a:spcPts val="3500"/>
              </a:lnSpc>
              <a:defRPr/>
            </a:pPr>
            <a:r>
              <a:rPr lang="zh-CN" altLang="en-US" sz="2000" b="1" dirty="0">
                <a:solidFill>
                  <a:srgbClr val="C00000"/>
                </a:solidFill>
                <a:latin typeface="微软雅黑" panose="020B0503020204020204" charset="-122"/>
                <a:ea typeface="微软雅黑" panose="020B0503020204020204" charset="-122"/>
              </a:rPr>
              <a:t>（</a:t>
            </a:r>
            <a:r>
              <a:rPr lang="en-US" altLang="zh-CN" sz="2000" b="1" dirty="0">
                <a:solidFill>
                  <a:srgbClr val="C00000"/>
                </a:solidFill>
                <a:latin typeface="微软雅黑" panose="020B0503020204020204" charset="-122"/>
                <a:ea typeface="微软雅黑" panose="020B0503020204020204" charset="-122"/>
              </a:rPr>
              <a:t>1</a:t>
            </a:r>
            <a:r>
              <a:rPr lang="zh-CN" altLang="en-US" sz="2000" b="1" dirty="0">
                <a:solidFill>
                  <a:srgbClr val="C00000"/>
                </a:solidFill>
                <a:latin typeface="微软雅黑" panose="020B0503020204020204" charset="-122"/>
                <a:ea typeface="微软雅黑" panose="020B0503020204020204" charset="-122"/>
              </a:rPr>
              <a:t>）轻型实体</a:t>
            </a:r>
            <a:r>
              <a:rPr lang="en-US" altLang="zh-CN" sz="2000" b="1" dirty="0">
                <a:solidFill>
                  <a:srgbClr val="C00000"/>
                </a:solidFill>
                <a:latin typeface="微软雅黑" panose="020B0503020204020204" charset="-122"/>
                <a:ea typeface="微软雅黑" panose="020B0503020204020204" charset="-122"/>
              </a:rPr>
              <a:t> </a:t>
            </a:r>
            <a:r>
              <a:rPr lang="en-US" altLang="zh-CN" sz="2400" b="1" dirty="0">
                <a:solidFill>
                  <a:srgbClr val="C00000"/>
                </a:solidFill>
                <a:latin typeface="微软雅黑" panose="020B0503020204020204" charset="-122"/>
                <a:ea typeface="微软雅黑" panose="020B0503020204020204" charset="-122"/>
              </a:rPr>
              <a:t> </a:t>
            </a:r>
            <a:r>
              <a:rPr lang="zh-CN" altLang="en-US" sz="1800" dirty="0">
                <a:solidFill>
                  <a:prstClr val="black"/>
                </a:solidFill>
                <a:latin typeface="微软雅黑" panose="020B0503020204020204" charset="-122"/>
                <a:ea typeface="微软雅黑" panose="020B0503020204020204" charset="-122"/>
              </a:rPr>
              <a:t>线程自己基本不拥有系统资源，只拥有少量必不可少的资源：</a:t>
            </a:r>
            <a:r>
              <a:rPr lang="en-US" altLang="zh-CN" sz="1800" dirty="0">
                <a:solidFill>
                  <a:prstClr val="black"/>
                </a:solidFill>
                <a:latin typeface="微软雅黑" panose="020B0503020204020204" charset="-122"/>
                <a:ea typeface="微软雅黑" panose="020B0503020204020204" charset="-122"/>
              </a:rPr>
              <a:t>TCB</a:t>
            </a:r>
            <a:r>
              <a:rPr lang="zh-CN" altLang="en-US" sz="1800" dirty="0">
                <a:solidFill>
                  <a:prstClr val="black"/>
                </a:solidFill>
                <a:latin typeface="微软雅黑" panose="020B0503020204020204" charset="-122"/>
                <a:ea typeface="微软雅黑" panose="020B0503020204020204" charset="-122"/>
              </a:rPr>
              <a:t>，程序计数器、一组寄存器、栈。</a:t>
            </a:r>
            <a:endParaRPr lang="zh-CN" altLang="en-US" sz="1800" dirty="0">
              <a:solidFill>
                <a:prstClr val="black"/>
              </a:solidFill>
              <a:latin typeface="微软雅黑" panose="020B0503020204020204" charset="-122"/>
              <a:ea typeface="微软雅黑" panose="020B0503020204020204" charset="-122"/>
            </a:endParaRPr>
          </a:p>
          <a:p>
            <a:pPr>
              <a:lnSpc>
                <a:spcPts val="3500"/>
              </a:lnSpc>
              <a:defRPr/>
            </a:pPr>
            <a:r>
              <a:rPr lang="zh-CN" altLang="en-US" sz="2000" b="1" dirty="0">
                <a:solidFill>
                  <a:srgbClr val="C00000"/>
                </a:solidFill>
                <a:latin typeface="微软雅黑" panose="020B0503020204020204" charset="-122"/>
                <a:ea typeface="微软雅黑" panose="020B0503020204020204" charset="-122"/>
              </a:rPr>
              <a:t>（2）独立调度和分派的基本单位</a:t>
            </a:r>
            <a:r>
              <a:rPr lang="en-US" altLang="zh-CN" sz="2000" b="1" dirty="0">
                <a:solidFill>
                  <a:srgbClr val="C00000"/>
                </a:solidFill>
                <a:latin typeface="微软雅黑" panose="020B0503020204020204" charset="-122"/>
                <a:ea typeface="微软雅黑" panose="020B0503020204020204" charset="-122"/>
              </a:rPr>
              <a:t>  </a:t>
            </a:r>
            <a:r>
              <a:rPr lang="zh-CN" altLang="en-US" sz="1800" dirty="0">
                <a:solidFill>
                  <a:prstClr val="black"/>
                </a:solidFill>
                <a:latin typeface="微软雅黑" panose="020B0503020204020204" charset="-122"/>
                <a:ea typeface="微软雅黑" panose="020B0503020204020204" charset="-122"/>
              </a:rPr>
              <a:t>在多线程</a:t>
            </a:r>
            <a:r>
              <a:rPr lang="en-US" altLang="zh-CN" sz="1800" dirty="0">
                <a:solidFill>
                  <a:prstClr val="black"/>
                </a:solidFill>
                <a:latin typeface="微软雅黑" panose="020B0503020204020204" charset="-122"/>
                <a:ea typeface="微软雅黑" panose="020B0503020204020204" charset="-122"/>
              </a:rPr>
              <a:t>OS</a:t>
            </a:r>
            <a:r>
              <a:rPr lang="zh-CN" altLang="en-US" sz="1800" dirty="0">
                <a:solidFill>
                  <a:prstClr val="black"/>
                </a:solidFill>
                <a:latin typeface="微软雅黑" panose="020B0503020204020204" charset="-122"/>
                <a:ea typeface="微软雅黑" panose="020B0503020204020204" charset="-122"/>
              </a:rPr>
              <a:t>中,线程是独立运行的基本单位,因而也是独立调度和分派的基本单位。</a:t>
            </a:r>
            <a:endParaRPr lang="zh-CN" altLang="en-US" sz="1600" dirty="0">
              <a:solidFill>
                <a:prstClr val="black"/>
              </a:solidFill>
              <a:latin typeface="微软雅黑" panose="020B0503020204020204" charset="-122"/>
              <a:ea typeface="微软雅黑" panose="020B0503020204020204" charset="-122"/>
            </a:endParaRPr>
          </a:p>
          <a:p>
            <a:pPr>
              <a:lnSpc>
                <a:spcPts val="3500"/>
              </a:lnSpc>
              <a:defRPr/>
            </a:pPr>
            <a:r>
              <a:rPr lang="zh-CN" altLang="en-US" sz="2000" b="1" dirty="0">
                <a:solidFill>
                  <a:srgbClr val="C00000"/>
                </a:solidFill>
                <a:latin typeface="微软雅黑" panose="020B0503020204020204" charset="-122"/>
                <a:ea typeface="微软雅黑" panose="020B0503020204020204" charset="-122"/>
              </a:rPr>
              <a:t>（3）可并发执行</a:t>
            </a:r>
            <a:r>
              <a:rPr lang="en-US" altLang="zh-CN" sz="2000" b="1" dirty="0">
                <a:solidFill>
                  <a:srgbClr val="C00000"/>
                </a:solidFill>
                <a:latin typeface="微软雅黑" panose="020B0503020204020204" charset="-122"/>
                <a:ea typeface="微软雅黑" panose="020B0503020204020204" charset="-122"/>
              </a:rPr>
              <a:t> </a:t>
            </a:r>
            <a:r>
              <a:rPr lang="zh-CN" altLang="en-US" sz="1800" dirty="0">
                <a:solidFill>
                  <a:prstClr val="black"/>
                </a:solidFill>
                <a:latin typeface="微软雅黑" panose="020B0503020204020204" charset="-122"/>
                <a:ea typeface="微软雅黑" panose="020B0503020204020204" charset="-122"/>
              </a:rPr>
              <a:t>同一进程中的多个线程之间可以并发执行，一个线程可以创建和撤消另一个线程</a:t>
            </a:r>
            <a:r>
              <a:rPr lang="zh-CN" altLang="en-US" sz="2400" b="1" dirty="0">
                <a:solidFill>
                  <a:prstClr val="black"/>
                </a:solidFill>
                <a:latin typeface="微软雅黑" panose="020B0503020204020204" charset="-122"/>
                <a:ea typeface="微软雅黑" panose="020B0503020204020204" charset="-122"/>
              </a:rPr>
              <a:t>。</a:t>
            </a:r>
            <a:endParaRPr lang="zh-CN" altLang="en-US" sz="2400" b="1" dirty="0">
              <a:solidFill>
                <a:prstClr val="black"/>
              </a:solidFill>
              <a:latin typeface="微软雅黑" panose="020B0503020204020204" charset="-122"/>
              <a:ea typeface="微软雅黑" panose="020B0503020204020204" charset="-122"/>
            </a:endParaRPr>
          </a:p>
          <a:p>
            <a:pPr>
              <a:lnSpc>
                <a:spcPts val="3500"/>
              </a:lnSpc>
              <a:defRPr/>
            </a:pPr>
            <a:r>
              <a:rPr lang="zh-CN" altLang="en-US" sz="2000" b="1" dirty="0">
                <a:solidFill>
                  <a:srgbClr val="C00000"/>
                </a:solidFill>
                <a:latin typeface="微软雅黑" panose="020B0503020204020204" charset="-122"/>
                <a:ea typeface="微软雅黑" panose="020B0503020204020204" charset="-122"/>
              </a:rPr>
              <a:t>（4）共享进程资源</a:t>
            </a:r>
            <a:r>
              <a:rPr lang="en-US" altLang="zh-CN" sz="2000" b="1" dirty="0">
                <a:solidFill>
                  <a:srgbClr val="C00000"/>
                </a:solidFill>
                <a:latin typeface="微软雅黑" panose="020B0503020204020204" charset="-122"/>
                <a:ea typeface="微软雅黑" panose="020B0503020204020204" charset="-122"/>
              </a:rPr>
              <a:t> </a:t>
            </a:r>
            <a:r>
              <a:rPr lang="zh-CN" altLang="en-US" sz="1800" dirty="0">
                <a:solidFill>
                  <a:prstClr val="black"/>
                </a:solidFill>
                <a:latin typeface="微软雅黑" panose="020B0503020204020204" charset="-122"/>
                <a:ea typeface="微软雅黑" panose="020B0503020204020204" charset="-122"/>
              </a:rPr>
              <a:t>它可与同属一个进程的其它线程共享进程所拥有的全部资源。</a:t>
            </a:r>
            <a:endParaRPr lang="zh-CN" altLang="en-US" sz="1800" dirty="0">
              <a:solidFill>
                <a:prstClr val="black"/>
              </a:solidFill>
              <a:latin typeface="微软雅黑" panose="020B0503020204020204" charset="-122"/>
              <a:ea typeface="微软雅黑" panose="020B0503020204020204" charset="-122"/>
            </a:endParaRPr>
          </a:p>
        </p:txBody>
      </p:sp>
      <p:sp>
        <p:nvSpPr>
          <p:cNvPr id="5" name="标题 1"/>
          <p:cNvSpPr txBox="1"/>
          <p:nvPr/>
        </p:nvSpPr>
        <p:spPr>
          <a:xfrm>
            <a:off x="6906515" y="1176061"/>
            <a:ext cx="2171445"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2.7.1 </a:t>
            </a:r>
            <a:r>
              <a:rPr kumimoji="1" lang="zh-CN" altLang="en-US" sz="2100" dirty="0">
                <a:solidFill>
                  <a:srgbClr val="002060"/>
                </a:solidFill>
                <a:cs typeface="+mn-cs"/>
              </a:rPr>
              <a:t>线程概述</a:t>
            </a:r>
            <a:endParaRPr kumimoji="1" lang="zh-CN" altLang="en-US" sz="2100" dirty="0">
              <a:solidFill>
                <a:srgbClr val="002060"/>
              </a:solidFill>
              <a:cs typeface="+mn-cs"/>
            </a:endParaRPr>
          </a:p>
        </p:txBody>
      </p:sp>
      <p:sp>
        <p:nvSpPr>
          <p:cNvPr id="6" name="标题 1"/>
          <p:cNvSpPr>
            <a:spLocks noGrp="1"/>
          </p:cNvSpPr>
          <p:nvPr>
            <p:ph type="title"/>
          </p:nvPr>
        </p:nvSpPr>
        <p:spPr>
          <a:xfrm>
            <a:off x="1150875" y="1035688"/>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anim calcmode="lin" valueType="num">
                                      <p:cBhvr additive="base">
                                        <p:cTn id="7" dur="500" fill="hold"/>
                                        <p:tgtEl>
                                          <p:spTgt spid="1894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94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89443">
                                            <p:txEl>
                                              <p:pRg st="1" end="1"/>
                                            </p:txEl>
                                          </p:spTgt>
                                        </p:tgtEl>
                                        <p:attrNameLst>
                                          <p:attrName>style.visibility</p:attrName>
                                        </p:attrNameLst>
                                      </p:cBhvr>
                                      <p:to>
                                        <p:strVal val="visible"/>
                                      </p:to>
                                    </p:set>
                                    <p:anim calcmode="lin" valueType="num">
                                      <p:cBhvr additive="base">
                                        <p:cTn id="13" dur="500" fill="hold"/>
                                        <p:tgtEl>
                                          <p:spTgt spid="1894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94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89443">
                                            <p:txEl>
                                              <p:pRg st="2" end="2"/>
                                            </p:txEl>
                                          </p:spTgt>
                                        </p:tgtEl>
                                        <p:attrNameLst>
                                          <p:attrName>style.visibility</p:attrName>
                                        </p:attrNameLst>
                                      </p:cBhvr>
                                      <p:to>
                                        <p:strVal val="visible"/>
                                      </p:to>
                                    </p:set>
                                    <p:anim calcmode="lin" valueType="num">
                                      <p:cBhvr additive="base">
                                        <p:cTn id="19" dur="500" fill="hold"/>
                                        <p:tgtEl>
                                          <p:spTgt spid="1894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94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89443">
                                            <p:txEl>
                                              <p:pRg st="3" end="3"/>
                                            </p:txEl>
                                          </p:spTgt>
                                        </p:tgtEl>
                                        <p:attrNameLst>
                                          <p:attrName>style.visibility</p:attrName>
                                        </p:attrNameLst>
                                      </p:cBhvr>
                                      <p:to>
                                        <p:strVal val="visible"/>
                                      </p:to>
                                    </p:set>
                                    <p:anim calcmode="lin" valueType="num">
                                      <p:cBhvr additive="base">
                                        <p:cTn id="25" dur="500" fill="hold"/>
                                        <p:tgtEl>
                                          <p:spTgt spid="1894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94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charset="-122"/>
                <a:ea typeface="微软雅黑" panose="020B0503020204020204" charset="-122"/>
              </a:rPr>
              <a:t>下面关于线程的叙述中，正确的是（     ）。 </a:t>
            </a:r>
            <a:endParaRPr lang="zh-CN" altLang="en-US" sz="2800" dirty="0">
              <a:latin typeface="微软雅黑" panose="020B0503020204020204" charset="-122"/>
              <a:ea typeface="微软雅黑" panose="020B0503020204020204" charset="-122"/>
            </a:endParaRPr>
          </a:p>
          <a:p>
            <a:pPr marL="0" indent="0">
              <a:buNone/>
            </a:pPr>
            <a:r>
              <a:rPr lang="en-US" altLang="zh-CN" sz="2800" dirty="0">
                <a:latin typeface="微软雅黑" panose="020B0503020204020204" charset="-122"/>
                <a:ea typeface="微软雅黑" panose="020B0503020204020204" charset="-122"/>
              </a:rPr>
              <a:t>A.</a:t>
            </a:r>
            <a:r>
              <a:rPr lang="zh-CN" altLang="en-US" sz="2800" dirty="0">
                <a:latin typeface="微软雅黑" panose="020B0503020204020204" charset="-122"/>
                <a:ea typeface="微软雅黑" panose="020B0503020204020204" charset="-122"/>
              </a:rPr>
              <a:t>不论是系统支持线程还是用户级线程，其切换都需要内核的支持。  </a:t>
            </a:r>
            <a:endParaRPr lang="en-US" altLang="zh-CN" sz="2800" dirty="0">
              <a:latin typeface="微软雅黑" panose="020B0503020204020204" charset="-122"/>
              <a:ea typeface="微软雅黑" panose="020B0503020204020204" charset="-122"/>
            </a:endParaRPr>
          </a:p>
          <a:p>
            <a:pPr marL="0" indent="0">
              <a:buNone/>
            </a:pPr>
            <a:r>
              <a:rPr lang="en-US" altLang="zh-CN" sz="2800" dirty="0">
                <a:latin typeface="微软雅黑" panose="020B0503020204020204" charset="-122"/>
                <a:ea typeface="微软雅黑" panose="020B0503020204020204" charset="-122"/>
              </a:rPr>
              <a:t>B.</a:t>
            </a:r>
            <a:r>
              <a:rPr lang="zh-CN" altLang="en-US" sz="2800" dirty="0">
                <a:latin typeface="微软雅黑" panose="020B0503020204020204" charset="-122"/>
                <a:ea typeface="微软雅黑" panose="020B0503020204020204" charset="-122"/>
              </a:rPr>
              <a:t>线程是资源的分配单位，进程是调度和分配的单位。 </a:t>
            </a:r>
            <a:endParaRPr lang="zh-CN" altLang="en-US" sz="2800" dirty="0">
              <a:latin typeface="微软雅黑" panose="020B0503020204020204" charset="-122"/>
              <a:ea typeface="微软雅黑" panose="020B0503020204020204" charset="-122"/>
            </a:endParaRPr>
          </a:p>
          <a:p>
            <a:pPr marL="0" indent="0">
              <a:buNone/>
            </a:pPr>
            <a:r>
              <a:rPr lang="en-US" altLang="zh-CN" sz="2800" dirty="0">
                <a:latin typeface="微软雅黑" panose="020B0503020204020204" charset="-122"/>
                <a:ea typeface="微软雅黑" panose="020B0503020204020204" charset="-122"/>
              </a:rPr>
              <a:t>C.</a:t>
            </a:r>
            <a:r>
              <a:rPr lang="zh-CN" altLang="en-US" sz="2800" dirty="0">
                <a:latin typeface="微软雅黑" panose="020B0503020204020204" charset="-122"/>
                <a:ea typeface="微软雅黑" panose="020B0503020204020204" charset="-122"/>
              </a:rPr>
              <a:t>不管系统中是否有线程，进程都是拥有资源的独立单位。   </a:t>
            </a:r>
            <a:endParaRPr lang="en-US" altLang="zh-CN" sz="2800" dirty="0">
              <a:latin typeface="微软雅黑" panose="020B0503020204020204" charset="-122"/>
              <a:ea typeface="微软雅黑" panose="020B0503020204020204" charset="-122"/>
            </a:endParaRPr>
          </a:p>
          <a:p>
            <a:pPr marL="0" indent="0">
              <a:buNone/>
            </a:pPr>
            <a:r>
              <a:rPr lang="en-US" altLang="zh-CN" sz="2800" dirty="0">
                <a:latin typeface="微软雅黑" panose="020B0503020204020204" charset="-122"/>
                <a:ea typeface="微软雅黑" panose="020B0503020204020204" charset="-122"/>
              </a:rPr>
              <a:t>D.</a:t>
            </a:r>
            <a:r>
              <a:rPr lang="zh-CN" altLang="en-US" sz="2800" dirty="0">
                <a:latin typeface="微软雅黑" panose="020B0503020204020204" charset="-122"/>
                <a:ea typeface="微软雅黑" panose="020B0503020204020204" charset="-122"/>
              </a:rPr>
              <a:t>在引入线程的系统中，进程仍是资源分配和调度分派的基本单位。</a:t>
            </a:r>
            <a:endParaRPr lang="zh-CN" altLang="en-US" sz="2800" dirty="0">
              <a:latin typeface="微软雅黑" panose="020B0503020204020204" charset="-122"/>
              <a:ea typeface="微软雅黑" panose="020B0503020204020204" charset="-122"/>
            </a:endParaRPr>
          </a:p>
        </p:txBody>
      </p:sp>
      <p:sp>
        <p:nvSpPr>
          <p:cNvPr id="3" name="标题 2"/>
          <p:cNvSpPr>
            <a:spLocks noGrp="1"/>
          </p:cNvSpPr>
          <p:nvPr>
            <p:ph type="title"/>
          </p:nvPr>
        </p:nvSpPr>
        <p:spPr/>
        <p:txBody>
          <a:bodyPr/>
          <a:lstStyle/>
          <a:p>
            <a:r>
              <a:rPr lang="zh-CN" altLang="en-US" dirty="0"/>
              <a:t>课堂练习</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Rectangle 3"/>
          <p:cNvSpPr>
            <a:spLocks noGrp="1" noChangeArrowheads="1"/>
          </p:cNvSpPr>
          <p:nvPr>
            <p:ph idx="1"/>
          </p:nvPr>
        </p:nvSpPr>
        <p:spPr>
          <a:xfrm>
            <a:off x="473529" y="2556102"/>
            <a:ext cx="7750992" cy="2662270"/>
          </a:xfrm>
        </p:spPr>
        <p:txBody>
          <a:bodyPr/>
          <a:lstStyle/>
          <a:p>
            <a:pPr eaLnBrk="1" hangingPunct="1"/>
            <a:r>
              <a:rPr lang="zh-CN" altLang="zh-CN" sz="2400" dirty="0">
                <a:latin typeface="微软雅黑" panose="020B0503020204020204" charset="-122"/>
                <a:ea typeface="微软雅黑" panose="020B0503020204020204" charset="-122"/>
              </a:rPr>
              <a:t>进程内的所有线程共享</a:t>
            </a:r>
            <a:r>
              <a:rPr lang="zh-CN" altLang="en-US" sz="2400" dirty="0">
                <a:latin typeface="微软雅黑" panose="020B0503020204020204" charset="-122"/>
                <a:ea typeface="微软雅黑" panose="020B0503020204020204" charset="-122"/>
              </a:rPr>
              <a:t>进程的很多资源（这</a:t>
            </a:r>
            <a:r>
              <a:rPr lang="zh-CN" altLang="zh-CN" sz="2400" dirty="0">
                <a:latin typeface="微软雅黑" panose="020B0503020204020204" charset="-122"/>
                <a:ea typeface="微软雅黑" panose="020B0503020204020204" charset="-122"/>
              </a:rPr>
              <a:t>种</a:t>
            </a:r>
            <a:r>
              <a:rPr lang="zh-CN" altLang="en-US" sz="2400" dirty="0">
                <a:latin typeface="微软雅黑" panose="020B0503020204020204" charset="-122"/>
                <a:ea typeface="微软雅黑" panose="020B0503020204020204" charset="-122"/>
              </a:rPr>
              <a:t>共享</a:t>
            </a:r>
            <a:r>
              <a:rPr lang="zh-CN" altLang="zh-CN" sz="2400" dirty="0">
                <a:latin typeface="微软雅黑" panose="020B0503020204020204" charset="-122"/>
                <a:ea typeface="微软雅黑" panose="020B0503020204020204" charset="-122"/>
              </a:rPr>
              <a:t>又带来了同步问题）</a:t>
            </a:r>
            <a:endParaRPr lang="zh-CN" altLang="zh-CN" sz="2400" dirty="0">
              <a:latin typeface="微软雅黑" panose="020B0503020204020204" charset="-122"/>
              <a:ea typeface="微软雅黑" panose="020B0503020204020204" charset="-122"/>
            </a:endParaRPr>
          </a:p>
          <a:p>
            <a:pPr eaLnBrk="1" hangingPunct="1">
              <a:buFont typeface="Wingdings" panose="05000000000000000000" pitchFamily="2" charset="2"/>
              <a:buNone/>
            </a:pPr>
            <a:r>
              <a:rPr lang="zh-CN" altLang="zh-CN" sz="1200" dirty="0">
                <a:solidFill>
                  <a:srgbClr val="7030A0"/>
                </a:solidFill>
                <a:latin typeface="微软雅黑" panose="020B0503020204020204" charset="-122"/>
                <a:ea typeface="微软雅黑" panose="020B0503020204020204" charset="-122"/>
              </a:rPr>
              <a:t>  </a:t>
            </a:r>
            <a:r>
              <a:rPr lang="zh-CN" altLang="en-US" sz="1600" dirty="0">
                <a:solidFill>
                  <a:srgbClr val="C00000"/>
                </a:solidFill>
                <a:latin typeface="微软雅黑" panose="020B0503020204020204" charset="-122"/>
                <a:ea typeface="微软雅黑" panose="020B0503020204020204" charset="-122"/>
              </a:rPr>
              <a:t>线程间</a:t>
            </a:r>
            <a:r>
              <a:rPr lang="zh-CN" altLang="zh-CN" sz="1600" dirty="0" smtClean="0">
                <a:solidFill>
                  <a:srgbClr val="C00000"/>
                </a:solidFill>
                <a:latin typeface="微软雅黑" panose="020B0503020204020204" charset="-122"/>
                <a:ea typeface="微软雅黑" panose="020B0503020204020204" charset="-122"/>
              </a:rPr>
              <a:t>共享</a:t>
            </a:r>
            <a:r>
              <a:rPr lang="en-US" altLang="zh-CN" sz="1600" dirty="0" smtClean="0">
                <a:solidFill>
                  <a:srgbClr val="C00000"/>
                </a:solidFill>
                <a:latin typeface="微软雅黑" panose="020B0503020204020204" charset="-122"/>
                <a:ea typeface="微软雅黑" panose="020B0503020204020204" charset="-122"/>
              </a:rPr>
              <a:t>:     </a:t>
            </a:r>
            <a:r>
              <a:rPr lang="zh-CN" altLang="zh-CN" sz="1600" dirty="0" smtClean="0">
                <a:solidFill>
                  <a:srgbClr val="C00000"/>
                </a:solidFill>
                <a:latin typeface="微软雅黑" panose="020B0503020204020204" charset="-122"/>
                <a:ea typeface="微软雅黑" panose="020B0503020204020204" charset="-122"/>
              </a:rPr>
              <a:t>      </a:t>
            </a:r>
            <a:r>
              <a:rPr lang="en-US" altLang="zh-CN" sz="1600" dirty="0" smtClean="0">
                <a:solidFill>
                  <a:srgbClr val="C00000"/>
                </a:solidFill>
                <a:latin typeface="微软雅黑" panose="020B0503020204020204" charset="-122"/>
                <a:ea typeface="微软雅黑" panose="020B0503020204020204" charset="-122"/>
              </a:rPr>
              <a:t> </a:t>
            </a:r>
            <a:r>
              <a:rPr lang="zh-CN" altLang="zh-CN" sz="1600" dirty="0" smtClean="0">
                <a:solidFill>
                  <a:srgbClr val="C00000"/>
                </a:solidFill>
                <a:latin typeface="微软雅黑" panose="020B0503020204020204" charset="-122"/>
                <a:ea typeface="微软雅黑" panose="020B0503020204020204" charset="-122"/>
              </a:rPr>
              <a:t> </a:t>
            </a:r>
            <a:r>
              <a:rPr lang="zh-CN" altLang="en-US" sz="1600" dirty="0">
                <a:solidFill>
                  <a:srgbClr val="C00000"/>
                </a:solidFill>
                <a:latin typeface="微软雅黑" panose="020B0503020204020204" charset="-122"/>
                <a:ea typeface="微软雅黑" panose="020B0503020204020204" charset="-122"/>
              </a:rPr>
              <a:t>线程</a:t>
            </a:r>
            <a:r>
              <a:rPr lang="zh-CN" altLang="zh-CN" sz="1600" dirty="0" smtClean="0">
                <a:solidFill>
                  <a:srgbClr val="C00000"/>
                </a:solidFill>
                <a:latin typeface="微软雅黑" panose="020B0503020204020204" charset="-122"/>
                <a:ea typeface="微软雅黑" panose="020B0503020204020204" charset="-122"/>
              </a:rPr>
              <a:t>私有</a:t>
            </a:r>
            <a:r>
              <a:rPr lang="en-US" altLang="zh-CN" sz="1600" dirty="0">
                <a:solidFill>
                  <a:srgbClr val="C00000"/>
                </a:solidFill>
                <a:latin typeface="微软雅黑" panose="020B0503020204020204" charset="-122"/>
                <a:ea typeface="微软雅黑" panose="020B0503020204020204" charset="-122"/>
              </a:rPr>
              <a:t>:</a:t>
            </a:r>
            <a:endParaRPr lang="zh-CN" altLang="zh-CN" sz="1600" dirty="0">
              <a:solidFill>
                <a:srgbClr val="C00000"/>
              </a:solidFill>
              <a:latin typeface="微软雅黑" panose="020B0503020204020204" charset="-122"/>
              <a:ea typeface="微软雅黑" panose="020B0503020204020204" charset="-122"/>
            </a:endParaRPr>
          </a:p>
          <a:p>
            <a:pPr marL="205740" lvl="1" indent="0" algn="just">
              <a:buNone/>
            </a:pPr>
            <a:r>
              <a:rPr lang="zh-CN" altLang="zh-CN" sz="1600" dirty="0">
                <a:solidFill>
                  <a:srgbClr val="7030A0"/>
                </a:solidFill>
                <a:latin typeface="微软雅黑" panose="020B0503020204020204" charset="-122"/>
                <a:ea typeface="微软雅黑" panose="020B0503020204020204" charset="-122"/>
              </a:rPr>
              <a:t>进程指令</a:t>
            </a:r>
            <a:r>
              <a:rPr lang="zh-CN" altLang="zh-CN" sz="1600" dirty="0">
                <a:latin typeface="微软雅黑" panose="020B0503020204020204" charset="-122"/>
                <a:ea typeface="微软雅黑" panose="020B0503020204020204" charset="-122"/>
              </a:rPr>
              <a:t>	</a:t>
            </a:r>
            <a:r>
              <a:rPr lang="zh-CN" altLang="zh-CN" sz="1600" dirty="0">
                <a:solidFill>
                  <a:srgbClr val="0070C0"/>
                </a:solidFill>
                <a:latin typeface="微软雅黑" panose="020B0503020204020204" charset="-122"/>
                <a:ea typeface="微软雅黑" panose="020B0503020204020204" charset="-122"/>
              </a:rPr>
              <a:t>线程ID</a:t>
            </a:r>
            <a:endParaRPr lang="zh-CN" altLang="zh-CN" sz="1600" dirty="0">
              <a:solidFill>
                <a:srgbClr val="0070C0"/>
              </a:solidFill>
              <a:latin typeface="微软雅黑" panose="020B0503020204020204" charset="-122"/>
              <a:ea typeface="微软雅黑" panose="020B0503020204020204" charset="-122"/>
            </a:endParaRPr>
          </a:p>
          <a:p>
            <a:pPr marL="205740" lvl="1" indent="0" algn="just">
              <a:buNone/>
            </a:pPr>
            <a:r>
              <a:rPr lang="zh-CN" altLang="en-US" sz="1600" dirty="0">
                <a:solidFill>
                  <a:srgbClr val="7030A0"/>
                </a:solidFill>
                <a:latin typeface="微软雅黑" panose="020B0503020204020204" charset="-122"/>
                <a:ea typeface="微软雅黑" panose="020B0503020204020204" charset="-122"/>
              </a:rPr>
              <a:t>全局变量</a:t>
            </a:r>
            <a:r>
              <a:rPr lang="en-US" altLang="zh-CN" sz="1600" dirty="0">
                <a:solidFill>
                  <a:srgbClr val="7030A0"/>
                </a:solidFill>
                <a:latin typeface="微软雅黑" panose="020B0503020204020204" charset="-122"/>
                <a:ea typeface="微软雅黑" panose="020B0503020204020204" charset="-122"/>
              </a:rPr>
              <a:t>     </a:t>
            </a:r>
            <a:r>
              <a:rPr lang="en-US" altLang="zh-CN" sz="1600" dirty="0">
                <a:latin typeface="微软雅黑" panose="020B0503020204020204" charset="-122"/>
                <a:ea typeface="微软雅黑" panose="020B0503020204020204" charset="-122"/>
              </a:rPr>
              <a:t> </a:t>
            </a:r>
            <a:r>
              <a:rPr lang="zh-CN" altLang="zh-CN" sz="1600" dirty="0">
                <a:solidFill>
                  <a:srgbClr val="0070C0"/>
                </a:solidFill>
                <a:latin typeface="微软雅黑" panose="020B0503020204020204" charset="-122"/>
                <a:ea typeface="微软雅黑" panose="020B0503020204020204" charset="-122"/>
              </a:rPr>
              <a:t>寄存器集合（包括PC和栈指针）</a:t>
            </a:r>
            <a:endParaRPr lang="zh-CN" altLang="zh-CN" sz="1600" dirty="0">
              <a:solidFill>
                <a:srgbClr val="0070C0"/>
              </a:solidFill>
              <a:latin typeface="微软雅黑" panose="020B0503020204020204" charset="-122"/>
              <a:ea typeface="微软雅黑" panose="020B0503020204020204" charset="-122"/>
            </a:endParaRPr>
          </a:p>
          <a:p>
            <a:pPr marL="205740" lvl="1" indent="0" algn="just">
              <a:buNone/>
            </a:pPr>
            <a:r>
              <a:rPr lang="zh-CN" altLang="zh-CN" sz="1600" dirty="0">
                <a:solidFill>
                  <a:srgbClr val="7030A0"/>
                </a:solidFill>
                <a:latin typeface="微软雅黑" panose="020B0503020204020204" charset="-122"/>
                <a:ea typeface="微软雅黑" panose="020B0503020204020204" charset="-122"/>
              </a:rPr>
              <a:t>打开的文件</a:t>
            </a:r>
            <a:r>
              <a:rPr lang="zh-CN" altLang="zh-CN" sz="1600" dirty="0">
                <a:latin typeface="微软雅黑" panose="020B0503020204020204" charset="-122"/>
                <a:ea typeface="微软雅黑" panose="020B0503020204020204" charset="-122"/>
              </a:rPr>
              <a:t>	</a:t>
            </a:r>
            <a:r>
              <a:rPr lang="zh-CN" altLang="zh-CN" sz="1600" dirty="0">
                <a:solidFill>
                  <a:srgbClr val="0070C0"/>
                </a:solidFill>
                <a:latin typeface="微软雅黑" panose="020B0503020204020204" charset="-122"/>
                <a:ea typeface="微软雅黑" panose="020B0503020204020204" charset="-122"/>
              </a:rPr>
              <a:t>栈（用于存放局部变量）</a:t>
            </a:r>
            <a:endParaRPr lang="zh-CN" altLang="zh-CN" sz="1600" dirty="0">
              <a:solidFill>
                <a:srgbClr val="0070C0"/>
              </a:solidFill>
              <a:latin typeface="微软雅黑" panose="020B0503020204020204" charset="-122"/>
              <a:ea typeface="微软雅黑" panose="020B0503020204020204" charset="-122"/>
            </a:endParaRPr>
          </a:p>
          <a:p>
            <a:pPr marL="205740" lvl="1" indent="0" algn="just">
              <a:buNone/>
            </a:pPr>
            <a:r>
              <a:rPr lang="zh-CN" altLang="zh-CN" sz="1600" dirty="0">
                <a:solidFill>
                  <a:srgbClr val="7030A0"/>
                </a:solidFill>
                <a:latin typeface="微软雅黑" panose="020B0503020204020204" charset="-122"/>
                <a:ea typeface="微软雅黑" panose="020B0503020204020204" charset="-122"/>
              </a:rPr>
              <a:t>信号处理程序</a:t>
            </a:r>
            <a:r>
              <a:rPr lang="en-US" altLang="zh-CN" sz="1600" dirty="0">
                <a:solidFill>
                  <a:srgbClr val="7030A0"/>
                </a:solidFill>
                <a:latin typeface="微软雅黑" panose="020B0503020204020204" charset="-122"/>
                <a:ea typeface="微软雅黑" panose="020B0503020204020204" charset="-122"/>
              </a:rPr>
              <a:t>   </a:t>
            </a:r>
            <a:r>
              <a:rPr lang="en-US" altLang="zh-CN" sz="1600" dirty="0">
                <a:latin typeface="微软雅黑" panose="020B0503020204020204" charset="-122"/>
                <a:ea typeface="微软雅黑" panose="020B0503020204020204" charset="-122"/>
              </a:rPr>
              <a:t>      </a:t>
            </a:r>
            <a:r>
              <a:rPr lang="zh-CN" altLang="zh-CN" sz="1600" dirty="0">
                <a:solidFill>
                  <a:srgbClr val="0070C0"/>
                </a:solidFill>
                <a:latin typeface="微软雅黑" panose="020B0503020204020204" charset="-122"/>
                <a:ea typeface="微软雅黑" panose="020B0503020204020204" charset="-122"/>
              </a:rPr>
              <a:t>信号掩码</a:t>
            </a:r>
            <a:endParaRPr lang="zh-CN" altLang="zh-CN" sz="1600" dirty="0">
              <a:solidFill>
                <a:srgbClr val="0070C0"/>
              </a:solidFill>
              <a:latin typeface="微软雅黑" panose="020B0503020204020204" charset="-122"/>
              <a:ea typeface="微软雅黑" panose="020B0503020204020204" charset="-122"/>
            </a:endParaRPr>
          </a:p>
          <a:p>
            <a:pPr marL="205740" lvl="1" indent="0" algn="just">
              <a:buNone/>
            </a:pPr>
            <a:r>
              <a:rPr lang="zh-CN" altLang="zh-CN" sz="1600" dirty="0">
                <a:solidFill>
                  <a:srgbClr val="7030A0"/>
                </a:solidFill>
                <a:latin typeface="微软雅黑" panose="020B0503020204020204" charset="-122"/>
                <a:ea typeface="微软雅黑" panose="020B0503020204020204" charset="-122"/>
              </a:rPr>
              <a:t>当前工作目录</a:t>
            </a:r>
            <a:r>
              <a:rPr lang="en-US" altLang="zh-CN" sz="1600" dirty="0">
                <a:solidFill>
                  <a:srgbClr val="7030A0"/>
                </a:solidFill>
                <a:latin typeface="微软雅黑" panose="020B0503020204020204" charset="-122"/>
                <a:ea typeface="微软雅黑" panose="020B0503020204020204" charset="-122"/>
              </a:rPr>
              <a:t> </a:t>
            </a:r>
            <a:r>
              <a:rPr lang="en-US" altLang="zh-CN" sz="1600" dirty="0">
                <a:latin typeface="微软雅黑" panose="020B0503020204020204" charset="-122"/>
                <a:ea typeface="微软雅黑" panose="020B0503020204020204" charset="-122"/>
              </a:rPr>
              <a:t>         </a:t>
            </a:r>
            <a:r>
              <a:rPr lang="zh-CN" altLang="zh-CN" sz="1600" dirty="0">
                <a:solidFill>
                  <a:srgbClr val="0070C0"/>
                </a:solidFill>
                <a:latin typeface="微软雅黑" panose="020B0503020204020204" charset="-122"/>
                <a:ea typeface="微软雅黑" panose="020B0503020204020204" charset="-122"/>
              </a:rPr>
              <a:t>优先级	</a:t>
            </a:r>
            <a:r>
              <a:rPr lang="zh-CN" altLang="zh-CN" sz="1600" dirty="0">
                <a:latin typeface="微软雅黑" panose="020B0503020204020204" charset="-122"/>
                <a:ea typeface="微软雅黑" panose="020B0503020204020204" charset="-122"/>
              </a:rPr>
              <a:t>	</a:t>
            </a:r>
            <a:endParaRPr lang="zh-CN" altLang="zh-CN" sz="1600" dirty="0">
              <a:latin typeface="微软雅黑" panose="020B0503020204020204" charset="-122"/>
              <a:ea typeface="微软雅黑" panose="020B0503020204020204" charset="-122"/>
            </a:endParaRPr>
          </a:p>
          <a:p>
            <a:pPr marL="205740" lvl="1" indent="0" algn="just">
              <a:buNone/>
            </a:pPr>
            <a:r>
              <a:rPr lang="zh-CN" altLang="zh-CN" sz="1600" dirty="0">
                <a:solidFill>
                  <a:srgbClr val="7030A0"/>
                </a:solidFill>
                <a:latin typeface="微软雅黑" panose="020B0503020204020204" charset="-122"/>
                <a:ea typeface="微软雅黑" panose="020B0503020204020204" charset="-122"/>
              </a:rPr>
              <a:t>用户ID</a:t>
            </a:r>
            <a:endParaRPr lang="zh-CN" altLang="zh-CN" sz="1600" dirty="0">
              <a:solidFill>
                <a:srgbClr val="7030A0"/>
              </a:solidFill>
              <a:latin typeface="微软雅黑" panose="020B0503020204020204" charset="-122"/>
              <a:ea typeface="微软雅黑" panose="020B0503020204020204" charset="-122"/>
            </a:endParaRPr>
          </a:p>
        </p:txBody>
      </p:sp>
      <p:sp>
        <p:nvSpPr>
          <p:cNvPr id="2" name="Rectangle 2"/>
          <p:cNvSpPr>
            <a:spLocks noGrp="1" noChangeArrowheads="1"/>
          </p:cNvSpPr>
          <p:nvPr>
            <p:ph type="title"/>
          </p:nvPr>
        </p:nvSpPr>
        <p:spPr>
          <a:xfrm>
            <a:off x="991870" y="1894840"/>
            <a:ext cx="6111240" cy="412115"/>
          </a:xfrm>
        </p:spPr>
        <p:txBody>
          <a:bodyPr/>
          <a:lstStyle/>
          <a:p>
            <a:pPr algn="l" defTabSz="914400">
              <a:spcBef>
                <a:spcPct val="50000"/>
              </a:spcBef>
              <a:defRPr/>
            </a:pPr>
            <a:r>
              <a:rPr lang="en-US" altLang="zh-CN" sz="3600" dirty="0">
                <a:solidFill>
                  <a:srgbClr val="0000CC"/>
                </a:solidFill>
                <a:latin typeface="微软雅黑" panose="020B0503020204020204" charset="-122"/>
                <a:ea typeface="微软雅黑" panose="020B0503020204020204" charset="-122"/>
                <a:cs typeface="+mn-cs"/>
              </a:rPr>
              <a:t>2.</a:t>
            </a:r>
            <a:r>
              <a:rPr lang="zh-CN" altLang="en-US" sz="3600" dirty="0">
                <a:solidFill>
                  <a:srgbClr val="0000CC"/>
                </a:solidFill>
                <a:latin typeface="微软雅黑" panose="020B0503020204020204" charset="-122"/>
                <a:ea typeface="微软雅黑" panose="020B0503020204020204" charset="-122"/>
                <a:cs typeface="+mn-cs"/>
              </a:rPr>
              <a:t> </a:t>
            </a:r>
            <a:r>
              <a:rPr lang="en-US" altLang="zh-CN" sz="3600" dirty="0">
                <a:solidFill>
                  <a:srgbClr val="0000CC"/>
                </a:solidFill>
                <a:latin typeface="微软雅黑" panose="020B0503020204020204" charset="-122"/>
                <a:ea typeface="微软雅黑" panose="020B0503020204020204" charset="-122"/>
                <a:cs typeface="+mn-cs"/>
              </a:rPr>
              <a:t> </a:t>
            </a:r>
            <a:r>
              <a:rPr lang="zh-CN" altLang="zh-CN" sz="3600" dirty="0">
                <a:solidFill>
                  <a:srgbClr val="0000CC"/>
                </a:solidFill>
                <a:latin typeface="微软雅黑" panose="020B0503020204020204" charset="-122"/>
                <a:ea typeface="微软雅黑" panose="020B0503020204020204" charset="-122"/>
                <a:cs typeface="+mn-cs"/>
              </a:rPr>
              <a:t>线程</a:t>
            </a:r>
            <a:r>
              <a:rPr lang="zh-CN" altLang="en-US" sz="3600" dirty="0">
                <a:solidFill>
                  <a:srgbClr val="0000CC"/>
                </a:solidFill>
                <a:latin typeface="微软雅黑" panose="020B0503020204020204" charset="-122"/>
                <a:ea typeface="微软雅黑" panose="020B0503020204020204" charset="-122"/>
                <a:cs typeface="+mn-cs"/>
              </a:rPr>
              <a:t>的共享问题</a:t>
            </a:r>
            <a:endParaRPr lang="zh-CN" altLang="en-US" sz="3600" dirty="0">
              <a:solidFill>
                <a:srgbClr val="0000CC"/>
              </a:solidFill>
              <a:latin typeface="微软雅黑" panose="020B0503020204020204" charset="-122"/>
              <a:ea typeface="微软雅黑" panose="020B0503020204020204" charset="-122"/>
              <a:cs typeface="+mn-cs"/>
            </a:endParaRPr>
          </a:p>
        </p:txBody>
      </p:sp>
      <p:pic>
        <p:nvPicPr>
          <p:cNvPr id="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00600" y="3200400"/>
            <a:ext cx="4527550"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txBox="1"/>
          <p:nvPr/>
        </p:nvSpPr>
        <p:spPr>
          <a:xfrm>
            <a:off x="6906515" y="1176061"/>
            <a:ext cx="2171445"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2.7.1 </a:t>
            </a:r>
            <a:r>
              <a:rPr kumimoji="1" lang="zh-CN" altLang="en-US" sz="2100" dirty="0">
                <a:solidFill>
                  <a:srgbClr val="002060"/>
                </a:solidFill>
                <a:cs typeface="+mn-cs"/>
              </a:rPr>
              <a:t>线程概述</a:t>
            </a:r>
            <a:endParaRPr kumimoji="1" lang="zh-CN" altLang="en-US" sz="2100" dirty="0">
              <a:solidFill>
                <a:srgbClr val="002060"/>
              </a:solidFill>
              <a:cs typeface="+mn-cs"/>
            </a:endParaRPr>
          </a:p>
        </p:txBody>
      </p:sp>
      <p:sp>
        <p:nvSpPr>
          <p:cNvPr id="8" name="标题 1"/>
          <p:cNvSpPr txBox="1"/>
          <p:nvPr/>
        </p:nvSpPr>
        <p:spPr>
          <a:xfrm>
            <a:off x="1150875" y="1059897"/>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smtClean="0">
                <a:solidFill>
                  <a:srgbClr val="242852"/>
                </a:solidFill>
                <a:cs typeface="+mn-cs"/>
              </a:rPr>
              <a:t>2.7 </a:t>
            </a:r>
            <a:r>
              <a:rPr kumimoji="1" lang="zh-CN" altLang="en-US"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noChangeArrowheads="1"/>
          </p:cNvSpPr>
          <p:nvPr>
            <p:ph idx="1"/>
          </p:nvPr>
        </p:nvSpPr>
        <p:spPr>
          <a:xfrm>
            <a:off x="236476" y="2421835"/>
            <a:ext cx="6384389" cy="3234311"/>
          </a:xfrm>
        </p:spPr>
        <p:txBody>
          <a:bodyPr>
            <a:normAutofit/>
          </a:bodyPr>
          <a:lstStyle/>
          <a:p>
            <a:pPr>
              <a:defRPr/>
            </a:pPr>
            <a:r>
              <a:rPr lang="zh-CN" altLang="en-US" sz="2800" dirty="0">
                <a:latin typeface="微软雅黑" panose="020B0503020204020204" charset="-122"/>
                <a:ea typeface="微软雅黑" panose="020B0503020204020204" charset="-122"/>
              </a:rPr>
              <a:t>对全局变量进行访问的基本步骤</a:t>
            </a:r>
            <a:endParaRPr lang="zh-CN" altLang="en-US" sz="2800" dirty="0">
              <a:latin typeface="微软雅黑" panose="020B0503020204020204" charset="-122"/>
              <a:ea typeface="微软雅黑" panose="020B0503020204020204" charset="-122"/>
            </a:endParaRPr>
          </a:p>
          <a:p>
            <a:pPr eaLnBrk="1" hangingPunct="1">
              <a:buFont typeface="Wingdings" panose="05000000000000000000" pitchFamily="2" charset="2"/>
              <a:buNone/>
              <a:defRPr/>
            </a:pPr>
            <a:endParaRPr lang="zh-CN" altLang="en-US" sz="2800" dirty="0">
              <a:latin typeface="微软雅黑" panose="020B0503020204020204" charset="-122"/>
              <a:ea typeface="微软雅黑" panose="020B0503020204020204" charset="-122"/>
            </a:endParaRPr>
          </a:p>
        </p:txBody>
      </p:sp>
      <p:sp>
        <p:nvSpPr>
          <p:cNvPr id="15363" name="Rectangle 2"/>
          <p:cNvSpPr>
            <a:spLocks noGrp="1" noChangeArrowheads="1"/>
          </p:cNvSpPr>
          <p:nvPr>
            <p:ph type="title"/>
          </p:nvPr>
        </p:nvSpPr>
        <p:spPr>
          <a:xfrm>
            <a:off x="948055" y="1840865"/>
            <a:ext cx="5958840" cy="412115"/>
          </a:xfrm>
        </p:spPr>
        <p:txBody>
          <a:bodyPr/>
          <a:lstStyle/>
          <a:p>
            <a:pPr algn="l" defTabSz="914400">
              <a:spcBef>
                <a:spcPct val="50000"/>
              </a:spcBef>
              <a:defRPr/>
            </a:pPr>
            <a:r>
              <a:rPr lang="en-US" altLang="zh-CN" sz="3200" dirty="0">
                <a:solidFill>
                  <a:srgbClr val="0000CC"/>
                </a:solidFill>
                <a:latin typeface="微软雅黑" panose="020B0503020204020204" charset="-122"/>
                <a:ea typeface="微软雅黑" panose="020B0503020204020204" charset="-122"/>
                <a:cs typeface="+mn-cs"/>
              </a:rPr>
              <a:t>3 </a:t>
            </a:r>
            <a:r>
              <a:rPr lang="zh-CN" altLang="zh-CN" sz="3200" dirty="0">
                <a:solidFill>
                  <a:srgbClr val="0000CC"/>
                </a:solidFill>
                <a:latin typeface="微软雅黑" panose="020B0503020204020204" charset="-122"/>
                <a:ea typeface="微软雅黑" panose="020B0503020204020204" charset="-122"/>
                <a:cs typeface="+mn-cs"/>
              </a:rPr>
              <a:t>线程</a:t>
            </a:r>
            <a:r>
              <a:rPr lang="zh-CN" altLang="en-US" sz="3200" dirty="0">
                <a:solidFill>
                  <a:srgbClr val="0000CC"/>
                </a:solidFill>
                <a:latin typeface="微软雅黑" panose="020B0503020204020204" charset="-122"/>
                <a:ea typeface="微软雅黑" panose="020B0503020204020204" charset="-122"/>
                <a:cs typeface="+mn-cs"/>
              </a:rPr>
              <a:t>的互斥问题</a:t>
            </a:r>
            <a:endParaRPr lang="zh-CN" altLang="en-US" sz="3200" dirty="0">
              <a:solidFill>
                <a:srgbClr val="0000CC"/>
              </a:solidFill>
              <a:latin typeface="微软雅黑" panose="020B0503020204020204" charset="-122"/>
              <a:ea typeface="微软雅黑" panose="020B0503020204020204" charset="-122"/>
              <a:cs typeface="+mn-cs"/>
            </a:endParaRPr>
          </a:p>
        </p:txBody>
      </p:sp>
      <p:pic>
        <p:nvPicPr>
          <p:cNvPr id="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95800" y="3093085"/>
            <a:ext cx="4601210" cy="3702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464820" y="3274695"/>
            <a:ext cx="3794760" cy="2538095"/>
          </a:xfrm>
          <a:prstGeom prst="rect">
            <a:avLst/>
          </a:prstGeom>
          <a:noFill/>
        </p:spPr>
        <p:txBody>
          <a:bodyPr wrap="square">
            <a:spAutoFit/>
          </a:bodyPr>
          <a:lstStyle/>
          <a:p>
            <a:pPr marL="720090" lvl="1" indent="-514350" defTabSz="685800">
              <a:spcBef>
                <a:spcPts val="900"/>
              </a:spcBef>
              <a:buClr>
                <a:srgbClr val="4A66AC">
                  <a:lumMod val="75000"/>
                </a:srgbClr>
              </a:buClr>
              <a:buSzPct val="100000"/>
              <a:buFont typeface="+mj-ea"/>
              <a:buAutoNum type="circleNumDbPlain"/>
              <a:defRPr/>
            </a:pPr>
            <a:r>
              <a:rPr lang="zh-CN" altLang="en-US" sz="2400" dirty="0">
                <a:solidFill>
                  <a:prstClr val="black"/>
                </a:solidFill>
                <a:latin typeface="微软雅黑" panose="020B0503020204020204" charset="-122"/>
                <a:ea typeface="微软雅黑" panose="020B0503020204020204" charset="-122"/>
              </a:rPr>
              <a:t>将内存单元中的数据读入寄存器</a:t>
            </a:r>
            <a:endParaRPr lang="zh-CN" altLang="en-US" sz="2400" dirty="0">
              <a:solidFill>
                <a:prstClr val="black"/>
              </a:solidFill>
              <a:latin typeface="微软雅黑" panose="020B0503020204020204" charset="-122"/>
              <a:ea typeface="微软雅黑" panose="020B0503020204020204" charset="-122"/>
            </a:endParaRPr>
          </a:p>
          <a:p>
            <a:pPr marL="720090" lvl="1" indent="-514350" defTabSz="685800">
              <a:spcBef>
                <a:spcPts val="900"/>
              </a:spcBef>
              <a:buClr>
                <a:srgbClr val="4A66AC">
                  <a:lumMod val="75000"/>
                </a:srgbClr>
              </a:buClr>
              <a:buSzPct val="100000"/>
              <a:buFont typeface="+mj-ea"/>
              <a:buAutoNum type="circleNumDbPlain"/>
              <a:defRPr/>
            </a:pPr>
            <a:r>
              <a:rPr lang="zh-CN" altLang="en-US" sz="2400" dirty="0">
                <a:solidFill>
                  <a:prstClr val="black"/>
                </a:solidFill>
                <a:latin typeface="微软雅黑" panose="020B0503020204020204" charset="-122"/>
                <a:ea typeface="微软雅黑" panose="020B0503020204020204" charset="-122"/>
              </a:rPr>
              <a:t>对寄存器中的值进行运算</a:t>
            </a:r>
            <a:endParaRPr lang="zh-CN" altLang="en-US" sz="2400" dirty="0">
              <a:solidFill>
                <a:prstClr val="black"/>
              </a:solidFill>
              <a:latin typeface="微软雅黑" panose="020B0503020204020204" charset="-122"/>
              <a:ea typeface="微软雅黑" panose="020B0503020204020204" charset="-122"/>
            </a:endParaRPr>
          </a:p>
          <a:p>
            <a:pPr marL="720090" lvl="1" indent="-514350" defTabSz="685800">
              <a:spcBef>
                <a:spcPts val="900"/>
              </a:spcBef>
              <a:buClr>
                <a:srgbClr val="4A66AC">
                  <a:lumMod val="75000"/>
                </a:srgbClr>
              </a:buClr>
              <a:buSzPct val="100000"/>
              <a:buFont typeface="+mj-ea"/>
              <a:buAutoNum type="circleNumDbPlain"/>
              <a:defRPr/>
            </a:pPr>
            <a:r>
              <a:rPr lang="zh-CN" altLang="en-US" sz="2400" dirty="0">
                <a:solidFill>
                  <a:prstClr val="black"/>
                </a:solidFill>
                <a:latin typeface="微软雅黑" panose="020B0503020204020204" charset="-122"/>
                <a:ea typeface="微软雅黑" panose="020B0503020204020204" charset="-122"/>
              </a:rPr>
              <a:t>将寄存器中的值写回内存单元</a:t>
            </a:r>
            <a:endParaRPr lang="zh-CN" altLang="en-US" sz="2400" dirty="0">
              <a:solidFill>
                <a:prstClr val="black"/>
              </a:solidFill>
              <a:latin typeface="微软雅黑" panose="020B0503020204020204" charset="-122"/>
              <a:ea typeface="微软雅黑" panose="020B0503020204020204" charset="-122"/>
            </a:endParaRPr>
          </a:p>
        </p:txBody>
      </p:sp>
      <p:sp>
        <p:nvSpPr>
          <p:cNvPr id="8" name="标题 1"/>
          <p:cNvSpPr txBox="1"/>
          <p:nvPr/>
        </p:nvSpPr>
        <p:spPr>
          <a:xfrm>
            <a:off x="6906515" y="1176061"/>
            <a:ext cx="2171445"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2.7.1 </a:t>
            </a:r>
            <a:r>
              <a:rPr kumimoji="1" lang="zh-CN" altLang="en-US" sz="2100" dirty="0">
                <a:solidFill>
                  <a:srgbClr val="002060"/>
                </a:solidFill>
                <a:cs typeface="+mn-cs"/>
              </a:rPr>
              <a:t>线程概述</a:t>
            </a:r>
            <a:endParaRPr kumimoji="1" lang="zh-CN" altLang="en-US" sz="2100" dirty="0">
              <a:solidFill>
                <a:srgbClr val="002060"/>
              </a:solidFill>
              <a:cs typeface="+mn-cs"/>
            </a:endParaRPr>
          </a:p>
        </p:txBody>
      </p:sp>
      <p:sp>
        <p:nvSpPr>
          <p:cNvPr id="9" name="标题 1"/>
          <p:cNvSpPr txBox="1"/>
          <p:nvPr/>
        </p:nvSpPr>
        <p:spPr>
          <a:xfrm>
            <a:off x="1150875" y="1059897"/>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smtClean="0">
                <a:solidFill>
                  <a:srgbClr val="242852"/>
                </a:solidFill>
                <a:cs typeface="+mn-cs"/>
              </a:rPr>
              <a:t>2.7 </a:t>
            </a:r>
            <a:r>
              <a:rPr kumimoji="1" lang="zh-CN" altLang="en-US"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7" name="Rectangle 3"/>
          <p:cNvSpPr>
            <a:spLocks noGrp="1" noRot="1" noChangeArrowheads="1"/>
          </p:cNvSpPr>
          <p:nvPr>
            <p:ph type="body" idx="1"/>
          </p:nvPr>
        </p:nvSpPr>
        <p:spPr>
          <a:xfrm>
            <a:off x="300990" y="2512695"/>
            <a:ext cx="8553450" cy="3374390"/>
          </a:xfrm>
        </p:spPr>
        <p:txBody>
          <a:bodyPr/>
          <a:lstStyle/>
          <a:p>
            <a:pPr>
              <a:lnSpc>
                <a:spcPct val="150000"/>
              </a:lnSpc>
            </a:pPr>
            <a:r>
              <a:rPr lang="zh-CN" altLang="en-US" sz="2400" dirty="0">
                <a:solidFill>
                  <a:srgbClr val="FF0000"/>
                </a:solidFill>
                <a:latin typeface="+mj-ea"/>
                <a:ea typeface="+mj-ea"/>
              </a:rPr>
              <a:t>线程</a:t>
            </a:r>
            <a:r>
              <a:rPr lang="zh-CN" altLang="en-US" sz="2400" dirty="0">
                <a:latin typeface="+mj-ea"/>
                <a:ea typeface="+mj-ea"/>
              </a:rPr>
              <a:t>具有许多传统进程所具有的特征，所以又称为</a:t>
            </a:r>
            <a:r>
              <a:rPr lang="zh-CN" altLang="en-US" sz="2400" dirty="0">
                <a:solidFill>
                  <a:srgbClr val="FF0000"/>
                </a:solidFill>
                <a:latin typeface="+mj-ea"/>
                <a:ea typeface="+mj-ea"/>
              </a:rPr>
              <a:t>轻型进程</a:t>
            </a:r>
            <a:r>
              <a:rPr lang="en-US" altLang="zh-CN" sz="2400" dirty="0">
                <a:latin typeface="+mj-ea"/>
                <a:ea typeface="+mj-ea"/>
              </a:rPr>
              <a:t>(Light-Weight Process)</a:t>
            </a:r>
            <a:r>
              <a:rPr lang="zh-CN" altLang="en-US" sz="2400" dirty="0">
                <a:latin typeface="+mj-ea"/>
                <a:ea typeface="+mj-ea"/>
              </a:rPr>
              <a:t> ，相应地把传统进程称为</a:t>
            </a:r>
            <a:r>
              <a:rPr lang="zh-CN" altLang="en-US" sz="2400" dirty="0">
                <a:solidFill>
                  <a:srgbClr val="FF0000"/>
                </a:solidFill>
                <a:latin typeface="+mj-ea"/>
                <a:ea typeface="+mj-ea"/>
              </a:rPr>
              <a:t>重型进程</a:t>
            </a:r>
            <a:r>
              <a:rPr lang="en-US" altLang="zh-CN" sz="2400" dirty="0">
                <a:latin typeface="+mj-ea"/>
                <a:ea typeface="+mj-ea"/>
              </a:rPr>
              <a:t>(Heavy-Weight Process)</a:t>
            </a:r>
            <a:r>
              <a:rPr lang="zh-CN" altLang="en-US" sz="2400" dirty="0">
                <a:latin typeface="+mj-ea"/>
                <a:ea typeface="+mj-ea"/>
              </a:rPr>
              <a:t>，传统进程相当于只有一个线程的任务。</a:t>
            </a:r>
            <a:endParaRPr lang="zh-CN" altLang="en-US" sz="2400" dirty="0">
              <a:latin typeface="+mj-ea"/>
              <a:ea typeface="+mj-ea"/>
            </a:endParaRPr>
          </a:p>
          <a:p>
            <a:pPr>
              <a:lnSpc>
                <a:spcPct val="150000"/>
              </a:lnSpc>
            </a:pPr>
            <a:r>
              <a:rPr lang="zh-CN" altLang="en-US" sz="2400" dirty="0">
                <a:latin typeface="+mj-ea"/>
                <a:ea typeface="+mj-ea"/>
              </a:rPr>
              <a:t>在引入了线程的操作系统中，通常一个进程都拥有若干个线程，至少也有一个线程。</a:t>
            </a:r>
            <a:endParaRPr lang="zh-CN" altLang="en-US" sz="2400" dirty="0">
              <a:latin typeface="+mj-ea"/>
              <a:ea typeface="+mj-ea"/>
            </a:endParaRPr>
          </a:p>
        </p:txBody>
      </p:sp>
      <p:sp>
        <p:nvSpPr>
          <p:cNvPr id="4" name="标题 1"/>
          <p:cNvSpPr txBox="1"/>
          <p:nvPr/>
        </p:nvSpPr>
        <p:spPr>
          <a:xfrm>
            <a:off x="1150620" y="1877060"/>
            <a:ext cx="4601210" cy="47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800" dirty="0">
                <a:solidFill>
                  <a:srgbClr val="002060"/>
                </a:solidFill>
                <a:cs typeface="+mn-cs"/>
              </a:rPr>
              <a:t>2.7.2</a:t>
            </a:r>
            <a:r>
              <a:rPr kumimoji="1" lang="zh-CN" altLang="en-US" sz="2800" dirty="0">
                <a:solidFill>
                  <a:srgbClr val="002060"/>
                </a:solidFill>
                <a:cs typeface="+mn-cs"/>
              </a:rPr>
              <a:t> </a:t>
            </a:r>
            <a:r>
              <a:rPr lang="zh-CN" altLang="en-US" sz="2800" kern="0" dirty="0">
                <a:solidFill>
                  <a:schemeClr val="bg2">
                    <a:lumMod val="25000"/>
                  </a:schemeClr>
                </a:solidFill>
                <a:latin typeface="微软雅黑" panose="020B0503020204020204" charset="-122"/>
                <a:ea typeface="微软雅黑" panose="020B0503020204020204" charset="-122"/>
              </a:rPr>
              <a:t>线程与进程的比较</a:t>
            </a:r>
            <a:endParaRPr kumimoji="1" lang="zh-CN" altLang="en-US" sz="2800" b="0" kern="0" dirty="0">
              <a:solidFill>
                <a:schemeClr val="bg2">
                  <a:lumMod val="25000"/>
                </a:schemeClr>
              </a:solidFill>
              <a:latin typeface="微软雅黑" panose="020B0503020204020204" charset="-122"/>
              <a:ea typeface="微软雅黑" panose="020B0503020204020204" charset="-122"/>
              <a:cs typeface="+mn-cs"/>
            </a:endParaRPr>
          </a:p>
        </p:txBody>
      </p:sp>
      <p:sp>
        <p:nvSpPr>
          <p:cNvPr id="6" name="标题 1"/>
          <p:cNvSpPr>
            <a:spLocks noGrp="1"/>
          </p:cNvSpPr>
          <p:nvPr>
            <p:ph type="title"/>
          </p:nvPr>
        </p:nvSpPr>
        <p:spPr>
          <a:xfrm>
            <a:off x="1150875" y="1035688"/>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3"/>
          <p:cNvSpPr>
            <a:spLocks noGrp="1" noChangeArrowheads="1"/>
          </p:cNvSpPr>
          <p:nvPr>
            <p:ph idx="1"/>
          </p:nvPr>
        </p:nvSpPr>
        <p:spPr>
          <a:xfrm>
            <a:off x="408305" y="1840865"/>
            <a:ext cx="8402955" cy="3902710"/>
          </a:xfrm>
        </p:spPr>
        <p:txBody>
          <a:bodyPr/>
          <a:lstStyle/>
          <a:p>
            <a:pPr>
              <a:defRPr/>
            </a:pPr>
            <a:r>
              <a:rPr lang="zh-CN" altLang="en-US" sz="2400" b="0" dirty="0">
                <a:latin typeface="微软雅黑" panose="020B0503020204020204" charset="-122"/>
                <a:ea typeface="微软雅黑" panose="020B0503020204020204" charset="-122"/>
              </a:rPr>
              <a:t>线程只拥有少量在运行中必不可少的资源</a:t>
            </a:r>
            <a:endParaRPr lang="en-US" altLang="zh-CN" sz="2400" b="0" dirty="0">
              <a:latin typeface="微软雅黑" panose="020B0503020204020204" charset="-122"/>
              <a:ea typeface="微软雅黑" panose="020B0503020204020204" charset="-122"/>
            </a:endParaRPr>
          </a:p>
          <a:p>
            <a:pPr lvl="2">
              <a:defRPr/>
            </a:pPr>
            <a:r>
              <a:rPr lang="en-US" altLang="zh-CN" sz="2000" b="0" dirty="0">
                <a:solidFill>
                  <a:srgbClr val="0070C0"/>
                </a:solidFill>
                <a:latin typeface="微软雅黑" panose="020B0503020204020204" charset="-122"/>
                <a:ea typeface="微软雅黑" panose="020B0503020204020204" charset="-122"/>
              </a:rPr>
              <a:t>PC</a:t>
            </a:r>
            <a:r>
              <a:rPr lang="zh-CN" altLang="en-US" sz="2000" b="0" dirty="0">
                <a:solidFill>
                  <a:srgbClr val="0070C0"/>
                </a:solidFill>
                <a:latin typeface="微软雅黑" panose="020B0503020204020204" charset="-122"/>
                <a:ea typeface="微软雅黑" panose="020B0503020204020204" charset="-122"/>
              </a:rPr>
              <a:t>指针：标识当前线程代码执行的位置</a:t>
            </a:r>
            <a:endParaRPr lang="zh-CN" altLang="en-US" sz="2000" b="0" dirty="0">
              <a:solidFill>
                <a:srgbClr val="0070C0"/>
              </a:solidFill>
              <a:latin typeface="微软雅黑" panose="020B0503020204020204" charset="-122"/>
              <a:ea typeface="微软雅黑" panose="020B0503020204020204" charset="-122"/>
            </a:endParaRPr>
          </a:p>
          <a:p>
            <a:pPr lvl="2">
              <a:defRPr/>
            </a:pPr>
            <a:r>
              <a:rPr lang="zh-CN" altLang="en-US" sz="2000" b="0" dirty="0">
                <a:solidFill>
                  <a:srgbClr val="0070C0"/>
                </a:solidFill>
                <a:latin typeface="微软雅黑" panose="020B0503020204020204" charset="-122"/>
                <a:ea typeface="微软雅黑" panose="020B0503020204020204" charset="-122"/>
              </a:rPr>
              <a:t>寄存器：当前线程执行的上下文环境</a:t>
            </a:r>
            <a:endParaRPr lang="zh-CN" altLang="en-US" sz="2000" b="0" dirty="0">
              <a:solidFill>
                <a:srgbClr val="0070C0"/>
              </a:solidFill>
              <a:latin typeface="微软雅黑" panose="020B0503020204020204" charset="-122"/>
              <a:ea typeface="微软雅黑" panose="020B0503020204020204" charset="-122"/>
            </a:endParaRPr>
          </a:p>
          <a:p>
            <a:pPr lvl="2">
              <a:defRPr/>
            </a:pPr>
            <a:r>
              <a:rPr lang="zh-CN" altLang="en-US" sz="2000" b="0" dirty="0">
                <a:solidFill>
                  <a:srgbClr val="0070C0"/>
                </a:solidFill>
                <a:latin typeface="微软雅黑" panose="020B0503020204020204" charset="-122"/>
                <a:ea typeface="微软雅黑" panose="020B0503020204020204" charset="-122"/>
              </a:rPr>
              <a:t>栈：用于实现函数调用、局部变量</a:t>
            </a:r>
            <a:endParaRPr lang="en-US" altLang="zh-CN" sz="2000" b="0" dirty="0">
              <a:solidFill>
                <a:srgbClr val="0070C0"/>
              </a:solidFill>
              <a:latin typeface="微软雅黑" panose="020B0503020204020204" charset="-122"/>
              <a:ea typeface="微软雅黑" panose="020B0503020204020204" charset="-122"/>
            </a:endParaRPr>
          </a:p>
          <a:p>
            <a:pPr lvl="2">
              <a:defRPr/>
            </a:pPr>
            <a:r>
              <a:rPr lang="zh-CN" altLang="en-US" sz="2000" b="0" dirty="0">
                <a:solidFill>
                  <a:srgbClr val="0070C0"/>
                </a:solidFill>
                <a:latin typeface="微软雅黑" panose="020B0503020204020204" charset="-122"/>
                <a:ea typeface="微软雅黑" panose="020B0503020204020204" charset="-122"/>
              </a:rPr>
              <a:t>线程局部变量和私有数据（在栈中申请的数据）</a:t>
            </a:r>
            <a:endParaRPr lang="en-US" altLang="zh-CN" sz="2000" b="0" dirty="0">
              <a:solidFill>
                <a:srgbClr val="0070C0"/>
              </a:solidFill>
              <a:latin typeface="微软雅黑" panose="020B0503020204020204" charset="-122"/>
              <a:ea typeface="微软雅黑" panose="020B0503020204020204" charset="-122"/>
            </a:endParaRPr>
          </a:p>
          <a:p>
            <a:pPr lvl="2">
              <a:defRPr/>
            </a:pPr>
            <a:r>
              <a:rPr lang="zh-CN" altLang="en-US" sz="2000" b="0" dirty="0">
                <a:solidFill>
                  <a:srgbClr val="0070C0"/>
                </a:solidFill>
                <a:latin typeface="微软雅黑" panose="020B0503020204020204" charset="-122"/>
                <a:ea typeface="微软雅黑" panose="020B0503020204020204" charset="-122"/>
              </a:rPr>
              <a:t>线程信号掩码（可以设置每个线程阻塞的信号）</a:t>
            </a:r>
            <a:endParaRPr lang="zh-CN" altLang="en-US" sz="2000" b="0" dirty="0">
              <a:solidFill>
                <a:srgbClr val="0070C0"/>
              </a:solidFill>
              <a:latin typeface="微软雅黑" panose="020B0503020204020204" charset="-122"/>
              <a:ea typeface="微软雅黑" panose="020B0503020204020204" charset="-122"/>
            </a:endParaRPr>
          </a:p>
          <a:p>
            <a:pPr lvl="2">
              <a:defRPr/>
            </a:pPr>
            <a:endParaRPr lang="zh-CN" altLang="en-US" sz="2000" b="0" dirty="0">
              <a:solidFill>
                <a:srgbClr val="0070C0"/>
              </a:solidFill>
              <a:latin typeface="微软雅黑" panose="020B0503020204020204" charset="-122"/>
              <a:ea typeface="微软雅黑" panose="020B0503020204020204" charset="-122"/>
            </a:endParaRPr>
          </a:p>
          <a:p>
            <a:pPr>
              <a:defRPr/>
            </a:pPr>
            <a:r>
              <a:rPr lang="zh-CN" altLang="en-US" sz="2400" b="0" dirty="0">
                <a:latin typeface="微软雅黑" panose="020B0503020204020204" charset="-122"/>
                <a:ea typeface="微软雅黑" panose="020B0503020204020204" charset="-122"/>
              </a:rPr>
              <a:t>进程占用资源多，线程占用资源少，使用灵活</a:t>
            </a:r>
            <a:endParaRPr lang="en-US" altLang="zh-CN" sz="2400" b="0" dirty="0">
              <a:latin typeface="微软雅黑" panose="020B0503020204020204" charset="-122"/>
              <a:ea typeface="微软雅黑" panose="020B0503020204020204" charset="-122"/>
            </a:endParaRPr>
          </a:p>
          <a:p>
            <a:pPr>
              <a:defRPr/>
            </a:pPr>
            <a:r>
              <a:rPr lang="zh-CN" altLang="en-US" sz="2400" b="0" dirty="0">
                <a:latin typeface="微软雅黑" panose="020B0503020204020204" charset="-122"/>
                <a:ea typeface="微软雅黑" panose="020B0503020204020204" charset="-122"/>
              </a:rPr>
              <a:t>线程不能脱离进程而存在，线程的层次关系，执行顺序并不明显，会增加程序的复杂度</a:t>
            </a:r>
            <a:endParaRPr lang="en-US" altLang="zh-CN" sz="2400" b="0" dirty="0">
              <a:latin typeface="微软雅黑" panose="020B0503020204020204" charset="-122"/>
              <a:ea typeface="微软雅黑" panose="020B0503020204020204" charset="-122"/>
            </a:endParaRPr>
          </a:p>
          <a:p>
            <a:pPr>
              <a:defRPr/>
            </a:pPr>
            <a:r>
              <a:rPr lang="zh-CN" altLang="en-US" sz="2400" b="0" dirty="0">
                <a:latin typeface="微软雅黑" panose="020B0503020204020204" charset="-122"/>
                <a:ea typeface="微软雅黑" panose="020B0503020204020204" charset="-122"/>
              </a:rPr>
              <a:t>没有通过代码显示创建线程的进程，可以看成是只有一个线程的进程</a:t>
            </a:r>
            <a:endParaRPr lang="zh-CN" altLang="en-US" sz="2400" b="0" dirty="0">
              <a:latin typeface="微软雅黑" panose="020B0503020204020204" charset="-122"/>
              <a:ea typeface="微软雅黑" panose="020B0503020204020204" charset="-122"/>
            </a:endParaRPr>
          </a:p>
        </p:txBody>
      </p:sp>
      <p:sp>
        <p:nvSpPr>
          <p:cNvPr id="7" name="标题 1"/>
          <p:cNvSpPr txBox="1"/>
          <p:nvPr/>
        </p:nvSpPr>
        <p:spPr>
          <a:xfrm>
            <a:off x="5870195" y="1186221"/>
            <a:ext cx="3223260"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2.7.2</a:t>
            </a:r>
            <a:r>
              <a:rPr kumimoji="1" lang="zh-CN" altLang="en-US" sz="2100" dirty="0">
                <a:solidFill>
                  <a:srgbClr val="002060"/>
                </a:solidFill>
                <a:cs typeface="+mn-cs"/>
              </a:rPr>
              <a:t> </a:t>
            </a:r>
            <a:r>
              <a:rPr lang="zh-CN" altLang="en-US" sz="2100" kern="0" dirty="0">
                <a:solidFill>
                  <a:schemeClr val="bg2">
                    <a:lumMod val="25000"/>
                  </a:schemeClr>
                </a:solidFill>
                <a:latin typeface="微软雅黑" panose="020B0503020204020204" charset="-122"/>
                <a:ea typeface="微软雅黑" panose="020B0503020204020204" charset="-122"/>
              </a:rPr>
              <a:t>线程与进程的比较</a:t>
            </a:r>
            <a:endParaRPr kumimoji="1" lang="zh-CN" altLang="en-US" sz="2100" b="0" dirty="0">
              <a:solidFill>
                <a:srgbClr val="002060"/>
              </a:solidFill>
              <a:cs typeface="+mn-cs"/>
            </a:endParaRPr>
          </a:p>
        </p:txBody>
      </p:sp>
      <p:sp>
        <p:nvSpPr>
          <p:cNvPr id="4" name="标题 1"/>
          <p:cNvSpPr>
            <a:spLocks noGrp="1"/>
          </p:cNvSpPr>
          <p:nvPr>
            <p:ph type="title"/>
          </p:nvPr>
        </p:nvSpPr>
        <p:spPr>
          <a:xfrm>
            <a:off x="1130555" y="1110154"/>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6676">
                                            <p:txEl>
                                              <p:pRg st="0" end="0"/>
                                            </p:txEl>
                                          </p:spTgt>
                                        </p:tgtEl>
                                        <p:attrNameLst>
                                          <p:attrName>style.visibility</p:attrName>
                                        </p:attrNameLst>
                                      </p:cBhvr>
                                      <p:to>
                                        <p:strVal val="visible"/>
                                      </p:to>
                                    </p:set>
                                    <p:animEffect transition="in" filter="wipe(left)">
                                      <p:cBhvr>
                                        <p:cTn id="7" dur="500"/>
                                        <p:tgtEl>
                                          <p:spTgt spid="156676">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56676">
                                            <p:txEl>
                                              <p:pRg st="1" end="1"/>
                                            </p:txEl>
                                          </p:spTgt>
                                        </p:tgtEl>
                                        <p:attrNameLst>
                                          <p:attrName>style.visibility</p:attrName>
                                        </p:attrNameLst>
                                      </p:cBhvr>
                                      <p:to>
                                        <p:strVal val="visible"/>
                                      </p:to>
                                    </p:set>
                                    <p:animEffect transition="in" filter="wipe(left)">
                                      <p:cBhvr>
                                        <p:cTn id="10" dur="500"/>
                                        <p:tgtEl>
                                          <p:spTgt spid="156676">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56676">
                                            <p:txEl>
                                              <p:pRg st="2" end="2"/>
                                            </p:txEl>
                                          </p:spTgt>
                                        </p:tgtEl>
                                        <p:attrNameLst>
                                          <p:attrName>style.visibility</p:attrName>
                                        </p:attrNameLst>
                                      </p:cBhvr>
                                      <p:to>
                                        <p:strVal val="visible"/>
                                      </p:to>
                                    </p:set>
                                    <p:animEffect transition="in" filter="wipe(left)">
                                      <p:cBhvr>
                                        <p:cTn id="13" dur="500"/>
                                        <p:tgtEl>
                                          <p:spTgt spid="156676">
                                            <p:txEl>
                                              <p:pRg st="2" end="2"/>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156676">
                                            <p:txEl>
                                              <p:pRg st="3" end="3"/>
                                            </p:txEl>
                                          </p:spTgt>
                                        </p:tgtEl>
                                        <p:attrNameLst>
                                          <p:attrName>style.visibility</p:attrName>
                                        </p:attrNameLst>
                                      </p:cBhvr>
                                      <p:to>
                                        <p:strVal val="visible"/>
                                      </p:to>
                                    </p:set>
                                    <p:animEffect transition="in" filter="wipe(left)">
                                      <p:cBhvr>
                                        <p:cTn id="16" dur="500"/>
                                        <p:tgtEl>
                                          <p:spTgt spid="156676">
                                            <p:txEl>
                                              <p:pRg st="3" end="3"/>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156676">
                                            <p:txEl>
                                              <p:pRg st="4" end="4"/>
                                            </p:txEl>
                                          </p:spTgt>
                                        </p:tgtEl>
                                        <p:attrNameLst>
                                          <p:attrName>style.visibility</p:attrName>
                                        </p:attrNameLst>
                                      </p:cBhvr>
                                      <p:to>
                                        <p:strVal val="visible"/>
                                      </p:to>
                                    </p:set>
                                    <p:animEffect transition="in" filter="wipe(left)">
                                      <p:cBhvr>
                                        <p:cTn id="19" dur="500"/>
                                        <p:tgtEl>
                                          <p:spTgt spid="156676">
                                            <p:txEl>
                                              <p:pRg st="4" end="4"/>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156676">
                                            <p:txEl>
                                              <p:pRg st="5" end="5"/>
                                            </p:txEl>
                                          </p:spTgt>
                                        </p:tgtEl>
                                        <p:attrNameLst>
                                          <p:attrName>style.visibility</p:attrName>
                                        </p:attrNameLst>
                                      </p:cBhvr>
                                      <p:to>
                                        <p:strVal val="visible"/>
                                      </p:to>
                                    </p:set>
                                    <p:animEffect transition="in" filter="wipe(left)">
                                      <p:cBhvr>
                                        <p:cTn id="22" dur="500"/>
                                        <p:tgtEl>
                                          <p:spTgt spid="15667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6676">
                                            <p:txEl>
                                              <p:pRg st="7" end="7"/>
                                            </p:txEl>
                                          </p:spTgt>
                                        </p:tgtEl>
                                        <p:attrNameLst>
                                          <p:attrName>style.visibility</p:attrName>
                                        </p:attrNameLst>
                                      </p:cBhvr>
                                      <p:to>
                                        <p:strVal val="visible"/>
                                      </p:to>
                                    </p:set>
                                    <p:animEffect transition="in" filter="wipe(left)">
                                      <p:cBhvr>
                                        <p:cTn id="27" dur="500"/>
                                        <p:tgtEl>
                                          <p:spTgt spid="15667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6676">
                                            <p:txEl>
                                              <p:pRg st="8" end="8"/>
                                            </p:txEl>
                                          </p:spTgt>
                                        </p:tgtEl>
                                        <p:attrNameLst>
                                          <p:attrName>style.visibility</p:attrName>
                                        </p:attrNameLst>
                                      </p:cBhvr>
                                      <p:to>
                                        <p:strVal val="visible"/>
                                      </p:to>
                                    </p:set>
                                    <p:animEffect transition="in" filter="wipe(left)">
                                      <p:cBhvr>
                                        <p:cTn id="32" dur="500"/>
                                        <p:tgtEl>
                                          <p:spTgt spid="156676">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6676">
                                            <p:txEl>
                                              <p:pRg st="9" end="9"/>
                                            </p:txEl>
                                          </p:spTgt>
                                        </p:tgtEl>
                                        <p:attrNameLst>
                                          <p:attrName>style.visibility</p:attrName>
                                        </p:attrNameLst>
                                      </p:cBhvr>
                                      <p:to>
                                        <p:strVal val="visible"/>
                                      </p:to>
                                    </p:set>
                                    <p:animEffect transition="in" filter="wipe(left)">
                                      <p:cBhvr>
                                        <p:cTn id="37" dur="500"/>
                                        <p:tgtEl>
                                          <p:spTgt spid="15667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3"/>
          <p:cNvSpPr>
            <a:spLocks noGrp="1" noRot="1" noChangeArrowheads="1"/>
          </p:cNvSpPr>
          <p:nvPr>
            <p:ph type="body" idx="1"/>
          </p:nvPr>
        </p:nvSpPr>
        <p:spPr/>
        <p:txBody>
          <a:bodyPr/>
          <a:lstStyle/>
          <a:p>
            <a:pPr>
              <a:lnSpc>
                <a:spcPct val="120000"/>
              </a:lnSpc>
            </a:pPr>
            <a:r>
              <a:rPr lang="zh-CN" altLang="en-US" sz="2400" dirty="0">
                <a:latin typeface="微软雅黑" panose="020B0503020204020204" charset="-122"/>
                <a:ea typeface="微软雅黑" panose="020B0503020204020204" charset="-122"/>
              </a:rPr>
              <a:t>从</a:t>
            </a:r>
            <a:r>
              <a:rPr lang="zh-CN" altLang="en-US" sz="2400" dirty="0">
                <a:solidFill>
                  <a:srgbClr val="C00000"/>
                </a:solidFill>
                <a:latin typeface="微软雅黑" panose="020B0503020204020204" charset="-122"/>
                <a:ea typeface="微软雅黑" panose="020B0503020204020204" charset="-122"/>
              </a:rPr>
              <a:t>调度性</a:t>
            </a:r>
            <a:r>
              <a:rPr lang="zh-CN" altLang="en-US" sz="2400" dirty="0">
                <a:latin typeface="微软雅黑" panose="020B0503020204020204" charset="-122"/>
                <a:ea typeface="微软雅黑" panose="020B0503020204020204" charset="-122"/>
              </a:rPr>
              <a:t>、</a:t>
            </a:r>
            <a:r>
              <a:rPr lang="zh-CN" altLang="en-US" sz="2400" dirty="0">
                <a:solidFill>
                  <a:srgbClr val="C00000"/>
                </a:solidFill>
                <a:latin typeface="微软雅黑" panose="020B0503020204020204" charset="-122"/>
                <a:ea typeface="微软雅黑" panose="020B0503020204020204" charset="-122"/>
              </a:rPr>
              <a:t>并发性</a:t>
            </a:r>
            <a:r>
              <a:rPr lang="zh-CN" altLang="en-US" sz="2400" dirty="0">
                <a:latin typeface="微软雅黑" panose="020B0503020204020204" charset="-122"/>
                <a:ea typeface="微软雅黑" panose="020B0503020204020204" charset="-122"/>
              </a:rPr>
              <a:t>、</a:t>
            </a:r>
            <a:r>
              <a:rPr lang="zh-CN" altLang="en-US" sz="2400" dirty="0">
                <a:solidFill>
                  <a:srgbClr val="C00000"/>
                </a:solidFill>
                <a:latin typeface="微软雅黑" panose="020B0503020204020204" charset="-122"/>
                <a:ea typeface="微软雅黑" panose="020B0503020204020204" charset="-122"/>
              </a:rPr>
              <a:t>系统开销</a:t>
            </a:r>
            <a:r>
              <a:rPr lang="zh-CN" altLang="en-US" sz="2400" dirty="0">
                <a:latin typeface="微软雅黑" panose="020B0503020204020204" charset="-122"/>
                <a:ea typeface="微软雅黑" panose="020B0503020204020204" charset="-122"/>
              </a:rPr>
              <a:t>和</a:t>
            </a:r>
            <a:r>
              <a:rPr lang="zh-CN" altLang="en-US" sz="2400" dirty="0">
                <a:solidFill>
                  <a:srgbClr val="C00000"/>
                </a:solidFill>
                <a:latin typeface="微软雅黑" panose="020B0503020204020204" charset="-122"/>
                <a:ea typeface="微软雅黑" panose="020B0503020204020204" charset="-122"/>
              </a:rPr>
              <a:t>拥有资源</a:t>
            </a:r>
            <a:r>
              <a:rPr lang="zh-CN" altLang="en-US" sz="2400" dirty="0">
                <a:latin typeface="微软雅黑" panose="020B0503020204020204" charset="-122"/>
                <a:ea typeface="微软雅黑" panose="020B0503020204020204" charset="-122"/>
              </a:rPr>
              <a:t>等方面对线程和进程进行比较。</a:t>
            </a:r>
            <a:endParaRPr lang="zh-CN" altLang="en-US" sz="2400" dirty="0">
              <a:latin typeface="微软雅黑" panose="020B0503020204020204" charset="-122"/>
              <a:ea typeface="微软雅黑" panose="020B0503020204020204" charset="-122"/>
            </a:endParaRPr>
          </a:p>
          <a:p>
            <a:pPr>
              <a:lnSpc>
                <a:spcPct val="120000"/>
              </a:lnSpc>
            </a:pPr>
            <a:r>
              <a:rPr lang="zh-CN" altLang="en-US" sz="2800" dirty="0">
                <a:solidFill>
                  <a:srgbClr val="C00000"/>
                </a:solidFill>
                <a:latin typeface="微软雅黑" panose="020B0503020204020204" charset="-122"/>
                <a:ea typeface="微软雅黑" panose="020B0503020204020204" charset="-122"/>
              </a:rPr>
              <a:t>（</a:t>
            </a:r>
            <a:r>
              <a:rPr lang="en-US" altLang="zh-CN" sz="2800" dirty="0">
                <a:solidFill>
                  <a:srgbClr val="C00000"/>
                </a:solidFill>
                <a:latin typeface="微软雅黑" panose="020B0503020204020204" charset="-122"/>
                <a:ea typeface="微软雅黑" panose="020B0503020204020204" charset="-122"/>
              </a:rPr>
              <a:t>1</a:t>
            </a:r>
            <a:r>
              <a:rPr lang="zh-CN" altLang="en-US" sz="2800" dirty="0">
                <a:solidFill>
                  <a:srgbClr val="C00000"/>
                </a:solidFill>
                <a:latin typeface="微软雅黑" panose="020B0503020204020204" charset="-122"/>
                <a:ea typeface="微软雅黑" panose="020B0503020204020204" charset="-122"/>
              </a:rPr>
              <a:t>）</a:t>
            </a:r>
            <a:r>
              <a:rPr lang="zh-CN" altLang="en-US" sz="2800" b="1" dirty="0">
                <a:solidFill>
                  <a:srgbClr val="C00000"/>
                </a:solidFill>
                <a:latin typeface="微软雅黑" panose="020B0503020204020204" charset="-122"/>
                <a:ea typeface="微软雅黑" panose="020B0503020204020204" charset="-122"/>
              </a:rPr>
              <a:t>调度</a:t>
            </a:r>
            <a:endParaRPr lang="zh-CN" altLang="en-US" sz="2800" b="1" dirty="0">
              <a:solidFill>
                <a:srgbClr val="C00000"/>
              </a:solidFill>
              <a:latin typeface="微软雅黑" panose="020B0503020204020204" charset="-122"/>
              <a:ea typeface="微软雅黑" panose="020B0503020204020204" charset="-122"/>
            </a:endParaRPr>
          </a:p>
          <a:p>
            <a:pPr lvl="1">
              <a:lnSpc>
                <a:spcPct val="120000"/>
              </a:lnSpc>
            </a:pPr>
            <a:r>
              <a:rPr lang="zh-CN" altLang="en-US" sz="2400" dirty="0">
                <a:latin typeface="微软雅黑" panose="020B0503020204020204" charset="-122"/>
                <a:ea typeface="微软雅黑" panose="020B0503020204020204" charset="-122"/>
              </a:rPr>
              <a:t>在传统的操作系统中，进程作为拥有资源和独立调度、分派的基本单位。而在引入线程的操作系统中，则把</a:t>
            </a:r>
            <a:r>
              <a:rPr lang="zh-CN" altLang="en-US" sz="2400" dirty="0">
                <a:solidFill>
                  <a:srgbClr val="FF0000"/>
                </a:solidFill>
                <a:latin typeface="微软雅黑" panose="020B0503020204020204" charset="-122"/>
                <a:ea typeface="微软雅黑" panose="020B0503020204020204" charset="-122"/>
              </a:rPr>
              <a:t>线程作为调度和分派的基本单位</a:t>
            </a:r>
            <a:r>
              <a:rPr lang="zh-CN" altLang="en-US" sz="2400" dirty="0">
                <a:latin typeface="微软雅黑" panose="020B0503020204020204" charset="-122"/>
                <a:ea typeface="微软雅黑" panose="020B0503020204020204" charset="-122"/>
              </a:rPr>
              <a:t>，而</a:t>
            </a:r>
            <a:r>
              <a:rPr lang="zh-CN" altLang="en-US" sz="2400" dirty="0">
                <a:solidFill>
                  <a:srgbClr val="FF0000"/>
                </a:solidFill>
                <a:latin typeface="微软雅黑" panose="020B0503020204020204" charset="-122"/>
                <a:ea typeface="微软雅黑" panose="020B0503020204020204" charset="-122"/>
              </a:rPr>
              <a:t>进程作为资源拥有的基本单位</a:t>
            </a:r>
            <a:r>
              <a:rPr lang="zh-CN" altLang="en-US" sz="2400" dirty="0">
                <a:latin typeface="微软雅黑" panose="020B0503020204020204" charset="-122"/>
                <a:ea typeface="微软雅黑" panose="020B0503020204020204" charset="-122"/>
              </a:rPr>
              <a:t>。</a:t>
            </a:r>
            <a:endParaRPr lang="zh-CN" altLang="en-US" sz="2400" dirty="0">
              <a:latin typeface="微软雅黑" panose="020B0503020204020204" charset="-122"/>
              <a:ea typeface="微软雅黑" panose="020B0503020204020204" charset="-122"/>
            </a:endParaRPr>
          </a:p>
          <a:p>
            <a:pPr lvl="1">
              <a:lnSpc>
                <a:spcPct val="120000"/>
              </a:lnSpc>
            </a:pPr>
            <a:r>
              <a:rPr lang="zh-CN" altLang="en-US" sz="2400" dirty="0">
                <a:latin typeface="微软雅黑" panose="020B0503020204020204" charset="-122"/>
                <a:ea typeface="微软雅黑" panose="020B0503020204020204" charset="-122"/>
              </a:rPr>
              <a:t>在同一进程中，线程的切换不会引起进程的切换；但从一个进程中的线程切换到另一个进程中的线程时，将会引起进程的切换。</a:t>
            </a:r>
            <a:endParaRPr lang="zh-CN" altLang="en-US" sz="2400" dirty="0">
              <a:latin typeface="微软雅黑" panose="020B0503020204020204" charset="-122"/>
              <a:ea typeface="微软雅黑" panose="020B0503020204020204" charset="-122"/>
            </a:endParaRPr>
          </a:p>
        </p:txBody>
      </p:sp>
      <p:sp>
        <p:nvSpPr>
          <p:cNvPr id="4" name="标题 1"/>
          <p:cNvSpPr txBox="1"/>
          <p:nvPr/>
        </p:nvSpPr>
        <p:spPr>
          <a:xfrm>
            <a:off x="5870195" y="1186221"/>
            <a:ext cx="3223260"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2.7.2</a:t>
            </a:r>
            <a:r>
              <a:rPr kumimoji="1" lang="zh-CN" altLang="en-US" sz="2100" dirty="0">
                <a:solidFill>
                  <a:srgbClr val="002060"/>
                </a:solidFill>
                <a:cs typeface="+mn-cs"/>
              </a:rPr>
              <a:t> </a:t>
            </a:r>
            <a:r>
              <a:rPr lang="zh-CN" altLang="en-US" sz="2100" kern="0" dirty="0">
                <a:solidFill>
                  <a:schemeClr val="bg2">
                    <a:lumMod val="25000"/>
                  </a:schemeClr>
                </a:solidFill>
                <a:latin typeface="微软雅黑" panose="020B0503020204020204" charset="-122"/>
                <a:ea typeface="微软雅黑" panose="020B0503020204020204" charset="-122"/>
              </a:rPr>
              <a:t>线程与进程的比较</a:t>
            </a:r>
            <a:endParaRPr kumimoji="1" lang="zh-CN" altLang="en-US" sz="2100" b="0" dirty="0">
              <a:solidFill>
                <a:srgbClr val="002060"/>
              </a:solidFill>
              <a:cs typeface="+mn-cs"/>
            </a:endParaRPr>
          </a:p>
        </p:txBody>
      </p:sp>
      <p:sp>
        <p:nvSpPr>
          <p:cNvPr id="5" name="标题 1"/>
          <p:cNvSpPr>
            <a:spLocks noGrp="1"/>
          </p:cNvSpPr>
          <p:nvPr>
            <p:ph type="title"/>
          </p:nvPr>
        </p:nvSpPr>
        <p:spPr>
          <a:xfrm>
            <a:off x="1130555" y="1110154"/>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5107">
                                            <p:txEl>
                                              <p:pRg st="1" end="1"/>
                                            </p:txEl>
                                          </p:spTgt>
                                        </p:tgtEl>
                                        <p:attrNameLst>
                                          <p:attrName>style.visibility</p:attrName>
                                        </p:attrNameLst>
                                      </p:cBhvr>
                                      <p:to>
                                        <p:strVal val="visible"/>
                                      </p:to>
                                    </p:set>
                                    <p:animEffect transition="in" filter="wipe(left)">
                                      <p:cBhvr>
                                        <p:cTn id="7" dur="500"/>
                                        <p:tgtEl>
                                          <p:spTgt spid="1751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5107">
                                            <p:txEl>
                                              <p:pRg st="2" end="2"/>
                                            </p:txEl>
                                          </p:spTgt>
                                        </p:tgtEl>
                                        <p:attrNameLst>
                                          <p:attrName>style.visibility</p:attrName>
                                        </p:attrNameLst>
                                      </p:cBhvr>
                                      <p:to>
                                        <p:strVal val="visible"/>
                                      </p:to>
                                    </p:set>
                                    <p:animEffect transition="in" filter="wipe(left)">
                                      <p:cBhvr>
                                        <p:cTn id="12" dur="500"/>
                                        <p:tgtEl>
                                          <p:spTgt spid="1751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5107">
                                            <p:txEl>
                                              <p:pRg st="3" end="3"/>
                                            </p:txEl>
                                          </p:spTgt>
                                        </p:tgtEl>
                                        <p:attrNameLst>
                                          <p:attrName>style.visibility</p:attrName>
                                        </p:attrNameLst>
                                      </p:cBhvr>
                                      <p:to>
                                        <p:strVal val="visible"/>
                                      </p:to>
                                    </p:set>
                                    <p:animEffect transition="in" filter="wipe(left)">
                                      <p:cBhvr>
                                        <p:cTn id="17" dur="500"/>
                                        <p:tgtEl>
                                          <p:spTgt spid="1751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3"/>
          <p:cNvSpPr>
            <a:spLocks noGrp="1" noRot="1" noChangeArrowheads="1"/>
          </p:cNvSpPr>
          <p:nvPr>
            <p:ph type="body" idx="1"/>
          </p:nvPr>
        </p:nvSpPr>
        <p:spPr>
          <a:xfrm>
            <a:off x="149225" y="1859280"/>
            <a:ext cx="8634095" cy="4060190"/>
          </a:xfrm>
        </p:spPr>
        <p:txBody>
          <a:bodyPr/>
          <a:lstStyle/>
          <a:p>
            <a:pPr>
              <a:lnSpc>
                <a:spcPct val="120000"/>
              </a:lnSpc>
            </a:pPr>
            <a:r>
              <a:rPr lang="zh-CN" altLang="en-US" sz="2800" b="1" dirty="0">
                <a:solidFill>
                  <a:srgbClr val="C00000"/>
                </a:solidFill>
                <a:latin typeface="微软雅黑" panose="020B0503020204020204" charset="-122"/>
                <a:ea typeface="微软雅黑" panose="020B0503020204020204" charset="-122"/>
              </a:rPr>
              <a:t>（</a:t>
            </a:r>
            <a:r>
              <a:rPr lang="en-US" altLang="zh-CN" sz="2800" b="1" dirty="0">
                <a:solidFill>
                  <a:srgbClr val="C00000"/>
                </a:solidFill>
                <a:latin typeface="微软雅黑" panose="020B0503020204020204" charset="-122"/>
                <a:ea typeface="微软雅黑" panose="020B0503020204020204" charset="-122"/>
              </a:rPr>
              <a:t>2</a:t>
            </a:r>
            <a:r>
              <a:rPr lang="zh-CN" altLang="en-US" sz="2800" b="1" dirty="0">
                <a:solidFill>
                  <a:srgbClr val="C00000"/>
                </a:solidFill>
                <a:latin typeface="微软雅黑" panose="020B0503020204020204" charset="-122"/>
                <a:ea typeface="微软雅黑" panose="020B0503020204020204" charset="-122"/>
              </a:rPr>
              <a:t>）并发性</a:t>
            </a:r>
            <a:endParaRPr lang="zh-CN" altLang="en-US" sz="2800" b="1" dirty="0">
              <a:solidFill>
                <a:srgbClr val="C00000"/>
              </a:solidFill>
              <a:latin typeface="微软雅黑" panose="020B0503020204020204" charset="-122"/>
              <a:ea typeface="微软雅黑" panose="020B0503020204020204" charset="-122"/>
            </a:endParaRPr>
          </a:p>
          <a:p>
            <a:pPr lvl="1">
              <a:lnSpc>
                <a:spcPct val="120000"/>
              </a:lnSpc>
            </a:pPr>
            <a:r>
              <a:rPr lang="zh-CN" altLang="en-US" sz="2000" dirty="0">
                <a:latin typeface="微软雅黑" panose="020B0503020204020204" charset="-122"/>
                <a:ea typeface="微软雅黑" panose="020B0503020204020204" charset="-122"/>
              </a:rPr>
              <a:t>在引入线程的操作系统中，不仅进程之间可以并发执行，而且在一个进程中的</a:t>
            </a:r>
            <a:r>
              <a:rPr lang="zh-CN" altLang="en-US" sz="2000" dirty="0">
                <a:solidFill>
                  <a:srgbClr val="FF0000"/>
                </a:solidFill>
                <a:latin typeface="微软雅黑" panose="020B0503020204020204" charset="-122"/>
                <a:ea typeface="微软雅黑" panose="020B0503020204020204" charset="-122"/>
              </a:rPr>
              <a:t>多个线程之间亦可并发执行</a:t>
            </a:r>
            <a:r>
              <a:rPr lang="zh-CN" altLang="en-US" sz="2000" dirty="0">
                <a:latin typeface="微软雅黑" panose="020B0503020204020204" charset="-122"/>
                <a:ea typeface="微软雅黑" panose="020B0503020204020204" charset="-122"/>
              </a:rPr>
              <a:t>，使得操作系统具有更好的并发性，从而能更加有效地提高系统资源的利用率和系统的吞吐量。</a:t>
            </a:r>
            <a:endParaRPr lang="zh-CN" altLang="en-US" sz="2000" dirty="0">
              <a:latin typeface="微软雅黑" panose="020B0503020204020204" charset="-122"/>
              <a:ea typeface="微软雅黑" panose="020B0503020204020204" charset="-122"/>
            </a:endParaRPr>
          </a:p>
          <a:p>
            <a:pPr lvl="2">
              <a:lnSpc>
                <a:spcPct val="120000"/>
              </a:lnSpc>
            </a:pPr>
            <a:r>
              <a:rPr lang="zh-CN" altLang="en-US" sz="1800" b="0" dirty="0">
                <a:latin typeface="微软雅黑" panose="020B0503020204020204" charset="-122"/>
                <a:ea typeface="微软雅黑" panose="020B0503020204020204" charset="-122"/>
              </a:rPr>
              <a:t>例如，在一个未引入线程的单</a:t>
            </a:r>
            <a:r>
              <a:rPr lang="en-US" altLang="zh-CN" sz="1800" b="0" dirty="0">
                <a:latin typeface="微软雅黑" panose="020B0503020204020204" charset="-122"/>
                <a:ea typeface="微软雅黑" panose="020B0503020204020204" charset="-122"/>
              </a:rPr>
              <a:t>CPU</a:t>
            </a:r>
            <a:r>
              <a:rPr lang="zh-CN" altLang="en-US" sz="1800" b="0" dirty="0">
                <a:latin typeface="微软雅黑" panose="020B0503020204020204" charset="-122"/>
                <a:ea typeface="微软雅黑" panose="020B0503020204020204" charset="-122"/>
              </a:rPr>
              <a:t>操作系统中，若仅设置一个文件服务进程，当该进程由于某种原因而被阻塞时，便没有其它的文件服务进程来提供服务。</a:t>
            </a:r>
            <a:endParaRPr lang="zh-CN" altLang="en-US" sz="1800" b="0" dirty="0">
              <a:latin typeface="微软雅黑" panose="020B0503020204020204" charset="-122"/>
              <a:ea typeface="微软雅黑" panose="020B0503020204020204" charset="-122"/>
            </a:endParaRPr>
          </a:p>
          <a:p>
            <a:pPr lvl="2">
              <a:lnSpc>
                <a:spcPct val="120000"/>
              </a:lnSpc>
            </a:pPr>
            <a:r>
              <a:rPr lang="zh-CN" altLang="en-US" sz="1800" b="0" dirty="0">
                <a:latin typeface="微软雅黑" panose="020B0503020204020204" charset="-122"/>
                <a:ea typeface="微软雅黑" panose="020B0503020204020204" charset="-122"/>
              </a:rPr>
              <a:t>在引入线程的操作系统中，可以在一个文件服务进程中设置多个服务线程。当第一个线程等待时，文件服务进程中的第二个线程可以继续运行，以提供文件服务；当第二个线程阻塞时，则可由第三个继续执行，提供服务。显然，这样的方法可以显著地提高文件服务的质量和系统的吞吐量。</a:t>
            </a:r>
            <a:endParaRPr lang="zh-CN" altLang="en-US" sz="1800" b="0" dirty="0">
              <a:latin typeface="微软雅黑" panose="020B0503020204020204" charset="-122"/>
              <a:ea typeface="微软雅黑" panose="020B0503020204020204" charset="-122"/>
            </a:endParaRPr>
          </a:p>
        </p:txBody>
      </p:sp>
      <p:sp>
        <p:nvSpPr>
          <p:cNvPr id="4" name="标题 1"/>
          <p:cNvSpPr txBox="1"/>
          <p:nvPr/>
        </p:nvSpPr>
        <p:spPr>
          <a:xfrm>
            <a:off x="5870195" y="1186221"/>
            <a:ext cx="3223260"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2.7.2</a:t>
            </a:r>
            <a:r>
              <a:rPr kumimoji="1" lang="zh-CN" altLang="en-US" sz="2100" dirty="0">
                <a:solidFill>
                  <a:srgbClr val="002060"/>
                </a:solidFill>
                <a:cs typeface="+mn-cs"/>
              </a:rPr>
              <a:t> </a:t>
            </a:r>
            <a:r>
              <a:rPr lang="zh-CN" altLang="en-US" sz="2100" kern="0" dirty="0">
                <a:solidFill>
                  <a:schemeClr val="bg2">
                    <a:lumMod val="25000"/>
                  </a:schemeClr>
                </a:solidFill>
                <a:latin typeface="微软雅黑" panose="020B0503020204020204" charset="-122"/>
                <a:ea typeface="微软雅黑" panose="020B0503020204020204" charset="-122"/>
              </a:rPr>
              <a:t>线程与进程的比较</a:t>
            </a:r>
            <a:endParaRPr kumimoji="1" lang="zh-CN" altLang="en-US" sz="2100" b="0" dirty="0">
              <a:solidFill>
                <a:srgbClr val="002060"/>
              </a:solidFill>
              <a:cs typeface="+mn-cs"/>
            </a:endParaRPr>
          </a:p>
        </p:txBody>
      </p:sp>
      <p:sp>
        <p:nvSpPr>
          <p:cNvPr id="5" name="标题 1"/>
          <p:cNvSpPr>
            <a:spLocks noGrp="1"/>
          </p:cNvSpPr>
          <p:nvPr>
            <p:ph type="title"/>
          </p:nvPr>
        </p:nvSpPr>
        <p:spPr>
          <a:xfrm>
            <a:off x="1130555" y="1110154"/>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30">
                                            <p:txEl>
                                              <p:pRg st="1" end="1"/>
                                            </p:txEl>
                                          </p:spTgt>
                                        </p:tgtEl>
                                        <p:attrNameLst>
                                          <p:attrName>style.visibility</p:attrName>
                                        </p:attrNameLst>
                                      </p:cBhvr>
                                      <p:to>
                                        <p:strVal val="visible"/>
                                      </p:to>
                                    </p:set>
                                    <p:animEffect transition="in" filter="wipe(left)">
                                      <p:cBhvr>
                                        <p:cTn id="7" dur="500"/>
                                        <p:tgtEl>
                                          <p:spTgt spid="17613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6130">
                                            <p:txEl>
                                              <p:pRg st="2" end="2"/>
                                            </p:txEl>
                                          </p:spTgt>
                                        </p:tgtEl>
                                        <p:attrNameLst>
                                          <p:attrName>style.visibility</p:attrName>
                                        </p:attrNameLst>
                                      </p:cBhvr>
                                      <p:to>
                                        <p:strVal val="visible"/>
                                      </p:to>
                                    </p:set>
                                    <p:animEffect transition="in" filter="wipe(left)">
                                      <p:cBhvr>
                                        <p:cTn id="12" dur="500"/>
                                        <p:tgtEl>
                                          <p:spTgt spid="17613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6130">
                                            <p:txEl>
                                              <p:pRg st="3" end="3"/>
                                            </p:txEl>
                                          </p:spTgt>
                                        </p:tgtEl>
                                        <p:attrNameLst>
                                          <p:attrName>style.visibility</p:attrName>
                                        </p:attrNameLst>
                                      </p:cBhvr>
                                      <p:to>
                                        <p:strVal val="visible"/>
                                      </p:to>
                                    </p:set>
                                    <p:animEffect transition="in" filter="wipe(left)">
                                      <p:cBhvr>
                                        <p:cTn id="17" dur="500"/>
                                        <p:tgtEl>
                                          <p:spTgt spid="1761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uiExpand="1" build="p"/>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9" name="Rectangle 3"/>
          <p:cNvSpPr>
            <a:spLocks noGrp="1" noRot="1" noChangeArrowheads="1"/>
          </p:cNvSpPr>
          <p:nvPr>
            <p:ph type="body" idx="1"/>
          </p:nvPr>
        </p:nvSpPr>
        <p:spPr>
          <a:xfrm>
            <a:off x="288290" y="1840865"/>
            <a:ext cx="8502015" cy="3868420"/>
          </a:xfrm>
        </p:spPr>
        <p:txBody>
          <a:bodyPr/>
          <a:lstStyle/>
          <a:p>
            <a:pPr>
              <a:lnSpc>
                <a:spcPct val="120000"/>
              </a:lnSpc>
            </a:pPr>
            <a:r>
              <a:rPr lang="zh-CN" altLang="en-US" dirty="0">
                <a:solidFill>
                  <a:srgbClr val="C00000"/>
                </a:solidFill>
                <a:latin typeface="微软雅黑" panose="020B0503020204020204" charset="-122"/>
                <a:ea typeface="微软雅黑" panose="020B0503020204020204" charset="-122"/>
              </a:rPr>
              <a:t>（</a:t>
            </a:r>
            <a:r>
              <a:rPr lang="en-US" altLang="zh-CN" dirty="0">
                <a:solidFill>
                  <a:srgbClr val="C00000"/>
                </a:solidFill>
                <a:latin typeface="微软雅黑" panose="020B0503020204020204" charset="-122"/>
                <a:ea typeface="微软雅黑" panose="020B0503020204020204" charset="-122"/>
              </a:rPr>
              <a:t>3</a:t>
            </a:r>
            <a:r>
              <a:rPr lang="zh-CN" altLang="en-US" dirty="0">
                <a:solidFill>
                  <a:srgbClr val="C00000"/>
                </a:solidFill>
                <a:latin typeface="微软雅黑" panose="020B0503020204020204" charset="-122"/>
                <a:ea typeface="微软雅黑" panose="020B0503020204020204" charset="-122"/>
              </a:rPr>
              <a:t>）拥有资源</a:t>
            </a:r>
            <a:endParaRPr lang="zh-CN" altLang="en-US" dirty="0">
              <a:solidFill>
                <a:srgbClr val="C00000"/>
              </a:solidFill>
              <a:latin typeface="微软雅黑" panose="020B0503020204020204" charset="-122"/>
              <a:ea typeface="微软雅黑" panose="020B0503020204020204" charset="-122"/>
            </a:endParaRPr>
          </a:p>
          <a:p>
            <a:pPr lvl="1">
              <a:lnSpc>
                <a:spcPct val="120000"/>
              </a:lnSpc>
            </a:pPr>
            <a:r>
              <a:rPr lang="zh-CN" altLang="en-US" sz="2000" b="0" dirty="0">
                <a:latin typeface="微软雅黑" panose="020B0503020204020204" charset="-122"/>
                <a:ea typeface="微软雅黑" panose="020B0503020204020204" charset="-122"/>
              </a:rPr>
              <a:t>一般而言，线程自己不拥有系统资源</a:t>
            </a:r>
            <a:r>
              <a:rPr lang="en-US" altLang="zh-CN" sz="2000" b="0" dirty="0">
                <a:latin typeface="微软雅黑" panose="020B0503020204020204" charset="-122"/>
                <a:ea typeface="微软雅黑" panose="020B0503020204020204" charset="-122"/>
              </a:rPr>
              <a:t>(</a:t>
            </a:r>
            <a:r>
              <a:rPr lang="zh-CN" altLang="en-US" sz="2000" b="0" dirty="0">
                <a:latin typeface="微软雅黑" panose="020B0503020204020204" charset="-122"/>
                <a:ea typeface="微软雅黑" panose="020B0503020204020204" charset="-122"/>
              </a:rPr>
              <a:t>也有一点必不可少的资源</a:t>
            </a:r>
            <a:r>
              <a:rPr lang="en-US" altLang="zh-CN" sz="2000" b="0" dirty="0">
                <a:latin typeface="微软雅黑" panose="020B0503020204020204" charset="-122"/>
                <a:ea typeface="微软雅黑" panose="020B0503020204020204" charset="-122"/>
              </a:rPr>
              <a:t>)</a:t>
            </a:r>
            <a:r>
              <a:rPr lang="zh-CN" altLang="en-US" sz="2000" b="0" dirty="0">
                <a:latin typeface="微软雅黑" panose="020B0503020204020204" charset="-122"/>
                <a:ea typeface="微软雅黑" panose="020B0503020204020204" charset="-122"/>
              </a:rPr>
              <a:t>，但它可以访问其隶属进程的资源，即一个进程的代码段、数据段及所拥有的系统资源，如已打开的文件、</a:t>
            </a:r>
            <a:r>
              <a:rPr lang="en-US" altLang="zh-CN" sz="2000" b="0" dirty="0">
                <a:latin typeface="微软雅黑" panose="020B0503020204020204" charset="-122"/>
                <a:ea typeface="微软雅黑" panose="020B0503020204020204" charset="-122"/>
              </a:rPr>
              <a:t>I/O </a:t>
            </a:r>
            <a:r>
              <a:rPr lang="zh-CN" altLang="en-US" sz="2000" b="0" dirty="0">
                <a:latin typeface="微软雅黑" panose="020B0503020204020204" charset="-122"/>
                <a:ea typeface="微软雅黑" panose="020B0503020204020204" charset="-122"/>
              </a:rPr>
              <a:t>设备等，可以供该进程中的所有线程所共享。</a:t>
            </a:r>
            <a:endParaRPr lang="en-US" altLang="zh-CN" sz="2000" b="0" dirty="0">
              <a:latin typeface="微软雅黑" panose="020B0503020204020204" charset="-122"/>
              <a:ea typeface="微软雅黑" panose="020B0503020204020204" charset="-122"/>
            </a:endParaRPr>
          </a:p>
          <a:p>
            <a:pPr>
              <a:lnSpc>
                <a:spcPct val="120000"/>
              </a:lnSpc>
            </a:pPr>
            <a:r>
              <a:rPr lang="zh-CN" altLang="en-US" dirty="0">
                <a:solidFill>
                  <a:srgbClr val="C00000"/>
                </a:solidFill>
                <a:latin typeface="微软雅黑" panose="020B0503020204020204" charset="-122"/>
                <a:ea typeface="微软雅黑" panose="020B0503020204020204" charset="-122"/>
              </a:rPr>
              <a:t>（</a:t>
            </a:r>
            <a:r>
              <a:rPr lang="en-US" altLang="zh-CN" dirty="0">
                <a:solidFill>
                  <a:srgbClr val="C00000"/>
                </a:solidFill>
                <a:latin typeface="微软雅黑" panose="020B0503020204020204" charset="-122"/>
                <a:ea typeface="微软雅黑" panose="020B0503020204020204" charset="-122"/>
              </a:rPr>
              <a:t>4</a:t>
            </a:r>
            <a:r>
              <a:rPr lang="zh-CN" altLang="en-US" dirty="0">
                <a:solidFill>
                  <a:srgbClr val="C00000"/>
                </a:solidFill>
                <a:latin typeface="微软雅黑" panose="020B0503020204020204" charset="-122"/>
                <a:ea typeface="微软雅黑" panose="020B0503020204020204" charset="-122"/>
              </a:rPr>
              <a:t>）独立性</a:t>
            </a:r>
            <a:endParaRPr lang="en-US" altLang="zh-CN" dirty="0">
              <a:solidFill>
                <a:srgbClr val="C00000"/>
              </a:solidFill>
              <a:latin typeface="微软雅黑" panose="020B0503020204020204" charset="-122"/>
              <a:ea typeface="微软雅黑" panose="020B0503020204020204" charset="-122"/>
            </a:endParaRPr>
          </a:p>
          <a:p>
            <a:pPr lvl="1">
              <a:lnSpc>
                <a:spcPct val="120000"/>
              </a:lnSpc>
            </a:pPr>
            <a:r>
              <a:rPr lang="zh-CN" altLang="en-US" sz="2000" b="0" dirty="0">
                <a:latin typeface="微软雅黑" panose="020B0503020204020204" charset="-122"/>
                <a:ea typeface="微软雅黑" panose="020B0503020204020204" charset="-122"/>
              </a:rPr>
              <a:t>同一进程中的不同线程共享进程的内存空间和资源。</a:t>
            </a:r>
            <a:endParaRPr lang="en-US" altLang="zh-CN" sz="2000" b="0" dirty="0">
              <a:latin typeface="微软雅黑" panose="020B0503020204020204" charset="-122"/>
              <a:ea typeface="微软雅黑" panose="020B0503020204020204" charset="-122"/>
            </a:endParaRPr>
          </a:p>
          <a:p>
            <a:pPr lvl="1">
              <a:lnSpc>
                <a:spcPct val="120000"/>
              </a:lnSpc>
            </a:pPr>
            <a:r>
              <a:rPr lang="zh-CN" altLang="en-US" sz="2000" b="0" dirty="0">
                <a:latin typeface="微软雅黑" panose="020B0503020204020204" charset="-122"/>
                <a:ea typeface="微软雅黑" panose="020B0503020204020204" charset="-122"/>
              </a:rPr>
              <a:t>同一进程中的不同线程的独立性低于不同进程。</a:t>
            </a:r>
            <a:endParaRPr lang="zh-CN" altLang="en-US" sz="2000" b="0" dirty="0">
              <a:latin typeface="微软雅黑" panose="020B0503020204020204" charset="-122"/>
              <a:ea typeface="微软雅黑" panose="020B0503020204020204" charset="-122"/>
            </a:endParaRPr>
          </a:p>
        </p:txBody>
      </p:sp>
      <p:sp>
        <p:nvSpPr>
          <p:cNvPr id="4" name="标题 1"/>
          <p:cNvSpPr txBox="1"/>
          <p:nvPr/>
        </p:nvSpPr>
        <p:spPr>
          <a:xfrm>
            <a:off x="5870195" y="1186221"/>
            <a:ext cx="3223260"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2.7.2</a:t>
            </a:r>
            <a:r>
              <a:rPr kumimoji="1" lang="zh-CN" altLang="en-US" sz="2100" dirty="0">
                <a:solidFill>
                  <a:srgbClr val="002060"/>
                </a:solidFill>
                <a:cs typeface="+mn-cs"/>
              </a:rPr>
              <a:t> </a:t>
            </a:r>
            <a:r>
              <a:rPr lang="zh-CN" altLang="en-US" sz="2100" kern="0" dirty="0">
                <a:solidFill>
                  <a:schemeClr val="bg2">
                    <a:lumMod val="25000"/>
                  </a:schemeClr>
                </a:solidFill>
                <a:latin typeface="微软雅黑" panose="020B0503020204020204" charset="-122"/>
                <a:ea typeface="微软雅黑" panose="020B0503020204020204" charset="-122"/>
              </a:rPr>
              <a:t>线程与进程的比较</a:t>
            </a:r>
            <a:endParaRPr kumimoji="1" lang="zh-CN" altLang="en-US" sz="2100" b="0" dirty="0">
              <a:solidFill>
                <a:srgbClr val="002060"/>
              </a:solidFill>
              <a:cs typeface="+mn-cs"/>
            </a:endParaRPr>
          </a:p>
        </p:txBody>
      </p:sp>
      <p:sp>
        <p:nvSpPr>
          <p:cNvPr id="5" name="标题 1"/>
          <p:cNvSpPr>
            <a:spLocks noGrp="1"/>
          </p:cNvSpPr>
          <p:nvPr>
            <p:ph type="title"/>
          </p:nvPr>
        </p:nvSpPr>
        <p:spPr>
          <a:xfrm>
            <a:off x="1130555" y="1110154"/>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6179">
                                            <p:txEl>
                                              <p:pRg st="2" end="2"/>
                                            </p:txEl>
                                          </p:spTgt>
                                        </p:tgtEl>
                                        <p:attrNameLst>
                                          <p:attrName>style.visibility</p:attrName>
                                        </p:attrNameLst>
                                      </p:cBhvr>
                                      <p:to>
                                        <p:strVal val="visible"/>
                                      </p:to>
                                    </p:set>
                                    <p:animEffect transition="in" filter="wipe(left)">
                                      <p:cBhvr>
                                        <p:cTn id="7" dur="250"/>
                                        <p:tgtEl>
                                          <p:spTgt spid="306179">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06179">
                                            <p:txEl>
                                              <p:pRg st="3" end="3"/>
                                            </p:txEl>
                                          </p:spTgt>
                                        </p:tgtEl>
                                        <p:attrNameLst>
                                          <p:attrName>style.visibility</p:attrName>
                                        </p:attrNameLst>
                                      </p:cBhvr>
                                      <p:to>
                                        <p:strVal val="visible"/>
                                      </p:to>
                                    </p:set>
                                    <p:animEffect transition="in" filter="wipe(left)">
                                      <p:cBhvr>
                                        <p:cTn id="10" dur="250"/>
                                        <p:tgtEl>
                                          <p:spTgt spid="306179">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06179">
                                            <p:txEl>
                                              <p:pRg st="4" end="4"/>
                                            </p:txEl>
                                          </p:spTgt>
                                        </p:tgtEl>
                                        <p:attrNameLst>
                                          <p:attrName>style.visibility</p:attrName>
                                        </p:attrNameLst>
                                      </p:cBhvr>
                                      <p:to>
                                        <p:strVal val="visible"/>
                                      </p:to>
                                    </p:set>
                                    <p:animEffect transition="in" filter="wipe(left)">
                                      <p:cBhvr>
                                        <p:cTn id="13" dur="250"/>
                                        <p:tgtEl>
                                          <p:spTgt spid="3061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3" name="Rectangle 3"/>
          <p:cNvSpPr>
            <a:spLocks noGrp="1" noRot="1" noChangeArrowheads="1"/>
          </p:cNvSpPr>
          <p:nvPr>
            <p:ph type="body" idx="1"/>
          </p:nvPr>
        </p:nvSpPr>
        <p:spPr>
          <a:xfrm>
            <a:off x="198755" y="1840865"/>
            <a:ext cx="8591550" cy="3868420"/>
          </a:xfrm>
        </p:spPr>
        <p:txBody>
          <a:bodyPr/>
          <a:lstStyle/>
          <a:p>
            <a:pPr>
              <a:lnSpc>
                <a:spcPct val="120000"/>
              </a:lnSpc>
            </a:pPr>
            <a:r>
              <a:rPr lang="zh-CN" altLang="en-US" sz="2800" dirty="0">
                <a:solidFill>
                  <a:srgbClr val="C00000"/>
                </a:solidFill>
                <a:latin typeface="微软雅黑" panose="020B0503020204020204" charset="-122"/>
                <a:ea typeface="微软雅黑" panose="020B0503020204020204" charset="-122"/>
              </a:rPr>
              <a:t>（</a:t>
            </a:r>
            <a:r>
              <a:rPr lang="en-US" altLang="zh-CN" sz="2800" dirty="0">
                <a:solidFill>
                  <a:srgbClr val="C00000"/>
                </a:solidFill>
                <a:latin typeface="微软雅黑" panose="020B0503020204020204" charset="-122"/>
                <a:ea typeface="微软雅黑" panose="020B0503020204020204" charset="-122"/>
              </a:rPr>
              <a:t>5</a:t>
            </a:r>
            <a:r>
              <a:rPr lang="zh-CN" altLang="en-US" sz="2800" dirty="0">
                <a:solidFill>
                  <a:srgbClr val="C00000"/>
                </a:solidFill>
                <a:latin typeface="微软雅黑" panose="020B0503020204020204" charset="-122"/>
                <a:ea typeface="微软雅黑" panose="020B0503020204020204" charset="-122"/>
              </a:rPr>
              <a:t>）系统开销</a:t>
            </a:r>
            <a:endParaRPr lang="zh-CN" altLang="en-US" sz="2800" dirty="0">
              <a:solidFill>
                <a:srgbClr val="C00000"/>
              </a:solidFill>
              <a:latin typeface="微软雅黑" panose="020B0503020204020204" charset="-122"/>
              <a:ea typeface="微软雅黑" panose="020B0503020204020204" charset="-122"/>
            </a:endParaRPr>
          </a:p>
          <a:p>
            <a:pPr lvl="1">
              <a:lnSpc>
                <a:spcPct val="120000"/>
              </a:lnSpc>
            </a:pPr>
            <a:r>
              <a:rPr lang="zh-CN" altLang="en-US" sz="2000" b="0" dirty="0">
                <a:latin typeface="微软雅黑" panose="020B0503020204020204" charset="-122"/>
                <a:ea typeface="微软雅黑" panose="020B0503020204020204" charset="-122"/>
              </a:rPr>
              <a:t> 线程的切换只需要保存和设置少量的寄存器内容，不涉及存储器管理方面的操作。</a:t>
            </a:r>
            <a:endParaRPr lang="en-US" altLang="zh-CN" sz="2000" b="0" dirty="0">
              <a:latin typeface="微软雅黑" panose="020B0503020204020204" charset="-122"/>
              <a:ea typeface="微软雅黑" panose="020B0503020204020204" charset="-122"/>
            </a:endParaRPr>
          </a:p>
          <a:p>
            <a:pPr lvl="1">
              <a:lnSpc>
                <a:spcPct val="120000"/>
              </a:lnSpc>
            </a:pPr>
            <a:r>
              <a:rPr lang="zh-CN" altLang="en-US" sz="2000" b="0" dirty="0">
                <a:latin typeface="微软雅黑" panose="020B0503020204020204" charset="-122"/>
                <a:ea typeface="微软雅黑" panose="020B0503020204020204" charset="-122"/>
              </a:rPr>
              <a:t>由于一个进程中的多个线程具有相同的地址空间，在同步和通信的实现方面线程也比进程容易。</a:t>
            </a:r>
            <a:r>
              <a:rPr lang="zh-CN" altLang="en-US" sz="2000" b="0" dirty="0">
                <a:solidFill>
                  <a:srgbClr val="00B0F0"/>
                </a:solidFill>
                <a:latin typeface="微软雅黑" panose="020B0503020204020204" charset="-122"/>
                <a:ea typeface="微软雅黑" panose="020B0503020204020204" charset="-122"/>
              </a:rPr>
              <a:t>在一些操作系统中，线程的切换、同步和通信都无须操作系统内核的干预。</a:t>
            </a:r>
            <a:endParaRPr lang="en-US" altLang="zh-CN" sz="2000" b="0" dirty="0">
              <a:solidFill>
                <a:srgbClr val="00B0F0"/>
              </a:solidFill>
              <a:latin typeface="微软雅黑" panose="020B0503020204020204" charset="-122"/>
              <a:ea typeface="微软雅黑" panose="020B0503020204020204" charset="-122"/>
            </a:endParaRPr>
          </a:p>
          <a:p>
            <a:pPr>
              <a:lnSpc>
                <a:spcPct val="120000"/>
              </a:lnSpc>
            </a:pPr>
            <a:r>
              <a:rPr lang="zh-CN" altLang="en-US" sz="2800" dirty="0">
                <a:solidFill>
                  <a:srgbClr val="C00000"/>
                </a:solidFill>
                <a:latin typeface="微软雅黑" panose="020B0503020204020204" charset="-122"/>
                <a:ea typeface="微软雅黑" panose="020B0503020204020204" charset="-122"/>
              </a:rPr>
              <a:t>（</a:t>
            </a:r>
            <a:r>
              <a:rPr lang="en-US" altLang="zh-CN" sz="2800" dirty="0">
                <a:solidFill>
                  <a:srgbClr val="C00000"/>
                </a:solidFill>
                <a:latin typeface="微软雅黑" panose="020B0503020204020204" charset="-122"/>
                <a:ea typeface="微软雅黑" panose="020B0503020204020204" charset="-122"/>
              </a:rPr>
              <a:t>6</a:t>
            </a:r>
            <a:r>
              <a:rPr lang="zh-CN" altLang="en-US" sz="2800" dirty="0">
                <a:solidFill>
                  <a:srgbClr val="C00000"/>
                </a:solidFill>
                <a:latin typeface="微软雅黑" panose="020B0503020204020204" charset="-122"/>
                <a:ea typeface="微软雅黑" panose="020B0503020204020204" charset="-122"/>
              </a:rPr>
              <a:t>）支持多处理机系统</a:t>
            </a:r>
            <a:endParaRPr lang="en-US" altLang="zh-CN" sz="2800" dirty="0">
              <a:solidFill>
                <a:srgbClr val="C00000"/>
              </a:solidFill>
              <a:latin typeface="微软雅黑" panose="020B0503020204020204" charset="-122"/>
              <a:ea typeface="微软雅黑" panose="020B0503020204020204" charset="-122"/>
            </a:endParaRPr>
          </a:p>
          <a:p>
            <a:pPr lvl="1">
              <a:lnSpc>
                <a:spcPct val="120000"/>
              </a:lnSpc>
            </a:pPr>
            <a:r>
              <a:rPr lang="zh-CN" altLang="en-US" sz="2000" b="0" dirty="0">
                <a:latin typeface="微软雅黑" panose="020B0503020204020204" charset="-122"/>
                <a:ea typeface="微软雅黑" panose="020B0503020204020204" charset="-122"/>
              </a:rPr>
              <a:t>一个进程分为多个线程分配到多个处理机上并行执行，可加速进程的完成。</a:t>
            </a:r>
            <a:endParaRPr lang="zh-CN" altLang="en-US" sz="2000" b="0" dirty="0">
              <a:latin typeface="微软雅黑" panose="020B0503020204020204" charset="-122"/>
              <a:ea typeface="微软雅黑" panose="020B0503020204020204" charset="-122"/>
            </a:endParaRPr>
          </a:p>
        </p:txBody>
      </p:sp>
      <p:sp>
        <p:nvSpPr>
          <p:cNvPr id="4" name="标题 1"/>
          <p:cNvSpPr txBox="1"/>
          <p:nvPr/>
        </p:nvSpPr>
        <p:spPr>
          <a:xfrm>
            <a:off x="5870195" y="1186221"/>
            <a:ext cx="3223260"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r>
              <a:rPr kumimoji="1" lang="en-US" altLang="zh-CN" sz="2100" dirty="0">
                <a:solidFill>
                  <a:srgbClr val="002060"/>
                </a:solidFill>
                <a:cs typeface="+mn-cs"/>
              </a:rPr>
              <a:t>2.7.2</a:t>
            </a:r>
            <a:r>
              <a:rPr kumimoji="1" lang="zh-CN" altLang="en-US" sz="2100" dirty="0">
                <a:solidFill>
                  <a:srgbClr val="002060"/>
                </a:solidFill>
                <a:cs typeface="+mn-cs"/>
              </a:rPr>
              <a:t> </a:t>
            </a:r>
            <a:r>
              <a:rPr lang="zh-CN" altLang="en-US" sz="2100" kern="0" dirty="0">
                <a:solidFill>
                  <a:schemeClr val="bg2">
                    <a:lumMod val="25000"/>
                  </a:schemeClr>
                </a:solidFill>
                <a:latin typeface="微软雅黑" panose="020B0503020204020204" charset="-122"/>
                <a:ea typeface="微软雅黑" panose="020B0503020204020204" charset="-122"/>
              </a:rPr>
              <a:t>线程与进程的比较</a:t>
            </a:r>
            <a:endParaRPr kumimoji="1" lang="zh-CN" altLang="en-US" sz="2100" b="0" dirty="0">
              <a:solidFill>
                <a:srgbClr val="002060"/>
              </a:solidFill>
              <a:cs typeface="+mn-cs"/>
            </a:endParaRPr>
          </a:p>
        </p:txBody>
      </p:sp>
      <p:sp>
        <p:nvSpPr>
          <p:cNvPr id="5" name="标题 1"/>
          <p:cNvSpPr>
            <a:spLocks noGrp="1"/>
          </p:cNvSpPr>
          <p:nvPr>
            <p:ph type="title"/>
          </p:nvPr>
        </p:nvSpPr>
        <p:spPr>
          <a:xfrm>
            <a:off x="1130555" y="1110154"/>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7203">
                                            <p:txEl>
                                              <p:pRg st="3" end="3"/>
                                            </p:txEl>
                                          </p:spTgt>
                                        </p:tgtEl>
                                        <p:attrNameLst>
                                          <p:attrName>style.visibility</p:attrName>
                                        </p:attrNameLst>
                                      </p:cBhvr>
                                      <p:to>
                                        <p:strVal val="visible"/>
                                      </p:to>
                                    </p:set>
                                    <p:animEffect transition="in" filter="wipe(left)">
                                      <p:cBhvr>
                                        <p:cTn id="7" dur="500"/>
                                        <p:tgtEl>
                                          <p:spTgt spid="307203">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07203">
                                            <p:txEl>
                                              <p:pRg st="4" end="4"/>
                                            </p:txEl>
                                          </p:spTgt>
                                        </p:tgtEl>
                                        <p:attrNameLst>
                                          <p:attrName>style.visibility</p:attrName>
                                        </p:attrNameLst>
                                      </p:cBhvr>
                                      <p:to>
                                        <p:strVal val="visible"/>
                                      </p:to>
                                    </p:set>
                                    <p:animEffect transition="in" filter="wipe(left)">
                                      <p:cBhvr>
                                        <p:cTn id="10" dur="500"/>
                                        <p:tgtEl>
                                          <p:spTgt spid="307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1091820" y="2476842"/>
            <a:ext cx="4572000" cy="270272"/>
          </a:xfrm>
        </p:spPr>
        <p:txBody>
          <a:bodyPr/>
          <a:lstStyle/>
          <a:p>
            <a:pPr marL="342900" indent="-342900" algn="l">
              <a:buClr>
                <a:schemeClr val="folHlink"/>
              </a:buClr>
              <a:buSzPct val="85000"/>
              <a:defRPr/>
            </a:pPr>
            <a:r>
              <a:rPr kumimoji="1" lang="en-US" altLang="zh-CN" sz="3200" b="1" kern="1200" dirty="0">
                <a:solidFill>
                  <a:schemeClr val="bg2">
                    <a:lumMod val="50000"/>
                  </a:schemeClr>
                </a:solidFill>
                <a:latin typeface="+mj-ea"/>
                <a:ea typeface="+mj-ea"/>
                <a:cs typeface="+mn-cs"/>
              </a:rPr>
              <a:t>1. </a:t>
            </a:r>
            <a:r>
              <a:rPr kumimoji="1" lang="zh-CN" altLang="en-US" sz="3200" b="1" kern="1200" dirty="0">
                <a:solidFill>
                  <a:schemeClr val="bg2">
                    <a:lumMod val="50000"/>
                  </a:schemeClr>
                </a:solidFill>
                <a:latin typeface="+mj-ea"/>
                <a:ea typeface="+mj-ea"/>
                <a:cs typeface="+mn-cs"/>
              </a:rPr>
              <a:t>线程的组成</a:t>
            </a:r>
            <a:endParaRPr kumimoji="1" lang="zh-CN" altLang="en-US" sz="3200" b="1" kern="1200" dirty="0">
              <a:solidFill>
                <a:schemeClr val="bg2">
                  <a:lumMod val="50000"/>
                </a:schemeClr>
              </a:solidFill>
              <a:latin typeface="+mj-ea"/>
              <a:ea typeface="+mj-ea"/>
              <a:cs typeface="+mn-cs"/>
            </a:endParaRPr>
          </a:p>
        </p:txBody>
      </p:sp>
      <p:sp>
        <p:nvSpPr>
          <p:cNvPr id="313347" name="Rectangle 3"/>
          <p:cNvSpPr>
            <a:spLocks noGrp="1" noChangeArrowheads="1"/>
          </p:cNvSpPr>
          <p:nvPr>
            <p:ph type="body" idx="1"/>
          </p:nvPr>
        </p:nvSpPr>
        <p:spPr>
          <a:xfrm>
            <a:off x="1043940" y="2841625"/>
            <a:ext cx="7447280" cy="918210"/>
          </a:xfrm>
        </p:spPr>
        <p:txBody>
          <a:bodyPr/>
          <a:lstStyle/>
          <a:p>
            <a:pPr>
              <a:lnSpc>
                <a:spcPct val="120000"/>
              </a:lnSpc>
              <a:spcBef>
                <a:spcPts val="0"/>
              </a:spcBef>
            </a:pPr>
            <a:r>
              <a:rPr lang="zh-CN" altLang="en-US" sz="2800" dirty="0">
                <a:latin typeface="+mj-ea"/>
                <a:ea typeface="+mj-ea"/>
              </a:rPr>
              <a:t>线程必须在某个进程内执行</a:t>
            </a:r>
            <a:endParaRPr lang="zh-CN" altLang="en-US" sz="2800" dirty="0">
              <a:latin typeface="+mj-ea"/>
              <a:ea typeface="+mj-ea"/>
            </a:endParaRPr>
          </a:p>
          <a:p>
            <a:pPr>
              <a:lnSpc>
                <a:spcPct val="120000"/>
              </a:lnSpc>
              <a:spcBef>
                <a:spcPts val="0"/>
              </a:spcBef>
            </a:pPr>
            <a:r>
              <a:rPr lang="zh-CN" altLang="en-US" sz="2800" dirty="0">
                <a:latin typeface="+mj-ea"/>
                <a:ea typeface="+mj-ea"/>
              </a:rPr>
              <a:t>一个进程可以包含一个线程或多个线程</a:t>
            </a:r>
            <a:endParaRPr lang="zh-CN" altLang="en-US" sz="2800" dirty="0">
              <a:latin typeface="+mj-ea"/>
              <a:ea typeface="+mj-ea"/>
            </a:endParaRPr>
          </a:p>
        </p:txBody>
      </p:sp>
      <p:sp>
        <p:nvSpPr>
          <p:cNvPr id="313348" name="Text Box 6"/>
          <p:cNvSpPr txBox="1">
            <a:spLocks noChangeArrowheads="1"/>
          </p:cNvSpPr>
          <p:nvPr/>
        </p:nvSpPr>
        <p:spPr bwMode="auto">
          <a:xfrm>
            <a:off x="3168253" y="6259116"/>
            <a:ext cx="2240280" cy="29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None/>
              <a:defRPr/>
            </a:pPr>
            <a:r>
              <a:rPr lang="zh-CN" altLang="en-US" sz="1350">
                <a:solidFill>
                  <a:prstClr val="black"/>
                </a:solidFill>
                <a:latin typeface="Tahoma" panose="020B0604030504040204" pitchFamily="34" charset="0"/>
                <a:ea typeface="楷体_GB2312" pitchFamily="49" charset="-122"/>
              </a:rPr>
              <a:t>单线程和多线程的进程模型</a:t>
            </a:r>
            <a:endParaRPr lang="zh-CN" altLang="en-US" sz="1350">
              <a:solidFill>
                <a:prstClr val="black"/>
              </a:solidFill>
              <a:latin typeface="Tahoma" panose="020B0604030504040204" pitchFamily="34" charset="0"/>
              <a:ea typeface="楷体_GB2312" pitchFamily="49" charset="-122"/>
            </a:endParaRPr>
          </a:p>
        </p:txBody>
      </p:sp>
      <p:pic>
        <p:nvPicPr>
          <p:cNvPr id="313349" name="Picture 7" descr="t2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322" y="4191002"/>
            <a:ext cx="4968478" cy="253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1091565" y="1727835"/>
            <a:ext cx="3484880" cy="3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8"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52401" y="2189942"/>
            <a:ext cx="7884159" cy="3288075"/>
          </a:xfrm>
        </p:spPr>
        <p:txBody>
          <a:bodyPr/>
          <a:lstStyle/>
          <a:p>
            <a:pPr indent="0">
              <a:lnSpc>
                <a:spcPct val="120000"/>
              </a:lnSpc>
              <a:buNone/>
              <a:defRPr/>
            </a:pPr>
            <a:r>
              <a:rPr lang="zh-CN" altLang="en-US" sz="1800" dirty="0">
                <a:latin typeface="微软雅黑" panose="020B0503020204020204" charset="-122"/>
                <a:ea typeface="微软雅黑" panose="020B0503020204020204" charset="-122"/>
              </a:rPr>
              <a:t>每个线程有一个</a:t>
            </a:r>
            <a:r>
              <a:rPr lang="en-US" altLang="zh-CN" sz="1800" dirty="0">
                <a:solidFill>
                  <a:srgbClr val="FF0000"/>
                </a:solidFill>
                <a:latin typeface="微软雅黑" panose="020B0503020204020204" charset="-122"/>
                <a:ea typeface="微软雅黑" panose="020B0503020204020204" charset="-122"/>
              </a:rPr>
              <a:t>TCB</a:t>
            </a:r>
            <a:r>
              <a:rPr lang="zh-CN" altLang="en-US" sz="1800" dirty="0">
                <a:latin typeface="微软雅黑" panose="020B0503020204020204" charset="-122"/>
                <a:ea typeface="微软雅黑" panose="020B0503020204020204" charset="-122"/>
              </a:rPr>
              <a:t>结构，即线程控制块，用于保存自己私有的信息，主要由以下部分组成：</a:t>
            </a:r>
            <a:endParaRPr lang="zh-CN" altLang="en-US" sz="1800" dirty="0">
              <a:latin typeface="微软雅黑" panose="020B0503020204020204" charset="-122"/>
              <a:ea typeface="微软雅黑" panose="020B0503020204020204" charset="-122"/>
            </a:endParaRPr>
          </a:p>
          <a:p>
            <a:pPr lvl="1">
              <a:lnSpc>
                <a:spcPct val="120000"/>
              </a:lnSpc>
              <a:defRPr/>
            </a:pPr>
            <a:r>
              <a:rPr lang="zh-CN" altLang="en-US" sz="1800" dirty="0"/>
              <a:t>一个唯一的</a:t>
            </a:r>
            <a:r>
              <a:rPr lang="zh-CN" altLang="en-US" sz="1800" dirty="0">
                <a:solidFill>
                  <a:srgbClr val="00B0F0"/>
                </a:solidFill>
              </a:rPr>
              <a:t>线程标识符 </a:t>
            </a:r>
            <a:endParaRPr lang="zh-CN" altLang="en-US" sz="1800" dirty="0">
              <a:solidFill>
                <a:srgbClr val="00B0F0"/>
              </a:solidFill>
            </a:endParaRPr>
          </a:p>
          <a:p>
            <a:pPr lvl="1">
              <a:lnSpc>
                <a:spcPct val="120000"/>
              </a:lnSpc>
              <a:defRPr/>
            </a:pPr>
            <a:r>
              <a:rPr lang="zh-CN" altLang="en-US" sz="1800" dirty="0"/>
              <a:t>一组</a:t>
            </a:r>
            <a:r>
              <a:rPr lang="zh-CN" altLang="en-US" sz="1800" dirty="0">
                <a:solidFill>
                  <a:srgbClr val="00B0F0"/>
                </a:solidFill>
              </a:rPr>
              <a:t>寄存器</a:t>
            </a:r>
            <a:r>
              <a:rPr lang="zh-CN" altLang="en-US" sz="1800" dirty="0"/>
              <a:t> ：</a:t>
            </a:r>
            <a:r>
              <a:rPr kumimoji="1" lang="zh-CN" altLang="en-US" sz="1800" dirty="0"/>
              <a:t>包括程序计数器、状态寄存器、通用寄存器的内容；</a:t>
            </a:r>
            <a:endParaRPr kumimoji="1" lang="en-US" altLang="zh-CN" sz="1800" dirty="0"/>
          </a:p>
          <a:p>
            <a:pPr lvl="1">
              <a:lnSpc>
                <a:spcPct val="120000"/>
              </a:lnSpc>
              <a:defRPr/>
            </a:pPr>
            <a:r>
              <a:rPr lang="zh-CN" altLang="en-US" sz="1800" dirty="0"/>
              <a:t>线程运行</a:t>
            </a:r>
            <a:r>
              <a:rPr lang="zh-CN" altLang="en-US" sz="1800" dirty="0">
                <a:solidFill>
                  <a:srgbClr val="00B0F0"/>
                </a:solidFill>
              </a:rPr>
              <a:t>状态</a:t>
            </a:r>
            <a:r>
              <a:rPr lang="zh-CN" altLang="en-US" sz="1800" dirty="0"/>
              <a:t>：用于描述线程正处于何种运行状态； </a:t>
            </a:r>
            <a:endParaRPr lang="zh-CN" altLang="en-US" sz="1800" dirty="0"/>
          </a:p>
          <a:p>
            <a:pPr lvl="1">
              <a:lnSpc>
                <a:spcPct val="120000"/>
              </a:lnSpc>
              <a:defRPr/>
            </a:pPr>
            <a:r>
              <a:rPr lang="zh-CN" altLang="en-US" sz="1800" dirty="0"/>
              <a:t>优先级：描述线程执行的优先程度； </a:t>
            </a:r>
            <a:endParaRPr lang="zh-CN" altLang="en-US" sz="1800" dirty="0"/>
          </a:p>
          <a:p>
            <a:pPr lvl="1">
              <a:lnSpc>
                <a:spcPct val="120000"/>
              </a:lnSpc>
              <a:defRPr/>
            </a:pPr>
            <a:r>
              <a:rPr lang="zh-CN" altLang="en-US" sz="1800" dirty="0"/>
              <a:t>线程专有</a:t>
            </a:r>
            <a:r>
              <a:rPr lang="zh-CN" altLang="en-US" sz="1800" dirty="0">
                <a:solidFill>
                  <a:srgbClr val="00B0F0"/>
                </a:solidFill>
              </a:rPr>
              <a:t>存储器</a:t>
            </a:r>
            <a:r>
              <a:rPr lang="zh-CN" altLang="en-US" sz="1800" dirty="0"/>
              <a:t>：用于保存线程自己的局部变量拷贝；</a:t>
            </a:r>
            <a:endParaRPr lang="zh-CN" altLang="en-US" sz="1800" dirty="0"/>
          </a:p>
          <a:p>
            <a:pPr lvl="1">
              <a:lnSpc>
                <a:spcPct val="120000"/>
              </a:lnSpc>
              <a:defRPr/>
            </a:pPr>
            <a:r>
              <a:rPr lang="zh-CN" altLang="en-US" sz="1800" dirty="0">
                <a:solidFill>
                  <a:srgbClr val="00B0F0"/>
                </a:solidFill>
              </a:rPr>
              <a:t>信号屏蔽</a:t>
            </a:r>
            <a:r>
              <a:rPr lang="zh-CN" altLang="en-US" sz="1800" dirty="0"/>
              <a:t>：对某些信号加以屏蔽。 </a:t>
            </a:r>
            <a:endParaRPr lang="zh-CN" altLang="en-US" sz="1800" dirty="0"/>
          </a:p>
          <a:p>
            <a:pPr lvl="1">
              <a:lnSpc>
                <a:spcPct val="120000"/>
              </a:lnSpc>
              <a:defRPr/>
            </a:pPr>
            <a:r>
              <a:rPr lang="zh-CN" altLang="en-US" sz="1800" dirty="0"/>
              <a:t>两个</a:t>
            </a:r>
            <a:r>
              <a:rPr lang="zh-CN" altLang="en-US" sz="1800" dirty="0">
                <a:solidFill>
                  <a:srgbClr val="00B0F0"/>
                </a:solidFill>
              </a:rPr>
              <a:t>栈指针</a:t>
            </a:r>
            <a:r>
              <a:rPr lang="zh-CN" altLang="en-US" sz="1800" dirty="0"/>
              <a:t>：核心栈、用户栈 </a:t>
            </a:r>
            <a:endParaRPr lang="zh-CN" altLang="en-US" sz="1800" dirty="0"/>
          </a:p>
          <a:p>
            <a:pPr>
              <a:lnSpc>
                <a:spcPct val="120000"/>
              </a:lnSpc>
            </a:pPr>
            <a:endParaRPr lang="zh-CN" altLang="en-US" sz="1800" dirty="0">
              <a:latin typeface="微软雅黑" panose="020B0503020204020204" charset="-122"/>
              <a:ea typeface="微软雅黑" panose="020B0503020204020204" charset="-122"/>
            </a:endParaRPr>
          </a:p>
        </p:txBody>
      </p:sp>
      <p:sp>
        <p:nvSpPr>
          <p:cNvPr id="3" name="标题 2"/>
          <p:cNvSpPr>
            <a:spLocks noGrp="1"/>
          </p:cNvSpPr>
          <p:nvPr>
            <p:ph type="title"/>
          </p:nvPr>
        </p:nvSpPr>
        <p:spPr>
          <a:xfrm>
            <a:off x="685800" y="1905000"/>
            <a:ext cx="6188075" cy="412115"/>
          </a:xfrm>
        </p:spPr>
        <p:txBody>
          <a:bodyPr/>
          <a:lstStyle/>
          <a:p>
            <a:pPr algn="l"/>
            <a:r>
              <a:rPr kumimoji="1" lang="en-US" altLang="zh-CN" sz="3200" dirty="0">
                <a:solidFill>
                  <a:schemeClr val="bg2">
                    <a:lumMod val="50000"/>
                  </a:schemeClr>
                </a:solidFill>
                <a:latin typeface="+mj-ea"/>
                <a:ea typeface="+mj-ea"/>
                <a:cs typeface="+mn-cs"/>
              </a:rPr>
              <a:t>1.</a:t>
            </a:r>
            <a:r>
              <a:rPr kumimoji="1" lang="zh-CN" altLang="en-US" sz="3200" dirty="0">
                <a:solidFill>
                  <a:schemeClr val="bg2">
                    <a:lumMod val="50000"/>
                  </a:schemeClr>
                </a:solidFill>
                <a:latin typeface="+mj-ea"/>
                <a:ea typeface="+mj-ea"/>
                <a:cs typeface="+mn-cs"/>
              </a:rPr>
              <a:t> 线程的组成（续）</a:t>
            </a:r>
            <a:br>
              <a:rPr lang="en-US" altLang="zh-CN" sz="3200" dirty="0">
                <a:solidFill>
                  <a:srgbClr val="0033CC"/>
                </a:solidFill>
                <a:latin typeface="楷体_GB2312" pitchFamily="49" charset="-122"/>
                <a:ea typeface="楷体_GB2312" pitchFamily="49" charset="-122"/>
              </a:rPr>
            </a:br>
            <a:endParaRPr lang="en-US" altLang="zh-CN" sz="3200" dirty="0">
              <a:solidFill>
                <a:srgbClr val="0033CC"/>
              </a:solidFill>
              <a:latin typeface="楷体_GB2312" pitchFamily="49" charset="-122"/>
              <a:ea typeface="楷体_GB2312" pitchFamily="49" charset="-122"/>
            </a:endParaRPr>
          </a:p>
        </p:txBody>
      </p:sp>
      <p:pic>
        <p:nvPicPr>
          <p:cNvPr id="4" name="Picture 4" descr="T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43400" y="4895850"/>
            <a:ext cx="4830445" cy="178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6699467" y="1208515"/>
            <a:ext cx="2217194" cy="67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6"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Rectangle 3"/>
          <p:cNvSpPr>
            <a:spLocks noGrp="1" noChangeArrowheads="1"/>
          </p:cNvSpPr>
          <p:nvPr>
            <p:ph idx="1"/>
          </p:nvPr>
        </p:nvSpPr>
        <p:spPr>
          <a:xfrm>
            <a:off x="655321" y="2895541"/>
            <a:ext cx="7833360" cy="2924393"/>
          </a:xfrm>
        </p:spPr>
        <p:txBody>
          <a:bodyPr/>
          <a:lstStyle/>
          <a:p>
            <a:pPr>
              <a:defRPr/>
            </a:pPr>
            <a:r>
              <a:rPr lang="zh-CN" altLang="en-US" sz="2400" dirty="0">
                <a:latin typeface="微软雅黑" panose="020B0503020204020204" charset="-122"/>
                <a:ea typeface="微软雅黑" panose="020B0503020204020204" charset="-122"/>
              </a:rPr>
              <a:t>同进程一样，每个线程也有一个线程</a:t>
            </a:r>
            <a:r>
              <a:rPr lang="en-US" altLang="zh-CN" sz="2400" dirty="0">
                <a:latin typeface="微软雅黑" panose="020B0503020204020204" charset="-122"/>
                <a:ea typeface="微软雅黑" panose="020B0503020204020204" charset="-122"/>
              </a:rPr>
              <a:t>ID</a:t>
            </a:r>
            <a:endParaRPr lang="en-US" altLang="zh-CN" sz="2400" dirty="0">
              <a:latin typeface="微软雅黑" panose="020B0503020204020204" charset="-122"/>
              <a:ea typeface="微软雅黑" panose="020B0503020204020204" charset="-122"/>
            </a:endParaRPr>
          </a:p>
          <a:p>
            <a:pPr>
              <a:defRPr/>
            </a:pPr>
            <a:r>
              <a:rPr lang="zh-CN" altLang="en-US" sz="2400" dirty="0">
                <a:latin typeface="微软雅黑" panose="020B0503020204020204" charset="-122"/>
                <a:ea typeface="微软雅黑" panose="020B0503020204020204" charset="-122"/>
              </a:rPr>
              <a:t>进程</a:t>
            </a:r>
            <a:r>
              <a:rPr lang="en-US" altLang="zh-CN" sz="2400" dirty="0">
                <a:latin typeface="微软雅黑" panose="020B0503020204020204" charset="-122"/>
                <a:ea typeface="微软雅黑" panose="020B0503020204020204" charset="-122"/>
              </a:rPr>
              <a:t>ID</a:t>
            </a:r>
            <a:r>
              <a:rPr lang="zh-CN" altLang="en-US" sz="2400" dirty="0">
                <a:latin typeface="微软雅黑" panose="020B0503020204020204" charset="-122"/>
                <a:ea typeface="微软雅黑" panose="020B0503020204020204" charset="-122"/>
              </a:rPr>
              <a:t>在整个系统中是唯一的，线程</a:t>
            </a:r>
            <a:r>
              <a:rPr lang="en-US" altLang="zh-CN" sz="2400" dirty="0">
                <a:latin typeface="微软雅黑" panose="020B0503020204020204" charset="-122"/>
                <a:ea typeface="微软雅黑" panose="020B0503020204020204" charset="-122"/>
              </a:rPr>
              <a:t>ID</a:t>
            </a:r>
            <a:r>
              <a:rPr lang="zh-CN" altLang="en-US" sz="2400" dirty="0">
                <a:latin typeface="微软雅黑" panose="020B0503020204020204" charset="-122"/>
                <a:ea typeface="微软雅黑" panose="020B0503020204020204" charset="-122"/>
              </a:rPr>
              <a:t>只在它所属的进程环境中唯一</a:t>
            </a:r>
            <a:endParaRPr lang="zh-CN" altLang="en-US" sz="2400" dirty="0">
              <a:latin typeface="微软雅黑" panose="020B0503020204020204" charset="-122"/>
              <a:ea typeface="微软雅黑" panose="020B0503020204020204" charset="-122"/>
            </a:endParaRPr>
          </a:p>
          <a:p>
            <a:pPr>
              <a:defRPr/>
            </a:pPr>
            <a:r>
              <a:rPr lang="zh-CN" altLang="en-US" sz="2400" dirty="0">
                <a:latin typeface="微软雅黑" panose="020B0503020204020204" charset="-122"/>
                <a:ea typeface="微软雅黑" panose="020B0503020204020204" charset="-122"/>
              </a:rPr>
              <a:t>线程</a:t>
            </a:r>
            <a:r>
              <a:rPr lang="en-US" altLang="zh-CN" sz="2400" dirty="0">
                <a:latin typeface="微软雅黑" panose="020B0503020204020204" charset="-122"/>
                <a:ea typeface="微软雅黑" panose="020B0503020204020204" charset="-122"/>
              </a:rPr>
              <a:t>ID</a:t>
            </a:r>
            <a:r>
              <a:rPr lang="zh-CN" altLang="en-US" sz="2400" dirty="0">
                <a:latin typeface="微软雅黑" panose="020B0503020204020204" charset="-122"/>
                <a:ea typeface="微软雅黑" panose="020B0503020204020204" charset="-122"/>
              </a:rPr>
              <a:t>的类型是</a:t>
            </a:r>
            <a:r>
              <a:rPr lang="en-US" altLang="zh-CN" sz="2400" dirty="0" err="1">
                <a:latin typeface="微软雅黑" panose="020B0503020204020204" charset="-122"/>
                <a:ea typeface="微软雅黑" panose="020B0503020204020204" charset="-122"/>
              </a:rPr>
              <a:t>pthread_t</a:t>
            </a:r>
            <a:r>
              <a:rPr lang="zh-CN" altLang="en-US" sz="2400" dirty="0">
                <a:latin typeface="微软雅黑" panose="020B0503020204020204" charset="-122"/>
                <a:ea typeface="微软雅黑" panose="020B0503020204020204" charset="-122"/>
              </a:rPr>
              <a:t>，在</a:t>
            </a:r>
            <a:r>
              <a:rPr lang="en-US" altLang="zh-CN" sz="2400" dirty="0">
                <a:latin typeface="微软雅黑" panose="020B0503020204020204" charset="-122"/>
                <a:ea typeface="微软雅黑" panose="020B0503020204020204" charset="-122"/>
              </a:rPr>
              <a:t>Linux</a:t>
            </a:r>
            <a:r>
              <a:rPr lang="zh-CN" altLang="en-US" sz="2400" dirty="0">
                <a:latin typeface="微软雅黑" panose="020B0503020204020204" charset="-122"/>
                <a:ea typeface="微软雅黑" panose="020B0503020204020204" charset="-122"/>
              </a:rPr>
              <a:t>中的定义如下：</a:t>
            </a:r>
            <a:endParaRPr lang="zh-CN" altLang="en-US" sz="2400" dirty="0">
              <a:latin typeface="微软雅黑" panose="020B0503020204020204" charset="-122"/>
              <a:ea typeface="微软雅黑" panose="020B0503020204020204" charset="-122"/>
            </a:endParaRPr>
          </a:p>
          <a:p>
            <a:pPr marL="205740" lvl="1" indent="0">
              <a:buNone/>
              <a:defRPr/>
            </a:pPr>
            <a:r>
              <a:rPr lang="en-US" altLang="zh-CN" sz="3200" b="0" dirty="0">
                <a:latin typeface="微软雅黑" panose="020B0503020204020204" charset="-122"/>
                <a:ea typeface="微软雅黑" panose="020B0503020204020204" charset="-122"/>
              </a:rPr>
              <a:t>    typedef unsigned long int </a:t>
            </a:r>
            <a:r>
              <a:rPr lang="en-US" altLang="zh-CN" sz="3200" b="0" dirty="0" err="1">
                <a:solidFill>
                  <a:srgbClr val="FF0000"/>
                </a:solidFill>
                <a:latin typeface="微软雅黑" panose="020B0503020204020204" charset="-122"/>
                <a:ea typeface="微软雅黑" panose="020B0503020204020204" charset="-122"/>
              </a:rPr>
              <a:t>pthread_t</a:t>
            </a:r>
            <a:endParaRPr lang="en-US" altLang="zh-CN" sz="3200" b="0" dirty="0">
              <a:solidFill>
                <a:srgbClr val="FF0000"/>
              </a:solidFill>
              <a:latin typeface="微软雅黑" panose="020B0503020204020204" charset="-122"/>
              <a:ea typeface="微软雅黑" panose="020B0503020204020204" charset="-122"/>
            </a:endParaRPr>
          </a:p>
          <a:p>
            <a:pPr marL="457200" lvl="1" indent="0">
              <a:buNone/>
              <a:defRPr/>
            </a:pPr>
            <a:r>
              <a:rPr lang="zh-CN" altLang="en-US" sz="3200" b="0" dirty="0">
                <a:latin typeface="微软雅黑" panose="020B0503020204020204" charset="-122"/>
                <a:ea typeface="微软雅黑" panose="020B0503020204020204" charset="-122"/>
              </a:rPr>
              <a:t>（</a:t>
            </a:r>
            <a:r>
              <a:rPr lang="en-US" altLang="zh-CN" sz="3200" b="0" dirty="0">
                <a:latin typeface="微软雅黑" panose="020B0503020204020204" charset="-122"/>
                <a:ea typeface="微软雅黑" panose="020B0503020204020204" charset="-122"/>
              </a:rPr>
              <a:t>/</a:t>
            </a:r>
            <a:r>
              <a:rPr lang="en-US" altLang="zh-CN" sz="3200" b="0" dirty="0" err="1">
                <a:latin typeface="微软雅黑" panose="020B0503020204020204" charset="-122"/>
                <a:ea typeface="微软雅黑" panose="020B0503020204020204" charset="-122"/>
              </a:rPr>
              <a:t>usr</a:t>
            </a:r>
            <a:r>
              <a:rPr lang="en-US" altLang="zh-CN" sz="3200" b="0" dirty="0">
                <a:latin typeface="微软雅黑" panose="020B0503020204020204" charset="-122"/>
                <a:ea typeface="微软雅黑" panose="020B0503020204020204" charset="-122"/>
              </a:rPr>
              <a:t>/include/bits/</a:t>
            </a:r>
            <a:r>
              <a:rPr lang="en-US" altLang="zh-CN" sz="3200" b="0" dirty="0" err="1">
                <a:latin typeface="微软雅黑" panose="020B0503020204020204" charset="-122"/>
                <a:ea typeface="微软雅黑" panose="020B0503020204020204" charset="-122"/>
              </a:rPr>
              <a:t>pthreadtypes.h</a:t>
            </a:r>
            <a:r>
              <a:rPr lang="zh-CN" altLang="en-US" sz="3200" b="0" dirty="0">
                <a:latin typeface="微软雅黑" panose="020B0503020204020204" charset="-122"/>
                <a:ea typeface="微软雅黑" panose="020B0503020204020204" charset="-122"/>
              </a:rPr>
              <a:t>）</a:t>
            </a:r>
            <a:endParaRPr lang="zh-CN" altLang="en-US" sz="3200" b="0" dirty="0">
              <a:latin typeface="微软雅黑" panose="020B0503020204020204" charset="-122"/>
              <a:ea typeface="微软雅黑" panose="020B0503020204020204" charset="-122"/>
            </a:endParaRPr>
          </a:p>
          <a:p>
            <a:pPr lvl="1">
              <a:defRPr/>
            </a:pPr>
            <a:endParaRPr lang="zh-CN" altLang="en-US" sz="3200" b="0" dirty="0">
              <a:latin typeface="微软雅黑" panose="020B0503020204020204" charset="-122"/>
              <a:ea typeface="微软雅黑" panose="020B0503020204020204" charset="-122"/>
            </a:endParaRPr>
          </a:p>
        </p:txBody>
      </p:sp>
      <p:sp>
        <p:nvSpPr>
          <p:cNvPr id="676866" name="Rectangle 2"/>
          <p:cNvSpPr>
            <a:spLocks noGrp="1" noChangeArrowheads="1"/>
          </p:cNvSpPr>
          <p:nvPr>
            <p:ph type="title"/>
          </p:nvPr>
        </p:nvSpPr>
        <p:spPr>
          <a:xfrm>
            <a:off x="1219200" y="2362200"/>
            <a:ext cx="3486785" cy="412115"/>
          </a:xfrm>
        </p:spPr>
        <p:txBody>
          <a:bodyPr/>
          <a:lstStyle/>
          <a:p>
            <a:pPr algn="l">
              <a:defRPr/>
            </a:pPr>
            <a:r>
              <a:rPr lang="zh-CN" altLang="en-US" sz="3200" dirty="0">
                <a:solidFill>
                  <a:srgbClr val="FF0000"/>
                </a:solidFill>
              </a:rPr>
              <a:t>线程</a:t>
            </a:r>
            <a:r>
              <a:rPr lang="en-US" altLang="zh-CN" sz="3200" dirty="0">
                <a:solidFill>
                  <a:srgbClr val="FF0000"/>
                </a:solidFill>
              </a:rPr>
              <a:t>ID</a:t>
            </a:r>
            <a:endParaRPr lang="en-US" altLang="zh-CN" sz="3200" dirty="0">
              <a:solidFill>
                <a:srgbClr val="FF0000"/>
              </a:solidFill>
            </a:endParaRPr>
          </a:p>
        </p:txBody>
      </p:sp>
      <p:sp>
        <p:nvSpPr>
          <p:cNvPr id="155650" name="灯片编号占位符 5"/>
          <p:cNvSpPr>
            <a:spLocks noGrp="1"/>
          </p:cNvSpPr>
          <p:nvPr>
            <p:ph type="sldNum" sz="quarter" idx="4294967295"/>
          </p:nvPr>
        </p:nvSpPr>
        <p:spPr bwMode="auto">
          <a:xfrm>
            <a:off x="6057900" y="5541169"/>
            <a:ext cx="1600200" cy="3571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z="1050" smtClean="0"/>
            </a:fld>
            <a:endParaRPr lang="en-US" altLang="zh-CN" sz="1050"/>
          </a:p>
        </p:txBody>
      </p:sp>
      <p:sp>
        <p:nvSpPr>
          <p:cNvPr id="5" name="标题 2"/>
          <p:cNvSpPr txBox="1"/>
          <p:nvPr/>
        </p:nvSpPr>
        <p:spPr>
          <a:xfrm>
            <a:off x="1130300" y="1732280"/>
            <a:ext cx="3575685" cy="41211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r>
              <a:rPr kumimoji="1" lang="en-US" altLang="zh-CN" sz="2800" dirty="0">
                <a:solidFill>
                  <a:schemeClr val="bg2">
                    <a:lumMod val="50000"/>
                  </a:schemeClr>
                </a:solidFill>
                <a:latin typeface="+mj-ea"/>
                <a:ea typeface="+mj-ea"/>
                <a:cs typeface="+mn-cs"/>
              </a:rPr>
              <a:t>1.</a:t>
            </a:r>
            <a:r>
              <a:rPr kumimoji="1" lang="zh-CN" altLang="en-US" sz="2800" dirty="0">
                <a:solidFill>
                  <a:schemeClr val="bg2">
                    <a:lumMod val="50000"/>
                  </a:schemeClr>
                </a:solidFill>
                <a:latin typeface="+mj-ea"/>
                <a:ea typeface="+mj-ea"/>
                <a:cs typeface="+mn-cs"/>
              </a:rPr>
              <a:t> 线程的组成（续</a:t>
            </a:r>
            <a:r>
              <a:rPr lang="zh-CN" altLang="en-US" sz="2800" dirty="0">
                <a:solidFill>
                  <a:srgbClr val="0033CC"/>
                </a:solidFill>
                <a:latin typeface="楷体_GB2312" pitchFamily="49" charset="-122"/>
                <a:ea typeface="楷体_GB2312" pitchFamily="49" charset="-122"/>
              </a:rPr>
              <a:t>）</a:t>
            </a:r>
            <a:endParaRPr lang="zh-CN" altLang="en-US" sz="2800" dirty="0">
              <a:solidFill>
                <a:srgbClr val="0033CC"/>
              </a:solidFill>
              <a:latin typeface="楷体_GB2312" pitchFamily="49" charset="-122"/>
              <a:ea typeface="楷体_GB2312" pitchFamily="49" charset="-122"/>
            </a:endParaRPr>
          </a:p>
        </p:txBody>
      </p:sp>
      <p:sp>
        <p:nvSpPr>
          <p:cNvPr id="7" name="矩形 6"/>
          <p:cNvSpPr/>
          <p:nvPr/>
        </p:nvSpPr>
        <p:spPr>
          <a:xfrm>
            <a:off x="6699467" y="1208515"/>
            <a:ext cx="2217194" cy="67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8"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3"/>
          <p:cNvSpPr>
            <a:spLocks noGrp="1" noChangeArrowheads="1"/>
          </p:cNvSpPr>
          <p:nvPr>
            <p:ph idx="1"/>
          </p:nvPr>
        </p:nvSpPr>
        <p:spPr>
          <a:xfrm>
            <a:off x="1543050" y="2831525"/>
            <a:ext cx="6192573" cy="1987446"/>
          </a:xfrm>
        </p:spPr>
        <p:txBody>
          <a:bodyPr/>
          <a:lstStyle/>
          <a:p>
            <a:r>
              <a:rPr lang="en-US" altLang="zh-CN" dirty="0" err="1">
                <a:latin typeface="微软雅黑" panose="020B0503020204020204" charset="-122"/>
                <a:ea typeface="微软雅黑" panose="020B0503020204020204" charset="-122"/>
              </a:rPr>
              <a:t>pthread_self</a:t>
            </a:r>
            <a:r>
              <a:rPr lang="zh-CN" altLang="en-US" dirty="0">
                <a:latin typeface="微软雅黑" panose="020B0503020204020204" charset="-122"/>
                <a:ea typeface="微软雅黑" panose="020B0503020204020204" charset="-122"/>
              </a:rPr>
              <a:t>函数可以让调用线程获取自己的线程</a:t>
            </a:r>
            <a:r>
              <a:rPr lang="en-US" altLang="zh-CN" dirty="0">
                <a:latin typeface="微软雅黑" panose="020B0503020204020204" charset="-122"/>
                <a:ea typeface="微软雅黑" panose="020B0503020204020204" charset="-122"/>
              </a:rPr>
              <a:t>ID</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函数原型</a:t>
            </a:r>
            <a:endParaRPr lang="en-US" altLang="zh-CN" dirty="0">
              <a:latin typeface="微软雅黑" panose="020B0503020204020204" charset="-122"/>
              <a:ea typeface="微软雅黑" panose="020B0503020204020204" charset="-122"/>
            </a:endParaRPr>
          </a:p>
          <a:p>
            <a:pPr lvl="1"/>
            <a:r>
              <a:rPr lang="zh-CN" altLang="en-US" sz="1500" b="0" dirty="0">
                <a:latin typeface="微软雅黑" panose="020B0503020204020204" charset="-122"/>
                <a:ea typeface="微软雅黑" panose="020B0503020204020204" charset="-122"/>
              </a:rPr>
              <a:t>头文件：</a:t>
            </a:r>
            <a:r>
              <a:rPr lang="en-US" altLang="zh-CN" sz="1500" b="0" dirty="0" err="1">
                <a:latin typeface="微软雅黑" panose="020B0503020204020204" charset="-122"/>
                <a:ea typeface="微软雅黑" panose="020B0503020204020204" charset="-122"/>
              </a:rPr>
              <a:t>pthread.h</a:t>
            </a:r>
            <a:endParaRPr lang="en-US" altLang="zh-CN" sz="1500" b="0" dirty="0">
              <a:latin typeface="微软雅黑" panose="020B0503020204020204" charset="-122"/>
              <a:ea typeface="微软雅黑" panose="020B0503020204020204" charset="-122"/>
            </a:endParaRPr>
          </a:p>
          <a:p>
            <a:pPr lvl="1"/>
            <a:r>
              <a:rPr lang="en-US" altLang="zh-CN" sz="1500" b="0" dirty="0" err="1">
                <a:latin typeface="微软雅黑" panose="020B0503020204020204" charset="-122"/>
                <a:ea typeface="微软雅黑" panose="020B0503020204020204" charset="-122"/>
              </a:rPr>
              <a:t>pthread_t</a:t>
            </a:r>
            <a:r>
              <a:rPr lang="zh-CN" altLang="en-US" sz="1500" b="0" dirty="0">
                <a:latin typeface="微软雅黑" panose="020B0503020204020204" charset="-122"/>
                <a:ea typeface="微软雅黑" panose="020B0503020204020204" charset="-122"/>
              </a:rPr>
              <a:t> </a:t>
            </a:r>
            <a:r>
              <a:rPr lang="en-US" altLang="zh-CN" sz="1500" b="0" dirty="0">
                <a:latin typeface="微软雅黑" panose="020B0503020204020204" charset="-122"/>
                <a:ea typeface="微软雅黑" panose="020B0503020204020204" charset="-122"/>
              </a:rPr>
              <a:t> </a:t>
            </a:r>
            <a:r>
              <a:rPr lang="en-US" altLang="zh-CN" sz="1500" b="0" dirty="0" err="1">
                <a:solidFill>
                  <a:srgbClr val="FF0000"/>
                </a:solidFill>
                <a:latin typeface="微软雅黑" panose="020B0503020204020204" charset="-122"/>
                <a:ea typeface="微软雅黑" panose="020B0503020204020204" charset="-122"/>
              </a:rPr>
              <a:t>pthread_self</a:t>
            </a:r>
            <a:r>
              <a:rPr lang="en-US" altLang="zh-CN" sz="1500" b="0" dirty="0" smtClean="0">
                <a:solidFill>
                  <a:srgbClr val="FF0000"/>
                </a:solidFill>
                <a:latin typeface="微软雅黑" panose="020B0503020204020204" charset="-122"/>
                <a:ea typeface="微软雅黑" panose="020B0503020204020204" charset="-122"/>
              </a:rPr>
              <a:t>( );</a:t>
            </a:r>
            <a:endParaRPr lang="en-US" altLang="zh-CN" sz="1500" b="0" dirty="0">
              <a:solidFill>
                <a:srgbClr val="FF0000"/>
              </a:solidFill>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返回调用线程的线程</a:t>
            </a:r>
            <a:r>
              <a:rPr lang="en-US" altLang="zh-CN" dirty="0">
                <a:latin typeface="微软雅黑" panose="020B0503020204020204" charset="-122"/>
                <a:ea typeface="微软雅黑" panose="020B0503020204020204" charset="-122"/>
              </a:rPr>
              <a:t>ID</a:t>
            </a:r>
            <a:endParaRPr lang="en-US" altLang="zh-CN" dirty="0">
              <a:latin typeface="微软雅黑" panose="020B0503020204020204" charset="-122"/>
              <a:ea typeface="微软雅黑" panose="020B0503020204020204" charset="-122"/>
            </a:endParaRPr>
          </a:p>
        </p:txBody>
      </p:sp>
      <p:sp>
        <p:nvSpPr>
          <p:cNvPr id="677890" name="Rectangle 2"/>
          <p:cNvSpPr>
            <a:spLocks noGrp="1" noChangeArrowheads="1"/>
          </p:cNvSpPr>
          <p:nvPr>
            <p:ph type="title"/>
          </p:nvPr>
        </p:nvSpPr>
        <p:spPr>
          <a:xfrm>
            <a:off x="1452168" y="2291540"/>
            <a:ext cx="1695164" cy="411956"/>
          </a:xfrm>
        </p:spPr>
        <p:txBody>
          <a:bodyPr/>
          <a:lstStyle/>
          <a:p>
            <a:pPr algn="l">
              <a:defRPr/>
            </a:pPr>
            <a:r>
              <a:rPr lang="zh-CN" altLang="en-US" dirty="0">
                <a:solidFill>
                  <a:srgbClr val="FF0000"/>
                </a:solidFill>
              </a:rPr>
              <a:t>获取线程</a:t>
            </a:r>
            <a:r>
              <a:rPr lang="en-US" altLang="zh-CN" dirty="0">
                <a:solidFill>
                  <a:srgbClr val="FF0000"/>
                </a:solidFill>
              </a:rPr>
              <a:t>ID</a:t>
            </a:r>
            <a:endParaRPr lang="zh-CN" altLang="en-US" dirty="0">
              <a:solidFill>
                <a:srgbClr val="FF0000"/>
              </a:solidFill>
            </a:endParaRPr>
          </a:p>
        </p:txBody>
      </p:sp>
      <p:sp>
        <p:nvSpPr>
          <p:cNvPr id="5" name="标题 2"/>
          <p:cNvSpPr txBox="1"/>
          <p:nvPr/>
        </p:nvSpPr>
        <p:spPr>
          <a:xfrm>
            <a:off x="1130555" y="1764077"/>
            <a:ext cx="2211927" cy="411956"/>
          </a:xfrm>
          <a:prstGeom prst="rect">
            <a:avLst/>
          </a:prstGeom>
        </p:spPr>
        <p:txBody>
          <a:bodyPr/>
          <a:lstStyle>
            <a:defPPr rtl="0">
              <a:defRPr lang="en-US"/>
            </a:defPPr>
            <a:lvl1pPr defTabSz="685800">
              <a:lnSpc>
                <a:spcPct val="90000"/>
              </a:lnSpc>
              <a:spcBef>
                <a:spcPct val="0"/>
              </a:spcBef>
              <a:buNone/>
              <a:defRPr kumimoji="1" sz="2400" b="1">
                <a:solidFill>
                  <a:schemeClr val="bg2">
                    <a:lumMod val="50000"/>
                  </a:schemeClr>
                </a:solidFill>
                <a:latin typeface="+mj-ea"/>
                <a:ea typeface="+mj-ea"/>
              </a:defRPr>
            </a:lvl1pPr>
          </a:lstStyle>
          <a:p>
            <a:r>
              <a:rPr lang="en-US" altLang="zh-CN" sz="1800" dirty="0"/>
              <a:t>1.</a:t>
            </a:r>
            <a:r>
              <a:rPr lang="zh-CN" altLang="en-US" sz="1800" dirty="0"/>
              <a:t> 线程的组成（续）</a:t>
            </a:r>
            <a:endParaRPr lang="zh-CN" altLang="en-US" sz="1800" dirty="0"/>
          </a:p>
        </p:txBody>
      </p:sp>
      <p:sp>
        <p:nvSpPr>
          <p:cNvPr id="7" name="矩形 6"/>
          <p:cNvSpPr/>
          <p:nvPr/>
        </p:nvSpPr>
        <p:spPr>
          <a:xfrm>
            <a:off x="6699467" y="1208515"/>
            <a:ext cx="2217194" cy="67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8"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Rectangle 3"/>
          <p:cNvSpPr>
            <a:spLocks noGrp="1" noChangeArrowheads="1"/>
          </p:cNvSpPr>
          <p:nvPr>
            <p:ph idx="1"/>
          </p:nvPr>
        </p:nvSpPr>
        <p:spPr>
          <a:xfrm>
            <a:off x="1201565" y="2590486"/>
            <a:ext cx="7715097" cy="1751645"/>
          </a:xfrm>
        </p:spPr>
        <p:txBody>
          <a:bodyPr/>
          <a:lstStyle/>
          <a:p>
            <a:r>
              <a:rPr lang="en-US" altLang="zh-CN" sz="1650" dirty="0">
                <a:latin typeface="微软雅黑" panose="020B0503020204020204" charset="-122"/>
                <a:ea typeface="微软雅黑" panose="020B0503020204020204" charset="-122"/>
              </a:rPr>
              <a:t>Linux</a:t>
            </a:r>
            <a:r>
              <a:rPr lang="zh-CN" altLang="en-US" sz="1650" dirty="0">
                <a:latin typeface="微软雅黑" panose="020B0503020204020204" charset="-122"/>
                <a:ea typeface="微软雅黑" panose="020B0503020204020204" charset="-122"/>
              </a:rPr>
              <a:t>中使用整型表示线程</a:t>
            </a:r>
            <a:r>
              <a:rPr lang="en-US" altLang="zh-CN" sz="1650" dirty="0">
                <a:latin typeface="微软雅黑" panose="020B0503020204020204" charset="-122"/>
                <a:ea typeface="微软雅黑" panose="020B0503020204020204" charset="-122"/>
              </a:rPr>
              <a:t>ID</a:t>
            </a:r>
            <a:r>
              <a:rPr lang="zh-CN" altLang="en-US" sz="1650" dirty="0">
                <a:latin typeface="微软雅黑" panose="020B0503020204020204" charset="-122"/>
                <a:ea typeface="微软雅黑" panose="020B0503020204020204" charset="-122"/>
              </a:rPr>
              <a:t>，而其他系统则不一定</a:t>
            </a:r>
            <a:endParaRPr lang="zh-CN" altLang="en-US" sz="1650" dirty="0">
              <a:latin typeface="微软雅黑" panose="020B0503020204020204" charset="-122"/>
              <a:ea typeface="微软雅黑" panose="020B0503020204020204" charset="-122"/>
            </a:endParaRPr>
          </a:p>
          <a:p>
            <a:r>
              <a:rPr lang="en-US" altLang="zh-CN" sz="1650" dirty="0">
                <a:latin typeface="微软雅黑" panose="020B0503020204020204" charset="-122"/>
                <a:ea typeface="微软雅黑" panose="020B0503020204020204" charset="-122"/>
              </a:rPr>
              <a:t>FreeBSD 5.2.1</a:t>
            </a:r>
            <a:r>
              <a:rPr lang="zh-CN" altLang="en-US" sz="1650" dirty="0">
                <a:latin typeface="微软雅黑" panose="020B0503020204020204" charset="-122"/>
                <a:ea typeface="微软雅黑" panose="020B0503020204020204" charset="-122"/>
              </a:rPr>
              <a:t>、</a:t>
            </a:r>
            <a:r>
              <a:rPr lang="en-US" altLang="zh-CN" sz="1650" dirty="0">
                <a:latin typeface="微软雅黑" panose="020B0503020204020204" charset="-122"/>
                <a:ea typeface="微软雅黑" panose="020B0503020204020204" charset="-122"/>
              </a:rPr>
              <a:t>Mac OS X 10.3</a:t>
            </a:r>
            <a:r>
              <a:rPr lang="zh-CN" altLang="en-US" sz="1650" dirty="0">
                <a:latin typeface="微软雅黑" panose="020B0503020204020204" charset="-122"/>
                <a:ea typeface="微软雅黑" panose="020B0503020204020204" charset="-122"/>
              </a:rPr>
              <a:t>用一个指向</a:t>
            </a:r>
            <a:r>
              <a:rPr lang="en-US" altLang="zh-CN" sz="1650" dirty="0" err="1">
                <a:latin typeface="微软雅黑" panose="020B0503020204020204" charset="-122"/>
                <a:ea typeface="微软雅黑" panose="020B0503020204020204" charset="-122"/>
              </a:rPr>
              <a:t>pthread</a:t>
            </a:r>
            <a:r>
              <a:rPr lang="zh-CN" altLang="en-US" sz="1650" dirty="0">
                <a:latin typeface="微软雅黑" panose="020B0503020204020204" charset="-122"/>
                <a:ea typeface="微软雅黑" panose="020B0503020204020204" charset="-122"/>
              </a:rPr>
              <a:t>结构的指针来表示</a:t>
            </a:r>
            <a:r>
              <a:rPr lang="en-US" altLang="zh-CN" sz="1650" dirty="0" err="1">
                <a:latin typeface="微软雅黑" panose="020B0503020204020204" charset="-122"/>
                <a:ea typeface="微软雅黑" panose="020B0503020204020204" charset="-122"/>
              </a:rPr>
              <a:t>pthread_t</a:t>
            </a:r>
            <a:r>
              <a:rPr lang="zh-CN" altLang="en-US" sz="1650" dirty="0">
                <a:latin typeface="微软雅黑" panose="020B0503020204020204" charset="-122"/>
                <a:ea typeface="微软雅黑" panose="020B0503020204020204" charset="-122"/>
              </a:rPr>
              <a:t>类型。</a:t>
            </a:r>
            <a:endParaRPr lang="zh-CN" altLang="en-US" sz="1650" dirty="0">
              <a:latin typeface="微软雅黑" panose="020B0503020204020204" charset="-122"/>
              <a:ea typeface="微软雅黑" panose="020B0503020204020204" charset="-122"/>
            </a:endParaRPr>
          </a:p>
          <a:p>
            <a:r>
              <a:rPr lang="zh-CN" altLang="en-US" sz="1650" dirty="0">
                <a:latin typeface="微软雅黑" panose="020B0503020204020204" charset="-122"/>
                <a:ea typeface="微软雅黑" panose="020B0503020204020204" charset="-122"/>
              </a:rPr>
              <a:t>为了保证应用程序的可移植性，在比较两个线程</a:t>
            </a:r>
            <a:r>
              <a:rPr lang="en-US" altLang="zh-CN" sz="1650" dirty="0">
                <a:latin typeface="微软雅黑" panose="020B0503020204020204" charset="-122"/>
                <a:ea typeface="微软雅黑" panose="020B0503020204020204" charset="-122"/>
              </a:rPr>
              <a:t>ID</a:t>
            </a:r>
            <a:r>
              <a:rPr lang="zh-CN" altLang="en-US" sz="1650" dirty="0">
                <a:latin typeface="微软雅黑" panose="020B0503020204020204" charset="-122"/>
                <a:ea typeface="微软雅黑" panose="020B0503020204020204" charset="-122"/>
              </a:rPr>
              <a:t>是否相同时，建议使用</a:t>
            </a:r>
            <a:r>
              <a:rPr lang="en-US" altLang="zh-CN" sz="1650" dirty="0" err="1">
                <a:solidFill>
                  <a:srgbClr val="FF0000"/>
                </a:solidFill>
                <a:latin typeface="微软雅黑" panose="020B0503020204020204" charset="-122"/>
                <a:ea typeface="微软雅黑" panose="020B0503020204020204" charset="-122"/>
              </a:rPr>
              <a:t>pthread_equal</a:t>
            </a:r>
            <a:r>
              <a:rPr lang="zh-CN" altLang="en-US" sz="1650" dirty="0">
                <a:latin typeface="微软雅黑" panose="020B0503020204020204" charset="-122"/>
                <a:ea typeface="微软雅黑" panose="020B0503020204020204" charset="-122"/>
              </a:rPr>
              <a:t>函数</a:t>
            </a:r>
            <a:endParaRPr lang="zh-CN" altLang="en-US" sz="1650" dirty="0">
              <a:latin typeface="微软雅黑" panose="020B0503020204020204" charset="-122"/>
              <a:ea typeface="微软雅黑" panose="020B0503020204020204" charset="-122"/>
            </a:endParaRPr>
          </a:p>
        </p:txBody>
      </p:sp>
      <p:sp>
        <p:nvSpPr>
          <p:cNvPr id="678914" name="Rectangle 2"/>
          <p:cNvSpPr>
            <a:spLocks noGrp="1" noChangeArrowheads="1"/>
          </p:cNvSpPr>
          <p:nvPr>
            <p:ph type="title"/>
          </p:nvPr>
        </p:nvSpPr>
        <p:spPr>
          <a:xfrm>
            <a:off x="1201565" y="2178530"/>
            <a:ext cx="5497903" cy="411956"/>
          </a:xfrm>
        </p:spPr>
        <p:txBody>
          <a:bodyPr/>
          <a:lstStyle/>
          <a:p>
            <a:pPr algn="l">
              <a:defRPr/>
            </a:pPr>
            <a:r>
              <a:rPr lang="zh-CN" altLang="en-US" dirty="0">
                <a:solidFill>
                  <a:srgbClr val="FF0000"/>
                </a:solidFill>
              </a:rPr>
              <a:t>比较线程</a:t>
            </a:r>
            <a:r>
              <a:rPr lang="en-US" altLang="zh-CN" dirty="0">
                <a:solidFill>
                  <a:srgbClr val="FF0000"/>
                </a:solidFill>
              </a:rPr>
              <a:t>ID</a:t>
            </a:r>
            <a:endParaRPr lang="zh-CN" altLang="en-US" dirty="0">
              <a:solidFill>
                <a:srgbClr val="FF0000"/>
              </a:solidFill>
            </a:endParaRPr>
          </a:p>
        </p:txBody>
      </p:sp>
      <p:sp>
        <p:nvSpPr>
          <p:cNvPr id="5" name="标题 2"/>
          <p:cNvSpPr txBox="1"/>
          <p:nvPr/>
        </p:nvSpPr>
        <p:spPr>
          <a:xfrm>
            <a:off x="1130555" y="1766573"/>
            <a:ext cx="2211927" cy="411956"/>
          </a:xfrm>
          <a:prstGeom prst="rect">
            <a:avLst/>
          </a:prstGeom>
        </p:spPr>
        <p:txBody>
          <a:bodyPr/>
          <a:lstStyle>
            <a:defPPr rtl="0">
              <a:defRPr lang="en-US"/>
            </a:defPPr>
            <a:lvl1pPr defTabSz="685800">
              <a:lnSpc>
                <a:spcPct val="90000"/>
              </a:lnSpc>
              <a:spcBef>
                <a:spcPct val="0"/>
              </a:spcBef>
              <a:buNone/>
              <a:defRPr kumimoji="1" sz="2400" b="1">
                <a:solidFill>
                  <a:schemeClr val="bg2">
                    <a:lumMod val="50000"/>
                  </a:schemeClr>
                </a:solidFill>
                <a:latin typeface="+mj-ea"/>
                <a:ea typeface="+mj-ea"/>
              </a:defRPr>
            </a:lvl1pPr>
          </a:lstStyle>
          <a:p>
            <a:r>
              <a:rPr lang="en-US" altLang="zh-CN" sz="1800" dirty="0"/>
              <a:t>1.</a:t>
            </a:r>
            <a:r>
              <a:rPr lang="zh-CN" altLang="en-US" sz="1800" dirty="0"/>
              <a:t> 线程的组成（续）</a:t>
            </a:r>
            <a:endParaRPr lang="zh-CN" altLang="en-US" sz="1800" dirty="0"/>
          </a:p>
        </p:txBody>
      </p:sp>
      <p:sp>
        <p:nvSpPr>
          <p:cNvPr id="7" name="矩形 6"/>
          <p:cNvSpPr/>
          <p:nvPr/>
        </p:nvSpPr>
        <p:spPr>
          <a:xfrm>
            <a:off x="6699467" y="1208515"/>
            <a:ext cx="2217194" cy="67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8"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4" name="Rectangle 3"/>
          <p:cNvSpPr>
            <a:spLocks noGrp="1" noChangeArrowheads="1"/>
          </p:cNvSpPr>
          <p:nvPr>
            <p:ph idx="1"/>
          </p:nvPr>
        </p:nvSpPr>
        <p:spPr>
          <a:xfrm>
            <a:off x="1677134" y="2805545"/>
            <a:ext cx="6058490" cy="2903612"/>
          </a:xfrm>
        </p:spPr>
        <p:txBody>
          <a:bodyPr/>
          <a:lstStyle/>
          <a:p>
            <a:r>
              <a:rPr lang="zh-CN" altLang="en-US" dirty="0">
                <a:latin typeface="+mj-ea"/>
                <a:ea typeface="+mj-ea"/>
              </a:rPr>
              <a:t>该函数用于比较两个线程</a:t>
            </a:r>
            <a:r>
              <a:rPr lang="en-US" altLang="zh-CN" dirty="0">
                <a:latin typeface="+mj-ea"/>
                <a:ea typeface="+mj-ea"/>
              </a:rPr>
              <a:t>ID</a:t>
            </a:r>
            <a:r>
              <a:rPr lang="zh-CN" altLang="en-US" dirty="0">
                <a:latin typeface="+mj-ea"/>
                <a:ea typeface="+mj-ea"/>
              </a:rPr>
              <a:t>是否相同</a:t>
            </a:r>
            <a:endParaRPr lang="zh-CN" altLang="en-US" dirty="0">
              <a:latin typeface="+mj-ea"/>
              <a:ea typeface="+mj-ea"/>
            </a:endParaRPr>
          </a:p>
          <a:p>
            <a:r>
              <a:rPr lang="zh-CN" altLang="en-US" dirty="0">
                <a:latin typeface="+mj-ea"/>
                <a:ea typeface="+mj-ea"/>
              </a:rPr>
              <a:t>函数原型</a:t>
            </a:r>
            <a:endParaRPr lang="en-US" altLang="zh-CN" dirty="0">
              <a:latin typeface="+mj-ea"/>
              <a:ea typeface="+mj-ea"/>
            </a:endParaRPr>
          </a:p>
          <a:p>
            <a:pPr lvl="1"/>
            <a:r>
              <a:rPr lang="zh-CN" altLang="en-US" sz="1500" dirty="0">
                <a:latin typeface="+mj-ea"/>
                <a:ea typeface="+mj-ea"/>
              </a:rPr>
              <a:t>头文件：</a:t>
            </a:r>
            <a:r>
              <a:rPr lang="en-US" altLang="zh-CN" sz="1500" dirty="0" err="1">
                <a:latin typeface="+mj-ea"/>
                <a:ea typeface="+mj-ea"/>
              </a:rPr>
              <a:t>pthread.h</a:t>
            </a:r>
            <a:endParaRPr lang="en-US" altLang="zh-CN" sz="1500" dirty="0">
              <a:latin typeface="+mj-ea"/>
              <a:ea typeface="+mj-ea"/>
            </a:endParaRPr>
          </a:p>
          <a:p>
            <a:pPr lvl="1"/>
            <a:r>
              <a:rPr lang="en-US" altLang="zh-CN" sz="1500" dirty="0" err="1">
                <a:latin typeface="+mj-ea"/>
                <a:ea typeface="+mj-ea"/>
              </a:rPr>
              <a:t>int</a:t>
            </a:r>
            <a:r>
              <a:rPr lang="en-US" altLang="zh-CN" sz="1500" dirty="0">
                <a:latin typeface="+mj-ea"/>
                <a:ea typeface="+mj-ea"/>
              </a:rPr>
              <a:t> </a:t>
            </a:r>
            <a:r>
              <a:rPr lang="en-US" altLang="zh-CN" sz="1500" dirty="0" err="1">
                <a:latin typeface="+mj-ea"/>
                <a:ea typeface="+mj-ea"/>
              </a:rPr>
              <a:t>pthread_equal</a:t>
            </a:r>
            <a:r>
              <a:rPr lang="en-US" altLang="zh-CN" sz="1500" dirty="0">
                <a:latin typeface="+mj-ea"/>
                <a:ea typeface="+mj-ea"/>
              </a:rPr>
              <a:t>(</a:t>
            </a:r>
            <a:r>
              <a:rPr lang="en-US" altLang="zh-CN" sz="1500" dirty="0" err="1">
                <a:latin typeface="+mj-ea"/>
                <a:ea typeface="+mj-ea"/>
              </a:rPr>
              <a:t>pthread_t</a:t>
            </a:r>
            <a:r>
              <a:rPr lang="en-US" altLang="zh-CN" sz="1500" dirty="0">
                <a:latin typeface="+mj-ea"/>
                <a:ea typeface="+mj-ea"/>
              </a:rPr>
              <a:t> tid1, </a:t>
            </a:r>
            <a:r>
              <a:rPr lang="en-US" altLang="zh-CN" sz="1500" dirty="0" err="1">
                <a:latin typeface="+mj-ea"/>
                <a:ea typeface="+mj-ea"/>
              </a:rPr>
              <a:t>pthread_t</a:t>
            </a:r>
            <a:r>
              <a:rPr lang="en-US" altLang="zh-CN" sz="1500" dirty="0">
                <a:latin typeface="+mj-ea"/>
                <a:ea typeface="+mj-ea"/>
              </a:rPr>
              <a:t> tid2);</a:t>
            </a:r>
            <a:r>
              <a:rPr lang="zh-CN" altLang="en-US" sz="1500" dirty="0">
                <a:latin typeface="+mj-ea"/>
                <a:ea typeface="+mj-ea"/>
              </a:rPr>
              <a:t> </a:t>
            </a:r>
            <a:endParaRPr lang="en-US" altLang="zh-CN" sz="1500" dirty="0">
              <a:latin typeface="+mj-ea"/>
              <a:ea typeface="+mj-ea"/>
            </a:endParaRPr>
          </a:p>
          <a:p>
            <a:r>
              <a:rPr lang="zh-CN" altLang="en-US" dirty="0">
                <a:latin typeface="+mj-ea"/>
                <a:ea typeface="+mj-ea"/>
              </a:rPr>
              <a:t>若相等则返回非</a:t>
            </a:r>
            <a:r>
              <a:rPr lang="en-US" altLang="zh-CN" dirty="0">
                <a:latin typeface="+mj-ea"/>
                <a:ea typeface="+mj-ea"/>
              </a:rPr>
              <a:t>0</a:t>
            </a:r>
            <a:r>
              <a:rPr lang="zh-CN" altLang="en-US" dirty="0">
                <a:latin typeface="+mj-ea"/>
                <a:ea typeface="+mj-ea"/>
              </a:rPr>
              <a:t>值，否则返回</a:t>
            </a:r>
            <a:r>
              <a:rPr lang="en-US" altLang="zh-CN" dirty="0">
                <a:latin typeface="+mj-ea"/>
                <a:ea typeface="+mj-ea"/>
              </a:rPr>
              <a:t>0</a:t>
            </a:r>
            <a:endParaRPr lang="en-US" altLang="zh-CN" dirty="0">
              <a:latin typeface="+mj-ea"/>
              <a:ea typeface="+mj-ea"/>
            </a:endParaRPr>
          </a:p>
        </p:txBody>
      </p:sp>
      <p:sp>
        <p:nvSpPr>
          <p:cNvPr id="679938" name="Rectangle 2"/>
          <p:cNvSpPr>
            <a:spLocks noGrp="1" noChangeArrowheads="1"/>
          </p:cNvSpPr>
          <p:nvPr>
            <p:ph type="title"/>
          </p:nvPr>
        </p:nvSpPr>
        <p:spPr>
          <a:xfrm>
            <a:off x="1747010" y="2343855"/>
            <a:ext cx="5497903" cy="411956"/>
          </a:xfrm>
        </p:spPr>
        <p:txBody>
          <a:bodyPr/>
          <a:lstStyle/>
          <a:p>
            <a:pPr algn="l">
              <a:defRPr/>
            </a:pPr>
            <a:r>
              <a:rPr lang="en-US" altLang="zh-CN" dirty="0" err="1">
                <a:solidFill>
                  <a:srgbClr val="FF0000"/>
                </a:solidFill>
              </a:rPr>
              <a:t>pthread_equal</a:t>
            </a:r>
            <a:r>
              <a:rPr lang="zh-CN" altLang="en-US" dirty="0">
                <a:solidFill>
                  <a:srgbClr val="FF0000"/>
                </a:solidFill>
              </a:rPr>
              <a:t>函数</a:t>
            </a:r>
            <a:endParaRPr lang="zh-CN" altLang="en-US" dirty="0">
              <a:solidFill>
                <a:srgbClr val="FF0000"/>
              </a:solidFill>
            </a:endParaRPr>
          </a:p>
        </p:txBody>
      </p:sp>
      <p:sp>
        <p:nvSpPr>
          <p:cNvPr id="5" name="标题 2"/>
          <p:cNvSpPr txBox="1"/>
          <p:nvPr/>
        </p:nvSpPr>
        <p:spPr>
          <a:xfrm>
            <a:off x="1130555" y="1839302"/>
            <a:ext cx="2211927" cy="411956"/>
          </a:xfrm>
          <a:prstGeom prst="rect">
            <a:avLst/>
          </a:prstGeom>
        </p:spPr>
        <p:txBody>
          <a:bodyPr/>
          <a:lstStyle>
            <a:defPPr rtl="0">
              <a:defRPr lang="en-US"/>
            </a:defPPr>
            <a:lvl1pPr defTabSz="685800">
              <a:lnSpc>
                <a:spcPct val="90000"/>
              </a:lnSpc>
              <a:spcBef>
                <a:spcPct val="0"/>
              </a:spcBef>
              <a:buNone/>
              <a:defRPr kumimoji="1" sz="2400" b="1">
                <a:solidFill>
                  <a:schemeClr val="bg2">
                    <a:lumMod val="50000"/>
                  </a:schemeClr>
                </a:solidFill>
                <a:latin typeface="+mj-ea"/>
                <a:ea typeface="+mj-ea"/>
              </a:defRPr>
            </a:lvl1pPr>
          </a:lstStyle>
          <a:p>
            <a:r>
              <a:rPr lang="en-US" altLang="zh-CN" sz="1800" dirty="0"/>
              <a:t>1.</a:t>
            </a:r>
            <a:r>
              <a:rPr lang="zh-CN" altLang="en-US" sz="1800" dirty="0"/>
              <a:t> 线程的组成（续）</a:t>
            </a:r>
            <a:endParaRPr lang="zh-CN" altLang="en-US" sz="1800" dirty="0"/>
          </a:p>
        </p:txBody>
      </p:sp>
      <p:sp>
        <p:nvSpPr>
          <p:cNvPr id="7" name="矩形 6"/>
          <p:cNvSpPr/>
          <p:nvPr/>
        </p:nvSpPr>
        <p:spPr>
          <a:xfrm>
            <a:off x="6699467" y="1208515"/>
            <a:ext cx="2217194" cy="67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8"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9" name="Rectangle 3"/>
          <p:cNvSpPr>
            <a:spLocks noGrp="1" noRot="1" noChangeArrowheads="1"/>
          </p:cNvSpPr>
          <p:nvPr>
            <p:ph type="body" idx="1"/>
          </p:nvPr>
        </p:nvSpPr>
        <p:spPr>
          <a:xfrm>
            <a:off x="1130555" y="2175257"/>
            <a:ext cx="7728965" cy="3186113"/>
          </a:xfrm>
        </p:spPr>
        <p:txBody>
          <a:bodyPr/>
          <a:lstStyle/>
          <a:p>
            <a:pPr>
              <a:lnSpc>
                <a:spcPct val="120000"/>
              </a:lnSpc>
              <a:buClr>
                <a:srgbClr val="FF0000"/>
              </a:buClr>
              <a:buFont typeface="Wingdings" panose="05000000000000000000" pitchFamily="2" charset="2"/>
              <a:buChar char="Ø"/>
            </a:pPr>
            <a:r>
              <a:rPr lang="zh-CN" altLang="en-US" sz="1650" b="1" dirty="0">
                <a:solidFill>
                  <a:srgbClr val="000000"/>
                </a:solidFill>
                <a:latin typeface="微软雅黑" panose="020B0503020204020204" charset="-122"/>
                <a:ea typeface="微软雅黑" panose="020B0503020204020204" charset="-122"/>
              </a:rPr>
              <a:t>同进程一样，线程之间也存在共享资源和相互合作的制约关系，</a:t>
            </a:r>
            <a:r>
              <a:rPr kumimoji="1" lang="zh-CN" altLang="en-US" sz="1650" b="1" dirty="0">
                <a:latin typeface="微软雅黑" panose="020B0503020204020204" charset="-122"/>
                <a:ea typeface="微软雅黑" panose="020B0503020204020204" charset="-122"/>
              </a:rPr>
              <a:t>致使线程在运行时也具有间断性。</a:t>
            </a:r>
            <a:endParaRPr lang="zh-CN" altLang="en-US" sz="1650" b="1" dirty="0">
              <a:solidFill>
                <a:srgbClr val="000000"/>
              </a:solidFill>
              <a:latin typeface="微软雅黑" panose="020B0503020204020204" charset="-122"/>
              <a:ea typeface="微软雅黑" panose="020B0503020204020204" charset="-122"/>
            </a:endParaRPr>
          </a:p>
          <a:p>
            <a:pPr>
              <a:lnSpc>
                <a:spcPct val="120000"/>
              </a:lnSpc>
              <a:buClr>
                <a:srgbClr val="FF0000"/>
              </a:buClr>
              <a:buFont typeface="Wingdings" panose="05000000000000000000" pitchFamily="2" charset="2"/>
              <a:buChar char="Ø"/>
            </a:pPr>
            <a:r>
              <a:rPr lang="zh-CN" altLang="en-US" sz="1650" b="1" dirty="0">
                <a:solidFill>
                  <a:srgbClr val="000000"/>
                </a:solidFill>
                <a:latin typeface="微软雅黑" panose="020B0503020204020204" charset="-122"/>
                <a:ea typeface="微软雅黑" panose="020B0503020204020204" charset="-122"/>
              </a:rPr>
              <a:t>线程运行时有以下3种状态：</a:t>
            </a:r>
            <a:endParaRPr lang="zh-CN" altLang="en-US" sz="1650" b="1" dirty="0">
              <a:solidFill>
                <a:srgbClr val="000000"/>
              </a:solidFill>
              <a:latin typeface="微软雅黑" panose="020B0503020204020204" charset="-122"/>
              <a:ea typeface="微软雅黑" panose="020B0503020204020204" charset="-122"/>
            </a:endParaRPr>
          </a:p>
          <a:p>
            <a:pPr>
              <a:lnSpc>
                <a:spcPct val="120000"/>
              </a:lnSpc>
              <a:buFont typeface="Wingdings" panose="05000000000000000000" pitchFamily="2" charset="2"/>
              <a:buNone/>
            </a:pPr>
            <a:r>
              <a:rPr lang="zh-CN" altLang="en-US" sz="1650" b="0" dirty="0">
                <a:solidFill>
                  <a:srgbClr val="000000"/>
                </a:solidFill>
                <a:latin typeface="微软雅黑" panose="020B0503020204020204" charset="-122"/>
                <a:ea typeface="微软雅黑" panose="020B0503020204020204" charset="-122"/>
              </a:rPr>
              <a:t>    ①</a:t>
            </a:r>
            <a:r>
              <a:rPr lang="zh-CN" altLang="en-US" sz="1650" b="0" dirty="0">
                <a:solidFill>
                  <a:srgbClr val="FF0000"/>
                </a:solidFill>
                <a:latin typeface="微软雅黑" panose="020B0503020204020204" charset="-122"/>
                <a:ea typeface="微软雅黑" panose="020B0503020204020204" charset="-122"/>
              </a:rPr>
              <a:t>执行</a:t>
            </a:r>
            <a:r>
              <a:rPr lang="zh-CN" altLang="en-US" sz="1650" b="0" dirty="0">
                <a:solidFill>
                  <a:srgbClr val="000000"/>
                </a:solidFill>
                <a:latin typeface="微软雅黑" panose="020B0503020204020204" charset="-122"/>
                <a:ea typeface="微软雅黑" panose="020B0503020204020204" charset="-122"/>
              </a:rPr>
              <a:t>状态：表示线程正获得</a:t>
            </a:r>
            <a:r>
              <a:rPr lang="en-US" altLang="zh-CN" sz="1650" b="0" dirty="0">
                <a:solidFill>
                  <a:srgbClr val="000000"/>
                </a:solidFill>
                <a:latin typeface="微软雅黑" panose="020B0503020204020204" charset="-122"/>
                <a:ea typeface="微软雅黑" panose="020B0503020204020204" charset="-122"/>
              </a:rPr>
              <a:t>CPU</a:t>
            </a:r>
            <a:r>
              <a:rPr lang="zh-CN" altLang="en-US" sz="1650" b="0" dirty="0">
                <a:solidFill>
                  <a:srgbClr val="000000"/>
                </a:solidFill>
                <a:latin typeface="微软雅黑" panose="020B0503020204020204" charset="-122"/>
                <a:ea typeface="微软雅黑" panose="020B0503020204020204" charset="-122"/>
              </a:rPr>
              <a:t>而运行</a:t>
            </a:r>
            <a:endParaRPr lang="zh-CN" altLang="en-US" sz="1650" b="0" dirty="0">
              <a:solidFill>
                <a:srgbClr val="000000"/>
              </a:solidFill>
              <a:latin typeface="微软雅黑" panose="020B0503020204020204" charset="-122"/>
              <a:ea typeface="微软雅黑" panose="020B0503020204020204" charset="-122"/>
            </a:endParaRPr>
          </a:p>
          <a:p>
            <a:pPr>
              <a:lnSpc>
                <a:spcPct val="120000"/>
              </a:lnSpc>
              <a:buFont typeface="Wingdings" panose="05000000000000000000" pitchFamily="2" charset="2"/>
              <a:buNone/>
            </a:pPr>
            <a:r>
              <a:rPr lang="zh-CN" altLang="en-US" sz="1650" b="0" dirty="0">
                <a:solidFill>
                  <a:srgbClr val="000000"/>
                </a:solidFill>
                <a:latin typeface="微软雅黑" panose="020B0503020204020204" charset="-122"/>
                <a:ea typeface="微软雅黑" panose="020B0503020204020204" charset="-122"/>
              </a:rPr>
              <a:t>    ②</a:t>
            </a:r>
            <a:r>
              <a:rPr lang="zh-CN" altLang="en-US" sz="1650" b="0" dirty="0">
                <a:solidFill>
                  <a:srgbClr val="FF0000"/>
                </a:solidFill>
                <a:latin typeface="微软雅黑" panose="020B0503020204020204" charset="-122"/>
                <a:ea typeface="微软雅黑" panose="020B0503020204020204" charset="-122"/>
              </a:rPr>
              <a:t>就绪</a:t>
            </a:r>
            <a:r>
              <a:rPr lang="zh-CN" altLang="en-US" sz="1650" b="0" dirty="0">
                <a:solidFill>
                  <a:srgbClr val="000000"/>
                </a:solidFill>
                <a:latin typeface="微软雅黑" panose="020B0503020204020204" charset="-122"/>
                <a:ea typeface="微软雅黑" panose="020B0503020204020204" charset="-122"/>
              </a:rPr>
              <a:t>状态：表示线程已具备了各种运行条件，一旦获得</a:t>
            </a:r>
            <a:r>
              <a:rPr lang="en-US" altLang="zh-CN" sz="1650" b="0" dirty="0">
                <a:solidFill>
                  <a:srgbClr val="000000"/>
                </a:solidFill>
                <a:latin typeface="微软雅黑" panose="020B0503020204020204" charset="-122"/>
                <a:ea typeface="微软雅黑" panose="020B0503020204020204" charset="-122"/>
              </a:rPr>
              <a:t>CPU</a:t>
            </a:r>
            <a:r>
              <a:rPr lang="zh-CN" altLang="en-US" sz="1650" b="0" dirty="0">
                <a:solidFill>
                  <a:srgbClr val="000000"/>
                </a:solidFill>
                <a:latin typeface="微软雅黑" panose="020B0503020204020204" charset="-122"/>
                <a:ea typeface="微软雅黑" panose="020B0503020204020204" charset="-122"/>
              </a:rPr>
              <a:t>便可执行</a:t>
            </a:r>
            <a:endParaRPr lang="zh-CN" altLang="en-US" sz="1650" b="0" dirty="0">
              <a:solidFill>
                <a:srgbClr val="000000"/>
              </a:solidFill>
              <a:latin typeface="微软雅黑" panose="020B0503020204020204" charset="-122"/>
              <a:ea typeface="微软雅黑" panose="020B0503020204020204" charset="-122"/>
            </a:endParaRPr>
          </a:p>
          <a:p>
            <a:pPr>
              <a:lnSpc>
                <a:spcPct val="120000"/>
              </a:lnSpc>
              <a:buFont typeface="Wingdings" panose="05000000000000000000" pitchFamily="2" charset="2"/>
              <a:buNone/>
            </a:pPr>
            <a:r>
              <a:rPr lang="zh-CN" altLang="en-US" sz="1650" b="0" dirty="0">
                <a:solidFill>
                  <a:srgbClr val="000000"/>
                </a:solidFill>
                <a:latin typeface="微软雅黑" panose="020B0503020204020204" charset="-122"/>
                <a:ea typeface="微软雅黑" panose="020B0503020204020204" charset="-122"/>
              </a:rPr>
              <a:t>    ③</a:t>
            </a:r>
            <a:r>
              <a:rPr lang="zh-CN" altLang="en-US" sz="1650" b="0" dirty="0">
                <a:solidFill>
                  <a:srgbClr val="FF0000"/>
                </a:solidFill>
                <a:latin typeface="微软雅黑" panose="020B0503020204020204" charset="-122"/>
                <a:ea typeface="微软雅黑" panose="020B0503020204020204" charset="-122"/>
              </a:rPr>
              <a:t>阻塞</a:t>
            </a:r>
            <a:r>
              <a:rPr lang="zh-CN" altLang="en-US" sz="1650" b="0" dirty="0">
                <a:solidFill>
                  <a:srgbClr val="000000"/>
                </a:solidFill>
                <a:latin typeface="微软雅黑" panose="020B0503020204020204" charset="-122"/>
                <a:ea typeface="微软雅黑" panose="020B0503020204020204" charset="-122"/>
              </a:rPr>
              <a:t>状态：表示线程在运行中因某事件而受阻，处于暂停执行的状态</a:t>
            </a:r>
            <a:endParaRPr lang="zh-CN" altLang="en-US" sz="1650" b="0" dirty="0">
              <a:solidFill>
                <a:srgbClr val="000000"/>
              </a:solidFill>
              <a:latin typeface="微软雅黑" panose="020B0503020204020204" charset="-122"/>
              <a:ea typeface="微软雅黑" panose="020B0503020204020204" charset="-122"/>
            </a:endParaRPr>
          </a:p>
          <a:p>
            <a:pPr>
              <a:lnSpc>
                <a:spcPct val="120000"/>
              </a:lnSpc>
              <a:buFont typeface="Wingdings" panose="05000000000000000000" pitchFamily="2" charset="2"/>
              <a:buNone/>
            </a:pPr>
            <a:r>
              <a:rPr lang="zh-CN" altLang="en-US" sz="1650" b="1" dirty="0">
                <a:solidFill>
                  <a:srgbClr val="000000"/>
                </a:solidFill>
                <a:latin typeface="微软雅黑" panose="020B0503020204020204" charset="-122"/>
                <a:ea typeface="微软雅黑" panose="020B0503020204020204" charset="-122"/>
              </a:rPr>
              <a:t>   </a:t>
            </a:r>
            <a:endParaRPr lang="zh-CN" altLang="en-US" sz="1650" b="1" dirty="0">
              <a:solidFill>
                <a:srgbClr val="000000"/>
              </a:solidFill>
              <a:latin typeface="微软雅黑" panose="020B0503020204020204" charset="-122"/>
              <a:ea typeface="微软雅黑" panose="020B0503020204020204" charset="-122"/>
            </a:endParaRPr>
          </a:p>
        </p:txBody>
      </p:sp>
      <p:sp>
        <p:nvSpPr>
          <p:cNvPr id="311299" name="矩形 2"/>
          <p:cNvSpPr>
            <a:spLocks noChangeArrowheads="1"/>
          </p:cNvSpPr>
          <p:nvPr/>
        </p:nvSpPr>
        <p:spPr bwMode="auto">
          <a:xfrm>
            <a:off x="1130555" y="1834414"/>
            <a:ext cx="24768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defTabSz="685800">
              <a:lnSpc>
                <a:spcPct val="90000"/>
              </a:lnSpc>
              <a:spcBef>
                <a:spcPct val="0"/>
              </a:spcBef>
              <a:buClrTx/>
              <a:buSzTx/>
              <a:buNone/>
              <a:defRPr/>
            </a:pPr>
            <a:r>
              <a:rPr lang="en-US" altLang="zh-CN" sz="1800" b="1" dirty="0">
                <a:solidFill>
                  <a:schemeClr val="bg2">
                    <a:lumMod val="50000"/>
                  </a:schemeClr>
                </a:solidFill>
                <a:latin typeface="微软雅黑" panose="020B0503020204020204" charset="-122"/>
                <a:ea typeface="微软雅黑" panose="020B0503020204020204" charset="-122"/>
              </a:rPr>
              <a:t>2. </a:t>
            </a:r>
            <a:r>
              <a:rPr lang="zh-CN" altLang="en-US" sz="1800" b="1" dirty="0">
                <a:solidFill>
                  <a:schemeClr val="bg2">
                    <a:lumMod val="50000"/>
                  </a:schemeClr>
                </a:solidFill>
                <a:latin typeface="微软雅黑" panose="020B0503020204020204" charset="-122"/>
                <a:ea typeface="微软雅黑" panose="020B0503020204020204" charset="-122"/>
              </a:rPr>
              <a:t> 线程的状态</a:t>
            </a:r>
            <a:endParaRPr lang="zh-CN" altLang="en-US" sz="1800" b="1" dirty="0">
              <a:solidFill>
                <a:schemeClr val="bg2">
                  <a:lumMod val="50000"/>
                </a:schemeClr>
              </a:solidFill>
              <a:latin typeface="微软雅黑" panose="020B0503020204020204" charset="-122"/>
              <a:ea typeface="微软雅黑" panose="020B0503020204020204" charset="-122"/>
            </a:endParaRPr>
          </a:p>
        </p:txBody>
      </p:sp>
      <p:sp>
        <p:nvSpPr>
          <p:cNvPr id="5" name="矩形 4"/>
          <p:cNvSpPr/>
          <p:nvPr/>
        </p:nvSpPr>
        <p:spPr>
          <a:xfrm>
            <a:off x="6699467" y="1208515"/>
            <a:ext cx="2217194" cy="67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6"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2739">
                                            <p:txEl>
                                              <p:pRg st="1" end="1"/>
                                            </p:txEl>
                                          </p:spTgt>
                                        </p:tgtEl>
                                        <p:attrNameLst>
                                          <p:attrName>style.visibility</p:attrName>
                                        </p:attrNameLst>
                                      </p:cBhvr>
                                      <p:to>
                                        <p:strVal val="visible"/>
                                      </p:to>
                                    </p:set>
                                    <p:animEffect transition="in" filter="wipe(left)">
                                      <p:cBhvr>
                                        <p:cTn id="7" dur="500"/>
                                        <p:tgtEl>
                                          <p:spTgt spid="372739">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72739">
                                            <p:txEl>
                                              <p:pRg st="2" end="2"/>
                                            </p:txEl>
                                          </p:spTgt>
                                        </p:tgtEl>
                                        <p:attrNameLst>
                                          <p:attrName>style.visibility</p:attrName>
                                        </p:attrNameLst>
                                      </p:cBhvr>
                                      <p:to>
                                        <p:strVal val="visible"/>
                                      </p:to>
                                    </p:set>
                                    <p:animEffect transition="in" filter="wipe(left)">
                                      <p:cBhvr>
                                        <p:cTn id="10" dur="500"/>
                                        <p:tgtEl>
                                          <p:spTgt spid="372739">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72739">
                                            <p:txEl>
                                              <p:pRg st="3" end="3"/>
                                            </p:txEl>
                                          </p:spTgt>
                                        </p:tgtEl>
                                        <p:attrNameLst>
                                          <p:attrName>style.visibility</p:attrName>
                                        </p:attrNameLst>
                                      </p:cBhvr>
                                      <p:to>
                                        <p:strVal val="visible"/>
                                      </p:to>
                                    </p:set>
                                    <p:animEffect transition="in" filter="wipe(left)">
                                      <p:cBhvr>
                                        <p:cTn id="13" dur="500"/>
                                        <p:tgtEl>
                                          <p:spTgt spid="372739">
                                            <p:txEl>
                                              <p:pRg st="3" end="3"/>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72739">
                                            <p:txEl>
                                              <p:pRg st="4" end="4"/>
                                            </p:txEl>
                                          </p:spTgt>
                                        </p:tgtEl>
                                        <p:attrNameLst>
                                          <p:attrName>style.visibility</p:attrName>
                                        </p:attrNameLst>
                                      </p:cBhvr>
                                      <p:to>
                                        <p:strVal val="visible"/>
                                      </p:to>
                                    </p:set>
                                    <p:animEffect transition="in" filter="wipe(left)">
                                      <p:cBhvr>
                                        <p:cTn id="16" dur="500"/>
                                        <p:tgtEl>
                                          <p:spTgt spid="3727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body" idx="1"/>
          </p:nvPr>
        </p:nvSpPr>
        <p:spPr>
          <a:xfrm>
            <a:off x="944880" y="1902865"/>
            <a:ext cx="8006080" cy="1126085"/>
          </a:xfrm>
          <a:solidFill>
            <a:srgbClr val="CCFFFF"/>
          </a:solidFill>
        </p:spPr>
        <p:txBody>
          <a:bodyPr/>
          <a:lstStyle/>
          <a:p>
            <a:pPr eaLnBrk="1" hangingPunct="1">
              <a:buClr>
                <a:schemeClr val="tx1"/>
              </a:buClr>
              <a:buFont typeface="Wingdings" panose="05000000000000000000" pitchFamily="2" charset="2"/>
              <a:buNone/>
            </a:pPr>
            <a:r>
              <a:rPr lang="zh-CN" altLang="en-US" dirty="0">
                <a:solidFill>
                  <a:srgbClr val="990033"/>
                </a:solidFill>
                <a:latin typeface="微软雅黑" panose="020B0503020204020204" charset="-122"/>
                <a:ea typeface="微软雅黑" panose="020B0503020204020204" charset="-122"/>
              </a:rPr>
              <a:t>线程的状态转换：</a:t>
            </a:r>
            <a:endParaRPr lang="zh-CN" altLang="en-US" sz="2100" dirty="0">
              <a:solidFill>
                <a:srgbClr val="990033"/>
              </a:solidFill>
              <a:latin typeface="微软雅黑" panose="020B0503020204020204" charset="-122"/>
              <a:ea typeface="微软雅黑" panose="020B0503020204020204" charset="-122"/>
            </a:endParaRPr>
          </a:p>
          <a:p>
            <a:pPr eaLnBrk="1" hangingPunct="1">
              <a:buClr>
                <a:schemeClr val="tx1"/>
              </a:buClr>
              <a:buFont typeface="Wingdings" panose="05000000000000000000" pitchFamily="2" charset="2"/>
              <a:buNone/>
            </a:pPr>
            <a:r>
              <a:rPr lang="zh-CN" altLang="en-US" dirty="0">
                <a:latin typeface="微软雅黑" panose="020B0503020204020204" charset="-122"/>
                <a:ea typeface="微软雅黑" panose="020B0503020204020204" charset="-122"/>
              </a:rPr>
              <a:t>  三种状态：</a:t>
            </a:r>
            <a:r>
              <a:rPr lang="zh-CN" altLang="en-US" dirty="0">
                <a:solidFill>
                  <a:schemeClr val="hlink"/>
                </a:solidFill>
                <a:latin typeface="微软雅黑" panose="020B0503020204020204" charset="-122"/>
                <a:ea typeface="微软雅黑" panose="020B0503020204020204" charset="-122"/>
              </a:rPr>
              <a:t>就绪</a:t>
            </a:r>
            <a:r>
              <a:rPr lang="zh-CN" altLang="en-US" dirty="0">
                <a:latin typeface="微软雅黑" panose="020B0503020204020204" charset="-122"/>
                <a:ea typeface="微软雅黑" panose="020B0503020204020204" charset="-122"/>
              </a:rPr>
              <a:t>、</a:t>
            </a:r>
            <a:r>
              <a:rPr lang="zh-CN" altLang="en-US" dirty="0">
                <a:solidFill>
                  <a:schemeClr val="hlink"/>
                </a:solidFill>
                <a:latin typeface="微软雅黑" panose="020B0503020204020204" charset="-122"/>
                <a:ea typeface="微软雅黑" panose="020B0503020204020204" charset="-122"/>
              </a:rPr>
              <a:t>阻塞</a:t>
            </a:r>
            <a:r>
              <a:rPr lang="zh-CN" altLang="en-US" dirty="0">
                <a:latin typeface="微软雅黑" panose="020B0503020204020204" charset="-122"/>
                <a:ea typeface="微软雅黑" panose="020B0503020204020204" charset="-122"/>
              </a:rPr>
              <a:t>和</a:t>
            </a:r>
            <a:r>
              <a:rPr lang="zh-CN" altLang="en-US" dirty="0">
                <a:solidFill>
                  <a:schemeClr val="hlink"/>
                </a:solidFill>
                <a:latin typeface="微软雅黑" panose="020B0503020204020204" charset="-122"/>
                <a:ea typeface="微软雅黑" panose="020B0503020204020204" charset="-122"/>
              </a:rPr>
              <a:t>运行</a:t>
            </a:r>
            <a:r>
              <a:rPr lang="zh-CN" altLang="en-US" dirty="0">
                <a:latin typeface="微软雅黑" panose="020B0503020204020204" charset="-122"/>
                <a:ea typeface="微软雅黑" panose="020B0503020204020204" charset="-122"/>
              </a:rPr>
              <a:t>。线程中的挂起状态是指线程的“不可运行状态”（阻塞状态）。</a:t>
            </a:r>
            <a:endParaRPr lang="zh-CN" altLang="en-US" dirty="0">
              <a:latin typeface="微软雅黑" panose="020B0503020204020204" charset="-122"/>
              <a:ea typeface="微软雅黑" panose="020B0503020204020204" charset="-122"/>
            </a:endParaRPr>
          </a:p>
        </p:txBody>
      </p:sp>
      <p:grpSp>
        <p:nvGrpSpPr>
          <p:cNvPr id="2" name="Group 4"/>
          <p:cNvGrpSpPr/>
          <p:nvPr/>
        </p:nvGrpSpPr>
        <p:grpSpPr bwMode="auto">
          <a:xfrm>
            <a:off x="2400300" y="3257551"/>
            <a:ext cx="4400550" cy="2327672"/>
            <a:chOff x="480" y="1165"/>
            <a:chExt cx="3696" cy="1955"/>
          </a:xfrm>
        </p:grpSpPr>
        <p:grpSp>
          <p:nvGrpSpPr>
            <p:cNvPr id="312325" name="Group 5"/>
            <p:cNvGrpSpPr/>
            <p:nvPr/>
          </p:nvGrpSpPr>
          <p:grpSpPr bwMode="auto">
            <a:xfrm>
              <a:off x="480" y="1165"/>
              <a:ext cx="3696" cy="1955"/>
              <a:chOff x="480" y="1165"/>
              <a:chExt cx="3696" cy="1955"/>
            </a:xfrm>
          </p:grpSpPr>
          <p:sp>
            <p:nvSpPr>
              <p:cNvPr id="312327" name="Oval 6"/>
              <p:cNvSpPr>
                <a:spLocks noChangeArrowheads="1"/>
              </p:cNvSpPr>
              <p:nvPr/>
            </p:nvSpPr>
            <p:spPr bwMode="auto">
              <a:xfrm>
                <a:off x="1392" y="1488"/>
                <a:ext cx="480" cy="480"/>
              </a:xfrm>
              <a:prstGeom prst="ellipse">
                <a:avLst/>
              </a:prstGeom>
              <a:solidFill>
                <a:srgbClr val="FFFFCC"/>
              </a:solidFill>
              <a:ln w="9525" algn="ctr">
                <a:solidFill>
                  <a:srgbClr val="000000"/>
                </a:solidFill>
                <a:round/>
              </a:ln>
              <a:effectLst>
                <a:outerShdw dist="20000" dir="5400000" rotWithShape="0">
                  <a:srgbClr val="000000">
                    <a:alpha val="37999"/>
                  </a:srgbClr>
                </a:outer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Tx/>
                  <a:buSzTx/>
                  <a:buNone/>
                  <a:defRPr/>
                </a:pPr>
                <a:r>
                  <a:rPr kumimoji="1" lang="zh-CN" altLang="en-US" sz="1500" b="1">
                    <a:solidFill>
                      <a:prstClr val="black"/>
                    </a:solidFill>
                    <a:latin typeface="微软雅黑" panose="020B0503020204020204" charset="-122"/>
                    <a:ea typeface="微软雅黑" panose="020B0503020204020204" charset="-122"/>
                  </a:rPr>
                  <a:t>就绪</a:t>
                </a:r>
                <a:endParaRPr kumimoji="1" lang="zh-CN" altLang="en-US" sz="1500" b="1">
                  <a:solidFill>
                    <a:prstClr val="black"/>
                  </a:solidFill>
                  <a:latin typeface="微软雅黑" panose="020B0503020204020204" charset="-122"/>
                  <a:ea typeface="微软雅黑" panose="020B0503020204020204" charset="-122"/>
                </a:endParaRPr>
              </a:p>
            </p:txBody>
          </p:sp>
          <p:sp>
            <p:nvSpPr>
              <p:cNvPr id="312328" name="Oval 7"/>
              <p:cNvSpPr>
                <a:spLocks noChangeArrowheads="1"/>
              </p:cNvSpPr>
              <p:nvPr/>
            </p:nvSpPr>
            <p:spPr bwMode="auto">
              <a:xfrm>
                <a:off x="2880" y="2016"/>
                <a:ext cx="480" cy="480"/>
              </a:xfrm>
              <a:prstGeom prst="ellipse">
                <a:avLst/>
              </a:prstGeom>
              <a:solidFill>
                <a:srgbClr val="FFFFCC"/>
              </a:solidFill>
              <a:ln w="9525" algn="ctr">
                <a:solidFill>
                  <a:srgbClr val="000000"/>
                </a:solidFill>
                <a:round/>
              </a:ln>
              <a:effectLst>
                <a:outerShdw dist="20000" dir="5400000" rotWithShape="0">
                  <a:srgbClr val="000000">
                    <a:alpha val="37999"/>
                  </a:srgbClr>
                </a:outer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Tx/>
                  <a:buSzTx/>
                  <a:buNone/>
                  <a:defRPr/>
                </a:pPr>
                <a:r>
                  <a:rPr kumimoji="1" lang="zh-CN" altLang="en-US" sz="1500" b="1">
                    <a:solidFill>
                      <a:prstClr val="black"/>
                    </a:solidFill>
                    <a:latin typeface="微软雅黑" panose="020B0503020204020204" charset="-122"/>
                    <a:ea typeface="微软雅黑" panose="020B0503020204020204" charset="-122"/>
                  </a:rPr>
                  <a:t>执行</a:t>
                </a:r>
                <a:endParaRPr kumimoji="1" lang="zh-CN" altLang="en-US" sz="1500" b="1">
                  <a:solidFill>
                    <a:prstClr val="black"/>
                  </a:solidFill>
                  <a:latin typeface="微软雅黑" panose="020B0503020204020204" charset="-122"/>
                  <a:ea typeface="微软雅黑" panose="020B0503020204020204" charset="-122"/>
                </a:endParaRPr>
              </a:p>
            </p:txBody>
          </p:sp>
          <p:sp>
            <p:nvSpPr>
              <p:cNvPr id="312330" name="Oval 9"/>
              <p:cNvSpPr>
                <a:spLocks noChangeArrowheads="1"/>
              </p:cNvSpPr>
              <p:nvPr/>
            </p:nvSpPr>
            <p:spPr bwMode="auto">
              <a:xfrm>
                <a:off x="1680" y="2640"/>
                <a:ext cx="480" cy="480"/>
              </a:xfrm>
              <a:prstGeom prst="ellipse">
                <a:avLst/>
              </a:prstGeom>
              <a:solidFill>
                <a:srgbClr val="FFFFCC"/>
              </a:solidFill>
              <a:ln w="9525" algn="ctr">
                <a:solidFill>
                  <a:srgbClr val="000000"/>
                </a:solidFill>
                <a:round/>
              </a:ln>
              <a:effectLst>
                <a:outerShdw dist="20000" dir="5400000" rotWithShape="0">
                  <a:srgbClr val="000000">
                    <a:alpha val="37999"/>
                  </a:srgbClr>
                </a:outer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Tx/>
                  <a:buSzTx/>
                  <a:buNone/>
                  <a:defRPr/>
                </a:pPr>
                <a:r>
                  <a:rPr kumimoji="1" lang="zh-CN" altLang="en-US" sz="1500" b="1">
                    <a:solidFill>
                      <a:prstClr val="black"/>
                    </a:solidFill>
                    <a:latin typeface="微软雅黑" panose="020B0503020204020204" charset="-122"/>
                    <a:ea typeface="微软雅黑" panose="020B0503020204020204" charset="-122"/>
                  </a:rPr>
                  <a:t>阻塞</a:t>
                </a:r>
                <a:endParaRPr kumimoji="1" lang="zh-CN" altLang="en-US" sz="1500" b="1">
                  <a:solidFill>
                    <a:prstClr val="black"/>
                  </a:solidFill>
                  <a:latin typeface="微软雅黑" panose="020B0503020204020204" charset="-122"/>
                  <a:ea typeface="微软雅黑" panose="020B0503020204020204" charset="-122"/>
                </a:endParaRPr>
              </a:p>
            </p:txBody>
          </p:sp>
          <p:sp>
            <p:nvSpPr>
              <p:cNvPr id="312331" name="Freeform 10"/>
              <p:cNvSpPr/>
              <p:nvPr/>
            </p:nvSpPr>
            <p:spPr bwMode="auto">
              <a:xfrm>
                <a:off x="1824" y="1416"/>
                <a:ext cx="1248" cy="600"/>
              </a:xfrm>
              <a:custGeom>
                <a:avLst/>
                <a:gdLst>
                  <a:gd name="T0" fmla="*/ 0 w 1248"/>
                  <a:gd name="T1" fmla="*/ 168 h 600"/>
                  <a:gd name="T2" fmla="*/ 576 w 1248"/>
                  <a:gd name="T3" fmla="*/ 72 h 600"/>
                  <a:gd name="T4" fmla="*/ 1248 w 1248"/>
                  <a:gd name="T5" fmla="*/ 600 h 600"/>
                  <a:gd name="T6" fmla="*/ 0 60000 65536"/>
                  <a:gd name="T7" fmla="*/ 0 60000 65536"/>
                  <a:gd name="T8" fmla="*/ 0 60000 65536"/>
                  <a:gd name="T9" fmla="*/ 0 w 1248"/>
                  <a:gd name="T10" fmla="*/ 0 h 600"/>
                  <a:gd name="T11" fmla="*/ 1248 w 1248"/>
                  <a:gd name="T12" fmla="*/ 600 h 600"/>
                </a:gdLst>
                <a:ahLst/>
                <a:cxnLst>
                  <a:cxn ang="T6">
                    <a:pos x="T0" y="T1"/>
                  </a:cxn>
                  <a:cxn ang="T7">
                    <a:pos x="T2" y="T3"/>
                  </a:cxn>
                  <a:cxn ang="T8">
                    <a:pos x="T4" y="T5"/>
                  </a:cxn>
                </a:cxnLst>
                <a:rect l="T9" t="T10" r="T11" b="T12"/>
                <a:pathLst>
                  <a:path w="1248" h="600">
                    <a:moveTo>
                      <a:pt x="0" y="168"/>
                    </a:moveTo>
                    <a:cubicBezTo>
                      <a:pt x="184" y="84"/>
                      <a:pt x="368" y="0"/>
                      <a:pt x="576" y="72"/>
                    </a:cubicBezTo>
                    <a:cubicBezTo>
                      <a:pt x="784" y="144"/>
                      <a:pt x="1136" y="512"/>
                      <a:pt x="1248" y="60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00">
                  <a:solidFill>
                    <a:prstClr val="black"/>
                  </a:solidFill>
                  <a:latin typeface="微软雅黑" panose="020B0503020204020204" charset="-122"/>
                  <a:ea typeface="微软雅黑" panose="020B0503020204020204" charset="-122"/>
                </a:endParaRPr>
              </a:p>
            </p:txBody>
          </p:sp>
          <p:sp>
            <p:nvSpPr>
              <p:cNvPr id="312332" name="Freeform 11"/>
              <p:cNvSpPr/>
              <p:nvPr/>
            </p:nvSpPr>
            <p:spPr bwMode="auto">
              <a:xfrm>
                <a:off x="1264" y="1872"/>
                <a:ext cx="416" cy="912"/>
              </a:xfrm>
              <a:custGeom>
                <a:avLst/>
                <a:gdLst>
                  <a:gd name="T0" fmla="*/ 224 w 416"/>
                  <a:gd name="T1" fmla="*/ 0 h 912"/>
                  <a:gd name="T2" fmla="*/ 32 w 416"/>
                  <a:gd name="T3" fmla="*/ 528 h 912"/>
                  <a:gd name="T4" fmla="*/ 416 w 416"/>
                  <a:gd name="T5" fmla="*/ 912 h 912"/>
                  <a:gd name="T6" fmla="*/ 0 60000 65536"/>
                  <a:gd name="T7" fmla="*/ 0 60000 65536"/>
                  <a:gd name="T8" fmla="*/ 0 60000 65536"/>
                  <a:gd name="T9" fmla="*/ 0 w 416"/>
                  <a:gd name="T10" fmla="*/ 0 h 912"/>
                  <a:gd name="T11" fmla="*/ 416 w 416"/>
                  <a:gd name="T12" fmla="*/ 912 h 912"/>
                </a:gdLst>
                <a:ahLst/>
                <a:cxnLst>
                  <a:cxn ang="T6">
                    <a:pos x="T0" y="T1"/>
                  </a:cxn>
                  <a:cxn ang="T7">
                    <a:pos x="T2" y="T3"/>
                  </a:cxn>
                  <a:cxn ang="T8">
                    <a:pos x="T4" y="T5"/>
                  </a:cxn>
                </a:cxnLst>
                <a:rect l="T9" t="T10" r="T11" b="T12"/>
                <a:pathLst>
                  <a:path w="416" h="912">
                    <a:moveTo>
                      <a:pt x="224" y="0"/>
                    </a:moveTo>
                    <a:cubicBezTo>
                      <a:pt x="112" y="188"/>
                      <a:pt x="0" y="376"/>
                      <a:pt x="32" y="528"/>
                    </a:cubicBezTo>
                    <a:cubicBezTo>
                      <a:pt x="64" y="680"/>
                      <a:pt x="352" y="848"/>
                      <a:pt x="416" y="912"/>
                    </a:cubicBezTo>
                  </a:path>
                </a:pathLst>
              </a:custGeom>
              <a:noFill/>
              <a:ln w="952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00">
                  <a:solidFill>
                    <a:prstClr val="black"/>
                  </a:solidFill>
                  <a:latin typeface="微软雅黑" panose="020B0503020204020204" charset="-122"/>
                  <a:ea typeface="微软雅黑" panose="020B0503020204020204" charset="-122"/>
                </a:endParaRPr>
              </a:p>
            </p:txBody>
          </p:sp>
          <p:sp>
            <p:nvSpPr>
              <p:cNvPr id="312333" name="Freeform 12"/>
              <p:cNvSpPr/>
              <p:nvPr/>
            </p:nvSpPr>
            <p:spPr bwMode="auto">
              <a:xfrm>
                <a:off x="2112" y="2400"/>
                <a:ext cx="912" cy="432"/>
              </a:xfrm>
              <a:custGeom>
                <a:avLst/>
                <a:gdLst>
                  <a:gd name="T0" fmla="*/ 224 w 1016"/>
                  <a:gd name="T1" fmla="*/ 0 h 568"/>
                  <a:gd name="T2" fmla="*/ 213 w 1016"/>
                  <a:gd name="T3" fmla="*/ 14 h 568"/>
                  <a:gd name="T4" fmla="*/ 0 w 1016"/>
                  <a:gd name="T5" fmla="*/ 15 h 568"/>
                  <a:gd name="T6" fmla="*/ 0 60000 65536"/>
                  <a:gd name="T7" fmla="*/ 0 60000 65536"/>
                  <a:gd name="T8" fmla="*/ 0 60000 65536"/>
                  <a:gd name="T9" fmla="*/ 0 w 1016"/>
                  <a:gd name="T10" fmla="*/ 0 h 568"/>
                  <a:gd name="T11" fmla="*/ 1016 w 1016"/>
                  <a:gd name="T12" fmla="*/ 568 h 568"/>
                </a:gdLst>
                <a:ahLst/>
                <a:cxnLst>
                  <a:cxn ang="T6">
                    <a:pos x="T0" y="T1"/>
                  </a:cxn>
                  <a:cxn ang="T7">
                    <a:pos x="T2" y="T3"/>
                  </a:cxn>
                  <a:cxn ang="T8">
                    <a:pos x="T4" y="T5"/>
                  </a:cxn>
                </a:cxnLst>
                <a:rect l="T9" t="T10" r="T11" b="T12"/>
                <a:pathLst>
                  <a:path w="1016" h="568">
                    <a:moveTo>
                      <a:pt x="912" y="0"/>
                    </a:moveTo>
                    <a:cubicBezTo>
                      <a:pt x="964" y="196"/>
                      <a:pt x="1016" y="392"/>
                      <a:pt x="864" y="480"/>
                    </a:cubicBezTo>
                    <a:cubicBezTo>
                      <a:pt x="712" y="568"/>
                      <a:pt x="144" y="520"/>
                      <a:pt x="0" y="528"/>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defRPr/>
                </a:pPr>
                <a:endParaRPr lang="zh-CN" altLang="en-US" sz="100">
                  <a:solidFill>
                    <a:prstClr val="black"/>
                  </a:solidFill>
                  <a:latin typeface="微软雅黑" panose="020B0503020204020204" charset="-122"/>
                  <a:ea typeface="微软雅黑" panose="020B0503020204020204" charset="-122"/>
                </a:endParaRPr>
              </a:p>
            </p:txBody>
          </p:sp>
          <p:sp>
            <p:nvSpPr>
              <p:cNvPr id="312334" name="Line 13"/>
              <p:cNvSpPr>
                <a:spLocks noChangeShapeType="1"/>
              </p:cNvSpPr>
              <p:nvPr/>
            </p:nvSpPr>
            <p:spPr bwMode="auto">
              <a:xfrm>
                <a:off x="3360" y="2256"/>
                <a:ext cx="81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100">
                  <a:solidFill>
                    <a:prstClr val="black"/>
                  </a:solidFill>
                  <a:latin typeface="微软雅黑" panose="020B0503020204020204" charset="-122"/>
                  <a:ea typeface="微软雅黑" panose="020B0503020204020204" charset="-122"/>
                </a:endParaRPr>
              </a:p>
            </p:txBody>
          </p:sp>
          <p:sp>
            <p:nvSpPr>
              <p:cNvPr id="312335" name="Line 14"/>
              <p:cNvSpPr>
                <a:spLocks noChangeShapeType="1"/>
              </p:cNvSpPr>
              <p:nvPr/>
            </p:nvSpPr>
            <p:spPr bwMode="auto">
              <a:xfrm>
                <a:off x="480" y="1776"/>
                <a:ext cx="86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sz="100">
                  <a:solidFill>
                    <a:prstClr val="black"/>
                  </a:solidFill>
                  <a:latin typeface="微软雅黑" panose="020B0503020204020204" charset="-122"/>
                  <a:ea typeface="微软雅黑" panose="020B0503020204020204" charset="-122"/>
                </a:endParaRPr>
              </a:p>
            </p:txBody>
          </p:sp>
          <p:sp>
            <p:nvSpPr>
              <p:cNvPr id="312336" name="Text Box 15"/>
              <p:cNvSpPr txBox="1">
                <a:spLocks noChangeArrowheads="1"/>
              </p:cNvSpPr>
              <p:nvPr/>
            </p:nvSpPr>
            <p:spPr bwMode="auto">
              <a:xfrm>
                <a:off x="2342" y="1165"/>
                <a:ext cx="53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Tx/>
                  <a:buSzTx/>
                  <a:buNone/>
                  <a:defRPr/>
                </a:pPr>
                <a:r>
                  <a:rPr kumimoji="1" lang="zh-CN" altLang="en-US" sz="1800" b="1">
                    <a:solidFill>
                      <a:srgbClr val="9900CC"/>
                    </a:solidFill>
                    <a:latin typeface="微软雅黑" panose="020B0503020204020204" charset="-122"/>
                    <a:ea typeface="微软雅黑" panose="020B0503020204020204" charset="-122"/>
                  </a:rPr>
                  <a:t>调度</a:t>
                </a:r>
                <a:endParaRPr kumimoji="1" lang="zh-CN" altLang="en-US" sz="1800" b="1">
                  <a:solidFill>
                    <a:srgbClr val="9900CC"/>
                  </a:solidFill>
                  <a:latin typeface="微软雅黑" panose="020B0503020204020204" charset="-122"/>
                  <a:ea typeface="微软雅黑" panose="020B0503020204020204" charset="-122"/>
                </a:endParaRPr>
              </a:p>
            </p:txBody>
          </p:sp>
          <p:sp>
            <p:nvSpPr>
              <p:cNvPr id="312337" name="Text Box 16"/>
              <p:cNvSpPr txBox="1">
                <a:spLocks noChangeArrowheads="1"/>
              </p:cNvSpPr>
              <p:nvPr/>
            </p:nvSpPr>
            <p:spPr bwMode="auto">
              <a:xfrm>
                <a:off x="2438" y="2749"/>
                <a:ext cx="53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Tx/>
                  <a:buSzTx/>
                  <a:buNone/>
                  <a:defRPr/>
                </a:pPr>
                <a:r>
                  <a:rPr kumimoji="1" lang="zh-CN" altLang="en-US" sz="1800" b="1">
                    <a:solidFill>
                      <a:srgbClr val="9900CC"/>
                    </a:solidFill>
                    <a:latin typeface="微软雅黑" panose="020B0503020204020204" charset="-122"/>
                    <a:ea typeface="微软雅黑" panose="020B0503020204020204" charset="-122"/>
                  </a:rPr>
                  <a:t>阻塞</a:t>
                </a:r>
                <a:endParaRPr kumimoji="1" lang="zh-CN" altLang="en-US" sz="1800" b="1">
                  <a:solidFill>
                    <a:srgbClr val="9900CC"/>
                  </a:solidFill>
                  <a:latin typeface="微软雅黑" panose="020B0503020204020204" charset="-122"/>
                  <a:ea typeface="微软雅黑" panose="020B0503020204020204" charset="-122"/>
                </a:endParaRPr>
              </a:p>
            </p:txBody>
          </p:sp>
          <p:sp>
            <p:nvSpPr>
              <p:cNvPr id="312338" name="Text Box 17"/>
              <p:cNvSpPr txBox="1">
                <a:spLocks noChangeArrowheads="1"/>
              </p:cNvSpPr>
              <p:nvPr/>
            </p:nvSpPr>
            <p:spPr bwMode="auto">
              <a:xfrm>
                <a:off x="1056" y="2112"/>
                <a:ext cx="53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Tx/>
                  <a:buSzTx/>
                  <a:buNone/>
                  <a:defRPr/>
                </a:pPr>
                <a:r>
                  <a:rPr kumimoji="1" lang="zh-CN" altLang="en-US" sz="1800" b="1">
                    <a:solidFill>
                      <a:srgbClr val="9900CC"/>
                    </a:solidFill>
                    <a:latin typeface="微软雅黑" panose="020B0503020204020204" charset="-122"/>
                    <a:ea typeface="微软雅黑" panose="020B0503020204020204" charset="-122"/>
                  </a:rPr>
                  <a:t>唤醒</a:t>
                </a:r>
                <a:endParaRPr kumimoji="1" lang="zh-CN" altLang="en-US" sz="1800" b="1">
                  <a:solidFill>
                    <a:srgbClr val="9900CC"/>
                  </a:solidFill>
                  <a:latin typeface="微软雅黑" panose="020B0503020204020204" charset="-122"/>
                  <a:ea typeface="微软雅黑" panose="020B0503020204020204" charset="-122"/>
                </a:endParaRPr>
              </a:p>
            </p:txBody>
          </p:sp>
          <p:sp>
            <p:nvSpPr>
              <p:cNvPr id="312339" name="Text Box 18"/>
              <p:cNvSpPr txBox="1">
                <a:spLocks noChangeArrowheads="1"/>
              </p:cNvSpPr>
              <p:nvPr/>
            </p:nvSpPr>
            <p:spPr bwMode="auto">
              <a:xfrm>
                <a:off x="614" y="1453"/>
                <a:ext cx="53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Tx/>
                  <a:buSzTx/>
                  <a:buNone/>
                  <a:defRPr/>
                </a:pPr>
                <a:r>
                  <a:rPr kumimoji="1" lang="zh-CN" altLang="en-US" sz="1800" b="1">
                    <a:solidFill>
                      <a:srgbClr val="9900CC"/>
                    </a:solidFill>
                    <a:latin typeface="微软雅黑" panose="020B0503020204020204" charset="-122"/>
                    <a:ea typeface="微软雅黑" panose="020B0503020204020204" charset="-122"/>
                  </a:rPr>
                  <a:t>创建</a:t>
                </a:r>
                <a:endParaRPr kumimoji="1" lang="zh-CN" altLang="en-US" sz="1800" b="1">
                  <a:solidFill>
                    <a:srgbClr val="9900CC"/>
                  </a:solidFill>
                  <a:latin typeface="微软雅黑" panose="020B0503020204020204" charset="-122"/>
                  <a:ea typeface="微软雅黑" panose="020B0503020204020204" charset="-122"/>
                </a:endParaRPr>
              </a:p>
            </p:txBody>
          </p:sp>
          <p:sp>
            <p:nvSpPr>
              <p:cNvPr id="312340" name="Text Box 19"/>
              <p:cNvSpPr txBox="1">
                <a:spLocks noChangeArrowheads="1"/>
              </p:cNvSpPr>
              <p:nvPr/>
            </p:nvSpPr>
            <p:spPr bwMode="auto">
              <a:xfrm>
                <a:off x="3446" y="1981"/>
                <a:ext cx="53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Tx/>
                  <a:buSzTx/>
                  <a:buNone/>
                  <a:defRPr/>
                </a:pPr>
                <a:r>
                  <a:rPr kumimoji="1" lang="zh-CN" altLang="en-US" sz="1800" b="1">
                    <a:solidFill>
                      <a:srgbClr val="9900CC"/>
                    </a:solidFill>
                    <a:latin typeface="微软雅黑" panose="020B0503020204020204" charset="-122"/>
                    <a:ea typeface="微软雅黑" panose="020B0503020204020204" charset="-122"/>
                  </a:rPr>
                  <a:t>结束</a:t>
                </a:r>
                <a:endParaRPr kumimoji="1" lang="zh-CN" altLang="en-US" sz="1800" b="1">
                  <a:solidFill>
                    <a:srgbClr val="9900CC"/>
                  </a:solidFill>
                  <a:latin typeface="微软雅黑" panose="020B0503020204020204" charset="-122"/>
                  <a:ea typeface="微软雅黑" panose="020B0503020204020204" charset="-122"/>
                </a:endParaRPr>
              </a:p>
            </p:txBody>
          </p:sp>
        </p:grpSp>
        <p:sp>
          <p:nvSpPr>
            <p:cNvPr id="312326" name="Line 20"/>
            <p:cNvSpPr>
              <a:spLocks noChangeShapeType="1"/>
            </p:cNvSpPr>
            <p:nvPr/>
          </p:nvSpPr>
          <p:spPr bwMode="auto">
            <a:xfrm flipH="1" flipV="1">
              <a:off x="1776" y="1920"/>
              <a:ext cx="1056"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pPr>
                <a:defRPr/>
              </a:pPr>
              <a:endParaRPr lang="zh-CN" altLang="en-US" sz="100">
                <a:solidFill>
                  <a:prstClr val="black"/>
                </a:solidFill>
                <a:latin typeface="微软雅黑" panose="020B0503020204020204" charset="-122"/>
                <a:ea typeface="微软雅黑" panose="020B0503020204020204" charset="-122"/>
              </a:endParaRPr>
            </a:p>
          </p:txBody>
        </p:sp>
      </p:grpSp>
      <p:sp>
        <p:nvSpPr>
          <p:cNvPr id="143381" name="Text Box 21"/>
          <p:cNvSpPr txBox="1">
            <a:spLocks noChangeArrowheads="1"/>
          </p:cNvSpPr>
          <p:nvPr/>
        </p:nvSpPr>
        <p:spPr bwMode="auto">
          <a:xfrm>
            <a:off x="1920478" y="1232892"/>
            <a:ext cx="5645944" cy="55308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zh-CN" altLang="en-US" sz="1500" b="1" dirty="0">
                <a:solidFill>
                  <a:prstClr val="black"/>
                </a:solidFill>
                <a:latin typeface="微软雅黑" panose="020B0503020204020204" charset="-122"/>
                <a:ea typeface="微软雅黑" panose="020B0503020204020204" charset="-122"/>
              </a:rPr>
              <a:t>思考：线程中的挂起操作与进程中的挂起操作是否为同一概念？</a:t>
            </a:r>
            <a:endParaRPr lang="en-US" altLang="zh-CN" sz="1500" b="1" dirty="0">
              <a:solidFill>
                <a:prstClr val="black"/>
              </a:solidFill>
              <a:latin typeface="微软雅黑" panose="020B0503020204020204" charset="-122"/>
              <a:ea typeface="微软雅黑" panose="020B0503020204020204" charset="-122"/>
            </a:endParaRPr>
          </a:p>
          <a:p>
            <a:pPr>
              <a:defRPr/>
            </a:pPr>
            <a:r>
              <a:rPr lang="en-US" altLang="zh-CN" sz="1500" b="1" dirty="0">
                <a:solidFill>
                  <a:prstClr val="black"/>
                </a:solidFill>
                <a:latin typeface="微软雅黑" panose="020B0503020204020204" charset="-122"/>
                <a:ea typeface="微软雅黑" panose="020B0503020204020204" charset="-122"/>
              </a:rPr>
              <a:t>      </a:t>
            </a:r>
            <a:r>
              <a:rPr lang="zh-CN" altLang="en-US" sz="1500" b="1" dirty="0">
                <a:solidFill>
                  <a:prstClr val="black"/>
                </a:solidFill>
                <a:latin typeface="微软雅黑" panose="020B0503020204020204" charset="-122"/>
                <a:ea typeface="微软雅黑" panose="020B0503020204020204" charset="-122"/>
              </a:rPr>
              <a:t>     为什么？</a:t>
            </a:r>
            <a:endParaRPr lang="zh-CN" altLang="en-US" sz="1500" b="1" dirty="0">
              <a:solidFill>
                <a:prstClr val="black"/>
              </a:solidFill>
              <a:latin typeface="微软雅黑" panose="020B0503020204020204" charset="-122"/>
              <a:ea typeface="微软雅黑" panose="020B0503020204020204" charset="-122"/>
            </a:endParaRPr>
          </a:p>
        </p:txBody>
      </p:sp>
      <p:sp>
        <p:nvSpPr>
          <p:cNvPr id="3" name="矩形 2"/>
          <p:cNvSpPr/>
          <p:nvPr/>
        </p:nvSpPr>
        <p:spPr>
          <a:xfrm>
            <a:off x="4000501" y="5649587"/>
            <a:ext cx="284480" cy="106680"/>
          </a:xfrm>
          <a:prstGeom prst="rect">
            <a:avLst/>
          </a:prstGeom>
        </p:spPr>
        <p:txBody>
          <a:bodyPr wrap="none">
            <a:spAutoFit/>
          </a:bodyPr>
          <a:lstStyle/>
          <a:p>
            <a:pPr>
              <a:defRPr/>
            </a:pPr>
            <a:r>
              <a:rPr lang="zh-CN" altLang="en-US" sz="100" b="1" dirty="0">
                <a:solidFill>
                  <a:prstClr val="black"/>
                </a:solidFill>
                <a:highlight>
                  <a:srgbClr val="FFFF00"/>
                </a:highlight>
                <a:latin typeface="微软雅黑" panose="020B0503020204020204" charset="-122"/>
                <a:ea typeface="微软雅黑" panose="020B0503020204020204" charset="-122"/>
              </a:rPr>
              <a:t>线程的状态转换图</a:t>
            </a:r>
            <a:endParaRPr lang="zh-CN" altLang="en-US" sz="100" dirty="0">
              <a:solidFill>
                <a:prstClr val="black"/>
              </a:solidFill>
              <a:highlight>
                <a:srgbClr val="FFFF00"/>
              </a:highlight>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1" grpId="0" bldLvl="0" animBg="1" autoUpdateAnimBg="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28030" name="Group 158"/>
          <p:cNvGraphicFramePr>
            <a:graphicFrameLocks noGrp="1"/>
          </p:cNvGraphicFramePr>
          <p:nvPr>
            <p:ph idx="1"/>
          </p:nvPr>
        </p:nvGraphicFramePr>
        <p:xfrm>
          <a:off x="1672275" y="2270524"/>
          <a:ext cx="6057265" cy="3270250"/>
        </p:xfrm>
        <a:graphic>
          <a:graphicData uri="http://schemas.openxmlformats.org/drawingml/2006/table">
            <a:tbl>
              <a:tblPr/>
              <a:tblGrid>
                <a:gridCol w="1147445"/>
                <a:gridCol w="2362835"/>
                <a:gridCol w="2546985"/>
              </a:tblGrid>
              <a:tr h="512445">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应用功能</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线程</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进程</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6235">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创建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pthread_create</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fork,vfork</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6235">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退出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pthread_exit</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exit</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6235">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pthread_join</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wait</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waitpid</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9735">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取消</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终止</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pthread_cancel</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abort</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8460">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读取</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ID</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pthread_self</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getpid</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90905">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同步互斥</a:t>
                      </a:r>
                      <a:r>
                        <a:rPr kumimoji="1" lang="en-US"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通信机制</a:t>
                      </a:r>
                      <a:endParaRPr kumimoji="1"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339725" algn="l" defTabSz="904875" rtl="0" eaLnBrk="1" fontAlgn="base" latinLnBrk="0" hangingPunct="1">
                        <a:lnSpc>
                          <a:spcPct val="100000"/>
                        </a:lnSpc>
                        <a:spcBef>
                          <a:spcPct val="0"/>
                        </a:spcBef>
                        <a:spcAft>
                          <a:spcPct val="0"/>
                        </a:spcAft>
                        <a:buClrTx/>
                        <a:buSzTx/>
                        <a:buFontTx/>
                        <a:buNone/>
                      </a:pPr>
                      <a:r>
                        <a:rPr kumimoji="1"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互斥锁、条件变量、读写锁</a:t>
                      </a:r>
                      <a:endParaRPr kumimoji="1"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339725" algn="l" defTabSz="904875" rtl="0" eaLnBrk="1" fontAlgn="base" latinLnBrk="0" hangingPunct="1">
                        <a:lnSpc>
                          <a:spcPct val="100000"/>
                        </a:lnSpc>
                        <a:spcBef>
                          <a:spcPct val="0"/>
                        </a:spcBef>
                        <a:spcAft>
                          <a:spcPct val="0"/>
                        </a:spcAft>
                        <a:buClrTx/>
                        <a:buSzTx/>
                        <a:buFontTx/>
                        <a:buNone/>
                      </a:pPr>
                      <a:r>
                        <a:rPr kumimoji="1"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无名管道、有名管道、信号、消息队列、信号量、共享内存</a:t>
                      </a:r>
                      <a:endParaRPr kumimoji="1"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68580" marT="34286" marB="34286"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127874" name="Rectangle 2"/>
          <p:cNvSpPr>
            <a:spLocks noGrp="1" noChangeArrowheads="1"/>
          </p:cNvSpPr>
          <p:nvPr>
            <p:ph type="title"/>
          </p:nvPr>
        </p:nvSpPr>
        <p:spPr>
          <a:xfrm>
            <a:off x="1850436" y="1858568"/>
            <a:ext cx="5497903" cy="411956"/>
          </a:xfrm>
        </p:spPr>
        <p:txBody>
          <a:bodyPr/>
          <a:lstStyle/>
          <a:p>
            <a:pPr eaLnBrk="1" hangingPunct="1">
              <a:defRPr/>
            </a:pPr>
            <a:r>
              <a:rPr lang="zh-CN" altLang="en-US" dirty="0"/>
              <a:t>进程</a:t>
            </a:r>
            <a:r>
              <a:rPr lang="en-US" altLang="zh-CN" dirty="0"/>
              <a:t>/</a:t>
            </a:r>
            <a:r>
              <a:rPr lang="zh-CN" altLang="en-US" dirty="0"/>
              <a:t>线程控制操作对比 </a:t>
            </a:r>
            <a:endParaRPr lang="zh-CN" altLang="en-US" dirty="0"/>
          </a:p>
        </p:txBody>
      </p:sp>
      <p:sp>
        <p:nvSpPr>
          <p:cNvPr id="6" name="矩形 5"/>
          <p:cNvSpPr/>
          <p:nvPr/>
        </p:nvSpPr>
        <p:spPr>
          <a:xfrm>
            <a:off x="6699467" y="1208515"/>
            <a:ext cx="2217194" cy="67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7"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22021" y="2214110"/>
            <a:ext cx="7830820" cy="3304876"/>
          </a:xfrm>
        </p:spPr>
        <p:txBody>
          <a:bodyPr/>
          <a:lstStyle/>
          <a:p>
            <a:pPr algn="just">
              <a:lnSpc>
                <a:spcPct val="150000"/>
              </a:lnSpc>
              <a:spcBef>
                <a:spcPct val="50000"/>
              </a:spcBef>
              <a:buClrTx/>
              <a:buSzTx/>
            </a:pPr>
            <a:r>
              <a:rPr kumimoji="1" lang="zh-CN" altLang="en-US" sz="1500" dirty="0">
                <a:latin typeface="微软雅黑" panose="020B0503020204020204" charset="-122"/>
                <a:ea typeface="微软雅黑" panose="020B0503020204020204" charset="-122"/>
              </a:rPr>
              <a:t>线程的创建：</a:t>
            </a:r>
            <a:endParaRPr kumimoji="1" lang="en-US" altLang="zh-CN" sz="1500" dirty="0">
              <a:latin typeface="微软雅黑" panose="020B0503020204020204" charset="-122"/>
              <a:ea typeface="微软雅黑" panose="020B0503020204020204" charset="-122"/>
            </a:endParaRPr>
          </a:p>
          <a:p>
            <a:pPr lvl="3" algn="just">
              <a:lnSpc>
                <a:spcPct val="150000"/>
              </a:lnSpc>
              <a:spcBef>
                <a:spcPts val="0"/>
              </a:spcBef>
              <a:buClrTx/>
              <a:buSzTx/>
              <a:buFont typeface="Wingdings" panose="05000000000000000000" pitchFamily="2" charset="2"/>
              <a:buChar char="ü"/>
            </a:pPr>
            <a:r>
              <a:rPr kumimoji="1" lang="zh-CN" altLang="en-US" sz="1500" dirty="0">
                <a:latin typeface="微软雅黑" panose="020B0503020204020204" charset="-122"/>
                <a:ea typeface="微软雅黑" panose="020B0503020204020204" charset="-122"/>
              </a:rPr>
              <a:t>在多线程</a:t>
            </a:r>
            <a:r>
              <a:rPr kumimoji="1" lang="en-US" altLang="zh-CN" sz="1500" dirty="0">
                <a:latin typeface="微软雅黑" panose="020B0503020204020204" charset="-122"/>
                <a:ea typeface="微软雅黑" panose="020B0503020204020204" charset="-122"/>
              </a:rPr>
              <a:t>OS</a:t>
            </a:r>
            <a:r>
              <a:rPr kumimoji="1" lang="zh-CN" altLang="en-US" sz="1500" dirty="0">
                <a:latin typeface="微软雅黑" panose="020B0503020204020204" charset="-122"/>
                <a:ea typeface="微软雅黑" panose="020B0503020204020204" charset="-122"/>
              </a:rPr>
              <a:t>环境下，应用程序在启动时，通常仅有一个“</a:t>
            </a:r>
            <a:r>
              <a:rPr kumimoji="1" lang="zh-CN" altLang="en-US" sz="1500" dirty="0">
                <a:solidFill>
                  <a:srgbClr val="FF0000"/>
                </a:solidFill>
                <a:latin typeface="微软雅黑" panose="020B0503020204020204" charset="-122"/>
                <a:ea typeface="微软雅黑" panose="020B0503020204020204" charset="-122"/>
              </a:rPr>
              <a:t>初始化线程</a:t>
            </a:r>
            <a:r>
              <a:rPr kumimoji="1" lang="zh-CN" altLang="en-US" sz="1500" dirty="0">
                <a:latin typeface="微软雅黑" panose="020B0503020204020204" charset="-122"/>
                <a:ea typeface="微软雅黑" panose="020B0503020204020204" charset="-122"/>
              </a:rPr>
              <a:t>”线程在执行。</a:t>
            </a:r>
            <a:endParaRPr kumimoji="1" lang="en-US" altLang="zh-CN" sz="1500" dirty="0">
              <a:latin typeface="微软雅黑" panose="020B0503020204020204" charset="-122"/>
              <a:ea typeface="微软雅黑" panose="020B0503020204020204" charset="-122"/>
            </a:endParaRPr>
          </a:p>
          <a:p>
            <a:pPr lvl="3" algn="just">
              <a:lnSpc>
                <a:spcPct val="150000"/>
              </a:lnSpc>
              <a:spcBef>
                <a:spcPts val="0"/>
              </a:spcBef>
              <a:buClrTx/>
              <a:buSzTx/>
              <a:buFont typeface="Wingdings" panose="05000000000000000000" pitchFamily="2" charset="2"/>
              <a:buChar char="ü"/>
            </a:pPr>
            <a:r>
              <a:rPr kumimoji="1" lang="zh-CN" altLang="en-US" sz="1500" dirty="0">
                <a:latin typeface="微软雅黑" panose="020B0503020204020204" charset="-122"/>
                <a:ea typeface="微软雅黑" panose="020B0503020204020204" charset="-122"/>
              </a:rPr>
              <a:t>在创建新线程时，需要利用一个</a:t>
            </a:r>
            <a:r>
              <a:rPr kumimoji="1" lang="zh-CN" altLang="en-US" sz="1500" dirty="0">
                <a:solidFill>
                  <a:srgbClr val="FF0000"/>
                </a:solidFill>
                <a:latin typeface="微软雅黑" panose="020B0503020204020204" charset="-122"/>
                <a:ea typeface="微软雅黑" panose="020B0503020204020204" charset="-122"/>
              </a:rPr>
              <a:t>线程创建函数</a:t>
            </a:r>
            <a:r>
              <a:rPr kumimoji="1" lang="en-US" altLang="zh-CN" sz="1500" dirty="0">
                <a:latin typeface="微软雅黑" panose="020B0503020204020204" charset="-122"/>
                <a:ea typeface="微软雅黑" panose="020B0503020204020204" charset="-122"/>
              </a:rPr>
              <a:t>(</a:t>
            </a:r>
            <a:r>
              <a:rPr kumimoji="1" lang="zh-CN" altLang="en-US" sz="1500" dirty="0">
                <a:latin typeface="微软雅黑" panose="020B0503020204020204" charset="-122"/>
                <a:ea typeface="微软雅黑" panose="020B0503020204020204" charset="-122"/>
              </a:rPr>
              <a:t>或系统调用</a:t>
            </a:r>
            <a:r>
              <a:rPr kumimoji="1" lang="en-US" altLang="zh-CN" sz="1500" dirty="0">
                <a:latin typeface="微软雅黑" panose="020B0503020204020204" charset="-122"/>
                <a:ea typeface="微软雅黑" panose="020B0503020204020204" charset="-122"/>
              </a:rPr>
              <a:t>)</a:t>
            </a:r>
            <a:r>
              <a:rPr kumimoji="1" lang="zh-CN" altLang="en-US" sz="1500" dirty="0">
                <a:latin typeface="微软雅黑" panose="020B0503020204020204" charset="-122"/>
                <a:ea typeface="微软雅黑" panose="020B0503020204020204" charset="-122"/>
              </a:rPr>
              <a:t>，并提供相应的参数。</a:t>
            </a:r>
            <a:endParaRPr kumimoji="1" lang="en-US" altLang="zh-CN" sz="1500" dirty="0">
              <a:latin typeface="微软雅黑" panose="020B0503020204020204" charset="-122"/>
              <a:ea typeface="微软雅黑" panose="020B0503020204020204" charset="-122"/>
            </a:endParaRPr>
          </a:p>
          <a:p>
            <a:pPr lvl="5" algn="just">
              <a:lnSpc>
                <a:spcPct val="150000"/>
              </a:lnSpc>
              <a:spcBef>
                <a:spcPts val="0"/>
              </a:spcBef>
              <a:buClrTx/>
              <a:buSzTx/>
              <a:buFont typeface="Arial" panose="020B0604020202020204" pitchFamily="34" charset="0"/>
              <a:buChar char="•"/>
            </a:pPr>
            <a:r>
              <a:rPr kumimoji="1" lang="zh-CN" altLang="en-US" sz="1500" dirty="0">
                <a:latin typeface="微软雅黑" panose="020B0503020204020204" charset="-122"/>
                <a:ea typeface="微软雅黑" panose="020B0503020204020204" charset="-122"/>
              </a:rPr>
              <a:t>如指向线程主程序的入口指针、堆栈的大小，以及用于调度的优先级等。</a:t>
            </a:r>
            <a:endParaRPr kumimoji="1" lang="en-US" altLang="zh-CN" sz="1500" dirty="0">
              <a:latin typeface="微软雅黑" panose="020B0503020204020204" charset="-122"/>
              <a:ea typeface="微软雅黑" panose="020B0503020204020204" charset="-122"/>
            </a:endParaRPr>
          </a:p>
          <a:p>
            <a:pPr lvl="3" algn="just">
              <a:lnSpc>
                <a:spcPct val="150000"/>
              </a:lnSpc>
              <a:spcBef>
                <a:spcPts val="0"/>
              </a:spcBef>
              <a:buClrTx/>
              <a:buSzTx/>
              <a:buFont typeface="Wingdings" panose="05000000000000000000" pitchFamily="2" charset="2"/>
              <a:buChar char="ü"/>
            </a:pPr>
            <a:r>
              <a:rPr kumimoji="1" lang="zh-CN" altLang="en-US" sz="1500" dirty="0">
                <a:latin typeface="微软雅黑" panose="020B0503020204020204" charset="-122"/>
                <a:ea typeface="微软雅黑" panose="020B0503020204020204" charset="-122"/>
              </a:rPr>
              <a:t>在线程创建函数执行完后，将返回一个</a:t>
            </a:r>
            <a:r>
              <a:rPr kumimoji="1" lang="zh-CN" altLang="en-US" sz="1500" dirty="0">
                <a:solidFill>
                  <a:srgbClr val="FF0000"/>
                </a:solidFill>
                <a:latin typeface="微软雅黑" panose="020B0503020204020204" charset="-122"/>
                <a:ea typeface="微软雅黑" panose="020B0503020204020204" charset="-122"/>
              </a:rPr>
              <a:t>线程标识符</a:t>
            </a:r>
            <a:r>
              <a:rPr kumimoji="1" lang="zh-CN" altLang="en-US" sz="1500" dirty="0">
                <a:latin typeface="微软雅黑" panose="020B0503020204020204" charset="-122"/>
                <a:ea typeface="微软雅黑" panose="020B0503020204020204" charset="-122"/>
              </a:rPr>
              <a:t>供以后使用。</a:t>
            </a:r>
            <a:endParaRPr kumimoji="1" lang="en-US" altLang="zh-CN" sz="1500" dirty="0">
              <a:latin typeface="微软雅黑" panose="020B0503020204020204" charset="-122"/>
              <a:ea typeface="微软雅黑" panose="020B0503020204020204" charset="-122"/>
            </a:endParaRPr>
          </a:p>
          <a:p>
            <a:pPr lvl="1" algn="just">
              <a:lnSpc>
                <a:spcPct val="150000"/>
              </a:lnSpc>
              <a:spcBef>
                <a:spcPts val="0"/>
              </a:spcBef>
              <a:buClrTx/>
              <a:buSzTx/>
              <a:buFont typeface="Wingdings" panose="05000000000000000000" pitchFamily="2" charset="2"/>
              <a:buChar char="Ø"/>
            </a:pPr>
            <a:r>
              <a:rPr kumimoji="1" lang="zh-CN" altLang="en-US" sz="1500" dirty="0">
                <a:latin typeface="微软雅黑" panose="020B0503020204020204" charset="-122"/>
                <a:ea typeface="微软雅黑" panose="020B0503020204020204" charset="-122"/>
              </a:rPr>
              <a:t>线程的终止：</a:t>
            </a:r>
            <a:endParaRPr kumimoji="1" lang="en-US" altLang="zh-CN" sz="1500" dirty="0">
              <a:latin typeface="微软雅黑" panose="020B0503020204020204" charset="-122"/>
              <a:ea typeface="微软雅黑" panose="020B0503020204020204" charset="-122"/>
            </a:endParaRPr>
          </a:p>
          <a:p>
            <a:pPr lvl="3" algn="just">
              <a:lnSpc>
                <a:spcPct val="150000"/>
              </a:lnSpc>
              <a:spcBef>
                <a:spcPts val="0"/>
              </a:spcBef>
              <a:buClrTx/>
              <a:buSzTx/>
              <a:buFont typeface="Wingdings" panose="05000000000000000000" pitchFamily="2" charset="2"/>
              <a:buChar char="ü"/>
            </a:pPr>
            <a:r>
              <a:rPr kumimoji="1" lang="zh-CN" altLang="en-US" sz="1500" dirty="0">
                <a:latin typeface="微软雅黑" panose="020B0503020204020204" charset="-122"/>
                <a:ea typeface="微软雅黑" panose="020B0503020204020204" charset="-122"/>
              </a:rPr>
              <a:t>线程完成了自己的工作后</a:t>
            </a:r>
            <a:r>
              <a:rPr kumimoji="1" lang="zh-CN" altLang="en-US" sz="1500" dirty="0">
                <a:solidFill>
                  <a:srgbClr val="FF0000"/>
                </a:solidFill>
                <a:latin typeface="微软雅黑" panose="020B0503020204020204" charset="-122"/>
                <a:ea typeface="微软雅黑" panose="020B0503020204020204" charset="-122"/>
              </a:rPr>
              <a:t>自愿</a:t>
            </a:r>
            <a:r>
              <a:rPr kumimoji="1" lang="zh-CN" altLang="en-US" sz="1500" dirty="0" smtClean="0">
                <a:solidFill>
                  <a:srgbClr val="FF0000"/>
                </a:solidFill>
                <a:latin typeface="微软雅黑" panose="020B0503020204020204" charset="-122"/>
                <a:ea typeface="微软雅黑" panose="020B0503020204020204" charset="-122"/>
              </a:rPr>
              <a:t>退出，</a:t>
            </a:r>
            <a:r>
              <a:rPr kumimoji="1" lang="en-US" altLang="zh-CN" sz="1500" dirty="0">
                <a:solidFill>
                  <a:srgbClr val="FF0000"/>
                </a:solidFill>
                <a:latin typeface="微软雅黑" panose="020B0503020204020204" charset="-122"/>
                <a:ea typeface="微软雅黑" panose="020B0503020204020204" charset="-122"/>
              </a:rPr>
              <a:t>return , </a:t>
            </a:r>
            <a:r>
              <a:rPr kumimoji="1" lang="en-US" altLang="zh-CN" sz="1500" dirty="0" err="1">
                <a:solidFill>
                  <a:srgbClr val="FF0000"/>
                </a:solidFill>
                <a:latin typeface="微软雅黑" panose="020B0503020204020204" charset="-122"/>
                <a:ea typeface="微软雅黑" panose="020B0503020204020204" charset="-122"/>
              </a:rPr>
              <a:t>pthread_exit</a:t>
            </a:r>
            <a:r>
              <a:rPr kumimoji="1" lang="zh-CN" altLang="en-US" sz="1500" dirty="0" smtClean="0">
                <a:latin typeface="微软雅黑" panose="020B0503020204020204" charset="-122"/>
                <a:ea typeface="微软雅黑" panose="020B0503020204020204" charset="-122"/>
              </a:rPr>
              <a:t>；</a:t>
            </a:r>
            <a:endParaRPr kumimoji="1" lang="en-US" altLang="zh-CN" sz="1500" dirty="0">
              <a:latin typeface="微软雅黑" panose="020B0503020204020204" charset="-122"/>
              <a:ea typeface="微软雅黑" panose="020B0503020204020204" charset="-122"/>
            </a:endParaRPr>
          </a:p>
          <a:p>
            <a:pPr lvl="3" algn="just">
              <a:lnSpc>
                <a:spcPct val="150000"/>
              </a:lnSpc>
              <a:spcBef>
                <a:spcPts val="0"/>
              </a:spcBef>
              <a:buClrTx/>
              <a:buSzTx/>
              <a:buFont typeface="Wingdings" panose="05000000000000000000" pitchFamily="2" charset="2"/>
              <a:buChar char="ü"/>
            </a:pPr>
            <a:r>
              <a:rPr kumimoji="1" lang="zh-CN" altLang="en-US" sz="1500" dirty="0" smtClean="0">
                <a:solidFill>
                  <a:srgbClr val="00B0F0"/>
                </a:solidFill>
                <a:latin typeface="微软雅黑" panose="020B0503020204020204" charset="-122"/>
                <a:ea typeface="微软雅黑" panose="020B0503020204020204" charset="-122"/>
              </a:rPr>
              <a:t>或</a:t>
            </a:r>
            <a:r>
              <a:rPr kumimoji="1" lang="zh-CN" altLang="en-US" sz="1500" dirty="0" smtClean="0">
                <a:latin typeface="微软雅黑" panose="020B0503020204020204" charset="-122"/>
                <a:ea typeface="微软雅黑" panose="020B0503020204020204" charset="-122"/>
              </a:rPr>
              <a:t>线程在运行中出现错误或由于某种原因而被其它线程</a:t>
            </a:r>
            <a:r>
              <a:rPr kumimoji="1" lang="zh-CN" altLang="en-US" sz="1500" dirty="0" smtClean="0">
                <a:solidFill>
                  <a:srgbClr val="FF0000"/>
                </a:solidFill>
                <a:latin typeface="微软雅黑" panose="020B0503020204020204" charset="-122"/>
                <a:ea typeface="微软雅黑" panose="020B0503020204020204" charset="-122"/>
              </a:rPr>
              <a:t>强行终止，</a:t>
            </a:r>
            <a:r>
              <a:rPr kumimoji="1" lang="en-US" altLang="zh-CN" sz="1500" dirty="0" err="1" smtClean="0">
                <a:solidFill>
                  <a:srgbClr val="FF0000"/>
                </a:solidFill>
                <a:latin typeface="微软雅黑" panose="020B0503020204020204" charset="-122"/>
                <a:ea typeface="微软雅黑" panose="020B0503020204020204" charset="-122"/>
              </a:rPr>
              <a:t>pthread_cancel</a:t>
            </a:r>
            <a:r>
              <a:rPr kumimoji="1" lang="zh-CN" altLang="en-US" sz="1500" dirty="0" smtClean="0">
                <a:latin typeface="微软雅黑" panose="020B0503020204020204" charset="-122"/>
                <a:ea typeface="微软雅黑" panose="020B0503020204020204" charset="-122"/>
              </a:rPr>
              <a:t>。 </a:t>
            </a:r>
            <a:endParaRPr kumimoji="1" lang="zh-CN" altLang="en-US" sz="1500" dirty="0" smtClean="0">
              <a:latin typeface="微软雅黑" panose="020B0503020204020204" charset="-122"/>
              <a:ea typeface="微软雅黑" panose="020B0503020204020204" charset="-122"/>
            </a:endParaRPr>
          </a:p>
          <a:p>
            <a:pPr>
              <a:lnSpc>
                <a:spcPct val="150000"/>
              </a:lnSpc>
            </a:pPr>
            <a:endParaRPr lang="zh-CN" altLang="en-US" sz="1500" dirty="0">
              <a:latin typeface="微软雅黑" panose="020B0503020204020204" charset="-122"/>
              <a:ea typeface="微软雅黑" panose="020B0503020204020204" charset="-122"/>
            </a:endParaRPr>
          </a:p>
        </p:txBody>
      </p:sp>
      <p:sp>
        <p:nvSpPr>
          <p:cNvPr id="3" name="标题 2"/>
          <p:cNvSpPr>
            <a:spLocks noGrp="1"/>
          </p:cNvSpPr>
          <p:nvPr>
            <p:ph type="title"/>
          </p:nvPr>
        </p:nvSpPr>
        <p:spPr>
          <a:xfrm>
            <a:off x="922021" y="1742816"/>
            <a:ext cx="2652130" cy="411956"/>
          </a:xfrm>
        </p:spPr>
        <p:txBody>
          <a:bodyPr/>
          <a:lstStyle/>
          <a:p>
            <a:r>
              <a:rPr kumimoji="1" lang="en-US" altLang="zh-CN" dirty="0">
                <a:solidFill>
                  <a:schemeClr val="bg2">
                    <a:lumMod val="50000"/>
                  </a:schemeClr>
                </a:solidFill>
                <a:latin typeface="Times New Roman" panose="02020603050405020304" pitchFamily="18" charset="0"/>
              </a:rPr>
              <a:t>3. </a:t>
            </a:r>
            <a:r>
              <a:rPr kumimoji="1" lang="zh-CN" altLang="en-US" dirty="0">
                <a:solidFill>
                  <a:schemeClr val="bg2">
                    <a:lumMod val="50000"/>
                  </a:schemeClr>
                </a:solidFill>
                <a:latin typeface="Times New Roman" panose="02020603050405020304" pitchFamily="18" charset="0"/>
              </a:rPr>
              <a:t>线程的</a:t>
            </a:r>
            <a:r>
              <a:rPr kumimoji="1" lang="zh-CN" altLang="en-US" dirty="0">
                <a:solidFill>
                  <a:schemeClr val="bg2">
                    <a:lumMod val="50000"/>
                  </a:schemeClr>
                </a:solidFill>
                <a:latin typeface="+mj-ea"/>
                <a:ea typeface="+mj-ea"/>
                <a:cs typeface="+mn-cs"/>
              </a:rPr>
              <a:t>创建</a:t>
            </a:r>
            <a:r>
              <a:rPr kumimoji="1" lang="zh-CN" altLang="en-US" dirty="0">
                <a:solidFill>
                  <a:schemeClr val="bg2">
                    <a:lumMod val="50000"/>
                  </a:schemeClr>
                </a:solidFill>
                <a:latin typeface="Times New Roman" panose="02020603050405020304" pitchFamily="18" charset="0"/>
              </a:rPr>
              <a:t>和终止</a:t>
            </a:r>
            <a:endParaRPr lang="zh-CN" altLang="en-US" dirty="0">
              <a:solidFill>
                <a:schemeClr val="bg2">
                  <a:lumMod val="50000"/>
                </a:schemeClr>
              </a:solidFill>
            </a:endParaRPr>
          </a:p>
        </p:txBody>
      </p:sp>
      <p:sp>
        <p:nvSpPr>
          <p:cNvPr id="5" name="矩形 4"/>
          <p:cNvSpPr/>
          <p:nvPr/>
        </p:nvSpPr>
        <p:spPr>
          <a:xfrm>
            <a:off x="6699467" y="1208515"/>
            <a:ext cx="2217194" cy="67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nSpc>
                <a:spcPct val="90000"/>
              </a:lnSpc>
              <a:spcBef>
                <a:spcPct val="0"/>
              </a:spcBef>
            </a:pPr>
            <a:r>
              <a:rPr kumimoji="1" lang="en-US" altLang="zh-CN" sz="2100" b="1" dirty="0">
                <a:solidFill>
                  <a:srgbClr val="002060"/>
                </a:solidFill>
                <a:latin typeface="微软雅黑" panose="020B0503020204020204" charset="-122"/>
                <a:ea typeface="微软雅黑" panose="020B0503020204020204" charset="-122"/>
              </a:rPr>
              <a:t>2.7.3</a:t>
            </a:r>
            <a:r>
              <a:rPr kumimoji="1" lang="zh-CN" altLang="en-US" sz="2100" b="1" dirty="0">
                <a:solidFill>
                  <a:srgbClr val="002060"/>
                </a:solidFill>
                <a:latin typeface="微软雅黑" panose="020B0503020204020204" charset="-122"/>
                <a:ea typeface="微软雅黑" panose="020B0503020204020204" charset="-122"/>
              </a:rPr>
              <a:t> 线程的控制</a:t>
            </a:r>
            <a:endParaRPr kumimoji="1" lang="zh-CN" altLang="en-US" sz="2100" b="1" dirty="0">
              <a:solidFill>
                <a:srgbClr val="002060"/>
              </a:solidFill>
              <a:latin typeface="微软雅黑" panose="020B0503020204020204" charset="-122"/>
              <a:ea typeface="微软雅黑" panose="020B0503020204020204" charset="-122"/>
            </a:endParaRPr>
          </a:p>
        </p:txBody>
      </p:sp>
      <p:sp>
        <p:nvSpPr>
          <p:cNvPr id="6"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1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1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down)">
                                      <p:cBhvr>
                                        <p:cTn id="17" dur="1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down)">
                                      <p:cBhvr>
                                        <p:cTn id="22" dur="1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down)">
                                      <p:cBhvr>
                                        <p:cTn id="27" dur="1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wipe(down)">
                                      <p:cBhvr>
                                        <p:cTn id="32" dur="1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wipe(down)">
                                      <p:cBhvr>
                                        <p:cTn id="37" dur="1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3"/>
          <p:cNvSpPr>
            <a:spLocks noGrp="1" noRot="1" noChangeArrowheads="1"/>
          </p:cNvSpPr>
          <p:nvPr>
            <p:ph type="body" idx="1"/>
          </p:nvPr>
        </p:nvSpPr>
        <p:spPr>
          <a:xfrm>
            <a:off x="1370410" y="2060843"/>
            <a:ext cx="6403181" cy="3639537"/>
          </a:xfrm>
        </p:spPr>
        <p:txBody>
          <a:bodyPr/>
          <a:lstStyle/>
          <a:p>
            <a:r>
              <a:rPr lang="en-US" altLang="zh-CN" dirty="0">
                <a:latin typeface="微软雅黑" panose="020B0503020204020204" charset="-122"/>
                <a:ea typeface="微软雅黑" panose="020B0503020204020204" charset="-122"/>
              </a:rPr>
              <a:t>Linux</a:t>
            </a:r>
            <a:r>
              <a:rPr lang="zh-CN" altLang="en-US" dirty="0">
                <a:latin typeface="微软雅黑" panose="020B0503020204020204" charset="-122"/>
                <a:ea typeface="微软雅黑" panose="020B0503020204020204" charset="-122"/>
              </a:rPr>
              <a:t>系统下的多线程遵循</a:t>
            </a:r>
            <a:r>
              <a:rPr lang="en-US" altLang="zh-CN" dirty="0">
                <a:latin typeface="微软雅黑" panose="020B0503020204020204" charset="-122"/>
                <a:ea typeface="微软雅黑" panose="020B0503020204020204" charset="-122"/>
              </a:rPr>
              <a:t>POSIX</a:t>
            </a:r>
            <a:r>
              <a:rPr lang="zh-CN" altLang="en-US" dirty="0">
                <a:latin typeface="微软雅黑" panose="020B0503020204020204" charset="-122"/>
                <a:ea typeface="微软雅黑" panose="020B0503020204020204" charset="-122"/>
              </a:rPr>
              <a:t>线程接口，称为</a:t>
            </a:r>
            <a:r>
              <a:rPr lang="en-US" altLang="zh-CN" dirty="0" err="1">
                <a:latin typeface="微软雅黑" panose="020B0503020204020204" charset="-122"/>
                <a:ea typeface="微软雅黑" panose="020B0503020204020204" charset="-122"/>
              </a:rPr>
              <a:t>pthread</a:t>
            </a:r>
            <a:r>
              <a:rPr lang="zh-CN" altLang="en-US" dirty="0">
                <a:latin typeface="微软雅黑" panose="020B0503020204020204" charset="-122"/>
                <a:ea typeface="微软雅黑" panose="020B0503020204020204" charset="-122"/>
              </a:rPr>
              <a:t>。</a:t>
            </a:r>
            <a:endParaRPr lang="zh-CN" altLang="en-US" dirty="0">
              <a:latin typeface="微软雅黑" panose="020B0503020204020204" charset="-122"/>
              <a:ea typeface="微软雅黑" panose="020B0503020204020204" charset="-122"/>
            </a:endParaRPr>
          </a:p>
          <a:p>
            <a:pPr>
              <a:lnSpc>
                <a:spcPts val="3200"/>
              </a:lnSpc>
            </a:pPr>
            <a:r>
              <a:rPr lang="zh-CN" altLang="en-US" dirty="0" smtClean="0">
                <a:latin typeface="微软雅黑" panose="020B0503020204020204" charset="-122"/>
                <a:ea typeface="微软雅黑" panose="020B0503020204020204" charset="-122"/>
              </a:rPr>
              <a:t>线程创建</a:t>
            </a:r>
            <a:r>
              <a:rPr lang="zh-CN" altLang="en-US"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pPr marL="0" indent="0">
              <a:lnSpc>
                <a:spcPts val="3200"/>
              </a:lnSpc>
              <a:buNone/>
            </a:pPr>
            <a:r>
              <a:rPr lang="en-US" altLang="zh-CN" dirty="0">
                <a:latin typeface="微软雅黑" panose="020B0503020204020204" charset="-122"/>
                <a:ea typeface="微软雅黑" panose="020B0503020204020204" charset="-122"/>
              </a:rPr>
              <a:t>#include &lt;</a:t>
            </a:r>
            <a:r>
              <a:rPr lang="en-US" altLang="zh-CN" dirty="0" err="1">
                <a:latin typeface="微软雅黑" panose="020B0503020204020204" charset="-122"/>
                <a:ea typeface="微软雅黑" panose="020B0503020204020204" charset="-122"/>
              </a:rPr>
              <a:t>pthread.h</a:t>
            </a:r>
            <a:r>
              <a:rPr lang="en-US" altLang="zh-CN" dirty="0">
                <a:latin typeface="微软雅黑" panose="020B0503020204020204" charset="-122"/>
                <a:ea typeface="微软雅黑" panose="020B0503020204020204" charset="-122"/>
              </a:rPr>
              <a:t>&gt;</a:t>
            </a:r>
            <a:endParaRPr lang="en-US" altLang="zh-CN" dirty="0">
              <a:latin typeface="微软雅黑" panose="020B0503020204020204" charset="-122"/>
              <a:ea typeface="微软雅黑" panose="020B0503020204020204" charset="-122"/>
            </a:endParaRPr>
          </a:p>
          <a:p>
            <a:pPr marL="0" indent="0">
              <a:lnSpc>
                <a:spcPts val="3200"/>
              </a:lnSpc>
              <a:buNone/>
            </a:pPr>
            <a:r>
              <a:rPr lang="en-US" altLang="zh-CN" dirty="0">
                <a:latin typeface="微软雅黑" panose="020B0503020204020204" charset="-122"/>
                <a:ea typeface="微软雅黑" panose="020B0503020204020204" charset="-122"/>
              </a:rPr>
              <a:t>int </a:t>
            </a:r>
            <a:r>
              <a:rPr lang="en-US" altLang="zh-CN" dirty="0" err="1">
                <a:solidFill>
                  <a:srgbClr val="FF0000"/>
                </a:solidFill>
                <a:latin typeface="微软雅黑" panose="020B0503020204020204" charset="-122"/>
                <a:ea typeface="微软雅黑" panose="020B0503020204020204" charset="-122"/>
              </a:rPr>
              <a:t>pthread_create</a:t>
            </a:r>
            <a:r>
              <a:rPr lang="en-US" altLang="zh-CN"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pPr>
              <a:lnSpc>
                <a:spcPct val="120000"/>
              </a:lnSpc>
              <a:buFont typeface="Wingdings 2" panose="05020102010507070707" pitchFamily="18" charset="2"/>
              <a:buNone/>
            </a:pPr>
            <a:r>
              <a:rPr lang="en-US" altLang="zh-CN" dirty="0">
                <a:latin typeface="微软雅黑" panose="020B0503020204020204" charset="-122"/>
                <a:ea typeface="微软雅黑" panose="020B0503020204020204" charset="-122"/>
              </a:rPr>
              <a:t>    </a:t>
            </a:r>
            <a:r>
              <a:rPr lang="en-US" altLang="zh-CN" dirty="0" err="1">
                <a:latin typeface="微软雅黑" panose="020B0503020204020204" charset="-122"/>
                <a:ea typeface="微软雅黑" panose="020B0503020204020204" charset="-122"/>
              </a:rPr>
              <a:t>pthread_t</a:t>
            </a:r>
            <a:r>
              <a:rPr lang="en-US" altLang="zh-CN" dirty="0">
                <a:latin typeface="微软雅黑" panose="020B0503020204020204" charset="-122"/>
                <a:ea typeface="微软雅黑" panose="020B0503020204020204" charset="-122"/>
              </a:rPr>
              <a:t>  *restrict  </a:t>
            </a:r>
            <a:r>
              <a:rPr lang="en-US" altLang="zh-CN" dirty="0" err="1">
                <a:latin typeface="微软雅黑" panose="020B0503020204020204" charset="-122"/>
                <a:ea typeface="微软雅黑" panose="020B0503020204020204" charset="-122"/>
              </a:rPr>
              <a:t>tidp</a:t>
            </a:r>
            <a:r>
              <a:rPr lang="en-US" altLang="zh-CN" dirty="0">
                <a:latin typeface="微软雅黑" panose="020B0503020204020204" charset="-122"/>
                <a:ea typeface="微软雅黑" panose="020B0503020204020204" charset="-122"/>
              </a:rPr>
              <a:t>,             </a:t>
            </a:r>
            <a:r>
              <a:rPr lang="en-US" altLang="zh-CN" sz="1500" dirty="0">
                <a:solidFill>
                  <a:srgbClr val="FF0000"/>
                </a:solidFill>
                <a:latin typeface="微软雅黑" panose="020B0503020204020204" charset="-122"/>
                <a:ea typeface="微软雅黑" panose="020B0503020204020204" charset="-122"/>
              </a:rPr>
              <a:t>//</a:t>
            </a:r>
            <a:r>
              <a:rPr lang="zh-CN" altLang="en-US" sz="1500" dirty="0">
                <a:solidFill>
                  <a:srgbClr val="FF0000"/>
                </a:solidFill>
                <a:latin typeface="微软雅黑" panose="020B0503020204020204" charset="-122"/>
                <a:ea typeface="微软雅黑" panose="020B0503020204020204" charset="-122"/>
              </a:rPr>
              <a:t>指向线程标识符的指针</a:t>
            </a:r>
            <a:br>
              <a:rPr lang="zh-CN" altLang="en-US" dirty="0">
                <a:latin typeface="微软雅黑" panose="020B0503020204020204" charset="-122"/>
                <a:ea typeface="微软雅黑" panose="020B0503020204020204" charset="-122"/>
              </a:rPr>
            </a:b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const  </a:t>
            </a:r>
            <a:r>
              <a:rPr lang="en-US" altLang="zh-CN" dirty="0" err="1">
                <a:latin typeface="微软雅黑" panose="020B0503020204020204" charset="-122"/>
                <a:ea typeface="微软雅黑" panose="020B0503020204020204" charset="-122"/>
              </a:rPr>
              <a:t>pthread_attr_t</a:t>
            </a:r>
            <a:r>
              <a:rPr lang="en-US" altLang="zh-CN" dirty="0">
                <a:latin typeface="微软雅黑" panose="020B0503020204020204" charset="-122"/>
                <a:ea typeface="微软雅黑" panose="020B0503020204020204" charset="-122"/>
              </a:rPr>
              <a:t>  *restrict  </a:t>
            </a:r>
            <a:r>
              <a:rPr lang="en-US" altLang="zh-CN" dirty="0" err="1">
                <a:latin typeface="微软雅黑" panose="020B0503020204020204" charset="-122"/>
                <a:ea typeface="微软雅黑" panose="020B0503020204020204" charset="-122"/>
              </a:rPr>
              <a:t>attr</a:t>
            </a:r>
            <a:r>
              <a:rPr lang="en-US" altLang="zh-CN" dirty="0">
                <a:latin typeface="微软雅黑" panose="020B0503020204020204" charset="-122"/>
                <a:ea typeface="微软雅黑" panose="020B0503020204020204" charset="-122"/>
              </a:rPr>
              <a:t>,  </a:t>
            </a:r>
            <a:r>
              <a:rPr lang="en-US" altLang="zh-CN" sz="1500" dirty="0">
                <a:solidFill>
                  <a:srgbClr val="FF0000"/>
                </a:solidFill>
                <a:latin typeface="微软雅黑" panose="020B0503020204020204" charset="-122"/>
                <a:ea typeface="微软雅黑" panose="020B0503020204020204" charset="-122"/>
              </a:rPr>
              <a:t>//</a:t>
            </a:r>
            <a:r>
              <a:rPr lang="zh-CN" altLang="en-US" sz="1500" dirty="0">
                <a:solidFill>
                  <a:srgbClr val="FF0000"/>
                </a:solidFill>
                <a:latin typeface="微软雅黑" panose="020B0503020204020204" charset="-122"/>
                <a:ea typeface="微软雅黑" panose="020B0503020204020204" charset="-122"/>
              </a:rPr>
              <a:t>设置线程属性</a:t>
            </a:r>
            <a:br>
              <a:rPr lang="zh-CN" altLang="en-US" dirty="0">
                <a:latin typeface="微软雅黑" panose="020B0503020204020204" charset="-122"/>
                <a:ea typeface="微软雅黑" panose="020B0503020204020204" charset="-122"/>
              </a:rPr>
            </a:b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void </a:t>
            </a: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 *(*</a:t>
            </a:r>
            <a:r>
              <a:rPr lang="en-US" altLang="zh-CN" dirty="0" err="1">
                <a:latin typeface="微软雅黑" panose="020B0503020204020204" charset="-122"/>
                <a:ea typeface="微软雅黑" panose="020B0503020204020204" charset="-122"/>
              </a:rPr>
              <a:t>start_rtn</a:t>
            </a:r>
            <a:r>
              <a:rPr lang="en-US" altLang="zh-CN" dirty="0">
                <a:latin typeface="微软雅黑" panose="020B0503020204020204" charset="-122"/>
                <a:ea typeface="微软雅黑" panose="020B0503020204020204" charset="-122"/>
              </a:rPr>
              <a:t>)(void),             </a:t>
            </a:r>
            <a:r>
              <a:rPr lang="en-US" altLang="zh-CN" sz="1500" dirty="0">
                <a:solidFill>
                  <a:srgbClr val="FF0000"/>
                </a:solidFill>
                <a:latin typeface="微软雅黑" panose="020B0503020204020204" charset="-122"/>
                <a:ea typeface="微软雅黑" panose="020B0503020204020204" charset="-122"/>
              </a:rPr>
              <a:t>//</a:t>
            </a:r>
            <a:r>
              <a:rPr lang="zh-CN" altLang="en-US" sz="1500" dirty="0">
                <a:solidFill>
                  <a:srgbClr val="FF0000"/>
                </a:solidFill>
                <a:latin typeface="微软雅黑" panose="020B0503020204020204" charset="-122"/>
                <a:ea typeface="微软雅黑" panose="020B0503020204020204" charset="-122"/>
              </a:rPr>
              <a:t>线程运行函数的起始地址</a:t>
            </a:r>
            <a:br>
              <a:rPr lang="zh-CN" altLang="en-US" dirty="0">
                <a:latin typeface="微软雅黑" panose="020B0503020204020204" charset="-122"/>
                <a:ea typeface="微软雅黑" panose="020B0503020204020204" charset="-122"/>
              </a:rPr>
            </a:b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void</a:t>
            </a: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  *restrict  </a:t>
            </a:r>
            <a:r>
              <a:rPr lang="en-US" altLang="zh-CN" dirty="0" err="1">
                <a:latin typeface="微软雅黑" panose="020B0503020204020204" charset="-122"/>
                <a:ea typeface="微软雅黑" panose="020B0503020204020204" charset="-122"/>
              </a:rPr>
              <a:t>arg</a:t>
            </a:r>
            <a:r>
              <a:rPr lang="en-US" altLang="zh-CN"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                </a:t>
            </a:r>
            <a:r>
              <a:rPr lang="en-US" altLang="zh-CN" sz="1500" dirty="0">
                <a:solidFill>
                  <a:srgbClr val="FF0000"/>
                </a:solidFill>
                <a:latin typeface="微软雅黑" panose="020B0503020204020204" charset="-122"/>
                <a:ea typeface="微软雅黑" panose="020B0503020204020204" charset="-122"/>
              </a:rPr>
              <a:t>//</a:t>
            </a:r>
            <a:r>
              <a:rPr lang="zh-CN" altLang="en-US" sz="1500" dirty="0">
                <a:solidFill>
                  <a:srgbClr val="FF0000"/>
                </a:solidFill>
                <a:latin typeface="微软雅黑" panose="020B0503020204020204" charset="-122"/>
                <a:ea typeface="微软雅黑" panose="020B0503020204020204" charset="-122"/>
              </a:rPr>
              <a:t>运行函数的参数</a:t>
            </a:r>
            <a:endParaRPr lang="en-US" altLang="zh-CN" sz="1500" dirty="0">
              <a:solidFill>
                <a:srgbClr val="FF0000"/>
              </a:solidFill>
              <a:latin typeface="微软雅黑" panose="020B0503020204020204" charset="-122"/>
              <a:ea typeface="微软雅黑" panose="020B0503020204020204" charset="-122"/>
            </a:endParaRPr>
          </a:p>
          <a:p>
            <a:pPr>
              <a:buFont typeface="Wingdings 2" panose="05020102010507070707" pitchFamily="18" charset="2"/>
              <a:buNone/>
            </a:pPr>
            <a:r>
              <a:rPr lang="zh-CN" altLang="en-US" sz="1500" dirty="0">
                <a:latin typeface="微软雅黑" panose="020B0503020204020204" charset="-122"/>
                <a:ea typeface="微软雅黑" panose="020B0503020204020204" charset="-122"/>
              </a:rPr>
              <a:t>）</a:t>
            </a:r>
            <a:endParaRPr lang="zh-CN" altLang="en-US" sz="1500" dirty="0">
              <a:solidFill>
                <a:srgbClr val="FF0000"/>
              </a:solidFill>
              <a:latin typeface="微软雅黑" panose="020B0503020204020204" charset="-122"/>
              <a:ea typeface="微软雅黑" panose="020B0503020204020204" charset="-122"/>
            </a:endParaRPr>
          </a:p>
        </p:txBody>
      </p:sp>
      <p:sp>
        <p:nvSpPr>
          <p:cNvPr id="3" name="标题 2"/>
          <p:cNvSpPr>
            <a:spLocks noGrp="1"/>
          </p:cNvSpPr>
          <p:nvPr>
            <p:ph type="title"/>
          </p:nvPr>
        </p:nvSpPr>
        <p:spPr>
          <a:xfrm>
            <a:off x="1608737" y="1201856"/>
            <a:ext cx="5926528" cy="411956"/>
          </a:xfrm>
        </p:spPr>
        <p:txBody>
          <a:bodyPr/>
          <a:lstStyle/>
          <a:p>
            <a:r>
              <a:rPr lang="en-US" altLang="zh-CN" dirty="0"/>
              <a:t>Linux</a:t>
            </a:r>
            <a:r>
              <a:rPr lang="zh-CN" altLang="en-US" dirty="0"/>
              <a:t>下多线程编程（</a:t>
            </a:r>
            <a:r>
              <a:rPr lang="en-US" altLang="zh-CN" dirty="0"/>
              <a:t>C</a:t>
            </a:r>
            <a:r>
              <a:rPr lang="zh-CN" altLang="en-US" dirty="0"/>
              <a:t>语言）</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1428750" y="1085851"/>
            <a:ext cx="6572250" cy="507206"/>
          </a:xfrm>
        </p:spPr>
        <p:txBody>
          <a:bodyPr/>
          <a:lstStyle/>
          <a:p>
            <a:r>
              <a:rPr lang="zh-CN" altLang="en-US" dirty="0"/>
              <a:t>线程实现浏览器</a:t>
            </a:r>
            <a:endParaRPr lang="en-US" altLang="zh-CN" dirty="0"/>
          </a:p>
        </p:txBody>
      </p:sp>
      <p:sp>
        <p:nvSpPr>
          <p:cNvPr id="179223" name="Rectangle 23"/>
          <p:cNvSpPr>
            <a:spLocks noChangeArrowheads="1"/>
          </p:cNvSpPr>
          <p:nvPr/>
        </p:nvSpPr>
        <p:spPr bwMode="auto">
          <a:xfrm>
            <a:off x="1314450" y="1714500"/>
            <a:ext cx="6686550" cy="2286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58" tIns="33333" rIns="67858" bIns="33333"/>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spcBef>
                <a:spcPct val="0"/>
              </a:spcBef>
              <a:buClrTx/>
              <a:buSzTx/>
              <a:buNone/>
              <a:defRPr/>
            </a:pPr>
            <a:r>
              <a:rPr lang="en-US" altLang="zh-CN" sz="1800" dirty="0">
                <a:solidFill>
                  <a:prstClr val="black"/>
                </a:solidFill>
                <a:latin typeface="微软雅黑" panose="020B0503020204020204" charset="-122"/>
                <a:ea typeface="微软雅黑" panose="020B0503020204020204" charset="-122"/>
              </a:rPr>
              <a:t>void </a:t>
            </a:r>
            <a:r>
              <a:rPr lang="en-US" altLang="zh-CN" sz="1800" dirty="0" err="1">
                <a:solidFill>
                  <a:prstClr val="black"/>
                </a:solidFill>
                <a:latin typeface="微软雅黑" panose="020B0503020204020204" charset="-122"/>
                <a:ea typeface="微软雅黑" panose="020B0503020204020204" charset="-122"/>
              </a:rPr>
              <a:t>WebExplorer</a:t>
            </a:r>
            <a:r>
              <a:rPr lang="en-US" altLang="zh-CN" sz="1800" dirty="0">
                <a:solidFill>
                  <a:prstClr val="black"/>
                </a:solidFill>
                <a:latin typeface="微软雅黑" panose="020B0503020204020204" charset="-122"/>
                <a:ea typeface="微软雅黑" panose="020B0503020204020204" charset="-122"/>
              </a:rPr>
              <a:t>(char *URL)</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   </a:t>
            </a:r>
            <a:r>
              <a:rPr lang="en-US" altLang="zh-CN" sz="1800" dirty="0" err="1">
                <a:solidFill>
                  <a:prstClr val="black"/>
                </a:solidFill>
                <a:latin typeface="微软雅黑" panose="020B0503020204020204" charset="-122"/>
                <a:ea typeface="微软雅黑" panose="020B0503020204020204" charset="-122"/>
              </a:rPr>
              <a:t>pthread_t</a:t>
            </a:r>
            <a:r>
              <a:rPr lang="en-US" altLang="zh-CN" sz="1800" dirty="0">
                <a:solidFill>
                  <a:prstClr val="black"/>
                </a:solidFill>
                <a:latin typeface="微软雅黑" panose="020B0503020204020204" charset="-122"/>
                <a:ea typeface="微软雅黑" panose="020B0503020204020204" charset="-122"/>
              </a:rPr>
              <a:t> tid1, tid2, tid3, tid4;</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   </a:t>
            </a:r>
            <a:r>
              <a:rPr lang="en-US" altLang="zh-CN" sz="1800" dirty="0" err="1">
                <a:solidFill>
                  <a:prstClr val="black"/>
                </a:solidFill>
                <a:latin typeface="微软雅黑" panose="020B0503020204020204" charset="-122"/>
                <a:ea typeface="微软雅黑" panose="020B0503020204020204" charset="-122"/>
              </a:rPr>
              <a:t>pthread_attr_t</a:t>
            </a:r>
            <a:r>
              <a:rPr lang="en-US" altLang="zh-CN" sz="1800" dirty="0">
                <a:solidFill>
                  <a:prstClr val="black"/>
                </a:solidFill>
                <a:latin typeface="微软雅黑" panose="020B0503020204020204" charset="-122"/>
                <a:ea typeface="微软雅黑" panose="020B0503020204020204" charset="-122"/>
              </a:rPr>
              <a:t> attr1, attr2, attr3, attr4;</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   </a:t>
            </a:r>
            <a:r>
              <a:rPr lang="en-US" altLang="zh-CN" sz="1800" dirty="0" err="1">
                <a:solidFill>
                  <a:prstClr val="black"/>
                </a:solidFill>
                <a:latin typeface="微软雅黑" panose="020B0503020204020204" charset="-122"/>
                <a:ea typeface="微软雅黑" panose="020B0503020204020204" charset="-122"/>
              </a:rPr>
              <a:t>pthread_attr_init</a:t>
            </a:r>
            <a:r>
              <a:rPr lang="en-US" altLang="zh-CN" sz="1800" dirty="0">
                <a:solidFill>
                  <a:prstClr val="black"/>
                </a:solidFill>
                <a:latin typeface="微软雅黑" panose="020B0503020204020204" charset="-122"/>
                <a:ea typeface="微软雅黑" panose="020B0503020204020204" charset="-122"/>
              </a:rPr>
              <a:t>(&amp;attr1); ...</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   </a:t>
            </a:r>
            <a:r>
              <a:rPr lang="en-US" altLang="zh-CN" sz="1800" dirty="0" err="1">
                <a:solidFill>
                  <a:srgbClr val="FF0000"/>
                </a:solidFill>
                <a:latin typeface="微软雅黑" panose="020B0503020204020204" charset="-122"/>
                <a:ea typeface="微软雅黑" panose="020B0503020204020204" charset="-122"/>
              </a:rPr>
              <a:t>pthread_create</a:t>
            </a:r>
            <a:r>
              <a:rPr lang="en-US" altLang="zh-CN" sz="1800" dirty="0">
                <a:solidFill>
                  <a:srgbClr val="FF0000"/>
                </a:solidFill>
                <a:latin typeface="微软雅黑" panose="020B0503020204020204" charset="-122"/>
                <a:ea typeface="微软雅黑" panose="020B0503020204020204" charset="-122"/>
              </a:rPr>
              <a:t>(&amp;tid1,&amp;attr1,GetData,URL);</a:t>
            </a:r>
            <a:endParaRPr lang="en-US" altLang="zh-CN" sz="1800" dirty="0">
              <a:solidFill>
                <a:srgbClr val="FF0000"/>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    ...</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a:t>
            </a:r>
            <a:endParaRPr lang="en-US" altLang="zh-CN" sz="1800" dirty="0">
              <a:solidFill>
                <a:prstClr val="black"/>
              </a:solidFill>
              <a:latin typeface="微软雅黑" panose="020B0503020204020204" charset="-122"/>
              <a:ea typeface="微软雅黑" panose="020B0503020204020204" charset="-122"/>
            </a:endParaRPr>
          </a:p>
        </p:txBody>
      </p:sp>
      <p:sp>
        <p:nvSpPr>
          <p:cNvPr id="179224" name="Rectangle 24"/>
          <p:cNvSpPr>
            <a:spLocks noChangeArrowheads="1"/>
          </p:cNvSpPr>
          <p:nvPr/>
        </p:nvSpPr>
        <p:spPr bwMode="auto">
          <a:xfrm>
            <a:off x="1314450" y="4286250"/>
            <a:ext cx="6686550" cy="1485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58" tIns="33333" rIns="67858" bIns="33333"/>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buNone/>
              <a:defRPr/>
            </a:pPr>
            <a:r>
              <a:rPr lang="en-US" altLang="zh-CN" sz="1800" dirty="0">
                <a:solidFill>
                  <a:prstClr val="black"/>
                </a:solidFill>
                <a:latin typeface="微软雅黑" panose="020B0503020204020204" charset="-122"/>
                <a:ea typeface="微软雅黑" panose="020B0503020204020204" charset="-122"/>
              </a:rPr>
              <a:t>void </a:t>
            </a:r>
            <a:r>
              <a:rPr lang="en-US" altLang="zh-CN" sz="1800" dirty="0" err="1">
                <a:solidFill>
                  <a:prstClr val="black"/>
                </a:solidFill>
                <a:latin typeface="微软雅黑" panose="020B0503020204020204" charset="-122"/>
                <a:ea typeface="微软雅黑" panose="020B0503020204020204" charset="-122"/>
              </a:rPr>
              <a:t>GetData</a:t>
            </a:r>
            <a:r>
              <a:rPr lang="en-US" altLang="zh-CN" sz="1800" dirty="0">
                <a:solidFill>
                  <a:prstClr val="black"/>
                </a:solidFill>
                <a:latin typeface="微软雅黑" panose="020B0503020204020204" charset="-122"/>
                <a:ea typeface="微软雅黑" panose="020B0503020204020204" charset="-122"/>
              </a:rPr>
              <a:t>(char *URL){...};</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void </a:t>
            </a:r>
            <a:r>
              <a:rPr lang="en-US" altLang="zh-CN" sz="1800" dirty="0" err="1">
                <a:solidFill>
                  <a:prstClr val="black"/>
                </a:solidFill>
                <a:latin typeface="微软雅黑" panose="020B0503020204020204" charset="-122"/>
                <a:ea typeface="微软雅黑" panose="020B0503020204020204" charset="-122"/>
              </a:rPr>
              <a:t>ShowText</a:t>
            </a:r>
            <a:r>
              <a:rPr lang="en-US" altLang="zh-CN" sz="1800" dirty="0">
                <a:solidFill>
                  <a:prstClr val="black"/>
                </a:solidFill>
                <a:latin typeface="微软雅黑" panose="020B0503020204020204" charset="-122"/>
                <a:ea typeface="微软雅黑" panose="020B0503020204020204" charset="-122"/>
              </a:rPr>
              <a:t>(){...};</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void </a:t>
            </a:r>
            <a:r>
              <a:rPr lang="en-US" altLang="zh-CN" sz="1800" dirty="0" err="1">
                <a:solidFill>
                  <a:prstClr val="black"/>
                </a:solidFill>
                <a:latin typeface="微软雅黑" panose="020B0503020204020204" charset="-122"/>
                <a:ea typeface="微软雅黑" panose="020B0503020204020204" charset="-122"/>
              </a:rPr>
              <a:t>ProcessImage</a:t>
            </a:r>
            <a:r>
              <a:rPr lang="en-US" altLang="zh-CN" sz="1800" dirty="0">
                <a:solidFill>
                  <a:prstClr val="black"/>
                </a:solidFill>
                <a:latin typeface="微软雅黑" panose="020B0503020204020204" charset="-122"/>
                <a:ea typeface="微软雅黑" panose="020B0503020204020204" charset="-122"/>
              </a:rPr>
              <a:t>(){...};</a:t>
            </a:r>
            <a:endParaRPr lang="en-US" altLang="zh-CN" sz="1800" dirty="0">
              <a:solidFill>
                <a:prstClr val="black"/>
              </a:solidFill>
              <a:latin typeface="微软雅黑" panose="020B0503020204020204" charset="-122"/>
              <a:ea typeface="微软雅黑" panose="020B0503020204020204" charset="-122"/>
            </a:endParaRPr>
          </a:p>
          <a:p>
            <a:pPr defTabSz="457200">
              <a:buNone/>
              <a:defRPr/>
            </a:pPr>
            <a:r>
              <a:rPr lang="en-US" altLang="zh-CN" sz="1800" dirty="0">
                <a:solidFill>
                  <a:prstClr val="black"/>
                </a:solidFill>
                <a:latin typeface="微软雅黑" panose="020B0503020204020204" charset="-122"/>
                <a:ea typeface="微软雅黑" panose="020B0503020204020204" charset="-122"/>
              </a:rPr>
              <a:t>void </a:t>
            </a:r>
            <a:r>
              <a:rPr lang="en-US" altLang="zh-CN" sz="1800" dirty="0" err="1">
                <a:solidFill>
                  <a:prstClr val="black"/>
                </a:solidFill>
                <a:latin typeface="微软雅黑" panose="020B0503020204020204" charset="-122"/>
                <a:ea typeface="微软雅黑" panose="020B0503020204020204" charset="-122"/>
              </a:rPr>
              <a:t>ShowImage</a:t>
            </a:r>
            <a:r>
              <a:rPr lang="en-US" altLang="zh-CN" sz="1800" dirty="0">
                <a:solidFill>
                  <a:prstClr val="black"/>
                </a:solidFill>
                <a:latin typeface="微软雅黑" panose="020B0503020204020204" charset="-122"/>
                <a:ea typeface="微软雅黑" panose="020B0503020204020204" charset="-122"/>
              </a:rPr>
              <a:t>(){...};</a:t>
            </a:r>
            <a:endParaRPr lang="en-US" altLang="zh-CN" sz="1800" dirty="0">
              <a:solidFill>
                <a:prstClr val="black"/>
              </a:solidFill>
              <a:latin typeface="微软雅黑" panose="020B0503020204020204" charset="-122"/>
              <a:ea typeface="微软雅黑" panose="020B0503020204020204" charset="-122"/>
            </a:endParaRPr>
          </a:p>
        </p:txBody>
      </p:sp>
      <p:grpSp>
        <p:nvGrpSpPr>
          <p:cNvPr id="4" name="组合 3"/>
          <p:cNvGrpSpPr/>
          <p:nvPr/>
        </p:nvGrpSpPr>
        <p:grpSpPr>
          <a:xfrm>
            <a:off x="1428751" y="2400353"/>
            <a:ext cx="6147707" cy="1542998"/>
            <a:chOff x="789379" y="2133670"/>
            <a:chExt cx="7565242" cy="1948473"/>
          </a:xfrm>
        </p:grpSpPr>
        <p:pic>
          <p:nvPicPr>
            <p:cNvPr id="2" name="图片 1"/>
            <p:cNvPicPr>
              <a:picLocks noChangeAspect="1"/>
            </p:cNvPicPr>
            <p:nvPr/>
          </p:nvPicPr>
          <p:blipFill>
            <a:blip r:embed="rId1"/>
            <a:stretch>
              <a:fillRect/>
            </a:stretch>
          </p:blipFill>
          <p:spPr>
            <a:xfrm>
              <a:off x="789379" y="2133670"/>
              <a:ext cx="7565242" cy="1948473"/>
            </a:xfrm>
            <a:prstGeom prst="rect">
              <a:avLst/>
            </a:prstGeom>
          </p:spPr>
        </p:pic>
        <p:sp>
          <p:nvSpPr>
            <p:cNvPr id="3" name="文本框 2"/>
            <p:cNvSpPr txBox="1"/>
            <p:nvPr/>
          </p:nvSpPr>
          <p:spPr>
            <a:xfrm>
              <a:off x="3102429" y="2275115"/>
              <a:ext cx="653142" cy="134714"/>
            </a:xfrm>
            <a:prstGeom prst="rect">
              <a:avLst/>
            </a:prstGeom>
            <a:solidFill>
              <a:schemeClr val="bg1"/>
            </a:solidFill>
          </p:spPr>
          <p:txBody>
            <a:bodyPr wrap="square" rtlCol="0">
              <a:spAutoFit/>
            </a:bodyPr>
            <a:lstStyle/>
            <a:p>
              <a:pPr defTabSz="457200">
                <a:defRPr/>
              </a:pPr>
              <a:r>
                <a:rPr lang="en-US" altLang="zh-CN" sz="100" dirty="0">
                  <a:solidFill>
                    <a:srgbClr val="002060"/>
                  </a:solidFill>
                  <a:latin typeface="微软雅黑" panose="020B0503020204020204" charset="-122"/>
                  <a:ea typeface="微软雅黑" panose="020B0503020204020204" charset="-122"/>
                </a:rPr>
                <a:t>URL</a:t>
              </a:r>
              <a:endParaRPr lang="zh-CN" altLang="en-US" sz="100" dirty="0">
                <a:solidFill>
                  <a:srgbClr val="002060"/>
                </a:solidFill>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9223"/>
                                        </p:tgtEl>
                                        <p:attrNameLst>
                                          <p:attrName>style.visibility</p:attrName>
                                        </p:attrNameLst>
                                      </p:cBhvr>
                                      <p:to>
                                        <p:strVal val="visible"/>
                                      </p:to>
                                    </p:set>
                                    <p:animEffect transition="in" filter="dissolve">
                                      <p:cBhvr>
                                        <p:cTn id="7" dur="500"/>
                                        <p:tgtEl>
                                          <p:spTgt spid="1792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9224"/>
                                        </p:tgtEl>
                                        <p:attrNameLst>
                                          <p:attrName>style.visibility</p:attrName>
                                        </p:attrNameLst>
                                      </p:cBhvr>
                                      <p:to>
                                        <p:strVal val="visible"/>
                                      </p:to>
                                    </p:set>
                                    <p:animEffect transition="in" filter="dissolve">
                                      <p:cBhvr>
                                        <p:cTn id="12" dur="500"/>
                                        <p:tgtEl>
                                          <p:spTgt spid="1792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23" grpId="0" bldLvl="0" animBg="1"/>
      <p:bldP spid="179224" grpId="0" bldLvl="0" animBg="1"/>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3"/>
          <p:cNvSpPr>
            <a:spLocks noGrp="1" noChangeArrowheads="1"/>
          </p:cNvSpPr>
          <p:nvPr>
            <p:ph idx="1"/>
          </p:nvPr>
        </p:nvSpPr>
        <p:spPr>
          <a:xfrm>
            <a:off x="1615459" y="1730507"/>
            <a:ext cx="6323867" cy="3868232"/>
          </a:xfrm>
        </p:spPr>
        <p:txBody>
          <a:bodyPr/>
          <a:lstStyle/>
          <a:p>
            <a:pPr>
              <a:lnSpc>
                <a:spcPct val="120000"/>
              </a:lnSpc>
              <a:spcBef>
                <a:spcPts val="0"/>
              </a:spcBef>
              <a:buNone/>
              <a:defRPr/>
            </a:pPr>
            <a:r>
              <a:rPr lang="en-US" altLang="zh-CN" sz="1500" dirty="0">
                <a:latin typeface="微软雅黑" panose="020B0503020204020204" charset="-122"/>
                <a:ea typeface="微软雅黑" panose="020B0503020204020204" charset="-122"/>
              </a:rPr>
              <a:t>void *</a:t>
            </a:r>
            <a:r>
              <a:rPr lang="en-US" altLang="zh-CN" sz="1500" dirty="0" err="1">
                <a:latin typeface="微软雅黑" panose="020B0503020204020204" charset="-122"/>
                <a:ea typeface="微软雅黑" panose="020B0503020204020204" charset="-122"/>
              </a:rPr>
              <a:t>childthread</a:t>
            </a:r>
            <a:r>
              <a:rPr lang="en-US" altLang="zh-CN" sz="1500" dirty="0">
                <a:latin typeface="微软雅黑" panose="020B0503020204020204" charset="-122"/>
                <a:ea typeface="微软雅黑" panose="020B0503020204020204" charset="-122"/>
              </a:rPr>
              <a:t>(void){</a:t>
            </a:r>
            <a:endParaRPr lang="en-US" altLang="zh-CN" sz="1500" dirty="0">
              <a:latin typeface="微软雅黑" panose="020B0503020204020204" charset="-122"/>
              <a:ea typeface="微软雅黑" panose="020B0503020204020204" charset="-122"/>
            </a:endParaRPr>
          </a:p>
          <a:p>
            <a:pPr lvl="1">
              <a:lnSpc>
                <a:spcPct val="120000"/>
              </a:lnSpc>
              <a:spcBef>
                <a:spcPts val="0"/>
              </a:spcBef>
              <a:buNone/>
              <a:defRPr/>
            </a:pPr>
            <a:r>
              <a:rPr lang="en-US" altLang="zh-CN" sz="1500" b="0" dirty="0" err="1">
                <a:latin typeface="微软雅黑" panose="020B0503020204020204" charset="-122"/>
                <a:ea typeface="微软雅黑" panose="020B0503020204020204" charset="-122"/>
              </a:rPr>
              <a:t>int</a:t>
            </a:r>
            <a:r>
              <a:rPr lang="en-US" altLang="zh-CN" sz="1500" b="0" dirty="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i</a:t>
            </a:r>
            <a:r>
              <a:rPr lang="en-US" altLang="zh-CN" sz="1500" b="0" dirty="0">
                <a:latin typeface="微软雅黑" panose="020B0503020204020204" charset="-122"/>
                <a:ea typeface="微软雅黑" panose="020B0503020204020204" charset="-122"/>
              </a:rPr>
              <a:t>;</a:t>
            </a:r>
            <a:endParaRPr lang="en-US" altLang="zh-CN" sz="1500" b="0" dirty="0">
              <a:latin typeface="微软雅黑" panose="020B0503020204020204" charset="-122"/>
              <a:ea typeface="微软雅黑" panose="020B0503020204020204" charset="-122"/>
            </a:endParaRPr>
          </a:p>
          <a:p>
            <a:pPr lvl="1">
              <a:lnSpc>
                <a:spcPct val="120000"/>
              </a:lnSpc>
              <a:spcBef>
                <a:spcPts val="0"/>
              </a:spcBef>
              <a:buNone/>
              <a:defRPr/>
            </a:pPr>
            <a:r>
              <a:rPr lang="en-US" altLang="zh-CN" sz="1500" b="0" dirty="0">
                <a:latin typeface="微软雅黑" panose="020B0503020204020204" charset="-122"/>
                <a:ea typeface="微软雅黑" panose="020B0503020204020204" charset="-122"/>
              </a:rPr>
              <a:t>for(</a:t>
            </a:r>
            <a:r>
              <a:rPr lang="en-US" altLang="zh-CN" sz="1500" b="0" dirty="0" err="1">
                <a:latin typeface="微软雅黑" panose="020B0503020204020204" charset="-122"/>
                <a:ea typeface="微软雅黑" panose="020B0503020204020204" charset="-122"/>
              </a:rPr>
              <a:t>i</a:t>
            </a:r>
            <a:r>
              <a:rPr lang="en-US" altLang="zh-CN" sz="1500" b="0" dirty="0">
                <a:latin typeface="微软雅黑" panose="020B0503020204020204" charset="-122"/>
                <a:ea typeface="微软雅黑" panose="020B0503020204020204" charset="-122"/>
              </a:rPr>
              <a:t>=0;i&lt;10;i++){</a:t>
            </a:r>
            <a:endParaRPr lang="en-US" altLang="zh-CN" sz="1500" b="0" dirty="0">
              <a:latin typeface="微软雅黑" panose="020B0503020204020204" charset="-122"/>
              <a:ea typeface="微软雅黑" panose="020B0503020204020204" charset="-122"/>
            </a:endParaRPr>
          </a:p>
          <a:p>
            <a:pPr lvl="1">
              <a:lnSpc>
                <a:spcPct val="120000"/>
              </a:lnSpc>
              <a:spcBef>
                <a:spcPts val="0"/>
              </a:spcBef>
              <a:buNone/>
              <a:defRPr/>
            </a:pPr>
            <a:r>
              <a:rPr lang="en-US" altLang="zh-CN" sz="1500" b="0" dirty="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printf</a:t>
            </a:r>
            <a:r>
              <a:rPr lang="en-US" altLang="zh-CN" sz="1500" b="0" dirty="0">
                <a:latin typeface="微软雅黑" panose="020B0503020204020204" charset="-122"/>
                <a:ea typeface="微软雅黑" panose="020B0503020204020204" charset="-122"/>
              </a:rPr>
              <a:t>(“</a:t>
            </a:r>
            <a:r>
              <a:rPr lang="en-US" altLang="zh-CN" sz="1500" b="0" dirty="0" err="1">
                <a:latin typeface="微软雅黑" panose="020B0503020204020204" charset="-122"/>
                <a:ea typeface="微软雅黑" panose="020B0503020204020204" charset="-122"/>
              </a:rPr>
              <a:t>childthread</a:t>
            </a:r>
            <a:r>
              <a:rPr lang="en-US" altLang="zh-CN" sz="1500" b="0" dirty="0">
                <a:latin typeface="微软雅黑" panose="020B0503020204020204" charset="-122"/>
                <a:ea typeface="微软雅黑" panose="020B0503020204020204" charset="-122"/>
              </a:rPr>
              <a:t> message\n”);</a:t>
            </a:r>
            <a:endParaRPr lang="en-US" altLang="zh-CN" sz="1500" b="0" dirty="0">
              <a:latin typeface="微软雅黑" panose="020B0503020204020204" charset="-122"/>
              <a:ea typeface="微软雅黑" panose="020B0503020204020204" charset="-122"/>
            </a:endParaRPr>
          </a:p>
          <a:p>
            <a:pPr lvl="1">
              <a:lnSpc>
                <a:spcPct val="120000"/>
              </a:lnSpc>
              <a:spcBef>
                <a:spcPts val="0"/>
              </a:spcBef>
              <a:buNone/>
              <a:defRPr/>
            </a:pPr>
            <a:r>
              <a:rPr lang="en-US" altLang="zh-CN" sz="1500" b="0" dirty="0">
                <a:latin typeface="微软雅黑" panose="020B0503020204020204" charset="-122"/>
                <a:ea typeface="微软雅黑" panose="020B0503020204020204" charset="-122"/>
              </a:rPr>
              <a:t>	sleep(3);</a:t>
            </a:r>
            <a:endParaRPr lang="en-US" altLang="zh-CN" sz="1500" b="0" dirty="0">
              <a:latin typeface="微软雅黑" panose="020B0503020204020204" charset="-122"/>
              <a:ea typeface="微软雅黑" panose="020B0503020204020204" charset="-122"/>
            </a:endParaRPr>
          </a:p>
          <a:p>
            <a:pPr lvl="1">
              <a:lnSpc>
                <a:spcPct val="120000"/>
              </a:lnSpc>
              <a:spcBef>
                <a:spcPts val="0"/>
              </a:spcBef>
              <a:buNone/>
              <a:defRPr/>
            </a:pPr>
            <a:r>
              <a:rPr lang="en-US" altLang="zh-CN" sz="1500" b="0" dirty="0">
                <a:latin typeface="微软雅黑" panose="020B0503020204020204" charset="-122"/>
                <a:ea typeface="微软雅黑" panose="020B0503020204020204" charset="-122"/>
              </a:rPr>
              <a:t>}</a:t>
            </a:r>
            <a:endParaRPr lang="en-US" altLang="zh-CN" sz="1500" b="0" dirty="0">
              <a:latin typeface="微软雅黑" panose="020B0503020204020204" charset="-122"/>
              <a:ea typeface="微软雅黑" panose="020B0503020204020204" charset="-122"/>
            </a:endParaRPr>
          </a:p>
          <a:p>
            <a:pPr lvl="1" indent="-335280">
              <a:lnSpc>
                <a:spcPct val="120000"/>
              </a:lnSpc>
              <a:spcBef>
                <a:spcPts val="0"/>
              </a:spcBef>
              <a:buNone/>
              <a:defRPr/>
            </a:pPr>
            <a:r>
              <a:rPr lang="en-US" altLang="zh-CN" sz="1500" dirty="0">
                <a:latin typeface="微软雅黑" panose="020B0503020204020204" charset="-122"/>
                <a:ea typeface="微软雅黑" panose="020B0503020204020204" charset="-122"/>
              </a:rPr>
              <a:t>}</a:t>
            </a:r>
            <a:endParaRPr lang="en-US" altLang="zh-CN" sz="1500" dirty="0">
              <a:latin typeface="微软雅黑" panose="020B0503020204020204" charset="-122"/>
              <a:ea typeface="微软雅黑" panose="020B0503020204020204" charset="-122"/>
            </a:endParaRPr>
          </a:p>
          <a:p>
            <a:pPr>
              <a:lnSpc>
                <a:spcPct val="120000"/>
              </a:lnSpc>
              <a:spcBef>
                <a:spcPts val="0"/>
              </a:spcBef>
              <a:buNone/>
              <a:defRPr/>
            </a:pPr>
            <a:r>
              <a:rPr lang="en-US" altLang="zh-CN" sz="1500" dirty="0" err="1">
                <a:latin typeface="微软雅黑" panose="020B0503020204020204" charset="-122"/>
                <a:ea typeface="微软雅黑" panose="020B0503020204020204" charset="-122"/>
              </a:rPr>
              <a:t>int</a:t>
            </a:r>
            <a:r>
              <a:rPr lang="en-US" altLang="zh-CN" sz="1500" dirty="0">
                <a:latin typeface="微软雅黑" panose="020B0503020204020204" charset="-122"/>
                <a:ea typeface="微软雅黑" panose="020B0503020204020204" charset="-122"/>
              </a:rPr>
              <a:t> main(){</a:t>
            </a:r>
            <a:endParaRPr lang="en-US" altLang="zh-CN" sz="1500" dirty="0">
              <a:latin typeface="微软雅黑" panose="020B0503020204020204" charset="-122"/>
              <a:ea typeface="微软雅黑" panose="020B0503020204020204" charset="-122"/>
            </a:endParaRPr>
          </a:p>
          <a:p>
            <a:pPr>
              <a:lnSpc>
                <a:spcPct val="120000"/>
              </a:lnSpc>
              <a:spcBef>
                <a:spcPts val="0"/>
              </a:spcBef>
              <a:buNone/>
              <a:defRPr/>
            </a:pPr>
            <a:r>
              <a:rPr lang="en-US" altLang="zh-CN" sz="1500" dirty="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pthread_t</a:t>
            </a:r>
            <a:r>
              <a:rPr lang="en-US" altLang="zh-CN" sz="1500" b="0" dirty="0">
                <a:latin typeface="微软雅黑" panose="020B0503020204020204" charset="-122"/>
                <a:ea typeface="微软雅黑" panose="020B0503020204020204" charset="-122"/>
              </a:rPr>
              <a:t> </a:t>
            </a:r>
            <a:r>
              <a:rPr lang="zh-CN" altLang="en-US" sz="1500" b="0" dirty="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tid</a:t>
            </a:r>
            <a:r>
              <a:rPr lang="en-US" altLang="zh-CN" sz="1500" b="0" dirty="0">
                <a:latin typeface="微软雅黑" panose="020B0503020204020204" charset="-122"/>
                <a:ea typeface="微软雅黑" panose="020B0503020204020204" charset="-122"/>
              </a:rPr>
              <a:t>;</a:t>
            </a:r>
            <a:endParaRPr lang="en-US" altLang="zh-CN" sz="1500" b="0" dirty="0">
              <a:latin typeface="微软雅黑" panose="020B0503020204020204" charset="-122"/>
              <a:ea typeface="微软雅黑" panose="020B0503020204020204" charset="-122"/>
            </a:endParaRPr>
          </a:p>
          <a:p>
            <a:pPr>
              <a:lnSpc>
                <a:spcPct val="120000"/>
              </a:lnSpc>
              <a:spcBef>
                <a:spcPts val="0"/>
              </a:spcBef>
              <a:buNone/>
              <a:defRPr/>
            </a:pPr>
            <a:r>
              <a:rPr lang="en-US" altLang="zh-CN" sz="1500" b="0" dirty="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printf</a:t>
            </a:r>
            <a:r>
              <a:rPr lang="en-US" altLang="zh-CN" sz="1500" b="0" dirty="0">
                <a:latin typeface="微软雅黑" panose="020B0503020204020204" charset="-122"/>
                <a:ea typeface="微软雅黑" panose="020B0503020204020204" charset="-122"/>
              </a:rPr>
              <a:t>(“create </a:t>
            </a:r>
            <a:r>
              <a:rPr lang="en-US" altLang="zh-CN" sz="1500" b="0" dirty="0" err="1">
                <a:latin typeface="微软雅黑" panose="020B0503020204020204" charset="-122"/>
                <a:ea typeface="微软雅黑" panose="020B0503020204020204" charset="-122"/>
              </a:rPr>
              <a:t>childthread</a:t>
            </a:r>
            <a:r>
              <a:rPr lang="en-US" altLang="zh-CN" sz="1500" b="0" dirty="0">
                <a:latin typeface="微软雅黑" panose="020B0503020204020204" charset="-122"/>
                <a:ea typeface="微软雅黑" panose="020B0503020204020204" charset="-122"/>
              </a:rPr>
              <a:t>\n”); </a:t>
            </a:r>
            <a:endParaRPr lang="en-US" altLang="zh-CN" sz="1500" b="0" dirty="0">
              <a:latin typeface="微软雅黑" panose="020B0503020204020204" charset="-122"/>
              <a:ea typeface="微软雅黑" panose="020B0503020204020204" charset="-122"/>
            </a:endParaRPr>
          </a:p>
          <a:p>
            <a:pPr>
              <a:lnSpc>
                <a:spcPct val="120000"/>
              </a:lnSpc>
              <a:spcBef>
                <a:spcPts val="0"/>
              </a:spcBef>
              <a:buNone/>
              <a:defRPr/>
            </a:pPr>
            <a:r>
              <a:rPr lang="en-US" altLang="zh-CN" sz="1500" b="0" dirty="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pthread_create</a:t>
            </a:r>
            <a:r>
              <a:rPr lang="en-US" altLang="zh-CN" sz="1500" b="0" dirty="0">
                <a:latin typeface="微软雅黑" panose="020B0503020204020204" charset="-122"/>
                <a:ea typeface="微软雅黑" panose="020B0503020204020204" charset="-122"/>
              </a:rPr>
              <a:t>(&amp;</a:t>
            </a:r>
            <a:r>
              <a:rPr lang="en-US" altLang="zh-CN" sz="1500" b="0" dirty="0" err="1">
                <a:latin typeface="微软雅黑" panose="020B0503020204020204" charset="-122"/>
                <a:ea typeface="微软雅黑" panose="020B0503020204020204" charset="-122"/>
              </a:rPr>
              <a:t>tid</a:t>
            </a:r>
            <a:r>
              <a:rPr lang="en-US" altLang="zh-CN" sz="1500" b="0" dirty="0">
                <a:latin typeface="微软雅黑" panose="020B0503020204020204" charset="-122"/>
                <a:ea typeface="微软雅黑" panose="020B0503020204020204" charset="-122"/>
              </a:rPr>
              <a:t>,</a:t>
            </a:r>
            <a:r>
              <a:rPr lang="zh-CN" altLang="en-US" sz="1500" b="0" dirty="0">
                <a:latin typeface="微软雅黑" panose="020B0503020204020204" charset="-122"/>
                <a:ea typeface="微软雅黑" panose="020B0503020204020204" charset="-122"/>
              </a:rPr>
              <a:t> </a:t>
            </a:r>
            <a:r>
              <a:rPr lang="en-US" altLang="zh-CN" sz="1500" b="0" dirty="0">
                <a:latin typeface="微软雅黑" panose="020B0503020204020204" charset="-122"/>
                <a:ea typeface="微软雅黑" panose="020B0503020204020204" charset="-122"/>
              </a:rPr>
              <a:t>NULL,</a:t>
            </a:r>
            <a:r>
              <a:rPr lang="zh-CN" altLang="en-US" sz="1500" b="0" dirty="0">
                <a:latin typeface="微软雅黑" panose="020B0503020204020204" charset="-122"/>
                <a:ea typeface="微软雅黑" panose="020B0503020204020204" charset="-122"/>
              </a:rPr>
              <a:t> </a:t>
            </a:r>
            <a:r>
              <a:rPr lang="en-US" altLang="zh-CN" sz="1500" b="0" dirty="0">
                <a:latin typeface="微软雅黑" panose="020B0503020204020204" charset="-122"/>
                <a:ea typeface="微软雅黑" panose="020B0503020204020204" charset="-122"/>
              </a:rPr>
              <a:t>(void *) </a:t>
            </a:r>
            <a:r>
              <a:rPr lang="en-US" altLang="zh-CN" sz="1500" b="0" dirty="0" err="1">
                <a:latin typeface="微软雅黑" panose="020B0503020204020204" charset="-122"/>
                <a:ea typeface="微软雅黑" panose="020B0503020204020204" charset="-122"/>
              </a:rPr>
              <a:t>childthread</a:t>
            </a:r>
            <a:r>
              <a:rPr lang="en-US" altLang="zh-CN" sz="1500" b="0" dirty="0">
                <a:latin typeface="微软雅黑" panose="020B0503020204020204" charset="-122"/>
                <a:ea typeface="微软雅黑" panose="020B0503020204020204" charset="-122"/>
              </a:rPr>
              <a:t>,</a:t>
            </a:r>
            <a:r>
              <a:rPr lang="zh-CN" altLang="en-US" sz="1500" b="0" dirty="0">
                <a:latin typeface="微软雅黑" panose="020B0503020204020204" charset="-122"/>
                <a:ea typeface="微软雅黑" panose="020B0503020204020204" charset="-122"/>
              </a:rPr>
              <a:t> </a:t>
            </a:r>
            <a:r>
              <a:rPr lang="en-US" altLang="zh-CN" sz="1500" b="0" dirty="0">
                <a:latin typeface="微软雅黑" panose="020B0503020204020204" charset="-122"/>
                <a:ea typeface="微软雅黑" panose="020B0503020204020204" charset="-122"/>
              </a:rPr>
              <a:t>NULL);</a:t>
            </a:r>
            <a:endParaRPr lang="en-US" altLang="zh-CN" sz="1500" b="0" dirty="0">
              <a:latin typeface="微软雅黑" panose="020B0503020204020204" charset="-122"/>
              <a:ea typeface="微软雅黑" panose="020B0503020204020204" charset="-122"/>
            </a:endParaRPr>
          </a:p>
          <a:p>
            <a:pPr>
              <a:lnSpc>
                <a:spcPct val="120000"/>
              </a:lnSpc>
              <a:spcBef>
                <a:spcPts val="0"/>
              </a:spcBef>
              <a:buNone/>
              <a:defRPr/>
            </a:pPr>
            <a:r>
              <a:rPr lang="en-US" altLang="zh-CN" sz="1500" b="0" dirty="0">
                <a:latin typeface="微软雅黑" panose="020B0503020204020204" charset="-122"/>
                <a:ea typeface="微软雅黑" panose="020B0503020204020204" charset="-122"/>
              </a:rPr>
              <a:t>  sleep(3);</a:t>
            </a:r>
            <a:endParaRPr lang="en-US" altLang="zh-CN" sz="1500" b="0" dirty="0">
              <a:latin typeface="微软雅黑" panose="020B0503020204020204" charset="-122"/>
              <a:ea typeface="微软雅黑" panose="020B0503020204020204" charset="-122"/>
            </a:endParaRPr>
          </a:p>
          <a:p>
            <a:pPr>
              <a:lnSpc>
                <a:spcPct val="120000"/>
              </a:lnSpc>
              <a:spcBef>
                <a:spcPts val="0"/>
              </a:spcBef>
              <a:buNone/>
              <a:defRPr/>
            </a:pPr>
            <a:r>
              <a:rPr lang="en-US" altLang="zh-CN" sz="1500" b="0" dirty="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printf</a:t>
            </a:r>
            <a:r>
              <a:rPr lang="en-US" altLang="zh-CN" sz="1500" b="0" dirty="0">
                <a:latin typeface="微软雅黑" panose="020B0503020204020204" charset="-122"/>
                <a:ea typeface="微软雅黑" panose="020B0503020204020204" charset="-122"/>
              </a:rPr>
              <a:t>(“process exit\n”);</a:t>
            </a:r>
            <a:endParaRPr lang="en-US" altLang="zh-CN" sz="1500" b="0" dirty="0">
              <a:latin typeface="微软雅黑" panose="020B0503020204020204" charset="-122"/>
              <a:ea typeface="微软雅黑" panose="020B0503020204020204" charset="-122"/>
            </a:endParaRPr>
          </a:p>
          <a:p>
            <a:pPr>
              <a:lnSpc>
                <a:spcPct val="120000"/>
              </a:lnSpc>
              <a:spcBef>
                <a:spcPts val="0"/>
              </a:spcBef>
              <a:buNone/>
              <a:defRPr/>
            </a:pPr>
            <a:r>
              <a:rPr lang="en-US" altLang="zh-CN" sz="1500" dirty="0">
                <a:latin typeface="微软雅黑" panose="020B0503020204020204" charset="-122"/>
                <a:ea typeface="微软雅黑" panose="020B0503020204020204" charset="-122"/>
              </a:rPr>
              <a:t>}</a:t>
            </a:r>
            <a:endParaRPr lang="zh-CN" altLang="en-US" sz="1500" dirty="0">
              <a:latin typeface="微软雅黑" panose="020B0503020204020204" charset="-122"/>
              <a:ea typeface="微软雅黑" panose="020B0503020204020204" charset="-122"/>
            </a:endParaRPr>
          </a:p>
        </p:txBody>
      </p:sp>
      <p:sp>
        <p:nvSpPr>
          <p:cNvPr id="704514" name="Rectangle 2"/>
          <p:cNvSpPr>
            <a:spLocks noGrp="1" noChangeArrowheads="1"/>
          </p:cNvSpPr>
          <p:nvPr>
            <p:ph type="title"/>
          </p:nvPr>
        </p:nvSpPr>
        <p:spPr/>
        <p:txBody>
          <a:bodyPr/>
          <a:lstStyle/>
          <a:p>
            <a:pPr>
              <a:defRPr/>
            </a:pPr>
            <a:r>
              <a:rPr lang="zh-CN" altLang="en-US" dirty="0"/>
              <a:t>创建子线程代码示例</a:t>
            </a:r>
            <a:endParaRPr lang="zh-CN" altLang="en-US" dirty="0"/>
          </a:p>
        </p:txBody>
      </p:sp>
      <p:sp>
        <p:nvSpPr>
          <p:cNvPr id="164866" name="灯片编号占位符 5"/>
          <p:cNvSpPr>
            <a:spLocks noGrp="1"/>
          </p:cNvSpPr>
          <p:nvPr>
            <p:ph type="sldNum" sz="quarter" idx="4294967295"/>
          </p:nvPr>
        </p:nvSpPr>
        <p:spPr bwMode="auto">
          <a:xfrm>
            <a:off x="6057900" y="5541169"/>
            <a:ext cx="1600200" cy="3571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z="1050" smtClean="0">
                <a:latin typeface="微软雅黑" panose="020B0503020204020204" charset="-122"/>
                <a:ea typeface="微软雅黑" panose="020B0503020204020204" charset="-122"/>
              </a:rPr>
            </a:fld>
            <a:endParaRPr lang="en-US" altLang="zh-CN" sz="105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2" name="Rectangle 3"/>
          <p:cNvSpPr>
            <a:spLocks noGrp="1" noChangeArrowheads="1"/>
          </p:cNvSpPr>
          <p:nvPr>
            <p:ph idx="1"/>
          </p:nvPr>
        </p:nvSpPr>
        <p:spPr>
          <a:xfrm>
            <a:off x="723421" y="1784712"/>
            <a:ext cx="8077986" cy="2079940"/>
          </a:xfrm>
        </p:spPr>
        <p:txBody>
          <a:bodyPr/>
          <a:lstStyle/>
          <a:p>
            <a:pPr>
              <a:lnSpc>
                <a:spcPct val="130000"/>
              </a:lnSpc>
            </a:pPr>
            <a:r>
              <a:rPr lang="zh-CN" altLang="en-US" dirty="0">
                <a:latin typeface="微软雅黑" panose="020B0503020204020204" charset="-122"/>
                <a:ea typeface="微软雅黑" panose="020B0503020204020204" charset="-122"/>
              </a:rPr>
              <a:t>线程的三种正常终止方式</a:t>
            </a:r>
            <a:endParaRPr lang="zh-CN" altLang="en-US" dirty="0">
              <a:latin typeface="微软雅黑" panose="020B0503020204020204" charset="-122"/>
              <a:ea typeface="微软雅黑" panose="020B0503020204020204" charset="-122"/>
            </a:endParaRPr>
          </a:p>
          <a:p>
            <a:pPr lvl="2">
              <a:lnSpc>
                <a:spcPct val="130000"/>
              </a:lnSpc>
            </a:pPr>
            <a:r>
              <a:rPr lang="zh-CN" altLang="en-US" sz="1650" dirty="0">
                <a:latin typeface="微软雅黑" panose="020B0503020204020204" charset="-122"/>
                <a:ea typeface="微软雅黑" panose="020B0503020204020204" charset="-122"/>
              </a:rPr>
              <a:t>线程从启动线程函数中返回，函数返回值作为线程的退出码 </a:t>
            </a:r>
            <a:r>
              <a:rPr lang="en-US" altLang="zh-CN" sz="1650" dirty="0">
                <a:solidFill>
                  <a:srgbClr val="FF0000"/>
                </a:solidFill>
                <a:latin typeface="微软雅黑" panose="020B0503020204020204" charset="-122"/>
                <a:ea typeface="微软雅黑" panose="020B0503020204020204" charset="-122"/>
              </a:rPr>
              <a:t>return( )</a:t>
            </a:r>
            <a:endParaRPr lang="zh-CN" altLang="en-US" sz="1650" dirty="0">
              <a:solidFill>
                <a:srgbClr val="FF0000"/>
              </a:solidFill>
              <a:latin typeface="微软雅黑" panose="020B0503020204020204" charset="-122"/>
              <a:ea typeface="微软雅黑" panose="020B0503020204020204" charset="-122"/>
            </a:endParaRPr>
          </a:p>
          <a:p>
            <a:pPr lvl="2">
              <a:lnSpc>
                <a:spcPct val="130000"/>
              </a:lnSpc>
            </a:pPr>
            <a:r>
              <a:rPr lang="zh-CN" altLang="en-US" sz="1650" dirty="0">
                <a:latin typeface="微软雅黑" panose="020B0503020204020204" charset="-122"/>
                <a:ea typeface="微软雅黑" panose="020B0503020204020204" charset="-122"/>
              </a:rPr>
              <a:t>线程被同一进程中的其他线程取消 </a:t>
            </a:r>
            <a:r>
              <a:rPr lang="en-US" altLang="zh-CN" sz="1650" dirty="0" err="1">
                <a:solidFill>
                  <a:srgbClr val="FF0000"/>
                </a:solidFill>
                <a:latin typeface="微软雅黑" panose="020B0503020204020204" charset="-122"/>
                <a:ea typeface="微软雅黑" panose="020B0503020204020204" charset="-122"/>
              </a:rPr>
              <a:t>pthread_cancel</a:t>
            </a:r>
            <a:r>
              <a:rPr lang="en-US" altLang="zh-CN" sz="1650" dirty="0">
                <a:solidFill>
                  <a:srgbClr val="FF0000"/>
                </a:solidFill>
                <a:latin typeface="微软雅黑" panose="020B0503020204020204" charset="-122"/>
                <a:ea typeface="微软雅黑" panose="020B0503020204020204" charset="-122"/>
              </a:rPr>
              <a:t>( )</a:t>
            </a:r>
            <a:endParaRPr lang="zh-CN" altLang="en-US" sz="1650" dirty="0">
              <a:solidFill>
                <a:srgbClr val="FF0000"/>
              </a:solidFill>
              <a:latin typeface="微软雅黑" panose="020B0503020204020204" charset="-122"/>
              <a:ea typeface="微软雅黑" panose="020B0503020204020204" charset="-122"/>
            </a:endParaRPr>
          </a:p>
          <a:p>
            <a:pPr lvl="2">
              <a:lnSpc>
                <a:spcPct val="130000"/>
              </a:lnSpc>
            </a:pPr>
            <a:r>
              <a:rPr lang="zh-CN" altLang="en-US" sz="1650" dirty="0">
                <a:latin typeface="微软雅黑" panose="020B0503020204020204" charset="-122"/>
                <a:ea typeface="微软雅黑" panose="020B0503020204020204" charset="-122"/>
              </a:rPr>
              <a:t>线程在任意函数中调用</a:t>
            </a:r>
            <a:r>
              <a:rPr lang="en-US" altLang="zh-CN" sz="1650" dirty="0" err="1">
                <a:solidFill>
                  <a:srgbClr val="FF0000"/>
                </a:solidFill>
                <a:latin typeface="微软雅黑" panose="020B0503020204020204" charset="-122"/>
                <a:ea typeface="微软雅黑" panose="020B0503020204020204" charset="-122"/>
              </a:rPr>
              <a:t>pthread_exit</a:t>
            </a:r>
            <a:r>
              <a:rPr lang="zh-CN" altLang="en-US" sz="1650" dirty="0">
                <a:latin typeface="微软雅黑" panose="020B0503020204020204" charset="-122"/>
                <a:ea typeface="微软雅黑" panose="020B0503020204020204" charset="-122"/>
              </a:rPr>
              <a:t>函数终止执行</a:t>
            </a:r>
            <a:endParaRPr lang="en-US" altLang="zh-CN" sz="1650" dirty="0">
              <a:latin typeface="微软雅黑" panose="020B0503020204020204" charset="-122"/>
              <a:ea typeface="微软雅黑" panose="020B0503020204020204" charset="-122"/>
            </a:endParaRPr>
          </a:p>
          <a:p>
            <a:pPr lvl="1"/>
            <a:endParaRPr lang="zh-CN" altLang="en-US" sz="1500" dirty="0">
              <a:latin typeface="微软雅黑" panose="020B0503020204020204" charset="-122"/>
              <a:ea typeface="微软雅黑" panose="020B0503020204020204" charset="-122"/>
            </a:endParaRPr>
          </a:p>
        </p:txBody>
      </p:sp>
      <p:sp>
        <p:nvSpPr>
          <p:cNvPr id="691202" name="Rectangle 2"/>
          <p:cNvSpPr>
            <a:spLocks noGrp="1" noChangeArrowheads="1"/>
          </p:cNvSpPr>
          <p:nvPr>
            <p:ph type="title"/>
          </p:nvPr>
        </p:nvSpPr>
        <p:spPr/>
        <p:txBody>
          <a:bodyPr/>
          <a:lstStyle/>
          <a:p>
            <a:pPr>
              <a:defRPr/>
            </a:pPr>
            <a:r>
              <a:rPr lang="zh-CN" altLang="en-US"/>
              <a:t>线程的终止</a:t>
            </a:r>
            <a:endParaRPr lang="zh-CN" altLang="en-US"/>
          </a:p>
        </p:txBody>
      </p:sp>
      <p:sp>
        <p:nvSpPr>
          <p:cNvPr id="165890" name="灯片编号占位符 5"/>
          <p:cNvSpPr>
            <a:spLocks noGrp="1"/>
          </p:cNvSpPr>
          <p:nvPr>
            <p:ph type="sldNum" sz="quarter" idx="4294967295"/>
          </p:nvPr>
        </p:nvSpPr>
        <p:spPr bwMode="auto">
          <a:xfrm>
            <a:off x="6057900" y="5541169"/>
            <a:ext cx="1600200" cy="3571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z="1050" smtClean="0"/>
            </a:fld>
            <a:endParaRPr lang="en-US" altLang="zh-CN" sz="1050"/>
          </a:p>
        </p:txBody>
      </p:sp>
      <p:sp>
        <p:nvSpPr>
          <p:cNvPr id="5" name="Rectangle 3"/>
          <p:cNvSpPr txBox="1">
            <a:spLocks noRot="1" noChangeArrowheads="1"/>
          </p:cNvSpPr>
          <p:nvPr/>
        </p:nvSpPr>
        <p:spPr>
          <a:xfrm>
            <a:off x="555556" y="3386841"/>
            <a:ext cx="8077986" cy="1051185"/>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endParaRPr lang="zh-CN" altLang="en-US" sz="1500" dirty="0" smtClean="0">
              <a:latin typeface="微软雅黑" panose="020B0503020204020204" charset="-122"/>
              <a:ea typeface="微软雅黑" panose="020B0503020204020204" charset="-122"/>
            </a:endParaRPr>
          </a:p>
          <a:p>
            <a:pPr marL="0" indent="0">
              <a:buFont typeface="Arial" panose="020B0604020202020204" pitchFamily="34" charset="0"/>
              <a:buNone/>
            </a:pPr>
            <a:r>
              <a:rPr lang="en-US" altLang="zh-CN" sz="1800" b="0" dirty="0" smtClean="0">
                <a:latin typeface="微软雅黑" panose="020B0503020204020204" charset="-122"/>
                <a:ea typeface="微软雅黑" panose="020B0503020204020204" charset="-122"/>
              </a:rPr>
              <a:t>  #include &lt;</a:t>
            </a:r>
            <a:r>
              <a:rPr lang="en-US" altLang="zh-CN" sz="1800" b="0" dirty="0" err="1" smtClean="0">
                <a:latin typeface="微软雅黑" panose="020B0503020204020204" charset="-122"/>
                <a:ea typeface="微软雅黑" panose="020B0503020204020204" charset="-122"/>
              </a:rPr>
              <a:t>pthread.h</a:t>
            </a:r>
            <a:r>
              <a:rPr lang="en-US" altLang="zh-CN" sz="1800" b="0" dirty="0" smtClean="0">
                <a:latin typeface="微软雅黑" panose="020B0503020204020204" charset="-122"/>
                <a:ea typeface="微软雅黑" panose="020B0503020204020204" charset="-122"/>
              </a:rPr>
              <a:t>&gt;</a:t>
            </a:r>
            <a:endParaRPr lang="en-US" altLang="zh-CN" sz="1800" b="0" dirty="0" smtClean="0">
              <a:latin typeface="微软雅黑" panose="020B0503020204020204" charset="-122"/>
              <a:ea typeface="微软雅黑" panose="020B0503020204020204" charset="-122"/>
            </a:endParaRPr>
          </a:p>
          <a:p>
            <a:pPr marL="205740" lvl="1" indent="0">
              <a:buFont typeface="Arial" panose="020B0604020202020204" pitchFamily="34" charset="0"/>
              <a:buNone/>
            </a:pPr>
            <a:r>
              <a:rPr lang="en-US" altLang="zh-CN" sz="1500" b="0" dirty="0" smtClean="0">
                <a:latin typeface="微软雅黑" panose="020B0503020204020204" charset="-122"/>
                <a:ea typeface="微软雅黑" panose="020B0503020204020204" charset="-122"/>
              </a:rPr>
              <a:t>  </a:t>
            </a:r>
            <a:r>
              <a:rPr lang="en-US" altLang="zh-CN" sz="1800" b="0" dirty="0" smtClean="0">
                <a:latin typeface="微软雅黑" panose="020B0503020204020204" charset="-122"/>
                <a:ea typeface="微软雅黑" panose="020B0503020204020204" charset="-122"/>
              </a:rPr>
              <a:t>void </a:t>
            </a:r>
            <a:r>
              <a:rPr lang="en-US" altLang="zh-CN" sz="1800" b="0" dirty="0" err="1" smtClean="0">
                <a:solidFill>
                  <a:srgbClr val="0000CC"/>
                </a:solidFill>
                <a:latin typeface="微软雅黑" panose="020B0503020204020204" charset="-122"/>
                <a:ea typeface="微软雅黑" panose="020B0503020204020204" charset="-122"/>
              </a:rPr>
              <a:t>pthread_exit</a:t>
            </a:r>
            <a:r>
              <a:rPr lang="en-US" altLang="zh-CN" sz="1800" b="0" dirty="0" smtClean="0">
                <a:latin typeface="微软雅黑" panose="020B0503020204020204" charset="-122"/>
                <a:ea typeface="微软雅黑" panose="020B0503020204020204" charset="-122"/>
              </a:rPr>
              <a:t>(void *</a:t>
            </a:r>
            <a:r>
              <a:rPr lang="en-US" altLang="zh-CN" sz="1800" b="0" dirty="0" err="1" smtClean="0">
                <a:latin typeface="微软雅黑" panose="020B0503020204020204" charset="-122"/>
                <a:ea typeface="微软雅黑" panose="020B0503020204020204" charset="-122"/>
              </a:rPr>
              <a:t>rval_ptr</a:t>
            </a:r>
            <a:r>
              <a:rPr lang="en-US" altLang="zh-CN" sz="1800" b="0" dirty="0" smtClean="0">
                <a:latin typeface="微软雅黑" panose="020B0503020204020204" charset="-122"/>
                <a:ea typeface="微软雅黑" panose="020B0503020204020204" charset="-122"/>
              </a:rPr>
              <a:t>);</a:t>
            </a:r>
            <a:endParaRPr lang="en-US" altLang="zh-CN" sz="1800" b="0" dirty="0" smtClean="0">
              <a:latin typeface="微软雅黑" panose="020B0503020204020204" charset="-122"/>
              <a:ea typeface="微软雅黑" panose="020B0503020204020204" charset="-122"/>
            </a:endParaRPr>
          </a:p>
          <a:p>
            <a:endParaRPr lang="zh-CN" altLang="en-US" sz="1500" dirty="0" smtClean="0">
              <a:latin typeface="微软雅黑" panose="020B0503020204020204" charset="-122"/>
              <a:ea typeface="微软雅黑" panose="020B0503020204020204" charset="-122"/>
            </a:endParaRPr>
          </a:p>
          <a:p>
            <a:endParaRPr lang="zh-CN" altLang="en-US" sz="1500" dirty="0">
              <a:latin typeface="微软雅黑" panose="020B0503020204020204" charset="-122"/>
              <a:ea typeface="微软雅黑" panose="020B0503020204020204" charset="-122"/>
            </a:endParaRPr>
          </a:p>
        </p:txBody>
      </p:sp>
      <p:sp>
        <p:nvSpPr>
          <p:cNvPr id="6" name="矩形 5"/>
          <p:cNvSpPr/>
          <p:nvPr/>
        </p:nvSpPr>
        <p:spPr>
          <a:xfrm>
            <a:off x="728484" y="4542518"/>
            <a:ext cx="7844015" cy="1198880"/>
          </a:xfrm>
          <a:prstGeom prst="rect">
            <a:avLst/>
          </a:prstGeom>
        </p:spPr>
        <p:txBody>
          <a:bodyPr wrap="square">
            <a:spAutoFit/>
          </a:bodyPr>
          <a:lstStyle/>
          <a:p>
            <a:pPr marL="171450" indent="-171450" defTabSz="685800">
              <a:lnSpc>
                <a:spcPct val="150000"/>
              </a:lnSpc>
              <a:buClr>
                <a:srgbClr val="4A66AC">
                  <a:lumMod val="75000"/>
                </a:srgbClr>
              </a:buClr>
              <a:buSzPct val="100000"/>
              <a:buFont typeface="Wingdings" panose="05000000000000000000" pitchFamily="2" charset="2"/>
              <a:buChar char="Ø"/>
              <a:defRPr/>
            </a:pPr>
            <a:r>
              <a:rPr lang="zh-CN" altLang="en-US" sz="1500" b="1" dirty="0">
                <a:solidFill>
                  <a:prstClr val="black"/>
                </a:solidFill>
                <a:latin typeface="微软雅黑" panose="020B0503020204020204" charset="-122"/>
                <a:ea typeface="微软雅黑" panose="020B0503020204020204" charset="-122"/>
              </a:rPr>
              <a:t>由于</a:t>
            </a:r>
            <a:r>
              <a:rPr lang="en-US" altLang="zh-CN" sz="1500" b="1" dirty="0" err="1">
                <a:solidFill>
                  <a:prstClr val="black"/>
                </a:solidFill>
                <a:latin typeface="微软雅黑" panose="020B0503020204020204" charset="-122"/>
                <a:ea typeface="微软雅黑" panose="020B0503020204020204" charset="-122"/>
              </a:rPr>
              <a:t>pthread</a:t>
            </a:r>
            <a:r>
              <a:rPr lang="zh-CN" altLang="en-US" sz="1500" b="1" dirty="0">
                <a:solidFill>
                  <a:prstClr val="black"/>
                </a:solidFill>
                <a:latin typeface="微软雅黑" panose="020B0503020204020204" charset="-122"/>
                <a:ea typeface="微软雅黑" panose="020B0503020204020204" charset="-122"/>
              </a:rPr>
              <a:t>库不是</a:t>
            </a:r>
            <a:r>
              <a:rPr lang="en-US" altLang="zh-CN" sz="1500" b="1" dirty="0">
                <a:solidFill>
                  <a:prstClr val="black"/>
                </a:solidFill>
                <a:latin typeface="微软雅黑" panose="020B0503020204020204" charset="-122"/>
                <a:ea typeface="微软雅黑" panose="020B0503020204020204" charset="-122"/>
              </a:rPr>
              <a:t>Linux</a:t>
            </a:r>
            <a:r>
              <a:rPr lang="zh-CN" altLang="en-US" sz="1500" b="1" dirty="0">
                <a:solidFill>
                  <a:prstClr val="black"/>
                </a:solidFill>
                <a:latin typeface="微软雅黑" panose="020B0503020204020204" charset="-122"/>
                <a:ea typeface="微软雅黑" panose="020B0503020204020204" charset="-122"/>
              </a:rPr>
              <a:t>系统默认的库，连接时需要使用库</a:t>
            </a:r>
            <a:r>
              <a:rPr lang="en-US" altLang="zh-CN" sz="1500" b="1" dirty="0" err="1">
                <a:solidFill>
                  <a:prstClr val="black"/>
                </a:solidFill>
                <a:latin typeface="微软雅黑" panose="020B0503020204020204" charset="-122"/>
                <a:ea typeface="微软雅黑" panose="020B0503020204020204" charset="-122"/>
              </a:rPr>
              <a:t>libpthread.a</a:t>
            </a:r>
            <a:r>
              <a:rPr lang="en-US" altLang="zh-CN" sz="1500" b="1" dirty="0">
                <a:solidFill>
                  <a:prstClr val="black"/>
                </a:solidFill>
                <a:latin typeface="微软雅黑" panose="020B0503020204020204" charset="-122"/>
                <a:ea typeface="微软雅黑" panose="020B0503020204020204" charset="-122"/>
              </a:rPr>
              <a:t>,</a:t>
            </a:r>
            <a:r>
              <a:rPr lang="zh-CN" altLang="en-US" sz="1500" b="1" dirty="0">
                <a:solidFill>
                  <a:prstClr val="black"/>
                </a:solidFill>
                <a:latin typeface="微软雅黑" panose="020B0503020204020204" charset="-122"/>
                <a:ea typeface="微软雅黑" panose="020B0503020204020204" charset="-122"/>
              </a:rPr>
              <a:t>所以如果使用</a:t>
            </a:r>
            <a:r>
              <a:rPr lang="en-US" altLang="zh-CN" sz="1500" b="1" dirty="0" err="1">
                <a:solidFill>
                  <a:prstClr val="black"/>
                </a:solidFill>
                <a:latin typeface="微软雅黑" panose="020B0503020204020204" charset="-122"/>
                <a:ea typeface="微软雅黑" panose="020B0503020204020204" charset="-122"/>
              </a:rPr>
              <a:t>pthread_create</a:t>
            </a:r>
            <a:r>
              <a:rPr lang="zh-CN" altLang="en-US" sz="1500" b="1" dirty="0">
                <a:solidFill>
                  <a:prstClr val="black"/>
                </a:solidFill>
                <a:latin typeface="微软雅黑" panose="020B0503020204020204" charset="-122"/>
                <a:ea typeface="微软雅黑" panose="020B0503020204020204" charset="-122"/>
              </a:rPr>
              <a:t>、</a:t>
            </a:r>
            <a:r>
              <a:rPr lang="en-US" altLang="zh-CN" sz="1500" b="1" dirty="0" err="1">
                <a:solidFill>
                  <a:prstClr val="black"/>
                </a:solidFill>
                <a:latin typeface="微软雅黑" panose="020B0503020204020204" charset="-122"/>
                <a:ea typeface="微软雅黑" panose="020B0503020204020204" charset="-122"/>
              </a:rPr>
              <a:t>pthread_exit</a:t>
            </a:r>
            <a:r>
              <a:rPr lang="zh-CN" altLang="en-US" sz="1500" b="1" dirty="0">
                <a:solidFill>
                  <a:prstClr val="black"/>
                </a:solidFill>
                <a:latin typeface="微软雅黑" panose="020B0503020204020204" charset="-122"/>
                <a:ea typeface="微软雅黑" panose="020B0503020204020204" charset="-122"/>
              </a:rPr>
              <a:t>等函数时，在编译中要加</a:t>
            </a:r>
            <a:r>
              <a:rPr lang="en-US" altLang="zh-CN" sz="1500" b="1" dirty="0">
                <a:solidFill>
                  <a:prstClr val="black"/>
                </a:solidFill>
                <a:latin typeface="微软雅黑" panose="020B0503020204020204" charset="-122"/>
                <a:ea typeface="微软雅黑" panose="020B0503020204020204" charset="-122"/>
              </a:rPr>
              <a:t>-</a:t>
            </a:r>
            <a:r>
              <a:rPr lang="en-US" altLang="zh-CN" sz="1500" b="1" dirty="0" err="1">
                <a:solidFill>
                  <a:prstClr val="black"/>
                </a:solidFill>
                <a:latin typeface="微软雅黑" panose="020B0503020204020204" charset="-122"/>
                <a:ea typeface="微软雅黑" panose="020B0503020204020204" charset="-122"/>
              </a:rPr>
              <a:t>lpthread</a:t>
            </a:r>
            <a:r>
              <a:rPr lang="zh-CN" altLang="en-US" sz="1500" b="1" dirty="0">
                <a:solidFill>
                  <a:prstClr val="black"/>
                </a:solidFill>
                <a:latin typeface="微软雅黑" panose="020B0503020204020204" charset="-122"/>
                <a:ea typeface="微软雅黑" panose="020B0503020204020204" charset="-122"/>
              </a:rPr>
              <a:t>参数</a:t>
            </a:r>
            <a:r>
              <a:rPr lang="en-US" altLang="zh-CN" sz="1500" b="1" dirty="0">
                <a:solidFill>
                  <a:prstClr val="black"/>
                </a:solidFill>
                <a:latin typeface="微软雅黑" panose="020B0503020204020204" charset="-122"/>
                <a:ea typeface="微软雅黑" panose="020B0503020204020204" charset="-122"/>
              </a:rPr>
              <a:t>:</a:t>
            </a:r>
            <a:br>
              <a:rPr lang="en-US" altLang="zh-CN" sz="1800" b="1" dirty="0">
                <a:solidFill>
                  <a:prstClr val="black"/>
                </a:solidFill>
                <a:latin typeface="微软雅黑" panose="020B0503020204020204" charset="-122"/>
                <a:ea typeface="微软雅黑" panose="020B0503020204020204" charset="-122"/>
              </a:rPr>
            </a:br>
            <a:r>
              <a:rPr lang="en-US" altLang="zh-CN" sz="1800" b="1" dirty="0">
                <a:solidFill>
                  <a:prstClr val="black"/>
                </a:solidFill>
                <a:highlight>
                  <a:srgbClr val="FFFF00"/>
                </a:highlight>
                <a:latin typeface="微软雅黑" panose="020B0503020204020204" charset="-122"/>
                <a:ea typeface="微软雅黑" panose="020B0503020204020204" charset="-122"/>
              </a:rPr>
              <a:t>#</a:t>
            </a:r>
            <a:r>
              <a:rPr lang="en-US" altLang="zh-CN" sz="1800" b="1" dirty="0" err="1">
                <a:solidFill>
                  <a:prstClr val="black"/>
                </a:solidFill>
                <a:highlight>
                  <a:srgbClr val="FFFF00"/>
                </a:highlight>
                <a:latin typeface="微软雅黑" panose="020B0503020204020204" charset="-122"/>
                <a:ea typeface="微软雅黑" panose="020B0503020204020204" charset="-122"/>
              </a:rPr>
              <a:t>gcc</a:t>
            </a:r>
            <a:r>
              <a:rPr lang="en-US" altLang="zh-CN" sz="1800" b="1" dirty="0">
                <a:solidFill>
                  <a:prstClr val="black"/>
                </a:solidFill>
                <a:highlight>
                  <a:srgbClr val="FFFF00"/>
                </a:highlight>
                <a:latin typeface="微软雅黑" panose="020B0503020204020204" charset="-122"/>
                <a:ea typeface="微软雅黑" panose="020B0503020204020204" charset="-122"/>
              </a:rPr>
              <a:t> </a:t>
            </a:r>
            <a:r>
              <a:rPr lang="zh-CN" altLang="en-US" sz="1800" b="1" dirty="0">
                <a:solidFill>
                  <a:prstClr val="black"/>
                </a:solidFill>
                <a:highlight>
                  <a:srgbClr val="FFFF00"/>
                </a:highlight>
                <a:latin typeface="微软雅黑" panose="020B0503020204020204" charset="-122"/>
                <a:ea typeface="微软雅黑" panose="020B0503020204020204" charset="-122"/>
              </a:rPr>
              <a:t> </a:t>
            </a:r>
            <a:r>
              <a:rPr lang="en-US" altLang="zh-CN" sz="1800" b="1" dirty="0">
                <a:solidFill>
                  <a:prstClr val="black"/>
                </a:solidFill>
                <a:highlight>
                  <a:srgbClr val="FFFF00"/>
                </a:highlight>
                <a:latin typeface="微软雅黑" panose="020B0503020204020204" charset="-122"/>
                <a:ea typeface="微软雅黑" panose="020B0503020204020204" charset="-122"/>
              </a:rPr>
              <a:t>-o </a:t>
            </a:r>
            <a:r>
              <a:rPr lang="zh-CN" altLang="en-US" sz="1800" b="1" dirty="0">
                <a:solidFill>
                  <a:prstClr val="black"/>
                </a:solidFill>
                <a:highlight>
                  <a:srgbClr val="FFFF00"/>
                </a:highlight>
                <a:latin typeface="微软雅黑" panose="020B0503020204020204" charset="-122"/>
                <a:ea typeface="微软雅黑" panose="020B0503020204020204" charset="-122"/>
              </a:rPr>
              <a:t> </a:t>
            </a:r>
            <a:r>
              <a:rPr lang="en-US" altLang="zh-CN" sz="1800" b="1" dirty="0">
                <a:solidFill>
                  <a:prstClr val="black"/>
                </a:solidFill>
                <a:highlight>
                  <a:srgbClr val="FFFF00"/>
                </a:highlight>
                <a:latin typeface="微软雅黑" panose="020B0503020204020204" charset="-122"/>
                <a:ea typeface="微软雅黑" panose="020B0503020204020204" charset="-122"/>
              </a:rPr>
              <a:t>XXX </a:t>
            </a:r>
            <a:r>
              <a:rPr lang="zh-CN" altLang="en-US" sz="1800" b="1" dirty="0">
                <a:solidFill>
                  <a:prstClr val="black"/>
                </a:solidFill>
                <a:highlight>
                  <a:srgbClr val="FFFF00"/>
                </a:highlight>
                <a:latin typeface="微软雅黑" panose="020B0503020204020204" charset="-122"/>
                <a:ea typeface="微软雅黑" panose="020B0503020204020204" charset="-122"/>
              </a:rPr>
              <a:t> </a:t>
            </a:r>
            <a:r>
              <a:rPr lang="en-US" altLang="zh-CN" sz="1800" b="1" dirty="0">
                <a:solidFill>
                  <a:srgbClr val="FF0000"/>
                </a:solidFill>
                <a:highlight>
                  <a:srgbClr val="FFFF00"/>
                </a:highlight>
                <a:latin typeface="微软雅黑" panose="020B0503020204020204" charset="-122"/>
                <a:ea typeface="微软雅黑" panose="020B0503020204020204" charset="-122"/>
              </a:rPr>
              <a:t>-</a:t>
            </a:r>
            <a:r>
              <a:rPr lang="en-US" altLang="zh-CN" sz="1800" b="1" dirty="0" err="1">
                <a:solidFill>
                  <a:srgbClr val="FF0000"/>
                </a:solidFill>
                <a:highlight>
                  <a:srgbClr val="FFFF00"/>
                </a:highlight>
                <a:latin typeface="微软雅黑" panose="020B0503020204020204" charset="-122"/>
                <a:ea typeface="微软雅黑" panose="020B0503020204020204" charset="-122"/>
              </a:rPr>
              <a:t>lpthread</a:t>
            </a:r>
            <a:r>
              <a:rPr lang="en-US" altLang="zh-CN" sz="1800" b="1" dirty="0">
                <a:solidFill>
                  <a:srgbClr val="FF0000"/>
                </a:solidFill>
                <a:highlight>
                  <a:srgbClr val="FFFF00"/>
                </a:highlight>
                <a:latin typeface="微软雅黑" panose="020B0503020204020204" charset="-122"/>
                <a:ea typeface="微软雅黑" panose="020B0503020204020204" charset="-122"/>
              </a:rPr>
              <a:t> </a:t>
            </a:r>
            <a:r>
              <a:rPr lang="zh-CN" altLang="en-US" sz="1800" b="1" dirty="0">
                <a:solidFill>
                  <a:srgbClr val="FF0000"/>
                </a:solidFill>
                <a:highlight>
                  <a:srgbClr val="FFFF00"/>
                </a:highlight>
                <a:latin typeface="微软雅黑" panose="020B0503020204020204" charset="-122"/>
                <a:ea typeface="微软雅黑" panose="020B0503020204020204" charset="-122"/>
              </a:rPr>
              <a:t> </a:t>
            </a:r>
            <a:r>
              <a:rPr lang="en-US" altLang="zh-CN" sz="1800" b="1" dirty="0" err="1">
                <a:solidFill>
                  <a:prstClr val="black"/>
                </a:solidFill>
                <a:highlight>
                  <a:srgbClr val="FFFF00"/>
                </a:highlight>
                <a:latin typeface="微软雅黑" panose="020B0503020204020204" charset="-122"/>
                <a:ea typeface="微软雅黑" panose="020B0503020204020204" charset="-122"/>
              </a:rPr>
              <a:t>XXX.c</a:t>
            </a:r>
            <a:r>
              <a:rPr lang="en-US" altLang="zh-CN" sz="1800" b="1" dirty="0">
                <a:solidFill>
                  <a:prstClr val="black"/>
                </a:solidFill>
                <a:highlight>
                  <a:srgbClr val="FFFF00"/>
                </a:highlight>
                <a:latin typeface="微软雅黑" panose="020B0503020204020204" charset="-122"/>
                <a:ea typeface="微软雅黑" panose="020B0503020204020204" charset="-122"/>
              </a:rPr>
              <a:t> </a:t>
            </a:r>
            <a:endParaRPr lang="en-US" altLang="zh-CN" sz="1800" b="1" dirty="0">
              <a:solidFill>
                <a:prstClr val="black"/>
              </a:solidFill>
              <a:highlight>
                <a:srgbClr val="FFFF00"/>
              </a:highlight>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5892">
                                            <p:txEl>
                                              <p:pRg st="1" end="1"/>
                                            </p:txEl>
                                          </p:spTgt>
                                        </p:tgtEl>
                                        <p:attrNameLst>
                                          <p:attrName>style.visibility</p:attrName>
                                        </p:attrNameLst>
                                      </p:cBhvr>
                                      <p:to>
                                        <p:strVal val="visible"/>
                                      </p:to>
                                    </p:set>
                                    <p:animEffect transition="in" filter="wipe(left)">
                                      <p:cBhvr>
                                        <p:cTn id="7" dur="500"/>
                                        <p:tgtEl>
                                          <p:spTgt spid="16589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5892">
                                            <p:txEl>
                                              <p:pRg st="2" end="2"/>
                                            </p:txEl>
                                          </p:spTgt>
                                        </p:tgtEl>
                                        <p:attrNameLst>
                                          <p:attrName>style.visibility</p:attrName>
                                        </p:attrNameLst>
                                      </p:cBhvr>
                                      <p:to>
                                        <p:strVal val="visible"/>
                                      </p:to>
                                    </p:set>
                                    <p:animEffect transition="in" filter="wipe(left)">
                                      <p:cBhvr>
                                        <p:cTn id="12" dur="500"/>
                                        <p:tgtEl>
                                          <p:spTgt spid="16589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5892">
                                            <p:txEl>
                                              <p:pRg st="3" end="3"/>
                                            </p:txEl>
                                          </p:spTgt>
                                        </p:tgtEl>
                                        <p:attrNameLst>
                                          <p:attrName>style.visibility</p:attrName>
                                        </p:attrNameLst>
                                      </p:cBhvr>
                                      <p:to>
                                        <p:strVal val="visible"/>
                                      </p:to>
                                    </p:set>
                                    <p:animEffect transition="in" filter="wipe(left)">
                                      <p:cBhvr>
                                        <p:cTn id="17" dur="500"/>
                                        <p:tgtEl>
                                          <p:spTgt spid="16589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 calcmode="lin" valueType="num">
                                      <p:cBhvr additive="base">
                                        <p:cTn id="2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0" name="Rectangle 3"/>
          <p:cNvSpPr>
            <a:spLocks noGrp="1" noChangeArrowheads="1"/>
          </p:cNvSpPr>
          <p:nvPr>
            <p:ph idx="1"/>
          </p:nvPr>
        </p:nvSpPr>
        <p:spPr>
          <a:xfrm>
            <a:off x="716660" y="1807307"/>
            <a:ext cx="8014473" cy="910598"/>
          </a:xfrm>
        </p:spPr>
        <p:txBody>
          <a:bodyPr/>
          <a:lstStyle/>
          <a:p>
            <a:pPr>
              <a:lnSpc>
                <a:spcPct val="120000"/>
              </a:lnSpc>
              <a:spcBef>
                <a:spcPts val="0"/>
              </a:spcBef>
            </a:pPr>
            <a:r>
              <a:rPr lang="zh-CN" altLang="en-US" dirty="0">
                <a:latin typeface="微软雅黑" panose="020B0503020204020204" charset="-122"/>
                <a:ea typeface="微软雅黑" panose="020B0503020204020204" charset="-122"/>
              </a:rPr>
              <a:t>函数原型</a:t>
            </a:r>
            <a:endParaRPr lang="en-US" altLang="zh-CN" dirty="0">
              <a:latin typeface="微软雅黑" panose="020B0503020204020204" charset="-122"/>
              <a:ea typeface="微软雅黑" panose="020B0503020204020204" charset="-122"/>
            </a:endParaRPr>
          </a:p>
          <a:p>
            <a:pPr lvl="1">
              <a:lnSpc>
                <a:spcPct val="120000"/>
              </a:lnSpc>
              <a:spcBef>
                <a:spcPts val="0"/>
              </a:spcBef>
            </a:pPr>
            <a:r>
              <a:rPr lang="zh-CN" altLang="en-US" sz="1800" b="0" dirty="0">
                <a:latin typeface="微软雅黑" panose="020B0503020204020204" charset="-122"/>
                <a:ea typeface="微软雅黑" panose="020B0503020204020204" charset="-122"/>
              </a:rPr>
              <a:t>头文件：</a:t>
            </a:r>
            <a:r>
              <a:rPr lang="en-US" altLang="zh-CN" sz="1800" b="0" dirty="0" err="1">
                <a:latin typeface="微软雅黑" panose="020B0503020204020204" charset="-122"/>
                <a:ea typeface="微软雅黑" panose="020B0503020204020204" charset="-122"/>
              </a:rPr>
              <a:t>pthread.h</a:t>
            </a:r>
            <a:endParaRPr lang="en-US" altLang="zh-CN" sz="1800" b="0" dirty="0">
              <a:latin typeface="微软雅黑" panose="020B0503020204020204" charset="-122"/>
              <a:ea typeface="微软雅黑" panose="020B0503020204020204" charset="-122"/>
            </a:endParaRPr>
          </a:p>
          <a:p>
            <a:pPr lvl="1">
              <a:lnSpc>
                <a:spcPct val="120000"/>
              </a:lnSpc>
              <a:spcBef>
                <a:spcPts val="0"/>
              </a:spcBef>
            </a:pPr>
            <a:r>
              <a:rPr lang="en-US" altLang="zh-CN" sz="1800" b="0" dirty="0" err="1">
                <a:latin typeface="微软雅黑" panose="020B0503020204020204" charset="-122"/>
                <a:ea typeface="微软雅黑" panose="020B0503020204020204" charset="-122"/>
              </a:rPr>
              <a:t>int</a:t>
            </a:r>
            <a:r>
              <a:rPr lang="en-US" altLang="zh-CN" sz="1800" b="0" dirty="0">
                <a:latin typeface="微软雅黑" panose="020B0503020204020204" charset="-122"/>
                <a:ea typeface="微软雅黑" panose="020B0503020204020204" charset="-122"/>
              </a:rPr>
              <a:t> </a:t>
            </a:r>
            <a:r>
              <a:rPr lang="en-US" altLang="zh-CN" sz="1800" b="0" dirty="0" err="1">
                <a:solidFill>
                  <a:srgbClr val="0000CC"/>
                </a:solidFill>
                <a:latin typeface="微软雅黑" panose="020B0503020204020204" charset="-122"/>
                <a:ea typeface="微软雅黑" panose="020B0503020204020204" charset="-122"/>
              </a:rPr>
              <a:t>pthread_join</a:t>
            </a:r>
            <a:r>
              <a:rPr lang="en-US" altLang="zh-CN" sz="1800" b="0" dirty="0">
                <a:latin typeface="微软雅黑" panose="020B0503020204020204" charset="-122"/>
                <a:ea typeface="微软雅黑" panose="020B0503020204020204" charset="-122"/>
              </a:rPr>
              <a:t>(</a:t>
            </a:r>
            <a:r>
              <a:rPr lang="en-US" altLang="zh-CN" sz="1800" b="0" dirty="0" err="1">
                <a:latin typeface="微软雅黑" panose="020B0503020204020204" charset="-122"/>
                <a:ea typeface="微软雅黑" panose="020B0503020204020204" charset="-122"/>
              </a:rPr>
              <a:t>pthread_t</a:t>
            </a:r>
            <a:r>
              <a:rPr lang="en-US" altLang="zh-CN" sz="1800" b="0" dirty="0">
                <a:latin typeface="微软雅黑" panose="020B0503020204020204" charset="-122"/>
                <a:ea typeface="微软雅黑" panose="020B0503020204020204" charset="-122"/>
              </a:rPr>
              <a:t> </a:t>
            </a:r>
            <a:r>
              <a:rPr lang="en-US" altLang="zh-CN" sz="1800" b="0" dirty="0">
                <a:solidFill>
                  <a:srgbClr val="0000CC"/>
                </a:solidFill>
                <a:latin typeface="微软雅黑" panose="020B0503020204020204" charset="-122"/>
                <a:ea typeface="微软雅黑" panose="020B0503020204020204" charset="-122"/>
              </a:rPr>
              <a:t>thread</a:t>
            </a:r>
            <a:r>
              <a:rPr lang="en-US" altLang="zh-CN" sz="1800" b="0" dirty="0">
                <a:latin typeface="微软雅黑" panose="020B0503020204020204" charset="-122"/>
                <a:ea typeface="微软雅黑" panose="020B0503020204020204" charset="-122"/>
              </a:rPr>
              <a:t>, void **</a:t>
            </a:r>
            <a:r>
              <a:rPr lang="en-US" altLang="zh-CN" sz="1800" b="0" dirty="0" err="1">
                <a:solidFill>
                  <a:srgbClr val="0000CC"/>
                </a:solidFill>
                <a:latin typeface="微软雅黑" panose="020B0503020204020204" charset="-122"/>
                <a:ea typeface="微软雅黑" panose="020B0503020204020204" charset="-122"/>
              </a:rPr>
              <a:t>trval_pr</a:t>
            </a:r>
            <a:r>
              <a:rPr lang="en-US" altLang="zh-CN" sz="1800" b="0" dirty="0">
                <a:latin typeface="微软雅黑" panose="020B0503020204020204" charset="-122"/>
                <a:ea typeface="微软雅黑" panose="020B0503020204020204" charset="-122"/>
              </a:rPr>
              <a:t>);</a:t>
            </a:r>
            <a:endParaRPr lang="en-US" altLang="zh-CN" sz="1800" b="0" dirty="0">
              <a:latin typeface="微软雅黑" panose="020B0503020204020204" charset="-122"/>
              <a:ea typeface="微软雅黑" panose="020B0503020204020204" charset="-122"/>
            </a:endParaRPr>
          </a:p>
          <a:p>
            <a:pPr>
              <a:lnSpc>
                <a:spcPct val="120000"/>
              </a:lnSpc>
              <a:spcBef>
                <a:spcPts val="0"/>
              </a:spcBef>
            </a:pPr>
            <a:r>
              <a:rPr lang="zh-CN" altLang="en-US" dirty="0">
                <a:latin typeface="微软雅黑" panose="020B0503020204020204" charset="-122"/>
                <a:ea typeface="微软雅黑" panose="020B0503020204020204" charset="-122"/>
              </a:rPr>
              <a:t>调用该函数的父线程将一直被阻塞，直到指定的子线程终止</a:t>
            </a:r>
            <a:endParaRPr lang="en-US" altLang="zh-CN" dirty="0">
              <a:latin typeface="微软雅黑" panose="020B0503020204020204" charset="-122"/>
              <a:ea typeface="微软雅黑" panose="020B0503020204020204" charset="-122"/>
            </a:endParaRPr>
          </a:p>
          <a:p>
            <a:pPr>
              <a:lnSpc>
                <a:spcPct val="120000"/>
              </a:lnSpc>
              <a:spcBef>
                <a:spcPts val="0"/>
              </a:spcBef>
            </a:pPr>
            <a:r>
              <a:rPr lang="zh-CN" altLang="en-US" dirty="0">
                <a:latin typeface="微软雅黑" panose="020B0503020204020204" charset="-122"/>
                <a:ea typeface="微软雅黑" panose="020B0503020204020204" charset="-122"/>
              </a:rPr>
              <a:t>返回值</a:t>
            </a:r>
            <a:endParaRPr lang="en-US" altLang="zh-CN" dirty="0">
              <a:latin typeface="微软雅黑" panose="020B0503020204020204" charset="-122"/>
              <a:ea typeface="微软雅黑" panose="020B0503020204020204" charset="-122"/>
            </a:endParaRPr>
          </a:p>
          <a:p>
            <a:pPr lvl="1">
              <a:lnSpc>
                <a:spcPct val="120000"/>
              </a:lnSpc>
              <a:spcBef>
                <a:spcPts val="0"/>
              </a:spcBef>
            </a:pPr>
            <a:r>
              <a:rPr lang="zh-CN" altLang="en-US" sz="1800" b="0" dirty="0">
                <a:latin typeface="微软雅黑" panose="020B0503020204020204" charset="-122"/>
                <a:ea typeface="微软雅黑" panose="020B0503020204020204" charset="-122"/>
              </a:rPr>
              <a:t>成功返回</a:t>
            </a:r>
            <a:r>
              <a:rPr lang="en-US" altLang="zh-CN" sz="1800" b="0" dirty="0">
                <a:latin typeface="微软雅黑" panose="020B0503020204020204" charset="-122"/>
                <a:ea typeface="微软雅黑" panose="020B0503020204020204" charset="-122"/>
              </a:rPr>
              <a:t>0</a:t>
            </a:r>
            <a:r>
              <a:rPr lang="zh-CN" altLang="en-US" sz="1800" b="0" dirty="0">
                <a:latin typeface="微软雅黑" panose="020B0503020204020204" charset="-122"/>
                <a:ea typeface="微软雅黑" panose="020B0503020204020204" charset="-122"/>
              </a:rPr>
              <a:t>，否则返回错误编号</a:t>
            </a:r>
            <a:endParaRPr lang="zh-CN" altLang="en-US" sz="1800" b="0" dirty="0">
              <a:latin typeface="微软雅黑" panose="020B0503020204020204" charset="-122"/>
              <a:ea typeface="微软雅黑" panose="020B0503020204020204" charset="-122"/>
            </a:endParaRPr>
          </a:p>
          <a:p>
            <a:pPr>
              <a:lnSpc>
                <a:spcPct val="120000"/>
              </a:lnSpc>
              <a:spcBef>
                <a:spcPts val="0"/>
              </a:spcBef>
            </a:pPr>
            <a:endParaRPr lang="en-US" altLang="zh-CN" dirty="0">
              <a:latin typeface="微软雅黑" panose="020B0503020204020204" charset="-122"/>
              <a:ea typeface="微软雅黑" panose="020B0503020204020204" charset="-122"/>
            </a:endParaRPr>
          </a:p>
        </p:txBody>
      </p:sp>
      <p:sp>
        <p:nvSpPr>
          <p:cNvPr id="693250" name="Rectangle 2"/>
          <p:cNvSpPr>
            <a:spLocks noGrp="1" noChangeArrowheads="1"/>
          </p:cNvSpPr>
          <p:nvPr>
            <p:ph type="title"/>
          </p:nvPr>
        </p:nvSpPr>
        <p:spPr/>
        <p:txBody>
          <a:bodyPr/>
          <a:lstStyle/>
          <a:p>
            <a:pPr>
              <a:defRPr/>
            </a:pPr>
            <a:r>
              <a:rPr lang="zh-CN" altLang="en-US"/>
              <a:t>父线程等待子线程终止</a:t>
            </a:r>
            <a:endParaRPr lang="zh-CN" altLang="en-US"/>
          </a:p>
        </p:txBody>
      </p:sp>
      <p:sp>
        <p:nvSpPr>
          <p:cNvPr id="5" name="Rectangle 3"/>
          <p:cNvSpPr txBox="1">
            <a:spLocks noChangeArrowheads="1"/>
          </p:cNvSpPr>
          <p:nvPr/>
        </p:nvSpPr>
        <p:spPr>
          <a:xfrm>
            <a:off x="875620" y="3738333"/>
            <a:ext cx="7794852" cy="1893554"/>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pPr>
              <a:lnSpc>
                <a:spcPct val="120000"/>
              </a:lnSpc>
              <a:spcBef>
                <a:spcPts val="0"/>
              </a:spcBef>
            </a:pPr>
            <a:r>
              <a:rPr lang="zh-CN" altLang="en-US" sz="1800" b="0" dirty="0">
                <a:latin typeface="微软雅黑" panose="020B0503020204020204" charset="-122"/>
                <a:ea typeface="微软雅黑" panose="020B0503020204020204" charset="-122"/>
              </a:rPr>
              <a:t>参数</a:t>
            </a:r>
            <a:endParaRPr lang="zh-CN" altLang="en-US" sz="1800" b="0" dirty="0">
              <a:latin typeface="微软雅黑" panose="020B0503020204020204" charset="-122"/>
              <a:ea typeface="微软雅黑" panose="020B0503020204020204" charset="-122"/>
            </a:endParaRPr>
          </a:p>
          <a:p>
            <a:pPr lvl="1">
              <a:lnSpc>
                <a:spcPct val="120000"/>
              </a:lnSpc>
              <a:spcBef>
                <a:spcPts val="0"/>
              </a:spcBef>
            </a:pPr>
            <a:r>
              <a:rPr lang="en-US" altLang="zh-CN" sz="1800" b="0" dirty="0">
                <a:latin typeface="微软雅黑" panose="020B0503020204020204" charset="-122"/>
                <a:ea typeface="微软雅黑" panose="020B0503020204020204" charset="-122"/>
              </a:rPr>
              <a:t>thread</a:t>
            </a:r>
            <a:r>
              <a:rPr lang="zh-CN" altLang="en-US" sz="1800" b="0" dirty="0">
                <a:latin typeface="微软雅黑" panose="020B0503020204020204" charset="-122"/>
                <a:ea typeface="微软雅黑" panose="020B0503020204020204" charset="-122"/>
              </a:rPr>
              <a:t>：需要等待的子线程</a:t>
            </a:r>
            <a:r>
              <a:rPr lang="en-US" altLang="zh-CN" sz="1800" b="0" dirty="0">
                <a:latin typeface="微软雅黑" panose="020B0503020204020204" charset="-122"/>
                <a:ea typeface="微软雅黑" panose="020B0503020204020204" charset="-122"/>
              </a:rPr>
              <a:t>ID</a:t>
            </a:r>
            <a:endParaRPr lang="en-US" altLang="zh-CN" sz="1800" b="0" dirty="0">
              <a:latin typeface="微软雅黑" panose="020B0503020204020204" charset="-122"/>
              <a:ea typeface="微软雅黑" panose="020B0503020204020204" charset="-122"/>
            </a:endParaRPr>
          </a:p>
          <a:p>
            <a:pPr lvl="1">
              <a:lnSpc>
                <a:spcPct val="120000"/>
              </a:lnSpc>
              <a:spcBef>
                <a:spcPts val="0"/>
              </a:spcBef>
            </a:pPr>
            <a:r>
              <a:rPr lang="en-US" altLang="zh-CN" sz="1800" b="0" dirty="0" err="1">
                <a:latin typeface="微软雅黑" panose="020B0503020204020204" charset="-122"/>
                <a:ea typeface="微软雅黑" panose="020B0503020204020204" charset="-122"/>
              </a:rPr>
              <a:t>rval_ptr</a:t>
            </a:r>
            <a:r>
              <a:rPr lang="zh-CN" altLang="en-US" sz="1800" b="0" dirty="0">
                <a:latin typeface="微软雅黑" panose="020B0503020204020204" charset="-122"/>
                <a:ea typeface="微软雅黑" panose="020B0503020204020204" charset="-122"/>
              </a:rPr>
              <a:t>：（</a:t>
            </a:r>
            <a:r>
              <a:rPr lang="zh-CN" altLang="en-US" sz="1800" b="0" dirty="0">
                <a:solidFill>
                  <a:srgbClr val="FF0000"/>
                </a:solidFill>
                <a:latin typeface="微软雅黑" panose="020B0503020204020204" charset="-122"/>
                <a:ea typeface="微软雅黑" panose="020B0503020204020204" charset="-122"/>
              </a:rPr>
              <a:t>若不关心线程返回值，可直接将该参数设置为空指针</a:t>
            </a:r>
            <a:r>
              <a:rPr lang="en-US" altLang="zh-CN" sz="1800" b="0" dirty="0">
                <a:solidFill>
                  <a:srgbClr val="FF0000"/>
                </a:solidFill>
                <a:latin typeface="微软雅黑" panose="020B0503020204020204" charset="-122"/>
                <a:ea typeface="微软雅黑" panose="020B0503020204020204" charset="-122"/>
              </a:rPr>
              <a:t>NULL</a:t>
            </a:r>
            <a:r>
              <a:rPr lang="zh-CN" altLang="en-US" sz="1800" b="0" dirty="0">
                <a:latin typeface="微软雅黑" panose="020B0503020204020204" charset="-122"/>
                <a:ea typeface="微软雅黑" panose="020B0503020204020204" charset="-122"/>
              </a:rPr>
              <a:t>）</a:t>
            </a:r>
            <a:endParaRPr lang="zh-CN" altLang="en-US" sz="1800" b="0" dirty="0">
              <a:latin typeface="微软雅黑" panose="020B0503020204020204" charset="-122"/>
              <a:ea typeface="微软雅黑" panose="020B0503020204020204" charset="-122"/>
            </a:endParaRPr>
          </a:p>
          <a:p>
            <a:pPr lvl="2">
              <a:lnSpc>
                <a:spcPct val="120000"/>
              </a:lnSpc>
            </a:pPr>
            <a:r>
              <a:rPr lang="zh-CN" altLang="en-US" sz="1350" b="0" dirty="0">
                <a:latin typeface="微软雅黑" panose="020B0503020204020204" charset="-122"/>
                <a:ea typeface="微软雅黑" panose="020B0503020204020204" charset="-122"/>
              </a:rPr>
              <a:t>若线程从启动例程返回，</a:t>
            </a:r>
            <a:r>
              <a:rPr lang="en-US" altLang="zh-CN" sz="1350" b="0" dirty="0" err="1">
                <a:latin typeface="微软雅黑" panose="020B0503020204020204" charset="-122"/>
                <a:ea typeface="微软雅黑" panose="020B0503020204020204" charset="-122"/>
              </a:rPr>
              <a:t>rval_ptr</a:t>
            </a:r>
            <a:r>
              <a:rPr lang="zh-CN" altLang="en-US" sz="1350" b="0" dirty="0">
                <a:latin typeface="微软雅黑" panose="020B0503020204020204" charset="-122"/>
                <a:ea typeface="微软雅黑" panose="020B0503020204020204" charset="-122"/>
              </a:rPr>
              <a:t>将包含返回码</a:t>
            </a:r>
            <a:endParaRPr lang="zh-CN" altLang="en-US" sz="1350" b="0" dirty="0">
              <a:latin typeface="微软雅黑" panose="020B0503020204020204" charset="-122"/>
              <a:ea typeface="微软雅黑" panose="020B0503020204020204" charset="-122"/>
            </a:endParaRPr>
          </a:p>
          <a:p>
            <a:pPr lvl="2">
              <a:lnSpc>
                <a:spcPct val="120000"/>
              </a:lnSpc>
            </a:pPr>
            <a:r>
              <a:rPr lang="zh-CN" altLang="en-US" sz="1350" b="0" dirty="0">
                <a:latin typeface="微软雅黑" panose="020B0503020204020204" charset="-122"/>
                <a:ea typeface="微软雅黑" panose="020B0503020204020204" charset="-122"/>
              </a:rPr>
              <a:t>若线程被取消，</a:t>
            </a:r>
            <a:r>
              <a:rPr lang="en-US" altLang="zh-CN" sz="1350" b="0" dirty="0" err="1">
                <a:latin typeface="微软雅黑" panose="020B0503020204020204" charset="-122"/>
                <a:ea typeface="微软雅黑" panose="020B0503020204020204" charset="-122"/>
              </a:rPr>
              <a:t>rval_ptr</a:t>
            </a:r>
            <a:r>
              <a:rPr lang="zh-CN" altLang="en-US" sz="1350" b="0" dirty="0">
                <a:latin typeface="微软雅黑" panose="020B0503020204020204" charset="-122"/>
                <a:ea typeface="微软雅黑" panose="020B0503020204020204" charset="-122"/>
              </a:rPr>
              <a:t>指向的内存单元值置为</a:t>
            </a:r>
            <a:r>
              <a:rPr lang="en-US" altLang="zh-CN" sz="1350" b="0" dirty="0">
                <a:latin typeface="微软雅黑" panose="020B0503020204020204" charset="-122"/>
                <a:ea typeface="微软雅黑" panose="020B0503020204020204" charset="-122"/>
              </a:rPr>
              <a:t>PTHREAD_CANCELED</a:t>
            </a:r>
            <a:endParaRPr lang="en-US" altLang="zh-CN" sz="1350" b="0" dirty="0">
              <a:latin typeface="微软雅黑" panose="020B0503020204020204" charset="-122"/>
              <a:ea typeface="微软雅黑" panose="020B0503020204020204" charset="-122"/>
            </a:endParaRPr>
          </a:p>
          <a:p>
            <a:pPr lvl="2">
              <a:lnSpc>
                <a:spcPct val="120000"/>
              </a:lnSpc>
            </a:pPr>
            <a:r>
              <a:rPr lang="zh-CN" altLang="en-US" sz="1350" b="0" dirty="0">
                <a:latin typeface="微软雅黑" panose="020B0503020204020204" charset="-122"/>
                <a:ea typeface="微软雅黑" panose="020B0503020204020204" charset="-122"/>
              </a:rPr>
              <a:t>若线程通过调用</a:t>
            </a:r>
            <a:r>
              <a:rPr lang="en-US" altLang="zh-CN" sz="1350" b="0" dirty="0" err="1">
                <a:latin typeface="微软雅黑" panose="020B0503020204020204" charset="-122"/>
                <a:ea typeface="微软雅黑" panose="020B0503020204020204" charset="-122"/>
              </a:rPr>
              <a:t>pthread_exit</a:t>
            </a:r>
            <a:r>
              <a:rPr lang="zh-CN" altLang="en-US" sz="1350" b="0" dirty="0">
                <a:latin typeface="微软雅黑" panose="020B0503020204020204" charset="-122"/>
                <a:ea typeface="微软雅黑" panose="020B0503020204020204" charset="-122"/>
              </a:rPr>
              <a:t>函数终止，</a:t>
            </a:r>
            <a:r>
              <a:rPr lang="en-US" altLang="zh-CN" sz="1350" b="0" dirty="0" err="1">
                <a:latin typeface="微软雅黑" panose="020B0503020204020204" charset="-122"/>
                <a:ea typeface="微软雅黑" panose="020B0503020204020204" charset="-122"/>
              </a:rPr>
              <a:t>rval_ptr</a:t>
            </a:r>
            <a:r>
              <a:rPr lang="zh-CN" altLang="en-US" sz="1350" b="0" dirty="0">
                <a:latin typeface="微软雅黑" panose="020B0503020204020204" charset="-122"/>
                <a:ea typeface="微软雅黑" panose="020B0503020204020204" charset="-122"/>
              </a:rPr>
              <a:t>就是调用</a:t>
            </a:r>
            <a:r>
              <a:rPr lang="en-US" altLang="zh-CN" sz="1350" b="0" dirty="0" err="1">
                <a:latin typeface="微软雅黑" panose="020B0503020204020204" charset="-122"/>
                <a:ea typeface="微软雅黑" panose="020B0503020204020204" charset="-122"/>
              </a:rPr>
              <a:t>pthread_exit</a:t>
            </a:r>
            <a:r>
              <a:rPr lang="zh-CN" altLang="en-US" sz="1350" b="0" dirty="0">
                <a:latin typeface="微软雅黑" panose="020B0503020204020204" charset="-122"/>
                <a:ea typeface="微软雅黑" panose="020B0503020204020204" charset="-122"/>
              </a:rPr>
              <a:t>时传入的参数</a:t>
            </a:r>
            <a:endParaRPr lang="en-US" altLang="zh-CN" sz="1350" b="0" dirty="0">
              <a:latin typeface="微软雅黑" panose="020B0503020204020204" charset="-122"/>
              <a:ea typeface="微软雅黑" panose="020B0503020204020204" charset="-122"/>
            </a:endParaRPr>
          </a:p>
          <a:p>
            <a:pPr lvl="1">
              <a:lnSpc>
                <a:spcPct val="120000"/>
              </a:lnSpc>
              <a:spcBef>
                <a:spcPts val="0"/>
              </a:spcBef>
            </a:pPr>
            <a:endParaRPr lang="en-US" altLang="zh-CN" sz="1800" b="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3"/>
          <p:cNvSpPr>
            <a:spLocks noGrp="1" noChangeArrowheads="1"/>
          </p:cNvSpPr>
          <p:nvPr>
            <p:ph idx="1"/>
          </p:nvPr>
        </p:nvSpPr>
        <p:spPr>
          <a:xfrm>
            <a:off x="1591406" y="1672937"/>
            <a:ext cx="6405512" cy="4131871"/>
          </a:xfrm>
        </p:spPr>
        <p:txBody>
          <a:bodyPr/>
          <a:lstStyle/>
          <a:p>
            <a:pPr>
              <a:lnSpc>
                <a:spcPct val="130000"/>
              </a:lnSpc>
              <a:spcBef>
                <a:spcPts val="0"/>
              </a:spcBef>
              <a:buNone/>
              <a:defRPr/>
            </a:pPr>
            <a:r>
              <a:rPr lang="en-US" altLang="zh-CN" sz="1500" dirty="0">
                <a:latin typeface="微软雅黑" panose="020B0503020204020204" charset="-122"/>
                <a:ea typeface="微软雅黑" panose="020B0503020204020204" charset="-122"/>
              </a:rPr>
              <a:t>void *</a:t>
            </a:r>
            <a:r>
              <a:rPr lang="en-US" altLang="zh-CN" sz="1500" dirty="0" err="1">
                <a:latin typeface="微软雅黑" panose="020B0503020204020204" charset="-122"/>
                <a:ea typeface="微软雅黑" panose="020B0503020204020204" charset="-122"/>
              </a:rPr>
              <a:t>childthread</a:t>
            </a:r>
            <a:r>
              <a:rPr lang="en-US" altLang="zh-CN" sz="1500" dirty="0">
                <a:latin typeface="微软雅黑" panose="020B0503020204020204" charset="-122"/>
                <a:ea typeface="微软雅黑" panose="020B0503020204020204" charset="-122"/>
              </a:rPr>
              <a:t>(void){</a:t>
            </a:r>
            <a:endParaRPr lang="en-US" altLang="zh-CN" sz="1500" dirty="0">
              <a:latin typeface="微软雅黑" panose="020B0503020204020204" charset="-122"/>
              <a:ea typeface="微软雅黑" panose="020B0503020204020204" charset="-122"/>
            </a:endParaRPr>
          </a:p>
          <a:p>
            <a:pPr lvl="1">
              <a:lnSpc>
                <a:spcPct val="130000"/>
              </a:lnSpc>
              <a:spcBef>
                <a:spcPts val="0"/>
              </a:spcBef>
              <a:buNone/>
              <a:defRPr/>
            </a:pPr>
            <a:r>
              <a:rPr lang="en-US" altLang="zh-CN" sz="1500" b="0" dirty="0">
                <a:latin typeface="微软雅黑" panose="020B0503020204020204" charset="-122"/>
                <a:ea typeface="微软雅黑" panose="020B0503020204020204" charset="-122"/>
              </a:rPr>
              <a:t> int </a:t>
            </a:r>
            <a:r>
              <a:rPr lang="en-US" altLang="zh-CN" sz="1500" b="0" dirty="0" err="1">
                <a:latin typeface="微软雅黑" panose="020B0503020204020204" charset="-122"/>
                <a:ea typeface="微软雅黑" panose="020B0503020204020204" charset="-122"/>
              </a:rPr>
              <a:t>i</a:t>
            </a:r>
            <a:r>
              <a:rPr lang="en-US" altLang="zh-CN" sz="1500" b="0" dirty="0">
                <a:latin typeface="微软雅黑" panose="020B0503020204020204" charset="-122"/>
                <a:ea typeface="微软雅黑" panose="020B0503020204020204" charset="-122"/>
              </a:rPr>
              <a:t>;</a:t>
            </a:r>
            <a:endParaRPr lang="en-US" altLang="zh-CN" sz="1500" b="0" dirty="0">
              <a:latin typeface="微软雅黑" panose="020B0503020204020204" charset="-122"/>
              <a:ea typeface="微软雅黑" panose="020B0503020204020204" charset="-122"/>
            </a:endParaRPr>
          </a:p>
          <a:p>
            <a:pPr lvl="1">
              <a:lnSpc>
                <a:spcPct val="130000"/>
              </a:lnSpc>
              <a:spcBef>
                <a:spcPts val="0"/>
              </a:spcBef>
              <a:buNone/>
              <a:defRPr/>
            </a:pPr>
            <a:r>
              <a:rPr lang="en-US" altLang="zh-CN" sz="1500" b="0" dirty="0">
                <a:latin typeface="微软雅黑" panose="020B0503020204020204" charset="-122"/>
                <a:ea typeface="微软雅黑" panose="020B0503020204020204" charset="-122"/>
              </a:rPr>
              <a:t> for(</a:t>
            </a:r>
            <a:r>
              <a:rPr lang="en-US" altLang="zh-CN" sz="1500" b="0" dirty="0" err="1">
                <a:latin typeface="微软雅黑" panose="020B0503020204020204" charset="-122"/>
                <a:ea typeface="微软雅黑" panose="020B0503020204020204" charset="-122"/>
              </a:rPr>
              <a:t>i</a:t>
            </a:r>
            <a:r>
              <a:rPr lang="en-US" altLang="zh-CN" sz="1500" b="0" dirty="0">
                <a:latin typeface="微软雅黑" panose="020B0503020204020204" charset="-122"/>
                <a:ea typeface="微软雅黑" panose="020B0503020204020204" charset="-122"/>
              </a:rPr>
              <a:t>=0;i&lt;10;i++){</a:t>
            </a:r>
            <a:endParaRPr lang="en-US" altLang="zh-CN" sz="1500" b="0" dirty="0">
              <a:latin typeface="微软雅黑" panose="020B0503020204020204" charset="-122"/>
              <a:ea typeface="微软雅黑" panose="020B0503020204020204" charset="-122"/>
            </a:endParaRPr>
          </a:p>
          <a:p>
            <a:pPr lvl="1">
              <a:lnSpc>
                <a:spcPct val="130000"/>
              </a:lnSpc>
              <a:spcBef>
                <a:spcPts val="0"/>
              </a:spcBef>
              <a:buNone/>
              <a:defRPr/>
            </a:pPr>
            <a:r>
              <a:rPr lang="en-US" altLang="zh-CN" sz="1500" b="0" dirty="0">
                <a:latin typeface="微软雅黑" panose="020B0503020204020204" charset="-122"/>
                <a:ea typeface="微软雅黑" panose="020B0503020204020204" charset="-122"/>
              </a:rPr>
              <a:t>	</a:t>
            </a:r>
            <a:r>
              <a:rPr lang="zh-CN" altLang="en-US" sz="1500" b="0" dirty="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printf</a:t>
            </a:r>
            <a:r>
              <a:rPr lang="en-US" altLang="zh-CN" sz="1500" b="0" dirty="0">
                <a:latin typeface="微软雅黑" panose="020B0503020204020204" charset="-122"/>
                <a:ea typeface="微软雅黑" panose="020B0503020204020204" charset="-122"/>
              </a:rPr>
              <a:t>(“</a:t>
            </a:r>
            <a:r>
              <a:rPr lang="en-US" altLang="zh-CN" sz="1500" b="0" dirty="0" err="1">
                <a:latin typeface="微软雅黑" panose="020B0503020204020204" charset="-122"/>
                <a:ea typeface="微软雅黑" panose="020B0503020204020204" charset="-122"/>
              </a:rPr>
              <a:t>childthread</a:t>
            </a:r>
            <a:r>
              <a:rPr lang="en-US" altLang="zh-CN" sz="1500" b="0" dirty="0">
                <a:latin typeface="微软雅黑" panose="020B0503020204020204" charset="-122"/>
                <a:ea typeface="微软雅黑" panose="020B0503020204020204" charset="-122"/>
              </a:rPr>
              <a:t> message\n”);</a:t>
            </a:r>
            <a:endParaRPr lang="en-US" altLang="zh-CN" sz="1500" b="0" dirty="0">
              <a:latin typeface="微软雅黑" panose="020B0503020204020204" charset="-122"/>
              <a:ea typeface="微软雅黑" panose="020B0503020204020204" charset="-122"/>
            </a:endParaRPr>
          </a:p>
          <a:p>
            <a:pPr lvl="1">
              <a:lnSpc>
                <a:spcPct val="130000"/>
              </a:lnSpc>
              <a:spcBef>
                <a:spcPts val="0"/>
              </a:spcBef>
              <a:buNone/>
              <a:defRPr/>
            </a:pPr>
            <a:r>
              <a:rPr lang="en-US" altLang="zh-CN" sz="1500" b="0" dirty="0">
                <a:latin typeface="微软雅黑" panose="020B0503020204020204" charset="-122"/>
                <a:ea typeface="微软雅黑" panose="020B0503020204020204" charset="-122"/>
              </a:rPr>
              <a:t>	</a:t>
            </a:r>
            <a:r>
              <a:rPr lang="zh-CN" altLang="en-US" sz="1500" b="0" dirty="0">
                <a:latin typeface="微软雅黑" panose="020B0503020204020204" charset="-122"/>
                <a:ea typeface="微软雅黑" panose="020B0503020204020204" charset="-122"/>
              </a:rPr>
              <a:t>   </a:t>
            </a:r>
            <a:r>
              <a:rPr lang="en-US" altLang="zh-CN" sz="1500" b="0" dirty="0">
                <a:latin typeface="微软雅黑" panose="020B0503020204020204" charset="-122"/>
                <a:ea typeface="微软雅黑" panose="020B0503020204020204" charset="-122"/>
              </a:rPr>
              <a:t>sleep(3);</a:t>
            </a:r>
            <a:r>
              <a:rPr lang="zh-CN" altLang="en-US" sz="1500" b="0" dirty="0">
                <a:latin typeface="微软雅黑" panose="020B0503020204020204" charset="-122"/>
                <a:ea typeface="微软雅黑" panose="020B0503020204020204" charset="-122"/>
              </a:rPr>
              <a:t> </a:t>
            </a:r>
            <a:endParaRPr lang="en-US" altLang="zh-CN" sz="1500" b="0" dirty="0">
              <a:latin typeface="微软雅黑" panose="020B0503020204020204" charset="-122"/>
              <a:ea typeface="微软雅黑" panose="020B0503020204020204" charset="-122"/>
            </a:endParaRPr>
          </a:p>
          <a:p>
            <a:pPr lvl="1">
              <a:lnSpc>
                <a:spcPct val="130000"/>
              </a:lnSpc>
              <a:spcBef>
                <a:spcPts val="0"/>
              </a:spcBef>
              <a:buNone/>
              <a:defRPr/>
            </a:pPr>
            <a:r>
              <a:rPr lang="zh-CN" altLang="en-US" sz="1500" b="0" dirty="0">
                <a:latin typeface="微软雅黑" panose="020B0503020204020204" charset="-122"/>
                <a:ea typeface="微软雅黑" panose="020B0503020204020204" charset="-122"/>
              </a:rPr>
              <a:t> </a:t>
            </a:r>
            <a:r>
              <a:rPr lang="en-US" altLang="zh-CN" sz="1500" b="0" dirty="0">
                <a:latin typeface="微软雅黑" panose="020B0503020204020204" charset="-122"/>
                <a:ea typeface="微软雅黑" panose="020B0503020204020204" charset="-122"/>
              </a:rPr>
              <a:t>}</a:t>
            </a:r>
            <a:r>
              <a:rPr lang="zh-CN" altLang="en-US" sz="1500" b="0" dirty="0">
                <a:latin typeface="微软雅黑" panose="020B0503020204020204" charset="-122"/>
                <a:ea typeface="微软雅黑" panose="020B0503020204020204" charset="-122"/>
              </a:rPr>
              <a:t> </a:t>
            </a:r>
            <a:endParaRPr lang="en-US" altLang="zh-CN" sz="1500" b="0" dirty="0">
              <a:latin typeface="微软雅黑" panose="020B0503020204020204" charset="-122"/>
              <a:ea typeface="微软雅黑" panose="020B0503020204020204" charset="-122"/>
            </a:endParaRPr>
          </a:p>
          <a:p>
            <a:pPr marL="141605" lvl="1" indent="-141605">
              <a:lnSpc>
                <a:spcPct val="130000"/>
              </a:lnSpc>
              <a:spcBef>
                <a:spcPts val="0"/>
              </a:spcBef>
              <a:buNone/>
              <a:defRPr/>
            </a:pPr>
            <a:r>
              <a:rPr lang="en-US" altLang="zh-CN" sz="1500" b="0" dirty="0">
                <a:latin typeface="微软雅黑" panose="020B0503020204020204" charset="-122"/>
                <a:ea typeface="微软雅黑" panose="020B0503020204020204" charset="-122"/>
              </a:rPr>
              <a:t>}</a:t>
            </a:r>
            <a:endParaRPr lang="en-US" altLang="zh-CN" sz="1500" b="0" dirty="0">
              <a:latin typeface="微软雅黑" panose="020B0503020204020204" charset="-122"/>
              <a:ea typeface="微软雅黑" panose="020B0503020204020204" charset="-122"/>
            </a:endParaRPr>
          </a:p>
          <a:p>
            <a:pPr>
              <a:lnSpc>
                <a:spcPct val="130000"/>
              </a:lnSpc>
              <a:spcBef>
                <a:spcPts val="0"/>
              </a:spcBef>
              <a:buNone/>
              <a:defRPr/>
            </a:pPr>
            <a:r>
              <a:rPr lang="en-US" altLang="zh-CN" sz="1500" dirty="0" err="1">
                <a:latin typeface="微软雅黑" panose="020B0503020204020204" charset="-122"/>
                <a:ea typeface="微软雅黑" panose="020B0503020204020204" charset="-122"/>
              </a:rPr>
              <a:t>int</a:t>
            </a:r>
            <a:r>
              <a:rPr lang="en-US" altLang="zh-CN" sz="1500" dirty="0">
                <a:latin typeface="微软雅黑" panose="020B0503020204020204" charset="-122"/>
                <a:ea typeface="微软雅黑" panose="020B0503020204020204" charset="-122"/>
              </a:rPr>
              <a:t> main(){</a:t>
            </a:r>
            <a:endParaRPr lang="en-US" altLang="zh-CN" sz="1500" dirty="0">
              <a:latin typeface="微软雅黑" panose="020B0503020204020204" charset="-122"/>
              <a:ea typeface="微软雅黑" panose="020B0503020204020204" charset="-122"/>
            </a:endParaRPr>
          </a:p>
          <a:p>
            <a:pPr>
              <a:lnSpc>
                <a:spcPct val="130000"/>
              </a:lnSpc>
              <a:spcBef>
                <a:spcPts val="0"/>
              </a:spcBef>
              <a:buNone/>
              <a:defRPr/>
            </a:pPr>
            <a:r>
              <a:rPr lang="en-US" altLang="zh-CN" sz="1500" dirty="0">
                <a:latin typeface="微软雅黑" panose="020B0503020204020204" charset="-122"/>
                <a:ea typeface="微软雅黑" panose="020B0503020204020204" charset="-122"/>
              </a:rPr>
              <a:t>	</a:t>
            </a:r>
            <a:r>
              <a:rPr lang="en-US" altLang="zh-CN" sz="1500" dirty="0" smtClean="0">
                <a:latin typeface="微软雅黑" panose="020B0503020204020204" charset="-122"/>
                <a:ea typeface="微软雅黑" panose="020B0503020204020204" charset="-122"/>
              </a:rPr>
              <a:t> </a:t>
            </a:r>
            <a:r>
              <a:rPr lang="en-US" altLang="zh-CN" sz="1500" b="0" dirty="0" err="1" smtClean="0">
                <a:latin typeface="微软雅黑" panose="020B0503020204020204" charset="-122"/>
                <a:ea typeface="微软雅黑" panose="020B0503020204020204" charset="-122"/>
              </a:rPr>
              <a:t>pthread_t</a:t>
            </a:r>
            <a:r>
              <a:rPr lang="en-US" altLang="zh-CN" sz="1500" b="0" dirty="0" smtClean="0">
                <a:latin typeface="微软雅黑" panose="020B0503020204020204" charset="-122"/>
                <a:ea typeface="微软雅黑" panose="020B0503020204020204" charset="-122"/>
              </a:rPr>
              <a:t> </a:t>
            </a:r>
            <a:r>
              <a:rPr lang="en-US" altLang="zh-CN" sz="1500" b="0" dirty="0" err="1">
                <a:latin typeface="微软雅黑" panose="020B0503020204020204" charset="-122"/>
                <a:ea typeface="微软雅黑" panose="020B0503020204020204" charset="-122"/>
              </a:rPr>
              <a:t>tid</a:t>
            </a:r>
            <a:r>
              <a:rPr lang="en-US" altLang="zh-CN" sz="1500" b="0" dirty="0">
                <a:latin typeface="微软雅黑" panose="020B0503020204020204" charset="-122"/>
                <a:ea typeface="微软雅黑" panose="020B0503020204020204" charset="-122"/>
              </a:rPr>
              <a:t>;</a:t>
            </a:r>
            <a:endParaRPr lang="en-US" altLang="zh-CN" sz="1500" b="0" dirty="0">
              <a:latin typeface="微软雅黑" panose="020B0503020204020204" charset="-122"/>
              <a:ea typeface="微软雅黑" panose="020B0503020204020204" charset="-122"/>
            </a:endParaRPr>
          </a:p>
          <a:p>
            <a:pPr>
              <a:lnSpc>
                <a:spcPct val="130000"/>
              </a:lnSpc>
              <a:spcBef>
                <a:spcPts val="0"/>
              </a:spcBef>
              <a:buNone/>
              <a:defRPr/>
            </a:pPr>
            <a:r>
              <a:rPr lang="en-US" altLang="zh-CN" sz="1500" b="0" dirty="0">
                <a:latin typeface="微软雅黑" panose="020B0503020204020204" charset="-122"/>
                <a:ea typeface="微软雅黑" panose="020B0503020204020204" charset="-122"/>
              </a:rPr>
              <a:t>	</a:t>
            </a:r>
            <a:r>
              <a:rPr lang="en-US" altLang="zh-CN" sz="1500" b="0" dirty="0" smtClean="0">
                <a:latin typeface="微软雅黑" panose="020B0503020204020204" charset="-122"/>
                <a:ea typeface="微软雅黑" panose="020B0503020204020204" charset="-122"/>
              </a:rPr>
              <a:t> </a:t>
            </a:r>
            <a:r>
              <a:rPr lang="en-US" altLang="zh-CN" sz="1500" b="0" dirty="0" err="1" smtClean="0">
                <a:latin typeface="微软雅黑" panose="020B0503020204020204" charset="-122"/>
                <a:ea typeface="微软雅黑" panose="020B0503020204020204" charset="-122"/>
              </a:rPr>
              <a:t>printf</a:t>
            </a:r>
            <a:r>
              <a:rPr lang="en-US" altLang="zh-CN" sz="1500" b="0" dirty="0">
                <a:latin typeface="微软雅黑" panose="020B0503020204020204" charset="-122"/>
                <a:ea typeface="微软雅黑" panose="020B0503020204020204" charset="-122"/>
              </a:rPr>
              <a:t>(</a:t>
            </a:r>
            <a:r>
              <a:rPr lang="zh-CN" altLang="en-US" sz="1500" b="0" dirty="0">
                <a:latin typeface="微软雅黑" panose="020B0503020204020204" charset="-122"/>
                <a:ea typeface="微软雅黑" panose="020B0503020204020204" charset="-122"/>
              </a:rPr>
              <a:t>“</a:t>
            </a:r>
            <a:r>
              <a:rPr lang="en-US" altLang="zh-CN" sz="1500" b="0" dirty="0">
                <a:latin typeface="微软雅黑" panose="020B0503020204020204" charset="-122"/>
                <a:ea typeface="微软雅黑" panose="020B0503020204020204" charset="-122"/>
              </a:rPr>
              <a:t>create </a:t>
            </a:r>
            <a:r>
              <a:rPr lang="en-US" altLang="zh-CN" sz="1500" b="0" dirty="0" err="1">
                <a:latin typeface="微软雅黑" panose="020B0503020204020204" charset="-122"/>
                <a:ea typeface="微软雅黑" panose="020B0503020204020204" charset="-122"/>
              </a:rPr>
              <a:t>childthread</a:t>
            </a:r>
            <a:r>
              <a:rPr lang="en-US" altLang="zh-CN" sz="1500" b="0" dirty="0">
                <a:latin typeface="微软雅黑" panose="020B0503020204020204" charset="-122"/>
                <a:ea typeface="微软雅黑" panose="020B0503020204020204" charset="-122"/>
              </a:rPr>
              <a:t>\n”); </a:t>
            </a:r>
            <a:endParaRPr lang="en-US" altLang="zh-CN" sz="1500" b="0" dirty="0">
              <a:latin typeface="微软雅黑" panose="020B0503020204020204" charset="-122"/>
              <a:ea typeface="微软雅黑" panose="020B0503020204020204" charset="-122"/>
            </a:endParaRPr>
          </a:p>
          <a:p>
            <a:pPr>
              <a:lnSpc>
                <a:spcPct val="130000"/>
              </a:lnSpc>
              <a:spcBef>
                <a:spcPts val="0"/>
              </a:spcBef>
              <a:buNone/>
              <a:defRPr/>
            </a:pPr>
            <a:r>
              <a:rPr lang="en-US" altLang="zh-CN" sz="1500" b="0" dirty="0">
                <a:latin typeface="微软雅黑" panose="020B0503020204020204" charset="-122"/>
                <a:ea typeface="微软雅黑" panose="020B0503020204020204" charset="-122"/>
              </a:rPr>
              <a:t>  </a:t>
            </a:r>
            <a:r>
              <a:rPr lang="en-US" altLang="zh-CN" sz="1500" b="0" dirty="0" smtClean="0">
                <a:latin typeface="微软雅黑" panose="020B0503020204020204" charset="-122"/>
                <a:ea typeface="微软雅黑" panose="020B0503020204020204" charset="-122"/>
              </a:rPr>
              <a:t> </a:t>
            </a:r>
            <a:r>
              <a:rPr lang="en-US" altLang="zh-CN" sz="1500" b="0" dirty="0" err="1" smtClean="0">
                <a:latin typeface="微软雅黑" panose="020B0503020204020204" charset="-122"/>
                <a:ea typeface="微软雅黑" panose="020B0503020204020204" charset="-122"/>
              </a:rPr>
              <a:t>pthread_create</a:t>
            </a:r>
            <a:r>
              <a:rPr lang="en-US" altLang="zh-CN" sz="1500" b="0" dirty="0">
                <a:latin typeface="微软雅黑" panose="020B0503020204020204" charset="-122"/>
                <a:ea typeface="微软雅黑" panose="020B0503020204020204" charset="-122"/>
              </a:rPr>
              <a:t>(&amp;</a:t>
            </a:r>
            <a:r>
              <a:rPr lang="en-US" altLang="zh-CN" sz="1500" b="0" dirty="0" err="1">
                <a:latin typeface="微软雅黑" panose="020B0503020204020204" charset="-122"/>
                <a:ea typeface="微软雅黑" panose="020B0503020204020204" charset="-122"/>
              </a:rPr>
              <a:t>tid,NULL</a:t>
            </a:r>
            <a:r>
              <a:rPr lang="en-US" altLang="zh-CN" sz="1500" b="0" dirty="0">
                <a:latin typeface="微软雅黑" panose="020B0503020204020204" charset="-122"/>
                <a:ea typeface="微软雅黑" panose="020B0503020204020204" charset="-122"/>
              </a:rPr>
              <a:t>,(void *) </a:t>
            </a:r>
            <a:r>
              <a:rPr lang="en-US" altLang="zh-CN" sz="1500" b="0" dirty="0" err="1">
                <a:latin typeface="微软雅黑" panose="020B0503020204020204" charset="-122"/>
                <a:ea typeface="微软雅黑" panose="020B0503020204020204" charset="-122"/>
              </a:rPr>
              <a:t>childthread,NULL</a:t>
            </a:r>
            <a:r>
              <a:rPr lang="en-US" altLang="zh-CN" sz="1500" b="0" dirty="0">
                <a:latin typeface="微软雅黑" panose="020B0503020204020204" charset="-122"/>
                <a:ea typeface="微软雅黑" panose="020B0503020204020204" charset="-122"/>
              </a:rPr>
              <a:t>);</a:t>
            </a:r>
            <a:endParaRPr lang="en-US" altLang="zh-CN" sz="1500" b="0" dirty="0">
              <a:latin typeface="微软雅黑" panose="020B0503020204020204" charset="-122"/>
              <a:ea typeface="微软雅黑" panose="020B0503020204020204" charset="-122"/>
            </a:endParaRPr>
          </a:p>
          <a:p>
            <a:pPr>
              <a:lnSpc>
                <a:spcPct val="130000"/>
              </a:lnSpc>
              <a:spcBef>
                <a:spcPts val="0"/>
              </a:spcBef>
              <a:buNone/>
              <a:defRPr/>
            </a:pPr>
            <a:r>
              <a:rPr lang="en-US" altLang="zh-CN" sz="1500" b="0" dirty="0">
                <a:latin typeface="微软雅黑" panose="020B0503020204020204" charset="-122"/>
                <a:ea typeface="微软雅黑" panose="020B0503020204020204" charset="-122"/>
              </a:rPr>
              <a:t>	</a:t>
            </a:r>
            <a:r>
              <a:rPr lang="en-US" altLang="zh-CN" sz="1500" b="0" dirty="0" smtClean="0">
                <a:latin typeface="微软雅黑" panose="020B0503020204020204" charset="-122"/>
                <a:ea typeface="微软雅黑" panose="020B0503020204020204" charset="-122"/>
              </a:rPr>
              <a:t> </a:t>
            </a:r>
            <a:r>
              <a:rPr lang="en-US" altLang="zh-CN" sz="1500" dirty="0" err="1" smtClean="0">
                <a:solidFill>
                  <a:srgbClr val="FF0000"/>
                </a:solidFill>
                <a:latin typeface="微软雅黑" panose="020B0503020204020204" charset="-122"/>
                <a:ea typeface="微软雅黑" panose="020B0503020204020204" charset="-122"/>
              </a:rPr>
              <a:t>pthread_join</a:t>
            </a:r>
            <a:r>
              <a:rPr lang="en-US" altLang="zh-CN" sz="1500" dirty="0" smtClean="0">
                <a:solidFill>
                  <a:srgbClr val="FF0000"/>
                </a:solidFill>
                <a:latin typeface="微软雅黑" panose="020B0503020204020204" charset="-122"/>
                <a:ea typeface="微软雅黑" panose="020B0503020204020204" charset="-122"/>
              </a:rPr>
              <a:t>(</a:t>
            </a:r>
            <a:r>
              <a:rPr lang="en-US" altLang="zh-CN" sz="1500" dirty="0" err="1" smtClean="0">
                <a:solidFill>
                  <a:srgbClr val="FF0000"/>
                </a:solidFill>
                <a:latin typeface="微软雅黑" panose="020B0503020204020204" charset="-122"/>
                <a:ea typeface="微软雅黑" panose="020B0503020204020204" charset="-122"/>
              </a:rPr>
              <a:t>tid,NULL</a:t>
            </a:r>
            <a:r>
              <a:rPr lang="en-US" altLang="zh-CN" sz="1500" dirty="0">
                <a:solidFill>
                  <a:srgbClr val="FF0000"/>
                </a:solidFill>
                <a:latin typeface="微软雅黑" panose="020B0503020204020204" charset="-122"/>
                <a:ea typeface="微软雅黑" panose="020B0503020204020204" charset="-122"/>
              </a:rPr>
              <a:t>);</a:t>
            </a:r>
            <a:endParaRPr lang="en-US" altLang="zh-CN" sz="1500" dirty="0">
              <a:solidFill>
                <a:srgbClr val="FF0000"/>
              </a:solidFill>
              <a:latin typeface="微软雅黑" panose="020B0503020204020204" charset="-122"/>
              <a:ea typeface="微软雅黑" panose="020B0503020204020204" charset="-122"/>
            </a:endParaRPr>
          </a:p>
          <a:p>
            <a:pPr>
              <a:lnSpc>
                <a:spcPct val="130000"/>
              </a:lnSpc>
              <a:spcBef>
                <a:spcPts val="0"/>
              </a:spcBef>
              <a:buNone/>
              <a:defRPr/>
            </a:pPr>
            <a:r>
              <a:rPr lang="en-US" altLang="zh-CN" sz="1500" b="0" dirty="0">
                <a:latin typeface="微软雅黑" panose="020B0503020204020204" charset="-122"/>
                <a:ea typeface="微软雅黑" panose="020B0503020204020204" charset="-122"/>
              </a:rPr>
              <a:t>	</a:t>
            </a:r>
            <a:r>
              <a:rPr lang="en-US" altLang="zh-CN" sz="1500" b="0" dirty="0" smtClean="0">
                <a:latin typeface="微软雅黑" panose="020B0503020204020204" charset="-122"/>
                <a:ea typeface="微软雅黑" panose="020B0503020204020204" charset="-122"/>
              </a:rPr>
              <a:t> </a:t>
            </a:r>
            <a:r>
              <a:rPr lang="en-US" altLang="zh-CN" sz="1500" b="0" dirty="0" err="1" smtClean="0">
                <a:latin typeface="微软雅黑" panose="020B0503020204020204" charset="-122"/>
                <a:ea typeface="微软雅黑" panose="020B0503020204020204" charset="-122"/>
              </a:rPr>
              <a:t>printf</a:t>
            </a:r>
            <a:r>
              <a:rPr lang="en-US" altLang="zh-CN" sz="1500" b="0" dirty="0">
                <a:latin typeface="微软雅黑" panose="020B0503020204020204" charset="-122"/>
                <a:ea typeface="微软雅黑" panose="020B0503020204020204" charset="-122"/>
              </a:rPr>
              <a:t>(“</a:t>
            </a:r>
            <a:r>
              <a:rPr lang="en-US" altLang="zh-CN" sz="1500" b="0" dirty="0" err="1">
                <a:latin typeface="微软雅黑" panose="020B0503020204020204" charset="-122"/>
                <a:ea typeface="微软雅黑" panose="020B0503020204020204" charset="-122"/>
              </a:rPr>
              <a:t>childthread</a:t>
            </a:r>
            <a:r>
              <a:rPr lang="en-US" altLang="zh-CN" sz="1500" b="0" dirty="0">
                <a:latin typeface="微软雅黑" panose="020B0503020204020204" charset="-122"/>
                <a:ea typeface="微软雅黑" panose="020B0503020204020204" charset="-122"/>
              </a:rPr>
              <a:t> exit process exit\n”); </a:t>
            </a:r>
            <a:endParaRPr lang="en-US" altLang="zh-CN" sz="1500" b="0" dirty="0">
              <a:latin typeface="微软雅黑" panose="020B0503020204020204" charset="-122"/>
              <a:ea typeface="微软雅黑" panose="020B0503020204020204" charset="-122"/>
            </a:endParaRPr>
          </a:p>
          <a:p>
            <a:pPr>
              <a:lnSpc>
                <a:spcPct val="130000"/>
              </a:lnSpc>
              <a:spcBef>
                <a:spcPts val="0"/>
              </a:spcBef>
              <a:buNone/>
              <a:defRPr/>
            </a:pPr>
            <a:r>
              <a:rPr lang="en-US" altLang="zh-CN" sz="1500" dirty="0">
                <a:latin typeface="微软雅黑" panose="020B0503020204020204" charset="-122"/>
                <a:ea typeface="微软雅黑" panose="020B0503020204020204" charset="-122"/>
              </a:rPr>
              <a:t>}</a:t>
            </a:r>
            <a:endParaRPr lang="zh-CN" altLang="en-US" sz="1500" dirty="0">
              <a:latin typeface="微软雅黑" panose="020B0503020204020204" charset="-122"/>
              <a:ea typeface="微软雅黑" panose="020B0503020204020204" charset="-122"/>
            </a:endParaRPr>
          </a:p>
        </p:txBody>
      </p:sp>
      <p:sp>
        <p:nvSpPr>
          <p:cNvPr id="704514" name="Rectangle 2"/>
          <p:cNvSpPr>
            <a:spLocks noGrp="1" noChangeArrowheads="1"/>
          </p:cNvSpPr>
          <p:nvPr>
            <p:ph type="title"/>
          </p:nvPr>
        </p:nvSpPr>
        <p:spPr/>
        <p:txBody>
          <a:bodyPr/>
          <a:lstStyle/>
          <a:p>
            <a:pPr>
              <a:defRPr/>
            </a:pPr>
            <a:r>
              <a:rPr lang="zh-CN" altLang="en-US"/>
              <a:t>创建并等待子线程代码示例</a:t>
            </a:r>
            <a:endParaRPr lang="zh-CN" altLang="en-US"/>
          </a:p>
        </p:txBody>
      </p:sp>
      <p:sp>
        <p:nvSpPr>
          <p:cNvPr id="169986" name="灯片编号占位符 5"/>
          <p:cNvSpPr>
            <a:spLocks noGrp="1"/>
          </p:cNvSpPr>
          <p:nvPr>
            <p:ph type="sldNum" sz="quarter" idx="4294967295"/>
          </p:nvPr>
        </p:nvSpPr>
        <p:spPr bwMode="auto">
          <a:xfrm>
            <a:off x="6057900" y="5541169"/>
            <a:ext cx="1600200" cy="3571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z="1050" smtClean="0"/>
            </a:fld>
            <a:endParaRPr lang="en-US" altLang="zh-CN" sz="105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2" name="Rectangle 3"/>
          <p:cNvSpPr>
            <a:spLocks noGrp="1" noChangeArrowheads="1"/>
          </p:cNvSpPr>
          <p:nvPr>
            <p:ph idx="1"/>
          </p:nvPr>
        </p:nvSpPr>
        <p:spPr/>
        <p:txBody>
          <a:bodyPr/>
          <a:lstStyle/>
          <a:p>
            <a:r>
              <a:rPr lang="zh-CN" altLang="en-US" dirty="0">
                <a:latin typeface="+mj-ea"/>
                <a:ea typeface="+mj-ea"/>
              </a:rPr>
              <a:t>线程调用该函数可以取消同一进程中的其他线程（即让该线程终止）</a:t>
            </a:r>
            <a:endParaRPr lang="zh-CN" altLang="en-US" dirty="0">
              <a:latin typeface="+mj-ea"/>
              <a:ea typeface="+mj-ea"/>
            </a:endParaRPr>
          </a:p>
          <a:p>
            <a:r>
              <a:rPr lang="zh-CN" altLang="en-US" dirty="0">
                <a:latin typeface="+mj-ea"/>
                <a:ea typeface="+mj-ea"/>
              </a:rPr>
              <a:t>函数原型</a:t>
            </a:r>
            <a:endParaRPr lang="en-US" altLang="zh-CN" dirty="0">
              <a:latin typeface="+mj-ea"/>
              <a:ea typeface="+mj-ea"/>
            </a:endParaRPr>
          </a:p>
          <a:p>
            <a:pPr lvl="1"/>
            <a:r>
              <a:rPr lang="zh-CN" altLang="en-US" b="0" dirty="0"/>
              <a:t>头文件：</a:t>
            </a:r>
            <a:r>
              <a:rPr lang="en-US" altLang="zh-CN" b="0" dirty="0"/>
              <a:t> </a:t>
            </a:r>
            <a:r>
              <a:rPr lang="en-US" altLang="zh-CN" b="0" dirty="0" err="1"/>
              <a:t>pthread.h</a:t>
            </a:r>
            <a:endParaRPr lang="en-US" altLang="zh-CN" b="0" dirty="0"/>
          </a:p>
          <a:p>
            <a:pPr lvl="1"/>
            <a:r>
              <a:rPr lang="en-US" altLang="zh-CN" b="0" dirty="0" err="1"/>
              <a:t>int</a:t>
            </a:r>
            <a:r>
              <a:rPr lang="en-US" altLang="zh-CN" b="0" dirty="0"/>
              <a:t> </a:t>
            </a:r>
            <a:r>
              <a:rPr lang="en-US" altLang="zh-CN" dirty="0" err="1">
                <a:solidFill>
                  <a:srgbClr val="0000CC"/>
                </a:solidFill>
              </a:rPr>
              <a:t>pthread_cancel</a:t>
            </a:r>
            <a:r>
              <a:rPr lang="en-US" altLang="zh-CN" b="0" dirty="0"/>
              <a:t>(</a:t>
            </a:r>
            <a:r>
              <a:rPr lang="en-US" altLang="zh-CN" b="0" dirty="0" err="1"/>
              <a:t>pthread_t</a:t>
            </a:r>
            <a:r>
              <a:rPr lang="en-US" altLang="zh-CN" b="0" dirty="0"/>
              <a:t> </a:t>
            </a:r>
            <a:r>
              <a:rPr lang="en-US" altLang="zh-CN" b="0" dirty="0" err="1"/>
              <a:t>tid</a:t>
            </a:r>
            <a:r>
              <a:rPr lang="en-US" altLang="zh-CN" b="0" dirty="0"/>
              <a:t>);</a:t>
            </a:r>
            <a:r>
              <a:rPr lang="zh-CN" altLang="en-US" b="0" dirty="0"/>
              <a:t> </a:t>
            </a:r>
            <a:endParaRPr lang="en-US" altLang="zh-CN" b="0" dirty="0"/>
          </a:p>
          <a:p>
            <a:r>
              <a:rPr lang="zh-CN" altLang="en-US" dirty="0">
                <a:latin typeface="+mj-ea"/>
                <a:ea typeface="+mj-ea"/>
              </a:rPr>
              <a:t>参数与返回值</a:t>
            </a:r>
            <a:endParaRPr lang="zh-CN" altLang="en-US" dirty="0">
              <a:latin typeface="+mj-ea"/>
              <a:ea typeface="+mj-ea"/>
            </a:endParaRPr>
          </a:p>
          <a:p>
            <a:pPr lvl="1"/>
            <a:r>
              <a:rPr lang="en-US" altLang="zh-CN" b="0" dirty="0" err="1"/>
              <a:t>tid</a:t>
            </a:r>
            <a:r>
              <a:rPr lang="zh-CN" altLang="en-US" b="0" dirty="0"/>
              <a:t>：需要取消的线程</a:t>
            </a:r>
            <a:r>
              <a:rPr lang="en-US" altLang="zh-CN" b="0" dirty="0"/>
              <a:t>ID</a:t>
            </a:r>
            <a:endParaRPr lang="en-US" altLang="zh-CN" b="0" dirty="0"/>
          </a:p>
          <a:p>
            <a:pPr lvl="1"/>
            <a:r>
              <a:rPr lang="zh-CN" altLang="en-US" b="0" dirty="0"/>
              <a:t>成功返回</a:t>
            </a:r>
            <a:r>
              <a:rPr lang="en-US" altLang="zh-CN" b="0" dirty="0"/>
              <a:t>0</a:t>
            </a:r>
            <a:r>
              <a:rPr lang="zh-CN" altLang="en-US" b="0" dirty="0"/>
              <a:t>， 出错返回错误编号</a:t>
            </a:r>
            <a:endParaRPr lang="en-US" altLang="zh-CN" b="0" dirty="0"/>
          </a:p>
          <a:p>
            <a:pPr lvl="1"/>
            <a:endParaRPr lang="en-US" altLang="zh-CN" b="0" dirty="0"/>
          </a:p>
          <a:p>
            <a:r>
              <a:rPr lang="zh-CN" altLang="en-US" b="0" dirty="0"/>
              <a:t>注意：</a:t>
            </a:r>
            <a:r>
              <a:rPr lang="en-US" altLang="zh-CN" sz="1725" dirty="0" err="1">
                <a:latin typeface="+mj-ea"/>
              </a:rPr>
              <a:t>pthread_cancel</a:t>
            </a:r>
            <a:r>
              <a:rPr lang="zh-CN" altLang="en-US" sz="1725" dirty="0">
                <a:latin typeface="+mj-ea"/>
              </a:rPr>
              <a:t>并不等待线程终止，它仅仅是提出请求</a:t>
            </a:r>
            <a:endParaRPr lang="zh-CN" altLang="en-US" sz="1725" dirty="0">
              <a:latin typeface="+mj-ea"/>
            </a:endParaRPr>
          </a:p>
          <a:p>
            <a:pPr lvl="1"/>
            <a:endParaRPr lang="zh-CN" altLang="en-US" b="0" dirty="0"/>
          </a:p>
        </p:txBody>
      </p:sp>
      <p:sp>
        <p:nvSpPr>
          <p:cNvPr id="697346" name="Rectangle 2"/>
          <p:cNvSpPr>
            <a:spLocks noGrp="1" noChangeArrowheads="1"/>
          </p:cNvSpPr>
          <p:nvPr>
            <p:ph type="title"/>
          </p:nvPr>
        </p:nvSpPr>
        <p:spPr/>
        <p:txBody>
          <a:bodyPr/>
          <a:lstStyle/>
          <a:p>
            <a:pPr>
              <a:defRPr/>
            </a:pPr>
            <a:r>
              <a:rPr lang="zh-CN" altLang="en-US" dirty="0"/>
              <a:t>取消线程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8" name="Rectangle 3"/>
          <p:cNvSpPr>
            <a:spLocks noGrp="1" noChangeArrowheads="1"/>
          </p:cNvSpPr>
          <p:nvPr>
            <p:ph idx="1"/>
          </p:nvPr>
        </p:nvSpPr>
        <p:spPr>
          <a:xfrm>
            <a:off x="945613" y="2777492"/>
            <a:ext cx="7944386" cy="1336040"/>
          </a:xfrm>
        </p:spPr>
        <p:txBody>
          <a:bodyPr/>
          <a:lstStyle/>
          <a:p>
            <a:pPr>
              <a:lnSpc>
                <a:spcPct val="90000"/>
              </a:lnSpc>
            </a:pPr>
            <a:r>
              <a:rPr lang="zh-CN" altLang="en-US" b="0" dirty="0">
                <a:latin typeface="+mj-ea"/>
                <a:ea typeface="+mj-ea"/>
              </a:rPr>
              <a:t>前面讨论</a:t>
            </a:r>
            <a:r>
              <a:rPr lang="en-US" altLang="zh-CN" b="0" dirty="0" err="1">
                <a:latin typeface="+mj-ea"/>
                <a:ea typeface="+mj-ea"/>
              </a:rPr>
              <a:t>pthread_create</a:t>
            </a:r>
            <a:r>
              <a:rPr lang="zh-CN" altLang="en-US" b="0" dirty="0">
                <a:latin typeface="+mj-ea"/>
                <a:ea typeface="+mj-ea"/>
              </a:rPr>
              <a:t>时，针对线程属性，传入的参数都是</a:t>
            </a:r>
            <a:r>
              <a:rPr lang="en-US" altLang="zh-CN" b="0" dirty="0">
                <a:latin typeface="+mj-ea"/>
                <a:ea typeface="+mj-ea"/>
              </a:rPr>
              <a:t>NULL</a:t>
            </a:r>
            <a:r>
              <a:rPr lang="zh-CN" altLang="en-US" b="0" dirty="0">
                <a:latin typeface="+mj-ea"/>
                <a:ea typeface="+mj-ea"/>
              </a:rPr>
              <a:t>。</a:t>
            </a:r>
            <a:endParaRPr lang="zh-CN" altLang="en-US" b="0" dirty="0">
              <a:latin typeface="+mj-ea"/>
              <a:ea typeface="+mj-ea"/>
            </a:endParaRPr>
          </a:p>
          <a:p>
            <a:pPr>
              <a:lnSpc>
                <a:spcPct val="90000"/>
              </a:lnSpc>
            </a:pPr>
            <a:r>
              <a:rPr lang="zh-CN" altLang="en-US" b="0" dirty="0">
                <a:latin typeface="+mj-ea"/>
                <a:ea typeface="+mj-ea"/>
              </a:rPr>
              <a:t>实际上，可以通过构建</a:t>
            </a:r>
            <a:r>
              <a:rPr lang="en-US" altLang="zh-CN" b="0" dirty="0" err="1">
                <a:latin typeface="+mj-ea"/>
                <a:ea typeface="+mj-ea"/>
              </a:rPr>
              <a:t>pthread_attr_t</a:t>
            </a:r>
            <a:r>
              <a:rPr lang="zh-CN" altLang="en-US" b="0" dirty="0">
                <a:latin typeface="+mj-ea"/>
                <a:ea typeface="+mj-ea"/>
              </a:rPr>
              <a:t>结构体，设置若干线程属性</a:t>
            </a:r>
            <a:endParaRPr lang="zh-CN" altLang="en-US" b="0" dirty="0">
              <a:latin typeface="+mj-ea"/>
              <a:ea typeface="+mj-ea"/>
            </a:endParaRPr>
          </a:p>
          <a:p>
            <a:pPr>
              <a:lnSpc>
                <a:spcPct val="90000"/>
              </a:lnSpc>
            </a:pPr>
            <a:r>
              <a:rPr lang="zh-CN" altLang="en-US" b="0" dirty="0">
                <a:latin typeface="+mj-ea"/>
                <a:ea typeface="+mj-ea"/>
              </a:rPr>
              <a:t>要使用该结构体，必须首先对其进行初始化；使用完毕后，需要销毁它</a:t>
            </a:r>
            <a:endParaRPr lang="zh-CN" altLang="en-US" b="0" dirty="0">
              <a:latin typeface="+mj-ea"/>
              <a:ea typeface="+mj-ea"/>
            </a:endParaRPr>
          </a:p>
        </p:txBody>
      </p:sp>
      <p:sp>
        <p:nvSpPr>
          <p:cNvPr id="761858" name="Rectangle 2"/>
          <p:cNvSpPr>
            <a:spLocks noGrp="1" noChangeArrowheads="1"/>
          </p:cNvSpPr>
          <p:nvPr>
            <p:ph type="title"/>
          </p:nvPr>
        </p:nvSpPr>
        <p:spPr>
          <a:xfrm>
            <a:off x="1092175" y="2247093"/>
            <a:ext cx="5497903" cy="411956"/>
          </a:xfrm>
        </p:spPr>
        <p:txBody>
          <a:bodyPr/>
          <a:lstStyle/>
          <a:p>
            <a:pPr>
              <a:defRPr/>
            </a:pPr>
            <a:r>
              <a:rPr lang="zh-CN" altLang="en-US" dirty="0"/>
              <a:t>线程属性</a:t>
            </a:r>
            <a:endParaRPr lang="zh-CN" altLang="en-US" dirty="0"/>
          </a:p>
        </p:txBody>
      </p:sp>
      <p:sp>
        <p:nvSpPr>
          <p:cNvPr id="2" name="矩形 1"/>
          <p:cNvSpPr/>
          <p:nvPr/>
        </p:nvSpPr>
        <p:spPr>
          <a:xfrm>
            <a:off x="1036526" y="1784397"/>
            <a:ext cx="2355850" cy="414020"/>
          </a:xfrm>
          <a:prstGeom prst="rect">
            <a:avLst/>
          </a:prstGeom>
        </p:spPr>
        <p:txBody>
          <a:bodyPr wrap="none">
            <a:spAutoFit/>
          </a:bodyPr>
          <a:lstStyle/>
          <a:p>
            <a:pPr marL="114300" lvl="1">
              <a:spcBef>
                <a:spcPct val="20000"/>
              </a:spcBef>
              <a:defRPr/>
            </a:pPr>
            <a:r>
              <a:rPr kumimoji="1" lang="en-US" altLang="zh-CN" sz="2100" b="1" dirty="0">
                <a:solidFill>
                  <a:srgbClr val="002060"/>
                </a:solidFill>
                <a:latin typeface="微软雅黑" panose="020B0503020204020204" charset="-122"/>
                <a:ea typeface="微软雅黑" panose="020B0503020204020204" charset="-122"/>
              </a:rPr>
              <a:t>2.7.4</a:t>
            </a:r>
            <a:r>
              <a:rPr kumimoji="1" lang="zh-CN" altLang="en-US" sz="2100" b="1" dirty="0">
                <a:solidFill>
                  <a:srgbClr val="002060"/>
                </a:solidFill>
                <a:latin typeface="微软雅黑" panose="020B0503020204020204" charset="-122"/>
                <a:ea typeface="微软雅黑" panose="020B0503020204020204" charset="-122"/>
              </a:rPr>
              <a:t> 线程的属性</a:t>
            </a:r>
            <a:endParaRPr lang="en-US" altLang="zh-CN" sz="2100" b="1" kern="0" dirty="0">
              <a:solidFill>
                <a:srgbClr val="C00000"/>
              </a:solidFill>
              <a:latin typeface="微软雅黑" panose="020B0503020204020204" charset="-122"/>
              <a:ea typeface="微软雅黑" panose="020B0503020204020204" charset="-122"/>
            </a:endParaRPr>
          </a:p>
        </p:txBody>
      </p:sp>
      <p:sp>
        <p:nvSpPr>
          <p:cNvPr id="7"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1130555" y="1704824"/>
            <a:ext cx="6172200" cy="492919"/>
          </a:xfrm>
          <a:prstGeom prst="rect">
            <a:avLst/>
          </a:prstGeom>
          <a:noFill/>
          <a:ln w="9525">
            <a:noFill/>
            <a:miter lim="800000"/>
          </a:ln>
        </p:spPr>
        <p:txBody>
          <a:bodyPr/>
          <a:lstStyle/>
          <a:p>
            <a:pPr marL="342900" indent="-342900">
              <a:spcBef>
                <a:spcPct val="20000"/>
              </a:spcBef>
              <a:buFont typeface="Wingdings" panose="05000000000000000000" pitchFamily="2" charset="2"/>
              <a:buChar char="n"/>
              <a:defRPr/>
            </a:pPr>
            <a:r>
              <a:rPr lang="en-US" altLang="zh-CN" sz="1800" b="1" kern="0" dirty="0"/>
              <a:t>POSIX</a:t>
            </a:r>
            <a:r>
              <a:rPr lang="zh-CN" altLang="en-US" sz="1800" b="1" kern="0" dirty="0"/>
              <a:t>规定的一些线程属性</a:t>
            </a:r>
            <a:endParaRPr lang="zh-CN" altLang="en-US" sz="1800" b="1" kern="0" dirty="0"/>
          </a:p>
        </p:txBody>
      </p:sp>
      <p:sp>
        <p:nvSpPr>
          <p:cNvPr id="6" name="矩形 5"/>
          <p:cNvSpPr/>
          <p:nvPr/>
        </p:nvSpPr>
        <p:spPr>
          <a:xfrm>
            <a:off x="6553542" y="1116202"/>
            <a:ext cx="2355850" cy="414020"/>
          </a:xfrm>
          <a:prstGeom prst="rect">
            <a:avLst/>
          </a:prstGeom>
        </p:spPr>
        <p:txBody>
          <a:bodyPr wrap="none">
            <a:spAutoFit/>
          </a:bodyPr>
          <a:lstStyle/>
          <a:p>
            <a:pPr marL="114300" lvl="1">
              <a:spcBef>
                <a:spcPct val="20000"/>
              </a:spcBef>
              <a:defRPr/>
            </a:pPr>
            <a:r>
              <a:rPr kumimoji="1" lang="en-US" altLang="zh-CN" sz="2100" b="1" dirty="0">
                <a:solidFill>
                  <a:srgbClr val="002060"/>
                </a:solidFill>
                <a:latin typeface="微软雅黑" panose="020B0503020204020204" charset="-122"/>
                <a:ea typeface="微软雅黑" panose="020B0503020204020204" charset="-122"/>
              </a:rPr>
              <a:t>2.7.4</a:t>
            </a:r>
            <a:r>
              <a:rPr kumimoji="1" lang="zh-CN" altLang="en-US" sz="2100" b="1" dirty="0">
                <a:solidFill>
                  <a:srgbClr val="002060"/>
                </a:solidFill>
                <a:latin typeface="微软雅黑" panose="020B0503020204020204" charset="-122"/>
                <a:ea typeface="微软雅黑" panose="020B0503020204020204" charset="-122"/>
              </a:rPr>
              <a:t> 线程的属性</a:t>
            </a:r>
            <a:endParaRPr lang="en-US" altLang="zh-CN" sz="2100" b="1" kern="0" dirty="0">
              <a:solidFill>
                <a:srgbClr val="C00000"/>
              </a:solidFill>
              <a:latin typeface="微软雅黑" panose="020B0503020204020204" charset="-122"/>
              <a:ea typeface="微软雅黑" panose="020B0503020204020204" charset="-122"/>
            </a:endParaRPr>
          </a:p>
        </p:txBody>
      </p:sp>
      <p:sp>
        <p:nvSpPr>
          <p:cNvPr id="8"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grpSp>
        <p:nvGrpSpPr>
          <p:cNvPr id="3" name="组合 2"/>
          <p:cNvGrpSpPr/>
          <p:nvPr/>
        </p:nvGrpSpPr>
        <p:grpSpPr>
          <a:xfrm>
            <a:off x="1430690" y="2146772"/>
            <a:ext cx="6933618" cy="3742753"/>
            <a:chOff x="1736141" y="1588739"/>
            <a:chExt cx="9244824" cy="4990337"/>
          </a:xfrm>
        </p:grpSpPr>
        <p:pic>
          <p:nvPicPr>
            <p:cNvPr id="181253" name="Picture 4"/>
            <p:cNvPicPr>
              <a:picLocks noChangeAspect="1" noChangeArrowheads="1"/>
            </p:cNvPicPr>
            <p:nvPr/>
          </p:nvPicPr>
          <p:blipFill rotWithShape="1">
            <a:blip r:embed="rId1">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rcRect r="17388" b="68127"/>
            <a:stretch>
              <a:fillRect/>
            </a:stretch>
          </p:blipFill>
          <p:spPr bwMode="auto">
            <a:xfrm>
              <a:off x="1736141" y="1588739"/>
              <a:ext cx="9244824" cy="1657800"/>
            </a:xfrm>
            <a:prstGeom prst="rect">
              <a:avLst/>
            </a:prstGeom>
            <a:noFill/>
            <a:ln>
              <a:noFill/>
            </a:ln>
          </p:spPr>
        </p:pic>
        <p:pic>
          <p:nvPicPr>
            <p:cNvPr id="9" name="Picture 4"/>
            <p:cNvPicPr>
              <a:picLocks noChangeAspect="1" noChangeArrowheads="1"/>
            </p:cNvPicPr>
            <p:nvPr/>
          </p:nvPicPr>
          <p:blipFill rotWithShape="1">
            <a:blip r:embed="rId1">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rcRect t="35929" r="17388"/>
            <a:stretch>
              <a:fillRect/>
            </a:stretch>
          </p:blipFill>
          <p:spPr bwMode="auto">
            <a:xfrm>
              <a:off x="1736141" y="3246539"/>
              <a:ext cx="9244824" cy="3332537"/>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6" name="Rectangle 3"/>
          <p:cNvSpPr>
            <a:spLocks noGrp="1" noChangeArrowheads="1"/>
          </p:cNvSpPr>
          <p:nvPr>
            <p:ph idx="1"/>
          </p:nvPr>
        </p:nvSpPr>
        <p:spPr>
          <a:xfrm>
            <a:off x="972486" y="2089427"/>
            <a:ext cx="7065989" cy="3411027"/>
          </a:xfrm>
        </p:spPr>
        <p:txBody>
          <a:bodyPr/>
          <a:lstStyle/>
          <a:p>
            <a:pPr>
              <a:lnSpc>
                <a:spcPct val="130000"/>
              </a:lnSpc>
            </a:pPr>
            <a:r>
              <a:rPr lang="zh-CN" altLang="en-US" sz="1500" b="0" dirty="0">
                <a:latin typeface="+mj-ea"/>
                <a:ea typeface="+mj-ea"/>
              </a:rPr>
              <a:t>函数原型</a:t>
            </a:r>
            <a:endParaRPr lang="zh-CN" altLang="en-US" sz="1500" b="0" dirty="0">
              <a:latin typeface="+mj-ea"/>
              <a:ea typeface="+mj-ea"/>
            </a:endParaRPr>
          </a:p>
          <a:p>
            <a:pPr lvl="1">
              <a:lnSpc>
                <a:spcPct val="130000"/>
              </a:lnSpc>
            </a:pPr>
            <a:r>
              <a:rPr lang="en-US" altLang="zh-CN" sz="1500" dirty="0"/>
              <a:t>#include&lt;</a:t>
            </a:r>
            <a:r>
              <a:rPr lang="en-US" altLang="zh-CN" sz="1500" dirty="0" err="1"/>
              <a:t>pthread.h</a:t>
            </a:r>
            <a:r>
              <a:rPr lang="en-US" altLang="zh-CN" sz="1500" dirty="0"/>
              <a:t>&gt;</a:t>
            </a:r>
            <a:endParaRPr lang="en-US" altLang="zh-CN" sz="1500" dirty="0"/>
          </a:p>
          <a:p>
            <a:pPr lvl="1">
              <a:lnSpc>
                <a:spcPct val="130000"/>
              </a:lnSpc>
            </a:pPr>
            <a:r>
              <a:rPr lang="en-US" altLang="zh-CN" sz="1500" dirty="0" err="1"/>
              <a:t>int</a:t>
            </a:r>
            <a:r>
              <a:rPr lang="en-US" altLang="zh-CN" sz="1500" dirty="0"/>
              <a:t> </a:t>
            </a:r>
            <a:r>
              <a:rPr lang="en-US" altLang="zh-CN" sz="1500" dirty="0" err="1"/>
              <a:t>pthread_attr_init</a:t>
            </a:r>
            <a:r>
              <a:rPr lang="en-US" altLang="zh-CN" sz="1500" dirty="0"/>
              <a:t>(</a:t>
            </a:r>
            <a:r>
              <a:rPr lang="en-US" altLang="zh-CN" sz="1500" dirty="0" err="1"/>
              <a:t>pthread_attr_t</a:t>
            </a:r>
            <a:r>
              <a:rPr lang="en-US" altLang="zh-CN" sz="1500" dirty="0"/>
              <a:t> *</a:t>
            </a:r>
            <a:r>
              <a:rPr lang="en-US" altLang="zh-CN" sz="1500" dirty="0" err="1"/>
              <a:t>attr</a:t>
            </a:r>
            <a:r>
              <a:rPr lang="en-US" altLang="zh-CN" sz="1500" dirty="0"/>
              <a:t>);</a:t>
            </a:r>
            <a:endParaRPr lang="en-US" altLang="zh-CN" sz="1500" dirty="0"/>
          </a:p>
          <a:p>
            <a:pPr lvl="1">
              <a:lnSpc>
                <a:spcPct val="130000"/>
              </a:lnSpc>
            </a:pPr>
            <a:r>
              <a:rPr lang="en-US" altLang="zh-CN" sz="1500" dirty="0" err="1"/>
              <a:t>int</a:t>
            </a:r>
            <a:r>
              <a:rPr lang="en-US" altLang="zh-CN" sz="1500" dirty="0"/>
              <a:t> </a:t>
            </a:r>
            <a:r>
              <a:rPr lang="en-US" altLang="zh-CN" sz="1500" dirty="0" err="1"/>
              <a:t>pthread_attr_destroy</a:t>
            </a:r>
            <a:r>
              <a:rPr lang="en-US" altLang="zh-CN" sz="1500" dirty="0"/>
              <a:t>(</a:t>
            </a:r>
            <a:r>
              <a:rPr lang="en-US" altLang="zh-CN" sz="1500" dirty="0" err="1"/>
              <a:t>pthread_attr_t</a:t>
            </a:r>
            <a:r>
              <a:rPr lang="en-US" altLang="zh-CN" sz="1500" dirty="0"/>
              <a:t> *</a:t>
            </a:r>
            <a:r>
              <a:rPr lang="en-US" altLang="zh-CN" sz="1500" dirty="0" err="1"/>
              <a:t>attr</a:t>
            </a:r>
            <a:r>
              <a:rPr lang="en-US" altLang="zh-CN" sz="1500" dirty="0"/>
              <a:t>);</a:t>
            </a:r>
            <a:endParaRPr lang="en-US" altLang="zh-CN" sz="1500" dirty="0"/>
          </a:p>
          <a:p>
            <a:pPr>
              <a:lnSpc>
                <a:spcPct val="130000"/>
              </a:lnSpc>
            </a:pPr>
            <a:r>
              <a:rPr lang="zh-CN" altLang="en-US" sz="1500" b="0" dirty="0">
                <a:latin typeface="+mj-ea"/>
                <a:ea typeface="+mj-ea"/>
              </a:rPr>
              <a:t>参数与返回值</a:t>
            </a:r>
            <a:endParaRPr lang="zh-CN" altLang="en-US" sz="1500" b="0" dirty="0">
              <a:latin typeface="+mj-ea"/>
              <a:ea typeface="+mj-ea"/>
            </a:endParaRPr>
          </a:p>
          <a:p>
            <a:pPr lvl="1">
              <a:lnSpc>
                <a:spcPct val="130000"/>
              </a:lnSpc>
            </a:pPr>
            <a:r>
              <a:rPr lang="zh-CN" altLang="en-US" sz="1500" dirty="0"/>
              <a:t>成功返回</a:t>
            </a:r>
            <a:r>
              <a:rPr lang="en-US" altLang="zh-CN" sz="1500" dirty="0"/>
              <a:t>0</a:t>
            </a:r>
            <a:r>
              <a:rPr lang="zh-CN" altLang="en-US" sz="1500" dirty="0"/>
              <a:t>，否则返回错误编号</a:t>
            </a:r>
            <a:endParaRPr lang="zh-CN" altLang="en-US" sz="1500" dirty="0"/>
          </a:p>
          <a:p>
            <a:pPr lvl="1">
              <a:lnSpc>
                <a:spcPct val="130000"/>
              </a:lnSpc>
            </a:pPr>
            <a:r>
              <a:rPr lang="en-US" altLang="zh-CN" sz="1500" dirty="0" err="1"/>
              <a:t>attr</a:t>
            </a:r>
            <a:r>
              <a:rPr lang="zh-CN" altLang="en-US" sz="1500" dirty="0"/>
              <a:t>：线程属性，确保</a:t>
            </a:r>
            <a:r>
              <a:rPr lang="en-US" altLang="zh-CN" sz="1500" dirty="0" err="1"/>
              <a:t>attr</a:t>
            </a:r>
            <a:r>
              <a:rPr lang="zh-CN" altLang="en-US" sz="1500" dirty="0"/>
              <a:t>指向的存储区域有效</a:t>
            </a:r>
            <a:endParaRPr lang="zh-CN" altLang="en-US" sz="1500" dirty="0"/>
          </a:p>
          <a:p>
            <a:pPr lvl="1">
              <a:lnSpc>
                <a:spcPct val="130000"/>
              </a:lnSpc>
            </a:pPr>
            <a:r>
              <a:rPr lang="zh-CN" altLang="en-US" sz="1500" dirty="0"/>
              <a:t>为了移植性，</a:t>
            </a:r>
            <a:r>
              <a:rPr lang="en-US" altLang="zh-CN" sz="1500" dirty="0" err="1"/>
              <a:t>pthread_attr_t</a:t>
            </a:r>
            <a:r>
              <a:rPr lang="zh-CN" altLang="en-US" sz="1500" dirty="0"/>
              <a:t>结构对应用程序是不可见的，应使用设置和查询等函数访问属性</a:t>
            </a:r>
            <a:endParaRPr lang="zh-CN" altLang="en-US" sz="1500" dirty="0"/>
          </a:p>
        </p:txBody>
      </p:sp>
      <p:sp>
        <p:nvSpPr>
          <p:cNvPr id="762882" name="Rectangle 2"/>
          <p:cNvSpPr>
            <a:spLocks noGrp="1" noChangeArrowheads="1"/>
          </p:cNvSpPr>
          <p:nvPr>
            <p:ph type="title"/>
          </p:nvPr>
        </p:nvSpPr>
        <p:spPr>
          <a:xfrm>
            <a:off x="3559313" y="1850171"/>
            <a:ext cx="1808339" cy="411956"/>
          </a:xfrm>
        </p:spPr>
        <p:txBody>
          <a:bodyPr/>
          <a:lstStyle/>
          <a:p>
            <a:pPr>
              <a:defRPr/>
            </a:pPr>
            <a:r>
              <a:rPr lang="zh-CN" altLang="en-US" dirty="0"/>
              <a:t>初始化和销毁</a:t>
            </a:r>
            <a:endParaRPr lang="zh-CN" altLang="en-US" dirty="0"/>
          </a:p>
        </p:txBody>
      </p:sp>
      <p:sp>
        <p:nvSpPr>
          <p:cNvPr id="182274" name="灯片编号占位符 5"/>
          <p:cNvSpPr>
            <a:spLocks noGrp="1"/>
          </p:cNvSpPr>
          <p:nvPr>
            <p:ph type="sldNum" sz="quarter" idx="4294967295"/>
          </p:nvPr>
        </p:nvSpPr>
        <p:spPr bwMode="auto">
          <a:xfrm>
            <a:off x="6057900" y="5541169"/>
            <a:ext cx="1600200" cy="3571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z="1050" smtClean="0"/>
            </a:fld>
            <a:endParaRPr lang="en-US" altLang="zh-CN" sz="1050"/>
          </a:p>
        </p:txBody>
      </p:sp>
      <p:sp>
        <p:nvSpPr>
          <p:cNvPr id="5" name="矩形 4"/>
          <p:cNvSpPr/>
          <p:nvPr/>
        </p:nvSpPr>
        <p:spPr>
          <a:xfrm>
            <a:off x="6553542" y="1116202"/>
            <a:ext cx="2355850" cy="414020"/>
          </a:xfrm>
          <a:prstGeom prst="rect">
            <a:avLst/>
          </a:prstGeom>
        </p:spPr>
        <p:txBody>
          <a:bodyPr wrap="none">
            <a:spAutoFit/>
          </a:bodyPr>
          <a:lstStyle/>
          <a:p>
            <a:pPr marL="114300" lvl="1">
              <a:spcBef>
                <a:spcPct val="20000"/>
              </a:spcBef>
              <a:defRPr/>
            </a:pPr>
            <a:r>
              <a:rPr kumimoji="1" lang="en-US" altLang="zh-CN" sz="2100" b="1" dirty="0">
                <a:solidFill>
                  <a:srgbClr val="002060"/>
                </a:solidFill>
                <a:latin typeface="微软雅黑" panose="020B0503020204020204" charset="-122"/>
                <a:ea typeface="微软雅黑" panose="020B0503020204020204" charset="-122"/>
              </a:rPr>
              <a:t>2.7.4</a:t>
            </a:r>
            <a:r>
              <a:rPr kumimoji="1" lang="zh-CN" altLang="en-US" sz="2100" b="1" dirty="0">
                <a:solidFill>
                  <a:srgbClr val="002060"/>
                </a:solidFill>
                <a:latin typeface="微软雅黑" panose="020B0503020204020204" charset="-122"/>
                <a:ea typeface="微软雅黑" panose="020B0503020204020204" charset="-122"/>
              </a:rPr>
              <a:t> 线程的属性</a:t>
            </a:r>
            <a:endParaRPr lang="en-US" altLang="zh-CN" sz="2100" b="1" kern="0" dirty="0">
              <a:solidFill>
                <a:srgbClr val="C00000"/>
              </a:solidFill>
              <a:latin typeface="微软雅黑" panose="020B0503020204020204" charset="-122"/>
              <a:ea typeface="微软雅黑" panose="020B0503020204020204" charset="-122"/>
            </a:endParaRPr>
          </a:p>
        </p:txBody>
      </p:sp>
      <p:sp>
        <p:nvSpPr>
          <p:cNvPr id="6"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3"/>
          <p:cNvSpPr>
            <a:spLocks noGrp="1" noChangeArrowheads="1"/>
          </p:cNvSpPr>
          <p:nvPr>
            <p:ph idx="1"/>
          </p:nvPr>
        </p:nvSpPr>
        <p:spPr>
          <a:xfrm>
            <a:off x="1192758" y="1733483"/>
            <a:ext cx="7402226" cy="4087385"/>
          </a:xfrm>
          <a:solidFill>
            <a:schemeClr val="bg1"/>
          </a:solidFill>
        </p:spPr>
        <p:txBody>
          <a:bodyPr/>
          <a:lstStyle/>
          <a:p>
            <a:pPr>
              <a:buNone/>
            </a:pPr>
            <a:r>
              <a:rPr lang="en-US" altLang="zh-CN" dirty="0"/>
              <a:t>int main(void) {</a:t>
            </a:r>
            <a:endParaRPr lang="en-US" altLang="zh-CN" dirty="0"/>
          </a:p>
          <a:p>
            <a:pPr lvl="1">
              <a:buFont typeface="Wingdings" panose="05000000000000000000" pitchFamily="2" charset="2"/>
              <a:buNone/>
            </a:pPr>
            <a:r>
              <a:rPr lang="en-US" altLang="zh-CN" sz="1350" dirty="0"/>
              <a:t>int ret;</a:t>
            </a:r>
            <a:endParaRPr lang="en-US" altLang="zh-CN" sz="1350" dirty="0"/>
          </a:p>
          <a:p>
            <a:pPr lvl="1">
              <a:buFont typeface="Wingdings" panose="05000000000000000000" pitchFamily="2" charset="2"/>
              <a:buNone/>
            </a:pPr>
            <a:r>
              <a:rPr lang="en-US" altLang="zh-CN" sz="1350" dirty="0" err="1"/>
              <a:t>pthread_t</a:t>
            </a:r>
            <a:r>
              <a:rPr lang="en-US" altLang="zh-CN" sz="1350" dirty="0"/>
              <a:t> </a:t>
            </a:r>
            <a:r>
              <a:rPr lang="en-US" altLang="zh-CN" sz="1350" dirty="0" err="1"/>
              <a:t>pid</a:t>
            </a:r>
            <a:r>
              <a:rPr lang="en-US" altLang="zh-CN" sz="1350" dirty="0"/>
              <a:t>;   /* </a:t>
            </a:r>
            <a:r>
              <a:rPr lang="zh-CN" altLang="en-US" sz="1350" dirty="0"/>
              <a:t>线程</a:t>
            </a:r>
            <a:r>
              <a:rPr lang="en-US" altLang="zh-CN" sz="1350" dirty="0"/>
              <a:t>ID */</a:t>
            </a:r>
            <a:endParaRPr lang="en-US" altLang="zh-CN" sz="1350" dirty="0"/>
          </a:p>
          <a:p>
            <a:pPr lvl="1">
              <a:buFont typeface="Wingdings" panose="05000000000000000000" pitchFamily="2" charset="2"/>
              <a:buNone/>
            </a:pPr>
            <a:r>
              <a:rPr lang="en-US" altLang="zh-CN" sz="1350" dirty="0" err="1">
                <a:solidFill>
                  <a:srgbClr val="0000CC"/>
                </a:solidFill>
              </a:rPr>
              <a:t>pthread_attr_t</a:t>
            </a:r>
            <a:r>
              <a:rPr lang="en-US" altLang="zh-CN" sz="1350" dirty="0">
                <a:solidFill>
                  <a:srgbClr val="0000CC"/>
                </a:solidFill>
              </a:rPr>
              <a:t> </a:t>
            </a:r>
            <a:r>
              <a:rPr lang="en-US" altLang="zh-CN" sz="1350" dirty="0" err="1">
                <a:solidFill>
                  <a:srgbClr val="0000CC"/>
                </a:solidFill>
                <a:highlight>
                  <a:srgbClr val="FFFF00"/>
                </a:highlight>
              </a:rPr>
              <a:t>pattr</a:t>
            </a:r>
            <a:r>
              <a:rPr lang="en-US" altLang="zh-CN" sz="1350" dirty="0"/>
              <a:t>;  /* </a:t>
            </a:r>
            <a:r>
              <a:rPr lang="zh-CN" altLang="en-US" sz="1350" dirty="0"/>
              <a:t>线程属性结构体 *</a:t>
            </a:r>
            <a:r>
              <a:rPr lang="en-US" altLang="zh-CN" sz="1350" dirty="0"/>
              <a:t>/</a:t>
            </a:r>
            <a:endParaRPr lang="en-US" altLang="zh-CN" sz="1350" dirty="0"/>
          </a:p>
          <a:p>
            <a:pPr lvl="1">
              <a:buFont typeface="Wingdings" panose="05000000000000000000" pitchFamily="2" charset="2"/>
              <a:buNone/>
            </a:pPr>
            <a:r>
              <a:rPr lang="en-US" altLang="zh-CN" sz="1350" dirty="0"/>
              <a:t>struct </a:t>
            </a:r>
            <a:r>
              <a:rPr lang="en-US" altLang="zh-CN" sz="1350" dirty="0" err="1"/>
              <a:t>sched_param</a:t>
            </a:r>
            <a:r>
              <a:rPr lang="en-US" altLang="zh-CN" sz="1350" dirty="0"/>
              <a:t> param; /* </a:t>
            </a:r>
            <a:r>
              <a:rPr lang="zh-CN" altLang="en-US" sz="1350" dirty="0"/>
              <a:t>线程优先级结构体 *</a:t>
            </a:r>
            <a:r>
              <a:rPr lang="en-US" altLang="zh-CN" sz="1350" dirty="0"/>
              <a:t>/ </a:t>
            </a:r>
            <a:endParaRPr lang="en-US" altLang="zh-CN" sz="1350" dirty="0"/>
          </a:p>
          <a:p>
            <a:pPr lvl="1">
              <a:lnSpc>
                <a:spcPts val="1800"/>
              </a:lnSpc>
              <a:spcBef>
                <a:spcPts val="0"/>
              </a:spcBef>
              <a:buNone/>
            </a:pPr>
            <a:endParaRPr lang="en-US" altLang="zh-CN" sz="1350" dirty="0"/>
          </a:p>
          <a:p>
            <a:pPr lvl="1">
              <a:lnSpc>
                <a:spcPts val="1800"/>
              </a:lnSpc>
              <a:spcBef>
                <a:spcPts val="0"/>
              </a:spcBef>
              <a:buNone/>
            </a:pPr>
            <a:r>
              <a:rPr lang="en-US" altLang="zh-CN" sz="1350" dirty="0" err="1">
                <a:solidFill>
                  <a:srgbClr val="0000CC"/>
                </a:solidFill>
              </a:rPr>
              <a:t>pthread_attr_init</a:t>
            </a:r>
            <a:r>
              <a:rPr lang="en-US" altLang="zh-CN" sz="1350" dirty="0">
                <a:highlight>
                  <a:srgbClr val="FFFF00"/>
                </a:highlight>
              </a:rPr>
              <a:t>(&amp;</a:t>
            </a:r>
            <a:r>
              <a:rPr lang="en-US" altLang="zh-CN" sz="1350" dirty="0" err="1">
                <a:highlight>
                  <a:srgbClr val="FFFF00"/>
                </a:highlight>
              </a:rPr>
              <a:t>pattr</a:t>
            </a:r>
            <a:r>
              <a:rPr lang="en-US" altLang="zh-CN" sz="1350" dirty="0"/>
              <a:t>);  /* </a:t>
            </a:r>
            <a:r>
              <a:rPr lang="zh-CN" altLang="en-US" sz="1350" dirty="0"/>
              <a:t>初始化线程属性对象，这时是默认值 *</a:t>
            </a:r>
            <a:r>
              <a:rPr lang="en-US" altLang="zh-CN" sz="1350" dirty="0"/>
              <a:t>/ </a:t>
            </a:r>
            <a:endParaRPr lang="en-US" altLang="zh-CN" sz="1350" dirty="0"/>
          </a:p>
          <a:p>
            <a:pPr lvl="1">
              <a:buFont typeface="Wingdings" panose="05000000000000000000" pitchFamily="2" charset="2"/>
              <a:buNone/>
            </a:pPr>
            <a:r>
              <a:rPr lang="en-US" altLang="zh-CN" sz="1350" dirty="0" err="1"/>
              <a:t>pthread_attr_setscope</a:t>
            </a:r>
            <a:r>
              <a:rPr lang="en-US" altLang="zh-CN" sz="1350" dirty="0"/>
              <a:t>(&amp;</a:t>
            </a:r>
            <a:r>
              <a:rPr lang="en-US" altLang="zh-CN" sz="1350" dirty="0" err="1"/>
              <a:t>pattr</a:t>
            </a:r>
            <a:r>
              <a:rPr lang="en-US" altLang="zh-CN" sz="1350" dirty="0"/>
              <a:t>, PTHREAD_SCOPE_SYSTEM); /* </a:t>
            </a:r>
            <a:r>
              <a:rPr lang="zh-CN" altLang="en-US" sz="1350" dirty="0"/>
              <a:t>设置线程绑定 *</a:t>
            </a:r>
            <a:r>
              <a:rPr lang="en-US" altLang="zh-CN" sz="1350" dirty="0"/>
              <a:t>/</a:t>
            </a:r>
            <a:endParaRPr lang="en-US" altLang="zh-CN" sz="1350" dirty="0"/>
          </a:p>
          <a:p>
            <a:pPr lvl="1">
              <a:buFont typeface="Wingdings" panose="05000000000000000000" pitchFamily="2" charset="2"/>
              <a:buNone/>
            </a:pPr>
            <a:r>
              <a:rPr lang="en-US" altLang="zh-CN" sz="1350" dirty="0" err="1"/>
              <a:t>pthread_attr_getschedparam</a:t>
            </a:r>
            <a:r>
              <a:rPr lang="en-US" altLang="zh-CN" sz="1350" dirty="0"/>
              <a:t>(&amp;</a:t>
            </a:r>
            <a:r>
              <a:rPr lang="en-US" altLang="zh-CN" sz="1350" dirty="0" err="1"/>
              <a:t>pattr</a:t>
            </a:r>
            <a:r>
              <a:rPr lang="en-US" altLang="zh-CN" sz="1350" dirty="0"/>
              <a:t>, &amp;param); /* </a:t>
            </a:r>
            <a:r>
              <a:rPr lang="zh-CN" altLang="en-US" sz="1350" dirty="0"/>
              <a:t>修改线程优先级 *</a:t>
            </a:r>
            <a:r>
              <a:rPr lang="en-US" altLang="zh-CN" sz="1350" dirty="0"/>
              <a:t>/</a:t>
            </a:r>
            <a:endParaRPr lang="en-US" altLang="zh-CN" sz="1350" dirty="0"/>
          </a:p>
          <a:p>
            <a:pPr lvl="1">
              <a:buFont typeface="Wingdings" panose="05000000000000000000" pitchFamily="2" charset="2"/>
              <a:buNone/>
            </a:pPr>
            <a:r>
              <a:rPr lang="en-US" altLang="zh-CN" sz="1350" dirty="0" err="1"/>
              <a:t>param.sched_priority</a:t>
            </a:r>
            <a:r>
              <a:rPr lang="en-US" altLang="zh-CN" sz="1350" dirty="0"/>
              <a:t> = 20;</a:t>
            </a:r>
            <a:endParaRPr lang="en-US" altLang="zh-CN" sz="1350" dirty="0"/>
          </a:p>
          <a:p>
            <a:pPr lvl="1">
              <a:buFont typeface="Wingdings" panose="05000000000000000000" pitchFamily="2" charset="2"/>
              <a:buNone/>
            </a:pPr>
            <a:r>
              <a:rPr lang="en-US" altLang="zh-CN" sz="1350" dirty="0" err="1"/>
              <a:t>pthread_attr_setschedparam</a:t>
            </a:r>
            <a:r>
              <a:rPr lang="en-US" altLang="zh-CN" sz="1350" dirty="0"/>
              <a:t>(&amp;</a:t>
            </a:r>
            <a:r>
              <a:rPr lang="en-US" altLang="zh-CN" sz="1350" dirty="0" err="1"/>
              <a:t>pattr</a:t>
            </a:r>
            <a:r>
              <a:rPr lang="en-US" altLang="zh-CN" sz="1350" dirty="0"/>
              <a:t>, &amp;param);</a:t>
            </a:r>
            <a:endParaRPr lang="en-US" altLang="zh-CN" sz="1350" dirty="0"/>
          </a:p>
          <a:p>
            <a:pPr lvl="1">
              <a:buFont typeface="Wingdings" panose="05000000000000000000" pitchFamily="2" charset="2"/>
              <a:buNone/>
            </a:pPr>
            <a:r>
              <a:rPr lang="en-US" altLang="zh-CN" sz="1350" dirty="0"/>
              <a:t>/* </a:t>
            </a:r>
            <a:r>
              <a:rPr lang="zh-CN" altLang="en-US" sz="1350" dirty="0"/>
              <a:t>使用设置好的线程属性来创建一个新的线程 *</a:t>
            </a:r>
            <a:r>
              <a:rPr lang="en-US" altLang="zh-CN" sz="1350" dirty="0"/>
              <a:t>/</a:t>
            </a:r>
            <a:endParaRPr lang="en-US" altLang="zh-CN" sz="1350" dirty="0"/>
          </a:p>
          <a:p>
            <a:pPr lvl="1">
              <a:buFont typeface="Wingdings" panose="05000000000000000000" pitchFamily="2" charset="2"/>
              <a:buNone/>
            </a:pPr>
            <a:r>
              <a:rPr lang="en-US" altLang="zh-CN" sz="1350" dirty="0"/>
              <a:t>ret = </a:t>
            </a:r>
            <a:r>
              <a:rPr lang="en-US" altLang="zh-CN" sz="1350" dirty="0" err="1"/>
              <a:t>pthread_create</a:t>
            </a:r>
            <a:r>
              <a:rPr lang="en-US" altLang="zh-CN" sz="1350" dirty="0"/>
              <a:t>(&amp;</a:t>
            </a:r>
            <a:r>
              <a:rPr lang="en-US" altLang="zh-CN" sz="1350" dirty="0" err="1"/>
              <a:t>pid</a:t>
            </a:r>
            <a:r>
              <a:rPr lang="en-US" altLang="zh-CN" sz="1350" dirty="0"/>
              <a:t>, </a:t>
            </a:r>
            <a:r>
              <a:rPr lang="en-US" altLang="zh-CN" sz="1350" dirty="0">
                <a:highlight>
                  <a:srgbClr val="FFFF00"/>
                </a:highlight>
              </a:rPr>
              <a:t>&amp;</a:t>
            </a:r>
            <a:r>
              <a:rPr lang="en-US" altLang="zh-CN" sz="1350" dirty="0" err="1">
                <a:highlight>
                  <a:srgbClr val="FFFF00"/>
                </a:highlight>
              </a:rPr>
              <a:t>pattr</a:t>
            </a:r>
            <a:r>
              <a:rPr lang="en-US" altLang="zh-CN" sz="1350" dirty="0"/>
              <a:t>, (void *)thread, NULL);</a:t>
            </a:r>
            <a:endParaRPr lang="en-US" altLang="zh-CN" sz="1350" dirty="0"/>
          </a:p>
          <a:p>
            <a:pPr lvl="1">
              <a:buFont typeface="Wingdings" panose="05000000000000000000" pitchFamily="2" charset="2"/>
              <a:buNone/>
            </a:pPr>
            <a:r>
              <a:rPr lang="en-US" altLang="zh-CN" sz="1350" dirty="0"/>
              <a:t>……</a:t>
            </a:r>
            <a:endParaRPr lang="en-US" altLang="zh-CN" sz="1350" dirty="0"/>
          </a:p>
        </p:txBody>
      </p:sp>
      <p:sp>
        <p:nvSpPr>
          <p:cNvPr id="768002" name="Rectangle 2"/>
          <p:cNvSpPr>
            <a:spLocks noGrp="1" noChangeArrowheads="1"/>
          </p:cNvSpPr>
          <p:nvPr>
            <p:ph type="title"/>
          </p:nvPr>
        </p:nvSpPr>
        <p:spPr/>
        <p:txBody>
          <a:bodyPr/>
          <a:lstStyle/>
          <a:p>
            <a:pPr>
              <a:defRPr/>
            </a:pPr>
            <a:r>
              <a:rPr lang="zh-CN" altLang="en-US"/>
              <a:t>线程属性操作示例代码</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41353" name="Group 169"/>
          <p:cNvGraphicFramePr>
            <a:graphicFrameLocks noGrp="1"/>
          </p:cNvGraphicFramePr>
          <p:nvPr>
            <p:ph idx="1"/>
          </p:nvPr>
        </p:nvGraphicFramePr>
        <p:xfrm>
          <a:off x="1528763" y="1840707"/>
          <a:ext cx="6206490" cy="3392805"/>
        </p:xfrm>
        <a:graphic>
          <a:graphicData uri="http://schemas.openxmlformats.org/drawingml/2006/table">
            <a:tbl>
              <a:tblPr/>
              <a:tblGrid>
                <a:gridCol w="1047115"/>
                <a:gridCol w="2415540"/>
                <a:gridCol w="2743835"/>
              </a:tblGrid>
              <a:tr h="280035">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dirty="0">
                          <a:ln>
                            <a:noFill/>
                          </a:ln>
                          <a:solidFill>
                            <a:schemeClr val="tx1"/>
                          </a:solidFill>
                          <a:effectLst/>
                          <a:latin typeface="+mj-ea"/>
                          <a:ea typeface="+mj-ea"/>
                          <a:cs typeface="Times New Roman" panose="02020603050405020304" pitchFamily="18" charset="0"/>
                        </a:rPr>
                        <a:t>属性</a:t>
                      </a:r>
                      <a:endParaRPr kumimoji="1" lang="zh-CN" altLang="en-US" sz="12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rPr>
                        <a:t>缺省值</a:t>
                      </a:r>
                      <a:endPar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rPr>
                        <a:t>描述</a:t>
                      </a:r>
                      <a:endPar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5135">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scope</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dirty="0">
                          <a:ln>
                            <a:noFill/>
                          </a:ln>
                          <a:solidFill>
                            <a:schemeClr val="tx1"/>
                          </a:solidFill>
                          <a:effectLst/>
                          <a:latin typeface="+mj-ea"/>
                          <a:ea typeface="+mj-ea"/>
                          <a:cs typeface="Times New Roman" panose="02020603050405020304" pitchFamily="18" charset="0"/>
                        </a:rPr>
                        <a:t>PTHREAD_SCOPE_PROCESS</a:t>
                      </a:r>
                      <a:endParaRPr kumimoji="1" lang="en-US" altLang="zh-CN" sz="12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rPr>
                        <a:t>新线程与进程中的其他线程发生竞争</a:t>
                      </a:r>
                      <a:endPar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3865">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detachstate</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PTHREAD_CREATE_JOINABLE</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rPr>
                        <a:t>线程可以被其它线程等待</a:t>
                      </a:r>
                      <a:endPar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5135">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stackaddr</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NULL</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rPr>
                        <a:t>新线程具有系统分配的栈地址</a:t>
                      </a:r>
                      <a:endPar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4500">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stacksize</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dirty="0">
                          <a:ln>
                            <a:noFill/>
                          </a:ln>
                          <a:solidFill>
                            <a:schemeClr val="tx1"/>
                          </a:solidFill>
                          <a:effectLst/>
                          <a:latin typeface="+mj-ea"/>
                          <a:ea typeface="+mj-ea"/>
                          <a:cs typeface="Times New Roman" panose="02020603050405020304" pitchFamily="18" charset="0"/>
                        </a:rPr>
                        <a:t>0</a:t>
                      </a:r>
                      <a:endParaRPr kumimoji="1" lang="en-US" altLang="zh-CN" sz="12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rPr>
                        <a:t>新线程具有系统定义的栈大小</a:t>
                      </a:r>
                      <a:endPar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5135">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priority</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0</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rPr>
                        <a:t>新线程的优先级为</a:t>
                      </a: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0</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3865">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inheritsched</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PTHREAD_EXPLICIT_SCHED</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rPr>
                        <a:t>新线程不继承父线程调度优先级</a:t>
                      </a:r>
                      <a:endParaRPr kumimoji="1" lang="zh-CN" altLang="en-US"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5135">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schedpolicy</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rPr>
                        <a:t>SCHED_OTHER</a:t>
                      </a:r>
                      <a:endParaRPr kumimoji="1" lang="en-US" altLang="zh-CN" sz="1200" b="0" i="0" u="none" strike="noStrike" cap="none" normalizeH="0" baseline="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anose="05000000000000000000" pitchFamily="2" charset="2"/>
                        <a:defRPr sz="2400" b="1">
                          <a:solidFill>
                            <a:schemeClr val="tx1"/>
                          </a:solidFill>
                          <a:latin typeface="Arial" panose="020B0604020202020204" pitchFamily="34" charset="0"/>
                          <a:ea typeface="黑体" panose="02010609060101010101" pitchFamily="2" charset="-122"/>
                        </a:defRPr>
                      </a:lvl1pPr>
                      <a:lvl2pPr marL="742950" indent="-285750" defTabSz="904875" eaLnBrk="0" hangingPunct="0">
                        <a:spcBef>
                          <a:spcPct val="30000"/>
                        </a:spcBef>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defTabSz="904875" eaLnBrk="0" hangingPunct="0">
                        <a:spcBef>
                          <a:spcPct val="20000"/>
                        </a:spcBef>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defTabSz="904875" eaLnBrk="0" hangingPunct="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defTabSz="904875" eaLnBrk="0" fontAlgn="base" hangingPunct="0">
                        <a:spcBef>
                          <a:spcPct val="20000"/>
                        </a:spcBef>
                        <a:spcAft>
                          <a:spcPct val="0"/>
                        </a:spcAft>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dirty="0">
                          <a:ln>
                            <a:noFill/>
                          </a:ln>
                          <a:solidFill>
                            <a:schemeClr val="tx1"/>
                          </a:solidFill>
                          <a:effectLst/>
                          <a:latin typeface="+mj-ea"/>
                          <a:ea typeface="+mj-ea"/>
                          <a:cs typeface="Times New Roman" panose="02020603050405020304" pitchFamily="18" charset="0"/>
                        </a:rPr>
                        <a:t>新线程使用优先级调用策略</a:t>
                      </a:r>
                      <a:endParaRPr kumimoji="1" lang="zh-CN" altLang="en-US" sz="12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141186" name="Rectangle 2"/>
          <p:cNvSpPr>
            <a:spLocks noGrp="1" noChangeArrowheads="1"/>
          </p:cNvSpPr>
          <p:nvPr>
            <p:ph type="title"/>
          </p:nvPr>
        </p:nvSpPr>
        <p:spPr/>
        <p:txBody>
          <a:bodyPr/>
          <a:lstStyle/>
          <a:p>
            <a:pPr>
              <a:defRPr/>
            </a:pPr>
            <a:r>
              <a:rPr lang="zh-CN" altLang="en-US" dirty="0"/>
              <a:t>初始化线程属性对象 </a:t>
            </a:r>
            <a:endParaRPr lang="zh-CN" altLang="en-US" dirty="0"/>
          </a:p>
        </p:txBody>
      </p:sp>
      <p:sp>
        <p:nvSpPr>
          <p:cNvPr id="184323" name="灯片编号占位符 6"/>
          <p:cNvSpPr>
            <a:spLocks noGrp="1"/>
          </p:cNvSpPr>
          <p:nvPr>
            <p:ph type="sldNum" sz="quarter" idx="4294967295"/>
          </p:nvPr>
        </p:nvSpPr>
        <p:spPr bwMode="auto">
          <a:xfrm>
            <a:off x="6057900" y="5541169"/>
            <a:ext cx="1600200" cy="357188"/>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z="1050" smtClean="0"/>
            </a:fld>
            <a:endParaRPr lang="en-US" altLang="zh-CN" sz="105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Rectangle 3"/>
          <p:cNvSpPr>
            <a:spLocks noGrp="1" noChangeArrowheads="1"/>
          </p:cNvSpPr>
          <p:nvPr>
            <p:ph idx="1"/>
          </p:nvPr>
        </p:nvSpPr>
        <p:spPr>
          <a:xfrm>
            <a:off x="1545402" y="2614607"/>
            <a:ext cx="6058490" cy="3177954"/>
          </a:xfrm>
        </p:spPr>
        <p:txBody>
          <a:bodyPr/>
          <a:lstStyle/>
          <a:p>
            <a:r>
              <a:rPr lang="zh-CN" altLang="en-US" dirty="0">
                <a:latin typeface="+mj-ea"/>
                <a:ea typeface="+mj-ea"/>
              </a:rPr>
              <a:t>函数原型</a:t>
            </a:r>
            <a:endParaRPr lang="zh-CN" altLang="en-US" dirty="0">
              <a:latin typeface="+mj-ea"/>
              <a:ea typeface="+mj-ea"/>
            </a:endParaRPr>
          </a:p>
          <a:p>
            <a:pPr marL="205740" lvl="1" indent="0">
              <a:buNone/>
            </a:pPr>
            <a:r>
              <a:rPr lang="en-US" altLang="zh-CN" sz="1800" b="0" dirty="0">
                <a:latin typeface="+mj-ea"/>
                <a:ea typeface="+mj-ea"/>
              </a:rPr>
              <a:t>#include&lt;pthread.h&gt;</a:t>
            </a:r>
            <a:endParaRPr lang="en-US" altLang="zh-CN" sz="1800" b="0" dirty="0">
              <a:latin typeface="+mj-ea"/>
              <a:ea typeface="+mj-ea"/>
            </a:endParaRPr>
          </a:p>
          <a:p>
            <a:pPr marL="205740" lvl="1" indent="0">
              <a:buNone/>
            </a:pPr>
            <a:r>
              <a:rPr lang="en-US" altLang="zh-CN" sz="1800" b="0" dirty="0" err="1">
                <a:latin typeface="+mj-ea"/>
                <a:ea typeface="+mj-ea"/>
              </a:rPr>
              <a:t>int</a:t>
            </a:r>
            <a:r>
              <a:rPr lang="en-US" altLang="zh-CN" sz="1800" b="0" dirty="0">
                <a:latin typeface="+mj-ea"/>
                <a:ea typeface="+mj-ea"/>
              </a:rPr>
              <a:t> </a:t>
            </a:r>
            <a:r>
              <a:rPr lang="en-US" altLang="zh-CN" sz="1800" dirty="0" err="1">
                <a:solidFill>
                  <a:srgbClr val="0000CC"/>
                </a:solidFill>
                <a:latin typeface="+mj-ea"/>
                <a:ea typeface="+mj-ea"/>
              </a:rPr>
              <a:t>pthread_attr_getstack</a:t>
            </a:r>
            <a:r>
              <a:rPr lang="en-US" altLang="zh-CN" sz="1800" b="0" dirty="0">
                <a:latin typeface="+mj-ea"/>
                <a:ea typeface="+mj-ea"/>
              </a:rPr>
              <a:t>(</a:t>
            </a:r>
            <a:endParaRPr lang="en-US" altLang="zh-CN" sz="1800" b="0" dirty="0">
              <a:latin typeface="+mj-ea"/>
              <a:ea typeface="+mj-ea"/>
            </a:endParaRPr>
          </a:p>
          <a:p>
            <a:pPr marL="205740" lvl="1" indent="0">
              <a:buNone/>
            </a:pPr>
            <a:r>
              <a:rPr lang="en-US" altLang="zh-CN" sz="1800" b="0" dirty="0">
                <a:latin typeface="+mj-ea"/>
                <a:ea typeface="+mj-ea"/>
              </a:rPr>
              <a:t>         </a:t>
            </a:r>
            <a:r>
              <a:rPr lang="en-US" altLang="zh-CN" sz="1800" b="0" dirty="0" err="1">
                <a:latin typeface="+mj-ea"/>
                <a:ea typeface="+mj-ea"/>
              </a:rPr>
              <a:t>const</a:t>
            </a:r>
            <a:r>
              <a:rPr lang="zh-CN" altLang="en-US" sz="1800" b="0" dirty="0">
                <a:latin typeface="+mj-ea"/>
                <a:ea typeface="+mj-ea"/>
              </a:rPr>
              <a:t> </a:t>
            </a:r>
            <a:r>
              <a:rPr lang="en-US" altLang="zh-CN" sz="1800" b="0" dirty="0">
                <a:latin typeface="+mj-ea"/>
                <a:ea typeface="+mj-ea"/>
              </a:rPr>
              <a:t> </a:t>
            </a:r>
            <a:r>
              <a:rPr lang="en-US" altLang="zh-CN" sz="1800" b="0" dirty="0" err="1">
                <a:latin typeface="+mj-ea"/>
                <a:ea typeface="+mj-ea"/>
              </a:rPr>
              <a:t>pthread_attr_t</a:t>
            </a:r>
            <a:r>
              <a:rPr lang="en-US" altLang="zh-CN" sz="1800" b="0" dirty="0">
                <a:latin typeface="+mj-ea"/>
                <a:ea typeface="+mj-ea"/>
              </a:rPr>
              <a:t> </a:t>
            </a:r>
            <a:r>
              <a:rPr lang="zh-CN" altLang="en-US" sz="1800" b="0" dirty="0">
                <a:latin typeface="+mj-ea"/>
                <a:ea typeface="+mj-ea"/>
              </a:rPr>
              <a:t> </a:t>
            </a:r>
            <a:r>
              <a:rPr lang="en-US" altLang="zh-CN" sz="1800" b="0" dirty="0">
                <a:latin typeface="+mj-ea"/>
                <a:ea typeface="+mj-ea"/>
              </a:rPr>
              <a:t>*</a:t>
            </a:r>
            <a:r>
              <a:rPr lang="en-US" altLang="zh-CN" sz="1800" b="0" dirty="0" err="1">
                <a:latin typeface="+mj-ea"/>
                <a:ea typeface="+mj-ea"/>
              </a:rPr>
              <a:t>attr</a:t>
            </a:r>
            <a:r>
              <a:rPr lang="en-US" altLang="zh-CN" sz="1800" b="0" dirty="0">
                <a:latin typeface="+mj-ea"/>
                <a:ea typeface="+mj-ea"/>
              </a:rPr>
              <a:t>,</a:t>
            </a:r>
            <a:endParaRPr lang="en-US" altLang="zh-CN" sz="1800" b="0" dirty="0">
              <a:latin typeface="+mj-ea"/>
              <a:ea typeface="+mj-ea"/>
            </a:endParaRPr>
          </a:p>
          <a:p>
            <a:pPr marL="205740" lvl="1" indent="0">
              <a:buNone/>
            </a:pPr>
            <a:r>
              <a:rPr lang="en-US" altLang="zh-CN" sz="1800" b="0" dirty="0">
                <a:latin typeface="+mj-ea"/>
                <a:ea typeface="+mj-ea"/>
              </a:rPr>
              <a:t>          void </a:t>
            </a:r>
            <a:r>
              <a:rPr lang="zh-CN" altLang="en-US" sz="1800" b="0" dirty="0">
                <a:latin typeface="+mj-ea"/>
                <a:ea typeface="+mj-ea"/>
              </a:rPr>
              <a:t>  </a:t>
            </a:r>
            <a:r>
              <a:rPr lang="en-US" altLang="zh-CN" sz="1800" b="0" dirty="0">
                <a:latin typeface="+mj-ea"/>
                <a:ea typeface="+mj-ea"/>
              </a:rPr>
              <a:t>**</a:t>
            </a:r>
            <a:r>
              <a:rPr lang="en-US" altLang="zh-CN" sz="1800" b="0" dirty="0" err="1">
                <a:latin typeface="+mj-ea"/>
                <a:ea typeface="+mj-ea"/>
              </a:rPr>
              <a:t>stackaddr</a:t>
            </a:r>
            <a:r>
              <a:rPr lang="en-US" altLang="zh-CN" sz="1800" b="0" dirty="0">
                <a:latin typeface="+mj-ea"/>
                <a:ea typeface="+mj-ea"/>
              </a:rPr>
              <a:t>, </a:t>
            </a:r>
            <a:r>
              <a:rPr lang="zh-CN" altLang="en-US" sz="1800" b="0" dirty="0">
                <a:latin typeface="+mj-ea"/>
                <a:ea typeface="+mj-ea"/>
              </a:rPr>
              <a:t>  </a:t>
            </a:r>
            <a:r>
              <a:rPr lang="en-US" altLang="zh-CN" sz="1800" b="0" dirty="0" err="1">
                <a:latin typeface="+mj-ea"/>
                <a:ea typeface="+mj-ea"/>
              </a:rPr>
              <a:t>size_t</a:t>
            </a:r>
            <a:r>
              <a:rPr lang="en-US" altLang="zh-CN" sz="1800" b="0" dirty="0">
                <a:latin typeface="+mj-ea"/>
                <a:ea typeface="+mj-ea"/>
              </a:rPr>
              <a:t> </a:t>
            </a:r>
            <a:r>
              <a:rPr lang="zh-CN" altLang="en-US" sz="1800" b="0" dirty="0">
                <a:latin typeface="+mj-ea"/>
                <a:ea typeface="+mj-ea"/>
              </a:rPr>
              <a:t>  </a:t>
            </a:r>
            <a:r>
              <a:rPr lang="en-US" altLang="zh-CN" sz="1800" b="0" dirty="0">
                <a:latin typeface="+mj-ea"/>
                <a:ea typeface="+mj-ea"/>
              </a:rPr>
              <a:t>*</a:t>
            </a:r>
            <a:r>
              <a:rPr lang="en-US" altLang="zh-CN" sz="1800" b="0" dirty="0" err="1">
                <a:latin typeface="+mj-ea"/>
                <a:ea typeface="+mj-ea"/>
              </a:rPr>
              <a:t>stacksize</a:t>
            </a:r>
            <a:r>
              <a:rPr lang="en-US" altLang="zh-CN" sz="1800" b="0" dirty="0">
                <a:latin typeface="+mj-ea"/>
                <a:ea typeface="+mj-ea"/>
              </a:rPr>
              <a:t>);</a:t>
            </a:r>
            <a:endParaRPr lang="en-US" altLang="zh-CN" sz="1800" b="0" dirty="0">
              <a:latin typeface="+mj-ea"/>
              <a:ea typeface="+mj-ea"/>
            </a:endParaRPr>
          </a:p>
          <a:p>
            <a:endParaRPr lang="en-US" altLang="zh-CN" dirty="0">
              <a:latin typeface="+mj-ea"/>
              <a:ea typeface="+mj-ea"/>
            </a:endParaRPr>
          </a:p>
          <a:p>
            <a:r>
              <a:rPr lang="zh-CN" altLang="en-US" dirty="0">
                <a:latin typeface="+mj-ea"/>
                <a:ea typeface="+mj-ea"/>
              </a:rPr>
              <a:t>返回值</a:t>
            </a:r>
            <a:endParaRPr lang="zh-CN" altLang="en-US" dirty="0">
              <a:latin typeface="+mj-ea"/>
              <a:ea typeface="+mj-ea"/>
            </a:endParaRPr>
          </a:p>
          <a:p>
            <a:pPr marL="205740" lvl="1" indent="0">
              <a:buNone/>
            </a:pPr>
            <a:r>
              <a:rPr lang="zh-CN" altLang="en-US" sz="1800" b="0" dirty="0">
                <a:latin typeface="+mj-ea"/>
                <a:ea typeface="+mj-ea"/>
              </a:rPr>
              <a:t>成功返回</a:t>
            </a:r>
            <a:r>
              <a:rPr lang="en-US" altLang="zh-CN" sz="1800" b="0" dirty="0">
                <a:latin typeface="+mj-ea"/>
                <a:ea typeface="+mj-ea"/>
              </a:rPr>
              <a:t>0</a:t>
            </a:r>
            <a:r>
              <a:rPr lang="zh-CN" altLang="en-US" sz="1800" b="0" dirty="0">
                <a:latin typeface="+mj-ea"/>
                <a:ea typeface="+mj-ea"/>
              </a:rPr>
              <a:t>，否则返回错误编号</a:t>
            </a:r>
            <a:endParaRPr lang="zh-CN" altLang="en-US" sz="1800" b="0" dirty="0">
              <a:latin typeface="+mj-ea"/>
              <a:ea typeface="+mj-ea"/>
            </a:endParaRPr>
          </a:p>
        </p:txBody>
      </p:sp>
      <p:sp>
        <p:nvSpPr>
          <p:cNvPr id="770050" name="Rectangle 2"/>
          <p:cNvSpPr>
            <a:spLocks noGrp="1" noChangeArrowheads="1"/>
          </p:cNvSpPr>
          <p:nvPr>
            <p:ph type="title"/>
          </p:nvPr>
        </p:nvSpPr>
        <p:spPr>
          <a:xfrm>
            <a:off x="1389971" y="1911295"/>
            <a:ext cx="6557963" cy="411956"/>
          </a:xfrm>
        </p:spPr>
        <p:txBody>
          <a:bodyPr/>
          <a:lstStyle/>
          <a:p>
            <a:pPr>
              <a:defRPr/>
            </a:pPr>
            <a:r>
              <a:rPr lang="zh-CN" altLang="en-US" dirty="0"/>
              <a:t>获取线程栈属性</a:t>
            </a:r>
            <a:endParaRPr lang="zh-CN" altLang="en-US" dirty="0"/>
          </a:p>
        </p:txBody>
      </p:sp>
      <p:sp>
        <p:nvSpPr>
          <p:cNvPr id="2" name="矩形标注 1"/>
          <p:cNvSpPr/>
          <p:nvPr/>
        </p:nvSpPr>
        <p:spPr>
          <a:xfrm>
            <a:off x="5651000" y="3104471"/>
            <a:ext cx="1385048" cy="477371"/>
          </a:xfrm>
          <a:prstGeom prst="wedgeRectCallout">
            <a:avLst>
              <a:gd name="adj1" fmla="val -75688"/>
              <a:gd name="adj2" fmla="val 1005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 dirty="0"/>
              <a:t>线程属性</a:t>
            </a:r>
            <a:endParaRPr kumimoji="1" lang="zh-CN" altLang="en-US" sz="100" dirty="0"/>
          </a:p>
        </p:txBody>
      </p:sp>
      <p:sp>
        <p:nvSpPr>
          <p:cNvPr id="6" name="矩形标注 5"/>
          <p:cNvSpPr/>
          <p:nvPr/>
        </p:nvSpPr>
        <p:spPr>
          <a:xfrm>
            <a:off x="4208104" y="4691224"/>
            <a:ext cx="1385048" cy="477371"/>
          </a:xfrm>
          <a:prstGeom prst="wedgeRectCallout">
            <a:avLst>
              <a:gd name="adj1" fmla="val -57241"/>
              <a:gd name="adj2" fmla="val -1163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 dirty="0"/>
              <a:t>线程堆栈的最低地址</a:t>
            </a:r>
            <a:endParaRPr kumimoji="1" lang="zh-CN" altLang="en-US" sz="100" dirty="0"/>
          </a:p>
        </p:txBody>
      </p:sp>
      <p:sp>
        <p:nvSpPr>
          <p:cNvPr id="7" name="矩形标注 6"/>
          <p:cNvSpPr/>
          <p:nvPr/>
        </p:nvSpPr>
        <p:spPr>
          <a:xfrm>
            <a:off x="5942774" y="4691224"/>
            <a:ext cx="1385048" cy="477371"/>
          </a:xfrm>
          <a:prstGeom prst="wedgeRectCallout">
            <a:avLst>
              <a:gd name="adj1" fmla="val -57241"/>
              <a:gd name="adj2" fmla="val -1163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 dirty="0"/>
              <a:t>线程堆栈的大小</a:t>
            </a:r>
            <a:endParaRPr kumimoji="1" lang="zh-CN" altLang="en-US" sz="100" dirty="0"/>
          </a:p>
        </p:txBody>
      </p:sp>
      <p:sp>
        <p:nvSpPr>
          <p:cNvPr id="8" name="矩形 7"/>
          <p:cNvSpPr/>
          <p:nvPr/>
        </p:nvSpPr>
        <p:spPr>
          <a:xfrm>
            <a:off x="6553542" y="1116202"/>
            <a:ext cx="2355850" cy="414020"/>
          </a:xfrm>
          <a:prstGeom prst="rect">
            <a:avLst/>
          </a:prstGeom>
        </p:spPr>
        <p:txBody>
          <a:bodyPr wrap="none">
            <a:spAutoFit/>
          </a:bodyPr>
          <a:lstStyle/>
          <a:p>
            <a:pPr marL="114300" lvl="1">
              <a:spcBef>
                <a:spcPct val="20000"/>
              </a:spcBef>
              <a:defRPr/>
            </a:pPr>
            <a:r>
              <a:rPr kumimoji="1" lang="en-US" altLang="zh-CN" sz="2100" b="1" dirty="0">
                <a:solidFill>
                  <a:srgbClr val="002060"/>
                </a:solidFill>
                <a:latin typeface="微软雅黑" panose="020B0503020204020204" charset="-122"/>
                <a:ea typeface="微软雅黑" panose="020B0503020204020204" charset="-122"/>
              </a:rPr>
              <a:t>2.7.4</a:t>
            </a:r>
            <a:r>
              <a:rPr kumimoji="1" lang="zh-CN" altLang="en-US" sz="2100" b="1" dirty="0">
                <a:solidFill>
                  <a:srgbClr val="002060"/>
                </a:solidFill>
                <a:latin typeface="微软雅黑" panose="020B0503020204020204" charset="-122"/>
                <a:ea typeface="微软雅黑" panose="020B0503020204020204" charset="-122"/>
              </a:rPr>
              <a:t> 线程的属性</a:t>
            </a:r>
            <a:endParaRPr lang="en-US" altLang="zh-CN" sz="2100" b="1" kern="0" dirty="0">
              <a:solidFill>
                <a:srgbClr val="C00000"/>
              </a:solidFill>
              <a:latin typeface="微软雅黑" panose="020B0503020204020204" charset="-122"/>
              <a:ea typeface="微软雅黑" panose="020B0503020204020204" charset="-122"/>
            </a:endParaRPr>
          </a:p>
        </p:txBody>
      </p:sp>
      <p:sp>
        <p:nvSpPr>
          <p:cNvPr id="9"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6" grpId="0" bldLvl="0" animBg="1"/>
      <p:bldP spid="7" grpId="0" bldLvl="0" animBg="1"/>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4" name="Rectangle 3"/>
          <p:cNvSpPr>
            <a:spLocks noGrp="1" noChangeArrowheads="1"/>
          </p:cNvSpPr>
          <p:nvPr>
            <p:ph idx="1"/>
          </p:nvPr>
        </p:nvSpPr>
        <p:spPr>
          <a:xfrm>
            <a:off x="1433512" y="2361399"/>
            <a:ext cx="7056614" cy="3486272"/>
          </a:xfrm>
        </p:spPr>
        <p:txBody>
          <a:bodyPr/>
          <a:lstStyle/>
          <a:p>
            <a:r>
              <a:rPr lang="zh-CN" altLang="en-US" dirty="0">
                <a:latin typeface="+mj-ea"/>
                <a:ea typeface="+mj-ea"/>
              </a:rPr>
              <a:t>函数原型</a:t>
            </a:r>
            <a:endParaRPr lang="zh-CN" altLang="en-US" dirty="0">
              <a:latin typeface="+mj-ea"/>
              <a:ea typeface="+mj-ea"/>
            </a:endParaRPr>
          </a:p>
          <a:p>
            <a:pPr marL="205740" lvl="1" indent="0">
              <a:buNone/>
            </a:pPr>
            <a:r>
              <a:rPr lang="en-US" altLang="zh-CN" sz="1800" b="0" dirty="0">
                <a:latin typeface="+mj-ea"/>
                <a:ea typeface="+mj-ea"/>
              </a:rPr>
              <a:t>#include&lt;</a:t>
            </a:r>
            <a:r>
              <a:rPr lang="en-US" altLang="zh-CN" sz="1800" b="0" dirty="0" err="1">
                <a:latin typeface="+mj-ea"/>
                <a:ea typeface="+mj-ea"/>
              </a:rPr>
              <a:t>pthread.h</a:t>
            </a:r>
            <a:r>
              <a:rPr lang="en-US" altLang="zh-CN" sz="1800" b="0" dirty="0">
                <a:latin typeface="+mj-ea"/>
                <a:ea typeface="+mj-ea"/>
              </a:rPr>
              <a:t>&gt;</a:t>
            </a:r>
            <a:endParaRPr lang="en-US" altLang="zh-CN" sz="1800" b="0" dirty="0">
              <a:latin typeface="+mj-ea"/>
              <a:ea typeface="+mj-ea"/>
            </a:endParaRPr>
          </a:p>
          <a:p>
            <a:pPr marL="205740" lvl="1" indent="0">
              <a:buNone/>
            </a:pPr>
            <a:r>
              <a:rPr lang="en-US" altLang="zh-CN" sz="1800" b="0" dirty="0" err="1">
                <a:latin typeface="+mj-ea"/>
                <a:ea typeface="+mj-ea"/>
              </a:rPr>
              <a:t>int</a:t>
            </a:r>
            <a:r>
              <a:rPr lang="en-US" altLang="zh-CN" sz="1800" b="0" dirty="0">
                <a:latin typeface="+mj-ea"/>
                <a:ea typeface="+mj-ea"/>
              </a:rPr>
              <a:t> </a:t>
            </a:r>
            <a:r>
              <a:rPr lang="en-US" altLang="zh-CN" sz="1800" b="0" dirty="0" err="1">
                <a:latin typeface="+mj-ea"/>
                <a:ea typeface="+mj-ea"/>
              </a:rPr>
              <a:t>pthread_attr_</a:t>
            </a:r>
            <a:r>
              <a:rPr lang="en-US" altLang="zh-CN" sz="1800" b="0" dirty="0" err="1">
                <a:solidFill>
                  <a:srgbClr val="FF0000"/>
                </a:solidFill>
                <a:latin typeface="+mj-ea"/>
                <a:ea typeface="+mj-ea"/>
              </a:rPr>
              <a:t>setstack</a:t>
            </a:r>
            <a:r>
              <a:rPr lang="en-US" altLang="zh-CN" sz="1800" b="0" dirty="0">
                <a:latin typeface="+mj-ea"/>
                <a:ea typeface="+mj-ea"/>
              </a:rPr>
              <a:t>(</a:t>
            </a:r>
            <a:endParaRPr lang="en-US" altLang="zh-CN" sz="1800" b="0" dirty="0">
              <a:latin typeface="+mj-ea"/>
              <a:ea typeface="+mj-ea"/>
            </a:endParaRPr>
          </a:p>
          <a:p>
            <a:pPr marL="205740" lvl="1" indent="0">
              <a:buNone/>
            </a:pPr>
            <a:r>
              <a:rPr lang="en-US" altLang="zh-CN" sz="1800" b="0" dirty="0">
                <a:latin typeface="+mj-ea"/>
                <a:ea typeface="+mj-ea"/>
              </a:rPr>
              <a:t>         </a:t>
            </a:r>
            <a:r>
              <a:rPr lang="en-US" altLang="zh-CN" sz="1800" b="0" dirty="0" err="1">
                <a:latin typeface="+mj-ea"/>
                <a:ea typeface="+mj-ea"/>
              </a:rPr>
              <a:t>const</a:t>
            </a:r>
            <a:r>
              <a:rPr lang="en-US" altLang="zh-CN" sz="1800" b="0" dirty="0">
                <a:latin typeface="+mj-ea"/>
                <a:ea typeface="+mj-ea"/>
              </a:rPr>
              <a:t> </a:t>
            </a:r>
            <a:r>
              <a:rPr lang="en-US" altLang="zh-CN" sz="1800" b="0" dirty="0" err="1">
                <a:latin typeface="+mj-ea"/>
                <a:ea typeface="+mj-ea"/>
              </a:rPr>
              <a:t>pthread_attr_t</a:t>
            </a:r>
            <a:r>
              <a:rPr lang="en-US" altLang="zh-CN" sz="1800" b="0" dirty="0">
                <a:latin typeface="+mj-ea"/>
                <a:ea typeface="+mj-ea"/>
              </a:rPr>
              <a:t> *</a:t>
            </a:r>
            <a:r>
              <a:rPr lang="en-US" altLang="zh-CN" sz="1800" b="0" dirty="0" err="1">
                <a:latin typeface="+mj-ea"/>
                <a:ea typeface="+mj-ea"/>
              </a:rPr>
              <a:t>attr</a:t>
            </a:r>
            <a:r>
              <a:rPr lang="en-US" altLang="zh-CN" sz="1800" b="0" dirty="0">
                <a:latin typeface="+mj-ea"/>
                <a:ea typeface="+mj-ea"/>
              </a:rPr>
              <a:t>,</a:t>
            </a:r>
            <a:endParaRPr lang="en-US" altLang="zh-CN" sz="1800" b="0" dirty="0">
              <a:latin typeface="+mj-ea"/>
              <a:ea typeface="+mj-ea"/>
            </a:endParaRPr>
          </a:p>
          <a:p>
            <a:pPr marL="205740" lvl="1" indent="0">
              <a:buNone/>
            </a:pPr>
            <a:r>
              <a:rPr lang="en-US" altLang="zh-CN" sz="1800" b="0" dirty="0">
                <a:latin typeface="+mj-ea"/>
                <a:ea typeface="+mj-ea"/>
              </a:rPr>
              <a:t>          void *</a:t>
            </a:r>
            <a:r>
              <a:rPr lang="en-US" altLang="zh-CN" sz="1800" b="0" dirty="0" err="1">
                <a:latin typeface="+mj-ea"/>
                <a:ea typeface="+mj-ea"/>
              </a:rPr>
              <a:t>stackaddr</a:t>
            </a:r>
            <a:r>
              <a:rPr lang="en-US" altLang="zh-CN" sz="1800" b="0" dirty="0">
                <a:latin typeface="+mj-ea"/>
                <a:ea typeface="+mj-ea"/>
              </a:rPr>
              <a:t>, </a:t>
            </a:r>
            <a:r>
              <a:rPr lang="en-US" altLang="zh-CN" sz="1800" b="0" dirty="0" err="1">
                <a:latin typeface="+mj-ea"/>
                <a:ea typeface="+mj-ea"/>
              </a:rPr>
              <a:t>size_t</a:t>
            </a:r>
            <a:r>
              <a:rPr lang="en-US" altLang="zh-CN" sz="1800" b="0" dirty="0">
                <a:latin typeface="+mj-ea"/>
                <a:ea typeface="+mj-ea"/>
              </a:rPr>
              <a:t> *</a:t>
            </a:r>
            <a:r>
              <a:rPr lang="en-US" altLang="zh-CN" sz="1800" b="0" dirty="0" err="1">
                <a:latin typeface="+mj-ea"/>
                <a:ea typeface="+mj-ea"/>
              </a:rPr>
              <a:t>stacksize</a:t>
            </a:r>
            <a:r>
              <a:rPr lang="en-US" altLang="zh-CN" sz="1800" b="0" dirty="0">
                <a:latin typeface="+mj-ea"/>
                <a:ea typeface="+mj-ea"/>
              </a:rPr>
              <a:t>);</a:t>
            </a:r>
            <a:endParaRPr lang="en-US" altLang="zh-CN" sz="1800" b="0" dirty="0">
              <a:latin typeface="+mj-ea"/>
              <a:ea typeface="+mj-ea"/>
            </a:endParaRPr>
          </a:p>
          <a:p>
            <a:endParaRPr lang="en-US" altLang="zh-CN" dirty="0">
              <a:latin typeface="+mj-ea"/>
              <a:ea typeface="+mj-ea"/>
            </a:endParaRPr>
          </a:p>
          <a:p>
            <a:endParaRPr lang="en-US" altLang="zh-CN" dirty="0">
              <a:latin typeface="+mj-ea"/>
              <a:ea typeface="+mj-ea"/>
            </a:endParaRPr>
          </a:p>
          <a:p>
            <a:r>
              <a:rPr lang="zh-CN" altLang="en-US" dirty="0">
                <a:latin typeface="+mj-ea"/>
                <a:ea typeface="+mj-ea"/>
              </a:rPr>
              <a:t>返回值</a:t>
            </a:r>
            <a:endParaRPr lang="zh-CN" altLang="en-US" dirty="0">
              <a:latin typeface="+mj-ea"/>
              <a:ea typeface="+mj-ea"/>
            </a:endParaRPr>
          </a:p>
          <a:p>
            <a:pPr marL="205740" lvl="1" indent="0">
              <a:buNone/>
            </a:pPr>
            <a:r>
              <a:rPr lang="zh-CN" altLang="en-US" sz="1800" b="0" dirty="0">
                <a:latin typeface="+mj-ea"/>
                <a:ea typeface="+mj-ea"/>
              </a:rPr>
              <a:t>成功返回</a:t>
            </a:r>
            <a:r>
              <a:rPr lang="en-US" altLang="zh-CN" sz="1800" b="0" dirty="0">
                <a:latin typeface="+mj-ea"/>
                <a:ea typeface="+mj-ea"/>
              </a:rPr>
              <a:t>0</a:t>
            </a:r>
            <a:r>
              <a:rPr lang="zh-CN" altLang="en-US" sz="1800" b="0" dirty="0">
                <a:latin typeface="+mj-ea"/>
                <a:ea typeface="+mj-ea"/>
              </a:rPr>
              <a:t>，否则返回错误编号</a:t>
            </a:r>
            <a:endParaRPr lang="zh-CN" altLang="en-US" sz="1800" b="0" dirty="0">
              <a:latin typeface="+mj-ea"/>
              <a:ea typeface="+mj-ea"/>
            </a:endParaRPr>
          </a:p>
        </p:txBody>
      </p:sp>
      <p:sp>
        <p:nvSpPr>
          <p:cNvPr id="771074" name="Rectangle 2"/>
          <p:cNvSpPr>
            <a:spLocks noGrp="1" noChangeArrowheads="1"/>
          </p:cNvSpPr>
          <p:nvPr>
            <p:ph type="title"/>
          </p:nvPr>
        </p:nvSpPr>
        <p:spPr>
          <a:xfrm>
            <a:off x="1063449" y="1791782"/>
            <a:ext cx="7330537" cy="411956"/>
          </a:xfrm>
        </p:spPr>
        <p:txBody>
          <a:bodyPr/>
          <a:lstStyle/>
          <a:p>
            <a:pPr>
              <a:defRPr/>
            </a:pPr>
            <a:r>
              <a:rPr lang="zh-CN" altLang="en-US"/>
              <a:t>设置线程栈属性</a:t>
            </a:r>
            <a:endParaRPr lang="zh-CN" altLang="en-US"/>
          </a:p>
        </p:txBody>
      </p:sp>
      <p:sp>
        <p:nvSpPr>
          <p:cNvPr id="5" name="矩形标注 4"/>
          <p:cNvSpPr/>
          <p:nvPr/>
        </p:nvSpPr>
        <p:spPr>
          <a:xfrm>
            <a:off x="5279792" y="2831321"/>
            <a:ext cx="1385048" cy="430235"/>
          </a:xfrm>
          <a:prstGeom prst="wedgeRectCallout">
            <a:avLst>
              <a:gd name="adj1" fmla="val -75688"/>
              <a:gd name="adj2" fmla="val 1005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 dirty="0"/>
              <a:t>线程属性</a:t>
            </a:r>
            <a:endParaRPr kumimoji="1" lang="zh-CN" altLang="en-US" sz="100" dirty="0"/>
          </a:p>
        </p:txBody>
      </p:sp>
      <p:sp>
        <p:nvSpPr>
          <p:cNvPr id="6" name="矩形标注 5"/>
          <p:cNvSpPr/>
          <p:nvPr/>
        </p:nvSpPr>
        <p:spPr>
          <a:xfrm>
            <a:off x="3948533" y="4418075"/>
            <a:ext cx="1385048" cy="430235"/>
          </a:xfrm>
          <a:prstGeom prst="wedgeRectCallout">
            <a:avLst>
              <a:gd name="adj1" fmla="val -57241"/>
              <a:gd name="adj2" fmla="val -1163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 dirty="0">
                <a:latin typeface="+mj-ea"/>
              </a:rPr>
              <a:t>新栈的内存单元最低地址</a:t>
            </a:r>
            <a:endParaRPr kumimoji="1" lang="zh-CN" altLang="en-US" sz="100" dirty="0"/>
          </a:p>
        </p:txBody>
      </p:sp>
      <p:sp>
        <p:nvSpPr>
          <p:cNvPr id="7" name="矩形标注 6"/>
          <p:cNvSpPr/>
          <p:nvPr/>
        </p:nvSpPr>
        <p:spPr>
          <a:xfrm>
            <a:off x="5683203" y="4418075"/>
            <a:ext cx="1385048" cy="430235"/>
          </a:xfrm>
          <a:prstGeom prst="wedgeRectCallout">
            <a:avLst>
              <a:gd name="adj1" fmla="val -57241"/>
              <a:gd name="adj2" fmla="val -1163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 dirty="0"/>
              <a:t>新栈的大小</a:t>
            </a:r>
            <a:endParaRPr kumimoji="1" lang="zh-CN" altLang="en-US" sz="100" dirty="0"/>
          </a:p>
        </p:txBody>
      </p:sp>
      <p:sp>
        <p:nvSpPr>
          <p:cNvPr id="8" name="矩形 7"/>
          <p:cNvSpPr/>
          <p:nvPr/>
        </p:nvSpPr>
        <p:spPr>
          <a:xfrm>
            <a:off x="6553542" y="1116202"/>
            <a:ext cx="2355850" cy="414020"/>
          </a:xfrm>
          <a:prstGeom prst="rect">
            <a:avLst/>
          </a:prstGeom>
        </p:spPr>
        <p:txBody>
          <a:bodyPr wrap="none">
            <a:spAutoFit/>
          </a:bodyPr>
          <a:lstStyle/>
          <a:p>
            <a:pPr marL="114300" lvl="1">
              <a:spcBef>
                <a:spcPct val="20000"/>
              </a:spcBef>
              <a:defRPr/>
            </a:pPr>
            <a:r>
              <a:rPr kumimoji="1" lang="en-US" altLang="zh-CN" sz="2100" b="1" dirty="0">
                <a:solidFill>
                  <a:srgbClr val="002060"/>
                </a:solidFill>
                <a:latin typeface="微软雅黑" panose="020B0503020204020204" charset="-122"/>
                <a:ea typeface="微软雅黑" panose="020B0503020204020204" charset="-122"/>
              </a:rPr>
              <a:t>2.7.4</a:t>
            </a:r>
            <a:r>
              <a:rPr kumimoji="1" lang="zh-CN" altLang="en-US" sz="2100" b="1" dirty="0">
                <a:solidFill>
                  <a:srgbClr val="002060"/>
                </a:solidFill>
                <a:latin typeface="微软雅黑" panose="020B0503020204020204" charset="-122"/>
                <a:ea typeface="微软雅黑" panose="020B0503020204020204" charset="-122"/>
              </a:rPr>
              <a:t> 线程的属性</a:t>
            </a:r>
            <a:endParaRPr lang="en-US" altLang="zh-CN" sz="2100" b="1" kern="0" dirty="0">
              <a:solidFill>
                <a:srgbClr val="C00000"/>
              </a:solidFill>
              <a:latin typeface="微软雅黑" panose="020B0503020204020204" charset="-122"/>
              <a:ea typeface="微软雅黑" panose="020B0503020204020204" charset="-122"/>
            </a:endParaRPr>
          </a:p>
        </p:txBody>
      </p:sp>
      <p:sp>
        <p:nvSpPr>
          <p:cNvPr id="9"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5115" y="974728"/>
            <a:ext cx="3223260" cy="4603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l" defTabSz="914400">
              <a:buFont typeface="Wingdings" panose="05000000000000000000" pitchFamily="2" charset="2"/>
            </a:pPr>
            <a:r>
              <a:rPr kumimoji="1" lang="en-US" altLang="zh-CN" sz="2400" dirty="0">
                <a:solidFill>
                  <a:srgbClr val="242852"/>
                </a:solidFill>
                <a:cs typeface="+mn-cs"/>
              </a:rPr>
              <a:t>2.7 </a:t>
            </a:r>
            <a:r>
              <a:rPr kumimoji="1" lang="zh-CN" altLang="en-US" sz="2400" dirty="0">
                <a:solidFill>
                  <a:srgbClr val="242852"/>
                </a:solidFill>
                <a:cs typeface="+mn-cs"/>
              </a:rPr>
              <a:t>线程与线程控制</a:t>
            </a:r>
            <a:endParaRPr kumimoji="1" lang="zh-CN" altLang="en-US" sz="2400" dirty="0">
              <a:solidFill>
                <a:srgbClr val="242852"/>
              </a:solidFill>
              <a:cs typeface="+mn-cs"/>
            </a:endParaRPr>
          </a:p>
        </p:txBody>
      </p:sp>
      <p:sp>
        <p:nvSpPr>
          <p:cNvPr id="10" name="Rectangle 2051"/>
          <p:cNvSpPr txBox="1">
            <a:spLocks noChangeArrowheads="1"/>
          </p:cNvSpPr>
          <p:nvPr/>
        </p:nvSpPr>
        <p:spPr bwMode="auto">
          <a:xfrm>
            <a:off x="2055116" y="1939118"/>
            <a:ext cx="4978907" cy="315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42900" indent="-342900"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l"/>
              <a:defRPr sz="24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9pPr>
          </a:lstStyle>
          <a:p>
            <a:pPr eaLnBrk="1" hangingPunct="1">
              <a:lnSpc>
                <a:spcPct val="150000"/>
              </a:lnSpc>
              <a:defRPr/>
            </a:pPr>
            <a:r>
              <a:rPr lang="en-US" altLang="zh-CN" sz="2100" kern="0" dirty="0">
                <a:solidFill>
                  <a:schemeClr val="bg2">
                    <a:lumMod val="25000"/>
                  </a:schemeClr>
                </a:solidFill>
                <a:latin typeface="微软雅黑" panose="020B0503020204020204" charset="-122"/>
                <a:ea typeface="微软雅黑" panose="020B0503020204020204" charset="-122"/>
              </a:rPr>
              <a:t>2.7.1</a:t>
            </a:r>
            <a:r>
              <a:rPr lang="zh-CN" altLang="en-US" sz="2100" kern="0" dirty="0">
                <a:solidFill>
                  <a:schemeClr val="bg2">
                    <a:lumMod val="25000"/>
                  </a:schemeClr>
                </a:solidFill>
                <a:latin typeface="微软雅黑" panose="020B0503020204020204" charset="-122"/>
                <a:ea typeface="微软雅黑" panose="020B0503020204020204" charset="-122"/>
              </a:rPr>
              <a:t> 线程概述</a:t>
            </a:r>
            <a:endParaRPr lang="en-US" altLang="zh-CN" sz="2100" kern="0" dirty="0">
              <a:solidFill>
                <a:schemeClr val="bg2">
                  <a:lumMod val="25000"/>
                </a:schemeClr>
              </a:solidFill>
              <a:latin typeface="微软雅黑" panose="020B0503020204020204" charset="-122"/>
              <a:ea typeface="微软雅黑" panose="020B0503020204020204" charset="-122"/>
            </a:endParaRPr>
          </a:p>
          <a:p>
            <a:pPr eaLnBrk="1" hangingPunct="1">
              <a:lnSpc>
                <a:spcPct val="150000"/>
              </a:lnSpc>
              <a:defRPr/>
            </a:pPr>
            <a:r>
              <a:rPr lang="en-US" altLang="zh-CN" sz="2100" kern="0" dirty="0">
                <a:solidFill>
                  <a:schemeClr val="bg2">
                    <a:lumMod val="25000"/>
                  </a:schemeClr>
                </a:solidFill>
                <a:latin typeface="微软雅黑" panose="020B0503020204020204" charset="-122"/>
                <a:ea typeface="微软雅黑" panose="020B0503020204020204" charset="-122"/>
              </a:rPr>
              <a:t>2.7.2</a:t>
            </a:r>
            <a:r>
              <a:rPr lang="zh-CN" altLang="en-US" sz="2100" kern="0" dirty="0">
                <a:solidFill>
                  <a:schemeClr val="bg2">
                    <a:lumMod val="25000"/>
                  </a:schemeClr>
                </a:solidFill>
                <a:latin typeface="微软雅黑" panose="020B0503020204020204" charset="-122"/>
                <a:ea typeface="微软雅黑" panose="020B0503020204020204" charset="-122"/>
              </a:rPr>
              <a:t> 线程与进程的比较</a:t>
            </a:r>
            <a:endParaRPr lang="en-US" altLang="zh-CN" sz="2100" kern="0" dirty="0">
              <a:solidFill>
                <a:schemeClr val="bg2">
                  <a:lumMod val="25000"/>
                </a:schemeClr>
              </a:solidFill>
              <a:latin typeface="微软雅黑" panose="020B0503020204020204" charset="-122"/>
              <a:ea typeface="微软雅黑" panose="020B0503020204020204" charset="-122"/>
            </a:endParaRPr>
          </a:p>
          <a:p>
            <a:pPr eaLnBrk="1" hangingPunct="1">
              <a:lnSpc>
                <a:spcPct val="150000"/>
              </a:lnSpc>
              <a:defRPr/>
            </a:pPr>
            <a:r>
              <a:rPr lang="en-US" altLang="zh-CN" sz="2100" kern="0" dirty="0">
                <a:solidFill>
                  <a:schemeClr val="bg2">
                    <a:lumMod val="25000"/>
                  </a:schemeClr>
                </a:solidFill>
                <a:latin typeface="微软雅黑" panose="020B0503020204020204" charset="-122"/>
                <a:ea typeface="微软雅黑" panose="020B0503020204020204" charset="-122"/>
              </a:rPr>
              <a:t>2.7.3</a:t>
            </a:r>
            <a:r>
              <a:rPr lang="zh-CN" altLang="en-US" sz="2100" kern="0" dirty="0">
                <a:solidFill>
                  <a:schemeClr val="bg2">
                    <a:lumMod val="25000"/>
                  </a:schemeClr>
                </a:solidFill>
                <a:latin typeface="微软雅黑" panose="020B0503020204020204" charset="-122"/>
                <a:ea typeface="微软雅黑" panose="020B0503020204020204" charset="-122"/>
              </a:rPr>
              <a:t> 线程的控制</a:t>
            </a:r>
            <a:endParaRPr lang="en-US" altLang="zh-CN" sz="2100" kern="0" dirty="0">
              <a:solidFill>
                <a:schemeClr val="bg2">
                  <a:lumMod val="25000"/>
                </a:schemeClr>
              </a:solidFill>
              <a:latin typeface="微软雅黑" panose="020B0503020204020204" charset="-122"/>
              <a:ea typeface="微软雅黑" panose="020B0503020204020204" charset="-122"/>
            </a:endParaRPr>
          </a:p>
          <a:p>
            <a:pPr eaLnBrk="1" hangingPunct="1">
              <a:lnSpc>
                <a:spcPct val="150000"/>
              </a:lnSpc>
              <a:defRPr/>
            </a:pPr>
            <a:r>
              <a:rPr kumimoji="1" lang="en-US" altLang="zh-CN" sz="2100" dirty="0">
                <a:solidFill>
                  <a:srgbClr val="002060"/>
                </a:solidFill>
                <a:latin typeface="微软雅黑" panose="020B0503020204020204" charset="-122"/>
                <a:ea typeface="微软雅黑" panose="020B0503020204020204" charset="-122"/>
              </a:rPr>
              <a:t>2.7.4</a:t>
            </a:r>
            <a:r>
              <a:rPr kumimoji="1" lang="zh-CN" altLang="en-US" sz="2100" dirty="0">
                <a:solidFill>
                  <a:srgbClr val="002060"/>
                </a:solidFill>
                <a:latin typeface="微软雅黑" panose="020B0503020204020204" charset="-122"/>
                <a:ea typeface="微软雅黑" panose="020B0503020204020204" charset="-122"/>
              </a:rPr>
              <a:t> 线程的属性</a:t>
            </a:r>
            <a:endParaRPr lang="en-US" altLang="zh-CN" sz="2100" kern="0" dirty="0">
              <a:solidFill>
                <a:srgbClr val="C00000"/>
              </a:solidFill>
              <a:latin typeface="微软雅黑" panose="020B0503020204020204" charset="-122"/>
              <a:ea typeface="微软雅黑" panose="020B0503020204020204" charset="-122"/>
            </a:endParaRPr>
          </a:p>
          <a:p>
            <a:pPr eaLnBrk="1" hangingPunct="1">
              <a:lnSpc>
                <a:spcPct val="150000"/>
              </a:lnSpc>
              <a:defRPr/>
            </a:pPr>
            <a:r>
              <a:rPr lang="en-US" altLang="zh-CN" sz="2100" kern="0" dirty="0">
                <a:solidFill>
                  <a:srgbClr val="C00000"/>
                </a:solidFill>
                <a:latin typeface="微软雅黑" panose="020B0503020204020204" charset="-122"/>
                <a:ea typeface="微软雅黑" panose="020B0503020204020204" charset="-122"/>
              </a:rPr>
              <a:t>2.7.5 </a:t>
            </a:r>
            <a:r>
              <a:rPr lang="zh-CN" altLang="en-US" sz="2100" kern="0" dirty="0">
                <a:solidFill>
                  <a:srgbClr val="C00000"/>
                </a:solidFill>
                <a:latin typeface="微软雅黑" panose="020B0503020204020204" charset="-122"/>
                <a:ea typeface="微软雅黑" panose="020B0503020204020204" charset="-122"/>
              </a:rPr>
              <a:t>线程间的同步和通信</a:t>
            </a:r>
            <a:endParaRPr lang="en-US" altLang="zh-CN" sz="2100" kern="0" dirty="0">
              <a:solidFill>
                <a:srgbClr val="C00000"/>
              </a:solidFill>
              <a:latin typeface="微软雅黑" panose="020B0503020204020204" charset="-122"/>
              <a:ea typeface="微软雅黑" panose="020B0503020204020204" charset="-122"/>
            </a:endParaRPr>
          </a:p>
          <a:p>
            <a:pPr lvl="0" eaLnBrk="1" hangingPunct="1">
              <a:lnSpc>
                <a:spcPct val="150000"/>
              </a:lnSpc>
              <a:defRPr/>
            </a:pPr>
            <a:r>
              <a:rPr lang="en-US" altLang="zh-CN" sz="2100" kern="0" dirty="0">
                <a:solidFill>
                  <a:schemeClr val="bg2">
                    <a:lumMod val="25000"/>
                  </a:schemeClr>
                </a:solidFill>
                <a:latin typeface="微软雅黑" panose="020B0503020204020204" charset="-122"/>
                <a:ea typeface="微软雅黑" panose="020B0503020204020204" charset="-122"/>
              </a:rPr>
              <a:t>2.7.6  </a:t>
            </a:r>
            <a:r>
              <a:rPr lang="zh-CN" altLang="en-US" sz="2100" kern="0" dirty="0">
                <a:solidFill>
                  <a:schemeClr val="bg2">
                    <a:lumMod val="25000"/>
                  </a:schemeClr>
                </a:solidFill>
                <a:latin typeface="微软雅黑" panose="020B0503020204020204" charset="-122"/>
                <a:ea typeface="微软雅黑" panose="020B0503020204020204" charset="-122"/>
              </a:rPr>
              <a:t>线程的实现方式</a:t>
            </a:r>
            <a:endParaRPr lang="zh-CN" altLang="en-US" sz="2100" kern="0" dirty="0">
              <a:solidFill>
                <a:schemeClr val="bg2">
                  <a:lumMod val="25000"/>
                </a:schemeClr>
              </a:solidFill>
              <a:latin typeface="微软雅黑" panose="020B0503020204020204" charset="-122"/>
              <a:ea typeface="微软雅黑" panose="020B0503020204020204" charset="-122"/>
            </a:endParaRPr>
          </a:p>
          <a:p>
            <a:pPr eaLnBrk="1" hangingPunct="1">
              <a:lnSpc>
                <a:spcPct val="150000"/>
              </a:lnSpc>
              <a:defRPr/>
            </a:pPr>
            <a:endParaRPr lang="zh-CN" altLang="en-US" sz="2100" kern="0" dirty="0">
              <a:solidFill>
                <a:schemeClr val="bg2">
                  <a:lumMod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Rot="1" noChangeArrowheads="1"/>
          </p:cNvSpPr>
          <p:nvPr>
            <p:ph type="title"/>
          </p:nvPr>
        </p:nvSpPr>
        <p:spPr>
          <a:xfrm>
            <a:off x="1082395" y="1875101"/>
            <a:ext cx="3399443" cy="343589"/>
          </a:xfrm>
        </p:spPr>
        <p:txBody>
          <a:bodyPr/>
          <a:lstStyle/>
          <a:p>
            <a:pPr algn="l">
              <a:defRPr/>
            </a:pPr>
            <a:r>
              <a:rPr lang="en-US" altLang="zh-CN" dirty="0">
                <a:latin typeface="+mj-ea"/>
                <a:ea typeface="+mj-ea"/>
              </a:rPr>
              <a:t>2.7.5</a:t>
            </a:r>
            <a:r>
              <a:rPr lang="zh-CN" altLang="en-US" dirty="0">
                <a:latin typeface="+mj-ea"/>
                <a:ea typeface="+mj-ea"/>
              </a:rPr>
              <a:t> 线程间</a:t>
            </a:r>
            <a:r>
              <a:rPr lang="zh-CN" altLang="en-US" b="1" dirty="0">
                <a:latin typeface="+mj-ea"/>
                <a:ea typeface="+mj-ea"/>
              </a:rPr>
              <a:t>的同步和通信</a:t>
            </a:r>
            <a:endParaRPr lang="zh-CN" altLang="en-US" b="1" dirty="0">
              <a:latin typeface="+mj-ea"/>
              <a:ea typeface="+mj-ea"/>
            </a:endParaRPr>
          </a:p>
        </p:txBody>
      </p:sp>
      <p:sp>
        <p:nvSpPr>
          <p:cNvPr id="321539" name="Rectangle 3"/>
          <p:cNvSpPr>
            <a:spLocks noGrp="1" noRot="1" noChangeArrowheads="1"/>
          </p:cNvSpPr>
          <p:nvPr>
            <p:ph type="body" idx="1"/>
          </p:nvPr>
        </p:nvSpPr>
        <p:spPr>
          <a:xfrm>
            <a:off x="1082395" y="2418506"/>
            <a:ext cx="7299605" cy="3123095"/>
          </a:xfrm>
          <a:ln>
            <a:solidFill>
              <a:srgbClr val="FF0000"/>
            </a:solidFill>
            <a:miter lim="800000"/>
          </a:ln>
        </p:spPr>
        <p:txBody>
          <a:bodyPr/>
          <a:lstStyle/>
          <a:p>
            <a:pPr>
              <a:lnSpc>
                <a:spcPct val="150000"/>
              </a:lnSpc>
            </a:pPr>
            <a:r>
              <a:rPr lang="zh-CN" altLang="en-US" sz="1650" b="1" dirty="0">
                <a:solidFill>
                  <a:srgbClr val="000000"/>
                </a:solidFill>
                <a:latin typeface="微软雅黑" panose="020B0503020204020204" charset="-122"/>
                <a:ea typeface="微软雅黑" panose="020B0503020204020204" charset="-122"/>
              </a:rPr>
              <a:t>为使系统中的多线程能有条不紊的运行，系统必须提供用于实现线程间同步和通信的机制。在多线程</a:t>
            </a:r>
            <a:r>
              <a:rPr lang="en-US" altLang="zh-CN" sz="1650" b="1" dirty="0">
                <a:solidFill>
                  <a:srgbClr val="000000"/>
                </a:solidFill>
                <a:latin typeface="微软雅黑" panose="020B0503020204020204" charset="-122"/>
                <a:ea typeface="微软雅黑" panose="020B0503020204020204" charset="-122"/>
              </a:rPr>
              <a:t>OS</a:t>
            </a:r>
            <a:r>
              <a:rPr lang="zh-CN" altLang="en-US" sz="1650" b="1" dirty="0">
                <a:solidFill>
                  <a:srgbClr val="000000"/>
                </a:solidFill>
                <a:latin typeface="微软雅黑" panose="020B0503020204020204" charset="-122"/>
                <a:ea typeface="微软雅黑" panose="020B0503020204020204" charset="-122"/>
              </a:rPr>
              <a:t>中，通常提供多种同步机制:</a:t>
            </a:r>
            <a:endParaRPr lang="zh-CN" altLang="en-US" sz="1650" b="1" dirty="0">
              <a:solidFill>
                <a:srgbClr val="000000"/>
              </a:solidFill>
              <a:latin typeface="微软雅黑" panose="020B0503020204020204" charset="-122"/>
              <a:ea typeface="微软雅黑" panose="020B0503020204020204" charset="-122"/>
            </a:endParaRPr>
          </a:p>
          <a:p>
            <a:pPr>
              <a:lnSpc>
                <a:spcPct val="150000"/>
              </a:lnSpc>
              <a:buFont typeface="Wingdings" panose="05000000000000000000" pitchFamily="2" charset="2"/>
              <a:buNone/>
            </a:pPr>
            <a:r>
              <a:rPr lang="zh-CN" altLang="en-US" sz="1650" b="1" dirty="0">
                <a:solidFill>
                  <a:srgbClr val="5E49F7"/>
                </a:solidFill>
                <a:latin typeface="微软雅黑" panose="020B0503020204020204" charset="-122"/>
                <a:ea typeface="微软雅黑" panose="020B0503020204020204" charset="-122"/>
              </a:rPr>
              <a:t>      </a:t>
            </a:r>
            <a:r>
              <a:rPr lang="zh-CN" altLang="en-US" sz="1650" b="1" u="sng" dirty="0">
                <a:solidFill>
                  <a:srgbClr val="5E49F7"/>
                </a:solidFill>
                <a:latin typeface="微软雅黑" panose="020B0503020204020204" charset="-122"/>
                <a:ea typeface="微软雅黑" panose="020B0503020204020204" charset="-122"/>
              </a:rPr>
              <a:t>1、互斥锁(</a:t>
            </a:r>
            <a:r>
              <a:rPr lang="en-US" altLang="zh-CN" sz="1650" b="1" u="sng" dirty="0">
                <a:solidFill>
                  <a:srgbClr val="5E49F7"/>
                </a:solidFill>
                <a:latin typeface="微软雅黑" panose="020B0503020204020204" charset="-122"/>
                <a:ea typeface="微软雅黑" panose="020B0503020204020204" charset="-122"/>
              </a:rPr>
              <a:t>mutex)</a:t>
            </a:r>
            <a:endParaRPr lang="en-US" altLang="zh-CN" sz="1650" b="1" u="sng" dirty="0">
              <a:solidFill>
                <a:srgbClr val="5E49F7"/>
              </a:solidFill>
              <a:latin typeface="微软雅黑" panose="020B0503020204020204" charset="-122"/>
              <a:ea typeface="微软雅黑" panose="020B0503020204020204" charset="-122"/>
            </a:endParaRPr>
          </a:p>
          <a:p>
            <a:pPr>
              <a:lnSpc>
                <a:spcPct val="150000"/>
              </a:lnSpc>
              <a:buFont typeface="Wingdings" panose="05000000000000000000" pitchFamily="2" charset="2"/>
              <a:buNone/>
            </a:pPr>
            <a:r>
              <a:rPr lang="zh-CN" altLang="en-US" sz="1650" b="1" dirty="0">
                <a:solidFill>
                  <a:srgbClr val="5E49F7"/>
                </a:solidFill>
                <a:latin typeface="微软雅黑" panose="020B0503020204020204" charset="-122"/>
                <a:ea typeface="微软雅黑" panose="020B0503020204020204" charset="-122"/>
              </a:rPr>
              <a:t>      </a:t>
            </a:r>
            <a:r>
              <a:rPr lang="zh-CN" altLang="en-US" sz="1650" b="1" u="sng" dirty="0">
                <a:solidFill>
                  <a:srgbClr val="5E49F7"/>
                </a:solidFill>
                <a:latin typeface="微软雅黑" panose="020B0503020204020204" charset="-122"/>
                <a:ea typeface="微软雅黑" panose="020B0503020204020204" charset="-122"/>
              </a:rPr>
              <a:t>2、条件变量</a:t>
            </a:r>
            <a:endParaRPr lang="zh-CN" altLang="en-US" sz="1650" b="1" u="sng" dirty="0">
              <a:solidFill>
                <a:srgbClr val="5E49F7"/>
              </a:solidFill>
              <a:latin typeface="微软雅黑" panose="020B0503020204020204" charset="-122"/>
              <a:ea typeface="微软雅黑" panose="020B0503020204020204" charset="-122"/>
            </a:endParaRPr>
          </a:p>
          <a:p>
            <a:pPr>
              <a:lnSpc>
                <a:spcPct val="150000"/>
              </a:lnSpc>
              <a:buFont typeface="Wingdings" panose="05000000000000000000" pitchFamily="2" charset="2"/>
              <a:buNone/>
            </a:pPr>
            <a:r>
              <a:rPr lang="zh-CN" altLang="en-US" sz="1650" b="1" dirty="0">
                <a:solidFill>
                  <a:srgbClr val="5E49F7"/>
                </a:solidFill>
                <a:latin typeface="微软雅黑" panose="020B0503020204020204" charset="-122"/>
                <a:ea typeface="微软雅黑" panose="020B0503020204020204" charset="-122"/>
              </a:rPr>
              <a:t>      </a:t>
            </a:r>
            <a:r>
              <a:rPr lang="zh-CN" altLang="en-US" sz="1650" b="1" u="sng" dirty="0">
                <a:solidFill>
                  <a:srgbClr val="5E49F7"/>
                </a:solidFill>
                <a:latin typeface="微软雅黑" panose="020B0503020204020204" charset="-122"/>
                <a:ea typeface="微软雅黑" panose="020B0503020204020204" charset="-122"/>
              </a:rPr>
              <a:t>3、信号量机制</a:t>
            </a:r>
            <a:endParaRPr lang="zh-CN" altLang="en-US" sz="1650" b="1" u="sng" dirty="0">
              <a:solidFill>
                <a:srgbClr val="5E49F7"/>
              </a:solidFill>
              <a:latin typeface="微软雅黑" panose="020B0503020204020204" charset="-122"/>
              <a:ea typeface="微软雅黑" panose="020B0503020204020204" charset="-122"/>
            </a:endParaRPr>
          </a:p>
        </p:txBody>
      </p:sp>
      <p:sp>
        <p:nvSpPr>
          <p:cNvPr id="5"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87120" y="1840925"/>
            <a:ext cx="7513320" cy="3868232"/>
          </a:xfrm>
        </p:spPr>
        <p:txBody>
          <a:bodyPr/>
          <a:lstStyle/>
          <a:p>
            <a:pPr algn="just">
              <a:lnSpc>
                <a:spcPct val="135000"/>
              </a:lnSpc>
              <a:spcBef>
                <a:spcPct val="50000"/>
              </a:spcBef>
              <a:buClrTx/>
              <a:buSzTx/>
              <a:buNone/>
            </a:pPr>
            <a:r>
              <a:rPr kumimoji="1" lang="zh-CN" altLang="en-US" dirty="0">
                <a:solidFill>
                  <a:srgbClr val="FF0000"/>
                </a:solidFill>
                <a:latin typeface="微软雅黑" panose="020B0503020204020204" charset="-122"/>
                <a:ea typeface="微软雅黑" panose="020B0503020204020204" charset="-122"/>
              </a:rPr>
              <a:t> </a:t>
            </a:r>
            <a:r>
              <a:rPr kumimoji="1" lang="en-US" altLang="zh-CN" dirty="0">
                <a:solidFill>
                  <a:srgbClr val="FF0000"/>
                </a:solidFill>
                <a:latin typeface="微软雅黑" panose="020B0503020204020204" charset="-122"/>
                <a:ea typeface="微软雅黑" panose="020B0503020204020204" charset="-122"/>
              </a:rPr>
              <a:t>1. </a:t>
            </a:r>
            <a:r>
              <a:rPr kumimoji="1" lang="zh-CN" altLang="en-US" dirty="0">
                <a:solidFill>
                  <a:srgbClr val="FF0000"/>
                </a:solidFill>
                <a:latin typeface="微软雅黑" panose="020B0503020204020204" charset="-122"/>
                <a:ea typeface="微软雅黑" panose="020B0503020204020204" charset="-122"/>
              </a:rPr>
              <a:t>互斥锁</a:t>
            </a:r>
            <a:r>
              <a:rPr kumimoji="1" lang="en-US" altLang="zh-CN" dirty="0">
                <a:solidFill>
                  <a:srgbClr val="FF0000"/>
                </a:solidFill>
                <a:latin typeface="微软雅黑" panose="020B0503020204020204" charset="-122"/>
                <a:ea typeface="微软雅黑" panose="020B0503020204020204" charset="-122"/>
              </a:rPr>
              <a:t>(mutex)</a:t>
            </a:r>
            <a:endParaRPr kumimoji="1" lang="en-US" altLang="zh-CN" dirty="0">
              <a:solidFill>
                <a:srgbClr val="FF0000"/>
              </a:solidFill>
              <a:latin typeface="微软雅黑" panose="020B0503020204020204" charset="-122"/>
              <a:ea typeface="微软雅黑" panose="020B0503020204020204" charset="-122"/>
            </a:endParaRPr>
          </a:p>
          <a:p>
            <a:pPr algn="just">
              <a:lnSpc>
                <a:spcPct val="135000"/>
              </a:lnSpc>
              <a:spcBef>
                <a:spcPct val="50000"/>
              </a:spcBef>
              <a:buClrTx/>
              <a:buSzTx/>
            </a:pPr>
            <a:r>
              <a:rPr kumimoji="1" lang="en-US" altLang="zh-CN" sz="1650" dirty="0">
                <a:latin typeface="微软雅黑" panose="020B0503020204020204" charset="-122"/>
                <a:ea typeface="微软雅黑" panose="020B0503020204020204" charset="-122"/>
              </a:rPr>
              <a:t> </a:t>
            </a:r>
            <a:r>
              <a:rPr kumimoji="1" lang="zh-CN" altLang="en-US" sz="1650" dirty="0">
                <a:latin typeface="微软雅黑" panose="020B0503020204020204" charset="-122"/>
                <a:ea typeface="微软雅黑" panose="020B0503020204020204" charset="-122"/>
              </a:rPr>
              <a:t>互斥锁是一种比较简单的、用于实现进程间对资源互斥访问的机制。</a:t>
            </a:r>
            <a:endParaRPr kumimoji="1" lang="en-US" altLang="zh-CN" sz="1650" dirty="0">
              <a:latin typeface="微软雅黑" panose="020B0503020204020204" charset="-122"/>
              <a:ea typeface="微软雅黑" panose="020B0503020204020204" charset="-122"/>
            </a:endParaRPr>
          </a:p>
          <a:p>
            <a:pPr algn="just">
              <a:lnSpc>
                <a:spcPct val="135000"/>
              </a:lnSpc>
              <a:spcBef>
                <a:spcPct val="50000"/>
              </a:spcBef>
              <a:buClrTx/>
              <a:buSzTx/>
            </a:pPr>
            <a:r>
              <a:rPr kumimoji="1" lang="zh-CN" altLang="en-US" sz="1650" dirty="0">
                <a:latin typeface="微软雅黑" panose="020B0503020204020204" charset="-122"/>
                <a:ea typeface="微软雅黑" panose="020B0503020204020204" charset="-122"/>
              </a:rPr>
              <a:t>由于操作互斥锁的时间和空间开销都较低，因而较适合于高频度使用的关键共享数据和程序段。</a:t>
            </a:r>
            <a:endParaRPr kumimoji="1" lang="en-US" altLang="zh-CN" sz="1650" dirty="0">
              <a:latin typeface="微软雅黑" panose="020B0503020204020204" charset="-122"/>
              <a:ea typeface="微软雅黑" panose="020B0503020204020204" charset="-122"/>
            </a:endParaRPr>
          </a:p>
          <a:p>
            <a:pPr algn="just">
              <a:lnSpc>
                <a:spcPct val="135000"/>
              </a:lnSpc>
              <a:spcBef>
                <a:spcPct val="50000"/>
              </a:spcBef>
              <a:buClrTx/>
              <a:buSzTx/>
            </a:pPr>
            <a:r>
              <a:rPr kumimoji="1" lang="zh-CN" altLang="en-US" sz="1650" dirty="0">
                <a:latin typeface="微软雅黑" panose="020B0503020204020204" charset="-122"/>
                <a:ea typeface="微软雅黑" panose="020B0503020204020204" charset="-122"/>
              </a:rPr>
              <a:t>互斥锁可以</a:t>
            </a:r>
            <a:r>
              <a:rPr kumimoji="1" lang="zh-CN" altLang="en-US" sz="1650" dirty="0">
                <a:solidFill>
                  <a:srgbClr val="FF0000"/>
                </a:solidFill>
                <a:latin typeface="微软雅黑" panose="020B0503020204020204" charset="-122"/>
                <a:ea typeface="微软雅黑" panose="020B0503020204020204" charset="-122"/>
              </a:rPr>
              <a:t>有两种状态， 即</a:t>
            </a:r>
            <a:r>
              <a:rPr kumimoji="1" lang="zh-CN" altLang="en-US" sz="1650" dirty="0">
                <a:solidFill>
                  <a:srgbClr val="0000CC"/>
                </a:solidFill>
                <a:latin typeface="微软雅黑" panose="020B0503020204020204" charset="-122"/>
                <a:ea typeface="微软雅黑" panose="020B0503020204020204" charset="-122"/>
              </a:rPr>
              <a:t>开锁</a:t>
            </a:r>
            <a:r>
              <a:rPr kumimoji="1" lang="en-US" altLang="zh-CN" sz="1650" dirty="0">
                <a:solidFill>
                  <a:srgbClr val="0000CC"/>
                </a:solidFill>
                <a:latin typeface="微软雅黑" panose="020B0503020204020204" charset="-122"/>
                <a:ea typeface="微软雅黑" panose="020B0503020204020204" charset="-122"/>
              </a:rPr>
              <a:t>(unlock)</a:t>
            </a:r>
            <a:r>
              <a:rPr kumimoji="1" lang="zh-CN" altLang="en-US" sz="1650" dirty="0">
                <a:solidFill>
                  <a:srgbClr val="FF0000"/>
                </a:solidFill>
                <a:latin typeface="微软雅黑" panose="020B0503020204020204" charset="-122"/>
                <a:ea typeface="微软雅黑" panose="020B0503020204020204" charset="-122"/>
              </a:rPr>
              <a:t>和</a:t>
            </a:r>
            <a:r>
              <a:rPr kumimoji="1" lang="zh-CN" altLang="en-US" sz="1650" dirty="0">
                <a:solidFill>
                  <a:srgbClr val="0000CC"/>
                </a:solidFill>
                <a:latin typeface="微软雅黑" panose="020B0503020204020204" charset="-122"/>
                <a:ea typeface="微软雅黑" panose="020B0503020204020204" charset="-122"/>
              </a:rPr>
              <a:t>关锁</a:t>
            </a:r>
            <a:r>
              <a:rPr kumimoji="1" lang="en-US" altLang="zh-CN" sz="1650" dirty="0">
                <a:solidFill>
                  <a:srgbClr val="0000CC"/>
                </a:solidFill>
                <a:latin typeface="微软雅黑" panose="020B0503020204020204" charset="-122"/>
                <a:ea typeface="微软雅黑" panose="020B0503020204020204" charset="-122"/>
              </a:rPr>
              <a:t>(lock)</a:t>
            </a:r>
            <a:r>
              <a:rPr kumimoji="1" lang="zh-CN" altLang="en-US" sz="1650" dirty="0">
                <a:solidFill>
                  <a:srgbClr val="0000CC"/>
                </a:solidFill>
                <a:latin typeface="微软雅黑" panose="020B0503020204020204" charset="-122"/>
                <a:ea typeface="微软雅黑" panose="020B0503020204020204" charset="-122"/>
              </a:rPr>
              <a:t>状态</a:t>
            </a:r>
            <a:r>
              <a:rPr kumimoji="1" lang="zh-CN" altLang="en-US" sz="1650" dirty="0">
                <a:solidFill>
                  <a:srgbClr val="FF0000"/>
                </a:solidFill>
                <a:latin typeface="微软雅黑" panose="020B0503020204020204" charset="-122"/>
                <a:ea typeface="微软雅黑" panose="020B0503020204020204" charset="-122"/>
              </a:rPr>
              <a:t>。 </a:t>
            </a:r>
            <a:endParaRPr lang="zh-CN" altLang="en-US" sz="1650" dirty="0">
              <a:latin typeface="微软雅黑" panose="020B0503020204020204" charset="-122"/>
              <a:ea typeface="微软雅黑" panose="020B0503020204020204" charset="-122"/>
            </a:endParaRPr>
          </a:p>
        </p:txBody>
      </p:sp>
      <p:sp>
        <p:nvSpPr>
          <p:cNvPr id="6"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4"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82042" y="1898096"/>
            <a:ext cx="2564079" cy="411956"/>
          </a:xfrm>
        </p:spPr>
        <p:txBody>
          <a:bodyPr/>
          <a:lstStyle/>
          <a:p>
            <a:r>
              <a:rPr lang="zh-CN" altLang="en-US" dirty="0"/>
              <a:t>关锁的两种方式</a:t>
            </a:r>
            <a:endParaRPr lang="zh-CN" altLang="en-US" dirty="0"/>
          </a:p>
        </p:txBody>
      </p:sp>
      <p:sp>
        <p:nvSpPr>
          <p:cNvPr id="4" name="内容占位符 3"/>
          <p:cNvSpPr>
            <a:spLocks noGrp="1"/>
          </p:cNvSpPr>
          <p:nvPr>
            <p:ph idx="1"/>
          </p:nvPr>
        </p:nvSpPr>
        <p:spPr>
          <a:xfrm>
            <a:off x="971601" y="2435067"/>
            <a:ext cx="7818120" cy="3201035"/>
          </a:xfrm>
          <a:prstGeom prst="rect">
            <a:avLst/>
          </a:prstGeom>
        </p:spPr>
        <p:txBody>
          <a:bodyPr wrap="square">
            <a:spAutoFit/>
          </a:bodyPr>
          <a:lstStyle/>
          <a:p>
            <a:pPr lvl="1" eaLnBrk="1" hangingPunct="1">
              <a:buFont typeface="Wingdings" panose="05000000000000000000" pitchFamily="2" charset="2"/>
              <a:buChar char="Ø"/>
              <a:defRPr/>
            </a:pPr>
            <a:r>
              <a:rPr kumimoji="1" lang="zh-CN" altLang="en-US" sz="1800" dirty="0">
                <a:latin typeface="Times New Roman" panose="02020603050405020304" pitchFamily="18" charset="0"/>
              </a:rPr>
              <a:t>阻塞方式</a:t>
            </a:r>
            <a:endParaRPr kumimoji="1" lang="zh-CN" altLang="en-US" sz="1800" dirty="0">
              <a:latin typeface="Times New Roman" panose="02020603050405020304" pitchFamily="18" charset="0"/>
            </a:endParaRPr>
          </a:p>
          <a:p>
            <a:pPr marL="379730" lvl="2" indent="0">
              <a:buNone/>
              <a:defRPr/>
            </a:pPr>
            <a:r>
              <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rPr>
              <a:t>lock(</a:t>
            </a:r>
            <a:r>
              <a:rPr lang="en-US" altLang="zh-CN" sz="1800" dirty="0" err="1">
                <a:solidFill>
                  <a:srgbClr val="0000CC"/>
                </a:solidFill>
                <a:effectLst>
                  <a:outerShdw blurRad="38100" dist="38100" dir="2700000" algn="tl">
                    <a:srgbClr val="C0C0C0"/>
                  </a:outerShdw>
                </a:effectLst>
                <a:latin typeface="楷体_GB2312" pitchFamily="49" charset="-122"/>
                <a:ea typeface="楷体_GB2312" pitchFamily="49" charset="-122"/>
              </a:rPr>
              <a:t>mutex</a:t>
            </a:r>
            <a:r>
              <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rPr>
              <a:t>)</a:t>
            </a:r>
            <a:endPar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endParaRPr>
          </a:p>
          <a:p>
            <a:pPr marL="379730" lvl="2" indent="0">
              <a:buNone/>
              <a:defRPr/>
            </a:pPr>
            <a:r>
              <a:rPr lang="zh-CN" altLang="en-US" sz="1800" dirty="0">
                <a:solidFill>
                  <a:srgbClr val="0000CC"/>
                </a:solidFill>
                <a:effectLst>
                  <a:outerShdw blurRad="38100" dist="38100" dir="2700000" algn="tl">
                    <a:srgbClr val="C0C0C0"/>
                  </a:outerShdw>
                </a:effectLst>
                <a:latin typeface="楷体_GB2312" pitchFamily="49" charset="-122"/>
                <a:ea typeface="楷体_GB2312" pitchFamily="49" charset="-122"/>
              </a:rPr>
              <a:t>访问</a:t>
            </a:r>
            <a:endParaRPr lang="zh-CN" altLang="en-US" sz="1800" dirty="0">
              <a:solidFill>
                <a:srgbClr val="0000CC"/>
              </a:solidFill>
              <a:effectLst>
                <a:outerShdw blurRad="38100" dist="38100" dir="2700000" algn="tl">
                  <a:srgbClr val="C0C0C0"/>
                </a:outerShdw>
              </a:effectLst>
              <a:latin typeface="楷体_GB2312" pitchFamily="49" charset="-122"/>
              <a:ea typeface="楷体_GB2312" pitchFamily="49" charset="-122"/>
            </a:endParaRPr>
          </a:p>
          <a:p>
            <a:pPr marL="379730" lvl="2" indent="0">
              <a:buNone/>
              <a:defRPr/>
            </a:pPr>
            <a:r>
              <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rPr>
              <a:t>unlock(mutex)</a:t>
            </a:r>
            <a:endPar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endParaRPr>
          </a:p>
          <a:p>
            <a:pPr marL="379730" lvl="2" indent="0">
              <a:buNone/>
              <a:defRPr/>
            </a:pPr>
            <a:r>
              <a:rPr lang="en-US" altLang="zh-CN" sz="1500" dirty="0">
                <a:effectLst>
                  <a:outerShdw blurRad="38100" dist="38100" dir="2700000" algn="tl">
                    <a:srgbClr val="C0C0C0"/>
                  </a:outerShdw>
                </a:effectLst>
                <a:latin typeface="楷体_GB2312" pitchFamily="49" charset="-122"/>
                <a:ea typeface="楷体_GB2312" pitchFamily="49" charset="-122"/>
              </a:rPr>
              <a:t>//</a:t>
            </a:r>
            <a:r>
              <a:rPr lang="zh-CN" altLang="en-US" sz="1500" b="0" dirty="0"/>
              <a:t>用来锁住互斥体变量。如果参数</a:t>
            </a:r>
            <a:r>
              <a:rPr lang="en-US" altLang="zh-CN" sz="1500" b="0" dirty="0"/>
              <a:t>mutex </a:t>
            </a:r>
            <a:r>
              <a:rPr lang="zh-CN" altLang="en-US" sz="1500" b="0" dirty="0"/>
              <a:t>所指的互斥体已经被锁住了，那么发出调用的线程将被阻塞直到其他线程对</a:t>
            </a:r>
            <a:r>
              <a:rPr lang="en-US" altLang="zh-CN" sz="1500" b="0" dirty="0"/>
              <a:t>mutex </a:t>
            </a:r>
            <a:r>
              <a:rPr lang="zh-CN" altLang="en-US" sz="1500" b="0" dirty="0"/>
              <a:t>解锁。</a:t>
            </a:r>
            <a:endParaRPr lang="en-US" altLang="zh-CN" sz="1500" dirty="0">
              <a:effectLst>
                <a:outerShdw blurRad="38100" dist="38100" dir="2700000" algn="tl">
                  <a:srgbClr val="C0C0C0"/>
                </a:outerShdw>
              </a:effectLst>
              <a:latin typeface="楷体_GB2312" pitchFamily="49" charset="-122"/>
              <a:ea typeface="楷体_GB2312" pitchFamily="49" charset="-122"/>
            </a:endParaRPr>
          </a:p>
          <a:p>
            <a:pPr lvl="1" eaLnBrk="1" hangingPunct="1">
              <a:buFont typeface="Wingdings" panose="05000000000000000000" pitchFamily="2" charset="2"/>
              <a:buChar char="Ø"/>
              <a:defRPr/>
            </a:pPr>
            <a:r>
              <a:rPr kumimoji="1" lang="zh-CN" altLang="en-US" sz="1800" dirty="0">
                <a:latin typeface="Times New Roman" panose="02020603050405020304" pitchFamily="18" charset="0"/>
              </a:rPr>
              <a:t>非阻塞方式</a:t>
            </a:r>
            <a:endParaRPr kumimoji="1" lang="zh-CN" altLang="en-US" sz="1800" dirty="0">
              <a:latin typeface="Times New Roman" panose="02020603050405020304" pitchFamily="18" charset="0"/>
            </a:endParaRPr>
          </a:p>
          <a:p>
            <a:pPr marL="379730" lvl="2" indent="0">
              <a:buNone/>
              <a:defRPr/>
            </a:pPr>
            <a:r>
              <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rPr>
              <a:t>if</a:t>
            </a:r>
            <a:r>
              <a:rPr lang="zh-CN" altLang="en-US" sz="1800" dirty="0">
                <a:solidFill>
                  <a:srgbClr val="0000CC"/>
                </a:solidFill>
                <a:effectLst>
                  <a:outerShdw blurRad="38100" dist="38100" dir="2700000" algn="tl">
                    <a:srgbClr val="C0C0C0"/>
                  </a:outerShdw>
                </a:effectLst>
                <a:latin typeface="楷体_GB2312" pitchFamily="49" charset="-122"/>
                <a:ea typeface="楷体_GB2312" pitchFamily="49" charset="-122"/>
              </a:rPr>
              <a:t>（</a:t>
            </a:r>
            <a:r>
              <a:rPr lang="en-US" altLang="zh-CN" sz="1800" dirty="0" err="1">
                <a:solidFill>
                  <a:srgbClr val="0000CC"/>
                </a:solidFill>
                <a:effectLst>
                  <a:outerShdw blurRad="38100" dist="38100" dir="2700000" algn="tl">
                    <a:srgbClr val="C0C0C0"/>
                  </a:outerShdw>
                </a:effectLst>
                <a:latin typeface="楷体_GB2312" pitchFamily="49" charset="-122"/>
                <a:ea typeface="楷体_GB2312" pitchFamily="49" charset="-122"/>
              </a:rPr>
              <a:t>trylock</a:t>
            </a:r>
            <a:r>
              <a:rPr lang="zh-CN" altLang="en-US" sz="1800" dirty="0">
                <a:solidFill>
                  <a:srgbClr val="0000CC"/>
                </a:solidFill>
                <a:effectLst>
                  <a:outerShdw blurRad="38100" dist="38100" dir="2700000" algn="tl">
                    <a:srgbClr val="C0C0C0"/>
                  </a:outerShdw>
                </a:effectLst>
                <a:latin typeface="楷体_GB2312" pitchFamily="49" charset="-122"/>
                <a:ea typeface="楷体_GB2312" pitchFamily="49" charset="-122"/>
              </a:rPr>
              <a:t>） </a:t>
            </a:r>
            <a:r>
              <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rPr>
              <a:t>then</a:t>
            </a:r>
            <a:endPar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endParaRPr>
          </a:p>
          <a:p>
            <a:pPr marL="379730" lvl="2" indent="0">
              <a:buNone/>
              <a:defRPr/>
            </a:pPr>
            <a:r>
              <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rPr>
              <a:t>else</a:t>
            </a:r>
            <a:endParaRPr lang="en-US" altLang="zh-CN" sz="1800" dirty="0">
              <a:solidFill>
                <a:srgbClr val="0000CC"/>
              </a:solidFill>
              <a:effectLst>
                <a:outerShdw blurRad="38100" dist="38100" dir="2700000" algn="tl">
                  <a:srgbClr val="C0C0C0"/>
                </a:outerShdw>
              </a:effectLst>
              <a:latin typeface="楷体_GB2312" pitchFamily="49" charset="-122"/>
              <a:ea typeface="楷体_GB2312" pitchFamily="49" charset="-122"/>
            </a:endParaRPr>
          </a:p>
          <a:p>
            <a:pPr marL="379730" lvl="2" indent="0">
              <a:buNone/>
              <a:defRPr/>
            </a:pPr>
            <a:r>
              <a:rPr lang="en-US" altLang="zh-CN" sz="1800" dirty="0">
                <a:effectLst>
                  <a:outerShdw blurRad="38100" dist="38100" dir="2700000" algn="tl">
                    <a:srgbClr val="C0C0C0"/>
                  </a:outerShdw>
                </a:effectLst>
                <a:latin typeface="楷体_GB2312" pitchFamily="49" charset="-122"/>
                <a:ea typeface="楷体_GB2312" pitchFamily="49" charset="-122"/>
              </a:rPr>
              <a:t>//</a:t>
            </a:r>
            <a:r>
              <a:rPr lang="zh-CN" altLang="en-US" sz="1500" b="0" dirty="0"/>
              <a:t>如果互斥体已经被上锁，该调用不会阻塞等待，而会返回一个错误代码。</a:t>
            </a:r>
            <a:endParaRPr lang="en-US" altLang="zh-CN" sz="1800" dirty="0">
              <a:effectLst>
                <a:outerShdw blurRad="38100" dist="38100" dir="2700000" algn="tl">
                  <a:srgbClr val="C0C0C0"/>
                </a:outerShdw>
              </a:effectLst>
              <a:latin typeface="楷体_GB2312" pitchFamily="49" charset="-122"/>
              <a:ea typeface="楷体_GB2312" pitchFamily="49" charset="-122"/>
            </a:endParaRPr>
          </a:p>
        </p:txBody>
      </p:sp>
      <p:sp>
        <p:nvSpPr>
          <p:cNvPr id="5"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6"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rrowheads="1"/>
          </p:cNvSpPr>
          <p:nvPr>
            <p:ph type="title"/>
          </p:nvPr>
        </p:nvSpPr>
        <p:spPr>
          <a:xfrm>
            <a:off x="327317" y="1938736"/>
            <a:ext cx="3741764" cy="411956"/>
          </a:xfrm>
        </p:spPr>
        <p:txBody>
          <a:bodyPr/>
          <a:lstStyle/>
          <a:p>
            <a:r>
              <a:rPr lang="en-US" altLang="zh-CN" b="1" dirty="0">
                <a:solidFill>
                  <a:srgbClr val="FF0000"/>
                </a:solidFill>
              </a:rPr>
              <a:t>Linux </a:t>
            </a:r>
            <a:r>
              <a:rPr lang="zh-CN" altLang="en-US" b="1" dirty="0">
                <a:solidFill>
                  <a:srgbClr val="FF0000"/>
                </a:solidFill>
              </a:rPr>
              <a:t>中的线程互斥锁</a:t>
            </a:r>
            <a:endParaRPr lang="zh-CN" altLang="en-US" b="1" dirty="0">
              <a:solidFill>
                <a:srgbClr val="FF0000"/>
              </a:solidFill>
            </a:endParaRPr>
          </a:p>
        </p:txBody>
      </p:sp>
      <p:sp>
        <p:nvSpPr>
          <p:cNvPr id="324611" name="Rectangle 3"/>
          <p:cNvSpPr>
            <a:spLocks noGrp="1" noRot="1" noChangeArrowheads="1"/>
          </p:cNvSpPr>
          <p:nvPr>
            <p:ph type="body" idx="1"/>
          </p:nvPr>
        </p:nvSpPr>
        <p:spPr>
          <a:xfrm>
            <a:off x="1066800" y="2487930"/>
            <a:ext cx="7462520" cy="2975813"/>
          </a:xfrm>
        </p:spPr>
        <p:txBody>
          <a:bodyPr/>
          <a:lstStyle/>
          <a:p>
            <a:pPr>
              <a:lnSpc>
                <a:spcPct val="150000"/>
              </a:lnSpc>
              <a:buFont typeface="Wingdings 2" panose="05020102010507070707" pitchFamily="18" charset="2"/>
              <a:buNone/>
            </a:pPr>
            <a:r>
              <a:rPr kumimoji="1" lang="en-US" altLang="zh-CN" dirty="0">
                <a:solidFill>
                  <a:srgbClr val="00B050"/>
                </a:solidFill>
                <a:latin typeface="微软雅黑" panose="020B0503020204020204" charset="-122"/>
                <a:ea typeface="微软雅黑" panose="020B0503020204020204" charset="-122"/>
              </a:rPr>
              <a:t>int </a:t>
            </a:r>
            <a:r>
              <a:rPr kumimoji="1" lang="en-US" altLang="zh-CN" dirty="0" err="1">
                <a:solidFill>
                  <a:srgbClr val="00B050"/>
                </a:solidFill>
                <a:latin typeface="微软雅黑" panose="020B0503020204020204" charset="-122"/>
                <a:ea typeface="微软雅黑" panose="020B0503020204020204" charset="-122"/>
              </a:rPr>
              <a:t>pthread_mutex_lock</a:t>
            </a:r>
            <a:r>
              <a:rPr kumimoji="1" lang="en-US" altLang="zh-CN" dirty="0">
                <a:solidFill>
                  <a:srgbClr val="00B050"/>
                </a:solidFill>
                <a:latin typeface="微软雅黑" panose="020B0503020204020204" charset="-122"/>
                <a:ea typeface="微软雅黑" panose="020B0503020204020204" charset="-122"/>
              </a:rPr>
              <a:t>(</a:t>
            </a:r>
            <a:r>
              <a:rPr kumimoji="1" lang="en-US" altLang="zh-CN" dirty="0" err="1">
                <a:solidFill>
                  <a:srgbClr val="00B050"/>
                </a:solidFill>
                <a:latin typeface="微软雅黑" panose="020B0503020204020204" charset="-122"/>
                <a:ea typeface="微软雅黑" panose="020B0503020204020204" charset="-122"/>
              </a:rPr>
              <a:t>pthread_mutex_t</a:t>
            </a:r>
            <a:r>
              <a:rPr kumimoji="1" lang="en-US" altLang="zh-CN" dirty="0">
                <a:solidFill>
                  <a:srgbClr val="00B050"/>
                </a:solidFill>
                <a:latin typeface="微软雅黑" panose="020B0503020204020204" charset="-122"/>
                <a:ea typeface="微软雅黑" panose="020B0503020204020204" charset="-122"/>
              </a:rPr>
              <a:t> </a:t>
            </a:r>
            <a:r>
              <a:rPr kumimoji="1" lang="zh-CN" altLang="en-US" dirty="0">
                <a:solidFill>
                  <a:srgbClr val="00B050"/>
                </a:solidFill>
                <a:latin typeface="微软雅黑" panose="020B0503020204020204" charset="-122"/>
                <a:ea typeface="微软雅黑" panose="020B0503020204020204" charset="-122"/>
              </a:rPr>
              <a:t> </a:t>
            </a:r>
            <a:r>
              <a:rPr kumimoji="1" lang="en-US" altLang="zh-CN" dirty="0">
                <a:solidFill>
                  <a:srgbClr val="00B050"/>
                </a:solidFill>
                <a:latin typeface="微软雅黑" panose="020B0503020204020204" charset="-122"/>
                <a:ea typeface="微软雅黑" panose="020B0503020204020204" charset="-122"/>
              </a:rPr>
              <a:t>*mutex);</a:t>
            </a:r>
            <a:r>
              <a:rPr kumimoji="1" lang="zh-CN" altLang="en-US" dirty="0">
                <a:solidFill>
                  <a:srgbClr val="00B050"/>
                </a:solidFill>
                <a:latin typeface="微软雅黑" panose="020B0503020204020204" charset="-122"/>
                <a:ea typeface="微软雅黑" panose="020B0503020204020204" charset="-122"/>
              </a:rPr>
              <a:t> </a:t>
            </a:r>
            <a:r>
              <a:rPr kumimoji="1" lang="en-US" altLang="zh-CN" dirty="0">
                <a:solidFill>
                  <a:srgbClr val="00B050"/>
                </a:solidFill>
                <a:latin typeface="微软雅黑" panose="020B0503020204020204" charset="-122"/>
                <a:ea typeface="微软雅黑" panose="020B0503020204020204" charset="-122"/>
              </a:rPr>
              <a:t> </a:t>
            </a:r>
            <a:endParaRPr kumimoji="1" lang="en-US" altLang="zh-CN" dirty="0">
              <a:solidFill>
                <a:srgbClr val="00B050"/>
              </a:solidFill>
              <a:latin typeface="微软雅黑" panose="020B0503020204020204" charset="-122"/>
              <a:ea typeface="微软雅黑" panose="020B0503020204020204" charset="-122"/>
            </a:endParaRPr>
          </a:p>
          <a:p>
            <a:pPr>
              <a:lnSpc>
                <a:spcPct val="150000"/>
              </a:lnSpc>
              <a:buFont typeface="Wingdings 2" panose="05020102010507070707" pitchFamily="18" charset="2"/>
              <a:buNone/>
            </a:pPr>
            <a:r>
              <a:rPr kumimoji="1" lang="zh-CN" altLang="en-US" sz="1500" b="1" dirty="0">
                <a:latin typeface="微软雅黑" panose="020B0503020204020204" charset="-122"/>
                <a:ea typeface="微软雅黑" panose="020B0503020204020204" charset="-122"/>
              </a:rPr>
              <a:t>    </a:t>
            </a:r>
            <a:r>
              <a:rPr kumimoji="1" lang="en-US" altLang="zh-CN" sz="1500" b="1" dirty="0">
                <a:latin typeface="微软雅黑" panose="020B0503020204020204" charset="-122"/>
                <a:ea typeface="微软雅黑" panose="020B0503020204020204" charset="-122"/>
              </a:rPr>
              <a:t>//</a:t>
            </a:r>
            <a:r>
              <a:rPr kumimoji="1" lang="zh-CN" altLang="en-US" sz="1500" b="1" dirty="0">
                <a:latin typeface="微软雅黑" panose="020B0503020204020204" charset="-122"/>
                <a:ea typeface="微软雅黑" panose="020B0503020204020204" charset="-122"/>
              </a:rPr>
              <a:t>返回时，</a:t>
            </a:r>
            <a:r>
              <a:rPr kumimoji="1" lang="zh-CN" altLang="en-US" sz="1500" b="1" dirty="0">
                <a:latin typeface="微软雅黑" panose="020B0503020204020204" charset="-122"/>
                <a:ea typeface="微软雅黑" panose="020B0503020204020204" charset="-122"/>
                <a:hlinkClick r:id="rId1"/>
              </a:rPr>
              <a:t>互斥锁</a:t>
            </a:r>
            <a:r>
              <a:rPr kumimoji="1" lang="zh-CN" altLang="en-US" sz="1500" b="1" dirty="0">
                <a:latin typeface="微软雅黑" panose="020B0503020204020204" charset="-122"/>
                <a:ea typeface="微软雅黑" panose="020B0503020204020204" charset="-122"/>
              </a:rPr>
              <a:t>已被锁定。该</a:t>
            </a:r>
            <a:r>
              <a:rPr kumimoji="1" lang="zh-CN" altLang="en-US" sz="1500" b="1" dirty="0">
                <a:latin typeface="微软雅黑" panose="020B0503020204020204" charset="-122"/>
                <a:ea typeface="微软雅黑" panose="020B0503020204020204" charset="-122"/>
                <a:hlinkClick r:id="rId2"/>
              </a:rPr>
              <a:t>线程</a:t>
            </a:r>
            <a:r>
              <a:rPr kumimoji="1" lang="zh-CN" altLang="en-US" sz="1500" b="1" dirty="0">
                <a:latin typeface="微软雅黑" panose="020B0503020204020204" charset="-122"/>
                <a:ea typeface="微软雅黑" panose="020B0503020204020204" charset="-122"/>
              </a:rPr>
              <a:t>使互斥锁锁住。如果互斥锁已被另一个线程锁定和拥有，则该线程将阻塞，直到互斥锁变为可用为止。 </a:t>
            </a:r>
            <a:endParaRPr kumimoji="1" lang="en-US" altLang="zh-CN" sz="1500" b="1" dirty="0">
              <a:latin typeface="微软雅黑" panose="020B0503020204020204" charset="-122"/>
              <a:ea typeface="微软雅黑" panose="020B0503020204020204" charset="-122"/>
            </a:endParaRPr>
          </a:p>
          <a:p>
            <a:pPr>
              <a:lnSpc>
                <a:spcPct val="150000"/>
              </a:lnSpc>
              <a:buFont typeface="Wingdings 2" panose="05020102010507070707" pitchFamily="18" charset="2"/>
              <a:buNone/>
            </a:pPr>
            <a:endParaRPr kumimoji="1" lang="zh-CN" altLang="en-US" sz="2100" dirty="0">
              <a:latin typeface="微软雅黑" panose="020B0503020204020204" charset="-122"/>
              <a:ea typeface="微软雅黑" panose="020B0503020204020204" charset="-122"/>
            </a:endParaRPr>
          </a:p>
          <a:p>
            <a:pPr>
              <a:lnSpc>
                <a:spcPct val="150000"/>
              </a:lnSpc>
              <a:buFont typeface="Wingdings 2" panose="05020102010507070707" pitchFamily="18" charset="2"/>
              <a:buNone/>
            </a:pPr>
            <a:r>
              <a:rPr kumimoji="1" lang="en-US" altLang="zh-CN" dirty="0">
                <a:solidFill>
                  <a:srgbClr val="00B050"/>
                </a:solidFill>
                <a:latin typeface="微软雅黑" panose="020B0503020204020204" charset="-122"/>
                <a:ea typeface="微软雅黑" panose="020B0503020204020204" charset="-122"/>
              </a:rPr>
              <a:t>int </a:t>
            </a:r>
            <a:r>
              <a:rPr kumimoji="1" lang="en-US" altLang="zh-CN" dirty="0" err="1">
                <a:solidFill>
                  <a:srgbClr val="00B050"/>
                </a:solidFill>
                <a:latin typeface="微软雅黑" panose="020B0503020204020204" charset="-122"/>
                <a:ea typeface="微软雅黑" panose="020B0503020204020204" charset="-122"/>
              </a:rPr>
              <a:t>pthread_mutex_unlock</a:t>
            </a:r>
            <a:r>
              <a:rPr kumimoji="1" lang="en-US" altLang="zh-CN" dirty="0">
                <a:solidFill>
                  <a:srgbClr val="00B050"/>
                </a:solidFill>
                <a:latin typeface="微软雅黑" panose="020B0503020204020204" charset="-122"/>
                <a:ea typeface="微软雅黑" panose="020B0503020204020204" charset="-122"/>
              </a:rPr>
              <a:t>(</a:t>
            </a:r>
            <a:r>
              <a:rPr kumimoji="1" lang="en-US" altLang="zh-CN" dirty="0" err="1">
                <a:solidFill>
                  <a:srgbClr val="00B050"/>
                </a:solidFill>
                <a:latin typeface="微软雅黑" panose="020B0503020204020204" charset="-122"/>
                <a:ea typeface="微软雅黑" panose="020B0503020204020204" charset="-122"/>
              </a:rPr>
              <a:t>pthread_mutex_t</a:t>
            </a:r>
            <a:r>
              <a:rPr kumimoji="1" lang="zh-CN" altLang="en-US" dirty="0">
                <a:solidFill>
                  <a:srgbClr val="00B050"/>
                </a:solidFill>
                <a:latin typeface="微软雅黑" panose="020B0503020204020204" charset="-122"/>
                <a:ea typeface="微软雅黑" panose="020B0503020204020204" charset="-122"/>
              </a:rPr>
              <a:t> </a:t>
            </a:r>
            <a:r>
              <a:rPr kumimoji="1" lang="en-US" altLang="zh-CN" dirty="0">
                <a:solidFill>
                  <a:srgbClr val="00B050"/>
                </a:solidFill>
                <a:latin typeface="微软雅黑" panose="020B0503020204020204" charset="-122"/>
                <a:ea typeface="微软雅黑" panose="020B0503020204020204" charset="-122"/>
              </a:rPr>
              <a:t> *mutex);</a:t>
            </a:r>
            <a:endParaRPr kumimoji="1" lang="en-US" altLang="zh-CN" dirty="0">
              <a:solidFill>
                <a:srgbClr val="00B050"/>
              </a:solidFill>
              <a:latin typeface="微软雅黑" panose="020B0503020204020204" charset="-122"/>
              <a:ea typeface="微软雅黑" panose="020B0503020204020204" charset="-122"/>
            </a:endParaRPr>
          </a:p>
          <a:p>
            <a:pPr>
              <a:lnSpc>
                <a:spcPct val="150000"/>
              </a:lnSpc>
              <a:buFont typeface="Wingdings 2" panose="05020102010507070707" pitchFamily="18" charset="2"/>
              <a:buNone/>
            </a:pPr>
            <a:r>
              <a:rPr kumimoji="1" lang="en-US" altLang="zh-CN" sz="1350" dirty="0">
                <a:latin typeface="微软雅黑" panose="020B0503020204020204" charset="-122"/>
                <a:ea typeface="微软雅黑" panose="020B0503020204020204" charset="-122"/>
              </a:rPr>
              <a:t>    </a:t>
            </a:r>
            <a:r>
              <a:rPr kumimoji="1" lang="en-US" altLang="zh-CN" sz="1500" b="1" dirty="0">
                <a:latin typeface="微软雅黑" panose="020B0503020204020204" charset="-122"/>
                <a:ea typeface="微软雅黑" panose="020B0503020204020204" charset="-122"/>
              </a:rPr>
              <a:t>//</a:t>
            </a:r>
            <a:r>
              <a:rPr kumimoji="1" lang="zh-CN" altLang="en-US" sz="1500" b="1" dirty="0">
                <a:latin typeface="微软雅黑" panose="020B0503020204020204" charset="-122"/>
                <a:ea typeface="微软雅黑" panose="020B0503020204020204" charset="-122"/>
              </a:rPr>
              <a:t>释放互斥锁，与</a:t>
            </a:r>
            <a:r>
              <a:rPr kumimoji="1" lang="en-US" altLang="zh-CN" sz="1500" b="1" dirty="0" err="1">
                <a:latin typeface="微软雅黑" panose="020B0503020204020204" charset="-122"/>
                <a:ea typeface="微软雅黑" panose="020B0503020204020204" charset="-122"/>
              </a:rPr>
              <a:t>pthread_mutex_lock</a:t>
            </a:r>
            <a:r>
              <a:rPr kumimoji="1" lang="zh-CN" altLang="en-US" sz="1500" b="1" dirty="0">
                <a:latin typeface="微软雅黑" panose="020B0503020204020204" charset="-122"/>
                <a:ea typeface="微软雅黑" panose="020B0503020204020204" charset="-122"/>
              </a:rPr>
              <a:t>成对存在。</a:t>
            </a:r>
            <a:r>
              <a:rPr kumimoji="1" lang="zh-CN" altLang="en-US" sz="1500" dirty="0">
                <a:latin typeface="微软雅黑" panose="020B0503020204020204" charset="-122"/>
                <a:ea typeface="微软雅黑" panose="020B0503020204020204" charset="-122"/>
              </a:rPr>
              <a:t> </a:t>
            </a:r>
            <a:endParaRPr kumimoji="1" lang="zh-CN" altLang="en-US" sz="1350" dirty="0">
              <a:latin typeface="微软雅黑" panose="020B0503020204020204" charset="-122"/>
              <a:ea typeface="微软雅黑" panose="020B0503020204020204" charset="-122"/>
            </a:endParaRPr>
          </a:p>
          <a:p>
            <a:pPr>
              <a:lnSpc>
                <a:spcPct val="150000"/>
              </a:lnSpc>
            </a:pPr>
            <a:endParaRPr lang="zh-CN" altLang="en-US" dirty="0">
              <a:latin typeface="微软雅黑" panose="020B0503020204020204" charset="-122"/>
              <a:ea typeface="微软雅黑" panose="020B0503020204020204" charset="-122"/>
            </a:endParaRPr>
          </a:p>
        </p:txBody>
      </p:sp>
      <p:sp>
        <p:nvSpPr>
          <p:cNvPr id="4"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5"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95961" y="1865869"/>
            <a:ext cx="3696092" cy="342265"/>
          </a:xfrm>
          <a:prstGeom prst="rect">
            <a:avLst/>
          </a:prstGeom>
        </p:spPr>
        <p:txBody>
          <a:bodyPr wrap="square">
            <a:spAutoFit/>
          </a:bodyPr>
          <a:lstStyle/>
          <a:p>
            <a:pPr>
              <a:lnSpc>
                <a:spcPct val="120000"/>
              </a:lnSpc>
            </a:pPr>
            <a:r>
              <a:rPr lang="zh-CN" altLang="en-US" sz="100" b="1" dirty="0"/>
              <a:t>void * product(</a:t>
            </a:r>
            <a:r>
              <a:rPr lang="en-US" altLang="zh-CN" sz="100" b="1" dirty="0"/>
              <a:t> </a:t>
            </a:r>
            <a:r>
              <a:rPr lang="zh-CN" altLang="en-US" sz="100" b="1" dirty="0"/>
              <a:t>)</a:t>
            </a:r>
            <a:endParaRPr lang="zh-CN" altLang="en-US" sz="100" b="1" dirty="0"/>
          </a:p>
          <a:p>
            <a:pPr>
              <a:lnSpc>
                <a:spcPct val="120000"/>
              </a:lnSpc>
            </a:pPr>
            <a:r>
              <a:rPr lang="zh-CN" altLang="en-US" sz="100" b="1" dirty="0"/>
              <a:t>{</a:t>
            </a:r>
            <a:endParaRPr lang="zh-CN" altLang="en-US" sz="100" b="1" dirty="0"/>
          </a:p>
          <a:p>
            <a:pPr>
              <a:lnSpc>
                <a:spcPct val="120000"/>
              </a:lnSpc>
            </a:pPr>
            <a:r>
              <a:rPr lang="zh-CN" altLang="en-US" sz="100" b="1" dirty="0"/>
              <a:t>    </a:t>
            </a:r>
            <a:r>
              <a:rPr lang="en-US" altLang="zh-CN" sz="100" b="1" dirty="0"/>
              <a:t>……</a:t>
            </a:r>
            <a:r>
              <a:rPr lang="zh-CN" altLang="en-US" sz="100" b="1" dirty="0"/>
              <a:t>;</a:t>
            </a:r>
            <a:endParaRPr lang="zh-CN" altLang="en-US" sz="100" b="1" dirty="0"/>
          </a:p>
          <a:p>
            <a:pPr>
              <a:lnSpc>
                <a:spcPct val="120000"/>
              </a:lnSpc>
            </a:pPr>
            <a:r>
              <a:rPr lang="zh-CN" altLang="en-US" sz="100" b="1" dirty="0"/>
              <a:t>    while(1)</a:t>
            </a:r>
            <a:endParaRPr lang="zh-CN" altLang="en-US" sz="100" b="1" dirty="0"/>
          </a:p>
          <a:p>
            <a:pPr>
              <a:lnSpc>
                <a:spcPct val="120000"/>
              </a:lnSpc>
            </a:pPr>
            <a:r>
              <a:rPr lang="zh-CN" altLang="en-US" sz="100" b="1" dirty="0"/>
              <a:t>    {</a:t>
            </a:r>
            <a:endParaRPr lang="zh-CN" altLang="en-US" sz="100" b="1" dirty="0"/>
          </a:p>
          <a:p>
            <a:pPr>
              <a:lnSpc>
                <a:spcPct val="120000"/>
              </a:lnSpc>
            </a:pPr>
            <a:r>
              <a:rPr lang="zh-CN" altLang="en-US" sz="100" b="1" dirty="0"/>
              <a:t>        </a:t>
            </a:r>
            <a:r>
              <a:rPr lang="en-US" altLang="zh-CN" sz="100" b="1" dirty="0"/>
              <a:t>……;</a:t>
            </a:r>
            <a:endParaRPr lang="zh-CN" altLang="en-US" sz="100" b="1" dirty="0"/>
          </a:p>
          <a:p>
            <a:pPr>
              <a:lnSpc>
                <a:spcPct val="120000"/>
              </a:lnSpc>
            </a:pPr>
            <a:r>
              <a:rPr lang="zh-CN" altLang="en-US" sz="100" b="1" dirty="0"/>
              <a:t>        </a:t>
            </a:r>
            <a:r>
              <a:rPr lang="zh-CN" altLang="en-US" sz="100" b="1" dirty="0">
                <a:solidFill>
                  <a:srgbClr val="0000CC"/>
                </a:solidFill>
              </a:rPr>
              <a:t>sem_wait(&amp;empty_sem);</a:t>
            </a:r>
            <a:endParaRPr lang="zh-CN" altLang="en-US" sz="100" b="1" dirty="0">
              <a:solidFill>
                <a:srgbClr val="0000CC"/>
              </a:solidFill>
            </a:endParaRPr>
          </a:p>
          <a:p>
            <a:pPr>
              <a:lnSpc>
                <a:spcPct val="120000"/>
              </a:lnSpc>
            </a:pPr>
            <a:r>
              <a:rPr lang="zh-CN" altLang="en-US" sz="100" b="1" dirty="0"/>
              <a:t>        </a:t>
            </a:r>
            <a:r>
              <a:rPr lang="zh-CN" altLang="en-US" sz="100" b="1" dirty="0">
                <a:solidFill>
                  <a:srgbClr val="FF0000"/>
                </a:solidFill>
              </a:rPr>
              <a:t>pthread_mutex_lock(&amp;mutex);</a:t>
            </a:r>
            <a:endParaRPr lang="zh-CN" altLang="en-US" sz="100" b="1" dirty="0">
              <a:solidFill>
                <a:srgbClr val="FF0000"/>
              </a:solidFill>
            </a:endParaRPr>
          </a:p>
          <a:p>
            <a:pPr>
              <a:lnSpc>
                <a:spcPct val="120000"/>
              </a:lnSpc>
            </a:pPr>
            <a:r>
              <a:rPr lang="zh-CN" altLang="en-US" sz="100" b="1" dirty="0"/>
              <a:t>        in = in % M;</a:t>
            </a:r>
            <a:endParaRPr lang="zh-CN" altLang="en-US" sz="100" b="1" dirty="0"/>
          </a:p>
          <a:p>
            <a:pPr>
              <a:lnSpc>
                <a:spcPct val="120000"/>
              </a:lnSpc>
            </a:pPr>
            <a:r>
              <a:rPr lang="zh-CN" altLang="en-US" sz="100" b="1" dirty="0"/>
              <a:t>        buff[in] = data;</a:t>
            </a:r>
            <a:endParaRPr lang="zh-CN" altLang="en-US" sz="100" b="1" dirty="0"/>
          </a:p>
          <a:p>
            <a:pPr>
              <a:lnSpc>
                <a:spcPct val="120000"/>
              </a:lnSpc>
            </a:pPr>
            <a:r>
              <a:rPr lang="zh-CN" altLang="en-US" sz="100" b="1" dirty="0"/>
              <a:t>        </a:t>
            </a:r>
            <a:r>
              <a:rPr lang="zh-CN" altLang="en-US" sz="100" b="1" dirty="0">
                <a:solidFill>
                  <a:srgbClr val="FF0000"/>
                </a:solidFill>
              </a:rPr>
              <a:t>pthread_mutex_unlock(&amp;mutex);</a:t>
            </a:r>
            <a:endParaRPr lang="zh-CN" altLang="en-US" sz="100" b="1" dirty="0">
              <a:solidFill>
                <a:srgbClr val="FF0000"/>
              </a:solidFill>
            </a:endParaRPr>
          </a:p>
          <a:p>
            <a:pPr>
              <a:lnSpc>
                <a:spcPct val="120000"/>
              </a:lnSpc>
            </a:pPr>
            <a:r>
              <a:rPr lang="zh-CN" altLang="en-US" sz="100" b="1" dirty="0"/>
              <a:t>        </a:t>
            </a:r>
            <a:r>
              <a:rPr lang="zh-CN" altLang="en-US" sz="100" b="1" dirty="0">
                <a:solidFill>
                  <a:srgbClr val="0000CC"/>
                </a:solidFill>
              </a:rPr>
              <a:t>sem_post(&amp;full_sem);</a:t>
            </a:r>
            <a:endParaRPr lang="zh-CN" altLang="en-US" sz="100" b="1" dirty="0">
              <a:solidFill>
                <a:srgbClr val="0000CC"/>
              </a:solidFill>
            </a:endParaRPr>
          </a:p>
          <a:p>
            <a:pPr>
              <a:lnSpc>
                <a:spcPct val="120000"/>
              </a:lnSpc>
            </a:pPr>
            <a:r>
              <a:rPr lang="zh-CN" altLang="en-US" sz="100" b="1" dirty="0"/>
              <a:t>    }</a:t>
            </a:r>
            <a:endParaRPr lang="zh-CN" altLang="en-US" sz="100" b="1" dirty="0"/>
          </a:p>
          <a:p>
            <a:pPr>
              <a:lnSpc>
                <a:spcPct val="120000"/>
              </a:lnSpc>
            </a:pPr>
            <a:r>
              <a:rPr lang="zh-CN" altLang="en-US" sz="100" b="1" dirty="0"/>
              <a:t>}</a:t>
            </a:r>
            <a:endParaRPr lang="zh-CN" altLang="en-US" sz="100" b="1" dirty="0"/>
          </a:p>
        </p:txBody>
      </p:sp>
      <p:sp>
        <p:nvSpPr>
          <p:cNvPr id="5" name="Rectangle 2"/>
          <p:cNvSpPr>
            <a:spLocks noGrp="1" noRot="1" noChangeArrowheads="1"/>
          </p:cNvSpPr>
          <p:nvPr>
            <p:ph type="title"/>
          </p:nvPr>
        </p:nvSpPr>
        <p:spPr>
          <a:xfrm>
            <a:off x="1871701" y="998937"/>
            <a:ext cx="5497903" cy="411956"/>
          </a:xfrm>
        </p:spPr>
        <p:txBody>
          <a:bodyPr/>
          <a:lstStyle/>
          <a:p>
            <a:r>
              <a:rPr lang="en-US" altLang="zh-CN" b="1" dirty="0">
                <a:solidFill>
                  <a:srgbClr val="FF0000"/>
                </a:solidFill>
              </a:rPr>
              <a:t>Linux </a:t>
            </a:r>
            <a:r>
              <a:rPr lang="zh-CN" altLang="en-US" b="1" dirty="0">
                <a:solidFill>
                  <a:srgbClr val="FF0000"/>
                </a:solidFill>
              </a:rPr>
              <a:t>中的线程互斥锁 </a:t>
            </a:r>
            <a:r>
              <a:rPr lang="en-US" altLang="zh-CN" b="1" dirty="0">
                <a:solidFill>
                  <a:srgbClr val="FF0000"/>
                </a:solidFill>
              </a:rPr>
              <a:t>—</a:t>
            </a:r>
            <a:r>
              <a:rPr lang="zh-CN" altLang="en-US" b="1" dirty="0">
                <a:solidFill>
                  <a:srgbClr val="FF0000"/>
                </a:solidFill>
              </a:rPr>
              <a:t> 生产者消费者</a:t>
            </a:r>
            <a:endParaRPr lang="zh-CN" altLang="en-US" b="1" dirty="0">
              <a:solidFill>
                <a:srgbClr val="FF0000"/>
              </a:solidFill>
            </a:endParaRPr>
          </a:p>
        </p:txBody>
      </p:sp>
      <p:sp>
        <p:nvSpPr>
          <p:cNvPr id="6" name="矩形 5"/>
          <p:cNvSpPr/>
          <p:nvPr/>
        </p:nvSpPr>
        <p:spPr>
          <a:xfrm>
            <a:off x="4732411" y="1693417"/>
            <a:ext cx="3974709" cy="396240"/>
          </a:xfrm>
          <a:prstGeom prst="rect">
            <a:avLst/>
          </a:prstGeom>
        </p:spPr>
        <p:txBody>
          <a:bodyPr wrap="square">
            <a:spAutoFit/>
          </a:bodyPr>
          <a:lstStyle/>
          <a:p>
            <a:pPr>
              <a:lnSpc>
                <a:spcPct val="120000"/>
              </a:lnSpc>
            </a:pPr>
            <a:r>
              <a:rPr lang="zh-CN" altLang="en-US" sz="100" b="1" dirty="0"/>
              <a:t>void *consume()</a:t>
            </a:r>
            <a:endParaRPr lang="zh-CN" altLang="en-US" sz="100" b="1" dirty="0"/>
          </a:p>
          <a:p>
            <a:pPr>
              <a:lnSpc>
                <a:spcPct val="120000"/>
              </a:lnSpc>
            </a:pPr>
            <a:r>
              <a:rPr lang="zh-CN" altLang="en-US" sz="100" b="1" dirty="0"/>
              <a:t>{</a:t>
            </a:r>
            <a:endParaRPr lang="zh-CN" altLang="en-US" sz="100" b="1" dirty="0"/>
          </a:p>
          <a:p>
            <a:pPr>
              <a:lnSpc>
                <a:spcPct val="120000"/>
              </a:lnSpc>
            </a:pPr>
            <a:r>
              <a:rPr lang="zh-CN" altLang="en-US" sz="100" b="1" dirty="0"/>
              <a:t>    </a:t>
            </a:r>
            <a:r>
              <a:rPr lang="en-US" altLang="zh-CN" sz="100" b="1" dirty="0"/>
              <a:t>……</a:t>
            </a:r>
            <a:r>
              <a:rPr lang="zh-CN" altLang="en-US" sz="100" b="1" dirty="0"/>
              <a:t>;</a:t>
            </a:r>
            <a:endParaRPr lang="zh-CN" altLang="en-US" sz="100" b="1" dirty="0"/>
          </a:p>
          <a:p>
            <a:pPr>
              <a:lnSpc>
                <a:spcPct val="120000"/>
              </a:lnSpc>
            </a:pPr>
            <a:endParaRPr lang="zh-CN" altLang="en-US" sz="100" b="1" dirty="0"/>
          </a:p>
          <a:p>
            <a:pPr>
              <a:lnSpc>
                <a:spcPct val="120000"/>
              </a:lnSpc>
            </a:pPr>
            <a:r>
              <a:rPr lang="zh-CN" altLang="en-US" sz="100" b="1" dirty="0"/>
              <a:t>    while(1)</a:t>
            </a:r>
            <a:endParaRPr lang="zh-CN" altLang="en-US" sz="100" b="1" dirty="0"/>
          </a:p>
          <a:p>
            <a:pPr>
              <a:lnSpc>
                <a:spcPct val="120000"/>
              </a:lnSpc>
            </a:pPr>
            <a:r>
              <a:rPr lang="zh-CN" altLang="en-US" sz="100" b="1" dirty="0"/>
              <a:t>    {</a:t>
            </a:r>
            <a:endParaRPr lang="zh-CN" altLang="en-US" sz="100" b="1" dirty="0"/>
          </a:p>
          <a:p>
            <a:pPr>
              <a:lnSpc>
                <a:spcPct val="120000"/>
              </a:lnSpc>
            </a:pPr>
            <a:r>
              <a:rPr lang="zh-CN" altLang="en-US" sz="100" b="1" dirty="0"/>
              <a:t>        </a:t>
            </a:r>
            <a:r>
              <a:rPr lang="en-US" altLang="zh-CN" sz="100" b="1" dirty="0"/>
              <a:t>……</a:t>
            </a:r>
            <a:r>
              <a:rPr lang="zh-CN" altLang="en-US" sz="100" b="1" dirty="0"/>
              <a:t>;</a:t>
            </a:r>
            <a:endParaRPr lang="zh-CN" altLang="en-US" sz="100" b="1" dirty="0"/>
          </a:p>
          <a:p>
            <a:pPr>
              <a:lnSpc>
                <a:spcPct val="120000"/>
              </a:lnSpc>
            </a:pPr>
            <a:r>
              <a:rPr lang="zh-CN" altLang="en-US" sz="100" b="1" dirty="0"/>
              <a:t>        </a:t>
            </a:r>
            <a:r>
              <a:rPr lang="zh-CN" altLang="en-US" sz="100" b="1" dirty="0">
                <a:solidFill>
                  <a:srgbClr val="0000CC"/>
                </a:solidFill>
              </a:rPr>
              <a:t>sem_wait(&amp;full_sem);</a:t>
            </a:r>
            <a:endParaRPr lang="zh-CN" altLang="en-US" sz="100" b="1" dirty="0">
              <a:solidFill>
                <a:srgbClr val="0000CC"/>
              </a:solidFill>
            </a:endParaRPr>
          </a:p>
          <a:p>
            <a:pPr>
              <a:lnSpc>
                <a:spcPct val="120000"/>
              </a:lnSpc>
            </a:pPr>
            <a:r>
              <a:rPr lang="zh-CN" altLang="en-US" sz="100" b="1" dirty="0"/>
              <a:t>        </a:t>
            </a:r>
            <a:r>
              <a:rPr lang="zh-CN" altLang="en-US" sz="100" b="1" dirty="0">
                <a:solidFill>
                  <a:srgbClr val="FF0000"/>
                </a:solidFill>
              </a:rPr>
              <a:t>pthread_mutex_lock(&amp;mutex);</a:t>
            </a:r>
            <a:endParaRPr lang="zh-CN" altLang="en-US" sz="100" b="1" dirty="0"/>
          </a:p>
          <a:p>
            <a:pPr>
              <a:lnSpc>
                <a:spcPct val="120000"/>
              </a:lnSpc>
            </a:pPr>
            <a:r>
              <a:rPr lang="zh-CN" altLang="en-US" sz="100" b="1" dirty="0"/>
              <a:t>        out = out % M;</a:t>
            </a:r>
            <a:endParaRPr lang="zh-CN" altLang="en-US" sz="100" b="1" dirty="0"/>
          </a:p>
          <a:p>
            <a:pPr>
              <a:lnSpc>
                <a:spcPct val="120000"/>
              </a:lnSpc>
            </a:pPr>
            <a:r>
              <a:rPr lang="en-US" altLang="zh-CN" sz="100" b="1" dirty="0"/>
              <a:t>        </a:t>
            </a:r>
            <a:r>
              <a:rPr lang="zh-CN" altLang="en-US" sz="100" b="1" dirty="0"/>
              <a:t>buff[out] = 0;</a:t>
            </a:r>
            <a:endParaRPr lang="zh-CN" altLang="en-US" sz="100" b="1" dirty="0"/>
          </a:p>
          <a:p>
            <a:pPr>
              <a:lnSpc>
                <a:spcPct val="120000"/>
              </a:lnSpc>
            </a:pPr>
            <a:r>
              <a:rPr lang="zh-CN" altLang="en-US" sz="100" b="1" dirty="0"/>
              <a:t>        ++out;</a:t>
            </a:r>
            <a:endParaRPr lang="zh-CN" altLang="en-US" sz="100" b="1" dirty="0"/>
          </a:p>
          <a:p>
            <a:pPr>
              <a:lnSpc>
                <a:spcPct val="120000"/>
              </a:lnSpc>
            </a:pPr>
            <a:r>
              <a:rPr lang="zh-CN" altLang="en-US" sz="100" b="1" dirty="0"/>
              <a:t>        </a:t>
            </a:r>
            <a:r>
              <a:rPr lang="zh-CN" altLang="en-US" sz="100" b="1" dirty="0">
                <a:solidFill>
                  <a:srgbClr val="FF0000"/>
                </a:solidFill>
              </a:rPr>
              <a:t>pthread_mutex_unlock(&amp;mutex);</a:t>
            </a:r>
            <a:endParaRPr lang="zh-CN" altLang="en-US" sz="100" b="1" dirty="0">
              <a:solidFill>
                <a:srgbClr val="FF0000"/>
              </a:solidFill>
            </a:endParaRPr>
          </a:p>
          <a:p>
            <a:pPr>
              <a:lnSpc>
                <a:spcPct val="120000"/>
              </a:lnSpc>
            </a:pPr>
            <a:r>
              <a:rPr lang="zh-CN" altLang="en-US" sz="100" b="1" dirty="0"/>
              <a:t>        </a:t>
            </a:r>
            <a:r>
              <a:rPr lang="zh-CN" altLang="en-US" sz="100" b="1" dirty="0">
                <a:solidFill>
                  <a:srgbClr val="0000CC"/>
                </a:solidFill>
              </a:rPr>
              <a:t>sem_post(&amp;empty_sem);</a:t>
            </a:r>
            <a:endParaRPr lang="zh-CN" altLang="en-US" sz="100" b="1" dirty="0">
              <a:solidFill>
                <a:srgbClr val="0000CC"/>
              </a:solidFill>
            </a:endParaRPr>
          </a:p>
          <a:p>
            <a:pPr>
              <a:lnSpc>
                <a:spcPct val="120000"/>
              </a:lnSpc>
            </a:pPr>
            <a:endParaRPr lang="zh-CN" altLang="en-US" sz="100" b="1" dirty="0"/>
          </a:p>
          <a:p>
            <a:pPr>
              <a:lnSpc>
                <a:spcPct val="120000"/>
              </a:lnSpc>
            </a:pPr>
            <a:r>
              <a:rPr lang="zh-CN" altLang="en-US" sz="100" b="1" dirty="0"/>
              <a:t>    }</a:t>
            </a:r>
            <a:endParaRPr lang="zh-CN" altLang="en-US" sz="100" b="1" dirty="0"/>
          </a:p>
          <a:p>
            <a:pPr>
              <a:lnSpc>
                <a:spcPct val="120000"/>
              </a:lnSpc>
            </a:pPr>
            <a:r>
              <a:rPr lang="zh-CN" altLang="en-US" sz="100" b="1" dirty="0"/>
              <a:t>}</a:t>
            </a:r>
            <a:endParaRPr lang="zh-CN" altLang="en-US" sz="1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130555" y="1867343"/>
            <a:ext cx="7586726" cy="1763587"/>
          </a:xfrm>
        </p:spPr>
        <p:txBody>
          <a:bodyPr/>
          <a:lstStyle/>
          <a:p>
            <a:pPr marL="0" indent="0">
              <a:lnSpc>
                <a:spcPct val="150000"/>
              </a:lnSpc>
              <a:buNone/>
            </a:pPr>
            <a:r>
              <a:rPr kumimoji="1" lang="en-US" altLang="zh-CN" dirty="0">
                <a:solidFill>
                  <a:srgbClr val="FF0000"/>
                </a:solidFill>
                <a:latin typeface="微软雅黑" panose="020B0503020204020204" charset="-122"/>
                <a:ea typeface="微软雅黑" panose="020B0503020204020204" charset="-122"/>
              </a:rPr>
              <a:t>2. </a:t>
            </a:r>
            <a:r>
              <a:rPr kumimoji="1" lang="zh-CN" altLang="en-US" dirty="0">
                <a:solidFill>
                  <a:srgbClr val="FF0000"/>
                </a:solidFill>
                <a:latin typeface="微软雅黑" panose="020B0503020204020204" charset="-122"/>
                <a:ea typeface="微软雅黑" panose="020B0503020204020204" charset="-122"/>
              </a:rPr>
              <a:t>条件变量</a:t>
            </a:r>
            <a:endParaRPr kumimoji="1" lang="en-US" altLang="zh-CN" dirty="0">
              <a:solidFill>
                <a:srgbClr val="FF0000"/>
              </a:solidFill>
              <a:latin typeface="微软雅黑" panose="020B0503020204020204" charset="-122"/>
              <a:ea typeface="微软雅黑" panose="020B0503020204020204" charset="-122"/>
            </a:endParaRPr>
          </a:p>
          <a:p>
            <a:pPr>
              <a:lnSpc>
                <a:spcPct val="150000"/>
              </a:lnSpc>
              <a:spcBef>
                <a:spcPct val="0"/>
              </a:spcBef>
              <a:buClrTx/>
              <a:buSzTx/>
            </a:pPr>
            <a:r>
              <a:rPr kumimoji="1" lang="zh-CN" altLang="en-US" sz="1500" dirty="0">
                <a:latin typeface="微软雅黑" panose="020B0503020204020204" charset="-122"/>
                <a:ea typeface="微软雅黑" panose="020B0503020204020204" charset="-122"/>
              </a:rPr>
              <a:t>每一个条件变量通常都与一个互斥锁一起使用。</a:t>
            </a:r>
            <a:endParaRPr kumimoji="1" lang="en-US" altLang="zh-CN" sz="1500" dirty="0">
              <a:latin typeface="微软雅黑" panose="020B0503020204020204" charset="-122"/>
              <a:ea typeface="微软雅黑" panose="020B0503020204020204" charset="-122"/>
            </a:endParaRPr>
          </a:p>
          <a:p>
            <a:pPr>
              <a:lnSpc>
                <a:spcPct val="150000"/>
              </a:lnSpc>
              <a:spcBef>
                <a:spcPct val="0"/>
              </a:spcBef>
              <a:buClrTx/>
              <a:buSzTx/>
            </a:pPr>
            <a:r>
              <a:rPr kumimoji="1" lang="zh-CN" altLang="en-US" sz="1500" dirty="0">
                <a:latin typeface="微软雅黑" panose="020B0503020204020204" charset="-122"/>
                <a:ea typeface="微软雅黑" panose="020B0503020204020204" charset="-122"/>
              </a:rPr>
              <a:t>单纯的</a:t>
            </a:r>
            <a:r>
              <a:rPr kumimoji="1" lang="zh-CN" altLang="en-US" sz="1500" dirty="0">
                <a:solidFill>
                  <a:srgbClr val="FF0000"/>
                </a:solidFill>
                <a:latin typeface="微软雅黑" panose="020B0503020204020204" charset="-122"/>
                <a:ea typeface="微软雅黑" panose="020B0503020204020204" charset="-122"/>
              </a:rPr>
              <a:t>互斥锁</a:t>
            </a:r>
            <a:r>
              <a:rPr kumimoji="1" lang="zh-CN" altLang="en-US" sz="1500" dirty="0">
                <a:latin typeface="微软雅黑" panose="020B0503020204020204" charset="-122"/>
                <a:ea typeface="微软雅黑" panose="020B0503020204020204" charset="-122"/>
              </a:rPr>
              <a:t>用于短期锁定，主要是用来保证对临界区的互斥进入。而</a:t>
            </a:r>
            <a:r>
              <a:rPr kumimoji="1" lang="zh-CN" altLang="en-US" sz="1500" dirty="0">
                <a:solidFill>
                  <a:srgbClr val="FF0000"/>
                </a:solidFill>
                <a:latin typeface="微软雅黑" panose="020B0503020204020204" charset="-122"/>
                <a:ea typeface="微软雅黑" panose="020B0503020204020204" charset="-122"/>
              </a:rPr>
              <a:t>条件变量</a:t>
            </a:r>
            <a:r>
              <a:rPr kumimoji="1" lang="zh-CN" altLang="en-US" sz="1500" dirty="0">
                <a:latin typeface="微软雅黑" panose="020B0503020204020204" charset="-122"/>
                <a:ea typeface="微软雅黑" panose="020B0503020204020204" charset="-122"/>
              </a:rPr>
              <a:t>则用于线程的长期等待， 直至所等待的资源成为可用的。</a:t>
            </a:r>
            <a:endParaRPr kumimoji="1" lang="en-US" altLang="zh-CN" sz="1500" dirty="0">
              <a:latin typeface="微软雅黑" panose="020B0503020204020204" charset="-122"/>
              <a:ea typeface="微软雅黑" panose="020B0503020204020204" charset="-122"/>
            </a:endParaRPr>
          </a:p>
          <a:p>
            <a:pPr>
              <a:lnSpc>
                <a:spcPct val="150000"/>
              </a:lnSpc>
              <a:spcBef>
                <a:spcPct val="0"/>
              </a:spcBef>
              <a:buClrTx/>
              <a:buSzTx/>
              <a:buNone/>
            </a:pPr>
            <a:endParaRPr kumimoji="1" lang="en-US" altLang="zh-CN" dirty="0">
              <a:latin typeface="微软雅黑" panose="020B0503020204020204" charset="-122"/>
              <a:ea typeface="微软雅黑" panose="020B0503020204020204" charset="-122"/>
            </a:endParaRPr>
          </a:p>
          <a:p>
            <a:pPr marL="0" indent="0">
              <a:lnSpc>
                <a:spcPct val="150000"/>
              </a:lnSpc>
              <a:buNone/>
            </a:pPr>
            <a:r>
              <a:rPr kumimoji="1" lang="zh-CN" altLang="en-US" dirty="0">
                <a:solidFill>
                  <a:srgbClr val="FF0000"/>
                </a:solidFill>
                <a:latin typeface="微软雅黑" panose="020B0503020204020204" charset="-122"/>
                <a:ea typeface="微软雅黑" panose="020B0503020204020204" charset="-122"/>
              </a:rPr>
              <a:t> </a:t>
            </a:r>
            <a:endParaRPr kumimoji="1" lang="zh-CN" altLang="en-US" dirty="0">
              <a:solidFill>
                <a:srgbClr val="FF0000"/>
              </a:solidFill>
              <a:latin typeface="微软雅黑" panose="020B0503020204020204" charset="-122"/>
              <a:ea typeface="微软雅黑" panose="020B0503020204020204" charset="-122"/>
            </a:endParaRPr>
          </a:p>
          <a:p>
            <a:pPr>
              <a:lnSpc>
                <a:spcPct val="150000"/>
              </a:lnSpc>
            </a:pPr>
            <a:endParaRPr lang="zh-CN" altLang="en-US" dirty="0">
              <a:latin typeface="微软雅黑" panose="020B0503020204020204" charset="-122"/>
              <a:ea typeface="微软雅黑" panose="020B0503020204020204" charset="-122"/>
            </a:endParaRPr>
          </a:p>
        </p:txBody>
      </p:sp>
      <p:sp>
        <p:nvSpPr>
          <p:cNvPr id="4"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5"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871702" y="1861382"/>
            <a:ext cx="5497903" cy="411956"/>
          </a:xfrm>
        </p:spPr>
        <p:txBody>
          <a:bodyPr/>
          <a:lstStyle/>
          <a:p>
            <a:r>
              <a:rPr kumimoji="1" lang="zh-CN" altLang="en-US" dirty="0">
                <a:latin typeface="Times New Roman" panose="02020603050405020304" pitchFamily="18" charset="0"/>
              </a:rPr>
              <a:t>对资源申请操作的描述</a:t>
            </a:r>
            <a:endParaRPr lang="zh-CN" altLang="en-US" dirty="0"/>
          </a:p>
        </p:txBody>
      </p:sp>
      <p:sp>
        <p:nvSpPr>
          <p:cNvPr id="4" name="Text Box 3"/>
          <p:cNvSpPr txBox="1">
            <a:spLocks noChangeArrowheads="1"/>
          </p:cNvSpPr>
          <p:nvPr/>
        </p:nvSpPr>
        <p:spPr bwMode="auto">
          <a:xfrm>
            <a:off x="860893" y="2460100"/>
            <a:ext cx="7787640" cy="4323080"/>
          </a:xfrm>
          <a:prstGeom prst="rect">
            <a:avLst/>
          </a:prstGeom>
          <a:noFill/>
          <a:ln>
            <a:noFill/>
          </a:ln>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lnSpc>
                <a:spcPts val="3000"/>
              </a:lnSpc>
              <a:spcBef>
                <a:spcPct val="0"/>
              </a:spcBef>
              <a:buClrTx/>
              <a:buSzTx/>
              <a:buNone/>
              <a:defRPr/>
            </a:pPr>
            <a:r>
              <a:rPr kumimoji="1" lang="en-US" altLang="zh-CN" sz="1800" b="1" dirty="0">
                <a:solidFill>
                  <a:srgbClr val="FF0000"/>
                </a:solidFill>
                <a:latin typeface="微软雅黑" panose="020B0503020204020204" charset="-122"/>
                <a:ea typeface="微软雅黑" panose="020B0503020204020204" charset="-122"/>
              </a:rPr>
              <a:t>Lock mutex    </a:t>
            </a:r>
            <a:r>
              <a:rPr kumimoji="1" lang="en-US" altLang="zh-CN" sz="1500" b="1" dirty="0">
                <a:solidFill>
                  <a:prstClr val="black"/>
                </a:solidFill>
                <a:latin typeface="微软雅黑" panose="020B0503020204020204" charset="-122"/>
                <a:ea typeface="微软雅黑" panose="020B0503020204020204" charset="-122"/>
              </a:rPr>
              <a:t>//</a:t>
            </a:r>
            <a:r>
              <a:rPr kumimoji="1" lang="zh-CN" altLang="en-US" sz="1500" b="1" dirty="0">
                <a:solidFill>
                  <a:prstClr val="black"/>
                </a:solidFill>
                <a:latin typeface="微软雅黑" panose="020B0503020204020204" charset="-122"/>
                <a:ea typeface="微软雅黑" panose="020B0503020204020204" charset="-122"/>
              </a:rPr>
              <a:t>第一步：执行关锁操作，若成功便进入临界区</a:t>
            </a:r>
            <a:endParaRPr kumimoji="1" lang="en-US" altLang="zh-CN" sz="1800" b="1" dirty="0">
              <a:solidFill>
                <a:prstClr val="black"/>
              </a:solidFill>
              <a:latin typeface="微软雅黑" panose="020B0503020204020204" charset="-122"/>
              <a:ea typeface="微软雅黑" panose="020B0503020204020204" charset="-122"/>
            </a:endParaRPr>
          </a:p>
          <a:p>
            <a:pPr algn="just">
              <a:lnSpc>
                <a:spcPts val="3000"/>
              </a:lnSpc>
              <a:spcBef>
                <a:spcPct val="0"/>
              </a:spcBef>
              <a:buClrTx/>
              <a:buSzTx/>
              <a:buNone/>
              <a:defRPr/>
            </a:pPr>
            <a:r>
              <a:rPr kumimoji="1" lang="en-US" altLang="zh-CN" sz="1800" b="1" dirty="0">
                <a:solidFill>
                  <a:srgbClr val="FF0000"/>
                </a:solidFill>
                <a:latin typeface="微软雅黑" panose="020B0503020204020204" charset="-122"/>
                <a:ea typeface="微软雅黑" panose="020B0503020204020204" charset="-122"/>
              </a:rPr>
              <a:t>      check data structures;</a:t>
            </a:r>
            <a:r>
              <a:rPr kumimoji="1" lang="en-US" altLang="zh-CN" sz="1800" b="1" dirty="0">
                <a:solidFill>
                  <a:prstClr val="black"/>
                </a:solidFill>
                <a:latin typeface="微软雅黑" panose="020B0503020204020204" charset="-122"/>
                <a:ea typeface="微软雅黑" panose="020B0503020204020204" charset="-122"/>
              </a:rPr>
              <a:t> 	</a:t>
            </a:r>
            <a:endParaRPr kumimoji="1" lang="en-US" altLang="zh-CN" sz="1800" b="1" dirty="0">
              <a:solidFill>
                <a:prstClr val="black"/>
              </a:solidFill>
              <a:latin typeface="微软雅黑" panose="020B0503020204020204" charset="-122"/>
              <a:ea typeface="微软雅黑" panose="020B0503020204020204" charset="-122"/>
            </a:endParaRPr>
          </a:p>
          <a:p>
            <a:pPr algn="just">
              <a:lnSpc>
                <a:spcPts val="3000"/>
              </a:lnSpc>
              <a:spcBef>
                <a:spcPct val="0"/>
              </a:spcBef>
              <a:buClrTx/>
              <a:buSzTx/>
              <a:buNone/>
              <a:defRPr/>
            </a:pPr>
            <a:r>
              <a:rPr kumimoji="1" lang="en-US" altLang="zh-CN" sz="1500" b="1" dirty="0">
                <a:solidFill>
                  <a:prstClr val="black"/>
                </a:solidFill>
                <a:latin typeface="微软雅黑" panose="020B0503020204020204" charset="-122"/>
                <a:ea typeface="微软雅黑" panose="020B0503020204020204" charset="-122"/>
              </a:rPr>
              <a:t>                            //</a:t>
            </a:r>
            <a:r>
              <a:rPr kumimoji="1" lang="zh-CN" altLang="en-US" sz="1500" b="1" dirty="0">
                <a:solidFill>
                  <a:prstClr val="black"/>
                </a:solidFill>
                <a:latin typeface="微软雅黑" panose="020B0503020204020204" charset="-122"/>
                <a:ea typeface="微软雅黑" panose="020B0503020204020204" charset="-122"/>
              </a:rPr>
              <a:t>查找用于描述资源状态的数据结构，了解资源的情况。</a:t>
            </a:r>
            <a:endParaRPr kumimoji="1" lang="en-US" altLang="zh-CN" sz="1500" b="1" dirty="0">
              <a:solidFill>
                <a:prstClr val="black"/>
              </a:solidFill>
              <a:latin typeface="微软雅黑" panose="020B0503020204020204" charset="-122"/>
              <a:ea typeface="微软雅黑" panose="020B0503020204020204" charset="-122"/>
            </a:endParaRPr>
          </a:p>
          <a:p>
            <a:pPr algn="just">
              <a:lnSpc>
                <a:spcPts val="3000"/>
              </a:lnSpc>
              <a:spcBef>
                <a:spcPct val="0"/>
              </a:spcBef>
              <a:buClrTx/>
              <a:buSzTx/>
              <a:buNone/>
              <a:defRPr/>
            </a:pPr>
            <a:r>
              <a:rPr kumimoji="1" lang="en-US" altLang="zh-CN" sz="1800" b="1" dirty="0">
                <a:solidFill>
                  <a:srgbClr val="FF0000"/>
                </a:solidFill>
                <a:latin typeface="微软雅黑" panose="020B0503020204020204" charset="-122"/>
                <a:ea typeface="微软雅黑" panose="020B0503020204020204" charset="-122"/>
              </a:rPr>
              <a:t>      while(resource busy) </a:t>
            </a:r>
            <a:endParaRPr kumimoji="1" lang="en-US" altLang="zh-CN" sz="1800" b="1" dirty="0">
              <a:solidFill>
                <a:srgbClr val="FF0000"/>
              </a:solidFill>
              <a:latin typeface="微软雅黑" panose="020B0503020204020204" charset="-122"/>
              <a:ea typeface="微软雅黑" panose="020B0503020204020204" charset="-122"/>
            </a:endParaRPr>
          </a:p>
          <a:p>
            <a:pPr algn="just">
              <a:lnSpc>
                <a:spcPts val="3000"/>
              </a:lnSpc>
              <a:spcBef>
                <a:spcPct val="0"/>
              </a:spcBef>
              <a:buClrTx/>
              <a:buSzTx/>
              <a:buNone/>
              <a:defRPr/>
            </a:pPr>
            <a:r>
              <a:rPr kumimoji="1" lang="en-US" altLang="zh-CN" sz="1800" b="1" dirty="0">
                <a:solidFill>
                  <a:srgbClr val="FF0000"/>
                </a:solidFill>
                <a:latin typeface="微软雅黑" panose="020B0503020204020204" charset="-122"/>
                <a:ea typeface="微软雅黑" panose="020B0503020204020204" charset="-122"/>
              </a:rPr>
              <a:t>           wait(condition variable); </a:t>
            </a:r>
            <a:endParaRPr kumimoji="1" lang="en-US" altLang="zh-CN" sz="1800" b="1" dirty="0">
              <a:solidFill>
                <a:srgbClr val="FF0000"/>
              </a:solidFill>
              <a:latin typeface="微软雅黑" panose="020B0503020204020204" charset="-122"/>
              <a:ea typeface="微软雅黑" panose="020B0503020204020204" charset="-122"/>
            </a:endParaRPr>
          </a:p>
          <a:p>
            <a:pPr marL="2230755" indent="-179705" algn="just">
              <a:lnSpc>
                <a:spcPts val="3000"/>
              </a:lnSpc>
              <a:spcBef>
                <a:spcPct val="0"/>
              </a:spcBef>
              <a:buClrTx/>
              <a:buSzTx/>
              <a:buNone/>
              <a:defRPr/>
            </a:pPr>
            <a:r>
              <a:rPr kumimoji="1" lang="en-US" altLang="zh-CN" sz="1500" b="1" dirty="0">
                <a:solidFill>
                  <a:prstClr val="black"/>
                </a:solidFill>
                <a:latin typeface="微软雅黑" panose="020B0503020204020204" charset="-122"/>
                <a:ea typeface="微软雅黑" panose="020B0503020204020204" charset="-122"/>
              </a:rPr>
              <a:t>//</a:t>
            </a:r>
            <a:r>
              <a:rPr kumimoji="1" lang="zh-CN" altLang="en-US" sz="1500" b="1" dirty="0">
                <a:solidFill>
                  <a:prstClr val="black"/>
                </a:solidFill>
                <a:latin typeface="微软雅黑" panose="020B0503020204020204" charset="-122"/>
                <a:ea typeface="微软雅黑" panose="020B0503020204020204" charset="-122"/>
              </a:rPr>
              <a:t>第二步：所需资源</a:t>
            </a:r>
            <a:r>
              <a:rPr kumimoji="1" lang="en-US" altLang="zh-CN" sz="1500" b="1" dirty="0">
                <a:solidFill>
                  <a:prstClr val="black"/>
                </a:solidFill>
                <a:latin typeface="微软雅黑" panose="020B0503020204020204" charset="-122"/>
                <a:ea typeface="微软雅黑" panose="020B0503020204020204" charset="-122"/>
              </a:rPr>
              <a:t>R</a:t>
            </a:r>
            <a:r>
              <a:rPr kumimoji="1" lang="zh-CN" altLang="en-US" sz="1500" b="1" dirty="0">
                <a:solidFill>
                  <a:prstClr val="black"/>
                </a:solidFill>
                <a:latin typeface="微软雅黑" panose="020B0503020204020204" charset="-122"/>
                <a:ea typeface="微软雅黑" panose="020B0503020204020204" charset="-122"/>
              </a:rPr>
              <a:t>正处于忙碌状态，线程便转为等待状态，并对</a:t>
            </a:r>
            <a:r>
              <a:rPr kumimoji="1" lang="en-US" altLang="zh-CN" sz="1500" b="1" dirty="0">
                <a:solidFill>
                  <a:prstClr val="black"/>
                </a:solidFill>
                <a:latin typeface="微软雅黑" panose="020B0503020204020204" charset="-122"/>
                <a:ea typeface="微软雅黑" panose="020B0503020204020204" charset="-122"/>
              </a:rPr>
              <a:t>mutex</a:t>
            </a:r>
            <a:r>
              <a:rPr kumimoji="1" lang="zh-CN" altLang="en-US" sz="1500" b="1" dirty="0">
                <a:solidFill>
                  <a:prstClr val="black"/>
                </a:solidFill>
                <a:latin typeface="微软雅黑" panose="020B0503020204020204" charset="-122"/>
                <a:ea typeface="微软雅黑" panose="020B0503020204020204" charset="-122"/>
              </a:rPr>
              <a:t>执行开锁操作后，等待该资源被释放；</a:t>
            </a:r>
            <a:endParaRPr kumimoji="1" lang="en-US" altLang="zh-CN" sz="1800" b="1" dirty="0">
              <a:solidFill>
                <a:prstClr val="black"/>
              </a:solidFill>
              <a:latin typeface="微软雅黑" panose="020B0503020204020204" charset="-122"/>
              <a:ea typeface="微软雅黑" panose="020B0503020204020204" charset="-122"/>
            </a:endParaRPr>
          </a:p>
          <a:p>
            <a:pPr algn="just">
              <a:lnSpc>
                <a:spcPts val="3000"/>
              </a:lnSpc>
              <a:spcBef>
                <a:spcPct val="0"/>
              </a:spcBef>
              <a:buClrTx/>
              <a:buSzTx/>
              <a:buNone/>
              <a:defRPr/>
            </a:pPr>
            <a:r>
              <a:rPr kumimoji="1" lang="en-US" altLang="zh-CN" sz="1800" b="1" dirty="0">
                <a:solidFill>
                  <a:srgbClr val="FF0000"/>
                </a:solidFill>
                <a:latin typeface="微软雅黑" panose="020B0503020204020204" charset="-122"/>
                <a:ea typeface="微软雅黑" panose="020B0503020204020204" charset="-122"/>
              </a:rPr>
              <a:t>       mark resource as busy;</a:t>
            </a:r>
            <a:endParaRPr kumimoji="1" lang="en-US" altLang="zh-CN" sz="1800" b="1" dirty="0">
              <a:solidFill>
                <a:prstClr val="black"/>
              </a:solidFill>
              <a:latin typeface="微软雅黑" panose="020B0503020204020204" charset="-122"/>
              <a:ea typeface="微软雅黑" panose="020B0503020204020204" charset="-122"/>
            </a:endParaRPr>
          </a:p>
          <a:p>
            <a:pPr marL="2278380" indent="-276225" algn="just">
              <a:lnSpc>
                <a:spcPts val="3000"/>
              </a:lnSpc>
              <a:spcBef>
                <a:spcPct val="0"/>
              </a:spcBef>
              <a:buClrTx/>
              <a:buSzTx/>
              <a:buNone/>
              <a:defRPr/>
            </a:pPr>
            <a:r>
              <a:rPr kumimoji="1" lang="en-US" altLang="zh-CN" sz="1500" b="1" dirty="0">
                <a:solidFill>
                  <a:prstClr val="black"/>
                </a:solidFill>
                <a:latin typeface="微软雅黑" panose="020B0503020204020204" charset="-122"/>
                <a:ea typeface="微软雅黑" panose="020B0503020204020204" charset="-122"/>
              </a:rPr>
              <a:t>//</a:t>
            </a:r>
            <a:r>
              <a:rPr kumimoji="1" lang="zh-CN" altLang="en-US" sz="1500" b="1" dirty="0">
                <a:solidFill>
                  <a:prstClr val="black"/>
                </a:solidFill>
                <a:latin typeface="微软雅黑" panose="020B0503020204020204" charset="-122"/>
                <a:ea typeface="微软雅黑" panose="020B0503020204020204" charset="-122"/>
              </a:rPr>
              <a:t>第三步：若资源处于空闲状态，表明线程可以使用该资源，于是将该资源设置为忙碌状态，再对</a:t>
            </a:r>
            <a:r>
              <a:rPr kumimoji="1" lang="en-US" altLang="zh-CN" sz="1500" b="1" dirty="0">
                <a:solidFill>
                  <a:prstClr val="black"/>
                </a:solidFill>
                <a:latin typeface="微软雅黑" panose="020B0503020204020204" charset="-122"/>
                <a:ea typeface="微软雅黑" panose="020B0503020204020204" charset="-122"/>
              </a:rPr>
              <a:t>mutex</a:t>
            </a:r>
            <a:r>
              <a:rPr kumimoji="1" lang="zh-CN" altLang="en-US" sz="1500" b="1" dirty="0">
                <a:solidFill>
                  <a:prstClr val="black"/>
                </a:solidFill>
                <a:latin typeface="微软雅黑" panose="020B0503020204020204" charset="-122"/>
                <a:ea typeface="微软雅黑" panose="020B0503020204020204" charset="-122"/>
              </a:rPr>
              <a:t>执行开锁操作。</a:t>
            </a:r>
            <a:endParaRPr kumimoji="1" lang="zh-CN" altLang="en-US" sz="1500" b="1" dirty="0">
              <a:solidFill>
                <a:prstClr val="black"/>
              </a:solidFill>
              <a:latin typeface="微软雅黑" panose="020B0503020204020204" charset="-122"/>
              <a:ea typeface="微软雅黑" panose="020B0503020204020204" charset="-122"/>
            </a:endParaRPr>
          </a:p>
          <a:p>
            <a:pPr algn="just">
              <a:lnSpc>
                <a:spcPts val="3000"/>
              </a:lnSpc>
              <a:spcBef>
                <a:spcPct val="0"/>
              </a:spcBef>
              <a:buClrTx/>
              <a:buSzTx/>
              <a:buNone/>
              <a:defRPr/>
            </a:pPr>
            <a:r>
              <a:rPr kumimoji="1" lang="en-US" altLang="zh-CN" sz="1800" b="1" dirty="0">
                <a:solidFill>
                  <a:prstClr val="black"/>
                </a:solidFill>
                <a:latin typeface="微软雅黑" panose="020B0503020204020204" charset="-122"/>
                <a:ea typeface="微软雅黑" panose="020B0503020204020204" charset="-122"/>
              </a:rPr>
              <a:t> </a:t>
            </a:r>
            <a:r>
              <a:rPr kumimoji="1" lang="en-US" altLang="zh-CN" sz="1800" b="1" dirty="0">
                <a:solidFill>
                  <a:srgbClr val="FF0000"/>
                </a:solidFill>
                <a:latin typeface="微软雅黑" panose="020B0503020204020204" charset="-122"/>
                <a:ea typeface="微软雅黑" panose="020B0503020204020204" charset="-122"/>
              </a:rPr>
              <a:t>unlock mutex; </a:t>
            </a:r>
            <a:endParaRPr kumimoji="1" lang="en-US" altLang="zh-CN" sz="1800" b="1" dirty="0">
              <a:solidFill>
                <a:srgbClr val="FF0000"/>
              </a:solidFill>
              <a:latin typeface="微软雅黑" panose="020B0503020204020204" charset="-122"/>
              <a:ea typeface="微软雅黑" panose="020B0503020204020204" charset="-122"/>
            </a:endParaRPr>
          </a:p>
        </p:txBody>
      </p:sp>
      <p:sp>
        <p:nvSpPr>
          <p:cNvPr id="6"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7"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Rot="1" noChangeArrowheads="1"/>
          </p:cNvSpPr>
          <p:nvPr>
            <p:ph type="title"/>
          </p:nvPr>
        </p:nvSpPr>
        <p:spPr>
          <a:xfrm>
            <a:off x="1189249" y="1783104"/>
            <a:ext cx="3646911" cy="411956"/>
          </a:xfrm>
        </p:spPr>
        <p:txBody>
          <a:bodyPr/>
          <a:lstStyle/>
          <a:p>
            <a:pPr algn="l"/>
            <a:r>
              <a:rPr kumimoji="1" lang="zh-CN" altLang="en-US" dirty="0">
                <a:latin typeface="Times New Roman" panose="02020603050405020304" pitchFamily="18" charset="0"/>
              </a:rPr>
              <a:t>对资源释放操作的描述：</a:t>
            </a:r>
            <a:endParaRPr lang="zh-CN" altLang="en-US" dirty="0"/>
          </a:p>
        </p:txBody>
      </p:sp>
      <p:sp>
        <p:nvSpPr>
          <p:cNvPr id="327683" name="Rectangle 3"/>
          <p:cNvSpPr>
            <a:spLocks noGrp="1" noRot="1" noChangeArrowheads="1"/>
          </p:cNvSpPr>
          <p:nvPr>
            <p:ph type="body" idx="1"/>
          </p:nvPr>
        </p:nvSpPr>
        <p:spPr>
          <a:xfrm>
            <a:off x="1189249" y="2282168"/>
            <a:ext cx="7798938" cy="3376398"/>
          </a:xfrm>
        </p:spPr>
        <p:txBody>
          <a:bodyPr/>
          <a:lstStyle/>
          <a:p>
            <a:pPr marL="1314450" lvl="2" indent="-514350">
              <a:buNone/>
            </a:pPr>
            <a:r>
              <a:rPr lang="en-US" altLang="zh-CN" sz="2100" dirty="0">
                <a:solidFill>
                  <a:srgbClr val="FF0000"/>
                </a:solidFill>
                <a:latin typeface="微软雅黑" panose="020B0503020204020204" charset="-122"/>
                <a:ea typeface="微软雅黑" panose="020B0503020204020204" charset="-122"/>
              </a:rPr>
              <a:t>lock mutex;</a:t>
            </a:r>
            <a:endParaRPr lang="en-US" altLang="zh-CN" sz="2100" dirty="0">
              <a:solidFill>
                <a:srgbClr val="FF0000"/>
              </a:solidFill>
              <a:latin typeface="微软雅黑" panose="020B0503020204020204" charset="-122"/>
              <a:ea typeface="微软雅黑" panose="020B0503020204020204" charset="-122"/>
            </a:endParaRPr>
          </a:p>
          <a:p>
            <a:pPr marL="1314450" lvl="2" indent="-514350">
              <a:buNone/>
            </a:pPr>
            <a:r>
              <a:rPr lang="zh-CN" altLang="en-US" sz="2100" dirty="0">
                <a:solidFill>
                  <a:srgbClr val="FF0000"/>
                </a:solidFill>
                <a:latin typeface="微软雅黑" panose="020B0503020204020204" charset="-122"/>
                <a:ea typeface="微软雅黑" panose="020B0503020204020204" charset="-122"/>
              </a:rPr>
              <a:t> </a:t>
            </a:r>
            <a:r>
              <a:rPr lang="zh-CN" altLang="en-US" sz="2100" dirty="0" smtClean="0">
                <a:solidFill>
                  <a:srgbClr val="FF0000"/>
                </a:solidFill>
                <a:latin typeface="微软雅黑" panose="020B0503020204020204" charset="-122"/>
                <a:ea typeface="微软雅黑" panose="020B0503020204020204" charset="-122"/>
              </a:rPr>
              <a:t>   </a:t>
            </a:r>
            <a:r>
              <a:rPr lang="en-US" altLang="zh-CN" sz="2100" dirty="0">
                <a:solidFill>
                  <a:srgbClr val="FF0000"/>
                </a:solidFill>
                <a:latin typeface="微软雅黑" panose="020B0503020204020204" charset="-122"/>
                <a:ea typeface="微软雅黑" panose="020B0503020204020204" charset="-122"/>
              </a:rPr>
              <a:t>mark resource as free</a:t>
            </a:r>
            <a:r>
              <a:rPr lang="zh-CN" altLang="en-US" sz="2100" dirty="0">
                <a:solidFill>
                  <a:srgbClr val="FF0000"/>
                </a:solidFill>
                <a:latin typeface="微软雅黑" panose="020B0503020204020204" charset="-122"/>
                <a:ea typeface="微软雅黑" panose="020B0503020204020204" charset="-122"/>
              </a:rPr>
              <a:t>；</a:t>
            </a:r>
            <a:endParaRPr lang="zh-CN" altLang="en-US" sz="2100" dirty="0">
              <a:solidFill>
                <a:srgbClr val="FF0000"/>
              </a:solidFill>
              <a:latin typeface="微软雅黑" panose="020B0503020204020204" charset="-122"/>
              <a:ea typeface="微软雅黑" panose="020B0503020204020204" charset="-122"/>
            </a:endParaRPr>
          </a:p>
          <a:p>
            <a:pPr marL="1314450" lvl="2" indent="-514350">
              <a:buNone/>
            </a:pPr>
            <a:r>
              <a:rPr lang="en-US" altLang="zh-CN" sz="2100" dirty="0">
                <a:solidFill>
                  <a:srgbClr val="FF0000"/>
                </a:solidFill>
                <a:latin typeface="微软雅黑" panose="020B0503020204020204" charset="-122"/>
                <a:ea typeface="微软雅黑" panose="020B0503020204020204" charset="-122"/>
              </a:rPr>
              <a:t>unlock mutex</a:t>
            </a:r>
            <a:r>
              <a:rPr lang="zh-CN" altLang="en-US" sz="2100" dirty="0">
                <a:solidFill>
                  <a:srgbClr val="FF0000"/>
                </a:solidFill>
                <a:latin typeface="微软雅黑" panose="020B0503020204020204" charset="-122"/>
                <a:ea typeface="微软雅黑" panose="020B0503020204020204" charset="-122"/>
              </a:rPr>
              <a:t>；</a:t>
            </a:r>
            <a:endParaRPr lang="zh-CN" altLang="en-US" sz="2100" dirty="0">
              <a:solidFill>
                <a:srgbClr val="FF0000"/>
              </a:solidFill>
              <a:latin typeface="微软雅黑" panose="020B0503020204020204" charset="-122"/>
              <a:ea typeface="微软雅黑" panose="020B0503020204020204" charset="-122"/>
            </a:endParaRPr>
          </a:p>
          <a:p>
            <a:pPr marL="1314450" lvl="2" indent="-514350">
              <a:buNone/>
            </a:pPr>
            <a:r>
              <a:rPr lang="zh-CN" altLang="en-US" sz="2100" dirty="0" smtClean="0">
                <a:solidFill>
                  <a:srgbClr val="FF0000"/>
                </a:solidFill>
                <a:latin typeface="微软雅黑" panose="020B0503020204020204" charset="-122"/>
                <a:ea typeface="微软雅黑" panose="020B0503020204020204" charset="-122"/>
              </a:rPr>
              <a:t>    </a:t>
            </a:r>
            <a:r>
              <a:rPr lang="en-US" altLang="zh-CN" sz="2100" dirty="0">
                <a:solidFill>
                  <a:srgbClr val="FF0000"/>
                </a:solidFill>
                <a:latin typeface="微软雅黑" panose="020B0503020204020204" charset="-122"/>
                <a:ea typeface="微软雅黑" panose="020B0503020204020204" charset="-122"/>
              </a:rPr>
              <a:t>wakeup(condition variable)</a:t>
            </a:r>
            <a:r>
              <a:rPr lang="zh-CN" altLang="en-US" sz="2100" dirty="0">
                <a:solidFill>
                  <a:srgbClr val="FF0000"/>
                </a:solidFill>
                <a:latin typeface="微软雅黑" panose="020B0503020204020204" charset="-122"/>
                <a:ea typeface="微软雅黑" panose="020B0503020204020204" charset="-122"/>
              </a:rPr>
              <a:t>；</a:t>
            </a:r>
            <a:endParaRPr lang="en-US" altLang="zh-CN" sz="2100" dirty="0">
              <a:solidFill>
                <a:srgbClr val="FF0000"/>
              </a:solidFill>
              <a:latin typeface="微软雅黑" panose="020B0503020204020204" charset="-122"/>
              <a:ea typeface="微软雅黑" panose="020B0503020204020204" charset="-122"/>
            </a:endParaRPr>
          </a:p>
          <a:p>
            <a:pPr marL="1314450" lvl="2" indent="-514350">
              <a:buNone/>
            </a:pPr>
            <a:endParaRPr lang="en-US" altLang="zh-CN" sz="2100" dirty="0">
              <a:latin typeface="微软雅黑" panose="020B0503020204020204" charset="-122"/>
              <a:ea typeface="微软雅黑" panose="020B0503020204020204" charset="-122"/>
            </a:endParaRPr>
          </a:p>
          <a:p>
            <a:pPr>
              <a:buFont typeface="Wingdings 2" panose="05020102010507070707" pitchFamily="18" charset="2"/>
              <a:buNone/>
            </a:pPr>
            <a:r>
              <a:rPr lang="en-US" altLang="zh-CN" sz="1650" dirty="0">
                <a:latin typeface="微软雅黑" panose="020B0503020204020204" charset="-122"/>
                <a:ea typeface="微软雅黑" panose="020B0503020204020204" charset="-122"/>
              </a:rPr>
              <a:t>    //</a:t>
            </a:r>
            <a:r>
              <a:rPr lang="zh-CN" altLang="en-US" sz="1650" dirty="0">
                <a:latin typeface="微软雅黑" panose="020B0503020204020204" charset="-122"/>
                <a:ea typeface="微软雅黑" panose="020B0503020204020204" charset="-122"/>
              </a:rPr>
              <a:t>原来占有资源</a:t>
            </a:r>
            <a:r>
              <a:rPr lang="en-US" altLang="zh-CN" sz="1650" dirty="0">
                <a:latin typeface="微软雅黑" panose="020B0503020204020204" charset="-122"/>
                <a:ea typeface="微软雅黑" panose="020B0503020204020204" charset="-122"/>
              </a:rPr>
              <a:t>R </a:t>
            </a:r>
            <a:r>
              <a:rPr lang="zh-CN" altLang="en-US" sz="1650" dirty="0">
                <a:latin typeface="微软雅黑" panose="020B0503020204020204" charset="-122"/>
                <a:ea typeface="微软雅黑" panose="020B0503020204020204" charset="-122"/>
              </a:rPr>
              <a:t>的线程在使用完该资源后，便按照上述描述释放该资源，其中的</a:t>
            </a:r>
            <a:r>
              <a:rPr lang="en-US" altLang="zh-CN" sz="1650" dirty="0">
                <a:solidFill>
                  <a:schemeClr val="folHlink"/>
                </a:solidFill>
                <a:latin typeface="微软雅黑" panose="020B0503020204020204" charset="-122"/>
                <a:ea typeface="微软雅黑" panose="020B0503020204020204" charset="-122"/>
              </a:rPr>
              <a:t>wakeup()</a:t>
            </a:r>
            <a:r>
              <a:rPr lang="zh-CN" altLang="en-US" sz="1650" dirty="0">
                <a:solidFill>
                  <a:schemeClr val="folHlink"/>
                </a:solidFill>
                <a:latin typeface="微软雅黑" panose="020B0503020204020204" charset="-122"/>
                <a:ea typeface="微软雅黑" panose="020B0503020204020204" charset="-122"/>
              </a:rPr>
              <a:t>表示去唤醒在指定条件变量上等待的一个或多个线程</a:t>
            </a:r>
            <a:r>
              <a:rPr lang="zh-CN" altLang="en-US" sz="1650" dirty="0">
                <a:latin typeface="微软雅黑" panose="020B0503020204020204" charset="-122"/>
                <a:ea typeface="微软雅黑" panose="020B0503020204020204" charset="-122"/>
              </a:rPr>
              <a:t>。</a:t>
            </a:r>
            <a:endParaRPr lang="zh-CN" altLang="en-US" sz="1650" dirty="0">
              <a:latin typeface="微软雅黑" panose="020B0503020204020204" charset="-122"/>
              <a:ea typeface="微软雅黑" panose="020B0503020204020204" charset="-122"/>
            </a:endParaRPr>
          </a:p>
          <a:p>
            <a:endParaRPr lang="zh-CN" altLang="en-US" sz="2100" dirty="0">
              <a:latin typeface="微软雅黑" panose="020B0503020204020204" charset="-122"/>
              <a:ea typeface="微软雅黑" panose="020B0503020204020204" charset="-122"/>
            </a:endParaRPr>
          </a:p>
        </p:txBody>
      </p:sp>
      <p:sp>
        <p:nvSpPr>
          <p:cNvPr id="5"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6"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48640" y="1840925"/>
            <a:ext cx="8241524" cy="3868232"/>
          </a:xfrm>
        </p:spPr>
        <p:txBody>
          <a:bodyPr/>
          <a:lstStyle/>
          <a:p>
            <a:pPr marL="0" indent="0">
              <a:buNone/>
            </a:pPr>
            <a:r>
              <a:rPr kumimoji="1" lang="en-US" altLang="zh-CN" dirty="0">
                <a:solidFill>
                  <a:srgbClr val="FF0000"/>
                </a:solidFill>
                <a:latin typeface="微软雅黑" panose="020B0503020204020204" charset="-122"/>
                <a:ea typeface="微软雅黑" panose="020B0503020204020204" charset="-122"/>
              </a:rPr>
              <a:t>3. </a:t>
            </a:r>
            <a:r>
              <a:rPr kumimoji="1" lang="zh-CN" altLang="en-US" dirty="0">
                <a:solidFill>
                  <a:srgbClr val="FF0000"/>
                </a:solidFill>
                <a:latin typeface="微软雅黑" panose="020B0503020204020204" charset="-122"/>
                <a:ea typeface="微软雅黑" panose="020B0503020204020204" charset="-122"/>
              </a:rPr>
              <a:t>信号量机制</a:t>
            </a:r>
            <a:endParaRPr kumimoji="1" lang="en-US" altLang="zh-CN" dirty="0">
              <a:solidFill>
                <a:srgbClr val="FF0000"/>
              </a:solidFill>
              <a:latin typeface="微软雅黑" panose="020B0503020204020204" charset="-122"/>
              <a:ea typeface="微软雅黑" panose="020B0503020204020204" charset="-122"/>
            </a:endParaRPr>
          </a:p>
          <a:p>
            <a:pPr algn="just">
              <a:lnSpc>
                <a:spcPct val="120000"/>
              </a:lnSpc>
              <a:spcBef>
                <a:spcPct val="50000"/>
              </a:spcBef>
              <a:buClrTx/>
              <a:buSzTx/>
              <a:buNone/>
            </a:pPr>
            <a:r>
              <a:rPr kumimoji="1" lang="zh-CN" altLang="en-US" dirty="0">
                <a:latin typeface="微软雅黑" panose="020B0503020204020204" charset="-122"/>
                <a:ea typeface="微软雅黑" panose="020B0503020204020204" charset="-122"/>
              </a:rPr>
              <a:t> </a:t>
            </a:r>
            <a:r>
              <a:rPr kumimoji="1" lang="en-US" altLang="zh-CN" dirty="0">
                <a:latin typeface="微软雅黑" panose="020B0503020204020204" charset="-122"/>
                <a:ea typeface="微软雅黑" panose="020B0503020204020204" charset="-122"/>
              </a:rPr>
              <a:t>(1) </a:t>
            </a:r>
            <a:r>
              <a:rPr kumimoji="1" lang="zh-CN" altLang="en-US" dirty="0">
                <a:latin typeface="微软雅黑" panose="020B0503020204020204" charset="-122"/>
                <a:ea typeface="微软雅黑" panose="020B0503020204020204" charset="-122"/>
              </a:rPr>
              <a:t>私用信号量</a:t>
            </a:r>
            <a:r>
              <a:rPr kumimoji="1" lang="en-US" altLang="zh-CN" dirty="0">
                <a:latin typeface="微软雅黑" panose="020B0503020204020204" charset="-122"/>
                <a:ea typeface="微软雅黑" panose="020B0503020204020204" charset="-122"/>
              </a:rPr>
              <a:t>(private </a:t>
            </a:r>
            <a:r>
              <a:rPr kumimoji="1" lang="en-US" altLang="zh-CN" dirty="0" err="1">
                <a:latin typeface="微软雅黑" panose="020B0503020204020204" charset="-122"/>
                <a:ea typeface="微软雅黑" panose="020B0503020204020204" charset="-122"/>
              </a:rPr>
              <a:t>samephore</a:t>
            </a:r>
            <a:r>
              <a:rPr kumimoji="1" lang="en-US" altLang="zh-CN" dirty="0">
                <a:latin typeface="微软雅黑" panose="020B0503020204020204" charset="-122"/>
                <a:ea typeface="微软雅黑" panose="020B0503020204020204" charset="-122"/>
              </a:rPr>
              <a:t>)</a:t>
            </a:r>
            <a:r>
              <a:rPr kumimoji="1" lang="zh-CN" altLang="en-US" dirty="0">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a:p>
            <a:pPr algn="just">
              <a:lnSpc>
                <a:spcPct val="130000"/>
              </a:lnSpc>
              <a:spcBef>
                <a:spcPct val="50000"/>
              </a:spcBef>
              <a:buClrTx/>
              <a:buSzTx/>
              <a:buNone/>
            </a:pPr>
            <a:r>
              <a:rPr kumimoji="1" lang="zh-CN" altLang="en-US" sz="1650" dirty="0">
                <a:latin typeface="微软雅黑" panose="020B0503020204020204" charset="-122"/>
                <a:ea typeface="微软雅黑" panose="020B0503020204020204" charset="-122"/>
              </a:rPr>
              <a:t>        当某线程需利用信号量来实现</a:t>
            </a:r>
            <a:r>
              <a:rPr kumimoji="1" lang="zh-CN" altLang="en-US" sz="1650" dirty="0">
                <a:solidFill>
                  <a:srgbClr val="FF0000"/>
                </a:solidFill>
                <a:latin typeface="微软雅黑" panose="020B0503020204020204" charset="-122"/>
                <a:ea typeface="微软雅黑" panose="020B0503020204020204" charset="-122"/>
              </a:rPr>
              <a:t>同一进程中各线程之间的同步</a:t>
            </a:r>
            <a:r>
              <a:rPr kumimoji="1" lang="zh-CN" altLang="en-US" sz="1650" dirty="0">
                <a:latin typeface="微软雅黑" panose="020B0503020204020204" charset="-122"/>
                <a:ea typeface="微软雅黑" panose="020B0503020204020204" charset="-122"/>
              </a:rPr>
              <a:t>时，可调用创建信号量的命令来创建一私用信号量，其数据结构存放在应用程序的地址空间中。</a:t>
            </a:r>
            <a:endParaRPr kumimoji="1" lang="zh-CN" altLang="en-US" sz="1650" dirty="0">
              <a:latin typeface="微软雅黑" panose="020B0503020204020204" charset="-122"/>
              <a:ea typeface="微软雅黑" panose="020B0503020204020204" charset="-122"/>
            </a:endParaRPr>
          </a:p>
          <a:p>
            <a:pPr algn="just">
              <a:lnSpc>
                <a:spcPct val="130000"/>
              </a:lnSpc>
              <a:spcBef>
                <a:spcPct val="50000"/>
              </a:spcBef>
              <a:buClrTx/>
              <a:buSzTx/>
              <a:buNone/>
            </a:pPr>
            <a:r>
              <a:rPr kumimoji="1" lang="zh-CN" altLang="en-US" sz="1650" dirty="0">
                <a:latin typeface="微软雅黑" panose="020B0503020204020204" charset="-122"/>
                <a:ea typeface="微软雅黑" panose="020B0503020204020204" charset="-122"/>
              </a:rPr>
              <a:t>        </a:t>
            </a:r>
            <a:r>
              <a:rPr kumimoji="1" lang="zh-CN" altLang="en-US" sz="1650" dirty="0">
                <a:solidFill>
                  <a:srgbClr val="FF0000"/>
                </a:solidFill>
                <a:latin typeface="微软雅黑" panose="020B0503020204020204" charset="-122"/>
                <a:ea typeface="微软雅黑" panose="020B0503020204020204" charset="-122"/>
              </a:rPr>
              <a:t>私用信号量属于特定的进程所有</a:t>
            </a:r>
            <a:r>
              <a:rPr kumimoji="1" lang="zh-CN" altLang="en-US" sz="1650" dirty="0">
                <a:latin typeface="微软雅黑" panose="020B0503020204020204" charset="-122"/>
                <a:ea typeface="微软雅黑" panose="020B0503020204020204" charset="-122"/>
              </a:rPr>
              <a:t>，</a:t>
            </a:r>
            <a:r>
              <a:rPr kumimoji="1" lang="en-US" altLang="zh-CN" sz="1650" dirty="0">
                <a:latin typeface="微软雅黑" panose="020B0503020204020204" charset="-122"/>
                <a:ea typeface="微软雅黑" panose="020B0503020204020204" charset="-122"/>
              </a:rPr>
              <a:t>OS</a:t>
            </a:r>
            <a:r>
              <a:rPr kumimoji="1" lang="zh-CN" altLang="en-US" sz="1650" dirty="0">
                <a:latin typeface="微软雅黑" panose="020B0503020204020204" charset="-122"/>
                <a:ea typeface="微软雅黑" panose="020B0503020204020204" charset="-122"/>
              </a:rPr>
              <a:t>并不知道私用信号量的存在，因此，一旦发生私用信号量的占用者异常结束或正常结束，但并未释放该信号量所占有空间的情况时，系统将无法使它恢复为</a:t>
            </a:r>
            <a:r>
              <a:rPr kumimoji="1" lang="en-US" altLang="zh-CN" sz="1650" dirty="0">
                <a:latin typeface="微软雅黑" panose="020B0503020204020204" charset="-122"/>
                <a:ea typeface="微软雅黑" panose="020B0503020204020204" charset="-122"/>
              </a:rPr>
              <a:t>0(</a:t>
            </a:r>
            <a:r>
              <a:rPr kumimoji="1" lang="zh-CN" altLang="en-US" sz="1650" dirty="0">
                <a:latin typeface="微软雅黑" panose="020B0503020204020204" charset="-122"/>
                <a:ea typeface="微软雅黑" panose="020B0503020204020204" charset="-122"/>
              </a:rPr>
              <a:t>空</a:t>
            </a:r>
            <a:r>
              <a:rPr kumimoji="1" lang="en-US" altLang="zh-CN" sz="1650" dirty="0">
                <a:latin typeface="微软雅黑" panose="020B0503020204020204" charset="-122"/>
                <a:ea typeface="微软雅黑" panose="020B0503020204020204" charset="-122"/>
              </a:rPr>
              <a:t>)</a:t>
            </a:r>
            <a:r>
              <a:rPr kumimoji="1" lang="zh-CN" altLang="en-US" sz="1650" dirty="0">
                <a:latin typeface="微软雅黑" panose="020B0503020204020204" charset="-122"/>
                <a:ea typeface="微软雅黑" panose="020B0503020204020204" charset="-122"/>
              </a:rPr>
              <a:t>，也不能将它传送给下一个请求它的线程。</a:t>
            </a:r>
            <a:r>
              <a:rPr kumimoji="1" lang="zh-CN" altLang="en-US" sz="1650" dirty="0">
                <a:solidFill>
                  <a:srgbClr val="FF0000"/>
                </a:solidFill>
                <a:latin typeface="微软雅黑" panose="020B0503020204020204" charset="-122"/>
                <a:ea typeface="微软雅黑" panose="020B0503020204020204" charset="-122"/>
              </a:rPr>
              <a:t> </a:t>
            </a:r>
            <a:endParaRPr kumimoji="1" lang="zh-CN" altLang="en-US" sz="1650" dirty="0">
              <a:solidFill>
                <a:srgbClr val="FF0000"/>
              </a:solidFill>
              <a:latin typeface="微软雅黑" panose="020B0503020204020204" charset="-122"/>
              <a:ea typeface="微软雅黑" panose="020B0503020204020204" charset="-122"/>
            </a:endParaRPr>
          </a:p>
          <a:p>
            <a:pPr marL="0" indent="0">
              <a:buNone/>
            </a:pPr>
            <a:endParaRPr lang="zh-CN" altLang="en-US" dirty="0">
              <a:latin typeface="微软雅黑" panose="020B0503020204020204" charset="-122"/>
              <a:ea typeface="微软雅黑" panose="020B0503020204020204" charset="-122"/>
            </a:endParaRPr>
          </a:p>
        </p:txBody>
      </p:sp>
      <p:sp>
        <p:nvSpPr>
          <p:cNvPr id="5"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7"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left)">
                                      <p:cBhvr>
                                        <p:cTn id="7" dur="25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gn="just">
              <a:lnSpc>
                <a:spcPct val="140000"/>
              </a:lnSpc>
              <a:spcBef>
                <a:spcPct val="50000"/>
              </a:spcBef>
              <a:buClrTx/>
              <a:buSzTx/>
              <a:buNone/>
            </a:pPr>
            <a:r>
              <a:rPr kumimoji="1" lang="zh-CN" altLang="en-US" dirty="0">
                <a:latin typeface="微软雅黑" panose="020B0503020204020204" charset="-122"/>
                <a:ea typeface="微软雅黑" panose="020B0503020204020204" charset="-122"/>
              </a:rPr>
              <a:t> </a:t>
            </a:r>
            <a:r>
              <a:rPr kumimoji="1" lang="en-US" altLang="zh-CN" dirty="0">
                <a:latin typeface="微软雅黑" panose="020B0503020204020204" charset="-122"/>
                <a:ea typeface="微软雅黑" panose="020B0503020204020204" charset="-122"/>
              </a:rPr>
              <a:t>(2) </a:t>
            </a:r>
            <a:r>
              <a:rPr kumimoji="1" lang="zh-CN" altLang="en-US" dirty="0">
                <a:latin typeface="微软雅黑" panose="020B0503020204020204" charset="-122"/>
                <a:ea typeface="微软雅黑" panose="020B0503020204020204" charset="-122"/>
              </a:rPr>
              <a:t>公用信号量</a:t>
            </a:r>
            <a:r>
              <a:rPr kumimoji="1" lang="en-US" altLang="zh-CN" dirty="0">
                <a:latin typeface="微软雅黑" panose="020B0503020204020204" charset="-122"/>
                <a:ea typeface="微软雅黑" panose="020B0503020204020204" charset="-122"/>
              </a:rPr>
              <a:t>(public </a:t>
            </a:r>
            <a:r>
              <a:rPr kumimoji="1" lang="en-US" altLang="zh-CN" dirty="0" err="1">
                <a:latin typeface="微软雅黑" panose="020B0503020204020204" charset="-122"/>
                <a:ea typeface="微软雅黑" panose="020B0503020204020204" charset="-122"/>
              </a:rPr>
              <a:t>semaphort</a:t>
            </a:r>
            <a:r>
              <a:rPr kumimoji="1" lang="en-US" altLang="zh-CN" dirty="0">
                <a:latin typeface="微软雅黑" panose="020B0503020204020204" charset="-122"/>
                <a:ea typeface="微软雅黑" panose="020B0503020204020204" charset="-122"/>
              </a:rPr>
              <a:t>)</a:t>
            </a:r>
            <a:r>
              <a:rPr kumimoji="1" lang="zh-CN" altLang="en-US" dirty="0">
                <a:latin typeface="微软雅黑" panose="020B0503020204020204" charset="-122"/>
                <a:ea typeface="微软雅黑" panose="020B0503020204020204" charset="-122"/>
              </a:rPr>
              <a:t>。 </a:t>
            </a:r>
            <a:endParaRPr kumimoji="1" lang="zh-CN" altLang="en-US" dirty="0">
              <a:latin typeface="微软雅黑" panose="020B0503020204020204" charset="-122"/>
              <a:ea typeface="微软雅黑" panose="020B0503020204020204" charset="-122"/>
            </a:endParaRPr>
          </a:p>
          <a:p>
            <a:pPr algn="just">
              <a:lnSpc>
                <a:spcPct val="140000"/>
              </a:lnSpc>
              <a:spcBef>
                <a:spcPct val="0"/>
              </a:spcBef>
              <a:buClrTx/>
              <a:buSzTx/>
              <a:buNone/>
            </a:pPr>
            <a:r>
              <a:rPr kumimoji="1" lang="zh-CN" altLang="en-US" dirty="0">
                <a:latin typeface="微软雅黑" panose="020B0503020204020204" charset="-122"/>
                <a:ea typeface="微软雅黑" panose="020B0503020204020204" charset="-122"/>
              </a:rPr>
              <a:t>        公用信号量是为实现</a:t>
            </a:r>
            <a:r>
              <a:rPr kumimoji="1" lang="zh-CN" altLang="en-US" dirty="0">
                <a:solidFill>
                  <a:srgbClr val="FF0000"/>
                </a:solidFill>
                <a:latin typeface="微软雅黑" panose="020B0503020204020204" charset="-122"/>
                <a:ea typeface="微软雅黑" panose="020B0503020204020204" charset="-122"/>
              </a:rPr>
              <a:t>不同进程间或不同进程中各线程之间的同步</a:t>
            </a:r>
            <a:r>
              <a:rPr kumimoji="1" lang="zh-CN" altLang="en-US" dirty="0">
                <a:latin typeface="微软雅黑" panose="020B0503020204020204" charset="-122"/>
                <a:ea typeface="微软雅黑" panose="020B0503020204020204" charset="-122"/>
              </a:rPr>
              <a:t>而设置的。</a:t>
            </a:r>
            <a:endParaRPr kumimoji="1" lang="en-US" altLang="zh-CN" dirty="0">
              <a:latin typeface="微软雅黑" panose="020B0503020204020204" charset="-122"/>
              <a:ea typeface="微软雅黑" panose="020B0503020204020204" charset="-122"/>
            </a:endParaRPr>
          </a:p>
          <a:p>
            <a:pPr algn="just">
              <a:lnSpc>
                <a:spcPct val="140000"/>
              </a:lnSpc>
              <a:spcBef>
                <a:spcPct val="0"/>
              </a:spcBef>
              <a:buClrTx/>
              <a:buSzTx/>
            </a:pPr>
            <a:r>
              <a:rPr kumimoji="1" lang="zh-CN" altLang="en-US" sz="1500" b="0" dirty="0">
                <a:latin typeface="微软雅黑" panose="020B0503020204020204" charset="-122"/>
                <a:ea typeface="微软雅黑" panose="020B0503020204020204" charset="-122"/>
              </a:rPr>
              <a:t>有着一个公开的名字供所有的进程使用，故称为公用信号量。</a:t>
            </a:r>
            <a:endParaRPr kumimoji="1" lang="en-US" altLang="zh-CN" sz="1500" b="0" dirty="0">
              <a:latin typeface="微软雅黑" panose="020B0503020204020204" charset="-122"/>
              <a:ea typeface="微软雅黑" panose="020B0503020204020204" charset="-122"/>
            </a:endParaRPr>
          </a:p>
          <a:p>
            <a:pPr algn="just">
              <a:lnSpc>
                <a:spcPct val="140000"/>
              </a:lnSpc>
              <a:spcBef>
                <a:spcPct val="0"/>
              </a:spcBef>
              <a:buClrTx/>
              <a:buSzTx/>
            </a:pPr>
            <a:r>
              <a:rPr kumimoji="1" lang="zh-CN" altLang="en-US" sz="1500" b="0" dirty="0">
                <a:latin typeface="微软雅黑" panose="020B0503020204020204" charset="-122"/>
                <a:ea typeface="微软雅黑" panose="020B0503020204020204" charset="-122"/>
              </a:rPr>
              <a:t>其数据结构是存放在受保护的系统存储区中，由</a:t>
            </a:r>
            <a:r>
              <a:rPr kumimoji="1" lang="en-US" altLang="zh-CN" sz="1500" b="0" dirty="0">
                <a:latin typeface="微软雅黑" panose="020B0503020204020204" charset="-122"/>
                <a:ea typeface="微软雅黑" panose="020B0503020204020204" charset="-122"/>
              </a:rPr>
              <a:t>OS</a:t>
            </a:r>
            <a:r>
              <a:rPr kumimoji="1" lang="zh-CN" altLang="en-US" sz="1500" b="0" dirty="0">
                <a:latin typeface="微软雅黑" panose="020B0503020204020204" charset="-122"/>
                <a:ea typeface="微软雅黑" panose="020B0503020204020204" charset="-122"/>
              </a:rPr>
              <a:t>为它分配空间并进行管理，故也称为系统信号量。</a:t>
            </a:r>
            <a:endParaRPr kumimoji="1" lang="en-US" altLang="zh-CN" sz="1500" b="0" dirty="0">
              <a:latin typeface="微软雅黑" panose="020B0503020204020204" charset="-122"/>
              <a:ea typeface="微软雅黑" panose="020B0503020204020204" charset="-122"/>
            </a:endParaRPr>
          </a:p>
          <a:p>
            <a:pPr algn="just">
              <a:lnSpc>
                <a:spcPct val="140000"/>
              </a:lnSpc>
              <a:spcBef>
                <a:spcPct val="0"/>
              </a:spcBef>
              <a:buClrTx/>
              <a:buSzTx/>
            </a:pPr>
            <a:r>
              <a:rPr kumimoji="1" lang="zh-CN" altLang="en-US" sz="1500" b="0" dirty="0">
                <a:latin typeface="微软雅黑" panose="020B0503020204020204" charset="-122"/>
                <a:ea typeface="微软雅黑" panose="020B0503020204020204" charset="-122"/>
              </a:rPr>
              <a:t>如果信号量的占有者在结束时未释放该公用信号量，则</a:t>
            </a:r>
            <a:r>
              <a:rPr kumimoji="1" lang="en-US" altLang="zh-CN" sz="1500" b="0" dirty="0">
                <a:latin typeface="微软雅黑" panose="020B0503020204020204" charset="-122"/>
                <a:ea typeface="微软雅黑" panose="020B0503020204020204" charset="-122"/>
              </a:rPr>
              <a:t>OS</a:t>
            </a:r>
            <a:r>
              <a:rPr kumimoji="1" lang="zh-CN" altLang="en-US" sz="1500" b="0" dirty="0">
                <a:latin typeface="微软雅黑" panose="020B0503020204020204" charset="-122"/>
                <a:ea typeface="微软雅黑" panose="020B0503020204020204" charset="-122"/>
              </a:rPr>
              <a:t>会自动将该信号量空间回收，并通知下一进程。</a:t>
            </a:r>
            <a:endParaRPr lang="zh-CN" altLang="en-US" sz="1500" b="0" dirty="0">
              <a:latin typeface="微软雅黑" panose="020B0503020204020204" charset="-122"/>
              <a:ea typeface="微软雅黑" panose="020B0503020204020204" charset="-122"/>
            </a:endParaRPr>
          </a:p>
        </p:txBody>
      </p:sp>
      <p:sp>
        <p:nvSpPr>
          <p:cNvPr id="5" name="矩形 4"/>
          <p:cNvSpPr>
            <a:spLocks noChangeArrowheads="1"/>
          </p:cNvSpPr>
          <p:nvPr/>
        </p:nvSpPr>
        <p:spPr bwMode="auto">
          <a:xfrm>
            <a:off x="2332447" y="4932379"/>
            <a:ext cx="4348480" cy="368300"/>
          </a:xfrm>
          <a:prstGeom prst="rect">
            <a:avLst/>
          </a:prstGeom>
          <a:solidFill>
            <a:srgbClr val="FFFF00"/>
          </a:solidFill>
          <a:ln>
            <a:noFill/>
          </a:ln>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None/>
              <a:defRPr/>
            </a:pPr>
            <a:r>
              <a:rPr kumimoji="1" lang="zh-CN" altLang="en-US" sz="1800" b="1" dirty="0">
                <a:solidFill>
                  <a:srgbClr val="7030A0"/>
                </a:solidFill>
                <a:latin typeface="微软雅黑" panose="020B0503020204020204" charset="-122"/>
                <a:ea typeface="微软雅黑" panose="020B0503020204020204" charset="-122"/>
              </a:rPr>
              <a:t>公用信号量是一种比较安全的同步机制。</a:t>
            </a:r>
            <a:r>
              <a:rPr kumimoji="1" lang="zh-CN" altLang="en-US" sz="1350" b="1" dirty="0">
                <a:solidFill>
                  <a:prstClr val="black"/>
                </a:solidFill>
                <a:latin typeface="微软雅黑" panose="020B0503020204020204" charset="-122"/>
                <a:ea typeface="微软雅黑" panose="020B0503020204020204" charset="-122"/>
              </a:rPr>
              <a:t> </a:t>
            </a:r>
            <a:endParaRPr lang="zh-CN" altLang="en-US" sz="1350" dirty="0">
              <a:solidFill>
                <a:prstClr val="black"/>
              </a:solidFill>
              <a:latin typeface="微软雅黑" panose="020B0503020204020204" charset="-122"/>
              <a:ea typeface="微软雅黑" panose="020B0503020204020204" charset="-122"/>
            </a:endParaRPr>
          </a:p>
        </p:txBody>
      </p:sp>
      <p:sp>
        <p:nvSpPr>
          <p:cNvPr id="6"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7"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25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25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25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 calcmode="lin" valueType="num">
                                      <p:cBhvr additive="base">
                                        <p:cTn id="2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673557" y="2022921"/>
            <a:ext cx="5400440" cy="1746377"/>
          </a:xfrm>
          <a:prstGeom prst="rect">
            <a:avLst/>
          </a:prstGeom>
        </p:spPr>
      </p:pic>
      <p:sp>
        <p:nvSpPr>
          <p:cNvPr id="2" name="内容占位符 1"/>
          <p:cNvSpPr>
            <a:spLocks noGrp="1"/>
          </p:cNvSpPr>
          <p:nvPr>
            <p:ph idx="1"/>
          </p:nvPr>
        </p:nvSpPr>
        <p:spPr>
          <a:xfrm>
            <a:off x="647701" y="3653790"/>
            <a:ext cx="8210550" cy="2094059"/>
          </a:xfrm>
        </p:spPr>
        <p:txBody>
          <a:bodyPr/>
          <a:lstStyle/>
          <a:p>
            <a:pPr algn="just">
              <a:lnSpc>
                <a:spcPct val="120000"/>
              </a:lnSpc>
              <a:spcBef>
                <a:spcPct val="50000"/>
              </a:spcBef>
              <a:buClrTx/>
              <a:buSzTx/>
              <a:buNone/>
            </a:pPr>
            <a:r>
              <a:rPr kumimoji="1" lang="zh-CN" altLang="en-US" dirty="0">
                <a:solidFill>
                  <a:srgbClr val="FF0000"/>
                </a:solidFill>
                <a:latin typeface="微软雅黑" panose="020B0503020204020204" charset="-122"/>
                <a:ea typeface="微软雅黑" panose="020B0503020204020204" charset="-122"/>
              </a:rPr>
              <a:t> </a:t>
            </a:r>
            <a:r>
              <a:rPr kumimoji="1" lang="en-US" altLang="zh-CN" dirty="0">
                <a:solidFill>
                  <a:schemeClr val="bg2">
                    <a:lumMod val="50000"/>
                  </a:schemeClr>
                </a:solidFill>
                <a:latin typeface="微软雅黑" panose="020B0503020204020204" charset="-122"/>
                <a:ea typeface="微软雅黑" panose="020B0503020204020204" charset="-122"/>
              </a:rPr>
              <a:t>1. </a:t>
            </a:r>
            <a:r>
              <a:rPr kumimoji="1" lang="zh-CN" altLang="en-US" dirty="0">
                <a:solidFill>
                  <a:schemeClr val="bg2">
                    <a:lumMod val="50000"/>
                  </a:schemeClr>
                </a:solidFill>
                <a:latin typeface="微软雅黑" panose="020B0503020204020204" charset="-122"/>
                <a:ea typeface="微软雅黑" panose="020B0503020204020204" charset="-122"/>
              </a:rPr>
              <a:t>用户级线程</a:t>
            </a:r>
            <a:r>
              <a:rPr kumimoji="1" lang="en-US" altLang="zh-CN" dirty="0">
                <a:solidFill>
                  <a:schemeClr val="bg2">
                    <a:lumMod val="50000"/>
                  </a:schemeClr>
                </a:solidFill>
                <a:latin typeface="微软雅黑" panose="020B0503020204020204" charset="-122"/>
                <a:ea typeface="微软雅黑" panose="020B0503020204020204" charset="-122"/>
              </a:rPr>
              <a:t>(User Level Threads)</a:t>
            </a:r>
            <a:endParaRPr kumimoji="1" lang="zh-CN" altLang="en-US" dirty="0">
              <a:solidFill>
                <a:schemeClr val="bg2">
                  <a:lumMod val="50000"/>
                </a:schemeClr>
              </a:solidFill>
              <a:latin typeface="微软雅黑" panose="020B0503020204020204" charset="-122"/>
              <a:ea typeface="微软雅黑" panose="020B0503020204020204" charset="-122"/>
            </a:endParaRPr>
          </a:p>
          <a:p>
            <a:pPr algn="just">
              <a:lnSpc>
                <a:spcPct val="120000"/>
              </a:lnSpc>
              <a:spcBef>
                <a:spcPct val="50000"/>
              </a:spcBef>
              <a:buClrTx/>
              <a:buSzTx/>
            </a:pPr>
            <a:r>
              <a:rPr kumimoji="1" lang="zh-CN" altLang="en-US" sz="1650" dirty="0">
                <a:latin typeface="微软雅黑" panose="020B0503020204020204" charset="-122"/>
                <a:ea typeface="微软雅黑" panose="020B0503020204020204" charset="-122"/>
              </a:rPr>
              <a:t>用户级线程仅存在于</a:t>
            </a:r>
            <a:r>
              <a:rPr kumimoji="1" lang="zh-CN" altLang="en-US" sz="1650" dirty="0">
                <a:solidFill>
                  <a:srgbClr val="FF0000"/>
                </a:solidFill>
                <a:latin typeface="微软雅黑" panose="020B0503020204020204" charset="-122"/>
                <a:ea typeface="微软雅黑" panose="020B0503020204020204" charset="-122"/>
              </a:rPr>
              <a:t>用户空间</a:t>
            </a:r>
            <a:r>
              <a:rPr kumimoji="1" lang="zh-CN" altLang="en-US" sz="1650" dirty="0">
                <a:latin typeface="微软雅黑" panose="020B0503020204020204" charset="-122"/>
                <a:ea typeface="微软雅黑" panose="020B0503020204020204" charset="-122"/>
              </a:rPr>
              <a:t>中。对于这种线程的创建、撤消、线程之间的同步与通信等功能，都</a:t>
            </a:r>
            <a:r>
              <a:rPr kumimoji="1" lang="zh-CN" altLang="en-US" sz="1650" dirty="0">
                <a:solidFill>
                  <a:srgbClr val="FF0000"/>
                </a:solidFill>
                <a:latin typeface="微软雅黑" panose="020B0503020204020204" charset="-122"/>
                <a:ea typeface="微软雅黑" panose="020B0503020204020204" charset="-122"/>
              </a:rPr>
              <a:t>无须内核</a:t>
            </a:r>
            <a:r>
              <a:rPr kumimoji="1" lang="zh-CN" altLang="en-US" sz="1650" dirty="0">
                <a:latin typeface="微软雅黑" panose="020B0503020204020204" charset="-122"/>
                <a:ea typeface="微软雅黑" panose="020B0503020204020204" charset="-122"/>
              </a:rPr>
              <a:t>来实现。</a:t>
            </a:r>
            <a:endParaRPr kumimoji="1" lang="zh-CN" altLang="en-US" sz="1650" dirty="0">
              <a:latin typeface="微软雅黑" panose="020B0503020204020204" charset="-122"/>
              <a:ea typeface="微软雅黑" panose="020B0503020204020204" charset="-122"/>
            </a:endParaRPr>
          </a:p>
          <a:p>
            <a:pPr algn="just">
              <a:lnSpc>
                <a:spcPct val="120000"/>
              </a:lnSpc>
              <a:spcBef>
                <a:spcPct val="50000"/>
              </a:spcBef>
              <a:buClrTx/>
              <a:buSzTx/>
            </a:pPr>
            <a:r>
              <a:rPr kumimoji="1" lang="zh-CN" altLang="en-US" sz="1650" dirty="0">
                <a:latin typeface="微软雅黑" panose="020B0503020204020204" charset="-122"/>
                <a:ea typeface="微软雅黑" panose="020B0503020204020204" charset="-122"/>
              </a:rPr>
              <a:t> 对于用户级线程的切换，通常是发生在一个应用进程的诸多线程之间，这时，也同样无须内核的支持。由于切换的规则远比进程调度和管理的规则简单，因而使线程的切换速度特别快。可见，这种线程是与内核无关的。</a:t>
            </a:r>
            <a:endParaRPr lang="zh-CN" altLang="en-US" sz="1650" dirty="0">
              <a:latin typeface="微软雅黑" panose="020B0503020204020204" charset="-122"/>
              <a:ea typeface="微软雅黑" panose="020B0503020204020204" charset="-122"/>
            </a:endParaRPr>
          </a:p>
        </p:txBody>
      </p:sp>
      <p:sp>
        <p:nvSpPr>
          <p:cNvPr id="3" name="标题 2"/>
          <p:cNvSpPr>
            <a:spLocks noGrp="1"/>
          </p:cNvSpPr>
          <p:nvPr>
            <p:ph type="title"/>
          </p:nvPr>
        </p:nvSpPr>
        <p:spPr>
          <a:xfrm>
            <a:off x="1174802" y="1791416"/>
            <a:ext cx="7330537" cy="411956"/>
          </a:xfrm>
        </p:spPr>
        <p:txBody>
          <a:bodyPr/>
          <a:lstStyle/>
          <a:p>
            <a:pPr algn="l"/>
            <a:r>
              <a:rPr lang="en-US" altLang="zh-CN" sz="2100" dirty="0"/>
              <a:t>2.7.6  </a:t>
            </a:r>
            <a:r>
              <a:rPr lang="zh-CN" altLang="en-US" sz="2100" dirty="0"/>
              <a:t>线程的实现方式</a:t>
            </a:r>
            <a:endParaRPr lang="zh-CN" altLang="en-US" sz="2100" dirty="0"/>
          </a:p>
        </p:txBody>
      </p:sp>
      <p:sp>
        <p:nvSpPr>
          <p:cNvPr id="7"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7" name="Rectangle 3"/>
          <p:cNvSpPr>
            <a:spLocks noGrp="1" noChangeArrowheads="1"/>
          </p:cNvSpPr>
          <p:nvPr>
            <p:ph type="body" idx="1"/>
          </p:nvPr>
        </p:nvSpPr>
        <p:spPr>
          <a:xfrm>
            <a:off x="1016000" y="2027535"/>
            <a:ext cx="7802880" cy="2546747"/>
          </a:xfrm>
          <a:noFill/>
        </p:spPr>
        <p:txBody>
          <a:bodyPr/>
          <a:lstStyle/>
          <a:p>
            <a:pPr marL="0" indent="0">
              <a:buNone/>
            </a:pPr>
            <a:r>
              <a:rPr kumimoji="1" lang="en-US" altLang="zh-CN" sz="2100" dirty="0">
                <a:solidFill>
                  <a:schemeClr val="bg2">
                    <a:lumMod val="50000"/>
                  </a:schemeClr>
                </a:solidFill>
                <a:latin typeface="微软雅黑" panose="020B0503020204020204" charset="-122"/>
                <a:ea typeface="微软雅黑" panose="020B0503020204020204" charset="-122"/>
              </a:rPr>
              <a:t>1. </a:t>
            </a:r>
            <a:r>
              <a:rPr kumimoji="1" lang="zh-CN" altLang="en-US" sz="2100" dirty="0">
                <a:solidFill>
                  <a:schemeClr val="bg2">
                    <a:lumMod val="50000"/>
                  </a:schemeClr>
                </a:solidFill>
                <a:latin typeface="微软雅黑" panose="020B0503020204020204" charset="-122"/>
                <a:ea typeface="微软雅黑" panose="020B0503020204020204" charset="-122"/>
              </a:rPr>
              <a:t>用户级线程</a:t>
            </a:r>
            <a:r>
              <a:rPr kumimoji="1" lang="en-US" altLang="zh-CN" sz="2100" dirty="0">
                <a:solidFill>
                  <a:schemeClr val="bg2">
                    <a:lumMod val="50000"/>
                  </a:schemeClr>
                </a:solidFill>
                <a:latin typeface="微软雅黑" panose="020B0503020204020204" charset="-122"/>
                <a:ea typeface="微软雅黑" panose="020B0503020204020204" charset="-122"/>
              </a:rPr>
              <a:t>(</a:t>
            </a:r>
            <a:r>
              <a:rPr kumimoji="1" lang="zh-CN" altLang="en-US" sz="2100" dirty="0">
                <a:solidFill>
                  <a:schemeClr val="bg2">
                    <a:lumMod val="50000"/>
                  </a:schemeClr>
                </a:solidFill>
                <a:latin typeface="微软雅黑" panose="020B0503020204020204" charset="-122"/>
                <a:ea typeface="微软雅黑" panose="020B0503020204020204" charset="-122"/>
              </a:rPr>
              <a:t>续</a:t>
            </a:r>
            <a:r>
              <a:rPr kumimoji="1" lang="en-US" altLang="zh-CN" sz="2100" dirty="0">
                <a:solidFill>
                  <a:schemeClr val="bg2">
                    <a:lumMod val="50000"/>
                  </a:schemeClr>
                </a:solidFill>
                <a:latin typeface="微软雅黑" panose="020B0503020204020204" charset="-122"/>
                <a:ea typeface="微软雅黑" panose="020B0503020204020204" charset="-122"/>
              </a:rPr>
              <a:t>)</a:t>
            </a:r>
            <a:endParaRPr lang="en-US" altLang="zh-CN" sz="2100" dirty="0">
              <a:solidFill>
                <a:srgbClr val="000000"/>
              </a:solidFill>
              <a:latin typeface="微软雅黑" panose="020B0503020204020204" charset="-122"/>
              <a:ea typeface="微软雅黑" panose="020B0503020204020204" charset="-122"/>
            </a:endParaRPr>
          </a:p>
          <a:p>
            <a:r>
              <a:rPr lang="zh-CN" altLang="en-US" b="1" dirty="0">
                <a:solidFill>
                  <a:srgbClr val="000000"/>
                </a:solidFill>
                <a:latin typeface="微软雅黑" panose="020B0503020204020204" charset="-122"/>
                <a:ea typeface="微软雅黑" panose="020B0503020204020204" charset="-122"/>
              </a:rPr>
              <a:t>由应用程序完成所有线程的管理</a:t>
            </a:r>
            <a:endParaRPr lang="zh-CN" altLang="en-US" b="1" dirty="0">
              <a:solidFill>
                <a:srgbClr val="000000"/>
              </a:solidFill>
              <a:latin typeface="微软雅黑" panose="020B0503020204020204" charset="-122"/>
              <a:ea typeface="微软雅黑" panose="020B0503020204020204" charset="-122"/>
            </a:endParaRPr>
          </a:p>
          <a:p>
            <a:pPr lvl="2">
              <a:buFont typeface="Wingdings" panose="05000000000000000000" pitchFamily="2" charset="2"/>
              <a:buNone/>
            </a:pPr>
            <a:r>
              <a:rPr lang="zh-CN" altLang="en-US" sz="1200" dirty="0">
                <a:solidFill>
                  <a:srgbClr val="FF0000"/>
                </a:solidFill>
                <a:latin typeface="微软雅黑" panose="020B0503020204020204" charset="-122"/>
                <a:ea typeface="微软雅黑" panose="020B0503020204020204" charset="-122"/>
              </a:rPr>
              <a:t>  </a:t>
            </a:r>
            <a:r>
              <a:rPr lang="zh-CN" altLang="en-US" sz="1800" dirty="0">
                <a:solidFill>
                  <a:srgbClr val="FF0000"/>
                </a:solidFill>
                <a:latin typeface="微软雅黑" panose="020B0503020204020204" charset="-122"/>
                <a:ea typeface="微软雅黑" panose="020B0503020204020204" charset="-122"/>
              </a:rPr>
              <a:t>线程库</a:t>
            </a:r>
            <a:r>
              <a:rPr lang="zh-CN" altLang="en-US" sz="1800" dirty="0">
                <a:solidFill>
                  <a:srgbClr val="000000"/>
                </a:solidFill>
                <a:latin typeface="微软雅黑" panose="020B0503020204020204" charset="-122"/>
                <a:ea typeface="微软雅黑" panose="020B0503020204020204" charset="-122"/>
              </a:rPr>
              <a:t>(用户空间)：通过一组管理线程的函数库来提供一个线程运行管理系统（运行系统）</a:t>
            </a:r>
            <a:endParaRPr lang="zh-CN" altLang="en-US" sz="1800" dirty="0">
              <a:solidFill>
                <a:srgbClr val="000000"/>
              </a:solidFill>
              <a:latin typeface="微软雅黑" panose="020B0503020204020204" charset="-122"/>
              <a:ea typeface="微软雅黑" panose="020B0503020204020204" charset="-122"/>
            </a:endParaRPr>
          </a:p>
          <a:p>
            <a:r>
              <a:rPr lang="zh-CN" altLang="en-US" b="1" dirty="0">
                <a:solidFill>
                  <a:srgbClr val="000000"/>
                </a:solidFill>
                <a:latin typeface="微软雅黑" panose="020B0503020204020204" charset="-122"/>
                <a:ea typeface="微软雅黑" panose="020B0503020204020204" charset="-122"/>
              </a:rPr>
              <a:t>内核不知道线程的存在</a:t>
            </a:r>
            <a:endParaRPr lang="zh-CN" altLang="en-US" b="1" dirty="0">
              <a:solidFill>
                <a:srgbClr val="000000"/>
              </a:solidFill>
              <a:latin typeface="微软雅黑" panose="020B0503020204020204" charset="-122"/>
              <a:ea typeface="微软雅黑" panose="020B0503020204020204" charset="-122"/>
            </a:endParaRPr>
          </a:p>
          <a:p>
            <a:r>
              <a:rPr lang="zh-CN" altLang="en-US" b="1" dirty="0">
                <a:solidFill>
                  <a:srgbClr val="000000"/>
                </a:solidFill>
                <a:latin typeface="微软雅黑" panose="020B0503020204020204" charset="-122"/>
                <a:ea typeface="微软雅黑" panose="020B0503020204020204" charset="-122"/>
              </a:rPr>
              <a:t>线程切换不需要核心态特权</a:t>
            </a:r>
            <a:endParaRPr lang="zh-CN" altLang="en-US" b="1" dirty="0">
              <a:solidFill>
                <a:srgbClr val="000000"/>
              </a:solidFill>
              <a:latin typeface="微软雅黑" panose="020B0503020204020204" charset="-122"/>
              <a:ea typeface="微软雅黑" panose="020B0503020204020204" charset="-122"/>
            </a:endParaRPr>
          </a:p>
          <a:p>
            <a:r>
              <a:rPr lang="zh-CN" altLang="en-US" b="1" dirty="0">
                <a:solidFill>
                  <a:srgbClr val="000000"/>
                </a:solidFill>
                <a:latin typeface="微软雅黑" panose="020B0503020204020204" charset="-122"/>
                <a:ea typeface="微软雅黑" panose="020B0503020204020204" charset="-122"/>
              </a:rPr>
              <a:t>调度算法可以是进程专用的</a:t>
            </a:r>
            <a:endParaRPr lang="zh-CN" altLang="en-US" b="1" dirty="0">
              <a:solidFill>
                <a:srgbClr val="000000"/>
              </a:solidFill>
              <a:latin typeface="微软雅黑" panose="020B0503020204020204" charset="-122"/>
              <a:ea typeface="微软雅黑" panose="020B0503020204020204" charset="-122"/>
            </a:endParaRPr>
          </a:p>
        </p:txBody>
      </p:sp>
      <p:sp>
        <p:nvSpPr>
          <p:cNvPr id="6" name="标题 2"/>
          <p:cNvSpPr>
            <a:spLocks noGrp="1"/>
          </p:cNvSpPr>
          <p:nvPr/>
        </p:nvSpPr>
        <p:spPr>
          <a:xfrm>
            <a:off x="6092594" y="1209256"/>
            <a:ext cx="3051406" cy="411956"/>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r>
              <a:rPr lang="en-US" altLang="zh-CN" sz="2100" dirty="0"/>
              <a:t>2.7.6  </a:t>
            </a:r>
            <a:r>
              <a:rPr lang="zh-CN" altLang="en-US" sz="2100" dirty="0"/>
              <a:t>线程的实现方式</a:t>
            </a:r>
            <a:endParaRPr lang="zh-CN" altLang="en-US" sz="2100" dirty="0"/>
          </a:p>
        </p:txBody>
      </p:sp>
      <p:sp>
        <p:nvSpPr>
          <p:cNvPr id="8"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934106" y="1166219"/>
            <a:ext cx="6572250" cy="507206"/>
          </a:xfrm>
        </p:spPr>
        <p:txBody>
          <a:bodyPr/>
          <a:lstStyle/>
          <a:p>
            <a:r>
              <a:rPr lang="zh-CN" altLang="en-US" dirty="0"/>
              <a:t>用户级线程的工作模型</a:t>
            </a:r>
            <a:endParaRPr lang="zh-CN" altLang="en-US" dirty="0"/>
          </a:p>
        </p:txBody>
      </p:sp>
      <p:sp>
        <p:nvSpPr>
          <p:cNvPr id="196641" name="Rectangle 33"/>
          <p:cNvSpPr>
            <a:spLocks noChangeArrowheads="1"/>
          </p:cNvSpPr>
          <p:nvPr/>
        </p:nvSpPr>
        <p:spPr bwMode="auto">
          <a:xfrm>
            <a:off x="1657351" y="1714500"/>
            <a:ext cx="5941219"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dirty="0">
                <a:solidFill>
                  <a:prstClr val="black"/>
                </a:solidFill>
              </a:rPr>
              <a:t>进程中的某个线程在内核阻塞，则整个进程阻塞</a:t>
            </a:r>
            <a:r>
              <a:rPr lang="en-US" altLang="zh-CN" sz="1800" dirty="0">
                <a:solidFill>
                  <a:prstClr val="black"/>
                </a:solidFill>
              </a:rPr>
              <a:t>!</a:t>
            </a:r>
            <a:endParaRPr lang="en-US" altLang="zh-CN" sz="1800" dirty="0">
              <a:solidFill>
                <a:prstClr val="black"/>
              </a:solidFill>
            </a:endParaRPr>
          </a:p>
        </p:txBody>
      </p:sp>
      <p:grpSp>
        <p:nvGrpSpPr>
          <p:cNvPr id="196768" name="Group 160"/>
          <p:cNvGrpSpPr/>
          <p:nvPr/>
        </p:nvGrpSpPr>
        <p:grpSpPr bwMode="auto">
          <a:xfrm>
            <a:off x="1931195" y="2286000"/>
            <a:ext cx="5098256" cy="3454003"/>
            <a:chOff x="662" y="1200"/>
            <a:chExt cx="4234" cy="2901"/>
          </a:xfrm>
        </p:grpSpPr>
        <p:sp>
          <p:nvSpPr>
            <p:cNvPr id="196655" name="Rectangle 47"/>
            <p:cNvSpPr>
              <a:spLocks noChangeArrowheads="1"/>
            </p:cNvSpPr>
            <p:nvPr/>
          </p:nvSpPr>
          <p:spPr bwMode="auto">
            <a:xfrm>
              <a:off x="3667" y="1495"/>
              <a:ext cx="877"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56" name="Rectangle 48"/>
            <p:cNvSpPr>
              <a:spLocks noChangeArrowheads="1"/>
            </p:cNvSpPr>
            <p:nvPr/>
          </p:nvSpPr>
          <p:spPr bwMode="auto">
            <a:xfrm>
              <a:off x="1645" y="1495"/>
              <a:ext cx="1541"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57" name="Line 49"/>
            <p:cNvSpPr>
              <a:spLocks noChangeShapeType="1"/>
            </p:cNvSpPr>
            <p:nvPr/>
          </p:nvSpPr>
          <p:spPr bwMode="auto">
            <a:xfrm>
              <a:off x="723" y="2352"/>
              <a:ext cx="4173"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65" name="Line 57"/>
            <p:cNvSpPr>
              <a:spLocks noChangeShapeType="1"/>
            </p:cNvSpPr>
            <p:nvPr/>
          </p:nvSpPr>
          <p:spPr bwMode="auto">
            <a:xfrm>
              <a:off x="2382" y="2352"/>
              <a:ext cx="0" cy="52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68" name="Freeform 60"/>
            <p:cNvSpPr/>
            <p:nvPr/>
          </p:nvSpPr>
          <p:spPr bwMode="auto">
            <a:xfrm>
              <a:off x="2236" y="1617"/>
              <a:ext cx="51"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72" name="Freeform 64"/>
            <p:cNvSpPr/>
            <p:nvPr/>
          </p:nvSpPr>
          <p:spPr bwMode="auto">
            <a:xfrm>
              <a:off x="2563"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73" name="Freeform 65"/>
            <p:cNvSpPr/>
            <p:nvPr/>
          </p:nvSpPr>
          <p:spPr bwMode="auto">
            <a:xfrm>
              <a:off x="1901"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nvGrpSpPr>
            <p:cNvPr id="196674" name="Group 66"/>
            <p:cNvGrpSpPr/>
            <p:nvPr/>
          </p:nvGrpSpPr>
          <p:grpSpPr bwMode="auto">
            <a:xfrm>
              <a:off x="2231" y="2880"/>
              <a:ext cx="302" cy="288"/>
              <a:chOff x="832" y="2920"/>
              <a:chExt cx="288" cy="288"/>
            </a:xfrm>
          </p:grpSpPr>
          <p:sp>
            <p:nvSpPr>
              <p:cNvPr id="196675" name="Oval 67"/>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76" name="Freeform 68"/>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sp>
          <p:nvSpPr>
            <p:cNvPr id="196690" name="Freeform 82"/>
            <p:cNvSpPr/>
            <p:nvPr/>
          </p:nvSpPr>
          <p:spPr bwMode="auto">
            <a:xfrm>
              <a:off x="2882"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91" name="Line 83"/>
            <p:cNvSpPr>
              <a:spLocks noChangeShapeType="1"/>
            </p:cNvSpPr>
            <p:nvPr/>
          </p:nvSpPr>
          <p:spPr bwMode="auto">
            <a:xfrm>
              <a:off x="1935" y="1865"/>
              <a:ext cx="447" cy="487"/>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92" name="Line 84"/>
            <p:cNvSpPr>
              <a:spLocks noChangeShapeType="1"/>
            </p:cNvSpPr>
            <p:nvPr/>
          </p:nvSpPr>
          <p:spPr bwMode="auto">
            <a:xfrm>
              <a:off x="2257" y="1857"/>
              <a:ext cx="125" cy="49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93" name="Line 85"/>
            <p:cNvSpPr>
              <a:spLocks noChangeShapeType="1"/>
            </p:cNvSpPr>
            <p:nvPr/>
          </p:nvSpPr>
          <p:spPr bwMode="auto">
            <a:xfrm flipH="1">
              <a:off x="2382" y="1865"/>
              <a:ext cx="190" cy="487"/>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94" name="Line 86"/>
            <p:cNvSpPr>
              <a:spLocks noChangeShapeType="1"/>
            </p:cNvSpPr>
            <p:nvPr/>
          </p:nvSpPr>
          <p:spPr bwMode="auto">
            <a:xfrm flipH="1">
              <a:off x="2382" y="1872"/>
              <a:ext cx="503" cy="47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nvGrpSpPr>
            <p:cNvPr id="196696" name="Group 88"/>
            <p:cNvGrpSpPr/>
            <p:nvPr/>
          </p:nvGrpSpPr>
          <p:grpSpPr bwMode="auto">
            <a:xfrm>
              <a:off x="3036" y="3697"/>
              <a:ext cx="294" cy="309"/>
              <a:chOff x="888" y="3472"/>
              <a:chExt cx="281" cy="309"/>
            </a:xfrm>
          </p:grpSpPr>
          <p:sp>
            <p:nvSpPr>
              <p:cNvPr id="196697" name="Rectangle 89"/>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698" name="Text Box 90"/>
              <p:cNvSpPr txBox="1">
                <a:spLocks noChangeArrowheads="1"/>
              </p:cNvSpPr>
              <p:nvPr/>
            </p:nvSpPr>
            <p:spPr bwMode="auto">
              <a:xfrm>
                <a:off x="913" y="3472"/>
                <a:ext cx="25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1800" b="1">
                    <a:solidFill>
                      <a:prstClr val="black"/>
                    </a:solidFill>
                    <a:latin typeface="Times New Roman" panose="02020603050405020304" pitchFamily="18" charset="0"/>
                    <a:ea typeface="黑体" panose="02010609060101010101" pitchFamily="2" charset="-122"/>
                  </a:rPr>
                  <a:t>P</a:t>
                </a:r>
                <a:endParaRPr lang="en-US" altLang="zh-CN" sz="1800" b="1">
                  <a:solidFill>
                    <a:prstClr val="black"/>
                  </a:solidFill>
                  <a:latin typeface="Times New Roman" panose="02020603050405020304" pitchFamily="18" charset="0"/>
                  <a:ea typeface="黑体" panose="02010609060101010101" pitchFamily="2" charset="-122"/>
                </a:endParaRPr>
              </a:p>
            </p:txBody>
          </p:sp>
        </p:grpSp>
        <p:grpSp>
          <p:nvGrpSpPr>
            <p:cNvPr id="196699" name="Group 91"/>
            <p:cNvGrpSpPr/>
            <p:nvPr/>
          </p:nvGrpSpPr>
          <p:grpSpPr bwMode="auto">
            <a:xfrm>
              <a:off x="3790" y="3697"/>
              <a:ext cx="294" cy="309"/>
              <a:chOff x="888" y="3472"/>
              <a:chExt cx="281" cy="309"/>
            </a:xfrm>
          </p:grpSpPr>
          <p:sp>
            <p:nvSpPr>
              <p:cNvPr id="196700" name="Rectangle 92"/>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01" name="Text Box 93"/>
              <p:cNvSpPr txBox="1">
                <a:spLocks noChangeArrowheads="1"/>
              </p:cNvSpPr>
              <p:nvPr/>
            </p:nvSpPr>
            <p:spPr bwMode="auto">
              <a:xfrm>
                <a:off x="913" y="3472"/>
                <a:ext cx="25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1800" b="1">
                    <a:solidFill>
                      <a:prstClr val="black"/>
                    </a:solidFill>
                    <a:latin typeface="Times New Roman" panose="02020603050405020304" pitchFamily="18" charset="0"/>
                    <a:ea typeface="黑体" panose="02010609060101010101" pitchFamily="2" charset="-122"/>
                  </a:rPr>
                  <a:t>P</a:t>
                </a:r>
                <a:endParaRPr lang="en-US" altLang="zh-CN" sz="1800" b="1">
                  <a:solidFill>
                    <a:prstClr val="black"/>
                  </a:solidFill>
                  <a:latin typeface="Times New Roman" panose="02020603050405020304" pitchFamily="18" charset="0"/>
                  <a:ea typeface="黑体" panose="02010609060101010101" pitchFamily="2" charset="-122"/>
                </a:endParaRPr>
              </a:p>
            </p:txBody>
          </p:sp>
        </p:grpSp>
        <p:sp>
          <p:nvSpPr>
            <p:cNvPr id="196702" name="Text Box 94"/>
            <p:cNvSpPr txBox="1">
              <a:spLocks noChangeArrowheads="1"/>
            </p:cNvSpPr>
            <p:nvPr/>
          </p:nvSpPr>
          <p:spPr bwMode="auto">
            <a:xfrm>
              <a:off x="1600" y="1200"/>
              <a:ext cx="67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进程 </a:t>
              </a:r>
              <a:r>
                <a:rPr lang="en-US" altLang="zh-CN" sz="1800" b="1">
                  <a:solidFill>
                    <a:prstClr val="black"/>
                  </a:solidFill>
                  <a:latin typeface="Times New Roman" panose="02020603050405020304" pitchFamily="18" charset="0"/>
                  <a:ea typeface="黑体" panose="02010609060101010101" pitchFamily="2" charset="-122"/>
                </a:rPr>
                <a:t>1</a:t>
              </a:r>
              <a:endParaRPr lang="en-US" altLang="zh-CN" sz="1800" b="1">
                <a:solidFill>
                  <a:prstClr val="black"/>
                </a:solidFill>
                <a:latin typeface="Times New Roman" panose="02020603050405020304" pitchFamily="18" charset="0"/>
                <a:ea typeface="黑体" panose="02010609060101010101" pitchFamily="2" charset="-122"/>
              </a:endParaRPr>
            </a:p>
          </p:txBody>
        </p:sp>
        <p:sp>
          <p:nvSpPr>
            <p:cNvPr id="196703" name="Line 95"/>
            <p:cNvSpPr>
              <a:spLocks noChangeShapeType="1"/>
            </p:cNvSpPr>
            <p:nvPr/>
          </p:nvSpPr>
          <p:spPr bwMode="auto">
            <a:xfrm flipV="1">
              <a:off x="723" y="3696"/>
              <a:ext cx="4173" cy="1"/>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04" name="Text Box 96"/>
            <p:cNvSpPr txBox="1">
              <a:spLocks noChangeArrowheads="1"/>
            </p:cNvSpPr>
            <p:nvPr/>
          </p:nvSpPr>
          <p:spPr bwMode="auto">
            <a:xfrm>
              <a:off x="662" y="2085"/>
              <a:ext cx="53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用户</a:t>
              </a:r>
              <a:endParaRPr lang="zh-CN" altLang="en-US" sz="1800" b="1">
                <a:solidFill>
                  <a:prstClr val="black"/>
                </a:solidFill>
                <a:latin typeface="Times New Roman" panose="02020603050405020304" pitchFamily="18" charset="0"/>
                <a:ea typeface="黑体" panose="02010609060101010101" pitchFamily="2" charset="-122"/>
              </a:endParaRPr>
            </a:p>
          </p:txBody>
        </p:sp>
        <p:sp>
          <p:nvSpPr>
            <p:cNvPr id="196705" name="Text Box 97"/>
            <p:cNvSpPr txBox="1">
              <a:spLocks noChangeArrowheads="1"/>
            </p:cNvSpPr>
            <p:nvPr/>
          </p:nvSpPr>
          <p:spPr bwMode="auto">
            <a:xfrm>
              <a:off x="672" y="2844"/>
              <a:ext cx="53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核心</a:t>
              </a:r>
              <a:endParaRPr lang="zh-CN" altLang="en-US" sz="1800" b="1">
                <a:solidFill>
                  <a:prstClr val="black"/>
                </a:solidFill>
                <a:latin typeface="Times New Roman" panose="02020603050405020304" pitchFamily="18" charset="0"/>
                <a:ea typeface="黑体" panose="02010609060101010101" pitchFamily="2" charset="-122"/>
              </a:endParaRPr>
            </a:p>
          </p:txBody>
        </p:sp>
        <p:sp>
          <p:nvSpPr>
            <p:cNvPr id="196706" name="Text Box 98"/>
            <p:cNvSpPr txBox="1">
              <a:spLocks noChangeArrowheads="1"/>
            </p:cNvSpPr>
            <p:nvPr/>
          </p:nvSpPr>
          <p:spPr bwMode="auto">
            <a:xfrm>
              <a:off x="672" y="3792"/>
              <a:ext cx="53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硬件</a:t>
              </a:r>
              <a:endParaRPr lang="zh-CN" altLang="en-US" sz="1800" b="1">
                <a:solidFill>
                  <a:prstClr val="black"/>
                </a:solidFill>
                <a:latin typeface="Times New Roman" panose="02020603050405020304" pitchFamily="18" charset="0"/>
                <a:ea typeface="黑体" panose="02010609060101010101" pitchFamily="2" charset="-122"/>
              </a:endParaRPr>
            </a:p>
          </p:txBody>
        </p:sp>
        <p:sp>
          <p:nvSpPr>
            <p:cNvPr id="196707" name="Line 99"/>
            <p:cNvSpPr>
              <a:spLocks noChangeShapeType="1"/>
            </p:cNvSpPr>
            <p:nvPr/>
          </p:nvSpPr>
          <p:spPr bwMode="auto">
            <a:xfrm>
              <a:off x="4092" y="2352"/>
              <a:ext cx="0" cy="57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14" name="Freeform 106"/>
            <p:cNvSpPr/>
            <p:nvPr/>
          </p:nvSpPr>
          <p:spPr bwMode="auto">
            <a:xfrm>
              <a:off x="4100" y="1633"/>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15" name="Line 107"/>
            <p:cNvSpPr>
              <a:spLocks noChangeShapeType="1"/>
            </p:cNvSpPr>
            <p:nvPr/>
          </p:nvSpPr>
          <p:spPr bwMode="auto">
            <a:xfrm flipH="1">
              <a:off x="4092" y="1872"/>
              <a:ext cx="0" cy="48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21" name="Text Box 113"/>
            <p:cNvSpPr txBox="1">
              <a:spLocks noChangeArrowheads="1"/>
            </p:cNvSpPr>
            <p:nvPr/>
          </p:nvSpPr>
          <p:spPr bwMode="auto">
            <a:xfrm>
              <a:off x="3617" y="1248"/>
              <a:ext cx="67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进程 </a:t>
              </a:r>
              <a:r>
                <a:rPr lang="en-US" altLang="zh-CN" sz="1800" b="1">
                  <a:solidFill>
                    <a:prstClr val="black"/>
                  </a:solidFill>
                  <a:latin typeface="Times New Roman" panose="02020603050405020304" pitchFamily="18" charset="0"/>
                  <a:ea typeface="黑体" panose="02010609060101010101" pitchFamily="2" charset="-122"/>
                </a:rPr>
                <a:t>2</a:t>
              </a:r>
              <a:endParaRPr lang="en-US" altLang="zh-CN" sz="1800" b="1">
                <a:solidFill>
                  <a:prstClr val="black"/>
                </a:solidFill>
                <a:latin typeface="Times New Roman" panose="02020603050405020304" pitchFamily="18" charset="0"/>
                <a:ea typeface="黑体" panose="02010609060101010101" pitchFamily="2" charset="-122"/>
              </a:endParaRPr>
            </a:p>
          </p:txBody>
        </p:sp>
        <p:sp>
          <p:nvSpPr>
            <p:cNvPr id="196725" name="Line 117"/>
            <p:cNvSpPr>
              <a:spLocks noChangeShapeType="1"/>
            </p:cNvSpPr>
            <p:nvPr/>
          </p:nvSpPr>
          <p:spPr bwMode="auto">
            <a:xfrm flipH="1">
              <a:off x="3186" y="3216"/>
              <a:ext cx="906" cy="48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54" name="Text Box 146"/>
            <p:cNvSpPr txBox="1">
              <a:spLocks noChangeArrowheads="1"/>
            </p:cNvSpPr>
            <p:nvPr/>
          </p:nvSpPr>
          <p:spPr bwMode="auto">
            <a:xfrm>
              <a:off x="1650" y="2911"/>
              <a:ext cx="58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500" b="1">
                  <a:solidFill>
                    <a:srgbClr val="FF0000"/>
                  </a:solidFill>
                  <a:latin typeface="Times New Roman" panose="02020603050405020304" pitchFamily="18" charset="0"/>
                  <a:ea typeface="黑体" panose="02010609060101010101" pitchFamily="2" charset="-122"/>
                </a:rPr>
                <a:t>进程 </a:t>
              </a:r>
              <a:r>
                <a:rPr lang="en-US" altLang="zh-CN" sz="1500" b="1">
                  <a:solidFill>
                    <a:srgbClr val="FF0000"/>
                  </a:solidFill>
                  <a:latin typeface="Times New Roman" panose="02020603050405020304" pitchFamily="18" charset="0"/>
                  <a:ea typeface="黑体" panose="02010609060101010101" pitchFamily="2" charset="-122"/>
                </a:rPr>
                <a:t>1</a:t>
              </a:r>
              <a:endParaRPr lang="en-US" altLang="zh-CN" sz="1500" b="1">
                <a:solidFill>
                  <a:srgbClr val="FF0000"/>
                </a:solidFill>
                <a:latin typeface="Times New Roman" panose="02020603050405020304" pitchFamily="18" charset="0"/>
                <a:ea typeface="黑体" panose="02010609060101010101" pitchFamily="2" charset="-122"/>
              </a:endParaRPr>
            </a:p>
          </p:txBody>
        </p:sp>
        <p:grpSp>
          <p:nvGrpSpPr>
            <p:cNvPr id="196755" name="Group 147"/>
            <p:cNvGrpSpPr/>
            <p:nvPr/>
          </p:nvGrpSpPr>
          <p:grpSpPr bwMode="auto">
            <a:xfrm>
              <a:off x="3941" y="2928"/>
              <a:ext cx="301" cy="288"/>
              <a:chOff x="832" y="2920"/>
              <a:chExt cx="288" cy="288"/>
            </a:xfrm>
          </p:grpSpPr>
          <p:sp>
            <p:nvSpPr>
              <p:cNvPr id="196756" name="Oval 148"/>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57" name="Freeform 149"/>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sp>
          <p:nvSpPr>
            <p:cNvPr id="196758" name="Text Box 150"/>
            <p:cNvSpPr txBox="1">
              <a:spLocks noChangeArrowheads="1"/>
            </p:cNvSpPr>
            <p:nvPr/>
          </p:nvSpPr>
          <p:spPr bwMode="auto">
            <a:xfrm>
              <a:off x="3360" y="2928"/>
              <a:ext cx="58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500" b="1">
                  <a:solidFill>
                    <a:srgbClr val="FF0000"/>
                  </a:solidFill>
                  <a:latin typeface="Times New Roman" panose="02020603050405020304" pitchFamily="18" charset="0"/>
                  <a:ea typeface="黑体" panose="02010609060101010101" pitchFamily="2" charset="-122"/>
                </a:rPr>
                <a:t>进程 </a:t>
              </a:r>
              <a:r>
                <a:rPr lang="en-US" altLang="zh-CN" sz="1500" b="1">
                  <a:solidFill>
                    <a:srgbClr val="FF0000"/>
                  </a:solidFill>
                  <a:latin typeface="Times New Roman" panose="02020603050405020304" pitchFamily="18" charset="0"/>
                  <a:ea typeface="黑体" panose="02010609060101010101" pitchFamily="2" charset="-122"/>
                </a:rPr>
                <a:t>2</a:t>
              </a:r>
              <a:endParaRPr lang="en-US" altLang="zh-CN" sz="1500" b="1">
                <a:solidFill>
                  <a:srgbClr val="FF0000"/>
                </a:solidFill>
                <a:latin typeface="Times New Roman" panose="02020603050405020304" pitchFamily="18" charset="0"/>
                <a:ea typeface="黑体" panose="02010609060101010101" pitchFamily="2" charset="-122"/>
              </a:endParaRPr>
            </a:p>
          </p:txBody>
        </p:sp>
        <p:sp>
          <p:nvSpPr>
            <p:cNvPr id="196759" name="Line 151"/>
            <p:cNvSpPr>
              <a:spLocks noChangeShapeType="1"/>
            </p:cNvSpPr>
            <p:nvPr/>
          </p:nvSpPr>
          <p:spPr bwMode="auto">
            <a:xfrm>
              <a:off x="2382" y="3168"/>
              <a:ext cx="804" cy="52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nvGrpSpPr>
            <p:cNvPr id="196762" name="Group 154"/>
            <p:cNvGrpSpPr/>
            <p:nvPr/>
          </p:nvGrpSpPr>
          <p:grpSpPr bwMode="auto">
            <a:xfrm>
              <a:off x="2147" y="3696"/>
              <a:ext cx="294" cy="309"/>
              <a:chOff x="888" y="3472"/>
              <a:chExt cx="281" cy="309"/>
            </a:xfrm>
          </p:grpSpPr>
          <p:sp>
            <p:nvSpPr>
              <p:cNvPr id="196763" name="Rectangle 155"/>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64" name="Text Box 156"/>
              <p:cNvSpPr txBox="1">
                <a:spLocks noChangeArrowheads="1"/>
              </p:cNvSpPr>
              <p:nvPr/>
            </p:nvSpPr>
            <p:spPr bwMode="auto">
              <a:xfrm>
                <a:off x="913" y="3472"/>
                <a:ext cx="25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1800" b="1">
                    <a:solidFill>
                      <a:prstClr val="black"/>
                    </a:solidFill>
                    <a:latin typeface="Times New Roman" panose="02020603050405020304" pitchFamily="18" charset="0"/>
                    <a:ea typeface="黑体" panose="02010609060101010101" pitchFamily="2" charset="-122"/>
                  </a:rPr>
                  <a:t>P</a:t>
                </a:r>
                <a:endParaRPr lang="en-US" altLang="zh-CN" sz="1800" b="1">
                  <a:solidFill>
                    <a:prstClr val="black"/>
                  </a:solidFill>
                  <a:latin typeface="Times New Roman" panose="02020603050405020304" pitchFamily="18" charset="0"/>
                  <a:ea typeface="黑体" panose="02010609060101010101" pitchFamily="2" charset="-122"/>
                </a:endParaRPr>
              </a:p>
            </p:txBody>
          </p:sp>
        </p:grpSp>
        <p:sp>
          <p:nvSpPr>
            <p:cNvPr id="196766" name="Text Box 158"/>
            <p:cNvSpPr txBox="1">
              <a:spLocks noChangeArrowheads="1"/>
            </p:cNvSpPr>
            <p:nvPr/>
          </p:nvSpPr>
          <p:spPr bwMode="auto">
            <a:xfrm>
              <a:off x="1392" y="1536"/>
              <a:ext cx="58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500" b="1">
                  <a:solidFill>
                    <a:srgbClr val="FF0000"/>
                  </a:solidFill>
                  <a:latin typeface="Times New Roman" panose="02020603050405020304" pitchFamily="18" charset="0"/>
                  <a:ea typeface="黑体" panose="02010609060101010101" pitchFamily="2" charset="-122"/>
                </a:rPr>
                <a:t>线程 </a:t>
              </a:r>
              <a:r>
                <a:rPr lang="en-US" altLang="zh-CN" sz="1500" b="1">
                  <a:solidFill>
                    <a:srgbClr val="FF0000"/>
                  </a:solidFill>
                  <a:latin typeface="Times New Roman" panose="02020603050405020304" pitchFamily="18" charset="0"/>
                  <a:ea typeface="黑体" panose="02010609060101010101" pitchFamily="2" charset="-122"/>
                </a:rPr>
                <a:t>1</a:t>
              </a:r>
              <a:endParaRPr lang="en-US" altLang="zh-CN" sz="1500" b="1">
                <a:solidFill>
                  <a:srgbClr val="FF0000"/>
                </a:solidFill>
                <a:latin typeface="Times New Roman" panose="02020603050405020304" pitchFamily="18" charset="0"/>
                <a:ea typeface="黑体" panose="02010609060101010101" pitchFamily="2" charset="-122"/>
              </a:endParaRPr>
            </a:p>
          </p:txBody>
        </p:sp>
        <p:sp>
          <p:nvSpPr>
            <p:cNvPr id="196767" name="Text Box 159"/>
            <p:cNvSpPr txBox="1">
              <a:spLocks noChangeArrowheads="1"/>
            </p:cNvSpPr>
            <p:nvPr/>
          </p:nvSpPr>
          <p:spPr bwMode="auto">
            <a:xfrm>
              <a:off x="2361" y="1536"/>
              <a:ext cx="59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500" b="1">
                  <a:solidFill>
                    <a:srgbClr val="FF0000"/>
                  </a:solidFill>
                  <a:latin typeface="Times New Roman" panose="02020603050405020304" pitchFamily="18" charset="0"/>
                  <a:ea typeface="黑体" panose="02010609060101010101" pitchFamily="2" charset="-122"/>
                </a:rPr>
                <a:t>线程 </a:t>
              </a:r>
              <a:r>
                <a:rPr lang="en-US" altLang="zh-CN" sz="1500" b="1">
                  <a:solidFill>
                    <a:srgbClr val="FF0000"/>
                  </a:solidFill>
                  <a:latin typeface="Times New Roman" panose="02020603050405020304" pitchFamily="18" charset="0"/>
                  <a:ea typeface="黑体" panose="02010609060101010101" pitchFamily="2" charset="-122"/>
                </a:rPr>
                <a:t>n</a:t>
              </a:r>
              <a:endParaRPr lang="en-US" altLang="zh-CN" sz="1500" b="1">
                <a:solidFill>
                  <a:srgbClr val="FF0000"/>
                </a:solidFill>
                <a:latin typeface="Times New Roman" panose="02020603050405020304" pitchFamily="18" charset="0"/>
                <a:ea typeface="黑体" panose="02010609060101010101" pitchFamily="2" charset="-122"/>
              </a:endParaRPr>
            </a:p>
          </p:txBody>
        </p:sp>
      </p:grpSp>
      <p:grpSp>
        <p:nvGrpSpPr>
          <p:cNvPr id="196771" name="Group 163"/>
          <p:cNvGrpSpPr/>
          <p:nvPr/>
        </p:nvGrpSpPr>
        <p:grpSpPr bwMode="auto">
          <a:xfrm>
            <a:off x="5086350" y="3771900"/>
            <a:ext cx="2686050" cy="1543050"/>
            <a:chOff x="3312" y="2448"/>
            <a:chExt cx="2256" cy="1296"/>
          </a:xfrm>
        </p:grpSpPr>
        <p:sp>
          <p:nvSpPr>
            <p:cNvPr id="196769" name="Line 161"/>
            <p:cNvSpPr>
              <a:spLocks noChangeShapeType="1"/>
            </p:cNvSpPr>
            <p:nvPr/>
          </p:nvSpPr>
          <p:spPr bwMode="auto">
            <a:xfrm flipH="1">
              <a:off x="3312" y="3264"/>
              <a:ext cx="1152" cy="480"/>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6770" name="Text Box 162"/>
            <p:cNvSpPr txBox="1">
              <a:spLocks noChangeArrowheads="1"/>
            </p:cNvSpPr>
            <p:nvPr/>
          </p:nvSpPr>
          <p:spPr bwMode="auto">
            <a:xfrm>
              <a:off x="4416" y="2448"/>
              <a:ext cx="1152" cy="1240"/>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1800" b="1" dirty="0">
                  <a:solidFill>
                    <a:srgbClr val="FF0000"/>
                  </a:solidFill>
                  <a:latin typeface="Arial" panose="020B0604020202020204"/>
                  <a:ea typeface="黑体" panose="02010609060101010101" pitchFamily="2" charset="-122"/>
                </a:rPr>
                <a:t>进程不能很好的利用多</a:t>
              </a:r>
              <a:r>
                <a:rPr lang="en-US" altLang="zh-CN" sz="1800" b="1" dirty="0">
                  <a:solidFill>
                    <a:srgbClr val="FF0000"/>
                  </a:solidFill>
                  <a:latin typeface="Arial" panose="020B0604020202020204"/>
                  <a:ea typeface="黑体" panose="02010609060101010101" pitchFamily="2" charset="-122"/>
                </a:rPr>
                <a:t>CPU</a:t>
              </a:r>
              <a:r>
                <a:rPr lang="zh-CN" altLang="en-US" sz="1800" b="1" dirty="0">
                  <a:solidFill>
                    <a:srgbClr val="FF0000"/>
                  </a:solidFill>
                  <a:latin typeface="Arial" panose="020B0604020202020204"/>
                  <a:ea typeface="黑体" panose="02010609060101010101" pitchFamily="2" charset="-122"/>
                </a:rPr>
                <a:t>，因为进程的地址空间不同</a:t>
              </a:r>
              <a:endParaRPr lang="zh-CN" altLang="en-US" sz="1800" b="1" dirty="0">
                <a:solidFill>
                  <a:srgbClr val="FF0000"/>
                </a:solidFill>
                <a:latin typeface="Arial" panose="020B0604020202020204"/>
                <a:ea typeface="黑体" panose="02010609060101010101" pitchFamily="2" charset="-122"/>
              </a:endParaRPr>
            </a:p>
          </p:txBody>
        </p:sp>
      </p:grpSp>
      <p:pic>
        <p:nvPicPr>
          <p:cNvPr id="2" name="图片 1"/>
          <p:cNvPicPr>
            <a:picLocks noChangeAspect="1"/>
          </p:cNvPicPr>
          <p:nvPr/>
        </p:nvPicPr>
        <p:blipFill>
          <a:blip r:embed="rId1"/>
          <a:stretch>
            <a:fillRect/>
          </a:stretch>
        </p:blipFill>
        <p:spPr>
          <a:xfrm>
            <a:off x="6335486" y="1032758"/>
            <a:ext cx="1595177" cy="148950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6771"/>
                                        </p:tgtEl>
                                        <p:attrNameLst>
                                          <p:attrName>style.visibility</p:attrName>
                                        </p:attrNameLst>
                                      </p:cBhvr>
                                      <p:to>
                                        <p:strVal val="visible"/>
                                      </p:to>
                                    </p:set>
                                    <p:animEffect transition="in" filter="dissolve">
                                      <p:cBhvr>
                                        <p:cTn id="12" dur="500"/>
                                        <p:tgtEl>
                                          <p:spTgt spid="196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Rot="1" noChangeArrowheads="1"/>
          </p:cNvSpPr>
          <p:nvPr>
            <p:ph type="title"/>
          </p:nvPr>
        </p:nvSpPr>
        <p:spPr>
          <a:xfrm>
            <a:off x="1749840" y="1194284"/>
            <a:ext cx="5768578" cy="517922"/>
          </a:xfrm>
          <a:noFill/>
        </p:spPr>
        <p:txBody>
          <a:bodyPr/>
          <a:lstStyle/>
          <a:p>
            <a:r>
              <a:rPr lang="zh-CN" altLang="en-US" b="1" dirty="0">
                <a:latin typeface="+mj-ea"/>
                <a:ea typeface="+mj-ea"/>
              </a:rPr>
              <a:t>用户级线程的优点和缺点</a:t>
            </a:r>
            <a:endParaRPr lang="zh-CN" altLang="en-US" b="1" dirty="0">
              <a:latin typeface="+mj-ea"/>
              <a:ea typeface="+mj-ea"/>
            </a:endParaRPr>
          </a:p>
        </p:txBody>
      </p:sp>
      <p:sp>
        <p:nvSpPr>
          <p:cNvPr id="351235" name="Rectangle 3"/>
          <p:cNvSpPr>
            <a:spLocks noGrp="1" noChangeArrowheads="1"/>
          </p:cNvSpPr>
          <p:nvPr>
            <p:ph type="body" idx="1"/>
          </p:nvPr>
        </p:nvSpPr>
        <p:spPr>
          <a:xfrm>
            <a:off x="569459" y="1941484"/>
            <a:ext cx="8474528" cy="3277790"/>
          </a:xfrm>
          <a:noFill/>
        </p:spPr>
        <p:txBody>
          <a:bodyPr/>
          <a:lstStyle/>
          <a:p>
            <a:pPr>
              <a:buFont typeface="Wingdings" panose="05000000000000000000" pitchFamily="2" charset="2"/>
              <a:buNone/>
            </a:pPr>
            <a:r>
              <a:rPr lang="zh-CN" altLang="en-US" dirty="0">
                <a:solidFill>
                  <a:srgbClr val="19079B"/>
                </a:solidFill>
                <a:latin typeface="微软雅黑" panose="020B0503020204020204" charset="-122"/>
                <a:ea typeface="微软雅黑" panose="020B0503020204020204" charset="-122"/>
              </a:rPr>
              <a:t>优点：</a:t>
            </a:r>
            <a:endParaRPr lang="zh-CN" altLang="en-US" dirty="0">
              <a:solidFill>
                <a:srgbClr val="19079B"/>
              </a:solidFill>
              <a:latin typeface="微软雅黑" panose="020B0503020204020204" charset="-122"/>
              <a:ea typeface="微软雅黑" panose="020B0503020204020204" charset="-122"/>
            </a:endParaRPr>
          </a:p>
          <a:p>
            <a:r>
              <a:rPr lang="zh-CN" altLang="en-US" b="0" dirty="0">
                <a:solidFill>
                  <a:srgbClr val="000000"/>
                </a:solidFill>
                <a:latin typeface="微软雅黑" panose="020B0503020204020204" charset="-122"/>
                <a:ea typeface="微软雅黑" panose="020B0503020204020204" charset="-122"/>
              </a:rPr>
              <a:t>线程切换不调用内核</a:t>
            </a:r>
            <a:endParaRPr lang="zh-CN" altLang="en-US" b="0" dirty="0">
              <a:solidFill>
                <a:srgbClr val="000000"/>
              </a:solidFill>
              <a:latin typeface="微软雅黑" panose="020B0503020204020204" charset="-122"/>
              <a:ea typeface="微软雅黑" panose="020B0503020204020204" charset="-122"/>
            </a:endParaRPr>
          </a:p>
          <a:p>
            <a:r>
              <a:rPr lang="zh-CN" altLang="en-US" b="0" dirty="0">
                <a:solidFill>
                  <a:srgbClr val="000000"/>
                </a:solidFill>
                <a:latin typeface="微软雅黑" panose="020B0503020204020204" charset="-122"/>
                <a:ea typeface="微软雅黑" panose="020B0503020204020204" charset="-122"/>
              </a:rPr>
              <a:t>调度是应用程序特定的：可以选择最好的算法</a:t>
            </a:r>
            <a:endParaRPr lang="zh-CN" altLang="en-US" b="0" dirty="0">
              <a:solidFill>
                <a:srgbClr val="000000"/>
              </a:solidFill>
              <a:latin typeface="微软雅黑" panose="020B0503020204020204" charset="-122"/>
              <a:ea typeface="微软雅黑" panose="020B0503020204020204" charset="-122"/>
            </a:endParaRPr>
          </a:p>
          <a:p>
            <a:r>
              <a:rPr lang="zh-CN" altLang="en-US" b="0" dirty="0">
                <a:solidFill>
                  <a:srgbClr val="000000"/>
                </a:solidFill>
                <a:latin typeface="微软雅黑" panose="020B0503020204020204" charset="-122"/>
                <a:ea typeface="微软雅黑" panose="020B0503020204020204" charset="-122"/>
              </a:rPr>
              <a:t>可运行在任何操作系统上（只需要线程库），可以在一个不支持线程的</a:t>
            </a:r>
            <a:r>
              <a:rPr lang="en-US" altLang="zh-CN" b="0" dirty="0">
                <a:solidFill>
                  <a:srgbClr val="000000"/>
                </a:solidFill>
                <a:latin typeface="微软雅黑" panose="020B0503020204020204" charset="-122"/>
                <a:ea typeface="微软雅黑" panose="020B0503020204020204" charset="-122"/>
              </a:rPr>
              <a:t>OS</a:t>
            </a:r>
            <a:r>
              <a:rPr lang="zh-CN" altLang="en-US" b="0" dirty="0">
                <a:solidFill>
                  <a:srgbClr val="000000"/>
                </a:solidFill>
                <a:latin typeface="微软雅黑" panose="020B0503020204020204" charset="-122"/>
                <a:ea typeface="微软雅黑" panose="020B0503020204020204" charset="-122"/>
              </a:rPr>
              <a:t>上实现</a:t>
            </a:r>
            <a:endParaRPr lang="zh-CN" altLang="en-US" b="0" dirty="0">
              <a:solidFill>
                <a:srgbClr val="000000"/>
              </a:solidFill>
              <a:latin typeface="微软雅黑" panose="020B0503020204020204" charset="-122"/>
              <a:ea typeface="微软雅黑" panose="020B0503020204020204" charset="-122"/>
            </a:endParaRPr>
          </a:p>
          <a:p>
            <a:pPr>
              <a:buFont typeface="Wingdings" panose="05000000000000000000" pitchFamily="2" charset="2"/>
              <a:buNone/>
            </a:pPr>
            <a:r>
              <a:rPr lang="zh-CN" altLang="en-US" dirty="0">
                <a:solidFill>
                  <a:srgbClr val="19079B"/>
                </a:solidFill>
                <a:latin typeface="微软雅黑" panose="020B0503020204020204" charset="-122"/>
                <a:ea typeface="微软雅黑" panose="020B0503020204020204" charset="-122"/>
              </a:rPr>
              <a:t>缺点：</a:t>
            </a:r>
            <a:endParaRPr lang="zh-CN" altLang="en-US" dirty="0">
              <a:solidFill>
                <a:srgbClr val="19079B"/>
              </a:solidFill>
              <a:latin typeface="微软雅黑" panose="020B0503020204020204" charset="-122"/>
              <a:ea typeface="微软雅黑" panose="020B0503020204020204" charset="-122"/>
            </a:endParaRPr>
          </a:p>
          <a:p>
            <a:r>
              <a:rPr lang="zh-CN" altLang="en-US" b="0" dirty="0">
                <a:solidFill>
                  <a:srgbClr val="000000"/>
                </a:solidFill>
                <a:latin typeface="微软雅黑" panose="020B0503020204020204" charset="-122"/>
                <a:ea typeface="微软雅黑" panose="020B0503020204020204" charset="-122"/>
              </a:rPr>
              <a:t>当线程执行一个系统调用时，该线程及其所属进程内的所有线程都会被阻塞。</a:t>
            </a:r>
            <a:endParaRPr lang="en-US" altLang="zh-CN" b="0" dirty="0">
              <a:solidFill>
                <a:srgbClr val="000000"/>
              </a:solidFill>
              <a:latin typeface="微软雅黑" panose="020B0503020204020204" charset="-122"/>
              <a:ea typeface="微软雅黑" panose="020B0503020204020204" charset="-122"/>
            </a:endParaRPr>
          </a:p>
          <a:p>
            <a:r>
              <a:rPr lang="zh-CN" altLang="en-US" b="0" dirty="0">
                <a:solidFill>
                  <a:srgbClr val="000000"/>
                </a:solidFill>
                <a:latin typeface="微软雅黑" panose="020B0503020204020204" charset="-122"/>
                <a:ea typeface="微软雅黑" panose="020B0503020204020204" charset="-122"/>
              </a:rPr>
              <a:t>多线程应用不能利用多处理机进行多重处理。</a:t>
            </a:r>
            <a:endParaRPr lang="zh-CN" altLang="en-US" b="0" dirty="0">
              <a:solidFill>
                <a:srgbClr val="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51235">
                                            <p:txEl>
                                              <p:pRg st="1" end="1"/>
                                            </p:txEl>
                                          </p:spTgt>
                                        </p:tgtEl>
                                        <p:attrNameLst>
                                          <p:attrName>style.visibility</p:attrName>
                                        </p:attrNameLst>
                                      </p:cBhvr>
                                      <p:to>
                                        <p:strVal val="visible"/>
                                      </p:to>
                                    </p:set>
                                    <p:animEffect transition="in" filter="box(in)">
                                      <p:cBhvr>
                                        <p:cTn id="7" dur="500"/>
                                        <p:tgtEl>
                                          <p:spTgt spid="35123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51235">
                                            <p:txEl>
                                              <p:pRg st="2" end="2"/>
                                            </p:txEl>
                                          </p:spTgt>
                                        </p:tgtEl>
                                        <p:attrNameLst>
                                          <p:attrName>style.visibility</p:attrName>
                                        </p:attrNameLst>
                                      </p:cBhvr>
                                      <p:to>
                                        <p:strVal val="visible"/>
                                      </p:to>
                                    </p:set>
                                    <p:animEffect transition="in" filter="box(in)">
                                      <p:cBhvr>
                                        <p:cTn id="10" dur="500"/>
                                        <p:tgtEl>
                                          <p:spTgt spid="35123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51235">
                                            <p:txEl>
                                              <p:pRg st="3" end="3"/>
                                            </p:txEl>
                                          </p:spTgt>
                                        </p:tgtEl>
                                        <p:attrNameLst>
                                          <p:attrName>style.visibility</p:attrName>
                                        </p:attrNameLst>
                                      </p:cBhvr>
                                      <p:to>
                                        <p:strVal val="visible"/>
                                      </p:to>
                                    </p:set>
                                    <p:animEffect transition="in" filter="box(in)">
                                      <p:cBhvr>
                                        <p:cTn id="13" dur="500"/>
                                        <p:tgtEl>
                                          <p:spTgt spid="35123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51235">
                                            <p:txEl>
                                              <p:pRg st="5" end="5"/>
                                            </p:txEl>
                                          </p:spTgt>
                                        </p:tgtEl>
                                        <p:attrNameLst>
                                          <p:attrName>style.visibility</p:attrName>
                                        </p:attrNameLst>
                                      </p:cBhvr>
                                      <p:to>
                                        <p:strVal val="visible"/>
                                      </p:to>
                                    </p:set>
                                    <p:animEffect transition="in" filter="box(in)">
                                      <p:cBhvr>
                                        <p:cTn id="16" dur="500"/>
                                        <p:tgtEl>
                                          <p:spTgt spid="351235">
                                            <p:txEl>
                                              <p:pRg st="5" end="5"/>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51235">
                                            <p:txEl>
                                              <p:pRg st="6" end="6"/>
                                            </p:txEl>
                                          </p:spTgt>
                                        </p:tgtEl>
                                        <p:attrNameLst>
                                          <p:attrName>style.visibility</p:attrName>
                                        </p:attrNameLst>
                                      </p:cBhvr>
                                      <p:to>
                                        <p:strVal val="visible"/>
                                      </p:to>
                                    </p:set>
                                    <p:animEffect transition="in" filter="box(in)">
                                      <p:cBhvr>
                                        <p:cTn id="19" dur="500"/>
                                        <p:tgtEl>
                                          <p:spTgt spid="3512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44879" y="1840925"/>
            <a:ext cx="7807960" cy="1816675"/>
          </a:xfrm>
        </p:spPr>
        <p:txBody>
          <a:bodyPr/>
          <a:lstStyle/>
          <a:p>
            <a:pPr marL="0" indent="0">
              <a:buNone/>
            </a:pPr>
            <a:r>
              <a:rPr kumimoji="1" lang="en-US" altLang="zh-CN" dirty="0">
                <a:solidFill>
                  <a:schemeClr val="bg2">
                    <a:lumMod val="50000"/>
                  </a:schemeClr>
                </a:solidFill>
                <a:latin typeface="微软雅黑" panose="020B0503020204020204" charset="-122"/>
                <a:ea typeface="微软雅黑" panose="020B0503020204020204" charset="-122"/>
              </a:rPr>
              <a:t>2. </a:t>
            </a:r>
            <a:r>
              <a:rPr kumimoji="1" lang="zh-CN" altLang="en-US" dirty="0">
                <a:solidFill>
                  <a:schemeClr val="bg2">
                    <a:lumMod val="50000"/>
                  </a:schemeClr>
                </a:solidFill>
                <a:latin typeface="微软雅黑" panose="020B0503020204020204" charset="-122"/>
                <a:ea typeface="微软雅黑" panose="020B0503020204020204" charset="-122"/>
              </a:rPr>
              <a:t>内核支持线程 （</a:t>
            </a:r>
            <a:r>
              <a:rPr kumimoji="1" lang="en-US" altLang="zh-CN" dirty="0">
                <a:solidFill>
                  <a:schemeClr val="bg2">
                    <a:lumMod val="50000"/>
                  </a:schemeClr>
                </a:solidFill>
                <a:latin typeface="微软雅黑" panose="020B0503020204020204" charset="-122"/>
                <a:ea typeface="微软雅黑" panose="020B0503020204020204" charset="-122"/>
              </a:rPr>
              <a:t>Kernel Supported Threads)</a:t>
            </a:r>
            <a:endParaRPr kumimoji="1" lang="zh-CN" altLang="en-US" dirty="0">
              <a:solidFill>
                <a:schemeClr val="bg2">
                  <a:lumMod val="50000"/>
                </a:schemeClr>
              </a:solidFill>
              <a:latin typeface="微软雅黑" panose="020B0503020204020204" charset="-122"/>
              <a:ea typeface="微软雅黑" panose="020B0503020204020204" charset="-122"/>
            </a:endParaRPr>
          </a:p>
          <a:p>
            <a:pPr lvl="1" algn="just">
              <a:lnSpc>
                <a:spcPct val="120000"/>
              </a:lnSpc>
              <a:spcBef>
                <a:spcPct val="50000"/>
              </a:spcBef>
              <a:buClrTx/>
              <a:buSzTx/>
            </a:pPr>
            <a:r>
              <a:rPr kumimoji="1" lang="zh-CN" altLang="en-US" sz="1800" dirty="0">
                <a:latin typeface="微软雅黑" panose="020B0503020204020204" charset="-122"/>
                <a:ea typeface="微软雅黑" panose="020B0503020204020204" charset="-122"/>
              </a:rPr>
              <a:t> 内核支持线程，是在内核的支持下运行的，</a:t>
            </a:r>
            <a:r>
              <a:rPr kumimoji="1" lang="zh-CN" altLang="en-US" sz="1800" u="sng" dirty="0">
                <a:solidFill>
                  <a:srgbClr val="FF0000"/>
                </a:solidFill>
                <a:latin typeface="微软雅黑" panose="020B0503020204020204" charset="-122"/>
                <a:ea typeface="微软雅黑" panose="020B0503020204020204" charset="-122"/>
              </a:rPr>
              <a:t>即无论是用户进程中的线程，还是系统进程中的线程，他们的创建、撤消和切换等，是依靠内核实现的。</a:t>
            </a:r>
            <a:endParaRPr kumimoji="1" lang="zh-CN" altLang="en-US" sz="1800" u="sng" dirty="0">
              <a:solidFill>
                <a:srgbClr val="FF0000"/>
              </a:solidFill>
              <a:latin typeface="微软雅黑" panose="020B0503020204020204" charset="-122"/>
              <a:ea typeface="微软雅黑" panose="020B0503020204020204" charset="-122"/>
            </a:endParaRPr>
          </a:p>
          <a:p>
            <a:pPr lvl="1" algn="just">
              <a:lnSpc>
                <a:spcPct val="120000"/>
              </a:lnSpc>
              <a:spcBef>
                <a:spcPct val="50000"/>
              </a:spcBef>
              <a:buClrTx/>
              <a:buSzTx/>
            </a:pPr>
            <a:r>
              <a:rPr kumimoji="1" lang="zh-CN" altLang="en-US" sz="1800" dirty="0">
                <a:latin typeface="微软雅黑" panose="020B0503020204020204" charset="-122"/>
                <a:ea typeface="微软雅黑" panose="020B0503020204020204" charset="-122"/>
              </a:rPr>
              <a:t>在内核空间中为每一个内核支持线程设置了一个线程控制块</a:t>
            </a:r>
            <a:r>
              <a:rPr kumimoji="1" lang="en-US" altLang="zh-CN" sz="1800" dirty="0">
                <a:solidFill>
                  <a:srgbClr val="FF0000"/>
                </a:solidFill>
                <a:latin typeface="微软雅黑" panose="020B0503020204020204" charset="-122"/>
                <a:ea typeface="微软雅黑" panose="020B0503020204020204" charset="-122"/>
              </a:rPr>
              <a:t>TCB</a:t>
            </a:r>
            <a:r>
              <a:rPr kumimoji="1" lang="zh-CN" altLang="en-US" sz="1800" dirty="0">
                <a:latin typeface="微软雅黑" panose="020B0503020204020204" charset="-122"/>
                <a:ea typeface="微软雅黑" panose="020B0503020204020204" charset="-122"/>
              </a:rPr>
              <a:t>， 内核是根据该控制块而感知某线程的存在的，并对其加以控制。 </a:t>
            </a:r>
            <a:endParaRPr lang="zh-CN" altLang="en-US" sz="1800" dirty="0">
              <a:latin typeface="微软雅黑" panose="020B0503020204020204" charset="-122"/>
              <a:ea typeface="微软雅黑" panose="020B0503020204020204" charset="-122"/>
            </a:endParaRPr>
          </a:p>
        </p:txBody>
      </p:sp>
      <p:sp>
        <p:nvSpPr>
          <p:cNvPr id="4" name="Rectangle 2"/>
          <p:cNvSpPr txBox="1">
            <a:spLocks noRot="1" noChangeArrowheads="1"/>
          </p:cNvSpPr>
          <p:nvPr/>
        </p:nvSpPr>
        <p:spPr>
          <a:xfrm>
            <a:off x="5633720" y="1202731"/>
            <a:ext cx="3354467" cy="343589"/>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defRPr/>
            </a:pPr>
            <a:r>
              <a:rPr lang="en-US" altLang="zh-CN" sz="2100" dirty="0">
                <a:latin typeface="+mj-ea"/>
                <a:ea typeface="+mj-ea"/>
              </a:rPr>
              <a:t>2.7.5</a:t>
            </a:r>
            <a:r>
              <a:rPr lang="zh-CN" altLang="en-US" sz="2100" dirty="0">
                <a:latin typeface="+mj-ea"/>
                <a:ea typeface="+mj-ea"/>
              </a:rPr>
              <a:t> 线程间的同步和通信</a:t>
            </a:r>
            <a:endParaRPr lang="zh-CN" altLang="en-US" sz="2100" dirty="0">
              <a:latin typeface="+mj-ea"/>
              <a:ea typeface="+mj-ea"/>
            </a:endParaRPr>
          </a:p>
        </p:txBody>
      </p:sp>
      <p:sp>
        <p:nvSpPr>
          <p:cNvPr id="5"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
        <p:nvSpPr>
          <p:cNvPr id="6" name="Rectangle 3"/>
          <p:cNvSpPr txBox="1">
            <a:spLocks noChangeArrowheads="1"/>
          </p:cNvSpPr>
          <p:nvPr/>
        </p:nvSpPr>
        <p:spPr>
          <a:xfrm>
            <a:off x="1689417" y="3952206"/>
            <a:ext cx="5621537" cy="1735931"/>
          </a:xfrm>
          <a:prstGeom prst="rect">
            <a:avLst/>
          </a:prstGeom>
          <a:noFill/>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pPr>
              <a:lnSpc>
                <a:spcPct val="120000"/>
              </a:lnSpc>
              <a:spcBef>
                <a:spcPts val="0"/>
              </a:spcBef>
            </a:pPr>
            <a:r>
              <a:rPr lang="zh-CN" altLang="en-US" sz="1650" dirty="0" smtClean="0">
                <a:solidFill>
                  <a:srgbClr val="000000"/>
                </a:solidFill>
                <a:latin typeface="微软雅黑" panose="020B0503020204020204" charset="-122"/>
                <a:ea typeface="微软雅黑" panose="020B0503020204020204" charset="-122"/>
              </a:rPr>
              <a:t>所有线程管理由内核完成</a:t>
            </a:r>
            <a:endParaRPr lang="zh-CN" altLang="en-US" sz="165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1650" dirty="0" smtClean="0">
                <a:solidFill>
                  <a:srgbClr val="000000"/>
                </a:solidFill>
                <a:latin typeface="微软雅黑" panose="020B0503020204020204" charset="-122"/>
                <a:ea typeface="微软雅黑" panose="020B0503020204020204" charset="-122"/>
              </a:rPr>
              <a:t>没有线程库，但内核提供</a:t>
            </a:r>
            <a:r>
              <a:rPr lang="en-US" altLang="zh-CN" sz="1650" dirty="0" smtClean="0">
                <a:solidFill>
                  <a:srgbClr val="000000"/>
                </a:solidFill>
                <a:latin typeface="微软雅黑" panose="020B0503020204020204" charset="-122"/>
                <a:ea typeface="微软雅黑" panose="020B0503020204020204" charset="-122"/>
              </a:rPr>
              <a:t>API</a:t>
            </a:r>
            <a:endParaRPr lang="en-US" altLang="zh-CN" sz="165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1650" dirty="0" smtClean="0">
                <a:solidFill>
                  <a:srgbClr val="000000"/>
                </a:solidFill>
                <a:latin typeface="微软雅黑" panose="020B0503020204020204" charset="-122"/>
                <a:ea typeface="微软雅黑" panose="020B0503020204020204" charset="-122"/>
              </a:rPr>
              <a:t>线程的创建、撤消是依靠内核实现的</a:t>
            </a:r>
            <a:endParaRPr lang="zh-CN" altLang="en-US" sz="165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1650" dirty="0" smtClean="0">
                <a:solidFill>
                  <a:srgbClr val="000000"/>
                </a:solidFill>
                <a:latin typeface="微软雅黑" panose="020B0503020204020204" charset="-122"/>
                <a:ea typeface="微软雅黑" panose="020B0503020204020204" charset="-122"/>
              </a:rPr>
              <a:t>线程之间的切换需要内核支持</a:t>
            </a:r>
            <a:endParaRPr lang="zh-CN" altLang="en-US" sz="165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1650" dirty="0" smtClean="0">
                <a:solidFill>
                  <a:srgbClr val="000000"/>
                </a:solidFill>
                <a:latin typeface="微软雅黑" panose="020B0503020204020204" charset="-122"/>
                <a:ea typeface="微软雅黑" panose="020B0503020204020204" charset="-122"/>
              </a:rPr>
              <a:t>以线程为基础进行调度</a:t>
            </a:r>
            <a:endParaRPr lang="zh-CN" altLang="en-US" sz="165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1650" dirty="0" smtClean="0">
                <a:solidFill>
                  <a:srgbClr val="000000"/>
                </a:solidFill>
                <a:latin typeface="微软雅黑" panose="020B0503020204020204" charset="-122"/>
                <a:ea typeface="微软雅黑" panose="020B0503020204020204" charset="-122"/>
              </a:rPr>
              <a:t>内核是根据每个线程的控制块来控制线程的</a:t>
            </a:r>
            <a:endParaRPr lang="en-US" altLang="zh-CN" sz="1650" dirty="0">
              <a:solidFill>
                <a:srgbClr val="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ox(i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ox(i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ox(i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ox(i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ox(i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ox(i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1428750" y="1085851"/>
            <a:ext cx="6572250" cy="507206"/>
          </a:xfrm>
        </p:spPr>
        <p:txBody>
          <a:bodyPr/>
          <a:lstStyle/>
          <a:p>
            <a:r>
              <a:rPr lang="zh-CN" altLang="en-US" dirty="0"/>
              <a:t>内核支持线程的工作模型</a:t>
            </a:r>
            <a:endParaRPr lang="zh-CN" altLang="en-US" dirty="0"/>
          </a:p>
        </p:txBody>
      </p:sp>
      <p:sp>
        <p:nvSpPr>
          <p:cNvPr id="199683" name="Rectangle 3"/>
          <p:cNvSpPr>
            <a:spLocks noChangeArrowheads="1"/>
          </p:cNvSpPr>
          <p:nvPr/>
        </p:nvSpPr>
        <p:spPr bwMode="auto">
          <a:xfrm>
            <a:off x="1657350" y="5180411"/>
            <a:ext cx="6343650" cy="648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100" dirty="0">
                <a:solidFill>
                  <a:srgbClr val="FF0000"/>
                </a:solidFill>
              </a:rPr>
              <a:t>用户创建的就是核心级线程</a:t>
            </a:r>
            <a:r>
              <a:rPr lang="en-US" altLang="zh-CN" sz="2100" dirty="0">
                <a:solidFill>
                  <a:srgbClr val="FF0000"/>
                </a:solidFill>
              </a:rPr>
              <a:t>!  </a:t>
            </a:r>
            <a:r>
              <a:rPr lang="en-US" altLang="zh-CN" sz="2100" dirty="0">
                <a:solidFill>
                  <a:srgbClr val="FF0000"/>
                </a:solidFill>
                <a:sym typeface="Symbol" panose="05050102010706020507" pitchFamily="18" charset="2"/>
              </a:rPr>
              <a:t></a:t>
            </a:r>
            <a:r>
              <a:rPr lang="en-US" altLang="zh-CN" sz="2100" dirty="0">
                <a:solidFill>
                  <a:srgbClr val="FF0000"/>
                </a:solidFill>
              </a:rPr>
              <a:t> </a:t>
            </a:r>
            <a:r>
              <a:rPr lang="zh-CN" altLang="en-US" sz="2100" dirty="0">
                <a:solidFill>
                  <a:srgbClr val="FF0000"/>
                </a:solidFill>
              </a:rPr>
              <a:t>系统调用</a:t>
            </a:r>
            <a:endParaRPr lang="zh-CN" altLang="en-US" sz="2100" dirty="0">
              <a:solidFill>
                <a:srgbClr val="FF0000"/>
              </a:solidFill>
            </a:endParaRPr>
          </a:p>
        </p:txBody>
      </p:sp>
      <p:grpSp>
        <p:nvGrpSpPr>
          <p:cNvPr id="199753" name="Group 73"/>
          <p:cNvGrpSpPr/>
          <p:nvPr/>
        </p:nvGrpSpPr>
        <p:grpSpPr bwMode="auto">
          <a:xfrm>
            <a:off x="1931195" y="1714500"/>
            <a:ext cx="4983956" cy="3454003"/>
            <a:chOff x="662" y="720"/>
            <a:chExt cx="4042" cy="2901"/>
          </a:xfrm>
        </p:grpSpPr>
        <p:sp>
          <p:nvSpPr>
            <p:cNvPr id="199685" name="Rectangle 5"/>
            <p:cNvSpPr>
              <a:spLocks noChangeArrowheads="1"/>
            </p:cNvSpPr>
            <p:nvPr/>
          </p:nvSpPr>
          <p:spPr bwMode="auto">
            <a:xfrm>
              <a:off x="3531" y="1015"/>
              <a:ext cx="837"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686" name="Rectangle 6"/>
            <p:cNvSpPr>
              <a:spLocks noChangeArrowheads="1"/>
            </p:cNvSpPr>
            <p:nvPr/>
          </p:nvSpPr>
          <p:spPr bwMode="auto">
            <a:xfrm>
              <a:off x="1600" y="1015"/>
              <a:ext cx="1472"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687" name="Line 7"/>
            <p:cNvSpPr>
              <a:spLocks noChangeShapeType="1"/>
            </p:cNvSpPr>
            <p:nvPr/>
          </p:nvSpPr>
          <p:spPr bwMode="auto">
            <a:xfrm>
              <a:off x="720" y="1872"/>
              <a:ext cx="3984"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nvGrpSpPr>
            <p:cNvPr id="199692" name="Group 12"/>
            <p:cNvGrpSpPr/>
            <p:nvPr/>
          </p:nvGrpSpPr>
          <p:grpSpPr bwMode="auto">
            <a:xfrm>
              <a:off x="2304" y="2400"/>
              <a:ext cx="288" cy="288"/>
              <a:chOff x="832" y="2920"/>
              <a:chExt cx="288" cy="288"/>
            </a:xfrm>
          </p:grpSpPr>
          <p:sp>
            <p:nvSpPr>
              <p:cNvPr id="199693" name="Oval 13"/>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694" name="Freeform 14"/>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grpSp>
          <p:nvGrpSpPr>
            <p:cNvPr id="199700" name="Group 20"/>
            <p:cNvGrpSpPr/>
            <p:nvPr/>
          </p:nvGrpSpPr>
          <p:grpSpPr bwMode="auto">
            <a:xfrm>
              <a:off x="2928" y="3217"/>
              <a:ext cx="287" cy="309"/>
              <a:chOff x="888" y="3472"/>
              <a:chExt cx="287" cy="309"/>
            </a:xfrm>
          </p:grpSpPr>
          <p:sp>
            <p:nvSpPr>
              <p:cNvPr id="199701" name="Rectangle 21"/>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02" name="Text Box 22"/>
              <p:cNvSpPr txBox="1">
                <a:spLocks noChangeArrowheads="1"/>
              </p:cNvSpPr>
              <p:nvPr/>
            </p:nvSpPr>
            <p:spPr bwMode="auto">
              <a:xfrm>
                <a:off x="913" y="3472"/>
                <a:ext cx="26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1800" b="1">
                    <a:solidFill>
                      <a:prstClr val="black"/>
                    </a:solidFill>
                    <a:latin typeface="Times New Roman" panose="02020603050405020304" pitchFamily="18" charset="0"/>
                    <a:ea typeface="黑体" panose="02010609060101010101" pitchFamily="2" charset="-122"/>
                  </a:rPr>
                  <a:t>P</a:t>
                </a:r>
                <a:endParaRPr lang="en-US" altLang="zh-CN" sz="1800" b="1">
                  <a:solidFill>
                    <a:prstClr val="black"/>
                  </a:solidFill>
                  <a:latin typeface="Times New Roman" panose="02020603050405020304" pitchFamily="18" charset="0"/>
                  <a:ea typeface="黑体" panose="02010609060101010101" pitchFamily="2" charset="-122"/>
                </a:endParaRPr>
              </a:p>
            </p:txBody>
          </p:sp>
        </p:grpSp>
        <p:grpSp>
          <p:nvGrpSpPr>
            <p:cNvPr id="199703" name="Group 23"/>
            <p:cNvGrpSpPr/>
            <p:nvPr/>
          </p:nvGrpSpPr>
          <p:grpSpPr bwMode="auto">
            <a:xfrm>
              <a:off x="3648" y="3217"/>
              <a:ext cx="287" cy="309"/>
              <a:chOff x="888" y="3472"/>
              <a:chExt cx="287" cy="309"/>
            </a:xfrm>
          </p:grpSpPr>
          <p:sp>
            <p:nvSpPr>
              <p:cNvPr id="199704" name="Rectangle 24"/>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05" name="Text Box 25"/>
              <p:cNvSpPr txBox="1">
                <a:spLocks noChangeArrowheads="1"/>
              </p:cNvSpPr>
              <p:nvPr/>
            </p:nvSpPr>
            <p:spPr bwMode="auto">
              <a:xfrm>
                <a:off x="913" y="3472"/>
                <a:ext cx="26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1800" b="1">
                    <a:solidFill>
                      <a:prstClr val="black"/>
                    </a:solidFill>
                    <a:latin typeface="Times New Roman" panose="02020603050405020304" pitchFamily="18" charset="0"/>
                    <a:ea typeface="黑体" panose="02010609060101010101" pitchFamily="2" charset="-122"/>
                  </a:rPr>
                  <a:t>P</a:t>
                </a:r>
                <a:endParaRPr lang="en-US" altLang="zh-CN" sz="1800" b="1">
                  <a:solidFill>
                    <a:prstClr val="black"/>
                  </a:solidFill>
                  <a:latin typeface="Times New Roman" panose="02020603050405020304" pitchFamily="18" charset="0"/>
                  <a:ea typeface="黑体" panose="02010609060101010101" pitchFamily="2" charset="-122"/>
                </a:endParaRPr>
              </a:p>
            </p:txBody>
          </p:sp>
        </p:grpSp>
        <p:sp>
          <p:nvSpPr>
            <p:cNvPr id="199706" name="Text Box 26"/>
            <p:cNvSpPr txBox="1">
              <a:spLocks noChangeArrowheads="1"/>
            </p:cNvSpPr>
            <p:nvPr/>
          </p:nvSpPr>
          <p:spPr bwMode="auto">
            <a:xfrm>
              <a:off x="1557" y="720"/>
              <a:ext cx="66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进程 </a:t>
              </a:r>
              <a:r>
                <a:rPr lang="en-US" altLang="zh-CN" sz="1800" b="1">
                  <a:solidFill>
                    <a:prstClr val="black"/>
                  </a:solidFill>
                  <a:latin typeface="Times New Roman" panose="02020603050405020304" pitchFamily="18" charset="0"/>
                  <a:ea typeface="黑体" panose="02010609060101010101" pitchFamily="2" charset="-122"/>
                </a:rPr>
                <a:t>1</a:t>
              </a:r>
              <a:endParaRPr lang="en-US" altLang="zh-CN" sz="1800" b="1">
                <a:solidFill>
                  <a:prstClr val="black"/>
                </a:solidFill>
                <a:latin typeface="Times New Roman" panose="02020603050405020304" pitchFamily="18" charset="0"/>
                <a:ea typeface="黑体" panose="02010609060101010101" pitchFamily="2" charset="-122"/>
              </a:endParaRPr>
            </a:p>
          </p:txBody>
        </p:sp>
        <p:sp>
          <p:nvSpPr>
            <p:cNvPr id="199707" name="Line 27"/>
            <p:cNvSpPr>
              <a:spLocks noChangeShapeType="1"/>
            </p:cNvSpPr>
            <p:nvPr/>
          </p:nvSpPr>
          <p:spPr bwMode="auto">
            <a:xfrm flipV="1">
              <a:off x="720" y="3216"/>
              <a:ext cx="3984" cy="1"/>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08" name="Text Box 28"/>
            <p:cNvSpPr txBox="1">
              <a:spLocks noChangeArrowheads="1"/>
            </p:cNvSpPr>
            <p:nvPr/>
          </p:nvSpPr>
          <p:spPr bwMode="auto">
            <a:xfrm>
              <a:off x="662" y="1584"/>
              <a:ext cx="502" cy="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用户</a:t>
              </a:r>
              <a:endParaRPr lang="zh-CN" altLang="en-US" sz="1800" b="1">
                <a:solidFill>
                  <a:prstClr val="black"/>
                </a:solidFill>
                <a:latin typeface="Times New Roman" panose="02020603050405020304" pitchFamily="18" charset="0"/>
                <a:ea typeface="黑体" panose="02010609060101010101" pitchFamily="2" charset="-122"/>
              </a:endParaRPr>
            </a:p>
          </p:txBody>
        </p:sp>
        <p:sp>
          <p:nvSpPr>
            <p:cNvPr id="199709" name="Text Box 29"/>
            <p:cNvSpPr txBox="1">
              <a:spLocks noChangeArrowheads="1"/>
            </p:cNvSpPr>
            <p:nvPr/>
          </p:nvSpPr>
          <p:spPr bwMode="auto">
            <a:xfrm>
              <a:off x="672" y="2364"/>
              <a:ext cx="52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核心</a:t>
              </a:r>
              <a:endParaRPr lang="zh-CN" altLang="en-US" sz="1800" b="1">
                <a:solidFill>
                  <a:prstClr val="black"/>
                </a:solidFill>
                <a:latin typeface="Times New Roman" panose="02020603050405020304" pitchFamily="18" charset="0"/>
                <a:ea typeface="黑体" panose="02010609060101010101" pitchFamily="2" charset="-122"/>
              </a:endParaRPr>
            </a:p>
          </p:txBody>
        </p:sp>
        <p:sp>
          <p:nvSpPr>
            <p:cNvPr id="199710" name="Text Box 30"/>
            <p:cNvSpPr txBox="1">
              <a:spLocks noChangeArrowheads="1"/>
            </p:cNvSpPr>
            <p:nvPr/>
          </p:nvSpPr>
          <p:spPr bwMode="auto">
            <a:xfrm>
              <a:off x="672" y="3312"/>
              <a:ext cx="52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硬件</a:t>
              </a:r>
              <a:endParaRPr lang="zh-CN" altLang="en-US" sz="1800" b="1">
                <a:solidFill>
                  <a:prstClr val="black"/>
                </a:solidFill>
                <a:latin typeface="Times New Roman" panose="02020603050405020304" pitchFamily="18" charset="0"/>
                <a:ea typeface="黑体" panose="02010609060101010101" pitchFamily="2" charset="-122"/>
              </a:endParaRPr>
            </a:p>
          </p:txBody>
        </p:sp>
        <p:sp>
          <p:nvSpPr>
            <p:cNvPr id="199714" name="Text Box 34"/>
            <p:cNvSpPr txBox="1">
              <a:spLocks noChangeArrowheads="1"/>
            </p:cNvSpPr>
            <p:nvPr/>
          </p:nvSpPr>
          <p:spPr bwMode="auto">
            <a:xfrm>
              <a:off x="3483" y="768"/>
              <a:ext cx="66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800" b="1">
                  <a:solidFill>
                    <a:prstClr val="black"/>
                  </a:solidFill>
                  <a:latin typeface="Times New Roman" panose="02020603050405020304" pitchFamily="18" charset="0"/>
                  <a:ea typeface="黑体" panose="02010609060101010101" pitchFamily="2" charset="-122"/>
                </a:rPr>
                <a:t>进程 </a:t>
              </a:r>
              <a:r>
                <a:rPr lang="en-US" altLang="zh-CN" sz="1800" b="1">
                  <a:solidFill>
                    <a:prstClr val="black"/>
                  </a:solidFill>
                  <a:latin typeface="Times New Roman" panose="02020603050405020304" pitchFamily="18" charset="0"/>
                  <a:ea typeface="黑体" panose="02010609060101010101" pitchFamily="2" charset="-122"/>
                </a:rPr>
                <a:t>2</a:t>
              </a:r>
              <a:endParaRPr lang="en-US" altLang="zh-CN" sz="1800" b="1">
                <a:solidFill>
                  <a:prstClr val="black"/>
                </a:solidFill>
                <a:latin typeface="Times New Roman" panose="02020603050405020304" pitchFamily="18" charset="0"/>
                <a:ea typeface="黑体" panose="02010609060101010101" pitchFamily="2" charset="-122"/>
              </a:endParaRPr>
            </a:p>
          </p:txBody>
        </p:sp>
        <p:sp>
          <p:nvSpPr>
            <p:cNvPr id="199716" name="Text Box 36"/>
            <p:cNvSpPr txBox="1">
              <a:spLocks noChangeArrowheads="1"/>
            </p:cNvSpPr>
            <p:nvPr/>
          </p:nvSpPr>
          <p:spPr bwMode="auto">
            <a:xfrm>
              <a:off x="1170" y="2719"/>
              <a:ext cx="57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500" b="1">
                  <a:solidFill>
                    <a:srgbClr val="FF0000"/>
                  </a:solidFill>
                  <a:latin typeface="Times New Roman" panose="02020603050405020304" pitchFamily="18" charset="0"/>
                  <a:ea typeface="黑体" panose="02010609060101010101" pitchFamily="2" charset="-122"/>
                </a:rPr>
                <a:t>线程 </a:t>
              </a:r>
              <a:r>
                <a:rPr lang="en-US" altLang="zh-CN" sz="1500" b="1">
                  <a:solidFill>
                    <a:srgbClr val="FF0000"/>
                  </a:solidFill>
                  <a:latin typeface="Times New Roman" panose="02020603050405020304" pitchFamily="18" charset="0"/>
                  <a:ea typeface="黑体" panose="02010609060101010101" pitchFamily="2" charset="-122"/>
                </a:rPr>
                <a:t>1</a:t>
              </a:r>
              <a:endParaRPr lang="en-US" altLang="zh-CN" sz="1500" b="1">
                <a:solidFill>
                  <a:srgbClr val="FF0000"/>
                </a:solidFill>
                <a:latin typeface="Times New Roman" panose="02020603050405020304" pitchFamily="18" charset="0"/>
                <a:ea typeface="黑体" panose="02010609060101010101" pitchFamily="2" charset="-122"/>
              </a:endParaRPr>
            </a:p>
          </p:txBody>
        </p:sp>
        <p:grpSp>
          <p:nvGrpSpPr>
            <p:cNvPr id="199717" name="Group 37"/>
            <p:cNvGrpSpPr/>
            <p:nvPr/>
          </p:nvGrpSpPr>
          <p:grpSpPr bwMode="auto">
            <a:xfrm>
              <a:off x="3792" y="2430"/>
              <a:ext cx="288" cy="288"/>
              <a:chOff x="832" y="2920"/>
              <a:chExt cx="288" cy="288"/>
            </a:xfrm>
          </p:grpSpPr>
          <p:sp>
            <p:nvSpPr>
              <p:cNvPr id="199718" name="Oval 38"/>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19" name="Freeform 39"/>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grpSp>
          <p:nvGrpSpPr>
            <p:cNvPr id="199722" name="Group 42"/>
            <p:cNvGrpSpPr/>
            <p:nvPr/>
          </p:nvGrpSpPr>
          <p:grpSpPr bwMode="auto">
            <a:xfrm>
              <a:off x="2080" y="3216"/>
              <a:ext cx="287" cy="309"/>
              <a:chOff x="888" y="3472"/>
              <a:chExt cx="287" cy="309"/>
            </a:xfrm>
          </p:grpSpPr>
          <p:sp>
            <p:nvSpPr>
              <p:cNvPr id="199723" name="Rectangle 43"/>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24" name="Text Box 44"/>
              <p:cNvSpPr txBox="1">
                <a:spLocks noChangeArrowheads="1"/>
              </p:cNvSpPr>
              <p:nvPr/>
            </p:nvSpPr>
            <p:spPr bwMode="auto">
              <a:xfrm>
                <a:off x="913" y="3472"/>
                <a:ext cx="26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1800" b="1">
                    <a:solidFill>
                      <a:prstClr val="black"/>
                    </a:solidFill>
                    <a:latin typeface="Times New Roman" panose="02020603050405020304" pitchFamily="18" charset="0"/>
                    <a:ea typeface="黑体" panose="02010609060101010101" pitchFamily="2" charset="-122"/>
                  </a:rPr>
                  <a:t>P</a:t>
                </a:r>
                <a:endParaRPr lang="en-US" altLang="zh-CN" sz="1800" b="1">
                  <a:solidFill>
                    <a:prstClr val="black"/>
                  </a:solidFill>
                  <a:latin typeface="Times New Roman" panose="02020603050405020304" pitchFamily="18" charset="0"/>
                  <a:ea typeface="黑体" panose="02010609060101010101" pitchFamily="2" charset="-122"/>
                </a:endParaRPr>
              </a:p>
            </p:txBody>
          </p:sp>
        </p:grpSp>
        <p:grpSp>
          <p:nvGrpSpPr>
            <p:cNvPr id="199725" name="Group 45"/>
            <p:cNvGrpSpPr/>
            <p:nvPr/>
          </p:nvGrpSpPr>
          <p:grpSpPr bwMode="auto">
            <a:xfrm>
              <a:off x="1632" y="2400"/>
              <a:ext cx="288" cy="288"/>
              <a:chOff x="832" y="2920"/>
              <a:chExt cx="288" cy="288"/>
            </a:xfrm>
          </p:grpSpPr>
          <p:sp>
            <p:nvSpPr>
              <p:cNvPr id="199726" name="Oval 46"/>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27" name="Freeform 47"/>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grpSp>
          <p:nvGrpSpPr>
            <p:cNvPr id="199728" name="Group 48"/>
            <p:cNvGrpSpPr/>
            <p:nvPr/>
          </p:nvGrpSpPr>
          <p:grpSpPr bwMode="auto">
            <a:xfrm>
              <a:off x="2640" y="2400"/>
              <a:ext cx="288" cy="288"/>
              <a:chOff x="832" y="2920"/>
              <a:chExt cx="288" cy="288"/>
            </a:xfrm>
          </p:grpSpPr>
          <p:sp>
            <p:nvSpPr>
              <p:cNvPr id="199729" name="Oval 49"/>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30" name="Freeform 50"/>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grpSp>
          <p:nvGrpSpPr>
            <p:cNvPr id="199731" name="Group 51"/>
            <p:cNvGrpSpPr/>
            <p:nvPr/>
          </p:nvGrpSpPr>
          <p:grpSpPr bwMode="auto">
            <a:xfrm>
              <a:off x="1968" y="2400"/>
              <a:ext cx="288" cy="288"/>
              <a:chOff x="832" y="2920"/>
              <a:chExt cx="288" cy="288"/>
            </a:xfrm>
          </p:grpSpPr>
          <p:sp>
            <p:nvSpPr>
              <p:cNvPr id="199732" name="Oval 52"/>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33" name="Freeform 53"/>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sp>
          <p:nvSpPr>
            <p:cNvPr id="199721" name="Line 41"/>
            <p:cNvSpPr>
              <a:spLocks noChangeShapeType="1"/>
            </p:cNvSpPr>
            <p:nvPr/>
          </p:nvSpPr>
          <p:spPr bwMode="auto">
            <a:xfrm>
              <a:off x="1776" y="2688"/>
              <a:ext cx="1104"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34" name="Text Box 54"/>
            <p:cNvSpPr txBox="1">
              <a:spLocks noChangeArrowheads="1"/>
            </p:cNvSpPr>
            <p:nvPr/>
          </p:nvSpPr>
          <p:spPr bwMode="auto">
            <a:xfrm>
              <a:off x="3936" y="2719"/>
              <a:ext cx="584"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1500" b="1">
                  <a:solidFill>
                    <a:srgbClr val="FF0000"/>
                  </a:solidFill>
                  <a:latin typeface="Times New Roman" panose="02020603050405020304" pitchFamily="18" charset="0"/>
                  <a:ea typeface="黑体" panose="02010609060101010101" pitchFamily="2" charset="-122"/>
                </a:rPr>
                <a:t>线程 </a:t>
              </a:r>
              <a:r>
                <a:rPr lang="en-US" altLang="zh-CN" sz="1500" b="1">
                  <a:solidFill>
                    <a:srgbClr val="FF0000"/>
                  </a:solidFill>
                  <a:latin typeface="Times New Roman" panose="02020603050405020304" pitchFamily="18" charset="0"/>
                  <a:ea typeface="黑体" panose="02010609060101010101" pitchFamily="2" charset="-122"/>
                </a:rPr>
                <a:t>n</a:t>
              </a:r>
              <a:endParaRPr lang="en-US" altLang="zh-CN" sz="1500" b="1">
                <a:solidFill>
                  <a:srgbClr val="FF0000"/>
                </a:solidFill>
                <a:latin typeface="Times New Roman" panose="02020603050405020304" pitchFamily="18" charset="0"/>
                <a:ea typeface="黑体" panose="02010609060101010101" pitchFamily="2" charset="-122"/>
              </a:endParaRPr>
            </a:p>
          </p:txBody>
        </p:sp>
        <p:sp>
          <p:nvSpPr>
            <p:cNvPr id="199715" name="Line 35"/>
            <p:cNvSpPr>
              <a:spLocks noChangeShapeType="1"/>
            </p:cNvSpPr>
            <p:nvPr/>
          </p:nvSpPr>
          <p:spPr bwMode="auto">
            <a:xfrm flipH="1">
              <a:off x="2880" y="2736"/>
              <a:ext cx="1056" cy="192"/>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35" name="Freeform 55"/>
            <p:cNvSpPr/>
            <p:nvPr/>
          </p:nvSpPr>
          <p:spPr bwMode="auto">
            <a:xfrm>
              <a:off x="2094" y="1131"/>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36" name="Line 56"/>
            <p:cNvSpPr>
              <a:spLocks noChangeShapeType="1"/>
            </p:cNvSpPr>
            <p:nvPr/>
          </p:nvSpPr>
          <p:spPr bwMode="auto">
            <a:xfrm flipH="1">
              <a:off x="2121" y="1379"/>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37" name="Freeform 57"/>
            <p:cNvSpPr/>
            <p:nvPr/>
          </p:nvSpPr>
          <p:spPr bwMode="auto">
            <a:xfrm>
              <a:off x="2421" y="1131"/>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38" name="Line 58"/>
            <p:cNvSpPr>
              <a:spLocks noChangeShapeType="1"/>
            </p:cNvSpPr>
            <p:nvPr/>
          </p:nvSpPr>
          <p:spPr bwMode="auto">
            <a:xfrm flipH="1">
              <a:off x="2448" y="1379"/>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39" name="Freeform 59"/>
            <p:cNvSpPr/>
            <p:nvPr/>
          </p:nvSpPr>
          <p:spPr bwMode="auto">
            <a:xfrm>
              <a:off x="2766" y="1143"/>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40" name="Line 60"/>
            <p:cNvSpPr>
              <a:spLocks noChangeShapeType="1"/>
            </p:cNvSpPr>
            <p:nvPr/>
          </p:nvSpPr>
          <p:spPr bwMode="auto">
            <a:xfrm flipH="1">
              <a:off x="2793" y="1391"/>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41" name="Freeform 61"/>
            <p:cNvSpPr/>
            <p:nvPr/>
          </p:nvSpPr>
          <p:spPr bwMode="auto">
            <a:xfrm>
              <a:off x="1737" y="1137"/>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42" name="Line 62"/>
            <p:cNvSpPr>
              <a:spLocks noChangeShapeType="1"/>
            </p:cNvSpPr>
            <p:nvPr/>
          </p:nvSpPr>
          <p:spPr bwMode="auto">
            <a:xfrm flipH="1">
              <a:off x="1764" y="1385"/>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43" name="Freeform 63"/>
            <p:cNvSpPr/>
            <p:nvPr/>
          </p:nvSpPr>
          <p:spPr bwMode="auto">
            <a:xfrm>
              <a:off x="3918" y="11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44" name="Line 64"/>
            <p:cNvSpPr>
              <a:spLocks noChangeShapeType="1"/>
            </p:cNvSpPr>
            <p:nvPr/>
          </p:nvSpPr>
          <p:spPr bwMode="auto">
            <a:xfrm flipH="1">
              <a:off x="3945" y="1392"/>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45" name="Line 65"/>
            <p:cNvSpPr>
              <a:spLocks noChangeShapeType="1"/>
            </p:cNvSpPr>
            <p:nvPr/>
          </p:nvSpPr>
          <p:spPr bwMode="auto">
            <a:xfrm>
              <a:off x="2112" y="2688"/>
              <a:ext cx="768"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46" name="Line 66"/>
            <p:cNvSpPr>
              <a:spLocks noChangeShapeType="1"/>
            </p:cNvSpPr>
            <p:nvPr/>
          </p:nvSpPr>
          <p:spPr bwMode="auto">
            <a:xfrm>
              <a:off x="2448" y="2688"/>
              <a:ext cx="432"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47" name="Line 67"/>
            <p:cNvSpPr>
              <a:spLocks noChangeShapeType="1"/>
            </p:cNvSpPr>
            <p:nvPr/>
          </p:nvSpPr>
          <p:spPr bwMode="auto">
            <a:xfrm>
              <a:off x="2784" y="2688"/>
              <a:ext cx="96"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50" name="Line 70"/>
            <p:cNvSpPr>
              <a:spLocks noChangeShapeType="1"/>
            </p:cNvSpPr>
            <p:nvPr/>
          </p:nvSpPr>
          <p:spPr bwMode="auto">
            <a:xfrm flipH="1">
              <a:off x="2160" y="2928"/>
              <a:ext cx="720"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51" name="Line 71"/>
            <p:cNvSpPr>
              <a:spLocks noChangeShapeType="1"/>
            </p:cNvSpPr>
            <p:nvPr/>
          </p:nvSpPr>
          <p:spPr bwMode="auto">
            <a:xfrm flipH="1" flipV="1">
              <a:off x="2880" y="2928"/>
              <a:ext cx="912"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99752" name="Line 72"/>
            <p:cNvSpPr>
              <a:spLocks noChangeShapeType="1"/>
            </p:cNvSpPr>
            <p:nvPr/>
          </p:nvSpPr>
          <p:spPr bwMode="auto">
            <a:xfrm>
              <a:off x="2880" y="2928"/>
              <a:ext cx="144"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sp>
        <p:nvSpPr>
          <p:cNvPr id="3" name="矩形 2"/>
          <p:cNvSpPr/>
          <p:nvPr/>
        </p:nvSpPr>
        <p:spPr>
          <a:xfrm>
            <a:off x="6327816" y="1085851"/>
            <a:ext cx="1634368" cy="106680"/>
          </a:xfrm>
          <a:prstGeom prst="rect">
            <a:avLst/>
          </a:prstGeom>
          <a:solidFill>
            <a:srgbClr val="FFC000"/>
          </a:solidFill>
        </p:spPr>
        <p:txBody>
          <a:bodyPr wrap="square">
            <a:spAutoFit/>
          </a:bodyPr>
          <a:lstStyle/>
          <a:p>
            <a:pPr defTabSz="457200">
              <a:defRPr/>
            </a:pPr>
            <a:r>
              <a:rPr lang="zh-CN" altLang="en-US" sz="100" dirty="0">
                <a:solidFill>
                  <a:prstClr val="black"/>
                </a:solidFill>
                <a:latin typeface="Arial" panose="020B0604020202020204"/>
                <a:ea typeface="黑体" panose="02010609060101010101" pitchFamily="2" charset="-122"/>
              </a:rPr>
              <a:t>内核级线程对多核的支持怎么样？</a:t>
            </a:r>
            <a:endParaRPr lang="zh-CN" altLang="en-US" sz="100" dirty="0">
              <a:solidFill>
                <a:prstClr val="black"/>
              </a:solidFill>
              <a:latin typeface="Arial" panose="020B0604020202020204"/>
              <a:ea typeface="黑体" panose="02010609060101010101" pitchFamily="2" charset="-122"/>
            </a:endParaRPr>
          </a:p>
        </p:txBody>
      </p:sp>
      <p:pic>
        <p:nvPicPr>
          <p:cNvPr id="2" name="图片 1"/>
          <p:cNvPicPr>
            <a:picLocks noChangeAspect="1"/>
          </p:cNvPicPr>
          <p:nvPr/>
        </p:nvPicPr>
        <p:blipFill>
          <a:blip r:embed="rId1"/>
          <a:stretch>
            <a:fillRect/>
          </a:stretch>
        </p:blipFill>
        <p:spPr>
          <a:xfrm>
            <a:off x="6856064" y="1974046"/>
            <a:ext cx="1059083" cy="733546"/>
          </a:xfrm>
          <a:prstGeom prst="rect">
            <a:avLst/>
          </a:prstGeom>
        </p:spPr>
      </p:pic>
      <p:pic>
        <p:nvPicPr>
          <p:cNvPr id="4" name="图片 3"/>
          <p:cNvPicPr>
            <a:picLocks noChangeAspect="1"/>
          </p:cNvPicPr>
          <p:nvPr/>
        </p:nvPicPr>
        <p:blipFill>
          <a:blip r:embed="rId2"/>
          <a:stretch>
            <a:fillRect/>
          </a:stretch>
        </p:blipFill>
        <p:spPr>
          <a:xfrm>
            <a:off x="6856064" y="3290828"/>
            <a:ext cx="1059083" cy="733546"/>
          </a:xfrm>
          <a:prstGeom prst="rect">
            <a:avLst/>
          </a:prstGeom>
        </p:spPr>
      </p:pic>
      <p:sp>
        <p:nvSpPr>
          <p:cNvPr id="5" name="矩形 4"/>
          <p:cNvSpPr/>
          <p:nvPr/>
        </p:nvSpPr>
        <p:spPr>
          <a:xfrm>
            <a:off x="6915150" y="1761581"/>
            <a:ext cx="233680" cy="106680"/>
          </a:xfrm>
          <a:prstGeom prst="rect">
            <a:avLst/>
          </a:prstGeom>
        </p:spPr>
        <p:txBody>
          <a:bodyPr wrap="none">
            <a:spAutoFit/>
          </a:bodyPr>
          <a:lstStyle/>
          <a:p>
            <a:pPr defTabSz="457200">
              <a:defRPr/>
            </a:pPr>
            <a:r>
              <a:rPr lang="zh-CN" altLang="en-US" sz="100" dirty="0">
                <a:solidFill>
                  <a:prstClr val="black"/>
                </a:solidFill>
                <a:latin typeface="宋体" panose="02010600030101010101" pitchFamily="2" charset="-122"/>
                <a:ea typeface="宋体" panose="02010600030101010101" pitchFamily="2" charset="-122"/>
              </a:rPr>
              <a:t>多处理器</a:t>
            </a:r>
            <a:endParaRPr lang="zh-CN" altLang="en-US" sz="100" dirty="0">
              <a:solidFill>
                <a:prstClr val="black"/>
              </a:solidFill>
              <a:latin typeface="Arial" panose="020B0604020202020204"/>
              <a:ea typeface="黑体" panose="02010609060101010101" pitchFamily="2" charset="-122"/>
            </a:endParaRPr>
          </a:p>
        </p:txBody>
      </p:sp>
      <p:sp>
        <p:nvSpPr>
          <p:cNvPr id="6" name="矩形 5"/>
          <p:cNvSpPr/>
          <p:nvPr/>
        </p:nvSpPr>
        <p:spPr>
          <a:xfrm>
            <a:off x="7004832" y="3013829"/>
            <a:ext cx="208280" cy="106680"/>
          </a:xfrm>
          <a:prstGeom prst="rect">
            <a:avLst/>
          </a:prstGeom>
        </p:spPr>
        <p:txBody>
          <a:bodyPr wrap="none">
            <a:spAutoFit/>
          </a:bodyPr>
          <a:lstStyle/>
          <a:p>
            <a:pPr defTabSz="457200">
              <a:defRPr/>
            </a:pPr>
            <a:r>
              <a:rPr lang="zh-CN" altLang="en-US" sz="100" dirty="0">
                <a:solidFill>
                  <a:prstClr val="black"/>
                </a:solidFill>
                <a:latin typeface="宋体" panose="02010600030101010101" pitchFamily="2" charset="-122"/>
                <a:ea typeface="宋体" panose="02010600030101010101" pitchFamily="2" charset="-122"/>
              </a:rPr>
              <a:t>多核</a:t>
            </a:r>
            <a:endParaRPr lang="zh-CN" altLang="en-US" sz="100" dirty="0">
              <a:solidFill>
                <a:prstClr val="black"/>
              </a:solidFill>
              <a:latin typeface="Arial" panose="020B0604020202020204"/>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9683"/>
                                        </p:tgtEl>
                                        <p:attrNameLst>
                                          <p:attrName>style.visibility</p:attrName>
                                        </p:attrNameLst>
                                      </p:cBhvr>
                                      <p:to>
                                        <p:strVal val="visible"/>
                                      </p:to>
                                    </p:set>
                                    <p:animEffect transition="in" filter="dissolve">
                                      <p:cBhvr>
                                        <p:cTn id="7" dur="500"/>
                                        <p:tgtEl>
                                          <p:spTgt spid="19968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ldLvl="0" animBg="1"/>
      <p:bldP spid="3" grpId="0" bldLvl="0" animBg="1"/>
      <p:bldP spid="5" grpId="0"/>
      <p:bldP spid="6"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14087" y="2037625"/>
            <a:ext cx="7662553" cy="1984465"/>
          </a:xfrm>
        </p:spPr>
        <p:txBody>
          <a:bodyPr/>
          <a:lstStyle/>
          <a:p>
            <a:pPr marL="205740" lvl="1" indent="0">
              <a:lnSpc>
                <a:spcPct val="130000"/>
              </a:lnSpc>
              <a:buNone/>
              <a:defRPr/>
            </a:pPr>
            <a:r>
              <a:rPr lang="en-US" altLang="zh-CN" sz="1650" dirty="0">
                <a:latin typeface="微软雅黑" panose="020B0503020204020204" charset="-122"/>
                <a:ea typeface="微软雅黑" panose="020B0503020204020204" charset="-122"/>
              </a:rPr>
              <a:t>(1) </a:t>
            </a:r>
            <a:r>
              <a:rPr lang="zh-CN" altLang="en-US" sz="1650" dirty="0">
                <a:latin typeface="微软雅黑" panose="020B0503020204020204" charset="-122"/>
                <a:ea typeface="微软雅黑" panose="020B0503020204020204" charset="-122"/>
              </a:rPr>
              <a:t>在多处理器系统中，内核能够同时调度同一进程中多个线程并行执行；</a:t>
            </a:r>
            <a:endParaRPr lang="zh-CN" altLang="en-US" sz="1650" dirty="0">
              <a:latin typeface="微软雅黑" panose="020B0503020204020204" charset="-122"/>
              <a:ea typeface="微软雅黑" panose="020B0503020204020204" charset="-122"/>
            </a:endParaRPr>
          </a:p>
          <a:p>
            <a:pPr marL="205740" lvl="1" indent="0">
              <a:lnSpc>
                <a:spcPct val="130000"/>
              </a:lnSpc>
              <a:buNone/>
              <a:defRPr/>
            </a:pPr>
            <a:r>
              <a:rPr lang="en-US" altLang="zh-CN" sz="1650" dirty="0">
                <a:latin typeface="微软雅黑" panose="020B0503020204020204" charset="-122"/>
                <a:ea typeface="微软雅黑" panose="020B0503020204020204" charset="-122"/>
              </a:rPr>
              <a:t>(2) </a:t>
            </a:r>
            <a:r>
              <a:rPr lang="zh-CN" altLang="en-US" sz="1650" dirty="0">
                <a:latin typeface="微软雅黑" panose="020B0503020204020204" charset="-122"/>
                <a:ea typeface="微软雅黑" panose="020B0503020204020204" charset="-122"/>
              </a:rPr>
              <a:t>如果进程中的一个线程被阻塞了，内核可以调度该进程中的其它线程占有处理器运行，也可以运行其它进程中的线程；</a:t>
            </a:r>
            <a:endParaRPr lang="zh-CN" altLang="en-US" sz="1650" dirty="0">
              <a:latin typeface="微软雅黑" panose="020B0503020204020204" charset="-122"/>
              <a:ea typeface="微软雅黑" panose="020B0503020204020204" charset="-122"/>
            </a:endParaRPr>
          </a:p>
          <a:p>
            <a:pPr marL="205740" lvl="1" indent="0">
              <a:lnSpc>
                <a:spcPct val="130000"/>
              </a:lnSpc>
              <a:buNone/>
              <a:defRPr/>
            </a:pPr>
            <a:r>
              <a:rPr lang="en-US" altLang="zh-CN" sz="1650" dirty="0">
                <a:latin typeface="微软雅黑" panose="020B0503020204020204" charset="-122"/>
                <a:ea typeface="微软雅黑" panose="020B0503020204020204" charset="-122"/>
              </a:rPr>
              <a:t>(3) </a:t>
            </a:r>
            <a:r>
              <a:rPr lang="zh-CN" altLang="en-US" sz="1650" dirty="0">
                <a:latin typeface="微软雅黑" panose="020B0503020204020204" charset="-122"/>
                <a:ea typeface="微软雅黑" panose="020B0503020204020204" charset="-122"/>
              </a:rPr>
              <a:t>内核支持线程具有很小的数据结构和堆栈，线程的切换比较快，切换开销小；</a:t>
            </a:r>
            <a:endParaRPr lang="zh-CN" altLang="en-US" sz="1650" dirty="0">
              <a:latin typeface="微软雅黑" panose="020B0503020204020204" charset="-122"/>
              <a:ea typeface="微软雅黑" panose="020B0503020204020204" charset="-122"/>
            </a:endParaRPr>
          </a:p>
          <a:p>
            <a:pPr marL="205740" lvl="1" indent="0">
              <a:lnSpc>
                <a:spcPct val="130000"/>
              </a:lnSpc>
              <a:buNone/>
              <a:defRPr/>
            </a:pPr>
            <a:r>
              <a:rPr lang="en-US" altLang="zh-CN" sz="1650" dirty="0">
                <a:latin typeface="微软雅黑" panose="020B0503020204020204" charset="-122"/>
                <a:ea typeface="微软雅黑" panose="020B0503020204020204" charset="-122"/>
              </a:rPr>
              <a:t>(4) </a:t>
            </a:r>
            <a:r>
              <a:rPr lang="zh-CN" altLang="en-US" sz="1650" dirty="0">
                <a:latin typeface="微软雅黑" panose="020B0503020204020204" charset="-122"/>
                <a:ea typeface="微软雅黑" panose="020B0503020204020204" charset="-122"/>
              </a:rPr>
              <a:t>内核本身也可以采用多线程技术，可以提高系统的执行速度和效率。</a:t>
            </a:r>
            <a:endParaRPr lang="zh-CN" altLang="en-US" sz="1650" kern="0" dirty="0">
              <a:solidFill>
                <a:srgbClr val="FF0000"/>
              </a:solidFill>
              <a:latin typeface="微软雅黑" panose="020B0503020204020204" charset="-122"/>
              <a:ea typeface="微软雅黑" panose="020B0503020204020204" charset="-122"/>
            </a:endParaRPr>
          </a:p>
          <a:p>
            <a:endParaRPr lang="zh-CN" altLang="en-US" sz="1650" dirty="0">
              <a:latin typeface="微软雅黑" panose="020B0503020204020204" charset="-122"/>
              <a:ea typeface="微软雅黑" panose="020B0503020204020204" charset="-122"/>
            </a:endParaRPr>
          </a:p>
        </p:txBody>
      </p:sp>
      <p:sp>
        <p:nvSpPr>
          <p:cNvPr id="3" name="标题 2"/>
          <p:cNvSpPr>
            <a:spLocks noGrp="1"/>
          </p:cNvSpPr>
          <p:nvPr>
            <p:ph type="title"/>
          </p:nvPr>
        </p:nvSpPr>
        <p:spPr>
          <a:xfrm>
            <a:off x="749928" y="1762829"/>
            <a:ext cx="5497903" cy="411956"/>
          </a:xfrm>
        </p:spPr>
        <p:txBody>
          <a:bodyPr/>
          <a:lstStyle/>
          <a:p>
            <a:pPr algn="l"/>
            <a:r>
              <a:rPr lang="zh-CN" altLang="en-US" sz="1650" dirty="0"/>
              <a:t>内核支持线程的主要优点</a:t>
            </a:r>
            <a:endParaRPr lang="zh-CN" altLang="en-US" sz="1650" dirty="0"/>
          </a:p>
        </p:txBody>
      </p:sp>
      <p:grpSp>
        <p:nvGrpSpPr>
          <p:cNvPr id="6" name="组合 5"/>
          <p:cNvGrpSpPr/>
          <p:nvPr/>
        </p:nvGrpSpPr>
        <p:grpSpPr>
          <a:xfrm>
            <a:off x="710756" y="4090907"/>
            <a:ext cx="8077986" cy="2152343"/>
            <a:chOff x="947675" y="4311542"/>
            <a:chExt cx="10770648" cy="2869790"/>
          </a:xfrm>
        </p:grpSpPr>
        <p:sp>
          <p:nvSpPr>
            <p:cNvPr id="4" name="Rectangle 2"/>
            <p:cNvSpPr txBox="1">
              <a:spLocks noRot="1" noChangeArrowheads="1"/>
            </p:cNvSpPr>
            <p:nvPr/>
          </p:nvSpPr>
          <p:spPr>
            <a:xfrm>
              <a:off x="947675" y="4311542"/>
              <a:ext cx="3400805" cy="54927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r>
                <a:rPr lang="zh-CN" altLang="en-US" sz="1650" dirty="0" smtClean="0">
                  <a:solidFill>
                    <a:srgbClr val="FF0000"/>
                  </a:solidFill>
                </a:rPr>
                <a:t>内核支持线程的主要缺点</a:t>
              </a:r>
              <a:endParaRPr lang="zh-CN" altLang="en-US" sz="1650" dirty="0"/>
            </a:p>
          </p:txBody>
        </p:sp>
        <p:sp>
          <p:nvSpPr>
            <p:cNvPr id="5" name="Text Box 4"/>
            <p:cNvSpPr txBox="1">
              <a:spLocks noChangeArrowheads="1"/>
            </p:cNvSpPr>
            <p:nvPr/>
          </p:nvSpPr>
          <p:spPr>
            <a:xfrm>
              <a:off x="947675" y="4781112"/>
              <a:ext cx="10770648" cy="2400220"/>
            </a:xfrm>
            <a:prstGeom prst="rect">
              <a:avLst/>
            </a:prstGeom>
            <a:effectLst>
              <a:prstShdw prst="shdw18" dist="17961" dir="13500000">
                <a:schemeClr val="accent1">
                  <a:gamma/>
                  <a:shade val="60000"/>
                  <a:invGamma/>
                </a:schemeClr>
              </a:prstShdw>
            </a:effectLst>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pPr lvl="1">
                <a:lnSpc>
                  <a:spcPct val="130000"/>
                </a:lnSpc>
                <a:spcBef>
                  <a:spcPts val="0"/>
                </a:spcBef>
                <a:defRPr/>
              </a:pPr>
              <a:r>
                <a:rPr lang="zh-CN" altLang="en-US" sz="1650" smtClean="0"/>
                <a:t>对于线程切换而言，其</a:t>
              </a:r>
              <a:r>
                <a:rPr lang="zh-CN" altLang="en-US" sz="1650" smtClean="0">
                  <a:solidFill>
                    <a:srgbClr val="C00000"/>
                  </a:solidFill>
                </a:rPr>
                <a:t>模式切换</a:t>
              </a:r>
              <a:r>
                <a:rPr lang="zh-CN" altLang="en-US" sz="1650" smtClean="0"/>
                <a:t>的开销较大</a:t>
              </a:r>
              <a:endParaRPr lang="en-US" altLang="zh-CN" sz="1650" smtClean="0"/>
            </a:p>
            <a:p>
              <a:pPr marL="205740" lvl="1" indent="0">
                <a:lnSpc>
                  <a:spcPct val="130000"/>
                </a:lnSpc>
                <a:spcBef>
                  <a:spcPts val="0"/>
                </a:spcBef>
                <a:buFont typeface="Arial" panose="020B0604020202020204" pitchFamily="34" charset="0"/>
                <a:buNone/>
                <a:defRPr/>
              </a:pPr>
              <a:r>
                <a:rPr lang="zh-CN" altLang="en-US" sz="1650" smtClean="0"/>
                <a:t>      在同一个进程中，从一个线程切换到另一个线程时，需要从用户态转到内核态再转到用户态进行，这是因为</a:t>
              </a:r>
              <a:r>
                <a:rPr lang="zh-CN" altLang="en-US" sz="1650" i="1" u="sng" smtClean="0">
                  <a:solidFill>
                    <a:schemeClr val="folHlink"/>
                  </a:solidFill>
                </a:rPr>
                <a:t>用户进程的线程在用户态运行，而线程调度和管理是在内核实现的</a:t>
              </a:r>
              <a:r>
                <a:rPr lang="zh-CN" altLang="en-US" sz="1650" smtClean="0"/>
                <a:t>，系统开销较大。</a:t>
              </a:r>
              <a:endParaRPr lang="zh-CN" altLang="en-US" sz="1650" smtClean="0"/>
            </a:p>
            <a:p>
              <a:pPr>
                <a:lnSpc>
                  <a:spcPct val="130000"/>
                </a:lnSpc>
                <a:spcBef>
                  <a:spcPts val="0"/>
                </a:spcBef>
                <a:buClrTx/>
                <a:buSzTx/>
                <a:buFontTx/>
                <a:buNone/>
                <a:defRPr/>
              </a:pPr>
              <a:endParaRPr lang="zh-CN" altLang="en-US" sz="1650" dirty="0"/>
            </a:p>
          </p:txBody>
        </p:sp>
      </p:grpSp>
      <p:sp>
        <p:nvSpPr>
          <p:cNvPr id="7" name="标题 2"/>
          <p:cNvSpPr>
            <a:spLocks noGrp="1"/>
          </p:cNvSpPr>
          <p:nvPr/>
        </p:nvSpPr>
        <p:spPr>
          <a:xfrm>
            <a:off x="6092594" y="1209256"/>
            <a:ext cx="3051406" cy="411956"/>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r>
              <a:rPr lang="en-US" altLang="zh-CN" sz="2100" dirty="0"/>
              <a:t>2.7.6  </a:t>
            </a:r>
            <a:r>
              <a:rPr lang="zh-CN" altLang="en-US" sz="2100" dirty="0"/>
              <a:t>线程的实现方式</a:t>
            </a:r>
            <a:endParaRPr lang="zh-CN" altLang="en-US" sz="2100" dirty="0"/>
          </a:p>
        </p:txBody>
      </p:sp>
      <p:sp>
        <p:nvSpPr>
          <p:cNvPr id="8"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1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1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1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1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p:cNvSpPr>
            <a:spLocks noGrp="1" noChangeArrowheads="1"/>
          </p:cNvSpPr>
          <p:nvPr>
            <p:ph type="title"/>
          </p:nvPr>
        </p:nvSpPr>
        <p:spPr>
          <a:xfrm>
            <a:off x="1428750" y="1085851"/>
            <a:ext cx="6343650" cy="507206"/>
          </a:xfrm>
        </p:spPr>
        <p:txBody>
          <a:bodyPr/>
          <a:lstStyle/>
          <a:p>
            <a:r>
              <a:rPr lang="zh-CN" altLang="en-US" dirty="0"/>
              <a:t>和用户级相比，内核支持线程有什么不同</a:t>
            </a:r>
            <a:r>
              <a:rPr lang="en-US" altLang="zh-CN" dirty="0"/>
              <a:t>?</a:t>
            </a:r>
            <a:endParaRPr lang="en-US" altLang="zh-CN" dirty="0"/>
          </a:p>
        </p:txBody>
      </p:sp>
      <p:sp>
        <p:nvSpPr>
          <p:cNvPr id="167967" name="Rectangle 31"/>
          <p:cNvSpPr>
            <a:spLocks noChangeArrowheads="1"/>
          </p:cNvSpPr>
          <p:nvPr/>
        </p:nvSpPr>
        <p:spPr bwMode="auto">
          <a:xfrm>
            <a:off x="884635" y="1837531"/>
            <a:ext cx="4235450"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dirty="0">
                <a:solidFill>
                  <a:prstClr val="black"/>
                </a:solidFill>
                <a:latin typeface="微软雅黑" panose="020B0503020204020204" charset="-122"/>
                <a:ea typeface="微软雅黑" panose="020B0503020204020204" charset="-122"/>
              </a:rPr>
              <a:t>由内核完成线程的创建、调度等</a:t>
            </a:r>
            <a:endParaRPr lang="zh-CN" altLang="en-US" sz="1800" dirty="0">
              <a:solidFill>
                <a:prstClr val="black"/>
              </a:solidFill>
              <a:latin typeface="微软雅黑" panose="020B0503020204020204" charset="-122"/>
              <a:ea typeface="微软雅黑" panose="020B0503020204020204" charset="-122"/>
            </a:endParaRPr>
          </a:p>
        </p:txBody>
      </p:sp>
      <p:sp>
        <p:nvSpPr>
          <p:cNvPr id="167968" name="Rectangle 32"/>
          <p:cNvSpPr>
            <a:spLocks noChangeArrowheads="1"/>
          </p:cNvSpPr>
          <p:nvPr/>
        </p:nvSpPr>
        <p:spPr bwMode="auto">
          <a:xfrm>
            <a:off x="884635" y="2439987"/>
            <a:ext cx="3943350"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dirty="0">
                <a:solidFill>
                  <a:srgbClr val="FF0000"/>
                </a:solidFill>
                <a:latin typeface="微软雅黑" panose="020B0503020204020204" charset="-122"/>
                <a:ea typeface="微软雅黑" panose="020B0503020204020204" charset="-122"/>
              </a:rPr>
              <a:t>主要工作仍是保存现场 </a:t>
            </a:r>
            <a:r>
              <a:rPr lang="zh-CN" altLang="en-US" sz="1800" dirty="0">
                <a:solidFill>
                  <a:srgbClr val="FF0000"/>
                </a:solidFill>
                <a:latin typeface="微软雅黑" panose="020B0503020204020204" charset="-122"/>
                <a:ea typeface="微软雅黑" panose="020B0503020204020204" charset="-122"/>
                <a:sym typeface="Symbol" panose="05050102010706020507" pitchFamily="18" charset="2"/>
              </a:rPr>
              <a:t> 在哪里</a:t>
            </a:r>
            <a:r>
              <a:rPr lang="en-US" altLang="zh-CN" sz="1800" dirty="0" smtClean="0">
                <a:solidFill>
                  <a:srgbClr val="FF0000"/>
                </a:solidFill>
                <a:latin typeface="微软雅黑" panose="020B0503020204020204" charset="-122"/>
                <a:ea typeface="微软雅黑" panose="020B0503020204020204" charset="-122"/>
                <a:sym typeface="Symbol" panose="05050102010706020507" pitchFamily="18" charset="2"/>
              </a:rPr>
              <a:t>?</a:t>
            </a:r>
            <a:endParaRPr lang="en-US" altLang="zh-CN" sz="1800" dirty="0" smtClean="0">
              <a:solidFill>
                <a:srgbClr val="FF0000"/>
              </a:solidFill>
              <a:latin typeface="微软雅黑" panose="020B0503020204020204" charset="-122"/>
              <a:ea typeface="微软雅黑" panose="020B0503020204020204" charset="-122"/>
              <a:sym typeface="Symbol" panose="05050102010706020507" pitchFamily="18" charset="2"/>
            </a:endParaRPr>
          </a:p>
          <a:p>
            <a:pPr marL="0" indent="0" defTabSz="457200">
              <a:lnSpc>
                <a:spcPct val="130000"/>
              </a:lnSpc>
              <a:buNone/>
              <a:defRPr/>
            </a:pPr>
            <a:r>
              <a:rPr lang="en-US" altLang="zh-CN" sz="1800" dirty="0">
                <a:solidFill>
                  <a:srgbClr val="FF0000"/>
                </a:solidFill>
                <a:latin typeface="微软雅黑" panose="020B0503020204020204" charset="-122"/>
                <a:ea typeface="微软雅黑" panose="020B0503020204020204" charset="-122"/>
                <a:sym typeface="Symbol" panose="05050102010706020507" pitchFamily="18" charset="2"/>
              </a:rPr>
              <a:t> </a:t>
            </a:r>
            <a:r>
              <a:rPr lang="en-US" altLang="zh-CN" sz="1800" dirty="0" smtClean="0">
                <a:solidFill>
                  <a:srgbClr val="FF0000"/>
                </a:solidFill>
                <a:latin typeface="微软雅黑" panose="020B0503020204020204" charset="-122"/>
                <a:ea typeface="微软雅黑" panose="020B0503020204020204" charset="-122"/>
                <a:sym typeface="Symbol" panose="05050102010706020507" pitchFamily="18" charset="2"/>
              </a:rPr>
              <a:t>    </a:t>
            </a:r>
            <a:r>
              <a:rPr lang="zh-CN" altLang="en-US" sz="1800" dirty="0">
                <a:solidFill>
                  <a:srgbClr val="FF0000"/>
                </a:solidFill>
                <a:latin typeface="微软雅黑" panose="020B0503020204020204" charset="-122"/>
                <a:ea typeface="微软雅黑" panose="020B0503020204020204" charset="-122"/>
                <a:sym typeface="Symbol" panose="05050102010706020507" pitchFamily="18" charset="2"/>
              </a:rPr>
              <a:t>内核栈</a:t>
            </a:r>
            <a:endParaRPr lang="zh-CN" altLang="zh-CN" sz="1800" dirty="0">
              <a:solidFill>
                <a:srgbClr val="FF0000"/>
              </a:solidFill>
              <a:latin typeface="微软雅黑" panose="020B0503020204020204" charset="-122"/>
              <a:ea typeface="微软雅黑" panose="020B0503020204020204" charset="-122"/>
              <a:sym typeface="Symbol" panose="05050102010706020507" pitchFamily="18" charset="2"/>
            </a:endParaRPr>
          </a:p>
        </p:txBody>
      </p:sp>
      <p:grpSp>
        <p:nvGrpSpPr>
          <p:cNvPr id="167998" name="Group 62"/>
          <p:cNvGrpSpPr/>
          <p:nvPr/>
        </p:nvGrpSpPr>
        <p:grpSpPr bwMode="auto">
          <a:xfrm>
            <a:off x="5657850" y="1714500"/>
            <a:ext cx="1985963" cy="4000500"/>
            <a:chOff x="3600" y="768"/>
            <a:chExt cx="1668" cy="3360"/>
          </a:xfrm>
        </p:grpSpPr>
        <p:sp>
          <p:nvSpPr>
            <p:cNvPr id="167999" name="Rectangle 63"/>
            <p:cNvSpPr>
              <a:spLocks noChangeArrowheads="1"/>
            </p:cNvSpPr>
            <p:nvPr/>
          </p:nvSpPr>
          <p:spPr bwMode="auto">
            <a:xfrm>
              <a:off x="4128" y="2208"/>
              <a:ext cx="1056" cy="624"/>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68000" name="Text Box 64"/>
            <p:cNvSpPr txBox="1">
              <a:spLocks noChangeArrowheads="1"/>
            </p:cNvSpPr>
            <p:nvPr/>
          </p:nvSpPr>
          <p:spPr bwMode="auto">
            <a:xfrm>
              <a:off x="4107" y="2352"/>
              <a:ext cx="115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1800" b="1">
                  <a:solidFill>
                    <a:prstClr val="black"/>
                  </a:solidFill>
                  <a:latin typeface="Arial" panose="020B0604020202020204"/>
                  <a:ea typeface="黑体" panose="02010609060101010101" pitchFamily="2" charset="-122"/>
                </a:rPr>
                <a:t>代码和数据</a:t>
              </a:r>
              <a:endParaRPr lang="zh-CN" altLang="en-US" sz="1800" b="1">
                <a:solidFill>
                  <a:prstClr val="black"/>
                </a:solidFill>
                <a:latin typeface="Arial" panose="020B0604020202020204"/>
                <a:ea typeface="黑体" panose="02010609060101010101" pitchFamily="2" charset="-122"/>
              </a:endParaRPr>
            </a:p>
          </p:txBody>
        </p:sp>
        <p:sp>
          <p:nvSpPr>
            <p:cNvPr id="168001" name="Line 65"/>
            <p:cNvSpPr>
              <a:spLocks noChangeShapeType="1"/>
            </p:cNvSpPr>
            <p:nvPr/>
          </p:nvSpPr>
          <p:spPr bwMode="auto">
            <a:xfrm>
              <a:off x="3600" y="2832"/>
              <a:ext cx="1584" cy="0"/>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68002" name="Text Box 66"/>
            <p:cNvSpPr txBox="1">
              <a:spLocks noChangeArrowheads="1"/>
            </p:cNvSpPr>
            <p:nvPr/>
          </p:nvSpPr>
          <p:spPr bwMode="auto">
            <a:xfrm>
              <a:off x="3600" y="2448"/>
              <a:ext cx="76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1800" b="1">
                  <a:solidFill>
                    <a:prstClr val="black"/>
                  </a:solidFill>
                  <a:latin typeface="Arial" panose="020B0604020202020204"/>
                  <a:ea typeface="黑体" panose="02010609060101010101" pitchFamily="2" charset="-122"/>
                </a:rPr>
                <a:t>用户</a:t>
              </a:r>
              <a:endParaRPr lang="zh-CN" altLang="en-US" sz="1800" b="1">
                <a:solidFill>
                  <a:prstClr val="black"/>
                </a:solidFill>
                <a:latin typeface="Arial" panose="020B0604020202020204"/>
                <a:ea typeface="黑体" panose="02010609060101010101" pitchFamily="2" charset="-122"/>
              </a:endParaRPr>
            </a:p>
          </p:txBody>
        </p:sp>
        <p:sp>
          <p:nvSpPr>
            <p:cNvPr id="168003" name="Text Box 67"/>
            <p:cNvSpPr txBox="1">
              <a:spLocks noChangeArrowheads="1"/>
            </p:cNvSpPr>
            <p:nvPr/>
          </p:nvSpPr>
          <p:spPr bwMode="auto">
            <a:xfrm>
              <a:off x="3600" y="2880"/>
              <a:ext cx="76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1800" b="1">
                  <a:solidFill>
                    <a:prstClr val="black"/>
                  </a:solidFill>
                  <a:latin typeface="Arial" panose="020B0604020202020204"/>
                  <a:ea typeface="黑体" panose="02010609060101010101" pitchFamily="2" charset="-122"/>
                </a:rPr>
                <a:t>内核</a:t>
              </a:r>
              <a:endParaRPr lang="zh-CN" altLang="en-US" sz="1800" b="1">
                <a:solidFill>
                  <a:prstClr val="black"/>
                </a:solidFill>
                <a:latin typeface="Arial" panose="020B0604020202020204"/>
                <a:ea typeface="黑体" panose="02010609060101010101" pitchFamily="2" charset="-122"/>
              </a:endParaRPr>
            </a:p>
          </p:txBody>
        </p:sp>
        <p:sp>
          <p:nvSpPr>
            <p:cNvPr id="168004" name="Rectangle 68"/>
            <p:cNvSpPr>
              <a:spLocks noChangeArrowheads="1"/>
            </p:cNvSpPr>
            <p:nvPr/>
          </p:nvSpPr>
          <p:spPr bwMode="auto">
            <a:xfrm>
              <a:off x="4128" y="3696"/>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68005" name="Text Box 69"/>
            <p:cNvSpPr txBox="1">
              <a:spLocks noChangeArrowheads="1"/>
            </p:cNvSpPr>
            <p:nvPr/>
          </p:nvSpPr>
          <p:spPr bwMode="auto">
            <a:xfrm>
              <a:off x="4116" y="3744"/>
              <a:ext cx="115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1800" b="1">
                  <a:solidFill>
                    <a:prstClr val="black"/>
                  </a:solidFill>
                  <a:latin typeface="Arial" panose="020B0604020202020204"/>
                  <a:ea typeface="黑体" panose="02010609060101010101" pitchFamily="2" charset="-122"/>
                </a:rPr>
                <a:t>线程控制块</a:t>
              </a:r>
              <a:endParaRPr lang="zh-CN" altLang="en-US" sz="1800" b="1">
                <a:solidFill>
                  <a:prstClr val="black"/>
                </a:solidFill>
                <a:latin typeface="Arial" panose="020B0604020202020204"/>
                <a:ea typeface="黑体" panose="02010609060101010101" pitchFamily="2" charset="-122"/>
              </a:endParaRPr>
            </a:p>
          </p:txBody>
        </p:sp>
        <p:sp>
          <p:nvSpPr>
            <p:cNvPr id="168006" name="Rectangle 70"/>
            <p:cNvSpPr>
              <a:spLocks noChangeArrowheads="1"/>
            </p:cNvSpPr>
            <p:nvPr/>
          </p:nvSpPr>
          <p:spPr bwMode="auto">
            <a:xfrm>
              <a:off x="4128" y="3264"/>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68007" name="Rectangle 71"/>
            <p:cNvSpPr>
              <a:spLocks noChangeArrowheads="1"/>
            </p:cNvSpPr>
            <p:nvPr/>
          </p:nvSpPr>
          <p:spPr bwMode="auto">
            <a:xfrm>
              <a:off x="4128" y="2832"/>
              <a:ext cx="1056" cy="432"/>
            </a:xfrm>
            <a:prstGeom prst="rect">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68008" name="Text Box 72"/>
            <p:cNvSpPr txBox="1">
              <a:spLocks noChangeArrowheads="1"/>
            </p:cNvSpPr>
            <p:nvPr/>
          </p:nvSpPr>
          <p:spPr bwMode="auto">
            <a:xfrm>
              <a:off x="4080" y="2880"/>
              <a:ext cx="115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457200">
                <a:spcBef>
                  <a:spcPct val="50000"/>
                </a:spcBef>
                <a:defRPr/>
              </a:pPr>
              <a:r>
                <a:rPr lang="zh-CN" altLang="en-US" sz="1800" b="1">
                  <a:solidFill>
                    <a:prstClr val="black"/>
                  </a:solidFill>
                  <a:latin typeface="Arial" panose="020B0604020202020204"/>
                  <a:ea typeface="黑体" panose="02010609060101010101" pitchFamily="2" charset="-122"/>
                </a:rPr>
                <a:t>内核栈</a:t>
              </a:r>
              <a:endParaRPr lang="zh-CN" altLang="en-US" sz="1800" b="1">
                <a:solidFill>
                  <a:prstClr val="black"/>
                </a:solidFill>
                <a:latin typeface="Arial" panose="020B0604020202020204"/>
                <a:ea typeface="黑体" panose="02010609060101010101" pitchFamily="2" charset="-122"/>
              </a:endParaRPr>
            </a:p>
          </p:txBody>
        </p:sp>
        <p:sp>
          <p:nvSpPr>
            <p:cNvPr id="168009" name="Rectangle 73"/>
            <p:cNvSpPr>
              <a:spLocks noChangeArrowheads="1"/>
            </p:cNvSpPr>
            <p:nvPr/>
          </p:nvSpPr>
          <p:spPr bwMode="auto">
            <a:xfrm>
              <a:off x="4128" y="1776"/>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68010" name="Rectangle 74"/>
            <p:cNvSpPr>
              <a:spLocks noChangeArrowheads="1"/>
            </p:cNvSpPr>
            <p:nvPr/>
          </p:nvSpPr>
          <p:spPr bwMode="auto">
            <a:xfrm>
              <a:off x="4128" y="1200"/>
              <a:ext cx="1056" cy="576"/>
            </a:xfrm>
            <a:prstGeom prst="rect">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sp>
          <p:nvSpPr>
            <p:cNvPr id="168011" name="Text Box 75"/>
            <p:cNvSpPr txBox="1">
              <a:spLocks noChangeArrowheads="1"/>
            </p:cNvSpPr>
            <p:nvPr/>
          </p:nvSpPr>
          <p:spPr bwMode="auto">
            <a:xfrm>
              <a:off x="4128" y="1344"/>
              <a:ext cx="100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457200">
                <a:spcBef>
                  <a:spcPct val="50000"/>
                </a:spcBef>
                <a:defRPr/>
              </a:pPr>
              <a:r>
                <a:rPr lang="zh-CN" altLang="en-US" sz="1800" b="1">
                  <a:solidFill>
                    <a:prstClr val="black"/>
                  </a:solidFill>
                  <a:latin typeface="Arial" panose="020B0604020202020204"/>
                  <a:ea typeface="黑体" panose="02010609060101010101" pitchFamily="2" charset="-122"/>
                </a:rPr>
                <a:t>用户栈</a:t>
              </a:r>
              <a:endParaRPr lang="zh-CN" altLang="en-US" sz="1800" b="1">
                <a:solidFill>
                  <a:prstClr val="black"/>
                </a:solidFill>
                <a:latin typeface="Arial" panose="020B0604020202020204"/>
                <a:ea typeface="黑体" panose="02010609060101010101" pitchFamily="2" charset="-122"/>
              </a:endParaRPr>
            </a:p>
          </p:txBody>
        </p:sp>
        <p:sp>
          <p:nvSpPr>
            <p:cNvPr id="168012" name="Rectangle 76"/>
            <p:cNvSpPr>
              <a:spLocks noChangeArrowheads="1"/>
            </p:cNvSpPr>
            <p:nvPr/>
          </p:nvSpPr>
          <p:spPr bwMode="auto">
            <a:xfrm>
              <a:off x="4128" y="768"/>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sz="100">
                <a:solidFill>
                  <a:prstClr val="black"/>
                </a:solidFill>
                <a:latin typeface="Arial" panose="020B0604020202020204"/>
                <a:ea typeface="黑体" panose="02010609060101010101" pitchFamily="2" charset="-122"/>
              </a:endParaRPr>
            </a:p>
          </p:txBody>
        </p:sp>
      </p:grpSp>
      <p:grpSp>
        <p:nvGrpSpPr>
          <p:cNvPr id="168018" name="Group 82"/>
          <p:cNvGrpSpPr/>
          <p:nvPr/>
        </p:nvGrpSpPr>
        <p:grpSpPr bwMode="auto">
          <a:xfrm>
            <a:off x="1113235" y="3411538"/>
            <a:ext cx="3086100" cy="865584"/>
            <a:chOff x="624" y="2064"/>
            <a:chExt cx="2592" cy="727"/>
          </a:xfrm>
        </p:grpSpPr>
        <p:sp>
          <p:nvSpPr>
            <p:cNvPr id="168014" name="Rectangle 78"/>
            <p:cNvSpPr>
              <a:spLocks noChangeArrowheads="1"/>
            </p:cNvSpPr>
            <p:nvPr/>
          </p:nvSpPr>
          <p:spPr bwMode="auto">
            <a:xfrm>
              <a:off x="624" y="2064"/>
              <a:ext cx="2592" cy="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dirty="0">
                  <a:solidFill>
                    <a:prstClr val="black"/>
                  </a:solidFill>
                  <a:latin typeface="微软雅黑" panose="020B0503020204020204" charset="-122"/>
                  <a:ea typeface="微软雅黑" panose="020B0503020204020204" charset="-122"/>
                </a:rPr>
                <a:t>每个执行序列需有两个栈</a:t>
              </a:r>
              <a:r>
                <a:rPr lang="en-US" altLang="zh-CN" sz="1800" b="1" dirty="0">
                  <a:solidFill>
                    <a:prstClr val="black"/>
                  </a:solidFill>
                  <a:latin typeface="微软雅黑" panose="020B0503020204020204" charset="-122"/>
                  <a:ea typeface="微软雅黑" panose="020B0503020204020204" charset="-122"/>
                </a:rPr>
                <a:t>: </a:t>
              </a:r>
              <a:r>
                <a:rPr lang="zh-CN" altLang="en-US" sz="1800" b="1" dirty="0">
                  <a:solidFill>
                    <a:prstClr val="black"/>
                  </a:solidFill>
                  <a:latin typeface="微软雅黑" panose="020B0503020204020204" charset="-122"/>
                  <a:ea typeface="微软雅黑" panose="020B0503020204020204" charset="-122"/>
                </a:rPr>
                <a:t>用户栈</a:t>
              </a:r>
              <a:r>
                <a:rPr lang="en-US" altLang="zh-CN" sz="1800" b="1" dirty="0">
                  <a:solidFill>
                    <a:prstClr val="black"/>
                  </a:solidFill>
                  <a:latin typeface="微软雅黑" panose="020B0503020204020204" charset="-122"/>
                  <a:ea typeface="微软雅黑" panose="020B0503020204020204" charset="-122"/>
                </a:rPr>
                <a:t>+</a:t>
              </a:r>
              <a:r>
                <a:rPr lang="zh-CN" altLang="en-US" sz="1800" b="1" dirty="0">
                  <a:solidFill>
                    <a:prstClr val="black"/>
                  </a:solidFill>
                  <a:latin typeface="微软雅黑" panose="020B0503020204020204" charset="-122"/>
                  <a:ea typeface="微软雅黑" panose="020B0503020204020204" charset="-122"/>
                </a:rPr>
                <a:t>内核栈</a:t>
              </a:r>
              <a:endParaRPr lang="zh-CN" altLang="en-US" sz="1800" b="1" dirty="0">
                <a:solidFill>
                  <a:prstClr val="black"/>
                </a:solidFill>
                <a:latin typeface="微软雅黑" panose="020B0503020204020204" charset="-122"/>
                <a:ea typeface="微软雅黑" panose="020B0503020204020204" charset="-122"/>
              </a:endParaRPr>
            </a:p>
          </p:txBody>
        </p:sp>
        <p:pic>
          <p:nvPicPr>
            <p:cNvPr id="168015" name="Picture 7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9" y="2213"/>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8020" name="Group 84"/>
          <p:cNvGrpSpPr/>
          <p:nvPr/>
        </p:nvGrpSpPr>
        <p:grpSpPr bwMode="auto">
          <a:xfrm>
            <a:off x="1113235" y="4290219"/>
            <a:ext cx="3886200" cy="976313"/>
            <a:chOff x="624" y="2802"/>
            <a:chExt cx="3264" cy="820"/>
          </a:xfrm>
        </p:grpSpPr>
        <p:sp>
          <p:nvSpPr>
            <p:cNvPr id="167973" name="Rectangle 37"/>
            <p:cNvSpPr>
              <a:spLocks noChangeArrowheads="1"/>
            </p:cNvSpPr>
            <p:nvPr/>
          </p:nvSpPr>
          <p:spPr bwMode="auto">
            <a:xfrm>
              <a:off x="624" y="2802"/>
              <a:ext cx="3264"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a:solidFill>
                    <a:prstClr val="black"/>
                  </a:solidFill>
                  <a:latin typeface="微软雅黑" panose="020B0503020204020204" charset="-122"/>
                  <a:ea typeface="微软雅黑" panose="020B0503020204020204" charset="-122"/>
                </a:rPr>
                <a:t>用户栈：</a:t>
              </a:r>
              <a:r>
                <a:rPr lang="zh-CN" altLang="en-US" sz="1800" b="1">
                  <a:solidFill>
                    <a:srgbClr val="FF0000"/>
                  </a:solidFill>
                  <a:latin typeface="微软雅黑" panose="020B0503020204020204" charset="-122"/>
                  <a:ea typeface="微软雅黑" panose="020B0503020204020204" charset="-122"/>
                </a:rPr>
                <a:t>普通的函数调用</a:t>
              </a:r>
              <a:endParaRPr lang="zh-CN" altLang="en-US" sz="1800" b="1">
                <a:solidFill>
                  <a:srgbClr val="FF0000"/>
                </a:solidFill>
                <a:latin typeface="微软雅黑" panose="020B0503020204020204" charset="-122"/>
                <a:ea typeface="微软雅黑" panose="020B0503020204020204" charset="-122"/>
              </a:endParaRPr>
            </a:p>
          </p:txBody>
        </p:sp>
        <p:sp>
          <p:nvSpPr>
            <p:cNvPr id="167976" name="Rectangle 40"/>
            <p:cNvSpPr>
              <a:spLocks noChangeArrowheads="1"/>
            </p:cNvSpPr>
            <p:nvPr/>
          </p:nvSpPr>
          <p:spPr bwMode="auto">
            <a:xfrm>
              <a:off x="624" y="3220"/>
              <a:ext cx="3120"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1800" b="1">
                  <a:solidFill>
                    <a:prstClr val="black"/>
                  </a:solidFill>
                  <a:latin typeface="微软雅黑" panose="020B0503020204020204" charset="-122"/>
                  <a:ea typeface="微软雅黑" panose="020B0503020204020204" charset="-122"/>
                </a:rPr>
                <a:t>内核栈：</a:t>
              </a:r>
              <a:r>
                <a:rPr lang="zh-CN" altLang="en-US" sz="1800" b="1">
                  <a:solidFill>
                    <a:srgbClr val="FF0000"/>
                  </a:solidFill>
                  <a:latin typeface="微软雅黑" panose="020B0503020204020204" charset="-122"/>
                  <a:ea typeface="微软雅黑" panose="020B0503020204020204" charset="-122"/>
                </a:rPr>
                <a:t>系统调用、中断处理</a:t>
              </a:r>
              <a:endParaRPr lang="zh-CN" altLang="en-US" sz="1800" b="1">
                <a:solidFill>
                  <a:srgbClr val="FF0000"/>
                </a:solidFill>
                <a:latin typeface="微软雅黑" panose="020B0503020204020204" charset="-122"/>
                <a:ea typeface="微软雅黑" panose="020B0503020204020204" charset="-122"/>
              </a:endParaRPr>
            </a:p>
          </p:txBody>
        </p:sp>
        <p:pic>
          <p:nvPicPr>
            <p:cNvPr id="168016" name="Picture 8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 y="2970"/>
              <a:ext cx="129" cy="121"/>
            </a:xfrm>
            <a:prstGeom prst="rect">
              <a:avLst/>
            </a:prstGeom>
            <a:noFill/>
            <a:extLst>
              <a:ext uri="{909E8E84-426E-40DD-AFC4-6F175D3DCCD1}">
                <a14:hiddenFill xmlns:a14="http://schemas.microsoft.com/office/drawing/2010/main">
                  <a:solidFill>
                    <a:srgbClr val="FFFFFF"/>
                  </a:solidFill>
                </a14:hiddenFill>
              </a:ext>
            </a:extLst>
          </p:spPr>
        </p:pic>
        <p:pic>
          <p:nvPicPr>
            <p:cNvPr id="168017" name="Picture 8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 y="3395"/>
              <a:ext cx="129" cy="12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7967"/>
                                        </p:tgtEl>
                                        <p:attrNameLst>
                                          <p:attrName>style.visibility</p:attrName>
                                        </p:attrNameLst>
                                      </p:cBhvr>
                                      <p:to>
                                        <p:strVal val="visible"/>
                                      </p:to>
                                    </p:set>
                                    <p:animEffect transition="in" filter="dissolve">
                                      <p:cBhvr>
                                        <p:cTn id="7" dur="500"/>
                                        <p:tgtEl>
                                          <p:spTgt spid="1679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7968"/>
                                        </p:tgtEl>
                                        <p:attrNameLst>
                                          <p:attrName>style.visibility</p:attrName>
                                        </p:attrNameLst>
                                      </p:cBhvr>
                                      <p:to>
                                        <p:strVal val="visible"/>
                                      </p:to>
                                    </p:set>
                                    <p:animEffect transition="in" filter="dissolve">
                                      <p:cBhvr>
                                        <p:cTn id="12" dur="500"/>
                                        <p:tgtEl>
                                          <p:spTgt spid="16796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8018"/>
                                        </p:tgtEl>
                                        <p:attrNameLst>
                                          <p:attrName>style.visibility</p:attrName>
                                        </p:attrNameLst>
                                      </p:cBhvr>
                                      <p:to>
                                        <p:strVal val="visible"/>
                                      </p:to>
                                    </p:set>
                                    <p:animEffect transition="in" filter="dissolve">
                                      <p:cBhvr>
                                        <p:cTn id="17" dur="500"/>
                                        <p:tgtEl>
                                          <p:spTgt spid="1680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8020"/>
                                        </p:tgtEl>
                                        <p:attrNameLst>
                                          <p:attrName>style.visibility</p:attrName>
                                        </p:attrNameLst>
                                      </p:cBhvr>
                                      <p:to>
                                        <p:strVal val="visible"/>
                                      </p:to>
                                    </p:set>
                                    <p:animEffect transition="in" filter="dissolve">
                                      <p:cBhvr>
                                        <p:cTn id="22" dur="500"/>
                                        <p:tgtEl>
                                          <p:spTgt spid="1680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7998"/>
                                        </p:tgtEl>
                                        <p:attrNameLst>
                                          <p:attrName>style.visibility</p:attrName>
                                        </p:attrNameLst>
                                      </p:cBhvr>
                                      <p:to>
                                        <p:strVal val="visible"/>
                                      </p:to>
                                    </p:set>
                                    <p:animEffect transition="in" filter="dissolve">
                                      <p:cBhvr>
                                        <p:cTn id="27" dur="500"/>
                                        <p:tgtEl>
                                          <p:spTgt spid="167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67" grpId="0" bldLvl="0" animBg="1"/>
      <p:bldP spid="167968" grpId="0" bldLvl="0" animBg="1"/>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3"/>
          <p:cNvSpPr>
            <a:spLocks noGrp="1" noChangeArrowheads="1"/>
          </p:cNvSpPr>
          <p:nvPr>
            <p:ph type="body" idx="1"/>
          </p:nvPr>
        </p:nvSpPr>
        <p:spPr>
          <a:xfrm>
            <a:off x="944879" y="2038809"/>
            <a:ext cx="7127240" cy="3767769"/>
          </a:xfrm>
          <a:noFill/>
          <a:ln>
            <a:solidFill>
              <a:srgbClr val="FF0000"/>
            </a:solidFill>
            <a:miter lim="800000"/>
          </a:ln>
        </p:spPr>
        <p:txBody>
          <a:bodyPr/>
          <a:lstStyle/>
          <a:p>
            <a:pPr>
              <a:lnSpc>
                <a:spcPct val="130000"/>
              </a:lnSpc>
            </a:pPr>
            <a:r>
              <a:rPr lang="zh-CN" altLang="en-US" dirty="0">
                <a:solidFill>
                  <a:srgbClr val="000000"/>
                </a:solidFill>
                <a:latin typeface="微软雅黑" panose="020B0503020204020204" charset="-122"/>
                <a:ea typeface="微软雅黑" panose="020B0503020204020204" charset="-122"/>
              </a:rPr>
              <a:t>例:进程</a:t>
            </a:r>
            <a:r>
              <a:rPr lang="en-US" altLang="zh-CN" dirty="0">
                <a:solidFill>
                  <a:srgbClr val="000000"/>
                </a:solidFill>
                <a:latin typeface="微软雅黑" panose="020B0503020204020204" charset="-122"/>
                <a:ea typeface="微软雅黑" panose="020B0503020204020204" charset="-122"/>
              </a:rPr>
              <a:t>A</a:t>
            </a:r>
            <a:r>
              <a:rPr lang="zh-CN" altLang="en-US" dirty="0">
                <a:solidFill>
                  <a:srgbClr val="000000"/>
                </a:solidFill>
                <a:latin typeface="微软雅黑" panose="020B0503020204020204" charset="-122"/>
                <a:ea typeface="微软雅黑" panose="020B0503020204020204" charset="-122"/>
              </a:rPr>
              <a:t>包含了1个用户级线程，进程</a:t>
            </a:r>
            <a:r>
              <a:rPr lang="en-US" altLang="zh-CN" dirty="0">
                <a:solidFill>
                  <a:srgbClr val="000000"/>
                </a:solidFill>
                <a:latin typeface="微软雅黑" panose="020B0503020204020204" charset="-122"/>
                <a:ea typeface="微软雅黑" panose="020B0503020204020204" charset="-122"/>
              </a:rPr>
              <a:t>B</a:t>
            </a:r>
            <a:r>
              <a:rPr lang="zh-CN" altLang="en-US" dirty="0">
                <a:solidFill>
                  <a:srgbClr val="000000"/>
                </a:solidFill>
                <a:latin typeface="微软雅黑" panose="020B0503020204020204" charset="-122"/>
                <a:ea typeface="微软雅黑" panose="020B0503020204020204" charset="-122"/>
              </a:rPr>
              <a:t>包含了100个用户级线程，进程</a:t>
            </a:r>
            <a:r>
              <a:rPr lang="en-US" altLang="zh-CN" dirty="0">
                <a:solidFill>
                  <a:srgbClr val="000000"/>
                </a:solidFill>
                <a:latin typeface="微软雅黑" panose="020B0503020204020204" charset="-122"/>
                <a:ea typeface="微软雅黑" panose="020B0503020204020204" charset="-122"/>
              </a:rPr>
              <a:t>A</a:t>
            </a:r>
            <a:r>
              <a:rPr lang="zh-CN" altLang="en-US" dirty="0">
                <a:solidFill>
                  <a:srgbClr val="000000"/>
                </a:solidFill>
                <a:latin typeface="微软雅黑" panose="020B0503020204020204" charset="-122"/>
                <a:ea typeface="微软雅黑" panose="020B0503020204020204" charset="-122"/>
              </a:rPr>
              <a:t>中线程运行的时间和进程</a:t>
            </a:r>
            <a:r>
              <a:rPr lang="en-US" altLang="zh-CN" dirty="0">
                <a:solidFill>
                  <a:srgbClr val="000000"/>
                </a:solidFill>
                <a:latin typeface="微软雅黑" panose="020B0503020204020204" charset="-122"/>
                <a:ea typeface="微软雅黑" panose="020B0503020204020204" charset="-122"/>
              </a:rPr>
              <a:t>B</a:t>
            </a:r>
            <a:r>
              <a:rPr lang="zh-CN" altLang="en-US" dirty="0">
                <a:solidFill>
                  <a:srgbClr val="000000"/>
                </a:solidFill>
                <a:latin typeface="微软雅黑" panose="020B0503020204020204" charset="-122"/>
                <a:ea typeface="微软雅黑" panose="020B0503020204020204" charset="-122"/>
              </a:rPr>
              <a:t>中各线程的运行时间是否一样？</a:t>
            </a:r>
            <a:endParaRPr lang="en-US" altLang="zh-CN" dirty="0">
              <a:solidFill>
                <a:srgbClr val="000000"/>
              </a:solidFill>
              <a:latin typeface="微软雅黑" panose="020B0503020204020204" charset="-122"/>
              <a:ea typeface="微软雅黑" panose="020B0503020204020204" charset="-122"/>
            </a:endParaRPr>
          </a:p>
          <a:p>
            <a:pPr marL="379730" lvl="2" indent="0">
              <a:lnSpc>
                <a:spcPct val="130000"/>
              </a:lnSpc>
              <a:buNone/>
            </a:pPr>
            <a:r>
              <a:rPr lang="zh-CN" altLang="en-US" sz="1800" dirty="0">
                <a:solidFill>
                  <a:srgbClr val="0070C0"/>
                </a:solidFill>
                <a:latin typeface="微软雅黑" panose="020B0503020204020204" charset="-122"/>
                <a:ea typeface="微软雅黑" panose="020B0503020204020204" charset="-122"/>
              </a:rPr>
              <a:t>不一样，进程</a:t>
            </a:r>
            <a:r>
              <a:rPr lang="en-US" altLang="zh-CN" sz="1800" dirty="0">
                <a:solidFill>
                  <a:srgbClr val="0070C0"/>
                </a:solidFill>
                <a:latin typeface="微软雅黑" panose="020B0503020204020204" charset="-122"/>
                <a:ea typeface="微软雅黑" panose="020B0503020204020204" charset="-122"/>
              </a:rPr>
              <a:t>A</a:t>
            </a:r>
            <a:r>
              <a:rPr lang="zh-CN" altLang="en-US" sz="1800" dirty="0">
                <a:solidFill>
                  <a:srgbClr val="0070C0"/>
                </a:solidFill>
                <a:latin typeface="微软雅黑" panose="020B0503020204020204" charset="-122"/>
                <a:ea typeface="微软雅黑" panose="020B0503020204020204" charset="-122"/>
              </a:rPr>
              <a:t>中线程运行的时间是进程</a:t>
            </a:r>
            <a:r>
              <a:rPr lang="en-US" altLang="zh-CN" sz="1800" dirty="0">
                <a:solidFill>
                  <a:srgbClr val="0070C0"/>
                </a:solidFill>
                <a:latin typeface="微软雅黑" panose="020B0503020204020204" charset="-122"/>
                <a:ea typeface="微软雅黑" panose="020B0503020204020204" charset="-122"/>
              </a:rPr>
              <a:t>B</a:t>
            </a:r>
            <a:r>
              <a:rPr lang="zh-CN" altLang="en-US" sz="1800" dirty="0">
                <a:solidFill>
                  <a:srgbClr val="0070C0"/>
                </a:solidFill>
                <a:latin typeface="微软雅黑" panose="020B0503020204020204" charset="-122"/>
                <a:ea typeface="微软雅黑" panose="020B0503020204020204" charset="-122"/>
              </a:rPr>
              <a:t>中各线程的100倍</a:t>
            </a:r>
            <a:endParaRPr lang="en-US" altLang="zh-CN" sz="1800" dirty="0">
              <a:solidFill>
                <a:srgbClr val="0070C0"/>
              </a:solidFill>
              <a:latin typeface="微软雅黑" panose="020B0503020204020204" charset="-122"/>
              <a:ea typeface="微软雅黑" panose="020B0503020204020204" charset="-122"/>
            </a:endParaRPr>
          </a:p>
          <a:p>
            <a:pPr>
              <a:lnSpc>
                <a:spcPct val="130000"/>
              </a:lnSpc>
            </a:pPr>
            <a:r>
              <a:rPr lang="zh-CN" altLang="en-US" dirty="0">
                <a:latin typeface="微软雅黑" panose="020B0503020204020204" charset="-122"/>
                <a:ea typeface="微软雅黑" panose="020B0503020204020204" charset="-122"/>
              </a:rPr>
              <a:t>若</a:t>
            </a:r>
            <a:r>
              <a:rPr lang="zh-CN" altLang="en-US" dirty="0">
                <a:solidFill>
                  <a:srgbClr val="000000"/>
                </a:solidFill>
                <a:latin typeface="微软雅黑" panose="020B0503020204020204" charset="-122"/>
                <a:ea typeface="微软雅黑" panose="020B0503020204020204" charset="-122"/>
              </a:rPr>
              <a:t>进程</a:t>
            </a:r>
            <a:r>
              <a:rPr lang="en-US" altLang="zh-CN" dirty="0">
                <a:solidFill>
                  <a:srgbClr val="000000"/>
                </a:solidFill>
                <a:latin typeface="微软雅黑" panose="020B0503020204020204" charset="-122"/>
                <a:ea typeface="微软雅黑" panose="020B0503020204020204" charset="-122"/>
              </a:rPr>
              <a:t>A</a:t>
            </a:r>
            <a:r>
              <a:rPr lang="zh-CN" altLang="en-US" dirty="0">
                <a:solidFill>
                  <a:srgbClr val="000000"/>
                </a:solidFill>
                <a:latin typeface="微软雅黑" panose="020B0503020204020204" charset="-122"/>
                <a:ea typeface="微软雅黑" panose="020B0503020204020204" charset="-122"/>
              </a:rPr>
              <a:t>和进程</a:t>
            </a:r>
            <a:r>
              <a:rPr lang="en-US" altLang="zh-CN" dirty="0">
                <a:solidFill>
                  <a:srgbClr val="000000"/>
                </a:solidFill>
                <a:latin typeface="微软雅黑" panose="020B0503020204020204" charset="-122"/>
                <a:ea typeface="微软雅黑" panose="020B0503020204020204" charset="-122"/>
              </a:rPr>
              <a:t>B</a:t>
            </a:r>
            <a:r>
              <a:rPr lang="zh-CN" altLang="en-US" dirty="0">
                <a:solidFill>
                  <a:srgbClr val="000000"/>
                </a:solidFill>
                <a:latin typeface="微软雅黑" panose="020B0503020204020204" charset="-122"/>
                <a:ea typeface="微软雅黑" panose="020B0503020204020204" charset="-122"/>
              </a:rPr>
              <a:t>中的线程都是内核支持线程，两者的运行时间是否一样？</a:t>
            </a:r>
            <a:endParaRPr lang="zh-CN" altLang="en-US" dirty="0">
              <a:solidFill>
                <a:srgbClr val="0070C0"/>
              </a:solidFill>
              <a:latin typeface="微软雅黑" panose="020B0503020204020204" charset="-122"/>
              <a:ea typeface="微软雅黑" panose="020B0503020204020204" charset="-122"/>
            </a:endParaRPr>
          </a:p>
          <a:p>
            <a:pPr marL="379730" lvl="2" indent="0">
              <a:lnSpc>
                <a:spcPct val="130000"/>
              </a:lnSpc>
              <a:buNone/>
            </a:pPr>
            <a:r>
              <a:rPr lang="zh-CN" altLang="en-US" dirty="0">
                <a:solidFill>
                  <a:srgbClr val="000000"/>
                </a:solidFill>
                <a:latin typeface="微软雅黑" panose="020B0503020204020204" charset="-122"/>
                <a:ea typeface="微软雅黑" panose="020B0503020204020204" charset="-122"/>
              </a:rPr>
              <a:t>  </a:t>
            </a:r>
            <a:r>
              <a:rPr lang="zh-CN" altLang="en-US" sz="1800" dirty="0">
                <a:solidFill>
                  <a:srgbClr val="0070C0"/>
                </a:solidFill>
                <a:latin typeface="微软雅黑" panose="020B0503020204020204" charset="-122"/>
                <a:ea typeface="微软雅黑" panose="020B0503020204020204" charset="-122"/>
              </a:rPr>
              <a:t>若进程</a:t>
            </a:r>
            <a:r>
              <a:rPr lang="en-US" altLang="zh-CN" sz="1800" dirty="0">
                <a:solidFill>
                  <a:srgbClr val="0070C0"/>
                </a:solidFill>
                <a:latin typeface="微软雅黑" panose="020B0503020204020204" charset="-122"/>
                <a:ea typeface="微软雅黑" panose="020B0503020204020204" charset="-122"/>
              </a:rPr>
              <a:t>A</a:t>
            </a:r>
            <a:r>
              <a:rPr lang="zh-CN" altLang="en-US" sz="1800" dirty="0">
                <a:solidFill>
                  <a:srgbClr val="0070C0"/>
                </a:solidFill>
                <a:latin typeface="微软雅黑" panose="020B0503020204020204" charset="-122"/>
                <a:ea typeface="微软雅黑" panose="020B0503020204020204" charset="-122"/>
              </a:rPr>
              <a:t>和进程</a:t>
            </a:r>
            <a:r>
              <a:rPr lang="en-US" altLang="zh-CN" sz="1800" dirty="0">
                <a:solidFill>
                  <a:srgbClr val="0070C0"/>
                </a:solidFill>
                <a:latin typeface="微软雅黑" panose="020B0503020204020204" charset="-122"/>
                <a:ea typeface="微软雅黑" panose="020B0503020204020204" charset="-122"/>
              </a:rPr>
              <a:t>B</a:t>
            </a:r>
            <a:r>
              <a:rPr lang="zh-CN" altLang="en-US" sz="1800" dirty="0">
                <a:solidFill>
                  <a:srgbClr val="0070C0"/>
                </a:solidFill>
                <a:latin typeface="微软雅黑" panose="020B0503020204020204" charset="-122"/>
                <a:ea typeface="微软雅黑" panose="020B0503020204020204" charset="-122"/>
              </a:rPr>
              <a:t>中的线程都是内核支持线程,则调度是以线程为单位进行。进程</a:t>
            </a:r>
            <a:r>
              <a:rPr lang="en-US" altLang="zh-CN" sz="1800" dirty="0">
                <a:solidFill>
                  <a:srgbClr val="0070C0"/>
                </a:solidFill>
                <a:latin typeface="微软雅黑" panose="020B0503020204020204" charset="-122"/>
                <a:ea typeface="微软雅黑" panose="020B0503020204020204" charset="-122"/>
              </a:rPr>
              <a:t>B</a:t>
            </a:r>
            <a:r>
              <a:rPr lang="zh-CN" altLang="en-US" sz="1800" dirty="0">
                <a:solidFill>
                  <a:srgbClr val="0070C0"/>
                </a:solidFill>
                <a:latin typeface="微软雅黑" panose="020B0503020204020204" charset="-122"/>
                <a:ea typeface="微软雅黑" panose="020B0503020204020204" charset="-122"/>
              </a:rPr>
              <a:t>获得</a:t>
            </a:r>
            <a:r>
              <a:rPr lang="en-US" altLang="zh-CN" sz="1800" dirty="0">
                <a:solidFill>
                  <a:srgbClr val="0070C0"/>
                </a:solidFill>
                <a:latin typeface="微软雅黑" panose="020B0503020204020204" charset="-122"/>
                <a:ea typeface="微软雅黑" panose="020B0503020204020204" charset="-122"/>
              </a:rPr>
              <a:t>CPU</a:t>
            </a:r>
            <a:r>
              <a:rPr lang="zh-CN" altLang="en-US" sz="1800" dirty="0">
                <a:solidFill>
                  <a:srgbClr val="0070C0"/>
                </a:solidFill>
                <a:latin typeface="微软雅黑" panose="020B0503020204020204" charset="-122"/>
                <a:ea typeface="微软雅黑" panose="020B0503020204020204" charset="-122"/>
              </a:rPr>
              <a:t>的时间是进程</a:t>
            </a:r>
            <a:r>
              <a:rPr lang="en-US" altLang="zh-CN" sz="1800" dirty="0">
                <a:solidFill>
                  <a:srgbClr val="0070C0"/>
                </a:solidFill>
                <a:latin typeface="微软雅黑" panose="020B0503020204020204" charset="-122"/>
                <a:ea typeface="微软雅黑" panose="020B0503020204020204" charset="-122"/>
              </a:rPr>
              <a:t>A</a:t>
            </a:r>
            <a:r>
              <a:rPr lang="zh-CN" altLang="en-US" sz="1800" dirty="0">
                <a:solidFill>
                  <a:srgbClr val="0070C0"/>
                </a:solidFill>
                <a:latin typeface="微软雅黑" panose="020B0503020204020204" charset="-122"/>
                <a:ea typeface="微软雅黑" panose="020B0503020204020204" charset="-122"/>
              </a:rPr>
              <a:t>的100倍,两进程中的各线程获得相同的</a:t>
            </a:r>
            <a:r>
              <a:rPr lang="en-US" altLang="zh-CN" sz="1800" dirty="0">
                <a:solidFill>
                  <a:srgbClr val="0070C0"/>
                </a:solidFill>
                <a:latin typeface="微软雅黑" panose="020B0503020204020204" charset="-122"/>
                <a:ea typeface="微软雅黑" panose="020B0503020204020204" charset="-122"/>
              </a:rPr>
              <a:t>CPU</a:t>
            </a:r>
            <a:r>
              <a:rPr lang="zh-CN" altLang="en-US" sz="1800" dirty="0" smtClean="0">
                <a:solidFill>
                  <a:srgbClr val="0070C0"/>
                </a:solidFill>
                <a:latin typeface="微软雅黑" panose="020B0503020204020204" charset="-122"/>
                <a:ea typeface="微软雅黑" panose="020B0503020204020204" charset="-122"/>
              </a:rPr>
              <a:t>时间</a:t>
            </a:r>
            <a:endParaRPr lang="en-US" altLang="zh-CN" sz="1800" dirty="0">
              <a:solidFill>
                <a:srgbClr val="0070C0"/>
              </a:solidFill>
              <a:latin typeface="微软雅黑" panose="020B0503020204020204" charset="-122"/>
              <a:ea typeface="微软雅黑" panose="020B0503020204020204" charset="-122"/>
            </a:endParaRPr>
          </a:p>
          <a:p>
            <a:pPr>
              <a:lnSpc>
                <a:spcPct val="90000"/>
              </a:lnSpc>
              <a:buFont typeface="Wingdings" panose="05000000000000000000" pitchFamily="2" charset="2"/>
              <a:buNone/>
            </a:pPr>
            <a:endParaRPr lang="zh-CN" altLang="en-US" dirty="0">
              <a:solidFill>
                <a:srgbClr val="000000"/>
              </a:solidFill>
              <a:latin typeface="微软雅黑" panose="020B0503020204020204" charset="-122"/>
              <a:ea typeface="微软雅黑" panose="020B0503020204020204" charset="-122"/>
            </a:endParaRPr>
          </a:p>
        </p:txBody>
      </p:sp>
      <p:sp>
        <p:nvSpPr>
          <p:cNvPr id="3" name="Rectangle 2"/>
          <p:cNvSpPr>
            <a:spLocks noGrp="1" noRot="1" noChangeArrowheads="1"/>
          </p:cNvSpPr>
          <p:nvPr>
            <p:ph type="title"/>
          </p:nvPr>
        </p:nvSpPr>
        <p:spPr>
          <a:xfrm>
            <a:off x="1749840" y="1194284"/>
            <a:ext cx="5768578" cy="517922"/>
          </a:xfrm>
          <a:noFill/>
        </p:spPr>
        <p:txBody>
          <a:bodyPr/>
          <a:lstStyle/>
          <a:p>
            <a:r>
              <a:rPr lang="zh-CN" altLang="en-US" b="1" dirty="0">
                <a:latin typeface="+mj-ea"/>
                <a:ea typeface="+mj-ea"/>
              </a:rPr>
              <a:t>课堂思考</a:t>
            </a:r>
            <a:endParaRPr lang="zh-CN" altLang="en-US" b="1" dirty="0">
              <a:latin typeface="+mj-ea"/>
              <a:ea typeface="+mj-ea"/>
            </a:endParaRPr>
          </a:p>
        </p:txBody>
      </p:sp>
      <p:sp>
        <p:nvSpPr>
          <p:cNvPr id="2" name="矩形 1"/>
          <p:cNvSpPr/>
          <p:nvPr/>
        </p:nvSpPr>
        <p:spPr>
          <a:xfrm>
            <a:off x="2696378" y="1194284"/>
            <a:ext cx="5210383" cy="837565"/>
          </a:xfrm>
          <a:prstGeom prst="rect">
            <a:avLst/>
          </a:prstGeom>
          <a:solidFill>
            <a:srgbClr val="FFC000"/>
          </a:solidFill>
        </p:spPr>
        <p:txBody>
          <a:bodyPr wrap="square">
            <a:spAutoFit/>
          </a:bodyPr>
          <a:lstStyle/>
          <a:p>
            <a:pPr>
              <a:lnSpc>
                <a:spcPct val="90000"/>
              </a:lnSpc>
              <a:defRPr/>
            </a:pPr>
            <a:r>
              <a:rPr lang="zh-CN" altLang="en-US" sz="1800" dirty="0">
                <a:solidFill>
                  <a:srgbClr val="000000"/>
                </a:solidFill>
                <a:latin typeface="微软雅黑" panose="020B0503020204020204" charset="-122"/>
                <a:ea typeface="微软雅黑" panose="020B0503020204020204" charset="-122"/>
              </a:rPr>
              <a:t>对于设置了用户级线程的系统,其调度仍是以</a:t>
            </a:r>
            <a:r>
              <a:rPr lang="zh-CN" altLang="en-US" sz="1800" dirty="0">
                <a:solidFill>
                  <a:srgbClr val="C00000"/>
                </a:solidFill>
                <a:latin typeface="微软雅黑" panose="020B0503020204020204" charset="-122"/>
                <a:ea typeface="微软雅黑" panose="020B0503020204020204" charset="-122"/>
              </a:rPr>
              <a:t>进程</a:t>
            </a:r>
            <a:r>
              <a:rPr lang="zh-CN" altLang="en-US" sz="1800" dirty="0">
                <a:solidFill>
                  <a:srgbClr val="000000"/>
                </a:solidFill>
                <a:latin typeface="微软雅黑" panose="020B0503020204020204" charset="-122"/>
                <a:ea typeface="微软雅黑" panose="020B0503020204020204" charset="-122"/>
              </a:rPr>
              <a:t>为单位进行,在采用</a:t>
            </a:r>
            <a:r>
              <a:rPr lang="zh-CN" altLang="en-US" sz="1800" u="sng" dirty="0">
                <a:solidFill>
                  <a:srgbClr val="5E49F7"/>
                </a:solidFill>
                <a:latin typeface="微软雅黑" panose="020B0503020204020204" charset="-122"/>
                <a:ea typeface="微软雅黑" panose="020B0503020204020204" charset="-122"/>
              </a:rPr>
              <a:t>时间片轮转调度算法</a:t>
            </a:r>
            <a:r>
              <a:rPr lang="zh-CN" altLang="en-US" sz="1800" dirty="0">
                <a:solidFill>
                  <a:srgbClr val="000000"/>
                </a:solidFill>
                <a:latin typeface="微软雅黑" panose="020B0503020204020204" charset="-122"/>
                <a:ea typeface="微软雅黑" panose="020B0503020204020204" charset="-122"/>
              </a:rPr>
              <a:t>时,各进程间是公平的,但各进程的线程间是不公平的;</a:t>
            </a:r>
            <a:endParaRPr lang="zh-CN" altLang="en-US" sz="1800" dirty="0">
              <a:solidFill>
                <a:srgbClr val="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7922">
                                            <p:txEl>
                                              <p:pRg st="0" end="0"/>
                                            </p:txEl>
                                          </p:spTgt>
                                        </p:tgtEl>
                                        <p:attrNameLst>
                                          <p:attrName>style.visibility</p:attrName>
                                        </p:attrNameLst>
                                      </p:cBhvr>
                                      <p:to>
                                        <p:strVal val="visible"/>
                                      </p:to>
                                    </p:set>
                                    <p:animEffect transition="in" filter="wipe(down)">
                                      <p:cBhvr>
                                        <p:cTn id="7" dur="500"/>
                                        <p:tgtEl>
                                          <p:spTgt spid="3379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7922">
                                            <p:txEl>
                                              <p:pRg st="1" end="1"/>
                                            </p:txEl>
                                          </p:spTgt>
                                        </p:tgtEl>
                                        <p:attrNameLst>
                                          <p:attrName>style.visibility</p:attrName>
                                        </p:attrNameLst>
                                      </p:cBhvr>
                                      <p:to>
                                        <p:strVal val="visible"/>
                                      </p:to>
                                    </p:set>
                                    <p:animEffect transition="in" filter="wipe(down)">
                                      <p:cBhvr>
                                        <p:cTn id="12" dur="500"/>
                                        <p:tgtEl>
                                          <p:spTgt spid="3379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37922">
                                            <p:txEl>
                                              <p:pRg st="2" end="2"/>
                                            </p:txEl>
                                          </p:spTgt>
                                        </p:tgtEl>
                                        <p:attrNameLst>
                                          <p:attrName>style.visibility</p:attrName>
                                        </p:attrNameLst>
                                      </p:cBhvr>
                                      <p:to>
                                        <p:strVal val="visible"/>
                                      </p:to>
                                    </p:set>
                                    <p:animEffect transition="in" filter="wipe(down)">
                                      <p:cBhvr>
                                        <p:cTn id="22" dur="500"/>
                                        <p:tgtEl>
                                          <p:spTgt spid="33792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37922">
                                            <p:txEl>
                                              <p:pRg st="3" end="3"/>
                                            </p:txEl>
                                          </p:spTgt>
                                        </p:tgtEl>
                                        <p:attrNameLst>
                                          <p:attrName>style.visibility</p:attrName>
                                        </p:attrNameLst>
                                      </p:cBhvr>
                                      <p:to>
                                        <p:strVal val="visible"/>
                                      </p:to>
                                    </p:set>
                                    <p:animEffect transition="in" filter="wipe(down)">
                                      <p:cBhvr>
                                        <p:cTn id="27" dur="500"/>
                                        <p:tgtEl>
                                          <p:spTgt spid="3379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kumimoji="1" lang="en-US" altLang="zh-CN" dirty="0">
                <a:solidFill>
                  <a:schemeClr val="bg2">
                    <a:lumMod val="50000"/>
                  </a:schemeClr>
                </a:solidFill>
                <a:latin typeface="微软雅黑" panose="020B0503020204020204" charset="-122"/>
                <a:ea typeface="微软雅黑" panose="020B0503020204020204" charset="-122"/>
              </a:rPr>
              <a:t>3. </a:t>
            </a:r>
            <a:r>
              <a:rPr kumimoji="1" lang="zh-CN" altLang="en-US" dirty="0">
                <a:solidFill>
                  <a:schemeClr val="bg2">
                    <a:lumMod val="50000"/>
                  </a:schemeClr>
                </a:solidFill>
                <a:latin typeface="微软雅黑" panose="020B0503020204020204" charset="-122"/>
                <a:ea typeface="微软雅黑" panose="020B0503020204020204" charset="-122"/>
              </a:rPr>
              <a:t>组合方式（用户级线程和内核支持线程并存）</a:t>
            </a:r>
            <a:endParaRPr lang="zh-CN" altLang="en-US" sz="1350" dirty="0">
              <a:solidFill>
                <a:schemeClr val="bg2">
                  <a:lumMod val="50000"/>
                </a:schemeClr>
              </a:solidFill>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p:txBody>
      </p:sp>
      <p:pic>
        <p:nvPicPr>
          <p:cNvPr id="4" name="Picture 4" descr="4_6"/>
          <p:cNvPicPr>
            <a:picLocks noChangeAspect="1" noChangeArrowheads="1"/>
          </p:cNvPicPr>
          <p:nvPr/>
        </p:nvPicPr>
        <p:blipFill rotWithShape="1">
          <a:blip r:embed="rId1">
            <a:extLst>
              <a:ext uri="{28A0092B-C50C-407E-A947-70E740481C1C}">
                <a14:useLocalDpi xmlns:a14="http://schemas.microsoft.com/office/drawing/2010/main" val="0"/>
              </a:ext>
            </a:extLst>
          </a:blip>
          <a:srcRect b="17629"/>
          <a:stretch>
            <a:fillRect/>
          </a:stretch>
        </p:blipFill>
        <p:spPr bwMode="auto">
          <a:xfrm>
            <a:off x="1363683" y="2497300"/>
            <a:ext cx="6558587" cy="3158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2"/>
          <p:cNvSpPr>
            <a:spLocks noGrp="1"/>
          </p:cNvSpPr>
          <p:nvPr/>
        </p:nvSpPr>
        <p:spPr>
          <a:xfrm>
            <a:off x="6092594" y="1209256"/>
            <a:ext cx="3051406" cy="411956"/>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r>
              <a:rPr lang="en-US" altLang="zh-CN" sz="2100" dirty="0"/>
              <a:t>2.7.6  </a:t>
            </a:r>
            <a:r>
              <a:rPr lang="zh-CN" altLang="en-US" sz="2100" dirty="0"/>
              <a:t>线程的实现方式</a:t>
            </a:r>
            <a:endParaRPr lang="zh-CN" altLang="en-US" sz="2100" dirty="0"/>
          </a:p>
        </p:txBody>
      </p:sp>
      <p:sp>
        <p:nvSpPr>
          <p:cNvPr id="6" name="标题 1"/>
          <p:cNvSpPr txBox="1"/>
          <p:nvPr/>
        </p:nvSpPr>
        <p:spPr>
          <a:xfrm>
            <a:off x="1130555" y="1134363"/>
            <a:ext cx="322326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defTabSz="914400">
              <a:buFont typeface="Wingdings" panose="05000000000000000000" pitchFamily="2" charset="2"/>
              <a:buNone/>
            </a:pPr>
            <a:r>
              <a:rPr kumimoji="1" lang="en-US" altLang="zh-CN" dirty="0" smtClean="0">
                <a:solidFill>
                  <a:srgbClr val="242852"/>
                </a:solidFill>
                <a:cs typeface="+mn-cs"/>
              </a:rPr>
              <a:t>2.7 </a:t>
            </a:r>
            <a:r>
              <a:rPr kumimoji="1" lang="zh-CN" altLang="en-US" dirty="0" smtClean="0">
                <a:solidFill>
                  <a:srgbClr val="242852"/>
                </a:solidFill>
                <a:cs typeface="+mn-cs"/>
              </a:rPr>
              <a:t>线程与线程控制</a:t>
            </a:r>
            <a:endParaRPr kumimoji="1" lang="zh-CN" altLang="en-US" dirty="0">
              <a:solidFill>
                <a:srgbClr val="242852"/>
              </a:solidFill>
              <a:cs typeface="+mn-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zh-CN" altLang="en-US"/>
              <a:t>实现方案的对比</a:t>
            </a:r>
            <a:endParaRPr lang="zh-CN" altLang="en-US"/>
          </a:p>
        </p:txBody>
      </p:sp>
      <p:sp>
        <p:nvSpPr>
          <p:cNvPr id="169005" name="Line 45"/>
          <p:cNvSpPr>
            <a:spLocks noChangeShapeType="1"/>
          </p:cNvSpPr>
          <p:nvPr/>
        </p:nvSpPr>
        <p:spPr bwMode="auto">
          <a:xfrm>
            <a:off x="1560265" y="2342461"/>
            <a:ext cx="58293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6" name="Line 46"/>
          <p:cNvSpPr>
            <a:spLocks noChangeShapeType="1"/>
          </p:cNvSpPr>
          <p:nvPr/>
        </p:nvSpPr>
        <p:spPr bwMode="auto">
          <a:xfrm>
            <a:off x="2817565" y="1885261"/>
            <a:ext cx="0" cy="38290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7" name="Line 47"/>
          <p:cNvSpPr>
            <a:spLocks noChangeShapeType="1"/>
          </p:cNvSpPr>
          <p:nvPr/>
        </p:nvSpPr>
        <p:spPr bwMode="auto">
          <a:xfrm>
            <a:off x="4360615" y="1885261"/>
            <a:ext cx="0" cy="38290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8" name="Line 48"/>
          <p:cNvSpPr>
            <a:spLocks noChangeShapeType="1"/>
          </p:cNvSpPr>
          <p:nvPr/>
        </p:nvSpPr>
        <p:spPr bwMode="auto">
          <a:xfrm>
            <a:off x="5903665" y="1885261"/>
            <a:ext cx="0" cy="38290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0" name="Line 50"/>
          <p:cNvSpPr>
            <a:spLocks noChangeShapeType="1"/>
          </p:cNvSpPr>
          <p:nvPr/>
        </p:nvSpPr>
        <p:spPr bwMode="auto">
          <a:xfrm>
            <a:off x="1560265" y="5257111"/>
            <a:ext cx="58293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1" name="Line 51"/>
          <p:cNvSpPr>
            <a:spLocks noChangeShapeType="1"/>
          </p:cNvSpPr>
          <p:nvPr/>
        </p:nvSpPr>
        <p:spPr bwMode="auto">
          <a:xfrm>
            <a:off x="7389565" y="1885261"/>
            <a:ext cx="0" cy="38290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2" name="Line 52"/>
          <p:cNvSpPr>
            <a:spLocks noChangeShapeType="1"/>
          </p:cNvSpPr>
          <p:nvPr/>
        </p:nvSpPr>
        <p:spPr bwMode="auto">
          <a:xfrm>
            <a:off x="1560265" y="4342711"/>
            <a:ext cx="58293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3" name="Text Box 53"/>
          <p:cNvSpPr txBox="1">
            <a:spLocks noChangeArrowheads="1"/>
          </p:cNvSpPr>
          <p:nvPr/>
        </p:nvSpPr>
        <p:spPr bwMode="auto">
          <a:xfrm>
            <a:off x="2931865" y="1942411"/>
            <a:ext cx="14287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FF0000"/>
                </a:solidFill>
                <a:latin typeface="Arial" panose="020B0604020202020204"/>
                <a:ea typeface="黑体" panose="02010609060101010101" pitchFamily="2" charset="-122"/>
              </a:rPr>
              <a:t>用户级线程</a:t>
            </a:r>
            <a:endParaRPr lang="zh-CN" altLang="en-US" sz="1800" b="1">
              <a:solidFill>
                <a:srgbClr val="FF0000"/>
              </a:solidFill>
              <a:latin typeface="Arial" panose="020B0604020202020204"/>
              <a:ea typeface="黑体" panose="02010609060101010101" pitchFamily="2" charset="-122"/>
            </a:endParaRPr>
          </a:p>
        </p:txBody>
      </p:sp>
      <p:sp>
        <p:nvSpPr>
          <p:cNvPr id="169014" name="Text Box 54"/>
          <p:cNvSpPr txBox="1">
            <a:spLocks noChangeArrowheads="1"/>
          </p:cNvSpPr>
          <p:nvPr/>
        </p:nvSpPr>
        <p:spPr bwMode="auto">
          <a:xfrm>
            <a:off x="4360615" y="1942412"/>
            <a:ext cx="1616036"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1800" b="1" dirty="0">
                <a:solidFill>
                  <a:srgbClr val="FF0000"/>
                </a:solidFill>
                <a:latin typeface="Arial" panose="020B0604020202020204"/>
                <a:ea typeface="黑体" panose="02010609060101010101" pitchFamily="2" charset="-122"/>
              </a:rPr>
              <a:t>内核支持线程</a:t>
            </a:r>
            <a:endParaRPr lang="zh-CN" altLang="en-US" sz="1800" b="1" dirty="0">
              <a:solidFill>
                <a:srgbClr val="FF0000"/>
              </a:solidFill>
              <a:latin typeface="Arial" panose="020B0604020202020204"/>
              <a:ea typeface="黑体" panose="02010609060101010101" pitchFamily="2" charset="-122"/>
            </a:endParaRPr>
          </a:p>
        </p:txBody>
      </p:sp>
      <p:sp>
        <p:nvSpPr>
          <p:cNvPr id="169015" name="Text Box 55"/>
          <p:cNvSpPr txBox="1">
            <a:spLocks noChangeArrowheads="1"/>
          </p:cNvSpPr>
          <p:nvPr/>
        </p:nvSpPr>
        <p:spPr bwMode="auto">
          <a:xfrm>
            <a:off x="5903665" y="1963842"/>
            <a:ext cx="142875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dirty="0">
                <a:solidFill>
                  <a:srgbClr val="FF0000"/>
                </a:solidFill>
                <a:latin typeface="Arial" panose="020B0604020202020204"/>
                <a:ea typeface="黑体" panose="02010609060101010101" pitchFamily="2" charset="-122"/>
              </a:rPr>
              <a:t>用户</a:t>
            </a:r>
            <a:r>
              <a:rPr lang="en-US" altLang="zh-CN" sz="1800" b="1" dirty="0">
                <a:solidFill>
                  <a:srgbClr val="FF0000"/>
                </a:solidFill>
                <a:latin typeface="Arial" panose="020B0604020202020204"/>
                <a:ea typeface="黑体" panose="02010609060101010101" pitchFamily="2" charset="-122"/>
              </a:rPr>
              <a:t>+</a:t>
            </a:r>
            <a:r>
              <a:rPr lang="zh-CN" altLang="en-US" sz="1800" b="1" dirty="0">
                <a:solidFill>
                  <a:srgbClr val="FF0000"/>
                </a:solidFill>
                <a:latin typeface="Arial" panose="020B0604020202020204"/>
                <a:ea typeface="黑体" panose="02010609060101010101" pitchFamily="2" charset="-122"/>
              </a:rPr>
              <a:t>内核级</a:t>
            </a:r>
            <a:endParaRPr lang="zh-CN" altLang="en-US" sz="1800" b="1" dirty="0">
              <a:solidFill>
                <a:srgbClr val="FF0000"/>
              </a:solidFill>
              <a:latin typeface="Arial" panose="020B0604020202020204"/>
              <a:ea typeface="黑体" panose="02010609060101010101" pitchFamily="2" charset="-122"/>
            </a:endParaRPr>
          </a:p>
        </p:txBody>
      </p:sp>
      <p:sp>
        <p:nvSpPr>
          <p:cNvPr id="169016" name="Text Box 56"/>
          <p:cNvSpPr txBox="1">
            <a:spLocks noChangeArrowheads="1"/>
          </p:cNvSpPr>
          <p:nvPr/>
        </p:nvSpPr>
        <p:spPr bwMode="auto">
          <a:xfrm>
            <a:off x="1695996" y="3942661"/>
            <a:ext cx="9715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并发度</a:t>
            </a:r>
            <a:endParaRPr lang="zh-CN" altLang="en-US" sz="1800" b="1">
              <a:solidFill>
                <a:srgbClr val="629DD1"/>
              </a:solidFill>
              <a:latin typeface="Arial" panose="020B0604020202020204"/>
              <a:ea typeface="黑体" panose="02010609060101010101" pitchFamily="2" charset="-122"/>
            </a:endParaRPr>
          </a:p>
        </p:txBody>
      </p:sp>
      <p:sp>
        <p:nvSpPr>
          <p:cNvPr id="169017" name="Text Box 57"/>
          <p:cNvSpPr txBox="1">
            <a:spLocks noChangeArrowheads="1"/>
          </p:cNvSpPr>
          <p:nvPr/>
        </p:nvSpPr>
        <p:spPr bwMode="auto">
          <a:xfrm>
            <a:off x="3389065" y="39426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低</a:t>
            </a:r>
            <a:endParaRPr lang="zh-CN" altLang="en-US" sz="1800" b="1">
              <a:solidFill>
                <a:prstClr val="black"/>
              </a:solidFill>
              <a:latin typeface="Arial" panose="020B0604020202020204"/>
              <a:ea typeface="黑体" panose="02010609060101010101" pitchFamily="2" charset="-122"/>
            </a:endParaRPr>
          </a:p>
        </p:txBody>
      </p:sp>
      <p:sp>
        <p:nvSpPr>
          <p:cNvPr id="169019" name="Text Box 59"/>
          <p:cNvSpPr txBox="1">
            <a:spLocks noChangeArrowheads="1"/>
          </p:cNvSpPr>
          <p:nvPr/>
        </p:nvSpPr>
        <p:spPr bwMode="auto">
          <a:xfrm>
            <a:off x="4932115" y="39426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高</a:t>
            </a:r>
            <a:endParaRPr lang="zh-CN" altLang="en-US" sz="1800" b="1">
              <a:solidFill>
                <a:prstClr val="black"/>
              </a:solidFill>
              <a:latin typeface="Arial" panose="020B0604020202020204"/>
              <a:ea typeface="黑体" panose="02010609060101010101" pitchFamily="2" charset="-122"/>
            </a:endParaRPr>
          </a:p>
        </p:txBody>
      </p:sp>
      <p:sp>
        <p:nvSpPr>
          <p:cNvPr id="169020" name="Text Box 60"/>
          <p:cNvSpPr txBox="1">
            <a:spLocks noChangeArrowheads="1"/>
          </p:cNvSpPr>
          <p:nvPr/>
        </p:nvSpPr>
        <p:spPr bwMode="auto">
          <a:xfrm>
            <a:off x="6475165" y="39426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高</a:t>
            </a:r>
            <a:endParaRPr lang="zh-CN" altLang="en-US" sz="1800" b="1">
              <a:solidFill>
                <a:prstClr val="black"/>
              </a:solidFill>
              <a:latin typeface="Arial" panose="020B0604020202020204"/>
              <a:ea typeface="黑体" panose="02010609060101010101" pitchFamily="2" charset="-122"/>
            </a:endParaRPr>
          </a:p>
        </p:txBody>
      </p:sp>
      <p:sp>
        <p:nvSpPr>
          <p:cNvPr id="169021" name="Text Box 61"/>
          <p:cNvSpPr txBox="1">
            <a:spLocks noChangeArrowheads="1"/>
          </p:cNvSpPr>
          <p:nvPr/>
        </p:nvSpPr>
        <p:spPr bwMode="auto">
          <a:xfrm>
            <a:off x="1617415" y="4399861"/>
            <a:ext cx="9715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代价</a:t>
            </a:r>
            <a:endParaRPr lang="zh-CN" altLang="en-US" sz="1800" b="1">
              <a:solidFill>
                <a:srgbClr val="629DD1"/>
              </a:solidFill>
              <a:latin typeface="Arial" panose="020B0604020202020204"/>
              <a:ea typeface="黑体" panose="02010609060101010101" pitchFamily="2" charset="-122"/>
            </a:endParaRPr>
          </a:p>
        </p:txBody>
      </p:sp>
      <p:sp>
        <p:nvSpPr>
          <p:cNvPr id="169022" name="Text Box 62"/>
          <p:cNvSpPr txBox="1">
            <a:spLocks noChangeArrowheads="1"/>
          </p:cNvSpPr>
          <p:nvPr/>
        </p:nvSpPr>
        <p:spPr bwMode="auto">
          <a:xfrm>
            <a:off x="3389065" y="43998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小</a:t>
            </a:r>
            <a:endParaRPr lang="zh-CN" altLang="en-US" sz="1800" b="1">
              <a:solidFill>
                <a:prstClr val="black"/>
              </a:solidFill>
              <a:latin typeface="Arial" panose="020B0604020202020204"/>
              <a:ea typeface="黑体" panose="02010609060101010101" pitchFamily="2" charset="-122"/>
            </a:endParaRPr>
          </a:p>
        </p:txBody>
      </p:sp>
      <p:sp>
        <p:nvSpPr>
          <p:cNvPr id="169023" name="Text Box 63"/>
          <p:cNvSpPr txBox="1">
            <a:spLocks noChangeArrowheads="1"/>
          </p:cNvSpPr>
          <p:nvPr/>
        </p:nvSpPr>
        <p:spPr bwMode="auto">
          <a:xfrm>
            <a:off x="4932115" y="43998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24" name="Text Box 64"/>
          <p:cNvSpPr txBox="1">
            <a:spLocks noChangeArrowheads="1"/>
          </p:cNvSpPr>
          <p:nvPr/>
        </p:nvSpPr>
        <p:spPr bwMode="auto">
          <a:xfrm>
            <a:off x="6475165" y="43998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中</a:t>
            </a:r>
            <a:endParaRPr lang="zh-CN" altLang="en-US" sz="1800" b="1">
              <a:solidFill>
                <a:prstClr val="black"/>
              </a:solidFill>
              <a:latin typeface="Arial" panose="020B0604020202020204"/>
              <a:ea typeface="黑体" panose="02010609060101010101" pitchFamily="2" charset="-122"/>
            </a:endParaRPr>
          </a:p>
        </p:txBody>
      </p:sp>
      <p:sp>
        <p:nvSpPr>
          <p:cNvPr id="169025" name="Line 65"/>
          <p:cNvSpPr>
            <a:spLocks noChangeShapeType="1"/>
          </p:cNvSpPr>
          <p:nvPr/>
        </p:nvSpPr>
        <p:spPr bwMode="auto">
          <a:xfrm>
            <a:off x="1560265" y="4799911"/>
            <a:ext cx="58293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27" name="Text Box 67"/>
          <p:cNvSpPr txBox="1">
            <a:spLocks noChangeArrowheads="1"/>
          </p:cNvSpPr>
          <p:nvPr/>
        </p:nvSpPr>
        <p:spPr bwMode="auto">
          <a:xfrm>
            <a:off x="1388815" y="4857061"/>
            <a:ext cx="13716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内核改动</a:t>
            </a:r>
            <a:endParaRPr lang="zh-CN" altLang="en-US" sz="1800" b="1">
              <a:solidFill>
                <a:srgbClr val="629DD1"/>
              </a:solidFill>
              <a:latin typeface="Arial" panose="020B0604020202020204"/>
              <a:ea typeface="黑体" panose="02010609060101010101" pitchFamily="2" charset="-122"/>
            </a:endParaRPr>
          </a:p>
        </p:txBody>
      </p:sp>
      <p:sp>
        <p:nvSpPr>
          <p:cNvPr id="169028" name="Text Box 68"/>
          <p:cNvSpPr txBox="1">
            <a:spLocks noChangeArrowheads="1"/>
          </p:cNvSpPr>
          <p:nvPr/>
        </p:nvSpPr>
        <p:spPr bwMode="auto">
          <a:xfrm>
            <a:off x="3389065" y="48570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无</a:t>
            </a:r>
            <a:endParaRPr lang="zh-CN" altLang="en-US" sz="1800" b="1">
              <a:solidFill>
                <a:prstClr val="black"/>
              </a:solidFill>
              <a:latin typeface="Arial" panose="020B0604020202020204"/>
              <a:ea typeface="黑体" panose="02010609060101010101" pitchFamily="2" charset="-122"/>
            </a:endParaRPr>
          </a:p>
        </p:txBody>
      </p:sp>
      <p:sp>
        <p:nvSpPr>
          <p:cNvPr id="169029" name="Text Box 69"/>
          <p:cNvSpPr txBox="1">
            <a:spLocks noChangeArrowheads="1"/>
          </p:cNvSpPr>
          <p:nvPr/>
        </p:nvSpPr>
        <p:spPr bwMode="auto">
          <a:xfrm>
            <a:off x="4932115" y="48570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30" name="Text Box 70"/>
          <p:cNvSpPr txBox="1">
            <a:spLocks noChangeArrowheads="1"/>
          </p:cNvSpPr>
          <p:nvPr/>
        </p:nvSpPr>
        <p:spPr bwMode="auto">
          <a:xfrm>
            <a:off x="6475165" y="48570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31" name="Line 71"/>
          <p:cNvSpPr>
            <a:spLocks noChangeShapeType="1"/>
          </p:cNvSpPr>
          <p:nvPr/>
        </p:nvSpPr>
        <p:spPr bwMode="auto">
          <a:xfrm>
            <a:off x="1560265" y="3428311"/>
            <a:ext cx="58293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2" name="Text Box 72"/>
          <p:cNvSpPr txBox="1">
            <a:spLocks noChangeArrowheads="1"/>
          </p:cNvSpPr>
          <p:nvPr/>
        </p:nvSpPr>
        <p:spPr bwMode="auto">
          <a:xfrm>
            <a:off x="1674566" y="2742511"/>
            <a:ext cx="107513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实现模型</a:t>
            </a:r>
            <a:endParaRPr lang="zh-CN" altLang="en-US" sz="1800" b="1">
              <a:solidFill>
                <a:srgbClr val="629DD1"/>
              </a:solidFill>
              <a:latin typeface="Arial" panose="020B0604020202020204"/>
              <a:ea typeface="黑体" panose="02010609060101010101" pitchFamily="2" charset="-122"/>
            </a:endParaRPr>
          </a:p>
        </p:txBody>
      </p:sp>
      <p:sp>
        <p:nvSpPr>
          <p:cNvPr id="169033" name="Freeform 73"/>
          <p:cNvSpPr/>
          <p:nvPr/>
        </p:nvSpPr>
        <p:spPr bwMode="auto">
          <a:xfrm>
            <a:off x="3046165"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34" name="Group 74"/>
          <p:cNvGrpSpPr/>
          <p:nvPr/>
        </p:nvGrpSpPr>
        <p:grpSpPr bwMode="auto">
          <a:xfrm>
            <a:off x="3446215" y="3063980"/>
            <a:ext cx="342900" cy="342900"/>
            <a:chOff x="832" y="2920"/>
            <a:chExt cx="288" cy="288"/>
          </a:xfrm>
        </p:grpSpPr>
        <p:sp>
          <p:nvSpPr>
            <p:cNvPr id="169035" name="Oval 75"/>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6" name="Freeform 76"/>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37" name="Freeform 77"/>
          <p:cNvSpPr/>
          <p:nvPr/>
        </p:nvSpPr>
        <p:spPr bwMode="auto">
          <a:xfrm>
            <a:off x="3389065"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8" name="Freeform 78"/>
          <p:cNvSpPr/>
          <p:nvPr/>
        </p:nvSpPr>
        <p:spPr bwMode="auto">
          <a:xfrm>
            <a:off x="3731965"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9" name="Freeform 79"/>
          <p:cNvSpPr/>
          <p:nvPr/>
        </p:nvSpPr>
        <p:spPr bwMode="auto">
          <a:xfrm>
            <a:off x="4132015"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0" name="Line 80"/>
          <p:cNvSpPr>
            <a:spLocks noChangeShapeType="1"/>
          </p:cNvSpPr>
          <p:nvPr/>
        </p:nvSpPr>
        <p:spPr bwMode="auto">
          <a:xfrm>
            <a:off x="3046165" y="2663930"/>
            <a:ext cx="57150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1" name="Line 81"/>
          <p:cNvSpPr>
            <a:spLocks noChangeShapeType="1"/>
          </p:cNvSpPr>
          <p:nvPr/>
        </p:nvSpPr>
        <p:spPr bwMode="auto">
          <a:xfrm>
            <a:off x="3389065" y="2663930"/>
            <a:ext cx="22860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2" name="Line 82"/>
          <p:cNvSpPr>
            <a:spLocks noChangeShapeType="1"/>
          </p:cNvSpPr>
          <p:nvPr/>
        </p:nvSpPr>
        <p:spPr bwMode="auto">
          <a:xfrm flipH="1">
            <a:off x="3617665" y="2663930"/>
            <a:ext cx="11430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3" name="Line 83"/>
          <p:cNvSpPr>
            <a:spLocks noChangeShapeType="1"/>
          </p:cNvSpPr>
          <p:nvPr/>
        </p:nvSpPr>
        <p:spPr bwMode="auto">
          <a:xfrm flipH="1">
            <a:off x="3617665" y="2663930"/>
            <a:ext cx="51435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4" name="Line 84"/>
          <p:cNvSpPr>
            <a:spLocks noChangeShapeType="1"/>
          </p:cNvSpPr>
          <p:nvPr/>
        </p:nvSpPr>
        <p:spPr bwMode="auto">
          <a:xfrm flipH="1">
            <a:off x="3617665" y="2892530"/>
            <a:ext cx="0" cy="17145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46" name="Group 86"/>
          <p:cNvGrpSpPr/>
          <p:nvPr/>
        </p:nvGrpSpPr>
        <p:grpSpPr bwMode="auto">
          <a:xfrm>
            <a:off x="4953546" y="3053264"/>
            <a:ext cx="342900" cy="342900"/>
            <a:chOff x="832" y="2920"/>
            <a:chExt cx="288" cy="288"/>
          </a:xfrm>
        </p:grpSpPr>
        <p:sp>
          <p:nvSpPr>
            <p:cNvPr id="169047" name="Oval 87"/>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8" name="Freeform 88"/>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49" name="Freeform 89"/>
          <p:cNvSpPr/>
          <p:nvPr/>
        </p:nvSpPr>
        <p:spPr bwMode="auto">
          <a:xfrm>
            <a:off x="4724946"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53" name="Line 93"/>
          <p:cNvSpPr>
            <a:spLocks noChangeShapeType="1"/>
          </p:cNvSpPr>
          <p:nvPr/>
        </p:nvSpPr>
        <p:spPr bwMode="auto">
          <a:xfrm>
            <a:off x="4724946" y="2685361"/>
            <a:ext cx="0" cy="3429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57" name="Freeform 97"/>
          <p:cNvSpPr/>
          <p:nvPr/>
        </p:nvSpPr>
        <p:spPr bwMode="auto">
          <a:xfrm>
            <a:off x="6075115"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58" name="Group 98"/>
          <p:cNvGrpSpPr/>
          <p:nvPr/>
        </p:nvGrpSpPr>
        <p:grpSpPr bwMode="auto">
          <a:xfrm>
            <a:off x="6189415" y="3056836"/>
            <a:ext cx="342900" cy="342900"/>
            <a:chOff x="832" y="2920"/>
            <a:chExt cx="288" cy="288"/>
          </a:xfrm>
        </p:grpSpPr>
        <p:sp>
          <p:nvSpPr>
            <p:cNvPr id="169059" name="Oval 99"/>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0" name="Freeform 100"/>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61" name="Freeform 101"/>
          <p:cNvSpPr/>
          <p:nvPr/>
        </p:nvSpPr>
        <p:spPr bwMode="auto">
          <a:xfrm>
            <a:off x="6418015"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2" name="Freeform 102"/>
          <p:cNvSpPr/>
          <p:nvPr/>
        </p:nvSpPr>
        <p:spPr bwMode="auto">
          <a:xfrm>
            <a:off x="6760915"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3" name="Freeform 103"/>
          <p:cNvSpPr/>
          <p:nvPr/>
        </p:nvSpPr>
        <p:spPr bwMode="auto">
          <a:xfrm>
            <a:off x="7160965"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4" name="Line 104"/>
          <p:cNvSpPr>
            <a:spLocks noChangeShapeType="1"/>
          </p:cNvSpPr>
          <p:nvPr/>
        </p:nvSpPr>
        <p:spPr bwMode="auto">
          <a:xfrm>
            <a:off x="6075115" y="2663930"/>
            <a:ext cx="57150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5" name="Line 105"/>
          <p:cNvSpPr>
            <a:spLocks noChangeShapeType="1"/>
          </p:cNvSpPr>
          <p:nvPr/>
        </p:nvSpPr>
        <p:spPr bwMode="auto">
          <a:xfrm>
            <a:off x="6418015" y="2663930"/>
            <a:ext cx="22860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6" name="Line 106"/>
          <p:cNvSpPr>
            <a:spLocks noChangeShapeType="1"/>
          </p:cNvSpPr>
          <p:nvPr/>
        </p:nvSpPr>
        <p:spPr bwMode="auto">
          <a:xfrm flipH="1">
            <a:off x="6646615" y="2663930"/>
            <a:ext cx="11430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7" name="Line 107"/>
          <p:cNvSpPr>
            <a:spLocks noChangeShapeType="1"/>
          </p:cNvSpPr>
          <p:nvPr/>
        </p:nvSpPr>
        <p:spPr bwMode="auto">
          <a:xfrm flipH="1">
            <a:off x="6646615" y="2663930"/>
            <a:ext cx="51435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8" name="Line 108"/>
          <p:cNvSpPr>
            <a:spLocks noChangeShapeType="1"/>
          </p:cNvSpPr>
          <p:nvPr/>
        </p:nvSpPr>
        <p:spPr bwMode="auto">
          <a:xfrm flipH="1">
            <a:off x="6360865" y="2892530"/>
            <a:ext cx="285750" cy="135731"/>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75" name="Group 115"/>
          <p:cNvGrpSpPr/>
          <p:nvPr/>
        </p:nvGrpSpPr>
        <p:grpSpPr bwMode="auto">
          <a:xfrm>
            <a:off x="6760915" y="3060408"/>
            <a:ext cx="342900" cy="342900"/>
            <a:chOff x="832" y="2920"/>
            <a:chExt cx="288" cy="288"/>
          </a:xfrm>
        </p:grpSpPr>
        <p:sp>
          <p:nvSpPr>
            <p:cNvPr id="169076" name="Oval 116"/>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77" name="Freeform 117"/>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78" name="Line 118"/>
          <p:cNvSpPr>
            <a:spLocks noChangeShapeType="1"/>
          </p:cNvSpPr>
          <p:nvPr/>
        </p:nvSpPr>
        <p:spPr bwMode="auto">
          <a:xfrm>
            <a:off x="6646615" y="2887768"/>
            <a:ext cx="285750" cy="140494"/>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79" name="Group 119"/>
          <p:cNvGrpSpPr/>
          <p:nvPr/>
        </p:nvGrpSpPr>
        <p:grpSpPr bwMode="auto">
          <a:xfrm>
            <a:off x="4553496" y="3053264"/>
            <a:ext cx="342900" cy="342900"/>
            <a:chOff x="832" y="2920"/>
            <a:chExt cx="288" cy="288"/>
          </a:xfrm>
        </p:grpSpPr>
        <p:sp>
          <p:nvSpPr>
            <p:cNvPr id="169080" name="Oval 120"/>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1" name="Freeform 121"/>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82" name="Freeform 122"/>
          <p:cNvSpPr/>
          <p:nvPr/>
        </p:nvSpPr>
        <p:spPr bwMode="auto">
          <a:xfrm>
            <a:off x="5124996" y="2388896"/>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3" name="Line 123"/>
          <p:cNvSpPr>
            <a:spLocks noChangeShapeType="1"/>
          </p:cNvSpPr>
          <p:nvPr/>
        </p:nvSpPr>
        <p:spPr bwMode="auto">
          <a:xfrm>
            <a:off x="5124996" y="2696077"/>
            <a:ext cx="0" cy="3429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84" name="Group 124"/>
          <p:cNvGrpSpPr/>
          <p:nvPr/>
        </p:nvGrpSpPr>
        <p:grpSpPr bwMode="auto">
          <a:xfrm>
            <a:off x="5353596" y="3049692"/>
            <a:ext cx="342900" cy="342900"/>
            <a:chOff x="832" y="2920"/>
            <a:chExt cx="288" cy="288"/>
          </a:xfrm>
        </p:grpSpPr>
        <p:sp>
          <p:nvSpPr>
            <p:cNvPr id="169085" name="Oval 125"/>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6" name="Freeform 126"/>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87" name="Freeform 127"/>
          <p:cNvSpPr/>
          <p:nvPr/>
        </p:nvSpPr>
        <p:spPr bwMode="auto">
          <a:xfrm>
            <a:off x="5514331" y="2378180"/>
            <a:ext cx="57150" cy="2857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8" name="Line 128"/>
          <p:cNvSpPr>
            <a:spLocks noChangeShapeType="1"/>
          </p:cNvSpPr>
          <p:nvPr/>
        </p:nvSpPr>
        <p:spPr bwMode="auto">
          <a:xfrm>
            <a:off x="5514331" y="2685361"/>
            <a:ext cx="0" cy="3429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9" name="Line 129"/>
          <p:cNvSpPr>
            <a:spLocks noChangeShapeType="1"/>
          </p:cNvSpPr>
          <p:nvPr/>
        </p:nvSpPr>
        <p:spPr bwMode="auto">
          <a:xfrm>
            <a:off x="1560265" y="5714311"/>
            <a:ext cx="58293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91" name="Text Box 131"/>
          <p:cNvSpPr txBox="1">
            <a:spLocks noChangeArrowheads="1"/>
          </p:cNvSpPr>
          <p:nvPr/>
        </p:nvSpPr>
        <p:spPr bwMode="auto">
          <a:xfrm>
            <a:off x="1388815" y="5314261"/>
            <a:ext cx="13716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灵活性</a:t>
            </a:r>
            <a:endParaRPr lang="zh-CN" altLang="en-US" sz="1800" b="1">
              <a:solidFill>
                <a:srgbClr val="629DD1"/>
              </a:solidFill>
              <a:latin typeface="Arial" panose="020B0604020202020204"/>
              <a:ea typeface="黑体" panose="02010609060101010101" pitchFamily="2" charset="-122"/>
            </a:endParaRPr>
          </a:p>
        </p:txBody>
      </p:sp>
      <p:sp>
        <p:nvSpPr>
          <p:cNvPr id="169092" name="Text Box 132"/>
          <p:cNvSpPr txBox="1">
            <a:spLocks noChangeArrowheads="1"/>
          </p:cNvSpPr>
          <p:nvPr/>
        </p:nvSpPr>
        <p:spPr bwMode="auto">
          <a:xfrm>
            <a:off x="3389065" y="53142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93" name="Text Box 133"/>
          <p:cNvSpPr txBox="1">
            <a:spLocks noChangeArrowheads="1"/>
          </p:cNvSpPr>
          <p:nvPr/>
        </p:nvSpPr>
        <p:spPr bwMode="auto">
          <a:xfrm>
            <a:off x="4932115" y="53142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小</a:t>
            </a:r>
            <a:endParaRPr lang="zh-CN" altLang="en-US" sz="1800" b="1">
              <a:solidFill>
                <a:prstClr val="black"/>
              </a:solidFill>
              <a:latin typeface="Arial" panose="020B0604020202020204"/>
              <a:ea typeface="黑体" panose="02010609060101010101" pitchFamily="2" charset="-122"/>
            </a:endParaRPr>
          </a:p>
        </p:txBody>
      </p:sp>
      <p:sp>
        <p:nvSpPr>
          <p:cNvPr id="169094" name="Text Box 134"/>
          <p:cNvSpPr txBox="1">
            <a:spLocks noChangeArrowheads="1"/>
          </p:cNvSpPr>
          <p:nvPr/>
        </p:nvSpPr>
        <p:spPr bwMode="auto">
          <a:xfrm>
            <a:off x="6475165" y="53142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95" name="Line 135"/>
          <p:cNvSpPr>
            <a:spLocks noChangeShapeType="1"/>
          </p:cNvSpPr>
          <p:nvPr/>
        </p:nvSpPr>
        <p:spPr bwMode="auto">
          <a:xfrm>
            <a:off x="1560265" y="3885511"/>
            <a:ext cx="58293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96" name="Text Box 136"/>
          <p:cNvSpPr txBox="1">
            <a:spLocks noChangeArrowheads="1"/>
          </p:cNvSpPr>
          <p:nvPr/>
        </p:nvSpPr>
        <p:spPr bwMode="auto">
          <a:xfrm>
            <a:off x="1445965" y="3485461"/>
            <a:ext cx="13716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利用多</a:t>
            </a:r>
            <a:r>
              <a:rPr lang="en-US" altLang="zh-CN" sz="1800" b="1">
                <a:solidFill>
                  <a:srgbClr val="629DD1"/>
                </a:solidFill>
                <a:latin typeface="Arial" panose="020B0604020202020204"/>
                <a:ea typeface="黑体" panose="02010609060101010101" pitchFamily="2" charset="-122"/>
              </a:rPr>
              <a:t>CPU</a:t>
            </a:r>
            <a:endParaRPr lang="en-US" altLang="zh-CN" sz="1800" b="1">
              <a:solidFill>
                <a:srgbClr val="629DD1"/>
              </a:solidFill>
              <a:latin typeface="Arial" panose="020B0604020202020204"/>
              <a:ea typeface="黑体" panose="02010609060101010101" pitchFamily="2" charset="-122"/>
            </a:endParaRPr>
          </a:p>
        </p:txBody>
      </p:sp>
      <p:sp>
        <p:nvSpPr>
          <p:cNvPr id="169097" name="Text Box 137"/>
          <p:cNvSpPr txBox="1">
            <a:spLocks noChangeArrowheads="1"/>
          </p:cNvSpPr>
          <p:nvPr/>
        </p:nvSpPr>
        <p:spPr bwMode="auto">
          <a:xfrm>
            <a:off x="3389065" y="34854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差</a:t>
            </a:r>
            <a:endParaRPr lang="zh-CN" altLang="en-US" sz="1800" b="1">
              <a:solidFill>
                <a:prstClr val="black"/>
              </a:solidFill>
              <a:latin typeface="Arial" panose="020B0604020202020204"/>
              <a:ea typeface="黑体" panose="02010609060101010101" pitchFamily="2" charset="-122"/>
            </a:endParaRPr>
          </a:p>
        </p:txBody>
      </p:sp>
      <p:sp>
        <p:nvSpPr>
          <p:cNvPr id="169098" name="Text Box 138"/>
          <p:cNvSpPr txBox="1">
            <a:spLocks noChangeArrowheads="1"/>
          </p:cNvSpPr>
          <p:nvPr/>
        </p:nvSpPr>
        <p:spPr bwMode="auto">
          <a:xfrm>
            <a:off x="4932115" y="34854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好</a:t>
            </a:r>
            <a:endParaRPr lang="zh-CN" altLang="en-US" sz="1800" b="1">
              <a:solidFill>
                <a:prstClr val="black"/>
              </a:solidFill>
              <a:latin typeface="Arial" panose="020B0604020202020204"/>
              <a:ea typeface="黑体" panose="02010609060101010101" pitchFamily="2" charset="-122"/>
            </a:endParaRPr>
          </a:p>
        </p:txBody>
      </p:sp>
      <p:sp>
        <p:nvSpPr>
          <p:cNvPr id="169099" name="Text Box 139"/>
          <p:cNvSpPr txBox="1">
            <a:spLocks noChangeArrowheads="1"/>
          </p:cNvSpPr>
          <p:nvPr/>
        </p:nvSpPr>
        <p:spPr bwMode="auto">
          <a:xfrm>
            <a:off x="6475165" y="3485461"/>
            <a:ext cx="4000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好</a:t>
            </a:r>
            <a:endParaRPr lang="zh-CN" altLang="en-US" sz="1800" b="1">
              <a:solidFill>
                <a:prstClr val="black"/>
              </a:solidFill>
              <a:latin typeface="Arial" panose="020B0604020202020204"/>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565150" indent="-565150" algn="just">
              <a:buNone/>
            </a:pPr>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．在一个已有进程中创建一个新线程比创建一个全新进程所需的时间少。</a:t>
            </a:r>
            <a:endParaRPr lang="zh-CN" altLang="en-US" dirty="0">
              <a:latin typeface="微软雅黑" panose="020B0503020204020204" charset="-122"/>
              <a:ea typeface="微软雅黑" panose="020B0503020204020204" charset="-122"/>
            </a:endParaRPr>
          </a:p>
          <a:p>
            <a:pPr marL="565150" indent="-565150" algn="just">
              <a:buClrTx/>
              <a:buSzTx/>
              <a:buNone/>
            </a:pPr>
            <a:r>
              <a:rPr lang="en-US" altLang="zh-CN" dirty="0">
                <a:latin typeface="微软雅黑" panose="020B0503020204020204" charset="-122"/>
                <a:ea typeface="微软雅黑" panose="020B0503020204020204" charset="-122"/>
              </a:rPr>
              <a:t>2</a:t>
            </a:r>
            <a:r>
              <a:rPr lang="zh-CN" altLang="en-US" dirty="0">
                <a:latin typeface="微软雅黑" panose="020B0503020204020204" charset="-122"/>
                <a:ea typeface="微软雅黑" panose="020B0503020204020204" charset="-122"/>
              </a:rPr>
              <a:t>．终止一个线程比终止一个进程花费的时间少。</a:t>
            </a:r>
            <a:endParaRPr lang="zh-CN" altLang="en-US" dirty="0">
              <a:latin typeface="微软雅黑" panose="020B0503020204020204" charset="-122"/>
              <a:ea typeface="微软雅黑" panose="020B0503020204020204" charset="-122"/>
            </a:endParaRPr>
          </a:p>
          <a:p>
            <a:pPr marL="565150" indent="-565150" algn="just">
              <a:buClrTx/>
              <a:buSzTx/>
              <a:buNone/>
            </a:pPr>
            <a:r>
              <a:rPr lang="en-US" altLang="zh-CN" dirty="0">
                <a:latin typeface="微软雅黑" panose="020B0503020204020204" charset="-122"/>
                <a:ea typeface="微软雅黑" panose="020B0503020204020204" charset="-122"/>
              </a:rPr>
              <a:t>3</a:t>
            </a:r>
            <a:r>
              <a:rPr lang="zh-CN" altLang="en-US" dirty="0">
                <a:latin typeface="微软雅黑" panose="020B0503020204020204" charset="-122"/>
                <a:ea typeface="微软雅黑" panose="020B0503020204020204" charset="-122"/>
              </a:rPr>
              <a:t>．线程间切换比进程间切换花费的时间少。</a:t>
            </a:r>
            <a:endParaRPr lang="zh-CN" altLang="en-US" dirty="0">
              <a:latin typeface="微软雅黑" panose="020B0503020204020204" charset="-122"/>
              <a:ea typeface="微软雅黑" panose="020B0503020204020204" charset="-122"/>
            </a:endParaRPr>
          </a:p>
          <a:p>
            <a:pPr marL="565150" indent="-565150" algn="just">
              <a:buClrTx/>
              <a:buSzTx/>
              <a:buNone/>
            </a:pPr>
            <a:r>
              <a:rPr lang="en-US" altLang="zh-CN" dirty="0">
                <a:latin typeface="微软雅黑" panose="020B0503020204020204" charset="-122"/>
                <a:ea typeface="微软雅黑" panose="020B0503020204020204" charset="-122"/>
              </a:rPr>
              <a:t>4</a:t>
            </a:r>
            <a:r>
              <a:rPr lang="zh-CN" altLang="en-US" dirty="0">
                <a:latin typeface="微软雅黑" panose="020B0503020204020204" charset="-122"/>
                <a:ea typeface="微软雅黑" panose="020B0503020204020204" charset="-122"/>
              </a:rPr>
              <a:t>．线程提高了不同的执行程序间通信的效率。同一个进程中的线程共享存储空间和文件，它们无需调用内核就可以互相通信。</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p:txBody>
      </p:sp>
      <p:sp>
        <p:nvSpPr>
          <p:cNvPr id="3" name="标题 2"/>
          <p:cNvSpPr>
            <a:spLocks noGrp="1"/>
          </p:cNvSpPr>
          <p:nvPr>
            <p:ph type="title"/>
          </p:nvPr>
        </p:nvSpPr>
        <p:spPr/>
        <p:txBody>
          <a:bodyPr/>
          <a:lstStyle/>
          <a:p>
            <a:r>
              <a:rPr lang="zh-CN" altLang="en-US" dirty="0"/>
              <a:t>采用线程的优点</a:t>
            </a:r>
            <a:r>
              <a:rPr lang="en-US" altLang="zh-CN"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r>
              <a:rPr lang="zh-CN" altLang="en-US"/>
              <a:t>线程总结</a:t>
            </a:r>
            <a:endParaRPr lang="zh-CN" altLang="en-US"/>
          </a:p>
        </p:txBody>
      </p:sp>
      <p:sp>
        <p:nvSpPr>
          <p:cNvPr id="171013" name="Rectangle 5"/>
          <p:cNvSpPr>
            <a:spLocks noChangeArrowheads="1"/>
          </p:cNvSpPr>
          <p:nvPr/>
        </p:nvSpPr>
        <p:spPr bwMode="auto">
          <a:xfrm>
            <a:off x="1373982" y="1808561"/>
            <a:ext cx="5941219" cy="648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a:solidFill>
                  <a:prstClr val="black"/>
                </a:solidFill>
                <a:latin typeface="微软雅黑" panose="020B0503020204020204" charset="-122"/>
                <a:ea typeface="微软雅黑" panose="020B0503020204020204" charset="-122"/>
              </a:rPr>
              <a:t>进程 </a:t>
            </a:r>
            <a:r>
              <a:rPr lang="en-US" altLang="zh-CN" sz="1800">
                <a:solidFill>
                  <a:prstClr val="black"/>
                </a:solidFill>
                <a:latin typeface="微软雅黑" panose="020B0503020204020204" charset="-122"/>
                <a:ea typeface="微软雅黑" panose="020B0503020204020204" charset="-122"/>
              </a:rPr>
              <a:t>= </a:t>
            </a:r>
            <a:r>
              <a:rPr lang="zh-CN" altLang="en-US" sz="1800">
                <a:solidFill>
                  <a:prstClr val="black"/>
                </a:solidFill>
                <a:latin typeface="微软雅黑" panose="020B0503020204020204" charset="-122"/>
                <a:ea typeface="微软雅黑" panose="020B0503020204020204" charset="-122"/>
              </a:rPr>
              <a:t>地址空间 </a:t>
            </a:r>
            <a:r>
              <a:rPr lang="en-US" altLang="zh-CN" sz="1800">
                <a:solidFill>
                  <a:prstClr val="black"/>
                </a:solidFill>
                <a:latin typeface="微软雅黑" panose="020B0503020204020204" charset="-122"/>
                <a:ea typeface="微软雅黑" panose="020B0503020204020204" charset="-122"/>
              </a:rPr>
              <a:t>+ </a:t>
            </a:r>
            <a:r>
              <a:rPr lang="zh-CN" altLang="en-US" sz="1800">
                <a:solidFill>
                  <a:prstClr val="black"/>
                </a:solidFill>
                <a:latin typeface="微软雅黑" panose="020B0503020204020204" charset="-122"/>
                <a:ea typeface="微软雅黑" panose="020B0503020204020204" charset="-122"/>
              </a:rPr>
              <a:t>指令执行序列</a:t>
            </a:r>
            <a:r>
              <a:rPr lang="zh-CN" altLang="en-US" sz="1800">
                <a:solidFill>
                  <a:srgbClr val="FF0000"/>
                </a:solidFill>
                <a:latin typeface="微软雅黑" panose="020B0503020204020204" charset="-122"/>
                <a:ea typeface="微软雅黑" panose="020B0503020204020204" charset="-122"/>
              </a:rPr>
              <a:t> </a:t>
            </a:r>
            <a:endParaRPr lang="zh-CN" altLang="en-US" sz="1800">
              <a:solidFill>
                <a:srgbClr val="FF0000"/>
              </a:solidFill>
              <a:latin typeface="微软雅黑" panose="020B0503020204020204" charset="-122"/>
              <a:ea typeface="微软雅黑" panose="020B0503020204020204" charset="-122"/>
            </a:endParaRPr>
          </a:p>
        </p:txBody>
      </p:sp>
      <p:sp>
        <p:nvSpPr>
          <p:cNvPr id="171014" name="Rectangle 6"/>
          <p:cNvSpPr>
            <a:spLocks noChangeArrowheads="1"/>
          </p:cNvSpPr>
          <p:nvPr/>
        </p:nvSpPr>
        <p:spPr bwMode="auto">
          <a:xfrm>
            <a:off x="1371600" y="2286000"/>
            <a:ext cx="6457950"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dirty="0">
                <a:solidFill>
                  <a:prstClr val="black"/>
                </a:solidFill>
                <a:latin typeface="微软雅黑" panose="020B0503020204020204" charset="-122"/>
                <a:ea typeface="微软雅黑" panose="020B0503020204020204" charset="-122"/>
                <a:sym typeface="Symbol" panose="05050102010706020507" pitchFamily="18" charset="2"/>
              </a:rPr>
              <a:t>一个地址空间</a:t>
            </a:r>
            <a:r>
              <a:rPr lang="en-US" altLang="zh-CN" sz="1800" dirty="0">
                <a:solidFill>
                  <a:prstClr val="black"/>
                </a:solidFill>
                <a:latin typeface="微软雅黑" panose="020B0503020204020204" charset="-122"/>
                <a:ea typeface="微软雅黑" panose="020B0503020204020204" charset="-122"/>
                <a:sym typeface="Symbol" panose="05050102010706020507" pitchFamily="18" charset="2"/>
              </a:rPr>
              <a:t>+</a:t>
            </a:r>
            <a:r>
              <a:rPr lang="zh-CN" altLang="en-US" sz="1800" dirty="0">
                <a:solidFill>
                  <a:prstClr val="black"/>
                </a:solidFill>
                <a:latin typeface="微软雅黑" panose="020B0503020204020204" charset="-122"/>
                <a:ea typeface="微软雅黑" panose="020B0503020204020204" charset="-122"/>
                <a:sym typeface="Symbol" panose="05050102010706020507" pitchFamily="18" charset="2"/>
              </a:rPr>
              <a:t>多个指令执行序列  引出线程</a:t>
            </a:r>
            <a:endParaRPr lang="zh-CN" altLang="en-US" sz="1800" dirty="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5" name="Rectangle 7"/>
          <p:cNvSpPr>
            <a:spLocks noChangeArrowheads="1"/>
          </p:cNvSpPr>
          <p:nvPr/>
        </p:nvSpPr>
        <p:spPr bwMode="auto">
          <a:xfrm>
            <a:off x="1371600" y="2743200"/>
            <a:ext cx="6457950"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a:solidFill>
                  <a:prstClr val="black"/>
                </a:solidFill>
                <a:latin typeface="微软雅黑" panose="020B0503020204020204" charset="-122"/>
                <a:ea typeface="微软雅黑" panose="020B0503020204020204" charset="-122"/>
                <a:sym typeface="Symbol" panose="05050102010706020507" pitchFamily="18" charset="2"/>
              </a:rPr>
              <a:t>线程具有并发的优点，却比进程的代价低得多</a:t>
            </a:r>
            <a:endParaRPr lang="zh-CN" altLang="en-US" sz="18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7" name="Rectangle 9"/>
          <p:cNvSpPr>
            <a:spLocks noChangeArrowheads="1"/>
          </p:cNvSpPr>
          <p:nvPr/>
        </p:nvSpPr>
        <p:spPr bwMode="auto">
          <a:xfrm>
            <a:off x="1371600" y="3257550"/>
            <a:ext cx="6457950"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en-US" altLang="zh-CN" sz="1800">
                <a:solidFill>
                  <a:prstClr val="black"/>
                </a:solidFill>
                <a:latin typeface="微软雅黑" panose="020B0503020204020204" charset="-122"/>
                <a:ea typeface="微软雅黑" panose="020B0503020204020204" charset="-122"/>
                <a:sym typeface="Symbol" panose="05050102010706020507" pitchFamily="18" charset="2"/>
              </a:rPr>
              <a:t>WebExplorer</a:t>
            </a:r>
            <a:r>
              <a:rPr lang="zh-CN" altLang="en-US" sz="1800">
                <a:solidFill>
                  <a:prstClr val="black"/>
                </a:solidFill>
                <a:latin typeface="微软雅黑" panose="020B0503020204020204" charset="-122"/>
                <a:ea typeface="微软雅黑" panose="020B0503020204020204" charset="-122"/>
                <a:sym typeface="Symbol" panose="05050102010706020507" pitchFamily="18" charset="2"/>
              </a:rPr>
              <a:t>表明线程简单实用  线程怎么实现</a:t>
            </a:r>
            <a:endParaRPr lang="zh-CN" altLang="en-US" sz="18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8" name="Rectangle 10"/>
          <p:cNvSpPr>
            <a:spLocks noChangeArrowheads="1"/>
          </p:cNvSpPr>
          <p:nvPr/>
        </p:nvSpPr>
        <p:spPr bwMode="auto">
          <a:xfrm>
            <a:off x="1371600" y="3771900"/>
            <a:ext cx="6457950"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a:solidFill>
                  <a:prstClr val="black"/>
                </a:solidFill>
                <a:latin typeface="微软雅黑" panose="020B0503020204020204" charset="-122"/>
                <a:ea typeface="微软雅黑" panose="020B0503020204020204" charset="-122"/>
                <a:sym typeface="Symbol" panose="05050102010706020507" pitchFamily="18" charset="2"/>
              </a:rPr>
              <a:t>线程在同一地址空间中  线程库可以用户级实现</a:t>
            </a:r>
            <a:endParaRPr lang="zh-CN" altLang="en-US" sz="18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9" name="Rectangle 11"/>
          <p:cNvSpPr>
            <a:spLocks noChangeArrowheads="1"/>
          </p:cNvSpPr>
          <p:nvPr/>
        </p:nvSpPr>
        <p:spPr bwMode="auto">
          <a:xfrm>
            <a:off x="1371600" y="4286250"/>
            <a:ext cx="6457950"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a:solidFill>
                  <a:prstClr val="black"/>
                </a:solidFill>
                <a:latin typeface="微软雅黑" panose="020B0503020204020204" charset="-122"/>
                <a:ea typeface="微软雅黑" panose="020B0503020204020204" charset="-122"/>
                <a:sym typeface="Symbol" panose="05050102010706020507" pitchFamily="18" charset="2"/>
              </a:rPr>
              <a:t>用户级线程，核心级线程，两者都有 </a:t>
            </a:r>
            <a:endParaRPr lang="zh-CN" altLang="en-US" sz="18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22" name="Rectangle 14"/>
          <p:cNvSpPr>
            <a:spLocks noChangeArrowheads="1"/>
          </p:cNvSpPr>
          <p:nvPr/>
        </p:nvSpPr>
        <p:spPr bwMode="auto">
          <a:xfrm>
            <a:off x="1371600" y="4800600"/>
            <a:ext cx="6457950" cy="6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1800" dirty="0">
                <a:solidFill>
                  <a:prstClr val="black"/>
                </a:solidFill>
                <a:latin typeface="微软雅黑" panose="020B0503020204020204" charset="-122"/>
                <a:ea typeface="微软雅黑" panose="020B0503020204020204" charset="-122"/>
                <a:sym typeface="Symbol" panose="05050102010706020507" pitchFamily="18" charset="2"/>
              </a:rPr>
              <a:t>各类线程的实现细节，其中上下文切换是核心</a:t>
            </a:r>
            <a:endParaRPr lang="zh-CN" altLang="en-US" sz="1800" dirty="0">
              <a:solidFill>
                <a:prstClr val="black"/>
              </a:solidFill>
              <a:latin typeface="微软雅黑" panose="020B0503020204020204" charset="-122"/>
              <a:ea typeface="微软雅黑" panose="020B0503020204020204"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1013"/>
                                        </p:tgtEl>
                                        <p:attrNameLst>
                                          <p:attrName>style.visibility</p:attrName>
                                        </p:attrNameLst>
                                      </p:cBhvr>
                                      <p:to>
                                        <p:strVal val="visible"/>
                                      </p:to>
                                    </p:set>
                                    <p:animEffect transition="in" filter="dissolve">
                                      <p:cBhvr>
                                        <p:cTn id="7" dur="500"/>
                                        <p:tgtEl>
                                          <p:spTgt spid="1710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1014"/>
                                        </p:tgtEl>
                                        <p:attrNameLst>
                                          <p:attrName>style.visibility</p:attrName>
                                        </p:attrNameLst>
                                      </p:cBhvr>
                                      <p:to>
                                        <p:strVal val="visible"/>
                                      </p:to>
                                    </p:set>
                                    <p:animEffect transition="in" filter="dissolve">
                                      <p:cBhvr>
                                        <p:cTn id="12" dur="500"/>
                                        <p:tgtEl>
                                          <p:spTgt spid="1710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1015"/>
                                        </p:tgtEl>
                                        <p:attrNameLst>
                                          <p:attrName>style.visibility</p:attrName>
                                        </p:attrNameLst>
                                      </p:cBhvr>
                                      <p:to>
                                        <p:strVal val="visible"/>
                                      </p:to>
                                    </p:set>
                                    <p:animEffect transition="in" filter="dissolve">
                                      <p:cBhvr>
                                        <p:cTn id="17" dur="500"/>
                                        <p:tgtEl>
                                          <p:spTgt spid="1710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1017"/>
                                        </p:tgtEl>
                                        <p:attrNameLst>
                                          <p:attrName>style.visibility</p:attrName>
                                        </p:attrNameLst>
                                      </p:cBhvr>
                                      <p:to>
                                        <p:strVal val="visible"/>
                                      </p:to>
                                    </p:set>
                                    <p:animEffect transition="in" filter="dissolve">
                                      <p:cBhvr>
                                        <p:cTn id="22" dur="500"/>
                                        <p:tgtEl>
                                          <p:spTgt spid="1710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1018"/>
                                        </p:tgtEl>
                                        <p:attrNameLst>
                                          <p:attrName>style.visibility</p:attrName>
                                        </p:attrNameLst>
                                      </p:cBhvr>
                                      <p:to>
                                        <p:strVal val="visible"/>
                                      </p:to>
                                    </p:set>
                                    <p:animEffect transition="in" filter="dissolve">
                                      <p:cBhvr>
                                        <p:cTn id="27" dur="500"/>
                                        <p:tgtEl>
                                          <p:spTgt spid="1710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1019"/>
                                        </p:tgtEl>
                                        <p:attrNameLst>
                                          <p:attrName>style.visibility</p:attrName>
                                        </p:attrNameLst>
                                      </p:cBhvr>
                                      <p:to>
                                        <p:strVal val="visible"/>
                                      </p:to>
                                    </p:set>
                                    <p:animEffect transition="in" filter="dissolve">
                                      <p:cBhvr>
                                        <p:cTn id="32" dur="500"/>
                                        <p:tgtEl>
                                          <p:spTgt spid="1710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1022"/>
                                        </p:tgtEl>
                                        <p:attrNameLst>
                                          <p:attrName>style.visibility</p:attrName>
                                        </p:attrNameLst>
                                      </p:cBhvr>
                                      <p:to>
                                        <p:strVal val="visible"/>
                                      </p:to>
                                    </p:set>
                                    <p:animEffect transition="in" filter="dissolve">
                                      <p:cBhvr>
                                        <p:cTn id="37" dur="500"/>
                                        <p:tgtEl>
                                          <p:spTgt spid="171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bldLvl="0" animBg="1"/>
      <p:bldP spid="171014" grpId="0" bldLvl="0" animBg="1"/>
      <p:bldP spid="171015" grpId="0" bldLvl="0" animBg="1"/>
      <p:bldP spid="171017" grpId="0" bldLvl="0" animBg="1"/>
      <p:bldP spid="171018" grpId="0" bldLvl="0" animBg="1"/>
      <p:bldP spid="171019" grpId="0" bldLvl="0" animBg="1"/>
      <p:bldP spid="171022" grpId="0" bldLvl="0" animBg="1"/>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ctrTitle"/>
          </p:nvPr>
        </p:nvSpPr>
        <p:spPr/>
        <p:txBody>
          <a:bodyPr/>
          <a:lstStyle/>
          <a:p>
            <a:r>
              <a:rPr lang="zh-CN" altLang="en-US" dirty="0">
                <a:sym typeface="+mn-lt"/>
              </a:rPr>
              <a:t>感谢观看！</a:t>
            </a:r>
            <a:endParaRPr lang="zh-CN" altLang="en-US" dirty="0">
              <a:sym typeface="+mn-lt"/>
            </a:endParaRPr>
          </a:p>
        </p:txBody>
      </p:sp>
      <p:sp>
        <p:nvSpPr>
          <p:cNvPr id="3" name="副标题 2"/>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Rectangle 2"/>
          <p:cNvSpPr>
            <a:spLocks noGrp="1" noRot="1" noChangeArrowheads="1"/>
          </p:cNvSpPr>
          <p:nvPr>
            <p:ph type="title"/>
          </p:nvPr>
        </p:nvSpPr>
        <p:spPr>
          <a:xfrm>
            <a:off x="381000" y="609600"/>
            <a:ext cx="7793038" cy="9906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2.7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线程 </a:t>
            </a: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另一种并发实体 </a:t>
            </a:r>
            <a:endPar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9091" name="Rectangle 3"/>
          <p:cNvSpPr>
            <a:spLocks noGrp="1" noRot="1"/>
          </p:cNvSpPr>
          <p:nvPr>
            <p:ph type="body"/>
          </p:nvPr>
        </p:nvSpPr>
        <p:spPr>
          <a:xfrm>
            <a:off x="609600" y="1752600"/>
            <a:ext cx="7772400" cy="4648200"/>
          </a:xfrm>
          <a:ln/>
        </p:spPr>
        <p:txBody>
          <a:bodyPr vert="horz" wrap="square" lIns="91440" tIns="45720" rIns="91440" bIns="45720" anchor="t" anchorCtr="0"/>
          <a:p>
            <a:pPr eaLnBrk="1" hangingPunct="1">
              <a:lnSpc>
                <a:spcPct val="110000"/>
              </a:lnSpc>
            </a:pPr>
            <a:r>
              <a:rPr lang="en-US" altLang="zh-CN" sz="2800" b="1" dirty="0"/>
              <a:t>20</a:t>
            </a:r>
            <a:r>
              <a:rPr lang="zh-CN" altLang="en-US" sz="2800" b="1" dirty="0"/>
              <a:t>世纪</a:t>
            </a:r>
            <a:r>
              <a:rPr lang="en-US" altLang="zh-CN" sz="2800" b="1" dirty="0"/>
              <a:t>80</a:t>
            </a:r>
            <a:r>
              <a:rPr lang="zh-CN" altLang="en-US" sz="2800" b="1" dirty="0"/>
              <a:t>年代中期，人们又提出了比进程更小的能独立运行的基本单位</a:t>
            </a:r>
            <a:r>
              <a:rPr lang="en-US" altLang="zh-CN" sz="2800" b="1" dirty="0">
                <a:latin typeface="Courier New" panose="02070309020205020404" pitchFamily="49" charset="0"/>
              </a:rPr>
              <a:t>——</a:t>
            </a:r>
            <a:r>
              <a:rPr lang="zh-CN" altLang="en-US" sz="2800" b="1" dirty="0"/>
              <a:t>线程（</a:t>
            </a:r>
            <a:r>
              <a:rPr lang="en-US" altLang="zh-CN" sz="2800" b="1" dirty="0"/>
              <a:t>Threads</a:t>
            </a:r>
            <a:r>
              <a:rPr lang="zh-CN" altLang="en-US" sz="2800" b="1" dirty="0"/>
              <a:t>）；以提高程序并发执行的程度，进一步提高系统的吞吐量。</a:t>
            </a:r>
            <a:endParaRPr lang="zh-CN" altLang="en-US" sz="2800" b="1" dirty="0"/>
          </a:p>
          <a:p>
            <a:pPr eaLnBrk="1" hangingPunct="1">
              <a:lnSpc>
                <a:spcPct val="110000"/>
              </a:lnSpc>
            </a:pPr>
            <a:r>
              <a:rPr lang="zh-CN" altLang="en-US" sz="2800" b="1" dirty="0"/>
              <a:t>线程能比进程更好地提高程序的并行执行程度，充分地发挥多处理机的优越性，在多处理机</a:t>
            </a:r>
            <a:r>
              <a:rPr lang="en-US" altLang="zh-CN" sz="2800" b="1" dirty="0"/>
              <a:t>0S</a:t>
            </a:r>
            <a:r>
              <a:rPr lang="zh-CN" altLang="en-US" sz="2800" b="1" dirty="0"/>
              <a:t>中也都引入了线程，以改善</a:t>
            </a:r>
            <a:r>
              <a:rPr lang="en-US" altLang="zh-CN" sz="2800" b="1" dirty="0"/>
              <a:t>OS</a:t>
            </a:r>
            <a:r>
              <a:rPr lang="zh-CN" altLang="en-US" sz="2800" b="1" dirty="0"/>
              <a:t>的性能。 </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7570"/>
                                        </p:tgtEl>
                                        <p:attrNameLst>
                                          <p:attrName>style.visibility</p:attrName>
                                        </p:attrNameLst>
                                      </p:cBhvr>
                                      <p:to>
                                        <p:strVal val="visible"/>
                                      </p:to>
                                    </p:set>
                                    <p:animEffect transition="in" filter="fade">
                                      <p:cBhvr>
                                        <p:cTn id="7" dur="2000"/>
                                        <p:tgtEl>
                                          <p:spTgt spid="2375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9091">
                                            <p:txEl>
                                              <p:charRg st="0" end="73"/>
                                            </p:txEl>
                                          </p:spTgt>
                                        </p:tgtEl>
                                        <p:attrNameLst>
                                          <p:attrName>style.visibility</p:attrName>
                                        </p:attrNameLst>
                                      </p:cBhvr>
                                      <p:to>
                                        <p:strVal val="visible"/>
                                      </p:to>
                                    </p:set>
                                    <p:animEffect transition="in" filter="fade">
                                      <p:cBhvr>
                                        <p:cTn id="12" dur="2000"/>
                                        <p:tgtEl>
                                          <p:spTgt spid="89091">
                                            <p:txEl>
                                              <p:charRg st="0" end="7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9091">
                                            <p:txEl>
                                              <p:charRg st="73" end="135"/>
                                            </p:txEl>
                                          </p:spTgt>
                                        </p:tgtEl>
                                        <p:attrNameLst>
                                          <p:attrName>style.visibility</p:attrName>
                                        </p:attrNameLst>
                                      </p:cBhvr>
                                      <p:to>
                                        <p:strVal val="visible"/>
                                      </p:to>
                                    </p:set>
                                    <p:animEffect transition="in" filter="fade">
                                      <p:cBhvr>
                                        <p:cTn id="17" dur="2000"/>
                                        <p:tgtEl>
                                          <p:spTgt spid="89091">
                                            <p:txEl>
                                              <p:charRg st="73"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p:bldP spid="89091" grpId="0" build="p"/>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noRot="1"/>
          </p:cNvSpPr>
          <p:nvPr>
            <p:ph type="title"/>
          </p:nvPr>
        </p:nvSpPr>
        <p:spPr>
          <a:xfrm>
            <a:off x="381000" y="76200"/>
            <a:ext cx="8540750" cy="1143000"/>
          </a:xfrm>
          <a:ln/>
        </p:spPr>
        <p:txBody>
          <a:bodyPr vert="horz" wrap="square" lIns="91440" tIns="45720" rIns="91440" bIns="45720" anchor="ctr" anchorCtr="0"/>
          <a:p>
            <a:r>
              <a:rPr lang="en-US" altLang="zh-CN" b="1" dirty="0">
                <a:solidFill>
                  <a:srgbClr val="FF0000"/>
                </a:solidFill>
              </a:rPr>
              <a:t>2.7.1</a:t>
            </a:r>
            <a:r>
              <a:rPr lang="zh-CN" altLang="en-US" b="1" dirty="0">
                <a:solidFill>
                  <a:srgbClr val="FF0000"/>
                </a:solidFill>
              </a:rPr>
              <a:t>线程的引入</a:t>
            </a:r>
            <a:endParaRPr lang="zh-CN" altLang="en-US" b="1" dirty="0">
              <a:solidFill>
                <a:srgbClr val="FF0000"/>
              </a:solidFill>
            </a:endParaRPr>
          </a:p>
        </p:txBody>
      </p:sp>
      <p:sp>
        <p:nvSpPr>
          <p:cNvPr id="182275" name="Rectangle 3"/>
          <p:cNvSpPr>
            <a:spLocks noGrp="1" noRot="1"/>
          </p:cNvSpPr>
          <p:nvPr>
            <p:ph idx="1"/>
          </p:nvPr>
        </p:nvSpPr>
        <p:spPr>
          <a:xfrm>
            <a:off x="301625" y="1828800"/>
            <a:ext cx="8540750" cy="3965575"/>
          </a:xfrm>
          <a:ln/>
        </p:spPr>
        <p:txBody>
          <a:bodyPr vert="horz" wrap="square" lIns="91440" tIns="45720" rIns="91440" bIns="45720" anchor="t" anchorCtr="0"/>
          <a:p>
            <a:pPr>
              <a:lnSpc>
                <a:spcPct val="80000"/>
              </a:lnSpc>
            </a:pPr>
            <a:r>
              <a:rPr lang="zh-CN" altLang="en-US" sz="2800" b="1" dirty="0"/>
              <a:t>为使程序能并发执行，系统还必须进行以下的一系列操作。</a:t>
            </a:r>
            <a:endParaRPr lang="zh-CN" altLang="en-US" sz="2800" b="1" dirty="0"/>
          </a:p>
          <a:p>
            <a:pPr>
              <a:lnSpc>
                <a:spcPct val="80000"/>
              </a:lnSpc>
            </a:pPr>
            <a:r>
              <a:rPr lang="zh-CN" altLang="en-US" sz="2800" b="1" dirty="0"/>
              <a:t>         </a:t>
            </a:r>
            <a:r>
              <a:rPr lang="en-US" altLang="zh-CN" sz="2800" b="1" dirty="0"/>
              <a:t>1) </a:t>
            </a:r>
            <a:r>
              <a:rPr lang="zh-CN" altLang="en-US" sz="2800" b="1" dirty="0"/>
              <a:t>创建进程</a:t>
            </a:r>
            <a:endParaRPr lang="zh-CN" altLang="en-US" sz="2800" b="1" dirty="0"/>
          </a:p>
          <a:p>
            <a:pPr>
              <a:lnSpc>
                <a:spcPct val="80000"/>
              </a:lnSpc>
            </a:pPr>
            <a:r>
              <a:rPr lang="zh-CN" altLang="en-US" sz="2800" b="1" dirty="0"/>
              <a:t>         </a:t>
            </a:r>
            <a:r>
              <a:rPr lang="en-US" altLang="zh-CN" sz="2800" b="1" dirty="0"/>
              <a:t>2) </a:t>
            </a:r>
            <a:r>
              <a:rPr lang="zh-CN" altLang="en-US" sz="2800" b="1" dirty="0"/>
              <a:t>撤消进程 </a:t>
            </a:r>
            <a:endParaRPr lang="zh-CN" altLang="en-US" sz="2800" b="1" dirty="0"/>
          </a:p>
          <a:p>
            <a:pPr>
              <a:lnSpc>
                <a:spcPct val="80000"/>
              </a:lnSpc>
            </a:pPr>
            <a:r>
              <a:rPr lang="zh-CN" altLang="en-US" sz="2800" b="1" dirty="0"/>
              <a:t>         </a:t>
            </a:r>
            <a:r>
              <a:rPr lang="en-US" altLang="zh-CN" sz="2800" b="1" dirty="0"/>
              <a:t>3) </a:t>
            </a:r>
            <a:r>
              <a:rPr lang="zh-CN" altLang="en-US" sz="2800" b="1" dirty="0"/>
              <a:t>进程切换 </a:t>
            </a:r>
            <a:endParaRPr lang="zh-CN" altLang="en-US" sz="2800" b="1" dirty="0"/>
          </a:p>
          <a:p>
            <a:pPr>
              <a:lnSpc>
                <a:spcPct val="80000"/>
              </a:lnSpc>
            </a:pPr>
            <a:r>
              <a:rPr lang="zh-CN" altLang="en-US" sz="2800" b="1" dirty="0"/>
              <a:t>由于进程是一个资源的拥有者，因而在创建、撤销和切换中，系统必须为此付出较大的时间和空间的开销。</a:t>
            </a:r>
            <a:endParaRPr lang="zh-CN" altLang="en-US" sz="2800" b="1" dirty="0"/>
          </a:p>
          <a:p>
            <a:pPr>
              <a:lnSpc>
                <a:spcPct val="80000"/>
              </a:lnSpc>
            </a:pPr>
            <a:r>
              <a:rPr lang="zh-CN" altLang="en-US" sz="2800" b="1" dirty="0">
                <a:solidFill>
                  <a:srgbClr val="FF0000"/>
                </a:solidFill>
              </a:rPr>
              <a:t>如何使多个程序更好的并发执行，同时又能减少系统开销？？ </a:t>
            </a:r>
            <a:endParaRPr lang="zh-CN" altLang="en-US" sz="2800" b="1" dirty="0">
              <a:solidFill>
                <a:srgbClr val="FF0000"/>
              </a:solidFill>
            </a:endParaRPr>
          </a:p>
          <a:p>
            <a:pPr>
              <a:lnSpc>
                <a:spcPct val="80000"/>
              </a:lnSpc>
            </a:pPr>
            <a:endParaRPr lang="zh-CN" altLang="en-US" sz="2800" b="1" dirty="0">
              <a:solidFill>
                <a:srgbClr val="FF0000"/>
              </a:solidFill>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5" name="Rectangle 3"/>
          <p:cNvSpPr>
            <a:spLocks noGrp="1" noRot="1" noChangeArrowheads="1"/>
          </p:cNvSpPr>
          <p:nvPr>
            <p:ph type="body" idx="1"/>
          </p:nvPr>
        </p:nvSpPr>
        <p:spPr>
          <a:xfrm>
            <a:off x="457200" y="1524000"/>
            <a:ext cx="8153400" cy="4800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进程的概念体现出两个特点： </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①</a:t>
            </a:r>
            <a:r>
              <a:rPr kumimoji="0" lang="zh-CN" altLang="en-US" sz="2800" b="1" i="0" u="none" strike="noStrike" kern="0" cap="none" spc="0" normalizeH="0" baseline="0" noProof="0" dirty="0" smtClean="0">
                <a:ln>
                  <a:noFill/>
                </a:ln>
                <a:solidFill>
                  <a:schemeClr val="folHlink"/>
                </a:solidFill>
                <a:effectLst/>
                <a:uLnTx/>
                <a:uFillTx/>
                <a:latin typeface="楷体_GB2312" pitchFamily="49" charset="-122"/>
                <a:ea typeface="楷体_GB2312" pitchFamily="49" charset="-122"/>
                <a:cs typeface="+mn-cs"/>
              </a:rPr>
              <a:t>资源所有权</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：一个进程包括一个保存进程映像的虚地址空间，并且随时分配对资源的的控制或所有权，包括内存、</a:t>
            </a:r>
            <a:r>
              <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I/O</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通道、</a:t>
            </a:r>
            <a:r>
              <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I/O</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设备、文件等。</a:t>
            </a:r>
            <a:endPar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endPar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②</a:t>
            </a:r>
            <a:r>
              <a:rPr kumimoji="0" lang="zh-CN" altLang="en-US" sz="2800" b="1" i="0" u="none" strike="noStrike" kern="0" cap="none" spc="0" normalizeH="0" baseline="0" noProof="0" dirty="0" smtClean="0">
                <a:ln>
                  <a:noFill/>
                </a:ln>
                <a:solidFill>
                  <a:schemeClr val="folHlink"/>
                </a:solidFill>
                <a:effectLst/>
                <a:uLnTx/>
                <a:uFillTx/>
                <a:latin typeface="楷体_GB2312" pitchFamily="49" charset="-122"/>
                <a:ea typeface="楷体_GB2312" pitchFamily="49" charset="-122"/>
                <a:cs typeface="+mn-cs"/>
              </a:rPr>
              <a:t>调度／执行</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：进程是被操作系统</a:t>
            </a:r>
            <a:r>
              <a:rPr kumimoji="0" lang="zh-CN" altLang="en-US" sz="2800" b="1" i="0" u="none" strike="noStrike" kern="0" cap="none" spc="0" normalizeH="0" baseline="0" noProof="0" dirty="0" smtClean="0">
                <a:ln>
                  <a:noFill/>
                </a:ln>
                <a:solidFill>
                  <a:schemeClr val="folHlink"/>
                </a:solidFill>
                <a:effectLst/>
                <a:uLnTx/>
                <a:uFillTx/>
                <a:latin typeface="楷体_GB2312" pitchFamily="49" charset="-122"/>
                <a:ea typeface="楷体_GB2312" pitchFamily="49" charset="-122"/>
                <a:cs typeface="+mn-cs"/>
              </a:rPr>
              <a:t>调度的实体</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调度并分派的部分通常称为</a:t>
            </a:r>
            <a:r>
              <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线程或轻便进程</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lightweight process</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），而</a:t>
            </a: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资源所有权</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的部分通常称为进程。</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238596" name="Rectangle 4"/>
          <p:cNvSpPr>
            <a:spLocks noGrp="1" noRot="1"/>
          </p:cNvSpPr>
          <p:nvPr>
            <p:ph type="title"/>
          </p:nvPr>
        </p:nvSpPr>
        <p:spPr>
          <a:ln/>
        </p:spPr>
        <p:txBody>
          <a:bodyPr vert="horz" wrap="square" lIns="91440" tIns="45720" rIns="91440" bIns="45720" anchor="ctr" anchorCtr="0"/>
          <a:p>
            <a:pPr eaLnBrk="1" hangingPunct="1"/>
            <a:r>
              <a:rPr lang="en-US" altLang="zh-CN" b="1" dirty="0">
                <a:solidFill>
                  <a:srgbClr val="FF0000"/>
                </a:solidFill>
              </a:rPr>
              <a:t>1</a:t>
            </a:r>
            <a:r>
              <a:rPr lang="zh-CN" altLang="en-US" b="1" dirty="0">
                <a:solidFill>
                  <a:srgbClr val="FF0000"/>
                </a:solidFill>
              </a:rPr>
              <a:t>、线程的引入</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8596"/>
                                        </p:tgtEl>
                                        <p:attrNameLst>
                                          <p:attrName>style.visibility</p:attrName>
                                        </p:attrNameLst>
                                      </p:cBhvr>
                                      <p:to>
                                        <p:strVal val="visible"/>
                                      </p:to>
                                    </p:set>
                                    <p:animEffect transition="in" filter="fade">
                                      <p:cBhvr>
                                        <p:cTn id="7" dur="2000"/>
                                        <p:tgtEl>
                                          <p:spTgt spid="2385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8595">
                                            <p:txEl>
                                              <p:charRg st="0" end="15"/>
                                            </p:txEl>
                                          </p:spTgt>
                                        </p:tgtEl>
                                        <p:attrNameLst>
                                          <p:attrName>style.visibility</p:attrName>
                                        </p:attrNameLst>
                                      </p:cBhvr>
                                      <p:to>
                                        <p:strVal val="visible"/>
                                      </p:to>
                                    </p:set>
                                    <p:animEffect transition="in" filter="fade">
                                      <p:cBhvr>
                                        <p:cTn id="12" dur="2000"/>
                                        <p:tgtEl>
                                          <p:spTgt spid="238595">
                                            <p:txEl>
                                              <p:charRg st="0" end="1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8595">
                                            <p:txEl>
                                              <p:charRg st="15" end="83"/>
                                            </p:txEl>
                                          </p:spTgt>
                                        </p:tgtEl>
                                        <p:attrNameLst>
                                          <p:attrName>style.visibility</p:attrName>
                                        </p:attrNameLst>
                                      </p:cBhvr>
                                      <p:to>
                                        <p:strVal val="visible"/>
                                      </p:to>
                                    </p:set>
                                    <p:animEffect transition="in" filter="fade">
                                      <p:cBhvr>
                                        <p:cTn id="17" dur="2000"/>
                                        <p:tgtEl>
                                          <p:spTgt spid="238595">
                                            <p:txEl>
                                              <p:charRg st="15" end="8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8595">
                                            <p:txEl>
                                              <p:charRg st="84" end="106"/>
                                            </p:txEl>
                                          </p:spTgt>
                                        </p:tgtEl>
                                        <p:attrNameLst>
                                          <p:attrName>style.visibility</p:attrName>
                                        </p:attrNameLst>
                                      </p:cBhvr>
                                      <p:to>
                                        <p:strVal val="visible"/>
                                      </p:to>
                                    </p:set>
                                    <p:animEffect transition="in" filter="fade">
                                      <p:cBhvr>
                                        <p:cTn id="22" dur="2000"/>
                                        <p:tgtEl>
                                          <p:spTgt spid="238595">
                                            <p:txEl>
                                              <p:charRg st="84" end="10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8595">
                                            <p:txEl>
                                              <p:charRg st="106" end="164"/>
                                            </p:txEl>
                                          </p:spTgt>
                                        </p:tgtEl>
                                        <p:attrNameLst>
                                          <p:attrName>style.visibility</p:attrName>
                                        </p:attrNameLst>
                                      </p:cBhvr>
                                      <p:to>
                                        <p:strVal val="visible"/>
                                      </p:to>
                                    </p:set>
                                    <p:animEffect transition="in" filter="fade">
                                      <p:cBhvr>
                                        <p:cTn id="27" dur="2000"/>
                                        <p:tgtEl>
                                          <p:spTgt spid="238595">
                                            <p:txEl>
                                              <p:charRg st="106"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P spid="238596" grpId="0"/>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2"/>
          <p:cNvSpPr>
            <a:spLocks noGrp="1" noRot="1"/>
          </p:cNvSpPr>
          <p:nvPr>
            <p:ph type="title"/>
          </p:nvPr>
        </p:nvSpPr>
        <p:spPr>
          <a:ln/>
        </p:spPr>
        <p:txBody>
          <a:bodyPr vert="horz" wrap="square" lIns="91440" tIns="45720" rIns="91440" bIns="45720" anchor="ctr" anchorCtr="0"/>
          <a:p>
            <a:r>
              <a:rPr lang="en-US" altLang="zh-CN" b="1" dirty="0">
                <a:solidFill>
                  <a:srgbClr val="FF0000"/>
                </a:solidFill>
              </a:rPr>
              <a:t>2.7.2 </a:t>
            </a:r>
            <a:r>
              <a:rPr lang="zh-CN" altLang="en-US" b="1" dirty="0">
                <a:solidFill>
                  <a:srgbClr val="FF0000"/>
                </a:solidFill>
              </a:rPr>
              <a:t>线程与进程的比较</a:t>
            </a:r>
            <a:endParaRPr lang="zh-CN" altLang="en-US" b="1" dirty="0">
              <a:solidFill>
                <a:srgbClr val="FF0000"/>
              </a:solidFill>
            </a:endParaRPr>
          </a:p>
        </p:txBody>
      </p:sp>
      <p:sp>
        <p:nvSpPr>
          <p:cNvPr id="184323" name="Rectangle 3"/>
          <p:cNvSpPr>
            <a:spLocks noGrp="1" noRot="1"/>
          </p:cNvSpPr>
          <p:nvPr>
            <p:ph idx="1"/>
          </p:nvPr>
        </p:nvSpPr>
        <p:spPr>
          <a:xfrm>
            <a:off x="301625" y="1749425"/>
            <a:ext cx="8540750" cy="4498975"/>
          </a:xfrm>
          <a:ln/>
        </p:spPr>
        <p:txBody>
          <a:bodyPr vert="horz" wrap="square" lIns="91440" tIns="45720" rIns="91440" bIns="45720" anchor="t" anchorCtr="0"/>
          <a:p>
            <a:r>
              <a:rPr lang="zh-CN" altLang="en-US" sz="2800" b="1" dirty="0"/>
              <a:t>线程具有许多传统进程所具有的特征，所以又称为轻型进程</a:t>
            </a:r>
            <a:r>
              <a:rPr lang="en-US" altLang="zh-CN" sz="2800" b="1" dirty="0"/>
              <a:t>(Light-Weight Process)</a:t>
            </a:r>
            <a:r>
              <a:rPr lang="zh-CN" altLang="en-US" sz="2800" b="1" dirty="0"/>
              <a:t> ，相应地把传统进程称为重型进程</a:t>
            </a:r>
            <a:r>
              <a:rPr lang="en-US" altLang="zh-CN" sz="2800" b="1" dirty="0"/>
              <a:t>(Heavy-Weight Process)</a:t>
            </a:r>
            <a:r>
              <a:rPr lang="zh-CN" altLang="en-US" sz="2800" b="1" dirty="0"/>
              <a:t>，传统进程相当于只有一个线程的任务。</a:t>
            </a:r>
            <a:endParaRPr lang="zh-CN" altLang="en-US" sz="2800" b="1" dirty="0"/>
          </a:p>
          <a:p>
            <a:r>
              <a:rPr lang="zh-CN" altLang="en-US" sz="2800" b="1" dirty="0"/>
              <a:t>在引入了线程的操作系统中，通常一个进程都拥有若干个线程，至少也有一个线程。</a:t>
            </a:r>
            <a:endParaRPr lang="zh-CN" altLang="en-US" sz="2800" b="1"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noRot="1"/>
          </p:cNvSpPr>
          <p:nvPr>
            <p:ph type="title"/>
          </p:nvPr>
        </p:nvSpPr>
        <p:spPr>
          <a:ln/>
        </p:spPr>
        <p:txBody>
          <a:bodyPr vert="horz" wrap="square" lIns="91440" tIns="45720" rIns="91440" bIns="45720" anchor="ctr" anchorCtr="0"/>
          <a:p>
            <a:r>
              <a:rPr lang="en-US" altLang="zh-CN" b="1" dirty="0">
                <a:solidFill>
                  <a:srgbClr val="FF0000"/>
                </a:solidFill>
              </a:rPr>
              <a:t>2.</a:t>
            </a:r>
            <a:r>
              <a:rPr lang="zh-CN" altLang="en-US" b="1" dirty="0">
                <a:solidFill>
                  <a:srgbClr val="FF0000"/>
                </a:solidFill>
              </a:rPr>
              <a:t>线程与进程的比较</a:t>
            </a:r>
            <a:endParaRPr lang="zh-CN" altLang="en-US" b="1" dirty="0">
              <a:solidFill>
                <a:srgbClr val="FF0000"/>
              </a:solidFill>
            </a:endParaRPr>
          </a:p>
        </p:txBody>
      </p:sp>
      <p:sp>
        <p:nvSpPr>
          <p:cNvPr id="185347" name="Rectangle 3"/>
          <p:cNvSpPr>
            <a:spLocks noGrp="1" noRot="1"/>
          </p:cNvSpPr>
          <p:nvPr>
            <p:ph idx="1"/>
          </p:nvPr>
        </p:nvSpPr>
        <p:spPr>
          <a:ln/>
        </p:spPr>
        <p:txBody>
          <a:bodyPr vert="horz" wrap="square" lIns="91440" tIns="45720" rIns="91440" bIns="45720" anchor="t" anchorCtr="0"/>
          <a:p>
            <a:pPr>
              <a:lnSpc>
                <a:spcPct val="90000"/>
              </a:lnSpc>
            </a:pPr>
            <a:r>
              <a:rPr lang="zh-CN" altLang="en-US" sz="2800" b="1" dirty="0"/>
              <a:t>从调度性、并发性、系统开销和拥有资源等方面对线程和进程进行比较。</a:t>
            </a:r>
            <a:endParaRPr lang="zh-CN" altLang="en-US" sz="2800" b="1" dirty="0"/>
          </a:p>
          <a:p>
            <a:pPr>
              <a:lnSpc>
                <a:spcPct val="90000"/>
              </a:lnSpc>
            </a:pPr>
            <a:r>
              <a:rPr lang="en-US" altLang="zh-CN" sz="2800" b="1" dirty="0">
                <a:solidFill>
                  <a:srgbClr val="FF0000"/>
                </a:solidFill>
              </a:rPr>
              <a:t>1) </a:t>
            </a:r>
            <a:r>
              <a:rPr lang="zh-CN" altLang="en-US" sz="2800" b="1" dirty="0">
                <a:solidFill>
                  <a:srgbClr val="FF0000"/>
                </a:solidFill>
              </a:rPr>
              <a:t>调度</a:t>
            </a:r>
            <a:endParaRPr lang="zh-CN" altLang="en-US" sz="2800" b="1" dirty="0">
              <a:solidFill>
                <a:srgbClr val="FF0000"/>
              </a:solidFill>
            </a:endParaRPr>
          </a:p>
          <a:p>
            <a:pPr>
              <a:lnSpc>
                <a:spcPct val="90000"/>
              </a:lnSpc>
            </a:pPr>
            <a:r>
              <a:rPr lang="zh-CN" altLang="en-US" sz="2800" b="1" dirty="0"/>
              <a:t>在传统的操作系统中，进程作为拥有资源和独立调度、分派的基本单位。而在引入线程的操作系统中，则把</a:t>
            </a:r>
            <a:r>
              <a:rPr lang="zh-CN" altLang="en-US" sz="2800" b="1" dirty="0">
                <a:solidFill>
                  <a:srgbClr val="FF0000"/>
                </a:solidFill>
              </a:rPr>
              <a:t>线程作为调度和分派的基本单位</a:t>
            </a:r>
            <a:r>
              <a:rPr lang="zh-CN" altLang="en-US" sz="2800" b="1" dirty="0"/>
              <a:t>，而</a:t>
            </a:r>
            <a:r>
              <a:rPr lang="zh-CN" altLang="en-US" sz="2800" b="1" dirty="0">
                <a:solidFill>
                  <a:srgbClr val="FF0000"/>
                </a:solidFill>
              </a:rPr>
              <a:t>进程作为资源拥有的基本单位</a:t>
            </a:r>
            <a:r>
              <a:rPr lang="zh-CN" altLang="en-US" sz="2800" b="1" dirty="0"/>
              <a:t>。</a:t>
            </a:r>
            <a:endParaRPr lang="zh-CN" altLang="en-US" sz="2800" b="1" dirty="0"/>
          </a:p>
          <a:p>
            <a:pPr>
              <a:lnSpc>
                <a:spcPct val="90000"/>
              </a:lnSpc>
            </a:pPr>
            <a:r>
              <a:rPr lang="zh-CN" altLang="en-US" sz="2800" b="1" dirty="0"/>
              <a:t>在同一进程中，</a:t>
            </a:r>
            <a:r>
              <a:rPr lang="zh-CN" altLang="en-US" sz="2800" b="1" dirty="0">
                <a:solidFill>
                  <a:srgbClr val="FF0000"/>
                </a:solidFill>
              </a:rPr>
              <a:t>线程的切换不会引起进程的切换</a:t>
            </a:r>
            <a:r>
              <a:rPr lang="zh-CN" altLang="en-US" sz="2800" b="1" dirty="0"/>
              <a:t>，但从一个进程中的线程切换到另一个进程中的线程时，将会引起进程的切换。</a:t>
            </a:r>
            <a:endParaRPr lang="zh-CN" altLang="en-US" sz="2800" b="1"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3"/>
          <p:cNvSpPr>
            <a:spLocks noGrp="1" noRot="1"/>
          </p:cNvSpPr>
          <p:nvPr>
            <p:ph idx="1"/>
          </p:nvPr>
        </p:nvSpPr>
        <p:spPr>
          <a:xfrm>
            <a:off x="301625" y="685800"/>
            <a:ext cx="8540750" cy="5413375"/>
          </a:xfrm>
          <a:ln/>
        </p:spPr>
        <p:txBody>
          <a:bodyPr vert="horz" wrap="square" lIns="91440" tIns="45720" rIns="91440" bIns="45720" anchor="t" anchorCtr="0"/>
          <a:p>
            <a:pPr>
              <a:lnSpc>
                <a:spcPct val="80000"/>
              </a:lnSpc>
            </a:pPr>
            <a:r>
              <a:rPr lang="en-US" altLang="zh-CN" b="1" dirty="0">
                <a:solidFill>
                  <a:srgbClr val="FF0000"/>
                </a:solidFill>
              </a:rPr>
              <a:t>2) </a:t>
            </a:r>
            <a:r>
              <a:rPr lang="zh-CN" altLang="en-US" b="1" dirty="0">
                <a:solidFill>
                  <a:srgbClr val="FF0000"/>
                </a:solidFill>
              </a:rPr>
              <a:t>并发性</a:t>
            </a:r>
            <a:endParaRPr lang="zh-CN" altLang="en-US" b="1" dirty="0">
              <a:solidFill>
                <a:srgbClr val="FF0000"/>
              </a:solidFill>
            </a:endParaRPr>
          </a:p>
          <a:p>
            <a:pPr>
              <a:lnSpc>
                <a:spcPct val="80000"/>
              </a:lnSpc>
            </a:pPr>
            <a:endParaRPr lang="zh-CN" altLang="en-US" sz="2800" b="1" dirty="0">
              <a:solidFill>
                <a:srgbClr val="FF0000"/>
              </a:solidFill>
            </a:endParaRPr>
          </a:p>
          <a:p>
            <a:r>
              <a:rPr lang="zh-CN" altLang="en-US" sz="2400" b="1" dirty="0"/>
              <a:t>在引入线程的操作系统中，不仅进程之间可以并发执行，而且在一个进程中的</a:t>
            </a:r>
            <a:r>
              <a:rPr lang="zh-CN" altLang="en-US" sz="2400" b="1" dirty="0">
                <a:solidFill>
                  <a:srgbClr val="FF0000"/>
                </a:solidFill>
              </a:rPr>
              <a:t>多个线程之间亦可并发执行</a:t>
            </a:r>
            <a:r>
              <a:rPr lang="zh-CN" altLang="en-US" sz="2400" b="1" dirty="0"/>
              <a:t>，使得操作系统具有更好的并发性，从而能更加有效地提高系统资源的利用率和系统的吞吐量。</a:t>
            </a:r>
            <a:endParaRPr lang="zh-CN" altLang="en-US" sz="2400" b="1" dirty="0"/>
          </a:p>
          <a:p>
            <a:r>
              <a:rPr lang="zh-CN" altLang="en-US" sz="2400" b="1" dirty="0"/>
              <a:t>例如，在一个未引入线程的单</a:t>
            </a:r>
            <a:r>
              <a:rPr lang="en-US" altLang="zh-CN" sz="2400" b="1" dirty="0"/>
              <a:t>CPU</a:t>
            </a:r>
            <a:r>
              <a:rPr lang="zh-CN" altLang="en-US" sz="2400" b="1" dirty="0"/>
              <a:t>操作系统中，若仅设置一个文件服务进程，当该进程由于某种原因而被阻塞时，便没有其它的文件服务进程来提供服务。</a:t>
            </a:r>
            <a:endParaRPr lang="zh-CN" altLang="en-US" sz="2400" b="1" dirty="0"/>
          </a:p>
          <a:p>
            <a:r>
              <a:rPr lang="zh-CN" altLang="en-US" sz="2400" b="1" dirty="0"/>
              <a:t>在引入线程的操作系统中，则可以在一个文件服务进程中设置多个服务线程。当第一个线程等待时，文件服务进程中的第二个线程可以继续运行，以提供文件服务；当第二个线程阻塞时，则可由第三个继续执行，提供服务。显然，这样的方法可以显著地提高文件服务的质量和系统的吞吐量。</a:t>
            </a:r>
            <a:endParaRPr lang="zh-CN" altLang="en-US" sz="2400" b="1"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noRot="1"/>
          </p:cNvSpPr>
          <p:nvPr>
            <p:ph type="title"/>
          </p:nvPr>
        </p:nvSpPr>
        <p:spPr>
          <a:ln/>
        </p:spPr>
        <p:txBody>
          <a:bodyPr vert="horz" wrap="square" lIns="91440" tIns="45720" rIns="91440" bIns="45720" anchor="ctr" anchorCtr="0"/>
          <a:p>
            <a:endParaRPr lang="zh-CN" altLang="en-US" dirty="0"/>
          </a:p>
        </p:txBody>
      </p:sp>
      <p:sp>
        <p:nvSpPr>
          <p:cNvPr id="187395" name="Rectangle 3"/>
          <p:cNvSpPr>
            <a:spLocks noGrp="1" noRot="1"/>
          </p:cNvSpPr>
          <p:nvPr>
            <p:ph idx="1"/>
          </p:nvPr>
        </p:nvSpPr>
        <p:spPr>
          <a:ln/>
        </p:spPr>
        <p:txBody>
          <a:bodyPr vert="horz" wrap="square" lIns="91440" tIns="45720" rIns="91440" bIns="45720" anchor="t" anchorCtr="0"/>
          <a:p>
            <a:pPr>
              <a:lnSpc>
                <a:spcPct val="120000"/>
              </a:lnSpc>
            </a:pPr>
            <a:r>
              <a:rPr lang="en-US" altLang="zh-CN" b="1" dirty="0">
                <a:solidFill>
                  <a:srgbClr val="FF0000"/>
                </a:solidFill>
              </a:rPr>
              <a:t>3) </a:t>
            </a:r>
            <a:r>
              <a:rPr lang="zh-CN" altLang="en-US" b="1" dirty="0">
                <a:solidFill>
                  <a:srgbClr val="FF0000"/>
                </a:solidFill>
              </a:rPr>
              <a:t>拥有资源</a:t>
            </a:r>
            <a:endParaRPr lang="zh-CN" altLang="en-US" b="1" dirty="0">
              <a:solidFill>
                <a:srgbClr val="FF0000"/>
              </a:solidFill>
            </a:endParaRPr>
          </a:p>
          <a:p>
            <a:pPr>
              <a:lnSpc>
                <a:spcPct val="120000"/>
              </a:lnSpc>
            </a:pPr>
            <a:r>
              <a:rPr lang="zh-CN" altLang="en-US" b="1" dirty="0"/>
              <a:t>一般而言，线程自己不拥有系统资源</a:t>
            </a:r>
            <a:r>
              <a:rPr lang="en-US" altLang="zh-CN" b="1" dirty="0"/>
              <a:t>(</a:t>
            </a:r>
            <a:r>
              <a:rPr lang="zh-CN" altLang="en-US" b="1" dirty="0"/>
              <a:t>也有一点必不可少的资源</a:t>
            </a:r>
            <a:r>
              <a:rPr lang="en-US" altLang="zh-CN" b="1" dirty="0"/>
              <a:t>)</a:t>
            </a:r>
            <a:r>
              <a:rPr lang="zh-CN" altLang="en-US" b="1" dirty="0"/>
              <a:t>，但它可以访问其隶属进程的资源，即一个进程的代码段、数据段及所拥有的系统资源，如已打开的文件、</a:t>
            </a:r>
            <a:r>
              <a:rPr lang="en-US" altLang="zh-CN" b="1" dirty="0"/>
              <a:t>I/O </a:t>
            </a:r>
            <a:r>
              <a:rPr lang="zh-CN" altLang="en-US" b="1" dirty="0"/>
              <a:t>设备等，可以供该进程中的所有线程所共享。</a:t>
            </a:r>
            <a:endParaRPr lang="zh-CN" altLang="en-US" b="1"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标题 1"/>
          <p:cNvSpPr>
            <a:spLocks noGrp="1"/>
          </p:cNvSpPr>
          <p:nvPr>
            <p:ph type="title"/>
          </p:nvPr>
        </p:nvSpPr>
        <p:spPr>
          <a:ln/>
        </p:spPr>
        <p:txBody>
          <a:bodyPr vert="horz" wrap="square" lIns="91440" tIns="45720" rIns="91440" bIns="45720" anchor="ctr" anchorCtr="0"/>
          <a:p>
            <a:endParaRPr lang="zh-CN" altLang="en-US" dirty="0"/>
          </a:p>
        </p:txBody>
      </p:sp>
      <p:sp>
        <p:nvSpPr>
          <p:cNvPr id="188419" name="内容占位符 2"/>
          <p:cNvSpPr>
            <a:spLocks noGrp="1"/>
          </p:cNvSpPr>
          <p:nvPr>
            <p:ph idx="1"/>
          </p:nvPr>
        </p:nvSpPr>
        <p:spPr>
          <a:xfrm>
            <a:off x="301625" y="1524000"/>
            <a:ext cx="8540750" cy="4498975"/>
          </a:xfrm>
          <a:ln/>
        </p:spPr>
        <p:txBody>
          <a:bodyPr vert="horz" wrap="square" lIns="91440" tIns="45720" rIns="91440" bIns="45720" anchor="t" anchorCtr="0"/>
          <a:p>
            <a:r>
              <a:rPr lang="en-US" altLang="zh-CN" b="1" dirty="0">
                <a:solidFill>
                  <a:srgbClr val="C00000"/>
                </a:solidFill>
              </a:rPr>
              <a:t>4. </a:t>
            </a:r>
            <a:r>
              <a:rPr lang="zh-CN" altLang="en-US" b="1" dirty="0">
                <a:solidFill>
                  <a:srgbClr val="C00000"/>
                </a:solidFill>
              </a:rPr>
              <a:t>独立性</a:t>
            </a:r>
            <a:endParaRPr lang="en-US" altLang="zh-CN" b="1" dirty="0">
              <a:solidFill>
                <a:srgbClr val="C00000"/>
              </a:solidFill>
            </a:endParaRPr>
          </a:p>
          <a:p>
            <a:r>
              <a:rPr lang="zh-CN" altLang="en-US" b="1" dirty="0"/>
              <a:t>同一进程中的不同线程之间的独立性要比不同进程之间的独立性低得多。</a:t>
            </a:r>
            <a:endParaRPr lang="en-US" altLang="zh-CN" b="1" dirty="0"/>
          </a:p>
          <a:p>
            <a:pPr>
              <a:lnSpc>
                <a:spcPct val="120000"/>
              </a:lnSpc>
            </a:pPr>
            <a:r>
              <a:rPr lang="en-US" altLang="zh-CN" b="1" dirty="0">
                <a:solidFill>
                  <a:srgbClr val="FF0000"/>
                </a:solidFill>
              </a:rPr>
              <a:t>5</a:t>
            </a:r>
            <a:r>
              <a:rPr lang="zh-CN" altLang="en-US" b="1" dirty="0">
                <a:solidFill>
                  <a:srgbClr val="FF0000"/>
                </a:solidFill>
              </a:rPr>
              <a:t>）系统开销</a:t>
            </a:r>
            <a:endParaRPr lang="zh-CN" altLang="en-US" b="1" dirty="0">
              <a:solidFill>
                <a:srgbClr val="FF0000"/>
              </a:solidFill>
            </a:endParaRPr>
          </a:p>
          <a:p>
            <a:pPr>
              <a:lnSpc>
                <a:spcPct val="120000"/>
              </a:lnSpc>
              <a:buNone/>
            </a:pPr>
            <a:r>
              <a:rPr lang="zh-CN" altLang="en-US" b="1" dirty="0"/>
              <a:t>  由于一个进程中的多个线程具有相同的址空间，在同步和通信的实现方面线程也比进程容易。在一些操作系统中，线程的切换、同步和通信都无须操作系统内核的干预。</a:t>
            </a:r>
            <a:endParaRPr lang="zh-CN" altLang="en-US" b="1" dirty="0"/>
          </a:p>
          <a:p>
            <a:endParaRPr lang="zh-CN" altLang="en-US" b="1"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2"/>
          <p:cNvSpPr>
            <a:spLocks noGrp="1" noRot="1"/>
          </p:cNvSpPr>
          <p:nvPr>
            <p:ph type="title"/>
          </p:nvPr>
        </p:nvSpPr>
        <p:spPr>
          <a:ln/>
        </p:spPr>
        <p:txBody>
          <a:bodyPr vert="horz" wrap="square" lIns="91440" tIns="45720" rIns="91440" bIns="45720" anchor="ctr" anchorCtr="0"/>
          <a:p>
            <a:endParaRPr lang="zh-CN" altLang="en-US" dirty="0"/>
          </a:p>
        </p:txBody>
      </p:sp>
      <p:sp>
        <p:nvSpPr>
          <p:cNvPr id="189443" name="Rectangle 3"/>
          <p:cNvSpPr>
            <a:spLocks noGrp="1" noRot="1"/>
          </p:cNvSpPr>
          <p:nvPr>
            <p:ph idx="1"/>
          </p:nvPr>
        </p:nvSpPr>
        <p:spPr>
          <a:ln/>
        </p:spPr>
        <p:txBody>
          <a:bodyPr vert="horz" wrap="square" lIns="91440" tIns="45720" rIns="91440" bIns="45720" anchor="t" anchorCtr="0"/>
          <a:p>
            <a:pPr>
              <a:lnSpc>
                <a:spcPct val="120000"/>
              </a:lnSpc>
            </a:pPr>
            <a:r>
              <a:rPr lang="en-US" altLang="zh-CN" b="1" dirty="0">
                <a:solidFill>
                  <a:srgbClr val="C00000"/>
                </a:solidFill>
              </a:rPr>
              <a:t>6</a:t>
            </a:r>
            <a:r>
              <a:rPr lang="zh-CN" altLang="en-US" b="1" dirty="0">
                <a:solidFill>
                  <a:srgbClr val="C00000"/>
                </a:solidFill>
              </a:rPr>
              <a:t>。支持多处理机系统</a:t>
            </a:r>
            <a:endParaRPr lang="en-US" altLang="zh-CN" b="1" dirty="0">
              <a:solidFill>
                <a:srgbClr val="C00000"/>
              </a:solidFill>
            </a:endParaRPr>
          </a:p>
          <a:p>
            <a:pPr>
              <a:lnSpc>
                <a:spcPct val="120000"/>
              </a:lnSpc>
            </a:pPr>
            <a:r>
              <a:rPr lang="zh-CN" altLang="en-US" b="1" dirty="0"/>
              <a:t>可以将一个进程中的多个线程分配到多个处理机上，使他们并行执行，加速进程的完成。</a:t>
            </a:r>
            <a:endParaRPr lang="zh-CN" altLang="en-US" b="1"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Text Box 2"/>
          <p:cNvSpPr txBox="1"/>
          <p:nvPr/>
        </p:nvSpPr>
        <p:spPr>
          <a:xfrm>
            <a:off x="304800" y="457200"/>
            <a:ext cx="8382000" cy="6216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r>
              <a:rPr lang="en-US" altLang="zh-CN" sz="3600" b="1" dirty="0">
                <a:solidFill>
                  <a:srgbClr val="FF0000"/>
                </a:solidFill>
                <a:latin typeface="Times New Roman" panose="02020603050405020304" pitchFamily="18" charset="0"/>
              </a:rPr>
              <a:t>2.7.3 </a:t>
            </a:r>
            <a:r>
              <a:rPr lang="zh-CN" altLang="en-US" sz="3600" b="1" dirty="0">
                <a:solidFill>
                  <a:srgbClr val="FF0000"/>
                </a:solidFill>
                <a:latin typeface="Times New Roman" panose="02020603050405020304" pitchFamily="18" charset="0"/>
              </a:rPr>
              <a:t>线程的状态和控制块</a:t>
            </a:r>
            <a:endParaRPr lang="en-US" altLang="zh-CN" sz="3600" b="1" dirty="0">
              <a:solidFill>
                <a:srgbClr val="FF0000"/>
              </a:solidFill>
              <a:latin typeface="Times New Roman" panose="02020603050405020304" pitchFamily="18" charset="0"/>
            </a:endParaRPr>
          </a:p>
          <a:p>
            <a:pPr marL="0" lvl="0" indent="0" algn="just" eaLnBrk="1" hangingPunct="1">
              <a:spcBef>
                <a:spcPct val="50000"/>
              </a:spcBef>
              <a:buClrTx/>
              <a:buSzTx/>
              <a:buFontTx/>
              <a:buNone/>
            </a:pPr>
            <a:r>
              <a:rPr lang="en-US" altLang="zh-CN" sz="3600" b="1" dirty="0">
                <a:solidFill>
                  <a:srgbClr val="FF0000"/>
                </a:solidFill>
                <a:latin typeface="Times New Roman" panose="02020603050405020304" pitchFamily="18" charset="0"/>
              </a:rPr>
              <a:t>1</a:t>
            </a:r>
            <a:r>
              <a:rPr lang="zh-CN" altLang="en-US" sz="3600" b="1" dirty="0">
                <a:solidFill>
                  <a:srgbClr val="FF0000"/>
                </a:solidFill>
                <a:latin typeface="Times New Roman" panose="02020603050405020304" pitchFamily="18" charset="0"/>
              </a:rPr>
              <a:t>。线程运行状态</a:t>
            </a:r>
            <a:r>
              <a:rPr lang="zh-CN" altLang="en-US" sz="3600" b="1" dirty="0">
                <a:latin typeface="Times New Roman" panose="02020603050405020304" pitchFamily="18" charset="0"/>
              </a:rPr>
              <a:t> </a:t>
            </a:r>
            <a:endParaRPr lang="zh-CN" altLang="en-US" sz="3600" b="1" dirty="0">
              <a:latin typeface="Times New Roman" panose="02020603050405020304" pitchFamily="18" charset="0"/>
            </a:endParaRPr>
          </a:p>
          <a:p>
            <a:pPr marL="0" lvl="0" indent="0" algn="just" eaLnBrk="1" hangingPunct="1">
              <a:spcBef>
                <a:spcPct val="50000"/>
              </a:spcBef>
              <a:buClrTx/>
              <a:buSzTx/>
              <a:buFontTx/>
              <a:buNone/>
            </a:pPr>
            <a:r>
              <a:rPr lang="zh-CN" altLang="en-US" sz="2800" b="1" dirty="0">
                <a:latin typeface="Times New Roman" panose="02020603050405020304" pitchFamily="18" charset="0"/>
              </a:rPr>
              <a:t>        如同传统的进程一样，在各线程之间也存在着共享资源和相互合作的制约关系，致使线程在运行时也具有间断性。线程在运行时，也具有下述三种基本状态：</a:t>
            </a:r>
            <a:endParaRPr lang="zh-CN" altLang="en-US" sz="2800" b="1" dirty="0">
              <a:latin typeface="Times New Roman" panose="02020603050405020304" pitchFamily="18" charset="0"/>
            </a:endParaRPr>
          </a:p>
          <a:p>
            <a:pPr marL="0" lvl="0" indent="0" algn="just" eaLnBrk="1" hangingPunct="1">
              <a:spcBef>
                <a:spcPct val="50000"/>
              </a:spcBef>
              <a:buClrTx/>
              <a:buSzTx/>
              <a:buFontTx/>
              <a:buNone/>
            </a:pPr>
            <a:r>
              <a:rPr lang="zh-CN" altLang="en-US" sz="2800" b="1" dirty="0">
                <a:latin typeface="Times New Roman" panose="02020603050405020304" pitchFamily="18" charset="0"/>
              </a:rPr>
              <a:t>① </a:t>
            </a:r>
            <a:r>
              <a:rPr lang="zh-CN" altLang="en-US" sz="2800" b="1" dirty="0">
                <a:solidFill>
                  <a:srgbClr val="FF0000"/>
                </a:solidFill>
                <a:latin typeface="Times New Roman" panose="02020603050405020304" pitchFamily="18" charset="0"/>
              </a:rPr>
              <a:t>执行状态</a:t>
            </a:r>
            <a:r>
              <a:rPr lang="zh-CN" altLang="en-US" sz="2800" b="1" dirty="0">
                <a:latin typeface="Times New Roman" panose="02020603050405020304" pitchFamily="18" charset="0"/>
              </a:rPr>
              <a:t>，表示线程正获得处理机而运行；</a:t>
            </a:r>
            <a:endParaRPr lang="zh-CN" altLang="en-US" sz="2800" b="1" dirty="0">
              <a:latin typeface="Times New Roman" panose="02020603050405020304" pitchFamily="18" charset="0"/>
            </a:endParaRPr>
          </a:p>
          <a:p>
            <a:pPr marL="0" lvl="0" indent="0" algn="just" eaLnBrk="1" hangingPunct="1">
              <a:spcBef>
                <a:spcPct val="50000"/>
              </a:spcBef>
              <a:buClrTx/>
              <a:buSzTx/>
              <a:buFontTx/>
              <a:buNone/>
            </a:pPr>
            <a:r>
              <a:rPr lang="zh-CN" altLang="en-US" sz="2800" b="1" dirty="0">
                <a:latin typeface="Times New Roman" panose="02020603050405020304" pitchFamily="18" charset="0"/>
              </a:rPr>
              <a:t>② </a:t>
            </a:r>
            <a:r>
              <a:rPr lang="zh-CN" altLang="en-US" sz="2800" b="1" dirty="0">
                <a:solidFill>
                  <a:srgbClr val="FF0000"/>
                </a:solidFill>
                <a:latin typeface="Times New Roman" panose="02020603050405020304" pitchFamily="18" charset="0"/>
              </a:rPr>
              <a:t>就绪状态</a:t>
            </a:r>
            <a:r>
              <a:rPr lang="zh-CN" altLang="en-US" sz="2800" b="1" dirty="0">
                <a:latin typeface="Times New Roman" panose="02020603050405020304" pitchFamily="18" charset="0"/>
              </a:rPr>
              <a:t>， 指线程已具备了各种执行条件，一旦获得</a:t>
            </a:r>
            <a:r>
              <a:rPr lang="en-US" altLang="zh-CN" sz="2800" b="1" dirty="0">
                <a:latin typeface="Times New Roman" panose="02020603050405020304" pitchFamily="18" charset="0"/>
              </a:rPr>
              <a:t>CPU</a:t>
            </a:r>
            <a:r>
              <a:rPr lang="zh-CN" altLang="en-US" sz="2800" b="1" dirty="0">
                <a:latin typeface="Times New Roman" panose="02020603050405020304" pitchFamily="18" charset="0"/>
              </a:rPr>
              <a:t>便可执行的状态；</a:t>
            </a:r>
            <a:endParaRPr lang="zh-CN" altLang="en-US" sz="2800" b="1" dirty="0">
              <a:latin typeface="Times New Roman" panose="02020603050405020304" pitchFamily="18" charset="0"/>
            </a:endParaRPr>
          </a:p>
          <a:p>
            <a:pPr marL="0" lvl="0" indent="0" algn="just" eaLnBrk="1" hangingPunct="1">
              <a:spcBef>
                <a:spcPct val="50000"/>
              </a:spcBef>
              <a:buClrTx/>
              <a:buSzTx/>
              <a:buFontTx/>
              <a:buNone/>
            </a:pPr>
            <a:r>
              <a:rPr lang="zh-CN" altLang="en-US" sz="2800" b="1" dirty="0">
                <a:latin typeface="Times New Roman" panose="02020603050405020304" pitchFamily="18" charset="0"/>
              </a:rPr>
              <a:t>③ </a:t>
            </a:r>
            <a:r>
              <a:rPr lang="zh-CN" altLang="en-US" sz="2800" b="1" dirty="0">
                <a:solidFill>
                  <a:srgbClr val="FF0000"/>
                </a:solidFill>
                <a:latin typeface="Times New Roman" panose="02020603050405020304" pitchFamily="18" charset="0"/>
              </a:rPr>
              <a:t>阻塞状态</a:t>
            </a:r>
            <a:r>
              <a:rPr lang="zh-CN" altLang="en-US" sz="2800" b="1" dirty="0">
                <a:latin typeface="Times New Roman" panose="02020603050405020304" pitchFamily="18" charset="0"/>
              </a:rPr>
              <a:t>，指线程在执行中因某事件而受阻，处于暂停执行时的状态。 </a:t>
            </a:r>
            <a:endParaRPr lang="zh-CN" altLang="en-US" sz="2800" b="1" dirty="0">
              <a:latin typeface="Times New Roman" panose="02020603050405020304" pitchFamily="18" charset="0"/>
            </a:endParaRPr>
          </a:p>
        </p:txBody>
      </p:sp>
    </p:spTree>
  </p:cSld>
  <p:clrMapOvr>
    <a:masterClrMapping/>
  </p:clrMapOvr>
  <p:transition/>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标题 1"/>
          <p:cNvSpPr>
            <a:spLocks noGrp="1"/>
          </p:cNvSpPr>
          <p:nvPr>
            <p:ph type="title"/>
          </p:nvPr>
        </p:nvSpPr>
        <p:spPr>
          <a:xfrm>
            <a:off x="457200" y="304800"/>
            <a:ext cx="8540750" cy="1143000"/>
          </a:xfrm>
          <a:ln/>
        </p:spPr>
        <p:txBody>
          <a:bodyPr vert="horz" wrap="square" lIns="91440" tIns="45720" rIns="91440" bIns="45720" anchor="ctr" anchorCtr="0"/>
          <a:p>
            <a:r>
              <a:rPr lang="en-US" altLang="zh-CN" sz="3600" b="1" dirty="0">
                <a:solidFill>
                  <a:srgbClr val="FF0000"/>
                </a:solidFill>
              </a:rPr>
              <a:t>2</a:t>
            </a:r>
            <a:r>
              <a:rPr lang="zh-CN" altLang="en-US" sz="3600" b="1" dirty="0">
                <a:solidFill>
                  <a:srgbClr val="FF0000"/>
                </a:solidFill>
              </a:rPr>
              <a:t>。线程控制块</a:t>
            </a:r>
            <a:r>
              <a:rPr lang="en-US" altLang="zh-CN" sz="3600" b="1" dirty="0">
                <a:solidFill>
                  <a:srgbClr val="FF0000"/>
                </a:solidFill>
              </a:rPr>
              <a:t>TCB</a:t>
            </a:r>
            <a:endParaRPr lang="zh-CN" altLang="en-US" sz="3600" b="1" dirty="0">
              <a:solidFill>
                <a:srgbClr val="FF0000"/>
              </a:solidFill>
            </a:endParaRPr>
          </a:p>
        </p:txBody>
      </p:sp>
      <p:sp>
        <p:nvSpPr>
          <p:cNvPr id="191491" name="内容占位符 2"/>
          <p:cNvSpPr>
            <a:spLocks noGrp="1"/>
          </p:cNvSpPr>
          <p:nvPr>
            <p:ph idx="1"/>
          </p:nvPr>
        </p:nvSpPr>
        <p:spPr>
          <a:ln/>
        </p:spPr>
        <p:txBody>
          <a:bodyPr vert="horz" wrap="square" lIns="91440" tIns="45720" rIns="91440" bIns="45720" anchor="t" anchorCtr="0"/>
          <a:p>
            <a:r>
              <a:rPr lang="zh-CN" altLang="en-US" b="1" dirty="0"/>
              <a:t>每个线程也有个控制块，包含的内容有：</a:t>
            </a:r>
            <a:endParaRPr lang="en-US" altLang="zh-CN" b="1" dirty="0"/>
          </a:p>
          <a:p>
            <a:pPr lvl="1"/>
            <a:r>
              <a:rPr lang="zh-CN" altLang="en-US" b="1" dirty="0"/>
              <a:t>标识符</a:t>
            </a:r>
            <a:endParaRPr lang="en-US" altLang="zh-CN" b="1" dirty="0"/>
          </a:p>
          <a:p>
            <a:pPr lvl="1"/>
            <a:r>
              <a:rPr lang="zh-CN" altLang="en-US" b="1" dirty="0"/>
              <a:t>一组寄存器</a:t>
            </a:r>
            <a:endParaRPr lang="en-US" altLang="zh-CN" b="1" dirty="0"/>
          </a:p>
          <a:p>
            <a:pPr lvl="1"/>
            <a:r>
              <a:rPr lang="zh-CN" altLang="en-US" b="1" dirty="0"/>
              <a:t>线程运行状态</a:t>
            </a:r>
            <a:endParaRPr lang="en-US" altLang="zh-CN" b="1" dirty="0"/>
          </a:p>
          <a:p>
            <a:pPr lvl="1"/>
            <a:r>
              <a:rPr lang="zh-CN" altLang="en-US" b="1" dirty="0"/>
              <a:t>优先级</a:t>
            </a:r>
            <a:endParaRPr lang="en-US" altLang="zh-CN" b="1" dirty="0"/>
          </a:p>
          <a:p>
            <a:pPr lvl="1"/>
            <a:r>
              <a:rPr lang="zh-CN" altLang="en-US" b="1" dirty="0"/>
              <a:t>线程专有存储区</a:t>
            </a:r>
            <a:endParaRPr lang="en-US" altLang="zh-CN" b="1" dirty="0"/>
          </a:p>
          <a:p>
            <a:pPr lvl="1"/>
            <a:r>
              <a:rPr lang="zh-CN" altLang="en-US" b="1" dirty="0"/>
              <a:t>信号屏蔽</a:t>
            </a:r>
            <a:endParaRPr lang="en-US" altLang="zh-CN" b="1" dirty="0"/>
          </a:p>
          <a:p>
            <a:pPr lvl="1"/>
            <a:r>
              <a:rPr lang="zh-CN" altLang="en-US" b="1" dirty="0"/>
              <a:t>堆栈指针</a:t>
            </a:r>
            <a:endParaRPr lang="zh-CN" altLang="en-US" b="1"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Text Box 2"/>
          <p:cNvSpPr txBox="1"/>
          <p:nvPr/>
        </p:nvSpPr>
        <p:spPr>
          <a:xfrm>
            <a:off x="381000" y="809625"/>
            <a:ext cx="8458200" cy="50228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30000"/>
              </a:lnSpc>
              <a:spcBef>
                <a:spcPct val="50000"/>
              </a:spcBef>
              <a:buClrTx/>
              <a:buSzTx/>
              <a:buFontTx/>
              <a:buNone/>
            </a:pPr>
            <a:r>
              <a:rPr lang="zh-CN" altLang="en-US" b="1" dirty="0">
                <a:solidFill>
                  <a:srgbClr val="FF0000"/>
                </a:solidFill>
                <a:latin typeface="Times New Roman" panose="02020603050405020304" pitchFamily="18" charset="0"/>
              </a:rPr>
              <a:t>       </a:t>
            </a:r>
            <a:r>
              <a:rPr lang="en-US" altLang="zh-CN" sz="3600" b="1" dirty="0">
                <a:solidFill>
                  <a:srgbClr val="FF0000"/>
                </a:solidFill>
                <a:latin typeface="Times New Roman" panose="02020603050405020304" pitchFamily="18" charset="0"/>
              </a:rPr>
              <a:t>3. </a:t>
            </a:r>
            <a:r>
              <a:rPr lang="zh-CN" altLang="en-US" sz="3600" b="1" dirty="0">
                <a:solidFill>
                  <a:srgbClr val="FF0000"/>
                </a:solidFill>
                <a:latin typeface="Times New Roman" panose="02020603050405020304" pitchFamily="18" charset="0"/>
              </a:rPr>
              <a:t>线程的创建和终止</a:t>
            </a:r>
            <a:endParaRPr lang="zh-CN" altLang="en-US" sz="3600" b="1" dirty="0">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400" b="1" dirty="0">
                <a:latin typeface="Times New Roman" panose="02020603050405020304" pitchFamily="18" charset="0"/>
              </a:rPr>
              <a:t>        在多线程</a:t>
            </a:r>
            <a:r>
              <a:rPr lang="en-US" altLang="zh-CN" sz="2400" b="1" dirty="0">
                <a:latin typeface="Times New Roman" panose="02020603050405020304" pitchFamily="18" charset="0"/>
              </a:rPr>
              <a:t>OS</a:t>
            </a:r>
            <a:r>
              <a:rPr lang="zh-CN" altLang="en-US" sz="2400" b="1" dirty="0">
                <a:latin typeface="Times New Roman" panose="02020603050405020304" pitchFamily="18" charset="0"/>
              </a:rPr>
              <a:t>环境下，应用程序在启动时，通常仅有一个线程在执行，该线程被人们称为</a:t>
            </a:r>
            <a:r>
              <a:rPr lang="zh-CN" altLang="en-US" sz="2400" b="1" dirty="0">
                <a:latin typeface="Courier New" panose="02070309020205020404" pitchFamily="49" charset="0"/>
              </a:rPr>
              <a:t>“</a:t>
            </a:r>
            <a:r>
              <a:rPr lang="zh-CN" altLang="en-US" sz="2400" b="1" dirty="0">
                <a:latin typeface="Times New Roman" panose="02020603050405020304" pitchFamily="18" charset="0"/>
              </a:rPr>
              <a:t>初始化线程</a:t>
            </a:r>
            <a:r>
              <a:rPr lang="zh-CN" altLang="en-US" sz="2400" b="1" dirty="0">
                <a:latin typeface="Courier New" panose="02070309020205020404" pitchFamily="49" charset="0"/>
              </a:rPr>
              <a:t>”</a:t>
            </a:r>
            <a:r>
              <a:rPr lang="zh-CN" altLang="en-US" sz="2400" b="1" dirty="0">
                <a:latin typeface="Times New Roman" panose="02020603050405020304" pitchFamily="18" charset="0"/>
              </a:rPr>
              <a:t>。在创建新线程时，提供相应的参数，如指向线程主程序的入口指针、堆栈的大小，以及用于调度的优先级等。在线程创建函数执行完后，将返回一个线程标识符供以后使用。</a:t>
            </a:r>
            <a:endParaRPr lang="zh-CN" altLang="en-US" sz="2400" b="1" dirty="0">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rPr>
              <a:t>终止线程</a:t>
            </a:r>
            <a:r>
              <a:rPr lang="zh-CN" altLang="en-US" sz="2400" b="1" dirty="0">
                <a:latin typeface="Times New Roman" panose="02020603050405020304" pitchFamily="18" charset="0"/>
              </a:rPr>
              <a:t>的方式有两种：一种是在线程完成了自己的工作后自愿退出；另一种是线程在运行中出现错误或由于某种原因而被其它线程强行终止。 </a:t>
            </a:r>
            <a:endParaRPr lang="zh-CN" altLang="en-US" sz="2400" b="1" dirty="0">
              <a:latin typeface="Times New Roman" panose="02020603050405020304" pitchFamily="18" charset="0"/>
            </a:endParaRPr>
          </a:p>
        </p:txBody>
      </p:sp>
    </p:spTree>
  </p:cSld>
  <p:clrMapOvr>
    <a:masterClrMapping/>
  </p:clrMapOvr>
  <p:transition/>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3"/>
          <p:cNvSpPr>
            <a:spLocks noGrp="1" noRot="1"/>
          </p:cNvSpPr>
          <p:nvPr>
            <p:ph idx="1"/>
          </p:nvPr>
        </p:nvSpPr>
        <p:spPr>
          <a:xfrm>
            <a:off x="301625" y="533400"/>
            <a:ext cx="8537575" cy="5638800"/>
          </a:xfrm>
          <a:ln/>
        </p:spPr>
        <p:txBody>
          <a:bodyPr vert="horz" wrap="square" lIns="91440" tIns="45720" rIns="91440" bIns="45720" anchor="t" anchorCtr="0"/>
          <a:p>
            <a:r>
              <a:rPr lang="en-US" altLang="zh-CN" sz="2400" b="1" dirty="0"/>
              <a:t>linux</a:t>
            </a:r>
            <a:r>
              <a:rPr lang="zh-CN" altLang="en-US" sz="2400" b="1" dirty="0"/>
              <a:t>下用</a:t>
            </a:r>
            <a:r>
              <a:rPr lang="en-US" altLang="zh-CN" sz="2400" b="1" dirty="0"/>
              <a:t>C</a:t>
            </a:r>
            <a:r>
              <a:rPr lang="zh-CN" altLang="en-US" sz="2400" b="1" dirty="0"/>
              <a:t>开发多线程程序，</a:t>
            </a:r>
            <a:r>
              <a:rPr lang="en-US" altLang="zh-CN" sz="2400" b="1" dirty="0"/>
              <a:t>Linux</a:t>
            </a:r>
            <a:r>
              <a:rPr lang="zh-CN" altLang="en-US" sz="2400" b="1" dirty="0"/>
              <a:t>系统下的多线程遵循</a:t>
            </a:r>
            <a:r>
              <a:rPr lang="en-US" altLang="zh-CN" sz="2400" b="1" dirty="0"/>
              <a:t>POSIX</a:t>
            </a:r>
            <a:r>
              <a:rPr lang="zh-CN" altLang="en-US" sz="2400" b="1" dirty="0"/>
              <a:t>线程接口，称为</a:t>
            </a:r>
            <a:r>
              <a:rPr lang="en-US" altLang="zh-CN" sz="2400" b="1" dirty="0"/>
              <a:t>pthread</a:t>
            </a:r>
            <a:r>
              <a:rPr lang="zh-CN" altLang="en-US" sz="2400" b="1" dirty="0"/>
              <a:t>。</a:t>
            </a:r>
            <a:endParaRPr lang="zh-CN" altLang="en-US" sz="2400" b="1" dirty="0"/>
          </a:p>
          <a:p>
            <a:br>
              <a:rPr lang="zh-CN" altLang="en-US" sz="2400" b="1" dirty="0"/>
            </a:br>
            <a:r>
              <a:rPr lang="en-US" altLang="zh-CN" sz="2400" b="1" dirty="0"/>
              <a:t>#include &lt;pthread.h&gt;</a:t>
            </a:r>
            <a:br>
              <a:rPr lang="en-US" altLang="zh-CN" sz="2400" b="1" dirty="0"/>
            </a:br>
            <a:r>
              <a:rPr lang="en-US" altLang="zh-CN" sz="2400" b="1" dirty="0"/>
              <a:t>int </a:t>
            </a:r>
            <a:r>
              <a:rPr lang="en-US" altLang="zh-CN" sz="2400" b="1" dirty="0">
                <a:solidFill>
                  <a:srgbClr val="FF0000"/>
                </a:solidFill>
              </a:rPr>
              <a:t>pthread_create</a:t>
            </a:r>
            <a:r>
              <a:rPr lang="en-US" altLang="zh-CN" sz="2400" b="1" dirty="0"/>
              <a:t>(</a:t>
            </a:r>
            <a:endParaRPr lang="en-US" altLang="zh-CN" sz="2400" b="1" dirty="0"/>
          </a:p>
          <a:p>
            <a:r>
              <a:rPr lang="en-US" altLang="zh-CN" sz="2400" b="1" dirty="0"/>
              <a:t>pthread_t *restrict tidp,  </a:t>
            </a:r>
            <a:r>
              <a:rPr lang="zh-CN" altLang="en-US" sz="2400" b="1" dirty="0"/>
              <a:t>指向线程标识符的指针。</a:t>
            </a:r>
            <a:br>
              <a:rPr lang="zh-CN" altLang="en-US" sz="2400" b="1" dirty="0"/>
            </a:br>
            <a:r>
              <a:rPr lang="en-US" altLang="zh-CN" sz="2400" b="1" dirty="0"/>
              <a:t>const pthread_attr_t *restrict attr,  </a:t>
            </a:r>
            <a:r>
              <a:rPr lang="zh-CN" altLang="en-US" sz="2400" b="1" dirty="0"/>
              <a:t>设置线程属性。</a:t>
            </a:r>
            <a:br>
              <a:rPr lang="zh-CN" altLang="en-US" sz="2400" b="1" dirty="0"/>
            </a:br>
            <a:r>
              <a:rPr lang="en-US" altLang="zh-CN" sz="2400" b="1" dirty="0"/>
              <a:t>void *(*start_rtn)(void),   </a:t>
            </a:r>
            <a:r>
              <a:rPr lang="zh-CN" altLang="en-US" sz="2400" b="1" dirty="0"/>
              <a:t>线程运行函数的起始地址。</a:t>
            </a:r>
            <a:br>
              <a:rPr lang="zh-CN" altLang="en-US" sz="2400" b="1" dirty="0"/>
            </a:br>
            <a:r>
              <a:rPr lang="en-US" altLang="zh-CN" sz="2400" b="1" dirty="0"/>
              <a:t>void *restrict arg);  </a:t>
            </a:r>
            <a:r>
              <a:rPr lang="zh-CN" altLang="en-US" sz="2400" b="1" dirty="0"/>
              <a:t>运行函数的参数。</a:t>
            </a:r>
            <a:endParaRPr lang="zh-CN" altLang="en-US" sz="2400" b="1" dirty="0"/>
          </a:p>
          <a:p>
            <a:endParaRPr lang="zh-CN" altLang="en-US" sz="2400" b="1" dirty="0"/>
          </a:p>
          <a:p>
            <a:r>
              <a:rPr lang="zh-CN" altLang="en-US" sz="2400" b="1" dirty="0"/>
              <a:t>由于</a:t>
            </a:r>
            <a:r>
              <a:rPr lang="en-US" altLang="zh-CN" sz="2400" b="1" dirty="0"/>
              <a:t>pthread</a:t>
            </a:r>
            <a:r>
              <a:rPr lang="zh-CN" altLang="en-US" sz="2400" b="1" dirty="0"/>
              <a:t>库不是</a:t>
            </a:r>
            <a:r>
              <a:rPr lang="en-US" altLang="zh-CN" sz="2400" b="1" dirty="0"/>
              <a:t>Linux</a:t>
            </a:r>
            <a:r>
              <a:rPr lang="zh-CN" altLang="en-US" sz="2400" b="1" dirty="0"/>
              <a:t>系统默认的库，连接时需要使用库</a:t>
            </a:r>
            <a:r>
              <a:rPr lang="en-US" altLang="zh-CN" sz="2400" b="1" dirty="0"/>
              <a:t>libpthread.a,</a:t>
            </a:r>
            <a:r>
              <a:rPr lang="zh-CN" altLang="en-US" sz="2400" b="1" dirty="0"/>
              <a:t>所以在使用</a:t>
            </a:r>
            <a:r>
              <a:rPr lang="en-US" altLang="zh-CN" sz="2400" b="1" dirty="0"/>
              <a:t>pthread_create</a:t>
            </a:r>
            <a:r>
              <a:rPr lang="zh-CN" altLang="en-US" sz="2400" b="1" dirty="0"/>
              <a:t>创建线程时，在编译中要加</a:t>
            </a:r>
            <a:r>
              <a:rPr lang="en-US" altLang="zh-CN" sz="2400" b="1" dirty="0"/>
              <a:t>-lpthread</a:t>
            </a:r>
            <a:r>
              <a:rPr lang="zh-CN" altLang="en-US" sz="2400" b="1" dirty="0"/>
              <a:t>参数</a:t>
            </a:r>
            <a:r>
              <a:rPr lang="en-US" altLang="zh-CN" sz="2400" b="1" dirty="0"/>
              <a:t>:</a:t>
            </a:r>
            <a:br>
              <a:rPr lang="en-US" altLang="zh-CN" sz="2400" b="1" dirty="0"/>
            </a:br>
            <a:r>
              <a:rPr lang="en-US" altLang="zh-CN" sz="2400" b="1" dirty="0"/>
              <a:t>gcc -o XXX -lpthread XXX.c</a:t>
            </a:r>
            <a:r>
              <a:rPr lang="en-US" altLang="zh-CN" sz="2400" dirty="0"/>
              <a:t> </a:t>
            </a:r>
            <a:endParaRPr lang="en-US" altLang="zh-CN" sz="2400" b="1"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3"/>
          <p:cNvSpPr>
            <a:spLocks noGrp="1" noRot="1"/>
          </p:cNvSpPr>
          <p:nvPr>
            <p:ph idx="1"/>
          </p:nvPr>
        </p:nvSpPr>
        <p:spPr>
          <a:ln/>
        </p:spPr>
        <p:txBody>
          <a:bodyPr vert="horz" wrap="square" lIns="91440" tIns="45720" rIns="91440" bIns="45720" anchor="t" anchorCtr="0"/>
          <a:p>
            <a:r>
              <a:rPr lang="en-US" altLang="zh-CN" b="1" dirty="0"/>
              <a:t>Linix</a:t>
            </a:r>
            <a:r>
              <a:rPr lang="zh-CN" altLang="en-US" b="1" dirty="0"/>
              <a:t>线程的退出：</a:t>
            </a:r>
            <a:endParaRPr lang="zh-CN" altLang="en-US" b="1" dirty="0"/>
          </a:p>
          <a:p>
            <a:r>
              <a:rPr lang="en-US" altLang="zh-CN" b="1" dirty="0"/>
              <a:t>pthread_exit(NULL);</a:t>
            </a:r>
            <a:endParaRPr lang="en-US" altLang="zh-CN" b="1" dirty="0"/>
          </a:p>
          <a:p>
            <a:endParaRPr lang="zh-CN" altLang="en-US" b="1" dirty="0"/>
          </a:p>
          <a:p>
            <a:endParaRPr lang="zh-CN" altLang="en-US" b="1"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Text Box 2"/>
          <p:cNvSpPr txBox="1"/>
          <p:nvPr/>
        </p:nvSpPr>
        <p:spPr>
          <a:xfrm>
            <a:off x="1081088" y="630238"/>
            <a:ext cx="4127500" cy="5857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b="1" dirty="0">
                <a:solidFill>
                  <a:srgbClr val="FF0000"/>
                </a:solidFill>
                <a:latin typeface="Times New Roman" panose="02020603050405020304" pitchFamily="18" charset="0"/>
              </a:rPr>
              <a:t>4. </a:t>
            </a:r>
            <a:r>
              <a:rPr lang="zh-CN" altLang="en-US" b="1" dirty="0">
                <a:solidFill>
                  <a:srgbClr val="FF0000"/>
                </a:solidFill>
                <a:latin typeface="Times New Roman" panose="02020603050405020304" pitchFamily="18" charset="0"/>
              </a:rPr>
              <a:t>多线程</a:t>
            </a:r>
            <a:r>
              <a:rPr lang="en-US" altLang="zh-CN" b="1" dirty="0">
                <a:solidFill>
                  <a:srgbClr val="FF0000"/>
                </a:solidFill>
                <a:latin typeface="Times New Roman" panose="02020603050405020304" pitchFamily="18" charset="0"/>
              </a:rPr>
              <a:t>OS</a:t>
            </a:r>
            <a:r>
              <a:rPr lang="zh-CN" altLang="en-US" b="1" dirty="0">
                <a:solidFill>
                  <a:srgbClr val="FF0000"/>
                </a:solidFill>
                <a:latin typeface="Times New Roman" panose="02020603050405020304" pitchFamily="18" charset="0"/>
              </a:rPr>
              <a:t>中的进程 </a:t>
            </a:r>
            <a:endParaRPr lang="zh-CN" altLang="en-US" b="1" dirty="0">
              <a:solidFill>
                <a:srgbClr val="FF0000"/>
              </a:solidFill>
              <a:latin typeface="Times New Roman" panose="02020603050405020304" pitchFamily="18" charset="0"/>
            </a:endParaRPr>
          </a:p>
        </p:txBody>
      </p:sp>
      <p:sp>
        <p:nvSpPr>
          <p:cNvPr id="195587" name="Text Box 3"/>
          <p:cNvSpPr txBox="1"/>
          <p:nvPr/>
        </p:nvSpPr>
        <p:spPr>
          <a:xfrm>
            <a:off x="228600" y="1543050"/>
            <a:ext cx="8610600" cy="4324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457200" lvl="0" indent="-457200" algn="just" eaLnBrk="1" hangingPunct="1">
              <a:lnSpc>
                <a:spcPct val="120000"/>
              </a:lnSpc>
              <a:spcBef>
                <a:spcPct val="50000"/>
              </a:spcBef>
              <a:buClrTx/>
              <a:buSzTx/>
              <a:buFontTx/>
              <a:buNone/>
            </a:pPr>
            <a:r>
              <a:rPr lang="zh-CN" altLang="en-US" sz="2800" b="1" dirty="0">
                <a:latin typeface="Times New Roman" panose="02020603050405020304" pitchFamily="18" charset="0"/>
              </a:rPr>
              <a:t>              在多线程</a:t>
            </a:r>
            <a:r>
              <a:rPr lang="en-US" altLang="zh-CN" sz="2800" b="1" dirty="0">
                <a:latin typeface="Times New Roman" panose="02020603050405020304" pitchFamily="18" charset="0"/>
              </a:rPr>
              <a:t>OS</a:t>
            </a:r>
            <a:r>
              <a:rPr lang="zh-CN" altLang="en-US" sz="2800" b="1" dirty="0">
                <a:latin typeface="Times New Roman" panose="02020603050405020304" pitchFamily="18" charset="0"/>
              </a:rPr>
              <a:t>中，进程是作为拥有系统资源的基本单位，通常的进程都包含多个线程并为它们提供资源，但此时的进程就不再作为一个执行的实体。 </a:t>
            </a:r>
            <a:r>
              <a:rPr lang="zh-CN" altLang="en-US" sz="2800" b="1" dirty="0">
                <a:solidFill>
                  <a:srgbClr val="FF0000"/>
                </a:solidFill>
                <a:latin typeface="Times New Roman" panose="02020603050405020304" pitchFamily="18" charset="0"/>
              </a:rPr>
              <a:t>多线程</a:t>
            </a:r>
            <a:r>
              <a:rPr lang="en-US" altLang="zh-CN" sz="2800" b="1" dirty="0">
                <a:solidFill>
                  <a:srgbClr val="FF0000"/>
                </a:solidFill>
                <a:latin typeface="Times New Roman" panose="02020603050405020304" pitchFamily="18" charset="0"/>
              </a:rPr>
              <a:t>OS</a:t>
            </a:r>
            <a:r>
              <a:rPr lang="zh-CN" altLang="en-US" sz="2800" b="1" dirty="0">
                <a:solidFill>
                  <a:srgbClr val="FF0000"/>
                </a:solidFill>
                <a:latin typeface="Times New Roman" panose="02020603050405020304" pitchFamily="18" charset="0"/>
              </a:rPr>
              <a:t>中的进程有以下属性：</a:t>
            </a:r>
            <a:endParaRPr lang="zh-CN" altLang="en-US" sz="2800" b="1" dirty="0">
              <a:solidFill>
                <a:srgbClr val="FF0000"/>
              </a:solidFill>
              <a:latin typeface="Times New Roman" panose="02020603050405020304" pitchFamily="18" charset="0"/>
            </a:endParaRPr>
          </a:p>
          <a:p>
            <a:pPr marL="457200" lvl="0" indent="-457200" eaLnBrk="1" hangingPunct="1">
              <a:lnSpc>
                <a:spcPct val="120000"/>
              </a:lnSpc>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(1) </a:t>
            </a:r>
            <a:r>
              <a:rPr lang="zh-CN" altLang="en-US" sz="2800" b="1" dirty="0">
                <a:latin typeface="Times New Roman" panose="02020603050405020304" pitchFamily="18" charset="0"/>
              </a:rPr>
              <a:t>作为系统资源分配的单位。 </a:t>
            </a:r>
            <a:endParaRPr lang="zh-CN" altLang="en-US" sz="2800" b="1" dirty="0">
              <a:latin typeface="Times New Roman" panose="02020603050405020304" pitchFamily="18" charset="0"/>
            </a:endParaRPr>
          </a:p>
          <a:p>
            <a:pPr marL="457200" lvl="0" indent="-457200" eaLnBrk="1" hangingPunct="1">
              <a:lnSpc>
                <a:spcPct val="120000"/>
              </a:lnSpc>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(2) </a:t>
            </a:r>
            <a:r>
              <a:rPr lang="zh-CN" altLang="en-US" sz="2800" b="1" dirty="0">
                <a:latin typeface="Times New Roman" panose="02020603050405020304" pitchFamily="18" charset="0"/>
              </a:rPr>
              <a:t>可包括多个线程。 </a:t>
            </a:r>
            <a:endParaRPr lang="zh-CN" altLang="en-US" sz="2800" b="1" dirty="0">
              <a:latin typeface="Times New Roman" panose="02020603050405020304" pitchFamily="18" charset="0"/>
            </a:endParaRPr>
          </a:p>
          <a:p>
            <a:pPr marL="457200" lvl="0" indent="-457200" eaLnBrk="1" hangingPunct="1">
              <a:lnSpc>
                <a:spcPct val="120000"/>
              </a:lnSpc>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(3) </a:t>
            </a:r>
            <a:r>
              <a:rPr lang="zh-CN" altLang="en-US" sz="2800" b="1" dirty="0">
                <a:latin typeface="Times New Roman" panose="02020603050405020304" pitchFamily="18" charset="0"/>
              </a:rPr>
              <a:t>进程不是一个可执行的实体。 </a:t>
            </a:r>
            <a:endParaRPr lang="zh-CN" altLang="en-US" sz="2800" b="1" dirty="0">
              <a:latin typeface="Times New Roman" panose="02020603050405020304" pitchFamily="18" charset="0"/>
            </a:endParaRPr>
          </a:p>
        </p:txBody>
      </p:sp>
    </p:spTree>
  </p:cSld>
  <p:clrMapOvr>
    <a:masterClrMapping/>
  </p:clrMapOvr>
  <p:transition/>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Text Box 2"/>
          <p:cNvSpPr txBox="1"/>
          <p:nvPr/>
        </p:nvSpPr>
        <p:spPr>
          <a:xfrm>
            <a:off x="1447800" y="892175"/>
            <a:ext cx="5164138"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600" b="1" dirty="0">
                <a:solidFill>
                  <a:srgbClr val="FF0000"/>
                </a:solidFill>
                <a:latin typeface="Times New Roman" panose="02020603050405020304" pitchFamily="18" charset="0"/>
              </a:rPr>
              <a:t>5</a:t>
            </a:r>
            <a:r>
              <a:rPr lang="zh-CN" altLang="en-US" sz="3600" b="1" dirty="0">
                <a:solidFill>
                  <a:srgbClr val="FF0000"/>
                </a:solidFill>
                <a:latin typeface="Times New Roman" panose="02020603050405020304" pitchFamily="18" charset="0"/>
              </a:rPr>
              <a:t>。线程间的同步和通信 </a:t>
            </a:r>
            <a:endParaRPr lang="zh-CN" altLang="en-US" sz="3600" b="1" dirty="0">
              <a:solidFill>
                <a:srgbClr val="FF0000"/>
              </a:solidFill>
              <a:latin typeface="Times New Roman" panose="02020603050405020304" pitchFamily="18" charset="0"/>
            </a:endParaRPr>
          </a:p>
        </p:txBody>
      </p:sp>
      <p:sp>
        <p:nvSpPr>
          <p:cNvPr id="196611" name="Text Box 3"/>
          <p:cNvSpPr txBox="1"/>
          <p:nvPr/>
        </p:nvSpPr>
        <p:spPr>
          <a:xfrm>
            <a:off x="304800" y="1752600"/>
            <a:ext cx="8305800" cy="300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35000"/>
              </a:lnSpc>
              <a:spcBef>
                <a:spcPct val="50000"/>
              </a:spcBef>
              <a:buClrTx/>
              <a:buSzTx/>
              <a:buFontTx/>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互斥锁是一种比较简单的、用于实现进程间对资源互斥访问的机制。由于操作互斥锁的时间和空间开锁都较低， 因而较适合于高频度使用的关键共享数据和程序段。互斥锁可以</a:t>
            </a:r>
            <a:r>
              <a:rPr lang="zh-CN" altLang="en-US" sz="2800" b="1" dirty="0">
                <a:solidFill>
                  <a:srgbClr val="FF0000"/>
                </a:solidFill>
                <a:latin typeface="Times New Roman" panose="02020603050405020304" pitchFamily="18" charset="0"/>
              </a:rPr>
              <a:t>有两种状态， 即开锁</a:t>
            </a:r>
            <a:r>
              <a:rPr lang="en-US" altLang="zh-CN" sz="2800" b="1" dirty="0">
                <a:solidFill>
                  <a:srgbClr val="FF0000"/>
                </a:solidFill>
                <a:latin typeface="Times New Roman" panose="02020603050405020304" pitchFamily="18" charset="0"/>
              </a:rPr>
              <a:t>(unlock)</a:t>
            </a:r>
            <a:r>
              <a:rPr lang="zh-CN" altLang="en-US" sz="2800" b="1" dirty="0">
                <a:solidFill>
                  <a:srgbClr val="FF0000"/>
                </a:solidFill>
                <a:latin typeface="Times New Roman" panose="02020603050405020304" pitchFamily="18" charset="0"/>
              </a:rPr>
              <a:t>和关锁</a:t>
            </a:r>
            <a:r>
              <a:rPr lang="en-US" altLang="zh-CN" sz="2800" b="1" dirty="0">
                <a:solidFill>
                  <a:srgbClr val="FF0000"/>
                </a:solidFill>
                <a:latin typeface="Times New Roman" panose="02020603050405020304" pitchFamily="18" charset="0"/>
              </a:rPr>
              <a:t>(lock)</a:t>
            </a:r>
            <a:r>
              <a:rPr lang="zh-CN" altLang="en-US" sz="2800" b="1" dirty="0">
                <a:solidFill>
                  <a:srgbClr val="FF0000"/>
                </a:solidFill>
                <a:latin typeface="Times New Roman" panose="02020603050405020304" pitchFamily="18" charset="0"/>
              </a:rPr>
              <a:t>状态。 </a:t>
            </a:r>
            <a:endParaRPr lang="zh-CN" altLang="en-US" sz="2800" b="1" dirty="0">
              <a:solidFill>
                <a:srgbClr val="FF0000"/>
              </a:solidFill>
              <a:latin typeface="Times New Roman" panose="02020603050405020304" pitchFamily="18" charset="0"/>
            </a:endParaRPr>
          </a:p>
        </p:txBody>
      </p:sp>
    </p:spTree>
  </p:cSld>
  <p:clrMapOvr>
    <a:masterClrMapping/>
  </p:clrMapOvr>
  <p:transition/>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2"/>
          <p:cNvSpPr>
            <a:spLocks noGrp="1" noRot="1"/>
          </p:cNvSpPr>
          <p:nvPr>
            <p:ph type="title"/>
          </p:nvPr>
        </p:nvSpPr>
        <p:spPr>
          <a:ln/>
        </p:spPr>
        <p:txBody>
          <a:bodyPr vert="horz" wrap="square" lIns="91440" tIns="45720" rIns="91440" bIns="45720" anchor="ctr" anchorCtr="0"/>
          <a:p>
            <a:r>
              <a:rPr lang="en-US" altLang="zh-CN" b="1" dirty="0">
                <a:solidFill>
                  <a:srgbClr val="FF0000"/>
                </a:solidFill>
              </a:rPr>
              <a:t>Linux </a:t>
            </a:r>
            <a:r>
              <a:rPr lang="zh-CN" altLang="en-US" b="1" dirty="0">
                <a:solidFill>
                  <a:srgbClr val="FF0000"/>
                </a:solidFill>
              </a:rPr>
              <a:t>中的线程互斥锁</a:t>
            </a:r>
            <a:endParaRPr lang="zh-CN" altLang="en-US" b="1" dirty="0">
              <a:solidFill>
                <a:srgbClr val="FF0000"/>
              </a:solidFill>
            </a:endParaRPr>
          </a:p>
        </p:txBody>
      </p:sp>
      <p:sp>
        <p:nvSpPr>
          <p:cNvPr id="197635" name="Rectangle 3"/>
          <p:cNvSpPr>
            <a:spLocks noGrp="1" noRot="1"/>
          </p:cNvSpPr>
          <p:nvPr>
            <p:ph idx="1"/>
          </p:nvPr>
        </p:nvSpPr>
        <p:spPr>
          <a:xfrm>
            <a:off x="149225" y="1600200"/>
            <a:ext cx="8842375" cy="4498975"/>
          </a:xfrm>
          <a:ln/>
        </p:spPr>
        <p:txBody>
          <a:bodyPr vert="horz" wrap="square" lIns="91440" tIns="45720" rIns="91440" bIns="45720" anchor="t" anchorCtr="0"/>
          <a:p>
            <a:pPr>
              <a:buNone/>
            </a:pPr>
            <a:r>
              <a:rPr lang="en-US" altLang="zh-CN" b="1" dirty="0"/>
              <a:t>int pthread_mutex_lock(pthread_mutex_t *mutex);</a:t>
            </a:r>
            <a:r>
              <a:rPr lang="zh-CN" altLang="en-US" dirty="0"/>
              <a:t> </a:t>
            </a:r>
            <a:r>
              <a:rPr lang="en-US" altLang="zh-CN" dirty="0"/>
              <a:t> </a:t>
            </a:r>
            <a:r>
              <a:rPr lang="zh-CN" altLang="en-US" sz="2800" b="1" dirty="0"/>
              <a:t>返回时，该</a:t>
            </a:r>
            <a:r>
              <a:rPr lang="zh-CN" altLang="en-US" sz="2800" b="1" dirty="0">
                <a:hlinkClick r:id="rId1"/>
              </a:rPr>
              <a:t>互斥锁</a:t>
            </a:r>
            <a:r>
              <a:rPr lang="zh-CN" altLang="en-US" sz="2800" b="1" dirty="0"/>
              <a:t>已被锁定。调用该</a:t>
            </a:r>
            <a:r>
              <a:rPr lang="zh-CN" altLang="en-US" sz="2800" b="1" dirty="0">
                <a:hlinkClick r:id="rId2"/>
              </a:rPr>
              <a:t>线程</a:t>
            </a:r>
            <a:r>
              <a:rPr lang="zh-CN" altLang="en-US" sz="2800" b="1" dirty="0"/>
              <a:t>使该互斥锁的锁住。如果该互斥锁已被另一个线程锁定和拥有，则调用该线程将阻塞，直到该互斥锁变为可用为止。 </a:t>
            </a:r>
            <a:endParaRPr lang="zh-CN" altLang="en-US" sz="2800" b="1" dirty="0"/>
          </a:p>
          <a:p>
            <a:pPr>
              <a:buNone/>
            </a:pPr>
            <a:r>
              <a:rPr lang="en-US" altLang="zh-CN" b="1" dirty="0"/>
              <a:t>int pthread_mutex_unlock(pthread_mutex_t *mutex);</a:t>
            </a:r>
            <a:r>
              <a:rPr lang="zh-CN" altLang="en-US" b="1" dirty="0"/>
              <a:t>释放互斥锁，</a:t>
            </a:r>
            <a:r>
              <a:rPr lang="en-US" altLang="zh-CN" b="1" dirty="0"/>
              <a:t>pthread_mutex_lock</a:t>
            </a:r>
            <a:r>
              <a:rPr lang="zh-CN" altLang="en-US" b="1" dirty="0"/>
              <a:t>成对存在。</a:t>
            </a:r>
            <a:r>
              <a:rPr lang="zh-CN" altLang="en-US" dirty="0"/>
              <a:t> </a:t>
            </a:r>
            <a:endParaRPr lang="zh-CN" altLang="en-US" dirty="0"/>
          </a:p>
          <a:p>
            <a:endParaRPr lang="zh-CN" altLang="en-US"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565785" y="2404110"/>
            <a:ext cx="7660640" cy="2477135"/>
          </a:xfrm>
          <a:prstGeom prst="rect">
            <a:avLst/>
          </a:prstGeom>
        </p:spPr>
      </p:pic>
      <p:sp>
        <p:nvSpPr>
          <p:cNvPr id="3" name="标题 2"/>
          <p:cNvSpPr>
            <a:spLocks noGrp="1"/>
          </p:cNvSpPr>
          <p:nvPr>
            <p:ph type="title"/>
          </p:nvPr>
        </p:nvSpPr>
        <p:spPr>
          <a:xfrm>
            <a:off x="914451" y="914481"/>
            <a:ext cx="7330537" cy="411956"/>
          </a:xfrm>
        </p:spPr>
        <p:txBody>
          <a:bodyPr/>
          <a:lstStyle/>
          <a:p>
            <a:pPr algn="l"/>
            <a:r>
              <a:rPr lang="en-US" altLang="zh-CN" sz="3600" b="1" dirty="0"/>
              <a:t>2.7.6  </a:t>
            </a:r>
            <a:r>
              <a:rPr lang="zh-CN" altLang="en-US" sz="3600" b="1" dirty="0"/>
              <a:t>线程的实现方式</a:t>
            </a:r>
            <a:endParaRPr lang="zh-CN" altLang="en-US" sz="3600"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Text Box 2"/>
          <p:cNvSpPr txBox="1"/>
          <p:nvPr/>
        </p:nvSpPr>
        <p:spPr>
          <a:xfrm>
            <a:off x="609600" y="609600"/>
            <a:ext cx="7922260" cy="9531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l" eaLnBrk="1" hangingPunct="1">
              <a:spcBef>
                <a:spcPct val="0"/>
              </a:spcBef>
              <a:buClrTx/>
              <a:buSzTx/>
              <a:buFontTx/>
              <a:buNone/>
            </a:pPr>
            <a:r>
              <a:rPr kumimoji="1" lang="en-US" altLang="zh-CN" sz="2800" b="1" dirty="0">
                <a:solidFill>
                  <a:srgbClr val="0070C0"/>
                </a:solidFill>
                <a:latin typeface="微软雅黑" panose="020B0503020204020204" charset="-122"/>
                <a:ea typeface="微软雅黑" panose="020B0503020204020204" charset="-122"/>
                <a:sym typeface="+mn-ea"/>
              </a:rPr>
              <a:t>1 </a:t>
            </a:r>
            <a:r>
              <a:rPr kumimoji="1" lang="zh-CN" altLang="en-US" sz="2800" b="1" dirty="0">
                <a:solidFill>
                  <a:srgbClr val="0070C0"/>
                </a:solidFill>
                <a:latin typeface="微软雅黑" panose="020B0503020204020204" charset="-122"/>
                <a:ea typeface="微软雅黑" panose="020B0503020204020204" charset="-122"/>
                <a:sym typeface="+mn-ea"/>
              </a:rPr>
              <a:t>内核支持线程 （</a:t>
            </a:r>
            <a:r>
              <a:rPr kumimoji="1" lang="en-US" altLang="zh-CN" sz="2800" b="1" dirty="0">
                <a:solidFill>
                  <a:srgbClr val="0070C0"/>
                </a:solidFill>
                <a:latin typeface="微软雅黑" panose="020B0503020204020204" charset="-122"/>
                <a:ea typeface="微软雅黑" panose="020B0503020204020204" charset="-122"/>
                <a:sym typeface="+mn-ea"/>
              </a:rPr>
              <a:t>Kernel Supported Threads)</a:t>
            </a:r>
            <a:endParaRPr kumimoji="1" lang="zh-CN" altLang="en-US" sz="2800" b="1" dirty="0">
              <a:solidFill>
                <a:srgbClr val="0070C0"/>
              </a:solidFill>
              <a:latin typeface="微软雅黑" panose="020B0503020204020204" charset="-122"/>
              <a:ea typeface="微软雅黑" panose="020B0503020204020204" charset="-122"/>
            </a:endParaRPr>
          </a:p>
          <a:p>
            <a:pPr marL="0" lvl="0" indent="0" algn="l" eaLnBrk="1" hangingPunct="1">
              <a:spcBef>
                <a:spcPct val="0"/>
              </a:spcBef>
              <a:buClrTx/>
              <a:buSzTx/>
              <a:buFontTx/>
              <a:buNone/>
            </a:pPr>
            <a:r>
              <a:rPr lang="zh-CN" altLang="en-US" sz="2800" b="1" dirty="0">
                <a:solidFill>
                  <a:srgbClr val="0070C0"/>
                </a:solidFill>
                <a:latin typeface="Times New Roman" panose="02020603050405020304" pitchFamily="18" charset="0"/>
              </a:rPr>
              <a:t> </a:t>
            </a:r>
            <a:endParaRPr lang="zh-CN" altLang="en-US" sz="2800" b="1" dirty="0">
              <a:solidFill>
                <a:srgbClr val="0070C0"/>
              </a:solidFill>
              <a:latin typeface="Times New Roman" panose="02020603050405020304" pitchFamily="18" charset="0"/>
            </a:endParaRPr>
          </a:p>
        </p:txBody>
      </p:sp>
      <p:sp>
        <p:nvSpPr>
          <p:cNvPr id="2" name="内容占位符 1"/>
          <p:cNvSpPr>
            <a:spLocks noGrp="1"/>
          </p:cNvSpPr>
          <p:nvPr/>
        </p:nvSpPr>
        <p:spPr>
          <a:xfrm>
            <a:off x="228600" y="1524000"/>
            <a:ext cx="8588375" cy="2422525"/>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pPr lvl="1" algn="just">
              <a:lnSpc>
                <a:spcPct val="120000"/>
              </a:lnSpc>
              <a:spcBef>
                <a:spcPct val="50000"/>
              </a:spcBef>
              <a:buClrTx/>
              <a:buSzTx/>
            </a:pPr>
            <a:r>
              <a:rPr kumimoji="1" lang="zh-CN" altLang="en-US" sz="2000" dirty="0">
                <a:latin typeface="微软雅黑" panose="020B0503020204020204" charset="-122"/>
                <a:ea typeface="微软雅黑" panose="020B0503020204020204" charset="-122"/>
              </a:rPr>
              <a:t> </a:t>
            </a:r>
            <a:r>
              <a:rPr kumimoji="1" lang="zh-CN" altLang="en-US" sz="2200" dirty="0">
                <a:latin typeface="微软雅黑" panose="020B0503020204020204" charset="-122"/>
                <a:ea typeface="微软雅黑" panose="020B0503020204020204" charset="-122"/>
              </a:rPr>
              <a:t>内核支持线程，是在内核的支持下运行的，</a:t>
            </a:r>
            <a:r>
              <a:rPr kumimoji="1" lang="zh-CN" altLang="en-US" sz="2200" u="sng" dirty="0">
                <a:solidFill>
                  <a:srgbClr val="FF0000"/>
                </a:solidFill>
                <a:latin typeface="微软雅黑" panose="020B0503020204020204" charset="-122"/>
                <a:ea typeface="微软雅黑" panose="020B0503020204020204" charset="-122"/>
              </a:rPr>
              <a:t>即无论是用户进程中的线程，还是系统进程中的线程，他们的创建、撤消和切换等，是依靠内核实现的。</a:t>
            </a:r>
            <a:endParaRPr kumimoji="1" lang="zh-CN" altLang="en-US" sz="2200" u="sng" dirty="0">
              <a:solidFill>
                <a:srgbClr val="FF0000"/>
              </a:solidFill>
              <a:latin typeface="微软雅黑" panose="020B0503020204020204" charset="-122"/>
              <a:ea typeface="微软雅黑" panose="020B0503020204020204" charset="-122"/>
            </a:endParaRPr>
          </a:p>
          <a:p>
            <a:pPr lvl="1" algn="just">
              <a:lnSpc>
                <a:spcPct val="120000"/>
              </a:lnSpc>
              <a:spcBef>
                <a:spcPct val="50000"/>
              </a:spcBef>
              <a:buClrTx/>
              <a:buSzTx/>
            </a:pPr>
            <a:r>
              <a:rPr kumimoji="1" lang="zh-CN" altLang="en-US" sz="2200" dirty="0">
                <a:latin typeface="微软雅黑" panose="020B0503020204020204" charset="-122"/>
                <a:ea typeface="微软雅黑" panose="020B0503020204020204" charset="-122"/>
              </a:rPr>
              <a:t>在内核空间中为每一个内核支持线程设置了一个线程控制块</a:t>
            </a:r>
            <a:r>
              <a:rPr kumimoji="1" lang="en-US" altLang="zh-CN" sz="2200" dirty="0">
                <a:solidFill>
                  <a:srgbClr val="FF0000"/>
                </a:solidFill>
                <a:latin typeface="微软雅黑" panose="020B0503020204020204" charset="-122"/>
                <a:ea typeface="微软雅黑" panose="020B0503020204020204" charset="-122"/>
              </a:rPr>
              <a:t>TCB</a:t>
            </a:r>
            <a:r>
              <a:rPr kumimoji="1" lang="zh-CN" altLang="en-US" sz="2200" dirty="0">
                <a:latin typeface="微软雅黑" panose="020B0503020204020204" charset="-122"/>
                <a:ea typeface="微软雅黑" panose="020B0503020204020204" charset="-122"/>
              </a:rPr>
              <a:t>， 内核是根据该控制块而感知某线程的存在的，并对其加以控制。 </a:t>
            </a:r>
            <a:endParaRPr kumimoji="1" lang="zh-CN" altLang="en-US" sz="2200" dirty="0">
              <a:latin typeface="微软雅黑" panose="020B0503020204020204" charset="-122"/>
              <a:ea typeface="微软雅黑" panose="020B0503020204020204" charset="-122"/>
            </a:endParaRPr>
          </a:p>
        </p:txBody>
      </p:sp>
      <p:sp>
        <p:nvSpPr>
          <p:cNvPr id="6" name="Rectangle 3"/>
          <p:cNvSpPr txBox="1">
            <a:spLocks noChangeArrowheads="1"/>
          </p:cNvSpPr>
          <p:nvPr/>
        </p:nvSpPr>
        <p:spPr>
          <a:xfrm>
            <a:off x="838200" y="3962400"/>
            <a:ext cx="7543165" cy="2314575"/>
          </a:xfrm>
          <a:prstGeom prst="rect">
            <a:avLst/>
          </a:prstGeom>
          <a:noFill/>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所有线程管理由内核完成</a:t>
            </a:r>
            <a:endParaRPr lang="zh-CN" altLang="en-US"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没有线程库，但内核提供</a:t>
            </a:r>
            <a:r>
              <a:rPr lang="en-US" altLang="zh-CN" sz="2200" dirty="0" smtClean="0">
                <a:solidFill>
                  <a:srgbClr val="000000"/>
                </a:solidFill>
                <a:latin typeface="微软雅黑" panose="020B0503020204020204" charset="-122"/>
                <a:ea typeface="微软雅黑" panose="020B0503020204020204" charset="-122"/>
              </a:rPr>
              <a:t>API</a:t>
            </a:r>
            <a:endParaRPr lang="en-US" altLang="zh-CN"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线程的创建、撤消是依靠内核实现的</a:t>
            </a:r>
            <a:endParaRPr lang="zh-CN" altLang="en-US"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线程之间的切换需要内核支持</a:t>
            </a:r>
            <a:endParaRPr lang="zh-CN" altLang="en-US"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以线程为基础进行调度</a:t>
            </a:r>
            <a:endParaRPr lang="zh-CN" altLang="en-US"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内核是根据每个线程的控制块来控制线程的</a:t>
            </a:r>
            <a:endParaRPr lang="zh-CN" altLang="en-US" sz="2200" dirty="0" smtClean="0">
              <a:solidFill>
                <a:srgbClr val="000000"/>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ox(i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ox(i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ox(i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ox(i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ox(i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ox(i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noChangeArrowheads="1"/>
          </p:cNvSpPr>
          <p:nvPr/>
        </p:nvSpPr>
        <p:spPr>
          <a:xfrm>
            <a:off x="-228600" y="304801"/>
            <a:ext cx="8763000" cy="67627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r>
              <a:rPr lang="zh-CN" altLang="en-US" sz="2800" dirty="0">
                <a:solidFill>
                  <a:srgbClr val="0070C0"/>
                </a:solidFill>
              </a:rPr>
              <a:t>内核支持线程的工作模型</a:t>
            </a:r>
            <a:endParaRPr lang="zh-CN" altLang="en-US" sz="2800" dirty="0">
              <a:solidFill>
                <a:srgbClr val="0070C0"/>
              </a:solidFill>
            </a:endParaRPr>
          </a:p>
        </p:txBody>
      </p:sp>
      <p:sp>
        <p:nvSpPr>
          <p:cNvPr id="199683" name="Rectangle 3"/>
          <p:cNvSpPr>
            <a:spLocks noChangeArrowheads="1"/>
          </p:cNvSpPr>
          <p:nvPr/>
        </p:nvSpPr>
        <p:spPr bwMode="auto">
          <a:xfrm>
            <a:off x="76200" y="5764214"/>
            <a:ext cx="84582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dirty="0">
                <a:solidFill>
                  <a:srgbClr val="FF0000"/>
                </a:solidFill>
              </a:rPr>
              <a:t>用户创建的就是核心级线程</a:t>
            </a:r>
            <a:r>
              <a:rPr lang="en-US" altLang="zh-CN" dirty="0">
                <a:solidFill>
                  <a:srgbClr val="FF0000"/>
                </a:solidFill>
              </a:rPr>
              <a:t>!  </a:t>
            </a:r>
            <a:r>
              <a:rPr lang="en-US" altLang="zh-CN" dirty="0">
                <a:solidFill>
                  <a:srgbClr val="FF0000"/>
                </a:solidFill>
                <a:sym typeface="Symbol" panose="05050102010706020507" pitchFamily="18" charset="2"/>
              </a:rPr>
              <a:t></a:t>
            </a:r>
            <a:r>
              <a:rPr lang="en-US" altLang="zh-CN" dirty="0">
                <a:solidFill>
                  <a:srgbClr val="FF0000"/>
                </a:solidFill>
              </a:rPr>
              <a:t> </a:t>
            </a:r>
            <a:r>
              <a:rPr lang="zh-CN" altLang="en-US" dirty="0">
                <a:solidFill>
                  <a:srgbClr val="FF0000"/>
                </a:solidFill>
              </a:rPr>
              <a:t>系统调用</a:t>
            </a:r>
            <a:endParaRPr lang="zh-CN" altLang="en-US" dirty="0">
              <a:solidFill>
                <a:srgbClr val="FF0000"/>
              </a:solidFill>
            </a:endParaRPr>
          </a:p>
        </p:txBody>
      </p:sp>
      <p:grpSp>
        <p:nvGrpSpPr>
          <p:cNvPr id="199753" name="Group 73"/>
          <p:cNvGrpSpPr/>
          <p:nvPr/>
        </p:nvGrpSpPr>
        <p:grpSpPr bwMode="auto">
          <a:xfrm>
            <a:off x="441326" y="1143000"/>
            <a:ext cx="6645275" cy="4572000"/>
            <a:chOff x="662" y="720"/>
            <a:chExt cx="4042" cy="2880"/>
          </a:xfrm>
        </p:grpSpPr>
        <p:sp>
          <p:nvSpPr>
            <p:cNvPr id="199685" name="Rectangle 5"/>
            <p:cNvSpPr>
              <a:spLocks noChangeArrowheads="1"/>
            </p:cNvSpPr>
            <p:nvPr/>
          </p:nvSpPr>
          <p:spPr bwMode="auto">
            <a:xfrm>
              <a:off x="3531" y="1015"/>
              <a:ext cx="837"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686" name="Rectangle 6"/>
            <p:cNvSpPr>
              <a:spLocks noChangeArrowheads="1"/>
            </p:cNvSpPr>
            <p:nvPr/>
          </p:nvSpPr>
          <p:spPr bwMode="auto">
            <a:xfrm>
              <a:off x="1600" y="1015"/>
              <a:ext cx="1472"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687" name="Line 7"/>
            <p:cNvSpPr>
              <a:spLocks noChangeShapeType="1"/>
            </p:cNvSpPr>
            <p:nvPr/>
          </p:nvSpPr>
          <p:spPr bwMode="auto">
            <a:xfrm>
              <a:off x="720" y="1872"/>
              <a:ext cx="3984"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nvGrpSpPr>
            <p:cNvPr id="199692" name="Group 12"/>
            <p:cNvGrpSpPr/>
            <p:nvPr/>
          </p:nvGrpSpPr>
          <p:grpSpPr bwMode="auto">
            <a:xfrm>
              <a:off x="2304" y="2400"/>
              <a:ext cx="288" cy="288"/>
              <a:chOff x="832" y="2920"/>
              <a:chExt cx="288" cy="288"/>
            </a:xfrm>
          </p:grpSpPr>
          <p:sp>
            <p:nvSpPr>
              <p:cNvPr id="199693" name="Oval 13"/>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694" name="Freeform 14"/>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99700" name="Group 20"/>
            <p:cNvGrpSpPr/>
            <p:nvPr/>
          </p:nvGrpSpPr>
          <p:grpSpPr bwMode="auto">
            <a:xfrm>
              <a:off x="2928" y="3217"/>
              <a:ext cx="272" cy="288"/>
              <a:chOff x="888" y="3472"/>
              <a:chExt cx="272" cy="288"/>
            </a:xfrm>
          </p:grpSpPr>
          <p:sp>
            <p:nvSpPr>
              <p:cNvPr id="199701" name="Rectangle 21"/>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02" name="Text Box 22"/>
              <p:cNvSpPr txBox="1">
                <a:spLocks noChangeArrowheads="1"/>
              </p:cNvSpPr>
              <p:nvPr/>
            </p:nvSpPr>
            <p:spPr bwMode="auto">
              <a:xfrm>
                <a:off x="913" y="3472"/>
                <a:ext cx="2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grpSp>
          <p:nvGrpSpPr>
            <p:cNvPr id="199703" name="Group 23"/>
            <p:cNvGrpSpPr/>
            <p:nvPr/>
          </p:nvGrpSpPr>
          <p:grpSpPr bwMode="auto">
            <a:xfrm>
              <a:off x="3648" y="3217"/>
              <a:ext cx="272" cy="288"/>
              <a:chOff x="888" y="3472"/>
              <a:chExt cx="272" cy="288"/>
            </a:xfrm>
          </p:grpSpPr>
          <p:sp>
            <p:nvSpPr>
              <p:cNvPr id="199704" name="Rectangle 24"/>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05" name="Text Box 25"/>
              <p:cNvSpPr txBox="1">
                <a:spLocks noChangeArrowheads="1"/>
              </p:cNvSpPr>
              <p:nvPr/>
            </p:nvSpPr>
            <p:spPr bwMode="auto">
              <a:xfrm>
                <a:off x="913" y="3472"/>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sp>
          <p:nvSpPr>
            <p:cNvPr id="199706" name="Text Box 26"/>
            <p:cNvSpPr txBox="1">
              <a:spLocks noChangeArrowheads="1"/>
            </p:cNvSpPr>
            <p:nvPr/>
          </p:nvSpPr>
          <p:spPr bwMode="auto">
            <a:xfrm>
              <a:off x="1557" y="720"/>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进程 </a:t>
              </a:r>
              <a:r>
                <a:rPr lang="en-US" altLang="zh-CN" sz="2400" b="1">
                  <a:solidFill>
                    <a:prstClr val="black"/>
                  </a:solidFill>
                  <a:latin typeface="Times New Roman" panose="02020603050405020304" pitchFamily="18" charset="0"/>
                  <a:ea typeface="黑体" panose="02010609060101010101" pitchFamily="2" charset="-122"/>
                </a:rPr>
                <a:t>1</a:t>
              </a:r>
              <a:endParaRPr lang="en-US" altLang="zh-CN" sz="2400" b="1">
                <a:solidFill>
                  <a:prstClr val="black"/>
                </a:solidFill>
                <a:latin typeface="Times New Roman" panose="02020603050405020304" pitchFamily="18" charset="0"/>
                <a:ea typeface="黑体" panose="02010609060101010101" pitchFamily="2" charset="-122"/>
              </a:endParaRPr>
            </a:p>
          </p:txBody>
        </p:sp>
        <p:sp>
          <p:nvSpPr>
            <p:cNvPr id="199707" name="Line 27"/>
            <p:cNvSpPr>
              <a:spLocks noChangeShapeType="1"/>
            </p:cNvSpPr>
            <p:nvPr/>
          </p:nvSpPr>
          <p:spPr bwMode="auto">
            <a:xfrm flipV="1">
              <a:off x="720" y="3216"/>
              <a:ext cx="3984" cy="1"/>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08" name="Text Box 28"/>
            <p:cNvSpPr txBox="1">
              <a:spLocks noChangeArrowheads="1"/>
            </p:cNvSpPr>
            <p:nvPr/>
          </p:nvSpPr>
          <p:spPr bwMode="auto">
            <a:xfrm>
              <a:off x="662" y="1584"/>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用户</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9709" name="Text Box 29"/>
            <p:cNvSpPr txBox="1">
              <a:spLocks noChangeArrowheads="1"/>
            </p:cNvSpPr>
            <p:nvPr/>
          </p:nvSpPr>
          <p:spPr bwMode="auto">
            <a:xfrm>
              <a:off x="672" y="2364"/>
              <a:ext cx="4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核心</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9710" name="Text Box 30"/>
            <p:cNvSpPr txBox="1">
              <a:spLocks noChangeArrowheads="1"/>
            </p:cNvSpPr>
            <p:nvPr/>
          </p:nvSpPr>
          <p:spPr bwMode="auto">
            <a:xfrm>
              <a:off x="672" y="3312"/>
              <a:ext cx="4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硬件</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9714" name="Text Box 34"/>
            <p:cNvSpPr txBox="1">
              <a:spLocks noChangeArrowheads="1"/>
            </p:cNvSpPr>
            <p:nvPr/>
          </p:nvSpPr>
          <p:spPr bwMode="auto">
            <a:xfrm>
              <a:off x="3483" y="76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进程 </a:t>
              </a:r>
              <a:r>
                <a:rPr lang="en-US" altLang="zh-CN" sz="2400" b="1">
                  <a:solidFill>
                    <a:prstClr val="black"/>
                  </a:solidFill>
                  <a:latin typeface="Times New Roman" panose="02020603050405020304" pitchFamily="18" charset="0"/>
                  <a:ea typeface="黑体" panose="02010609060101010101" pitchFamily="2" charset="-122"/>
                </a:rPr>
                <a:t>2</a:t>
              </a:r>
              <a:endParaRPr lang="en-US" altLang="zh-CN" sz="2400" b="1">
                <a:solidFill>
                  <a:prstClr val="black"/>
                </a:solidFill>
                <a:latin typeface="Times New Roman" panose="02020603050405020304" pitchFamily="18" charset="0"/>
                <a:ea typeface="黑体" panose="02010609060101010101" pitchFamily="2" charset="-122"/>
              </a:endParaRPr>
            </a:p>
          </p:txBody>
        </p:sp>
        <p:sp>
          <p:nvSpPr>
            <p:cNvPr id="199716" name="Text Box 36"/>
            <p:cNvSpPr txBox="1">
              <a:spLocks noChangeArrowheads="1"/>
            </p:cNvSpPr>
            <p:nvPr/>
          </p:nvSpPr>
          <p:spPr bwMode="auto">
            <a:xfrm>
              <a:off x="1170" y="2719"/>
              <a:ext cx="5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线程 </a:t>
              </a:r>
              <a:r>
                <a:rPr lang="en-US" altLang="zh-CN" sz="2000" b="1">
                  <a:solidFill>
                    <a:srgbClr val="FF0000"/>
                  </a:solidFill>
                  <a:latin typeface="Times New Roman" panose="02020603050405020304" pitchFamily="18" charset="0"/>
                  <a:ea typeface="黑体" panose="02010609060101010101" pitchFamily="2" charset="-122"/>
                </a:rPr>
                <a:t>1</a:t>
              </a:r>
              <a:endParaRPr lang="en-US" altLang="zh-CN" sz="2000" b="1">
                <a:solidFill>
                  <a:srgbClr val="FF0000"/>
                </a:solidFill>
                <a:latin typeface="Times New Roman" panose="02020603050405020304" pitchFamily="18" charset="0"/>
                <a:ea typeface="黑体" panose="02010609060101010101" pitchFamily="2" charset="-122"/>
              </a:endParaRPr>
            </a:p>
          </p:txBody>
        </p:sp>
        <p:grpSp>
          <p:nvGrpSpPr>
            <p:cNvPr id="199717" name="Group 37"/>
            <p:cNvGrpSpPr/>
            <p:nvPr/>
          </p:nvGrpSpPr>
          <p:grpSpPr bwMode="auto">
            <a:xfrm>
              <a:off x="3792" y="2430"/>
              <a:ext cx="288" cy="288"/>
              <a:chOff x="832" y="2920"/>
              <a:chExt cx="288" cy="288"/>
            </a:xfrm>
          </p:grpSpPr>
          <p:sp>
            <p:nvSpPr>
              <p:cNvPr id="199718" name="Oval 38"/>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19" name="Freeform 39"/>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99722" name="Group 42"/>
            <p:cNvGrpSpPr/>
            <p:nvPr/>
          </p:nvGrpSpPr>
          <p:grpSpPr bwMode="auto">
            <a:xfrm>
              <a:off x="2080" y="3216"/>
              <a:ext cx="272" cy="288"/>
              <a:chOff x="888" y="3472"/>
              <a:chExt cx="272" cy="288"/>
            </a:xfrm>
          </p:grpSpPr>
          <p:sp>
            <p:nvSpPr>
              <p:cNvPr id="199723" name="Rectangle 43"/>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24" name="Text Box 44"/>
              <p:cNvSpPr txBox="1">
                <a:spLocks noChangeArrowheads="1"/>
              </p:cNvSpPr>
              <p:nvPr/>
            </p:nvSpPr>
            <p:spPr bwMode="auto">
              <a:xfrm>
                <a:off x="913" y="3472"/>
                <a:ext cx="2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grpSp>
          <p:nvGrpSpPr>
            <p:cNvPr id="199725" name="Group 45"/>
            <p:cNvGrpSpPr/>
            <p:nvPr/>
          </p:nvGrpSpPr>
          <p:grpSpPr bwMode="auto">
            <a:xfrm>
              <a:off x="1632" y="2400"/>
              <a:ext cx="288" cy="288"/>
              <a:chOff x="832" y="2920"/>
              <a:chExt cx="288" cy="288"/>
            </a:xfrm>
          </p:grpSpPr>
          <p:sp>
            <p:nvSpPr>
              <p:cNvPr id="199726" name="Oval 46"/>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27" name="Freeform 47"/>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99728" name="Group 48"/>
            <p:cNvGrpSpPr/>
            <p:nvPr/>
          </p:nvGrpSpPr>
          <p:grpSpPr bwMode="auto">
            <a:xfrm>
              <a:off x="2640" y="2400"/>
              <a:ext cx="288" cy="288"/>
              <a:chOff x="832" y="2920"/>
              <a:chExt cx="288" cy="288"/>
            </a:xfrm>
          </p:grpSpPr>
          <p:sp>
            <p:nvSpPr>
              <p:cNvPr id="199729" name="Oval 49"/>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0" name="Freeform 50"/>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99731" name="Group 51"/>
            <p:cNvGrpSpPr/>
            <p:nvPr/>
          </p:nvGrpSpPr>
          <p:grpSpPr bwMode="auto">
            <a:xfrm>
              <a:off x="1968" y="2400"/>
              <a:ext cx="288" cy="288"/>
              <a:chOff x="832" y="2920"/>
              <a:chExt cx="288" cy="288"/>
            </a:xfrm>
          </p:grpSpPr>
          <p:sp>
            <p:nvSpPr>
              <p:cNvPr id="199732" name="Oval 52"/>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3" name="Freeform 53"/>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sp>
          <p:nvSpPr>
            <p:cNvPr id="199721" name="Line 41"/>
            <p:cNvSpPr>
              <a:spLocks noChangeShapeType="1"/>
            </p:cNvSpPr>
            <p:nvPr/>
          </p:nvSpPr>
          <p:spPr bwMode="auto">
            <a:xfrm>
              <a:off x="1776" y="2688"/>
              <a:ext cx="1104"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4" name="Text Box 54"/>
            <p:cNvSpPr txBox="1">
              <a:spLocks noChangeArrowheads="1"/>
            </p:cNvSpPr>
            <p:nvPr/>
          </p:nvSpPr>
          <p:spPr bwMode="auto">
            <a:xfrm>
              <a:off x="3936" y="2719"/>
              <a:ext cx="5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线程 </a:t>
              </a:r>
              <a:r>
                <a:rPr lang="en-US" altLang="zh-CN" sz="2000" b="1">
                  <a:solidFill>
                    <a:srgbClr val="FF0000"/>
                  </a:solidFill>
                  <a:latin typeface="Times New Roman" panose="02020603050405020304" pitchFamily="18" charset="0"/>
                  <a:ea typeface="黑体" panose="02010609060101010101" pitchFamily="2" charset="-122"/>
                </a:rPr>
                <a:t>n</a:t>
              </a:r>
              <a:endParaRPr lang="en-US" altLang="zh-CN" sz="2000" b="1">
                <a:solidFill>
                  <a:srgbClr val="FF0000"/>
                </a:solidFill>
                <a:latin typeface="Times New Roman" panose="02020603050405020304" pitchFamily="18" charset="0"/>
                <a:ea typeface="黑体" panose="02010609060101010101" pitchFamily="2" charset="-122"/>
              </a:endParaRPr>
            </a:p>
          </p:txBody>
        </p:sp>
        <p:sp>
          <p:nvSpPr>
            <p:cNvPr id="199715" name="Line 35"/>
            <p:cNvSpPr>
              <a:spLocks noChangeShapeType="1"/>
            </p:cNvSpPr>
            <p:nvPr/>
          </p:nvSpPr>
          <p:spPr bwMode="auto">
            <a:xfrm flipH="1">
              <a:off x="2880" y="2736"/>
              <a:ext cx="1056" cy="192"/>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5" name="Freeform 55"/>
            <p:cNvSpPr/>
            <p:nvPr/>
          </p:nvSpPr>
          <p:spPr bwMode="auto">
            <a:xfrm>
              <a:off x="2094" y="1131"/>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6" name="Line 56"/>
            <p:cNvSpPr>
              <a:spLocks noChangeShapeType="1"/>
            </p:cNvSpPr>
            <p:nvPr/>
          </p:nvSpPr>
          <p:spPr bwMode="auto">
            <a:xfrm flipH="1">
              <a:off x="2121" y="1379"/>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7" name="Freeform 57"/>
            <p:cNvSpPr/>
            <p:nvPr/>
          </p:nvSpPr>
          <p:spPr bwMode="auto">
            <a:xfrm>
              <a:off x="2421" y="1131"/>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8" name="Line 58"/>
            <p:cNvSpPr>
              <a:spLocks noChangeShapeType="1"/>
            </p:cNvSpPr>
            <p:nvPr/>
          </p:nvSpPr>
          <p:spPr bwMode="auto">
            <a:xfrm flipH="1">
              <a:off x="2448" y="1379"/>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9" name="Freeform 59"/>
            <p:cNvSpPr/>
            <p:nvPr/>
          </p:nvSpPr>
          <p:spPr bwMode="auto">
            <a:xfrm>
              <a:off x="2766" y="1143"/>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0" name="Line 60"/>
            <p:cNvSpPr>
              <a:spLocks noChangeShapeType="1"/>
            </p:cNvSpPr>
            <p:nvPr/>
          </p:nvSpPr>
          <p:spPr bwMode="auto">
            <a:xfrm flipH="1">
              <a:off x="2793" y="1391"/>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1" name="Freeform 61"/>
            <p:cNvSpPr/>
            <p:nvPr/>
          </p:nvSpPr>
          <p:spPr bwMode="auto">
            <a:xfrm>
              <a:off x="1737" y="1137"/>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2" name="Line 62"/>
            <p:cNvSpPr>
              <a:spLocks noChangeShapeType="1"/>
            </p:cNvSpPr>
            <p:nvPr/>
          </p:nvSpPr>
          <p:spPr bwMode="auto">
            <a:xfrm flipH="1">
              <a:off x="1764" y="1385"/>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3" name="Freeform 63"/>
            <p:cNvSpPr/>
            <p:nvPr/>
          </p:nvSpPr>
          <p:spPr bwMode="auto">
            <a:xfrm>
              <a:off x="3918" y="11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4" name="Line 64"/>
            <p:cNvSpPr>
              <a:spLocks noChangeShapeType="1"/>
            </p:cNvSpPr>
            <p:nvPr/>
          </p:nvSpPr>
          <p:spPr bwMode="auto">
            <a:xfrm flipH="1">
              <a:off x="3945" y="1392"/>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5" name="Line 65"/>
            <p:cNvSpPr>
              <a:spLocks noChangeShapeType="1"/>
            </p:cNvSpPr>
            <p:nvPr/>
          </p:nvSpPr>
          <p:spPr bwMode="auto">
            <a:xfrm>
              <a:off x="2112" y="2688"/>
              <a:ext cx="768"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6" name="Line 66"/>
            <p:cNvSpPr>
              <a:spLocks noChangeShapeType="1"/>
            </p:cNvSpPr>
            <p:nvPr/>
          </p:nvSpPr>
          <p:spPr bwMode="auto">
            <a:xfrm>
              <a:off x="2448" y="2688"/>
              <a:ext cx="432"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7" name="Line 67"/>
            <p:cNvSpPr>
              <a:spLocks noChangeShapeType="1"/>
            </p:cNvSpPr>
            <p:nvPr/>
          </p:nvSpPr>
          <p:spPr bwMode="auto">
            <a:xfrm>
              <a:off x="2784" y="2688"/>
              <a:ext cx="96"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50" name="Line 70"/>
            <p:cNvSpPr>
              <a:spLocks noChangeShapeType="1"/>
            </p:cNvSpPr>
            <p:nvPr/>
          </p:nvSpPr>
          <p:spPr bwMode="auto">
            <a:xfrm flipH="1">
              <a:off x="2160" y="2928"/>
              <a:ext cx="720"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51" name="Line 71"/>
            <p:cNvSpPr>
              <a:spLocks noChangeShapeType="1"/>
            </p:cNvSpPr>
            <p:nvPr/>
          </p:nvSpPr>
          <p:spPr bwMode="auto">
            <a:xfrm flipH="1" flipV="1">
              <a:off x="2880" y="2928"/>
              <a:ext cx="912"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52" name="Line 72"/>
            <p:cNvSpPr>
              <a:spLocks noChangeShapeType="1"/>
            </p:cNvSpPr>
            <p:nvPr/>
          </p:nvSpPr>
          <p:spPr bwMode="auto">
            <a:xfrm>
              <a:off x="2880" y="2928"/>
              <a:ext cx="144"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sp>
        <p:nvSpPr>
          <p:cNvPr id="3" name="矩形 2"/>
          <p:cNvSpPr/>
          <p:nvPr/>
        </p:nvSpPr>
        <p:spPr>
          <a:xfrm>
            <a:off x="6303488" y="304801"/>
            <a:ext cx="2179158" cy="646331"/>
          </a:xfrm>
          <a:prstGeom prst="rect">
            <a:avLst/>
          </a:prstGeom>
          <a:solidFill>
            <a:srgbClr val="FFC000"/>
          </a:solidFill>
        </p:spPr>
        <p:txBody>
          <a:bodyPr wrap="square">
            <a:spAutoFit/>
          </a:bodyPr>
          <a:lstStyle/>
          <a:p>
            <a:pPr defTabSz="457200">
              <a:defRPr/>
            </a:pPr>
            <a:r>
              <a:rPr lang="zh-CN" altLang="en-US" dirty="0">
                <a:solidFill>
                  <a:prstClr val="black"/>
                </a:solidFill>
                <a:latin typeface="Arial" panose="020B0604020202020204"/>
                <a:ea typeface="黑体" panose="02010609060101010101" pitchFamily="2" charset="-122"/>
              </a:rPr>
              <a:t>内核级线程对多核的支持怎么样？</a:t>
            </a:r>
            <a:endParaRPr lang="zh-CN" altLang="en-US" dirty="0">
              <a:solidFill>
                <a:prstClr val="black"/>
              </a:solidFill>
              <a:latin typeface="Arial" panose="020B0604020202020204"/>
              <a:ea typeface="黑体" panose="02010609060101010101" pitchFamily="2" charset="-122"/>
            </a:endParaRPr>
          </a:p>
        </p:txBody>
      </p:sp>
      <p:pic>
        <p:nvPicPr>
          <p:cNvPr id="2" name="图片 1"/>
          <p:cNvPicPr>
            <a:picLocks noChangeAspect="1"/>
          </p:cNvPicPr>
          <p:nvPr/>
        </p:nvPicPr>
        <p:blipFill>
          <a:blip r:embed="rId1"/>
          <a:stretch>
            <a:fillRect/>
          </a:stretch>
        </p:blipFill>
        <p:spPr>
          <a:xfrm>
            <a:off x="7007819" y="1489061"/>
            <a:ext cx="1412111" cy="978061"/>
          </a:xfrm>
          <a:prstGeom prst="rect">
            <a:avLst/>
          </a:prstGeom>
        </p:spPr>
      </p:pic>
      <p:pic>
        <p:nvPicPr>
          <p:cNvPr id="4" name="图片 3"/>
          <p:cNvPicPr>
            <a:picLocks noChangeAspect="1"/>
          </p:cNvPicPr>
          <p:nvPr/>
        </p:nvPicPr>
        <p:blipFill>
          <a:blip r:embed="rId2"/>
          <a:stretch>
            <a:fillRect/>
          </a:stretch>
        </p:blipFill>
        <p:spPr>
          <a:xfrm>
            <a:off x="7007818" y="3244771"/>
            <a:ext cx="1412111" cy="978061"/>
          </a:xfrm>
          <a:prstGeom prst="rect">
            <a:avLst/>
          </a:prstGeom>
        </p:spPr>
      </p:pic>
      <p:sp>
        <p:nvSpPr>
          <p:cNvPr id="5" name="矩形 4"/>
          <p:cNvSpPr/>
          <p:nvPr/>
        </p:nvSpPr>
        <p:spPr>
          <a:xfrm>
            <a:off x="7086600" y="1205775"/>
            <a:ext cx="1107996" cy="369332"/>
          </a:xfrm>
          <a:prstGeom prst="rect">
            <a:avLst/>
          </a:prstGeom>
        </p:spPr>
        <p:txBody>
          <a:bodyPr wrap="none">
            <a:spAutoFit/>
          </a:bodyPr>
          <a:lstStyle/>
          <a:p>
            <a:pPr defTabSz="457200">
              <a:defRPr/>
            </a:pPr>
            <a:r>
              <a:rPr lang="zh-CN" altLang="en-US" dirty="0">
                <a:solidFill>
                  <a:prstClr val="black"/>
                </a:solidFill>
                <a:latin typeface="宋体" panose="02010600030101010101" pitchFamily="2" charset="-122"/>
                <a:ea typeface="宋体" panose="02010600030101010101" pitchFamily="2" charset="-122"/>
              </a:rPr>
              <a:t>多处理器</a:t>
            </a:r>
            <a:endParaRPr lang="zh-CN" altLang="en-US" dirty="0">
              <a:solidFill>
                <a:prstClr val="black"/>
              </a:solidFill>
              <a:latin typeface="Arial" panose="020B0604020202020204"/>
              <a:ea typeface="黑体" panose="02010609060101010101" pitchFamily="2" charset="-122"/>
            </a:endParaRPr>
          </a:p>
        </p:txBody>
      </p:sp>
      <p:sp>
        <p:nvSpPr>
          <p:cNvPr id="6" name="矩形 5"/>
          <p:cNvSpPr/>
          <p:nvPr/>
        </p:nvSpPr>
        <p:spPr>
          <a:xfrm>
            <a:off x="7206176" y="2875438"/>
            <a:ext cx="646331" cy="369332"/>
          </a:xfrm>
          <a:prstGeom prst="rect">
            <a:avLst/>
          </a:prstGeom>
        </p:spPr>
        <p:txBody>
          <a:bodyPr wrap="none">
            <a:spAutoFit/>
          </a:bodyPr>
          <a:lstStyle/>
          <a:p>
            <a:pPr defTabSz="457200">
              <a:defRPr/>
            </a:pPr>
            <a:r>
              <a:rPr lang="zh-CN" altLang="en-US" dirty="0">
                <a:solidFill>
                  <a:prstClr val="black"/>
                </a:solidFill>
                <a:latin typeface="宋体" panose="02010600030101010101" pitchFamily="2" charset="-122"/>
                <a:ea typeface="宋体" panose="02010600030101010101" pitchFamily="2" charset="-122"/>
              </a:rPr>
              <a:t>多核</a:t>
            </a:r>
            <a:endParaRPr lang="zh-CN" altLang="en-US" dirty="0">
              <a:solidFill>
                <a:prstClr val="black"/>
              </a:solidFill>
              <a:latin typeface="Arial" panose="020B0604020202020204"/>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9683"/>
                                        </p:tgtEl>
                                        <p:attrNameLst>
                                          <p:attrName>style.visibility</p:attrName>
                                        </p:attrNameLst>
                                      </p:cBhvr>
                                      <p:to>
                                        <p:strVal val="visible"/>
                                      </p:to>
                                    </p:set>
                                    <p:animEffect transition="in" filter="dissolve">
                                      <p:cBhvr>
                                        <p:cTn id="7" dur="500"/>
                                        <p:tgtEl>
                                          <p:spTgt spid="19968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ldLvl="0" animBg="1"/>
      <p:bldP spid="3" grpId="0" bldLvl="0" animBg="1"/>
      <p:bldP spid="5" grpId="0"/>
      <p:bldP spid="6" grpId="0"/>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noRot="1"/>
          </p:cNvSpPr>
          <p:nvPr>
            <p:ph type="title"/>
          </p:nvPr>
        </p:nvSpPr>
        <p:spPr>
          <a:ln/>
        </p:spPr>
        <p:txBody>
          <a:bodyPr vert="horz" wrap="square" lIns="91440" tIns="45720" rIns="91440" bIns="45720" anchor="ctr" anchorCtr="0"/>
          <a:p>
            <a:endParaRPr lang="zh-CN" altLang="en-US" dirty="0"/>
          </a:p>
        </p:txBody>
      </p:sp>
      <p:sp>
        <p:nvSpPr>
          <p:cNvPr id="478212" name="Text Box 4"/>
          <p:cNvSpPr txBox="1">
            <a:spLocks noGrp="1" noChangeArrowheads="1"/>
          </p:cNvSpPr>
          <p:nvPr>
            <p:ph idx="1"/>
          </p:nvPr>
        </p:nvSpPr>
        <p:spPr>
          <a:effectLst>
            <a:prstShdw prst="shdw18" dist="17961" dir="13500000">
              <a:schemeClr val="accent1">
                <a:gamma/>
                <a:shade val="60000"/>
                <a:invGamma/>
              </a:schemeClr>
            </a:prstShdw>
          </a:effec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uLnTx/>
                <a:uFillTx/>
                <a:latin typeface="+mn-lt"/>
                <a:ea typeface="+mn-ea"/>
                <a:cs typeface="+mn-cs"/>
              </a:rPr>
              <a:t>内核支持线程的主要缺点是：</a:t>
            </a:r>
            <a:endParaRPr kumimoji="0" lang="zh-CN" altLang="en-US" sz="3200" b="1"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对于线程切换而言，其模式切换的开销较大，在同一个进程中，从一个线程切换到另一个线程时，需要从用户态转到内核态进行，</a:t>
            </a:r>
            <a:r>
              <a:rPr kumimoji="0" lang="zh-CN" altLang="zh-CN" sz="3200" b="0" i="0" u="none" strike="noStrike" kern="0" cap="none" spc="0" normalizeH="0" baseline="0" noProof="0" dirty="0">
                <a:ln>
                  <a:noFill/>
                </a:ln>
                <a:solidFill>
                  <a:schemeClr val="tx1"/>
                </a:solidFill>
                <a:effectLst/>
                <a:uLnTx/>
                <a:uFillTx/>
                <a:latin typeface="+mn-lt"/>
                <a:ea typeface="+mn-ea"/>
                <a:cs typeface="+mn-cs"/>
              </a:rPr>
              <a:t>切换完毕要从内核态返回用户态</a:t>
            </a:r>
            <a:r>
              <a:rPr kumimoji="0" lang="en-US" altLang="zh-CN" sz="3200" b="0" i="0" u="none" strike="noStrike" kern="0" cap="none" spc="0" normalizeH="0" baseline="0" noProof="0" dirty="0">
                <a:ln>
                  <a:noFill/>
                </a:ln>
                <a:solidFill>
                  <a:schemeClr val="tx1"/>
                </a:solidFill>
                <a:effectLst/>
                <a:uLnTx/>
                <a:uFillTx/>
                <a:latin typeface="+mn-lt"/>
                <a:ea typeface="+mn-ea"/>
                <a:cs typeface="+mn-cs"/>
              </a:rPr>
              <a:t>.</a:t>
            </a:r>
            <a:endParaRPr kumimoji="0" lang="zh-CN" altLang="zh-CN"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这是因为</a:t>
            </a:r>
            <a:r>
              <a:rPr kumimoji="0" lang="zh-CN" altLang="en-US" sz="3200" b="1" i="1" u="sng" strike="noStrike" kern="0" cap="none" spc="0" normalizeH="0" baseline="0" noProof="0" dirty="0" smtClean="0">
                <a:ln>
                  <a:noFill/>
                </a:ln>
                <a:solidFill>
                  <a:schemeClr val="folHlink"/>
                </a:solidFill>
                <a:effectLst/>
                <a:uLnTx/>
                <a:uFillTx/>
                <a:latin typeface="+mn-lt"/>
                <a:ea typeface="+mn-ea"/>
                <a:cs typeface="+mn-cs"/>
              </a:rPr>
              <a:t>用户进程的线程在用户态运行，而线程调度和管理是在内核实现的</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，系统开销较大。</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50000"/>
              </a:spcBef>
              <a:spcAft>
                <a:spcPct val="0"/>
              </a:spcAft>
              <a:buClrTx/>
              <a:buSzTx/>
              <a:buFontTx/>
              <a:buNone/>
              <a:defRPr/>
            </a:pPr>
            <a:endParaRPr kumimoji="0" lang="zh-CN" altLang="en-US" sz="24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内容占位符 2"/>
          <p:cNvSpPr>
            <a:spLocks noGrp="1"/>
          </p:cNvSpPr>
          <p:nvPr>
            <p:ph idx="1"/>
          </p:nvPr>
        </p:nvSpPr>
        <p:spPr>
          <a:xfrm>
            <a:off x="304800" y="457200"/>
            <a:ext cx="8540750" cy="4498975"/>
          </a:xfrm>
          <a:ln/>
        </p:spPr>
        <p:txBody>
          <a:bodyPr vert="horz" wrap="square" lIns="91440" tIns="45720" rIns="91440" bIns="45720" anchor="t" anchorCtr="0"/>
          <a:p>
            <a:r>
              <a:rPr lang="en-US" altLang="zh-CN" sz="2800" dirty="0"/>
              <a:t>include/linux/kthread.h</a:t>
            </a:r>
            <a:r>
              <a:rPr lang="zh-CN" altLang="en-US" sz="2800" dirty="0"/>
              <a:t>，你就看到了它全部的</a:t>
            </a:r>
            <a:r>
              <a:rPr lang="en-US" altLang="zh-CN" sz="2800" dirty="0"/>
              <a:t>API</a:t>
            </a:r>
            <a:r>
              <a:rPr lang="zh-CN" altLang="en-US" sz="2800" dirty="0"/>
              <a:t>，一共三个函数。</a:t>
            </a:r>
            <a:endParaRPr lang="en-US" altLang="zh-CN" sz="2800" dirty="0"/>
          </a:p>
          <a:p>
            <a:endParaRPr lang="en-US" altLang="zh-CN" dirty="0"/>
          </a:p>
          <a:p>
            <a:endParaRPr lang="en-US" altLang="zh-CN" dirty="0"/>
          </a:p>
          <a:p>
            <a:endParaRPr lang="en-US" altLang="zh-CN" dirty="0"/>
          </a:p>
          <a:p>
            <a:endParaRPr lang="en-US" altLang="zh-CN" sz="2800" dirty="0"/>
          </a:p>
          <a:p>
            <a:r>
              <a:rPr lang="en-US" altLang="zh-CN" sz="2000" dirty="0"/>
              <a:t>kthread_run()</a:t>
            </a:r>
            <a:r>
              <a:rPr lang="zh-CN" altLang="en-US" sz="2000" dirty="0"/>
              <a:t>负责内核线程的创建，</a:t>
            </a:r>
            <a:endParaRPr lang="en-US" altLang="zh-CN" sz="2000" dirty="0"/>
          </a:p>
          <a:p>
            <a:r>
              <a:rPr lang="en-US" altLang="zh-CN" sz="2400" dirty="0"/>
              <a:t> kthread_stop()</a:t>
            </a:r>
            <a:r>
              <a:rPr lang="zh-CN" altLang="en-US" sz="2400" dirty="0"/>
              <a:t>负责结束创建的线程，参数是创建时返回的</a:t>
            </a:r>
            <a:r>
              <a:rPr lang="en-US" altLang="zh-CN" sz="2400" dirty="0"/>
              <a:t>task_struct</a:t>
            </a:r>
            <a:r>
              <a:rPr lang="zh-CN" altLang="en-US" sz="2400" dirty="0"/>
              <a:t>指针。</a:t>
            </a:r>
            <a:endParaRPr lang="en-US" altLang="zh-CN" sz="2400" dirty="0"/>
          </a:p>
          <a:p>
            <a:r>
              <a:rPr lang="en-US" altLang="zh-CN" sz="2400" dirty="0"/>
              <a:t>kthread_should_stop()</a:t>
            </a:r>
            <a:r>
              <a:rPr lang="zh-CN" altLang="en-US" sz="2400" dirty="0"/>
              <a:t>返回</a:t>
            </a:r>
            <a:r>
              <a:rPr lang="en-US" altLang="zh-CN" sz="2400" dirty="0"/>
              <a:t>should_stop</a:t>
            </a:r>
            <a:r>
              <a:rPr lang="zh-CN" altLang="en-US" sz="2400" dirty="0"/>
              <a:t>标志。它用于创建的线程检查结束标志，并决定是否退出。</a:t>
            </a:r>
            <a:endParaRPr lang="en-US" altLang="zh-CN" sz="2000" dirty="0"/>
          </a:p>
          <a:p>
            <a:endParaRPr lang="zh-CN" altLang="en-US" dirty="0"/>
          </a:p>
        </p:txBody>
      </p:sp>
      <p:pic>
        <p:nvPicPr>
          <p:cNvPr id="200707" name="图片 4"/>
          <p:cNvPicPr>
            <a:picLocks noChangeAspect="1"/>
          </p:cNvPicPr>
          <p:nvPr/>
        </p:nvPicPr>
        <p:blipFill>
          <a:blip r:embed="rId1"/>
          <a:stretch>
            <a:fillRect/>
          </a:stretch>
        </p:blipFill>
        <p:spPr>
          <a:xfrm>
            <a:off x="533400" y="1600200"/>
            <a:ext cx="7848600" cy="1905000"/>
          </a:xfrm>
          <a:prstGeom prst="rect">
            <a:avLst/>
          </a:prstGeom>
          <a:noFill/>
          <a:ln w="9525">
            <a:noFill/>
          </a:ln>
        </p:spPr>
      </p:pic>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标题 1"/>
          <p:cNvSpPr>
            <a:spLocks noGrp="1"/>
          </p:cNvSpPr>
          <p:nvPr>
            <p:ph type="title"/>
          </p:nvPr>
        </p:nvSpPr>
        <p:spPr>
          <a:ln/>
        </p:spPr>
        <p:txBody>
          <a:bodyPr vert="horz" wrap="square" lIns="91440" tIns="45720" rIns="91440" bIns="45720" anchor="ctr" anchorCtr="0"/>
          <a:p>
            <a:r>
              <a:rPr lang="zh-CN" altLang="en-US" dirty="0"/>
              <a:t>作业</a:t>
            </a:r>
            <a:r>
              <a:rPr lang="en-US" altLang="zh-CN" dirty="0"/>
              <a:t>5</a:t>
            </a:r>
            <a:r>
              <a:rPr lang="zh-CN" altLang="en-US" dirty="0"/>
              <a:t>：</a:t>
            </a:r>
            <a:endParaRPr lang="zh-CN" altLang="en-US" dirty="0"/>
          </a:p>
        </p:txBody>
      </p:sp>
      <p:sp>
        <p:nvSpPr>
          <p:cNvPr id="201731" name="内容占位符 2"/>
          <p:cNvSpPr>
            <a:spLocks noGrp="1"/>
          </p:cNvSpPr>
          <p:nvPr>
            <p:ph idx="1"/>
          </p:nvPr>
        </p:nvSpPr>
        <p:spPr>
          <a:ln/>
        </p:spPr>
        <p:txBody>
          <a:bodyPr vert="horz" wrap="square" lIns="91440" tIns="45720" rIns="91440" bIns="45720" anchor="t" anchorCtr="0"/>
          <a:p>
            <a:r>
              <a:rPr lang="zh-CN" altLang="en-US" dirty="0"/>
              <a:t>利用上面提到的系统调用，在</a:t>
            </a:r>
            <a:r>
              <a:rPr lang="en-US" altLang="zh-CN" dirty="0"/>
              <a:t>Linux</a:t>
            </a:r>
            <a:r>
              <a:rPr lang="zh-CN" altLang="en-US" dirty="0"/>
              <a:t>系统中实现一个可加载的内核模块，里面至少包含一个内核线程。</a:t>
            </a:r>
            <a:endParaRPr lang="zh-CN" altLang="en-US"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Text Box 2"/>
          <p:cNvSpPr txBox="1"/>
          <p:nvPr/>
        </p:nvSpPr>
        <p:spPr>
          <a:xfrm>
            <a:off x="304800" y="915988"/>
            <a:ext cx="8458200" cy="51355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20000"/>
              </a:lnSpc>
              <a:spcBef>
                <a:spcPct val="50000"/>
              </a:spcBef>
              <a:buClrTx/>
              <a:buSzTx/>
              <a:buFontTx/>
              <a:buNone/>
            </a:pPr>
            <a:r>
              <a:rPr lang="zh-CN" altLang="en-US" sz="2800" b="1" dirty="0">
                <a:solidFill>
                  <a:srgbClr val="FF0000"/>
                </a:solidFill>
                <a:latin typeface="Times New Roman" panose="02020603050405020304" pitchFamily="18" charset="0"/>
              </a:rPr>
              <a:t>        </a:t>
            </a:r>
            <a:r>
              <a:rPr lang="en-US" altLang="zh-CN" sz="2800" b="1" dirty="0">
                <a:solidFill>
                  <a:srgbClr val="FF0000"/>
                </a:solidFill>
                <a:latin typeface="Times New Roman" panose="02020603050405020304" pitchFamily="18" charset="0"/>
              </a:rPr>
              <a:t>2. </a:t>
            </a:r>
            <a:r>
              <a:rPr lang="zh-CN" altLang="en-US" sz="2800" b="1" dirty="0">
                <a:solidFill>
                  <a:srgbClr val="FF0000"/>
                </a:solidFill>
                <a:latin typeface="Times New Roman" panose="02020603050405020304" pitchFamily="18" charset="0"/>
              </a:rPr>
              <a:t>用户级线程</a:t>
            </a:r>
            <a:endParaRPr lang="zh-CN" altLang="en-US" sz="2800" b="1" dirty="0">
              <a:solidFill>
                <a:srgbClr val="FF0000"/>
              </a:solidFill>
              <a:latin typeface="Times New Roman" panose="02020603050405020304" pitchFamily="18" charset="0"/>
            </a:endParaRPr>
          </a:p>
          <a:p>
            <a:pPr marL="0" lvl="0" indent="0" algn="just" eaLnBrk="1" hangingPunct="1">
              <a:lnSpc>
                <a:spcPct val="120000"/>
              </a:lnSpc>
              <a:spcBef>
                <a:spcPct val="50000"/>
              </a:spcBef>
              <a:buClrTx/>
              <a:buSzTx/>
              <a:buFont typeface="Wingdings" panose="05000000000000000000" pitchFamily="2" charset="2"/>
              <a:buChar char="Ø"/>
            </a:pPr>
            <a:r>
              <a:rPr lang="zh-CN" altLang="en-US" sz="2800" b="1" dirty="0">
                <a:latin typeface="Times New Roman" panose="02020603050405020304" pitchFamily="18" charset="0"/>
              </a:rPr>
              <a:t>  </a:t>
            </a:r>
            <a:r>
              <a:rPr lang="zh-CN" altLang="en-US" sz="2800" b="1" dirty="0">
                <a:solidFill>
                  <a:srgbClr val="FF0000"/>
                </a:solidFill>
                <a:latin typeface="Times New Roman" panose="02020603050405020304" pitchFamily="18" charset="0"/>
              </a:rPr>
              <a:t>用户级线程仅存在于用户空间中。对于这种线程的创建、 撤消、线程之间的同步与通信等功能，都无须利用系统调用来实现。</a:t>
            </a:r>
            <a:endParaRPr lang="zh-CN" altLang="en-US" sz="2800" b="1" dirty="0">
              <a:solidFill>
                <a:srgbClr val="FF0000"/>
              </a:solidFill>
              <a:latin typeface="Times New Roman" panose="02020603050405020304" pitchFamily="18" charset="0"/>
            </a:endParaRPr>
          </a:p>
          <a:p>
            <a:pPr marL="0" lvl="0" indent="0" algn="just" eaLnBrk="1" hangingPunct="1">
              <a:lnSpc>
                <a:spcPct val="120000"/>
              </a:lnSpc>
              <a:spcBef>
                <a:spcPct val="50000"/>
              </a:spcBef>
              <a:buClrTx/>
              <a:buSzTx/>
              <a:buFont typeface="Wingdings" panose="05000000000000000000" pitchFamily="2" charset="2"/>
              <a:buChar char="Ø"/>
            </a:pPr>
            <a:r>
              <a:rPr lang="zh-CN" altLang="en-US" sz="2800" b="1" dirty="0">
                <a:latin typeface="Times New Roman" panose="02020603050405020304" pitchFamily="18" charset="0"/>
              </a:rPr>
              <a:t> 对于用户级线程的切换，通常是发生在一个应用进程的诸多线程之间，这时，也同样无须内核的支持。由于切换的规则远比进程调度和切换的规则简单，因而使线程的切换速度特别快。可见，这种线程是与内核无关的。</a:t>
            </a:r>
            <a:endParaRPr lang="zh-CN" altLang="en-US" sz="2800" b="1" dirty="0">
              <a:latin typeface="Times New Roman" panose="02020603050405020304" pitchFamily="18" charset="0"/>
            </a:endParaRPr>
          </a:p>
        </p:txBody>
      </p:sp>
    </p:spTree>
  </p:cSld>
  <p:clrMapOvr>
    <a:masterClrMapping/>
  </p:clrMapOvr>
  <p:transition/>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80" name="AutoShape 4">
            <a:hlinkClick r:id="" action="ppaction://hlinkshowjump?jump=firstslide"/>
          </p:cNvPr>
          <p:cNvSpPr/>
          <p:nvPr/>
        </p:nvSpPr>
        <p:spPr>
          <a:xfrm>
            <a:off x="8534400" y="6470650"/>
            <a:ext cx="6096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nvGrpSpPr>
          <p:cNvPr id="196768" name="Group 160"/>
          <p:cNvGrpSpPr/>
          <p:nvPr/>
        </p:nvGrpSpPr>
        <p:grpSpPr bwMode="auto">
          <a:xfrm>
            <a:off x="898526" y="1600200"/>
            <a:ext cx="6797675" cy="4572000"/>
            <a:chOff x="662" y="1200"/>
            <a:chExt cx="4234" cy="2880"/>
          </a:xfrm>
        </p:grpSpPr>
        <p:sp>
          <p:nvSpPr>
            <p:cNvPr id="196655" name="Rectangle 47"/>
            <p:cNvSpPr>
              <a:spLocks noChangeArrowheads="1"/>
            </p:cNvSpPr>
            <p:nvPr/>
          </p:nvSpPr>
          <p:spPr bwMode="auto">
            <a:xfrm>
              <a:off x="3667" y="1495"/>
              <a:ext cx="877"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56" name="Rectangle 48"/>
            <p:cNvSpPr>
              <a:spLocks noChangeArrowheads="1"/>
            </p:cNvSpPr>
            <p:nvPr/>
          </p:nvSpPr>
          <p:spPr bwMode="auto">
            <a:xfrm>
              <a:off x="1645" y="1495"/>
              <a:ext cx="1541"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57" name="Line 49"/>
            <p:cNvSpPr>
              <a:spLocks noChangeShapeType="1"/>
            </p:cNvSpPr>
            <p:nvPr/>
          </p:nvSpPr>
          <p:spPr bwMode="auto">
            <a:xfrm>
              <a:off x="723" y="2352"/>
              <a:ext cx="4173"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65" name="Line 57"/>
            <p:cNvSpPr>
              <a:spLocks noChangeShapeType="1"/>
            </p:cNvSpPr>
            <p:nvPr/>
          </p:nvSpPr>
          <p:spPr bwMode="auto">
            <a:xfrm>
              <a:off x="2382" y="2352"/>
              <a:ext cx="0" cy="52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68" name="Freeform 60"/>
            <p:cNvSpPr/>
            <p:nvPr/>
          </p:nvSpPr>
          <p:spPr bwMode="auto">
            <a:xfrm>
              <a:off x="2236" y="1617"/>
              <a:ext cx="51"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72" name="Freeform 64"/>
            <p:cNvSpPr/>
            <p:nvPr/>
          </p:nvSpPr>
          <p:spPr bwMode="auto">
            <a:xfrm>
              <a:off x="2563"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73" name="Freeform 65"/>
            <p:cNvSpPr/>
            <p:nvPr/>
          </p:nvSpPr>
          <p:spPr bwMode="auto">
            <a:xfrm>
              <a:off x="1901"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nvGrpSpPr>
            <p:cNvPr id="196674" name="Group 66"/>
            <p:cNvGrpSpPr/>
            <p:nvPr/>
          </p:nvGrpSpPr>
          <p:grpSpPr bwMode="auto">
            <a:xfrm>
              <a:off x="2231" y="2880"/>
              <a:ext cx="302" cy="288"/>
              <a:chOff x="832" y="2920"/>
              <a:chExt cx="288" cy="288"/>
            </a:xfrm>
          </p:grpSpPr>
          <p:sp>
            <p:nvSpPr>
              <p:cNvPr id="196675" name="Oval 67"/>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76" name="Freeform 68"/>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sp>
          <p:nvSpPr>
            <p:cNvPr id="196690" name="Freeform 82"/>
            <p:cNvSpPr/>
            <p:nvPr/>
          </p:nvSpPr>
          <p:spPr bwMode="auto">
            <a:xfrm>
              <a:off x="2882"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1" name="Line 83"/>
            <p:cNvSpPr>
              <a:spLocks noChangeShapeType="1"/>
            </p:cNvSpPr>
            <p:nvPr/>
          </p:nvSpPr>
          <p:spPr bwMode="auto">
            <a:xfrm>
              <a:off x="1935" y="1865"/>
              <a:ext cx="447" cy="487"/>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2" name="Line 84"/>
            <p:cNvSpPr>
              <a:spLocks noChangeShapeType="1"/>
            </p:cNvSpPr>
            <p:nvPr/>
          </p:nvSpPr>
          <p:spPr bwMode="auto">
            <a:xfrm>
              <a:off x="2257" y="1857"/>
              <a:ext cx="125" cy="49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3" name="Line 85"/>
            <p:cNvSpPr>
              <a:spLocks noChangeShapeType="1"/>
            </p:cNvSpPr>
            <p:nvPr/>
          </p:nvSpPr>
          <p:spPr bwMode="auto">
            <a:xfrm flipH="1">
              <a:off x="2382" y="1865"/>
              <a:ext cx="190" cy="487"/>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4" name="Line 86"/>
            <p:cNvSpPr>
              <a:spLocks noChangeShapeType="1"/>
            </p:cNvSpPr>
            <p:nvPr/>
          </p:nvSpPr>
          <p:spPr bwMode="auto">
            <a:xfrm flipH="1">
              <a:off x="2382" y="1872"/>
              <a:ext cx="503" cy="47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nvGrpSpPr>
            <p:cNvPr id="196696" name="Group 88"/>
            <p:cNvGrpSpPr/>
            <p:nvPr/>
          </p:nvGrpSpPr>
          <p:grpSpPr bwMode="auto">
            <a:xfrm>
              <a:off x="3036" y="3697"/>
              <a:ext cx="285" cy="288"/>
              <a:chOff x="888" y="3472"/>
              <a:chExt cx="272" cy="288"/>
            </a:xfrm>
          </p:grpSpPr>
          <p:sp>
            <p:nvSpPr>
              <p:cNvPr id="196697" name="Rectangle 89"/>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8" name="Text Box 90"/>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grpSp>
          <p:nvGrpSpPr>
            <p:cNvPr id="196699" name="Group 91"/>
            <p:cNvGrpSpPr/>
            <p:nvPr/>
          </p:nvGrpSpPr>
          <p:grpSpPr bwMode="auto">
            <a:xfrm>
              <a:off x="3790" y="3697"/>
              <a:ext cx="285" cy="288"/>
              <a:chOff x="888" y="3472"/>
              <a:chExt cx="272" cy="288"/>
            </a:xfrm>
          </p:grpSpPr>
          <p:sp>
            <p:nvSpPr>
              <p:cNvPr id="196700" name="Rectangle 92"/>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01" name="Text Box 93"/>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sp>
          <p:nvSpPr>
            <p:cNvPr id="196702" name="Text Box 94"/>
            <p:cNvSpPr txBox="1">
              <a:spLocks noChangeArrowheads="1"/>
            </p:cNvSpPr>
            <p:nvPr/>
          </p:nvSpPr>
          <p:spPr bwMode="auto">
            <a:xfrm>
              <a:off x="1600" y="1200"/>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进程 </a:t>
              </a:r>
              <a:r>
                <a:rPr lang="en-US" altLang="zh-CN" sz="2400" b="1">
                  <a:solidFill>
                    <a:prstClr val="black"/>
                  </a:solidFill>
                  <a:latin typeface="Times New Roman" panose="02020603050405020304" pitchFamily="18" charset="0"/>
                  <a:ea typeface="黑体" panose="02010609060101010101" pitchFamily="2" charset="-122"/>
                </a:rPr>
                <a:t>1</a:t>
              </a:r>
              <a:endParaRPr lang="en-US" altLang="zh-CN" sz="2400" b="1">
                <a:solidFill>
                  <a:prstClr val="black"/>
                </a:solidFill>
                <a:latin typeface="Times New Roman" panose="02020603050405020304" pitchFamily="18" charset="0"/>
                <a:ea typeface="黑体" panose="02010609060101010101" pitchFamily="2" charset="-122"/>
              </a:endParaRPr>
            </a:p>
          </p:txBody>
        </p:sp>
        <p:sp>
          <p:nvSpPr>
            <p:cNvPr id="196703" name="Line 95"/>
            <p:cNvSpPr>
              <a:spLocks noChangeShapeType="1"/>
            </p:cNvSpPr>
            <p:nvPr/>
          </p:nvSpPr>
          <p:spPr bwMode="auto">
            <a:xfrm flipV="1">
              <a:off x="723" y="3696"/>
              <a:ext cx="4173" cy="1"/>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04" name="Text Box 96"/>
            <p:cNvSpPr txBox="1">
              <a:spLocks noChangeArrowheads="1"/>
            </p:cNvSpPr>
            <p:nvPr/>
          </p:nvSpPr>
          <p:spPr bwMode="auto">
            <a:xfrm>
              <a:off x="662" y="2085"/>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用户</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6705" name="Text Box 97"/>
            <p:cNvSpPr txBox="1">
              <a:spLocks noChangeArrowheads="1"/>
            </p:cNvSpPr>
            <p:nvPr/>
          </p:nvSpPr>
          <p:spPr bwMode="auto">
            <a:xfrm>
              <a:off x="672" y="2844"/>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核心</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6706" name="Text Box 98"/>
            <p:cNvSpPr txBox="1">
              <a:spLocks noChangeArrowheads="1"/>
            </p:cNvSpPr>
            <p:nvPr/>
          </p:nvSpPr>
          <p:spPr bwMode="auto">
            <a:xfrm>
              <a:off x="672" y="3792"/>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硬件</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6707" name="Line 99"/>
            <p:cNvSpPr>
              <a:spLocks noChangeShapeType="1"/>
            </p:cNvSpPr>
            <p:nvPr/>
          </p:nvSpPr>
          <p:spPr bwMode="auto">
            <a:xfrm>
              <a:off x="4092" y="2352"/>
              <a:ext cx="0" cy="57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14" name="Freeform 106"/>
            <p:cNvSpPr/>
            <p:nvPr/>
          </p:nvSpPr>
          <p:spPr bwMode="auto">
            <a:xfrm>
              <a:off x="4100" y="1633"/>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15" name="Line 107"/>
            <p:cNvSpPr>
              <a:spLocks noChangeShapeType="1"/>
            </p:cNvSpPr>
            <p:nvPr/>
          </p:nvSpPr>
          <p:spPr bwMode="auto">
            <a:xfrm flipH="1">
              <a:off x="4092" y="1872"/>
              <a:ext cx="0" cy="48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21" name="Text Box 113"/>
            <p:cNvSpPr txBox="1">
              <a:spLocks noChangeArrowheads="1"/>
            </p:cNvSpPr>
            <p:nvPr/>
          </p:nvSpPr>
          <p:spPr bwMode="auto">
            <a:xfrm>
              <a:off x="3617" y="1248"/>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进程 </a:t>
              </a:r>
              <a:r>
                <a:rPr lang="en-US" altLang="zh-CN" sz="2400" b="1">
                  <a:solidFill>
                    <a:prstClr val="black"/>
                  </a:solidFill>
                  <a:latin typeface="Times New Roman" panose="02020603050405020304" pitchFamily="18" charset="0"/>
                  <a:ea typeface="黑体" panose="02010609060101010101" pitchFamily="2" charset="-122"/>
                </a:rPr>
                <a:t>2</a:t>
              </a:r>
              <a:endParaRPr lang="en-US" altLang="zh-CN" sz="2400" b="1">
                <a:solidFill>
                  <a:prstClr val="black"/>
                </a:solidFill>
                <a:latin typeface="Times New Roman" panose="02020603050405020304" pitchFamily="18" charset="0"/>
                <a:ea typeface="黑体" panose="02010609060101010101" pitchFamily="2" charset="-122"/>
              </a:endParaRPr>
            </a:p>
          </p:txBody>
        </p:sp>
        <p:sp>
          <p:nvSpPr>
            <p:cNvPr id="196725" name="Line 117"/>
            <p:cNvSpPr>
              <a:spLocks noChangeShapeType="1"/>
            </p:cNvSpPr>
            <p:nvPr/>
          </p:nvSpPr>
          <p:spPr bwMode="auto">
            <a:xfrm flipH="1">
              <a:off x="3186" y="3216"/>
              <a:ext cx="906" cy="48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54" name="Text Box 146"/>
            <p:cNvSpPr txBox="1">
              <a:spLocks noChangeArrowheads="1"/>
            </p:cNvSpPr>
            <p:nvPr/>
          </p:nvSpPr>
          <p:spPr bwMode="auto">
            <a:xfrm>
              <a:off x="1650" y="2911"/>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进程 </a:t>
              </a:r>
              <a:r>
                <a:rPr lang="en-US" altLang="zh-CN" sz="2000" b="1">
                  <a:solidFill>
                    <a:srgbClr val="FF0000"/>
                  </a:solidFill>
                  <a:latin typeface="Times New Roman" panose="02020603050405020304" pitchFamily="18" charset="0"/>
                  <a:ea typeface="黑体" panose="02010609060101010101" pitchFamily="2" charset="-122"/>
                </a:rPr>
                <a:t>1</a:t>
              </a:r>
              <a:endParaRPr lang="en-US" altLang="zh-CN" sz="2000" b="1">
                <a:solidFill>
                  <a:srgbClr val="FF0000"/>
                </a:solidFill>
                <a:latin typeface="Times New Roman" panose="02020603050405020304" pitchFamily="18" charset="0"/>
                <a:ea typeface="黑体" panose="02010609060101010101" pitchFamily="2" charset="-122"/>
              </a:endParaRPr>
            </a:p>
          </p:txBody>
        </p:sp>
        <p:grpSp>
          <p:nvGrpSpPr>
            <p:cNvPr id="196755" name="Group 147"/>
            <p:cNvGrpSpPr/>
            <p:nvPr/>
          </p:nvGrpSpPr>
          <p:grpSpPr bwMode="auto">
            <a:xfrm>
              <a:off x="3941" y="2928"/>
              <a:ext cx="301" cy="288"/>
              <a:chOff x="832" y="2920"/>
              <a:chExt cx="288" cy="288"/>
            </a:xfrm>
          </p:grpSpPr>
          <p:sp>
            <p:nvSpPr>
              <p:cNvPr id="196756" name="Oval 148"/>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57" name="Freeform 149"/>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sp>
          <p:nvSpPr>
            <p:cNvPr id="196758" name="Text Box 150"/>
            <p:cNvSpPr txBox="1">
              <a:spLocks noChangeArrowheads="1"/>
            </p:cNvSpPr>
            <p:nvPr/>
          </p:nvSpPr>
          <p:spPr bwMode="auto">
            <a:xfrm>
              <a:off x="3360" y="292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进程 </a:t>
              </a:r>
              <a:r>
                <a:rPr lang="en-US" altLang="zh-CN" sz="2000" b="1">
                  <a:solidFill>
                    <a:srgbClr val="FF0000"/>
                  </a:solidFill>
                  <a:latin typeface="Times New Roman" panose="02020603050405020304" pitchFamily="18" charset="0"/>
                  <a:ea typeface="黑体" panose="02010609060101010101" pitchFamily="2" charset="-122"/>
                </a:rPr>
                <a:t>2</a:t>
              </a:r>
              <a:endParaRPr lang="en-US" altLang="zh-CN" sz="2000" b="1">
                <a:solidFill>
                  <a:srgbClr val="FF0000"/>
                </a:solidFill>
                <a:latin typeface="Times New Roman" panose="02020603050405020304" pitchFamily="18" charset="0"/>
                <a:ea typeface="黑体" panose="02010609060101010101" pitchFamily="2" charset="-122"/>
              </a:endParaRPr>
            </a:p>
          </p:txBody>
        </p:sp>
        <p:sp>
          <p:nvSpPr>
            <p:cNvPr id="196759" name="Line 151"/>
            <p:cNvSpPr>
              <a:spLocks noChangeShapeType="1"/>
            </p:cNvSpPr>
            <p:nvPr/>
          </p:nvSpPr>
          <p:spPr bwMode="auto">
            <a:xfrm>
              <a:off x="2382" y="3168"/>
              <a:ext cx="804" cy="52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nvGrpSpPr>
            <p:cNvPr id="196762" name="Group 154"/>
            <p:cNvGrpSpPr/>
            <p:nvPr/>
          </p:nvGrpSpPr>
          <p:grpSpPr bwMode="auto">
            <a:xfrm>
              <a:off x="2147" y="3696"/>
              <a:ext cx="285" cy="288"/>
              <a:chOff x="888" y="3472"/>
              <a:chExt cx="272" cy="288"/>
            </a:xfrm>
          </p:grpSpPr>
          <p:sp>
            <p:nvSpPr>
              <p:cNvPr id="196763" name="Rectangle 155"/>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64" name="Text Box 156"/>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sp>
          <p:nvSpPr>
            <p:cNvPr id="196766" name="Text Box 158"/>
            <p:cNvSpPr txBox="1">
              <a:spLocks noChangeArrowheads="1"/>
            </p:cNvSpPr>
            <p:nvPr/>
          </p:nvSpPr>
          <p:spPr bwMode="auto">
            <a:xfrm>
              <a:off x="1392" y="1536"/>
              <a:ext cx="55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线程 </a:t>
              </a:r>
              <a:r>
                <a:rPr lang="en-US" altLang="zh-CN" sz="2000" b="1">
                  <a:solidFill>
                    <a:srgbClr val="FF0000"/>
                  </a:solidFill>
                  <a:latin typeface="Times New Roman" panose="02020603050405020304" pitchFamily="18" charset="0"/>
                  <a:ea typeface="黑体" panose="02010609060101010101" pitchFamily="2" charset="-122"/>
                </a:rPr>
                <a:t>1</a:t>
              </a:r>
              <a:endParaRPr lang="en-US" altLang="zh-CN" sz="2000" b="1">
                <a:solidFill>
                  <a:srgbClr val="FF0000"/>
                </a:solidFill>
                <a:latin typeface="Times New Roman" panose="02020603050405020304" pitchFamily="18" charset="0"/>
                <a:ea typeface="黑体" panose="02010609060101010101" pitchFamily="2" charset="-122"/>
              </a:endParaRPr>
            </a:p>
          </p:txBody>
        </p:sp>
        <p:sp>
          <p:nvSpPr>
            <p:cNvPr id="196767" name="Text Box 159"/>
            <p:cNvSpPr txBox="1">
              <a:spLocks noChangeArrowheads="1"/>
            </p:cNvSpPr>
            <p:nvPr/>
          </p:nvSpPr>
          <p:spPr bwMode="auto">
            <a:xfrm>
              <a:off x="2361" y="1536"/>
              <a:ext cx="5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线程 </a:t>
              </a:r>
              <a:r>
                <a:rPr lang="en-US" altLang="zh-CN" sz="2000" b="1">
                  <a:solidFill>
                    <a:srgbClr val="FF0000"/>
                  </a:solidFill>
                  <a:latin typeface="Times New Roman" panose="02020603050405020304" pitchFamily="18" charset="0"/>
                  <a:ea typeface="黑体" panose="02010609060101010101" pitchFamily="2" charset="-122"/>
                </a:rPr>
                <a:t>n</a:t>
              </a:r>
              <a:endParaRPr lang="en-US" altLang="zh-CN" sz="2000" b="1">
                <a:solidFill>
                  <a:srgbClr val="FF0000"/>
                </a:solidFill>
                <a:latin typeface="Times New Roman" panose="02020603050405020304" pitchFamily="18" charset="0"/>
                <a:ea typeface="黑体" panose="02010609060101010101" pitchFamily="2" charset="-122"/>
              </a:endParaRPr>
            </a:p>
          </p:txBody>
        </p:sp>
      </p:grpSp>
      <p:grpSp>
        <p:nvGrpSpPr>
          <p:cNvPr id="196771" name="Group 163"/>
          <p:cNvGrpSpPr/>
          <p:nvPr/>
        </p:nvGrpSpPr>
        <p:grpSpPr bwMode="auto">
          <a:xfrm>
            <a:off x="5105400" y="3581400"/>
            <a:ext cx="3581400" cy="2057400"/>
            <a:chOff x="3312" y="2448"/>
            <a:chExt cx="2256" cy="1296"/>
          </a:xfrm>
        </p:grpSpPr>
        <p:sp>
          <p:nvSpPr>
            <p:cNvPr id="196769" name="Line 161"/>
            <p:cNvSpPr>
              <a:spLocks noChangeShapeType="1"/>
            </p:cNvSpPr>
            <p:nvPr/>
          </p:nvSpPr>
          <p:spPr bwMode="auto">
            <a:xfrm flipH="1">
              <a:off x="3312" y="3264"/>
              <a:ext cx="1152" cy="480"/>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70" name="Text Box 162"/>
            <p:cNvSpPr txBox="1">
              <a:spLocks noChangeArrowheads="1"/>
            </p:cNvSpPr>
            <p:nvPr/>
          </p:nvSpPr>
          <p:spPr bwMode="auto">
            <a:xfrm>
              <a:off x="4416" y="2448"/>
              <a:ext cx="1152" cy="1214"/>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defTabSz="457200">
                <a:spcBef>
                  <a:spcPct val="50000"/>
                </a:spcBef>
                <a:defRPr/>
              </a:pPr>
              <a:r>
                <a:rPr lang="zh-CN" altLang="en-US" sz="2400" b="1" dirty="0">
                  <a:solidFill>
                    <a:srgbClr val="FF0000"/>
                  </a:solidFill>
                  <a:latin typeface="Arial" panose="020B0604020202020204"/>
                  <a:ea typeface="黑体" panose="02010609060101010101" pitchFamily="2" charset="-122"/>
                </a:rPr>
                <a:t>进程不能很好的利用多</a:t>
              </a:r>
              <a:r>
                <a:rPr lang="en-US" altLang="zh-CN" sz="2400" b="1" dirty="0">
                  <a:solidFill>
                    <a:srgbClr val="FF0000"/>
                  </a:solidFill>
                  <a:latin typeface="Arial" panose="020B0604020202020204"/>
                  <a:ea typeface="黑体" panose="02010609060101010101" pitchFamily="2" charset="-122"/>
                </a:rPr>
                <a:t>CPU</a:t>
              </a:r>
              <a:r>
                <a:rPr lang="zh-CN" altLang="en-US" sz="2400" b="1" dirty="0">
                  <a:solidFill>
                    <a:srgbClr val="FF0000"/>
                  </a:solidFill>
                  <a:latin typeface="Arial" panose="020B0604020202020204"/>
                  <a:ea typeface="黑体" panose="02010609060101010101" pitchFamily="2" charset="-122"/>
                </a:rPr>
                <a:t>，因为进程的地址空间不同</a:t>
              </a:r>
              <a:endParaRPr lang="zh-CN" altLang="en-US" sz="2400" b="1" dirty="0">
                <a:solidFill>
                  <a:srgbClr val="FF0000"/>
                </a:solidFill>
                <a:latin typeface="Arial" panose="020B0604020202020204"/>
                <a:ea typeface="黑体" panose="02010609060101010101" pitchFamily="2" charset="-122"/>
              </a:endParaRPr>
            </a:p>
          </p:txBody>
        </p:sp>
      </p:grpSp>
      <p:pic>
        <p:nvPicPr>
          <p:cNvPr id="2" name="图片 1"/>
          <p:cNvPicPr>
            <a:picLocks noChangeAspect="1"/>
          </p:cNvPicPr>
          <p:nvPr/>
        </p:nvPicPr>
        <p:blipFill>
          <a:blip r:embed="rId1"/>
          <a:stretch>
            <a:fillRect/>
          </a:stretch>
        </p:blipFill>
        <p:spPr>
          <a:xfrm>
            <a:off x="6770915" y="-70789"/>
            <a:ext cx="2126902" cy="1986004"/>
          </a:xfrm>
          <a:prstGeom prst="rect">
            <a:avLst/>
          </a:prstGeom>
        </p:spPr>
      </p:pic>
      <p:sp>
        <p:nvSpPr>
          <p:cNvPr id="196610" name="Rectangle 2"/>
          <p:cNvSpPr>
            <a:spLocks noGrp="1" noChangeArrowheads="1"/>
          </p:cNvSpPr>
          <p:nvPr/>
        </p:nvSpPr>
        <p:spPr>
          <a:xfrm>
            <a:off x="-390920" y="685643"/>
            <a:ext cx="8763000" cy="67627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r>
              <a:rPr lang="zh-CN" altLang="en-US" sz="3200" dirty="0">
                <a:solidFill>
                  <a:srgbClr val="0070C0"/>
                </a:solidFill>
              </a:rPr>
              <a:t>用户级线程的工作模型</a:t>
            </a:r>
            <a:endParaRPr lang="zh-CN" altLang="en-US" sz="3200" dirty="0">
              <a:solidFill>
                <a:srgbClr val="0070C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6771"/>
                                        </p:tgtEl>
                                        <p:attrNameLst>
                                          <p:attrName>style.visibility</p:attrName>
                                        </p:attrNameLst>
                                      </p:cBhvr>
                                      <p:to>
                                        <p:strVal val="visible"/>
                                      </p:to>
                                    </p:set>
                                    <p:animEffect transition="in" filter="dissolve">
                                      <p:cBhvr>
                                        <p:cTn id="12" dur="500"/>
                                        <p:tgtEl>
                                          <p:spTgt spid="196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采用线程的优点</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endPar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04451" name="Rectangle 3"/>
          <p:cNvSpPr>
            <a:spLocks noGrp="1" noRot="1"/>
          </p:cNvSpPr>
          <p:nvPr>
            <p:ph type="body"/>
          </p:nvPr>
        </p:nvSpPr>
        <p:spPr>
          <a:xfrm>
            <a:off x="228600" y="1676400"/>
            <a:ext cx="8686800" cy="4343400"/>
          </a:xfrm>
          <a:ln/>
        </p:spPr>
        <p:txBody>
          <a:bodyPr vert="horz" wrap="square" lIns="91440" tIns="45720" rIns="91440" bIns="45720" anchor="t" anchorCtr="0"/>
          <a:p>
            <a:pPr marL="565150" indent="-565150" algn="just" eaLnBrk="1" hangingPunct="1">
              <a:buNone/>
            </a:pPr>
            <a:r>
              <a:rPr lang="en-US" altLang="zh-CN" b="1" dirty="0"/>
              <a:t>1</a:t>
            </a:r>
            <a:r>
              <a:rPr lang="zh-CN" altLang="en-US" b="1" dirty="0"/>
              <a:t>．在一个已有进程中创建一个新线程比创建一个全新进程所需的时间少。</a:t>
            </a:r>
            <a:endParaRPr lang="zh-CN" altLang="en-US" b="1" dirty="0"/>
          </a:p>
          <a:p>
            <a:pPr marL="565150" indent="-565150" algn="just" eaLnBrk="1" hangingPunct="1">
              <a:buClrTx/>
              <a:buSzTx/>
              <a:buFontTx/>
              <a:buNone/>
            </a:pPr>
            <a:r>
              <a:rPr lang="en-US" altLang="zh-CN" b="1" dirty="0"/>
              <a:t>2</a:t>
            </a:r>
            <a:r>
              <a:rPr lang="zh-CN" altLang="en-US" b="1" dirty="0"/>
              <a:t>．终止一个线程比终止一个进程花费的时间少。</a:t>
            </a:r>
            <a:endParaRPr lang="zh-CN" altLang="en-US" b="1" dirty="0"/>
          </a:p>
          <a:p>
            <a:pPr marL="565150" indent="-565150" algn="just" eaLnBrk="1" hangingPunct="1">
              <a:buClrTx/>
              <a:buSzTx/>
              <a:buFontTx/>
              <a:buNone/>
            </a:pPr>
            <a:r>
              <a:rPr lang="en-US" altLang="zh-CN" b="1" dirty="0"/>
              <a:t>3</a:t>
            </a:r>
            <a:r>
              <a:rPr lang="zh-CN" altLang="en-US" b="1" dirty="0"/>
              <a:t>．线程间切换比进程间切换花费的时间少。</a:t>
            </a:r>
            <a:endParaRPr lang="zh-CN" altLang="en-US" b="1" dirty="0"/>
          </a:p>
          <a:p>
            <a:pPr marL="565150" indent="-565150" algn="just" eaLnBrk="1" hangingPunct="1">
              <a:buClrTx/>
              <a:buSzTx/>
              <a:buFontTx/>
              <a:buNone/>
            </a:pPr>
            <a:r>
              <a:rPr lang="en-US" altLang="zh-CN" b="1" dirty="0"/>
              <a:t>4</a:t>
            </a:r>
            <a:r>
              <a:rPr lang="zh-CN" altLang="en-US" b="1" dirty="0"/>
              <a:t>．线程提高了不同的执行程序间通信的效率。同一个进程中的线程共享存储空间和文件，它们无需调用内核就可以互相通信。</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0882"/>
                                        </p:tgtEl>
                                        <p:attrNameLst>
                                          <p:attrName>style.visibility</p:attrName>
                                        </p:attrNameLst>
                                      </p:cBhvr>
                                      <p:to>
                                        <p:strVal val="visible"/>
                                      </p:to>
                                    </p:set>
                                    <p:animEffect transition="in" filter="fade">
                                      <p:cBhvr>
                                        <p:cTn id="7" dur="2000"/>
                                        <p:tgtEl>
                                          <p:spTgt spid="2508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451">
                                            <p:txEl>
                                              <p:charRg st="0" end="34"/>
                                            </p:txEl>
                                          </p:spTgt>
                                        </p:tgtEl>
                                        <p:attrNameLst>
                                          <p:attrName>style.visibility</p:attrName>
                                        </p:attrNameLst>
                                      </p:cBhvr>
                                      <p:to>
                                        <p:strVal val="visible"/>
                                      </p:to>
                                    </p:set>
                                    <p:animEffect transition="in" filter="fade">
                                      <p:cBhvr>
                                        <p:cTn id="12" dur="2000"/>
                                        <p:tgtEl>
                                          <p:spTgt spid="104451">
                                            <p:txEl>
                                              <p:charRg st="0"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451">
                                            <p:txEl>
                                              <p:charRg st="34" end="57"/>
                                            </p:txEl>
                                          </p:spTgt>
                                        </p:tgtEl>
                                        <p:attrNameLst>
                                          <p:attrName>style.visibility</p:attrName>
                                        </p:attrNameLst>
                                      </p:cBhvr>
                                      <p:to>
                                        <p:strVal val="visible"/>
                                      </p:to>
                                    </p:set>
                                    <p:animEffect transition="in" filter="fade">
                                      <p:cBhvr>
                                        <p:cTn id="17" dur="2000"/>
                                        <p:tgtEl>
                                          <p:spTgt spid="104451">
                                            <p:txEl>
                                              <p:charRg st="34"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451">
                                            <p:txEl>
                                              <p:charRg st="57" end="78"/>
                                            </p:txEl>
                                          </p:spTgt>
                                        </p:tgtEl>
                                        <p:attrNameLst>
                                          <p:attrName>style.visibility</p:attrName>
                                        </p:attrNameLst>
                                      </p:cBhvr>
                                      <p:to>
                                        <p:strVal val="visible"/>
                                      </p:to>
                                    </p:set>
                                    <p:animEffect transition="in" filter="fade">
                                      <p:cBhvr>
                                        <p:cTn id="22" dur="2000"/>
                                        <p:tgtEl>
                                          <p:spTgt spid="104451">
                                            <p:txEl>
                                              <p:charRg st="57" end="7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4451">
                                            <p:txEl>
                                              <p:charRg st="78" end="135"/>
                                            </p:txEl>
                                          </p:spTgt>
                                        </p:tgtEl>
                                        <p:attrNameLst>
                                          <p:attrName>style.visibility</p:attrName>
                                        </p:attrNameLst>
                                      </p:cBhvr>
                                      <p:to>
                                        <p:strVal val="visible"/>
                                      </p:to>
                                    </p:set>
                                    <p:animEffect transition="in" filter="fade">
                                      <p:cBhvr>
                                        <p:cTn id="27" dur="2000"/>
                                        <p:tgtEl>
                                          <p:spTgt spid="104451">
                                            <p:txEl>
                                              <p:charRg st="78"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2" grpId="0"/>
      <p:bldP spid="104451" grpId="0" build="p"/>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p:nvPr>
            <p:ph idx="1"/>
          </p:nvPr>
        </p:nvSpPr>
        <p:spPr/>
        <p:txBody>
          <a:bodyPr/>
          <a:p>
            <a:pPr>
              <a:buFont typeface="Wingdings" panose="05000000000000000000" pitchFamily="2" charset="2"/>
              <a:buNone/>
            </a:pPr>
            <a:r>
              <a:rPr lang="zh-CN" altLang="en-US" sz="2400" dirty="0">
                <a:solidFill>
                  <a:srgbClr val="19079B"/>
                </a:solidFill>
                <a:latin typeface="微软雅黑" panose="020B0503020204020204" charset="-122"/>
                <a:ea typeface="微软雅黑" panose="020B0503020204020204" charset="-122"/>
                <a:sym typeface="+mn-ea"/>
              </a:rPr>
              <a:t>优点：</a:t>
            </a:r>
            <a:endParaRPr lang="zh-CN" altLang="en-US" sz="2400" dirty="0">
              <a:solidFill>
                <a:srgbClr val="19079B"/>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线程切换不调用内核</a:t>
            </a:r>
            <a:endParaRPr lang="zh-CN" altLang="en-US" sz="2400" b="0" dirty="0">
              <a:solidFill>
                <a:srgbClr val="000000"/>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调度是应用程序特定的：可以选择最好的算法</a:t>
            </a:r>
            <a:endParaRPr lang="zh-CN" altLang="en-US" sz="2400" b="0" dirty="0">
              <a:solidFill>
                <a:srgbClr val="000000"/>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可运行在任何操作系统上（只需要线程库），可以在一个不支持线程的</a:t>
            </a:r>
            <a:r>
              <a:rPr lang="en-US" altLang="zh-CN" sz="2400" dirty="0">
                <a:solidFill>
                  <a:srgbClr val="000000"/>
                </a:solidFill>
                <a:latin typeface="微软雅黑" panose="020B0503020204020204" charset="-122"/>
                <a:ea typeface="微软雅黑" panose="020B0503020204020204" charset="-122"/>
                <a:sym typeface="+mn-ea"/>
              </a:rPr>
              <a:t>OS</a:t>
            </a:r>
            <a:r>
              <a:rPr lang="zh-CN" altLang="en-US" sz="2400" dirty="0">
                <a:solidFill>
                  <a:srgbClr val="000000"/>
                </a:solidFill>
                <a:latin typeface="微软雅黑" panose="020B0503020204020204" charset="-122"/>
                <a:ea typeface="微软雅黑" panose="020B0503020204020204" charset="-122"/>
                <a:sym typeface="+mn-ea"/>
              </a:rPr>
              <a:t>上实现</a:t>
            </a:r>
            <a:endParaRPr lang="zh-CN" altLang="en-US" sz="2400" b="0" dirty="0">
              <a:solidFill>
                <a:srgbClr val="000000"/>
              </a:solidFill>
              <a:latin typeface="微软雅黑" panose="020B0503020204020204" charset="-122"/>
              <a:ea typeface="微软雅黑" panose="020B0503020204020204" charset="-122"/>
            </a:endParaRPr>
          </a:p>
          <a:p>
            <a:pPr>
              <a:buFont typeface="Wingdings" panose="05000000000000000000" pitchFamily="2" charset="2"/>
              <a:buNone/>
            </a:pPr>
            <a:r>
              <a:rPr lang="zh-CN" altLang="en-US" sz="2400" dirty="0">
                <a:solidFill>
                  <a:srgbClr val="19079B"/>
                </a:solidFill>
                <a:latin typeface="微软雅黑" panose="020B0503020204020204" charset="-122"/>
                <a:ea typeface="微软雅黑" panose="020B0503020204020204" charset="-122"/>
                <a:sym typeface="+mn-ea"/>
              </a:rPr>
              <a:t>缺点：</a:t>
            </a:r>
            <a:endParaRPr lang="zh-CN" altLang="en-US" sz="2400" dirty="0">
              <a:solidFill>
                <a:srgbClr val="19079B"/>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当线程执行一个系统调用时，该线程及其所属进程内的所有线程都会被阻塞。</a:t>
            </a:r>
            <a:endParaRPr lang="en-US" altLang="zh-CN" sz="2400" b="0" dirty="0">
              <a:solidFill>
                <a:srgbClr val="000000"/>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多线程应用不能利用多处理机进行多重处理。</a:t>
            </a:r>
            <a:endParaRPr lang="zh-CN" altLang="en-US" sz="2400" b="0" dirty="0">
              <a:solidFill>
                <a:srgbClr val="000000"/>
              </a:solidFill>
              <a:latin typeface="微软雅黑" panose="020B0503020204020204" charset="-122"/>
              <a:ea typeface="微软雅黑" panose="020B0503020204020204" charset="-122"/>
            </a:endParaRPr>
          </a:p>
          <a:p>
            <a:endParaRPr lang="zh-CN" altLang="en-US" sz="2400" b="0" dirty="0">
              <a:solidFill>
                <a:srgbClr val="000000"/>
              </a:solidFill>
              <a:latin typeface="微软雅黑" panose="020B0503020204020204" charset="-122"/>
              <a:ea typeface="微软雅黑" panose="020B0503020204020204" charset="-122"/>
            </a:endParaRPr>
          </a:p>
        </p:txBody>
      </p:sp>
      <p:sp>
        <p:nvSpPr>
          <p:cNvPr id="336898" name="Rectangle 2"/>
          <p:cNvSpPr>
            <a:spLocks noGrp="1" noRot="1" noChangeArrowheads="1"/>
          </p:cNvSpPr>
          <p:nvPr/>
        </p:nvSpPr>
        <p:spPr>
          <a:xfrm>
            <a:off x="2333120" y="449378"/>
            <a:ext cx="7691437" cy="690563"/>
          </a:xfrm>
          <a:prstGeom prst="rect">
            <a:avLst/>
          </a:prstGeom>
          <a:noFill/>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r>
              <a:rPr lang="zh-CN" altLang="en-US" sz="3200" b="1" dirty="0">
                <a:solidFill>
                  <a:srgbClr val="0070C0"/>
                </a:solidFill>
                <a:latin typeface="+mj-ea"/>
                <a:ea typeface="+mj-ea"/>
              </a:rPr>
              <a:t>用户级线程的优点和缺点</a:t>
            </a:r>
            <a:endParaRPr lang="zh-CN" altLang="en-US" sz="3200" b="1" dirty="0">
              <a:solidFill>
                <a:srgbClr val="0070C0"/>
              </a:solidFill>
              <a:latin typeface="+mj-ea"/>
              <a:ea typeface="+mj-ea"/>
            </a:endParaRP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9" name="Rectangle 3"/>
          <p:cNvSpPr>
            <a:spLocks noGrp="1" noChangeArrowheads="1"/>
          </p:cNvSpPr>
          <p:nvPr>
            <p:ph type="title"/>
          </p:nvPr>
        </p:nvSpPr>
        <p:spPr>
          <a:xfrm>
            <a:off x="609600" y="609601"/>
            <a:ext cx="8458200" cy="676275"/>
          </a:xfrm>
        </p:spPr>
        <p:txBody>
          <a:bodyPr/>
          <a:lstStyle/>
          <a:p>
            <a:r>
              <a:rPr lang="zh-CN" altLang="en-US" sz="3200" dirty="0"/>
              <a:t>和用户级相比，内核支持线程有什么不同</a:t>
            </a:r>
            <a:r>
              <a:rPr lang="en-US" altLang="zh-CN" sz="3200" dirty="0"/>
              <a:t>?</a:t>
            </a:r>
            <a:endParaRPr lang="en-US" altLang="zh-CN" sz="3200" dirty="0"/>
          </a:p>
        </p:txBody>
      </p:sp>
      <p:sp>
        <p:nvSpPr>
          <p:cNvPr id="167967" name="Rectangle 31"/>
          <p:cNvSpPr>
            <a:spLocks noChangeArrowheads="1"/>
          </p:cNvSpPr>
          <p:nvPr/>
        </p:nvSpPr>
        <p:spPr bwMode="auto">
          <a:xfrm>
            <a:off x="188913" y="1611841"/>
            <a:ext cx="5647266"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prstClr val="black"/>
                </a:solidFill>
                <a:latin typeface="微软雅黑" panose="020B0503020204020204" charset="-122"/>
                <a:ea typeface="微软雅黑" panose="020B0503020204020204" charset="-122"/>
              </a:rPr>
              <a:t>由内核完成线程的创建、调度等</a:t>
            </a:r>
            <a:endParaRPr lang="zh-CN" altLang="en-US" sz="2400" dirty="0">
              <a:solidFill>
                <a:prstClr val="black"/>
              </a:solidFill>
              <a:latin typeface="微软雅黑" panose="020B0503020204020204" charset="-122"/>
              <a:ea typeface="微软雅黑" panose="020B0503020204020204" charset="-122"/>
            </a:endParaRPr>
          </a:p>
        </p:txBody>
      </p:sp>
      <p:sp>
        <p:nvSpPr>
          <p:cNvPr id="167968" name="Rectangle 32"/>
          <p:cNvSpPr>
            <a:spLocks noChangeArrowheads="1"/>
          </p:cNvSpPr>
          <p:nvPr/>
        </p:nvSpPr>
        <p:spPr bwMode="auto">
          <a:xfrm>
            <a:off x="188913" y="2415116"/>
            <a:ext cx="52578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srgbClr val="FF0000"/>
                </a:solidFill>
                <a:latin typeface="微软雅黑" panose="020B0503020204020204" charset="-122"/>
                <a:ea typeface="微软雅黑" panose="020B0503020204020204" charset="-122"/>
              </a:rPr>
              <a:t>主要工作仍是保存现场 </a:t>
            </a:r>
            <a:r>
              <a:rPr lang="zh-CN" altLang="en-US" sz="2400" dirty="0">
                <a:solidFill>
                  <a:srgbClr val="FF0000"/>
                </a:solidFill>
                <a:latin typeface="微软雅黑" panose="020B0503020204020204" charset="-122"/>
                <a:ea typeface="微软雅黑" panose="020B0503020204020204" charset="-122"/>
                <a:sym typeface="Symbol" panose="05050102010706020507" pitchFamily="18" charset="2"/>
              </a:rPr>
              <a:t> 在哪里</a:t>
            </a:r>
            <a:r>
              <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rPr>
              <a:t>?</a:t>
            </a:r>
            <a:endPar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endParaRPr>
          </a:p>
          <a:p>
            <a:pPr marL="0" indent="0" defTabSz="457200">
              <a:lnSpc>
                <a:spcPct val="130000"/>
              </a:lnSpc>
              <a:buNone/>
              <a:defRPr/>
            </a:pPr>
            <a:r>
              <a:rPr lang="en-US" altLang="zh-CN" sz="2400" dirty="0">
                <a:solidFill>
                  <a:srgbClr val="FF0000"/>
                </a:solidFill>
                <a:latin typeface="微软雅黑" panose="020B0503020204020204" charset="-122"/>
                <a:ea typeface="微软雅黑" panose="020B0503020204020204" charset="-122"/>
                <a:sym typeface="Symbol" panose="05050102010706020507" pitchFamily="18" charset="2"/>
              </a:rPr>
              <a:t> </a:t>
            </a:r>
            <a:r>
              <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rPr>
              <a:t>  </a:t>
            </a:r>
            <a:r>
              <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rPr>
              <a:t> </a:t>
            </a:r>
            <a:r>
              <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rPr>
              <a:t> </a:t>
            </a:r>
            <a:r>
              <a:rPr lang="zh-CN" altLang="en-US" sz="2400" dirty="0">
                <a:solidFill>
                  <a:srgbClr val="FF0000"/>
                </a:solidFill>
                <a:latin typeface="微软雅黑" panose="020B0503020204020204" charset="-122"/>
                <a:ea typeface="微软雅黑" panose="020B0503020204020204" charset="-122"/>
                <a:sym typeface="Symbol" panose="05050102010706020507" pitchFamily="18" charset="2"/>
              </a:rPr>
              <a:t>内核栈</a:t>
            </a:r>
            <a:endParaRPr lang="zh-CN" altLang="zh-CN" sz="2400" dirty="0">
              <a:solidFill>
                <a:srgbClr val="FF0000"/>
              </a:solidFill>
              <a:latin typeface="微软雅黑" panose="020B0503020204020204" charset="-122"/>
              <a:ea typeface="微软雅黑" panose="020B0503020204020204" charset="-122"/>
              <a:sym typeface="Symbol" panose="05050102010706020507" pitchFamily="18" charset="2"/>
            </a:endParaRPr>
          </a:p>
        </p:txBody>
      </p:sp>
      <p:grpSp>
        <p:nvGrpSpPr>
          <p:cNvPr id="167998" name="Group 62"/>
          <p:cNvGrpSpPr/>
          <p:nvPr/>
        </p:nvGrpSpPr>
        <p:grpSpPr bwMode="auto">
          <a:xfrm>
            <a:off x="6019800" y="1295400"/>
            <a:ext cx="2647950" cy="5334000"/>
            <a:chOff x="3600" y="768"/>
            <a:chExt cx="1668" cy="3360"/>
          </a:xfrm>
        </p:grpSpPr>
        <p:sp>
          <p:nvSpPr>
            <p:cNvPr id="167999" name="Rectangle 63"/>
            <p:cNvSpPr>
              <a:spLocks noChangeArrowheads="1"/>
            </p:cNvSpPr>
            <p:nvPr/>
          </p:nvSpPr>
          <p:spPr bwMode="auto">
            <a:xfrm>
              <a:off x="4128" y="2208"/>
              <a:ext cx="1056" cy="624"/>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0" name="Text Box 64"/>
            <p:cNvSpPr txBox="1">
              <a:spLocks noChangeArrowheads="1"/>
            </p:cNvSpPr>
            <p:nvPr/>
          </p:nvSpPr>
          <p:spPr bwMode="auto">
            <a:xfrm>
              <a:off x="4107" y="2352"/>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2400" b="1">
                  <a:solidFill>
                    <a:prstClr val="black"/>
                  </a:solidFill>
                  <a:latin typeface="Arial" panose="020B0604020202020204"/>
                  <a:ea typeface="黑体" panose="02010609060101010101" pitchFamily="2" charset="-122"/>
                </a:rPr>
                <a:t>代码和数据</a:t>
              </a:r>
              <a:endParaRPr lang="zh-CN" altLang="en-US" sz="2400" b="1">
                <a:solidFill>
                  <a:prstClr val="black"/>
                </a:solidFill>
                <a:latin typeface="Arial" panose="020B0604020202020204"/>
                <a:ea typeface="黑体" panose="02010609060101010101" pitchFamily="2" charset="-122"/>
              </a:endParaRPr>
            </a:p>
          </p:txBody>
        </p:sp>
        <p:sp>
          <p:nvSpPr>
            <p:cNvPr id="168001" name="Line 65"/>
            <p:cNvSpPr>
              <a:spLocks noChangeShapeType="1"/>
            </p:cNvSpPr>
            <p:nvPr/>
          </p:nvSpPr>
          <p:spPr bwMode="auto">
            <a:xfrm>
              <a:off x="3600" y="2832"/>
              <a:ext cx="1584" cy="0"/>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2" name="Text Box 66"/>
            <p:cNvSpPr txBox="1">
              <a:spLocks noChangeArrowheads="1"/>
            </p:cNvSpPr>
            <p:nvPr/>
          </p:nvSpPr>
          <p:spPr bwMode="auto">
            <a:xfrm>
              <a:off x="3600" y="2448"/>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2400" b="1">
                  <a:solidFill>
                    <a:prstClr val="black"/>
                  </a:solidFill>
                  <a:latin typeface="Arial" panose="020B0604020202020204"/>
                  <a:ea typeface="黑体" panose="02010609060101010101" pitchFamily="2" charset="-122"/>
                </a:rPr>
                <a:t>用户</a:t>
              </a:r>
              <a:endParaRPr lang="zh-CN" altLang="en-US" sz="2400" b="1">
                <a:solidFill>
                  <a:prstClr val="black"/>
                </a:solidFill>
                <a:latin typeface="Arial" panose="020B0604020202020204"/>
                <a:ea typeface="黑体" panose="02010609060101010101" pitchFamily="2" charset="-122"/>
              </a:endParaRPr>
            </a:p>
          </p:txBody>
        </p:sp>
        <p:sp>
          <p:nvSpPr>
            <p:cNvPr id="168003" name="Text Box 67"/>
            <p:cNvSpPr txBox="1">
              <a:spLocks noChangeArrowheads="1"/>
            </p:cNvSpPr>
            <p:nvPr/>
          </p:nvSpPr>
          <p:spPr bwMode="auto">
            <a:xfrm>
              <a:off x="3600" y="2880"/>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2400" b="1">
                  <a:solidFill>
                    <a:prstClr val="black"/>
                  </a:solidFill>
                  <a:latin typeface="Arial" panose="020B0604020202020204"/>
                  <a:ea typeface="黑体" panose="02010609060101010101" pitchFamily="2" charset="-122"/>
                </a:rPr>
                <a:t>内核</a:t>
              </a:r>
              <a:endParaRPr lang="zh-CN" altLang="en-US" sz="2400" b="1">
                <a:solidFill>
                  <a:prstClr val="black"/>
                </a:solidFill>
                <a:latin typeface="Arial" panose="020B0604020202020204"/>
                <a:ea typeface="黑体" panose="02010609060101010101" pitchFamily="2" charset="-122"/>
              </a:endParaRPr>
            </a:p>
          </p:txBody>
        </p:sp>
        <p:sp>
          <p:nvSpPr>
            <p:cNvPr id="168004" name="Rectangle 68"/>
            <p:cNvSpPr>
              <a:spLocks noChangeArrowheads="1"/>
            </p:cNvSpPr>
            <p:nvPr/>
          </p:nvSpPr>
          <p:spPr bwMode="auto">
            <a:xfrm>
              <a:off x="4128" y="3696"/>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5" name="Text Box 69"/>
            <p:cNvSpPr txBox="1">
              <a:spLocks noChangeArrowheads="1"/>
            </p:cNvSpPr>
            <p:nvPr/>
          </p:nvSpPr>
          <p:spPr bwMode="auto">
            <a:xfrm>
              <a:off x="4116" y="374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2400" b="1">
                  <a:solidFill>
                    <a:prstClr val="black"/>
                  </a:solidFill>
                  <a:latin typeface="Arial" panose="020B0604020202020204"/>
                  <a:ea typeface="黑体" panose="02010609060101010101" pitchFamily="2" charset="-122"/>
                </a:rPr>
                <a:t>线程控制块</a:t>
              </a:r>
              <a:endParaRPr lang="zh-CN" altLang="en-US" sz="2400" b="1">
                <a:solidFill>
                  <a:prstClr val="black"/>
                </a:solidFill>
                <a:latin typeface="Arial" panose="020B0604020202020204"/>
                <a:ea typeface="黑体" panose="02010609060101010101" pitchFamily="2" charset="-122"/>
              </a:endParaRPr>
            </a:p>
          </p:txBody>
        </p:sp>
        <p:sp>
          <p:nvSpPr>
            <p:cNvPr id="168006" name="Rectangle 70"/>
            <p:cNvSpPr>
              <a:spLocks noChangeArrowheads="1"/>
            </p:cNvSpPr>
            <p:nvPr/>
          </p:nvSpPr>
          <p:spPr bwMode="auto">
            <a:xfrm>
              <a:off x="4128" y="3264"/>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7" name="Rectangle 71"/>
            <p:cNvSpPr>
              <a:spLocks noChangeArrowheads="1"/>
            </p:cNvSpPr>
            <p:nvPr/>
          </p:nvSpPr>
          <p:spPr bwMode="auto">
            <a:xfrm>
              <a:off x="4128" y="2832"/>
              <a:ext cx="1056" cy="432"/>
            </a:xfrm>
            <a:prstGeom prst="rect">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8" name="Text Box 72"/>
            <p:cNvSpPr txBox="1">
              <a:spLocks noChangeArrowheads="1"/>
            </p:cNvSpPr>
            <p:nvPr/>
          </p:nvSpPr>
          <p:spPr bwMode="auto">
            <a:xfrm>
              <a:off x="4080" y="2880"/>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457200">
                <a:spcBef>
                  <a:spcPct val="50000"/>
                </a:spcBef>
                <a:defRPr/>
              </a:pPr>
              <a:r>
                <a:rPr lang="zh-CN" altLang="en-US" sz="2400" b="1">
                  <a:solidFill>
                    <a:prstClr val="black"/>
                  </a:solidFill>
                  <a:latin typeface="Arial" panose="020B0604020202020204"/>
                  <a:ea typeface="黑体" panose="02010609060101010101" pitchFamily="2" charset="-122"/>
                </a:rPr>
                <a:t>内核栈</a:t>
              </a:r>
              <a:endParaRPr lang="zh-CN" altLang="en-US" sz="2400" b="1">
                <a:solidFill>
                  <a:prstClr val="black"/>
                </a:solidFill>
                <a:latin typeface="Arial" panose="020B0604020202020204"/>
                <a:ea typeface="黑体" panose="02010609060101010101" pitchFamily="2" charset="-122"/>
              </a:endParaRPr>
            </a:p>
          </p:txBody>
        </p:sp>
        <p:sp>
          <p:nvSpPr>
            <p:cNvPr id="168009" name="Rectangle 73"/>
            <p:cNvSpPr>
              <a:spLocks noChangeArrowheads="1"/>
            </p:cNvSpPr>
            <p:nvPr/>
          </p:nvSpPr>
          <p:spPr bwMode="auto">
            <a:xfrm>
              <a:off x="4128" y="1776"/>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10" name="Rectangle 74"/>
            <p:cNvSpPr>
              <a:spLocks noChangeArrowheads="1"/>
            </p:cNvSpPr>
            <p:nvPr/>
          </p:nvSpPr>
          <p:spPr bwMode="auto">
            <a:xfrm>
              <a:off x="4128" y="1200"/>
              <a:ext cx="1056" cy="576"/>
            </a:xfrm>
            <a:prstGeom prst="rect">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11" name="Text Box 75"/>
            <p:cNvSpPr txBox="1">
              <a:spLocks noChangeArrowheads="1"/>
            </p:cNvSpPr>
            <p:nvPr/>
          </p:nvSpPr>
          <p:spPr bwMode="auto">
            <a:xfrm>
              <a:off x="4128" y="1344"/>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457200">
                <a:spcBef>
                  <a:spcPct val="50000"/>
                </a:spcBef>
                <a:defRPr/>
              </a:pPr>
              <a:r>
                <a:rPr lang="zh-CN" altLang="en-US" sz="2400" b="1">
                  <a:solidFill>
                    <a:prstClr val="black"/>
                  </a:solidFill>
                  <a:latin typeface="Arial" panose="020B0604020202020204"/>
                  <a:ea typeface="黑体" panose="02010609060101010101" pitchFamily="2" charset="-122"/>
                </a:rPr>
                <a:t>用户栈</a:t>
              </a:r>
              <a:endParaRPr lang="zh-CN" altLang="en-US" sz="2400" b="1">
                <a:solidFill>
                  <a:prstClr val="black"/>
                </a:solidFill>
                <a:latin typeface="Arial" panose="020B0604020202020204"/>
                <a:ea typeface="黑体" panose="02010609060101010101" pitchFamily="2" charset="-122"/>
              </a:endParaRPr>
            </a:p>
          </p:txBody>
        </p:sp>
        <p:sp>
          <p:nvSpPr>
            <p:cNvPr id="168012" name="Rectangle 76"/>
            <p:cNvSpPr>
              <a:spLocks noChangeArrowheads="1"/>
            </p:cNvSpPr>
            <p:nvPr/>
          </p:nvSpPr>
          <p:spPr bwMode="auto">
            <a:xfrm>
              <a:off x="4128" y="768"/>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68018" name="Group 82"/>
          <p:cNvGrpSpPr/>
          <p:nvPr/>
        </p:nvGrpSpPr>
        <p:grpSpPr bwMode="auto">
          <a:xfrm>
            <a:off x="493713" y="3710517"/>
            <a:ext cx="4114800" cy="1127125"/>
            <a:chOff x="624" y="2064"/>
            <a:chExt cx="2592" cy="710"/>
          </a:xfrm>
        </p:grpSpPr>
        <p:sp>
          <p:nvSpPr>
            <p:cNvPr id="168014" name="Rectangle 78"/>
            <p:cNvSpPr>
              <a:spLocks noChangeArrowheads="1"/>
            </p:cNvSpPr>
            <p:nvPr/>
          </p:nvSpPr>
          <p:spPr bwMode="auto">
            <a:xfrm>
              <a:off x="624" y="2064"/>
              <a:ext cx="2592"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400" b="1" dirty="0">
                  <a:solidFill>
                    <a:prstClr val="black"/>
                  </a:solidFill>
                  <a:latin typeface="微软雅黑" panose="020B0503020204020204" charset="-122"/>
                  <a:ea typeface="微软雅黑" panose="020B0503020204020204" charset="-122"/>
                </a:rPr>
                <a:t>每个执行序列需有两个栈</a:t>
              </a:r>
              <a:r>
                <a:rPr lang="en-US" altLang="zh-CN" sz="2400" b="1" dirty="0">
                  <a:solidFill>
                    <a:prstClr val="black"/>
                  </a:solidFill>
                  <a:latin typeface="微软雅黑" panose="020B0503020204020204" charset="-122"/>
                  <a:ea typeface="微软雅黑" panose="020B0503020204020204" charset="-122"/>
                </a:rPr>
                <a:t>: </a:t>
              </a:r>
              <a:r>
                <a:rPr lang="zh-CN" altLang="en-US" sz="2400" b="1" dirty="0">
                  <a:solidFill>
                    <a:prstClr val="black"/>
                  </a:solidFill>
                  <a:latin typeface="微软雅黑" panose="020B0503020204020204" charset="-122"/>
                  <a:ea typeface="微软雅黑" panose="020B0503020204020204" charset="-122"/>
                </a:rPr>
                <a:t>用户栈</a:t>
              </a:r>
              <a:r>
                <a:rPr lang="en-US" altLang="zh-CN" sz="2400" b="1" dirty="0">
                  <a:solidFill>
                    <a:prstClr val="black"/>
                  </a:solidFill>
                  <a:latin typeface="微软雅黑" panose="020B0503020204020204" charset="-122"/>
                  <a:ea typeface="微软雅黑" panose="020B0503020204020204" charset="-122"/>
                </a:rPr>
                <a:t>+</a:t>
              </a:r>
              <a:r>
                <a:rPr lang="zh-CN" altLang="en-US" sz="2400" b="1" dirty="0">
                  <a:solidFill>
                    <a:prstClr val="black"/>
                  </a:solidFill>
                  <a:latin typeface="微软雅黑" panose="020B0503020204020204" charset="-122"/>
                  <a:ea typeface="微软雅黑" panose="020B0503020204020204" charset="-122"/>
                </a:rPr>
                <a:t>内核栈</a:t>
              </a:r>
              <a:endParaRPr lang="zh-CN" altLang="en-US" sz="2400" b="1" dirty="0">
                <a:solidFill>
                  <a:prstClr val="black"/>
                </a:solidFill>
                <a:latin typeface="微软雅黑" panose="020B0503020204020204" charset="-122"/>
                <a:ea typeface="微软雅黑" panose="020B0503020204020204" charset="-122"/>
              </a:endParaRPr>
            </a:p>
          </p:txBody>
        </p:sp>
        <p:pic>
          <p:nvPicPr>
            <p:cNvPr id="168015" name="Picture 7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9" y="2213"/>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8020" name="Group 84"/>
          <p:cNvGrpSpPr/>
          <p:nvPr/>
        </p:nvGrpSpPr>
        <p:grpSpPr bwMode="auto">
          <a:xfrm>
            <a:off x="493713" y="4882092"/>
            <a:ext cx="5181600" cy="1273175"/>
            <a:chOff x="624" y="2802"/>
            <a:chExt cx="3264" cy="802"/>
          </a:xfrm>
        </p:grpSpPr>
        <p:sp>
          <p:nvSpPr>
            <p:cNvPr id="167973" name="Rectangle 37"/>
            <p:cNvSpPr>
              <a:spLocks noChangeArrowheads="1"/>
            </p:cNvSpPr>
            <p:nvPr/>
          </p:nvSpPr>
          <p:spPr bwMode="auto">
            <a:xfrm>
              <a:off x="624" y="2802"/>
              <a:ext cx="326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400" b="1">
                  <a:solidFill>
                    <a:prstClr val="black"/>
                  </a:solidFill>
                  <a:latin typeface="微软雅黑" panose="020B0503020204020204" charset="-122"/>
                  <a:ea typeface="微软雅黑" panose="020B0503020204020204" charset="-122"/>
                </a:rPr>
                <a:t>用户栈：</a:t>
              </a:r>
              <a:r>
                <a:rPr lang="zh-CN" altLang="en-US" sz="2400" b="1">
                  <a:solidFill>
                    <a:srgbClr val="FF0000"/>
                  </a:solidFill>
                  <a:latin typeface="微软雅黑" panose="020B0503020204020204" charset="-122"/>
                  <a:ea typeface="微软雅黑" panose="020B0503020204020204" charset="-122"/>
                </a:rPr>
                <a:t>普通的函数调用</a:t>
              </a:r>
              <a:endParaRPr lang="zh-CN" altLang="en-US" sz="2400" b="1">
                <a:solidFill>
                  <a:srgbClr val="FF0000"/>
                </a:solidFill>
                <a:latin typeface="微软雅黑" panose="020B0503020204020204" charset="-122"/>
                <a:ea typeface="微软雅黑" panose="020B0503020204020204" charset="-122"/>
              </a:endParaRPr>
            </a:p>
          </p:txBody>
        </p:sp>
        <p:sp>
          <p:nvSpPr>
            <p:cNvPr id="167976" name="Rectangle 40"/>
            <p:cNvSpPr>
              <a:spLocks noChangeArrowheads="1"/>
            </p:cNvSpPr>
            <p:nvPr/>
          </p:nvSpPr>
          <p:spPr bwMode="auto">
            <a:xfrm>
              <a:off x="624" y="3220"/>
              <a:ext cx="312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400" b="1">
                  <a:solidFill>
                    <a:prstClr val="black"/>
                  </a:solidFill>
                  <a:latin typeface="微软雅黑" panose="020B0503020204020204" charset="-122"/>
                  <a:ea typeface="微软雅黑" panose="020B0503020204020204" charset="-122"/>
                </a:rPr>
                <a:t>内核栈：</a:t>
              </a:r>
              <a:r>
                <a:rPr lang="zh-CN" altLang="en-US" sz="2400" b="1">
                  <a:solidFill>
                    <a:srgbClr val="FF0000"/>
                  </a:solidFill>
                  <a:latin typeface="微软雅黑" panose="020B0503020204020204" charset="-122"/>
                  <a:ea typeface="微软雅黑" panose="020B0503020204020204" charset="-122"/>
                </a:rPr>
                <a:t>系统调用、中断处理</a:t>
              </a:r>
              <a:endParaRPr lang="zh-CN" altLang="en-US" sz="2400" b="1">
                <a:solidFill>
                  <a:srgbClr val="FF0000"/>
                </a:solidFill>
                <a:latin typeface="微软雅黑" panose="020B0503020204020204" charset="-122"/>
                <a:ea typeface="微软雅黑" panose="020B0503020204020204" charset="-122"/>
              </a:endParaRPr>
            </a:p>
          </p:txBody>
        </p:sp>
        <p:pic>
          <p:nvPicPr>
            <p:cNvPr id="168016" name="Picture 8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 y="2970"/>
              <a:ext cx="129" cy="121"/>
            </a:xfrm>
            <a:prstGeom prst="rect">
              <a:avLst/>
            </a:prstGeom>
            <a:noFill/>
            <a:extLst>
              <a:ext uri="{909E8E84-426E-40DD-AFC4-6F175D3DCCD1}">
                <a14:hiddenFill xmlns:a14="http://schemas.microsoft.com/office/drawing/2010/main">
                  <a:solidFill>
                    <a:srgbClr val="FFFFFF"/>
                  </a:solidFill>
                </a14:hiddenFill>
              </a:ext>
            </a:extLst>
          </p:spPr>
        </p:pic>
        <p:pic>
          <p:nvPicPr>
            <p:cNvPr id="168017" name="Picture 8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 y="3395"/>
              <a:ext cx="129" cy="12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7967"/>
                                        </p:tgtEl>
                                        <p:attrNameLst>
                                          <p:attrName>style.visibility</p:attrName>
                                        </p:attrNameLst>
                                      </p:cBhvr>
                                      <p:to>
                                        <p:strVal val="visible"/>
                                      </p:to>
                                    </p:set>
                                    <p:animEffect transition="in" filter="dissolve">
                                      <p:cBhvr>
                                        <p:cTn id="7" dur="500"/>
                                        <p:tgtEl>
                                          <p:spTgt spid="1679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7968"/>
                                        </p:tgtEl>
                                        <p:attrNameLst>
                                          <p:attrName>style.visibility</p:attrName>
                                        </p:attrNameLst>
                                      </p:cBhvr>
                                      <p:to>
                                        <p:strVal val="visible"/>
                                      </p:to>
                                    </p:set>
                                    <p:animEffect transition="in" filter="dissolve">
                                      <p:cBhvr>
                                        <p:cTn id="12" dur="500"/>
                                        <p:tgtEl>
                                          <p:spTgt spid="16796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8018"/>
                                        </p:tgtEl>
                                        <p:attrNameLst>
                                          <p:attrName>style.visibility</p:attrName>
                                        </p:attrNameLst>
                                      </p:cBhvr>
                                      <p:to>
                                        <p:strVal val="visible"/>
                                      </p:to>
                                    </p:set>
                                    <p:animEffect transition="in" filter="dissolve">
                                      <p:cBhvr>
                                        <p:cTn id="17" dur="500"/>
                                        <p:tgtEl>
                                          <p:spTgt spid="1680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8020"/>
                                        </p:tgtEl>
                                        <p:attrNameLst>
                                          <p:attrName>style.visibility</p:attrName>
                                        </p:attrNameLst>
                                      </p:cBhvr>
                                      <p:to>
                                        <p:strVal val="visible"/>
                                      </p:to>
                                    </p:set>
                                    <p:animEffect transition="in" filter="dissolve">
                                      <p:cBhvr>
                                        <p:cTn id="22" dur="500"/>
                                        <p:tgtEl>
                                          <p:spTgt spid="1680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7998"/>
                                        </p:tgtEl>
                                        <p:attrNameLst>
                                          <p:attrName>style.visibility</p:attrName>
                                        </p:attrNameLst>
                                      </p:cBhvr>
                                      <p:to>
                                        <p:strVal val="visible"/>
                                      </p:to>
                                    </p:set>
                                    <p:animEffect transition="in" filter="dissolve">
                                      <p:cBhvr>
                                        <p:cTn id="27" dur="500"/>
                                        <p:tgtEl>
                                          <p:spTgt spid="167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67" grpId="0" bldLvl="0" animBg="1"/>
      <p:bldP spid="167968" grpId="0" bldLvl="0" animBg="1"/>
    </p:bld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4_6"/>
          <p:cNvPicPr>
            <a:picLocks noChangeAspect="1" noChangeArrowheads="1"/>
          </p:cNvPicPr>
          <p:nvPr/>
        </p:nvPicPr>
        <p:blipFill rotWithShape="1">
          <a:blip r:embed="rId1">
            <a:extLst>
              <a:ext uri="{28A0092B-C50C-407E-A947-70E740481C1C}">
                <a14:useLocalDpi xmlns:a14="http://schemas.microsoft.com/office/drawing/2010/main" val="0"/>
              </a:ext>
            </a:extLst>
          </a:blip>
          <a:srcRect b="17629"/>
          <a:stretch>
            <a:fillRect/>
          </a:stretch>
        </p:blipFill>
        <p:spPr bwMode="auto">
          <a:xfrm>
            <a:off x="762000" y="2057400"/>
            <a:ext cx="7727315" cy="372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62000" y="609600"/>
            <a:ext cx="7989570" cy="521970"/>
          </a:xfrm>
          <a:prstGeom prst="rect">
            <a:avLst/>
          </a:prstGeom>
          <a:noFill/>
        </p:spPr>
        <p:txBody>
          <a:bodyPr wrap="square" rtlCol="0">
            <a:spAutoFit/>
          </a:bodyPr>
          <a:p>
            <a:pPr marL="0" indent="0">
              <a:buNone/>
            </a:pPr>
            <a:r>
              <a:rPr kumimoji="1" lang="en-US" altLang="zh-CN" sz="2800" b="1" dirty="0">
                <a:solidFill>
                  <a:srgbClr val="0070C0"/>
                </a:solidFill>
                <a:latin typeface="微软雅黑" panose="020B0503020204020204" charset="-122"/>
                <a:ea typeface="微软雅黑" panose="020B0503020204020204" charset="-122"/>
                <a:sym typeface="+mn-ea"/>
              </a:rPr>
              <a:t>3. </a:t>
            </a:r>
            <a:r>
              <a:rPr kumimoji="1" lang="zh-CN" altLang="en-US" sz="2800" b="1" dirty="0">
                <a:solidFill>
                  <a:srgbClr val="0070C0"/>
                </a:solidFill>
                <a:latin typeface="微软雅黑" panose="020B0503020204020204" charset="-122"/>
                <a:ea typeface="微软雅黑" panose="020B0503020204020204" charset="-122"/>
                <a:sym typeface="+mn-ea"/>
              </a:rPr>
              <a:t>组合方式（用户级线程和内核支持线程并存）</a:t>
            </a:r>
            <a:endParaRPr kumimoji="1" lang="zh-CN" altLang="en-US" sz="2800" b="1" dirty="0">
              <a:solidFill>
                <a:srgbClr val="0070C0"/>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zh-CN" altLang="en-US"/>
              <a:t>实现方案的对比</a:t>
            </a:r>
            <a:endParaRPr lang="zh-CN" altLang="en-US"/>
          </a:p>
        </p:txBody>
      </p:sp>
      <p:grpSp>
        <p:nvGrpSpPr>
          <p:cNvPr id="2" name="组合 1"/>
          <p:cNvGrpSpPr/>
          <p:nvPr/>
        </p:nvGrpSpPr>
        <p:grpSpPr>
          <a:xfrm>
            <a:off x="702945" y="1885251"/>
            <a:ext cx="6969841" cy="4521835"/>
            <a:chOff x="2307" y="2969"/>
            <a:chExt cx="9450" cy="6030"/>
          </a:xfrm>
        </p:grpSpPr>
        <p:sp>
          <p:nvSpPr>
            <p:cNvPr id="169005" name="Line 45"/>
            <p:cNvSpPr>
              <a:spLocks noChangeShapeType="1"/>
            </p:cNvSpPr>
            <p:nvPr/>
          </p:nvSpPr>
          <p:spPr bwMode="auto">
            <a:xfrm>
              <a:off x="2577" y="368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6" name="Line 46"/>
            <p:cNvSpPr>
              <a:spLocks noChangeShapeType="1"/>
            </p:cNvSpPr>
            <p:nvPr/>
          </p:nvSpPr>
          <p:spPr bwMode="auto">
            <a:xfrm>
              <a:off x="4557" y="2969"/>
              <a:ext cx="0" cy="60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7" name="Line 47"/>
            <p:cNvSpPr>
              <a:spLocks noChangeShapeType="1"/>
            </p:cNvSpPr>
            <p:nvPr/>
          </p:nvSpPr>
          <p:spPr bwMode="auto">
            <a:xfrm>
              <a:off x="6987" y="2969"/>
              <a:ext cx="0" cy="60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8" name="Line 48"/>
            <p:cNvSpPr>
              <a:spLocks noChangeShapeType="1"/>
            </p:cNvSpPr>
            <p:nvPr/>
          </p:nvSpPr>
          <p:spPr bwMode="auto">
            <a:xfrm>
              <a:off x="9417" y="2969"/>
              <a:ext cx="0" cy="60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0" name="Line 50"/>
            <p:cNvSpPr>
              <a:spLocks noChangeShapeType="1"/>
            </p:cNvSpPr>
            <p:nvPr/>
          </p:nvSpPr>
          <p:spPr bwMode="auto">
            <a:xfrm>
              <a:off x="2577" y="827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1" name="Line 51"/>
            <p:cNvSpPr>
              <a:spLocks noChangeShapeType="1"/>
            </p:cNvSpPr>
            <p:nvPr/>
          </p:nvSpPr>
          <p:spPr bwMode="auto">
            <a:xfrm>
              <a:off x="11757" y="2969"/>
              <a:ext cx="0" cy="60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2" name="Line 52"/>
            <p:cNvSpPr>
              <a:spLocks noChangeShapeType="1"/>
            </p:cNvSpPr>
            <p:nvPr/>
          </p:nvSpPr>
          <p:spPr bwMode="auto">
            <a:xfrm>
              <a:off x="2577" y="683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3" name="Text Box 53"/>
            <p:cNvSpPr txBox="1">
              <a:spLocks noChangeArrowheads="1"/>
            </p:cNvSpPr>
            <p:nvPr/>
          </p:nvSpPr>
          <p:spPr bwMode="auto">
            <a:xfrm>
              <a:off x="4737" y="3059"/>
              <a:ext cx="225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FF0000"/>
                  </a:solidFill>
                  <a:latin typeface="Arial" panose="020B0604020202020204"/>
                  <a:ea typeface="黑体" panose="02010609060101010101" pitchFamily="2" charset="-122"/>
                </a:rPr>
                <a:t>用户级线程</a:t>
              </a:r>
              <a:endParaRPr lang="zh-CN" altLang="en-US" sz="1800" b="1">
                <a:solidFill>
                  <a:srgbClr val="FF0000"/>
                </a:solidFill>
                <a:latin typeface="Arial" panose="020B0604020202020204"/>
                <a:ea typeface="黑体" panose="02010609060101010101" pitchFamily="2" charset="-122"/>
              </a:endParaRPr>
            </a:p>
          </p:txBody>
        </p:sp>
        <p:sp>
          <p:nvSpPr>
            <p:cNvPr id="169014" name="Text Box 54"/>
            <p:cNvSpPr txBox="1">
              <a:spLocks noChangeArrowheads="1"/>
            </p:cNvSpPr>
            <p:nvPr/>
          </p:nvSpPr>
          <p:spPr bwMode="auto">
            <a:xfrm>
              <a:off x="6987" y="3059"/>
              <a:ext cx="2545"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1800" b="1" dirty="0">
                  <a:solidFill>
                    <a:srgbClr val="FF0000"/>
                  </a:solidFill>
                  <a:latin typeface="Arial" panose="020B0604020202020204"/>
                  <a:ea typeface="黑体" panose="02010609060101010101" pitchFamily="2" charset="-122"/>
                </a:rPr>
                <a:t>内核支持线程</a:t>
              </a:r>
              <a:endParaRPr lang="zh-CN" altLang="en-US" sz="1800" b="1" dirty="0">
                <a:solidFill>
                  <a:srgbClr val="FF0000"/>
                </a:solidFill>
                <a:latin typeface="Arial" panose="020B0604020202020204"/>
                <a:ea typeface="黑体" panose="02010609060101010101" pitchFamily="2" charset="-122"/>
              </a:endParaRPr>
            </a:p>
          </p:txBody>
        </p:sp>
        <p:sp>
          <p:nvSpPr>
            <p:cNvPr id="169015" name="Text Box 55"/>
            <p:cNvSpPr txBox="1">
              <a:spLocks noChangeArrowheads="1"/>
            </p:cNvSpPr>
            <p:nvPr/>
          </p:nvSpPr>
          <p:spPr bwMode="auto">
            <a:xfrm>
              <a:off x="9417" y="3093"/>
              <a:ext cx="2250" cy="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dirty="0">
                  <a:solidFill>
                    <a:srgbClr val="FF0000"/>
                  </a:solidFill>
                  <a:latin typeface="Arial" panose="020B0604020202020204"/>
                  <a:ea typeface="黑体" panose="02010609060101010101" pitchFamily="2" charset="-122"/>
                </a:rPr>
                <a:t>用户</a:t>
              </a:r>
              <a:r>
                <a:rPr lang="en-US" altLang="zh-CN" sz="1800" b="1" dirty="0">
                  <a:solidFill>
                    <a:srgbClr val="FF0000"/>
                  </a:solidFill>
                  <a:latin typeface="Arial" panose="020B0604020202020204"/>
                  <a:ea typeface="黑体" panose="02010609060101010101" pitchFamily="2" charset="-122"/>
                </a:rPr>
                <a:t>+</a:t>
              </a:r>
              <a:r>
                <a:rPr lang="zh-CN" altLang="en-US" sz="1800" b="1" dirty="0">
                  <a:solidFill>
                    <a:srgbClr val="FF0000"/>
                  </a:solidFill>
                  <a:latin typeface="Arial" panose="020B0604020202020204"/>
                  <a:ea typeface="黑体" panose="02010609060101010101" pitchFamily="2" charset="-122"/>
                </a:rPr>
                <a:t>内核级</a:t>
              </a:r>
              <a:endParaRPr lang="zh-CN" altLang="en-US" sz="1800" b="1" dirty="0">
                <a:solidFill>
                  <a:srgbClr val="FF0000"/>
                </a:solidFill>
                <a:latin typeface="Arial" panose="020B0604020202020204"/>
                <a:ea typeface="黑体" panose="02010609060101010101" pitchFamily="2" charset="-122"/>
              </a:endParaRPr>
            </a:p>
          </p:txBody>
        </p:sp>
        <p:sp>
          <p:nvSpPr>
            <p:cNvPr id="169016" name="Text Box 56"/>
            <p:cNvSpPr txBox="1">
              <a:spLocks noChangeArrowheads="1"/>
            </p:cNvSpPr>
            <p:nvPr/>
          </p:nvSpPr>
          <p:spPr bwMode="auto">
            <a:xfrm>
              <a:off x="2791" y="6209"/>
              <a:ext cx="15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并发度</a:t>
              </a:r>
              <a:endParaRPr lang="zh-CN" altLang="en-US" sz="1800" b="1">
                <a:solidFill>
                  <a:srgbClr val="629DD1"/>
                </a:solidFill>
                <a:latin typeface="Arial" panose="020B0604020202020204"/>
                <a:ea typeface="黑体" panose="02010609060101010101" pitchFamily="2" charset="-122"/>
              </a:endParaRPr>
            </a:p>
          </p:txBody>
        </p:sp>
        <p:sp>
          <p:nvSpPr>
            <p:cNvPr id="169017" name="Text Box 57"/>
            <p:cNvSpPr txBox="1">
              <a:spLocks noChangeArrowheads="1"/>
            </p:cNvSpPr>
            <p:nvPr/>
          </p:nvSpPr>
          <p:spPr bwMode="auto">
            <a:xfrm>
              <a:off x="5457" y="620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低</a:t>
              </a:r>
              <a:endParaRPr lang="zh-CN" altLang="en-US" sz="1800" b="1">
                <a:solidFill>
                  <a:prstClr val="black"/>
                </a:solidFill>
                <a:latin typeface="Arial" panose="020B0604020202020204"/>
                <a:ea typeface="黑体" panose="02010609060101010101" pitchFamily="2" charset="-122"/>
              </a:endParaRPr>
            </a:p>
          </p:txBody>
        </p:sp>
        <p:sp>
          <p:nvSpPr>
            <p:cNvPr id="169019" name="Text Box 59"/>
            <p:cNvSpPr txBox="1">
              <a:spLocks noChangeArrowheads="1"/>
            </p:cNvSpPr>
            <p:nvPr/>
          </p:nvSpPr>
          <p:spPr bwMode="auto">
            <a:xfrm>
              <a:off x="7887" y="620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高</a:t>
              </a:r>
              <a:endParaRPr lang="zh-CN" altLang="en-US" sz="1800" b="1">
                <a:solidFill>
                  <a:prstClr val="black"/>
                </a:solidFill>
                <a:latin typeface="Arial" panose="020B0604020202020204"/>
                <a:ea typeface="黑体" panose="02010609060101010101" pitchFamily="2" charset="-122"/>
              </a:endParaRPr>
            </a:p>
          </p:txBody>
        </p:sp>
        <p:sp>
          <p:nvSpPr>
            <p:cNvPr id="169020" name="Text Box 60"/>
            <p:cNvSpPr txBox="1">
              <a:spLocks noChangeArrowheads="1"/>
            </p:cNvSpPr>
            <p:nvPr/>
          </p:nvSpPr>
          <p:spPr bwMode="auto">
            <a:xfrm>
              <a:off x="10317" y="620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高</a:t>
              </a:r>
              <a:endParaRPr lang="zh-CN" altLang="en-US" sz="1800" b="1">
                <a:solidFill>
                  <a:prstClr val="black"/>
                </a:solidFill>
                <a:latin typeface="Arial" panose="020B0604020202020204"/>
                <a:ea typeface="黑体" panose="02010609060101010101" pitchFamily="2" charset="-122"/>
              </a:endParaRPr>
            </a:p>
          </p:txBody>
        </p:sp>
        <p:sp>
          <p:nvSpPr>
            <p:cNvPr id="169021" name="Text Box 61"/>
            <p:cNvSpPr txBox="1">
              <a:spLocks noChangeArrowheads="1"/>
            </p:cNvSpPr>
            <p:nvPr/>
          </p:nvSpPr>
          <p:spPr bwMode="auto">
            <a:xfrm>
              <a:off x="2667" y="6929"/>
              <a:ext cx="15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代价</a:t>
              </a:r>
              <a:endParaRPr lang="zh-CN" altLang="en-US" sz="1800" b="1">
                <a:solidFill>
                  <a:srgbClr val="629DD1"/>
                </a:solidFill>
                <a:latin typeface="Arial" panose="020B0604020202020204"/>
                <a:ea typeface="黑体" panose="02010609060101010101" pitchFamily="2" charset="-122"/>
              </a:endParaRPr>
            </a:p>
          </p:txBody>
        </p:sp>
        <p:sp>
          <p:nvSpPr>
            <p:cNvPr id="169022" name="Text Box 62"/>
            <p:cNvSpPr txBox="1">
              <a:spLocks noChangeArrowheads="1"/>
            </p:cNvSpPr>
            <p:nvPr/>
          </p:nvSpPr>
          <p:spPr bwMode="auto">
            <a:xfrm>
              <a:off x="5457" y="692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小</a:t>
              </a:r>
              <a:endParaRPr lang="zh-CN" altLang="en-US" sz="1800" b="1">
                <a:solidFill>
                  <a:prstClr val="black"/>
                </a:solidFill>
                <a:latin typeface="Arial" panose="020B0604020202020204"/>
                <a:ea typeface="黑体" panose="02010609060101010101" pitchFamily="2" charset="-122"/>
              </a:endParaRPr>
            </a:p>
          </p:txBody>
        </p:sp>
        <p:sp>
          <p:nvSpPr>
            <p:cNvPr id="169023" name="Text Box 63"/>
            <p:cNvSpPr txBox="1">
              <a:spLocks noChangeArrowheads="1"/>
            </p:cNvSpPr>
            <p:nvPr/>
          </p:nvSpPr>
          <p:spPr bwMode="auto">
            <a:xfrm>
              <a:off x="7887" y="692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24" name="Text Box 64"/>
            <p:cNvSpPr txBox="1">
              <a:spLocks noChangeArrowheads="1"/>
            </p:cNvSpPr>
            <p:nvPr/>
          </p:nvSpPr>
          <p:spPr bwMode="auto">
            <a:xfrm>
              <a:off x="10317" y="692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中</a:t>
              </a:r>
              <a:endParaRPr lang="zh-CN" altLang="en-US" sz="1800" b="1">
                <a:solidFill>
                  <a:prstClr val="black"/>
                </a:solidFill>
                <a:latin typeface="Arial" panose="020B0604020202020204"/>
                <a:ea typeface="黑体" panose="02010609060101010101" pitchFamily="2" charset="-122"/>
              </a:endParaRPr>
            </a:p>
          </p:txBody>
        </p:sp>
        <p:sp>
          <p:nvSpPr>
            <p:cNvPr id="169025" name="Line 65"/>
            <p:cNvSpPr>
              <a:spLocks noChangeShapeType="1"/>
            </p:cNvSpPr>
            <p:nvPr/>
          </p:nvSpPr>
          <p:spPr bwMode="auto">
            <a:xfrm>
              <a:off x="2577" y="755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27" name="Text Box 67"/>
            <p:cNvSpPr txBox="1">
              <a:spLocks noChangeArrowheads="1"/>
            </p:cNvSpPr>
            <p:nvPr/>
          </p:nvSpPr>
          <p:spPr bwMode="auto">
            <a:xfrm>
              <a:off x="2307" y="7649"/>
              <a:ext cx="216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内核改动</a:t>
              </a:r>
              <a:endParaRPr lang="zh-CN" altLang="en-US" sz="1800" b="1">
                <a:solidFill>
                  <a:srgbClr val="629DD1"/>
                </a:solidFill>
                <a:latin typeface="Arial" panose="020B0604020202020204"/>
                <a:ea typeface="黑体" panose="02010609060101010101" pitchFamily="2" charset="-122"/>
              </a:endParaRPr>
            </a:p>
          </p:txBody>
        </p:sp>
        <p:sp>
          <p:nvSpPr>
            <p:cNvPr id="169028" name="Text Box 68"/>
            <p:cNvSpPr txBox="1">
              <a:spLocks noChangeArrowheads="1"/>
            </p:cNvSpPr>
            <p:nvPr/>
          </p:nvSpPr>
          <p:spPr bwMode="auto">
            <a:xfrm>
              <a:off x="5457" y="764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无</a:t>
              </a:r>
              <a:endParaRPr lang="zh-CN" altLang="en-US" sz="1800" b="1">
                <a:solidFill>
                  <a:prstClr val="black"/>
                </a:solidFill>
                <a:latin typeface="Arial" panose="020B0604020202020204"/>
                <a:ea typeface="黑体" panose="02010609060101010101" pitchFamily="2" charset="-122"/>
              </a:endParaRPr>
            </a:p>
          </p:txBody>
        </p:sp>
        <p:sp>
          <p:nvSpPr>
            <p:cNvPr id="169029" name="Text Box 69"/>
            <p:cNvSpPr txBox="1">
              <a:spLocks noChangeArrowheads="1"/>
            </p:cNvSpPr>
            <p:nvPr/>
          </p:nvSpPr>
          <p:spPr bwMode="auto">
            <a:xfrm>
              <a:off x="7887" y="764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30" name="Text Box 70"/>
            <p:cNvSpPr txBox="1">
              <a:spLocks noChangeArrowheads="1"/>
            </p:cNvSpPr>
            <p:nvPr/>
          </p:nvSpPr>
          <p:spPr bwMode="auto">
            <a:xfrm>
              <a:off x="10317" y="764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31" name="Line 71"/>
            <p:cNvSpPr>
              <a:spLocks noChangeShapeType="1"/>
            </p:cNvSpPr>
            <p:nvPr/>
          </p:nvSpPr>
          <p:spPr bwMode="auto">
            <a:xfrm>
              <a:off x="2577" y="539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2" name="Text Box 72"/>
            <p:cNvSpPr txBox="1">
              <a:spLocks noChangeArrowheads="1"/>
            </p:cNvSpPr>
            <p:nvPr/>
          </p:nvSpPr>
          <p:spPr bwMode="auto">
            <a:xfrm>
              <a:off x="2757" y="4319"/>
              <a:ext cx="1693" cy="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实现模型</a:t>
              </a:r>
              <a:endParaRPr lang="zh-CN" altLang="en-US" sz="1800" b="1">
                <a:solidFill>
                  <a:srgbClr val="629DD1"/>
                </a:solidFill>
                <a:latin typeface="Arial" panose="020B0604020202020204"/>
                <a:ea typeface="黑体" panose="02010609060101010101" pitchFamily="2" charset="-122"/>
              </a:endParaRPr>
            </a:p>
          </p:txBody>
        </p:sp>
        <p:sp>
          <p:nvSpPr>
            <p:cNvPr id="169033" name="Freeform 73"/>
            <p:cNvSpPr/>
            <p:nvPr/>
          </p:nvSpPr>
          <p:spPr bwMode="auto">
            <a:xfrm>
              <a:off x="491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34" name="Group 74"/>
            <p:cNvGrpSpPr/>
            <p:nvPr/>
          </p:nvGrpSpPr>
          <p:grpSpPr bwMode="auto">
            <a:xfrm>
              <a:off x="5547" y="4825"/>
              <a:ext cx="540" cy="540"/>
              <a:chOff x="832" y="2920"/>
              <a:chExt cx="288" cy="288"/>
            </a:xfrm>
          </p:grpSpPr>
          <p:sp>
            <p:nvSpPr>
              <p:cNvPr id="169035" name="Oval 75"/>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6" name="Freeform 76"/>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37" name="Freeform 77"/>
            <p:cNvSpPr/>
            <p:nvPr/>
          </p:nvSpPr>
          <p:spPr bwMode="auto">
            <a:xfrm>
              <a:off x="545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8" name="Freeform 78"/>
            <p:cNvSpPr/>
            <p:nvPr/>
          </p:nvSpPr>
          <p:spPr bwMode="auto">
            <a:xfrm>
              <a:off x="599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9" name="Freeform 79"/>
            <p:cNvSpPr/>
            <p:nvPr/>
          </p:nvSpPr>
          <p:spPr bwMode="auto">
            <a:xfrm>
              <a:off x="662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0" name="Line 80"/>
            <p:cNvSpPr>
              <a:spLocks noChangeShapeType="1"/>
            </p:cNvSpPr>
            <p:nvPr/>
          </p:nvSpPr>
          <p:spPr bwMode="auto">
            <a:xfrm>
              <a:off x="4917" y="4195"/>
              <a:ext cx="90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1" name="Line 81"/>
            <p:cNvSpPr>
              <a:spLocks noChangeShapeType="1"/>
            </p:cNvSpPr>
            <p:nvPr/>
          </p:nvSpPr>
          <p:spPr bwMode="auto">
            <a:xfrm>
              <a:off x="5457" y="4195"/>
              <a:ext cx="36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2" name="Line 82"/>
            <p:cNvSpPr>
              <a:spLocks noChangeShapeType="1"/>
            </p:cNvSpPr>
            <p:nvPr/>
          </p:nvSpPr>
          <p:spPr bwMode="auto">
            <a:xfrm flipH="1">
              <a:off x="5817" y="4195"/>
              <a:ext cx="18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3" name="Line 83"/>
            <p:cNvSpPr>
              <a:spLocks noChangeShapeType="1"/>
            </p:cNvSpPr>
            <p:nvPr/>
          </p:nvSpPr>
          <p:spPr bwMode="auto">
            <a:xfrm flipH="1">
              <a:off x="5817" y="4195"/>
              <a:ext cx="81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4" name="Line 84"/>
            <p:cNvSpPr>
              <a:spLocks noChangeShapeType="1"/>
            </p:cNvSpPr>
            <p:nvPr/>
          </p:nvSpPr>
          <p:spPr bwMode="auto">
            <a:xfrm flipH="1">
              <a:off x="5817" y="4555"/>
              <a:ext cx="0" cy="27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46" name="Group 86"/>
            <p:cNvGrpSpPr/>
            <p:nvPr/>
          </p:nvGrpSpPr>
          <p:grpSpPr bwMode="auto">
            <a:xfrm>
              <a:off x="7921" y="4808"/>
              <a:ext cx="540" cy="540"/>
              <a:chOff x="832" y="2920"/>
              <a:chExt cx="288" cy="288"/>
            </a:xfrm>
          </p:grpSpPr>
          <p:sp>
            <p:nvSpPr>
              <p:cNvPr id="169047" name="Oval 87"/>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8" name="Freeform 88"/>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49" name="Freeform 89"/>
            <p:cNvSpPr/>
            <p:nvPr/>
          </p:nvSpPr>
          <p:spPr bwMode="auto">
            <a:xfrm>
              <a:off x="7561"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53" name="Line 93"/>
            <p:cNvSpPr>
              <a:spLocks noChangeShapeType="1"/>
            </p:cNvSpPr>
            <p:nvPr/>
          </p:nvSpPr>
          <p:spPr bwMode="auto">
            <a:xfrm>
              <a:off x="7561" y="4229"/>
              <a:ext cx="0" cy="5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57" name="Freeform 97"/>
            <p:cNvSpPr/>
            <p:nvPr/>
          </p:nvSpPr>
          <p:spPr bwMode="auto">
            <a:xfrm>
              <a:off x="968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58" name="Group 98"/>
            <p:cNvGrpSpPr/>
            <p:nvPr/>
          </p:nvGrpSpPr>
          <p:grpSpPr bwMode="auto">
            <a:xfrm>
              <a:off x="9867" y="4814"/>
              <a:ext cx="540" cy="540"/>
              <a:chOff x="832" y="2920"/>
              <a:chExt cx="288" cy="288"/>
            </a:xfrm>
          </p:grpSpPr>
          <p:sp>
            <p:nvSpPr>
              <p:cNvPr id="169059" name="Oval 99"/>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0" name="Freeform 100"/>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61" name="Freeform 101"/>
            <p:cNvSpPr/>
            <p:nvPr/>
          </p:nvSpPr>
          <p:spPr bwMode="auto">
            <a:xfrm>
              <a:off x="1022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2" name="Freeform 102"/>
            <p:cNvSpPr/>
            <p:nvPr/>
          </p:nvSpPr>
          <p:spPr bwMode="auto">
            <a:xfrm>
              <a:off x="1076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3" name="Freeform 103"/>
            <p:cNvSpPr/>
            <p:nvPr/>
          </p:nvSpPr>
          <p:spPr bwMode="auto">
            <a:xfrm>
              <a:off x="1139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4" name="Line 104"/>
            <p:cNvSpPr>
              <a:spLocks noChangeShapeType="1"/>
            </p:cNvSpPr>
            <p:nvPr/>
          </p:nvSpPr>
          <p:spPr bwMode="auto">
            <a:xfrm>
              <a:off x="9687" y="4195"/>
              <a:ext cx="90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5" name="Line 105"/>
            <p:cNvSpPr>
              <a:spLocks noChangeShapeType="1"/>
            </p:cNvSpPr>
            <p:nvPr/>
          </p:nvSpPr>
          <p:spPr bwMode="auto">
            <a:xfrm>
              <a:off x="10227" y="4195"/>
              <a:ext cx="36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6" name="Line 106"/>
            <p:cNvSpPr>
              <a:spLocks noChangeShapeType="1"/>
            </p:cNvSpPr>
            <p:nvPr/>
          </p:nvSpPr>
          <p:spPr bwMode="auto">
            <a:xfrm flipH="1">
              <a:off x="10587" y="4195"/>
              <a:ext cx="18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7" name="Line 107"/>
            <p:cNvSpPr>
              <a:spLocks noChangeShapeType="1"/>
            </p:cNvSpPr>
            <p:nvPr/>
          </p:nvSpPr>
          <p:spPr bwMode="auto">
            <a:xfrm flipH="1">
              <a:off x="10587" y="4195"/>
              <a:ext cx="81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8" name="Line 108"/>
            <p:cNvSpPr>
              <a:spLocks noChangeShapeType="1"/>
            </p:cNvSpPr>
            <p:nvPr/>
          </p:nvSpPr>
          <p:spPr bwMode="auto">
            <a:xfrm flipH="1">
              <a:off x="10137" y="4555"/>
              <a:ext cx="450" cy="214"/>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75" name="Group 115"/>
            <p:cNvGrpSpPr/>
            <p:nvPr/>
          </p:nvGrpSpPr>
          <p:grpSpPr bwMode="auto">
            <a:xfrm>
              <a:off x="10767" y="4820"/>
              <a:ext cx="540" cy="540"/>
              <a:chOff x="832" y="2920"/>
              <a:chExt cx="288" cy="288"/>
            </a:xfrm>
          </p:grpSpPr>
          <p:sp>
            <p:nvSpPr>
              <p:cNvPr id="169076" name="Oval 116"/>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77" name="Freeform 117"/>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78" name="Line 118"/>
            <p:cNvSpPr>
              <a:spLocks noChangeShapeType="1"/>
            </p:cNvSpPr>
            <p:nvPr/>
          </p:nvSpPr>
          <p:spPr bwMode="auto">
            <a:xfrm>
              <a:off x="10587" y="4548"/>
              <a:ext cx="450" cy="221"/>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79" name="Group 119"/>
            <p:cNvGrpSpPr/>
            <p:nvPr/>
          </p:nvGrpSpPr>
          <p:grpSpPr bwMode="auto">
            <a:xfrm>
              <a:off x="7291" y="4808"/>
              <a:ext cx="540" cy="540"/>
              <a:chOff x="832" y="2920"/>
              <a:chExt cx="288" cy="288"/>
            </a:xfrm>
          </p:grpSpPr>
          <p:sp>
            <p:nvSpPr>
              <p:cNvPr id="169080" name="Oval 120"/>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1" name="Freeform 121"/>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82" name="Freeform 122"/>
            <p:cNvSpPr/>
            <p:nvPr/>
          </p:nvSpPr>
          <p:spPr bwMode="auto">
            <a:xfrm>
              <a:off x="8191" y="3762"/>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3" name="Line 123"/>
            <p:cNvSpPr>
              <a:spLocks noChangeShapeType="1"/>
            </p:cNvSpPr>
            <p:nvPr/>
          </p:nvSpPr>
          <p:spPr bwMode="auto">
            <a:xfrm>
              <a:off x="8191" y="4246"/>
              <a:ext cx="0" cy="5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84" name="Group 124"/>
            <p:cNvGrpSpPr/>
            <p:nvPr/>
          </p:nvGrpSpPr>
          <p:grpSpPr bwMode="auto">
            <a:xfrm>
              <a:off x="8551" y="4803"/>
              <a:ext cx="540" cy="540"/>
              <a:chOff x="832" y="2920"/>
              <a:chExt cx="288" cy="288"/>
            </a:xfrm>
          </p:grpSpPr>
          <p:sp>
            <p:nvSpPr>
              <p:cNvPr id="169085" name="Oval 125"/>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6" name="Freeform 126"/>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87" name="Freeform 127"/>
            <p:cNvSpPr/>
            <p:nvPr/>
          </p:nvSpPr>
          <p:spPr bwMode="auto">
            <a:xfrm>
              <a:off x="8804"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8" name="Line 128"/>
            <p:cNvSpPr>
              <a:spLocks noChangeShapeType="1"/>
            </p:cNvSpPr>
            <p:nvPr/>
          </p:nvSpPr>
          <p:spPr bwMode="auto">
            <a:xfrm>
              <a:off x="8804" y="4229"/>
              <a:ext cx="0" cy="5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9" name="Line 129"/>
            <p:cNvSpPr>
              <a:spLocks noChangeShapeType="1"/>
            </p:cNvSpPr>
            <p:nvPr/>
          </p:nvSpPr>
          <p:spPr bwMode="auto">
            <a:xfrm>
              <a:off x="2577" y="899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91" name="Text Box 131"/>
            <p:cNvSpPr txBox="1">
              <a:spLocks noChangeArrowheads="1"/>
            </p:cNvSpPr>
            <p:nvPr/>
          </p:nvSpPr>
          <p:spPr bwMode="auto">
            <a:xfrm>
              <a:off x="2307" y="8369"/>
              <a:ext cx="216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灵活性</a:t>
              </a:r>
              <a:endParaRPr lang="zh-CN" altLang="en-US" sz="1800" b="1">
                <a:solidFill>
                  <a:srgbClr val="629DD1"/>
                </a:solidFill>
                <a:latin typeface="Arial" panose="020B0604020202020204"/>
                <a:ea typeface="黑体" panose="02010609060101010101" pitchFamily="2" charset="-122"/>
              </a:endParaRPr>
            </a:p>
          </p:txBody>
        </p:sp>
        <p:sp>
          <p:nvSpPr>
            <p:cNvPr id="169092" name="Text Box 132"/>
            <p:cNvSpPr txBox="1">
              <a:spLocks noChangeArrowheads="1"/>
            </p:cNvSpPr>
            <p:nvPr/>
          </p:nvSpPr>
          <p:spPr bwMode="auto">
            <a:xfrm>
              <a:off x="5457" y="836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93" name="Text Box 133"/>
            <p:cNvSpPr txBox="1">
              <a:spLocks noChangeArrowheads="1"/>
            </p:cNvSpPr>
            <p:nvPr/>
          </p:nvSpPr>
          <p:spPr bwMode="auto">
            <a:xfrm>
              <a:off x="7887" y="836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小</a:t>
              </a:r>
              <a:endParaRPr lang="zh-CN" altLang="en-US" sz="1800" b="1">
                <a:solidFill>
                  <a:prstClr val="black"/>
                </a:solidFill>
                <a:latin typeface="Arial" panose="020B0604020202020204"/>
                <a:ea typeface="黑体" panose="02010609060101010101" pitchFamily="2" charset="-122"/>
              </a:endParaRPr>
            </a:p>
          </p:txBody>
        </p:sp>
        <p:sp>
          <p:nvSpPr>
            <p:cNvPr id="169094" name="Text Box 134"/>
            <p:cNvSpPr txBox="1">
              <a:spLocks noChangeArrowheads="1"/>
            </p:cNvSpPr>
            <p:nvPr/>
          </p:nvSpPr>
          <p:spPr bwMode="auto">
            <a:xfrm>
              <a:off x="10317" y="836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95" name="Line 135"/>
            <p:cNvSpPr>
              <a:spLocks noChangeShapeType="1"/>
            </p:cNvSpPr>
            <p:nvPr/>
          </p:nvSpPr>
          <p:spPr bwMode="auto">
            <a:xfrm>
              <a:off x="2577" y="611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96" name="Text Box 136"/>
            <p:cNvSpPr txBox="1">
              <a:spLocks noChangeArrowheads="1"/>
            </p:cNvSpPr>
            <p:nvPr/>
          </p:nvSpPr>
          <p:spPr bwMode="auto">
            <a:xfrm>
              <a:off x="2397" y="5489"/>
              <a:ext cx="216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利用多</a:t>
              </a:r>
              <a:r>
                <a:rPr lang="en-US" altLang="zh-CN" sz="1800" b="1">
                  <a:solidFill>
                    <a:srgbClr val="629DD1"/>
                  </a:solidFill>
                  <a:latin typeface="Arial" panose="020B0604020202020204"/>
                  <a:ea typeface="黑体" panose="02010609060101010101" pitchFamily="2" charset="-122"/>
                </a:rPr>
                <a:t>CPU</a:t>
              </a:r>
              <a:endParaRPr lang="en-US" altLang="zh-CN" sz="1800" b="1">
                <a:solidFill>
                  <a:srgbClr val="629DD1"/>
                </a:solidFill>
                <a:latin typeface="Arial" panose="020B0604020202020204"/>
                <a:ea typeface="黑体" panose="02010609060101010101" pitchFamily="2" charset="-122"/>
              </a:endParaRPr>
            </a:p>
          </p:txBody>
        </p:sp>
        <p:sp>
          <p:nvSpPr>
            <p:cNvPr id="169097" name="Text Box 137"/>
            <p:cNvSpPr txBox="1">
              <a:spLocks noChangeArrowheads="1"/>
            </p:cNvSpPr>
            <p:nvPr/>
          </p:nvSpPr>
          <p:spPr bwMode="auto">
            <a:xfrm>
              <a:off x="5457" y="548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差</a:t>
              </a:r>
              <a:endParaRPr lang="zh-CN" altLang="en-US" sz="1800" b="1">
                <a:solidFill>
                  <a:prstClr val="black"/>
                </a:solidFill>
                <a:latin typeface="Arial" panose="020B0604020202020204"/>
                <a:ea typeface="黑体" panose="02010609060101010101" pitchFamily="2" charset="-122"/>
              </a:endParaRPr>
            </a:p>
          </p:txBody>
        </p:sp>
        <p:sp>
          <p:nvSpPr>
            <p:cNvPr id="169098" name="Text Box 138"/>
            <p:cNvSpPr txBox="1">
              <a:spLocks noChangeArrowheads="1"/>
            </p:cNvSpPr>
            <p:nvPr/>
          </p:nvSpPr>
          <p:spPr bwMode="auto">
            <a:xfrm>
              <a:off x="7887" y="548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好</a:t>
              </a:r>
              <a:endParaRPr lang="zh-CN" altLang="en-US" sz="1800" b="1">
                <a:solidFill>
                  <a:prstClr val="black"/>
                </a:solidFill>
                <a:latin typeface="Arial" panose="020B0604020202020204"/>
                <a:ea typeface="黑体" panose="02010609060101010101" pitchFamily="2" charset="-122"/>
              </a:endParaRPr>
            </a:p>
          </p:txBody>
        </p:sp>
        <p:sp>
          <p:nvSpPr>
            <p:cNvPr id="169099" name="Text Box 139"/>
            <p:cNvSpPr txBox="1">
              <a:spLocks noChangeArrowheads="1"/>
            </p:cNvSpPr>
            <p:nvPr/>
          </p:nvSpPr>
          <p:spPr bwMode="auto">
            <a:xfrm>
              <a:off x="10317" y="548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好</a:t>
              </a:r>
              <a:endParaRPr lang="zh-CN" altLang="en-US" sz="1800" b="1">
                <a:solidFill>
                  <a:prstClr val="black"/>
                </a:solidFill>
                <a:latin typeface="Arial" panose="020B0604020202020204"/>
                <a:ea typeface="黑体" panose="0201060906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01625" y="1752600"/>
            <a:ext cx="8540750" cy="4498975"/>
          </a:xfrm>
        </p:spPr>
        <p:txBody>
          <a:bodyPr/>
          <a:lstStyle/>
          <a:p>
            <a:pPr marL="565150" indent="-565150" algn="just">
              <a:buNone/>
            </a:pPr>
            <a:r>
              <a:rPr lang="en-US" altLang="zh-CN" sz="2800" dirty="0">
                <a:latin typeface="微软雅黑" panose="020B0503020204020204" charset="-122"/>
                <a:ea typeface="微软雅黑" panose="020B0503020204020204" charset="-122"/>
              </a:rPr>
              <a:t>1</a:t>
            </a:r>
            <a:r>
              <a:rPr lang="zh-CN" altLang="en-US" sz="2800" dirty="0">
                <a:latin typeface="微软雅黑" panose="020B0503020204020204" charset="-122"/>
                <a:ea typeface="微软雅黑" panose="020B0503020204020204" charset="-122"/>
              </a:rPr>
              <a:t>．在一个已有进程中创建一个新线程比创建一个全新进程所需的时间少。</a:t>
            </a:r>
            <a:endParaRPr lang="zh-CN" altLang="en-US" sz="2800" dirty="0">
              <a:latin typeface="微软雅黑" panose="020B0503020204020204" charset="-122"/>
              <a:ea typeface="微软雅黑" panose="020B0503020204020204" charset="-122"/>
            </a:endParaRPr>
          </a:p>
          <a:p>
            <a:pPr marL="565150" indent="-565150" algn="just">
              <a:buClrTx/>
              <a:buSzTx/>
              <a:buNone/>
            </a:pPr>
            <a:r>
              <a:rPr lang="en-US" altLang="zh-CN" sz="2800" dirty="0">
                <a:latin typeface="微软雅黑" panose="020B0503020204020204" charset="-122"/>
                <a:ea typeface="微软雅黑" panose="020B0503020204020204" charset="-122"/>
              </a:rPr>
              <a:t>2</a:t>
            </a:r>
            <a:r>
              <a:rPr lang="zh-CN" altLang="en-US" sz="2800" dirty="0">
                <a:latin typeface="微软雅黑" panose="020B0503020204020204" charset="-122"/>
                <a:ea typeface="微软雅黑" panose="020B0503020204020204" charset="-122"/>
              </a:rPr>
              <a:t>．终止一个线程比终止一个进程花费的时间少。</a:t>
            </a:r>
            <a:endParaRPr lang="zh-CN" altLang="en-US" sz="2800" dirty="0">
              <a:latin typeface="微软雅黑" panose="020B0503020204020204" charset="-122"/>
              <a:ea typeface="微软雅黑" panose="020B0503020204020204" charset="-122"/>
            </a:endParaRPr>
          </a:p>
          <a:p>
            <a:pPr marL="565150" indent="-565150" algn="just">
              <a:buClrTx/>
              <a:buSzTx/>
              <a:buNone/>
            </a:pPr>
            <a:r>
              <a:rPr lang="en-US" altLang="zh-CN" sz="2800" dirty="0">
                <a:latin typeface="微软雅黑" panose="020B0503020204020204" charset="-122"/>
                <a:ea typeface="微软雅黑" panose="020B0503020204020204" charset="-122"/>
              </a:rPr>
              <a:t>3</a:t>
            </a:r>
            <a:r>
              <a:rPr lang="zh-CN" altLang="en-US" sz="2800" dirty="0">
                <a:latin typeface="微软雅黑" panose="020B0503020204020204" charset="-122"/>
                <a:ea typeface="微软雅黑" panose="020B0503020204020204" charset="-122"/>
              </a:rPr>
              <a:t>．线程间切换比进程间切换花费的时间少。</a:t>
            </a:r>
            <a:endParaRPr lang="zh-CN" altLang="en-US" sz="2800" dirty="0">
              <a:latin typeface="微软雅黑" panose="020B0503020204020204" charset="-122"/>
              <a:ea typeface="微软雅黑" panose="020B0503020204020204" charset="-122"/>
            </a:endParaRPr>
          </a:p>
          <a:p>
            <a:pPr marL="565150" indent="-565150" algn="just">
              <a:buClrTx/>
              <a:buSzTx/>
              <a:buNone/>
            </a:pPr>
            <a:r>
              <a:rPr lang="en-US" altLang="zh-CN" sz="2800" dirty="0">
                <a:latin typeface="微软雅黑" panose="020B0503020204020204" charset="-122"/>
                <a:ea typeface="微软雅黑" panose="020B0503020204020204" charset="-122"/>
              </a:rPr>
              <a:t>4</a:t>
            </a:r>
            <a:r>
              <a:rPr lang="zh-CN" altLang="en-US" sz="2800" dirty="0">
                <a:latin typeface="微软雅黑" panose="020B0503020204020204" charset="-122"/>
                <a:ea typeface="微软雅黑" panose="020B0503020204020204" charset="-122"/>
              </a:rPr>
              <a:t>．线程提高了不同的执行程序间通信的效率。同一个进程中的线程共享存储空间和文件，它们无需调用内核就可以互相通信。</a:t>
            </a:r>
            <a:endParaRPr lang="zh-CN" altLang="en-US" sz="2800" dirty="0">
              <a:latin typeface="微软雅黑" panose="020B0503020204020204" charset="-122"/>
              <a:ea typeface="微软雅黑" panose="020B0503020204020204" charset="-122"/>
            </a:endParaRPr>
          </a:p>
          <a:p>
            <a:endParaRPr lang="zh-CN" altLang="en-US" sz="2800" dirty="0">
              <a:latin typeface="微软雅黑" panose="020B0503020204020204" charset="-122"/>
              <a:ea typeface="微软雅黑" panose="020B0503020204020204" charset="-122"/>
            </a:endParaRPr>
          </a:p>
        </p:txBody>
      </p:sp>
      <p:sp>
        <p:nvSpPr>
          <p:cNvPr id="3" name="标题 2"/>
          <p:cNvSpPr>
            <a:spLocks noGrp="1"/>
          </p:cNvSpPr>
          <p:nvPr>
            <p:ph type="title"/>
          </p:nvPr>
        </p:nvSpPr>
        <p:spPr/>
        <p:txBody>
          <a:bodyPr/>
          <a:lstStyle/>
          <a:p>
            <a:r>
              <a:rPr lang="zh-CN" altLang="en-US" dirty="0"/>
              <a:t>采用线程的优点</a:t>
            </a:r>
            <a:r>
              <a:rPr lang="en-US" altLang="zh-CN"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r>
              <a:rPr lang="zh-CN" altLang="en-US"/>
              <a:t>线程总结</a:t>
            </a:r>
            <a:endParaRPr lang="zh-CN" altLang="en-US"/>
          </a:p>
        </p:txBody>
      </p:sp>
      <p:sp>
        <p:nvSpPr>
          <p:cNvPr id="171013" name="Rectangle 5"/>
          <p:cNvSpPr>
            <a:spLocks noChangeArrowheads="1"/>
          </p:cNvSpPr>
          <p:nvPr/>
        </p:nvSpPr>
        <p:spPr bwMode="auto">
          <a:xfrm>
            <a:off x="764540" y="1808480"/>
            <a:ext cx="6860540"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a:solidFill>
                  <a:prstClr val="black"/>
                </a:solidFill>
                <a:latin typeface="微软雅黑" panose="020B0503020204020204" charset="-122"/>
                <a:ea typeface="微软雅黑" panose="020B0503020204020204" charset="-122"/>
              </a:rPr>
              <a:t>进程 </a:t>
            </a:r>
            <a:r>
              <a:rPr lang="en-US" altLang="zh-CN" sz="2400">
                <a:solidFill>
                  <a:prstClr val="black"/>
                </a:solidFill>
                <a:latin typeface="微软雅黑" panose="020B0503020204020204" charset="-122"/>
                <a:ea typeface="微软雅黑" panose="020B0503020204020204" charset="-122"/>
              </a:rPr>
              <a:t>= </a:t>
            </a:r>
            <a:r>
              <a:rPr lang="zh-CN" altLang="en-US" sz="2400">
                <a:solidFill>
                  <a:prstClr val="black"/>
                </a:solidFill>
                <a:latin typeface="微软雅黑" panose="020B0503020204020204" charset="-122"/>
                <a:ea typeface="微软雅黑" panose="020B0503020204020204" charset="-122"/>
              </a:rPr>
              <a:t>地址空间 </a:t>
            </a:r>
            <a:r>
              <a:rPr lang="en-US" altLang="zh-CN" sz="2400">
                <a:solidFill>
                  <a:prstClr val="black"/>
                </a:solidFill>
                <a:latin typeface="微软雅黑" panose="020B0503020204020204" charset="-122"/>
                <a:ea typeface="微软雅黑" panose="020B0503020204020204" charset="-122"/>
              </a:rPr>
              <a:t>+ </a:t>
            </a:r>
            <a:r>
              <a:rPr lang="zh-CN" altLang="en-US" sz="2400">
                <a:solidFill>
                  <a:prstClr val="black"/>
                </a:solidFill>
                <a:latin typeface="微软雅黑" panose="020B0503020204020204" charset="-122"/>
                <a:ea typeface="微软雅黑" panose="020B0503020204020204" charset="-122"/>
              </a:rPr>
              <a:t>指令执行序列</a:t>
            </a:r>
            <a:r>
              <a:rPr lang="zh-CN" altLang="en-US" sz="2400">
                <a:solidFill>
                  <a:srgbClr val="FF0000"/>
                </a:solidFill>
                <a:latin typeface="微软雅黑" panose="020B0503020204020204" charset="-122"/>
                <a:ea typeface="微软雅黑" panose="020B0503020204020204" charset="-122"/>
              </a:rPr>
              <a:t> </a:t>
            </a:r>
            <a:endParaRPr lang="zh-CN" altLang="en-US" sz="2400">
              <a:solidFill>
                <a:srgbClr val="FF0000"/>
              </a:solidFill>
              <a:latin typeface="微软雅黑" panose="020B0503020204020204" charset="-122"/>
              <a:ea typeface="微软雅黑" panose="020B0503020204020204" charset="-122"/>
            </a:endParaRPr>
          </a:p>
        </p:txBody>
      </p:sp>
      <p:sp>
        <p:nvSpPr>
          <p:cNvPr id="171014" name="Rectangle 6"/>
          <p:cNvSpPr>
            <a:spLocks noChangeArrowheads="1"/>
          </p:cNvSpPr>
          <p:nvPr/>
        </p:nvSpPr>
        <p:spPr bwMode="auto">
          <a:xfrm>
            <a:off x="762000" y="228600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rPr>
              <a:t>一个地址空间</a:t>
            </a:r>
            <a:r>
              <a:rPr lang="en-US" altLang="zh-CN" sz="2400" dirty="0">
                <a:solidFill>
                  <a:prstClr val="black"/>
                </a:solidFill>
                <a:latin typeface="微软雅黑" panose="020B0503020204020204" charset="-122"/>
                <a:ea typeface="微软雅黑" panose="020B0503020204020204" charset="-122"/>
                <a:sym typeface="Symbol" panose="05050102010706020507" pitchFamily="18" charset="2"/>
              </a:rPr>
              <a:t>+</a:t>
            </a:r>
            <a:r>
              <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rPr>
              <a:t>多个指令执行序列  引出线程</a:t>
            </a:r>
            <a:endPar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5" name="Rectangle 7"/>
          <p:cNvSpPr>
            <a:spLocks noChangeArrowheads="1"/>
          </p:cNvSpPr>
          <p:nvPr/>
        </p:nvSpPr>
        <p:spPr bwMode="auto">
          <a:xfrm>
            <a:off x="762000" y="274320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a:solidFill>
                  <a:prstClr val="black"/>
                </a:solidFill>
                <a:latin typeface="微软雅黑" panose="020B0503020204020204" charset="-122"/>
                <a:ea typeface="微软雅黑" panose="020B0503020204020204" charset="-122"/>
                <a:sym typeface="Symbol" panose="05050102010706020507" pitchFamily="18" charset="2"/>
              </a:rPr>
              <a:t>线程具有并发的优点，却比进程的代价低得多</a:t>
            </a:r>
            <a:endParaRPr lang="zh-CN" altLang="en-US" sz="24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7" name="Rectangle 9"/>
          <p:cNvSpPr>
            <a:spLocks noChangeArrowheads="1"/>
          </p:cNvSpPr>
          <p:nvPr/>
        </p:nvSpPr>
        <p:spPr bwMode="auto">
          <a:xfrm>
            <a:off x="762000" y="325755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en-US" altLang="zh-CN" sz="2400">
                <a:solidFill>
                  <a:prstClr val="black"/>
                </a:solidFill>
                <a:latin typeface="微软雅黑" panose="020B0503020204020204" charset="-122"/>
                <a:ea typeface="微软雅黑" panose="020B0503020204020204" charset="-122"/>
                <a:sym typeface="Symbol" panose="05050102010706020507" pitchFamily="18" charset="2"/>
              </a:rPr>
              <a:t>WebExplorer</a:t>
            </a:r>
            <a:r>
              <a:rPr lang="zh-CN" altLang="en-US" sz="2400">
                <a:solidFill>
                  <a:prstClr val="black"/>
                </a:solidFill>
                <a:latin typeface="微软雅黑" panose="020B0503020204020204" charset="-122"/>
                <a:ea typeface="微软雅黑" panose="020B0503020204020204" charset="-122"/>
                <a:sym typeface="Symbol" panose="05050102010706020507" pitchFamily="18" charset="2"/>
              </a:rPr>
              <a:t>表明线程简单实用  线程怎么实现</a:t>
            </a:r>
            <a:endParaRPr lang="zh-CN" altLang="en-US" sz="24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8" name="Rectangle 10"/>
          <p:cNvSpPr>
            <a:spLocks noChangeArrowheads="1"/>
          </p:cNvSpPr>
          <p:nvPr/>
        </p:nvSpPr>
        <p:spPr bwMode="auto">
          <a:xfrm>
            <a:off x="762000" y="377190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a:solidFill>
                  <a:prstClr val="black"/>
                </a:solidFill>
                <a:latin typeface="微软雅黑" panose="020B0503020204020204" charset="-122"/>
                <a:ea typeface="微软雅黑" panose="020B0503020204020204" charset="-122"/>
                <a:sym typeface="Symbol" panose="05050102010706020507" pitchFamily="18" charset="2"/>
              </a:rPr>
              <a:t>线程在同一地址空间中  线程库可以用户级实现</a:t>
            </a:r>
            <a:endParaRPr lang="zh-CN" altLang="en-US" sz="24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9" name="Rectangle 11"/>
          <p:cNvSpPr>
            <a:spLocks noChangeArrowheads="1"/>
          </p:cNvSpPr>
          <p:nvPr/>
        </p:nvSpPr>
        <p:spPr bwMode="auto">
          <a:xfrm>
            <a:off x="762000" y="428625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a:solidFill>
                  <a:prstClr val="black"/>
                </a:solidFill>
                <a:latin typeface="微软雅黑" panose="020B0503020204020204" charset="-122"/>
                <a:ea typeface="微软雅黑" panose="020B0503020204020204" charset="-122"/>
                <a:sym typeface="Symbol" panose="05050102010706020507" pitchFamily="18" charset="2"/>
              </a:rPr>
              <a:t>用户级线程，核心级线程，两者都有 </a:t>
            </a:r>
            <a:endParaRPr lang="zh-CN" altLang="en-US" sz="24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22" name="Rectangle 14"/>
          <p:cNvSpPr>
            <a:spLocks noChangeArrowheads="1"/>
          </p:cNvSpPr>
          <p:nvPr/>
        </p:nvSpPr>
        <p:spPr bwMode="auto">
          <a:xfrm>
            <a:off x="762000" y="480060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rPr>
              <a:t>各类线程的实现细节，其中上下文切换是核心</a:t>
            </a:r>
            <a:endPar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1013"/>
                                        </p:tgtEl>
                                        <p:attrNameLst>
                                          <p:attrName>style.visibility</p:attrName>
                                        </p:attrNameLst>
                                      </p:cBhvr>
                                      <p:to>
                                        <p:strVal val="visible"/>
                                      </p:to>
                                    </p:set>
                                    <p:animEffect transition="in" filter="dissolve">
                                      <p:cBhvr>
                                        <p:cTn id="7" dur="500"/>
                                        <p:tgtEl>
                                          <p:spTgt spid="1710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1014"/>
                                        </p:tgtEl>
                                        <p:attrNameLst>
                                          <p:attrName>style.visibility</p:attrName>
                                        </p:attrNameLst>
                                      </p:cBhvr>
                                      <p:to>
                                        <p:strVal val="visible"/>
                                      </p:to>
                                    </p:set>
                                    <p:animEffect transition="in" filter="dissolve">
                                      <p:cBhvr>
                                        <p:cTn id="12" dur="500"/>
                                        <p:tgtEl>
                                          <p:spTgt spid="1710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1015"/>
                                        </p:tgtEl>
                                        <p:attrNameLst>
                                          <p:attrName>style.visibility</p:attrName>
                                        </p:attrNameLst>
                                      </p:cBhvr>
                                      <p:to>
                                        <p:strVal val="visible"/>
                                      </p:to>
                                    </p:set>
                                    <p:animEffect transition="in" filter="dissolve">
                                      <p:cBhvr>
                                        <p:cTn id="17" dur="500"/>
                                        <p:tgtEl>
                                          <p:spTgt spid="1710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1017"/>
                                        </p:tgtEl>
                                        <p:attrNameLst>
                                          <p:attrName>style.visibility</p:attrName>
                                        </p:attrNameLst>
                                      </p:cBhvr>
                                      <p:to>
                                        <p:strVal val="visible"/>
                                      </p:to>
                                    </p:set>
                                    <p:animEffect transition="in" filter="dissolve">
                                      <p:cBhvr>
                                        <p:cTn id="22" dur="500"/>
                                        <p:tgtEl>
                                          <p:spTgt spid="1710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1018"/>
                                        </p:tgtEl>
                                        <p:attrNameLst>
                                          <p:attrName>style.visibility</p:attrName>
                                        </p:attrNameLst>
                                      </p:cBhvr>
                                      <p:to>
                                        <p:strVal val="visible"/>
                                      </p:to>
                                    </p:set>
                                    <p:animEffect transition="in" filter="dissolve">
                                      <p:cBhvr>
                                        <p:cTn id="27" dur="500"/>
                                        <p:tgtEl>
                                          <p:spTgt spid="1710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1019"/>
                                        </p:tgtEl>
                                        <p:attrNameLst>
                                          <p:attrName>style.visibility</p:attrName>
                                        </p:attrNameLst>
                                      </p:cBhvr>
                                      <p:to>
                                        <p:strVal val="visible"/>
                                      </p:to>
                                    </p:set>
                                    <p:animEffect transition="in" filter="dissolve">
                                      <p:cBhvr>
                                        <p:cTn id="32" dur="500"/>
                                        <p:tgtEl>
                                          <p:spTgt spid="1710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1022"/>
                                        </p:tgtEl>
                                        <p:attrNameLst>
                                          <p:attrName>style.visibility</p:attrName>
                                        </p:attrNameLst>
                                      </p:cBhvr>
                                      <p:to>
                                        <p:strVal val="visible"/>
                                      </p:to>
                                    </p:set>
                                    <p:animEffect transition="in" filter="dissolve">
                                      <p:cBhvr>
                                        <p:cTn id="37" dur="500"/>
                                        <p:tgtEl>
                                          <p:spTgt spid="171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bldLvl="0" animBg="1"/>
      <p:bldP spid="171014" grpId="0" bldLvl="0" animBg="1"/>
      <p:bldP spid="171015" grpId="0" bldLvl="0" animBg="1"/>
      <p:bldP spid="171017" grpId="0" bldLvl="0" animBg="1"/>
      <p:bldP spid="171018" grpId="0" bldLvl="0" animBg="1"/>
      <p:bldP spid="171019" grpId="0" bldLvl="0" animBg="1"/>
      <p:bldP spid="171022" grpId="0" bldLvl="0" animBg="1"/>
    </p:bld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noRot="1"/>
          </p:cNvSpPr>
          <p:nvPr>
            <p:ph type="title"/>
          </p:nvPr>
        </p:nvSpPr>
        <p:spPr>
          <a:ln/>
        </p:spPr>
        <p:txBody>
          <a:bodyPr vert="horz" wrap="square" lIns="91440" tIns="45720" rIns="91440" bIns="45720" anchor="ctr" anchorCtr="0"/>
          <a:p>
            <a:r>
              <a:rPr lang="zh-CN" altLang="en-US" dirty="0"/>
              <a:t>作业 </a:t>
            </a:r>
            <a:r>
              <a:rPr lang="en-US" altLang="zh-CN" dirty="0"/>
              <a:t>4</a:t>
            </a:r>
            <a:endParaRPr lang="zh-CN" altLang="en-US" dirty="0"/>
          </a:p>
        </p:txBody>
      </p:sp>
      <p:sp>
        <p:nvSpPr>
          <p:cNvPr id="205827" name="Rectangle 3"/>
          <p:cNvSpPr>
            <a:spLocks noGrp="1" noRot="1"/>
          </p:cNvSpPr>
          <p:nvPr>
            <p:ph idx="1"/>
          </p:nvPr>
        </p:nvSpPr>
        <p:spPr>
          <a:ln/>
        </p:spPr>
        <p:txBody>
          <a:bodyPr vert="horz" wrap="square" lIns="91440" tIns="45720" rIns="91440" bIns="45720" anchor="t" anchorCtr="0"/>
          <a:p>
            <a:r>
              <a:rPr dirty="0"/>
              <a:t>1、2、5、6、7、8、11、12、13、14、15、16、17、18、19、22。</a:t>
            </a:r>
            <a:endParaRPr dirty="0"/>
          </a:p>
        </p:txBody>
      </p:sp>
    </p:spTree>
  </p:cSld>
  <p:clrMapOvr>
    <a:masterClrMapping/>
  </p:clrMapOvr>
</p:sld>
</file>

<file path=ppt/tags/tag1.xml><?xml version="1.0" encoding="utf-8"?>
<p:tagLst xmlns:p="http://schemas.openxmlformats.org/presentationml/2006/main">
  <p:tag name="commondata" val="eyJoZGlkIjoiOWJkY2VmZjY5MjJkNjJkODRiYmIxZjc4Mjk2MjJmOWYifQ=="/>
</p:tagLst>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CDESIGNC</Template>
  <TotalTime>0</TotalTime>
  <Words>44593</Words>
  <Application>WPS 演示</Application>
  <PresentationFormat>全屏显示(4:3)</PresentationFormat>
  <Paragraphs>2867</Paragraphs>
  <Slides>269</Slides>
  <Notes>4</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12</vt:i4>
      </vt:variant>
      <vt:variant>
        <vt:lpstr>幻灯片标题</vt:lpstr>
      </vt:variant>
      <vt:variant>
        <vt:i4>269</vt:i4>
      </vt:variant>
    </vt:vector>
  </HeadingPairs>
  <TitlesOfParts>
    <vt:vector size="305" baseType="lpstr">
      <vt:lpstr>Arial</vt:lpstr>
      <vt:lpstr>宋体</vt:lpstr>
      <vt:lpstr>Wingdings</vt:lpstr>
      <vt:lpstr>Wingdings 2</vt:lpstr>
      <vt:lpstr>仿宋_GB2312</vt:lpstr>
      <vt:lpstr>仿宋</vt:lpstr>
      <vt:lpstr>Times New Roman</vt:lpstr>
      <vt:lpstr>Courier New</vt:lpstr>
      <vt:lpstr>Tahoma</vt:lpstr>
      <vt:lpstr>楷体_GB2312</vt:lpstr>
      <vt:lpstr>新宋体</vt:lpstr>
      <vt:lpstr>Gulim</vt:lpstr>
      <vt:lpstr>Malgun Gothic</vt:lpstr>
      <vt:lpstr>Courier New</vt:lpstr>
      <vt:lpstr>微软雅黑</vt:lpstr>
      <vt:lpstr>Arial Unicode MS</vt:lpstr>
      <vt:lpstr>Webdings</vt:lpstr>
      <vt:lpstr>Symbol</vt:lpstr>
      <vt:lpstr>等线</vt:lpstr>
      <vt:lpstr>黑体</vt:lpstr>
      <vt:lpstr>华文楷体</vt:lpstr>
      <vt:lpstr>Arial</vt:lpstr>
      <vt:lpstr>砖雕艺术</vt:lpstr>
      <vt:lpstr>1_砖雕艺术</vt:lpstr>
      <vt:lpstr>Visio.Drawing.4</vt:lpstr>
      <vt:lpstr>MS_ClipArt_Gallery.2</vt:lpstr>
      <vt:lpstr>Visio.Drawing.11</vt:lpstr>
      <vt:lpstr>Visio.Drawing.11</vt:lpstr>
      <vt:lpstr>WangImage.Document</vt:lpstr>
      <vt:lpstr>Visio.Drawing.4</vt:lpstr>
      <vt:lpstr>Visio.Drawing.4</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2.7 线程与线程控制</vt:lpstr>
      <vt:lpstr>2.7 线程与线程控制</vt:lpstr>
      <vt:lpstr>2.7 线程与线程控制</vt:lpstr>
      <vt:lpstr>线程 -- 另一种并发实体 </vt:lpstr>
      <vt:lpstr>进程回顾</vt:lpstr>
      <vt:lpstr>多个执行序列+一个地址空间是否实用?</vt:lpstr>
      <vt:lpstr>创建进程和线程</vt:lpstr>
      <vt:lpstr>2.7 线程与线程控制</vt:lpstr>
      <vt:lpstr>课堂练习</vt:lpstr>
      <vt:lpstr>2.  线程的共享问题</vt:lpstr>
      <vt:lpstr>3 线程的互斥问题</vt:lpstr>
      <vt:lpstr>2.7 线程与线程控制</vt:lpstr>
      <vt:lpstr>2.7 线程与线程控制</vt:lpstr>
      <vt:lpstr>2.7 线程与线程控制</vt:lpstr>
      <vt:lpstr>2.7 线程与线程控制</vt:lpstr>
      <vt:lpstr>2.7 线程与线程控制</vt:lpstr>
      <vt:lpstr>2.7 线程与线程控制</vt:lpstr>
      <vt:lpstr>1. 线程的组成</vt:lpstr>
      <vt:lpstr>1. 线程的组成（续） </vt:lpstr>
      <vt:lpstr>线程ID</vt:lpstr>
      <vt:lpstr>获取线程ID</vt:lpstr>
      <vt:lpstr>比较线程ID</vt:lpstr>
      <vt:lpstr>pthread_equal函数</vt:lpstr>
      <vt:lpstr>PowerPoint 演示文稿</vt:lpstr>
      <vt:lpstr>PowerPoint 演示文稿</vt:lpstr>
      <vt:lpstr>进程/线程控制操作对比 </vt:lpstr>
      <vt:lpstr>3. 线程的创建和终止</vt:lpstr>
      <vt:lpstr>Linux下多线程编程（C语言）</vt:lpstr>
      <vt:lpstr>线程实现浏览器</vt:lpstr>
      <vt:lpstr>创建子线程代码示例</vt:lpstr>
      <vt:lpstr>线程的终止</vt:lpstr>
      <vt:lpstr>父线程等待子线程终止</vt:lpstr>
      <vt:lpstr>创建并等待子线程代码示例</vt:lpstr>
      <vt:lpstr>取消线程</vt:lpstr>
      <vt:lpstr>线程属性</vt:lpstr>
      <vt:lpstr>PowerPoint 演示文稿</vt:lpstr>
      <vt:lpstr>初始化和销毁</vt:lpstr>
      <vt:lpstr>线程属性操作示例代码</vt:lpstr>
      <vt:lpstr>初始化线程属性对象 </vt:lpstr>
      <vt:lpstr>获取线程栈属性</vt:lpstr>
      <vt:lpstr>设置线程栈属性</vt:lpstr>
      <vt:lpstr>2.7 线程与线程控制</vt:lpstr>
      <vt:lpstr>2.7.5 线程间的同步和通信</vt:lpstr>
      <vt:lpstr>PowerPoint 演示文稿</vt:lpstr>
      <vt:lpstr>关锁的两种方式</vt:lpstr>
      <vt:lpstr>Linux 中的线程互斥锁</vt:lpstr>
      <vt:lpstr>Linux 中的线程互斥锁 — 生产者消费者</vt:lpstr>
      <vt:lpstr>PowerPoint 演示文稿</vt:lpstr>
      <vt:lpstr>对资源申请操作的描述</vt:lpstr>
      <vt:lpstr>对资源释放操作的描述：</vt:lpstr>
      <vt:lpstr>PowerPoint 演示文稿</vt:lpstr>
      <vt:lpstr>PowerPoint 演示文稿</vt:lpstr>
      <vt:lpstr>2.7.6  线程的实现方式</vt:lpstr>
      <vt:lpstr>PowerPoint 演示文稿</vt:lpstr>
      <vt:lpstr>用户级线程的工作模型</vt:lpstr>
      <vt:lpstr>用户级线程的优点和缺点</vt:lpstr>
      <vt:lpstr>PowerPoint 演示文稿</vt:lpstr>
      <vt:lpstr>内核支持线程的工作模型</vt:lpstr>
      <vt:lpstr>内核支持线程的主要优点</vt:lpstr>
      <vt:lpstr>和用户级相比，内核支持线程有什么不同?</vt:lpstr>
      <vt:lpstr>课堂思考</vt:lpstr>
      <vt:lpstr>PowerPoint 演示文稿</vt:lpstr>
      <vt:lpstr>实现方案的对比</vt:lpstr>
      <vt:lpstr>采用线程的优点: </vt:lpstr>
      <vt:lpstr>线程总结</vt:lpstr>
      <vt:lpstr>感谢观看！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2.7.6  线程的实现方式</vt:lpstr>
      <vt:lpstr>PowerPoint 演示文稿</vt:lpstr>
      <vt:lpstr>内核支持线程的工作模型</vt:lpstr>
      <vt:lpstr>PowerPoint 演示文稿</vt:lpstr>
      <vt:lpstr>PowerPoint 演示文稿</vt:lpstr>
      <vt:lpstr>PowerPoint 演示文稿</vt:lpstr>
      <vt:lpstr>PowerPoint 演示文稿</vt:lpstr>
      <vt:lpstr>用户级线程的工作模型</vt:lpstr>
      <vt:lpstr>PowerPoint 演示文稿</vt:lpstr>
      <vt:lpstr>用户级线程的优点和缺点</vt:lpstr>
      <vt:lpstr>和用户级相比，内核支持线程有什么不同?</vt:lpstr>
      <vt:lpstr>PowerPoint 演示文稿</vt:lpstr>
      <vt:lpstr>实现方案的对比</vt:lpstr>
      <vt:lpstr>采用线程的优点: </vt:lpstr>
      <vt:lpstr>线程总结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xieying</dc:creator>
  <cp:lastModifiedBy>紫霞</cp:lastModifiedBy>
  <cp:revision>505</cp:revision>
  <dcterms:created xsi:type="dcterms:W3CDTF">2010-02-05T03:22:53Z</dcterms:created>
  <dcterms:modified xsi:type="dcterms:W3CDTF">2024-03-17T15:23:43Z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72688D218B304FC681F80856039F1FE3_13</vt:lpwstr>
  </property>
  <property fmtid="{D5CDD505-2E9C-101B-9397-08002B2CF9AE}" pid="4" name="KSOProductBuildVer">
    <vt:lpwstr>2052-12.1.0.16388</vt:lpwstr>
  </property>
</Properties>
</file>