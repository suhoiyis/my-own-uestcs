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71"/>
  </p:notesMasterIdLst>
  <p:sldIdLst>
    <p:sldId id="256" r:id="rId3"/>
    <p:sldId id="541" r:id="rId4"/>
    <p:sldId id="542" r:id="rId5"/>
    <p:sldId id="543" r:id="rId6"/>
    <p:sldId id="544" r:id="rId7"/>
    <p:sldId id="545" r:id="rId8"/>
    <p:sldId id="546" r:id="rId9"/>
    <p:sldId id="547" r:id="rId10"/>
    <p:sldId id="258" r:id="rId11"/>
    <p:sldId id="383" r:id="rId12"/>
    <p:sldId id="463" r:id="rId13"/>
    <p:sldId id="464" r:id="rId14"/>
    <p:sldId id="465" r:id="rId15"/>
    <p:sldId id="466" r:id="rId16"/>
    <p:sldId id="467" r:id="rId17"/>
    <p:sldId id="468" r:id="rId18"/>
    <p:sldId id="469" r:id="rId19"/>
    <p:sldId id="470" r:id="rId20"/>
    <p:sldId id="471" r:id="rId21"/>
    <p:sldId id="345" r:id="rId22"/>
    <p:sldId id="384" r:id="rId23"/>
    <p:sldId id="329" r:id="rId24"/>
    <p:sldId id="262" r:id="rId25"/>
    <p:sldId id="473" r:id="rId26"/>
    <p:sldId id="472" r:id="rId27"/>
    <p:sldId id="390" r:id="rId28"/>
    <p:sldId id="392" r:id="rId29"/>
    <p:sldId id="391" r:id="rId30"/>
    <p:sldId id="342" r:id="rId31"/>
    <p:sldId id="343" r:id="rId32"/>
    <p:sldId id="404" r:id="rId33"/>
    <p:sldId id="351" r:id="rId34"/>
    <p:sldId id="402" r:id="rId35"/>
    <p:sldId id="372" r:id="rId36"/>
    <p:sldId id="385" r:id="rId37"/>
    <p:sldId id="386" r:id="rId38"/>
    <p:sldId id="387" r:id="rId39"/>
    <p:sldId id="374" r:id="rId40"/>
    <p:sldId id="375" r:id="rId41"/>
    <p:sldId id="403" r:id="rId42"/>
    <p:sldId id="355" r:id="rId43"/>
    <p:sldId id="356" r:id="rId44"/>
    <p:sldId id="357" r:id="rId45"/>
    <p:sldId id="376" r:id="rId46"/>
    <p:sldId id="405" r:id="rId47"/>
    <p:sldId id="406" r:id="rId48"/>
    <p:sldId id="407" r:id="rId49"/>
    <p:sldId id="409" r:id="rId50"/>
    <p:sldId id="410" r:id="rId51"/>
    <p:sldId id="411" r:id="rId52"/>
    <p:sldId id="412" r:id="rId53"/>
    <p:sldId id="413" r:id="rId54"/>
    <p:sldId id="394" r:id="rId55"/>
    <p:sldId id="315" r:id="rId56"/>
    <p:sldId id="316" r:id="rId57"/>
    <p:sldId id="317" r:id="rId58"/>
    <p:sldId id="318" r:id="rId59"/>
    <p:sldId id="377" r:id="rId60"/>
    <p:sldId id="319" r:id="rId61"/>
    <p:sldId id="320" r:id="rId62"/>
    <p:sldId id="378" r:id="rId63"/>
    <p:sldId id="389" r:id="rId64"/>
    <p:sldId id="379" r:id="rId65"/>
    <p:sldId id="380" r:id="rId66"/>
    <p:sldId id="381" r:id="rId67"/>
    <p:sldId id="388" r:id="rId68"/>
    <p:sldId id="325" r:id="rId69"/>
    <p:sldId id="382" r:id="rId70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66FF"/>
    <a:srgbClr val="140D71"/>
    <a:srgbClr val="FF9900"/>
    <a:srgbClr val="1A1C64"/>
    <a:srgbClr val="111C6D"/>
    <a:srgbClr val="1A0B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45"/>
    <p:restoredTop sz="94736"/>
  </p:normalViewPr>
  <p:slideViewPr>
    <p:cSldViewPr showGuides="1">
      <p:cViewPr varScale="1">
        <p:scale>
          <a:sx n="95" d="100"/>
          <a:sy n="95" d="100"/>
        </p:scale>
        <p:origin x="888" y="90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6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828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  <a:t>‹#›</a:t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defRPr/>
            </a:pPr>
            <a:fld id="{58040A30-7749-4D64-A411-0CC02E8A7264}" type="slidenum">
              <a:rPr lang="en-US" altLang="zh-CN"/>
              <a:t>2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9D4D7A9-5C4F-406F-92EB-DD9287FD994D}" type="slidenum">
              <a:rPr lang="en-US" altLang="zh-CN"/>
              <a:t>3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E921512-D31F-4699-A2B8-7012D214FE94}" type="slidenum">
              <a:rPr lang="en-US" altLang="zh-CN"/>
              <a:t>4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C6394D2-F4E9-4C84-8DC2-7BA9BDD36129}" type="slidenum">
              <a:rPr lang="en-US" altLang="zh-CN"/>
              <a:t>7</a:t>
            </a:fld>
            <a:endParaRPr lang="en-US" altLang="zh-CN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kumimoji="1" lang="zh-CN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 txBox="1">
            <a:spLocks noGrp="1" noChangeArrowheads="1"/>
          </p:cNvSpPr>
          <p:nvPr>
            <p:ph type="sldNum" sz="quarter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b" anchorCtr="0" compatLnSpc="1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8D60FC-8920-8F49-AE5A-0B56305F184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b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9E615C-BE26-AB4D-9F9F-C0A6E3F15D9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b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7F3DD8-2A36-A64A-BB94-5B8E5C66F9C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b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D2EF06-EE08-E04D-8338-F41F5D87B3C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b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FA090D-60FE-F74D-A769-F73EF6FB703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b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46D993-4D4D-0644-94D9-353A5F1627D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b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6F2E09-D17A-C84C-85B1-5034B1F4D32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b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8619D6-799A-9A46-909F-BA8E76563F2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b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7DEE0F-A537-7E4A-BD5E-D4C68DE9A21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 noChangeArrowheads="1"/>
          </p:cNvSpPr>
          <p:nvPr>
            <p:ph type="sldNum" sz="quarter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b" anchorCtr="0" compatLnSpc="1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2732C7-144D-5B44-B2F0-D44BB769D1E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 noChangeArrowheads="1"/>
          </p:cNvSpPr>
          <p:nvPr>
            <p:ph type="sldNum" sz="quarter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b" anchorCtr="0" compatLnSpc="1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E33E67-3EAE-0441-948D-7B1BE97CE4E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_GB2312" charset="0"/>
              <a:ea typeface="仿宋_GB2312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/>
          <a:p>
            <a:pPr algn="r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gradFill rotWithShape="1">
          <a:gsLst>
            <a:gs pos="0">
              <a:srgbClr val="FFFFFF">
                <a:alpha val="100000"/>
              </a:srgbClr>
            </a:gs>
            <a:gs pos="55000">
              <a:srgbClr val="F3F3F3">
                <a:alpha val="100000"/>
              </a:srgbClr>
            </a:gs>
            <a:gs pos="100000">
              <a:srgbClr val="D2FFFF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7"/>
          <p:cNvPicPr>
            <a:picLocks noChangeAspect="1"/>
          </p:cNvPicPr>
          <p:nvPr/>
        </p:nvPicPr>
        <p:blipFill>
          <a:blip r:embed="rId2">
            <a:lum bright="12000" contrast="40000"/>
          </a:blip>
          <a:stretch>
            <a:fillRect/>
          </a:stretch>
        </p:blipFill>
        <p:spPr>
          <a:xfrm>
            <a:off x="6667500" y="4914900"/>
            <a:ext cx="2476500" cy="194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7" name="图片 8"/>
          <p:cNvPicPr>
            <a:picLocks noChangeAspect="1"/>
          </p:cNvPicPr>
          <p:nvPr/>
        </p:nvPicPr>
        <p:blipFill>
          <a:blip r:embed="rId3">
            <a:lum bright="34000" contrast="40000"/>
          </a:blip>
          <a:stretch>
            <a:fillRect/>
          </a:stretch>
        </p:blipFill>
        <p:spPr>
          <a:xfrm>
            <a:off x="0" y="6419850"/>
            <a:ext cx="9144000" cy="438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6172200" y="6324600"/>
            <a:ext cx="26670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Line 20"/>
          <p:cNvSpPr>
            <a:spLocks noChangeShapeType="1"/>
          </p:cNvSpPr>
          <p:nvPr/>
        </p:nvSpPr>
        <p:spPr bwMode="auto">
          <a:xfrm>
            <a:off x="457200" y="15240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3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/>
          <a:p>
            <a:pPr algn="r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53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3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3" name="Text Box 21"/>
          <p:cNvSpPr txBox="1">
            <a:spLocks noChangeArrowheads="1"/>
          </p:cNvSpPr>
          <p:nvPr/>
        </p:nvSpPr>
        <p:spPr bwMode="auto">
          <a:xfrm>
            <a:off x="6172200" y="6324600"/>
            <a:ext cx="2667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Line 24"/>
          <p:cNvSpPr>
            <a:spLocks noChangeShapeType="1"/>
          </p:cNvSpPr>
          <p:nvPr/>
        </p:nvSpPr>
        <p:spPr bwMode="auto">
          <a:xfrm>
            <a:off x="457200" y="15240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 fontAlgn="base"/>
            <a:r>
              <a:rPr lang="zh-CN" altLang="en-US" strike="noStrike" noProof="0"/>
              <a:t>单击此处编辑母版标题样式</a:t>
            </a:r>
          </a:p>
        </p:txBody>
      </p:sp>
      <p:sp>
        <p:nvSpPr>
          <p:cNvPr id="942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 fontAlgn="base"/>
            <a:r>
              <a:rPr lang="zh-CN" altLang="en-US" strike="noStrike" noProof="0"/>
              <a:t>单击此处编辑母版副标题样式</a:t>
            </a:r>
          </a:p>
        </p:txBody>
      </p:sp>
      <p:sp>
        <p:nvSpPr>
          <p:cNvPr id="35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5C0AC9-4C01-4210-82C4-8EA02FB05D71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2025/2/26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D17C39-4AAE-415D-BA32-4F1067A580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2025/2/26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D17C39-4AAE-415D-BA32-4F1067A580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2025/2/26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D17C39-4AAE-415D-BA32-4F1067A580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2025/2/26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D17C39-4AAE-415D-BA32-4F1067A580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2025/2/26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D17C39-4AAE-415D-BA32-4F1067A580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2025/2/26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D17C39-4AAE-415D-BA32-4F1067A580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2025/2/26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D17C39-4AAE-415D-BA32-4F1067A580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2025/2/26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D17C39-4AAE-415D-BA32-4F1067A580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2025/2/26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D17C39-4AAE-415D-BA32-4F1067A580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2025/2/26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D17C39-4AAE-415D-BA32-4F1067A580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2025/2/26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338F8D-CC47-4A46-A4FC-C54C56A49C7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524328" y="6444044"/>
            <a:ext cx="12234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电子科技大学</a:t>
            </a:r>
          </a:p>
        </p:txBody>
      </p:sp>
      <p:pic>
        <p:nvPicPr>
          <p:cNvPr id="8" name="Picture 9" descr="徽记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39483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HAB0000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483" y="911864"/>
            <a:ext cx="7459394" cy="173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294036"/>
            <a:ext cx="270364" cy="5563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55000">
              <a:srgbClr val="F3F3F3">
                <a:alpha val="100000"/>
              </a:srgbClr>
            </a:gs>
            <a:gs pos="100000">
              <a:srgbClr val="D2FFFF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Rectangle 2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 2" pitchFamily="18" charset="2"/>
        <a:buChar char="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0000"/>
        <a:buFont typeface="Wingdings 2" pitchFamily="18" charset="2"/>
        <a:buChar char="³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7B9B57"/>
        </a:buClr>
        <a:buSzPct val="60000"/>
        <a:buFont typeface="Wingdings 2" pitchFamily="18" charset="2"/>
        <a:buChar char="®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B7396"/>
        </a:buClr>
        <a:buSzPct val="45000"/>
        <a:buFont typeface="Wingdings 2" pitchFamily="18" charset="2"/>
        <a:buChar char="¯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E89A53"/>
        </a:buClr>
        <a:buFont typeface="Wingdings 2" pitchFamily="18" charset="2"/>
        <a:buChar char="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4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8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0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1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Rectangle 15"/>
          <p:cNvSpPr>
            <a:spLocks noGrp="1"/>
          </p:cNvSpPr>
          <p:nvPr>
            <p:ph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932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D17C39-4AAE-415D-BA32-4F1067A580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2025/2/26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Text Box 17"/>
          <p:cNvSpPr txBox="1">
            <a:spLocks noChangeArrowheads="1"/>
          </p:cNvSpPr>
          <p:nvPr/>
        </p:nvSpPr>
        <p:spPr bwMode="auto">
          <a:xfrm>
            <a:off x="6172200" y="6324600"/>
            <a:ext cx="2667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Line 20"/>
          <p:cNvSpPr>
            <a:spLocks noChangeShapeType="1"/>
          </p:cNvSpPr>
          <p:nvPr/>
        </p:nvSpPr>
        <p:spPr bwMode="auto">
          <a:xfrm>
            <a:off x="457200" y="15240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5.w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7.w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ctrTitle" idx="4294967295"/>
          </p:nvPr>
        </p:nvSpPr>
        <p:spPr>
          <a:xfrm>
            <a:off x="1520825" y="1828800"/>
            <a:ext cx="7623175" cy="1752600"/>
          </a:xfrm>
        </p:spPr>
        <p:txBody>
          <a:bodyPr vert="horz" wrap="square" lIns="91440" tIns="45720" rIns="91440" bIns="45720" anchor="b"/>
          <a:lstStyle>
            <a:lvl1pPr lvl="0">
              <a:buClrTx/>
              <a:buSzTx/>
              <a:buFontTx/>
              <a:defRPr/>
            </a:lvl1pPr>
          </a:lstStyle>
          <a:p>
            <a:pPr lvl="0" eaLnBrk="1" hangingPunct="1"/>
            <a:r>
              <a:rPr lang="en-US" altLang="zh-CN" sz="6800" dirty="0"/>
              <a:t>  </a:t>
            </a:r>
            <a:r>
              <a:rPr lang="zh-CN" altLang="en-US" sz="6800" dirty="0"/>
              <a:t>操作系统基础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subTitle" idx="4294967295"/>
          </p:nvPr>
        </p:nvSpPr>
        <p:spPr>
          <a:xfrm>
            <a:off x="1883410" y="4211320"/>
            <a:ext cx="6240145" cy="1739900"/>
          </a:xfrm>
        </p:spPr>
        <p:txBody>
          <a:bodyPr vert="horz" wrap="square" lIns="91440" tIns="45720" rIns="91440" bIns="45720" anchor="t"/>
          <a:lstStyle>
            <a:lvl1pPr marL="0" lvl="0" indent="0" algn="ctr">
              <a:buClr>
                <a:schemeClr val="folHlink"/>
              </a:buClr>
              <a:buSzPct val="85000"/>
              <a:buFont typeface="Wingdings 2" pitchFamily="18" charset="2"/>
              <a:buNone/>
              <a:defRPr/>
            </a:lvl1pPr>
            <a:lvl2pPr marL="457200" lvl="1" indent="0" algn="ctr">
              <a:buClr>
                <a:schemeClr val="hlink"/>
              </a:buClr>
              <a:buSzPct val="85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folHlink"/>
              </a:buClr>
              <a:buSzPct val="90000"/>
              <a:buFont typeface="Wingdings 2" pitchFamily="18" charset="2"/>
              <a:buNone/>
              <a:defRPr/>
            </a:lvl3pPr>
            <a:lvl4pPr marL="1371600" lvl="3" indent="0" algn="ctr">
              <a:buClr>
                <a:schemeClr val="hlink"/>
              </a:buClr>
              <a:buSzPct val="90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folHlink"/>
              </a:buClr>
              <a:buSzPct val="90000"/>
              <a:buFont typeface="Wingdings 2" pitchFamily="18" charset="2"/>
              <a:buNone/>
              <a:defRPr/>
            </a:lvl5pPr>
          </a:lstStyle>
          <a:p>
            <a:pPr lvl="0" algn="l"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chemeClr val="tx1"/>
                </a:solidFill>
              </a:rPr>
              <a:t>电子科技大学  信息与软件工程学院 </a:t>
            </a:r>
          </a:p>
          <a:p>
            <a:pPr lvl="0" algn="l"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chemeClr val="tx1"/>
                </a:solidFill>
              </a:rPr>
              <a:t>               杨霞</a:t>
            </a:r>
          </a:p>
          <a:p>
            <a:pPr lvl="0" algn="l" eaLnBrk="1" hangingPunct="1">
              <a:lnSpc>
                <a:spcPct val="90000"/>
              </a:lnSpc>
            </a:pPr>
            <a:endParaRPr lang="en-US" altLang="zh-CN" sz="2800" b="1" dirty="0">
              <a:solidFill>
                <a:schemeClr val="tx1"/>
              </a:solidFill>
            </a:endParaRPr>
          </a:p>
          <a:p>
            <a:pPr lvl="0" algn="l"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chemeClr val="tx1"/>
                </a:solidFill>
              </a:rPr>
              <a:t>Email:xyang@uestc.edu.cn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057400"/>
            <a:ext cx="7200900" cy="272175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操作系统课程是计算机教育的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必修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内容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计算机专业的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核心课程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计算机技术开发的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理论基础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计算机相关专业的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考研科目</a:t>
            </a:r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411288" y="266700"/>
            <a:ext cx="7732712" cy="630238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b="1" dirty="0">
                <a:solidFill>
                  <a:srgbClr val="4A66AC">
                    <a:lumMod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课程介绍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70000"/>
            <a:ext cx="8610600" cy="5031740"/>
          </a:xfrm>
        </p:spPr>
        <p:txBody>
          <a:bodyPr/>
          <a:lstStyle/>
          <a:p>
            <a:pPr algn="just">
              <a:lnSpc>
                <a:spcPct val="110000"/>
              </a:lnSpc>
              <a:spcBef>
                <a:spcPts val="150"/>
              </a:spcBef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C01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：要求学生从系统级上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掌握分析和设计计算机操作系统的基本思路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，对内核、进程、线程等核心概念具有系统级的认识与理解。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10000"/>
              </a:lnSpc>
              <a:spcBef>
                <a:spcPts val="150"/>
              </a:spcBef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C02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：要求学生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理解操作系统的设计原理、框架、目标、各部分的工作原理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，能够从系统级上应用内核、进程、线程等核心概念对操作系统进行设计并改进等。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10000"/>
              </a:lnSpc>
              <a:spcBef>
                <a:spcPts val="150"/>
              </a:spcBef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C03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：要求学生能够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理解各类操作系统中的经典问题和典型应用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并搭建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Linux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环境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Centos 6.0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，开展相应的实验，实现这些经典问题及应用。</a:t>
            </a:r>
          </a:p>
          <a:p>
            <a:pPr algn="just">
              <a:lnSpc>
                <a:spcPct val="110000"/>
              </a:lnSpc>
              <a:spcBef>
                <a:spcPts val="150"/>
              </a:spcBef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C04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：要求学生理解计算机操作系统的关键功能，并搭建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Linux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环境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Centos 6.0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，开展相应的实验，实现这些关键功能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培养系统能力和解决复杂工程问题的能力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431925" y="293688"/>
            <a:ext cx="7712075" cy="606425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b="1" dirty="0">
                <a:solidFill>
                  <a:srgbClr val="4A66AC">
                    <a:lumMod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课程目标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828800"/>
            <a:ext cx="8382000" cy="5029200"/>
          </a:xfrm>
        </p:spPr>
        <p:txBody>
          <a:bodyPr/>
          <a:lstStyle/>
          <a:p>
            <a:pPr algn="just">
              <a:lnSpc>
                <a:spcPct val="120000"/>
              </a:lnSpc>
              <a:spcBef>
                <a:spcPts val="1275"/>
              </a:spcBef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GR1.3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：理解系统的概念及其在软件工程领域的体现，能对复杂软件工程问题的解决方案进行分析，并尝试改进 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20000"/>
              </a:lnSpc>
              <a:spcBef>
                <a:spcPts val="1275"/>
              </a:spcBef>
            </a:pP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20000"/>
              </a:lnSpc>
              <a:spcBef>
                <a:spcPts val="1275"/>
              </a:spcBef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GR4.1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：能够采用科学的方法对复杂工程问题中的关键环节，设计相应的实验方案，搭建实验环境，开展实验 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411288" y="292100"/>
            <a:ext cx="7732712" cy="608013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b="1" dirty="0">
                <a:solidFill>
                  <a:srgbClr val="4A66AC">
                    <a:lumMod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课程指标点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2C875-5C4D-B342-8208-EA1FF54CF161}" type="slidenum">
              <a:rPr kumimoji="1" lang="zh-CN" altLang="en-US" smtClean="0"/>
              <a:t>5</a:t>
            </a:fld>
            <a:endParaRPr kumimoji="1"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257300" y="-603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zh-CN" altLang="en-US" sz="3200" b="1" dirty="0">
                <a:solidFill>
                  <a:srgbClr val="4A66AC">
                    <a:lumMod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课程介绍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998" y="1265238"/>
            <a:ext cx="4371123" cy="1835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980635" y="3163896"/>
            <a:ext cx="2459316" cy="2222720"/>
            <a:chOff x="980635" y="3163896"/>
            <a:chExt cx="2459316" cy="2222720"/>
          </a:xfrm>
        </p:grpSpPr>
        <p:pic>
          <p:nvPicPr>
            <p:cNvPr id="8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000"/>
            <a:stretch>
              <a:fillRect/>
            </a:stretch>
          </p:blipFill>
          <p:spPr bwMode="auto">
            <a:xfrm>
              <a:off x="2646049" y="3163896"/>
              <a:ext cx="793902" cy="2222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0" name="圆角矩形 9"/>
            <p:cNvSpPr/>
            <p:nvPr/>
          </p:nvSpPr>
          <p:spPr>
            <a:xfrm>
              <a:off x="980635" y="3180975"/>
              <a:ext cx="1648874" cy="1410875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400" b="1" dirty="0">
                  <a:solidFill>
                    <a:srgbClr val="00002E"/>
                  </a:solidFill>
                  <a:latin typeface="微软雅黑" panose="020B0503020204020204" charset="-122"/>
                  <a:ea typeface="微软雅黑" panose="020B0503020204020204" charset="-122"/>
                </a:rPr>
                <a:t>使用操作系统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456491" y="3054863"/>
            <a:ext cx="5268409" cy="2970107"/>
            <a:chOff x="3456491" y="3054863"/>
            <a:chExt cx="5268409" cy="2970107"/>
          </a:xfrm>
        </p:grpSpPr>
        <p:pic>
          <p:nvPicPr>
            <p:cNvPr id="9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634"/>
            <a:stretch>
              <a:fillRect/>
            </a:stretch>
          </p:blipFill>
          <p:spPr bwMode="auto">
            <a:xfrm>
              <a:off x="3456491" y="3180974"/>
              <a:ext cx="928764" cy="2595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1" name="圆角矩形 10"/>
            <p:cNvSpPr/>
            <p:nvPr/>
          </p:nvSpPr>
          <p:spPr>
            <a:xfrm>
              <a:off x="4385255" y="3054863"/>
              <a:ext cx="4339645" cy="2970107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buFont typeface="Wingdings" panose="05000000000000000000" pitchFamily="2" charset="2"/>
                <a:buChar char="l"/>
              </a:pPr>
              <a:r>
                <a:rPr kumimoji="1" lang="zh-CN" altLang="en-US" sz="2400" b="1" dirty="0">
                  <a:solidFill>
                    <a:srgbClr val="00002E"/>
                  </a:solidFill>
                  <a:latin typeface="微软雅黑" panose="020B0503020204020204" charset="-122"/>
                  <a:ea typeface="微软雅黑" panose="020B0503020204020204" charset="-122"/>
                </a:rPr>
                <a:t>理解操作系统如何工作</a:t>
              </a:r>
              <a:endParaRPr kumimoji="1" lang="en-US" altLang="zh-CN" sz="2400" b="1" dirty="0">
                <a:solidFill>
                  <a:srgbClr val="00002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10000"/>
                </a:lnSpc>
                <a:buFont typeface="Wingdings" panose="05000000000000000000" pitchFamily="2" charset="2"/>
                <a:buChar char="l"/>
              </a:pPr>
              <a:r>
                <a:rPr kumimoji="1" lang="en-US" altLang="zh-CN" sz="2400" b="1" dirty="0">
                  <a:solidFill>
                    <a:srgbClr val="00002E"/>
                  </a:solidFill>
                  <a:latin typeface="微软雅黑" panose="020B0503020204020204" charset="-122"/>
                  <a:ea typeface="微软雅黑" panose="020B0503020204020204" charset="-122"/>
                </a:rPr>
                <a:t>OS</a:t>
              </a:r>
              <a:r>
                <a:rPr kumimoji="1" lang="zh-CN" altLang="en-US" sz="2400" b="1" dirty="0">
                  <a:solidFill>
                    <a:srgbClr val="00002E"/>
                  </a:solidFill>
                  <a:latin typeface="微软雅黑" panose="020B0503020204020204" charset="-122"/>
                  <a:ea typeface="微软雅黑" panose="020B0503020204020204" charset="-122"/>
                </a:rPr>
                <a:t>的工作方式</a:t>
              </a:r>
              <a:endParaRPr kumimoji="1" lang="en-US" altLang="zh-CN" sz="2400" b="1" dirty="0">
                <a:solidFill>
                  <a:srgbClr val="00002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10000"/>
                </a:lnSpc>
                <a:buFont typeface="Wingdings" panose="05000000000000000000" pitchFamily="2" charset="2"/>
                <a:buChar char="l"/>
              </a:pPr>
              <a:r>
                <a:rPr kumimoji="1" lang="en-US" altLang="zh-CN" sz="2400" b="1" dirty="0">
                  <a:solidFill>
                    <a:srgbClr val="00002E"/>
                  </a:solidFill>
                  <a:latin typeface="微软雅黑" panose="020B0503020204020204" charset="-122"/>
                  <a:ea typeface="微软雅黑" panose="020B0503020204020204" charset="-122"/>
                </a:rPr>
                <a:t>OS</a:t>
              </a:r>
              <a:r>
                <a:rPr kumimoji="1" lang="zh-CN" altLang="en-US" sz="2400" b="1" dirty="0">
                  <a:solidFill>
                    <a:srgbClr val="00002E"/>
                  </a:solidFill>
                  <a:latin typeface="微软雅黑" panose="020B0503020204020204" charset="-122"/>
                  <a:ea typeface="微软雅黑" panose="020B0503020204020204" charset="-122"/>
                </a:rPr>
                <a:t>的内部结构与数据结构</a:t>
              </a:r>
              <a:endParaRPr kumimoji="1" lang="en-US" altLang="zh-CN" sz="2400" b="1" dirty="0">
                <a:solidFill>
                  <a:srgbClr val="00002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10000"/>
                </a:lnSpc>
                <a:buFont typeface="Wingdings" panose="05000000000000000000" pitchFamily="2" charset="2"/>
                <a:buChar char="l"/>
              </a:pPr>
              <a:r>
                <a:rPr kumimoji="1" lang="zh-CN" altLang="en-US" sz="2400" b="1" dirty="0">
                  <a:solidFill>
                    <a:srgbClr val="00002E"/>
                  </a:solidFill>
                  <a:latin typeface="微软雅黑" panose="020B0503020204020204" charset="-122"/>
                  <a:ea typeface="微软雅黑" panose="020B0503020204020204" charset="-122"/>
                </a:rPr>
                <a:t>设计</a:t>
              </a:r>
              <a:r>
                <a:rPr kumimoji="1" lang="en-US" altLang="zh-CN" sz="2400" b="1" dirty="0">
                  <a:solidFill>
                    <a:srgbClr val="00002E"/>
                  </a:solidFill>
                  <a:latin typeface="微软雅黑" panose="020B0503020204020204" charset="-122"/>
                  <a:ea typeface="微软雅黑" panose="020B0503020204020204" charset="-122"/>
                </a:rPr>
                <a:t>OS</a:t>
              </a:r>
              <a:r>
                <a:rPr kumimoji="1" lang="zh-CN" altLang="en-US" sz="2400" b="1" dirty="0">
                  <a:solidFill>
                    <a:srgbClr val="00002E"/>
                  </a:solidFill>
                  <a:latin typeface="微软雅黑" panose="020B0503020204020204" charset="-122"/>
                  <a:ea typeface="微软雅黑" panose="020B0503020204020204" charset="-122"/>
                </a:rPr>
                <a:t>过程中的问题、解决方案和折中权衡</a:t>
              </a:r>
              <a:endParaRPr kumimoji="1" lang="en-US" altLang="zh-CN" sz="2400" b="1" dirty="0">
                <a:solidFill>
                  <a:srgbClr val="00002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10000"/>
                </a:lnSpc>
                <a:buFont typeface="Wingdings" panose="05000000000000000000" pitchFamily="2" charset="2"/>
                <a:buChar char="l"/>
              </a:pPr>
              <a:r>
                <a:rPr kumimoji="1" lang="zh-CN" altLang="en-US" sz="2400" b="1" dirty="0">
                  <a:solidFill>
                    <a:srgbClr val="00002E"/>
                  </a:solidFill>
                  <a:latin typeface="微软雅黑" panose="020B0503020204020204" charset="-122"/>
                  <a:ea typeface="微软雅黑" panose="020B0503020204020204" charset="-122"/>
                </a:rPr>
                <a:t>操作系统中的典型技术和应用</a:t>
              </a:r>
              <a:endParaRPr kumimoji="1" lang="zh-CN" altLang="en-US" sz="2800" b="1" dirty="0">
                <a:solidFill>
                  <a:srgbClr val="00002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>
          <a:xfrm>
            <a:off x="1071522" y="1727200"/>
            <a:ext cx="2878178" cy="435554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spcBef>
                <a:spcPts val="1275"/>
              </a:spcBef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理论和综合应用</a:t>
            </a:r>
          </a:p>
          <a:p>
            <a:pPr marL="0" lvl="1" indent="0" algn="just">
              <a:lnSpc>
                <a:spcPct val="120000"/>
              </a:lnSpc>
              <a:spcBef>
                <a:spcPts val="1275"/>
              </a:spcBef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基础课程</a:t>
            </a:r>
          </a:p>
          <a:p>
            <a:pPr marL="0" lvl="1" indent="0" algn="just">
              <a:lnSpc>
                <a:spcPct val="120000"/>
              </a:lnSpc>
              <a:spcBef>
                <a:spcPts val="1275"/>
              </a:spcBef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考研课程</a:t>
            </a:r>
          </a:p>
          <a:p>
            <a:pPr marL="0" lvl="1" indent="0" algn="just">
              <a:lnSpc>
                <a:spcPct val="120000"/>
              </a:lnSpc>
              <a:spcBef>
                <a:spcPts val="1275"/>
              </a:spcBef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应用价值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02266" y="334963"/>
            <a:ext cx="4969933" cy="7016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200" b="1" dirty="0">
                <a:solidFill>
                  <a:srgbClr val="4A66AC">
                    <a:lumMod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考核方式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843422" y="1727199"/>
            <a:ext cx="2878178" cy="4355548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▪"/>
              <a:defRPr sz="15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▪"/>
              <a:defRPr sz="135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514350" indent="-13462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▪"/>
              <a:defRPr sz="12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685800" indent="-13716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▪"/>
              <a:defRPr sz="105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857250" indent="-13462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▪"/>
              <a:defRPr sz="105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1028700" indent="-13716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▪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00150" indent="-13462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▪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600" indent="-13716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▪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8430" indent="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1275"/>
              </a:spcBef>
              <a:buSzPct val="140000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成绩构成</a:t>
            </a:r>
          </a:p>
          <a:p>
            <a:pPr marL="0" lvl="1" indent="0" algn="just">
              <a:lnSpc>
                <a:spcPct val="120000"/>
              </a:lnSpc>
              <a:spcBef>
                <a:spcPts val="1275"/>
              </a:spcBef>
              <a:buFont typeface="Arial" panose="020B0604020202020204" pitchFamily="34" charset="0"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期末考试占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70%</a:t>
            </a:r>
          </a:p>
          <a:p>
            <a:pPr marL="0" lvl="1" indent="0" algn="just">
              <a:lnSpc>
                <a:spcPct val="120000"/>
              </a:lnSpc>
              <a:spcBef>
                <a:spcPts val="1275"/>
              </a:spcBef>
              <a:buFont typeface="Arial" panose="020B0604020202020204" pitchFamily="34" charset="0"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考勤和作业占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10%</a:t>
            </a:r>
          </a:p>
          <a:p>
            <a:pPr marL="0" lvl="1" indent="0" algn="just">
              <a:lnSpc>
                <a:spcPct val="120000"/>
              </a:lnSpc>
              <a:spcBef>
                <a:spcPts val="1275"/>
              </a:spcBef>
              <a:buFont typeface="Arial" panose="020B0604020202020204" pitchFamily="34" charset="0"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中期考试占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10%</a:t>
            </a:r>
          </a:p>
          <a:p>
            <a:pPr marL="0" lvl="1" indent="0" algn="just">
              <a:lnSpc>
                <a:spcPct val="120000"/>
              </a:lnSpc>
              <a:spcBef>
                <a:spcPts val="1275"/>
              </a:spcBef>
              <a:buFont typeface="Arial" panose="020B0604020202020204" pitchFamily="34" charset="0"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实验占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10%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352628" y="1241109"/>
            <a:ext cx="8486572" cy="490569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spcAft>
                <a:spcPct val="20000"/>
              </a:spcAft>
            </a:pPr>
            <a:r>
              <a:rPr kumimoji="1"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课程教材：</a:t>
            </a:r>
            <a:endParaRPr kumimoji="1"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10000"/>
              </a:lnSpc>
              <a:spcAft>
                <a:spcPct val="20000"/>
              </a:spcAft>
            </a:pPr>
            <a:r>
              <a:rPr kumimoji="1"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计算机操作系统，汤小丹、汤子瀛等</a:t>
            </a:r>
            <a:r>
              <a:rPr kumimoji="1"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kumimoji="1"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西安电子科技大学出版社（第四版）</a:t>
            </a:r>
            <a:endParaRPr kumimoji="1"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10000"/>
              </a:lnSpc>
              <a:spcAft>
                <a:spcPct val="20000"/>
              </a:spcAft>
            </a:pPr>
            <a:r>
              <a:rPr kumimoji="1"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Linux</a:t>
            </a:r>
            <a:r>
              <a:rPr kumimoji="1"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操作系统应用编程，刘玓、陈佳、肖堃、丁熠，人民邮电出版社</a:t>
            </a:r>
            <a:endParaRPr kumimoji="1"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10000"/>
              </a:lnSpc>
              <a:spcAft>
                <a:spcPct val="20000"/>
              </a:spcAft>
            </a:pPr>
            <a:r>
              <a:rPr kumimoji="1"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参考书目：</a:t>
            </a:r>
          </a:p>
          <a:p>
            <a:pPr lvl="1" eaLnBrk="1" hangingPunct="1">
              <a:lnSpc>
                <a:spcPct val="110000"/>
              </a:lnSpc>
              <a:spcAft>
                <a:spcPct val="20000"/>
              </a:spcAft>
            </a:pPr>
            <a:r>
              <a:rPr kumimoji="1"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现代操作系统，</a:t>
            </a:r>
            <a:r>
              <a:rPr kumimoji="1"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Andrew </a:t>
            </a:r>
            <a:r>
              <a:rPr kumimoji="1"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S.Tanenbaum</a:t>
            </a:r>
            <a:r>
              <a:rPr kumimoji="1"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kumimoji="1"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 eaLnBrk="1" hangingPunct="1">
              <a:lnSpc>
                <a:spcPct val="110000"/>
              </a:lnSpc>
              <a:spcAft>
                <a:spcPct val="20000"/>
              </a:spcAft>
              <a:buNone/>
            </a:pPr>
            <a:r>
              <a:rPr kumimoji="1"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kumimoji="1"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陈向群译，机械工业出版社，</a:t>
            </a:r>
            <a:r>
              <a:rPr kumimoji="1"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2009.7</a:t>
            </a:r>
          </a:p>
          <a:p>
            <a:pPr lvl="1" eaLnBrk="1" hangingPunct="1">
              <a:lnSpc>
                <a:spcPct val="110000"/>
              </a:lnSpc>
              <a:spcAft>
                <a:spcPct val="20000"/>
              </a:spcAft>
            </a:pPr>
            <a:r>
              <a:rPr kumimoji="1"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Operating System Internals and Design principles, William Stallings , </a:t>
            </a:r>
            <a:r>
              <a:rPr kumimoji="1"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TsingHua</a:t>
            </a:r>
            <a:r>
              <a:rPr kumimoji="1"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University Press</a:t>
            </a:r>
          </a:p>
          <a:p>
            <a:pPr lvl="1" eaLnBrk="1" hangingPunct="1">
              <a:lnSpc>
                <a:spcPct val="110000"/>
              </a:lnSpc>
              <a:spcAft>
                <a:spcPct val="20000"/>
              </a:spcAft>
            </a:pPr>
            <a:r>
              <a:rPr kumimoji="1"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Applied Operating System Concepts , Abraham </a:t>
            </a:r>
            <a:r>
              <a:rPr kumimoji="1"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Silberschatz</a:t>
            </a:r>
            <a:r>
              <a:rPr kumimoji="1"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en-US" altLang="zh-CN" sz="2400" i="1" dirty="0">
                <a:latin typeface="微软雅黑" panose="020B0503020204020204" charset="-122"/>
                <a:ea typeface="微软雅黑" panose="020B0503020204020204" charset="-122"/>
              </a:rPr>
              <a:t>etc. , </a:t>
            </a:r>
            <a:r>
              <a:rPr kumimoji="1"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Higher Education Press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33538" y="311150"/>
            <a:ext cx="7510462" cy="6619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200" b="1" dirty="0">
                <a:solidFill>
                  <a:srgbClr val="4A66AC">
                    <a:lumMod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教材</a:t>
            </a:r>
            <a:r>
              <a:rPr lang="en-US" altLang="zh-CN" sz="3200" b="1" dirty="0">
                <a:solidFill>
                  <a:srgbClr val="4A66AC">
                    <a:lumMod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altLang="en-US" sz="3200" b="1" dirty="0">
                <a:solidFill>
                  <a:srgbClr val="4A66AC">
                    <a:lumMod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参考书籍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478318" y="1167381"/>
            <a:ext cx="6775922" cy="5008132"/>
          </a:xfrm>
        </p:spPr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总学时：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64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（上课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56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学时、上机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学时）</a:t>
            </a: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第一章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  操作系统引论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		</a:t>
            </a: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第二章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  进程管理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			</a:t>
            </a: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第三章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  处理器调度与死锁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第四章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  存储器管理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第五章     输入输出系统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第六章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   文件及文件系统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第七章    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UNIX/Linux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系统入门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第八章     </a:t>
            </a:r>
            <a:r>
              <a:rPr lang="en-US" altLang="zh-CN" sz="2400" dirty="0"/>
              <a:t>shell</a:t>
            </a:r>
            <a:r>
              <a:rPr lang="zh-CN" altLang="zh-CN" sz="2400" dirty="0"/>
              <a:t>的交互功能与</a:t>
            </a:r>
            <a:r>
              <a:rPr lang="en-US" altLang="zh-CN" sz="2400" dirty="0"/>
              <a:t>shell</a:t>
            </a:r>
            <a:r>
              <a:rPr lang="zh-CN" altLang="zh-CN" sz="2400" dirty="0"/>
              <a:t>程序设计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第九章     文件操作与权限管理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第十章     </a:t>
            </a:r>
            <a:r>
              <a:rPr lang="zh-CN" altLang="zh-CN" sz="2400" dirty="0"/>
              <a:t>进程运行与监控 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第十一章  操作系统接口与应用开发       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第十二章  线程与线程控制   </a:t>
            </a:r>
          </a:p>
          <a:p>
            <a:pPr marL="3429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4" name="标题 1"/>
          <p:cNvSpPr>
            <a:spLocks noGrp="1"/>
          </p:cNvSpPr>
          <p:nvPr>
            <p:ph type="title" idx="4294967295"/>
          </p:nvPr>
        </p:nvSpPr>
        <p:spPr>
          <a:xfrm>
            <a:off x="1219200" y="242888"/>
            <a:ext cx="4953000" cy="703262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A66AC">
                    <a:lumMod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课程构成</a:t>
            </a:r>
          </a:p>
        </p:txBody>
      </p:sp>
      <p:sp>
        <p:nvSpPr>
          <p:cNvPr id="4" name="内容占位符 2"/>
          <p:cNvSpPr txBox="1"/>
          <p:nvPr/>
        </p:nvSpPr>
        <p:spPr>
          <a:xfrm>
            <a:off x="6964753" y="1550566"/>
            <a:ext cx="1709530" cy="462494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学时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学时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学时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学时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学时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学时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学时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学时 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学时 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学时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学时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学时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algn="ctr" eaLnBrk="1" hangingPunct="1"/>
            <a:r>
              <a:rPr lang="zh-CN" altLang="en-US" sz="4800" b="1" dirty="0">
                <a:solidFill>
                  <a:srgbClr val="FF0000"/>
                </a:solidFill>
              </a:rPr>
              <a:t>第一章 操作系统引论</a:t>
            </a:r>
          </a:p>
        </p:txBody>
      </p:sp>
      <p:sp>
        <p:nvSpPr>
          <p:cNvPr id="11267" name="Rectangle 3"/>
          <p:cNvSpPr>
            <a:spLocks noGrp="1"/>
          </p:cNvSpPr>
          <p:nvPr>
            <p:ph idx="4294967295"/>
          </p:nvPr>
        </p:nvSpPr>
        <p:spPr>
          <a:xfrm>
            <a:off x="690880" y="1981200"/>
            <a:ext cx="7538720" cy="38862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3900" dirty="0"/>
              <a:t>1.1 </a:t>
            </a:r>
            <a:r>
              <a:rPr lang="zh-CN" altLang="en-US" sz="3900" dirty="0"/>
              <a:t>操作系统的目标和作用</a:t>
            </a:r>
          </a:p>
          <a:p>
            <a:pPr eaLnBrk="1" hangingPunct="1"/>
            <a:r>
              <a:rPr lang="en-US" altLang="zh-CN" sz="3900" dirty="0"/>
              <a:t>1.2 </a:t>
            </a:r>
            <a:r>
              <a:rPr lang="zh-CN" altLang="en-US" sz="3900" dirty="0"/>
              <a:t>操作系统的发展过程  </a:t>
            </a:r>
          </a:p>
          <a:p>
            <a:pPr eaLnBrk="1" hangingPunct="1"/>
            <a:r>
              <a:rPr lang="en-US" altLang="zh-CN" sz="3900" dirty="0"/>
              <a:t>1.3 </a:t>
            </a:r>
            <a:r>
              <a:rPr lang="zh-CN" altLang="en-US" sz="3900" dirty="0"/>
              <a:t>操作系统的基本特征</a:t>
            </a:r>
          </a:p>
          <a:p>
            <a:pPr eaLnBrk="1" hangingPunct="1"/>
            <a:r>
              <a:rPr lang="en-US" altLang="zh-CN" sz="3900" dirty="0"/>
              <a:t>1.4 </a:t>
            </a:r>
            <a:r>
              <a:rPr lang="zh-CN" altLang="en-US" sz="3900" dirty="0"/>
              <a:t>操作系统的主要功能</a:t>
            </a:r>
          </a:p>
          <a:p>
            <a:pPr eaLnBrk="1" hangingPunct="1"/>
            <a:r>
              <a:rPr lang="en-US" altLang="zh-CN" sz="3900" dirty="0"/>
              <a:t>1.5 OS</a:t>
            </a:r>
            <a:r>
              <a:rPr lang="zh-CN" altLang="en-US" sz="3900" dirty="0"/>
              <a:t>结构设计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讨论</a:t>
            </a:r>
          </a:p>
        </p:txBody>
      </p:sp>
      <p:sp>
        <p:nvSpPr>
          <p:cNvPr id="234499" name="Rectangle 3"/>
          <p:cNvSpPr>
            <a:spLocks noGrp="1"/>
          </p:cNvSpPr>
          <p:nvPr>
            <p:ph idx="4294967295"/>
          </p:nvPr>
        </p:nvSpPr>
        <p:spPr>
          <a:xfrm>
            <a:off x="462915" y="1981200"/>
            <a:ext cx="7766685" cy="38862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4000" dirty="0"/>
              <a:t>你觉得操作系统是什么？</a:t>
            </a:r>
          </a:p>
          <a:p>
            <a:pPr eaLnBrk="1" hangingPunct="1"/>
            <a:r>
              <a:rPr lang="zh-CN" altLang="en-US" sz="4000" dirty="0"/>
              <a:t>你知道哪些操作系统的名字？</a:t>
            </a:r>
            <a:endParaRPr lang="en-US" altLang="zh-CN" sz="4000" dirty="0"/>
          </a:p>
          <a:p>
            <a:pPr eaLnBrk="1" hangingPunct="1"/>
            <a:r>
              <a:rPr lang="zh-CN" altLang="en-US" sz="4000" dirty="0"/>
              <a:t>如果让你给操作系统做出定义，你怎么说？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23449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讨论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343400"/>
          </a:xfrm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3600"/>
              <a:t>你知道哪些操作系统的名字？</a:t>
            </a:r>
          </a:p>
        </p:txBody>
      </p:sp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41550"/>
            <a:ext cx="6553200" cy="461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讨  论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077200" cy="4343400"/>
          </a:xfrm>
        </p:spPr>
        <p:txBody>
          <a:bodyPr wrap="square" lIns="91440" tIns="45720" rIns="91440" bIns="45720" numCol="1" anchor="t" anchorCtr="0" compatLnSpc="1"/>
          <a:lstStyle/>
          <a:p>
            <a:pPr eaLnBrk="1" hangingPunct="1"/>
            <a:r>
              <a:rPr lang="zh-CN" altLang="en-US"/>
              <a:t>熟知的操作系统</a:t>
            </a:r>
          </a:p>
          <a:p>
            <a:pPr lvl="1" eaLnBrk="1" hangingPunct="1"/>
            <a:r>
              <a:rPr lang="en-US" altLang="zh-CN"/>
              <a:t>DOS(Disk Operating System)</a:t>
            </a:r>
          </a:p>
          <a:p>
            <a:pPr lvl="2" eaLnBrk="1" hangingPunct="1"/>
            <a:r>
              <a:rPr lang="en-US" altLang="zh-CN"/>
              <a:t>1980</a:t>
            </a:r>
            <a:r>
              <a:rPr lang="zh-CN" altLang="en-US"/>
              <a:t>年</a:t>
            </a:r>
            <a:r>
              <a:rPr lang="en-US" altLang="zh-CN"/>
              <a:t>IBM</a:t>
            </a:r>
            <a:r>
              <a:rPr lang="zh-CN" altLang="en-US"/>
              <a:t>与微软合作为其新</a:t>
            </a:r>
            <a:r>
              <a:rPr lang="en-US" altLang="zh-CN"/>
              <a:t>PC</a:t>
            </a:r>
            <a:r>
              <a:rPr lang="zh-CN" altLang="en-US"/>
              <a:t>编写的操作系统。</a:t>
            </a:r>
          </a:p>
          <a:p>
            <a:pPr lvl="3" eaLnBrk="1" hangingPunct="1"/>
            <a:r>
              <a:rPr lang="en-US" altLang="zh-CN" sz="2400"/>
              <a:t>PC-DOS</a:t>
            </a:r>
          </a:p>
          <a:p>
            <a:pPr lvl="3" eaLnBrk="1" hangingPunct="1"/>
            <a:r>
              <a:rPr lang="en-US" altLang="zh-CN" sz="2400"/>
              <a:t>MS-DOS</a:t>
            </a:r>
          </a:p>
          <a:p>
            <a:pPr eaLnBrk="1" hangingPunct="1"/>
            <a:endParaRPr lang="zh-CN" altLang="en-US"/>
          </a:p>
        </p:txBody>
      </p:sp>
      <p:pic>
        <p:nvPicPr>
          <p:cNvPr id="1751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581400"/>
            <a:ext cx="2743200" cy="273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7511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495800"/>
            <a:ext cx="1922463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讨  论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5410200" cy="1676400"/>
          </a:xfrm>
        </p:spPr>
        <p:txBody>
          <a:bodyPr wrap="square" lIns="91440" tIns="45720" rIns="91440" bIns="45720" numCol="1" anchor="t" anchorCtr="0" compatLnSpc="1"/>
          <a:lstStyle/>
          <a:p>
            <a:pPr lvl="1" eaLnBrk="1" hangingPunct="1"/>
            <a:r>
              <a:rPr lang="en-US" altLang="zh-CN"/>
              <a:t>2001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日，微软推出</a:t>
            </a:r>
            <a:r>
              <a:rPr lang="en-US" altLang="zh-CN"/>
              <a:t>WindowsXP</a:t>
            </a:r>
            <a:r>
              <a:rPr lang="zh-CN" altLang="en-US"/>
              <a:t>，比尔</a:t>
            </a:r>
            <a:r>
              <a:rPr lang="en-US" altLang="zh-CN"/>
              <a:t>.</a:t>
            </a:r>
            <a:r>
              <a:rPr lang="zh-CN" altLang="en-US"/>
              <a:t>盖茨宣布“</a:t>
            </a:r>
            <a:r>
              <a:rPr lang="en-US" altLang="zh-CN"/>
              <a:t>DOS</a:t>
            </a:r>
            <a:r>
              <a:rPr lang="zh-CN" altLang="en-US"/>
              <a:t>时代到此结束。”</a:t>
            </a:r>
          </a:p>
          <a:p>
            <a:pPr eaLnBrk="1" hangingPunct="1"/>
            <a:endParaRPr lang="zh-CN" altLang="en-US"/>
          </a:p>
        </p:txBody>
      </p:sp>
      <p:pic>
        <p:nvPicPr>
          <p:cNvPr id="17715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600200"/>
            <a:ext cx="5410200" cy="231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7715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886200"/>
            <a:ext cx="235902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7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讨  论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52600"/>
            <a:ext cx="8153400" cy="533400"/>
          </a:xfrm>
        </p:spPr>
        <p:txBody>
          <a:bodyPr wrap="square" lIns="91440" tIns="45720" rIns="91440" bIns="45720" numCol="1" anchor="t" anchorCtr="0" compatLnSpc="1"/>
          <a:lstStyle/>
          <a:p>
            <a:pPr marL="323850" lvl="1" indent="-309245" eaLnBrk="1" hangingPunct="1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微软家族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920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362200"/>
            <a:ext cx="8875713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讨  论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077200" cy="4343400"/>
          </a:xfrm>
        </p:spPr>
        <p:txBody>
          <a:bodyPr wrap="square" lIns="91440" tIns="45720" rIns="91440" bIns="45720" numCol="1" anchor="t" anchorCtr="0" compatLnSpc="1"/>
          <a:lstStyle/>
          <a:p>
            <a:pPr eaLnBrk="1" hangingPunct="1"/>
            <a:r>
              <a:rPr lang="zh-CN" altLang="en-US"/>
              <a:t>熟知的操作系统</a:t>
            </a:r>
          </a:p>
          <a:p>
            <a:pPr lvl="1" eaLnBrk="1" hangingPunct="1"/>
            <a:r>
              <a:rPr lang="en-US" altLang="zh-CN"/>
              <a:t>UNIX</a:t>
            </a:r>
          </a:p>
          <a:p>
            <a:pPr lvl="2" eaLnBrk="1" hangingPunct="1"/>
            <a:r>
              <a:rPr lang="en-US" altLang="zh-CN"/>
              <a:t>Unix</a:t>
            </a:r>
            <a:r>
              <a:rPr lang="zh-CN" altLang="en-US"/>
              <a:t>是一个多用户、多任务操作系统。最早由贝尔实验室编写</a:t>
            </a:r>
          </a:p>
          <a:p>
            <a:pPr lvl="2" eaLnBrk="1" hangingPunct="1"/>
            <a:r>
              <a:rPr lang="en-US" altLang="zh-CN"/>
              <a:t>73</a:t>
            </a:r>
            <a:r>
              <a:rPr lang="zh-CN" altLang="en-US"/>
              <a:t>年使用</a:t>
            </a:r>
            <a:r>
              <a:rPr lang="en-US" altLang="zh-CN"/>
              <a:t>C</a:t>
            </a:r>
            <a:r>
              <a:rPr lang="zh-CN" altLang="en-US"/>
              <a:t>语言重写内核</a:t>
            </a:r>
          </a:p>
          <a:p>
            <a:pPr eaLnBrk="1" hangingPunct="1"/>
            <a:endParaRPr lang="zh-CN" altLang="en-US"/>
          </a:p>
        </p:txBody>
      </p:sp>
      <p:pic>
        <p:nvPicPr>
          <p:cNvPr id="50179" name="Picture 6" descr="t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3505200"/>
            <a:ext cx="2895600" cy="2895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讨论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077200" cy="4343400"/>
          </a:xfrm>
        </p:spPr>
        <p:txBody>
          <a:bodyPr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2227" name="Picture 5" descr="7a899e510fb30f2440d33c63c895d143ad4b03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400"/>
            <a:ext cx="9144000" cy="581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讨  论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7010400" cy="4343400"/>
          </a:xfrm>
        </p:spPr>
        <p:txBody>
          <a:bodyPr wrap="square" lIns="91440" tIns="45720" rIns="91440" bIns="45720" numCol="1" anchor="t" anchorCtr="0" compatLnSpc="1"/>
          <a:lstStyle/>
          <a:p>
            <a:pPr eaLnBrk="1" hangingPunct="1">
              <a:lnSpc>
                <a:spcPct val="11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熟知的操作系统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LINUX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>
                <a:latin typeface="微软雅黑" panose="020B0503020204020204" charset="-122"/>
                <a:ea typeface="微软雅黑" panose="020B0503020204020204" charset="-122"/>
              </a:rPr>
              <a:t>Linux操作系统诞生于1991 年10 月5 日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pPr lvl="2" eaLnBrk="1" hangingPunct="1">
              <a:lnSpc>
                <a:spcPct val="110000"/>
              </a:lnSpc>
            </a:pPr>
            <a:r>
              <a:rPr lang="en-US" altLang="en-US">
                <a:latin typeface="微软雅黑" panose="020B0503020204020204" charset="-122"/>
                <a:ea typeface="微软雅黑" panose="020B0503020204020204" charset="-122"/>
              </a:rPr>
              <a:t>Linux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是一套免费使用和自由传播的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类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UNIX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操作系统</a:t>
            </a:r>
            <a:r>
              <a:rPr lang="en-US" altLang="en-US">
                <a:latin typeface="微软雅黑" panose="020B0503020204020204" charset="-122"/>
                <a:ea typeface="微软雅黑" panose="020B0503020204020204" charset="-122"/>
              </a:rPr>
              <a:t>，是一个多用户、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任务</a:t>
            </a:r>
            <a:r>
              <a:rPr lang="en-US" altLang="en-US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支持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多线程和多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CPU</a:t>
            </a:r>
            <a:r>
              <a:rPr lang="en-US" altLang="en-US">
                <a:latin typeface="微软雅黑" panose="020B0503020204020204" charset="-122"/>
                <a:ea typeface="微软雅黑" panose="020B0503020204020204" charset="-122"/>
              </a:rPr>
              <a:t>的操作系统。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535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150" y="1600200"/>
            <a:ext cx="222885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4276" name="Picture 8" descr="t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129213"/>
            <a:ext cx="3276600" cy="1476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255" y="4572000"/>
            <a:ext cx="2148840" cy="19583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讨  论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7782560" cy="4343400"/>
          </a:xfrm>
        </p:spPr>
        <p:txBody>
          <a:bodyPr wrap="square" lIns="91440" tIns="45720" rIns="91440" bIns="45720" numCol="1" anchor="t" anchorCtr="0" compatLnSpc="1"/>
          <a:lstStyle/>
          <a:p>
            <a:pPr eaLnBrk="1" hangingPunct="1">
              <a:lnSpc>
                <a:spcPct val="110000"/>
              </a:lnSpc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熟知的操作系统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嵌入式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移动（非实时）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iOS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Android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Symbian OS</a:t>
            </a:r>
          </a:p>
          <a:p>
            <a:pPr lvl="2" eaLnBrk="1" hangingPunct="1">
              <a:lnSpc>
                <a:spcPct val="110000"/>
              </a:lnSpc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嵌入式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Linux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嵌入式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实时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UCOS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VxWorks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RTEMS</a:t>
            </a:r>
          </a:p>
          <a:p>
            <a:pPr lvl="2" eaLnBrk="1" hangingPunct="1">
              <a:lnSpc>
                <a:spcPct val="110000"/>
              </a:lnSpc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国产：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Reworks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，天脉、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DeltaOS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讨  论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eaLnBrk="1" hangingPunct="1"/>
            <a:endParaRPr lang="en-US" altLang="zh-CN" sz="3600" dirty="0"/>
          </a:p>
          <a:p>
            <a:pPr eaLnBrk="1" hangingPunct="1"/>
            <a:endParaRPr lang="en-US" altLang="zh-CN" sz="3600" dirty="0"/>
          </a:p>
          <a:p>
            <a:pPr eaLnBrk="1" hangingPunct="1"/>
            <a:endParaRPr lang="en-US" altLang="zh-CN" sz="3600" dirty="0"/>
          </a:p>
          <a:p>
            <a:pPr eaLnBrk="1" hangingPunct="1"/>
            <a:endParaRPr lang="en-US" altLang="zh-CN" sz="3600"/>
          </a:p>
          <a:p>
            <a:pPr eaLnBrk="1" hangingPunct="1"/>
            <a:r>
              <a:rPr lang="zh-CN" altLang="en-US" sz="3600"/>
              <a:t>你</a:t>
            </a:r>
            <a:r>
              <a:rPr lang="zh-CN" altLang="en-US" sz="3600" dirty="0"/>
              <a:t>觉得操作系统是什么？</a:t>
            </a:r>
          </a:p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</a:rPr>
              <a:t>当前对于</a:t>
            </a:r>
            <a:r>
              <a:rPr lang="en-US" altLang="zh-CN" sz="3600" b="1" dirty="0">
                <a:solidFill>
                  <a:srgbClr val="FF0000"/>
                </a:solidFill>
              </a:rPr>
              <a:t>OS</a:t>
            </a:r>
            <a:r>
              <a:rPr lang="zh-CN" altLang="en-US" sz="3600" b="1" dirty="0">
                <a:solidFill>
                  <a:srgbClr val="FF0000"/>
                </a:solidFill>
              </a:rPr>
              <a:t>还没有一个统一的、适用的定义！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</a:rPr>
              <a:t> </a:t>
            </a:r>
            <a:r>
              <a:rPr lang="zh-CN" altLang="en-US" b="1" dirty="0">
                <a:solidFill>
                  <a:srgbClr val="0066FF"/>
                </a:solidFill>
              </a:rPr>
              <a:t>操作系统的概念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4294967295"/>
          </p:nvPr>
        </p:nvSpPr>
        <p:spPr>
          <a:xfrm>
            <a:off x="419100" y="1577975"/>
            <a:ext cx="8305800" cy="46482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An Operating System is </a:t>
            </a:r>
            <a:r>
              <a:rPr lang="en-US" altLang="zh-CN" sz="2400" b="1" dirty="0">
                <a:solidFill>
                  <a:srgbClr val="FF0000"/>
                </a:solidFill>
              </a:rPr>
              <a:t>a program </a:t>
            </a:r>
            <a:r>
              <a:rPr lang="en-US" altLang="zh-CN" sz="2400" dirty="0"/>
              <a:t>that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 managers the computer hardware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provides a basis for application programs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acts as an intermediary between the computer </a:t>
            </a:r>
            <a:r>
              <a:rPr lang="en-US" altLang="zh-CN" sz="2400" b="1" dirty="0"/>
              <a:t>user </a:t>
            </a:r>
            <a:r>
              <a:rPr lang="en-US" altLang="zh-CN" sz="2400" dirty="0"/>
              <a:t>and the computer </a:t>
            </a:r>
            <a:r>
              <a:rPr lang="en-US" altLang="zh-CN" sz="2400" b="1" dirty="0"/>
              <a:t>hardware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OS is </a:t>
            </a:r>
            <a:r>
              <a:rPr lang="en-US" altLang="zh-CN" sz="2400" dirty="0">
                <a:solidFill>
                  <a:srgbClr val="FF0000"/>
                </a:solidFill>
              </a:rPr>
              <a:t>a </a:t>
            </a:r>
            <a:r>
              <a:rPr lang="en-US" altLang="zh-CN" sz="2400" b="1" dirty="0">
                <a:solidFill>
                  <a:srgbClr val="FF0000"/>
                </a:solidFill>
              </a:rPr>
              <a:t>resource allocator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Manages all resources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Decides between conflicting requests for efficient and fair resource use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OS is a </a:t>
            </a:r>
            <a:r>
              <a:rPr lang="en-US" altLang="zh-CN" sz="2400" b="1" dirty="0">
                <a:solidFill>
                  <a:srgbClr val="FF0000"/>
                </a:solidFill>
              </a:rPr>
              <a:t>control program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 Controls execution of programs to prevent errors and improper use of the computer</a:t>
            </a:r>
          </a:p>
          <a:p>
            <a:pPr eaLnBrk="1" hangingPunct="1">
              <a:lnSpc>
                <a:spcPct val="80000"/>
              </a:lnSpc>
            </a:pP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5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sz="4000" b="1" dirty="0">
                <a:solidFill>
                  <a:srgbClr val="0066FF"/>
                </a:solidFill>
              </a:rPr>
              <a:t>操作系统的概念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4294967295"/>
          </p:nvPr>
        </p:nvSpPr>
        <p:spPr>
          <a:xfrm>
            <a:off x="344805" y="1524000"/>
            <a:ext cx="7964170" cy="388810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66FF"/>
                </a:solidFill>
              </a:rPr>
              <a:t>操作系统定义：</a:t>
            </a:r>
            <a:r>
              <a:rPr lang="zh-CN" altLang="en-US" sz="2800" b="1" dirty="0"/>
              <a:t>操作系统是位于硬件层</a:t>
            </a:r>
            <a:r>
              <a:rPr lang="en-US" altLang="zh-CN" sz="2800" b="1" dirty="0"/>
              <a:t>(HAL)</a:t>
            </a:r>
            <a:r>
              <a:rPr lang="zh-CN" altLang="en-US" sz="2800" b="1" dirty="0"/>
              <a:t>之上，所有其它系统软件层之下的一个</a:t>
            </a:r>
            <a:r>
              <a:rPr lang="zh-CN" altLang="en-US" sz="2800" b="1" dirty="0">
                <a:solidFill>
                  <a:srgbClr val="0066FF"/>
                </a:solidFill>
              </a:rPr>
              <a:t>系统软件。</a:t>
            </a:r>
            <a:r>
              <a:rPr lang="zh-CN" altLang="en-US" sz="2800" b="1" dirty="0"/>
              <a:t>其主要作用是管理好这些设备，提高它们的利用率和系统的吞吐量，并为用户和应用程序提供一个统一的接口，便于用户使用。</a:t>
            </a:r>
            <a:endParaRPr lang="en-US" altLang="zh-CN" sz="2800" b="1" dirty="0"/>
          </a:p>
          <a:p>
            <a:pPr eaLnBrk="1" hangingPunct="1">
              <a:lnSpc>
                <a:spcPct val="120000"/>
              </a:lnSpc>
            </a:pPr>
            <a:endParaRPr lang="en-US" altLang="zh-CN" sz="2800" b="1" dirty="0"/>
          </a:p>
        </p:txBody>
      </p:sp>
      <p:sp>
        <p:nvSpPr>
          <p:cNvPr id="98313" name="Text Box 9"/>
          <p:cNvSpPr txBox="1"/>
          <p:nvPr/>
        </p:nvSpPr>
        <p:spPr>
          <a:xfrm>
            <a:off x="440690" y="5832158"/>
            <a:ext cx="77724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</a:rPr>
              <a:t>OS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</a:rPr>
              <a:t>是计算机系统的灵魂！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1447800" y="4495800"/>
            <a:ext cx="1143000" cy="1219200"/>
          </a:xfrm>
          <a:prstGeom prst="rect">
            <a:avLst/>
          </a:prstGeom>
          <a:solidFill>
            <a:srgbClr val="00CCFF">
              <a:alpha val="29019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用户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6172200" y="4495800"/>
            <a:ext cx="1219200" cy="1219200"/>
          </a:xfrm>
          <a:prstGeom prst="rect">
            <a:avLst/>
          </a:prstGeom>
          <a:solidFill>
            <a:srgbClr val="00CCFF">
              <a:alpha val="29019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计算机</a:t>
            </a:r>
          </a:p>
        </p:txBody>
      </p:sp>
      <p:sp>
        <p:nvSpPr>
          <p:cNvPr id="18438" name="Oval 6"/>
          <p:cNvSpPr>
            <a:spLocks noChangeArrowheads="1"/>
          </p:cNvSpPr>
          <p:nvPr/>
        </p:nvSpPr>
        <p:spPr bwMode="auto">
          <a:xfrm>
            <a:off x="3657600" y="4648200"/>
            <a:ext cx="1295400" cy="762000"/>
          </a:xfrm>
          <a:prstGeom prst="ellipse">
            <a:avLst/>
          </a:prstGeom>
          <a:solidFill>
            <a:srgbClr val="00CCFF">
              <a:alpha val="29019"/>
            </a:srgbClr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OS</a:t>
            </a:r>
          </a:p>
        </p:txBody>
      </p:sp>
      <p:sp>
        <p:nvSpPr>
          <p:cNvPr id="18439" name="AutoShape 7"/>
          <p:cNvSpPr>
            <a:spLocks noChangeArrowheads="1"/>
          </p:cNvSpPr>
          <p:nvPr/>
        </p:nvSpPr>
        <p:spPr bwMode="auto">
          <a:xfrm>
            <a:off x="2590800" y="4876800"/>
            <a:ext cx="1066800" cy="228600"/>
          </a:xfrm>
          <a:prstGeom prst="leftRightArrow">
            <a:avLst>
              <a:gd name="adj1" fmla="val 50000"/>
              <a:gd name="adj2" fmla="val 93333"/>
            </a:avLst>
          </a:prstGeom>
          <a:solidFill>
            <a:srgbClr val="00CCFF">
              <a:alpha val="29019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0" name="AutoShape 8"/>
          <p:cNvSpPr>
            <a:spLocks noChangeArrowheads="1"/>
          </p:cNvSpPr>
          <p:nvPr/>
        </p:nvSpPr>
        <p:spPr bwMode="auto">
          <a:xfrm>
            <a:off x="4953000" y="4876800"/>
            <a:ext cx="1219200" cy="228600"/>
          </a:xfrm>
          <a:prstGeom prst="leftRightArrow">
            <a:avLst>
              <a:gd name="adj1" fmla="val 50000"/>
              <a:gd name="adj2" fmla="val 106667"/>
            </a:avLst>
          </a:prstGeom>
          <a:solidFill>
            <a:srgbClr val="00CCFF">
              <a:alpha val="29019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14339" grpId="0" build="p"/>
      <p:bldP spid="983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>
                <a:solidFill>
                  <a:srgbClr val="0066FF"/>
                </a:solidFill>
              </a:rPr>
              <a:t>操作系统的位置</a:t>
            </a:r>
          </a:p>
        </p:txBody>
      </p:sp>
      <p:sp>
        <p:nvSpPr>
          <p:cNvPr id="15363" name="Rectangle 5"/>
          <p:cNvSpPr>
            <a:spLocks noGrp="1"/>
          </p:cNvSpPr>
          <p:nvPr>
            <p:ph idx="4294967295"/>
          </p:nvPr>
        </p:nvSpPr>
        <p:spPr>
          <a:xfrm>
            <a:off x="1077595" y="1751330"/>
            <a:ext cx="8066405" cy="409067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/>
              <a:t>硬件抽象层（</a:t>
            </a:r>
            <a:r>
              <a:rPr lang="en-US" altLang="zh-CN" b="1" dirty="0"/>
              <a:t>HAL</a:t>
            </a:r>
            <a:r>
              <a:rPr lang="zh-CN" altLang="en-US" b="1" dirty="0"/>
              <a:t>）之上</a:t>
            </a:r>
          </a:p>
          <a:p>
            <a:pPr eaLnBrk="1" hangingPunct="1"/>
            <a:r>
              <a:rPr lang="zh-CN" altLang="en-US" b="1" dirty="0"/>
              <a:t>所有其它软件层之下</a:t>
            </a:r>
          </a:p>
        </p:txBody>
      </p:sp>
      <p:grpSp>
        <p:nvGrpSpPr>
          <p:cNvPr id="15364" name="Group 6"/>
          <p:cNvGrpSpPr/>
          <p:nvPr/>
        </p:nvGrpSpPr>
        <p:grpSpPr>
          <a:xfrm>
            <a:off x="1600200" y="3276600"/>
            <a:ext cx="6477000" cy="2667000"/>
            <a:chOff x="1056" y="2208"/>
            <a:chExt cx="4080" cy="1680"/>
          </a:xfrm>
        </p:grpSpPr>
        <p:sp>
          <p:nvSpPr>
            <p:cNvPr id="15365" name="Rectangle 7"/>
            <p:cNvSpPr/>
            <p:nvPr/>
          </p:nvSpPr>
          <p:spPr>
            <a:xfrm>
              <a:off x="1056" y="2208"/>
              <a:ext cx="4080" cy="168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66" name="Rectangle 8"/>
            <p:cNvSpPr/>
            <p:nvPr/>
          </p:nvSpPr>
          <p:spPr>
            <a:xfrm>
              <a:off x="1200" y="2736"/>
              <a:ext cx="3792" cy="115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367" name="Rectangle 9"/>
            <p:cNvSpPr/>
            <p:nvPr/>
          </p:nvSpPr>
          <p:spPr>
            <a:xfrm>
              <a:off x="1488" y="3168"/>
              <a:ext cx="3216" cy="72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368" name="Rectangle 10"/>
            <p:cNvSpPr/>
            <p:nvPr/>
          </p:nvSpPr>
          <p:spPr>
            <a:xfrm>
              <a:off x="1728" y="3552"/>
              <a:ext cx="2784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硬件（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HAL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15369" name="Text Box 11"/>
            <p:cNvSpPr txBox="1"/>
            <p:nvPr/>
          </p:nvSpPr>
          <p:spPr>
            <a:xfrm>
              <a:off x="2928" y="3216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OS</a:t>
              </a:r>
            </a:p>
          </p:txBody>
        </p:sp>
        <p:sp>
          <p:nvSpPr>
            <p:cNvPr id="15370" name="Text Box 12"/>
            <p:cNvSpPr txBox="1"/>
            <p:nvPr/>
          </p:nvSpPr>
          <p:spPr>
            <a:xfrm>
              <a:off x="2352" y="2797"/>
              <a:ext cx="1467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其它系统软件层</a:t>
              </a:r>
            </a:p>
          </p:txBody>
        </p:sp>
        <p:sp>
          <p:nvSpPr>
            <p:cNvPr id="15371" name="Text Box 13"/>
            <p:cNvSpPr txBox="1"/>
            <p:nvPr/>
          </p:nvSpPr>
          <p:spPr>
            <a:xfrm>
              <a:off x="2572" y="2304"/>
              <a:ext cx="10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应用软件层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1536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 idx="4294967295"/>
          </p:nvPr>
        </p:nvSpPr>
        <p:spPr>
          <a:xfrm>
            <a:off x="917575" y="379730"/>
            <a:ext cx="8226425" cy="99187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</a:rPr>
              <a:t>1.1.1</a:t>
            </a:r>
            <a:r>
              <a:rPr lang="zh-CN" altLang="en-US" b="1" dirty="0">
                <a:solidFill>
                  <a:srgbClr val="0066FF"/>
                </a:solidFill>
              </a:rPr>
              <a:t>操作系统的目标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45770" y="1828800"/>
            <a:ext cx="8299450" cy="4038600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85000"/>
              <a:buFont typeface="Wingdings 2" pitchFamily="18" charset="2"/>
              <a:buChar char="¡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有效性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: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操作系统允许以更有效的方式使用计算机系统资源。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（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提高系统资源利用率、提高系统的吞吐量）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85000"/>
              <a:buFont typeface="Wingdings 2" pitchFamily="18" charset="2"/>
              <a:buChar char="¡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方便性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: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操作系统使计算机更易于使用。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85000"/>
              <a:buFont typeface="Wingdings 2" pitchFamily="18" charset="2"/>
              <a:buChar char="¡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可扩充性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: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在操作系统中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允许有效地开发，测试和引进新的系统功能。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85000"/>
              <a:buFont typeface="Wingdings 2" pitchFamily="18" charset="2"/>
              <a:buChar char="¡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开放性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: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实现应用程序的可移植性和互操作性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要求具有统一的开放的环境。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331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eaLnBrk="1" hangingPunct="1">
              <a:buNone/>
            </a:pPr>
            <a:r>
              <a:rPr lang="zh-CN" altLang="en-US"/>
              <a:t>操作系统的发展动力</a:t>
            </a:r>
          </a:p>
        </p:txBody>
      </p:sp>
      <p:sp>
        <p:nvSpPr>
          <p:cNvPr id="3246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229600" cy="4419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indent="0" eaLnBrk="1" hangingPunct="1">
              <a:lnSpc>
                <a:spcPct val="110000"/>
              </a:lnSpc>
              <a:spcAft>
                <a:spcPct val="20000"/>
              </a:spcAft>
            </a:pP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不断提高计算机资源利用率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spcAft>
                <a:spcPct val="20000"/>
              </a:spcAft>
            </a:pP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方便用户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spcAft>
                <a:spcPct val="20000"/>
              </a:spcAft>
            </a:pP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器件的不断更新换代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spcAft>
                <a:spcPct val="20000"/>
              </a:spcAft>
            </a:pP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计算机体系结构的不断发展</a:t>
            </a:r>
            <a:endParaRPr lang="en-US" altLang="zh-CN" sz="28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spcAft>
                <a:spcPct val="20000"/>
              </a:spcAft>
            </a:pP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不断提出新的应用需求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4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4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4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4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4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4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4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4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05" name="Group 2"/>
          <p:cNvGrpSpPr/>
          <p:nvPr/>
        </p:nvGrpSpPr>
        <p:grpSpPr>
          <a:xfrm>
            <a:off x="228600" y="2057400"/>
            <a:ext cx="8686800" cy="3178175"/>
            <a:chOff x="192" y="1296"/>
            <a:chExt cx="5328" cy="1862"/>
          </a:xfrm>
        </p:grpSpPr>
        <p:sp>
          <p:nvSpPr>
            <p:cNvPr id="322563" name="Text Box 3"/>
            <p:cNvSpPr txBox="1">
              <a:spLocks noChangeArrowheads="1"/>
            </p:cNvSpPr>
            <p:nvPr/>
          </p:nvSpPr>
          <p:spPr bwMode="auto">
            <a:xfrm>
              <a:off x="192" y="1296"/>
              <a:ext cx="5328" cy="1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914400" lvl="2" indent="0" algn="just">
                <a:lnSpc>
                  <a:spcPct val="10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                                      </a:t>
              </a: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（计算机用户的观点）：</a:t>
              </a:r>
              <a:r>
                <a:rPr lang="zh-CN" altLang="en-US" sz="2000" b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用户环境观点</a:t>
              </a:r>
              <a:endParaRPr lang="zh-CN" altLang="en-US" sz="20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marL="914400" lvl="2" indent="0" algn="just">
                <a:lnSpc>
                  <a:spcPct val="10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       （从外部看</a:t>
              </a:r>
              <a:r>
                <a:rPr lang="en-US" altLang="zh-CN" sz="2000" b="1">
                  <a:latin typeface="楷体_GB2312" pitchFamily="49" charset="-122"/>
                  <a:ea typeface="楷体_GB2312" pitchFamily="49" charset="-122"/>
                </a:rPr>
                <a:t>OS</a:t>
              </a: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）</a:t>
              </a:r>
            </a:p>
            <a:p>
              <a:pPr marL="914400" lvl="2" indent="0" algn="just">
                <a:lnSpc>
                  <a:spcPct val="10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                       （应用程序员的观点）：</a:t>
              </a:r>
              <a:r>
                <a:rPr lang="zh-CN" altLang="en-US" sz="2000" b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虚拟机器观点</a:t>
              </a:r>
            </a:p>
            <a:p>
              <a:pPr marL="0" lvl="0" indent="0" algn="just">
                <a:lnSpc>
                  <a:spcPct val="10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关于现代</a:t>
              </a:r>
              <a:r>
                <a:rPr lang="en-US" altLang="zh-CN" sz="2000" b="1">
                  <a:latin typeface="楷体_GB2312" pitchFamily="49" charset="-122"/>
                  <a:ea typeface="楷体_GB2312" pitchFamily="49" charset="-122"/>
                </a:rPr>
                <a:t>OS</a:t>
              </a: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的</a:t>
              </a:r>
            </a:p>
            <a:p>
              <a:pPr marL="0" lvl="0" indent="0" algn="just">
                <a:lnSpc>
                  <a:spcPct val="10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四种基本观点</a:t>
              </a:r>
            </a:p>
            <a:p>
              <a:pPr marL="914400" lvl="2" indent="0" algn="just">
                <a:lnSpc>
                  <a:spcPct val="10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                       （</a:t>
              </a:r>
              <a:r>
                <a:rPr lang="en-US" altLang="zh-CN" sz="2000" b="1">
                  <a:latin typeface="楷体_GB2312" pitchFamily="49" charset="-122"/>
                  <a:ea typeface="楷体_GB2312" pitchFamily="49" charset="-122"/>
                </a:rPr>
                <a:t>OS</a:t>
              </a: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开发者观点之一）：</a:t>
              </a:r>
              <a:r>
                <a:rPr lang="zh-CN" altLang="en-US" sz="2000" b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资源管理观点</a:t>
              </a:r>
            </a:p>
            <a:p>
              <a:pPr marL="914400" lvl="2" indent="0" algn="just">
                <a:lnSpc>
                  <a:spcPct val="10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       （从内部看</a:t>
              </a:r>
              <a:r>
                <a:rPr lang="en-US" altLang="zh-CN" sz="2000" b="1">
                  <a:latin typeface="楷体_GB2312" pitchFamily="49" charset="-122"/>
                  <a:ea typeface="楷体_GB2312" pitchFamily="49" charset="-122"/>
                </a:rPr>
                <a:t>OS</a:t>
              </a: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）</a:t>
              </a:r>
            </a:p>
            <a:p>
              <a:pPr marL="914400" lvl="2" indent="0" algn="just">
                <a:lnSpc>
                  <a:spcPct val="10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                       （</a:t>
              </a:r>
              <a:r>
                <a:rPr lang="en-US" altLang="zh-CN" sz="2000" b="1">
                  <a:latin typeface="楷体_GB2312" pitchFamily="49" charset="-122"/>
                  <a:ea typeface="楷体_GB2312" pitchFamily="49" charset="-122"/>
                </a:rPr>
                <a:t>OS</a:t>
              </a: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开发者观点之二）：</a:t>
              </a:r>
              <a:r>
                <a:rPr lang="zh-CN" altLang="en-US" sz="2000" b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作业组织观点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000" b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2708" name="AutoShape 4"/>
            <p:cNvSpPr/>
            <p:nvPr/>
          </p:nvSpPr>
          <p:spPr>
            <a:xfrm>
              <a:off x="1344" y="1680"/>
              <a:ext cx="48" cy="960"/>
            </a:xfrm>
            <a:prstGeom prst="leftBrace">
              <a:avLst>
                <a:gd name="adj1" fmla="val 166666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72709" name="AutoShape 5"/>
            <p:cNvSpPr/>
            <p:nvPr/>
          </p:nvSpPr>
          <p:spPr>
            <a:xfrm>
              <a:off x="2544" y="2400"/>
              <a:ext cx="48" cy="432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72710" name="AutoShape 6"/>
            <p:cNvSpPr/>
            <p:nvPr/>
          </p:nvSpPr>
          <p:spPr>
            <a:xfrm>
              <a:off x="2544" y="1440"/>
              <a:ext cx="48" cy="432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26627" name="Rectangle 7"/>
          <p:cNvSpPr>
            <a:spLocks noChangeArrowheads="1"/>
          </p:cNvSpPr>
          <p:nvPr/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/>
              <a:t>1.1.2  </a:t>
            </a:r>
            <a:r>
              <a:rPr lang="zh-CN" altLang="en-US" sz="4400"/>
              <a:t>操作系统的作用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</a:rPr>
              <a:t>1.1.2 </a:t>
            </a:r>
            <a:r>
              <a:rPr lang="zh-CN" altLang="en-US" b="1" dirty="0">
                <a:solidFill>
                  <a:srgbClr val="0066FF"/>
                </a:solidFill>
              </a:rPr>
              <a:t>操作系统的作用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4294967295"/>
          </p:nvPr>
        </p:nvSpPr>
        <p:spPr>
          <a:xfrm>
            <a:off x="0" y="1675130"/>
            <a:ext cx="8540750" cy="386397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</a:rPr>
              <a:t>1.OS </a:t>
            </a:r>
            <a:r>
              <a:rPr lang="zh-CN" altLang="en-US" b="1" dirty="0">
                <a:solidFill>
                  <a:srgbClr val="0066FF"/>
                </a:solidFill>
              </a:rPr>
              <a:t>看做是用户与计算机硬件系统之间的接口。</a:t>
            </a:r>
            <a:endParaRPr lang="en-US" altLang="zh-CN" b="1" dirty="0">
              <a:solidFill>
                <a:srgbClr val="0066FF"/>
              </a:solidFill>
            </a:endParaRPr>
          </a:p>
          <a:p>
            <a:pPr eaLnBrk="1" hangingPunct="1"/>
            <a:endParaRPr lang="en-US" altLang="zh-CN" b="1" dirty="0"/>
          </a:p>
          <a:p>
            <a:pPr eaLnBrk="1" hangingPunct="1"/>
            <a:endParaRPr lang="zh-CN" altLang="en-US" b="1" dirty="0"/>
          </a:p>
        </p:txBody>
      </p:sp>
      <p:pic>
        <p:nvPicPr>
          <p:cNvPr id="1741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700" y="2667000"/>
            <a:ext cx="5041900" cy="304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3" name="Text Box 5"/>
          <p:cNvSpPr txBox="1"/>
          <p:nvPr/>
        </p:nvSpPr>
        <p:spPr>
          <a:xfrm>
            <a:off x="-76200" y="2819400"/>
            <a:ext cx="4191000" cy="2870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1" eaLnBrk="0" hangingPunct="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</a:pPr>
            <a:r>
              <a:rPr lang="zh-CN" altLang="en-US" sz="2800" b="1" dirty="0">
                <a:latin typeface="Arial" panose="020B0604020202020204" pitchFamily="34" charset="0"/>
              </a:rPr>
              <a:t>含义：</a:t>
            </a:r>
            <a:r>
              <a:rPr lang="en-US" altLang="zh-CN" sz="2800" b="1" dirty="0">
                <a:latin typeface="Arial" panose="020B0604020202020204" pitchFamily="34" charset="0"/>
              </a:rPr>
              <a:t>OS </a:t>
            </a:r>
            <a:r>
              <a:rPr lang="zh-CN" altLang="en-US" sz="2800" b="1" dirty="0">
                <a:latin typeface="Arial" panose="020B0604020202020204" pitchFamily="34" charset="0"/>
              </a:rPr>
              <a:t>处于用户与计算机硬件系统之间，用户通过</a:t>
            </a:r>
            <a:r>
              <a:rPr lang="en-US" altLang="zh-CN" sz="2800" b="1" dirty="0">
                <a:latin typeface="Arial" panose="020B0604020202020204" pitchFamily="34" charset="0"/>
              </a:rPr>
              <a:t>OS</a:t>
            </a:r>
            <a:r>
              <a:rPr lang="zh-CN" altLang="en-US" sz="2800" b="1" dirty="0">
                <a:latin typeface="Arial" panose="020B0604020202020204" pitchFamily="34" charset="0"/>
              </a:rPr>
              <a:t>来使用计算机系统。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741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</a:rPr>
              <a:t>1.1.2 </a:t>
            </a:r>
            <a:r>
              <a:rPr lang="zh-CN" altLang="en-US" b="1" dirty="0">
                <a:solidFill>
                  <a:srgbClr val="0066FF"/>
                </a:solidFill>
              </a:rPr>
              <a:t>操作系统的作用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4294967295"/>
          </p:nvPr>
        </p:nvSpPr>
        <p:spPr>
          <a:xfrm>
            <a:off x="0" y="1981200"/>
            <a:ext cx="8229600" cy="38862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</a:rPr>
              <a:t>2</a:t>
            </a:r>
            <a:r>
              <a:rPr lang="zh-CN" altLang="en-US" b="1" dirty="0">
                <a:solidFill>
                  <a:srgbClr val="0066FF"/>
                </a:solidFill>
              </a:rPr>
              <a:t>．</a:t>
            </a:r>
            <a:r>
              <a:rPr lang="en-US" altLang="zh-CN" b="1" dirty="0">
                <a:solidFill>
                  <a:srgbClr val="0066FF"/>
                </a:solidFill>
              </a:rPr>
              <a:t>OS</a:t>
            </a:r>
            <a:r>
              <a:rPr lang="zh-CN" altLang="en-US" b="1" dirty="0">
                <a:solidFill>
                  <a:srgbClr val="0066FF"/>
                </a:solidFill>
              </a:rPr>
              <a:t>作为计算机系统资源的管理者</a:t>
            </a:r>
          </a:p>
          <a:p>
            <a:pPr lvl="1" eaLnBrk="1" hangingPunct="1"/>
            <a:r>
              <a:rPr lang="zh-CN" altLang="en-US" b="1" dirty="0"/>
              <a:t>从资源管理的观点看，则可把</a:t>
            </a:r>
            <a:r>
              <a:rPr lang="en-US" altLang="zh-CN" b="1" dirty="0"/>
              <a:t>OS</a:t>
            </a:r>
            <a:r>
              <a:rPr lang="zh-CN" altLang="en-US" b="1" dirty="0"/>
              <a:t>视为计算机</a:t>
            </a:r>
          </a:p>
          <a:p>
            <a:pPr lvl="1" eaLnBrk="1" hangingPunct="1">
              <a:buNone/>
            </a:pPr>
            <a:r>
              <a:rPr lang="zh-CN" altLang="en-US" b="1" dirty="0"/>
              <a:t>系统资源的管理者。</a:t>
            </a:r>
            <a:endParaRPr lang="en-US" altLang="zh-CN" b="1" dirty="0"/>
          </a:p>
          <a:p>
            <a:pPr lvl="2" eaLnBrk="1" hangingPunct="1"/>
            <a:r>
              <a:rPr lang="zh-CN" altLang="en-US" sz="2800" b="1" dirty="0">
                <a:solidFill>
                  <a:srgbClr val="0066FF"/>
                </a:solidFill>
              </a:rPr>
              <a:t>处理机管理</a:t>
            </a:r>
            <a:endParaRPr lang="en-US" altLang="zh-CN" sz="2800" b="1" dirty="0">
              <a:solidFill>
                <a:srgbClr val="0066FF"/>
              </a:solidFill>
            </a:endParaRPr>
          </a:p>
          <a:p>
            <a:pPr lvl="2" eaLnBrk="1" hangingPunct="1"/>
            <a:r>
              <a:rPr lang="zh-CN" altLang="en-US" sz="2800" b="1" dirty="0">
                <a:solidFill>
                  <a:srgbClr val="0066FF"/>
                </a:solidFill>
              </a:rPr>
              <a:t>存储器管理</a:t>
            </a:r>
            <a:endParaRPr lang="en-US" altLang="zh-CN" sz="2800" b="1" dirty="0">
              <a:solidFill>
                <a:srgbClr val="0066FF"/>
              </a:solidFill>
            </a:endParaRPr>
          </a:p>
          <a:p>
            <a:pPr lvl="2" eaLnBrk="1" hangingPunct="1"/>
            <a:r>
              <a:rPr lang="en-US" altLang="zh-CN" sz="2800" b="1" dirty="0">
                <a:solidFill>
                  <a:srgbClr val="0066FF"/>
                </a:solidFill>
              </a:rPr>
              <a:t>I/O</a:t>
            </a:r>
            <a:r>
              <a:rPr lang="zh-CN" altLang="en-US" sz="2800" b="1" dirty="0">
                <a:solidFill>
                  <a:srgbClr val="0066FF"/>
                </a:solidFill>
              </a:rPr>
              <a:t>设备管理</a:t>
            </a:r>
            <a:endParaRPr lang="en-US" altLang="zh-CN" sz="2800" b="1" dirty="0">
              <a:solidFill>
                <a:srgbClr val="0066FF"/>
              </a:solidFill>
            </a:endParaRPr>
          </a:p>
          <a:p>
            <a:pPr lvl="2" eaLnBrk="1" hangingPunct="1"/>
            <a:r>
              <a:rPr lang="zh-CN" altLang="en-US" sz="2800" b="1" dirty="0">
                <a:solidFill>
                  <a:srgbClr val="0066FF"/>
                </a:solidFill>
              </a:rPr>
              <a:t>文件管理</a:t>
            </a:r>
            <a:endParaRPr lang="en-US" altLang="zh-CN" sz="2800" b="1" dirty="0">
              <a:solidFill>
                <a:srgbClr val="0066FF"/>
              </a:solidFill>
            </a:endParaRPr>
          </a:p>
          <a:p>
            <a:pPr lvl="1" eaLnBrk="1" hangingPunct="1">
              <a:buNone/>
            </a:pPr>
            <a:r>
              <a:rPr lang="en-US" altLang="zh-CN" b="1" dirty="0"/>
              <a:t>	</a:t>
            </a:r>
            <a:endParaRPr lang="zh-CN" alt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</a:rPr>
              <a:t>1.1.2 </a:t>
            </a:r>
            <a:r>
              <a:rPr lang="zh-CN" altLang="en-US" b="1" dirty="0">
                <a:solidFill>
                  <a:srgbClr val="0066FF"/>
                </a:solidFill>
              </a:rPr>
              <a:t>操作系统的作用</a:t>
            </a:r>
          </a:p>
        </p:txBody>
      </p:sp>
      <p:sp>
        <p:nvSpPr>
          <p:cNvPr id="18435" name="Rectangle 3"/>
          <p:cNvSpPr>
            <a:spLocks noGrp="1"/>
          </p:cNvSpPr>
          <p:nvPr>
            <p:ph idx="4294967295"/>
          </p:nvPr>
        </p:nvSpPr>
        <p:spPr>
          <a:xfrm>
            <a:off x="304800" y="1676400"/>
            <a:ext cx="8382000" cy="44958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</a:rPr>
              <a:t>3.OS</a:t>
            </a:r>
            <a:r>
              <a:rPr lang="zh-CN" altLang="en-US" b="1" dirty="0">
                <a:solidFill>
                  <a:srgbClr val="0066FF"/>
                </a:solidFill>
              </a:rPr>
              <a:t>实现了对计算机资源的抽象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/>
              <a:t>对于一个完全无软件的计算机系统</a:t>
            </a:r>
            <a:r>
              <a:rPr lang="en-US" altLang="zh-CN" b="1" dirty="0"/>
              <a:t>(</a:t>
            </a:r>
            <a:r>
              <a:rPr lang="zh-CN" altLang="en-US" b="1" dirty="0"/>
              <a:t>即裸机</a:t>
            </a:r>
            <a:r>
              <a:rPr lang="en-US" altLang="zh-CN" b="1" dirty="0"/>
              <a:t>)</a:t>
            </a:r>
            <a:r>
              <a:rPr lang="zh-CN" altLang="en-US" b="1" dirty="0"/>
              <a:t>，它向用户提供的是实际硬件接口</a:t>
            </a:r>
            <a:r>
              <a:rPr lang="en-US" altLang="zh-CN" b="1" dirty="0"/>
              <a:t>(</a:t>
            </a:r>
            <a:r>
              <a:rPr lang="zh-CN" altLang="en-US" b="1" dirty="0"/>
              <a:t>物理接口</a:t>
            </a:r>
            <a:r>
              <a:rPr lang="en-US" altLang="zh-CN" b="1" dirty="0"/>
              <a:t>)</a:t>
            </a:r>
            <a:r>
              <a:rPr lang="zh-CN" altLang="en-US" b="1" dirty="0"/>
              <a:t>，用户必须对物理接口的实现细节有充分的了解，并利用机器指令进行编程，因此很难使用。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通过</a:t>
            </a:r>
            <a:r>
              <a:rPr lang="en-US" altLang="zh-CN" b="1" dirty="0">
                <a:solidFill>
                  <a:srgbClr val="FF0000"/>
                </a:solidFill>
              </a:rPr>
              <a:t>OS</a:t>
            </a:r>
            <a:r>
              <a:rPr lang="zh-CN" altLang="en-US" b="1" dirty="0">
                <a:solidFill>
                  <a:srgbClr val="FF0000"/>
                </a:solidFill>
              </a:rPr>
              <a:t>的</a:t>
            </a:r>
            <a:r>
              <a:rPr lang="en-US" altLang="zh-CN" b="1" dirty="0">
                <a:solidFill>
                  <a:srgbClr val="FF0000"/>
                </a:solidFill>
              </a:rPr>
              <a:t>I</a:t>
            </a:r>
            <a:r>
              <a:rPr lang="zh-CN" altLang="en-US" b="1" dirty="0">
                <a:solidFill>
                  <a:srgbClr val="FF0000"/>
                </a:solidFill>
              </a:rPr>
              <a:t>／Ｏ管理实现了对计算机资源的抽象，帮助用户对硬件资源的使用和管理。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 idx="4294967295"/>
          </p:nvPr>
        </p:nvSpPr>
        <p:spPr>
          <a:xfrm>
            <a:off x="1076325" y="228600"/>
            <a:ext cx="8067675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</a:rPr>
              <a:t>1.2 </a:t>
            </a:r>
            <a:r>
              <a:rPr lang="zh-CN" altLang="en-US" b="1" dirty="0">
                <a:solidFill>
                  <a:srgbClr val="0066FF"/>
                </a:solidFill>
              </a:rPr>
              <a:t>操作系统的发展过程</a:t>
            </a:r>
          </a:p>
        </p:txBody>
      </p:sp>
      <p:sp>
        <p:nvSpPr>
          <p:cNvPr id="189443" name="Rectangle 3"/>
          <p:cNvSpPr>
            <a:spLocks noGrp="1"/>
          </p:cNvSpPr>
          <p:nvPr>
            <p:ph sz="half" idx="4294967295"/>
          </p:nvPr>
        </p:nvSpPr>
        <p:spPr>
          <a:xfrm>
            <a:off x="457200" y="1828800"/>
            <a:ext cx="4187825" cy="3862705"/>
          </a:xfrm>
        </p:spPr>
        <p:txBody>
          <a:bodyPr vert="horz" wrap="square" lIns="91440" tIns="45720" rIns="91440" bIns="45720" anchor="t"/>
          <a:lstStyle>
            <a:lvl1pPr lvl="0">
              <a:buClr>
                <a:schemeClr val="folHlink"/>
              </a:buClr>
              <a:buSzPct val="85000"/>
              <a:buFont typeface="Wingdings 2" pitchFamily="18" charset="2"/>
              <a:defRPr sz="2800"/>
            </a:lvl1pPr>
            <a:lvl2pPr lvl="1">
              <a:buClr>
                <a:schemeClr val="folHlink"/>
              </a:buClr>
              <a:buSzPct val="85000"/>
              <a:buFont typeface="Wingdings 2" pitchFamily="18" charset="2"/>
              <a:defRPr sz="2400"/>
            </a:lvl2pPr>
            <a:lvl3pPr lvl="2">
              <a:buClr>
                <a:schemeClr val="folHlink"/>
              </a:buClr>
              <a:buSzPct val="85000"/>
              <a:buFont typeface="Wingdings 2" pitchFamily="18" charset="2"/>
              <a:defRPr sz="2000"/>
            </a:lvl3pPr>
            <a:lvl4pPr lvl="3">
              <a:buClr>
                <a:schemeClr val="folHlink"/>
              </a:buClr>
              <a:buSzPct val="85000"/>
              <a:buFont typeface="Wingdings 2" pitchFamily="18" charset="2"/>
              <a:defRPr sz="1800"/>
            </a:lvl4pPr>
            <a:lvl5pPr lvl="4">
              <a:buClr>
                <a:schemeClr val="folHlink"/>
              </a:buClr>
              <a:buSzPct val="85000"/>
              <a:buFont typeface="Wingdings 2" pitchFamily="18" charset="2"/>
              <a:defRPr sz="1800"/>
            </a:lvl5pPr>
          </a:lstStyle>
          <a:p>
            <a:pPr lvl="0" eaLnBrk="1" hangingPunct="1">
              <a:lnSpc>
                <a:spcPct val="90000"/>
              </a:lnSpc>
            </a:pPr>
            <a:r>
              <a:rPr lang="zh-CN" altLang="en-US" b="1" dirty="0"/>
              <a:t>操作系统的产生</a:t>
            </a:r>
            <a:endParaRPr lang="zh-CN" altLang="en-US" sz="3200" b="1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手工操作阶段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成批处理阶段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执行系统阶段</a:t>
            </a:r>
            <a:endParaRPr lang="zh-CN" altLang="en-US" sz="2800" b="1" dirty="0"/>
          </a:p>
          <a:p>
            <a:pPr lvl="0" eaLnBrk="1" hangingPunct="1">
              <a:lnSpc>
                <a:spcPct val="90000"/>
              </a:lnSpc>
            </a:pPr>
            <a:r>
              <a:rPr lang="zh-CN" altLang="en-US" b="1" dirty="0"/>
              <a:t>操作系统的完善</a:t>
            </a:r>
            <a:endParaRPr lang="zh-CN" altLang="en-US" sz="3200" b="1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多道批处理系统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分时系统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实时处理系统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通用操作系统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 b="1" dirty="0"/>
          </a:p>
          <a:p>
            <a:pPr lvl="1" eaLnBrk="1" hangingPunct="1">
              <a:lnSpc>
                <a:spcPct val="90000"/>
              </a:lnSpc>
            </a:pPr>
            <a:endParaRPr lang="zh-CN" altLang="en-US" b="1" dirty="0"/>
          </a:p>
          <a:p>
            <a:pPr lvl="0" eaLnBrk="1" hangingPunct="1">
              <a:lnSpc>
                <a:spcPct val="90000"/>
              </a:lnSpc>
            </a:pPr>
            <a:endParaRPr lang="zh-CN" altLang="en-US" b="1" dirty="0"/>
          </a:p>
          <a:p>
            <a:pPr lvl="0" eaLnBrk="1" hangingPunct="1">
              <a:lnSpc>
                <a:spcPct val="90000"/>
              </a:lnSpc>
            </a:pPr>
            <a:endParaRPr lang="en-US" altLang="zh-CN" b="1" dirty="0"/>
          </a:p>
        </p:txBody>
      </p:sp>
      <p:sp>
        <p:nvSpPr>
          <p:cNvPr id="189444" name="Rectangle 4"/>
          <p:cNvSpPr>
            <a:spLocks noGrp="1"/>
          </p:cNvSpPr>
          <p:nvPr>
            <p:ph sz="half" idx="4294967295"/>
          </p:nvPr>
        </p:nvSpPr>
        <p:spPr>
          <a:xfrm>
            <a:off x="4956175" y="1978025"/>
            <a:ext cx="4187825" cy="3863975"/>
          </a:xfrm>
        </p:spPr>
        <p:txBody>
          <a:bodyPr vert="horz" wrap="square" lIns="91440" tIns="45720" rIns="91440" bIns="45720" anchor="t"/>
          <a:lstStyle>
            <a:lvl1pPr lvl="0">
              <a:buClr>
                <a:schemeClr val="folHlink"/>
              </a:buClr>
              <a:buSzPct val="85000"/>
              <a:buFont typeface="Wingdings 2" pitchFamily="18" charset="2"/>
              <a:defRPr sz="2800"/>
            </a:lvl1pPr>
            <a:lvl2pPr lvl="1">
              <a:buClr>
                <a:schemeClr val="folHlink"/>
              </a:buClr>
              <a:buSzPct val="85000"/>
              <a:buFont typeface="Wingdings 2" pitchFamily="18" charset="2"/>
              <a:defRPr sz="2400"/>
            </a:lvl2pPr>
            <a:lvl3pPr lvl="2">
              <a:buClr>
                <a:schemeClr val="folHlink"/>
              </a:buClr>
              <a:buSzPct val="85000"/>
              <a:buFont typeface="Wingdings 2" pitchFamily="18" charset="2"/>
              <a:defRPr sz="2000"/>
            </a:lvl3pPr>
            <a:lvl4pPr lvl="3">
              <a:buClr>
                <a:schemeClr val="folHlink"/>
              </a:buClr>
              <a:buSzPct val="85000"/>
              <a:buFont typeface="Wingdings 2" pitchFamily="18" charset="2"/>
              <a:defRPr sz="1800"/>
            </a:lvl4pPr>
            <a:lvl5pPr lvl="4">
              <a:buClr>
                <a:schemeClr val="folHlink"/>
              </a:buClr>
              <a:buSzPct val="85000"/>
              <a:buFont typeface="Wingdings 2" pitchFamily="18" charset="2"/>
              <a:defRPr sz="1800"/>
            </a:lvl5pPr>
          </a:lstStyle>
          <a:p>
            <a:pPr lvl="0" eaLnBrk="1" hangingPunct="1">
              <a:lnSpc>
                <a:spcPct val="90000"/>
              </a:lnSpc>
            </a:pPr>
            <a:r>
              <a:rPr lang="zh-CN" altLang="en-US" b="1" dirty="0"/>
              <a:t>操作系统的发展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计算机网络的出现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微型计算机的普及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极强的计算和处理能力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微内核操作系统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多核操作系统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9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9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9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9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9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9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 build="p"/>
      <p:bldP spid="18944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</a:rPr>
              <a:t>1.2 </a:t>
            </a:r>
            <a:r>
              <a:rPr lang="zh-CN" altLang="en-US" b="1" dirty="0">
                <a:solidFill>
                  <a:srgbClr val="0066FF"/>
                </a:solidFill>
              </a:rPr>
              <a:t>操作系统的发展过程</a:t>
            </a:r>
          </a:p>
        </p:txBody>
      </p:sp>
      <p:sp>
        <p:nvSpPr>
          <p:cNvPr id="190468" name="Rectangle 4"/>
          <p:cNvSpPr>
            <a:spLocks noGrp="1"/>
          </p:cNvSpPr>
          <p:nvPr>
            <p:ph idx="4294967295"/>
          </p:nvPr>
        </p:nvSpPr>
        <p:spPr>
          <a:xfrm>
            <a:off x="914400" y="1524000"/>
            <a:ext cx="8229600" cy="38862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2400" b="1" dirty="0"/>
              <a:t>无操作系统</a:t>
            </a:r>
          </a:p>
          <a:p>
            <a:pPr eaLnBrk="1" hangingPunct="1"/>
            <a:r>
              <a:rPr lang="zh-CN" altLang="en-US" sz="2400" b="1" dirty="0"/>
              <a:t>单道批处理操作系统</a:t>
            </a:r>
          </a:p>
          <a:p>
            <a:pPr eaLnBrk="1" hangingPunct="1"/>
            <a:r>
              <a:rPr lang="zh-CN" altLang="en-US" sz="2400" b="1" dirty="0"/>
              <a:t>多道批处理操作系统</a:t>
            </a:r>
          </a:p>
          <a:p>
            <a:pPr eaLnBrk="1" hangingPunct="1"/>
            <a:r>
              <a:rPr lang="zh-CN" altLang="en-US" sz="2400" b="1" dirty="0"/>
              <a:t>分时操作系统</a:t>
            </a:r>
            <a:r>
              <a:rPr lang="en-US" altLang="zh-CN" sz="2400" dirty="0"/>
              <a:t>(time-sharing system) </a:t>
            </a:r>
          </a:p>
          <a:p>
            <a:pPr eaLnBrk="1" hangingPunct="1"/>
            <a:r>
              <a:rPr lang="zh-CN" altLang="en-US" sz="2400" b="1" dirty="0"/>
              <a:t>实时操作系统</a:t>
            </a:r>
            <a:r>
              <a:rPr lang="en-US" altLang="zh-CN" sz="2400" dirty="0"/>
              <a:t>(real time system)</a:t>
            </a:r>
          </a:p>
          <a:p>
            <a:pPr eaLnBrk="1" hangingPunct="1"/>
            <a:r>
              <a:rPr lang="zh-CN" altLang="en-US" sz="2400" b="1" dirty="0"/>
              <a:t>微机操作系统的发展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0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90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90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90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90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904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0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0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0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0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0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04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190468" grpId="0" build="p"/>
      <p:bldP spid="190468" grpI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00CC"/>
                </a:solidFill>
                <a:ea typeface="黑体" panose="02010609060101010101" pitchFamily="2" charset="-122"/>
              </a:rPr>
              <a:t>1.2.1 </a:t>
            </a:r>
            <a:r>
              <a:rPr lang="zh-CN" altLang="en-US" b="1" dirty="0">
                <a:solidFill>
                  <a:srgbClr val="0000CC"/>
                </a:solidFill>
                <a:ea typeface="黑体" panose="02010609060101010101" pitchFamily="2" charset="-122"/>
              </a:rPr>
              <a:t>无操作系统的计算机系统</a:t>
            </a:r>
          </a:p>
        </p:txBody>
      </p:sp>
      <p:sp>
        <p:nvSpPr>
          <p:cNvPr id="23555" name="Rectangle 3"/>
          <p:cNvSpPr>
            <a:spLocks noGrp="1"/>
          </p:cNvSpPr>
          <p:nvPr>
            <p:ph idx="4294967295"/>
          </p:nvPr>
        </p:nvSpPr>
        <p:spPr>
          <a:xfrm>
            <a:off x="0" y="1981200"/>
            <a:ext cx="8229600" cy="38862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/>
              <a:t>1</a:t>
            </a:r>
            <a:r>
              <a:rPr lang="zh-CN" altLang="en-US" b="1" dirty="0"/>
              <a:t>．人工操作方式（</a:t>
            </a:r>
            <a:r>
              <a:rPr lang="en-US" altLang="zh-CN" b="1" dirty="0"/>
              <a:t>20</a:t>
            </a:r>
            <a:r>
              <a:rPr lang="zh-CN" altLang="en-US" b="1" dirty="0"/>
              <a:t>世纪</a:t>
            </a:r>
            <a:r>
              <a:rPr lang="en-US" altLang="zh-CN" b="1" dirty="0"/>
              <a:t>50</a:t>
            </a:r>
            <a:r>
              <a:rPr lang="zh-CN" altLang="en-US" b="1" dirty="0"/>
              <a:t>年代）</a:t>
            </a:r>
          </a:p>
          <a:p>
            <a:pPr lvl="1" eaLnBrk="1" hangingPunct="1"/>
            <a:r>
              <a:rPr lang="zh-CN" altLang="en-US" b="1" dirty="0"/>
              <a:t>人工控制</a:t>
            </a:r>
          </a:p>
          <a:p>
            <a:pPr eaLnBrk="1" hangingPunct="1"/>
            <a:r>
              <a:rPr lang="en-US" altLang="zh-CN" b="1" dirty="0"/>
              <a:t>2</a:t>
            </a:r>
            <a:r>
              <a:rPr lang="zh-CN" altLang="en-US" b="1" dirty="0"/>
              <a:t>．脱机输入</a:t>
            </a:r>
            <a:r>
              <a:rPr lang="en-US" altLang="zh-CN" b="1" dirty="0"/>
              <a:t>/</a:t>
            </a:r>
            <a:r>
              <a:rPr lang="zh-CN" altLang="en-US" b="1" dirty="0"/>
              <a:t>输出方式</a:t>
            </a:r>
          </a:p>
          <a:p>
            <a:pPr lvl="1" eaLnBrk="1" hangingPunct="1"/>
            <a:r>
              <a:rPr lang="zh-CN" altLang="en-US" b="1" dirty="0"/>
              <a:t>，在一台外围机的控制下，把纸带</a:t>
            </a:r>
            <a:r>
              <a:rPr lang="en-US" altLang="zh-CN" b="1" dirty="0"/>
              <a:t>(</a:t>
            </a:r>
            <a:r>
              <a:rPr lang="zh-CN" altLang="en-US" b="1" dirty="0"/>
              <a:t>卡片</a:t>
            </a:r>
            <a:r>
              <a:rPr lang="en-US" altLang="zh-CN" b="1" dirty="0"/>
              <a:t>)</a:t>
            </a:r>
            <a:r>
              <a:rPr lang="zh-CN" altLang="en-US" b="1" dirty="0"/>
              <a:t>上的数据</a:t>
            </a:r>
            <a:r>
              <a:rPr lang="en-US" altLang="zh-CN" b="1" dirty="0"/>
              <a:t>(</a:t>
            </a:r>
            <a:r>
              <a:rPr lang="zh-CN" altLang="en-US" b="1" dirty="0"/>
              <a:t>程序</a:t>
            </a:r>
            <a:r>
              <a:rPr lang="en-US" altLang="zh-CN" b="1" dirty="0"/>
              <a:t>)</a:t>
            </a:r>
            <a:r>
              <a:rPr lang="zh-CN" altLang="en-US" b="1" dirty="0"/>
              <a:t>输入到磁带上。当</a:t>
            </a:r>
            <a:r>
              <a:rPr lang="en-US" altLang="zh-CN" b="1" dirty="0"/>
              <a:t>CPU</a:t>
            </a:r>
            <a:r>
              <a:rPr lang="zh-CN" altLang="en-US" b="1" dirty="0"/>
              <a:t>需要这些程序和数据时，再从磁带上将其高速地调入内存。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  <p:bldP spid="2355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 idx="4294967295"/>
          </p:nvPr>
        </p:nvSpPr>
        <p:spPr>
          <a:xfrm>
            <a:off x="917575" y="304800"/>
            <a:ext cx="8226425" cy="10668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0000CC"/>
                </a:solidFill>
                <a:ea typeface="黑体" panose="02010609060101010101" pitchFamily="2" charset="-122"/>
              </a:rPr>
              <a:t>1.2.2</a:t>
            </a:r>
            <a:r>
              <a:rPr lang="zh-CN" altLang="en-US" b="1" dirty="0"/>
              <a:t> </a:t>
            </a:r>
            <a:r>
              <a:rPr lang="zh-CN" altLang="en-US" b="1" dirty="0">
                <a:solidFill>
                  <a:srgbClr val="0000CC"/>
                </a:solidFill>
                <a:ea typeface="黑体" panose="02010609060101010101" pitchFamily="2" charset="-122"/>
              </a:rPr>
              <a:t>单道批处理系统</a:t>
            </a:r>
          </a:p>
        </p:txBody>
      </p:sp>
      <p:sp>
        <p:nvSpPr>
          <p:cNvPr id="24579" name="Rectangle 3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3352800" cy="4572000"/>
          </a:xfrm>
        </p:spPr>
        <p:txBody>
          <a:bodyPr vert="horz" wrap="square" lIns="91440" tIns="45720" rIns="91440" bIns="45720" anchor="t"/>
          <a:lstStyle/>
          <a:p>
            <a:pPr marL="579755" indent="-579755"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系统对作业的处理</a:t>
            </a:r>
          </a:p>
          <a:p>
            <a:pPr marL="579755" indent="-579755"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都是成批进行的，</a:t>
            </a:r>
          </a:p>
          <a:p>
            <a:pPr marL="579755" indent="-579755"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且在</a:t>
            </a:r>
            <a:r>
              <a:rPr lang="zh-CN" altLang="en-US" sz="2800" b="1" dirty="0">
                <a:solidFill>
                  <a:srgbClr val="FF0000"/>
                </a:solidFill>
              </a:rPr>
              <a:t>内存中始终仅</a:t>
            </a:r>
          </a:p>
          <a:p>
            <a:pPr marL="579755" indent="-579755"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存一道作业运行</a:t>
            </a:r>
            <a:r>
              <a:rPr lang="zh-CN" altLang="en-US" sz="2800" b="1" dirty="0"/>
              <a:t>，</a:t>
            </a:r>
          </a:p>
          <a:p>
            <a:pPr marL="579755" indent="-579755"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运行结束或出错，</a:t>
            </a:r>
          </a:p>
          <a:p>
            <a:pPr marL="579755" indent="-579755"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才自动调另一道作</a:t>
            </a:r>
          </a:p>
          <a:p>
            <a:pPr marL="579755" indent="-579755"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业运行，故称为</a:t>
            </a:r>
            <a:r>
              <a:rPr lang="zh-CN" altLang="en-US" sz="2800" b="1" dirty="0">
                <a:solidFill>
                  <a:srgbClr val="FF0000"/>
                </a:solidFill>
              </a:rPr>
              <a:t>单</a:t>
            </a:r>
          </a:p>
          <a:p>
            <a:pPr marL="579755" indent="-579755"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道批处理系统。</a:t>
            </a:r>
          </a:p>
          <a:p>
            <a:pPr marL="579755" indent="-579755" eaLnBrk="1" hangingPunct="1"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24580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752600"/>
            <a:ext cx="5029200" cy="43703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0000CC"/>
                </a:solidFill>
                <a:ea typeface="黑体" panose="02010609060101010101" pitchFamily="2" charset="-122"/>
              </a:rPr>
              <a:t>1.2.2</a:t>
            </a:r>
            <a:r>
              <a:rPr lang="zh-CN" altLang="en-US" b="1" dirty="0"/>
              <a:t> </a:t>
            </a:r>
            <a:r>
              <a:rPr lang="zh-CN" altLang="en-US" b="1" dirty="0">
                <a:solidFill>
                  <a:srgbClr val="0000CC"/>
                </a:solidFill>
                <a:ea typeface="黑体" panose="02010609060101010101" pitchFamily="2" charset="-122"/>
              </a:rPr>
              <a:t>单道批处理系统</a:t>
            </a:r>
          </a:p>
        </p:txBody>
      </p:sp>
      <p:sp>
        <p:nvSpPr>
          <p:cNvPr id="25603" name="Rectangle 3"/>
          <p:cNvSpPr>
            <a:spLocks noGrp="1"/>
          </p:cNvSpPr>
          <p:nvPr>
            <p:ph idx="4294967295"/>
          </p:nvPr>
        </p:nvSpPr>
        <p:spPr>
          <a:xfrm>
            <a:off x="382270" y="1981200"/>
            <a:ext cx="8394065" cy="38862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66FF"/>
                </a:solidFill>
              </a:rPr>
              <a:t>单道批处理系统主要特征</a:t>
            </a:r>
            <a:r>
              <a:rPr lang="zh-CN" altLang="en-US" b="1" dirty="0"/>
              <a:t>：自动性、顺序性、单道性。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单道批处理系统</a:t>
            </a:r>
            <a:r>
              <a:rPr lang="zh-CN" altLang="en-US" b="1" dirty="0">
                <a:solidFill>
                  <a:srgbClr val="0066FF"/>
                </a:solidFill>
              </a:rPr>
              <a:t>主要优点</a:t>
            </a:r>
            <a:r>
              <a:rPr lang="zh-CN" altLang="en-US" b="1" dirty="0"/>
              <a:t>：减少人工操作，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解决了作业的自动接续。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单道批处理系统</a:t>
            </a:r>
            <a:r>
              <a:rPr lang="zh-CN" altLang="en-US" b="1" dirty="0">
                <a:solidFill>
                  <a:srgbClr val="0066FF"/>
                </a:solidFill>
              </a:rPr>
              <a:t>主要缺点</a:t>
            </a:r>
            <a:r>
              <a:rPr lang="zh-CN" altLang="en-US" b="1" dirty="0"/>
              <a:t>：平均周转时间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长，没有交互能力。</a:t>
            </a:r>
          </a:p>
          <a:p>
            <a:pPr eaLnBrk="1" hangingPunct="1">
              <a:buChar char="¡"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 idx="4294967295"/>
          </p:nvPr>
        </p:nvSpPr>
        <p:spPr>
          <a:xfrm>
            <a:off x="0" y="228600"/>
            <a:ext cx="6923405" cy="91313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00CC"/>
                </a:solidFill>
                <a:ea typeface="黑体" panose="02010609060101010101" pitchFamily="2" charset="-122"/>
              </a:rPr>
              <a:t>1.2.3</a:t>
            </a:r>
            <a:r>
              <a:rPr lang="zh-CN" altLang="en-US" b="1" dirty="0">
                <a:solidFill>
                  <a:srgbClr val="0000CC"/>
                </a:solidFill>
                <a:ea typeface="黑体" panose="02010609060101010101" pitchFamily="2" charset="-122"/>
              </a:rPr>
              <a:t>多道批处理系统</a:t>
            </a:r>
          </a:p>
        </p:txBody>
      </p:sp>
      <p:sp>
        <p:nvSpPr>
          <p:cNvPr id="26627" name="Rectangle 3"/>
          <p:cNvSpPr>
            <a:spLocks noGrp="1"/>
          </p:cNvSpPr>
          <p:nvPr>
            <p:ph idx="4294967295"/>
          </p:nvPr>
        </p:nvSpPr>
        <p:spPr>
          <a:xfrm>
            <a:off x="495300" y="1581785"/>
            <a:ext cx="8153400" cy="4648200"/>
          </a:xfrm>
        </p:spPr>
        <p:txBody>
          <a:bodyPr vert="horz" wrap="square" lIns="91440" tIns="45720" rIns="91440" bIns="45720" anchor="t"/>
          <a:lstStyle/>
          <a:p>
            <a:pPr marL="767080" indent="-767080" eaLnBrk="1" hangingPunct="1">
              <a:buFont typeface="Wingdings" panose="05000000000000000000" pitchFamily="2" charset="2"/>
              <a:buNone/>
            </a:pPr>
            <a:r>
              <a:rPr lang="zh-CN" altLang="en-US" sz="3600" b="1" dirty="0">
                <a:solidFill>
                  <a:srgbClr val="0066FF"/>
                </a:solidFill>
              </a:rPr>
              <a:t>一、多道程序的概念：</a:t>
            </a:r>
            <a:r>
              <a:rPr lang="zh-CN" altLang="en-US" sz="3600" b="1" dirty="0">
                <a:solidFill>
                  <a:schemeClr val="hlink"/>
                </a:solidFill>
              </a:rPr>
              <a:t> </a:t>
            </a:r>
            <a:r>
              <a:rPr lang="zh-CN" altLang="en-US" sz="3600" b="1" dirty="0"/>
              <a:t>在内存中存放多道作业运行，运行结束或出错，自动调度内存中的另一道作业运行。</a:t>
            </a:r>
            <a:endParaRPr lang="zh-CN" altLang="en-US" sz="3600" b="1" dirty="0">
              <a:solidFill>
                <a:srgbClr val="0066FF"/>
              </a:solidFill>
            </a:endParaRPr>
          </a:p>
          <a:p>
            <a:pPr marL="767080" indent="-767080" eaLnBrk="1" hangingPunct="1">
              <a:buFont typeface="Wingdings" panose="05000000000000000000" pitchFamily="2" charset="2"/>
              <a:buNone/>
            </a:pPr>
            <a:r>
              <a:rPr lang="zh-CN" altLang="en-US" sz="3600" b="1" dirty="0">
                <a:solidFill>
                  <a:srgbClr val="0066FF"/>
                </a:solidFill>
              </a:rPr>
              <a:t>●多道程序带来的好处：</a:t>
            </a:r>
          </a:p>
          <a:p>
            <a:pPr lvl="1" eaLnBrk="1" hangingPunct="1">
              <a:buNone/>
            </a:pPr>
            <a:r>
              <a:rPr lang="en-US" altLang="zh-CN" b="1" dirty="0"/>
              <a:t>1</a:t>
            </a:r>
            <a:r>
              <a:rPr lang="zh-CN" altLang="en-US" b="1" dirty="0"/>
              <a:t>、提高</a:t>
            </a:r>
            <a:r>
              <a:rPr lang="en-US" altLang="zh-CN" b="1" dirty="0"/>
              <a:t>CPU</a:t>
            </a:r>
            <a:r>
              <a:rPr lang="zh-CN" altLang="en-US" b="1" dirty="0"/>
              <a:t>的利用率。</a:t>
            </a:r>
          </a:p>
          <a:p>
            <a:pPr lvl="1" eaLnBrk="1" hangingPunct="1">
              <a:buNone/>
            </a:pPr>
            <a:r>
              <a:rPr lang="en-US" altLang="zh-CN" b="1" dirty="0"/>
              <a:t>2</a:t>
            </a:r>
            <a:r>
              <a:rPr lang="zh-CN" altLang="en-US" b="1" dirty="0"/>
              <a:t>、提高内存和</a:t>
            </a:r>
            <a:r>
              <a:rPr lang="en-US" altLang="zh-CN" b="1" dirty="0"/>
              <a:t>I/O</a:t>
            </a:r>
            <a:r>
              <a:rPr lang="zh-CN" altLang="en-US" b="1" dirty="0"/>
              <a:t>设备利用率。</a:t>
            </a:r>
          </a:p>
          <a:p>
            <a:pPr lvl="1" eaLnBrk="1" hangingPunct="1">
              <a:buNone/>
            </a:pPr>
            <a:r>
              <a:rPr lang="en-US" altLang="zh-CN" b="1" dirty="0"/>
              <a:t>3</a:t>
            </a:r>
            <a:r>
              <a:rPr lang="zh-CN" altLang="en-US" b="1" dirty="0"/>
              <a:t>、增加系统吞吐率。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/>
          <p:nvPr/>
        </p:nvSpPr>
        <p:spPr>
          <a:xfrm>
            <a:off x="457200" y="533400"/>
            <a:ext cx="8229600" cy="936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altLang="zh-CN" sz="44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1.2.3</a:t>
            </a:r>
            <a:r>
              <a:rPr lang="zh-CN" altLang="en-US" sz="44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多道批处理系统</a:t>
            </a:r>
          </a:p>
        </p:txBody>
      </p:sp>
      <p:sp>
        <p:nvSpPr>
          <p:cNvPr id="27651" name="内容占位符 2"/>
          <p:cNvSpPr/>
          <p:nvPr/>
        </p:nvSpPr>
        <p:spPr>
          <a:xfrm>
            <a:off x="381000" y="1524000"/>
            <a:ext cx="8208963" cy="43481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Arial" panose="020B0604020202020204" pitchFamily="34" charset="0"/>
              </a:rPr>
              <a:t>多道程序设计技术示例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</a:rPr>
              <a:t>           设内存中有三道程序</a:t>
            </a:r>
            <a:r>
              <a:rPr lang="en-US" altLang="zh-CN" sz="2400" b="1" dirty="0">
                <a:latin typeface="Arial" panose="020B0604020202020204" pitchFamily="34" charset="0"/>
              </a:rPr>
              <a:t>A</a:t>
            </a:r>
            <a:r>
              <a:rPr lang="zh-CN" altLang="en-US" sz="2400" b="1" dirty="0">
                <a:latin typeface="Arial" panose="020B0604020202020204" pitchFamily="34" charset="0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</a:rPr>
              <a:t>B</a:t>
            </a:r>
            <a:r>
              <a:rPr lang="zh-CN" altLang="en-US" sz="2400" b="1" dirty="0">
                <a:latin typeface="Arial" panose="020B0604020202020204" pitchFamily="34" charset="0"/>
              </a:rPr>
              <a:t>和</a:t>
            </a:r>
            <a:r>
              <a:rPr lang="en-US" altLang="zh-CN" sz="2400" b="1" dirty="0">
                <a:latin typeface="Arial" panose="020B0604020202020204" pitchFamily="34" charset="0"/>
              </a:rPr>
              <a:t>C</a:t>
            </a:r>
            <a:r>
              <a:rPr lang="zh-CN" altLang="en-US" sz="2400" b="1" dirty="0">
                <a:latin typeface="Arial" panose="020B0604020202020204" pitchFamily="34" charset="0"/>
              </a:rPr>
              <a:t>，它们按</a:t>
            </a:r>
            <a:r>
              <a:rPr lang="en-US" altLang="zh-CN" sz="2400" b="1" dirty="0">
                <a:latin typeface="Arial" panose="020B0604020202020204" pitchFamily="34" charset="0"/>
              </a:rPr>
              <a:t>A</a:t>
            </a:r>
            <a:r>
              <a:rPr lang="zh-CN" altLang="en-US" sz="2400" b="1" dirty="0">
                <a:latin typeface="Arial" panose="020B0604020202020204" pitchFamily="34" charset="0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</a:rPr>
              <a:t>B</a:t>
            </a:r>
            <a:r>
              <a:rPr lang="zh-CN" altLang="en-US" sz="2400" b="1" dirty="0">
                <a:latin typeface="Arial" panose="020B0604020202020204" pitchFamily="34" charset="0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</a:rPr>
              <a:t>C</a:t>
            </a:r>
            <a:r>
              <a:rPr lang="zh-CN" altLang="en-US" sz="2400" b="1" dirty="0">
                <a:latin typeface="Arial" panose="020B0604020202020204" pitchFamily="34" charset="0"/>
              </a:rPr>
              <a:t>的优先次序执行。它们的计算和</a:t>
            </a:r>
            <a:r>
              <a:rPr lang="en-US" altLang="zh-CN" sz="2400" b="1" dirty="0">
                <a:latin typeface="Arial" panose="020B0604020202020204" pitchFamily="34" charset="0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</a:rPr>
              <a:t>操作时间如下表所示。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</a:rPr>
              <a:t>             假设三道程序使用相同的设备进行</a:t>
            </a:r>
            <a:r>
              <a:rPr lang="en-US" altLang="zh-CN" sz="2400" b="1" dirty="0">
                <a:latin typeface="Arial" panose="020B0604020202020204" pitchFamily="34" charset="0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</a:rPr>
              <a:t>操作，即程序以串行方式使用设备，试画出单道运行和多道运行的时间关系图（调度程序的执行时间忽略不计）。在两种情况下，完成这三道程序各要花多少时间？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lang="en-US" altLang="zh-CN" sz="2400" b="1" dirty="0">
              <a:latin typeface="Arial" panose="020B0604020202020204" pitchFamily="34" charset="0"/>
            </a:endParaRPr>
          </a:p>
        </p:txBody>
      </p:sp>
      <p:graphicFrame>
        <p:nvGraphicFramePr>
          <p:cNvPr id="27652" name="表格 27651"/>
          <p:cNvGraphicFramePr/>
          <p:nvPr/>
        </p:nvGraphicFramePr>
        <p:xfrm>
          <a:off x="1981200" y="5029200"/>
          <a:ext cx="5495925" cy="1584325"/>
        </p:xfrm>
        <a:graphic>
          <a:graphicData uri="http://schemas.openxmlformats.org/drawingml/2006/table">
            <a:tbl>
              <a:tblPr/>
              <a:tblGrid>
                <a:gridCol w="137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3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2000" b="1" dirty="0">
                        <a:latin typeface="Arial" panose="020B0604020202020204" pitchFamily="34" charset="0"/>
                      </a:endParaRPr>
                    </a:p>
                  </a:txBody>
                  <a:tcPr marT="45688" marB="4568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688" marB="4568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T="45688" marB="4568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T="45688" marB="4568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Arial" panose="020B0604020202020204" pitchFamily="34" charset="0"/>
                        </a:rPr>
                        <a:t>计算</a:t>
                      </a:r>
                    </a:p>
                  </a:txBody>
                  <a:tcPr marT="45688" marB="4568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30ms</a:t>
                      </a:r>
                    </a:p>
                  </a:txBody>
                  <a:tcPr marT="45688" marB="4568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60ms</a:t>
                      </a:r>
                    </a:p>
                  </a:txBody>
                  <a:tcPr marT="45688" marB="4568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20ms</a:t>
                      </a:r>
                    </a:p>
                  </a:txBody>
                  <a:tcPr marT="45688" marB="4568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I/O</a:t>
                      </a:r>
                    </a:p>
                  </a:txBody>
                  <a:tcPr marT="45688" marB="4568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40ms</a:t>
                      </a:r>
                    </a:p>
                  </a:txBody>
                  <a:tcPr marT="45688" marB="4568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30ms</a:t>
                      </a:r>
                    </a:p>
                  </a:txBody>
                  <a:tcPr marT="45688" marB="4568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40ms</a:t>
                      </a:r>
                    </a:p>
                  </a:txBody>
                  <a:tcPr marT="45688" marB="4568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Arial" panose="020B0604020202020204" pitchFamily="34" charset="0"/>
                        </a:rPr>
                        <a:t>计算</a:t>
                      </a:r>
                    </a:p>
                  </a:txBody>
                  <a:tcPr marT="45688" marB="4568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10ms</a:t>
                      </a:r>
                    </a:p>
                  </a:txBody>
                  <a:tcPr marT="45688" marB="4568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10ms</a:t>
                      </a:r>
                    </a:p>
                  </a:txBody>
                  <a:tcPr marT="45688" marB="4568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20ms</a:t>
                      </a:r>
                    </a:p>
                  </a:txBody>
                  <a:tcPr marT="45688" marB="4568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内容占位符 2"/>
          <p:cNvSpPr/>
          <p:nvPr/>
        </p:nvSpPr>
        <p:spPr>
          <a:xfrm>
            <a:off x="611188" y="1498600"/>
            <a:ext cx="8208962" cy="25923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latin typeface="Arial" panose="020B0604020202020204" pitchFamily="34" charset="0"/>
              </a:rPr>
              <a:t>单道运行的甘特图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3200" b="1" dirty="0">
                <a:latin typeface="Arial" panose="020B0604020202020204" pitchFamily="34" charset="0"/>
              </a:rPr>
              <a:t>           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lang="en-US" altLang="zh-CN" sz="2800" b="1" dirty="0">
              <a:latin typeface="Arial" panose="020B0604020202020204" pitchFamily="34" charset="0"/>
            </a:endParaRPr>
          </a:p>
        </p:txBody>
      </p:sp>
      <p:graphicFrame>
        <p:nvGraphicFramePr>
          <p:cNvPr id="28675" name="表格 28674"/>
          <p:cNvGraphicFramePr/>
          <p:nvPr/>
        </p:nvGraphicFramePr>
        <p:xfrm>
          <a:off x="1908175" y="2220913"/>
          <a:ext cx="5495925" cy="1828800"/>
        </p:xfrm>
        <a:graphic>
          <a:graphicData uri="http://schemas.openxmlformats.org/drawingml/2006/table">
            <a:tbl>
              <a:tblPr/>
              <a:tblGrid>
                <a:gridCol w="137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3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24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Arial" panose="020B0604020202020204" pitchFamily="34" charset="0"/>
                        </a:rPr>
                        <a:t>计算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30ms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60ms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20ms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I/O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40ms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30ms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40ms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Arial" panose="020B0604020202020204" pitchFamily="34" charset="0"/>
                        </a:rPr>
                        <a:t>计算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10ms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10ms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20ms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8702" name="Group 103"/>
          <p:cNvGrpSpPr/>
          <p:nvPr/>
        </p:nvGrpSpPr>
        <p:grpSpPr>
          <a:xfrm>
            <a:off x="304800" y="3962400"/>
            <a:ext cx="8388350" cy="2460625"/>
            <a:chOff x="204" y="2156"/>
            <a:chExt cx="5284" cy="1550"/>
          </a:xfrm>
        </p:grpSpPr>
        <p:sp>
          <p:nvSpPr>
            <p:cNvPr id="28704" name="Text Box 104"/>
            <p:cNvSpPr txBox="1"/>
            <p:nvPr/>
          </p:nvSpPr>
          <p:spPr>
            <a:xfrm>
              <a:off x="4785" y="3290"/>
              <a:ext cx="70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</a:rPr>
                <a:t>时间</a:t>
              </a:r>
              <a:r>
                <a:rPr lang="en-US" altLang="zh-CN" dirty="0">
                  <a:latin typeface="Arial" panose="020B0604020202020204" pitchFamily="34" charset="0"/>
                </a:rPr>
                <a:t>( ms)</a:t>
              </a:r>
            </a:p>
          </p:txBody>
        </p:sp>
        <p:sp>
          <p:nvSpPr>
            <p:cNvPr id="28705" name="Line 105"/>
            <p:cNvSpPr/>
            <p:nvPr/>
          </p:nvSpPr>
          <p:spPr>
            <a:xfrm>
              <a:off x="748" y="3430"/>
              <a:ext cx="399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706" name="Line 106"/>
            <p:cNvSpPr/>
            <p:nvPr/>
          </p:nvSpPr>
          <p:spPr>
            <a:xfrm flipV="1">
              <a:off x="748" y="2432"/>
              <a:ext cx="0" cy="99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707" name="Line 107"/>
            <p:cNvSpPr/>
            <p:nvPr/>
          </p:nvSpPr>
          <p:spPr>
            <a:xfrm>
              <a:off x="657" y="2723"/>
              <a:ext cx="9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8" name="Line 108"/>
            <p:cNvSpPr/>
            <p:nvPr/>
          </p:nvSpPr>
          <p:spPr>
            <a:xfrm>
              <a:off x="657" y="3067"/>
              <a:ext cx="9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9" name="Text Box 109"/>
            <p:cNvSpPr txBox="1"/>
            <p:nvPr/>
          </p:nvSpPr>
          <p:spPr>
            <a:xfrm>
              <a:off x="295" y="2614"/>
              <a:ext cx="36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I/O</a:t>
              </a:r>
            </a:p>
          </p:txBody>
        </p:sp>
        <p:sp>
          <p:nvSpPr>
            <p:cNvPr id="28710" name="Text Box 110"/>
            <p:cNvSpPr txBox="1"/>
            <p:nvPr/>
          </p:nvSpPr>
          <p:spPr>
            <a:xfrm>
              <a:off x="204" y="2931"/>
              <a:ext cx="45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</a:rPr>
                <a:t>计算</a:t>
              </a:r>
            </a:p>
          </p:txBody>
        </p:sp>
        <p:sp>
          <p:nvSpPr>
            <p:cNvPr id="28711" name="Text Box 111"/>
            <p:cNvSpPr txBox="1"/>
            <p:nvPr/>
          </p:nvSpPr>
          <p:spPr>
            <a:xfrm>
              <a:off x="435" y="2156"/>
              <a:ext cx="70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</a:rPr>
                <a:t>活动列表</a:t>
              </a:r>
            </a:p>
          </p:txBody>
        </p:sp>
        <p:sp>
          <p:nvSpPr>
            <p:cNvPr id="28712" name="Line 112"/>
            <p:cNvSpPr/>
            <p:nvPr/>
          </p:nvSpPr>
          <p:spPr>
            <a:xfrm>
              <a:off x="748" y="3067"/>
              <a:ext cx="40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3" name="Line 113"/>
            <p:cNvSpPr/>
            <p:nvPr/>
          </p:nvSpPr>
          <p:spPr>
            <a:xfrm>
              <a:off x="1156" y="2704"/>
              <a:ext cx="0" cy="72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714" name="Line 114"/>
            <p:cNvSpPr/>
            <p:nvPr/>
          </p:nvSpPr>
          <p:spPr>
            <a:xfrm>
              <a:off x="1156" y="2704"/>
              <a:ext cx="59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5" name="Line 115"/>
            <p:cNvSpPr/>
            <p:nvPr/>
          </p:nvSpPr>
          <p:spPr>
            <a:xfrm>
              <a:off x="2653" y="2704"/>
              <a:ext cx="0" cy="72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716" name="Line 116"/>
            <p:cNvSpPr/>
            <p:nvPr/>
          </p:nvSpPr>
          <p:spPr>
            <a:xfrm>
              <a:off x="1746" y="3067"/>
              <a:ext cx="90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7" name="Line 117"/>
            <p:cNvSpPr/>
            <p:nvPr/>
          </p:nvSpPr>
          <p:spPr>
            <a:xfrm>
              <a:off x="1746" y="2704"/>
              <a:ext cx="0" cy="72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718" name="Line 118"/>
            <p:cNvSpPr/>
            <p:nvPr/>
          </p:nvSpPr>
          <p:spPr>
            <a:xfrm>
              <a:off x="2653" y="2704"/>
              <a:ext cx="40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9" name="Line 119"/>
            <p:cNvSpPr/>
            <p:nvPr/>
          </p:nvSpPr>
          <p:spPr>
            <a:xfrm>
              <a:off x="3061" y="3058"/>
              <a:ext cx="40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0" name="Line 120"/>
            <p:cNvSpPr/>
            <p:nvPr/>
          </p:nvSpPr>
          <p:spPr>
            <a:xfrm>
              <a:off x="3061" y="2704"/>
              <a:ext cx="0" cy="72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721" name="Line 121"/>
            <p:cNvSpPr/>
            <p:nvPr/>
          </p:nvSpPr>
          <p:spPr>
            <a:xfrm>
              <a:off x="3470" y="2704"/>
              <a:ext cx="59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2" name="Line 122"/>
            <p:cNvSpPr/>
            <p:nvPr/>
          </p:nvSpPr>
          <p:spPr>
            <a:xfrm>
              <a:off x="4060" y="3067"/>
              <a:ext cx="31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3" name="Line 123"/>
            <p:cNvSpPr/>
            <p:nvPr/>
          </p:nvSpPr>
          <p:spPr>
            <a:xfrm>
              <a:off x="3470" y="2704"/>
              <a:ext cx="0" cy="72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724" name="Line 124"/>
            <p:cNvSpPr/>
            <p:nvPr/>
          </p:nvSpPr>
          <p:spPr>
            <a:xfrm>
              <a:off x="4059" y="2704"/>
              <a:ext cx="0" cy="72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725" name="Line 125"/>
            <p:cNvSpPr/>
            <p:nvPr/>
          </p:nvSpPr>
          <p:spPr>
            <a:xfrm>
              <a:off x="3189" y="3067"/>
              <a:ext cx="0" cy="36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726" name="Line 126"/>
            <p:cNvSpPr/>
            <p:nvPr/>
          </p:nvSpPr>
          <p:spPr>
            <a:xfrm>
              <a:off x="4377" y="3067"/>
              <a:ext cx="0" cy="36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727" name="Text Box 127"/>
            <p:cNvSpPr txBox="1"/>
            <p:nvPr/>
          </p:nvSpPr>
          <p:spPr>
            <a:xfrm>
              <a:off x="829" y="2864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8728" name="Text Box 128"/>
            <p:cNvSpPr txBox="1"/>
            <p:nvPr/>
          </p:nvSpPr>
          <p:spPr>
            <a:xfrm>
              <a:off x="1292" y="2487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8729" name="Text Box 129"/>
            <p:cNvSpPr txBox="1"/>
            <p:nvPr/>
          </p:nvSpPr>
          <p:spPr>
            <a:xfrm>
              <a:off x="1736" y="2863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8730" name="Text Box 130"/>
            <p:cNvSpPr txBox="1"/>
            <p:nvPr/>
          </p:nvSpPr>
          <p:spPr>
            <a:xfrm>
              <a:off x="2199" y="2845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8731" name="Text Box 131"/>
            <p:cNvSpPr txBox="1"/>
            <p:nvPr/>
          </p:nvSpPr>
          <p:spPr>
            <a:xfrm>
              <a:off x="2744" y="2487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8732" name="Text Box 132"/>
            <p:cNvSpPr txBox="1"/>
            <p:nvPr/>
          </p:nvSpPr>
          <p:spPr>
            <a:xfrm>
              <a:off x="3016" y="2849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8733" name="Text Box 133"/>
            <p:cNvSpPr txBox="1"/>
            <p:nvPr/>
          </p:nvSpPr>
          <p:spPr>
            <a:xfrm>
              <a:off x="3215" y="2868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28734" name="Text Box 134"/>
            <p:cNvSpPr txBox="1"/>
            <p:nvPr/>
          </p:nvSpPr>
          <p:spPr>
            <a:xfrm>
              <a:off x="3615" y="2496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28735" name="Text Box 135"/>
            <p:cNvSpPr txBox="1"/>
            <p:nvPr/>
          </p:nvSpPr>
          <p:spPr>
            <a:xfrm>
              <a:off x="4096" y="2858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28736" name="Text Box 136"/>
            <p:cNvSpPr txBox="1"/>
            <p:nvPr/>
          </p:nvSpPr>
          <p:spPr>
            <a:xfrm>
              <a:off x="657" y="3457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28737" name="Text Box 137"/>
            <p:cNvSpPr txBox="1"/>
            <p:nvPr/>
          </p:nvSpPr>
          <p:spPr>
            <a:xfrm>
              <a:off x="1011" y="3457"/>
              <a:ext cx="31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30</a:t>
              </a:r>
            </a:p>
          </p:txBody>
        </p:sp>
        <p:sp>
          <p:nvSpPr>
            <p:cNvPr id="28738" name="Text Box 138"/>
            <p:cNvSpPr txBox="1"/>
            <p:nvPr/>
          </p:nvSpPr>
          <p:spPr>
            <a:xfrm>
              <a:off x="1592" y="3466"/>
              <a:ext cx="31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70</a:t>
              </a:r>
            </a:p>
          </p:txBody>
        </p:sp>
        <p:sp>
          <p:nvSpPr>
            <p:cNvPr id="28739" name="Text Box 139"/>
            <p:cNvSpPr txBox="1"/>
            <p:nvPr/>
          </p:nvSpPr>
          <p:spPr>
            <a:xfrm>
              <a:off x="1800" y="3471"/>
              <a:ext cx="31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80</a:t>
              </a:r>
            </a:p>
          </p:txBody>
        </p:sp>
        <p:sp>
          <p:nvSpPr>
            <p:cNvPr id="28740" name="Text Box 140"/>
            <p:cNvSpPr txBox="1"/>
            <p:nvPr/>
          </p:nvSpPr>
          <p:spPr>
            <a:xfrm>
              <a:off x="2453" y="3466"/>
              <a:ext cx="40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140</a:t>
              </a:r>
            </a:p>
          </p:txBody>
        </p:sp>
        <p:sp>
          <p:nvSpPr>
            <p:cNvPr id="28741" name="Text Box 141"/>
            <p:cNvSpPr txBox="1"/>
            <p:nvPr/>
          </p:nvSpPr>
          <p:spPr>
            <a:xfrm>
              <a:off x="2854" y="3475"/>
              <a:ext cx="40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170</a:t>
              </a:r>
            </a:p>
          </p:txBody>
        </p:sp>
        <p:sp>
          <p:nvSpPr>
            <p:cNvPr id="28742" name="Text Box 142"/>
            <p:cNvSpPr txBox="1"/>
            <p:nvPr/>
          </p:nvSpPr>
          <p:spPr>
            <a:xfrm>
              <a:off x="3252" y="3475"/>
              <a:ext cx="40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200</a:t>
              </a:r>
            </a:p>
          </p:txBody>
        </p:sp>
        <p:sp>
          <p:nvSpPr>
            <p:cNvPr id="28743" name="Text Box 143"/>
            <p:cNvSpPr txBox="1"/>
            <p:nvPr/>
          </p:nvSpPr>
          <p:spPr>
            <a:xfrm>
              <a:off x="3851" y="3466"/>
              <a:ext cx="40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240</a:t>
              </a:r>
            </a:p>
          </p:txBody>
        </p:sp>
        <p:sp>
          <p:nvSpPr>
            <p:cNvPr id="28744" name="Text Box 144"/>
            <p:cNvSpPr txBox="1"/>
            <p:nvPr/>
          </p:nvSpPr>
          <p:spPr>
            <a:xfrm>
              <a:off x="4169" y="3475"/>
              <a:ext cx="40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260</a:t>
              </a:r>
            </a:p>
          </p:txBody>
        </p:sp>
        <p:sp>
          <p:nvSpPr>
            <p:cNvPr id="28745" name="Line 145"/>
            <p:cNvSpPr/>
            <p:nvPr/>
          </p:nvSpPr>
          <p:spPr>
            <a:xfrm>
              <a:off x="1927" y="3059"/>
              <a:ext cx="0" cy="36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28703" name="标题 1"/>
          <p:cNvSpPr/>
          <p:nvPr/>
        </p:nvSpPr>
        <p:spPr>
          <a:xfrm>
            <a:off x="457200" y="533400"/>
            <a:ext cx="8229600" cy="936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altLang="zh-CN" sz="44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1.2.3</a:t>
            </a:r>
            <a:r>
              <a:rPr lang="zh-CN" altLang="en-US" sz="44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多道批处理系统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内容占位符 2"/>
          <p:cNvSpPr/>
          <p:nvPr/>
        </p:nvSpPr>
        <p:spPr>
          <a:xfrm>
            <a:off x="611188" y="1422400"/>
            <a:ext cx="8208962" cy="25923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latin typeface="Arial" panose="020B0604020202020204" pitchFamily="34" charset="0"/>
              </a:rPr>
              <a:t>多道运行的甘特图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3200" b="1" dirty="0">
                <a:latin typeface="Arial" panose="020B0604020202020204" pitchFamily="34" charset="0"/>
              </a:rPr>
              <a:t>           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lang="en-US" altLang="zh-CN" sz="2800" b="1" dirty="0">
              <a:latin typeface="Arial" panose="020B0604020202020204" pitchFamily="34" charset="0"/>
            </a:endParaRPr>
          </a:p>
        </p:txBody>
      </p:sp>
      <p:graphicFrame>
        <p:nvGraphicFramePr>
          <p:cNvPr id="29699" name="表格 29698"/>
          <p:cNvGraphicFramePr/>
          <p:nvPr/>
        </p:nvGraphicFramePr>
        <p:xfrm>
          <a:off x="1908175" y="2144713"/>
          <a:ext cx="5495925" cy="1828800"/>
        </p:xfrm>
        <a:graphic>
          <a:graphicData uri="http://schemas.openxmlformats.org/drawingml/2006/table">
            <a:tbl>
              <a:tblPr/>
              <a:tblGrid>
                <a:gridCol w="137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3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24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Arial" panose="020B0604020202020204" pitchFamily="34" charset="0"/>
                        </a:rPr>
                        <a:t>计算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30ms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60ms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20ms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I/O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40ms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30ms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40ms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Arial" panose="020B0604020202020204" pitchFamily="34" charset="0"/>
                        </a:rPr>
                        <a:t>计算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10ms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10ms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20ms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9726" name="Group 32"/>
          <p:cNvGrpSpPr/>
          <p:nvPr/>
        </p:nvGrpSpPr>
        <p:grpSpPr>
          <a:xfrm>
            <a:off x="914400" y="4114800"/>
            <a:ext cx="7488238" cy="2460625"/>
            <a:chOff x="567" y="2156"/>
            <a:chExt cx="4717" cy="1550"/>
          </a:xfrm>
        </p:grpSpPr>
        <p:sp>
          <p:nvSpPr>
            <p:cNvPr id="29729" name="Text Box 33"/>
            <p:cNvSpPr txBox="1"/>
            <p:nvPr/>
          </p:nvSpPr>
          <p:spPr>
            <a:xfrm>
              <a:off x="4581" y="3326"/>
              <a:ext cx="70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</a:rPr>
                <a:t>时间</a:t>
              </a:r>
              <a:r>
                <a:rPr lang="en-US" altLang="zh-CN" dirty="0">
                  <a:latin typeface="Arial" panose="020B0604020202020204" pitchFamily="34" charset="0"/>
                </a:rPr>
                <a:t>( ms)</a:t>
              </a:r>
            </a:p>
          </p:txBody>
        </p:sp>
        <p:sp>
          <p:nvSpPr>
            <p:cNvPr id="29730" name="Line 34"/>
            <p:cNvSpPr/>
            <p:nvPr/>
          </p:nvSpPr>
          <p:spPr>
            <a:xfrm>
              <a:off x="1111" y="3430"/>
              <a:ext cx="340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31" name="Line 35"/>
            <p:cNvSpPr/>
            <p:nvPr/>
          </p:nvSpPr>
          <p:spPr>
            <a:xfrm flipV="1">
              <a:off x="1111" y="2432"/>
              <a:ext cx="0" cy="99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32" name="Line 36"/>
            <p:cNvSpPr/>
            <p:nvPr/>
          </p:nvSpPr>
          <p:spPr>
            <a:xfrm>
              <a:off x="1020" y="2723"/>
              <a:ext cx="9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3" name="Line 37"/>
            <p:cNvSpPr/>
            <p:nvPr/>
          </p:nvSpPr>
          <p:spPr>
            <a:xfrm>
              <a:off x="1020" y="3067"/>
              <a:ext cx="9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4" name="Text Box 38"/>
            <p:cNvSpPr txBox="1"/>
            <p:nvPr/>
          </p:nvSpPr>
          <p:spPr>
            <a:xfrm>
              <a:off x="658" y="2614"/>
              <a:ext cx="36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I/O</a:t>
              </a:r>
            </a:p>
          </p:txBody>
        </p:sp>
        <p:sp>
          <p:nvSpPr>
            <p:cNvPr id="29735" name="Text Box 39"/>
            <p:cNvSpPr txBox="1"/>
            <p:nvPr/>
          </p:nvSpPr>
          <p:spPr>
            <a:xfrm>
              <a:off x="567" y="2931"/>
              <a:ext cx="45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</a:rPr>
                <a:t>计算</a:t>
              </a:r>
            </a:p>
          </p:txBody>
        </p:sp>
        <p:sp>
          <p:nvSpPr>
            <p:cNvPr id="29736" name="Text Box 40"/>
            <p:cNvSpPr txBox="1"/>
            <p:nvPr/>
          </p:nvSpPr>
          <p:spPr>
            <a:xfrm>
              <a:off x="798" y="2156"/>
              <a:ext cx="70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</a:rPr>
                <a:t>活动列表</a:t>
              </a:r>
            </a:p>
          </p:txBody>
        </p:sp>
        <p:sp>
          <p:nvSpPr>
            <p:cNvPr id="29737" name="Line 41"/>
            <p:cNvSpPr/>
            <p:nvPr/>
          </p:nvSpPr>
          <p:spPr>
            <a:xfrm>
              <a:off x="1111" y="3067"/>
              <a:ext cx="99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8" name="Line 42"/>
            <p:cNvSpPr/>
            <p:nvPr/>
          </p:nvSpPr>
          <p:spPr>
            <a:xfrm>
              <a:off x="1519" y="2704"/>
              <a:ext cx="0" cy="72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39" name="Line 43"/>
            <p:cNvSpPr/>
            <p:nvPr/>
          </p:nvSpPr>
          <p:spPr>
            <a:xfrm>
              <a:off x="1519" y="2704"/>
              <a:ext cx="59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0" name="Line 44"/>
            <p:cNvSpPr/>
            <p:nvPr/>
          </p:nvSpPr>
          <p:spPr>
            <a:xfrm>
              <a:off x="2699" y="2704"/>
              <a:ext cx="0" cy="72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41" name="Line 45"/>
            <p:cNvSpPr/>
            <p:nvPr/>
          </p:nvSpPr>
          <p:spPr>
            <a:xfrm>
              <a:off x="2109" y="3067"/>
              <a:ext cx="90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2" name="Line 46"/>
            <p:cNvSpPr/>
            <p:nvPr/>
          </p:nvSpPr>
          <p:spPr>
            <a:xfrm>
              <a:off x="2109" y="2704"/>
              <a:ext cx="0" cy="72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43" name="Line 47"/>
            <p:cNvSpPr/>
            <p:nvPr/>
          </p:nvSpPr>
          <p:spPr>
            <a:xfrm>
              <a:off x="2699" y="2704"/>
              <a:ext cx="1134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4" name="Line 48"/>
            <p:cNvSpPr/>
            <p:nvPr/>
          </p:nvSpPr>
          <p:spPr>
            <a:xfrm>
              <a:off x="3198" y="3067"/>
              <a:ext cx="18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5" name="Line 49"/>
            <p:cNvSpPr/>
            <p:nvPr/>
          </p:nvSpPr>
          <p:spPr>
            <a:xfrm>
              <a:off x="3198" y="2704"/>
              <a:ext cx="0" cy="72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46" name="Line 50"/>
            <p:cNvSpPr/>
            <p:nvPr/>
          </p:nvSpPr>
          <p:spPr>
            <a:xfrm>
              <a:off x="3833" y="2704"/>
              <a:ext cx="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7" name="Line 51"/>
            <p:cNvSpPr/>
            <p:nvPr/>
          </p:nvSpPr>
          <p:spPr>
            <a:xfrm>
              <a:off x="3833" y="2704"/>
              <a:ext cx="0" cy="72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48" name="Line 52"/>
            <p:cNvSpPr/>
            <p:nvPr/>
          </p:nvSpPr>
          <p:spPr>
            <a:xfrm>
              <a:off x="3379" y="3067"/>
              <a:ext cx="0" cy="36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49" name="Text Box 53"/>
            <p:cNvSpPr txBox="1"/>
            <p:nvPr/>
          </p:nvSpPr>
          <p:spPr>
            <a:xfrm>
              <a:off x="1192" y="2864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9750" name="Text Box 54"/>
            <p:cNvSpPr txBox="1"/>
            <p:nvPr/>
          </p:nvSpPr>
          <p:spPr>
            <a:xfrm>
              <a:off x="1655" y="2487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9751" name="Text Box 55"/>
            <p:cNvSpPr txBox="1"/>
            <p:nvPr/>
          </p:nvSpPr>
          <p:spPr>
            <a:xfrm>
              <a:off x="2099" y="2863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9752" name="Text Box 56"/>
            <p:cNvSpPr txBox="1"/>
            <p:nvPr/>
          </p:nvSpPr>
          <p:spPr>
            <a:xfrm>
              <a:off x="1700" y="2845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9753" name="Text Box 57"/>
            <p:cNvSpPr txBox="1"/>
            <p:nvPr/>
          </p:nvSpPr>
          <p:spPr>
            <a:xfrm>
              <a:off x="2835" y="2478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9754" name="Text Box 58"/>
            <p:cNvSpPr txBox="1"/>
            <p:nvPr/>
          </p:nvSpPr>
          <p:spPr>
            <a:xfrm>
              <a:off x="3379" y="2840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9755" name="Text Box 59"/>
            <p:cNvSpPr txBox="1"/>
            <p:nvPr/>
          </p:nvSpPr>
          <p:spPr>
            <a:xfrm>
              <a:off x="2744" y="2863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29756" name="Text Box 60"/>
            <p:cNvSpPr txBox="1"/>
            <p:nvPr/>
          </p:nvSpPr>
          <p:spPr>
            <a:xfrm>
              <a:off x="3388" y="2496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29757" name="Text Box 61"/>
            <p:cNvSpPr txBox="1"/>
            <p:nvPr/>
          </p:nvSpPr>
          <p:spPr>
            <a:xfrm>
              <a:off x="1020" y="3457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29758" name="Text Box 62"/>
            <p:cNvSpPr txBox="1"/>
            <p:nvPr/>
          </p:nvSpPr>
          <p:spPr>
            <a:xfrm>
              <a:off x="1374" y="3457"/>
              <a:ext cx="31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30</a:t>
              </a:r>
            </a:p>
          </p:txBody>
        </p:sp>
        <p:sp>
          <p:nvSpPr>
            <p:cNvPr id="29759" name="Text Box 63"/>
            <p:cNvSpPr txBox="1"/>
            <p:nvPr/>
          </p:nvSpPr>
          <p:spPr>
            <a:xfrm>
              <a:off x="1955" y="3466"/>
              <a:ext cx="31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70</a:t>
              </a:r>
            </a:p>
          </p:txBody>
        </p:sp>
        <p:sp>
          <p:nvSpPr>
            <p:cNvPr id="29760" name="Text Box 64"/>
            <p:cNvSpPr txBox="1"/>
            <p:nvPr/>
          </p:nvSpPr>
          <p:spPr>
            <a:xfrm>
              <a:off x="2163" y="3471"/>
              <a:ext cx="31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80</a:t>
              </a:r>
            </a:p>
          </p:txBody>
        </p:sp>
        <p:sp>
          <p:nvSpPr>
            <p:cNvPr id="29761" name="Text Box 65"/>
            <p:cNvSpPr txBox="1"/>
            <p:nvPr/>
          </p:nvSpPr>
          <p:spPr>
            <a:xfrm>
              <a:off x="2490" y="3466"/>
              <a:ext cx="40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100</a:t>
              </a:r>
            </a:p>
          </p:txBody>
        </p:sp>
        <p:sp>
          <p:nvSpPr>
            <p:cNvPr id="29762" name="Text Box 66"/>
            <p:cNvSpPr txBox="1"/>
            <p:nvPr/>
          </p:nvSpPr>
          <p:spPr>
            <a:xfrm>
              <a:off x="2989" y="3475"/>
              <a:ext cx="40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130</a:t>
              </a:r>
            </a:p>
          </p:txBody>
        </p:sp>
        <p:sp>
          <p:nvSpPr>
            <p:cNvPr id="29763" name="Text Box 67"/>
            <p:cNvSpPr txBox="1"/>
            <p:nvPr/>
          </p:nvSpPr>
          <p:spPr>
            <a:xfrm>
              <a:off x="3615" y="3475"/>
              <a:ext cx="40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170</a:t>
              </a:r>
            </a:p>
          </p:txBody>
        </p:sp>
        <p:sp>
          <p:nvSpPr>
            <p:cNvPr id="29764" name="Text Box 68"/>
            <p:cNvSpPr txBox="1"/>
            <p:nvPr/>
          </p:nvSpPr>
          <p:spPr>
            <a:xfrm>
              <a:off x="3960" y="3466"/>
              <a:ext cx="40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190</a:t>
              </a:r>
            </a:p>
          </p:txBody>
        </p:sp>
        <p:sp>
          <p:nvSpPr>
            <p:cNvPr id="29765" name="Line 69"/>
            <p:cNvSpPr/>
            <p:nvPr/>
          </p:nvSpPr>
          <p:spPr>
            <a:xfrm>
              <a:off x="2290" y="3067"/>
              <a:ext cx="0" cy="36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66" name="Text Box 70"/>
            <p:cNvSpPr txBox="1"/>
            <p:nvPr/>
          </p:nvSpPr>
          <p:spPr>
            <a:xfrm>
              <a:off x="2381" y="2858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9767" name="Line 71"/>
            <p:cNvSpPr/>
            <p:nvPr/>
          </p:nvSpPr>
          <p:spPr>
            <a:xfrm>
              <a:off x="3007" y="3067"/>
              <a:ext cx="0" cy="36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68" name="Text Box 72"/>
            <p:cNvSpPr txBox="1"/>
            <p:nvPr/>
          </p:nvSpPr>
          <p:spPr>
            <a:xfrm>
              <a:off x="3887" y="2840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29769" name="Line 73"/>
            <p:cNvSpPr/>
            <p:nvPr/>
          </p:nvSpPr>
          <p:spPr>
            <a:xfrm>
              <a:off x="3841" y="3067"/>
              <a:ext cx="31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0" name="Line 74"/>
            <p:cNvSpPr/>
            <p:nvPr/>
          </p:nvSpPr>
          <p:spPr>
            <a:xfrm>
              <a:off x="4159" y="3067"/>
              <a:ext cx="0" cy="36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29727" name="标题 1"/>
          <p:cNvSpPr/>
          <p:nvPr/>
        </p:nvSpPr>
        <p:spPr>
          <a:xfrm>
            <a:off x="457200" y="533400"/>
            <a:ext cx="8229600" cy="936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altLang="zh-CN" sz="44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1.2.3</a:t>
            </a:r>
            <a:r>
              <a:rPr lang="zh-CN" altLang="en-US" sz="44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多道批处理系统</a:t>
            </a:r>
          </a:p>
        </p:txBody>
      </p:sp>
      <p:sp>
        <p:nvSpPr>
          <p:cNvPr id="29728" name="AutoShape 80"/>
          <p:cNvSpPr/>
          <p:nvPr/>
        </p:nvSpPr>
        <p:spPr>
          <a:xfrm>
            <a:off x="6248400" y="4038600"/>
            <a:ext cx="2895600" cy="1066800"/>
          </a:xfrm>
          <a:prstGeom prst="wedgeRoundRectCallout">
            <a:avLst>
              <a:gd name="adj1" fmla="val -85032"/>
              <a:gd name="adj2" fmla="val 88245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b="1" dirty="0">
                <a:latin typeface="Arial" panose="020B0604020202020204" pitchFamily="34" charset="0"/>
              </a:rPr>
              <a:t>当正在运行的程序因</a:t>
            </a:r>
            <a:r>
              <a:rPr lang="en-US" altLang="zh-CN" b="1" dirty="0">
                <a:latin typeface="Arial" panose="020B0604020202020204" pitchFamily="34" charset="0"/>
              </a:rPr>
              <a:t>I/O</a:t>
            </a:r>
            <a:r>
              <a:rPr lang="zh-CN" altLang="en-US" b="1" dirty="0">
                <a:latin typeface="Arial" panose="020B0604020202020204" pitchFamily="34" charset="0"/>
              </a:rPr>
              <a:t>而暂停执行时，系统可调度另一道程序运行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/>
          </p:nvPr>
        </p:nvSpPr>
        <p:spPr>
          <a:xfrm>
            <a:off x="457200" y="1600200"/>
            <a:ext cx="8458200" cy="4981575"/>
          </a:xfrm>
        </p:spPr>
        <p:txBody>
          <a:bodyPr vert="horz" wrap="square" lIns="91440" tIns="45720" rIns="91440" bIns="45720" anchor="t"/>
          <a:lstStyle/>
          <a:p>
            <a:pPr marL="952500" indent="-952500" eaLnBrk="1" hangingPunct="1">
              <a:buFont typeface="Wingdings" panose="05000000000000000000" pitchFamily="2" charset="2"/>
              <a:buNone/>
            </a:pPr>
            <a:r>
              <a:rPr lang="zh-CN" altLang="en-US" sz="3600" b="1" dirty="0">
                <a:latin typeface="仿宋_GB2312" pitchFamily="49" charset="-122"/>
                <a:ea typeface="仿宋_GB2312" pitchFamily="49" charset="-122"/>
              </a:rPr>
              <a:t>二、</a:t>
            </a:r>
            <a:r>
              <a:rPr lang="zh-CN" altLang="en-US" sz="3600" b="1" dirty="0">
                <a:solidFill>
                  <a:schemeClr val="hlink"/>
                </a:solidFill>
                <a:latin typeface="仿宋_GB2312" pitchFamily="49" charset="-122"/>
                <a:ea typeface="仿宋_GB2312" pitchFamily="49" charset="-122"/>
              </a:rPr>
              <a:t>多道批处理系统主要特征：</a:t>
            </a:r>
          </a:p>
          <a:p>
            <a:pPr marL="952500" indent="-952500" eaLnBrk="1" hangingPunct="1">
              <a:buFont typeface="Wingdings" panose="05000000000000000000" pitchFamily="2" charset="2"/>
              <a:buNone/>
            </a:pPr>
            <a:r>
              <a:rPr lang="zh-CN" altLang="en-US" sz="3600" b="1" dirty="0">
                <a:latin typeface="仿宋_GB2312" pitchFamily="49" charset="-122"/>
                <a:ea typeface="仿宋_GB2312" pitchFamily="49" charset="-122"/>
              </a:rPr>
              <a:t>    多道性、无序性、调度性（进程调度和作业调度）。</a:t>
            </a:r>
          </a:p>
          <a:p>
            <a:pPr marL="952500" indent="-952500" eaLnBrk="1" hangingPunct="1">
              <a:buFont typeface="Wingdings" panose="05000000000000000000" pitchFamily="2" charset="2"/>
              <a:buNone/>
            </a:pPr>
            <a:r>
              <a:rPr lang="zh-CN" altLang="en-US" sz="3600" b="1" dirty="0">
                <a:latin typeface="仿宋_GB2312" pitchFamily="49" charset="-122"/>
                <a:ea typeface="仿宋_GB2312" pitchFamily="49" charset="-122"/>
              </a:rPr>
              <a:t>三、多道批处理的</a:t>
            </a:r>
            <a:r>
              <a:rPr lang="zh-CN" altLang="en-US" sz="3600" b="1" dirty="0">
                <a:solidFill>
                  <a:schemeClr val="hlink"/>
                </a:solidFill>
                <a:latin typeface="仿宋_GB2312" pitchFamily="49" charset="-122"/>
                <a:ea typeface="仿宋_GB2312" pitchFamily="49" charset="-122"/>
              </a:rPr>
              <a:t>主要优点</a:t>
            </a:r>
            <a:r>
              <a:rPr lang="zh-CN" altLang="en-US" sz="3600" b="1" dirty="0">
                <a:latin typeface="仿宋_GB2312" pitchFamily="49" charset="-122"/>
                <a:ea typeface="仿宋_GB2312" pitchFamily="49" charset="-122"/>
              </a:rPr>
              <a:t>：提高了资源利用率和吞吐能力。</a:t>
            </a:r>
          </a:p>
          <a:p>
            <a:pPr marL="952500" indent="-952500" eaLnBrk="1" hangingPunct="1">
              <a:buFont typeface="Wingdings" panose="05000000000000000000" pitchFamily="2" charset="2"/>
              <a:buNone/>
            </a:pPr>
            <a:r>
              <a:rPr lang="zh-CN" altLang="en-US" sz="3600" b="1" dirty="0">
                <a:latin typeface="仿宋_GB2312" pitchFamily="49" charset="-122"/>
                <a:ea typeface="仿宋_GB2312" pitchFamily="49" charset="-122"/>
              </a:rPr>
              <a:t>    多道批处理的</a:t>
            </a:r>
            <a:r>
              <a:rPr lang="zh-CN" altLang="en-US" sz="3600" b="1" dirty="0">
                <a:solidFill>
                  <a:schemeClr val="hlink"/>
                </a:solidFill>
                <a:latin typeface="仿宋_GB2312" pitchFamily="49" charset="-122"/>
                <a:ea typeface="仿宋_GB2312" pitchFamily="49" charset="-122"/>
              </a:rPr>
              <a:t>主要缺点</a:t>
            </a:r>
            <a:r>
              <a:rPr lang="zh-CN" altLang="en-US" sz="3600" b="1" dirty="0">
                <a:latin typeface="仿宋_GB2312" pitchFamily="49" charset="-122"/>
                <a:ea typeface="仿宋_GB2312" pitchFamily="49" charset="-122"/>
              </a:rPr>
              <a:t>：平均周转时间长，没有交互能力。</a:t>
            </a:r>
          </a:p>
        </p:txBody>
      </p:sp>
      <p:sp>
        <p:nvSpPr>
          <p:cNvPr id="30723" name="标题 1"/>
          <p:cNvSpPr/>
          <p:nvPr/>
        </p:nvSpPr>
        <p:spPr>
          <a:xfrm>
            <a:off x="457200" y="533400"/>
            <a:ext cx="8229600" cy="936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altLang="zh-CN" sz="44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1.2.3</a:t>
            </a:r>
            <a:r>
              <a:rPr lang="zh-CN" altLang="en-US" sz="44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多道批处理系统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/>
          </p:nvPr>
        </p:nvSpPr>
        <p:spPr>
          <a:xfrm>
            <a:off x="609600" y="1828800"/>
            <a:ext cx="7848600" cy="3124200"/>
          </a:xfrm>
        </p:spPr>
        <p:txBody>
          <a:bodyPr vert="horz" wrap="square" lIns="91440" tIns="45720" rIns="91440" bIns="45720" anchor="t"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latin typeface="仿宋_GB2312" pitchFamily="49" charset="-122"/>
                <a:ea typeface="仿宋_GB2312" pitchFamily="49" charset="-122"/>
              </a:rPr>
              <a:t>1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、处理机管理：分配和控制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</a:rPr>
              <a:t>CPU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。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、存储器管理：为每道程序分配必要的内存空间。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latin typeface="仿宋_GB2312" pitchFamily="49" charset="-122"/>
                <a:ea typeface="仿宋_GB2312" pitchFamily="49" charset="-122"/>
              </a:rPr>
              <a:t>3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、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</a:rPr>
              <a:t>I/O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设备管理：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</a:rPr>
              <a:t>I/O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设备的分配与操纵。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latin typeface="仿宋_GB2312" pitchFamily="49" charset="-122"/>
                <a:ea typeface="仿宋_GB2312" pitchFamily="49" charset="-122"/>
              </a:rPr>
              <a:t>4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、文件管理：文件的存取、共享和保护。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latin typeface="仿宋_GB2312" pitchFamily="49" charset="-122"/>
                <a:ea typeface="仿宋_GB2312" pitchFamily="49" charset="-122"/>
              </a:rPr>
              <a:t>5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、作业管理：如何组织作业运行。</a:t>
            </a:r>
          </a:p>
          <a:p>
            <a:pPr marL="0" indent="0" eaLnBrk="1" hangingPunct="1"/>
            <a:endParaRPr lang="en-US" altLang="zh-CN" dirty="0">
              <a:latin typeface="Cambria" panose="02040503050406030204" pitchFamily="18" charset="0"/>
              <a:ea typeface="华文楷体" pitchFamily="2" charset="-122"/>
            </a:endParaRPr>
          </a:p>
        </p:txBody>
      </p:sp>
      <p:sp>
        <p:nvSpPr>
          <p:cNvPr id="31747" name="Rectangle 3"/>
          <p:cNvSpPr/>
          <p:nvPr/>
        </p:nvSpPr>
        <p:spPr>
          <a:xfrm>
            <a:off x="533400" y="838200"/>
            <a:ext cx="7543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四、多道批处理系统需要解决的问题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dirty="0">
                <a:solidFill>
                  <a:srgbClr val="0066FF"/>
                </a:solidFill>
              </a:rPr>
              <a:t>1.2.4 </a:t>
            </a:r>
            <a:r>
              <a:rPr lang="zh-CN" altLang="en-US" b="1" dirty="0">
                <a:solidFill>
                  <a:srgbClr val="0066FF"/>
                </a:solidFill>
              </a:rPr>
              <a:t>分时操作系统</a:t>
            </a:r>
            <a:r>
              <a:rPr lang="zh-CN" altLang="en-US" dirty="0">
                <a:solidFill>
                  <a:srgbClr val="0066FF"/>
                </a:solidFill>
              </a:rPr>
              <a:t>（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On-line</a:t>
            </a:r>
            <a:r>
              <a:rPr lang="zh-CN" altLang="en-US" dirty="0">
                <a:solidFill>
                  <a:srgbClr val="0066FF"/>
                </a:solidFill>
              </a:rPr>
              <a:t>）</a:t>
            </a:r>
          </a:p>
        </p:txBody>
      </p:sp>
      <p:sp>
        <p:nvSpPr>
          <p:cNvPr id="32771" name="Rectangle 3"/>
          <p:cNvSpPr>
            <a:spLocks noGrp="1"/>
          </p:cNvSpPr>
          <p:nvPr>
            <p:ph idx="4294967295"/>
          </p:nvPr>
        </p:nvSpPr>
        <p:spPr>
          <a:xfrm>
            <a:off x="609600" y="1600200"/>
            <a:ext cx="8534400" cy="51054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rgbClr val="0066FF"/>
                </a:solidFill>
              </a:rPr>
              <a:t>分时系统是指</a:t>
            </a:r>
            <a:r>
              <a:rPr lang="zh-CN" altLang="en-US" sz="2800" b="1" dirty="0"/>
              <a:t>，在一台主机上连接了多个带有显示器和键盘的终端，同时允许多个用户通过自己的终端，以交互方式使用计算机，共享主机中的资源。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dirty="0"/>
              <a:t>分时系统能很好地将一台计算机提供给多个用户同时使用，提高计算机的利用率。还可以满足用户对人</a:t>
            </a:r>
            <a:r>
              <a:rPr lang="en-US" altLang="zh-CN" sz="2800" b="1" dirty="0"/>
              <a:t>---</a:t>
            </a:r>
            <a:r>
              <a:rPr lang="zh-CN" altLang="en-US" sz="2800" b="1" dirty="0"/>
              <a:t>机交互的需求。</a:t>
            </a:r>
            <a:endParaRPr lang="en-US" altLang="zh-CN" sz="2800" b="1" dirty="0"/>
          </a:p>
          <a:p>
            <a:pPr eaLnBrk="1" hangingPunct="1">
              <a:lnSpc>
                <a:spcPct val="110000"/>
              </a:lnSpc>
            </a:pPr>
            <a:r>
              <a:rPr lang="zh-CN" altLang="en-US" sz="2800" b="1" dirty="0"/>
              <a:t>它被</a:t>
            </a:r>
            <a:r>
              <a:rPr lang="zh-CN" altLang="en-US" sz="2800" b="1" dirty="0">
                <a:solidFill>
                  <a:srgbClr val="0066FF"/>
                </a:solidFill>
              </a:rPr>
              <a:t>经常应用于查询系统中</a:t>
            </a:r>
            <a:r>
              <a:rPr lang="zh-CN" altLang="en-US" sz="2800" b="1" dirty="0"/>
              <a:t>，满足许多查询用户的需要。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dirty="0"/>
              <a:t>第一台真正的分时操作系统</a:t>
            </a:r>
            <a:r>
              <a:rPr lang="en-US" altLang="zh-CN" sz="2800" b="1" dirty="0"/>
              <a:t>CTSS</a:t>
            </a:r>
            <a:r>
              <a:rPr lang="zh-CN" altLang="en-US" sz="2800" b="1" dirty="0"/>
              <a:t>是由</a:t>
            </a:r>
            <a:r>
              <a:rPr lang="en-US" altLang="zh-CN" sz="2800" b="1" dirty="0"/>
              <a:t>MIT</a:t>
            </a:r>
            <a:r>
              <a:rPr lang="zh-CN" altLang="en-US" sz="2800" b="1" dirty="0"/>
              <a:t>开发成功的。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1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AutoShape 2"/>
          <p:cNvSpPr>
            <a:spLocks noChangeArrowheads="1"/>
          </p:cNvSpPr>
          <p:nvPr/>
        </p:nvSpPr>
        <p:spPr bwMode="auto">
          <a:xfrm rot="702196">
            <a:off x="6467475" y="2282825"/>
            <a:ext cx="1905000" cy="1155700"/>
          </a:xfrm>
          <a:prstGeom prst="cloudCallout">
            <a:avLst>
              <a:gd name="adj1" fmla="val -40444"/>
              <a:gd name="adj2" fmla="val 55370"/>
            </a:avLst>
          </a:prstGeom>
          <a:solidFill>
            <a:srgbClr val="320ADE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分时处理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终端请求</a:t>
            </a:r>
          </a:p>
        </p:txBody>
      </p:sp>
      <p:sp>
        <p:nvSpPr>
          <p:cNvPr id="204803" name="Text Box 3"/>
          <p:cNvSpPr txBox="1">
            <a:spLocks noChangeArrowheads="1"/>
          </p:cNvSpPr>
          <p:nvPr/>
        </p:nvSpPr>
        <p:spPr bwMode="auto">
          <a:xfrm>
            <a:off x="1371600" y="5334000"/>
            <a:ext cx="6400800" cy="1004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界面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：交互式命令语言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eg. shell, command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界面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：图形用户界面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GUI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</a:p>
        </p:txBody>
      </p:sp>
      <p:sp>
        <p:nvSpPr>
          <p:cNvPr id="204805" name="Rectangle 5"/>
          <p:cNvSpPr>
            <a:spLocks noChangeArrowheads="1"/>
          </p:cNvSpPr>
          <p:nvPr/>
        </p:nvSpPr>
        <p:spPr bwMode="auto">
          <a:xfrm>
            <a:off x="1676400" y="2362200"/>
            <a:ext cx="4724400" cy="15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Time Sharing OS</a:t>
            </a:r>
          </a:p>
        </p:txBody>
      </p:sp>
      <p:sp>
        <p:nvSpPr>
          <p:cNvPr id="204806" name="Rectangle 6"/>
          <p:cNvSpPr>
            <a:spLocks noChangeArrowheads="1"/>
          </p:cNvSpPr>
          <p:nvPr/>
        </p:nvSpPr>
        <p:spPr bwMode="auto">
          <a:xfrm>
            <a:off x="3048000" y="2362200"/>
            <a:ext cx="2133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HAL</a:t>
            </a:r>
          </a:p>
        </p:txBody>
      </p:sp>
      <p:sp>
        <p:nvSpPr>
          <p:cNvPr id="204807" name="AutoShape 7"/>
          <p:cNvSpPr>
            <a:spLocks noChangeArrowheads="1"/>
          </p:cNvSpPr>
          <p:nvPr/>
        </p:nvSpPr>
        <p:spPr bwMode="auto">
          <a:xfrm>
            <a:off x="1979613" y="4495800"/>
            <a:ext cx="611188" cy="449263"/>
          </a:xfrm>
          <a:prstGeom prst="flowChartPunchedCar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终端</a:t>
            </a:r>
          </a:p>
        </p:txBody>
      </p:sp>
      <p:sp>
        <p:nvSpPr>
          <p:cNvPr id="204808" name="AutoShape 8"/>
          <p:cNvSpPr>
            <a:spLocks noChangeArrowheads="1"/>
          </p:cNvSpPr>
          <p:nvPr/>
        </p:nvSpPr>
        <p:spPr bwMode="auto">
          <a:xfrm>
            <a:off x="3198813" y="4503738"/>
            <a:ext cx="611188" cy="449263"/>
          </a:xfrm>
          <a:prstGeom prst="flowChartPunchedCar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终端</a:t>
            </a:r>
          </a:p>
        </p:txBody>
      </p:sp>
      <p:sp>
        <p:nvSpPr>
          <p:cNvPr id="204809" name="AutoShape 9"/>
          <p:cNvSpPr>
            <a:spLocks noChangeArrowheads="1"/>
          </p:cNvSpPr>
          <p:nvPr/>
        </p:nvSpPr>
        <p:spPr bwMode="auto">
          <a:xfrm>
            <a:off x="5561013" y="4495800"/>
            <a:ext cx="611188" cy="449263"/>
          </a:xfrm>
          <a:prstGeom prst="flowChartPunchedCar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终端</a:t>
            </a:r>
          </a:p>
        </p:txBody>
      </p:sp>
      <p:sp>
        <p:nvSpPr>
          <p:cNvPr id="33801" name="AutoShape 10"/>
          <p:cNvSpPr/>
          <p:nvPr/>
        </p:nvSpPr>
        <p:spPr>
          <a:xfrm>
            <a:off x="3429000" y="3886200"/>
            <a:ext cx="125413" cy="576263"/>
          </a:xfrm>
          <a:prstGeom prst="upDownArrow">
            <a:avLst>
              <a:gd name="adj1" fmla="val 50000"/>
              <a:gd name="adj2" fmla="val 91898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802" name="AutoShape 11"/>
          <p:cNvSpPr/>
          <p:nvPr/>
        </p:nvSpPr>
        <p:spPr>
          <a:xfrm>
            <a:off x="2286000" y="3886200"/>
            <a:ext cx="125413" cy="576263"/>
          </a:xfrm>
          <a:prstGeom prst="upDownArrow">
            <a:avLst>
              <a:gd name="adj1" fmla="val 50000"/>
              <a:gd name="adj2" fmla="val 91898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803" name="AutoShape 12"/>
          <p:cNvSpPr/>
          <p:nvPr/>
        </p:nvSpPr>
        <p:spPr>
          <a:xfrm>
            <a:off x="5791200" y="3886200"/>
            <a:ext cx="125413" cy="576263"/>
          </a:xfrm>
          <a:prstGeom prst="upDownArrow">
            <a:avLst>
              <a:gd name="adj1" fmla="val 50000"/>
              <a:gd name="adj2" fmla="val 91898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4813" name="Text Box 13"/>
          <p:cNvSpPr txBox="1">
            <a:spLocks noChangeArrowheads="1"/>
          </p:cNvSpPr>
          <p:nvPr/>
        </p:nvSpPr>
        <p:spPr bwMode="auto">
          <a:xfrm>
            <a:off x="4343400" y="4419600"/>
            <a:ext cx="7620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en-US" altLang="zh-CN" sz="24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…...</a:t>
            </a:r>
          </a:p>
        </p:txBody>
      </p:sp>
      <p:sp>
        <p:nvSpPr>
          <p:cNvPr id="33805" name="Rectangle 15"/>
          <p:cNvSpPr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/>
            <a:r>
              <a:rPr lang="en-US" altLang="zh-CN" sz="4400" dirty="0">
                <a:solidFill>
                  <a:srgbClr val="0066FF"/>
                </a:solidFill>
                <a:latin typeface="Arial" panose="020B0604020202020204" pitchFamily="34" charset="0"/>
              </a:rPr>
              <a:t>1.2.4 </a:t>
            </a:r>
            <a:r>
              <a:rPr lang="zh-CN" altLang="en-US" sz="4400" b="1" dirty="0">
                <a:solidFill>
                  <a:srgbClr val="0066FF"/>
                </a:solidFill>
                <a:latin typeface="Arial" panose="020B0604020202020204" pitchFamily="34" charset="0"/>
              </a:rPr>
              <a:t>分时操作系统</a:t>
            </a:r>
            <a:r>
              <a:rPr lang="zh-CN" altLang="en-US" sz="4400" dirty="0">
                <a:solidFill>
                  <a:srgbClr val="0066FF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4400" dirty="0">
                <a:solidFill>
                  <a:srgbClr val="0066FF"/>
                </a:solidFill>
                <a:latin typeface="Times New Roman" panose="02020603050405020304" pitchFamily="18" charset="0"/>
              </a:rPr>
              <a:t>On-line</a:t>
            </a:r>
            <a:r>
              <a:rPr lang="zh-CN" altLang="en-US" sz="4400" dirty="0">
                <a:solidFill>
                  <a:srgbClr val="0066FF"/>
                </a:solidFill>
                <a:latin typeface="Arial" panose="020B0604020202020204" pitchFamily="34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7" name="Rectangle 3"/>
          <p:cNvSpPr>
            <a:spLocks noGrp="1"/>
          </p:cNvSpPr>
          <p:nvPr>
            <p:ph idx="4294967295"/>
          </p:nvPr>
        </p:nvSpPr>
        <p:spPr>
          <a:xfrm>
            <a:off x="0" y="1828800"/>
            <a:ext cx="8070850" cy="424053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2800" b="1" dirty="0"/>
              <a:t>特点：</a:t>
            </a:r>
          </a:p>
          <a:p>
            <a:pPr lvl="1" eaLnBrk="1" hangingPunct="1"/>
            <a:r>
              <a:rPr lang="zh-CN" altLang="en-US" sz="2400" b="1" u="sng" dirty="0"/>
              <a:t>多路性</a:t>
            </a:r>
            <a:r>
              <a:rPr lang="zh-CN" altLang="en-US" sz="2400" b="1" dirty="0"/>
              <a:t>：一个主机与多个终端相连；</a:t>
            </a:r>
          </a:p>
          <a:p>
            <a:pPr lvl="1" eaLnBrk="1" hangingPunct="1"/>
            <a:r>
              <a:rPr lang="zh-CN" altLang="en-US" sz="2400" b="1" u="sng" dirty="0"/>
              <a:t>交互性</a:t>
            </a:r>
            <a:r>
              <a:rPr lang="zh-CN" altLang="en-US" sz="2400" b="1" dirty="0"/>
              <a:t>：以对话的方式为用户服务；</a:t>
            </a:r>
          </a:p>
          <a:p>
            <a:pPr lvl="1" eaLnBrk="1" hangingPunct="1"/>
            <a:r>
              <a:rPr lang="zh-CN" altLang="en-US" sz="2400" b="1" u="sng" dirty="0"/>
              <a:t>独占性</a:t>
            </a:r>
            <a:r>
              <a:rPr lang="zh-CN" altLang="en-US" sz="2400" b="1" dirty="0"/>
              <a:t>：每个终端用户仿佛拥有一台虚拟机。</a:t>
            </a:r>
          </a:p>
          <a:p>
            <a:pPr lvl="1" eaLnBrk="1" hangingPunct="1"/>
            <a:r>
              <a:rPr lang="zh-CN" altLang="en-US" sz="2400" b="1" u="sng" dirty="0"/>
              <a:t>及时性：</a:t>
            </a:r>
            <a:r>
              <a:rPr lang="zh-CN" altLang="en-US" sz="2400" b="1" dirty="0"/>
              <a:t>用户的请求能在很短的时间内获得响应。</a:t>
            </a:r>
          </a:p>
          <a:p>
            <a:pPr lvl="1" eaLnBrk="1" hangingPunct="1"/>
            <a:endParaRPr lang="zh-CN" altLang="en-US" sz="2400" b="1" u="sng" dirty="0"/>
          </a:p>
          <a:p>
            <a:pPr eaLnBrk="1" hangingPunct="1"/>
            <a:r>
              <a:rPr lang="zh-CN" altLang="en-US" sz="2800" b="1" dirty="0"/>
              <a:t>典型系统：</a:t>
            </a:r>
          </a:p>
          <a:p>
            <a:pPr lvl="1" eaLnBrk="1" hangingPunct="1"/>
            <a:r>
              <a:rPr lang="en-US" altLang="en-US" sz="2400" b="1" dirty="0"/>
              <a:t>Multics (MIT)</a:t>
            </a:r>
          </a:p>
          <a:p>
            <a:pPr lvl="1" eaLnBrk="1" hangingPunct="1"/>
            <a:r>
              <a:rPr lang="en-US" altLang="en-US" sz="2400" b="1" dirty="0"/>
              <a:t>UNIX</a:t>
            </a:r>
          </a:p>
          <a:p>
            <a:pPr lvl="1" eaLnBrk="1" hangingPunct="1"/>
            <a:endParaRPr lang="en-US" altLang="zh-CN" sz="2400" b="1" dirty="0"/>
          </a:p>
          <a:p>
            <a:pPr lvl="1" eaLnBrk="1" hangingPunct="1"/>
            <a:endParaRPr lang="en-US" altLang="zh-CN" sz="2400" b="1" dirty="0"/>
          </a:p>
        </p:txBody>
      </p:sp>
      <p:sp>
        <p:nvSpPr>
          <p:cNvPr id="34819" name="Rectangle 5"/>
          <p:cNvSpPr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/>
            <a:r>
              <a:rPr lang="en-US" altLang="zh-CN" sz="4400" dirty="0">
                <a:solidFill>
                  <a:srgbClr val="0066FF"/>
                </a:solidFill>
                <a:latin typeface="Arial" panose="020B0604020202020204" pitchFamily="34" charset="0"/>
              </a:rPr>
              <a:t>1.2.4</a:t>
            </a:r>
            <a:r>
              <a:rPr lang="zh-CN" altLang="en-US" sz="4400" b="1" dirty="0">
                <a:solidFill>
                  <a:srgbClr val="0066FF"/>
                </a:solidFill>
                <a:latin typeface="Arial" panose="020B0604020202020204" pitchFamily="34" charset="0"/>
              </a:rPr>
              <a:t>分时操作系统</a:t>
            </a:r>
            <a:r>
              <a:rPr lang="zh-CN" altLang="en-US" sz="4400" dirty="0">
                <a:solidFill>
                  <a:srgbClr val="0066FF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4400" dirty="0">
                <a:solidFill>
                  <a:srgbClr val="0066FF"/>
                </a:solidFill>
                <a:latin typeface="Times New Roman" panose="02020603050405020304" pitchFamily="18" charset="0"/>
              </a:rPr>
              <a:t>On-line</a:t>
            </a:r>
            <a:r>
              <a:rPr lang="zh-CN" altLang="en-US" sz="4400" dirty="0">
                <a:solidFill>
                  <a:srgbClr val="0066FF"/>
                </a:solidFill>
                <a:latin typeface="Arial" panose="020B0604020202020204" pitchFamily="34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5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5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5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5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5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5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</a:rPr>
              <a:t>1.2.5 </a:t>
            </a:r>
            <a:r>
              <a:rPr lang="zh-CN" altLang="en-US" b="1" dirty="0">
                <a:solidFill>
                  <a:srgbClr val="0066FF"/>
                </a:solidFill>
              </a:rPr>
              <a:t>实时操作系统</a:t>
            </a:r>
          </a:p>
        </p:txBody>
      </p:sp>
      <p:sp>
        <p:nvSpPr>
          <p:cNvPr id="206851" name="Rectangle 3"/>
          <p:cNvSpPr>
            <a:spLocks noGrp="1"/>
          </p:cNvSpPr>
          <p:nvPr>
            <p:ph idx="4294967295"/>
          </p:nvPr>
        </p:nvSpPr>
        <p:spPr>
          <a:xfrm>
            <a:off x="0" y="1524000"/>
            <a:ext cx="8686800" cy="48006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/>
              <a:t>实时控制</a:t>
            </a:r>
          </a:p>
          <a:p>
            <a:pPr lvl="1" eaLnBrk="1" hangingPunct="1"/>
            <a:r>
              <a:rPr lang="zh-CN" altLang="en-US" b="1" dirty="0"/>
              <a:t>工业控制，信息查询，军事控制，医疗控制，</a:t>
            </a:r>
            <a:r>
              <a:rPr lang="en-US" altLang="zh-CN" b="1" dirty="0"/>
              <a:t>…….</a:t>
            </a:r>
          </a:p>
          <a:p>
            <a:pPr eaLnBrk="1" hangingPunct="1"/>
            <a:r>
              <a:rPr lang="zh-CN" altLang="en-US" b="1" dirty="0"/>
              <a:t>实时信息处理</a:t>
            </a:r>
          </a:p>
          <a:p>
            <a:pPr lvl="1" eaLnBrk="1" hangingPunct="1"/>
            <a:r>
              <a:rPr lang="zh-CN" altLang="en-US" b="1" dirty="0"/>
              <a:t>航班定票，联机情报检索，</a:t>
            </a:r>
            <a:r>
              <a:rPr lang="en-US" altLang="zh-CN" b="1" dirty="0"/>
              <a:t>…….</a:t>
            </a:r>
          </a:p>
          <a:p>
            <a:pPr lvl="1" eaLnBrk="1" hangingPunct="1"/>
            <a:endParaRPr lang="en-US" altLang="zh-CN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66FF"/>
                </a:solidFill>
                <a:latin typeface="仿宋_GB2312" pitchFamily="49" charset="-122"/>
                <a:ea typeface="仿宋_GB2312" pitchFamily="49" charset="-122"/>
              </a:rPr>
              <a:t>所谓实时系统：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是计算机</a:t>
            </a:r>
            <a:r>
              <a:rPr lang="zh-CN" altLang="en-US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及时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响应外部事件的请求，在</a:t>
            </a:r>
            <a:r>
              <a:rPr lang="zh-CN" altLang="en-US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规定的时间内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完成对该事件的处理，并控制所有实时设备和实时任务协调一致的运行。</a:t>
            </a:r>
          </a:p>
          <a:p>
            <a:pPr lvl="1" eaLnBrk="1" hangingPunct="1">
              <a:buNone/>
            </a:pPr>
            <a:endParaRPr lang="en-US" altLang="zh-CN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6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1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/>
          <p:cNvSpPr/>
          <p:nvPr/>
        </p:nvSpPr>
        <p:spPr>
          <a:xfrm>
            <a:off x="152400" y="1676400"/>
            <a:ext cx="8610600" cy="47466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849630" indent="-84963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3200" dirty="0">
                <a:latin typeface="Arial" panose="020B0604020202020204" pitchFamily="34" charset="0"/>
              </a:rPr>
              <a:t>   1</a:t>
            </a:r>
            <a:r>
              <a:rPr lang="zh-CN" altLang="en-US" sz="3200" dirty="0">
                <a:latin typeface="Arial" panose="020B0604020202020204" pitchFamily="34" charset="0"/>
              </a:rPr>
              <a:t>、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</a:rPr>
              <a:t>多路性</a:t>
            </a:r>
            <a:r>
              <a:rPr lang="zh-CN" altLang="en-US" sz="3200" b="1" dirty="0">
                <a:latin typeface="Arial" panose="020B0604020202020204" pitchFamily="34" charset="0"/>
              </a:rPr>
              <a:t>：能对多个对象进行控制。</a:t>
            </a:r>
          </a:p>
          <a:p>
            <a:pPr marL="849630" indent="-84963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3200" b="1" dirty="0">
                <a:latin typeface="Arial" panose="020B0604020202020204" pitchFamily="34" charset="0"/>
              </a:rPr>
              <a:t>   </a:t>
            </a:r>
            <a:r>
              <a:rPr lang="en-US" altLang="zh-CN" sz="3200" b="1" dirty="0">
                <a:latin typeface="Arial" panose="020B0604020202020204" pitchFamily="34" charset="0"/>
              </a:rPr>
              <a:t>2</a:t>
            </a:r>
            <a:r>
              <a:rPr lang="zh-CN" altLang="en-US" sz="3200" b="1" dirty="0">
                <a:latin typeface="Arial" panose="020B0604020202020204" pitchFamily="34" charset="0"/>
              </a:rPr>
              <a:t>、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</a:rPr>
              <a:t>独立性</a:t>
            </a:r>
            <a:r>
              <a:rPr lang="zh-CN" altLang="en-US" sz="3200" b="1" dirty="0">
                <a:latin typeface="Arial" panose="020B0604020202020204" pitchFamily="34" charset="0"/>
              </a:rPr>
              <a:t>：</a:t>
            </a:r>
            <a:r>
              <a:rPr lang="zh-CN" altLang="en-US" sz="3200" b="1" dirty="0">
                <a:latin typeface="宋体" panose="02010600030101010101" pitchFamily="2" charset="-122"/>
              </a:rPr>
              <a:t>独立运行，不混淆，不破坏。</a:t>
            </a:r>
            <a:endParaRPr lang="zh-CN" altLang="en-US" sz="3200" b="1" dirty="0">
              <a:latin typeface="Arial" panose="020B0604020202020204" pitchFamily="34" charset="0"/>
            </a:endParaRPr>
          </a:p>
          <a:p>
            <a:pPr marL="849630" indent="-84963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3200" b="1" dirty="0">
                <a:latin typeface="Arial" panose="020B0604020202020204" pitchFamily="34" charset="0"/>
              </a:rPr>
              <a:t>   </a:t>
            </a:r>
            <a:r>
              <a:rPr lang="en-US" altLang="zh-CN" sz="3200" b="1" dirty="0">
                <a:latin typeface="Arial" panose="020B0604020202020204" pitchFamily="34" charset="0"/>
              </a:rPr>
              <a:t>3</a:t>
            </a:r>
            <a:r>
              <a:rPr lang="zh-CN" altLang="en-US" sz="3200" b="1" dirty="0">
                <a:latin typeface="Arial" panose="020B0604020202020204" pitchFamily="34" charset="0"/>
              </a:rPr>
              <a:t>、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</a:rPr>
              <a:t>交互性</a:t>
            </a:r>
            <a:r>
              <a:rPr lang="zh-CN" altLang="en-US" sz="3200" b="1" dirty="0">
                <a:latin typeface="Arial" panose="020B0604020202020204" pitchFamily="34" charset="0"/>
              </a:rPr>
              <a:t>：仅限于访问系统中某些特定的专用服务程序。</a:t>
            </a:r>
          </a:p>
          <a:p>
            <a:pPr marL="849630" indent="-84963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3200" b="1" dirty="0">
                <a:latin typeface="Arial" panose="020B0604020202020204" pitchFamily="34" charset="0"/>
              </a:rPr>
              <a:t>   </a:t>
            </a:r>
            <a:r>
              <a:rPr lang="en-US" altLang="zh-CN" sz="3200" b="1" dirty="0">
                <a:latin typeface="Arial" panose="020B0604020202020204" pitchFamily="34" charset="0"/>
              </a:rPr>
              <a:t>4</a:t>
            </a:r>
            <a:r>
              <a:rPr lang="zh-CN" altLang="en-US" sz="3200" b="1" dirty="0">
                <a:latin typeface="Arial" panose="020B0604020202020204" pitchFamily="34" charset="0"/>
              </a:rPr>
              <a:t>、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</a:rPr>
              <a:t>可靠性</a:t>
            </a:r>
            <a:r>
              <a:rPr lang="zh-CN" altLang="en-US" sz="3200" b="1" dirty="0">
                <a:latin typeface="Arial" panose="020B0604020202020204" pitchFamily="34" charset="0"/>
              </a:rPr>
              <a:t>：高可靠性，应具有过载防护能力。</a:t>
            </a:r>
          </a:p>
          <a:p>
            <a:pPr marL="849630" indent="-84963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3200" b="1" dirty="0">
                <a:latin typeface="Arial" panose="020B0604020202020204" pitchFamily="34" charset="0"/>
              </a:rPr>
              <a:t>   </a:t>
            </a:r>
            <a:r>
              <a:rPr lang="en-US" altLang="zh-CN" sz="3200" b="1" dirty="0">
                <a:latin typeface="Arial" panose="020B0604020202020204" pitchFamily="34" charset="0"/>
              </a:rPr>
              <a:t>5</a:t>
            </a:r>
            <a:r>
              <a:rPr lang="zh-CN" altLang="en-US" sz="3200" b="1" dirty="0">
                <a:latin typeface="Arial" panose="020B0604020202020204" pitchFamily="34" charset="0"/>
              </a:rPr>
              <a:t>、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</a:rPr>
              <a:t>及时性</a:t>
            </a:r>
            <a:r>
              <a:rPr lang="zh-CN" altLang="en-US" sz="3200" b="1" dirty="0">
                <a:latin typeface="Arial" panose="020B0604020202020204" pitchFamily="34" charset="0"/>
              </a:rPr>
              <a:t>：不同的系统要求不一样，控制对象必须在截止时间内完成。</a:t>
            </a:r>
          </a:p>
          <a:p>
            <a:pPr marL="849630" indent="-84963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36867" name="Rectangle 5"/>
          <p:cNvSpPr/>
          <p:nvPr/>
        </p:nvSpPr>
        <p:spPr>
          <a:xfrm>
            <a:off x="609600" y="665163"/>
            <a:ext cx="424815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4000" dirty="0">
                <a:latin typeface="Arial" panose="020B0604020202020204" pitchFamily="34" charset="0"/>
              </a:rPr>
              <a:t> </a:t>
            </a:r>
            <a:r>
              <a:rPr lang="zh-CN" altLang="en-US" sz="4400" b="1" dirty="0">
                <a:latin typeface="Arial" panose="020B0604020202020204" pitchFamily="34" charset="0"/>
              </a:rPr>
              <a:t>实时系统的特征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</a:rPr>
              <a:t>1.2.6 </a:t>
            </a:r>
            <a:r>
              <a:rPr lang="zh-CN" altLang="en-US" b="1" dirty="0">
                <a:solidFill>
                  <a:srgbClr val="0066FF"/>
                </a:solidFill>
              </a:rPr>
              <a:t>微机操作系统的发展</a:t>
            </a:r>
          </a:p>
        </p:txBody>
      </p:sp>
      <p:sp>
        <p:nvSpPr>
          <p:cNvPr id="37891" name="Rectangle 3"/>
          <p:cNvSpPr>
            <a:spLocks noGrp="1"/>
          </p:cNvSpPr>
          <p:nvPr>
            <p:ph idx="4294967295"/>
          </p:nvPr>
        </p:nvSpPr>
        <p:spPr>
          <a:xfrm>
            <a:off x="0" y="1600200"/>
            <a:ext cx="8540750" cy="386588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0066FF"/>
                </a:solidFill>
              </a:rPr>
              <a:t>配置在微型机上的操作系统称为微机操作系统。分为三类：</a:t>
            </a:r>
          </a:p>
          <a:p>
            <a:pPr eaLnBrk="1" hangingPunct="1"/>
            <a:r>
              <a:rPr lang="en-US" altLang="zh-CN" b="1" dirty="0"/>
              <a:t>1</a:t>
            </a:r>
            <a:r>
              <a:rPr lang="zh-CN" altLang="en-US" b="1" dirty="0"/>
              <a:t>．</a:t>
            </a:r>
            <a:r>
              <a:rPr lang="zh-CN" altLang="en-US" b="1" dirty="0">
                <a:solidFill>
                  <a:srgbClr val="FF0000"/>
                </a:solidFill>
              </a:rPr>
              <a:t>单用户单任务操作系统</a:t>
            </a:r>
          </a:p>
          <a:p>
            <a:pPr lvl="1" eaLnBrk="1" hangingPunct="1"/>
            <a:r>
              <a:rPr lang="en-US" altLang="zh-CN" b="1" dirty="0"/>
              <a:t>MS-DOS</a:t>
            </a:r>
          </a:p>
          <a:p>
            <a:pPr eaLnBrk="1" hangingPunct="1"/>
            <a:r>
              <a:rPr lang="en-US" altLang="zh-CN" b="1" dirty="0"/>
              <a:t>2</a:t>
            </a:r>
            <a:r>
              <a:rPr lang="zh-CN" altLang="en-US" b="1" dirty="0"/>
              <a:t>．</a:t>
            </a:r>
            <a:r>
              <a:rPr lang="zh-CN" altLang="en-US" b="1" dirty="0">
                <a:solidFill>
                  <a:srgbClr val="FF0000"/>
                </a:solidFill>
              </a:rPr>
              <a:t>单用户多任务操作系统</a:t>
            </a:r>
          </a:p>
          <a:p>
            <a:pPr lvl="1" eaLnBrk="1" hangingPunct="1"/>
            <a:r>
              <a:rPr lang="zh-CN" altLang="en-US" b="1" dirty="0"/>
              <a:t>只允许一个用户上机，但允许用户把程序分为若干个任务，使它们并发执行，如</a:t>
            </a:r>
            <a:r>
              <a:rPr lang="en-US" altLang="zh-CN" b="1" dirty="0"/>
              <a:t>Android</a:t>
            </a:r>
            <a:r>
              <a:rPr lang="zh-CN" altLang="en-US" b="1" dirty="0"/>
              <a:t>，</a:t>
            </a:r>
            <a:r>
              <a:rPr lang="en-US" altLang="zh-CN" b="1" dirty="0"/>
              <a:t>Rtems</a:t>
            </a:r>
            <a:r>
              <a:rPr lang="zh-CN" altLang="en-US" b="1" dirty="0"/>
              <a:t>等嵌入式操作系统。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1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</a:rPr>
              <a:t>1.2.6 </a:t>
            </a:r>
            <a:r>
              <a:rPr lang="zh-CN" altLang="en-US" b="1" dirty="0">
                <a:solidFill>
                  <a:srgbClr val="0066FF"/>
                </a:solidFill>
              </a:rPr>
              <a:t>微机操作系统的发展</a:t>
            </a:r>
          </a:p>
        </p:txBody>
      </p:sp>
      <p:sp>
        <p:nvSpPr>
          <p:cNvPr id="38915" name="Rectangle 3"/>
          <p:cNvSpPr>
            <a:spLocks noGrp="1"/>
          </p:cNvSpPr>
          <p:nvPr>
            <p:ph idx="4294967295"/>
          </p:nvPr>
        </p:nvSpPr>
        <p:spPr>
          <a:xfrm>
            <a:off x="0" y="1751330"/>
            <a:ext cx="8230870" cy="388747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zh-CN" altLang="en-US" b="1" dirty="0">
                <a:solidFill>
                  <a:srgbClr val="FF0000"/>
                </a:solidFill>
              </a:rPr>
              <a:t>．多用户多任务操作系统</a:t>
            </a:r>
          </a:p>
          <a:p>
            <a:pPr lvl="1" eaLnBrk="1" hangingPunct="1"/>
            <a:r>
              <a:rPr lang="zh-CN" altLang="en-US" b="1" dirty="0"/>
              <a:t>允许多个用户通过各自的终端使用同一台机器，共享主机系统中的各种资源，而每个用户程序又可进一步分为几个任务，使它们能并发执行，从而可进一步提高资源利用率和系统吞吐量。</a:t>
            </a:r>
          </a:p>
          <a:p>
            <a:pPr lvl="1" eaLnBrk="1" hangingPunct="1"/>
            <a:r>
              <a:rPr lang="zh-CN" altLang="en-US" b="1" dirty="0">
                <a:solidFill>
                  <a:srgbClr val="0066FF"/>
                </a:solidFill>
              </a:rPr>
              <a:t>最有代表性的是</a:t>
            </a:r>
            <a:r>
              <a:rPr lang="en-US" altLang="zh-CN" b="1" dirty="0">
                <a:solidFill>
                  <a:srgbClr val="0066FF"/>
                </a:solidFill>
              </a:rPr>
              <a:t>UNIX OS, Windows</a:t>
            </a:r>
          </a:p>
          <a:p>
            <a:pPr lvl="1" eaLnBrk="1" hangingPunct="1">
              <a:lnSpc>
                <a:spcPct val="110000"/>
              </a:lnSpc>
            </a:pPr>
            <a:endParaRPr lang="zh-CN" altLang="en-US" b="1" dirty="0"/>
          </a:p>
          <a:p>
            <a:pPr lvl="1" eaLnBrk="1" hangingPunct="1"/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  <p:bldP spid="38915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</a:rPr>
              <a:t>1.3</a:t>
            </a:r>
            <a:r>
              <a:rPr lang="zh-CN" altLang="en-US" b="1" dirty="0">
                <a:solidFill>
                  <a:srgbClr val="0066FF"/>
                </a:solidFill>
              </a:rPr>
              <a:t>操作系统的基本特性</a:t>
            </a:r>
            <a:endParaRPr lang="en-US" altLang="zh-CN" b="1" dirty="0">
              <a:solidFill>
                <a:srgbClr val="0066FF"/>
              </a:solidFill>
            </a:endParaRPr>
          </a:p>
        </p:txBody>
      </p:sp>
      <p:sp>
        <p:nvSpPr>
          <p:cNvPr id="1280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697355"/>
            <a:ext cx="8540750" cy="386524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itchFamily="18" charset="2"/>
              <a:buChar char="¡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现代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OS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的四个基本特征：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1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、并发性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、共享性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3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、虚拟性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4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、异步性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itchFamily="18" charset="2"/>
              <a:buChar char="¡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并发是最重要的特征，其它特征都以并发为前提。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itchFamily="18" charset="2"/>
              <a:buChar char="¡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12800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 idx="4294967295"/>
          </p:nvPr>
        </p:nvSpPr>
        <p:spPr>
          <a:xfrm>
            <a:off x="0" y="533400"/>
            <a:ext cx="7772400" cy="8382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  <a:latin typeface="宋体" panose="02010600030101010101" pitchFamily="2" charset="-122"/>
              </a:rPr>
              <a:t>1.3.1</a:t>
            </a:r>
            <a:r>
              <a:rPr lang="zh-CN" altLang="en-US" b="1" dirty="0">
                <a:solidFill>
                  <a:srgbClr val="0066FF"/>
                </a:solidFill>
                <a:latin typeface="宋体" panose="02010600030101010101" pitchFamily="2" charset="-122"/>
              </a:rPr>
              <a:t>并发性</a:t>
            </a:r>
          </a:p>
        </p:txBody>
      </p:sp>
      <p:sp>
        <p:nvSpPr>
          <p:cNvPr id="37891" name="Rectangle 3"/>
          <p:cNvSpPr>
            <a:spLocks noGrp="1"/>
          </p:cNvSpPr>
          <p:nvPr>
            <p:ph type="body" idx="4294967295"/>
          </p:nvPr>
        </p:nvSpPr>
        <p:spPr>
          <a:xfrm>
            <a:off x="0" y="1524000"/>
            <a:ext cx="8534400" cy="4876800"/>
          </a:xfrm>
        </p:spPr>
        <p:txBody>
          <a:bodyPr vert="horz" wrap="square" lIns="91440" tIns="45720" rIns="91440" bIns="45720" anchor="t"/>
          <a:lstStyle/>
          <a:p>
            <a:pPr marL="290830" indent="-290830" defTabSz="914400" eaLnBrk="1" hangingPunct="1">
              <a:lnSpc>
                <a:spcPct val="120000"/>
              </a:lnSpc>
              <a:tabLst>
                <a:tab pos="579755" algn="l"/>
              </a:tabLst>
            </a:pPr>
            <a:r>
              <a:rPr lang="en-US" altLang="zh-CN" b="1" dirty="0">
                <a:latin typeface="仿宋_GB2312" pitchFamily="49" charset="-122"/>
                <a:ea typeface="仿宋_GB2312" pitchFamily="49" charset="-122"/>
              </a:rPr>
              <a:t>- </a:t>
            </a:r>
            <a:r>
              <a:rPr lang="zh-CN" altLang="en-US" b="1" dirty="0">
                <a:solidFill>
                  <a:srgbClr val="0066FF"/>
                </a:solidFill>
                <a:latin typeface="仿宋_GB2312" pitchFamily="49" charset="-122"/>
                <a:ea typeface="仿宋_GB2312" pitchFamily="49" charset="-122"/>
              </a:rPr>
              <a:t>并行性：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是指两个或多个事件在</a:t>
            </a:r>
            <a:r>
              <a:rPr lang="zh-CN" altLang="en-US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同一时刻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发生。</a:t>
            </a:r>
          </a:p>
          <a:p>
            <a:pPr marL="290830" indent="-290830" defTabSz="914400" eaLnBrk="1" hangingPunct="1">
              <a:lnSpc>
                <a:spcPct val="120000"/>
              </a:lnSpc>
              <a:buFont typeface="Wingdings" panose="05000000000000000000" pitchFamily="2" charset="2"/>
              <a:buNone/>
              <a:tabLst>
                <a:tab pos="579755" algn="l"/>
              </a:tabLst>
            </a:pP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</a:rPr>
              <a:t>- </a:t>
            </a:r>
            <a:r>
              <a:rPr lang="zh-CN" altLang="en-US" b="1" dirty="0">
                <a:solidFill>
                  <a:srgbClr val="0066FF"/>
                </a:solidFill>
                <a:latin typeface="仿宋_GB2312" pitchFamily="49" charset="-122"/>
                <a:ea typeface="仿宋_GB2312" pitchFamily="49" charset="-122"/>
              </a:rPr>
              <a:t>并发性：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是指两个或多个事件在</a:t>
            </a:r>
            <a:r>
              <a:rPr lang="zh-CN" altLang="en-US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同一时间间隔内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发生。</a:t>
            </a:r>
          </a:p>
          <a:p>
            <a:pPr marL="290830" indent="-290830" defTabSz="914400" eaLnBrk="1" hangingPunct="1">
              <a:lnSpc>
                <a:spcPct val="120000"/>
              </a:lnSpc>
              <a:buFont typeface="Wingdings" panose="05000000000000000000" pitchFamily="2" charset="2"/>
              <a:buNone/>
              <a:tabLst>
                <a:tab pos="579755" algn="l"/>
              </a:tabLst>
            </a:pPr>
            <a:r>
              <a:rPr lang="zh-CN" altLang="en-US" sz="2800" b="1" dirty="0"/>
              <a:t>	在多道程序环境下，并发性是指在一段时间内，</a:t>
            </a:r>
            <a:r>
              <a:rPr lang="zh-CN" altLang="en-US" sz="2800" b="1" dirty="0">
                <a:solidFill>
                  <a:srgbClr val="FF0000"/>
                </a:solidFill>
              </a:rPr>
              <a:t>宏观</a:t>
            </a:r>
            <a:r>
              <a:rPr lang="zh-CN" altLang="en-US" sz="2800" b="1" dirty="0"/>
              <a:t>上有多个程序在同时运行，但在单处理机系统中，每一时刻却仅能有一道程序执行，故</a:t>
            </a:r>
            <a:r>
              <a:rPr lang="zh-CN" altLang="en-US" sz="2800" b="1" dirty="0">
                <a:solidFill>
                  <a:srgbClr val="FF0000"/>
                </a:solidFill>
              </a:rPr>
              <a:t>微观上</a:t>
            </a:r>
            <a:r>
              <a:rPr lang="zh-CN" altLang="en-US" sz="2800" b="1" dirty="0"/>
              <a:t>这些程序只能是分时地交替执行。</a:t>
            </a:r>
            <a:r>
              <a:rPr lang="zh-CN" altLang="en-US" sz="28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1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  <a:latin typeface="宋体" panose="02010600030101010101" pitchFamily="2" charset="-122"/>
              </a:rPr>
              <a:t>1.3.2 </a:t>
            </a:r>
            <a:r>
              <a:rPr lang="zh-CN" altLang="en-US" b="1" dirty="0">
                <a:solidFill>
                  <a:srgbClr val="0066FF"/>
                </a:solidFill>
                <a:latin typeface="宋体" panose="02010600030101010101" pitchFamily="2" charset="-122"/>
              </a:rPr>
              <a:t>共享</a:t>
            </a:r>
          </a:p>
        </p:txBody>
      </p:sp>
      <p:sp>
        <p:nvSpPr>
          <p:cNvPr id="38915" name="Rectangle 3"/>
          <p:cNvSpPr>
            <a:spLocks noGrp="1"/>
          </p:cNvSpPr>
          <p:nvPr>
            <p:ph type="body" idx="4294967295"/>
          </p:nvPr>
        </p:nvSpPr>
        <p:spPr>
          <a:xfrm>
            <a:off x="0" y="1676400"/>
            <a:ext cx="8229600" cy="4572000"/>
          </a:xfrm>
        </p:spPr>
        <p:txBody>
          <a:bodyPr vert="horz" wrap="square" lIns="91440" tIns="45720" rIns="91440" bIns="45720" anchor="t"/>
          <a:lstStyle/>
          <a:p>
            <a:pPr marL="476250" indent="-476250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066FF"/>
                </a:solidFill>
                <a:latin typeface="仿宋_GB2312" pitchFamily="49" charset="-122"/>
                <a:ea typeface="仿宋_GB2312" pitchFamily="49" charset="-122"/>
              </a:rPr>
              <a:t>共享：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是指系统中的资源可供内存中多个</a:t>
            </a:r>
            <a:r>
              <a:rPr lang="zh-CN" altLang="en-US" b="1" dirty="0">
                <a:solidFill>
                  <a:srgbClr val="FF9900"/>
                </a:solidFill>
                <a:latin typeface="仿宋_GB2312" pitchFamily="49" charset="-122"/>
                <a:ea typeface="仿宋_GB2312" pitchFamily="49" charset="-122"/>
              </a:rPr>
              <a:t>并发执行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的进程共同使用。</a:t>
            </a:r>
          </a:p>
          <a:p>
            <a:pPr marL="476250" indent="-47625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66FF"/>
                </a:solidFill>
                <a:latin typeface="仿宋_GB2312" pitchFamily="49" charset="-122"/>
                <a:ea typeface="仿宋_GB2312" pitchFamily="49" charset="-122"/>
              </a:rPr>
              <a:t>1</a:t>
            </a:r>
            <a:r>
              <a:rPr lang="zh-CN" altLang="en-US" b="1" dirty="0">
                <a:solidFill>
                  <a:srgbClr val="0066FF"/>
                </a:solidFill>
                <a:latin typeface="仿宋_GB2312" pitchFamily="49" charset="-122"/>
                <a:ea typeface="仿宋_GB2312" pitchFamily="49" charset="-122"/>
              </a:rPr>
              <a:t>、互斥共享方式：</a:t>
            </a:r>
          </a:p>
          <a:p>
            <a:pPr marL="476250" indent="-47625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仿宋_GB2312" pitchFamily="49" charset="-122"/>
                <a:ea typeface="仿宋_GB2312" pitchFamily="49" charset="-122"/>
              </a:rPr>
              <a:t>   </a:t>
            </a:r>
            <a:r>
              <a:rPr lang="en-US" altLang="zh-CN" sz="2400" b="1" dirty="0">
                <a:latin typeface="仿宋_GB2312" pitchFamily="49" charset="-122"/>
                <a:ea typeface="仿宋_GB2312" pitchFamily="49" charset="-122"/>
              </a:rPr>
              <a:t>- 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把在一段时间内只允许一个进程访问的资源，称为</a:t>
            </a:r>
            <a:r>
              <a:rPr lang="zh-CN" altLang="en-US" sz="28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临界资源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。</a:t>
            </a:r>
          </a:p>
          <a:p>
            <a:pPr marL="476250" indent="-47625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   </a:t>
            </a:r>
            <a:r>
              <a:rPr lang="en-US" altLang="zh-CN" sz="2800" b="1" dirty="0">
                <a:latin typeface="仿宋_GB2312" pitchFamily="49" charset="-122"/>
                <a:ea typeface="仿宋_GB2312" pitchFamily="49" charset="-122"/>
              </a:rPr>
              <a:t>- 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系统中的临界资源可以提供给多个进程使用，但</a:t>
            </a:r>
            <a:r>
              <a:rPr lang="zh-CN" altLang="en-US" sz="28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一段时间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内</a:t>
            </a:r>
            <a:r>
              <a:rPr lang="zh-CN" altLang="en-US" sz="28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仅允许一个进程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使用，称为</a:t>
            </a:r>
            <a:r>
              <a:rPr lang="zh-CN" altLang="en-US" sz="28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互斥共享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方式。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  <p:bldP spid="3891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idx="4294967295"/>
          </p:nvPr>
        </p:nvSpPr>
        <p:spPr>
          <a:xfrm>
            <a:off x="0" y="1676400"/>
            <a:ext cx="8382000" cy="414845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600" b="1" dirty="0">
                <a:solidFill>
                  <a:srgbClr val="0066FF"/>
                </a:solidFill>
                <a:latin typeface="仿宋_GB2312" pitchFamily="49" charset="-122"/>
                <a:ea typeface="仿宋_GB2312" pitchFamily="49" charset="-122"/>
              </a:rPr>
              <a:t>  2</a:t>
            </a:r>
            <a:r>
              <a:rPr lang="zh-CN" altLang="en-US" sz="3600" b="1" dirty="0">
                <a:solidFill>
                  <a:srgbClr val="0066FF"/>
                </a:solidFill>
                <a:latin typeface="仿宋_GB2312" pitchFamily="49" charset="-122"/>
                <a:ea typeface="仿宋_GB2312" pitchFamily="49" charset="-122"/>
              </a:rPr>
              <a:t>、同时访问方式：</a:t>
            </a:r>
            <a:r>
              <a:rPr lang="zh-CN" altLang="en-US" sz="3600" b="1" dirty="0">
                <a:latin typeface="仿宋_GB2312" pitchFamily="49" charset="-122"/>
                <a:ea typeface="仿宋_GB2312" pitchFamily="49" charset="-122"/>
              </a:rPr>
              <a:t> </a:t>
            </a:r>
          </a:p>
          <a:p>
            <a:pPr lvl="1" eaLnBrk="1" hangingPunct="1">
              <a:lnSpc>
                <a:spcPct val="120000"/>
              </a:lnSpc>
              <a:buFontTx/>
              <a:buChar char="-"/>
            </a:pPr>
            <a:r>
              <a:rPr lang="zh-CN" altLang="en-US" sz="32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一段时间内</a:t>
            </a:r>
            <a:r>
              <a:rPr lang="zh-CN" altLang="en-US" sz="3200" b="1" dirty="0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zh-CN" altLang="en-US" sz="32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多个进程</a:t>
            </a:r>
            <a:r>
              <a:rPr lang="zh-CN" altLang="en-US" sz="3200" b="1" dirty="0">
                <a:latin typeface="仿宋_GB2312" pitchFamily="49" charset="-122"/>
                <a:ea typeface="仿宋_GB2312" pitchFamily="49" charset="-122"/>
              </a:rPr>
              <a:t>可以同时使用这个资源。</a:t>
            </a:r>
          </a:p>
          <a:p>
            <a:pPr lvl="1" eaLnBrk="1" hangingPunct="1">
              <a:lnSpc>
                <a:spcPct val="120000"/>
              </a:lnSpc>
              <a:buFontTx/>
              <a:buChar char="-"/>
            </a:pPr>
            <a:r>
              <a:rPr lang="en-US" altLang="zh-CN" sz="3200" b="1" dirty="0">
                <a:latin typeface="仿宋_GB2312" pitchFamily="49" charset="-122"/>
                <a:ea typeface="仿宋_GB2312" pitchFamily="49" charset="-122"/>
              </a:rPr>
              <a:t>- </a:t>
            </a:r>
            <a:r>
              <a:rPr lang="zh-CN" altLang="en-US" sz="3200" b="1" dirty="0">
                <a:latin typeface="仿宋_GB2312" pitchFamily="49" charset="-122"/>
                <a:ea typeface="仿宋_GB2312" pitchFamily="49" charset="-122"/>
              </a:rPr>
              <a:t>从微观上看，多个进程</a:t>
            </a:r>
            <a:r>
              <a:rPr lang="zh-CN" altLang="en-US" sz="32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交替互斥</a:t>
            </a:r>
            <a:r>
              <a:rPr lang="zh-CN" altLang="en-US" sz="3200" b="1" dirty="0">
                <a:latin typeface="仿宋_GB2312" pitchFamily="49" charset="-122"/>
                <a:ea typeface="仿宋_GB2312" pitchFamily="49" charset="-122"/>
              </a:rPr>
              <a:t>地使用系统中的某个资源。例如磁盘。</a:t>
            </a:r>
            <a:endParaRPr lang="zh-CN" altLang="en-US" dirty="0"/>
          </a:p>
        </p:txBody>
      </p:sp>
      <p:sp>
        <p:nvSpPr>
          <p:cNvPr id="43011" name="Rectangle 3"/>
          <p:cNvSpPr/>
          <p:nvPr/>
        </p:nvSpPr>
        <p:spPr>
          <a:xfrm>
            <a:off x="457200" y="3048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en-US" altLang="zh-CN" sz="4400" b="1" dirty="0">
                <a:solidFill>
                  <a:srgbClr val="0066FF"/>
                </a:solidFill>
                <a:latin typeface="宋体" panose="02010600030101010101" pitchFamily="2" charset="-122"/>
              </a:rPr>
              <a:t>1.3.2 </a:t>
            </a:r>
            <a:r>
              <a:rPr lang="zh-CN" altLang="en-US" sz="4400" b="1" dirty="0">
                <a:solidFill>
                  <a:srgbClr val="0066FF"/>
                </a:solidFill>
                <a:latin typeface="宋体" panose="02010600030101010101" pitchFamily="2" charset="-122"/>
              </a:rPr>
              <a:t>共享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 idx="4294967295"/>
          </p:nvPr>
        </p:nvSpPr>
        <p:spPr>
          <a:xfrm>
            <a:off x="0" y="2286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  <a:latin typeface="宋体" panose="02010600030101010101" pitchFamily="2" charset="-122"/>
              </a:rPr>
              <a:t>1.3.3 </a:t>
            </a:r>
            <a:r>
              <a:rPr lang="zh-CN" altLang="en-US" b="1" dirty="0">
                <a:solidFill>
                  <a:srgbClr val="0066FF"/>
                </a:solidFill>
                <a:latin typeface="宋体" panose="02010600030101010101" pitchFamily="2" charset="-122"/>
              </a:rPr>
              <a:t>虚拟性</a:t>
            </a:r>
          </a:p>
        </p:txBody>
      </p:sp>
      <p:sp>
        <p:nvSpPr>
          <p:cNvPr id="40963" name="Rectangle 3"/>
          <p:cNvSpPr>
            <a:spLocks noGrp="1"/>
          </p:cNvSpPr>
          <p:nvPr>
            <p:ph type="body" idx="4294967295"/>
          </p:nvPr>
        </p:nvSpPr>
        <p:spPr>
          <a:xfrm>
            <a:off x="0" y="1752600"/>
            <a:ext cx="8229600" cy="38862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2800" b="1" dirty="0">
                <a:solidFill>
                  <a:srgbClr val="0066FF"/>
                </a:solidFill>
              </a:rPr>
              <a:t>虚拟：</a:t>
            </a:r>
            <a:r>
              <a:rPr lang="zh-CN" altLang="en-US" b="1" dirty="0"/>
              <a:t>是指通过某种技术把一个物理实体变为（映射为）若干个逻辑上的对应物，用于实现虚拟的技术称为虚拟技术。</a:t>
            </a:r>
          </a:p>
          <a:p>
            <a:pPr lvl="1" eaLnBrk="1" hangingPunct="1"/>
            <a:r>
              <a:rPr lang="zh-CN" altLang="en-US" b="1" dirty="0"/>
              <a:t>虚拟处理机技术：分时实现</a:t>
            </a:r>
          </a:p>
          <a:p>
            <a:pPr lvl="1" eaLnBrk="1" hangingPunct="1"/>
            <a:r>
              <a:rPr lang="zh-CN" altLang="en-US" b="1" dirty="0"/>
              <a:t>虚拟设备技术：</a:t>
            </a:r>
            <a:r>
              <a:rPr lang="en-US" altLang="zh-CN" b="1" dirty="0"/>
              <a:t>SPOOLING</a:t>
            </a:r>
            <a:r>
              <a:rPr lang="zh-CN" altLang="en-US" b="1" dirty="0"/>
              <a:t>技术</a:t>
            </a:r>
            <a:r>
              <a:rPr lang="zh-CN" altLang="en-US" b="1" dirty="0">
                <a:solidFill>
                  <a:srgbClr val="FF0000"/>
                </a:solidFill>
              </a:rPr>
              <a:t>（第五章）</a:t>
            </a:r>
          </a:p>
          <a:p>
            <a:pPr lvl="1" eaLnBrk="1" hangingPunct="1"/>
            <a:r>
              <a:rPr lang="zh-CN" altLang="en-US" b="1" dirty="0"/>
              <a:t>虚拟磁盘技术</a:t>
            </a:r>
            <a:endParaRPr lang="en-US" altLang="zh-CN" b="1" dirty="0"/>
          </a:p>
          <a:p>
            <a:pPr lvl="1" eaLnBrk="1" hangingPunct="1"/>
            <a:r>
              <a:rPr lang="zh-CN" altLang="en-US" b="1" dirty="0"/>
              <a:t>虚拟存储器技术：虚拟存储器</a:t>
            </a:r>
            <a:r>
              <a:rPr lang="zh-CN" altLang="en-US" b="1" dirty="0">
                <a:solidFill>
                  <a:srgbClr val="FF0000"/>
                </a:solidFill>
              </a:rPr>
              <a:t>（第四章）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4096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 idx="4294967295"/>
          </p:nvPr>
        </p:nvSpPr>
        <p:spPr>
          <a:xfrm>
            <a:off x="0" y="3048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</a:rPr>
              <a:t>1.3.4 </a:t>
            </a:r>
            <a:r>
              <a:rPr lang="zh-CN" altLang="en-US" b="1" dirty="0">
                <a:solidFill>
                  <a:srgbClr val="0066FF"/>
                </a:solidFill>
              </a:rPr>
              <a:t>异步性</a:t>
            </a:r>
          </a:p>
        </p:txBody>
      </p:sp>
      <p:sp>
        <p:nvSpPr>
          <p:cNvPr id="41987" name="Rectangle 3"/>
          <p:cNvSpPr>
            <a:spLocks noGrp="1"/>
          </p:cNvSpPr>
          <p:nvPr>
            <p:ph type="body" idx="4294967295"/>
          </p:nvPr>
        </p:nvSpPr>
        <p:spPr>
          <a:xfrm>
            <a:off x="609600" y="1752600"/>
            <a:ext cx="8534400" cy="38862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66FF"/>
                </a:solidFill>
              </a:rPr>
              <a:t>1</a:t>
            </a:r>
            <a:r>
              <a:rPr lang="zh-CN" altLang="en-US" b="1" dirty="0">
                <a:solidFill>
                  <a:srgbClr val="0066FF"/>
                </a:solidFill>
              </a:rPr>
              <a:t>、执行结果不确定，</a:t>
            </a:r>
            <a:r>
              <a:rPr lang="zh-CN" altLang="en-US" b="1" dirty="0"/>
              <a:t>程序不可再现</a:t>
            </a:r>
            <a:r>
              <a:rPr lang="zh-CN" altLang="en-US" b="1" dirty="0">
                <a:solidFill>
                  <a:srgbClr val="140D71"/>
                </a:solidFill>
              </a:rPr>
              <a:t>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66FF"/>
                </a:solidFill>
              </a:rPr>
              <a:t>2</a:t>
            </a:r>
            <a:r>
              <a:rPr lang="zh-CN" altLang="en-US" b="1" dirty="0">
                <a:solidFill>
                  <a:srgbClr val="0066FF"/>
                </a:solidFill>
              </a:rPr>
              <a:t>、异步性，</a:t>
            </a:r>
            <a:r>
              <a:rPr lang="zh-CN" altLang="en-US" b="1" dirty="0"/>
              <a:t>多道程序环境下程序（进程）以异步的方式执行，每道程序在何时执行、各自执行的顺序、完成时间都是不确定的，也是不可预知的。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/>
      <p:bldP spid="41987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 idx="4294967295"/>
          </p:nvPr>
        </p:nvSpPr>
        <p:spPr>
          <a:xfrm>
            <a:off x="0" y="3810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66FF"/>
                </a:solidFill>
              </a:rPr>
              <a:t>1.4  </a:t>
            </a:r>
            <a:r>
              <a:rPr lang="zh-CN" altLang="en-US" b="1" dirty="0">
                <a:solidFill>
                  <a:srgbClr val="0066FF"/>
                </a:solidFill>
              </a:rPr>
              <a:t>操作系统的主要功能</a:t>
            </a:r>
          </a:p>
        </p:txBody>
      </p:sp>
      <p:sp>
        <p:nvSpPr>
          <p:cNvPr id="43011" name="Rectangle 3"/>
          <p:cNvSpPr>
            <a:spLocks noGrp="1"/>
          </p:cNvSpPr>
          <p:nvPr>
            <p:ph type="body" idx="4294967295"/>
          </p:nvPr>
        </p:nvSpPr>
        <p:spPr>
          <a:xfrm>
            <a:off x="914400" y="1752600"/>
            <a:ext cx="8229600" cy="38862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/>
              <a:t>操作系统应具有五方面的功能：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66FF"/>
                </a:solidFill>
              </a:rPr>
              <a:t>1</a:t>
            </a:r>
            <a:r>
              <a:rPr lang="zh-CN" altLang="en-US" dirty="0">
                <a:solidFill>
                  <a:srgbClr val="0066FF"/>
                </a:solidFill>
              </a:rPr>
              <a:t>、</a:t>
            </a:r>
            <a:r>
              <a:rPr lang="zh-CN" altLang="en-US" b="1" dirty="0">
                <a:solidFill>
                  <a:srgbClr val="0066FF"/>
                </a:solidFill>
              </a:rPr>
              <a:t>处理机管理（</a:t>
            </a:r>
            <a:r>
              <a:rPr lang="en-US" altLang="zh-CN" b="1" dirty="0">
                <a:solidFill>
                  <a:srgbClr val="0066FF"/>
                </a:solidFill>
              </a:rPr>
              <a:t>CPU</a:t>
            </a:r>
            <a:r>
              <a:rPr lang="zh-CN" altLang="en-US" b="1" dirty="0">
                <a:solidFill>
                  <a:srgbClr val="0066FF"/>
                </a:solidFill>
              </a:rPr>
              <a:t>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66FF"/>
                </a:solidFill>
              </a:rPr>
              <a:t>2</a:t>
            </a:r>
            <a:r>
              <a:rPr lang="zh-CN" altLang="en-US" b="1" dirty="0">
                <a:solidFill>
                  <a:srgbClr val="0066FF"/>
                </a:solidFill>
              </a:rPr>
              <a:t>、存储器管理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66FF"/>
                </a:solidFill>
              </a:rPr>
              <a:t>3</a:t>
            </a:r>
            <a:r>
              <a:rPr lang="zh-CN" altLang="en-US" b="1" dirty="0">
                <a:solidFill>
                  <a:srgbClr val="0066FF"/>
                </a:solidFill>
              </a:rPr>
              <a:t>、设备管理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66FF"/>
                </a:solidFill>
              </a:rPr>
              <a:t>4</a:t>
            </a:r>
            <a:r>
              <a:rPr lang="zh-CN" altLang="en-US" b="1" dirty="0">
                <a:solidFill>
                  <a:srgbClr val="0066FF"/>
                </a:solidFill>
              </a:rPr>
              <a:t>、文件管理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66FF"/>
                </a:solidFill>
              </a:rPr>
              <a:t>5</a:t>
            </a:r>
            <a:r>
              <a:rPr lang="zh-CN" altLang="en-US" b="1" dirty="0">
                <a:solidFill>
                  <a:srgbClr val="0066FF"/>
                </a:solidFill>
              </a:rPr>
              <a:t>、操作系统与用户之间的接口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43011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/>
              <a:t>1.5 </a:t>
            </a:r>
            <a:r>
              <a:rPr lang="zh-CN" altLang="en-US" b="1" dirty="0"/>
              <a:t>操作系统的体系结构</a:t>
            </a:r>
            <a:r>
              <a:rPr lang="zh-CN" altLang="en-US" dirty="0"/>
              <a:t> </a:t>
            </a:r>
          </a:p>
        </p:txBody>
      </p:sp>
      <p:sp>
        <p:nvSpPr>
          <p:cNvPr id="64515" name="Rectangle 3"/>
          <p:cNvSpPr>
            <a:spLocks noGrp="1"/>
          </p:cNvSpPr>
          <p:nvPr>
            <p:ph idx="4294967295"/>
          </p:nvPr>
        </p:nvSpPr>
        <p:spPr>
          <a:xfrm>
            <a:off x="0" y="1675130"/>
            <a:ext cx="8540750" cy="3863975"/>
          </a:xfrm>
        </p:spPr>
        <p:txBody>
          <a:bodyPr vert="horz" wrap="square" lIns="91440" tIns="45720" rIns="91440" bIns="45720" anchor="t"/>
          <a:lstStyle/>
          <a:p>
            <a:pPr marL="373380" indent="-373380" eaLnBrk="1" hangingPunct="1"/>
            <a:r>
              <a:rPr lang="zh-CN" altLang="en-US" sz="3600" b="1" dirty="0">
                <a:solidFill>
                  <a:srgbClr val="0000CC"/>
                </a:solidFill>
              </a:rPr>
              <a:t>操作系统是一个大型系统软件，其结构已经历了四代的变革：</a:t>
            </a:r>
          </a:p>
          <a:p>
            <a:pPr marL="373380" indent="-373380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第一代的</a:t>
            </a:r>
            <a:r>
              <a:rPr lang="en-US" altLang="zh-CN" b="1" dirty="0"/>
              <a:t>OS</a:t>
            </a:r>
            <a:r>
              <a:rPr lang="zh-CN" altLang="en-US" b="1" dirty="0"/>
              <a:t>是无结构的；</a:t>
            </a:r>
          </a:p>
          <a:p>
            <a:pPr marL="373380" indent="-373380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第二代</a:t>
            </a:r>
            <a:r>
              <a:rPr lang="en-US" altLang="zh-CN" b="1" dirty="0"/>
              <a:t>OS</a:t>
            </a:r>
            <a:r>
              <a:rPr lang="zh-CN" altLang="en-US" b="1" dirty="0"/>
              <a:t>采用了模块式结构；</a:t>
            </a:r>
          </a:p>
          <a:p>
            <a:pPr marL="373380" indent="-373380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第三代是层次式结构</a:t>
            </a:r>
          </a:p>
          <a:p>
            <a:pPr marL="373380" indent="-373380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现代</a:t>
            </a:r>
            <a:r>
              <a:rPr lang="en-US" altLang="zh-CN" b="1" dirty="0"/>
              <a:t>OS</a:t>
            </a:r>
            <a:r>
              <a:rPr lang="zh-CN" altLang="en-US" b="1" dirty="0"/>
              <a:t>结构是微内核结构；</a:t>
            </a:r>
          </a:p>
          <a:p>
            <a:pPr marL="373380" indent="-373380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/>
      <p:bldP spid="64515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传统的操作系统结构 </a:t>
            </a:r>
          </a:p>
        </p:txBody>
      </p:sp>
      <p:sp>
        <p:nvSpPr>
          <p:cNvPr id="65539" name="Rectangle 3"/>
          <p:cNvSpPr>
            <a:spLocks noGrp="1"/>
          </p:cNvSpPr>
          <p:nvPr>
            <p:ph idx="4294967295"/>
          </p:nvPr>
        </p:nvSpPr>
        <p:spPr>
          <a:xfrm>
            <a:off x="0" y="1981200"/>
            <a:ext cx="8229600" cy="38862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操作系统中增加了越来越多的功能，并且随着底层硬件更高的性能，更加通用，操作系统的大小和复杂性也随着增加。</a:t>
            </a:r>
          </a:p>
          <a:p>
            <a:pPr eaLnBrk="1" hangingPunct="1"/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为了控制该软件的复杂性，在开发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</a:rPr>
              <a:t>OS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时，先后引入了分解、模块化、抽象和隐蔽等方法。开发方法的不断发展，促进了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</a:rPr>
              <a:t>OS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结构的更新换代。 </a:t>
            </a:r>
            <a:endParaRPr lang="zh-CN" altLang="en-US" sz="2800" dirty="0">
              <a:latin typeface="仿宋_GB2312" pitchFamily="49" charset="-122"/>
              <a:ea typeface="仿宋_GB2312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仿宋_GB2312" pitchFamily="49" charset="-122"/>
                <a:ea typeface="仿宋_GB2312" pitchFamily="49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8" grpId="0"/>
      <p:bldP spid="65539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/>
          </p:cNvSpPr>
          <p:nvPr>
            <p:ph type="title" idx="4294967295"/>
          </p:nvPr>
        </p:nvSpPr>
        <p:spPr>
          <a:xfrm>
            <a:off x="0" y="228600"/>
            <a:ext cx="6278880" cy="1006475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/>
              <a:t>1</a:t>
            </a:r>
            <a:r>
              <a:rPr lang="zh-CN" altLang="en-US" b="1" dirty="0"/>
              <a:t>．无结构操作系统</a:t>
            </a:r>
          </a:p>
        </p:txBody>
      </p:sp>
      <p:sp>
        <p:nvSpPr>
          <p:cNvPr id="66563" name="Rectangle 3"/>
          <p:cNvSpPr>
            <a:spLocks noGrp="1"/>
          </p:cNvSpPr>
          <p:nvPr>
            <p:ph idx="4294967295"/>
          </p:nvPr>
        </p:nvSpPr>
        <p:spPr>
          <a:xfrm>
            <a:off x="990600" y="1600200"/>
            <a:ext cx="8153400" cy="5029200"/>
          </a:xfrm>
        </p:spPr>
        <p:txBody>
          <a:bodyPr vert="horz" wrap="square" lIns="91440" tIns="45720" rIns="91440" bIns="45720" anchor="t"/>
          <a:lstStyle/>
          <a:p>
            <a:pPr algn="just" eaLnBrk="1" hangingPunct="1"/>
            <a:r>
              <a:rPr lang="zh-CN" altLang="en-US" sz="2800" b="1" dirty="0"/>
              <a:t>在早期开发操作系统时，设计者只是把他的注意力放在功能的实现和获得高的效率上，缺乏首尾一致的设计思想。</a:t>
            </a:r>
          </a:p>
          <a:p>
            <a:pPr algn="just" eaLnBrk="1" hangingPunct="1"/>
            <a:r>
              <a:rPr lang="en-US" altLang="zh-CN" sz="2800" b="1" dirty="0"/>
              <a:t>OS</a:t>
            </a:r>
            <a:r>
              <a:rPr lang="zh-CN" altLang="en-US" sz="2800" b="1" dirty="0"/>
              <a:t>是为数众多的一组过程的集合，各过程之间可以相互调用，在操作系统内部不存在任何结构，因此，有人把它称为整体系统结构。</a:t>
            </a:r>
          </a:p>
          <a:p>
            <a:pPr algn="just" eaLnBrk="1" hangingPunct="1"/>
            <a:r>
              <a:rPr lang="zh-CN" altLang="en-US" sz="2800" b="1" dirty="0">
                <a:solidFill>
                  <a:srgbClr val="0066FF"/>
                </a:solidFill>
              </a:rPr>
              <a:t>缺陷：</a:t>
            </a:r>
          </a:p>
          <a:p>
            <a:pPr lvl="1" algn="just" eaLnBrk="1" hangingPunct="1"/>
            <a:r>
              <a:rPr lang="zh-CN" altLang="en-US" sz="2400" b="1" dirty="0"/>
              <a:t>设计出的操作系统既庞大又杂乱，缺乏清晰的程序结构。</a:t>
            </a:r>
          </a:p>
          <a:p>
            <a:pPr lvl="1" algn="just" eaLnBrk="1" hangingPunct="1"/>
            <a:r>
              <a:rPr lang="zh-CN" altLang="en-US" sz="2400" b="1" dirty="0"/>
              <a:t>编制出的程序错误很多，给调试工作带来很多困难；增加了维护人员的负担。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/>
      <p:bldP spid="6656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latin typeface="宋体" panose="02010600030101010101" pitchFamily="2" charset="-122"/>
              </a:rPr>
              <a:t>2. </a:t>
            </a:r>
            <a:r>
              <a:rPr lang="zh-CN" altLang="en-US" b="1" dirty="0">
                <a:latin typeface="宋体" panose="02010600030101010101" pitchFamily="2" charset="-122"/>
              </a:rPr>
              <a:t>模块化</a:t>
            </a:r>
            <a:r>
              <a:rPr lang="en-US" altLang="zh-CN" b="1" dirty="0">
                <a:latin typeface="宋体" panose="02010600030101010101" pitchFamily="2" charset="-122"/>
              </a:rPr>
              <a:t>OS</a:t>
            </a:r>
            <a:r>
              <a:rPr lang="zh-CN" altLang="en-US" b="1" dirty="0">
                <a:latin typeface="宋体" panose="02010600030101010101" pitchFamily="2" charset="-122"/>
              </a:rPr>
              <a:t>结构</a:t>
            </a:r>
            <a:r>
              <a:rPr lang="zh-CN" altLang="en-US" dirty="0"/>
              <a:t> 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675130"/>
            <a:ext cx="8540750" cy="4166870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仿宋_GB2312" pitchFamily="49" charset="-122"/>
                <a:ea typeface="+mn-ea"/>
                <a:cs typeface="+mn-cs"/>
              </a:rPr>
              <a:t>(1)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仿宋_GB2312" pitchFamily="49" charset="-122"/>
                <a:ea typeface="+mn-ea"/>
                <a:cs typeface="+mn-cs"/>
              </a:rPr>
              <a:t>模块化结构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itchFamily="18" charset="2"/>
              <a:buChar char="¡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使用分块结构的系统包含若干</a:t>
            </a:r>
            <a:r>
              <a:rPr kumimoji="0" lang="en-US" altLang="zh-CN" sz="2400" b="1" i="0" u="sng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module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（模块）；其中，每一块实现一组基本概念以及与其相关的基本属性。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itchFamily="18" charset="2"/>
              <a:buChar char="¡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块与块之间的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相互关系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-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所有各块的实现均可以任意引用其它各块所提供的概念及属性。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/>
      <p:bldP spid="160771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7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/>
              <a:t>2. </a:t>
            </a:r>
            <a:r>
              <a:rPr lang="zh-CN" altLang="en-US" b="1" dirty="0"/>
              <a:t>模块化</a:t>
            </a:r>
            <a:r>
              <a:rPr lang="en-US" altLang="zh-CN" b="1" dirty="0"/>
              <a:t>OS</a:t>
            </a:r>
            <a:r>
              <a:rPr lang="zh-CN" altLang="en-US" b="1" dirty="0"/>
              <a:t>结构</a:t>
            </a:r>
            <a:r>
              <a:rPr lang="zh-CN" altLang="en-US" dirty="0"/>
              <a:t> </a:t>
            </a:r>
          </a:p>
        </p:txBody>
      </p:sp>
      <p:sp>
        <p:nvSpPr>
          <p:cNvPr id="1028" name="Text Box 38"/>
          <p:cNvSpPr txBox="1"/>
          <p:nvPr/>
        </p:nvSpPr>
        <p:spPr>
          <a:xfrm>
            <a:off x="2819400" y="5791200"/>
            <a:ext cx="3003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模块化操作系统结构 </a:t>
            </a:r>
          </a:p>
        </p:txBody>
      </p:sp>
      <p:graphicFrame>
        <p:nvGraphicFramePr>
          <p:cNvPr id="1026" name="Object 39"/>
          <p:cNvGraphicFramePr>
            <a:graphicFrameLocks noChangeAspect="1"/>
          </p:cNvGraphicFramePr>
          <p:nvPr/>
        </p:nvGraphicFramePr>
        <p:xfrm>
          <a:off x="0" y="1600200"/>
          <a:ext cx="9144000" cy="335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r:id="rId3" imgW="4099560" imgH="1508760" progId="Visio.Drawing.4">
                  <p:embed/>
                </p:oleObj>
              </mc:Choice>
              <mc:Fallback>
                <p:oleObj r:id="rId3" imgW="4099560" imgH="1508760" progId="Visio.Drawing.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1600200"/>
                        <a:ext cx="9144000" cy="3359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/>
          </p:cNvSpPr>
          <p:nvPr>
            <p:ph/>
          </p:nvPr>
        </p:nvSpPr>
        <p:spPr>
          <a:xfrm>
            <a:off x="381000" y="762000"/>
            <a:ext cx="8382000" cy="5410200"/>
          </a:xfrm>
        </p:spPr>
        <p:txBody>
          <a:bodyPr vert="horz" wrap="square" lIns="91440" tIns="45720" rIns="91440" bIns="45720" anchor="t"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44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(2)</a:t>
            </a:r>
            <a:r>
              <a:rPr lang="zh-CN" altLang="en-US" sz="44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模块化</a:t>
            </a:r>
            <a:r>
              <a:rPr lang="en-US" altLang="zh-CN" sz="44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OS</a:t>
            </a:r>
            <a:r>
              <a:rPr lang="zh-CN" altLang="en-US" sz="44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的优缺点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   优点：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①提高了</a:t>
            </a:r>
            <a:r>
              <a:rPr lang="en-US" altLang="zh-CN" sz="2800" b="1" dirty="0">
                <a:latin typeface="仿宋_GB2312" pitchFamily="49" charset="-122"/>
                <a:ea typeface="仿宋_GB2312" pitchFamily="49" charset="-122"/>
              </a:rPr>
              <a:t>OS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设计的正确性、可理解性和可维护性。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②增强了</a:t>
            </a:r>
            <a:r>
              <a:rPr lang="en-US" altLang="zh-CN" sz="2800" b="1" dirty="0">
                <a:latin typeface="仿宋_GB2312" pitchFamily="49" charset="-122"/>
                <a:ea typeface="仿宋_GB2312" pitchFamily="49" charset="-122"/>
              </a:rPr>
              <a:t>0S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的可适应性。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③加速了</a:t>
            </a:r>
            <a:r>
              <a:rPr lang="en-US" altLang="zh-CN" sz="2800" b="1" dirty="0">
                <a:latin typeface="仿宋_GB2312" pitchFamily="49" charset="-122"/>
                <a:ea typeface="仿宋_GB2312" pitchFamily="49" charset="-122"/>
              </a:rPr>
              <a:t>OS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的开发过程。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accent2"/>
                </a:solidFill>
                <a:latin typeface="仿宋_GB2312" pitchFamily="49" charset="-122"/>
                <a:ea typeface="仿宋_GB2312" pitchFamily="49" charset="-122"/>
              </a:rPr>
              <a:t>   </a:t>
            </a:r>
            <a:r>
              <a:rPr lang="zh-CN" altLang="en-US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缺点</a:t>
            </a:r>
            <a:r>
              <a:rPr lang="en-US" altLang="zh-CN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仿宋_GB2312" pitchFamily="49" charset="-122"/>
                <a:ea typeface="仿宋_GB2312" pitchFamily="49" charset="-122"/>
              </a:rPr>
              <a:t>① 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对模块的划分及对接口的规定要精确描述很困难。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②从功能观点来划分模块时，未能将共享资源和独占资源加以区别；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/>
          </p:cNvSpPr>
          <p:nvPr>
            <p:ph type="title" idx="4294967295"/>
          </p:nvPr>
        </p:nvSpPr>
        <p:spPr>
          <a:xfrm>
            <a:off x="0" y="3048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dirty="0"/>
              <a:t> 3</a:t>
            </a:r>
            <a:r>
              <a:rPr lang="zh-CN" altLang="en-US" dirty="0"/>
              <a:t>．分层式</a:t>
            </a:r>
            <a:r>
              <a:rPr lang="en-US" altLang="zh-CN" dirty="0"/>
              <a:t>OS</a:t>
            </a:r>
            <a:r>
              <a:rPr lang="zh-CN" altLang="en-US" dirty="0"/>
              <a:t>结构 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981200"/>
            <a:ext cx="8229600" cy="388620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itchFamily="18" charset="2"/>
              <a:buChar char="¡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使用分层系统结构包含若干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layer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（层）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；其中，每一层实现一组基本概念以及与其相关的基本属性。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层与层之间的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相互关系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-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所有各层的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实现不依赖其以上各层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所提供的概念及其属性，只依赖其直接下层所提供的概念及属性；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-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每一层均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对其上各层隐藏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其下各层的存在。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/>
      <p:bldP spid="162819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0"/>
          <p:cNvSpPr>
            <a:spLocks noGrp="1"/>
          </p:cNvSpPr>
          <p:nvPr>
            <p:ph type="title" idx="4294967295"/>
          </p:nvPr>
        </p:nvSpPr>
        <p:spPr>
          <a:xfrm>
            <a:off x="914400" y="304800"/>
            <a:ext cx="8229600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操作系统层次化体系结构</a:t>
            </a:r>
          </a:p>
        </p:txBody>
      </p:sp>
      <p:sp>
        <p:nvSpPr>
          <p:cNvPr id="228373" name="Text Box 21"/>
          <p:cNvSpPr txBox="1">
            <a:spLocks noChangeArrowheads="1"/>
          </p:cNvSpPr>
          <p:nvPr/>
        </p:nvSpPr>
        <p:spPr bwMode="auto">
          <a:xfrm>
            <a:off x="1524000" y="1676400"/>
            <a:ext cx="6477000" cy="441325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R="0" algn="ctr" defTabSz="914400" eaLnBrk="0" hangingPunct="0">
              <a:buClrTx/>
              <a:buSzTx/>
              <a:buFontTx/>
              <a:defRPr/>
            </a:pPr>
            <a:r>
              <a:rPr kumimoji="0" lang="zh-CN" altLang="en-US" b="1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应用程序</a:t>
            </a:r>
          </a:p>
        </p:txBody>
      </p:sp>
      <p:sp>
        <p:nvSpPr>
          <p:cNvPr id="228374" name="Text Box 22"/>
          <p:cNvSpPr txBox="1">
            <a:spLocks noChangeArrowheads="1"/>
          </p:cNvSpPr>
          <p:nvPr/>
        </p:nvSpPr>
        <p:spPr bwMode="auto">
          <a:xfrm>
            <a:off x="1524000" y="2911475"/>
            <a:ext cx="1892300" cy="511175"/>
          </a:xfrm>
          <a:prstGeom prst="rect">
            <a:avLst/>
          </a:prstGeom>
          <a:gradFill rotWithShape="1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R="0" algn="ctr" defTabSz="914400" eaLnBrk="0" hangingPunct="0">
              <a:buClrTx/>
              <a:buSzTx/>
              <a:buFontTx/>
              <a:defRPr/>
            </a:pPr>
            <a:r>
              <a:rPr kumimoji="0" lang="zh-CN" altLang="en-US" b="1" kern="1200" cap="none" spc="0" normalizeH="0" baseline="0" noProof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任务管理</a:t>
            </a:r>
          </a:p>
        </p:txBody>
      </p:sp>
      <p:sp>
        <p:nvSpPr>
          <p:cNvPr id="228375" name="Text Box 23"/>
          <p:cNvSpPr txBox="1">
            <a:spLocks noChangeArrowheads="1"/>
          </p:cNvSpPr>
          <p:nvPr/>
        </p:nvSpPr>
        <p:spPr bwMode="auto">
          <a:xfrm>
            <a:off x="1524000" y="5494338"/>
            <a:ext cx="6477000" cy="431800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R="0" algn="ctr" defTabSz="914400" eaLnBrk="0" hangingPunct="0">
              <a:buClrTx/>
              <a:buSzTx/>
              <a:buFontTx/>
              <a:defRPr/>
            </a:pPr>
            <a:r>
              <a:rPr kumimoji="0" lang="zh-CN" altLang="en-US" b="1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硬  件</a:t>
            </a:r>
          </a:p>
        </p:txBody>
      </p:sp>
      <p:sp>
        <p:nvSpPr>
          <p:cNvPr id="228376" name="Text Box 24"/>
          <p:cNvSpPr txBox="1">
            <a:spLocks noChangeArrowheads="1"/>
          </p:cNvSpPr>
          <p:nvPr/>
        </p:nvSpPr>
        <p:spPr bwMode="auto">
          <a:xfrm>
            <a:off x="3736975" y="2911475"/>
            <a:ext cx="2049463" cy="511175"/>
          </a:xfrm>
          <a:prstGeom prst="rect">
            <a:avLst/>
          </a:prstGeom>
          <a:gradFill rotWithShape="1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R="0" algn="ctr" defTabSz="914400" eaLnBrk="0" hangingPunct="0">
              <a:buClrTx/>
              <a:buSzTx/>
              <a:buFontTx/>
              <a:defRPr/>
            </a:pPr>
            <a:r>
              <a:rPr kumimoji="0" lang="zh-CN" altLang="en-US" b="1" kern="1200" cap="none" spc="0" normalizeH="0" baseline="0" noProof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用户扩展处理</a:t>
            </a:r>
          </a:p>
        </p:txBody>
      </p:sp>
      <p:sp>
        <p:nvSpPr>
          <p:cNvPr id="228377" name="Text Box 25"/>
          <p:cNvSpPr txBox="1">
            <a:spLocks noChangeArrowheads="1"/>
          </p:cNvSpPr>
          <p:nvPr/>
        </p:nvSpPr>
        <p:spPr bwMode="auto">
          <a:xfrm>
            <a:off x="4694238" y="3590925"/>
            <a:ext cx="1423988" cy="509588"/>
          </a:xfrm>
          <a:prstGeom prst="rect">
            <a:avLst/>
          </a:prstGeom>
          <a:gradFill rotWithShape="1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R="0" algn="ctr" defTabSz="914400" eaLnBrk="0" hangingPunct="0">
              <a:buClrTx/>
              <a:buSzTx/>
              <a:buFontTx/>
              <a:defRPr/>
            </a:pPr>
            <a:r>
              <a:rPr kumimoji="0" lang="zh-CN" altLang="en-US" b="1" kern="1200" cap="none" spc="0" normalizeH="0" baseline="0" noProof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调度管理</a:t>
            </a:r>
          </a:p>
        </p:txBody>
      </p:sp>
      <p:sp>
        <p:nvSpPr>
          <p:cNvPr id="228378" name="Text Box 26"/>
          <p:cNvSpPr txBox="1">
            <a:spLocks noChangeArrowheads="1"/>
          </p:cNvSpPr>
          <p:nvPr/>
        </p:nvSpPr>
        <p:spPr bwMode="auto">
          <a:xfrm>
            <a:off x="1524000" y="4932363"/>
            <a:ext cx="6477000" cy="430213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R="0" algn="ctr" defTabSz="914400" eaLnBrk="0" hangingPunct="0">
              <a:buClrTx/>
              <a:buSzTx/>
              <a:buFontTx/>
              <a:defRPr/>
            </a:pPr>
            <a:r>
              <a:rPr kumimoji="0" lang="zh-CN" altLang="en-US" b="1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硬件抽象层</a:t>
            </a:r>
          </a:p>
        </p:txBody>
      </p:sp>
      <p:sp>
        <p:nvSpPr>
          <p:cNvPr id="228379" name="Text Box 27"/>
          <p:cNvSpPr txBox="1">
            <a:spLocks noChangeArrowheads="1"/>
          </p:cNvSpPr>
          <p:nvPr/>
        </p:nvSpPr>
        <p:spPr bwMode="auto">
          <a:xfrm>
            <a:off x="1524000" y="2278063"/>
            <a:ext cx="6477000" cy="439738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R="0" algn="ctr" defTabSz="914400" eaLnBrk="0" hangingPunct="0">
              <a:buClrTx/>
              <a:buSzTx/>
              <a:buFontTx/>
              <a:defRPr/>
            </a:pPr>
            <a:r>
              <a:rPr kumimoji="0" lang="zh-CN" altLang="en-US" b="1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应用编程接口</a:t>
            </a:r>
          </a:p>
        </p:txBody>
      </p:sp>
      <p:sp>
        <p:nvSpPr>
          <p:cNvPr id="228380" name="Text Box 28"/>
          <p:cNvSpPr txBox="1">
            <a:spLocks noChangeArrowheads="1"/>
          </p:cNvSpPr>
          <p:nvPr/>
        </p:nvSpPr>
        <p:spPr bwMode="auto">
          <a:xfrm>
            <a:off x="1524000" y="3590925"/>
            <a:ext cx="1403350" cy="509588"/>
          </a:xfrm>
          <a:prstGeom prst="rect">
            <a:avLst/>
          </a:prstGeom>
          <a:gradFill rotWithShape="1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R="0" algn="ctr" defTabSz="914400" eaLnBrk="0" hangingPunct="0">
              <a:buClrTx/>
              <a:buSzTx/>
              <a:buFontTx/>
              <a:defRPr/>
            </a:pPr>
            <a:r>
              <a:rPr kumimoji="0" lang="zh-CN" altLang="en-US" b="1" kern="1200" cap="none" spc="0" normalizeH="0" baseline="0" noProof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内存管理</a:t>
            </a:r>
          </a:p>
        </p:txBody>
      </p:sp>
      <p:sp>
        <p:nvSpPr>
          <p:cNvPr id="228381" name="Text Box 29"/>
          <p:cNvSpPr txBox="1">
            <a:spLocks noChangeArrowheads="1"/>
          </p:cNvSpPr>
          <p:nvPr/>
        </p:nvSpPr>
        <p:spPr bwMode="auto">
          <a:xfrm>
            <a:off x="3124200" y="3581400"/>
            <a:ext cx="1401763" cy="509588"/>
          </a:xfrm>
          <a:prstGeom prst="rect">
            <a:avLst/>
          </a:prstGeom>
          <a:gradFill rotWithShape="1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R="0" algn="ctr" defTabSz="914400" eaLnBrk="0" hangingPunct="0">
              <a:buClrTx/>
              <a:buSzTx/>
              <a:buFontTx/>
              <a:defRPr/>
            </a:pPr>
            <a:r>
              <a:rPr kumimoji="0" lang="zh-CN" altLang="en-US" b="1" kern="1200" cap="none" spc="0" normalizeH="0" baseline="0" noProof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中断管理</a:t>
            </a:r>
          </a:p>
        </p:txBody>
      </p:sp>
      <p:sp>
        <p:nvSpPr>
          <p:cNvPr id="228382" name="Text Box 30"/>
          <p:cNvSpPr txBox="1">
            <a:spLocks noChangeArrowheads="1"/>
          </p:cNvSpPr>
          <p:nvPr/>
        </p:nvSpPr>
        <p:spPr bwMode="auto">
          <a:xfrm>
            <a:off x="6099175" y="4249738"/>
            <a:ext cx="1901825" cy="511175"/>
          </a:xfrm>
          <a:prstGeom prst="rect">
            <a:avLst/>
          </a:prstGeom>
          <a:gradFill rotWithShape="1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R="0" algn="ctr" defTabSz="914400" eaLnBrk="0" hangingPunct="0">
              <a:buClrTx/>
              <a:buSzTx/>
              <a:buFontTx/>
              <a:defRPr/>
            </a:pPr>
            <a:r>
              <a:rPr kumimoji="0" lang="zh-CN" altLang="en-US" sz="1600" b="1" kern="1200" cap="none" spc="0" normalizeH="0" baseline="0" noProof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时钟</a:t>
            </a:r>
            <a:r>
              <a:rPr kumimoji="0" lang="en-US" altLang="zh-CN" sz="1600" b="1" kern="1200" cap="none" spc="0" normalizeH="0" baseline="0" noProof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/</a:t>
            </a:r>
            <a:r>
              <a:rPr kumimoji="0" lang="zh-CN" altLang="en-US" sz="1600" b="1" kern="1200" cap="none" spc="0" normalizeH="0" baseline="0" noProof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定时器管理</a:t>
            </a:r>
          </a:p>
        </p:txBody>
      </p:sp>
      <p:sp>
        <p:nvSpPr>
          <p:cNvPr id="228383" name="Text Box 31"/>
          <p:cNvSpPr txBox="1">
            <a:spLocks noChangeArrowheads="1"/>
          </p:cNvSpPr>
          <p:nvPr/>
        </p:nvSpPr>
        <p:spPr bwMode="auto">
          <a:xfrm>
            <a:off x="6080125" y="2911475"/>
            <a:ext cx="1920875" cy="511175"/>
          </a:xfrm>
          <a:prstGeom prst="rect">
            <a:avLst/>
          </a:prstGeom>
          <a:gradFill rotWithShape="1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R="0" algn="ctr" defTabSz="914400" eaLnBrk="0" hangingPunct="0">
              <a:buClrTx/>
              <a:buSzTx/>
              <a:buFontTx/>
              <a:defRPr/>
            </a:pPr>
            <a:r>
              <a:rPr kumimoji="0" lang="en-US" altLang="zh-CN" b="1" kern="1200" cap="none" spc="0" normalizeH="0" baseline="0" noProof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I/O</a:t>
            </a:r>
            <a:r>
              <a:rPr kumimoji="0" lang="zh-CN" altLang="en-US" b="1" kern="1200" cap="none" spc="0" normalizeH="0" baseline="0" noProof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管理</a:t>
            </a:r>
          </a:p>
        </p:txBody>
      </p:sp>
      <p:sp>
        <p:nvSpPr>
          <p:cNvPr id="228384" name="Text Box 32"/>
          <p:cNvSpPr txBox="1">
            <a:spLocks noChangeArrowheads="1"/>
          </p:cNvSpPr>
          <p:nvPr/>
        </p:nvSpPr>
        <p:spPr bwMode="auto">
          <a:xfrm>
            <a:off x="6292850" y="3570288"/>
            <a:ext cx="1708150" cy="511175"/>
          </a:xfrm>
          <a:prstGeom prst="rect">
            <a:avLst/>
          </a:prstGeom>
          <a:gradFill rotWithShape="1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R="0" algn="ctr" defTabSz="914400" eaLnBrk="0" hangingPunct="0">
              <a:buClrTx/>
              <a:buSzTx/>
              <a:buFontTx/>
              <a:defRPr/>
            </a:pPr>
            <a:r>
              <a:rPr kumimoji="0" lang="zh-CN" altLang="en-US" b="1" kern="1200" cap="none" spc="0" normalizeH="0" baseline="0" noProof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出错处理</a:t>
            </a:r>
          </a:p>
        </p:txBody>
      </p:sp>
      <p:sp>
        <p:nvSpPr>
          <p:cNvPr id="228385" name="Text Box 33"/>
          <p:cNvSpPr txBox="1">
            <a:spLocks noChangeArrowheads="1"/>
          </p:cNvSpPr>
          <p:nvPr/>
        </p:nvSpPr>
        <p:spPr bwMode="auto">
          <a:xfrm>
            <a:off x="1524000" y="4249738"/>
            <a:ext cx="4081463" cy="511175"/>
          </a:xfrm>
          <a:prstGeom prst="rect">
            <a:avLst/>
          </a:prstGeom>
          <a:gradFill rotWithShape="1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R="0" algn="ctr" defTabSz="914400" eaLnBrk="0" hangingPunct="0">
              <a:buClrTx/>
              <a:buSzTx/>
              <a:buFontTx/>
              <a:defRPr/>
            </a:pPr>
            <a:r>
              <a:rPr kumimoji="0" lang="zh-CN" altLang="en-US" sz="1600" b="1" kern="1200" cap="none" spc="0" normalizeH="0" baseline="0" noProof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同步、通信管理（消息队列，信号量，事件，异步信号</a:t>
            </a:r>
            <a:r>
              <a:rPr kumimoji="0" lang="en-US" altLang="zh-CN" sz="1600" b="1" kern="1200" cap="none" spc="0" normalizeH="0" baseline="0" noProof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)</a:t>
            </a:r>
            <a:r>
              <a:rPr kumimoji="0" lang="zh-CN" altLang="en-US" sz="1600" b="1" kern="1200" cap="none" spc="0" normalizeH="0" baseline="0" noProof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</a:p>
        </p:txBody>
      </p:sp>
      <p:sp>
        <p:nvSpPr>
          <p:cNvPr id="70672" name="Rectangle 34"/>
          <p:cNvSpPr/>
          <p:nvPr/>
        </p:nvSpPr>
        <p:spPr>
          <a:xfrm>
            <a:off x="838200" y="5943600"/>
            <a:ext cx="77724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DeltaCORE</a:t>
            </a: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的体系结构：层次＋模块结构</a:t>
            </a:r>
          </a:p>
        </p:txBody>
      </p:sp>
      <p:sp>
        <p:nvSpPr>
          <p:cNvPr id="228387" name="AutoShape 35"/>
          <p:cNvSpPr/>
          <p:nvPr/>
        </p:nvSpPr>
        <p:spPr>
          <a:xfrm>
            <a:off x="1143000" y="1752600"/>
            <a:ext cx="228600" cy="4114800"/>
          </a:xfrm>
          <a:prstGeom prst="leftBrace">
            <a:avLst>
              <a:gd name="adj1" fmla="val 150000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8388" name="Rectangle 36"/>
          <p:cNvSpPr/>
          <p:nvPr/>
        </p:nvSpPr>
        <p:spPr>
          <a:xfrm>
            <a:off x="381000" y="3124200"/>
            <a:ext cx="5334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</a:rPr>
              <a:t>分层次</a:t>
            </a:r>
          </a:p>
        </p:txBody>
      </p:sp>
      <p:sp>
        <p:nvSpPr>
          <p:cNvPr id="228389" name="Rectangle 37"/>
          <p:cNvSpPr/>
          <p:nvPr/>
        </p:nvSpPr>
        <p:spPr>
          <a:xfrm>
            <a:off x="8458200" y="3124200"/>
            <a:ext cx="5334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</a:rPr>
              <a:t>模块化</a:t>
            </a:r>
          </a:p>
        </p:txBody>
      </p:sp>
      <p:sp>
        <p:nvSpPr>
          <p:cNvPr id="228390" name="AutoShape 38"/>
          <p:cNvSpPr/>
          <p:nvPr/>
        </p:nvSpPr>
        <p:spPr>
          <a:xfrm>
            <a:off x="8077200" y="2971800"/>
            <a:ext cx="457200" cy="1676400"/>
          </a:xfrm>
          <a:prstGeom prst="rightBrace">
            <a:avLst>
              <a:gd name="adj1" fmla="val 30555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2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8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/>
      <p:bldP spid="228387" grpId="0" animBg="1"/>
      <p:bldP spid="228388" grpId="0"/>
      <p:bldP spid="228389" grpId="0"/>
      <p:bldP spid="22839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 descr="C:\Documents and Settings\Administrator\桌面\QQ截图未命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0"/>
            <a:ext cx="6940550" cy="59293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683" name="Text Box 5"/>
          <p:cNvSpPr txBox="1"/>
          <p:nvPr/>
        </p:nvSpPr>
        <p:spPr>
          <a:xfrm>
            <a:off x="1219200" y="6172200"/>
            <a:ext cx="68580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</a:rPr>
              <a:t>Android</a:t>
            </a:r>
            <a:r>
              <a:rPr lang="zh-CN" altLang="en-US" b="1" dirty="0">
                <a:latin typeface="Arial" panose="020B0604020202020204" pitchFamily="34" charset="0"/>
              </a:rPr>
              <a:t>操作系统体系结构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/>
              <a:t>4.</a:t>
            </a:r>
            <a:r>
              <a:rPr lang="zh-CN" altLang="en-US" b="1" dirty="0"/>
              <a:t>微内核</a:t>
            </a:r>
            <a:r>
              <a:rPr lang="en-US" altLang="zh-CN" b="1" dirty="0"/>
              <a:t>OS</a:t>
            </a:r>
            <a:r>
              <a:rPr lang="zh-CN" altLang="en-US" b="1" dirty="0"/>
              <a:t>结构</a:t>
            </a:r>
          </a:p>
        </p:txBody>
      </p:sp>
      <p:sp>
        <p:nvSpPr>
          <p:cNvPr id="2052" name="Rectangle 3"/>
          <p:cNvSpPr>
            <a:spLocks noGrp="1"/>
          </p:cNvSpPr>
          <p:nvPr>
            <p:ph idx="4294967295"/>
          </p:nvPr>
        </p:nvSpPr>
        <p:spPr>
          <a:xfrm>
            <a:off x="0" y="1751330"/>
            <a:ext cx="8540750" cy="386524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/>
              <a:t>客户</a:t>
            </a:r>
            <a:r>
              <a:rPr lang="en-US" altLang="zh-CN" b="1" dirty="0"/>
              <a:t>/</a:t>
            </a:r>
            <a:r>
              <a:rPr lang="zh-CN" altLang="en-US" b="1" dirty="0"/>
              <a:t>服务器模式</a:t>
            </a:r>
            <a:r>
              <a:rPr lang="en-US" altLang="zh-CN" b="1" dirty="0"/>
              <a:t>(Client-Server Model)</a:t>
            </a:r>
          </a:p>
        </p:txBody>
      </p:sp>
      <p:sp>
        <p:nvSpPr>
          <p:cNvPr id="2053" name="Text Box 6"/>
          <p:cNvSpPr txBox="1"/>
          <p:nvPr/>
        </p:nvSpPr>
        <p:spPr>
          <a:xfrm>
            <a:off x="2057400" y="4876800"/>
            <a:ext cx="43068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单机环境下的客户</a:t>
            </a:r>
            <a:r>
              <a:rPr lang="en-US" altLang="zh-CN" sz="2400" dirty="0">
                <a:latin typeface="Times New Roman" panose="02020603050405020304" pitchFamily="18" charset="0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</a:rPr>
              <a:t>服务器模式 </a:t>
            </a:r>
          </a:p>
        </p:txBody>
      </p:sp>
      <p:graphicFrame>
        <p:nvGraphicFramePr>
          <p:cNvPr id="2050" name="Object 7"/>
          <p:cNvGraphicFramePr>
            <a:graphicFrameLocks noChangeAspect="1"/>
          </p:cNvGraphicFramePr>
          <p:nvPr/>
        </p:nvGraphicFramePr>
        <p:xfrm>
          <a:off x="0" y="2590800"/>
          <a:ext cx="9144000" cy="186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r:id="rId3" imgW="3147060" imgH="640080" progId="Visio.Drawing.4">
                  <p:embed/>
                </p:oleObj>
              </mc:Choice>
              <mc:Fallback>
                <p:oleObj r:id="rId3" imgW="3147060" imgH="640080" progId="Visio.Drawing.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2590800"/>
                        <a:ext cx="9144000" cy="1863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/>
      <p:bldP spid="2052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/>
              <a:t>4.</a:t>
            </a:r>
            <a:r>
              <a:rPr lang="zh-CN" altLang="en-US" b="1" dirty="0"/>
              <a:t>微内核</a:t>
            </a:r>
            <a:r>
              <a:rPr lang="en-US" altLang="zh-CN" b="1" dirty="0"/>
              <a:t>OS</a:t>
            </a:r>
            <a:r>
              <a:rPr lang="zh-CN" altLang="en-US" b="1" dirty="0"/>
              <a:t>结构</a:t>
            </a:r>
          </a:p>
        </p:txBody>
      </p:sp>
      <p:sp>
        <p:nvSpPr>
          <p:cNvPr id="72707" name="Rectangle 3"/>
          <p:cNvSpPr>
            <a:spLocks noGrp="1"/>
          </p:cNvSpPr>
          <p:nvPr>
            <p:ph idx="4294967295"/>
          </p:nvPr>
        </p:nvSpPr>
        <p:spPr>
          <a:xfrm>
            <a:off x="0" y="1981200"/>
            <a:ext cx="8229600" cy="38862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/>
              <a:t>所谓微内核技术，是指精心设计的、能实现现代</a:t>
            </a:r>
            <a:r>
              <a:rPr lang="en-US" altLang="zh-CN" dirty="0"/>
              <a:t>OS</a:t>
            </a:r>
            <a:r>
              <a:rPr lang="zh-CN" altLang="en-US" dirty="0"/>
              <a:t>核心功能的小型内核，它与一般的</a:t>
            </a:r>
            <a:r>
              <a:rPr lang="en-US" altLang="zh-CN" dirty="0"/>
              <a:t>OS(</a:t>
            </a:r>
            <a:r>
              <a:rPr lang="zh-CN" altLang="en-US" dirty="0"/>
              <a:t>程序</a:t>
            </a:r>
            <a:r>
              <a:rPr lang="en-US" altLang="zh-CN" dirty="0"/>
              <a:t>)</a:t>
            </a:r>
            <a:r>
              <a:rPr lang="zh-CN" altLang="en-US" dirty="0"/>
              <a:t>不同， 它更小更精炼，它不仅运行在</a:t>
            </a:r>
            <a:r>
              <a:rPr lang="zh-CN" altLang="en-US" dirty="0">
                <a:solidFill>
                  <a:srgbClr val="FF0000"/>
                </a:solidFill>
              </a:rPr>
              <a:t>核心态</a:t>
            </a:r>
            <a:r>
              <a:rPr lang="zh-CN" altLang="en-US" dirty="0"/>
              <a:t>，而且开机后常驻内存， 它不会因内存紧张而被换出内存。</a:t>
            </a:r>
          </a:p>
          <a:p>
            <a:pPr eaLnBrk="1" hangingPunct="1">
              <a:lnSpc>
                <a:spcPct val="110000"/>
              </a:lnSpc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/>
      <p:bldP spid="72707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/>
              <a:t>4.</a:t>
            </a:r>
            <a:r>
              <a:rPr lang="zh-CN" altLang="en-US" b="1" dirty="0"/>
              <a:t>微内核</a:t>
            </a:r>
            <a:r>
              <a:rPr lang="en-US" altLang="zh-CN" b="1" dirty="0"/>
              <a:t>OS</a:t>
            </a:r>
            <a:r>
              <a:rPr lang="zh-CN" altLang="en-US" b="1" dirty="0"/>
              <a:t>结构</a:t>
            </a:r>
          </a:p>
        </p:txBody>
      </p:sp>
      <p:sp>
        <p:nvSpPr>
          <p:cNvPr id="73731" name="Rectangle 3"/>
          <p:cNvSpPr>
            <a:spLocks noGrp="1"/>
          </p:cNvSpPr>
          <p:nvPr>
            <p:ph idx="4294967295"/>
          </p:nvPr>
        </p:nvSpPr>
        <p:spPr>
          <a:xfrm>
            <a:off x="0" y="1981200"/>
            <a:ext cx="8229600" cy="38862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/>
              <a:t>微内核所提供的功能</a:t>
            </a:r>
            <a:r>
              <a:rPr lang="en-US" altLang="zh-CN" b="1" dirty="0"/>
              <a:t>:              </a:t>
            </a:r>
          </a:p>
          <a:p>
            <a:pPr lvl="1" eaLnBrk="1" hangingPunct="1"/>
            <a:r>
              <a:rPr lang="zh-CN" altLang="en-US" dirty="0"/>
              <a:t>操作系统的另一部分是内核，用来</a:t>
            </a:r>
            <a:r>
              <a:rPr lang="zh-CN" altLang="en-US" b="1" dirty="0">
                <a:solidFill>
                  <a:srgbClr val="FF0000"/>
                </a:solidFill>
              </a:rPr>
              <a:t>处理客户和服务器之间的通信</a:t>
            </a:r>
            <a:r>
              <a:rPr lang="zh-CN" altLang="en-US" dirty="0"/>
              <a:t>， 即由内核来接收客户的请求，再将该请求送至相应的服务器；同时它也接收服务器的应答， 并将此应答回送给请求客户。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/>
      <p:bldP spid="73731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/>
              <a:t>4.</a:t>
            </a:r>
            <a:r>
              <a:rPr lang="zh-CN" altLang="en-US" b="1" dirty="0"/>
              <a:t>微内核</a:t>
            </a:r>
            <a:r>
              <a:rPr lang="en-US" altLang="zh-CN" b="1" dirty="0"/>
              <a:t>OS</a:t>
            </a:r>
            <a:r>
              <a:rPr lang="zh-CN" altLang="en-US" b="1" dirty="0"/>
              <a:t>结构</a:t>
            </a:r>
          </a:p>
        </p:txBody>
      </p:sp>
      <p:sp>
        <p:nvSpPr>
          <p:cNvPr id="74755" name="Rectangle 3"/>
          <p:cNvSpPr>
            <a:spLocks noGrp="1"/>
          </p:cNvSpPr>
          <p:nvPr>
            <p:ph idx="4294967295"/>
          </p:nvPr>
        </p:nvSpPr>
        <p:spPr>
          <a:xfrm>
            <a:off x="0" y="1675130"/>
            <a:ext cx="8540750" cy="386397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/>
              <a:t>优点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提高了系统的可扩展性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增强了系统的可靠性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可移植性好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提供了对分布式系统的支持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1" dirty="0"/>
              <a:t>缺点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运行效率有所降低：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b="1" dirty="0"/>
              <a:t>    消息传递开销</a:t>
            </a:r>
            <a:r>
              <a:rPr lang="en-US" altLang="zh-CN" b="1" dirty="0"/>
              <a:t>+</a:t>
            </a:r>
            <a:r>
              <a:rPr lang="zh-CN" altLang="en-US" b="1" dirty="0"/>
              <a:t>模式切换开销</a:t>
            </a:r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/>
      <p:bldP spid="74755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dirty="0"/>
              <a:t>1.5 </a:t>
            </a:r>
            <a:r>
              <a:rPr lang="zh-CN" altLang="en-US" dirty="0"/>
              <a:t>当前主流操作系统简介</a:t>
            </a:r>
          </a:p>
        </p:txBody>
      </p:sp>
      <p:sp>
        <p:nvSpPr>
          <p:cNvPr id="75779" name="Rectangle 3"/>
          <p:cNvSpPr>
            <a:spLocks noGrp="1"/>
          </p:cNvSpPr>
          <p:nvPr>
            <p:ph idx="4294967295"/>
          </p:nvPr>
        </p:nvSpPr>
        <p:spPr>
          <a:xfrm>
            <a:off x="0" y="1981200"/>
            <a:ext cx="8229600" cy="38862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Windows</a:t>
            </a:r>
          </a:p>
          <a:p>
            <a:pPr eaLnBrk="1" hangingPunct="1"/>
            <a:r>
              <a:rPr lang="en-US" altLang="zh-CN" dirty="0"/>
              <a:t>Unix</a:t>
            </a:r>
          </a:p>
          <a:p>
            <a:pPr eaLnBrk="1" hangingPunct="1"/>
            <a:r>
              <a:rPr lang="en-US" altLang="zh-CN" dirty="0"/>
              <a:t>Linux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/>
      <p:bldP spid="75779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作业</a:t>
            </a:r>
          </a:p>
        </p:txBody>
      </p:sp>
      <p:sp>
        <p:nvSpPr>
          <p:cNvPr id="76803" name="Rectangle 4"/>
          <p:cNvSpPr>
            <a:spLocks noGrp="1"/>
          </p:cNvSpPr>
          <p:nvPr>
            <p:ph idx="4294967295"/>
          </p:nvPr>
        </p:nvSpPr>
        <p:spPr>
          <a:xfrm>
            <a:off x="0" y="1751330"/>
            <a:ext cx="8540750" cy="386524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/>
              <a:t>1</a:t>
            </a:r>
            <a:r>
              <a:rPr lang="zh-CN" altLang="en-US" sz="2800" dirty="0"/>
              <a:t>、</a:t>
            </a:r>
            <a:r>
              <a:rPr lang="en-US" altLang="zh-CN" sz="2800" dirty="0"/>
              <a:t>6</a:t>
            </a:r>
            <a:r>
              <a:rPr lang="zh-CN" altLang="en-US" sz="2800" dirty="0"/>
              <a:t>、</a:t>
            </a:r>
            <a:r>
              <a:rPr lang="en-US" altLang="zh-CN" sz="2800" dirty="0"/>
              <a:t>7</a:t>
            </a:r>
            <a:r>
              <a:rPr lang="zh-CN" altLang="en-US" sz="2800" dirty="0"/>
              <a:t>、</a:t>
            </a:r>
            <a:r>
              <a:rPr lang="en-US" altLang="zh-CN" sz="2800" dirty="0"/>
              <a:t>11</a:t>
            </a:r>
            <a:r>
              <a:rPr lang="zh-CN" altLang="en-US" sz="2800" dirty="0"/>
              <a:t>、</a:t>
            </a:r>
            <a:r>
              <a:rPr lang="en-US" altLang="zh-CN" sz="2800" dirty="0"/>
              <a:t>17</a:t>
            </a:r>
            <a:r>
              <a:rPr lang="zh-CN" altLang="en-US" sz="2800" dirty="0"/>
              <a:t>、</a:t>
            </a:r>
            <a:r>
              <a:rPr lang="en-US" altLang="zh-CN" sz="2800" dirty="0"/>
              <a:t>18</a:t>
            </a:r>
            <a:r>
              <a:rPr lang="zh-CN" altLang="en-US" sz="2800" dirty="0"/>
              <a:t>、</a:t>
            </a:r>
            <a:r>
              <a:rPr lang="en-US" altLang="zh-CN" sz="2800" dirty="0"/>
              <a:t>25</a:t>
            </a:r>
            <a:r>
              <a:rPr lang="zh-CN" altLang="en-US" sz="2800" dirty="0"/>
              <a:t>、</a:t>
            </a:r>
            <a:r>
              <a:rPr lang="en-US" altLang="zh-CN" sz="2800" dirty="0"/>
              <a:t>26</a:t>
            </a:r>
            <a:r>
              <a:rPr lang="zh-CN" altLang="en-US" sz="2800" dirty="0"/>
              <a:t>、</a:t>
            </a:r>
            <a:r>
              <a:rPr lang="en-US" altLang="zh-CN" sz="2800" dirty="0"/>
              <a:t>27</a:t>
            </a:r>
            <a:r>
              <a:rPr lang="zh-CN" altLang="en-US" sz="2800" dirty="0"/>
              <a:t>、</a:t>
            </a:r>
            <a:r>
              <a:rPr lang="en-US" altLang="zh-CN" sz="2800" dirty="0"/>
              <a:t>28</a:t>
            </a:r>
          </a:p>
          <a:p>
            <a:pPr eaLnBrk="1" hangingPunct="1"/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/>
      <p:bldP spid="76803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4_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4_龙腾四海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ixel 12">
    <a:dk1>
      <a:srgbClr val="000000"/>
    </a:dk1>
    <a:lt1>
      <a:srgbClr val="FFFFFF"/>
    </a:lt1>
    <a:dk2>
      <a:srgbClr val="000000"/>
    </a:dk2>
    <a:lt2>
      <a:srgbClr val="00007D"/>
    </a:lt2>
    <a:accent1>
      <a:srgbClr val="9999FF"/>
    </a:accent1>
    <a:accent2>
      <a:srgbClr val="9999CC"/>
    </a:accent2>
    <a:accent3>
      <a:srgbClr val="FFFFFF"/>
    </a:accent3>
    <a:accent4>
      <a:srgbClr val="000000"/>
    </a:accent4>
    <a:accent5>
      <a:srgbClr val="CACAFF"/>
    </a:accent5>
    <a:accent6>
      <a:srgbClr val="8A8AB9"/>
    </a:accent6>
    <a:hlink>
      <a:srgbClr val="666699"/>
    </a:hlink>
    <a:folHlink>
      <a:srgbClr val="CCCCE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48</TotalTime>
  <Words>3488</Words>
  <Application>Microsoft Office PowerPoint</Application>
  <PresentationFormat>全屏显示(4:3)</PresentationFormat>
  <Paragraphs>525</Paragraphs>
  <Slides>68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85" baseType="lpstr">
      <vt:lpstr>仿宋_GB2312</vt:lpstr>
      <vt:lpstr>黑体</vt:lpstr>
      <vt:lpstr>华文楷体</vt:lpstr>
      <vt:lpstr>楷体</vt:lpstr>
      <vt:lpstr>楷体_GB2312</vt:lpstr>
      <vt:lpstr>隶书</vt:lpstr>
      <vt:lpstr>宋体</vt:lpstr>
      <vt:lpstr>微软雅黑</vt:lpstr>
      <vt:lpstr>Arial</vt:lpstr>
      <vt:lpstr>Arial Black</vt:lpstr>
      <vt:lpstr>Cambria</vt:lpstr>
      <vt:lpstr>Times New Roman</vt:lpstr>
      <vt:lpstr>Wingdings</vt:lpstr>
      <vt:lpstr>Wingdings 2</vt:lpstr>
      <vt:lpstr>4_龙腾四海</vt:lpstr>
      <vt:lpstr>Pixel</vt:lpstr>
      <vt:lpstr>Visio.Drawing.4</vt:lpstr>
      <vt:lpstr>  操作系统基础</vt:lpstr>
      <vt:lpstr>课程介绍</vt:lpstr>
      <vt:lpstr>课程目标</vt:lpstr>
      <vt:lpstr>课程指标点</vt:lpstr>
      <vt:lpstr>课程介绍</vt:lpstr>
      <vt:lpstr>考核方式</vt:lpstr>
      <vt:lpstr>教材&amp;参考书籍</vt:lpstr>
      <vt:lpstr>课程构成</vt:lpstr>
      <vt:lpstr>第一章 操作系统引论</vt:lpstr>
      <vt:lpstr>讨论</vt:lpstr>
      <vt:lpstr>讨论</vt:lpstr>
      <vt:lpstr>讨  论</vt:lpstr>
      <vt:lpstr>讨  论</vt:lpstr>
      <vt:lpstr>讨  论</vt:lpstr>
      <vt:lpstr>讨  论</vt:lpstr>
      <vt:lpstr>讨论</vt:lpstr>
      <vt:lpstr>讨  论</vt:lpstr>
      <vt:lpstr>讨  论</vt:lpstr>
      <vt:lpstr>讨  论</vt:lpstr>
      <vt:lpstr> 操作系统的概念</vt:lpstr>
      <vt:lpstr>操作系统的概念</vt:lpstr>
      <vt:lpstr>操作系统的位置</vt:lpstr>
      <vt:lpstr>1.1.1操作系统的目标</vt:lpstr>
      <vt:lpstr>操作系统的发展动力</vt:lpstr>
      <vt:lpstr>PowerPoint 演示文稿</vt:lpstr>
      <vt:lpstr>1.1.2 操作系统的作用</vt:lpstr>
      <vt:lpstr>1.1.2 操作系统的作用</vt:lpstr>
      <vt:lpstr>1.1.2 操作系统的作用</vt:lpstr>
      <vt:lpstr>1.2 操作系统的发展过程</vt:lpstr>
      <vt:lpstr>1.2 操作系统的发展过程</vt:lpstr>
      <vt:lpstr>1.2.1 无操作系统的计算机系统</vt:lpstr>
      <vt:lpstr> 1.2.2 单道批处理系统</vt:lpstr>
      <vt:lpstr> 1.2.2 单道批处理系统</vt:lpstr>
      <vt:lpstr>1.2.3多道批处理系统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1.2.4 分时操作系统（On-line）</vt:lpstr>
      <vt:lpstr>PowerPoint 演示文稿</vt:lpstr>
      <vt:lpstr>PowerPoint 演示文稿</vt:lpstr>
      <vt:lpstr>1.2.5 实时操作系统</vt:lpstr>
      <vt:lpstr>PowerPoint 演示文稿</vt:lpstr>
      <vt:lpstr>1.2.6 微机操作系统的发展</vt:lpstr>
      <vt:lpstr>1.2.6 微机操作系统的发展</vt:lpstr>
      <vt:lpstr>1.3操作系统的基本特性</vt:lpstr>
      <vt:lpstr>1.3.1并发性</vt:lpstr>
      <vt:lpstr>1.3.2 共享</vt:lpstr>
      <vt:lpstr>PowerPoint 演示文稿</vt:lpstr>
      <vt:lpstr>1.3.3 虚拟性</vt:lpstr>
      <vt:lpstr>1.3.4 异步性</vt:lpstr>
      <vt:lpstr>1.4  操作系统的主要功能</vt:lpstr>
      <vt:lpstr>1.5 操作系统的体系结构 </vt:lpstr>
      <vt:lpstr>传统的操作系统结构 </vt:lpstr>
      <vt:lpstr>1．无结构操作系统</vt:lpstr>
      <vt:lpstr>2. 模块化OS结构 </vt:lpstr>
      <vt:lpstr>2. 模块化OS结构 </vt:lpstr>
      <vt:lpstr>PowerPoint 演示文稿</vt:lpstr>
      <vt:lpstr> 3．分层式OS结构 </vt:lpstr>
      <vt:lpstr>操作系统层次化体系结构</vt:lpstr>
      <vt:lpstr>PowerPoint 演示文稿</vt:lpstr>
      <vt:lpstr>4.微内核OS结构</vt:lpstr>
      <vt:lpstr>4.微内核OS结构</vt:lpstr>
      <vt:lpstr>4.微内核OS结构</vt:lpstr>
      <vt:lpstr>4.微内核OS结构</vt:lpstr>
      <vt:lpstr>1.5 当前主流操作系统简介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xieying</dc:creator>
  <cp:lastModifiedBy>Administrator</cp:lastModifiedBy>
  <cp:revision>213</cp:revision>
  <dcterms:created xsi:type="dcterms:W3CDTF">2010-02-05T03:22:00Z</dcterms:created>
  <dcterms:modified xsi:type="dcterms:W3CDTF">2025-02-26T03:00:17Z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2052-11.1.0.10228</vt:lpwstr>
  </property>
</Properties>
</file>