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9"/>
  </p:notesMasterIdLst>
  <p:sldIdLst>
    <p:sldId id="256" r:id="rId3"/>
    <p:sldId id="390" r:id="rId4"/>
    <p:sldId id="407" r:id="rId5"/>
    <p:sldId id="391" r:id="rId6"/>
    <p:sldId id="415" r:id="rId7"/>
    <p:sldId id="408" r:id="rId8"/>
    <p:sldId id="409" r:id="rId9"/>
    <p:sldId id="411" r:id="rId10"/>
    <p:sldId id="412" r:id="rId11"/>
    <p:sldId id="414" r:id="rId12"/>
    <p:sldId id="416" r:id="rId13"/>
    <p:sldId id="417" r:id="rId14"/>
    <p:sldId id="392" r:id="rId15"/>
    <p:sldId id="418" r:id="rId16"/>
    <p:sldId id="393" r:id="rId17"/>
    <p:sldId id="394" r:id="rId18"/>
    <p:sldId id="419" r:id="rId19"/>
    <p:sldId id="395" r:id="rId20"/>
    <p:sldId id="420" r:id="rId21"/>
    <p:sldId id="396" r:id="rId22"/>
    <p:sldId id="421" r:id="rId23"/>
    <p:sldId id="398" r:id="rId24"/>
    <p:sldId id="266" r:id="rId25"/>
    <p:sldId id="268" r:id="rId26"/>
    <p:sldId id="269" r:id="rId27"/>
    <p:sldId id="270" r:id="rId28"/>
    <p:sldId id="427" r:id="rId29"/>
    <p:sldId id="428" r:id="rId30"/>
    <p:sldId id="271" r:id="rId31"/>
    <p:sldId id="429" r:id="rId32"/>
    <p:sldId id="276"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422" r:id="rId52"/>
    <p:sldId id="300" r:id="rId53"/>
    <p:sldId id="301" r:id="rId54"/>
    <p:sldId id="302" r:id="rId55"/>
    <p:sldId id="441" r:id="rId56"/>
    <p:sldId id="442" r:id="rId57"/>
    <p:sldId id="443" r:id="rId58"/>
    <p:sldId id="444" r:id="rId59"/>
    <p:sldId id="445" r:id="rId60"/>
    <p:sldId id="308" r:id="rId61"/>
    <p:sldId id="309" r:id="rId62"/>
    <p:sldId id="312" r:id="rId63"/>
    <p:sldId id="313" r:id="rId64"/>
    <p:sldId id="423" r:id="rId65"/>
    <p:sldId id="314" r:id="rId66"/>
    <p:sldId id="315" r:id="rId67"/>
    <p:sldId id="317" r:id="rId68"/>
    <p:sldId id="318" r:id="rId69"/>
    <p:sldId id="319" r:id="rId70"/>
    <p:sldId id="540" r:id="rId71"/>
    <p:sldId id="541" r:id="rId72"/>
    <p:sldId id="542" r:id="rId73"/>
    <p:sldId id="543" r:id="rId74"/>
    <p:sldId id="430" r:id="rId75"/>
    <p:sldId id="431" r:id="rId76"/>
    <p:sldId id="432" r:id="rId77"/>
    <p:sldId id="433" r:id="rId78"/>
    <p:sldId id="434" r:id="rId79"/>
    <p:sldId id="324" r:id="rId80"/>
    <p:sldId id="325" r:id="rId81"/>
    <p:sldId id="326" r:id="rId82"/>
    <p:sldId id="327" r:id="rId83"/>
    <p:sldId id="328" r:id="rId84"/>
    <p:sldId id="329" r:id="rId85"/>
    <p:sldId id="330" r:id="rId86"/>
    <p:sldId id="331" r:id="rId87"/>
    <p:sldId id="332" r:id="rId88"/>
    <p:sldId id="333" r:id="rId89"/>
    <p:sldId id="334" r:id="rId90"/>
    <p:sldId id="335" r:id="rId91"/>
    <p:sldId id="336" r:id="rId92"/>
    <p:sldId id="337" r:id="rId93"/>
    <p:sldId id="338" r:id="rId94"/>
    <p:sldId id="339" r:id="rId95"/>
    <p:sldId id="340" r:id="rId96"/>
    <p:sldId id="341" r:id="rId97"/>
    <p:sldId id="342" r:id="rId98"/>
    <p:sldId id="435" r:id="rId99"/>
    <p:sldId id="343" r:id="rId100"/>
    <p:sldId id="344" r:id="rId101"/>
    <p:sldId id="345" r:id="rId102"/>
    <p:sldId id="346" r:id="rId103"/>
    <p:sldId id="347" r:id="rId104"/>
    <p:sldId id="348" r:id="rId105"/>
    <p:sldId id="436" r:id="rId106"/>
    <p:sldId id="349" r:id="rId107"/>
    <p:sldId id="350" r:id="rId108"/>
    <p:sldId id="351" r:id="rId109"/>
    <p:sldId id="352" r:id="rId110"/>
    <p:sldId id="353" r:id="rId111"/>
    <p:sldId id="354" r:id="rId112"/>
    <p:sldId id="355" r:id="rId113"/>
    <p:sldId id="356" r:id="rId114"/>
    <p:sldId id="357" r:id="rId115"/>
    <p:sldId id="358" r:id="rId116"/>
    <p:sldId id="359" r:id="rId117"/>
    <p:sldId id="360" r:id="rId118"/>
    <p:sldId id="361" r:id="rId119"/>
    <p:sldId id="362" r:id="rId120"/>
    <p:sldId id="363" r:id="rId121"/>
    <p:sldId id="364" r:id="rId122"/>
    <p:sldId id="365" r:id="rId123"/>
    <p:sldId id="366" r:id="rId124"/>
    <p:sldId id="367" r:id="rId125"/>
    <p:sldId id="369" r:id="rId126"/>
    <p:sldId id="370" r:id="rId127"/>
    <p:sldId id="371" r:id="rId128"/>
    <p:sldId id="437" r:id="rId129"/>
    <p:sldId id="438" r:id="rId130"/>
    <p:sldId id="439" r:id="rId131"/>
    <p:sldId id="375" r:id="rId132"/>
    <p:sldId id="376" r:id="rId133"/>
    <p:sldId id="377" r:id="rId134"/>
    <p:sldId id="547" r:id="rId135"/>
    <p:sldId id="548" r:id="rId136"/>
    <p:sldId id="549" r:id="rId137"/>
    <p:sldId id="440" r:id="rId138"/>
  </p:sldIdLst>
  <p:sldSz cx="9144000" cy="6858000" type="screen4x3"/>
  <p:notesSz cx="6858000" cy="9144000"/>
  <p:custDataLst>
    <p:tags r:id="rId143"/>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59" d="100"/>
          <a:sy n="59" d="100"/>
        </p:scale>
        <p:origin x="-1464" y="-78"/>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9402"/>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3" Type="http://schemas.openxmlformats.org/officeDocument/2006/relationships/tags" Target="tags/tag1.xml"/><Relationship Id="rId142" Type="http://schemas.openxmlformats.org/officeDocument/2006/relationships/tableStyles" Target="tableStyles.xml"/><Relationship Id="rId141" Type="http://schemas.openxmlformats.org/officeDocument/2006/relationships/viewProps" Target="viewProps.xml"/><Relationship Id="rId140" Type="http://schemas.openxmlformats.org/officeDocument/2006/relationships/presProps" Target="presProps.xml"/><Relationship Id="rId14" Type="http://schemas.openxmlformats.org/officeDocument/2006/relationships/slide" Target="slides/slide12.xml"/><Relationship Id="rId139" Type="http://schemas.openxmlformats.org/officeDocument/2006/relationships/notesMaster" Target="notesMasters/notesMaster1.xml"/><Relationship Id="rId138" Type="http://schemas.openxmlformats.org/officeDocument/2006/relationships/slide" Target="slides/slide136.xml"/><Relationship Id="rId137" Type="http://schemas.openxmlformats.org/officeDocument/2006/relationships/slide" Target="slides/slide135.xml"/><Relationship Id="rId136" Type="http://schemas.openxmlformats.org/officeDocument/2006/relationships/slide" Target="slides/slide134.xml"/><Relationship Id="rId135" Type="http://schemas.openxmlformats.org/officeDocument/2006/relationships/slide" Target="slides/slide133.xml"/><Relationship Id="rId134" Type="http://schemas.openxmlformats.org/officeDocument/2006/relationships/slide" Target="slides/slide132.xml"/><Relationship Id="rId133" Type="http://schemas.openxmlformats.org/officeDocument/2006/relationships/slide" Target="slides/slide131.xml"/><Relationship Id="rId132" Type="http://schemas.openxmlformats.org/officeDocument/2006/relationships/slide" Target="slides/slide130.xml"/><Relationship Id="rId131" Type="http://schemas.openxmlformats.org/officeDocument/2006/relationships/slide" Target="slides/slide129.xml"/><Relationship Id="rId130" Type="http://schemas.openxmlformats.org/officeDocument/2006/relationships/slide" Target="slides/slide128.xml"/><Relationship Id="rId13" Type="http://schemas.openxmlformats.org/officeDocument/2006/relationships/slide" Target="slides/slide11.xml"/><Relationship Id="rId129" Type="http://schemas.openxmlformats.org/officeDocument/2006/relationships/slide" Target="slides/slide127.xml"/><Relationship Id="rId128" Type="http://schemas.openxmlformats.org/officeDocument/2006/relationships/slide" Target="slides/slide126.xml"/><Relationship Id="rId127" Type="http://schemas.openxmlformats.org/officeDocument/2006/relationships/slide" Target="slides/slide125.xml"/><Relationship Id="rId126" Type="http://schemas.openxmlformats.org/officeDocument/2006/relationships/slide" Target="slides/slide124.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image" Target="../media/image6.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48482" name="Rectangle 2"/>
          <p:cNvSpPr>
            <a:spLocks noGrp="1" noRot="1" noChangeArrowheads="1"/>
          </p:cNvSpPr>
          <p:nvPr>
            <p:ph type="ctrTitle"/>
          </p:nvPr>
        </p:nvSpPr>
        <p:spPr>
          <a:xfrm>
            <a:off x="685800" y="2286000"/>
            <a:ext cx="7772400" cy="1143000"/>
          </a:xfrm>
        </p:spPr>
        <p:txBody>
          <a:bodyPr/>
          <a:lstStyle>
            <a:lvl1pPr>
              <a:defRPr/>
            </a:lvl1pPr>
          </a:lstStyle>
          <a:p>
            <a:r>
              <a:rPr lang="zh-CN" altLang="en-US"/>
              <a:t>单击此处编辑母版标题样式</a:t>
            </a:r>
            <a:endParaRPr lang="zh-CN" altLang="en-US"/>
          </a:p>
        </p:txBody>
      </p:sp>
      <p:sp>
        <p:nvSpPr>
          <p:cNvPr id="148483" name="Rectangle 3"/>
          <p:cNvSpPr>
            <a:spLocks noGrp="1" noRot="1" noChangeArrowheads="1"/>
          </p:cNvSpPr>
          <p:nvPr>
            <p:ph type="subTitle" idx="1"/>
          </p:nvPr>
        </p:nvSpPr>
        <p:spPr>
          <a:xfrm>
            <a:off x="1371600" y="3886200"/>
            <a:ext cx="6400800" cy="1752600"/>
          </a:xfrm>
        </p:spPr>
        <p:txBody>
          <a:bodyPr/>
          <a:lstStyle>
            <a:lvl1pPr marL="0" indent="0" algn="ctr">
              <a:buFont typeface="Wingdings 2" panose="05020102010507070707" pitchFamily="18" charset="2"/>
              <a:buNone/>
              <a:defRPr/>
            </a:lvl1pPr>
          </a:lstStyle>
          <a:p>
            <a:r>
              <a:rPr lang="zh-CN" altLang="en-US"/>
              <a:t>单击此处编辑母版副标题样式</a:t>
            </a:r>
            <a:endParaRPr lang="zh-CN" altLang="en-US"/>
          </a:p>
        </p:txBody>
      </p:sp>
      <p:sp>
        <p:nvSpPr>
          <p:cNvPr id="7" name="Rectangle 4"/>
          <p:cNvSpPr>
            <a:spLocks noGrp="1" noChangeArrowheads="1"/>
          </p:cNvSpPr>
          <p:nvPr>
            <p:ph type="dt" sz="half" idx="2"/>
          </p:nvPr>
        </p:nvSpPr>
        <p:spPr bwMode="auto">
          <a:xfrm>
            <a:off x="301625" y="6245225"/>
            <a:ext cx="2289175"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E99AF6D-D334-4815-8FE8-5D0069AE1B21}"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5225"/>
            <a:ext cx="2289175" cy="476250"/>
          </a:xfrm>
          <a:prstGeom prst="rect">
            <a:avLst/>
          </a:prstGeom>
          <a:ln>
            <a:miter lim="800000"/>
          </a:ln>
        </p:spPr>
        <p:txBody>
          <a:bodyPr vert="horz" wrap="square" lIns="91440" tIns="45720" rIns="91440" bIns="45720" numCol="1" anchor="t" anchorCtr="0" compatLnSpc="1"/>
          <a:p>
            <a:pPr algn="r" eaLnBrk="1" hangingPunct="1"/>
            <a:fld id="{9A0DB2DC-4C9A-4742-B13C-FB6460FD3503}" type="slidenum">
              <a:rPr lang="zh-CN" altLang="en-US" dirty="0"/>
            </a:fld>
            <a:endParaRPr lang="zh-CN" altLang="en-US" dirty="0"/>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4F2D75-5430-48C2-81E8-763B1E055B30}"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4F2D75-5430-48C2-81E8-763B1E055B30}"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1625"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4F2D75-5430-48C2-81E8-763B1E055B30}"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4F2D75-5430-48C2-81E8-763B1E055B30}"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4F2D75-5430-48C2-81E8-763B1E055B30}"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4F2D75-5430-48C2-81E8-763B1E055B30}"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4F2D75-5430-48C2-81E8-763B1E055B30}"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4F2D75-5430-48C2-81E8-763B1E055B30}"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4F2D75-5430-48C2-81E8-763B1E055B30}"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228600"/>
            <a:ext cx="2135187" cy="5870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228600"/>
            <a:ext cx="6253163" cy="58705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4F2D75-5430-48C2-81E8-763B1E055B30}"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47458" name="Rectangle 2"/>
          <p:cNvSpPr>
            <a:spLocks noGrp="1" noRot="1"/>
          </p:cNvSpPr>
          <p:nvPr>
            <p:ph type="title"/>
          </p:nvPr>
        </p:nvSpPr>
        <p:spPr>
          <a:xfrm>
            <a:off x="301625" y="228600"/>
            <a:ext cx="854075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47459" name="Rectangle 3"/>
          <p:cNvSpPr>
            <a:spLocks noGrp="1" noRot="1"/>
          </p:cNvSpPr>
          <p:nvPr>
            <p:ph type="body" idx="1"/>
          </p:nvPr>
        </p:nvSpPr>
        <p:spPr>
          <a:xfrm>
            <a:off x="301625" y="1600200"/>
            <a:ext cx="8540750" cy="449897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47460" name="Rectangle 4"/>
          <p:cNvSpPr>
            <a:spLocks noGrp="1" noChangeArrowheads="1"/>
          </p:cNvSpPr>
          <p:nvPr>
            <p:ph type="dt" sz="half" idx="2"/>
          </p:nvPr>
        </p:nvSpPr>
        <p:spPr bwMode="auto">
          <a:xfrm>
            <a:off x="301625" y="6245225"/>
            <a:ext cx="2289175"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4C4F2D75-5430-48C2-81E8-763B1E055B30}"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7461"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7462" name="Rectangle 6"/>
          <p:cNvSpPr>
            <a:spLocks noGrp="1" noChangeArrowheads="1"/>
          </p:cNvSpPr>
          <p:nvPr>
            <p:ph type="sldNum" sz="quarter" idx="4"/>
          </p:nvPr>
        </p:nvSpPr>
        <p:spPr bwMode="auto">
          <a:xfrm>
            <a:off x="6553200" y="6245225"/>
            <a:ext cx="2289175"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7458"/>
                                        </p:tgtEl>
                                        <p:attrNameLst>
                                          <p:attrName>style.visibility</p:attrName>
                                        </p:attrNameLst>
                                      </p:cBhvr>
                                      <p:to>
                                        <p:strVal val="visible"/>
                                      </p:to>
                                    </p:set>
                                    <p:animEffect transition="in" filter="fade">
                                      <p:cBhvr>
                                        <p:cTn id="7" dur="2000"/>
                                        <p:tgtEl>
                                          <p:spTgt spid="1474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7459">
                                            <p:txEl>
                                              <p:pRg st="0" end="0"/>
                                            </p:txEl>
                                          </p:spTgt>
                                        </p:tgtEl>
                                        <p:attrNameLst>
                                          <p:attrName>style.visibility</p:attrName>
                                        </p:attrNameLst>
                                      </p:cBhvr>
                                      <p:to>
                                        <p:strVal val="visible"/>
                                      </p:to>
                                    </p:set>
                                    <p:animEffect transition="in" filter="fade">
                                      <p:cBhvr>
                                        <p:cTn id="12" dur="2000"/>
                                        <p:tgtEl>
                                          <p:spTgt spid="147459">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7459">
                                            <p:txEl>
                                              <p:pRg st="1" end="1"/>
                                            </p:txEl>
                                          </p:spTgt>
                                        </p:tgtEl>
                                        <p:attrNameLst>
                                          <p:attrName>style.visibility</p:attrName>
                                        </p:attrNameLst>
                                      </p:cBhvr>
                                      <p:to>
                                        <p:strVal val="visible"/>
                                      </p:to>
                                    </p:set>
                                    <p:animEffect transition="in" filter="fade">
                                      <p:cBhvr>
                                        <p:cTn id="15" dur="2000"/>
                                        <p:tgtEl>
                                          <p:spTgt spid="147459">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7459">
                                            <p:txEl>
                                              <p:pRg st="2" end="2"/>
                                            </p:txEl>
                                          </p:spTgt>
                                        </p:tgtEl>
                                        <p:attrNameLst>
                                          <p:attrName>style.visibility</p:attrName>
                                        </p:attrNameLst>
                                      </p:cBhvr>
                                      <p:to>
                                        <p:strVal val="visible"/>
                                      </p:to>
                                    </p:set>
                                    <p:animEffect transition="in" filter="fade">
                                      <p:cBhvr>
                                        <p:cTn id="18" dur="2000"/>
                                        <p:tgtEl>
                                          <p:spTgt spid="147459">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7459">
                                            <p:txEl>
                                              <p:pRg st="3" end="3"/>
                                            </p:txEl>
                                          </p:spTgt>
                                        </p:tgtEl>
                                        <p:attrNameLst>
                                          <p:attrName>style.visibility</p:attrName>
                                        </p:attrNameLst>
                                      </p:cBhvr>
                                      <p:to>
                                        <p:strVal val="visible"/>
                                      </p:to>
                                    </p:set>
                                    <p:animEffect transition="in" filter="fade">
                                      <p:cBhvr>
                                        <p:cTn id="21" dur="2000"/>
                                        <p:tgtEl>
                                          <p:spTgt spid="147459">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7459">
                                            <p:txEl>
                                              <p:pRg st="4" end="4"/>
                                            </p:txEl>
                                          </p:spTgt>
                                        </p:tgtEl>
                                        <p:attrNameLst>
                                          <p:attrName>style.visibility</p:attrName>
                                        </p:attrNameLst>
                                      </p:cBhvr>
                                      <p:to>
                                        <p:strVal val="visible"/>
                                      </p:to>
                                    </p:set>
                                    <p:animEffect transition="in" filter="fade">
                                      <p:cBhvr>
                                        <p:cTn id="24" dur="2000"/>
                                        <p:tgtEl>
                                          <p:spTgt spid="147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8" grpId="0"/>
      <p:bldP spid="147459" grpId="0" build="p">
        <p:tmplLst>
          <p:tmpl lvl="1">
            <p:tnLst>
              <p:par>
                <p:cTn presetID="10" presetClass="entr" presetSubtype="0" fill="hold" nodeType="clickEffect">
                  <p:stCondLst>
                    <p:cond delay="0"/>
                  </p:stCondLst>
                  <p:childTnLst>
                    <p:set>
                      <p:cBhvr>
                        <p:cTn dur="1" fill="hold">
                          <p:stCondLst>
                            <p:cond delay="0"/>
                          </p:stCondLst>
                        </p:cTn>
                        <p:tgtEl>
                          <p:spTgt spid="147459"/>
                        </p:tgtEl>
                        <p:attrNameLst>
                          <p:attrName>style.visibility</p:attrName>
                        </p:attrNameLst>
                      </p:cBhvr>
                      <p:to>
                        <p:strVal val="visible"/>
                      </p:to>
                    </p:set>
                    <p:animEffect transition="in" filter="fade">
                      <p:cBhvr>
                        <p:cTn dur="2000"/>
                        <p:tgtEl>
                          <p:spTgt spid="147459"/>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147459"/>
                        </p:tgtEl>
                        <p:attrNameLst>
                          <p:attrName>style.visibility</p:attrName>
                        </p:attrNameLst>
                      </p:cBhvr>
                      <p:to>
                        <p:strVal val="visible"/>
                      </p:to>
                    </p:set>
                    <p:animEffect transition="in" filter="fade">
                      <p:cBhvr>
                        <p:cTn dur="2000"/>
                        <p:tgtEl>
                          <p:spTgt spid="147459"/>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147459"/>
                        </p:tgtEl>
                        <p:attrNameLst>
                          <p:attrName>style.visibility</p:attrName>
                        </p:attrNameLst>
                      </p:cBhvr>
                      <p:to>
                        <p:strVal val="visible"/>
                      </p:to>
                    </p:set>
                    <p:animEffect transition="in" filter="fade">
                      <p:cBhvr>
                        <p:cTn dur="2000"/>
                        <p:tgtEl>
                          <p:spTgt spid="147459"/>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147459"/>
                        </p:tgtEl>
                        <p:attrNameLst>
                          <p:attrName>style.visibility</p:attrName>
                        </p:attrNameLst>
                      </p:cBhvr>
                      <p:to>
                        <p:strVal val="visible"/>
                      </p:to>
                    </p:set>
                    <p:animEffect transition="in" filter="fade">
                      <p:cBhvr>
                        <p:cTn dur="2000"/>
                        <p:tgtEl>
                          <p:spTgt spid="147459"/>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147459"/>
                        </p:tgtEl>
                        <p:attrNameLst>
                          <p:attrName>style.visibility</p:attrName>
                        </p:attrNameLst>
                      </p:cBhvr>
                      <p:to>
                        <p:strVal val="visible"/>
                      </p:to>
                    </p:set>
                    <p:animEffect transition="in" filter="fade">
                      <p:cBhvr>
                        <p:cTn dur="2000"/>
                        <p:tgtEl>
                          <p:spTgt spid="147459"/>
                        </p:tgtEl>
                      </p:cBhvr>
                    </p:animEffect>
                  </p:childTnLst>
                </p:cTn>
              </p:par>
            </p:tnLst>
          </p:tmpl>
        </p:tmplLst>
      </p:bldP>
    </p:bldLst>
  </p:timing>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slide" Target="slide86.xml"/><Relationship Id="rId5" Type="http://schemas.openxmlformats.org/officeDocument/2006/relationships/slide" Target="slide66.xml"/><Relationship Id="rId4" Type="http://schemas.openxmlformats.org/officeDocument/2006/relationships/slide" Target="slide49.xml"/><Relationship Id="rId3" Type="http://schemas.openxmlformats.org/officeDocument/2006/relationships/slide" Target="slide37.xml"/><Relationship Id="rId2" Type="http://schemas.openxmlformats.org/officeDocument/2006/relationships/slide" Target="slide24.xml"/><Relationship Id="rId1"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4.wmf"/><Relationship Id="rId1"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5.wmf"/><Relationship Id="rId1" Type="http://schemas.openxmlformats.org/officeDocument/2006/relationships/oleObject" Target="../embeddings/oleObject3.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oleObject" Target="../embeddings/oleObject5.bin"/><Relationship Id="rId2" Type="http://schemas.openxmlformats.org/officeDocument/2006/relationships/image" Target="../media/image6.png"/><Relationship Id="rId1" Type="http://schemas.openxmlformats.org/officeDocument/2006/relationships/oleObject" Target="../embeddings/oleObject4.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9.wmf"/><Relationship Id="rId1" Type="http://schemas.openxmlformats.org/officeDocument/2006/relationships/oleObject" Target="../embeddings/oleObject6.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7.xml"/><Relationship Id="rId4" Type="http://schemas.openxmlformats.org/officeDocument/2006/relationships/image" Target="../media/image12.wmf"/><Relationship Id="rId3" Type="http://schemas.openxmlformats.org/officeDocument/2006/relationships/oleObject" Target="../embeddings/oleObject8.bin"/><Relationship Id="rId2" Type="http://schemas.openxmlformats.org/officeDocument/2006/relationships/image" Target="../media/image11.wmf"/><Relationship Id="rId1" Type="http://schemas.openxmlformats.org/officeDocument/2006/relationships/oleObject" Target="../embeddings/oleObject7.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oleObject" Target="../embeddings/oleObject9.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w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8.wmf"/><Relationship Id="rId1" Type="http://schemas.openxmlformats.org/officeDocument/2006/relationships/oleObject" Target="../embeddings/oleObject10.bin"/></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w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20.emf"/><Relationship Id="rId1" Type="http://schemas.openxmlformats.org/officeDocument/2006/relationships/oleObject" Target="../embeddings/oleObject11.bin"/></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21.wmf"/><Relationship Id="rId1" Type="http://schemas.openxmlformats.org/officeDocument/2006/relationships/oleObject" Target="../embeddings/oleObject12.bin"/></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22.wmf"/><Relationship Id="rId1" Type="http://schemas.openxmlformats.org/officeDocument/2006/relationships/oleObject" Target="../embeddings/oleObject13.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ctrTitle" idx="4294967295"/>
          </p:nvPr>
        </p:nvSpPr>
        <p:spPr>
          <a:xfrm>
            <a:off x="685800" y="2130425"/>
            <a:ext cx="7772400" cy="1470025"/>
          </a:xfrm>
          <a:ln/>
        </p:spPr>
        <p:txBody>
          <a:bodyPr vert="horz" wrap="square" lIns="91440" tIns="45720" rIns="91440" bIns="45720" anchor="ctr" anchorCtr="0"/>
          <a:lstStyle>
            <a:lvl1pPr lvl="0">
              <a:buClrTx/>
              <a:buSzTx/>
              <a:buFontTx/>
              <a:defRPr/>
            </a:lvl1pPr>
          </a:lstStyle>
          <a:p>
            <a:pPr lvl="0" eaLnBrk="1" hangingPunct="1"/>
            <a:r>
              <a:rPr lang="zh-CN" altLang="en-US" b="1" dirty="0"/>
              <a:t>第三章 处理机调度与死锁</a:t>
            </a:r>
            <a:endParaRPr lang="zh-CN" altLang="zh-CN" b="1" dirty="0"/>
          </a:p>
        </p:txBody>
      </p:sp>
      <p:sp>
        <p:nvSpPr>
          <p:cNvPr id="17411" name="Rectangle 3"/>
          <p:cNvSpPr>
            <a:spLocks noGrp="1"/>
          </p:cNvSpPr>
          <p:nvPr>
            <p:ph type="subTitle" idx="4294967295"/>
          </p:nvPr>
        </p:nvSpPr>
        <p:spPr>
          <a:xfrm>
            <a:off x="1250950" y="3871913"/>
            <a:ext cx="6642100" cy="1743075"/>
          </a:xfrm>
          <a:ln/>
        </p:spPr>
        <p:txBody>
          <a:bodyPr vert="horz" wrap="square" lIns="91440" tIns="45720" rIns="91440" bIns="45720" anchor="t" anchorCtr="0"/>
          <a:lstStyle>
            <a:lvl1pPr marL="0" lvl="0" indent="0" algn="ctr">
              <a:buClr>
                <a:schemeClr val="folHlink"/>
              </a:buClr>
              <a:buSzPct val="85000"/>
              <a:buFont typeface="Wingdings 2" panose="05020102010507070707" pitchFamily="18" charset="2"/>
              <a:buNone/>
              <a:defRPr/>
            </a:lvl1pPr>
            <a:lvl2pPr marL="457200" lvl="1" indent="0" algn="ctr">
              <a:buClr>
                <a:schemeClr val="hlink"/>
              </a:buClr>
              <a:buSzPct val="85000"/>
              <a:buFont typeface="Wingdings" panose="05000000000000000000" pitchFamily="2" charset="2"/>
              <a:buNone/>
              <a:defRPr/>
            </a:lvl2pPr>
            <a:lvl3pPr marL="914400" lvl="2" indent="0" algn="ctr">
              <a:buClr>
                <a:schemeClr val="folHlink"/>
              </a:buClr>
              <a:buSzPct val="90000"/>
              <a:buFont typeface="Wingdings 2" panose="05020102010507070707" pitchFamily="18" charset="2"/>
              <a:buNone/>
              <a:defRPr/>
            </a:lvl3pPr>
            <a:lvl4pPr marL="1371600" lvl="3" indent="0" algn="ctr">
              <a:buClr>
                <a:schemeClr val="hlink"/>
              </a:buClr>
              <a:buSzPct val="90000"/>
              <a:buFont typeface="Wingdings" panose="05000000000000000000" pitchFamily="2" charset="2"/>
              <a:buNone/>
              <a:defRPr/>
            </a:lvl4pPr>
            <a:lvl5pPr marL="1828800" lvl="4" indent="0" algn="ctr">
              <a:buClr>
                <a:schemeClr val="folHlink"/>
              </a:buClr>
              <a:buSzPct val="90000"/>
              <a:buFont typeface="Wingdings 2" panose="05020102010507070707" pitchFamily="18" charset="2"/>
              <a:buNone/>
              <a:defRPr/>
            </a:lvl5pPr>
          </a:lstStyle>
          <a:p>
            <a:pPr lvl="0" eaLnBrk="1" hangingPunct="1"/>
            <a:endParaRPr lang="zh-CN"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fade">
                                      <p:cBhvr>
                                        <p:cTn id="7" dur="2000"/>
                                        <p:tgtEl>
                                          <p:spTgt spid="174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17411">
                                            <p:txEl>
                                              <p:charRg st="0" end="1"/>
                                            </p:txEl>
                                          </p:spTgt>
                                        </p:tgtEl>
                                        <p:attrNameLst>
                                          <p:attrName>style.visibility</p:attrName>
                                        </p:attrNameLst>
                                      </p:cBhvr>
                                      <p:to>
                                        <p:strVal val="visible"/>
                                      </p:to>
                                    </p:set>
                                    <p:animEffect transition="in" filter="fade">
                                      <p:cBhvr>
                                        <p:cTn id="12" dur="2000"/>
                                        <p:tgtEl>
                                          <p:spTgt spid="17411">
                                            <p:txEl>
                                              <p:charRg st="0"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P spid="17411"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ext Box 2"/>
          <p:cNvSpPr txBox="1"/>
          <p:nvPr/>
        </p:nvSpPr>
        <p:spPr>
          <a:xfrm>
            <a:off x="3422650" y="908050"/>
            <a:ext cx="2012950" cy="641350"/>
          </a:xfrm>
          <a:prstGeom prst="rect">
            <a:avLst/>
          </a:prstGeom>
          <a:noFill/>
          <a:ln w="9525">
            <a:noFill/>
          </a:ln>
        </p:spPr>
        <p:txBody>
          <a:bodyPr wrap="none">
            <a:spAutoFit/>
          </a:bodyPr>
          <a:p>
            <a:pPr algn="ctr" eaLnBrk="1" hangingPunct="1"/>
            <a:r>
              <a:rPr lang="zh-CN" altLang="en-US" sz="3600" b="1" dirty="0">
                <a:solidFill>
                  <a:srgbClr val="800080"/>
                </a:solidFill>
                <a:latin typeface="华文新魏" panose="02010800040101010101" pitchFamily="2" charset="-122"/>
                <a:ea typeface="华文新魏" panose="02010800040101010101" pitchFamily="2" charset="-122"/>
              </a:rPr>
              <a:t>主要内容</a:t>
            </a:r>
            <a:endParaRPr lang="zh-CN" altLang="en-US" sz="3600" b="1" dirty="0">
              <a:solidFill>
                <a:srgbClr val="800080"/>
              </a:solidFill>
              <a:latin typeface="华文新魏" panose="02010800040101010101" pitchFamily="2" charset="-122"/>
              <a:ea typeface="华文新魏" panose="02010800040101010101" pitchFamily="2" charset="-122"/>
            </a:endParaRPr>
          </a:p>
        </p:txBody>
      </p:sp>
      <p:sp>
        <p:nvSpPr>
          <p:cNvPr id="14339" name="Text Box 3"/>
          <p:cNvSpPr txBox="1"/>
          <p:nvPr/>
        </p:nvSpPr>
        <p:spPr>
          <a:xfrm>
            <a:off x="2209800" y="1822450"/>
            <a:ext cx="5221288" cy="3981450"/>
          </a:xfrm>
          <a:prstGeom prst="rect">
            <a:avLst/>
          </a:prstGeom>
          <a:noFill/>
          <a:ln w="9525">
            <a:noFill/>
          </a:ln>
        </p:spPr>
        <p:txBody>
          <a:bodyPr wrap="none">
            <a:spAutoFit/>
          </a:bodyPr>
          <a:p>
            <a:pPr eaLnBrk="1" hangingPunct="1">
              <a:lnSpc>
                <a:spcPct val="130000"/>
              </a:lnSpc>
            </a:pPr>
            <a:r>
              <a:rPr lang="en-US" altLang="zh-CN" sz="2800" b="1" dirty="0">
                <a:latin typeface="华文新魏" panose="02010800040101010101" pitchFamily="2" charset="-122"/>
                <a:ea typeface="华文新魏" panose="02010800040101010101" pitchFamily="2" charset="-122"/>
                <a:hlinkClick r:id="rId1" action="ppaction://hlinksldjump"/>
              </a:rPr>
              <a:t>3.1  </a:t>
            </a:r>
            <a:r>
              <a:rPr lang="zh-CN" altLang="en-US" sz="2800" b="1" dirty="0">
                <a:latin typeface="华文新魏" panose="02010800040101010101" pitchFamily="2" charset="-122"/>
                <a:ea typeface="华文新魏" panose="02010800040101010101" pitchFamily="2" charset="-122"/>
                <a:hlinkClick r:id="rId1" action="ppaction://hlinksldjump"/>
              </a:rPr>
              <a:t>处理机调度的基本概念 </a:t>
            </a:r>
            <a:endParaRPr lang="zh-CN" altLang="en-US" sz="2800" b="1" dirty="0">
              <a:latin typeface="华文新魏" panose="02010800040101010101" pitchFamily="2" charset="-122"/>
              <a:ea typeface="华文新魏" panose="02010800040101010101" pitchFamily="2" charset="-122"/>
            </a:endParaRPr>
          </a:p>
          <a:p>
            <a:pPr eaLnBrk="1" hangingPunct="1">
              <a:lnSpc>
                <a:spcPct val="130000"/>
              </a:lnSpc>
            </a:pPr>
            <a:r>
              <a:rPr lang="en-US" altLang="zh-CN" sz="2800" b="1" dirty="0">
                <a:latin typeface="华文新魏" panose="02010800040101010101" pitchFamily="2" charset="-122"/>
                <a:ea typeface="华文新魏" panose="02010800040101010101" pitchFamily="2" charset="-122"/>
                <a:hlinkClick r:id="rId2" action="ppaction://hlinksldjump"/>
              </a:rPr>
              <a:t>3.2  </a:t>
            </a:r>
            <a:r>
              <a:rPr lang="zh-CN" altLang="en-US" sz="2800" b="1" dirty="0">
                <a:latin typeface="华文新魏" panose="02010800040101010101" pitchFamily="2" charset="-122"/>
                <a:ea typeface="华文新魏" panose="02010800040101010101" pitchFamily="2" charset="-122"/>
                <a:hlinkClick r:id="rId2" action="ppaction://hlinksldjump"/>
              </a:rPr>
              <a:t>调度算法 </a:t>
            </a:r>
            <a:endParaRPr lang="zh-CN" altLang="en-US" sz="2800" b="1" dirty="0">
              <a:latin typeface="华文新魏" panose="02010800040101010101" pitchFamily="2" charset="-122"/>
              <a:ea typeface="华文新魏" panose="02010800040101010101" pitchFamily="2" charset="-122"/>
            </a:endParaRPr>
          </a:p>
          <a:p>
            <a:pPr eaLnBrk="1" hangingPunct="1">
              <a:lnSpc>
                <a:spcPct val="130000"/>
              </a:lnSpc>
            </a:pPr>
            <a:r>
              <a:rPr lang="en-US" altLang="zh-CN" sz="2800" b="1" dirty="0">
                <a:latin typeface="华文新魏" panose="02010800040101010101" pitchFamily="2" charset="-122"/>
                <a:ea typeface="华文新魏" panose="02010800040101010101" pitchFamily="2" charset="-122"/>
                <a:hlinkClick r:id="rId3" action="ppaction://hlinksldjump"/>
              </a:rPr>
              <a:t>3.3  </a:t>
            </a:r>
            <a:r>
              <a:rPr lang="zh-CN" altLang="en-US" sz="2800" b="1" dirty="0">
                <a:latin typeface="华文新魏" panose="02010800040101010101" pitchFamily="2" charset="-122"/>
                <a:ea typeface="华文新魏" panose="02010800040101010101" pitchFamily="2" charset="-122"/>
                <a:hlinkClick r:id="rId3" action="ppaction://hlinksldjump"/>
              </a:rPr>
              <a:t>实时调度 </a:t>
            </a:r>
            <a:endParaRPr lang="zh-CN" altLang="en-US" sz="2800" b="1" dirty="0">
              <a:latin typeface="华文新魏" panose="02010800040101010101" pitchFamily="2" charset="-122"/>
              <a:ea typeface="华文新魏" panose="02010800040101010101" pitchFamily="2" charset="-122"/>
            </a:endParaRPr>
          </a:p>
          <a:p>
            <a:pPr eaLnBrk="1" hangingPunct="1">
              <a:lnSpc>
                <a:spcPct val="130000"/>
              </a:lnSpc>
            </a:pPr>
            <a:r>
              <a:rPr lang="en-US" altLang="zh-CN" sz="2800" b="1" dirty="0">
                <a:latin typeface="华文新魏" panose="02010800040101010101" pitchFamily="2" charset="-122"/>
                <a:ea typeface="华文新魏" panose="02010800040101010101" pitchFamily="2" charset="-122"/>
                <a:hlinkClick r:id="rId4" action="ppaction://hlinksldjump"/>
              </a:rPr>
              <a:t>3.4  </a:t>
            </a:r>
            <a:r>
              <a:rPr lang="zh-CN" altLang="en-US" sz="2800" b="1" dirty="0">
                <a:latin typeface="华文新魏" panose="02010800040101010101" pitchFamily="2" charset="-122"/>
                <a:ea typeface="华文新魏" panose="02010800040101010101" pitchFamily="2" charset="-122"/>
                <a:hlinkClick r:id="rId4" action="ppaction://hlinksldjump"/>
              </a:rPr>
              <a:t>多处理机系统中的调度 </a:t>
            </a:r>
            <a:endParaRPr lang="zh-CN" altLang="en-US" sz="2800" b="1" dirty="0">
              <a:latin typeface="华文新魏" panose="02010800040101010101" pitchFamily="2" charset="-122"/>
              <a:ea typeface="华文新魏" panose="02010800040101010101" pitchFamily="2" charset="-122"/>
            </a:endParaRPr>
          </a:p>
          <a:p>
            <a:pPr eaLnBrk="1" hangingPunct="1">
              <a:lnSpc>
                <a:spcPct val="130000"/>
              </a:lnSpc>
            </a:pPr>
            <a:r>
              <a:rPr lang="en-US" altLang="zh-CN" sz="2800" b="1" dirty="0">
                <a:latin typeface="华文新魏" panose="02010800040101010101" pitchFamily="2" charset="-122"/>
                <a:ea typeface="华文新魏" panose="02010800040101010101" pitchFamily="2" charset="-122"/>
                <a:hlinkClick r:id="" action="ppaction://noaction"/>
              </a:rPr>
              <a:t>3.5  </a:t>
            </a:r>
            <a:r>
              <a:rPr lang="zh-CN" altLang="en-US" sz="2800" b="1" dirty="0">
                <a:latin typeface="华文新魏" panose="02010800040101010101" pitchFamily="2" charset="-122"/>
                <a:ea typeface="华文新魏" panose="02010800040101010101" pitchFamily="2" charset="-122"/>
                <a:hlinkClick r:id="" action="ppaction://noaction"/>
              </a:rPr>
              <a:t>产生死锁的原因和必要条件 </a:t>
            </a:r>
            <a:endParaRPr lang="zh-CN" altLang="en-US" sz="2800" b="1" dirty="0">
              <a:latin typeface="华文新魏" panose="02010800040101010101" pitchFamily="2" charset="-122"/>
              <a:ea typeface="华文新魏" panose="02010800040101010101" pitchFamily="2" charset="-122"/>
            </a:endParaRPr>
          </a:p>
          <a:p>
            <a:pPr eaLnBrk="1" hangingPunct="1">
              <a:lnSpc>
                <a:spcPct val="130000"/>
              </a:lnSpc>
            </a:pPr>
            <a:r>
              <a:rPr lang="en-US" altLang="zh-CN" sz="2800" b="1" dirty="0">
                <a:latin typeface="华文新魏" panose="02010800040101010101" pitchFamily="2" charset="-122"/>
                <a:ea typeface="华文新魏" panose="02010800040101010101" pitchFamily="2" charset="-122"/>
                <a:hlinkClick r:id="rId5" action="ppaction://hlinksldjump"/>
              </a:rPr>
              <a:t>3.6  </a:t>
            </a:r>
            <a:r>
              <a:rPr lang="zh-CN" altLang="en-US" sz="2800" b="1" dirty="0">
                <a:latin typeface="华文新魏" panose="02010800040101010101" pitchFamily="2" charset="-122"/>
                <a:ea typeface="华文新魏" panose="02010800040101010101" pitchFamily="2" charset="-122"/>
                <a:hlinkClick r:id="rId5" action="ppaction://hlinksldjump"/>
              </a:rPr>
              <a:t>预防死锁的方法 </a:t>
            </a:r>
            <a:endParaRPr lang="zh-CN" altLang="en-US" sz="2800" b="1" dirty="0">
              <a:latin typeface="华文新魏" panose="02010800040101010101" pitchFamily="2" charset="-122"/>
              <a:ea typeface="华文新魏" panose="02010800040101010101" pitchFamily="2" charset="-122"/>
            </a:endParaRPr>
          </a:p>
          <a:p>
            <a:pPr eaLnBrk="1" hangingPunct="1">
              <a:lnSpc>
                <a:spcPct val="130000"/>
              </a:lnSpc>
            </a:pPr>
            <a:r>
              <a:rPr lang="en-US" altLang="zh-CN" sz="2800" b="1" dirty="0">
                <a:latin typeface="华文新魏" panose="02010800040101010101" pitchFamily="2" charset="-122"/>
                <a:ea typeface="华文新魏" panose="02010800040101010101" pitchFamily="2" charset="-122"/>
                <a:hlinkClick r:id="rId6" action="ppaction://hlinksldjump"/>
              </a:rPr>
              <a:t>3.7  </a:t>
            </a:r>
            <a:r>
              <a:rPr lang="zh-CN" altLang="en-US" sz="2800" b="1" dirty="0">
                <a:latin typeface="华文新魏" panose="02010800040101010101" pitchFamily="2" charset="-122"/>
                <a:ea typeface="华文新魏" panose="02010800040101010101" pitchFamily="2" charset="-122"/>
                <a:hlinkClick r:id="rId6" action="ppaction://hlinksldjump"/>
              </a:rPr>
              <a:t>死锁的检测与解除 </a:t>
            </a:r>
            <a:endParaRPr lang="zh-CN" altLang="en-US" sz="2800" b="1" dirty="0">
              <a:latin typeface="华文新魏" panose="02010800040101010101" pitchFamily="2" charset="-122"/>
              <a:ea typeface="华文新魏" panose="0201080004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3"/>
          <p:cNvSpPr>
            <a:spLocks noGrp="1" noRot="1"/>
          </p:cNvSpPr>
          <p:nvPr>
            <p:ph idx="1"/>
          </p:nvPr>
        </p:nvSpPr>
        <p:spPr>
          <a:xfrm>
            <a:off x="301625" y="1484313"/>
            <a:ext cx="8540750" cy="4498975"/>
          </a:xfrm>
          <a:ln/>
        </p:spPr>
        <p:txBody>
          <a:bodyPr vert="horz" wrap="square" lIns="91440" tIns="45720" rIns="91440" bIns="45720" anchor="t" anchorCtr="0"/>
          <a:p>
            <a:pPr eaLnBrk="1" hangingPunct="1">
              <a:lnSpc>
                <a:spcPct val="120000"/>
              </a:lnSpc>
            </a:pPr>
            <a:r>
              <a:rPr lang="zh-CN" altLang="en-US" sz="2800" b="1" dirty="0"/>
              <a:t>在多道程序系统中，一个作业被提交后必须经过处理机调度后，方能获得处理机执行。</a:t>
            </a:r>
            <a:endParaRPr lang="zh-CN" altLang="en-US" sz="2800" b="1" dirty="0"/>
          </a:p>
          <a:p>
            <a:pPr eaLnBrk="1" hangingPunct="1">
              <a:lnSpc>
                <a:spcPct val="120000"/>
              </a:lnSpc>
            </a:pPr>
            <a:r>
              <a:rPr lang="zh-CN" altLang="en-US" sz="2800" b="1" dirty="0"/>
              <a:t>对于批量型作业而言，通常需要经历</a:t>
            </a:r>
            <a:r>
              <a:rPr lang="zh-CN" altLang="en-US" sz="2800" b="1" dirty="0">
                <a:solidFill>
                  <a:schemeClr val="folHlink"/>
                </a:solidFill>
              </a:rPr>
              <a:t>作业调度</a:t>
            </a:r>
            <a:r>
              <a:rPr lang="en-US" altLang="zh-CN" sz="2800" b="1" dirty="0"/>
              <a:t>(</a:t>
            </a:r>
            <a:r>
              <a:rPr lang="zh-CN" altLang="en-US" sz="2800" b="1" dirty="0"/>
              <a:t>又称高级调度或长程调度</a:t>
            </a:r>
            <a:r>
              <a:rPr lang="en-US" altLang="zh-CN" sz="2800" b="1" dirty="0"/>
              <a:t>)</a:t>
            </a:r>
            <a:r>
              <a:rPr lang="zh-CN" altLang="en-US" sz="2800" b="1" dirty="0"/>
              <a:t>和</a:t>
            </a:r>
            <a:r>
              <a:rPr lang="zh-CN" altLang="en-US" sz="2800" b="1" dirty="0">
                <a:solidFill>
                  <a:schemeClr val="folHlink"/>
                </a:solidFill>
              </a:rPr>
              <a:t>进程调度</a:t>
            </a:r>
            <a:r>
              <a:rPr lang="en-US" altLang="zh-CN" sz="2800" b="1" dirty="0"/>
              <a:t>(</a:t>
            </a:r>
            <a:r>
              <a:rPr lang="zh-CN" altLang="en-US" sz="2800" b="1" dirty="0"/>
              <a:t>又称低级调度或短程调度</a:t>
            </a:r>
            <a:r>
              <a:rPr lang="en-US" altLang="zh-CN" sz="2800" b="1" dirty="0"/>
              <a:t>)</a:t>
            </a:r>
            <a:r>
              <a:rPr lang="zh-CN" altLang="en-US" sz="2800" b="1" dirty="0"/>
              <a:t>两个过程后方能获得处理机；</a:t>
            </a:r>
            <a:endParaRPr lang="zh-CN" altLang="en-US" sz="2800" b="1" dirty="0"/>
          </a:p>
          <a:p>
            <a:pPr eaLnBrk="1" hangingPunct="1">
              <a:lnSpc>
                <a:spcPct val="120000"/>
              </a:lnSpc>
            </a:pPr>
            <a:r>
              <a:rPr lang="zh-CN" altLang="en-US" sz="2800" b="1" dirty="0"/>
              <a:t>对于终端型作业，则通常只需经过进程调度即可获得处理机。</a:t>
            </a:r>
            <a:endParaRPr lang="zh-CN" altLang="en-US" sz="2800" b="1" dirty="0"/>
          </a:p>
          <a:p>
            <a:pPr eaLnBrk="1" hangingPunct="1">
              <a:lnSpc>
                <a:spcPct val="120000"/>
              </a:lnSpc>
            </a:pPr>
            <a:endParaRPr lang="zh-CN" altLang="en-US" sz="2800" b="1" dirty="0"/>
          </a:p>
        </p:txBody>
      </p:sp>
      <p:sp>
        <p:nvSpPr>
          <p:cNvPr id="15363" name="Text Box 4"/>
          <p:cNvSpPr/>
          <p:nvPr>
            <p:ph type="title"/>
          </p:nvPr>
        </p:nvSpPr>
        <p:spPr>
          <a:xfrm>
            <a:off x="301625" y="404813"/>
            <a:ext cx="8540750" cy="966787"/>
          </a:xfrm>
          <a:ln/>
        </p:spPr>
        <p:txBody>
          <a:bodyPr vert="horz" wrap="square" lIns="91440" tIns="45720" rIns="91440" bIns="45720" anchor="ctr" anchorCtr="0"/>
          <a:p>
            <a:pPr algn="l" eaLnBrk="1" hangingPunct="1"/>
            <a:r>
              <a:rPr lang="en-US" altLang="zh-CN" sz="4000" b="1" dirty="0"/>
              <a:t>3.1 </a:t>
            </a:r>
            <a:r>
              <a:rPr lang="zh-CN" altLang="en-US" sz="4000" b="1" dirty="0"/>
              <a:t>处理机调度的基本概念</a:t>
            </a:r>
            <a:r>
              <a:rPr lang="zh-CN" altLang="en-US" sz="4000" dirty="0"/>
              <a:t> </a:t>
            </a:r>
            <a:endParaRPr lang="zh-CN" altLang="en-US" sz="400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ext Box 3"/>
          <p:cNvSpPr txBox="1"/>
          <p:nvPr/>
        </p:nvSpPr>
        <p:spPr>
          <a:xfrm>
            <a:off x="323850" y="476250"/>
            <a:ext cx="4733925" cy="519113"/>
          </a:xfrm>
          <a:prstGeom prst="rect">
            <a:avLst/>
          </a:prstGeom>
          <a:noFill/>
          <a:ln w="9525">
            <a:noFill/>
          </a:ln>
        </p:spPr>
        <p:txBody>
          <a:bodyPr wrap="none">
            <a:spAutoFit/>
          </a:bodyPr>
          <a:p>
            <a:pPr eaLnBrk="1" hangingPunct="1"/>
            <a:r>
              <a:rPr lang="en-US" altLang="zh-CN" sz="2800" b="1" dirty="0">
                <a:solidFill>
                  <a:schemeClr val="folHlink"/>
                </a:solidFill>
                <a:latin typeface="Times New Roman" panose="02020603050405020304" pitchFamily="18" charset="0"/>
              </a:rPr>
              <a:t>3.1.1  </a:t>
            </a:r>
            <a:r>
              <a:rPr lang="zh-CN" altLang="en-US" sz="2800" b="1" dirty="0">
                <a:solidFill>
                  <a:schemeClr val="folHlink"/>
                </a:solidFill>
                <a:latin typeface="Times New Roman" panose="02020603050405020304" pitchFamily="18" charset="0"/>
              </a:rPr>
              <a:t>高级、中级和低级调度 </a:t>
            </a:r>
            <a:endParaRPr lang="zh-CN" altLang="en-US" sz="2800" b="1" dirty="0">
              <a:solidFill>
                <a:schemeClr val="folHlink"/>
              </a:solidFill>
              <a:latin typeface="Times New Roman" panose="02020603050405020304" pitchFamily="18" charset="0"/>
            </a:endParaRPr>
          </a:p>
        </p:txBody>
      </p:sp>
      <p:sp>
        <p:nvSpPr>
          <p:cNvPr id="16387" name="Text Box 4"/>
          <p:cNvSpPr txBox="1"/>
          <p:nvPr/>
        </p:nvSpPr>
        <p:spPr>
          <a:xfrm>
            <a:off x="395288" y="1123950"/>
            <a:ext cx="4816475" cy="519113"/>
          </a:xfrm>
          <a:prstGeom prst="rect">
            <a:avLst/>
          </a:prstGeom>
          <a:noFill/>
          <a:ln w="9525">
            <a:noFill/>
          </a:ln>
        </p:spPr>
        <p:txBody>
          <a:bodyPr wrap="none">
            <a:spAutoFit/>
          </a:bodyPr>
          <a:p>
            <a:pPr eaLnBrk="1" hangingPunct="1"/>
            <a:r>
              <a:rPr lang="en-US" altLang="zh-CN" sz="2800" b="1" dirty="0">
                <a:solidFill>
                  <a:schemeClr val="folHlink"/>
                </a:solidFill>
                <a:latin typeface="Times New Roman" panose="02020603050405020304" pitchFamily="18" charset="0"/>
              </a:rPr>
              <a:t>1. </a:t>
            </a:r>
            <a:r>
              <a:rPr lang="zh-CN" altLang="en-US" sz="2800" b="1" dirty="0">
                <a:solidFill>
                  <a:schemeClr val="folHlink"/>
                </a:solidFill>
                <a:latin typeface="Times New Roman" panose="02020603050405020304" pitchFamily="18" charset="0"/>
              </a:rPr>
              <a:t>高级调度</a:t>
            </a:r>
            <a:r>
              <a:rPr lang="en-US" altLang="zh-CN" sz="2800" b="1" dirty="0">
                <a:solidFill>
                  <a:schemeClr val="folHlink"/>
                </a:solidFill>
                <a:latin typeface="Times New Roman" panose="02020603050405020304" pitchFamily="18" charset="0"/>
              </a:rPr>
              <a:t>(High Scheduling) </a:t>
            </a:r>
            <a:endParaRPr lang="en-US" altLang="zh-CN" sz="2800" b="1" dirty="0">
              <a:solidFill>
                <a:schemeClr val="folHlink"/>
              </a:solidFill>
              <a:latin typeface="Times New Roman" panose="02020603050405020304" pitchFamily="18" charset="0"/>
            </a:endParaRPr>
          </a:p>
        </p:txBody>
      </p:sp>
      <p:sp>
        <p:nvSpPr>
          <p:cNvPr id="17412" name="Text Box 5"/>
          <p:cNvSpPr txBox="1"/>
          <p:nvPr/>
        </p:nvSpPr>
        <p:spPr>
          <a:xfrm>
            <a:off x="250825" y="1922463"/>
            <a:ext cx="8569325" cy="4316412"/>
          </a:xfrm>
          <a:prstGeom prst="rect">
            <a:avLst/>
          </a:prstGeom>
          <a:noFill/>
          <a:ln w="9525">
            <a:noFill/>
          </a:ln>
        </p:spPr>
        <p:txBody>
          <a:bodyPr>
            <a:spAutoFit/>
          </a:bodyPr>
          <a:p>
            <a:pPr eaLnBrk="1" hangingPunct="1">
              <a:lnSpc>
                <a:spcPct val="110000"/>
              </a:lnSpc>
            </a:pPr>
            <a:r>
              <a:rPr lang="zh-CN" altLang="en-US" sz="2800" b="1" dirty="0">
                <a:latin typeface="Arial" panose="020B0604020202020204" pitchFamily="34" charset="0"/>
              </a:rPr>
              <a:t>      高级调度</a:t>
            </a:r>
            <a:r>
              <a:rPr lang="en-US" altLang="zh-CN" sz="2800" b="1" dirty="0">
                <a:latin typeface="Arial" panose="020B0604020202020204" pitchFamily="34" charset="0"/>
              </a:rPr>
              <a:t>(High Level Scheduling)</a:t>
            </a:r>
            <a:r>
              <a:rPr lang="zh-CN" altLang="en-US" sz="2800" b="1" dirty="0">
                <a:latin typeface="Arial" panose="020B0604020202020204" pitchFamily="34" charset="0"/>
              </a:rPr>
              <a:t>又称为作业调度或长程调度</a:t>
            </a:r>
            <a:r>
              <a:rPr lang="en-US" altLang="zh-CN" sz="2800" b="1" dirty="0">
                <a:latin typeface="Arial" panose="020B0604020202020204" pitchFamily="34" charset="0"/>
              </a:rPr>
              <a:t>(LongTerm Scheduling)</a:t>
            </a:r>
            <a:r>
              <a:rPr lang="zh-CN" altLang="en-US" sz="2800" b="1" dirty="0">
                <a:latin typeface="Arial" panose="020B0604020202020204" pitchFamily="34" charset="0"/>
              </a:rPr>
              <a:t>，其主要功能是根据某种算法，把</a:t>
            </a:r>
            <a:r>
              <a:rPr lang="zh-CN" altLang="en-US" sz="2800" b="1" i="1" u="sng" dirty="0">
                <a:solidFill>
                  <a:schemeClr val="folHlink"/>
                </a:solidFill>
                <a:latin typeface="Arial" panose="020B0604020202020204" pitchFamily="34" charset="0"/>
              </a:rPr>
              <a:t>外存上处于后备队列中的那些作业调入内存</a:t>
            </a:r>
            <a:r>
              <a:rPr lang="zh-CN" altLang="en-US" sz="2800" b="1" dirty="0">
                <a:latin typeface="Arial" panose="020B0604020202020204" pitchFamily="34" charset="0"/>
              </a:rPr>
              <a:t>，也就是说，它的</a:t>
            </a:r>
            <a:r>
              <a:rPr lang="zh-CN" altLang="en-US" sz="2800" b="1" i="1" u="sng" dirty="0">
                <a:solidFill>
                  <a:schemeClr val="folHlink"/>
                </a:solidFill>
                <a:latin typeface="Arial" panose="020B0604020202020204" pitchFamily="34" charset="0"/>
              </a:rPr>
              <a:t>调度对象是作业</a:t>
            </a:r>
            <a:r>
              <a:rPr lang="zh-CN" altLang="en-US" sz="2800" b="1" dirty="0">
                <a:latin typeface="Arial" panose="020B0604020202020204" pitchFamily="34" charset="0"/>
              </a:rPr>
              <a:t>。</a:t>
            </a:r>
            <a:r>
              <a:rPr lang="zh-CN" altLang="en-US" sz="2800" b="1" dirty="0">
                <a:latin typeface="Times New Roman" panose="02020603050405020304" pitchFamily="18" charset="0"/>
              </a:rPr>
              <a:t>在每次执行作业调度时，都须做出以下两个决定。</a:t>
            </a:r>
            <a:endParaRPr lang="zh-CN" altLang="en-US" sz="2400" b="1" dirty="0">
              <a:latin typeface="Times New Roman" panose="02020603050405020304" pitchFamily="18" charset="0"/>
            </a:endParaRPr>
          </a:p>
          <a:p>
            <a:pPr eaLnBrk="1" hangingPunct="1">
              <a:lnSpc>
                <a:spcPct val="110000"/>
              </a:lnSpc>
              <a:spcBef>
                <a:spcPct val="50000"/>
              </a:spcBef>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1) </a:t>
            </a:r>
            <a:r>
              <a:rPr lang="zh-CN" altLang="en-US" sz="2800" b="1" dirty="0">
                <a:latin typeface="Times New Roman" panose="02020603050405020304" pitchFamily="18" charset="0"/>
              </a:rPr>
              <a:t>接纳多少个作业 </a:t>
            </a:r>
            <a:endParaRPr lang="zh-CN" altLang="en-US" sz="2800" b="1" dirty="0">
              <a:latin typeface="Times New Roman" panose="02020603050405020304" pitchFamily="18" charset="0"/>
            </a:endParaRPr>
          </a:p>
          <a:p>
            <a:pPr eaLnBrk="1" hangingPunct="1">
              <a:lnSpc>
                <a:spcPct val="110000"/>
              </a:lnSpc>
              <a:spcBef>
                <a:spcPct val="50000"/>
              </a:spcBef>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2) </a:t>
            </a:r>
            <a:r>
              <a:rPr lang="zh-CN" altLang="en-US" sz="2800" b="1" dirty="0">
                <a:latin typeface="Times New Roman" panose="02020603050405020304" pitchFamily="18" charset="0"/>
              </a:rPr>
              <a:t>接纳哪些作业  按照先来先服务、短作业优先、作业优先级三种调度算法。</a:t>
            </a:r>
            <a:endParaRPr lang="zh-CN" altLang="en-US" sz="2800"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2">
                                            <p:txEl>
                                              <p:charRg st="0" end="13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2">
                                            <p:txEl>
                                              <p:charRg st="139" end="15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12">
                                            <p:txEl>
                                              <p:charRg st="152" end="19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noRot="1"/>
          </p:cNvSpPr>
          <p:nvPr>
            <p:ph idx="1"/>
          </p:nvPr>
        </p:nvSpPr>
        <p:spPr>
          <a:xfrm>
            <a:off x="301625" y="549275"/>
            <a:ext cx="8540750" cy="5549900"/>
          </a:xfrm>
          <a:ln/>
        </p:spPr>
        <p:txBody>
          <a:bodyPr vert="horz" wrap="square" lIns="91440" tIns="45720" rIns="91440" bIns="45720" anchor="t" anchorCtr="0"/>
          <a:p>
            <a:pPr eaLnBrk="1" hangingPunct="1">
              <a:lnSpc>
                <a:spcPct val="120000"/>
              </a:lnSpc>
            </a:pPr>
            <a:r>
              <a:rPr lang="en-US" altLang="zh-CN" b="1" dirty="0">
                <a:solidFill>
                  <a:schemeClr val="folHlink"/>
                </a:solidFill>
              </a:rPr>
              <a:t>3.1.2 </a:t>
            </a:r>
            <a:r>
              <a:rPr lang="zh-CN" altLang="en-US" b="1" dirty="0">
                <a:solidFill>
                  <a:schemeClr val="folHlink"/>
                </a:solidFill>
              </a:rPr>
              <a:t>低级调度</a:t>
            </a:r>
            <a:endParaRPr lang="en-US" altLang="zh-CN" b="1" dirty="0">
              <a:solidFill>
                <a:schemeClr val="folHlink"/>
              </a:solidFill>
            </a:endParaRPr>
          </a:p>
          <a:p>
            <a:pPr eaLnBrk="1" hangingPunct="1">
              <a:lnSpc>
                <a:spcPct val="120000"/>
              </a:lnSpc>
            </a:pPr>
            <a:endParaRPr lang="zh-CN" altLang="en-US" b="1" dirty="0">
              <a:solidFill>
                <a:schemeClr val="folHlink"/>
              </a:solidFill>
            </a:endParaRPr>
          </a:p>
          <a:p>
            <a:pPr eaLnBrk="1" hangingPunct="1">
              <a:lnSpc>
                <a:spcPct val="120000"/>
              </a:lnSpc>
            </a:pPr>
            <a:r>
              <a:rPr lang="zh-CN" altLang="en-US" sz="2800" b="1" dirty="0"/>
              <a:t>通常也把低级调度</a:t>
            </a:r>
            <a:r>
              <a:rPr lang="en-US" altLang="zh-CN" sz="2800" b="1" dirty="0"/>
              <a:t>(Low Level Scheduling)</a:t>
            </a:r>
            <a:r>
              <a:rPr lang="zh-CN" altLang="en-US" sz="2800" b="1" dirty="0"/>
              <a:t>称为进程调度或短程调度</a:t>
            </a:r>
            <a:r>
              <a:rPr lang="en-US" altLang="zh-CN" sz="2800" b="1" dirty="0"/>
              <a:t>(ShortTerm Scheduling)</a:t>
            </a:r>
            <a:r>
              <a:rPr lang="zh-CN" altLang="en-US" sz="2800" b="1" dirty="0"/>
              <a:t>，它所调度的对象是进程</a:t>
            </a:r>
            <a:r>
              <a:rPr lang="en-US" altLang="zh-CN" sz="2800" b="1" dirty="0"/>
              <a:t>(</a:t>
            </a:r>
            <a:r>
              <a:rPr lang="zh-CN" altLang="en-US" sz="2800" b="1" dirty="0"/>
              <a:t>或内核级线程</a:t>
            </a:r>
            <a:r>
              <a:rPr lang="en-US" altLang="zh-CN" sz="2800" b="1" dirty="0"/>
              <a:t>)</a:t>
            </a:r>
            <a:r>
              <a:rPr lang="zh-CN" altLang="en-US" sz="2800" b="1" dirty="0"/>
              <a:t>。</a:t>
            </a:r>
            <a:endParaRPr lang="zh-CN" altLang="en-US" sz="2800" b="1" dirty="0"/>
          </a:p>
          <a:p>
            <a:pPr eaLnBrk="1" hangingPunct="1">
              <a:lnSpc>
                <a:spcPct val="120000"/>
              </a:lnSpc>
            </a:pPr>
            <a:r>
              <a:rPr lang="zh-CN" altLang="en-US" sz="2800" b="1" dirty="0"/>
              <a:t>进程调度是最基本的一种调度，在多道批处理、分时和实时三种类型的</a:t>
            </a:r>
            <a:r>
              <a:rPr lang="en-US" altLang="zh-CN" sz="2800" b="1" dirty="0"/>
              <a:t>OS</a:t>
            </a:r>
            <a:r>
              <a:rPr lang="zh-CN" altLang="en-US" sz="2800" b="1" dirty="0"/>
              <a:t>中，都必须配置这级调度。</a:t>
            </a:r>
            <a:endParaRPr lang="zh-CN" altLang="en-US" sz="2800" b="1" dirty="0"/>
          </a:p>
          <a:p>
            <a:pPr eaLnBrk="1" hangingPunct="1">
              <a:lnSpc>
                <a:spcPct val="120000"/>
              </a:lnSpc>
            </a:pPr>
            <a:endParaRPr lang="zh-CN" altLang="en-US" b="1"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3"/>
          <p:cNvSpPr>
            <a:spLocks noGrp="1" noRot="1"/>
          </p:cNvSpPr>
          <p:nvPr>
            <p:ph type="body" idx="4294967295"/>
          </p:nvPr>
        </p:nvSpPr>
        <p:spPr>
          <a:xfrm>
            <a:off x="152400" y="620713"/>
            <a:ext cx="8610600" cy="4679950"/>
          </a:xfrm>
          <a:ln/>
        </p:spPr>
        <p:txBody>
          <a:bodyPr vert="horz" wrap="square" lIns="91440" tIns="45720" rIns="91440" bIns="45720" anchor="t" anchorCtr="0"/>
          <a:p>
            <a:pPr algn="just" eaLnBrk="1" hangingPunct="1">
              <a:lnSpc>
                <a:spcPct val="120000"/>
              </a:lnSpc>
            </a:pPr>
            <a:r>
              <a:rPr lang="zh-CN" altLang="en-US" b="1" dirty="0"/>
              <a:t>进程调度的基本概念</a:t>
            </a:r>
            <a:endParaRPr lang="zh-CN" altLang="en-US" b="1" dirty="0"/>
          </a:p>
          <a:p>
            <a:pPr lvl="1" eaLnBrk="1" hangingPunct="1">
              <a:lnSpc>
                <a:spcPct val="120000"/>
              </a:lnSpc>
            </a:pPr>
            <a:r>
              <a:rPr lang="zh-CN" altLang="en-US" b="1" dirty="0">
                <a:solidFill>
                  <a:schemeClr val="folHlink"/>
                </a:solidFill>
              </a:rPr>
              <a:t>进程调度的实质</a:t>
            </a:r>
            <a:r>
              <a:rPr lang="en-US" altLang="zh-CN" b="1" dirty="0">
                <a:solidFill>
                  <a:schemeClr val="folHlink"/>
                </a:solidFill>
              </a:rPr>
              <a:t>: </a:t>
            </a:r>
            <a:r>
              <a:rPr lang="zh-CN" altLang="en-US" b="1" dirty="0"/>
              <a:t>就是将处理器资源合理分配给适当的进程，一方面确保任务的时间约束能被满足，另一方面尽量提高处理器资源的利用率。</a:t>
            </a:r>
            <a:endParaRPr lang="zh-CN" altLang="en-US" b="1" dirty="0"/>
          </a:p>
          <a:p>
            <a:pPr lvl="1" eaLnBrk="1" hangingPunct="1">
              <a:lnSpc>
                <a:spcPct val="120000"/>
              </a:lnSpc>
            </a:pPr>
            <a:r>
              <a:rPr lang="zh-CN" altLang="en-US" b="1" dirty="0"/>
              <a:t>进程调度就是从就绪状态的进程中，挑选一个进程到处理器上运行。</a:t>
            </a:r>
            <a:endParaRPr lang="zh-CN" altLang="en-US" b="1" dirty="0"/>
          </a:p>
          <a:p>
            <a:pPr lvl="1" eaLnBrk="1" hangingPunct="1">
              <a:lnSpc>
                <a:spcPct val="120000"/>
              </a:lnSpc>
            </a:pPr>
            <a:r>
              <a:rPr lang="zh-CN" altLang="en-US" b="1" dirty="0"/>
              <a:t>操作系统中负责进程调度的程序称为进程调度器（</a:t>
            </a:r>
            <a:r>
              <a:rPr lang="en-US" altLang="zh-CN" b="1" dirty="0"/>
              <a:t>scheduler</a:t>
            </a:r>
            <a:r>
              <a:rPr lang="zh-CN" altLang="en-US" b="1" dirty="0"/>
              <a:t>）或分派器</a:t>
            </a:r>
            <a:r>
              <a:rPr lang="en-US" altLang="zh-CN" b="1" dirty="0"/>
              <a:t>(dispatch</a:t>
            </a:r>
            <a:r>
              <a:rPr lang="zh-CN" altLang="en-US" b="1" dirty="0"/>
              <a:t>）。</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charRg st="0" end="10"/>
                                            </p:txEl>
                                          </p:spTgt>
                                        </p:tgtEl>
                                        <p:attrNameLst>
                                          <p:attrName>style.visibility</p:attrName>
                                        </p:attrNameLst>
                                      </p:cBhvr>
                                      <p:to>
                                        <p:strVal val="visible"/>
                                      </p:to>
                                    </p:set>
                                    <p:animEffect transition="in" filter="fade">
                                      <p:cBhvr>
                                        <p:cTn id="7" dur="2000"/>
                                        <p:tgtEl>
                                          <p:spTgt spid="22530">
                                            <p:txEl>
                                              <p:charRg st="0" end="1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530">
                                            <p:txEl>
                                              <p:charRg st="10" end="74"/>
                                            </p:txEl>
                                          </p:spTgt>
                                        </p:tgtEl>
                                        <p:attrNameLst>
                                          <p:attrName>style.visibility</p:attrName>
                                        </p:attrNameLst>
                                      </p:cBhvr>
                                      <p:to>
                                        <p:strVal val="visible"/>
                                      </p:to>
                                    </p:set>
                                    <p:animEffect transition="in" filter="fade">
                                      <p:cBhvr>
                                        <p:cTn id="10" dur="2000"/>
                                        <p:tgtEl>
                                          <p:spTgt spid="22530">
                                            <p:txEl>
                                              <p:charRg st="10" end="74"/>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530">
                                            <p:txEl>
                                              <p:charRg st="74" end="105"/>
                                            </p:txEl>
                                          </p:spTgt>
                                        </p:tgtEl>
                                        <p:attrNameLst>
                                          <p:attrName>style.visibility</p:attrName>
                                        </p:attrNameLst>
                                      </p:cBhvr>
                                      <p:to>
                                        <p:strVal val="visible"/>
                                      </p:to>
                                    </p:set>
                                    <p:animEffect transition="in" filter="fade">
                                      <p:cBhvr>
                                        <p:cTn id="13" dur="2000"/>
                                        <p:tgtEl>
                                          <p:spTgt spid="22530">
                                            <p:txEl>
                                              <p:charRg st="74" end="105"/>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530">
                                            <p:txEl>
                                              <p:charRg st="105" end="153"/>
                                            </p:txEl>
                                          </p:spTgt>
                                        </p:tgtEl>
                                        <p:attrNameLst>
                                          <p:attrName>style.visibility</p:attrName>
                                        </p:attrNameLst>
                                      </p:cBhvr>
                                      <p:to>
                                        <p:strVal val="visible"/>
                                      </p:to>
                                    </p:set>
                                    <p:animEffect transition="in" filter="fade">
                                      <p:cBhvr>
                                        <p:cTn id="16" dur="2000"/>
                                        <p:tgtEl>
                                          <p:spTgt spid="22530">
                                            <p:txEl>
                                              <p:charRg st="105" end="15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7186"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调度</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23555" name="Rectangle 4"/>
          <p:cNvSpPr/>
          <p:nvPr>
            <p:ph type="body" idx="4294967295"/>
          </p:nvPr>
        </p:nvSpPr>
        <p:spPr>
          <a:xfrm>
            <a:off x="301625" y="1412875"/>
            <a:ext cx="8540750" cy="4498975"/>
          </a:xfrm>
          <a:ln/>
        </p:spPr>
        <p:txBody>
          <a:bodyPr vert="horz" wrap="square" lIns="91440" tIns="45720" rIns="91440" bIns="45720" anchor="t" anchorCtr="0"/>
          <a:p>
            <a:pPr eaLnBrk="1" hangingPunct="1"/>
            <a:r>
              <a:rPr lang="zh-CN" altLang="en-US" b="1" dirty="0"/>
              <a:t>调度要解决的问题</a:t>
            </a:r>
            <a:endParaRPr lang="zh-CN" altLang="en-US" b="1" dirty="0"/>
          </a:p>
          <a:p>
            <a:pPr lvl="1" eaLnBrk="1" hangingPunct="1"/>
            <a:r>
              <a:rPr lang="en-US" altLang="zh-CN" b="1" dirty="0"/>
              <a:t>WHAT</a:t>
            </a:r>
            <a:r>
              <a:rPr lang="zh-CN" altLang="en-US" b="1" dirty="0"/>
              <a:t>：按什么原则分配</a:t>
            </a:r>
            <a:r>
              <a:rPr lang="en-US" altLang="zh-CN" b="1" dirty="0"/>
              <a:t>CPU</a:t>
            </a:r>
            <a:endParaRPr lang="en-US" altLang="zh-CN" b="1" dirty="0"/>
          </a:p>
          <a:p>
            <a:pPr lvl="1" eaLnBrk="1" hangingPunct="1"/>
            <a:r>
              <a:rPr lang="en-US" altLang="zh-CN" b="1" dirty="0"/>
              <a:t>  —</a:t>
            </a:r>
            <a:r>
              <a:rPr lang="zh-CN" altLang="en-US" b="1" dirty="0"/>
              <a:t>调度算法</a:t>
            </a:r>
            <a:endParaRPr lang="zh-CN" altLang="en-US" b="1" dirty="0"/>
          </a:p>
          <a:p>
            <a:pPr lvl="1" eaLnBrk="1" hangingPunct="1"/>
            <a:r>
              <a:rPr lang="en-US" altLang="zh-CN" b="1" dirty="0"/>
              <a:t>WHEN</a:t>
            </a:r>
            <a:r>
              <a:rPr lang="zh-CN" altLang="en-US" b="1" dirty="0"/>
              <a:t>：何时分配</a:t>
            </a:r>
            <a:r>
              <a:rPr lang="en-US" altLang="zh-CN" b="1" dirty="0"/>
              <a:t>CPU</a:t>
            </a:r>
            <a:endParaRPr lang="en-US" altLang="zh-CN" b="1" dirty="0"/>
          </a:p>
          <a:p>
            <a:pPr lvl="1" eaLnBrk="1" hangingPunct="1"/>
            <a:r>
              <a:rPr lang="en-US" altLang="zh-CN" b="1" dirty="0"/>
              <a:t> —</a:t>
            </a:r>
            <a:r>
              <a:rPr lang="zh-CN" altLang="en-US" b="1" dirty="0"/>
              <a:t>调度的时机</a:t>
            </a:r>
            <a:endParaRPr lang="zh-CN" altLang="en-US" b="1" dirty="0"/>
          </a:p>
          <a:p>
            <a:pPr lvl="1" eaLnBrk="1" hangingPunct="1"/>
            <a:r>
              <a:rPr lang="en-US" altLang="zh-CN" b="1" dirty="0"/>
              <a:t>HOW</a:t>
            </a:r>
            <a:r>
              <a:rPr lang="zh-CN" altLang="en-US" b="1" dirty="0"/>
              <a:t>： 如何分配</a:t>
            </a:r>
            <a:r>
              <a:rPr lang="en-US" altLang="zh-CN" b="1" dirty="0"/>
              <a:t>CPU</a:t>
            </a:r>
            <a:endParaRPr lang="en-US" altLang="zh-CN" b="1" dirty="0"/>
          </a:p>
          <a:p>
            <a:pPr lvl="1" eaLnBrk="1" hangingPunct="1"/>
            <a:r>
              <a:rPr lang="en-US" altLang="zh-CN" b="1" dirty="0"/>
              <a:t>  —</a:t>
            </a:r>
            <a:r>
              <a:rPr lang="zh-CN" altLang="en-US" b="1" dirty="0"/>
              <a:t>调度过程及进程的上下文切换</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77186"/>
                                        </p:tgtEl>
                                        <p:attrNameLst>
                                          <p:attrName>style.visibility</p:attrName>
                                        </p:attrNameLst>
                                      </p:cBhvr>
                                      <p:to>
                                        <p:strVal val="visible"/>
                                      </p:to>
                                    </p:set>
                                    <p:animEffect transition="in" filter="fade">
                                      <p:cBhvr>
                                        <p:cTn id="7" dur="2000"/>
                                        <p:tgtEl>
                                          <p:spTgt spid="4771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555">
                                            <p:txEl>
                                              <p:charRg st="0" end="9"/>
                                            </p:txEl>
                                          </p:spTgt>
                                        </p:tgtEl>
                                        <p:attrNameLst>
                                          <p:attrName>style.visibility</p:attrName>
                                        </p:attrNameLst>
                                      </p:cBhvr>
                                      <p:to>
                                        <p:strVal val="visible"/>
                                      </p:to>
                                    </p:set>
                                    <p:animEffect transition="in" filter="fade">
                                      <p:cBhvr>
                                        <p:cTn id="12" dur="2000"/>
                                        <p:tgtEl>
                                          <p:spTgt spid="23555">
                                            <p:txEl>
                                              <p:charRg st="0" end="9"/>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3555">
                                            <p:txEl>
                                              <p:charRg st="9" end="25"/>
                                            </p:txEl>
                                          </p:spTgt>
                                        </p:tgtEl>
                                        <p:attrNameLst>
                                          <p:attrName>style.visibility</p:attrName>
                                        </p:attrNameLst>
                                      </p:cBhvr>
                                      <p:to>
                                        <p:strVal val="visible"/>
                                      </p:to>
                                    </p:set>
                                    <p:animEffect transition="in" filter="fade">
                                      <p:cBhvr>
                                        <p:cTn id="15" dur="2000"/>
                                        <p:tgtEl>
                                          <p:spTgt spid="23555">
                                            <p:txEl>
                                              <p:charRg st="9" end="25"/>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555">
                                            <p:txEl>
                                              <p:charRg st="25" end="33"/>
                                            </p:txEl>
                                          </p:spTgt>
                                        </p:tgtEl>
                                        <p:attrNameLst>
                                          <p:attrName>style.visibility</p:attrName>
                                        </p:attrNameLst>
                                      </p:cBhvr>
                                      <p:to>
                                        <p:strVal val="visible"/>
                                      </p:to>
                                    </p:set>
                                    <p:animEffect transition="in" filter="fade">
                                      <p:cBhvr>
                                        <p:cTn id="18" dur="2000"/>
                                        <p:tgtEl>
                                          <p:spTgt spid="23555">
                                            <p:txEl>
                                              <p:charRg st="25" end="3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3555">
                                            <p:txEl>
                                              <p:charRg st="33" end="46"/>
                                            </p:txEl>
                                          </p:spTgt>
                                        </p:tgtEl>
                                        <p:attrNameLst>
                                          <p:attrName>style.visibility</p:attrName>
                                        </p:attrNameLst>
                                      </p:cBhvr>
                                      <p:to>
                                        <p:strVal val="visible"/>
                                      </p:to>
                                    </p:set>
                                    <p:animEffect transition="in" filter="fade">
                                      <p:cBhvr>
                                        <p:cTn id="21" dur="2000"/>
                                        <p:tgtEl>
                                          <p:spTgt spid="23555">
                                            <p:txEl>
                                              <p:charRg st="33" end="46"/>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555">
                                            <p:txEl>
                                              <p:charRg st="46" end="54"/>
                                            </p:txEl>
                                          </p:spTgt>
                                        </p:tgtEl>
                                        <p:attrNameLst>
                                          <p:attrName>style.visibility</p:attrName>
                                        </p:attrNameLst>
                                      </p:cBhvr>
                                      <p:to>
                                        <p:strVal val="visible"/>
                                      </p:to>
                                    </p:set>
                                    <p:animEffect transition="in" filter="fade">
                                      <p:cBhvr>
                                        <p:cTn id="24" dur="2000"/>
                                        <p:tgtEl>
                                          <p:spTgt spid="23555">
                                            <p:txEl>
                                              <p:charRg st="46" end="5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3555">
                                            <p:txEl>
                                              <p:charRg st="54" end="67"/>
                                            </p:txEl>
                                          </p:spTgt>
                                        </p:tgtEl>
                                        <p:attrNameLst>
                                          <p:attrName>style.visibility</p:attrName>
                                        </p:attrNameLst>
                                      </p:cBhvr>
                                      <p:to>
                                        <p:strVal val="visible"/>
                                      </p:to>
                                    </p:set>
                                    <p:animEffect transition="in" filter="fade">
                                      <p:cBhvr>
                                        <p:cTn id="27" dur="2000"/>
                                        <p:tgtEl>
                                          <p:spTgt spid="23555">
                                            <p:txEl>
                                              <p:charRg st="54" end="67"/>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3555">
                                            <p:txEl>
                                              <p:charRg st="67" end="84"/>
                                            </p:txEl>
                                          </p:spTgt>
                                        </p:tgtEl>
                                        <p:attrNameLst>
                                          <p:attrName>style.visibility</p:attrName>
                                        </p:attrNameLst>
                                      </p:cBhvr>
                                      <p:to>
                                        <p:strVal val="visible"/>
                                      </p:to>
                                    </p:set>
                                    <p:animEffect transition="in" filter="fade">
                                      <p:cBhvr>
                                        <p:cTn id="30" dur="2000"/>
                                        <p:tgtEl>
                                          <p:spTgt spid="23555">
                                            <p:txEl>
                                              <p:charRg st="67" end="8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86" grpId="0"/>
      <p:bldP spid="2355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4"/>
          <p:cNvSpPr/>
          <p:nvPr/>
        </p:nvSpPr>
        <p:spPr>
          <a:xfrm>
            <a:off x="609600" y="304800"/>
            <a:ext cx="8305800" cy="60960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eaLnBrk="1" hangingPunct="1"/>
            <a:endParaRPr lang="zh-CN" altLang="zh-CN" dirty="0">
              <a:latin typeface="Arial" panose="020B0604020202020204" pitchFamily="34" charset="0"/>
            </a:endParaRPr>
          </a:p>
        </p:txBody>
      </p:sp>
      <p:sp>
        <p:nvSpPr>
          <p:cNvPr id="507910" name="Rectangle 6"/>
          <p:cNvSpPr>
            <a:spLocks noChangeArrowheads="1"/>
          </p:cNvSpPr>
          <p:nvPr/>
        </p:nvSpPr>
        <p:spPr bwMode="auto">
          <a:xfrm>
            <a:off x="762000" y="5943600"/>
            <a:ext cx="7813675" cy="533400"/>
          </a:xfrm>
          <a:prstGeom prst="rect">
            <a:avLst/>
          </a:prstGeom>
          <a:noFill/>
          <a:ln w="9525">
            <a:noFill/>
            <a:miter lim="800000"/>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080808"/>
                </a:solidFill>
                <a:effectLst>
                  <a:outerShdw blurRad="38100" dist="38100" dir="2700000" algn="tl">
                    <a:srgbClr val="FFFFFF"/>
                  </a:outerShdw>
                </a:effectLst>
                <a:uLnTx/>
                <a:uFillTx/>
                <a:latin typeface="Arial" panose="020B0604020202020204" pitchFamily="34" charset="0"/>
                <a:ea typeface="楷体_GB2312" pitchFamily="49" charset="-122"/>
                <a:cs typeface="+mn-cs"/>
              </a:rPr>
              <a:t>调度实例：</a:t>
            </a:r>
            <a:r>
              <a:rPr kumimoji="1" lang="en-US" altLang="zh-CN" sz="2800" b="1" i="0" u="none" strike="noStrike" kern="1200" cap="none" spc="0" normalizeH="0" baseline="0" noProof="0">
                <a:ln>
                  <a:noFill/>
                </a:ln>
                <a:solidFill>
                  <a:srgbClr val="080808"/>
                </a:solidFill>
                <a:effectLst>
                  <a:outerShdw blurRad="38100" dist="38100" dir="2700000" algn="tl">
                    <a:srgbClr val="FFFFFF"/>
                  </a:outerShdw>
                </a:effectLst>
                <a:uLnTx/>
                <a:uFillTx/>
                <a:latin typeface="Arial" panose="020B0604020202020204" pitchFamily="34" charset="0"/>
                <a:ea typeface="楷体_GB2312" pitchFamily="49" charset="-122"/>
                <a:cs typeface="+mn-cs"/>
              </a:rPr>
              <a:t>Task scheduling of uCOS</a:t>
            </a:r>
            <a:endParaRPr kumimoji="1" lang="en-US" altLang="zh-CN" sz="2800" b="1" i="0" u="none" strike="noStrike" kern="1200" cap="none" spc="0" normalizeH="0" baseline="0" noProof="0">
              <a:ln>
                <a:noFill/>
              </a:ln>
              <a:solidFill>
                <a:srgbClr val="080808"/>
              </a:solidFill>
              <a:effectLst>
                <a:outerShdw blurRad="38100" dist="38100" dir="2700000" algn="tl">
                  <a:srgbClr val="FFFFFF"/>
                </a:outerShdw>
              </a:effectLst>
              <a:uLnTx/>
              <a:uFillTx/>
              <a:latin typeface="Arial" panose="020B0604020202020204" pitchFamily="34" charset="0"/>
              <a:ea typeface="楷体_GB2312" pitchFamily="49" charset="-122"/>
              <a:cs typeface="+mn-cs"/>
            </a:endParaRPr>
          </a:p>
        </p:txBody>
      </p:sp>
      <p:sp>
        <p:nvSpPr>
          <p:cNvPr id="20484" name="Rectangle 7"/>
          <p:cNvSpPr/>
          <p:nvPr/>
        </p:nvSpPr>
        <p:spPr>
          <a:xfrm>
            <a:off x="685800" y="381000"/>
            <a:ext cx="8153400" cy="5757863"/>
          </a:xfrm>
          <a:prstGeom prst="rect">
            <a:avLst/>
          </a:prstGeom>
          <a:noFill/>
          <a:ln w="9525">
            <a:noFill/>
          </a:ln>
        </p:spPr>
        <p:txBody>
          <a:bodyPr>
            <a:spAutoFit/>
          </a:bodyPr>
          <a:p>
            <a:pPr eaLnBrk="1" hangingPunct="1"/>
            <a:r>
              <a:rPr lang="en-US" altLang="ko-KR" b="1" dirty="0">
                <a:solidFill>
                  <a:srgbClr val="080808"/>
                </a:solidFill>
                <a:latin typeface="Arial" panose="020B0604020202020204" pitchFamily="34" charset="0"/>
              </a:rPr>
              <a:t>void </a:t>
            </a:r>
            <a:r>
              <a:rPr lang="en-US" altLang="ko-KR" b="1" dirty="0">
                <a:solidFill>
                  <a:srgbClr val="FF0000"/>
                </a:solidFill>
                <a:latin typeface="Arial" panose="020B0604020202020204" pitchFamily="34" charset="0"/>
              </a:rPr>
              <a:t> OS_Sched </a:t>
            </a:r>
            <a:r>
              <a:rPr lang="en-US" altLang="ko-KR" b="1" dirty="0">
                <a:solidFill>
                  <a:srgbClr val="080808"/>
                </a:solidFill>
                <a:latin typeface="Arial" panose="020B0604020202020204" pitchFamily="34" charset="0"/>
              </a:rPr>
              <a:t>(void)</a:t>
            </a:r>
            <a:endParaRPr lang="en-US" altLang="ko-KR" b="1" dirty="0">
              <a:solidFill>
                <a:srgbClr val="080808"/>
              </a:solidFill>
              <a:latin typeface="Arial" panose="020B0604020202020204" pitchFamily="34" charset="0"/>
            </a:endParaRPr>
          </a:p>
          <a:p>
            <a:pPr eaLnBrk="1" hangingPunct="1"/>
            <a:r>
              <a:rPr lang="en-US" altLang="ko-KR" b="1" dirty="0">
                <a:solidFill>
                  <a:srgbClr val="080808"/>
                </a:solidFill>
                <a:latin typeface="Arial" panose="020B0604020202020204" pitchFamily="34" charset="0"/>
              </a:rPr>
              <a:t>{</a:t>
            </a:r>
            <a:endParaRPr lang="en-US" altLang="zh-CN" b="1" dirty="0">
              <a:solidFill>
                <a:srgbClr val="080808"/>
              </a:solidFill>
              <a:latin typeface="Arial" panose="020B0604020202020204" pitchFamily="34" charset="0"/>
            </a:endParaRPr>
          </a:p>
          <a:p>
            <a:pPr eaLnBrk="1" hangingPunct="1"/>
            <a:r>
              <a:rPr lang="en-US" altLang="ko-KR" b="1" dirty="0">
                <a:solidFill>
                  <a:srgbClr val="080808"/>
                </a:solidFill>
                <a:latin typeface="Arial" panose="020B0604020202020204" pitchFamily="34" charset="0"/>
              </a:rPr>
              <a:t>    INT8U      y;</a:t>
            </a:r>
            <a:endParaRPr lang="en-US" altLang="ko-KR" b="1" dirty="0">
              <a:solidFill>
                <a:srgbClr val="080808"/>
              </a:solidFill>
              <a:latin typeface="Arial" panose="020B0604020202020204" pitchFamily="34" charset="0"/>
            </a:endParaRPr>
          </a:p>
          <a:p>
            <a:pPr eaLnBrk="1" hangingPunct="1"/>
            <a:endParaRPr lang="en-US" altLang="ko-KR" b="1" dirty="0">
              <a:solidFill>
                <a:srgbClr val="080808"/>
              </a:solidFill>
              <a:latin typeface="Arial" panose="020B0604020202020204" pitchFamily="34" charset="0"/>
            </a:endParaRPr>
          </a:p>
          <a:p>
            <a:pPr eaLnBrk="1" hangingPunct="1">
              <a:lnSpc>
                <a:spcPct val="120000"/>
              </a:lnSpc>
            </a:pPr>
            <a:r>
              <a:rPr lang="en-US" altLang="ko-KR" b="1" dirty="0">
                <a:solidFill>
                  <a:srgbClr val="080808"/>
                </a:solidFill>
                <a:latin typeface="Arial" panose="020B0604020202020204" pitchFamily="34" charset="0"/>
              </a:rPr>
              <a:t>    OS_ENTER_CRITICAL();</a:t>
            </a:r>
            <a:endParaRPr lang="en-US" altLang="ko-KR" b="1" dirty="0">
              <a:solidFill>
                <a:srgbClr val="080808"/>
              </a:solidFill>
              <a:latin typeface="Arial" panose="020B0604020202020204" pitchFamily="34" charset="0"/>
            </a:endParaRPr>
          </a:p>
          <a:p>
            <a:pPr eaLnBrk="1" hangingPunct="1">
              <a:lnSpc>
                <a:spcPct val="120000"/>
              </a:lnSpc>
            </a:pPr>
            <a:r>
              <a:rPr lang="en-US" altLang="ko-KR" b="1" dirty="0">
                <a:solidFill>
                  <a:srgbClr val="080808"/>
                </a:solidFill>
                <a:latin typeface="Arial" panose="020B0604020202020204" pitchFamily="34" charset="0"/>
              </a:rPr>
              <a:t>    if ((OSIntNesting == 0) &amp;&amp; (OSLockNesting == 0)) </a:t>
            </a:r>
            <a:endParaRPr lang="en-US" altLang="zh-CN" b="1" dirty="0">
              <a:solidFill>
                <a:srgbClr val="080808"/>
              </a:solidFill>
              <a:latin typeface="Arial" panose="020B0604020202020204" pitchFamily="34" charset="0"/>
            </a:endParaRPr>
          </a:p>
          <a:p>
            <a:pPr eaLnBrk="1" hangingPunct="1">
              <a:lnSpc>
                <a:spcPct val="120000"/>
              </a:lnSpc>
            </a:pPr>
            <a:r>
              <a:rPr lang="en-US" altLang="zh-CN" b="1" dirty="0">
                <a:solidFill>
                  <a:srgbClr val="080808"/>
                </a:solidFill>
                <a:latin typeface="Arial" panose="020B0604020202020204" pitchFamily="34" charset="0"/>
              </a:rPr>
              <a:t>    </a:t>
            </a:r>
            <a:r>
              <a:rPr lang="en-US" altLang="ko-KR" b="1" dirty="0">
                <a:solidFill>
                  <a:srgbClr val="080808"/>
                </a:solidFill>
                <a:latin typeface="Arial" panose="020B0604020202020204" pitchFamily="34" charset="0"/>
              </a:rPr>
              <a:t>{/* Sched. only if all ISRs done &amp; not locked    */</a:t>
            </a:r>
            <a:endParaRPr lang="en-US" altLang="zh-CN" b="1" dirty="0">
              <a:solidFill>
                <a:srgbClr val="080808"/>
              </a:solidFill>
              <a:latin typeface="Arial" panose="020B0604020202020204" pitchFamily="34" charset="0"/>
            </a:endParaRPr>
          </a:p>
          <a:p>
            <a:pPr eaLnBrk="1" hangingPunct="1">
              <a:lnSpc>
                <a:spcPct val="120000"/>
              </a:lnSpc>
            </a:pPr>
            <a:r>
              <a:rPr lang="en-US" altLang="zh-CN" b="1" dirty="0">
                <a:solidFill>
                  <a:srgbClr val="080808"/>
                </a:solidFill>
                <a:latin typeface="Arial" panose="020B0604020202020204" pitchFamily="34" charset="0"/>
              </a:rPr>
              <a:t>        </a:t>
            </a:r>
            <a:r>
              <a:rPr lang="en-US" altLang="ko-KR" b="1" dirty="0">
                <a:solidFill>
                  <a:srgbClr val="080808"/>
                </a:solidFill>
                <a:latin typeface="Arial" panose="020B0604020202020204" pitchFamily="34" charset="0"/>
              </a:rPr>
              <a:t>y = OSUnMapTbl[OSRdyGrp]; /*Get pointer to HPT ready*/</a:t>
            </a:r>
            <a:endParaRPr lang="en-US" altLang="ko-KR" b="1" dirty="0">
              <a:solidFill>
                <a:srgbClr val="080808"/>
              </a:solidFill>
              <a:latin typeface="Arial" panose="020B0604020202020204" pitchFamily="34" charset="0"/>
            </a:endParaRPr>
          </a:p>
          <a:p>
            <a:pPr eaLnBrk="1" hangingPunct="1">
              <a:lnSpc>
                <a:spcPct val="120000"/>
              </a:lnSpc>
            </a:pPr>
            <a:r>
              <a:rPr lang="en-US" altLang="ko-KR" b="1" dirty="0">
                <a:solidFill>
                  <a:srgbClr val="080808"/>
                </a:solidFill>
                <a:latin typeface="Arial" panose="020B0604020202020204" pitchFamily="34" charset="0"/>
              </a:rPr>
              <a:t>        OSPrioHighRdy = (INT8U)((y &lt;&lt; 3) +OSUnMapTbl[OSRdyTbl[y]]);</a:t>
            </a:r>
            <a:endParaRPr lang="en-US" altLang="ko-KR" b="1" dirty="0">
              <a:solidFill>
                <a:srgbClr val="080808"/>
              </a:solidFill>
              <a:latin typeface="Arial" panose="020B0604020202020204" pitchFamily="34" charset="0"/>
            </a:endParaRPr>
          </a:p>
          <a:p>
            <a:pPr eaLnBrk="1" hangingPunct="1">
              <a:lnSpc>
                <a:spcPct val="120000"/>
              </a:lnSpc>
            </a:pPr>
            <a:r>
              <a:rPr lang="en-US" altLang="ko-KR" b="1" dirty="0">
                <a:solidFill>
                  <a:srgbClr val="080808"/>
                </a:solidFill>
                <a:latin typeface="Arial" panose="020B0604020202020204" pitchFamily="34" charset="0"/>
              </a:rPr>
              <a:t>        if (OSPrioHighRdy != OSPrioCur) </a:t>
            </a:r>
            <a:endParaRPr lang="en-US" altLang="zh-CN" b="1" dirty="0">
              <a:solidFill>
                <a:srgbClr val="080808"/>
              </a:solidFill>
              <a:latin typeface="Arial" panose="020B0604020202020204" pitchFamily="34" charset="0"/>
            </a:endParaRPr>
          </a:p>
          <a:p>
            <a:pPr eaLnBrk="1" hangingPunct="1">
              <a:lnSpc>
                <a:spcPct val="120000"/>
              </a:lnSpc>
            </a:pPr>
            <a:r>
              <a:rPr lang="en-US" altLang="zh-CN" b="1" dirty="0">
                <a:solidFill>
                  <a:srgbClr val="080808"/>
                </a:solidFill>
                <a:latin typeface="Arial" panose="020B0604020202020204" pitchFamily="34" charset="0"/>
              </a:rPr>
              <a:t>        </a:t>
            </a:r>
            <a:r>
              <a:rPr lang="en-US" altLang="ko-KR" b="1" dirty="0">
                <a:solidFill>
                  <a:srgbClr val="080808"/>
                </a:solidFill>
                <a:latin typeface="Arial" panose="020B0604020202020204" pitchFamily="34" charset="0"/>
              </a:rPr>
              <a:t>{   /* No Ctx Sw if current task is highest rdy </a:t>
            </a:r>
            <a:r>
              <a:rPr lang="en-US" altLang="zh-CN" b="1" dirty="0">
                <a:solidFill>
                  <a:srgbClr val="080808"/>
                </a:solidFill>
                <a:latin typeface="Arial" panose="020B0604020202020204" pitchFamily="34" charset="0"/>
              </a:rPr>
              <a:t> </a:t>
            </a:r>
            <a:r>
              <a:rPr lang="en-US" altLang="ko-KR" b="1" dirty="0">
                <a:solidFill>
                  <a:srgbClr val="080808"/>
                </a:solidFill>
                <a:latin typeface="Arial" panose="020B0604020202020204" pitchFamily="34" charset="0"/>
              </a:rPr>
              <a:t>*/</a:t>
            </a:r>
            <a:endParaRPr lang="en-US" altLang="ko-KR" b="1" dirty="0">
              <a:solidFill>
                <a:srgbClr val="080808"/>
              </a:solidFill>
              <a:latin typeface="Arial" panose="020B0604020202020204" pitchFamily="34" charset="0"/>
            </a:endParaRPr>
          </a:p>
          <a:p>
            <a:pPr eaLnBrk="1" hangingPunct="1">
              <a:lnSpc>
                <a:spcPct val="120000"/>
              </a:lnSpc>
            </a:pPr>
            <a:r>
              <a:rPr lang="en-US" altLang="ko-KR" b="1" dirty="0">
                <a:solidFill>
                  <a:srgbClr val="080808"/>
                </a:solidFill>
                <a:latin typeface="Arial" panose="020B0604020202020204" pitchFamily="34" charset="0"/>
              </a:rPr>
              <a:t>            OSTCBHighRdy = OSTCBPrioTbl[OSPrioHighRdy];</a:t>
            </a:r>
            <a:endParaRPr lang="en-US" altLang="ko-KR" b="1" dirty="0">
              <a:solidFill>
                <a:srgbClr val="080808"/>
              </a:solidFill>
              <a:latin typeface="Arial" panose="020B0604020202020204" pitchFamily="34" charset="0"/>
            </a:endParaRPr>
          </a:p>
          <a:p>
            <a:pPr eaLnBrk="1" hangingPunct="1">
              <a:lnSpc>
                <a:spcPct val="120000"/>
              </a:lnSpc>
            </a:pPr>
            <a:r>
              <a:rPr lang="en-US" altLang="ko-KR" b="1" dirty="0">
                <a:solidFill>
                  <a:srgbClr val="080808"/>
                </a:solidFill>
                <a:latin typeface="Arial" panose="020B0604020202020204" pitchFamily="34" charset="0"/>
              </a:rPr>
              <a:t>            OSCtxSwCtr++;   /* Increment context switch counter */</a:t>
            </a:r>
            <a:endParaRPr lang="en-US" altLang="ko-KR" b="1" dirty="0">
              <a:solidFill>
                <a:srgbClr val="080808"/>
              </a:solidFill>
              <a:latin typeface="Arial" panose="020B0604020202020204" pitchFamily="34" charset="0"/>
            </a:endParaRPr>
          </a:p>
          <a:p>
            <a:pPr eaLnBrk="1" hangingPunct="1">
              <a:lnSpc>
                <a:spcPct val="120000"/>
              </a:lnSpc>
            </a:pPr>
            <a:r>
              <a:rPr lang="en-US" altLang="ko-KR" b="1" dirty="0">
                <a:solidFill>
                  <a:srgbClr val="080808"/>
                </a:solidFill>
                <a:latin typeface="Arial" panose="020B0604020202020204" pitchFamily="34" charset="0"/>
              </a:rPr>
              <a:t>            </a:t>
            </a:r>
            <a:r>
              <a:rPr lang="en-US" altLang="ko-KR" b="1" dirty="0">
                <a:solidFill>
                  <a:srgbClr val="FF0000"/>
                </a:solidFill>
                <a:latin typeface="Arial" panose="020B0604020202020204" pitchFamily="34" charset="0"/>
              </a:rPr>
              <a:t>OS_TASK_SW();</a:t>
            </a:r>
            <a:r>
              <a:rPr lang="en-US" altLang="ko-KR" b="1" dirty="0">
                <a:solidFill>
                  <a:srgbClr val="080808"/>
                </a:solidFill>
                <a:latin typeface="Arial" panose="020B0604020202020204" pitchFamily="34" charset="0"/>
              </a:rPr>
              <a:t>   /* Perform a context switch */</a:t>
            </a:r>
            <a:endParaRPr lang="en-US" altLang="ko-KR" b="1" dirty="0">
              <a:solidFill>
                <a:srgbClr val="080808"/>
              </a:solidFill>
              <a:latin typeface="Arial" panose="020B0604020202020204" pitchFamily="34" charset="0"/>
            </a:endParaRPr>
          </a:p>
          <a:p>
            <a:pPr eaLnBrk="1" hangingPunct="1">
              <a:lnSpc>
                <a:spcPct val="120000"/>
              </a:lnSpc>
            </a:pPr>
            <a:r>
              <a:rPr lang="en-US" altLang="ko-KR" b="1" dirty="0">
                <a:solidFill>
                  <a:srgbClr val="080808"/>
                </a:solidFill>
                <a:latin typeface="Arial" panose="020B0604020202020204" pitchFamily="34" charset="0"/>
              </a:rPr>
              <a:t>        }</a:t>
            </a:r>
            <a:endParaRPr lang="en-US" altLang="ko-KR" b="1" dirty="0">
              <a:solidFill>
                <a:srgbClr val="080808"/>
              </a:solidFill>
              <a:latin typeface="Arial" panose="020B0604020202020204" pitchFamily="34" charset="0"/>
            </a:endParaRPr>
          </a:p>
          <a:p>
            <a:pPr eaLnBrk="1" hangingPunct="1">
              <a:lnSpc>
                <a:spcPct val="120000"/>
              </a:lnSpc>
            </a:pPr>
            <a:r>
              <a:rPr lang="en-US" altLang="ko-KR" b="1" dirty="0">
                <a:solidFill>
                  <a:srgbClr val="080808"/>
                </a:solidFill>
                <a:latin typeface="Arial" panose="020B0604020202020204" pitchFamily="34" charset="0"/>
              </a:rPr>
              <a:t>    }</a:t>
            </a:r>
            <a:endParaRPr lang="en-US" altLang="ko-KR" b="1" dirty="0">
              <a:solidFill>
                <a:srgbClr val="080808"/>
              </a:solidFill>
              <a:latin typeface="Arial" panose="020B0604020202020204" pitchFamily="34" charset="0"/>
            </a:endParaRPr>
          </a:p>
          <a:p>
            <a:pPr eaLnBrk="1" hangingPunct="1">
              <a:lnSpc>
                <a:spcPct val="120000"/>
              </a:lnSpc>
            </a:pPr>
            <a:r>
              <a:rPr lang="en-US" altLang="ko-KR" b="1" dirty="0">
                <a:solidFill>
                  <a:srgbClr val="080808"/>
                </a:solidFill>
                <a:latin typeface="Arial" panose="020B0604020202020204" pitchFamily="34" charset="0"/>
              </a:rPr>
              <a:t>    OS_EXIT_CRITICAL();</a:t>
            </a:r>
            <a:endParaRPr lang="en-US" altLang="ko-KR" b="1" dirty="0">
              <a:solidFill>
                <a:srgbClr val="080808"/>
              </a:solidFill>
              <a:latin typeface="Arial" panose="020B0604020202020204" pitchFamily="34" charset="0"/>
            </a:endParaRPr>
          </a:p>
          <a:p>
            <a:pPr eaLnBrk="1" hangingPunct="1"/>
            <a:r>
              <a:rPr lang="en-US" altLang="ko-KR" b="1" dirty="0">
                <a:solidFill>
                  <a:srgbClr val="080808"/>
                </a:solidFill>
                <a:latin typeface="Arial" panose="020B0604020202020204" pitchFamily="34" charset="0"/>
              </a:rPr>
              <a:t>}</a:t>
            </a:r>
            <a:endParaRPr lang="en-US" altLang="ko-KR" b="1" dirty="0">
              <a:solidFill>
                <a:srgbClr val="080808"/>
              </a:solidFill>
              <a:latin typeface="Arial" panose="020B0604020202020204" pitchFamily="34"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ext Box 4"/>
          <p:cNvSpPr txBox="1"/>
          <p:nvPr/>
        </p:nvSpPr>
        <p:spPr>
          <a:xfrm>
            <a:off x="323850" y="188913"/>
            <a:ext cx="8496300" cy="6480175"/>
          </a:xfrm>
          <a:prstGeom prst="rect">
            <a:avLst/>
          </a:prstGeom>
          <a:solidFill>
            <a:srgbClr val="CCFFCC"/>
          </a:solidFill>
          <a:ln w="9525">
            <a:noFill/>
          </a:ln>
        </p:spPr>
        <p:txBody>
          <a:bodyPr/>
          <a:p>
            <a:pPr marL="342900" indent="-342900" eaLnBrk="1" hangingPunct="1"/>
            <a:r>
              <a:rPr lang="en-US" altLang="ko-KR" sz="1400" b="1" dirty="0">
                <a:solidFill>
                  <a:srgbClr val="080808"/>
                </a:solidFill>
                <a:latin typeface="Times New Roman" panose="02020603050405020304" pitchFamily="18" charset="0"/>
              </a:rPr>
              <a:t>INT8U  OSTaskSuspend (INT8U prio)</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BOOLEAN    self;</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OS_TCB    *ptcb;</a:t>
            </a:r>
            <a:endParaRPr lang="en-US" altLang="zh-CN" sz="1400" b="1" dirty="0">
              <a:solidFill>
                <a:srgbClr val="080808"/>
              </a:solidFill>
              <a:latin typeface="Times New Roman" panose="02020603050405020304" pitchFamily="18" charset="0"/>
            </a:endParaRPr>
          </a:p>
          <a:p>
            <a:pPr marL="342900" indent="-342900" eaLnBrk="1" hangingPunct="1"/>
            <a:r>
              <a:rPr lang="en-US" altLang="zh-CN" sz="2400" dirty="0">
                <a:solidFill>
                  <a:srgbClr val="080808"/>
                </a:solidFill>
                <a:latin typeface="Times New Roman" panose="02020603050405020304" pitchFamily="18" charset="0"/>
              </a:rPr>
              <a:t>  </a:t>
            </a:r>
            <a:r>
              <a:rPr lang="en-US" altLang="ko-KR" sz="1400" b="1" dirty="0">
                <a:solidFill>
                  <a:srgbClr val="080808"/>
                </a:solidFill>
                <a:latin typeface="Times New Roman" panose="02020603050405020304" pitchFamily="18" charset="0"/>
              </a:rPr>
              <a:t>OS_ENTER_CRITICAL();</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if (prio == OS_PRIO_SELF) {                               </a:t>
            </a:r>
            <a:r>
              <a:rPr lang="en-US" altLang="zh-CN" sz="1400" b="1" dirty="0">
                <a:solidFill>
                  <a:srgbClr val="080808"/>
                </a:solidFill>
                <a:latin typeface="Times New Roman" panose="02020603050405020304" pitchFamily="18" charset="0"/>
              </a:rPr>
              <a:t>         </a:t>
            </a:r>
            <a:r>
              <a:rPr lang="en-US" altLang="ko-KR" sz="1400" b="1" dirty="0">
                <a:solidFill>
                  <a:srgbClr val="080808"/>
                </a:solidFill>
                <a:latin typeface="Times New Roman" panose="02020603050405020304" pitchFamily="18" charset="0"/>
              </a:rPr>
              <a:t>  /* See if suspend SELF                 */</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prio = OSTCBCur-&gt;OSTCBPrio;</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self = TRUE;</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 else if (prio == OSTCBCur-&gt;OSTCBPrio) {                   /* See if suspending self              */</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self = TRUE;</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 else {</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self = FALSE;                                           </a:t>
            </a:r>
            <a:r>
              <a:rPr lang="en-US" altLang="zh-CN" sz="1400" b="1" dirty="0">
                <a:solidFill>
                  <a:srgbClr val="080808"/>
                </a:solidFill>
                <a:latin typeface="Times New Roman" panose="02020603050405020304" pitchFamily="18" charset="0"/>
              </a:rPr>
              <a:t>                 </a:t>
            </a:r>
            <a:r>
              <a:rPr lang="en-US" altLang="ko-KR" sz="1400" b="1" dirty="0">
                <a:solidFill>
                  <a:srgbClr val="080808"/>
                </a:solidFill>
                <a:latin typeface="Times New Roman" panose="02020603050405020304" pitchFamily="18" charset="0"/>
              </a:rPr>
              <a:t>/* No suspending another task          */</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ptcb = OSTCBPrioTbl[prio];</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if (ptcb == (OS_TCB *)0) {                                  </a:t>
            </a:r>
            <a:r>
              <a:rPr lang="en-US" altLang="zh-CN" sz="1400" b="1" dirty="0">
                <a:solidFill>
                  <a:srgbClr val="080808"/>
                </a:solidFill>
                <a:latin typeface="Times New Roman" panose="02020603050405020304" pitchFamily="18" charset="0"/>
              </a:rPr>
              <a:t>          </a:t>
            </a:r>
            <a:r>
              <a:rPr lang="en-US" altLang="ko-KR" sz="1400" b="1" dirty="0">
                <a:solidFill>
                  <a:srgbClr val="080808"/>
                </a:solidFill>
                <a:latin typeface="Times New Roman" panose="02020603050405020304" pitchFamily="18" charset="0"/>
              </a:rPr>
              <a:t>/* Task to suspend must exist          */</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OS_EXIT_CRITICAL();</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return (OS_TASK_SUSPEND_PRIO);</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if ((OSRdyTbl[ptcb-&gt;OSTCBY] &amp;= ~ptcb-&gt;OSTCBBitX) == 0x00) { /* Make task not ready        */</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OSRdyGrp &amp;= ~ptcb-&gt;OSTCBBitY;</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ptcb-&gt;OSTCBStat |= OS_STAT_SUSPEND;                         /* Status of task is 'SUSPENDED'       */</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OS_EXIT_CRITICAL();</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FF0000"/>
                </a:solidFill>
                <a:latin typeface="Times New Roman" panose="02020603050405020304" pitchFamily="18" charset="0"/>
              </a:rPr>
              <a:t>    if (self == TRUE) {  </a:t>
            </a:r>
            <a:r>
              <a:rPr lang="en-US" altLang="ko-KR" sz="1400" b="1" dirty="0">
                <a:solidFill>
                  <a:srgbClr val="080808"/>
                </a:solidFill>
                <a:latin typeface="Times New Roman" panose="02020603050405020304" pitchFamily="18" charset="0"/>
              </a:rPr>
              <a:t>                                       </a:t>
            </a:r>
            <a:r>
              <a:rPr lang="en-US" altLang="zh-CN" sz="1400" b="1" dirty="0">
                <a:solidFill>
                  <a:srgbClr val="080808"/>
                </a:solidFill>
                <a:latin typeface="Times New Roman" panose="02020603050405020304" pitchFamily="18" charset="0"/>
              </a:rPr>
              <a:t>                               </a:t>
            </a:r>
            <a:r>
              <a:rPr lang="en-US" altLang="ko-KR" sz="1400" b="1" dirty="0">
                <a:solidFill>
                  <a:srgbClr val="080808"/>
                </a:solidFill>
                <a:latin typeface="Times New Roman" panose="02020603050405020304" pitchFamily="18" charset="0"/>
              </a:rPr>
              <a:t>/* Context switch only if SELF         */</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a:t>
            </a:r>
            <a:r>
              <a:rPr lang="en-US" altLang="ko-KR" sz="1400" b="1" dirty="0">
                <a:solidFill>
                  <a:srgbClr val="FF0000"/>
                </a:solidFill>
                <a:latin typeface="Times New Roman" panose="02020603050405020304" pitchFamily="18" charset="0"/>
              </a:rPr>
              <a:t>OS_Sched();</a:t>
            </a:r>
            <a:endParaRPr lang="en-US" altLang="ko-KR" sz="1400" b="1" dirty="0">
              <a:solidFill>
                <a:srgbClr val="FF0000"/>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    return (OS_NO_ERR);</a:t>
            </a:r>
            <a:endParaRPr lang="en-US" altLang="ko-KR" sz="1400" b="1" dirty="0">
              <a:solidFill>
                <a:srgbClr val="080808"/>
              </a:solidFill>
              <a:latin typeface="Times New Roman" panose="02020603050405020304" pitchFamily="18" charset="0"/>
            </a:endParaRPr>
          </a:p>
          <a:p>
            <a:pPr marL="342900" indent="-342900" eaLnBrk="1" hangingPunct="1"/>
            <a:r>
              <a:rPr lang="en-US" altLang="ko-KR" sz="1400" b="1" dirty="0">
                <a:solidFill>
                  <a:srgbClr val="080808"/>
                </a:solidFill>
                <a:latin typeface="Times New Roman" panose="02020603050405020304" pitchFamily="18" charset="0"/>
              </a:rPr>
              <a:t>}</a:t>
            </a:r>
            <a:endParaRPr lang="en-US" altLang="ko-KR" sz="1400" b="1" dirty="0">
              <a:solidFill>
                <a:srgbClr val="080808"/>
              </a:solidFill>
              <a:latin typeface="Times New Roman" panose="02020603050405020304" pitchFamily="18"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3"/>
          <p:cNvSpPr>
            <a:spLocks noGrp="1" noRot="1"/>
          </p:cNvSpPr>
          <p:nvPr>
            <p:ph idx="1"/>
          </p:nvPr>
        </p:nvSpPr>
        <p:spPr>
          <a:xfrm>
            <a:off x="301625" y="549275"/>
            <a:ext cx="8540750" cy="5549900"/>
          </a:xfrm>
          <a:ln/>
        </p:spPr>
        <p:txBody>
          <a:bodyPr vert="horz" wrap="square" lIns="91440" tIns="45720" rIns="91440" bIns="45720" anchor="t" anchorCtr="0"/>
          <a:p>
            <a:pPr eaLnBrk="1" hangingPunct="1">
              <a:lnSpc>
                <a:spcPct val="120000"/>
              </a:lnSpc>
            </a:pPr>
            <a:r>
              <a:rPr lang="en-US" altLang="zh-CN" b="1" dirty="0">
                <a:solidFill>
                  <a:schemeClr val="folHlink"/>
                </a:solidFill>
              </a:rPr>
              <a:t>1</a:t>
            </a:r>
            <a:r>
              <a:rPr lang="zh-CN" altLang="en-US" b="1" dirty="0">
                <a:solidFill>
                  <a:schemeClr val="folHlink"/>
                </a:solidFill>
              </a:rPr>
              <a:t>．低级调度的功能</a:t>
            </a:r>
            <a:endParaRPr lang="zh-CN" altLang="en-US" b="1" dirty="0">
              <a:solidFill>
                <a:schemeClr val="folHlink"/>
              </a:solidFill>
            </a:endParaRPr>
          </a:p>
          <a:p>
            <a:pPr eaLnBrk="1" hangingPunct="1">
              <a:lnSpc>
                <a:spcPct val="120000"/>
              </a:lnSpc>
            </a:pPr>
            <a:r>
              <a:rPr lang="zh-CN" altLang="en-US" b="1" dirty="0"/>
              <a:t>低级调度的主要功能如下：</a:t>
            </a:r>
            <a:endParaRPr lang="zh-CN" altLang="en-US" b="1" dirty="0"/>
          </a:p>
          <a:p>
            <a:pPr eaLnBrk="1" hangingPunct="1">
              <a:lnSpc>
                <a:spcPct val="120000"/>
              </a:lnSpc>
            </a:pPr>
            <a:r>
              <a:rPr lang="en-US" altLang="zh-CN" b="1" dirty="0"/>
              <a:t>(1)</a:t>
            </a:r>
            <a:r>
              <a:rPr lang="zh-CN" altLang="en-US" b="1" dirty="0"/>
              <a:t>按某种算法选取进程（调度）。</a:t>
            </a:r>
            <a:endParaRPr lang="en-US" altLang="zh-CN" b="1" dirty="0"/>
          </a:p>
          <a:p>
            <a:pPr eaLnBrk="1" hangingPunct="1">
              <a:lnSpc>
                <a:spcPct val="120000"/>
              </a:lnSpc>
            </a:pPr>
            <a:r>
              <a:rPr lang="en-US" altLang="zh-CN" b="1" dirty="0"/>
              <a:t>(2)</a:t>
            </a:r>
            <a:r>
              <a:rPr lang="zh-CN" altLang="en-US" b="1" dirty="0"/>
              <a:t>保存处理机的现场信息（上下文切换第一步骤）</a:t>
            </a:r>
            <a:endParaRPr lang="zh-CN" altLang="en-US" b="1" dirty="0"/>
          </a:p>
          <a:p>
            <a:pPr eaLnBrk="1" hangingPunct="1">
              <a:lnSpc>
                <a:spcPct val="120000"/>
              </a:lnSpc>
            </a:pPr>
            <a:r>
              <a:rPr lang="en-US" altLang="zh-CN" b="1" dirty="0"/>
              <a:t>(3) </a:t>
            </a:r>
            <a:r>
              <a:rPr lang="zh-CN" altLang="en-US" b="1" dirty="0"/>
              <a:t>把处理器分配给进程（上下文切换第二步骤）。</a:t>
            </a:r>
            <a:endParaRPr lang="zh-CN" altLang="en-US" b="1" dirty="0"/>
          </a:p>
          <a:p>
            <a:pPr eaLnBrk="1" hangingPunct="1">
              <a:lnSpc>
                <a:spcPct val="120000"/>
              </a:lnSpc>
              <a:buNone/>
            </a:pPr>
            <a:endParaRPr lang="zh-CN" altLang="en-US" b="1"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3"/>
          <p:cNvSpPr>
            <a:spLocks noGrp="1" noRot="1"/>
          </p:cNvSpPr>
          <p:nvPr>
            <p:ph idx="1"/>
          </p:nvPr>
        </p:nvSpPr>
        <p:spPr>
          <a:xfrm>
            <a:off x="301625" y="549275"/>
            <a:ext cx="8540750" cy="5549900"/>
          </a:xfrm>
          <a:ln/>
        </p:spPr>
        <p:txBody>
          <a:bodyPr vert="horz" wrap="square" lIns="91440" tIns="45720" rIns="91440" bIns="45720" anchor="t" anchorCtr="0"/>
          <a:p>
            <a:pPr eaLnBrk="1" hangingPunct="1"/>
            <a:r>
              <a:rPr lang="en-US" altLang="zh-CN" b="1" dirty="0">
                <a:solidFill>
                  <a:schemeClr val="folHlink"/>
                </a:solidFill>
              </a:rPr>
              <a:t>2</a:t>
            </a:r>
            <a:r>
              <a:rPr lang="zh-CN" altLang="en-US" b="1" dirty="0">
                <a:solidFill>
                  <a:schemeClr val="folHlink"/>
                </a:solidFill>
              </a:rPr>
              <a:t>．进程调度中的三个基本机制</a:t>
            </a:r>
            <a:endParaRPr lang="en-US" altLang="zh-CN" b="1" dirty="0">
              <a:solidFill>
                <a:schemeClr val="folHlink"/>
              </a:solidFill>
            </a:endParaRPr>
          </a:p>
          <a:p>
            <a:pPr eaLnBrk="1" hangingPunct="1"/>
            <a:endParaRPr lang="zh-CN" altLang="en-US" b="1" dirty="0">
              <a:solidFill>
                <a:schemeClr val="folHlink"/>
              </a:solidFill>
            </a:endParaRPr>
          </a:p>
          <a:p>
            <a:pPr eaLnBrk="1" hangingPunct="1"/>
            <a:r>
              <a:rPr lang="zh-CN" altLang="en-US" sz="2800" b="1" dirty="0"/>
              <a:t>为了实现进程调度，应具有如下三个基本机制：</a:t>
            </a:r>
            <a:endParaRPr lang="zh-CN" altLang="en-US" sz="2800" b="1" dirty="0"/>
          </a:p>
          <a:p>
            <a:pPr eaLnBrk="1" hangingPunct="1"/>
            <a:r>
              <a:rPr lang="en-US" altLang="zh-CN" sz="2800" b="1" dirty="0">
                <a:solidFill>
                  <a:schemeClr val="folHlink"/>
                </a:solidFill>
              </a:rPr>
              <a:t>(1) </a:t>
            </a:r>
            <a:r>
              <a:rPr lang="zh-CN" altLang="en-US" sz="2800" b="1" dirty="0">
                <a:solidFill>
                  <a:schemeClr val="folHlink"/>
                </a:solidFill>
              </a:rPr>
              <a:t>排队器</a:t>
            </a:r>
            <a:endParaRPr lang="zh-CN" altLang="en-US" sz="2800" b="1" dirty="0">
              <a:solidFill>
                <a:schemeClr val="folHlink"/>
              </a:solidFill>
            </a:endParaRPr>
          </a:p>
          <a:p>
            <a:pPr lvl="1" eaLnBrk="1" hangingPunct="1"/>
            <a:r>
              <a:rPr lang="zh-CN" altLang="en-US" sz="2400" b="1" dirty="0"/>
              <a:t>为了提高进程调度的效率，应事先将系统中所有的就绪进程按照一定的方式排成一个或多个队列。</a:t>
            </a:r>
            <a:endParaRPr lang="zh-CN" altLang="en-US" sz="2400" b="1" dirty="0"/>
          </a:p>
          <a:p>
            <a:pPr eaLnBrk="1" hangingPunct="1"/>
            <a:r>
              <a:rPr lang="en-US" altLang="zh-CN" sz="2800" b="1" dirty="0">
                <a:solidFill>
                  <a:schemeClr val="folHlink"/>
                </a:solidFill>
              </a:rPr>
              <a:t>(2) </a:t>
            </a:r>
            <a:r>
              <a:rPr lang="zh-CN" altLang="en-US" sz="2800" b="1" dirty="0">
                <a:solidFill>
                  <a:schemeClr val="folHlink"/>
                </a:solidFill>
              </a:rPr>
              <a:t>分派器</a:t>
            </a:r>
            <a:r>
              <a:rPr lang="en-US" altLang="zh-CN" sz="2800" b="1" dirty="0">
                <a:solidFill>
                  <a:schemeClr val="folHlink"/>
                </a:solidFill>
              </a:rPr>
              <a:t>(</a:t>
            </a:r>
            <a:r>
              <a:rPr lang="zh-CN" altLang="en-US" sz="2800" b="1" dirty="0">
                <a:solidFill>
                  <a:schemeClr val="folHlink"/>
                </a:solidFill>
              </a:rPr>
              <a:t>调度程序</a:t>
            </a:r>
            <a:r>
              <a:rPr lang="en-US" altLang="zh-CN" sz="2800" b="1" dirty="0">
                <a:solidFill>
                  <a:schemeClr val="folHlink"/>
                </a:solidFill>
              </a:rPr>
              <a:t>)</a:t>
            </a:r>
            <a:endParaRPr lang="zh-CN" altLang="en-US" sz="2800" b="1" dirty="0">
              <a:solidFill>
                <a:schemeClr val="folHlink"/>
              </a:solidFill>
            </a:endParaRPr>
          </a:p>
          <a:p>
            <a:pPr lvl="1" eaLnBrk="1" hangingPunct="1"/>
            <a:r>
              <a:rPr lang="zh-CN" altLang="en-US" sz="2400" b="1" dirty="0"/>
              <a:t>分派器把由进程调度程序所选定的进程，从就绪队列中取出该进程</a:t>
            </a:r>
            <a:r>
              <a:rPr lang="en-US" altLang="zh-CN" sz="2400" b="1" dirty="0"/>
              <a:t>, </a:t>
            </a:r>
            <a:r>
              <a:rPr lang="zh-CN" altLang="en-US" sz="2400" b="1" dirty="0"/>
              <a:t>将处理机分配给它。</a:t>
            </a:r>
            <a:endParaRPr lang="zh-CN" altLang="en-US" sz="2400" b="1" dirty="0"/>
          </a:p>
          <a:p>
            <a:pPr eaLnBrk="1" hangingPunct="1"/>
            <a:r>
              <a:rPr lang="en-US" altLang="zh-CN" sz="2800" b="1" dirty="0">
                <a:solidFill>
                  <a:schemeClr val="folHlink"/>
                </a:solidFill>
              </a:rPr>
              <a:t>(3) </a:t>
            </a:r>
            <a:r>
              <a:rPr lang="zh-CN" altLang="en-US" sz="2800" b="1" dirty="0">
                <a:solidFill>
                  <a:schemeClr val="folHlink"/>
                </a:solidFill>
              </a:rPr>
              <a:t>上下文切换机制</a:t>
            </a:r>
            <a:endParaRPr lang="zh-CN" altLang="en-US" sz="2800" b="1" dirty="0">
              <a:solidFill>
                <a:schemeClr val="folHlink"/>
              </a:solidFill>
            </a:endParaRPr>
          </a:p>
          <a:p>
            <a:pPr lvl="1" eaLnBrk="1" hangingPunct="1"/>
            <a:r>
              <a:rPr lang="zh-CN" altLang="en-US" sz="2400" b="1" dirty="0"/>
              <a:t>当对处理机进行切换时，会发生两对上下文切换操作。</a:t>
            </a:r>
            <a:endParaRPr lang="zh-CN" altLang="en-US" sz="2400" b="1" dirty="0"/>
          </a:p>
          <a:p>
            <a:pPr eaLnBrk="1" hangingPunct="1"/>
            <a:endParaRPr lang="zh-CN" altLang="en-US" sz="2800" b="1"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3"/>
          <p:cNvSpPr>
            <a:spLocks noGrp="1" noRot="1"/>
          </p:cNvSpPr>
          <p:nvPr>
            <p:ph idx="1"/>
          </p:nvPr>
        </p:nvSpPr>
        <p:spPr>
          <a:xfrm>
            <a:off x="301625" y="1268413"/>
            <a:ext cx="8447088" cy="4679950"/>
          </a:xfrm>
          <a:ln/>
        </p:spPr>
        <p:txBody>
          <a:bodyPr vert="horz" wrap="square" lIns="91440" tIns="45720" rIns="91440" bIns="45720" anchor="t" anchorCtr="0"/>
          <a:p>
            <a:pPr eaLnBrk="1" hangingPunct="1">
              <a:lnSpc>
                <a:spcPct val="120000"/>
              </a:lnSpc>
            </a:pPr>
            <a:r>
              <a:rPr lang="zh-CN" altLang="en-US" sz="2800" b="1" dirty="0"/>
              <a:t> </a:t>
            </a:r>
            <a:r>
              <a:rPr lang="en-US" altLang="zh-CN" sz="2800" b="1" dirty="0">
                <a:solidFill>
                  <a:schemeClr val="folHlink"/>
                </a:solidFill>
              </a:rPr>
              <a:t>1) </a:t>
            </a:r>
            <a:r>
              <a:rPr lang="zh-CN" altLang="en-US" sz="2800" b="1" dirty="0">
                <a:solidFill>
                  <a:schemeClr val="folHlink"/>
                </a:solidFill>
              </a:rPr>
              <a:t>非抢占方式</a:t>
            </a:r>
            <a:r>
              <a:rPr lang="en-US" altLang="zh-CN" sz="2800" b="1" dirty="0">
                <a:solidFill>
                  <a:schemeClr val="folHlink"/>
                </a:solidFill>
              </a:rPr>
              <a:t>(Non-preemptive Mode)</a:t>
            </a:r>
            <a:endParaRPr lang="zh-CN" altLang="en-US" sz="2800" b="1" dirty="0"/>
          </a:p>
          <a:p>
            <a:pPr eaLnBrk="1" hangingPunct="1">
              <a:lnSpc>
                <a:spcPct val="120000"/>
              </a:lnSpc>
            </a:pPr>
            <a:r>
              <a:rPr lang="zh-CN" altLang="en-US" sz="2800" b="1" dirty="0"/>
              <a:t>在采用这种调度方式时，一旦把处理机分配给某进程后，不管它要运行多长时间，都一直让它运行下去，</a:t>
            </a:r>
            <a:r>
              <a:rPr lang="zh-CN" altLang="en-US" sz="2800" b="1" dirty="0">
                <a:solidFill>
                  <a:srgbClr val="FF0000"/>
                </a:solidFill>
              </a:rPr>
              <a:t>决不会因为时钟中断等原因而抢占正在运行进程的处理机，也不允许其它进程抢占已经分配给它的处理机。</a:t>
            </a:r>
            <a:endParaRPr lang="zh-CN" altLang="en-US" sz="2800" b="1" dirty="0">
              <a:solidFill>
                <a:srgbClr val="FF0000"/>
              </a:solidFill>
            </a:endParaRPr>
          </a:p>
          <a:p>
            <a:pPr eaLnBrk="1" hangingPunct="1">
              <a:lnSpc>
                <a:spcPct val="120000"/>
              </a:lnSpc>
            </a:pPr>
            <a:r>
              <a:rPr lang="zh-CN" altLang="en-US" sz="2800" b="1" dirty="0"/>
              <a:t>直至该进程完成，自愿释放处理机，或发生某事件而被阻塞时，才再把处理机分配给其他进程。</a:t>
            </a:r>
            <a:endParaRPr lang="zh-CN" altLang="en-US" sz="2800" b="1" dirty="0"/>
          </a:p>
          <a:p>
            <a:pPr eaLnBrk="1" hangingPunct="1">
              <a:lnSpc>
                <a:spcPct val="120000"/>
              </a:lnSpc>
            </a:pPr>
            <a:endParaRPr lang="zh-CN" altLang="en-US" sz="2800" b="1" dirty="0"/>
          </a:p>
        </p:txBody>
      </p:sp>
      <p:sp>
        <p:nvSpPr>
          <p:cNvPr id="24579" name="Text Box 4"/>
          <p:cNvSpPr/>
          <p:nvPr>
            <p:ph type="title"/>
          </p:nvPr>
        </p:nvSpPr>
        <p:spPr>
          <a:xfrm>
            <a:off x="323850" y="404813"/>
            <a:ext cx="8540750" cy="823912"/>
          </a:xfrm>
          <a:ln/>
        </p:spPr>
        <p:txBody>
          <a:bodyPr vert="horz" wrap="square" lIns="91440" tIns="45720" rIns="91440" bIns="45720" anchor="ctr" anchorCtr="0"/>
          <a:p>
            <a:pPr algn="l" eaLnBrk="1" hangingPunct="1"/>
            <a:r>
              <a:rPr lang="en-US" altLang="zh-CN" sz="3600" b="1" dirty="0">
                <a:solidFill>
                  <a:schemeClr val="folHlink"/>
                </a:solidFill>
              </a:rPr>
              <a:t>3. </a:t>
            </a:r>
            <a:r>
              <a:rPr lang="zh-CN" altLang="en-US" sz="3600" b="1" dirty="0">
                <a:solidFill>
                  <a:schemeClr val="folHlink"/>
                </a:solidFill>
              </a:rPr>
              <a:t>进程调度方式</a:t>
            </a:r>
            <a:r>
              <a:rPr lang="zh-CN" altLang="en-US" sz="3600" dirty="0">
                <a:solidFill>
                  <a:schemeClr val="folHlink"/>
                </a:solidFill>
              </a:rPr>
              <a:t> </a:t>
            </a:r>
            <a:endParaRPr lang="zh-CN" altLang="en-US" sz="3600" dirty="0">
              <a:solidFill>
                <a:schemeClr val="folHlink"/>
              </a:solidFill>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Text Box 3"/>
          <p:cNvSpPr txBox="1"/>
          <p:nvPr/>
        </p:nvSpPr>
        <p:spPr>
          <a:xfrm>
            <a:off x="325438" y="476250"/>
            <a:ext cx="8423275" cy="5240338"/>
          </a:xfrm>
          <a:prstGeom prst="rect">
            <a:avLst/>
          </a:prstGeom>
          <a:noFill/>
          <a:ln w="9525">
            <a:noFill/>
          </a:ln>
        </p:spPr>
        <p:txBody>
          <a:bodyPr>
            <a:spAutoFit/>
          </a:bodyPr>
          <a:p>
            <a:pPr algn="just" eaLnBrk="1" hangingPunct="1">
              <a:lnSpc>
                <a:spcPct val="110000"/>
              </a:lnSpc>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在采用非抢占调度方式时，可能引起进程调度的因素可归结为这样几个：</a:t>
            </a:r>
            <a:endParaRPr lang="zh-CN" altLang="en-US" sz="2400" b="1" dirty="0">
              <a:latin typeface="Times New Roman" panose="02020603050405020304" pitchFamily="18" charset="0"/>
            </a:endParaRPr>
          </a:p>
          <a:p>
            <a:pPr algn="just" eaLnBrk="1" hangingPunct="1">
              <a:lnSpc>
                <a:spcPct val="110000"/>
              </a:lnSpc>
              <a:spcBef>
                <a:spcPct val="50000"/>
              </a:spcBef>
            </a:pPr>
            <a:r>
              <a:rPr lang="zh-CN" altLang="en-US" sz="2400" b="1" dirty="0">
                <a:latin typeface="Times New Roman" panose="02020603050405020304" pitchFamily="18" charset="0"/>
              </a:rPr>
              <a:t>① 正在执行的进程执行完毕， 或因发生某事件而不能再继续执行；</a:t>
            </a:r>
            <a:endParaRPr lang="zh-CN" altLang="en-US" sz="2400" b="1" dirty="0">
              <a:latin typeface="Times New Roman" panose="02020603050405020304" pitchFamily="18" charset="0"/>
            </a:endParaRPr>
          </a:p>
          <a:p>
            <a:pPr algn="just" eaLnBrk="1" hangingPunct="1">
              <a:lnSpc>
                <a:spcPct val="110000"/>
              </a:lnSpc>
              <a:spcBef>
                <a:spcPct val="50000"/>
              </a:spcBef>
            </a:pPr>
            <a:r>
              <a:rPr lang="zh-CN" altLang="en-US" sz="2400" b="1" dirty="0">
                <a:latin typeface="Times New Roman" panose="02020603050405020304" pitchFamily="18" charset="0"/>
              </a:rPr>
              <a:t> ② 执行中的进程因提出</a:t>
            </a:r>
            <a:r>
              <a:rPr lang="en-US" altLang="zh-CN" sz="2400" b="1" dirty="0">
                <a:latin typeface="Times New Roman" panose="02020603050405020304" pitchFamily="18" charset="0"/>
              </a:rPr>
              <a:t>I/O</a:t>
            </a:r>
            <a:r>
              <a:rPr lang="zh-CN" altLang="en-US" sz="2400" b="1" dirty="0">
                <a:latin typeface="Times New Roman" panose="02020603050405020304" pitchFamily="18" charset="0"/>
              </a:rPr>
              <a:t>请求而暂停执行；</a:t>
            </a:r>
            <a:endParaRPr lang="zh-CN" altLang="en-US" sz="2400" b="1" dirty="0">
              <a:latin typeface="Times New Roman" panose="02020603050405020304" pitchFamily="18" charset="0"/>
            </a:endParaRPr>
          </a:p>
          <a:p>
            <a:pPr algn="just" eaLnBrk="1" hangingPunct="1">
              <a:lnSpc>
                <a:spcPct val="110000"/>
              </a:lnSpc>
              <a:spcBef>
                <a:spcPct val="50000"/>
              </a:spcBef>
            </a:pPr>
            <a:r>
              <a:rPr lang="zh-CN" altLang="en-US" sz="2400" b="1" dirty="0">
                <a:latin typeface="Times New Roman" panose="02020603050405020304" pitchFamily="18" charset="0"/>
              </a:rPr>
              <a:t>③ 在进程通信或同步过程中执行了某种原语操作，如</a:t>
            </a:r>
            <a:r>
              <a:rPr lang="en-US" altLang="zh-CN" sz="2400" b="1" dirty="0">
                <a:latin typeface="Times New Roman" panose="02020603050405020304" pitchFamily="18" charset="0"/>
              </a:rPr>
              <a:t>P</a:t>
            </a:r>
            <a:r>
              <a:rPr lang="zh-CN" altLang="en-US" sz="2400" b="1" dirty="0">
                <a:latin typeface="Times New Roman" panose="02020603050405020304" pitchFamily="18" charset="0"/>
              </a:rPr>
              <a:t>操作</a:t>
            </a:r>
            <a:r>
              <a:rPr lang="en-US" altLang="zh-CN" sz="2400" b="1" dirty="0">
                <a:latin typeface="Times New Roman" panose="02020603050405020304" pitchFamily="18" charset="0"/>
              </a:rPr>
              <a:t>(wait</a:t>
            </a:r>
            <a:r>
              <a:rPr lang="zh-CN" altLang="en-US" sz="2400" b="1" dirty="0">
                <a:latin typeface="Times New Roman" panose="02020603050405020304" pitchFamily="18" charset="0"/>
              </a:rPr>
              <a:t>操作</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Block</a:t>
            </a:r>
            <a:r>
              <a:rPr lang="zh-CN" altLang="en-US" sz="2400" b="1" dirty="0">
                <a:latin typeface="Times New Roman" panose="02020603050405020304" pitchFamily="18" charset="0"/>
              </a:rPr>
              <a:t>原语、</a:t>
            </a:r>
            <a:r>
              <a:rPr lang="en-US" altLang="zh-CN" sz="2400" b="1" dirty="0">
                <a:latin typeface="Times New Roman" panose="02020603050405020304" pitchFamily="18" charset="0"/>
              </a:rPr>
              <a:t>suspend</a:t>
            </a:r>
            <a:r>
              <a:rPr lang="zh-CN" altLang="en-US" sz="2400" b="1" dirty="0">
                <a:latin typeface="Times New Roman" panose="02020603050405020304" pitchFamily="18" charset="0"/>
              </a:rPr>
              <a:t>原语等。</a:t>
            </a:r>
            <a:endParaRPr lang="zh-CN" altLang="en-US" sz="2400" b="1" dirty="0">
              <a:latin typeface="Times New Roman" panose="02020603050405020304" pitchFamily="18" charset="0"/>
            </a:endParaRPr>
          </a:p>
          <a:p>
            <a:pPr algn="just" eaLnBrk="1" hangingPunct="1">
              <a:lnSpc>
                <a:spcPct val="110000"/>
              </a:lnSpc>
              <a:spcBef>
                <a:spcPct val="50000"/>
              </a:spcBef>
            </a:pPr>
            <a:r>
              <a:rPr lang="zh-CN" altLang="en-US" sz="2400" b="1" dirty="0">
                <a:latin typeface="Times New Roman" panose="02020603050405020304" pitchFamily="18" charset="0"/>
              </a:rPr>
              <a:t>      这种调度方式的优点是</a:t>
            </a:r>
            <a:r>
              <a:rPr lang="zh-CN" altLang="en-US" sz="2400" b="1" dirty="0">
                <a:solidFill>
                  <a:schemeClr val="folHlink"/>
                </a:solidFill>
                <a:latin typeface="Times New Roman" panose="02020603050405020304" pitchFamily="18" charset="0"/>
              </a:rPr>
              <a:t>实现简单、系统开销小</a:t>
            </a:r>
            <a:r>
              <a:rPr lang="zh-CN" altLang="en-US" sz="2400" b="1" dirty="0">
                <a:latin typeface="Times New Roman" panose="02020603050405020304" pitchFamily="18" charset="0"/>
              </a:rPr>
              <a:t>，适用于大多数的批处理系统环境。但它</a:t>
            </a:r>
            <a:r>
              <a:rPr lang="zh-CN" altLang="en-US" sz="2400" b="1" dirty="0">
                <a:solidFill>
                  <a:schemeClr val="folHlink"/>
                </a:solidFill>
                <a:latin typeface="Times New Roman" panose="02020603050405020304" pitchFamily="18" charset="0"/>
              </a:rPr>
              <a:t>难以满足紧急任务的要求</a:t>
            </a:r>
            <a:r>
              <a:rPr lang="en-US" altLang="zh-CN" sz="2400" b="1" dirty="0">
                <a:latin typeface="Courier New" panose="02070309020205020404" pitchFamily="49" charset="0"/>
              </a:rPr>
              <a:t>——</a:t>
            </a:r>
            <a:r>
              <a:rPr lang="zh-CN" altLang="en-US" sz="2400" b="1" dirty="0">
                <a:latin typeface="Times New Roman" panose="02020603050405020304" pitchFamily="18" charset="0"/>
              </a:rPr>
              <a:t>立即执行，因而可能造成难以预料的后果。显然，在要求比较严格的实时系统中，不宜采用这种调度方式。 </a:t>
            </a:r>
            <a:endParaRPr lang="zh-CN" altLang="en-US" sz="2400" b="1" dirty="0">
              <a:latin typeface="Times New Roman" panose="02020603050405020304" pitchFamily="18"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noRot="1"/>
          </p:cNvSpPr>
          <p:nvPr>
            <p:ph type="title"/>
          </p:nvPr>
        </p:nvSpPr>
        <p:spPr>
          <a:ln/>
        </p:spPr>
        <p:txBody>
          <a:bodyPr vert="horz" wrap="square" lIns="91440" tIns="45720" rIns="91440" bIns="45720" anchor="ctr" anchorCtr="0"/>
          <a:p>
            <a:pPr eaLnBrk="1" hangingPunct="1"/>
            <a:r>
              <a:rPr lang="en-US" altLang="zh-CN" sz="3200" b="1" dirty="0">
                <a:solidFill>
                  <a:schemeClr val="folHlink"/>
                </a:solidFill>
              </a:rPr>
              <a:t>2) </a:t>
            </a:r>
            <a:r>
              <a:rPr lang="zh-CN" altLang="en-US" sz="3200" b="1" dirty="0">
                <a:solidFill>
                  <a:schemeClr val="folHlink"/>
                </a:solidFill>
              </a:rPr>
              <a:t>抢占方式</a:t>
            </a:r>
            <a:r>
              <a:rPr lang="en-US" altLang="zh-CN" sz="3200" b="1" dirty="0">
                <a:solidFill>
                  <a:schemeClr val="folHlink"/>
                </a:solidFill>
              </a:rPr>
              <a:t>(Preemptive Mode) </a:t>
            </a:r>
            <a:endParaRPr lang="zh-CN" altLang="en-US" sz="3200" b="1" dirty="0">
              <a:solidFill>
                <a:schemeClr val="folHlink"/>
              </a:solidFill>
            </a:endParaRPr>
          </a:p>
        </p:txBody>
      </p:sp>
      <p:sp>
        <p:nvSpPr>
          <p:cNvPr id="26627" name="Rectangle 3"/>
          <p:cNvSpPr>
            <a:spLocks noGrp="1" noRot="1"/>
          </p:cNvSpPr>
          <p:nvPr>
            <p:ph idx="1"/>
          </p:nvPr>
        </p:nvSpPr>
        <p:spPr>
          <a:xfrm>
            <a:off x="301625" y="1341438"/>
            <a:ext cx="8540750" cy="4498975"/>
          </a:xfrm>
          <a:ln/>
        </p:spPr>
        <p:txBody>
          <a:bodyPr vert="horz" wrap="square" lIns="91440" tIns="45720" rIns="91440" bIns="45720" anchor="t" anchorCtr="0"/>
          <a:p>
            <a:pPr eaLnBrk="1" hangingPunct="1">
              <a:lnSpc>
                <a:spcPct val="120000"/>
              </a:lnSpc>
            </a:pPr>
            <a:r>
              <a:rPr lang="zh-CN" altLang="en-US" sz="2800" b="1" dirty="0"/>
              <a:t>这种调度方式允许调度程序根据某种原则去暂停某个正在执行的进程，将已分配给该进程的处理机重新分配给另一进程。</a:t>
            </a:r>
            <a:endParaRPr lang="zh-CN" altLang="en-US" sz="2800" b="1" dirty="0"/>
          </a:p>
          <a:p>
            <a:pPr eaLnBrk="1" hangingPunct="1">
              <a:lnSpc>
                <a:spcPct val="120000"/>
              </a:lnSpc>
            </a:pPr>
            <a:r>
              <a:rPr lang="zh-CN" altLang="en-US" sz="2800" b="1" u="sng" dirty="0">
                <a:solidFill>
                  <a:schemeClr val="folHlink"/>
                </a:solidFill>
              </a:rPr>
              <a:t>抢占方式的优点：</a:t>
            </a:r>
            <a:r>
              <a:rPr lang="zh-CN" altLang="en-US" sz="2800" b="1" dirty="0"/>
              <a:t>可以防止一个长进程长时间占用处理机，能为大多数进程提供更公平的服务，特别是能满足对响应时间有着较严格要求的实时任务的需求。</a:t>
            </a:r>
            <a:endParaRPr lang="zh-CN" altLang="en-US" sz="2800" b="1" dirty="0"/>
          </a:p>
          <a:p>
            <a:pPr eaLnBrk="1" hangingPunct="1">
              <a:lnSpc>
                <a:spcPct val="120000"/>
              </a:lnSpc>
            </a:pPr>
            <a:r>
              <a:rPr lang="zh-CN" altLang="en-US" sz="2800" b="1" dirty="0"/>
              <a:t>但抢占方式比非抢占方式调度所需付出的开销较大。</a:t>
            </a:r>
            <a:endParaRPr lang="zh-CN" altLang="en-US" sz="2800" b="1"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ext Box 3"/>
          <p:cNvSpPr txBox="1"/>
          <p:nvPr/>
        </p:nvSpPr>
        <p:spPr>
          <a:xfrm>
            <a:off x="539750" y="836613"/>
            <a:ext cx="3130550" cy="519112"/>
          </a:xfrm>
          <a:prstGeom prst="rect">
            <a:avLst/>
          </a:prstGeom>
          <a:noFill/>
          <a:ln w="9525">
            <a:noFill/>
          </a:ln>
        </p:spPr>
        <p:txBody>
          <a:bodyPr>
            <a:spAutoFit/>
          </a:bodyPr>
          <a:p>
            <a:pPr eaLnBrk="1" hangingPunct="1"/>
            <a:r>
              <a:rPr lang="zh-CN" altLang="en-US" sz="2800" b="1" dirty="0">
                <a:latin typeface="Times New Roman" panose="02020603050405020304" pitchFamily="18" charset="0"/>
              </a:rPr>
              <a:t>抢占的原则有： </a:t>
            </a:r>
            <a:endParaRPr lang="zh-CN" altLang="en-US" sz="2800" b="1" dirty="0">
              <a:latin typeface="Times New Roman" panose="02020603050405020304" pitchFamily="18" charset="0"/>
            </a:endParaRPr>
          </a:p>
        </p:txBody>
      </p:sp>
      <p:sp>
        <p:nvSpPr>
          <p:cNvPr id="27651" name="Text Box 4"/>
          <p:cNvSpPr txBox="1"/>
          <p:nvPr/>
        </p:nvSpPr>
        <p:spPr>
          <a:xfrm>
            <a:off x="395288" y="1557338"/>
            <a:ext cx="8280400" cy="2657475"/>
          </a:xfrm>
          <a:prstGeom prst="rect">
            <a:avLst/>
          </a:prstGeom>
          <a:noFill/>
          <a:ln w="9525">
            <a:noFill/>
          </a:ln>
        </p:spPr>
        <p:txBody>
          <a:bodyPr>
            <a:spAutoFit/>
          </a:bodyPr>
          <a:p>
            <a:pPr marL="457200" indent="-457200" eaLnBrk="1" hangingPunct="1">
              <a:lnSpc>
                <a:spcPct val="150000"/>
              </a:lnSpc>
              <a:buAutoNum type="arabicParenBoth"/>
            </a:pPr>
            <a:r>
              <a:rPr lang="zh-CN" altLang="en-US" sz="2800" b="1" dirty="0">
                <a:solidFill>
                  <a:schemeClr val="folHlink"/>
                </a:solidFill>
                <a:latin typeface="Times New Roman" panose="02020603050405020304" pitchFamily="18" charset="0"/>
              </a:rPr>
              <a:t>优先权原则</a:t>
            </a:r>
            <a:r>
              <a:rPr lang="zh-CN" altLang="en-US" sz="2800" b="1" dirty="0">
                <a:latin typeface="Times New Roman" panose="02020603050405020304" pitchFamily="18" charset="0"/>
              </a:rPr>
              <a:t> </a:t>
            </a:r>
            <a:r>
              <a:rPr lang="zh-CN" altLang="en-US" sz="2800" b="1" dirty="0">
                <a:latin typeface="Arial" panose="020B0604020202020204" pitchFamily="34" charset="0"/>
              </a:rPr>
              <a:t>通常是对一些重要的和紧急的作业赋予较高的优先权。</a:t>
            </a:r>
            <a:endParaRPr lang="zh-CN" altLang="en-US" sz="2800" b="1" dirty="0">
              <a:latin typeface="Arial" panose="020B0604020202020204" pitchFamily="34" charset="0"/>
            </a:endParaRPr>
          </a:p>
          <a:p>
            <a:pPr marL="457200" indent="-457200" eaLnBrk="1" hangingPunct="1">
              <a:lnSpc>
                <a:spcPct val="150000"/>
              </a:lnSpc>
              <a:buNone/>
            </a:pPr>
            <a:r>
              <a:rPr lang="en-US" altLang="zh-CN" sz="2800" b="1" dirty="0">
                <a:solidFill>
                  <a:schemeClr val="folHlink"/>
                </a:solidFill>
                <a:latin typeface="Times New Roman" panose="02020603050405020304" pitchFamily="18" charset="0"/>
              </a:rPr>
              <a:t>(2) </a:t>
            </a:r>
            <a:r>
              <a:rPr lang="zh-CN" altLang="en-US" sz="2800" b="1" dirty="0">
                <a:solidFill>
                  <a:schemeClr val="folHlink"/>
                </a:solidFill>
                <a:latin typeface="Times New Roman" panose="02020603050405020304" pitchFamily="18" charset="0"/>
              </a:rPr>
              <a:t>短作业</a:t>
            </a:r>
            <a:r>
              <a:rPr lang="en-US" altLang="zh-CN" sz="2800" b="1" dirty="0">
                <a:solidFill>
                  <a:schemeClr val="folHlink"/>
                </a:solidFill>
                <a:latin typeface="Times New Roman" panose="02020603050405020304" pitchFamily="18" charset="0"/>
              </a:rPr>
              <a:t>(</a:t>
            </a:r>
            <a:r>
              <a:rPr lang="zh-CN" altLang="en-US" sz="2800" b="1" dirty="0">
                <a:solidFill>
                  <a:schemeClr val="folHlink"/>
                </a:solidFill>
                <a:latin typeface="Times New Roman" panose="02020603050405020304" pitchFamily="18" charset="0"/>
              </a:rPr>
              <a:t>进程</a:t>
            </a:r>
            <a:r>
              <a:rPr lang="en-US" altLang="zh-CN" sz="2800" b="1" dirty="0">
                <a:solidFill>
                  <a:schemeClr val="folHlink"/>
                </a:solidFill>
                <a:latin typeface="Times New Roman" panose="02020603050405020304" pitchFamily="18" charset="0"/>
              </a:rPr>
              <a:t>)</a:t>
            </a:r>
            <a:r>
              <a:rPr lang="zh-CN" altLang="en-US" sz="2800" b="1" dirty="0">
                <a:solidFill>
                  <a:schemeClr val="folHlink"/>
                </a:solidFill>
                <a:latin typeface="Times New Roman" panose="02020603050405020304" pitchFamily="18" charset="0"/>
              </a:rPr>
              <a:t>优先原则</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a:p>
            <a:pPr marL="457200" indent="-457200" eaLnBrk="1" hangingPunct="1">
              <a:lnSpc>
                <a:spcPct val="150000"/>
              </a:lnSpc>
              <a:buNone/>
            </a:pPr>
            <a:r>
              <a:rPr lang="en-US" altLang="zh-CN" sz="2800" b="1" dirty="0">
                <a:solidFill>
                  <a:schemeClr val="folHlink"/>
                </a:solidFill>
                <a:latin typeface="Times New Roman" panose="02020603050405020304" pitchFamily="18" charset="0"/>
              </a:rPr>
              <a:t>(3) </a:t>
            </a:r>
            <a:r>
              <a:rPr lang="zh-CN" altLang="en-US" sz="2800" b="1" dirty="0">
                <a:solidFill>
                  <a:schemeClr val="folHlink"/>
                </a:solidFill>
                <a:latin typeface="Times New Roman" panose="02020603050405020304" pitchFamily="18" charset="0"/>
              </a:rPr>
              <a:t>时间片原则。</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ext Box 2"/>
          <p:cNvSpPr txBox="1"/>
          <p:nvPr/>
        </p:nvSpPr>
        <p:spPr>
          <a:xfrm>
            <a:off x="612775" y="665163"/>
            <a:ext cx="8280400" cy="676275"/>
          </a:xfrm>
          <a:prstGeom prst="rect">
            <a:avLst/>
          </a:prstGeom>
          <a:noFill/>
          <a:ln w="9525">
            <a:noFill/>
          </a:ln>
        </p:spPr>
        <p:txBody>
          <a:bodyPr>
            <a:spAutoFit/>
          </a:bodyPr>
          <a:p>
            <a:pPr eaLnBrk="1" hangingPunct="1">
              <a:lnSpc>
                <a:spcPct val="120000"/>
              </a:lnSpc>
            </a:pPr>
            <a:r>
              <a:rPr lang="en-US" altLang="zh-CN" sz="3200" b="1" dirty="0">
                <a:solidFill>
                  <a:schemeClr val="folHlink"/>
                </a:solidFill>
                <a:latin typeface="Times New Roman" panose="02020603050405020304" pitchFamily="18" charset="0"/>
              </a:rPr>
              <a:t>3. </a:t>
            </a:r>
            <a:r>
              <a:rPr lang="zh-CN" altLang="en-US" sz="3200" b="1" dirty="0">
                <a:solidFill>
                  <a:schemeClr val="folHlink"/>
                </a:solidFill>
                <a:latin typeface="Times New Roman" panose="02020603050405020304" pitchFamily="18" charset="0"/>
              </a:rPr>
              <a:t>中级调度</a:t>
            </a:r>
            <a:r>
              <a:rPr lang="en-US" altLang="zh-CN" sz="3200" b="1" dirty="0">
                <a:solidFill>
                  <a:schemeClr val="folHlink"/>
                </a:solidFill>
                <a:latin typeface="Times New Roman" panose="02020603050405020304" pitchFamily="18" charset="0"/>
              </a:rPr>
              <a:t>(Intermediate-Level Scheduling) </a:t>
            </a:r>
            <a:endParaRPr lang="en-US" altLang="zh-CN" sz="3200" b="1" dirty="0">
              <a:solidFill>
                <a:schemeClr val="folHlink"/>
              </a:solidFill>
              <a:latin typeface="Times New Roman" panose="02020603050405020304" pitchFamily="18" charset="0"/>
            </a:endParaRPr>
          </a:p>
        </p:txBody>
      </p:sp>
      <p:sp>
        <p:nvSpPr>
          <p:cNvPr id="29699" name="Text Box 3"/>
          <p:cNvSpPr txBox="1"/>
          <p:nvPr/>
        </p:nvSpPr>
        <p:spPr>
          <a:xfrm>
            <a:off x="395288" y="1484313"/>
            <a:ext cx="8210550" cy="4597400"/>
          </a:xfrm>
          <a:prstGeom prst="rect">
            <a:avLst/>
          </a:prstGeom>
          <a:noFill/>
          <a:ln w="9525">
            <a:noFill/>
          </a:ln>
        </p:spPr>
        <p:txBody>
          <a:bodyPr>
            <a:spAutoFit/>
          </a:bodyPr>
          <a:p>
            <a:pPr algn="just" eaLnBrk="1" hangingPunct="1">
              <a:lnSpc>
                <a:spcPct val="130000"/>
              </a:lnSpc>
              <a:spcBef>
                <a:spcPct val="50000"/>
              </a:spcBef>
            </a:pPr>
            <a:r>
              <a:rPr lang="zh-CN" altLang="en-US" sz="2400" b="1" dirty="0">
                <a:latin typeface="Times New Roman" panose="02020603050405020304" pitchFamily="18" charset="0"/>
              </a:rPr>
              <a:t>        中级调度又称中程调度</a:t>
            </a:r>
            <a:r>
              <a:rPr lang="en-US" altLang="zh-CN" sz="2400" b="1" dirty="0">
                <a:latin typeface="Times New Roman" panose="02020603050405020304" pitchFamily="18" charset="0"/>
              </a:rPr>
              <a:t>(Medium-Term Scheduling)</a:t>
            </a:r>
            <a:r>
              <a:rPr lang="zh-CN" altLang="en-US" sz="2400" b="1" dirty="0">
                <a:latin typeface="Times New Roman" panose="02020603050405020304" pitchFamily="18" charset="0"/>
              </a:rPr>
              <a:t>。 </a:t>
            </a:r>
            <a:r>
              <a:rPr lang="zh-CN" altLang="en-US" sz="2400" b="1" dirty="0">
                <a:solidFill>
                  <a:srgbClr val="FF0000"/>
                </a:solidFill>
                <a:latin typeface="Times New Roman" panose="02020603050405020304" pitchFamily="18" charset="0"/>
              </a:rPr>
              <a:t>引入中级调度的主要目的，是为了提高内存利用率和系统吞吐量。 </a:t>
            </a:r>
            <a:endParaRPr lang="zh-CN" altLang="en-US" sz="2400" b="1" dirty="0">
              <a:solidFill>
                <a:srgbClr val="FF0000"/>
              </a:solidFill>
              <a:latin typeface="Times New Roman" panose="02020603050405020304" pitchFamily="18" charset="0"/>
            </a:endParaRPr>
          </a:p>
          <a:p>
            <a:pPr algn="just" eaLnBrk="1" hangingPunct="1">
              <a:lnSpc>
                <a:spcPct val="130000"/>
              </a:lnSpc>
              <a:spcBef>
                <a:spcPct val="50000"/>
              </a:spcBef>
            </a:pPr>
            <a:r>
              <a:rPr lang="zh-CN" altLang="en-US" sz="2400" b="1" dirty="0">
                <a:latin typeface="Times New Roman" panose="02020603050405020304" pitchFamily="18" charset="0"/>
              </a:rPr>
              <a:t>     为此，</a:t>
            </a:r>
            <a:r>
              <a:rPr lang="zh-CN" altLang="en-US" sz="2400" b="1" dirty="0">
                <a:solidFill>
                  <a:srgbClr val="FF0000"/>
                </a:solidFill>
                <a:latin typeface="Times New Roman" panose="02020603050405020304" pitchFamily="18" charset="0"/>
              </a:rPr>
              <a:t>应使那些暂时不能运行的进程调至外存上去等待，把此时的进程状态称为就绪驻外存状态或挂起状态</a:t>
            </a:r>
            <a:r>
              <a:rPr lang="zh-CN" altLang="en-US" sz="2400" b="1" dirty="0">
                <a:latin typeface="Times New Roman" panose="02020603050405020304" pitchFamily="18" charset="0"/>
              </a:rPr>
              <a:t>。当这些进程重又具备运行条件、且内存又稍有空闲时，由中级调度来决定把外存上的哪些又具备运行条件的就绪进程，重新调入内存，并修改其状态为就绪状态，挂在就绪队列上等待进程调度。 </a:t>
            </a:r>
            <a:endParaRPr lang="zh-CN" altLang="en-US" sz="2400"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charRg st="0" end="7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699">
                                            <p:txEl>
                                              <p:charRg st="75" end="2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noRot="1"/>
          </p:cNvSpPr>
          <p:nvPr>
            <p:ph type="title"/>
          </p:nvPr>
        </p:nvSpPr>
        <p:spPr>
          <a:xfrm>
            <a:off x="301625" y="260350"/>
            <a:ext cx="8540750" cy="855663"/>
          </a:xfrm>
          <a:ln/>
        </p:spPr>
        <p:txBody>
          <a:bodyPr vert="horz" wrap="square" lIns="91440" tIns="45720" rIns="91440" bIns="45720" anchor="ctr" anchorCtr="0"/>
          <a:p>
            <a:pPr eaLnBrk="1" hangingPunct="1"/>
            <a:r>
              <a:rPr lang="zh-CN" altLang="en-US" b="1" dirty="0">
                <a:solidFill>
                  <a:schemeClr val="folHlink"/>
                </a:solidFill>
              </a:rPr>
              <a:t>三种调度的小结</a:t>
            </a:r>
            <a:endParaRPr lang="zh-CN" altLang="en-US" b="1" dirty="0">
              <a:solidFill>
                <a:schemeClr val="folHlink"/>
              </a:solidFill>
            </a:endParaRPr>
          </a:p>
        </p:txBody>
      </p:sp>
      <p:sp>
        <p:nvSpPr>
          <p:cNvPr id="29699" name="Rectangle 3"/>
          <p:cNvSpPr>
            <a:spLocks noGrp="1" noRot="1"/>
          </p:cNvSpPr>
          <p:nvPr>
            <p:ph idx="1"/>
          </p:nvPr>
        </p:nvSpPr>
        <p:spPr>
          <a:xfrm>
            <a:off x="301625" y="1196975"/>
            <a:ext cx="8540750" cy="5327650"/>
          </a:xfrm>
          <a:ln/>
        </p:spPr>
        <p:txBody>
          <a:bodyPr vert="horz" wrap="square" lIns="91440" tIns="45720" rIns="91440" bIns="45720" anchor="t" anchorCtr="0"/>
          <a:p>
            <a:pPr eaLnBrk="1" hangingPunct="1">
              <a:lnSpc>
                <a:spcPct val="120000"/>
              </a:lnSpc>
            </a:pPr>
            <a:r>
              <a:rPr lang="zh-CN" altLang="en-US" sz="2400" b="1" dirty="0"/>
              <a:t>进程调度的运行频率最高，在分时系统中通常是</a:t>
            </a:r>
            <a:r>
              <a:rPr lang="en-US" altLang="zh-CN" sz="2400" b="1" dirty="0"/>
              <a:t>10</a:t>
            </a:r>
            <a:r>
              <a:rPr lang="zh-CN" altLang="en-US" sz="2400" b="1" dirty="0"/>
              <a:t>～</a:t>
            </a:r>
            <a:r>
              <a:rPr lang="en-US" altLang="zh-CN" sz="2400" b="1" dirty="0"/>
              <a:t>100 ms </a:t>
            </a:r>
            <a:r>
              <a:rPr lang="zh-CN" altLang="en-US" sz="2400" b="1" dirty="0"/>
              <a:t>便进行一次进程调度，因此把它称为短程调度。为避免进程调度占用太多的</a:t>
            </a:r>
            <a:r>
              <a:rPr lang="en-US" altLang="zh-CN" sz="2400" b="1" dirty="0"/>
              <a:t>CPU</a:t>
            </a:r>
            <a:r>
              <a:rPr lang="zh-CN" altLang="en-US" sz="2400" b="1" dirty="0"/>
              <a:t>时间，进程调度算法不宜太复杂。</a:t>
            </a:r>
            <a:endParaRPr lang="en-US" altLang="zh-CN" sz="2400" b="1" dirty="0"/>
          </a:p>
          <a:p>
            <a:pPr eaLnBrk="1" hangingPunct="1">
              <a:lnSpc>
                <a:spcPct val="120000"/>
              </a:lnSpc>
            </a:pPr>
            <a:endParaRPr lang="zh-CN" altLang="en-US" sz="2400" b="1" dirty="0"/>
          </a:p>
          <a:p>
            <a:pPr eaLnBrk="1" hangingPunct="1">
              <a:lnSpc>
                <a:spcPct val="120000"/>
              </a:lnSpc>
            </a:pPr>
            <a:r>
              <a:rPr lang="zh-CN" altLang="en-US" sz="2400" b="1" dirty="0"/>
              <a:t>作业调度往往是发生在一个</a:t>
            </a:r>
            <a:r>
              <a:rPr lang="en-US" altLang="zh-CN" sz="2400" b="1" dirty="0"/>
              <a:t>(</a:t>
            </a:r>
            <a:r>
              <a:rPr lang="zh-CN" altLang="en-US" sz="2400" b="1" dirty="0"/>
              <a:t>批</a:t>
            </a:r>
            <a:r>
              <a:rPr lang="en-US" altLang="zh-CN" sz="2400" b="1" dirty="0"/>
              <a:t>)</a:t>
            </a:r>
            <a:r>
              <a:rPr lang="zh-CN" altLang="en-US" sz="2400" b="1" dirty="0"/>
              <a:t>作业运行完毕，退出系统，而需要重新调入一个</a:t>
            </a:r>
            <a:r>
              <a:rPr lang="en-US" altLang="zh-CN" sz="2400" b="1" dirty="0"/>
              <a:t>(</a:t>
            </a:r>
            <a:r>
              <a:rPr lang="zh-CN" altLang="en-US" sz="2400" b="1" dirty="0"/>
              <a:t>批</a:t>
            </a:r>
            <a:r>
              <a:rPr lang="en-US" altLang="zh-CN" sz="2400" b="1" dirty="0"/>
              <a:t>)</a:t>
            </a:r>
            <a:r>
              <a:rPr lang="zh-CN" altLang="en-US" sz="2400" b="1" dirty="0"/>
              <a:t>作业进入内存时，故作业调度的周期较长，大约几分钟一次，因此把它称为长程调度。由于其运行频率较低，故允许作业调度算法花费较多的时间。</a:t>
            </a:r>
            <a:endParaRPr lang="en-US" altLang="zh-CN" sz="2400" b="1" dirty="0"/>
          </a:p>
          <a:p>
            <a:pPr eaLnBrk="1" hangingPunct="1">
              <a:lnSpc>
                <a:spcPct val="120000"/>
              </a:lnSpc>
            </a:pPr>
            <a:endParaRPr lang="zh-CN" altLang="en-US" sz="2400" b="1" dirty="0"/>
          </a:p>
          <a:p>
            <a:pPr eaLnBrk="1" hangingPunct="1">
              <a:lnSpc>
                <a:spcPct val="120000"/>
              </a:lnSpc>
            </a:pPr>
            <a:r>
              <a:rPr lang="zh-CN" altLang="en-US" sz="2400" b="1" dirty="0"/>
              <a:t>中级调度的运行频率基本上介于上述两种调度之间，因此把它称为中程调度。</a:t>
            </a:r>
            <a:endParaRPr lang="zh-CN" altLang="en-US" sz="2400" b="1" dirty="0"/>
          </a:p>
          <a:p>
            <a:pPr eaLnBrk="1" hangingPunct="1">
              <a:lnSpc>
                <a:spcPct val="120000"/>
              </a:lnSpc>
              <a:buNone/>
            </a:pPr>
            <a:endParaRPr lang="zh-CN" altLang="en-US" sz="2400" b="1"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7" name="Text Box 2"/>
          <p:cNvSpPr txBox="1"/>
          <p:nvPr/>
        </p:nvSpPr>
        <p:spPr>
          <a:xfrm>
            <a:off x="1066800" y="893763"/>
            <a:ext cx="3216275" cy="519112"/>
          </a:xfrm>
          <a:prstGeom prst="rect">
            <a:avLst/>
          </a:prstGeom>
          <a:noFill/>
          <a:ln w="9525">
            <a:noFill/>
          </a:ln>
        </p:spPr>
        <p:txBody>
          <a:bodyPr wrap="none">
            <a:spAutoFit/>
          </a:bodyPr>
          <a:p>
            <a:pPr eaLnBrk="1" hangingPunct="1"/>
            <a:r>
              <a:rPr lang="en-US" altLang="zh-CN" sz="2800" b="1" dirty="0">
                <a:solidFill>
                  <a:schemeClr val="folHlink"/>
                </a:solidFill>
                <a:latin typeface="Times New Roman" panose="02020603050405020304" pitchFamily="18" charset="0"/>
              </a:rPr>
              <a:t>3.1.2 </a:t>
            </a:r>
            <a:r>
              <a:rPr lang="zh-CN" altLang="en-US" sz="2800" b="1" dirty="0">
                <a:solidFill>
                  <a:schemeClr val="folHlink"/>
                </a:solidFill>
                <a:latin typeface="Times New Roman" panose="02020603050405020304" pitchFamily="18" charset="0"/>
              </a:rPr>
              <a:t>调度队列模型 </a:t>
            </a:r>
            <a:endParaRPr lang="zh-CN" altLang="en-US" sz="2800" b="1" dirty="0">
              <a:solidFill>
                <a:schemeClr val="folHlink"/>
              </a:solidFill>
              <a:latin typeface="Times New Roman" panose="02020603050405020304" pitchFamily="18" charset="0"/>
            </a:endParaRPr>
          </a:p>
        </p:txBody>
      </p:sp>
      <p:sp>
        <p:nvSpPr>
          <p:cNvPr id="1028" name="Text Box 3"/>
          <p:cNvSpPr txBox="1"/>
          <p:nvPr/>
        </p:nvSpPr>
        <p:spPr>
          <a:xfrm>
            <a:off x="1066800" y="1603375"/>
            <a:ext cx="4548188" cy="457200"/>
          </a:xfrm>
          <a:prstGeom prst="rect">
            <a:avLst/>
          </a:prstGeom>
          <a:noFill/>
          <a:ln w="9525">
            <a:noFill/>
          </a:ln>
        </p:spPr>
        <p:txBody>
          <a:bodyPr wrap="none">
            <a:spAutoFit/>
          </a:bodyPr>
          <a:p>
            <a:pPr eaLnBrk="1" hangingPunct="1"/>
            <a:r>
              <a:rPr lang="en-US" altLang="zh-CN" sz="2400" b="1" dirty="0">
                <a:solidFill>
                  <a:schemeClr val="folHlink"/>
                </a:solidFill>
                <a:latin typeface="Times New Roman" panose="02020603050405020304" pitchFamily="18" charset="0"/>
              </a:rPr>
              <a:t>1. </a:t>
            </a:r>
            <a:r>
              <a:rPr lang="zh-CN" altLang="en-US" sz="2400" b="1" dirty="0">
                <a:solidFill>
                  <a:schemeClr val="folHlink"/>
                </a:solidFill>
                <a:latin typeface="Times New Roman" panose="02020603050405020304" pitchFamily="18" charset="0"/>
              </a:rPr>
              <a:t>仅有进程调度的调度队列模型 </a:t>
            </a:r>
            <a:endParaRPr lang="zh-CN" altLang="en-US" sz="2400" b="1" dirty="0">
              <a:solidFill>
                <a:schemeClr val="folHlink"/>
              </a:solidFill>
              <a:latin typeface="Times New Roman" panose="02020603050405020304" pitchFamily="18" charset="0"/>
            </a:endParaRPr>
          </a:p>
        </p:txBody>
      </p:sp>
      <p:sp>
        <p:nvSpPr>
          <p:cNvPr id="1029" name="Text Box 4"/>
          <p:cNvSpPr txBox="1"/>
          <p:nvPr/>
        </p:nvSpPr>
        <p:spPr>
          <a:xfrm>
            <a:off x="2209800" y="5867400"/>
            <a:ext cx="5543550" cy="457200"/>
          </a:xfrm>
          <a:prstGeom prst="rect">
            <a:avLst/>
          </a:prstGeom>
          <a:noFill/>
          <a:ln w="9525">
            <a:noFill/>
          </a:ln>
        </p:spPr>
        <p:txBody>
          <a:bodyPr wrap="none">
            <a:spAutoFit/>
          </a:bodyPr>
          <a:p>
            <a:pPr eaLnBrk="1" hangingPunct="1"/>
            <a:r>
              <a:rPr lang="zh-CN" altLang="en-US" sz="2400" dirty="0">
                <a:latin typeface="Times New Roman" panose="02020603050405020304" pitchFamily="18" charset="0"/>
              </a:rPr>
              <a:t>图 </a:t>
            </a:r>
            <a:r>
              <a:rPr lang="en-US" altLang="zh-CN" sz="2400" dirty="0">
                <a:latin typeface="Times New Roman" panose="02020603050405020304" pitchFamily="18" charset="0"/>
              </a:rPr>
              <a:t>3 - 1 </a:t>
            </a:r>
            <a:r>
              <a:rPr lang="zh-CN" altLang="en-US" sz="2400" dirty="0">
                <a:latin typeface="Times New Roman" panose="02020603050405020304" pitchFamily="18" charset="0"/>
              </a:rPr>
              <a:t>仅具有进程调度的调度队列模型 </a:t>
            </a:r>
            <a:endParaRPr lang="zh-CN" altLang="en-US" sz="2400" dirty="0">
              <a:latin typeface="Times New Roman" panose="02020603050405020304" pitchFamily="18" charset="0"/>
            </a:endParaRPr>
          </a:p>
        </p:txBody>
      </p:sp>
      <p:graphicFrame>
        <p:nvGraphicFramePr>
          <p:cNvPr id="1026" name="Object 5"/>
          <p:cNvGraphicFramePr>
            <a:graphicFrameLocks noChangeAspect="1"/>
          </p:cNvGraphicFramePr>
          <p:nvPr/>
        </p:nvGraphicFramePr>
        <p:xfrm>
          <a:off x="0" y="2438400"/>
          <a:ext cx="9144000" cy="3086100"/>
        </p:xfrm>
        <a:graphic>
          <a:graphicData uri="http://schemas.openxmlformats.org/presentationml/2006/ole">
            <mc:AlternateContent xmlns:mc="http://schemas.openxmlformats.org/markup-compatibility/2006">
              <mc:Choice xmlns:v="urn:schemas-microsoft-com:vml" Requires="v">
                <p:oleObj spid="_x0000_s3079" name="" r:id="rId1" imgW="3779520" imgH="1272540" progId="Visio.Drawing.4">
                  <p:embed/>
                </p:oleObj>
              </mc:Choice>
              <mc:Fallback>
                <p:oleObj name="" r:id="rId1" imgW="3779520" imgH="1272540" progId="Visio.Drawing.4">
                  <p:embed/>
                  <p:pic>
                    <p:nvPicPr>
                      <p:cNvPr id="0" name="图片 3078"/>
                      <p:cNvPicPr/>
                      <p:nvPr/>
                    </p:nvPicPr>
                    <p:blipFill>
                      <a:blip r:embed="rId2"/>
                      <a:stretch>
                        <a:fillRect/>
                      </a:stretch>
                    </p:blipFill>
                    <p:spPr>
                      <a:xfrm>
                        <a:off x="0" y="2438400"/>
                        <a:ext cx="9144000" cy="3086100"/>
                      </a:xfrm>
                      <a:prstGeom prst="rect">
                        <a:avLst/>
                      </a:prstGeom>
                      <a:noFill/>
                      <a:ln w="38100">
                        <a:noFill/>
                        <a:miter/>
                      </a:ln>
                    </p:spPr>
                  </p:pic>
                </p:oleObj>
              </mc:Fallback>
            </mc:AlternateContent>
          </a:graphicData>
        </a:graphic>
      </p:graphicFrame>
      <p:sp>
        <p:nvSpPr>
          <p:cNvPr id="1030" name="Rectangle 6"/>
          <p:cNvSpPr/>
          <p:nvPr/>
        </p:nvSpPr>
        <p:spPr>
          <a:xfrm>
            <a:off x="827088" y="231775"/>
            <a:ext cx="5348287" cy="579438"/>
          </a:xfrm>
          <a:prstGeom prst="rect">
            <a:avLst/>
          </a:prstGeom>
          <a:noFill/>
          <a:ln w="9525">
            <a:noFill/>
          </a:ln>
          <a:effectLst>
            <a:prstShdw prst="shdw17" dist="17961" dir="13499999">
              <a:schemeClr val="bg2"/>
            </a:prstShdw>
          </a:effectLst>
        </p:spPr>
        <p:txBody>
          <a:bodyPr wrap="none">
            <a:spAutoFit/>
          </a:bodyPr>
          <a:p>
            <a:pPr eaLnBrk="1" hangingPunct="1"/>
            <a:r>
              <a:rPr lang="en-US" altLang="zh-CN" sz="3200" b="1" dirty="0">
                <a:solidFill>
                  <a:schemeClr val="folHlink"/>
                </a:solidFill>
                <a:latin typeface="Arial" panose="020B0604020202020204" pitchFamily="34" charset="0"/>
              </a:rPr>
              <a:t>3.2 </a:t>
            </a:r>
            <a:r>
              <a:rPr lang="zh-CN" altLang="en-US" sz="3200" b="1" dirty="0">
                <a:solidFill>
                  <a:schemeClr val="folHlink"/>
                </a:solidFill>
                <a:latin typeface="Arial" panose="020B0604020202020204" pitchFamily="34" charset="0"/>
              </a:rPr>
              <a:t>调度队列模型和调度准则</a:t>
            </a:r>
            <a:endParaRPr lang="zh-CN" altLang="en-US" sz="3200" b="1" dirty="0">
              <a:solidFill>
                <a:schemeClr val="folHlink"/>
              </a:solidFill>
              <a:latin typeface="Arial" panose="020B0604020202020204" pitchFamily="34"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noRot="1"/>
          </p:cNvSpPr>
          <p:nvPr>
            <p:ph type="title"/>
          </p:nvPr>
        </p:nvSpPr>
        <p:spPr>
          <a:xfrm>
            <a:off x="301625" y="620713"/>
            <a:ext cx="8540750" cy="750887"/>
          </a:xfrm>
          <a:ln/>
        </p:spPr>
        <p:txBody>
          <a:bodyPr vert="horz" wrap="square" lIns="91440" tIns="45720" rIns="91440" bIns="45720" anchor="ctr" anchorCtr="0"/>
          <a:p>
            <a:pPr eaLnBrk="1" hangingPunct="1"/>
            <a:r>
              <a:rPr lang="en-US" altLang="zh-CN" sz="3200" b="1" dirty="0">
                <a:solidFill>
                  <a:schemeClr val="folHlink"/>
                </a:solidFill>
              </a:rPr>
              <a:t>1. </a:t>
            </a:r>
            <a:r>
              <a:rPr lang="zh-CN" altLang="en-US" sz="3200" b="1" dirty="0">
                <a:solidFill>
                  <a:schemeClr val="folHlink"/>
                </a:solidFill>
              </a:rPr>
              <a:t>仅有进程调度的调度队列模型 </a:t>
            </a:r>
            <a:endParaRPr lang="zh-CN" altLang="en-US" sz="3200" b="1" dirty="0">
              <a:solidFill>
                <a:schemeClr val="folHlink"/>
              </a:solidFill>
            </a:endParaRPr>
          </a:p>
        </p:txBody>
      </p:sp>
      <p:sp>
        <p:nvSpPr>
          <p:cNvPr id="30723" name="Rectangle 3"/>
          <p:cNvSpPr>
            <a:spLocks noGrp="1" noRot="1"/>
          </p:cNvSpPr>
          <p:nvPr>
            <p:ph idx="1"/>
          </p:nvPr>
        </p:nvSpPr>
        <p:spPr>
          <a:ln/>
        </p:spPr>
        <p:txBody>
          <a:bodyPr vert="horz" wrap="square" lIns="91440" tIns="45720" rIns="91440" bIns="45720" anchor="t" anchorCtr="0"/>
          <a:p>
            <a:pPr eaLnBrk="1" hangingPunct="1"/>
            <a:r>
              <a:rPr lang="zh-CN" altLang="en-US" sz="2800" b="1" dirty="0"/>
              <a:t>每个进程在执行时都可能出现以下三种情况：</a:t>
            </a:r>
            <a:endParaRPr lang="en-US" altLang="zh-CN" sz="2800" b="1" dirty="0"/>
          </a:p>
          <a:p>
            <a:pPr eaLnBrk="1" hangingPunct="1"/>
            <a:endParaRPr lang="zh-CN" altLang="en-US" sz="2800" b="1" dirty="0"/>
          </a:p>
          <a:p>
            <a:pPr eaLnBrk="1" hangingPunct="1"/>
            <a:r>
              <a:rPr lang="en-US" altLang="zh-CN" sz="2800" b="1" dirty="0"/>
              <a:t>(1) </a:t>
            </a:r>
            <a:r>
              <a:rPr lang="zh-CN" altLang="en-US" sz="2800" b="1" dirty="0"/>
              <a:t>任务在给定的时间片内已经完成，该进程便在释放处理机后进入</a:t>
            </a:r>
            <a:r>
              <a:rPr lang="zh-CN" altLang="en-US" sz="2800" b="1" dirty="0">
                <a:solidFill>
                  <a:srgbClr val="FF0000"/>
                </a:solidFill>
              </a:rPr>
              <a:t>完成状态</a:t>
            </a:r>
            <a:r>
              <a:rPr lang="zh-CN" altLang="en-US" sz="2800" b="1" dirty="0"/>
              <a:t>；</a:t>
            </a:r>
            <a:endParaRPr lang="zh-CN" altLang="en-US" sz="2800" b="1" dirty="0"/>
          </a:p>
          <a:p>
            <a:pPr eaLnBrk="1" hangingPunct="1"/>
            <a:r>
              <a:rPr lang="en-US" altLang="zh-CN" sz="2800" b="1" dirty="0"/>
              <a:t>(2) </a:t>
            </a:r>
            <a:r>
              <a:rPr lang="zh-CN" altLang="en-US" sz="2800" b="1" dirty="0"/>
              <a:t>任务在本次分得的时间片内尚未完成，</a:t>
            </a:r>
            <a:r>
              <a:rPr lang="en-US" altLang="zh-CN" sz="2800" b="1" dirty="0"/>
              <a:t>OS</a:t>
            </a:r>
            <a:r>
              <a:rPr lang="zh-CN" altLang="en-US" sz="2800" b="1" dirty="0"/>
              <a:t>便将该任务再放入</a:t>
            </a:r>
            <a:r>
              <a:rPr lang="zh-CN" altLang="en-US" sz="2800" b="1" dirty="0">
                <a:solidFill>
                  <a:srgbClr val="FF0000"/>
                </a:solidFill>
              </a:rPr>
              <a:t>就绪队列的末尾</a:t>
            </a:r>
            <a:r>
              <a:rPr lang="zh-CN" altLang="en-US" sz="2800" b="1" dirty="0"/>
              <a:t>；</a:t>
            </a:r>
            <a:endParaRPr lang="zh-CN" altLang="en-US" sz="2800" b="1" dirty="0"/>
          </a:p>
          <a:p>
            <a:pPr eaLnBrk="1" hangingPunct="1"/>
            <a:r>
              <a:rPr lang="en-US" altLang="zh-CN" sz="2800" b="1" dirty="0"/>
              <a:t>(3) </a:t>
            </a:r>
            <a:r>
              <a:rPr lang="zh-CN" altLang="en-US" sz="2800" b="1" dirty="0"/>
              <a:t>在执行期间，进程因为某事件而被阻塞后，被</a:t>
            </a:r>
            <a:r>
              <a:rPr lang="en-US" altLang="zh-CN" sz="2800" b="1" dirty="0"/>
              <a:t>OS</a:t>
            </a:r>
            <a:r>
              <a:rPr lang="zh-CN" altLang="en-US" sz="2800" b="1" dirty="0"/>
              <a:t>放入</a:t>
            </a:r>
            <a:r>
              <a:rPr lang="zh-CN" altLang="en-US" sz="2800" b="1" dirty="0">
                <a:solidFill>
                  <a:srgbClr val="FF0000"/>
                </a:solidFill>
              </a:rPr>
              <a:t>阻塞队列</a:t>
            </a:r>
            <a:r>
              <a:rPr lang="zh-CN" altLang="en-US" sz="2800" b="1" dirty="0"/>
              <a:t>。</a:t>
            </a:r>
            <a:endParaRPr lang="zh-CN" altLang="en-US" sz="2800" b="1" dirty="0"/>
          </a:p>
          <a:p>
            <a:pPr eaLnBrk="1" hangingPunct="1"/>
            <a:endParaRPr lang="zh-CN" altLang="en-US" sz="2800" b="1"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1" name="Text Box 2"/>
          <p:cNvSpPr txBox="1"/>
          <p:nvPr/>
        </p:nvSpPr>
        <p:spPr>
          <a:xfrm>
            <a:off x="1066800" y="388938"/>
            <a:ext cx="6343650" cy="519112"/>
          </a:xfrm>
          <a:prstGeom prst="rect">
            <a:avLst/>
          </a:prstGeom>
          <a:noFill/>
          <a:ln w="9525">
            <a:noFill/>
          </a:ln>
        </p:spPr>
        <p:txBody>
          <a:bodyPr wrap="none">
            <a:spAutoFit/>
          </a:bodyPr>
          <a:p>
            <a:pPr eaLnBrk="1" hangingPunct="1"/>
            <a:r>
              <a:rPr lang="en-US" altLang="zh-CN" sz="2800" b="1" dirty="0">
                <a:solidFill>
                  <a:schemeClr val="folHlink"/>
                </a:solidFill>
                <a:latin typeface="Times New Roman" panose="02020603050405020304" pitchFamily="18" charset="0"/>
              </a:rPr>
              <a:t>2. </a:t>
            </a:r>
            <a:r>
              <a:rPr lang="zh-CN" altLang="en-US" sz="2800" b="1" dirty="0">
                <a:solidFill>
                  <a:schemeClr val="folHlink"/>
                </a:solidFill>
                <a:latin typeface="Times New Roman" panose="02020603050405020304" pitchFamily="18" charset="0"/>
              </a:rPr>
              <a:t>具有高级和低级调度的调度队列模型 </a:t>
            </a:r>
            <a:endParaRPr lang="zh-CN" altLang="en-US" sz="2800" b="1" dirty="0">
              <a:solidFill>
                <a:schemeClr val="folHlink"/>
              </a:solidFill>
              <a:latin typeface="Times New Roman" panose="02020603050405020304" pitchFamily="18" charset="0"/>
            </a:endParaRPr>
          </a:p>
        </p:txBody>
      </p:sp>
      <p:sp>
        <p:nvSpPr>
          <p:cNvPr id="2052" name="Text Box 3"/>
          <p:cNvSpPr txBox="1"/>
          <p:nvPr/>
        </p:nvSpPr>
        <p:spPr>
          <a:xfrm>
            <a:off x="1981200" y="6221413"/>
            <a:ext cx="5030788" cy="396875"/>
          </a:xfrm>
          <a:prstGeom prst="rect">
            <a:avLst/>
          </a:prstGeom>
          <a:noFill/>
          <a:ln w="9525">
            <a:noFill/>
          </a:ln>
        </p:spPr>
        <p:txBody>
          <a:bodyPr wrap="none">
            <a:spAutoFit/>
          </a:bodyPr>
          <a:p>
            <a:pPr eaLnBrk="1" hangingPunct="1"/>
            <a:r>
              <a:rPr lang="zh-CN" altLang="en-US" sz="2000" dirty="0">
                <a:latin typeface="Times New Roman" panose="02020603050405020304" pitchFamily="18" charset="0"/>
              </a:rPr>
              <a:t>图 </a:t>
            </a:r>
            <a:r>
              <a:rPr lang="en-US" altLang="zh-CN" sz="2000" dirty="0">
                <a:latin typeface="Times New Roman" panose="02020603050405020304" pitchFamily="18" charset="0"/>
              </a:rPr>
              <a:t>3-2 </a:t>
            </a:r>
            <a:r>
              <a:rPr lang="zh-CN" altLang="en-US" sz="2000" dirty="0">
                <a:latin typeface="Times New Roman" panose="02020603050405020304" pitchFamily="18" charset="0"/>
              </a:rPr>
              <a:t>具有高、低两级调度的调度队列模型 </a:t>
            </a:r>
            <a:endParaRPr lang="zh-CN" altLang="en-US" sz="2000" dirty="0">
              <a:latin typeface="Times New Roman" panose="02020603050405020304" pitchFamily="18" charset="0"/>
            </a:endParaRPr>
          </a:p>
        </p:txBody>
      </p:sp>
      <p:graphicFrame>
        <p:nvGraphicFramePr>
          <p:cNvPr id="2050" name="Object 4"/>
          <p:cNvGraphicFramePr>
            <a:graphicFrameLocks noChangeAspect="1"/>
          </p:cNvGraphicFramePr>
          <p:nvPr/>
        </p:nvGraphicFramePr>
        <p:xfrm>
          <a:off x="647700" y="2500313"/>
          <a:ext cx="7956550" cy="3808412"/>
        </p:xfrm>
        <a:graphic>
          <a:graphicData uri="http://schemas.openxmlformats.org/presentationml/2006/ole">
            <mc:AlternateContent xmlns:mc="http://schemas.openxmlformats.org/markup-compatibility/2006">
              <mc:Choice xmlns:v="urn:schemas-microsoft-com:vml" Requires="v">
                <p:oleObj spid="_x0000_s3078" name="" r:id="rId1" imgW="4770120" imgH="2286000" progId="Visio.Drawing.4">
                  <p:embed/>
                </p:oleObj>
              </mc:Choice>
              <mc:Fallback>
                <p:oleObj name="" r:id="rId1" imgW="4770120" imgH="2286000" progId="Visio.Drawing.4">
                  <p:embed/>
                  <p:pic>
                    <p:nvPicPr>
                      <p:cNvPr id="0" name="图片 3077"/>
                      <p:cNvPicPr/>
                      <p:nvPr/>
                    </p:nvPicPr>
                    <p:blipFill>
                      <a:blip r:embed="rId2"/>
                      <a:stretch>
                        <a:fillRect/>
                      </a:stretch>
                    </p:blipFill>
                    <p:spPr>
                      <a:xfrm>
                        <a:off x="647700" y="2500313"/>
                        <a:ext cx="7956550" cy="3808412"/>
                      </a:xfrm>
                      <a:prstGeom prst="rect">
                        <a:avLst/>
                      </a:prstGeom>
                      <a:noFill/>
                      <a:ln w="38100">
                        <a:noFill/>
                        <a:miter/>
                      </a:ln>
                    </p:spPr>
                  </p:pic>
                </p:oleObj>
              </mc:Fallback>
            </mc:AlternateContent>
          </a:graphicData>
        </a:graphic>
      </p:graphicFrame>
      <p:sp>
        <p:nvSpPr>
          <p:cNvPr id="2053" name="Text Box 5"/>
          <p:cNvSpPr txBox="1"/>
          <p:nvPr/>
        </p:nvSpPr>
        <p:spPr>
          <a:xfrm>
            <a:off x="250825" y="1012825"/>
            <a:ext cx="8642350" cy="1552575"/>
          </a:xfrm>
          <a:prstGeom prst="rect">
            <a:avLst/>
          </a:prstGeom>
          <a:noFill/>
          <a:ln w="9525">
            <a:noFill/>
          </a:ln>
          <a:effectLst>
            <a:prstShdw prst="shdw17" dist="17961" dir="13499999">
              <a:schemeClr val="bg2"/>
            </a:prstShdw>
          </a:effectLst>
        </p:spPr>
        <p:txBody>
          <a:bodyPr>
            <a:spAutoFit/>
          </a:bodyPr>
          <a:p>
            <a:pPr eaLnBrk="1" hangingPunct="1"/>
            <a:r>
              <a:rPr lang="zh-CN" altLang="en-US" sz="2400" b="1" dirty="0">
                <a:latin typeface="Arial" panose="020B0604020202020204" pitchFamily="34" charset="0"/>
              </a:rPr>
              <a:t>作业调度按一定的作业调度算法，从外存的后备队列中选择一批作业调入内存，并为它们建立进程，送入就绪队列，然后才由进程调度按照一定的进程调度算法选择一个进程，把处理机分配给该进程。</a:t>
            </a:r>
            <a:endParaRPr lang="zh-CN" altLang="en-US" sz="2400" b="1" dirty="0">
              <a:latin typeface="Arial" panose="020B0604020202020204" pitchFamily="34"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3"/>
          <p:cNvSpPr>
            <a:spLocks noGrp="1" noRot="1"/>
          </p:cNvSpPr>
          <p:nvPr>
            <p:ph idx="1"/>
          </p:nvPr>
        </p:nvSpPr>
        <p:spPr>
          <a:xfrm>
            <a:off x="301625" y="1341438"/>
            <a:ext cx="8540750" cy="4498975"/>
          </a:xfrm>
          <a:ln/>
        </p:spPr>
        <p:txBody>
          <a:bodyPr vert="horz" wrap="square" lIns="91440" tIns="45720" rIns="91440" bIns="45720" anchor="t" anchorCtr="0"/>
          <a:p>
            <a:pPr eaLnBrk="1" hangingPunct="1"/>
            <a:r>
              <a:rPr lang="zh-CN" altLang="en-US" sz="2800" b="1" dirty="0"/>
              <a:t>当在</a:t>
            </a:r>
            <a:r>
              <a:rPr lang="en-US" altLang="zh-CN" sz="2800" b="1" dirty="0"/>
              <a:t>OS </a:t>
            </a:r>
            <a:r>
              <a:rPr lang="zh-CN" altLang="en-US" sz="2800" b="1" dirty="0"/>
              <a:t>中引入中级调度后，人们可把进程的就绪状态分为内存就绪</a:t>
            </a:r>
            <a:r>
              <a:rPr lang="en-US" altLang="zh-CN" sz="2800" b="1" dirty="0"/>
              <a:t>(</a:t>
            </a:r>
            <a:r>
              <a:rPr lang="zh-CN" altLang="en-US" sz="2800" b="1" dirty="0"/>
              <a:t>表示进程在内存中就绪</a:t>
            </a:r>
            <a:r>
              <a:rPr lang="en-US" altLang="zh-CN" sz="2800" b="1" dirty="0"/>
              <a:t>)</a:t>
            </a:r>
            <a:r>
              <a:rPr lang="zh-CN" altLang="en-US" sz="2800" b="1" dirty="0"/>
              <a:t>和外存就绪</a:t>
            </a:r>
            <a:r>
              <a:rPr lang="en-US" altLang="zh-CN" sz="2800" b="1" dirty="0"/>
              <a:t>(</a:t>
            </a:r>
            <a:r>
              <a:rPr lang="zh-CN" altLang="en-US" sz="2800" b="1" dirty="0"/>
              <a:t>进程在外存中就绪</a:t>
            </a:r>
            <a:r>
              <a:rPr lang="en-US" altLang="zh-CN" sz="2800" b="1" dirty="0"/>
              <a:t>)</a:t>
            </a:r>
            <a:r>
              <a:rPr lang="zh-CN" altLang="en-US" sz="2800" b="1" dirty="0"/>
              <a:t>。</a:t>
            </a:r>
            <a:endParaRPr lang="zh-CN" altLang="en-US" sz="2800" b="1" dirty="0"/>
          </a:p>
          <a:p>
            <a:pPr eaLnBrk="1" hangingPunct="1"/>
            <a:r>
              <a:rPr lang="zh-CN" altLang="en-US" sz="2800" b="1" dirty="0"/>
              <a:t>把阻塞状态进一步分成内存阻塞和外存阻塞两种状态。</a:t>
            </a:r>
            <a:endParaRPr lang="zh-CN" altLang="en-US" sz="2800" b="1" dirty="0"/>
          </a:p>
          <a:p>
            <a:pPr eaLnBrk="1" hangingPunct="1"/>
            <a:r>
              <a:rPr lang="zh-CN" altLang="en-US" sz="2800" b="1" dirty="0"/>
              <a:t>在调出操作的作用下，可使进程状态由内存就绪转为外存就绪，由内存阻塞转为外存阻塞；</a:t>
            </a:r>
            <a:endParaRPr lang="zh-CN" altLang="en-US" sz="2800" b="1" dirty="0"/>
          </a:p>
          <a:p>
            <a:pPr eaLnBrk="1" hangingPunct="1"/>
            <a:r>
              <a:rPr lang="zh-CN" altLang="en-US" sz="2800" b="1" dirty="0"/>
              <a:t>在中级调度的作用下，又可使外存就绪转为内存就绪。</a:t>
            </a:r>
            <a:endParaRPr lang="zh-CN" altLang="en-US" sz="2800" b="1" dirty="0"/>
          </a:p>
          <a:p>
            <a:pPr eaLnBrk="1" hangingPunct="1"/>
            <a:endParaRPr lang="zh-CN" altLang="en-US" sz="2800" b="1" dirty="0"/>
          </a:p>
        </p:txBody>
      </p:sp>
      <p:sp>
        <p:nvSpPr>
          <p:cNvPr id="31747" name="Text Box 4"/>
          <p:cNvSpPr/>
          <p:nvPr>
            <p:ph type="title"/>
          </p:nvPr>
        </p:nvSpPr>
        <p:spPr>
          <a:ln/>
        </p:spPr>
        <p:txBody>
          <a:bodyPr vert="horz" wrap="square" lIns="91440" tIns="45720" rIns="91440" bIns="45720" anchor="ctr" anchorCtr="0"/>
          <a:p>
            <a:pPr algn="l" eaLnBrk="1" hangingPunct="1"/>
            <a:r>
              <a:rPr lang="en-US" altLang="zh-CN" sz="3200" b="1" dirty="0">
                <a:solidFill>
                  <a:schemeClr val="folHlink"/>
                </a:solidFill>
              </a:rPr>
              <a:t>3. </a:t>
            </a:r>
            <a:r>
              <a:rPr lang="zh-CN" altLang="en-US" sz="3200" b="1" dirty="0">
                <a:solidFill>
                  <a:schemeClr val="folHlink"/>
                </a:solidFill>
              </a:rPr>
              <a:t>同时具有三级调度的调度队列模型</a:t>
            </a:r>
            <a:r>
              <a:rPr lang="zh-CN" altLang="en-US" sz="3200" dirty="0">
                <a:solidFill>
                  <a:schemeClr val="folHlink"/>
                </a:solidFill>
              </a:rPr>
              <a:t> </a:t>
            </a:r>
            <a:endParaRPr lang="zh-CN" altLang="en-US" sz="3200" dirty="0">
              <a:solidFill>
                <a:schemeClr val="folHlink"/>
              </a:solidFill>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5" name="Text Box 2"/>
          <p:cNvSpPr txBox="1"/>
          <p:nvPr/>
        </p:nvSpPr>
        <p:spPr>
          <a:xfrm>
            <a:off x="1035050" y="404813"/>
            <a:ext cx="5160963" cy="457200"/>
          </a:xfrm>
          <a:prstGeom prst="rect">
            <a:avLst/>
          </a:prstGeom>
          <a:noFill/>
          <a:ln w="9525">
            <a:noFill/>
          </a:ln>
        </p:spPr>
        <p:txBody>
          <a:bodyPr wrap="none">
            <a:spAutoFit/>
          </a:bodyPr>
          <a:p>
            <a:pPr eaLnBrk="1" hangingPunct="1"/>
            <a:r>
              <a:rPr lang="en-US" altLang="zh-CN" sz="2400" b="1" dirty="0">
                <a:latin typeface="Times New Roman" panose="02020603050405020304" pitchFamily="18" charset="0"/>
              </a:rPr>
              <a:t>3. </a:t>
            </a:r>
            <a:r>
              <a:rPr lang="zh-CN" altLang="en-US" sz="2400" b="1" dirty="0">
                <a:latin typeface="Times New Roman" panose="02020603050405020304" pitchFamily="18" charset="0"/>
              </a:rPr>
              <a:t>同时具有三级调度的调度队列模型 </a:t>
            </a:r>
            <a:endParaRPr lang="zh-CN" altLang="en-US" sz="2400" b="1" dirty="0">
              <a:latin typeface="Times New Roman" panose="02020603050405020304" pitchFamily="18" charset="0"/>
            </a:endParaRPr>
          </a:p>
        </p:txBody>
      </p:sp>
      <p:sp>
        <p:nvSpPr>
          <p:cNvPr id="3076" name="Text Box 3"/>
          <p:cNvSpPr txBox="1"/>
          <p:nvPr/>
        </p:nvSpPr>
        <p:spPr>
          <a:xfrm>
            <a:off x="2178050" y="6119813"/>
            <a:ext cx="5391150" cy="457200"/>
          </a:xfrm>
          <a:prstGeom prst="rect">
            <a:avLst/>
          </a:prstGeom>
          <a:noFill/>
          <a:ln w="9525">
            <a:noFill/>
          </a:ln>
        </p:spPr>
        <p:txBody>
          <a:bodyPr wrap="none">
            <a:spAutoFit/>
          </a:bodyPr>
          <a:p>
            <a:pPr eaLnBrk="1" hangingPunct="1"/>
            <a:r>
              <a:rPr lang="zh-CN" altLang="en-US" sz="2400" dirty="0">
                <a:latin typeface="Times New Roman" panose="02020603050405020304" pitchFamily="18" charset="0"/>
              </a:rPr>
              <a:t>图 </a:t>
            </a:r>
            <a:r>
              <a:rPr lang="en-US" altLang="zh-CN" sz="2400" dirty="0">
                <a:latin typeface="Times New Roman" panose="02020603050405020304" pitchFamily="18" charset="0"/>
              </a:rPr>
              <a:t>3-3 </a:t>
            </a:r>
            <a:r>
              <a:rPr lang="zh-CN" altLang="en-US" sz="2400" dirty="0">
                <a:latin typeface="Times New Roman" panose="02020603050405020304" pitchFamily="18" charset="0"/>
              </a:rPr>
              <a:t>具有三级调度时的调度队列模型 </a:t>
            </a:r>
            <a:endParaRPr lang="zh-CN" altLang="en-US" sz="2400" dirty="0">
              <a:latin typeface="Times New Roman" panose="02020603050405020304" pitchFamily="18" charset="0"/>
            </a:endParaRPr>
          </a:p>
        </p:txBody>
      </p:sp>
      <p:graphicFrame>
        <p:nvGraphicFramePr>
          <p:cNvPr id="3074" name="Object 4"/>
          <p:cNvGraphicFramePr>
            <a:graphicFrameLocks noChangeAspect="1"/>
          </p:cNvGraphicFramePr>
          <p:nvPr/>
        </p:nvGraphicFramePr>
        <p:xfrm>
          <a:off x="-107950" y="938213"/>
          <a:ext cx="9144000" cy="5230812"/>
        </p:xfrm>
        <a:graphic>
          <a:graphicData uri="http://schemas.openxmlformats.org/presentationml/2006/ole">
            <mc:AlternateContent xmlns:mc="http://schemas.openxmlformats.org/markup-compatibility/2006">
              <mc:Choice xmlns:v="urn:schemas-microsoft-com:vml" Requires="v">
                <p:oleObj spid="_x0000_s3080" name="" r:id="rId1" imgW="4305300" imgH="2461260" progId="Visio.Drawing.4">
                  <p:embed/>
                </p:oleObj>
              </mc:Choice>
              <mc:Fallback>
                <p:oleObj name="" r:id="rId1" imgW="4305300" imgH="2461260" progId="Visio.Drawing.4">
                  <p:embed/>
                  <p:pic>
                    <p:nvPicPr>
                      <p:cNvPr id="0" name="图片 3079"/>
                      <p:cNvPicPr/>
                      <p:nvPr/>
                    </p:nvPicPr>
                    <p:blipFill>
                      <a:blip r:embed="rId2"/>
                      <a:stretch>
                        <a:fillRect/>
                      </a:stretch>
                    </p:blipFill>
                    <p:spPr>
                      <a:xfrm>
                        <a:off x="-107950" y="938213"/>
                        <a:ext cx="9144000" cy="5230812"/>
                      </a:xfrm>
                      <a:prstGeom prst="rect">
                        <a:avLst/>
                      </a:prstGeom>
                      <a:noFill/>
                      <a:ln w="38100">
                        <a:noFill/>
                        <a:miter/>
                      </a:ln>
                    </p:spPr>
                  </p:pic>
                </p:oleObj>
              </mc:Fallback>
            </mc:AlternateContent>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noRot="1"/>
          </p:cNvSpPr>
          <p:nvPr>
            <p:ph type="title" idx="4294967295"/>
          </p:nvPr>
        </p:nvSpPr>
        <p:spPr>
          <a:ln/>
        </p:spPr>
        <p:txBody>
          <a:bodyPr vert="horz" wrap="square" lIns="91440" tIns="45720" rIns="91440" bIns="45720" anchor="ctr" anchorCtr="0"/>
          <a:p>
            <a:pPr eaLnBrk="1" hangingPunct="1"/>
            <a:r>
              <a:rPr lang="en-US" altLang="zh-CN" sz="3200" b="1" dirty="0">
                <a:solidFill>
                  <a:schemeClr val="folHlink"/>
                </a:solidFill>
              </a:rPr>
              <a:t>3.1.3 </a:t>
            </a:r>
            <a:r>
              <a:rPr lang="zh-CN" altLang="en-US" sz="3200" b="1" dirty="0">
                <a:solidFill>
                  <a:schemeClr val="folHlink"/>
                </a:solidFill>
              </a:rPr>
              <a:t>处理机调度算法的目标</a:t>
            </a:r>
            <a:endParaRPr lang="zh-CN" altLang="en-US" sz="3200" b="1" dirty="0">
              <a:solidFill>
                <a:schemeClr val="folHlink"/>
              </a:solidFill>
            </a:endParaRPr>
          </a:p>
        </p:txBody>
      </p:sp>
      <p:sp>
        <p:nvSpPr>
          <p:cNvPr id="36867" name="Rectangle 3"/>
          <p:cNvSpPr>
            <a:spLocks noGrp="1" noRot="1"/>
          </p:cNvSpPr>
          <p:nvPr>
            <p:ph type="body" idx="4294967295"/>
          </p:nvPr>
        </p:nvSpPr>
        <p:spPr>
          <a:ln/>
        </p:spPr>
        <p:txBody>
          <a:bodyPr vert="horz" wrap="square" lIns="91440" tIns="45720" rIns="91440" bIns="45720" anchor="t" anchorCtr="0"/>
          <a:p>
            <a:pPr eaLnBrk="1" hangingPunct="1"/>
            <a:r>
              <a:rPr lang="en-US" altLang="zh-CN" b="1" dirty="0"/>
              <a:t>1</a:t>
            </a:r>
            <a:r>
              <a:rPr lang="zh-CN" altLang="en-US" b="1" dirty="0"/>
              <a:t>。调度算法的共同目标：</a:t>
            </a:r>
            <a:endParaRPr lang="zh-CN" altLang="en-US" b="1" dirty="0"/>
          </a:p>
          <a:p>
            <a:pPr lvl="1" eaLnBrk="1" hangingPunct="1">
              <a:buNone/>
            </a:pPr>
            <a:r>
              <a:rPr lang="en-US" altLang="zh-CN" b="1" dirty="0"/>
              <a:t>1</a:t>
            </a:r>
            <a:r>
              <a:rPr lang="zh-CN" altLang="en-US" b="1" dirty="0"/>
              <a:t>、</a:t>
            </a:r>
            <a:r>
              <a:rPr lang="zh-CN" altLang="en-US" b="1" dirty="0">
                <a:latin typeface="楷体_GB2312" pitchFamily="49" charset="-122"/>
                <a:ea typeface="楷体_GB2312" pitchFamily="49" charset="-122"/>
              </a:rPr>
              <a:t>提高资源利用率</a:t>
            </a:r>
            <a:endParaRPr lang="en-US" altLang="zh-CN" b="1" dirty="0">
              <a:latin typeface="楷体_GB2312" pitchFamily="49" charset="-122"/>
              <a:ea typeface="楷体_GB2312" pitchFamily="49" charset="-122"/>
            </a:endParaRPr>
          </a:p>
          <a:p>
            <a:pPr lvl="1" eaLnBrk="1" hangingPunct="1">
              <a:buNone/>
            </a:pPr>
            <a:r>
              <a:rPr lang="en-US" altLang="zh-CN" b="1" dirty="0">
                <a:latin typeface="楷体_GB2312" pitchFamily="49" charset="-122"/>
                <a:ea typeface="楷体_GB2312" pitchFamily="49" charset="-122"/>
              </a:rPr>
              <a:t>	</a:t>
            </a:r>
            <a:r>
              <a:rPr lang="en-US" altLang="zh-CN" b="1" dirty="0">
                <a:solidFill>
                  <a:srgbClr val="FF0000"/>
                </a:solidFill>
                <a:latin typeface="楷体_GB2312" pitchFamily="49" charset="-122"/>
                <a:ea typeface="楷体_GB2312" pitchFamily="49" charset="-122"/>
              </a:rPr>
              <a:t>CPU</a:t>
            </a:r>
            <a:r>
              <a:rPr lang="zh-CN" altLang="en-US" sz="2000" b="1" dirty="0">
                <a:solidFill>
                  <a:srgbClr val="FF0000"/>
                </a:solidFill>
                <a:latin typeface="楷体_GB2312" pitchFamily="49" charset="-122"/>
                <a:ea typeface="楷体_GB2312" pitchFamily="49" charset="-122"/>
              </a:rPr>
              <a:t>利用率</a:t>
            </a:r>
            <a:r>
              <a:rPr lang="en-US" altLang="zh-CN" b="1" dirty="0">
                <a:solidFill>
                  <a:srgbClr val="FF0000"/>
                </a:solidFill>
                <a:latin typeface="楷体_GB2312" pitchFamily="49" charset="-122"/>
                <a:ea typeface="楷体_GB2312" pitchFamily="49" charset="-122"/>
              </a:rPr>
              <a:t>= CPU</a:t>
            </a:r>
            <a:r>
              <a:rPr lang="zh-CN" altLang="en-US" b="1" dirty="0">
                <a:solidFill>
                  <a:srgbClr val="FF0000"/>
                </a:solidFill>
                <a:latin typeface="楷体_GB2312" pitchFamily="49" charset="-122"/>
                <a:ea typeface="楷体_GB2312" pitchFamily="49" charset="-122"/>
              </a:rPr>
              <a:t>有效工作时间</a:t>
            </a:r>
            <a:r>
              <a:rPr lang="en-US" altLang="zh-CN" b="1" dirty="0">
                <a:solidFill>
                  <a:srgbClr val="FF0000"/>
                </a:solidFill>
                <a:latin typeface="楷体_GB2312" pitchFamily="49" charset="-122"/>
                <a:ea typeface="楷体_GB2312" pitchFamily="49" charset="-122"/>
              </a:rPr>
              <a:t>/(CPU</a:t>
            </a:r>
            <a:r>
              <a:rPr lang="zh-CN" altLang="en-US" b="1" dirty="0">
                <a:solidFill>
                  <a:srgbClr val="FF0000"/>
                </a:solidFill>
                <a:latin typeface="楷体_GB2312" pitchFamily="49" charset="-122"/>
                <a:ea typeface="楷体_GB2312" pitchFamily="49" charset="-122"/>
              </a:rPr>
              <a:t>有效工作时间</a:t>
            </a:r>
            <a:r>
              <a:rPr lang="en-US" altLang="zh-CN" b="1" dirty="0">
                <a:solidFill>
                  <a:srgbClr val="FF0000"/>
                </a:solidFill>
                <a:latin typeface="楷体_GB2312" pitchFamily="49" charset="-122"/>
                <a:ea typeface="楷体_GB2312" pitchFamily="49" charset="-122"/>
              </a:rPr>
              <a:t>+CPU</a:t>
            </a:r>
            <a:r>
              <a:rPr lang="zh-CN" altLang="en-US" b="1" dirty="0">
                <a:solidFill>
                  <a:srgbClr val="FF0000"/>
                </a:solidFill>
                <a:latin typeface="楷体_GB2312" pitchFamily="49" charset="-122"/>
                <a:ea typeface="楷体_GB2312" pitchFamily="49" charset="-122"/>
              </a:rPr>
              <a:t>空闲等待时间</a:t>
            </a:r>
            <a:r>
              <a:rPr lang="en-US" altLang="zh-CN" b="1" dirty="0">
                <a:solidFill>
                  <a:srgbClr val="FF0000"/>
                </a:solidFill>
                <a:latin typeface="楷体_GB2312" pitchFamily="49" charset="-122"/>
                <a:ea typeface="楷体_GB2312" pitchFamily="49" charset="-122"/>
              </a:rPr>
              <a:t>)</a:t>
            </a:r>
            <a:endParaRPr lang="en-US" altLang="zh-CN" b="1" dirty="0">
              <a:solidFill>
                <a:srgbClr val="FF0000"/>
              </a:solidFill>
              <a:latin typeface="楷体_GB2312" pitchFamily="49" charset="-122"/>
              <a:ea typeface="楷体_GB2312" pitchFamily="49" charset="-122"/>
            </a:endParaRPr>
          </a:p>
          <a:p>
            <a:pPr lvl="1" eaLnBrk="1" hangingPunct="1">
              <a:buNone/>
            </a:pP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、公平性</a:t>
            </a:r>
            <a:endParaRPr lang="en-US" altLang="zh-CN" b="1" dirty="0">
              <a:latin typeface="楷体_GB2312" pitchFamily="49" charset="-122"/>
              <a:ea typeface="楷体_GB2312" pitchFamily="49" charset="-122"/>
            </a:endParaRPr>
          </a:p>
          <a:p>
            <a:pPr lvl="1" eaLnBrk="1" hangingPunct="1">
              <a:buNone/>
            </a:pPr>
            <a:r>
              <a:rPr lang="en-US" altLang="zh-CN" b="1" dirty="0">
                <a:latin typeface="楷体_GB2312" pitchFamily="49" charset="-122"/>
                <a:ea typeface="楷体_GB2312" pitchFamily="49" charset="-122"/>
              </a:rPr>
              <a:t>3</a:t>
            </a:r>
            <a:r>
              <a:rPr lang="zh-CN" altLang="en-US" b="1" dirty="0">
                <a:latin typeface="楷体_GB2312" pitchFamily="49" charset="-122"/>
                <a:ea typeface="楷体_GB2312" pitchFamily="49" charset="-122"/>
              </a:rPr>
              <a:t>、系统资源使用的平衡性</a:t>
            </a:r>
            <a:endParaRPr lang="zh-CN" altLang="en-US" b="1" dirty="0">
              <a:latin typeface="楷体_GB2312" pitchFamily="49" charset="-122"/>
              <a:ea typeface="楷体_GB2312" pitchFamily="49" charset="-122"/>
            </a:endParaRPr>
          </a:p>
          <a:p>
            <a:pPr lvl="1" eaLnBrk="1" hangingPunct="1">
              <a:buNone/>
            </a:pPr>
            <a:r>
              <a:rPr lang="en-US" altLang="zh-CN" b="1" dirty="0">
                <a:latin typeface="楷体_GB2312" pitchFamily="49" charset="-122"/>
                <a:ea typeface="楷体_GB2312" pitchFamily="49" charset="-122"/>
              </a:rPr>
              <a:t>4</a:t>
            </a:r>
            <a:r>
              <a:rPr lang="zh-CN" altLang="en-US" b="1" dirty="0">
                <a:latin typeface="楷体_GB2312" pitchFamily="49" charset="-122"/>
                <a:ea typeface="楷体_GB2312" pitchFamily="49" charset="-122"/>
              </a:rPr>
              <a:t>、策略强制执行</a:t>
            </a:r>
            <a:endParaRPr lang="en-US" altLang="zh-CN" b="1" dirty="0">
              <a:latin typeface="楷体_GB2312" pitchFamily="49" charset="-122"/>
              <a:ea typeface="楷体_GB2312" pitchFamily="49" charset="-122"/>
            </a:endParaRPr>
          </a:p>
          <a:p>
            <a:pPr lvl="1" eaLnBrk="1" hangingPunct="1">
              <a:buNone/>
            </a:pPr>
            <a:r>
              <a:rPr lang="zh-CN" altLang="en-US" b="1" dirty="0"/>
              <a:t>调度的原则：满足用户的需要和系统的需要。</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fade">
                                      <p:cBhvr>
                                        <p:cTn id="7" dur="2000"/>
                                        <p:tgtEl>
                                          <p:spTgt spid="368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867">
                                            <p:txEl>
                                              <p:charRg st="0" end="13"/>
                                            </p:txEl>
                                          </p:spTgt>
                                        </p:tgtEl>
                                        <p:attrNameLst>
                                          <p:attrName>style.visibility</p:attrName>
                                        </p:attrNameLst>
                                      </p:cBhvr>
                                      <p:to>
                                        <p:strVal val="visible"/>
                                      </p:to>
                                    </p:set>
                                    <p:animEffect transition="in" filter="fade">
                                      <p:cBhvr>
                                        <p:cTn id="12" dur="2000"/>
                                        <p:tgtEl>
                                          <p:spTgt spid="36867">
                                            <p:txEl>
                                              <p:charRg st="0" end="13"/>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6867">
                                            <p:txEl>
                                              <p:charRg st="13" end="23"/>
                                            </p:txEl>
                                          </p:spTgt>
                                        </p:tgtEl>
                                        <p:attrNameLst>
                                          <p:attrName>style.visibility</p:attrName>
                                        </p:attrNameLst>
                                      </p:cBhvr>
                                      <p:to>
                                        <p:strVal val="visible"/>
                                      </p:to>
                                    </p:set>
                                    <p:animEffect transition="in" filter="fade">
                                      <p:cBhvr>
                                        <p:cTn id="15" dur="2000"/>
                                        <p:tgtEl>
                                          <p:spTgt spid="36867">
                                            <p:txEl>
                                              <p:charRg st="13" end="2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867">
                                            <p:txEl>
                                              <p:charRg st="23" end="64"/>
                                            </p:txEl>
                                          </p:spTgt>
                                        </p:tgtEl>
                                        <p:attrNameLst>
                                          <p:attrName>style.visibility</p:attrName>
                                        </p:attrNameLst>
                                      </p:cBhvr>
                                      <p:to>
                                        <p:strVal val="visible"/>
                                      </p:to>
                                    </p:set>
                                    <p:animEffect transition="in" filter="fade">
                                      <p:cBhvr>
                                        <p:cTn id="18" dur="2000"/>
                                        <p:tgtEl>
                                          <p:spTgt spid="36867">
                                            <p:txEl>
                                              <p:charRg st="23" end="6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6867">
                                            <p:txEl>
                                              <p:charRg st="64" end="70"/>
                                            </p:txEl>
                                          </p:spTgt>
                                        </p:tgtEl>
                                        <p:attrNameLst>
                                          <p:attrName>style.visibility</p:attrName>
                                        </p:attrNameLst>
                                      </p:cBhvr>
                                      <p:to>
                                        <p:strVal val="visible"/>
                                      </p:to>
                                    </p:set>
                                    <p:animEffect transition="in" filter="fade">
                                      <p:cBhvr>
                                        <p:cTn id="21" dur="2000"/>
                                        <p:tgtEl>
                                          <p:spTgt spid="36867">
                                            <p:txEl>
                                              <p:charRg st="64" end="7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6867">
                                            <p:txEl>
                                              <p:charRg st="70" end="83"/>
                                            </p:txEl>
                                          </p:spTgt>
                                        </p:tgtEl>
                                        <p:attrNameLst>
                                          <p:attrName>style.visibility</p:attrName>
                                        </p:attrNameLst>
                                      </p:cBhvr>
                                      <p:to>
                                        <p:strVal val="visible"/>
                                      </p:to>
                                    </p:set>
                                    <p:animEffect transition="in" filter="fade">
                                      <p:cBhvr>
                                        <p:cTn id="24" dur="2000"/>
                                        <p:tgtEl>
                                          <p:spTgt spid="36867">
                                            <p:txEl>
                                              <p:charRg st="70" end="83"/>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6867">
                                            <p:txEl>
                                              <p:charRg st="83" end="92"/>
                                            </p:txEl>
                                          </p:spTgt>
                                        </p:tgtEl>
                                        <p:attrNameLst>
                                          <p:attrName>style.visibility</p:attrName>
                                        </p:attrNameLst>
                                      </p:cBhvr>
                                      <p:to>
                                        <p:strVal val="visible"/>
                                      </p:to>
                                    </p:set>
                                    <p:animEffect transition="in" filter="fade">
                                      <p:cBhvr>
                                        <p:cTn id="27" dur="2000"/>
                                        <p:tgtEl>
                                          <p:spTgt spid="36867">
                                            <p:txEl>
                                              <p:charRg st="83" end="92"/>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6867">
                                            <p:txEl>
                                              <p:charRg st="92" end="113"/>
                                            </p:txEl>
                                          </p:spTgt>
                                        </p:tgtEl>
                                        <p:attrNameLst>
                                          <p:attrName>style.visibility</p:attrName>
                                        </p:attrNameLst>
                                      </p:cBhvr>
                                      <p:to>
                                        <p:strVal val="visible"/>
                                      </p:to>
                                    </p:set>
                                    <p:animEffect transition="in" filter="fade">
                                      <p:cBhvr>
                                        <p:cTn id="30" dur="2000"/>
                                        <p:tgtEl>
                                          <p:spTgt spid="36867">
                                            <p:txEl>
                                              <p:charRg st="92" end="1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P spid="3686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02" name="Rectangle 2"/>
          <p:cNvSpPr>
            <a:spLocks noGrp="1" noRot="1" noChangeArrowheads="1"/>
          </p:cNvSpPr>
          <p:nvPr>
            <p:ph type="title" idx="4294967295"/>
          </p:nvPr>
        </p:nvSpPr>
        <p:spPr>
          <a:xfrm>
            <a:off x="301625" y="419100"/>
            <a:ext cx="7264400" cy="762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2</a:t>
            </a:r>
            <a:r>
              <a:rPr kumimoji="0" lang="zh-CN" altLang="en-US" sz="36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。批处理系统的目标</a:t>
            </a:r>
            <a:endParaRPr kumimoji="0" lang="zh-CN" altLang="en-US" sz="36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256003" name="Rectangle 3"/>
          <p:cNvSpPr>
            <a:spLocks noGrp="1" noRot="1" noChangeArrowheads="1"/>
          </p:cNvSpPr>
          <p:nvPr>
            <p:ph type="body" idx="1"/>
          </p:nvPr>
        </p:nvSpPr>
        <p:spPr>
          <a:xfrm>
            <a:off x="457200" y="1828800"/>
            <a:ext cx="8153400" cy="42672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3200" b="1"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3200" b="1" i="0" u="none" strike="noStrike" kern="0" cap="none" spc="0" normalizeH="0" baseline="0" noProof="0" dirty="0" smtClean="0">
                <a:ln>
                  <a:noFill/>
                </a:ln>
                <a:solidFill>
                  <a:schemeClr val="folHlink"/>
                </a:solidFill>
                <a:effectLst/>
                <a:uLnTx/>
                <a:uFillTx/>
                <a:latin typeface="+mn-lt"/>
                <a:ea typeface="+mn-ea"/>
                <a:cs typeface="+mn-cs"/>
              </a:rPr>
              <a:t>1</a:t>
            </a:r>
            <a:r>
              <a:rPr kumimoji="0" lang="zh-CN" altLang="en-US" sz="3200" b="1" i="0" u="none" strike="noStrike" kern="0" cap="none" spc="0" normalizeH="0" baseline="0" noProof="0" dirty="0" smtClean="0">
                <a:ln>
                  <a:noFill/>
                </a:ln>
                <a:solidFill>
                  <a:schemeClr val="folHlink"/>
                </a:solidFill>
                <a:effectLst/>
                <a:uLnTx/>
                <a:uFillTx/>
                <a:latin typeface="+mn-lt"/>
                <a:ea typeface="+mn-ea"/>
                <a:cs typeface="+mn-cs"/>
              </a:rPr>
              <a:t>）周转时间短</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en-US" sz="32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3200" b="1" i="0" u="none" strike="noStrike" kern="0" cap="none" spc="0" normalizeH="0" baseline="0" noProof="0" dirty="0" smtClean="0">
                <a:ln>
                  <a:noFill/>
                </a:ln>
                <a:solidFill>
                  <a:srgbClr val="0000CC"/>
                </a:solidFill>
                <a:effectLst>
                  <a:outerShdw blurRad="38100" dist="38100" dir="2700000" algn="tl">
                    <a:srgbClr val="C0C0C0"/>
                  </a:outerShdw>
                </a:effectLst>
                <a:uLnTx/>
                <a:uFillTx/>
                <a:latin typeface="+mn-lt"/>
                <a:ea typeface="+mn-ea"/>
                <a:cs typeface="+mn-cs"/>
              </a:rPr>
              <a:t>    </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所谓</a:t>
            </a: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mn-ea"/>
                <a:cs typeface="+mn-cs"/>
              </a:rPr>
              <a:t>周转时间</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，是指从作业被提交给系统开始，到作业完成为止的这段时间间隔（称为作业周转时间）。</a:t>
            </a:r>
            <a:endParaRPr kumimoji="0" lang="zh-CN" altLang="en-US" sz="32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6002"/>
                                        </p:tgtEl>
                                        <p:attrNameLst>
                                          <p:attrName>style.visibility</p:attrName>
                                        </p:attrNameLst>
                                      </p:cBhvr>
                                      <p:to>
                                        <p:strVal val="visible"/>
                                      </p:to>
                                    </p:set>
                                    <p:animEffect transition="in" filter="fade">
                                      <p:cBhvr>
                                        <p:cTn id="7" dur="2000"/>
                                        <p:tgtEl>
                                          <p:spTgt spid="2560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6003">
                                            <p:txEl>
                                              <p:charRg st="0" end="10"/>
                                            </p:txEl>
                                          </p:spTgt>
                                        </p:tgtEl>
                                        <p:attrNameLst>
                                          <p:attrName>style.visibility</p:attrName>
                                        </p:attrNameLst>
                                      </p:cBhvr>
                                      <p:to>
                                        <p:strVal val="visible"/>
                                      </p:to>
                                    </p:set>
                                    <p:animEffect transition="in" filter="fade">
                                      <p:cBhvr>
                                        <p:cTn id="12" dur="2000"/>
                                        <p:tgtEl>
                                          <p:spTgt spid="256003">
                                            <p:txEl>
                                              <p:charRg st="0" end="1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6003">
                                            <p:txEl>
                                              <p:charRg st="10" end="61"/>
                                            </p:txEl>
                                          </p:spTgt>
                                        </p:tgtEl>
                                        <p:attrNameLst>
                                          <p:attrName>style.visibility</p:attrName>
                                        </p:attrNameLst>
                                      </p:cBhvr>
                                      <p:to>
                                        <p:strVal val="visible"/>
                                      </p:to>
                                    </p:set>
                                    <p:animEffect transition="in" filter="fade">
                                      <p:cBhvr>
                                        <p:cTn id="17" dur="2000"/>
                                        <p:tgtEl>
                                          <p:spTgt spid="256003">
                                            <p:txEl>
                                              <p:charRg st="10" end="6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2" grpId="0"/>
      <p:bldP spid="25600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7026"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Times New Roman" panose="02020603050405020304" pitchFamily="18" charset="0"/>
                <a:ea typeface="+mj-ea"/>
                <a:cs typeface="+mj-cs"/>
              </a:rPr>
              <a:t>周转时间包括四部分时间</a:t>
            </a:r>
            <a:r>
              <a:rPr kumimoji="0" lang="zh-CN" altLang="en-US" sz="36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Times New Roman" panose="02020603050405020304" pitchFamily="18" charset="0"/>
                <a:ea typeface="+mj-ea"/>
                <a:cs typeface="+mj-cs"/>
              </a:rPr>
              <a:t>：</a:t>
            </a:r>
            <a:endParaRPr kumimoji="0" lang="zh-CN" altLang="en-US" sz="36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Times New Roman" panose="02020603050405020304" pitchFamily="18" charset="0"/>
              <a:ea typeface="+mj-ea"/>
              <a:cs typeface="+mj-cs"/>
            </a:endParaRPr>
          </a:p>
        </p:txBody>
      </p:sp>
      <p:sp>
        <p:nvSpPr>
          <p:cNvPr id="39939" name="Rectangle 3"/>
          <p:cNvSpPr>
            <a:spLocks noGrp="1" noRot="1"/>
          </p:cNvSpPr>
          <p:nvPr>
            <p:ph type="body" idx="4294967295"/>
          </p:nvPr>
        </p:nvSpPr>
        <p:spPr>
          <a:xfrm>
            <a:off x="533400" y="1557338"/>
            <a:ext cx="8077200" cy="4498975"/>
          </a:xfrm>
          <a:ln/>
        </p:spPr>
        <p:txBody>
          <a:bodyPr vert="horz" wrap="square" lIns="91440" tIns="45720" rIns="91440" bIns="45720" anchor="t" anchorCtr="0"/>
          <a:p>
            <a:pPr eaLnBrk="1" hangingPunct="1">
              <a:lnSpc>
                <a:spcPct val="90000"/>
              </a:lnSpc>
              <a:spcBef>
                <a:spcPct val="50000"/>
              </a:spcBef>
              <a:buNone/>
            </a:pPr>
            <a:r>
              <a:rPr lang="en-US" altLang="zh-CN" b="1" dirty="0">
                <a:latin typeface="Times New Roman" panose="02020603050405020304" pitchFamily="18" charset="0"/>
              </a:rPr>
              <a:t>①</a:t>
            </a:r>
            <a:r>
              <a:rPr lang="zh-CN" altLang="en-US" b="1" dirty="0">
                <a:latin typeface="Times New Roman" panose="02020603050405020304" pitchFamily="18" charset="0"/>
              </a:rPr>
              <a:t>作业在外存后备队列上等待调度的时间</a:t>
            </a:r>
            <a:endParaRPr lang="zh-CN" altLang="en-US" b="1" dirty="0">
              <a:latin typeface="Times New Roman" panose="02020603050405020304" pitchFamily="18" charset="0"/>
            </a:endParaRPr>
          </a:p>
          <a:p>
            <a:pPr eaLnBrk="1" hangingPunct="1">
              <a:lnSpc>
                <a:spcPct val="90000"/>
              </a:lnSpc>
              <a:spcBef>
                <a:spcPct val="50000"/>
              </a:spcBef>
              <a:buNone/>
            </a:pPr>
            <a:r>
              <a:rPr lang="zh-CN" altLang="en-US" b="1" dirty="0">
                <a:latin typeface="Times New Roman" panose="02020603050405020304" pitchFamily="18" charset="0"/>
              </a:rPr>
              <a:t>②进程在就绪队列上等待进程调度的时间</a:t>
            </a:r>
            <a:endParaRPr lang="zh-CN" altLang="en-US" b="1" dirty="0">
              <a:latin typeface="Times New Roman" panose="02020603050405020304" pitchFamily="18" charset="0"/>
            </a:endParaRPr>
          </a:p>
          <a:p>
            <a:pPr eaLnBrk="1" hangingPunct="1">
              <a:lnSpc>
                <a:spcPct val="90000"/>
              </a:lnSpc>
              <a:spcBef>
                <a:spcPct val="50000"/>
              </a:spcBef>
              <a:buNone/>
            </a:pPr>
            <a:r>
              <a:rPr lang="zh-CN" altLang="en-US" b="1" dirty="0">
                <a:latin typeface="Times New Roman" panose="02020603050405020304" pitchFamily="18" charset="0"/>
              </a:rPr>
              <a:t>③进程在</a:t>
            </a:r>
            <a:r>
              <a:rPr lang="en-US" altLang="zh-CN" b="1" dirty="0">
                <a:latin typeface="Times New Roman" panose="02020603050405020304" pitchFamily="18" charset="0"/>
              </a:rPr>
              <a:t>CPU</a:t>
            </a:r>
            <a:r>
              <a:rPr lang="zh-CN" altLang="en-US" b="1" dirty="0">
                <a:latin typeface="Times New Roman" panose="02020603050405020304" pitchFamily="18" charset="0"/>
              </a:rPr>
              <a:t>上执行的时间</a:t>
            </a:r>
            <a:endParaRPr lang="zh-CN" altLang="en-US" b="1" dirty="0">
              <a:latin typeface="Times New Roman" panose="02020603050405020304" pitchFamily="18" charset="0"/>
            </a:endParaRPr>
          </a:p>
          <a:p>
            <a:pPr eaLnBrk="1" hangingPunct="1">
              <a:lnSpc>
                <a:spcPct val="90000"/>
              </a:lnSpc>
              <a:spcBef>
                <a:spcPct val="50000"/>
              </a:spcBef>
              <a:buNone/>
            </a:pPr>
            <a:r>
              <a:rPr lang="zh-CN" altLang="en-US" b="1" dirty="0">
                <a:latin typeface="Times New Roman" panose="02020603050405020304" pitchFamily="18" charset="0"/>
              </a:rPr>
              <a:t>④进程等待</a:t>
            </a:r>
            <a:r>
              <a:rPr lang="en-US" altLang="zh-CN" b="1" dirty="0">
                <a:latin typeface="Times New Roman" panose="02020603050405020304" pitchFamily="18" charset="0"/>
              </a:rPr>
              <a:t>I</a:t>
            </a:r>
            <a:r>
              <a:rPr lang="zh-CN" altLang="en-US" b="1" dirty="0">
                <a:latin typeface="Times New Roman" panose="02020603050405020304" pitchFamily="18" charset="0"/>
              </a:rPr>
              <a:t>／</a:t>
            </a:r>
            <a:r>
              <a:rPr lang="en-US" altLang="zh-CN" b="1" dirty="0">
                <a:latin typeface="Times New Roman" panose="02020603050405020304" pitchFamily="18" charset="0"/>
              </a:rPr>
              <a:t>O</a:t>
            </a:r>
            <a:r>
              <a:rPr lang="zh-CN" altLang="en-US" b="1" dirty="0">
                <a:latin typeface="Times New Roman" panose="02020603050405020304" pitchFamily="18" charset="0"/>
              </a:rPr>
              <a:t>操作完成的时间。</a:t>
            </a:r>
            <a:endParaRPr lang="zh-CN" altLang="en-US" b="1" dirty="0">
              <a:latin typeface="Times New Roman" panose="02020603050405020304" pitchFamily="18" charset="0"/>
            </a:endParaRPr>
          </a:p>
          <a:p>
            <a:pPr eaLnBrk="1" hangingPunct="1">
              <a:lnSpc>
                <a:spcPct val="90000"/>
              </a:lnSpc>
              <a:spcBef>
                <a:spcPct val="50000"/>
              </a:spcBef>
              <a:buNone/>
            </a:pPr>
            <a:r>
              <a:rPr lang="zh-CN" altLang="en-US" b="1" dirty="0">
                <a:latin typeface="Times New Roman" panose="02020603050405020304" pitchFamily="18" charset="0"/>
              </a:rPr>
              <a:t>   </a:t>
            </a:r>
            <a:endParaRPr lang="zh-CN" altLang="en-US" b="1" dirty="0">
              <a:latin typeface="Times New Roman" panose="02020603050405020304" pitchFamily="18" charset="0"/>
            </a:endParaRPr>
          </a:p>
          <a:p>
            <a:pPr eaLnBrk="1" hangingPunct="1"/>
            <a:endParaRPr lang="en-US" altLang="zh-CN"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7026"/>
                                        </p:tgtEl>
                                        <p:attrNameLst>
                                          <p:attrName>style.visibility</p:attrName>
                                        </p:attrNameLst>
                                      </p:cBhvr>
                                      <p:to>
                                        <p:strVal val="visible"/>
                                      </p:to>
                                    </p:set>
                                    <p:animEffect transition="in" filter="fade">
                                      <p:cBhvr>
                                        <p:cTn id="7" dur="2000"/>
                                        <p:tgtEl>
                                          <p:spTgt spid="257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9939">
                                            <p:txEl>
                                              <p:charRg st="0" end="19"/>
                                            </p:txEl>
                                          </p:spTgt>
                                        </p:tgtEl>
                                        <p:attrNameLst>
                                          <p:attrName>style.visibility</p:attrName>
                                        </p:attrNameLst>
                                      </p:cBhvr>
                                      <p:to>
                                        <p:strVal val="visible"/>
                                      </p:to>
                                    </p:set>
                                    <p:animEffect transition="in" filter="fade">
                                      <p:cBhvr>
                                        <p:cTn id="12" dur="2000"/>
                                        <p:tgtEl>
                                          <p:spTgt spid="39939">
                                            <p:txEl>
                                              <p:charRg st="0" end="1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9939">
                                            <p:txEl>
                                              <p:charRg st="19" end="38"/>
                                            </p:txEl>
                                          </p:spTgt>
                                        </p:tgtEl>
                                        <p:attrNameLst>
                                          <p:attrName>style.visibility</p:attrName>
                                        </p:attrNameLst>
                                      </p:cBhvr>
                                      <p:to>
                                        <p:strVal val="visible"/>
                                      </p:to>
                                    </p:set>
                                    <p:animEffect transition="in" filter="fade">
                                      <p:cBhvr>
                                        <p:cTn id="17" dur="2000"/>
                                        <p:tgtEl>
                                          <p:spTgt spid="39939">
                                            <p:txEl>
                                              <p:charRg st="19" end="3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9939">
                                            <p:txEl>
                                              <p:charRg st="38" end="52"/>
                                            </p:txEl>
                                          </p:spTgt>
                                        </p:tgtEl>
                                        <p:attrNameLst>
                                          <p:attrName>style.visibility</p:attrName>
                                        </p:attrNameLst>
                                      </p:cBhvr>
                                      <p:to>
                                        <p:strVal val="visible"/>
                                      </p:to>
                                    </p:set>
                                    <p:animEffect transition="in" filter="fade">
                                      <p:cBhvr>
                                        <p:cTn id="22" dur="2000"/>
                                        <p:tgtEl>
                                          <p:spTgt spid="39939">
                                            <p:txEl>
                                              <p:charRg st="38" end="5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9939">
                                            <p:txEl>
                                              <p:charRg st="52" end="69"/>
                                            </p:txEl>
                                          </p:spTgt>
                                        </p:tgtEl>
                                        <p:attrNameLst>
                                          <p:attrName>style.visibility</p:attrName>
                                        </p:attrNameLst>
                                      </p:cBhvr>
                                      <p:to>
                                        <p:strVal val="visible"/>
                                      </p:to>
                                    </p:set>
                                    <p:animEffect transition="in" filter="fade">
                                      <p:cBhvr>
                                        <p:cTn id="27" dur="2000"/>
                                        <p:tgtEl>
                                          <p:spTgt spid="39939">
                                            <p:txEl>
                                              <p:charRg st="52" end="6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9939">
                                            <p:txEl>
                                              <p:charRg st="69" end="73"/>
                                            </p:txEl>
                                          </p:spTgt>
                                        </p:tgtEl>
                                        <p:attrNameLst>
                                          <p:attrName>style.visibility</p:attrName>
                                        </p:attrNameLst>
                                      </p:cBhvr>
                                      <p:to>
                                        <p:strVal val="visible"/>
                                      </p:to>
                                    </p:set>
                                    <p:animEffect transition="in" filter="fade">
                                      <p:cBhvr>
                                        <p:cTn id="32" dur="2000"/>
                                        <p:tgtEl>
                                          <p:spTgt spid="39939">
                                            <p:txEl>
                                              <p:charRg st="69" end="7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6" grpId="0"/>
      <p:bldP spid="3993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8050" name="Rectangle 2"/>
          <p:cNvSpPr>
            <a:spLocks noGrp="1" noRot="1" noChangeArrowheads="1"/>
          </p:cNvSpPr>
          <p:nvPr>
            <p:ph type="title" idx="4294967295"/>
          </p:nvPr>
        </p:nvSpPr>
        <p:spPr>
          <a:xfrm>
            <a:off x="914400" y="304800"/>
            <a:ext cx="7772400" cy="6096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平均周转时间描述为</a:t>
            </a:r>
            <a:r>
              <a:rPr kumimoji="0" lang="zh-CN" altLang="en-US"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a:t>
            </a:r>
            <a:r>
              <a:rPr kumimoji="0" lang="zh-CN" altLang="en-US" sz="4400" b="0"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 </a:t>
            </a:r>
            <a:endParaRPr kumimoji="0" lang="zh-CN" altLang="en-US" sz="4400" b="0"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endParaRPr>
          </a:p>
        </p:txBody>
      </p:sp>
      <p:graphicFrame>
        <p:nvGraphicFramePr>
          <p:cNvPr id="4098" name="Object 3"/>
          <p:cNvGraphicFramePr>
            <a:graphicFrameLocks noChangeAspect="1"/>
          </p:cNvGraphicFramePr>
          <p:nvPr>
            <p:ph type="dgm" idx="4294967295"/>
          </p:nvPr>
        </p:nvGraphicFramePr>
        <p:xfrm>
          <a:off x="1655763" y="1092200"/>
          <a:ext cx="5159375" cy="1498600"/>
        </p:xfrm>
        <a:graphic>
          <a:graphicData uri="http://schemas.openxmlformats.org/presentationml/2006/ole">
            <mc:AlternateContent xmlns:mc="http://schemas.openxmlformats.org/markup-compatibility/2006">
              <mc:Choice xmlns:v="urn:schemas-microsoft-com:vml" Requires="v">
                <p:oleObj spid="_x0000_s3082" name="" r:id="rId1" imgW="2399030" imgH="924560" progId="Paint.Picture">
                  <p:embed/>
                </p:oleObj>
              </mc:Choice>
              <mc:Fallback>
                <p:oleObj name="" r:id="rId1" imgW="2399030" imgH="924560" progId="Paint.Picture">
                  <p:embed/>
                  <p:pic>
                    <p:nvPicPr>
                      <p:cNvPr id="0" name="图片 3081"/>
                      <p:cNvPicPr/>
                      <p:nvPr/>
                    </p:nvPicPr>
                    <p:blipFill>
                      <a:blip r:embed="rId2"/>
                      <a:srcRect/>
                      <a:stretch>
                        <a:fillRect/>
                      </a:stretch>
                    </p:blipFill>
                    <p:spPr>
                      <a:xfrm>
                        <a:off x="1655763" y="1092200"/>
                        <a:ext cx="5159375" cy="1498600"/>
                      </a:xfrm>
                      <a:prstGeom prst="rect">
                        <a:avLst/>
                      </a:prstGeom>
                      <a:noFill/>
                      <a:ln w="38100">
                        <a:miter/>
                      </a:ln>
                    </p:spPr>
                  </p:pic>
                </p:oleObj>
              </mc:Fallback>
            </mc:AlternateContent>
          </a:graphicData>
        </a:graphic>
      </p:graphicFrame>
      <p:sp>
        <p:nvSpPr>
          <p:cNvPr id="4101" name="Rectangle 4"/>
          <p:cNvSpPr/>
          <p:nvPr/>
        </p:nvSpPr>
        <p:spPr>
          <a:xfrm>
            <a:off x="533400" y="2819400"/>
            <a:ext cx="8153400" cy="1758950"/>
          </a:xfrm>
          <a:prstGeom prst="rect">
            <a:avLst/>
          </a:prstGeom>
          <a:noFill/>
          <a:ln w="9525">
            <a:noFill/>
          </a:ln>
        </p:spPr>
        <p:txBody>
          <a:bodyPr>
            <a:spAutoFit/>
          </a:bodyPr>
          <a:p>
            <a:pPr algn="just" eaLnBrk="1" hangingPunct="1">
              <a:lnSpc>
                <a:spcPct val="130000"/>
              </a:lnSpc>
              <a:spcBef>
                <a:spcPct val="50000"/>
              </a:spcBef>
            </a:pPr>
            <a:r>
              <a:rPr lang="zh-CN" altLang="en-US" sz="2800" b="1" dirty="0">
                <a:solidFill>
                  <a:schemeClr val="folHlink"/>
                </a:solidFill>
                <a:latin typeface="Arial" panose="020B0604020202020204" pitchFamily="34" charset="0"/>
              </a:rPr>
              <a:t>作业的周转时间</a:t>
            </a:r>
            <a:r>
              <a:rPr lang="en-US" altLang="zh-CN" sz="2800" b="1" i="1" dirty="0">
                <a:solidFill>
                  <a:schemeClr val="folHlink"/>
                </a:solidFill>
                <a:latin typeface="Arial" panose="020B0604020202020204" pitchFamily="34" charset="0"/>
              </a:rPr>
              <a:t>T</a:t>
            </a:r>
            <a:r>
              <a:rPr lang="zh-CN" altLang="en-US" sz="2800" b="1" dirty="0">
                <a:solidFill>
                  <a:schemeClr val="folHlink"/>
                </a:solidFill>
                <a:latin typeface="Arial" panose="020B0604020202020204" pitchFamily="34" charset="0"/>
              </a:rPr>
              <a:t>与系统为它提供服务的时间</a:t>
            </a:r>
            <a:r>
              <a:rPr lang="en-US" altLang="zh-CN" sz="2800" b="1" i="1" dirty="0">
                <a:solidFill>
                  <a:schemeClr val="folHlink"/>
                </a:solidFill>
                <a:latin typeface="Arial" panose="020B0604020202020204" pitchFamily="34" charset="0"/>
              </a:rPr>
              <a:t>T</a:t>
            </a:r>
            <a:r>
              <a:rPr lang="en-US" altLang="zh-CN" sz="2800" b="1" dirty="0">
                <a:solidFill>
                  <a:schemeClr val="folHlink"/>
                </a:solidFill>
                <a:latin typeface="Arial" panose="020B0604020202020204" pitchFamily="34" charset="0"/>
              </a:rPr>
              <a:t>s</a:t>
            </a:r>
            <a:r>
              <a:rPr lang="zh-CN" altLang="en-US" sz="2800" b="1" dirty="0">
                <a:solidFill>
                  <a:schemeClr val="folHlink"/>
                </a:solidFill>
                <a:latin typeface="Arial" panose="020B0604020202020204" pitchFamily="34" charset="0"/>
              </a:rPr>
              <a:t>之比，即</a:t>
            </a:r>
            <a:r>
              <a:rPr lang="en-US" altLang="zh-CN" sz="2800" b="1" i="1" dirty="0">
                <a:solidFill>
                  <a:schemeClr val="folHlink"/>
                </a:solidFill>
                <a:latin typeface="Arial" panose="020B0604020202020204" pitchFamily="34" charset="0"/>
              </a:rPr>
              <a:t>W</a:t>
            </a:r>
            <a:r>
              <a:rPr lang="en-US" altLang="zh-CN" sz="2800" b="1" dirty="0">
                <a:solidFill>
                  <a:schemeClr val="folHlink"/>
                </a:solidFill>
                <a:latin typeface="Arial" panose="020B0604020202020204" pitchFamily="34" charset="0"/>
              </a:rPr>
              <a:t>=</a:t>
            </a:r>
            <a:r>
              <a:rPr lang="en-US" altLang="zh-CN" sz="2800" b="1" i="1" dirty="0">
                <a:solidFill>
                  <a:schemeClr val="folHlink"/>
                </a:solidFill>
                <a:latin typeface="Arial" panose="020B0604020202020204" pitchFamily="34" charset="0"/>
              </a:rPr>
              <a:t>T/Ts</a:t>
            </a:r>
            <a:r>
              <a:rPr lang="zh-CN" altLang="en-US" sz="2800" b="1" dirty="0">
                <a:solidFill>
                  <a:schemeClr val="folHlink"/>
                </a:solidFill>
                <a:latin typeface="Arial" panose="020B0604020202020204" pitchFamily="34" charset="0"/>
              </a:rPr>
              <a:t>，称为带权周转时间，平均带权周转时间则可表示为</a:t>
            </a:r>
            <a:r>
              <a:rPr lang="en-US" altLang="zh-CN" sz="2800" b="1" dirty="0">
                <a:solidFill>
                  <a:schemeClr val="folHlink"/>
                </a:solidFill>
                <a:latin typeface="Arial" panose="020B0604020202020204" pitchFamily="34" charset="0"/>
              </a:rPr>
              <a:t>: </a:t>
            </a:r>
            <a:endParaRPr lang="en-US" altLang="zh-CN" sz="2800" b="1" dirty="0">
              <a:solidFill>
                <a:schemeClr val="folHlink"/>
              </a:solidFill>
              <a:latin typeface="Arial" panose="020B0604020202020204" pitchFamily="34" charset="0"/>
            </a:endParaRPr>
          </a:p>
        </p:txBody>
      </p:sp>
      <p:graphicFrame>
        <p:nvGraphicFramePr>
          <p:cNvPr id="4099" name="Object 5"/>
          <p:cNvGraphicFramePr>
            <a:graphicFrameLocks noChangeAspect="1"/>
          </p:cNvGraphicFramePr>
          <p:nvPr/>
        </p:nvGraphicFramePr>
        <p:xfrm>
          <a:off x="1600200" y="4800600"/>
          <a:ext cx="5486400" cy="1520825"/>
        </p:xfrm>
        <a:graphic>
          <a:graphicData uri="http://schemas.openxmlformats.org/presentationml/2006/ole">
            <mc:AlternateContent xmlns:mc="http://schemas.openxmlformats.org/markup-compatibility/2006">
              <mc:Choice xmlns:v="urn:schemas-microsoft-com:vml" Requires="v">
                <p:oleObj spid="_x0000_s3081" name="" r:id="rId3" imgW="2713990" imgH="985520" progId="Paint.Picture">
                  <p:embed/>
                </p:oleObj>
              </mc:Choice>
              <mc:Fallback>
                <p:oleObj name="" r:id="rId3" imgW="2713990" imgH="985520" progId="Paint.Picture">
                  <p:embed/>
                  <p:pic>
                    <p:nvPicPr>
                      <p:cNvPr id="0" name="图片 3080"/>
                      <p:cNvPicPr/>
                      <p:nvPr/>
                    </p:nvPicPr>
                    <p:blipFill>
                      <a:blip r:embed="rId4"/>
                      <a:stretch>
                        <a:fillRect/>
                      </a:stretch>
                    </p:blipFill>
                    <p:spPr>
                      <a:xfrm>
                        <a:off x="1600200" y="4800600"/>
                        <a:ext cx="5486400" cy="152082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8050"/>
                                        </p:tgtEl>
                                        <p:attrNameLst>
                                          <p:attrName>style.visibility</p:attrName>
                                        </p:attrNameLst>
                                      </p:cBhvr>
                                      <p:to>
                                        <p:strVal val="visible"/>
                                      </p:to>
                                    </p:set>
                                    <p:animEffect transition="in" filter="fade">
                                      <p:cBhvr>
                                        <p:cTn id="7" dur="2000"/>
                                        <p:tgtEl>
                                          <p:spTgt spid="258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2</a:t>
            </a:r>
            <a:r>
              <a:rPr kumimoji="0" lang="zh-CN" altLang="en-US"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。批处理系统的目标</a:t>
            </a:r>
            <a:endParaRPr kumimoji="0" lang="zh-CN" altLang="en-US" sz="4400" b="0" i="0" u="none" strike="noStrike" kern="0" cap="none"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a:ln>
                  <a:noFill/>
                </a:ln>
                <a:solidFill>
                  <a:schemeClr val="folHlink"/>
                </a:solidFill>
                <a:effectLst/>
                <a:uLnTx/>
                <a:uFillTx/>
                <a:latin typeface="+mn-lt"/>
                <a:ea typeface="+mn-ea"/>
                <a:cs typeface="+mn-cs"/>
              </a:rPr>
              <a:t>（</a:t>
            </a:r>
            <a:r>
              <a:rPr kumimoji="0" lang="en-US" altLang="zh-CN" sz="3200" b="1" i="0" u="none" strike="noStrike" kern="0" cap="none" spc="0" normalizeH="0" baseline="0" noProof="0" dirty="0">
                <a:ln>
                  <a:noFill/>
                </a:ln>
                <a:solidFill>
                  <a:schemeClr val="folHlink"/>
                </a:solidFill>
                <a:effectLst/>
                <a:uLnTx/>
                <a:uFillTx/>
                <a:latin typeface="+mn-lt"/>
                <a:ea typeface="+mn-ea"/>
                <a:cs typeface="+mn-cs"/>
              </a:rPr>
              <a:t>2</a:t>
            </a:r>
            <a:r>
              <a:rPr kumimoji="0" lang="zh-CN" altLang="en-US" sz="3200" b="1" i="0" u="none" strike="noStrike" kern="0" cap="none" spc="0" normalizeH="0" baseline="0" noProof="0" dirty="0">
                <a:ln>
                  <a:noFill/>
                </a:ln>
                <a:solidFill>
                  <a:schemeClr val="folHlink"/>
                </a:solidFill>
                <a:effectLst/>
                <a:uLnTx/>
                <a:uFillTx/>
                <a:latin typeface="+mn-lt"/>
                <a:ea typeface="+mn-ea"/>
                <a:cs typeface="+mn-cs"/>
              </a:rPr>
              <a:t>）系统吞吐量高</a:t>
            </a:r>
            <a:endParaRPr kumimoji="0" lang="en-US" altLang="zh-CN" sz="3200" b="1" i="0" u="none" strike="noStrike" kern="0" cap="none" spc="0" normalizeH="0" baseline="0" noProof="0" dirty="0">
              <a:ln>
                <a:noFill/>
              </a:ln>
              <a:solidFill>
                <a:schemeClr val="folHlink"/>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0" i="0" u="none" strike="noStrike" kern="0" cap="none" spc="0" normalizeH="0" baseline="0" noProof="0" dirty="0" smtClean="0">
                <a:ln>
                  <a:noFill/>
                </a:ln>
                <a:solidFill>
                  <a:schemeClr val="tx1"/>
                </a:solidFill>
                <a:effectLst/>
                <a:uLnTx/>
                <a:uFillTx/>
                <a:latin typeface="+mn-lt"/>
                <a:ea typeface="+mn-ea"/>
              </a:rPr>
              <a:t>单位时间内系统所完成的作业数。尽量多选择短作业运行。</a:t>
            </a:r>
            <a:endParaRPr kumimoji="0" lang="en-US" altLang="zh-CN" sz="2800" b="0"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hlink"/>
              </a:buClr>
              <a:buSzPct val="85000"/>
              <a:buFont typeface="Wingdings" panose="05000000000000000000" pitchFamily="2" charset="2"/>
              <a:buNone/>
              <a:defRPr/>
            </a:pPr>
            <a:endParaRPr kumimoji="0" lang="en-US" altLang="zh-CN" sz="2800" b="0"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a:ln>
                  <a:noFill/>
                </a:ln>
                <a:solidFill>
                  <a:schemeClr val="folHlink"/>
                </a:solidFill>
                <a:effectLst/>
                <a:uLnTx/>
                <a:uFillTx/>
                <a:latin typeface="+mn-lt"/>
                <a:ea typeface="+mn-ea"/>
                <a:cs typeface="+mn-cs"/>
              </a:rPr>
              <a:t>（</a:t>
            </a:r>
            <a:r>
              <a:rPr kumimoji="0" lang="en-US" altLang="zh-CN" sz="3200" b="1" i="0" u="none" strike="noStrike" kern="0" cap="none" spc="0" normalizeH="0" baseline="0" noProof="0" dirty="0">
                <a:ln>
                  <a:noFill/>
                </a:ln>
                <a:solidFill>
                  <a:schemeClr val="folHlink"/>
                </a:solidFill>
                <a:effectLst/>
                <a:uLnTx/>
                <a:uFillTx/>
                <a:latin typeface="+mn-lt"/>
                <a:ea typeface="+mn-ea"/>
                <a:cs typeface="+mn-cs"/>
              </a:rPr>
              <a:t>3</a:t>
            </a:r>
            <a:r>
              <a:rPr kumimoji="0" lang="zh-CN" altLang="en-US" sz="3200" b="1" i="0" u="none" strike="noStrike" kern="0" cap="none" spc="0" normalizeH="0" baseline="0" noProof="0" dirty="0">
                <a:ln>
                  <a:noFill/>
                </a:ln>
                <a:solidFill>
                  <a:schemeClr val="folHlink"/>
                </a:solidFill>
                <a:effectLst/>
                <a:uLnTx/>
                <a:uFillTx/>
                <a:latin typeface="+mn-lt"/>
                <a:ea typeface="+mn-ea"/>
                <a:cs typeface="+mn-cs"/>
              </a:rPr>
              <a:t>）处理机利用率高</a:t>
            </a:r>
            <a:endParaRPr kumimoji="0" lang="en-US" altLang="zh-CN" sz="3200" b="1" i="0" u="none" strike="noStrike" kern="0" cap="none" spc="0" normalizeH="0" baseline="0" noProof="0" dirty="0">
              <a:ln>
                <a:noFill/>
              </a:ln>
              <a:solidFill>
                <a:schemeClr val="folHlink"/>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选择合适的调度方法和调度算法提高</a:t>
            </a:r>
            <a:r>
              <a:rPr kumimoji="0" lang="en-US" altLang="zh-CN" sz="3200" b="0" i="0" u="none" strike="noStrike" kern="0" cap="none" spc="0" normalizeH="0" baseline="0" noProof="0" dirty="0" smtClean="0">
                <a:ln>
                  <a:noFill/>
                </a:ln>
                <a:solidFill>
                  <a:schemeClr val="tx1"/>
                </a:solidFill>
                <a:effectLst/>
                <a:uLnTx/>
                <a:uFillTx/>
                <a:latin typeface="+mn-lt"/>
                <a:ea typeface="+mn-ea"/>
                <a:cs typeface="+mn-cs"/>
              </a:rPr>
              <a:t>CPU</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利用率。选择大作业运行。</a:t>
            </a:r>
            <a:endParaRPr kumimoji="0" lang="zh-CN" altLang="en-US" sz="32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1"/>
          <p:cNvSpPr>
            <a:spLocks noGrp="1"/>
          </p:cNvSpPr>
          <p:nvPr>
            <p:ph type="title"/>
          </p:nvPr>
        </p:nvSpPr>
        <p:spPr>
          <a:ln/>
        </p:spPr>
        <p:txBody>
          <a:bodyPr vert="horz" wrap="square" lIns="91440" tIns="45720" rIns="91440" bIns="45720" anchor="ctr" anchorCtr="0"/>
          <a:p>
            <a:r>
              <a:rPr lang="en-US" altLang="zh-CN" b="1" dirty="0"/>
              <a:t>3</a:t>
            </a:r>
            <a:r>
              <a:rPr lang="zh-CN" altLang="en-US" b="1" dirty="0"/>
              <a:t>、分时系统的目标</a:t>
            </a:r>
            <a:endParaRPr lang="zh-CN" altLang="en-US" b="1" dirty="0"/>
          </a:p>
        </p:txBody>
      </p:sp>
      <p:sp>
        <p:nvSpPr>
          <p:cNvPr id="36867" name="内容占位符 2"/>
          <p:cNvSpPr>
            <a:spLocks noGrp="1"/>
          </p:cNvSpPr>
          <p:nvPr>
            <p:ph idx="1"/>
          </p:nvPr>
        </p:nvSpPr>
        <p:spPr>
          <a:ln/>
        </p:spPr>
        <p:txBody>
          <a:bodyPr vert="horz" wrap="square" lIns="91440" tIns="45720" rIns="91440" bIns="45720" anchor="t" anchorCtr="0"/>
          <a:p>
            <a:r>
              <a:rPr lang="zh-CN" altLang="en-US" b="1" dirty="0"/>
              <a:t>（</a:t>
            </a:r>
            <a:r>
              <a:rPr lang="en-US" altLang="zh-CN" b="1" dirty="0">
                <a:solidFill>
                  <a:srgbClr val="FF0000"/>
                </a:solidFill>
              </a:rPr>
              <a:t>1</a:t>
            </a:r>
            <a:r>
              <a:rPr lang="zh-CN" altLang="en-US" b="1" dirty="0">
                <a:solidFill>
                  <a:srgbClr val="FF0000"/>
                </a:solidFill>
              </a:rPr>
              <a:t>）响应时间快</a:t>
            </a:r>
            <a:endParaRPr lang="en-US" altLang="zh-CN" b="1" dirty="0">
              <a:solidFill>
                <a:srgbClr val="FF0000"/>
              </a:solidFill>
            </a:endParaRPr>
          </a:p>
          <a:p>
            <a:r>
              <a:rPr lang="zh-CN" altLang="en-US" b="1" dirty="0">
                <a:solidFill>
                  <a:srgbClr val="FF0000"/>
                </a:solidFill>
              </a:rPr>
              <a:t>（</a:t>
            </a:r>
            <a:r>
              <a:rPr lang="en-US" altLang="zh-CN" b="1" dirty="0">
                <a:solidFill>
                  <a:srgbClr val="FF0000"/>
                </a:solidFill>
              </a:rPr>
              <a:t>2</a:t>
            </a:r>
            <a:r>
              <a:rPr lang="zh-CN" altLang="en-US" b="1" dirty="0">
                <a:solidFill>
                  <a:srgbClr val="FF0000"/>
                </a:solidFill>
              </a:rPr>
              <a:t>） 均衡性</a:t>
            </a:r>
            <a:endParaRPr lang="en-US" altLang="zh-CN" b="1" dirty="0">
              <a:solidFill>
                <a:srgbClr val="FF0000"/>
              </a:solidFill>
            </a:endParaRPr>
          </a:p>
          <a:p>
            <a:pPr lvl="1"/>
            <a:r>
              <a:rPr lang="zh-CN" altLang="en-US" b="1" dirty="0"/>
              <a:t>系统响应时间的快慢与用户所请求的服务的复杂性相适应。</a:t>
            </a:r>
            <a:endParaRPr lang="zh-CN" altLang="en-US" b="1"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9074"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j-lt"/>
                <a:ea typeface="+mj-ea"/>
                <a:cs typeface="+mj-cs"/>
              </a:rPr>
              <a:t>响应时间</a:t>
            </a:r>
            <a:r>
              <a:rPr kumimoji="0" lang="zh-CN" altLang="en-US" sz="44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mj-lt"/>
                <a:ea typeface="+mj-ea"/>
                <a:cs typeface="+mj-cs"/>
              </a:rPr>
              <a:t>快</a:t>
            </a:r>
            <a:endParaRPr kumimoji="0" lang="zh-CN" altLang="en-US" sz="44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mj-lt"/>
              <a:ea typeface="+mj-ea"/>
              <a:cs typeface="+mj-cs"/>
            </a:endParaRPr>
          </a:p>
        </p:txBody>
      </p:sp>
      <p:sp>
        <p:nvSpPr>
          <p:cNvPr id="40963" name="Rectangle 3"/>
          <p:cNvSpPr>
            <a:spLocks noGrp="1" noRot="1"/>
          </p:cNvSpPr>
          <p:nvPr>
            <p:ph type="body" idx="4294967295"/>
          </p:nvPr>
        </p:nvSpPr>
        <p:spPr>
          <a:xfrm>
            <a:off x="301625" y="1600200"/>
            <a:ext cx="8459788" cy="4498975"/>
          </a:xfrm>
          <a:ln/>
        </p:spPr>
        <p:txBody>
          <a:bodyPr vert="horz" wrap="square" lIns="91440" tIns="45720" rIns="91440" bIns="45720" anchor="t" anchorCtr="0"/>
          <a:p>
            <a:pPr algn="just" eaLnBrk="1" hangingPunct="1">
              <a:lnSpc>
                <a:spcPct val="90000"/>
              </a:lnSpc>
            </a:pPr>
            <a:r>
              <a:rPr lang="zh-CN" altLang="en-US" b="1" dirty="0"/>
              <a:t>分时系统中，所谓响应时间，是从用户通过键盘（或者鼠标）提交一个请求开始，直至系统首次产生响应为止的时间。</a:t>
            </a:r>
            <a:endParaRPr lang="zh-CN" altLang="en-US" b="1" dirty="0"/>
          </a:p>
          <a:p>
            <a:pPr algn="just" eaLnBrk="1" hangingPunct="1">
              <a:lnSpc>
                <a:spcPct val="90000"/>
              </a:lnSpc>
            </a:pPr>
            <a:r>
              <a:rPr lang="zh-CN" altLang="en-US" b="1" dirty="0">
                <a:solidFill>
                  <a:schemeClr val="folHlink"/>
                </a:solidFill>
              </a:rPr>
              <a:t>响应时间包括三部分时间：</a:t>
            </a:r>
            <a:endParaRPr lang="zh-CN" altLang="en-US" b="1" dirty="0">
              <a:solidFill>
                <a:schemeClr val="folHlink"/>
              </a:solidFill>
            </a:endParaRPr>
          </a:p>
          <a:p>
            <a:pPr lvl="1" algn="just" eaLnBrk="1" hangingPunct="1">
              <a:lnSpc>
                <a:spcPct val="90000"/>
              </a:lnSpc>
              <a:buNone/>
            </a:pPr>
            <a:r>
              <a:rPr lang="zh-CN" altLang="en-US" b="1" dirty="0"/>
              <a:t>①从键盘输入的请求信息传送到处理机的时间。</a:t>
            </a:r>
            <a:endParaRPr lang="zh-CN" altLang="en-US" b="1" dirty="0"/>
          </a:p>
          <a:p>
            <a:pPr lvl="1" algn="just" eaLnBrk="1" hangingPunct="1">
              <a:lnSpc>
                <a:spcPct val="90000"/>
              </a:lnSpc>
              <a:buNone/>
            </a:pPr>
            <a:r>
              <a:rPr lang="zh-CN" altLang="en-US" b="1" dirty="0"/>
              <a:t>②处理机对请求信息进行处理的时间。</a:t>
            </a:r>
            <a:endParaRPr lang="zh-CN" altLang="en-US" b="1" dirty="0"/>
          </a:p>
          <a:p>
            <a:pPr lvl="1" algn="just" eaLnBrk="1" hangingPunct="1">
              <a:lnSpc>
                <a:spcPct val="90000"/>
              </a:lnSpc>
              <a:buNone/>
            </a:pPr>
            <a:r>
              <a:rPr lang="zh-CN" altLang="en-US" b="1" dirty="0"/>
              <a:t>③将所形成的响应信息回送到终端显示器的时间。</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9074"/>
                                        </p:tgtEl>
                                        <p:attrNameLst>
                                          <p:attrName>style.visibility</p:attrName>
                                        </p:attrNameLst>
                                      </p:cBhvr>
                                      <p:to>
                                        <p:strVal val="visible"/>
                                      </p:to>
                                    </p:set>
                                    <p:animEffect transition="in" filter="fade">
                                      <p:cBhvr>
                                        <p:cTn id="7" dur="2000"/>
                                        <p:tgtEl>
                                          <p:spTgt spid="2590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963">
                                            <p:txEl>
                                              <p:charRg st="0" end="53"/>
                                            </p:txEl>
                                          </p:spTgt>
                                        </p:tgtEl>
                                        <p:attrNameLst>
                                          <p:attrName>style.visibility</p:attrName>
                                        </p:attrNameLst>
                                      </p:cBhvr>
                                      <p:to>
                                        <p:strVal val="visible"/>
                                      </p:to>
                                    </p:set>
                                    <p:animEffect transition="in" filter="fade">
                                      <p:cBhvr>
                                        <p:cTn id="12" dur="2000"/>
                                        <p:tgtEl>
                                          <p:spTgt spid="40963">
                                            <p:txEl>
                                              <p:charRg st="0" end="5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0963">
                                            <p:txEl>
                                              <p:charRg st="53" end="66"/>
                                            </p:txEl>
                                          </p:spTgt>
                                        </p:tgtEl>
                                        <p:attrNameLst>
                                          <p:attrName>style.visibility</p:attrName>
                                        </p:attrNameLst>
                                      </p:cBhvr>
                                      <p:to>
                                        <p:strVal val="visible"/>
                                      </p:to>
                                    </p:set>
                                    <p:animEffect transition="in" filter="fade">
                                      <p:cBhvr>
                                        <p:cTn id="17" dur="2000"/>
                                        <p:tgtEl>
                                          <p:spTgt spid="40963">
                                            <p:txEl>
                                              <p:charRg st="53" end="66"/>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0963">
                                            <p:txEl>
                                              <p:charRg st="66" end="88"/>
                                            </p:txEl>
                                          </p:spTgt>
                                        </p:tgtEl>
                                        <p:attrNameLst>
                                          <p:attrName>style.visibility</p:attrName>
                                        </p:attrNameLst>
                                      </p:cBhvr>
                                      <p:to>
                                        <p:strVal val="visible"/>
                                      </p:to>
                                    </p:set>
                                    <p:animEffect transition="in" filter="fade">
                                      <p:cBhvr>
                                        <p:cTn id="20" dur="2000"/>
                                        <p:tgtEl>
                                          <p:spTgt spid="40963">
                                            <p:txEl>
                                              <p:charRg st="66" end="88"/>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0963">
                                            <p:txEl>
                                              <p:charRg st="88" end="106"/>
                                            </p:txEl>
                                          </p:spTgt>
                                        </p:tgtEl>
                                        <p:attrNameLst>
                                          <p:attrName>style.visibility</p:attrName>
                                        </p:attrNameLst>
                                      </p:cBhvr>
                                      <p:to>
                                        <p:strVal val="visible"/>
                                      </p:to>
                                    </p:set>
                                    <p:animEffect transition="in" filter="fade">
                                      <p:cBhvr>
                                        <p:cTn id="23" dur="2000"/>
                                        <p:tgtEl>
                                          <p:spTgt spid="40963">
                                            <p:txEl>
                                              <p:charRg st="88" end="106"/>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0963">
                                            <p:txEl>
                                              <p:charRg st="106" end="129"/>
                                            </p:txEl>
                                          </p:spTgt>
                                        </p:tgtEl>
                                        <p:attrNameLst>
                                          <p:attrName>style.visibility</p:attrName>
                                        </p:attrNameLst>
                                      </p:cBhvr>
                                      <p:to>
                                        <p:strVal val="visible"/>
                                      </p:to>
                                    </p:set>
                                    <p:animEffect transition="in" filter="fade">
                                      <p:cBhvr>
                                        <p:cTn id="26" dur="2000"/>
                                        <p:tgtEl>
                                          <p:spTgt spid="40963">
                                            <p:txEl>
                                              <p:charRg st="106" end="12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4" grpId="0"/>
      <p:bldP spid="4096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1"/>
          <p:cNvSpPr>
            <a:spLocks noGrp="1"/>
          </p:cNvSpPr>
          <p:nvPr>
            <p:ph type="title"/>
          </p:nvPr>
        </p:nvSpPr>
        <p:spPr>
          <a:ln/>
        </p:spPr>
        <p:txBody>
          <a:bodyPr vert="horz" wrap="square" lIns="91440" tIns="45720" rIns="91440" bIns="45720" anchor="ctr" anchorCtr="0"/>
          <a:p>
            <a:r>
              <a:rPr lang="en-US" altLang="zh-CN" b="1" dirty="0"/>
              <a:t>4</a:t>
            </a:r>
            <a:r>
              <a:rPr lang="zh-CN" altLang="en-US" b="1" dirty="0"/>
              <a:t>、实时系统的目标</a:t>
            </a:r>
            <a:endParaRPr lang="zh-CN" altLang="en-US" b="1" dirty="0"/>
          </a:p>
        </p:txBody>
      </p:sp>
      <p:sp>
        <p:nvSpPr>
          <p:cNvPr id="38915" name="内容占位符 2"/>
          <p:cNvSpPr>
            <a:spLocks noGrp="1"/>
          </p:cNvSpPr>
          <p:nvPr>
            <p:ph idx="1"/>
          </p:nvPr>
        </p:nvSpPr>
        <p:spPr>
          <a:ln/>
        </p:spPr>
        <p:txBody>
          <a:bodyPr vert="horz" wrap="square" lIns="91440" tIns="45720" rIns="91440" bIns="45720" anchor="t" anchorCtr="0"/>
          <a:p>
            <a:r>
              <a:rPr lang="zh-CN" altLang="en-US" b="1" dirty="0">
                <a:solidFill>
                  <a:srgbClr val="FF0000"/>
                </a:solidFill>
              </a:rPr>
              <a:t>（</a:t>
            </a:r>
            <a:r>
              <a:rPr lang="en-US" altLang="zh-CN" b="1" dirty="0">
                <a:solidFill>
                  <a:srgbClr val="FF0000"/>
                </a:solidFill>
              </a:rPr>
              <a:t>1</a:t>
            </a:r>
            <a:r>
              <a:rPr lang="zh-CN" altLang="en-US" b="1" dirty="0">
                <a:solidFill>
                  <a:srgbClr val="FF0000"/>
                </a:solidFill>
              </a:rPr>
              <a:t>）截至时间的保证</a:t>
            </a:r>
            <a:endParaRPr lang="en-US" altLang="zh-CN" b="1" dirty="0">
              <a:solidFill>
                <a:srgbClr val="FF0000"/>
              </a:solidFill>
            </a:endParaRPr>
          </a:p>
          <a:p>
            <a:pPr lvl="1"/>
            <a:r>
              <a:rPr lang="zh-CN" altLang="en-US" b="1" dirty="0">
                <a:latin typeface="楷体_GB2312" pitchFamily="49" charset="-122"/>
                <a:ea typeface="楷体_GB2312" pitchFamily="49" charset="-122"/>
              </a:rPr>
              <a:t>所谓截止时间，是指某任务</a:t>
            </a:r>
            <a:r>
              <a:rPr lang="zh-CN" altLang="en-US" b="1" dirty="0">
                <a:solidFill>
                  <a:srgbClr val="FF0000"/>
                </a:solidFill>
                <a:latin typeface="楷体_GB2312" pitchFamily="49" charset="-122"/>
                <a:ea typeface="楷体_GB2312" pitchFamily="49" charset="-122"/>
              </a:rPr>
              <a:t>必须开始执行的最迟时间</a:t>
            </a:r>
            <a:r>
              <a:rPr lang="zh-CN" altLang="en-US" b="1" dirty="0">
                <a:latin typeface="楷体_GB2312" pitchFamily="49" charset="-122"/>
                <a:ea typeface="楷体_GB2312" pitchFamily="49" charset="-122"/>
              </a:rPr>
              <a:t>，或</a:t>
            </a:r>
            <a:r>
              <a:rPr lang="zh-CN" altLang="en-US" b="1" dirty="0">
                <a:solidFill>
                  <a:srgbClr val="FF0000"/>
                </a:solidFill>
                <a:latin typeface="楷体_GB2312" pitchFamily="49" charset="-122"/>
                <a:ea typeface="楷体_GB2312" pitchFamily="49" charset="-122"/>
              </a:rPr>
              <a:t>必须完成的最迟时间</a:t>
            </a:r>
            <a:r>
              <a:rPr lang="zh-CN" altLang="en-US" b="1" dirty="0">
                <a:latin typeface="楷体_GB2312" pitchFamily="49" charset="-122"/>
                <a:ea typeface="楷体_GB2312" pitchFamily="49" charset="-122"/>
              </a:rPr>
              <a:t>。（也叫做时限，即</a:t>
            </a:r>
            <a:r>
              <a:rPr lang="en-US" altLang="zh-CN" b="1" dirty="0">
                <a:latin typeface="楷体_GB2312" pitchFamily="49" charset="-122"/>
                <a:ea typeface="楷体_GB2312" pitchFamily="49" charset="-122"/>
              </a:rPr>
              <a:t>deadline</a:t>
            </a:r>
            <a:r>
              <a:rPr lang="zh-CN" altLang="en-US" b="1" dirty="0">
                <a:latin typeface="楷体_GB2312" pitchFamily="49" charset="-122"/>
                <a:ea typeface="楷体_GB2312" pitchFamily="49" charset="-122"/>
              </a:rPr>
              <a:t>）</a:t>
            </a:r>
            <a:endParaRPr lang="en-US" altLang="zh-CN" b="1" dirty="0">
              <a:latin typeface="楷体_GB2312" pitchFamily="49" charset="-122"/>
              <a:ea typeface="楷体_GB2312" pitchFamily="49" charset="-122"/>
            </a:endParaRPr>
          </a:p>
          <a:p>
            <a:pPr lvl="1"/>
            <a:endParaRPr lang="en-US" altLang="zh-CN" b="1" dirty="0">
              <a:solidFill>
                <a:srgbClr val="FF0000"/>
              </a:solidFill>
            </a:endParaRPr>
          </a:p>
          <a:p>
            <a:r>
              <a:rPr lang="zh-CN" altLang="en-US" b="1" dirty="0">
                <a:solidFill>
                  <a:srgbClr val="FF0000"/>
                </a:solidFill>
              </a:rPr>
              <a:t>（</a:t>
            </a:r>
            <a:r>
              <a:rPr lang="en-US" altLang="zh-CN" b="1" dirty="0">
                <a:solidFill>
                  <a:srgbClr val="FF0000"/>
                </a:solidFill>
              </a:rPr>
              <a:t>2</a:t>
            </a:r>
            <a:r>
              <a:rPr lang="zh-CN" altLang="en-US" b="1" dirty="0">
                <a:solidFill>
                  <a:srgbClr val="FF0000"/>
                </a:solidFill>
              </a:rPr>
              <a:t>）可预测性</a:t>
            </a:r>
            <a:endParaRPr lang="en-US" altLang="zh-CN" b="1" dirty="0">
              <a:solidFill>
                <a:srgbClr val="FF0000"/>
              </a:solidFill>
            </a:endParaRPr>
          </a:p>
          <a:p>
            <a:pPr lvl="1"/>
            <a:r>
              <a:rPr lang="zh-CN" altLang="en-US" b="1" dirty="0"/>
              <a:t>保证任务执行的连续性，执行流程能够事先确定。</a:t>
            </a:r>
            <a:endParaRPr lang="zh-CN" altLang="en-US" b="1"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5218"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j-lt"/>
                <a:ea typeface="+mj-ea"/>
                <a:cs typeface="+mj-cs"/>
              </a:rPr>
              <a:t>3.1.4 </a:t>
            </a:r>
            <a:r>
              <a:rPr kumimoji="0" lang="zh-CN" altLang="en-US" sz="4400" b="1"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j-lt"/>
                <a:ea typeface="+mj-ea"/>
                <a:cs typeface="+mj-cs"/>
              </a:rPr>
              <a:t>引起</a:t>
            </a:r>
            <a:r>
              <a:rPr kumimoji="0" lang="zh-CN" altLang="en-US" sz="44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mj-lt"/>
                <a:ea typeface="+mj-ea"/>
                <a:cs typeface="+mj-cs"/>
              </a:rPr>
              <a:t>进程调度的因素：</a:t>
            </a:r>
            <a:endParaRPr kumimoji="0" lang="zh-CN" altLang="en-US" sz="44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mj-lt"/>
              <a:ea typeface="+mj-ea"/>
              <a:cs typeface="+mj-cs"/>
            </a:endParaRPr>
          </a:p>
        </p:txBody>
      </p:sp>
      <p:sp>
        <p:nvSpPr>
          <p:cNvPr id="265219" name="Rectangle 3"/>
          <p:cNvSpPr>
            <a:spLocks noGrp="1" noRot="1" noChangeArrowheads="1"/>
          </p:cNvSpPr>
          <p:nvPr>
            <p:ph type="body" idx="1"/>
          </p:nvPr>
        </p:nvSpPr>
        <p:spPr>
          <a:xfrm>
            <a:off x="214313" y="1428750"/>
            <a:ext cx="8572500" cy="48577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mn-ea"/>
                <a:cs typeface="+mn-cs"/>
              </a:rPr>
              <a:t>引起进程调度的因素可归结为</a:t>
            </a:r>
            <a:r>
              <a:rPr kumimoji="0" lang="zh-CN" altLang="en-US" sz="3200" b="1" i="0" u="none" strike="noStrike" kern="0" cap="none" spc="0" normalizeH="0" baseline="0" noProof="0" dirty="0" smtClean="0">
                <a:ln>
                  <a:noFill/>
                </a:ln>
                <a:solidFill>
                  <a:schemeClr val="folHlink"/>
                </a:solidFill>
                <a:effectLst/>
                <a:uLnTx/>
                <a:uFillTx/>
                <a:latin typeface="+mn-lt"/>
                <a:ea typeface="+mn-ea"/>
                <a:cs typeface="+mn-cs"/>
              </a:rPr>
              <a:t>：</a:t>
            </a:r>
            <a:endParaRPr kumimoji="0" lang="zh-CN" altLang="en-US" sz="3200" b="1" i="0" u="none" strike="noStrike" kern="0" cap="none" spc="0" normalizeH="0" baseline="0" noProof="0" dirty="0" smtClean="0">
              <a:ln>
                <a:noFill/>
              </a:ln>
              <a:solidFill>
                <a:schemeClr val="folHlink"/>
              </a:solidFill>
              <a:effectLst/>
              <a:uLnTx/>
              <a:uFillTx/>
              <a:latin typeface="+mn-lt"/>
              <a:ea typeface="+mn-ea"/>
              <a:cs typeface="+mn-cs"/>
            </a:endParaRPr>
          </a:p>
          <a:p>
            <a:pPr marL="514350" marR="0" lvl="0" indent="-514350" algn="l" defTabSz="914400" rtl="0" eaLnBrk="1" fontAlgn="base" latinLnBrk="0" hangingPunct="1">
              <a:lnSpc>
                <a:spcPct val="100000"/>
              </a:lnSpc>
              <a:spcBef>
                <a:spcPct val="20000"/>
              </a:spcBef>
              <a:spcAft>
                <a:spcPct val="0"/>
              </a:spcAft>
              <a:buClr>
                <a:schemeClr val="folHlink"/>
              </a:buClr>
              <a:buSzPct val="85000"/>
              <a:buFont typeface="+mj-ea"/>
              <a:buAutoNum type="circleNumDbPlain"/>
              <a:defRPr/>
            </a:pP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正在执行的进程执行完毕，或因发生某事件而不能再继续执行（包括：当前执行进程被中断、时间片用完了、挂起自己、退出等）；</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base" latinLnBrk="0" hangingPunct="1">
              <a:lnSpc>
                <a:spcPct val="100000"/>
              </a:lnSpc>
              <a:spcBef>
                <a:spcPct val="20000"/>
              </a:spcBef>
              <a:spcAft>
                <a:spcPct val="0"/>
              </a:spcAft>
              <a:buClr>
                <a:schemeClr val="folHlink"/>
              </a:buClr>
              <a:buSzPct val="85000"/>
              <a:buFont typeface="+mj-ea"/>
              <a:buAutoNum type="circleNumDbPlain"/>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执行中的进程因提出</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I</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O</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请求而暂停执行；</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base" latinLnBrk="0" hangingPunct="1">
              <a:lnSpc>
                <a:spcPct val="100000"/>
              </a:lnSpc>
              <a:spcBef>
                <a:spcPct val="20000"/>
              </a:spcBef>
              <a:spcAft>
                <a:spcPct val="0"/>
              </a:spcAft>
              <a:buClr>
                <a:schemeClr val="folHlink"/>
              </a:buClr>
              <a:buSzPct val="85000"/>
              <a:buFont typeface="+mj-ea"/>
              <a:buAutoNum type="circleNumDbPlain"/>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在进程通信或同步过程中执行了某种原语操作，如</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P</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V</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操作原语，</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Block</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原语， </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Wakeup</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原语等。</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base" latinLnBrk="0" hangingPunct="1">
              <a:lnSpc>
                <a:spcPct val="100000"/>
              </a:lnSpc>
              <a:spcBef>
                <a:spcPct val="20000"/>
              </a:spcBef>
              <a:spcAft>
                <a:spcPct val="0"/>
              </a:spcAft>
              <a:buClr>
                <a:schemeClr val="folHlink"/>
              </a:buClr>
              <a:buSzPct val="85000"/>
              <a:buFont typeface="+mj-ea"/>
              <a:buAutoNum type="circleNumDbPlain"/>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就绪队列中新进入了进程。（如创建了新的进程，或者某个进程被唤醒、某个进程被激活）</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5218"/>
                                        </p:tgtEl>
                                        <p:attrNameLst>
                                          <p:attrName>style.visibility</p:attrName>
                                        </p:attrNameLst>
                                      </p:cBhvr>
                                      <p:to>
                                        <p:strVal val="visible"/>
                                      </p:to>
                                    </p:set>
                                    <p:animEffect transition="in" filter="fade">
                                      <p:cBhvr>
                                        <p:cTn id="7" dur="2000"/>
                                        <p:tgtEl>
                                          <p:spTgt spid="2652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5219">
                                            <p:txEl>
                                              <p:charRg st="0" end="15"/>
                                            </p:txEl>
                                          </p:spTgt>
                                        </p:tgtEl>
                                        <p:attrNameLst>
                                          <p:attrName>style.visibility</p:attrName>
                                        </p:attrNameLst>
                                      </p:cBhvr>
                                      <p:to>
                                        <p:strVal val="visible"/>
                                      </p:to>
                                    </p:set>
                                    <p:animEffect transition="in" filter="fade">
                                      <p:cBhvr>
                                        <p:cTn id="12" dur="2000"/>
                                        <p:tgtEl>
                                          <p:spTgt spid="265219">
                                            <p:txEl>
                                              <p:charRg st="0" end="1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5219">
                                            <p:txEl>
                                              <p:charRg st="15" end="75"/>
                                            </p:txEl>
                                          </p:spTgt>
                                        </p:tgtEl>
                                        <p:attrNameLst>
                                          <p:attrName>style.visibility</p:attrName>
                                        </p:attrNameLst>
                                      </p:cBhvr>
                                      <p:to>
                                        <p:strVal val="visible"/>
                                      </p:to>
                                    </p:set>
                                    <p:animEffect transition="in" filter="fade">
                                      <p:cBhvr>
                                        <p:cTn id="17" dur="2000"/>
                                        <p:tgtEl>
                                          <p:spTgt spid="265219">
                                            <p:txEl>
                                              <p:charRg st="15" end="7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5219">
                                            <p:txEl>
                                              <p:charRg st="75" end="96"/>
                                            </p:txEl>
                                          </p:spTgt>
                                        </p:tgtEl>
                                        <p:attrNameLst>
                                          <p:attrName>style.visibility</p:attrName>
                                        </p:attrNameLst>
                                      </p:cBhvr>
                                      <p:to>
                                        <p:strVal val="visible"/>
                                      </p:to>
                                    </p:set>
                                    <p:animEffect transition="in" filter="fade">
                                      <p:cBhvr>
                                        <p:cTn id="22" dur="2000"/>
                                        <p:tgtEl>
                                          <p:spTgt spid="265219">
                                            <p:txEl>
                                              <p:charRg st="75" end="9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65219">
                                            <p:txEl>
                                              <p:charRg st="96" end="146"/>
                                            </p:txEl>
                                          </p:spTgt>
                                        </p:tgtEl>
                                        <p:attrNameLst>
                                          <p:attrName>style.visibility</p:attrName>
                                        </p:attrNameLst>
                                      </p:cBhvr>
                                      <p:to>
                                        <p:strVal val="visible"/>
                                      </p:to>
                                    </p:set>
                                    <p:animEffect transition="in" filter="fade">
                                      <p:cBhvr>
                                        <p:cTn id="27" dur="2000"/>
                                        <p:tgtEl>
                                          <p:spTgt spid="265219">
                                            <p:txEl>
                                              <p:charRg st="96" end="14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5219">
                                            <p:txEl>
                                              <p:charRg st="146" end="187"/>
                                            </p:txEl>
                                          </p:spTgt>
                                        </p:tgtEl>
                                        <p:attrNameLst>
                                          <p:attrName>style.visibility</p:attrName>
                                        </p:attrNameLst>
                                      </p:cBhvr>
                                      <p:to>
                                        <p:strVal val="visible"/>
                                      </p:to>
                                    </p:set>
                                    <p:animEffect transition="in" filter="fade">
                                      <p:cBhvr>
                                        <p:cTn id="32" dur="2000"/>
                                        <p:tgtEl>
                                          <p:spTgt spid="265219">
                                            <p:txEl>
                                              <p:charRg st="146" end="18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8" grpId="0"/>
      <p:bldP spid="265219"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9314" name="Rectangle 2"/>
          <p:cNvSpPr>
            <a:spLocks noGrp="1" noRot="1" noChangeArrowheads="1"/>
          </p:cNvSpPr>
          <p:nvPr>
            <p:ph type="title" idx="4294967295"/>
          </p:nvPr>
        </p:nvSpPr>
        <p:spPr>
          <a:xfrm>
            <a:off x="381000" y="685800"/>
            <a:ext cx="7483475" cy="9144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3.2  </a:t>
            </a:r>
            <a:r>
              <a:rPr kumimoji="0" lang="zh-CN" altLang="en-US" sz="44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进程调度算法</a:t>
            </a:r>
            <a:endParaRPr kumimoji="0" lang="zh-CN" altLang="en-US" sz="44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endParaRPr>
          </a:p>
        </p:txBody>
      </p:sp>
      <p:sp>
        <p:nvSpPr>
          <p:cNvPr id="49155" name="Rectangle 3"/>
          <p:cNvSpPr>
            <a:spLocks noGrp="1" noRot="1"/>
          </p:cNvSpPr>
          <p:nvPr>
            <p:ph type="body" idx="4294967295"/>
          </p:nvPr>
        </p:nvSpPr>
        <p:spPr>
          <a:xfrm>
            <a:off x="457200" y="1981200"/>
            <a:ext cx="8153400" cy="4495800"/>
          </a:xfrm>
          <a:ln/>
        </p:spPr>
        <p:txBody>
          <a:bodyPr vert="horz" wrap="square" lIns="91440" tIns="45720" rIns="91440" bIns="45720" anchor="t" anchorCtr="0"/>
          <a:p>
            <a:pPr algn="just" eaLnBrk="1" hangingPunct="1"/>
            <a:r>
              <a:rPr lang="zh-CN" altLang="en-US" b="1" dirty="0"/>
              <a:t>调度算法是指：根据系统的资源分配策略所规定的资源分配算法。对于不同的系统目标，通常采用不同的调度算法。</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9314"/>
                                        </p:tgtEl>
                                        <p:attrNameLst>
                                          <p:attrName>style.visibility</p:attrName>
                                        </p:attrNameLst>
                                      </p:cBhvr>
                                      <p:to>
                                        <p:strVal val="visible"/>
                                      </p:to>
                                    </p:set>
                                    <p:animEffect transition="in" filter="fade">
                                      <p:cBhvr>
                                        <p:cTn id="7" dur="2000"/>
                                        <p:tgtEl>
                                          <p:spTgt spid="2693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9155">
                                            <p:txEl>
                                              <p:charRg st="0" end="52"/>
                                            </p:txEl>
                                          </p:spTgt>
                                        </p:tgtEl>
                                        <p:attrNameLst>
                                          <p:attrName>style.visibility</p:attrName>
                                        </p:attrNameLst>
                                      </p:cBhvr>
                                      <p:to>
                                        <p:strVal val="visible"/>
                                      </p:to>
                                    </p:set>
                                    <p:animEffect transition="in" filter="fade">
                                      <p:cBhvr>
                                        <p:cTn id="12" dur="2000"/>
                                        <p:tgtEl>
                                          <p:spTgt spid="49155">
                                            <p:txEl>
                                              <p:charRg st="0" end="5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4" grpId="0"/>
      <p:bldP spid="4915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3570"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3.5.3  </a:t>
            </a:r>
            <a:r>
              <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进程调度算法</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50179" name="Rectangle 3"/>
          <p:cNvSpPr>
            <a:spLocks noGrp="1" noRot="1"/>
          </p:cNvSpPr>
          <p:nvPr>
            <p:ph type="body" idx="4294967295"/>
          </p:nvPr>
        </p:nvSpPr>
        <p:spPr>
          <a:ln/>
        </p:spPr>
        <p:txBody>
          <a:bodyPr vert="horz" wrap="square" lIns="91440" tIns="45720" rIns="91440" bIns="45720" anchor="t" anchorCtr="0"/>
          <a:p>
            <a:pPr eaLnBrk="1" hangingPunct="1"/>
            <a:r>
              <a:rPr lang="en-US" altLang="zh-CN" b="1" dirty="0">
                <a:solidFill>
                  <a:srgbClr val="0070C0"/>
                </a:solidFill>
              </a:rPr>
              <a:t>1.</a:t>
            </a:r>
            <a:r>
              <a:rPr lang="zh-CN" altLang="en-US" b="1" dirty="0">
                <a:solidFill>
                  <a:srgbClr val="0070C0"/>
                </a:solidFill>
              </a:rPr>
              <a:t>先来先服务</a:t>
            </a:r>
            <a:endParaRPr lang="zh-CN" altLang="en-US" b="1" dirty="0">
              <a:solidFill>
                <a:srgbClr val="0070C0"/>
              </a:solidFill>
            </a:endParaRPr>
          </a:p>
          <a:p>
            <a:pPr eaLnBrk="1" hangingPunct="1"/>
            <a:r>
              <a:rPr lang="en-US" altLang="zh-CN" b="1" dirty="0">
                <a:solidFill>
                  <a:srgbClr val="0070C0"/>
                </a:solidFill>
              </a:rPr>
              <a:t>2.</a:t>
            </a:r>
            <a:r>
              <a:rPr lang="zh-CN" altLang="en-US" b="1" dirty="0">
                <a:solidFill>
                  <a:srgbClr val="0070C0"/>
                </a:solidFill>
              </a:rPr>
              <a:t>短进程优先</a:t>
            </a:r>
            <a:endParaRPr lang="zh-CN" altLang="en-US" b="1" dirty="0">
              <a:solidFill>
                <a:srgbClr val="0070C0"/>
              </a:solidFill>
            </a:endParaRPr>
          </a:p>
          <a:p>
            <a:pPr eaLnBrk="1" hangingPunct="1"/>
            <a:r>
              <a:rPr lang="en-US" altLang="zh-CN" b="1" dirty="0">
                <a:solidFill>
                  <a:srgbClr val="0070C0"/>
                </a:solidFill>
              </a:rPr>
              <a:t>3.</a:t>
            </a:r>
            <a:r>
              <a:rPr lang="zh-CN" altLang="en-US" b="1" dirty="0">
                <a:solidFill>
                  <a:srgbClr val="0070C0"/>
                </a:solidFill>
              </a:rPr>
              <a:t>时间片轮转</a:t>
            </a:r>
            <a:endParaRPr lang="zh-CN" altLang="en-US" b="1" dirty="0">
              <a:solidFill>
                <a:srgbClr val="0070C0"/>
              </a:solidFill>
            </a:endParaRPr>
          </a:p>
          <a:p>
            <a:pPr eaLnBrk="1" hangingPunct="1"/>
            <a:r>
              <a:rPr lang="en-US" altLang="zh-CN" b="1" dirty="0">
                <a:solidFill>
                  <a:srgbClr val="0070C0"/>
                </a:solidFill>
              </a:rPr>
              <a:t>4.</a:t>
            </a:r>
            <a:r>
              <a:rPr lang="zh-CN" altLang="en-US" b="1" dirty="0">
                <a:solidFill>
                  <a:srgbClr val="0070C0"/>
                </a:solidFill>
              </a:rPr>
              <a:t>高优先权优先调度算法</a:t>
            </a:r>
            <a:endParaRPr lang="en-US" altLang="zh-CN" b="1" dirty="0">
              <a:solidFill>
                <a:srgbClr val="0070C0"/>
              </a:solidFill>
            </a:endParaRPr>
          </a:p>
          <a:p>
            <a:pPr eaLnBrk="1" hangingPunct="1"/>
            <a:r>
              <a:rPr lang="zh-CN" altLang="en-US" b="1" dirty="0">
                <a:solidFill>
                  <a:schemeClr val="folHlink"/>
                </a:solidFill>
              </a:rPr>
              <a:t>实时调度算法</a:t>
            </a:r>
            <a:endParaRPr lang="zh-CN" altLang="en-US" b="1" dirty="0">
              <a:solidFill>
                <a:schemeClr val="folHlink"/>
              </a:solidFill>
            </a:endParaRPr>
          </a:p>
          <a:p>
            <a:pPr eaLnBrk="1" hangingPunct="1"/>
            <a:r>
              <a:rPr lang="zh-CN" altLang="en-US" b="1" dirty="0">
                <a:solidFill>
                  <a:srgbClr val="0070C0"/>
                </a:solidFill>
              </a:rPr>
              <a:t>最早截至时间优先</a:t>
            </a:r>
            <a:r>
              <a:rPr lang="en-US" altLang="zh-CN" b="1" dirty="0">
                <a:solidFill>
                  <a:srgbClr val="0070C0"/>
                </a:solidFill>
              </a:rPr>
              <a:t>EDF</a:t>
            </a:r>
            <a:r>
              <a:rPr lang="zh-CN" altLang="en-US" b="1" dirty="0">
                <a:solidFill>
                  <a:srgbClr val="0070C0"/>
                </a:solidFill>
              </a:rPr>
              <a:t>算法</a:t>
            </a:r>
            <a:endParaRPr lang="zh-CN" altLang="en-US" b="1" dirty="0">
              <a:solidFill>
                <a:srgbClr val="0070C0"/>
              </a:solidFill>
            </a:endParaRPr>
          </a:p>
          <a:p>
            <a:pPr eaLnBrk="1" hangingPunct="1"/>
            <a:endParaRPr lang="zh-CN" altLang="en-US" b="1" dirty="0">
              <a:solidFill>
                <a:schemeClr val="folHlink"/>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3570"/>
                                        </p:tgtEl>
                                        <p:attrNameLst>
                                          <p:attrName>style.visibility</p:attrName>
                                        </p:attrNameLst>
                                      </p:cBhvr>
                                      <p:to>
                                        <p:strVal val="visible"/>
                                      </p:to>
                                    </p:set>
                                    <p:animEffect transition="in" filter="fade">
                                      <p:cBhvr>
                                        <p:cTn id="7" dur="2000"/>
                                        <p:tgtEl>
                                          <p:spTgt spid="4935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179">
                                            <p:txEl>
                                              <p:charRg st="0" end="8"/>
                                            </p:txEl>
                                          </p:spTgt>
                                        </p:tgtEl>
                                        <p:attrNameLst>
                                          <p:attrName>style.visibility</p:attrName>
                                        </p:attrNameLst>
                                      </p:cBhvr>
                                      <p:to>
                                        <p:strVal val="visible"/>
                                      </p:to>
                                    </p:set>
                                    <p:animEffect transition="in" filter="fade">
                                      <p:cBhvr>
                                        <p:cTn id="12" dur="2000"/>
                                        <p:tgtEl>
                                          <p:spTgt spid="50179">
                                            <p:txEl>
                                              <p:charRg st="0"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179">
                                            <p:txEl>
                                              <p:charRg st="8" end="16"/>
                                            </p:txEl>
                                          </p:spTgt>
                                        </p:tgtEl>
                                        <p:attrNameLst>
                                          <p:attrName>style.visibility</p:attrName>
                                        </p:attrNameLst>
                                      </p:cBhvr>
                                      <p:to>
                                        <p:strVal val="visible"/>
                                      </p:to>
                                    </p:set>
                                    <p:animEffect transition="in" filter="fade">
                                      <p:cBhvr>
                                        <p:cTn id="17" dur="2000"/>
                                        <p:tgtEl>
                                          <p:spTgt spid="50179">
                                            <p:txEl>
                                              <p:charRg st="8" end="1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0179">
                                            <p:txEl>
                                              <p:charRg st="16" end="24"/>
                                            </p:txEl>
                                          </p:spTgt>
                                        </p:tgtEl>
                                        <p:attrNameLst>
                                          <p:attrName>style.visibility</p:attrName>
                                        </p:attrNameLst>
                                      </p:cBhvr>
                                      <p:to>
                                        <p:strVal val="visible"/>
                                      </p:to>
                                    </p:set>
                                    <p:animEffect transition="in" filter="fade">
                                      <p:cBhvr>
                                        <p:cTn id="22" dur="2000"/>
                                        <p:tgtEl>
                                          <p:spTgt spid="50179">
                                            <p:txEl>
                                              <p:charRg st="16" end="2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0179">
                                            <p:txEl>
                                              <p:charRg st="24" end="37"/>
                                            </p:txEl>
                                          </p:spTgt>
                                        </p:tgtEl>
                                        <p:attrNameLst>
                                          <p:attrName>style.visibility</p:attrName>
                                        </p:attrNameLst>
                                      </p:cBhvr>
                                      <p:to>
                                        <p:strVal val="visible"/>
                                      </p:to>
                                    </p:set>
                                    <p:animEffect transition="in" filter="fade">
                                      <p:cBhvr>
                                        <p:cTn id="27" dur="2000"/>
                                        <p:tgtEl>
                                          <p:spTgt spid="50179">
                                            <p:txEl>
                                              <p:charRg st="24" end="3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0179">
                                            <p:txEl>
                                              <p:charRg st="37" end="44"/>
                                            </p:txEl>
                                          </p:spTgt>
                                        </p:tgtEl>
                                        <p:attrNameLst>
                                          <p:attrName>style.visibility</p:attrName>
                                        </p:attrNameLst>
                                      </p:cBhvr>
                                      <p:to>
                                        <p:strVal val="visible"/>
                                      </p:to>
                                    </p:set>
                                    <p:animEffect transition="in" filter="fade">
                                      <p:cBhvr>
                                        <p:cTn id="32" dur="2000"/>
                                        <p:tgtEl>
                                          <p:spTgt spid="50179">
                                            <p:txEl>
                                              <p:charRg st="37" end="4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0179">
                                            <p:txEl>
                                              <p:charRg st="44" end="58"/>
                                            </p:txEl>
                                          </p:spTgt>
                                        </p:tgtEl>
                                        <p:attrNameLst>
                                          <p:attrName>style.visibility</p:attrName>
                                        </p:attrNameLst>
                                      </p:cBhvr>
                                      <p:to>
                                        <p:strVal val="visible"/>
                                      </p:to>
                                    </p:set>
                                    <p:animEffect transition="in" filter="fade">
                                      <p:cBhvr>
                                        <p:cTn id="37" dur="2000"/>
                                        <p:tgtEl>
                                          <p:spTgt spid="50179">
                                            <p:txEl>
                                              <p:charRg st="44" end="5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3570" grpId="0"/>
      <p:bldP spid="50179"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0338" name="Rectangle 2"/>
          <p:cNvSpPr>
            <a:spLocks noGrp="1" noRot="1" noChangeArrowheads="1"/>
          </p:cNvSpPr>
          <p:nvPr>
            <p:ph type="title" idx="4294967295"/>
          </p:nvPr>
        </p:nvSpPr>
        <p:spPr>
          <a:xfrm>
            <a:off x="304800" y="457200"/>
            <a:ext cx="8077200" cy="10668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1" i="0" u="none" strike="noStrike" kern="0" cap="none" spc="0" normalizeH="0" baseline="0" noProof="0">
                <a:ln>
                  <a:noFill/>
                </a:ln>
                <a:solidFill>
                  <a:schemeClr val="tx1"/>
                </a:solidFill>
                <a:effectLst/>
                <a:uLnTx/>
                <a:uFillTx/>
                <a:latin typeface="+mj-lt"/>
                <a:ea typeface="+mj-ea"/>
                <a:cs typeface="+mj-cs"/>
              </a:rPr>
              <a:t>1. </a:t>
            </a:r>
            <a:r>
              <a:rPr kumimoji="1" lang="zh-CN" altLang="en-US" sz="4000" b="1" i="0" u="none" strike="noStrike" kern="0" cap="none" spc="0" normalizeH="0" baseline="0" noProof="0">
                <a:ln>
                  <a:noFill/>
                </a:ln>
                <a:solidFill>
                  <a:schemeClr val="tx1"/>
                </a:solidFill>
                <a:effectLst/>
                <a:uLnTx/>
                <a:uFillTx/>
                <a:latin typeface="+mj-lt"/>
                <a:ea typeface="+mj-ea"/>
                <a:cs typeface="+mj-cs"/>
              </a:rPr>
              <a:t>先来先服务调度算法</a:t>
            </a:r>
            <a:r>
              <a:rPr kumimoji="1" lang="en-US" altLang="zh-CN" sz="4000" b="1" i="0" u="none" strike="noStrike" kern="0" cap="none" spc="0" normalizeH="0" baseline="0" noProof="0">
                <a:ln>
                  <a:noFill/>
                </a:ln>
                <a:solidFill>
                  <a:schemeClr val="tx1"/>
                </a:solidFill>
                <a:effectLst/>
                <a:uLnTx/>
                <a:uFillTx/>
                <a:latin typeface="+mj-lt"/>
                <a:ea typeface="+mj-ea"/>
                <a:cs typeface="+mj-cs"/>
              </a:rPr>
              <a:t>(FCFS)</a:t>
            </a:r>
            <a:r>
              <a:rPr kumimoji="0" lang="zh-CN" altLang="en-US" sz="40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算法 </a:t>
            </a:r>
            <a:endParaRPr kumimoji="0" lang="zh-CN" altLang="en-US" sz="40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pic>
        <p:nvPicPr>
          <p:cNvPr id="43011" name="Picture 456" descr="未标题-1 拷贝"/>
          <p:cNvPicPr>
            <a:picLocks noChangeAspect="1"/>
          </p:cNvPicPr>
          <p:nvPr/>
        </p:nvPicPr>
        <p:blipFill>
          <a:blip r:embed="rId1"/>
          <a:stretch>
            <a:fillRect/>
          </a:stretch>
        </p:blipFill>
        <p:spPr>
          <a:xfrm>
            <a:off x="0" y="1905000"/>
            <a:ext cx="9144000" cy="2881313"/>
          </a:xfrm>
          <a:prstGeom prst="rect">
            <a:avLst/>
          </a:prstGeom>
          <a:noFill/>
          <a:ln w="9525">
            <a:noFill/>
          </a:ln>
        </p:spPr>
      </p:pic>
      <p:sp>
        <p:nvSpPr>
          <p:cNvPr id="43012" name="Text Box 457"/>
          <p:cNvSpPr txBox="1"/>
          <p:nvPr/>
        </p:nvSpPr>
        <p:spPr>
          <a:xfrm>
            <a:off x="228600" y="5105400"/>
            <a:ext cx="8458200" cy="946150"/>
          </a:xfrm>
          <a:prstGeom prst="rect">
            <a:avLst/>
          </a:prstGeom>
          <a:noFill/>
          <a:ln w="9525">
            <a:noFill/>
          </a:ln>
        </p:spPr>
        <p:txBody>
          <a:bodyPr>
            <a:spAutoFit/>
          </a:bodyPr>
          <a:p>
            <a:pPr eaLnBrk="1" hangingPunct="1">
              <a:spcBef>
                <a:spcPct val="50000"/>
              </a:spcBef>
            </a:pPr>
            <a:r>
              <a:rPr lang="zh-CN" altLang="en-US" sz="2800" b="1" dirty="0">
                <a:solidFill>
                  <a:schemeClr val="folHlink"/>
                </a:solidFill>
                <a:latin typeface="Arial" panose="020B0604020202020204" pitchFamily="34" charset="0"/>
              </a:rPr>
              <a:t>缺陷：对待短作业（进程）不公平，如果他们排在队列后面，则其等待时间远大于其执行时间。</a:t>
            </a:r>
            <a:endParaRPr lang="zh-CN" altLang="en-US" sz="2800" b="1" dirty="0">
              <a:solidFill>
                <a:schemeClr val="folHlink"/>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0338"/>
                                        </p:tgtEl>
                                        <p:attrNameLst>
                                          <p:attrName>style.visibility</p:attrName>
                                        </p:attrNameLst>
                                      </p:cBhvr>
                                      <p:to>
                                        <p:strVal val="visible"/>
                                      </p:to>
                                    </p:set>
                                    <p:animEffect transition="in" filter="fade">
                                      <p:cBhvr>
                                        <p:cTn id="7" dur="2000"/>
                                        <p:tgtEl>
                                          <p:spTgt spid="270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3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3"/>
          <p:cNvSpPr>
            <a:spLocks noGrp="1" noRot="1"/>
          </p:cNvSpPr>
          <p:nvPr>
            <p:ph type="body" idx="4294967295"/>
          </p:nvPr>
        </p:nvSpPr>
        <p:spPr>
          <a:xfrm>
            <a:off x="250825" y="1341438"/>
            <a:ext cx="8534400" cy="4727575"/>
          </a:xfrm>
          <a:ln/>
        </p:spPr>
        <p:txBody>
          <a:bodyPr vert="horz" wrap="square" lIns="91440" tIns="45720" rIns="91440" bIns="45720" anchor="t" anchorCtr="0"/>
          <a:p>
            <a:pPr algn="just" eaLnBrk="1" hangingPunct="1">
              <a:lnSpc>
                <a:spcPct val="150000"/>
              </a:lnSpc>
              <a:spcBef>
                <a:spcPct val="50000"/>
              </a:spcBef>
              <a:buFont typeface="Wingdings" panose="05000000000000000000" pitchFamily="2" charset="2"/>
              <a:buChar char="Ø"/>
            </a:pPr>
            <a:r>
              <a:rPr lang="zh-CN" altLang="en-US" sz="2400" b="1" dirty="0">
                <a:solidFill>
                  <a:schemeClr val="folHlink"/>
                </a:solidFill>
              </a:rPr>
              <a:t>短作业</a:t>
            </a:r>
            <a:r>
              <a:rPr lang="en-US" altLang="zh-CN" sz="2400" b="1" dirty="0">
                <a:solidFill>
                  <a:schemeClr val="folHlink"/>
                </a:solidFill>
              </a:rPr>
              <a:t>(</a:t>
            </a:r>
            <a:r>
              <a:rPr lang="zh-CN" altLang="en-US" sz="2400" b="1" dirty="0">
                <a:solidFill>
                  <a:schemeClr val="folHlink"/>
                </a:solidFill>
              </a:rPr>
              <a:t>进程</a:t>
            </a:r>
            <a:r>
              <a:rPr lang="en-US" altLang="zh-CN" sz="2400" b="1" dirty="0">
                <a:solidFill>
                  <a:schemeClr val="folHlink"/>
                </a:solidFill>
              </a:rPr>
              <a:t>)</a:t>
            </a:r>
            <a:r>
              <a:rPr lang="zh-CN" altLang="en-US" sz="2400" b="1" dirty="0">
                <a:solidFill>
                  <a:schemeClr val="folHlink"/>
                </a:solidFill>
              </a:rPr>
              <a:t>优先调度算法</a:t>
            </a:r>
            <a:r>
              <a:rPr lang="en-US" altLang="zh-CN" sz="2400" b="1" dirty="0">
                <a:solidFill>
                  <a:schemeClr val="folHlink"/>
                </a:solidFill>
              </a:rPr>
              <a:t>SJ(P)F</a:t>
            </a:r>
            <a:r>
              <a:rPr lang="zh-CN" altLang="en-US" sz="2400" b="1" dirty="0">
                <a:solidFill>
                  <a:schemeClr val="folHlink"/>
                </a:solidFill>
              </a:rPr>
              <a:t>，</a:t>
            </a:r>
            <a:r>
              <a:rPr lang="zh-CN" altLang="en-US" sz="2400" b="1" dirty="0">
                <a:solidFill>
                  <a:schemeClr val="tx2"/>
                </a:solidFill>
              </a:rPr>
              <a:t>是指对短作业或短进程优先调度的算法。它们可以分别用于作业调度和进程调度</a:t>
            </a:r>
            <a:r>
              <a:rPr lang="zh-CN" altLang="en-US" sz="2400" b="1" dirty="0">
                <a:solidFill>
                  <a:schemeClr val="folHlink"/>
                </a:solidFill>
              </a:rPr>
              <a:t>。</a:t>
            </a:r>
            <a:endParaRPr lang="zh-CN" altLang="en-US" sz="2400" b="1" dirty="0">
              <a:solidFill>
                <a:schemeClr val="folHlink"/>
              </a:solidFill>
            </a:endParaRPr>
          </a:p>
          <a:p>
            <a:pPr algn="just" eaLnBrk="1" hangingPunct="1">
              <a:lnSpc>
                <a:spcPct val="150000"/>
              </a:lnSpc>
              <a:spcBef>
                <a:spcPct val="50000"/>
              </a:spcBef>
              <a:buFont typeface="Wingdings" panose="05000000000000000000" pitchFamily="2" charset="2"/>
              <a:buChar char="Ø"/>
            </a:pPr>
            <a:r>
              <a:rPr lang="zh-CN" altLang="en-US" sz="2400" b="1" dirty="0">
                <a:solidFill>
                  <a:schemeClr val="folHlink"/>
                </a:solidFill>
              </a:rPr>
              <a:t>短作业优先</a:t>
            </a:r>
            <a:r>
              <a:rPr lang="en-US" altLang="zh-CN" sz="2400" b="1" dirty="0">
                <a:solidFill>
                  <a:schemeClr val="folHlink"/>
                </a:solidFill>
              </a:rPr>
              <a:t>(SJF)</a:t>
            </a:r>
            <a:r>
              <a:rPr lang="zh-CN" altLang="en-US" sz="2400" b="1" dirty="0">
                <a:solidFill>
                  <a:schemeClr val="folHlink"/>
                </a:solidFill>
              </a:rPr>
              <a:t>的调度算法</a:t>
            </a:r>
            <a:r>
              <a:rPr lang="zh-CN" altLang="en-US" sz="2400" b="1" dirty="0"/>
              <a:t>，是从后备队列中选择一个或若干个</a:t>
            </a:r>
            <a:r>
              <a:rPr lang="zh-CN" altLang="en-US" sz="2400" b="1" i="1" u="sng" dirty="0">
                <a:solidFill>
                  <a:schemeClr val="hlink"/>
                </a:solidFill>
              </a:rPr>
              <a:t>估计运行时间最短的作业</a:t>
            </a:r>
            <a:r>
              <a:rPr lang="zh-CN" altLang="en-US" sz="2400" b="1" dirty="0"/>
              <a:t>，将它们调入内存运行。</a:t>
            </a:r>
            <a:endParaRPr lang="zh-CN" altLang="en-US" sz="2400" b="1" dirty="0"/>
          </a:p>
          <a:p>
            <a:pPr algn="just" eaLnBrk="1" hangingPunct="1">
              <a:lnSpc>
                <a:spcPct val="150000"/>
              </a:lnSpc>
              <a:spcBef>
                <a:spcPct val="50000"/>
              </a:spcBef>
              <a:buFont typeface="Wingdings" panose="05000000000000000000" pitchFamily="2" charset="2"/>
              <a:buChar char="Ø"/>
            </a:pPr>
            <a:r>
              <a:rPr lang="zh-CN" altLang="en-US" sz="2400" b="1" dirty="0">
                <a:solidFill>
                  <a:schemeClr val="folHlink"/>
                </a:solidFill>
              </a:rPr>
              <a:t>短进程优先</a:t>
            </a:r>
            <a:r>
              <a:rPr lang="en-US" altLang="zh-CN" sz="2400" b="1" dirty="0">
                <a:solidFill>
                  <a:schemeClr val="folHlink"/>
                </a:solidFill>
              </a:rPr>
              <a:t>(SPF)</a:t>
            </a:r>
            <a:r>
              <a:rPr lang="zh-CN" altLang="en-US" sz="2400" b="1" dirty="0">
                <a:solidFill>
                  <a:schemeClr val="folHlink"/>
                </a:solidFill>
              </a:rPr>
              <a:t>调度算法</a:t>
            </a:r>
            <a:r>
              <a:rPr lang="zh-CN" altLang="en-US" sz="2400" b="1" dirty="0"/>
              <a:t>，则是从就绪队列中选出一</a:t>
            </a:r>
            <a:r>
              <a:rPr lang="zh-CN" altLang="en-US" sz="2400" b="1" i="1" u="sng" dirty="0">
                <a:solidFill>
                  <a:schemeClr val="hlink"/>
                </a:solidFill>
              </a:rPr>
              <a:t>估计运行时间最短的进程</a:t>
            </a:r>
            <a:r>
              <a:rPr lang="zh-CN" altLang="en-US" sz="2400" b="1" dirty="0"/>
              <a:t>，将处理机分配给它，使它立即执行并一直执行到完成，或发生某事件而被阻塞放弃处理机时，再重新调度。</a:t>
            </a:r>
            <a:endParaRPr lang="zh-CN" altLang="en-US" sz="2400" b="1" dirty="0"/>
          </a:p>
          <a:p>
            <a:pPr eaLnBrk="1" hangingPunct="1">
              <a:lnSpc>
                <a:spcPct val="80000"/>
              </a:lnSpc>
              <a:buFont typeface="Wingdings 2" panose="05020102010507070707" pitchFamily="18" charset="2"/>
              <a:buChar char="¡"/>
            </a:pPr>
            <a:endParaRPr lang="en-US" altLang="zh-CN" sz="2400" b="1" dirty="0"/>
          </a:p>
        </p:txBody>
      </p:sp>
      <p:sp>
        <p:nvSpPr>
          <p:cNvPr id="480260" name="Rectangle 4"/>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2</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．短进程</a:t>
            </a: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作业优先调度算法</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80260"/>
                                        </p:tgtEl>
                                        <p:attrNameLst>
                                          <p:attrName>style.visibility</p:attrName>
                                        </p:attrNameLst>
                                      </p:cBhvr>
                                      <p:to>
                                        <p:strVal val="visible"/>
                                      </p:to>
                                    </p:set>
                                    <p:animEffect transition="in" filter="fade">
                                      <p:cBhvr>
                                        <p:cTn id="7" dur="2000"/>
                                        <p:tgtEl>
                                          <p:spTgt spid="4802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2226">
                                            <p:txEl>
                                              <p:charRg st="0" end="57"/>
                                            </p:txEl>
                                          </p:spTgt>
                                        </p:tgtEl>
                                        <p:attrNameLst>
                                          <p:attrName>style.visibility</p:attrName>
                                        </p:attrNameLst>
                                      </p:cBhvr>
                                      <p:to>
                                        <p:strVal val="visible"/>
                                      </p:to>
                                    </p:set>
                                    <p:animEffect transition="in" filter="fade">
                                      <p:cBhvr>
                                        <p:cTn id="12" dur="2000"/>
                                        <p:tgtEl>
                                          <p:spTgt spid="52226">
                                            <p:txEl>
                                              <p:charRg st="0" end="5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2226">
                                            <p:txEl>
                                              <p:charRg st="57" end="111"/>
                                            </p:txEl>
                                          </p:spTgt>
                                        </p:tgtEl>
                                        <p:attrNameLst>
                                          <p:attrName>style.visibility</p:attrName>
                                        </p:attrNameLst>
                                      </p:cBhvr>
                                      <p:to>
                                        <p:strVal val="visible"/>
                                      </p:to>
                                    </p:set>
                                    <p:animEffect transition="in" filter="fade">
                                      <p:cBhvr>
                                        <p:cTn id="17" dur="2000"/>
                                        <p:tgtEl>
                                          <p:spTgt spid="52226">
                                            <p:txEl>
                                              <p:charRg st="57" end="11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2226">
                                            <p:txEl>
                                              <p:charRg st="111" end="197"/>
                                            </p:txEl>
                                          </p:spTgt>
                                        </p:tgtEl>
                                        <p:attrNameLst>
                                          <p:attrName>style.visibility</p:attrName>
                                        </p:attrNameLst>
                                      </p:cBhvr>
                                      <p:to>
                                        <p:strVal val="visible"/>
                                      </p:to>
                                    </p:set>
                                    <p:animEffect transition="in" filter="fade">
                                      <p:cBhvr>
                                        <p:cTn id="22" dur="2000"/>
                                        <p:tgtEl>
                                          <p:spTgt spid="52226">
                                            <p:txEl>
                                              <p:charRg st="111" end="19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build="p"/>
      <p:bldP spid="48026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1362" name="Rectangle 2"/>
          <p:cNvSpPr>
            <a:spLocks noGrp="1" noRot="1" noChangeArrowheads="1"/>
          </p:cNvSpPr>
          <p:nvPr>
            <p:ph type="title" idx="4294967295"/>
          </p:nvPr>
        </p:nvSpPr>
        <p:spPr>
          <a:xfrm>
            <a:off x="301625" y="228600"/>
            <a:ext cx="8540750" cy="8382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2</a:t>
            </a:r>
            <a:r>
              <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．短进程</a:t>
            </a:r>
            <a:r>
              <a:rPr kumimoji="0" lang="en-US"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作业优先调度算法</a:t>
            </a: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graphicFrame>
        <p:nvGraphicFramePr>
          <p:cNvPr id="5122" name="Object 3"/>
          <p:cNvGraphicFramePr>
            <a:graphicFrameLocks noChangeAspect="1"/>
          </p:cNvGraphicFramePr>
          <p:nvPr/>
        </p:nvGraphicFramePr>
        <p:xfrm>
          <a:off x="457200" y="1828800"/>
          <a:ext cx="8305800" cy="4237038"/>
        </p:xfrm>
        <a:graphic>
          <a:graphicData uri="http://schemas.openxmlformats.org/presentationml/2006/ole">
            <mc:AlternateContent xmlns:mc="http://schemas.openxmlformats.org/markup-compatibility/2006">
              <mc:Choice xmlns:v="urn:schemas-microsoft-com:vml" Requires="v">
                <p:oleObj spid="_x0000_s3083" name="" r:id="rId1" imgW="6742430" imgH="4110355" progId="WangImage.Document">
                  <p:embed/>
                </p:oleObj>
              </mc:Choice>
              <mc:Fallback>
                <p:oleObj name="" r:id="rId1" imgW="6742430" imgH="4110355" progId="WangImage.Document">
                  <p:embed/>
                  <p:pic>
                    <p:nvPicPr>
                      <p:cNvPr id="0" name="图片 3082"/>
                      <p:cNvPicPr/>
                      <p:nvPr/>
                    </p:nvPicPr>
                    <p:blipFill>
                      <a:blip r:embed="rId2"/>
                      <a:stretch>
                        <a:fillRect/>
                      </a:stretch>
                    </p:blipFill>
                    <p:spPr>
                      <a:xfrm>
                        <a:off x="457200" y="1828800"/>
                        <a:ext cx="8305800" cy="4237038"/>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1362"/>
                                        </p:tgtEl>
                                        <p:attrNameLst>
                                          <p:attrName>style.visibility</p:attrName>
                                        </p:attrNameLst>
                                      </p:cBhvr>
                                      <p:to>
                                        <p:strVal val="visible"/>
                                      </p:to>
                                    </p:set>
                                    <p:animEffect transition="in" filter="fade">
                                      <p:cBhvr>
                                        <p:cTn id="7" dur="2000"/>
                                        <p:tgtEl>
                                          <p:spTgt spid="271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2386" name="Rectangle 2"/>
          <p:cNvSpPr>
            <a:spLocks noGrp="1" noRot="1" noChangeArrowheads="1"/>
          </p:cNvSpPr>
          <p:nvPr>
            <p:ph type="title" idx="4294967295"/>
          </p:nvPr>
        </p:nvSpPr>
        <p:spPr>
          <a:xfrm>
            <a:off x="152400" y="457200"/>
            <a:ext cx="8458200" cy="10668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短进程</a:t>
            </a:r>
            <a:r>
              <a:rPr kumimoji="0" lang="en-US" altLang="zh-CN" sz="40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a:t>
            </a:r>
            <a:r>
              <a:rPr kumimoji="0" lang="zh-CN" altLang="en-US" sz="40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作业优先调度算法的缺点：</a:t>
            </a:r>
            <a:endParaRPr kumimoji="0" lang="zh-CN" altLang="en-US" sz="40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endParaRPr>
          </a:p>
        </p:txBody>
      </p:sp>
      <p:sp>
        <p:nvSpPr>
          <p:cNvPr id="53251" name="Rectangle 3"/>
          <p:cNvSpPr>
            <a:spLocks noGrp="1" noRot="1"/>
          </p:cNvSpPr>
          <p:nvPr>
            <p:ph type="body" idx="4294967295"/>
          </p:nvPr>
        </p:nvSpPr>
        <p:spPr>
          <a:xfrm>
            <a:off x="304800" y="1676400"/>
            <a:ext cx="8382000" cy="5181600"/>
          </a:xfrm>
          <a:ln/>
        </p:spPr>
        <p:txBody>
          <a:bodyPr vert="horz" wrap="square" lIns="91440" tIns="45720" rIns="91440" bIns="45720" anchor="t" anchorCtr="0"/>
          <a:p>
            <a:pPr eaLnBrk="1" hangingPunct="1">
              <a:lnSpc>
                <a:spcPct val="110000"/>
              </a:lnSpc>
            </a:pPr>
            <a:r>
              <a:rPr lang="en-US" altLang="zh-CN" b="1" dirty="0"/>
              <a:t> (1) </a:t>
            </a:r>
            <a:r>
              <a:rPr lang="zh-CN" altLang="en-US" b="1" dirty="0"/>
              <a:t>该算法对长作业不利，如作业</a:t>
            </a:r>
            <a:r>
              <a:rPr lang="en-US" altLang="zh-CN" b="1" dirty="0"/>
              <a:t>C</a:t>
            </a:r>
            <a:r>
              <a:rPr lang="zh-CN" altLang="en-US" b="1" dirty="0"/>
              <a:t>的周转时间由</a:t>
            </a:r>
            <a:r>
              <a:rPr lang="en-US" altLang="zh-CN" b="1" dirty="0"/>
              <a:t>10</a:t>
            </a:r>
            <a:r>
              <a:rPr lang="zh-CN" altLang="en-US" b="1" dirty="0"/>
              <a:t>增至</a:t>
            </a:r>
            <a:r>
              <a:rPr lang="en-US" altLang="zh-CN" b="1" dirty="0"/>
              <a:t>16</a:t>
            </a:r>
            <a:r>
              <a:rPr lang="zh-CN" altLang="en-US" b="1" dirty="0"/>
              <a:t>，其带权周转时间由</a:t>
            </a:r>
            <a:r>
              <a:rPr lang="en-US" altLang="zh-CN" b="1" dirty="0"/>
              <a:t>2</a:t>
            </a:r>
            <a:r>
              <a:rPr lang="zh-CN" altLang="en-US" b="1" dirty="0"/>
              <a:t>增至</a:t>
            </a:r>
            <a:r>
              <a:rPr lang="en-US" altLang="zh-CN" b="1" dirty="0"/>
              <a:t>3.1</a:t>
            </a:r>
            <a:r>
              <a:rPr lang="zh-CN" altLang="en-US" b="1" dirty="0"/>
              <a:t>。更严重的是，如果有一长作业</a:t>
            </a:r>
            <a:r>
              <a:rPr lang="en-US" altLang="zh-CN" b="1" dirty="0"/>
              <a:t>(</a:t>
            </a:r>
            <a:r>
              <a:rPr lang="zh-CN" altLang="en-US" b="1" dirty="0"/>
              <a:t>进程</a:t>
            </a:r>
            <a:r>
              <a:rPr lang="en-US" altLang="zh-CN" b="1" dirty="0"/>
              <a:t>)</a:t>
            </a:r>
            <a:r>
              <a:rPr lang="zh-CN" altLang="en-US" b="1" dirty="0"/>
              <a:t>进入系统的后备队列</a:t>
            </a:r>
            <a:r>
              <a:rPr lang="en-US" altLang="zh-CN" b="1" dirty="0"/>
              <a:t>(</a:t>
            </a:r>
            <a:r>
              <a:rPr lang="zh-CN" altLang="en-US" b="1" dirty="0"/>
              <a:t>就绪队列</a:t>
            </a:r>
            <a:r>
              <a:rPr lang="en-US" altLang="zh-CN" b="1" dirty="0"/>
              <a:t>)</a:t>
            </a:r>
            <a:r>
              <a:rPr lang="zh-CN" altLang="en-US" b="1" dirty="0"/>
              <a:t>，由于调度程序总是优先调度那些短作业</a:t>
            </a:r>
            <a:r>
              <a:rPr lang="en-US" altLang="zh-CN" b="1" dirty="0"/>
              <a:t>(</a:t>
            </a:r>
            <a:r>
              <a:rPr lang="zh-CN" altLang="en-US" b="1" dirty="0"/>
              <a:t>进程</a:t>
            </a:r>
            <a:r>
              <a:rPr lang="en-US" altLang="zh-CN" b="1" dirty="0"/>
              <a:t>)</a:t>
            </a:r>
            <a:r>
              <a:rPr lang="zh-CN" altLang="en-US" b="1" dirty="0"/>
              <a:t>，</a:t>
            </a:r>
            <a:r>
              <a:rPr lang="zh-CN" altLang="en-US" b="1" i="1" u="sng" dirty="0">
                <a:solidFill>
                  <a:schemeClr val="hlink"/>
                </a:solidFill>
              </a:rPr>
              <a:t>将导致长作业</a:t>
            </a:r>
            <a:r>
              <a:rPr lang="en-US" altLang="zh-CN" b="1" i="1" u="sng" dirty="0">
                <a:solidFill>
                  <a:schemeClr val="hlink"/>
                </a:solidFill>
              </a:rPr>
              <a:t>(</a:t>
            </a:r>
            <a:r>
              <a:rPr lang="zh-CN" altLang="en-US" b="1" i="1" u="sng" dirty="0">
                <a:solidFill>
                  <a:schemeClr val="hlink"/>
                </a:solidFill>
              </a:rPr>
              <a:t>进程</a:t>
            </a:r>
            <a:r>
              <a:rPr lang="en-US" altLang="zh-CN" b="1" i="1" u="sng" dirty="0">
                <a:solidFill>
                  <a:schemeClr val="hlink"/>
                </a:solidFill>
              </a:rPr>
              <a:t>)</a:t>
            </a:r>
            <a:r>
              <a:rPr lang="zh-CN" altLang="en-US" b="1" i="1" u="sng" dirty="0">
                <a:solidFill>
                  <a:schemeClr val="hlink"/>
                </a:solidFill>
              </a:rPr>
              <a:t>长期不被调度</a:t>
            </a:r>
            <a:r>
              <a:rPr lang="zh-CN" altLang="en-US" b="1" dirty="0"/>
              <a:t>。</a:t>
            </a:r>
            <a:endParaRPr lang="zh-CN" altLang="en-US" b="1" dirty="0"/>
          </a:p>
          <a:p>
            <a:pPr eaLnBrk="1" hangingPunct="1">
              <a:lnSpc>
                <a:spcPct val="110000"/>
              </a:lnSpc>
            </a:pPr>
            <a:r>
              <a:rPr lang="zh-CN" altLang="en-US" b="1" dirty="0"/>
              <a:t> </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2386"/>
                                        </p:tgtEl>
                                        <p:attrNameLst>
                                          <p:attrName>style.visibility</p:attrName>
                                        </p:attrNameLst>
                                      </p:cBhvr>
                                      <p:to>
                                        <p:strVal val="visible"/>
                                      </p:to>
                                    </p:set>
                                    <p:animEffect transition="in" filter="fade">
                                      <p:cBhvr>
                                        <p:cTn id="7" dur="2000"/>
                                        <p:tgtEl>
                                          <p:spTgt spid="2723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3251">
                                            <p:txEl>
                                              <p:charRg st="0" end="120"/>
                                            </p:txEl>
                                          </p:spTgt>
                                        </p:tgtEl>
                                        <p:attrNameLst>
                                          <p:attrName>style.visibility</p:attrName>
                                        </p:attrNameLst>
                                      </p:cBhvr>
                                      <p:to>
                                        <p:strVal val="visible"/>
                                      </p:to>
                                    </p:set>
                                    <p:animEffect transition="in" filter="fade">
                                      <p:cBhvr>
                                        <p:cTn id="12" dur="2000"/>
                                        <p:tgtEl>
                                          <p:spTgt spid="53251">
                                            <p:txEl>
                                              <p:charRg st="0" end="12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3251">
                                            <p:txEl>
                                              <p:charRg st="120" end="122"/>
                                            </p:txEl>
                                          </p:spTgt>
                                        </p:tgtEl>
                                        <p:attrNameLst>
                                          <p:attrName>style.visibility</p:attrName>
                                        </p:attrNameLst>
                                      </p:cBhvr>
                                      <p:to>
                                        <p:strVal val="visible"/>
                                      </p:to>
                                    </p:set>
                                    <p:animEffect transition="in" filter="fade">
                                      <p:cBhvr>
                                        <p:cTn id="17" dur="2000"/>
                                        <p:tgtEl>
                                          <p:spTgt spid="53251">
                                            <p:txEl>
                                              <p:charRg st="120" end="12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6" grpId="0"/>
      <p:bldP spid="53251"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5618" name="Rectangle 2"/>
          <p:cNvSpPr>
            <a:spLocks noGrp="1" noRot="1" noChangeArrowheads="1"/>
          </p:cNvSpPr>
          <p:nvPr>
            <p:ph type="title" idx="4294967295"/>
          </p:nvPr>
        </p:nvSpPr>
        <p:spPr>
          <a:xfrm>
            <a:off x="457200" y="457200"/>
            <a:ext cx="8153400" cy="10668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短进程</a:t>
            </a:r>
            <a:r>
              <a:rPr kumimoji="0" lang="en-US" altLang="zh-CN" sz="40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a:t>
            </a:r>
            <a:r>
              <a:rPr kumimoji="0" lang="zh-CN" altLang="en-US" sz="40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作业优先调度算法的缺点：</a:t>
            </a:r>
            <a:endParaRPr kumimoji="0" lang="zh-CN" altLang="en-US" sz="40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endParaRPr>
          </a:p>
        </p:txBody>
      </p:sp>
      <p:sp>
        <p:nvSpPr>
          <p:cNvPr id="54275" name="Rectangle 3"/>
          <p:cNvSpPr>
            <a:spLocks noGrp="1" noRot="1"/>
          </p:cNvSpPr>
          <p:nvPr>
            <p:ph type="body" idx="4294967295"/>
          </p:nvPr>
        </p:nvSpPr>
        <p:spPr>
          <a:ln/>
        </p:spPr>
        <p:txBody>
          <a:bodyPr vert="horz" wrap="square" lIns="91440" tIns="45720" rIns="91440" bIns="45720" anchor="t" anchorCtr="0"/>
          <a:p>
            <a:pPr eaLnBrk="1" hangingPunct="1">
              <a:lnSpc>
                <a:spcPct val="110000"/>
              </a:lnSpc>
            </a:pPr>
            <a:r>
              <a:rPr lang="en-US" altLang="zh-CN" b="1" dirty="0"/>
              <a:t>(2) </a:t>
            </a:r>
            <a:r>
              <a:rPr lang="zh-CN" altLang="en-US" b="1" dirty="0"/>
              <a:t>不能保证紧迫性作业</a:t>
            </a:r>
            <a:r>
              <a:rPr lang="en-US" altLang="zh-CN" b="1" dirty="0"/>
              <a:t>(</a:t>
            </a:r>
            <a:r>
              <a:rPr lang="zh-CN" altLang="en-US" b="1" dirty="0"/>
              <a:t>进程</a:t>
            </a:r>
            <a:r>
              <a:rPr lang="en-US" altLang="zh-CN" b="1" dirty="0"/>
              <a:t>)</a:t>
            </a:r>
            <a:r>
              <a:rPr lang="zh-CN" altLang="en-US" b="1" dirty="0"/>
              <a:t>会被及时处理。</a:t>
            </a:r>
            <a:endParaRPr lang="zh-CN" altLang="en-US" b="1" dirty="0"/>
          </a:p>
          <a:p>
            <a:pPr eaLnBrk="1" hangingPunct="1">
              <a:lnSpc>
                <a:spcPct val="110000"/>
              </a:lnSpc>
            </a:pPr>
            <a:r>
              <a:rPr lang="zh-CN" altLang="en-US" b="1" dirty="0"/>
              <a:t> </a:t>
            </a:r>
            <a:r>
              <a:rPr lang="en-US" altLang="zh-CN" b="1" dirty="0"/>
              <a:t>(3) </a:t>
            </a:r>
            <a:r>
              <a:rPr lang="zh-CN" altLang="en-US" b="1" dirty="0"/>
              <a:t>由于作业</a:t>
            </a:r>
            <a:r>
              <a:rPr lang="en-US" altLang="zh-CN" b="1" dirty="0"/>
              <a:t>(</a:t>
            </a:r>
            <a:r>
              <a:rPr lang="zh-CN" altLang="en-US" b="1" dirty="0"/>
              <a:t>进程</a:t>
            </a:r>
            <a:r>
              <a:rPr lang="en-US" altLang="zh-CN" b="1" dirty="0"/>
              <a:t>)</a:t>
            </a:r>
            <a:r>
              <a:rPr lang="zh-CN" altLang="en-US" b="1" dirty="0"/>
              <a:t>的长短只是根据用户所提供的估计执行时间而定的，而用户不一定对执行时间估计那么准确，致使该算法不一定能真正做到短作业优先调度。</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5618"/>
                                        </p:tgtEl>
                                        <p:attrNameLst>
                                          <p:attrName>style.visibility</p:attrName>
                                        </p:attrNameLst>
                                      </p:cBhvr>
                                      <p:to>
                                        <p:strVal val="visible"/>
                                      </p:to>
                                    </p:set>
                                    <p:animEffect transition="in" filter="fade">
                                      <p:cBhvr>
                                        <p:cTn id="7" dur="2000"/>
                                        <p:tgtEl>
                                          <p:spTgt spid="4956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4275">
                                            <p:txEl>
                                              <p:charRg st="0" end="25"/>
                                            </p:txEl>
                                          </p:spTgt>
                                        </p:tgtEl>
                                        <p:attrNameLst>
                                          <p:attrName>style.visibility</p:attrName>
                                        </p:attrNameLst>
                                      </p:cBhvr>
                                      <p:to>
                                        <p:strVal val="visible"/>
                                      </p:to>
                                    </p:set>
                                    <p:animEffect transition="in" filter="fade">
                                      <p:cBhvr>
                                        <p:cTn id="12" dur="2000"/>
                                        <p:tgtEl>
                                          <p:spTgt spid="54275">
                                            <p:txEl>
                                              <p:charRg st="0" end="2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4275">
                                            <p:txEl>
                                              <p:charRg st="25" end="101"/>
                                            </p:txEl>
                                          </p:spTgt>
                                        </p:tgtEl>
                                        <p:attrNameLst>
                                          <p:attrName>style.visibility</p:attrName>
                                        </p:attrNameLst>
                                      </p:cBhvr>
                                      <p:to>
                                        <p:strVal val="visible"/>
                                      </p:to>
                                    </p:set>
                                    <p:animEffect transition="in" filter="fade">
                                      <p:cBhvr>
                                        <p:cTn id="17" dur="2000"/>
                                        <p:tgtEl>
                                          <p:spTgt spid="54275">
                                            <p:txEl>
                                              <p:charRg st="25" end="10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618" grpId="0"/>
      <p:bldP spid="5427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3410"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3.</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时间片轮转调度法</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55299" name="Rectangle 3"/>
          <p:cNvSpPr>
            <a:spLocks noGrp="1" noRot="1"/>
          </p:cNvSpPr>
          <p:nvPr>
            <p:ph type="body" idx="4294967295"/>
          </p:nvPr>
        </p:nvSpPr>
        <p:spPr>
          <a:xfrm>
            <a:off x="228600" y="1524000"/>
            <a:ext cx="8650288" cy="5029200"/>
          </a:xfrm>
          <a:ln/>
        </p:spPr>
        <p:txBody>
          <a:bodyPr vert="horz" wrap="square" lIns="91440" tIns="45720" rIns="91440" bIns="45720" anchor="t" anchorCtr="0"/>
          <a:p>
            <a:pPr eaLnBrk="1" hangingPunct="1">
              <a:lnSpc>
                <a:spcPct val="110000"/>
              </a:lnSpc>
            </a:pPr>
            <a:r>
              <a:rPr lang="zh-CN" altLang="en-US" sz="2800" b="1" dirty="0">
                <a:latin typeface="楷体_GB2312" pitchFamily="49" charset="-122"/>
                <a:ea typeface="楷体_GB2312" pitchFamily="49" charset="-122"/>
              </a:rPr>
              <a:t>在时间片轮转法中，系统将所有的就绪进程按先来先服务的原则，排成一个队列，每次调度时，把</a:t>
            </a:r>
            <a:r>
              <a:rPr lang="en-US" altLang="zh-CN" sz="2800" b="1" dirty="0">
                <a:latin typeface="楷体_GB2312" pitchFamily="49" charset="-122"/>
                <a:ea typeface="楷体_GB2312" pitchFamily="49" charset="-122"/>
              </a:rPr>
              <a:t>CPU</a:t>
            </a:r>
            <a:r>
              <a:rPr lang="zh-CN" altLang="en-US" sz="2800" b="1" dirty="0">
                <a:latin typeface="楷体_GB2312" pitchFamily="49" charset="-122"/>
                <a:ea typeface="楷体_GB2312" pitchFamily="49" charset="-122"/>
              </a:rPr>
              <a:t>分配给队首进程。并令其执行一个时间片。</a:t>
            </a:r>
            <a:endParaRPr lang="zh-CN" altLang="en-US" sz="2800" b="1" dirty="0">
              <a:latin typeface="楷体_GB2312" pitchFamily="49" charset="-122"/>
              <a:ea typeface="楷体_GB2312" pitchFamily="49" charset="-122"/>
            </a:endParaRPr>
          </a:p>
          <a:p>
            <a:pPr eaLnBrk="1" hangingPunct="1">
              <a:lnSpc>
                <a:spcPct val="60000"/>
              </a:lnSpc>
            </a:pPr>
            <a:endParaRPr lang="zh-CN" altLang="en-US" sz="2800" b="1" dirty="0">
              <a:latin typeface="楷体_GB2312" pitchFamily="49" charset="-122"/>
              <a:ea typeface="楷体_GB2312" pitchFamily="49" charset="-122"/>
            </a:endParaRPr>
          </a:p>
          <a:p>
            <a:pPr eaLnBrk="1" hangingPunct="1">
              <a:lnSpc>
                <a:spcPct val="110000"/>
              </a:lnSpc>
            </a:pPr>
            <a:r>
              <a:rPr lang="zh-CN" altLang="en-US" sz="2800" b="1" dirty="0">
                <a:solidFill>
                  <a:schemeClr val="folHlink"/>
                </a:solidFill>
                <a:latin typeface="楷体_GB2312" pitchFamily="49" charset="-122"/>
                <a:ea typeface="楷体_GB2312" pitchFamily="49" charset="-122"/>
              </a:rPr>
              <a:t>时间片处理过程：</a:t>
            </a:r>
            <a:r>
              <a:rPr lang="zh-CN" altLang="en-US" sz="2800" b="1" dirty="0">
                <a:latin typeface="楷体_GB2312" pitchFamily="49" charset="-122"/>
                <a:ea typeface="楷体_GB2312" pitchFamily="49" charset="-122"/>
              </a:rPr>
              <a:t>当执行的时间片用完时，由一个计时器发出时钟中断请求，操作系统便根据此信号来停止该进程的执行，并将它送往就绪队列的末尾；然后，再把处理机分配给就绪队列中新的队首进程，同时也让它执行一个时间片。</a:t>
            </a:r>
            <a:endParaRPr lang="zh-CN" altLang="en-US" sz="2800" b="1" dirty="0">
              <a:latin typeface="楷体_GB2312" pitchFamily="49" charset="-122"/>
              <a:ea typeface="楷体_GB2312" pitchFamily="49" charset="-122"/>
            </a:endParaRPr>
          </a:p>
          <a:p>
            <a:pPr eaLnBrk="1" hangingPunct="1">
              <a:lnSpc>
                <a:spcPct val="110000"/>
              </a:lnSpc>
            </a:pPr>
            <a:endParaRPr lang="en-US" altLang="zh-CN" sz="2800" b="1" dirty="0">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3410"/>
                                        </p:tgtEl>
                                        <p:attrNameLst>
                                          <p:attrName>style.visibility</p:attrName>
                                        </p:attrNameLst>
                                      </p:cBhvr>
                                      <p:to>
                                        <p:strVal val="visible"/>
                                      </p:to>
                                    </p:set>
                                    <p:animEffect transition="in" filter="fade">
                                      <p:cBhvr>
                                        <p:cTn id="7" dur="2000"/>
                                        <p:tgtEl>
                                          <p:spTgt spid="2734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299">
                                            <p:txEl>
                                              <p:charRg st="0" end="66"/>
                                            </p:txEl>
                                          </p:spTgt>
                                        </p:tgtEl>
                                        <p:attrNameLst>
                                          <p:attrName>style.visibility</p:attrName>
                                        </p:attrNameLst>
                                      </p:cBhvr>
                                      <p:to>
                                        <p:strVal val="visible"/>
                                      </p:to>
                                    </p:set>
                                    <p:animEffect transition="in" filter="fade">
                                      <p:cBhvr>
                                        <p:cTn id="12" dur="2000"/>
                                        <p:tgtEl>
                                          <p:spTgt spid="55299">
                                            <p:txEl>
                                              <p:charRg st="0" end="6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5299">
                                            <p:txEl>
                                              <p:charRg st="67" end="171"/>
                                            </p:txEl>
                                          </p:spTgt>
                                        </p:tgtEl>
                                        <p:attrNameLst>
                                          <p:attrName>style.visibility</p:attrName>
                                        </p:attrNameLst>
                                      </p:cBhvr>
                                      <p:to>
                                        <p:strVal val="visible"/>
                                      </p:to>
                                    </p:set>
                                    <p:animEffect transition="in" filter="fade">
                                      <p:cBhvr>
                                        <p:cTn id="17" dur="2000"/>
                                        <p:tgtEl>
                                          <p:spTgt spid="55299">
                                            <p:txEl>
                                              <p:charRg st="67" end="17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0" grpId="0"/>
      <p:bldP spid="55299"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6642"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3.</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时间片轮转调度法</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56323" name="Rectangle 3"/>
          <p:cNvSpPr>
            <a:spLocks noGrp="1" noRot="1"/>
          </p:cNvSpPr>
          <p:nvPr>
            <p:ph type="body" idx="4294967295"/>
          </p:nvPr>
        </p:nvSpPr>
        <p:spPr>
          <a:xfrm>
            <a:off x="533400" y="1500188"/>
            <a:ext cx="8077200" cy="4498975"/>
          </a:xfrm>
          <a:ln/>
        </p:spPr>
        <p:txBody>
          <a:bodyPr vert="horz" wrap="square" lIns="91440" tIns="45720" rIns="91440" bIns="45720" anchor="t" anchorCtr="0"/>
          <a:p>
            <a:pPr eaLnBrk="1" hangingPunct="1"/>
            <a:r>
              <a:rPr lang="zh-CN" altLang="en-US" b="1" dirty="0">
                <a:latin typeface="楷体_GB2312" pitchFamily="49" charset="-122"/>
                <a:ea typeface="楷体_GB2312" pitchFamily="49" charset="-122"/>
              </a:rPr>
              <a:t>以此保证就绪队列中的所有进程，在一给定的时间内，均能获得一时间片的处理机执行时间，换言之，系统能在给定的时间内，响应所有用户的请求。</a:t>
            </a:r>
            <a:endParaRPr lang="en-US" altLang="zh-CN" b="1" dirty="0">
              <a:latin typeface="楷体_GB2312" pitchFamily="49" charset="-122"/>
              <a:ea typeface="楷体_GB2312" pitchFamily="49" charset="-122"/>
            </a:endParaRPr>
          </a:p>
          <a:p>
            <a:pPr eaLnBrk="1" hangingPunct="1"/>
            <a:r>
              <a:rPr lang="zh-CN" altLang="en-US" b="1" dirty="0">
                <a:solidFill>
                  <a:srgbClr val="FF0000"/>
                </a:solidFill>
                <a:latin typeface="楷体_GB2312" pitchFamily="49" charset="-122"/>
                <a:ea typeface="楷体_GB2312" pitchFamily="49" charset="-122"/>
              </a:rPr>
              <a:t>内核在满足下列条件时，将把</a:t>
            </a:r>
            <a:r>
              <a:rPr lang="en-US" altLang="zh-CN" b="1" dirty="0">
                <a:solidFill>
                  <a:srgbClr val="FF0000"/>
                </a:solidFill>
                <a:latin typeface="楷体_GB2312" pitchFamily="49" charset="-122"/>
                <a:ea typeface="楷体_GB2312" pitchFamily="49" charset="-122"/>
              </a:rPr>
              <a:t>CPU</a:t>
            </a:r>
            <a:r>
              <a:rPr lang="zh-CN" altLang="en-US" b="1" dirty="0">
                <a:solidFill>
                  <a:srgbClr val="FF0000"/>
                </a:solidFill>
                <a:latin typeface="楷体_GB2312" pitchFamily="49" charset="-122"/>
                <a:ea typeface="楷体_GB2312" pitchFamily="49" charset="-122"/>
              </a:rPr>
              <a:t>交给下一个就绪态的进程：</a:t>
            </a:r>
            <a:endParaRPr lang="en-US" altLang="zh-CN" b="1" dirty="0">
              <a:solidFill>
                <a:srgbClr val="FF0000"/>
              </a:solidFill>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当前进程因为某种原因暂停执行，如被阻塞；</a:t>
            </a:r>
            <a:endParaRPr lang="en-US" altLang="zh-CN"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当前进程在时间片还没有结束时已经完成了；</a:t>
            </a:r>
            <a:endParaRPr lang="en-US" altLang="zh-CN"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时间片结束。</a:t>
            </a:r>
            <a:endParaRPr lang="zh-CN" altLang="en-US" b="1" dirty="0">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6642"/>
                                        </p:tgtEl>
                                        <p:attrNameLst>
                                          <p:attrName>style.visibility</p:attrName>
                                        </p:attrNameLst>
                                      </p:cBhvr>
                                      <p:to>
                                        <p:strVal val="visible"/>
                                      </p:to>
                                    </p:set>
                                    <p:animEffect transition="in" filter="fade">
                                      <p:cBhvr>
                                        <p:cTn id="7" dur="2000"/>
                                        <p:tgtEl>
                                          <p:spTgt spid="4966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6323">
                                            <p:txEl>
                                              <p:charRg st="0" end="67"/>
                                            </p:txEl>
                                          </p:spTgt>
                                        </p:tgtEl>
                                        <p:attrNameLst>
                                          <p:attrName>style.visibility</p:attrName>
                                        </p:attrNameLst>
                                      </p:cBhvr>
                                      <p:to>
                                        <p:strVal val="visible"/>
                                      </p:to>
                                    </p:set>
                                    <p:animEffect transition="in" filter="fade">
                                      <p:cBhvr>
                                        <p:cTn id="12" dur="2000"/>
                                        <p:tgtEl>
                                          <p:spTgt spid="56323">
                                            <p:txEl>
                                              <p:charRg st="0" end="6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6323">
                                            <p:txEl>
                                              <p:charRg st="67" end="96"/>
                                            </p:txEl>
                                          </p:spTgt>
                                        </p:tgtEl>
                                        <p:attrNameLst>
                                          <p:attrName>style.visibility</p:attrName>
                                        </p:attrNameLst>
                                      </p:cBhvr>
                                      <p:to>
                                        <p:strVal val="visible"/>
                                      </p:to>
                                    </p:set>
                                    <p:animEffect transition="in" filter="fade">
                                      <p:cBhvr>
                                        <p:cTn id="17" dur="2000"/>
                                        <p:tgtEl>
                                          <p:spTgt spid="56323">
                                            <p:txEl>
                                              <p:charRg st="67" end="96"/>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6323">
                                            <p:txEl>
                                              <p:charRg st="96" end="117"/>
                                            </p:txEl>
                                          </p:spTgt>
                                        </p:tgtEl>
                                        <p:attrNameLst>
                                          <p:attrName>style.visibility</p:attrName>
                                        </p:attrNameLst>
                                      </p:cBhvr>
                                      <p:to>
                                        <p:strVal val="visible"/>
                                      </p:to>
                                    </p:set>
                                    <p:animEffect transition="in" filter="fade">
                                      <p:cBhvr>
                                        <p:cTn id="20" dur="2000"/>
                                        <p:tgtEl>
                                          <p:spTgt spid="56323">
                                            <p:txEl>
                                              <p:charRg st="96" end="117"/>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6323">
                                            <p:txEl>
                                              <p:charRg st="117" end="138"/>
                                            </p:txEl>
                                          </p:spTgt>
                                        </p:tgtEl>
                                        <p:attrNameLst>
                                          <p:attrName>style.visibility</p:attrName>
                                        </p:attrNameLst>
                                      </p:cBhvr>
                                      <p:to>
                                        <p:strVal val="visible"/>
                                      </p:to>
                                    </p:set>
                                    <p:animEffect transition="in" filter="fade">
                                      <p:cBhvr>
                                        <p:cTn id="23" dur="2000"/>
                                        <p:tgtEl>
                                          <p:spTgt spid="56323">
                                            <p:txEl>
                                              <p:charRg st="117" end="138"/>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6323">
                                            <p:txEl>
                                              <p:charRg st="138" end="145"/>
                                            </p:txEl>
                                          </p:spTgt>
                                        </p:tgtEl>
                                        <p:attrNameLst>
                                          <p:attrName>style.visibility</p:attrName>
                                        </p:attrNameLst>
                                      </p:cBhvr>
                                      <p:to>
                                        <p:strVal val="visible"/>
                                      </p:to>
                                    </p:set>
                                    <p:animEffect transition="in" filter="fade">
                                      <p:cBhvr>
                                        <p:cTn id="26" dur="2000"/>
                                        <p:tgtEl>
                                          <p:spTgt spid="56323">
                                            <p:txEl>
                                              <p:charRg st="138" end="14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2" grpId="0"/>
      <p:bldP spid="5632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4434"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举例</a:t>
            </a:r>
            <a:r>
              <a:rPr kumimoji="0" lang="en-US"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a:t>
            </a:r>
            <a:endParaRPr kumimoji="0" lang="en-US"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57347" name="Rectangle 3"/>
          <p:cNvSpPr>
            <a:spLocks noGrp="1" noRot="1"/>
          </p:cNvSpPr>
          <p:nvPr>
            <p:ph type="body" idx="4294967295"/>
          </p:nvPr>
        </p:nvSpPr>
        <p:spPr>
          <a:xfrm>
            <a:off x="382588" y="1603375"/>
            <a:ext cx="7975600" cy="1143000"/>
          </a:xfrm>
          <a:ln/>
        </p:spPr>
        <p:txBody>
          <a:bodyPr vert="horz" wrap="square" lIns="91440" tIns="45720" rIns="91440" bIns="45720" anchor="t" anchorCtr="0"/>
          <a:p>
            <a:pPr eaLnBrk="1" hangingPunct="1"/>
            <a:r>
              <a:rPr lang="zh-CN" altLang="en-US" b="1" dirty="0"/>
              <a:t>有四个进程按时间片进行轮转调度</a:t>
            </a:r>
            <a:r>
              <a:rPr lang="en-US" altLang="zh-CN" b="1" dirty="0"/>
              <a:t>(</a:t>
            </a:r>
            <a:r>
              <a:rPr lang="zh-CN" altLang="en-US" b="1" dirty="0"/>
              <a:t>按</a:t>
            </a:r>
            <a:r>
              <a:rPr lang="en-US" altLang="zh-CN" b="1" dirty="0"/>
              <a:t>1</a:t>
            </a:r>
            <a:r>
              <a:rPr lang="zh-CN" altLang="en-US" b="1" dirty="0"/>
              <a:t>个时间片和</a:t>
            </a:r>
            <a:r>
              <a:rPr lang="en-US" altLang="zh-CN" b="1" dirty="0"/>
              <a:t>4</a:t>
            </a:r>
            <a:r>
              <a:rPr lang="zh-CN" altLang="en-US" b="1" dirty="0"/>
              <a:t>个时间片进行调度</a:t>
            </a:r>
            <a:r>
              <a:rPr lang="en-US" altLang="zh-CN" b="1" dirty="0"/>
              <a:t>).</a:t>
            </a:r>
            <a:endParaRPr lang="en-US" altLang="zh-CN" b="1" dirty="0"/>
          </a:p>
        </p:txBody>
      </p:sp>
      <p:pic>
        <p:nvPicPr>
          <p:cNvPr id="49156" name="Picture 4" descr="未命名12"/>
          <p:cNvPicPr>
            <a:picLocks noChangeAspect="1"/>
          </p:cNvPicPr>
          <p:nvPr/>
        </p:nvPicPr>
        <p:blipFill>
          <a:blip r:embed="rId1"/>
          <a:stretch>
            <a:fillRect/>
          </a:stretch>
        </p:blipFill>
        <p:spPr>
          <a:xfrm>
            <a:off x="685800" y="3048000"/>
            <a:ext cx="7772400" cy="32385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4434"/>
                                        </p:tgtEl>
                                        <p:attrNameLst>
                                          <p:attrName>style.visibility</p:attrName>
                                        </p:attrNameLst>
                                      </p:cBhvr>
                                      <p:to>
                                        <p:strVal val="visible"/>
                                      </p:to>
                                    </p:set>
                                    <p:animEffect transition="in" filter="fade">
                                      <p:cBhvr>
                                        <p:cTn id="7" dur="2000"/>
                                        <p:tgtEl>
                                          <p:spTgt spid="2744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7347">
                                            <p:txEl>
                                              <p:charRg st="0" end="35"/>
                                            </p:txEl>
                                          </p:spTgt>
                                        </p:tgtEl>
                                        <p:attrNameLst>
                                          <p:attrName>style.visibility</p:attrName>
                                        </p:attrNameLst>
                                      </p:cBhvr>
                                      <p:to>
                                        <p:strVal val="visible"/>
                                      </p:to>
                                    </p:set>
                                    <p:animEffect transition="in" filter="fade">
                                      <p:cBhvr>
                                        <p:cTn id="12" dur="2000"/>
                                        <p:tgtEl>
                                          <p:spTgt spid="57347">
                                            <p:txEl>
                                              <p:charRg st="0" end="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4" grpId="0"/>
      <p:bldP spid="5734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0626"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时间片轮转调度法优缺点</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58371" name="Rectangle 3"/>
          <p:cNvSpPr>
            <a:spLocks noGrp="1" noRot="1"/>
          </p:cNvSpPr>
          <p:nvPr>
            <p:ph type="body" idx="4294967295"/>
          </p:nvPr>
        </p:nvSpPr>
        <p:spPr>
          <a:xfrm>
            <a:off x="301625" y="1603375"/>
            <a:ext cx="8540750" cy="4498975"/>
          </a:xfrm>
          <a:ln/>
        </p:spPr>
        <p:txBody>
          <a:bodyPr vert="horz" wrap="square" lIns="91440" tIns="45720" rIns="91440" bIns="45720" anchor="t" anchorCtr="0"/>
          <a:p>
            <a:pPr algn="just" eaLnBrk="1" hangingPunct="1">
              <a:buNone/>
            </a:pPr>
            <a:r>
              <a:rPr lang="en-US" altLang="zh-CN" b="1" dirty="0">
                <a:latin typeface="仿宋_GB2312" pitchFamily="49" charset="-122"/>
                <a:ea typeface="仿宋_GB2312" pitchFamily="49" charset="-122"/>
              </a:rPr>
              <a:t>1.</a:t>
            </a:r>
            <a:r>
              <a:rPr lang="zh-CN" altLang="en-US" b="1" dirty="0">
                <a:latin typeface="仿宋_GB2312" pitchFamily="49" charset="-122"/>
                <a:ea typeface="仿宋_GB2312" pitchFamily="49" charset="-122"/>
              </a:rPr>
              <a:t>时间片的大小对计算机性能的影响。时间片太大、太小都不好。</a:t>
            </a:r>
            <a:endParaRPr lang="zh-CN" altLang="en-US" b="1" dirty="0">
              <a:latin typeface="仿宋_GB2312" pitchFamily="49" charset="-122"/>
              <a:ea typeface="仿宋_GB2312" pitchFamily="49" charset="-122"/>
            </a:endParaRPr>
          </a:p>
          <a:p>
            <a:pPr algn="just" eaLnBrk="1" hangingPunct="1">
              <a:buNone/>
            </a:pPr>
            <a:r>
              <a:rPr lang="en-US" altLang="zh-CN" b="1" dirty="0">
                <a:latin typeface="仿宋_GB2312" pitchFamily="49" charset="-122"/>
                <a:ea typeface="仿宋_GB2312" pitchFamily="49" charset="-122"/>
              </a:rPr>
              <a:t>2.</a:t>
            </a:r>
            <a:r>
              <a:rPr lang="zh-CN" altLang="en-US" b="1" dirty="0">
                <a:latin typeface="仿宋_GB2312" pitchFamily="49" charset="-122"/>
                <a:ea typeface="仿宋_GB2312" pitchFamily="49" charset="-122"/>
              </a:rPr>
              <a:t>存在的问题：未有效利用系统资源。对于短的、计算型进程比较有利，因为该进程充分利用时间片，而</a:t>
            </a:r>
            <a:r>
              <a:rPr lang="en-US" altLang="zh-CN" b="1" dirty="0">
                <a:latin typeface="仿宋_GB2312" pitchFamily="49" charset="-122"/>
                <a:ea typeface="仿宋_GB2312" pitchFamily="49" charset="-122"/>
              </a:rPr>
              <a:t>I/O</a:t>
            </a:r>
            <a:r>
              <a:rPr lang="zh-CN" altLang="en-US" b="1" dirty="0">
                <a:latin typeface="仿宋_GB2312" pitchFamily="49" charset="-122"/>
                <a:ea typeface="仿宋_GB2312" pitchFamily="49" charset="-122"/>
              </a:rPr>
              <a:t>型进程却不利，因为在两次</a:t>
            </a:r>
            <a:r>
              <a:rPr lang="en-US" altLang="zh-CN" b="1" dirty="0">
                <a:latin typeface="仿宋_GB2312" pitchFamily="49" charset="-122"/>
                <a:ea typeface="仿宋_GB2312" pitchFamily="49" charset="-122"/>
              </a:rPr>
              <a:t>I/O</a:t>
            </a:r>
            <a:r>
              <a:rPr lang="zh-CN" altLang="en-US" b="1" dirty="0">
                <a:latin typeface="仿宋_GB2312" pitchFamily="49" charset="-122"/>
                <a:ea typeface="仿宋_GB2312" pitchFamily="49" charset="-122"/>
              </a:rPr>
              <a:t>之间仅需很少的</a:t>
            </a:r>
            <a:r>
              <a:rPr lang="en-US" altLang="zh-CN" b="1" dirty="0">
                <a:latin typeface="仿宋_GB2312" pitchFamily="49" charset="-122"/>
                <a:ea typeface="仿宋_GB2312" pitchFamily="49" charset="-122"/>
              </a:rPr>
              <a:t>CPU</a:t>
            </a:r>
            <a:r>
              <a:rPr lang="zh-CN" altLang="en-US" b="1" dirty="0">
                <a:latin typeface="仿宋_GB2312" pitchFamily="49" charset="-122"/>
                <a:ea typeface="仿宋_GB2312" pitchFamily="49" charset="-122"/>
              </a:rPr>
              <a:t>时间，却需要等待一个时间片。</a:t>
            </a:r>
            <a:endParaRPr lang="zh-CN" altLang="en-US" b="1" dirty="0">
              <a:latin typeface="仿宋_GB2312" pitchFamily="49" charset="-122"/>
              <a:ea typeface="仿宋_GB2312" pitchFamily="49" charset="-122"/>
            </a:endParaRPr>
          </a:p>
          <a:p>
            <a:pPr algn="just" eaLnBrk="1" hangingPunct="1">
              <a:buNone/>
            </a:pPr>
            <a:r>
              <a:rPr lang="en-US" altLang="zh-CN" b="1" dirty="0">
                <a:latin typeface="仿宋_GB2312" pitchFamily="49" charset="-122"/>
                <a:ea typeface="仿宋_GB2312" pitchFamily="49" charset="-122"/>
              </a:rPr>
              <a:t>3.</a:t>
            </a:r>
            <a:r>
              <a:rPr lang="zh-CN" altLang="en-US" b="1" dirty="0">
                <a:latin typeface="仿宋_GB2312" pitchFamily="49" charset="-122"/>
                <a:ea typeface="仿宋_GB2312" pitchFamily="49" charset="-122"/>
              </a:rPr>
              <a:t>常用于分时系统及事务处理系统。</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10626"/>
                                        </p:tgtEl>
                                        <p:attrNameLst>
                                          <p:attrName>style.visibility</p:attrName>
                                        </p:attrNameLst>
                                      </p:cBhvr>
                                      <p:to>
                                        <p:strVal val="visible"/>
                                      </p:to>
                                    </p:set>
                                    <p:animEffect transition="in" filter="fade">
                                      <p:cBhvr>
                                        <p:cTn id="7" dur="2000"/>
                                        <p:tgtEl>
                                          <p:spTgt spid="4106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8371">
                                            <p:txEl>
                                              <p:charRg st="0" end="31"/>
                                            </p:txEl>
                                          </p:spTgt>
                                        </p:tgtEl>
                                        <p:attrNameLst>
                                          <p:attrName>style.visibility</p:attrName>
                                        </p:attrNameLst>
                                      </p:cBhvr>
                                      <p:to>
                                        <p:strVal val="visible"/>
                                      </p:to>
                                    </p:set>
                                    <p:animEffect transition="in" filter="fade">
                                      <p:cBhvr>
                                        <p:cTn id="12" dur="2000"/>
                                        <p:tgtEl>
                                          <p:spTgt spid="58371">
                                            <p:txEl>
                                              <p:charRg st="0" end="3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8371">
                                            <p:txEl>
                                              <p:charRg st="31" end="121"/>
                                            </p:txEl>
                                          </p:spTgt>
                                        </p:tgtEl>
                                        <p:attrNameLst>
                                          <p:attrName>style.visibility</p:attrName>
                                        </p:attrNameLst>
                                      </p:cBhvr>
                                      <p:to>
                                        <p:strVal val="visible"/>
                                      </p:to>
                                    </p:set>
                                    <p:animEffect transition="in" filter="fade">
                                      <p:cBhvr>
                                        <p:cTn id="17" dur="2000"/>
                                        <p:tgtEl>
                                          <p:spTgt spid="58371">
                                            <p:txEl>
                                              <p:charRg st="31" end="12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8371">
                                            <p:txEl>
                                              <p:charRg st="121" end="139"/>
                                            </p:txEl>
                                          </p:spTgt>
                                        </p:tgtEl>
                                        <p:attrNameLst>
                                          <p:attrName>style.visibility</p:attrName>
                                        </p:attrNameLst>
                                      </p:cBhvr>
                                      <p:to>
                                        <p:strVal val="visible"/>
                                      </p:to>
                                    </p:set>
                                    <p:animEffect transition="in" filter="fade">
                                      <p:cBhvr>
                                        <p:cTn id="22" dur="2000"/>
                                        <p:tgtEl>
                                          <p:spTgt spid="58371">
                                            <p:txEl>
                                              <p:charRg st="121" end="1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6" grpId="0"/>
      <p:bldP spid="58371"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5458"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4. </a:t>
            </a:r>
            <a:r>
              <a:rPr kumimoji="0" lang="zh-CN" altLang="en-US" sz="4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高优先权优先调度算法 </a:t>
            </a:r>
            <a:endParaRPr kumimoji="0" lang="zh-CN" altLang="en-US" sz="4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59395" name="Rectangle 3"/>
          <p:cNvSpPr>
            <a:spLocks noGrp="1" noRot="1"/>
          </p:cNvSpPr>
          <p:nvPr>
            <p:ph type="body" idx="4294967295"/>
          </p:nvPr>
        </p:nvSpPr>
        <p:spPr>
          <a:xfrm>
            <a:off x="538163" y="1689100"/>
            <a:ext cx="8067675" cy="4232275"/>
          </a:xfrm>
          <a:ln/>
        </p:spPr>
        <p:txBody>
          <a:bodyPr vert="horz" wrap="square" lIns="91440" tIns="45720" rIns="91440" bIns="45720" anchor="t" anchorCtr="0"/>
          <a:p>
            <a:pPr algn="just" eaLnBrk="1" hangingPunct="1"/>
            <a:r>
              <a:rPr lang="zh-CN" altLang="en-US" b="1" dirty="0"/>
              <a:t>该算法是把</a:t>
            </a:r>
            <a:r>
              <a:rPr lang="zh-CN" altLang="en-US" b="1" i="1" u="sng" dirty="0">
                <a:solidFill>
                  <a:schemeClr val="hlink"/>
                </a:solidFill>
              </a:rPr>
              <a:t>处理机分配给</a:t>
            </a:r>
            <a:r>
              <a:rPr lang="zh-CN" altLang="en-US" b="1" i="1" u="sng" dirty="0">
                <a:solidFill>
                  <a:schemeClr val="folHlink"/>
                </a:solidFill>
              </a:rPr>
              <a:t>就绪队列</a:t>
            </a:r>
            <a:r>
              <a:rPr lang="zh-CN" altLang="en-US" b="1" i="1" u="sng" dirty="0">
                <a:solidFill>
                  <a:schemeClr val="hlink"/>
                </a:solidFill>
              </a:rPr>
              <a:t>中优先级最高的进程</a:t>
            </a:r>
            <a:r>
              <a:rPr lang="zh-CN" altLang="en-US" b="1" dirty="0"/>
              <a:t>。</a:t>
            </a:r>
            <a:endParaRPr lang="en-US" altLang="zh-CN" b="1" dirty="0"/>
          </a:p>
          <a:p>
            <a:pPr algn="just" eaLnBrk="1" hangingPunct="1"/>
            <a:endParaRPr lang="zh-CN" altLang="en-US" b="1" dirty="0"/>
          </a:p>
          <a:p>
            <a:pPr algn="just" eaLnBrk="1" hangingPunct="1"/>
            <a:r>
              <a:rPr lang="zh-CN" altLang="en-US" b="1" dirty="0"/>
              <a:t>该算法分两种类型：非抢占式优先权算法和抢占式优先权调度算法</a:t>
            </a:r>
            <a:endParaRPr lang="zh-CN" altLang="en-US" b="1" dirty="0"/>
          </a:p>
          <a:p>
            <a:pPr algn="just" eaLnBrk="1" hangingPunct="1"/>
            <a:endParaRPr lang="zh-CN" altLang="en-US" b="1" dirty="0"/>
          </a:p>
          <a:p>
            <a:pPr algn="just" eaLnBrk="1" hangingPunct="1">
              <a:buNone/>
            </a:pPr>
            <a:r>
              <a:rPr lang="zh-CN" altLang="en-US" b="1" dirty="0"/>
              <a:t>    </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5458"/>
                                        </p:tgtEl>
                                        <p:attrNameLst>
                                          <p:attrName>style.visibility</p:attrName>
                                        </p:attrNameLst>
                                      </p:cBhvr>
                                      <p:to>
                                        <p:strVal val="visible"/>
                                      </p:to>
                                    </p:set>
                                    <p:animEffect transition="in" filter="fade">
                                      <p:cBhvr>
                                        <p:cTn id="7" dur="2000"/>
                                        <p:tgtEl>
                                          <p:spTgt spid="2754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9395">
                                            <p:txEl>
                                              <p:charRg st="0" end="26"/>
                                            </p:txEl>
                                          </p:spTgt>
                                        </p:tgtEl>
                                        <p:attrNameLst>
                                          <p:attrName>style.visibility</p:attrName>
                                        </p:attrNameLst>
                                      </p:cBhvr>
                                      <p:to>
                                        <p:strVal val="visible"/>
                                      </p:to>
                                    </p:set>
                                    <p:animEffect transition="in" filter="fade">
                                      <p:cBhvr>
                                        <p:cTn id="12" dur="2000"/>
                                        <p:tgtEl>
                                          <p:spTgt spid="59395">
                                            <p:txEl>
                                              <p:charRg st="0" end="2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9395">
                                            <p:txEl>
                                              <p:charRg st="27" end="57"/>
                                            </p:txEl>
                                          </p:spTgt>
                                        </p:tgtEl>
                                        <p:attrNameLst>
                                          <p:attrName>style.visibility</p:attrName>
                                        </p:attrNameLst>
                                      </p:cBhvr>
                                      <p:to>
                                        <p:strVal val="visible"/>
                                      </p:to>
                                    </p:set>
                                    <p:animEffect transition="in" filter="fade">
                                      <p:cBhvr>
                                        <p:cTn id="17" dur="2000"/>
                                        <p:tgtEl>
                                          <p:spTgt spid="59395">
                                            <p:txEl>
                                              <p:charRg st="27" end="5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9395">
                                            <p:txEl>
                                              <p:charRg st="58" end="63"/>
                                            </p:txEl>
                                          </p:spTgt>
                                        </p:tgtEl>
                                        <p:attrNameLst>
                                          <p:attrName>style.visibility</p:attrName>
                                        </p:attrNameLst>
                                      </p:cBhvr>
                                      <p:to>
                                        <p:strVal val="visible"/>
                                      </p:to>
                                    </p:set>
                                    <p:animEffect transition="in" filter="fade">
                                      <p:cBhvr>
                                        <p:cTn id="22" dur="2000"/>
                                        <p:tgtEl>
                                          <p:spTgt spid="59395">
                                            <p:txEl>
                                              <p:charRg st="58" end="6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58" grpId="0"/>
      <p:bldP spid="59395"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82" name="Rectangle 2"/>
          <p:cNvSpPr>
            <a:spLocks noGrp="1" noRot="1" noChangeArrowheads="1"/>
          </p:cNvSpPr>
          <p:nvPr>
            <p:ph type="title" idx="4294967295"/>
          </p:nvPr>
        </p:nvSpPr>
        <p:spPr>
          <a:xfrm>
            <a:off x="152400" y="609600"/>
            <a:ext cx="7793038" cy="1143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a:t>
            </a: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1</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）非抢占式优先权算法</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0419" name="Rectangle 3"/>
          <p:cNvSpPr>
            <a:spLocks noGrp="1" noRot="1"/>
          </p:cNvSpPr>
          <p:nvPr>
            <p:ph type="body" idx="4294967295"/>
          </p:nvPr>
        </p:nvSpPr>
        <p:spPr>
          <a:xfrm>
            <a:off x="179388" y="1905000"/>
            <a:ext cx="8435975" cy="4114800"/>
          </a:xfrm>
          <a:ln/>
        </p:spPr>
        <p:txBody>
          <a:bodyPr vert="horz" wrap="square" lIns="91440" tIns="45720" rIns="91440" bIns="45720" anchor="t" anchorCtr="0"/>
          <a:p>
            <a:pPr algn="just" eaLnBrk="1" hangingPunct="1">
              <a:lnSpc>
                <a:spcPct val="110000"/>
              </a:lnSpc>
            </a:pPr>
            <a:r>
              <a:rPr lang="zh-CN" altLang="en-US" b="1" dirty="0"/>
              <a:t>在这种方式下，系统一旦把处理机分配给就绪队列中</a:t>
            </a:r>
            <a:r>
              <a:rPr lang="zh-CN" altLang="en-US" b="1" dirty="0">
                <a:solidFill>
                  <a:schemeClr val="folHlink"/>
                </a:solidFill>
              </a:rPr>
              <a:t>优先权最高</a:t>
            </a:r>
            <a:r>
              <a:rPr lang="zh-CN" altLang="en-US" b="1" dirty="0"/>
              <a:t>的进程后，该进程便一直执行下去，直至完成；</a:t>
            </a:r>
            <a:endParaRPr lang="zh-CN" altLang="en-US" b="1" dirty="0"/>
          </a:p>
          <a:p>
            <a:pPr algn="just" eaLnBrk="1" hangingPunct="1">
              <a:lnSpc>
                <a:spcPct val="110000"/>
              </a:lnSpc>
            </a:pPr>
            <a:r>
              <a:rPr lang="zh-CN" altLang="en-US" b="1" dirty="0"/>
              <a:t>或因发生某事件使该进程放弃处理机时，系统方可再将处理机重新分配给另一优先权最高的进程。</a:t>
            </a:r>
            <a:endParaRPr lang="zh-CN" altLang="en-US" b="1" dirty="0"/>
          </a:p>
          <a:p>
            <a:pPr eaLnBrk="1" hangingPunct="1">
              <a:lnSpc>
                <a:spcPct val="110000"/>
              </a:lnSpc>
            </a:pPr>
            <a:endParaRPr lang="en-US" altLang="zh-CN"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6482"/>
                                        </p:tgtEl>
                                        <p:attrNameLst>
                                          <p:attrName>style.visibility</p:attrName>
                                        </p:attrNameLst>
                                      </p:cBhvr>
                                      <p:to>
                                        <p:strVal val="visible"/>
                                      </p:to>
                                    </p:set>
                                    <p:animEffect transition="in" filter="fade">
                                      <p:cBhvr>
                                        <p:cTn id="7" dur="2000"/>
                                        <p:tgtEl>
                                          <p:spTgt spid="2764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0419">
                                            <p:txEl>
                                              <p:charRg st="0" end="50"/>
                                            </p:txEl>
                                          </p:spTgt>
                                        </p:tgtEl>
                                        <p:attrNameLst>
                                          <p:attrName>style.visibility</p:attrName>
                                        </p:attrNameLst>
                                      </p:cBhvr>
                                      <p:to>
                                        <p:strVal val="visible"/>
                                      </p:to>
                                    </p:set>
                                    <p:animEffect transition="in" filter="fade">
                                      <p:cBhvr>
                                        <p:cTn id="12" dur="2000"/>
                                        <p:tgtEl>
                                          <p:spTgt spid="60419">
                                            <p:txEl>
                                              <p:charRg st="0" end="5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0419">
                                            <p:txEl>
                                              <p:charRg st="50" end="94"/>
                                            </p:txEl>
                                          </p:spTgt>
                                        </p:tgtEl>
                                        <p:attrNameLst>
                                          <p:attrName>style.visibility</p:attrName>
                                        </p:attrNameLst>
                                      </p:cBhvr>
                                      <p:to>
                                        <p:strVal val="visible"/>
                                      </p:to>
                                    </p:set>
                                    <p:animEffect transition="in" filter="fade">
                                      <p:cBhvr>
                                        <p:cTn id="17" dur="2000"/>
                                        <p:tgtEl>
                                          <p:spTgt spid="60419">
                                            <p:txEl>
                                              <p:charRg st="50" end="9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482" grpId="0"/>
      <p:bldP spid="6041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7506" name="Rectangle 2"/>
          <p:cNvSpPr>
            <a:spLocks noGrp="1" noRot="1" noChangeArrowheads="1"/>
          </p:cNvSpPr>
          <p:nvPr>
            <p:ph type="title" idx="4294967295"/>
          </p:nvPr>
        </p:nvSpPr>
        <p:spPr>
          <a:xfrm>
            <a:off x="152400" y="457200"/>
            <a:ext cx="7793038" cy="1143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a:t>
            </a: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2</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）抢占式优先权调度算法</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1443" name="Rectangle 3"/>
          <p:cNvSpPr>
            <a:spLocks noGrp="1" noRot="1"/>
          </p:cNvSpPr>
          <p:nvPr>
            <p:ph type="body" idx="4294967295"/>
          </p:nvPr>
        </p:nvSpPr>
        <p:spPr>
          <a:xfrm>
            <a:off x="382588" y="1755775"/>
            <a:ext cx="8459787" cy="4114800"/>
          </a:xfrm>
          <a:ln/>
        </p:spPr>
        <p:txBody>
          <a:bodyPr vert="horz" wrap="square" lIns="91440" tIns="45720" rIns="91440" bIns="45720" anchor="t" anchorCtr="0"/>
          <a:p>
            <a:pPr eaLnBrk="1" hangingPunct="1">
              <a:lnSpc>
                <a:spcPct val="110000"/>
              </a:lnSpc>
            </a:pPr>
            <a:r>
              <a:rPr lang="zh-CN" altLang="en-US" b="1" dirty="0"/>
              <a:t>在这种方式下，系统同样是把处理机分配给优先权最高的进程，使之执行。</a:t>
            </a:r>
            <a:endParaRPr lang="zh-CN" altLang="en-US" b="1" dirty="0"/>
          </a:p>
          <a:p>
            <a:pPr eaLnBrk="1" hangingPunct="1">
              <a:lnSpc>
                <a:spcPct val="110000"/>
              </a:lnSpc>
            </a:pPr>
            <a:r>
              <a:rPr lang="zh-CN" altLang="en-US" b="1" dirty="0"/>
              <a:t>但在其执行期间，只要又出现了另一个其优先权更高的进程，进程调度程序就立即停止当前进程的执行，重新将处理机分配给新到的优先权最高的进程。</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7506"/>
                                        </p:tgtEl>
                                        <p:attrNameLst>
                                          <p:attrName>style.visibility</p:attrName>
                                        </p:attrNameLst>
                                      </p:cBhvr>
                                      <p:to>
                                        <p:strVal val="visible"/>
                                      </p:to>
                                    </p:set>
                                    <p:animEffect transition="in" filter="fade">
                                      <p:cBhvr>
                                        <p:cTn id="7" dur="2000"/>
                                        <p:tgtEl>
                                          <p:spTgt spid="2775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43">
                                            <p:txEl>
                                              <p:charRg st="0" end="34"/>
                                            </p:txEl>
                                          </p:spTgt>
                                        </p:tgtEl>
                                        <p:attrNameLst>
                                          <p:attrName>style.visibility</p:attrName>
                                        </p:attrNameLst>
                                      </p:cBhvr>
                                      <p:to>
                                        <p:strVal val="visible"/>
                                      </p:to>
                                    </p:set>
                                    <p:animEffect transition="in" filter="fade">
                                      <p:cBhvr>
                                        <p:cTn id="12" dur="2000"/>
                                        <p:tgtEl>
                                          <p:spTgt spid="61443">
                                            <p:txEl>
                                              <p:charRg st="0" end="3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43">
                                            <p:txEl>
                                              <p:charRg st="34" end="102"/>
                                            </p:txEl>
                                          </p:spTgt>
                                        </p:tgtEl>
                                        <p:attrNameLst>
                                          <p:attrName>style.visibility</p:attrName>
                                        </p:attrNameLst>
                                      </p:cBhvr>
                                      <p:to>
                                        <p:strVal val="visible"/>
                                      </p:to>
                                    </p:set>
                                    <p:animEffect transition="in" filter="fade">
                                      <p:cBhvr>
                                        <p:cTn id="17" dur="2000"/>
                                        <p:tgtEl>
                                          <p:spTgt spid="61443">
                                            <p:txEl>
                                              <p:charRg st="34" end="10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6" grpId="0"/>
      <p:bldP spid="6144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7666" name="Rectangle 2"/>
          <p:cNvSpPr>
            <a:spLocks noGrp="1" noRot="1" noChangeArrowheads="1"/>
          </p:cNvSpPr>
          <p:nvPr>
            <p:ph type="title" idx="4294967295"/>
          </p:nvPr>
        </p:nvSpPr>
        <p:spPr>
          <a:xfrm>
            <a:off x="228600" y="457200"/>
            <a:ext cx="8077200" cy="10668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a:t>
            </a: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2</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）抢占式优先权调度算法</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2467" name="Rectangle 3"/>
          <p:cNvSpPr>
            <a:spLocks noGrp="1" noRot="1"/>
          </p:cNvSpPr>
          <p:nvPr>
            <p:ph type="body" idx="4294967295"/>
          </p:nvPr>
        </p:nvSpPr>
        <p:spPr>
          <a:xfrm>
            <a:off x="533400" y="1749425"/>
            <a:ext cx="8077200" cy="4498975"/>
          </a:xfrm>
          <a:ln/>
        </p:spPr>
        <p:txBody>
          <a:bodyPr vert="horz" wrap="square" lIns="91440" tIns="45720" rIns="91440" bIns="45720" anchor="t" anchorCtr="0"/>
          <a:p>
            <a:pPr eaLnBrk="1" hangingPunct="1">
              <a:lnSpc>
                <a:spcPct val="110000"/>
              </a:lnSpc>
            </a:pPr>
            <a:r>
              <a:rPr lang="zh-CN" altLang="en-US" b="1" dirty="0"/>
              <a:t>在采用这种调度算法时，是</a:t>
            </a:r>
            <a:r>
              <a:rPr lang="zh-CN" altLang="en-US" b="1" dirty="0">
                <a:solidFill>
                  <a:srgbClr val="FF0000"/>
                </a:solidFill>
              </a:rPr>
              <a:t>每当系统中出现一个新的就绪进程</a:t>
            </a:r>
            <a:r>
              <a:rPr lang="en-US" altLang="zh-CN" b="1" dirty="0">
                <a:solidFill>
                  <a:srgbClr val="FF0000"/>
                </a:solidFill>
              </a:rPr>
              <a:t>i</a:t>
            </a:r>
            <a:r>
              <a:rPr lang="zh-CN" altLang="en-US" b="1" dirty="0">
                <a:solidFill>
                  <a:srgbClr val="FF0000"/>
                </a:solidFill>
              </a:rPr>
              <a:t>时，就将其优先权</a:t>
            </a:r>
            <a:r>
              <a:rPr lang="en-US" altLang="zh-CN" b="1" dirty="0">
                <a:solidFill>
                  <a:srgbClr val="FF0000"/>
                </a:solidFill>
              </a:rPr>
              <a:t>Pi</a:t>
            </a:r>
            <a:r>
              <a:rPr lang="zh-CN" altLang="en-US" b="1" dirty="0">
                <a:solidFill>
                  <a:srgbClr val="FF0000"/>
                </a:solidFill>
              </a:rPr>
              <a:t>与正在执行的进程</a:t>
            </a:r>
            <a:r>
              <a:rPr lang="en-US" altLang="zh-CN" b="1" dirty="0">
                <a:solidFill>
                  <a:srgbClr val="FF0000"/>
                </a:solidFill>
              </a:rPr>
              <a:t>j</a:t>
            </a:r>
            <a:r>
              <a:rPr lang="zh-CN" altLang="en-US" b="1" dirty="0">
                <a:solidFill>
                  <a:srgbClr val="FF0000"/>
                </a:solidFill>
              </a:rPr>
              <a:t>的优先权</a:t>
            </a:r>
            <a:r>
              <a:rPr lang="en-US" altLang="zh-CN" b="1" dirty="0">
                <a:solidFill>
                  <a:srgbClr val="FF0000"/>
                </a:solidFill>
              </a:rPr>
              <a:t>Pj</a:t>
            </a:r>
            <a:r>
              <a:rPr lang="zh-CN" altLang="en-US" b="1" dirty="0">
                <a:solidFill>
                  <a:srgbClr val="FF0000"/>
                </a:solidFill>
              </a:rPr>
              <a:t>进行比较</a:t>
            </a:r>
            <a:r>
              <a:rPr lang="zh-CN" altLang="en-US" b="1" dirty="0"/>
              <a:t>。</a:t>
            </a:r>
            <a:endParaRPr lang="zh-CN" altLang="en-US" b="1" dirty="0"/>
          </a:p>
          <a:p>
            <a:pPr eaLnBrk="1" hangingPunct="1">
              <a:lnSpc>
                <a:spcPct val="110000"/>
              </a:lnSpc>
            </a:pPr>
            <a:r>
              <a:rPr lang="zh-CN" altLang="en-US" b="1" dirty="0"/>
              <a:t>如果</a:t>
            </a:r>
            <a:r>
              <a:rPr lang="en-US" altLang="zh-CN" b="1" dirty="0"/>
              <a:t>Pi≤Pj</a:t>
            </a:r>
            <a:r>
              <a:rPr lang="zh-CN" altLang="en-US" b="1" dirty="0"/>
              <a:t>，原进程</a:t>
            </a:r>
            <a:r>
              <a:rPr lang="en-US" altLang="zh-CN" b="1" dirty="0"/>
              <a:t>Pj</a:t>
            </a:r>
            <a:r>
              <a:rPr lang="zh-CN" altLang="en-US" b="1" dirty="0"/>
              <a:t>便继续执行；</a:t>
            </a:r>
            <a:endParaRPr lang="zh-CN" altLang="en-US" b="1" dirty="0"/>
          </a:p>
          <a:p>
            <a:pPr eaLnBrk="1" hangingPunct="1">
              <a:lnSpc>
                <a:spcPct val="110000"/>
              </a:lnSpc>
            </a:pPr>
            <a:r>
              <a:rPr lang="zh-CN" altLang="en-US" b="1" dirty="0"/>
              <a:t>如果是</a:t>
            </a:r>
            <a:r>
              <a:rPr lang="en-US" altLang="zh-CN" b="1" dirty="0"/>
              <a:t>Pi</a:t>
            </a:r>
            <a:r>
              <a:rPr lang="zh-CN" altLang="en-US" b="1" dirty="0"/>
              <a:t>＞</a:t>
            </a:r>
            <a:r>
              <a:rPr lang="en-US" altLang="zh-CN" b="1" dirty="0"/>
              <a:t>Pj, </a:t>
            </a:r>
            <a:r>
              <a:rPr lang="zh-CN" altLang="en-US" b="1" dirty="0"/>
              <a:t>则立即停止</a:t>
            </a:r>
            <a:r>
              <a:rPr lang="en-US" altLang="zh-CN" b="1" dirty="0"/>
              <a:t>Pj</a:t>
            </a:r>
            <a:r>
              <a:rPr lang="zh-CN" altLang="en-US" b="1" dirty="0"/>
              <a:t>的执行，做进程切换，使</a:t>
            </a:r>
            <a:r>
              <a:rPr lang="en-US" altLang="zh-CN" b="1" dirty="0"/>
              <a:t>i</a:t>
            </a:r>
            <a:r>
              <a:rPr lang="zh-CN" altLang="en-US" b="1" dirty="0"/>
              <a:t>进程投入执行。</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7666"/>
                                        </p:tgtEl>
                                        <p:attrNameLst>
                                          <p:attrName>style.visibility</p:attrName>
                                        </p:attrNameLst>
                                      </p:cBhvr>
                                      <p:to>
                                        <p:strVal val="visible"/>
                                      </p:to>
                                    </p:set>
                                    <p:animEffect transition="in" filter="fade">
                                      <p:cBhvr>
                                        <p:cTn id="7" dur="2000"/>
                                        <p:tgtEl>
                                          <p:spTgt spid="4976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2467">
                                            <p:txEl>
                                              <p:charRg st="0" end="59"/>
                                            </p:txEl>
                                          </p:spTgt>
                                        </p:tgtEl>
                                        <p:attrNameLst>
                                          <p:attrName>style.visibility</p:attrName>
                                        </p:attrNameLst>
                                      </p:cBhvr>
                                      <p:to>
                                        <p:strVal val="visible"/>
                                      </p:to>
                                    </p:set>
                                    <p:animEffect transition="in" filter="fade">
                                      <p:cBhvr>
                                        <p:cTn id="12" dur="2000"/>
                                        <p:tgtEl>
                                          <p:spTgt spid="62467">
                                            <p:txEl>
                                              <p:charRg st="0" end="5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2467">
                                            <p:txEl>
                                              <p:charRg st="59" end="79"/>
                                            </p:txEl>
                                          </p:spTgt>
                                        </p:tgtEl>
                                        <p:attrNameLst>
                                          <p:attrName>style.visibility</p:attrName>
                                        </p:attrNameLst>
                                      </p:cBhvr>
                                      <p:to>
                                        <p:strVal val="visible"/>
                                      </p:to>
                                    </p:set>
                                    <p:animEffect transition="in" filter="fade">
                                      <p:cBhvr>
                                        <p:cTn id="17" dur="2000"/>
                                        <p:tgtEl>
                                          <p:spTgt spid="62467">
                                            <p:txEl>
                                              <p:charRg st="59" end="7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2467">
                                            <p:txEl>
                                              <p:charRg st="79" end="116"/>
                                            </p:txEl>
                                          </p:spTgt>
                                        </p:tgtEl>
                                        <p:attrNameLst>
                                          <p:attrName>style.visibility</p:attrName>
                                        </p:attrNameLst>
                                      </p:cBhvr>
                                      <p:to>
                                        <p:strVal val="visible"/>
                                      </p:to>
                                    </p:set>
                                    <p:animEffect transition="in" filter="fade">
                                      <p:cBhvr>
                                        <p:cTn id="22" dur="2000"/>
                                        <p:tgtEl>
                                          <p:spTgt spid="62467">
                                            <p:txEl>
                                              <p:charRg st="79" end="1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7666" grpId="0"/>
      <p:bldP spid="62467"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8690"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a:t>
            </a: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2</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）抢占式优先权调度算法</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3491" name="Rectangle 3"/>
          <p:cNvSpPr>
            <a:spLocks noGrp="1" noRot="1"/>
          </p:cNvSpPr>
          <p:nvPr>
            <p:ph type="body" idx="4294967295"/>
          </p:nvPr>
        </p:nvSpPr>
        <p:spPr>
          <a:xfrm>
            <a:off x="381000" y="1673225"/>
            <a:ext cx="8077200" cy="4498975"/>
          </a:xfrm>
          <a:ln/>
        </p:spPr>
        <p:txBody>
          <a:bodyPr vert="horz" wrap="square" lIns="91440" tIns="45720" rIns="91440" bIns="45720" anchor="t" anchorCtr="0"/>
          <a:p>
            <a:pPr algn="just" eaLnBrk="1" hangingPunct="1">
              <a:lnSpc>
                <a:spcPct val="130000"/>
              </a:lnSpc>
              <a:spcBef>
                <a:spcPct val="50000"/>
              </a:spcBef>
              <a:buNone/>
            </a:pPr>
            <a:r>
              <a:rPr lang="en-US" altLang="zh-CN" b="1" dirty="0">
                <a:solidFill>
                  <a:schemeClr val="folHlink"/>
                </a:solidFill>
              </a:rPr>
              <a:t>  </a:t>
            </a:r>
            <a:r>
              <a:rPr lang="zh-CN" altLang="en-US" b="1" dirty="0">
                <a:solidFill>
                  <a:schemeClr val="folHlink"/>
                </a:solidFill>
              </a:rPr>
              <a:t>特点：</a:t>
            </a:r>
            <a:r>
              <a:rPr lang="zh-CN" altLang="en-US" b="1" dirty="0"/>
              <a:t>能更好地满足紧迫作业的要求，故而常用于要求比较严格的实时系统中，以及对性能要求较高的批处理和分时系统中。</a:t>
            </a:r>
            <a:endParaRPr lang="en-US" altLang="zh-CN" b="1" dirty="0"/>
          </a:p>
          <a:p>
            <a:pPr algn="just" eaLnBrk="1" hangingPunct="1">
              <a:lnSpc>
                <a:spcPct val="130000"/>
              </a:lnSpc>
              <a:spcBef>
                <a:spcPct val="50000"/>
              </a:spcBef>
              <a:buNone/>
            </a:pPr>
            <a:r>
              <a:rPr lang="zh-CN" altLang="en-US" b="1" dirty="0">
                <a:solidFill>
                  <a:srgbClr val="FF0000"/>
                </a:solidFill>
              </a:rPr>
              <a:t>  缺点：</a:t>
            </a:r>
            <a:r>
              <a:rPr lang="zh-CN" altLang="en-US" b="1" dirty="0"/>
              <a:t>系统开销较大。 </a:t>
            </a:r>
            <a:endParaRPr lang="zh-CN" altLang="en-US" b="1" dirty="0"/>
          </a:p>
          <a:p>
            <a:pPr eaLnBrk="1" hangingPunct="1"/>
            <a:endParaRPr lang="en-US" altLang="zh-CN"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8690"/>
                                        </p:tgtEl>
                                        <p:attrNameLst>
                                          <p:attrName>style.visibility</p:attrName>
                                        </p:attrNameLst>
                                      </p:cBhvr>
                                      <p:to>
                                        <p:strVal val="visible"/>
                                      </p:to>
                                    </p:set>
                                    <p:animEffect transition="in" filter="fade">
                                      <p:cBhvr>
                                        <p:cTn id="7" dur="2000"/>
                                        <p:tgtEl>
                                          <p:spTgt spid="4986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3491">
                                            <p:txEl>
                                              <p:charRg st="0" end="58"/>
                                            </p:txEl>
                                          </p:spTgt>
                                        </p:tgtEl>
                                        <p:attrNameLst>
                                          <p:attrName>style.visibility</p:attrName>
                                        </p:attrNameLst>
                                      </p:cBhvr>
                                      <p:to>
                                        <p:strVal val="visible"/>
                                      </p:to>
                                    </p:set>
                                    <p:animEffect transition="in" filter="fade">
                                      <p:cBhvr>
                                        <p:cTn id="12" dur="2000"/>
                                        <p:tgtEl>
                                          <p:spTgt spid="63491">
                                            <p:txEl>
                                              <p:charRg st="0" end="5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3491">
                                            <p:txEl>
                                              <p:charRg st="58" end="72"/>
                                            </p:txEl>
                                          </p:spTgt>
                                        </p:tgtEl>
                                        <p:attrNameLst>
                                          <p:attrName>style.visibility</p:attrName>
                                        </p:attrNameLst>
                                      </p:cBhvr>
                                      <p:to>
                                        <p:strVal val="visible"/>
                                      </p:to>
                                    </p:set>
                                    <p:animEffect transition="in" filter="fade">
                                      <p:cBhvr>
                                        <p:cTn id="17" dur="2000"/>
                                        <p:tgtEl>
                                          <p:spTgt spid="63491">
                                            <p:txEl>
                                              <p:charRg st="58" end="7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690" grpId="0"/>
      <p:bldP spid="63491"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8530"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优先权的类型</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4515" name="Rectangle 3"/>
          <p:cNvSpPr>
            <a:spLocks noGrp="1" noRot="1"/>
          </p:cNvSpPr>
          <p:nvPr>
            <p:ph type="body" idx="4294967295"/>
          </p:nvPr>
        </p:nvSpPr>
        <p:spPr>
          <a:xfrm>
            <a:off x="533400" y="1600200"/>
            <a:ext cx="7840663" cy="4498975"/>
          </a:xfrm>
          <a:ln/>
        </p:spPr>
        <p:txBody>
          <a:bodyPr vert="horz" wrap="square" lIns="91440" tIns="45720" rIns="91440" bIns="45720" anchor="t" anchorCtr="0"/>
          <a:p>
            <a:pPr algn="just" eaLnBrk="1" hangingPunct="1"/>
            <a:r>
              <a:rPr lang="zh-CN" altLang="en-US" b="1" dirty="0">
                <a:solidFill>
                  <a:schemeClr val="folHlink"/>
                </a:solidFill>
              </a:rPr>
              <a:t>静态优先权</a:t>
            </a:r>
            <a:endParaRPr lang="zh-CN" altLang="en-US" b="1" dirty="0">
              <a:solidFill>
                <a:schemeClr val="folHlink"/>
              </a:solidFill>
            </a:endParaRPr>
          </a:p>
          <a:p>
            <a:pPr eaLnBrk="1" hangingPunct="1">
              <a:buNone/>
            </a:pPr>
            <a:r>
              <a:rPr lang="zh-CN" altLang="en-US" b="1" dirty="0"/>
              <a:t>   </a:t>
            </a:r>
            <a:r>
              <a:rPr lang="zh-CN" altLang="en-US" sz="2800" b="1" dirty="0">
                <a:ea typeface="楷体_GB2312" pitchFamily="49" charset="-122"/>
              </a:rPr>
              <a:t>静态优先权是在创建进程时确定的，且在进程的整个运行期间保持不变。</a:t>
            </a:r>
            <a:endParaRPr lang="zh-CN" altLang="en-US" sz="2800" b="1" dirty="0">
              <a:ea typeface="楷体_GB2312" pitchFamily="49" charset="-122"/>
            </a:endParaRPr>
          </a:p>
          <a:p>
            <a:pPr algn="just" eaLnBrk="1" hangingPunct="1"/>
            <a:r>
              <a:rPr lang="zh-CN" altLang="en-US" b="1" dirty="0">
                <a:solidFill>
                  <a:schemeClr val="folHlink"/>
                </a:solidFill>
              </a:rPr>
              <a:t>动态优先权</a:t>
            </a:r>
            <a:endParaRPr lang="zh-CN" altLang="en-US" b="1" dirty="0">
              <a:solidFill>
                <a:schemeClr val="folHlink"/>
              </a:solidFill>
            </a:endParaRPr>
          </a:p>
          <a:p>
            <a:pPr algn="just" eaLnBrk="1" hangingPunct="1">
              <a:buNone/>
            </a:pPr>
            <a:r>
              <a:rPr lang="zh-CN" altLang="en-US" b="1" dirty="0"/>
              <a:t>   </a:t>
            </a:r>
            <a:r>
              <a:rPr lang="zh-CN" altLang="en-US" sz="2800" b="1" dirty="0">
                <a:latin typeface="楷体_GB2312" pitchFamily="49" charset="-122"/>
                <a:ea typeface="楷体_GB2312" pitchFamily="49" charset="-122"/>
              </a:rPr>
              <a:t>动态优先权是指，在创建进程时所赋予的优先权，是可以随进程的推进或随其等待时间的增加而改变的，以便获得更好的调度性能</a:t>
            </a:r>
            <a:r>
              <a:rPr lang="zh-CN" altLang="en-US" sz="2800" b="1" i="1" dirty="0">
                <a:latin typeface="楷体_GB2312" pitchFamily="49" charset="-122"/>
                <a:ea typeface="楷体_GB2312" pitchFamily="49" charset="-122"/>
              </a:rPr>
              <a:t>。</a:t>
            </a:r>
            <a:r>
              <a:rPr lang="zh-CN" altLang="en-US" b="1" i="1" dirty="0">
                <a:latin typeface="楷体_GB2312" pitchFamily="49" charset="-122"/>
                <a:ea typeface="楷体_GB2312" pitchFamily="49" charset="-122"/>
              </a:rPr>
              <a:t> </a:t>
            </a:r>
            <a:endParaRPr lang="zh-CN" altLang="en-US" b="1" dirty="0">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8530"/>
                                        </p:tgtEl>
                                        <p:attrNameLst>
                                          <p:attrName>style.visibility</p:attrName>
                                        </p:attrNameLst>
                                      </p:cBhvr>
                                      <p:to>
                                        <p:strVal val="visible"/>
                                      </p:to>
                                    </p:set>
                                    <p:animEffect transition="in" filter="fade">
                                      <p:cBhvr>
                                        <p:cTn id="7" dur="2000"/>
                                        <p:tgtEl>
                                          <p:spTgt spid="2785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4515">
                                            <p:txEl>
                                              <p:charRg st="0" end="6"/>
                                            </p:txEl>
                                          </p:spTgt>
                                        </p:tgtEl>
                                        <p:attrNameLst>
                                          <p:attrName>style.visibility</p:attrName>
                                        </p:attrNameLst>
                                      </p:cBhvr>
                                      <p:to>
                                        <p:strVal val="visible"/>
                                      </p:to>
                                    </p:set>
                                    <p:animEffect transition="in" filter="fade">
                                      <p:cBhvr>
                                        <p:cTn id="12" dur="2000"/>
                                        <p:tgtEl>
                                          <p:spTgt spid="64515">
                                            <p:txEl>
                                              <p:charRg st="0"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4515">
                                            <p:txEl>
                                              <p:charRg st="6" end="42"/>
                                            </p:txEl>
                                          </p:spTgt>
                                        </p:tgtEl>
                                        <p:attrNameLst>
                                          <p:attrName>style.visibility</p:attrName>
                                        </p:attrNameLst>
                                      </p:cBhvr>
                                      <p:to>
                                        <p:strVal val="visible"/>
                                      </p:to>
                                    </p:set>
                                    <p:animEffect transition="in" filter="fade">
                                      <p:cBhvr>
                                        <p:cTn id="17" dur="2000"/>
                                        <p:tgtEl>
                                          <p:spTgt spid="64515">
                                            <p:txEl>
                                              <p:charRg st="6" end="4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4515">
                                            <p:txEl>
                                              <p:charRg st="42" end="48"/>
                                            </p:txEl>
                                          </p:spTgt>
                                        </p:tgtEl>
                                        <p:attrNameLst>
                                          <p:attrName>style.visibility</p:attrName>
                                        </p:attrNameLst>
                                      </p:cBhvr>
                                      <p:to>
                                        <p:strVal val="visible"/>
                                      </p:to>
                                    </p:set>
                                    <p:animEffect transition="in" filter="fade">
                                      <p:cBhvr>
                                        <p:cTn id="22" dur="2000"/>
                                        <p:tgtEl>
                                          <p:spTgt spid="64515">
                                            <p:txEl>
                                              <p:charRg st="42" end="4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4515">
                                            <p:txEl>
                                              <p:charRg st="48" end="111"/>
                                            </p:txEl>
                                          </p:spTgt>
                                        </p:tgtEl>
                                        <p:attrNameLst>
                                          <p:attrName>style.visibility</p:attrName>
                                        </p:attrNameLst>
                                      </p:cBhvr>
                                      <p:to>
                                        <p:strVal val="visible"/>
                                      </p:to>
                                    </p:set>
                                    <p:animEffect transition="in" filter="fade">
                                      <p:cBhvr>
                                        <p:cTn id="27" dur="2000"/>
                                        <p:tgtEl>
                                          <p:spTgt spid="64515">
                                            <p:txEl>
                                              <p:charRg st="48" end="1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0" grpId="0"/>
      <p:bldP spid="64515"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9554" name="Rectangle 2"/>
          <p:cNvSpPr>
            <a:spLocks noGrp="1" noRot="1" noChangeArrowheads="1"/>
          </p:cNvSpPr>
          <p:nvPr>
            <p:ph type="title" idx="4294967295"/>
          </p:nvPr>
        </p:nvSpPr>
        <p:spPr>
          <a:xfrm>
            <a:off x="457200" y="609600"/>
            <a:ext cx="8077200" cy="9144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确定进程优先权的依据有三个方面</a:t>
            </a:r>
            <a:endParaRPr kumimoji="0" lang="zh-CN" altLang="en-US" sz="36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endParaRPr>
          </a:p>
        </p:txBody>
      </p:sp>
      <p:sp>
        <p:nvSpPr>
          <p:cNvPr id="65539" name="Rectangle 3"/>
          <p:cNvSpPr>
            <a:spLocks noGrp="1" noRot="1"/>
          </p:cNvSpPr>
          <p:nvPr>
            <p:ph type="body" idx="4294967295"/>
          </p:nvPr>
        </p:nvSpPr>
        <p:spPr>
          <a:xfrm>
            <a:off x="304800" y="1673225"/>
            <a:ext cx="8077200" cy="4498975"/>
          </a:xfrm>
          <a:ln/>
        </p:spPr>
        <p:txBody>
          <a:bodyPr vert="horz" wrap="square" lIns="91440" tIns="45720" rIns="91440" bIns="45720" anchor="t" anchorCtr="0"/>
          <a:p>
            <a:pPr algn="just" eaLnBrk="1" hangingPunct="1">
              <a:buNone/>
            </a:pPr>
            <a:r>
              <a:rPr lang="en-US" altLang="zh-CN" b="1" dirty="0"/>
              <a:t>  </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进程类型。</a:t>
            </a:r>
            <a:r>
              <a:rPr lang="zh-CN" altLang="en-US" b="1" dirty="0">
                <a:latin typeface="楷体_GB2312" pitchFamily="49" charset="-122"/>
                <a:ea typeface="楷体_GB2312" pitchFamily="49" charset="-122"/>
              </a:rPr>
              <a:t>系统进程的优先权高于一般用户进程的优先权。</a:t>
            </a:r>
            <a:endParaRPr lang="zh-CN" altLang="en-US" b="1" dirty="0">
              <a:latin typeface="楷体_GB2312" pitchFamily="49" charset="-122"/>
              <a:ea typeface="楷体_GB2312" pitchFamily="49" charset="-122"/>
            </a:endParaRPr>
          </a:p>
          <a:p>
            <a:pPr algn="just" eaLnBrk="1" hangingPunct="1">
              <a:buNone/>
            </a:pPr>
            <a:r>
              <a:rPr lang="zh-CN" altLang="en-US" b="1" dirty="0">
                <a:latin typeface="楷体_GB2312" pitchFamily="49" charset="-122"/>
                <a:ea typeface="楷体_GB2312" pitchFamily="49" charset="-122"/>
              </a:rPr>
              <a:t> （</a:t>
            </a: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进程对资源的需求。</a:t>
            </a:r>
            <a:r>
              <a:rPr lang="zh-CN" altLang="en-US" b="1" dirty="0">
                <a:latin typeface="楷体_GB2312" pitchFamily="49" charset="-122"/>
                <a:ea typeface="楷体_GB2312" pitchFamily="49" charset="-122"/>
              </a:rPr>
              <a:t>对要求少的进程应赋予较高的优先权。</a:t>
            </a:r>
            <a:endParaRPr lang="zh-CN" altLang="en-US" b="1" dirty="0">
              <a:latin typeface="楷体_GB2312" pitchFamily="49" charset="-122"/>
              <a:ea typeface="楷体_GB2312" pitchFamily="49" charset="-122"/>
            </a:endParaRPr>
          </a:p>
          <a:p>
            <a:pPr algn="just" eaLnBrk="1" hangingPunct="1">
              <a:buNone/>
            </a:pPr>
            <a:r>
              <a:rPr lang="zh-CN" altLang="en-US" b="1" dirty="0">
                <a:latin typeface="楷体_GB2312" pitchFamily="49" charset="-122"/>
                <a:ea typeface="楷体_GB2312" pitchFamily="49" charset="-122"/>
              </a:rPr>
              <a:t> （</a:t>
            </a:r>
            <a:r>
              <a:rPr lang="en-US" altLang="zh-CN" b="1" dirty="0">
                <a:latin typeface="楷体_GB2312" pitchFamily="49" charset="-122"/>
                <a:ea typeface="楷体_GB2312" pitchFamily="49" charset="-122"/>
              </a:rPr>
              <a:t>3</a:t>
            </a:r>
            <a:r>
              <a:rPr lang="zh-CN" altLang="en-US" b="1" dirty="0">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用户要求。</a:t>
            </a:r>
            <a:r>
              <a:rPr lang="zh-CN" altLang="en-US" b="1" dirty="0">
                <a:latin typeface="楷体_GB2312" pitchFamily="49" charset="-122"/>
                <a:ea typeface="楷体_GB2312" pitchFamily="49" charset="-122"/>
              </a:rPr>
              <a:t>按照各进程的执行流程和进程的紧迫程度来指定进程的优先权。</a:t>
            </a:r>
            <a:endParaRPr lang="zh-CN" altLang="en-US" b="1" dirty="0">
              <a:latin typeface="楷体_GB2312" pitchFamily="49" charset="-122"/>
              <a:ea typeface="楷体_GB2312" pitchFamily="49" charset="-122"/>
            </a:endParaRPr>
          </a:p>
          <a:p>
            <a:pPr eaLnBrk="1" hangingPunct="1"/>
            <a:endParaRPr lang="en-US" altLang="zh-CN"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9554"/>
                                        </p:tgtEl>
                                        <p:attrNameLst>
                                          <p:attrName>style.visibility</p:attrName>
                                        </p:attrNameLst>
                                      </p:cBhvr>
                                      <p:to>
                                        <p:strVal val="visible"/>
                                      </p:to>
                                    </p:set>
                                    <p:animEffect transition="in" filter="fade">
                                      <p:cBhvr>
                                        <p:cTn id="7" dur="2000"/>
                                        <p:tgtEl>
                                          <p:spTgt spid="27955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5539">
                                            <p:txEl>
                                              <p:charRg st="0" end="32"/>
                                            </p:txEl>
                                          </p:spTgt>
                                        </p:tgtEl>
                                        <p:attrNameLst>
                                          <p:attrName>style.visibility</p:attrName>
                                        </p:attrNameLst>
                                      </p:cBhvr>
                                      <p:to>
                                        <p:strVal val="visible"/>
                                      </p:to>
                                    </p:set>
                                    <p:animEffect transition="in" filter="fade">
                                      <p:cBhvr>
                                        <p:cTn id="12" dur="2000"/>
                                        <p:tgtEl>
                                          <p:spTgt spid="65539">
                                            <p:txEl>
                                              <p:charRg st="0" end="3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5539">
                                            <p:txEl>
                                              <p:charRg st="32" end="63"/>
                                            </p:txEl>
                                          </p:spTgt>
                                        </p:tgtEl>
                                        <p:attrNameLst>
                                          <p:attrName>style.visibility</p:attrName>
                                        </p:attrNameLst>
                                      </p:cBhvr>
                                      <p:to>
                                        <p:strVal val="visible"/>
                                      </p:to>
                                    </p:set>
                                    <p:animEffect transition="in" filter="fade">
                                      <p:cBhvr>
                                        <p:cTn id="17" dur="2000"/>
                                        <p:tgtEl>
                                          <p:spTgt spid="65539">
                                            <p:txEl>
                                              <p:charRg st="32" end="6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5539">
                                            <p:txEl>
                                              <p:charRg st="63" end="101"/>
                                            </p:txEl>
                                          </p:spTgt>
                                        </p:tgtEl>
                                        <p:attrNameLst>
                                          <p:attrName>style.visibility</p:attrName>
                                        </p:attrNameLst>
                                      </p:cBhvr>
                                      <p:to>
                                        <p:strVal val="visible"/>
                                      </p:to>
                                    </p:set>
                                    <p:animEffect transition="in" filter="fade">
                                      <p:cBhvr>
                                        <p:cTn id="22" dur="2000"/>
                                        <p:tgtEl>
                                          <p:spTgt spid="65539">
                                            <p:txEl>
                                              <p:charRg st="63" end="10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4" grpId="0"/>
      <p:bldP spid="65539"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noRot="1"/>
          </p:cNvSpPr>
          <p:nvPr>
            <p:ph type="title"/>
          </p:nvPr>
        </p:nvSpPr>
        <p:spPr>
          <a:xfrm>
            <a:off x="301625" y="53975"/>
            <a:ext cx="8540750" cy="1143000"/>
          </a:xfrm>
          <a:ln/>
        </p:spPr>
        <p:txBody>
          <a:bodyPr vert="horz" wrap="square" lIns="91440" tIns="45720" rIns="91440" bIns="45720" anchor="ctr" anchorCtr="0"/>
          <a:p>
            <a:r>
              <a:rPr lang="zh-CN" altLang="en-US" dirty="0"/>
              <a:t>问题</a:t>
            </a:r>
            <a:endParaRPr lang="zh-CN" altLang="en-US" dirty="0"/>
          </a:p>
        </p:txBody>
      </p:sp>
      <p:sp>
        <p:nvSpPr>
          <p:cNvPr id="58371" name="Rectangle 3"/>
          <p:cNvSpPr>
            <a:spLocks noGrp="1" noRot="1"/>
          </p:cNvSpPr>
          <p:nvPr>
            <p:ph idx="1"/>
          </p:nvPr>
        </p:nvSpPr>
        <p:spPr>
          <a:xfrm>
            <a:off x="301625" y="1162050"/>
            <a:ext cx="8540750" cy="5362575"/>
          </a:xfrm>
          <a:ln/>
        </p:spPr>
        <p:txBody>
          <a:bodyPr vert="horz" wrap="square" lIns="91440" tIns="45720" rIns="91440" bIns="45720" anchor="t" anchorCtr="0"/>
          <a:p>
            <a:pPr>
              <a:lnSpc>
                <a:spcPct val="120000"/>
              </a:lnSpc>
            </a:pPr>
            <a:r>
              <a:rPr lang="zh-CN" altLang="en-US" sz="2600" b="1" dirty="0"/>
              <a:t>在批处理系统中，短作业优先算法是一种比较好的算法，其主要的不足之处是长作业的运行得不到保证。</a:t>
            </a:r>
            <a:endParaRPr lang="zh-CN" altLang="en-US" sz="2600" b="1" dirty="0"/>
          </a:p>
          <a:p>
            <a:pPr>
              <a:lnSpc>
                <a:spcPct val="120000"/>
              </a:lnSpc>
              <a:buNone/>
            </a:pPr>
            <a:endParaRPr lang="zh-CN" altLang="en-US" sz="2600" b="1" dirty="0"/>
          </a:p>
          <a:p>
            <a:pPr>
              <a:lnSpc>
                <a:spcPct val="120000"/>
              </a:lnSpc>
              <a:buNone/>
            </a:pPr>
            <a:r>
              <a:rPr lang="zh-CN" altLang="en-US" sz="2600" b="1" dirty="0">
                <a:solidFill>
                  <a:schemeClr val="folHlink"/>
                </a:solidFill>
              </a:rPr>
              <a:t>有没有什么办法既考虑到短作业，又能够估计长作业呢？</a:t>
            </a:r>
            <a:endParaRPr lang="zh-CN" altLang="en-US" sz="2600" b="1" dirty="0">
              <a:solidFill>
                <a:schemeClr val="folHlink"/>
              </a:solidFill>
            </a:endParaRPr>
          </a:p>
          <a:p>
            <a:pPr>
              <a:lnSpc>
                <a:spcPct val="120000"/>
              </a:lnSpc>
              <a:buNone/>
            </a:pPr>
            <a:endParaRPr lang="zh-CN" altLang="en-US" sz="2600" b="1" dirty="0">
              <a:solidFill>
                <a:schemeClr val="folHlink"/>
              </a:solidFill>
            </a:endParaRPr>
          </a:p>
          <a:p>
            <a:pPr>
              <a:lnSpc>
                <a:spcPct val="120000"/>
              </a:lnSpc>
            </a:pPr>
            <a:r>
              <a:rPr lang="zh-CN" altLang="en-US" sz="2600" b="1" dirty="0"/>
              <a:t>如果我们能为每个作业引入前面所述的动态优先权，并使作业的优先级随着等待时间的增加而以速率</a:t>
            </a:r>
            <a:r>
              <a:rPr lang="en-US" altLang="zh-CN" sz="2600" b="1" i="1" dirty="0"/>
              <a:t>a </a:t>
            </a:r>
            <a:r>
              <a:rPr lang="zh-CN" altLang="en-US" sz="2600" b="1" dirty="0"/>
              <a:t>提高，则长作业在等待一定的时间后，必然有机会分配到处理机。</a:t>
            </a:r>
            <a:endParaRPr lang="zh-CN" altLang="en-US" sz="2600" b="1" dirty="0"/>
          </a:p>
          <a:p>
            <a:pPr>
              <a:lnSpc>
                <a:spcPct val="120000"/>
              </a:lnSpc>
            </a:pPr>
            <a:endParaRPr lang="zh-CN" altLang="en-US" sz="2400" b="1"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84" name="Text Box 4"/>
          <p:cNvSpPr txBox="1">
            <a:spLocks noChangeArrowheads="1"/>
          </p:cNvSpPr>
          <p:nvPr/>
        </p:nvSpPr>
        <p:spPr bwMode="auto">
          <a:xfrm>
            <a:off x="1066800" y="762000"/>
            <a:ext cx="7162800" cy="457200"/>
          </a:xfrm>
          <a:prstGeom prst="rect">
            <a:avLst/>
          </a:prstGeom>
          <a:noFill/>
          <a:ln w="9525" algn="ctr">
            <a:noFill/>
            <a:miter lim="800000"/>
          </a:ln>
          <a:effectLst/>
        </p:spPr>
        <p:txBody>
          <a:bodyPr anchor="ctr"/>
          <a:lstStyle/>
          <a:p>
            <a:pPr marR="0" algn="ctr" defTabSz="914400" eaLnBrk="1" hangingPunct="1">
              <a:buClrTx/>
              <a:buSzTx/>
              <a:buFontTx/>
              <a:buNone/>
              <a:defRPr/>
            </a:pPr>
            <a:r>
              <a:rPr kumimoji="0" lang="en-US" altLang="zh-CN" sz="4400" b="1" kern="1200" cap="none" spc="0" normalizeH="0" baseline="0" noProof="0" dirty="0">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mn-cs"/>
              </a:rPr>
              <a:t>5.</a:t>
            </a:r>
            <a:r>
              <a:rPr kumimoji="0" lang="zh-CN" altLang="en-US" sz="4400" b="1" kern="1200" cap="none" spc="0" normalizeH="0" baseline="0" noProof="0" dirty="0">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mn-cs"/>
              </a:rPr>
              <a:t>高响应比优先调度算法 </a:t>
            </a:r>
            <a:endParaRPr kumimoji="0" lang="zh-CN" altLang="en-US" sz="4400" b="1" kern="1200" cap="none" spc="0" normalizeH="0" baseline="0" noProof="0" dirty="0">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mn-cs"/>
            </a:endParaRPr>
          </a:p>
        </p:txBody>
      </p:sp>
      <p:sp>
        <p:nvSpPr>
          <p:cNvPr id="6149" name="Text Box 6"/>
          <p:cNvSpPr txBox="1"/>
          <p:nvPr/>
        </p:nvSpPr>
        <p:spPr>
          <a:xfrm>
            <a:off x="914400" y="1628775"/>
            <a:ext cx="5568950" cy="579438"/>
          </a:xfrm>
          <a:prstGeom prst="rect">
            <a:avLst/>
          </a:prstGeom>
          <a:noFill/>
          <a:ln w="9525">
            <a:noFill/>
          </a:ln>
        </p:spPr>
        <p:txBody>
          <a:bodyPr wrap="none">
            <a:spAutoFit/>
          </a:bodyPr>
          <a:p>
            <a:pPr eaLnBrk="1" hangingPunct="1"/>
            <a:r>
              <a:rPr lang="zh-CN" altLang="en-US" sz="3200" b="1" dirty="0">
                <a:latin typeface="Times New Roman" panose="02020603050405020304" pitchFamily="18" charset="0"/>
              </a:rPr>
              <a:t>优先权的变化规律可描述为： </a:t>
            </a:r>
            <a:endParaRPr lang="zh-CN" altLang="en-US" sz="3200" b="1" dirty="0">
              <a:latin typeface="Times New Roman" panose="02020603050405020304" pitchFamily="18" charset="0"/>
            </a:endParaRPr>
          </a:p>
        </p:txBody>
      </p:sp>
      <p:sp>
        <p:nvSpPr>
          <p:cNvPr id="6150" name="Rectangle 9"/>
          <p:cNvSpPr/>
          <p:nvPr/>
        </p:nvSpPr>
        <p:spPr>
          <a:xfrm>
            <a:off x="685800" y="2362200"/>
            <a:ext cx="7772400" cy="1143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zh-CN" dirty="0">
              <a:latin typeface="Arial" panose="020B0604020202020204" pitchFamily="34" charset="0"/>
            </a:endParaRPr>
          </a:p>
        </p:txBody>
      </p:sp>
      <p:graphicFrame>
        <p:nvGraphicFramePr>
          <p:cNvPr id="6146" name="Object 10"/>
          <p:cNvGraphicFramePr>
            <a:graphicFrameLocks noChangeAspect="1"/>
          </p:cNvGraphicFramePr>
          <p:nvPr>
            <p:ph sz="half" idx="1"/>
          </p:nvPr>
        </p:nvGraphicFramePr>
        <p:xfrm>
          <a:off x="1590675" y="2441575"/>
          <a:ext cx="5559425" cy="947738"/>
        </p:xfrm>
        <a:graphic>
          <a:graphicData uri="http://schemas.openxmlformats.org/presentationml/2006/ole">
            <mc:AlternateContent xmlns:mc="http://schemas.openxmlformats.org/markup-compatibility/2006">
              <mc:Choice xmlns:v="urn:schemas-microsoft-com:vml" Requires="v">
                <p:oleObj spid="_x0000_s3084" name="" r:id="rId1" imgW="2324100" imgH="419100" progId="Equation.3">
                  <p:embed/>
                </p:oleObj>
              </mc:Choice>
              <mc:Fallback>
                <p:oleObj name="" r:id="rId1" imgW="2324100" imgH="419100" progId="Equation.3">
                  <p:embed/>
                  <p:pic>
                    <p:nvPicPr>
                      <p:cNvPr id="0" name="图片 3083"/>
                      <p:cNvPicPr/>
                      <p:nvPr/>
                    </p:nvPicPr>
                    <p:blipFill>
                      <a:blip r:embed="rId2"/>
                      <a:srcRect/>
                      <a:stretch>
                        <a:fillRect/>
                      </a:stretch>
                    </p:blipFill>
                    <p:spPr>
                      <a:xfrm>
                        <a:off x="1590675" y="2441575"/>
                        <a:ext cx="5559425" cy="947738"/>
                      </a:xfrm>
                      <a:prstGeom prst="rect">
                        <a:avLst/>
                      </a:prstGeom>
                      <a:noFill/>
                      <a:ln w="38100">
                        <a:miter/>
                      </a:ln>
                    </p:spPr>
                  </p:pic>
                </p:oleObj>
              </mc:Fallback>
            </mc:AlternateContent>
          </a:graphicData>
        </a:graphic>
      </p:graphicFrame>
      <p:sp>
        <p:nvSpPr>
          <p:cNvPr id="6151" name="Text Box 12"/>
          <p:cNvSpPr txBox="1"/>
          <p:nvPr/>
        </p:nvSpPr>
        <p:spPr>
          <a:xfrm>
            <a:off x="457200" y="3657600"/>
            <a:ext cx="8229600" cy="1203325"/>
          </a:xfrm>
          <a:prstGeom prst="rect">
            <a:avLst/>
          </a:prstGeom>
          <a:noFill/>
          <a:ln w="9525">
            <a:noFill/>
          </a:ln>
        </p:spPr>
        <p:txBody>
          <a:bodyPr>
            <a:spAutoFit/>
          </a:bodyPr>
          <a:p>
            <a:pPr algn="just" eaLnBrk="1" hangingPunct="1">
              <a:lnSpc>
                <a:spcPct val="130000"/>
              </a:lnSpc>
              <a:spcBef>
                <a:spcPct val="50000"/>
              </a:spcBef>
            </a:pPr>
            <a:r>
              <a:rPr lang="zh-CN" altLang="en-US" sz="2800" b="1" dirty="0">
                <a:latin typeface="Times New Roman" panose="02020603050405020304" pitchFamily="18" charset="0"/>
              </a:rPr>
              <a:t>由于等待时间与服务时间之和，就是系统对该作业的</a:t>
            </a:r>
            <a:r>
              <a:rPr lang="zh-CN" altLang="en-US" sz="2800" b="1" dirty="0">
                <a:solidFill>
                  <a:schemeClr val="folHlink"/>
                </a:solidFill>
                <a:latin typeface="Times New Roman" panose="02020603050405020304" pitchFamily="18" charset="0"/>
              </a:rPr>
              <a:t>响应时间</a:t>
            </a:r>
            <a:r>
              <a:rPr lang="zh-CN" altLang="en-US" sz="2800" b="1" dirty="0">
                <a:latin typeface="Times New Roman" panose="02020603050405020304" pitchFamily="18" charset="0"/>
              </a:rPr>
              <a:t>，故该优先权又相当于</a:t>
            </a:r>
            <a:r>
              <a:rPr lang="zh-CN" altLang="en-US" sz="2800" b="1" dirty="0">
                <a:solidFill>
                  <a:schemeClr val="folHlink"/>
                </a:solidFill>
                <a:latin typeface="Times New Roman" panose="02020603050405020304" pitchFamily="18" charset="0"/>
              </a:rPr>
              <a:t>响应比</a:t>
            </a:r>
            <a:r>
              <a:rPr lang="en-US" altLang="zh-CN" sz="2800" b="1" i="1" dirty="0">
                <a:solidFill>
                  <a:schemeClr val="folHlink"/>
                </a:solidFill>
                <a:latin typeface="Times New Roman" panose="02020603050405020304" pitchFamily="18" charset="0"/>
              </a:rPr>
              <a:t>R</a:t>
            </a:r>
            <a:r>
              <a:rPr lang="en-US" altLang="zh-CN" sz="2800" b="1" baseline="-25000" dirty="0">
                <a:solidFill>
                  <a:schemeClr val="folHlink"/>
                </a:solidFill>
                <a:latin typeface="Times New Roman" panose="02020603050405020304" pitchFamily="18" charset="0"/>
              </a:rPr>
              <a:t>P</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p:txBody>
      </p:sp>
      <p:sp>
        <p:nvSpPr>
          <p:cNvPr id="6152" name="Rectangle 17"/>
          <p:cNvSpPr/>
          <p:nvPr/>
        </p:nvSpPr>
        <p:spPr>
          <a:xfrm>
            <a:off x="685800" y="4953000"/>
            <a:ext cx="7772400" cy="1295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zh-CN" dirty="0">
              <a:latin typeface="Arial" panose="020B0604020202020204" pitchFamily="34" charset="0"/>
            </a:endParaRPr>
          </a:p>
        </p:txBody>
      </p:sp>
      <p:graphicFrame>
        <p:nvGraphicFramePr>
          <p:cNvPr id="6147" name="Object 18"/>
          <p:cNvGraphicFramePr>
            <a:graphicFrameLocks noChangeAspect="1"/>
          </p:cNvGraphicFramePr>
          <p:nvPr/>
        </p:nvGraphicFramePr>
        <p:xfrm>
          <a:off x="990600" y="5105400"/>
          <a:ext cx="7315200" cy="923925"/>
        </p:xfrm>
        <a:graphic>
          <a:graphicData uri="http://schemas.openxmlformats.org/presentationml/2006/ole">
            <mc:AlternateContent xmlns:mc="http://schemas.openxmlformats.org/markup-compatibility/2006">
              <mc:Choice xmlns:v="urn:schemas-microsoft-com:vml" Requires="v">
                <p:oleObj spid="_x0000_s3085" name="" r:id="rId3" imgW="3416300" imgH="431800" progId="Equation.3">
                  <p:embed/>
                </p:oleObj>
              </mc:Choice>
              <mc:Fallback>
                <p:oleObj name="" r:id="rId3" imgW="3416300" imgH="431800" progId="Equation.3">
                  <p:embed/>
                  <p:pic>
                    <p:nvPicPr>
                      <p:cNvPr id="0" name="图片 3084"/>
                      <p:cNvPicPr/>
                      <p:nvPr/>
                    </p:nvPicPr>
                    <p:blipFill>
                      <a:blip r:embed="rId4"/>
                      <a:stretch>
                        <a:fillRect/>
                      </a:stretch>
                    </p:blipFill>
                    <p:spPr>
                      <a:xfrm>
                        <a:off x="990600" y="5105400"/>
                        <a:ext cx="7315200" cy="92392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fade">
                                      <p:cBhvr>
                                        <p:cTn id="7" dur="20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2306"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mj-ea"/>
                <a:cs typeface="+mj-cs"/>
              </a:rPr>
              <a:t>高响应比优先调度算法</a:t>
            </a:r>
            <a:endParaRPr kumimoji="0" lang="zh-CN" altLang="en-US" sz="44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mj-ea"/>
              <a:cs typeface="+mj-cs"/>
            </a:endParaRPr>
          </a:p>
        </p:txBody>
      </p:sp>
      <p:sp>
        <p:nvSpPr>
          <p:cNvPr id="67587" name="Rectangle 3"/>
          <p:cNvSpPr>
            <a:spLocks noGrp="1" noRot="1"/>
          </p:cNvSpPr>
          <p:nvPr>
            <p:ph type="body" idx="4294967295"/>
          </p:nvPr>
        </p:nvSpPr>
        <p:spPr>
          <a:xfrm>
            <a:off x="381000" y="1600200"/>
            <a:ext cx="8305800" cy="4498975"/>
          </a:xfrm>
          <a:ln/>
        </p:spPr>
        <p:txBody>
          <a:bodyPr vert="horz" wrap="square" lIns="91440" tIns="45720" rIns="91440" bIns="45720" anchor="t" anchorCtr="0"/>
          <a:p>
            <a:pPr eaLnBrk="1" hangingPunct="1">
              <a:lnSpc>
                <a:spcPct val="110000"/>
              </a:lnSpc>
            </a:pPr>
            <a:r>
              <a:rPr lang="en-US" altLang="zh-CN" sz="2800" b="1" dirty="0"/>
              <a:t>(1) </a:t>
            </a:r>
            <a:r>
              <a:rPr lang="zh-CN" altLang="en-US" sz="2800" b="1" dirty="0"/>
              <a:t>如果作业的等待时间相同，则要求服务的时间愈短，其优先权愈高，因而该算法有利于短作业。</a:t>
            </a:r>
            <a:endParaRPr lang="zh-CN" altLang="en-US" sz="2800" b="1" dirty="0"/>
          </a:p>
          <a:p>
            <a:pPr eaLnBrk="1" hangingPunct="1">
              <a:lnSpc>
                <a:spcPct val="110000"/>
              </a:lnSpc>
            </a:pPr>
            <a:r>
              <a:rPr lang="zh-CN" altLang="en-US" sz="2800" b="1" dirty="0"/>
              <a:t> </a:t>
            </a:r>
            <a:r>
              <a:rPr lang="en-US" altLang="zh-CN" sz="2800" b="1" dirty="0"/>
              <a:t>(2) </a:t>
            </a:r>
            <a:r>
              <a:rPr lang="zh-CN" altLang="en-US" sz="2800" b="1" dirty="0"/>
              <a:t>当要求服务的时间相同时，作业的优先权决定于其等待时间，等待时间愈长，其优先权愈高，因而它实现的是先来先服务。</a:t>
            </a:r>
            <a:endParaRPr lang="zh-CN" altLang="en-US" sz="2800" b="1" dirty="0"/>
          </a:p>
          <a:p>
            <a:pPr eaLnBrk="1" hangingPunct="1">
              <a:lnSpc>
                <a:spcPct val="110000"/>
              </a:lnSpc>
            </a:pPr>
            <a:r>
              <a:rPr lang="zh-CN" altLang="en-US" sz="2800" b="1" dirty="0"/>
              <a:t>  </a:t>
            </a:r>
            <a:r>
              <a:rPr lang="en-US" altLang="zh-CN" sz="2800" b="1" dirty="0"/>
              <a:t>(3) </a:t>
            </a:r>
            <a:r>
              <a:rPr lang="zh-CN" altLang="en-US" sz="2800" b="1" dirty="0"/>
              <a:t>对于长作业，作业的优先级可以随等待时间的增加而提高，当其等待时间足够长时，其优先级便可升到很高， 从而也可获得处理机。  </a:t>
            </a:r>
            <a:endParaRPr lang="zh-CN" altLang="en-US" sz="2800" b="1" dirty="0"/>
          </a:p>
          <a:p>
            <a:pPr eaLnBrk="1" hangingPunct="1">
              <a:lnSpc>
                <a:spcPct val="110000"/>
              </a:lnSpc>
            </a:pPr>
            <a:endParaRPr lang="en-US" altLang="zh-CN" sz="28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82306"/>
                                        </p:tgtEl>
                                        <p:attrNameLst>
                                          <p:attrName>style.visibility</p:attrName>
                                        </p:attrNameLst>
                                      </p:cBhvr>
                                      <p:to>
                                        <p:strVal val="visible"/>
                                      </p:to>
                                    </p:set>
                                    <p:animEffect transition="in" filter="fade">
                                      <p:cBhvr>
                                        <p:cTn id="7" dur="2000"/>
                                        <p:tgtEl>
                                          <p:spTgt spid="4823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7587">
                                            <p:txEl>
                                              <p:charRg st="0" end="47"/>
                                            </p:txEl>
                                          </p:spTgt>
                                        </p:tgtEl>
                                        <p:attrNameLst>
                                          <p:attrName>style.visibility</p:attrName>
                                        </p:attrNameLst>
                                      </p:cBhvr>
                                      <p:to>
                                        <p:strVal val="visible"/>
                                      </p:to>
                                    </p:set>
                                    <p:animEffect transition="in" filter="fade">
                                      <p:cBhvr>
                                        <p:cTn id="12" dur="2000"/>
                                        <p:tgtEl>
                                          <p:spTgt spid="67587">
                                            <p:txEl>
                                              <p:charRg st="0" end="4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7587">
                                            <p:txEl>
                                              <p:charRg st="47" end="107"/>
                                            </p:txEl>
                                          </p:spTgt>
                                        </p:tgtEl>
                                        <p:attrNameLst>
                                          <p:attrName>style.visibility</p:attrName>
                                        </p:attrNameLst>
                                      </p:cBhvr>
                                      <p:to>
                                        <p:strVal val="visible"/>
                                      </p:to>
                                    </p:set>
                                    <p:animEffect transition="in" filter="fade">
                                      <p:cBhvr>
                                        <p:cTn id="17" dur="2000"/>
                                        <p:tgtEl>
                                          <p:spTgt spid="67587">
                                            <p:txEl>
                                              <p:charRg st="47" end="10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7587">
                                            <p:txEl>
                                              <p:charRg st="107" end="175"/>
                                            </p:txEl>
                                          </p:spTgt>
                                        </p:tgtEl>
                                        <p:attrNameLst>
                                          <p:attrName>style.visibility</p:attrName>
                                        </p:attrNameLst>
                                      </p:cBhvr>
                                      <p:to>
                                        <p:strVal val="visible"/>
                                      </p:to>
                                    </p:set>
                                    <p:animEffect transition="in" filter="fade">
                                      <p:cBhvr>
                                        <p:cTn id="22" dur="2000"/>
                                        <p:tgtEl>
                                          <p:spTgt spid="67587">
                                            <p:txEl>
                                              <p:charRg st="107" end="17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6" grpId="0"/>
      <p:bldP spid="67587"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1602" name="Rectangle 2"/>
          <p:cNvSpPr>
            <a:spLocks noGrp="1" noRot="1" noChangeArrowheads="1"/>
          </p:cNvSpPr>
          <p:nvPr>
            <p:ph type="title" idx="4294967295"/>
          </p:nvPr>
        </p:nvSpPr>
        <p:spPr>
          <a:xfrm>
            <a:off x="301625" y="546100"/>
            <a:ext cx="8067675" cy="5715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mj-ea"/>
                <a:cs typeface="+mj-cs"/>
              </a:rPr>
              <a:t>响应比高者优先</a:t>
            </a:r>
            <a:endParaRPr kumimoji="0" lang="zh-CN" altLang="en-US" sz="44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mj-ea"/>
              <a:cs typeface="+mj-cs"/>
            </a:endParaRPr>
          </a:p>
        </p:txBody>
      </p:sp>
      <p:graphicFrame>
        <p:nvGraphicFramePr>
          <p:cNvPr id="7170" name="Object 3"/>
          <p:cNvGraphicFramePr>
            <a:graphicFrameLocks noChangeAspect="1"/>
          </p:cNvGraphicFramePr>
          <p:nvPr>
            <p:ph sz="half" idx="1"/>
          </p:nvPr>
        </p:nvGraphicFramePr>
        <p:xfrm>
          <a:off x="785813" y="1603375"/>
          <a:ext cx="6256337" cy="1554163"/>
        </p:xfrm>
        <a:graphic>
          <a:graphicData uri="http://schemas.openxmlformats.org/presentationml/2006/ole">
            <mc:AlternateContent xmlns:mc="http://schemas.openxmlformats.org/markup-compatibility/2006">
              <mc:Choice xmlns:v="urn:schemas-microsoft-com:vml" Requires="v">
                <p:oleObj spid="_x0000_s3086" name="" r:id="rId1" imgW="2597150" imgH="758825" progId="Paint.Picture">
                  <p:embed/>
                </p:oleObj>
              </mc:Choice>
              <mc:Fallback>
                <p:oleObj name="" r:id="rId1" imgW="2597150" imgH="758825" progId="Paint.Picture">
                  <p:embed/>
                  <p:pic>
                    <p:nvPicPr>
                      <p:cNvPr id="0" name="图片 3085"/>
                      <p:cNvPicPr/>
                      <p:nvPr/>
                    </p:nvPicPr>
                    <p:blipFill>
                      <a:blip r:embed="rId2"/>
                      <a:srcRect/>
                      <a:stretch>
                        <a:fillRect/>
                      </a:stretch>
                    </p:blipFill>
                    <p:spPr>
                      <a:xfrm>
                        <a:off x="785813" y="1603375"/>
                        <a:ext cx="6256337" cy="1554163"/>
                      </a:xfrm>
                      <a:prstGeom prst="rect">
                        <a:avLst/>
                      </a:prstGeom>
                      <a:noFill/>
                      <a:ln w="38100">
                        <a:miter/>
                      </a:ln>
                    </p:spPr>
                  </p:pic>
                </p:oleObj>
              </mc:Fallback>
            </mc:AlternateContent>
          </a:graphicData>
        </a:graphic>
      </p:graphicFrame>
      <p:sp>
        <p:nvSpPr>
          <p:cNvPr id="7172" name="Rectangle 4"/>
          <p:cNvSpPr>
            <a:spLocks noGrp="1" noRot="1"/>
          </p:cNvSpPr>
          <p:nvPr>
            <p:ph type="body" sz="half" idx="4294967295"/>
          </p:nvPr>
        </p:nvSpPr>
        <p:spPr>
          <a:xfrm>
            <a:off x="685800" y="3352800"/>
            <a:ext cx="7772400" cy="2895600"/>
          </a:xfrm>
          <a:ln/>
        </p:spPr>
        <p:txBody>
          <a:bodyPr vert="horz" wrap="square" lIns="91440" tIns="45720" rIns="91440" bIns="45720" anchor="t" anchorCtr="0"/>
          <a:lstStyle>
            <a:lvl1pPr lvl="0">
              <a:buClr>
                <a:schemeClr val="folHlink"/>
              </a:buClr>
              <a:buSzPct val="85000"/>
              <a:buFont typeface="Wingdings 2" panose="05020102010507070707" pitchFamily="18" charset="2"/>
              <a:defRPr sz="2800"/>
            </a:lvl1pPr>
            <a:lvl2pPr lvl="1">
              <a:buClr>
                <a:schemeClr val="hlink"/>
              </a:buClr>
              <a:buSzPct val="85000"/>
              <a:buFont typeface="Wingdings" panose="05000000000000000000" pitchFamily="2" charset="2"/>
              <a:defRPr sz="2400"/>
            </a:lvl2pPr>
            <a:lvl3pPr lvl="2">
              <a:buClr>
                <a:schemeClr val="folHlink"/>
              </a:buClr>
              <a:buSzPct val="90000"/>
              <a:buFont typeface="Wingdings 2" panose="05020102010507070707" pitchFamily="18" charset="2"/>
              <a:defRPr sz="2000"/>
            </a:lvl3pPr>
            <a:lvl4pPr lvl="3">
              <a:buClr>
                <a:schemeClr val="hlink"/>
              </a:buClr>
              <a:buSzPct val="90000"/>
              <a:buFont typeface="Wingdings" panose="05000000000000000000" pitchFamily="2" charset="2"/>
              <a:defRPr sz="1800"/>
            </a:lvl4pPr>
            <a:lvl5pPr lvl="4">
              <a:buClr>
                <a:schemeClr val="folHlink"/>
              </a:buClr>
              <a:buSzPct val="90000"/>
              <a:buFont typeface="Wingdings 2" panose="05020102010507070707" pitchFamily="18" charset="2"/>
              <a:defRPr sz="1800"/>
            </a:lvl5pPr>
          </a:lstStyle>
          <a:p>
            <a:pPr lvl="0" eaLnBrk="1" hangingPunct="1"/>
            <a:r>
              <a:rPr lang="zh-CN" altLang="en-US" sz="3200" b="1" dirty="0"/>
              <a:t>该算法既照顾了短作业，又考虑了作业到达的先后次序，不会使长作业长期得不到服务。</a:t>
            </a:r>
            <a:endParaRPr lang="zh-CN" altLang="en-US" sz="3200" b="1" dirty="0"/>
          </a:p>
          <a:p>
            <a:pPr lvl="0" eaLnBrk="1" hangingPunct="1"/>
            <a:r>
              <a:rPr lang="zh-CN" altLang="en-US" sz="3200" b="1" dirty="0"/>
              <a:t>利用该算法时，每次调度之前，都须先做响应比的计算，</a:t>
            </a:r>
            <a:r>
              <a:rPr lang="zh-CN" altLang="en-US" sz="3200" b="1" dirty="0">
                <a:solidFill>
                  <a:srgbClr val="FF0000"/>
                </a:solidFill>
              </a:rPr>
              <a:t>会增加系统开销</a:t>
            </a:r>
            <a:r>
              <a:rPr lang="zh-CN" altLang="en-US" sz="3200" b="1" dirty="0"/>
              <a:t>。</a:t>
            </a:r>
            <a:endParaRPr lang="zh-CN" altLang="en-US" sz="32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1602"/>
                                        </p:tgtEl>
                                        <p:attrNameLst>
                                          <p:attrName>style.visibility</p:attrName>
                                        </p:attrNameLst>
                                      </p:cBhvr>
                                      <p:to>
                                        <p:strVal val="visible"/>
                                      </p:to>
                                    </p:set>
                                    <p:animEffect transition="in" filter="fade">
                                      <p:cBhvr>
                                        <p:cTn id="7" dur="2000"/>
                                        <p:tgtEl>
                                          <p:spTgt spid="2816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72">
                                            <p:txEl>
                                              <p:charRg st="0" end="40"/>
                                            </p:txEl>
                                          </p:spTgt>
                                        </p:tgtEl>
                                        <p:attrNameLst>
                                          <p:attrName>style.visibility</p:attrName>
                                        </p:attrNameLst>
                                      </p:cBhvr>
                                      <p:to>
                                        <p:strVal val="visible"/>
                                      </p:to>
                                    </p:set>
                                    <p:animEffect transition="in" filter="fade">
                                      <p:cBhvr>
                                        <p:cTn id="12" dur="2000"/>
                                        <p:tgtEl>
                                          <p:spTgt spid="7172">
                                            <p:txEl>
                                              <p:charRg st="0" end="4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172">
                                            <p:txEl>
                                              <p:charRg st="40" end="74"/>
                                            </p:txEl>
                                          </p:spTgt>
                                        </p:tgtEl>
                                        <p:attrNameLst>
                                          <p:attrName>style.visibility</p:attrName>
                                        </p:attrNameLst>
                                      </p:cBhvr>
                                      <p:to>
                                        <p:strVal val="visible"/>
                                      </p:to>
                                    </p:set>
                                    <p:animEffect transition="in" filter="fade">
                                      <p:cBhvr>
                                        <p:cTn id="17" dur="2000"/>
                                        <p:tgtEl>
                                          <p:spTgt spid="7172">
                                            <p:txEl>
                                              <p:charRg st="40" end="7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2" grpId="0"/>
      <p:bldP spid="7172"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标题 1"/>
          <p:cNvSpPr>
            <a:spLocks noGrp="1"/>
          </p:cNvSpPr>
          <p:nvPr>
            <p:ph type="title"/>
          </p:nvPr>
        </p:nvSpPr>
        <p:spPr>
          <a:ln/>
        </p:spPr>
        <p:txBody>
          <a:bodyPr vert="horz" wrap="square" lIns="91440" tIns="45720" rIns="91440" bIns="45720" anchor="ctr" anchorCtr="0"/>
          <a:p>
            <a:r>
              <a:rPr lang="en-US" altLang="zh-CN" dirty="0"/>
              <a:t>6.</a:t>
            </a:r>
            <a:r>
              <a:rPr lang="zh-CN" altLang="en-US" dirty="0"/>
              <a:t>多级反馈队列调度算法</a:t>
            </a:r>
            <a:endParaRPr lang="zh-CN" altLang="en-US" dirty="0"/>
          </a:p>
        </p:txBody>
      </p:sp>
      <p:sp>
        <p:nvSpPr>
          <p:cNvPr id="60419" name="内容占位符 2"/>
          <p:cNvSpPr>
            <a:spLocks noGrp="1"/>
          </p:cNvSpPr>
          <p:nvPr>
            <p:ph idx="1"/>
          </p:nvPr>
        </p:nvSpPr>
        <p:spPr>
          <a:ln/>
        </p:spPr>
        <p:txBody>
          <a:bodyPr vert="horz" wrap="square" lIns="91440" tIns="45720" rIns="91440" bIns="45720" anchor="t" anchorCtr="0"/>
          <a:p>
            <a:r>
              <a:rPr lang="zh-CN" altLang="en-US" dirty="0"/>
              <a:t>而多级反馈队列调度算法则不必事先知道各种进程所 需的执行时间，而且还可以满足各种类型进程的需要，因而它是目前被公认的一种较好的进 程调度算法。</a:t>
            </a:r>
            <a:endParaRPr lang="zh-CN" altLang="en-US" dirty="0"/>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标题 1"/>
          <p:cNvSpPr>
            <a:spLocks noGrp="1"/>
          </p:cNvSpPr>
          <p:nvPr>
            <p:ph type="title"/>
          </p:nvPr>
        </p:nvSpPr>
        <p:spPr>
          <a:xfrm>
            <a:off x="301625" y="228600"/>
            <a:ext cx="8540750" cy="896938"/>
          </a:xfrm>
          <a:ln/>
        </p:spPr>
        <p:txBody>
          <a:bodyPr vert="horz" wrap="square" lIns="91440" tIns="45720" rIns="91440" bIns="45720" anchor="ctr" anchorCtr="0"/>
          <a:p>
            <a:r>
              <a:rPr lang="en-US" altLang="zh-CN" dirty="0"/>
              <a:t>6.</a:t>
            </a:r>
            <a:r>
              <a:rPr lang="zh-CN" altLang="en-US" dirty="0"/>
              <a:t>多级反馈队列调度算法</a:t>
            </a:r>
            <a:endParaRPr lang="zh-CN" altLang="en-US" dirty="0"/>
          </a:p>
        </p:txBody>
      </p:sp>
      <p:sp>
        <p:nvSpPr>
          <p:cNvPr id="3" name="内容占位符 2"/>
          <p:cNvSpPr>
            <a:spLocks noGrp="1"/>
          </p:cNvSpPr>
          <p:nvPr>
            <p:ph idx="1"/>
          </p:nvPr>
        </p:nvSpPr>
        <p:spPr>
          <a:xfrm>
            <a:off x="271463" y="1268413"/>
            <a:ext cx="8540750" cy="4498975"/>
          </a:xfrm>
        </p:spPr>
        <p:txBody>
          <a:bodyPr vert="horz" wrap="square" lIns="91440" tIns="45720" rIns="91440" bIns="45720" numCol="1" anchor="t" anchorCtr="0" compatLnSpc="1"/>
          <a:lstStyle/>
          <a:p>
            <a:pPr marL="742950" marR="0" lvl="1" indent="-285750" algn="l" defTabSz="914400" rtl="0" eaLnBrk="0" fontAlgn="base" latinLnBrk="0" hangingPunct="0">
              <a:lnSpc>
                <a:spcPct val="100000"/>
              </a:lnSpc>
              <a:spcBef>
                <a:spcPct val="20000"/>
              </a:spcBef>
              <a:spcAft>
                <a:spcPct val="0"/>
              </a:spcAft>
              <a:buClr>
                <a:schemeClr val="hlink"/>
              </a:buClr>
              <a:buSzPct val="85000"/>
              <a:buFont typeface="Wingdings" panose="05000000000000000000" pitchFamily="2" charset="2"/>
              <a:buChar char=""/>
              <a:defRPr/>
            </a:pPr>
            <a:r>
              <a:rPr kumimoji="0" lang="en-US" altLang="zh-CN" sz="2800" b="1" i="1" u="none" strike="noStrike" kern="0" cap="none" spc="0" normalizeH="0" baseline="0" noProof="0" dirty="0" smtClean="0">
                <a:ln>
                  <a:noFill/>
                </a:ln>
                <a:solidFill>
                  <a:schemeClr val="tx2">
                    <a:lumMod val="60000"/>
                    <a:lumOff val="40000"/>
                  </a:schemeClr>
                </a:solidFill>
                <a:effectLst/>
                <a:uLnTx/>
                <a:uFillTx/>
                <a:latin typeface="+mn-lt"/>
                <a:ea typeface="+mn-ea"/>
              </a:rPr>
              <a:t>(1) </a:t>
            </a:r>
            <a:r>
              <a:rPr kumimoji="0" lang="zh-CN" altLang="en-US" sz="2800" b="1" i="1" u="none" strike="noStrike" kern="0" cap="none" spc="0" normalizeH="0" baseline="0" noProof="0" dirty="0" smtClean="0">
                <a:ln>
                  <a:noFill/>
                </a:ln>
                <a:solidFill>
                  <a:schemeClr val="tx2">
                    <a:lumMod val="60000"/>
                    <a:lumOff val="40000"/>
                  </a:schemeClr>
                </a:solidFill>
                <a:effectLst/>
                <a:uLnTx/>
                <a:uFillTx/>
                <a:latin typeface="+mn-lt"/>
                <a:ea typeface="+mn-ea"/>
              </a:rPr>
              <a:t>设置多个就绪队列</a:t>
            </a:r>
            <a:endParaRPr kumimoji="0" lang="en-US" altLang="zh-CN" sz="2800" b="1" i="1" u="none" strike="noStrike" kern="0" cap="none" spc="0" normalizeH="0" baseline="0" noProof="0" dirty="0" smtClean="0">
              <a:ln>
                <a:noFill/>
              </a:ln>
              <a:solidFill>
                <a:schemeClr val="tx2">
                  <a:lumMod val="60000"/>
                  <a:lumOff val="40000"/>
                </a:schemeClr>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hlink"/>
              </a:buClr>
              <a:buSzPct val="85000"/>
              <a:buFont typeface="Wingdings" panose="05000000000000000000" pitchFamily="2" charset="2"/>
              <a:buChar char=""/>
              <a:defRPr/>
            </a:pPr>
            <a:endParaRPr kumimoji="0" lang="en-US" altLang="zh-CN" sz="2800" b="1" i="1" u="none" strike="noStrike" kern="0" cap="none" spc="0" normalizeH="0" baseline="0" noProof="0" dirty="0" smtClean="0">
              <a:ln>
                <a:noFill/>
              </a:ln>
              <a:solidFill>
                <a:schemeClr val="tx2">
                  <a:lumMod val="60000"/>
                  <a:lumOff val="40000"/>
                </a:schemeClr>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hlink"/>
              </a:buClr>
              <a:buSzPct val="85000"/>
              <a:buFont typeface="Wingdings" panose="05000000000000000000" pitchFamily="2" charset="2"/>
              <a:buChar char="l"/>
              <a:defRPr/>
            </a:pPr>
            <a:r>
              <a:rPr kumimoji="0" lang="zh-CN" altLang="en-US" sz="2400" b="0" i="0" u="none" strike="noStrike" kern="0" cap="none" spc="0" normalizeH="0" baseline="0" noProof="0" dirty="0" smtClean="0">
                <a:ln>
                  <a:noFill/>
                </a:ln>
                <a:solidFill>
                  <a:schemeClr val="tx1"/>
                </a:solidFill>
                <a:effectLst/>
                <a:uLnTx/>
                <a:uFillTx/>
                <a:latin typeface="+mn-lt"/>
                <a:ea typeface="+mn-ea"/>
              </a:rPr>
              <a:t>为</a:t>
            </a:r>
            <a:r>
              <a:rPr kumimoji="0" lang="zh-CN" altLang="en-US" sz="2400" b="0" i="0" u="none" strike="noStrike" kern="0" cap="none" spc="0" normalizeH="0" baseline="0" noProof="0" dirty="0" smtClean="0">
                <a:ln>
                  <a:noFill/>
                </a:ln>
                <a:solidFill>
                  <a:srgbClr val="FF0000"/>
                </a:solidFill>
                <a:effectLst/>
                <a:uLnTx/>
                <a:uFillTx/>
                <a:latin typeface="+mn-lt"/>
                <a:ea typeface="+mn-ea"/>
              </a:rPr>
              <a:t>各个队列赋予不同的优先级</a:t>
            </a:r>
            <a:r>
              <a:rPr kumimoji="0" lang="zh-CN" altLang="en-US" sz="2400" b="0" i="0" u="none" strike="noStrike" kern="0" cap="none" spc="0" normalizeH="0" baseline="0" noProof="0" dirty="0" smtClean="0">
                <a:ln>
                  <a:noFill/>
                </a:ln>
                <a:solidFill>
                  <a:schemeClr val="tx1"/>
                </a:solidFill>
                <a:effectLst/>
                <a:uLnTx/>
                <a:uFillTx/>
                <a:latin typeface="+mn-lt"/>
                <a:ea typeface="+mn-ea"/>
              </a:rPr>
              <a:t>，第一个队列的优先级最高， 第二个队列次之，其余各队列的优先权逐个降低；</a:t>
            </a:r>
            <a:endParaRPr kumimoji="0" lang="en-US" altLang="zh-CN" sz="2400" b="0"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hlink"/>
              </a:buClr>
              <a:buSzPct val="85000"/>
              <a:buFont typeface="Wingdings" panose="05000000000000000000" pitchFamily="2" charset="2"/>
              <a:buChar char="l"/>
              <a:defRPr/>
            </a:pPr>
            <a:endParaRPr kumimoji="0" lang="en-US" altLang="zh-CN" sz="2400" b="0"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hlink"/>
              </a:buClr>
              <a:buSzPct val="85000"/>
              <a:buFont typeface="Wingdings" panose="05000000000000000000" pitchFamily="2" charset="2"/>
              <a:buChar char="l"/>
              <a:defRPr/>
            </a:pPr>
            <a:r>
              <a:rPr kumimoji="0" lang="zh-CN" altLang="en-US" sz="2400" b="0" i="0" u="none" strike="noStrike" kern="0" cap="none" spc="0" normalizeH="0" baseline="0" noProof="0" dirty="0" smtClean="0">
                <a:ln>
                  <a:noFill/>
                </a:ln>
                <a:solidFill>
                  <a:srgbClr val="FF0000"/>
                </a:solidFill>
                <a:effectLst/>
                <a:uLnTx/>
                <a:uFillTx/>
                <a:latin typeface="+mn-lt"/>
                <a:ea typeface="+mn-ea"/>
              </a:rPr>
              <a:t>各个队列中进程执行时间片 的大小也各不相同</a:t>
            </a:r>
            <a:r>
              <a:rPr kumimoji="0" lang="zh-CN" altLang="en-US" sz="2400" b="0" i="0" u="none" strike="noStrike" kern="0" cap="none" spc="0" normalizeH="0" baseline="0" noProof="0" dirty="0" smtClean="0">
                <a:ln>
                  <a:noFill/>
                </a:ln>
                <a:solidFill>
                  <a:schemeClr val="tx1"/>
                </a:solidFill>
                <a:effectLst/>
                <a:uLnTx/>
                <a:uFillTx/>
                <a:latin typeface="+mn-lt"/>
                <a:ea typeface="+mn-ea"/>
              </a:rPr>
              <a:t>，在优先权愈高的队列中，为每个进程所规定的执行时间片就愈小。例 如，第二个队列的时间片要比第一个队列的时间片长一倍，</a:t>
            </a:r>
            <a:r>
              <a:rPr kumimoji="0" lang="en-US" altLang="zh-CN" sz="2400" b="0" i="0" u="none" strike="noStrike" kern="0" cap="none" spc="0" normalizeH="0" baseline="0" noProof="0" dirty="0" smtClean="0">
                <a:ln>
                  <a:noFill/>
                </a:ln>
                <a:solidFill>
                  <a:schemeClr val="tx1"/>
                </a:solidFill>
                <a:effectLst/>
                <a:uLnTx/>
                <a:uFillTx/>
                <a:latin typeface="+mn-lt"/>
                <a:ea typeface="+mn-ea"/>
              </a:rPr>
              <a:t>……</a:t>
            </a:r>
            <a:r>
              <a:rPr kumimoji="0" lang="zh-CN" altLang="en-US" sz="2400" b="0" i="0" u="none" strike="noStrike" kern="0" cap="none" spc="0" normalizeH="0" baseline="0" noProof="0" dirty="0" smtClean="0">
                <a:ln>
                  <a:noFill/>
                </a:ln>
                <a:solidFill>
                  <a:schemeClr val="tx1"/>
                </a:solidFill>
                <a:effectLst/>
                <a:uLnTx/>
                <a:uFillTx/>
                <a:latin typeface="+mn-lt"/>
                <a:ea typeface="+mn-ea"/>
              </a:rPr>
              <a:t>，第 </a:t>
            </a:r>
            <a:r>
              <a:rPr kumimoji="0" lang="en-US" altLang="zh-CN" sz="2400" b="0" i="0" u="none" strike="noStrike" kern="0" cap="none" spc="0" normalizeH="0" baseline="0" noProof="0" dirty="0" smtClean="0">
                <a:ln>
                  <a:noFill/>
                </a:ln>
                <a:solidFill>
                  <a:schemeClr val="tx1"/>
                </a:solidFill>
                <a:effectLst/>
                <a:uLnTx/>
                <a:uFillTx/>
                <a:latin typeface="+mn-lt"/>
                <a:ea typeface="+mn-ea"/>
              </a:rPr>
              <a:t>i+1 </a:t>
            </a:r>
            <a:r>
              <a:rPr kumimoji="0" lang="zh-CN" altLang="en-US" sz="2400" b="0" i="0" u="none" strike="noStrike" kern="0" cap="none" spc="0" normalizeH="0" baseline="0" noProof="0" dirty="0" smtClean="0">
                <a:ln>
                  <a:noFill/>
                </a:ln>
                <a:solidFill>
                  <a:schemeClr val="tx1"/>
                </a:solidFill>
                <a:effectLst/>
                <a:uLnTx/>
                <a:uFillTx/>
                <a:latin typeface="+mn-lt"/>
                <a:ea typeface="+mn-ea"/>
              </a:rPr>
              <a:t>个队列的时间片要 比第 </a:t>
            </a:r>
            <a:r>
              <a:rPr kumimoji="0" lang="en-US" altLang="zh-CN" sz="2400" b="0" i="0" u="none" strike="noStrike" kern="0" cap="none" spc="0" normalizeH="0" baseline="0" noProof="0" dirty="0" err="1" smtClean="0">
                <a:ln>
                  <a:noFill/>
                </a:ln>
                <a:solidFill>
                  <a:schemeClr val="tx1"/>
                </a:solidFill>
                <a:effectLst/>
                <a:uLnTx/>
                <a:uFillTx/>
                <a:latin typeface="+mn-lt"/>
                <a:ea typeface="+mn-ea"/>
              </a:rPr>
              <a:t>i</a:t>
            </a:r>
            <a:r>
              <a:rPr kumimoji="0" lang="en-US" altLang="zh-CN" sz="2400" b="0" i="0" u="none" strike="noStrike" kern="0" cap="none" spc="0" normalizeH="0" baseline="0" noProof="0" dirty="0" smtClean="0">
                <a:ln>
                  <a:noFill/>
                </a:ln>
                <a:solidFill>
                  <a:schemeClr val="tx1"/>
                </a:solidFill>
                <a:effectLst/>
                <a:uLnTx/>
                <a:uFillTx/>
                <a:latin typeface="+mn-lt"/>
                <a:ea typeface="+mn-ea"/>
              </a:rPr>
              <a:t> </a:t>
            </a:r>
            <a:r>
              <a:rPr kumimoji="0" lang="zh-CN" altLang="en-US" sz="2400" b="0" i="0" u="none" strike="noStrike" kern="0" cap="none" spc="0" normalizeH="0" baseline="0" noProof="0" dirty="0" smtClean="0">
                <a:ln>
                  <a:noFill/>
                </a:ln>
                <a:solidFill>
                  <a:schemeClr val="tx1"/>
                </a:solidFill>
                <a:effectLst/>
                <a:uLnTx/>
                <a:uFillTx/>
                <a:latin typeface="+mn-lt"/>
                <a:ea typeface="+mn-ea"/>
              </a:rPr>
              <a:t>个队列的时间片长一倍。</a:t>
            </a:r>
            <a:endParaRPr kumimoji="0" lang="zh-CN" altLang="en-US" sz="2400" b="0" i="0" u="none" strike="noStrike" kern="0" cap="none" spc="0" normalizeH="0" baseline="0" noProof="0" dirty="0">
              <a:ln>
                <a:noFill/>
              </a:ln>
              <a:solidFill>
                <a:schemeClr val="tx1"/>
              </a:solidFill>
              <a:effectLst/>
              <a:uLnTx/>
              <a:uFillTx/>
              <a:latin typeface="+mn-lt"/>
              <a:ea typeface="+mn-ea"/>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2466" name="内容占位符 3"/>
          <p:cNvPicPr>
            <a:picLocks noGrp="1" noChangeAspect="1"/>
          </p:cNvPicPr>
          <p:nvPr>
            <p:ph idx="1"/>
          </p:nvPr>
        </p:nvPicPr>
        <p:blipFill>
          <a:blip r:embed="rId1"/>
          <a:srcRect/>
          <a:stretch>
            <a:fillRect/>
          </a:stretch>
        </p:blipFill>
        <p:spPr>
          <a:xfrm>
            <a:off x="1619250" y="836613"/>
            <a:ext cx="5924550" cy="4498975"/>
          </a:xfrm>
          <a:ln/>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79388" y="188913"/>
            <a:ext cx="8713788" cy="62642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1" u="none" strike="noStrike" kern="0" cap="none" spc="0" normalizeH="0" baseline="0" noProof="0" dirty="0" smtClean="0">
                <a:ln>
                  <a:noFill/>
                </a:ln>
                <a:solidFill>
                  <a:schemeClr val="tx2">
                    <a:lumMod val="60000"/>
                    <a:lumOff val="40000"/>
                  </a:schemeClr>
                </a:solidFill>
                <a:effectLst/>
                <a:uLnTx/>
                <a:uFillTx/>
                <a:latin typeface="+mn-lt"/>
                <a:ea typeface="+mn-ea"/>
                <a:cs typeface="+mn-cs"/>
              </a:rPr>
              <a:t>（</a:t>
            </a:r>
            <a:r>
              <a:rPr kumimoji="0" lang="en-US" altLang="zh-CN" sz="2800" b="1" i="1" u="none" strike="noStrike" kern="0" cap="none" spc="0" normalizeH="0" baseline="0" noProof="0" dirty="0" smtClean="0">
                <a:ln>
                  <a:noFill/>
                </a:ln>
                <a:solidFill>
                  <a:schemeClr val="tx2">
                    <a:lumMod val="60000"/>
                    <a:lumOff val="40000"/>
                  </a:schemeClr>
                </a:solidFill>
                <a:effectLst/>
                <a:uLnTx/>
                <a:uFillTx/>
                <a:latin typeface="+mn-lt"/>
                <a:ea typeface="+mn-ea"/>
                <a:cs typeface="+mn-cs"/>
              </a:rPr>
              <a:t>2</a:t>
            </a:r>
            <a:r>
              <a:rPr kumimoji="0" lang="zh-CN" altLang="en-US" sz="2800" b="1" i="1" u="none" strike="noStrike" kern="0" cap="none" spc="0" normalizeH="0" baseline="0" noProof="0" dirty="0" smtClean="0">
                <a:ln>
                  <a:noFill/>
                </a:ln>
                <a:solidFill>
                  <a:schemeClr val="tx2">
                    <a:lumMod val="60000"/>
                    <a:lumOff val="40000"/>
                  </a:schemeClr>
                </a:solidFill>
                <a:effectLst/>
                <a:uLnTx/>
                <a:uFillTx/>
                <a:latin typeface="+mn-lt"/>
                <a:ea typeface="+mn-ea"/>
                <a:cs typeface="+mn-cs"/>
              </a:rPr>
              <a:t>）每个队列内都采用</a:t>
            </a:r>
            <a:r>
              <a:rPr kumimoji="0" lang="en-US" altLang="zh-CN" sz="2800" b="1" i="1" u="none" strike="noStrike" kern="0" cap="none" spc="0" normalizeH="0" baseline="0" noProof="0" dirty="0" smtClean="0">
                <a:ln>
                  <a:noFill/>
                </a:ln>
                <a:solidFill>
                  <a:schemeClr val="tx2">
                    <a:lumMod val="60000"/>
                    <a:lumOff val="40000"/>
                  </a:schemeClr>
                </a:solidFill>
                <a:effectLst/>
                <a:uLnTx/>
                <a:uFillTx/>
                <a:latin typeface="+mn-lt"/>
                <a:ea typeface="+mn-ea"/>
                <a:cs typeface="+mn-cs"/>
              </a:rPr>
              <a:t>FCFS</a:t>
            </a:r>
            <a:r>
              <a:rPr kumimoji="0" lang="zh-CN" altLang="en-US" sz="2800" b="1" i="1" u="none" strike="noStrike" kern="0" cap="none" spc="0" normalizeH="0" baseline="0" noProof="0" dirty="0" smtClean="0">
                <a:ln>
                  <a:noFill/>
                </a:ln>
                <a:solidFill>
                  <a:schemeClr val="tx2">
                    <a:lumMod val="60000"/>
                    <a:lumOff val="40000"/>
                  </a:schemeClr>
                </a:solidFill>
                <a:effectLst/>
                <a:uLnTx/>
                <a:uFillTx/>
                <a:latin typeface="+mn-lt"/>
                <a:ea typeface="+mn-ea"/>
                <a:cs typeface="+mn-cs"/>
              </a:rPr>
              <a:t>算法</a:t>
            </a:r>
            <a:endParaRPr kumimoji="0" lang="en-US" altLang="zh-CN" sz="2800" b="1" i="1" u="none" strike="noStrike" kern="0" cap="none" spc="0" normalizeH="0" baseline="0" noProof="0" dirty="0" smtClean="0">
              <a:ln>
                <a:noFill/>
              </a:ln>
              <a:solidFill>
                <a:schemeClr val="tx2">
                  <a:lumMod val="60000"/>
                  <a:lumOff val="40000"/>
                </a:schemeClr>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400" b="1" i="0" u="none" strike="noStrike" kern="0" cap="none" spc="0" normalizeH="0" baseline="0" noProof="0" dirty="0" smtClean="0">
                <a:ln>
                  <a:noFill/>
                </a:ln>
                <a:solidFill>
                  <a:srgbClr val="FF0000"/>
                </a:solidFill>
                <a:effectLst/>
                <a:uLnTx/>
                <a:uFillTx/>
                <a:latin typeface="+mn-lt"/>
                <a:ea typeface="+mn-ea"/>
                <a:cs typeface="+mn-cs"/>
              </a:rPr>
              <a:t>调度步骤：</a:t>
            </a:r>
            <a:endParaRPr kumimoji="0" lang="en-US" altLang="zh-CN" sz="2400" b="1" i="0" u="none" strike="noStrike" kern="0" cap="none" spc="0" normalizeH="0" baseline="0" noProof="0" dirty="0" smtClean="0">
              <a:ln>
                <a:noFill/>
              </a:ln>
              <a:solidFill>
                <a:srgbClr val="FF0000"/>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panose="05000000000000000000" pitchFamily="2" charset="2"/>
              <a:buChar char="Ø"/>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当</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一个新进程进入内存后，首先将它放入第一队列的末尾，按</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FCFS</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原则排队</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等待调度。</a:t>
            </a: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panose="05000000000000000000" pitchFamily="2" charset="2"/>
              <a:buChar char="Ø"/>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当</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轮到该进程执行时，如它能在该时间片内完成，便可准备撤离系统</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panose="05000000000000000000" pitchFamily="2" charset="2"/>
              <a:buChar char="Ø"/>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如果</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它在</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一个</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时间片结束时尚未完成，调度程序便将该进程转入第二队列的末尾，再同样地按</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FCFS</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原则</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等待调度执行</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panose="05000000000000000000" pitchFamily="2" charset="2"/>
              <a:buChar char="Ø"/>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如果</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它在第二队列中运行一个时间片后仍未完成，再依次将它放入</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第三</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队列，</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，如此下去，当一个长作业</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进程</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从第一队列依次降到第</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n</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队列后，在第</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n </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队列中便采取按时间片轮转的方式运行。</a:t>
            </a:r>
            <a:endParaRPr kumimoji="0" lang="zh-CN" altLang="en-US" sz="24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79388" y="692150"/>
            <a:ext cx="8640763" cy="54356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400" b="1" i="1" u="none" strike="noStrike" kern="0" cap="none" spc="0" normalizeH="0" baseline="0" noProof="0" dirty="0" smtClean="0">
                <a:ln>
                  <a:noFill/>
                </a:ln>
                <a:solidFill>
                  <a:schemeClr val="tx2">
                    <a:lumMod val="60000"/>
                    <a:lumOff val="40000"/>
                  </a:schemeClr>
                </a:solidFill>
                <a:effectLst/>
                <a:uLnTx/>
                <a:uFillTx/>
                <a:latin typeface="+mn-lt"/>
                <a:ea typeface="+mn-ea"/>
                <a:cs typeface="+mn-cs"/>
              </a:rPr>
              <a:t>（</a:t>
            </a:r>
            <a:r>
              <a:rPr kumimoji="0" lang="en-US" altLang="zh-CN" sz="2400" b="1" i="1" u="none" strike="noStrike" kern="0" cap="none" spc="0" normalizeH="0" baseline="0" noProof="0" dirty="0" smtClean="0">
                <a:ln>
                  <a:noFill/>
                </a:ln>
                <a:solidFill>
                  <a:schemeClr val="tx2">
                    <a:lumMod val="60000"/>
                    <a:lumOff val="40000"/>
                  </a:schemeClr>
                </a:solidFill>
                <a:effectLst/>
                <a:uLnTx/>
                <a:uFillTx/>
                <a:latin typeface="+mn-lt"/>
                <a:ea typeface="+mn-ea"/>
                <a:cs typeface="+mn-cs"/>
              </a:rPr>
              <a:t>3</a:t>
            </a:r>
            <a:r>
              <a:rPr kumimoji="0" lang="zh-CN" altLang="en-US" sz="2400" b="1" i="1" u="none" strike="noStrike" kern="0" cap="none" spc="0" normalizeH="0" baseline="0" noProof="0" dirty="0" smtClean="0">
                <a:ln>
                  <a:noFill/>
                </a:ln>
                <a:solidFill>
                  <a:schemeClr val="tx2">
                    <a:lumMod val="60000"/>
                    <a:lumOff val="40000"/>
                  </a:schemeClr>
                </a:solidFill>
                <a:effectLst/>
                <a:uLnTx/>
                <a:uFillTx/>
                <a:latin typeface="+mn-lt"/>
                <a:ea typeface="+mn-ea"/>
                <a:cs typeface="+mn-cs"/>
              </a:rPr>
              <a:t>）按队列优先级调度</a:t>
            </a:r>
            <a:endParaRPr kumimoji="0" lang="en-US" altLang="zh-CN" sz="2400" b="1" i="1" u="none" strike="noStrike" kern="0" cap="none" spc="0" normalizeH="0" baseline="0" noProof="0" dirty="0" smtClean="0">
              <a:ln>
                <a:noFill/>
              </a:ln>
              <a:solidFill>
                <a:schemeClr val="tx2">
                  <a:lumMod val="60000"/>
                  <a:lumOff val="40000"/>
                </a:schemeClr>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en-US" altLang="zh-CN" sz="2400" b="1" i="1" u="none" strike="noStrike" kern="0" cap="none" spc="0" normalizeH="0" baseline="0" noProof="0" dirty="0" smtClean="0">
              <a:ln>
                <a:noFill/>
              </a:ln>
              <a:solidFill>
                <a:schemeClr val="tx2">
                  <a:lumMod val="60000"/>
                  <a:lumOff val="40000"/>
                </a:schemeClr>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仅</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当第一队列空闲时，调度程序才调度第二队列中的进程运行</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仅</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当第</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1</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a:t>
            </a:r>
            <a:r>
              <a:rPr kumimoji="0" lang="en-US" altLang="zh-CN" sz="2400" b="0" i="1" u="none" strike="noStrike" kern="0" cap="none" spc="0" normalizeH="0" baseline="0" noProof="0" dirty="0">
                <a:ln>
                  <a:noFill/>
                </a:ln>
                <a:solidFill>
                  <a:schemeClr val="tx1"/>
                </a:solidFill>
                <a:effectLst/>
                <a:uLnTx/>
                <a:uFillTx/>
                <a:latin typeface="+mn-lt"/>
                <a:ea typeface="+mn-ea"/>
                <a:cs typeface="+mn-cs"/>
              </a:rPr>
              <a:t>i</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-1)</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队列</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均空时，才会调度第</a:t>
            </a:r>
            <a:r>
              <a:rPr kumimoji="0" lang="en-US" altLang="zh-CN" sz="2400" b="0" i="1" u="none" strike="noStrike" kern="0" cap="none" spc="0" normalizeH="0" baseline="0" noProof="0" dirty="0" err="1">
                <a:ln>
                  <a:noFill/>
                </a:ln>
                <a:solidFill>
                  <a:schemeClr val="tx1"/>
                </a:solidFill>
                <a:effectLst/>
                <a:uLnTx/>
                <a:uFillTx/>
                <a:latin typeface="+mn-lt"/>
                <a:ea typeface="+mn-ea"/>
                <a:cs typeface="+mn-cs"/>
              </a:rPr>
              <a:t>i</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队列中的进程运行</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如果</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处理机正在第</a:t>
            </a:r>
            <a:r>
              <a:rPr kumimoji="0" lang="en-US" altLang="zh-CN" sz="2400" b="0" i="1" u="none" strike="noStrike" kern="0" cap="none" spc="0" normalizeH="0" baseline="0" noProof="0" dirty="0" err="1">
                <a:ln>
                  <a:noFill/>
                </a:ln>
                <a:solidFill>
                  <a:schemeClr val="tx1"/>
                </a:solidFill>
                <a:effectLst/>
                <a:uLnTx/>
                <a:uFillTx/>
                <a:latin typeface="+mn-lt"/>
                <a:ea typeface="+mn-ea"/>
                <a:cs typeface="+mn-cs"/>
              </a:rPr>
              <a:t>i</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队列中为某进程服务时</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，又</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有新进程进入优先权较高的队列</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第</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1</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a:t>
            </a:r>
            <a:r>
              <a:rPr kumimoji="0" lang="en-US" altLang="zh-CN" sz="2400" b="0" i="1" u="none" strike="noStrike" kern="0" cap="none" spc="0" normalizeH="0" baseline="0" noProof="0" dirty="0">
                <a:ln>
                  <a:noFill/>
                </a:ln>
                <a:solidFill>
                  <a:schemeClr val="tx1"/>
                </a:solidFill>
                <a:effectLst/>
                <a:uLnTx/>
                <a:uFillTx/>
                <a:latin typeface="+mn-lt"/>
                <a:ea typeface="+mn-ea"/>
                <a:cs typeface="+mn-cs"/>
              </a:rPr>
              <a:t>i</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-1)</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中的任何一个队列</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，则此时新进程将</a:t>
            </a:r>
            <a:r>
              <a:rPr kumimoji="0" lang="zh-CN" altLang="en-US" sz="2400" b="1" i="0" u="sng" strike="noStrike" kern="0" cap="none" spc="0" normalizeH="0" baseline="0" noProof="0" dirty="0">
                <a:ln>
                  <a:noFill/>
                </a:ln>
                <a:solidFill>
                  <a:srgbClr val="FF0000"/>
                </a:solidFill>
                <a:effectLst/>
                <a:uLnTx/>
                <a:uFillTx/>
                <a:latin typeface="+mn-lt"/>
                <a:ea typeface="+mn-ea"/>
                <a:cs typeface="+mn-cs"/>
              </a:rPr>
              <a:t>抢占</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正在</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运行进程的处理机，即由调度程序把正在运行的进程放回到第</a:t>
            </a:r>
            <a:r>
              <a:rPr kumimoji="0" lang="en-US" altLang="zh-CN" sz="2400" b="0" i="1" u="none" strike="noStrike" kern="0" cap="none" spc="0" normalizeH="0" baseline="0" noProof="0" dirty="0" err="1">
                <a:ln>
                  <a:noFill/>
                </a:ln>
                <a:solidFill>
                  <a:schemeClr val="tx1"/>
                </a:solidFill>
                <a:effectLst/>
                <a:uLnTx/>
                <a:uFillTx/>
                <a:latin typeface="+mn-lt"/>
                <a:ea typeface="+mn-ea"/>
                <a:cs typeface="+mn-cs"/>
              </a:rPr>
              <a:t>i</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队列的末尾，把处理机</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分配给</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新到的高优先权进程。</a:t>
            </a:r>
            <a:endParaRPr kumimoji="0" lang="zh-CN" altLang="en-US" sz="24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3"/>
          <p:cNvSpPr>
            <a:spLocks noGrp="1" noRot="1"/>
          </p:cNvSpPr>
          <p:nvPr>
            <p:ph type="body" idx="4294967295"/>
          </p:nvPr>
        </p:nvSpPr>
        <p:spPr>
          <a:xfrm>
            <a:off x="463550" y="1908175"/>
            <a:ext cx="8216900" cy="4191000"/>
          </a:xfrm>
          <a:ln/>
        </p:spPr>
        <p:txBody>
          <a:bodyPr vert="horz" wrap="square" lIns="91440" tIns="45720" rIns="91440" bIns="45720" anchor="t" anchorCtr="0"/>
          <a:p>
            <a:pPr marL="0" indent="0" algn="just" eaLnBrk="1" hangingPunct="1">
              <a:buNone/>
            </a:pPr>
            <a:r>
              <a:rPr lang="zh-CN" altLang="en-US" b="1" dirty="0"/>
              <a:t>由于在实时系统中都存在着若干个实时进程或任务，</a:t>
            </a:r>
            <a:endParaRPr lang="zh-CN" altLang="en-US" b="1" dirty="0"/>
          </a:p>
          <a:p>
            <a:pPr marL="767080" lvl="1" algn="just" eaLnBrk="1" hangingPunct="1">
              <a:buFont typeface="Wingdings" panose="05000000000000000000" pitchFamily="2" charset="2"/>
              <a:buChar char="Ø"/>
            </a:pPr>
            <a:r>
              <a:rPr lang="zh-CN" altLang="en-US" b="1" dirty="0"/>
              <a:t>  实时进程通常带有某种程度的</a:t>
            </a:r>
            <a:r>
              <a:rPr lang="zh-CN" altLang="en-US" b="1" dirty="0">
                <a:solidFill>
                  <a:schemeClr val="folHlink"/>
                </a:solidFill>
              </a:rPr>
              <a:t>紧迫性；</a:t>
            </a:r>
            <a:endParaRPr lang="zh-CN" altLang="en-US" b="1" dirty="0">
              <a:solidFill>
                <a:schemeClr val="folHlink"/>
              </a:solidFill>
            </a:endParaRPr>
          </a:p>
          <a:p>
            <a:pPr marL="767080" lvl="1" algn="just" eaLnBrk="1" hangingPunct="1">
              <a:buFont typeface="Wingdings" panose="05000000000000000000" pitchFamily="2" charset="2"/>
              <a:buChar char="Ø"/>
            </a:pPr>
            <a:r>
              <a:rPr lang="zh-CN" altLang="en-US" b="1" dirty="0">
                <a:solidFill>
                  <a:schemeClr val="folHlink"/>
                </a:solidFill>
              </a:rPr>
              <a:t>   </a:t>
            </a:r>
            <a:r>
              <a:rPr lang="zh-CN" altLang="en-US" b="1" dirty="0"/>
              <a:t>需要引入一种新的调度解决实时进程的调度，即实时调度。 </a:t>
            </a:r>
            <a:endParaRPr lang="zh-CN" altLang="en-US" b="1" dirty="0"/>
          </a:p>
        </p:txBody>
      </p:sp>
      <p:sp>
        <p:nvSpPr>
          <p:cNvPr id="65539" name="Text Box 4"/>
          <p:cNvSpPr txBox="1"/>
          <p:nvPr/>
        </p:nvSpPr>
        <p:spPr>
          <a:xfrm>
            <a:off x="533400" y="882650"/>
            <a:ext cx="7239000" cy="641350"/>
          </a:xfrm>
          <a:prstGeom prst="rect">
            <a:avLst/>
          </a:prstGeom>
          <a:noFill/>
          <a:ln w="9525">
            <a:noFill/>
          </a:ln>
        </p:spPr>
        <p:txBody>
          <a:bodyPr>
            <a:spAutoFit/>
          </a:bodyPr>
          <a:p>
            <a:pPr algn="ctr" eaLnBrk="1" hangingPunct="1">
              <a:spcBef>
                <a:spcPct val="50000"/>
              </a:spcBef>
            </a:pPr>
            <a:r>
              <a:rPr lang="en-US" altLang="zh-CN" sz="3600" b="1" dirty="0">
                <a:latin typeface="Arial" panose="020B0604020202020204" pitchFamily="34" charset="0"/>
              </a:rPr>
              <a:t>3.4   </a:t>
            </a:r>
            <a:r>
              <a:rPr lang="zh-CN" altLang="en-US" sz="3600" b="1" dirty="0">
                <a:latin typeface="Arial" panose="020B0604020202020204" pitchFamily="34" charset="0"/>
              </a:rPr>
              <a:t>实时调度</a:t>
            </a:r>
            <a:endParaRPr lang="zh-CN" altLang="en-US" sz="3600" b="1"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2706">
                                            <p:txEl>
                                              <p:charRg st="0" end="24"/>
                                            </p:txEl>
                                          </p:spTgt>
                                        </p:tgtEl>
                                        <p:attrNameLst>
                                          <p:attrName>style.visibility</p:attrName>
                                        </p:attrNameLst>
                                      </p:cBhvr>
                                      <p:to>
                                        <p:strVal val="visible"/>
                                      </p:to>
                                    </p:set>
                                    <p:animEffect transition="in" filter="fade">
                                      <p:cBhvr>
                                        <p:cTn id="7" dur="2000"/>
                                        <p:tgtEl>
                                          <p:spTgt spid="72706">
                                            <p:txEl>
                                              <p:charRg st="0" end="24"/>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2706">
                                            <p:txEl>
                                              <p:charRg st="24" end="44"/>
                                            </p:txEl>
                                          </p:spTgt>
                                        </p:tgtEl>
                                        <p:attrNameLst>
                                          <p:attrName>style.visibility</p:attrName>
                                        </p:attrNameLst>
                                      </p:cBhvr>
                                      <p:to>
                                        <p:strVal val="visible"/>
                                      </p:to>
                                    </p:set>
                                    <p:animEffect transition="in" filter="fade">
                                      <p:cBhvr>
                                        <p:cTn id="10" dur="2000"/>
                                        <p:tgtEl>
                                          <p:spTgt spid="72706">
                                            <p:txEl>
                                              <p:charRg st="24" end="44"/>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2706">
                                            <p:txEl>
                                              <p:charRg st="44" end="75"/>
                                            </p:txEl>
                                          </p:spTgt>
                                        </p:tgtEl>
                                        <p:attrNameLst>
                                          <p:attrName>style.visibility</p:attrName>
                                        </p:attrNameLst>
                                      </p:cBhvr>
                                      <p:to>
                                        <p:strVal val="visible"/>
                                      </p:to>
                                    </p:set>
                                    <p:animEffect transition="in" filter="fade">
                                      <p:cBhvr>
                                        <p:cTn id="13" dur="2000"/>
                                        <p:tgtEl>
                                          <p:spTgt spid="72706">
                                            <p:txEl>
                                              <p:charRg st="44" end="7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22"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1.</a:t>
            </a:r>
            <a:r>
              <a:rPr kumimoji="0" lang="zh-CN" altLang="en-US" sz="40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实时系统与实时任务</a:t>
            </a:r>
            <a:endParaRPr kumimoji="0" lang="zh-CN" altLang="en-US" sz="40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3731" name="Rectangle 3"/>
          <p:cNvSpPr>
            <a:spLocks noGrp="1" noRot="1"/>
          </p:cNvSpPr>
          <p:nvPr>
            <p:ph type="body" idx="4294967295"/>
          </p:nvPr>
        </p:nvSpPr>
        <p:spPr>
          <a:xfrm>
            <a:off x="457200" y="1981200"/>
            <a:ext cx="8382000" cy="3886200"/>
          </a:xfrm>
          <a:ln/>
        </p:spPr>
        <p:txBody>
          <a:bodyPr vert="horz" wrap="square" lIns="91440" tIns="45720" rIns="91440" bIns="45720" anchor="t" anchorCtr="0"/>
          <a:p>
            <a:pPr eaLnBrk="1" hangingPunct="1"/>
            <a:r>
              <a:rPr lang="zh-CN" altLang="en-US" b="1" dirty="0">
                <a:solidFill>
                  <a:schemeClr val="folHlink"/>
                </a:solidFill>
                <a:latin typeface="楷体_GB2312" pitchFamily="49" charset="-122"/>
                <a:ea typeface="楷体_GB2312" pitchFamily="49" charset="-122"/>
              </a:rPr>
              <a:t>实时系统：</a:t>
            </a:r>
            <a:r>
              <a:rPr lang="zh-CN" altLang="en-US" b="1" dirty="0">
                <a:latin typeface="楷体_GB2312" pitchFamily="49" charset="-122"/>
                <a:ea typeface="楷体_GB2312" pitchFamily="49" charset="-122"/>
              </a:rPr>
              <a:t>计算机</a:t>
            </a:r>
            <a:r>
              <a:rPr lang="zh-CN" altLang="en-US" b="1" dirty="0">
                <a:solidFill>
                  <a:schemeClr val="folHlink"/>
                </a:solidFill>
                <a:latin typeface="楷体_GB2312" pitchFamily="49" charset="-122"/>
                <a:ea typeface="楷体_GB2312" pitchFamily="49" charset="-122"/>
              </a:rPr>
              <a:t>及时</a:t>
            </a:r>
            <a:r>
              <a:rPr lang="zh-CN" altLang="en-US" b="1" dirty="0">
                <a:latin typeface="楷体_GB2312" pitchFamily="49" charset="-122"/>
                <a:ea typeface="楷体_GB2312" pitchFamily="49" charset="-122"/>
              </a:rPr>
              <a:t>响应外部事件的请求，在</a:t>
            </a:r>
            <a:r>
              <a:rPr lang="zh-CN" altLang="en-US" b="1" dirty="0">
                <a:solidFill>
                  <a:schemeClr val="folHlink"/>
                </a:solidFill>
                <a:latin typeface="楷体_GB2312" pitchFamily="49" charset="-122"/>
                <a:ea typeface="楷体_GB2312" pitchFamily="49" charset="-122"/>
              </a:rPr>
              <a:t>规定的时间内</a:t>
            </a:r>
            <a:r>
              <a:rPr lang="zh-CN" altLang="en-US" b="1" dirty="0">
                <a:latin typeface="楷体_GB2312" pitchFamily="49" charset="-122"/>
                <a:ea typeface="楷体_GB2312" pitchFamily="49" charset="-122"/>
              </a:rPr>
              <a:t>完成对该事件的处理，并控制所有实时设备和实时任务协调一致的运行。</a:t>
            </a:r>
            <a:endParaRPr lang="zh-CN" altLang="en-US" b="1" dirty="0">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6722"/>
                                        </p:tgtEl>
                                        <p:attrNameLst>
                                          <p:attrName>style.visibility</p:attrName>
                                        </p:attrNameLst>
                                      </p:cBhvr>
                                      <p:to>
                                        <p:strVal val="visible"/>
                                      </p:to>
                                    </p:set>
                                    <p:animEffect transition="in" filter="fade">
                                      <p:cBhvr>
                                        <p:cTn id="7" dur="2000"/>
                                        <p:tgtEl>
                                          <p:spTgt spid="2867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3731">
                                            <p:txEl>
                                              <p:charRg st="0" end="60"/>
                                            </p:txEl>
                                          </p:spTgt>
                                        </p:tgtEl>
                                        <p:attrNameLst>
                                          <p:attrName>style.visibility</p:attrName>
                                        </p:attrNameLst>
                                      </p:cBhvr>
                                      <p:to>
                                        <p:strVal val="visible"/>
                                      </p:to>
                                    </p:set>
                                    <p:animEffect transition="in" filter="fade">
                                      <p:cBhvr>
                                        <p:cTn id="12" dur="2000"/>
                                        <p:tgtEl>
                                          <p:spTgt spid="73731">
                                            <p:txEl>
                                              <p:charRg st="0" end="6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2" grpId="0"/>
      <p:bldP spid="73731"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7746" name="Rectangle 2"/>
          <p:cNvSpPr>
            <a:spLocks noGrp="1" noRot="1" noChangeArrowheads="1"/>
          </p:cNvSpPr>
          <p:nvPr>
            <p:ph type="title" idx="4294967295"/>
          </p:nvPr>
        </p:nvSpPr>
        <p:spPr>
          <a:xfrm>
            <a:off x="301625" y="355600"/>
            <a:ext cx="8067675" cy="9525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2.</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实时调度的目标及必要信息</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6803" name="Rectangle 3"/>
          <p:cNvSpPr>
            <a:spLocks noGrp="1" noRot="1"/>
          </p:cNvSpPr>
          <p:nvPr>
            <p:ph type="body" idx="4294967295"/>
          </p:nvPr>
        </p:nvSpPr>
        <p:spPr>
          <a:xfrm>
            <a:off x="542925" y="1679575"/>
            <a:ext cx="8218488" cy="4267200"/>
          </a:xfrm>
          <a:ln/>
        </p:spPr>
        <p:txBody>
          <a:bodyPr vert="horz" wrap="square" lIns="91440" tIns="45720" rIns="91440" bIns="45720" anchor="t" anchorCtr="0"/>
          <a:p>
            <a:pPr marL="386080" indent="-386080" eaLnBrk="1" hangingPunct="1">
              <a:lnSpc>
                <a:spcPct val="90000"/>
              </a:lnSpc>
            </a:pPr>
            <a:r>
              <a:rPr lang="zh-CN" altLang="en-US" sz="2800" b="1" dirty="0"/>
              <a:t>提供必要的信息 </a:t>
            </a:r>
            <a:endParaRPr lang="zh-CN" altLang="en-US" sz="2800" b="1" dirty="0"/>
          </a:p>
          <a:p>
            <a:pPr marL="386080" indent="-386080" eaLnBrk="1" hangingPunct="1">
              <a:lnSpc>
                <a:spcPct val="90000"/>
              </a:lnSpc>
              <a:buNone/>
            </a:pPr>
            <a:r>
              <a:rPr lang="zh-CN" altLang="en-US" sz="2800" b="1" dirty="0"/>
              <a:t>（</a:t>
            </a:r>
            <a:r>
              <a:rPr lang="en-US" altLang="zh-CN" sz="2800" b="1" dirty="0"/>
              <a:t>1</a:t>
            </a:r>
            <a:r>
              <a:rPr lang="zh-CN" altLang="en-US" sz="2800" b="1" dirty="0"/>
              <a:t>）就绪时间。</a:t>
            </a:r>
            <a:endParaRPr lang="zh-CN" altLang="en-US" sz="2800" b="1" dirty="0"/>
          </a:p>
          <a:p>
            <a:pPr marL="386080" indent="-386080" eaLnBrk="1" hangingPunct="1">
              <a:lnSpc>
                <a:spcPct val="90000"/>
              </a:lnSpc>
              <a:buNone/>
            </a:pPr>
            <a:r>
              <a:rPr lang="zh-CN" altLang="en-US" sz="2800" b="1" dirty="0"/>
              <a:t>（</a:t>
            </a:r>
            <a:r>
              <a:rPr lang="en-US" altLang="zh-CN" sz="2800" b="1" dirty="0"/>
              <a:t>2</a:t>
            </a:r>
            <a:r>
              <a:rPr lang="zh-CN" altLang="en-US" sz="2800" b="1" dirty="0"/>
              <a:t>）开始截止时间和完成截止时间。</a:t>
            </a:r>
            <a:endParaRPr lang="zh-CN" altLang="en-US" sz="2800" b="1" dirty="0"/>
          </a:p>
          <a:p>
            <a:pPr marL="386080" indent="-386080" algn="just" eaLnBrk="1" hangingPunct="1">
              <a:lnSpc>
                <a:spcPct val="90000"/>
              </a:lnSpc>
              <a:buNone/>
            </a:pPr>
            <a:r>
              <a:rPr lang="zh-CN" altLang="en-US" sz="2800" b="1" dirty="0"/>
              <a:t>（</a:t>
            </a:r>
            <a:r>
              <a:rPr lang="en-US" altLang="zh-CN" sz="2800" b="1" dirty="0"/>
              <a:t>3</a:t>
            </a:r>
            <a:r>
              <a:rPr lang="zh-CN" altLang="en-US" sz="2800" b="1" dirty="0"/>
              <a:t>）处理时间。</a:t>
            </a:r>
            <a:endParaRPr lang="zh-CN" altLang="en-US" sz="2800" b="1" dirty="0"/>
          </a:p>
          <a:p>
            <a:pPr marL="386080" indent="-386080" algn="just" eaLnBrk="1" hangingPunct="1">
              <a:lnSpc>
                <a:spcPct val="90000"/>
              </a:lnSpc>
              <a:buNone/>
            </a:pPr>
            <a:r>
              <a:rPr lang="zh-CN" altLang="en-US" sz="2800" b="1" dirty="0"/>
              <a:t>（</a:t>
            </a:r>
            <a:r>
              <a:rPr lang="en-US" altLang="zh-CN" sz="2800" b="1" dirty="0"/>
              <a:t>4</a:t>
            </a:r>
            <a:r>
              <a:rPr lang="zh-CN" altLang="en-US" sz="2800" b="1" dirty="0"/>
              <a:t>）资源要求。</a:t>
            </a:r>
            <a:endParaRPr lang="zh-CN" altLang="en-US" sz="2800" b="1" dirty="0"/>
          </a:p>
          <a:p>
            <a:pPr marL="386080" indent="-386080" algn="just" eaLnBrk="1" hangingPunct="1">
              <a:lnSpc>
                <a:spcPct val="90000"/>
              </a:lnSpc>
              <a:buNone/>
            </a:pPr>
            <a:r>
              <a:rPr lang="zh-CN" altLang="en-US" sz="2800" b="1" dirty="0"/>
              <a:t>（</a:t>
            </a:r>
            <a:r>
              <a:rPr lang="en-US" altLang="zh-CN" sz="2800" b="1" dirty="0"/>
              <a:t>5</a:t>
            </a:r>
            <a:r>
              <a:rPr lang="zh-CN" altLang="en-US" sz="2800" b="1" dirty="0"/>
              <a:t>）优先级。</a:t>
            </a:r>
            <a:endParaRPr lang="zh-CN" altLang="en-US" sz="28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7746"/>
                                        </p:tgtEl>
                                        <p:attrNameLst>
                                          <p:attrName>style.visibility</p:attrName>
                                        </p:attrNameLst>
                                      </p:cBhvr>
                                      <p:to>
                                        <p:strVal val="visible"/>
                                      </p:to>
                                    </p:set>
                                    <p:animEffect transition="in" filter="fade">
                                      <p:cBhvr>
                                        <p:cTn id="7" dur="2000"/>
                                        <p:tgtEl>
                                          <p:spTgt spid="2877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6803">
                                            <p:txEl>
                                              <p:charRg st="0" end="9"/>
                                            </p:txEl>
                                          </p:spTgt>
                                        </p:tgtEl>
                                        <p:attrNameLst>
                                          <p:attrName>style.visibility</p:attrName>
                                        </p:attrNameLst>
                                      </p:cBhvr>
                                      <p:to>
                                        <p:strVal val="visible"/>
                                      </p:to>
                                    </p:set>
                                    <p:animEffect transition="in" filter="fade">
                                      <p:cBhvr>
                                        <p:cTn id="12" dur="2000"/>
                                        <p:tgtEl>
                                          <p:spTgt spid="76803">
                                            <p:txEl>
                                              <p:charRg st="0" end="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6803">
                                            <p:txEl>
                                              <p:charRg st="9" end="18"/>
                                            </p:txEl>
                                          </p:spTgt>
                                        </p:tgtEl>
                                        <p:attrNameLst>
                                          <p:attrName>style.visibility</p:attrName>
                                        </p:attrNameLst>
                                      </p:cBhvr>
                                      <p:to>
                                        <p:strVal val="visible"/>
                                      </p:to>
                                    </p:set>
                                    <p:animEffect transition="in" filter="fade">
                                      <p:cBhvr>
                                        <p:cTn id="17" dur="2000"/>
                                        <p:tgtEl>
                                          <p:spTgt spid="76803">
                                            <p:txEl>
                                              <p:charRg st="9" end="1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6803">
                                            <p:txEl>
                                              <p:charRg st="18" end="36"/>
                                            </p:txEl>
                                          </p:spTgt>
                                        </p:tgtEl>
                                        <p:attrNameLst>
                                          <p:attrName>style.visibility</p:attrName>
                                        </p:attrNameLst>
                                      </p:cBhvr>
                                      <p:to>
                                        <p:strVal val="visible"/>
                                      </p:to>
                                    </p:set>
                                    <p:animEffect transition="in" filter="fade">
                                      <p:cBhvr>
                                        <p:cTn id="22" dur="2000"/>
                                        <p:tgtEl>
                                          <p:spTgt spid="76803">
                                            <p:txEl>
                                              <p:charRg st="18" end="3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6803">
                                            <p:txEl>
                                              <p:charRg st="36" end="45"/>
                                            </p:txEl>
                                          </p:spTgt>
                                        </p:tgtEl>
                                        <p:attrNameLst>
                                          <p:attrName>style.visibility</p:attrName>
                                        </p:attrNameLst>
                                      </p:cBhvr>
                                      <p:to>
                                        <p:strVal val="visible"/>
                                      </p:to>
                                    </p:set>
                                    <p:animEffect transition="in" filter="fade">
                                      <p:cBhvr>
                                        <p:cTn id="27" dur="2000"/>
                                        <p:tgtEl>
                                          <p:spTgt spid="76803">
                                            <p:txEl>
                                              <p:charRg st="36" end="4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6803">
                                            <p:txEl>
                                              <p:charRg st="45" end="54"/>
                                            </p:txEl>
                                          </p:spTgt>
                                        </p:tgtEl>
                                        <p:attrNameLst>
                                          <p:attrName>style.visibility</p:attrName>
                                        </p:attrNameLst>
                                      </p:cBhvr>
                                      <p:to>
                                        <p:strVal val="visible"/>
                                      </p:to>
                                    </p:set>
                                    <p:animEffect transition="in" filter="fade">
                                      <p:cBhvr>
                                        <p:cTn id="32" dur="2000"/>
                                        <p:tgtEl>
                                          <p:spTgt spid="76803">
                                            <p:txEl>
                                              <p:charRg st="45" end="5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6803">
                                            <p:txEl>
                                              <p:charRg st="54" end="62"/>
                                            </p:txEl>
                                          </p:spTgt>
                                        </p:tgtEl>
                                        <p:attrNameLst>
                                          <p:attrName>style.visibility</p:attrName>
                                        </p:attrNameLst>
                                      </p:cBhvr>
                                      <p:to>
                                        <p:strVal val="visible"/>
                                      </p:to>
                                    </p:set>
                                    <p:animEffect transition="in" filter="fade">
                                      <p:cBhvr>
                                        <p:cTn id="37" dur="2000"/>
                                        <p:tgtEl>
                                          <p:spTgt spid="76803">
                                            <p:txEl>
                                              <p:charRg st="54" end="6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6" grpId="0"/>
      <p:bldP spid="7680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8770"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3. </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系统处理能力强</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7827" name="Rectangle 3"/>
          <p:cNvSpPr>
            <a:spLocks noGrp="1" noRot="1"/>
          </p:cNvSpPr>
          <p:nvPr>
            <p:ph type="body" idx="4294967295"/>
          </p:nvPr>
        </p:nvSpPr>
        <p:spPr>
          <a:xfrm>
            <a:off x="301625" y="1341438"/>
            <a:ext cx="8540750" cy="4498975"/>
          </a:xfrm>
          <a:ln/>
        </p:spPr>
        <p:txBody>
          <a:bodyPr vert="horz" wrap="square" lIns="91440" tIns="45720" rIns="91440" bIns="45720" anchor="t" anchorCtr="0"/>
          <a:p>
            <a:pPr algn="just" eaLnBrk="1" hangingPunct="1"/>
            <a:r>
              <a:rPr lang="zh-CN" altLang="en-US" sz="2800" b="1" dirty="0"/>
              <a:t>在实时系统中，通常都有着多个实时任务。若处理机的处理能力不够强，则有可能因处理机忙不过来而使某些实时任务不能得到及时处理，从而导致发生难以预料的后果。</a:t>
            </a:r>
            <a:endParaRPr lang="zh-CN" altLang="en-US" sz="2800" b="1" dirty="0"/>
          </a:p>
          <a:p>
            <a:r>
              <a:rPr lang="zh-CN" altLang="en-US" sz="2800" b="1" dirty="0"/>
              <a:t>假定系统中有</a:t>
            </a:r>
            <a:r>
              <a:rPr lang="en-US" altLang="zh-CN" sz="2800" b="1" i="1" dirty="0"/>
              <a:t>m </a:t>
            </a:r>
            <a:r>
              <a:rPr lang="zh-CN" altLang="en-US" sz="2800" b="1" dirty="0"/>
              <a:t>个周期性的硬实时任务，它们的处理时间可表示为</a:t>
            </a:r>
            <a:r>
              <a:rPr lang="en-US" altLang="zh-CN" sz="2800" b="1" i="1" dirty="0"/>
              <a:t>Ci</a:t>
            </a:r>
            <a:r>
              <a:rPr lang="zh-CN" altLang="en-US" sz="2800" b="1" dirty="0"/>
              <a:t>，周期时间表示为</a:t>
            </a:r>
            <a:r>
              <a:rPr lang="en-US" altLang="zh-CN" sz="2800" b="1" i="1" dirty="0"/>
              <a:t>Pi</a:t>
            </a:r>
            <a:r>
              <a:rPr lang="zh-CN" altLang="en-US" sz="2800" b="1" dirty="0"/>
              <a:t>，则在单处理机情况下，必须满足下面的限制条件：</a:t>
            </a:r>
            <a:endParaRPr lang="zh-CN" altLang="en-US" sz="2800" b="1" dirty="0"/>
          </a:p>
          <a:p>
            <a:pPr eaLnBrk="1" hangingPunct="1"/>
            <a:endParaRPr lang="en-US" altLang="zh-CN" sz="2800" b="1" dirty="0"/>
          </a:p>
        </p:txBody>
      </p:sp>
      <p:pic>
        <p:nvPicPr>
          <p:cNvPr id="68612" name="Picture 5"/>
          <p:cNvPicPr>
            <a:picLocks noChangeAspect="1"/>
          </p:cNvPicPr>
          <p:nvPr/>
        </p:nvPicPr>
        <p:blipFill>
          <a:blip r:embed="rId1"/>
          <a:stretch>
            <a:fillRect/>
          </a:stretch>
        </p:blipFill>
        <p:spPr>
          <a:xfrm>
            <a:off x="3059113" y="4652963"/>
            <a:ext cx="2449512" cy="1360487"/>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8770"/>
                                        </p:tgtEl>
                                        <p:attrNameLst>
                                          <p:attrName>style.visibility</p:attrName>
                                        </p:attrNameLst>
                                      </p:cBhvr>
                                      <p:to>
                                        <p:strVal val="visible"/>
                                      </p:to>
                                    </p:set>
                                    <p:animEffect transition="in" filter="fade">
                                      <p:cBhvr>
                                        <p:cTn id="7" dur="2000"/>
                                        <p:tgtEl>
                                          <p:spTgt spid="2887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7827">
                                            <p:txEl>
                                              <p:charRg st="0" end="76"/>
                                            </p:txEl>
                                          </p:spTgt>
                                        </p:tgtEl>
                                        <p:attrNameLst>
                                          <p:attrName>style.visibility</p:attrName>
                                        </p:attrNameLst>
                                      </p:cBhvr>
                                      <p:to>
                                        <p:strVal val="visible"/>
                                      </p:to>
                                    </p:set>
                                    <p:animEffect transition="in" filter="fade">
                                      <p:cBhvr>
                                        <p:cTn id="12" dur="2000"/>
                                        <p:tgtEl>
                                          <p:spTgt spid="77827">
                                            <p:txEl>
                                              <p:charRg st="0" end="7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7827">
                                            <p:txEl>
                                              <p:charRg st="76" end="142"/>
                                            </p:txEl>
                                          </p:spTgt>
                                        </p:tgtEl>
                                        <p:attrNameLst>
                                          <p:attrName>style.visibility</p:attrName>
                                        </p:attrNameLst>
                                      </p:cBhvr>
                                      <p:to>
                                        <p:strVal val="visible"/>
                                      </p:to>
                                    </p:set>
                                    <p:animEffect transition="in" filter="fade">
                                      <p:cBhvr>
                                        <p:cTn id="17" dur="2000"/>
                                        <p:tgtEl>
                                          <p:spTgt spid="77827">
                                            <p:txEl>
                                              <p:charRg st="76" end="14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70" grpId="0"/>
      <p:bldP spid="77827"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3"/>
          <p:cNvSpPr>
            <a:spLocks noGrp="1" noRot="1"/>
          </p:cNvSpPr>
          <p:nvPr>
            <p:ph idx="1"/>
          </p:nvPr>
        </p:nvSpPr>
        <p:spPr>
          <a:xfrm>
            <a:off x="250825" y="692150"/>
            <a:ext cx="8540750" cy="5616575"/>
          </a:xfrm>
          <a:ln/>
        </p:spPr>
        <p:txBody>
          <a:bodyPr vert="horz" wrap="square" lIns="91440" tIns="45720" rIns="91440" bIns="45720" anchor="t" anchorCtr="0"/>
          <a:p>
            <a:r>
              <a:rPr lang="zh-CN" altLang="en-US" b="1" dirty="0"/>
              <a:t>假如系统中有</a:t>
            </a:r>
            <a:r>
              <a:rPr lang="en-US" altLang="zh-CN" b="1" dirty="0"/>
              <a:t>6</a:t>
            </a:r>
            <a:r>
              <a:rPr lang="zh-CN" altLang="en-US" b="1" dirty="0"/>
              <a:t>个硬实时任务，它们的周期时间都是 </a:t>
            </a:r>
            <a:r>
              <a:rPr lang="en-US" altLang="zh-CN" b="1" dirty="0"/>
              <a:t>50 ms</a:t>
            </a:r>
            <a:r>
              <a:rPr lang="zh-CN" altLang="en-US" b="1" dirty="0"/>
              <a:t>，而每次的处理时间为 </a:t>
            </a:r>
            <a:r>
              <a:rPr lang="en-US" altLang="zh-CN" b="1" dirty="0"/>
              <a:t>10 ms</a:t>
            </a:r>
            <a:r>
              <a:rPr lang="zh-CN" altLang="en-US" b="1" dirty="0"/>
              <a:t>，则不难算出，此时是不能满足上式的，因而系统是不可调度的。</a:t>
            </a:r>
            <a:endParaRPr lang="zh-CN" altLang="en-US" b="1" dirty="0"/>
          </a:p>
          <a:p>
            <a:endParaRPr lang="zh-CN" altLang="en-US" b="1" dirty="0"/>
          </a:p>
          <a:p>
            <a:r>
              <a:rPr lang="zh-CN" altLang="en-US" b="1" dirty="0"/>
              <a:t>解决的方法是提高系统的处理能力，其途径有二：</a:t>
            </a:r>
            <a:endParaRPr lang="zh-CN" altLang="en-US" b="1" dirty="0"/>
          </a:p>
          <a:p>
            <a:pPr lvl="1"/>
            <a:r>
              <a:rPr lang="zh-CN" altLang="en-US" b="1" dirty="0"/>
              <a:t>其一仍是采用单处理机系统，但须增强其处理能力，以显著地</a:t>
            </a:r>
            <a:r>
              <a:rPr lang="zh-CN" altLang="en-US" b="1" dirty="0">
                <a:solidFill>
                  <a:srgbClr val="FF0000"/>
                </a:solidFill>
              </a:rPr>
              <a:t>减少对每一个任务的处理时间</a:t>
            </a:r>
            <a:r>
              <a:rPr lang="zh-CN" altLang="en-US" b="1" dirty="0"/>
              <a:t>；</a:t>
            </a:r>
            <a:endParaRPr lang="zh-CN" altLang="en-US" b="1" dirty="0"/>
          </a:p>
          <a:p>
            <a:pPr lvl="1"/>
            <a:r>
              <a:rPr lang="zh-CN" altLang="en-US" b="1" dirty="0"/>
              <a:t>其二是采用多处理机系统。</a:t>
            </a:r>
            <a:endParaRPr lang="zh-CN" altLang="en-US" b="1" dirty="0"/>
          </a:p>
          <a:p>
            <a:endParaRPr lang="zh-CN" altLang="en-US" b="1" dirty="0"/>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9794"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4</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．采用抢占式调度机制</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8851" name="Rectangle 3"/>
          <p:cNvSpPr>
            <a:spLocks noGrp="1" noRot="1"/>
          </p:cNvSpPr>
          <p:nvPr>
            <p:ph type="body" idx="4294967295"/>
          </p:nvPr>
        </p:nvSpPr>
        <p:spPr>
          <a:xfrm>
            <a:off x="250825" y="1673225"/>
            <a:ext cx="8569325" cy="4498975"/>
          </a:xfrm>
          <a:ln/>
        </p:spPr>
        <p:txBody>
          <a:bodyPr vert="horz" wrap="square" lIns="91440" tIns="45720" rIns="91440" bIns="45720" anchor="t" anchorCtr="0"/>
          <a:p>
            <a:pPr algn="just" eaLnBrk="1" hangingPunct="1">
              <a:lnSpc>
                <a:spcPct val="120000"/>
              </a:lnSpc>
            </a:pPr>
            <a:r>
              <a:rPr lang="zh-CN" altLang="en-US" b="1" dirty="0"/>
              <a:t>在含有硬实时任务的实时系统中，广泛采用</a:t>
            </a:r>
            <a:r>
              <a:rPr lang="zh-CN" altLang="en-US" b="1" dirty="0">
                <a:solidFill>
                  <a:schemeClr val="folHlink"/>
                </a:solidFill>
              </a:rPr>
              <a:t>抢占机制</a:t>
            </a:r>
            <a:r>
              <a:rPr lang="zh-CN" altLang="en-US" b="1" dirty="0"/>
              <a:t>。当一个优先权更高的任务到达时，允许暂停当前任务，而令高优先权任务立即投入运行，这样便可满足该硬实时任务对截止时间的要求。 </a:t>
            </a:r>
            <a:endParaRPr lang="zh-CN" altLang="en-US" b="1" dirty="0"/>
          </a:p>
          <a:p>
            <a:pPr eaLnBrk="1" hangingPunct="1">
              <a:lnSpc>
                <a:spcPct val="120000"/>
              </a:lnSpc>
            </a:pPr>
            <a:endParaRPr lang="en-US" altLang="zh-CN"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9794"/>
                                        </p:tgtEl>
                                        <p:attrNameLst>
                                          <p:attrName>style.visibility</p:attrName>
                                        </p:attrNameLst>
                                      </p:cBhvr>
                                      <p:to>
                                        <p:strVal val="visible"/>
                                      </p:to>
                                    </p:set>
                                    <p:animEffect transition="in" filter="fade">
                                      <p:cBhvr>
                                        <p:cTn id="7" dur="2000"/>
                                        <p:tgtEl>
                                          <p:spTgt spid="2897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8851">
                                            <p:txEl>
                                              <p:charRg st="0" end="86"/>
                                            </p:txEl>
                                          </p:spTgt>
                                        </p:tgtEl>
                                        <p:attrNameLst>
                                          <p:attrName>style.visibility</p:attrName>
                                        </p:attrNameLst>
                                      </p:cBhvr>
                                      <p:to>
                                        <p:strVal val="visible"/>
                                      </p:to>
                                    </p:set>
                                    <p:animEffect transition="in" filter="fade">
                                      <p:cBhvr>
                                        <p:cTn id="12" dur="2000"/>
                                        <p:tgtEl>
                                          <p:spTgt spid="78851">
                                            <p:txEl>
                                              <p:charRg st="0" end="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4" grpId="0"/>
      <p:bldP spid="78851"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4356" name="Text Box 4"/>
          <p:cNvSpPr txBox="1">
            <a:spLocks noChangeArrowheads="1"/>
          </p:cNvSpPr>
          <p:nvPr/>
        </p:nvSpPr>
        <p:spPr bwMode="auto">
          <a:xfrm>
            <a:off x="1295400" y="476250"/>
            <a:ext cx="5791200" cy="457200"/>
          </a:xfrm>
          <a:prstGeom prst="rect">
            <a:avLst/>
          </a:prstGeom>
          <a:noFill/>
          <a:ln w="9525" algn="ctr">
            <a:noFill/>
            <a:miter lim="800000"/>
          </a:ln>
          <a:effectLst/>
        </p:spPr>
        <p:txBody>
          <a:bodyPr anchor="ctr"/>
          <a:lstStyle/>
          <a:p>
            <a:pPr marR="0" algn="ctr" defTabSz="914400" eaLnBrk="1" hangingPunct="1">
              <a:buClrTx/>
              <a:buSzTx/>
              <a:buFontTx/>
              <a:buNone/>
              <a:defRPr/>
            </a:pPr>
            <a:r>
              <a:rPr kumimoji="0" lang="en-US" altLang="zh-CN" sz="4000" b="1" kern="1200" cap="none" spc="0" normalizeH="0" baseline="0" noProof="0" dirty="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5. </a:t>
            </a:r>
            <a:r>
              <a:rPr kumimoji="0" lang="zh-CN" altLang="en-US" sz="4000" b="1" kern="1200" cap="none" spc="0" normalizeH="0" baseline="0" noProof="0" dirty="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具有快速切换机制 </a:t>
            </a:r>
            <a:endParaRPr kumimoji="0" lang="zh-CN" altLang="en-US" sz="4000" b="1" kern="1200" cap="none" spc="0" normalizeH="0" baseline="0" noProof="0" dirty="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71683" name="Text Box 5"/>
          <p:cNvSpPr txBox="1"/>
          <p:nvPr/>
        </p:nvSpPr>
        <p:spPr>
          <a:xfrm>
            <a:off x="323850" y="1341438"/>
            <a:ext cx="8496300" cy="4037012"/>
          </a:xfrm>
          <a:prstGeom prst="rect">
            <a:avLst/>
          </a:prstGeom>
          <a:noFill/>
          <a:ln w="9525">
            <a:noFill/>
          </a:ln>
        </p:spPr>
        <p:txBody>
          <a:bodyPr>
            <a:spAutoFit/>
          </a:bodyPr>
          <a:p>
            <a:pPr algn="just" eaLnBrk="1" hangingPunct="1">
              <a:lnSpc>
                <a:spcPct val="120000"/>
              </a:lnSpc>
              <a:spcBef>
                <a:spcPct val="50000"/>
              </a:spcBef>
            </a:pPr>
            <a:r>
              <a:rPr lang="zh-CN" altLang="en-US" sz="2800" b="1" dirty="0">
                <a:latin typeface="Times New Roman" panose="02020603050405020304" pitchFamily="18" charset="0"/>
              </a:rPr>
              <a:t>该机制应具有如下两方面的能力：</a:t>
            </a:r>
            <a:endParaRPr lang="zh-CN" altLang="en-US" sz="2800" b="1" dirty="0">
              <a:latin typeface="Times New Roman" panose="02020603050405020304" pitchFamily="18" charset="0"/>
            </a:endParaRPr>
          </a:p>
          <a:p>
            <a:pPr algn="just" eaLnBrk="1" hangingPunct="1">
              <a:lnSpc>
                <a:spcPct val="120000"/>
              </a:lnSpc>
              <a:spcBef>
                <a:spcPct val="50000"/>
              </a:spcBef>
            </a:pPr>
            <a:r>
              <a:rPr lang="zh-CN" altLang="en-US" sz="2400" b="1" dirty="0">
                <a:solidFill>
                  <a:schemeClr val="folHlink"/>
                </a:solidFill>
                <a:latin typeface="Times New Roman" panose="02020603050405020304" pitchFamily="18" charset="0"/>
              </a:rPr>
              <a:t> </a:t>
            </a:r>
            <a:r>
              <a:rPr lang="en-US" altLang="zh-CN" sz="2400" b="1" dirty="0">
                <a:solidFill>
                  <a:schemeClr val="folHlink"/>
                </a:solidFill>
                <a:latin typeface="Times New Roman" panose="02020603050405020304" pitchFamily="18" charset="0"/>
              </a:rPr>
              <a:t>(1) </a:t>
            </a:r>
            <a:r>
              <a:rPr lang="zh-CN" altLang="en-US" sz="2400" b="1" dirty="0">
                <a:solidFill>
                  <a:schemeClr val="folHlink"/>
                </a:solidFill>
                <a:latin typeface="Times New Roman" panose="02020603050405020304" pitchFamily="18" charset="0"/>
              </a:rPr>
              <a:t>对外部中断的快速响应能力。</a:t>
            </a:r>
            <a:r>
              <a:rPr lang="zh-CN" altLang="en-US" sz="2400" b="1" dirty="0">
                <a:latin typeface="Times New Roman" panose="02020603050405020304" pitchFamily="18" charset="0"/>
              </a:rPr>
              <a:t>为使在紧迫的外部事件请求中断时系统能及时响应，要求系统具有快速硬件中断机构，还应使禁止中断的时间间隔尽量短， 以免耽误时机</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其它紧迫任务</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algn="just" eaLnBrk="1" hangingPunct="1">
              <a:lnSpc>
                <a:spcPct val="120000"/>
              </a:lnSpc>
              <a:spcBef>
                <a:spcPct val="50000"/>
              </a:spcBef>
            </a:pPr>
            <a:r>
              <a:rPr lang="zh-CN" altLang="en-US" sz="2400" b="1" dirty="0">
                <a:solidFill>
                  <a:schemeClr val="folHlink"/>
                </a:solidFill>
                <a:latin typeface="Times New Roman" panose="02020603050405020304" pitchFamily="18" charset="0"/>
              </a:rPr>
              <a:t> </a:t>
            </a:r>
            <a:r>
              <a:rPr lang="en-US" altLang="zh-CN" sz="2400" b="1" dirty="0">
                <a:solidFill>
                  <a:schemeClr val="folHlink"/>
                </a:solidFill>
                <a:latin typeface="Times New Roman" panose="02020603050405020304" pitchFamily="18" charset="0"/>
              </a:rPr>
              <a:t>(2) </a:t>
            </a:r>
            <a:r>
              <a:rPr lang="zh-CN" altLang="en-US" sz="2400" b="1" dirty="0">
                <a:solidFill>
                  <a:schemeClr val="folHlink"/>
                </a:solidFill>
                <a:latin typeface="Times New Roman" panose="02020603050405020304" pitchFamily="18" charset="0"/>
              </a:rPr>
              <a:t>快速的任务分派能力。</a:t>
            </a:r>
            <a:r>
              <a:rPr lang="zh-CN" altLang="en-US" sz="2400" b="1" dirty="0">
                <a:latin typeface="Times New Roman" panose="02020603050405020304" pitchFamily="18" charset="0"/>
              </a:rPr>
              <a:t>在完成任务调度后，便应进行任务切换。为了提高任务切换的速度， 应使系统中的每个运行功能单位适当的小，以减少任务切换的时间开销。 </a:t>
            </a:r>
            <a:endParaRPr lang="zh-CN" altLang="en-US" sz="2400" b="1" dirty="0">
              <a:latin typeface="Times New Roman" panose="02020603050405020304" pitchFamily="18" charset="0"/>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1842"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 </a:t>
            </a:r>
            <a:r>
              <a:rPr kumimoji="0" lang="en-US" altLang="zh-CN" sz="40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6.</a:t>
            </a:r>
            <a:r>
              <a:rPr kumimoji="0" lang="zh-CN" altLang="en-US" sz="40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最早截止时间优先算法</a:t>
            </a:r>
            <a:r>
              <a:rPr kumimoji="0" lang="en-US" altLang="zh-CN" sz="40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(EDF)</a:t>
            </a:r>
            <a:endParaRPr kumimoji="0" lang="zh-CN" altLang="en-US" sz="40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291843" name="Rectangle 3"/>
          <p:cNvSpPr>
            <a:spLocks noGrp="1" noRot="1" noChangeArrowheads="1"/>
          </p:cNvSpPr>
          <p:nvPr>
            <p:ph type="body" idx="1"/>
          </p:nvPr>
        </p:nvSpPr>
        <p:spPr>
          <a:xfrm>
            <a:off x="373063" y="1412875"/>
            <a:ext cx="8485188" cy="4945063"/>
          </a:xfrm>
        </p:spPr>
        <p:txBody>
          <a:bodyPr vert="horz" wrap="square" lIns="91440" tIns="45720" rIns="91440" bIns="45720" numCol="1" anchor="t" anchorCtr="0" compatLnSpc="1"/>
          <a:lstStyle/>
          <a:p>
            <a:pPr marL="0" marR="0" lvl="0" indent="0" algn="just"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mn-ea"/>
                <a:cs typeface="+mn-cs"/>
              </a:rPr>
              <a:t>最早截止时间优先算法</a:t>
            </a:r>
            <a:r>
              <a:rPr kumimoji="0" lang="en-US" altLang="zh-CN" sz="28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mn-ea"/>
                <a:cs typeface="+mn-cs"/>
              </a:rPr>
              <a:t>(EDF)</a:t>
            </a:r>
            <a:endParaRPr kumimoji="0" lang="en-US" altLang="zh-CN" sz="28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该算法是根据任务的</a:t>
            </a:r>
            <a:r>
              <a:rPr kumimoji="0" lang="zh-CN" altLang="en-US" sz="2800" b="1" i="1" u="sng" strike="noStrike" kern="0" cap="none" spc="0" normalizeH="0" baseline="0" noProof="0" dirty="0" smtClean="0">
                <a:ln>
                  <a:noFill/>
                </a:ln>
                <a:solidFill>
                  <a:schemeClr val="hlink"/>
                </a:solidFill>
                <a:effectLst/>
                <a:uLnTx/>
                <a:uFillTx/>
                <a:latin typeface="+mn-lt"/>
                <a:ea typeface="+mn-ea"/>
                <a:cs typeface="+mn-cs"/>
              </a:rPr>
              <a:t>开始截止时间（或者结束截至时间）</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来确定任务的优先级。截止时间愈早，其优先级愈高。</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要求在系统中保持一个实时任务就绪队列，该队列按各任务截止时间的早晚排序；</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folHlink"/>
                </a:solidFill>
                <a:effectLst/>
                <a:uLnTx/>
                <a:uFillTx/>
                <a:latin typeface="+mn-lt"/>
                <a:ea typeface="+mn-ea"/>
                <a:cs typeface="+mn-cs"/>
              </a:rPr>
              <a:t>具有最早截止时间的任务排在队列的最前面</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。调度程序总是选择就绪队列中的第一个任务，为之分配处理机，使之投入运行。 </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None/>
              <a:defRPr/>
            </a:pP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91842"/>
                                        </p:tgtEl>
                                        <p:attrNameLst>
                                          <p:attrName>style.visibility</p:attrName>
                                        </p:attrNameLst>
                                      </p:cBhvr>
                                      <p:to>
                                        <p:strVal val="visible"/>
                                      </p:to>
                                    </p:set>
                                    <p:animEffect transition="in" filter="fade">
                                      <p:cBhvr>
                                        <p:cTn id="7" dur="2000"/>
                                        <p:tgtEl>
                                          <p:spTgt spid="2918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1843">
                                            <p:txEl>
                                              <p:charRg st="0" end="16"/>
                                            </p:txEl>
                                          </p:spTgt>
                                        </p:tgtEl>
                                        <p:attrNameLst>
                                          <p:attrName>style.visibility</p:attrName>
                                        </p:attrNameLst>
                                      </p:cBhvr>
                                      <p:to>
                                        <p:strVal val="visible"/>
                                      </p:to>
                                    </p:set>
                                    <p:animEffect transition="in" filter="fade">
                                      <p:cBhvr>
                                        <p:cTn id="12" dur="2000"/>
                                        <p:tgtEl>
                                          <p:spTgt spid="291843">
                                            <p:txEl>
                                              <p:charRg st="0" end="1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1843">
                                            <p:txEl>
                                              <p:charRg st="16" end="66"/>
                                            </p:txEl>
                                          </p:spTgt>
                                        </p:tgtEl>
                                        <p:attrNameLst>
                                          <p:attrName>style.visibility</p:attrName>
                                        </p:attrNameLst>
                                      </p:cBhvr>
                                      <p:to>
                                        <p:strVal val="visible"/>
                                      </p:to>
                                    </p:set>
                                    <p:animEffect transition="in" filter="fade">
                                      <p:cBhvr>
                                        <p:cTn id="17" dur="2000"/>
                                        <p:tgtEl>
                                          <p:spTgt spid="291843">
                                            <p:txEl>
                                              <p:charRg st="16" end="6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1843">
                                            <p:txEl>
                                              <p:charRg st="66" end="103"/>
                                            </p:txEl>
                                          </p:spTgt>
                                        </p:tgtEl>
                                        <p:attrNameLst>
                                          <p:attrName>style.visibility</p:attrName>
                                        </p:attrNameLst>
                                      </p:cBhvr>
                                      <p:to>
                                        <p:strVal val="visible"/>
                                      </p:to>
                                    </p:set>
                                    <p:animEffect transition="in" filter="fade">
                                      <p:cBhvr>
                                        <p:cTn id="22" dur="2000"/>
                                        <p:tgtEl>
                                          <p:spTgt spid="291843">
                                            <p:txEl>
                                              <p:charRg st="66" end="10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91843">
                                            <p:txEl>
                                              <p:charRg st="103" end="160"/>
                                            </p:txEl>
                                          </p:spTgt>
                                        </p:tgtEl>
                                        <p:attrNameLst>
                                          <p:attrName>style.visibility</p:attrName>
                                        </p:attrNameLst>
                                      </p:cBhvr>
                                      <p:to>
                                        <p:strVal val="visible"/>
                                      </p:to>
                                    </p:set>
                                    <p:animEffect transition="in" filter="fade">
                                      <p:cBhvr>
                                        <p:cTn id="27" dur="2000"/>
                                        <p:tgtEl>
                                          <p:spTgt spid="291843">
                                            <p:txEl>
                                              <p:charRg st="103" end="16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2" grpId="0"/>
      <p:bldP spid="29184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3730" name="Picture 5"/>
          <p:cNvPicPr>
            <a:picLocks noChangeAspect="1"/>
          </p:cNvPicPr>
          <p:nvPr/>
        </p:nvPicPr>
        <p:blipFill>
          <a:blip r:embed="rId1"/>
          <a:stretch>
            <a:fillRect/>
          </a:stretch>
        </p:blipFill>
        <p:spPr>
          <a:xfrm>
            <a:off x="228600" y="1600200"/>
            <a:ext cx="8763000" cy="4071938"/>
          </a:xfrm>
          <a:prstGeom prst="rect">
            <a:avLst/>
          </a:prstGeom>
          <a:noFill/>
          <a:ln w="9525">
            <a:noFill/>
          </a:ln>
        </p:spPr>
      </p:pic>
      <p:sp>
        <p:nvSpPr>
          <p:cNvPr id="73731" name="Text Box 7"/>
          <p:cNvSpPr txBox="1"/>
          <p:nvPr/>
        </p:nvSpPr>
        <p:spPr>
          <a:xfrm>
            <a:off x="457200" y="822325"/>
            <a:ext cx="3886200" cy="701675"/>
          </a:xfrm>
          <a:prstGeom prst="rect">
            <a:avLst/>
          </a:prstGeom>
          <a:noFill/>
          <a:ln w="9525">
            <a:noFill/>
          </a:ln>
        </p:spPr>
        <p:txBody>
          <a:bodyPr>
            <a:spAutoFit/>
          </a:bodyPr>
          <a:p>
            <a:pPr eaLnBrk="1" hangingPunct="1">
              <a:spcBef>
                <a:spcPct val="50000"/>
              </a:spcBef>
            </a:pPr>
            <a:r>
              <a:rPr lang="zh-CN" altLang="en-US" sz="4000" dirty="0">
                <a:latin typeface="Arial" panose="020B0604020202020204" pitchFamily="34" charset="0"/>
              </a:rPr>
              <a:t>任务调度</a:t>
            </a:r>
            <a:endParaRPr lang="zh-CN" altLang="en-US" sz="4000" dirty="0">
              <a:latin typeface="Arial" panose="020B0604020202020204" pitchFamily="34" charset="0"/>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4754" name="Picture 4"/>
          <p:cNvPicPr>
            <a:picLocks noChangeAspect="1"/>
          </p:cNvPicPr>
          <p:nvPr/>
        </p:nvPicPr>
        <p:blipFill>
          <a:blip r:embed="rId1"/>
          <a:stretch>
            <a:fillRect/>
          </a:stretch>
        </p:blipFill>
        <p:spPr>
          <a:xfrm>
            <a:off x="609600" y="161925"/>
            <a:ext cx="7848600" cy="6162675"/>
          </a:xfrm>
          <a:prstGeom prst="rect">
            <a:avLst/>
          </a:prstGeom>
          <a:noFill/>
          <a:ln w="9525">
            <a:noFill/>
          </a:ln>
        </p:spPr>
      </p:pic>
      <p:sp>
        <p:nvSpPr>
          <p:cNvPr id="74755" name="Text Box 5"/>
          <p:cNvSpPr txBox="1"/>
          <p:nvPr/>
        </p:nvSpPr>
        <p:spPr>
          <a:xfrm>
            <a:off x="762000" y="457200"/>
            <a:ext cx="1981200" cy="579438"/>
          </a:xfrm>
          <a:prstGeom prst="rect">
            <a:avLst/>
          </a:prstGeom>
          <a:noFill/>
          <a:ln w="9525">
            <a:noFill/>
          </a:ln>
        </p:spPr>
        <p:txBody>
          <a:bodyPr>
            <a:spAutoFit/>
          </a:bodyPr>
          <a:p>
            <a:pPr eaLnBrk="1" hangingPunct="1">
              <a:spcBef>
                <a:spcPct val="50000"/>
              </a:spcBef>
            </a:pPr>
            <a:r>
              <a:rPr lang="en-US" altLang="zh-CN" sz="3200" dirty="0">
                <a:latin typeface="Arial" panose="020B0604020202020204" pitchFamily="34" charset="0"/>
              </a:rPr>
              <a:t>EDF</a:t>
            </a:r>
            <a:r>
              <a:rPr lang="zh-CN" altLang="en-US" sz="3200" dirty="0">
                <a:latin typeface="Arial" panose="020B0604020202020204" pitchFamily="34" charset="0"/>
              </a:rPr>
              <a:t>调度</a:t>
            </a:r>
            <a:endParaRPr lang="zh-CN" altLang="en-US" sz="3200" dirty="0">
              <a:latin typeface="Arial" panose="020B0604020202020204" pitchFamily="34" charset="0"/>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Rot="1" noChangeArrowheads="1"/>
          </p:cNvSpPr>
          <p:nvPr>
            <p:ph type="title"/>
          </p:nvPr>
        </p:nvSpPr>
        <p:spPr/>
        <p:txBody>
          <a:bodyPr/>
          <a:lstStyle/>
          <a:p>
            <a:pPr eaLnBrk="1" hangingPunct="1">
              <a:defRPr/>
            </a:pPr>
            <a:r>
              <a:rPr lang="en-US" altLang="zh-CN" dirty="0">
                <a:solidFill>
                  <a:schemeClr val="tx1"/>
                </a:solidFill>
              </a:rPr>
              <a:t>7</a:t>
            </a:r>
            <a:r>
              <a:rPr lang="zh-CN" altLang="en-US" dirty="0">
                <a:solidFill>
                  <a:schemeClr val="tx1"/>
                </a:solidFill>
              </a:rPr>
              <a:t>．最低松弛度优先算法</a:t>
            </a:r>
            <a:r>
              <a:rPr lang="en-US" altLang="zh-CN" dirty="0">
                <a:solidFill>
                  <a:schemeClr val="tx1"/>
                </a:solidFill>
              </a:rPr>
              <a:t>(LLF)</a:t>
            </a:r>
            <a:endParaRPr lang="en-US" altLang="zh-CN" dirty="0">
              <a:solidFill>
                <a:schemeClr val="tx1"/>
              </a:solidFill>
            </a:endParaRPr>
          </a:p>
        </p:txBody>
      </p:sp>
      <p:sp>
        <p:nvSpPr>
          <p:cNvPr id="71683" name="Rectangle 3"/>
          <p:cNvSpPr>
            <a:spLocks noGrp="1" noRot="1" noChangeArrowheads="1"/>
          </p:cNvSpPr>
          <p:nvPr>
            <p:ph idx="1"/>
          </p:nvPr>
        </p:nvSpPr>
        <p:spPr>
          <a:xfrm>
            <a:off x="581927" y="1460015"/>
            <a:ext cx="7810052" cy="3671888"/>
          </a:xfrm>
        </p:spPr>
        <p:txBody>
          <a:bodyPr/>
          <a:lstStyle/>
          <a:p>
            <a:pPr algn="just"/>
            <a:r>
              <a:rPr lang="zh-CN" altLang="en-US" sz="2800" dirty="0">
                <a:solidFill>
                  <a:srgbClr val="3609F7"/>
                </a:solidFill>
              </a:rPr>
              <a:t>松弛度</a:t>
            </a:r>
            <a:r>
              <a:rPr lang="en-US" altLang="zh-CN" sz="2800" dirty="0">
                <a:solidFill>
                  <a:srgbClr val="3609F7"/>
                </a:solidFill>
              </a:rPr>
              <a:t>=</a:t>
            </a:r>
            <a:r>
              <a:rPr lang="zh-CN" altLang="en-US" sz="2800" dirty="0">
                <a:solidFill>
                  <a:srgbClr val="3609F7"/>
                </a:solidFill>
              </a:rPr>
              <a:t>完成截至时间</a:t>
            </a:r>
            <a:r>
              <a:rPr lang="en-US" altLang="zh-CN" sz="2800" dirty="0">
                <a:solidFill>
                  <a:srgbClr val="3609F7"/>
                </a:solidFill>
                <a:latin typeface="Courier New" panose="02070309020205020404" pitchFamily="49" charset="0"/>
              </a:rPr>
              <a:t>–</a:t>
            </a:r>
            <a:r>
              <a:rPr lang="zh-CN" altLang="en-US" sz="2800" dirty="0">
                <a:solidFill>
                  <a:srgbClr val="3609F7"/>
                </a:solidFill>
              </a:rPr>
              <a:t>剩余运行时间</a:t>
            </a:r>
            <a:r>
              <a:rPr lang="en-US" altLang="zh-CN" sz="2800" dirty="0">
                <a:solidFill>
                  <a:srgbClr val="3609F7"/>
                </a:solidFill>
                <a:latin typeface="Courier New" panose="02070309020205020404" pitchFamily="49" charset="0"/>
              </a:rPr>
              <a:t>–</a:t>
            </a:r>
            <a:r>
              <a:rPr lang="zh-CN" altLang="en-US" sz="2800" dirty="0">
                <a:solidFill>
                  <a:srgbClr val="3609F7"/>
                </a:solidFill>
              </a:rPr>
              <a:t>当前时间 </a:t>
            </a:r>
            <a:endParaRPr lang="zh-CN" altLang="en-US" sz="2800" dirty="0">
              <a:solidFill>
                <a:srgbClr val="3609F7"/>
              </a:solidFill>
            </a:endParaRPr>
          </a:p>
          <a:p>
            <a:pPr algn="just"/>
            <a:r>
              <a:rPr lang="zh-CN" altLang="en-US" sz="2800" dirty="0"/>
              <a:t>该算法按松弛度排序实时任务的就绪队列，</a:t>
            </a:r>
            <a:r>
              <a:rPr lang="zh-CN" altLang="en-US" sz="2800" dirty="0">
                <a:solidFill>
                  <a:srgbClr val="3609F7"/>
                </a:solidFill>
              </a:rPr>
              <a:t>松弛度值最小的任务排在队列最前面</a:t>
            </a:r>
            <a:r>
              <a:rPr lang="zh-CN" altLang="en-US" sz="2800" dirty="0"/>
              <a:t>，调度程序总是选择就绪队列中的队首任务执行。</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4"/>
          <p:cNvGraphicFramePr>
            <a:graphicFrameLocks noChangeAspect="1"/>
          </p:cNvGraphicFramePr>
          <p:nvPr/>
        </p:nvGraphicFramePr>
        <p:xfrm>
          <a:off x="990345" y="3167321"/>
          <a:ext cx="6878087" cy="2470769"/>
        </p:xfrm>
        <a:graphic>
          <a:graphicData uri="http://schemas.openxmlformats.org/presentationml/2006/ole">
            <mc:AlternateContent xmlns:mc="http://schemas.openxmlformats.org/markup-compatibility/2006">
              <mc:Choice xmlns:v="urn:schemas-microsoft-com:vml" Requires="v">
                <p:oleObj spid="_x0000_s2102" name="" r:id="rId1" imgW="4294505" imgH="2618105" progId="WangImage.Document">
                  <p:embed/>
                </p:oleObj>
              </mc:Choice>
              <mc:Fallback>
                <p:oleObj name="" r:id="rId1" imgW="4294505" imgH="2618105" progId="WangImage.Document">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345" y="3167321"/>
                        <a:ext cx="6878087" cy="2470769"/>
                      </a:xfrm>
                      <a:prstGeom prst="rect">
                        <a:avLst/>
                      </a:prstGeom>
                      <a:noFill/>
                      <a:ln>
                        <a:noFill/>
                      </a:ln>
                    </p:spPr>
                  </p:pic>
                </p:oleObj>
              </mc:Fallback>
            </mc:AlternateContent>
          </a:graphicData>
        </a:graphic>
      </p:graphicFrame>
      <p:sp>
        <p:nvSpPr>
          <p:cNvPr id="419845" name="Rectangle 5"/>
          <p:cNvSpPr>
            <a:spLocks noGrp="1" noRot="1" noChangeArrowheads="1"/>
          </p:cNvSpPr>
          <p:nvPr>
            <p:ph type="title"/>
          </p:nvPr>
        </p:nvSpPr>
        <p:spPr/>
        <p:txBody>
          <a:bodyPr/>
          <a:lstStyle/>
          <a:p>
            <a:pPr eaLnBrk="1" hangingPunct="1">
              <a:defRPr/>
            </a:pPr>
            <a:r>
              <a:rPr lang="en-US" altLang="zh-CN" dirty="0"/>
              <a:t>A/B</a:t>
            </a:r>
            <a:r>
              <a:rPr lang="zh-CN" altLang="en-US" dirty="0"/>
              <a:t>任务完成时间图</a:t>
            </a:r>
            <a:endParaRPr lang="zh-CN" altLang="en-US" dirty="0"/>
          </a:p>
        </p:txBody>
      </p:sp>
      <p:sp>
        <p:nvSpPr>
          <p:cNvPr id="4100" name="内容占位符 4"/>
          <p:cNvSpPr>
            <a:spLocks noGrp="1"/>
          </p:cNvSpPr>
          <p:nvPr>
            <p:ph idx="1"/>
          </p:nvPr>
        </p:nvSpPr>
        <p:spPr>
          <a:xfrm>
            <a:off x="556637" y="1282077"/>
            <a:ext cx="7745505" cy="3120629"/>
          </a:xfrm>
        </p:spPr>
        <p:txBody>
          <a:bodyPr/>
          <a:lstStyle/>
          <a:p>
            <a:r>
              <a:rPr lang="zh-CN" altLang="en-US" sz="2800" dirty="0"/>
              <a:t>假如在一个实时系统中，有两个周期性实时任务</a:t>
            </a:r>
            <a:r>
              <a:rPr lang="en-US" altLang="zh-CN" sz="2800" dirty="0"/>
              <a:t>A</a:t>
            </a:r>
            <a:r>
              <a:rPr lang="zh-CN" altLang="en-US" sz="2800" dirty="0"/>
              <a:t>和</a:t>
            </a:r>
            <a:r>
              <a:rPr lang="en-US" altLang="zh-CN" sz="2800" dirty="0"/>
              <a:t>B</a:t>
            </a:r>
            <a:r>
              <a:rPr lang="zh-CN" altLang="en-US" sz="2800" dirty="0"/>
              <a:t>任务，</a:t>
            </a:r>
            <a:r>
              <a:rPr lang="en-US" altLang="zh-CN" sz="2800" dirty="0"/>
              <a:t>A</a:t>
            </a:r>
            <a:r>
              <a:rPr lang="zh-CN" altLang="en-US" sz="2800" dirty="0"/>
              <a:t>要求每</a:t>
            </a:r>
            <a:r>
              <a:rPr lang="en-US" altLang="zh-CN" sz="2800" dirty="0"/>
              <a:t>20ms</a:t>
            </a:r>
            <a:r>
              <a:rPr lang="zh-CN" altLang="en-US" sz="2800" dirty="0"/>
              <a:t>执行一次，执行时间为</a:t>
            </a:r>
            <a:r>
              <a:rPr lang="en-US" altLang="zh-CN" sz="2800" dirty="0"/>
              <a:t>10ms</a:t>
            </a:r>
            <a:r>
              <a:rPr lang="zh-CN" altLang="en-US" sz="2800" dirty="0"/>
              <a:t>；任务</a:t>
            </a:r>
            <a:r>
              <a:rPr lang="en-US" altLang="zh-CN" sz="2800" dirty="0"/>
              <a:t>B</a:t>
            </a:r>
            <a:r>
              <a:rPr lang="zh-CN" altLang="en-US" sz="2800" dirty="0"/>
              <a:t>只要求每</a:t>
            </a:r>
            <a:r>
              <a:rPr lang="en-US" altLang="zh-CN" sz="2800" dirty="0"/>
              <a:t>50ms</a:t>
            </a:r>
            <a:r>
              <a:rPr lang="zh-CN" altLang="en-US" sz="2800" dirty="0"/>
              <a:t>执行一次，执行时间为</a:t>
            </a:r>
            <a:r>
              <a:rPr lang="en-US" altLang="zh-CN" sz="2800" dirty="0"/>
              <a:t>25ms</a:t>
            </a:r>
            <a:r>
              <a:rPr lang="zh-CN" altLang="en-US" sz="2800" dirty="0"/>
              <a:t>。</a:t>
            </a:r>
            <a:endParaRPr lang="zh-CN" altLang="en-US" sz="2800" dirty="0"/>
          </a:p>
          <a:p>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p:cNvSpPr>
            <a:spLocks noChangeArrowheads="1"/>
          </p:cNvSpPr>
          <p:nvPr/>
        </p:nvSpPr>
        <p:spPr bwMode="auto">
          <a:xfrm>
            <a:off x="2457450" y="2857506"/>
            <a:ext cx="6858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1800">
              <a:latin typeface="Tahoma" panose="020B0604030504040204" pitchFamily="34" charset="0"/>
              <a:ea typeface="楷体_GB2312" pitchFamily="49" charset="-122"/>
            </a:endParaRPr>
          </a:p>
        </p:txBody>
      </p:sp>
      <p:pic>
        <p:nvPicPr>
          <p:cNvPr id="69635" name="Object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2503" y="1812472"/>
            <a:ext cx="8172400" cy="3054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869" name="Rectangle 5"/>
          <p:cNvSpPr>
            <a:spLocks noGrp="1" noRot="1" noChangeArrowheads="1"/>
          </p:cNvSpPr>
          <p:nvPr>
            <p:ph type="title"/>
          </p:nvPr>
        </p:nvSpPr>
        <p:spPr/>
        <p:txBody>
          <a:bodyPr/>
          <a:lstStyle/>
          <a:p>
            <a:pPr eaLnBrk="1" hangingPunct="1">
              <a:defRPr/>
            </a:pPr>
            <a:r>
              <a:rPr lang="zh-CN" altLang="en-US" sz="2700" dirty="0"/>
              <a:t>利用</a:t>
            </a:r>
            <a:r>
              <a:rPr lang="en-US" altLang="zh-CN" sz="2700" dirty="0"/>
              <a:t>LLF</a:t>
            </a:r>
            <a:r>
              <a:rPr lang="zh-CN" altLang="en-US" sz="2700" dirty="0"/>
              <a:t>算法进行调度的情况</a:t>
            </a:r>
            <a:endParaRPr lang="zh-CN" altLang="en-US" sz="27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p:cNvSpPr>
            <a:spLocks noGrp="1" noRot="1" noChangeArrowheads="1"/>
          </p:cNvSpPr>
          <p:nvPr>
            <p:ph type="title"/>
          </p:nvPr>
        </p:nvSpPr>
        <p:spPr/>
        <p:txBody>
          <a:bodyPr/>
          <a:lstStyle/>
          <a:p>
            <a:pPr eaLnBrk="1" hangingPunct="1">
              <a:defRPr/>
            </a:pPr>
            <a:r>
              <a:rPr lang="zh-CN" altLang="en-US"/>
              <a:t>抢占方式和时机</a:t>
            </a:r>
            <a:endParaRPr lang="zh-CN" altLang="en-US"/>
          </a:p>
        </p:txBody>
      </p:sp>
      <p:sp>
        <p:nvSpPr>
          <p:cNvPr id="107523" name="Rectangle 3"/>
          <p:cNvSpPr>
            <a:spLocks noGrp="1" noRot="1" noChangeArrowheads="1"/>
          </p:cNvSpPr>
          <p:nvPr>
            <p:ph idx="1"/>
          </p:nvPr>
        </p:nvSpPr>
        <p:spPr>
          <a:xfrm>
            <a:off x="479065" y="1463283"/>
            <a:ext cx="8003690" cy="4475401"/>
          </a:xfrm>
        </p:spPr>
        <p:txBody>
          <a:bodyPr/>
          <a:lstStyle/>
          <a:p>
            <a:pPr>
              <a:lnSpc>
                <a:spcPct val="110000"/>
              </a:lnSpc>
            </a:pPr>
            <a:r>
              <a:rPr lang="zh-CN" altLang="en-US" sz="2800" dirty="0"/>
              <a:t>当等待任务的松弛度值为</a:t>
            </a:r>
            <a:r>
              <a:rPr lang="en-US" altLang="zh-CN" sz="2800" dirty="0"/>
              <a:t>0</a:t>
            </a:r>
            <a:r>
              <a:rPr lang="zh-CN" altLang="en-US" sz="2800" dirty="0"/>
              <a:t>时才进行抢占（如</a:t>
            </a:r>
            <a:r>
              <a:rPr lang="en-US" altLang="zh-CN" sz="2800" dirty="0"/>
              <a:t>20ms</a:t>
            </a:r>
            <a:r>
              <a:rPr lang="zh-CN" altLang="en-US" sz="2800" dirty="0"/>
              <a:t>时虽然</a:t>
            </a:r>
            <a:r>
              <a:rPr lang="en-US" altLang="zh-CN" sz="2800" dirty="0"/>
              <a:t>A2</a:t>
            </a:r>
            <a:r>
              <a:rPr lang="zh-CN" altLang="en-US" sz="2800" dirty="0"/>
              <a:t>的松弛度比</a:t>
            </a:r>
            <a:r>
              <a:rPr lang="en-US" altLang="zh-CN" sz="2800" dirty="0"/>
              <a:t>B1</a:t>
            </a:r>
            <a:r>
              <a:rPr lang="zh-CN" altLang="en-US" sz="2800" dirty="0"/>
              <a:t>的松弛度小，但</a:t>
            </a:r>
            <a:r>
              <a:rPr lang="en-US" altLang="zh-CN" sz="2800" dirty="0"/>
              <a:t>A2</a:t>
            </a:r>
            <a:r>
              <a:rPr lang="zh-CN" altLang="en-US" sz="2800" dirty="0"/>
              <a:t>并没有抢占</a:t>
            </a:r>
            <a:r>
              <a:rPr lang="en-US" altLang="zh-CN" sz="2800" dirty="0"/>
              <a:t>B1</a:t>
            </a:r>
            <a:r>
              <a:rPr lang="zh-CN" altLang="en-US" sz="2800" dirty="0"/>
              <a:t>）。</a:t>
            </a:r>
            <a:endParaRPr lang="zh-CN" altLang="en-US" sz="2800" dirty="0"/>
          </a:p>
          <a:p>
            <a:pPr lvl="1">
              <a:lnSpc>
                <a:spcPct val="110000"/>
              </a:lnSpc>
            </a:pPr>
            <a:r>
              <a:rPr lang="en-US" altLang="zh-CN" sz="2400" dirty="0"/>
              <a:t>1&gt;</a:t>
            </a:r>
            <a:r>
              <a:rPr lang="zh-CN" altLang="en-US" sz="2400" dirty="0"/>
              <a:t>当有任务执行时，只有等待任务的松弛度值为</a:t>
            </a:r>
            <a:r>
              <a:rPr lang="en-US" altLang="zh-CN" sz="2400" dirty="0"/>
              <a:t>0</a:t>
            </a:r>
            <a:r>
              <a:rPr lang="zh-CN" altLang="en-US" sz="2400" dirty="0"/>
              <a:t>才会发生任务的调度，其他情况不发生调度。</a:t>
            </a:r>
            <a:endParaRPr lang="zh-CN" altLang="en-US" sz="2400" dirty="0"/>
          </a:p>
          <a:p>
            <a:pPr lvl="1">
              <a:lnSpc>
                <a:spcPct val="110000"/>
              </a:lnSpc>
            </a:pPr>
            <a:r>
              <a:rPr lang="en-US" altLang="zh-CN" sz="2400" dirty="0"/>
              <a:t>2&gt;</a:t>
            </a:r>
            <a:r>
              <a:rPr lang="zh-CN" altLang="en-US" sz="2400" dirty="0"/>
              <a:t>任务执行结束后或无任务执行时，再比较等待任务的松弛度值，较小的先执行。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6546"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3.4 </a:t>
            </a:r>
            <a:r>
              <a:rPr kumimoji="0" lang="zh-CN" alt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进程的切换</a:t>
            </a:r>
            <a:endParaRPr kumimoji="0" lang="zh-CN" alt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5059" name="Rectangle 3"/>
          <p:cNvSpPr>
            <a:spLocks noGrp="1" noRot="1"/>
          </p:cNvSpPr>
          <p:nvPr>
            <p:ph type="body" idx="4294967295"/>
          </p:nvPr>
        </p:nvSpPr>
        <p:spPr>
          <a:ln/>
        </p:spPr>
        <p:txBody>
          <a:bodyPr vert="horz" wrap="square" lIns="91440" tIns="45720" rIns="91440" bIns="45720" anchor="t" anchorCtr="0"/>
          <a:p>
            <a:pPr eaLnBrk="1" hangingPunct="1"/>
            <a:r>
              <a:rPr lang="zh-CN" altLang="en-US" sz="2800" b="1" dirty="0"/>
              <a:t>当一个进程执行完（或不能继续执行），则换另一个进程占处理机执行，称为进程切换。</a:t>
            </a:r>
            <a:endParaRPr lang="en-US" altLang="zh-CN" sz="2800" b="1" dirty="0"/>
          </a:p>
          <a:p>
            <a:pPr eaLnBrk="1" hangingPunct="1"/>
            <a:endParaRPr lang="zh-CN" altLang="en-US" sz="2800" b="1" dirty="0"/>
          </a:p>
          <a:p>
            <a:pPr eaLnBrk="1" hangingPunct="1"/>
            <a:r>
              <a:rPr lang="zh-CN" altLang="en-US" sz="2800" b="1" dirty="0"/>
              <a:t>在进程切换时，要保护执行现场。</a:t>
            </a:r>
            <a:endParaRPr lang="en-US" altLang="zh-CN" sz="2800" b="1" dirty="0"/>
          </a:p>
          <a:p>
            <a:pPr eaLnBrk="1" hangingPunct="1"/>
            <a:endParaRPr lang="zh-CN" altLang="en-US" sz="2800" b="1" dirty="0"/>
          </a:p>
          <a:p>
            <a:pPr eaLnBrk="1" hangingPunct="1"/>
            <a:r>
              <a:rPr lang="zh-CN" altLang="en-US" sz="2800" b="1" dirty="0"/>
              <a:t>执行现场称为进程的上下文。包括</a:t>
            </a:r>
            <a:r>
              <a:rPr lang="en-US" altLang="zh-CN" sz="2800" b="1" dirty="0"/>
              <a:t>CPU</a:t>
            </a:r>
            <a:r>
              <a:rPr lang="zh-CN" altLang="en-US" sz="2800" b="1" dirty="0"/>
              <a:t>主要寄存器，如</a:t>
            </a:r>
            <a:r>
              <a:rPr lang="en-US" altLang="zh-CN" sz="2800" b="1" dirty="0"/>
              <a:t>SP</a:t>
            </a:r>
            <a:r>
              <a:rPr lang="zh-CN" altLang="en-US" sz="2800" b="1" dirty="0"/>
              <a:t>，</a:t>
            </a:r>
            <a:r>
              <a:rPr lang="en-US" altLang="zh-CN" sz="2800" b="1" dirty="0"/>
              <a:t>PC</a:t>
            </a:r>
            <a:r>
              <a:rPr lang="zh-CN" altLang="en-US" sz="2800" b="1" dirty="0"/>
              <a:t>，通用寄存器。</a:t>
            </a:r>
            <a:endParaRPr lang="zh-CN" altLang="en-US" sz="28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6546"/>
                                        </p:tgtEl>
                                        <p:attrNameLst>
                                          <p:attrName>style.visibility</p:attrName>
                                        </p:attrNameLst>
                                      </p:cBhvr>
                                      <p:to>
                                        <p:strVal val="visible"/>
                                      </p:to>
                                    </p:set>
                                    <p:animEffect transition="in" filter="fade">
                                      <p:cBhvr>
                                        <p:cTn id="7" dur="2000"/>
                                        <p:tgtEl>
                                          <p:spTgt spid="2365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059">
                                            <p:txEl>
                                              <p:charRg st="0" end="40"/>
                                            </p:txEl>
                                          </p:spTgt>
                                        </p:tgtEl>
                                        <p:attrNameLst>
                                          <p:attrName>style.visibility</p:attrName>
                                        </p:attrNameLst>
                                      </p:cBhvr>
                                      <p:to>
                                        <p:strVal val="visible"/>
                                      </p:to>
                                    </p:set>
                                    <p:animEffect transition="in" filter="fade">
                                      <p:cBhvr>
                                        <p:cTn id="12" dur="2000"/>
                                        <p:tgtEl>
                                          <p:spTgt spid="45059">
                                            <p:txEl>
                                              <p:charRg st="0" end="4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5059">
                                            <p:txEl>
                                              <p:charRg st="41" end="57"/>
                                            </p:txEl>
                                          </p:spTgt>
                                        </p:tgtEl>
                                        <p:attrNameLst>
                                          <p:attrName>style.visibility</p:attrName>
                                        </p:attrNameLst>
                                      </p:cBhvr>
                                      <p:to>
                                        <p:strVal val="visible"/>
                                      </p:to>
                                    </p:set>
                                    <p:animEffect transition="in" filter="fade">
                                      <p:cBhvr>
                                        <p:cTn id="17" dur="2000"/>
                                        <p:tgtEl>
                                          <p:spTgt spid="45059">
                                            <p:txEl>
                                              <p:charRg st="41" end="5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5059">
                                            <p:txEl>
                                              <p:charRg st="58" end="96"/>
                                            </p:txEl>
                                          </p:spTgt>
                                        </p:tgtEl>
                                        <p:attrNameLst>
                                          <p:attrName>style.visibility</p:attrName>
                                        </p:attrNameLst>
                                      </p:cBhvr>
                                      <p:to>
                                        <p:strVal val="visible"/>
                                      </p:to>
                                    </p:set>
                                    <p:animEffect transition="in" filter="fade">
                                      <p:cBhvr>
                                        <p:cTn id="22" dur="2000"/>
                                        <p:tgtEl>
                                          <p:spTgt spid="45059">
                                            <p:txEl>
                                              <p:charRg st="58" end="9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6" grpId="0"/>
      <p:bldP spid="45059"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7970"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进程切换过程</a:t>
            </a:r>
            <a:endParaRPr kumimoji="0" lang="zh-CN" altLang="en-US" sz="4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3731" name="Rectangle 4"/>
          <p:cNvSpPr>
            <a:spLocks noChangeArrowheads="1"/>
          </p:cNvSpPr>
          <p:nvPr/>
        </p:nvSpPr>
        <p:spPr bwMode="auto">
          <a:xfrm>
            <a:off x="990600" y="1828800"/>
            <a:ext cx="7899400" cy="4319588"/>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tIns="0" bIns="0"/>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7973" name="Rectangle 5"/>
          <p:cNvSpPr/>
          <p:nvPr/>
        </p:nvSpPr>
        <p:spPr>
          <a:xfrm>
            <a:off x="1273175" y="2319338"/>
            <a:ext cx="271463" cy="565150"/>
          </a:xfrm>
          <a:prstGeom prst="rect">
            <a:avLst/>
          </a:prstGeom>
          <a:solidFill>
            <a:srgbClr val="C0C0C0"/>
          </a:solidFill>
          <a:ln w="9525" cap="flat" cmpd="sng">
            <a:solidFill>
              <a:srgbClr val="000000"/>
            </a:solidFill>
            <a:prstDash val="solid"/>
            <a:miter/>
            <a:headEnd type="none" w="med" len="med"/>
            <a:tailEnd type="none" w="med" len="med"/>
          </a:ln>
        </p:spPr>
        <p:txBody>
          <a:bodyPr tIns="0" bIns="0"/>
          <a:p>
            <a:pPr eaLnBrk="1" hangingPunct="1"/>
            <a:endParaRPr lang="zh-CN" altLang="zh-CN" sz="1600" b="1" dirty="0">
              <a:solidFill>
                <a:srgbClr val="FF0000"/>
              </a:solidFill>
              <a:latin typeface="楷体_GB2312" pitchFamily="49" charset="-122"/>
              <a:ea typeface="楷体_GB2312" pitchFamily="49" charset="-122"/>
            </a:endParaRPr>
          </a:p>
        </p:txBody>
      </p:sp>
      <p:sp>
        <p:nvSpPr>
          <p:cNvPr id="467974" name="Rectangle 6"/>
          <p:cNvSpPr>
            <a:spLocks noChangeArrowheads="1"/>
          </p:cNvSpPr>
          <p:nvPr/>
        </p:nvSpPr>
        <p:spPr bwMode="auto">
          <a:xfrm>
            <a:off x="971550" y="1871663"/>
            <a:ext cx="938213" cy="261938"/>
          </a:xfrm>
          <a:prstGeom prst="rect">
            <a:avLst/>
          </a:prstGeom>
          <a:solidFill>
            <a:schemeClr val="accent1"/>
          </a:solidFill>
          <a:ln w="9525">
            <a:noFill/>
            <a:miter lim="800000"/>
          </a:ln>
          <a:effectLst>
            <a:prstShdw prst="shdw18" dist="17961" dir="13500000">
              <a:schemeClr val="accent1">
                <a:gamma/>
                <a:shade val="60000"/>
                <a:invGamma/>
              </a:schemeClr>
            </a:prstShdw>
          </a:effectLst>
        </p:spPr>
        <p:txBody>
          <a:bodyPr tIns="0" bIns="0"/>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1" i="0" u="none" strike="noStrike" kern="1200" cap="none" spc="0" normalizeH="0" baseline="0" noProof="0">
                <a:ln>
                  <a:noFill/>
                </a:ln>
                <a:solidFill>
                  <a:srgbClr val="FF0000"/>
                </a:solidFill>
                <a:effectLst/>
                <a:uLnTx/>
                <a:uFillTx/>
                <a:latin typeface="楷体_GB2312" pitchFamily="49" charset="-122"/>
                <a:ea typeface="楷体_GB2312" pitchFamily="49" charset="-122"/>
                <a:cs typeface="+mn-cs"/>
              </a:rPr>
              <a:t>进程</a:t>
            </a:r>
            <a:r>
              <a:rPr kumimoji="1" lang="en-US" altLang="zh-CN" sz="1600" b="1" i="0" u="none" strike="noStrike" kern="1200" cap="none" spc="0" normalizeH="0" baseline="0" noProof="0">
                <a:ln>
                  <a:noFill/>
                </a:ln>
                <a:solidFill>
                  <a:srgbClr val="FF0000"/>
                </a:solidFill>
                <a:effectLst/>
                <a:uLnTx/>
                <a:uFillTx/>
                <a:latin typeface="楷体_GB2312" pitchFamily="49" charset="-122"/>
                <a:ea typeface="楷体_GB2312" pitchFamily="49" charset="-122"/>
                <a:cs typeface="+mn-cs"/>
              </a:rPr>
              <a:t>1</a:t>
            </a:r>
            <a:endParaRPr kumimoji="1" lang="en-US" altLang="zh-CN" sz="1600" b="1" i="0" u="none" strike="noStrike" kern="1200" cap="none" spc="0" normalizeH="0" baseline="0" noProof="0">
              <a:ln>
                <a:noFill/>
              </a:ln>
              <a:solidFill>
                <a:srgbClr val="FF0000"/>
              </a:solidFill>
              <a:effectLst/>
              <a:uLnTx/>
              <a:uFillTx/>
              <a:latin typeface="楷体_GB2312" pitchFamily="49" charset="-122"/>
              <a:ea typeface="楷体_GB2312" pitchFamily="49" charset="-122"/>
              <a:cs typeface="+mn-cs"/>
            </a:endParaRPr>
          </a:p>
        </p:txBody>
      </p:sp>
      <p:sp>
        <p:nvSpPr>
          <p:cNvPr id="467975" name="Rectangle 7"/>
          <p:cNvSpPr>
            <a:spLocks noChangeArrowheads="1"/>
          </p:cNvSpPr>
          <p:nvPr/>
        </p:nvSpPr>
        <p:spPr bwMode="auto">
          <a:xfrm>
            <a:off x="6748463" y="1887538"/>
            <a:ext cx="938213" cy="322263"/>
          </a:xfrm>
          <a:prstGeom prst="rect">
            <a:avLst/>
          </a:prstGeom>
          <a:solidFill>
            <a:schemeClr val="accent1"/>
          </a:solidFill>
          <a:ln w="9525" algn="ctr">
            <a:noFill/>
            <a:miter lim="800000"/>
          </a:ln>
          <a:effectLst>
            <a:prstShdw prst="shdw18" dist="17961" dir="13500000">
              <a:schemeClr val="accent1">
                <a:gamma/>
                <a:shade val="60000"/>
                <a:invGamma/>
              </a:schemeClr>
            </a:prstShdw>
          </a:effectLst>
        </p:spPr>
        <p:txBody>
          <a:bodyPr tIns="0" bIns="0"/>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1" i="0" u="none" strike="noStrike" kern="1200" cap="none" spc="0" normalizeH="0" baseline="0" noProof="0">
                <a:ln>
                  <a:noFill/>
                </a:ln>
                <a:solidFill>
                  <a:srgbClr val="FF0000"/>
                </a:solidFill>
                <a:effectLst/>
                <a:uLnTx/>
                <a:uFillTx/>
                <a:latin typeface="楷体_GB2312" pitchFamily="49" charset="-122"/>
                <a:ea typeface="楷体_GB2312" pitchFamily="49" charset="-122"/>
                <a:cs typeface="+mn-cs"/>
              </a:rPr>
              <a:t>进程</a:t>
            </a:r>
            <a:r>
              <a:rPr kumimoji="1" lang="en-US" altLang="zh-CN" sz="1600" b="1" i="0" u="none" strike="noStrike" kern="1200" cap="none" spc="0" normalizeH="0" baseline="0" noProof="0">
                <a:ln>
                  <a:noFill/>
                </a:ln>
                <a:solidFill>
                  <a:srgbClr val="FF0000"/>
                </a:solidFill>
                <a:effectLst/>
                <a:uLnTx/>
                <a:uFillTx/>
                <a:latin typeface="楷体_GB2312" pitchFamily="49" charset="-122"/>
                <a:ea typeface="楷体_GB2312" pitchFamily="49" charset="-122"/>
                <a:cs typeface="+mn-cs"/>
              </a:rPr>
              <a:t>2</a:t>
            </a:r>
            <a:endParaRPr kumimoji="1" lang="en-US" altLang="zh-CN" sz="1600" b="1" i="0" u="none" strike="noStrike" kern="1200" cap="none" spc="0" normalizeH="0" baseline="0" noProof="0">
              <a:ln>
                <a:noFill/>
              </a:ln>
              <a:solidFill>
                <a:srgbClr val="FF0000"/>
              </a:solidFill>
              <a:effectLst/>
              <a:uLnTx/>
              <a:uFillTx/>
              <a:latin typeface="楷体_GB2312" pitchFamily="49" charset="-122"/>
              <a:ea typeface="楷体_GB2312" pitchFamily="49" charset="-122"/>
              <a:cs typeface="+mn-cs"/>
            </a:endParaRPr>
          </a:p>
        </p:txBody>
      </p:sp>
      <p:sp>
        <p:nvSpPr>
          <p:cNvPr id="467976" name="Rectangle 8"/>
          <p:cNvSpPr>
            <a:spLocks noChangeArrowheads="1"/>
          </p:cNvSpPr>
          <p:nvPr/>
        </p:nvSpPr>
        <p:spPr bwMode="auto">
          <a:xfrm>
            <a:off x="3473450" y="1901825"/>
            <a:ext cx="2041525" cy="307975"/>
          </a:xfrm>
          <a:prstGeom prst="rect">
            <a:avLst/>
          </a:prstGeom>
          <a:solidFill>
            <a:schemeClr val="accent1"/>
          </a:solidFill>
          <a:ln w="9525" algn="ctr">
            <a:noFill/>
            <a:miter lim="800000"/>
          </a:ln>
          <a:effectLst>
            <a:prstShdw prst="shdw18" dist="17961" dir="13500000">
              <a:schemeClr val="accent1">
                <a:gamma/>
                <a:shade val="60000"/>
                <a:invGamma/>
              </a:schemeClr>
            </a:prstShdw>
          </a:effectLst>
        </p:spPr>
        <p:txBody>
          <a:bodyPr tIns="0" bIns="0"/>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600" b="1" i="0" u="none" strike="noStrike" kern="1200" cap="none" spc="0" normalizeH="0" baseline="0" noProof="0">
                <a:ln>
                  <a:noFill/>
                </a:ln>
                <a:solidFill>
                  <a:srgbClr val="FF0000"/>
                </a:solidFill>
                <a:effectLst/>
                <a:uLnTx/>
                <a:uFillTx/>
                <a:latin typeface="楷体_GB2312" pitchFamily="49" charset="-122"/>
                <a:ea typeface="楷体_GB2312" pitchFamily="49" charset="-122"/>
                <a:cs typeface="+mn-cs"/>
              </a:rPr>
              <a:t>内核调度程序</a:t>
            </a:r>
            <a:endParaRPr kumimoji="1" lang="zh-CN" altLang="en-US" sz="1600" b="1" i="0" u="none" strike="noStrike" kern="1200" cap="none" spc="0" normalizeH="0" baseline="0" noProof="0">
              <a:ln>
                <a:noFill/>
              </a:ln>
              <a:solidFill>
                <a:srgbClr val="FF0000"/>
              </a:solidFill>
              <a:effectLst/>
              <a:uLnTx/>
              <a:uFillTx/>
              <a:latin typeface="楷体_GB2312" pitchFamily="49" charset="-122"/>
              <a:ea typeface="楷体_GB2312" pitchFamily="49" charset="-122"/>
              <a:cs typeface="+mn-cs"/>
            </a:endParaRPr>
          </a:p>
        </p:txBody>
      </p:sp>
      <p:sp>
        <p:nvSpPr>
          <p:cNvPr id="467977" name="Rectangle 9"/>
          <p:cNvSpPr/>
          <p:nvPr/>
        </p:nvSpPr>
        <p:spPr>
          <a:xfrm>
            <a:off x="1273175" y="5405438"/>
            <a:ext cx="271463" cy="566737"/>
          </a:xfrm>
          <a:prstGeom prst="rect">
            <a:avLst/>
          </a:prstGeom>
          <a:solidFill>
            <a:srgbClr val="C0C0C0"/>
          </a:solidFill>
          <a:ln w="9525" cap="flat" cmpd="sng">
            <a:solidFill>
              <a:srgbClr val="000000"/>
            </a:solidFill>
            <a:prstDash val="solid"/>
            <a:miter/>
            <a:headEnd type="none" w="med" len="med"/>
            <a:tailEnd type="none" w="med" len="med"/>
          </a:ln>
        </p:spPr>
        <p:txBody>
          <a:bodyPr tIns="0" bIns="0"/>
          <a:p>
            <a:pPr eaLnBrk="1" hangingPunct="1"/>
            <a:endParaRPr lang="zh-CN" altLang="zh-CN" sz="1600" b="1" dirty="0">
              <a:solidFill>
                <a:srgbClr val="FF0000"/>
              </a:solidFill>
              <a:latin typeface="楷体_GB2312" pitchFamily="49" charset="-122"/>
              <a:ea typeface="楷体_GB2312" pitchFamily="49" charset="-122"/>
            </a:endParaRPr>
          </a:p>
        </p:txBody>
      </p:sp>
      <p:sp>
        <p:nvSpPr>
          <p:cNvPr id="467978" name="Rectangle 10"/>
          <p:cNvSpPr/>
          <p:nvPr/>
        </p:nvSpPr>
        <p:spPr>
          <a:xfrm>
            <a:off x="3168650" y="2551113"/>
            <a:ext cx="2841625" cy="376237"/>
          </a:xfrm>
          <a:prstGeom prst="rect">
            <a:avLst/>
          </a:prstGeom>
          <a:solidFill>
            <a:srgbClr val="C0C0C0"/>
          </a:solidFill>
          <a:ln w="9525" cap="flat" cmpd="sng">
            <a:solidFill>
              <a:srgbClr val="000000"/>
            </a:solidFill>
            <a:prstDash val="solid"/>
            <a:miter/>
            <a:headEnd type="none" w="med" len="med"/>
            <a:tailEnd type="none" w="med" len="med"/>
          </a:ln>
        </p:spPr>
        <p:txBody>
          <a:bodyPr lIns="0" tIns="0" rIns="0" bIns="0"/>
          <a:p>
            <a:pPr algn="ctr" eaLnBrk="1" hangingPunct="1"/>
            <a:r>
              <a:rPr lang="zh-CN" altLang="en-US" sz="1600" b="1" dirty="0">
                <a:solidFill>
                  <a:srgbClr val="FF0000"/>
                </a:solidFill>
                <a:latin typeface="楷体_GB2312" pitchFamily="49" charset="-122"/>
                <a:ea typeface="楷体_GB2312" pitchFamily="49" charset="-122"/>
              </a:rPr>
              <a:t>保存进程</a:t>
            </a:r>
            <a:r>
              <a:rPr lang="en-US" altLang="zh-CN" sz="1600" b="1" dirty="0">
                <a:solidFill>
                  <a:srgbClr val="FF0000"/>
                </a:solidFill>
                <a:latin typeface="楷体_GB2312" pitchFamily="49" charset="-122"/>
                <a:ea typeface="楷体_GB2312" pitchFamily="49" charset="-122"/>
              </a:rPr>
              <a:t>1</a:t>
            </a:r>
            <a:r>
              <a:rPr lang="zh-CN" altLang="en-US" sz="1600" b="1" dirty="0">
                <a:solidFill>
                  <a:srgbClr val="FF0000"/>
                </a:solidFill>
                <a:latin typeface="楷体_GB2312" pitchFamily="49" charset="-122"/>
                <a:ea typeface="楷体_GB2312" pitchFamily="49" charset="-122"/>
              </a:rPr>
              <a:t>的上下文到</a:t>
            </a:r>
            <a:r>
              <a:rPr lang="en-US" altLang="zh-CN" sz="1600" b="1" dirty="0">
                <a:solidFill>
                  <a:srgbClr val="FF0000"/>
                </a:solidFill>
                <a:latin typeface="楷体_GB2312" pitchFamily="49" charset="-122"/>
                <a:ea typeface="楷体_GB2312" pitchFamily="49" charset="-122"/>
              </a:rPr>
              <a:t>PCB1</a:t>
            </a:r>
            <a:endParaRPr lang="en-US" altLang="zh-CN" sz="1600" b="1" dirty="0">
              <a:solidFill>
                <a:srgbClr val="FF0000"/>
              </a:solidFill>
              <a:latin typeface="楷体_GB2312" pitchFamily="49" charset="-122"/>
              <a:ea typeface="楷体_GB2312" pitchFamily="49" charset="-122"/>
            </a:endParaRPr>
          </a:p>
        </p:txBody>
      </p:sp>
      <p:sp>
        <p:nvSpPr>
          <p:cNvPr id="467979" name="Rectangle 11"/>
          <p:cNvSpPr/>
          <p:nvPr/>
        </p:nvSpPr>
        <p:spPr>
          <a:xfrm>
            <a:off x="3168650" y="3376613"/>
            <a:ext cx="2841625" cy="377825"/>
          </a:xfrm>
          <a:prstGeom prst="rect">
            <a:avLst/>
          </a:prstGeom>
          <a:solidFill>
            <a:srgbClr val="C0C0C0"/>
          </a:solidFill>
          <a:ln w="9525" cap="flat" cmpd="sng">
            <a:solidFill>
              <a:srgbClr val="000000"/>
            </a:solidFill>
            <a:prstDash val="solid"/>
            <a:miter/>
            <a:headEnd type="none" w="med" len="med"/>
            <a:tailEnd type="none" w="med" len="med"/>
          </a:ln>
        </p:spPr>
        <p:txBody>
          <a:bodyPr lIns="0" tIns="0" rIns="0" bIns="0"/>
          <a:p>
            <a:pPr algn="ctr" eaLnBrk="1" hangingPunct="1"/>
            <a:r>
              <a:rPr lang="zh-CN" altLang="en-US" sz="1600" b="1" dirty="0">
                <a:solidFill>
                  <a:srgbClr val="FF0000"/>
                </a:solidFill>
                <a:latin typeface="楷体_GB2312" pitchFamily="49" charset="-122"/>
                <a:ea typeface="楷体_GB2312" pitchFamily="49" charset="-122"/>
              </a:rPr>
              <a:t>从</a:t>
            </a:r>
            <a:r>
              <a:rPr lang="en-US" altLang="zh-CN" sz="1600" b="1" dirty="0">
                <a:solidFill>
                  <a:srgbClr val="FF0000"/>
                </a:solidFill>
                <a:latin typeface="楷体_GB2312" pitchFamily="49" charset="-122"/>
                <a:ea typeface="楷体_GB2312" pitchFamily="49" charset="-122"/>
              </a:rPr>
              <a:t>PCB2</a:t>
            </a:r>
            <a:r>
              <a:rPr lang="zh-CN" altLang="en-US" sz="1600" b="1" dirty="0">
                <a:solidFill>
                  <a:srgbClr val="FF0000"/>
                </a:solidFill>
                <a:latin typeface="楷体_GB2312" pitchFamily="49" charset="-122"/>
                <a:ea typeface="楷体_GB2312" pitchFamily="49" charset="-122"/>
              </a:rPr>
              <a:t>恢复进程</a:t>
            </a:r>
            <a:r>
              <a:rPr lang="en-US" altLang="zh-CN" sz="1600" b="1" dirty="0">
                <a:solidFill>
                  <a:srgbClr val="FF0000"/>
                </a:solidFill>
                <a:latin typeface="楷体_GB2312" pitchFamily="49" charset="-122"/>
                <a:ea typeface="楷体_GB2312" pitchFamily="49" charset="-122"/>
              </a:rPr>
              <a:t>2</a:t>
            </a:r>
            <a:r>
              <a:rPr lang="zh-CN" altLang="en-US" sz="1600" b="1" dirty="0">
                <a:solidFill>
                  <a:srgbClr val="FF0000"/>
                </a:solidFill>
                <a:latin typeface="楷体_GB2312" pitchFamily="49" charset="-122"/>
                <a:ea typeface="楷体_GB2312" pitchFamily="49" charset="-122"/>
              </a:rPr>
              <a:t>的上下文</a:t>
            </a:r>
            <a:endParaRPr lang="zh-CN" altLang="en-US" sz="1600" b="1" dirty="0">
              <a:solidFill>
                <a:srgbClr val="FF0000"/>
              </a:solidFill>
              <a:latin typeface="楷体_GB2312" pitchFamily="49" charset="-122"/>
              <a:ea typeface="楷体_GB2312" pitchFamily="49" charset="-122"/>
            </a:endParaRPr>
          </a:p>
        </p:txBody>
      </p:sp>
      <p:sp>
        <p:nvSpPr>
          <p:cNvPr id="467980" name="Rectangle 12"/>
          <p:cNvSpPr/>
          <p:nvPr/>
        </p:nvSpPr>
        <p:spPr>
          <a:xfrm>
            <a:off x="3889375" y="2973388"/>
            <a:ext cx="1192213" cy="377825"/>
          </a:xfrm>
          <a:prstGeom prst="rect">
            <a:avLst/>
          </a:prstGeom>
          <a:noFill/>
          <a:ln w="9525">
            <a:noFill/>
          </a:ln>
        </p:spPr>
        <p:txBody>
          <a:bodyPr tIns="0" bIns="0"/>
          <a:p>
            <a:pPr algn="ctr" eaLnBrk="1" hangingPunct="1"/>
            <a:r>
              <a:rPr lang="en-US" altLang="zh-CN" sz="1600" b="1" dirty="0">
                <a:solidFill>
                  <a:srgbClr val="FF0000"/>
                </a:solidFill>
                <a:latin typeface="Times New Roman" panose="02020603050405020304" pitchFamily="18" charset="0"/>
                <a:ea typeface="楷体_GB2312" pitchFamily="49" charset="-122"/>
              </a:rPr>
              <a:t>……</a:t>
            </a:r>
            <a:endParaRPr lang="en-US" altLang="zh-CN" sz="1600" b="1" dirty="0">
              <a:solidFill>
                <a:srgbClr val="FF0000"/>
              </a:solidFill>
              <a:latin typeface="楷体_GB2312" pitchFamily="49" charset="-122"/>
              <a:ea typeface="楷体_GB2312" pitchFamily="49" charset="-122"/>
            </a:endParaRPr>
          </a:p>
        </p:txBody>
      </p:sp>
      <p:sp>
        <p:nvSpPr>
          <p:cNvPr id="467981" name="Rectangle 13"/>
          <p:cNvSpPr/>
          <p:nvPr/>
        </p:nvSpPr>
        <p:spPr>
          <a:xfrm>
            <a:off x="3182938" y="4579938"/>
            <a:ext cx="2843212" cy="376237"/>
          </a:xfrm>
          <a:prstGeom prst="rect">
            <a:avLst/>
          </a:prstGeom>
          <a:solidFill>
            <a:srgbClr val="C0C0C0"/>
          </a:solidFill>
          <a:ln w="9525" cap="flat" cmpd="sng">
            <a:solidFill>
              <a:srgbClr val="000000"/>
            </a:solidFill>
            <a:prstDash val="solid"/>
            <a:miter/>
            <a:headEnd type="none" w="med" len="med"/>
            <a:tailEnd type="none" w="med" len="med"/>
          </a:ln>
        </p:spPr>
        <p:txBody>
          <a:bodyPr lIns="0" tIns="0" rIns="0" bIns="0"/>
          <a:p>
            <a:pPr algn="ctr" eaLnBrk="1" hangingPunct="1"/>
            <a:r>
              <a:rPr lang="zh-CN" altLang="en-US" sz="1600" b="1" dirty="0">
                <a:solidFill>
                  <a:srgbClr val="FF0000"/>
                </a:solidFill>
                <a:latin typeface="楷体_GB2312" pitchFamily="49" charset="-122"/>
                <a:ea typeface="楷体_GB2312" pitchFamily="49" charset="-122"/>
              </a:rPr>
              <a:t>保存进程</a:t>
            </a:r>
            <a:r>
              <a:rPr lang="en-US" altLang="zh-CN" sz="1600" b="1" dirty="0">
                <a:solidFill>
                  <a:srgbClr val="FF0000"/>
                </a:solidFill>
                <a:latin typeface="楷体_GB2312" pitchFamily="49" charset="-122"/>
                <a:ea typeface="楷体_GB2312" pitchFamily="49" charset="-122"/>
              </a:rPr>
              <a:t>2</a:t>
            </a:r>
            <a:r>
              <a:rPr lang="zh-CN" altLang="en-US" sz="1600" b="1" dirty="0">
                <a:solidFill>
                  <a:srgbClr val="FF0000"/>
                </a:solidFill>
                <a:latin typeface="楷体_GB2312" pitchFamily="49" charset="-122"/>
                <a:ea typeface="楷体_GB2312" pitchFamily="49" charset="-122"/>
              </a:rPr>
              <a:t>的上下文到</a:t>
            </a:r>
            <a:r>
              <a:rPr lang="en-US" altLang="zh-CN" sz="1600" b="1" dirty="0">
                <a:solidFill>
                  <a:srgbClr val="FF0000"/>
                </a:solidFill>
                <a:latin typeface="楷体_GB2312" pitchFamily="49" charset="-122"/>
                <a:ea typeface="楷体_GB2312" pitchFamily="49" charset="-122"/>
              </a:rPr>
              <a:t>PCB2</a:t>
            </a:r>
            <a:endParaRPr lang="en-US" altLang="zh-CN" sz="1600" b="1" dirty="0">
              <a:solidFill>
                <a:srgbClr val="FF0000"/>
              </a:solidFill>
              <a:latin typeface="楷体_GB2312" pitchFamily="49" charset="-122"/>
              <a:ea typeface="楷体_GB2312" pitchFamily="49" charset="-122"/>
            </a:endParaRPr>
          </a:p>
        </p:txBody>
      </p:sp>
      <p:sp>
        <p:nvSpPr>
          <p:cNvPr id="467982" name="Rectangle 14"/>
          <p:cNvSpPr/>
          <p:nvPr/>
        </p:nvSpPr>
        <p:spPr>
          <a:xfrm>
            <a:off x="3182938" y="5405438"/>
            <a:ext cx="2843212" cy="377825"/>
          </a:xfrm>
          <a:prstGeom prst="rect">
            <a:avLst/>
          </a:prstGeom>
          <a:solidFill>
            <a:srgbClr val="C0C0C0"/>
          </a:solidFill>
          <a:ln w="9525" cap="flat" cmpd="sng">
            <a:solidFill>
              <a:srgbClr val="000000"/>
            </a:solidFill>
            <a:prstDash val="solid"/>
            <a:miter/>
            <a:headEnd type="none" w="med" len="med"/>
            <a:tailEnd type="none" w="med" len="med"/>
          </a:ln>
        </p:spPr>
        <p:txBody>
          <a:bodyPr lIns="0" tIns="0" rIns="0" bIns="0"/>
          <a:p>
            <a:pPr algn="ctr" eaLnBrk="1" hangingPunct="1"/>
            <a:r>
              <a:rPr lang="zh-CN" altLang="en-US" sz="1600" b="1" dirty="0">
                <a:solidFill>
                  <a:srgbClr val="FF0000"/>
                </a:solidFill>
                <a:latin typeface="楷体_GB2312" pitchFamily="49" charset="-122"/>
                <a:ea typeface="楷体_GB2312" pitchFamily="49" charset="-122"/>
              </a:rPr>
              <a:t>从</a:t>
            </a:r>
            <a:r>
              <a:rPr lang="en-US" altLang="zh-CN" sz="1600" b="1" dirty="0">
                <a:solidFill>
                  <a:srgbClr val="FF0000"/>
                </a:solidFill>
                <a:latin typeface="楷体_GB2312" pitchFamily="49" charset="-122"/>
                <a:ea typeface="楷体_GB2312" pitchFamily="49" charset="-122"/>
              </a:rPr>
              <a:t>PCB1</a:t>
            </a:r>
            <a:r>
              <a:rPr lang="zh-CN" altLang="en-US" sz="1600" b="1" dirty="0">
                <a:solidFill>
                  <a:srgbClr val="FF0000"/>
                </a:solidFill>
                <a:latin typeface="楷体_GB2312" pitchFamily="49" charset="-122"/>
                <a:ea typeface="楷体_GB2312" pitchFamily="49" charset="-122"/>
              </a:rPr>
              <a:t>恢复进程</a:t>
            </a:r>
            <a:r>
              <a:rPr lang="en-US" altLang="zh-CN" sz="1600" b="1" dirty="0">
                <a:solidFill>
                  <a:srgbClr val="FF0000"/>
                </a:solidFill>
                <a:latin typeface="楷体_GB2312" pitchFamily="49" charset="-122"/>
                <a:ea typeface="楷体_GB2312" pitchFamily="49" charset="-122"/>
              </a:rPr>
              <a:t>1</a:t>
            </a:r>
            <a:r>
              <a:rPr lang="zh-CN" altLang="en-US" sz="1600" b="1" dirty="0">
                <a:solidFill>
                  <a:srgbClr val="FF0000"/>
                </a:solidFill>
                <a:latin typeface="楷体_GB2312" pitchFamily="49" charset="-122"/>
                <a:ea typeface="楷体_GB2312" pitchFamily="49" charset="-122"/>
              </a:rPr>
              <a:t>的上下文</a:t>
            </a:r>
            <a:endParaRPr lang="zh-CN" altLang="en-US" sz="1600" b="1" dirty="0">
              <a:solidFill>
                <a:srgbClr val="FF0000"/>
              </a:solidFill>
              <a:latin typeface="楷体_GB2312" pitchFamily="49" charset="-122"/>
              <a:ea typeface="楷体_GB2312" pitchFamily="49" charset="-122"/>
            </a:endParaRPr>
          </a:p>
        </p:txBody>
      </p:sp>
      <p:sp>
        <p:nvSpPr>
          <p:cNvPr id="467983" name="Rectangle 15"/>
          <p:cNvSpPr/>
          <p:nvPr/>
        </p:nvSpPr>
        <p:spPr>
          <a:xfrm>
            <a:off x="3905250" y="5003800"/>
            <a:ext cx="1192213" cy="376238"/>
          </a:xfrm>
          <a:prstGeom prst="rect">
            <a:avLst/>
          </a:prstGeom>
          <a:noFill/>
          <a:ln w="9525">
            <a:noFill/>
          </a:ln>
        </p:spPr>
        <p:txBody>
          <a:bodyPr tIns="0" bIns="0"/>
          <a:p>
            <a:pPr algn="ctr" eaLnBrk="1" hangingPunct="1"/>
            <a:r>
              <a:rPr lang="en-US" altLang="zh-CN" sz="1600" b="1" dirty="0">
                <a:solidFill>
                  <a:srgbClr val="FF0000"/>
                </a:solidFill>
                <a:latin typeface="Times New Roman" panose="02020603050405020304" pitchFamily="18" charset="0"/>
                <a:ea typeface="楷体_GB2312" pitchFamily="49" charset="-122"/>
              </a:rPr>
              <a:t>……</a:t>
            </a:r>
            <a:endParaRPr lang="en-US" altLang="zh-CN" sz="1600" b="1" dirty="0">
              <a:solidFill>
                <a:srgbClr val="FF0000"/>
              </a:solidFill>
              <a:latin typeface="楷体_GB2312" pitchFamily="49" charset="-122"/>
              <a:ea typeface="楷体_GB2312" pitchFamily="49" charset="-122"/>
            </a:endParaRPr>
          </a:p>
        </p:txBody>
      </p:sp>
      <p:grpSp>
        <p:nvGrpSpPr>
          <p:cNvPr id="2" name="Group 16"/>
          <p:cNvGrpSpPr/>
          <p:nvPr/>
        </p:nvGrpSpPr>
        <p:grpSpPr>
          <a:xfrm>
            <a:off x="1543050" y="2336800"/>
            <a:ext cx="2959100" cy="550863"/>
            <a:chOff x="972" y="320"/>
            <a:chExt cx="1864" cy="347"/>
          </a:xfrm>
        </p:grpSpPr>
        <p:sp>
          <p:nvSpPr>
            <p:cNvPr id="76832" name="Line 17"/>
            <p:cNvSpPr/>
            <p:nvPr/>
          </p:nvSpPr>
          <p:spPr>
            <a:xfrm flipV="1">
              <a:off x="972" y="320"/>
              <a:ext cx="534" cy="347"/>
            </a:xfrm>
            <a:prstGeom prst="line">
              <a:avLst/>
            </a:prstGeom>
            <a:ln w="28575" cap="flat" cmpd="sng">
              <a:solidFill>
                <a:srgbClr val="008000"/>
              </a:solidFill>
              <a:prstDash val="solid"/>
              <a:headEnd type="none" w="med" len="med"/>
              <a:tailEnd type="none" w="med" len="med"/>
            </a:ln>
          </p:spPr>
        </p:sp>
        <p:sp>
          <p:nvSpPr>
            <p:cNvPr id="76833" name="Line 18"/>
            <p:cNvSpPr/>
            <p:nvPr/>
          </p:nvSpPr>
          <p:spPr>
            <a:xfrm>
              <a:off x="1506" y="320"/>
              <a:ext cx="1330" cy="0"/>
            </a:xfrm>
            <a:prstGeom prst="line">
              <a:avLst/>
            </a:prstGeom>
            <a:ln w="28575" cap="flat" cmpd="sng">
              <a:solidFill>
                <a:srgbClr val="008000"/>
              </a:solidFill>
              <a:prstDash val="solid"/>
              <a:headEnd type="none" w="med" len="med"/>
              <a:tailEnd type="none" w="med" len="med"/>
            </a:ln>
          </p:spPr>
        </p:sp>
        <p:sp>
          <p:nvSpPr>
            <p:cNvPr id="76834" name="Line 19"/>
            <p:cNvSpPr/>
            <p:nvPr/>
          </p:nvSpPr>
          <p:spPr>
            <a:xfrm>
              <a:off x="2836" y="320"/>
              <a:ext cx="0" cy="137"/>
            </a:xfrm>
            <a:prstGeom prst="line">
              <a:avLst/>
            </a:prstGeom>
            <a:ln w="28575" cap="flat" cmpd="sng">
              <a:solidFill>
                <a:srgbClr val="008000"/>
              </a:solidFill>
              <a:prstDash val="solid"/>
              <a:headEnd type="none" w="med" len="med"/>
              <a:tailEnd type="triangle" w="med" len="med"/>
            </a:ln>
          </p:spPr>
        </p:sp>
      </p:grpSp>
      <p:sp>
        <p:nvSpPr>
          <p:cNvPr id="467988" name="Rectangle 20"/>
          <p:cNvSpPr/>
          <p:nvPr/>
        </p:nvSpPr>
        <p:spPr>
          <a:xfrm>
            <a:off x="7105650" y="3521075"/>
            <a:ext cx="287338" cy="1349375"/>
          </a:xfrm>
          <a:prstGeom prst="rect">
            <a:avLst/>
          </a:prstGeom>
          <a:solidFill>
            <a:srgbClr val="C0C0C0"/>
          </a:solidFill>
          <a:ln w="9525" cap="flat" cmpd="sng">
            <a:solidFill>
              <a:srgbClr val="000000"/>
            </a:solidFill>
            <a:prstDash val="solid"/>
            <a:miter/>
            <a:headEnd type="none" w="med" len="med"/>
            <a:tailEnd type="none" w="med" len="med"/>
          </a:ln>
        </p:spPr>
        <p:txBody>
          <a:bodyPr tIns="0" bIns="0"/>
          <a:p>
            <a:pPr eaLnBrk="1" hangingPunct="1"/>
            <a:endParaRPr lang="zh-CN" altLang="zh-CN" sz="1600" b="1" dirty="0">
              <a:solidFill>
                <a:srgbClr val="FF0000"/>
              </a:solidFill>
              <a:latin typeface="楷体_GB2312" pitchFamily="49" charset="-122"/>
              <a:ea typeface="楷体_GB2312" pitchFamily="49" charset="-122"/>
            </a:endParaRPr>
          </a:p>
        </p:txBody>
      </p:sp>
      <p:grpSp>
        <p:nvGrpSpPr>
          <p:cNvPr id="3" name="Group 21"/>
          <p:cNvGrpSpPr/>
          <p:nvPr/>
        </p:nvGrpSpPr>
        <p:grpSpPr>
          <a:xfrm>
            <a:off x="4518025" y="3524250"/>
            <a:ext cx="2573338" cy="420688"/>
            <a:chOff x="2846" y="1068"/>
            <a:chExt cx="1621" cy="265"/>
          </a:xfrm>
        </p:grpSpPr>
        <p:sp>
          <p:nvSpPr>
            <p:cNvPr id="76829" name="Line 22"/>
            <p:cNvSpPr/>
            <p:nvPr/>
          </p:nvSpPr>
          <p:spPr>
            <a:xfrm>
              <a:off x="2846" y="1224"/>
              <a:ext cx="0" cy="109"/>
            </a:xfrm>
            <a:prstGeom prst="line">
              <a:avLst/>
            </a:prstGeom>
            <a:ln w="28575" cap="flat" cmpd="sng">
              <a:solidFill>
                <a:srgbClr val="008000"/>
              </a:solidFill>
              <a:prstDash val="solid"/>
              <a:headEnd type="none" w="med" len="med"/>
              <a:tailEnd type="none" w="med" len="med"/>
            </a:ln>
          </p:spPr>
        </p:sp>
        <p:sp>
          <p:nvSpPr>
            <p:cNvPr id="76830" name="Line 23"/>
            <p:cNvSpPr/>
            <p:nvPr/>
          </p:nvSpPr>
          <p:spPr>
            <a:xfrm>
              <a:off x="2846" y="1333"/>
              <a:ext cx="909" cy="0"/>
            </a:xfrm>
            <a:prstGeom prst="line">
              <a:avLst/>
            </a:prstGeom>
            <a:ln w="28575" cap="flat" cmpd="sng">
              <a:solidFill>
                <a:srgbClr val="008000"/>
              </a:solidFill>
              <a:prstDash val="solid"/>
              <a:headEnd type="none" w="med" len="med"/>
              <a:tailEnd type="none" w="med" len="med"/>
            </a:ln>
          </p:spPr>
        </p:sp>
        <p:sp>
          <p:nvSpPr>
            <p:cNvPr id="76831" name="Line 24"/>
            <p:cNvSpPr/>
            <p:nvPr/>
          </p:nvSpPr>
          <p:spPr>
            <a:xfrm flipV="1">
              <a:off x="3755" y="1068"/>
              <a:ext cx="712" cy="265"/>
            </a:xfrm>
            <a:prstGeom prst="line">
              <a:avLst/>
            </a:prstGeom>
            <a:ln w="28575" cap="flat" cmpd="sng">
              <a:solidFill>
                <a:srgbClr val="008000"/>
              </a:solidFill>
              <a:prstDash val="solid"/>
              <a:headEnd type="none" w="med" len="med"/>
              <a:tailEnd type="triangle" w="med" len="med"/>
            </a:ln>
          </p:spPr>
        </p:sp>
      </p:grpSp>
      <p:grpSp>
        <p:nvGrpSpPr>
          <p:cNvPr id="4" name="Group 25"/>
          <p:cNvGrpSpPr/>
          <p:nvPr/>
        </p:nvGrpSpPr>
        <p:grpSpPr>
          <a:xfrm>
            <a:off x="4532313" y="4394200"/>
            <a:ext cx="2571750" cy="463550"/>
            <a:chOff x="2855" y="1616"/>
            <a:chExt cx="1620" cy="292"/>
          </a:xfrm>
        </p:grpSpPr>
        <p:sp>
          <p:nvSpPr>
            <p:cNvPr id="76826" name="Line 26"/>
            <p:cNvSpPr/>
            <p:nvPr/>
          </p:nvSpPr>
          <p:spPr>
            <a:xfrm>
              <a:off x="2855" y="1625"/>
              <a:ext cx="0" cy="110"/>
            </a:xfrm>
            <a:prstGeom prst="line">
              <a:avLst/>
            </a:prstGeom>
            <a:ln w="28575" cap="flat" cmpd="sng">
              <a:solidFill>
                <a:srgbClr val="008000"/>
              </a:solidFill>
              <a:prstDash val="solid"/>
              <a:headEnd type="none" w="med" len="med"/>
              <a:tailEnd type="triangle" w="med" len="med"/>
            </a:ln>
          </p:spPr>
        </p:sp>
        <p:sp>
          <p:nvSpPr>
            <p:cNvPr id="76827" name="Line 27"/>
            <p:cNvSpPr/>
            <p:nvPr/>
          </p:nvSpPr>
          <p:spPr>
            <a:xfrm>
              <a:off x="2855" y="1616"/>
              <a:ext cx="909" cy="0"/>
            </a:xfrm>
            <a:prstGeom prst="line">
              <a:avLst/>
            </a:prstGeom>
            <a:ln w="28575" cap="flat" cmpd="sng">
              <a:solidFill>
                <a:srgbClr val="008000"/>
              </a:solidFill>
              <a:prstDash val="solid"/>
              <a:headEnd type="none" w="med" len="med"/>
              <a:tailEnd type="none" w="med" len="med"/>
            </a:ln>
          </p:spPr>
        </p:sp>
        <p:sp>
          <p:nvSpPr>
            <p:cNvPr id="76828" name="Line 28"/>
            <p:cNvSpPr/>
            <p:nvPr/>
          </p:nvSpPr>
          <p:spPr>
            <a:xfrm>
              <a:off x="3763" y="1616"/>
              <a:ext cx="712" cy="292"/>
            </a:xfrm>
            <a:prstGeom prst="line">
              <a:avLst/>
            </a:prstGeom>
            <a:ln w="28575" cap="flat" cmpd="sng">
              <a:solidFill>
                <a:srgbClr val="008000"/>
              </a:solidFill>
              <a:prstDash val="solid"/>
              <a:headEnd type="none" w="med" len="med"/>
              <a:tailEnd type="none" w="med" len="med"/>
            </a:ln>
          </p:spPr>
        </p:sp>
      </p:grpSp>
      <p:grpSp>
        <p:nvGrpSpPr>
          <p:cNvPr id="5" name="Group 29"/>
          <p:cNvGrpSpPr/>
          <p:nvPr/>
        </p:nvGrpSpPr>
        <p:grpSpPr>
          <a:xfrm>
            <a:off x="1543050" y="5422900"/>
            <a:ext cx="3021013" cy="566738"/>
            <a:chOff x="972" y="2264"/>
            <a:chExt cx="1903" cy="357"/>
          </a:xfrm>
        </p:grpSpPr>
        <p:sp>
          <p:nvSpPr>
            <p:cNvPr id="76823" name="Line 30"/>
            <p:cNvSpPr/>
            <p:nvPr/>
          </p:nvSpPr>
          <p:spPr>
            <a:xfrm>
              <a:off x="2874" y="2493"/>
              <a:ext cx="0" cy="128"/>
            </a:xfrm>
            <a:prstGeom prst="line">
              <a:avLst/>
            </a:prstGeom>
            <a:ln w="28575" cap="flat" cmpd="sng">
              <a:solidFill>
                <a:srgbClr val="008000"/>
              </a:solidFill>
              <a:prstDash val="solid"/>
              <a:headEnd type="none" w="med" len="med"/>
              <a:tailEnd type="none" w="med" len="med"/>
            </a:ln>
          </p:spPr>
        </p:sp>
        <p:sp>
          <p:nvSpPr>
            <p:cNvPr id="76824" name="Line 31"/>
            <p:cNvSpPr/>
            <p:nvPr/>
          </p:nvSpPr>
          <p:spPr>
            <a:xfrm>
              <a:off x="1544" y="2621"/>
              <a:ext cx="1331" cy="0"/>
            </a:xfrm>
            <a:prstGeom prst="line">
              <a:avLst/>
            </a:prstGeom>
            <a:ln w="28575" cap="flat" cmpd="sng">
              <a:solidFill>
                <a:srgbClr val="008000"/>
              </a:solidFill>
              <a:prstDash val="solid"/>
              <a:headEnd type="none" w="med" len="med"/>
              <a:tailEnd type="none" w="med" len="med"/>
            </a:ln>
          </p:spPr>
        </p:sp>
        <p:sp>
          <p:nvSpPr>
            <p:cNvPr id="76825" name="Line 32"/>
            <p:cNvSpPr/>
            <p:nvPr/>
          </p:nvSpPr>
          <p:spPr>
            <a:xfrm flipH="1" flipV="1">
              <a:off x="972" y="2264"/>
              <a:ext cx="562" cy="357"/>
            </a:xfrm>
            <a:prstGeom prst="line">
              <a:avLst/>
            </a:prstGeom>
            <a:ln w="28575" cap="flat" cmpd="sng">
              <a:solidFill>
                <a:srgbClr val="008000"/>
              </a:solidFill>
              <a:prstDash val="solid"/>
              <a:headEnd type="none" w="med" len="med"/>
              <a:tailEnd type="triangle" w="med" len="med"/>
            </a:ln>
          </p:spPr>
        </p:sp>
      </p:grpSp>
      <p:sp>
        <p:nvSpPr>
          <p:cNvPr id="76820" name="Line 33"/>
          <p:cNvSpPr/>
          <p:nvPr/>
        </p:nvSpPr>
        <p:spPr>
          <a:xfrm>
            <a:off x="8312150" y="2306638"/>
            <a:ext cx="0" cy="3522662"/>
          </a:xfrm>
          <a:prstGeom prst="line">
            <a:avLst/>
          </a:prstGeom>
          <a:ln w="28575" cap="flat" cmpd="sng">
            <a:solidFill>
              <a:srgbClr val="000000"/>
            </a:solidFill>
            <a:prstDash val="solid"/>
            <a:headEnd type="none" w="med" len="med"/>
            <a:tailEnd type="triangle" w="lg" len="lg"/>
          </a:ln>
        </p:spPr>
      </p:sp>
      <p:sp>
        <p:nvSpPr>
          <p:cNvPr id="76821" name="Rectangle 34"/>
          <p:cNvSpPr/>
          <p:nvPr/>
        </p:nvSpPr>
        <p:spPr>
          <a:xfrm>
            <a:off x="7804150" y="1871663"/>
            <a:ext cx="938213" cy="338137"/>
          </a:xfrm>
          <a:prstGeom prst="rect">
            <a:avLst/>
          </a:prstGeom>
          <a:noFill/>
          <a:ln w="9525">
            <a:noFill/>
          </a:ln>
        </p:spPr>
        <p:txBody>
          <a:bodyPr tIns="0" bIns="0"/>
          <a:p>
            <a:pPr algn="ctr" eaLnBrk="1" hangingPunct="1"/>
            <a:r>
              <a:rPr lang="zh-CN" altLang="en-US" sz="1600" b="1" dirty="0">
                <a:solidFill>
                  <a:srgbClr val="FF0000"/>
                </a:solidFill>
                <a:latin typeface="楷体_GB2312" pitchFamily="49" charset="-122"/>
                <a:ea typeface="楷体_GB2312" pitchFamily="49" charset="-122"/>
              </a:rPr>
              <a:t>时间</a:t>
            </a:r>
            <a:endParaRPr lang="zh-CN" altLang="en-US" sz="1600" b="1" dirty="0">
              <a:solidFill>
                <a:srgbClr val="FF0000"/>
              </a:solidFill>
              <a:latin typeface="楷体_GB2312" pitchFamily="49" charset="-122"/>
              <a:ea typeface="楷体_GB2312" pitchFamily="49" charset="-122"/>
            </a:endParaRPr>
          </a:p>
        </p:txBody>
      </p:sp>
      <p:sp>
        <p:nvSpPr>
          <p:cNvPr id="76822" name="Line 35"/>
          <p:cNvSpPr/>
          <p:nvPr/>
        </p:nvSpPr>
        <p:spPr>
          <a:xfrm>
            <a:off x="1155700" y="2235200"/>
            <a:ext cx="7424738" cy="0"/>
          </a:xfrm>
          <a:prstGeom prst="line">
            <a:avLst/>
          </a:prstGeom>
          <a:ln w="9525" cap="flat" cmpd="sng">
            <a:solidFill>
              <a:srgbClr val="000000"/>
            </a:solidFill>
            <a:prstDash val="solid"/>
            <a:headEnd type="none" w="med" len="med"/>
            <a:tailEnd type="non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67970"/>
                                        </p:tgtEl>
                                        <p:attrNameLst>
                                          <p:attrName>style.visibility</p:attrName>
                                        </p:attrNameLst>
                                      </p:cBhvr>
                                      <p:to>
                                        <p:strVal val="visible"/>
                                      </p:to>
                                    </p:set>
                                    <p:animEffect transition="in" filter="fade">
                                      <p:cBhvr>
                                        <p:cTn id="7" dur="2000"/>
                                        <p:tgtEl>
                                          <p:spTgt spid="4679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67973"/>
                                        </p:tgtEl>
                                        <p:attrNameLst>
                                          <p:attrName>style.visibility</p:attrName>
                                        </p:attrNameLst>
                                      </p:cBhvr>
                                      <p:to>
                                        <p:strVal val="visible"/>
                                      </p:to>
                                    </p:set>
                                    <p:animEffect transition="in" filter="wipe(up)">
                                      <p:cBhvr>
                                        <p:cTn id="12" dur="500"/>
                                        <p:tgtEl>
                                          <p:spTgt spid="46797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467978"/>
                                        </p:tgtEl>
                                        <p:attrNameLst>
                                          <p:attrName>style.visibility</p:attrName>
                                        </p:attrNameLst>
                                      </p:cBhvr>
                                      <p:to>
                                        <p:strVal val="visible"/>
                                      </p:to>
                                    </p:set>
                                    <p:animEffect transition="in" filter="dissolve">
                                      <p:cBhvr>
                                        <p:cTn id="21" dur="500"/>
                                        <p:tgtEl>
                                          <p:spTgt spid="467978"/>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467980"/>
                                        </p:tgtEl>
                                        <p:attrNameLst>
                                          <p:attrName>style.visibility</p:attrName>
                                        </p:attrNameLst>
                                      </p:cBhvr>
                                      <p:to>
                                        <p:strVal val="visible"/>
                                      </p:to>
                                    </p:set>
                                    <p:animEffect transition="in" filter="dissolve">
                                      <p:cBhvr>
                                        <p:cTn id="25" dur="500"/>
                                        <p:tgtEl>
                                          <p:spTgt spid="467980"/>
                                        </p:tgtEl>
                                      </p:cBhvr>
                                    </p:animEffect>
                                  </p:childTnLst>
                                </p:cTn>
                              </p:par>
                            </p:childTnLst>
                          </p:cTn>
                        </p:par>
                        <p:par>
                          <p:cTn id="26" fill="hold">
                            <p:stCondLst>
                              <p:cond delay="1500"/>
                            </p:stCondLst>
                            <p:childTnLst>
                              <p:par>
                                <p:cTn id="27" presetID="9" presetClass="entr" presetSubtype="0" fill="hold" grpId="0" nodeType="afterEffect">
                                  <p:stCondLst>
                                    <p:cond delay="0"/>
                                  </p:stCondLst>
                                  <p:childTnLst>
                                    <p:set>
                                      <p:cBhvr>
                                        <p:cTn id="28" dur="1" fill="hold">
                                          <p:stCondLst>
                                            <p:cond delay="0"/>
                                          </p:stCondLst>
                                        </p:cTn>
                                        <p:tgtEl>
                                          <p:spTgt spid="467979"/>
                                        </p:tgtEl>
                                        <p:attrNameLst>
                                          <p:attrName>style.visibility</p:attrName>
                                        </p:attrNameLst>
                                      </p:cBhvr>
                                      <p:to>
                                        <p:strVal val="visible"/>
                                      </p:to>
                                    </p:set>
                                    <p:animEffect transition="in" filter="dissolve">
                                      <p:cBhvr>
                                        <p:cTn id="29" dur="500"/>
                                        <p:tgtEl>
                                          <p:spTgt spid="46797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left)">
                                      <p:cBhvr>
                                        <p:cTn id="34" dur="500"/>
                                        <p:tgtEl>
                                          <p:spTgt spid="3"/>
                                        </p:tgtEl>
                                      </p:cBhvr>
                                    </p:animEffect>
                                  </p:childTnLst>
                                </p:cTn>
                              </p:par>
                            </p:childTnLst>
                          </p:cTn>
                        </p:par>
                        <p:par>
                          <p:cTn id="35" fill="hold">
                            <p:stCondLst>
                              <p:cond delay="500"/>
                            </p:stCondLst>
                            <p:childTnLst>
                              <p:par>
                                <p:cTn id="36" presetID="22" presetClass="entr" presetSubtype="1" fill="hold" grpId="0" nodeType="afterEffect">
                                  <p:stCondLst>
                                    <p:cond delay="0"/>
                                  </p:stCondLst>
                                  <p:childTnLst>
                                    <p:set>
                                      <p:cBhvr>
                                        <p:cTn id="37" dur="1" fill="hold">
                                          <p:stCondLst>
                                            <p:cond delay="0"/>
                                          </p:stCondLst>
                                        </p:cTn>
                                        <p:tgtEl>
                                          <p:spTgt spid="467988"/>
                                        </p:tgtEl>
                                        <p:attrNameLst>
                                          <p:attrName>style.visibility</p:attrName>
                                        </p:attrNameLst>
                                      </p:cBhvr>
                                      <p:to>
                                        <p:strVal val="visible"/>
                                      </p:to>
                                    </p:set>
                                    <p:animEffect transition="in" filter="wipe(up)">
                                      <p:cBhvr>
                                        <p:cTn id="38" dur="500"/>
                                        <p:tgtEl>
                                          <p:spTgt spid="46798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ipe(right)">
                                      <p:cBhvr>
                                        <p:cTn id="43" dur="500"/>
                                        <p:tgtEl>
                                          <p:spTgt spid="4"/>
                                        </p:tgtEl>
                                      </p:cBhvr>
                                    </p:animEffect>
                                  </p:childTnLst>
                                </p:cTn>
                              </p:par>
                            </p:childTnLst>
                          </p:cTn>
                        </p:par>
                        <p:par>
                          <p:cTn id="44" fill="hold">
                            <p:stCondLst>
                              <p:cond delay="500"/>
                            </p:stCondLst>
                            <p:childTnLst>
                              <p:par>
                                <p:cTn id="45" presetID="9" presetClass="entr" presetSubtype="0" fill="hold" grpId="0" nodeType="afterEffect">
                                  <p:stCondLst>
                                    <p:cond delay="0"/>
                                  </p:stCondLst>
                                  <p:childTnLst>
                                    <p:set>
                                      <p:cBhvr>
                                        <p:cTn id="46" dur="1" fill="hold">
                                          <p:stCondLst>
                                            <p:cond delay="0"/>
                                          </p:stCondLst>
                                        </p:cTn>
                                        <p:tgtEl>
                                          <p:spTgt spid="467981"/>
                                        </p:tgtEl>
                                        <p:attrNameLst>
                                          <p:attrName>style.visibility</p:attrName>
                                        </p:attrNameLst>
                                      </p:cBhvr>
                                      <p:to>
                                        <p:strVal val="visible"/>
                                      </p:to>
                                    </p:set>
                                    <p:animEffect transition="in" filter="dissolve">
                                      <p:cBhvr>
                                        <p:cTn id="47" dur="500"/>
                                        <p:tgtEl>
                                          <p:spTgt spid="467981"/>
                                        </p:tgtEl>
                                      </p:cBhvr>
                                    </p:animEffect>
                                  </p:childTnLst>
                                </p:cTn>
                              </p:par>
                            </p:childTnLst>
                          </p:cTn>
                        </p:par>
                        <p:par>
                          <p:cTn id="48" fill="hold">
                            <p:stCondLst>
                              <p:cond delay="1000"/>
                            </p:stCondLst>
                            <p:childTnLst>
                              <p:par>
                                <p:cTn id="49" presetID="9" presetClass="entr" presetSubtype="0" fill="hold" grpId="0" nodeType="afterEffect">
                                  <p:stCondLst>
                                    <p:cond delay="0"/>
                                  </p:stCondLst>
                                  <p:childTnLst>
                                    <p:set>
                                      <p:cBhvr>
                                        <p:cTn id="50" dur="1" fill="hold">
                                          <p:stCondLst>
                                            <p:cond delay="0"/>
                                          </p:stCondLst>
                                        </p:cTn>
                                        <p:tgtEl>
                                          <p:spTgt spid="467983"/>
                                        </p:tgtEl>
                                        <p:attrNameLst>
                                          <p:attrName>style.visibility</p:attrName>
                                        </p:attrNameLst>
                                      </p:cBhvr>
                                      <p:to>
                                        <p:strVal val="visible"/>
                                      </p:to>
                                    </p:set>
                                    <p:animEffect transition="in" filter="dissolve">
                                      <p:cBhvr>
                                        <p:cTn id="51" dur="500"/>
                                        <p:tgtEl>
                                          <p:spTgt spid="467983"/>
                                        </p:tgtEl>
                                      </p:cBhvr>
                                    </p:animEffect>
                                  </p:childTnLst>
                                </p:cTn>
                              </p:par>
                            </p:childTnLst>
                          </p:cTn>
                        </p:par>
                        <p:par>
                          <p:cTn id="52" fill="hold">
                            <p:stCondLst>
                              <p:cond delay="1500"/>
                            </p:stCondLst>
                            <p:childTnLst>
                              <p:par>
                                <p:cTn id="53" presetID="9" presetClass="entr" presetSubtype="0" fill="hold" grpId="0" nodeType="afterEffect">
                                  <p:stCondLst>
                                    <p:cond delay="0"/>
                                  </p:stCondLst>
                                  <p:childTnLst>
                                    <p:set>
                                      <p:cBhvr>
                                        <p:cTn id="54" dur="1" fill="hold">
                                          <p:stCondLst>
                                            <p:cond delay="0"/>
                                          </p:stCondLst>
                                        </p:cTn>
                                        <p:tgtEl>
                                          <p:spTgt spid="467982"/>
                                        </p:tgtEl>
                                        <p:attrNameLst>
                                          <p:attrName>style.visibility</p:attrName>
                                        </p:attrNameLst>
                                      </p:cBhvr>
                                      <p:to>
                                        <p:strVal val="visible"/>
                                      </p:to>
                                    </p:set>
                                    <p:animEffect transition="in" filter="dissolve">
                                      <p:cBhvr>
                                        <p:cTn id="55" dur="500"/>
                                        <p:tgtEl>
                                          <p:spTgt spid="46798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2" fill="hold" nodeType="click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wipe(right)">
                                      <p:cBhvr>
                                        <p:cTn id="60" dur="500"/>
                                        <p:tgtEl>
                                          <p:spTgt spid="5"/>
                                        </p:tgtEl>
                                      </p:cBhvr>
                                    </p:animEffect>
                                  </p:childTnLst>
                                </p:cTn>
                              </p:par>
                            </p:childTnLst>
                          </p:cTn>
                        </p:par>
                        <p:par>
                          <p:cTn id="61" fill="hold">
                            <p:stCondLst>
                              <p:cond delay="500"/>
                            </p:stCondLst>
                            <p:childTnLst>
                              <p:par>
                                <p:cTn id="62" presetID="22" presetClass="entr" presetSubtype="1" fill="hold" grpId="0" nodeType="afterEffect">
                                  <p:stCondLst>
                                    <p:cond delay="0"/>
                                  </p:stCondLst>
                                  <p:childTnLst>
                                    <p:set>
                                      <p:cBhvr>
                                        <p:cTn id="63" dur="1" fill="hold">
                                          <p:stCondLst>
                                            <p:cond delay="0"/>
                                          </p:stCondLst>
                                        </p:cTn>
                                        <p:tgtEl>
                                          <p:spTgt spid="467977"/>
                                        </p:tgtEl>
                                        <p:attrNameLst>
                                          <p:attrName>style.visibility</p:attrName>
                                        </p:attrNameLst>
                                      </p:cBhvr>
                                      <p:to>
                                        <p:strVal val="visible"/>
                                      </p:to>
                                    </p:set>
                                    <p:animEffect transition="in" filter="wipe(up)">
                                      <p:cBhvr>
                                        <p:cTn id="64" dur="500"/>
                                        <p:tgtEl>
                                          <p:spTgt spid="4679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70" grpId="0"/>
      <p:bldP spid="467973" grpId="0" animBg="1"/>
      <p:bldP spid="467977" grpId="0" animBg="1"/>
      <p:bldP spid="467978" grpId="0" animBg="1"/>
      <p:bldP spid="467979" grpId="0" animBg="1"/>
      <p:bldP spid="467980" grpId="0"/>
      <p:bldP spid="467981" grpId="0" animBg="1"/>
      <p:bldP spid="467982" grpId="0" animBg="1"/>
      <p:bldP spid="467983" grpId="0"/>
      <p:bldP spid="467988"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8994" name="Rectangle 2"/>
          <p:cNvSpPr>
            <a:spLocks noGrp="1" noRot="1" noChangeArrowheads="1"/>
          </p:cNvSpPr>
          <p:nvPr>
            <p:ph type="title" idx="4294967295"/>
          </p:nvPr>
        </p:nvSpPr>
        <p:spPr>
          <a:xfrm>
            <a:off x="714375" y="228600"/>
            <a:ext cx="8143875" cy="1143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进程切换基本步骤</a:t>
            </a:r>
            <a:endParaRPr kumimoji="0" lang="zh-CN" alt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68998" name="Rectangle 6"/>
          <p:cNvSpPr/>
          <p:nvPr/>
        </p:nvSpPr>
        <p:spPr>
          <a:xfrm>
            <a:off x="546100" y="1614488"/>
            <a:ext cx="7724775" cy="519112"/>
          </a:xfrm>
          <a:prstGeom prst="rect">
            <a:avLst/>
          </a:prstGeom>
          <a:noFill/>
          <a:ln w="9525">
            <a:noFill/>
          </a:ln>
        </p:spPr>
        <p:txBody>
          <a:bodyPr>
            <a:spAutoFit/>
          </a:bodyPr>
          <a:p>
            <a:pPr eaLnBrk="1" hangingPunct="1"/>
            <a:r>
              <a:rPr lang="en-US" altLang="zh-CN" sz="2800" b="1" dirty="0">
                <a:latin typeface="Arial" panose="020B0604020202020204" pitchFamily="34" charset="0"/>
                <a:ea typeface="华文新魏" panose="02010800040101010101" pitchFamily="2" charset="-122"/>
              </a:rPr>
              <a:t>1 </a:t>
            </a:r>
            <a:r>
              <a:rPr lang="zh-CN" altLang="en-US" sz="2800" b="1" dirty="0">
                <a:latin typeface="Arial" panose="020B0604020202020204" pitchFamily="34" charset="0"/>
                <a:ea typeface="华文新魏" panose="02010800040101010101" pitchFamily="2" charset="-122"/>
              </a:rPr>
              <a:t>保存进程上下文环境</a:t>
            </a:r>
            <a:endParaRPr lang="zh-CN" altLang="en-US" sz="2800" b="1" dirty="0">
              <a:latin typeface="Arial" panose="020B0604020202020204" pitchFamily="34" charset="0"/>
              <a:ea typeface="华文新魏" panose="02010800040101010101" pitchFamily="2" charset="-122"/>
            </a:endParaRPr>
          </a:p>
        </p:txBody>
      </p:sp>
      <p:sp>
        <p:nvSpPr>
          <p:cNvPr id="468999" name="Rectangle 7"/>
          <p:cNvSpPr/>
          <p:nvPr/>
        </p:nvSpPr>
        <p:spPr>
          <a:xfrm>
            <a:off x="546100" y="2300288"/>
            <a:ext cx="7724775" cy="946150"/>
          </a:xfrm>
          <a:prstGeom prst="rect">
            <a:avLst/>
          </a:prstGeom>
          <a:noFill/>
          <a:ln w="9525">
            <a:noFill/>
          </a:ln>
        </p:spPr>
        <p:txBody>
          <a:bodyPr>
            <a:spAutoFit/>
          </a:bodyPr>
          <a:p>
            <a:pPr eaLnBrk="1" hangingPunct="1"/>
            <a:r>
              <a:rPr lang="en-US" altLang="zh-CN" sz="2800" b="1" dirty="0">
                <a:latin typeface="Arial" panose="020B0604020202020204" pitchFamily="34" charset="0"/>
                <a:ea typeface="华文新魏" panose="02010800040101010101" pitchFamily="2" charset="-122"/>
              </a:rPr>
              <a:t>2 </a:t>
            </a:r>
            <a:r>
              <a:rPr lang="zh-CN" altLang="en-US" sz="2800" b="1" dirty="0">
                <a:latin typeface="Arial" panose="020B0604020202020204" pitchFamily="34" charset="0"/>
                <a:ea typeface="华文新魏" panose="02010800040101010101" pitchFamily="2" charset="-122"/>
              </a:rPr>
              <a:t>更新当前运行进程的控制块内容，将其状态改为就绪或阻塞状态</a:t>
            </a:r>
            <a:endParaRPr lang="zh-CN" altLang="en-US" sz="2800" b="1" dirty="0">
              <a:latin typeface="Arial" panose="020B0604020202020204" pitchFamily="34" charset="0"/>
              <a:ea typeface="华文新魏" panose="02010800040101010101" pitchFamily="2" charset="-122"/>
            </a:endParaRPr>
          </a:p>
        </p:txBody>
      </p:sp>
      <p:sp>
        <p:nvSpPr>
          <p:cNvPr id="469000" name="Rectangle 8"/>
          <p:cNvSpPr/>
          <p:nvPr/>
        </p:nvSpPr>
        <p:spPr>
          <a:xfrm>
            <a:off x="546100" y="3443288"/>
            <a:ext cx="7724775" cy="946150"/>
          </a:xfrm>
          <a:prstGeom prst="rect">
            <a:avLst/>
          </a:prstGeom>
          <a:noFill/>
          <a:ln w="9525">
            <a:noFill/>
          </a:ln>
        </p:spPr>
        <p:txBody>
          <a:bodyPr>
            <a:spAutoFit/>
          </a:bodyPr>
          <a:p>
            <a:pPr eaLnBrk="1" hangingPunct="1"/>
            <a:r>
              <a:rPr lang="en-US" altLang="zh-CN" sz="2800" b="1" dirty="0">
                <a:latin typeface="Arial" panose="020B0604020202020204" pitchFamily="34" charset="0"/>
                <a:ea typeface="华文新魏" panose="02010800040101010101" pitchFamily="2" charset="-122"/>
              </a:rPr>
              <a:t>3 </a:t>
            </a:r>
            <a:r>
              <a:rPr lang="zh-CN" altLang="en-US" sz="2800" b="1" dirty="0">
                <a:latin typeface="Arial" panose="020B0604020202020204" pitchFamily="34" charset="0"/>
                <a:ea typeface="华文新魏" panose="02010800040101010101" pitchFamily="2" charset="-122"/>
              </a:rPr>
              <a:t>将进程控制块移到相应队列（就绪队列或阻塞队列）</a:t>
            </a:r>
            <a:endParaRPr lang="zh-CN" altLang="en-US" sz="2800" b="1" dirty="0">
              <a:latin typeface="Arial" panose="020B0604020202020204" pitchFamily="34" charset="0"/>
              <a:ea typeface="华文新魏" panose="02010800040101010101" pitchFamily="2" charset="-122"/>
            </a:endParaRPr>
          </a:p>
        </p:txBody>
      </p:sp>
      <p:sp>
        <p:nvSpPr>
          <p:cNvPr id="469001" name="Rectangle 9"/>
          <p:cNvSpPr/>
          <p:nvPr/>
        </p:nvSpPr>
        <p:spPr>
          <a:xfrm>
            <a:off x="546100" y="4662488"/>
            <a:ext cx="7724775" cy="946150"/>
          </a:xfrm>
          <a:prstGeom prst="rect">
            <a:avLst/>
          </a:prstGeom>
          <a:noFill/>
          <a:ln w="9525">
            <a:noFill/>
          </a:ln>
        </p:spPr>
        <p:txBody>
          <a:bodyPr>
            <a:spAutoFit/>
          </a:bodyPr>
          <a:p>
            <a:pPr eaLnBrk="1" hangingPunct="1"/>
            <a:r>
              <a:rPr lang="en-US" altLang="zh-CN" sz="2800" b="1" dirty="0">
                <a:latin typeface="Arial" panose="020B0604020202020204" pitchFamily="34" charset="0"/>
                <a:ea typeface="华文新魏" panose="02010800040101010101" pitchFamily="2" charset="-122"/>
              </a:rPr>
              <a:t>4 </a:t>
            </a:r>
            <a:r>
              <a:rPr lang="zh-CN" altLang="en-US" sz="2800" b="1" dirty="0">
                <a:latin typeface="Arial" panose="020B0604020202020204" pitchFamily="34" charset="0"/>
                <a:ea typeface="华文新魏" panose="02010800040101010101" pitchFamily="2" charset="-122"/>
              </a:rPr>
              <a:t>改变需投入运行进程的控制块内容，将其状态变为运行状态</a:t>
            </a:r>
            <a:endParaRPr lang="zh-CN" altLang="en-US" sz="2800" b="1" dirty="0">
              <a:latin typeface="Arial" panose="020B0604020202020204" pitchFamily="34" charset="0"/>
              <a:ea typeface="华文新魏" panose="02010800040101010101" pitchFamily="2" charset="-122"/>
            </a:endParaRPr>
          </a:p>
        </p:txBody>
      </p:sp>
      <p:sp>
        <p:nvSpPr>
          <p:cNvPr id="469002" name="Rectangle 10"/>
          <p:cNvSpPr/>
          <p:nvPr/>
        </p:nvSpPr>
        <p:spPr>
          <a:xfrm>
            <a:off x="546100" y="5881688"/>
            <a:ext cx="7724775" cy="519112"/>
          </a:xfrm>
          <a:prstGeom prst="rect">
            <a:avLst/>
          </a:prstGeom>
          <a:noFill/>
          <a:ln w="9525">
            <a:noFill/>
          </a:ln>
        </p:spPr>
        <p:txBody>
          <a:bodyPr>
            <a:spAutoFit/>
          </a:bodyPr>
          <a:p>
            <a:pPr eaLnBrk="1" hangingPunct="1"/>
            <a:r>
              <a:rPr lang="en-US" altLang="zh-CN" sz="2800" b="1" dirty="0">
                <a:latin typeface="Arial" panose="020B0604020202020204" pitchFamily="34" charset="0"/>
                <a:ea typeface="华文新魏" panose="02010800040101010101" pitchFamily="2" charset="-122"/>
              </a:rPr>
              <a:t>5 </a:t>
            </a:r>
            <a:r>
              <a:rPr lang="zh-CN" altLang="en-US" sz="2800" b="1" dirty="0">
                <a:latin typeface="Arial" panose="020B0604020202020204" pitchFamily="34" charset="0"/>
                <a:ea typeface="华文新魏" panose="02010800040101010101" pitchFamily="2" charset="-122"/>
              </a:rPr>
              <a:t>恢复需投入运行进程的上下文环境</a:t>
            </a:r>
            <a:endParaRPr lang="zh-CN" altLang="en-US" sz="2800" b="1" dirty="0">
              <a:latin typeface="Arial" panose="020B0604020202020204" pitchFamily="34" charset="0"/>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68994"/>
                                        </p:tgtEl>
                                        <p:attrNameLst>
                                          <p:attrName>style.visibility</p:attrName>
                                        </p:attrNameLst>
                                      </p:cBhvr>
                                      <p:to>
                                        <p:strVal val="visible"/>
                                      </p:to>
                                    </p:set>
                                    <p:animEffect transition="in" filter="fade">
                                      <p:cBhvr>
                                        <p:cTn id="7" dur="2000"/>
                                        <p:tgtEl>
                                          <p:spTgt spid="46899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468998"/>
                                        </p:tgtEl>
                                        <p:attrNameLst>
                                          <p:attrName>style.visibility</p:attrName>
                                        </p:attrNameLst>
                                      </p:cBhvr>
                                      <p:to>
                                        <p:strVal val="visible"/>
                                      </p:to>
                                    </p:set>
                                    <p:anim calcmode="lin" valueType="num">
                                      <p:cBhvr additive="base">
                                        <p:cTn id="12" dur="500" fill="hold"/>
                                        <p:tgtEl>
                                          <p:spTgt spid="468998"/>
                                        </p:tgtEl>
                                        <p:attrNameLst>
                                          <p:attrName>ppt_x</p:attrName>
                                        </p:attrNameLst>
                                      </p:cBhvr>
                                      <p:tavLst>
                                        <p:tav tm="0">
                                          <p:val>
                                            <p:strVal val="1+#ppt_w/2"/>
                                          </p:val>
                                        </p:tav>
                                        <p:tav tm="100000">
                                          <p:val>
                                            <p:strVal val="#ppt_x"/>
                                          </p:val>
                                        </p:tav>
                                      </p:tavLst>
                                    </p:anim>
                                    <p:anim calcmode="lin" valueType="num">
                                      <p:cBhvr additive="base">
                                        <p:cTn id="13" dur="500" fill="hold"/>
                                        <p:tgtEl>
                                          <p:spTgt spid="46899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468999"/>
                                        </p:tgtEl>
                                        <p:attrNameLst>
                                          <p:attrName>style.visibility</p:attrName>
                                        </p:attrNameLst>
                                      </p:cBhvr>
                                      <p:to>
                                        <p:strVal val="visible"/>
                                      </p:to>
                                    </p:set>
                                    <p:anim calcmode="lin" valueType="num">
                                      <p:cBhvr additive="base">
                                        <p:cTn id="18" dur="500" fill="hold"/>
                                        <p:tgtEl>
                                          <p:spTgt spid="468999"/>
                                        </p:tgtEl>
                                        <p:attrNameLst>
                                          <p:attrName>ppt_x</p:attrName>
                                        </p:attrNameLst>
                                      </p:cBhvr>
                                      <p:tavLst>
                                        <p:tav tm="0">
                                          <p:val>
                                            <p:strVal val="1+#ppt_w/2"/>
                                          </p:val>
                                        </p:tav>
                                        <p:tav tm="100000">
                                          <p:val>
                                            <p:strVal val="#ppt_x"/>
                                          </p:val>
                                        </p:tav>
                                      </p:tavLst>
                                    </p:anim>
                                    <p:anim calcmode="lin" valueType="num">
                                      <p:cBhvr additive="base">
                                        <p:cTn id="19" dur="500" fill="hold"/>
                                        <p:tgtEl>
                                          <p:spTgt spid="468999"/>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469000"/>
                                        </p:tgtEl>
                                        <p:attrNameLst>
                                          <p:attrName>style.visibility</p:attrName>
                                        </p:attrNameLst>
                                      </p:cBhvr>
                                      <p:to>
                                        <p:strVal val="visible"/>
                                      </p:to>
                                    </p:set>
                                    <p:anim calcmode="lin" valueType="num">
                                      <p:cBhvr additive="base">
                                        <p:cTn id="24" dur="500" fill="hold"/>
                                        <p:tgtEl>
                                          <p:spTgt spid="469000"/>
                                        </p:tgtEl>
                                        <p:attrNameLst>
                                          <p:attrName>ppt_x</p:attrName>
                                        </p:attrNameLst>
                                      </p:cBhvr>
                                      <p:tavLst>
                                        <p:tav tm="0">
                                          <p:val>
                                            <p:strVal val="1+#ppt_w/2"/>
                                          </p:val>
                                        </p:tav>
                                        <p:tav tm="100000">
                                          <p:val>
                                            <p:strVal val="#ppt_x"/>
                                          </p:val>
                                        </p:tav>
                                      </p:tavLst>
                                    </p:anim>
                                    <p:anim calcmode="lin" valueType="num">
                                      <p:cBhvr additive="base">
                                        <p:cTn id="25" dur="500" fill="hold"/>
                                        <p:tgtEl>
                                          <p:spTgt spid="469000"/>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469001"/>
                                        </p:tgtEl>
                                        <p:attrNameLst>
                                          <p:attrName>style.visibility</p:attrName>
                                        </p:attrNameLst>
                                      </p:cBhvr>
                                      <p:to>
                                        <p:strVal val="visible"/>
                                      </p:to>
                                    </p:set>
                                    <p:anim calcmode="lin" valueType="num">
                                      <p:cBhvr additive="base">
                                        <p:cTn id="30" dur="500" fill="hold"/>
                                        <p:tgtEl>
                                          <p:spTgt spid="469001"/>
                                        </p:tgtEl>
                                        <p:attrNameLst>
                                          <p:attrName>ppt_x</p:attrName>
                                        </p:attrNameLst>
                                      </p:cBhvr>
                                      <p:tavLst>
                                        <p:tav tm="0">
                                          <p:val>
                                            <p:strVal val="1+#ppt_w/2"/>
                                          </p:val>
                                        </p:tav>
                                        <p:tav tm="100000">
                                          <p:val>
                                            <p:strVal val="#ppt_x"/>
                                          </p:val>
                                        </p:tav>
                                      </p:tavLst>
                                    </p:anim>
                                    <p:anim calcmode="lin" valueType="num">
                                      <p:cBhvr additive="base">
                                        <p:cTn id="31" dur="500" fill="hold"/>
                                        <p:tgtEl>
                                          <p:spTgt spid="469001"/>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469002"/>
                                        </p:tgtEl>
                                        <p:attrNameLst>
                                          <p:attrName>style.visibility</p:attrName>
                                        </p:attrNameLst>
                                      </p:cBhvr>
                                      <p:to>
                                        <p:strVal val="visible"/>
                                      </p:to>
                                    </p:set>
                                    <p:anim calcmode="lin" valueType="num">
                                      <p:cBhvr additive="base">
                                        <p:cTn id="36" dur="500" fill="hold"/>
                                        <p:tgtEl>
                                          <p:spTgt spid="469002"/>
                                        </p:tgtEl>
                                        <p:attrNameLst>
                                          <p:attrName>ppt_x</p:attrName>
                                        </p:attrNameLst>
                                      </p:cBhvr>
                                      <p:tavLst>
                                        <p:tav tm="0">
                                          <p:val>
                                            <p:strVal val="1+#ppt_w/2"/>
                                          </p:val>
                                        </p:tav>
                                        <p:tav tm="100000">
                                          <p:val>
                                            <p:strVal val="#ppt_x"/>
                                          </p:val>
                                        </p:tav>
                                      </p:tavLst>
                                    </p:anim>
                                    <p:anim calcmode="lin" valueType="num">
                                      <p:cBhvr additive="base">
                                        <p:cTn id="37" dur="500" fill="hold"/>
                                        <p:tgtEl>
                                          <p:spTgt spid="4690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4" grpId="0"/>
      <p:bldP spid="468998" grpId="0"/>
      <p:bldP spid="468999" grpId="0"/>
      <p:bldP spid="469000" grpId="0"/>
      <p:bldP spid="469001" grpId="0"/>
      <p:bldP spid="46900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2066"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Linux </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的进程切换过程</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8131" name="Rectangle 3"/>
          <p:cNvSpPr>
            <a:spLocks noGrp="1" noRot="1"/>
          </p:cNvSpPr>
          <p:nvPr>
            <p:ph type="body" idx="4294967295"/>
          </p:nvPr>
        </p:nvSpPr>
        <p:spPr>
          <a:xfrm>
            <a:off x="457200" y="1673225"/>
            <a:ext cx="8458200" cy="4498975"/>
          </a:xfrm>
          <a:ln/>
        </p:spPr>
        <p:txBody>
          <a:bodyPr vert="horz" wrap="square" lIns="91440" tIns="45720" rIns="91440" bIns="45720" anchor="t" anchorCtr="0"/>
          <a:p>
            <a:pPr eaLnBrk="1" hangingPunct="1"/>
            <a:r>
              <a:rPr lang="en-US" altLang="zh-CN" b="1" dirty="0"/>
              <a:t>Linux</a:t>
            </a:r>
            <a:r>
              <a:rPr lang="zh-CN" altLang="en-US" b="1" dirty="0"/>
              <a:t>进程切换（</a:t>
            </a:r>
            <a:r>
              <a:rPr lang="en-US" altLang="zh-CN" dirty="0"/>
              <a:t>context_switch() </a:t>
            </a:r>
            <a:r>
              <a:rPr lang="zh-CN" altLang="en-US" b="1" dirty="0"/>
              <a:t>）本质上两步：</a:t>
            </a:r>
            <a:endParaRPr lang="zh-CN" altLang="en-US" b="1" dirty="0"/>
          </a:p>
          <a:p>
            <a:pPr eaLnBrk="1" hangingPunct="1"/>
            <a:r>
              <a:rPr lang="en-US" altLang="zh-CN" b="1" dirty="0"/>
              <a:t>1)  </a:t>
            </a:r>
            <a:r>
              <a:rPr lang="zh-CN" altLang="en-US" b="1" dirty="0"/>
              <a:t>进程页表</a:t>
            </a:r>
            <a:r>
              <a:rPr lang="en-US" altLang="zh-CN" b="1" dirty="0"/>
              <a:t>PGD</a:t>
            </a:r>
            <a:r>
              <a:rPr lang="zh-CN" altLang="en-US" b="1" dirty="0"/>
              <a:t>切换；</a:t>
            </a:r>
            <a:endParaRPr lang="zh-CN" altLang="en-US" b="1" dirty="0"/>
          </a:p>
          <a:p>
            <a:pPr eaLnBrk="1" hangingPunct="1"/>
            <a:r>
              <a:rPr lang="en-US" altLang="zh-CN" b="1" dirty="0"/>
              <a:t>2)  </a:t>
            </a:r>
            <a:r>
              <a:rPr lang="zh-CN" altLang="en-US" b="1" dirty="0"/>
              <a:t>内核态堆栈和硬件上下文切换（包括</a:t>
            </a:r>
            <a:r>
              <a:rPr lang="en-US" altLang="zh-CN" b="1" dirty="0"/>
              <a:t>CPU</a:t>
            </a:r>
            <a:r>
              <a:rPr lang="zh-CN" altLang="en-US" b="1" dirty="0"/>
              <a:t>寄存器）；</a:t>
            </a:r>
            <a:endParaRPr lang="zh-CN" altLang="en-US" b="1" dirty="0"/>
          </a:p>
          <a:p>
            <a:pPr eaLnBrk="1" hangingPunct="1"/>
            <a:r>
              <a:rPr lang="zh-CN" altLang="en-US" b="1" dirty="0"/>
              <a:t>   </a:t>
            </a:r>
            <a:r>
              <a:rPr lang="en-US" altLang="zh-CN" dirty="0">
                <a:solidFill>
                  <a:schemeClr val="folHlink"/>
                </a:solidFill>
              </a:rPr>
              <a:t>context_switch()</a:t>
            </a:r>
            <a:r>
              <a:rPr lang="zh-CN" altLang="en-US" b="1" dirty="0">
                <a:solidFill>
                  <a:schemeClr val="folHlink"/>
                </a:solidFill>
              </a:rPr>
              <a:t>通过调用</a:t>
            </a:r>
            <a:r>
              <a:rPr lang="en-US" altLang="zh-CN" b="1" dirty="0">
                <a:solidFill>
                  <a:schemeClr val="folHlink"/>
                </a:solidFill>
              </a:rPr>
              <a:t>switch_mm()</a:t>
            </a:r>
            <a:r>
              <a:rPr lang="zh-CN" altLang="en-US" b="1" dirty="0">
                <a:solidFill>
                  <a:schemeClr val="folHlink"/>
                </a:solidFill>
              </a:rPr>
              <a:t>切换进程空间，调用</a:t>
            </a:r>
            <a:r>
              <a:rPr lang="en-US" altLang="zh-CN" b="1" dirty="0">
                <a:solidFill>
                  <a:schemeClr val="folHlink"/>
                </a:solidFill>
              </a:rPr>
              <a:t>switch_to</a:t>
            </a:r>
            <a:r>
              <a:rPr lang="zh-CN" altLang="en-US" b="1" dirty="0">
                <a:solidFill>
                  <a:schemeClr val="folHlink"/>
                </a:solidFill>
              </a:rPr>
              <a:t>切换内核上下文环境。</a:t>
            </a:r>
            <a:endParaRPr lang="zh-CN" altLang="en-US" b="1" dirty="0">
              <a:solidFill>
                <a:schemeClr val="folHlink"/>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72066"/>
                                        </p:tgtEl>
                                        <p:attrNameLst>
                                          <p:attrName>style.visibility</p:attrName>
                                        </p:attrNameLst>
                                      </p:cBhvr>
                                      <p:to>
                                        <p:strVal val="visible"/>
                                      </p:to>
                                    </p:set>
                                    <p:animEffect transition="in" filter="fade">
                                      <p:cBhvr>
                                        <p:cTn id="7" dur="2000"/>
                                        <p:tgtEl>
                                          <p:spTgt spid="4720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8131">
                                            <p:txEl>
                                              <p:charRg st="0" end="35"/>
                                            </p:txEl>
                                          </p:spTgt>
                                        </p:tgtEl>
                                        <p:attrNameLst>
                                          <p:attrName>style.visibility</p:attrName>
                                        </p:attrNameLst>
                                      </p:cBhvr>
                                      <p:to>
                                        <p:strVal val="visible"/>
                                      </p:to>
                                    </p:set>
                                    <p:animEffect transition="in" filter="fade">
                                      <p:cBhvr>
                                        <p:cTn id="12" dur="2000"/>
                                        <p:tgtEl>
                                          <p:spTgt spid="48131">
                                            <p:txEl>
                                              <p:charRg st="0" end="3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8131">
                                            <p:txEl>
                                              <p:charRg st="35" end="50"/>
                                            </p:txEl>
                                          </p:spTgt>
                                        </p:tgtEl>
                                        <p:attrNameLst>
                                          <p:attrName>style.visibility</p:attrName>
                                        </p:attrNameLst>
                                      </p:cBhvr>
                                      <p:to>
                                        <p:strVal val="visible"/>
                                      </p:to>
                                    </p:set>
                                    <p:animEffect transition="in" filter="fade">
                                      <p:cBhvr>
                                        <p:cTn id="17" dur="2000"/>
                                        <p:tgtEl>
                                          <p:spTgt spid="48131">
                                            <p:txEl>
                                              <p:charRg st="35" end="5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8131">
                                            <p:txEl>
                                              <p:charRg st="50" end="79"/>
                                            </p:txEl>
                                          </p:spTgt>
                                        </p:tgtEl>
                                        <p:attrNameLst>
                                          <p:attrName>style.visibility</p:attrName>
                                        </p:attrNameLst>
                                      </p:cBhvr>
                                      <p:to>
                                        <p:strVal val="visible"/>
                                      </p:to>
                                    </p:set>
                                    <p:animEffect transition="in" filter="fade">
                                      <p:cBhvr>
                                        <p:cTn id="22" dur="2000"/>
                                        <p:tgtEl>
                                          <p:spTgt spid="48131">
                                            <p:txEl>
                                              <p:charRg st="50" end="7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8131">
                                            <p:txEl>
                                              <p:charRg st="79" end="142"/>
                                            </p:txEl>
                                          </p:spTgt>
                                        </p:tgtEl>
                                        <p:attrNameLst>
                                          <p:attrName>style.visibility</p:attrName>
                                        </p:attrNameLst>
                                      </p:cBhvr>
                                      <p:to>
                                        <p:strVal val="visible"/>
                                      </p:to>
                                    </p:set>
                                    <p:animEffect transition="in" filter="fade">
                                      <p:cBhvr>
                                        <p:cTn id="27" dur="2000"/>
                                        <p:tgtEl>
                                          <p:spTgt spid="48131">
                                            <p:txEl>
                                              <p:charRg st="79" end="14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66" grpId="0"/>
      <p:bldP spid="48131"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标题 1"/>
          <p:cNvSpPr>
            <a:spLocks noGrp="1"/>
          </p:cNvSpPr>
          <p:nvPr>
            <p:ph type="title"/>
          </p:nvPr>
        </p:nvSpPr>
        <p:spPr>
          <a:ln/>
        </p:spPr>
        <p:txBody>
          <a:bodyPr vert="horz" wrap="square" lIns="91440" tIns="45720" rIns="91440" bIns="45720" anchor="ctr" anchorCtr="0"/>
          <a:p>
            <a:r>
              <a:rPr lang="zh-CN" altLang="en-US" dirty="0"/>
              <a:t>作业</a:t>
            </a:r>
            <a:r>
              <a:rPr lang="en-US" altLang="zh-CN" dirty="0"/>
              <a:t>1</a:t>
            </a:r>
            <a:r>
              <a:rPr lang="zh-CN" altLang="en-US" dirty="0"/>
              <a:t>：</a:t>
            </a:r>
            <a:endParaRPr lang="zh-CN" altLang="en-US" dirty="0"/>
          </a:p>
        </p:txBody>
      </p:sp>
      <p:sp>
        <p:nvSpPr>
          <p:cNvPr id="79875" name="内容占位符 2"/>
          <p:cNvSpPr>
            <a:spLocks noGrp="1"/>
          </p:cNvSpPr>
          <p:nvPr>
            <p:ph idx="1"/>
          </p:nvPr>
        </p:nvSpPr>
        <p:spPr>
          <a:ln/>
        </p:spPr>
        <p:txBody>
          <a:bodyPr vert="horz" wrap="square" lIns="91440" tIns="45720" rIns="91440" bIns="45720" anchor="t" anchorCtr="0"/>
          <a:p>
            <a:r>
              <a:rPr lang="zh-CN" altLang="en-US" b="1" dirty="0">
                <a:solidFill>
                  <a:schemeClr val="folHlink"/>
                </a:solidFill>
              </a:rPr>
              <a:t>分析</a:t>
            </a:r>
            <a:r>
              <a:rPr lang="en-US" altLang="zh-CN" b="1" dirty="0">
                <a:solidFill>
                  <a:schemeClr val="folHlink"/>
                </a:solidFill>
              </a:rPr>
              <a:t>Linux3.0</a:t>
            </a:r>
            <a:r>
              <a:rPr lang="zh-CN" altLang="en-US" b="1" dirty="0">
                <a:solidFill>
                  <a:schemeClr val="folHlink"/>
                </a:solidFill>
              </a:rPr>
              <a:t>源代码中的</a:t>
            </a:r>
            <a:r>
              <a:rPr lang="en-US" altLang="zh-CN" b="1" dirty="0">
                <a:solidFill>
                  <a:schemeClr val="folHlink"/>
                </a:solidFill>
              </a:rPr>
              <a:t>switch_to</a:t>
            </a:r>
            <a:r>
              <a:rPr lang="zh-CN" altLang="en-US" b="1" dirty="0">
                <a:solidFill>
                  <a:schemeClr val="folHlink"/>
                </a:solidFill>
              </a:rPr>
              <a:t>函数。搞清楚进程上下文切换的过程。</a:t>
            </a:r>
            <a:endParaRPr lang="zh-CN" altLang="en-US" dirty="0"/>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9540" name="Rectangle 4"/>
          <p:cNvSpPr>
            <a:spLocks noGrp="1" noRot="1" noChangeArrowheads="1"/>
          </p:cNvSpPr>
          <p:nvPr>
            <p:ph type="title" idx="4294967295"/>
          </p:nvPr>
        </p:nvSpPr>
        <p:spPr>
          <a:xfrm>
            <a:off x="0" y="1524000"/>
            <a:ext cx="8991600" cy="1524000"/>
          </a:xfrm>
          <a:gradFill rotWithShape="0">
            <a:gsLst>
              <a:gs pos="0">
                <a:schemeClr val="accent1">
                  <a:gamma/>
                  <a:shade val="46275"/>
                  <a:invGamma/>
                </a:schemeClr>
              </a:gs>
              <a:gs pos="50000">
                <a:schemeClr val="accent1"/>
              </a:gs>
              <a:gs pos="100000">
                <a:schemeClr val="accent1">
                  <a:gamma/>
                  <a:shade val="46275"/>
                  <a:invGamma/>
                </a:schemeClr>
              </a:gs>
            </a:gsLst>
            <a:lin ang="5400000" scaled="1"/>
          </a:gradFill>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j-lt"/>
                <a:ea typeface="+mj-ea"/>
                <a:cs typeface="+mj-cs"/>
              </a:rPr>
              <a:t>3.5 </a:t>
            </a:r>
            <a:r>
              <a:rPr kumimoji="0" lang="zh-CN" altLang="en-US" sz="4400" b="1"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j-lt"/>
                <a:ea typeface="+mj-ea"/>
                <a:cs typeface="+mj-cs"/>
              </a:rPr>
              <a:t>死锁概述</a:t>
            </a:r>
            <a:endParaRPr kumimoji="0" lang="zh-CN" altLang="en-US" sz="4400" b="1"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j-lt"/>
              <a:ea typeface="+mj-ea"/>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49540"/>
                                        </p:tgtEl>
                                        <p:attrNameLst>
                                          <p:attrName>style.visibility</p:attrName>
                                        </p:attrNameLst>
                                      </p:cBhvr>
                                      <p:to>
                                        <p:strVal val="visible"/>
                                      </p:to>
                                    </p:set>
                                    <p:animEffect transition="in" filter="fade">
                                      <p:cBhvr>
                                        <p:cTn id="7" dur="2000"/>
                                        <p:tgtEl>
                                          <p:spTgt spid="449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40"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5938" name="Rectangle 3"/>
          <p:cNvSpPr>
            <a:spLocks noGrp="1" noRot="1" noChangeArrowheads="1"/>
          </p:cNvSpPr>
          <p:nvPr>
            <p:ph type="body" idx="1"/>
          </p:nvPr>
        </p:nvSpPr>
        <p:spPr>
          <a:xfrm>
            <a:off x="301625" y="857250"/>
            <a:ext cx="8540750" cy="4498975"/>
          </a:xfrm>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所谓死锁（</a:t>
            </a: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Deadlock</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），是指</a:t>
            </a:r>
            <a:r>
              <a:rPr kumimoji="0" lang="zh-CN" altLang="en-US" sz="3200" b="1" i="1" u="sng" strike="noStrike" kern="0" cap="none" spc="0" normalizeH="0" baseline="0" noProof="0" dirty="0" smtClean="0">
                <a:ln>
                  <a:noFill/>
                </a:ln>
                <a:solidFill>
                  <a:schemeClr val="folHlink"/>
                </a:solidFill>
                <a:effectLst/>
                <a:uLnTx/>
                <a:uFillTx/>
                <a:latin typeface="+mn-lt"/>
                <a:ea typeface="+mn-ea"/>
                <a:cs typeface="+mn-cs"/>
              </a:rPr>
              <a:t>多个进程在运行过程中因争夺资源而造成的一种僵局</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Deadly- Embrace</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），当进程处于这种僵持状态时，若无外力作用，它们都将无法再向前推进。</a:t>
            </a:r>
            <a:endParaRPr kumimoji="0" lang="en-US" altLang="zh-CN" sz="32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若系统出现死锁，必须有相应的措施进行解除。当然，如果能提前预防和避免死锁的出现，将能提高系统的运行效率。</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5938">
                                            <p:txEl>
                                              <p:charRg st="0" end="91"/>
                                            </p:txEl>
                                          </p:spTgt>
                                        </p:tgtEl>
                                        <p:attrNameLst>
                                          <p:attrName>style.visibility</p:attrName>
                                        </p:attrNameLst>
                                      </p:cBhvr>
                                      <p:to>
                                        <p:strVal val="visible"/>
                                      </p:to>
                                    </p:set>
                                    <p:animEffect transition="in" filter="fade">
                                      <p:cBhvr>
                                        <p:cTn id="7" dur="2000"/>
                                        <p:tgtEl>
                                          <p:spTgt spid="295938">
                                            <p:txEl>
                                              <p:charRg st="0" end="9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5938">
                                            <p:txEl>
                                              <p:charRg st="92" end="145"/>
                                            </p:txEl>
                                          </p:spTgt>
                                        </p:tgtEl>
                                        <p:attrNameLst>
                                          <p:attrName>style.visibility</p:attrName>
                                        </p:attrNameLst>
                                      </p:cBhvr>
                                      <p:to>
                                        <p:strVal val="visible"/>
                                      </p:to>
                                    </p:set>
                                    <p:animEffect transition="in" filter="fade">
                                      <p:cBhvr>
                                        <p:cTn id="12" dur="2000"/>
                                        <p:tgtEl>
                                          <p:spTgt spid="295938">
                                            <p:txEl>
                                              <p:charRg st="92" end="14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38"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noRot="1"/>
          </p:cNvSpPr>
          <p:nvPr>
            <p:ph type="title" idx="4294967295"/>
          </p:nvPr>
        </p:nvSpPr>
        <p:spPr>
          <a:ln/>
        </p:spPr>
        <p:txBody>
          <a:bodyPr vert="horz" wrap="square" lIns="91440" tIns="45720" rIns="91440" bIns="45720" anchor="ctr" anchorCtr="0"/>
          <a:p>
            <a:pPr eaLnBrk="1" hangingPunct="1"/>
            <a:r>
              <a:rPr lang="en-US" altLang="zh-CN" b="1" dirty="0"/>
              <a:t>3.5.1</a:t>
            </a:r>
            <a:r>
              <a:rPr lang="zh-CN" altLang="en-US" b="1" dirty="0"/>
              <a:t>、产生死锁的原因</a:t>
            </a:r>
            <a:endParaRPr lang="zh-CN" altLang="zh-CN" b="1" dirty="0"/>
          </a:p>
        </p:txBody>
      </p:sp>
      <p:sp>
        <p:nvSpPr>
          <p:cNvPr id="88067" name="Rectangle 3"/>
          <p:cNvSpPr>
            <a:spLocks noGrp="1" noRot="1"/>
          </p:cNvSpPr>
          <p:nvPr>
            <p:ph type="body" idx="4294967295"/>
          </p:nvPr>
        </p:nvSpPr>
        <p:spPr>
          <a:ln/>
        </p:spPr>
        <p:txBody>
          <a:bodyPr vert="horz" wrap="square" lIns="91440" tIns="45720" rIns="91440" bIns="45720" anchor="t" anchorCtr="0"/>
          <a:p>
            <a:pPr algn="just" eaLnBrk="1" hangingPunct="1"/>
            <a:r>
              <a:rPr lang="zh-CN" altLang="en-US" b="1" dirty="0"/>
              <a:t>产生死锁的原因可归结为如下两点：</a:t>
            </a:r>
            <a:endParaRPr lang="zh-CN" altLang="en-US" b="1" dirty="0"/>
          </a:p>
          <a:p>
            <a:pPr algn="just" eaLnBrk="1" hangingPunct="1">
              <a:buNone/>
            </a:pPr>
            <a:r>
              <a:rPr lang="zh-CN" altLang="en-US" b="1" dirty="0"/>
              <a:t> （</a:t>
            </a:r>
            <a:r>
              <a:rPr lang="en-US" altLang="zh-CN" b="1" dirty="0"/>
              <a:t>1</a:t>
            </a:r>
            <a:r>
              <a:rPr lang="zh-CN" altLang="en-US" b="1" dirty="0"/>
              <a:t>）竞争资源。</a:t>
            </a:r>
            <a:endParaRPr lang="zh-CN" altLang="en-US" b="1" dirty="0"/>
          </a:p>
          <a:p>
            <a:pPr algn="just" eaLnBrk="1" hangingPunct="1">
              <a:buNone/>
            </a:pPr>
            <a:r>
              <a:rPr lang="zh-CN" altLang="en-US" b="1" dirty="0"/>
              <a:t> （</a:t>
            </a:r>
            <a:r>
              <a:rPr lang="en-US" altLang="zh-CN" b="1" dirty="0"/>
              <a:t>2</a:t>
            </a:r>
            <a:r>
              <a:rPr lang="zh-CN" altLang="en-US" b="1" dirty="0"/>
              <a:t>）进程间推进顺序非法。</a:t>
            </a:r>
            <a:endParaRPr lang="zh-CN" altLang="en-US" b="1" dirty="0"/>
          </a:p>
          <a:p>
            <a:pPr eaLnBrk="1" hangingPunct="1"/>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8066"/>
                                        </p:tgtEl>
                                        <p:attrNameLst>
                                          <p:attrName>style.visibility</p:attrName>
                                        </p:attrNameLst>
                                      </p:cBhvr>
                                      <p:to>
                                        <p:strVal val="visible"/>
                                      </p:to>
                                    </p:set>
                                    <p:animEffect transition="in" filter="fade">
                                      <p:cBhvr>
                                        <p:cTn id="7" dur="2000"/>
                                        <p:tgtEl>
                                          <p:spTgt spid="880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8067">
                                            <p:txEl>
                                              <p:charRg st="0" end="17"/>
                                            </p:txEl>
                                          </p:spTgt>
                                        </p:tgtEl>
                                        <p:attrNameLst>
                                          <p:attrName>style.visibility</p:attrName>
                                        </p:attrNameLst>
                                      </p:cBhvr>
                                      <p:to>
                                        <p:strVal val="visible"/>
                                      </p:to>
                                    </p:set>
                                    <p:animEffect transition="in" filter="fade">
                                      <p:cBhvr>
                                        <p:cTn id="12" dur="2000"/>
                                        <p:tgtEl>
                                          <p:spTgt spid="88067">
                                            <p:txEl>
                                              <p:charRg st="0" end="1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8067">
                                            <p:txEl>
                                              <p:charRg st="17" end="27"/>
                                            </p:txEl>
                                          </p:spTgt>
                                        </p:tgtEl>
                                        <p:attrNameLst>
                                          <p:attrName>style.visibility</p:attrName>
                                        </p:attrNameLst>
                                      </p:cBhvr>
                                      <p:to>
                                        <p:strVal val="visible"/>
                                      </p:to>
                                    </p:set>
                                    <p:animEffect transition="in" filter="fade">
                                      <p:cBhvr>
                                        <p:cTn id="17" dur="2000"/>
                                        <p:tgtEl>
                                          <p:spTgt spid="88067">
                                            <p:txEl>
                                              <p:charRg st="17" end="2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8067">
                                            <p:txEl>
                                              <p:charRg st="27" end="42"/>
                                            </p:txEl>
                                          </p:spTgt>
                                        </p:tgtEl>
                                        <p:attrNameLst>
                                          <p:attrName>style.visibility</p:attrName>
                                        </p:attrNameLst>
                                      </p:cBhvr>
                                      <p:to>
                                        <p:strVal val="visible"/>
                                      </p:to>
                                    </p:set>
                                    <p:animEffect transition="in" filter="fade">
                                      <p:cBhvr>
                                        <p:cTn id="22" dur="2000"/>
                                        <p:tgtEl>
                                          <p:spTgt spid="88067">
                                            <p:txEl>
                                              <p:charRg st="27" end="4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p:bldP spid="88067"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1234"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folHlink"/>
                </a:solidFill>
                <a:effectLst>
                  <a:outerShdw blurRad="38100" dist="38100" dir="2700000" algn="tl">
                    <a:srgbClr val="C0C0C0"/>
                  </a:outerShdw>
                </a:effectLst>
                <a:uLnTx/>
                <a:uFillTx/>
                <a:latin typeface="+mj-lt"/>
                <a:ea typeface="+mj-ea"/>
                <a:cs typeface="+mj-cs"/>
              </a:rPr>
              <a:t> 1</a:t>
            </a:r>
            <a:r>
              <a:rPr kumimoji="0" lang="zh-CN" altLang="en-US" sz="4400" b="1" i="0" u="none" strike="noStrike" kern="0" cap="none" spc="0" normalizeH="0" baseline="0" noProof="0">
                <a:ln>
                  <a:noFill/>
                </a:ln>
                <a:solidFill>
                  <a:schemeClr val="folHlink"/>
                </a:solidFill>
                <a:effectLst>
                  <a:outerShdw blurRad="38100" dist="38100" dir="2700000" algn="tl">
                    <a:srgbClr val="C0C0C0"/>
                  </a:outerShdw>
                </a:effectLst>
                <a:uLnTx/>
                <a:uFillTx/>
                <a:latin typeface="+mj-lt"/>
                <a:ea typeface="+mj-ea"/>
                <a:cs typeface="+mj-cs"/>
              </a:rPr>
              <a:t>．竞争资源引起进程死锁</a:t>
            </a:r>
            <a:endParaRPr kumimoji="0" lang="zh-CN" altLang="en-US" sz="4400" b="1" i="0" u="none" strike="noStrike" kern="0" cap="none" spc="0" normalizeH="0" baseline="0" noProof="0">
              <a:ln>
                <a:noFill/>
              </a:ln>
              <a:solidFill>
                <a:schemeClr val="folHlink"/>
              </a:solidFill>
              <a:effectLst>
                <a:outerShdw blurRad="38100" dist="38100" dir="2700000" algn="tl">
                  <a:srgbClr val="C0C0C0"/>
                </a:outerShdw>
              </a:effectLst>
              <a:uLnTx/>
              <a:uFillTx/>
              <a:latin typeface="+mj-lt"/>
              <a:ea typeface="+mj-ea"/>
              <a:cs typeface="+mj-cs"/>
            </a:endParaRPr>
          </a:p>
        </p:txBody>
      </p:sp>
      <p:sp>
        <p:nvSpPr>
          <p:cNvPr id="89091" name="Rectangle 3"/>
          <p:cNvSpPr>
            <a:spLocks noGrp="1" noRot="1"/>
          </p:cNvSpPr>
          <p:nvPr>
            <p:ph type="body" idx="4294967295"/>
          </p:nvPr>
        </p:nvSpPr>
        <p:spPr>
          <a:ln/>
        </p:spPr>
        <p:txBody>
          <a:bodyPr vert="horz" wrap="square" lIns="91440" tIns="45720" rIns="91440" bIns="45720" anchor="t" anchorCtr="0"/>
          <a:p>
            <a:pPr algn="just" eaLnBrk="1" hangingPunct="1">
              <a:lnSpc>
                <a:spcPct val="120000"/>
              </a:lnSpc>
              <a:buNone/>
            </a:pPr>
            <a:r>
              <a:rPr lang="en-US" altLang="zh-CN" b="1" dirty="0">
                <a:solidFill>
                  <a:schemeClr val="folHlink"/>
                </a:solidFill>
              </a:rPr>
              <a:t>1</a:t>
            </a:r>
            <a:r>
              <a:rPr lang="zh-CN" altLang="en-US" b="1" dirty="0">
                <a:solidFill>
                  <a:schemeClr val="folHlink"/>
                </a:solidFill>
              </a:rPr>
              <a:t>）可剥夺和非剥夺性资源</a:t>
            </a:r>
            <a:endParaRPr lang="zh-CN" altLang="en-US" b="1" dirty="0">
              <a:solidFill>
                <a:schemeClr val="folHlink"/>
              </a:solidFill>
            </a:endParaRPr>
          </a:p>
          <a:p>
            <a:pPr lvl="1" eaLnBrk="1" hangingPunct="1">
              <a:lnSpc>
                <a:spcPct val="120000"/>
              </a:lnSpc>
            </a:pPr>
            <a:r>
              <a:rPr lang="zh-CN" altLang="en-US" b="1" dirty="0">
                <a:solidFill>
                  <a:schemeClr val="folHlink"/>
                </a:solidFill>
              </a:rPr>
              <a:t>可抢占性资源</a:t>
            </a:r>
            <a:r>
              <a:rPr lang="en-US" altLang="zh-CN" b="1" dirty="0">
                <a:solidFill>
                  <a:schemeClr val="folHlink"/>
                </a:solidFill>
              </a:rPr>
              <a:t>:</a:t>
            </a:r>
            <a:r>
              <a:rPr lang="en-US" altLang="zh-CN" b="1" dirty="0"/>
              <a:t> </a:t>
            </a:r>
            <a:r>
              <a:rPr lang="zh-CN" altLang="en-US" b="1" dirty="0"/>
              <a:t>是指某进程在获得这类资源后，该资源可以再被其他进程或系统剥夺。如</a:t>
            </a:r>
            <a:r>
              <a:rPr lang="en-US" altLang="zh-CN" b="1" dirty="0"/>
              <a:t>CPU </a:t>
            </a:r>
            <a:r>
              <a:rPr lang="zh-CN" altLang="en-US" b="1" dirty="0"/>
              <a:t>，对于这类资源是</a:t>
            </a:r>
            <a:r>
              <a:rPr lang="zh-CN" altLang="en-US" b="1" dirty="0">
                <a:solidFill>
                  <a:srgbClr val="FF0000"/>
                </a:solidFill>
              </a:rPr>
              <a:t>不会引起死锁</a:t>
            </a:r>
            <a:r>
              <a:rPr lang="zh-CN" altLang="en-US" b="1" dirty="0"/>
              <a:t>的。</a:t>
            </a:r>
            <a:endParaRPr lang="zh-CN" altLang="en-US" b="1" dirty="0"/>
          </a:p>
          <a:p>
            <a:pPr lvl="1" eaLnBrk="1" hangingPunct="1">
              <a:lnSpc>
                <a:spcPct val="120000"/>
              </a:lnSpc>
            </a:pPr>
            <a:r>
              <a:rPr lang="zh-CN" altLang="en-US" b="1" dirty="0">
                <a:solidFill>
                  <a:schemeClr val="folHlink"/>
                </a:solidFill>
              </a:rPr>
              <a:t>不可抢占性资源</a:t>
            </a:r>
            <a:r>
              <a:rPr lang="en-US" altLang="zh-CN" b="1" dirty="0">
                <a:solidFill>
                  <a:schemeClr val="folHlink"/>
                </a:solidFill>
              </a:rPr>
              <a:t>:</a:t>
            </a:r>
            <a:r>
              <a:rPr lang="en-US" altLang="zh-CN" b="1" dirty="0"/>
              <a:t> </a:t>
            </a:r>
            <a:r>
              <a:rPr lang="zh-CN" altLang="en-US" b="1" dirty="0"/>
              <a:t>当系统把这类资源分配给某进程后，再不能强行收回，只能在进程用完后自行释放。 如打印机等，对于这类资源</a:t>
            </a:r>
            <a:r>
              <a:rPr lang="zh-CN" altLang="en-US" b="1" dirty="0">
                <a:solidFill>
                  <a:srgbClr val="FF0000"/>
                </a:solidFill>
              </a:rPr>
              <a:t>会引起死锁</a:t>
            </a:r>
            <a:r>
              <a:rPr lang="zh-CN" altLang="en-US" b="1" dirty="0"/>
              <a:t>。 </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1234"/>
                                        </p:tgtEl>
                                        <p:attrNameLst>
                                          <p:attrName>style.visibility</p:attrName>
                                        </p:attrNameLst>
                                      </p:cBhvr>
                                      <p:to>
                                        <p:strVal val="visible"/>
                                      </p:to>
                                    </p:set>
                                    <p:animEffect transition="in" filter="fade">
                                      <p:cBhvr>
                                        <p:cTn id="7" dur="2000"/>
                                        <p:tgtEl>
                                          <p:spTgt spid="3512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9091">
                                            <p:txEl>
                                              <p:charRg st="0" end="13"/>
                                            </p:txEl>
                                          </p:spTgt>
                                        </p:tgtEl>
                                        <p:attrNameLst>
                                          <p:attrName>style.visibility</p:attrName>
                                        </p:attrNameLst>
                                      </p:cBhvr>
                                      <p:to>
                                        <p:strVal val="visible"/>
                                      </p:to>
                                    </p:set>
                                    <p:animEffect transition="in" filter="fade">
                                      <p:cBhvr>
                                        <p:cTn id="12" dur="2000"/>
                                        <p:tgtEl>
                                          <p:spTgt spid="89091">
                                            <p:txEl>
                                              <p:charRg st="0" end="13"/>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9091">
                                            <p:txEl>
                                              <p:charRg st="13" end="74"/>
                                            </p:txEl>
                                          </p:spTgt>
                                        </p:tgtEl>
                                        <p:attrNameLst>
                                          <p:attrName>style.visibility</p:attrName>
                                        </p:attrNameLst>
                                      </p:cBhvr>
                                      <p:to>
                                        <p:strVal val="visible"/>
                                      </p:to>
                                    </p:set>
                                    <p:animEffect transition="in" filter="fade">
                                      <p:cBhvr>
                                        <p:cTn id="15" dur="2000"/>
                                        <p:tgtEl>
                                          <p:spTgt spid="89091">
                                            <p:txEl>
                                              <p:charRg st="13" end="74"/>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9091">
                                            <p:txEl>
                                              <p:charRg st="74" end="141"/>
                                            </p:txEl>
                                          </p:spTgt>
                                        </p:tgtEl>
                                        <p:attrNameLst>
                                          <p:attrName>style.visibility</p:attrName>
                                        </p:attrNameLst>
                                      </p:cBhvr>
                                      <p:to>
                                        <p:strVal val="visible"/>
                                      </p:to>
                                    </p:set>
                                    <p:animEffect transition="in" filter="fade">
                                      <p:cBhvr>
                                        <p:cTn id="18" dur="2000"/>
                                        <p:tgtEl>
                                          <p:spTgt spid="89091">
                                            <p:txEl>
                                              <p:charRg st="74" end="14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4" grpId="0"/>
      <p:bldP spid="89091"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5154" name="Rectangle 2"/>
          <p:cNvSpPr>
            <a:spLocks noGrp="1" noRot="1"/>
          </p:cNvSpPr>
          <p:nvPr>
            <p:ph idx="1"/>
          </p:nvPr>
        </p:nvSpPr>
        <p:spPr>
          <a:xfrm>
            <a:off x="381000" y="838200"/>
            <a:ext cx="8229600" cy="5410200"/>
          </a:xfrm>
          <a:ln/>
        </p:spPr>
        <p:txBody>
          <a:bodyPr vert="horz" wrap="square" lIns="91440" tIns="45720" rIns="91440" bIns="45720" anchor="t" anchorCtr="0"/>
          <a:p>
            <a:pPr algn="just" eaLnBrk="1" hangingPunct="1">
              <a:lnSpc>
                <a:spcPct val="120000"/>
              </a:lnSpc>
              <a:buNone/>
            </a:pPr>
            <a:r>
              <a:rPr lang="en-US" altLang="zh-CN" b="1" dirty="0">
                <a:solidFill>
                  <a:schemeClr val="folHlink"/>
                </a:solidFill>
              </a:rPr>
              <a:t> 2</a:t>
            </a:r>
            <a:r>
              <a:rPr lang="zh-CN" altLang="en-US" b="1" dirty="0">
                <a:solidFill>
                  <a:schemeClr val="folHlink"/>
                </a:solidFill>
              </a:rPr>
              <a:t>）竞争不可抢占性资源</a:t>
            </a:r>
            <a:endParaRPr lang="zh-CN" altLang="en-US" b="1" dirty="0">
              <a:solidFill>
                <a:schemeClr val="folHlink"/>
              </a:solidFill>
            </a:endParaRPr>
          </a:p>
          <a:p>
            <a:pPr lvl="1" algn="just" eaLnBrk="1" hangingPunct="1">
              <a:lnSpc>
                <a:spcPct val="120000"/>
              </a:lnSpc>
            </a:pPr>
            <a:r>
              <a:rPr lang="zh-CN" altLang="en-US" b="1" dirty="0"/>
              <a:t>在系统中所配置的非剥夺性资源，由于它们的数量不能满足诸进程运行的需要，会使进程在运行过程中，因争夺这些资源而陷入僵局。</a:t>
            </a:r>
            <a:endParaRPr lang="zh-CN" altLang="en-US" b="1" dirty="0"/>
          </a:p>
          <a:p>
            <a:pPr lvl="1" algn="just" eaLnBrk="1" hangingPunct="1">
              <a:lnSpc>
                <a:spcPct val="120000"/>
              </a:lnSpc>
            </a:pPr>
            <a:r>
              <a:rPr lang="zh-CN" altLang="en-US" b="1" dirty="0"/>
              <a:t>例如，系统中只有一台打印机</a:t>
            </a:r>
            <a:r>
              <a:rPr lang="en-US" altLang="zh-CN" b="1" dirty="0"/>
              <a:t>R1</a:t>
            </a:r>
            <a:r>
              <a:rPr lang="zh-CN" altLang="en-US" b="1" dirty="0"/>
              <a:t>和一台磁带机</a:t>
            </a:r>
            <a:r>
              <a:rPr lang="en-US" altLang="zh-CN" b="1" dirty="0"/>
              <a:t>R2</a:t>
            </a:r>
            <a:r>
              <a:rPr lang="zh-CN" altLang="en-US" b="1" dirty="0"/>
              <a:t>，可供进程</a:t>
            </a:r>
            <a:r>
              <a:rPr lang="en-US" altLang="zh-CN" b="1" dirty="0"/>
              <a:t>P1</a:t>
            </a:r>
            <a:r>
              <a:rPr lang="zh-CN" altLang="en-US" b="1" dirty="0"/>
              <a:t>和</a:t>
            </a:r>
            <a:r>
              <a:rPr lang="en-US" altLang="zh-CN" b="1" dirty="0"/>
              <a:t>P2</a:t>
            </a:r>
            <a:r>
              <a:rPr lang="zh-CN" altLang="en-US" b="1" dirty="0"/>
              <a:t>共享。处理不好，在</a:t>
            </a:r>
            <a:r>
              <a:rPr lang="en-US" altLang="zh-CN" b="1" dirty="0"/>
              <a:t>P1</a:t>
            </a:r>
            <a:r>
              <a:rPr lang="zh-CN" altLang="en-US" b="1" dirty="0"/>
              <a:t>与</a:t>
            </a:r>
            <a:r>
              <a:rPr lang="en-US" altLang="zh-CN" b="1" dirty="0"/>
              <a:t>P2</a:t>
            </a:r>
            <a:r>
              <a:rPr lang="zh-CN" altLang="en-US" b="1" dirty="0"/>
              <a:t>之间会形成僵局，引起死锁。  </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305154">
                                            <p:txEl>
                                              <p:charRg st="0" end="13"/>
                                            </p:txEl>
                                          </p:spTgt>
                                        </p:tgtEl>
                                        <p:attrNameLst>
                                          <p:attrName>style.visibility</p:attrName>
                                        </p:attrNameLst>
                                      </p:cBhvr>
                                      <p:to>
                                        <p:strVal val="visible"/>
                                      </p:to>
                                    </p:set>
                                    <p:animEffect transition="in" filter="fade">
                                      <p:cBhvr>
                                        <p:cTn id="7" dur="2000"/>
                                        <p:tgtEl>
                                          <p:spTgt spid="305154">
                                            <p:txEl>
                                              <p:charRg st="0" end="13"/>
                                            </p:txEl>
                                          </p:spTgt>
                                        </p:tgtEl>
                                      </p:cBhvr>
                                    </p:animEffect>
                                  </p:childTnLst>
                                </p:cTn>
                              </p:par>
                              <p:par>
                                <p:cTn id="8" presetID="10" presetClass="entr" presetSubtype="0" fill="hold" grpId="1" nodeType="withEffect">
                                  <p:stCondLst>
                                    <p:cond delay="0"/>
                                  </p:stCondLst>
                                  <p:childTnLst>
                                    <p:set>
                                      <p:cBhvr>
                                        <p:cTn id="9" dur="1" fill="hold">
                                          <p:stCondLst>
                                            <p:cond delay="0"/>
                                          </p:stCondLst>
                                        </p:cTn>
                                        <p:tgtEl>
                                          <p:spTgt spid="305154">
                                            <p:txEl>
                                              <p:charRg st="13" end="73"/>
                                            </p:txEl>
                                          </p:spTgt>
                                        </p:tgtEl>
                                        <p:attrNameLst>
                                          <p:attrName>style.visibility</p:attrName>
                                        </p:attrNameLst>
                                      </p:cBhvr>
                                      <p:to>
                                        <p:strVal val="visible"/>
                                      </p:to>
                                    </p:set>
                                    <p:animEffect transition="in" filter="fade">
                                      <p:cBhvr>
                                        <p:cTn id="10" dur="2000"/>
                                        <p:tgtEl>
                                          <p:spTgt spid="305154">
                                            <p:txEl>
                                              <p:charRg st="13" end="73"/>
                                            </p:txEl>
                                          </p:spTgt>
                                        </p:tgtEl>
                                      </p:cBhvr>
                                    </p:animEffect>
                                  </p:childTnLst>
                                </p:cTn>
                              </p:par>
                              <p:par>
                                <p:cTn id="11" presetID="10" presetClass="entr" presetSubtype="0" fill="hold" grpId="1" nodeType="withEffect">
                                  <p:stCondLst>
                                    <p:cond delay="0"/>
                                  </p:stCondLst>
                                  <p:childTnLst>
                                    <p:set>
                                      <p:cBhvr>
                                        <p:cTn id="12" dur="1" fill="hold">
                                          <p:stCondLst>
                                            <p:cond delay="0"/>
                                          </p:stCondLst>
                                        </p:cTn>
                                        <p:tgtEl>
                                          <p:spTgt spid="305154">
                                            <p:txEl>
                                              <p:charRg st="73" end="136"/>
                                            </p:txEl>
                                          </p:spTgt>
                                        </p:tgtEl>
                                        <p:attrNameLst>
                                          <p:attrName>style.visibility</p:attrName>
                                        </p:attrNameLst>
                                      </p:cBhvr>
                                      <p:to>
                                        <p:strVal val="visible"/>
                                      </p:to>
                                    </p:set>
                                    <p:animEffect transition="in" filter="fade">
                                      <p:cBhvr>
                                        <p:cTn id="13" dur="2000"/>
                                        <p:tgtEl>
                                          <p:spTgt spid="305154">
                                            <p:txEl>
                                              <p:charRg st="73" end="13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5154">
                                            <p:txEl>
                                              <p:charRg st="0" end="13"/>
                                            </p:txEl>
                                          </p:spTgt>
                                        </p:tgtEl>
                                        <p:attrNameLst>
                                          <p:attrName>style.visibility</p:attrName>
                                        </p:attrNameLst>
                                      </p:cBhvr>
                                      <p:to>
                                        <p:strVal val="visible"/>
                                      </p:to>
                                    </p:set>
                                    <p:animEffect transition="in" filter="fade">
                                      <p:cBhvr>
                                        <p:cTn id="18" dur="2000"/>
                                        <p:tgtEl>
                                          <p:spTgt spid="305154">
                                            <p:txEl>
                                              <p:charRg st="0" end="1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5154">
                                            <p:txEl>
                                              <p:charRg st="13" end="73"/>
                                            </p:txEl>
                                          </p:spTgt>
                                        </p:tgtEl>
                                        <p:attrNameLst>
                                          <p:attrName>style.visibility</p:attrName>
                                        </p:attrNameLst>
                                      </p:cBhvr>
                                      <p:to>
                                        <p:strVal val="visible"/>
                                      </p:to>
                                    </p:set>
                                    <p:animEffect transition="in" filter="fade">
                                      <p:cBhvr>
                                        <p:cTn id="21" dur="2000"/>
                                        <p:tgtEl>
                                          <p:spTgt spid="305154">
                                            <p:txEl>
                                              <p:charRg st="13" end="7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5154">
                                            <p:txEl>
                                              <p:charRg st="73" end="136"/>
                                            </p:txEl>
                                          </p:spTgt>
                                        </p:tgtEl>
                                        <p:attrNameLst>
                                          <p:attrName>style.visibility</p:attrName>
                                        </p:attrNameLst>
                                      </p:cBhvr>
                                      <p:to>
                                        <p:strVal val="visible"/>
                                      </p:to>
                                    </p:set>
                                    <p:animEffect transition="in" filter="fade">
                                      <p:cBhvr>
                                        <p:cTn id="24" dur="2000"/>
                                        <p:tgtEl>
                                          <p:spTgt spid="305154">
                                            <p:txEl>
                                              <p:charRg st="73" end="1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4" grpId="0" build="p"/>
      <p:bldP spid="305154" grpId="1"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Text Box 2"/>
          <p:cNvSpPr txBox="1"/>
          <p:nvPr/>
        </p:nvSpPr>
        <p:spPr>
          <a:xfrm>
            <a:off x="2286000" y="5867400"/>
            <a:ext cx="4171950" cy="457200"/>
          </a:xfrm>
          <a:prstGeom prst="rect">
            <a:avLst/>
          </a:prstGeom>
          <a:noFill/>
          <a:ln w="9525">
            <a:noFill/>
          </a:ln>
        </p:spPr>
        <p:txBody>
          <a:bodyPr wrap="none">
            <a:spAutoFit/>
          </a:bodyPr>
          <a:p>
            <a:pPr eaLnBrk="1" hangingPunct="1"/>
            <a:r>
              <a:rPr lang="zh-CN" altLang="en-US" sz="2400" dirty="0">
                <a:latin typeface="Times New Roman" panose="02020603050405020304" pitchFamily="18" charset="0"/>
              </a:rPr>
              <a:t>图  </a:t>
            </a:r>
            <a:r>
              <a:rPr lang="en-US" altLang="zh-CN" sz="2400" dirty="0">
                <a:latin typeface="Times New Roman" panose="02020603050405020304" pitchFamily="18" charset="0"/>
              </a:rPr>
              <a:t>I/O</a:t>
            </a:r>
            <a:r>
              <a:rPr lang="zh-CN" altLang="en-US" sz="2400" dirty="0">
                <a:latin typeface="Times New Roman" panose="02020603050405020304" pitchFamily="18" charset="0"/>
              </a:rPr>
              <a:t>设备共享时的死锁情况 </a:t>
            </a:r>
            <a:endParaRPr lang="zh-CN" altLang="en-US" sz="2400" dirty="0">
              <a:latin typeface="Times New Roman" panose="02020603050405020304" pitchFamily="18" charset="0"/>
            </a:endParaRPr>
          </a:p>
        </p:txBody>
      </p:sp>
      <p:sp>
        <p:nvSpPr>
          <p:cNvPr id="8196" name="Rectangle 5"/>
          <p:cNvSpPr/>
          <p:nvPr/>
        </p:nvSpPr>
        <p:spPr>
          <a:xfrm>
            <a:off x="381000" y="304800"/>
            <a:ext cx="8077200" cy="5105400"/>
          </a:xfrm>
          <a:prstGeom prst="rect">
            <a:avLst/>
          </a:prstGeom>
          <a:solidFill>
            <a:srgbClr val="99CCFF"/>
          </a:solidFill>
          <a:ln w="9525">
            <a:noFill/>
          </a:ln>
          <a:effectLst>
            <a:prstShdw prst="shdw17" dist="17961" dir="13499999">
              <a:srgbClr val="050505"/>
            </a:prstShdw>
          </a:effectLst>
        </p:spPr>
        <p:txBody>
          <a:bodyPr wrap="none" anchor="ctr" anchorCtr="0"/>
          <a:p>
            <a:pPr eaLnBrk="1" hangingPunct="1"/>
            <a:endParaRPr lang="zh-CN" altLang="en-US" dirty="0">
              <a:latin typeface="Arial" panose="020B0604020202020204" pitchFamily="34" charset="0"/>
            </a:endParaRPr>
          </a:p>
        </p:txBody>
      </p:sp>
      <p:graphicFrame>
        <p:nvGraphicFramePr>
          <p:cNvPr id="8194" name="Object 6"/>
          <p:cNvGraphicFramePr>
            <a:graphicFrameLocks noChangeAspect="1"/>
          </p:cNvGraphicFramePr>
          <p:nvPr/>
        </p:nvGraphicFramePr>
        <p:xfrm>
          <a:off x="2209800" y="457200"/>
          <a:ext cx="4648200" cy="4291013"/>
        </p:xfrm>
        <a:graphic>
          <a:graphicData uri="http://schemas.openxmlformats.org/presentationml/2006/ole">
            <mc:AlternateContent xmlns:mc="http://schemas.openxmlformats.org/markup-compatibility/2006">
              <mc:Choice xmlns:v="urn:schemas-microsoft-com:vml" Requires="v">
                <p:oleObj spid="_x0000_s3087" name="" r:id="rId1" imgW="1252855" imgH="1160145" progId="Visio.Drawing.11">
                  <p:embed/>
                </p:oleObj>
              </mc:Choice>
              <mc:Fallback>
                <p:oleObj name="" r:id="rId1" imgW="1252855" imgH="1160145" progId="Visio.Drawing.11">
                  <p:embed/>
                  <p:pic>
                    <p:nvPicPr>
                      <p:cNvPr id="0" name="图片 3086"/>
                      <p:cNvPicPr/>
                      <p:nvPr/>
                    </p:nvPicPr>
                    <p:blipFill>
                      <a:blip r:embed="rId2"/>
                      <a:stretch>
                        <a:fillRect/>
                      </a:stretch>
                    </p:blipFill>
                    <p:spPr>
                      <a:xfrm>
                        <a:off x="2209800" y="457200"/>
                        <a:ext cx="4648200" cy="4291013"/>
                      </a:xfrm>
                      <a:prstGeom prst="rect">
                        <a:avLst/>
                      </a:prstGeom>
                      <a:noFill/>
                      <a:ln w="38100">
                        <a:noFill/>
                        <a:miter/>
                      </a:ln>
                    </p:spPr>
                  </p:pic>
                </p:oleObj>
              </mc:Fallback>
            </mc:AlternateContent>
          </a:graphicData>
        </a:graphic>
      </p:graphicFrame>
      <p:sp>
        <p:nvSpPr>
          <p:cNvPr id="12294" name="AutoShape 6"/>
          <p:cNvSpPr>
            <a:spLocks noChangeArrowheads="1"/>
          </p:cNvSpPr>
          <p:nvPr/>
        </p:nvSpPr>
        <p:spPr bwMode="auto">
          <a:xfrm>
            <a:off x="755650" y="692150"/>
            <a:ext cx="2160588" cy="792163"/>
          </a:xfrm>
          <a:prstGeom prst="wedgeRoundRectCallout">
            <a:avLst>
              <a:gd name="adj1" fmla="val 74616"/>
              <a:gd name="adj2" fmla="val 25954"/>
              <a:gd name="adj3" fmla="val 16667"/>
            </a:avLst>
          </a:prstGeom>
          <a:solidFill>
            <a:schemeClr val="accent1"/>
          </a:solidFill>
          <a:ln w="9525">
            <a:noFill/>
            <a:miter lim="800000"/>
          </a:ln>
          <a:effectLst>
            <a:prstShdw prst="shdw18" dist="17961" dir="13500000">
              <a:schemeClr val="accent1">
                <a:gamma/>
                <a:shade val="60000"/>
                <a:invGamma/>
              </a:schemeClr>
            </a:prstShdw>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此箭头表示</a:t>
            </a:r>
            <a:r>
              <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P1</a:t>
            </a:r>
            <a:r>
              <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已经获得</a:t>
            </a:r>
            <a:r>
              <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R1</a:t>
            </a:r>
            <a:r>
              <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资源</a:t>
            </a: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295" name="AutoShape 7"/>
          <p:cNvSpPr>
            <a:spLocks noChangeArrowheads="1"/>
          </p:cNvSpPr>
          <p:nvPr/>
        </p:nvSpPr>
        <p:spPr bwMode="auto">
          <a:xfrm>
            <a:off x="5867400" y="404813"/>
            <a:ext cx="2160588" cy="792163"/>
          </a:xfrm>
          <a:prstGeom prst="wedgeRoundRectCallout">
            <a:avLst>
              <a:gd name="adj1" fmla="val -51690"/>
              <a:gd name="adj2" fmla="val 93889"/>
              <a:gd name="adj3" fmla="val 16667"/>
            </a:avLst>
          </a:prstGeom>
          <a:solidFill>
            <a:schemeClr val="accent1"/>
          </a:solidFill>
          <a:ln w="9525">
            <a:noFill/>
            <a:miter lim="800000"/>
          </a:ln>
          <a:effectLst>
            <a:prstShdw prst="shdw18" dist="17961" dir="13500000">
              <a:schemeClr val="accent1">
                <a:gamma/>
                <a:shade val="60000"/>
                <a:invGamma/>
              </a:schemeClr>
            </a:prstShdw>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此箭头表示</a:t>
            </a:r>
            <a:r>
              <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P1</a:t>
            </a:r>
            <a:r>
              <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申请</a:t>
            </a:r>
            <a:r>
              <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R2</a:t>
            </a:r>
            <a:r>
              <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资源</a:t>
            </a: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9010" name="Rectangle 2"/>
          <p:cNvSpPr>
            <a:spLocks noGrp="1" noRot="1" noChangeArrowheads="1"/>
          </p:cNvSpPr>
          <p:nvPr>
            <p:ph idx="1"/>
          </p:nvPr>
        </p:nvSpPr>
        <p:spPr>
          <a:xfrm>
            <a:off x="381000" y="838200"/>
            <a:ext cx="8229600" cy="5410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en-US" altLang="zh-CN" sz="4000" b="1" i="0" u="none" strike="noStrike" kern="0" cap="none" spc="0" normalizeH="0" baseline="0" noProof="0" dirty="0" smtClean="0">
                <a:ln>
                  <a:noFill/>
                </a:ln>
                <a:solidFill>
                  <a:schemeClr val="folHlink"/>
                </a:solidFill>
                <a:effectLst/>
                <a:uLnTx/>
                <a:uFillTx/>
                <a:latin typeface="+mn-lt"/>
                <a:ea typeface="+mn-ea"/>
                <a:cs typeface="+mn-cs"/>
              </a:rPr>
              <a:t> 3</a:t>
            </a:r>
            <a:r>
              <a:rPr kumimoji="0" lang="zh-CN" altLang="en-US" sz="4000" b="1" i="0" u="none" strike="noStrike" kern="0" cap="none" spc="0" normalizeH="0" baseline="0" noProof="0" dirty="0" smtClean="0">
                <a:ln>
                  <a:noFill/>
                </a:ln>
                <a:solidFill>
                  <a:schemeClr val="folHlink"/>
                </a:solidFill>
                <a:effectLst/>
                <a:uLnTx/>
                <a:uFillTx/>
                <a:latin typeface="+mn-lt"/>
                <a:ea typeface="+mn-ea"/>
                <a:cs typeface="+mn-cs"/>
              </a:rPr>
              <a:t>）竞争临时性（可消耗性 ）资源 </a:t>
            </a:r>
            <a:endParaRPr kumimoji="0" lang="zh-CN" altLang="en-US" sz="4000" b="1" i="0" u="none" strike="noStrike" kern="0" cap="none" spc="0" normalizeH="0" baseline="0" noProof="0" dirty="0" smtClean="0">
              <a:ln>
                <a:noFill/>
              </a:ln>
              <a:solidFill>
                <a:schemeClr val="folHlink"/>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临时性资源，</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可以创造（生产）和撤消（消耗）的资源，</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也称之为消耗性资源，它也可能引起死锁。</a:t>
            </a:r>
            <a:endParaRPr kumimoji="0" lang="zh-CN" altLang="en-US" sz="32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如信号量、消息、</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buffer</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中的数据等资源。</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例如：</a:t>
            </a: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S1</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S2</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和</a:t>
            </a: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S3</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是临时性资源，是由进程</a:t>
            </a: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P1</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P2</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和</a:t>
            </a: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P3</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产生的消息。如果消息通信处理顺序不当也会发生死锁。</a:t>
            </a:r>
            <a:endParaRPr kumimoji="0" lang="zh-CN" altLang="en-US" sz="32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299010">
                                            <p:txEl>
                                              <p:charRg st="0" end="19"/>
                                            </p:txEl>
                                          </p:spTgt>
                                        </p:tgtEl>
                                        <p:attrNameLst>
                                          <p:attrName>style.visibility</p:attrName>
                                        </p:attrNameLst>
                                      </p:cBhvr>
                                      <p:to>
                                        <p:strVal val="visible"/>
                                      </p:to>
                                    </p:set>
                                    <p:animEffect transition="in" filter="fade">
                                      <p:cBhvr>
                                        <p:cTn id="7" dur="2000"/>
                                        <p:tgtEl>
                                          <p:spTgt spid="299010">
                                            <p:txEl>
                                              <p:charRg st="0" end="1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299010">
                                            <p:txEl>
                                              <p:charRg st="19" end="64"/>
                                            </p:txEl>
                                          </p:spTgt>
                                        </p:tgtEl>
                                        <p:attrNameLst>
                                          <p:attrName>style.visibility</p:attrName>
                                        </p:attrNameLst>
                                      </p:cBhvr>
                                      <p:to>
                                        <p:strVal val="visible"/>
                                      </p:to>
                                    </p:set>
                                    <p:animEffect transition="in" filter="fade">
                                      <p:cBhvr>
                                        <p:cTn id="12" dur="2000"/>
                                        <p:tgtEl>
                                          <p:spTgt spid="299010">
                                            <p:txEl>
                                              <p:charRg st="19" end="6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299010">
                                            <p:txEl>
                                              <p:charRg st="64" end="87"/>
                                            </p:txEl>
                                          </p:spTgt>
                                        </p:tgtEl>
                                        <p:attrNameLst>
                                          <p:attrName>style.visibility</p:attrName>
                                        </p:attrNameLst>
                                      </p:cBhvr>
                                      <p:to>
                                        <p:strVal val="visible"/>
                                      </p:to>
                                    </p:set>
                                    <p:animEffect transition="in" filter="fade">
                                      <p:cBhvr>
                                        <p:cTn id="17" dur="2000"/>
                                        <p:tgtEl>
                                          <p:spTgt spid="299010">
                                            <p:txEl>
                                              <p:charRg st="64" end="8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299010">
                                            <p:txEl>
                                              <p:charRg st="87" end="143"/>
                                            </p:txEl>
                                          </p:spTgt>
                                        </p:tgtEl>
                                        <p:attrNameLst>
                                          <p:attrName>style.visibility</p:attrName>
                                        </p:attrNameLst>
                                      </p:cBhvr>
                                      <p:to>
                                        <p:strVal val="visible"/>
                                      </p:to>
                                    </p:set>
                                    <p:animEffect transition="in" filter="fade">
                                      <p:cBhvr>
                                        <p:cTn id="22" dur="2000"/>
                                        <p:tgtEl>
                                          <p:spTgt spid="299010">
                                            <p:txEl>
                                              <p:charRg st="87" end="14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99010">
                                            <p:txEl>
                                              <p:charRg st="0" end="19"/>
                                            </p:txEl>
                                          </p:spTgt>
                                        </p:tgtEl>
                                        <p:attrNameLst>
                                          <p:attrName>style.visibility</p:attrName>
                                        </p:attrNameLst>
                                      </p:cBhvr>
                                      <p:to>
                                        <p:strVal val="visible"/>
                                      </p:to>
                                    </p:set>
                                    <p:animEffect transition="in" filter="fade">
                                      <p:cBhvr>
                                        <p:cTn id="27" dur="2000"/>
                                        <p:tgtEl>
                                          <p:spTgt spid="299010">
                                            <p:txEl>
                                              <p:charRg st="0" end="1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99010">
                                            <p:txEl>
                                              <p:charRg st="19" end="64"/>
                                            </p:txEl>
                                          </p:spTgt>
                                        </p:tgtEl>
                                        <p:attrNameLst>
                                          <p:attrName>style.visibility</p:attrName>
                                        </p:attrNameLst>
                                      </p:cBhvr>
                                      <p:to>
                                        <p:strVal val="visible"/>
                                      </p:to>
                                    </p:set>
                                    <p:animEffect transition="in" filter="fade">
                                      <p:cBhvr>
                                        <p:cTn id="32" dur="2000"/>
                                        <p:tgtEl>
                                          <p:spTgt spid="299010">
                                            <p:txEl>
                                              <p:charRg st="19" end="6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99010">
                                            <p:txEl>
                                              <p:charRg st="64" end="87"/>
                                            </p:txEl>
                                          </p:spTgt>
                                        </p:tgtEl>
                                        <p:attrNameLst>
                                          <p:attrName>style.visibility</p:attrName>
                                        </p:attrNameLst>
                                      </p:cBhvr>
                                      <p:to>
                                        <p:strVal val="visible"/>
                                      </p:to>
                                    </p:set>
                                    <p:animEffect transition="in" filter="fade">
                                      <p:cBhvr>
                                        <p:cTn id="37" dur="2000"/>
                                        <p:tgtEl>
                                          <p:spTgt spid="299010">
                                            <p:txEl>
                                              <p:charRg st="64" end="8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99010">
                                            <p:txEl>
                                              <p:charRg st="87" end="143"/>
                                            </p:txEl>
                                          </p:spTgt>
                                        </p:tgtEl>
                                        <p:attrNameLst>
                                          <p:attrName>style.visibility</p:attrName>
                                        </p:attrNameLst>
                                      </p:cBhvr>
                                      <p:to>
                                        <p:strVal val="visible"/>
                                      </p:to>
                                    </p:set>
                                    <p:animEffect transition="in" filter="fade">
                                      <p:cBhvr>
                                        <p:cTn id="42" dur="2000"/>
                                        <p:tgtEl>
                                          <p:spTgt spid="299010">
                                            <p:txEl>
                                              <p:charRg st="87" end="1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0" grpId="0" build="p"/>
      <p:bldP spid="299010" grpId="1"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Rectangle 4"/>
          <p:cNvSpPr/>
          <p:nvPr/>
        </p:nvSpPr>
        <p:spPr>
          <a:xfrm>
            <a:off x="533400" y="609600"/>
            <a:ext cx="7772400" cy="5334000"/>
          </a:xfrm>
          <a:prstGeom prst="rect">
            <a:avLst/>
          </a:prstGeom>
          <a:solidFill>
            <a:srgbClr val="99CCFF"/>
          </a:solidFill>
          <a:ln w="9525">
            <a:noFill/>
          </a:ln>
          <a:effectLst>
            <a:prstShdw prst="shdw17" dist="17961" dir="13499999">
              <a:srgbClr val="050505"/>
            </a:prstShdw>
          </a:effectLst>
        </p:spPr>
        <p:txBody>
          <a:bodyPr wrap="none" anchor="ctr" anchorCtr="0"/>
          <a:p>
            <a:pPr eaLnBrk="1" hangingPunct="1"/>
            <a:endParaRPr lang="zh-CN" altLang="en-US" dirty="0">
              <a:latin typeface="Arial" panose="020B0604020202020204" pitchFamily="34" charset="0"/>
            </a:endParaRPr>
          </a:p>
        </p:txBody>
      </p:sp>
      <p:sp>
        <p:nvSpPr>
          <p:cNvPr id="9220" name="Text Box 5"/>
          <p:cNvSpPr txBox="1"/>
          <p:nvPr/>
        </p:nvSpPr>
        <p:spPr>
          <a:xfrm>
            <a:off x="2438400" y="6019800"/>
            <a:ext cx="4298950" cy="457200"/>
          </a:xfrm>
          <a:prstGeom prst="rect">
            <a:avLst/>
          </a:prstGeom>
          <a:noFill/>
          <a:ln w="9525">
            <a:noFill/>
          </a:ln>
        </p:spPr>
        <p:txBody>
          <a:bodyPr wrap="none">
            <a:spAutoFit/>
          </a:bodyPr>
          <a:p>
            <a:pPr eaLnBrk="1" hangingPunct="1"/>
            <a:r>
              <a:rPr lang="zh-CN" altLang="en-US" sz="2400" dirty="0">
                <a:latin typeface="Times New Roman" panose="02020603050405020304" pitchFamily="18" charset="0"/>
              </a:rPr>
              <a:t>图 </a:t>
            </a:r>
            <a:r>
              <a:rPr lang="en-US" altLang="zh-CN" sz="2400" dirty="0">
                <a:latin typeface="Times New Roman" panose="02020603050405020304" pitchFamily="18" charset="0"/>
              </a:rPr>
              <a:t>3-13 </a:t>
            </a:r>
            <a:r>
              <a:rPr lang="zh-CN" altLang="en-US" sz="2400" dirty="0">
                <a:latin typeface="Times New Roman" panose="02020603050405020304" pitchFamily="18" charset="0"/>
              </a:rPr>
              <a:t>进程之间通信时的死锁 </a:t>
            </a:r>
            <a:endParaRPr lang="zh-CN" altLang="en-US" sz="2400" dirty="0">
              <a:latin typeface="Times New Roman" panose="02020603050405020304" pitchFamily="18" charset="0"/>
            </a:endParaRPr>
          </a:p>
        </p:txBody>
      </p:sp>
      <p:graphicFrame>
        <p:nvGraphicFramePr>
          <p:cNvPr id="9218" name="Object 6"/>
          <p:cNvGraphicFramePr>
            <a:graphicFrameLocks noChangeAspect="1"/>
          </p:cNvGraphicFramePr>
          <p:nvPr/>
        </p:nvGraphicFramePr>
        <p:xfrm>
          <a:off x="2411413" y="1125538"/>
          <a:ext cx="4343400" cy="4284662"/>
        </p:xfrm>
        <a:graphic>
          <a:graphicData uri="http://schemas.openxmlformats.org/presentationml/2006/ole">
            <mc:AlternateContent xmlns:mc="http://schemas.openxmlformats.org/markup-compatibility/2006">
              <mc:Choice xmlns:v="urn:schemas-microsoft-com:vml" Requires="v">
                <p:oleObj spid="_x0000_s3076" name="" r:id="rId1" imgW="1295400" imgH="1272540" progId="Visio.Drawing.4">
                  <p:embed/>
                </p:oleObj>
              </mc:Choice>
              <mc:Fallback>
                <p:oleObj name="" r:id="rId1" imgW="1295400" imgH="1272540" progId="Visio.Drawing.4">
                  <p:embed/>
                  <p:pic>
                    <p:nvPicPr>
                      <p:cNvPr id="0" name="图片 3075"/>
                      <p:cNvPicPr/>
                      <p:nvPr/>
                    </p:nvPicPr>
                    <p:blipFill>
                      <a:blip r:embed="rId2"/>
                      <a:stretch>
                        <a:fillRect/>
                      </a:stretch>
                    </p:blipFill>
                    <p:spPr>
                      <a:xfrm>
                        <a:off x="2411413" y="1125538"/>
                        <a:ext cx="4343400" cy="4284662"/>
                      </a:xfrm>
                      <a:prstGeom prst="rect">
                        <a:avLst/>
                      </a:prstGeom>
                      <a:noFill/>
                      <a:ln w="38100">
                        <a:noFill/>
                        <a:miter/>
                      </a:ln>
                    </p:spPr>
                  </p:pic>
                </p:oleObj>
              </mc:Fallback>
            </mc:AlternateContent>
          </a:graphicData>
        </a:graphic>
      </p:graphicFrame>
      <p:sp>
        <p:nvSpPr>
          <p:cNvPr id="9221" name="TextBox 4"/>
          <p:cNvSpPr txBox="1"/>
          <p:nvPr/>
        </p:nvSpPr>
        <p:spPr>
          <a:xfrm>
            <a:off x="5286375" y="1285875"/>
            <a:ext cx="1500188" cy="369888"/>
          </a:xfrm>
          <a:prstGeom prst="rect">
            <a:avLst/>
          </a:prstGeom>
          <a:noFill/>
          <a:ln w="9525">
            <a:noFill/>
          </a:ln>
        </p:spPr>
        <p:txBody>
          <a:bodyPr>
            <a:spAutoFit/>
          </a:bodyPr>
          <a:p>
            <a:pPr eaLnBrk="1" hangingPunct="1"/>
            <a:r>
              <a:rPr lang="zh-CN" altLang="en-US" dirty="0">
                <a:latin typeface="Arial" panose="020B0604020202020204" pitchFamily="34" charset="0"/>
              </a:rPr>
              <a:t>产生</a:t>
            </a:r>
            <a:endParaRPr lang="zh-CN" altLang="en-US" dirty="0">
              <a:latin typeface="Arial" panose="020B0604020202020204" pitchFamily="34" charset="0"/>
            </a:endParaRPr>
          </a:p>
        </p:txBody>
      </p:sp>
      <p:sp>
        <p:nvSpPr>
          <p:cNvPr id="9222" name="TextBox 5"/>
          <p:cNvSpPr txBox="1"/>
          <p:nvPr/>
        </p:nvSpPr>
        <p:spPr>
          <a:xfrm>
            <a:off x="6500813" y="3214688"/>
            <a:ext cx="1143000" cy="369887"/>
          </a:xfrm>
          <a:prstGeom prst="rect">
            <a:avLst/>
          </a:prstGeom>
          <a:noFill/>
          <a:ln w="9525">
            <a:noFill/>
          </a:ln>
        </p:spPr>
        <p:txBody>
          <a:bodyPr>
            <a:spAutoFit/>
          </a:bodyPr>
          <a:p>
            <a:pPr eaLnBrk="1" hangingPunct="1"/>
            <a:r>
              <a:rPr lang="zh-CN" altLang="en-US" dirty="0">
                <a:latin typeface="Arial" panose="020B0604020202020204" pitchFamily="34" charset="0"/>
              </a:rPr>
              <a:t>接收</a:t>
            </a:r>
            <a:endParaRPr lang="zh-CN" altLang="en-US" dirty="0">
              <a:latin typeface="Arial" panose="020B0604020202020204" pitchFamily="34" charset="0"/>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02" name="Rectangle 2"/>
          <p:cNvSpPr>
            <a:spLocks noGrp="1" noRot="1"/>
          </p:cNvSpPr>
          <p:nvPr>
            <p:ph idx="1"/>
          </p:nvPr>
        </p:nvSpPr>
        <p:spPr>
          <a:xfrm>
            <a:off x="539750" y="476250"/>
            <a:ext cx="8077200" cy="4989513"/>
          </a:xfrm>
          <a:ln/>
        </p:spPr>
        <p:txBody>
          <a:bodyPr vert="horz" wrap="square" lIns="91440" tIns="45720" rIns="91440" bIns="45720" anchor="t" anchorCtr="0"/>
          <a:p>
            <a:pPr algn="just" eaLnBrk="1" hangingPunct="1">
              <a:buNone/>
            </a:pPr>
            <a:r>
              <a:rPr lang="en-US" altLang="zh-CN" sz="4000" b="1" dirty="0">
                <a:solidFill>
                  <a:schemeClr val="folHlink"/>
                </a:solidFill>
              </a:rPr>
              <a:t>2.</a:t>
            </a:r>
            <a:r>
              <a:rPr lang="zh-CN" altLang="en-US" sz="4000" b="1" dirty="0">
                <a:solidFill>
                  <a:schemeClr val="folHlink"/>
                </a:solidFill>
              </a:rPr>
              <a:t>进程推进顺序不当引起死锁</a:t>
            </a:r>
            <a:endParaRPr lang="zh-CN" altLang="en-US" sz="4000" b="1" dirty="0">
              <a:solidFill>
                <a:schemeClr val="folHlink"/>
              </a:solidFill>
            </a:endParaRPr>
          </a:p>
          <a:p>
            <a:pPr algn="just" eaLnBrk="1" hangingPunct="1">
              <a:buNone/>
            </a:pPr>
            <a:endParaRPr lang="zh-CN" altLang="en-US" sz="4000" b="1" dirty="0">
              <a:solidFill>
                <a:schemeClr val="folHlink"/>
              </a:solidFill>
            </a:endParaRPr>
          </a:p>
          <a:p>
            <a:pPr algn="just" eaLnBrk="1" hangingPunct="1">
              <a:buNone/>
            </a:pPr>
            <a:r>
              <a:rPr lang="en-US" altLang="zh-CN" b="1" dirty="0">
                <a:solidFill>
                  <a:schemeClr val="folHlink"/>
                </a:solidFill>
              </a:rPr>
              <a:t>1</a:t>
            </a:r>
            <a:r>
              <a:rPr lang="zh-CN" altLang="en-US" b="1" dirty="0">
                <a:solidFill>
                  <a:schemeClr val="folHlink"/>
                </a:solidFill>
              </a:rPr>
              <a:t>）进程推进顺序合法</a:t>
            </a:r>
            <a:endParaRPr lang="zh-CN" altLang="en-US" b="1" dirty="0">
              <a:solidFill>
                <a:schemeClr val="folHlink"/>
              </a:solidFill>
            </a:endParaRPr>
          </a:p>
          <a:p>
            <a:pPr algn="just" eaLnBrk="1" hangingPunct="1">
              <a:buNone/>
            </a:pPr>
            <a:r>
              <a:rPr lang="zh-CN" altLang="en-US" b="1" dirty="0"/>
              <a:t>进程推进顺序合法不会引起进程死锁的。 </a:t>
            </a:r>
            <a:endParaRPr lang="en-US" altLang="zh-CN" b="1" dirty="0"/>
          </a:p>
          <a:p>
            <a:pPr algn="just" eaLnBrk="1" hangingPunct="1">
              <a:buNone/>
            </a:pPr>
            <a:endParaRPr lang="zh-CN" altLang="en-US" b="1" dirty="0"/>
          </a:p>
          <a:p>
            <a:pPr algn="just" eaLnBrk="1" hangingPunct="1">
              <a:buNone/>
            </a:pPr>
            <a:r>
              <a:rPr lang="en-US" altLang="zh-CN" b="1" dirty="0">
                <a:solidFill>
                  <a:schemeClr val="folHlink"/>
                </a:solidFill>
              </a:rPr>
              <a:t>2</a:t>
            </a:r>
            <a:r>
              <a:rPr lang="zh-CN" altLang="en-US" b="1" dirty="0">
                <a:solidFill>
                  <a:schemeClr val="folHlink"/>
                </a:solidFill>
              </a:rPr>
              <a:t>）进程推进顺序非法</a:t>
            </a:r>
            <a:r>
              <a:rPr lang="zh-CN" altLang="en-US" b="1" dirty="0"/>
              <a:t> </a:t>
            </a:r>
            <a:endParaRPr lang="zh-CN" altLang="en-US" b="1" dirty="0"/>
          </a:p>
          <a:p>
            <a:pPr algn="just" eaLnBrk="1" hangingPunct="1">
              <a:buNone/>
            </a:pPr>
            <a:r>
              <a:rPr lang="zh-CN" altLang="en-US" b="1" dirty="0"/>
              <a:t>若并发进程</a:t>
            </a:r>
            <a:r>
              <a:rPr lang="en-US" altLang="zh-CN" b="1" dirty="0"/>
              <a:t>P1</a:t>
            </a:r>
            <a:r>
              <a:rPr lang="zh-CN" altLang="en-US" b="1" dirty="0"/>
              <a:t>和</a:t>
            </a:r>
            <a:r>
              <a:rPr lang="en-US" altLang="zh-CN" b="1" dirty="0"/>
              <a:t>P2</a:t>
            </a:r>
            <a:r>
              <a:rPr lang="zh-CN" altLang="en-US" b="1" dirty="0"/>
              <a:t>推进顺序不合法，进入不安全状态，于是发生了进程死锁。 </a:t>
            </a:r>
            <a:endParaRPr lang="zh-CN" altLang="en-US" b="1" dirty="0"/>
          </a:p>
          <a:p>
            <a:pPr algn="just" eaLnBrk="1" hangingPunct="1">
              <a:buNone/>
            </a:pPr>
            <a:endParaRPr lang="zh-CN" altLang="en-US" b="1" dirty="0"/>
          </a:p>
          <a:p>
            <a:pPr algn="just" eaLnBrk="1" hangingPunct="1">
              <a:buNone/>
            </a:pPr>
            <a:endParaRPr lang="en-US" altLang="zh-CN"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307202">
                                            <p:txEl>
                                              <p:charRg st="0" end="15"/>
                                            </p:txEl>
                                          </p:spTgt>
                                        </p:tgtEl>
                                        <p:attrNameLst>
                                          <p:attrName>style.visibility</p:attrName>
                                        </p:attrNameLst>
                                      </p:cBhvr>
                                      <p:to>
                                        <p:strVal val="visible"/>
                                      </p:to>
                                    </p:set>
                                    <p:animEffect transition="in" filter="fade">
                                      <p:cBhvr>
                                        <p:cTn id="7" dur="2000"/>
                                        <p:tgtEl>
                                          <p:spTgt spid="307202">
                                            <p:txEl>
                                              <p:charRg st="0" end="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307202">
                                            <p:txEl>
                                              <p:charRg st="16" end="27"/>
                                            </p:txEl>
                                          </p:spTgt>
                                        </p:tgtEl>
                                        <p:attrNameLst>
                                          <p:attrName>style.visibility</p:attrName>
                                        </p:attrNameLst>
                                      </p:cBhvr>
                                      <p:to>
                                        <p:strVal val="visible"/>
                                      </p:to>
                                    </p:set>
                                    <p:animEffect transition="in" filter="fade">
                                      <p:cBhvr>
                                        <p:cTn id="12" dur="2000"/>
                                        <p:tgtEl>
                                          <p:spTgt spid="307202">
                                            <p:txEl>
                                              <p:charRg st="16" end="2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307202">
                                            <p:txEl>
                                              <p:charRg st="27" end="47"/>
                                            </p:txEl>
                                          </p:spTgt>
                                        </p:tgtEl>
                                        <p:attrNameLst>
                                          <p:attrName>style.visibility</p:attrName>
                                        </p:attrNameLst>
                                      </p:cBhvr>
                                      <p:to>
                                        <p:strVal val="visible"/>
                                      </p:to>
                                    </p:set>
                                    <p:animEffect transition="in" filter="fade">
                                      <p:cBhvr>
                                        <p:cTn id="17" dur="2000"/>
                                        <p:tgtEl>
                                          <p:spTgt spid="307202">
                                            <p:txEl>
                                              <p:charRg st="27" end="4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307202">
                                            <p:txEl>
                                              <p:charRg st="48" end="60"/>
                                            </p:txEl>
                                          </p:spTgt>
                                        </p:tgtEl>
                                        <p:attrNameLst>
                                          <p:attrName>style.visibility</p:attrName>
                                        </p:attrNameLst>
                                      </p:cBhvr>
                                      <p:to>
                                        <p:strVal val="visible"/>
                                      </p:to>
                                    </p:set>
                                    <p:animEffect transition="in" filter="fade">
                                      <p:cBhvr>
                                        <p:cTn id="22" dur="2000"/>
                                        <p:tgtEl>
                                          <p:spTgt spid="307202">
                                            <p:txEl>
                                              <p:charRg st="48" end="6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1" nodeType="clickEffect">
                                  <p:stCondLst>
                                    <p:cond delay="0"/>
                                  </p:stCondLst>
                                  <p:childTnLst>
                                    <p:set>
                                      <p:cBhvr>
                                        <p:cTn id="26" dur="1" fill="hold">
                                          <p:stCondLst>
                                            <p:cond delay="0"/>
                                          </p:stCondLst>
                                        </p:cTn>
                                        <p:tgtEl>
                                          <p:spTgt spid="307202">
                                            <p:txEl>
                                              <p:charRg st="60" end="98"/>
                                            </p:txEl>
                                          </p:spTgt>
                                        </p:tgtEl>
                                        <p:attrNameLst>
                                          <p:attrName>style.visibility</p:attrName>
                                        </p:attrNameLst>
                                      </p:cBhvr>
                                      <p:to>
                                        <p:strVal val="visible"/>
                                      </p:to>
                                    </p:set>
                                    <p:animEffect transition="in" filter="fade">
                                      <p:cBhvr>
                                        <p:cTn id="27" dur="2000"/>
                                        <p:tgtEl>
                                          <p:spTgt spid="307202">
                                            <p:txEl>
                                              <p:charRg st="60" end="9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07202">
                                            <p:txEl>
                                              <p:charRg st="0" end="15"/>
                                            </p:txEl>
                                          </p:spTgt>
                                        </p:tgtEl>
                                        <p:attrNameLst>
                                          <p:attrName>style.visibility</p:attrName>
                                        </p:attrNameLst>
                                      </p:cBhvr>
                                      <p:to>
                                        <p:strVal val="visible"/>
                                      </p:to>
                                    </p:set>
                                    <p:animEffect transition="in" filter="fade">
                                      <p:cBhvr>
                                        <p:cTn id="32" dur="2000"/>
                                        <p:tgtEl>
                                          <p:spTgt spid="307202">
                                            <p:txEl>
                                              <p:charRg st="0" end="1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07202">
                                            <p:txEl>
                                              <p:charRg st="16" end="27"/>
                                            </p:txEl>
                                          </p:spTgt>
                                        </p:tgtEl>
                                        <p:attrNameLst>
                                          <p:attrName>style.visibility</p:attrName>
                                        </p:attrNameLst>
                                      </p:cBhvr>
                                      <p:to>
                                        <p:strVal val="visible"/>
                                      </p:to>
                                    </p:set>
                                    <p:animEffect transition="in" filter="fade">
                                      <p:cBhvr>
                                        <p:cTn id="37" dur="2000"/>
                                        <p:tgtEl>
                                          <p:spTgt spid="307202">
                                            <p:txEl>
                                              <p:charRg st="16" end="2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07202">
                                            <p:txEl>
                                              <p:charRg st="27" end="47"/>
                                            </p:txEl>
                                          </p:spTgt>
                                        </p:tgtEl>
                                        <p:attrNameLst>
                                          <p:attrName>style.visibility</p:attrName>
                                        </p:attrNameLst>
                                      </p:cBhvr>
                                      <p:to>
                                        <p:strVal val="visible"/>
                                      </p:to>
                                    </p:set>
                                    <p:animEffect transition="in" filter="fade">
                                      <p:cBhvr>
                                        <p:cTn id="42" dur="2000"/>
                                        <p:tgtEl>
                                          <p:spTgt spid="307202">
                                            <p:txEl>
                                              <p:charRg st="27" end="4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07202">
                                            <p:txEl>
                                              <p:charRg st="48" end="60"/>
                                            </p:txEl>
                                          </p:spTgt>
                                        </p:tgtEl>
                                        <p:attrNameLst>
                                          <p:attrName>style.visibility</p:attrName>
                                        </p:attrNameLst>
                                      </p:cBhvr>
                                      <p:to>
                                        <p:strVal val="visible"/>
                                      </p:to>
                                    </p:set>
                                    <p:animEffect transition="in" filter="fade">
                                      <p:cBhvr>
                                        <p:cTn id="47" dur="2000"/>
                                        <p:tgtEl>
                                          <p:spTgt spid="307202">
                                            <p:txEl>
                                              <p:charRg st="48" end="6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07202">
                                            <p:txEl>
                                              <p:charRg st="60" end="98"/>
                                            </p:txEl>
                                          </p:spTgt>
                                        </p:tgtEl>
                                        <p:attrNameLst>
                                          <p:attrName>style.visibility</p:attrName>
                                        </p:attrNameLst>
                                      </p:cBhvr>
                                      <p:to>
                                        <p:strVal val="visible"/>
                                      </p:to>
                                    </p:set>
                                    <p:animEffect transition="in" filter="fade">
                                      <p:cBhvr>
                                        <p:cTn id="52" dur="2000"/>
                                        <p:tgtEl>
                                          <p:spTgt spid="307202">
                                            <p:txEl>
                                              <p:charRg st="60" end="9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2" grpId="0" build="p"/>
      <p:bldP spid="307202" grpId="1"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3" name="Text Box 2"/>
          <p:cNvSpPr txBox="1"/>
          <p:nvPr/>
        </p:nvSpPr>
        <p:spPr>
          <a:xfrm>
            <a:off x="1082675" y="101600"/>
            <a:ext cx="4914900" cy="519113"/>
          </a:xfrm>
          <a:prstGeom prst="rect">
            <a:avLst/>
          </a:prstGeom>
          <a:noFill/>
          <a:ln w="9525">
            <a:noFill/>
          </a:ln>
        </p:spPr>
        <p:txBody>
          <a:bodyPr wrap="none">
            <a:spAutoFit/>
          </a:bodyPr>
          <a:p>
            <a:pPr eaLnBrk="1" hangingPunct="1"/>
            <a:r>
              <a:rPr lang="en-US" altLang="zh-CN" sz="2800" b="1" dirty="0">
                <a:latin typeface="Times New Roman" panose="02020603050405020304" pitchFamily="18" charset="0"/>
              </a:rPr>
              <a:t>2. </a:t>
            </a:r>
            <a:r>
              <a:rPr lang="zh-CN" altLang="en-US" sz="2800" b="1" dirty="0">
                <a:latin typeface="Times New Roman" panose="02020603050405020304" pitchFamily="18" charset="0"/>
              </a:rPr>
              <a:t>进程推进顺序不当引起死锁 </a:t>
            </a:r>
            <a:endParaRPr lang="zh-CN" altLang="en-US" sz="2800" b="1" dirty="0">
              <a:latin typeface="Times New Roman" panose="02020603050405020304" pitchFamily="18" charset="0"/>
            </a:endParaRPr>
          </a:p>
        </p:txBody>
      </p:sp>
      <p:sp>
        <p:nvSpPr>
          <p:cNvPr id="10244" name="Text Box 3"/>
          <p:cNvSpPr txBox="1"/>
          <p:nvPr/>
        </p:nvSpPr>
        <p:spPr>
          <a:xfrm>
            <a:off x="1028700" y="711200"/>
            <a:ext cx="3503613" cy="519113"/>
          </a:xfrm>
          <a:prstGeom prst="rect">
            <a:avLst/>
          </a:prstGeom>
          <a:noFill/>
          <a:ln w="9525">
            <a:noFill/>
          </a:ln>
        </p:spPr>
        <p:txBody>
          <a:bodyPr wrap="none">
            <a:spAutoFit/>
          </a:bodyPr>
          <a:p>
            <a:pPr eaLnBrk="1" hangingPunct="1"/>
            <a:r>
              <a:rPr lang="en-US" altLang="zh-CN" sz="2800" b="1" dirty="0">
                <a:solidFill>
                  <a:srgbClr val="FF0000"/>
                </a:solidFill>
                <a:latin typeface="Times New Roman" panose="02020603050405020304" pitchFamily="18" charset="0"/>
              </a:rPr>
              <a:t>1) </a:t>
            </a:r>
            <a:r>
              <a:rPr lang="zh-CN" altLang="en-US" sz="2800" b="1" dirty="0">
                <a:solidFill>
                  <a:srgbClr val="FF0000"/>
                </a:solidFill>
                <a:latin typeface="Times New Roman" panose="02020603050405020304" pitchFamily="18" charset="0"/>
              </a:rPr>
              <a:t>进程推进顺序合法</a:t>
            </a:r>
            <a:r>
              <a:rPr lang="zh-CN" altLang="en-US" sz="2400" b="1" dirty="0">
                <a:solidFill>
                  <a:srgbClr val="FF0000"/>
                </a:solidFill>
                <a:latin typeface="Times New Roman" panose="02020603050405020304" pitchFamily="18" charset="0"/>
              </a:rPr>
              <a:t> </a:t>
            </a:r>
            <a:endParaRPr lang="zh-CN" altLang="en-US" sz="2400" b="1" dirty="0">
              <a:solidFill>
                <a:srgbClr val="FF0000"/>
              </a:solidFill>
              <a:latin typeface="Times New Roman" panose="02020603050405020304" pitchFamily="18" charset="0"/>
            </a:endParaRPr>
          </a:p>
        </p:txBody>
      </p:sp>
      <p:sp>
        <p:nvSpPr>
          <p:cNvPr id="10245" name="Rectangle 7"/>
          <p:cNvSpPr/>
          <p:nvPr/>
        </p:nvSpPr>
        <p:spPr>
          <a:xfrm>
            <a:off x="209550" y="1514475"/>
            <a:ext cx="8715375" cy="5057775"/>
          </a:xfrm>
          <a:prstGeom prst="rect">
            <a:avLst/>
          </a:prstGeom>
          <a:solidFill>
            <a:srgbClr val="99CCFF"/>
          </a:solidFill>
          <a:ln w="9525">
            <a:noFill/>
          </a:ln>
          <a:effectLst>
            <a:prstShdw prst="shdw17" dist="17961" dir="13499999">
              <a:srgbClr val="050505"/>
            </a:prstShdw>
          </a:effectLst>
        </p:spPr>
        <p:txBody>
          <a:bodyPr wrap="none" anchor="ctr" anchorCtr="0"/>
          <a:p>
            <a:pPr eaLnBrk="1" hangingPunct="1"/>
            <a:endParaRPr lang="zh-CN" altLang="en-US" dirty="0">
              <a:latin typeface="Arial" panose="020B0604020202020204" pitchFamily="34" charset="0"/>
            </a:endParaRPr>
          </a:p>
        </p:txBody>
      </p:sp>
      <p:graphicFrame>
        <p:nvGraphicFramePr>
          <p:cNvPr id="10242" name="Object 10"/>
          <p:cNvGraphicFramePr>
            <a:graphicFrameLocks noChangeAspect="1"/>
          </p:cNvGraphicFramePr>
          <p:nvPr/>
        </p:nvGraphicFramePr>
        <p:xfrm>
          <a:off x="209550" y="1209675"/>
          <a:ext cx="8863013" cy="5122863"/>
        </p:xfrm>
        <a:graphic>
          <a:graphicData uri="http://schemas.openxmlformats.org/presentationml/2006/ole">
            <mc:AlternateContent xmlns:mc="http://schemas.openxmlformats.org/markup-compatibility/2006">
              <mc:Choice xmlns:v="urn:schemas-microsoft-com:vml" Requires="v">
                <p:oleObj spid="_x0000_s3077" name="" r:id="rId1" imgW="3596640" imgH="2080260" progId="Visio.Drawing.11">
                  <p:embed/>
                </p:oleObj>
              </mc:Choice>
              <mc:Fallback>
                <p:oleObj name="" r:id="rId1" imgW="3596640" imgH="2080260" progId="Visio.Drawing.11">
                  <p:embed/>
                  <p:pic>
                    <p:nvPicPr>
                      <p:cNvPr id="0" name="图片 3076"/>
                      <p:cNvPicPr/>
                      <p:nvPr/>
                    </p:nvPicPr>
                    <p:blipFill>
                      <a:blip r:embed="rId2"/>
                      <a:stretch>
                        <a:fillRect/>
                      </a:stretch>
                    </p:blipFill>
                    <p:spPr>
                      <a:xfrm>
                        <a:off x="209550" y="1209675"/>
                        <a:ext cx="8863013" cy="5122863"/>
                      </a:xfrm>
                      <a:prstGeom prst="rect">
                        <a:avLst/>
                      </a:prstGeom>
                      <a:noFill/>
                      <a:ln w="38100">
                        <a:noFill/>
                        <a:miter/>
                      </a:ln>
                    </p:spPr>
                  </p:pic>
                </p:oleObj>
              </mc:Fallback>
            </mc:AlternateContent>
          </a:graphicData>
        </a:graphic>
      </p:graphicFrame>
      <p:sp>
        <p:nvSpPr>
          <p:cNvPr id="14343" name="AutoShape 7"/>
          <p:cNvSpPr>
            <a:spLocks noChangeArrowheads="1"/>
          </p:cNvSpPr>
          <p:nvPr/>
        </p:nvSpPr>
        <p:spPr bwMode="auto">
          <a:xfrm>
            <a:off x="4060825" y="2305050"/>
            <a:ext cx="1954213" cy="552450"/>
          </a:xfrm>
          <a:prstGeom prst="wedgeRoundRectCallout">
            <a:avLst>
              <a:gd name="adj1" fmla="val -43069"/>
              <a:gd name="adj2" fmla="val 84384"/>
              <a:gd name="adj3" fmla="val 16667"/>
            </a:avLst>
          </a:prstGeom>
          <a:solidFill>
            <a:schemeClr val="accent1"/>
          </a:solidFill>
          <a:ln w="9525">
            <a:noFill/>
            <a:miter lim="800000"/>
          </a:ln>
          <a:effectLst>
            <a:prstShdw prst="shdw18" dist="17961" dir="13500000">
              <a:schemeClr val="accent1">
                <a:gamma/>
                <a:shade val="60000"/>
                <a:invGamma/>
              </a:schemeClr>
            </a:prstShdw>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不安全区域</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D</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344" name="AutoShape 8"/>
          <p:cNvSpPr>
            <a:spLocks noChangeArrowheads="1"/>
          </p:cNvSpPr>
          <p:nvPr/>
        </p:nvSpPr>
        <p:spPr bwMode="auto">
          <a:xfrm>
            <a:off x="6929438" y="285750"/>
            <a:ext cx="1819275" cy="1143000"/>
          </a:xfrm>
          <a:prstGeom prst="wedgeEllipseCallout">
            <a:avLst>
              <a:gd name="adj1" fmla="val -34139"/>
              <a:gd name="adj2" fmla="val 64801"/>
            </a:avLst>
          </a:prstGeom>
          <a:solidFill>
            <a:schemeClr val="accent1"/>
          </a:solidFill>
          <a:ln w="9525">
            <a:noFill/>
            <a:miter lim="800000"/>
          </a:ln>
          <a:effectLst>
            <a:prstShdw prst="shdw18" dist="17961" dir="13500000">
              <a:schemeClr val="accent1">
                <a:gamma/>
                <a:shade val="60000"/>
                <a:invGamma/>
              </a:schemeClr>
            </a:prstShdw>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除了曲线</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4</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外，都是安全的</a:t>
            </a: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48" name="矩形 7"/>
          <p:cNvSpPr/>
          <p:nvPr/>
        </p:nvSpPr>
        <p:spPr>
          <a:xfrm>
            <a:off x="3500438" y="3033713"/>
            <a:ext cx="1800225" cy="895350"/>
          </a:xfrm>
          <a:prstGeom prst="rect">
            <a:avLst/>
          </a:prstGeom>
          <a:solidFill>
            <a:schemeClr val="accent1"/>
          </a:solidFill>
          <a:ln w="9525" cap="flat" cmpd="sng">
            <a:solidFill>
              <a:schemeClr val="tx1"/>
            </a:solidFill>
            <a:prstDash val="solid"/>
            <a:round/>
            <a:headEnd type="none" w="med" len="med"/>
            <a:tailEnd type="none" w="med" len="med"/>
          </a:ln>
          <a:effectLst>
            <a:prstShdw prst="shdw17" dist="17961" dir="13499999">
              <a:schemeClr val="bg2"/>
            </a:prstShdw>
          </a:effectLst>
        </p:spPr>
        <p:txBody>
          <a:bodyPr/>
          <a:p>
            <a:pPr eaLnBrk="1" hangingPunct="1"/>
            <a:r>
              <a:rPr lang="en-US" altLang="zh-CN" dirty="0">
                <a:latin typeface="Arial" panose="020B0604020202020204" pitchFamily="34" charset="0"/>
              </a:rPr>
              <a:t>          </a:t>
            </a:r>
            <a:endParaRPr lang="en-US" altLang="zh-CN" dirty="0">
              <a:latin typeface="Arial" panose="020B0604020202020204" pitchFamily="34" charset="0"/>
            </a:endParaRPr>
          </a:p>
          <a:p>
            <a:pPr eaLnBrk="1" hangingPunct="1"/>
            <a:r>
              <a:rPr lang="en-US" altLang="zh-CN" dirty="0">
                <a:latin typeface="Arial" panose="020B0604020202020204" pitchFamily="34" charset="0"/>
              </a:rPr>
              <a:t>          D</a:t>
            </a:r>
            <a:endParaRPr lang="zh-CN" altLang="en-US"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343"/>
                                        </p:tgtEl>
                                        <p:attrNameLst>
                                          <p:attrName>style.visibility</p:attrName>
                                        </p:attrNameLst>
                                      </p:cBhvr>
                                      <p:to>
                                        <p:strVal val="visible"/>
                                      </p:to>
                                    </p:set>
                                    <p:animEffect transition="in" filter="box(in)">
                                      <p:cBhvr>
                                        <p:cTn id="7" dur="500"/>
                                        <p:tgtEl>
                                          <p:spTgt spid="1434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4344"/>
                                        </p:tgtEl>
                                        <p:attrNameLst>
                                          <p:attrName>style.visibility</p:attrName>
                                        </p:attrNameLst>
                                      </p:cBhvr>
                                      <p:to>
                                        <p:strVal val="visible"/>
                                      </p:to>
                                    </p:set>
                                    <p:animEffect transition="in" filter="box(in)">
                                      <p:cBhvr>
                                        <p:cTn id="12" dur="500"/>
                                        <p:tgtEl>
                                          <p:spTgt spid="14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3" grpId="0" animBg="1"/>
      <p:bldP spid="14344"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Text Box 2"/>
          <p:cNvSpPr txBox="1"/>
          <p:nvPr/>
        </p:nvSpPr>
        <p:spPr>
          <a:xfrm>
            <a:off x="381000" y="571500"/>
            <a:ext cx="8229600" cy="5638800"/>
          </a:xfrm>
          <a:prstGeom prst="rect">
            <a:avLst/>
          </a:prstGeom>
          <a:noFill/>
          <a:ln w="9525">
            <a:noFill/>
          </a:ln>
        </p:spPr>
        <p:txBody>
          <a:bodyPr>
            <a:spAutoFit/>
          </a:bodyPr>
          <a:p>
            <a:pPr algn="just" eaLnBrk="1" hangingPunct="1">
              <a:lnSpc>
                <a:spcPct val="155000"/>
              </a:lnSpc>
              <a:spcBef>
                <a:spcPct val="50000"/>
              </a:spcBef>
            </a:pPr>
            <a:r>
              <a:rPr lang="en-US" altLang="zh-CN" sz="3200" b="1" dirty="0">
                <a:solidFill>
                  <a:srgbClr val="FF0000"/>
                </a:solidFill>
                <a:latin typeface="Times New Roman" panose="02020603050405020304" pitchFamily="18" charset="0"/>
              </a:rPr>
              <a:t>       2) </a:t>
            </a:r>
            <a:r>
              <a:rPr lang="zh-CN" altLang="en-US" sz="3200" b="1" dirty="0">
                <a:solidFill>
                  <a:srgbClr val="FF0000"/>
                </a:solidFill>
                <a:latin typeface="Times New Roman" panose="02020603050405020304" pitchFamily="18" charset="0"/>
              </a:rPr>
              <a:t>进程推进顺序非法</a:t>
            </a:r>
            <a:endParaRPr lang="zh-CN" altLang="en-US" sz="3200" b="1" dirty="0">
              <a:solidFill>
                <a:srgbClr val="FF0000"/>
              </a:solidFill>
              <a:latin typeface="Times New Roman" panose="02020603050405020304" pitchFamily="18" charset="0"/>
            </a:endParaRPr>
          </a:p>
          <a:p>
            <a:pPr algn="just" eaLnBrk="1" hangingPunct="1">
              <a:lnSpc>
                <a:spcPct val="120000"/>
              </a:lnSpc>
              <a:spcBef>
                <a:spcPct val="50000"/>
              </a:spcBef>
            </a:pPr>
            <a:r>
              <a:rPr lang="zh-CN" altLang="en-US" sz="2800" b="1" dirty="0">
                <a:latin typeface="Times New Roman" panose="02020603050405020304" pitchFamily="18" charset="0"/>
              </a:rPr>
              <a:t>       若并发进程</a:t>
            </a:r>
            <a:r>
              <a:rPr lang="en-US" altLang="zh-CN" sz="2800" b="1" dirty="0">
                <a:latin typeface="Times New Roman" panose="02020603050405020304" pitchFamily="18" charset="0"/>
              </a:rPr>
              <a:t>P</a:t>
            </a:r>
            <a:r>
              <a:rPr lang="en-US" altLang="zh-CN" sz="2800" b="1" baseline="-25000" dirty="0">
                <a:latin typeface="Times New Roman" panose="02020603050405020304" pitchFamily="18" charset="0"/>
              </a:rPr>
              <a:t>1</a:t>
            </a:r>
            <a:r>
              <a:rPr lang="zh-CN" altLang="en-US" sz="2800" b="1" dirty="0">
                <a:latin typeface="Times New Roman" panose="02020603050405020304" pitchFamily="18" charset="0"/>
              </a:rPr>
              <a:t>和</a:t>
            </a:r>
            <a:r>
              <a:rPr lang="en-US" altLang="zh-CN" sz="2800" b="1" dirty="0">
                <a:latin typeface="Times New Roman" panose="02020603050405020304" pitchFamily="18" charset="0"/>
              </a:rPr>
              <a:t>P</a:t>
            </a:r>
            <a:r>
              <a:rPr lang="en-US" altLang="zh-CN" sz="2800" b="1" baseline="-25000" dirty="0">
                <a:latin typeface="Times New Roman" panose="02020603050405020304" pitchFamily="18" charset="0"/>
              </a:rPr>
              <a:t>2</a:t>
            </a:r>
            <a:r>
              <a:rPr lang="zh-CN" altLang="en-US" sz="2800" b="1" dirty="0">
                <a:latin typeface="Times New Roman" panose="02020603050405020304" pitchFamily="18" charset="0"/>
              </a:rPr>
              <a:t>按曲线④所示的顺序推进，它们将进入不安全区</a:t>
            </a:r>
            <a:r>
              <a:rPr lang="en-US" altLang="zh-CN" sz="2800" b="1" dirty="0">
                <a:latin typeface="Times New Roman" panose="02020603050405020304" pitchFamily="18" charset="0"/>
              </a:rPr>
              <a:t>D</a:t>
            </a:r>
            <a:r>
              <a:rPr lang="zh-CN" altLang="en-US" sz="2800" b="1" dirty="0">
                <a:latin typeface="Times New Roman" panose="02020603050405020304" pitchFamily="18" charset="0"/>
              </a:rPr>
              <a:t>内。</a:t>
            </a:r>
            <a:endParaRPr lang="en-US" altLang="zh-CN" sz="2800" b="1" dirty="0">
              <a:latin typeface="Times New Roman" panose="02020603050405020304" pitchFamily="18" charset="0"/>
            </a:endParaRPr>
          </a:p>
          <a:p>
            <a:pPr algn="just" eaLnBrk="1" hangingPunct="1">
              <a:lnSpc>
                <a:spcPct val="120000"/>
              </a:lnSpc>
              <a:spcBef>
                <a:spcPct val="50000"/>
              </a:spcBef>
            </a:pPr>
            <a:r>
              <a:rPr lang="en-US" altLang="zh-CN" sz="2800" b="1" dirty="0">
                <a:latin typeface="Times New Roman" panose="02020603050405020304" pitchFamily="18" charset="0"/>
              </a:rPr>
              <a:t>     </a:t>
            </a:r>
            <a:r>
              <a:rPr lang="zh-CN" altLang="en-US" sz="2800" b="1" dirty="0">
                <a:latin typeface="Times New Roman" panose="02020603050405020304" pitchFamily="18" charset="0"/>
              </a:rPr>
              <a:t>此时</a:t>
            </a:r>
            <a:r>
              <a:rPr lang="en-US" altLang="zh-CN" sz="2800" b="1" dirty="0">
                <a:latin typeface="Times New Roman" panose="02020603050405020304" pitchFamily="18" charset="0"/>
              </a:rPr>
              <a:t>P</a:t>
            </a:r>
            <a:r>
              <a:rPr lang="en-US" altLang="zh-CN" sz="2800" b="1" baseline="-25000" dirty="0">
                <a:latin typeface="Times New Roman" panose="02020603050405020304" pitchFamily="18" charset="0"/>
              </a:rPr>
              <a:t>1</a:t>
            </a:r>
            <a:r>
              <a:rPr lang="zh-CN" altLang="en-US" sz="2800" b="1" dirty="0">
                <a:latin typeface="Times New Roman" panose="02020603050405020304" pitchFamily="18" charset="0"/>
              </a:rPr>
              <a:t>保持了资源</a:t>
            </a:r>
            <a:r>
              <a:rPr lang="en-US" altLang="zh-CN" sz="2800" b="1" dirty="0">
                <a:latin typeface="Times New Roman" panose="02020603050405020304" pitchFamily="18" charset="0"/>
              </a:rPr>
              <a:t>R</a:t>
            </a:r>
            <a:r>
              <a:rPr lang="en-US" altLang="zh-CN" sz="2800" b="1" baseline="-25000" dirty="0">
                <a:latin typeface="Times New Roman" panose="02020603050405020304" pitchFamily="18" charset="0"/>
              </a:rPr>
              <a:t>1</a:t>
            </a:r>
            <a:r>
              <a:rPr lang="en-US" altLang="zh-CN" sz="2800" b="1" dirty="0">
                <a:latin typeface="Times New Roman" panose="02020603050405020304" pitchFamily="18" charset="0"/>
              </a:rPr>
              <a:t>, P</a:t>
            </a:r>
            <a:r>
              <a:rPr lang="en-US" altLang="zh-CN" sz="2800" b="1" baseline="-25000" dirty="0">
                <a:latin typeface="Times New Roman" panose="02020603050405020304" pitchFamily="18" charset="0"/>
              </a:rPr>
              <a:t>2</a:t>
            </a:r>
            <a:r>
              <a:rPr lang="zh-CN" altLang="en-US" sz="2800" b="1" dirty="0">
                <a:latin typeface="Times New Roman" panose="02020603050405020304" pitchFamily="18" charset="0"/>
              </a:rPr>
              <a:t>保持了资源</a:t>
            </a:r>
            <a:r>
              <a:rPr lang="en-US" altLang="zh-CN" sz="2800" b="1" dirty="0">
                <a:latin typeface="Times New Roman" panose="02020603050405020304" pitchFamily="18" charset="0"/>
              </a:rPr>
              <a:t>R</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系统处于不安全状态。因为，这时两进程再向前推进，便可能发生死锁。</a:t>
            </a:r>
            <a:endParaRPr lang="en-US" altLang="zh-CN" sz="2800" b="1" dirty="0">
              <a:latin typeface="Times New Roman" panose="02020603050405020304" pitchFamily="18" charset="0"/>
            </a:endParaRPr>
          </a:p>
          <a:p>
            <a:pPr algn="just" eaLnBrk="1" hangingPunct="1">
              <a:lnSpc>
                <a:spcPct val="120000"/>
              </a:lnSpc>
              <a:spcBef>
                <a:spcPct val="50000"/>
              </a:spcBef>
            </a:pPr>
            <a:r>
              <a:rPr lang="zh-CN" altLang="en-US" sz="2800" b="1" dirty="0">
                <a:latin typeface="Times New Roman" panose="02020603050405020304" pitchFamily="18" charset="0"/>
              </a:rPr>
              <a:t>例如，当</a:t>
            </a:r>
            <a:r>
              <a:rPr lang="en-US" altLang="zh-CN" sz="2800" b="1" dirty="0">
                <a:latin typeface="Times New Roman" panose="02020603050405020304" pitchFamily="18" charset="0"/>
              </a:rPr>
              <a:t>P</a:t>
            </a:r>
            <a:r>
              <a:rPr lang="en-US" altLang="zh-CN" sz="2800" b="1" baseline="-25000" dirty="0">
                <a:latin typeface="Times New Roman" panose="02020603050405020304" pitchFamily="18" charset="0"/>
              </a:rPr>
              <a:t>1</a:t>
            </a:r>
            <a:r>
              <a:rPr lang="zh-CN" altLang="en-US" sz="2800" b="1" dirty="0">
                <a:latin typeface="Times New Roman" panose="02020603050405020304" pitchFamily="18" charset="0"/>
              </a:rPr>
              <a:t>运行到</a:t>
            </a:r>
            <a:r>
              <a:rPr lang="en-US" altLang="zh-CN" sz="2800" b="1" dirty="0">
                <a:latin typeface="Times New Roman" panose="02020603050405020304" pitchFamily="18" charset="0"/>
              </a:rPr>
              <a:t>P</a:t>
            </a:r>
            <a:r>
              <a:rPr lang="en-US" altLang="zh-CN" sz="2800" b="1" baseline="-25000" dirty="0">
                <a:latin typeface="Times New Roman" panose="02020603050405020304" pitchFamily="18" charset="0"/>
              </a:rPr>
              <a:t>1</a:t>
            </a:r>
            <a:r>
              <a:rPr lang="en-US" altLang="zh-CN" sz="2800" b="1" dirty="0">
                <a:latin typeface="Times New Roman" panose="02020603050405020304" pitchFamily="18" charset="0"/>
              </a:rPr>
              <a:t>:Request(R</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时，将因</a:t>
            </a:r>
            <a:r>
              <a:rPr lang="en-US" altLang="zh-CN" sz="2800" b="1" dirty="0">
                <a:latin typeface="Times New Roman" panose="02020603050405020304" pitchFamily="18" charset="0"/>
              </a:rPr>
              <a:t>R</a:t>
            </a:r>
            <a:r>
              <a:rPr lang="en-US" altLang="zh-CN" sz="2800" b="1" baseline="-25000" dirty="0">
                <a:latin typeface="Times New Roman" panose="02020603050405020304" pitchFamily="18" charset="0"/>
              </a:rPr>
              <a:t>2</a:t>
            </a:r>
            <a:r>
              <a:rPr lang="zh-CN" altLang="en-US" sz="2800" b="1" dirty="0">
                <a:latin typeface="Times New Roman" panose="02020603050405020304" pitchFamily="18" charset="0"/>
              </a:rPr>
              <a:t>已被</a:t>
            </a:r>
            <a:r>
              <a:rPr lang="en-US" altLang="zh-CN" sz="2800" b="1" dirty="0">
                <a:latin typeface="Times New Roman" panose="02020603050405020304" pitchFamily="18" charset="0"/>
              </a:rPr>
              <a:t>P</a:t>
            </a:r>
            <a:r>
              <a:rPr lang="en-US" altLang="zh-CN" sz="2800" b="1" baseline="-25000" dirty="0">
                <a:latin typeface="Times New Roman" panose="02020603050405020304" pitchFamily="18" charset="0"/>
              </a:rPr>
              <a:t>2</a:t>
            </a:r>
            <a:r>
              <a:rPr lang="zh-CN" altLang="en-US" sz="2800" b="1" dirty="0">
                <a:latin typeface="Times New Roman" panose="02020603050405020304" pitchFamily="18" charset="0"/>
              </a:rPr>
              <a:t>占用而阻塞；当</a:t>
            </a:r>
            <a:r>
              <a:rPr lang="en-US" altLang="zh-CN" sz="2800" b="1" dirty="0">
                <a:latin typeface="Times New Roman" panose="02020603050405020304" pitchFamily="18" charset="0"/>
              </a:rPr>
              <a:t>P</a:t>
            </a:r>
            <a:r>
              <a:rPr lang="en-US" altLang="zh-CN" sz="2800" b="1" baseline="-25000" dirty="0">
                <a:latin typeface="Times New Roman" panose="02020603050405020304" pitchFamily="18" charset="0"/>
              </a:rPr>
              <a:t>2</a:t>
            </a:r>
            <a:r>
              <a:rPr lang="zh-CN" altLang="en-US" sz="2800" b="1" dirty="0">
                <a:latin typeface="Times New Roman" panose="02020603050405020304" pitchFamily="18" charset="0"/>
              </a:rPr>
              <a:t>运行到</a:t>
            </a:r>
            <a:r>
              <a:rPr lang="en-US" altLang="zh-CN" sz="2800" b="1" dirty="0">
                <a:latin typeface="Times New Roman" panose="02020603050405020304" pitchFamily="18" charset="0"/>
              </a:rPr>
              <a:t>P</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 Request(R</a:t>
            </a:r>
            <a:r>
              <a:rPr lang="en-US" altLang="zh-CN" sz="2800" b="1" baseline="-25000" dirty="0">
                <a:latin typeface="Times New Roman" panose="02020603050405020304" pitchFamily="18" charset="0"/>
              </a:rPr>
              <a:t>1</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时，也将因</a:t>
            </a:r>
            <a:r>
              <a:rPr lang="en-US" altLang="zh-CN" sz="2800" b="1" dirty="0">
                <a:latin typeface="Times New Roman" panose="02020603050405020304" pitchFamily="18" charset="0"/>
              </a:rPr>
              <a:t>R</a:t>
            </a:r>
            <a:r>
              <a:rPr lang="en-US" altLang="zh-CN" sz="2800" b="1" baseline="-25000" dirty="0">
                <a:latin typeface="Times New Roman" panose="02020603050405020304" pitchFamily="18" charset="0"/>
              </a:rPr>
              <a:t>1</a:t>
            </a:r>
            <a:r>
              <a:rPr lang="zh-CN" altLang="en-US" sz="2800" b="1" dirty="0">
                <a:latin typeface="Times New Roman" panose="02020603050405020304" pitchFamily="18" charset="0"/>
              </a:rPr>
              <a:t>已被</a:t>
            </a:r>
            <a:r>
              <a:rPr lang="en-US" altLang="zh-CN" sz="2800" b="1" dirty="0">
                <a:latin typeface="Times New Roman" panose="02020603050405020304" pitchFamily="18" charset="0"/>
              </a:rPr>
              <a:t>P</a:t>
            </a:r>
            <a:r>
              <a:rPr lang="en-US" altLang="zh-CN" sz="2800" b="1" baseline="-25000" dirty="0">
                <a:latin typeface="Times New Roman" panose="02020603050405020304" pitchFamily="18" charset="0"/>
              </a:rPr>
              <a:t>1</a:t>
            </a:r>
            <a:r>
              <a:rPr lang="zh-CN" altLang="en-US" sz="2800" b="1" dirty="0">
                <a:latin typeface="Times New Roman" panose="02020603050405020304" pitchFamily="18" charset="0"/>
              </a:rPr>
              <a:t>占用而阻塞，于是发生了进程死锁。 </a:t>
            </a:r>
            <a:endParaRPr lang="zh-CN" altLang="en-US" sz="2800" b="1" dirty="0">
              <a:latin typeface="Times New Roman" panose="02020603050405020304" pitchFamily="18" charset="0"/>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7378" name="Rectangle 2"/>
          <p:cNvSpPr>
            <a:spLocks noGrp="1" noRot="1" noChangeArrowheads="1"/>
          </p:cNvSpPr>
          <p:nvPr>
            <p:ph type="title" idx="4294967295"/>
          </p:nvPr>
        </p:nvSpPr>
        <p:spPr>
          <a:xfrm>
            <a:off x="381000" y="292100"/>
            <a:ext cx="8086725" cy="9525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3.5.2 </a:t>
            </a:r>
            <a:r>
              <a:rPr kumimoji="0" lang="zh-CN" alt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产生死锁的必要条件</a:t>
            </a:r>
            <a:endParaRPr kumimoji="0" lang="zh-CN" alt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57379" name="Rectangle 3"/>
          <p:cNvSpPr>
            <a:spLocks noGrp="1" noRot="1" noChangeArrowheads="1"/>
          </p:cNvSpPr>
          <p:nvPr>
            <p:ph type="body" idx="1"/>
          </p:nvPr>
        </p:nvSpPr>
        <p:spPr>
          <a:xfrm>
            <a:off x="304800" y="1484313"/>
            <a:ext cx="8515350" cy="4800600"/>
          </a:xfrm>
        </p:spPr>
        <p:txBody>
          <a:bodyPr vert="horz" wrap="square" lIns="91440" tIns="45720" rIns="91440" bIns="45720" numCol="1" anchor="t" anchorCtr="0" compatLnSpc="1"/>
          <a:lstStyle/>
          <a:p>
            <a:pPr marL="849630" marR="0" lvl="0" indent="-84963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en-US" altLang="zh-CN" sz="32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3200" b="1" i="1"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mn-ea"/>
                <a:cs typeface="+mn-cs"/>
              </a:rPr>
              <a:t>死锁的发生必须具备下列四个必要条件：</a:t>
            </a:r>
            <a:endParaRPr kumimoji="0" lang="zh-CN" altLang="en-US" sz="3200" b="1" i="1"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mn-ea"/>
              <a:cs typeface="+mn-cs"/>
            </a:endParaRPr>
          </a:p>
          <a:p>
            <a:pPr marL="849630" marR="0" lvl="0" indent="-84963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8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800" b="0" i="0" u="none" strike="noStrike" kern="0" cap="none" spc="0" normalizeH="0" baseline="0" noProof="0" dirty="0" smtClean="0">
                <a:ln>
                  <a:noFill/>
                </a:ln>
                <a:solidFill>
                  <a:schemeClr val="folHlink"/>
                </a:solidFill>
                <a:effectLst/>
                <a:uLnTx/>
                <a:uFillTx/>
                <a:latin typeface="+mn-lt"/>
                <a:ea typeface="+mn-ea"/>
                <a:cs typeface="+mn-cs"/>
              </a:rPr>
              <a:t>1</a:t>
            </a:r>
            <a:r>
              <a:rPr kumimoji="0" lang="zh-CN" altLang="en-US" sz="2800" b="0" i="0" u="none" strike="noStrike" kern="0" cap="none" spc="0" normalizeH="0" baseline="0" noProof="0" dirty="0" smtClean="0">
                <a:ln>
                  <a:noFill/>
                </a:ln>
                <a:solidFill>
                  <a:schemeClr val="folHlink"/>
                </a:solidFill>
                <a:effectLst/>
                <a:uLnTx/>
                <a:uFillTx/>
                <a:latin typeface="+mn-lt"/>
                <a:ea typeface="+mn-ea"/>
                <a:cs typeface="+mn-cs"/>
              </a:rPr>
              <a:t>）</a:t>
            </a:r>
            <a:r>
              <a:rPr kumimoji="0" lang="zh-CN" altLang="en-US" sz="2800" b="1" i="0" u="none" strike="noStrike" kern="0" cap="none" spc="0" normalizeH="0" baseline="0" noProof="0" dirty="0" smtClean="0">
                <a:ln>
                  <a:noFill/>
                </a:ln>
                <a:solidFill>
                  <a:schemeClr val="folHlink"/>
                </a:solidFill>
                <a:effectLst/>
                <a:uLnTx/>
                <a:uFillTx/>
                <a:latin typeface="+mn-lt"/>
                <a:ea typeface="+mn-ea"/>
                <a:cs typeface="+mn-cs"/>
              </a:rPr>
              <a:t>互斥条件：</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指进程对所分配到的资源进行排它性使用 。</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a:p>
            <a:pPr marL="849630" marR="0" lvl="0" indent="-84963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folHlink"/>
                </a:solidFill>
                <a:effectLst/>
                <a:uLnTx/>
                <a:uFillTx/>
                <a:latin typeface="+mn-lt"/>
                <a:ea typeface="+mn-ea"/>
                <a:cs typeface="+mn-cs"/>
              </a:rPr>
              <a:t>2</a:t>
            </a:r>
            <a:r>
              <a:rPr kumimoji="0" lang="zh-CN" altLang="en-US" sz="2800" b="1" i="0" u="none" strike="noStrike" kern="0" cap="none" spc="0" normalizeH="0" baseline="0" noProof="0" dirty="0" smtClean="0">
                <a:ln>
                  <a:noFill/>
                </a:ln>
                <a:solidFill>
                  <a:schemeClr val="folHlink"/>
                </a:solidFill>
                <a:effectLst/>
                <a:uLnTx/>
                <a:uFillTx/>
                <a:latin typeface="+mn-lt"/>
                <a:ea typeface="+mn-ea"/>
                <a:cs typeface="+mn-cs"/>
              </a:rPr>
              <a:t>）请求和保持条件：</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指进程已经保持了至少一个资源，但又提出了新的资源请求 。 </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a:p>
            <a:pPr marL="849630" marR="0" lvl="0" indent="-84963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folHlink"/>
                </a:solidFill>
                <a:effectLst/>
                <a:uLnTx/>
                <a:uFillTx/>
                <a:latin typeface="+mn-lt"/>
                <a:ea typeface="+mn-ea"/>
                <a:cs typeface="+mn-cs"/>
              </a:rPr>
              <a:t>3</a:t>
            </a:r>
            <a:r>
              <a:rPr kumimoji="0" lang="zh-CN" altLang="en-US" sz="2800" b="1" i="0" u="none" strike="noStrike" kern="0" cap="none" spc="0" normalizeH="0" baseline="0" noProof="0" dirty="0" smtClean="0">
                <a:ln>
                  <a:noFill/>
                </a:ln>
                <a:solidFill>
                  <a:schemeClr val="folHlink"/>
                </a:solidFill>
                <a:effectLst/>
                <a:uLnTx/>
                <a:uFillTx/>
                <a:latin typeface="+mn-lt"/>
                <a:ea typeface="+mn-ea"/>
                <a:cs typeface="+mn-cs"/>
              </a:rPr>
              <a:t>）不可抢占条件：</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指进程已获得的资源，在未使用完之前，不能被剥夺，只能在使用完时由自己释放。 </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a:p>
            <a:pPr marL="849630" marR="0" lvl="0" indent="-84963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folHlink"/>
                </a:solidFill>
                <a:effectLst/>
                <a:uLnTx/>
                <a:uFillTx/>
                <a:latin typeface="+mn-lt"/>
                <a:ea typeface="+mn-ea"/>
                <a:cs typeface="+mn-cs"/>
              </a:rPr>
              <a:t>4</a:t>
            </a:r>
            <a:r>
              <a:rPr kumimoji="0" lang="zh-CN" altLang="en-US" sz="2800" b="1" i="0" u="none" strike="noStrike" kern="0" cap="none" spc="0" normalizeH="0" baseline="0" noProof="0" dirty="0" smtClean="0">
                <a:ln>
                  <a:noFill/>
                </a:ln>
                <a:solidFill>
                  <a:schemeClr val="folHlink"/>
                </a:solidFill>
                <a:effectLst/>
                <a:uLnTx/>
                <a:uFillTx/>
                <a:latin typeface="+mn-lt"/>
                <a:ea typeface="+mn-ea"/>
                <a:cs typeface="+mn-cs"/>
              </a:rPr>
              <a:t>）环路等待条件：</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指在发生死锁时，必然存在一个</a:t>
            </a:r>
            <a:r>
              <a:rPr kumimoji="0" lang="zh-CN" altLang="en-US" sz="2800" b="1" i="1" u="sng" strike="noStrike" kern="0" cap="none" spc="0" normalizeH="0" baseline="0" noProof="0" dirty="0" smtClean="0">
                <a:ln>
                  <a:noFill/>
                </a:ln>
                <a:solidFill>
                  <a:schemeClr val="hlink"/>
                </a:solidFill>
                <a:effectLst/>
                <a:uLnTx/>
                <a:uFillTx/>
                <a:latin typeface="+mn-lt"/>
                <a:ea typeface="+mn-ea"/>
                <a:cs typeface="+mn-cs"/>
              </a:rPr>
              <a:t>进程</a:t>
            </a:r>
            <a:r>
              <a:rPr kumimoji="0" lang="en-US" altLang="zh-CN" sz="2800" b="1" i="1" u="sng" strike="noStrike" kern="0" cap="none" spc="0" normalizeH="0" baseline="0" noProof="0" dirty="0" smtClean="0">
                <a:ln>
                  <a:noFill/>
                </a:ln>
                <a:solidFill>
                  <a:schemeClr val="hlink"/>
                </a:solidFill>
                <a:effectLst/>
                <a:uLnTx/>
                <a:uFillTx/>
                <a:latin typeface="Courier New" panose="02070309020205020404" pitchFamily="49" charset="0"/>
                <a:ea typeface="+mn-ea"/>
                <a:cs typeface="+mn-cs"/>
              </a:rPr>
              <a:t>——</a:t>
            </a:r>
            <a:r>
              <a:rPr kumimoji="0" lang="zh-CN" altLang="en-US" sz="2800" b="1" i="1" u="sng" strike="noStrike" kern="0" cap="none" spc="0" normalizeH="0" baseline="0" noProof="0" dirty="0" smtClean="0">
                <a:ln>
                  <a:noFill/>
                </a:ln>
                <a:solidFill>
                  <a:schemeClr val="hlink"/>
                </a:solidFill>
                <a:effectLst/>
                <a:uLnTx/>
                <a:uFillTx/>
                <a:latin typeface="+mn-lt"/>
                <a:ea typeface="+mn-ea"/>
                <a:cs typeface="+mn-cs"/>
              </a:rPr>
              <a:t>资源的环形链</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sz="28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7378"/>
                                        </p:tgtEl>
                                        <p:attrNameLst>
                                          <p:attrName>style.visibility</p:attrName>
                                        </p:attrNameLst>
                                      </p:cBhvr>
                                      <p:to>
                                        <p:strVal val="visible"/>
                                      </p:to>
                                    </p:set>
                                    <p:animEffect transition="in" filter="fade">
                                      <p:cBhvr>
                                        <p:cTn id="7" dur="2000"/>
                                        <p:tgtEl>
                                          <p:spTgt spid="3573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7379">
                                            <p:txEl>
                                              <p:charRg st="0" end="20"/>
                                            </p:txEl>
                                          </p:spTgt>
                                        </p:tgtEl>
                                        <p:attrNameLst>
                                          <p:attrName>style.visibility</p:attrName>
                                        </p:attrNameLst>
                                      </p:cBhvr>
                                      <p:to>
                                        <p:strVal val="visible"/>
                                      </p:to>
                                    </p:set>
                                    <p:animEffect transition="in" filter="fade">
                                      <p:cBhvr>
                                        <p:cTn id="12" dur="2000"/>
                                        <p:tgtEl>
                                          <p:spTgt spid="357379">
                                            <p:txEl>
                                              <p:charRg st="0" end="2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57379">
                                            <p:txEl>
                                              <p:charRg st="20" end="49"/>
                                            </p:txEl>
                                          </p:spTgt>
                                        </p:tgtEl>
                                        <p:attrNameLst>
                                          <p:attrName>style.visibility</p:attrName>
                                        </p:attrNameLst>
                                      </p:cBhvr>
                                      <p:to>
                                        <p:strVal val="visible"/>
                                      </p:to>
                                    </p:set>
                                    <p:animEffect transition="in" filter="fade">
                                      <p:cBhvr>
                                        <p:cTn id="17" dur="2000"/>
                                        <p:tgtEl>
                                          <p:spTgt spid="357379">
                                            <p:txEl>
                                              <p:charRg st="20" end="4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57379">
                                            <p:txEl>
                                              <p:charRg st="49" end="90"/>
                                            </p:txEl>
                                          </p:spTgt>
                                        </p:tgtEl>
                                        <p:attrNameLst>
                                          <p:attrName>style.visibility</p:attrName>
                                        </p:attrNameLst>
                                      </p:cBhvr>
                                      <p:to>
                                        <p:strVal val="visible"/>
                                      </p:to>
                                    </p:set>
                                    <p:animEffect transition="in" filter="fade">
                                      <p:cBhvr>
                                        <p:cTn id="22" dur="2000"/>
                                        <p:tgtEl>
                                          <p:spTgt spid="357379">
                                            <p:txEl>
                                              <p:charRg st="49" end="9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57379">
                                            <p:txEl>
                                              <p:charRg st="90" end="139"/>
                                            </p:txEl>
                                          </p:spTgt>
                                        </p:tgtEl>
                                        <p:attrNameLst>
                                          <p:attrName>style.visibility</p:attrName>
                                        </p:attrNameLst>
                                      </p:cBhvr>
                                      <p:to>
                                        <p:strVal val="visible"/>
                                      </p:to>
                                    </p:set>
                                    <p:animEffect transition="in" filter="fade">
                                      <p:cBhvr>
                                        <p:cTn id="27" dur="2000"/>
                                        <p:tgtEl>
                                          <p:spTgt spid="357379">
                                            <p:txEl>
                                              <p:charRg st="90" end="13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57379">
                                            <p:txEl>
                                              <p:charRg st="139" end="177"/>
                                            </p:txEl>
                                          </p:spTgt>
                                        </p:tgtEl>
                                        <p:attrNameLst>
                                          <p:attrName>style.visibility</p:attrName>
                                        </p:attrNameLst>
                                      </p:cBhvr>
                                      <p:to>
                                        <p:strVal val="visible"/>
                                      </p:to>
                                    </p:set>
                                    <p:animEffect transition="in" filter="fade">
                                      <p:cBhvr>
                                        <p:cTn id="32" dur="2000"/>
                                        <p:tgtEl>
                                          <p:spTgt spid="357379">
                                            <p:txEl>
                                              <p:charRg st="139" end="17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78" grpId="0"/>
      <p:bldP spid="357379"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02" name="Rectangle 2"/>
          <p:cNvSpPr>
            <a:spLocks noGrp="1" noRot="1" noChangeArrowheads="1"/>
          </p:cNvSpPr>
          <p:nvPr>
            <p:ph type="title" idx="4294967295"/>
          </p:nvPr>
        </p:nvSpPr>
        <p:spPr>
          <a:xfrm>
            <a:off x="304800" y="533400"/>
            <a:ext cx="7772400" cy="6858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mj-ea"/>
                <a:cs typeface="+mj-cs"/>
              </a:rPr>
              <a:t>3.5.3 </a:t>
            </a:r>
            <a:r>
              <a:rPr kumimoji="0" lang="zh-CN" altLang="en-US" sz="44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mj-ea"/>
                <a:cs typeface="+mj-cs"/>
              </a:rPr>
              <a:t>解决死锁的方法</a:t>
            </a:r>
            <a:endParaRPr kumimoji="0" lang="zh-CN" altLang="en-US" sz="44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mj-ea"/>
              <a:cs typeface="+mj-cs"/>
            </a:endParaRPr>
          </a:p>
        </p:txBody>
      </p:sp>
      <p:sp>
        <p:nvSpPr>
          <p:cNvPr id="95235" name="Rectangle 3"/>
          <p:cNvSpPr>
            <a:spLocks noGrp="1" noRot="1"/>
          </p:cNvSpPr>
          <p:nvPr>
            <p:ph type="body" idx="4294967295"/>
          </p:nvPr>
        </p:nvSpPr>
        <p:spPr>
          <a:xfrm>
            <a:off x="457200" y="1600200"/>
            <a:ext cx="8229600" cy="4724400"/>
          </a:xfrm>
          <a:ln/>
        </p:spPr>
        <p:txBody>
          <a:bodyPr vert="horz" wrap="square" lIns="91440" tIns="45720" rIns="91440" bIns="45720" anchor="t" anchorCtr="0"/>
          <a:p>
            <a:pPr marL="849630" indent="-849630" eaLnBrk="1" hangingPunct="1">
              <a:lnSpc>
                <a:spcPct val="110000"/>
              </a:lnSpc>
              <a:buNone/>
            </a:pPr>
            <a:r>
              <a:rPr lang="zh-CN" altLang="en-US" b="1" dirty="0">
                <a:solidFill>
                  <a:schemeClr val="folHlink"/>
                </a:solidFill>
              </a:rPr>
              <a:t>（</a:t>
            </a:r>
            <a:r>
              <a:rPr lang="en-US" altLang="zh-CN" b="1" dirty="0">
                <a:solidFill>
                  <a:schemeClr val="folHlink"/>
                </a:solidFill>
              </a:rPr>
              <a:t>1</a:t>
            </a:r>
            <a:r>
              <a:rPr lang="zh-CN" altLang="en-US" b="1" dirty="0">
                <a:solidFill>
                  <a:schemeClr val="folHlink"/>
                </a:solidFill>
              </a:rPr>
              <a:t>）预防死锁</a:t>
            </a:r>
            <a:r>
              <a:rPr lang="zh-CN" altLang="en-US" b="1" dirty="0"/>
              <a:t>：是通过设置某些限制条件，去破坏产生死锁的四个必要条件中的一个或几个条件，来预防发生死锁。</a:t>
            </a:r>
            <a:endParaRPr lang="en-US" altLang="zh-CN" b="1" dirty="0"/>
          </a:p>
          <a:p>
            <a:pPr marL="849630" indent="-849630" eaLnBrk="1" hangingPunct="1">
              <a:lnSpc>
                <a:spcPct val="110000"/>
              </a:lnSpc>
              <a:buNone/>
            </a:pPr>
            <a:endParaRPr lang="zh-CN" altLang="en-US" b="1" dirty="0"/>
          </a:p>
          <a:p>
            <a:pPr marL="849630" indent="-849630" eaLnBrk="1" hangingPunct="1">
              <a:lnSpc>
                <a:spcPct val="110000"/>
              </a:lnSpc>
              <a:buNone/>
            </a:pPr>
            <a:r>
              <a:rPr lang="zh-CN" altLang="en-US" b="1" dirty="0">
                <a:solidFill>
                  <a:schemeClr val="folHlink"/>
                </a:solidFill>
              </a:rPr>
              <a:t>（</a:t>
            </a:r>
            <a:r>
              <a:rPr lang="en-US" altLang="zh-CN" b="1" dirty="0">
                <a:solidFill>
                  <a:schemeClr val="folHlink"/>
                </a:solidFill>
              </a:rPr>
              <a:t>2</a:t>
            </a:r>
            <a:r>
              <a:rPr lang="zh-CN" altLang="en-US" b="1" dirty="0">
                <a:solidFill>
                  <a:schemeClr val="folHlink"/>
                </a:solidFill>
              </a:rPr>
              <a:t>）避免死锁：</a:t>
            </a:r>
            <a:r>
              <a:rPr lang="zh-CN" altLang="en-US" b="1" dirty="0"/>
              <a:t>是在资源的动态分配过程中，用某种方法去防止系统进入不安全状态，从而避免发生死锁。 </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8402"/>
                                        </p:tgtEl>
                                        <p:attrNameLst>
                                          <p:attrName>style.visibility</p:attrName>
                                        </p:attrNameLst>
                                      </p:cBhvr>
                                      <p:to>
                                        <p:strVal val="visible"/>
                                      </p:to>
                                    </p:set>
                                    <p:animEffect transition="in" filter="fade">
                                      <p:cBhvr>
                                        <p:cTn id="7" dur="2000"/>
                                        <p:tgtEl>
                                          <p:spTgt spid="3584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5235">
                                            <p:txEl>
                                              <p:charRg st="0" end="53"/>
                                            </p:txEl>
                                          </p:spTgt>
                                        </p:tgtEl>
                                        <p:attrNameLst>
                                          <p:attrName>style.visibility</p:attrName>
                                        </p:attrNameLst>
                                      </p:cBhvr>
                                      <p:to>
                                        <p:strVal val="visible"/>
                                      </p:to>
                                    </p:set>
                                    <p:animEffect transition="in" filter="fade">
                                      <p:cBhvr>
                                        <p:cTn id="12" dur="2000"/>
                                        <p:tgtEl>
                                          <p:spTgt spid="95235">
                                            <p:txEl>
                                              <p:charRg st="0" end="5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5235">
                                            <p:txEl>
                                              <p:charRg st="54" end="104"/>
                                            </p:txEl>
                                          </p:spTgt>
                                        </p:tgtEl>
                                        <p:attrNameLst>
                                          <p:attrName>style.visibility</p:attrName>
                                        </p:attrNameLst>
                                      </p:cBhvr>
                                      <p:to>
                                        <p:strVal val="visible"/>
                                      </p:to>
                                    </p:set>
                                    <p:animEffect transition="in" filter="fade">
                                      <p:cBhvr>
                                        <p:cTn id="17" dur="2000"/>
                                        <p:tgtEl>
                                          <p:spTgt spid="95235">
                                            <p:txEl>
                                              <p:charRg st="54" end="10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2" grpId="0"/>
      <p:bldP spid="95235"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Grp="1" noRot="1"/>
          </p:cNvSpPr>
          <p:nvPr>
            <p:ph type="title" idx="4294967295"/>
          </p:nvPr>
        </p:nvSpPr>
        <p:spPr>
          <a:ln/>
        </p:spPr>
        <p:txBody>
          <a:bodyPr vert="horz" wrap="square" lIns="91440" tIns="45720" rIns="91440" bIns="45720" anchor="ctr" anchorCtr="0"/>
          <a:p>
            <a:pPr eaLnBrk="1" hangingPunct="1"/>
            <a:endParaRPr lang="zh-CN" altLang="zh-CN" dirty="0"/>
          </a:p>
        </p:txBody>
      </p:sp>
      <p:sp>
        <p:nvSpPr>
          <p:cNvPr id="96259" name="Rectangle 3"/>
          <p:cNvSpPr>
            <a:spLocks noGrp="1" noRot="1"/>
          </p:cNvSpPr>
          <p:nvPr>
            <p:ph type="body" idx="4294967295"/>
          </p:nvPr>
        </p:nvSpPr>
        <p:spPr>
          <a:ln/>
        </p:spPr>
        <p:txBody>
          <a:bodyPr vert="horz" wrap="square" lIns="91440" tIns="45720" rIns="91440" bIns="45720" anchor="t" anchorCtr="0"/>
          <a:p>
            <a:pPr eaLnBrk="1" hangingPunct="1">
              <a:lnSpc>
                <a:spcPct val="110000"/>
              </a:lnSpc>
              <a:buNone/>
            </a:pPr>
            <a:r>
              <a:rPr lang="zh-CN" altLang="en-US" b="1" dirty="0">
                <a:solidFill>
                  <a:schemeClr val="folHlink"/>
                </a:solidFill>
              </a:rPr>
              <a:t>（</a:t>
            </a:r>
            <a:r>
              <a:rPr lang="en-US" altLang="zh-CN" b="1" dirty="0">
                <a:solidFill>
                  <a:schemeClr val="folHlink"/>
                </a:solidFill>
              </a:rPr>
              <a:t>3</a:t>
            </a:r>
            <a:r>
              <a:rPr lang="zh-CN" altLang="en-US" b="1" dirty="0">
                <a:solidFill>
                  <a:schemeClr val="folHlink"/>
                </a:solidFill>
              </a:rPr>
              <a:t>）检测死锁：</a:t>
            </a:r>
            <a:r>
              <a:rPr lang="zh-CN" altLang="en-US" b="1" dirty="0"/>
              <a:t>通过系统所设置的检测机构，及时地检测出死锁的发生，并精确地确定与死锁有关的进程和资源；</a:t>
            </a:r>
            <a:endParaRPr lang="en-US" altLang="zh-CN" b="1" dirty="0"/>
          </a:p>
          <a:p>
            <a:pPr eaLnBrk="1" hangingPunct="1">
              <a:lnSpc>
                <a:spcPct val="110000"/>
              </a:lnSpc>
              <a:buNone/>
            </a:pPr>
            <a:endParaRPr lang="zh-CN" altLang="en-US" b="1" dirty="0"/>
          </a:p>
          <a:p>
            <a:pPr eaLnBrk="1" hangingPunct="1">
              <a:lnSpc>
                <a:spcPct val="110000"/>
              </a:lnSpc>
              <a:buNone/>
            </a:pPr>
            <a:r>
              <a:rPr lang="zh-CN" altLang="en-US" b="1" dirty="0">
                <a:solidFill>
                  <a:schemeClr val="folHlink"/>
                </a:solidFill>
              </a:rPr>
              <a:t>（</a:t>
            </a:r>
            <a:r>
              <a:rPr lang="en-US" altLang="zh-CN" b="1" dirty="0">
                <a:solidFill>
                  <a:schemeClr val="folHlink"/>
                </a:solidFill>
              </a:rPr>
              <a:t>4</a:t>
            </a:r>
            <a:r>
              <a:rPr lang="zh-CN" altLang="en-US" b="1" dirty="0">
                <a:solidFill>
                  <a:schemeClr val="folHlink"/>
                </a:solidFill>
              </a:rPr>
              <a:t>）解除死锁：</a:t>
            </a:r>
            <a:r>
              <a:rPr lang="zh-CN" altLang="en-US" b="1" dirty="0"/>
              <a:t>当检测到系统中已发生死锁时，须将进程从死锁状态中解脱出来。常用的实施方法是</a:t>
            </a:r>
            <a:r>
              <a:rPr lang="zh-CN" altLang="en-US" b="1" i="1" u="sng" dirty="0">
                <a:solidFill>
                  <a:schemeClr val="hlink"/>
                </a:solidFill>
              </a:rPr>
              <a:t>撤消一些进程</a:t>
            </a:r>
            <a:r>
              <a:rPr lang="zh-CN" altLang="en-US" b="1" dirty="0"/>
              <a:t>。</a:t>
            </a:r>
            <a:endParaRPr lang="zh-CN" altLang="en-US" b="1" dirty="0"/>
          </a:p>
          <a:p>
            <a:pPr eaLnBrk="1" hangingPunct="1">
              <a:lnSpc>
                <a:spcPct val="110000"/>
              </a:lnSpc>
            </a:pPr>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96258"/>
                                        </p:tgtEl>
                                        <p:attrNameLst>
                                          <p:attrName>style.visibility</p:attrName>
                                        </p:attrNameLst>
                                      </p:cBhvr>
                                      <p:to>
                                        <p:strVal val="visible"/>
                                      </p:to>
                                    </p:set>
                                    <p:animEffect transition="in" filter="fade">
                                      <p:cBhvr>
                                        <p:cTn id="7" dur="2000"/>
                                        <p:tgtEl>
                                          <p:spTgt spid="962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6259">
                                            <p:txEl>
                                              <p:charRg st="0" end="52"/>
                                            </p:txEl>
                                          </p:spTgt>
                                        </p:tgtEl>
                                        <p:attrNameLst>
                                          <p:attrName>style.visibility</p:attrName>
                                        </p:attrNameLst>
                                      </p:cBhvr>
                                      <p:to>
                                        <p:strVal val="visible"/>
                                      </p:to>
                                    </p:set>
                                    <p:animEffect transition="in" filter="fade">
                                      <p:cBhvr>
                                        <p:cTn id="12" dur="2000"/>
                                        <p:tgtEl>
                                          <p:spTgt spid="96259">
                                            <p:txEl>
                                              <p:charRg st="0" end="5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6259">
                                            <p:txEl>
                                              <p:charRg st="53" end="106"/>
                                            </p:txEl>
                                          </p:spTgt>
                                        </p:tgtEl>
                                        <p:attrNameLst>
                                          <p:attrName>style.visibility</p:attrName>
                                        </p:attrNameLst>
                                      </p:cBhvr>
                                      <p:to>
                                        <p:strVal val="visible"/>
                                      </p:to>
                                    </p:set>
                                    <p:animEffect transition="in" filter="fade">
                                      <p:cBhvr>
                                        <p:cTn id="17" dur="2000"/>
                                        <p:tgtEl>
                                          <p:spTgt spid="96259">
                                            <p:txEl>
                                              <p:charRg st="53" end="10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p:bldP spid="96259"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9426" name="Rectangle 2"/>
          <p:cNvSpPr>
            <a:spLocks noGrp="1" noRot="1" noChangeArrowheads="1"/>
          </p:cNvSpPr>
          <p:nvPr>
            <p:ph type="title" idx="4294967295"/>
          </p:nvPr>
        </p:nvSpPr>
        <p:spPr>
          <a:xfrm>
            <a:off x="381000" y="609600"/>
            <a:ext cx="7772400" cy="8382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mj-ea"/>
                <a:cs typeface="+mj-cs"/>
              </a:rPr>
              <a:t>3.6 </a:t>
            </a:r>
            <a:r>
              <a:rPr kumimoji="0" lang="zh-CN" altLang="en-US" sz="44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mj-ea"/>
                <a:cs typeface="+mj-cs"/>
              </a:rPr>
              <a:t>预防死锁的方法 </a:t>
            </a:r>
            <a:endParaRPr kumimoji="0" lang="zh-CN" altLang="en-US" sz="44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mj-ea"/>
              <a:cs typeface="+mj-cs"/>
            </a:endParaRPr>
          </a:p>
        </p:txBody>
      </p:sp>
      <p:sp>
        <p:nvSpPr>
          <p:cNvPr id="97283" name="Rectangle 3"/>
          <p:cNvSpPr>
            <a:spLocks noGrp="1" noRot="1"/>
          </p:cNvSpPr>
          <p:nvPr>
            <p:ph type="body" idx="4294967295"/>
          </p:nvPr>
        </p:nvSpPr>
        <p:spPr>
          <a:xfrm>
            <a:off x="533400" y="1676400"/>
            <a:ext cx="8077200" cy="4724400"/>
          </a:xfrm>
          <a:ln/>
        </p:spPr>
        <p:txBody>
          <a:bodyPr vert="horz" wrap="square" lIns="91440" tIns="45720" rIns="91440" bIns="45720" anchor="t" anchorCtr="0"/>
          <a:p>
            <a:pPr eaLnBrk="1" hangingPunct="1">
              <a:lnSpc>
                <a:spcPct val="120000"/>
              </a:lnSpc>
            </a:pPr>
            <a:r>
              <a:rPr lang="zh-CN" altLang="en-US" b="1" dirty="0"/>
              <a:t>预防死锁的方法是使四个必要条件中的第</a:t>
            </a:r>
            <a:r>
              <a:rPr lang="en-US" altLang="zh-CN" b="1" dirty="0"/>
              <a:t>2</a:t>
            </a:r>
            <a:r>
              <a:rPr lang="zh-CN" altLang="en-US" b="1" dirty="0"/>
              <a:t>、</a:t>
            </a:r>
            <a:r>
              <a:rPr lang="en-US" altLang="zh-CN" b="1" dirty="0"/>
              <a:t>3</a:t>
            </a:r>
            <a:r>
              <a:rPr lang="zh-CN" altLang="en-US" b="1" dirty="0"/>
              <a:t>、</a:t>
            </a:r>
            <a:r>
              <a:rPr lang="en-US" altLang="zh-CN" b="1" dirty="0"/>
              <a:t>4</a:t>
            </a:r>
            <a:r>
              <a:rPr lang="zh-CN" altLang="en-US" b="1" dirty="0"/>
              <a:t>条件之一不能成立，来避免发生死锁。至于必要条件</a:t>
            </a:r>
            <a:r>
              <a:rPr lang="en-US" altLang="zh-CN" b="1" dirty="0"/>
              <a:t>1</a:t>
            </a:r>
            <a:r>
              <a:rPr lang="zh-CN" altLang="en-US" b="1" dirty="0"/>
              <a:t>，因为它是由设备的固有属性所决定的，不仅不能改变，还应加以保证。</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9426"/>
                                        </p:tgtEl>
                                        <p:attrNameLst>
                                          <p:attrName>style.visibility</p:attrName>
                                        </p:attrNameLst>
                                      </p:cBhvr>
                                      <p:to>
                                        <p:strVal val="visible"/>
                                      </p:to>
                                    </p:set>
                                    <p:animEffect transition="in" filter="fade">
                                      <p:cBhvr>
                                        <p:cTn id="7" dur="2000"/>
                                        <p:tgtEl>
                                          <p:spTgt spid="3594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7283">
                                            <p:txEl>
                                              <p:charRg st="0" end="80"/>
                                            </p:txEl>
                                          </p:spTgt>
                                        </p:tgtEl>
                                        <p:attrNameLst>
                                          <p:attrName>style.visibility</p:attrName>
                                        </p:attrNameLst>
                                      </p:cBhvr>
                                      <p:to>
                                        <p:strVal val="visible"/>
                                      </p:to>
                                    </p:set>
                                    <p:animEffect transition="in" filter="fade">
                                      <p:cBhvr>
                                        <p:cTn id="12" dur="2000"/>
                                        <p:tgtEl>
                                          <p:spTgt spid="97283">
                                            <p:txEl>
                                              <p:charRg st="0" end="8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6" grpId="0"/>
      <p:bldP spid="97283"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3346" name="Rectangle 2"/>
          <p:cNvSpPr>
            <a:spLocks noGrp="1" noRot="1"/>
          </p:cNvSpPr>
          <p:nvPr>
            <p:ph idx="1"/>
          </p:nvPr>
        </p:nvSpPr>
        <p:spPr>
          <a:xfrm>
            <a:off x="381000" y="1166813"/>
            <a:ext cx="8305800" cy="4343400"/>
          </a:xfrm>
          <a:ln/>
        </p:spPr>
        <p:txBody>
          <a:bodyPr vert="horz" wrap="square" lIns="91440" tIns="45720" rIns="91440" bIns="45720" anchor="t" anchorCtr="0"/>
          <a:p>
            <a:pPr algn="just" eaLnBrk="1" hangingPunct="1">
              <a:lnSpc>
                <a:spcPct val="110000"/>
              </a:lnSpc>
            </a:pPr>
            <a:r>
              <a:rPr lang="zh-CN" altLang="en-US" b="1" dirty="0"/>
              <a:t>系统规定所有进程在开始运行之前，都必须</a:t>
            </a:r>
            <a:r>
              <a:rPr lang="zh-CN" altLang="en-US" b="1" i="1" u="sng" dirty="0">
                <a:solidFill>
                  <a:schemeClr val="hlink"/>
                </a:solidFill>
              </a:rPr>
              <a:t>一次性地申请其在整个运行过程所需的全部资源</a:t>
            </a:r>
            <a:r>
              <a:rPr lang="zh-CN" altLang="en-US" b="1" dirty="0"/>
              <a:t>。</a:t>
            </a:r>
            <a:endParaRPr lang="zh-CN" altLang="en-US" b="1" dirty="0"/>
          </a:p>
          <a:p>
            <a:pPr algn="just" eaLnBrk="1" hangingPunct="1">
              <a:lnSpc>
                <a:spcPct val="110000"/>
              </a:lnSpc>
            </a:pPr>
            <a:r>
              <a:rPr lang="zh-CN" altLang="en-US" b="1" dirty="0"/>
              <a:t>从而进程在整个运行期间，便不会再提出资源要求，从而摒弃了请求和保持条件，由此可以避免发生死锁。</a:t>
            </a:r>
            <a:endParaRPr lang="zh-CN" altLang="en-US" b="1" dirty="0"/>
          </a:p>
          <a:p>
            <a:pPr algn="just" eaLnBrk="1" hangingPunct="1">
              <a:lnSpc>
                <a:spcPct val="110000"/>
              </a:lnSpc>
            </a:pPr>
            <a:r>
              <a:rPr lang="zh-CN" altLang="en-US" b="1" dirty="0">
                <a:solidFill>
                  <a:schemeClr val="folHlink"/>
                </a:solidFill>
              </a:rPr>
              <a:t>优点：</a:t>
            </a:r>
            <a:r>
              <a:rPr lang="zh-CN" altLang="en-US" b="1" dirty="0"/>
              <a:t>简单、易于实现且很安全。</a:t>
            </a:r>
            <a:endParaRPr lang="zh-CN" altLang="en-US" b="1" dirty="0"/>
          </a:p>
          <a:p>
            <a:pPr algn="just" eaLnBrk="1" hangingPunct="1">
              <a:lnSpc>
                <a:spcPct val="110000"/>
              </a:lnSpc>
            </a:pPr>
            <a:r>
              <a:rPr lang="zh-CN" altLang="en-US" b="1" dirty="0">
                <a:solidFill>
                  <a:schemeClr val="folHlink"/>
                </a:solidFill>
              </a:rPr>
              <a:t>缺点：</a:t>
            </a:r>
            <a:r>
              <a:rPr lang="zh-CN" altLang="en-US" b="1" dirty="0"/>
              <a:t>资源被严重浪费，使进程延迟运行。 </a:t>
            </a:r>
            <a:endParaRPr lang="zh-CN" altLang="en-US" b="1" dirty="0"/>
          </a:p>
        </p:txBody>
      </p:sp>
      <p:sp>
        <p:nvSpPr>
          <p:cNvPr id="304133" name="Text Box 5"/>
          <p:cNvSpPr txBox="1">
            <a:spLocks noChangeArrowheads="1"/>
          </p:cNvSpPr>
          <p:nvPr/>
        </p:nvSpPr>
        <p:spPr bwMode="auto">
          <a:xfrm>
            <a:off x="838200" y="404813"/>
            <a:ext cx="7010400" cy="641350"/>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algn="ctr" defTabSz="914400" eaLnBrk="1" hangingPunct="1">
              <a:spcBef>
                <a:spcPct val="20000"/>
              </a:spcBef>
              <a:buClr>
                <a:schemeClr val="hlink"/>
              </a:buClr>
              <a:buSzPct val="65000"/>
              <a:buFont typeface="Wingdings" panose="05000000000000000000" pitchFamily="2" charset="2"/>
              <a:buChar char="v"/>
              <a:defRPr/>
            </a:pPr>
            <a:r>
              <a:rPr kumimoji="0" lang="en-US" altLang="zh-CN" sz="3600" kern="1200" cap="none" spc="0" normalizeH="0" baseline="0" noProof="0">
                <a:solidFill>
                  <a:schemeClr val="folHlink"/>
                </a:solidFill>
                <a:latin typeface="Arial" panose="020B0604020202020204" pitchFamily="34" charset="0"/>
                <a:ea typeface="宋体" panose="02010600030101010101" pitchFamily="2" charset="-122"/>
                <a:cs typeface="+mn-cs"/>
              </a:rPr>
              <a:t> </a:t>
            </a:r>
            <a:r>
              <a:rPr kumimoji="0" lang="en-US" altLang="zh-CN" sz="3600" b="1" kern="1200" cap="none" spc="0" normalizeH="0" baseline="0" noProof="0">
                <a:solidFill>
                  <a:schemeClr val="folHlink"/>
                </a:solidFill>
                <a:latin typeface="Arial" panose="020B0604020202020204" pitchFamily="34" charset="0"/>
                <a:ea typeface="宋体" panose="02010600030101010101" pitchFamily="2" charset="-122"/>
                <a:cs typeface="+mn-cs"/>
              </a:rPr>
              <a:t>1</a:t>
            </a:r>
            <a:r>
              <a:rPr kumimoji="0" lang="zh-CN" altLang="en-US" sz="3600" b="1" kern="1200" cap="none" spc="0" normalizeH="0" baseline="0" noProof="0">
                <a:solidFill>
                  <a:schemeClr val="folHlink"/>
                </a:solidFill>
                <a:latin typeface="Arial" panose="020B0604020202020204" pitchFamily="34" charset="0"/>
                <a:ea typeface="宋体" panose="02010600030101010101" pitchFamily="2" charset="-122"/>
                <a:cs typeface="+mn-cs"/>
              </a:rPr>
              <a:t>）．摒弃“请求和保持”条件</a:t>
            </a:r>
            <a:endParaRPr kumimoji="0" lang="zh-CN" altLang="en-US" sz="3600" kern="1200" cap="none" spc="0" normalizeH="0" baseline="0" noProof="0">
              <a:solidFill>
                <a:schemeClr val="folHlink"/>
              </a:solidFill>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313346">
                                            <p:txEl>
                                              <p:charRg st="0" end="42"/>
                                            </p:txEl>
                                          </p:spTgt>
                                        </p:tgtEl>
                                        <p:attrNameLst>
                                          <p:attrName>style.visibility</p:attrName>
                                        </p:attrNameLst>
                                      </p:cBhvr>
                                      <p:to>
                                        <p:strVal val="visible"/>
                                      </p:to>
                                    </p:set>
                                    <p:animEffect transition="in" filter="fade">
                                      <p:cBhvr>
                                        <p:cTn id="7" dur="2000"/>
                                        <p:tgtEl>
                                          <p:spTgt spid="313346">
                                            <p:txEl>
                                              <p:charRg st="0" end="4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313346">
                                            <p:txEl>
                                              <p:charRg st="42" end="90"/>
                                            </p:txEl>
                                          </p:spTgt>
                                        </p:tgtEl>
                                        <p:attrNameLst>
                                          <p:attrName>style.visibility</p:attrName>
                                        </p:attrNameLst>
                                      </p:cBhvr>
                                      <p:to>
                                        <p:strVal val="visible"/>
                                      </p:to>
                                    </p:set>
                                    <p:animEffect transition="in" filter="fade">
                                      <p:cBhvr>
                                        <p:cTn id="12" dur="2000"/>
                                        <p:tgtEl>
                                          <p:spTgt spid="313346">
                                            <p:txEl>
                                              <p:charRg st="42" end="9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313346">
                                            <p:txEl>
                                              <p:charRg st="90" end="106"/>
                                            </p:txEl>
                                          </p:spTgt>
                                        </p:tgtEl>
                                        <p:attrNameLst>
                                          <p:attrName>style.visibility</p:attrName>
                                        </p:attrNameLst>
                                      </p:cBhvr>
                                      <p:to>
                                        <p:strVal val="visible"/>
                                      </p:to>
                                    </p:set>
                                    <p:animEffect transition="in" filter="fade">
                                      <p:cBhvr>
                                        <p:cTn id="17" dur="2000"/>
                                        <p:tgtEl>
                                          <p:spTgt spid="313346">
                                            <p:txEl>
                                              <p:charRg st="90" end="10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313346">
                                            <p:txEl>
                                              <p:charRg st="106" end="127"/>
                                            </p:txEl>
                                          </p:spTgt>
                                        </p:tgtEl>
                                        <p:attrNameLst>
                                          <p:attrName>style.visibility</p:attrName>
                                        </p:attrNameLst>
                                      </p:cBhvr>
                                      <p:to>
                                        <p:strVal val="visible"/>
                                      </p:to>
                                    </p:set>
                                    <p:animEffect transition="in" filter="fade">
                                      <p:cBhvr>
                                        <p:cTn id="22" dur="2000"/>
                                        <p:tgtEl>
                                          <p:spTgt spid="313346">
                                            <p:txEl>
                                              <p:charRg st="106" end="12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3346">
                                            <p:txEl>
                                              <p:charRg st="0" end="42"/>
                                            </p:txEl>
                                          </p:spTgt>
                                        </p:tgtEl>
                                        <p:attrNameLst>
                                          <p:attrName>style.visibility</p:attrName>
                                        </p:attrNameLst>
                                      </p:cBhvr>
                                      <p:to>
                                        <p:strVal val="visible"/>
                                      </p:to>
                                    </p:set>
                                    <p:animEffect transition="in" filter="fade">
                                      <p:cBhvr>
                                        <p:cTn id="27" dur="2000"/>
                                        <p:tgtEl>
                                          <p:spTgt spid="313346">
                                            <p:txEl>
                                              <p:charRg st="0" end="4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13346">
                                            <p:txEl>
                                              <p:charRg st="42" end="90"/>
                                            </p:txEl>
                                          </p:spTgt>
                                        </p:tgtEl>
                                        <p:attrNameLst>
                                          <p:attrName>style.visibility</p:attrName>
                                        </p:attrNameLst>
                                      </p:cBhvr>
                                      <p:to>
                                        <p:strVal val="visible"/>
                                      </p:to>
                                    </p:set>
                                    <p:animEffect transition="in" filter="fade">
                                      <p:cBhvr>
                                        <p:cTn id="32" dur="2000"/>
                                        <p:tgtEl>
                                          <p:spTgt spid="313346">
                                            <p:txEl>
                                              <p:charRg st="42" end="9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3346">
                                            <p:txEl>
                                              <p:charRg st="90" end="106"/>
                                            </p:txEl>
                                          </p:spTgt>
                                        </p:tgtEl>
                                        <p:attrNameLst>
                                          <p:attrName>style.visibility</p:attrName>
                                        </p:attrNameLst>
                                      </p:cBhvr>
                                      <p:to>
                                        <p:strVal val="visible"/>
                                      </p:to>
                                    </p:set>
                                    <p:animEffect transition="in" filter="fade">
                                      <p:cBhvr>
                                        <p:cTn id="37" dur="2000"/>
                                        <p:tgtEl>
                                          <p:spTgt spid="313346">
                                            <p:txEl>
                                              <p:charRg st="90" end="10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13346">
                                            <p:txEl>
                                              <p:charRg st="106" end="127"/>
                                            </p:txEl>
                                          </p:spTgt>
                                        </p:tgtEl>
                                        <p:attrNameLst>
                                          <p:attrName>style.visibility</p:attrName>
                                        </p:attrNameLst>
                                      </p:cBhvr>
                                      <p:to>
                                        <p:strVal val="visible"/>
                                      </p:to>
                                    </p:set>
                                    <p:animEffect transition="in" filter="fade">
                                      <p:cBhvr>
                                        <p:cTn id="42" dur="2000"/>
                                        <p:tgtEl>
                                          <p:spTgt spid="313346">
                                            <p:txEl>
                                              <p:charRg st="106" end="12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6" grpId="0" build="p"/>
      <p:bldP spid="313346" grpId="1"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1474"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mj-lt"/>
                <a:ea typeface="+mj-ea"/>
                <a:cs typeface="+mj-cs"/>
              </a:rPr>
              <a:t>2</a:t>
            </a:r>
            <a:r>
              <a:rPr kumimoji="0" lang="zh-CN" altLang="en-US" sz="40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）．破坏</a:t>
            </a:r>
            <a:r>
              <a:rPr kumimoji="0" lang="zh-CN" altLang="en-US" sz="40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Courier New" panose="02070309020205020404" pitchFamily="49" charset="0"/>
                <a:ea typeface="+mj-ea"/>
                <a:cs typeface="+mj-cs"/>
              </a:rPr>
              <a:t>“不可抢占”</a:t>
            </a:r>
            <a:r>
              <a:rPr kumimoji="0" lang="zh-CN" altLang="en-US" sz="40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mj-lt"/>
                <a:ea typeface="+mj-ea"/>
                <a:cs typeface="+mj-cs"/>
              </a:rPr>
              <a:t>条件</a:t>
            </a:r>
            <a:endParaRPr kumimoji="0" lang="zh-CN" altLang="en-US" sz="40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mj-lt"/>
              <a:ea typeface="+mj-ea"/>
              <a:cs typeface="+mj-cs"/>
            </a:endParaRPr>
          </a:p>
        </p:txBody>
      </p:sp>
      <p:sp>
        <p:nvSpPr>
          <p:cNvPr id="99331" name="Rectangle 3"/>
          <p:cNvSpPr>
            <a:spLocks noGrp="1" noRot="1"/>
          </p:cNvSpPr>
          <p:nvPr>
            <p:ph type="body" idx="4294967295"/>
          </p:nvPr>
        </p:nvSpPr>
        <p:spPr>
          <a:xfrm>
            <a:off x="179388" y="1341438"/>
            <a:ext cx="8569325" cy="4498975"/>
          </a:xfrm>
          <a:ln/>
        </p:spPr>
        <p:txBody>
          <a:bodyPr vert="horz" wrap="square" lIns="91440" tIns="45720" rIns="91440" bIns="45720" anchor="t" anchorCtr="0"/>
          <a:p>
            <a:pPr algn="just" eaLnBrk="1" hangingPunct="1">
              <a:lnSpc>
                <a:spcPct val="120000"/>
              </a:lnSpc>
            </a:pPr>
            <a:r>
              <a:rPr lang="zh-CN" altLang="en-US" sz="2800" b="1" dirty="0"/>
              <a:t>当一个已经保持了某些资源的进程，再提出新的资源请求而不能立即得到满足时，</a:t>
            </a:r>
            <a:r>
              <a:rPr lang="zh-CN" altLang="en-US" sz="2800" b="1" i="1" u="sng" dirty="0">
                <a:solidFill>
                  <a:schemeClr val="folHlink"/>
                </a:solidFill>
              </a:rPr>
              <a:t>必须释放它已经保持了的所有资源。待以后需要时再重新申请</a:t>
            </a:r>
            <a:r>
              <a:rPr lang="zh-CN" altLang="en-US" sz="2800" b="1" dirty="0"/>
              <a:t>。从而</a:t>
            </a:r>
            <a:r>
              <a:rPr lang="zh-CN" altLang="en-US" sz="2800" b="1" i="1" dirty="0">
                <a:solidFill>
                  <a:schemeClr val="folHlink"/>
                </a:solidFill>
                <a:latin typeface="Courier New" panose="02070309020205020404" pitchFamily="49" charset="0"/>
              </a:rPr>
              <a:t>破坏</a:t>
            </a:r>
            <a:r>
              <a:rPr lang="zh-CN" altLang="en-US" sz="2800" b="1" i="1" dirty="0">
                <a:solidFill>
                  <a:schemeClr val="folHlink"/>
                </a:solidFill>
              </a:rPr>
              <a:t>了</a:t>
            </a:r>
            <a:r>
              <a:rPr lang="zh-CN" altLang="en-US" sz="2800" b="1" i="1" dirty="0">
                <a:solidFill>
                  <a:schemeClr val="folHlink"/>
                </a:solidFill>
                <a:latin typeface="Courier New" panose="02070309020205020404" pitchFamily="49" charset="0"/>
              </a:rPr>
              <a:t>“</a:t>
            </a:r>
            <a:r>
              <a:rPr lang="zh-CN" altLang="en-US" sz="2800" b="1" i="1" dirty="0">
                <a:solidFill>
                  <a:schemeClr val="folHlink"/>
                </a:solidFill>
              </a:rPr>
              <a:t>不剥夺</a:t>
            </a:r>
            <a:r>
              <a:rPr lang="zh-CN" altLang="en-US" sz="2800" b="1" i="1" dirty="0">
                <a:solidFill>
                  <a:schemeClr val="folHlink"/>
                </a:solidFill>
                <a:latin typeface="Courier New" panose="02070309020205020404" pitchFamily="49" charset="0"/>
              </a:rPr>
              <a:t>”</a:t>
            </a:r>
            <a:r>
              <a:rPr lang="zh-CN" altLang="en-US" sz="2800" b="1" i="1" dirty="0">
                <a:solidFill>
                  <a:schemeClr val="folHlink"/>
                </a:solidFill>
              </a:rPr>
              <a:t>条件</a:t>
            </a:r>
            <a:r>
              <a:rPr lang="zh-CN" altLang="en-US" sz="2800" b="1" dirty="0"/>
              <a:t>。</a:t>
            </a:r>
            <a:endParaRPr lang="zh-CN" altLang="en-US" sz="2800" b="1" dirty="0"/>
          </a:p>
          <a:p>
            <a:pPr eaLnBrk="1" hangingPunct="1">
              <a:lnSpc>
                <a:spcPct val="120000"/>
              </a:lnSpc>
            </a:pPr>
            <a:r>
              <a:rPr lang="zh-CN" altLang="en-US" sz="2800" b="1" dirty="0"/>
              <a:t>缺点：这种预防死锁的方法，实现起来比较复杂且要付出很大代价。因为一个资源在使用一段时间后，它的被迫释放可能会造成前段工作的失效。还会使进程前后两次运行的信息不连续。  </a:t>
            </a:r>
            <a:endParaRPr lang="zh-CN" altLang="en-US" sz="28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61474"/>
                                        </p:tgtEl>
                                        <p:attrNameLst>
                                          <p:attrName>style.visibility</p:attrName>
                                        </p:attrNameLst>
                                      </p:cBhvr>
                                      <p:to>
                                        <p:strVal val="visible"/>
                                      </p:to>
                                    </p:set>
                                    <p:animEffect transition="in" filter="fade">
                                      <p:cBhvr>
                                        <p:cTn id="7" dur="2000"/>
                                        <p:tgtEl>
                                          <p:spTgt spid="3614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9331">
                                            <p:txEl>
                                              <p:charRg st="0" end="78"/>
                                            </p:txEl>
                                          </p:spTgt>
                                        </p:tgtEl>
                                        <p:attrNameLst>
                                          <p:attrName>style.visibility</p:attrName>
                                        </p:attrNameLst>
                                      </p:cBhvr>
                                      <p:to>
                                        <p:strVal val="visible"/>
                                      </p:to>
                                    </p:set>
                                    <p:animEffect transition="in" filter="fade">
                                      <p:cBhvr>
                                        <p:cTn id="12" dur="2000"/>
                                        <p:tgtEl>
                                          <p:spTgt spid="99331">
                                            <p:txEl>
                                              <p:charRg st="0" end="7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9331">
                                            <p:txEl>
                                              <p:charRg st="78" end="163"/>
                                            </p:txEl>
                                          </p:spTgt>
                                        </p:tgtEl>
                                        <p:attrNameLst>
                                          <p:attrName>style.visibility</p:attrName>
                                        </p:attrNameLst>
                                      </p:cBhvr>
                                      <p:to>
                                        <p:strVal val="visible"/>
                                      </p:to>
                                    </p:set>
                                    <p:animEffect transition="in" filter="fade">
                                      <p:cBhvr>
                                        <p:cTn id="17" dur="2000"/>
                                        <p:tgtEl>
                                          <p:spTgt spid="99331">
                                            <p:txEl>
                                              <p:charRg st="78" end="16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4" grpId="0"/>
      <p:bldP spid="99331"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2498" name="Rectangle 2"/>
          <p:cNvSpPr>
            <a:spLocks noGrp="1" noRot="1" noChangeArrowheads="1"/>
          </p:cNvSpPr>
          <p:nvPr>
            <p:ph type="title" idx="4294967295"/>
          </p:nvPr>
        </p:nvSpPr>
        <p:spPr>
          <a:xfrm>
            <a:off x="304800" y="285750"/>
            <a:ext cx="7772400" cy="8382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mj-lt"/>
                <a:ea typeface="+mj-ea"/>
                <a:cs typeface="+mj-cs"/>
              </a:rPr>
              <a:t> 3</a:t>
            </a:r>
            <a:r>
              <a:rPr kumimoji="0" lang="zh-CN" altLang="en-US" sz="40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）．破坏</a:t>
            </a:r>
            <a:r>
              <a:rPr kumimoji="0" lang="zh-CN" altLang="en-US" sz="40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Courier New" panose="02070309020205020404" pitchFamily="49" charset="0"/>
                <a:ea typeface="+mj-ea"/>
                <a:cs typeface="+mj-cs"/>
              </a:rPr>
              <a:t>“</a:t>
            </a:r>
            <a:r>
              <a:rPr kumimoji="0" lang="zh-CN" altLang="en-US" sz="40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环路等待</a:t>
            </a:r>
            <a:r>
              <a:rPr kumimoji="0" lang="zh-CN" altLang="en-US" sz="40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Courier New" panose="02070309020205020404" pitchFamily="49" charset="0"/>
                <a:ea typeface="+mj-ea"/>
                <a:cs typeface="+mj-cs"/>
              </a:rPr>
              <a:t>”</a:t>
            </a:r>
            <a:r>
              <a:rPr kumimoji="0" lang="zh-CN" altLang="en-US" sz="40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mj-lt"/>
                <a:ea typeface="+mj-ea"/>
                <a:cs typeface="+mj-cs"/>
              </a:rPr>
              <a:t>条件</a:t>
            </a:r>
            <a:endParaRPr kumimoji="0" lang="zh-CN" altLang="en-US" sz="40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mj-lt"/>
              <a:ea typeface="+mj-ea"/>
              <a:cs typeface="+mj-cs"/>
            </a:endParaRPr>
          </a:p>
        </p:txBody>
      </p:sp>
      <p:sp>
        <p:nvSpPr>
          <p:cNvPr id="100355" name="Rectangle 3"/>
          <p:cNvSpPr>
            <a:spLocks noGrp="1" noRot="1"/>
          </p:cNvSpPr>
          <p:nvPr>
            <p:ph type="body" idx="4294967295"/>
          </p:nvPr>
        </p:nvSpPr>
        <p:spPr>
          <a:xfrm>
            <a:off x="533400" y="1200150"/>
            <a:ext cx="8229600" cy="3657600"/>
          </a:xfrm>
          <a:ln/>
        </p:spPr>
        <p:txBody>
          <a:bodyPr vert="horz" wrap="square" lIns="91440" tIns="45720" rIns="91440" bIns="45720" anchor="t" anchorCtr="0"/>
          <a:p>
            <a:pPr eaLnBrk="1" hangingPunct="1">
              <a:lnSpc>
                <a:spcPct val="120000"/>
              </a:lnSpc>
            </a:pPr>
            <a:r>
              <a:rPr lang="zh-CN" altLang="en-US" b="1" dirty="0"/>
              <a:t>这种方法中规定，系统将所有资源按类型进行线性排队，并赋予不同的序号。 </a:t>
            </a:r>
            <a:r>
              <a:rPr lang="zh-CN" altLang="en-US" b="1" i="1" u="sng" dirty="0">
                <a:solidFill>
                  <a:schemeClr val="folHlink"/>
                </a:solidFill>
              </a:rPr>
              <a:t>所有进程对资源的请求必须严格按照资源序号递增的次序提出。</a:t>
            </a:r>
            <a:endParaRPr lang="en-US" altLang="zh-CN" b="1" i="1" u="sng" dirty="0">
              <a:solidFill>
                <a:schemeClr val="folHlink"/>
              </a:solidFill>
            </a:endParaRPr>
          </a:p>
          <a:p>
            <a:pPr lvl="1" eaLnBrk="1" hangingPunct="1">
              <a:lnSpc>
                <a:spcPct val="120000"/>
              </a:lnSpc>
            </a:pPr>
            <a:r>
              <a:rPr lang="zh-CN" altLang="en-US" b="1" i="1" u="sng" dirty="0">
                <a:solidFill>
                  <a:schemeClr val="folHlink"/>
                </a:solidFill>
              </a:rPr>
              <a:t>当进程以及获取资源</a:t>
            </a:r>
            <a:r>
              <a:rPr lang="en-US" altLang="zh-CN" b="1" i="1" u="sng" dirty="0">
                <a:solidFill>
                  <a:schemeClr val="folHlink"/>
                </a:solidFill>
              </a:rPr>
              <a:t>R</a:t>
            </a:r>
            <a:r>
              <a:rPr lang="en-US" altLang="zh-CN" sz="2000" b="1" i="1" u="sng" dirty="0">
                <a:solidFill>
                  <a:schemeClr val="folHlink"/>
                </a:solidFill>
              </a:rPr>
              <a:t>i</a:t>
            </a:r>
            <a:r>
              <a:rPr lang="zh-CN" altLang="en-US" b="1" i="1" u="sng" dirty="0">
                <a:solidFill>
                  <a:schemeClr val="folHlink"/>
                </a:solidFill>
              </a:rPr>
              <a:t>，当且仅当</a:t>
            </a:r>
            <a:r>
              <a:rPr lang="en-US" altLang="zh-CN" b="1" i="1" u="sng" dirty="0">
                <a:solidFill>
                  <a:schemeClr val="folHlink"/>
                </a:solidFill>
              </a:rPr>
              <a:t>F</a:t>
            </a:r>
            <a:r>
              <a:rPr lang="zh-CN" altLang="en-US" b="1" i="1" u="sng" dirty="0">
                <a:solidFill>
                  <a:schemeClr val="folHlink"/>
                </a:solidFill>
              </a:rPr>
              <a:t>（</a:t>
            </a:r>
            <a:r>
              <a:rPr lang="en-US" altLang="zh-CN" b="1" i="1" u="sng" dirty="0">
                <a:solidFill>
                  <a:schemeClr val="folHlink"/>
                </a:solidFill>
              </a:rPr>
              <a:t>R</a:t>
            </a:r>
            <a:r>
              <a:rPr lang="en-US" altLang="zh-CN" sz="2000" b="1" i="1" u="sng" dirty="0">
                <a:solidFill>
                  <a:schemeClr val="folHlink"/>
                </a:solidFill>
              </a:rPr>
              <a:t>j</a:t>
            </a:r>
            <a:r>
              <a:rPr lang="zh-CN" altLang="en-US" b="1" i="1" u="sng" dirty="0">
                <a:solidFill>
                  <a:schemeClr val="folHlink"/>
                </a:solidFill>
              </a:rPr>
              <a:t>）</a:t>
            </a:r>
            <a:r>
              <a:rPr lang="en-US" altLang="zh-CN" b="1" i="1" u="sng" dirty="0">
                <a:solidFill>
                  <a:schemeClr val="folHlink"/>
                </a:solidFill>
              </a:rPr>
              <a:t>&gt;F(R</a:t>
            </a:r>
            <a:r>
              <a:rPr lang="en-US" altLang="zh-CN" sz="2000" b="1" i="1" u="sng" dirty="0">
                <a:solidFill>
                  <a:schemeClr val="folHlink"/>
                </a:solidFill>
              </a:rPr>
              <a:t>i</a:t>
            </a:r>
            <a:r>
              <a:rPr lang="en-US" altLang="zh-CN" b="1" i="1" u="sng" dirty="0">
                <a:solidFill>
                  <a:schemeClr val="folHlink"/>
                </a:solidFill>
              </a:rPr>
              <a:t>)</a:t>
            </a:r>
            <a:r>
              <a:rPr lang="zh-CN" altLang="en-US" b="1" i="1" u="sng" dirty="0">
                <a:solidFill>
                  <a:schemeClr val="folHlink"/>
                </a:solidFill>
              </a:rPr>
              <a:t>时，才允许其申请资源</a:t>
            </a:r>
            <a:r>
              <a:rPr lang="en-US" altLang="zh-CN" b="1" i="1" u="sng" dirty="0">
                <a:solidFill>
                  <a:schemeClr val="folHlink"/>
                </a:solidFill>
              </a:rPr>
              <a:t>R</a:t>
            </a:r>
            <a:r>
              <a:rPr lang="en-US" altLang="zh-CN" sz="2000" b="1" i="1" u="sng" dirty="0">
                <a:solidFill>
                  <a:schemeClr val="folHlink"/>
                </a:solidFill>
              </a:rPr>
              <a:t>j</a:t>
            </a:r>
            <a:r>
              <a:rPr lang="zh-CN" altLang="en-US" b="1" i="1" u="sng" dirty="0">
                <a:solidFill>
                  <a:schemeClr val="folHlink"/>
                </a:solidFill>
              </a:rPr>
              <a:t>。</a:t>
            </a:r>
            <a:endParaRPr lang="en-US" altLang="zh-CN" b="1" dirty="0"/>
          </a:p>
          <a:p>
            <a:pPr eaLnBrk="1" hangingPunct="1">
              <a:lnSpc>
                <a:spcPct val="120000"/>
              </a:lnSpc>
            </a:pPr>
            <a:r>
              <a:rPr lang="zh-CN" altLang="en-US" b="1" dirty="0"/>
              <a:t>这样，在所形成的资源分配图中，不可能再出现环路，因而</a:t>
            </a:r>
            <a:r>
              <a:rPr lang="zh-CN" altLang="en-US" b="1" i="1" u="sng" dirty="0">
                <a:solidFill>
                  <a:schemeClr val="folHlink"/>
                </a:solidFill>
              </a:rPr>
              <a:t>摒弃了</a:t>
            </a:r>
            <a:r>
              <a:rPr lang="zh-CN" altLang="en-US" b="1" i="1" u="sng" dirty="0">
                <a:solidFill>
                  <a:schemeClr val="folHlink"/>
                </a:solidFill>
                <a:latin typeface="Courier New" panose="02070309020205020404" pitchFamily="49" charset="0"/>
              </a:rPr>
              <a:t>“</a:t>
            </a:r>
            <a:r>
              <a:rPr lang="zh-CN" altLang="en-US" b="1" i="1" u="sng" dirty="0">
                <a:solidFill>
                  <a:schemeClr val="folHlink"/>
                </a:solidFill>
              </a:rPr>
              <a:t>环路等待</a:t>
            </a:r>
            <a:r>
              <a:rPr lang="zh-CN" altLang="en-US" b="1" i="1" u="sng" dirty="0">
                <a:solidFill>
                  <a:schemeClr val="folHlink"/>
                </a:solidFill>
                <a:latin typeface="Courier New" panose="02070309020205020404" pitchFamily="49" charset="0"/>
              </a:rPr>
              <a:t>”</a:t>
            </a:r>
            <a:r>
              <a:rPr lang="zh-CN" altLang="en-US" b="1" i="1" u="sng" dirty="0">
                <a:solidFill>
                  <a:schemeClr val="folHlink"/>
                </a:solidFill>
              </a:rPr>
              <a:t>条件</a:t>
            </a:r>
            <a:r>
              <a:rPr lang="zh-CN" altLang="en-US" b="1" dirty="0"/>
              <a:t>。 </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62498"/>
                                        </p:tgtEl>
                                        <p:attrNameLst>
                                          <p:attrName>style.visibility</p:attrName>
                                        </p:attrNameLst>
                                      </p:cBhvr>
                                      <p:to>
                                        <p:strVal val="visible"/>
                                      </p:to>
                                    </p:set>
                                    <p:animEffect transition="in" filter="fade">
                                      <p:cBhvr>
                                        <p:cTn id="7" dur="2000"/>
                                        <p:tgtEl>
                                          <p:spTgt spid="3624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355">
                                            <p:txEl>
                                              <p:charRg st="0" end="64"/>
                                            </p:txEl>
                                          </p:spTgt>
                                        </p:tgtEl>
                                        <p:attrNameLst>
                                          <p:attrName>style.visibility</p:attrName>
                                        </p:attrNameLst>
                                      </p:cBhvr>
                                      <p:to>
                                        <p:strVal val="visible"/>
                                      </p:to>
                                    </p:set>
                                    <p:animEffect transition="in" filter="fade">
                                      <p:cBhvr>
                                        <p:cTn id="12" dur="2000"/>
                                        <p:tgtEl>
                                          <p:spTgt spid="100355">
                                            <p:txEl>
                                              <p:charRg st="0" end="64"/>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0355">
                                            <p:txEl>
                                              <p:charRg st="64" end="105"/>
                                            </p:txEl>
                                          </p:spTgt>
                                        </p:tgtEl>
                                        <p:attrNameLst>
                                          <p:attrName>style.visibility</p:attrName>
                                        </p:attrNameLst>
                                      </p:cBhvr>
                                      <p:to>
                                        <p:strVal val="visible"/>
                                      </p:to>
                                    </p:set>
                                    <p:animEffect transition="in" filter="fade">
                                      <p:cBhvr>
                                        <p:cTn id="15" dur="2000"/>
                                        <p:tgtEl>
                                          <p:spTgt spid="100355">
                                            <p:txEl>
                                              <p:charRg st="64" end="10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0355">
                                            <p:txEl>
                                              <p:charRg st="105" end="145"/>
                                            </p:txEl>
                                          </p:spTgt>
                                        </p:tgtEl>
                                        <p:attrNameLst>
                                          <p:attrName>style.visibility</p:attrName>
                                        </p:attrNameLst>
                                      </p:cBhvr>
                                      <p:to>
                                        <p:strVal val="visible"/>
                                      </p:to>
                                    </p:set>
                                    <p:animEffect transition="in" filter="fade">
                                      <p:cBhvr>
                                        <p:cTn id="20" dur="2000"/>
                                        <p:tgtEl>
                                          <p:spTgt spid="100355">
                                            <p:txEl>
                                              <p:charRg st="105" end="14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8" grpId="0"/>
      <p:bldP spid="100355"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8515" name="Rectangle 3"/>
          <p:cNvSpPr>
            <a:spLocks noGrp="1" noRot="1" noChangeArrowheads="1"/>
          </p:cNvSpPr>
          <p:nvPr>
            <p:ph type="body" idx="1"/>
          </p:nvPr>
        </p:nvSpPr>
        <p:spPr>
          <a:xfrm>
            <a:off x="301625" y="1603375"/>
            <a:ext cx="8540750" cy="449897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6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存在严重问题</a:t>
            </a:r>
            <a:endParaRPr kumimoji="0" lang="zh-CN" altLang="en-US" sz="36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第一，为系统中各类资源分配的序号必须相对稳定，这就限制了新设备类型的增加；</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第二，会经常发生作业使用的顺序与系统规定顺序不同的情况，造成资源浪费；</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第三，增加了程序设计难度。</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en-US" altLang="zh-CN"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362498"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000" b="0" i="0" u="none" strike="noStrike" kern="0" cap="none" spc="0" normalizeH="0" baseline="0" noProof="0">
                <a:ln>
                  <a:noFill/>
                </a:ln>
                <a:solidFill>
                  <a:schemeClr val="folHlink"/>
                </a:solidFill>
                <a:effectLst/>
                <a:uLnTx/>
                <a:uFillTx/>
                <a:latin typeface="+mj-lt"/>
                <a:ea typeface="+mj-ea"/>
                <a:cs typeface="+mj-cs"/>
              </a:rPr>
              <a:t> </a:t>
            </a:r>
            <a:r>
              <a:rPr kumimoji="0" lang="en-US" altLang="zh-CN" sz="4000" b="1" i="0" u="none" strike="noStrike" kern="0" cap="none" spc="0" normalizeH="0" baseline="0" noProof="0">
                <a:ln>
                  <a:noFill/>
                </a:ln>
                <a:solidFill>
                  <a:schemeClr val="folHlink"/>
                </a:solidFill>
                <a:effectLst>
                  <a:outerShdw blurRad="38100" dist="38100" dir="2700000" algn="tl">
                    <a:srgbClr val="C0C0C0"/>
                  </a:outerShdw>
                </a:effectLst>
                <a:uLnTx/>
                <a:uFillTx/>
                <a:latin typeface="+mj-lt"/>
                <a:ea typeface="+mj-ea"/>
                <a:cs typeface="+mj-cs"/>
              </a:rPr>
              <a:t>3</a:t>
            </a:r>
            <a:r>
              <a:rPr kumimoji="0" lang="zh-CN" altLang="en-US" sz="4000" b="1" i="0" u="none" strike="noStrike" kern="0" cap="none" spc="0" normalizeH="0" baseline="0" noProof="0">
                <a:ln>
                  <a:noFill/>
                </a:ln>
                <a:solidFill>
                  <a:schemeClr val="folHlink"/>
                </a:solidFill>
                <a:effectLst>
                  <a:outerShdw blurRad="38100" dist="38100" dir="2700000" algn="tl">
                    <a:srgbClr val="C0C0C0"/>
                  </a:outerShdw>
                </a:effectLst>
                <a:uLnTx/>
                <a:uFillTx/>
                <a:latin typeface="+mj-lt"/>
                <a:ea typeface="+mj-ea"/>
                <a:cs typeface="+mj-cs"/>
              </a:rPr>
              <a:t>）．摒弃“环路等待”条件</a:t>
            </a:r>
            <a:endParaRPr kumimoji="0" lang="zh-CN" altLang="en-US" sz="4000" b="1" i="0" u="none" strike="noStrike" kern="0" cap="none" spc="0" normalizeH="0" baseline="0" noProof="0">
              <a:ln>
                <a:noFill/>
              </a:ln>
              <a:solidFill>
                <a:schemeClr val="folHlink"/>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62498"/>
                                        </p:tgtEl>
                                        <p:attrNameLst>
                                          <p:attrName>style.visibility</p:attrName>
                                        </p:attrNameLst>
                                      </p:cBhvr>
                                      <p:to>
                                        <p:strVal val="visible"/>
                                      </p:to>
                                    </p:set>
                                    <p:animEffect transition="in" filter="fade">
                                      <p:cBhvr>
                                        <p:cTn id="7" dur="2000"/>
                                        <p:tgtEl>
                                          <p:spTgt spid="3624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48515">
                                            <p:txEl>
                                              <p:charRg st="0" end="7"/>
                                            </p:txEl>
                                          </p:spTgt>
                                        </p:tgtEl>
                                        <p:attrNameLst>
                                          <p:attrName>style.visibility</p:attrName>
                                        </p:attrNameLst>
                                      </p:cBhvr>
                                      <p:to>
                                        <p:strVal val="visible"/>
                                      </p:to>
                                    </p:set>
                                    <p:animEffect transition="in" filter="fade">
                                      <p:cBhvr>
                                        <p:cTn id="12" dur="2000"/>
                                        <p:tgtEl>
                                          <p:spTgt spid="448515">
                                            <p:txEl>
                                              <p:charRg st="0"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48515">
                                            <p:txEl>
                                              <p:charRg st="7" end="45"/>
                                            </p:txEl>
                                          </p:spTgt>
                                        </p:tgtEl>
                                        <p:attrNameLst>
                                          <p:attrName>style.visibility</p:attrName>
                                        </p:attrNameLst>
                                      </p:cBhvr>
                                      <p:to>
                                        <p:strVal val="visible"/>
                                      </p:to>
                                    </p:set>
                                    <p:animEffect transition="in" filter="fade">
                                      <p:cBhvr>
                                        <p:cTn id="17" dur="2000"/>
                                        <p:tgtEl>
                                          <p:spTgt spid="448515">
                                            <p:txEl>
                                              <p:charRg st="7" end="4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48515">
                                            <p:txEl>
                                              <p:charRg st="45" end="81"/>
                                            </p:txEl>
                                          </p:spTgt>
                                        </p:tgtEl>
                                        <p:attrNameLst>
                                          <p:attrName>style.visibility</p:attrName>
                                        </p:attrNameLst>
                                      </p:cBhvr>
                                      <p:to>
                                        <p:strVal val="visible"/>
                                      </p:to>
                                    </p:set>
                                    <p:animEffect transition="in" filter="fade">
                                      <p:cBhvr>
                                        <p:cTn id="22" dur="2000"/>
                                        <p:tgtEl>
                                          <p:spTgt spid="448515">
                                            <p:txEl>
                                              <p:charRg st="45" end="8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48515">
                                            <p:txEl>
                                              <p:charRg st="81" end="95"/>
                                            </p:txEl>
                                          </p:spTgt>
                                        </p:tgtEl>
                                        <p:attrNameLst>
                                          <p:attrName>style.visibility</p:attrName>
                                        </p:attrNameLst>
                                      </p:cBhvr>
                                      <p:to>
                                        <p:strVal val="visible"/>
                                      </p:to>
                                    </p:set>
                                    <p:animEffect transition="in" filter="fade">
                                      <p:cBhvr>
                                        <p:cTn id="27" dur="2000"/>
                                        <p:tgtEl>
                                          <p:spTgt spid="448515">
                                            <p:txEl>
                                              <p:charRg st="81" end="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15" grpId="0" build="p"/>
      <p:bldP spid="362498"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3.7 </a:t>
            </a:r>
            <a:r>
              <a:rPr kumimoji="0" lang="zh-CN" altLang="en-US" sz="44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避免死锁</a:t>
            </a:r>
            <a:endParaRPr kumimoji="0" lang="zh-CN" altLang="en-US" sz="44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endParaRPr>
          </a:p>
        </p:txBody>
      </p:sp>
      <p:sp>
        <p:nvSpPr>
          <p:cNvPr id="97283" name="内容占位符 2"/>
          <p:cNvSpPr>
            <a:spLocks noGrp="1"/>
          </p:cNvSpPr>
          <p:nvPr>
            <p:ph idx="1"/>
          </p:nvPr>
        </p:nvSpPr>
        <p:spPr>
          <a:ln/>
        </p:spPr>
        <p:txBody>
          <a:bodyPr vert="horz" wrap="square" lIns="91440" tIns="45720" rIns="91440" bIns="45720" anchor="t" anchorCtr="0"/>
          <a:p>
            <a:r>
              <a:rPr lang="zh-CN" altLang="en-US" sz="3600" b="1" dirty="0"/>
              <a:t>避免死锁与预防死锁的方法不同，不是实现采取某种限制措施，破坏产生死锁的必要条件，而是在资源动态分配过程中，</a:t>
            </a:r>
            <a:r>
              <a:rPr lang="zh-CN" altLang="en-US" sz="3600" b="1" dirty="0">
                <a:solidFill>
                  <a:srgbClr val="FF0000"/>
                </a:solidFill>
              </a:rPr>
              <a:t>防止系统进入不安全状态</a:t>
            </a:r>
            <a:r>
              <a:rPr lang="zh-CN" altLang="en-US" sz="3600" b="1" dirty="0"/>
              <a:t>，以避免发生死锁。</a:t>
            </a:r>
            <a:endParaRPr lang="zh-CN" altLang="en-US" sz="3600" b="1" dirty="0"/>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3522"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3.7.1 </a:t>
            </a:r>
            <a:r>
              <a:rPr kumimoji="0" lang="zh-CN" altLang="en-US" sz="44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系统安全状态</a:t>
            </a:r>
            <a:endParaRPr kumimoji="0" lang="zh-CN" altLang="en-US" sz="44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endParaRPr>
          </a:p>
        </p:txBody>
      </p:sp>
      <p:sp>
        <p:nvSpPr>
          <p:cNvPr id="102403" name="Rectangle 3"/>
          <p:cNvSpPr>
            <a:spLocks noGrp="1" noRot="1"/>
          </p:cNvSpPr>
          <p:nvPr>
            <p:ph type="body" idx="4294967295"/>
          </p:nvPr>
        </p:nvSpPr>
        <p:spPr>
          <a:xfrm>
            <a:off x="323850" y="1484313"/>
            <a:ext cx="8569325" cy="4876800"/>
          </a:xfrm>
          <a:ln/>
        </p:spPr>
        <p:txBody>
          <a:bodyPr vert="horz" wrap="square" lIns="91440" tIns="45720" rIns="91440" bIns="45720" anchor="t" anchorCtr="0"/>
          <a:p>
            <a:pPr algn="just" eaLnBrk="1" hangingPunct="1">
              <a:buNone/>
            </a:pPr>
            <a:r>
              <a:rPr lang="en-US" altLang="zh-CN" sz="3600" b="1" dirty="0">
                <a:solidFill>
                  <a:schemeClr val="folHlink"/>
                </a:solidFill>
              </a:rPr>
              <a:t>1</a:t>
            </a:r>
            <a:r>
              <a:rPr lang="zh-CN" altLang="en-US" sz="3600" b="1" dirty="0">
                <a:solidFill>
                  <a:schemeClr val="folHlink"/>
                </a:solidFill>
              </a:rPr>
              <a:t>．安全状态</a:t>
            </a:r>
            <a:endParaRPr lang="zh-CN" altLang="en-US" sz="3600" b="1" dirty="0">
              <a:solidFill>
                <a:schemeClr val="folHlink"/>
              </a:solidFill>
            </a:endParaRPr>
          </a:p>
          <a:p>
            <a:pPr algn="just" eaLnBrk="1" hangingPunct="1">
              <a:lnSpc>
                <a:spcPct val="110000"/>
              </a:lnSpc>
            </a:pPr>
            <a:r>
              <a:rPr lang="zh-CN" altLang="en-US" sz="2800" b="1" dirty="0"/>
              <a:t>所谓安全状态，是指系统能按某种进程顺序，如</a:t>
            </a:r>
            <a:r>
              <a:rPr lang="en-US" altLang="zh-CN" sz="2800" b="1" dirty="0"/>
              <a:t>&lt;P1</a:t>
            </a:r>
            <a:r>
              <a:rPr lang="zh-CN" altLang="en-US" sz="2800" b="1" dirty="0"/>
              <a:t>，</a:t>
            </a:r>
            <a:r>
              <a:rPr lang="en-US" altLang="zh-CN" sz="2800" b="1" dirty="0"/>
              <a:t>P2</a:t>
            </a:r>
            <a:r>
              <a:rPr lang="zh-CN" altLang="en-US" sz="2800" b="1" dirty="0"/>
              <a:t>，</a:t>
            </a:r>
            <a:r>
              <a:rPr lang="en-US" altLang="zh-CN" sz="2800" b="1" dirty="0">
                <a:latin typeface="Courier New" panose="02070309020205020404" pitchFamily="49" charset="0"/>
              </a:rPr>
              <a:t>…</a:t>
            </a:r>
            <a:r>
              <a:rPr lang="zh-CN" altLang="en-US" sz="2800" b="1" dirty="0"/>
              <a:t>，</a:t>
            </a:r>
            <a:r>
              <a:rPr lang="en-US" altLang="zh-CN" sz="2800" b="1" dirty="0"/>
              <a:t>Pn&gt;</a:t>
            </a:r>
            <a:r>
              <a:rPr lang="zh-CN" altLang="en-US" sz="2800" b="1" dirty="0"/>
              <a:t>，依次为</a:t>
            </a:r>
            <a:r>
              <a:rPr lang="en-US" altLang="zh-CN" sz="2800" b="1" dirty="0"/>
              <a:t>n</a:t>
            </a:r>
            <a:r>
              <a:rPr lang="zh-CN" altLang="en-US" sz="2800" b="1" dirty="0"/>
              <a:t>个进程分配其所需资源，直至其最大需求，使每个进程都可顺利地完成，称系统处于安全状态。</a:t>
            </a:r>
            <a:endParaRPr lang="zh-CN" altLang="en-US" sz="2800" b="1" dirty="0"/>
          </a:p>
          <a:p>
            <a:pPr algn="just" eaLnBrk="1" hangingPunct="1">
              <a:lnSpc>
                <a:spcPct val="110000"/>
              </a:lnSpc>
            </a:pPr>
            <a:r>
              <a:rPr lang="zh-CN" altLang="en-US" sz="2800" b="1" dirty="0"/>
              <a:t>称</a:t>
            </a:r>
            <a:r>
              <a:rPr lang="en-US" altLang="zh-CN" sz="2800" b="1" dirty="0"/>
              <a:t>〈P1</a:t>
            </a:r>
            <a:r>
              <a:rPr lang="zh-CN" altLang="en-US" sz="2800" b="1" dirty="0"/>
              <a:t>，</a:t>
            </a:r>
            <a:r>
              <a:rPr lang="en-US" altLang="zh-CN" sz="2800" b="1" dirty="0"/>
              <a:t>P2</a:t>
            </a:r>
            <a:r>
              <a:rPr lang="zh-CN" altLang="en-US" sz="2800" b="1" dirty="0"/>
              <a:t>，</a:t>
            </a:r>
            <a:r>
              <a:rPr lang="en-US" altLang="zh-CN" sz="2800" b="1" dirty="0">
                <a:latin typeface="Courier New" panose="02070309020205020404" pitchFamily="49" charset="0"/>
              </a:rPr>
              <a:t>…</a:t>
            </a:r>
            <a:r>
              <a:rPr lang="zh-CN" altLang="en-US" sz="2800" b="1" dirty="0"/>
              <a:t>，</a:t>
            </a:r>
            <a:r>
              <a:rPr lang="en-US" altLang="zh-CN" sz="2800" b="1" dirty="0"/>
              <a:t>Pn〉</a:t>
            </a:r>
            <a:r>
              <a:rPr lang="zh-CN" altLang="en-US" sz="2800" b="1" dirty="0"/>
              <a:t>序列为安全序列。否则，</a:t>
            </a:r>
            <a:r>
              <a:rPr lang="zh-CN" altLang="en-US" sz="2800" b="1" i="1" u="sng" dirty="0">
                <a:solidFill>
                  <a:schemeClr val="hlink"/>
                </a:solidFill>
              </a:rPr>
              <a:t>如果系统无法找到这样一个安全序列，则称系统处于不安全状态</a:t>
            </a:r>
            <a:r>
              <a:rPr lang="zh-CN" altLang="en-US" sz="2800" b="1" dirty="0"/>
              <a:t>。</a:t>
            </a:r>
            <a:r>
              <a:rPr lang="zh-CN" altLang="en-US" sz="2800" dirty="0"/>
              <a:t> </a:t>
            </a:r>
            <a:endParaRPr lang="zh-CN" altLang="en-US" sz="2800" dirty="0"/>
          </a:p>
          <a:p>
            <a:pPr eaLnBrk="1" hangingPunct="1"/>
            <a:endParaRPr lang="en-US" altLang="zh-CN" sz="2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63522"/>
                                        </p:tgtEl>
                                        <p:attrNameLst>
                                          <p:attrName>style.visibility</p:attrName>
                                        </p:attrNameLst>
                                      </p:cBhvr>
                                      <p:to>
                                        <p:strVal val="visible"/>
                                      </p:to>
                                    </p:set>
                                    <p:animEffect transition="in" filter="fade">
                                      <p:cBhvr>
                                        <p:cTn id="7" dur="2000"/>
                                        <p:tgtEl>
                                          <p:spTgt spid="3635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403">
                                            <p:txEl>
                                              <p:charRg st="0" end="7"/>
                                            </p:txEl>
                                          </p:spTgt>
                                        </p:tgtEl>
                                        <p:attrNameLst>
                                          <p:attrName>style.visibility</p:attrName>
                                        </p:attrNameLst>
                                      </p:cBhvr>
                                      <p:to>
                                        <p:strVal val="visible"/>
                                      </p:to>
                                    </p:set>
                                    <p:animEffect transition="in" filter="fade">
                                      <p:cBhvr>
                                        <p:cTn id="12" dur="2000"/>
                                        <p:tgtEl>
                                          <p:spTgt spid="102403">
                                            <p:txEl>
                                              <p:charRg st="0"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403">
                                            <p:txEl>
                                              <p:charRg st="7" end="88"/>
                                            </p:txEl>
                                          </p:spTgt>
                                        </p:tgtEl>
                                        <p:attrNameLst>
                                          <p:attrName>style.visibility</p:attrName>
                                        </p:attrNameLst>
                                      </p:cBhvr>
                                      <p:to>
                                        <p:strVal val="visible"/>
                                      </p:to>
                                    </p:set>
                                    <p:animEffect transition="in" filter="fade">
                                      <p:cBhvr>
                                        <p:cTn id="17" dur="2000"/>
                                        <p:tgtEl>
                                          <p:spTgt spid="102403">
                                            <p:txEl>
                                              <p:charRg st="7" end="8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403">
                                            <p:txEl>
                                              <p:charRg st="88" end="143"/>
                                            </p:txEl>
                                          </p:spTgt>
                                        </p:tgtEl>
                                        <p:attrNameLst>
                                          <p:attrName>style.visibility</p:attrName>
                                        </p:attrNameLst>
                                      </p:cBhvr>
                                      <p:to>
                                        <p:strVal val="visible"/>
                                      </p:to>
                                    </p:set>
                                    <p:animEffect transition="in" filter="fade">
                                      <p:cBhvr>
                                        <p:cTn id="22" dur="2000"/>
                                        <p:tgtEl>
                                          <p:spTgt spid="102403">
                                            <p:txEl>
                                              <p:charRg st="88" end="1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2" grpId="0"/>
      <p:bldP spid="10240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4354"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1" u="none"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举例</a:t>
            </a:r>
            <a:endParaRPr kumimoji="0" lang="zh-CN" altLang="en-US" sz="4400" b="1" i="1" u="none"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endParaRPr>
          </a:p>
        </p:txBody>
      </p:sp>
      <p:sp>
        <p:nvSpPr>
          <p:cNvPr id="484355" name="Rectangle 3"/>
          <p:cNvSpPr>
            <a:spLocks noGrp="1" noRot="1" noChangeArrowheads="1"/>
          </p:cNvSpPr>
          <p:nvPr>
            <p:ph type="body" idx="1"/>
          </p:nvPr>
        </p:nvSpPr>
        <p:spPr>
          <a:xfrm>
            <a:off x="301625" y="1603375"/>
            <a:ext cx="8540750" cy="4498975"/>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系统有三个进程</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P1</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P2</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和</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P3</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，共有</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12</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台打印机。</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进程</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P1</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总共要求</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10</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台打印机，</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P2</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和</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P3</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分别要求</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4</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台和</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9</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台。</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假设</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T</a:t>
            </a:r>
            <a:r>
              <a:rPr kumimoji="0" lang="en-US" altLang="zh-CN" sz="3200" b="1" i="0" u="none" strike="noStrike" kern="0" cap="none" spc="0" normalizeH="0" baseline="-3000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0</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时刻，进程</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P1</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P2</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和</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P3</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已分别获得</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5</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台、</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2</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台和</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2</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台，尚有</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3</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台空闲未分，如表</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2-7</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所示：</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84354"/>
                                        </p:tgtEl>
                                        <p:attrNameLst>
                                          <p:attrName>style.visibility</p:attrName>
                                        </p:attrNameLst>
                                      </p:cBhvr>
                                      <p:to>
                                        <p:strVal val="visible"/>
                                      </p:to>
                                    </p:set>
                                    <p:animEffect transition="in" filter="fade">
                                      <p:cBhvr>
                                        <p:cTn id="7" dur="2000"/>
                                        <p:tgtEl>
                                          <p:spTgt spid="48435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84355">
                                            <p:txEl>
                                              <p:charRg st="0" end="26"/>
                                            </p:txEl>
                                          </p:spTgt>
                                        </p:tgtEl>
                                        <p:attrNameLst>
                                          <p:attrName>style.visibility</p:attrName>
                                        </p:attrNameLst>
                                      </p:cBhvr>
                                      <p:to>
                                        <p:strVal val="visible"/>
                                      </p:to>
                                    </p:set>
                                    <p:animEffect transition="in" filter="fade">
                                      <p:cBhvr>
                                        <p:cTn id="12" dur="2000"/>
                                        <p:tgtEl>
                                          <p:spTgt spid="484355">
                                            <p:txEl>
                                              <p:charRg st="0" end="2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84355">
                                            <p:txEl>
                                              <p:charRg st="26" end="57"/>
                                            </p:txEl>
                                          </p:spTgt>
                                        </p:tgtEl>
                                        <p:attrNameLst>
                                          <p:attrName>style.visibility</p:attrName>
                                        </p:attrNameLst>
                                      </p:cBhvr>
                                      <p:to>
                                        <p:strVal val="visible"/>
                                      </p:to>
                                    </p:set>
                                    <p:animEffect transition="in" filter="fade">
                                      <p:cBhvr>
                                        <p:cTn id="17" dur="2000"/>
                                        <p:tgtEl>
                                          <p:spTgt spid="484355">
                                            <p:txEl>
                                              <p:charRg st="26" end="5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84355">
                                            <p:txEl>
                                              <p:charRg st="57" end="106"/>
                                            </p:txEl>
                                          </p:spTgt>
                                        </p:tgtEl>
                                        <p:attrNameLst>
                                          <p:attrName>style.visibility</p:attrName>
                                        </p:attrNameLst>
                                      </p:cBhvr>
                                      <p:to>
                                        <p:strVal val="visible"/>
                                      </p:to>
                                    </p:set>
                                    <p:animEffect transition="in" filter="fade">
                                      <p:cBhvr>
                                        <p:cTn id="22" dur="2000"/>
                                        <p:tgtEl>
                                          <p:spTgt spid="484355">
                                            <p:txEl>
                                              <p:charRg st="57" end="10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54" grpId="0"/>
      <p:bldP spid="484355"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0354" name="Group 2"/>
          <p:cNvGrpSpPr/>
          <p:nvPr/>
        </p:nvGrpSpPr>
        <p:grpSpPr>
          <a:xfrm>
            <a:off x="1676400" y="620713"/>
            <a:ext cx="6324600" cy="3200400"/>
            <a:chOff x="-3" y="-3"/>
            <a:chExt cx="3387" cy="1618"/>
          </a:xfrm>
        </p:grpSpPr>
        <p:grpSp>
          <p:nvGrpSpPr>
            <p:cNvPr id="100356" name="Group 3"/>
            <p:cNvGrpSpPr/>
            <p:nvPr/>
          </p:nvGrpSpPr>
          <p:grpSpPr>
            <a:xfrm>
              <a:off x="0" y="0"/>
              <a:ext cx="3381" cy="1612"/>
              <a:chOff x="0" y="0"/>
              <a:chExt cx="3381" cy="1612"/>
            </a:xfrm>
          </p:grpSpPr>
          <p:grpSp>
            <p:nvGrpSpPr>
              <p:cNvPr id="100358" name="Group 4"/>
              <p:cNvGrpSpPr/>
              <p:nvPr/>
            </p:nvGrpSpPr>
            <p:grpSpPr>
              <a:xfrm>
                <a:off x="0" y="0"/>
                <a:ext cx="581" cy="403"/>
                <a:chOff x="0" y="0"/>
                <a:chExt cx="581" cy="403"/>
              </a:xfrm>
            </p:grpSpPr>
            <p:sp>
              <p:nvSpPr>
                <p:cNvPr id="100410" name="Rectangle 5"/>
                <p:cNvSpPr/>
                <p:nvPr/>
              </p:nvSpPr>
              <p:spPr>
                <a:xfrm>
                  <a:off x="43" y="0"/>
                  <a:ext cx="495" cy="403"/>
                </a:xfrm>
                <a:prstGeom prst="rect">
                  <a:avLst/>
                </a:prstGeom>
                <a:noFill/>
                <a:ln w="9525">
                  <a:noFill/>
                </a:ln>
              </p:spPr>
              <p:txBody>
                <a:bodyPr/>
                <a:p>
                  <a:pPr algn="ctr" eaLnBrk="1" hangingPunct="1"/>
                  <a:r>
                    <a:rPr lang="zh-CN" altLang="en-US" sz="2400" b="1" dirty="0">
                      <a:latin typeface="Times New Roman" panose="02020603050405020304" pitchFamily="18" charset="0"/>
                    </a:rPr>
                    <a:t>进程</a:t>
                  </a:r>
                  <a:endParaRPr lang="zh-CN" altLang="en-US" sz="2400" b="1" dirty="0">
                    <a:latin typeface="Times New Roman" panose="02020603050405020304" pitchFamily="18" charset="0"/>
                  </a:endParaRPr>
                </a:p>
                <a:p>
                  <a:pPr algn="ctr"/>
                  <a:endParaRPr lang="en-US" altLang="zh-CN" sz="2400" b="1" dirty="0">
                    <a:latin typeface="Times New Roman" panose="02020603050405020304" pitchFamily="18" charset="0"/>
                  </a:endParaRPr>
                </a:p>
              </p:txBody>
            </p:sp>
            <p:sp>
              <p:nvSpPr>
                <p:cNvPr id="100411" name="Rectangle 6"/>
                <p:cNvSpPr/>
                <p:nvPr/>
              </p:nvSpPr>
              <p:spPr>
                <a:xfrm>
                  <a:off x="0" y="0"/>
                  <a:ext cx="581"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00359" name="Group 7"/>
              <p:cNvGrpSpPr/>
              <p:nvPr/>
            </p:nvGrpSpPr>
            <p:grpSpPr>
              <a:xfrm>
                <a:off x="581" y="0"/>
                <a:ext cx="768" cy="403"/>
                <a:chOff x="581" y="0"/>
                <a:chExt cx="768" cy="403"/>
              </a:xfrm>
            </p:grpSpPr>
            <p:sp>
              <p:nvSpPr>
                <p:cNvPr id="100408" name="Rectangle 8"/>
                <p:cNvSpPr/>
                <p:nvPr/>
              </p:nvSpPr>
              <p:spPr>
                <a:xfrm>
                  <a:off x="624" y="0"/>
                  <a:ext cx="682" cy="403"/>
                </a:xfrm>
                <a:prstGeom prst="rect">
                  <a:avLst/>
                </a:prstGeom>
                <a:noFill/>
                <a:ln w="9525">
                  <a:noFill/>
                </a:ln>
              </p:spPr>
              <p:txBody>
                <a:bodyPr/>
                <a:p>
                  <a:pPr algn="ctr" eaLnBrk="1" hangingPunct="1"/>
                  <a:r>
                    <a:rPr lang="zh-CN" altLang="en-US" sz="2400" b="1" dirty="0">
                      <a:latin typeface="Times New Roman" panose="02020603050405020304" pitchFamily="18" charset="0"/>
                    </a:rPr>
                    <a:t>最大需求</a:t>
                  </a:r>
                  <a:endParaRPr lang="zh-CN" altLang="en-US" sz="2400" b="1" dirty="0">
                    <a:latin typeface="Times New Roman" panose="02020603050405020304" pitchFamily="18" charset="0"/>
                  </a:endParaRPr>
                </a:p>
                <a:p>
                  <a:pPr algn="ctr"/>
                  <a:endParaRPr lang="en-US" altLang="zh-CN" sz="2400" b="1" dirty="0">
                    <a:latin typeface="Times New Roman" panose="02020603050405020304" pitchFamily="18" charset="0"/>
                  </a:endParaRPr>
                </a:p>
              </p:txBody>
            </p:sp>
            <p:sp>
              <p:nvSpPr>
                <p:cNvPr id="100409" name="Rectangle 9"/>
                <p:cNvSpPr/>
                <p:nvPr/>
              </p:nvSpPr>
              <p:spPr>
                <a:xfrm>
                  <a:off x="581" y="0"/>
                  <a:ext cx="7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00360" name="Group 10"/>
              <p:cNvGrpSpPr/>
              <p:nvPr/>
            </p:nvGrpSpPr>
            <p:grpSpPr>
              <a:xfrm>
                <a:off x="1349" y="0"/>
                <a:ext cx="768" cy="403"/>
                <a:chOff x="1349" y="0"/>
                <a:chExt cx="768" cy="403"/>
              </a:xfrm>
            </p:grpSpPr>
            <p:sp>
              <p:nvSpPr>
                <p:cNvPr id="100406" name="Rectangle 11"/>
                <p:cNvSpPr/>
                <p:nvPr/>
              </p:nvSpPr>
              <p:spPr>
                <a:xfrm>
                  <a:off x="1392" y="0"/>
                  <a:ext cx="682" cy="403"/>
                </a:xfrm>
                <a:prstGeom prst="rect">
                  <a:avLst/>
                </a:prstGeom>
                <a:noFill/>
                <a:ln w="9525">
                  <a:noFill/>
                </a:ln>
              </p:spPr>
              <p:txBody>
                <a:bodyPr/>
                <a:p>
                  <a:pPr algn="ctr" eaLnBrk="1" hangingPunct="1"/>
                  <a:r>
                    <a:rPr lang="zh-CN" altLang="en-US" sz="2400" b="1" dirty="0">
                      <a:latin typeface="Times New Roman" panose="02020603050405020304" pitchFamily="18" charset="0"/>
                    </a:rPr>
                    <a:t>已分配</a:t>
                  </a:r>
                  <a:endParaRPr lang="zh-CN" altLang="en-US" sz="2400" b="1" dirty="0">
                    <a:latin typeface="Times New Roman" panose="02020603050405020304" pitchFamily="18" charset="0"/>
                  </a:endParaRPr>
                </a:p>
                <a:p>
                  <a:pPr algn="ctr"/>
                  <a:endParaRPr lang="en-US" altLang="zh-CN" sz="2400" b="1" dirty="0">
                    <a:latin typeface="Times New Roman" panose="02020603050405020304" pitchFamily="18" charset="0"/>
                  </a:endParaRPr>
                </a:p>
              </p:txBody>
            </p:sp>
            <p:sp>
              <p:nvSpPr>
                <p:cNvPr id="100407" name="Rectangle 12"/>
                <p:cNvSpPr/>
                <p:nvPr/>
              </p:nvSpPr>
              <p:spPr>
                <a:xfrm>
                  <a:off x="1349" y="0"/>
                  <a:ext cx="7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00361" name="Group 13"/>
              <p:cNvGrpSpPr/>
              <p:nvPr/>
            </p:nvGrpSpPr>
            <p:grpSpPr>
              <a:xfrm>
                <a:off x="2117" y="0"/>
                <a:ext cx="768" cy="403"/>
                <a:chOff x="2117" y="0"/>
                <a:chExt cx="768" cy="403"/>
              </a:xfrm>
            </p:grpSpPr>
            <p:sp>
              <p:nvSpPr>
                <p:cNvPr id="100404" name="Rectangle 14"/>
                <p:cNvSpPr/>
                <p:nvPr/>
              </p:nvSpPr>
              <p:spPr>
                <a:xfrm>
                  <a:off x="2160" y="0"/>
                  <a:ext cx="682" cy="403"/>
                </a:xfrm>
                <a:prstGeom prst="rect">
                  <a:avLst/>
                </a:prstGeom>
                <a:noFill/>
                <a:ln w="9525">
                  <a:noFill/>
                </a:ln>
              </p:spPr>
              <p:txBody>
                <a:bodyPr/>
                <a:p>
                  <a:pPr algn="ctr" eaLnBrk="1" hangingPunct="1"/>
                  <a:r>
                    <a:rPr lang="zh-CN" altLang="en-US" sz="2400" b="1" dirty="0">
                      <a:latin typeface="Times New Roman" panose="02020603050405020304" pitchFamily="18" charset="0"/>
                    </a:rPr>
                    <a:t>还需要</a:t>
                  </a:r>
                  <a:endParaRPr lang="zh-CN" altLang="en-US" sz="2400" b="1" dirty="0">
                    <a:latin typeface="Times New Roman" panose="02020603050405020304" pitchFamily="18" charset="0"/>
                  </a:endParaRPr>
                </a:p>
                <a:p>
                  <a:pPr algn="ctr"/>
                  <a:endParaRPr lang="en-US" altLang="zh-CN" sz="2400" b="1" dirty="0">
                    <a:latin typeface="Times New Roman" panose="02020603050405020304" pitchFamily="18" charset="0"/>
                  </a:endParaRPr>
                </a:p>
              </p:txBody>
            </p:sp>
            <p:sp>
              <p:nvSpPr>
                <p:cNvPr id="100405" name="Rectangle 15"/>
                <p:cNvSpPr/>
                <p:nvPr/>
              </p:nvSpPr>
              <p:spPr>
                <a:xfrm>
                  <a:off x="2117" y="0"/>
                  <a:ext cx="7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00362" name="Group 16"/>
              <p:cNvGrpSpPr/>
              <p:nvPr/>
            </p:nvGrpSpPr>
            <p:grpSpPr>
              <a:xfrm>
                <a:off x="2885" y="0"/>
                <a:ext cx="496" cy="403"/>
                <a:chOff x="2885" y="0"/>
                <a:chExt cx="496" cy="403"/>
              </a:xfrm>
            </p:grpSpPr>
            <p:sp>
              <p:nvSpPr>
                <p:cNvPr id="100402" name="Rectangle 17"/>
                <p:cNvSpPr/>
                <p:nvPr/>
              </p:nvSpPr>
              <p:spPr>
                <a:xfrm>
                  <a:off x="2928" y="0"/>
                  <a:ext cx="410" cy="403"/>
                </a:xfrm>
                <a:prstGeom prst="rect">
                  <a:avLst/>
                </a:prstGeom>
                <a:noFill/>
                <a:ln w="9525">
                  <a:noFill/>
                </a:ln>
              </p:spPr>
              <p:txBody>
                <a:bodyPr/>
                <a:p>
                  <a:pPr algn="ctr" eaLnBrk="1" hangingPunct="1"/>
                  <a:r>
                    <a:rPr lang="zh-CN" altLang="en-US" sz="2400" b="1" dirty="0">
                      <a:latin typeface="Times New Roman" panose="02020603050405020304" pitchFamily="18" charset="0"/>
                    </a:rPr>
                    <a:t>可用</a:t>
                  </a:r>
                  <a:endParaRPr lang="zh-CN" altLang="en-US" sz="2400" b="1" dirty="0">
                    <a:latin typeface="Times New Roman" panose="02020603050405020304" pitchFamily="18" charset="0"/>
                  </a:endParaRPr>
                </a:p>
                <a:p>
                  <a:pPr algn="ctr"/>
                  <a:endParaRPr lang="en-US" altLang="zh-CN" sz="2400" b="1" dirty="0">
                    <a:latin typeface="Times New Roman" panose="02020603050405020304" pitchFamily="18" charset="0"/>
                  </a:endParaRPr>
                </a:p>
              </p:txBody>
            </p:sp>
            <p:sp>
              <p:nvSpPr>
                <p:cNvPr id="100403" name="Rectangle 18"/>
                <p:cNvSpPr/>
                <p:nvPr/>
              </p:nvSpPr>
              <p:spPr>
                <a:xfrm>
                  <a:off x="2885" y="0"/>
                  <a:ext cx="49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00363" name="Group 19"/>
              <p:cNvGrpSpPr/>
              <p:nvPr/>
            </p:nvGrpSpPr>
            <p:grpSpPr>
              <a:xfrm>
                <a:off x="0" y="403"/>
                <a:ext cx="581" cy="403"/>
                <a:chOff x="0" y="403"/>
                <a:chExt cx="581" cy="403"/>
              </a:xfrm>
            </p:grpSpPr>
            <p:sp>
              <p:nvSpPr>
                <p:cNvPr id="100400" name="Rectangle 20"/>
                <p:cNvSpPr/>
                <p:nvPr/>
              </p:nvSpPr>
              <p:spPr>
                <a:xfrm>
                  <a:off x="43" y="403"/>
                  <a:ext cx="495" cy="403"/>
                </a:xfrm>
                <a:prstGeom prst="rect">
                  <a:avLst/>
                </a:prstGeom>
                <a:noFill/>
                <a:ln w="9525">
                  <a:noFill/>
                </a:ln>
              </p:spPr>
              <p:txBody>
                <a:bodyPr/>
                <a:p>
                  <a:pPr algn="ctr" eaLnBrk="1" hangingPunct="1"/>
                  <a:r>
                    <a:rPr lang="en-US" altLang="zh-CN" sz="2400" b="1" dirty="0">
                      <a:latin typeface="Times New Roman" panose="02020603050405020304" pitchFamily="18" charset="0"/>
                    </a:rPr>
                    <a:t>P1</a:t>
                  </a:r>
                  <a:endParaRPr lang="en-US" altLang="zh-CN" sz="2400" b="1" dirty="0">
                    <a:latin typeface="Times New Roman" panose="02020603050405020304" pitchFamily="18" charset="0"/>
                  </a:endParaRPr>
                </a:p>
                <a:p>
                  <a:pPr algn="ctr"/>
                  <a:endParaRPr lang="en-US" altLang="zh-CN" sz="2400" dirty="0">
                    <a:latin typeface="Times New Roman" panose="02020603050405020304" pitchFamily="18" charset="0"/>
                  </a:endParaRPr>
                </a:p>
              </p:txBody>
            </p:sp>
            <p:sp>
              <p:nvSpPr>
                <p:cNvPr id="100401" name="Rectangle 21"/>
                <p:cNvSpPr/>
                <p:nvPr/>
              </p:nvSpPr>
              <p:spPr>
                <a:xfrm>
                  <a:off x="0" y="403"/>
                  <a:ext cx="581"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00364" name="Group 22"/>
              <p:cNvGrpSpPr/>
              <p:nvPr/>
            </p:nvGrpSpPr>
            <p:grpSpPr>
              <a:xfrm>
                <a:off x="581" y="403"/>
                <a:ext cx="768" cy="403"/>
                <a:chOff x="581" y="403"/>
                <a:chExt cx="768" cy="403"/>
              </a:xfrm>
            </p:grpSpPr>
            <p:sp>
              <p:nvSpPr>
                <p:cNvPr id="100398" name="Rectangle 23"/>
                <p:cNvSpPr/>
                <p:nvPr/>
              </p:nvSpPr>
              <p:spPr>
                <a:xfrm>
                  <a:off x="624" y="403"/>
                  <a:ext cx="682" cy="403"/>
                </a:xfrm>
                <a:prstGeom prst="rect">
                  <a:avLst/>
                </a:prstGeom>
                <a:noFill/>
                <a:ln w="9525">
                  <a:noFill/>
                </a:ln>
              </p:spPr>
              <p:txBody>
                <a:bodyPr/>
                <a:p>
                  <a:pPr algn="ctr" eaLnBrk="1" hangingPunct="1"/>
                  <a:r>
                    <a:rPr lang="en-US" altLang="zh-CN" sz="2400" b="1" dirty="0">
                      <a:latin typeface="Times New Roman" panose="02020603050405020304" pitchFamily="18" charset="0"/>
                    </a:rPr>
                    <a:t>10</a:t>
                  </a:r>
                  <a:endParaRPr lang="en-US" altLang="zh-CN" sz="2400" b="1" dirty="0">
                    <a:latin typeface="Times New Roman" panose="02020603050405020304" pitchFamily="18" charset="0"/>
                  </a:endParaRPr>
                </a:p>
                <a:p>
                  <a:pPr algn="ctr"/>
                  <a:endParaRPr lang="en-US" altLang="zh-CN" sz="2400" b="1" dirty="0">
                    <a:latin typeface="Times New Roman" panose="02020603050405020304" pitchFamily="18" charset="0"/>
                  </a:endParaRPr>
                </a:p>
              </p:txBody>
            </p:sp>
            <p:sp>
              <p:nvSpPr>
                <p:cNvPr id="100399" name="Rectangle 24"/>
                <p:cNvSpPr/>
                <p:nvPr/>
              </p:nvSpPr>
              <p:spPr>
                <a:xfrm>
                  <a:off x="581" y="403"/>
                  <a:ext cx="7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00365" name="Group 25"/>
              <p:cNvGrpSpPr/>
              <p:nvPr/>
            </p:nvGrpSpPr>
            <p:grpSpPr>
              <a:xfrm>
                <a:off x="1349" y="403"/>
                <a:ext cx="768" cy="403"/>
                <a:chOff x="1349" y="403"/>
                <a:chExt cx="768" cy="403"/>
              </a:xfrm>
            </p:grpSpPr>
            <p:sp>
              <p:nvSpPr>
                <p:cNvPr id="100396" name="Rectangle 26"/>
                <p:cNvSpPr/>
                <p:nvPr/>
              </p:nvSpPr>
              <p:spPr>
                <a:xfrm>
                  <a:off x="1392" y="403"/>
                  <a:ext cx="682" cy="403"/>
                </a:xfrm>
                <a:prstGeom prst="rect">
                  <a:avLst/>
                </a:prstGeom>
                <a:noFill/>
                <a:ln w="9525">
                  <a:noFill/>
                </a:ln>
              </p:spPr>
              <p:txBody>
                <a:bodyPr/>
                <a:p>
                  <a:pPr algn="ctr" eaLnBrk="1" hangingPunct="1"/>
                  <a:r>
                    <a:rPr lang="en-US" altLang="zh-CN" sz="2400" b="1" dirty="0">
                      <a:latin typeface="Times New Roman" panose="02020603050405020304" pitchFamily="18" charset="0"/>
                    </a:rPr>
                    <a:t>5</a:t>
                  </a:r>
                  <a:endParaRPr lang="en-US" altLang="zh-CN" sz="2400" b="1" dirty="0">
                    <a:latin typeface="Times New Roman" panose="02020603050405020304" pitchFamily="18" charset="0"/>
                  </a:endParaRPr>
                </a:p>
                <a:p>
                  <a:pPr algn="ctr"/>
                  <a:endParaRPr lang="en-US" altLang="zh-CN" sz="2400" b="1" dirty="0">
                    <a:latin typeface="Times New Roman" panose="02020603050405020304" pitchFamily="18" charset="0"/>
                  </a:endParaRPr>
                </a:p>
              </p:txBody>
            </p:sp>
            <p:sp>
              <p:nvSpPr>
                <p:cNvPr id="100397" name="Rectangle 27"/>
                <p:cNvSpPr/>
                <p:nvPr/>
              </p:nvSpPr>
              <p:spPr>
                <a:xfrm>
                  <a:off x="1349" y="403"/>
                  <a:ext cx="7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00366" name="Group 28"/>
              <p:cNvGrpSpPr/>
              <p:nvPr/>
            </p:nvGrpSpPr>
            <p:grpSpPr>
              <a:xfrm>
                <a:off x="2117" y="403"/>
                <a:ext cx="768" cy="403"/>
                <a:chOff x="2117" y="403"/>
                <a:chExt cx="768" cy="403"/>
              </a:xfrm>
            </p:grpSpPr>
            <p:sp>
              <p:nvSpPr>
                <p:cNvPr id="100394" name="Rectangle 29"/>
                <p:cNvSpPr/>
                <p:nvPr/>
              </p:nvSpPr>
              <p:spPr>
                <a:xfrm>
                  <a:off x="2160" y="403"/>
                  <a:ext cx="682" cy="403"/>
                </a:xfrm>
                <a:prstGeom prst="rect">
                  <a:avLst/>
                </a:prstGeom>
                <a:noFill/>
                <a:ln w="9525">
                  <a:noFill/>
                </a:ln>
              </p:spPr>
              <p:txBody>
                <a:bodyPr/>
                <a:p>
                  <a:pPr algn="ctr" eaLnBrk="1" hangingPunct="1"/>
                  <a:r>
                    <a:rPr lang="en-US" altLang="zh-CN" sz="2400" b="1" dirty="0">
                      <a:latin typeface="Times New Roman" panose="02020603050405020304" pitchFamily="18" charset="0"/>
                    </a:rPr>
                    <a:t>5</a:t>
                  </a:r>
                  <a:endParaRPr lang="en-US" altLang="zh-CN" sz="2400" b="1" dirty="0">
                    <a:latin typeface="Times New Roman" panose="02020603050405020304" pitchFamily="18" charset="0"/>
                  </a:endParaRPr>
                </a:p>
                <a:p>
                  <a:pPr algn="ctr"/>
                  <a:endParaRPr lang="en-US" altLang="zh-CN" sz="2400" b="1" dirty="0">
                    <a:latin typeface="Times New Roman" panose="02020603050405020304" pitchFamily="18" charset="0"/>
                  </a:endParaRPr>
                </a:p>
              </p:txBody>
            </p:sp>
            <p:sp>
              <p:nvSpPr>
                <p:cNvPr id="100395" name="Rectangle 30"/>
                <p:cNvSpPr/>
                <p:nvPr/>
              </p:nvSpPr>
              <p:spPr>
                <a:xfrm>
                  <a:off x="2117" y="403"/>
                  <a:ext cx="7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00367" name="Group 31"/>
              <p:cNvGrpSpPr/>
              <p:nvPr/>
            </p:nvGrpSpPr>
            <p:grpSpPr>
              <a:xfrm>
                <a:off x="2885" y="403"/>
                <a:ext cx="496" cy="1209"/>
                <a:chOff x="2885" y="403"/>
                <a:chExt cx="496" cy="1209"/>
              </a:xfrm>
            </p:grpSpPr>
            <p:sp>
              <p:nvSpPr>
                <p:cNvPr id="100392" name="Rectangle 32"/>
                <p:cNvSpPr/>
                <p:nvPr/>
              </p:nvSpPr>
              <p:spPr>
                <a:xfrm>
                  <a:off x="2928" y="403"/>
                  <a:ext cx="410" cy="1209"/>
                </a:xfrm>
                <a:prstGeom prst="rect">
                  <a:avLst/>
                </a:prstGeom>
                <a:noFill/>
                <a:ln w="9525">
                  <a:noFill/>
                </a:ln>
              </p:spPr>
              <p:txBody>
                <a:bodyPr/>
                <a:p>
                  <a:pPr algn="ctr" eaLnBrk="1" hangingPunct="1"/>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algn="ctr"/>
                  <a:r>
                    <a:rPr lang="en-US" altLang="zh-CN" sz="2400" b="1" dirty="0">
                      <a:latin typeface="Times New Roman" panose="02020603050405020304" pitchFamily="18" charset="0"/>
                    </a:rPr>
                    <a:t>3</a:t>
                  </a:r>
                  <a:endParaRPr lang="en-US" altLang="zh-CN" sz="2400" b="1" dirty="0">
                    <a:latin typeface="Times New Roman" panose="02020603050405020304" pitchFamily="18" charset="0"/>
                  </a:endParaRPr>
                </a:p>
                <a:p>
                  <a:pPr algn="ctr"/>
                  <a:endParaRPr lang="en-US" altLang="zh-CN" sz="2400" b="1" dirty="0">
                    <a:latin typeface="Times New Roman" panose="02020603050405020304" pitchFamily="18" charset="0"/>
                  </a:endParaRPr>
                </a:p>
              </p:txBody>
            </p:sp>
            <p:sp>
              <p:nvSpPr>
                <p:cNvPr id="100393" name="Rectangle 33"/>
                <p:cNvSpPr/>
                <p:nvPr/>
              </p:nvSpPr>
              <p:spPr>
                <a:xfrm>
                  <a:off x="2885" y="403"/>
                  <a:ext cx="496" cy="1209"/>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00368" name="Group 34"/>
              <p:cNvGrpSpPr/>
              <p:nvPr/>
            </p:nvGrpSpPr>
            <p:grpSpPr>
              <a:xfrm>
                <a:off x="0" y="806"/>
                <a:ext cx="581" cy="403"/>
                <a:chOff x="0" y="806"/>
                <a:chExt cx="581" cy="403"/>
              </a:xfrm>
            </p:grpSpPr>
            <p:sp>
              <p:nvSpPr>
                <p:cNvPr id="100390" name="Rectangle 35"/>
                <p:cNvSpPr/>
                <p:nvPr/>
              </p:nvSpPr>
              <p:spPr>
                <a:xfrm>
                  <a:off x="43" y="806"/>
                  <a:ext cx="495" cy="403"/>
                </a:xfrm>
                <a:prstGeom prst="rect">
                  <a:avLst/>
                </a:prstGeom>
                <a:noFill/>
                <a:ln w="9525">
                  <a:noFill/>
                </a:ln>
              </p:spPr>
              <p:txBody>
                <a:bodyPr/>
                <a:p>
                  <a:pPr algn="ctr" eaLnBrk="1" hangingPunct="1"/>
                  <a:r>
                    <a:rPr lang="en-US" altLang="zh-CN" sz="2400" b="1" dirty="0">
                      <a:latin typeface="Times New Roman" panose="02020603050405020304" pitchFamily="18" charset="0"/>
                    </a:rPr>
                    <a:t>P2</a:t>
                  </a:r>
                  <a:endParaRPr lang="en-US" altLang="zh-CN" sz="2400" b="1" dirty="0">
                    <a:latin typeface="Times New Roman" panose="02020603050405020304" pitchFamily="18" charset="0"/>
                  </a:endParaRPr>
                </a:p>
                <a:p>
                  <a:pPr algn="ctr"/>
                  <a:endParaRPr lang="en-US" altLang="zh-CN" sz="2400" dirty="0">
                    <a:latin typeface="Times New Roman" panose="02020603050405020304" pitchFamily="18" charset="0"/>
                  </a:endParaRPr>
                </a:p>
              </p:txBody>
            </p:sp>
            <p:sp>
              <p:nvSpPr>
                <p:cNvPr id="100391" name="Rectangle 36"/>
                <p:cNvSpPr/>
                <p:nvPr/>
              </p:nvSpPr>
              <p:spPr>
                <a:xfrm>
                  <a:off x="0" y="806"/>
                  <a:ext cx="581"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00369" name="Group 37"/>
              <p:cNvGrpSpPr/>
              <p:nvPr/>
            </p:nvGrpSpPr>
            <p:grpSpPr>
              <a:xfrm>
                <a:off x="581" y="806"/>
                <a:ext cx="768" cy="403"/>
                <a:chOff x="581" y="806"/>
                <a:chExt cx="768" cy="403"/>
              </a:xfrm>
            </p:grpSpPr>
            <p:sp>
              <p:nvSpPr>
                <p:cNvPr id="100388" name="Rectangle 38"/>
                <p:cNvSpPr/>
                <p:nvPr/>
              </p:nvSpPr>
              <p:spPr>
                <a:xfrm>
                  <a:off x="624" y="806"/>
                  <a:ext cx="682" cy="403"/>
                </a:xfrm>
                <a:prstGeom prst="rect">
                  <a:avLst/>
                </a:prstGeom>
                <a:noFill/>
                <a:ln w="9525">
                  <a:noFill/>
                </a:ln>
              </p:spPr>
              <p:txBody>
                <a:bodyPr/>
                <a:p>
                  <a:pPr algn="ctr" eaLnBrk="1" hangingPunct="1"/>
                  <a:r>
                    <a:rPr lang="en-US" altLang="zh-CN" sz="2400" b="1" dirty="0">
                      <a:latin typeface="Times New Roman" panose="02020603050405020304" pitchFamily="18" charset="0"/>
                    </a:rPr>
                    <a:t>4</a:t>
                  </a:r>
                  <a:endParaRPr lang="en-US" altLang="zh-CN" sz="2400" b="1" dirty="0">
                    <a:latin typeface="Times New Roman" panose="02020603050405020304" pitchFamily="18" charset="0"/>
                  </a:endParaRPr>
                </a:p>
                <a:p>
                  <a:pPr algn="ctr"/>
                  <a:endParaRPr lang="en-US" altLang="zh-CN" sz="2400" b="1" dirty="0">
                    <a:latin typeface="Times New Roman" panose="02020603050405020304" pitchFamily="18" charset="0"/>
                  </a:endParaRPr>
                </a:p>
              </p:txBody>
            </p:sp>
            <p:sp>
              <p:nvSpPr>
                <p:cNvPr id="100389" name="Rectangle 39"/>
                <p:cNvSpPr/>
                <p:nvPr/>
              </p:nvSpPr>
              <p:spPr>
                <a:xfrm>
                  <a:off x="581" y="806"/>
                  <a:ext cx="7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00370" name="Group 40"/>
              <p:cNvGrpSpPr/>
              <p:nvPr/>
            </p:nvGrpSpPr>
            <p:grpSpPr>
              <a:xfrm>
                <a:off x="1349" y="806"/>
                <a:ext cx="768" cy="403"/>
                <a:chOff x="1349" y="806"/>
                <a:chExt cx="768" cy="403"/>
              </a:xfrm>
            </p:grpSpPr>
            <p:sp>
              <p:nvSpPr>
                <p:cNvPr id="100386" name="Rectangle 41"/>
                <p:cNvSpPr/>
                <p:nvPr/>
              </p:nvSpPr>
              <p:spPr>
                <a:xfrm>
                  <a:off x="1392" y="806"/>
                  <a:ext cx="682" cy="403"/>
                </a:xfrm>
                <a:prstGeom prst="rect">
                  <a:avLst/>
                </a:prstGeom>
                <a:noFill/>
                <a:ln w="9525">
                  <a:noFill/>
                </a:ln>
              </p:spPr>
              <p:txBody>
                <a:bodyPr/>
                <a:p>
                  <a:pPr algn="ctr" eaLnBrk="1" hangingPunct="1"/>
                  <a:r>
                    <a:rPr lang="en-US" altLang="zh-CN" sz="2400" b="1" dirty="0">
                      <a:latin typeface="Times New Roman" panose="02020603050405020304" pitchFamily="18" charset="0"/>
                    </a:rPr>
                    <a:t>2</a:t>
                  </a:r>
                  <a:endParaRPr lang="en-US" altLang="zh-CN" sz="2400" b="1" dirty="0">
                    <a:latin typeface="Times New Roman" panose="02020603050405020304" pitchFamily="18" charset="0"/>
                  </a:endParaRPr>
                </a:p>
                <a:p>
                  <a:pPr algn="ctr"/>
                  <a:endParaRPr lang="en-US" altLang="zh-CN" sz="2400" b="1" dirty="0">
                    <a:latin typeface="Times New Roman" panose="02020603050405020304" pitchFamily="18" charset="0"/>
                  </a:endParaRPr>
                </a:p>
              </p:txBody>
            </p:sp>
            <p:sp>
              <p:nvSpPr>
                <p:cNvPr id="100387" name="Rectangle 42"/>
                <p:cNvSpPr/>
                <p:nvPr/>
              </p:nvSpPr>
              <p:spPr>
                <a:xfrm>
                  <a:off x="1349" y="806"/>
                  <a:ext cx="7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00371" name="Group 43"/>
              <p:cNvGrpSpPr/>
              <p:nvPr/>
            </p:nvGrpSpPr>
            <p:grpSpPr>
              <a:xfrm>
                <a:off x="2117" y="806"/>
                <a:ext cx="768" cy="403"/>
                <a:chOff x="2117" y="806"/>
                <a:chExt cx="768" cy="403"/>
              </a:xfrm>
            </p:grpSpPr>
            <p:sp>
              <p:nvSpPr>
                <p:cNvPr id="100384" name="Rectangle 44"/>
                <p:cNvSpPr/>
                <p:nvPr/>
              </p:nvSpPr>
              <p:spPr>
                <a:xfrm>
                  <a:off x="2160" y="806"/>
                  <a:ext cx="682" cy="403"/>
                </a:xfrm>
                <a:prstGeom prst="rect">
                  <a:avLst/>
                </a:prstGeom>
                <a:noFill/>
                <a:ln w="9525">
                  <a:noFill/>
                </a:ln>
              </p:spPr>
              <p:txBody>
                <a:bodyPr/>
                <a:p>
                  <a:pPr algn="ctr" eaLnBrk="1" hangingPunct="1"/>
                  <a:r>
                    <a:rPr lang="en-US" altLang="zh-CN" sz="2400" b="1" dirty="0">
                      <a:latin typeface="Times New Roman" panose="02020603050405020304" pitchFamily="18" charset="0"/>
                    </a:rPr>
                    <a:t>2</a:t>
                  </a:r>
                  <a:endParaRPr lang="en-US" altLang="zh-CN" sz="2400" b="1" dirty="0">
                    <a:latin typeface="Times New Roman" panose="02020603050405020304" pitchFamily="18" charset="0"/>
                  </a:endParaRPr>
                </a:p>
                <a:p>
                  <a:pPr algn="ctr"/>
                  <a:endParaRPr lang="en-US" altLang="zh-CN" sz="2400" b="1" dirty="0">
                    <a:latin typeface="Times New Roman" panose="02020603050405020304" pitchFamily="18" charset="0"/>
                  </a:endParaRPr>
                </a:p>
              </p:txBody>
            </p:sp>
            <p:sp>
              <p:nvSpPr>
                <p:cNvPr id="100385" name="Rectangle 45"/>
                <p:cNvSpPr/>
                <p:nvPr/>
              </p:nvSpPr>
              <p:spPr>
                <a:xfrm>
                  <a:off x="2117" y="806"/>
                  <a:ext cx="7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00372" name="Group 46"/>
              <p:cNvGrpSpPr/>
              <p:nvPr/>
            </p:nvGrpSpPr>
            <p:grpSpPr>
              <a:xfrm>
                <a:off x="0" y="1209"/>
                <a:ext cx="581" cy="403"/>
                <a:chOff x="0" y="1209"/>
                <a:chExt cx="581" cy="403"/>
              </a:xfrm>
            </p:grpSpPr>
            <p:sp>
              <p:nvSpPr>
                <p:cNvPr id="100382" name="Rectangle 47"/>
                <p:cNvSpPr/>
                <p:nvPr/>
              </p:nvSpPr>
              <p:spPr>
                <a:xfrm>
                  <a:off x="43" y="1209"/>
                  <a:ext cx="495" cy="403"/>
                </a:xfrm>
                <a:prstGeom prst="rect">
                  <a:avLst/>
                </a:prstGeom>
                <a:noFill/>
                <a:ln w="9525">
                  <a:noFill/>
                </a:ln>
              </p:spPr>
              <p:txBody>
                <a:bodyPr/>
                <a:p>
                  <a:pPr algn="ctr" eaLnBrk="1" hangingPunct="1"/>
                  <a:r>
                    <a:rPr lang="en-US" altLang="zh-CN" sz="2400" b="1" dirty="0">
                      <a:latin typeface="Times New Roman" panose="02020603050405020304" pitchFamily="18" charset="0"/>
                    </a:rPr>
                    <a:t>P3</a:t>
                  </a:r>
                  <a:endParaRPr lang="en-US" altLang="zh-CN" sz="2400" b="1" dirty="0">
                    <a:latin typeface="Times New Roman" panose="02020603050405020304" pitchFamily="18" charset="0"/>
                  </a:endParaRPr>
                </a:p>
                <a:p>
                  <a:pPr algn="ctr"/>
                  <a:endParaRPr lang="en-US" altLang="zh-CN" sz="2400" b="1" dirty="0">
                    <a:latin typeface="Times New Roman" panose="02020603050405020304" pitchFamily="18" charset="0"/>
                  </a:endParaRPr>
                </a:p>
              </p:txBody>
            </p:sp>
            <p:sp>
              <p:nvSpPr>
                <p:cNvPr id="100383" name="Rectangle 48"/>
                <p:cNvSpPr/>
                <p:nvPr/>
              </p:nvSpPr>
              <p:spPr>
                <a:xfrm>
                  <a:off x="0" y="1209"/>
                  <a:ext cx="581"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00373" name="Group 49"/>
              <p:cNvGrpSpPr/>
              <p:nvPr/>
            </p:nvGrpSpPr>
            <p:grpSpPr>
              <a:xfrm>
                <a:off x="581" y="1209"/>
                <a:ext cx="768" cy="403"/>
                <a:chOff x="581" y="1209"/>
                <a:chExt cx="768" cy="403"/>
              </a:xfrm>
            </p:grpSpPr>
            <p:sp>
              <p:nvSpPr>
                <p:cNvPr id="100380" name="Rectangle 50"/>
                <p:cNvSpPr/>
                <p:nvPr/>
              </p:nvSpPr>
              <p:spPr>
                <a:xfrm>
                  <a:off x="624" y="1209"/>
                  <a:ext cx="682" cy="403"/>
                </a:xfrm>
                <a:prstGeom prst="rect">
                  <a:avLst/>
                </a:prstGeom>
                <a:noFill/>
                <a:ln w="9525">
                  <a:noFill/>
                </a:ln>
              </p:spPr>
              <p:txBody>
                <a:bodyPr/>
                <a:p>
                  <a:pPr algn="ctr" eaLnBrk="1" hangingPunct="1"/>
                  <a:r>
                    <a:rPr lang="en-US" altLang="zh-CN" sz="2400" b="1" dirty="0">
                      <a:latin typeface="Times New Roman" panose="02020603050405020304" pitchFamily="18" charset="0"/>
                    </a:rPr>
                    <a:t>9</a:t>
                  </a:r>
                  <a:endParaRPr lang="en-US" altLang="zh-CN" sz="2400" b="1" dirty="0">
                    <a:latin typeface="Times New Roman" panose="02020603050405020304" pitchFamily="18" charset="0"/>
                  </a:endParaRPr>
                </a:p>
                <a:p>
                  <a:pPr algn="ctr"/>
                  <a:endParaRPr lang="en-US" altLang="zh-CN" sz="2400" b="1" dirty="0">
                    <a:latin typeface="Times New Roman" panose="02020603050405020304" pitchFamily="18" charset="0"/>
                  </a:endParaRPr>
                </a:p>
              </p:txBody>
            </p:sp>
            <p:sp>
              <p:nvSpPr>
                <p:cNvPr id="100381" name="Rectangle 51"/>
                <p:cNvSpPr/>
                <p:nvPr/>
              </p:nvSpPr>
              <p:spPr>
                <a:xfrm>
                  <a:off x="581" y="1209"/>
                  <a:ext cx="7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00374" name="Group 52"/>
              <p:cNvGrpSpPr/>
              <p:nvPr/>
            </p:nvGrpSpPr>
            <p:grpSpPr>
              <a:xfrm>
                <a:off x="1349" y="1209"/>
                <a:ext cx="768" cy="403"/>
                <a:chOff x="1349" y="1209"/>
                <a:chExt cx="768" cy="403"/>
              </a:xfrm>
            </p:grpSpPr>
            <p:sp>
              <p:nvSpPr>
                <p:cNvPr id="100378" name="Rectangle 53"/>
                <p:cNvSpPr/>
                <p:nvPr/>
              </p:nvSpPr>
              <p:spPr>
                <a:xfrm>
                  <a:off x="1392" y="1209"/>
                  <a:ext cx="682" cy="403"/>
                </a:xfrm>
                <a:prstGeom prst="rect">
                  <a:avLst/>
                </a:prstGeom>
                <a:noFill/>
                <a:ln w="9525">
                  <a:noFill/>
                </a:ln>
              </p:spPr>
              <p:txBody>
                <a:bodyPr/>
                <a:p>
                  <a:pPr algn="ctr" eaLnBrk="1" hangingPunct="1"/>
                  <a:r>
                    <a:rPr lang="en-US" altLang="zh-CN" sz="2400" b="1" dirty="0">
                      <a:latin typeface="Times New Roman" panose="02020603050405020304" pitchFamily="18" charset="0"/>
                    </a:rPr>
                    <a:t>2</a:t>
                  </a:r>
                  <a:endParaRPr lang="en-US" altLang="zh-CN" sz="2400" b="1" dirty="0">
                    <a:latin typeface="Times New Roman" panose="02020603050405020304" pitchFamily="18" charset="0"/>
                  </a:endParaRPr>
                </a:p>
                <a:p>
                  <a:pPr algn="ctr"/>
                  <a:endParaRPr lang="en-US" altLang="zh-CN" sz="2400" b="1" dirty="0">
                    <a:latin typeface="Times New Roman" panose="02020603050405020304" pitchFamily="18" charset="0"/>
                  </a:endParaRPr>
                </a:p>
              </p:txBody>
            </p:sp>
            <p:sp>
              <p:nvSpPr>
                <p:cNvPr id="100379" name="Rectangle 54"/>
                <p:cNvSpPr/>
                <p:nvPr/>
              </p:nvSpPr>
              <p:spPr>
                <a:xfrm>
                  <a:off x="1349" y="1209"/>
                  <a:ext cx="7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00375" name="Group 55"/>
              <p:cNvGrpSpPr/>
              <p:nvPr/>
            </p:nvGrpSpPr>
            <p:grpSpPr>
              <a:xfrm>
                <a:off x="2117" y="1209"/>
                <a:ext cx="768" cy="403"/>
                <a:chOff x="2117" y="1209"/>
                <a:chExt cx="768" cy="403"/>
              </a:xfrm>
            </p:grpSpPr>
            <p:sp>
              <p:nvSpPr>
                <p:cNvPr id="100376" name="Rectangle 56"/>
                <p:cNvSpPr/>
                <p:nvPr/>
              </p:nvSpPr>
              <p:spPr>
                <a:xfrm>
                  <a:off x="2160" y="1209"/>
                  <a:ext cx="682" cy="403"/>
                </a:xfrm>
                <a:prstGeom prst="rect">
                  <a:avLst/>
                </a:prstGeom>
                <a:noFill/>
                <a:ln w="9525">
                  <a:noFill/>
                </a:ln>
              </p:spPr>
              <p:txBody>
                <a:bodyPr/>
                <a:p>
                  <a:pPr algn="ctr" eaLnBrk="1" hangingPunct="1"/>
                  <a:r>
                    <a:rPr lang="en-US" altLang="zh-CN" sz="2400" b="1" dirty="0">
                      <a:latin typeface="Times New Roman" panose="02020603050405020304" pitchFamily="18" charset="0"/>
                    </a:rPr>
                    <a:t>7</a:t>
                  </a:r>
                  <a:endParaRPr lang="en-US" altLang="zh-CN" sz="2400" b="1" dirty="0">
                    <a:latin typeface="Times New Roman" panose="02020603050405020304" pitchFamily="18" charset="0"/>
                  </a:endParaRPr>
                </a:p>
                <a:p>
                  <a:pPr algn="ctr"/>
                  <a:endParaRPr lang="en-US" altLang="zh-CN" sz="2400" b="1" dirty="0">
                    <a:latin typeface="Times New Roman" panose="02020603050405020304" pitchFamily="18" charset="0"/>
                  </a:endParaRPr>
                </a:p>
              </p:txBody>
            </p:sp>
            <p:sp>
              <p:nvSpPr>
                <p:cNvPr id="100377" name="Rectangle 57"/>
                <p:cNvSpPr/>
                <p:nvPr/>
              </p:nvSpPr>
              <p:spPr>
                <a:xfrm>
                  <a:off x="2117" y="1209"/>
                  <a:ext cx="7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sp>
          <p:nvSpPr>
            <p:cNvPr id="100357" name="Rectangle 58"/>
            <p:cNvSpPr/>
            <p:nvPr/>
          </p:nvSpPr>
          <p:spPr>
            <a:xfrm>
              <a:off x="-3" y="-3"/>
              <a:ext cx="3387" cy="1618"/>
            </a:xfrm>
            <a:prstGeom prst="rect">
              <a:avLst/>
            </a:prstGeom>
            <a:noFill/>
            <a:ln w="9525"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sp>
        <p:nvSpPr>
          <p:cNvPr id="485435" name="Rectangle 59"/>
          <p:cNvSpPr>
            <a:spLocks noChangeArrowheads="1"/>
          </p:cNvSpPr>
          <p:nvPr/>
        </p:nvSpPr>
        <p:spPr bwMode="auto">
          <a:xfrm>
            <a:off x="250825" y="4149725"/>
            <a:ext cx="8642350" cy="2408238"/>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T</a:t>
            </a:r>
            <a:r>
              <a:rPr kumimoji="1" lang="en-US" altLang="zh-CN" sz="3200" b="1" i="0" u="none" strike="noStrike" kern="1200" cap="none" spc="0" normalizeH="0" baseline="-3000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0</a:t>
            </a:r>
            <a:r>
              <a:rPr kumimoji="1" lang="zh-CN" altLang="en-US" sz="3200" b="1" i="0" u="none" strike="noStrike" kern="120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时刻系统是安全的</a:t>
            </a:r>
            <a:r>
              <a:rPr kumimoji="1" lang="en-US" altLang="zh-CN" sz="3200" b="1" i="0" u="none" strike="noStrike" kern="120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a:t>
            </a:r>
            <a:endParaRPr kumimoji="1" lang="en-US" altLang="zh-CN" sz="3200" b="1" i="0" u="none" strike="noStrike" kern="120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存在一个安全序列</a:t>
            </a:r>
            <a:r>
              <a:rPr kumimoji="1" lang="en-US" altLang="zh-CN" sz="3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&lt;P2,P1,P3&gt;</a:t>
            </a:r>
            <a:endParaRPr kumimoji="1" lang="en-US" altLang="zh-CN" sz="3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只要系统按此进程序列分配资源，就能使每个进程都顺利完成。</a:t>
            </a:r>
            <a:endParaRPr kumimoji="1" lang="zh-CN" altLang="en-US" sz="2800" b="1" i="0" u="none" strike="noStrike" kern="1200" cap="none" spc="0" normalizeH="0" baseline="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3200" b="1" i="0" u="none" strike="noStrike" kern="120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6402"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a:ln>
                  <a:noFill/>
                </a:ln>
                <a:solidFill>
                  <a:schemeClr val="folHlink"/>
                </a:solidFill>
                <a:effectLst>
                  <a:outerShdw blurRad="38100" dist="38100" dir="2700000" algn="tl">
                    <a:srgbClr val="C0C0C0"/>
                  </a:outerShdw>
                </a:effectLst>
                <a:uLnTx/>
                <a:uFillTx/>
                <a:latin typeface="+mj-lt"/>
                <a:ea typeface="仿宋_GB2312" pitchFamily="49" charset="-122"/>
                <a:cs typeface="+mj-cs"/>
              </a:rPr>
              <a:t>安全状态向不安全状态转换</a:t>
            </a:r>
            <a:r>
              <a:rPr kumimoji="0" lang="zh-CN" altLang="en-US" sz="4400" b="0" i="0" u="none" strike="noStrike" kern="0" cap="none" spc="0" normalizeH="0" baseline="0" noProof="0">
                <a:ln>
                  <a:noFill/>
                </a:ln>
                <a:solidFill>
                  <a:schemeClr val="folHlink"/>
                </a:solidFill>
                <a:effectLst/>
                <a:uLnTx/>
                <a:uFillTx/>
                <a:latin typeface="+mj-lt"/>
                <a:ea typeface="+mj-ea"/>
                <a:cs typeface="+mj-cs"/>
              </a:rPr>
              <a:t> </a:t>
            </a:r>
            <a:endParaRPr kumimoji="0" lang="zh-CN" altLang="en-US" sz="4400" b="0" i="0" u="none" strike="noStrike" kern="0" cap="none" spc="0" normalizeH="0" baseline="0" noProof="0">
              <a:ln>
                <a:noFill/>
              </a:ln>
              <a:solidFill>
                <a:schemeClr val="folHlink"/>
              </a:solidFill>
              <a:effectLst/>
              <a:uLnTx/>
              <a:uFillTx/>
              <a:latin typeface="+mj-lt"/>
              <a:ea typeface="+mj-ea"/>
              <a:cs typeface="+mj-cs"/>
            </a:endParaRPr>
          </a:p>
        </p:txBody>
      </p:sp>
      <p:sp>
        <p:nvSpPr>
          <p:cNvPr id="486403"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如果不按照安全顺序分配资源，则系统将由安全状态进入不安全状态 。</a:t>
            </a:r>
            <a:endPar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例如，在</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T</a:t>
            </a:r>
            <a:r>
              <a:rPr kumimoji="0" lang="en-US" altLang="zh-CN" sz="3200" b="1" i="0" u="none" strike="noStrike" kern="0" cap="none" spc="0" normalizeH="0" baseline="-3000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0</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时刻，</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P3</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又请求</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台打印机，若系统此时把剩余</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3</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台中的</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台分配给</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P3</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，则系统进入不安全状态。因为，此时将找不到一个安全序列。</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sz="32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所以</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T</a:t>
            </a:r>
            <a:r>
              <a:rPr kumimoji="0" lang="en-US" altLang="zh-CN" sz="3200" b="1" i="0" u="none" strike="noStrike" kern="0" cap="none" spc="0" normalizeH="0" baseline="-3000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0</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时刻，不能满足</a:t>
            </a: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P3</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的请求。</a:t>
            </a:r>
            <a:endParaRPr kumimoji="0" lang="zh-CN" altLang="en-US" sz="32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86402"/>
                                        </p:tgtEl>
                                        <p:attrNameLst>
                                          <p:attrName>style.visibility</p:attrName>
                                        </p:attrNameLst>
                                      </p:cBhvr>
                                      <p:to>
                                        <p:strVal val="visible"/>
                                      </p:to>
                                    </p:set>
                                    <p:animEffect transition="in" filter="fade">
                                      <p:cBhvr>
                                        <p:cTn id="7" dur="2000"/>
                                        <p:tgtEl>
                                          <p:spTgt spid="4864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86403">
                                            <p:txEl>
                                              <p:charRg st="0" end="33"/>
                                            </p:txEl>
                                          </p:spTgt>
                                        </p:tgtEl>
                                        <p:attrNameLst>
                                          <p:attrName>style.visibility</p:attrName>
                                        </p:attrNameLst>
                                      </p:cBhvr>
                                      <p:to>
                                        <p:strVal val="visible"/>
                                      </p:to>
                                    </p:set>
                                    <p:animEffect transition="in" filter="fade">
                                      <p:cBhvr>
                                        <p:cTn id="12" dur="2000"/>
                                        <p:tgtEl>
                                          <p:spTgt spid="486403">
                                            <p:txEl>
                                              <p:charRg st="0" end="3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86403">
                                            <p:txEl>
                                              <p:charRg st="33" end="102"/>
                                            </p:txEl>
                                          </p:spTgt>
                                        </p:tgtEl>
                                        <p:attrNameLst>
                                          <p:attrName>style.visibility</p:attrName>
                                        </p:attrNameLst>
                                      </p:cBhvr>
                                      <p:to>
                                        <p:strVal val="visible"/>
                                      </p:to>
                                    </p:set>
                                    <p:animEffect transition="in" filter="fade">
                                      <p:cBhvr>
                                        <p:cTn id="17" dur="2000"/>
                                        <p:tgtEl>
                                          <p:spTgt spid="486403">
                                            <p:txEl>
                                              <p:charRg st="33" end="10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86403">
                                            <p:txEl>
                                              <p:charRg st="102" end="120"/>
                                            </p:txEl>
                                          </p:spTgt>
                                        </p:tgtEl>
                                        <p:attrNameLst>
                                          <p:attrName>style.visibility</p:attrName>
                                        </p:attrNameLst>
                                      </p:cBhvr>
                                      <p:to>
                                        <p:strVal val="visible"/>
                                      </p:to>
                                    </p:set>
                                    <p:animEffect transition="in" filter="fade">
                                      <p:cBhvr>
                                        <p:cTn id="22" dur="2000"/>
                                        <p:tgtEl>
                                          <p:spTgt spid="486403">
                                            <p:txEl>
                                              <p:charRg st="102" end="1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6402" grpId="0"/>
      <p:bldP spid="486403"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3634"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mj-ea"/>
                <a:cs typeface="+mj-cs"/>
              </a:rPr>
              <a:t>3.6.3 </a:t>
            </a: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mj-ea"/>
                <a:cs typeface="+mj-cs"/>
              </a:rPr>
              <a:t>利用银行家算法避免死锁</a:t>
            </a:r>
            <a:endPar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mj-ea"/>
              <a:cs typeface="+mj-cs"/>
            </a:endParaRPr>
          </a:p>
        </p:txBody>
      </p:sp>
      <p:sp>
        <p:nvSpPr>
          <p:cNvPr id="106499" name="Rectangle 3"/>
          <p:cNvSpPr>
            <a:spLocks noGrp="1" noRot="1"/>
          </p:cNvSpPr>
          <p:nvPr>
            <p:ph type="body" idx="4294967295"/>
          </p:nvPr>
        </p:nvSpPr>
        <p:spPr>
          <a:xfrm>
            <a:off x="533400" y="1901825"/>
            <a:ext cx="8077200" cy="4498975"/>
          </a:xfrm>
          <a:ln/>
        </p:spPr>
        <p:txBody>
          <a:bodyPr vert="horz" wrap="square" lIns="91440" tIns="45720" rIns="91440" bIns="45720" anchor="t" anchorCtr="0"/>
          <a:p>
            <a:pPr eaLnBrk="1" hangingPunct="1">
              <a:lnSpc>
                <a:spcPct val="120000"/>
              </a:lnSpc>
            </a:pPr>
            <a:r>
              <a:rPr lang="zh-CN" altLang="en-US" b="1" dirty="0"/>
              <a:t>避免死锁的关键在于</a:t>
            </a:r>
            <a:r>
              <a:rPr lang="zh-CN" altLang="en-US" b="1" i="1" u="sng" dirty="0">
                <a:solidFill>
                  <a:schemeClr val="folHlink"/>
                </a:solidFill>
              </a:rPr>
              <a:t>如何准确的预测是否会出现死锁，从而避免死锁。</a:t>
            </a:r>
            <a:r>
              <a:rPr lang="zh-CN" altLang="en-US" b="1" dirty="0"/>
              <a:t>最有代表性的避免死锁的算法是</a:t>
            </a:r>
            <a:r>
              <a:rPr lang="en-US" altLang="zh-CN" b="1" dirty="0"/>
              <a:t>Dijkstra</a:t>
            </a:r>
            <a:r>
              <a:rPr lang="zh-CN" altLang="en-US" b="1" dirty="0"/>
              <a:t>的银行家算法。</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53634"/>
                                        </p:tgtEl>
                                        <p:attrNameLst>
                                          <p:attrName>style.visibility</p:attrName>
                                        </p:attrNameLst>
                                      </p:cBhvr>
                                      <p:to>
                                        <p:strVal val="visible"/>
                                      </p:to>
                                    </p:set>
                                    <p:animEffect transition="in" filter="fade">
                                      <p:cBhvr>
                                        <p:cTn id="7" dur="2000"/>
                                        <p:tgtEl>
                                          <p:spTgt spid="4536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6499">
                                            <p:txEl>
                                              <p:charRg st="0" end="61"/>
                                            </p:txEl>
                                          </p:spTgt>
                                        </p:tgtEl>
                                        <p:attrNameLst>
                                          <p:attrName>style.visibility</p:attrName>
                                        </p:attrNameLst>
                                      </p:cBhvr>
                                      <p:to>
                                        <p:strVal val="visible"/>
                                      </p:to>
                                    </p:set>
                                    <p:animEffect transition="in" filter="fade">
                                      <p:cBhvr>
                                        <p:cTn id="12" dur="2000"/>
                                        <p:tgtEl>
                                          <p:spTgt spid="106499">
                                            <p:txEl>
                                              <p:charRg st="0" end="6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34" grpId="0"/>
      <p:bldP spid="106499"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2612" name="Rectangle 4"/>
          <p:cNvSpPr>
            <a:spLocks noGrp="1" noChangeArrowheads="1"/>
          </p:cNvSpPr>
          <p:nvPr>
            <p:ph type="title" idx="4294967295"/>
          </p:nvPr>
        </p:nvSpPr>
        <p:spPr>
          <a:xfrm>
            <a:off x="685800" y="44450"/>
            <a:ext cx="7772400" cy="1143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sng" strike="noStrike" kern="0" cap="none" spc="0" normalizeH="0" baseline="0" noProof="0" dirty="0">
                <a:ln>
                  <a:noFill/>
                </a:ln>
                <a:solidFill>
                  <a:schemeClr val="folHlink"/>
                </a:solidFill>
                <a:effectLst>
                  <a:outerShdw blurRad="38100" dist="38100" dir="2700000" algn="tl">
                    <a:srgbClr val="C0C0C0"/>
                  </a:outerShdw>
                </a:effectLst>
                <a:uLnTx/>
                <a:uFillTx/>
                <a:latin typeface="+mj-lt"/>
                <a:ea typeface="+mj-ea"/>
                <a:cs typeface="+mj-cs"/>
              </a:rPr>
              <a:t>银行家算法</a:t>
            </a:r>
            <a:r>
              <a:rPr kumimoji="0" lang="zh-CN" altLang="en-US" sz="4000" b="0" i="0" u="none" strike="noStrike" kern="0" cap="none" spc="0" normalizeH="0" baseline="0" noProof="0" dirty="0">
                <a:ln>
                  <a:noFill/>
                </a:ln>
                <a:solidFill>
                  <a:schemeClr val="tx2"/>
                </a:solidFill>
                <a:effectLst/>
                <a:uLnTx/>
                <a:uFillTx/>
                <a:latin typeface="+mj-lt"/>
                <a:ea typeface="+mj-ea"/>
                <a:cs typeface="+mj-cs"/>
              </a:rPr>
              <a:t> </a:t>
            </a:r>
            <a:endParaRPr kumimoji="0" lang="zh-CN" altLang="en-US" sz="4000" b="0" i="0" u="none" strike="noStrike" kern="0" cap="none" spc="0" normalizeH="0" baseline="0" noProof="0" dirty="0">
              <a:ln>
                <a:noFill/>
              </a:ln>
              <a:solidFill>
                <a:schemeClr val="tx2"/>
              </a:solidFill>
              <a:effectLst/>
              <a:uLnTx/>
              <a:uFillTx/>
              <a:latin typeface="+mj-lt"/>
              <a:ea typeface="+mj-ea"/>
              <a:cs typeface="+mj-cs"/>
            </a:endParaRPr>
          </a:p>
        </p:txBody>
      </p:sp>
      <p:sp>
        <p:nvSpPr>
          <p:cNvPr id="452613" name="Rectangle 5"/>
          <p:cNvSpPr>
            <a:spLocks noGrp="1" noChangeArrowheads="1"/>
          </p:cNvSpPr>
          <p:nvPr>
            <p:ph type="body" idx="1"/>
          </p:nvPr>
        </p:nvSpPr>
        <p:spPr>
          <a:xfrm>
            <a:off x="395288" y="1111250"/>
            <a:ext cx="8367713" cy="4648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mn-ea"/>
                <a:cs typeface="+mn-cs"/>
              </a:rPr>
              <a:t>问题描述：</a:t>
            </a:r>
            <a:endPar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该算法可用于银行发放一笔贷款前，预测该笔贷款是否会引起银行资金周转问题。</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这里，银行的资金就类似于计算机系统的资源，贷款业务类似于计算机的资源分配。银行家算法能预测一笔贷款业务对银行是否是安全的，该算法也能预测一次资源分配对计算机系统是否是安全的。</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为实现银行家算法，系统中必须设置若干数据结构。</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52612"/>
                                        </p:tgtEl>
                                        <p:attrNameLst>
                                          <p:attrName>style.visibility</p:attrName>
                                        </p:attrNameLst>
                                      </p:cBhvr>
                                      <p:to>
                                        <p:strVal val="visible"/>
                                      </p:to>
                                    </p:set>
                                    <p:animEffect transition="in" filter="fade">
                                      <p:cBhvr>
                                        <p:cTn id="7" dur="2000"/>
                                        <p:tgtEl>
                                          <p:spTgt spid="4526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2613">
                                            <p:txEl>
                                              <p:charRg st="0" end="6"/>
                                            </p:txEl>
                                          </p:spTgt>
                                        </p:tgtEl>
                                        <p:attrNameLst>
                                          <p:attrName>style.visibility</p:attrName>
                                        </p:attrNameLst>
                                      </p:cBhvr>
                                      <p:to>
                                        <p:strVal val="visible"/>
                                      </p:to>
                                    </p:set>
                                    <p:animEffect transition="in" filter="fade">
                                      <p:cBhvr>
                                        <p:cTn id="12" dur="2000"/>
                                        <p:tgtEl>
                                          <p:spTgt spid="452613">
                                            <p:txEl>
                                              <p:charRg st="0"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52613">
                                            <p:txEl>
                                              <p:charRg st="6" end="43"/>
                                            </p:txEl>
                                          </p:spTgt>
                                        </p:tgtEl>
                                        <p:attrNameLst>
                                          <p:attrName>style.visibility</p:attrName>
                                        </p:attrNameLst>
                                      </p:cBhvr>
                                      <p:to>
                                        <p:strVal val="visible"/>
                                      </p:to>
                                    </p:set>
                                    <p:animEffect transition="in" filter="fade">
                                      <p:cBhvr>
                                        <p:cTn id="17" dur="2000"/>
                                        <p:tgtEl>
                                          <p:spTgt spid="452613">
                                            <p:txEl>
                                              <p:charRg st="6" end="4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52613">
                                            <p:txEl>
                                              <p:charRg st="43" end="131"/>
                                            </p:txEl>
                                          </p:spTgt>
                                        </p:tgtEl>
                                        <p:attrNameLst>
                                          <p:attrName>style.visibility</p:attrName>
                                        </p:attrNameLst>
                                      </p:cBhvr>
                                      <p:to>
                                        <p:strVal val="visible"/>
                                      </p:to>
                                    </p:set>
                                    <p:animEffect transition="in" filter="fade">
                                      <p:cBhvr>
                                        <p:cTn id="22" dur="2000"/>
                                        <p:tgtEl>
                                          <p:spTgt spid="452613">
                                            <p:txEl>
                                              <p:charRg st="43" end="13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52613">
                                            <p:txEl>
                                              <p:charRg st="131" end="155"/>
                                            </p:txEl>
                                          </p:spTgt>
                                        </p:tgtEl>
                                        <p:attrNameLst>
                                          <p:attrName>style.visibility</p:attrName>
                                        </p:attrNameLst>
                                      </p:cBhvr>
                                      <p:to>
                                        <p:strVal val="visible"/>
                                      </p:to>
                                    </p:set>
                                    <p:animEffect transition="in" filter="fade">
                                      <p:cBhvr>
                                        <p:cTn id="27" dur="2000"/>
                                        <p:tgtEl>
                                          <p:spTgt spid="452613">
                                            <p:txEl>
                                              <p:charRg st="131" end="15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2" grpId="0"/>
      <p:bldP spid="452613"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标题 1"/>
          <p:cNvSpPr>
            <a:spLocks noGrp="1"/>
          </p:cNvSpPr>
          <p:nvPr>
            <p:ph type="title"/>
          </p:nvPr>
        </p:nvSpPr>
        <p:spPr>
          <a:ln/>
        </p:spPr>
        <p:txBody>
          <a:bodyPr vert="horz" wrap="square" lIns="91440" tIns="45720" rIns="91440" bIns="45720" anchor="ctr" anchorCtr="0"/>
          <a:p>
            <a:r>
              <a:rPr lang="zh-CN" altLang="en-US" b="1" dirty="0"/>
              <a:t>银行家算法的资源分配思想</a:t>
            </a:r>
            <a:endParaRPr lang="zh-CN" altLang="en-US" b="1" dirty="0"/>
          </a:p>
        </p:txBody>
      </p:sp>
      <p:sp>
        <p:nvSpPr>
          <p:cNvPr id="104451" name="内容占位符 2"/>
          <p:cNvSpPr>
            <a:spLocks noGrp="1"/>
          </p:cNvSpPr>
          <p:nvPr>
            <p:ph idx="1"/>
          </p:nvPr>
        </p:nvSpPr>
        <p:spPr>
          <a:xfrm>
            <a:off x="214313" y="1500188"/>
            <a:ext cx="8540750" cy="4498975"/>
          </a:xfrm>
          <a:ln/>
        </p:spPr>
        <p:txBody>
          <a:bodyPr vert="horz" wrap="square" lIns="91440" tIns="45720" rIns="91440" bIns="45720" anchor="t" anchorCtr="0"/>
          <a:p>
            <a:r>
              <a:rPr lang="zh-CN" altLang="en-US" dirty="0"/>
              <a:t>为实现银行家算法，每个进程在进入系统时，它必须申明在运行过程中，可能需要每种资源类型的最大单元数目，其数目不应该超过系统所拥有的资源总量。</a:t>
            </a:r>
            <a:endParaRPr lang="en-US" altLang="zh-CN" dirty="0"/>
          </a:p>
          <a:p>
            <a:r>
              <a:rPr lang="zh-CN" altLang="en-US" dirty="0"/>
              <a:t>当进程请求一组资源时，系统必须先确定是否有足够的资源分配给该进程。若有，再进一步就算在将这些资源分配给进程后，是否会使系统进入不安全状态。如果不会，才将资源分配给它，否则让进程等待。</a:t>
            </a:r>
            <a:endParaRPr lang="zh-CN" altLang="en-US" dirty="0"/>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6594" name="Rectangle 2"/>
          <p:cNvSpPr>
            <a:spLocks noGrp="1" noRot="1" noChangeArrowheads="1"/>
          </p:cNvSpPr>
          <p:nvPr>
            <p:ph type="title" idx="4294967295"/>
          </p:nvPr>
        </p:nvSpPr>
        <p:spPr>
          <a:xfrm>
            <a:off x="301625" y="44450"/>
            <a:ext cx="8540750" cy="1143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2.</a:t>
            </a:r>
            <a:r>
              <a:rPr kumimoji="0" lang="zh-CN" altLang="en-US" sz="40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银行家算法</a:t>
            </a:r>
            <a:r>
              <a:rPr kumimoji="0" lang="zh-CN" altLang="en-US" sz="4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 </a:t>
            </a:r>
            <a:endParaRPr kumimoji="0" lang="zh-CN" altLang="en-US" sz="4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08547" name="Rectangle 3"/>
          <p:cNvSpPr>
            <a:spLocks noGrp="1" noRot="1"/>
          </p:cNvSpPr>
          <p:nvPr>
            <p:ph type="body" idx="4294967295"/>
          </p:nvPr>
        </p:nvSpPr>
        <p:spPr>
          <a:xfrm>
            <a:off x="323850" y="1182688"/>
            <a:ext cx="8512175" cy="5032375"/>
          </a:xfrm>
          <a:ln/>
        </p:spPr>
        <p:txBody>
          <a:bodyPr vert="horz" wrap="square" lIns="91440" tIns="45720" rIns="91440" bIns="45720" anchor="t" anchorCtr="0"/>
          <a:p>
            <a:pPr eaLnBrk="1" hangingPunct="1">
              <a:lnSpc>
                <a:spcPct val="110000"/>
              </a:lnSpc>
              <a:buNone/>
            </a:pPr>
            <a:r>
              <a:rPr lang="en-US" altLang="zh-CN" sz="2800" b="1" dirty="0">
                <a:solidFill>
                  <a:schemeClr val="folHlink"/>
                </a:solidFill>
              </a:rPr>
              <a:t> (</a:t>
            </a:r>
            <a:r>
              <a:rPr lang="zh-CN" altLang="en-US" sz="2800" b="1" dirty="0">
                <a:solidFill>
                  <a:schemeClr val="folHlink"/>
                </a:solidFill>
              </a:rPr>
              <a:t>一</a:t>
            </a:r>
            <a:r>
              <a:rPr lang="en-US" altLang="zh-CN" sz="2800" b="1" dirty="0">
                <a:solidFill>
                  <a:schemeClr val="folHlink"/>
                </a:solidFill>
              </a:rPr>
              <a:t>). </a:t>
            </a:r>
            <a:r>
              <a:rPr lang="zh-CN" altLang="en-US" sz="2800" b="1" dirty="0">
                <a:solidFill>
                  <a:schemeClr val="folHlink"/>
                </a:solidFill>
              </a:rPr>
              <a:t>银行家算法中的数据结构</a:t>
            </a:r>
            <a:r>
              <a:rPr lang="zh-CN" altLang="en-US" sz="2800" b="1" dirty="0"/>
              <a:t> </a:t>
            </a:r>
            <a:endParaRPr lang="zh-CN" altLang="en-US" sz="2800" b="1" dirty="0"/>
          </a:p>
          <a:p>
            <a:pPr eaLnBrk="1" hangingPunct="1">
              <a:lnSpc>
                <a:spcPct val="110000"/>
              </a:lnSpc>
              <a:buNone/>
            </a:pPr>
            <a:r>
              <a:rPr lang="zh-CN" altLang="en-US" sz="2800" b="1" dirty="0">
                <a:solidFill>
                  <a:schemeClr val="hlink"/>
                </a:solidFill>
              </a:rPr>
              <a:t>（</a:t>
            </a:r>
            <a:r>
              <a:rPr lang="en-US" altLang="zh-CN" sz="2800" b="1" dirty="0">
                <a:solidFill>
                  <a:schemeClr val="hlink"/>
                </a:solidFill>
              </a:rPr>
              <a:t>1</a:t>
            </a:r>
            <a:r>
              <a:rPr lang="zh-CN" altLang="en-US" sz="2800" b="1" dirty="0">
                <a:solidFill>
                  <a:schemeClr val="hlink"/>
                </a:solidFill>
              </a:rPr>
              <a:t>）可利用资源向量</a:t>
            </a:r>
            <a:r>
              <a:rPr lang="en-US" altLang="zh-CN" sz="2800" b="1" dirty="0">
                <a:solidFill>
                  <a:schemeClr val="hlink"/>
                </a:solidFill>
              </a:rPr>
              <a:t>Available</a:t>
            </a:r>
            <a:r>
              <a:rPr lang="zh-CN" altLang="en-US" sz="2800" b="1" dirty="0">
                <a:solidFill>
                  <a:schemeClr val="hlink"/>
                </a:solidFill>
              </a:rPr>
              <a:t>：</a:t>
            </a:r>
            <a:r>
              <a:rPr lang="zh-CN" altLang="en-US" sz="2800" b="1" dirty="0"/>
              <a:t>这是一个含有</a:t>
            </a:r>
            <a:r>
              <a:rPr lang="en-US" altLang="zh-CN" sz="2800" b="1" dirty="0"/>
              <a:t>m</a:t>
            </a:r>
            <a:r>
              <a:rPr lang="zh-CN" altLang="en-US" sz="2800" b="1" dirty="0"/>
              <a:t>个元素的数组，其中的每一个元素代表一类可利用的资源数目。其初始值是系统中所配置的该类全部可用资源的数目，其数值随该类资源的分配和回收而动态地改变。 </a:t>
            </a:r>
            <a:r>
              <a:rPr lang="en-US" altLang="zh-CN" sz="2800" b="1" i="1" u="sng" dirty="0">
                <a:solidFill>
                  <a:schemeClr val="folHlink"/>
                </a:solidFill>
              </a:rPr>
              <a:t>Available[j]=k,</a:t>
            </a:r>
            <a:r>
              <a:rPr lang="zh-CN" altLang="en-US" sz="2800" b="1" i="1" u="sng" dirty="0">
                <a:solidFill>
                  <a:schemeClr val="folHlink"/>
                </a:solidFill>
              </a:rPr>
              <a:t>表示系统中现有</a:t>
            </a:r>
            <a:r>
              <a:rPr lang="en-US" altLang="zh-CN" sz="2800" b="1" i="1" u="sng" dirty="0">
                <a:solidFill>
                  <a:schemeClr val="folHlink"/>
                </a:solidFill>
              </a:rPr>
              <a:t>Rj</a:t>
            </a:r>
            <a:r>
              <a:rPr lang="zh-CN" altLang="en-US" sz="2800" b="1" i="1" u="sng" dirty="0">
                <a:solidFill>
                  <a:schemeClr val="folHlink"/>
                </a:solidFill>
              </a:rPr>
              <a:t>类资源</a:t>
            </a:r>
            <a:r>
              <a:rPr lang="en-US" altLang="zh-CN" sz="2800" b="1" i="1" u="sng" dirty="0">
                <a:solidFill>
                  <a:schemeClr val="folHlink"/>
                </a:solidFill>
              </a:rPr>
              <a:t>k</a:t>
            </a:r>
            <a:r>
              <a:rPr lang="zh-CN" altLang="en-US" sz="2800" b="1" i="1" u="sng" dirty="0">
                <a:solidFill>
                  <a:schemeClr val="folHlink"/>
                </a:solidFill>
              </a:rPr>
              <a:t>个。</a:t>
            </a:r>
            <a:endParaRPr lang="zh-CN" altLang="en-US" sz="2800" b="1" i="1" u="sng" dirty="0">
              <a:solidFill>
                <a:schemeClr val="folHlink"/>
              </a:solidFill>
            </a:endParaRPr>
          </a:p>
          <a:p>
            <a:pPr algn="just" eaLnBrk="1" hangingPunct="1">
              <a:lnSpc>
                <a:spcPct val="110000"/>
              </a:lnSpc>
              <a:buNone/>
            </a:pPr>
            <a:r>
              <a:rPr lang="zh-CN" altLang="en-US" sz="2800" b="1" dirty="0">
                <a:solidFill>
                  <a:schemeClr val="hlink"/>
                </a:solidFill>
              </a:rPr>
              <a:t>（</a:t>
            </a:r>
            <a:r>
              <a:rPr lang="en-US" altLang="zh-CN" sz="2800" b="1" dirty="0">
                <a:solidFill>
                  <a:schemeClr val="hlink"/>
                </a:solidFill>
              </a:rPr>
              <a:t>2</a:t>
            </a:r>
            <a:r>
              <a:rPr lang="zh-CN" altLang="en-US" sz="2800" b="1" dirty="0">
                <a:solidFill>
                  <a:schemeClr val="hlink"/>
                </a:solidFill>
              </a:rPr>
              <a:t>）最大需求矩阵</a:t>
            </a:r>
            <a:r>
              <a:rPr lang="en-US" altLang="zh-CN" sz="2800" b="1" dirty="0">
                <a:solidFill>
                  <a:schemeClr val="hlink"/>
                </a:solidFill>
              </a:rPr>
              <a:t>Max</a:t>
            </a:r>
            <a:r>
              <a:rPr lang="zh-CN" altLang="en-US" sz="2800" b="1" dirty="0">
                <a:solidFill>
                  <a:schemeClr val="hlink"/>
                </a:solidFill>
              </a:rPr>
              <a:t>：</a:t>
            </a:r>
            <a:r>
              <a:rPr lang="zh-CN" altLang="en-US" sz="2800" b="1" dirty="0"/>
              <a:t>这是一个</a:t>
            </a:r>
            <a:r>
              <a:rPr lang="en-US" altLang="zh-CN" sz="2800" b="1" dirty="0"/>
              <a:t>n × m</a:t>
            </a:r>
            <a:r>
              <a:rPr lang="zh-CN" altLang="en-US" sz="2800" b="1" dirty="0"/>
              <a:t>的矩阵，它定义了</a:t>
            </a:r>
            <a:r>
              <a:rPr lang="en-US" altLang="zh-CN" sz="2800" b="1" dirty="0"/>
              <a:t>n</a:t>
            </a:r>
            <a:r>
              <a:rPr lang="zh-CN" altLang="en-US" sz="2800" b="1" dirty="0"/>
              <a:t>个进程中每一个进程对</a:t>
            </a:r>
            <a:r>
              <a:rPr lang="en-US" altLang="zh-CN" sz="2800" b="1" dirty="0"/>
              <a:t>m</a:t>
            </a:r>
            <a:r>
              <a:rPr lang="zh-CN" altLang="en-US" sz="2800" b="1" dirty="0"/>
              <a:t>类资源的最大需求。</a:t>
            </a:r>
            <a:r>
              <a:rPr lang="en-US" altLang="zh-CN" sz="2800" b="1" i="1" u="sng" dirty="0">
                <a:solidFill>
                  <a:schemeClr val="folHlink"/>
                </a:solidFill>
              </a:rPr>
              <a:t>Max[i,j]=K</a:t>
            </a:r>
            <a:r>
              <a:rPr lang="zh-CN" altLang="en-US" sz="2800" b="1" i="1" u="sng" dirty="0">
                <a:solidFill>
                  <a:schemeClr val="folHlink"/>
                </a:solidFill>
              </a:rPr>
              <a:t>，表示进程</a:t>
            </a:r>
            <a:r>
              <a:rPr lang="en-US" altLang="zh-CN" sz="2800" b="1" i="1" u="sng" dirty="0">
                <a:solidFill>
                  <a:schemeClr val="folHlink"/>
                </a:solidFill>
              </a:rPr>
              <a:t>i</a:t>
            </a:r>
            <a:r>
              <a:rPr lang="zh-CN" altLang="en-US" sz="2800" b="1" i="1" u="sng" dirty="0">
                <a:solidFill>
                  <a:schemeClr val="folHlink"/>
                </a:solidFill>
              </a:rPr>
              <a:t>需要</a:t>
            </a:r>
            <a:r>
              <a:rPr lang="en-US" altLang="zh-CN" sz="2800" b="1" i="1" u="sng" dirty="0">
                <a:solidFill>
                  <a:schemeClr val="folHlink"/>
                </a:solidFill>
              </a:rPr>
              <a:t>Rj</a:t>
            </a:r>
            <a:r>
              <a:rPr lang="zh-CN" altLang="en-US" sz="2800" b="1" i="1" u="sng" dirty="0">
                <a:solidFill>
                  <a:schemeClr val="folHlink"/>
                </a:solidFill>
              </a:rPr>
              <a:t>类资源的最大数目为</a:t>
            </a:r>
            <a:r>
              <a:rPr lang="en-US" altLang="zh-CN" sz="2800" b="1" i="1" u="sng" dirty="0">
                <a:solidFill>
                  <a:schemeClr val="folHlink"/>
                </a:solidFill>
              </a:rPr>
              <a:t>K</a:t>
            </a:r>
            <a:r>
              <a:rPr lang="zh-CN" altLang="en-US" sz="2800" b="1" i="1" u="sng" dirty="0">
                <a:solidFill>
                  <a:schemeClr val="folHlink"/>
                </a:solidFill>
              </a:rPr>
              <a:t>。</a:t>
            </a:r>
            <a:endParaRPr lang="zh-CN" altLang="en-US" sz="2800" b="1" i="1" u="sng" dirty="0">
              <a:solidFill>
                <a:schemeClr val="folHlink"/>
              </a:solidFill>
            </a:endParaRPr>
          </a:p>
          <a:p>
            <a:pPr algn="just" eaLnBrk="1" hangingPunct="1">
              <a:lnSpc>
                <a:spcPct val="110000"/>
              </a:lnSpc>
              <a:buNone/>
            </a:pPr>
            <a:r>
              <a:rPr lang="zh-CN" altLang="en-US" sz="2800" b="1" dirty="0"/>
              <a:t>   </a:t>
            </a:r>
            <a:endParaRPr lang="zh-CN" altLang="en-US" sz="28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66594"/>
                                        </p:tgtEl>
                                        <p:attrNameLst>
                                          <p:attrName>style.visibility</p:attrName>
                                        </p:attrNameLst>
                                      </p:cBhvr>
                                      <p:to>
                                        <p:strVal val="visible"/>
                                      </p:to>
                                    </p:set>
                                    <p:animEffect transition="in" filter="fade">
                                      <p:cBhvr>
                                        <p:cTn id="7" dur="2000"/>
                                        <p:tgtEl>
                                          <p:spTgt spid="3665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8547">
                                            <p:txEl>
                                              <p:charRg st="0" end="19"/>
                                            </p:txEl>
                                          </p:spTgt>
                                        </p:tgtEl>
                                        <p:attrNameLst>
                                          <p:attrName>style.visibility</p:attrName>
                                        </p:attrNameLst>
                                      </p:cBhvr>
                                      <p:to>
                                        <p:strVal val="visible"/>
                                      </p:to>
                                    </p:set>
                                    <p:animEffect transition="in" filter="fade">
                                      <p:cBhvr>
                                        <p:cTn id="12" dur="2000"/>
                                        <p:tgtEl>
                                          <p:spTgt spid="108547">
                                            <p:txEl>
                                              <p:charRg st="0" end="1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8547">
                                            <p:txEl>
                                              <p:charRg st="19" end="151"/>
                                            </p:txEl>
                                          </p:spTgt>
                                        </p:tgtEl>
                                        <p:attrNameLst>
                                          <p:attrName>style.visibility</p:attrName>
                                        </p:attrNameLst>
                                      </p:cBhvr>
                                      <p:to>
                                        <p:strVal val="visible"/>
                                      </p:to>
                                    </p:set>
                                    <p:animEffect transition="in" filter="fade">
                                      <p:cBhvr>
                                        <p:cTn id="17" dur="2000"/>
                                        <p:tgtEl>
                                          <p:spTgt spid="108547">
                                            <p:txEl>
                                              <p:charRg st="19" end="15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8547">
                                            <p:txEl>
                                              <p:charRg st="151" end="234"/>
                                            </p:txEl>
                                          </p:spTgt>
                                        </p:tgtEl>
                                        <p:attrNameLst>
                                          <p:attrName>style.visibility</p:attrName>
                                        </p:attrNameLst>
                                      </p:cBhvr>
                                      <p:to>
                                        <p:strVal val="visible"/>
                                      </p:to>
                                    </p:set>
                                    <p:animEffect transition="in" filter="fade">
                                      <p:cBhvr>
                                        <p:cTn id="22" dur="2000"/>
                                        <p:tgtEl>
                                          <p:spTgt spid="108547">
                                            <p:txEl>
                                              <p:charRg st="151" end="23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8547">
                                            <p:txEl>
                                              <p:charRg st="234" end="238"/>
                                            </p:txEl>
                                          </p:spTgt>
                                        </p:tgtEl>
                                        <p:attrNameLst>
                                          <p:attrName>style.visibility</p:attrName>
                                        </p:attrNameLst>
                                      </p:cBhvr>
                                      <p:to>
                                        <p:strVal val="visible"/>
                                      </p:to>
                                    </p:set>
                                    <p:animEffect transition="in" filter="fade">
                                      <p:cBhvr>
                                        <p:cTn id="27" dur="2000"/>
                                        <p:tgtEl>
                                          <p:spTgt spid="108547">
                                            <p:txEl>
                                              <p:charRg st="234" end="23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4" grpId="0"/>
      <p:bldP spid="108547"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4610" name="Rectangle 2"/>
          <p:cNvSpPr>
            <a:spLocks noGrp="1" noRot="1"/>
          </p:cNvSpPr>
          <p:nvPr>
            <p:ph idx="1"/>
          </p:nvPr>
        </p:nvSpPr>
        <p:spPr>
          <a:xfrm>
            <a:off x="261938" y="804863"/>
            <a:ext cx="8667750" cy="5410200"/>
          </a:xfrm>
          <a:ln/>
        </p:spPr>
        <p:txBody>
          <a:bodyPr vert="horz" wrap="square" lIns="91440" tIns="45720" rIns="91440" bIns="45720" anchor="t" anchorCtr="0"/>
          <a:p>
            <a:pPr algn="just" eaLnBrk="1" hangingPunct="1">
              <a:lnSpc>
                <a:spcPct val="110000"/>
              </a:lnSpc>
              <a:buNone/>
            </a:pPr>
            <a:r>
              <a:rPr lang="zh-CN" altLang="en-US" sz="2800" b="1" dirty="0">
                <a:solidFill>
                  <a:schemeClr val="hlink"/>
                </a:solidFill>
              </a:rPr>
              <a:t>（</a:t>
            </a:r>
            <a:r>
              <a:rPr lang="en-US" altLang="zh-CN" sz="2800" b="1" dirty="0">
                <a:solidFill>
                  <a:schemeClr val="hlink"/>
                </a:solidFill>
              </a:rPr>
              <a:t>3</a:t>
            </a:r>
            <a:r>
              <a:rPr lang="zh-CN" altLang="en-US" sz="2800" b="1" dirty="0">
                <a:solidFill>
                  <a:schemeClr val="hlink"/>
                </a:solidFill>
              </a:rPr>
              <a:t>）分配矩阵</a:t>
            </a:r>
            <a:r>
              <a:rPr lang="en-US" altLang="zh-CN" sz="2800" b="1" dirty="0">
                <a:solidFill>
                  <a:schemeClr val="hlink"/>
                </a:solidFill>
              </a:rPr>
              <a:t>Allocation</a:t>
            </a:r>
            <a:r>
              <a:rPr lang="zh-CN" altLang="en-US" sz="2800" b="1" dirty="0">
                <a:solidFill>
                  <a:schemeClr val="hlink"/>
                </a:solidFill>
              </a:rPr>
              <a:t>。</a:t>
            </a:r>
            <a:r>
              <a:rPr lang="zh-CN" altLang="en-US" sz="2800" b="1" dirty="0"/>
              <a:t>这是一个</a:t>
            </a:r>
            <a:r>
              <a:rPr lang="en-US" altLang="zh-CN" sz="2800" b="1" dirty="0"/>
              <a:t>n×m</a:t>
            </a:r>
            <a:r>
              <a:rPr lang="zh-CN" altLang="en-US" sz="2800" b="1" dirty="0"/>
              <a:t>的矩阵，它定义了系统中每一类资源当前已分配给每一进程的资源数。</a:t>
            </a:r>
            <a:r>
              <a:rPr lang="en-US" altLang="zh-CN" sz="2800" b="1" i="1" u="sng" dirty="0">
                <a:solidFill>
                  <a:schemeClr val="folHlink"/>
                </a:solidFill>
              </a:rPr>
              <a:t>Allocation</a:t>
            </a:r>
            <a:r>
              <a:rPr lang="zh-CN" altLang="en-US" sz="2800" b="1" i="1" u="sng" dirty="0">
                <a:solidFill>
                  <a:schemeClr val="folHlink"/>
                </a:solidFill>
              </a:rPr>
              <a:t>［</a:t>
            </a:r>
            <a:r>
              <a:rPr lang="en-US" altLang="zh-CN" sz="2800" b="1" i="1" u="sng" dirty="0">
                <a:solidFill>
                  <a:schemeClr val="folHlink"/>
                </a:solidFill>
              </a:rPr>
              <a:t>i,j]=K</a:t>
            </a:r>
            <a:r>
              <a:rPr lang="zh-CN" altLang="en-US" sz="2800" b="1" i="1" u="sng" dirty="0">
                <a:solidFill>
                  <a:schemeClr val="folHlink"/>
                </a:solidFill>
              </a:rPr>
              <a:t>，表示进程</a:t>
            </a:r>
            <a:r>
              <a:rPr lang="en-US" altLang="zh-CN" sz="2800" b="1" i="1" u="sng" dirty="0">
                <a:solidFill>
                  <a:schemeClr val="folHlink"/>
                </a:solidFill>
              </a:rPr>
              <a:t>i</a:t>
            </a:r>
            <a:r>
              <a:rPr lang="zh-CN" altLang="en-US" sz="2800" b="1" i="1" u="sng" dirty="0">
                <a:solidFill>
                  <a:schemeClr val="folHlink"/>
                </a:solidFill>
              </a:rPr>
              <a:t>当前已分得</a:t>
            </a:r>
            <a:r>
              <a:rPr lang="en-US" altLang="zh-CN" sz="2800" b="1" i="1" u="sng" dirty="0">
                <a:solidFill>
                  <a:schemeClr val="folHlink"/>
                </a:solidFill>
              </a:rPr>
              <a:t>Rj</a:t>
            </a:r>
            <a:r>
              <a:rPr lang="zh-CN" altLang="en-US" sz="2800" b="1" i="1" u="sng" dirty="0">
                <a:solidFill>
                  <a:schemeClr val="folHlink"/>
                </a:solidFill>
              </a:rPr>
              <a:t>类资源的数目为</a:t>
            </a:r>
            <a:r>
              <a:rPr lang="en-US" altLang="zh-CN" sz="2800" b="1" i="1" u="sng" dirty="0">
                <a:solidFill>
                  <a:schemeClr val="folHlink"/>
                </a:solidFill>
              </a:rPr>
              <a:t>K</a:t>
            </a:r>
            <a:r>
              <a:rPr lang="zh-CN" altLang="en-US" sz="2800" b="1" i="1" u="sng" dirty="0">
                <a:solidFill>
                  <a:schemeClr val="folHlink"/>
                </a:solidFill>
              </a:rPr>
              <a:t>。</a:t>
            </a:r>
            <a:endParaRPr lang="en-US" altLang="zh-CN" sz="2800" b="1" i="1" u="sng" dirty="0">
              <a:solidFill>
                <a:schemeClr val="folHlink"/>
              </a:solidFill>
            </a:endParaRPr>
          </a:p>
          <a:p>
            <a:pPr algn="just" eaLnBrk="1" hangingPunct="1">
              <a:lnSpc>
                <a:spcPct val="110000"/>
              </a:lnSpc>
              <a:buNone/>
            </a:pPr>
            <a:endParaRPr lang="zh-CN" altLang="en-US" sz="2800" b="1" i="1" u="sng" dirty="0">
              <a:solidFill>
                <a:schemeClr val="folHlink"/>
              </a:solidFill>
            </a:endParaRPr>
          </a:p>
          <a:p>
            <a:pPr algn="just" eaLnBrk="1" hangingPunct="1">
              <a:lnSpc>
                <a:spcPct val="110000"/>
              </a:lnSpc>
              <a:buNone/>
            </a:pPr>
            <a:r>
              <a:rPr lang="zh-CN" altLang="en-US" sz="2800" b="1" dirty="0">
                <a:solidFill>
                  <a:schemeClr val="hlink"/>
                </a:solidFill>
              </a:rPr>
              <a:t>（</a:t>
            </a:r>
            <a:r>
              <a:rPr lang="en-US" altLang="zh-CN" sz="2800" b="1" dirty="0">
                <a:solidFill>
                  <a:schemeClr val="hlink"/>
                </a:solidFill>
              </a:rPr>
              <a:t>4</a:t>
            </a:r>
            <a:r>
              <a:rPr lang="zh-CN" altLang="en-US" sz="2800" b="1" dirty="0">
                <a:solidFill>
                  <a:schemeClr val="hlink"/>
                </a:solidFill>
              </a:rPr>
              <a:t>）需求矩阵</a:t>
            </a:r>
            <a:r>
              <a:rPr lang="en-US" altLang="zh-CN" sz="2800" b="1" dirty="0">
                <a:solidFill>
                  <a:schemeClr val="hlink"/>
                </a:solidFill>
              </a:rPr>
              <a:t>Need</a:t>
            </a:r>
            <a:r>
              <a:rPr lang="zh-CN" altLang="en-US" sz="2800" b="1" dirty="0">
                <a:solidFill>
                  <a:schemeClr val="hlink"/>
                </a:solidFill>
              </a:rPr>
              <a:t>。</a:t>
            </a:r>
            <a:r>
              <a:rPr lang="zh-CN" altLang="en-US" sz="2800" b="1" dirty="0"/>
              <a:t>这也是一个</a:t>
            </a:r>
            <a:r>
              <a:rPr lang="en-US" altLang="zh-CN" sz="2800" b="1" dirty="0"/>
              <a:t>n×m</a:t>
            </a:r>
            <a:r>
              <a:rPr lang="zh-CN" altLang="en-US" sz="2800" b="1" dirty="0"/>
              <a:t>的矩阵，用以表示每一个进程尚需的各类资源数。</a:t>
            </a:r>
            <a:r>
              <a:rPr lang="en-US" altLang="zh-CN" sz="2800" b="1" i="1" u="sng" dirty="0">
                <a:solidFill>
                  <a:schemeClr val="folHlink"/>
                </a:solidFill>
              </a:rPr>
              <a:t>Need[i,j]=K</a:t>
            </a:r>
            <a:r>
              <a:rPr lang="zh-CN" altLang="en-US" sz="2800" b="1" i="1" u="sng" dirty="0">
                <a:solidFill>
                  <a:schemeClr val="folHlink"/>
                </a:solidFill>
              </a:rPr>
              <a:t>，表示进程</a:t>
            </a:r>
            <a:r>
              <a:rPr lang="en-US" altLang="zh-CN" sz="2800" b="1" i="1" u="sng" dirty="0">
                <a:solidFill>
                  <a:schemeClr val="folHlink"/>
                </a:solidFill>
              </a:rPr>
              <a:t>Pi</a:t>
            </a:r>
            <a:r>
              <a:rPr lang="zh-CN" altLang="en-US" sz="2800" b="1" i="1" u="sng" dirty="0">
                <a:solidFill>
                  <a:schemeClr val="folHlink"/>
                </a:solidFill>
              </a:rPr>
              <a:t>还需要</a:t>
            </a:r>
            <a:r>
              <a:rPr lang="en-US" altLang="zh-CN" sz="2800" b="1" i="1" u="sng" dirty="0">
                <a:solidFill>
                  <a:schemeClr val="folHlink"/>
                </a:solidFill>
              </a:rPr>
              <a:t>Rj</a:t>
            </a:r>
            <a:r>
              <a:rPr lang="zh-CN" altLang="en-US" sz="2800" b="1" i="1" u="sng" dirty="0">
                <a:solidFill>
                  <a:schemeClr val="folHlink"/>
                </a:solidFill>
              </a:rPr>
              <a:t>类资源</a:t>
            </a:r>
            <a:r>
              <a:rPr lang="en-US" altLang="zh-CN" sz="2800" b="1" i="1" u="sng" dirty="0">
                <a:solidFill>
                  <a:schemeClr val="folHlink"/>
                </a:solidFill>
              </a:rPr>
              <a:t>K</a:t>
            </a:r>
            <a:r>
              <a:rPr lang="zh-CN" altLang="en-US" sz="2800" b="1" i="1" u="sng" dirty="0">
                <a:solidFill>
                  <a:schemeClr val="folHlink"/>
                </a:solidFill>
              </a:rPr>
              <a:t>个，方能完成其任务。  </a:t>
            </a:r>
            <a:endParaRPr lang="zh-CN" altLang="en-US" sz="2800" b="1" i="1" u="sng" dirty="0">
              <a:solidFill>
                <a:schemeClr val="folHlink"/>
              </a:solidFill>
            </a:endParaRPr>
          </a:p>
          <a:p>
            <a:pPr algn="just" eaLnBrk="1" hangingPunct="1">
              <a:lnSpc>
                <a:spcPct val="110000"/>
              </a:lnSpc>
            </a:pPr>
            <a:r>
              <a:rPr lang="zh-CN" altLang="en-US" sz="2800" b="1" dirty="0"/>
              <a:t> </a:t>
            </a:r>
            <a:r>
              <a:rPr lang="en-US" altLang="zh-CN" sz="2800" b="1" i="1" u="sng" dirty="0">
                <a:solidFill>
                  <a:schemeClr val="folHlink"/>
                </a:solidFill>
              </a:rPr>
              <a:t>Need[i,j]</a:t>
            </a:r>
            <a:r>
              <a:rPr lang="zh-CN" altLang="en-US" sz="2800" b="1" i="1" u="sng" dirty="0">
                <a:solidFill>
                  <a:schemeClr val="folHlink"/>
                </a:solidFill>
              </a:rPr>
              <a:t>＝</a:t>
            </a:r>
            <a:r>
              <a:rPr lang="en-US" altLang="zh-CN" sz="2800" b="1" i="1" u="sng" dirty="0">
                <a:solidFill>
                  <a:schemeClr val="folHlink"/>
                </a:solidFill>
              </a:rPr>
              <a:t>Max[i,j]</a:t>
            </a:r>
            <a:r>
              <a:rPr lang="zh-CN" altLang="en-US" sz="2800" b="1" i="1" u="sng" dirty="0">
                <a:solidFill>
                  <a:schemeClr val="folHlink"/>
                </a:solidFill>
              </a:rPr>
              <a:t>一</a:t>
            </a:r>
            <a:r>
              <a:rPr lang="en-US" altLang="zh-CN" sz="2800" b="1" i="1" u="sng" dirty="0">
                <a:solidFill>
                  <a:schemeClr val="folHlink"/>
                </a:solidFill>
              </a:rPr>
              <a:t>Allocation[i,j]</a:t>
            </a:r>
            <a:endParaRPr lang="en-US" altLang="zh-CN" sz="2800" b="1" i="1" u="sng" dirty="0">
              <a:solidFill>
                <a:schemeClr val="folHlink"/>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324610">
                                            <p:txEl>
                                              <p:charRg st="0" end="96"/>
                                            </p:txEl>
                                          </p:spTgt>
                                        </p:tgtEl>
                                        <p:attrNameLst>
                                          <p:attrName>style.visibility</p:attrName>
                                        </p:attrNameLst>
                                      </p:cBhvr>
                                      <p:to>
                                        <p:strVal val="visible"/>
                                      </p:to>
                                    </p:set>
                                    <p:animEffect transition="in" filter="fade">
                                      <p:cBhvr>
                                        <p:cTn id="7" dur="2000"/>
                                        <p:tgtEl>
                                          <p:spTgt spid="324610">
                                            <p:txEl>
                                              <p:charRg st="0" end="9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324610">
                                            <p:txEl>
                                              <p:charRg st="97" end="179"/>
                                            </p:txEl>
                                          </p:spTgt>
                                        </p:tgtEl>
                                        <p:attrNameLst>
                                          <p:attrName>style.visibility</p:attrName>
                                        </p:attrNameLst>
                                      </p:cBhvr>
                                      <p:to>
                                        <p:strVal val="visible"/>
                                      </p:to>
                                    </p:set>
                                    <p:animEffect transition="in" filter="fade">
                                      <p:cBhvr>
                                        <p:cTn id="12" dur="2000"/>
                                        <p:tgtEl>
                                          <p:spTgt spid="324610">
                                            <p:txEl>
                                              <p:charRg st="97" end="17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324610">
                                            <p:txEl>
                                              <p:charRg st="179" end="215"/>
                                            </p:txEl>
                                          </p:spTgt>
                                        </p:tgtEl>
                                        <p:attrNameLst>
                                          <p:attrName>style.visibility</p:attrName>
                                        </p:attrNameLst>
                                      </p:cBhvr>
                                      <p:to>
                                        <p:strVal val="visible"/>
                                      </p:to>
                                    </p:set>
                                    <p:animEffect transition="in" filter="fade">
                                      <p:cBhvr>
                                        <p:cTn id="17" dur="2000"/>
                                        <p:tgtEl>
                                          <p:spTgt spid="324610">
                                            <p:txEl>
                                              <p:charRg st="179" end="21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4610">
                                            <p:txEl>
                                              <p:charRg st="0" end="96"/>
                                            </p:txEl>
                                          </p:spTgt>
                                        </p:tgtEl>
                                        <p:attrNameLst>
                                          <p:attrName>style.visibility</p:attrName>
                                        </p:attrNameLst>
                                      </p:cBhvr>
                                      <p:to>
                                        <p:strVal val="visible"/>
                                      </p:to>
                                    </p:set>
                                    <p:animEffect transition="in" filter="fade">
                                      <p:cBhvr>
                                        <p:cTn id="22" dur="2000"/>
                                        <p:tgtEl>
                                          <p:spTgt spid="324610">
                                            <p:txEl>
                                              <p:charRg st="0" end="9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4610">
                                            <p:txEl>
                                              <p:charRg st="97" end="179"/>
                                            </p:txEl>
                                          </p:spTgt>
                                        </p:tgtEl>
                                        <p:attrNameLst>
                                          <p:attrName>style.visibility</p:attrName>
                                        </p:attrNameLst>
                                      </p:cBhvr>
                                      <p:to>
                                        <p:strVal val="visible"/>
                                      </p:to>
                                    </p:set>
                                    <p:animEffect transition="in" filter="fade">
                                      <p:cBhvr>
                                        <p:cTn id="27" dur="2000"/>
                                        <p:tgtEl>
                                          <p:spTgt spid="324610">
                                            <p:txEl>
                                              <p:charRg st="97" end="17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24610">
                                            <p:txEl>
                                              <p:charRg st="179" end="215"/>
                                            </p:txEl>
                                          </p:spTgt>
                                        </p:tgtEl>
                                        <p:attrNameLst>
                                          <p:attrName>style.visibility</p:attrName>
                                        </p:attrNameLst>
                                      </p:cBhvr>
                                      <p:to>
                                        <p:strVal val="visible"/>
                                      </p:to>
                                    </p:set>
                                    <p:animEffect transition="in" filter="fade">
                                      <p:cBhvr>
                                        <p:cTn id="32" dur="2000"/>
                                        <p:tgtEl>
                                          <p:spTgt spid="324610">
                                            <p:txEl>
                                              <p:charRg st="179" end="2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0" grpId="0" build="p"/>
      <p:bldP spid="324610" grpId="1"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42" name="Rectangle 2"/>
          <p:cNvSpPr>
            <a:spLocks noGrp="1" noRot="1" noChangeArrowheads="1"/>
          </p:cNvSpPr>
          <p:nvPr>
            <p:ph type="title" idx="4294967295"/>
          </p:nvPr>
        </p:nvSpPr>
        <p:spPr>
          <a:xfrm>
            <a:off x="301625" y="188913"/>
            <a:ext cx="8540750" cy="839788"/>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t>
            </a:r>
            <a:r>
              <a:rPr kumimoji="0" lang="zh-CN" altLang="en-US" sz="4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二</a:t>
            </a:r>
            <a:r>
              <a:rPr kumimoji="0" lang="en-US" altLang="zh-CN" sz="4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t>
            </a:r>
            <a:r>
              <a:rPr kumimoji="0" lang="zh-CN" altLang="en-US" sz="4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．银行家算法 </a:t>
            </a:r>
            <a:endParaRPr kumimoji="0" lang="zh-CN" altLang="en-US" sz="4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10595" name="Rectangle 3"/>
          <p:cNvSpPr>
            <a:spLocks noGrp="1" noRot="1"/>
          </p:cNvSpPr>
          <p:nvPr>
            <p:ph type="body" idx="4294967295"/>
          </p:nvPr>
        </p:nvSpPr>
        <p:spPr>
          <a:xfrm>
            <a:off x="250825" y="1341438"/>
            <a:ext cx="8362950" cy="4814887"/>
          </a:xfrm>
          <a:ln/>
        </p:spPr>
        <p:txBody>
          <a:bodyPr vert="horz" wrap="square" lIns="91440" tIns="45720" rIns="91440" bIns="45720" anchor="t" anchorCtr="0"/>
          <a:p>
            <a:pPr algn="just" eaLnBrk="1" hangingPunct="1"/>
            <a:r>
              <a:rPr lang="zh-CN" altLang="en-US" b="1" dirty="0"/>
              <a:t>设</a:t>
            </a:r>
            <a:r>
              <a:rPr lang="en-US" altLang="zh-CN" b="1" dirty="0"/>
              <a:t>Request</a:t>
            </a:r>
            <a:r>
              <a:rPr lang="en-US" altLang="zh-CN" b="1" baseline="-25000" dirty="0"/>
              <a:t>i</a:t>
            </a:r>
            <a:r>
              <a:rPr lang="zh-CN" altLang="en-US" b="1" dirty="0"/>
              <a:t>，是进程</a:t>
            </a:r>
            <a:r>
              <a:rPr lang="en-US" altLang="zh-CN" b="1" dirty="0"/>
              <a:t>Pi</a:t>
            </a:r>
            <a:r>
              <a:rPr lang="zh-CN" altLang="en-US" b="1" dirty="0"/>
              <a:t>的请求向量，当</a:t>
            </a:r>
            <a:r>
              <a:rPr lang="en-US" altLang="zh-CN" b="1" dirty="0"/>
              <a:t>Pi</a:t>
            </a:r>
            <a:r>
              <a:rPr lang="zh-CN" altLang="en-US" b="1" dirty="0"/>
              <a:t>发出资源请求后，系统按下述步骤进行检查：</a:t>
            </a:r>
            <a:endParaRPr lang="zh-CN" altLang="en-US" b="1" dirty="0"/>
          </a:p>
          <a:p>
            <a:pPr algn="just" eaLnBrk="1" hangingPunct="1">
              <a:buNone/>
            </a:pPr>
            <a:r>
              <a:rPr lang="zh-CN" altLang="en-US" b="1" dirty="0"/>
              <a:t>    （</a:t>
            </a:r>
            <a:r>
              <a:rPr lang="en-US" altLang="zh-CN" b="1" dirty="0"/>
              <a:t>1</a:t>
            </a:r>
            <a:r>
              <a:rPr lang="zh-CN" altLang="en-US" b="1" dirty="0"/>
              <a:t>）如果</a:t>
            </a:r>
            <a:r>
              <a:rPr lang="en-US" altLang="zh-CN" b="1" dirty="0"/>
              <a:t>Request</a:t>
            </a:r>
            <a:r>
              <a:rPr lang="en-US" altLang="zh-CN" b="1" baseline="-25000" dirty="0"/>
              <a:t>i</a:t>
            </a:r>
            <a:r>
              <a:rPr lang="en-US" altLang="zh-CN" b="1" dirty="0"/>
              <a:t>[j]≤Need[i,j],</a:t>
            </a:r>
            <a:r>
              <a:rPr lang="zh-CN" altLang="en-US" b="1" dirty="0"/>
              <a:t>便转向步骤</a:t>
            </a:r>
            <a:r>
              <a:rPr lang="en-US" altLang="zh-CN" b="1" dirty="0"/>
              <a:t>2</a:t>
            </a:r>
            <a:r>
              <a:rPr lang="zh-CN" altLang="en-US" b="1" dirty="0"/>
              <a:t>；否则认为出错，因为它所需要的资源数已超过它所声明的最大值。</a:t>
            </a:r>
            <a:endParaRPr lang="zh-CN" altLang="en-US" b="1" dirty="0"/>
          </a:p>
          <a:p>
            <a:pPr algn="just" eaLnBrk="1" hangingPunct="1">
              <a:buNone/>
            </a:pPr>
            <a:r>
              <a:rPr lang="zh-CN" altLang="en-US" b="1" dirty="0"/>
              <a:t>    （</a:t>
            </a:r>
            <a:r>
              <a:rPr lang="en-US" altLang="zh-CN" b="1" dirty="0"/>
              <a:t>2</a:t>
            </a:r>
            <a:r>
              <a:rPr lang="zh-CN" altLang="en-US" b="1" dirty="0"/>
              <a:t>）如果</a:t>
            </a:r>
            <a:r>
              <a:rPr lang="en-US" altLang="zh-CN" b="1" dirty="0"/>
              <a:t>Request</a:t>
            </a:r>
            <a:r>
              <a:rPr lang="en-US" altLang="zh-CN" b="1" baseline="-25000" dirty="0"/>
              <a:t>i</a:t>
            </a:r>
            <a:r>
              <a:rPr lang="en-US" altLang="zh-CN" b="1" dirty="0"/>
              <a:t>[j]≤Available[j]</a:t>
            </a:r>
            <a:r>
              <a:rPr lang="zh-CN" altLang="en-US" b="1" dirty="0"/>
              <a:t>，便转向步骤（</a:t>
            </a:r>
            <a:r>
              <a:rPr lang="en-US" altLang="zh-CN" b="1" dirty="0"/>
              <a:t>3</a:t>
            </a:r>
            <a:r>
              <a:rPr lang="zh-CN" altLang="en-US" b="1" dirty="0"/>
              <a:t>）；否则，表示尚无足够资源，</a:t>
            </a:r>
            <a:r>
              <a:rPr lang="en-US" altLang="zh-CN" b="1" dirty="0"/>
              <a:t>Pi</a:t>
            </a:r>
            <a:r>
              <a:rPr lang="zh-CN" altLang="en-US" b="1" dirty="0"/>
              <a:t>须阻塞等待。</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68642"/>
                                        </p:tgtEl>
                                        <p:attrNameLst>
                                          <p:attrName>style.visibility</p:attrName>
                                        </p:attrNameLst>
                                      </p:cBhvr>
                                      <p:to>
                                        <p:strVal val="visible"/>
                                      </p:to>
                                    </p:set>
                                    <p:animEffect transition="in" filter="fade">
                                      <p:cBhvr>
                                        <p:cTn id="7" dur="2000"/>
                                        <p:tgtEl>
                                          <p:spTgt spid="3686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0595">
                                            <p:txEl>
                                              <p:charRg st="0" end="45"/>
                                            </p:txEl>
                                          </p:spTgt>
                                        </p:tgtEl>
                                        <p:attrNameLst>
                                          <p:attrName>style.visibility</p:attrName>
                                        </p:attrNameLst>
                                      </p:cBhvr>
                                      <p:to>
                                        <p:strVal val="visible"/>
                                      </p:to>
                                    </p:set>
                                    <p:animEffect transition="in" filter="fade">
                                      <p:cBhvr>
                                        <p:cTn id="12" dur="2000"/>
                                        <p:tgtEl>
                                          <p:spTgt spid="110595">
                                            <p:txEl>
                                              <p:charRg st="0" end="4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0595">
                                            <p:txEl>
                                              <p:charRg st="45" end="113"/>
                                            </p:txEl>
                                          </p:spTgt>
                                        </p:tgtEl>
                                        <p:attrNameLst>
                                          <p:attrName>style.visibility</p:attrName>
                                        </p:attrNameLst>
                                      </p:cBhvr>
                                      <p:to>
                                        <p:strVal val="visible"/>
                                      </p:to>
                                    </p:set>
                                    <p:animEffect transition="in" filter="fade">
                                      <p:cBhvr>
                                        <p:cTn id="17" dur="2000"/>
                                        <p:tgtEl>
                                          <p:spTgt spid="110595">
                                            <p:txEl>
                                              <p:charRg st="45" end="11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0595">
                                            <p:txEl>
                                              <p:charRg st="113" end="177"/>
                                            </p:txEl>
                                          </p:spTgt>
                                        </p:tgtEl>
                                        <p:attrNameLst>
                                          <p:attrName>style.visibility</p:attrName>
                                        </p:attrNameLst>
                                      </p:cBhvr>
                                      <p:to>
                                        <p:strVal val="visible"/>
                                      </p:to>
                                    </p:set>
                                    <p:animEffect transition="in" filter="fade">
                                      <p:cBhvr>
                                        <p:cTn id="22" dur="2000"/>
                                        <p:tgtEl>
                                          <p:spTgt spid="110595">
                                            <p:txEl>
                                              <p:charRg st="113" end="17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2" grpId="0"/>
      <p:bldP spid="110595"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6658" name="Rectangle 2"/>
          <p:cNvSpPr>
            <a:spLocks noGrp="1" noRot="1"/>
          </p:cNvSpPr>
          <p:nvPr>
            <p:ph idx="1"/>
          </p:nvPr>
        </p:nvSpPr>
        <p:spPr>
          <a:xfrm>
            <a:off x="217488" y="947738"/>
            <a:ext cx="8458200" cy="5410200"/>
          </a:xfrm>
          <a:ln/>
        </p:spPr>
        <p:txBody>
          <a:bodyPr vert="horz" wrap="square" lIns="91440" tIns="45720" rIns="91440" bIns="45720" anchor="t" anchorCtr="0"/>
          <a:p>
            <a:pPr algn="just" eaLnBrk="1" hangingPunct="1">
              <a:lnSpc>
                <a:spcPct val="110000"/>
              </a:lnSpc>
              <a:buNone/>
            </a:pPr>
            <a:r>
              <a:rPr lang="zh-CN" altLang="en-US" b="1" dirty="0"/>
              <a:t>（</a:t>
            </a:r>
            <a:r>
              <a:rPr lang="en-US" altLang="zh-CN" b="1" dirty="0"/>
              <a:t>3</a:t>
            </a:r>
            <a:r>
              <a:rPr lang="zh-CN" altLang="en-US" b="1" dirty="0"/>
              <a:t>）系统</a:t>
            </a:r>
            <a:r>
              <a:rPr lang="zh-CN" altLang="en-US" b="1" dirty="0">
                <a:solidFill>
                  <a:srgbClr val="FF0000"/>
                </a:solidFill>
              </a:rPr>
              <a:t>试探着</a:t>
            </a:r>
            <a:r>
              <a:rPr lang="zh-CN" altLang="en-US" b="1" dirty="0"/>
              <a:t>把资源分配给进程</a:t>
            </a:r>
            <a:r>
              <a:rPr lang="en-US" altLang="zh-CN" b="1" dirty="0"/>
              <a:t>Pi</a:t>
            </a:r>
            <a:r>
              <a:rPr lang="zh-CN" altLang="en-US" b="1" dirty="0"/>
              <a:t>，并修改下面数据结构中的数值：</a:t>
            </a:r>
            <a:endParaRPr lang="zh-CN" altLang="en-US" b="1" dirty="0"/>
          </a:p>
          <a:p>
            <a:pPr algn="just" eaLnBrk="1" hangingPunct="1">
              <a:lnSpc>
                <a:spcPct val="110000"/>
              </a:lnSpc>
              <a:buNone/>
            </a:pPr>
            <a:r>
              <a:rPr lang="zh-CN" altLang="en-US" b="1" dirty="0"/>
              <a:t>   </a:t>
            </a:r>
            <a:r>
              <a:rPr lang="en-US" altLang="zh-CN" sz="2800" b="1" dirty="0">
                <a:solidFill>
                  <a:schemeClr val="folHlink"/>
                </a:solidFill>
              </a:rPr>
              <a:t>Available[j]</a:t>
            </a:r>
            <a:r>
              <a:rPr lang="zh-CN" altLang="en-US" sz="2800" b="1" dirty="0">
                <a:solidFill>
                  <a:schemeClr val="folHlink"/>
                </a:solidFill>
              </a:rPr>
              <a:t>：＝ </a:t>
            </a:r>
            <a:r>
              <a:rPr lang="en-US" altLang="zh-CN" sz="2800" b="1" dirty="0">
                <a:solidFill>
                  <a:schemeClr val="folHlink"/>
                </a:solidFill>
              </a:rPr>
              <a:t>Available[j] - Request</a:t>
            </a:r>
            <a:r>
              <a:rPr lang="en-US" altLang="zh-CN" sz="2800" b="1" baseline="-25000" dirty="0">
                <a:solidFill>
                  <a:schemeClr val="folHlink"/>
                </a:solidFill>
              </a:rPr>
              <a:t>i</a:t>
            </a:r>
            <a:r>
              <a:rPr lang="en-US" altLang="zh-CN" sz="2800" b="1" dirty="0">
                <a:solidFill>
                  <a:schemeClr val="folHlink"/>
                </a:solidFill>
              </a:rPr>
              <a:t>[j]</a:t>
            </a:r>
            <a:r>
              <a:rPr lang="zh-CN" altLang="en-US" sz="2800" b="1" dirty="0">
                <a:solidFill>
                  <a:schemeClr val="folHlink"/>
                </a:solidFill>
              </a:rPr>
              <a:t>；</a:t>
            </a:r>
            <a:endParaRPr lang="zh-CN" altLang="en-US" sz="2800" b="1" dirty="0">
              <a:solidFill>
                <a:schemeClr val="folHlink"/>
              </a:solidFill>
            </a:endParaRPr>
          </a:p>
          <a:p>
            <a:pPr algn="just" eaLnBrk="1" hangingPunct="1">
              <a:lnSpc>
                <a:spcPct val="110000"/>
              </a:lnSpc>
              <a:buNone/>
            </a:pPr>
            <a:r>
              <a:rPr lang="zh-CN" altLang="en-US" b="1" dirty="0">
                <a:solidFill>
                  <a:schemeClr val="folHlink"/>
                </a:solidFill>
              </a:rPr>
              <a:t>   </a:t>
            </a:r>
            <a:r>
              <a:rPr lang="en-US" altLang="zh-CN" sz="2800" b="1" dirty="0">
                <a:solidFill>
                  <a:schemeClr val="folHlink"/>
                </a:solidFill>
              </a:rPr>
              <a:t>Allocation[i,j] : </a:t>
            </a:r>
            <a:r>
              <a:rPr lang="zh-CN" altLang="en-US" sz="2800" b="1" dirty="0">
                <a:solidFill>
                  <a:schemeClr val="folHlink"/>
                </a:solidFill>
              </a:rPr>
              <a:t>＝ </a:t>
            </a:r>
            <a:r>
              <a:rPr lang="en-US" altLang="zh-CN" sz="2800" b="1" dirty="0">
                <a:solidFill>
                  <a:schemeClr val="folHlink"/>
                </a:solidFill>
              </a:rPr>
              <a:t>Allocation[i,j] </a:t>
            </a:r>
            <a:r>
              <a:rPr lang="zh-CN" altLang="en-US" sz="2800" b="1" dirty="0">
                <a:solidFill>
                  <a:schemeClr val="folHlink"/>
                </a:solidFill>
              </a:rPr>
              <a:t>＋ </a:t>
            </a:r>
            <a:r>
              <a:rPr lang="en-US" altLang="zh-CN" sz="2800" b="1" dirty="0">
                <a:solidFill>
                  <a:schemeClr val="folHlink"/>
                </a:solidFill>
              </a:rPr>
              <a:t>Request</a:t>
            </a:r>
            <a:r>
              <a:rPr lang="en-US" altLang="zh-CN" sz="2800" b="1" baseline="-25000" dirty="0">
                <a:solidFill>
                  <a:schemeClr val="folHlink"/>
                </a:solidFill>
              </a:rPr>
              <a:t>i</a:t>
            </a:r>
            <a:r>
              <a:rPr lang="en-US" altLang="zh-CN" sz="2800" b="1" dirty="0">
                <a:solidFill>
                  <a:schemeClr val="folHlink"/>
                </a:solidFill>
              </a:rPr>
              <a:t>[j];</a:t>
            </a:r>
            <a:endParaRPr lang="en-US" altLang="zh-CN" sz="2800" b="1" dirty="0">
              <a:solidFill>
                <a:schemeClr val="folHlink"/>
              </a:solidFill>
            </a:endParaRPr>
          </a:p>
          <a:p>
            <a:pPr algn="just" eaLnBrk="1" hangingPunct="1">
              <a:lnSpc>
                <a:spcPct val="110000"/>
              </a:lnSpc>
              <a:buNone/>
            </a:pPr>
            <a:r>
              <a:rPr lang="en-US" altLang="zh-CN" sz="2800" b="1" dirty="0">
                <a:solidFill>
                  <a:schemeClr val="folHlink"/>
                </a:solidFill>
              </a:rPr>
              <a:t>    Need[i,j]: =Need[i,j] - Request</a:t>
            </a:r>
            <a:r>
              <a:rPr lang="en-US" altLang="zh-CN" sz="2800" b="1" baseline="-25000" dirty="0">
                <a:solidFill>
                  <a:schemeClr val="folHlink"/>
                </a:solidFill>
              </a:rPr>
              <a:t>i</a:t>
            </a:r>
            <a:r>
              <a:rPr lang="en-US" altLang="zh-CN" sz="2800" b="1" dirty="0">
                <a:solidFill>
                  <a:schemeClr val="folHlink"/>
                </a:solidFill>
              </a:rPr>
              <a:t>[j]</a:t>
            </a:r>
            <a:r>
              <a:rPr lang="zh-CN" altLang="en-US" sz="2800" b="1" dirty="0">
                <a:solidFill>
                  <a:schemeClr val="folHlink"/>
                </a:solidFill>
              </a:rPr>
              <a:t>；</a:t>
            </a:r>
            <a:endParaRPr lang="zh-CN" altLang="en-US" sz="2800" b="1" dirty="0">
              <a:solidFill>
                <a:schemeClr val="folHlink"/>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326658">
                                            <p:txEl>
                                              <p:charRg st="0" end="34"/>
                                            </p:txEl>
                                          </p:spTgt>
                                        </p:tgtEl>
                                        <p:attrNameLst>
                                          <p:attrName>style.visibility</p:attrName>
                                        </p:attrNameLst>
                                      </p:cBhvr>
                                      <p:to>
                                        <p:strVal val="visible"/>
                                      </p:to>
                                    </p:set>
                                    <p:animEffect transition="in" filter="fade">
                                      <p:cBhvr>
                                        <p:cTn id="7" dur="2000"/>
                                        <p:tgtEl>
                                          <p:spTgt spid="326658">
                                            <p:txEl>
                                              <p:charRg st="0" end="3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326658">
                                            <p:txEl>
                                              <p:charRg st="34" end="80"/>
                                            </p:txEl>
                                          </p:spTgt>
                                        </p:tgtEl>
                                        <p:attrNameLst>
                                          <p:attrName>style.visibility</p:attrName>
                                        </p:attrNameLst>
                                      </p:cBhvr>
                                      <p:to>
                                        <p:strVal val="visible"/>
                                      </p:to>
                                    </p:set>
                                    <p:animEffect transition="in" filter="fade">
                                      <p:cBhvr>
                                        <p:cTn id="12" dur="2000"/>
                                        <p:tgtEl>
                                          <p:spTgt spid="326658">
                                            <p:txEl>
                                              <p:charRg st="34" end="8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326658">
                                            <p:txEl>
                                              <p:charRg st="80" end="134"/>
                                            </p:txEl>
                                          </p:spTgt>
                                        </p:tgtEl>
                                        <p:attrNameLst>
                                          <p:attrName>style.visibility</p:attrName>
                                        </p:attrNameLst>
                                      </p:cBhvr>
                                      <p:to>
                                        <p:strVal val="visible"/>
                                      </p:to>
                                    </p:set>
                                    <p:animEffect transition="in" filter="fade">
                                      <p:cBhvr>
                                        <p:cTn id="17" dur="2000"/>
                                        <p:tgtEl>
                                          <p:spTgt spid="326658">
                                            <p:txEl>
                                              <p:charRg st="80" end="13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326658">
                                            <p:txEl>
                                              <p:charRg st="134" end="175"/>
                                            </p:txEl>
                                          </p:spTgt>
                                        </p:tgtEl>
                                        <p:attrNameLst>
                                          <p:attrName>style.visibility</p:attrName>
                                        </p:attrNameLst>
                                      </p:cBhvr>
                                      <p:to>
                                        <p:strVal val="visible"/>
                                      </p:to>
                                    </p:set>
                                    <p:animEffect transition="in" filter="fade">
                                      <p:cBhvr>
                                        <p:cTn id="22" dur="2000"/>
                                        <p:tgtEl>
                                          <p:spTgt spid="326658">
                                            <p:txEl>
                                              <p:charRg st="134" end="17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6658">
                                            <p:txEl>
                                              <p:charRg st="0" end="34"/>
                                            </p:txEl>
                                          </p:spTgt>
                                        </p:tgtEl>
                                        <p:attrNameLst>
                                          <p:attrName>style.visibility</p:attrName>
                                        </p:attrNameLst>
                                      </p:cBhvr>
                                      <p:to>
                                        <p:strVal val="visible"/>
                                      </p:to>
                                    </p:set>
                                    <p:animEffect transition="in" filter="fade">
                                      <p:cBhvr>
                                        <p:cTn id="27" dur="2000"/>
                                        <p:tgtEl>
                                          <p:spTgt spid="326658">
                                            <p:txEl>
                                              <p:charRg st="0" end="3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26658">
                                            <p:txEl>
                                              <p:charRg st="34" end="80"/>
                                            </p:txEl>
                                          </p:spTgt>
                                        </p:tgtEl>
                                        <p:attrNameLst>
                                          <p:attrName>style.visibility</p:attrName>
                                        </p:attrNameLst>
                                      </p:cBhvr>
                                      <p:to>
                                        <p:strVal val="visible"/>
                                      </p:to>
                                    </p:set>
                                    <p:animEffect transition="in" filter="fade">
                                      <p:cBhvr>
                                        <p:cTn id="32" dur="2000"/>
                                        <p:tgtEl>
                                          <p:spTgt spid="326658">
                                            <p:txEl>
                                              <p:charRg st="34" end="8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26658">
                                            <p:txEl>
                                              <p:charRg st="80" end="134"/>
                                            </p:txEl>
                                          </p:spTgt>
                                        </p:tgtEl>
                                        <p:attrNameLst>
                                          <p:attrName>style.visibility</p:attrName>
                                        </p:attrNameLst>
                                      </p:cBhvr>
                                      <p:to>
                                        <p:strVal val="visible"/>
                                      </p:to>
                                    </p:set>
                                    <p:animEffect transition="in" filter="fade">
                                      <p:cBhvr>
                                        <p:cTn id="37" dur="2000"/>
                                        <p:tgtEl>
                                          <p:spTgt spid="326658">
                                            <p:txEl>
                                              <p:charRg st="80" end="13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6658">
                                            <p:txEl>
                                              <p:charRg st="134" end="175"/>
                                            </p:txEl>
                                          </p:spTgt>
                                        </p:tgtEl>
                                        <p:attrNameLst>
                                          <p:attrName>style.visibility</p:attrName>
                                        </p:attrNameLst>
                                      </p:cBhvr>
                                      <p:to>
                                        <p:strVal val="visible"/>
                                      </p:to>
                                    </p:set>
                                    <p:animEffect transition="in" filter="fade">
                                      <p:cBhvr>
                                        <p:cTn id="42" dur="2000"/>
                                        <p:tgtEl>
                                          <p:spTgt spid="326658">
                                            <p:txEl>
                                              <p:charRg st="134" end="17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658" grpId="0" build="p"/>
      <p:bldP spid="326658" grpId="1"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3"/>
          <p:cNvSpPr>
            <a:spLocks noGrp="1" noRot="1"/>
          </p:cNvSpPr>
          <p:nvPr>
            <p:ph type="body" idx="4294967295"/>
          </p:nvPr>
        </p:nvSpPr>
        <p:spPr>
          <a:xfrm>
            <a:off x="207963" y="1052513"/>
            <a:ext cx="8540750" cy="4498975"/>
          </a:xfrm>
          <a:ln/>
        </p:spPr>
        <p:txBody>
          <a:bodyPr vert="horz" wrap="square" lIns="91440" tIns="45720" rIns="91440" bIns="45720" anchor="t" anchorCtr="0"/>
          <a:p>
            <a:pPr eaLnBrk="1" hangingPunct="1">
              <a:lnSpc>
                <a:spcPct val="110000"/>
              </a:lnSpc>
              <a:buNone/>
            </a:pPr>
            <a:r>
              <a:rPr lang="zh-CN" altLang="en-US" b="1" dirty="0"/>
              <a:t>（</a:t>
            </a:r>
            <a:r>
              <a:rPr lang="en-US" altLang="zh-CN" b="1" dirty="0"/>
              <a:t>4</a:t>
            </a:r>
            <a:r>
              <a:rPr lang="zh-CN" altLang="en-US" b="1" dirty="0"/>
              <a:t>）系统执行</a:t>
            </a:r>
            <a:r>
              <a:rPr lang="zh-CN" altLang="en-US" b="1" i="1" dirty="0">
                <a:solidFill>
                  <a:srgbClr val="FF0000"/>
                </a:solidFill>
              </a:rPr>
              <a:t>安全性算法</a:t>
            </a:r>
            <a:r>
              <a:rPr lang="zh-CN" altLang="en-US" b="1" dirty="0"/>
              <a:t>，检查此次资源分配 后，系统是否处于安全状态。</a:t>
            </a:r>
            <a:endParaRPr lang="zh-CN" altLang="en-US" b="1" dirty="0"/>
          </a:p>
          <a:p>
            <a:pPr eaLnBrk="1" hangingPunct="1">
              <a:lnSpc>
                <a:spcPct val="110000"/>
              </a:lnSpc>
              <a:buNone/>
            </a:pPr>
            <a:r>
              <a:rPr lang="zh-CN" altLang="en-US" b="1" dirty="0"/>
              <a:t>	</a:t>
            </a:r>
            <a:r>
              <a:rPr lang="zh-CN" altLang="en-US" b="1" i="1" u="sng" dirty="0">
                <a:solidFill>
                  <a:schemeClr val="folHlink"/>
                </a:solidFill>
              </a:rPr>
              <a:t>若安全，才正式将资源分配给进程</a:t>
            </a:r>
            <a:r>
              <a:rPr lang="en-US" altLang="zh-CN" b="1" i="1" u="sng" dirty="0">
                <a:solidFill>
                  <a:schemeClr val="folHlink"/>
                </a:solidFill>
              </a:rPr>
              <a:t>Pi</a:t>
            </a:r>
            <a:r>
              <a:rPr lang="zh-CN" altLang="en-US" b="1" i="1" u="sng" dirty="0">
                <a:solidFill>
                  <a:schemeClr val="folHlink"/>
                </a:solidFill>
              </a:rPr>
              <a:t>，以完成本次分配；</a:t>
            </a:r>
            <a:endParaRPr lang="zh-CN" altLang="en-US" b="1" i="1" u="sng" dirty="0">
              <a:solidFill>
                <a:schemeClr val="folHlink"/>
              </a:solidFill>
            </a:endParaRPr>
          </a:p>
          <a:p>
            <a:pPr eaLnBrk="1" hangingPunct="1">
              <a:lnSpc>
                <a:spcPct val="110000"/>
              </a:lnSpc>
              <a:buNone/>
            </a:pPr>
            <a:r>
              <a:rPr lang="zh-CN" altLang="en-US" b="1" i="1" u="sng" dirty="0">
                <a:solidFill>
                  <a:schemeClr val="folHlink"/>
                </a:solidFill>
              </a:rPr>
              <a:t>   </a:t>
            </a:r>
            <a:r>
              <a:rPr lang="zh-CN" altLang="en-US" b="1" dirty="0"/>
              <a:t>否则，</a:t>
            </a:r>
            <a:r>
              <a:rPr lang="zh-CN" altLang="en-US" b="1" dirty="0">
                <a:solidFill>
                  <a:srgbClr val="FF0000"/>
                </a:solidFill>
              </a:rPr>
              <a:t>将本次的试探分配作废，恢复原来的资源分配状态，让进程</a:t>
            </a:r>
            <a:r>
              <a:rPr lang="en-US" altLang="zh-CN" b="1" dirty="0">
                <a:solidFill>
                  <a:srgbClr val="FF0000"/>
                </a:solidFill>
              </a:rPr>
              <a:t>Pi</a:t>
            </a:r>
            <a:r>
              <a:rPr lang="zh-CN" altLang="en-US" b="1" dirty="0">
                <a:solidFill>
                  <a:srgbClr val="FF0000"/>
                </a:solidFill>
              </a:rPr>
              <a:t>等待。</a:t>
            </a:r>
            <a:r>
              <a:rPr lang="zh-CN" altLang="en-US" b="1" dirty="0"/>
              <a:t> </a:t>
            </a:r>
            <a:endParaRPr lang="zh-CN" altLang="en-US" b="1" dirty="0"/>
          </a:p>
          <a:p>
            <a:pPr eaLnBrk="1" hangingPunct="1"/>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2642">
                                            <p:txEl>
                                              <p:charRg st="0" end="36"/>
                                            </p:txEl>
                                          </p:spTgt>
                                        </p:tgtEl>
                                        <p:attrNameLst>
                                          <p:attrName>style.visibility</p:attrName>
                                        </p:attrNameLst>
                                      </p:cBhvr>
                                      <p:to>
                                        <p:strVal val="visible"/>
                                      </p:to>
                                    </p:set>
                                    <p:animEffect transition="in" filter="fade">
                                      <p:cBhvr>
                                        <p:cTn id="7" dur="2000"/>
                                        <p:tgtEl>
                                          <p:spTgt spid="112642">
                                            <p:txEl>
                                              <p:charRg st="0" end="3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2642">
                                            <p:txEl>
                                              <p:charRg st="36" end="64"/>
                                            </p:txEl>
                                          </p:spTgt>
                                        </p:tgtEl>
                                        <p:attrNameLst>
                                          <p:attrName>style.visibility</p:attrName>
                                        </p:attrNameLst>
                                      </p:cBhvr>
                                      <p:to>
                                        <p:strVal val="visible"/>
                                      </p:to>
                                    </p:set>
                                    <p:animEffect transition="in" filter="fade">
                                      <p:cBhvr>
                                        <p:cTn id="12" dur="2000"/>
                                        <p:tgtEl>
                                          <p:spTgt spid="112642">
                                            <p:txEl>
                                              <p:charRg st="36" end="6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2642">
                                            <p:txEl>
                                              <p:charRg st="64" end="103"/>
                                            </p:txEl>
                                          </p:spTgt>
                                        </p:tgtEl>
                                        <p:attrNameLst>
                                          <p:attrName>style.visibility</p:attrName>
                                        </p:attrNameLst>
                                      </p:cBhvr>
                                      <p:to>
                                        <p:strVal val="visible"/>
                                      </p:to>
                                    </p:set>
                                    <p:animEffect transition="in" filter="fade">
                                      <p:cBhvr>
                                        <p:cTn id="17" dur="2000"/>
                                        <p:tgtEl>
                                          <p:spTgt spid="112642">
                                            <p:txEl>
                                              <p:charRg st="64" end="10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AutoShape 2"/>
          <p:cNvSpPr/>
          <p:nvPr/>
        </p:nvSpPr>
        <p:spPr>
          <a:xfrm>
            <a:off x="3429000" y="304800"/>
            <a:ext cx="1371600" cy="457200"/>
          </a:xfrm>
          <a:prstGeom prst="flowChartTerminator">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sz="2400" dirty="0">
                <a:latin typeface="Times New Roman" panose="02020603050405020304" pitchFamily="18" charset="0"/>
              </a:rPr>
              <a:t>开始</a:t>
            </a:r>
            <a:endParaRPr lang="zh-CN" altLang="en-US" sz="2400" dirty="0">
              <a:latin typeface="Times New Roman" panose="02020603050405020304" pitchFamily="18" charset="0"/>
            </a:endParaRPr>
          </a:p>
        </p:txBody>
      </p:sp>
      <p:sp>
        <p:nvSpPr>
          <p:cNvPr id="110595" name="AutoShape 3"/>
          <p:cNvSpPr/>
          <p:nvPr/>
        </p:nvSpPr>
        <p:spPr>
          <a:xfrm>
            <a:off x="1752600" y="1066800"/>
            <a:ext cx="4572000" cy="990600"/>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zh-CN" dirty="0">
              <a:latin typeface="Arial" panose="020B0604020202020204" pitchFamily="34" charset="0"/>
            </a:endParaRPr>
          </a:p>
        </p:txBody>
      </p:sp>
      <p:sp>
        <p:nvSpPr>
          <p:cNvPr id="110596" name="Text Box 4"/>
          <p:cNvSpPr txBox="1"/>
          <p:nvPr/>
        </p:nvSpPr>
        <p:spPr>
          <a:xfrm>
            <a:off x="2514600" y="1371600"/>
            <a:ext cx="3178175" cy="457200"/>
          </a:xfrm>
          <a:prstGeom prst="rect">
            <a:avLst/>
          </a:prstGeom>
          <a:noFill/>
          <a:ln w="9525">
            <a:noFill/>
          </a:ln>
        </p:spPr>
        <p:txBody>
          <a:bodyPr>
            <a:spAutoFit/>
          </a:bodyPr>
          <a:p>
            <a:pPr eaLnBrk="1" hangingPunct="1">
              <a:spcBef>
                <a:spcPct val="50000"/>
              </a:spcBef>
            </a:pPr>
            <a:endParaRPr lang="zh-CN" altLang="zh-CN" sz="2400" dirty="0">
              <a:latin typeface="Times New Roman" panose="02020603050405020304" pitchFamily="18" charset="0"/>
            </a:endParaRPr>
          </a:p>
        </p:txBody>
      </p:sp>
      <p:sp>
        <p:nvSpPr>
          <p:cNvPr id="110597" name="Text Box 5"/>
          <p:cNvSpPr txBox="1"/>
          <p:nvPr/>
        </p:nvSpPr>
        <p:spPr>
          <a:xfrm>
            <a:off x="1927225" y="1516063"/>
            <a:ext cx="3787775" cy="457200"/>
          </a:xfrm>
          <a:prstGeom prst="rect">
            <a:avLst/>
          </a:prstGeom>
          <a:noFill/>
          <a:ln w="9525">
            <a:noFill/>
          </a:ln>
        </p:spPr>
        <p:txBody>
          <a:bodyPr>
            <a:spAutoFit/>
          </a:bodyPr>
          <a:p>
            <a:pPr eaLnBrk="1" hangingPunct="1">
              <a:spcBef>
                <a:spcPct val="50000"/>
              </a:spcBef>
            </a:pPr>
            <a:endParaRPr lang="zh-CN" altLang="zh-CN" sz="2400" dirty="0">
              <a:latin typeface="Times New Roman" panose="02020603050405020304" pitchFamily="18" charset="0"/>
            </a:endParaRPr>
          </a:p>
        </p:txBody>
      </p:sp>
      <p:sp>
        <p:nvSpPr>
          <p:cNvPr id="110598" name="Text Box 6"/>
          <p:cNvSpPr txBox="1"/>
          <p:nvPr/>
        </p:nvSpPr>
        <p:spPr>
          <a:xfrm>
            <a:off x="2743200" y="1295400"/>
            <a:ext cx="2743200" cy="396875"/>
          </a:xfrm>
          <a:prstGeom prst="rect">
            <a:avLst/>
          </a:prstGeom>
          <a:noFill/>
          <a:ln w="9525">
            <a:noFill/>
          </a:ln>
        </p:spPr>
        <p:txBody>
          <a:bodyPr>
            <a:spAutoFit/>
          </a:bodyPr>
          <a:p>
            <a:pPr eaLnBrk="1" hangingPunct="1"/>
            <a:r>
              <a:rPr lang="en-US" altLang="zh-CN" sz="2000" dirty="0">
                <a:latin typeface="Times New Roman" panose="02020603050405020304" pitchFamily="18" charset="0"/>
              </a:rPr>
              <a:t>Request</a:t>
            </a:r>
            <a:r>
              <a:rPr lang="en-US" altLang="zh-CN" sz="2000" baseline="-25000" dirty="0">
                <a:latin typeface="Times New Roman" panose="02020603050405020304" pitchFamily="18" charset="0"/>
              </a:rPr>
              <a:t>i</a:t>
            </a:r>
            <a:r>
              <a:rPr lang="en-US" altLang="zh-CN" sz="2000" dirty="0">
                <a:latin typeface="Times New Roman" panose="02020603050405020304" pitchFamily="18" charset="0"/>
              </a:rPr>
              <a:t>[j]≤Need[i,j],</a:t>
            </a:r>
            <a:endParaRPr lang="en-US" altLang="zh-CN" sz="2000" dirty="0">
              <a:latin typeface="Times New Roman" panose="02020603050405020304" pitchFamily="18" charset="0"/>
            </a:endParaRPr>
          </a:p>
        </p:txBody>
      </p:sp>
      <p:sp>
        <p:nvSpPr>
          <p:cNvPr id="110599" name="Line 7"/>
          <p:cNvSpPr/>
          <p:nvPr/>
        </p:nvSpPr>
        <p:spPr>
          <a:xfrm>
            <a:off x="4038600" y="762000"/>
            <a:ext cx="0" cy="304800"/>
          </a:xfrm>
          <a:prstGeom prst="line">
            <a:avLst/>
          </a:prstGeom>
          <a:ln w="9525" cap="flat" cmpd="sng">
            <a:solidFill>
              <a:schemeClr val="tx1"/>
            </a:solidFill>
            <a:prstDash val="solid"/>
            <a:headEnd type="none" w="med" len="med"/>
            <a:tailEnd type="triangle" w="med" len="med"/>
          </a:ln>
        </p:spPr>
      </p:sp>
      <p:sp>
        <p:nvSpPr>
          <p:cNvPr id="110600" name="Rectangle 8"/>
          <p:cNvSpPr/>
          <p:nvPr/>
        </p:nvSpPr>
        <p:spPr>
          <a:xfrm>
            <a:off x="6553200" y="1905000"/>
            <a:ext cx="990600" cy="762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zh-CN" dirty="0">
              <a:latin typeface="Arial" panose="020B0604020202020204" pitchFamily="34" charset="0"/>
            </a:endParaRPr>
          </a:p>
        </p:txBody>
      </p:sp>
      <p:sp>
        <p:nvSpPr>
          <p:cNvPr id="110601" name="Line 9"/>
          <p:cNvSpPr/>
          <p:nvPr/>
        </p:nvSpPr>
        <p:spPr>
          <a:xfrm>
            <a:off x="6324600" y="1524000"/>
            <a:ext cx="762000" cy="0"/>
          </a:xfrm>
          <a:prstGeom prst="line">
            <a:avLst/>
          </a:prstGeom>
          <a:ln w="9525" cap="flat" cmpd="sng">
            <a:solidFill>
              <a:schemeClr val="tx1"/>
            </a:solidFill>
            <a:prstDash val="solid"/>
            <a:headEnd type="none" w="med" len="med"/>
            <a:tailEnd type="none" w="med" len="med"/>
          </a:ln>
        </p:spPr>
      </p:sp>
      <p:sp>
        <p:nvSpPr>
          <p:cNvPr id="110602" name="Line 10"/>
          <p:cNvSpPr/>
          <p:nvPr/>
        </p:nvSpPr>
        <p:spPr>
          <a:xfrm>
            <a:off x="7086600" y="1524000"/>
            <a:ext cx="0" cy="381000"/>
          </a:xfrm>
          <a:prstGeom prst="line">
            <a:avLst/>
          </a:prstGeom>
          <a:ln w="9525" cap="flat" cmpd="sng">
            <a:solidFill>
              <a:schemeClr val="tx1"/>
            </a:solidFill>
            <a:prstDash val="solid"/>
            <a:headEnd type="none" w="med" len="med"/>
            <a:tailEnd type="triangle" w="med" len="med"/>
          </a:ln>
        </p:spPr>
      </p:sp>
      <p:sp>
        <p:nvSpPr>
          <p:cNvPr id="110603" name="Text Box 11"/>
          <p:cNvSpPr txBox="1"/>
          <p:nvPr/>
        </p:nvSpPr>
        <p:spPr>
          <a:xfrm>
            <a:off x="6629400" y="2057400"/>
            <a:ext cx="892175" cy="457200"/>
          </a:xfrm>
          <a:prstGeom prst="rect">
            <a:avLst/>
          </a:prstGeom>
          <a:noFill/>
          <a:ln w="9525">
            <a:noFill/>
          </a:ln>
        </p:spPr>
        <p:txBody>
          <a:bodyPr>
            <a:spAutoFit/>
          </a:bodyPr>
          <a:p>
            <a:pPr eaLnBrk="1" hangingPunct="1">
              <a:spcBef>
                <a:spcPct val="50000"/>
              </a:spcBef>
            </a:pPr>
            <a:r>
              <a:rPr lang="zh-CN" altLang="en-US" sz="2400" dirty="0">
                <a:latin typeface="Times New Roman" panose="02020603050405020304" pitchFamily="18" charset="0"/>
              </a:rPr>
              <a:t>出错</a:t>
            </a:r>
            <a:endParaRPr lang="zh-CN" altLang="en-US" sz="2400" dirty="0">
              <a:latin typeface="Times New Roman" panose="02020603050405020304" pitchFamily="18" charset="0"/>
            </a:endParaRPr>
          </a:p>
        </p:txBody>
      </p:sp>
      <p:sp>
        <p:nvSpPr>
          <p:cNvPr id="110604" name="Text Box 12"/>
          <p:cNvSpPr txBox="1"/>
          <p:nvPr/>
        </p:nvSpPr>
        <p:spPr>
          <a:xfrm>
            <a:off x="6324600" y="1066800"/>
            <a:ext cx="609600" cy="457200"/>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N</a:t>
            </a:r>
            <a:endParaRPr lang="en-US" altLang="zh-CN" sz="2400" dirty="0">
              <a:latin typeface="Times New Roman" panose="02020603050405020304" pitchFamily="18" charset="0"/>
            </a:endParaRPr>
          </a:p>
        </p:txBody>
      </p:sp>
      <p:sp>
        <p:nvSpPr>
          <p:cNvPr id="110605" name="AutoShape 13"/>
          <p:cNvSpPr/>
          <p:nvPr/>
        </p:nvSpPr>
        <p:spPr>
          <a:xfrm flipV="1">
            <a:off x="1752600" y="2362200"/>
            <a:ext cx="4495800" cy="1066800"/>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zh-CN" dirty="0">
              <a:latin typeface="Arial" panose="020B0604020202020204" pitchFamily="34" charset="0"/>
            </a:endParaRPr>
          </a:p>
        </p:txBody>
      </p:sp>
      <p:sp>
        <p:nvSpPr>
          <p:cNvPr id="110606" name="Text Box 14"/>
          <p:cNvSpPr txBox="1"/>
          <p:nvPr/>
        </p:nvSpPr>
        <p:spPr>
          <a:xfrm>
            <a:off x="2590800" y="2667000"/>
            <a:ext cx="3581400" cy="396875"/>
          </a:xfrm>
          <a:prstGeom prst="rect">
            <a:avLst/>
          </a:prstGeom>
          <a:noFill/>
          <a:ln w="9525">
            <a:noFill/>
          </a:ln>
        </p:spPr>
        <p:txBody>
          <a:bodyPr>
            <a:spAutoFit/>
          </a:bodyPr>
          <a:p>
            <a:pPr eaLnBrk="1" hangingPunct="1">
              <a:spcBef>
                <a:spcPct val="50000"/>
              </a:spcBef>
            </a:pPr>
            <a:r>
              <a:rPr lang="en-US" altLang="zh-CN" sz="2000" dirty="0">
                <a:latin typeface="Times New Roman" panose="02020603050405020304" pitchFamily="18" charset="0"/>
              </a:rPr>
              <a:t>Request</a:t>
            </a:r>
            <a:r>
              <a:rPr lang="en-US" altLang="zh-CN" sz="2000" baseline="-25000" dirty="0">
                <a:latin typeface="Times New Roman" panose="02020603050405020304" pitchFamily="18" charset="0"/>
              </a:rPr>
              <a:t>i</a:t>
            </a:r>
            <a:r>
              <a:rPr lang="en-US" altLang="zh-CN" sz="2000" dirty="0">
                <a:latin typeface="Times New Roman" panose="02020603050405020304" pitchFamily="18" charset="0"/>
              </a:rPr>
              <a:t>[j]≤Available[j]</a:t>
            </a:r>
            <a:endParaRPr lang="en-US" altLang="zh-CN" sz="2000" dirty="0">
              <a:latin typeface="Times New Roman" panose="02020603050405020304" pitchFamily="18" charset="0"/>
            </a:endParaRPr>
          </a:p>
        </p:txBody>
      </p:sp>
      <p:sp>
        <p:nvSpPr>
          <p:cNvPr id="110607" name="Line 15"/>
          <p:cNvSpPr/>
          <p:nvPr/>
        </p:nvSpPr>
        <p:spPr>
          <a:xfrm>
            <a:off x="4038600" y="2057400"/>
            <a:ext cx="0" cy="304800"/>
          </a:xfrm>
          <a:prstGeom prst="line">
            <a:avLst/>
          </a:prstGeom>
          <a:ln w="9525" cap="flat" cmpd="sng">
            <a:solidFill>
              <a:schemeClr val="tx1"/>
            </a:solidFill>
            <a:prstDash val="solid"/>
            <a:headEnd type="none" w="med" len="med"/>
            <a:tailEnd type="triangle" w="med" len="med"/>
          </a:ln>
        </p:spPr>
      </p:sp>
      <p:sp>
        <p:nvSpPr>
          <p:cNvPr id="110608" name="Line 16"/>
          <p:cNvSpPr/>
          <p:nvPr/>
        </p:nvSpPr>
        <p:spPr>
          <a:xfrm>
            <a:off x="6248400" y="2895600"/>
            <a:ext cx="838200" cy="0"/>
          </a:xfrm>
          <a:prstGeom prst="line">
            <a:avLst/>
          </a:prstGeom>
          <a:ln w="9525" cap="flat" cmpd="sng">
            <a:solidFill>
              <a:schemeClr val="tx1"/>
            </a:solidFill>
            <a:prstDash val="solid"/>
            <a:headEnd type="none" w="med" len="med"/>
            <a:tailEnd type="none" w="med" len="med"/>
          </a:ln>
        </p:spPr>
      </p:sp>
      <p:sp>
        <p:nvSpPr>
          <p:cNvPr id="110609" name="Rectangle 17"/>
          <p:cNvSpPr/>
          <p:nvPr/>
        </p:nvSpPr>
        <p:spPr>
          <a:xfrm>
            <a:off x="6096000" y="3429000"/>
            <a:ext cx="22860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zh-CN" dirty="0">
              <a:latin typeface="Arial" panose="020B0604020202020204" pitchFamily="34" charset="0"/>
            </a:endParaRPr>
          </a:p>
        </p:txBody>
      </p:sp>
      <p:sp>
        <p:nvSpPr>
          <p:cNvPr id="110610" name="Line 18"/>
          <p:cNvSpPr/>
          <p:nvPr/>
        </p:nvSpPr>
        <p:spPr>
          <a:xfrm>
            <a:off x="7086600" y="2895600"/>
            <a:ext cx="0" cy="533400"/>
          </a:xfrm>
          <a:prstGeom prst="line">
            <a:avLst/>
          </a:prstGeom>
          <a:ln w="9525" cap="flat" cmpd="sng">
            <a:solidFill>
              <a:schemeClr val="tx1"/>
            </a:solidFill>
            <a:prstDash val="solid"/>
            <a:headEnd type="none" w="med" len="med"/>
            <a:tailEnd type="triangle" w="med" len="med"/>
          </a:ln>
        </p:spPr>
      </p:sp>
      <p:sp>
        <p:nvSpPr>
          <p:cNvPr id="110611" name="Text Box 19"/>
          <p:cNvSpPr txBox="1"/>
          <p:nvPr/>
        </p:nvSpPr>
        <p:spPr>
          <a:xfrm>
            <a:off x="6248400" y="3429000"/>
            <a:ext cx="2035175" cy="457200"/>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Pi</a:t>
            </a:r>
            <a:r>
              <a:rPr lang="zh-CN" altLang="en-US" sz="2400" dirty="0">
                <a:latin typeface="Times New Roman" panose="02020603050405020304" pitchFamily="18" charset="0"/>
              </a:rPr>
              <a:t>进程等待</a:t>
            </a:r>
            <a:endParaRPr lang="zh-CN" altLang="en-US" sz="2400" dirty="0">
              <a:latin typeface="Times New Roman" panose="02020603050405020304" pitchFamily="18" charset="0"/>
            </a:endParaRPr>
          </a:p>
        </p:txBody>
      </p:sp>
      <p:sp>
        <p:nvSpPr>
          <p:cNvPr id="110612" name="AutoShape 20"/>
          <p:cNvSpPr/>
          <p:nvPr/>
        </p:nvSpPr>
        <p:spPr>
          <a:xfrm>
            <a:off x="1524000" y="3657600"/>
            <a:ext cx="4419600" cy="1066800"/>
          </a:xfrm>
          <a:prstGeom prst="flowChartProcess">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zh-CN" dirty="0">
              <a:latin typeface="Arial" panose="020B0604020202020204" pitchFamily="34" charset="0"/>
            </a:endParaRPr>
          </a:p>
        </p:txBody>
      </p:sp>
      <p:sp>
        <p:nvSpPr>
          <p:cNvPr id="110613" name="Text Box 21"/>
          <p:cNvSpPr txBox="1"/>
          <p:nvPr/>
        </p:nvSpPr>
        <p:spPr>
          <a:xfrm>
            <a:off x="1600200" y="3733800"/>
            <a:ext cx="4191000" cy="1219200"/>
          </a:xfrm>
          <a:prstGeom prst="rect">
            <a:avLst/>
          </a:prstGeom>
          <a:noFill/>
          <a:ln w="9525">
            <a:noFill/>
          </a:ln>
        </p:spPr>
        <p:txBody>
          <a:bodyPr>
            <a:spAutoFit/>
          </a:bodyPr>
          <a:p>
            <a:pPr algn="just" eaLnBrk="1" hangingPunct="1">
              <a:lnSpc>
                <a:spcPct val="90000"/>
              </a:lnSpc>
              <a:spcBef>
                <a:spcPct val="20000"/>
              </a:spcBef>
            </a:pPr>
            <a:r>
              <a:rPr lang="en-US" altLang="zh-CN" sz="1600" b="1" dirty="0">
                <a:latin typeface="Times New Roman" panose="02020603050405020304" pitchFamily="18" charset="0"/>
              </a:rPr>
              <a:t>Available[j]</a:t>
            </a:r>
            <a:r>
              <a:rPr lang="zh-CN" altLang="en-US" sz="1600" b="1" dirty="0">
                <a:latin typeface="Times New Roman" panose="02020603050405020304" pitchFamily="18" charset="0"/>
              </a:rPr>
              <a:t>：＝</a:t>
            </a:r>
            <a:r>
              <a:rPr lang="en-US" altLang="zh-CN" sz="1600" b="1" dirty="0">
                <a:latin typeface="Times New Roman" panose="02020603050405020304" pitchFamily="18" charset="0"/>
              </a:rPr>
              <a:t>Available[j]</a:t>
            </a:r>
            <a:r>
              <a:rPr lang="zh-CN" altLang="en-US" sz="1600" b="1" dirty="0">
                <a:latin typeface="Times New Roman" panose="02020603050405020304" pitchFamily="18" charset="0"/>
              </a:rPr>
              <a:t>一</a:t>
            </a:r>
            <a:r>
              <a:rPr lang="en-US" altLang="zh-CN" sz="1600" b="1" dirty="0">
                <a:latin typeface="Times New Roman" panose="02020603050405020304" pitchFamily="18" charset="0"/>
              </a:rPr>
              <a:t>Request</a:t>
            </a:r>
            <a:r>
              <a:rPr lang="en-US" altLang="zh-CN" sz="1600" b="1" baseline="-25000" dirty="0">
                <a:latin typeface="Times New Roman" panose="02020603050405020304" pitchFamily="18" charset="0"/>
              </a:rPr>
              <a:t>i</a:t>
            </a:r>
            <a:r>
              <a:rPr lang="en-US" altLang="zh-CN" sz="1600" b="1" dirty="0">
                <a:latin typeface="Times New Roman" panose="02020603050405020304" pitchFamily="18" charset="0"/>
              </a:rPr>
              <a:t>[j]</a:t>
            </a:r>
            <a:r>
              <a:rPr lang="zh-CN" altLang="en-US" sz="1600" b="1" dirty="0">
                <a:latin typeface="Times New Roman" panose="02020603050405020304" pitchFamily="18" charset="0"/>
              </a:rPr>
              <a:t>；</a:t>
            </a:r>
            <a:endParaRPr lang="zh-CN" altLang="en-US" sz="1600" b="1" dirty="0">
              <a:latin typeface="Times New Roman" panose="02020603050405020304" pitchFamily="18" charset="0"/>
            </a:endParaRPr>
          </a:p>
          <a:p>
            <a:pPr algn="just" eaLnBrk="1" hangingPunct="1">
              <a:lnSpc>
                <a:spcPct val="90000"/>
              </a:lnSpc>
              <a:spcBef>
                <a:spcPct val="20000"/>
              </a:spcBef>
            </a:pPr>
            <a:r>
              <a:rPr lang="en-US" altLang="zh-CN" sz="1600" b="1" dirty="0">
                <a:latin typeface="Times New Roman" panose="02020603050405020304" pitchFamily="18" charset="0"/>
              </a:rPr>
              <a:t>Allocation[i,j]</a:t>
            </a:r>
            <a:r>
              <a:rPr lang="zh-CN" altLang="en-US" sz="1600" b="1" dirty="0">
                <a:latin typeface="Times New Roman" panose="02020603050405020304" pitchFamily="18" charset="0"/>
              </a:rPr>
              <a:t>：＝</a:t>
            </a:r>
            <a:r>
              <a:rPr lang="en-US" altLang="zh-CN" sz="1600" b="1" dirty="0">
                <a:latin typeface="Times New Roman" panose="02020603050405020304" pitchFamily="18" charset="0"/>
              </a:rPr>
              <a:t>Allocation[i,j]</a:t>
            </a:r>
            <a:r>
              <a:rPr lang="zh-CN" altLang="en-US" sz="1600" b="1" dirty="0">
                <a:latin typeface="Times New Roman" panose="02020603050405020304" pitchFamily="18" charset="0"/>
              </a:rPr>
              <a:t>＋</a:t>
            </a:r>
            <a:r>
              <a:rPr lang="en-US" altLang="zh-CN" sz="1600" b="1" dirty="0">
                <a:latin typeface="Times New Roman" panose="02020603050405020304" pitchFamily="18" charset="0"/>
              </a:rPr>
              <a:t>Request</a:t>
            </a:r>
            <a:r>
              <a:rPr lang="en-US" altLang="zh-CN" sz="1600" b="1" baseline="-25000" dirty="0">
                <a:latin typeface="Times New Roman" panose="02020603050405020304" pitchFamily="18" charset="0"/>
              </a:rPr>
              <a:t>i</a:t>
            </a:r>
            <a:r>
              <a:rPr lang="en-US" altLang="zh-CN" sz="1600" b="1" dirty="0">
                <a:latin typeface="Times New Roman" panose="02020603050405020304" pitchFamily="18" charset="0"/>
              </a:rPr>
              <a:t>[j];</a:t>
            </a:r>
            <a:endParaRPr lang="en-US" altLang="zh-CN" sz="1600" b="1" dirty="0">
              <a:latin typeface="Times New Roman" panose="02020603050405020304" pitchFamily="18" charset="0"/>
            </a:endParaRPr>
          </a:p>
          <a:p>
            <a:pPr algn="just" eaLnBrk="1" hangingPunct="1">
              <a:lnSpc>
                <a:spcPct val="90000"/>
              </a:lnSpc>
              <a:spcBef>
                <a:spcPct val="20000"/>
              </a:spcBef>
            </a:pPr>
            <a:r>
              <a:rPr lang="en-US" altLang="zh-CN" sz="1600" b="1" dirty="0">
                <a:latin typeface="Times New Roman" panose="02020603050405020304" pitchFamily="18" charset="0"/>
              </a:rPr>
              <a:t> Need[i,j]: =Need[i,j]</a:t>
            </a:r>
            <a:r>
              <a:rPr lang="zh-CN" altLang="en-US" sz="1600" b="1" dirty="0">
                <a:latin typeface="Times New Roman" panose="02020603050405020304" pitchFamily="18" charset="0"/>
              </a:rPr>
              <a:t>一</a:t>
            </a:r>
            <a:r>
              <a:rPr lang="en-US" altLang="zh-CN" sz="1600" b="1" dirty="0">
                <a:latin typeface="Times New Roman" panose="02020603050405020304" pitchFamily="18" charset="0"/>
              </a:rPr>
              <a:t>Request</a:t>
            </a:r>
            <a:r>
              <a:rPr lang="en-US" altLang="zh-CN" sz="1600" b="1" baseline="-25000" dirty="0">
                <a:latin typeface="Times New Roman" panose="02020603050405020304" pitchFamily="18" charset="0"/>
              </a:rPr>
              <a:t>i</a:t>
            </a:r>
            <a:r>
              <a:rPr lang="en-US" altLang="zh-CN" sz="1600" b="1" dirty="0">
                <a:latin typeface="Times New Roman" panose="02020603050405020304" pitchFamily="18" charset="0"/>
              </a:rPr>
              <a:t>[j]</a:t>
            </a:r>
            <a:r>
              <a:rPr lang="zh-CN" altLang="en-US" sz="1600" b="1" dirty="0">
                <a:latin typeface="Times New Roman" panose="02020603050405020304" pitchFamily="18" charset="0"/>
              </a:rPr>
              <a:t>；</a:t>
            </a:r>
            <a:endParaRPr lang="zh-CN" altLang="en-US" sz="1600" b="1" dirty="0">
              <a:latin typeface="Times New Roman" panose="02020603050405020304" pitchFamily="18" charset="0"/>
            </a:endParaRPr>
          </a:p>
          <a:p>
            <a:pPr eaLnBrk="1" hangingPunct="1">
              <a:spcBef>
                <a:spcPct val="50000"/>
              </a:spcBef>
            </a:pPr>
            <a:endParaRPr lang="en-US" altLang="zh-CN" sz="1600" dirty="0">
              <a:latin typeface="Times New Roman" panose="02020603050405020304" pitchFamily="18" charset="0"/>
            </a:endParaRPr>
          </a:p>
        </p:txBody>
      </p:sp>
      <p:sp>
        <p:nvSpPr>
          <p:cNvPr id="110614" name="Line 22"/>
          <p:cNvSpPr/>
          <p:nvPr/>
        </p:nvSpPr>
        <p:spPr>
          <a:xfrm>
            <a:off x="3962400" y="3352800"/>
            <a:ext cx="0" cy="304800"/>
          </a:xfrm>
          <a:prstGeom prst="line">
            <a:avLst/>
          </a:prstGeom>
          <a:ln w="9525" cap="flat" cmpd="sng">
            <a:solidFill>
              <a:schemeClr val="tx1"/>
            </a:solidFill>
            <a:prstDash val="solid"/>
            <a:headEnd type="none" w="med" len="med"/>
            <a:tailEnd type="triangle" w="med" len="med"/>
          </a:ln>
        </p:spPr>
      </p:sp>
      <p:sp>
        <p:nvSpPr>
          <p:cNvPr id="110615" name="AutoShape 23"/>
          <p:cNvSpPr/>
          <p:nvPr/>
        </p:nvSpPr>
        <p:spPr>
          <a:xfrm>
            <a:off x="2209800" y="4953000"/>
            <a:ext cx="3352800" cy="533400"/>
          </a:xfrm>
          <a:prstGeom prst="flowChartProcess">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sz="2400" dirty="0">
                <a:latin typeface="Times New Roman" panose="02020603050405020304" pitchFamily="18" charset="0"/>
              </a:rPr>
              <a:t>系统安全性检查</a:t>
            </a:r>
            <a:endParaRPr lang="zh-CN" altLang="en-US" sz="2400" dirty="0">
              <a:latin typeface="Times New Roman" panose="02020603050405020304" pitchFamily="18" charset="0"/>
            </a:endParaRPr>
          </a:p>
        </p:txBody>
      </p:sp>
      <p:sp>
        <p:nvSpPr>
          <p:cNvPr id="110616" name="Line 24"/>
          <p:cNvSpPr/>
          <p:nvPr/>
        </p:nvSpPr>
        <p:spPr>
          <a:xfrm>
            <a:off x="4114800" y="4724400"/>
            <a:ext cx="0" cy="228600"/>
          </a:xfrm>
          <a:prstGeom prst="line">
            <a:avLst/>
          </a:prstGeom>
          <a:ln w="9525" cap="flat" cmpd="sng">
            <a:solidFill>
              <a:schemeClr val="tx1"/>
            </a:solidFill>
            <a:prstDash val="solid"/>
            <a:headEnd type="none" w="med" len="med"/>
            <a:tailEnd type="triangle" w="med" len="med"/>
          </a:ln>
        </p:spPr>
      </p:sp>
      <p:sp>
        <p:nvSpPr>
          <p:cNvPr id="110617" name="Text Box 25"/>
          <p:cNvSpPr txBox="1"/>
          <p:nvPr/>
        </p:nvSpPr>
        <p:spPr>
          <a:xfrm>
            <a:off x="6096000" y="2438400"/>
            <a:ext cx="457200" cy="457200"/>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N</a:t>
            </a:r>
            <a:endParaRPr lang="en-US" altLang="zh-CN" sz="2400" dirty="0">
              <a:latin typeface="Times New Roman" panose="02020603050405020304" pitchFamily="18" charset="0"/>
            </a:endParaRPr>
          </a:p>
        </p:txBody>
      </p:sp>
      <p:sp>
        <p:nvSpPr>
          <p:cNvPr id="110618" name="AutoShape 26"/>
          <p:cNvSpPr/>
          <p:nvPr/>
        </p:nvSpPr>
        <p:spPr>
          <a:xfrm>
            <a:off x="3124200" y="5715000"/>
            <a:ext cx="2057400" cy="609600"/>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zh-CN" dirty="0">
              <a:latin typeface="Arial" panose="020B0604020202020204" pitchFamily="34" charset="0"/>
            </a:endParaRPr>
          </a:p>
        </p:txBody>
      </p:sp>
      <p:sp>
        <p:nvSpPr>
          <p:cNvPr id="110619" name="Text Box 27"/>
          <p:cNvSpPr txBox="1"/>
          <p:nvPr/>
        </p:nvSpPr>
        <p:spPr>
          <a:xfrm>
            <a:off x="3124200" y="6011863"/>
            <a:ext cx="1143000" cy="457200"/>
          </a:xfrm>
          <a:prstGeom prst="rect">
            <a:avLst/>
          </a:prstGeom>
          <a:noFill/>
          <a:ln w="9525">
            <a:noFill/>
          </a:ln>
        </p:spPr>
        <p:txBody>
          <a:bodyPr>
            <a:spAutoFit/>
          </a:bodyPr>
          <a:p>
            <a:pPr eaLnBrk="1" hangingPunct="1">
              <a:spcBef>
                <a:spcPct val="50000"/>
              </a:spcBef>
            </a:pPr>
            <a:endParaRPr lang="zh-CN" altLang="zh-CN" sz="2400" dirty="0">
              <a:latin typeface="Times New Roman" panose="02020603050405020304" pitchFamily="18" charset="0"/>
            </a:endParaRPr>
          </a:p>
        </p:txBody>
      </p:sp>
      <p:sp>
        <p:nvSpPr>
          <p:cNvPr id="110620" name="Text Box 28"/>
          <p:cNvSpPr txBox="1"/>
          <p:nvPr/>
        </p:nvSpPr>
        <p:spPr>
          <a:xfrm>
            <a:off x="3657600" y="5791200"/>
            <a:ext cx="838200" cy="457200"/>
          </a:xfrm>
          <a:prstGeom prst="rect">
            <a:avLst/>
          </a:prstGeom>
          <a:noFill/>
          <a:ln w="9525">
            <a:noFill/>
          </a:ln>
        </p:spPr>
        <p:txBody>
          <a:bodyPr>
            <a:spAutoFit/>
          </a:bodyPr>
          <a:p>
            <a:pPr eaLnBrk="1" hangingPunct="1">
              <a:spcBef>
                <a:spcPct val="50000"/>
              </a:spcBef>
            </a:pPr>
            <a:r>
              <a:rPr lang="zh-CN" altLang="en-US" sz="2400" dirty="0">
                <a:latin typeface="Times New Roman" panose="02020603050405020304" pitchFamily="18" charset="0"/>
              </a:rPr>
              <a:t>安全</a:t>
            </a:r>
            <a:endParaRPr lang="zh-CN" altLang="en-US" sz="2400" dirty="0">
              <a:latin typeface="Times New Roman" panose="02020603050405020304" pitchFamily="18" charset="0"/>
            </a:endParaRPr>
          </a:p>
        </p:txBody>
      </p:sp>
      <p:sp>
        <p:nvSpPr>
          <p:cNvPr id="110621" name="AutoShape 29"/>
          <p:cNvSpPr/>
          <p:nvPr/>
        </p:nvSpPr>
        <p:spPr>
          <a:xfrm>
            <a:off x="5867400" y="5791200"/>
            <a:ext cx="2286000" cy="609600"/>
          </a:xfrm>
          <a:prstGeom prst="flowChartProcess">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zh-CN" dirty="0">
              <a:latin typeface="Arial" panose="020B0604020202020204" pitchFamily="34" charset="0"/>
            </a:endParaRPr>
          </a:p>
        </p:txBody>
      </p:sp>
      <p:sp>
        <p:nvSpPr>
          <p:cNvPr id="110622" name="Text Box 30"/>
          <p:cNvSpPr txBox="1"/>
          <p:nvPr/>
        </p:nvSpPr>
        <p:spPr>
          <a:xfrm>
            <a:off x="6019800" y="5867400"/>
            <a:ext cx="1828800" cy="457200"/>
          </a:xfrm>
          <a:prstGeom prst="rect">
            <a:avLst/>
          </a:prstGeom>
          <a:noFill/>
          <a:ln w="9525">
            <a:noFill/>
          </a:ln>
        </p:spPr>
        <p:txBody>
          <a:bodyPr>
            <a:spAutoFit/>
          </a:bodyPr>
          <a:p>
            <a:pPr eaLnBrk="1" hangingPunct="1">
              <a:spcBef>
                <a:spcPct val="50000"/>
              </a:spcBef>
            </a:pPr>
            <a:r>
              <a:rPr lang="zh-CN" altLang="en-US" sz="2400" dirty="0">
                <a:latin typeface="Times New Roman" panose="02020603050405020304" pitchFamily="18" charset="0"/>
              </a:rPr>
              <a:t>不分配资源</a:t>
            </a:r>
            <a:endParaRPr lang="zh-CN" altLang="en-US" sz="2400" dirty="0">
              <a:latin typeface="Times New Roman" panose="02020603050405020304" pitchFamily="18" charset="0"/>
            </a:endParaRPr>
          </a:p>
        </p:txBody>
      </p:sp>
      <p:sp>
        <p:nvSpPr>
          <p:cNvPr id="110623" name="AutoShape 31"/>
          <p:cNvSpPr/>
          <p:nvPr/>
        </p:nvSpPr>
        <p:spPr>
          <a:xfrm>
            <a:off x="609600" y="5791200"/>
            <a:ext cx="1828800" cy="609600"/>
          </a:xfrm>
          <a:prstGeom prst="flowChartProcess">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zh-CN" dirty="0">
              <a:latin typeface="Arial" panose="020B0604020202020204" pitchFamily="34" charset="0"/>
            </a:endParaRPr>
          </a:p>
        </p:txBody>
      </p:sp>
      <p:sp>
        <p:nvSpPr>
          <p:cNvPr id="110624" name="Text Box 32"/>
          <p:cNvSpPr txBox="1"/>
          <p:nvPr/>
        </p:nvSpPr>
        <p:spPr>
          <a:xfrm>
            <a:off x="762000" y="5867400"/>
            <a:ext cx="1600200" cy="457200"/>
          </a:xfrm>
          <a:prstGeom prst="rect">
            <a:avLst/>
          </a:prstGeom>
          <a:noFill/>
          <a:ln w="9525">
            <a:noFill/>
          </a:ln>
        </p:spPr>
        <p:txBody>
          <a:bodyPr>
            <a:spAutoFit/>
          </a:bodyPr>
          <a:p>
            <a:pPr eaLnBrk="1" hangingPunct="1">
              <a:spcBef>
                <a:spcPct val="50000"/>
              </a:spcBef>
            </a:pPr>
            <a:r>
              <a:rPr lang="zh-CN" altLang="en-US" sz="2400" dirty="0">
                <a:latin typeface="Times New Roman" panose="02020603050405020304" pitchFamily="18" charset="0"/>
              </a:rPr>
              <a:t>分配资源</a:t>
            </a:r>
            <a:endParaRPr lang="zh-CN" altLang="en-US" sz="2400" dirty="0">
              <a:latin typeface="Times New Roman" panose="02020603050405020304" pitchFamily="18" charset="0"/>
            </a:endParaRPr>
          </a:p>
        </p:txBody>
      </p:sp>
      <p:sp>
        <p:nvSpPr>
          <p:cNvPr id="110625" name="Line 33"/>
          <p:cNvSpPr/>
          <p:nvPr/>
        </p:nvSpPr>
        <p:spPr>
          <a:xfrm>
            <a:off x="5181600" y="6019800"/>
            <a:ext cx="685800" cy="0"/>
          </a:xfrm>
          <a:prstGeom prst="line">
            <a:avLst/>
          </a:prstGeom>
          <a:ln w="9525" cap="flat" cmpd="sng">
            <a:solidFill>
              <a:schemeClr val="tx1"/>
            </a:solidFill>
            <a:prstDash val="solid"/>
            <a:headEnd type="none" w="med" len="med"/>
            <a:tailEnd type="triangle" w="med" len="med"/>
          </a:ln>
        </p:spPr>
      </p:sp>
      <p:sp>
        <p:nvSpPr>
          <p:cNvPr id="110626" name="Line 34"/>
          <p:cNvSpPr/>
          <p:nvPr/>
        </p:nvSpPr>
        <p:spPr>
          <a:xfrm flipH="1">
            <a:off x="2438400" y="6019800"/>
            <a:ext cx="685800" cy="0"/>
          </a:xfrm>
          <a:prstGeom prst="line">
            <a:avLst/>
          </a:prstGeom>
          <a:ln w="9525" cap="flat" cmpd="sng">
            <a:solidFill>
              <a:schemeClr val="tx1"/>
            </a:solidFill>
            <a:prstDash val="solid"/>
            <a:headEnd type="none" w="med" len="med"/>
            <a:tailEnd type="triangle" w="med" len="med"/>
          </a:ln>
        </p:spPr>
      </p:sp>
      <p:sp>
        <p:nvSpPr>
          <p:cNvPr id="110627" name="Line 35"/>
          <p:cNvSpPr/>
          <p:nvPr/>
        </p:nvSpPr>
        <p:spPr>
          <a:xfrm>
            <a:off x="4114800" y="5486400"/>
            <a:ext cx="0" cy="228600"/>
          </a:xfrm>
          <a:prstGeom prst="line">
            <a:avLst/>
          </a:prstGeom>
          <a:ln w="9525" cap="flat" cmpd="sng">
            <a:solidFill>
              <a:schemeClr val="tx1"/>
            </a:solidFill>
            <a:prstDash val="solid"/>
            <a:headEnd type="none" w="med" len="med"/>
            <a:tailEnd type="triangle" w="med" len="med"/>
          </a:ln>
        </p:spPr>
      </p:sp>
      <p:sp>
        <p:nvSpPr>
          <p:cNvPr id="110628" name="Text Box 36"/>
          <p:cNvSpPr txBox="1"/>
          <p:nvPr/>
        </p:nvSpPr>
        <p:spPr>
          <a:xfrm>
            <a:off x="5105400" y="5638800"/>
            <a:ext cx="457200" cy="457200"/>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N</a:t>
            </a:r>
            <a:endParaRPr lang="en-US" altLang="zh-CN" sz="2400" dirty="0">
              <a:latin typeface="Times New Roman" panose="02020603050405020304" pitchFamily="18" charset="0"/>
            </a:endParaRPr>
          </a:p>
        </p:txBody>
      </p:sp>
      <p:sp>
        <p:nvSpPr>
          <p:cNvPr id="110629" name="Text Box 37"/>
          <p:cNvSpPr txBox="1"/>
          <p:nvPr/>
        </p:nvSpPr>
        <p:spPr>
          <a:xfrm>
            <a:off x="2667000" y="5562600"/>
            <a:ext cx="457200" cy="457200"/>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Y</a:t>
            </a:r>
            <a:endParaRPr lang="en-US" altLang="zh-CN" sz="2400" dirty="0">
              <a:latin typeface="Times New Roman" panose="02020603050405020304" pitchFamily="18" charset="0"/>
            </a:endParaRP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1714" name="Rectangle 2"/>
          <p:cNvSpPr>
            <a:spLocks noGrp="1" noRot="1" noChangeArrowheads="1"/>
          </p:cNvSpPr>
          <p:nvPr>
            <p:ph type="title" idx="4294967295"/>
          </p:nvPr>
        </p:nvSpPr>
        <p:spPr>
          <a:xfrm>
            <a:off x="228600" y="404813"/>
            <a:ext cx="8305800" cy="6858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 (</a:t>
            </a:r>
            <a:r>
              <a:rPr kumimoji="0" lang="zh-CN" altLang="en-US" sz="4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三</a:t>
            </a:r>
            <a:r>
              <a:rPr kumimoji="0" lang="en-US" altLang="zh-CN" sz="4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t>
            </a:r>
            <a:r>
              <a:rPr kumimoji="0" lang="zh-CN" altLang="en-US" sz="4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．安全性算法</a:t>
            </a:r>
            <a:endParaRPr kumimoji="0" lang="zh-CN" altLang="en-US" sz="4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71715" name="Rectangle 3"/>
          <p:cNvSpPr>
            <a:spLocks noGrp="1" noRot="1" noChangeArrowheads="1"/>
          </p:cNvSpPr>
          <p:nvPr>
            <p:ph type="body" idx="1"/>
          </p:nvPr>
        </p:nvSpPr>
        <p:spPr>
          <a:xfrm>
            <a:off x="304800" y="1243013"/>
            <a:ext cx="8458200" cy="5029200"/>
          </a:xfrm>
        </p:spPr>
        <p:txBody>
          <a:bodyPr vert="horz" wrap="square" lIns="91440" tIns="45720" rIns="91440" bIns="45720" numCol="1" anchor="t" anchorCtr="0" compatLnSpc="1"/>
          <a:lstStyle/>
          <a:p>
            <a:pPr marL="186055" marR="0" lvl="0" indent="-186055"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1"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系统所执行的安全性算法可描述如下：</a:t>
            </a:r>
            <a:endParaRPr kumimoji="0" lang="zh-CN" altLang="en-US" sz="3200" b="1" i="1"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endParaRPr>
          </a:p>
          <a:p>
            <a:pPr marL="186055" marR="0" lvl="0" indent="-186055"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）设置两个向量</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a:p>
            <a:pPr marL="186055" marR="0" lvl="0" indent="-186055"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28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mn-ea"/>
                <a:cs typeface="+mn-cs"/>
              </a:rPr>
              <a:t>①工作向量</a:t>
            </a:r>
            <a:r>
              <a:rPr kumimoji="0" lang="en-US" altLang="zh-CN" sz="28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mn-ea"/>
                <a:cs typeface="+mn-cs"/>
              </a:rPr>
              <a:t>Work</a:t>
            </a:r>
            <a:r>
              <a:rPr kumimoji="0" lang="en-US" altLang="zh-CN" sz="2800" b="1" i="0" u="none" strike="noStrike" kern="0" cap="none" spc="0" normalizeH="0" baseline="0" noProof="0" dirty="0" smtClean="0">
                <a:ln>
                  <a:noFill/>
                </a:ln>
                <a:solidFill>
                  <a:schemeClr val="folHlink"/>
                </a:solidFill>
                <a:effectLst/>
                <a:uLnTx/>
                <a:uFillTx/>
                <a:latin typeface="+mn-lt"/>
                <a:ea typeface="+mn-ea"/>
                <a:cs typeface="+mn-cs"/>
              </a:rPr>
              <a:t>:</a:t>
            </a:r>
            <a:endParaRPr kumimoji="0" lang="en-US" altLang="zh-CN" sz="2800" b="1" i="0" u="none" strike="noStrike" kern="0" cap="none" spc="0" normalizeH="0" baseline="0" noProof="0" dirty="0" smtClean="0">
              <a:ln>
                <a:noFill/>
              </a:ln>
              <a:solidFill>
                <a:schemeClr val="folHlink"/>
              </a:solidFill>
              <a:effectLst/>
              <a:uLnTx/>
              <a:uFillTx/>
              <a:latin typeface="+mn-lt"/>
              <a:ea typeface="+mn-ea"/>
              <a:cs typeface="+mn-cs"/>
            </a:endParaRPr>
          </a:p>
          <a:p>
            <a:pPr marL="186055" marR="0" lvl="0" indent="-186055"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它表示系统可提供给进程继续运行所需的各类资源数目，初始值</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Work:</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Available.</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186055" marR="0" lvl="0" indent="-186055"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28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mn-ea"/>
                <a:cs typeface="+mn-cs"/>
              </a:rPr>
              <a:t>②</a:t>
            </a:r>
            <a:r>
              <a:rPr kumimoji="0" lang="zh-CN" altLang="en-US" sz="28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mn-ea"/>
                <a:cs typeface="+mn-cs"/>
              </a:rPr>
              <a:t>设置数组</a:t>
            </a:r>
            <a:r>
              <a:rPr kumimoji="0" lang="en-US" altLang="zh-CN" sz="28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mn-ea"/>
                <a:cs typeface="+mn-cs"/>
              </a:rPr>
              <a:t>Finish[n]</a:t>
            </a:r>
            <a:r>
              <a:rPr kumimoji="0" lang="zh-CN" altLang="en-US" sz="28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mn-ea"/>
                <a:cs typeface="+mn-cs"/>
              </a:rPr>
              <a:t>：</a:t>
            </a:r>
            <a:endParaRPr kumimoji="0" lang="zh-CN" altLang="en-US" sz="28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mn-ea"/>
              <a:cs typeface="+mn-cs"/>
            </a:endParaRPr>
          </a:p>
          <a:p>
            <a:pPr marL="186055" marR="0" lvl="0" indent="-186055"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	</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它表示系统是否有足够的资源分配给进程，使之运行完成。</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初始值</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Finish[</a:t>
            </a:r>
            <a:r>
              <a:rPr kumimoji="0" lang="en-US" altLang="zh-CN" sz="2800" b="1" i="0" u="none" strike="noStrike" kern="0" cap="none" spc="0" normalizeH="0" baseline="0" noProof="0" dirty="0" err="1" smtClean="0">
                <a:ln>
                  <a:noFill/>
                </a:ln>
                <a:solidFill>
                  <a:schemeClr val="tx1"/>
                </a:solidFill>
                <a:effectLst/>
                <a:uLnTx/>
                <a:uFillTx/>
                <a:latin typeface="+mn-lt"/>
                <a:ea typeface="+mn-ea"/>
                <a:cs typeface="+mn-cs"/>
              </a:rPr>
              <a:t>i</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]:=false</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a:p>
            <a:pPr marL="186055" marR="0" lvl="0" indent="-186055"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当</a:t>
            </a:r>
            <a:r>
              <a:rPr kumimoji="0" lang="en-US" altLang="zh-CN" sz="2800" b="1" i="0" u="none" strike="noStrike" kern="0" cap="none" spc="0" normalizeH="0" baseline="0" noProof="0" dirty="0" smtClean="0">
                <a:ln>
                  <a:noFill/>
                </a:ln>
                <a:solidFill>
                  <a:srgbClr val="FF0000"/>
                </a:solidFill>
                <a:effectLst/>
                <a:uLnTx/>
                <a:uFillTx/>
                <a:latin typeface="+mn-lt"/>
                <a:ea typeface="+mn-ea"/>
                <a:cs typeface="+mn-cs"/>
              </a:rPr>
              <a:t>Finish[</a:t>
            </a:r>
            <a:r>
              <a:rPr kumimoji="0" lang="en-US" altLang="zh-CN" sz="2800" b="1" i="0" u="none" strike="noStrike" kern="0" cap="none" spc="0" normalizeH="0" baseline="0" noProof="0" dirty="0" err="1" smtClean="0">
                <a:ln>
                  <a:noFill/>
                </a:ln>
                <a:solidFill>
                  <a:srgbClr val="FF0000"/>
                </a:solidFill>
                <a:effectLst/>
                <a:uLnTx/>
                <a:uFillTx/>
                <a:latin typeface="+mn-lt"/>
                <a:ea typeface="+mn-ea"/>
                <a:cs typeface="+mn-cs"/>
              </a:rPr>
              <a:t>i</a:t>
            </a:r>
            <a:r>
              <a:rPr kumimoji="0" lang="en-US" altLang="zh-CN" sz="2800" b="1" i="0" u="none" strike="noStrike" kern="0" cap="none" spc="0" normalizeH="0" baseline="0" noProof="0" dirty="0" smtClean="0">
                <a:ln>
                  <a:noFill/>
                </a:ln>
                <a:solidFill>
                  <a:srgbClr val="FF0000"/>
                </a:solidFill>
                <a:effectLst/>
                <a:uLnTx/>
                <a:uFillTx/>
                <a:latin typeface="+mn-lt"/>
                <a:ea typeface="+mn-ea"/>
                <a:cs typeface="+mn-cs"/>
              </a:rPr>
              <a:t>]:=true</a:t>
            </a: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时，进程</a:t>
            </a:r>
            <a:r>
              <a:rPr kumimoji="0" lang="en-US" altLang="zh-CN" sz="2800" b="1" i="0" u="none" strike="noStrike" kern="0" cap="none" spc="0" normalizeH="0" baseline="0" noProof="0" dirty="0" smtClean="0">
                <a:ln>
                  <a:noFill/>
                </a:ln>
                <a:solidFill>
                  <a:srgbClr val="FF0000"/>
                </a:solidFill>
                <a:effectLst/>
                <a:uLnTx/>
                <a:uFillTx/>
                <a:latin typeface="+mn-lt"/>
                <a:ea typeface="+mn-ea"/>
                <a:cs typeface="+mn-cs"/>
              </a:rPr>
              <a:t>pi</a:t>
            </a: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可获得其所需的全部资源</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，从而顺利执行完成。</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71714"/>
                                        </p:tgtEl>
                                        <p:attrNameLst>
                                          <p:attrName>style.visibility</p:attrName>
                                        </p:attrNameLst>
                                      </p:cBhvr>
                                      <p:to>
                                        <p:strVal val="visible"/>
                                      </p:to>
                                    </p:set>
                                    <p:animEffect transition="in" filter="fade">
                                      <p:cBhvr>
                                        <p:cTn id="7" dur="2000"/>
                                        <p:tgtEl>
                                          <p:spTgt spid="3717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71715">
                                            <p:txEl>
                                              <p:charRg st="0" end="18"/>
                                            </p:txEl>
                                          </p:spTgt>
                                        </p:tgtEl>
                                        <p:attrNameLst>
                                          <p:attrName>style.visibility</p:attrName>
                                        </p:attrNameLst>
                                      </p:cBhvr>
                                      <p:to>
                                        <p:strVal val="visible"/>
                                      </p:to>
                                    </p:set>
                                    <p:animEffect transition="in" filter="fade">
                                      <p:cBhvr>
                                        <p:cTn id="12" dur="2000"/>
                                        <p:tgtEl>
                                          <p:spTgt spid="371715">
                                            <p:txEl>
                                              <p:charRg st="0" end="1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71715">
                                            <p:txEl>
                                              <p:charRg st="18" end="29"/>
                                            </p:txEl>
                                          </p:spTgt>
                                        </p:tgtEl>
                                        <p:attrNameLst>
                                          <p:attrName>style.visibility</p:attrName>
                                        </p:attrNameLst>
                                      </p:cBhvr>
                                      <p:to>
                                        <p:strVal val="visible"/>
                                      </p:to>
                                    </p:set>
                                    <p:animEffect transition="in" filter="fade">
                                      <p:cBhvr>
                                        <p:cTn id="17" dur="2000"/>
                                        <p:tgtEl>
                                          <p:spTgt spid="371715">
                                            <p:txEl>
                                              <p:charRg st="18" end="2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71715">
                                            <p:txEl>
                                              <p:charRg st="29" end="42"/>
                                            </p:txEl>
                                          </p:spTgt>
                                        </p:tgtEl>
                                        <p:attrNameLst>
                                          <p:attrName>style.visibility</p:attrName>
                                        </p:attrNameLst>
                                      </p:cBhvr>
                                      <p:to>
                                        <p:strVal val="visible"/>
                                      </p:to>
                                    </p:set>
                                    <p:animEffect transition="in" filter="fade">
                                      <p:cBhvr>
                                        <p:cTn id="22" dur="2000"/>
                                        <p:tgtEl>
                                          <p:spTgt spid="371715">
                                            <p:txEl>
                                              <p:charRg st="29" end="4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71715">
                                            <p:txEl>
                                              <p:charRg st="42" end="88"/>
                                            </p:txEl>
                                          </p:spTgt>
                                        </p:tgtEl>
                                        <p:attrNameLst>
                                          <p:attrName>style.visibility</p:attrName>
                                        </p:attrNameLst>
                                      </p:cBhvr>
                                      <p:to>
                                        <p:strVal val="visible"/>
                                      </p:to>
                                    </p:set>
                                    <p:animEffect transition="in" filter="fade">
                                      <p:cBhvr>
                                        <p:cTn id="27" dur="2000"/>
                                        <p:tgtEl>
                                          <p:spTgt spid="371715">
                                            <p:txEl>
                                              <p:charRg st="42" end="8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71715">
                                            <p:txEl>
                                              <p:charRg st="88" end="105"/>
                                            </p:txEl>
                                          </p:spTgt>
                                        </p:tgtEl>
                                        <p:attrNameLst>
                                          <p:attrName>style.visibility</p:attrName>
                                        </p:attrNameLst>
                                      </p:cBhvr>
                                      <p:to>
                                        <p:strVal val="visible"/>
                                      </p:to>
                                    </p:set>
                                    <p:animEffect transition="in" filter="fade">
                                      <p:cBhvr>
                                        <p:cTn id="32" dur="2000"/>
                                        <p:tgtEl>
                                          <p:spTgt spid="371715">
                                            <p:txEl>
                                              <p:charRg st="88" end="10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71715">
                                            <p:txEl>
                                              <p:charRg st="105" end="153"/>
                                            </p:txEl>
                                          </p:spTgt>
                                        </p:tgtEl>
                                        <p:attrNameLst>
                                          <p:attrName>style.visibility</p:attrName>
                                        </p:attrNameLst>
                                      </p:cBhvr>
                                      <p:to>
                                        <p:strVal val="visible"/>
                                      </p:to>
                                    </p:set>
                                    <p:animEffect transition="in" filter="fade">
                                      <p:cBhvr>
                                        <p:cTn id="37" dur="2000"/>
                                        <p:tgtEl>
                                          <p:spTgt spid="371715">
                                            <p:txEl>
                                              <p:charRg st="105" end="15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71715">
                                            <p:txEl>
                                              <p:charRg st="153" end="198"/>
                                            </p:txEl>
                                          </p:spTgt>
                                        </p:tgtEl>
                                        <p:attrNameLst>
                                          <p:attrName>style.visibility</p:attrName>
                                        </p:attrNameLst>
                                      </p:cBhvr>
                                      <p:to>
                                        <p:strVal val="visible"/>
                                      </p:to>
                                    </p:set>
                                    <p:animEffect transition="in" filter="fade">
                                      <p:cBhvr>
                                        <p:cTn id="42" dur="2000"/>
                                        <p:tgtEl>
                                          <p:spTgt spid="371715">
                                            <p:txEl>
                                              <p:charRg st="153" end="19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4" grpId="0"/>
      <p:bldP spid="371715"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5394" name="Rectangle 2"/>
          <p:cNvSpPr>
            <a:spLocks noGrp="1" noRot="1" noChangeArrowheads="1"/>
          </p:cNvSpPr>
          <p:nvPr>
            <p:ph idx="1"/>
          </p:nvPr>
        </p:nvSpPr>
        <p:spPr>
          <a:xfrm>
            <a:off x="179388" y="549275"/>
            <a:ext cx="8588375" cy="5759450"/>
          </a:xfrm>
        </p:spPr>
        <p:txBody>
          <a:bodyPr vert="horz" wrap="square" lIns="91440" tIns="45720" rIns="91440" bIns="45720" numCol="1" anchor="t" anchorCtr="0" compatLnSpc="1"/>
          <a:lstStyle/>
          <a:p>
            <a:pPr marL="0" marR="0" lvl="0" indent="0" algn="just"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2</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）从进程集合中找到一个能满足下述条件的进程：</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①</a:t>
            </a:r>
            <a:r>
              <a:rPr kumimoji="0" lang="en-US" altLang="zh-CN" sz="2800" b="1" i="0" u="none" strike="noStrike" kern="0" cap="none" spc="0" normalizeH="0" baseline="0" noProof="0" dirty="0" smtClean="0">
                <a:ln>
                  <a:noFill/>
                </a:ln>
                <a:solidFill>
                  <a:srgbClr val="FF0000"/>
                </a:solidFill>
                <a:effectLst/>
                <a:uLnTx/>
                <a:uFillTx/>
                <a:latin typeface="+mn-lt"/>
                <a:ea typeface="+mn-ea"/>
                <a:cs typeface="+mn-cs"/>
              </a:rPr>
              <a:t>Finish[</a:t>
            </a:r>
            <a:r>
              <a:rPr kumimoji="0" lang="en-US" altLang="zh-CN" sz="2800" b="1" i="0" u="none" strike="noStrike" kern="0" cap="none" spc="0" normalizeH="0" baseline="0" noProof="0" dirty="0" err="1" smtClean="0">
                <a:ln>
                  <a:noFill/>
                </a:ln>
                <a:solidFill>
                  <a:srgbClr val="FF0000"/>
                </a:solidFill>
                <a:effectLst/>
                <a:uLnTx/>
                <a:uFillTx/>
                <a:latin typeface="+mn-lt"/>
                <a:ea typeface="+mn-ea"/>
                <a:cs typeface="+mn-cs"/>
              </a:rPr>
              <a:t>i</a:t>
            </a:r>
            <a:r>
              <a:rPr kumimoji="0" lang="en-US" altLang="zh-CN" sz="2800" b="1" i="0" u="none" strike="noStrike" kern="0" cap="none" spc="0" normalizeH="0" baseline="0" noProof="0" dirty="0" smtClean="0">
                <a:ln>
                  <a:noFill/>
                </a:ln>
                <a:solidFill>
                  <a:srgbClr val="FF0000"/>
                </a:solidFill>
                <a:effectLst/>
                <a:uLnTx/>
                <a:uFillTx/>
                <a:latin typeface="+mn-lt"/>
                <a:ea typeface="+mn-ea"/>
                <a:cs typeface="+mn-cs"/>
              </a:rPr>
              <a:t>]=false</a:t>
            </a: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 ②</a:t>
            </a:r>
            <a:r>
              <a:rPr kumimoji="0" lang="en-US" altLang="zh-CN" sz="2800" b="1" i="0" u="none" strike="noStrike" kern="0" cap="none" spc="0" normalizeH="0" baseline="0" noProof="0" dirty="0" smtClean="0">
                <a:ln>
                  <a:noFill/>
                </a:ln>
                <a:solidFill>
                  <a:srgbClr val="FF0000"/>
                </a:solidFill>
                <a:effectLst/>
                <a:uLnTx/>
                <a:uFillTx/>
                <a:latin typeface="+mn-lt"/>
                <a:ea typeface="+mn-ea"/>
                <a:cs typeface="+mn-cs"/>
              </a:rPr>
              <a:t>Need[</a:t>
            </a:r>
            <a:r>
              <a:rPr kumimoji="0" lang="en-US" altLang="zh-CN" sz="2800" b="1" i="0" u="none" strike="noStrike" kern="0" cap="none" spc="0" normalizeH="0" baseline="0" noProof="0" dirty="0" err="1" smtClean="0">
                <a:ln>
                  <a:noFill/>
                </a:ln>
                <a:solidFill>
                  <a:srgbClr val="FF0000"/>
                </a:solidFill>
                <a:effectLst/>
                <a:uLnTx/>
                <a:uFillTx/>
                <a:latin typeface="+mn-lt"/>
                <a:ea typeface="+mn-ea"/>
                <a:cs typeface="+mn-cs"/>
              </a:rPr>
              <a:t>i,j</a:t>
            </a:r>
            <a:r>
              <a:rPr kumimoji="0" lang="en-US" altLang="zh-CN" sz="2800" b="1" i="0" u="none" strike="noStrike" kern="0" cap="none" spc="0" normalizeH="0" baseline="0" noProof="0" dirty="0" smtClean="0">
                <a:ln>
                  <a:noFill/>
                </a:ln>
                <a:solidFill>
                  <a:srgbClr val="FF0000"/>
                </a:solidFill>
                <a:effectLst/>
                <a:uLnTx/>
                <a:uFillTx/>
                <a:latin typeface="+mn-lt"/>
                <a:ea typeface="+mn-ea"/>
                <a:cs typeface="+mn-cs"/>
              </a:rPr>
              <a:t>]≤work</a:t>
            </a: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a:t>
            </a:r>
            <a:endParaRPr kumimoji="0" lang="zh-CN" altLang="en-US" sz="2800" b="1" i="0" u="none" strike="noStrike" kern="0" cap="none" spc="0" normalizeH="0" baseline="0" noProof="0" dirty="0" smtClean="0">
              <a:ln>
                <a:noFill/>
              </a:ln>
              <a:solidFill>
                <a:srgbClr val="FF0000"/>
              </a:solidFill>
              <a:effectLst/>
              <a:uLnTx/>
              <a:uFillTx/>
              <a:latin typeface="+mn-lt"/>
              <a:ea typeface="+mn-ea"/>
              <a:cs typeface="+mn-cs"/>
            </a:endParaRPr>
          </a:p>
          <a:p>
            <a:pPr marL="0" marR="0" lvl="0" indent="0" algn="just"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   若找到，执行步骤（</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3),</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否则，执行步骤（</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4</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3</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）当进程</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pi</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获得资源后，顺利执行直至完成，并释放出分配给它的资源，故应执行：</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Work</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2800" b="1" i="0" u="none" strike="noStrike" kern="0" cap="none" spc="0" normalizeH="0" baseline="0" noProof="0" dirty="0" err="1" smtClean="0">
                <a:ln>
                  <a:noFill/>
                </a:ln>
                <a:solidFill>
                  <a:schemeClr val="tx1"/>
                </a:solidFill>
                <a:effectLst/>
                <a:uLnTx/>
                <a:uFillTx/>
                <a:latin typeface="+mn-lt"/>
                <a:ea typeface="+mn-ea"/>
                <a:cs typeface="+mn-cs"/>
              </a:rPr>
              <a:t>Work+Allocation</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err="1" smtClean="0">
                <a:ln>
                  <a:noFill/>
                </a:ln>
                <a:solidFill>
                  <a:schemeClr val="tx1"/>
                </a:solidFill>
                <a:effectLst/>
                <a:uLnTx/>
                <a:uFillTx/>
                <a:latin typeface="+mn-lt"/>
                <a:ea typeface="+mn-ea"/>
                <a:cs typeface="+mn-cs"/>
              </a:rPr>
              <a:t>i,j</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Finish[</a:t>
            </a:r>
            <a:r>
              <a:rPr kumimoji="0" lang="en-US" altLang="zh-CN" sz="2800" b="1" i="0" u="none" strike="noStrike" kern="0" cap="none" spc="0" normalizeH="0" baseline="0" noProof="0" dirty="0" err="1" smtClean="0">
                <a:ln>
                  <a:noFill/>
                </a:ln>
                <a:solidFill>
                  <a:schemeClr val="tx1"/>
                </a:solidFill>
                <a:effectLst/>
                <a:uLnTx/>
                <a:uFillTx/>
                <a:latin typeface="+mn-lt"/>
                <a:ea typeface="+mn-ea"/>
                <a:cs typeface="+mn-cs"/>
              </a:rPr>
              <a:t>i</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=true; </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        go  to  step  2</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4</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）如果所有进程的</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Finish[</a:t>
            </a:r>
            <a:r>
              <a:rPr kumimoji="0" lang="en-US" altLang="zh-CN" sz="2800" b="1" i="0" u="none" strike="noStrike" kern="0" cap="none" spc="0" normalizeH="0" baseline="0" noProof="0" dirty="0" err="1" smtClean="0">
                <a:ln>
                  <a:noFill/>
                </a:ln>
                <a:solidFill>
                  <a:schemeClr val="tx1"/>
                </a:solidFill>
                <a:effectLst/>
                <a:uLnTx/>
                <a:uFillTx/>
                <a:latin typeface="+mn-lt"/>
                <a:ea typeface="+mn-ea"/>
                <a:cs typeface="+mn-cs"/>
              </a:rPr>
              <a:t>i</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true</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都满足，则表示系统处于安全状态；否则，系统处于不安全状态。</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315394">
                                            <p:txEl>
                                              <p:charRg st="0" end="60"/>
                                            </p:txEl>
                                          </p:spTgt>
                                        </p:tgtEl>
                                        <p:attrNameLst>
                                          <p:attrName>style.visibility</p:attrName>
                                        </p:attrNameLst>
                                      </p:cBhvr>
                                      <p:to>
                                        <p:strVal val="visible"/>
                                      </p:to>
                                    </p:set>
                                    <p:animEffect transition="in" filter="fade">
                                      <p:cBhvr>
                                        <p:cTn id="7" dur="2000"/>
                                        <p:tgtEl>
                                          <p:spTgt spid="315394">
                                            <p:txEl>
                                              <p:charRg st="0" end="6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315394">
                                            <p:txEl>
                                              <p:charRg st="60" end="87"/>
                                            </p:txEl>
                                          </p:spTgt>
                                        </p:tgtEl>
                                        <p:attrNameLst>
                                          <p:attrName>style.visibility</p:attrName>
                                        </p:attrNameLst>
                                      </p:cBhvr>
                                      <p:to>
                                        <p:strVal val="visible"/>
                                      </p:to>
                                    </p:set>
                                    <p:animEffect transition="in" filter="fade">
                                      <p:cBhvr>
                                        <p:cTn id="12" dur="2000"/>
                                        <p:tgtEl>
                                          <p:spTgt spid="315394">
                                            <p:txEl>
                                              <p:charRg st="60" end="8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315394">
                                            <p:txEl>
                                              <p:charRg st="87" end="128"/>
                                            </p:txEl>
                                          </p:spTgt>
                                        </p:tgtEl>
                                        <p:attrNameLst>
                                          <p:attrName>style.visibility</p:attrName>
                                        </p:attrNameLst>
                                      </p:cBhvr>
                                      <p:to>
                                        <p:strVal val="visible"/>
                                      </p:to>
                                    </p:set>
                                    <p:animEffect transition="in" filter="fade">
                                      <p:cBhvr>
                                        <p:cTn id="17" dur="2000"/>
                                        <p:tgtEl>
                                          <p:spTgt spid="315394">
                                            <p:txEl>
                                              <p:charRg st="87" end="12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315394">
                                            <p:txEl>
                                              <p:charRg st="128" end="165"/>
                                            </p:txEl>
                                          </p:spTgt>
                                        </p:tgtEl>
                                        <p:attrNameLst>
                                          <p:attrName>style.visibility</p:attrName>
                                        </p:attrNameLst>
                                      </p:cBhvr>
                                      <p:to>
                                        <p:strVal val="visible"/>
                                      </p:to>
                                    </p:set>
                                    <p:animEffect transition="in" filter="fade">
                                      <p:cBhvr>
                                        <p:cTn id="22" dur="2000"/>
                                        <p:tgtEl>
                                          <p:spTgt spid="315394">
                                            <p:txEl>
                                              <p:charRg st="128" end="16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1" nodeType="clickEffect">
                                  <p:stCondLst>
                                    <p:cond delay="0"/>
                                  </p:stCondLst>
                                  <p:childTnLst>
                                    <p:set>
                                      <p:cBhvr>
                                        <p:cTn id="26" dur="1" fill="hold">
                                          <p:stCondLst>
                                            <p:cond delay="0"/>
                                          </p:stCondLst>
                                        </p:cTn>
                                        <p:tgtEl>
                                          <p:spTgt spid="315394">
                                            <p:txEl>
                                              <p:charRg st="165" end="192"/>
                                            </p:txEl>
                                          </p:spTgt>
                                        </p:tgtEl>
                                        <p:attrNameLst>
                                          <p:attrName>style.visibility</p:attrName>
                                        </p:attrNameLst>
                                      </p:cBhvr>
                                      <p:to>
                                        <p:strVal val="visible"/>
                                      </p:to>
                                    </p:set>
                                    <p:animEffect transition="in" filter="fade">
                                      <p:cBhvr>
                                        <p:cTn id="27" dur="2000"/>
                                        <p:tgtEl>
                                          <p:spTgt spid="315394">
                                            <p:txEl>
                                              <p:charRg st="165" end="19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1" nodeType="clickEffect">
                                  <p:stCondLst>
                                    <p:cond delay="0"/>
                                  </p:stCondLst>
                                  <p:childTnLst>
                                    <p:set>
                                      <p:cBhvr>
                                        <p:cTn id="31" dur="1" fill="hold">
                                          <p:stCondLst>
                                            <p:cond delay="0"/>
                                          </p:stCondLst>
                                        </p:cTn>
                                        <p:tgtEl>
                                          <p:spTgt spid="315394">
                                            <p:txEl>
                                              <p:charRg st="192" end="217"/>
                                            </p:txEl>
                                          </p:spTgt>
                                        </p:tgtEl>
                                        <p:attrNameLst>
                                          <p:attrName>style.visibility</p:attrName>
                                        </p:attrNameLst>
                                      </p:cBhvr>
                                      <p:to>
                                        <p:strVal val="visible"/>
                                      </p:to>
                                    </p:set>
                                    <p:animEffect transition="in" filter="fade">
                                      <p:cBhvr>
                                        <p:cTn id="32" dur="2000"/>
                                        <p:tgtEl>
                                          <p:spTgt spid="315394">
                                            <p:txEl>
                                              <p:charRg st="192" end="21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1" nodeType="clickEffect">
                                  <p:stCondLst>
                                    <p:cond delay="0"/>
                                  </p:stCondLst>
                                  <p:childTnLst>
                                    <p:set>
                                      <p:cBhvr>
                                        <p:cTn id="36" dur="1" fill="hold">
                                          <p:stCondLst>
                                            <p:cond delay="0"/>
                                          </p:stCondLst>
                                        </p:cTn>
                                        <p:tgtEl>
                                          <p:spTgt spid="315394">
                                            <p:txEl>
                                              <p:charRg st="217" end="272"/>
                                            </p:txEl>
                                          </p:spTgt>
                                        </p:tgtEl>
                                        <p:attrNameLst>
                                          <p:attrName>style.visibility</p:attrName>
                                        </p:attrNameLst>
                                      </p:cBhvr>
                                      <p:to>
                                        <p:strVal val="visible"/>
                                      </p:to>
                                    </p:set>
                                    <p:animEffect transition="in" filter="fade">
                                      <p:cBhvr>
                                        <p:cTn id="37" dur="2000"/>
                                        <p:tgtEl>
                                          <p:spTgt spid="315394">
                                            <p:txEl>
                                              <p:charRg st="217" end="27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15394">
                                            <p:txEl>
                                              <p:charRg st="0" end="60"/>
                                            </p:txEl>
                                          </p:spTgt>
                                        </p:tgtEl>
                                        <p:attrNameLst>
                                          <p:attrName>style.visibility</p:attrName>
                                        </p:attrNameLst>
                                      </p:cBhvr>
                                      <p:to>
                                        <p:strVal val="visible"/>
                                      </p:to>
                                    </p:set>
                                    <p:animEffect transition="in" filter="fade">
                                      <p:cBhvr>
                                        <p:cTn id="42" dur="2000"/>
                                        <p:tgtEl>
                                          <p:spTgt spid="315394">
                                            <p:txEl>
                                              <p:charRg st="0" end="6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15394">
                                            <p:txEl>
                                              <p:charRg st="60" end="87"/>
                                            </p:txEl>
                                          </p:spTgt>
                                        </p:tgtEl>
                                        <p:attrNameLst>
                                          <p:attrName>style.visibility</p:attrName>
                                        </p:attrNameLst>
                                      </p:cBhvr>
                                      <p:to>
                                        <p:strVal val="visible"/>
                                      </p:to>
                                    </p:set>
                                    <p:animEffect transition="in" filter="fade">
                                      <p:cBhvr>
                                        <p:cTn id="47" dur="2000"/>
                                        <p:tgtEl>
                                          <p:spTgt spid="315394">
                                            <p:txEl>
                                              <p:charRg st="60" end="8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15394">
                                            <p:txEl>
                                              <p:charRg st="87" end="128"/>
                                            </p:txEl>
                                          </p:spTgt>
                                        </p:tgtEl>
                                        <p:attrNameLst>
                                          <p:attrName>style.visibility</p:attrName>
                                        </p:attrNameLst>
                                      </p:cBhvr>
                                      <p:to>
                                        <p:strVal val="visible"/>
                                      </p:to>
                                    </p:set>
                                    <p:animEffect transition="in" filter="fade">
                                      <p:cBhvr>
                                        <p:cTn id="52" dur="2000"/>
                                        <p:tgtEl>
                                          <p:spTgt spid="315394">
                                            <p:txEl>
                                              <p:charRg st="87" end="12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15394">
                                            <p:txEl>
                                              <p:charRg st="128" end="165"/>
                                            </p:txEl>
                                          </p:spTgt>
                                        </p:tgtEl>
                                        <p:attrNameLst>
                                          <p:attrName>style.visibility</p:attrName>
                                        </p:attrNameLst>
                                      </p:cBhvr>
                                      <p:to>
                                        <p:strVal val="visible"/>
                                      </p:to>
                                    </p:set>
                                    <p:animEffect transition="in" filter="fade">
                                      <p:cBhvr>
                                        <p:cTn id="57" dur="2000"/>
                                        <p:tgtEl>
                                          <p:spTgt spid="315394">
                                            <p:txEl>
                                              <p:charRg st="128" end="16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15394">
                                            <p:txEl>
                                              <p:charRg st="165" end="192"/>
                                            </p:txEl>
                                          </p:spTgt>
                                        </p:tgtEl>
                                        <p:attrNameLst>
                                          <p:attrName>style.visibility</p:attrName>
                                        </p:attrNameLst>
                                      </p:cBhvr>
                                      <p:to>
                                        <p:strVal val="visible"/>
                                      </p:to>
                                    </p:set>
                                    <p:animEffect transition="in" filter="fade">
                                      <p:cBhvr>
                                        <p:cTn id="62" dur="2000"/>
                                        <p:tgtEl>
                                          <p:spTgt spid="315394">
                                            <p:txEl>
                                              <p:charRg st="165" end="19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15394">
                                            <p:txEl>
                                              <p:charRg st="192" end="217"/>
                                            </p:txEl>
                                          </p:spTgt>
                                        </p:tgtEl>
                                        <p:attrNameLst>
                                          <p:attrName>style.visibility</p:attrName>
                                        </p:attrNameLst>
                                      </p:cBhvr>
                                      <p:to>
                                        <p:strVal val="visible"/>
                                      </p:to>
                                    </p:set>
                                    <p:animEffect transition="in" filter="fade">
                                      <p:cBhvr>
                                        <p:cTn id="67" dur="2000"/>
                                        <p:tgtEl>
                                          <p:spTgt spid="315394">
                                            <p:txEl>
                                              <p:charRg st="192" end="217"/>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15394">
                                            <p:txEl>
                                              <p:charRg st="217" end="272"/>
                                            </p:txEl>
                                          </p:spTgt>
                                        </p:tgtEl>
                                        <p:attrNameLst>
                                          <p:attrName>style.visibility</p:attrName>
                                        </p:attrNameLst>
                                      </p:cBhvr>
                                      <p:to>
                                        <p:strVal val="visible"/>
                                      </p:to>
                                    </p:set>
                                    <p:animEffect transition="in" filter="fade">
                                      <p:cBhvr>
                                        <p:cTn id="72" dur="2000"/>
                                        <p:tgtEl>
                                          <p:spTgt spid="315394">
                                            <p:txEl>
                                              <p:charRg st="217" end="27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394" grpId="0" build="p"/>
      <p:bldP spid="315394" grpId="1"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2"/>
          <p:cNvSpPr/>
          <p:nvPr/>
        </p:nvSpPr>
        <p:spPr>
          <a:xfrm>
            <a:off x="3886200" y="990600"/>
            <a:ext cx="2590800" cy="685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zh-CN" b="1" dirty="0">
                <a:latin typeface="Times New Roman" panose="02020603050405020304" pitchFamily="18" charset="0"/>
              </a:rPr>
              <a:t>Work:=Available</a:t>
            </a:r>
            <a:endParaRPr lang="en-US" altLang="zh-CN" b="1" dirty="0">
              <a:latin typeface="Times New Roman" panose="02020603050405020304" pitchFamily="18" charset="0"/>
            </a:endParaRPr>
          </a:p>
          <a:p>
            <a:pPr algn="ctr" eaLnBrk="1" hangingPunct="1"/>
            <a:r>
              <a:rPr lang="en-US" altLang="zh-CN" b="1" dirty="0">
                <a:latin typeface="Times New Roman" panose="02020603050405020304" pitchFamily="18" charset="0"/>
              </a:rPr>
              <a:t>Finish[I]:=false</a:t>
            </a:r>
            <a:endParaRPr lang="en-US" altLang="zh-CN" b="1" dirty="0">
              <a:latin typeface="Times New Roman" panose="02020603050405020304" pitchFamily="18" charset="0"/>
            </a:endParaRPr>
          </a:p>
        </p:txBody>
      </p:sp>
      <p:sp>
        <p:nvSpPr>
          <p:cNvPr id="113667" name="AutoShape 3"/>
          <p:cNvSpPr/>
          <p:nvPr/>
        </p:nvSpPr>
        <p:spPr>
          <a:xfrm>
            <a:off x="1905000" y="2057400"/>
            <a:ext cx="6477000" cy="1828800"/>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spcBef>
                <a:spcPct val="20000"/>
              </a:spcBef>
            </a:pPr>
            <a:r>
              <a:rPr lang="zh-CN" altLang="en-US" b="1" dirty="0">
                <a:latin typeface="Times New Roman" panose="02020603050405020304" pitchFamily="18" charset="0"/>
              </a:rPr>
              <a:t>从进程集合中找能满足下述条件的进程：</a:t>
            </a:r>
            <a:endParaRPr lang="zh-CN" altLang="en-US" b="1" dirty="0">
              <a:latin typeface="Times New Roman" panose="02020603050405020304" pitchFamily="18" charset="0"/>
            </a:endParaRPr>
          </a:p>
          <a:p>
            <a:pPr algn="ctr" eaLnBrk="1" hangingPunct="1">
              <a:spcBef>
                <a:spcPct val="20000"/>
              </a:spcBef>
            </a:pPr>
            <a:r>
              <a:rPr lang="zh-CN" altLang="en-US" sz="2800" b="1" dirty="0">
                <a:latin typeface="Times New Roman" panose="02020603050405020304" pitchFamily="18" charset="0"/>
              </a:rPr>
              <a:t> </a:t>
            </a:r>
            <a:r>
              <a:rPr lang="zh-CN" altLang="en-US" b="1" dirty="0">
                <a:latin typeface="Times New Roman" panose="02020603050405020304" pitchFamily="18" charset="0"/>
              </a:rPr>
              <a:t>①</a:t>
            </a:r>
            <a:r>
              <a:rPr lang="en-US" altLang="zh-CN" b="1" dirty="0">
                <a:latin typeface="Times New Roman" panose="02020603050405020304" pitchFamily="18" charset="0"/>
              </a:rPr>
              <a:t>Finish[i]=false, ②Need[i,j]≤work</a:t>
            </a:r>
            <a:r>
              <a:rPr lang="zh-CN" altLang="en-US" b="1" dirty="0">
                <a:latin typeface="Times New Roman" panose="02020603050405020304" pitchFamily="18" charset="0"/>
              </a:rPr>
              <a:t>；</a:t>
            </a:r>
            <a:endParaRPr lang="zh-CN" altLang="en-US" b="1" dirty="0">
              <a:latin typeface="Times New Roman" panose="02020603050405020304" pitchFamily="18" charset="0"/>
            </a:endParaRPr>
          </a:p>
        </p:txBody>
      </p:sp>
      <p:sp>
        <p:nvSpPr>
          <p:cNvPr id="113668" name="Rectangle 4"/>
          <p:cNvSpPr/>
          <p:nvPr/>
        </p:nvSpPr>
        <p:spPr>
          <a:xfrm>
            <a:off x="5105400" y="4953000"/>
            <a:ext cx="3276600" cy="8382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spcBef>
                <a:spcPct val="20000"/>
              </a:spcBef>
            </a:pPr>
            <a:r>
              <a:rPr lang="en-US" altLang="zh-CN" b="1" dirty="0">
                <a:latin typeface="Times New Roman" panose="02020603050405020304" pitchFamily="18" charset="0"/>
              </a:rPr>
              <a:t>Work[j]:= Work+Allocation[i,j];</a:t>
            </a:r>
            <a:endParaRPr lang="en-US" altLang="zh-CN" b="1" dirty="0">
              <a:latin typeface="Times New Roman" panose="02020603050405020304" pitchFamily="18" charset="0"/>
            </a:endParaRPr>
          </a:p>
          <a:p>
            <a:pPr algn="ctr" eaLnBrk="1" hangingPunct="1">
              <a:spcBef>
                <a:spcPct val="20000"/>
              </a:spcBef>
            </a:pPr>
            <a:r>
              <a:rPr lang="en-US" altLang="zh-CN" b="1" dirty="0">
                <a:latin typeface="Times New Roman" panose="02020603050405020304" pitchFamily="18" charset="0"/>
              </a:rPr>
              <a:t>        Finish[i] </a:t>
            </a:r>
            <a:r>
              <a:rPr lang="zh-CN" altLang="en-US" b="1" dirty="0">
                <a:latin typeface="Times New Roman" panose="02020603050405020304" pitchFamily="18" charset="0"/>
              </a:rPr>
              <a:t>：</a:t>
            </a:r>
            <a:r>
              <a:rPr lang="en-US" altLang="zh-CN" b="1" dirty="0">
                <a:latin typeface="Times New Roman" panose="02020603050405020304" pitchFamily="18" charset="0"/>
              </a:rPr>
              <a:t>=true;</a:t>
            </a:r>
            <a:endParaRPr lang="en-US" altLang="zh-CN" sz="2400" b="1" dirty="0">
              <a:latin typeface="Times New Roman" panose="02020603050405020304" pitchFamily="18" charset="0"/>
            </a:endParaRPr>
          </a:p>
        </p:txBody>
      </p:sp>
      <p:sp>
        <p:nvSpPr>
          <p:cNvPr id="113669" name="AutoShape 5"/>
          <p:cNvSpPr/>
          <p:nvPr/>
        </p:nvSpPr>
        <p:spPr>
          <a:xfrm>
            <a:off x="228600" y="3505200"/>
            <a:ext cx="3352800" cy="990600"/>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b="1" dirty="0">
                <a:latin typeface="Times New Roman" panose="02020603050405020304" pitchFamily="18" charset="0"/>
              </a:rPr>
              <a:t>所有进程都满足</a:t>
            </a:r>
            <a:r>
              <a:rPr lang="en-US" altLang="zh-CN" b="1" dirty="0">
                <a:latin typeface="Times New Roman" panose="02020603050405020304" pitchFamily="18" charset="0"/>
              </a:rPr>
              <a:t>:</a:t>
            </a:r>
            <a:endParaRPr lang="en-US" altLang="zh-CN" b="1" dirty="0">
              <a:latin typeface="Times New Roman" panose="02020603050405020304" pitchFamily="18" charset="0"/>
            </a:endParaRPr>
          </a:p>
          <a:p>
            <a:pPr algn="ctr" eaLnBrk="1" hangingPunct="1"/>
            <a:r>
              <a:rPr lang="en-US" altLang="zh-CN" b="1" dirty="0">
                <a:latin typeface="Times New Roman" panose="02020603050405020304" pitchFamily="18" charset="0"/>
              </a:rPr>
              <a:t>Finish[i]</a:t>
            </a:r>
            <a:r>
              <a:rPr lang="zh-CN" altLang="en-US" b="1" dirty="0">
                <a:latin typeface="Times New Roman" panose="02020603050405020304" pitchFamily="18" charset="0"/>
              </a:rPr>
              <a:t>＝</a:t>
            </a:r>
            <a:r>
              <a:rPr lang="en-US" altLang="zh-CN" b="1" dirty="0">
                <a:latin typeface="Times New Roman" panose="02020603050405020304" pitchFamily="18" charset="0"/>
              </a:rPr>
              <a:t>true</a:t>
            </a:r>
            <a:endParaRPr lang="en-US" altLang="zh-CN" b="1" dirty="0">
              <a:latin typeface="Times New Roman" panose="02020603050405020304" pitchFamily="18" charset="0"/>
            </a:endParaRPr>
          </a:p>
        </p:txBody>
      </p:sp>
      <p:sp>
        <p:nvSpPr>
          <p:cNvPr id="113670" name="Line 6"/>
          <p:cNvSpPr/>
          <p:nvPr/>
        </p:nvSpPr>
        <p:spPr>
          <a:xfrm>
            <a:off x="5181600" y="1676400"/>
            <a:ext cx="0" cy="457200"/>
          </a:xfrm>
          <a:prstGeom prst="line">
            <a:avLst/>
          </a:prstGeom>
          <a:ln w="9525" cap="flat" cmpd="sng">
            <a:solidFill>
              <a:schemeClr val="tx1"/>
            </a:solidFill>
            <a:prstDash val="solid"/>
            <a:headEnd type="none" w="med" len="med"/>
            <a:tailEnd type="triangle" w="med" len="med"/>
          </a:ln>
        </p:spPr>
      </p:sp>
      <p:sp>
        <p:nvSpPr>
          <p:cNvPr id="113671" name="Line 7"/>
          <p:cNvSpPr/>
          <p:nvPr/>
        </p:nvSpPr>
        <p:spPr>
          <a:xfrm>
            <a:off x="1905000" y="2971800"/>
            <a:ext cx="0" cy="533400"/>
          </a:xfrm>
          <a:prstGeom prst="line">
            <a:avLst/>
          </a:prstGeom>
          <a:ln w="9525" cap="flat" cmpd="sng">
            <a:solidFill>
              <a:schemeClr val="tx1"/>
            </a:solidFill>
            <a:prstDash val="solid"/>
            <a:headEnd type="none" w="med" len="med"/>
            <a:tailEnd type="triangle" w="med" len="med"/>
          </a:ln>
        </p:spPr>
      </p:sp>
      <p:sp>
        <p:nvSpPr>
          <p:cNvPr id="113672" name="Line 8"/>
          <p:cNvSpPr/>
          <p:nvPr/>
        </p:nvSpPr>
        <p:spPr>
          <a:xfrm>
            <a:off x="8382000" y="2971800"/>
            <a:ext cx="0" cy="1143000"/>
          </a:xfrm>
          <a:prstGeom prst="line">
            <a:avLst/>
          </a:prstGeom>
          <a:ln w="9525" cap="flat" cmpd="sng">
            <a:solidFill>
              <a:schemeClr val="tx1"/>
            </a:solidFill>
            <a:prstDash val="solid"/>
            <a:headEnd type="none" w="med" len="med"/>
            <a:tailEnd type="none" w="med" len="med"/>
          </a:ln>
        </p:spPr>
      </p:sp>
      <p:sp>
        <p:nvSpPr>
          <p:cNvPr id="113673" name="Line 9"/>
          <p:cNvSpPr/>
          <p:nvPr/>
        </p:nvSpPr>
        <p:spPr>
          <a:xfrm flipH="1">
            <a:off x="6705600" y="4114800"/>
            <a:ext cx="1676400" cy="0"/>
          </a:xfrm>
          <a:prstGeom prst="line">
            <a:avLst/>
          </a:prstGeom>
          <a:ln w="9525" cap="flat" cmpd="sng">
            <a:solidFill>
              <a:schemeClr val="tx1"/>
            </a:solidFill>
            <a:prstDash val="solid"/>
            <a:headEnd type="none" w="med" len="med"/>
            <a:tailEnd type="none" w="med" len="med"/>
          </a:ln>
        </p:spPr>
      </p:sp>
      <p:sp>
        <p:nvSpPr>
          <p:cNvPr id="113674" name="Line 10"/>
          <p:cNvSpPr/>
          <p:nvPr/>
        </p:nvSpPr>
        <p:spPr>
          <a:xfrm>
            <a:off x="6705600" y="4114800"/>
            <a:ext cx="0" cy="838200"/>
          </a:xfrm>
          <a:prstGeom prst="line">
            <a:avLst/>
          </a:prstGeom>
          <a:ln w="9525" cap="flat" cmpd="sng">
            <a:solidFill>
              <a:schemeClr val="tx1"/>
            </a:solidFill>
            <a:prstDash val="solid"/>
            <a:headEnd type="none" w="med" len="med"/>
            <a:tailEnd type="triangle" w="med" len="med"/>
          </a:ln>
        </p:spPr>
      </p:sp>
      <p:sp>
        <p:nvSpPr>
          <p:cNvPr id="113675" name="Line 11"/>
          <p:cNvSpPr/>
          <p:nvPr/>
        </p:nvSpPr>
        <p:spPr>
          <a:xfrm>
            <a:off x="6705600" y="5791200"/>
            <a:ext cx="0" cy="533400"/>
          </a:xfrm>
          <a:prstGeom prst="line">
            <a:avLst/>
          </a:prstGeom>
          <a:ln w="9525" cap="flat" cmpd="sng">
            <a:solidFill>
              <a:schemeClr val="tx1"/>
            </a:solidFill>
            <a:prstDash val="solid"/>
            <a:headEnd type="none" w="med" len="med"/>
            <a:tailEnd type="triangle" w="med" len="med"/>
          </a:ln>
        </p:spPr>
      </p:sp>
      <p:sp>
        <p:nvSpPr>
          <p:cNvPr id="113676" name="Line 12"/>
          <p:cNvSpPr/>
          <p:nvPr/>
        </p:nvSpPr>
        <p:spPr>
          <a:xfrm>
            <a:off x="6705600" y="6324600"/>
            <a:ext cx="2057400" cy="0"/>
          </a:xfrm>
          <a:prstGeom prst="line">
            <a:avLst/>
          </a:prstGeom>
          <a:ln w="9525" cap="flat" cmpd="sng">
            <a:solidFill>
              <a:schemeClr val="tx1"/>
            </a:solidFill>
            <a:prstDash val="solid"/>
            <a:headEnd type="none" w="med" len="med"/>
            <a:tailEnd type="none" w="med" len="med"/>
          </a:ln>
        </p:spPr>
      </p:sp>
      <p:sp>
        <p:nvSpPr>
          <p:cNvPr id="113677" name="Line 13"/>
          <p:cNvSpPr/>
          <p:nvPr/>
        </p:nvSpPr>
        <p:spPr>
          <a:xfrm flipV="1">
            <a:off x="8763000" y="1828800"/>
            <a:ext cx="0" cy="4495800"/>
          </a:xfrm>
          <a:prstGeom prst="line">
            <a:avLst/>
          </a:prstGeom>
          <a:ln w="9525" cap="flat" cmpd="sng">
            <a:solidFill>
              <a:schemeClr val="tx1"/>
            </a:solidFill>
            <a:prstDash val="solid"/>
            <a:headEnd type="none" w="med" len="med"/>
            <a:tailEnd type="none" w="med" len="med"/>
          </a:ln>
        </p:spPr>
      </p:sp>
      <p:sp>
        <p:nvSpPr>
          <p:cNvPr id="113678" name="Line 14"/>
          <p:cNvSpPr/>
          <p:nvPr/>
        </p:nvSpPr>
        <p:spPr>
          <a:xfrm flipH="1">
            <a:off x="5181600" y="1828800"/>
            <a:ext cx="3581400" cy="0"/>
          </a:xfrm>
          <a:prstGeom prst="line">
            <a:avLst/>
          </a:prstGeom>
          <a:ln w="9525" cap="flat" cmpd="sng">
            <a:solidFill>
              <a:schemeClr val="tx1"/>
            </a:solidFill>
            <a:prstDash val="solid"/>
            <a:headEnd type="none" w="med" len="med"/>
            <a:tailEnd type="triangle" w="med" len="med"/>
          </a:ln>
        </p:spPr>
      </p:sp>
      <p:sp>
        <p:nvSpPr>
          <p:cNvPr id="113679" name="Line 15"/>
          <p:cNvSpPr/>
          <p:nvPr/>
        </p:nvSpPr>
        <p:spPr>
          <a:xfrm>
            <a:off x="3505200" y="4038600"/>
            <a:ext cx="533400" cy="0"/>
          </a:xfrm>
          <a:prstGeom prst="line">
            <a:avLst/>
          </a:prstGeom>
          <a:ln w="9525" cap="flat" cmpd="sng">
            <a:solidFill>
              <a:schemeClr val="tx1"/>
            </a:solidFill>
            <a:prstDash val="solid"/>
            <a:headEnd type="none" w="med" len="med"/>
            <a:tailEnd type="none" w="med" len="med"/>
          </a:ln>
        </p:spPr>
      </p:sp>
      <p:sp>
        <p:nvSpPr>
          <p:cNvPr id="113680" name="Line 16"/>
          <p:cNvSpPr/>
          <p:nvPr/>
        </p:nvSpPr>
        <p:spPr>
          <a:xfrm>
            <a:off x="4038600" y="4038600"/>
            <a:ext cx="0" cy="762000"/>
          </a:xfrm>
          <a:prstGeom prst="line">
            <a:avLst/>
          </a:prstGeom>
          <a:ln w="9525" cap="flat" cmpd="sng">
            <a:solidFill>
              <a:schemeClr val="tx1"/>
            </a:solidFill>
            <a:prstDash val="solid"/>
            <a:headEnd type="none" w="med" len="med"/>
            <a:tailEnd type="triangle" w="med" len="med"/>
          </a:ln>
        </p:spPr>
      </p:sp>
      <p:sp>
        <p:nvSpPr>
          <p:cNvPr id="113681" name="Rectangle 17"/>
          <p:cNvSpPr/>
          <p:nvPr/>
        </p:nvSpPr>
        <p:spPr>
          <a:xfrm>
            <a:off x="1066800" y="4876800"/>
            <a:ext cx="1600200" cy="4572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b="1" dirty="0">
                <a:latin typeface="Times New Roman" panose="02020603050405020304" pitchFamily="18" charset="0"/>
              </a:rPr>
              <a:t>系统不安全</a:t>
            </a:r>
            <a:endParaRPr lang="zh-CN" altLang="en-US" b="1" dirty="0">
              <a:latin typeface="Times New Roman" panose="02020603050405020304" pitchFamily="18" charset="0"/>
            </a:endParaRPr>
          </a:p>
        </p:txBody>
      </p:sp>
      <p:sp>
        <p:nvSpPr>
          <p:cNvPr id="113682" name="Rectangle 18"/>
          <p:cNvSpPr/>
          <p:nvPr/>
        </p:nvSpPr>
        <p:spPr>
          <a:xfrm>
            <a:off x="3276600" y="4800600"/>
            <a:ext cx="16002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b="1" dirty="0">
                <a:latin typeface="Times New Roman" panose="02020603050405020304" pitchFamily="18" charset="0"/>
              </a:rPr>
              <a:t>系统安全</a:t>
            </a:r>
            <a:endParaRPr lang="zh-CN" altLang="en-US" b="1" dirty="0">
              <a:latin typeface="Times New Roman" panose="02020603050405020304" pitchFamily="18" charset="0"/>
            </a:endParaRPr>
          </a:p>
        </p:txBody>
      </p:sp>
      <p:sp>
        <p:nvSpPr>
          <p:cNvPr id="113683" name="Line 19"/>
          <p:cNvSpPr/>
          <p:nvPr/>
        </p:nvSpPr>
        <p:spPr>
          <a:xfrm>
            <a:off x="1905000" y="5715000"/>
            <a:ext cx="2133600" cy="0"/>
          </a:xfrm>
          <a:prstGeom prst="line">
            <a:avLst/>
          </a:prstGeom>
          <a:ln w="9525" cap="flat" cmpd="sng">
            <a:solidFill>
              <a:schemeClr val="tx1"/>
            </a:solidFill>
            <a:prstDash val="solid"/>
            <a:headEnd type="none" w="med" len="med"/>
            <a:tailEnd type="none" w="med" len="med"/>
          </a:ln>
        </p:spPr>
      </p:sp>
      <p:sp>
        <p:nvSpPr>
          <p:cNvPr id="113684" name="Line 20"/>
          <p:cNvSpPr/>
          <p:nvPr/>
        </p:nvSpPr>
        <p:spPr>
          <a:xfrm>
            <a:off x="1905000" y="4495800"/>
            <a:ext cx="0" cy="381000"/>
          </a:xfrm>
          <a:prstGeom prst="line">
            <a:avLst/>
          </a:prstGeom>
          <a:ln w="9525" cap="flat" cmpd="sng">
            <a:solidFill>
              <a:schemeClr val="tx1"/>
            </a:solidFill>
            <a:prstDash val="solid"/>
            <a:headEnd type="none" w="med" len="med"/>
            <a:tailEnd type="triangle" w="med" len="med"/>
          </a:ln>
        </p:spPr>
      </p:sp>
      <p:sp>
        <p:nvSpPr>
          <p:cNvPr id="113685" name="Line 21"/>
          <p:cNvSpPr/>
          <p:nvPr/>
        </p:nvSpPr>
        <p:spPr>
          <a:xfrm>
            <a:off x="1905000" y="5334000"/>
            <a:ext cx="0" cy="381000"/>
          </a:xfrm>
          <a:prstGeom prst="line">
            <a:avLst/>
          </a:prstGeom>
          <a:ln w="9525" cap="flat" cmpd="sng">
            <a:solidFill>
              <a:schemeClr val="tx1"/>
            </a:solidFill>
            <a:prstDash val="solid"/>
            <a:headEnd type="none" w="med" len="med"/>
            <a:tailEnd type="triangle" w="med" len="med"/>
          </a:ln>
        </p:spPr>
      </p:sp>
      <p:sp>
        <p:nvSpPr>
          <p:cNvPr id="113686" name="Line 22"/>
          <p:cNvSpPr/>
          <p:nvPr/>
        </p:nvSpPr>
        <p:spPr>
          <a:xfrm>
            <a:off x="4038600" y="5334000"/>
            <a:ext cx="0" cy="381000"/>
          </a:xfrm>
          <a:prstGeom prst="line">
            <a:avLst/>
          </a:prstGeom>
          <a:ln w="9525" cap="flat" cmpd="sng">
            <a:solidFill>
              <a:schemeClr val="tx1"/>
            </a:solidFill>
            <a:prstDash val="solid"/>
            <a:headEnd type="none" w="med" len="med"/>
            <a:tailEnd type="triangle" w="med" len="med"/>
          </a:ln>
        </p:spPr>
      </p:sp>
      <p:sp>
        <p:nvSpPr>
          <p:cNvPr id="113687" name="Line 23"/>
          <p:cNvSpPr/>
          <p:nvPr/>
        </p:nvSpPr>
        <p:spPr>
          <a:xfrm>
            <a:off x="2971800" y="5715000"/>
            <a:ext cx="0" cy="304800"/>
          </a:xfrm>
          <a:prstGeom prst="line">
            <a:avLst/>
          </a:prstGeom>
          <a:ln w="9525" cap="flat" cmpd="sng">
            <a:solidFill>
              <a:schemeClr val="tx1"/>
            </a:solidFill>
            <a:prstDash val="solid"/>
            <a:headEnd type="none" w="med" len="med"/>
            <a:tailEnd type="triangle" w="med" len="med"/>
          </a:ln>
        </p:spPr>
      </p:sp>
      <p:sp>
        <p:nvSpPr>
          <p:cNvPr id="113688" name="AutoShape 24"/>
          <p:cNvSpPr/>
          <p:nvPr/>
        </p:nvSpPr>
        <p:spPr>
          <a:xfrm>
            <a:off x="4267200" y="228600"/>
            <a:ext cx="1828800" cy="381000"/>
          </a:xfrm>
          <a:prstGeom prst="flowChartTerminator">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b="1" dirty="0">
                <a:latin typeface="Times New Roman" panose="02020603050405020304" pitchFamily="18" charset="0"/>
              </a:rPr>
              <a:t>安全检查开始</a:t>
            </a:r>
            <a:endParaRPr lang="zh-CN" altLang="en-US" b="1" dirty="0">
              <a:latin typeface="Times New Roman" panose="02020603050405020304" pitchFamily="18" charset="0"/>
            </a:endParaRPr>
          </a:p>
        </p:txBody>
      </p:sp>
      <p:sp>
        <p:nvSpPr>
          <p:cNvPr id="113689" name="Line 25"/>
          <p:cNvSpPr/>
          <p:nvPr/>
        </p:nvSpPr>
        <p:spPr>
          <a:xfrm>
            <a:off x="5181600" y="609600"/>
            <a:ext cx="0" cy="381000"/>
          </a:xfrm>
          <a:prstGeom prst="line">
            <a:avLst/>
          </a:prstGeom>
          <a:ln w="9525" cap="flat" cmpd="sng">
            <a:solidFill>
              <a:schemeClr val="tx1"/>
            </a:solidFill>
            <a:prstDash val="solid"/>
            <a:headEnd type="none" w="med" len="med"/>
            <a:tailEnd type="triangle" w="med" len="med"/>
          </a:ln>
        </p:spPr>
      </p:sp>
      <p:sp>
        <p:nvSpPr>
          <p:cNvPr id="113690" name="AutoShape 26"/>
          <p:cNvSpPr/>
          <p:nvPr/>
        </p:nvSpPr>
        <p:spPr>
          <a:xfrm>
            <a:off x="1981200" y="6019800"/>
            <a:ext cx="2057400" cy="457200"/>
          </a:xfrm>
          <a:prstGeom prst="flowChartTerminator">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b="1" dirty="0">
                <a:latin typeface="Times New Roman" panose="02020603050405020304" pitchFamily="18" charset="0"/>
              </a:rPr>
              <a:t>安全检查结束</a:t>
            </a:r>
            <a:endParaRPr lang="zh-CN" altLang="en-US" b="1" dirty="0">
              <a:latin typeface="Times New Roman" panose="02020603050405020304" pitchFamily="18" charset="0"/>
            </a:endParaRPr>
          </a:p>
        </p:txBody>
      </p:sp>
      <p:sp>
        <p:nvSpPr>
          <p:cNvPr id="113691" name="Text Box 27"/>
          <p:cNvSpPr txBox="1"/>
          <p:nvPr/>
        </p:nvSpPr>
        <p:spPr>
          <a:xfrm>
            <a:off x="1752600" y="2590800"/>
            <a:ext cx="533400" cy="366713"/>
          </a:xfrm>
          <a:prstGeom prst="rect">
            <a:avLst/>
          </a:prstGeom>
          <a:noFill/>
          <a:ln w="9525">
            <a:noFill/>
          </a:ln>
        </p:spPr>
        <p:txBody>
          <a:bodyPr>
            <a:spAutoFit/>
          </a:bodyPr>
          <a:p>
            <a:pPr eaLnBrk="1" hangingPunct="1">
              <a:spcBef>
                <a:spcPct val="50000"/>
              </a:spcBef>
            </a:pPr>
            <a:r>
              <a:rPr lang="en-US" altLang="zh-CN" b="1" dirty="0">
                <a:latin typeface="Times New Roman" panose="02020603050405020304" pitchFamily="18" charset="0"/>
              </a:rPr>
              <a:t>N</a:t>
            </a:r>
            <a:endParaRPr lang="en-US" altLang="zh-CN" b="1" dirty="0">
              <a:latin typeface="Times New Roman" panose="02020603050405020304" pitchFamily="18" charset="0"/>
            </a:endParaRPr>
          </a:p>
        </p:txBody>
      </p:sp>
      <p:sp>
        <p:nvSpPr>
          <p:cNvPr id="113692" name="Text Box 28"/>
          <p:cNvSpPr txBox="1"/>
          <p:nvPr/>
        </p:nvSpPr>
        <p:spPr>
          <a:xfrm>
            <a:off x="8153400" y="2438400"/>
            <a:ext cx="381000" cy="4572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y</a:t>
            </a:r>
            <a:endParaRPr lang="en-US" altLang="zh-CN" sz="2400" b="1" dirty="0">
              <a:latin typeface="Times New Roman" panose="02020603050405020304" pitchFamily="18" charset="0"/>
            </a:endParaRPr>
          </a:p>
        </p:txBody>
      </p:sp>
      <p:sp>
        <p:nvSpPr>
          <p:cNvPr id="113693" name="Text Box 29"/>
          <p:cNvSpPr txBox="1"/>
          <p:nvPr/>
        </p:nvSpPr>
        <p:spPr>
          <a:xfrm>
            <a:off x="1524000" y="4495800"/>
            <a:ext cx="609600" cy="366713"/>
          </a:xfrm>
          <a:prstGeom prst="rect">
            <a:avLst/>
          </a:prstGeom>
          <a:noFill/>
          <a:ln w="9525">
            <a:noFill/>
          </a:ln>
        </p:spPr>
        <p:txBody>
          <a:bodyPr>
            <a:spAutoFit/>
          </a:bodyPr>
          <a:p>
            <a:pPr eaLnBrk="1" hangingPunct="1">
              <a:spcBef>
                <a:spcPct val="50000"/>
              </a:spcBef>
            </a:pPr>
            <a:r>
              <a:rPr lang="en-US" altLang="zh-CN" b="1" dirty="0">
                <a:latin typeface="Times New Roman" panose="02020603050405020304" pitchFamily="18" charset="0"/>
              </a:rPr>
              <a:t>N</a:t>
            </a:r>
            <a:endParaRPr lang="en-US" altLang="zh-CN" b="1" dirty="0">
              <a:latin typeface="Times New Roman" panose="02020603050405020304" pitchFamily="18" charset="0"/>
            </a:endParaRPr>
          </a:p>
        </p:txBody>
      </p:sp>
      <p:sp>
        <p:nvSpPr>
          <p:cNvPr id="113694" name="Text Box 30"/>
          <p:cNvSpPr txBox="1"/>
          <p:nvPr/>
        </p:nvSpPr>
        <p:spPr>
          <a:xfrm>
            <a:off x="3581400" y="3657600"/>
            <a:ext cx="533400" cy="366713"/>
          </a:xfrm>
          <a:prstGeom prst="rect">
            <a:avLst/>
          </a:prstGeom>
          <a:noFill/>
          <a:ln w="9525">
            <a:noFill/>
          </a:ln>
        </p:spPr>
        <p:txBody>
          <a:bodyPr>
            <a:spAutoFit/>
          </a:bodyPr>
          <a:p>
            <a:pPr eaLnBrk="1" hangingPunct="1">
              <a:spcBef>
                <a:spcPct val="50000"/>
              </a:spcBef>
            </a:pPr>
            <a:r>
              <a:rPr lang="en-US" altLang="zh-CN" b="1" dirty="0">
                <a:latin typeface="Times New Roman" panose="02020603050405020304" pitchFamily="18" charset="0"/>
              </a:rPr>
              <a:t>Y</a:t>
            </a:r>
            <a:endParaRPr lang="en-US" altLang="zh-CN" b="1" dirty="0">
              <a:latin typeface="Times New Roman" panose="02020603050405020304" pitchFamily="18" charset="0"/>
            </a:endParaRPr>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5682"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1" u="none"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rPr>
              <a:t>举例</a:t>
            </a:r>
            <a:r>
              <a:rPr kumimoji="0" lang="zh-CN" altLang="en-US" sz="4400" b="1" i="1" u="none" strike="noStrike" kern="0" cap="none" spc="0" normalizeH="0" baseline="0" noProof="0" smtClean="0">
                <a:ln>
                  <a:noFill/>
                </a:ln>
                <a:solidFill>
                  <a:schemeClr val="accent2"/>
                </a:solidFill>
                <a:effectLst>
                  <a:outerShdw blurRad="38100" dist="38100" dir="2700000" algn="tl">
                    <a:srgbClr val="C0C0C0"/>
                  </a:outerShdw>
                </a:effectLst>
                <a:uLnTx/>
                <a:uFillTx/>
                <a:latin typeface="仿宋_GB2312" pitchFamily="49" charset="-122"/>
                <a:ea typeface="仿宋_GB2312" pitchFamily="49" charset="-122"/>
                <a:cs typeface="+mj-cs"/>
              </a:rPr>
              <a:t>  </a:t>
            </a:r>
            <a:endParaRPr kumimoji="0" lang="zh-CN" altLang="en-US" sz="4400" b="1" i="1" u="none" strike="noStrike" kern="0" cap="none" spc="0" normalizeH="0" baseline="0" noProof="0" smtClean="0">
              <a:ln>
                <a:noFill/>
              </a:ln>
              <a:solidFill>
                <a:schemeClr val="accent2"/>
              </a:solidFill>
              <a:effectLst>
                <a:outerShdw blurRad="38100" dist="38100" dir="2700000" algn="tl">
                  <a:srgbClr val="C0C0C0"/>
                </a:outerShdw>
              </a:effectLst>
              <a:uLnTx/>
              <a:uFillTx/>
              <a:latin typeface="仿宋_GB2312" pitchFamily="49" charset="-122"/>
              <a:ea typeface="仿宋_GB2312" pitchFamily="49" charset="-122"/>
              <a:cs typeface="+mj-cs"/>
            </a:endParaRPr>
          </a:p>
        </p:txBody>
      </p:sp>
      <p:sp>
        <p:nvSpPr>
          <p:cNvPr id="455683"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None/>
              <a:defRPr/>
            </a:pP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T</a:t>
            </a:r>
            <a:r>
              <a:rPr kumimoji="0" lang="en-US" altLang="zh-CN" sz="3200" b="1" i="0" u="none" strike="noStrike" kern="0" cap="none" spc="0" normalizeH="0" baseline="-3000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0</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时刻的资源分配情况 </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None/>
              <a:defRPr/>
            </a:pP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假定系统中有四个进程</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P1,P2,P3,P4</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和三种类型的资源</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R1,R2,R3</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，每一种资源的数量分别为</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9</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3</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6</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T</a:t>
            </a:r>
            <a:r>
              <a:rPr kumimoji="0" lang="en-US" altLang="zh-CN" sz="3200" b="1" i="0" u="none" strike="noStrike" kern="0" cap="none" spc="0" normalizeH="0" baseline="-3000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0</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时刻的资源分配情况如下图所示： </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55682"/>
                                        </p:tgtEl>
                                        <p:attrNameLst>
                                          <p:attrName>style.visibility</p:attrName>
                                        </p:attrNameLst>
                                      </p:cBhvr>
                                      <p:to>
                                        <p:strVal val="visible"/>
                                      </p:to>
                                    </p:set>
                                    <p:animEffect transition="in" filter="fade">
                                      <p:cBhvr>
                                        <p:cTn id="7" dur="2000"/>
                                        <p:tgtEl>
                                          <p:spTgt spid="4556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5683">
                                            <p:txEl>
                                              <p:charRg st="0" end="13"/>
                                            </p:txEl>
                                          </p:spTgt>
                                        </p:tgtEl>
                                        <p:attrNameLst>
                                          <p:attrName>style.visibility</p:attrName>
                                        </p:attrNameLst>
                                      </p:cBhvr>
                                      <p:to>
                                        <p:strVal val="visible"/>
                                      </p:to>
                                    </p:set>
                                    <p:animEffect transition="in" filter="fade">
                                      <p:cBhvr>
                                        <p:cTn id="12" dur="2000"/>
                                        <p:tgtEl>
                                          <p:spTgt spid="455683">
                                            <p:txEl>
                                              <p:charRg st="0" end="1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55683">
                                            <p:txEl>
                                              <p:charRg st="14" end="88"/>
                                            </p:txEl>
                                          </p:spTgt>
                                        </p:tgtEl>
                                        <p:attrNameLst>
                                          <p:attrName>style.visibility</p:attrName>
                                        </p:attrNameLst>
                                      </p:cBhvr>
                                      <p:to>
                                        <p:strVal val="visible"/>
                                      </p:to>
                                    </p:set>
                                    <p:animEffect transition="in" filter="fade">
                                      <p:cBhvr>
                                        <p:cTn id="17" dur="2000"/>
                                        <p:tgtEl>
                                          <p:spTgt spid="455683">
                                            <p:txEl>
                                              <p:charRg st="14" end="8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682" grpId="0"/>
      <p:bldP spid="455683"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190"/>
          <p:cNvSpPr/>
          <p:nvPr/>
        </p:nvSpPr>
        <p:spPr>
          <a:xfrm>
            <a:off x="0" y="549275"/>
            <a:ext cx="8991600" cy="5867400"/>
          </a:xfrm>
          <a:prstGeom prst="rect">
            <a:avLst/>
          </a:prstGeom>
          <a:solidFill>
            <a:srgbClr val="CCFFFF"/>
          </a:solidFill>
          <a:ln w="9525">
            <a:noFill/>
          </a:ln>
          <a:effectLst>
            <a:prstShdw prst="shdw17" dist="17961" dir="13499999">
              <a:srgbClr val="050505"/>
            </a:prstShdw>
          </a:effectLst>
        </p:spPr>
        <p:txBody>
          <a:bodyPr wrap="none" anchor="ctr" anchorCtr="0"/>
          <a:p>
            <a:pPr eaLnBrk="1" hangingPunct="1"/>
            <a:endParaRPr lang="zh-CN" altLang="en-US" dirty="0">
              <a:latin typeface="Arial" panose="020B0604020202020204" pitchFamily="34" charset="0"/>
            </a:endParaRPr>
          </a:p>
        </p:txBody>
      </p:sp>
      <p:sp>
        <p:nvSpPr>
          <p:cNvPr id="115715" name="Text Box 191"/>
          <p:cNvSpPr txBox="1"/>
          <p:nvPr/>
        </p:nvSpPr>
        <p:spPr>
          <a:xfrm>
            <a:off x="228600" y="1828800"/>
            <a:ext cx="571500" cy="495300"/>
          </a:xfrm>
          <a:prstGeom prst="rect">
            <a:avLst/>
          </a:prstGeom>
          <a:noFill/>
          <a:ln w="9525">
            <a:noFill/>
          </a:ln>
        </p:spPr>
        <p:txBody>
          <a:bodyPr/>
          <a:p>
            <a:pPr indent="133350" algn="just" eaLnBrk="1" hangingPunct="1"/>
            <a:r>
              <a:rPr lang="zh-CN" altLang="en-US" sz="1600" b="1" dirty="0">
                <a:solidFill>
                  <a:srgbClr val="003300"/>
                </a:solidFill>
                <a:latin typeface="Times New Roman" panose="02020603050405020304" pitchFamily="18" charset="0"/>
              </a:rPr>
              <a:t>进</a:t>
            </a:r>
            <a:endParaRPr lang="zh-CN" altLang="en-US" sz="1600" b="1" dirty="0">
              <a:solidFill>
                <a:srgbClr val="003300"/>
              </a:solidFill>
              <a:latin typeface="Times New Roman" panose="02020603050405020304" pitchFamily="18" charset="0"/>
            </a:endParaRPr>
          </a:p>
          <a:p>
            <a:pPr indent="133350" algn="just"/>
            <a:r>
              <a:rPr lang="zh-CN" altLang="en-US" sz="1600" b="1" dirty="0">
                <a:solidFill>
                  <a:srgbClr val="003300"/>
                </a:solidFill>
                <a:latin typeface="Times New Roman" panose="02020603050405020304" pitchFamily="18" charset="0"/>
              </a:rPr>
              <a:t>程</a:t>
            </a:r>
            <a:endParaRPr lang="zh-CN" altLang="en-US" sz="1600" b="1" dirty="0">
              <a:solidFill>
                <a:srgbClr val="003300"/>
              </a:solidFill>
              <a:latin typeface="Times New Roman" panose="02020603050405020304" pitchFamily="18" charset="0"/>
            </a:endParaRPr>
          </a:p>
          <a:p>
            <a:pPr indent="133350" algn="just"/>
            <a:endParaRPr lang="en-US" altLang="zh-CN" sz="1600" b="1" dirty="0">
              <a:solidFill>
                <a:srgbClr val="003300"/>
              </a:solidFill>
              <a:latin typeface="Times New Roman" panose="02020603050405020304" pitchFamily="18" charset="0"/>
            </a:endParaRPr>
          </a:p>
        </p:txBody>
      </p:sp>
      <p:sp>
        <p:nvSpPr>
          <p:cNvPr id="115716" name="Text Box 192"/>
          <p:cNvSpPr txBox="1"/>
          <p:nvPr/>
        </p:nvSpPr>
        <p:spPr>
          <a:xfrm>
            <a:off x="381000" y="1371600"/>
            <a:ext cx="571500" cy="495300"/>
          </a:xfrm>
          <a:prstGeom prst="rect">
            <a:avLst/>
          </a:prstGeom>
          <a:noFill/>
          <a:ln w="9525">
            <a:noFill/>
          </a:ln>
        </p:spPr>
        <p:txBody>
          <a:bodyPr/>
          <a:p>
            <a:pPr indent="266700" algn="just" eaLnBrk="1" hangingPunct="1"/>
            <a:r>
              <a:rPr lang="zh-CN" altLang="en-US" sz="1600" b="1" dirty="0">
                <a:solidFill>
                  <a:srgbClr val="003300"/>
                </a:solidFill>
                <a:latin typeface="Times New Roman" panose="02020603050405020304" pitchFamily="18" charset="0"/>
              </a:rPr>
              <a:t>资</a:t>
            </a:r>
            <a:endParaRPr lang="zh-CN" altLang="en-US" sz="1600" b="1" dirty="0">
              <a:solidFill>
                <a:srgbClr val="003300"/>
              </a:solidFill>
              <a:latin typeface="Times New Roman" panose="02020603050405020304" pitchFamily="18" charset="0"/>
            </a:endParaRPr>
          </a:p>
          <a:p>
            <a:pPr indent="266700" algn="just"/>
            <a:r>
              <a:rPr lang="zh-CN" altLang="en-US" sz="1600" b="1" dirty="0">
                <a:solidFill>
                  <a:srgbClr val="003300"/>
                </a:solidFill>
                <a:latin typeface="Times New Roman" panose="02020603050405020304" pitchFamily="18" charset="0"/>
              </a:rPr>
              <a:t>源</a:t>
            </a:r>
            <a:endParaRPr lang="zh-CN" altLang="en-US" sz="1600" b="1" dirty="0">
              <a:solidFill>
                <a:srgbClr val="003300"/>
              </a:solidFill>
              <a:latin typeface="Times New Roman" panose="02020603050405020304" pitchFamily="18" charset="0"/>
            </a:endParaRPr>
          </a:p>
          <a:p>
            <a:pPr indent="266700"/>
            <a:endParaRPr lang="en-US" altLang="zh-CN" sz="1600" b="1" dirty="0">
              <a:solidFill>
                <a:srgbClr val="003300"/>
              </a:solidFill>
              <a:latin typeface="Times New Roman" panose="02020603050405020304" pitchFamily="18" charset="0"/>
            </a:endParaRPr>
          </a:p>
        </p:txBody>
      </p:sp>
      <p:sp>
        <p:nvSpPr>
          <p:cNvPr id="115717" name="Line 193"/>
          <p:cNvSpPr/>
          <p:nvPr/>
        </p:nvSpPr>
        <p:spPr>
          <a:xfrm flipH="1" flipV="1">
            <a:off x="381000" y="1371600"/>
            <a:ext cx="685800" cy="1066800"/>
          </a:xfrm>
          <a:prstGeom prst="line">
            <a:avLst/>
          </a:prstGeom>
          <a:ln w="9525" cap="flat" cmpd="sng">
            <a:solidFill>
              <a:srgbClr val="000000"/>
            </a:solidFill>
            <a:prstDash val="solid"/>
            <a:headEnd type="none" w="med" len="med"/>
            <a:tailEnd type="none" w="med" len="med"/>
          </a:ln>
        </p:spPr>
      </p:sp>
      <p:grpSp>
        <p:nvGrpSpPr>
          <p:cNvPr id="115718" name="Group 194"/>
          <p:cNvGrpSpPr/>
          <p:nvPr/>
        </p:nvGrpSpPr>
        <p:grpSpPr>
          <a:xfrm>
            <a:off x="304800" y="1338263"/>
            <a:ext cx="8534400" cy="4183062"/>
            <a:chOff x="-3" y="-3"/>
            <a:chExt cx="4534" cy="2635"/>
          </a:xfrm>
        </p:grpSpPr>
        <p:grpSp>
          <p:nvGrpSpPr>
            <p:cNvPr id="115719" name="Group 195"/>
            <p:cNvGrpSpPr/>
            <p:nvPr/>
          </p:nvGrpSpPr>
          <p:grpSpPr>
            <a:xfrm>
              <a:off x="0" y="0"/>
              <a:ext cx="4528" cy="2629"/>
              <a:chOff x="0" y="0"/>
              <a:chExt cx="4528" cy="2629"/>
            </a:xfrm>
          </p:grpSpPr>
          <p:grpSp>
            <p:nvGrpSpPr>
              <p:cNvPr id="115721" name="Group 196"/>
              <p:cNvGrpSpPr/>
              <p:nvPr/>
            </p:nvGrpSpPr>
            <p:grpSpPr>
              <a:xfrm>
                <a:off x="0" y="0"/>
                <a:ext cx="411" cy="692"/>
                <a:chOff x="0" y="0"/>
                <a:chExt cx="411" cy="692"/>
              </a:xfrm>
            </p:grpSpPr>
            <p:grpSp>
              <p:nvGrpSpPr>
                <p:cNvPr id="115899" name="Group 197"/>
                <p:cNvGrpSpPr/>
                <p:nvPr/>
              </p:nvGrpSpPr>
              <p:grpSpPr>
                <a:xfrm>
                  <a:off x="43" y="0"/>
                  <a:ext cx="325" cy="692"/>
                  <a:chOff x="0" y="0"/>
                  <a:chExt cx="325" cy="692"/>
                </a:xfrm>
              </p:grpSpPr>
              <p:sp>
                <p:nvSpPr>
                  <p:cNvPr id="115901" name="Rectangle 198"/>
                  <p:cNvSpPr/>
                  <p:nvPr/>
                </p:nvSpPr>
                <p:spPr>
                  <a:xfrm>
                    <a:off x="0" y="0"/>
                    <a:ext cx="325" cy="0"/>
                  </a:xfrm>
                  <a:prstGeom prst="rect">
                    <a:avLst/>
                  </a:prstGeom>
                  <a:noFill/>
                  <a:ln w="9525">
                    <a:noFill/>
                  </a:ln>
                </p:spPr>
                <p:txBody>
                  <a:bodyPr>
                    <a:spAutoFit/>
                  </a:bodyPr>
                  <a:p>
                    <a:pPr eaLnBrk="1" hangingPunct="1"/>
                    <a:endParaRPr lang="zh-CN" altLang="zh-CN" dirty="0">
                      <a:latin typeface="Arial" panose="020B0604020202020204" pitchFamily="34" charset="0"/>
                    </a:endParaRPr>
                  </a:p>
                </p:txBody>
              </p:sp>
              <p:sp>
                <p:nvSpPr>
                  <p:cNvPr id="115902" name="Rectangle 199"/>
                  <p:cNvSpPr/>
                  <p:nvPr/>
                </p:nvSpPr>
                <p:spPr>
                  <a:xfrm>
                    <a:off x="0" y="404"/>
                    <a:ext cx="325" cy="288"/>
                  </a:xfrm>
                  <a:prstGeom prst="rect">
                    <a:avLst/>
                  </a:prstGeom>
                  <a:noFill/>
                  <a:ln w="9525">
                    <a:noFill/>
                  </a:ln>
                </p:spPr>
                <p:txBody>
                  <a:bodyPr>
                    <a:spAutoFit/>
                  </a:bodyPr>
                  <a:p>
                    <a:pPr eaLnBrk="1" hangingPunct="1"/>
                    <a:endParaRPr lang="zh-CN" altLang="zh-CN" sz="2400" dirty="0">
                      <a:solidFill>
                        <a:srgbClr val="003300"/>
                      </a:solidFill>
                      <a:latin typeface="Times New Roman" panose="02020603050405020304" pitchFamily="18" charset="0"/>
                    </a:endParaRPr>
                  </a:p>
                </p:txBody>
              </p:sp>
            </p:grpSp>
            <p:sp>
              <p:nvSpPr>
                <p:cNvPr id="115900" name="Rectangle 200"/>
                <p:cNvSpPr/>
                <p:nvPr/>
              </p:nvSpPr>
              <p:spPr>
                <a:xfrm>
                  <a:off x="0" y="0"/>
                  <a:ext cx="411" cy="692"/>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22" name="Group 201"/>
              <p:cNvGrpSpPr/>
              <p:nvPr/>
            </p:nvGrpSpPr>
            <p:grpSpPr>
              <a:xfrm>
                <a:off x="411" y="0"/>
                <a:ext cx="1087" cy="499"/>
                <a:chOff x="411" y="0"/>
                <a:chExt cx="1087" cy="499"/>
              </a:xfrm>
            </p:grpSpPr>
            <p:sp>
              <p:nvSpPr>
                <p:cNvPr id="115897" name="Rectangle 202"/>
                <p:cNvSpPr/>
                <p:nvPr/>
              </p:nvSpPr>
              <p:spPr>
                <a:xfrm>
                  <a:off x="454" y="0"/>
                  <a:ext cx="1001" cy="499"/>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Max</a:t>
                  </a:r>
                  <a:endParaRPr lang="en-US" altLang="zh-CN" b="1" dirty="0">
                    <a:solidFill>
                      <a:srgbClr val="003300"/>
                    </a:solidFill>
                    <a:latin typeface="Times New Roman" panose="02020603050405020304" pitchFamily="18" charset="0"/>
                  </a:endParaRPr>
                </a:p>
                <a:p>
                  <a:pPr algn="ctr"/>
                  <a:endParaRPr lang="en-US" altLang="zh-CN" b="1" dirty="0">
                    <a:solidFill>
                      <a:srgbClr val="003300"/>
                    </a:solidFill>
                    <a:latin typeface="Times New Roman" panose="02020603050405020304" pitchFamily="18" charset="0"/>
                  </a:endParaRPr>
                </a:p>
              </p:txBody>
            </p:sp>
            <p:sp>
              <p:nvSpPr>
                <p:cNvPr id="115898" name="Rectangle 203"/>
                <p:cNvSpPr/>
                <p:nvPr/>
              </p:nvSpPr>
              <p:spPr>
                <a:xfrm>
                  <a:off x="411" y="0"/>
                  <a:ext cx="1087" cy="499"/>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23" name="Group 204"/>
              <p:cNvGrpSpPr/>
              <p:nvPr/>
            </p:nvGrpSpPr>
            <p:grpSpPr>
              <a:xfrm>
                <a:off x="1498" y="0"/>
                <a:ext cx="1227" cy="499"/>
                <a:chOff x="1498" y="0"/>
                <a:chExt cx="1227" cy="499"/>
              </a:xfrm>
            </p:grpSpPr>
            <p:sp>
              <p:nvSpPr>
                <p:cNvPr id="115895" name="Rectangle 205"/>
                <p:cNvSpPr/>
                <p:nvPr/>
              </p:nvSpPr>
              <p:spPr>
                <a:xfrm>
                  <a:off x="1541" y="0"/>
                  <a:ext cx="1141" cy="499"/>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Allocation</a:t>
                  </a:r>
                  <a:endParaRPr lang="en-US" altLang="zh-CN" b="1" dirty="0">
                    <a:solidFill>
                      <a:srgbClr val="003300"/>
                    </a:solidFill>
                    <a:latin typeface="Times New Roman" panose="02020603050405020304" pitchFamily="18" charset="0"/>
                  </a:endParaRPr>
                </a:p>
                <a:p>
                  <a:pPr algn="ctr"/>
                  <a:r>
                    <a:rPr lang="en-US" altLang="zh-CN" sz="1000" dirty="0">
                      <a:solidFill>
                        <a:srgbClr val="003300"/>
                      </a:solidFill>
                      <a:latin typeface="Times New Roman" panose="02020603050405020304" pitchFamily="18" charset="0"/>
                    </a:rPr>
                    <a:t> </a:t>
                  </a:r>
                  <a:endParaRPr lang="en-US" altLang="zh-CN" sz="1000" dirty="0">
                    <a:solidFill>
                      <a:srgbClr val="003300"/>
                    </a:solidFill>
                    <a:latin typeface="Times New Roman" panose="02020603050405020304" pitchFamily="18" charset="0"/>
                  </a:endParaRPr>
                </a:p>
                <a:p>
                  <a:pPr algn="ctr"/>
                  <a:endParaRPr lang="en-US" altLang="zh-CN" sz="2400" dirty="0">
                    <a:solidFill>
                      <a:srgbClr val="003300"/>
                    </a:solidFill>
                    <a:latin typeface="Times New Roman" panose="02020603050405020304" pitchFamily="18" charset="0"/>
                  </a:endParaRPr>
                </a:p>
              </p:txBody>
            </p:sp>
            <p:sp>
              <p:nvSpPr>
                <p:cNvPr id="115896" name="Rectangle 206"/>
                <p:cNvSpPr/>
                <p:nvPr/>
              </p:nvSpPr>
              <p:spPr>
                <a:xfrm>
                  <a:off x="1498" y="0"/>
                  <a:ext cx="1227" cy="499"/>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24" name="Group 207"/>
              <p:cNvGrpSpPr/>
              <p:nvPr/>
            </p:nvGrpSpPr>
            <p:grpSpPr>
              <a:xfrm>
                <a:off x="2725" y="0"/>
                <a:ext cx="924" cy="499"/>
                <a:chOff x="2725" y="0"/>
                <a:chExt cx="924" cy="499"/>
              </a:xfrm>
            </p:grpSpPr>
            <p:sp>
              <p:nvSpPr>
                <p:cNvPr id="115893" name="Rectangle 208"/>
                <p:cNvSpPr/>
                <p:nvPr/>
              </p:nvSpPr>
              <p:spPr>
                <a:xfrm>
                  <a:off x="2768" y="0"/>
                  <a:ext cx="838" cy="499"/>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Need</a:t>
                  </a:r>
                  <a:endParaRPr lang="en-US" altLang="zh-CN" b="1" dirty="0">
                    <a:solidFill>
                      <a:srgbClr val="003300"/>
                    </a:solidFill>
                    <a:latin typeface="Times New Roman" panose="02020603050405020304" pitchFamily="18" charset="0"/>
                  </a:endParaRPr>
                </a:p>
                <a:p>
                  <a:pPr algn="ctr"/>
                  <a:endParaRPr lang="en-US" altLang="zh-CN" b="1" dirty="0">
                    <a:solidFill>
                      <a:srgbClr val="003300"/>
                    </a:solidFill>
                    <a:latin typeface="Times New Roman" panose="02020603050405020304" pitchFamily="18" charset="0"/>
                  </a:endParaRPr>
                </a:p>
              </p:txBody>
            </p:sp>
            <p:sp>
              <p:nvSpPr>
                <p:cNvPr id="115894" name="Rectangle 209"/>
                <p:cNvSpPr/>
                <p:nvPr/>
              </p:nvSpPr>
              <p:spPr>
                <a:xfrm>
                  <a:off x="2725" y="0"/>
                  <a:ext cx="924" cy="499"/>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25" name="Group 210"/>
              <p:cNvGrpSpPr/>
              <p:nvPr/>
            </p:nvGrpSpPr>
            <p:grpSpPr>
              <a:xfrm>
                <a:off x="3649" y="0"/>
                <a:ext cx="879" cy="499"/>
                <a:chOff x="3649" y="0"/>
                <a:chExt cx="879" cy="499"/>
              </a:xfrm>
            </p:grpSpPr>
            <p:sp>
              <p:nvSpPr>
                <p:cNvPr id="115891" name="Rectangle 211"/>
                <p:cNvSpPr/>
                <p:nvPr/>
              </p:nvSpPr>
              <p:spPr>
                <a:xfrm>
                  <a:off x="3692" y="0"/>
                  <a:ext cx="793" cy="499"/>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Available</a:t>
                  </a:r>
                  <a:endParaRPr lang="en-US" altLang="zh-CN" b="1" dirty="0">
                    <a:solidFill>
                      <a:srgbClr val="003300"/>
                    </a:solidFill>
                    <a:latin typeface="Times New Roman" panose="02020603050405020304" pitchFamily="18" charset="0"/>
                  </a:endParaRPr>
                </a:p>
                <a:p>
                  <a:pPr algn="ctr"/>
                  <a:endParaRPr lang="en-US" altLang="zh-CN" b="1" dirty="0">
                    <a:solidFill>
                      <a:srgbClr val="003300"/>
                    </a:solidFill>
                    <a:latin typeface="Times New Roman" panose="02020603050405020304" pitchFamily="18" charset="0"/>
                  </a:endParaRPr>
                </a:p>
              </p:txBody>
            </p:sp>
            <p:sp>
              <p:nvSpPr>
                <p:cNvPr id="115892" name="Rectangle 212"/>
                <p:cNvSpPr/>
                <p:nvPr/>
              </p:nvSpPr>
              <p:spPr>
                <a:xfrm>
                  <a:off x="3649" y="0"/>
                  <a:ext cx="879" cy="499"/>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26" name="Group 213"/>
              <p:cNvGrpSpPr/>
              <p:nvPr/>
            </p:nvGrpSpPr>
            <p:grpSpPr>
              <a:xfrm>
                <a:off x="411" y="499"/>
                <a:ext cx="368" cy="518"/>
                <a:chOff x="411" y="499"/>
                <a:chExt cx="368" cy="518"/>
              </a:xfrm>
            </p:grpSpPr>
            <p:sp>
              <p:nvSpPr>
                <p:cNvPr id="115889" name="Rectangle 214"/>
                <p:cNvSpPr/>
                <p:nvPr/>
              </p:nvSpPr>
              <p:spPr>
                <a:xfrm>
                  <a:off x="454" y="499"/>
                  <a:ext cx="282" cy="518"/>
                </a:xfrm>
                <a:prstGeom prst="rect">
                  <a:avLst/>
                </a:prstGeom>
                <a:noFill/>
                <a:ln w="9525">
                  <a:noFill/>
                </a:ln>
              </p:spPr>
              <p:txBody>
                <a:bodyPr/>
                <a:p>
                  <a:pPr algn="just" eaLnBrk="1" hangingPunct="1"/>
                  <a:r>
                    <a:rPr lang="en-US" altLang="zh-CN" sz="1600" b="1" dirty="0">
                      <a:solidFill>
                        <a:srgbClr val="003300"/>
                      </a:solidFill>
                      <a:latin typeface="Times New Roman" panose="02020603050405020304" pitchFamily="18" charset="0"/>
                    </a:rPr>
                    <a:t>R1</a:t>
                  </a:r>
                  <a:endParaRPr lang="en-US" altLang="zh-CN" sz="1600" b="1" dirty="0">
                    <a:solidFill>
                      <a:srgbClr val="003300"/>
                    </a:solidFill>
                    <a:latin typeface="Times New Roman" panose="02020603050405020304" pitchFamily="18" charset="0"/>
                  </a:endParaRPr>
                </a:p>
                <a:p>
                  <a:pPr algn="just"/>
                  <a:endParaRPr lang="en-US" altLang="zh-CN" sz="1600" b="1" dirty="0">
                    <a:solidFill>
                      <a:srgbClr val="003300"/>
                    </a:solidFill>
                    <a:latin typeface="Times New Roman" panose="02020603050405020304" pitchFamily="18" charset="0"/>
                  </a:endParaRPr>
                </a:p>
              </p:txBody>
            </p:sp>
            <p:sp>
              <p:nvSpPr>
                <p:cNvPr id="115890" name="Rectangle 215"/>
                <p:cNvSpPr/>
                <p:nvPr/>
              </p:nvSpPr>
              <p:spPr>
                <a:xfrm>
                  <a:off x="411" y="499"/>
                  <a:ext cx="368"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27" name="Group 216"/>
              <p:cNvGrpSpPr/>
              <p:nvPr/>
            </p:nvGrpSpPr>
            <p:grpSpPr>
              <a:xfrm>
                <a:off x="779" y="499"/>
                <a:ext cx="368" cy="518"/>
                <a:chOff x="779" y="499"/>
                <a:chExt cx="368" cy="518"/>
              </a:xfrm>
            </p:grpSpPr>
            <p:sp>
              <p:nvSpPr>
                <p:cNvPr id="115887" name="Rectangle 217"/>
                <p:cNvSpPr/>
                <p:nvPr/>
              </p:nvSpPr>
              <p:spPr>
                <a:xfrm>
                  <a:off x="822" y="499"/>
                  <a:ext cx="282" cy="518"/>
                </a:xfrm>
                <a:prstGeom prst="rect">
                  <a:avLst/>
                </a:prstGeom>
                <a:noFill/>
                <a:ln w="9525">
                  <a:noFill/>
                </a:ln>
              </p:spPr>
              <p:txBody>
                <a:bodyPr/>
                <a:p>
                  <a:pPr algn="just" eaLnBrk="1" hangingPunct="1"/>
                  <a:r>
                    <a:rPr lang="en-US" altLang="zh-CN" sz="1600" b="1" dirty="0">
                      <a:solidFill>
                        <a:srgbClr val="003300"/>
                      </a:solidFill>
                      <a:latin typeface="Times New Roman" panose="02020603050405020304" pitchFamily="18" charset="0"/>
                    </a:rPr>
                    <a:t>R2</a:t>
                  </a:r>
                  <a:endParaRPr lang="en-US" altLang="zh-CN" sz="1600" b="1" dirty="0">
                    <a:solidFill>
                      <a:srgbClr val="003300"/>
                    </a:solidFill>
                    <a:latin typeface="Times New Roman" panose="02020603050405020304" pitchFamily="18" charset="0"/>
                  </a:endParaRPr>
                </a:p>
                <a:p>
                  <a:pPr algn="just"/>
                  <a:endParaRPr lang="en-US" altLang="zh-CN" sz="1600" b="1" dirty="0">
                    <a:solidFill>
                      <a:srgbClr val="003300"/>
                    </a:solidFill>
                    <a:latin typeface="Times New Roman" panose="02020603050405020304" pitchFamily="18" charset="0"/>
                  </a:endParaRPr>
                </a:p>
              </p:txBody>
            </p:sp>
            <p:sp>
              <p:nvSpPr>
                <p:cNvPr id="115888" name="Rectangle 218"/>
                <p:cNvSpPr/>
                <p:nvPr/>
              </p:nvSpPr>
              <p:spPr>
                <a:xfrm>
                  <a:off x="779" y="499"/>
                  <a:ext cx="368"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28" name="Group 219"/>
              <p:cNvGrpSpPr/>
              <p:nvPr/>
            </p:nvGrpSpPr>
            <p:grpSpPr>
              <a:xfrm>
                <a:off x="1147" y="499"/>
                <a:ext cx="351" cy="518"/>
                <a:chOff x="1147" y="499"/>
                <a:chExt cx="351" cy="518"/>
              </a:xfrm>
            </p:grpSpPr>
            <p:sp>
              <p:nvSpPr>
                <p:cNvPr id="115885" name="Rectangle 220"/>
                <p:cNvSpPr/>
                <p:nvPr/>
              </p:nvSpPr>
              <p:spPr>
                <a:xfrm>
                  <a:off x="1190" y="499"/>
                  <a:ext cx="265" cy="518"/>
                </a:xfrm>
                <a:prstGeom prst="rect">
                  <a:avLst/>
                </a:prstGeom>
                <a:noFill/>
                <a:ln w="9525">
                  <a:noFill/>
                </a:ln>
              </p:spPr>
              <p:txBody>
                <a:bodyPr/>
                <a:p>
                  <a:pPr algn="just" eaLnBrk="1" hangingPunct="1"/>
                  <a:r>
                    <a:rPr lang="en-US" altLang="zh-CN" sz="1400" b="1" dirty="0">
                      <a:solidFill>
                        <a:srgbClr val="003300"/>
                      </a:solidFill>
                      <a:latin typeface="Times New Roman" panose="02020603050405020304" pitchFamily="18" charset="0"/>
                    </a:rPr>
                    <a:t>R3</a:t>
                  </a:r>
                  <a:endParaRPr lang="en-US" altLang="zh-CN" sz="1400" b="1" dirty="0">
                    <a:solidFill>
                      <a:srgbClr val="003300"/>
                    </a:solidFill>
                    <a:latin typeface="Times New Roman" panose="02020603050405020304" pitchFamily="18" charset="0"/>
                  </a:endParaRPr>
                </a:p>
                <a:p>
                  <a:pPr algn="just"/>
                  <a:endParaRPr lang="en-US" altLang="zh-CN" sz="2400" dirty="0">
                    <a:solidFill>
                      <a:srgbClr val="003300"/>
                    </a:solidFill>
                    <a:latin typeface="Times New Roman" panose="02020603050405020304" pitchFamily="18" charset="0"/>
                  </a:endParaRPr>
                </a:p>
              </p:txBody>
            </p:sp>
            <p:sp>
              <p:nvSpPr>
                <p:cNvPr id="115886" name="Rectangle 221"/>
                <p:cNvSpPr/>
                <p:nvPr/>
              </p:nvSpPr>
              <p:spPr>
                <a:xfrm>
                  <a:off x="1147" y="499"/>
                  <a:ext cx="351"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29" name="Group 222"/>
              <p:cNvGrpSpPr/>
              <p:nvPr/>
            </p:nvGrpSpPr>
            <p:grpSpPr>
              <a:xfrm>
                <a:off x="1498" y="499"/>
                <a:ext cx="389" cy="518"/>
                <a:chOff x="1498" y="499"/>
                <a:chExt cx="389" cy="518"/>
              </a:xfrm>
            </p:grpSpPr>
            <p:sp>
              <p:nvSpPr>
                <p:cNvPr id="115883" name="Rectangle 223"/>
                <p:cNvSpPr/>
                <p:nvPr/>
              </p:nvSpPr>
              <p:spPr>
                <a:xfrm>
                  <a:off x="1541" y="499"/>
                  <a:ext cx="303" cy="518"/>
                </a:xfrm>
                <a:prstGeom prst="rect">
                  <a:avLst/>
                </a:prstGeom>
                <a:noFill/>
                <a:ln w="9525">
                  <a:noFill/>
                </a:ln>
              </p:spPr>
              <p:txBody>
                <a:bodyPr/>
                <a:p>
                  <a:pPr algn="just" eaLnBrk="1" hangingPunct="1"/>
                  <a:r>
                    <a:rPr lang="en-US" altLang="zh-CN" sz="1600" b="1" dirty="0">
                      <a:solidFill>
                        <a:srgbClr val="003300"/>
                      </a:solidFill>
                      <a:latin typeface="Times New Roman" panose="02020603050405020304" pitchFamily="18" charset="0"/>
                    </a:rPr>
                    <a:t>R1</a:t>
                  </a:r>
                  <a:endParaRPr lang="en-US" altLang="zh-CN" sz="1600" b="1" dirty="0">
                    <a:solidFill>
                      <a:srgbClr val="003300"/>
                    </a:solidFill>
                    <a:latin typeface="Times New Roman" panose="02020603050405020304" pitchFamily="18" charset="0"/>
                  </a:endParaRPr>
                </a:p>
                <a:p>
                  <a:pPr algn="just"/>
                  <a:endParaRPr lang="en-US" altLang="zh-CN" sz="1600" b="1" dirty="0">
                    <a:solidFill>
                      <a:srgbClr val="003300"/>
                    </a:solidFill>
                    <a:latin typeface="Times New Roman" panose="02020603050405020304" pitchFamily="18" charset="0"/>
                  </a:endParaRPr>
                </a:p>
              </p:txBody>
            </p:sp>
            <p:sp>
              <p:nvSpPr>
                <p:cNvPr id="115884" name="Rectangle 224"/>
                <p:cNvSpPr/>
                <p:nvPr/>
              </p:nvSpPr>
              <p:spPr>
                <a:xfrm>
                  <a:off x="1498" y="499"/>
                  <a:ext cx="389"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30" name="Group 225"/>
              <p:cNvGrpSpPr/>
              <p:nvPr/>
            </p:nvGrpSpPr>
            <p:grpSpPr>
              <a:xfrm>
                <a:off x="1887" y="499"/>
                <a:ext cx="438" cy="518"/>
                <a:chOff x="1887" y="499"/>
                <a:chExt cx="438" cy="518"/>
              </a:xfrm>
            </p:grpSpPr>
            <p:sp>
              <p:nvSpPr>
                <p:cNvPr id="115881" name="Rectangle 226"/>
                <p:cNvSpPr/>
                <p:nvPr/>
              </p:nvSpPr>
              <p:spPr>
                <a:xfrm>
                  <a:off x="1930" y="499"/>
                  <a:ext cx="352" cy="518"/>
                </a:xfrm>
                <a:prstGeom prst="rect">
                  <a:avLst/>
                </a:prstGeom>
                <a:noFill/>
                <a:ln w="9525">
                  <a:noFill/>
                </a:ln>
              </p:spPr>
              <p:txBody>
                <a:bodyPr/>
                <a:p>
                  <a:pPr algn="just" eaLnBrk="1" hangingPunct="1"/>
                  <a:r>
                    <a:rPr lang="en-US" altLang="zh-CN" sz="1600" b="1" dirty="0">
                      <a:solidFill>
                        <a:srgbClr val="003300"/>
                      </a:solidFill>
                      <a:latin typeface="Times New Roman" panose="02020603050405020304" pitchFamily="18" charset="0"/>
                    </a:rPr>
                    <a:t>R2</a:t>
                  </a:r>
                  <a:endParaRPr lang="en-US" altLang="zh-CN" sz="1600" b="1" dirty="0">
                    <a:solidFill>
                      <a:srgbClr val="003300"/>
                    </a:solidFill>
                    <a:latin typeface="Times New Roman" panose="02020603050405020304" pitchFamily="18" charset="0"/>
                  </a:endParaRPr>
                </a:p>
                <a:p>
                  <a:pPr algn="just"/>
                  <a:endParaRPr lang="en-US" altLang="zh-CN" sz="2400" dirty="0">
                    <a:solidFill>
                      <a:srgbClr val="003300"/>
                    </a:solidFill>
                    <a:latin typeface="Times New Roman" panose="02020603050405020304" pitchFamily="18" charset="0"/>
                  </a:endParaRPr>
                </a:p>
              </p:txBody>
            </p:sp>
            <p:sp>
              <p:nvSpPr>
                <p:cNvPr id="115882" name="Rectangle 227"/>
                <p:cNvSpPr/>
                <p:nvPr/>
              </p:nvSpPr>
              <p:spPr>
                <a:xfrm>
                  <a:off x="1887" y="499"/>
                  <a:ext cx="438"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31" name="Group 228"/>
              <p:cNvGrpSpPr/>
              <p:nvPr/>
            </p:nvGrpSpPr>
            <p:grpSpPr>
              <a:xfrm>
                <a:off x="2325" y="499"/>
                <a:ext cx="400" cy="518"/>
                <a:chOff x="2325" y="499"/>
                <a:chExt cx="400" cy="518"/>
              </a:xfrm>
            </p:grpSpPr>
            <p:sp>
              <p:nvSpPr>
                <p:cNvPr id="115879" name="Rectangle 229"/>
                <p:cNvSpPr/>
                <p:nvPr/>
              </p:nvSpPr>
              <p:spPr>
                <a:xfrm>
                  <a:off x="2368" y="499"/>
                  <a:ext cx="314" cy="518"/>
                </a:xfrm>
                <a:prstGeom prst="rect">
                  <a:avLst/>
                </a:prstGeom>
                <a:noFill/>
                <a:ln w="9525">
                  <a:noFill/>
                </a:ln>
              </p:spPr>
              <p:txBody>
                <a:bodyPr/>
                <a:p>
                  <a:pPr algn="just" eaLnBrk="1" hangingPunct="1"/>
                  <a:r>
                    <a:rPr lang="en-US" altLang="zh-CN" sz="1600" b="1" dirty="0">
                      <a:solidFill>
                        <a:srgbClr val="003300"/>
                      </a:solidFill>
                      <a:latin typeface="Times New Roman" panose="02020603050405020304" pitchFamily="18" charset="0"/>
                    </a:rPr>
                    <a:t>R3</a:t>
                  </a:r>
                  <a:endParaRPr lang="en-US" altLang="zh-CN" sz="1600" b="1" dirty="0">
                    <a:solidFill>
                      <a:srgbClr val="003300"/>
                    </a:solidFill>
                    <a:latin typeface="Times New Roman" panose="02020603050405020304" pitchFamily="18" charset="0"/>
                  </a:endParaRPr>
                </a:p>
                <a:p>
                  <a:pPr algn="just"/>
                  <a:endParaRPr lang="en-US" altLang="zh-CN" sz="2400" dirty="0">
                    <a:solidFill>
                      <a:srgbClr val="003300"/>
                    </a:solidFill>
                    <a:latin typeface="Times New Roman" panose="02020603050405020304" pitchFamily="18" charset="0"/>
                  </a:endParaRPr>
                </a:p>
              </p:txBody>
            </p:sp>
            <p:sp>
              <p:nvSpPr>
                <p:cNvPr id="115880" name="Rectangle 230"/>
                <p:cNvSpPr/>
                <p:nvPr/>
              </p:nvSpPr>
              <p:spPr>
                <a:xfrm>
                  <a:off x="2325" y="499"/>
                  <a:ext cx="400"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32" name="Group 231"/>
              <p:cNvGrpSpPr/>
              <p:nvPr/>
            </p:nvGrpSpPr>
            <p:grpSpPr>
              <a:xfrm>
                <a:off x="2725" y="499"/>
                <a:ext cx="316" cy="518"/>
                <a:chOff x="2725" y="499"/>
                <a:chExt cx="316" cy="518"/>
              </a:xfrm>
            </p:grpSpPr>
            <p:sp>
              <p:nvSpPr>
                <p:cNvPr id="115877" name="Rectangle 232"/>
                <p:cNvSpPr/>
                <p:nvPr/>
              </p:nvSpPr>
              <p:spPr>
                <a:xfrm>
                  <a:off x="2768" y="499"/>
                  <a:ext cx="230" cy="518"/>
                </a:xfrm>
                <a:prstGeom prst="rect">
                  <a:avLst/>
                </a:prstGeom>
                <a:noFill/>
                <a:ln w="9525">
                  <a:noFill/>
                </a:ln>
              </p:spPr>
              <p:txBody>
                <a:bodyPr/>
                <a:p>
                  <a:pPr algn="just" eaLnBrk="1" hangingPunct="1"/>
                  <a:r>
                    <a:rPr lang="en-US" altLang="zh-CN" sz="1400" b="1" dirty="0">
                      <a:solidFill>
                        <a:srgbClr val="003300"/>
                      </a:solidFill>
                      <a:latin typeface="Times New Roman" panose="02020603050405020304" pitchFamily="18" charset="0"/>
                    </a:rPr>
                    <a:t>R1</a:t>
                  </a:r>
                  <a:endParaRPr lang="en-US" altLang="zh-CN" sz="1400" b="1" dirty="0">
                    <a:solidFill>
                      <a:srgbClr val="003300"/>
                    </a:solidFill>
                    <a:latin typeface="Times New Roman" panose="02020603050405020304" pitchFamily="18" charset="0"/>
                  </a:endParaRPr>
                </a:p>
                <a:p>
                  <a:pPr algn="just"/>
                  <a:endParaRPr lang="en-US" altLang="zh-CN" sz="2400" dirty="0">
                    <a:solidFill>
                      <a:srgbClr val="003300"/>
                    </a:solidFill>
                    <a:latin typeface="Times New Roman" panose="02020603050405020304" pitchFamily="18" charset="0"/>
                  </a:endParaRPr>
                </a:p>
              </p:txBody>
            </p:sp>
            <p:sp>
              <p:nvSpPr>
                <p:cNvPr id="115878" name="Rectangle 233"/>
                <p:cNvSpPr/>
                <p:nvPr/>
              </p:nvSpPr>
              <p:spPr>
                <a:xfrm>
                  <a:off x="2725" y="499"/>
                  <a:ext cx="316"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33" name="Group 234"/>
              <p:cNvGrpSpPr/>
              <p:nvPr/>
            </p:nvGrpSpPr>
            <p:grpSpPr>
              <a:xfrm>
                <a:off x="3041" y="499"/>
                <a:ext cx="292" cy="518"/>
                <a:chOff x="3041" y="499"/>
                <a:chExt cx="292" cy="518"/>
              </a:xfrm>
            </p:grpSpPr>
            <p:sp>
              <p:nvSpPr>
                <p:cNvPr id="115875" name="Rectangle 235"/>
                <p:cNvSpPr/>
                <p:nvPr/>
              </p:nvSpPr>
              <p:spPr>
                <a:xfrm>
                  <a:off x="3084" y="499"/>
                  <a:ext cx="206" cy="518"/>
                </a:xfrm>
                <a:prstGeom prst="rect">
                  <a:avLst/>
                </a:prstGeom>
                <a:noFill/>
                <a:ln w="9525">
                  <a:noFill/>
                </a:ln>
              </p:spPr>
              <p:txBody>
                <a:bodyPr/>
                <a:p>
                  <a:pPr algn="just" eaLnBrk="1" hangingPunct="1"/>
                  <a:r>
                    <a:rPr lang="en-US" altLang="zh-CN" sz="1200" b="1" dirty="0">
                      <a:solidFill>
                        <a:srgbClr val="003300"/>
                      </a:solidFill>
                      <a:latin typeface="Times New Roman" panose="02020603050405020304" pitchFamily="18" charset="0"/>
                    </a:rPr>
                    <a:t>R2</a:t>
                  </a:r>
                  <a:endParaRPr lang="en-US" altLang="zh-CN" sz="1200" b="1" dirty="0">
                    <a:solidFill>
                      <a:srgbClr val="003300"/>
                    </a:solidFill>
                    <a:latin typeface="Times New Roman" panose="02020603050405020304" pitchFamily="18" charset="0"/>
                  </a:endParaRPr>
                </a:p>
                <a:p>
                  <a:pPr algn="just"/>
                  <a:endParaRPr lang="en-US" altLang="zh-CN" sz="2400" dirty="0">
                    <a:solidFill>
                      <a:srgbClr val="003300"/>
                    </a:solidFill>
                    <a:latin typeface="Times New Roman" panose="02020603050405020304" pitchFamily="18" charset="0"/>
                  </a:endParaRPr>
                </a:p>
              </p:txBody>
            </p:sp>
            <p:sp>
              <p:nvSpPr>
                <p:cNvPr id="115876" name="Rectangle 236"/>
                <p:cNvSpPr/>
                <p:nvPr/>
              </p:nvSpPr>
              <p:spPr>
                <a:xfrm>
                  <a:off x="3041" y="499"/>
                  <a:ext cx="292"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34" name="Group 237"/>
              <p:cNvGrpSpPr/>
              <p:nvPr/>
            </p:nvGrpSpPr>
            <p:grpSpPr>
              <a:xfrm>
                <a:off x="3333" y="499"/>
                <a:ext cx="316" cy="518"/>
                <a:chOff x="3333" y="499"/>
                <a:chExt cx="316" cy="518"/>
              </a:xfrm>
            </p:grpSpPr>
            <p:sp>
              <p:nvSpPr>
                <p:cNvPr id="115873" name="Rectangle 238"/>
                <p:cNvSpPr/>
                <p:nvPr/>
              </p:nvSpPr>
              <p:spPr>
                <a:xfrm>
                  <a:off x="3376" y="499"/>
                  <a:ext cx="230" cy="518"/>
                </a:xfrm>
                <a:prstGeom prst="rect">
                  <a:avLst/>
                </a:prstGeom>
                <a:noFill/>
                <a:ln w="9525">
                  <a:noFill/>
                </a:ln>
              </p:spPr>
              <p:txBody>
                <a:bodyPr/>
                <a:p>
                  <a:pPr algn="just" eaLnBrk="1" hangingPunct="1"/>
                  <a:r>
                    <a:rPr lang="en-US" altLang="zh-CN" sz="1200" b="1" dirty="0">
                      <a:solidFill>
                        <a:srgbClr val="003300"/>
                      </a:solidFill>
                      <a:latin typeface="Times New Roman" panose="02020603050405020304" pitchFamily="18" charset="0"/>
                    </a:rPr>
                    <a:t>R3</a:t>
                  </a:r>
                  <a:endParaRPr lang="en-US" altLang="zh-CN" sz="1200" b="1" dirty="0">
                    <a:solidFill>
                      <a:srgbClr val="003300"/>
                    </a:solidFill>
                    <a:latin typeface="Times New Roman" panose="02020603050405020304" pitchFamily="18" charset="0"/>
                  </a:endParaRPr>
                </a:p>
                <a:p>
                  <a:pPr algn="just"/>
                  <a:endParaRPr lang="en-US" altLang="zh-CN" sz="1200" b="1" dirty="0">
                    <a:solidFill>
                      <a:srgbClr val="003300"/>
                    </a:solidFill>
                    <a:latin typeface="Times New Roman" panose="02020603050405020304" pitchFamily="18" charset="0"/>
                  </a:endParaRPr>
                </a:p>
              </p:txBody>
            </p:sp>
            <p:sp>
              <p:nvSpPr>
                <p:cNvPr id="115874" name="Rectangle 239"/>
                <p:cNvSpPr/>
                <p:nvPr/>
              </p:nvSpPr>
              <p:spPr>
                <a:xfrm>
                  <a:off x="3333" y="499"/>
                  <a:ext cx="316"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35" name="Group 240"/>
              <p:cNvGrpSpPr/>
              <p:nvPr/>
            </p:nvGrpSpPr>
            <p:grpSpPr>
              <a:xfrm>
                <a:off x="3649" y="499"/>
                <a:ext cx="293" cy="518"/>
                <a:chOff x="3649" y="499"/>
                <a:chExt cx="293" cy="518"/>
              </a:xfrm>
            </p:grpSpPr>
            <p:sp>
              <p:nvSpPr>
                <p:cNvPr id="115871" name="Rectangle 241"/>
                <p:cNvSpPr/>
                <p:nvPr/>
              </p:nvSpPr>
              <p:spPr>
                <a:xfrm>
                  <a:off x="3692" y="499"/>
                  <a:ext cx="207" cy="518"/>
                </a:xfrm>
                <a:prstGeom prst="rect">
                  <a:avLst/>
                </a:prstGeom>
                <a:noFill/>
                <a:ln w="9525">
                  <a:noFill/>
                </a:ln>
              </p:spPr>
              <p:txBody>
                <a:bodyPr/>
                <a:p>
                  <a:pPr algn="just" eaLnBrk="1" hangingPunct="1"/>
                  <a:r>
                    <a:rPr lang="en-US" altLang="zh-CN" sz="1200" b="1" dirty="0">
                      <a:solidFill>
                        <a:srgbClr val="003300"/>
                      </a:solidFill>
                      <a:latin typeface="Times New Roman" panose="02020603050405020304" pitchFamily="18" charset="0"/>
                    </a:rPr>
                    <a:t>R1</a:t>
                  </a:r>
                  <a:endParaRPr lang="en-US" altLang="zh-CN" sz="1000" b="1" dirty="0">
                    <a:solidFill>
                      <a:srgbClr val="003300"/>
                    </a:solidFill>
                    <a:latin typeface="Times New Roman" panose="02020603050405020304" pitchFamily="18" charset="0"/>
                  </a:endParaRPr>
                </a:p>
                <a:p>
                  <a:pPr algn="just"/>
                  <a:endParaRPr lang="en-US" altLang="zh-CN" sz="2400" dirty="0">
                    <a:solidFill>
                      <a:srgbClr val="003300"/>
                    </a:solidFill>
                    <a:latin typeface="Times New Roman" panose="02020603050405020304" pitchFamily="18" charset="0"/>
                  </a:endParaRPr>
                </a:p>
              </p:txBody>
            </p:sp>
            <p:sp>
              <p:nvSpPr>
                <p:cNvPr id="115872" name="Rectangle 242"/>
                <p:cNvSpPr/>
                <p:nvPr/>
              </p:nvSpPr>
              <p:spPr>
                <a:xfrm>
                  <a:off x="3649" y="499"/>
                  <a:ext cx="293"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36" name="Group 243"/>
              <p:cNvGrpSpPr/>
              <p:nvPr/>
            </p:nvGrpSpPr>
            <p:grpSpPr>
              <a:xfrm>
                <a:off x="3942" y="499"/>
                <a:ext cx="293" cy="518"/>
                <a:chOff x="3942" y="499"/>
                <a:chExt cx="293" cy="518"/>
              </a:xfrm>
            </p:grpSpPr>
            <p:sp>
              <p:nvSpPr>
                <p:cNvPr id="115869" name="Rectangle 244"/>
                <p:cNvSpPr/>
                <p:nvPr/>
              </p:nvSpPr>
              <p:spPr>
                <a:xfrm>
                  <a:off x="3985" y="499"/>
                  <a:ext cx="207" cy="518"/>
                </a:xfrm>
                <a:prstGeom prst="rect">
                  <a:avLst/>
                </a:prstGeom>
                <a:noFill/>
                <a:ln w="9525">
                  <a:noFill/>
                </a:ln>
              </p:spPr>
              <p:txBody>
                <a:bodyPr/>
                <a:p>
                  <a:pPr algn="just" eaLnBrk="1" hangingPunct="1"/>
                  <a:r>
                    <a:rPr lang="en-US" altLang="zh-CN" sz="1200" b="1" dirty="0">
                      <a:solidFill>
                        <a:srgbClr val="003300"/>
                      </a:solidFill>
                      <a:latin typeface="Times New Roman" panose="02020603050405020304" pitchFamily="18" charset="0"/>
                    </a:rPr>
                    <a:t>R2</a:t>
                  </a:r>
                  <a:endParaRPr lang="en-US" altLang="zh-CN" sz="1200" b="1" dirty="0">
                    <a:solidFill>
                      <a:srgbClr val="003300"/>
                    </a:solidFill>
                    <a:latin typeface="Times New Roman" panose="02020603050405020304" pitchFamily="18" charset="0"/>
                  </a:endParaRPr>
                </a:p>
                <a:p>
                  <a:pPr algn="just"/>
                  <a:endParaRPr lang="en-US" altLang="zh-CN" sz="1200" b="1" dirty="0">
                    <a:solidFill>
                      <a:srgbClr val="003300"/>
                    </a:solidFill>
                    <a:latin typeface="Times New Roman" panose="02020603050405020304" pitchFamily="18" charset="0"/>
                  </a:endParaRPr>
                </a:p>
              </p:txBody>
            </p:sp>
            <p:sp>
              <p:nvSpPr>
                <p:cNvPr id="115870" name="Rectangle 245"/>
                <p:cNvSpPr/>
                <p:nvPr/>
              </p:nvSpPr>
              <p:spPr>
                <a:xfrm>
                  <a:off x="3942" y="499"/>
                  <a:ext cx="293"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37" name="Group 246"/>
              <p:cNvGrpSpPr/>
              <p:nvPr/>
            </p:nvGrpSpPr>
            <p:grpSpPr>
              <a:xfrm>
                <a:off x="4235" y="499"/>
                <a:ext cx="293" cy="518"/>
                <a:chOff x="4235" y="499"/>
                <a:chExt cx="293" cy="518"/>
              </a:xfrm>
            </p:grpSpPr>
            <p:sp>
              <p:nvSpPr>
                <p:cNvPr id="115867" name="Rectangle 247"/>
                <p:cNvSpPr/>
                <p:nvPr/>
              </p:nvSpPr>
              <p:spPr>
                <a:xfrm>
                  <a:off x="4278" y="499"/>
                  <a:ext cx="207" cy="518"/>
                </a:xfrm>
                <a:prstGeom prst="rect">
                  <a:avLst/>
                </a:prstGeom>
                <a:noFill/>
                <a:ln w="9525">
                  <a:noFill/>
                </a:ln>
              </p:spPr>
              <p:txBody>
                <a:bodyPr/>
                <a:p>
                  <a:pPr algn="just" eaLnBrk="1" hangingPunct="1"/>
                  <a:r>
                    <a:rPr lang="en-US" altLang="zh-CN" sz="1200" b="1" dirty="0">
                      <a:solidFill>
                        <a:srgbClr val="003300"/>
                      </a:solidFill>
                      <a:latin typeface="Times New Roman" panose="02020603050405020304" pitchFamily="18" charset="0"/>
                    </a:rPr>
                    <a:t>R3</a:t>
                  </a:r>
                  <a:endParaRPr lang="en-US" altLang="zh-CN" sz="1000" b="1" dirty="0">
                    <a:solidFill>
                      <a:srgbClr val="003300"/>
                    </a:solidFill>
                    <a:latin typeface="Times New Roman" panose="02020603050405020304" pitchFamily="18" charset="0"/>
                  </a:endParaRPr>
                </a:p>
                <a:p>
                  <a:pPr algn="just"/>
                  <a:endParaRPr lang="en-US" altLang="zh-CN" sz="2400" dirty="0">
                    <a:solidFill>
                      <a:srgbClr val="003300"/>
                    </a:solidFill>
                    <a:latin typeface="Times New Roman" panose="02020603050405020304" pitchFamily="18" charset="0"/>
                  </a:endParaRPr>
                </a:p>
              </p:txBody>
            </p:sp>
            <p:sp>
              <p:nvSpPr>
                <p:cNvPr id="115868" name="Rectangle 248"/>
                <p:cNvSpPr/>
                <p:nvPr/>
              </p:nvSpPr>
              <p:spPr>
                <a:xfrm>
                  <a:off x="4235" y="499"/>
                  <a:ext cx="293"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38" name="Group 249"/>
              <p:cNvGrpSpPr/>
              <p:nvPr/>
            </p:nvGrpSpPr>
            <p:grpSpPr>
              <a:xfrm>
                <a:off x="0" y="1017"/>
                <a:ext cx="411" cy="403"/>
                <a:chOff x="0" y="1017"/>
                <a:chExt cx="411" cy="403"/>
              </a:xfrm>
            </p:grpSpPr>
            <p:sp>
              <p:nvSpPr>
                <p:cNvPr id="115865" name="Rectangle 250"/>
                <p:cNvSpPr/>
                <p:nvPr/>
              </p:nvSpPr>
              <p:spPr>
                <a:xfrm>
                  <a:off x="43" y="1017"/>
                  <a:ext cx="325" cy="403"/>
                </a:xfrm>
                <a:prstGeom prst="rect">
                  <a:avLst/>
                </a:prstGeom>
                <a:noFill/>
                <a:ln w="9525">
                  <a:noFill/>
                </a:ln>
              </p:spPr>
              <p:txBody>
                <a:bodyPr/>
                <a:p>
                  <a:pPr algn="just" eaLnBrk="1" hangingPunct="1"/>
                  <a:r>
                    <a:rPr lang="en-US" altLang="zh-CN" sz="1600" b="1" dirty="0">
                      <a:solidFill>
                        <a:srgbClr val="003300"/>
                      </a:solidFill>
                      <a:latin typeface="Times New Roman" panose="02020603050405020304" pitchFamily="18" charset="0"/>
                    </a:rPr>
                    <a:t>P1</a:t>
                  </a:r>
                  <a:endParaRPr lang="en-US" altLang="zh-CN" sz="1600" b="1" dirty="0">
                    <a:solidFill>
                      <a:srgbClr val="003300"/>
                    </a:solidFill>
                    <a:latin typeface="Times New Roman" panose="02020603050405020304" pitchFamily="18" charset="0"/>
                  </a:endParaRPr>
                </a:p>
                <a:p>
                  <a:pPr algn="just"/>
                  <a:endParaRPr lang="en-US" altLang="zh-CN" sz="1600" b="1" dirty="0">
                    <a:solidFill>
                      <a:srgbClr val="003300"/>
                    </a:solidFill>
                    <a:latin typeface="Times New Roman" panose="02020603050405020304" pitchFamily="18" charset="0"/>
                  </a:endParaRPr>
                </a:p>
              </p:txBody>
            </p:sp>
            <p:sp>
              <p:nvSpPr>
                <p:cNvPr id="115866" name="Rectangle 251"/>
                <p:cNvSpPr/>
                <p:nvPr/>
              </p:nvSpPr>
              <p:spPr>
                <a:xfrm>
                  <a:off x="0" y="1017"/>
                  <a:ext cx="411"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39" name="Group 252"/>
              <p:cNvGrpSpPr/>
              <p:nvPr/>
            </p:nvGrpSpPr>
            <p:grpSpPr>
              <a:xfrm>
                <a:off x="411" y="1017"/>
                <a:ext cx="368" cy="403"/>
                <a:chOff x="411" y="1017"/>
                <a:chExt cx="368" cy="403"/>
              </a:xfrm>
            </p:grpSpPr>
            <p:sp>
              <p:nvSpPr>
                <p:cNvPr id="115863" name="Rectangle 253"/>
                <p:cNvSpPr/>
                <p:nvPr/>
              </p:nvSpPr>
              <p:spPr>
                <a:xfrm>
                  <a:off x="454" y="1017"/>
                  <a:ext cx="282"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3</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64" name="Rectangle 254"/>
                <p:cNvSpPr/>
                <p:nvPr/>
              </p:nvSpPr>
              <p:spPr>
                <a:xfrm>
                  <a:off x="411" y="1017"/>
                  <a:ext cx="3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40" name="Group 255"/>
              <p:cNvGrpSpPr/>
              <p:nvPr/>
            </p:nvGrpSpPr>
            <p:grpSpPr>
              <a:xfrm>
                <a:off x="779" y="1017"/>
                <a:ext cx="368" cy="403"/>
                <a:chOff x="779" y="1017"/>
                <a:chExt cx="368" cy="403"/>
              </a:xfrm>
            </p:grpSpPr>
            <p:sp>
              <p:nvSpPr>
                <p:cNvPr id="115861" name="Rectangle 256"/>
                <p:cNvSpPr/>
                <p:nvPr/>
              </p:nvSpPr>
              <p:spPr>
                <a:xfrm>
                  <a:off x="822" y="1017"/>
                  <a:ext cx="282"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2</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62" name="Rectangle 257"/>
                <p:cNvSpPr/>
                <p:nvPr/>
              </p:nvSpPr>
              <p:spPr>
                <a:xfrm>
                  <a:off x="779" y="1017"/>
                  <a:ext cx="3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41" name="Group 258"/>
              <p:cNvGrpSpPr/>
              <p:nvPr/>
            </p:nvGrpSpPr>
            <p:grpSpPr>
              <a:xfrm>
                <a:off x="1147" y="1017"/>
                <a:ext cx="351" cy="403"/>
                <a:chOff x="1147" y="1017"/>
                <a:chExt cx="351" cy="403"/>
              </a:xfrm>
            </p:grpSpPr>
            <p:sp>
              <p:nvSpPr>
                <p:cNvPr id="115859" name="Rectangle 259"/>
                <p:cNvSpPr/>
                <p:nvPr/>
              </p:nvSpPr>
              <p:spPr>
                <a:xfrm>
                  <a:off x="1190" y="1017"/>
                  <a:ext cx="265"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2</a:t>
                  </a:r>
                  <a:endParaRPr lang="en-US" altLang="zh-CN" b="1" dirty="0">
                    <a:solidFill>
                      <a:srgbClr val="003300"/>
                    </a:solidFill>
                    <a:latin typeface="Times New Roman" panose="02020603050405020304" pitchFamily="18" charset="0"/>
                  </a:endParaRPr>
                </a:p>
                <a:p>
                  <a:pPr algn="just"/>
                  <a:endParaRPr lang="en-US" altLang="zh-CN" sz="2400" dirty="0">
                    <a:solidFill>
                      <a:srgbClr val="003300"/>
                    </a:solidFill>
                    <a:latin typeface="Times New Roman" panose="02020603050405020304" pitchFamily="18" charset="0"/>
                  </a:endParaRPr>
                </a:p>
              </p:txBody>
            </p:sp>
            <p:sp>
              <p:nvSpPr>
                <p:cNvPr id="115860" name="Rectangle 260"/>
                <p:cNvSpPr/>
                <p:nvPr/>
              </p:nvSpPr>
              <p:spPr>
                <a:xfrm>
                  <a:off x="1147" y="1017"/>
                  <a:ext cx="351"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42" name="Group 261"/>
              <p:cNvGrpSpPr/>
              <p:nvPr/>
            </p:nvGrpSpPr>
            <p:grpSpPr>
              <a:xfrm>
                <a:off x="1498" y="1017"/>
                <a:ext cx="389" cy="403"/>
                <a:chOff x="1498" y="1017"/>
                <a:chExt cx="389" cy="403"/>
              </a:xfrm>
            </p:grpSpPr>
            <p:sp>
              <p:nvSpPr>
                <p:cNvPr id="115857" name="Rectangle 262"/>
                <p:cNvSpPr/>
                <p:nvPr/>
              </p:nvSpPr>
              <p:spPr>
                <a:xfrm>
                  <a:off x="1541" y="1017"/>
                  <a:ext cx="303"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1</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58" name="Rectangle 263"/>
                <p:cNvSpPr/>
                <p:nvPr/>
              </p:nvSpPr>
              <p:spPr>
                <a:xfrm>
                  <a:off x="1498" y="1017"/>
                  <a:ext cx="38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43" name="Group 264"/>
              <p:cNvGrpSpPr/>
              <p:nvPr/>
            </p:nvGrpSpPr>
            <p:grpSpPr>
              <a:xfrm>
                <a:off x="1887" y="1017"/>
                <a:ext cx="438" cy="403"/>
                <a:chOff x="1887" y="1017"/>
                <a:chExt cx="438" cy="403"/>
              </a:xfrm>
            </p:grpSpPr>
            <p:sp>
              <p:nvSpPr>
                <p:cNvPr id="115855" name="Rectangle 265"/>
                <p:cNvSpPr/>
                <p:nvPr/>
              </p:nvSpPr>
              <p:spPr>
                <a:xfrm>
                  <a:off x="1930" y="1017"/>
                  <a:ext cx="352"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0</a:t>
                  </a:r>
                  <a:endParaRPr lang="en-US" altLang="zh-CN" b="1" dirty="0">
                    <a:solidFill>
                      <a:srgbClr val="003300"/>
                    </a:solidFill>
                    <a:latin typeface="Times New Roman" panose="02020603050405020304" pitchFamily="18" charset="0"/>
                  </a:endParaRPr>
                </a:p>
                <a:p>
                  <a:pPr algn="just"/>
                  <a:endParaRPr lang="en-US" altLang="zh-CN" sz="2400" dirty="0">
                    <a:solidFill>
                      <a:srgbClr val="003300"/>
                    </a:solidFill>
                    <a:latin typeface="Times New Roman" panose="02020603050405020304" pitchFamily="18" charset="0"/>
                  </a:endParaRPr>
                </a:p>
              </p:txBody>
            </p:sp>
            <p:sp>
              <p:nvSpPr>
                <p:cNvPr id="115856" name="Rectangle 266"/>
                <p:cNvSpPr/>
                <p:nvPr/>
              </p:nvSpPr>
              <p:spPr>
                <a:xfrm>
                  <a:off x="1887" y="1017"/>
                  <a:ext cx="43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44" name="Group 267"/>
              <p:cNvGrpSpPr/>
              <p:nvPr/>
            </p:nvGrpSpPr>
            <p:grpSpPr>
              <a:xfrm>
                <a:off x="2325" y="1017"/>
                <a:ext cx="400" cy="403"/>
                <a:chOff x="2325" y="1017"/>
                <a:chExt cx="400" cy="403"/>
              </a:xfrm>
            </p:grpSpPr>
            <p:sp>
              <p:nvSpPr>
                <p:cNvPr id="115853" name="Rectangle 268"/>
                <p:cNvSpPr/>
                <p:nvPr/>
              </p:nvSpPr>
              <p:spPr>
                <a:xfrm>
                  <a:off x="2368" y="1017"/>
                  <a:ext cx="314"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0</a:t>
                  </a:r>
                  <a:endParaRPr lang="en-US" altLang="zh-CN" b="1" dirty="0">
                    <a:solidFill>
                      <a:srgbClr val="003300"/>
                    </a:solidFill>
                    <a:latin typeface="Times New Roman" panose="02020603050405020304" pitchFamily="18" charset="0"/>
                  </a:endParaRPr>
                </a:p>
                <a:p>
                  <a:pPr algn="just"/>
                  <a:endParaRPr lang="en-US" altLang="zh-CN" sz="2400" dirty="0">
                    <a:solidFill>
                      <a:srgbClr val="003300"/>
                    </a:solidFill>
                    <a:latin typeface="Times New Roman" panose="02020603050405020304" pitchFamily="18" charset="0"/>
                  </a:endParaRPr>
                </a:p>
              </p:txBody>
            </p:sp>
            <p:sp>
              <p:nvSpPr>
                <p:cNvPr id="115854" name="Rectangle 269"/>
                <p:cNvSpPr/>
                <p:nvPr/>
              </p:nvSpPr>
              <p:spPr>
                <a:xfrm>
                  <a:off x="2325" y="1017"/>
                  <a:ext cx="400"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45" name="Group 270"/>
              <p:cNvGrpSpPr/>
              <p:nvPr/>
            </p:nvGrpSpPr>
            <p:grpSpPr>
              <a:xfrm>
                <a:off x="2725" y="1017"/>
                <a:ext cx="316" cy="403"/>
                <a:chOff x="2725" y="1017"/>
                <a:chExt cx="316" cy="403"/>
              </a:xfrm>
            </p:grpSpPr>
            <p:sp>
              <p:nvSpPr>
                <p:cNvPr id="115851" name="Rectangle 271"/>
                <p:cNvSpPr/>
                <p:nvPr/>
              </p:nvSpPr>
              <p:spPr>
                <a:xfrm>
                  <a:off x="2768" y="1017"/>
                  <a:ext cx="230"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2</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52" name="Rectangle 272"/>
                <p:cNvSpPr/>
                <p:nvPr/>
              </p:nvSpPr>
              <p:spPr>
                <a:xfrm>
                  <a:off x="2725" y="1017"/>
                  <a:ext cx="31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46" name="Group 273"/>
              <p:cNvGrpSpPr/>
              <p:nvPr/>
            </p:nvGrpSpPr>
            <p:grpSpPr>
              <a:xfrm>
                <a:off x="3041" y="1017"/>
                <a:ext cx="292" cy="403"/>
                <a:chOff x="3041" y="1017"/>
                <a:chExt cx="292" cy="403"/>
              </a:xfrm>
            </p:grpSpPr>
            <p:sp>
              <p:nvSpPr>
                <p:cNvPr id="115849" name="Rectangle 274"/>
                <p:cNvSpPr/>
                <p:nvPr/>
              </p:nvSpPr>
              <p:spPr>
                <a:xfrm>
                  <a:off x="3084" y="1017"/>
                  <a:ext cx="206"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2</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50" name="Rectangle 275"/>
                <p:cNvSpPr/>
                <p:nvPr/>
              </p:nvSpPr>
              <p:spPr>
                <a:xfrm>
                  <a:off x="3041" y="1017"/>
                  <a:ext cx="29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47" name="Group 276"/>
              <p:cNvGrpSpPr/>
              <p:nvPr/>
            </p:nvGrpSpPr>
            <p:grpSpPr>
              <a:xfrm>
                <a:off x="3333" y="1017"/>
                <a:ext cx="316" cy="403"/>
                <a:chOff x="3333" y="1017"/>
                <a:chExt cx="316" cy="403"/>
              </a:xfrm>
            </p:grpSpPr>
            <p:sp>
              <p:nvSpPr>
                <p:cNvPr id="115847" name="Rectangle 277"/>
                <p:cNvSpPr/>
                <p:nvPr/>
              </p:nvSpPr>
              <p:spPr>
                <a:xfrm>
                  <a:off x="3376" y="1017"/>
                  <a:ext cx="230"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2</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48" name="Rectangle 278"/>
                <p:cNvSpPr/>
                <p:nvPr/>
              </p:nvSpPr>
              <p:spPr>
                <a:xfrm>
                  <a:off x="3333" y="1017"/>
                  <a:ext cx="31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48" name="Group 279"/>
              <p:cNvGrpSpPr/>
              <p:nvPr/>
            </p:nvGrpSpPr>
            <p:grpSpPr>
              <a:xfrm>
                <a:off x="3649" y="1017"/>
                <a:ext cx="293" cy="1612"/>
                <a:chOff x="3649" y="1017"/>
                <a:chExt cx="293" cy="1612"/>
              </a:xfrm>
            </p:grpSpPr>
            <p:sp>
              <p:nvSpPr>
                <p:cNvPr id="115845" name="Rectangle 280"/>
                <p:cNvSpPr/>
                <p:nvPr/>
              </p:nvSpPr>
              <p:spPr>
                <a:xfrm>
                  <a:off x="3692" y="1017"/>
                  <a:ext cx="207" cy="1612"/>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0</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46" name="Rectangle 281"/>
                <p:cNvSpPr/>
                <p:nvPr/>
              </p:nvSpPr>
              <p:spPr>
                <a:xfrm>
                  <a:off x="3649" y="1017"/>
                  <a:ext cx="293" cy="1612"/>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49" name="Group 282"/>
              <p:cNvGrpSpPr/>
              <p:nvPr/>
            </p:nvGrpSpPr>
            <p:grpSpPr>
              <a:xfrm>
                <a:off x="3942" y="1017"/>
                <a:ext cx="293" cy="1612"/>
                <a:chOff x="3942" y="1017"/>
                <a:chExt cx="293" cy="1612"/>
              </a:xfrm>
            </p:grpSpPr>
            <p:sp>
              <p:nvSpPr>
                <p:cNvPr id="115843" name="Rectangle 283"/>
                <p:cNvSpPr/>
                <p:nvPr/>
              </p:nvSpPr>
              <p:spPr>
                <a:xfrm>
                  <a:off x="3985" y="1017"/>
                  <a:ext cx="207" cy="1612"/>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1</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44" name="Rectangle 284"/>
                <p:cNvSpPr/>
                <p:nvPr/>
              </p:nvSpPr>
              <p:spPr>
                <a:xfrm>
                  <a:off x="3942" y="1017"/>
                  <a:ext cx="293" cy="1612"/>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50" name="Group 285"/>
              <p:cNvGrpSpPr/>
              <p:nvPr/>
            </p:nvGrpSpPr>
            <p:grpSpPr>
              <a:xfrm>
                <a:off x="4235" y="1017"/>
                <a:ext cx="293" cy="1612"/>
                <a:chOff x="4235" y="1017"/>
                <a:chExt cx="293" cy="1612"/>
              </a:xfrm>
            </p:grpSpPr>
            <p:sp>
              <p:nvSpPr>
                <p:cNvPr id="115841" name="Rectangle 286"/>
                <p:cNvSpPr/>
                <p:nvPr/>
              </p:nvSpPr>
              <p:spPr>
                <a:xfrm>
                  <a:off x="4278" y="1017"/>
                  <a:ext cx="207" cy="1612"/>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1</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42" name="Rectangle 287"/>
                <p:cNvSpPr/>
                <p:nvPr/>
              </p:nvSpPr>
              <p:spPr>
                <a:xfrm>
                  <a:off x="4235" y="1017"/>
                  <a:ext cx="293" cy="1612"/>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51" name="Group 288"/>
              <p:cNvGrpSpPr/>
              <p:nvPr/>
            </p:nvGrpSpPr>
            <p:grpSpPr>
              <a:xfrm>
                <a:off x="0" y="1420"/>
                <a:ext cx="411" cy="403"/>
                <a:chOff x="0" y="1420"/>
                <a:chExt cx="411" cy="403"/>
              </a:xfrm>
            </p:grpSpPr>
            <p:sp>
              <p:nvSpPr>
                <p:cNvPr id="115839" name="Rectangle 289"/>
                <p:cNvSpPr/>
                <p:nvPr/>
              </p:nvSpPr>
              <p:spPr>
                <a:xfrm>
                  <a:off x="43" y="1420"/>
                  <a:ext cx="325"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P2</a:t>
                  </a:r>
                  <a:endParaRPr lang="en-US" altLang="zh-CN" b="1" dirty="0">
                    <a:solidFill>
                      <a:srgbClr val="003300"/>
                    </a:solidFill>
                    <a:latin typeface="Times New Roman" panose="02020603050405020304" pitchFamily="18" charset="0"/>
                  </a:endParaRPr>
                </a:p>
                <a:p>
                  <a:pPr algn="just"/>
                  <a:endParaRPr lang="en-US" altLang="zh-CN" dirty="0">
                    <a:solidFill>
                      <a:srgbClr val="003300"/>
                    </a:solidFill>
                    <a:latin typeface="Times New Roman" panose="02020603050405020304" pitchFamily="18" charset="0"/>
                  </a:endParaRPr>
                </a:p>
              </p:txBody>
            </p:sp>
            <p:sp>
              <p:nvSpPr>
                <p:cNvPr id="115840" name="Rectangle 290"/>
                <p:cNvSpPr/>
                <p:nvPr/>
              </p:nvSpPr>
              <p:spPr>
                <a:xfrm>
                  <a:off x="0" y="1420"/>
                  <a:ext cx="411"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52" name="Group 291"/>
              <p:cNvGrpSpPr/>
              <p:nvPr/>
            </p:nvGrpSpPr>
            <p:grpSpPr>
              <a:xfrm>
                <a:off x="411" y="1420"/>
                <a:ext cx="368" cy="403"/>
                <a:chOff x="411" y="1420"/>
                <a:chExt cx="368" cy="403"/>
              </a:xfrm>
            </p:grpSpPr>
            <p:sp>
              <p:nvSpPr>
                <p:cNvPr id="115837" name="Rectangle 292"/>
                <p:cNvSpPr/>
                <p:nvPr/>
              </p:nvSpPr>
              <p:spPr>
                <a:xfrm>
                  <a:off x="454" y="1420"/>
                  <a:ext cx="282"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6</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38" name="Rectangle 293"/>
                <p:cNvSpPr/>
                <p:nvPr/>
              </p:nvSpPr>
              <p:spPr>
                <a:xfrm>
                  <a:off x="411" y="1420"/>
                  <a:ext cx="3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53" name="Group 294"/>
              <p:cNvGrpSpPr/>
              <p:nvPr/>
            </p:nvGrpSpPr>
            <p:grpSpPr>
              <a:xfrm>
                <a:off x="779" y="1420"/>
                <a:ext cx="368" cy="403"/>
                <a:chOff x="779" y="1420"/>
                <a:chExt cx="368" cy="403"/>
              </a:xfrm>
            </p:grpSpPr>
            <p:sp>
              <p:nvSpPr>
                <p:cNvPr id="115835" name="Rectangle 295"/>
                <p:cNvSpPr/>
                <p:nvPr/>
              </p:nvSpPr>
              <p:spPr>
                <a:xfrm>
                  <a:off x="822" y="1420"/>
                  <a:ext cx="282"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1</a:t>
                  </a:r>
                  <a:endParaRPr lang="en-US" altLang="zh-CN" b="1" dirty="0">
                    <a:solidFill>
                      <a:srgbClr val="003300"/>
                    </a:solidFill>
                    <a:latin typeface="Times New Roman" panose="02020603050405020304" pitchFamily="18" charset="0"/>
                  </a:endParaRPr>
                </a:p>
                <a:p>
                  <a:pPr algn="just"/>
                  <a:endParaRPr lang="en-US" altLang="zh-CN" sz="2400" dirty="0">
                    <a:solidFill>
                      <a:srgbClr val="003300"/>
                    </a:solidFill>
                    <a:latin typeface="Times New Roman" panose="02020603050405020304" pitchFamily="18" charset="0"/>
                  </a:endParaRPr>
                </a:p>
              </p:txBody>
            </p:sp>
            <p:sp>
              <p:nvSpPr>
                <p:cNvPr id="115836" name="Rectangle 296"/>
                <p:cNvSpPr/>
                <p:nvPr/>
              </p:nvSpPr>
              <p:spPr>
                <a:xfrm>
                  <a:off x="779" y="1420"/>
                  <a:ext cx="3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54" name="Group 297"/>
              <p:cNvGrpSpPr/>
              <p:nvPr/>
            </p:nvGrpSpPr>
            <p:grpSpPr>
              <a:xfrm>
                <a:off x="1147" y="1420"/>
                <a:ext cx="351" cy="403"/>
                <a:chOff x="1147" y="1420"/>
                <a:chExt cx="351" cy="403"/>
              </a:xfrm>
            </p:grpSpPr>
            <p:sp>
              <p:nvSpPr>
                <p:cNvPr id="115833" name="Rectangle 298"/>
                <p:cNvSpPr/>
                <p:nvPr/>
              </p:nvSpPr>
              <p:spPr>
                <a:xfrm>
                  <a:off x="1190" y="1420"/>
                  <a:ext cx="265"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3</a:t>
                  </a:r>
                  <a:endParaRPr lang="en-US" altLang="zh-CN" b="1" dirty="0">
                    <a:solidFill>
                      <a:srgbClr val="003300"/>
                    </a:solidFill>
                    <a:latin typeface="Times New Roman" panose="02020603050405020304" pitchFamily="18" charset="0"/>
                  </a:endParaRPr>
                </a:p>
                <a:p>
                  <a:pPr algn="just"/>
                  <a:endParaRPr lang="en-US" altLang="zh-CN" sz="2400" dirty="0">
                    <a:solidFill>
                      <a:srgbClr val="003300"/>
                    </a:solidFill>
                    <a:latin typeface="Times New Roman" panose="02020603050405020304" pitchFamily="18" charset="0"/>
                  </a:endParaRPr>
                </a:p>
              </p:txBody>
            </p:sp>
            <p:sp>
              <p:nvSpPr>
                <p:cNvPr id="115834" name="Rectangle 299"/>
                <p:cNvSpPr/>
                <p:nvPr/>
              </p:nvSpPr>
              <p:spPr>
                <a:xfrm>
                  <a:off x="1147" y="1420"/>
                  <a:ext cx="351"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55" name="Group 300"/>
              <p:cNvGrpSpPr/>
              <p:nvPr/>
            </p:nvGrpSpPr>
            <p:grpSpPr>
              <a:xfrm>
                <a:off x="1498" y="1420"/>
                <a:ext cx="389" cy="403"/>
                <a:chOff x="1498" y="1420"/>
                <a:chExt cx="389" cy="403"/>
              </a:xfrm>
            </p:grpSpPr>
            <p:sp>
              <p:nvSpPr>
                <p:cNvPr id="115831" name="Rectangle 301"/>
                <p:cNvSpPr/>
                <p:nvPr/>
              </p:nvSpPr>
              <p:spPr>
                <a:xfrm>
                  <a:off x="1541" y="1420"/>
                  <a:ext cx="303"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6</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32" name="Rectangle 302"/>
                <p:cNvSpPr/>
                <p:nvPr/>
              </p:nvSpPr>
              <p:spPr>
                <a:xfrm>
                  <a:off x="1498" y="1420"/>
                  <a:ext cx="38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56" name="Group 303"/>
              <p:cNvGrpSpPr/>
              <p:nvPr/>
            </p:nvGrpSpPr>
            <p:grpSpPr>
              <a:xfrm>
                <a:off x="1887" y="1420"/>
                <a:ext cx="438" cy="403"/>
                <a:chOff x="1887" y="1420"/>
                <a:chExt cx="438" cy="403"/>
              </a:xfrm>
            </p:grpSpPr>
            <p:sp>
              <p:nvSpPr>
                <p:cNvPr id="115829" name="Rectangle 304"/>
                <p:cNvSpPr/>
                <p:nvPr/>
              </p:nvSpPr>
              <p:spPr>
                <a:xfrm>
                  <a:off x="1930" y="1420"/>
                  <a:ext cx="352"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1</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30" name="Rectangle 305"/>
                <p:cNvSpPr/>
                <p:nvPr/>
              </p:nvSpPr>
              <p:spPr>
                <a:xfrm>
                  <a:off x="1887" y="1420"/>
                  <a:ext cx="43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57" name="Group 306"/>
              <p:cNvGrpSpPr/>
              <p:nvPr/>
            </p:nvGrpSpPr>
            <p:grpSpPr>
              <a:xfrm>
                <a:off x="2325" y="1420"/>
                <a:ext cx="400" cy="403"/>
                <a:chOff x="2325" y="1420"/>
                <a:chExt cx="400" cy="403"/>
              </a:xfrm>
            </p:grpSpPr>
            <p:sp>
              <p:nvSpPr>
                <p:cNvPr id="115827" name="Rectangle 307"/>
                <p:cNvSpPr/>
                <p:nvPr/>
              </p:nvSpPr>
              <p:spPr>
                <a:xfrm>
                  <a:off x="2368" y="1420"/>
                  <a:ext cx="314"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2</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28" name="Rectangle 308"/>
                <p:cNvSpPr/>
                <p:nvPr/>
              </p:nvSpPr>
              <p:spPr>
                <a:xfrm>
                  <a:off x="2325" y="1420"/>
                  <a:ext cx="400"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58" name="Group 309"/>
              <p:cNvGrpSpPr/>
              <p:nvPr/>
            </p:nvGrpSpPr>
            <p:grpSpPr>
              <a:xfrm>
                <a:off x="2725" y="1420"/>
                <a:ext cx="316" cy="403"/>
                <a:chOff x="2725" y="1420"/>
                <a:chExt cx="316" cy="403"/>
              </a:xfrm>
            </p:grpSpPr>
            <p:sp>
              <p:nvSpPr>
                <p:cNvPr id="115825" name="Rectangle 310"/>
                <p:cNvSpPr/>
                <p:nvPr/>
              </p:nvSpPr>
              <p:spPr>
                <a:xfrm>
                  <a:off x="2768" y="1420"/>
                  <a:ext cx="230"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0</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26" name="Rectangle 311"/>
                <p:cNvSpPr/>
                <p:nvPr/>
              </p:nvSpPr>
              <p:spPr>
                <a:xfrm>
                  <a:off x="2725" y="1420"/>
                  <a:ext cx="31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59" name="Group 312"/>
              <p:cNvGrpSpPr/>
              <p:nvPr/>
            </p:nvGrpSpPr>
            <p:grpSpPr>
              <a:xfrm>
                <a:off x="3041" y="1420"/>
                <a:ext cx="292" cy="403"/>
                <a:chOff x="3041" y="1420"/>
                <a:chExt cx="292" cy="403"/>
              </a:xfrm>
            </p:grpSpPr>
            <p:sp>
              <p:nvSpPr>
                <p:cNvPr id="115823" name="Rectangle 313"/>
                <p:cNvSpPr/>
                <p:nvPr/>
              </p:nvSpPr>
              <p:spPr>
                <a:xfrm>
                  <a:off x="3084" y="1420"/>
                  <a:ext cx="206"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0</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24" name="Rectangle 314"/>
                <p:cNvSpPr/>
                <p:nvPr/>
              </p:nvSpPr>
              <p:spPr>
                <a:xfrm>
                  <a:off x="3041" y="1420"/>
                  <a:ext cx="29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60" name="Group 315"/>
              <p:cNvGrpSpPr/>
              <p:nvPr/>
            </p:nvGrpSpPr>
            <p:grpSpPr>
              <a:xfrm>
                <a:off x="3333" y="1420"/>
                <a:ext cx="316" cy="403"/>
                <a:chOff x="3333" y="1420"/>
                <a:chExt cx="316" cy="403"/>
              </a:xfrm>
            </p:grpSpPr>
            <p:sp>
              <p:nvSpPr>
                <p:cNvPr id="115821" name="Rectangle 316"/>
                <p:cNvSpPr/>
                <p:nvPr/>
              </p:nvSpPr>
              <p:spPr>
                <a:xfrm>
                  <a:off x="3376" y="1420"/>
                  <a:ext cx="230"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1</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22" name="Rectangle 317"/>
                <p:cNvSpPr/>
                <p:nvPr/>
              </p:nvSpPr>
              <p:spPr>
                <a:xfrm>
                  <a:off x="3333" y="1420"/>
                  <a:ext cx="31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61" name="Group 318"/>
              <p:cNvGrpSpPr/>
              <p:nvPr/>
            </p:nvGrpSpPr>
            <p:grpSpPr>
              <a:xfrm>
                <a:off x="0" y="1823"/>
                <a:ext cx="411" cy="403"/>
                <a:chOff x="0" y="1823"/>
                <a:chExt cx="411" cy="403"/>
              </a:xfrm>
            </p:grpSpPr>
            <p:sp>
              <p:nvSpPr>
                <p:cNvPr id="115819" name="Rectangle 319"/>
                <p:cNvSpPr/>
                <p:nvPr/>
              </p:nvSpPr>
              <p:spPr>
                <a:xfrm>
                  <a:off x="43" y="1823"/>
                  <a:ext cx="325"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P3</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20" name="Rectangle 320"/>
                <p:cNvSpPr/>
                <p:nvPr/>
              </p:nvSpPr>
              <p:spPr>
                <a:xfrm>
                  <a:off x="0" y="1823"/>
                  <a:ext cx="411"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62" name="Group 321"/>
              <p:cNvGrpSpPr/>
              <p:nvPr/>
            </p:nvGrpSpPr>
            <p:grpSpPr>
              <a:xfrm>
                <a:off x="411" y="1823"/>
                <a:ext cx="368" cy="403"/>
                <a:chOff x="411" y="1823"/>
                <a:chExt cx="368" cy="403"/>
              </a:xfrm>
            </p:grpSpPr>
            <p:sp>
              <p:nvSpPr>
                <p:cNvPr id="115817" name="Rectangle 322"/>
                <p:cNvSpPr/>
                <p:nvPr/>
              </p:nvSpPr>
              <p:spPr>
                <a:xfrm>
                  <a:off x="454" y="1823"/>
                  <a:ext cx="282"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3</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18" name="Rectangle 323"/>
                <p:cNvSpPr/>
                <p:nvPr/>
              </p:nvSpPr>
              <p:spPr>
                <a:xfrm>
                  <a:off x="411" y="1823"/>
                  <a:ext cx="3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63" name="Group 324"/>
              <p:cNvGrpSpPr/>
              <p:nvPr/>
            </p:nvGrpSpPr>
            <p:grpSpPr>
              <a:xfrm>
                <a:off x="779" y="1823"/>
                <a:ext cx="368" cy="403"/>
                <a:chOff x="779" y="1823"/>
                <a:chExt cx="368" cy="403"/>
              </a:xfrm>
            </p:grpSpPr>
            <p:sp>
              <p:nvSpPr>
                <p:cNvPr id="115815" name="Rectangle 325"/>
                <p:cNvSpPr/>
                <p:nvPr/>
              </p:nvSpPr>
              <p:spPr>
                <a:xfrm>
                  <a:off x="822" y="1823"/>
                  <a:ext cx="282"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1</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16" name="Rectangle 326"/>
                <p:cNvSpPr/>
                <p:nvPr/>
              </p:nvSpPr>
              <p:spPr>
                <a:xfrm>
                  <a:off x="779" y="1823"/>
                  <a:ext cx="3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64" name="Group 327"/>
              <p:cNvGrpSpPr/>
              <p:nvPr/>
            </p:nvGrpSpPr>
            <p:grpSpPr>
              <a:xfrm>
                <a:off x="1147" y="1823"/>
                <a:ext cx="351" cy="403"/>
                <a:chOff x="1147" y="1823"/>
                <a:chExt cx="351" cy="403"/>
              </a:xfrm>
            </p:grpSpPr>
            <p:sp>
              <p:nvSpPr>
                <p:cNvPr id="115813" name="Rectangle 328"/>
                <p:cNvSpPr/>
                <p:nvPr/>
              </p:nvSpPr>
              <p:spPr>
                <a:xfrm>
                  <a:off x="1190" y="1823"/>
                  <a:ext cx="265"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4</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14" name="Rectangle 329"/>
                <p:cNvSpPr/>
                <p:nvPr/>
              </p:nvSpPr>
              <p:spPr>
                <a:xfrm>
                  <a:off x="1147" y="1823"/>
                  <a:ext cx="351"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65" name="Group 330"/>
              <p:cNvGrpSpPr/>
              <p:nvPr/>
            </p:nvGrpSpPr>
            <p:grpSpPr>
              <a:xfrm>
                <a:off x="1498" y="1823"/>
                <a:ext cx="389" cy="403"/>
                <a:chOff x="1498" y="1823"/>
                <a:chExt cx="389" cy="403"/>
              </a:xfrm>
            </p:grpSpPr>
            <p:sp>
              <p:nvSpPr>
                <p:cNvPr id="115811" name="Rectangle 331"/>
                <p:cNvSpPr/>
                <p:nvPr/>
              </p:nvSpPr>
              <p:spPr>
                <a:xfrm>
                  <a:off x="1541" y="1823"/>
                  <a:ext cx="303"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2</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12" name="Rectangle 332"/>
                <p:cNvSpPr/>
                <p:nvPr/>
              </p:nvSpPr>
              <p:spPr>
                <a:xfrm>
                  <a:off x="1498" y="1823"/>
                  <a:ext cx="38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66" name="Group 333"/>
              <p:cNvGrpSpPr/>
              <p:nvPr/>
            </p:nvGrpSpPr>
            <p:grpSpPr>
              <a:xfrm>
                <a:off x="1887" y="1823"/>
                <a:ext cx="438" cy="403"/>
                <a:chOff x="1887" y="1823"/>
                <a:chExt cx="438" cy="403"/>
              </a:xfrm>
            </p:grpSpPr>
            <p:sp>
              <p:nvSpPr>
                <p:cNvPr id="115809" name="Rectangle 334"/>
                <p:cNvSpPr/>
                <p:nvPr/>
              </p:nvSpPr>
              <p:spPr>
                <a:xfrm>
                  <a:off x="1930" y="1823"/>
                  <a:ext cx="352"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1</a:t>
                  </a:r>
                  <a:endParaRPr lang="en-US" altLang="zh-CN" b="1" dirty="0">
                    <a:solidFill>
                      <a:srgbClr val="003300"/>
                    </a:solidFill>
                    <a:latin typeface="Times New Roman" panose="02020603050405020304" pitchFamily="18" charset="0"/>
                  </a:endParaRPr>
                </a:p>
                <a:p>
                  <a:pPr algn="just"/>
                  <a:endParaRPr lang="en-US" altLang="zh-CN" sz="2400" dirty="0">
                    <a:solidFill>
                      <a:srgbClr val="003300"/>
                    </a:solidFill>
                    <a:latin typeface="Times New Roman" panose="02020603050405020304" pitchFamily="18" charset="0"/>
                  </a:endParaRPr>
                </a:p>
              </p:txBody>
            </p:sp>
            <p:sp>
              <p:nvSpPr>
                <p:cNvPr id="115810" name="Rectangle 335"/>
                <p:cNvSpPr/>
                <p:nvPr/>
              </p:nvSpPr>
              <p:spPr>
                <a:xfrm>
                  <a:off x="1887" y="1823"/>
                  <a:ext cx="43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67" name="Group 336"/>
              <p:cNvGrpSpPr/>
              <p:nvPr/>
            </p:nvGrpSpPr>
            <p:grpSpPr>
              <a:xfrm>
                <a:off x="2325" y="1823"/>
                <a:ext cx="400" cy="403"/>
                <a:chOff x="2325" y="1823"/>
                <a:chExt cx="400" cy="403"/>
              </a:xfrm>
            </p:grpSpPr>
            <p:sp>
              <p:nvSpPr>
                <p:cNvPr id="115807" name="Rectangle 337"/>
                <p:cNvSpPr/>
                <p:nvPr/>
              </p:nvSpPr>
              <p:spPr>
                <a:xfrm>
                  <a:off x="2368" y="1823"/>
                  <a:ext cx="314"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1</a:t>
                  </a:r>
                  <a:endParaRPr lang="en-US" altLang="zh-CN" b="1" dirty="0">
                    <a:solidFill>
                      <a:srgbClr val="003300"/>
                    </a:solidFill>
                    <a:latin typeface="Times New Roman" panose="02020603050405020304" pitchFamily="18" charset="0"/>
                  </a:endParaRPr>
                </a:p>
                <a:p>
                  <a:pPr algn="just"/>
                  <a:endParaRPr lang="en-US" altLang="zh-CN" sz="2400" dirty="0">
                    <a:solidFill>
                      <a:srgbClr val="003300"/>
                    </a:solidFill>
                    <a:latin typeface="Times New Roman" panose="02020603050405020304" pitchFamily="18" charset="0"/>
                  </a:endParaRPr>
                </a:p>
              </p:txBody>
            </p:sp>
            <p:sp>
              <p:nvSpPr>
                <p:cNvPr id="115808" name="Rectangle 338"/>
                <p:cNvSpPr/>
                <p:nvPr/>
              </p:nvSpPr>
              <p:spPr>
                <a:xfrm>
                  <a:off x="2325" y="1823"/>
                  <a:ext cx="400"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68" name="Group 339"/>
              <p:cNvGrpSpPr/>
              <p:nvPr/>
            </p:nvGrpSpPr>
            <p:grpSpPr>
              <a:xfrm>
                <a:off x="2725" y="1823"/>
                <a:ext cx="316" cy="403"/>
                <a:chOff x="2725" y="1823"/>
                <a:chExt cx="316" cy="403"/>
              </a:xfrm>
            </p:grpSpPr>
            <p:sp>
              <p:nvSpPr>
                <p:cNvPr id="115805" name="Rectangle 340"/>
                <p:cNvSpPr/>
                <p:nvPr/>
              </p:nvSpPr>
              <p:spPr>
                <a:xfrm>
                  <a:off x="2768" y="1823"/>
                  <a:ext cx="230"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1</a:t>
                  </a:r>
                  <a:endParaRPr lang="en-US" altLang="zh-CN" b="1" dirty="0">
                    <a:solidFill>
                      <a:srgbClr val="003300"/>
                    </a:solidFill>
                    <a:latin typeface="Times New Roman" panose="02020603050405020304" pitchFamily="18" charset="0"/>
                  </a:endParaRPr>
                </a:p>
                <a:p>
                  <a:pPr algn="just"/>
                  <a:endParaRPr lang="en-US" altLang="zh-CN" sz="2400" dirty="0">
                    <a:solidFill>
                      <a:srgbClr val="003300"/>
                    </a:solidFill>
                    <a:latin typeface="Times New Roman" panose="02020603050405020304" pitchFamily="18" charset="0"/>
                  </a:endParaRPr>
                </a:p>
              </p:txBody>
            </p:sp>
            <p:sp>
              <p:nvSpPr>
                <p:cNvPr id="115806" name="Rectangle 341"/>
                <p:cNvSpPr/>
                <p:nvPr/>
              </p:nvSpPr>
              <p:spPr>
                <a:xfrm>
                  <a:off x="2725" y="1823"/>
                  <a:ext cx="31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69" name="Group 342"/>
              <p:cNvGrpSpPr/>
              <p:nvPr/>
            </p:nvGrpSpPr>
            <p:grpSpPr>
              <a:xfrm>
                <a:off x="3041" y="1823"/>
                <a:ext cx="292" cy="403"/>
                <a:chOff x="3041" y="1823"/>
                <a:chExt cx="292" cy="403"/>
              </a:xfrm>
            </p:grpSpPr>
            <p:sp>
              <p:nvSpPr>
                <p:cNvPr id="115803" name="Rectangle 343"/>
                <p:cNvSpPr/>
                <p:nvPr/>
              </p:nvSpPr>
              <p:spPr>
                <a:xfrm>
                  <a:off x="3084" y="1823"/>
                  <a:ext cx="206"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0</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04" name="Rectangle 344"/>
                <p:cNvSpPr/>
                <p:nvPr/>
              </p:nvSpPr>
              <p:spPr>
                <a:xfrm>
                  <a:off x="3041" y="1823"/>
                  <a:ext cx="29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70" name="Group 345"/>
              <p:cNvGrpSpPr/>
              <p:nvPr/>
            </p:nvGrpSpPr>
            <p:grpSpPr>
              <a:xfrm>
                <a:off x="3333" y="1823"/>
                <a:ext cx="316" cy="403"/>
                <a:chOff x="3333" y="1823"/>
                <a:chExt cx="316" cy="403"/>
              </a:xfrm>
            </p:grpSpPr>
            <p:sp>
              <p:nvSpPr>
                <p:cNvPr id="115801" name="Rectangle 346"/>
                <p:cNvSpPr/>
                <p:nvPr/>
              </p:nvSpPr>
              <p:spPr>
                <a:xfrm>
                  <a:off x="3376" y="1823"/>
                  <a:ext cx="230"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3</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02" name="Rectangle 347"/>
                <p:cNvSpPr/>
                <p:nvPr/>
              </p:nvSpPr>
              <p:spPr>
                <a:xfrm>
                  <a:off x="3333" y="1823"/>
                  <a:ext cx="31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71" name="Group 348"/>
              <p:cNvGrpSpPr/>
              <p:nvPr/>
            </p:nvGrpSpPr>
            <p:grpSpPr>
              <a:xfrm>
                <a:off x="0" y="2226"/>
                <a:ext cx="411" cy="403"/>
                <a:chOff x="0" y="2226"/>
                <a:chExt cx="411" cy="403"/>
              </a:xfrm>
            </p:grpSpPr>
            <p:sp>
              <p:nvSpPr>
                <p:cNvPr id="115799" name="Rectangle 349"/>
                <p:cNvSpPr/>
                <p:nvPr/>
              </p:nvSpPr>
              <p:spPr>
                <a:xfrm>
                  <a:off x="43" y="2226"/>
                  <a:ext cx="325"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P4</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800" name="Rectangle 350"/>
                <p:cNvSpPr/>
                <p:nvPr/>
              </p:nvSpPr>
              <p:spPr>
                <a:xfrm>
                  <a:off x="0" y="2226"/>
                  <a:ext cx="411"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72" name="Group 351"/>
              <p:cNvGrpSpPr/>
              <p:nvPr/>
            </p:nvGrpSpPr>
            <p:grpSpPr>
              <a:xfrm>
                <a:off x="411" y="2226"/>
                <a:ext cx="368" cy="403"/>
                <a:chOff x="411" y="2226"/>
                <a:chExt cx="368" cy="403"/>
              </a:xfrm>
            </p:grpSpPr>
            <p:sp>
              <p:nvSpPr>
                <p:cNvPr id="115797" name="Rectangle 352"/>
                <p:cNvSpPr/>
                <p:nvPr/>
              </p:nvSpPr>
              <p:spPr>
                <a:xfrm>
                  <a:off x="454" y="2226"/>
                  <a:ext cx="282"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4</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798" name="Rectangle 353"/>
                <p:cNvSpPr/>
                <p:nvPr/>
              </p:nvSpPr>
              <p:spPr>
                <a:xfrm>
                  <a:off x="411" y="2226"/>
                  <a:ext cx="3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73" name="Group 354"/>
              <p:cNvGrpSpPr/>
              <p:nvPr/>
            </p:nvGrpSpPr>
            <p:grpSpPr>
              <a:xfrm>
                <a:off x="779" y="2226"/>
                <a:ext cx="368" cy="403"/>
                <a:chOff x="779" y="2226"/>
                <a:chExt cx="368" cy="403"/>
              </a:xfrm>
            </p:grpSpPr>
            <p:sp>
              <p:nvSpPr>
                <p:cNvPr id="115795" name="Rectangle 355"/>
                <p:cNvSpPr/>
                <p:nvPr/>
              </p:nvSpPr>
              <p:spPr>
                <a:xfrm>
                  <a:off x="822" y="2226"/>
                  <a:ext cx="282"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2</a:t>
                  </a:r>
                  <a:endParaRPr lang="en-US" altLang="zh-CN" b="1" dirty="0">
                    <a:solidFill>
                      <a:srgbClr val="003300"/>
                    </a:solidFill>
                    <a:latin typeface="Times New Roman" panose="02020603050405020304" pitchFamily="18" charset="0"/>
                  </a:endParaRPr>
                </a:p>
                <a:p>
                  <a:pPr algn="just"/>
                  <a:endParaRPr lang="en-US" altLang="zh-CN" sz="2400" dirty="0">
                    <a:solidFill>
                      <a:srgbClr val="003300"/>
                    </a:solidFill>
                    <a:latin typeface="Times New Roman" panose="02020603050405020304" pitchFamily="18" charset="0"/>
                  </a:endParaRPr>
                </a:p>
              </p:txBody>
            </p:sp>
            <p:sp>
              <p:nvSpPr>
                <p:cNvPr id="115796" name="Rectangle 356"/>
                <p:cNvSpPr/>
                <p:nvPr/>
              </p:nvSpPr>
              <p:spPr>
                <a:xfrm>
                  <a:off x="779" y="2226"/>
                  <a:ext cx="36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74" name="Group 357"/>
              <p:cNvGrpSpPr/>
              <p:nvPr/>
            </p:nvGrpSpPr>
            <p:grpSpPr>
              <a:xfrm>
                <a:off x="1147" y="2226"/>
                <a:ext cx="351" cy="403"/>
                <a:chOff x="1147" y="2226"/>
                <a:chExt cx="351" cy="403"/>
              </a:xfrm>
            </p:grpSpPr>
            <p:sp>
              <p:nvSpPr>
                <p:cNvPr id="115793" name="Rectangle 358"/>
                <p:cNvSpPr/>
                <p:nvPr/>
              </p:nvSpPr>
              <p:spPr>
                <a:xfrm>
                  <a:off x="1190" y="2226"/>
                  <a:ext cx="265"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2</a:t>
                  </a:r>
                  <a:endParaRPr lang="en-US" altLang="zh-CN" b="1" dirty="0">
                    <a:solidFill>
                      <a:srgbClr val="003300"/>
                    </a:solidFill>
                    <a:latin typeface="Times New Roman" panose="02020603050405020304" pitchFamily="18" charset="0"/>
                  </a:endParaRPr>
                </a:p>
                <a:p>
                  <a:pPr algn="just"/>
                  <a:endParaRPr lang="en-US" altLang="zh-CN" sz="2400" dirty="0">
                    <a:solidFill>
                      <a:srgbClr val="003300"/>
                    </a:solidFill>
                    <a:latin typeface="Times New Roman" panose="02020603050405020304" pitchFamily="18" charset="0"/>
                  </a:endParaRPr>
                </a:p>
              </p:txBody>
            </p:sp>
            <p:sp>
              <p:nvSpPr>
                <p:cNvPr id="115794" name="Rectangle 359"/>
                <p:cNvSpPr/>
                <p:nvPr/>
              </p:nvSpPr>
              <p:spPr>
                <a:xfrm>
                  <a:off x="1147" y="2226"/>
                  <a:ext cx="351"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75" name="Group 360"/>
              <p:cNvGrpSpPr/>
              <p:nvPr/>
            </p:nvGrpSpPr>
            <p:grpSpPr>
              <a:xfrm>
                <a:off x="1498" y="2226"/>
                <a:ext cx="389" cy="403"/>
                <a:chOff x="1498" y="2226"/>
                <a:chExt cx="389" cy="403"/>
              </a:xfrm>
            </p:grpSpPr>
            <p:sp>
              <p:nvSpPr>
                <p:cNvPr id="115791" name="Rectangle 361"/>
                <p:cNvSpPr/>
                <p:nvPr/>
              </p:nvSpPr>
              <p:spPr>
                <a:xfrm>
                  <a:off x="1541" y="2226"/>
                  <a:ext cx="303"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0</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792" name="Rectangle 362"/>
                <p:cNvSpPr/>
                <p:nvPr/>
              </p:nvSpPr>
              <p:spPr>
                <a:xfrm>
                  <a:off x="1498" y="2226"/>
                  <a:ext cx="38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76" name="Group 363"/>
              <p:cNvGrpSpPr/>
              <p:nvPr/>
            </p:nvGrpSpPr>
            <p:grpSpPr>
              <a:xfrm>
                <a:off x="1887" y="2226"/>
                <a:ext cx="438" cy="403"/>
                <a:chOff x="1887" y="2226"/>
                <a:chExt cx="438" cy="403"/>
              </a:xfrm>
            </p:grpSpPr>
            <p:sp>
              <p:nvSpPr>
                <p:cNvPr id="115789" name="Rectangle 364"/>
                <p:cNvSpPr/>
                <p:nvPr/>
              </p:nvSpPr>
              <p:spPr>
                <a:xfrm>
                  <a:off x="1930" y="2226"/>
                  <a:ext cx="352"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0</a:t>
                  </a:r>
                  <a:endParaRPr lang="en-US" altLang="zh-CN" b="1" dirty="0">
                    <a:solidFill>
                      <a:srgbClr val="003300"/>
                    </a:solidFill>
                    <a:latin typeface="Times New Roman" panose="02020603050405020304" pitchFamily="18" charset="0"/>
                  </a:endParaRPr>
                </a:p>
                <a:p>
                  <a:pPr algn="just"/>
                  <a:endParaRPr lang="en-US" altLang="zh-CN" sz="2400" dirty="0">
                    <a:solidFill>
                      <a:srgbClr val="003300"/>
                    </a:solidFill>
                    <a:latin typeface="Times New Roman" panose="02020603050405020304" pitchFamily="18" charset="0"/>
                  </a:endParaRPr>
                </a:p>
              </p:txBody>
            </p:sp>
            <p:sp>
              <p:nvSpPr>
                <p:cNvPr id="115790" name="Rectangle 365"/>
                <p:cNvSpPr/>
                <p:nvPr/>
              </p:nvSpPr>
              <p:spPr>
                <a:xfrm>
                  <a:off x="1887" y="2226"/>
                  <a:ext cx="43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77" name="Group 366"/>
              <p:cNvGrpSpPr/>
              <p:nvPr/>
            </p:nvGrpSpPr>
            <p:grpSpPr>
              <a:xfrm>
                <a:off x="2325" y="2226"/>
                <a:ext cx="400" cy="403"/>
                <a:chOff x="2325" y="2226"/>
                <a:chExt cx="400" cy="403"/>
              </a:xfrm>
            </p:grpSpPr>
            <p:sp>
              <p:nvSpPr>
                <p:cNvPr id="115787" name="Rectangle 367"/>
                <p:cNvSpPr/>
                <p:nvPr/>
              </p:nvSpPr>
              <p:spPr>
                <a:xfrm>
                  <a:off x="2368" y="2226"/>
                  <a:ext cx="314"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2</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788" name="Rectangle 368"/>
                <p:cNvSpPr/>
                <p:nvPr/>
              </p:nvSpPr>
              <p:spPr>
                <a:xfrm>
                  <a:off x="2325" y="2226"/>
                  <a:ext cx="400"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78" name="Group 369"/>
              <p:cNvGrpSpPr/>
              <p:nvPr/>
            </p:nvGrpSpPr>
            <p:grpSpPr>
              <a:xfrm>
                <a:off x="2725" y="2226"/>
                <a:ext cx="316" cy="403"/>
                <a:chOff x="2725" y="2226"/>
                <a:chExt cx="316" cy="403"/>
              </a:xfrm>
            </p:grpSpPr>
            <p:sp>
              <p:nvSpPr>
                <p:cNvPr id="115785" name="Rectangle 370"/>
                <p:cNvSpPr/>
                <p:nvPr/>
              </p:nvSpPr>
              <p:spPr>
                <a:xfrm>
                  <a:off x="2768" y="2226"/>
                  <a:ext cx="230"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4</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786" name="Rectangle 371"/>
                <p:cNvSpPr/>
                <p:nvPr/>
              </p:nvSpPr>
              <p:spPr>
                <a:xfrm>
                  <a:off x="2725" y="2226"/>
                  <a:ext cx="31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79" name="Group 372"/>
              <p:cNvGrpSpPr/>
              <p:nvPr/>
            </p:nvGrpSpPr>
            <p:grpSpPr>
              <a:xfrm>
                <a:off x="3041" y="2226"/>
                <a:ext cx="292" cy="403"/>
                <a:chOff x="3041" y="2226"/>
                <a:chExt cx="292" cy="403"/>
              </a:xfrm>
            </p:grpSpPr>
            <p:sp>
              <p:nvSpPr>
                <p:cNvPr id="115783" name="Rectangle 373"/>
                <p:cNvSpPr/>
                <p:nvPr/>
              </p:nvSpPr>
              <p:spPr>
                <a:xfrm>
                  <a:off x="3084" y="2226"/>
                  <a:ext cx="206"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2</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784" name="Rectangle 374"/>
                <p:cNvSpPr/>
                <p:nvPr/>
              </p:nvSpPr>
              <p:spPr>
                <a:xfrm>
                  <a:off x="3041" y="2226"/>
                  <a:ext cx="29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5780" name="Group 375"/>
              <p:cNvGrpSpPr/>
              <p:nvPr/>
            </p:nvGrpSpPr>
            <p:grpSpPr>
              <a:xfrm>
                <a:off x="3333" y="2226"/>
                <a:ext cx="316" cy="403"/>
                <a:chOff x="3333" y="2226"/>
                <a:chExt cx="316" cy="403"/>
              </a:xfrm>
            </p:grpSpPr>
            <p:sp>
              <p:nvSpPr>
                <p:cNvPr id="115781" name="Rectangle 376"/>
                <p:cNvSpPr/>
                <p:nvPr/>
              </p:nvSpPr>
              <p:spPr>
                <a:xfrm>
                  <a:off x="3376" y="2226"/>
                  <a:ext cx="230" cy="403"/>
                </a:xfrm>
                <a:prstGeom prst="rect">
                  <a:avLst/>
                </a:prstGeom>
                <a:noFill/>
                <a:ln w="9525">
                  <a:noFill/>
                </a:ln>
              </p:spPr>
              <p:txBody>
                <a:bodyPr/>
                <a:p>
                  <a:pPr algn="just" eaLnBrk="1" hangingPunct="1"/>
                  <a:r>
                    <a:rPr lang="en-US" altLang="zh-CN" b="1" dirty="0">
                      <a:solidFill>
                        <a:srgbClr val="003300"/>
                      </a:solidFill>
                      <a:latin typeface="Times New Roman" panose="02020603050405020304" pitchFamily="18" charset="0"/>
                    </a:rPr>
                    <a:t>0</a:t>
                  </a:r>
                  <a:endParaRPr lang="en-US" altLang="zh-CN" b="1" dirty="0">
                    <a:solidFill>
                      <a:srgbClr val="003300"/>
                    </a:solidFill>
                    <a:latin typeface="Times New Roman" panose="02020603050405020304" pitchFamily="18" charset="0"/>
                  </a:endParaRPr>
                </a:p>
                <a:p>
                  <a:pPr algn="just"/>
                  <a:endParaRPr lang="en-US" altLang="zh-CN" b="1" dirty="0">
                    <a:solidFill>
                      <a:srgbClr val="003300"/>
                    </a:solidFill>
                    <a:latin typeface="Times New Roman" panose="02020603050405020304" pitchFamily="18" charset="0"/>
                  </a:endParaRPr>
                </a:p>
              </p:txBody>
            </p:sp>
            <p:sp>
              <p:nvSpPr>
                <p:cNvPr id="115782" name="Rectangle 377"/>
                <p:cNvSpPr/>
                <p:nvPr/>
              </p:nvSpPr>
              <p:spPr>
                <a:xfrm>
                  <a:off x="3333" y="2226"/>
                  <a:ext cx="31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sp>
          <p:nvSpPr>
            <p:cNvPr id="115720" name="Rectangle 378"/>
            <p:cNvSpPr/>
            <p:nvPr/>
          </p:nvSpPr>
          <p:spPr>
            <a:xfrm>
              <a:off x="-3" y="-3"/>
              <a:ext cx="4534" cy="2635"/>
            </a:xfrm>
            <a:prstGeom prst="rect">
              <a:avLst/>
            </a:prstGeom>
            <a:noFill/>
            <a:ln w="9525"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7730"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仿宋_GB2312" pitchFamily="49" charset="-122"/>
                <a:cs typeface="+mj-cs"/>
              </a:rPr>
              <a:t>T</a:t>
            </a:r>
            <a:r>
              <a:rPr kumimoji="0" lang="en-US" altLang="zh-CN" sz="4400" b="1" i="0" u="none" strike="noStrike" kern="0" cap="none" spc="0" normalizeH="0" baseline="-30000" noProof="0">
                <a:ln>
                  <a:noFill/>
                </a:ln>
                <a:solidFill>
                  <a:schemeClr val="tx2"/>
                </a:solidFill>
                <a:effectLst>
                  <a:outerShdw blurRad="38100" dist="38100" dir="2700000" algn="tl">
                    <a:srgbClr val="C0C0C0"/>
                  </a:outerShdw>
                </a:effectLst>
                <a:uLnTx/>
                <a:uFillTx/>
                <a:latin typeface="+mj-lt"/>
                <a:ea typeface="仿宋_GB2312" pitchFamily="49" charset="-122"/>
                <a:cs typeface="+mj-cs"/>
              </a:rPr>
              <a:t>0</a:t>
            </a:r>
            <a:r>
              <a:rPr kumimoji="0" lang="zh-CN" altLang="en-US" sz="4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仿宋_GB2312" pitchFamily="49" charset="-122"/>
                <a:cs typeface="+mj-cs"/>
              </a:rPr>
              <a:t>时刻的安全性</a:t>
            </a:r>
            <a:endParaRPr kumimoji="0" lang="zh-CN" altLang="en-US" sz="4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仿宋_GB2312" pitchFamily="49" charset="-122"/>
              <a:cs typeface="+mj-cs"/>
            </a:endParaRPr>
          </a:p>
        </p:txBody>
      </p:sp>
      <p:sp>
        <p:nvSpPr>
          <p:cNvPr id="457731" name="Rectangle 3"/>
          <p:cNvSpPr>
            <a:spLocks noGrp="1" noRot="1" noChangeArrowheads="1"/>
          </p:cNvSpPr>
          <p:nvPr>
            <p:ph type="body" idx="1"/>
          </p:nvPr>
        </p:nvSpPr>
        <p:spPr>
          <a:xfrm>
            <a:off x="533400" y="1557338"/>
            <a:ext cx="8077200" cy="4498975"/>
          </a:xfrm>
        </p:spPr>
        <p:txBody>
          <a:bodyPr vert="horz" wrap="square" lIns="91440" tIns="45720" rIns="91440" bIns="45720" numCol="1" anchor="t" anchorCtr="0" compatLnSpc="1"/>
          <a:lstStyle/>
          <a:p>
            <a:pPr marL="342900" marR="0" lvl="0" indent="-342900" algn="l"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None/>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利用安全性算法，分析</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T0</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时刻的资源分配情况，可得如下图所示的信息。</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None/>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从</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T</a:t>
            </a:r>
            <a:r>
              <a:rPr kumimoji="0" lang="en-US" altLang="zh-CN" sz="3200" b="1" i="0" u="none" strike="noStrike" kern="0" cap="none" spc="0" normalizeH="0" baseline="-3000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0</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时刻的安全性分析可知，</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T</a:t>
            </a:r>
            <a:r>
              <a:rPr kumimoji="0" lang="en-US" altLang="zh-CN" sz="3200" b="1" i="0" u="none" strike="noStrike" kern="0" cap="none" spc="0" normalizeH="0" baseline="-3000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0</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时刻存在着一个安全序列</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&lt;P2,P1</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P4,P3&gt;,</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故</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T</a:t>
            </a:r>
            <a:r>
              <a:rPr kumimoji="0" lang="en-US" altLang="zh-CN" sz="3200" b="1" i="0" u="none" strike="noStrike" kern="0" cap="none" spc="0" normalizeH="0" baseline="-3000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0</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时刻系统是安全的。</a:t>
            </a:r>
            <a:r>
              <a:rPr kumimoji="0" lang="zh-CN" altLang="en-US" sz="3200" b="0" i="0" u="none" strike="noStrike" kern="0" cap="none" spc="0" normalizeH="0" baseline="0" noProof="0" smtClean="0">
                <a:ln>
                  <a:noFill/>
                </a:ln>
                <a:solidFill>
                  <a:schemeClr val="tx1"/>
                </a:solidFill>
                <a:effectLst/>
                <a:uLnTx/>
                <a:uFillTx/>
                <a:latin typeface="+mn-lt"/>
                <a:ea typeface="+mn-ea"/>
                <a:cs typeface="+mn-cs"/>
              </a:rPr>
              <a:t> </a:t>
            </a: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57730"/>
                                        </p:tgtEl>
                                        <p:attrNameLst>
                                          <p:attrName>style.visibility</p:attrName>
                                        </p:attrNameLst>
                                      </p:cBhvr>
                                      <p:to>
                                        <p:strVal val="visible"/>
                                      </p:to>
                                    </p:set>
                                    <p:animEffect transition="in" filter="fade">
                                      <p:cBhvr>
                                        <p:cTn id="7" dur="2000"/>
                                        <p:tgtEl>
                                          <p:spTgt spid="4577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7731">
                                            <p:txEl>
                                              <p:charRg st="0" end="34"/>
                                            </p:txEl>
                                          </p:spTgt>
                                        </p:tgtEl>
                                        <p:attrNameLst>
                                          <p:attrName>style.visibility</p:attrName>
                                        </p:attrNameLst>
                                      </p:cBhvr>
                                      <p:to>
                                        <p:strVal val="visible"/>
                                      </p:to>
                                    </p:set>
                                    <p:animEffect transition="in" filter="fade">
                                      <p:cBhvr>
                                        <p:cTn id="12" dur="2000"/>
                                        <p:tgtEl>
                                          <p:spTgt spid="457731">
                                            <p:txEl>
                                              <p:charRg st="0" end="3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57731">
                                            <p:txEl>
                                              <p:charRg st="34" end="89"/>
                                            </p:txEl>
                                          </p:spTgt>
                                        </p:tgtEl>
                                        <p:attrNameLst>
                                          <p:attrName>style.visibility</p:attrName>
                                        </p:attrNameLst>
                                      </p:cBhvr>
                                      <p:to>
                                        <p:strVal val="visible"/>
                                      </p:to>
                                    </p:set>
                                    <p:animEffect transition="in" filter="fade">
                                      <p:cBhvr>
                                        <p:cTn id="17" dur="2000"/>
                                        <p:tgtEl>
                                          <p:spTgt spid="457731">
                                            <p:txEl>
                                              <p:charRg st="34" end="8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730" grpId="0"/>
      <p:bldP spid="457731"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27"/>
          <p:cNvSpPr/>
          <p:nvPr/>
        </p:nvSpPr>
        <p:spPr>
          <a:xfrm>
            <a:off x="0" y="228600"/>
            <a:ext cx="8915400" cy="5257800"/>
          </a:xfrm>
          <a:prstGeom prst="rect">
            <a:avLst/>
          </a:prstGeom>
          <a:solidFill>
            <a:srgbClr val="CCFFFF"/>
          </a:solidFill>
          <a:ln w="9525">
            <a:noFill/>
          </a:ln>
          <a:effectLst>
            <a:prstShdw prst="shdw17" dist="17961" dir="13499999">
              <a:srgbClr val="050505"/>
            </a:prstShdw>
          </a:effectLst>
        </p:spPr>
        <p:txBody>
          <a:bodyPr wrap="none" anchor="ctr" anchorCtr="0"/>
          <a:p>
            <a:pPr eaLnBrk="1" hangingPunct="1"/>
            <a:endParaRPr lang="zh-CN" altLang="en-US" dirty="0">
              <a:latin typeface="Arial" panose="020B0604020202020204" pitchFamily="34" charset="0"/>
            </a:endParaRPr>
          </a:p>
        </p:txBody>
      </p:sp>
      <p:grpSp>
        <p:nvGrpSpPr>
          <p:cNvPr id="117763" name="Group 228"/>
          <p:cNvGrpSpPr/>
          <p:nvPr/>
        </p:nvGrpSpPr>
        <p:grpSpPr>
          <a:xfrm>
            <a:off x="-71437" y="990600"/>
            <a:ext cx="8915400" cy="4030663"/>
            <a:chOff x="-3" y="-3"/>
            <a:chExt cx="4737" cy="2539"/>
          </a:xfrm>
        </p:grpSpPr>
        <p:grpSp>
          <p:nvGrpSpPr>
            <p:cNvPr id="117765" name="Group 229"/>
            <p:cNvGrpSpPr/>
            <p:nvPr/>
          </p:nvGrpSpPr>
          <p:grpSpPr>
            <a:xfrm>
              <a:off x="0" y="0"/>
              <a:ext cx="4731" cy="2533"/>
              <a:chOff x="0" y="0"/>
              <a:chExt cx="4731" cy="2533"/>
            </a:xfrm>
          </p:grpSpPr>
          <p:grpSp>
            <p:nvGrpSpPr>
              <p:cNvPr id="117767" name="Group 230"/>
              <p:cNvGrpSpPr/>
              <p:nvPr/>
            </p:nvGrpSpPr>
            <p:grpSpPr>
              <a:xfrm>
                <a:off x="0" y="0"/>
                <a:ext cx="374" cy="921"/>
                <a:chOff x="0" y="0"/>
                <a:chExt cx="374" cy="921"/>
              </a:xfrm>
            </p:grpSpPr>
            <p:sp>
              <p:nvSpPr>
                <p:cNvPr id="117987" name="Rectangle 231"/>
                <p:cNvSpPr/>
                <p:nvPr/>
              </p:nvSpPr>
              <p:spPr>
                <a:xfrm>
                  <a:off x="43" y="0"/>
                  <a:ext cx="288" cy="921"/>
                </a:xfrm>
                <a:prstGeom prst="rect">
                  <a:avLst/>
                </a:prstGeom>
                <a:noFill/>
                <a:ln w="9525">
                  <a:noFill/>
                </a:ln>
              </p:spPr>
              <p:txBody>
                <a:bodyPr/>
                <a:p>
                  <a:pPr algn="ctr" eaLnBrk="1" hangingPunct="1"/>
                  <a:r>
                    <a:rPr lang="zh-CN" altLang="en-US" sz="1400" b="1" dirty="0">
                      <a:solidFill>
                        <a:srgbClr val="003300"/>
                      </a:solidFill>
                      <a:latin typeface="Times New Roman" panose="02020603050405020304" pitchFamily="18" charset="0"/>
                    </a:rPr>
                    <a:t>进程</a:t>
                  </a:r>
                  <a:endParaRPr lang="zh-CN" altLang="en-US"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88" name="Rectangle 232"/>
                <p:cNvSpPr/>
                <p:nvPr/>
              </p:nvSpPr>
              <p:spPr>
                <a:xfrm>
                  <a:off x="0" y="0"/>
                  <a:ext cx="374" cy="921"/>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68" name="Group 233"/>
              <p:cNvGrpSpPr/>
              <p:nvPr/>
            </p:nvGrpSpPr>
            <p:grpSpPr>
              <a:xfrm>
                <a:off x="374" y="0"/>
                <a:ext cx="906" cy="403"/>
                <a:chOff x="374" y="0"/>
                <a:chExt cx="906" cy="403"/>
              </a:xfrm>
            </p:grpSpPr>
            <p:sp>
              <p:nvSpPr>
                <p:cNvPr id="117985" name="Rectangle 234"/>
                <p:cNvSpPr/>
                <p:nvPr/>
              </p:nvSpPr>
              <p:spPr>
                <a:xfrm>
                  <a:off x="417" y="0"/>
                  <a:ext cx="820"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Work</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86" name="Rectangle 235"/>
                <p:cNvSpPr/>
                <p:nvPr/>
              </p:nvSpPr>
              <p:spPr>
                <a:xfrm>
                  <a:off x="374" y="0"/>
                  <a:ext cx="90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69" name="Group 236"/>
              <p:cNvGrpSpPr/>
              <p:nvPr/>
            </p:nvGrpSpPr>
            <p:grpSpPr>
              <a:xfrm>
                <a:off x="1280" y="0"/>
                <a:ext cx="877" cy="403"/>
                <a:chOff x="1280" y="0"/>
                <a:chExt cx="877" cy="403"/>
              </a:xfrm>
            </p:grpSpPr>
            <p:sp>
              <p:nvSpPr>
                <p:cNvPr id="117983" name="Rectangle 237"/>
                <p:cNvSpPr/>
                <p:nvPr/>
              </p:nvSpPr>
              <p:spPr>
                <a:xfrm>
                  <a:off x="1323" y="0"/>
                  <a:ext cx="791"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Need</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84" name="Rectangle 238"/>
                <p:cNvSpPr/>
                <p:nvPr/>
              </p:nvSpPr>
              <p:spPr>
                <a:xfrm>
                  <a:off x="1280" y="0"/>
                  <a:ext cx="877"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70" name="Group 239"/>
              <p:cNvGrpSpPr/>
              <p:nvPr/>
            </p:nvGrpSpPr>
            <p:grpSpPr>
              <a:xfrm>
                <a:off x="2157" y="0"/>
                <a:ext cx="934" cy="403"/>
                <a:chOff x="2157" y="0"/>
                <a:chExt cx="934" cy="403"/>
              </a:xfrm>
            </p:grpSpPr>
            <p:sp>
              <p:nvSpPr>
                <p:cNvPr id="117981" name="Rectangle 240"/>
                <p:cNvSpPr/>
                <p:nvPr/>
              </p:nvSpPr>
              <p:spPr>
                <a:xfrm>
                  <a:off x="2200" y="0"/>
                  <a:ext cx="848"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Allocation</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82" name="Rectangle 241"/>
                <p:cNvSpPr/>
                <p:nvPr/>
              </p:nvSpPr>
              <p:spPr>
                <a:xfrm>
                  <a:off x="2157" y="0"/>
                  <a:ext cx="934"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71" name="Group 242"/>
              <p:cNvGrpSpPr/>
              <p:nvPr/>
            </p:nvGrpSpPr>
            <p:grpSpPr>
              <a:xfrm>
                <a:off x="3091" y="0"/>
                <a:ext cx="1122" cy="403"/>
                <a:chOff x="3091" y="0"/>
                <a:chExt cx="1122" cy="403"/>
              </a:xfrm>
            </p:grpSpPr>
            <p:sp>
              <p:nvSpPr>
                <p:cNvPr id="117979" name="Rectangle 243"/>
                <p:cNvSpPr/>
                <p:nvPr/>
              </p:nvSpPr>
              <p:spPr>
                <a:xfrm>
                  <a:off x="3134" y="0"/>
                  <a:ext cx="1036"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Work+Allocation</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80" name="Rectangle 244"/>
                <p:cNvSpPr/>
                <p:nvPr/>
              </p:nvSpPr>
              <p:spPr>
                <a:xfrm>
                  <a:off x="3091" y="0"/>
                  <a:ext cx="112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72" name="Group 245"/>
              <p:cNvGrpSpPr/>
              <p:nvPr/>
            </p:nvGrpSpPr>
            <p:grpSpPr>
              <a:xfrm>
                <a:off x="4213" y="0"/>
                <a:ext cx="518" cy="921"/>
                <a:chOff x="4213" y="0"/>
                <a:chExt cx="518" cy="921"/>
              </a:xfrm>
            </p:grpSpPr>
            <p:sp>
              <p:nvSpPr>
                <p:cNvPr id="117977" name="Rectangle 246"/>
                <p:cNvSpPr/>
                <p:nvPr/>
              </p:nvSpPr>
              <p:spPr>
                <a:xfrm>
                  <a:off x="4256" y="0"/>
                  <a:ext cx="432" cy="921"/>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Finish</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78" name="Rectangle 247"/>
                <p:cNvSpPr/>
                <p:nvPr/>
              </p:nvSpPr>
              <p:spPr>
                <a:xfrm>
                  <a:off x="4213" y="0"/>
                  <a:ext cx="518" cy="921"/>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73" name="Group 248"/>
              <p:cNvGrpSpPr/>
              <p:nvPr/>
            </p:nvGrpSpPr>
            <p:grpSpPr>
              <a:xfrm>
                <a:off x="374" y="403"/>
                <a:ext cx="302" cy="518"/>
                <a:chOff x="374" y="403"/>
                <a:chExt cx="302" cy="518"/>
              </a:xfrm>
            </p:grpSpPr>
            <p:sp>
              <p:nvSpPr>
                <p:cNvPr id="117975" name="Rectangle 249"/>
                <p:cNvSpPr/>
                <p:nvPr/>
              </p:nvSpPr>
              <p:spPr>
                <a:xfrm>
                  <a:off x="417" y="403"/>
                  <a:ext cx="216" cy="518"/>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R1</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76" name="Rectangle 250"/>
                <p:cNvSpPr/>
                <p:nvPr/>
              </p:nvSpPr>
              <p:spPr>
                <a:xfrm>
                  <a:off x="374" y="403"/>
                  <a:ext cx="302"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74" name="Group 251"/>
              <p:cNvGrpSpPr/>
              <p:nvPr/>
            </p:nvGrpSpPr>
            <p:grpSpPr>
              <a:xfrm>
                <a:off x="676" y="403"/>
                <a:ext cx="302" cy="518"/>
                <a:chOff x="676" y="403"/>
                <a:chExt cx="302" cy="518"/>
              </a:xfrm>
            </p:grpSpPr>
            <p:sp>
              <p:nvSpPr>
                <p:cNvPr id="117973" name="Rectangle 252"/>
                <p:cNvSpPr/>
                <p:nvPr/>
              </p:nvSpPr>
              <p:spPr>
                <a:xfrm>
                  <a:off x="719" y="403"/>
                  <a:ext cx="216" cy="518"/>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R2</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74" name="Rectangle 253"/>
                <p:cNvSpPr/>
                <p:nvPr/>
              </p:nvSpPr>
              <p:spPr>
                <a:xfrm>
                  <a:off x="676" y="403"/>
                  <a:ext cx="302"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75" name="Group 254"/>
              <p:cNvGrpSpPr/>
              <p:nvPr/>
            </p:nvGrpSpPr>
            <p:grpSpPr>
              <a:xfrm>
                <a:off x="978" y="403"/>
                <a:ext cx="302" cy="518"/>
                <a:chOff x="978" y="403"/>
                <a:chExt cx="302" cy="518"/>
              </a:xfrm>
            </p:grpSpPr>
            <p:sp>
              <p:nvSpPr>
                <p:cNvPr id="117971" name="Rectangle 255"/>
                <p:cNvSpPr/>
                <p:nvPr/>
              </p:nvSpPr>
              <p:spPr>
                <a:xfrm>
                  <a:off x="1021" y="403"/>
                  <a:ext cx="216" cy="518"/>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R3</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72" name="Rectangle 256"/>
                <p:cNvSpPr/>
                <p:nvPr/>
              </p:nvSpPr>
              <p:spPr>
                <a:xfrm>
                  <a:off x="978" y="403"/>
                  <a:ext cx="302"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76" name="Group 257"/>
              <p:cNvGrpSpPr/>
              <p:nvPr/>
            </p:nvGrpSpPr>
            <p:grpSpPr>
              <a:xfrm>
                <a:off x="1280" y="403"/>
                <a:ext cx="297" cy="518"/>
                <a:chOff x="1280" y="403"/>
                <a:chExt cx="297" cy="518"/>
              </a:xfrm>
            </p:grpSpPr>
            <p:sp>
              <p:nvSpPr>
                <p:cNvPr id="117969" name="Rectangle 258"/>
                <p:cNvSpPr/>
                <p:nvPr/>
              </p:nvSpPr>
              <p:spPr>
                <a:xfrm>
                  <a:off x="1323" y="403"/>
                  <a:ext cx="211" cy="518"/>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R1</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70" name="Rectangle 259"/>
                <p:cNvSpPr/>
                <p:nvPr/>
              </p:nvSpPr>
              <p:spPr>
                <a:xfrm>
                  <a:off x="1280" y="403"/>
                  <a:ext cx="297"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77" name="Group 260"/>
              <p:cNvGrpSpPr/>
              <p:nvPr/>
            </p:nvGrpSpPr>
            <p:grpSpPr>
              <a:xfrm>
                <a:off x="1577" y="403"/>
                <a:ext cx="285" cy="518"/>
                <a:chOff x="1577" y="403"/>
                <a:chExt cx="285" cy="518"/>
              </a:xfrm>
            </p:grpSpPr>
            <p:sp>
              <p:nvSpPr>
                <p:cNvPr id="117967" name="Rectangle 261"/>
                <p:cNvSpPr/>
                <p:nvPr/>
              </p:nvSpPr>
              <p:spPr>
                <a:xfrm>
                  <a:off x="1620" y="403"/>
                  <a:ext cx="199" cy="518"/>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R2</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68" name="Rectangle 262"/>
                <p:cNvSpPr/>
                <p:nvPr/>
              </p:nvSpPr>
              <p:spPr>
                <a:xfrm>
                  <a:off x="1577" y="403"/>
                  <a:ext cx="285"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78" name="Group 263"/>
              <p:cNvGrpSpPr/>
              <p:nvPr/>
            </p:nvGrpSpPr>
            <p:grpSpPr>
              <a:xfrm>
                <a:off x="1862" y="403"/>
                <a:ext cx="295" cy="518"/>
                <a:chOff x="1862" y="403"/>
                <a:chExt cx="295" cy="518"/>
              </a:xfrm>
            </p:grpSpPr>
            <p:sp>
              <p:nvSpPr>
                <p:cNvPr id="117965" name="Rectangle 264"/>
                <p:cNvSpPr/>
                <p:nvPr/>
              </p:nvSpPr>
              <p:spPr>
                <a:xfrm>
                  <a:off x="1905" y="403"/>
                  <a:ext cx="209" cy="518"/>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R3</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66" name="Rectangle 265"/>
                <p:cNvSpPr/>
                <p:nvPr/>
              </p:nvSpPr>
              <p:spPr>
                <a:xfrm>
                  <a:off x="1862" y="403"/>
                  <a:ext cx="295"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79" name="Group 266"/>
              <p:cNvGrpSpPr/>
              <p:nvPr/>
            </p:nvGrpSpPr>
            <p:grpSpPr>
              <a:xfrm>
                <a:off x="2157" y="403"/>
                <a:ext cx="297" cy="518"/>
                <a:chOff x="2157" y="403"/>
                <a:chExt cx="297" cy="518"/>
              </a:xfrm>
            </p:grpSpPr>
            <p:sp>
              <p:nvSpPr>
                <p:cNvPr id="117963" name="Rectangle 267"/>
                <p:cNvSpPr/>
                <p:nvPr/>
              </p:nvSpPr>
              <p:spPr>
                <a:xfrm>
                  <a:off x="2200" y="403"/>
                  <a:ext cx="211" cy="518"/>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R1</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64" name="Rectangle 268"/>
                <p:cNvSpPr/>
                <p:nvPr/>
              </p:nvSpPr>
              <p:spPr>
                <a:xfrm>
                  <a:off x="2157" y="403"/>
                  <a:ext cx="297"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80" name="Group 269"/>
              <p:cNvGrpSpPr/>
              <p:nvPr/>
            </p:nvGrpSpPr>
            <p:grpSpPr>
              <a:xfrm>
                <a:off x="2454" y="403"/>
                <a:ext cx="297" cy="518"/>
                <a:chOff x="2454" y="403"/>
                <a:chExt cx="297" cy="518"/>
              </a:xfrm>
            </p:grpSpPr>
            <p:sp>
              <p:nvSpPr>
                <p:cNvPr id="117961" name="Rectangle 270"/>
                <p:cNvSpPr/>
                <p:nvPr/>
              </p:nvSpPr>
              <p:spPr>
                <a:xfrm>
                  <a:off x="2497" y="403"/>
                  <a:ext cx="211" cy="518"/>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R2</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62" name="Rectangle 271"/>
                <p:cNvSpPr/>
                <p:nvPr/>
              </p:nvSpPr>
              <p:spPr>
                <a:xfrm>
                  <a:off x="2454" y="403"/>
                  <a:ext cx="297"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81" name="Group 272"/>
              <p:cNvGrpSpPr/>
              <p:nvPr/>
            </p:nvGrpSpPr>
            <p:grpSpPr>
              <a:xfrm>
                <a:off x="2751" y="403"/>
                <a:ext cx="340" cy="518"/>
                <a:chOff x="2751" y="403"/>
                <a:chExt cx="340" cy="518"/>
              </a:xfrm>
            </p:grpSpPr>
            <p:sp>
              <p:nvSpPr>
                <p:cNvPr id="117959" name="Rectangle 273"/>
                <p:cNvSpPr/>
                <p:nvPr/>
              </p:nvSpPr>
              <p:spPr>
                <a:xfrm>
                  <a:off x="2794" y="403"/>
                  <a:ext cx="254" cy="518"/>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R3</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60" name="Rectangle 274"/>
                <p:cNvSpPr/>
                <p:nvPr/>
              </p:nvSpPr>
              <p:spPr>
                <a:xfrm>
                  <a:off x="2751" y="403"/>
                  <a:ext cx="340"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82" name="Group 275"/>
              <p:cNvGrpSpPr/>
              <p:nvPr/>
            </p:nvGrpSpPr>
            <p:grpSpPr>
              <a:xfrm>
                <a:off x="3091" y="403"/>
                <a:ext cx="374" cy="518"/>
                <a:chOff x="3091" y="403"/>
                <a:chExt cx="374" cy="518"/>
              </a:xfrm>
            </p:grpSpPr>
            <p:sp>
              <p:nvSpPr>
                <p:cNvPr id="117957" name="Rectangle 276"/>
                <p:cNvSpPr/>
                <p:nvPr/>
              </p:nvSpPr>
              <p:spPr>
                <a:xfrm>
                  <a:off x="3134" y="403"/>
                  <a:ext cx="288" cy="518"/>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R1</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58" name="Rectangle 277"/>
                <p:cNvSpPr/>
                <p:nvPr/>
              </p:nvSpPr>
              <p:spPr>
                <a:xfrm>
                  <a:off x="3091" y="403"/>
                  <a:ext cx="374"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83" name="Group 278"/>
              <p:cNvGrpSpPr/>
              <p:nvPr/>
            </p:nvGrpSpPr>
            <p:grpSpPr>
              <a:xfrm>
                <a:off x="3465" y="403"/>
                <a:ext cx="302" cy="518"/>
                <a:chOff x="3465" y="403"/>
                <a:chExt cx="302" cy="518"/>
              </a:xfrm>
            </p:grpSpPr>
            <p:sp>
              <p:nvSpPr>
                <p:cNvPr id="117955" name="Rectangle 279"/>
                <p:cNvSpPr/>
                <p:nvPr/>
              </p:nvSpPr>
              <p:spPr>
                <a:xfrm>
                  <a:off x="3508" y="403"/>
                  <a:ext cx="216" cy="518"/>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R2</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56" name="Rectangle 280"/>
                <p:cNvSpPr/>
                <p:nvPr/>
              </p:nvSpPr>
              <p:spPr>
                <a:xfrm>
                  <a:off x="3465" y="403"/>
                  <a:ext cx="302"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84" name="Group 281"/>
              <p:cNvGrpSpPr/>
              <p:nvPr/>
            </p:nvGrpSpPr>
            <p:grpSpPr>
              <a:xfrm>
                <a:off x="3767" y="403"/>
                <a:ext cx="446" cy="518"/>
                <a:chOff x="3767" y="403"/>
                <a:chExt cx="446" cy="518"/>
              </a:xfrm>
            </p:grpSpPr>
            <p:sp>
              <p:nvSpPr>
                <p:cNvPr id="117953" name="Rectangle 282"/>
                <p:cNvSpPr/>
                <p:nvPr/>
              </p:nvSpPr>
              <p:spPr>
                <a:xfrm>
                  <a:off x="3810" y="403"/>
                  <a:ext cx="360" cy="518"/>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R3</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54" name="Rectangle 283"/>
                <p:cNvSpPr/>
                <p:nvPr/>
              </p:nvSpPr>
              <p:spPr>
                <a:xfrm>
                  <a:off x="3767" y="403"/>
                  <a:ext cx="446" cy="5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85" name="Group 284"/>
              <p:cNvGrpSpPr/>
              <p:nvPr/>
            </p:nvGrpSpPr>
            <p:grpSpPr>
              <a:xfrm>
                <a:off x="0" y="921"/>
                <a:ext cx="374" cy="403"/>
                <a:chOff x="0" y="921"/>
                <a:chExt cx="374" cy="403"/>
              </a:xfrm>
            </p:grpSpPr>
            <p:sp>
              <p:nvSpPr>
                <p:cNvPr id="117951" name="Rectangle 285"/>
                <p:cNvSpPr/>
                <p:nvPr/>
              </p:nvSpPr>
              <p:spPr>
                <a:xfrm>
                  <a:off x="43" y="921"/>
                  <a:ext cx="288"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P2</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52" name="Rectangle 286"/>
                <p:cNvSpPr/>
                <p:nvPr/>
              </p:nvSpPr>
              <p:spPr>
                <a:xfrm>
                  <a:off x="0" y="921"/>
                  <a:ext cx="374"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86" name="Group 287"/>
              <p:cNvGrpSpPr/>
              <p:nvPr/>
            </p:nvGrpSpPr>
            <p:grpSpPr>
              <a:xfrm>
                <a:off x="374" y="921"/>
                <a:ext cx="302" cy="403"/>
                <a:chOff x="374" y="921"/>
                <a:chExt cx="302" cy="403"/>
              </a:xfrm>
            </p:grpSpPr>
            <p:sp>
              <p:nvSpPr>
                <p:cNvPr id="117949" name="Rectangle 288"/>
                <p:cNvSpPr/>
                <p:nvPr/>
              </p:nvSpPr>
              <p:spPr>
                <a:xfrm>
                  <a:off x="417" y="921"/>
                  <a:ext cx="216"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0</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50" name="Rectangle 289"/>
                <p:cNvSpPr/>
                <p:nvPr/>
              </p:nvSpPr>
              <p:spPr>
                <a:xfrm>
                  <a:off x="374" y="921"/>
                  <a:ext cx="30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87" name="Group 290"/>
              <p:cNvGrpSpPr/>
              <p:nvPr/>
            </p:nvGrpSpPr>
            <p:grpSpPr>
              <a:xfrm>
                <a:off x="676" y="921"/>
                <a:ext cx="302" cy="403"/>
                <a:chOff x="676" y="921"/>
                <a:chExt cx="302" cy="403"/>
              </a:xfrm>
            </p:grpSpPr>
            <p:sp>
              <p:nvSpPr>
                <p:cNvPr id="117947" name="Rectangle 291"/>
                <p:cNvSpPr/>
                <p:nvPr/>
              </p:nvSpPr>
              <p:spPr>
                <a:xfrm>
                  <a:off x="719" y="921"/>
                  <a:ext cx="216"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1</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48" name="Rectangle 292"/>
                <p:cNvSpPr/>
                <p:nvPr/>
              </p:nvSpPr>
              <p:spPr>
                <a:xfrm>
                  <a:off x="676" y="921"/>
                  <a:ext cx="30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88" name="Group 293"/>
              <p:cNvGrpSpPr/>
              <p:nvPr/>
            </p:nvGrpSpPr>
            <p:grpSpPr>
              <a:xfrm>
                <a:off x="978" y="921"/>
                <a:ext cx="302" cy="403"/>
                <a:chOff x="978" y="921"/>
                <a:chExt cx="302" cy="403"/>
              </a:xfrm>
            </p:grpSpPr>
            <p:sp>
              <p:nvSpPr>
                <p:cNvPr id="117945" name="Rectangle 294"/>
                <p:cNvSpPr/>
                <p:nvPr/>
              </p:nvSpPr>
              <p:spPr>
                <a:xfrm>
                  <a:off x="1021" y="921"/>
                  <a:ext cx="216"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1</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46" name="Rectangle 295"/>
                <p:cNvSpPr/>
                <p:nvPr/>
              </p:nvSpPr>
              <p:spPr>
                <a:xfrm>
                  <a:off x="978" y="921"/>
                  <a:ext cx="30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89" name="Group 296"/>
              <p:cNvGrpSpPr/>
              <p:nvPr/>
            </p:nvGrpSpPr>
            <p:grpSpPr>
              <a:xfrm>
                <a:off x="1280" y="921"/>
                <a:ext cx="297" cy="403"/>
                <a:chOff x="1280" y="921"/>
                <a:chExt cx="297" cy="403"/>
              </a:xfrm>
            </p:grpSpPr>
            <p:sp>
              <p:nvSpPr>
                <p:cNvPr id="117943" name="Rectangle 297"/>
                <p:cNvSpPr/>
                <p:nvPr/>
              </p:nvSpPr>
              <p:spPr>
                <a:xfrm>
                  <a:off x="1323" y="921"/>
                  <a:ext cx="211"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0</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44" name="Rectangle 298"/>
                <p:cNvSpPr/>
                <p:nvPr/>
              </p:nvSpPr>
              <p:spPr>
                <a:xfrm>
                  <a:off x="1280" y="921"/>
                  <a:ext cx="297"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90" name="Group 299"/>
              <p:cNvGrpSpPr/>
              <p:nvPr/>
            </p:nvGrpSpPr>
            <p:grpSpPr>
              <a:xfrm>
                <a:off x="1577" y="921"/>
                <a:ext cx="285" cy="403"/>
                <a:chOff x="1577" y="921"/>
                <a:chExt cx="285" cy="403"/>
              </a:xfrm>
            </p:grpSpPr>
            <p:sp>
              <p:nvSpPr>
                <p:cNvPr id="117941" name="Rectangle 300"/>
                <p:cNvSpPr/>
                <p:nvPr/>
              </p:nvSpPr>
              <p:spPr>
                <a:xfrm>
                  <a:off x="1620" y="921"/>
                  <a:ext cx="199"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0</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42" name="Rectangle 301"/>
                <p:cNvSpPr/>
                <p:nvPr/>
              </p:nvSpPr>
              <p:spPr>
                <a:xfrm>
                  <a:off x="1577" y="921"/>
                  <a:ext cx="285"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91" name="Group 302"/>
              <p:cNvGrpSpPr/>
              <p:nvPr/>
            </p:nvGrpSpPr>
            <p:grpSpPr>
              <a:xfrm>
                <a:off x="1862" y="921"/>
                <a:ext cx="295" cy="403"/>
                <a:chOff x="1862" y="921"/>
                <a:chExt cx="295" cy="403"/>
              </a:xfrm>
            </p:grpSpPr>
            <p:sp>
              <p:nvSpPr>
                <p:cNvPr id="117939" name="Rectangle 303"/>
                <p:cNvSpPr/>
                <p:nvPr/>
              </p:nvSpPr>
              <p:spPr>
                <a:xfrm>
                  <a:off x="1905" y="921"/>
                  <a:ext cx="209"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1</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40" name="Rectangle 304"/>
                <p:cNvSpPr/>
                <p:nvPr/>
              </p:nvSpPr>
              <p:spPr>
                <a:xfrm>
                  <a:off x="1862" y="921"/>
                  <a:ext cx="295"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92" name="Group 305"/>
              <p:cNvGrpSpPr/>
              <p:nvPr/>
            </p:nvGrpSpPr>
            <p:grpSpPr>
              <a:xfrm>
                <a:off x="2157" y="921"/>
                <a:ext cx="297" cy="403"/>
                <a:chOff x="2157" y="921"/>
                <a:chExt cx="297" cy="403"/>
              </a:xfrm>
            </p:grpSpPr>
            <p:sp>
              <p:nvSpPr>
                <p:cNvPr id="117937" name="Rectangle 306"/>
                <p:cNvSpPr/>
                <p:nvPr/>
              </p:nvSpPr>
              <p:spPr>
                <a:xfrm>
                  <a:off x="2200" y="921"/>
                  <a:ext cx="211"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6</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38" name="Rectangle 307"/>
                <p:cNvSpPr/>
                <p:nvPr/>
              </p:nvSpPr>
              <p:spPr>
                <a:xfrm>
                  <a:off x="2157" y="921"/>
                  <a:ext cx="297"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93" name="Group 308"/>
              <p:cNvGrpSpPr/>
              <p:nvPr/>
            </p:nvGrpSpPr>
            <p:grpSpPr>
              <a:xfrm>
                <a:off x="2454" y="921"/>
                <a:ext cx="297" cy="403"/>
                <a:chOff x="2454" y="921"/>
                <a:chExt cx="297" cy="403"/>
              </a:xfrm>
            </p:grpSpPr>
            <p:sp>
              <p:nvSpPr>
                <p:cNvPr id="117935" name="Rectangle 309"/>
                <p:cNvSpPr/>
                <p:nvPr/>
              </p:nvSpPr>
              <p:spPr>
                <a:xfrm>
                  <a:off x="2497" y="921"/>
                  <a:ext cx="211"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1</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36" name="Rectangle 310"/>
                <p:cNvSpPr/>
                <p:nvPr/>
              </p:nvSpPr>
              <p:spPr>
                <a:xfrm>
                  <a:off x="2454" y="921"/>
                  <a:ext cx="297"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94" name="Group 311"/>
              <p:cNvGrpSpPr/>
              <p:nvPr/>
            </p:nvGrpSpPr>
            <p:grpSpPr>
              <a:xfrm>
                <a:off x="2751" y="921"/>
                <a:ext cx="340" cy="403"/>
                <a:chOff x="2751" y="921"/>
                <a:chExt cx="340" cy="403"/>
              </a:xfrm>
            </p:grpSpPr>
            <p:sp>
              <p:nvSpPr>
                <p:cNvPr id="117933" name="Rectangle 312"/>
                <p:cNvSpPr/>
                <p:nvPr/>
              </p:nvSpPr>
              <p:spPr>
                <a:xfrm>
                  <a:off x="2794" y="921"/>
                  <a:ext cx="254"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2</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34" name="Rectangle 313"/>
                <p:cNvSpPr/>
                <p:nvPr/>
              </p:nvSpPr>
              <p:spPr>
                <a:xfrm>
                  <a:off x="2751" y="921"/>
                  <a:ext cx="340"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95" name="Group 314"/>
              <p:cNvGrpSpPr/>
              <p:nvPr/>
            </p:nvGrpSpPr>
            <p:grpSpPr>
              <a:xfrm>
                <a:off x="3091" y="921"/>
                <a:ext cx="374" cy="403"/>
                <a:chOff x="3091" y="921"/>
                <a:chExt cx="374" cy="403"/>
              </a:xfrm>
            </p:grpSpPr>
            <p:sp>
              <p:nvSpPr>
                <p:cNvPr id="117931" name="Rectangle 315"/>
                <p:cNvSpPr/>
                <p:nvPr/>
              </p:nvSpPr>
              <p:spPr>
                <a:xfrm>
                  <a:off x="3134" y="921"/>
                  <a:ext cx="288"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6</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32" name="Rectangle 316"/>
                <p:cNvSpPr/>
                <p:nvPr/>
              </p:nvSpPr>
              <p:spPr>
                <a:xfrm>
                  <a:off x="3091" y="921"/>
                  <a:ext cx="374"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96" name="Group 317"/>
              <p:cNvGrpSpPr/>
              <p:nvPr/>
            </p:nvGrpSpPr>
            <p:grpSpPr>
              <a:xfrm>
                <a:off x="3465" y="921"/>
                <a:ext cx="302" cy="403"/>
                <a:chOff x="3465" y="921"/>
                <a:chExt cx="302" cy="403"/>
              </a:xfrm>
            </p:grpSpPr>
            <p:sp>
              <p:nvSpPr>
                <p:cNvPr id="117929" name="Rectangle 318"/>
                <p:cNvSpPr/>
                <p:nvPr/>
              </p:nvSpPr>
              <p:spPr>
                <a:xfrm>
                  <a:off x="3508" y="921"/>
                  <a:ext cx="216"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2</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30" name="Rectangle 319"/>
                <p:cNvSpPr/>
                <p:nvPr/>
              </p:nvSpPr>
              <p:spPr>
                <a:xfrm>
                  <a:off x="3465" y="921"/>
                  <a:ext cx="30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97" name="Group 320"/>
              <p:cNvGrpSpPr/>
              <p:nvPr/>
            </p:nvGrpSpPr>
            <p:grpSpPr>
              <a:xfrm>
                <a:off x="3767" y="921"/>
                <a:ext cx="446" cy="403"/>
                <a:chOff x="3767" y="921"/>
                <a:chExt cx="446" cy="403"/>
              </a:xfrm>
            </p:grpSpPr>
            <p:sp>
              <p:nvSpPr>
                <p:cNvPr id="117927" name="Rectangle 321"/>
                <p:cNvSpPr/>
                <p:nvPr/>
              </p:nvSpPr>
              <p:spPr>
                <a:xfrm>
                  <a:off x="3810" y="921"/>
                  <a:ext cx="360"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3</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28" name="Rectangle 322"/>
                <p:cNvSpPr/>
                <p:nvPr/>
              </p:nvSpPr>
              <p:spPr>
                <a:xfrm>
                  <a:off x="3767" y="921"/>
                  <a:ext cx="44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98" name="Group 323"/>
              <p:cNvGrpSpPr/>
              <p:nvPr/>
            </p:nvGrpSpPr>
            <p:grpSpPr>
              <a:xfrm>
                <a:off x="4213" y="921"/>
                <a:ext cx="518" cy="403"/>
                <a:chOff x="4213" y="921"/>
                <a:chExt cx="518" cy="403"/>
              </a:xfrm>
            </p:grpSpPr>
            <p:sp>
              <p:nvSpPr>
                <p:cNvPr id="117925" name="Rectangle 324"/>
                <p:cNvSpPr/>
                <p:nvPr/>
              </p:nvSpPr>
              <p:spPr>
                <a:xfrm>
                  <a:off x="4256" y="921"/>
                  <a:ext cx="432"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true</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26" name="Rectangle 325"/>
                <p:cNvSpPr/>
                <p:nvPr/>
              </p:nvSpPr>
              <p:spPr>
                <a:xfrm>
                  <a:off x="4213" y="921"/>
                  <a:ext cx="51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799" name="Group 326"/>
              <p:cNvGrpSpPr/>
              <p:nvPr/>
            </p:nvGrpSpPr>
            <p:grpSpPr>
              <a:xfrm>
                <a:off x="0" y="1324"/>
                <a:ext cx="374" cy="403"/>
                <a:chOff x="0" y="1324"/>
                <a:chExt cx="374" cy="403"/>
              </a:xfrm>
            </p:grpSpPr>
            <p:sp>
              <p:nvSpPr>
                <p:cNvPr id="117923" name="Rectangle 327"/>
                <p:cNvSpPr/>
                <p:nvPr/>
              </p:nvSpPr>
              <p:spPr>
                <a:xfrm>
                  <a:off x="43" y="1324"/>
                  <a:ext cx="288"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P1</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24" name="Rectangle 328"/>
                <p:cNvSpPr/>
                <p:nvPr/>
              </p:nvSpPr>
              <p:spPr>
                <a:xfrm>
                  <a:off x="0" y="1324"/>
                  <a:ext cx="374"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00" name="Group 329"/>
              <p:cNvGrpSpPr/>
              <p:nvPr/>
            </p:nvGrpSpPr>
            <p:grpSpPr>
              <a:xfrm>
                <a:off x="374" y="1324"/>
                <a:ext cx="302" cy="403"/>
                <a:chOff x="374" y="1324"/>
                <a:chExt cx="302" cy="403"/>
              </a:xfrm>
            </p:grpSpPr>
            <p:sp>
              <p:nvSpPr>
                <p:cNvPr id="117921" name="Rectangle 330"/>
                <p:cNvSpPr/>
                <p:nvPr/>
              </p:nvSpPr>
              <p:spPr>
                <a:xfrm>
                  <a:off x="417" y="1324"/>
                  <a:ext cx="216"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6</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22" name="Rectangle 331"/>
                <p:cNvSpPr/>
                <p:nvPr/>
              </p:nvSpPr>
              <p:spPr>
                <a:xfrm>
                  <a:off x="374" y="1324"/>
                  <a:ext cx="30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01" name="Group 332"/>
              <p:cNvGrpSpPr/>
              <p:nvPr/>
            </p:nvGrpSpPr>
            <p:grpSpPr>
              <a:xfrm>
                <a:off x="676" y="1324"/>
                <a:ext cx="302" cy="403"/>
                <a:chOff x="676" y="1324"/>
                <a:chExt cx="302" cy="403"/>
              </a:xfrm>
            </p:grpSpPr>
            <p:sp>
              <p:nvSpPr>
                <p:cNvPr id="117919" name="Rectangle 333"/>
                <p:cNvSpPr/>
                <p:nvPr/>
              </p:nvSpPr>
              <p:spPr>
                <a:xfrm>
                  <a:off x="719" y="1324"/>
                  <a:ext cx="216"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2</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20" name="Rectangle 334"/>
                <p:cNvSpPr/>
                <p:nvPr/>
              </p:nvSpPr>
              <p:spPr>
                <a:xfrm>
                  <a:off x="676" y="1324"/>
                  <a:ext cx="30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02" name="Group 335"/>
              <p:cNvGrpSpPr/>
              <p:nvPr/>
            </p:nvGrpSpPr>
            <p:grpSpPr>
              <a:xfrm>
                <a:off x="978" y="1324"/>
                <a:ext cx="302" cy="403"/>
                <a:chOff x="978" y="1324"/>
                <a:chExt cx="302" cy="403"/>
              </a:xfrm>
            </p:grpSpPr>
            <p:sp>
              <p:nvSpPr>
                <p:cNvPr id="117917" name="Rectangle 336"/>
                <p:cNvSpPr/>
                <p:nvPr/>
              </p:nvSpPr>
              <p:spPr>
                <a:xfrm>
                  <a:off x="1021" y="1324"/>
                  <a:ext cx="216"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3</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18" name="Rectangle 337"/>
                <p:cNvSpPr/>
                <p:nvPr/>
              </p:nvSpPr>
              <p:spPr>
                <a:xfrm>
                  <a:off x="978" y="1324"/>
                  <a:ext cx="30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03" name="Group 338"/>
              <p:cNvGrpSpPr/>
              <p:nvPr/>
            </p:nvGrpSpPr>
            <p:grpSpPr>
              <a:xfrm>
                <a:off x="1280" y="1324"/>
                <a:ext cx="297" cy="403"/>
                <a:chOff x="1280" y="1324"/>
                <a:chExt cx="297" cy="403"/>
              </a:xfrm>
            </p:grpSpPr>
            <p:sp>
              <p:nvSpPr>
                <p:cNvPr id="117915" name="Rectangle 339"/>
                <p:cNvSpPr/>
                <p:nvPr/>
              </p:nvSpPr>
              <p:spPr>
                <a:xfrm>
                  <a:off x="1323" y="1324"/>
                  <a:ext cx="211"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2</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16" name="Rectangle 340"/>
                <p:cNvSpPr/>
                <p:nvPr/>
              </p:nvSpPr>
              <p:spPr>
                <a:xfrm>
                  <a:off x="1280" y="1324"/>
                  <a:ext cx="297"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04" name="Group 341"/>
              <p:cNvGrpSpPr/>
              <p:nvPr/>
            </p:nvGrpSpPr>
            <p:grpSpPr>
              <a:xfrm>
                <a:off x="1577" y="1324"/>
                <a:ext cx="285" cy="403"/>
                <a:chOff x="1577" y="1324"/>
                <a:chExt cx="285" cy="403"/>
              </a:xfrm>
            </p:grpSpPr>
            <p:sp>
              <p:nvSpPr>
                <p:cNvPr id="117913" name="Rectangle 342"/>
                <p:cNvSpPr/>
                <p:nvPr/>
              </p:nvSpPr>
              <p:spPr>
                <a:xfrm>
                  <a:off x="1620" y="1324"/>
                  <a:ext cx="199"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2</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14" name="Rectangle 343"/>
                <p:cNvSpPr/>
                <p:nvPr/>
              </p:nvSpPr>
              <p:spPr>
                <a:xfrm>
                  <a:off x="1577" y="1324"/>
                  <a:ext cx="285"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05" name="Group 344"/>
              <p:cNvGrpSpPr/>
              <p:nvPr/>
            </p:nvGrpSpPr>
            <p:grpSpPr>
              <a:xfrm>
                <a:off x="1862" y="1324"/>
                <a:ext cx="295" cy="403"/>
                <a:chOff x="1862" y="1324"/>
                <a:chExt cx="295" cy="403"/>
              </a:xfrm>
            </p:grpSpPr>
            <p:sp>
              <p:nvSpPr>
                <p:cNvPr id="117911" name="Rectangle 345"/>
                <p:cNvSpPr/>
                <p:nvPr/>
              </p:nvSpPr>
              <p:spPr>
                <a:xfrm>
                  <a:off x="1905" y="1324"/>
                  <a:ext cx="209"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2</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12" name="Rectangle 346"/>
                <p:cNvSpPr/>
                <p:nvPr/>
              </p:nvSpPr>
              <p:spPr>
                <a:xfrm>
                  <a:off x="1862" y="1324"/>
                  <a:ext cx="295"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06" name="Group 347"/>
              <p:cNvGrpSpPr/>
              <p:nvPr/>
            </p:nvGrpSpPr>
            <p:grpSpPr>
              <a:xfrm>
                <a:off x="2157" y="1324"/>
                <a:ext cx="297" cy="403"/>
                <a:chOff x="2157" y="1324"/>
                <a:chExt cx="297" cy="403"/>
              </a:xfrm>
            </p:grpSpPr>
            <p:sp>
              <p:nvSpPr>
                <p:cNvPr id="117909" name="Rectangle 348"/>
                <p:cNvSpPr/>
                <p:nvPr/>
              </p:nvSpPr>
              <p:spPr>
                <a:xfrm>
                  <a:off x="2200" y="1324"/>
                  <a:ext cx="211"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1</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10" name="Rectangle 349"/>
                <p:cNvSpPr/>
                <p:nvPr/>
              </p:nvSpPr>
              <p:spPr>
                <a:xfrm>
                  <a:off x="2157" y="1324"/>
                  <a:ext cx="297"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07" name="Group 350"/>
              <p:cNvGrpSpPr/>
              <p:nvPr/>
            </p:nvGrpSpPr>
            <p:grpSpPr>
              <a:xfrm>
                <a:off x="2454" y="1324"/>
                <a:ext cx="297" cy="403"/>
                <a:chOff x="2454" y="1324"/>
                <a:chExt cx="297" cy="403"/>
              </a:xfrm>
            </p:grpSpPr>
            <p:sp>
              <p:nvSpPr>
                <p:cNvPr id="117907" name="Rectangle 351"/>
                <p:cNvSpPr/>
                <p:nvPr/>
              </p:nvSpPr>
              <p:spPr>
                <a:xfrm>
                  <a:off x="2497" y="1324"/>
                  <a:ext cx="211"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0</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08" name="Rectangle 352"/>
                <p:cNvSpPr/>
                <p:nvPr/>
              </p:nvSpPr>
              <p:spPr>
                <a:xfrm>
                  <a:off x="2454" y="1324"/>
                  <a:ext cx="297"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08" name="Group 353"/>
              <p:cNvGrpSpPr/>
              <p:nvPr/>
            </p:nvGrpSpPr>
            <p:grpSpPr>
              <a:xfrm>
                <a:off x="2751" y="1324"/>
                <a:ext cx="340" cy="403"/>
                <a:chOff x="2751" y="1324"/>
                <a:chExt cx="340" cy="403"/>
              </a:xfrm>
            </p:grpSpPr>
            <p:sp>
              <p:nvSpPr>
                <p:cNvPr id="117905" name="Rectangle 354"/>
                <p:cNvSpPr/>
                <p:nvPr/>
              </p:nvSpPr>
              <p:spPr>
                <a:xfrm>
                  <a:off x="2794" y="1324"/>
                  <a:ext cx="254"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0</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06" name="Rectangle 355"/>
                <p:cNvSpPr/>
                <p:nvPr/>
              </p:nvSpPr>
              <p:spPr>
                <a:xfrm>
                  <a:off x="2751" y="1324"/>
                  <a:ext cx="340"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09" name="Group 356"/>
              <p:cNvGrpSpPr/>
              <p:nvPr/>
            </p:nvGrpSpPr>
            <p:grpSpPr>
              <a:xfrm>
                <a:off x="3091" y="1324"/>
                <a:ext cx="374" cy="403"/>
                <a:chOff x="3091" y="1324"/>
                <a:chExt cx="374" cy="403"/>
              </a:xfrm>
            </p:grpSpPr>
            <p:sp>
              <p:nvSpPr>
                <p:cNvPr id="117903" name="Rectangle 357"/>
                <p:cNvSpPr/>
                <p:nvPr/>
              </p:nvSpPr>
              <p:spPr>
                <a:xfrm>
                  <a:off x="3134" y="1324"/>
                  <a:ext cx="288"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7</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04" name="Rectangle 358"/>
                <p:cNvSpPr/>
                <p:nvPr/>
              </p:nvSpPr>
              <p:spPr>
                <a:xfrm>
                  <a:off x="3091" y="1324"/>
                  <a:ext cx="374"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10" name="Group 359"/>
              <p:cNvGrpSpPr/>
              <p:nvPr/>
            </p:nvGrpSpPr>
            <p:grpSpPr>
              <a:xfrm>
                <a:off x="3465" y="1324"/>
                <a:ext cx="302" cy="403"/>
                <a:chOff x="3465" y="1324"/>
                <a:chExt cx="302" cy="403"/>
              </a:xfrm>
            </p:grpSpPr>
            <p:sp>
              <p:nvSpPr>
                <p:cNvPr id="117901" name="Rectangle 360"/>
                <p:cNvSpPr/>
                <p:nvPr/>
              </p:nvSpPr>
              <p:spPr>
                <a:xfrm>
                  <a:off x="3508" y="1324"/>
                  <a:ext cx="216"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2</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02" name="Rectangle 361"/>
                <p:cNvSpPr/>
                <p:nvPr/>
              </p:nvSpPr>
              <p:spPr>
                <a:xfrm>
                  <a:off x="3465" y="1324"/>
                  <a:ext cx="30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11" name="Group 362"/>
              <p:cNvGrpSpPr/>
              <p:nvPr/>
            </p:nvGrpSpPr>
            <p:grpSpPr>
              <a:xfrm>
                <a:off x="3767" y="1324"/>
                <a:ext cx="446" cy="403"/>
                <a:chOff x="3767" y="1324"/>
                <a:chExt cx="446" cy="403"/>
              </a:xfrm>
            </p:grpSpPr>
            <p:sp>
              <p:nvSpPr>
                <p:cNvPr id="117899" name="Rectangle 363"/>
                <p:cNvSpPr/>
                <p:nvPr/>
              </p:nvSpPr>
              <p:spPr>
                <a:xfrm>
                  <a:off x="3810" y="1324"/>
                  <a:ext cx="360"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3</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900" name="Rectangle 364"/>
                <p:cNvSpPr/>
                <p:nvPr/>
              </p:nvSpPr>
              <p:spPr>
                <a:xfrm>
                  <a:off x="3767" y="1324"/>
                  <a:ext cx="44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12" name="Group 365"/>
              <p:cNvGrpSpPr/>
              <p:nvPr/>
            </p:nvGrpSpPr>
            <p:grpSpPr>
              <a:xfrm>
                <a:off x="4213" y="1324"/>
                <a:ext cx="518" cy="403"/>
                <a:chOff x="4213" y="1324"/>
                <a:chExt cx="518" cy="403"/>
              </a:xfrm>
            </p:grpSpPr>
            <p:sp>
              <p:nvSpPr>
                <p:cNvPr id="117897" name="Rectangle 366"/>
                <p:cNvSpPr/>
                <p:nvPr/>
              </p:nvSpPr>
              <p:spPr>
                <a:xfrm>
                  <a:off x="4256" y="1324"/>
                  <a:ext cx="432"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true</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98" name="Rectangle 367"/>
                <p:cNvSpPr/>
                <p:nvPr/>
              </p:nvSpPr>
              <p:spPr>
                <a:xfrm>
                  <a:off x="4213" y="1324"/>
                  <a:ext cx="51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13" name="Group 368"/>
              <p:cNvGrpSpPr/>
              <p:nvPr/>
            </p:nvGrpSpPr>
            <p:grpSpPr>
              <a:xfrm>
                <a:off x="0" y="1727"/>
                <a:ext cx="374" cy="403"/>
                <a:chOff x="0" y="1727"/>
                <a:chExt cx="374" cy="403"/>
              </a:xfrm>
            </p:grpSpPr>
            <p:sp>
              <p:nvSpPr>
                <p:cNvPr id="117895" name="Rectangle 369"/>
                <p:cNvSpPr/>
                <p:nvPr/>
              </p:nvSpPr>
              <p:spPr>
                <a:xfrm>
                  <a:off x="43" y="1727"/>
                  <a:ext cx="288"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P4</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96" name="Rectangle 370"/>
                <p:cNvSpPr/>
                <p:nvPr/>
              </p:nvSpPr>
              <p:spPr>
                <a:xfrm>
                  <a:off x="0" y="1727"/>
                  <a:ext cx="374"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14" name="Group 371"/>
              <p:cNvGrpSpPr/>
              <p:nvPr/>
            </p:nvGrpSpPr>
            <p:grpSpPr>
              <a:xfrm>
                <a:off x="374" y="1727"/>
                <a:ext cx="302" cy="403"/>
                <a:chOff x="374" y="1727"/>
                <a:chExt cx="302" cy="403"/>
              </a:xfrm>
            </p:grpSpPr>
            <p:sp>
              <p:nvSpPr>
                <p:cNvPr id="117893" name="Rectangle 372"/>
                <p:cNvSpPr/>
                <p:nvPr/>
              </p:nvSpPr>
              <p:spPr>
                <a:xfrm>
                  <a:off x="417" y="1727"/>
                  <a:ext cx="216"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7</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94" name="Rectangle 373"/>
                <p:cNvSpPr/>
                <p:nvPr/>
              </p:nvSpPr>
              <p:spPr>
                <a:xfrm>
                  <a:off x="374" y="1727"/>
                  <a:ext cx="30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15" name="Group 374"/>
              <p:cNvGrpSpPr/>
              <p:nvPr/>
            </p:nvGrpSpPr>
            <p:grpSpPr>
              <a:xfrm>
                <a:off x="676" y="1727"/>
                <a:ext cx="302" cy="403"/>
                <a:chOff x="676" y="1727"/>
                <a:chExt cx="302" cy="403"/>
              </a:xfrm>
            </p:grpSpPr>
            <p:sp>
              <p:nvSpPr>
                <p:cNvPr id="117891" name="Rectangle 375"/>
                <p:cNvSpPr/>
                <p:nvPr/>
              </p:nvSpPr>
              <p:spPr>
                <a:xfrm>
                  <a:off x="719" y="1727"/>
                  <a:ext cx="216"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2</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92" name="Rectangle 376"/>
                <p:cNvSpPr/>
                <p:nvPr/>
              </p:nvSpPr>
              <p:spPr>
                <a:xfrm>
                  <a:off x="676" y="1727"/>
                  <a:ext cx="30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16" name="Group 377"/>
              <p:cNvGrpSpPr/>
              <p:nvPr/>
            </p:nvGrpSpPr>
            <p:grpSpPr>
              <a:xfrm>
                <a:off x="978" y="1727"/>
                <a:ext cx="302" cy="403"/>
                <a:chOff x="978" y="1727"/>
                <a:chExt cx="302" cy="403"/>
              </a:xfrm>
            </p:grpSpPr>
            <p:sp>
              <p:nvSpPr>
                <p:cNvPr id="117889" name="Rectangle 378"/>
                <p:cNvSpPr/>
                <p:nvPr/>
              </p:nvSpPr>
              <p:spPr>
                <a:xfrm>
                  <a:off x="1021" y="1727"/>
                  <a:ext cx="216"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3</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90" name="Rectangle 379"/>
                <p:cNvSpPr/>
                <p:nvPr/>
              </p:nvSpPr>
              <p:spPr>
                <a:xfrm>
                  <a:off x="978" y="1727"/>
                  <a:ext cx="30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17" name="Group 380"/>
              <p:cNvGrpSpPr/>
              <p:nvPr/>
            </p:nvGrpSpPr>
            <p:grpSpPr>
              <a:xfrm>
                <a:off x="1280" y="1727"/>
                <a:ext cx="297" cy="403"/>
                <a:chOff x="1280" y="1727"/>
                <a:chExt cx="297" cy="403"/>
              </a:xfrm>
            </p:grpSpPr>
            <p:sp>
              <p:nvSpPr>
                <p:cNvPr id="117887" name="Rectangle 381"/>
                <p:cNvSpPr/>
                <p:nvPr/>
              </p:nvSpPr>
              <p:spPr>
                <a:xfrm>
                  <a:off x="1323" y="1727"/>
                  <a:ext cx="211"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4</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88" name="Rectangle 382"/>
                <p:cNvSpPr/>
                <p:nvPr/>
              </p:nvSpPr>
              <p:spPr>
                <a:xfrm>
                  <a:off x="1280" y="1727"/>
                  <a:ext cx="297"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18" name="Group 383"/>
              <p:cNvGrpSpPr/>
              <p:nvPr/>
            </p:nvGrpSpPr>
            <p:grpSpPr>
              <a:xfrm>
                <a:off x="1577" y="1727"/>
                <a:ext cx="285" cy="403"/>
                <a:chOff x="1577" y="1727"/>
                <a:chExt cx="285" cy="403"/>
              </a:xfrm>
            </p:grpSpPr>
            <p:sp>
              <p:nvSpPr>
                <p:cNvPr id="117885" name="Rectangle 384"/>
                <p:cNvSpPr/>
                <p:nvPr/>
              </p:nvSpPr>
              <p:spPr>
                <a:xfrm>
                  <a:off x="1620" y="1727"/>
                  <a:ext cx="199"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2</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86" name="Rectangle 385"/>
                <p:cNvSpPr/>
                <p:nvPr/>
              </p:nvSpPr>
              <p:spPr>
                <a:xfrm>
                  <a:off x="1577" y="1727"/>
                  <a:ext cx="285"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19" name="Group 386"/>
              <p:cNvGrpSpPr/>
              <p:nvPr/>
            </p:nvGrpSpPr>
            <p:grpSpPr>
              <a:xfrm>
                <a:off x="1862" y="1727"/>
                <a:ext cx="295" cy="403"/>
                <a:chOff x="1862" y="1727"/>
                <a:chExt cx="295" cy="403"/>
              </a:xfrm>
            </p:grpSpPr>
            <p:sp>
              <p:nvSpPr>
                <p:cNvPr id="117883" name="Rectangle 387"/>
                <p:cNvSpPr/>
                <p:nvPr/>
              </p:nvSpPr>
              <p:spPr>
                <a:xfrm>
                  <a:off x="1905" y="1727"/>
                  <a:ext cx="209"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0</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84" name="Rectangle 388"/>
                <p:cNvSpPr/>
                <p:nvPr/>
              </p:nvSpPr>
              <p:spPr>
                <a:xfrm>
                  <a:off x="1862" y="1727"/>
                  <a:ext cx="295"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20" name="Group 389"/>
              <p:cNvGrpSpPr/>
              <p:nvPr/>
            </p:nvGrpSpPr>
            <p:grpSpPr>
              <a:xfrm>
                <a:off x="2157" y="1727"/>
                <a:ext cx="297" cy="403"/>
                <a:chOff x="2157" y="1727"/>
                <a:chExt cx="297" cy="403"/>
              </a:xfrm>
            </p:grpSpPr>
            <p:sp>
              <p:nvSpPr>
                <p:cNvPr id="117881" name="Rectangle 390"/>
                <p:cNvSpPr/>
                <p:nvPr/>
              </p:nvSpPr>
              <p:spPr>
                <a:xfrm>
                  <a:off x="2200" y="1727"/>
                  <a:ext cx="211"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0</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82" name="Rectangle 391"/>
                <p:cNvSpPr/>
                <p:nvPr/>
              </p:nvSpPr>
              <p:spPr>
                <a:xfrm>
                  <a:off x="2157" y="1727"/>
                  <a:ext cx="297"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21" name="Group 392"/>
              <p:cNvGrpSpPr/>
              <p:nvPr/>
            </p:nvGrpSpPr>
            <p:grpSpPr>
              <a:xfrm>
                <a:off x="2454" y="1727"/>
                <a:ext cx="297" cy="403"/>
                <a:chOff x="2454" y="1727"/>
                <a:chExt cx="297" cy="403"/>
              </a:xfrm>
            </p:grpSpPr>
            <p:sp>
              <p:nvSpPr>
                <p:cNvPr id="117879" name="Rectangle 393"/>
                <p:cNvSpPr/>
                <p:nvPr/>
              </p:nvSpPr>
              <p:spPr>
                <a:xfrm>
                  <a:off x="2497" y="1727"/>
                  <a:ext cx="211"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0</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80" name="Rectangle 394"/>
                <p:cNvSpPr/>
                <p:nvPr/>
              </p:nvSpPr>
              <p:spPr>
                <a:xfrm>
                  <a:off x="2454" y="1727"/>
                  <a:ext cx="297"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22" name="Group 395"/>
              <p:cNvGrpSpPr/>
              <p:nvPr/>
            </p:nvGrpSpPr>
            <p:grpSpPr>
              <a:xfrm>
                <a:off x="2751" y="1727"/>
                <a:ext cx="340" cy="403"/>
                <a:chOff x="2751" y="1727"/>
                <a:chExt cx="340" cy="403"/>
              </a:xfrm>
            </p:grpSpPr>
            <p:sp>
              <p:nvSpPr>
                <p:cNvPr id="117877" name="Rectangle 396"/>
                <p:cNvSpPr/>
                <p:nvPr/>
              </p:nvSpPr>
              <p:spPr>
                <a:xfrm>
                  <a:off x="2794" y="1727"/>
                  <a:ext cx="254"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2</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78" name="Rectangle 397"/>
                <p:cNvSpPr/>
                <p:nvPr/>
              </p:nvSpPr>
              <p:spPr>
                <a:xfrm>
                  <a:off x="2751" y="1727"/>
                  <a:ext cx="340"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23" name="Group 398"/>
              <p:cNvGrpSpPr/>
              <p:nvPr/>
            </p:nvGrpSpPr>
            <p:grpSpPr>
              <a:xfrm>
                <a:off x="3091" y="1727"/>
                <a:ext cx="374" cy="403"/>
                <a:chOff x="3091" y="1727"/>
                <a:chExt cx="374" cy="403"/>
              </a:xfrm>
            </p:grpSpPr>
            <p:sp>
              <p:nvSpPr>
                <p:cNvPr id="117875" name="Rectangle 399"/>
                <p:cNvSpPr/>
                <p:nvPr/>
              </p:nvSpPr>
              <p:spPr>
                <a:xfrm>
                  <a:off x="3134" y="1727"/>
                  <a:ext cx="288"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7</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76" name="Rectangle 400"/>
                <p:cNvSpPr/>
                <p:nvPr/>
              </p:nvSpPr>
              <p:spPr>
                <a:xfrm>
                  <a:off x="3091" y="1727"/>
                  <a:ext cx="374"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24" name="Group 401"/>
              <p:cNvGrpSpPr/>
              <p:nvPr/>
            </p:nvGrpSpPr>
            <p:grpSpPr>
              <a:xfrm>
                <a:off x="3465" y="1727"/>
                <a:ext cx="302" cy="403"/>
                <a:chOff x="3465" y="1727"/>
                <a:chExt cx="302" cy="403"/>
              </a:xfrm>
            </p:grpSpPr>
            <p:sp>
              <p:nvSpPr>
                <p:cNvPr id="117873" name="Rectangle 402"/>
                <p:cNvSpPr/>
                <p:nvPr/>
              </p:nvSpPr>
              <p:spPr>
                <a:xfrm>
                  <a:off x="3508" y="1727"/>
                  <a:ext cx="216"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2</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74" name="Rectangle 403"/>
                <p:cNvSpPr/>
                <p:nvPr/>
              </p:nvSpPr>
              <p:spPr>
                <a:xfrm>
                  <a:off x="3465" y="1727"/>
                  <a:ext cx="30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25" name="Group 404"/>
              <p:cNvGrpSpPr/>
              <p:nvPr/>
            </p:nvGrpSpPr>
            <p:grpSpPr>
              <a:xfrm>
                <a:off x="3767" y="1727"/>
                <a:ext cx="446" cy="403"/>
                <a:chOff x="3767" y="1727"/>
                <a:chExt cx="446" cy="403"/>
              </a:xfrm>
            </p:grpSpPr>
            <p:sp>
              <p:nvSpPr>
                <p:cNvPr id="117871" name="Rectangle 405"/>
                <p:cNvSpPr/>
                <p:nvPr/>
              </p:nvSpPr>
              <p:spPr>
                <a:xfrm>
                  <a:off x="3810" y="1727"/>
                  <a:ext cx="360"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5</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72" name="Rectangle 406"/>
                <p:cNvSpPr/>
                <p:nvPr/>
              </p:nvSpPr>
              <p:spPr>
                <a:xfrm>
                  <a:off x="3767" y="1727"/>
                  <a:ext cx="44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26" name="Group 407"/>
              <p:cNvGrpSpPr/>
              <p:nvPr/>
            </p:nvGrpSpPr>
            <p:grpSpPr>
              <a:xfrm>
                <a:off x="4213" y="1727"/>
                <a:ext cx="518" cy="403"/>
                <a:chOff x="4213" y="1727"/>
                <a:chExt cx="518" cy="403"/>
              </a:xfrm>
            </p:grpSpPr>
            <p:sp>
              <p:nvSpPr>
                <p:cNvPr id="117869" name="Rectangle 408"/>
                <p:cNvSpPr/>
                <p:nvPr/>
              </p:nvSpPr>
              <p:spPr>
                <a:xfrm>
                  <a:off x="4256" y="1727"/>
                  <a:ext cx="432"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True</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70" name="Rectangle 409"/>
                <p:cNvSpPr/>
                <p:nvPr/>
              </p:nvSpPr>
              <p:spPr>
                <a:xfrm>
                  <a:off x="4213" y="1727"/>
                  <a:ext cx="51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27" name="Group 410"/>
              <p:cNvGrpSpPr/>
              <p:nvPr/>
            </p:nvGrpSpPr>
            <p:grpSpPr>
              <a:xfrm>
                <a:off x="0" y="2130"/>
                <a:ext cx="374" cy="403"/>
                <a:chOff x="0" y="2130"/>
                <a:chExt cx="374" cy="403"/>
              </a:xfrm>
            </p:grpSpPr>
            <p:sp>
              <p:nvSpPr>
                <p:cNvPr id="117867" name="Rectangle 411"/>
                <p:cNvSpPr/>
                <p:nvPr/>
              </p:nvSpPr>
              <p:spPr>
                <a:xfrm>
                  <a:off x="43" y="2130"/>
                  <a:ext cx="288"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P3</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68" name="Rectangle 412"/>
                <p:cNvSpPr/>
                <p:nvPr/>
              </p:nvSpPr>
              <p:spPr>
                <a:xfrm>
                  <a:off x="0" y="2130"/>
                  <a:ext cx="374"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28" name="Group 413"/>
              <p:cNvGrpSpPr/>
              <p:nvPr/>
            </p:nvGrpSpPr>
            <p:grpSpPr>
              <a:xfrm>
                <a:off x="374" y="2130"/>
                <a:ext cx="302" cy="403"/>
                <a:chOff x="374" y="2130"/>
                <a:chExt cx="302" cy="403"/>
              </a:xfrm>
            </p:grpSpPr>
            <p:sp>
              <p:nvSpPr>
                <p:cNvPr id="117865" name="Rectangle 414"/>
                <p:cNvSpPr/>
                <p:nvPr/>
              </p:nvSpPr>
              <p:spPr>
                <a:xfrm>
                  <a:off x="417" y="2130"/>
                  <a:ext cx="216"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7</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66" name="Rectangle 415"/>
                <p:cNvSpPr/>
                <p:nvPr/>
              </p:nvSpPr>
              <p:spPr>
                <a:xfrm>
                  <a:off x="374" y="2130"/>
                  <a:ext cx="30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29" name="Group 416"/>
              <p:cNvGrpSpPr/>
              <p:nvPr/>
            </p:nvGrpSpPr>
            <p:grpSpPr>
              <a:xfrm>
                <a:off x="676" y="2130"/>
                <a:ext cx="302" cy="403"/>
                <a:chOff x="676" y="2130"/>
                <a:chExt cx="302" cy="403"/>
              </a:xfrm>
            </p:grpSpPr>
            <p:sp>
              <p:nvSpPr>
                <p:cNvPr id="117863" name="Rectangle 417"/>
                <p:cNvSpPr/>
                <p:nvPr/>
              </p:nvSpPr>
              <p:spPr>
                <a:xfrm>
                  <a:off x="719" y="2130"/>
                  <a:ext cx="216"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2</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64" name="Rectangle 418"/>
                <p:cNvSpPr/>
                <p:nvPr/>
              </p:nvSpPr>
              <p:spPr>
                <a:xfrm>
                  <a:off x="676" y="2130"/>
                  <a:ext cx="30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30" name="Group 419"/>
              <p:cNvGrpSpPr/>
              <p:nvPr/>
            </p:nvGrpSpPr>
            <p:grpSpPr>
              <a:xfrm>
                <a:off x="978" y="2130"/>
                <a:ext cx="302" cy="403"/>
                <a:chOff x="978" y="2130"/>
                <a:chExt cx="302" cy="403"/>
              </a:xfrm>
            </p:grpSpPr>
            <p:sp>
              <p:nvSpPr>
                <p:cNvPr id="117861" name="Rectangle 420"/>
                <p:cNvSpPr/>
                <p:nvPr/>
              </p:nvSpPr>
              <p:spPr>
                <a:xfrm>
                  <a:off x="1021" y="2130"/>
                  <a:ext cx="216"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5</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62" name="Rectangle 421"/>
                <p:cNvSpPr/>
                <p:nvPr/>
              </p:nvSpPr>
              <p:spPr>
                <a:xfrm>
                  <a:off x="978" y="2130"/>
                  <a:ext cx="30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31" name="Group 422"/>
              <p:cNvGrpSpPr/>
              <p:nvPr/>
            </p:nvGrpSpPr>
            <p:grpSpPr>
              <a:xfrm>
                <a:off x="1280" y="2130"/>
                <a:ext cx="297" cy="403"/>
                <a:chOff x="1280" y="2130"/>
                <a:chExt cx="297" cy="403"/>
              </a:xfrm>
            </p:grpSpPr>
            <p:sp>
              <p:nvSpPr>
                <p:cNvPr id="117859" name="Rectangle 423"/>
                <p:cNvSpPr/>
                <p:nvPr/>
              </p:nvSpPr>
              <p:spPr>
                <a:xfrm>
                  <a:off x="1323" y="2130"/>
                  <a:ext cx="211"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1</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60" name="Rectangle 424"/>
                <p:cNvSpPr/>
                <p:nvPr/>
              </p:nvSpPr>
              <p:spPr>
                <a:xfrm>
                  <a:off x="1280" y="2130"/>
                  <a:ext cx="297"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32" name="Group 425"/>
              <p:cNvGrpSpPr/>
              <p:nvPr/>
            </p:nvGrpSpPr>
            <p:grpSpPr>
              <a:xfrm>
                <a:off x="1577" y="2130"/>
                <a:ext cx="285" cy="403"/>
                <a:chOff x="1577" y="2130"/>
                <a:chExt cx="285" cy="403"/>
              </a:xfrm>
            </p:grpSpPr>
            <p:sp>
              <p:nvSpPr>
                <p:cNvPr id="117857" name="Rectangle 426"/>
                <p:cNvSpPr/>
                <p:nvPr/>
              </p:nvSpPr>
              <p:spPr>
                <a:xfrm>
                  <a:off x="1620" y="2130"/>
                  <a:ext cx="199"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0</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58" name="Rectangle 427"/>
                <p:cNvSpPr/>
                <p:nvPr/>
              </p:nvSpPr>
              <p:spPr>
                <a:xfrm>
                  <a:off x="1577" y="2130"/>
                  <a:ext cx="285"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33" name="Group 428"/>
              <p:cNvGrpSpPr/>
              <p:nvPr/>
            </p:nvGrpSpPr>
            <p:grpSpPr>
              <a:xfrm>
                <a:off x="1862" y="2130"/>
                <a:ext cx="295" cy="403"/>
                <a:chOff x="1862" y="2130"/>
                <a:chExt cx="295" cy="403"/>
              </a:xfrm>
            </p:grpSpPr>
            <p:sp>
              <p:nvSpPr>
                <p:cNvPr id="117855" name="Rectangle 429"/>
                <p:cNvSpPr/>
                <p:nvPr/>
              </p:nvSpPr>
              <p:spPr>
                <a:xfrm>
                  <a:off x="1905" y="2130"/>
                  <a:ext cx="209"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3</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56" name="Rectangle 430"/>
                <p:cNvSpPr/>
                <p:nvPr/>
              </p:nvSpPr>
              <p:spPr>
                <a:xfrm>
                  <a:off x="1862" y="2130"/>
                  <a:ext cx="295"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34" name="Group 431"/>
              <p:cNvGrpSpPr/>
              <p:nvPr/>
            </p:nvGrpSpPr>
            <p:grpSpPr>
              <a:xfrm>
                <a:off x="2157" y="2130"/>
                <a:ext cx="297" cy="403"/>
                <a:chOff x="2157" y="2130"/>
                <a:chExt cx="297" cy="403"/>
              </a:xfrm>
            </p:grpSpPr>
            <p:sp>
              <p:nvSpPr>
                <p:cNvPr id="117853" name="Rectangle 432"/>
                <p:cNvSpPr/>
                <p:nvPr/>
              </p:nvSpPr>
              <p:spPr>
                <a:xfrm>
                  <a:off x="2200" y="2130"/>
                  <a:ext cx="211"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2</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54" name="Rectangle 433"/>
                <p:cNvSpPr/>
                <p:nvPr/>
              </p:nvSpPr>
              <p:spPr>
                <a:xfrm>
                  <a:off x="2157" y="2130"/>
                  <a:ext cx="297"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35" name="Group 434"/>
              <p:cNvGrpSpPr/>
              <p:nvPr/>
            </p:nvGrpSpPr>
            <p:grpSpPr>
              <a:xfrm>
                <a:off x="2454" y="2130"/>
                <a:ext cx="297" cy="403"/>
                <a:chOff x="2454" y="2130"/>
                <a:chExt cx="297" cy="403"/>
              </a:xfrm>
            </p:grpSpPr>
            <p:sp>
              <p:nvSpPr>
                <p:cNvPr id="117851" name="Rectangle 435"/>
                <p:cNvSpPr/>
                <p:nvPr/>
              </p:nvSpPr>
              <p:spPr>
                <a:xfrm>
                  <a:off x="2497" y="2130"/>
                  <a:ext cx="211"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1</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52" name="Rectangle 436"/>
                <p:cNvSpPr/>
                <p:nvPr/>
              </p:nvSpPr>
              <p:spPr>
                <a:xfrm>
                  <a:off x="2454" y="2130"/>
                  <a:ext cx="297"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36" name="Group 437"/>
              <p:cNvGrpSpPr/>
              <p:nvPr/>
            </p:nvGrpSpPr>
            <p:grpSpPr>
              <a:xfrm>
                <a:off x="2751" y="2130"/>
                <a:ext cx="340" cy="403"/>
                <a:chOff x="2751" y="2130"/>
                <a:chExt cx="340" cy="403"/>
              </a:xfrm>
            </p:grpSpPr>
            <p:sp>
              <p:nvSpPr>
                <p:cNvPr id="117849" name="Rectangle 438"/>
                <p:cNvSpPr/>
                <p:nvPr/>
              </p:nvSpPr>
              <p:spPr>
                <a:xfrm>
                  <a:off x="2794" y="2130"/>
                  <a:ext cx="254"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1</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50" name="Rectangle 439"/>
                <p:cNvSpPr/>
                <p:nvPr/>
              </p:nvSpPr>
              <p:spPr>
                <a:xfrm>
                  <a:off x="2751" y="2130"/>
                  <a:ext cx="340"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37" name="Group 440"/>
              <p:cNvGrpSpPr/>
              <p:nvPr/>
            </p:nvGrpSpPr>
            <p:grpSpPr>
              <a:xfrm>
                <a:off x="3091" y="2130"/>
                <a:ext cx="374" cy="403"/>
                <a:chOff x="3091" y="2130"/>
                <a:chExt cx="374" cy="403"/>
              </a:xfrm>
            </p:grpSpPr>
            <p:sp>
              <p:nvSpPr>
                <p:cNvPr id="117847" name="Rectangle 441"/>
                <p:cNvSpPr/>
                <p:nvPr/>
              </p:nvSpPr>
              <p:spPr>
                <a:xfrm>
                  <a:off x="3134" y="2130"/>
                  <a:ext cx="288"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9</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48" name="Rectangle 442"/>
                <p:cNvSpPr/>
                <p:nvPr/>
              </p:nvSpPr>
              <p:spPr>
                <a:xfrm>
                  <a:off x="3091" y="2130"/>
                  <a:ext cx="374"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38" name="Group 443"/>
              <p:cNvGrpSpPr/>
              <p:nvPr/>
            </p:nvGrpSpPr>
            <p:grpSpPr>
              <a:xfrm>
                <a:off x="3465" y="2130"/>
                <a:ext cx="302" cy="403"/>
                <a:chOff x="3465" y="2130"/>
                <a:chExt cx="302" cy="403"/>
              </a:xfrm>
            </p:grpSpPr>
            <p:sp>
              <p:nvSpPr>
                <p:cNvPr id="117845" name="Rectangle 444"/>
                <p:cNvSpPr/>
                <p:nvPr/>
              </p:nvSpPr>
              <p:spPr>
                <a:xfrm>
                  <a:off x="3508" y="2130"/>
                  <a:ext cx="216"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3</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46" name="Rectangle 445"/>
                <p:cNvSpPr/>
                <p:nvPr/>
              </p:nvSpPr>
              <p:spPr>
                <a:xfrm>
                  <a:off x="3465" y="2130"/>
                  <a:ext cx="30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39" name="Group 446"/>
              <p:cNvGrpSpPr/>
              <p:nvPr/>
            </p:nvGrpSpPr>
            <p:grpSpPr>
              <a:xfrm>
                <a:off x="3767" y="2130"/>
                <a:ext cx="446" cy="403"/>
                <a:chOff x="3767" y="2130"/>
                <a:chExt cx="446" cy="403"/>
              </a:xfrm>
            </p:grpSpPr>
            <p:sp>
              <p:nvSpPr>
                <p:cNvPr id="117843" name="Rectangle 447"/>
                <p:cNvSpPr/>
                <p:nvPr/>
              </p:nvSpPr>
              <p:spPr>
                <a:xfrm>
                  <a:off x="3810" y="2130"/>
                  <a:ext cx="360"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6</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44" name="Rectangle 448"/>
                <p:cNvSpPr/>
                <p:nvPr/>
              </p:nvSpPr>
              <p:spPr>
                <a:xfrm>
                  <a:off x="3767" y="2130"/>
                  <a:ext cx="44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7840" name="Group 449"/>
              <p:cNvGrpSpPr/>
              <p:nvPr/>
            </p:nvGrpSpPr>
            <p:grpSpPr>
              <a:xfrm>
                <a:off x="4213" y="2130"/>
                <a:ext cx="518" cy="403"/>
                <a:chOff x="4213" y="2130"/>
                <a:chExt cx="518" cy="403"/>
              </a:xfrm>
            </p:grpSpPr>
            <p:sp>
              <p:nvSpPr>
                <p:cNvPr id="117841" name="Rectangle 450"/>
                <p:cNvSpPr/>
                <p:nvPr/>
              </p:nvSpPr>
              <p:spPr>
                <a:xfrm>
                  <a:off x="4256" y="2130"/>
                  <a:ext cx="432" cy="403"/>
                </a:xfrm>
                <a:prstGeom prst="rect">
                  <a:avLst/>
                </a:prstGeom>
                <a:noFill/>
                <a:ln w="9525">
                  <a:noFill/>
                </a:ln>
              </p:spPr>
              <p:txBody>
                <a:bodyPr/>
                <a:p>
                  <a:pPr algn="ctr" eaLnBrk="1" hangingPunct="1"/>
                  <a:r>
                    <a:rPr lang="en-US" altLang="zh-CN" sz="1400" b="1" dirty="0">
                      <a:solidFill>
                        <a:srgbClr val="003300"/>
                      </a:solidFill>
                      <a:latin typeface="Times New Roman" panose="02020603050405020304" pitchFamily="18" charset="0"/>
                    </a:rPr>
                    <a:t>True</a:t>
                  </a:r>
                  <a:endParaRPr lang="en-US" altLang="zh-CN" sz="1400" dirty="0">
                    <a:solidFill>
                      <a:srgbClr val="003300"/>
                    </a:solidFill>
                    <a:latin typeface="Times New Roman" panose="02020603050405020304" pitchFamily="18" charset="0"/>
                  </a:endParaRPr>
                </a:p>
                <a:p>
                  <a:pPr algn="ctr"/>
                  <a:endParaRPr lang="en-US" altLang="zh-CN" sz="1400" dirty="0">
                    <a:solidFill>
                      <a:srgbClr val="003300"/>
                    </a:solidFill>
                    <a:latin typeface="Times New Roman" panose="02020603050405020304" pitchFamily="18" charset="0"/>
                  </a:endParaRPr>
                </a:p>
              </p:txBody>
            </p:sp>
            <p:sp>
              <p:nvSpPr>
                <p:cNvPr id="117842" name="Rectangle 451"/>
                <p:cNvSpPr/>
                <p:nvPr/>
              </p:nvSpPr>
              <p:spPr>
                <a:xfrm>
                  <a:off x="4213" y="2130"/>
                  <a:ext cx="518"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sp>
          <p:nvSpPr>
            <p:cNvPr id="117766" name="Rectangle 452"/>
            <p:cNvSpPr/>
            <p:nvPr/>
          </p:nvSpPr>
          <p:spPr>
            <a:xfrm>
              <a:off x="-3" y="-3"/>
              <a:ext cx="4737" cy="2539"/>
            </a:xfrm>
            <a:prstGeom prst="rect">
              <a:avLst/>
            </a:prstGeom>
            <a:noFill/>
            <a:ln w="9525"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sp>
        <p:nvSpPr>
          <p:cNvPr id="459205" name="Text Box 453"/>
          <p:cNvSpPr txBox="1">
            <a:spLocks noChangeArrowheads="1"/>
          </p:cNvSpPr>
          <p:nvPr/>
        </p:nvSpPr>
        <p:spPr bwMode="auto">
          <a:xfrm>
            <a:off x="228600" y="5791200"/>
            <a:ext cx="8305800" cy="457200"/>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defTabSz="914400" eaLnBrk="1" hangingPunct="1">
              <a:spcBef>
                <a:spcPct val="50000"/>
              </a:spcBef>
              <a:buClrTx/>
              <a:buSzTx/>
              <a:buFontTx/>
              <a:buNone/>
              <a:defRPr/>
            </a:pPr>
            <a:r>
              <a:rPr kumimoji="0" lang="zh-CN" altLang="en-US" sz="2400" b="1" kern="1200" cap="none" spc="0" normalizeH="0" baseline="0" noProof="0">
                <a:solidFill>
                  <a:schemeClr val="folHlink"/>
                </a:solidFill>
                <a:latin typeface="Arial" panose="020B0604020202020204" pitchFamily="34" charset="0"/>
                <a:ea typeface="宋体" panose="02010600030101010101" pitchFamily="2" charset="-122"/>
                <a:cs typeface="+mn-cs"/>
              </a:rPr>
              <a:t>思考：你觉得还有那些安全序列？</a:t>
            </a:r>
            <a:endParaRPr kumimoji="0" lang="zh-CN" altLang="en-US" sz="2400" b="1" kern="1200" cap="none" spc="0" normalizeH="0" baseline="0" noProof="0">
              <a:solidFill>
                <a:schemeClr val="folHlink"/>
              </a:solidFill>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9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205"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2"/>
          <p:cNvSpPr>
            <a:spLocks noGrp="1" noRot="1"/>
          </p:cNvSpPr>
          <p:nvPr>
            <p:ph type="title" idx="4294967295"/>
          </p:nvPr>
        </p:nvSpPr>
        <p:spPr>
          <a:ln/>
        </p:spPr>
        <p:txBody>
          <a:bodyPr vert="horz" wrap="square" lIns="91440" tIns="45720" rIns="91440" bIns="45720" anchor="ctr" anchorCtr="0"/>
          <a:p>
            <a:pPr eaLnBrk="1" hangingPunct="1"/>
            <a:endParaRPr lang="zh-CN" altLang="zh-CN" dirty="0"/>
          </a:p>
        </p:txBody>
      </p:sp>
      <p:sp>
        <p:nvSpPr>
          <p:cNvPr id="459779"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假设</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T</a:t>
            </a:r>
            <a:r>
              <a:rPr kumimoji="0" lang="en-US" altLang="zh-CN" sz="2800" b="1" i="0" u="none" strike="noStrike" kern="0" cap="none" spc="0" normalizeH="0" baseline="-3000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0</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时刻，进程</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P1</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申请资源，其请求向量为</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Request</a:t>
            </a:r>
            <a:r>
              <a:rPr kumimoji="0" lang="en-US" altLang="zh-CN" sz="2800" b="1" i="0" u="none" strike="noStrike" kern="0" cap="none" spc="0" normalizeH="0" baseline="-3000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(0,0,1),</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系统按银行家算法进行检查：</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Request</a:t>
            </a:r>
            <a:r>
              <a:rPr kumimoji="0" lang="en-US" altLang="zh-CN" sz="2800" b="1" i="0" u="none" strike="noStrike" kern="0" cap="none" spc="0" normalizeH="0" baseline="-3000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(0,0,1) ≤ Need</a:t>
            </a:r>
            <a:r>
              <a:rPr kumimoji="0" lang="en-US" altLang="zh-CN" sz="2800" b="1" i="0" u="none" strike="noStrike" kern="0" cap="none" spc="0" normalizeH="0" baseline="-3000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(2,2,2)</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，且</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Request</a:t>
            </a:r>
            <a:r>
              <a:rPr kumimoji="0" lang="en-US" altLang="zh-CN" sz="2800" b="1" i="0" u="none" strike="noStrike" kern="0" cap="none" spc="0" normalizeH="0" baseline="-3000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(0,0,1) ≤ Available (0,1,1)</a:t>
            </a:r>
            <a:endPar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endPar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故，系统试探性地为</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P1</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分配资源，并修改</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Available,Allocation</a:t>
            </a:r>
            <a:r>
              <a:rPr kumimoji="0" lang="en-US" altLang="zh-CN" sz="2800" b="1" i="0" u="none" strike="noStrike" kern="0" cap="none" spc="0" normalizeH="0" baseline="-3000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和</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Need</a:t>
            </a:r>
            <a:r>
              <a:rPr kumimoji="0" lang="en-US" altLang="zh-CN" sz="2800" b="1" i="0" u="none" strike="noStrike" kern="0" cap="none" spc="0" normalizeH="0" baseline="-3000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向量如表</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2.6</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所示。</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121858"/>
                                        </p:tgtEl>
                                        <p:attrNameLst>
                                          <p:attrName>style.visibility</p:attrName>
                                        </p:attrNameLst>
                                      </p:cBhvr>
                                      <p:to>
                                        <p:strVal val="visible"/>
                                      </p:to>
                                    </p:set>
                                    <p:animEffect transition="in" filter="fade">
                                      <p:cBhvr>
                                        <p:cTn id="7" dur="2000"/>
                                        <p:tgtEl>
                                          <p:spTgt spid="1218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9779">
                                            <p:txEl>
                                              <p:charRg st="0" end="52"/>
                                            </p:txEl>
                                          </p:spTgt>
                                        </p:tgtEl>
                                        <p:attrNameLst>
                                          <p:attrName>style.visibility</p:attrName>
                                        </p:attrNameLst>
                                      </p:cBhvr>
                                      <p:to>
                                        <p:strVal val="visible"/>
                                      </p:to>
                                    </p:set>
                                    <p:animEffect transition="in" filter="fade">
                                      <p:cBhvr>
                                        <p:cTn id="12" dur="2000"/>
                                        <p:tgtEl>
                                          <p:spTgt spid="459779">
                                            <p:txEl>
                                              <p:charRg st="0" end="5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59779">
                                            <p:txEl>
                                              <p:charRg st="52" end="86"/>
                                            </p:txEl>
                                          </p:spTgt>
                                        </p:tgtEl>
                                        <p:attrNameLst>
                                          <p:attrName>style.visibility</p:attrName>
                                        </p:attrNameLst>
                                      </p:cBhvr>
                                      <p:to>
                                        <p:strVal val="visible"/>
                                      </p:to>
                                    </p:set>
                                    <p:animEffect transition="in" filter="fade">
                                      <p:cBhvr>
                                        <p:cTn id="17" dur="2000"/>
                                        <p:tgtEl>
                                          <p:spTgt spid="459779">
                                            <p:txEl>
                                              <p:charRg st="52" end="8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59779">
                                            <p:txEl>
                                              <p:charRg st="86" end="123"/>
                                            </p:txEl>
                                          </p:spTgt>
                                        </p:tgtEl>
                                        <p:attrNameLst>
                                          <p:attrName>style.visibility</p:attrName>
                                        </p:attrNameLst>
                                      </p:cBhvr>
                                      <p:to>
                                        <p:strVal val="visible"/>
                                      </p:to>
                                    </p:set>
                                    <p:animEffect transition="in" filter="fade">
                                      <p:cBhvr>
                                        <p:cTn id="22" dur="2000"/>
                                        <p:tgtEl>
                                          <p:spTgt spid="459779">
                                            <p:txEl>
                                              <p:charRg st="86" end="12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59779">
                                            <p:txEl>
                                              <p:charRg st="124" end="181"/>
                                            </p:txEl>
                                          </p:spTgt>
                                        </p:tgtEl>
                                        <p:attrNameLst>
                                          <p:attrName>style.visibility</p:attrName>
                                        </p:attrNameLst>
                                      </p:cBhvr>
                                      <p:to>
                                        <p:strVal val="visible"/>
                                      </p:to>
                                    </p:set>
                                    <p:animEffect transition="in" filter="fade">
                                      <p:cBhvr>
                                        <p:cTn id="27" dur="2000"/>
                                        <p:tgtEl>
                                          <p:spTgt spid="459779">
                                            <p:txEl>
                                              <p:charRg st="124" end="18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8" grpId="0"/>
      <p:bldP spid="459779"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2"/>
          <p:cNvSpPr/>
          <p:nvPr/>
        </p:nvSpPr>
        <p:spPr>
          <a:xfrm>
            <a:off x="1063625" y="1830388"/>
            <a:ext cx="9144000" cy="0"/>
          </a:xfrm>
          <a:prstGeom prst="rect">
            <a:avLst/>
          </a:prstGeom>
          <a:noFill/>
          <a:ln w="9525">
            <a:noFill/>
          </a:ln>
        </p:spPr>
        <p:txBody>
          <a:bodyPr>
            <a:spAutoFit/>
          </a:bodyPr>
          <a:p>
            <a:pPr eaLnBrk="1" hangingPunct="1"/>
            <a:endParaRPr lang="zh-CN" altLang="zh-CN" dirty="0">
              <a:latin typeface="Arial" panose="020B0604020202020204" pitchFamily="34" charset="0"/>
            </a:endParaRPr>
          </a:p>
        </p:txBody>
      </p:sp>
      <p:sp>
        <p:nvSpPr>
          <p:cNvPr id="119811" name="Rectangle 3"/>
          <p:cNvSpPr/>
          <p:nvPr/>
        </p:nvSpPr>
        <p:spPr>
          <a:xfrm>
            <a:off x="1063625" y="19870738"/>
            <a:ext cx="9144000" cy="0"/>
          </a:xfrm>
          <a:prstGeom prst="rect">
            <a:avLst/>
          </a:prstGeom>
          <a:noFill/>
          <a:ln w="9525">
            <a:noFill/>
          </a:ln>
        </p:spPr>
        <p:txBody>
          <a:bodyPr>
            <a:spAutoFit/>
          </a:bodyPr>
          <a:p>
            <a:pPr eaLnBrk="1" hangingPunct="1"/>
            <a:endParaRPr lang="zh-CN" altLang="zh-CN" dirty="0">
              <a:latin typeface="Arial" panose="020B0604020202020204" pitchFamily="34" charset="0"/>
            </a:endParaRPr>
          </a:p>
        </p:txBody>
      </p:sp>
      <p:sp>
        <p:nvSpPr>
          <p:cNvPr id="119812" name="Rectangle 4"/>
          <p:cNvSpPr/>
          <p:nvPr/>
        </p:nvSpPr>
        <p:spPr>
          <a:xfrm>
            <a:off x="1063625" y="24958675"/>
            <a:ext cx="9144000" cy="0"/>
          </a:xfrm>
          <a:prstGeom prst="rect">
            <a:avLst/>
          </a:prstGeom>
          <a:noFill/>
          <a:ln w="9525">
            <a:noFill/>
          </a:ln>
        </p:spPr>
        <p:txBody>
          <a:bodyPr>
            <a:spAutoFit/>
          </a:bodyPr>
          <a:p>
            <a:pPr eaLnBrk="1" hangingPunct="1"/>
            <a:endParaRPr lang="zh-CN" altLang="zh-CN" dirty="0">
              <a:latin typeface="Arial" panose="020B0604020202020204" pitchFamily="34" charset="0"/>
            </a:endParaRPr>
          </a:p>
        </p:txBody>
      </p:sp>
      <p:sp>
        <p:nvSpPr>
          <p:cNvPr id="119813" name="Rectangle 5"/>
          <p:cNvSpPr/>
          <p:nvPr/>
        </p:nvSpPr>
        <p:spPr>
          <a:xfrm>
            <a:off x="1063625" y="30046613"/>
            <a:ext cx="9144000" cy="0"/>
          </a:xfrm>
          <a:prstGeom prst="rect">
            <a:avLst/>
          </a:prstGeom>
          <a:noFill/>
          <a:ln w="9525">
            <a:noFill/>
          </a:ln>
        </p:spPr>
        <p:txBody>
          <a:bodyPr>
            <a:spAutoFit/>
          </a:bodyPr>
          <a:p>
            <a:pPr eaLnBrk="1" hangingPunct="1"/>
            <a:endParaRPr lang="zh-CN" altLang="zh-CN" dirty="0">
              <a:latin typeface="Arial" panose="020B0604020202020204" pitchFamily="34" charset="0"/>
            </a:endParaRPr>
          </a:p>
        </p:txBody>
      </p:sp>
      <p:sp>
        <p:nvSpPr>
          <p:cNvPr id="460962" name="Rectangle 162"/>
          <p:cNvSpPr>
            <a:spLocks noChangeArrowheads="1"/>
          </p:cNvSpPr>
          <p:nvPr/>
        </p:nvSpPr>
        <p:spPr bwMode="auto">
          <a:xfrm>
            <a:off x="228600" y="4365625"/>
            <a:ext cx="8686800" cy="2308225"/>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         </a:t>
            </a:r>
            <a:r>
              <a:rPr kumimoji="1" lang="zh-CN" altLang="en-US" sz="2400" b="1" i="0" u="none" strike="noStrike" kern="1200" cap="none" spc="0" normalizeH="0" baseline="0" noProof="0" dirty="0">
                <a:ln>
                  <a:noFill/>
                </a:ln>
                <a:solidFill>
                  <a:schemeClr val="folHlink"/>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利用安全性算法检查此时系统是否安全</a:t>
            </a:r>
            <a:r>
              <a:rPr kumimoji="1" lang="en-US" altLang="zh-CN" sz="2400" b="1" i="0" u="none" strike="noStrike" kern="1200" cap="none" spc="0" normalizeH="0" baseline="0" noProof="0" dirty="0">
                <a:ln>
                  <a:noFill/>
                </a:ln>
                <a:solidFill>
                  <a:schemeClr val="folHlink"/>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a:t>
            </a:r>
            <a:endParaRPr kumimoji="1" lang="en-US" altLang="zh-CN" sz="2400" b="1" i="0" u="none" strike="noStrike" kern="1200" cap="none" spc="0" normalizeH="0" baseline="0" noProof="0" dirty="0">
              <a:ln>
                <a:noFill/>
              </a:ln>
              <a:solidFill>
                <a:schemeClr val="folHlink"/>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Char char="•"/>
              <a:defRPr/>
            </a:pP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此时，系统的可用资源向量为</a:t>
            </a:r>
            <a:r>
              <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Available</a:t>
            </a: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a:t>
            </a:r>
            <a:r>
              <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0,1,0</a:t>
            </a: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），比较各进程的需求向量</a:t>
            </a:r>
            <a:r>
              <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Need</a:t>
            </a: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，系统不能满足任何进程的资源请求，系统进入不安全状态。</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Char char="•"/>
              <a:defRPr/>
            </a:pP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所以，</a:t>
            </a:r>
            <a:r>
              <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P1</a:t>
            </a: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请求的资源不能分配，</a:t>
            </a:r>
            <a:r>
              <a:rPr kumimoji="0" lang="zh-CN" altLang="en-US" sz="24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将本次的试探分配作废，恢复原来的资源分配状态，</a:t>
            </a: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让进程</a:t>
            </a:r>
            <a:r>
              <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P1</a:t>
            </a: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阻塞等待。</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p:txBody>
      </p:sp>
      <p:sp>
        <p:nvSpPr>
          <p:cNvPr id="119815" name="Rectangle 163"/>
          <p:cNvSpPr/>
          <p:nvPr/>
        </p:nvSpPr>
        <p:spPr>
          <a:xfrm>
            <a:off x="0" y="228600"/>
            <a:ext cx="9144000" cy="4114800"/>
          </a:xfrm>
          <a:prstGeom prst="rect">
            <a:avLst/>
          </a:prstGeom>
          <a:solidFill>
            <a:srgbClr val="CCFFFF"/>
          </a:solidFill>
          <a:ln w="9525">
            <a:noFill/>
          </a:ln>
          <a:effectLst>
            <a:prstShdw prst="shdw17" dist="17961" dir="13499999">
              <a:srgbClr val="050505"/>
            </a:prstShdw>
          </a:effectLst>
        </p:spPr>
        <p:txBody>
          <a:bodyPr wrap="none" anchor="ctr" anchorCtr="0"/>
          <a:p>
            <a:pPr eaLnBrk="1" hangingPunct="1"/>
            <a:endParaRPr lang="zh-CN" altLang="en-US" dirty="0">
              <a:latin typeface="Arial" panose="020B0604020202020204" pitchFamily="34" charset="0"/>
            </a:endParaRPr>
          </a:p>
        </p:txBody>
      </p:sp>
      <p:grpSp>
        <p:nvGrpSpPr>
          <p:cNvPr id="119816" name="Group 164"/>
          <p:cNvGrpSpPr/>
          <p:nvPr/>
        </p:nvGrpSpPr>
        <p:grpSpPr>
          <a:xfrm>
            <a:off x="228600" y="457200"/>
            <a:ext cx="8153400" cy="3582988"/>
            <a:chOff x="-3" y="-3"/>
            <a:chExt cx="4427" cy="2257"/>
          </a:xfrm>
        </p:grpSpPr>
        <p:grpSp>
          <p:nvGrpSpPr>
            <p:cNvPr id="119817" name="Group 165"/>
            <p:cNvGrpSpPr/>
            <p:nvPr/>
          </p:nvGrpSpPr>
          <p:grpSpPr>
            <a:xfrm>
              <a:off x="0" y="0"/>
              <a:ext cx="4421" cy="2251"/>
              <a:chOff x="0" y="0"/>
              <a:chExt cx="4421" cy="2251"/>
            </a:xfrm>
          </p:grpSpPr>
          <p:grpSp>
            <p:nvGrpSpPr>
              <p:cNvPr id="119819" name="Group 166"/>
              <p:cNvGrpSpPr/>
              <p:nvPr/>
            </p:nvGrpSpPr>
            <p:grpSpPr>
              <a:xfrm>
                <a:off x="0" y="0"/>
                <a:ext cx="489" cy="639"/>
                <a:chOff x="0" y="0"/>
                <a:chExt cx="489" cy="639"/>
              </a:xfrm>
            </p:grpSpPr>
            <p:sp>
              <p:nvSpPr>
                <p:cNvPr id="119970" name="Rectangle 167"/>
                <p:cNvSpPr/>
                <p:nvPr/>
              </p:nvSpPr>
              <p:spPr>
                <a:xfrm>
                  <a:off x="43" y="0"/>
                  <a:ext cx="403" cy="639"/>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 </a:t>
                  </a:r>
                  <a:endParaRPr lang="en-US" altLang="zh-CN" dirty="0">
                    <a:solidFill>
                      <a:srgbClr val="003300"/>
                    </a:solidFill>
                    <a:latin typeface="Times New Roman" panose="02020603050405020304" pitchFamily="18" charset="0"/>
                  </a:endParaRPr>
                </a:p>
                <a:p>
                  <a:pPr algn="ctr"/>
                  <a:r>
                    <a:rPr lang="zh-CN" altLang="en-US" b="1" dirty="0">
                      <a:solidFill>
                        <a:srgbClr val="003300"/>
                      </a:solidFill>
                      <a:latin typeface="Times New Roman" panose="02020603050405020304" pitchFamily="18" charset="0"/>
                    </a:rPr>
                    <a:t>进程</a:t>
                  </a:r>
                  <a:endParaRPr lang="zh-CN" altLang="en-US"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71" name="Rectangle 168"/>
                <p:cNvSpPr/>
                <p:nvPr/>
              </p:nvSpPr>
              <p:spPr>
                <a:xfrm>
                  <a:off x="0" y="0"/>
                  <a:ext cx="489" cy="639"/>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20" name="Group 169"/>
              <p:cNvGrpSpPr/>
              <p:nvPr/>
            </p:nvGrpSpPr>
            <p:grpSpPr>
              <a:xfrm>
                <a:off x="489" y="0"/>
                <a:ext cx="1290" cy="236"/>
                <a:chOff x="489" y="0"/>
                <a:chExt cx="1290" cy="236"/>
              </a:xfrm>
            </p:grpSpPr>
            <p:sp>
              <p:nvSpPr>
                <p:cNvPr id="119968" name="Rectangle 170"/>
                <p:cNvSpPr/>
                <p:nvPr/>
              </p:nvSpPr>
              <p:spPr>
                <a:xfrm>
                  <a:off x="532" y="0"/>
                  <a:ext cx="1204" cy="236"/>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Allocation</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69" name="Rectangle 171"/>
                <p:cNvSpPr/>
                <p:nvPr/>
              </p:nvSpPr>
              <p:spPr>
                <a:xfrm>
                  <a:off x="489" y="0"/>
                  <a:ext cx="1290" cy="236"/>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21" name="Group 172"/>
              <p:cNvGrpSpPr/>
              <p:nvPr/>
            </p:nvGrpSpPr>
            <p:grpSpPr>
              <a:xfrm>
                <a:off x="1779" y="0"/>
                <a:ext cx="1150" cy="236"/>
                <a:chOff x="1779" y="0"/>
                <a:chExt cx="1150" cy="236"/>
              </a:xfrm>
            </p:grpSpPr>
            <p:sp>
              <p:nvSpPr>
                <p:cNvPr id="119966" name="Rectangle 173"/>
                <p:cNvSpPr/>
                <p:nvPr/>
              </p:nvSpPr>
              <p:spPr>
                <a:xfrm>
                  <a:off x="1822" y="0"/>
                  <a:ext cx="1064" cy="236"/>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Need</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67" name="Rectangle 174"/>
                <p:cNvSpPr/>
                <p:nvPr/>
              </p:nvSpPr>
              <p:spPr>
                <a:xfrm>
                  <a:off x="1779" y="0"/>
                  <a:ext cx="1150" cy="236"/>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22" name="Group 175"/>
              <p:cNvGrpSpPr/>
              <p:nvPr/>
            </p:nvGrpSpPr>
            <p:grpSpPr>
              <a:xfrm>
                <a:off x="2929" y="0"/>
                <a:ext cx="1342" cy="236"/>
                <a:chOff x="2929" y="0"/>
                <a:chExt cx="1342" cy="236"/>
              </a:xfrm>
            </p:grpSpPr>
            <p:sp>
              <p:nvSpPr>
                <p:cNvPr id="119964" name="Rectangle 176"/>
                <p:cNvSpPr/>
                <p:nvPr/>
              </p:nvSpPr>
              <p:spPr>
                <a:xfrm>
                  <a:off x="2972" y="0"/>
                  <a:ext cx="1256" cy="236"/>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Available</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65" name="Rectangle 177"/>
                <p:cNvSpPr/>
                <p:nvPr/>
              </p:nvSpPr>
              <p:spPr>
                <a:xfrm>
                  <a:off x="2929" y="0"/>
                  <a:ext cx="1342" cy="236"/>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23" name="Group 178"/>
              <p:cNvGrpSpPr/>
              <p:nvPr/>
            </p:nvGrpSpPr>
            <p:grpSpPr>
              <a:xfrm>
                <a:off x="4271" y="0"/>
                <a:ext cx="150" cy="118"/>
                <a:chOff x="4271" y="0"/>
                <a:chExt cx="150" cy="118"/>
              </a:xfrm>
            </p:grpSpPr>
            <p:sp>
              <p:nvSpPr>
                <p:cNvPr id="119962" name="Rectangle 179"/>
                <p:cNvSpPr/>
                <p:nvPr/>
              </p:nvSpPr>
              <p:spPr>
                <a:xfrm>
                  <a:off x="4271" y="0"/>
                  <a:ext cx="150" cy="118"/>
                </a:xfrm>
                <a:prstGeom prst="rect">
                  <a:avLst/>
                </a:prstGeom>
                <a:noFill/>
                <a:ln w="9525">
                  <a:noFill/>
                </a:ln>
              </p:spPr>
              <p:txBody>
                <a:bodyPr>
                  <a:spAutoFit/>
                </a:bodyPr>
                <a:p>
                  <a:pPr eaLnBrk="1" hangingPunct="1"/>
                  <a:endParaRPr lang="zh-CN" altLang="zh-CN" dirty="0">
                    <a:latin typeface="Arial" panose="020B0604020202020204" pitchFamily="34" charset="0"/>
                  </a:endParaRPr>
                </a:p>
              </p:txBody>
            </p:sp>
            <p:sp>
              <p:nvSpPr>
                <p:cNvPr id="119963" name="Rectangle 180"/>
                <p:cNvSpPr/>
                <p:nvPr/>
              </p:nvSpPr>
              <p:spPr>
                <a:xfrm>
                  <a:off x="4271" y="0"/>
                  <a:ext cx="150" cy="1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24" name="Group 181"/>
              <p:cNvGrpSpPr/>
              <p:nvPr/>
            </p:nvGrpSpPr>
            <p:grpSpPr>
              <a:xfrm>
                <a:off x="4271" y="118"/>
                <a:ext cx="150" cy="118"/>
                <a:chOff x="4271" y="118"/>
                <a:chExt cx="150" cy="118"/>
              </a:xfrm>
            </p:grpSpPr>
            <p:sp>
              <p:nvSpPr>
                <p:cNvPr id="119960" name="Rectangle 182"/>
                <p:cNvSpPr/>
                <p:nvPr/>
              </p:nvSpPr>
              <p:spPr>
                <a:xfrm>
                  <a:off x="4271" y="118"/>
                  <a:ext cx="150" cy="118"/>
                </a:xfrm>
                <a:prstGeom prst="rect">
                  <a:avLst/>
                </a:prstGeom>
                <a:noFill/>
                <a:ln w="9525">
                  <a:noFill/>
                </a:ln>
              </p:spPr>
              <p:txBody>
                <a:bodyPr>
                  <a:spAutoFit/>
                </a:bodyPr>
                <a:p>
                  <a:pPr eaLnBrk="1" hangingPunct="1"/>
                  <a:endParaRPr lang="zh-CN" altLang="zh-CN" dirty="0">
                    <a:latin typeface="Arial" panose="020B0604020202020204" pitchFamily="34" charset="0"/>
                  </a:endParaRPr>
                </a:p>
              </p:txBody>
            </p:sp>
            <p:sp>
              <p:nvSpPr>
                <p:cNvPr id="119961" name="Rectangle 183"/>
                <p:cNvSpPr/>
                <p:nvPr/>
              </p:nvSpPr>
              <p:spPr>
                <a:xfrm>
                  <a:off x="4271" y="118"/>
                  <a:ext cx="150" cy="118"/>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25" name="Group 184"/>
              <p:cNvGrpSpPr/>
              <p:nvPr/>
            </p:nvGrpSpPr>
            <p:grpSpPr>
              <a:xfrm>
                <a:off x="489" y="236"/>
                <a:ext cx="374" cy="403"/>
                <a:chOff x="489" y="236"/>
                <a:chExt cx="374" cy="403"/>
              </a:xfrm>
            </p:grpSpPr>
            <p:sp>
              <p:nvSpPr>
                <p:cNvPr id="119958" name="Rectangle 185"/>
                <p:cNvSpPr/>
                <p:nvPr/>
              </p:nvSpPr>
              <p:spPr>
                <a:xfrm>
                  <a:off x="532" y="236"/>
                  <a:ext cx="288"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R1</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59" name="Rectangle 186"/>
                <p:cNvSpPr/>
                <p:nvPr/>
              </p:nvSpPr>
              <p:spPr>
                <a:xfrm>
                  <a:off x="489" y="236"/>
                  <a:ext cx="374"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26" name="Group 187"/>
              <p:cNvGrpSpPr/>
              <p:nvPr/>
            </p:nvGrpSpPr>
            <p:grpSpPr>
              <a:xfrm>
                <a:off x="863" y="236"/>
                <a:ext cx="446" cy="403"/>
                <a:chOff x="863" y="236"/>
                <a:chExt cx="446" cy="403"/>
              </a:xfrm>
            </p:grpSpPr>
            <p:sp>
              <p:nvSpPr>
                <p:cNvPr id="119956" name="Rectangle 188"/>
                <p:cNvSpPr/>
                <p:nvPr/>
              </p:nvSpPr>
              <p:spPr>
                <a:xfrm>
                  <a:off x="906" y="236"/>
                  <a:ext cx="360"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R2</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57" name="Rectangle 189"/>
                <p:cNvSpPr/>
                <p:nvPr/>
              </p:nvSpPr>
              <p:spPr>
                <a:xfrm>
                  <a:off x="863" y="236"/>
                  <a:ext cx="44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27" name="Group 190"/>
              <p:cNvGrpSpPr/>
              <p:nvPr/>
            </p:nvGrpSpPr>
            <p:grpSpPr>
              <a:xfrm>
                <a:off x="1309" y="236"/>
                <a:ext cx="470" cy="403"/>
                <a:chOff x="1309" y="236"/>
                <a:chExt cx="470" cy="403"/>
              </a:xfrm>
            </p:grpSpPr>
            <p:sp>
              <p:nvSpPr>
                <p:cNvPr id="119954" name="Rectangle 191"/>
                <p:cNvSpPr/>
                <p:nvPr/>
              </p:nvSpPr>
              <p:spPr>
                <a:xfrm>
                  <a:off x="1352" y="236"/>
                  <a:ext cx="384"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R3</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55" name="Rectangle 192"/>
                <p:cNvSpPr/>
                <p:nvPr/>
              </p:nvSpPr>
              <p:spPr>
                <a:xfrm>
                  <a:off x="1309" y="236"/>
                  <a:ext cx="470"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28" name="Group 193"/>
              <p:cNvGrpSpPr/>
              <p:nvPr/>
            </p:nvGrpSpPr>
            <p:grpSpPr>
              <a:xfrm>
                <a:off x="1779" y="236"/>
                <a:ext cx="412" cy="403"/>
                <a:chOff x="1779" y="236"/>
                <a:chExt cx="412" cy="403"/>
              </a:xfrm>
            </p:grpSpPr>
            <p:sp>
              <p:nvSpPr>
                <p:cNvPr id="119952" name="Rectangle 194"/>
                <p:cNvSpPr/>
                <p:nvPr/>
              </p:nvSpPr>
              <p:spPr>
                <a:xfrm>
                  <a:off x="1822" y="236"/>
                  <a:ext cx="326"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R1</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53" name="Rectangle 195"/>
                <p:cNvSpPr/>
                <p:nvPr/>
              </p:nvSpPr>
              <p:spPr>
                <a:xfrm>
                  <a:off x="1779" y="236"/>
                  <a:ext cx="41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29" name="Group 196"/>
              <p:cNvGrpSpPr/>
              <p:nvPr/>
            </p:nvGrpSpPr>
            <p:grpSpPr>
              <a:xfrm>
                <a:off x="2191" y="236"/>
                <a:ext cx="369" cy="403"/>
                <a:chOff x="2191" y="236"/>
                <a:chExt cx="369" cy="403"/>
              </a:xfrm>
            </p:grpSpPr>
            <p:sp>
              <p:nvSpPr>
                <p:cNvPr id="119950" name="Rectangle 197"/>
                <p:cNvSpPr/>
                <p:nvPr/>
              </p:nvSpPr>
              <p:spPr>
                <a:xfrm>
                  <a:off x="2234" y="236"/>
                  <a:ext cx="283"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R2</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51" name="Rectangle 198"/>
                <p:cNvSpPr/>
                <p:nvPr/>
              </p:nvSpPr>
              <p:spPr>
                <a:xfrm>
                  <a:off x="2191" y="236"/>
                  <a:ext cx="36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30" name="Group 199"/>
              <p:cNvGrpSpPr/>
              <p:nvPr/>
            </p:nvGrpSpPr>
            <p:grpSpPr>
              <a:xfrm>
                <a:off x="2560" y="236"/>
                <a:ext cx="369" cy="403"/>
                <a:chOff x="2560" y="236"/>
                <a:chExt cx="369" cy="403"/>
              </a:xfrm>
            </p:grpSpPr>
            <p:sp>
              <p:nvSpPr>
                <p:cNvPr id="119948" name="Rectangle 200"/>
                <p:cNvSpPr/>
                <p:nvPr/>
              </p:nvSpPr>
              <p:spPr>
                <a:xfrm>
                  <a:off x="2603" y="236"/>
                  <a:ext cx="283"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R3</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49" name="Rectangle 201"/>
                <p:cNvSpPr/>
                <p:nvPr/>
              </p:nvSpPr>
              <p:spPr>
                <a:xfrm>
                  <a:off x="2560" y="236"/>
                  <a:ext cx="36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31" name="Group 202"/>
              <p:cNvGrpSpPr/>
              <p:nvPr/>
            </p:nvGrpSpPr>
            <p:grpSpPr>
              <a:xfrm>
                <a:off x="2929" y="236"/>
                <a:ext cx="604" cy="403"/>
                <a:chOff x="2929" y="236"/>
                <a:chExt cx="604" cy="403"/>
              </a:xfrm>
            </p:grpSpPr>
            <p:sp>
              <p:nvSpPr>
                <p:cNvPr id="119946" name="Rectangle 203"/>
                <p:cNvSpPr/>
                <p:nvPr/>
              </p:nvSpPr>
              <p:spPr>
                <a:xfrm>
                  <a:off x="2972" y="236"/>
                  <a:ext cx="518"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R1</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47" name="Rectangle 204"/>
                <p:cNvSpPr/>
                <p:nvPr/>
              </p:nvSpPr>
              <p:spPr>
                <a:xfrm>
                  <a:off x="2929" y="236"/>
                  <a:ext cx="604"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32" name="Group 205"/>
              <p:cNvGrpSpPr/>
              <p:nvPr/>
            </p:nvGrpSpPr>
            <p:grpSpPr>
              <a:xfrm>
                <a:off x="3533" y="236"/>
                <a:ext cx="369" cy="403"/>
                <a:chOff x="3533" y="236"/>
                <a:chExt cx="369" cy="403"/>
              </a:xfrm>
            </p:grpSpPr>
            <p:sp>
              <p:nvSpPr>
                <p:cNvPr id="119944" name="Rectangle 206"/>
                <p:cNvSpPr/>
                <p:nvPr/>
              </p:nvSpPr>
              <p:spPr>
                <a:xfrm>
                  <a:off x="3576" y="236"/>
                  <a:ext cx="283"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R2</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45" name="Rectangle 207"/>
                <p:cNvSpPr/>
                <p:nvPr/>
              </p:nvSpPr>
              <p:spPr>
                <a:xfrm>
                  <a:off x="3533" y="236"/>
                  <a:ext cx="36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33" name="Group 208"/>
              <p:cNvGrpSpPr/>
              <p:nvPr/>
            </p:nvGrpSpPr>
            <p:grpSpPr>
              <a:xfrm>
                <a:off x="3902" y="236"/>
                <a:ext cx="369" cy="403"/>
                <a:chOff x="3902" y="236"/>
                <a:chExt cx="369" cy="403"/>
              </a:xfrm>
            </p:grpSpPr>
            <p:sp>
              <p:nvSpPr>
                <p:cNvPr id="119942" name="Rectangle 209"/>
                <p:cNvSpPr/>
                <p:nvPr/>
              </p:nvSpPr>
              <p:spPr>
                <a:xfrm>
                  <a:off x="3945" y="236"/>
                  <a:ext cx="283"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R3</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43" name="Rectangle 210"/>
                <p:cNvSpPr/>
                <p:nvPr/>
              </p:nvSpPr>
              <p:spPr>
                <a:xfrm>
                  <a:off x="3902" y="236"/>
                  <a:ext cx="36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34" name="Group 211"/>
              <p:cNvGrpSpPr/>
              <p:nvPr/>
            </p:nvGrpSpPr>
            <p:grpSpPr>
              <a:xfrm>
                <a:off x="4271" y="236"/>
                <a:ext cx="150" cy="403"/>
                <a:chOff x="4271" y="236"/>
                <a:chExt cx="150" cy="403"/>
              </a:xfrm>
            </p:grpSpPr>
            <p:sp>
              <p:nvSpPr>
                <p:cNvPr id="119940" name="Rectangle 212"/>
                <p:cNvSpPr/>
                <p:nvPr/>
              </p:nvSpPr>
              <p:spPr>
                <a:xfrm>
                  <a:off x="4271" y="236"/>
                  <a:ext cx="150" cy="403"/>
                </a:xfrm>
                <a:prstGeom prst="rect">
                  <a:avLst/>
                </a:prstGeom>
                <a:noFill/>
                <a:ln w="9525">
                  <a:noFill/>
                </a:ln>
              </p:spPr>
              <p:txBody>
                <a:bodyPr anchor="ctr" anchorCtr="0"/>
                <a:p>
                  <a:pPr algn="just" eaLnBrk="1" hangingPunct="1"/>
                  <a:r>
                    <a:rPr lang="en-US" altLang="zh-CN" dirty="0">
                      <a:solidFill>
                        <a:srgbClr val="003300"/>
                      </a:solidFill>
                      <a:latin typeface="Times New Roman" panose="02020603050405020304" pitchFamily="18" charset="0"/>
                    </a:rPr>
                    <a:t> </a:t>
                  </a:r>
                  <a:endParaRPr lang="en-US" altLang="zh-CN" dirty="0">
                    <a:solidFill>
                      <a:srgbClr val="003300"/>
                    </a:solidFill>
                    <a:latin typeface="Times New Roman" panose="02020603050405020304" pitchFamily="18" charset="0"/>
                  </a:endParaRPr>
                </a:p>
                <a:p>
                  <a:pPr algn="just"/>
                  <a:endParaRPr lang="en-US" altLang="zh-CN" dirty="0">
                    <a:solidFill>
                      <a:srgbClr val="003300"/>
                    </a:solidFill>
                    <a:latin typeface="Times New Roman" panose="02020603050405020304" pitchFamily="18" charset="0"/>
                  </a:endParaRPr>
                </a:p>
              </p:txBody>
            </p:sp>
            <p:sp>
              <p:nvSpPr>
                <p:cNvPr id="119941" name="Rectangle 213"/>
                <p:cNvSpPr/>
                <p:nvPr/>
              </p:nvSpPr>
              <p:spPr>
                <a:xfrm>
                  <a:off x="4271" y="236"/>
                  <a:ext cx="150"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35" name="Group 214"/>
              <p:cNvGrpSpPr/>
              <p:nvPr/>
            </p:nvGrpSpPr>
            <p:grpSpPr>
              <a:xfrm>
                <a:off x="0" y="639"/>
                <a:ext cx="489" cy="403"/>
                <a:chOff x="0" y="639"/>
                <a:chExt cx="489" cy="403"/>
              </a:xfrm>
            </p:grpSpPr>
            <p:sp>
              <p:nvSpPr>
                <p:cNvPr id="119938" name="Rectangle 215"/>
                <p:cNvSpPr/>
                <p:nvPr/>
              </p:nvSpPr>
              <p:spPr>
                <a:xfrm>
                  <a:off x="43" y="639"/>
                  <a:ext cx="403"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P1</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39" name="Rectangle 216"/>
                <p:cNvSpPr/>
                <p:nvPr/>
              </p:nvSpPr>
              <p:spPr>
                <a:xfrm>
                  <a:off x="0" y="639"/>
                  <a:ext cx="48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36" name="Group 217"/>
              <p:cNvGrpSpPr/>
              <p:nvPr/>
            </p:nvGrpSpPr>
            <p:grpSpPr>
              <a:xfrm>
                <a:off x="489" y="639"/>
                <a:ext cx="374" cy="403"/>
                <a:chOff x="489" y="639"/>
                <a:chExt cx="374" cy="403"/>
              </a:xfrm>
            </p:grpSpPr>
            <p:sp>
              <p:nvSpPr>
                <p:cNvPr id="119936" name="Rectangle 218"/>
                <p:cNvSpPr/>
                <p:nvPr/>
              </p:nvSpPr>
              <p:spPr>
                <a:xfrm>
                  <a:off x="532" y="639"/>
                  <a:ext cx="288"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1</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37" name="Rectangle 219"/>
                <p:cNvSpPr/>
                <p:nvPr/>
              </p:nvSpPr>
              <p:spPr>
                <a:xfrm>
                  <a:off x="489" y="639"/>
                  <a:ext cx="374"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37" name="Group 220"/>
              <p:cNvGrpSpPr/>
              <p:nvPr/>
            </p:nvGrpSpPr>
            <p:grpSpPr>
              <a:xfrm>
                <a:off x="863" y="639"/>
                <a:ext cx="446" cy="403"/>
                <a:chOff x="863" y="639"/>
                <a:chExt cx="446" cy="403"/>
              </a:xfrm>
            </p:grpSpPr>
            <p:sp>
              <p:nvSpPr>
                <p:cNvPr id="119934" name="Rectangle 221"/>
                <p:cNvSpPr/>
                <p:nvPr/>
              </p:nvSpPr>
              <p:spPr>
                <a:xfrm>
                  <a:off x="906" y="639"/>
                  <a:ext cx="360"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0</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35" name="Rectangle 222"/>
                <p:cNvSpPr/>
                <p:nvPr/>
              </p:nvSpPr>
              <p:spPr>
                <a:xfrm>
                  <a:off x="863" y="639"/>
                  <a:ext cx="44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38" name="Group 223"/>
              <p:cNvGrpSpPr/>
              <p:nvPr/>
            </p:nvGrpSpPr>
            <p:grpSpPr>
              <a:xfrm>
                <a:off x="1309" y="639"/>
                <a:ext cx="470" cy="403"/>
                <a:chOff x="1309" y="639"/>
                <a:chExt cx="470" cy="403"/>
              </a:xfrm>
            </p:grpSpPr>
            <p:sp>
              <p:nvSpPr>
                <p:cNvPr id="119932" name="Rectangle 224"/>
                <p:cNvSpPr/>
                <p:nvPr/>
              </p:nvSpPr>
              <p:spPr>
                <a:xfrm>
                  <a:off x="1352" y="639"/>
                  <a:ext cx="384"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1</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33" name="Rectangle 225"/>
                <p:cNvSpPr/>
                <p:nvPr/>
              </p:nvSpPr>
              <p:spPr>
                <a:xfrm>
                  <a:off x="1309" y="639"/>
                  <a:ext cx="470"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39" name="Group 226"/>
              <p:cNvGrpSpPr/>
              <p:nvPr/>
            </p:nvGrpSpPr>
            <p:grpSpPr>
              <a:xfrm>
                <a:off x="1779" y="639"/>
                <a:ext cx="412" cy="403"/>
                <a:chOff x="1779" y="639"/>
                <a:chExt cx="412" cy="403"/>
              </a:xfrm>
            </p:grpSpPr>
            <p:sp>
              <p:nvSpPr>
                <p:cNvPr id="119930" name="Rectangle 227"/>
                <p:cNvSpPr/>
                <p:nvPr/>
              </p:nvSpPr>
              <p:spPr>
                <a:xfrm>
                  <a:off x="1822" y="639"/>
                  <a:ext cx="326"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2</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31" name="Rectangle 228"/>
                <p:cNvSpPr/>
                <p:nvPr/>
              </p:nvSpPr>
              <p:spPr>
                <a:xfrm>
                  <a:off x="1779" y="639"/>
                  <a:ext cx="41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40" name="Group 229"/>
              <p:cNvGrpSpPr/>
              <p:nvPr/>
            </p:nvGrpSpPr>
            <p:grpSpPr>
              <a:xfrm>
                <a:off x="2191" y="639"/>
                <a:ext cx="369" cy="403"/>
                <a:chOff x="2191" y="639"/>
                <a:chExt cx="369" cy="403"/>
              </a:xfrm>
            </p:grpSpPr>
            <p:sp>
              <p:nvSpPr>
                <p:cNvPr id="119928" name="Rectangle 230"/>
                <p:cNvSpPr/>
                <p:nvPr/>
              </p:nvSpPr>
              <p:spPr>
                <a:xfrm>
                  <a:off x="2234" y="639"/>
                  <a:ext cx="283"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2</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29" name="Rectangle 231"/>
                <p:cNvSpPr/>
                <p:nvPr/>
              </p:nvSpPr>
              <p:spPr>
                <a:xfrm>
                  <a:off x="2191" y="639"/>
                  <a:ext cx="36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41" name="Group 232"/>
              <p:cNvGrpSpPr/>
              <p:nvPr/>
            </p:nvGrpSpPr>
            <p:grpSpPr>
              <a:xfrm>
                <a:off x="2560" y="639"/>
                <a:ext cx="369" cy="403"/>
                <a:chOff x="2560" y="639"/>
                <a:chExt cx="369" cy="403"/>
              </a:xfrm>
            </p:grpSpPr>
            <p:sp>
              <p:nvSpPr>
                <p:cNvPr id="119926" name="Rectangle 233"/>
                <p:cNvSpPr/>
                <p:nvPr/>
              </p:nvSpPr>
              <p:spPr>
                <a:xfrm>
                  <a:off x="2603" y="639"/>
                  <a:ext cx="283"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1</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27" name="Rectangle 234"/>
                <p:cNvSpPr/>
                <p:nvPr/>
              </p:nvSpPr>
              <p:spPr>
                <a:xfrm>
                  <a:off x="2560" y="639"/>
                  <a:ext cx="36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42" name="Group 235"/>
              <p:cNvGrpSpPr/>
              <p:nvPr/>
            </p:nvGrpSpPr>
            <p:grpSpPr>
              <a:xfrm>
                <a:off x="2929" y="639"/>
                <a:ext cx="604" cy="1612"/>
                <a:chOff x="2929" y="639"/>
                <a:chExt cx="604" cy="1612"/>
              </a:xfrm>
            </p:grpSpPr>
            <p:sp>
              <p:nvSpPr>
                <p:cNvPr id="119924" name="Rectangle 236"/>
                <p:cNvSpPr/>
                <p:nvPr/>
              </p:nvSpPr>
              <p:spPr>
                <a:xfrm>
                  <a:off x="2972" y="639"/>
                  <a:ext cx="518" cy="1612"/>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0</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25" name="Rectangle 237"/>
                <p:cNvSpPr/>
                <p:nvPr/>
              </p:nvSpPr>
              <p:spPr>
                <a:xfrm>
                  <a:off x="2929" y="639"/>
                  <a:ext cx="604" cy="1612"/>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43" name="Group 238"/>
              <p:cNvGrpSpPr/>
              <p:nvPr/>
            </p:nvGrpSpPr>
            <p:grpSpPr>
              <a:xfrm>
                <a:off x="3533" y="639"/>
                <a:ext cx="369" cy="1612"/>
                <a:chOff x="3533" y="639"/>
                <a:chExt cx="369" cy="1612"/>
              </a:xfrm>
            </p:grpSpPr>
            <p:sp>
              <p:nvSpPr>
                <p:cNvPr id="119922" name="Rectangle 239"/>
                <p:cNvSpPr/>
                <p:nvPr/>
              </p:nvSpPr>
              <p:spPr>
                <a:xfrm>
                  <a:off x="3576" y="639"/>
                  <a:ext cx="283" cy="1612"/>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1</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23" name="Rectangle 240"/>
                <p:cNvSpPr/>
                <p:nvPr/>
              </p:nvSpPr>
              <p:spPr>
                <a:xfrm>
                  <a:off x="3533" y="639"/>
                  <a:ext cx="369" cy="1612"/>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44" name="Group 241"/>
              <p:cNvGrpSpPr/>
              <p:nvPr/>
            </p:nvGrpSpPr>
            <p:grpSpPr>
              <a:xfrm>
                <a:off x="3902" y="639"/>
                <a:ext cx="369" cy="1612"/>
                <a:chOff x="3902" y="639"/>
                <a:chExt cx="369" cy="1612"/>
              </a:xfrm>
            </p:grpSpPr>
            <p:sp>
              <p:nvSpPr>
                <p:cNvPr id="119920" name="Rectangle 242"/>
                <p:cNvSpPr/>
                <p:nvPr/>
              </p:nvSpPr>
              <p:spPr>
                <a:xfrm>
                  <a:off x="3945" y="639"/>
                  <a:ext cx="283" cy="1612"/>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0</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21" name="Rectangle 243"/>
                <p:cNvSpPr/>
                <p:nvPr/>
              </p:nvSpPr>
              <p:spPr>
                <a:xfrm>
                  <a:off x="3902" y="639"/>
                  <a:ext cx="369" cy="1612"/>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45" name="Group 244"/>
              <p:cNvGrpSpPr/>
              <p:nvPr/>
            </p:nvGrpSpPr>
            <p:grpSpPr>
              <a:xfrm>
                <a:off x="4271" y="639"/>
                <a:ext cx="150" cy="403"/>
                <a:chOff x="4271" y="639"/>
                <a:chExt cx="150" cy="403"/>
              </a:xfrm>
            </p:grpSpPr>
            <p:sp>
              <p:nvSpPr>
                <p:cNvPr id="119918" name="Rectangle 245"/>
                <p:cNvSpPr/>
                <p:nvPr/>
              </p:nvSpPr>
              <p:spPr>
                <a:xfrm>
                  <a:off x="4271" y="639"/>
                  <a:ext cx="150" cy="403"/>
                </a:xfrm>
                <a:prstGeom prst="rect">
                  <a:avLst/>
                </a:prstGeom>
                <a:noFill/>
                <a:ln w="9525">
                  <a:noFill/>
                </a:ln>
              </p:spPr>
              <p:txBody>
                <a:bodyPr anchor="ctr" anchorCtr="0"/>
                <a:p>
                  <a:pPr algn="just" eaLnBrk="1" hangingPunct="1"/>
                  <a:r>
                    <a:rPr lang="en-US" altLang="zh-CN" dirty="0">
                      <a:solidFill>
                        <a:srgbClr val="003300"/>
                      </a:solidFill>
                      <a:latin typeface="Times New Roman" panose="02020603050405020304" pitchFamily="18" charset="0"/>
                    </a:rPr>
                    <a:t> </a:t>
                  </a:r>
                  <a:endParaRPr lang="en-US" altLang="zh-CN" dirty="0">
                    <a:solidFill>
                      <a:srgbClr val="003300"/>
                    </a:solidFill>
                    <a:latin typeface="Times New Roman" panose="02020603050405020304" pitchFamily="18" charset="0"/>
                  </a:endParaRPr>
                </a:p>
                <a:p>
                  <a:pPr algn="just"/>
                  <a:endParaRPr lang="en-US" altLang="zh-CN" dirty="0">
                    <a:solidFill>
                      <a:srgbClr val="003300"/>
                    </a:solidFill>
                    <a:latin typeface="Times New Roman" panose="02020603050405020304" pitchFamily="18" charset="0"/>
                  </a:endParaRPr>
                </a:p>
              </p:txBody>
            </p:sp>
            <p:sp>
              <p:nvSpPr>
                <p:cNvPr id="119919" name="Rectangle 246"/>
                <p:cNvSpPr/>
                <p:nvPr/>
              </p:nvSpPr>
              <p:spPr>
                <a:xfrm>
                  <a:off x="4271" y="639"/>
                  <a:ext cx="150"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46" name="Group 247"/>
              <p:cNvGrpSpPr/>
              <p:nvPr/>
            </p:nvGrpSpPr>
            <p:grpSpPr>
              <a:xfrm>
                <a:off x="0" y="1042"/>
                <a:ext cx="489" cy="403"/>
                <a:chOff x="0" y="1042"/>
                <a:chExt cx="489" cy="403"/>
              </a:xfrm>
            </p:grpSpPr>
            <p:sp>
              <p:nvSpPr>
                <p:cNvPr id="119916" name="Rectangle 248"/>
                <p:cNvSpPr/>
                <p:nvPr/>
              </p:nvSpPr>
              <p:spPr>
                <a:xfrm>
                  <a:off x="43" y="1042"/>
                  <a:ext cx="403"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P2</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17" name="Rectangle 249"/>
                <p:cNvSpPr/>
                <p:nvPr/>
              </p:nvSpPr>
              <p:spPr>
                <a:xfrm>
                  <a:off x="0" y="1042"/>
                  <a:ext cx="48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47" name="Group 250"/>
              <p:cNvGrpSpPr/>
              <p:nvPr/>
            </p:nvGrpSpPr>
            <p:grpSpPr>
              <a:xfrm>
                <a:off x="489" y="1042"/>
                <a:ext cx="374" cy="403"/>
                <a:chOff x="489" y="1042"/>
                <a:chExt cx="374" cy="403"/>
              </a:xfrm>
            </p:grpSpPr>
            <p:sp>
              <p:nvSpPr>
                <p:cNvPr id="119914" name="Rectangle 251"/>
                <p:cNvSpPr/>
                <p:nvPr/>
              </p:nvSpPr>
              <p:spPr>
                <a:xfrm>
                  <a:off x="532" y="1042"/>
                  <a:ext cx="288"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6</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15" name="Rectangle 252"/>
                <p:cNvSpPr/>
                <p:nvPr/>
              </p:nvSpPr>
              <p:spPr>
                <a:xfrm>
                  <a:off x="489" y="1042"/>
                  <a:ext cx="374"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48" name="Group 253"/>
              <p:cNvGrpSpPr/>
              <p:nvPr/>
            </p:nvGrpSpPr>
            <p:grpSpPr>
              <a:xfrm>
                <a:off x="863" y="1042"/>
                <a:ext cx="446" cy="403"/>
                <a:chOff x="863" y="1042"/>
                <a:chExt cx="446" cy="403"/>
              </a:xfrm>
            </p:grpSpPr>
            <p:sp>
              <p:nvSpPr>
                <p:cNvPr id="119912" name="Rectangle 254"/>
                <p:cNvSpPr/>
                <p:nvPr/>
              </p:nvSpPr>
              <p:spPr>
                <a:xfrm>
                  <a:off x="906" y="1042"/>
                  <a:ext cx="360"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1</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13" name="Rectangle 255"/>
                <p:cNvSpPr/>
                <p:nvPr/>
              </p:nvSpPr>
              <p:spPr>
                <a:xfrm>
                  <a:off x="863" y="1042"/>
                  <a:ext cx="44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49" name="Group 256"/>
              <p:cNvGrpSpPr/>
              <p:nvPr/>
            </p:nvGrpSpPr>
            <p:grpSpPr>
              <a:xfrm>
                <a:off x="1309" y="1042"/>
                <a:ext cx="470" cy="403"/>
                <a:chOff x="1309" y="1042"/>
                <a:chExt cx="470" cy="403"/>
              </a:xfrm>
            </p:grpSpPr>
            <p:sp>
              <p:nvSpPr>
                <p:cNvPr id="119910" name="Rectangle 257"/>
                <p:cNvSpPr/>
                <p:nvPr/>
              </p:nvSpPr>
              <p:spPr>
                <a:xfrm>
                  <a:off x="1352" y="1042"/>
                  <a:ext cx="384"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2</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11" name="Rectangle 258"/>
                <p:cNvSpPr/>
                <p:nvPr/>
              </p:nvSpPr>
              <p:spPr>
                <a:xfrm>
                  <a:off x="1309" y="1042"/>
                  <a:ext cx="470"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50" name="Group 259"/>
              <p:cNvGrpSpPr/>
              <p:nvPr/>
            </p:nvGrpSpPr>
            <p:grpSpPr>
              <a:xfrm>
                <a:off x="1779" y="1042"/>
                <a:ext cx="412" cy="403"/>
                <a:chOff x="1779" y="1042"/>
                <a:chExt cx="412" cy="403"/>
              </a:xfrm>
            </p:grpSpPr>
            <p:sp>
              <p:nvSpPr>
                <p:cNvPr id="119908" name="Rectangle 260"/>
                <p:cNvSpPr/>
                <p:nvPr/>
              </p:nvSpPr>
              <p:spPr>
                <a:xfrm>
                  <a:off x="1822" y="1042"/>
                  <a:ext cx="326"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0</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09" name="Rectangle 261"/>
                <p:cNvSpPr/>
                <p:nvPr/>
              </p:nvSpPr>
              <p:spPr>
                <a:xfrm>
                  <a:off x="1779" y="1042"/>
                  <a:ext cx="41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51" name="Group 262"/>
              <p:cNvGrpSpPr/>
              <p:nvPr/>
            </p:nvGrpSpPr>
            <p:grpSpPr>
              <a:xfrm>
                <a:off x="2191" y="1042"/>
                <a:ext cx="369" cy="403"/>
                <a:chOff x="2191" y="1042"/>
                <a:chExt cx="369" cy="403"/>
              </a:xfrm>
            </p:grpSpPr>
            <p:sp>
              <p:nvSpPr>
                <p:cNvPr id="119906" name="Rectangle 263"/>
                <p:cNvSpPr/>
                <p:nvPr/>
              </p:nvSpPr>
              <p:spPr>
                <a:xfrm>
                  <a:off x="2234" y="1042"/>
                  <a:ext cx="283"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0</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07" name="Rectangle 264"/>
                <p:cNvSpPr/>
                <p:nvPr/>
              </p:nvSpPr>
              <p:spPr>
                <a:xfrm>
                  <a:off x="2191" y="1042"/>
                  <a:ext cx="36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52" name="Group 265"/>
              <p:cNvGrpSpPr/>
              <p:nvPr/>
            </p:nvGrpSpPr>
            <p:grpSpPr>
              <a:xfrm>
                <a:off x="2560" y="1042"/>
                <a:ext cx="369" cy="403"/>
                <a:chOff x="2560" y="1042"/>
                <a:chExt cx="369" cy="403"/>
              </a:xfrm>
            </p:grpSpPr>
            <p:sp>
              <p:nvSpPr>
                <p:cNvPr id="119904" name="Rectangle 266"/>
                <p:cNvSpPr/>
                <p:nvPr/>
              </p:nvSpPr>
              <p:spPr>
                <a:xfrm>
                  <a:off x="2603" y="1042"/>
                  <a:ext cx="283"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1</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05" name="Rectangle 267"/>
                <p:cNvSpPr/>
                <p:nvPr/>
              </p:nvSpPr>
              <p:spPr>
                <a:xfrm>
                  <a:off x="2560" y="1042"/>
                  <a:ext cx="36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53" name="Group 268"/>
              <p:cNvGrpSpPr/>
              <p:nvPr/>
            </p:nvGrpSpPr>
            <p:grpSpPr>
              <a:xfrm>
                <a:off x="4271" y="1042"/>
                <a:ext cx="150" cy="403"/>
                <a:chOff x="4271" y="1042"/>
                <a:chExt cx="150" cy="403"/>
              </a:xfrm>
            </p:grpSpPr>
            <p:sp>
              <p:nvSpPr>
                <p:cNvPr id="119902" name="Rectangle 269"/>
                <p:cNvSpPr/>
                <p:nvPr/>
              </p:nvSpPr>
              <p:spPr>
                <a:xfrm>
                  <a:off x="4271" y="1042"/>
                  <a:ext cx="150" cy="403"/>
                </a:xfrm>
                <a:prstGeom prst="rect">
                  <a:avLst/>
                </a:prstGeom>
                <a:noFill/>
                <a:ln w="9525">
                  <a:noFill/>
                </a:ln>
              </p:spPr>
              <p:txBody>
                <a:bodyPr anchor="ctr" anchorCtr="0"/>
                <a:p>
                  <a:pPr algn="just" eaLnBrk="1" hangingPunct="1"/>
                  <a:r>
                    <a:rPr lang="en-US" altLang="zh-CN" b="1" dirty="0">
                      <a:solidFill>
                        <a:srgbClr val="003300"/>
                      </a:solidFill>
                      <a:latin typeface="Times New Roman" panose="02020603050405020304" pitchFamily="18" charset="0"/>
                    </a:rPr>
                    <a:t> </a:t>
                  </a:r>
                  <a:endParaRPr lang="en-US" altLang="zh-CN" b="1" dirty="0">
                    <a:solidFill>
                      <a:srgbClr val="003300"/>
                    </a:solidFill>
                    <a:latin typeface="Times New Roman" panose="02020603050405020304" pitchFamily="18" charset="0"/>
                  </a:endParaRPr>
                </a:p>
                <a:p>
                  <a:pPr algn="just"/>
                  <a:endParaRPr lang="en-US" altLang="zh-CN" dirty="0">
                    <a:solidFill>
                      <a:srgbClr val="003300"/>
                    </a:solidFill>
                    <a:latin typeface="Times New Roman" panose="02020603050405020304" pitchFamily="18" charset="0"/>
                  </a:endParaRPr>
                </a:p>
              </p:txBody>
            </p:sp>
            <p:sp>
              <p:nvSpPr>
                <p:cNvPr id="119903" name="Rectangle 270"/>
                <p:cNvSpPr/>
                <p:nvPr/>
              </p:nvSpPr>
              <p:spPr>
                <a:xfrm>
                  <a:off x="4271" y="1042"/>
                  <a:ext cx="150"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54" name="Group 271"/>
              <p:cNvGrpSpPr/>
              <p:nvPr/>
            </p:nvGrpSpPr>
            <p:grpSpPr>
              <a:xfrm>
                <a:off x="0" y="1445"/>
                <a:ext cx="489" cy="403"/>
                <a:chOff x="0" y="1445"/>
                <a:chExt cx="489" cy="403"/>
              </a:xfrm>
            </p:grpSpPr>
            <p:sp>
              <p:nvSpPr>
                <p:cNvPr id="119900" name="Rectangle 272"/>
                <p:cNvSpPr/>
                <p:nvPr/>
              </p:nvSpPr>
              <p:spPr>
                <a:xfrm>
                  <a:off x="43" y="1445"/>
                  <a:ext cx="403"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P3</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901" name="Rectangle 273"/>
                <p:cNvSpPr/>
                <p:nvPr/>
              </p:nvSpPr>
              <p:spPr>
                <a:xfrm>
                  <a:off x="0" y="1445"/>
                  <a:ext cx="48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55" name="Group 274"/>
              <p:cNvGrpSpPr/>
              <p:nvPr/>
            </p:nvGrpSpPr>
            <p:grpSpPr>
              <a:xfrm>
                <a:off x="489" y="1445"/>
                <a:ext cx="374" cy="403"/>
                <a:chOff x="489" y="1445"/>
                <a:chExt cx="374" cy="403"/>
              </a:xfrm>
            </p:grpSpPr>
            <p:sp>
              <p:nvSpPr>
                <p:cNvPr id="119898" name="Rectangle 275"/>
                <p:cNvSpPr/>
                <p:nvPr/>
              </p:nvSpPr>
              <p:spPr>
                <a:xfrm>
                  <a:off x="532" y="1445"/>
                  <a:ext cx="288"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2</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899" name="Rectangle 276"/>
                <p:cNvSpPr/>
                <p:nvPr/>
              </p:nvSpPr>
              <p:spPr>
                <a:xfrm>
                  <a:off x="489" y="1445"/>
                  <a:ext cx="374"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56" name="Group 277"/>
              <p:cNvGrpSpPr/>
              <p:nvPr/>
            </p:nvGrpSpPr>
            <p:grpSpPr>
              <a:xfrm>
                <a:off x="863" y="1445"/>
                <a:ext cx="446" cy="403"/>
                <a:chOff x="863" y="1445"/>
                <a:chExt cx="446" cy="403"/>
              </a:xfrm>
            </p:grpSpPr>
            <p:sp>
              <p:nvSpPr>
                <p:cNvPr id="119896" name="Rectangle 278"/>
                <p:cNvSpPr/>
                <p:nvPr/>
              </p:nvSpPr>
              <p:spPr>
                <a:xfrm>
                  <a:off x="906" y="1445"/>
                  <a:ext cx="360"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1</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897" name="Rectangle 279"/>
                <p:cNvSpPr/>
                <p:nvPr/>
              </p:nvSpPr>
              <p:spPr>
                <a:xfrm>
                  <a:off x="863" y="1445"/>
                  <a:ext cx="44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57" name="Group 280"/>
              <p:cNvGrpSpPr/>
              <p:nvPr/>
            </p:nvGrpSpPr>
            <p:grpSpPr>
              <a:xfrm>
                <a:off x="1309" y="1445"/>
                <a:ext cx="470" cy="403"/>
                <a:chOff x="1309" y="1445"/>
                <a:chExt cx="470" cy="403"/>
              </a:xfrm>
            </p:grpSpPr>
            <p:sp>
              <p:nvSpPr>
                <p:cNvPr id="119894" name="Rectangle 281"/>
                <p:cNvSpPr/>
                <p:nvPr/>
              </p:nvSpPr>
              <p:spPr>
                <a:xfrm>
                  <a:off x="1352" y="1445"/>
                  <a:ext cx="384"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1</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895" name="Rectangle 282"/>
                <p:cNvSpPr/>
                <p:nvPr/>
              </p:nvSpPr>
              <p:spPr>
                <a:xfrm>
                  <a:off x="1309" y="1445"/>
                  <a:ext cx="470"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58" name="Group 283"/>
              <p:cNvGrpSpPr/>
              <p:nvPr/>
            </p:nvGrpSpPr>
            <p:grpSpPr>
              <a:xfrm>
                <a:off x="1779" y="1445"/>
                <a:ext cx="412" cy="403"/>
                <a:chOff x="1779" y="1445"/>
                <a:chExt cx="412" cy="403"/>
              </a:xfrm>
            </p:grpSpPr>
            <p:sp>
              <p:nvSpPr>
                <p:cNvPr id="119892" name="Rectangle 284"/>
                <p:cNvSpPr/>
                <p:nvPr/>
              </p:nvSpPr>
              <p:spPr>
                <a:xfrm>
                  <a:off x="1822" y="1445"/>
                  <a:ext cx="326"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1</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893" name="Rectangle 285"/>
                <p:cNvSpPr/>
                <p:nvPr/>
              </p:nvSpPr>
              <p:spPr>
                <a:xfrm>
                  <a:off x="1779" y="1445"/>
                  <a:ext cx="41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59" name="Group 286"/>
              <p:cNvGrpSpPr/>
              <p:nvPr/>
            </p:nvGrpSpPr>
            <p:grpSpPr>
              <a:xfrm>
                <a:off x="2191" y="1445"/>
                <a:ext cx="369" cy="403"/>
                <a:chOff x="2191" y="1445"/>
                <a:chExt cx="369" cy="403"/>
              </a:xfrm>
            </p:grpSpPr>
            <p:sp>
              <p:nvSpPr>
                <p:cNvPr id="119890" name="Rectangle 287"/>
                <p:cNvSpPr/>
                <p:nvPr/>
              </p:nvSpPr>
              <p:spPr>
                <a:xfrm>
                  <a:off x="2234" y="1445"/>
                  <a:ext cx="283"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0</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891" name="Rectangle 288"/>
                <p:cNvSpPr/>
                <p:nvPr/>
              </p:nvSpPr>
              <p:spPr>
                <a:xfrm>
                  <a:off x="2191" y="1445"/>
                  <a:ext cx="36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60" name="Group 289"/>
              <p:cNvGrpSpPr/>
              <p:nvPr/>
            </p:nvGrpSpPr>
            <p:grpSpPr>
              <a:xfrm>
                <a:off x="2560" y="1445"/>
                <a:ext cx="369" cy="403"/>
                <a:chOff x="2560" y="1445"/>
                <a:chExt cx="369" cy="403"/>
              </a:xfrm>
            </p:grpSpPr>
            <p:sp>
              <p:nvSpPr>
                <p:cNvPr id="119888" name="Rectangle 290"/>
                <p:cNvSpPr/>
                <p:nvPr/>
              </p:nvSpPr>
              <p:spPr>
                <a:xfrm>
                  <a:off x="2603" y="1445"/>
                  <a:ext cx="283"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3</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889" name="Rectangle 291"/>
                <p:cNvSpPr/>
                <p:nvPr/>
              </p:nvSpPr>
              <p:spPr>
                <a:xfrm>
                  <a:off x="2560" y="1445"/>
                  <a:ext cx="36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61" name="Group 292"/>
              <p:cNvGrpSpPr/>
              <p:nvPr/>
            </p:nvGrpSpPr>
            <p:grpSpPr>
              <a:xfrm>
                <a:off x="4271" y="1445"/>
                <a:ext cx="150" cy="403"/>
                <a:chOff x="4271" y="1445"/>
                <a:chExt cx="150" cy="403"/>
              </a:xfrm>
            </p:grpSpPr>
            <p:sp>
              <p:nvSpPr>
                <p:cNvPr id="119886" name="Rectangle 293"/>
                <p:cNvSpPr/>
                <p:nvPr/>
              </p:nvSpPr>
              <p:spPr>
                <a:xfrm>
                  <a:off x="4271" y="1445"/>
                  <a:ext cx="150" cy="403"/>
                </a:xfrm>
                <a:prstGeom prst="rect">
                  <a:avLst/>
                </a:prstGeom>
                <a:noFill/>
                <a:ln w="9525">
                  <a:noFill/>
                </a:ln>
              </p:spPr>
              <p:txBody>
                <a:bodyPr anchor="ctr" anchorCtr="0"/>
                <a:p>
                  <a:pPr algn="just" eaLnBrk="1" hangingPunct="1"/>
                  <a:r>
                    <a:rPr lang="en-US" altLang="zh-CN" b="1" dirty="0">
                      <a:solidFill>
                        <a:srgbClr val="003300"/>
                      </a:solidFill>
                      <a:latin typeface="Times New Roman" panose="02020603050405020304" pitchFamily="18" charset="0"/>
                    </a:rPr>
                    <a:t> </a:t>
                  </a:r>
                  <a:endParaRPr lang="en-US" altLang="zh-CN" b="1" dirty="0">
                    <a:solidFill>
                      <a:srgbClr val="003300"/>
                    </a:solidFill>
                    <a:latin typeface="Times New Roman" panose="02020603050405020304" pitchFamily="18" charset="0"/>
                  </a:endParaRPr>
                </a:p>
                <a:p>
                  <a:pPr algn="just"/>
                  <a:endParaRPr lang="en-US" altLang="zh-CN" dirty="0">
                    <a:solidFill>
                      <a:srgbClr val="003300"/>
                    </a:solidFill>
                    <a:latin typeface="Times New Roman" panose="02020603050405020304" pitchFamily="18" charset="0"/>
                  </a:endParaRPr>
                </a:p>
              </p:txBody>
            </p:sp>
            <p:sp>
              <p:nvSpPr>
                <p:cNvPr id="119887" name="Rectangle 294"/>
                <p:cNvSpPr/>
                <p:nvPr/>
              </p:nvSpPr>
              <p:spPr>
                <a:xfrm>
                  <a:off x="4271" y="1445"/>
                  <a:ext cx="150"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62" name="Group 295"/>
              <p:cNvGrpSpPr/>
              <p:nvPr/>
            </p:nvGrpSpPr>
            <p:grpSpPr>
              <a:xfrm>
                <a:off x="0" y="1848"/>
                <a:ext cx="489" cy="403"/>
                <a:chOff x="0" y="1848"/>
                <a:chExt cx="489" cy="403"/>
              </a:xfrm>
            </p:grpSpPr>
            <p:sp>
              <p:nvSpPr>
                <p:cNvPr id="119884" name="Rectangle 296"/>
                <p:cNvSpPr/>
                <p:nvPr/>
              </p:nvSpPr>
              <p:spPr>
                <a:xfrm>
                  <a:off x="43" y="1848"/>
                  <a:ext cx="403"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P4</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885" name="Rectangle 297"/>
                <p:cNvSpPr/>
                <p:nvPr/>
              </p:nvSpPr>
              <p:spPr>
                <a:xfrm>
                  <a:off x="0" y="1848"/>
                  <a:ext cx="48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63" name="Group 298"/>
              <p:cNvGrpSpPr/>
              <p:nvPr/>
            </p:nvGrpSpPr>
            <p:grpSpPr>
              <a:xfrm>
                <a:off x="489" y="1848"/>
                <a:ext cx="374" cy="403"/>
                <a:chOff x="489" y="1848"/>
                <a:chExt cx="374" cy="403"/>
              </a:xfrm>
            </p:grpSpPr>
            <p:sp>
              <p:nvSpPr>
                <p:cNvPr id="119882" name="Rectangle 299"/>
                <p:cNvSpPr/>
                <p:nvPr/>
              </p:nvSpPr>
              <p:spPr>
                <a:xfrm>
                  <a:off x="532" y="1848"/>
                  <a:ext cx="288"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0</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883" name="Rectangle 300"/>
                <p:cNvSpPr/>
                <p:nvPr/>
              </p:nvSpPr>
              <p:spPr>
                <a:xfrm>
                  <a:off x="489" y="1848"/>
                  <a:ext cx="374"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64" name="Group 301"/>
              <p:cNvGrpSpPr/>
              <p:nvPr/>
            </p:nvGrpSpPr>
            <p:grpSpPr>
              <a:xfrm>
                <a:off x="863" y="1848"/>
                <a:ext cx="446" cy="403"/>
                <a:chOff x="863" y="1848"/>
                <a:chExt cx="446" cy="403"/>
              </a:xfrm>
            </p:grpSpPr>
            <p:sp>
              <p:nvSpPr>
                <p:cNvPr id="119880" name="Rectangle 302"/>
                <p:cNvSpPr/>
                <p:nvPr/>
              </p:nvSpPr>
              <p:spPr>
                <a:xfrm>
                  <a:off x="906" y="1848"/>
                  <a:ext cx="360"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0</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881" name="Rectangle 303"/>
                <p:cNvSpPr/>
                <p:nvPr/>
              </p:nvSpPr>
              <p:spPr>
                <a:xfrm>
                  <a:off x="863" y="1848"/>
                  <a:ext cx="446"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65" name="Group 304"/>
              <p:cNvGrpSpPr/>
              <p:nvPr/>
            </p:nvGrpSpPr>
            <p:grpSpPr>
              <a:xfrm>
                <a:off x="1309" y="1848"/>
                <a:ext cx="470" cy="403"/>
                <a:chOff x="1309" y="1848"/>
                <a:chExt cx="470" cy="403"/>
              </a:xfrm>
            </p:grpSpPr>
            <p:sp>
              <p:nvSpPr>
                <p:cNvPr id="119878" name="Rectangle 305"/>
                <p:cNvSpPr/>
                <p:nvPr/>
              </p:nvSpPr>
              <p:spPr>
                <a:xfrm>
                  <a:off x="1352" y="1848"/>
                  <a:ext cx="384"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2</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879" name="Rectangle 306"/>
                <p:cNvSpPr/>
                <p:nvPr/>
              </p:nvSpPr>
              <p:spPr>
                <a:xfrm>
                  <a:off x="1309" y="1848"/>
                  <a:ext cx="470"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66" name="Group 307"/>
              <p:cNvGrpSpPr/>
              <p:nvPr/>
            </p:nvGrpSpPr>
            <p:grpSpPr>
              <a:xfrm>
                <a:off x="1779" y="1848"/>
                <a:ext cx="412" cy="403"/>
                <a:chOff x="1779" y="1848"/>
                <a:chExt cx="412" cy="403"/>
              </a:xfrm>
            </p:grpSpPr>
            <p:sp>
              <p:nvSpPr>
                <p:cNvPr id="119876" name="Rectangle 308"/>
                <p:cNvSpPr/>
                <p:nvPr/>
              </p:nvSpPr>
              <p:spPr>
                <a:xfrm>
                  <a:off x="1822" y="1848"/>
                  <a:ext cx="326"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4</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877" name="Rectangle 309"/>
                <p:cNvSpPr/>
                <p:nvPr/>
              </p:nvSpPr>
              <p:spPr>
                <a:xfrm>
                  <a:off x="1779" y="1848"/>
                  <a:ext cx="412"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67" name="Group 310"/>
              <p:cNvGrpSpPr/>
              <p:nvPr/>
            </p:nvGrpSpPr>
            <p:grpSpPr>
              <a:xfrm>
                <a:off x="2191" y="1848"/>
                <a:ext cx="369" cy="403"/>
                <a:chOff x="2191" y="1848"/>
                <a:chExt cx="369" cy="403"/>
              </a:xfrm>
            </p:grpSpPr>
            <p:sp>
              <p:nvSpPr>
                <p:cNvPr id="119874" name="Rectangle 311"/>
                <p:cNvSpPr/>
                <p:nvPr/>
              </p:nvSpPr>
              <p:spPr>
                <a:xfrm>
                  <a:off x="2234" y="1848"/>
                  <a:ext cx="283"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2</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875" name="Rectangle 312"/>
                <p:cNvSpPr/>
                <p:nvPr/>
              </p:nvSpPr>
              <p:spPr>
                <a:xfrm>
                  <a:off x="2191" y="1848"/>
                  <a:ext cx="36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68" name="Group 313"/>
              <p:cNvGrpSpPr/>
              <p:nvPr/>
            </p:nvGrpSpPr>
            <p:grpSpPr>
              <a:xfrm>
                <a:off x="2560" y="1848"/>
                <a:ext cx="369" cy="403"/>
                <a:chOff x="2560" y="1848"/>
                <a:chExt cx="369" cy="403"/>
              </a:xfrm>
            </p:grpSpPr>
            <p:sp>
              <p:nvSpPr>
                <p:cNvPr id="119872" name="Rectangle 314"/>
                <p:cNvSpPr/>
                <p:nvPr/>
              </p:nvSpPr>
              <p:spPr>
                <a:xfrm>
                  <a:off x="2603" y="1848"/>
                  <a:ext cx="283" cy="403"/>
                </a:xfrm>
                <a:prstGeom prst="rect">
                  <a:avLst/>
                </a:prstGeom>
                <a:noFill/>
                <a:ln w="9525">
                  <a:noFill/>
                </a:ln>
              </p:spPr>
              <p:txBody>
                <a:bodyPr/>
                <a:p>
                  <a:pPr algn="ctr" eaLnBrk="1" hangingPunct="1"/>
                  <a:r>
                    <a:rPr lang="en-US" altLang="zh-CN" b="1" dirty="0">
                      <a:solidFill>
                        <a:srgbClr val="003300"/>
                      </a:solidFill>
                      <a:latin typeface="Times New Roman" panose="02020603050405020304" pitchFamily="18" charset="0"/>
                    </a:rPr>
                    <a:t>0</a:t>
                  </a:r>
                  <a:endParaRPr lang="en-US" altLang="zh-CN" dirty="0">
                    <a:solidFill>
                      <a:srgbClr val="003300"/>
                    </a:solidFill>
                    <a:latin typeface="Times New Roman" panose="02020603050405020304" pitchFamily="18" charset="0"/>
                  </a:endParaRPr>
                </a:p>
                <a:p>
                  <a:pPr algn="ctr"/>
                  <a:endParaRPr lang="en-US" altLang="zh-CN" dirty="0">
                    <a:solidFill>
                      <a:srgbClr val="003300"/>
                    </a:solidFill>
                    <a:latin typeface="Times New Roman" panose="02020603050405020304" pitchFamily="18" charset="0"/>
                  </a:endParaRPr>
                </a:p>
              </p:txBody>
            </p:sp>
            <p:sp>
              <p:nvSpPr>
                <p:cNvPr id="119873" name="Rectangle 315"/>
                <p:cNvSpPr/>
                <p:nvPr/>
              </p:nvSpPr>
              <p:spPr>
                <a:xfrm>
                  <a:off x="2560" y="1848"/>
                  <a:ext cx="369"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19869" name="Group 316"/>
              <p:cNvGrpSpPr/>
              <p:nvPr/>
            </p:nvGrpSpPr>
            <p:grpSpPr>
              <a:xfrm>
                <a:off x="4271" y="1848"/>
                <a:ext cx="150" cy="403"/>
                <a:chOff x="4271" y="1848"/>
                <a:chExt cx="150" cy="403"/>
              </a:xfrm>
            </p:grpSpPr>
            <p:sp>
              <p:nvSpPr>
                <p:cNvPr id="119870" name="Rectangle 317"/>
                <p:cNvSpPr/>
                <p:nvPr/>
              </p:nvSpPr>
              <p:spPr>
                <a:xfrm>
                  <a:off x="4271" y="1848"/>
                  <a:ext cx="150" cy="403"/>
                </a:xfrm>
                <a:prstGeom prst="rect">
                  <a:avLst/>
                </a:prstGeom>
                <a:noFill/>
                <a:ln w="9525">
                  <a:noFill/>
                </a:ln>
              </p:spPr>
              <p:txBody>
                <a:bodyPr anchor="ctr" anchorCtr="0"/>
                <a:p>
                  <a:pPr algn="just" eaLnBrk="1" hangingPunct="1"/>
                  <a:r>
                    <a:rPr lang="en-US" altLang="zh-CN" b="1" dirty="0">
                      <a:solidFill>
                        <a:srgbClr val="003300"/>
                      </a:solidFill>
                      <a:latin typeface="Times New Roman" panose="02020603050405020304" pitchFamily="18" charset="0"/>
                    </a:rPr>
                    <a:t> </a:t>
                  </a:r>
                  <a:endParaRPr lang="en-US" altLang="zh-CN" b="1" dirty="0">
                    <a:solidFill>
                      <a:srgbClr val="003300"/>
                    </a:solidFill>
                    <a:latin typeface="Times New Roman" panose="02020603050405020304" pitchFamily="18" charset="0"/>
                  </a:endParaRPr>
                </a:p>
                <a:p>
                  <a:pPr algn="just"/>
                  <a:endParaRPr lang="en-US" altLang="zh-CN" dirty="0">
                    <a:solidFill>
                      <a:srgbClr val="003300"/>
                    </a:solidFill>
                    <a:latin typeface="Times New Roman" panose="02020603050405020304" pitchFamily="18" charset="0"/>
                  </a:endParaRPr>
                </a:p>
              </p:txBody>
            </p:sp>
            <p:sp>
              <p:nvSpPr>
                <p:cNvPr id="119871" name="Rectangle 318"/>
                <p:cNvSpPr/>
                <p:nvPr/>
              </p:nvSpPr>
              <p:spPr>
                <a:xfrm>
                  <a:off x="4271" y="1848"/>
                  <a:ext cx="150" cy="403"/>
                </a:xfrm>
                <a:prstGeom prst="rect">
                  <a:avLst/>
                </a:prstGeom>
                <a:noFill/>
                <a:ln w="7"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sp>
          <p:nvSpPr>
            <p:cNvPr id="119818" name="Rectangle 319"/>
            <p:cNvSpPr/>
            <p:nvPr/>
          </p:nvSpPr>
          <p:spPr>
            <a:xfrm>
              <a:off x="-3" y="-3"/>
              <a:ext cx="4427" cy="2257"/>
            </a:xfrm>
            <a:prstGeom prst="rect">
              <a:avLst/>
            </a:prstGeom>
            <a:noFill/>
            <a:ln w="9525" cap="flat" cmpd="sng">
              <a:solidFill>
                <a:srgbClr val="A0A0A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1827" name="Rectangle 3"/>
          <p:cNvSpPr>
            <a:spLocks noGrp="1" noRot="1" noChangeArrowheads="1"/>
          </p:cNvSpPr>
          <p:nvPr>
            <p:ph type="body" idx="1"/>
          </p:nvPr>
        </p:nvSpPr>
        <p:spPr>
          <a:xfrm>
            <a:off x="381000" y="1066800"/>
            <a:ext cx="8077200" cy="5486400"/>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假设</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T</a:t>
            </a:r>
            <a:r>
              <a:rPr kumimoji="0" lang="en-US" altLang="zh-CN" sz="2800" b="1" i="0" u="none" strike="noStrike" kern="0" cap="none" spc="0" normalizeH="0" baseline="-3000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时刻，进程</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P4</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申请资源，其请求向量为</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Request</a:t>
            </a:r>
            <a:r>
              <a:rPr kumimoji="0" lang="en-US" altLang="zh-CN" sz="2800" b="1" i="0" u="none" strike="noStrike" kern="0" cap="none" spc="0" normalizeH="0" baseline="-3000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4</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(1,2,0),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系统按银行家算法进行检查：</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Request</a:t>
            </a:r>
            <a:r>
              <a:rPr kumimoji="0" lang="en-US" altLang="zh-CN" sz="2800" b="1" i="0" u="none" strike="noStrike" kern="0" cap="none" spc="0" normalizeH="0" baseline="-3000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4</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(1,2,0) ≤ Need</a:t>
            </a:r>
            <a:r>
              <a:rPr kumimoji="0" lang="en-US" altLang="zh-CN" sz="2800" b="1" i="0" u="none" strike="noStrike" kern="0" cap="none" spc="0" normalizeH="0" baseline="-3000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4</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(4,2,0)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，且</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Request</a:t>
            </a:r>
            <a:r>
              <a:rPr kumimoji="0" lang="en-US" altLang="zh-CN" sz="2800" b="1" i="0" u="none" strike="noStrike" kern="0" cap="none" spc="0" normalizeH="0" baseline="-3000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4</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(1,2,0) &gt; Available (0,1,1)</a:t>
            </a:r>
            <a:endPar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P4</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的请求向量超过系统的可用资源向量，故</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P4</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的请求不能满足。进程</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P4</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阻塞等待</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1"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请考虑，如果</a:t>
            </a:r>
            <a:r>
              <a:rPr kumimoji="0" lang="en-US" altLang="zh-CN" sz="2800" b="1" i="1"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T</a:t>
            </a:r>
            <a:r>
              <a:rPr kumimoji="0" lang="en-US" altLang="zh-CN" sz="2800" b="1" i="1" u="none" strike="noStrike" kern="0" cap="none" spc="0" normalizeH="0" baseline="-3000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0</a:t>
            </a:r>
            <a:r>
              <a:rPr kumimoji="0" lang="zh-CN" altLang="en-US" sz="2800" b="1" i="1"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时刻，进程</a:t>
            </a:r>
            <a:r>
              <a:rPr kumimoji="0" lang="en-US" altLang="zh-CN" sz="2800" b="1" i="1"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P4</a:t>
            </a:r>
            <a:r>
              <a:rPr kumimoji="0" lang="zh-CN" altLang="en-US" sz="2800" b="1" i="1"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申请资源，其请求向量为</a:t>
            </a:r>
            <a:r>
              <a:rPr kumimoji="0" lang="en-US" altLang="zh-CN" sz="2800" b="1" i="1"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Request</a:t>
            </a:r>
            <a:r>
              <a:rPr kumimoji="0" lang="en-US" altLang="zh-CN" sz="2800" b="1" i="1" u="none" strike="noStrike" kern="0" cap="none" spc="0" normalizeH="0" baseline="-3000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4</a:t>
            </a:r>
            <a:r>
              <a:rPr kumimoji="0" lang="en-US" altLang="zh-CN" sz="2800" b="1" i="1"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(0,1,0),</a:t>
            </a:r>
            <a:r>
              <a:rPr kumimoji="0" lang="zh-CN" altLang="en-US" sz="2800" b="1" i="1"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系统是否能将资源分配给它？</a:t>
            </a:r>
            <a:endParaRPr kumimoji="0" lang="zh-CN" altLang="en-US" sz="2800" b="1" i="1"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1827">
                                            <p:txEl>
                                              <p:charRg st="0" end="52"/>
                                            </p:txEl>
                                          </p:spTgt>
                                        </p:tgtEl>
                                        <p:attrNameLst>
                                          <p:attrName>style.visibility</p:attrName>
                                        </p:attrNameLst>
                                      </p:cBhvr>
                                      <p:to>
                                        <p:strVal val="visible"/>
                                      </p:to>
                                    </p:set>
                                    <p:animEffect transition="in" filter="fade">
                                      <p:cBhvr>
                                        <p:cTn id="7" dur="2000"/>
                                        <p:tgtEl>
                                          <p:spTgt spid="461827">
                                            <p:txEl>
                                              <p:charRg st="0" end="5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1827">
                                            <p:txEl>
                                              <p:charRg st="52" end="86"/>
                                            </p:txEl>
                                          </p:spTgt>
                                        </p:tgtEl>
                                        <p:attrNameLst>
                                          <p:attrName>style.visibility</p:attrName>
                                        </p:attrNameLst>
                                      </p:cBhvr>
                                      <p:to>
                                        <p:strVal val="visible"/>
                                      </p:to>
                                    </p:set>
                                    <p:animEffect transition="in" filter="fade">
                                      <p:cBhvr>
                                        <p:cTn id="12" dur="2000"/>
                                        <p:tgtEl>
                                          <p:spTgt spid="461827">
                                            <p:txEl>
                                              <p:charRg st="52" end="8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61827">
                                            <p:txEl>
                                              <p:charRg st="86" end="123"/>
                                            </p:txEl>
                                          </p:spTgt>
                                        </p:tgtEl>
                                        <p:attrNameLst>
                                          <p:attrName>style.visibility</p:attrName>
                                        </p:attrNameLst>
                                      </p:cBhvr>
                                      <p:to>
                                        <p:strVal val="visible"/>
                                      </p:to>
                                    </p:set>
                                    <p:animEffect transition="in" filter="fade">
                                      <p:cBhvr>
                                        <p:cTn id="17" dur="2000"/>
                                        <p:tgtEl>
                                          <p:spTgt spid="461827">
                                            <p:txEl>
                                              <p:charRg st="86" end="12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61827">
                                            <p:txEl>
                                              <p:charRg st="123" end="162"/>
                                            </p:txEl>
                                          </p:spTgt>
                                        </p:tgtEl>
                                        <p:attrNameLst>
                                          <p:attrName>style.visibility</p:attrName>
                                        </p:attrNameLst>
                                      </p:cBhvr>
                                      <p:to>
                                        <p:strVal val="visible"/>
                                      </p:to>
                                    </p:set>
                                    <p:animEffect transition="in" filter="fade">
                                      <p:cBhvr>
                                        <p:cTn id="22" dur="2000"/>
                                        <p:tgtEl>
                                          <p:spTgt spid="461827">
                                            <p:txEl>
                                              <p:charRg st="123" end="16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61827">
                                            <p:txEl>
                                              <p:charRg st="163" end="219"/>
                                            </p:txEl>
                                          </p:spTgt>
                                        </p:tgtEl>
                                        <p:attrNameLst>
                                          <p:attrName>style.visibility</p:attrName>
                                        </p:attrNameLst>
                                      </p:cBhvr>
                                      <p:to>
                                        <p:strVal val="visible"/>
                                      </p:to>
                                    </p:set>
                                    <p:animEffect transition="in" filter="fade">
                                      <p:cBhvr>
                                        <p:cTn id="27" dur="2000"/>
                                        <p:tgtEl>
                                          <p:spTgt spid="461827">
                                            <p:txEl>
                                              <p:charRg st="163" end="2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827"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2851" name="Rectangle 3"/>
          <p:cNvSpPr>
            <a:spLocks noGrp="1" noRot="1" noChangeArrowheads="1"/>
          </p:cNvSpPr>
          <p:nvPr>
            <p:ph type="body" idx="1"/>
          </p:nvPr>
        </p:nvSpPr>
        <p:spPr>
          <a:xfrm>
            <a:off x="304800" y="260350"/>
            <a:ext cx="8443913" cy="6121400"/>
          </a:xfrm>
        </p:spPr>
        <p:txBody>
          <a:bodyPr vert="horz" wrap="square" lIns="91440" tIns="45720" rIns="91440" bIns="45720" numCol="1" anchor="t" anchorCtr="0" compatLnSpc="1"/>
          <a:lstStyle/>
          <a:p>
            <a:pPr marL="342900" marR="0" lvl="0" indent="-342900" algn="just"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n-cs"/>
              </a:rPr>
              <a:t>小结：</a:t>
            </a:r>
            <a:endParaRPr kumimoji="0" lang="en-US" altLang="zh-CN"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just"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避免死锁不象预防死锁那样需要剥夺进程已获得的资源，或重新执行进程。而且，避免死锁比预防死锁施加的限制条件要弱得多。</a:t>
            </a:r>
            <a:endPar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just"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just"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避免死锁的限制条件：</a:t>
            </a:r>
            <a:endParaRPr kumimoji="0" lang="zh-CN" altLang="en-US" sz="28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just"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a)</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预先必须申明每个进程需要的资源总量；</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just"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b)</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进程之间相互独立，其执行顺序取决于系统安全，而非进程间的同步要求；</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just"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c)</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系统必须提供固定数量的资源供进程使用；</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just"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d)</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若进程占有系统资源，则不能让其退出系统。</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2851">
                                            <p:txEl>
                                              <p:charRg st="0" end="4"/>
                                            </p:txEl>
                                          </p:spTgt>
                                        </p:tgtEl>
                                        <p:attrNameLst>
                                          <p:attrName>style.visibility</p:attrName>
                                        </p:attrNameLst>
                                      </p:cBhvr>
                                      <p:to>
                                        <p:strVal val="visible"/>
                                      </p:to>
                                    </p:set>
                                    <p:animEffect transition="in" filter="fade">
                                      <p:cBhvr>
                                        <p:cTn id="7" dur="2000"/>
                                        <p:tgtEl>
                                          <p:spTgt spid="462851">
                                            <p:txEl>
                                              <p:charRg st="0"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2851">
                                            <p:txEl>
                                              <p:charRg st="4" end="62"/>
                                            </p:txEl>
                                          </p:spTgt>
                                        </p:tgtEl>
                                        <p:attrNameLst>
                                          <p:attrName>style.visibility</p:attrName>
                                        </p:attrNameLst>
                                      </p:cBhvr>
                                      <p:to>
                                        <p:strVal val="visible"/>
                                      </p:to>
                                    </p:set>
                                    <p:animEffect transition="in" filter="fade">
                                      <p:cBhvr>
                                        <p:cTn id="12" dur="2000"/>
                                        <p:tgtEl>
                                          <p:spTgt spid="462851">
                                            <p:txEl>
                                              <p:charRg st="4" end="6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62851">
                                            <p:txEl>
                                              <p:charRg st="63" end="74"/>
                                            </p:txEl>
                                          </p:spTgt>
                                        </p:tgtEl>
                                        <p:attrNameLst>
                                          <p:attrName>style.visibility</p:attrName>
                                        </p:attrNameLst>
                                      </p:cBhvr>
                                      <p:to>
                                        <p:strVal val="visible"/>
                                      </p:to>
                                    </p:set>
                                    <p:animEffect transition="in" filter="fade">
                                      <p:cBhvr>
                                        <p:cTn id="17" dur="2000"/>
                                        <p:tgtEl>
                                          <p:spTgt spid="462851">
                                            <p:txEl>
                                              <p:charRg st="63" end="7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62851">
                                            <p:txEl>
                                              <p:charRg st="74" end="97"/>
                                            </p:txEl>
                                          </p:spTgt>
                                        </p:tgtEl>
                                        <p:attrNameLst>
                                          <p:attrName>style.visibility</p:attrName>
                                        </p:attrNameLst>
                                      </p:cBhvr>
                                      <p:to>
                                        <p:strVal val="visible"/>
                                      </p:to>
                                    </p:set>
                                    <p:animEffect transition="in" filter="fade">
                                      <p:cBhvr>
                                        <p:cTn id="22" dur="2000"/>
                                        <p:tgtEl>
                                          <p:spTgt spid="462851">
                                            <p:txEl>
                                              <p:charRg st="74" end="9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62851">
                                            <p:txEl>
                                              <p:charRg st="97" end="134"/>
                                            </p:txEl>
                                          </p:spTgt>
                                        </p:tgtEl>
                                        <p:attrNameLst>
                                          <p:attrName>style.visibility</p:attrName>
                                        </p:attrNameLst>
                                      </p:cBhvr>
                                      <p:to>
                                        <p:strVal val="visible"/>
                                      </p:to>
                                    </p:set>
                                    <p:animEffect transition="in" filter="fade">
                                      <p:cBhvr>
                                        <p:cTn id="27" dur="2000"/>
                                        <p:tgtEl>
                                          <p:spTgt spid="462851">
                                            <p:txEl>
                                              <p:charRg st="97" end="13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62851">
                                            <p:txEl>
                                              <p:charRg st="134" end="158"/>
                                            </p:txEl>
                                          </p:spTgt>
                                        </p:tgtEl>
                                        <p:attrNameLst>
                                          <p:attrName>style.visibility</p:attrName>
                                        </p:attrNameLst>
                                      </p:cBhvr>
                                      <p:to>
                                        <p:strVal val="visible"/>
                                      </p:to>
                                    </p:set>
                                    <p:animEffect transition="in" filter="fade">
                                      <p:cBhvr>
                                        <p:cTn id="32" dur="2000"/>
                                        <p:tgtEl>
                                          <p:spTgt spid="462851">
                                            <p:txEl>
                                              <p:charRg st="134" end="15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62851">
                                            <p:txEl>
                                              <p:charRg st="158" end="181"/>
                                            </p:txEl>
                                          </p:spTgt>
                                        </p:tgtEl>
                                        <p:attrNameLst>
                                          <p:attrName>style.visibility</p:attrName>
                                        </p:attrNameLst>
                                      </p:cBhvr>
                                      <p:to>
                                        <p:strVal val="visible"/>
                                      </p:to>
                                    </p:set>
                                    <p:animEffect transition="in" filter="fade">
                                      <p:cBhvr>
                                        <p:cTn id="37" dur="2000"/>
                                        <p:tgtEl>
                                          <p:spTgt spid="462851">
                                            <p:txEl>
                                              <p:charRg st="158" end="18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1"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3874"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3.7 </a:t>
            </a: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死锁的检测与解除</a:t>
            </a:r>
            <a:r>
              <a:rPr kumimoji="0" lang="zh-CN" altLang="en-US" sz="4400" b="0" i="0" u="none" strike="noStrike" kern="0" cap="none" spc="0" normalizeH="0" baseline="0" noProof="0" smtClean="0">
                <a:ln>
                  <a:noFill/>
                </a:ln>
                <a:solidFill>
                  <a:schemeClr val="folHlink"/>
                </a:solidFill>
                <a:effectLst/>
                <a:uLnTx/>
                <a:uFillTx/>
                <a:latin typeface="+mj-lt"/>
                <a:ea typeface="+mj-ea"/>
                <a:cs typeface="+mj-cs"/>
              </a:rPr>
              <a:t> </a:t>
            </a:r>
            <a:endParaRPr kumimoji="0" lang="zh-CN" altLang="en-US" sz="4400" b="0" i="0" u="none" strike="noStrike" kern="0" cap="none" spc="0" normalizeH="0" baseline="0" noProof="0" smtClean="0">
              <a:ln>
                <a:noFill/>
              </a:ln>
              <a:solidFill>
                <a:schemeClr val="folHlink"/>
              </a:solidFill>
              <a:effectLst/>
              <a:uLnTx/>
              <a:uFillTx/>
              <a:latin typeface="+mj-lt"/>
              <a:ea typeface="+mj-ea"/>
              <a:cs typeface="+mj-cs"/>
            </a:endParaRPr>
          </a:p>
        </p:txBody>
      </p:sp>
      <p:sp>
        <p:nvSpPr>
          <p:cNvPr id="463875"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如果系统不愿意附加太多约束条件预防死锁，也不希望系统额外开销预测并避免死锁，那么，只能允许死锁出现，然后，再解除它。</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因此，系统需要利用某种方法来检测死锁，下面给出了一种检测死锁的方法：简化资源分配图，如下图所示。</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sz="32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63874"/>
                                        </p:tgtEl>
                                        <p:attrNameLst>
                                          <p:attrName>style.visibility</p:attrName>
                                        </p:attrNameLst>
                                      </p:cBhvr>
                                      <p:to>
                                        <p:strVal val="visible"/>
                                      </p:to>
                                    </p:set>
                                    <p:animEffect transition="in" filter="fade">
                                      <p:cBhvr>
                                        <p:cTn id="7" dur="2000"/>
                                        <p:tgtEl>
                                          <p:spTgt spid="4638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3875">
                                            <p:txEl>
                                              <p:charRg st="0" end="59"/>
                                            </p:txEl>
                                          </p:spTgt>
                                        </p:tgtEl>
                                        <p:attrNameLst>
                                          <p:attrName>style.visibility</p:attrName>
                                        </p:attrNameLst>
                                      </p:cBhvr>
                                      <p:to>
                                        <p:strVal val="visible"/>
                                      </p:to>
                                    </p:set>
                                    <p:animEffect transition="in" filter="fade">
                                      <p:cBhvr>
                                        <p:cTn id="12" dur="2000"/>
                                        <p:tgtEl>
                                          <p:spTgt spid="463875">
                                            <p:txEl>
                                              <p:charRg st="0" end="5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63875">
                                            <p:txEl>
                                              <p:charRg st="59" end="109"/>
                                            </p:txEl>
                                          </p:spTgt>
                                        </p:tgtEl>
                                        <p:attrNameLst>
                                          <p:attrName>style.visibility</p:attrName>
                                        </p:attrNameLst>
                                      </p:cBhvr>
                                      <p:to>
                                        <p:strVal val="visible"/>
                                      </p:to>
                                    </p:set>
                                    <p:animEffect transition="in" filter="fade">
                                      <p:cBhvr>
                                        <p:cTn id="17" dur="2000"/>
                                        <p:tgtEl>
                                          <p:spTgt spid="463875">
                                            <p:txEl>
                                              <p:charRg st="59" end="10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4" grpId="0"/>
      <p:bldP spid="463875" grpId="0" build="p"/>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67"/>
          <p:cNvSpPr/>
          <p:nvPr/>
        </p:nvSpPr>
        <p:spPr>
          <a:xfrm>
            <a:off x="381000" y="381000"/>
            <a:ext cx="8229600" cy="3962400"/>
          </a:xfrm>
          <a:prstGeom prst="rect">
            <a:avLst/>
          </a:prstGeom>
          <a:solidFill>
            <a:srgbClr val="CCFFFF"/>
          </a:solidFill>
          <a:ln w="9525">
            <a:noFill/>
          </a:ln>
          <a:effectLst>
            <a:prstShdw prst="shdw17" dist="17961" dir="13499999">
              <a:srgbClr val="050505"/>
            </a:prstShdw>
          </a:effectLst>
        </p:spPr>
        <p:txBody>
          <a:bodyPr wrap="none" anchor="ctr" anchorCtr="0"/>
          <a:p>
            <a:pPr eaLnBrk="1" hangingPunct="1"/>
            <a:endParaRPr lang="zh-CN" altLang="en-US" dirty="0">
              <a:latin typeface="Arial" panose="020B0604020202020204" pitchFamily="34" charset="0"/>
            </a:endParaRPr>
          </a:p>
        </p:txBody>
      </p:sp>
      <p:grpSp>
        <p:nvGrpSpPr>
          <p:cNvPr id="123907" name="Group 68"/>
          <p:cNvGrpSpPr/>
          <p:nvPr/>
        </p:nvGrpSpPr>
        <p:grpSpPr>
          <a:xfrm>
            <a:off x="762000" y="733425"/>
            <a:ext cx="7467600" cy="3609975"/>
            <a:chOff x="1797" y="1516"/>
            <a:chExt cx="8348" cy="3668"/>
          </a:xfrm>
        </p:grpSpPr>
        <p:grpSp>
          <p:nvGrpSpPr>
            <p:cNvPr id="123909" name="Group 69"/>
            <p:cNvGrpSpPr/>
            <p:nvPr/>
          </p:nvGrpSpPr>
          <p:grpSpPr>
            <a:xfrm>
              <a:off x="4857" y="1615"/>
              <a:ext cx="2768" cy="2945"/>
              <a:chOff x="4857" y="1615"/>
              <a:chExt cx="2768" cy="2945"/>
            </a:xfrm>
          </p:grpSpPr>
          <p:sp>
            <p:nvSpPr>
              <p:cNvPr id="123954" name="Arc 70"/>
              <p:cNvSpPr/>
              <p:nvPr/>
            </p:nvSpPr>
            <p:spPr>
              <a:xfrm flipV="1">
                <a:off x="6477" y="2774"/>
                <a:ext cx="1005" cy="934"/>
              </a:xfrm>
              <a:custGeom>
                <a:avLst/>
                <a:gdLst>
                  <a:gd name="txL" fmla="*/ 0 w 21600"/>
                  <a:gd name="txT" fmla="*/ 0 h 20955"/>
                  <a:gd name="txR" fmla="*/ 21600 w 21600"/>
                  <a:gd name="txB" fmla="*/ 20955 h 20955"/>
                </a:gdLst>
                <a:ahLst/>
                <a:cxnLst>
                  <a:cxn ang="0">
                    <a:pos x="0" y="0"/>
                  </a:cxn>
                  <a:cxn ang="0">
                    <a:pos x="0" y="0"/>
                  </a:cxn>
                  <a:cxn ang="0">
                    <a:pos x="0" y="0"/>
                  </a:cxn>
                </a:cxnLst>
                <a:rect l="txL" t="txT" r="txR" b="txB"/>
                <a:pathLst>
                  <a:path w="21600" h="20955" fill="none">
                    <a:moveTo>
                      <a:pt x="5238" y="-1"/>
                    </a:moveTo>
                    <a:cubicBezTo>
                      <a:pt x="14854" y="2403"/>
                      <a:pt x="21600" y="11043"/>
                      <a:pt x="21600" y="20955"/>
                    </a:cubicBezTo>
                  </a:path>
                  <a:path w="21600" h="20955" stroke="0">
                    <a:moveTo>
                      <a:pt x="5238" y="-1"/>
                    </a:moveTo>
                    <a:cubicBezTo>
                      <a:pt x="14854" y="2403"/>
                      <a:pt x="21600" y="11043"/>
                      <a:pt x="21600" y="20955"/>
                    </a:cubicBezTo>
                    <a:lnTo>
                      <a:pt x="0" y="20955"/>
                    </a:lnTo>
                    <a:lnTo>
                      <a:pt x="5238" y="-1"/>
                    </a:lnTo>
                    <a:close/>
                  </a:path>
                </a:pathLst>
              </a:custGeom>
              <a:noFill/>
              <a:ln w="9525" cap="flat" cmpd="sng">
                <a:solidFill>
                  <a:srgbClr val="000000">
                    <a:alpha val="100000"/>
                  </a:srgbClr>
                </a:solidFill>
                <a:prstDash val="solid"/>
                <a:round/>
                <a:headEnd type="stealth" w="med" len="med"/>
                <a:tailEnd type="none" w="med" len="med"/>
              </a:ln>
            </p:spPr>
            <p:txBody>
              <a:bodyPr/>
              <a:p>
                <a:endParaRPr lang="zh-CN" altLang="en-US"/>
              </a:p>
            </p:txBody>
          </p:sp>
          <p:sp>
            <p:nvSpPr>
              <p:cNvPr id="123955" name="Arc 71"/>
              <p:cNvSpPr/>
              <p:nvPr/>
            </p:nvSpPr>
            <p:spPr>
              <a:xfrm flipH="1" flipV="1">
                <a:off x="5217" y="2664"/>
                <a:ext cx="1071" cy="1084"/>
              </a:xfrm>
              <a:custGeom>
                <a:avLst/>
                <a:gdLst>
                  <a:gd name="txL" fmla="*/ 0 w 21414"/>
                  <a:gd name="txT" fmla="*/ 0 h 21221"/>
                  <a:gd name="txR" fmla="*/ 21414 w 21414"/>
                  <a:gd name="txB" fmla="*/ 21221 h 21221"/>
                </a:gdLst>
                <a:ahLst/>
                <a:cxnLst>
                  <a:cxn ang="0">
                    <a:pos x="0" y="0"/>
                  </a:cxn>
                  <a:cxn ang="0">
                    <a:pos x="0" y="0"/>
                  </a:cxn>
                  <a:cxn ang="0">
                    <a:pos x="0" y="0"/>
                  </a:cxn>
                </a:cxnLst>
                <a:rect l="txL" t="txT" r="txR" b="txB"/>
                <a:pathLst>
                  <a:path w="21414" h="21221" fill="none">
                    <a:moveTo>
                      <a:pt x="4026" y="-1"/>
                    </a:moveTo>
                    <a:cubicBezTo>
                      <a:pt x="13182" y="1736"/>
                      <a:pt x="20192" y="9150"/>
                      <a:pt x="21413" y="18390"/>
                    </a:cubicBezTo>
                  </a:path>
                  <a:path w="21414" h="21221" stroke="0">
                    <a:moveTo>
                      <a:pt x="4026" y="-1"/>
                    </a:moveTo>
                    <a:cubicBezTo>
                      <a:pt x="13182" y="1736"/>
                      <a:pt x="20192" y="9150"/>
                      <a:pt x="21413" y="18390"/>
                    </a:cubicBezTo>
                    <a:lnTo>
                      <a:pt x="0" y="21221"/>
                    </a:lnTo>
                    <a:lnTo>
                      <a:pt x="4026" y="-1"/>
                    </a:lnTo>
                    <a:close/>
                  </a:path>
                </a:pathLst>
              </a:custGeom>
              <a:noFill/>
              <a:ln w="9525" cap="flat" cmpd="sng">
                <a:solidFill>
                  <a:srgbClr val="000000">
                    <a:alpha val="100000"/>
                  </a:srgbClr>
                </a:solidFill>
                <a:prstDash val="solid"/>
                <a:round/>
                <a:headEnd type="none" w="med" len="med"/>
                <a:tailEnd type="stealth" w="med" len="med"/>
              </a:ln>
            </p:spPr>
            <p:txBody>
              <a:bodyPr/>
              <a:p>
                <a:endParaRPr lang="zh-CN" altLang="en-US"/>
              </a:p>
            </p:txBody>
          </p:sp>
          <p:sp>
            <p:nvSpPr>
              <p:cNvPr id="123956" name="Arc 72"/>
              <p:cNvSpPr/>
              <p:nvPr/>
            </p:nvSpPr>
            <p:spPr>
              <a:xfrm flipH="1" flipV="1">
                <a:off x="4978" y="2774"/>
                <a:ext cx="1139" cy="1092"/>
              </a:xfrm>
              <a:custGeom>
                <a:avLst/>
                <a:gdLst>
                  <a:gd name="txL" fmla="*/ 0 w 22782"/>
                  <a:gd name="txT" fmla="*/ 0 h 21600"/>
                  <a:gd name="txR" fmla="*/ 22782 w 22782"/>
                  <a:gd name="txB" fmla="*/ 21600 h 21600"/>
                </a:gdLst>
                <a:ahLst/>
                <a:cxnLst>
                  <a:cxn ang="0">
                    <a:pos x="0" y="0"/>
                  </a:cxn>
                  <a:cxn ang="0">
                    <a:pos x="0" y="0"/>
                  </a:cxn>
                  <a:cxn ang="0">
                    <a:pos x="0" y="0"/>
                  </a:cxn>
                </a:cxnLst>
                <a:rect l="txL" t="txT" r="txR" b="txB"/>
                <a:pathLst>
                  <a:path w="22782" h="21600" fill="none">
                    <a:moveTo>
                      <a:pt x="0" y="32"/>
                    </a:moveTo>
                    <a:cubicBezTo>
                      <a:pt x="393" y="10"/>
                      <a:pt x="787" y="-1"/>
                      <a:pt x="1182" y="0"/>
                    </a:cubicBezTo>
                    <a:cubicBezTo>
                      <a:pt x="13111" y="0"/>
                      <a:pt x="22782" y="9670"/>
                      <a:pt x="22782" y="21600"/>
                    </a:cubicBezTo>
                  </a:path>
                  <a:path w="22782" h="21600" stroke="0">
                    <a:moveTo>
                      <a:pt x="0" y="32"/>
                    </a:moveTo>
                    <a:cubicBezTo>
                      <a:pt x="393" y="10"/>
                      <a:pt x="787" y="-1"/>
                      <a:pt x="1182" y="0"/>
                    </a:cubicBezTo>
                    <a:cubicBezTo>
                      <a:pt x="13111" y="0"/>
                      <a:pt x="22782" y="9670"/>
                      <a:pt x="22782" y="21600"/>
                    </a:cubicBezTo>
                    <a:lnTo>
                      <a:pt x="1182" y="21600"/>
                    </a:lnTo>
                    <a:lnTo>
                      <a:pt x="0" y="32"/>
                    </a:lnTo>
                    <a:close/>
                  </a:path>
                </a:pathLst>
              </a:custGeom>
              <a:noFill/>
              <a:ln w="9525" cap="flat" cmpd="sng">
                <a:solidFill>
                  <a:srgbClr val="000000">
                    <a:alpha val="100000"/>
                  </a:srgbClr>
                </a:solidFill>
                <a:prstDash val="solid"/>
                <a:round/>
                <a:headEnd type="stealth" w="med" len="med"/>
                <a:tailEnd type="none" w="med" len="med"/>
              </a:ln>
            </p:spPr>
            <p:txBody>
              <a:bodyPr/>
              <a:p>
                <a:endParaRPr lang="zh-CN" altLang="en-US"/>
              </a:p>
            </p:txBody>
          </p:sp>
          <p:grpSp>
            <p:nvGrpSpPr>
              <p:cNvPr id="123957" name="Group 73"/>
              <p:cNvGrpSpPr/>
              <p:nvPr/>
            </p:nvGrpSpPr>
            <p:grpSpPr>
              <a:xfrm>
                <a:off x="5937" y="1615"/>
                <a:ext cx="558" cy="525"/>
                <a:chOff x="3057" y="13083"/>
                <a:chExt cx="558" cy="525"/>
              </a:xfrm>
            </p:grpSpPr>
            <p:sp>
              <p:nvSpPr>
                <p:cNvPr id="123971" name="Oval 74"/>
                <p:cNvSpPr/>
                <p:nvPr/>
              </p:nvSpPr>
              <p:spPr>
                <a:xfrm>
                  <a:off x="3057" y="13083"/>
                  <a:ext cx="558" cy="477"/>
                </a:xfrm>
                <a:prstGeom prst="ellipse">
                  <a:avLst/>
                </a:prstGeom>
                <a:noFill/>
                <a:ln w="9525" cap="flat" cmpd="sng">
                  <a:solidFill>
                    <a:srgbClr val="000000"/>
                  </a:solidFill>
                  <a:prstDash val="solid"/>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72" name="Text Box 75"/>
                <p:cNvSpPr txBox="1"/>
                <p:nvPr/>
              </p:nvSpPr>
              <p:spPr>
                <a:xfrm>
                  <a:off x="3057" y="13140"/>
                  <a:ext cx="540" cy="468"/>
                </a:xfrm>
                <a:prstGeom prst="rect">
                  <a:avLst/>
                </a:prstGeom>
                <a:noFill/>
                <a:ln w="9525">
                  <a:noFill/>
                </a:ln>
              </p:spPr>
              <p:txBody>
                <a:bodyPr/>
                <a:p>
                  <a:pPr algn="just"/>
                  <a:r>
                    <a:rPr lang="en-US" altLang="zh-CN" b="1" dirty="0">
                      <a:solidFill>
                        <a:srgbClr val="003300"/>
                      </a:solidFill>
                      <a:latin typeface="Times New Roman" panose="02020603050405020304" pitchFamily="18" charset="0"/>
                    </a:rPr>
                    <a:t>P1</a:t>
                  </a:r>
                  <a:endParaRPr lang="en-US" altLang="zh-CN" b="1" dirty="0">
                    <a:solidFill>
                      <a:srgbClr val="003300"/>
                    </a:solidFill>
                    <a:latin typeface="Times New Roman" panose="02020603050405020304" pitchFamily="18" charset="0"/>
                  </a:endParaRPr>
                </a:p>
              </p:txBody>
            </p:sp>
          </p:grpSp>
          <p:grpSp>
            <p:nvGrpSpPr>
              <p:cNvPr id="123958" name="Group 76"/>
              <p:cNvGrpSpPr/>
              <p:nvPr/>
            </p:nvGrpSpPr>
            <p:grpSpPr>
              <a:xfrm>
                <a:off x="6117" y="3544"/>
                <a:ext cx="558" cy="525"/>
                <a:chOff x="3057" y="13083"/>
                <a:chExt cx="558" cy="525"/>
              </a:xfrm>
            </p:grpSpPr>
            <p:sp>
              <p:nvSpPr>
                <p:cNvPr id="123969" name="Oval 77"/>
                <p:cNvSpPr/>
                <p:nvPr/>
              </p:nvSpPr>
              <p:spPr>
                <a:xfrm>
                  <a:off x="3057" y="13083"/>
                  <a:ext cx="558" cy="477"/>
                </a:xfrm>
                <a:prstGeom prst="ellipse">
                  <a:avLst/>
                </a:prstGeom>
                <a:noFill/>
                <a:ln w="9525" cap="flat" cmpd="sng">
                  <a:solidFill>
                    <a:srgbClr val="000000"/>
                  </a:solidFill>
                  <a:prstDash val="solid"/>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70" name="Text Box 78"/>
                <p:cNvSpPr txBox="1"/>
                <p:nvPr/>
              </p:nvSpPr>
              <p:spPr>
                <a:xfrm>
                  <a:off x="3057" y="13140"/>
                  <a:ext cx="540" cy="468"/>
                </a:xfrm>
                <a:prstGeom prst="rect">
                  <a:avLst/>
                </a:prstGeom>
                <a:noFill/>
                <a:ln w="9525">
                  <a:noFill/>
                </a:ln>
              </p:spPr>
              <p:txBody>
                <a:bodyPr/>
                <a:p>
                  <a:pPr algn="just"/>
                  <a:r>
                    <a:rPr lang="en-US" altLang="zh-CN" b="1" dirty="0">
                      <a:solidFill>
                        <a:srgbClr val="003300"/>
                      </a:solidFill>
                      <a:latin typeface="Times New Roman" panose="02020603050405020304" pitchFamily="18" charset="0"/>
                    </a:rPr>
                    <a:t>P2</a:t>
                  </a:r>
                  <a:endParaRPr lang="en-US" altLang="zh-CN" b="1" dirty="0">
                    <a:solidFill>
                      <a:srgbClr val="003300"/>
                    </a:solidFill>
                    <a:latin typeface="Times New Roman" panose="02020603050405020304" pitchFamily="18" charset="0"/>
                  </a:endParaRPr>
                </a:p>
              </p:txBody>
            </p:sp>
          </p:grpSp>
          <p:grpSp>
            <p:nvGrpSpPr>
              <p:cNvPr id="123959" name="Group 79"/>
              <p:cNvGrpSpPr/>
              <p:nvPr/>
            </p:nvGrpSpPr>
            <p:grpSpPr>
              <a:xfrm>
                <a:off x="4857" y="2452"/>
                <a:ext cx="460" cy="334"/>
                <a:chOff x="8387" y="13768"/>
                <a:chExt cx="460" cy="334"/>
              </a:xfrm>
            </p:grpSpPr>
            <p:sp>
              <p:nvSpPr>
                <p:cNvPr id="123965" name="Rectangle 80"/>
                <p:cNvSpPr/>
                <p:nvPr/>
              </p:nvSpPr>
              <p:spPr>
                <a:xfrm>
                  <a:off x="8387" y="13768"/>
                  <a:ext cx="460" cy="334"/>
                </a:xfrm>
                <a:prstGeom prst="rect">
                  <a:avLst/>
                </a:prstGeom>
                <a:no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66" name="AutoShape 81"/>
                <p:cNvSpPr/>
                <p:nvPr/>
              </p:nvSpPr>
              <p:spPr>
                <a:xfrm>
                  <a:off x="8429" y="13803"/>
                  <a:ext cx="180" cy="156"/>
                </a:xfrm>
                <a:prstGeom prst="star8">
                  <a:avLst>
                    <a:gd name="adj" fmla="val 38250"/>
                  </a:avLst>
                </a:prstGeom>
                <a:solidFill>
                  <a:srgbClr val="99CCFF"/>
                </a:solid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67" name="AutoShape 82"/>
                <p:cNvSpPr/>
                <p:nvPr/>
              </p:nvSpPr>
              <p:spPr>
                <a:xfrm>
                  <a:off x="8639" y="13803"/>
                  <a:ext cx="180" cy="156"/>
                </a:xfrm>
                <a:prstGeom prst="star8">
                  <a:avLst>
                    <a:gd name="adj" fmla="val 38250"/>
                  </a:avLst>
                </a:prstGeom>
                <a:solidFill>
                  <a:srgbClr val="99CCFF"/>
                </a:solid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68" name="AutoShape 83"/>
                <p:cNvSpPr/>
                <p:nvPr/>
              </p:nvSpPr>
              <p:spPr>
                <a:xfrm>
                  <a:off x="8534" y="13923"/>
                  <a:ext cx="180" cy="156"/>
                </a:xfrm>
                <a:prstGeom prst="star8">
                  <a:avLst>
                    <a:gd name="adj" fmla="val 38250"/>
                  </a:avLst>
                </a:prstGeom>
                <a:solidFill>
                  <a:srgbClr val="99CCFF"/>
                </a:solid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23960" name="Group 84"/>
              <p:cNvGrpSpPr/>
              <p:nvPr/>
            </p:nvGrpSpPr>
            <p:grpSpPr>
              <a:xfrm>
                <a:off x="7197" y="2452"/>
                <a:ext cx="428" cy="333"/>
                <a:chOff x="10694" y="13763"/>
                <a:chExt cx="428" cy="333"/>
              </a:xfrm>
            </p:grpSpPr>
            <p:sp>
              <p:nvSpPr>
                <p:cNvPr id="123962" name="Rectangle 85"/>
                <p:cNvSpPr/>
                <p:nvPr/>
              </p:nvSpPr>
              <p:spPr>
                <a:xfrm>
                  <a:off x="10694" y="13763"/>
                  <a:ext cx="428" cy="333"/>
                </a:xfrm>
                <a:prstGeom prst="rect">
                  <a:avLst/>
                </a:prstGeom>
                <a:no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63" name="AutoShape 86"/>
                <p:cNvSpPr/>
                <p:nvPr/>
              </p:nvSpPr>
              <p:spPr>
                <a:xfrm>
                  <a:off x="10709" y="13820"/>
                  <a:ext cx="180" cy="156"/>
                </a:xfrm>
                <a:prstGeom prst="star8">
                  <a:avLst>
                    <a:gd name="adj" fmla="val 38250"/>
                  </a:avLst>
                </a:prstGeom>
                <a:solidFill>
                  <a:srgbClr val="99CCFF"/>
                </a:solid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64" name="AutoShape 87"/>
                <p:cNvSpPr/>
                <p:nvPr/>
              </p:nvSpPr>
              <p:spPr>
                <a:xfrm>
                  <a:off x="10919" y="13820"/>
                  <a:ext cx="180" cy="156"/>
                </a:xfrm>
                <a:prstGeom prst="star8">
                  <a:avLst>
                    <a:gd name="adj" fmla="val 38250"/>
                  </a:avLst>
                </a:prstGeom>
                <a:solidFill>
                  <a:srgbClr val="99CCFF"/>
                </a:solid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sp>
            <p:nvSpPr>
              <p:cNvPr id="123961" name="Text Box 88"/>
              <p:cNvSpPr txBox="1"/>
              <p:nvPr/>
            </p:nvSpPr>
            <p:spPr>
              <a:xfrm>
                <a:off x="6477" y="4092"/>
                <a:ext cx="540" cy="468"/>
              </a:xfrm>
              <a:prstGeom prst="rect">
                <a:avLst/>
              </a:prstGeom>
              <a:noFill/>
              <a:ln w="9525">
                <a:noFill/>
              </a:ln>
            </p:spPr>
            <p:txBody>
              <a:bodyPr/>
              <a:p>
                <a:pPr algn="just"/>
                <a:r>
                  <a:rPr lang="en-US" altLang="zh-CN" b="1" dirty="0">
                    <a:solidFill>
                      <a:srgbClr val="003300"/>
                    </a:solidFill>
                    <a:latin typeface="Times New Roman" panose="02020603050405020304" pitchFamily="18" charset="0"/>
                  </a:rPr>
                  <a:t>(b)</a:t>
                </a:r>
                <a:endParaRPr lang="en-US" altLang="zh-CN" b="1" dirty="0">
                  <a:solidFill>
                    <a:srgbClr val="003300"/>
                  </a:solidFill>
                  <a:latin typeface="Times New Roman" panose="02020603050405020304" pitchFamily="18" charset="0"/>
                </a:endParaRPr>
              </a:p>
            </p:txBody>
          </p:sp>
        </p:grpSp>
        <p:grpSp>
          <p:nvGrpSpPr>
            <p:cNvPr id="123910" name="Group 89"/>
            <p:cNvGrpSpPr/>
            <p:nvPr/>
          </p:nvGrpSpPr>
          <p:grpSpPr>
            <a:xfrm>
              <a:off x="7997" y="1516"/>
              <a:ext cx="2148" cy="2888"/>
              <a:chOff x="7997" y="1516"/>
              <a:chExt cx="2148" cy="2888"/>
            </a:xfrm>
          </p:grpSpPr>
          <p:grpSp>
            <p:nvGrpSpPr>
              <p:cNvPr id="123938" name="Group 90"/>
              <p:cNvGrpSpPr/>
              <p:nvPr/>
            </p:nvGrpSpPr>
            <p:grpSpPr>
              <a:xfrm>
                <a:off x="7997" y="2456"/>
                <a:ext cx="460" cy="334"/>
                <a:chOff x="8387" y="13768"/>
                <a:chExt cx="460" cy="334"/>
              </a:xfrm>
            </p:grpSpPr>
            <p:sp>
              <p:nvSpPr>
                <p:cNvPr id="123950" name="Rectangle 91"/>
                <p:cNvSpPr/>
                <p:nvPr/>
              </p:nvSpPr>
              <p:spPr>
                <a:xfrm>
                  <a:off x="8387" y="13768"/>
                  <a:ext cx="460" cy="334"/>
                </a:xfrm>
                <a:prstGeom prst="rect">
                  <a:avLst/>
                </a:prstGeom>
                <a:no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51" name="AutoShape 92"/>
                <p:cNvSpPr/>
                <p:nvPr/>
              </p:nvSpPr>
              <p:spPr>
                <a:xfrm>
                  <a:off x="8429" y="13803"/>
                  <a:ext cx="180" cy="156"/>
                </a:xfrm>
                <a:prstGeom prst="star8">
                  <a:avLst>
                    <a:gd name="adj" fmla="val 38250"/>
                  </a:avLst>
                </a:prstGeom>
                <a:solidFill>
                  <a:srgbClr val="99CCFF"/>
                </a:solid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52" name="AutoShape 93"/>
                <p:cNvSpPr/>
                <p:nvPr/>
              </p:nvSpPr>
              <p:spPr>
                <a:xfrm>
                  <a:off x="8639" y="13803"/>
                  <a:ext cx="180" cy="156"/>
                </a:xfrm>
                <a:prstGeom prst="star8">
                  <a:avLst>
                    <a:gd name="adj" fmla="val 38250"/>
                  </a:avLst>
                </a:prstGeom>
                <a:solidFill>
                  <a:srgbClr val="99CCFF"/>
                </a:solid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53" name="AutoShape 94"/>
                <p:cNvSpPr/>
                <p:nvPr/>
              </p:nvSpPr>
              <p:spPr>
                <a:xfrm>
                  <a:off x="8534" y="13923"/>
                  <a:ext cx="180" cy="156"/>
                </a:xfrm>
                <a:prstGeom prst="star8">
                  <a:avLst>
                    <a:gd name="adj" fmla="val 38250"/>
                  </a:avLst>
                </a:prstGeom>
                <a:solidFill>
                  <a:srgbClr val="99CCFF"/>
                </a:solid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23939" name="Group 95"/>
              <p:cNvGrpSpPr/>
              <p:nvPr/>
            </p:nvGrpSpPr>
            <p:grpSpPr>
              <a:xfrm>
                <a:off x="9717" y="2451"/>
                <a:ext cx="428" cy="333"/>
                <a:chOff x="10694" y="13763"/>
                <a:chExt cx="428" cy="333"/>
              </a:xfrm>
            </p:grpSpPr>
            <p:sp>
              <p:nvSpPr>
                <p:cNvPr id="123947" name="Rectangle 96"/>
                <p:cNvSpPr/>
                <p:nvPr/>
              </p:nvSpPr>
              <p:spPr>
                <a:xfrm>
                  <a:off x="10694" y="13763"/>
                  <a:ext cx="428" cy="333"/>
                </a:xfrm>
                <a:prstGeom prst="rect">
                  <a:avLst/>
                </a:prstGeom>
                <a:no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48" name="AutoShape 97"/>
                <p:cNvSpPr/>
                <p:nvPr/>
              </p:nvSpPr>
              <p:spPr>
                <a:xfrm>
                  <a:off x="10709" y="13820"/>
                  <a:ext cx="180" cy="156"/>
                </a:xfrm>
                <a:prstGeom prst="star8">
                  <a:avLst>
                    <a:gd name="adj" fmla="val 38250"/>
                  </a:avLst>
                </a:prstGeom>
                <a:solidFill>
                  <a:srgbClr val="99CCFF"/>
                </a:solid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49" name="AutoShape 98"/>
                <p:cNvSpPr/>
                <p:nvPr/>
              </p:nvSpPr>
              <p:spPr>
                <a:xfrm>
                  <a:off x="10919" y="13820"/>
                  <a:ext cx="180" cy="156"/>
                </a:xfrm>
                <a:prstGeom prst="star8">
                  <a:avLst>
                    <a:gd name="adj" fmla="val 38250"/>
                  </a:avLst>
                </a:prstGeom>
                <a:solidFill>
                  <a:srgbClr val="99CCFF"/>
                </a:solid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grpSp>
            <p:nvGrpSpPr>
              <p:cNvPr id="123940" name="Group 99"/>
              <p:cNvGrpSpPr/>
              <p:nvPr/>
            </p:nvGrpSpPr>
            <p:grpSpPr>
              <a:xfrm>
                <a:off x="8637" y="1516"/>
                <a:ext cx="558" cy="525"/>
                <a:chOff x="3057" y="13083"/>
                <a:chExt cx="558" cy="525"/>
              </a:xfrm>
            </p:grpSpPr>
            <p:sp>
              <p:nvSpPr>
                <p:cNvPr id="123945" name="Oval 100"/>
                <p:cNvSpPr/>
                <p:nvPr/>
              </p:nvSpPr>
              <p:spPr>
                <a:xfrm>
                  <a:off x="3057" y="13083"/>
                  <a:ext cx="558" cy="477"/>
                </a:xfrm>
                <a:prstGeom prst="ellipse">
                  <a:avLst/>
                </a:prstGeom>
                <a:noFill/>
                <a:ln w="9525" cap="flat" cmpd="sng">
                  <a:solidFill>
                    <a:srgbClr val="000000"/>
                  </a:solidFill>
                  <a:prstDash val="solid"/>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46" name="Text Box 101"/>
                <p:cNvSpPr txBox="1"/>
                <p:nvPr/>
              </p:nvSpPr>
              <p:spPr>
                <a:xfrm>
                  <a:off x="3057" y="13140"/>
                  <a:ext cx="540" cy="468"/>
                </a:xfrm>
                <a:prstGeom prst="rect">
                  <a:avLst/>
                </a:prstGeom>
                <a:noFill/>
                <a:ln w="9525">
                  <a:noFill/>
                </a:ln>
              </p:spPr>
              <p:txBody>
                <a:bodyPr/>
                <a:p>
                  <a:pPr algn="just"/>
                  <a:r>
                    <a:rPr lang="en-US" altLang="zh-CN" b="1" dirty="0">
                      <a:solidFill>
                        <a:srgbClr val="003300"/>
                      </a:solidFill>
                      <a:latin typeface="Times New Roman" panose="02020603050405020304" pitchFamily="18" charset="0"/>
                    </a:rPr>
                    <a:t>P1</a:t>
                  </a:r>
                  <a:endParaRPr lang="en-US" altLang="zh-CN" b="1" dirty="0">
                    <a:solidFill>
                      <a:srgbClr val="003300"/>
                    </a:solidFill>
                    <a:latin typeface="Times New Roman" panose="02020603050405020304" pitchFamily="18" charset="0"/>
                  </a:endParaRPr>
                </a:p>
              </p:txBody>
            </p:sp>
          </p:grpSp>
          <p:grpSp>
            <p:nvGrpSpPr>
              <p:cNvPr id="123941" name="Group 102"/>
              <p:cNvGrpSpPr/>
              <p:nvPr/>
            </p:nvGrpSpPr>
            <p:grpSpPr>
              <a:xfrm>
                <a:off x="8817" y="3388"/>
                <a:ext cx="558" cy="525"/>
                <a:chOff x="3057" y="13083"/>
                <a:chExt cx="558" cy="525"/>
              </a:xfrm>
            </p:grpSpPr>
            <p:sp>
              <p:nvSpPr>
                <p:cNvPr id="123943" name="Oval 103"/>
                <p:cNvSpPr/>
                <p:nvPr/>
              </p:nvSpPr>
              <p:spPr>
                <a:xfrm>
                  <a:off x="3057" y="13083"/>
                  <a:ext cx="558" cy="477"/>
                </a:xfrm>
                <a:prstGeom prst="ellipse">
                  <a:avLst/>
                </a:prstGeom>
                <a:noFill/>
                <a:ln w="9525" cap="flat" cmpd="sng">
                  <a:solidFill>
                    <a:srgbClr val="000000"/>
                  </a:solidFill>
                  <a:prstDash val="solid"/>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44" name="Text Box 104"/>
                <p:cNvSpPr txBox="1"/>
                <p:nvPr/>
              </p:nvSpPr>
              <p:spPr>
                <a:xfrm>
                  <a:off x="3057" y="13140"/>
                  <a:ext cx="540" cy="468"/>
                </a:xfrm>
                <a:prstGeom prst="rect">
                  <a:avLst/>
                </a:prstGeom>
                <a:noFill/>
                <a:ln w="9525">
                  <a:noFill/>
                </a:ln>
              </p:spPr>
              <p:txBody>
                <a:bodyPr/>
                <a:p>
                  <a:pPr algn="just"/>
                  <a:r>
                    <a:rPr lang="en-US" altLang="zh-CN" b="1" dirty="0">
                      <a:solidFill>
                        <a:srgbClr val="003300"/>
                      </a:solidFill>
                      <a:latin typeface="Times New Roman" panose="02020603050405020304" pitchFamily="18" charset="0"/>
                    </a:rPr>
                    <a:t>P2</a:t>
                  </a:r>
                  <a:endParaRPr lang="en-US" altLang="zh-CN" b="1" dirty="0">
                    <a:solidFill>
                      <a:srgbClr val="003300"/>
                    </a:solidFill>
                    <a:latin typeface="Times New Roman" panose="02020603050405020304" pitchFamily="18" charset="0"/>
                  </a:endParaRPr>
                </a:p>
              </p:txBody>
            </p:sp>
          </p:grpSp>
          <p:sp>
            <p:nvSpPr>
              <p:cNvPr id="123942" name="Text Box 105"/>
              <p:cNvSpPr txBox="1"/>
              <p:nvPr/>
            </p:nvSpPr>
            <p:spPr>
              <a:xfrm>
                <a:off x="8817" y="3936"/>
                <a:ext cx="540" cy="468"/>
              </a:xfrm>
              <a:prstGeom prst="rect">
                <a:avLst/>
              </a:prstGeom>
              <a:noFill/>
              <a:ln w="9525">
                <a:noFill/>
              </a:ln>
            </p:spPr>
            <p:txBody>
              <a:bodyPr/>
              <a:p>
                <a:pPr algn="just"/>
                <a:r>
                  <a:rPr lang="en-US" altLang="zh-CN" b="1" dirty="0">
                    <a:solidFill>
                      <a:srgbClr val="003300"/>
                    </a:solidFill>
                    <a:latin typeface="Times New Roman" panose="02020603050405020304" pitchFamily="18" charset="0"/>
                  </a:rPr>
                  <a:t>(c)</a:t>
                </a:r>
                <a:endParaRPr lang="en-US" altLang="zh-CN" b="1" dirty="0">
                  <a:solidFill>
                    <a:srgbClr val="003300"/>
                  </a:solidFill>
                  <a:latin typeface="Times New Roman" panose="02020603050405020304" pitchFamily="18" charset="0"/>
                </a:endParaRPr>
              </a:p>
            </p:txBody>
          </p:sp>
        </p:grpSp>
        <p:sp>
          <p:nvSpPr>
            <p:cNvPr id="123911" name="Text Box 106"/>
            <p:cNvSpPr txBox="1"/>
            <p:nvPr/>
          </p:nvSpPr>
          <p:spPr>
            <a:xfrm>
              <a:off x="4677" y="4716"/>
              <a:ext cx="4500" cy="468"/>
            </a:xfrm>
            <a:prstGeom prst="rect">
              <a:avLst/>
            </a:prstGeom>
            <a:noFill/>
            <a:ln w="9525">
              <a:noFill/>
            </a:ln>
          </p:spPr>
          <p:txBody>
            <a:bodyPr/>
            <a:p>
              <a:pPr algn="ctr"/>
              <a:r>
                <a:rPr lang="zh-CN" altLang="en-US" sz="2400" b="1" dirty="0">
                  <a:solidFill>
                    <a:srgbClr val="003300"/>
                  </a:solidFill>
                  <a:latin typeface="宋体" panose="02010600030101010101" pitchFamily="2" charset="-122"/>
                </a:rPr>
                <a:t>图  资源分配图的简化</a:t>
              </a:r>
              <a:endParaRPr lang="zh-CN" altLang="en-US" sz="2400" b="1" dirty="0">
                <a:solidFill>
                  <a:srgbClr val="003300"/>
                </a:solidFill>
                <a:latin typeface="Times New Roman" panose="02020603050405020304" pitchFamily="18" charset="0"/>
              </a:endParaRPr>
            </a:p>
          </p:txBody>
        </p:sp>
        <p:grpSp>
          <p:nvGrpSpPr>
            <p:cNvPr id="123912" name="Group 107"/>
            <p:cNvGrpSpPr/>
            <p:nvPr/>
          </p:nvGrpSpPr>
          <p:grpSpPr>
            <a:xfrm>
              <a:off x="1797" y="1516"/>
              <a:ext cx="3240" cy="3044"/>
              <a:chOff x="1797" y="1516"/>
              <a:chExt cx="3240" cy="3044"/>
            </a:xfrm>
          </p:grpSpPr>
          <p:sp>
            <p:nvSpPr>
              <p:cNvPr id="123913" name="Rectangle 108"/>
              <p:cNvSpPr/>
              <p:nvPr/>
            </p:nvSpPr>
            <p:spPr>
              <a:xfrm>
                <a:off x="1937" y="2443"/>
                <a:ext cx="460" cy="334"/>
              </a:xfrm>
              <a:prstGeom prst="rect">
                <a:avLst/>
              </a:prstGeom>
              <a:no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14" name="Rectangle 109"/>
              <p:cNvSpPr/>
              <p:nvPr/>
            </p:nvSpPr>
            <p:spPr>
              <a:xfrm>
                <a:off x="4289" y="2449"/>
                <a:ext cx="460" cy="334"/>
              </a:xfrm>
              <a:prstGeom prst="rect">
                <a:avLst/>
              </a:prstGeom>
              <a:no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15" name="Arc 110"/>
              <p:cNvSpPr/>
              <p:nvPr/>
            </p:nvSpPr>
            <p:spPr>
              <a:xfrm flipV="1">
                <a:off x="3419" y="2772"/>
                <a:ext cx="1080" cy="936"/>
              </a:xfrm>
              <a:custGeom>
                <a:avLst/>
                <a:gdLst>
                  <a:gd name="txL" fmla="*/ 0 w 21600"/>
                  <a:gd name="txT" fmla="*/ 0 h 20955"/>
                  <a:gd name="txR" fmla="*/ 21600 w 21600"/>
                  <a:gd name="txB" fmla="*/ 20955 h 20955"/>
                </a:gdLst>
                <a:ahLst/>
                <a:cxnLst>
                  <a:cxn ang="0">
                    <a:pos x="0" y="0"/>
                  </a:cxn>
                  <a:cxn ang="0">
                    <a:pos x="0" y="0"/>
                  </a:cxn>
                  <a:cxn ang="0">
                    <a:pos x="0" y="0"/>
                  </a:cxn>
                </a:cxnLst>
                <a:rect l="txL" t="txT" r="txR" b="txB"/>
                <a:pathLst>
                  <a:path w="21600" h="20955" fill="none">
                    <a:moveTo>
                      <a:pt x="5238" y="-1"/>
                    </a:moveTo>
                    <a:cubicBezTo>
                      <a:pt x="14854" y="2403"/>
                      <a:pt x="21600" y="11043"/>
                      <a:pt x="21600" y="20955"/>
                    </a:cubicBezTo>
                  </a:path>
                  <a:path w="21600" h="20955" stroke="0">
                    <a:moveTo>
                      <a:pt x="5238" y="-1"/>
                    </a:moveTo>
                    <a:cubicBezTo>
                      <a:pt x="14854" y="2403"/>
                      <a:pt x="21600" y="11043"/>
                      <a:pt x="21600" y="20955"/>
                    </a:cubicBezTo>
                    <a:lnTo>
                      <a:pt x="0" y="20955"/>
                    </a:lnTo>
                    <a:lnTo>
                      <a:pt x="5238" y="-1"/>
                    </a:lnTo>
                    <a:close/>
                  </a:path>
                </a:pathLst>
              </a:custGeom>
              <a:noFill/>
              <a:ln w="9525" cap="flat" cmpd="sng">
                <a:solidFill>
                  <a:srgbClr val="000000">
                    <a:alpha val="100000"/>
                  </a:srgbClr>
                </a:solidFill>
                <a:prstDash val="solid"/>
                <a:round/>
                <a:headEnd type="stealth" w="med" len="med"/>
                <a:tailEnd type="none" w="med" len="med"/>
              </a:ln>
            </p:spPr>
            <p:txBody>
              <a:bodyPr/>
              <a:p>
                <a:endParaRPr lang="zh-CN" altLang="en-US"/>
              </a:p>
            </p:txBody>
          </p:sp>
          <p:sp>
            <p:nvSpPr>
              <p:cNvPr id="123916" name="AutoShape 111"/>
              <p:cNvSpPr/>
              <p:nvPr/>
            </p:nvSpPr>
            <p:spPr>
              <a:xfrm>
                <a:off x="1979" y="2478"/>
                <a:ext cx="180" cy="156"/>
              </a:xfrm>
              <a:prstGeom prst="star8">
                <a:avLst>
                  <a:gd name="adj" fmla="val 38250"/>
                </a:avLst>
              </a:prstGeom>
              <a:solidFill>
                <a:srgbClr val="99CCFF"/>
              </a:solid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17" name="AutoShape 112"/>
              <p:cNvSpPr/>
              <p:nvPr/>
            </p:nvSpPr>
            <p:spPr>
              <a:xfrm>
                <a:off x="2189" y="2478"/>
                <a:ext cx="180" cy="156"/>
              </a:xfrm>
              <a:prstGeom prst="star8">
                <a:avLst>
                  <a:gd name="adj" fmla="val 38250"/>
                </a:avLst>
              </a:prstGeom>
              <a:solidFill>
                <a:srgbClr val="99CCFF"/>
              </a:solid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18" name="AutoShape 113"/>
              <p:cNvSpPr/>
              <p:nvPr/>
            </p:nvSpPr>
            <p:spPr>
              <a:xfrm>
                <a:off x="2084" y="2598"/>
                <a:ext cx="180" cy="156"/>
              </a:xfrm>
              <a:prstGeom prst="star8">
                <a:avLst>
                  <a:gd name="adj" fmla="val 38250"/>
                </a:avLst>
              </a:prstGeom>
              <a:solidFill>
                <a:srgbClr val="99CCFF"/>
              </a:solid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19" name="AutoShape 114"/>
              <p:cNvSpPr/>
              <p:nvPr/>
            </p:nvSpPr>
            <p:spPr>
              <a:xfrm>
                <a:off x="4319" y="2553"/>
                <a:ext cx="180" cy="156"/>
              </a:xfrm>
              <a:prstGeom prst="star8">
                <a:avLst>
                  <a:gd name="adj" fmla="val 38250"/>
                </a:avLst>
              </a:prstGeom>
              <a:solidFill>
                <a:srgbClr val="99CCFF"/>
              </a:solid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20" name="AutoShape 115"/>
              <p:cNvSpPr/>
              <p:nvPr/>
            </p:nvSpPr>
            <p:spPr>
              <a:xfrm>
                <a:off x="4544" y="2553"/>
                <a:ext cx="180" cy="156"/>
              </a:xfrm>
              <a:prstGeom prst="star8">
                <a:avLst>
                  <a:gd name="adj" fmla="val 38250"/>
                </a:avLst>
              </a:prstGeom>
              <a:solidFill>
                <a:srgbClr val="99CCFF"/>
              </a:solidFill>
              <a:ln w="9525" cap="flat" cmpd="sng">
                <a:solidFill>
                  <a:srgbClr val="000000"/>
                </a:solidFill>
                <a:prstDash val="solid"/>
                <a:miter/>
                <a:headEnd type="none" w="med" len="med"/>
                <a:tailEnd type="none" w="med" len="med"/>
              </a:ln>
            </p:spPr>
            <p:txBody>
              <a:bodyPr/>
              <a:p>
                <a:pPr eaLnBrk="1" hangingPunct="1"/>
                <a:endParaRPr lang="zh-CN" altLang="zh-CN" dirty="0">
                  <a:latin typeface="Arial" panose="020B0604020202020204" pitchFamily="34" charset="0"/>
                </a:endParaRPr>
              </a:p>
            </p:txBody>
          </p:sp>
          <p:grpSp>
            <p:nvGrpSpPr>
              <p:cNvPr id="123921" name="Group 116"/>
              <p:cNvGrpSpPr/>
              <p:nvPr/>
            </p:nvGrpSpPr>
            <p:grpSpPr>
              <a:xfrm>
                <a:off x="3057" y="1516"/>
                <a:ext cx="558" cy="525"/>
                <a:chOff x="3057" y="13083"/>
                <a:chExt cx="558" cy="525"/>
              </a:xfrm>
            </p:grpSpPr>
            <p:sp>
              <p:nvSpPr>
                <p:cNvPr id="123936" name="Oval 117"/>
                <p:cNvSpPr/>
                <p:nvPr/>
              </p:nvSpPr>
              <p:spPr>
                <a:xfrm>
                  <a:off x="3057" y="13083"/>
                  <a:ext cx="558" cy="477"/>
                </a:xfrm>
                <a:prstGeom prst="ellipse">
                  <a:avLst/>
                </a:prstGeom>
                <a:noFill/>
                <a:ln w="9525" cap="flat" cmpd="sng">
                  <a:solidFill>
                    <a:srgbClr val="000000"/>
                  </a:solidFill>
                  <a:prstDash val="solid"/>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37" name="Text Box 118"/>
                <p:cNvSpPr txBox="1"/>
                <p:nvPr/>
              </p:nvSpPr>
              <p:spPr>
                <a:xfrm>
                  <a:off x="3057" y="13140"/>
                  <a:ext cx="540" cy="468"/>
                </a:xfrm>
                <a:prstGeom prst="rect">
                  <a:avLst/>
                </a:prstGeom>
                <a:noFill/>
                <a:ln w="9525">
                  <a:noFill/>
                </a:ln>
              </p:spPr>
              <p:txBody>
                <a:bodyPr/>
                <a:p>
                  <a:pPr algn="just"/>
                  <a:r>
                    <a:rPr lang="en-US" altLang="zh-CN" b="1" dirty="0">
                      <a:solidFill>
                        <a:srgbClr val="003300"/>
                      </a:solidFill>
                      <a:latin typeface="Times New Roman" panose="02020603050405020304" pitchFamily="18" charset="0"/>
                    </a:rPr>
                    <a:t>P1</a:t>
                  </a:r>
                  <a:endParaRPr lang="en-US" altLang="zh-CN" b="1" dirty="0">
                    <a:solidFill>
                      <a:srgbClr val="003300"/>
                    </a:solidFill>
                    <a:latin typeface="Times New Roman" panose="02020603050405020304" pitchFamily="18" charset="0"/>
                  </a:endParaRPr>
                </a:p>
              </p:txBody>
            </p:sp>
          </p:grpSp>
          <p:grpSp>
            <p:nvGrpSpPr>
              <p:cNvPr id="123922" name="Group 119"/>
              <p:cNvGrpSpPr/>
              <p:nvPr/>
            </p:nvGrpSpPr>
            <p:grpSpPr>
              <a:xfrm>
                <a:off x="3057" y="3544"/>
                <a:ext cx="558" cy="525"/>
                <a:chOff x="3057" y="13083"/>
                <a:chExt cx="558" cy="525"/>
              </a:xfrm>
            </p:grpSpPr>
            <p:sp>
              <p:nvSpPr>
                <p:cNvPr id="123934" name="Oval 120"/>
                <p:cNvSpPr/>
                <p:nvPr/>
              </p:nvSpPr>
              <p:spPr>
                <a:xfrm>
                  <a:off x="3057" y="13083"/>
                  <a:ext cx="558" cy="477"/>
                </a:xfrm>
                <a:prstGeom prst="ellipse">
                  <a:avLst/>
                </a:prstGeom>
                <a:noFill/>
                <a:ln w="9525" cap="flat" cmpd="sng">
                  <a:solidFill>
                    <a:srgbClr val="000000"/>
                  </a:solidFill>
                  <a:prstDash val="solid"/>
                  <a:headEnd type="none" w="med" len="med"/>
                  <a:tailEnd type="none" w="med" len="med"/>
                </a:ln>
              </p:spPr>
              <p:txBody>
                <a:bodyPr/>
                <a:p>
                  <a:pPr eaLnBrk="1" hangingPunct="1"/>
                  <a:endParaRPr lang="zh-CN" altLang="zh-CN" dirty="0">
                    <a:latin typeface="Arial" panose="020B0604020202020204" pitchFamily="34" charset="0"/>
                  </a:endParaRPr>
                </a:p>
              </p:txBody>
            </p:sp>
            <p:sp>
              <p:nvSpPr>
                <p:cNvPr id="123935" name="Text Box 121"/>
                <p:cNvSpPr txBox="1"/>
                <p:nvPr/>
              </p:nvSpPr>
              <p:spPr>
                <a:xfrm>
                  <a:off x="3057" y="13140"/>
                  <a:ext cx="540" cy="468"/>
                </a:xfrm>
                <a:prstGeom prst="rect">
                  <a:avLst/>
                </a:prstGeom>
                <a:noFill/>
                <a:ln w="9525">
                  <a:noFill/>
                </a:ln>
              </p:spPr>
              <p:txBody>
                <a:bodyPr/>
                <a:p>
                  <a:pPr algn="just"/>
                  <a:r>
                    <a:rPr lang="en-US" altLang="zh-CN" b="1" dirty="0">
                      <a:solidFill>
                        <a:srgbClr val="003300"/>
                      </a:solidFill>
                      <a:latin typeface="Times New Roman" panose="02020603050405020304" pitchFamily="18" charset="0"/>
                    </a:rPr>
                    <a:t>P2</a:t>
                  </a:r>
                  <a:endParaRPr lang="en-US" altLang="zh-CN" b="1" dirty="0">
                    <a:solidFill>
                      <a:srgbClr val="003300"/>
                    </a:solidFill>
                    <a:latin typeface="Times New Roman" panose="02020603050405020304" pitchFamily="18" charset="0"/>
                  </a:endParaRPr>
                </a:p>
              </p:txBody>
            </p:sp>
          </p:grpSp>
          <p:sp>
            <p:nvSpPr>
              <p:cNvPr id="123923" name="Freeform 122"/>
              <p:cNvSpPr/>
              <p:nvPr/>
            </p:nvSpPr>
            <p:spPr>
              <a:xfrm>
                <a:off x="2337" y="2764"/>
                <a:ext cx="720" cy="936"/>
              </a:xfrm>
              <a:custGeom>
                <a:avLst/>
                <a:gdLst>
                  <a:gd name="txL" fmla="*/ 0 w 720"/>
                  <a:gd name="txT" fmla="*/ 0 h 936"/>
                  <a:gd name="txR" fmla="*/ 720 w 720"/>
                  <a:gd name="txB" fmla="*/ 936 h 936"/>
                </a:gdLst>
                <a:ahLst/>
                <a:cxnLst>
                  <a:cxn ang="0">
                    <a:pos x="720" y="936"/>
                  </a:cxn>
                  <a:cxn ang="0">
                    <a:pos x="360" y="624"/>
                  </a:cxn>
                  <a:cxn ang="0">
                    <a:pos x="0" y="0"/>
                  </a:cxn>
                </a:cxnLst>
                <a:rect l="txL" t="txT" r="txR" b="txB"/>
                <a:pathLst>
                  <a:path w="720" h="936">
                    <a:moveTo>
                      <a:pt x="720" y="936"/>
                    </a:moveTo>
                    <a:cubicBezTo>
                      <a:pt x="600" y="858"/>
                      <a:pt x="480" y="780"/>
                      <a:pt x="360" y="624"/>
                    </a:cubicBezTo>
                    <a:cubicBezTo>
                      <a:pt x="240" y="468"/>
                      <a:pt x="120" y="234"/>
                      <a:pt x="0" y="0"/>
                    </a:cubicBezTo>
                  </a:path>
                </a:pathLst>
              </a:custGeom>
              <a:noFill/>
              <a:ln w="9525" cap="flat" cmpd="sng">
                <a:solidFill>
                  <a:srgbClr val="000000">
                    <a:alpha val="100000"/>
                  </a:srgbClr>
                </a:solidFill>
                <a:prstDash val="solid"/>
                <a:round/>
                <a:headEnd type="none" w="med" len="med"/>
                <a:tailEnd type="triangle" w="med" len="med"/>
              </a:ln>
            </p:spPr>
            <p:txBody>
              <a:bodyPr/>
              <a:p>
                <a:endParaRPr lang="zh-CN" altLang="en-US"/>
              </a:p>
            </p:txBody>
          </p:sp>
          <p:sp>
            <p:nvSpPr>
              <p:cNvPr id="123924" name="Freeform 123"/>
              <p:cNvSpPr/>
              <p:nvPr/>
            </p:nvSpPr>
            <p:spPr>
              <a:xfrm>
                <a:off x="2157" y="2764"/>
                <a:ext cx="900" cy="1092"/>
              </a:xfrm>
              <a:custGeom>
                <a:avLst/>
                <a:gdLst>
                  <a:gd name="txL" fmla="*/ 0 w 900"/>
                  <a:gd name="txT" fmla="*/ 0 h 1092"/>
                  <a:gd name="txR" fmla="*/ 900 w 900"/>
                  <a:gd name="txB" fmla="*/ 1092 h 1092"/>
                </a:gdLst>
                <a:ahLst/>
                <a:cxnLst>
                  <a:cxn ang="0">
                    <a:pos x="0" y="0"/>
                  </a:cxn>
                  <a:cxn ang="0">
                    <a:pos x="180" y="468"/>
                  </a:cxn>
                  <a:cxn ang="0">
                    <a:pos x="540" y="936"/>
                  </a:cxn>
                  <a:cxn ang="0">
                    <a:pos x="900" y="1092"/>
                  </a:cxn>
                </a:cxnLst>
                <a:rect l="txL" t="txT" r="txR" b="txB"/>
                <a:pathLst>
                  <a:path w="900" h="1092">
                    <a:moveTo>
                      <a:pt x="0" y="0"/>
                    </a:moveTo>
                    <a:cubicBezTo>
                      <a:pt x="45" y="156"/>
                      <a:pt x="90" y="312"/>
                      <a:pt x="180" y="468"/>
                    </a:cubicBezTo>
                    <a:cubicBezTo>
                      <a:pt x="270" y="624"/>
                      <a:pt x="420" y="832"/>
                      <a:pt x="540" y="936"/>
                    </a:cubicBezTo>
                    <a:cubicBezTo>
                      <a:pt x="660" y="1040"/>
                      <a:pt x="780" y="1066"/>
                      <a:pt x="900" y="1092"/>
                    </a:cubicBezTo>
                  </a:path>
                </a:pathLst>
              </a:custGeom>
              <a:noFill/>
              <a:ln w="9525" cap="flat" cmpd="sng">
                <a:solidFill>
                  <a:srgbClr val="000000">
                    <a:alpha val="100000"/>
                  </a:srgbClr>
                </a:solidFill>
                <a:prstDash val="solid"/>
                <a:round/>
                <a:headEnd type="none" w="med" len="med"/>
                <a:tailEnd type="triangle" w="med" len="med"/>
              </a:ln>
            </p:spPr>
            <p:txBody>
              <a:bodyPr/>
              <a:p>
                <a:endParaRPr lang="zh-CN" altLang="en-US"/>
              </a:p>
            </p:txBody>
          </p:sp>
          <p:sp>
            <p:nvSpPr>
              <p:cNvPr id="123925" name="Freeform 124"/>
              <p:cNvSpPr/>
              <p:nvPr/>
            </p:nvSpPr>
            <p:spPr>
              <a:xfrm>
                <a:off x="1977" y="1672"/>
                <a:ext cx="1080" cy="780"/>
              </a:xfrm>
              <a:custGeom>
                <a:avLst/>
                <a:gdLst>
                  <a:gd name="txL" fmla="*/ 0 w 1080"/>
                  <a:gd name="txT" fmla="*/ 0 h 780"/>
                  <a:gd name="txR" fmla="*/ 1080 w 1080"/>
                  <a:gd name="txB" fmla="*/ 780 h 780"/>
                </a:gdLst>
                <a:ahLst/>
                <a:cxnLst>
                  <a:cxn ang="0">
                    <a:pos x="0" y="780"/>
                  </a:cxn>
                  <a:cxn ang="0">
                    <a:pos x="180" y="468"/>
                  </a:cxn>
                  <a:cxn ang="0">
                    <a:pos x="540" y="156"/>
                  </a:cxn>
                  <a:cxn ang="0">
                    <a:pos x="1080" y="0"/>
                  </a:cxn>
                </a:cxnLst>
                <a:rect l="txL" t="txT" r="txR" b="txB"/>
                <a:pathLst>
                  <a:path w="1080" h="780">
                    <a:moveTo>
                      <a:pt x="0" y="780"/>
                    </a:moveTo>
                    <a:cubicBezTo>
                      <a:pt x="45" y="676"/>
                      <a:pt x="90" y="572"/>
                      <a:pt x="180" y="468"/>
                    </a:cubicBezTo>
                    <a:cubicBezTo>
                      <a:pt x="270" y="364"/>
                      <a:pt x="390" y="234"/>
                      <a:pt x="540" y="156"/>
                    </a:cubicBezTo>
                    <a:cubicBezTo>
                      <a:pt x="690" y="78"/>
                      <a:pt x="885" y="39"/>
                      <a:pt x="1080" y="0"/>
                    </a:cubicBezTo>
                  </a:path>
                </a:pathLst>
              </a:custGeom>
              <a:noFill/>
              <a:ln w="9525" cap="flat" cmpd="sng">
                <a:solidFill>
                  <a:srgbClr val="000000">
                    <a:alpha val="100000"/>
                  </a:srgbClr>
                </a:solidFill>
                <a:prstDash val="solid"/>
                <a:round/>
                <a:headEnd type="none" w="med" len="med"/>
                <a:tailEnd type="triangle" w="med" len="med"/>
              </a:ln>
            </p:spPr>
            <p:txBody>
              <a:bodyPr/>
              <a:p>
                <a:endParaRPr lang="zh-CN" altLang="en-US"/>
              </a:p>
            </p:txBody>
          </p:sp>
          <p:sp>
            <p:nvSpPr>
              <p:cNvPr id="123926" name="Freeform 125"/>
              <p:cNvSpPr/>
              <p:nvPr/>
            </p:nvSpPr>
            <p:spPr>
              <a:xfrm>
                <a:off x="2157" y="1828"/>
                <a:ext cx="900" cy="624"/>
              </a:xfrm>
              <a:custGeom>
                <a:avLst/>
                <a:gdLst>
                  <a:gd name="txL" fmla="*/ 0 w 900"/>
                  <a:gd name="txT" fmla="*/ 0 h 624"/>
                  <a:gd name="txR" fmla="*/ 900 w 900"/>
                  <a:gd name="txB" fmla="*/ 624 h 624"/>
                </a:gdLst>
                <a:ahLst/>
                <a:cxnLst>
                  <a:cxn ang="0">
                    <a:pos x="0" y="624"/>
                  </a:cxn>
                  <a:cxn ang="0">
                    <a:pos x="180" y="312"/>
                  </a:cxn>
                  <a:cxn ang="0">
                    <a:pos x="540" y="156"/>
                  </a:cxn>
                  <a:cxn ang="0">
                    <a:pos x="900" y="0"/>
                  </a:cxn>
                </a:cxnLst>
                <a:rect l="txL" t="txT" r="txR" b="txB"/>
                <a:pathLst>
                  <a:path w="900" h="624">
                    <a:moveTo>
                      <a:pt x="0" y="624"/>
                    </a:moveTo>
                    <a:cubicBezTo>
                      <a:pt x="45" y="507"/>
                      <a:pt x="90" y="390"/>
                      <a:pt x="180" y="312"/>
                    </a:cubicBezTo>
                    <a:cubicBezTo>
                      <a:pt x="270" y="234"/>
                      <a:pt x="420" y="208"/>
                      <a:pt x="540" y="156"/>
                    </a:cubicBezTo>
                    <a:cubicBezTo>
                      <a:pt x="660" y="104"/>
                      <a:pt x="780" y="52"/>
                      <a:pt x="900" y="0"/>
                    </a:cubicBezTo>
                  </a:path>
                </a:pathLst>
              </a:custGeom>
              <a:noFill/>
              <a:ln w="9525" cap="flat" cmpd="sng">
                <a:solidFill>
                  <a:srgbClr val="000000">
                    <a:alpha val="100000"/>
                  </a:srgbClr>
                </a:solidFill>
                <a:prstDash val="solid"/>
                <a:round/>
                <a:headEnd type="none" w="med" len="med"/>
                <a:tailEnd type="triangle" w="med" len="med"/>
              </a:ln>
            </p:spPr>
            <p:txBody>
              <a:bodyPr/>
              <a:p>
                <a:endParaRPr lang="zh-CN" altLang="en-US"/>
              </a:p>
            </p:txBody>
          </p:sp>
          <p:sp>
            <p:nvSpPr>
              <p:cNvPr id="123927" name="Freeform 126"/>
              <p:cNvSpPr/>
              <p:nvPr/>
            </p:nvSpPr>
            <p:spPr>
              <a:xfrm>
                <a:off x="3597" y="1828"/>
                <a:ext cx="900" cy="624"/>
              </a:xfrm>
              <a:custGeom>
                <a:avLst/>
                <a:gdLst>
                  <a:gd name="txL" fmla="*/ 0 w 900"/>
                  <a:gd name="txT" fmla="*/ 0 h 624"/>
                  <a:gd name="txR" fmla="*/ 900 w 900"/>
                  <a:gd name="txB" fmla="*/ 624 h 624"/>
                </a:gdLst>
                <a:ahLst/>
                <a:cxnLst>
                  <a:cxn ang="0">
                    <a:pos x="0" y="0"/>
                  </a:cxn>
                  <a:cxn ang="0">
                    <a:pos x="360" y="156"/>
                  </a:cxn>
                  <a:cxn ang="0">
                    <a:pos x="720" y="468"/>
                  </a:cxn>
                  <a:cxn ang="0">
                    <a:pos x="900" y="624"/>
                  </a:cxn>
                </a:cxnLst>
                <a:rect l="txL" t="txT" r="txR" b="txB"/>
                <a:pathLst>
                  <a:path w="900" h="624">
                    <a:moveTo>
                      <a:pt x="0" y="0"/>
                    </a:moveTo>
                    <a:cubicBezTo>
                      <a:pt x="120" y="39"/>
                      <a:pt x="240" y="78"/>
                      <a:pt x="360" y="156"/>
                    </a:cubicBezTo>
                    <a:cubicBezTo>
                      <a:pt x="480" y="234"/>
                      <a:pt x="630" y="390"/>
                      <a:pt x="720" y="468"/>
                    </a:cubicBezTo>
                    <a:cubicBezTo>
                      <a:pt x="810" y="546"/>
                      <a:pt x="855" y="585"/>
                      <a:pt x="900" y="624"/>
                    </a:cubicBezTo>
                  </a:path>
                </a:pathLst>
              </a:custGeom>
              <a:noFill/>
              <a:ln w="9525" cap="flat" cmpd="sng">
                <a:solidFill>
                  <a:srgbClr val="000000">
                    <a:alpha val="100000"/>
                  </a:srgbClr>
                </a:solidFill>
                <a:prstDash val="solid"/>
                <a:round/>
                <a:headEnd type="none" w="med" len="med"/>
                <a:tailEnd type="triangle" w="med" len="med"/>
              </a:ln>
            </p:spPr>
            <p:txBody>
              <a:bodyPr/>
              <a:p>
                <a:endParaRPr lang="zh-CN" altLang="en-US"/>
              </a:p>
            </p:txBody>
          </p:sp>
          <p:sp>
            <p:nvSpPr>
              <p:cNvPr id="123928" name="Text Box 127"/>
              <p:cNvSpPr txBox="1"/>
              <p:nvPr/>
            </p:nvSpPr>
            <p:spPr>
              <a:xfrm>
                <a:off x="3057" y="4092"/>
                <a:ext cx="540" cy="468"/>
              </a:xfrm>
              <a:prstGeom prst="rect">
                <a:avLst/>
              </a:prstGeom>
              <a:noFill/>
              <a:ln w="9525">
                <a:noFill/>
              </a:ln>
            </p:spPr>
            <p:txBody>
              <a:bodyPr/>
              <a:p>
                <a:pPr algn="just"/>
                <a:r>
                  <a:rPr lang="en-US" altLang="zh-CN" sz="2000" b="1" dirty="0">
                    <a:solidFill>
                      <a:srgbClr val="003300"/>
                    </a:solidFill>
                    <a:latin typeface="Times New Roman" panose="02020603050405020304" pitchFamily="18" charset="0"/>
                  </a:rPr>
                  <a:t>(a)</a:t>
                </a:r>
                <a:endParaRPr lang="en-US" altLang="zh-CN" sz="2000" b="1" dirty="0">
                  <a:solidFill>
                    <a:srgbClr val="003300"/>
                  </a:solidFill>
                  <a:latin typeface="Times New Roman" panose="02020603050405020304" pitchFamily="18" charset="0"/>
                </a:endParaRPr>
              </a:p>
            </p:txBody>
          </p:sp>
          <p:sp>
            <p:nvSpPr>
              <p:cNvPr id="123929" name="Text Box 128"/>
              <p:cNvSpPr txBox="1"/>
              <p:nvPr/>
            </p:nvSpPr>
            <p:spPr>
              <a:xfrm>
                <a:off x="1797" y="1596"/>
                <a:ext cx="900" cy="468"/>
              </a:xfrm>
              <a:prstGeom prst="rect">
                <a:avLst/>
              </a:prstGeom>
              <a:noFill/>
              <a:ln w="9525">
                <a:noFill/>
              </a:ln>
            </p:spPr>
            <p:txBody>
              <a:bodyPr/>
              <a:p>
                <a:pPr algn="just"/>
                <a:r>
                  <a:rPr lang="zh-CN" altLang="en-US" b="1" dirty="0">
                    <a:solidFill>
                      <a:srgbClr val="003300"/>
                    </a:solidFill>
                    <a:latin typeface="Times New Roman" panose="02020603050405020304" pitchFamily="18" charset="0"/>
                  </a:rPr>
                  <a:t>分配</a:t>
                </a:r>
                <a:endParaRPr lang="zh-CN" altLang="en-US" b="1" dirty="0">
                  <a:solidFill>
                    <a:srgbClr val="003300"/>
                  </a:solidFill>
                  <a:latin typeface="Times New Roman" panose="02020603050405020304" pitchFamily="18" charset="0"/>
                </a:endParaRPr>
              </a:p>
            </p:txBody>
          </p:sp>
          <p:sp>
            <p:nvSpPr>
              <p:cNvPr id="123930" name="Text Box 129"/>
              <p:cNvSpPr txBox="1"/>
              <p:nvPr/>
            </p:nvSpPr>
            <p:spPr>
              <a:xfrm>
                <a:off x="3957" y="1752"/>
                <a:ext cx="900" cy="468"/>
              </a:xfrm>
              <a:prstGeom prst="rect">
                <a:avLst/>
              </a:prstGeom>
              <a:noFill/>
              <a:ln w="9525">
                <a:noFill/>
              </a:ln>
            </p:spPr>
            <p:txBody>
              <a:bodyPr/>
              <a:p>
                <a:pPr algn="just"/>
                <a:r>
                  <a:rPr lang="zh-CN" altLang="en-US" b="1" dirty="0">
                    <a:solidFill>
                      <a:srgbClr val="003300"/>
                    </a:solidFill>
                    <a:latin typeface="Times New Roman" panose="02020603050405020304" pitchFamily="18" charset="0"/>
                  </a:rPr>
                  <a:t>申请</a:t>
                </a:r>
                <a:endParaRPr lang="zh-CN" altLang="en-US" b="1" dirty="0">
                  <a:solidFill>
                    <a:srgbClr val="003300"/>
                  </a:solidFill>
                  <a:latin typeface="Times New Roman" panose="02020603050405020304" pitchFamily="18" charset="0"/>
                </a:endParaRPr>
              </a:p>
            </p:txBody>
          </p:sp>
          <p:sp>
            <p:nvSpPr>
              <p:cNvPr id="123931" name="Text Box 130"/>
              <p:cNvSpPr txBox="1"/>
              <p:nvPr/>
            </p:nvSpPr>
            <p:spPr>
              <a:xfrm>
                <a:off x="4137" y="3156"/>
                <a:ext cx="900" cy="468"/>
              </a:xfrm>
              <a:prstGeom prst="rect">
                <a:avLst/>
              </a:prstGeom>
              <a:noFill/>
              <a:ln w="9525">
                <a:noFill/>
              </a:ln>
            </p:spPr>
            <p:txBody>
              <a:bodyPr/>
              <a:p>
                <a:pPr algn="just"/>
                <a:r>
                  <a:rPr lang="zh-CN" altLang="en-US" sz="1600" b="1" dirty="0">
                    <a:solidFill>
                      <a:srgbClr val="003300"/>
                    </a:solidFill>
                    <a:latin typeface="Times New Roman" panose="02020603050405020304" pitchFamily="18" charset="0"/>
                  </a:rPr>
                  <a:t>分配</a:t>
                </a:r>
                <a:endParaRPr lang="zh-CN" altLang="en-US" sz="1600" b="1" dirty="0">
                  <a:solidFill>
                    <a:srgbClr val="003300"/>
                  </a:solidFill>
                  <a:latin typeface="Times New Roman" panose="02020603050405020304" pitchFamily="18" charset="0"/>
                </a:endParaRPr>
              </a:p>
            </p:txBody>
          </p:sp>
          <p:sp>
            <p:nvSpPr>
              <p:cNvPr id="123932" name="Text Box 131"/>
              <p:cNvSpPr txBox="1"/>
              <p:nvPr/>
            </p:nvSpPr>
            <p:spPr>
              <a:xfrm>
                <a:off x="2517" y="3000"/>
                <a:ext cx="900" cy="468"/>
              </a:xfrm>
              <a:prstGeom prst="rect">
                <a:avLst/>
              </a:prstGeom>
              <a:noFill/>
              <a:ln w="9525">
                <a:noFill/>
              </a:ln>
            </p:spPr>
            <p:txBody>
              <a:bodyPr/>
              <a:p>
                <a:pPr algn="just"/>
                <a:r>
                  <a:rPr lang="zh-CN" altLang="en-US" sz="1600" b="1" dirty="0">
                    <a:solidFill>
                      <a:srgbClr val="003300"/>
                    </a:solidFill>
                    <a:latin typeface="Times New Roman" panose="02020603050405020304" pitchFamily="18" charset="0"/>
                  </a:rPr>
                  <a:t>申请</a:t>
                </a:r>
                <a:endParaRPr lang="zh-CN" altLang="en-US" sz="1600" b="1" dirty="0">
                  <a:solidFill>
                    <a:srgbClr val="003300"/>
                  </a:solidFill>
                  <a:latin typeface="Times New Roman" panose="02020603050405020304" pitchFamily="18" charset="0"/>
                </a:endParaRPr>
              </a:p>
            </p:txBody>
          </p:sp>
          <p:sp>
            <p:nvSpPr>
              <p:cNvPr id="123933" name="Text Box 132"/>
              <p:cNvSpPr txBox="1"/>
              <p:nvPr/>
            </p:nvSpPr>
            <p:spPr>
              <a:xfrm>
                <a:off x="1797" y="3156"/>
                <a:ext cx="900" cy="468"/>
              </a:xfrm>
              <a:prstGeom prst="rect">
                <a:avLst/>
              </a:prstGeom>
              <a:noFill/>
              <a:ln w="9525">
                <a:noFill/>
              </a:ln>
            </p:spPr>
            <p:txBody>
              <a:bodyPr/>
              <a:p>
                <a:pPr algn="just"/>
                <a:r>
                  <a:rPr lang="zh-CN" altLang="en-US" sz="1600" b="1" dirty="0">
                    <a:solidFill>
                      <a:srgbClr val="003300"/>
                    </a:solidFill>
                    <a:latin typeface="Times New Roman" panose="02020603050405020304" pitchFamily="18" charset="0"/>
                  </a:rPr>
                  <a:t>分配</a:t>
                </a:r>
                <a:endParaRPr lang="zh-CN" altLang="en-US" sz="1600" b="1" dirty="0">
                  <a:solidFill>
                    <a:srgbClr val="003300"/>
                  </a:solidFill>
                  <a:latin typeface="Times New Roman" panose="02020603050405020304" pitchFamily="18" charset="0"/>
                </a:endParaRPr>
              </a:p>
            </p:txBody>
          </p:sp>
        </p:grpSp>
      </p:grpSp>
      <p:sp>
        <p:nvSpPr>
          <p:cNvPr id="465032" name="Text Box 136"/>
          <p:cNvSpPr txBox="1">
            <a:spLocks noChangeArrowheads="1"/>
          </p:cNvSpPr>
          <p:nvPr/>
        </p:nvSpPr>
        <p:spPr bwMode="auto">
          <a:xfrm>
            <a:off x="457200" y="4648200"/>
            <a:ext cx="8305800" cy="1735138"/>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defTabSz="914400" eaLnBrk="1" hangingPunct="1">
              <a:spcBef>
                <a:spcPct val="50000"/>
              </a:spcBef>
              <a:buClrTx/>
              <a:buSzTx/>
              <a:buFontTx/>
              <a:buNone/>
              <a:defRPr/>
            </a:pPr>
            <a:r>
              <a:rPr kumimoji="0" lang="zh-CN" altLang="en-US" sz="2400" b="1" kern="1200" cap="none" spc="0" normalizeH="0" baseline="0" noProof="0" dirty="0">
                <a:latin typeface="Arial" panose="020B0604020202020204" pitchFamily="34" charset="0"/>
                <a:ea typeface="宋体" panose="02010600030101010101" pitchFamily="2" charset="-122"/>
                <a:cs typeface="+mn-cs"/>
              </a:rPr>
              <a:t>首先去掉图</a:t>
            </a:r>
            <a:r>
              <a:rPr kumimoji="0" lang="en-US" altLang="zh-CN" sz="2400" b="1" kern="1200" cap="none" spc="0" normalizeH="0" baseline="0" noProof="0" dirty="0">
                <a:latin typeface="Arial" panose="020B0604020202020204" pitchFamily="34" charset="0"/>
                <a:ea typeface="宋体" panose="02010600030101010101" pitchFamily="2" charset="-122"/>
                <a:cs typeface="+mn-cs"/>
              </a:rPr>
              <a:t>a</a:t>
            </a:r>
            <a:r>
              <a:rPr kumimoji="0" lang="zh-CN" altLang="en-US" sz="2400" b="1" kern="1200" cap="none" spc="0" normalizeH="0" baseline="0" noProof="0" dirty="0">
                <a:latin typeface="Arial" panose="020B0604020202020204" pitchFamily="34" charset="0"/>
                <a:ea typeface="宋体" panose="02010600030101010101" pitchFamily="2" charset="-122"/>
                <a:cs typeface="+mn-cs"/>
              </a:rPr>
              <a:t>中的</a:t>
            </a:r>
            <a:r>
              <a:rPr kumimoji="0" lang="en-US" altLang="zh-CN" sz="2400" b="1" kern="1200" cap="none" spc="0" normalizeH="0" baseline="0" noProof="0" dirty="0">
                <a:latin typeface="Arial" panose="020B0604020202020204" pitchFamily="34" charset="0"/>
                <a:ea typeface="宋体" panose="02010600030101010101" pitchFamily="2" charset="-122"/>
                <a:cs typeface="+mn-cs"/>
              </a:rPr>
              <a:t>p1</a:t>
            </a:r>
            <a:r>
              <a:rPr kumimoji="0" lang="zh-CN" altLang="en-US" sz="2400" b="1" kern="1200" cap="none" spc="0" normalizeH="0" baseline="0" noProof="0" dirty="0">
                <a:latin typeface="Arial" panose="020B0604020202020204" pitchFamily="34" charset="0"/>
                <a:ea typeface="宋体" panose="02010600030101010101" pitchFamily="2" charset="-122"/>
                <a:cs typeface="+mn-cs"/>
              </a:rPr>
              <a:t>结点，去掉</a:t>
            </a:r>
            <a:r>
              <a:rPr kumimoji="0" lang="en-US" altLang="zh-CN" sz="2400" b="1" kern="1200" cap="none" spc="0" normalizeH="0" baseline="0" noProof="0" dirty="0">
                <a:latin typeface="Arial" panose="020B0604020202020204" pitchFamily="34" charset="0"/>
                <a:ea typeface="宋体" panose="02010600030101010101" pitchFamily="2" charset="-122"/>
                <a:cs typeface="+mn-cs"/>
              </a:rPr>
              <a:t>p1</a:t>
            </a:r>
            <a:r>
              <a:rPr kumimoji="0" lang="zh-CN" altLang="en-US" sz="2400" b="1" kern="1200" cap="none" spc="0" normalizeH="0" baseline="0" noProof="0" dirty="0">
                <a:latin typeface="Arial" panose="020B0604020202020204" pitchFamily="34" charset="0"/>
                <a:ea typeface="宋体" panose="02010600030101010101" pitchFamily="2" charset="-122"/>
                <a:cs typeface="+mn-cs"/>
              </a:rPr>
              <a:t>的两条分配边和一条请求边，成为图</a:t>
            </a:r>
            <a:r>
              <a:rPr kumimoji="0" lang="en-US" altLang="zh-CN" sz="2400" b="1" kern="1200" cap="none" spc="0" normalizeH="0" baseline="0" noProof="0" dirty="0">
                <a:latin typeface="Arial" panose="020B0604020202020204" pitchFamily="34" charset="0"/>
                <a:ea typeface="宋体" panose="02010600030101010101" pitchFamily="2" charset="-122"/>
                <a:cs typeface="+mn-cs"/>
              </a:rPr>
              <a:t>b</a:t>
            </a:r>
            <a:r>
              <a:rPr kumimoji="0" lang="zh-CN" altLang="en-US" sz="2400" b="1" kern="1200" cap="none" spc="0" normalizeH="0" baseline="0" noProof="0" dirty="0">
                <a:latin typeface="Arial" panose="020B0604020202020204" pitchFamily="34" charset="0"/>
                <a:ea typeface="宋体" panose="02010600030101010101" pitchFamily="2" charset="-122"/>
                <a:cs typeface="+mn-cs"/>
              </a:rPr>
              <a:t>；</a:t>
            </a:r>
            <a:endParaRPr kumimoji="0" lang="zh-CN" altLang="en-US" sz="2400" b="1"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zh-CN" altLang="en-US" sz="2400" b="1" kern="1200" cap="none" spc="0" normalizeH="0" baseline="0" noProof="0" dirty="0">
                <a:latin typeface="Arial" panose="020B0604020202020204" pitchFamily="34" charset="0"/>
                <a:ea typeface="宋体" panose="02010600030101010101" pitchFamily="2" charset="-122"/>
                <a:cs typeface="+mn-cs"/>
              </a:rPr>
              <a:t>从而，进程</a:t>
            </a:r>
            <a:r>
              <a:rPr kumimoji="0" lang="en-US" altLang="zh-CN" sz="2400" b="1" kern="1200" cap="none" spc="0" normalizeH="0" baseline="0" noProof="0" dirty="0">
                <a:latin typeface="Arial" panose="020B0604020202020204" pitchFamily="34" charset="0"/>
                <a:ea typeface="宋体" panose="02010600030101010101" pitchFamily="2" charset="-122"/>
                <a:cs typeface="+mn-cs"/>
              </a:rPr>
              <a:t>p2</a:t>
            </a:r>
            <a:r>
              <a:rPr kumimoji="0" lang="zh-CN" altLang="en-US" sz="2400" b="1" kern="1200" cap="none" spc="0" normalizeH="0" baseline="0" noProof="0" dirty="0">
                <a:latin typeface="Arial" panose="020B0604020202020204" pitchFamily="34" charset="0"/>
                <a:ea typeface="宋体" panose="02010600030101010101" pitchFamily="2" charset="-122"/>
                <a:cs typeface="+mn-cs"/>
              </a:rPr>
              <a:t>可获得所需要的资源并顺利完成，简化</a:t>
            </a:r>
            <a:r>
              <a:rPr kumimoji="0" lang="en-US" altLang="zh-CN" sz="2400" b="1" kern="1200" cap="none" spc="0" normalizeH="0" baseline="0" noProof="0" dirty="0">
                <a:latin typeface="Arial" panose="020B0604020202020204" pitchFamily="34" charset="0"/>
                <a:ea typeface="宋体" panose="02010600030101010101" pitchFamily="2" charset="-122"/>
                <a:cs typeface="+mn-cs"/>
              </a:rPr>
              <a:t>p2</a:t>
            </a:r>
            <a:r>
              <a:rPr kumimoji="0" lang="zh-CN" altLang="en-US" sz="2400" b="1" kern="1200" cap="none" spc="0" normalizeH="0" baseline="0" noProof="0" dirty="0">
                <a:latin typeface="Arial" panose="020B0604020202020204" pitchFamily="34" charset="0"/>
                <a:ea typeface="宋体" panose="02010600030101010101" pitchFamily="2" charset="-122"/>
                <a:cs typeface="+mn-cs"/>
              </a:rPr>
              <a:t>结点的分配边和申请边，成为图</a:t>
            </a:r>
            <a:r>
              <a:rPr kumimoji="0" lang="en-US" altLang="zh-CN" sz="2400" b="1" kern="1200" cap="none" spc="0" normalizeH="0" baseline="0" noProof="0" dirty="0">
                <a:latin typeface="Arial" panose="020B0604020202020204" pitchFamily="34" charset="0"/>
                <a:ea typeface="宋体" panose="02010600030101010101" pitchFamily="2" charset="-122"/>
                <a:cs typeface="+mn-cs"/>
              </a:rPr>
              <a:t>c</a:t>
            </a:r>
            <a:r>
              <a:rPr kumimoji="0" lang="zh-CN" altLang="en-US" sz="2400" b="1" kern="1200" cap="none" spc="0" normalizeH="0" baseline="0" noProof="0" dirty="0">
                <a:latin typeface="Arial" panose="020B0604020202020204" pitchFamily="34" charset="0"/>
                <a:ea typeface="宋体" panose="02010600030101010101" pitchFamily="2" charset="-122"/>
                <a:cs typeface="+mn-cs"/>
              </a:rPr>
              <a:t>。</a:t>
            </a:r>
            <a:endParaRPr kumimoji="0" lang="zh-CN" altLang="en-US" sz="2400" b="1"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6946"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a:ln>
                  <a:noFill/>
                </a:ln>
                <a:solidFill>
                  <a:schemeClr val="folHlink"/>
                </a:solidFill>
                <a:effectLst>
                  <a:outerShdw blurRad="38100" dist="38100" dir="2700000" algn="tl">
                    <a:srgbClr val="C0C0C0"/>
                  </a:outerShdw>
                </a:effectLst>
                <a:uLnTx/>
                <a:uFillTx/>
                <a:latin typeface="+mj-lt"/>
                <a:ea typeface="仿宋_GB2312" pitchFamily="49" charset="-122"/>
                <a:cs typeface="+mj-cs"/>
              </a:rPr>
              <a:t>解除死锁</a:t>
            </a:r>
            <a:r>
              <a:rPr kumimoji="0" lang="zh-CN" altLang="en-US" sz="4400" b="0" i="0" u="none" strike="noStrike" kern="0" cap="none" spc="0" normalizeH="0" baseline="0" noProof="0">
                <a:ln>
                  <a:noFill/>
                </a:ln>
                <a:solidFill>
                  <a:schemeClr val="folHlink"/>
                </a:solidFill>
                <a:effectLst/>
                <a:uLnTx/>
                <a:uFillTx/>
                <a:latin typeface="+mj-lt"/>
                <a:ea typeface="+mj-ea"/>
                <a:cs typeface="+mj-cs"/>
              </a:rPr>
              <a:t> </a:t>
            </a:r>
            <a:endParaRPr kumimoji="0" lang="zh-CN" altLang="en-US" sz="4400" b="0" i="0" u="none" strike="noStrike" kern="0" cap="none" spc="0" normalizeH="0" baseline="0" noProof="0">
              <a:ln>
                <a:noFill/>
              </a:ln>
              <a:solidFill>
                <a:schemeClr val="folHlink"/>
              </a:solidFill>
              <a:effectLst/>
              <a:uLnTx/>
              <a:uFillTx/>
              <a:latin typeface="+mj-lt"/>
              <a:ea typeface="+mj-ea"/>
              <a:cs typeface="+mj-cs"/>
            </a:endParaRPr>
          </a:p>
        </p:txBody>
      </p:sp>
      <p:sp>
        <p:nvSpPr>
          <p:cNvPr id="466947" name="Rectangle 3"/>
          <p:cNvSpPr>
            <a:spLocks noGrp="1" noRot="1" noChangeArrowheads="1"/>
          </p:cNvSpPr>
          <p:nvPr>
            <p:ph type="body" idx="1"/>
          </p:nvPr>
        </p:nvSpPr>
        <p:spPr>
          <a:xfrm>
            <a:off x="323850" y="1628775"/>
            <a:ext cx="8540750" cy="4498975"/>
          </a:xfrm>
        </p:spPr>
        <p:txBody>
          <a:bodyPr vert="horz" wrap="square" lIns="91440" tIns="45720" rIns="91440" bIns="45720" numCol="1" anchor="t" anchorCtr="0" compatLnSpc="1"/>
          <a:lstStyle/>
          <a:p>
            <a:pPr marL="533400" marR="0" lvl="0" indent="-533400" algn="just"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None/>
              <a:defRPr/>
            </a:pP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常用的解除死锁的方法：</a:t>
            </a:r>
            <a:endPar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533400" marR="0" lvl="0" indent="-533400" algn="just"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en-US" altLang="zh-CN" sz="3200" b="1" i="1"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1.</a:t>
            </a:r>
            <a:r>
              <a:rPr kumimoji="0" lang="zh-CN" altLang="en-US" sz="3200" b="1" i="1"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抢占资源。</a:t>
            </a: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从一个或者多个进程中抢占足够数量的资源，分配给死锁进程，以解除死锁状态。</a:t>
            </a:r>
            <a:endPar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533400" marR="0" lvl="0" indent="-533400" algn="just"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en-US" altLang="zh-CN" sz="3200" b="1" i="1"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2. </a:t>
            </a:r>
            <a:r>
              <a:rPr kumimoji="0" lang="zh-CN" altLang="en-US" sz="3200" b="1" i="1"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终止（或撤销）撤消一个或者多个死锁进程，</a:t>
            </a: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直至打破循环环路，使系统从死锁状态解脱出来。</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66946"/>
                                        </p:tgtEl>
                                        <p:attrNameLst>
                                          <p:attrName>style.visibility</p:attrName>
                                        </p:attrNameLst>
                                      </p:cBhvr>
                                      <p:to>
                                        <p:strVal val="visible"/>
                                      </p:to>
                                    </p:set>
                                    <p:animEffect transition="in" filter="fade">
                                      <p:cBhvr>
                                        <p:cTn id="7" dur="2000"/>
                                        <p:tgtEl>
                                          <p:spTgt spid="4669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6947">
                                            <p:txEl>
                                              <p:charRg st="0" end="12"/>
                                            </p:txEl>
                                          </p:spTgt>
                                        </p:tgtEl>
                                        <p:attrNameLst>
                                          <p:attrName>style.visibility</p:attrName>
                                        </p:attrNameLst>
                                      </p:cBhvr>
                                      <p:to>
                                        <p:strVal val="visible"/>
                                      </p:to>
                                    </p:set>
                                    <p:animEffect transition="in" filter="fade">
                                      <p:cBhvr>
                                        <p:cTn id="12" dur="2000"/>
                                        <p:tgtEl>
                                          <p:spTgt spid="466947">
                                            <p:txEl>
                                              <p:charRg st="0" end="1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66947">
                                            <p:txEl>
                                              <p:charRg st="12" end="56"/>
                                            </p:txEl>
                                          </p:spTgt>
                                        </p:tgtEl>
                                        <p:attrNameLst>
                                          <p:attrName>style.visibility</p:attrName>
                                        </p:attrNameLst>
                                      </p:cBhvr>
                                      <p:to>
                                        <p:strVal val="visible"/>
                                      </p:to>
                                    </p:set>
                                    <p:animEffect transition="in" filter="fade">
                                      <p:cBhvr>
                                        <p:cTn id="17" dur="2000"/>
                                        <p:tgtEl>
                                          <p:spTgt spid="466947">
                                            <p:txEl>
                                              <p:charRg st="12" end="5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66947">
                                            <p:txEl>
                                              <p:charRg st="56" end="102"/>
                                            </p:txEl>
                                          </p:spTgt>
                                        </p:tgtEl>
                                        <p:attrNameLst>
                                          <p:attrName>style.visibility</p:attrName>
                                        </p:attrNameLst>
                                      </p:cBhvr>
                                      <p:to>
                                        <p:strVal val="visible"/>
                                      </p:to>
                                    </p:set>
                                    <p:animEffect transition="in" filter="fade">
                                      <p:cBhvr>
                                        <p:cTn id="22" dur="2000"/>
                                        <p:tgtEl>
                                          <p:spTgt spid="466947">
                                            <p:txEl>
                                              <p:charRg st="56" end="10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6" grpId="0"/>
      <p:bldP spid="466947"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7970"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a:ln>
                  <a:noFill/>
                </a:ln>
                <a:solidFill>
                  <a:schemeClr val="folHlink"/>
                </a:solidFill>
                <a:effectLst>
                  <a:outerShdw blurRad="38100" dist="38100" dir="2700000" algn="tl">
                    <a:srgbClr val="C0C0C0"/>
                  </a:outerShdw>
                </a:effectLst>
                <a:uLnTx/>
                <a:uFillTx/>
                <a:latin typeface="+mj-lt"/>
                <a:ea typeface="仿宋_GB2312" pitchFamily="49" charset="-122"/>
                <a:cs typeface="+mj-cs"/>
              </a:rPr>
              <a:t>最小代价原则</a:t>
            </a:r>
            <a:endParaRPr kumimoji="0" lang="zh-CN" altLang="en-US" sz="4400" b="1" i="0" u="sng" strike="noStrike" kern="0" cap="none" spc="0" normalizeH="0" baseline="0" noProof="0">
              <a:ln>
                <a:noFill/>
              </a:ln>
              <a:solidFill>
                <a:schemeClr val="folHlink"/>
              </a:solidFill>
              <a:effectLst>
                <a:outerShdw blurRad="38100" dist="38100" dir="2700000" algn="tl">
                  <a:srgbClr val="C0C0C0"/>
                </a:outerShdw>
              </a:effectLst>
              <a:uLnTx/>
              <a:uFillTx/>
              <a:latin typeface="+mj-lt"/>
              <a:ea typeface="仿宋_GB2312" pitchFamily="49" charset="-122"/>
              <a:cs typeface="+mj-cs"/>
            </a:endParaRPr>
          </a:p>
        </p:txBody>
      </p:sp>
      <p:sp>
        <p:nvSpPr>
          <p:cNvPr id="467971"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rgbClr val="FF0000"/>
                </a:solidFill>
                <a:effectLst/>
                <a:uLnTx/>
                <a:uFillTx/>
                <a:latin typeface="+mn-lt"/>
                <a:ea typeface="+mn-ea"/>
                <a:cs typeface="+mn-cs"/>
              </a:rPr>
              <a:t>撤消进程所付出的代价最小</a:t>
            </a: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原则</a:t>
            </a: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a:t>
            </a:r>
            <a:endPar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endParaRPr>
          </a:p>
          <a:p>
            <a:pPr marL="742950" marR="0" lvl="1" indent="-285750" algn="just"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到目前为止，花费处理机的时间最少的进程；</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endParaRPr>
          </a:p>
          <a:p>
            <a:pPr marL="742950" marR="0" lvl="1" indent="-285750" algn="just"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到目前为止，产生输出最少的进程；</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endParaRPr>
          </a:p>
          <a:p>
            <a:pPr marL="742950" marR="0" lvl="1" indent="-285750" algn="just"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估计未执行部分最多的进程；</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endParaRPr>
          </a:p>
          <a:p>
            <a:pPr marL="742950" marR="0" lvl="1" indent="-285750" algn="just"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到目前为止，已获得资源量最少的进程；</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优先级最低的进程。</a:t>
            </a:r>
            <a:r>
              <a:rPr kumimoji="0" lang="zh-CN" altLang="en-US" sz="2800" b="0" i="0" u="none" strike="noStrike" kern="0" cap="none" spc="0" normalizeH="0" baseline="0" noProof="0" dirty="0" smtClean="0">
                <a:ln>
                  <a:noFill/>
                </a:ln>
                <a:solidFill>
                  <a:schemeClr val="tx1"/>
                </a:solidFill>
                <a:effectLst/>
                <a:uLnTx/>
                <a:uFillTx/>
                <a:latin typeface="+mn-lt"/>
                <a:ea typeface="+mn-ea"/>
              </a:rPr>
              <a:t> </a:t>
            </a:r>
            <a:endParaRPr kumimoji="0" lang="zh-CN" altLang="en-US" sz="2800" b="0" i="0" u="none" strike="noStrike" kern="0" cap="none" spc="0" normalizeH="0" baseline="0" noProof="0" dirty="0" smtClean="0">
              <a:ln>
                <a:noFill/>
              </a:ln>
              <a:solidFill>
                <a:schemeClr val="tx1"/>
              </a:solidFill>
              <a:effectLst/>
              <a:uLnTx/>
              <a:uFillTx/>
              <a:latin typeface="+mn-lt"/>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67970"/>
                                        </p:tgtEl>
                                        <p:attrNameLst>
                                          <p:attrName>style.visibility</p:attrName>
                                        </p:attrNameLst>
                                      </p:cBhvr>
                                      <p:to>
                                        <p:strVal val="visible"/>
                                      </p:to>
                                    </p:set>
                                    <p:animEffect transition="in" filter="fade">
                                      <p:cBhvr>
                                        <p:cTn id="7" dur="2000"/>
                                        <p:tgtEl>
                                          <p:spTgt spid="4679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7971">
                                            <p:txEl>
                                              <p:charRg st="0" end="16"/>
                                            </p:txEl>
                                          </p:spTgt>
                                        </p:tgtEl>
                                        <p:attrNameLst>
                                          <p:attrName>style.visibility</p:attrName>
                                        </p:attrNameLst>
                                      </p:cBhvr>
                                      <p:to>
                                        <p:strVal val="visible"/>
                                      </p:to>
                                    </p:set>
                                    <p:animEffect transition="in" filter="fade">
                                      <p:cBhvr>
                                        <p:cTn id="12" dur="2000"/>
                                        <p:tgtEl>
                                          <p:spTgt spid="467971">
                                            <p:txEl>
                                              <p:charRg st="0" end="16"/>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67971">
                                            <p:txEl>
                                              <p:charRg st="16" end="37"/>
                                            </p:txEl>
                                          </p:spTgt>
                                        </p:tgtEl>
                                        <p:attrNameLst>
                                          <p:attrName>style.visibility</p:attrName>
                                        </p:attrNameLst>
                                      </p:cBhvr>
                                      <p:to>
                                        <p:strVal val="visible"/>
                                      </p:to>
                                    </p:set>
                                    <p:animEffect transition="in" filter="fade">
                                      <p:cBhvr>
                                        <p:cTn id="15" dur="2000"/>
                                        <p:tgtEl>
                                          <p:spTgt spid="467971">
                                            <p:txEl>
                                              <p:charRg st="16" end="37"/>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67971">
                                            <p:txEl>
                                              <p:charRg st="37" end="54"/>
                                            </p:txEl>
                                          </p:spTgt>
                                        </p:tgtEl>
                                        <p:attrNameLst>
                                          <p:attrName>style.visibility</p:attrName>
                                        </p:attrNameLst>
                                      </p:cBhvr>
                                      <p:to>
                                        <p:strVal val="visible"/>
                                      </p:to>
                                    </p:set>
                                    <p:animEffect transition="in" filter="fade">
                                      <p:cBhvr>
                                        <p:cTn id="18" dur="2000"/>
                                        <p:tgtEl>
                                          <p:spTgt spid="467971">
                                            <p:txEl>
                                              <p:charRg st="37" end="5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67971">
                                            <p:txEl>
                                              <p:charRg st="54" end="68"/>
                                            </p:txEl>
                                          </p:spTgt>
                                        </p:tgtEl>
                                        <p:attrNameLst>
                                          <p:attrName>style.visibility</p:attrName>
                                        </p:attrNameLst>
                                      </p:cBhvr>
                                      <p:to>
                                        <p:strVal val="visible"/>
                                      </p:to>
                                    </p:set>
                                    <p:animEffect transition="in" filter="fade">
                                      <p:cBhvr>
                                        <p:cTn id="21" dur="2000"/>
                                        <p:tgtEl>
                                          <p:spTgt spid="467971">
                                            <p:txEl>
                                              <p:charRg st="54" end="68"/>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67971">
                                            <p:txEl>
                                              <p:charRg st="68" end="87"/>
                                            </p:txEl>
                                          </p:spTgt>
                                        </p:tgtEl>
                                        <p:attrNameLst>
                                          <p:attrName>style.visibility</p:attrName>
                                        </p:attrNameLst>
                                      </p:cBhvr>
                                      <p:to>
                                        <p:strVal val="visible"/>
                                      </p:to>
                                    </p:set>
                                    <p:animEffect transition="in" filter="fade">
                                      <p:cBhvr>
                                        <p:cTn id="24" dur="2000"/>
                                        <p:tgtEl>
                                          <p:spTgt spid="467971">
                                            <p:txEl>
                                              <p:charRg st="68" end="87"/>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67971">
                                            <p:txEl>
                                              <p:charRg st="87" end="98"/>
                                            </p:txEl>
                                          </p:spTgt>
                                        </p:tgtEl>
                                        <p:attrNameLst>
                                          <p:attrName>style.visibility</p:attrName>
                                        </p:attrNameLst>
                                      </p:cBhvr>
                                      <p:to>
                                        <p:strVal val="visible"/>
                                      </p:to>
                                    </p:set>
                                    <p:animEffect transition="in" filter="fade">
                                      <p:cBhvr>
                                        <p:cTn id="27" dur="2000"/>
                                        <p:tgtEl>
                                          <p:spTgt spid="467971">
                                            <p:txEl>
                                              <p:charRg st="87" end="9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70" grpId="0"/>
      <p:bldP spid="467971"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8994" name="Rectangle 2"/>
          <p:cNvSpPr>
            <a:spLocks noGrp="1" noRot="1" noChangeArrowheads="1"/>
          </p:cNvSpPr>
          <p:nvPr>
            <p:ph type="title" idx="4294967295"/>
          </p:nvPr>
        </p:nvSpPr>
        <p:spPr>
          <a:xfrm>
            <a:off x="152400" y="1524000"/>
            <a:ext cx="8686800" cy="1524000"/>
          </a:xfrm>
          <a:gradFill rotWithShape="0">
            <a:gsLst>
              <a:gs pos="0">
                <a:schemeClr val="accent1">
                  <a:gamma/>
                  <a:shade val="46275"/>
                  <a:invGamma/>
                </a:schemeClr>
              </a:gs>
              <a:gs pos="50000">
                <a:schemeClr val="accent1"/>
              </a:gs>
              <a:gs pos="100000">
                <a:schemeClr val="accent1">
                  <a:gamma/>
                  <a:shade val="46275"/>
                  <a:invGamma/>
                </a:schemeClr>
              </a:gs>
            </a:gsLst>
            <a:lin ang="5400000" scaled="1"/>
          </a:gradFill>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死锁解除实例</a:t>
            </a:r>
            <a:r>
              <a:rPr kumimoji="0" lang="en-US" altLang="zh-CN"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a:t>
            </a:r>
            <a:r>
              <a:rPr kumimoji="0" lang="zh-CN" altLang="en-US"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哲学家进餐问题 </a:t>
            </a:r>
            <a:endParaRPr kumimoji="0" lang="zh-CN" altLang="en-US"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68994"/>
                                        </p:tgtEl>
                                        <p:attrNameLst>
                                          <p:attrName>style.visibility</p:attrName>
                                        </p:attrNameLst>
                                      </p:cBhvr>
                                      <p:to>
                                        <p:strVal val="visible"/>
                                      </p:to>
                                    </p:set>
                                    <p:animEffect transition="in" filter="fade">
                                      <p:cBhvr>
                                        <p:cTn id="7" dur="2000"/>
                                        <p:tgtEl>
                                          <p:spTgt spid="4689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4"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a:spLocks noGrp="1" noRot="1"/>
          </p:cNvSpPr>
          <p:nvPr>
            <p:ph type="title" idx="4294967295"/>
          </p:nvPr>
        </p:nvSpPr>
        <p:spPr>
          <a:ln/>
        </p:spPr>
        <p:txBody>
          <a:bodyPr vert="horz" wrap="square" lIns="91440" tIns="45720" rIns="91440" bIns="45720" anchor="ctr" anchorCtr="0"/>
          <a:p>
            <a:pPr eaLnBrk="1" hangingPunct="1"/>
            <a:r>
              <a:rPr lang="zh-CN" altLang="en-US" dirty="0"/>
              <a:t>问题描述</a:t>
            </a:r>
            <a:endParaRPr lang="zh-CN" altLang="en-US" dirty="0"/>
          </a:p>
        </p:txBody>
      </p:sp>
      <p:sp>
        <p:nvSpPr>
          <p:cNvPr id="129027" name="Rectangle 3"/>
          <p:cNvSpPr>
            <a:spLocks noGrp="1" noRot="1"/>
          </p:cNvSpPr>
          <p:nvPr>
            <p:ph type="body" idx="4294967295"/>
          </p:nvPr>
        </p:nvSpPr>
        <p:spPr>
          <a:xfrm>
            <a:off x="76200" y="1216025"/>
            <a:ext cx="8763000" cy="4498975"/>
          </a:xfrm>
          <a:ln/>
        </p:spPr>
        <p:txBody>
          <a:bodyPr vert="horz" wrap="square" lIns="91440" tIns="45720" rIns="91440" bIns="45720" anchor="t" anchorCtr="0"/>
          <a:p>
            <a:pPr lvl="2" eaLnBrk="1" hangingPunct="1">
              <a:spcBef>
                <a:spcPct val="0"/>
              </a:spcBef>
              <a:buClrTx/>
              <a:buSzTx/>
              <a:buFontTx/>
              <a:buNone/>
            </a:pPr>
            <a:endParaRPr lang="zh-CN" altLang="en-US" b="1" dirty="0"/>
          </a:p>
          <a:p>
            <a:pPr eaLnBrk="1" hangingPunct="1"/>
            <a:r>
              <a:rPr lang="zh-CN" altLang="en-US" b="1" dirty="0"/>
              <a:t>五个哲学家五只筷子，哲学家循环做着思考和吃饭的动作，吃饭程序是：先取左边筷子，再取右边筷子，再吃饭，再放筷子。</a:t>
            </a:r>
            <a:endParaRPr lang="zh-CN" altLang="en-US" b="1" dirty="0"/>
          </a:p>
        </p:txBody>
      </p:sp>
      <p:sp>
        <p:nvSpPr>
          <p:cNvPr id="128004" name="Oval 4"/>
          <p:cNvSpPr/>
          <p:nvPr/>
        </p:nvSpPr>
        <p:spPr>
          <a:xfrm>
            <a:off x="3200400" y="3733800"/>
            <a:ext cx="2514600" cy="2438400"/>
          </a:xfrm>
          <a:prstGeom prst="ellipse">
            <a:avLst/>
          </a:prstGeom>
          <a:solidFill>
            <a:schemeClr val="tx2"/>
          </a:solidFill>
          <a:ln w="9525" cap="flat" cmpd="sng">
            <a:solidFill>
              <a:schemeClr val="tx1"/>
            </a:solidFill>
            <a:prstDash val="solid"/>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128005" name="Oval 5"/>
          <p:cNvSpPr/>
          <p:nvPr/>
        </p:nvSpPr>
        <p:spPr>
          <a:xfrm>
            <a:off x="4343400" y="5562600"/>
            <a:ext cx="381000" cy="3810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128006" name="Oval 6"/>
          <p:cNvSpPr/>
          <p:nvPr/>
        </p:nvSpPr>
        <p:spPr>
          <a:xfrm>
            <a:off x="5105400" y="4953000"/>
            <a:ext cx="381000" cy="3810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128007" name="Oval 7"/>
          <p:cNvSpPr/>
          <p:nvPr/>
        </p:nvSpPr>
        <p:spPr>
          <a:xfrm>
            <a:off x="4648200" y="4038600"/>
            <a:ext cx="457200" cy="4572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128008" name="Oval 8"/>
          <p:cNvSpPr/>
          <p:nvPr/>
        </p:nvSpPr>
        <p:spPr>
          <a:xfrm>
            <a:off x="3657600" y="4191000"/>
            <a:ext cx="381000" cy="3810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128009" name="Oval 9"/>
          <p:cNvSpPr/>
          <p:nvPr/>
        </p:nvSpPr>
        <p:spPr>
          <a:xfrm>
            <a:off x="3505200" y="5105400"/>
            <a:ext cx="381000" cy="3810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128010" name="Line 10"/>
          <p:cNvSpPr/>
          <p:nvPr/>
        </p:nvSpPr>
        <p:spPr>
          <a:xfrm flipH="1">
            <a:off x="3962400" y="5410200"/>
            <a:ext cx="228600" cy="381000"/>
          </a:xfrm>
          <a:prstGeom prst="line">
            <a:avLst/>
          </a:prstGeom>
          <a:ln w="28575" cap="flat" cmpd="sng">
            <a:solidFill>
              <a:schemeClr val="bg2"/>
            </a:solidFill>
            <a:prstDash val="solid"/>
            <a:headEnd type="none" w="med" len="med"/>
            <a:tailEnd type="none" w="med" len="med"/>
          </a:ln>
        </p:spPr>
      </p:sp>
      <p:sp>
        <p:nvSpPr>
          <p:cNvPr id="128011" name="Line 11"/>
          <p:cNvSpPr/>
          <p:nvPr/>
        </p:nvSpPr>
        <p:spPr>
          <a:xfrm>
            <a:off x="4800600" y="5410200"/>
            <a:ext cx="304800" cy="304800"/>
          </a:xfrm>
          <a:prstGeom prst="line">
            <a:avLst/>
          </a:prstGeom>
          <a:ln w="28575" cap="flat" cmpd="sng">
            <a:solidFill>
              <a:schemeClr val="bg2"/>
            </a:solidFill>
            <a:prstDash val="solid"/>
            <a:headEnd type="none" w="med" len="med"/>
            <a:tailEnd type="none" w="med" len="med"/>
          </a:ln>
        </p:spPr>
      </p:sp>
      <p:sp>
        <p:nvSpPr>
          <p:cNvPr id="128012" name="Line 12"/>
          <p:cNvSpPr/>
          <p:nvPr/>
        </p:nvSpPr>
        <p:spPr>
          <a:xfrm flipV="1">
            <a:off x="5105400" y="4648200"/>
            <a:ext cx="304800" cy="152400"/>
          </a:xfrm>
          <a:prstGeom prst="line">
            <a:avLst/>
          </a:prstGeom>
          <a:ln w="28575" cap="flat" cmpd="sng">
            <a:solidFill>
              <a:schemeClr val="bg2"/>
            </a:solidFill>
            <a:prstDash val="solid"/>
            <a:headEnd type="none" w="med" len="med"/>
            <a:tailEnd type="none" w="med" len="med"/>
          </a:ln>
        </p:spPr>
      </p:sp>
      <p:sp>
        <p:nvSpPr>
          <p:cNvPr id="128013" name="Line 13"/>
          <p:cNvSpPr/>
          <p:nvPr/>
        </p:nvSpPr>
        <p:spPr>
          <a:xfrm flipH="1" flipV="1">
            <a:off x="4267200" y="4038600"/>
            <a:ext cx="76200" cy="457200"/>
          </a:xfrm>
          <a:prstGeom prst="line">
            <a:avLst/>
          </a:prstGeom>
          <a:ln w="28575" cap="flat" cmpd="sng">
            <a:solidFill>
              <a:schemeClr val="bg2"/>
            </a:solidFill>
            <a:prstDash val="solid"/>
            <a:headEnd type="none" w="med" len="med"/>
            <a:tailEnd type="none" w="med" len="med"/>
          </a:ln>
        </p:spPr>
      </p:sp>
      <p:sp>
        <p:nvSpPr>
          <p:cNvPr id="128014" name="Line 14"/>
          <p:cNvSpPr/>
          <p:nvPr/>
        </p:nvSpPr>
        <p:spPr>
          <a:xfrm>
            <a:off x="3429000" y="4800600"/>
            <a:ext cx="457200" cy="0"/>
          </a:xfrm>
          <a:prstGeom prst="line">
            <a:avLst/>
          </a:prstGeom>
          <a:ln w="28575" cap="flat" cmpd="sng">
            <a:solidFill>
              <a:schemeClr val="bg2"/>
            </a:solidFill>
            <a:prstDash val="solid"/>
            <a:headEnd type="none" w="med" len="med"/>
            <a:tailEnd type="none" w="med" len="med"/>
          </a:ln>
        </p:spPr>
      </p:sp>
      <p:sp>
        <p:nvSpPr>
          <p:cNvPr id="128015" name="Oval 15"/>
          <p:cNvSpPr/>
          <p:nvPr/>
        </p:nvSpPr>
        <p:spPr>
          <a:xfrm>
            <a:off x="5105400" y="3429000"/>
            <a:ext cx="304800" cy="30480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128016" name="Oval 16"/>
          <p:cNvSpPr/>
          <p:nvPr/>
        </p:nvSpPr>
        <p:spPr>
          <a:xfrm>
            <a:off x="5943600" y="5105400"/>
            <a:ext cx="304800" cy="30480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128017" name="Oval 17"/>
          <p:cNvSpPr/>
          <p:nvPr/>
        </p:nvSpPr>
        <p:spPr>
          <a:xfrm>
            <a:off x="3124200" y="3733800"/>
            <a:ext cx="304800" cy="30480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128018" name="Oval 18"/>
          <p:cNvSpPr/>
          <p:nvPr/>
        </p:nvSpPr>
        <p:spPr>
          <a:xfrm>
            <a:off x="2819400" y="5410200"/>
            <a:ext cx="381000" cy="38100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128019" name="Oval 19"/>
          <p:cNvSpPr/>
          <p:nvPr/>
        </p:nvSpPr>
        <p:spPr>
          <a:xfrm>
            <a:off x="4495800" y="6324600"/>
            <a:ext cx="304800" cy="30480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9026"/>
                                        </p:tgtEl>
                                        <p:attrNameLst>
                                          <p:attrName>style.visibility</p:attrName>
                                        </p:attrNameLst>
                                      </p:cBhvr>
                                      <p:to>
                                        <p:strVal val="visible"/>
                                      </p:to>
                                    </p:set>
                                    <p:animEffect transition="in" filter="fade">
                                      <p:cBhvr>
                                        <p:cTn id="7" dur="2000"/>
                                        <p:tgtEl>
                                          <p:spTgt spid="129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9027">
                                            <p:txEl>
                                              <p:charRg st="1" end="57"/>
                                            </p:txEl>
                                          </p:spTgt>
                                        </p:tgtEl>
                                        <p:attrNameLst>
                                          <p:attrName>style.visibility</p:attrName>
                                        </p:attrNameLst>
                                      </p:cBhvr>
                                      <p:to>
                                        <p:strVal val="visible"/>
                                      </p:to>
                                    </p:set>
                                    <p:animEffect transition="in" filter="fade">
                                      <p:cBhvr>
                                        <p:cTn id="12" dur="2000"/>
                                        <p:tgtEl>
                                          <p:spTgt spid="129027">
                                            <p:txEl>
                                              <p:charRg st="1" end="5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6" grpId="0"/>
      <p:bldP spid="129027" grpId="0"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2"/>
          <p:cNvSpPr>
            <a:spLocks noGrp="1" noRot="1"/>
          </p:cNvSpPr>
          <p:nvPr>
            <p:ph type="title" idx="4294967295"/>
          </p:nvPr>
        </p:nvSpPr>
        <p:spPr>
          <a:xfrm>
            <a:off x="533400" y="304800"/>
            <a:ext cx="8077200" cy="1066800"/>
          </a:xfrm>
          <a:ln/>
        </p:spPr>
        <p:txBody>
          <a:bodyPr vert="horz" wrap="square" lIns="91440" tIns="45720" rIns="91440" bIns="45720" anchor="ctr" anchorCtr="0"/>
          <a:p>
            <a:pPr eaLnBrk="1" hangingPunct="1"/>
            <a:r>
              <a:rPr lang="zh-CN" altLang="en-US" sz="4000" b="1" dirty="0">
                <a:solidFill>
                  <a:schemeClr val="folHlink"/>
                </a:solidFill>
              </a:rPr>
              <a:t>利用记录型信号量解决</a:t>
            </a:r>
            <a:br>
              <a:rPr lang="zh-CN" altLang="en-US" sz="4000" b="1" dirty="0">
                <a:solidFill>
                  <a:schemeClr val="folHlink"/>
                </a:solidFill>
              </a:rPr>
            </a:br>
            <a:r>
              <a:rPr lang="zh-CN" altLang="en-US" sz="4000" b="1" dirty="0">
                <a:solidFill>
                  <a:schemeClr val="folHlink"/>
                </a:solidFill>
              </a:rPr>
              <a:t>哲学家进餐问题</a:t>
            </a:r>
            <a:endParaRPr lang="zh-CN" altLang="en-US" sz="4000" b="1" dirty="0">
              <a:solidFill>
                <a:schemeClr val="folHlink"/>
              </a:solidFill>
            </a:endParaRPr>
          </a:p>
        </p:txBody>
      </p:sp>
      <p:sp>
        <p:nvSpPr>
          <p:cNvPr id="130051" name="Rectangle 3"/>
          <p:cNvSpPr>
            <a:spLocks noGrp="1" noRot="1"/>
          </p:cNvSpPr>
          <p:nvPr>
            <p:ph type="body" idx="4294967295"/>
          </p:nvPr>
        </p:nvSpPr>
        <p:spPr>
          <a:xfrm>
            <a:off x="381000" y="1673225"/>
            <a:ext cx="8305800" cy="4498975"/>
          </a:xfrm>
          <a:ln/>
        </p:spPr>
        <p:txBody>
          <a:bodyPr vert="horz" wrap="square" lIns="91440" tIns="45720" rIns="91440" bIns="45720" anchor="t" anchorCtr="0"/>
          <a:p>
            <a:pPr eaLnBrk="1" hangingPunct="1"/>
            <a:r>
              <a:rPr lang="zh-CN" altLang="en-US" dirty="0"/>
              <a:t> </a:t>
            </a:r>
            <a:r>
              <a:rPr lang="zh-CN" altLang="en-US" b="1" dirty="0"/>
              <a:t>经分析可知，放在桌子上的筷子是临界资源，在一段时间内只允许一位哲学家使用。为了实现对筷子的互斥使用，可以用一个信号量表示一只筷子，由这五个信号量构成信号量数组。其描述如下：</a:t>
            </a:r>
            <a:endParaRPr lang="zh-CN" altLang="en-US" b="1" dirty="0"/>
          </a:p>
          <a:p>
            <a:pPr eaLnBrk="1" hangingPunct="1"/>
            <a:r>
              <a:rPr lang="zh-CN" altLang="en-US" b="1" dirty="0"/>
              <a:t> </a:t>
            </a:r>
            <a:r>
              <a:rPr lang="en-US" altLang="zh-CN" b="1" dirty="0"/>
              <a:t>semaphore chopstick chopstick[5]={1,1,1,1,1} ;</a:t>
            </a:r>
            <a:endParaRPr lang="en-US" altLang="zh-CN" b="1" dirty="0"/>
          </a:p>
          <a:p>
            <a:pPr eaLnBrk="1" hangingPunct="1"/>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0050"/>
                                        </p:tgtEl>
                                        <p:attrNameLst>
                                          <p:attrName>style.visibility</p:attrName>
                                        </p:attrNameLst>
                                      </p:cBhvr>
                                      <p:to>
                                        <p:strVal val="visible"/>
                                      </p:to>
                                    </p:set>
                                    <p:animEffect transition="in" filter="fade">
                                      <p:cBhvr>
                                        <p:cTn id="7" dur="2000"/>
                                        <p:tgtEl>
                                          <p:spTgt spid="1300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0051">
                                            <p:txEl>
                                              <p:charRg st="0" end="88"/>
                                            </p:txEl>
                                          </p:spTgt>
                                        </p:tgtEl>
                                        <p:attrNameLst>
                                          <p:attrName>style.visibility</p:attrName>
                                        </p:attrNameLst>
                                      </p:cBhvr>
                                      <p:to>
                                        <p:strVal val="visible"/>
                                      </p:to>
                                    </p:set>
                                    <p:animEffect transition="in" filter="fade">
                                      <p:cBhvr>
                                        <p:cTn id="12" dur="2000"/>
                                        <p:tgtEl>
                                          <p:spTgt spid="130051">
                                            <p:txEl>
                                              <p:charRg st="0" end="8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0051">
                                            <p:txEl>
                                              <p:charRg st="88" end="136"/>
                                            </p:txEl>
                                          </p:spTgt>
                                        </p:tgtEl>
                                        <p:attrNameLst>
                                          <p:attrName>style.visibility</p:attrName>
                                        </p:attrNameLst>
                                      </p:cBhvr>
                                      <p:to>
                                        <p:strVal val="visible"/>
                                      </p:to>
                                    </p:set>
                                    <p:animEffect transition="in" filter="fade">
                                      <p:cBhvr>
                                        <p:cTn id="17" dur="2000"/>
                                        <p:tgtEl>
                                          <p:spTgt spid="130051">
                                            <p:txEl>
                                              <p:charRg st="88" end="1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0" grpId="0"/>
      <p:bldP spid="130051" grpId="0"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2500" name="Rectangle 4"/>
          <p:cNvSpPr>
            <a:spLocks noChangeArrowheads="1"/>
          </p:cNvSpPr>
          <p:nvPr/>
        </p:nvSpPr>
        <p:spPr bwMode="auto">
          <a:xfrm>
            <a:off x="228600" y="0"/>
            <a:ext cx="8458200" cy="1433513"/>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实现：</a:t>
            </a:r>
            <a:endParaRPr kumimoji="1" lang="zh-CN" altLang="en-US" sz="32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为每个筷子设一把锁（信号量，初值为</a:t>
            </a:r>
            <a:r>
              <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1</a:t>
            </a: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r>
            <a:endPar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每个哲学家是一个进程。</a:t>
            </a:r>
            <a:endPar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0051" name="Rectangle 5"/>
          <p:cNvSpPr/>
          <p:nvPr/>
        </p:nvSpPr>
        <p:spPr>
          <a:xfrm>
            <a:off x="228600" y="1433513"/>
            <a:ext cx="7696200" cy="4586287"/>
          </a:xfrm>
          <a:prstGeom prst="rect">
            <a:avLst/>
          </a:prstGeom>
          <a:solidFill>
            <a:srgbClr val="CCFFFF"/>
          </a:solidFill>
          <a:ln w="9525">
            <a:noFill/>
          </a:ln>
          <a:effectLst>
            <a:prstShdw prst="shdw17" dist="17961" dir="13499999">
              <a:srgbClr val="050505"/>
            </a:prstShdw>
          </a:effectLst>
        </p:spPr>
        <p:txBody>
          <a:bodyPr wrap="none" anchor="ctr" anchorCtr="0"/>
          <a:p>
            <a:pPr eaLnBrk="1" hangingPunct="1"/>
            <a:r>
              <a:rPr lang="en-US" altLang="zh-CN" sz="2400" b="1" dirty="0">
                <a:solidFill>
                  <a:srgbClr val="003300"/>
                </a:solidFill>
                <a:latin typeface="Arial" panose="020B0604020202020204" pitchFamily="34" charset="0"/>
              </a:rPr>
              <a:t>Do{</a:t>
            </a:r>
            <a:endParaRPr lang="en-US" altLang="zh-CN" sz="2400" b="1" dirty="0">
              <a:solidFill>
                <a:srgbClr val="003300"/>
              </a:solidFill>
              <a:latin typeface="Arial" panose="020B0604020202020204" pitchFamily="34" charset="0"/>
            </a:endParaRPr>
          </a:p>
          <a:p>
            <a:pPr eaLnBrk="1" hangingPunct="1"/>
            <a:r>
              <a:rPr lang="en-US" altLang="zh-CN" sz="2400" b="1" dirty="0">
                <a:solidFill>
                  <a:srgbClr val="003300"/>
                </a:solidFill>
                <a:latin typeface="Arial" panose="020B0604020202020204" pitchFamily="34" charset="0"/>
              </a:rPr>
              <a:t>  wait</a:t>
            </a:r>
            <a:r>
              <a:rPr lang="zh-CN" altLang="en-US" sz="2400" b="1" dirty="0">
                <a:solidFill>
                  <a:srgbClr val="003300"/>
                </a:solidFill>
                <a:latin typeface="Arial" panose="020B0604020202020204" pitchFamily="34" charset="0"/>
              </a:rPr>
              <a:t>（</a:t>
            </a:r>
            <a:r>
              <a:rPr lang="en-US" altLang="zh-CN" sz="2400" b="1" dirty="0">
                <a:solidFill>
                  <a:srgbClr val="003300"/>
                </a:solidFill>
                <a:latin typeface="Arial" panose="020B0604020202020204" pitchFamily="34" charset="0"/>
              </a:rPr>
              <a:t>chopstick[i]</a:t>
            </a:r>
            <a:r>
              <a:rPr lang="zh-CN" altLang="en-US" sz="2400" b="1" dirty="0">
                <a:solidFill>
                  <a:srgbClr val="003300"/>
                </a:solidFill>
                <a:latin typeface="Arial" panose="020B0604020202020204" pitchFamily="34" charset="0"/>
              </a:rPr>
              <a:t>）</a:t>
            </a:r>
            <a:r>
              <a:rPr lang="en-US" altLang="zh-CN" sz="2400" b="1" dirty="0">
                <a:solidFill>
                  <a:srgbClr val="003300"/>
                </a:solidFill>
                <a:latin typeface="Arial" panose="020B0604020202020204" pitchFamily="34" charset="0"/>
              </a:rPr>
              <a:t>;</a:t>
            </a:r>
            <a:r>
              <a:rPr lang="zh-CN" altLang="en-US" sz="2400" b="1" dirty="0">
                <a:solidFill>
                  <a:srgbClr val="003300"/>
                </a:solidFill>
                <a:latin typeface="Arial" panose="020B0604020202020204" pitchFamily="34" charset="0"/>
              </a:rPr>
              <a:t>取左筷子；</a:t>
            </a:r>
            <a:endParaRPr lang="zh-CN" altLang="en-US" sz="2400" b="1" dirty="0">
              <a:solidFill>
                <a:srgbClr val="003300"/>
              </a:solidFill>
              <a:latin typeface="Arial" panose="020B0604020202020204" pitchFamily="34" charset="0"/>
            </a:endParaRPr>
          </a:p>
          <a:p>
            <a:pPr eaLnBrk="1" hangingPunct="1"/>
            <a:r>
              <a:rPr lang="zh-CN" altLang="en-US" sz="2400" b="1" dirty="0">
                <a:solidFill>
                  <a:srgbClr val="003300"/>
                </a:solidFill>
                <a:latin typeface="Arial" panose="020B0604020202020204" pitchFamily="34" charset="0"/>
              </a:rPr>
              <a:t> </a:t>
            </a:r>
            <a:r>
              <a:rPr lang="en-US" altLang="zh-CN" sz="2400" b="1" dirty="0">
                <a:solidFill>
                  <a:srgbClr val="003300"/>
                </a:solidFill>
                <a:latin typeface="Arial" panose="020B0604020202020204" pitchFamily="34" charset="0"/>
              </a:rPr>
              <a:t>wait(chopstick[(i+1)%5])</a:t>
            </a:r>
            <a:r>
              <a:rPr lang="zh-CN" altLang="en-US" sz="2400" b="1" dirty="0">
                <a:solidFill>
                  <a:srgbClr val="003300"/>
                </a:solidFill>
                <a:latin typeface="Arial" panose="020B0604020202020204" pitchFamily="34" charset="0"/>
              </a:rPr>
              <a:t>；取右筷子；</a:t>
            </a:r>
            <a:endParaRPr lang="zh-CN" altLang="en-US" sz="2400" b="1" dirty="0">
              <a:solidFill>
                <a:srgbClr val="003300"/>
              </a:solidFill>
              <a:latin typeface="Arial" panose="020B0604020202020204" pitchFamily="34" charset="0"/>
            </a:endParaRPr>
          </a:p>
          <a:p>
            <a:pPr eaLnBrk="1" hangingPunct="1"/>
            <a:r>
              <a:rPr lang="en-US" altLang="zh-CN" sz="2400" b="1" dirty="0">
                <a:solidFill>
                  <a:srgbClr val="003300"/>
                </a:solidFill>
                <a:latin typeface="Arial" panose="020B0604020202020204" pitchFamily="34" charset="0"/>
              </a:rPr>
              <a:t>…</a:t>
            </a:r>
            <a:r>
              <a:rPr lang="zh-CN" altLang="en-US" sz="2400" b="1" dirty="0">
                <a:solidFill>
                  <a:srgbClr val="003300"/>
                </a:solidFill>
                <a:latin typeface="Arial" panose="020B0604020202020204" pitchFamily="34" charset="0"/>
              </a:rPr>
              <a:t>  </a:t>
            </a:r>
            <a:endParaRPr lang="en-US" altLang="zh-CN" sz="2400" b="1" dirty="0">
              <a:solidFill>
                <a:srgbClr val="003300"/>
              </a:solidFill>
              <a:latin typeface="Arial" panose="020B0604020202020204" pitchFamily="34" charset="0"/>
            </a:endParaRPr>
          </a:p>
          <a:p>
            <a:pPr eaLnBrk="1" hangingPunct="1"/>
            <a:r>
              <a:rPr lang="en-US" altLang="zh-CN" sz="2400" b="1" dirty="0">
                <a:solidFill>
                  <a:srgbClr val="003300"/>
                </a:solidFill>
                <a:latin typeface="Arial" panose="020B0604020202020204" pitchFamily="34" charset="0"/>
              </a:rPr>
              <a:t>eat;</a:t>
            </a:r>
            <a:endParaRPr lang="en-US" altLang="zh-CN" sz="2400" b="1" dirty="0">
              <a:solidFill>
                <a:srgbClr val="003300"/>
              </a:solidFill>
              <a:latin typeface="Arial" panose="020B0604020202020204" pitchFamily="34" charset="0"/>
            </a:endParaRPr>
          </a:p>
          <a:p>
            <a:pPr eaLnBrk="1" hangingPunct="1"/>
            <a:r>
              <a:rPr lang="en-US" altLang="zh-CN" sz="2400" b="1" dirty="0">
                <a:solidFill>
                  <a:srgbClr val="003300"/>
                </a:solidFill>
                <a:latin typeface="Arial" panose="020B0604020202020204" pitchFamily="34" charset="0"/>
              </a:rPr>
              <a:t>…</a:t>
            </a:r>
            <a:endParaRPr lang="en-US" altLang="zh-CN" sz="2400" b="1" dirty="0">
              <a:solidFill>
                <a:srgbClr val="003300"/>
              </a:solidFill>
              <a:latin typeface="Arial" panose="020B0604020202020204" pitchFamily="34" charset="0"/>
            </a:endParaRPr>
          </a:p>
          <a:p>
            <a:pPr eaLnBrk="1" hangingPunct="1"/>
            <a:r>
              <a:rPr lang="zh-CN" altLang="en-US" sz="2400" b="1" dirty="0">
                <a:solidFill>
                  <a:srgbClr val="003300"/>
                </a:solidFill>
                <a:latin typeface="Arial" panose="020B0604020202020204" pitchFamily="34" charset="0"/>
              </a:rPr>
              <a:t>  </a:t>
            </a:r>
            <a:r>
              <a:rPr lang="en-US" altLang="zh-CN" sz="2400" b="1" dirty="0">
                <a:solidFill>
                  <a:srgbClr val="003300"/>
                </a:solidFill>
                <a:latin typeface="Arial" panose="020B0604020202020204" pitchFamily="34" charset="0"/>
              </a:rPr>
              <a:t>signal(chopstick[i]);</a:t>
            </a:r>
            <a:r>
              <a:rPr lang="zh-CN" altLang="en-US" sz="2400" b="1" dirty="0">
                <a:solidFill>
                  <a:srgbClr val="003300"/>
                </a:solidFill>
                <a:latin typeface="Arial" panose="020B0604020202020204" pitchFamily="34" charset="0"/>
              </a:rPr>
              <a:t>放左筷子</a:t>
            </a:r>
            <a:endParaRPr lang="zh-CN" altLang="en-US" sz="2400" b="1" dirty="0">
              <a:solidFill>
                <a:srgbClr val="003300"/>
              </a:solidFill>
              <a:latin typeface="Arial" panose="020B0604020202020204" pitchFamily="34" charset="0"/>
            </a:endParaRPr>
          </a:p>
          <a:p>
            <a:pPr eaLnBrk="1" hangingPunct="1"/>
            <a:r>
              <a:rPr lang="zh-CN" altLang="en-US" sz="2400" b="1" dirty="0">
                <a:solidFill>
                  <a:srgbClr val="003300"/>
                </a:solidFill>
                <a:latin typeface="Arial" panose="020B0604020202020204" pitchFamily="34" charset="0"/>
              </a:rPr>
              <a:t>  </a:t>
            </a:r>
            <a:r>
              <a:rPr lang="en-US" altLang="zh-CN" sz="2400" b="1" dirty="0">
                <a:solidFill>
                  <a:srgbClr val="003300"/>
                </a:solidFill>
                <a:latin typeface="Arial" panose="020B0604020202020204" pitchFamily="34" charset="0"/>
              </a:rPr>
              <a:t>signal (Chopstick[(i+1)% 5]</a:t>
            </a:r>
            <a:r>
              <a:rPr lang="zh-CN" altLang="en-US" sz="2400" b="1" dirty="0">
                <a:solidFill>
                  <a:srgbClr val="003300"/>
                </a:solidFill>
                <a:latin typeface="Arial" panose="020B0604020202020204" pitchFamily="34" charset="0"/>
              </a:rPr>
              <a:t>；放右筷子；</a:t>
            </a:r>
            <a:endParaRPr lang="zh-CN" altLang="en-US" sz="2400" b="1" dirty="0">
              <a:solidFill>
                <a:srgbClr val="003300"/>
              </a:solidFill>
              <a:latin typeface="Arial" panose="020B0604020202020204" pitchFamily="34" charset="0"/>
            </a:endParaRPr>
          </a:p>
          <a:p>
            <a:pPr eaLnBrk="1" hangingPunct="1"/>
            <a:r>
              <a:rPr lang="en-US" altLang="zh-CN" sz="2400" b="1" dirty="0">
                <a:solidFill>
                  <a:srgbClr val="003300"/>
                </a:solidFill>
                <a:latin typeface="Arial" panose="020B0604020202020204" pitchFamily="34" charset="0"/>
              </a:rPr>
              <a:t>…</a:t>
            </a:r>
            <a:r>
              <a:rPr lang="zh-CN" altLang="en-US" sz="2400" b="1" dirty="0">
                <a:solidFill>
                  <a:srgbClr val="003300"/>
                </a:solidFill>
                <a:latin typeface="Arial" panose="020B0604020202020204" pitchFamily="34" charset="0"/>
              </a:rPr>
              <a:t> </a:t>
            </a:r>
            <a:endParaRPr lang="en-US" altLang="zh-CN" sz="2400" b="1" dirty="0">
              <a:solidFill>
                <a:srgbClr val="003300"/>
              </a:solidFill>
              <a:latin typeface="Arial" panose="020B0604020202020204" pitchFamily="34" charset="0"/>
            </a:endParaRPr>
          </a:p>
          <a:p>
            <a:pPr eaLnBrk="1" hangingPunct="1"/>
            <a:r>
              <a:rPr lang="en-US" altLang="zh-CN" sz="2400" b="1" dirty="0">
                <a:solidFill>
                  <a:srgbClr val="003300"/>
                </a:solidFill>
                <a:latin typeface="Arial" panose="020B0604020202020204" pitchFamily="34" charset="0"/>
              </a:rPr>
              <a:t>think;</a:t>
            </a:r>
            <a:endParaRPr lang="en-US" altLang="zh-CN" sz="2400" b="1" dirty="0">
              <a:solidFill>
                <a:srgbClr val="003300"/>
              </a:solidFill>
              <a:latin typeface="Arial" panose="020B0604020202020204" pitchFamily="34" charset="0"/>
            </a:endParaRPr>
          </a:p>
          <a:p>
            <a:pPr eaLnBrk="1" hangingPunct="1"/>
            <a:r>
              <a:rPr lang="en-US" altLang="zh-CN" sz="2400" b="1" dirty="0">
                <a:solidFill>
                  <a:srgbClr val="003300"/>
                </a:solidFill>
                <a:latin typeface="Arial" panose="020B0604020202020204" pitchFamily="34" charset="0"/>
              </a:rPr>
              <a:t>…</a:t>
            </a:r>
            <a:endParaRPr lang="en-US" altLang="zh-CN" sz="2400" b="1" dirty="0">
              <a:solidFill>
                <a:srgbClr val="003300"/>
              </a:solidFill>
              <a:latin typeface="Arial" panose="020B0604020202020204" pitchFamily="34" charset="0"/>
            </a:endParaRPr>
          </a:p>
          <a:p>
            <a:pPr eaLnBrk="1" hangingPunct="1"/>
            <a:r>
              <a:rPr lang="en-US" altLang="zh-CN" sz="2400" b="1" dirty="0">
                <a:solidFill>
                  <a:srgbClr val="003300"/>
                </a:solidFill>
                <a:latin typeface="Arial" panose="020B0604020202020204" pitchFamily="34" charset="0"/>
              </a:rPr>
              <a:t>} while[TRUE];</a:t>
            </a:r>
            <a:endParaRPr lang="en-US" altLang="zh-CN" sz="2400" b="1" dirty="0">
              <a:solidFill>
                <a:srgbClr val="003300"/>
              </a:solidFill>
              <a:latin typeface="Arial" panose="020B0604020202020204" pitchFamily="34" charset="0"/>
            </a:endParaRPr>
          </a:p>
          <a:p>
            <a:pPr eaLnBrk="1" hangingPunct="1"/>
            <a:endParaRPr lang="zh-CN" altLang="en-US" sz="2400" dirty="0">
              <a:solidFill>
                <a:srgbClr val="003300"/>
              </a:solidFill>
              <a:latin typeface="Arial" panose="020B0604020202020204" pitchFamily="34" charset="0"/>
            </a:endParaRPr>
          </a:p>
        </p:txBody>
      </p:sp>
      <p:sp>
        <p:nvSpPr>
          <p:cNvPr id="362502" name="Rectangle 6"/>
          <p:cNvSpPr>
            <a:spLocks noChangeArrowheads="1"/>
          </p:cNvSpPr>
          <p:nvPr/>
        </p:nvSpPr>
        <p:spPr bwMode="auto">
          <a:xfrm>
            <a:off x="228600" y="6096000"/>
            <a:ext cx="8686800" cy="519113"/>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1"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a:t>
            </a:r>
            <a:r>
              <a:rPr kumimoji="1" lang="zh-CN" altLang="en-US" sz="2800" b="1" i="1"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这可能导致死锁！！！</a:t>
            </a:r>
            <a:r>
              <a:rPr kumimoji="1" lang="en-US" altLang="zh-CN" sz="2800" b="1" i="1"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a:t>
            </a:r>
            <a:endParaRPr kumimoji="1" lang="zh-CN" altLang="en-US" sz="2800" b="1" i="1"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3090" name="Rectangle 2"/>
          <p:cNvSpPr>
            <a:spLocks noGrp="1" noRot="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a:ln>
                  <a:noFill/>
                </a:ln>
                <a:solidFill>
                  <a:schemeClr val="accent2"/>
                </a:solidFill>
                <a:effectLst>
                  <a:outerShdw blurRad="38100" dist="38100" dir="2700000" algn="tl">
                    <a:srgbClr val="C0C0C0"/>
                  </a:outerShdw>
                </a:effectLst>
                <a:uLnTx/>
                <a:uFillTx/>
                <a:latin typeface="+mj-lt"/>
                <a:ea typeface="仿宋_GB2312" pitchFamily="49" charset="-122"/>
                <a:cs typeface="+mj-cs"/>
              </a:rPr>
              <a:t>改进</a:t>
            </a:r>
            <a:endParaRPr kumimoji="0" lang="zh-CN" altLang="en-US" sz="4400" b="1" i="0" u="sng" strike="noStrike" kern="0" cap="none" spc="0" normalizeH="0" baseline="0" noProof="0">
              <a:ln>
                <a:noFill/>
              </a:ln>
              <a:solidFill>
                <a:schemeClr val="accent2"/>
              </a:solidFill>
              <a:effectLst>
                <a:outerShdw blurRad="38100" dist="38100" dir="2700000" algn="tl">
                  <a:srgbClr val="C0C0C0"/>
                </a:outerShdw>
              </a:effectLst>
              <a:uLnTx/>
              <a:uFillTx/>
              <a:latin typeface="+mj-lt"/>
              <a:ea typeface="仿宋_GB2312" pitchFamily="49" charset="-122"/>
              <a:cs typeface="+mj-cs"/>
            </a:endParaRPr>
          </a:p>
        </p:txBody>
      </p:sp>
      <p:sp>
        <p:nvSpPr>
          <p:cNvPr id="473091" name="Rectangle 3"/>
          <p:cNvSpPr>
            <a:spLocks noGrp="1" noRot="1" noChangeArrowheads="1"/>
          </p:cNvSpPr>
          <p:nvPr>
            <p:ph type="body" idx="1"/>
          </p:nvPr>
        </p:nvSpPr>
        <p:spPr>
          <a:xfrm>
            <a:off x="304800" y="1673225"/>
            <a:ext cx="8458200" cy="4498975"/>
          </a:xfrm>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上述方法会出现死锁，因此需要进行改进，改进方法一：</a:t>
            </a:r>
            <a:endParaRPr kumimoji="0" lang="zh-CN" altLang="en-US" sz="32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742950" marR="0" lvl="1" indent="-285750" algn="l" defTabSz="914400" rtl="0" eaLnBrk="1" fontAlgn="base" latinLnBrk="0" hangingPunct="1">
              <a:lnSpc>
                <a:spcPct val="11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规定：当哲学家获得了其左边的筷子以后，查看其右边的筷子是否可用。如果不可用，则</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谦让</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，放下其已获得的左边的筷子，等一段时间再重复整个过程。</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endParaRPr>
          </a:p>
          <a:p>
            <a:pPr marL="742950" marR="0" lvl="1" indent="-285750" algn="l" defTabSz="914400" rtl="0" eaLnBrk="1" fontAlgn="base" latinLnBrk="0" hangingPunct="1">
              <a:lnSpc>
                <a:spcPct val="11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但是，存在问题，可能反复</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谦让</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下去。</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endParaRPr>
          </a:p>
          <a:p>
            <a:pPr marL="742950" marR="0" lvl="1" indent="-285750" algn="l" defTabSz="914400" rtl="0" eaLnBrk="1" fontAlgn="base" latinLnBrk="0" hangingPunct="1">
              <a:lnSpc>
                <a:spcPct val="11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这种情况下，所有的哲学家都在</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忙碌</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，但却无法取得进展，称为</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饥饿</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现象。 </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73090"/>
                                        </p:tgtEl>
                                        <p:attrNameLst>
                                          <p:attrName>style.visibility</p:attrName>
                                        </p:attrNameLst>
                                      </p:cBhvr>
                                      <p:to>
                                        <p:strVal val="visible"/>
                                      </p:to>
                                    </p:set>
                                    <p:animEffect transition="in" filter="fade">
                                      <p:cBhvr>
                                        <p:cTn id="7" dur="2000"/>
                                        <p:tgtEl>
                                          <p:spTgt spid="4730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73091">
                                            <p:txEl>
                                              <p:charRg st="0" end="26"/>
                                            </p:txEl>
                                          </p:spTgt>
                                        </p:tgtEl>
                                        <p:attrNameLst>
                                          <p:attrName>style.visibility</p:attrName>
                                        </p:attrNameLst>
                                      </p:cBhvr>
                                      <p:to>
                                        <p:strVal val="visible"/>
                                      </p:to>
                                    </p:set>
                                    <p:animEffect transition="in" filter="fade">
                                      <p:cBhvr>
                                        <p:cTn id="12" dur="2000"/>
                                        <p:tgtEl>
                                          <p:spTgt spid="473091">
                                            <p:txEl>
                                              <p:charRg st="0" end="26"/>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73091">
                                            <p:txEl>
                                              <p:charRg st="26" end="97"/>
                                            </p:txEl>
                                          </p:spTgt>
                                        </p:tgtEl>
                                        <p:attrNameLst>
                                          <p:attrName>style.visibility</p:attrName>
                                        </p:attrNameLst>
                                      </p:cBhvr>
                                      <p:to>
                                        <p:strVal val="visible"/>
                                      </p:to>
                                    </p:set>
                                    <p:animEffect transition="in" filter="fade">
                                      <p:cBhvr>
                                        <p:cTn id="15" dur="2000"/>
                                        <p:tgtEl>
                                          <p:spTgt spid="473091">
                                            <p:txEl>
                                              <p:charRg st="26" end="97"/>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73091">
                                            <p:txEl>
                                              <p:charRg st="97" end="117"/>
                                            </p:txEl>
                                          </p:spTgt>
                                        </p:tgtEl>
                                        <p:attrNameLst>
                                          <p:attrName>style.visibility</p:attrName>
                                        </p:attrNameLst>
                                      </p:cBhvr>
                                      <p:to>
                                        <p:strVal val="visible"/>
                                      </p:to>
                                    </p:set>
                                    <p:animEffect transition="in" filter="fade">
                                      <p:cBhvr>
                                        <p:cTn id="18" dur="2000"/>
                                        <p:tgtEl>
                                          <p:spTgt spid="473091">
                                            <p:txEl>
                                              <p:charRg st="97" end="117"/>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73091">
                                            <p:txEl>
                                              <p:charRg st="117" end="156"/>
                                            </p:txEl>
                                          </p:spTgt>
                                        </p:tgtEl>
                                        <p:attrNameLst>
                                          <p:attrName>style.visibility</p:attrName>
                                        </p:attrNameLst>
                                      </p:cBhvr>
                                      <p:to>
                                        <p:strVal val="visible"/>
                                      </p:to>
                                    </p:set>
                                    <p:animEffect transition="in" filter="fade">
                                      <p:cBhvr>
                                        <p:cTn id="21" dur="2000"/>
                                        <p:tgtEl>
                                          <p:spTgt spid="473091">
                                            <p:txEl>
                                              <p:charRg st="117" end="15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3090" grpId="0"/>
      <p:bldP spid="473091" grpId="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4114" name="Rectangle 2"/>
          <p:cNvSpPr>
            <a:spLocks noGrp="1" noRot="1" noChangeArrowheads="1"/>
          </p:cNvSpPr>
          <p:nvPr>
            <p:ph type="title" idx="4294967295"/>
          </p:nvPr>
        </p:nvSpPr>
        <p:spPr>
          <a:xfrm>
            <a:off x="301625" y="636588"/>
            <a:ext cx="8540750" cy="73501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sng" strike="noStrike" kern="0" cap="none" spc="0" normalizeH="0" baseline="0" noProof="0">
                <a:ln>
                  <a:noFill/>
                </a:ln>
                <a:solidFill>
                  <a:schemeClr val="folHlink"/>
                </a:solidFill>
                <a:effectLst>
                  <a:outerShdw blurRad="38100" dist="38100" dir="2700000" algn="tl">
                    <a:srgbClr val="C0C0C0"/>
                  </a:outerShdw>
                </a:effectLst>
                <a:uLnTx/>
                <a:uFillTx/>
                <a:latin typeface="+mj-lt"/>
                <a:ea typeface="仿宋_GB2312" pitchFamily="49" charset="-122"/>
                <a:cs typeface="+mj-cs"/>
              </a:rPr>
              <a:t>改进方法二</a:t>
            </a:r>
            <a:endParaRPr kumimoji="0" lang="zh-CN" altLang="en-US" sz="4000" b="1" i="0" u="sng" strike="noStrike" kern="0" cap="none" spc="0" normalizeH="0" baseline="0" noProof="0">
              <a:ln>
                <a:noFill/>
              </a:ln>
              <a:solidFill>
                <a:schemeClr val="folHlink"/>
              </a:solidFill>
              <a:effectLst>
                <a:outerShdw blurRad="38100" dist="38100" dir="2700000" algn="tl">
                  <a:srgbClr val="C0C0C0"/>
                </a:outerShdw>
              </a:effectLst>
              <a:uLnTx/>
              <a:uFillTx/>
              <a:latin typeface="+mj-lt"/>
              <a:ea typeface="仿宋_GB2312" pitchFamily="49" charset="-122"/>
              <a:cs typeface="+mj-cs"/>
            </a:endParaRPr>
          </a:p>
        </p:txBody>
      </p:sp>
      <p:sp>
        <p:nvSpPr>
          <p:cNvPr id="474115"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另一种有效的方法是，</a:t>
            </a: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n-cs"/>
              </a:rPr>
              <a:t>增加一位服务员，让他安排其中的四位哲学家先入座</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，四位哲学家竞争五只筷子，必然有一位哲学家能同时获得两只筷子，当他进餐完毕，再安排剩下的那位哲学家入座，参与五只筷子的竞争。这样，五位哲学家都能顺利进餐。</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实现该算法的伪代码如图</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2.54</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所示。 </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74114"/>
                                        </p:tgtEl>
                                        <p:attrNameLst>
                                          <p:attrName>style.visibility</p:attrName>
                                        </p:attrNameLst>
                                      </p:cBhvr>
                                      <p:to>
                                        <p:strVal val="visible"/>
                                      </p:to>
                                    </p:set>
                                    <p:animEffect transition="in" filter="fade">
                                      <p:cBhvr>
                                        <p:cTn id="7" dur="2000"/>
                                        <p:tgtEl>
                                          <p:spTgt spid="4741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74115">
                                            <p:txEl>
                                              <p:charRg st="0" end="111"/>
                                            </p:txEl>
                                          </p:spTgt>
                                        </p:tgtEl>
                                        <p:attrNameLst>
                                          <p:attrName>style.visibility</p:attrName>
                                        </p:attrNameLst>
                                      </p:cBhvr>
                                      <p:to>
                                        <p:strVal val="visible"/>
                                      </p:to>
                                    </p:set>
                                    <p:animEffect transition="in" filter="fade">
                                      <p:cBhvr>
                                        <p:cTn id="12" dur="2000"/>
                                        <p:tgtEl>
                                          <p:spTgt spid="474115">
                                            <p:txEl>
                                              <p:charRg st="0" end="1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74115">
                                            <p:txEl>
                                              <p:charRg st="111" end="131"/>
                                            </p:txEl>
                                          </p:spTgt>
                                        </p:tgtEl>
                                        <p:attrNameLst>
                                          <p:attrName>style.visibility</p:attrName>
                                        </p:attrNameLst>
                                      </p:cBhvr>
                                      <p:to>
                                        <p:strVal val="visible"/>
                                      </p:to>
                                    </p:set>
                                    <p:animEffect transition="in" filter="fade">
                                      <p:cBhvr>
                                        <p:cTn id="17" dur="2000"/>
                                        <p:tgtEl>
                                          <p:spTgt spid="474115">
                                            <p:txEl>
                                              <p:charRg st="111" end="13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4" grpId="0"/>
      <p:bldP spid="474115" grpId="0" build="p"/>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4"/>
          <p:cNvSpPr/>
          <p:nvPr/>
        </p:nvSpPr>
        <p:spPr>
          <a:xfrm>
            <a:off x="0" y="0"/>
            <a:ext cx="9144000" cy="6858000"/>
          </a:xfrm>
          <a:prstGeom prst="rect">
            <a:avLst/>
          </a:prstGeom>
          <a:solidFill>
            <a:srgbClr val="CCFFFF"/>
          </a:solidFill>
          <a:ln w="9525">
            <a:noFill/>
          </a:ln>
          <a:effectLst>
            <a:prstShdw prst="shdw17" dist="17961" dir="13499999">
              <a:srgbClr val="050505"/>
            </a:prstShdw>
          </a:effectLst>
        </p:spPr>
        <p:txBody>
          <a:bodyPr wrap="none" anchor="ctr" anchorCtr="0"/>
          <a:p>
            <a:pPr eaLnBrk="1" hangingPunct="1"/>
            <a:endParaRPr lang="zh-CN" altLang="en-US" dirty="0">
              <a:latin typeface="Arial" panose="020B0604020202020204" pitchFamily="34" charset="0"/>
            </a:endParaRPr>
          </a:p>
        </p:txBody>
      </p:sp>
      <p:sp>
        <p:nvSpPr>
          <p:cNvPr id="133123" name="Text Box 5"/>
          <p:cNvSpPr txBox="1"/>
          <p:nvPr/>
        </p:nvSpPr>
        <p:spPr>
          <a:xfrm>
            <a:off x="304800" y="76200"/>
            <a:ext cx="6248400" cy="6553200"/>
          </a:xfrm>
          <a:prstGeom prst="rect">
            <a:avLst/>
          </a:prstGeom>
          <a:noFill/>
          <a:ln w="9525">
            <a:noFill/>
          </a:ln>
        </p:spPr>
        <p:txBody>
          <a:bodyPr/>
          <a:p>
            <a:pPr algn="just"/>
            <a:r>
              <a:rPr lang="en-US" altLang="zh-CN" sz="2400" b="1" dirty="0">
                <a:solidFill>
                  <a:srgbClr val="003300"/>
                </a:solidFill>
                <a:latin typeface="Times New Roman" panose="02020603050405020304" pitchFamily="18" charset="0"/>
                <a:ea typeface="仿宋_GB2312" pitchFamily="49" charset="-122"/>
              </a:rPr>
              <a:t>Program diningphilosophers;</a:t>
            </a:r>
            <a:endParaRPr lang="en-US" altLang="zh-CN" sz="2400" b="1" dirty="0">
              <a:solidFill>
                <a:srgbClr val="003300"/>
              </a:solidFill>
              <a:latin typeface="Times New Roman" panose="02020603050405020304" pitchFamily="18" charset="0"/>
              <a:ea typeface="仿宋_GB2312" pitchFamily="49" charset="-122"/>
            </a:endParaRPr>
          </a:p>
          <a:p>
            <a:pPr algn="just"/>
            <a:r>
              <a:rPr lang="en-US" altLang="zh-CN" sz="2400" b="1" dirty="0">
                <a:solidFill>
                  <a:srgbClr val="003300"/>
                </a:solidFill>
                <a:latin typeface="Times New Roman" panose="02020603050405020304" pitchFamily="18" charset="0"/>
                <a:ea typeface="仿宋_GB2312" pitchFamily="49" charset="-122"/>
              </a:rPr>
              <a:t>Var  fork:array [0..4] of semaphore (:= 1);</a:t>
            </a:r>
            <a:endParaRPr lang="en-US" altLang="zh-CN" sz="2400" b="1" dirty="0">
              <a:solidFill>
                <a:srgbClr val="003300"/>
              </a:solidFill>
              <a:latin typeface="Times New Roman" panose="02020603050405020304" pitchFamily="18" charset="0"/>
              <a:ea typeface="仿宋_GB2312" pitchFamily="49" charset="-122"/>
            </a:endParaRPr>
          </a:p>
          <a:p>
            <a:pPr algn="just"/>
            <a:r>
              <a:rPr lang="en-US" altLang="zh-CN" sz="2400" b="1" dirty="0">
                <a:solidFill>
                  <a:srgbClr val="003300"/>
                </a:solidFill>
                <a:latin typeface="Times New Roman" panose="02020603050405020304" pitchFamily="18" charset="0"/>
                <a:ea typeface="仿宋_GB2312" pitchFamily="49" charset="-122"/>
              </a:rPr>
              <a:t>      </a:t>
            </a:r>
            <a:r>
              <a:rPr lang="en-US" altLang="zh-CN" sz="2400" b="1" dirty="0">
                <a:solidFill>
                  <a:srgbClr val="FF0000"/>
                </a:solidFill>
                <a:latin typeface="Times New Roman" panose="02020603050405020304" pitchFamily="18" charset="0"/>
                <a:ea typeface="仿宋_GB2312" pitchFamily="49" charset="-122"/>
              </a:rPr>
              <a:t>room : semaphore (:= 4);</a:t>
            </a:r>
            <a:endParaRPr lang="en-US" altLang="zh-CN" sz="2400" b="1" dirty="0">
              <a:solidFill>
                <a:srgbClr val="FF0000"/>
              </a:solidFill>
              <a:latin typeface="Times New Roman" panose="02020603050405020304" pitchFamily="18" charset="0"/>
              <a:ea typeface="仿宋_GB2312" pitchFamily="49" charset="-122"/>
            </a:endParaRPr>
          </a:p>
          <a:p>
            <a:pPr algn="just"/>
            <a:r>
              <a:rPr lang="en-US" altLang="zh-CN" sz="2400" b="1" dirty="0">
                <a:solidFill>
                  <a:srgbClr val="003300"/>
                </a:solidFill>
                <a:latin typeface="Times New Roman" panose="02020603050405020304" pitchFamily="18" charset="0"/>
                <a:ea typeface="仿宋_GB2312" pitchFamily="49" charset="-122"/>
              </a:rPr>
              <a:t>i : integer;</a:t>
            </a:r>
            <a:endParaRPr lang="en-US" altLang="zh-CN" sz="2400" b="1" dirty="0">
              <a:solidFill>
                <a:srgbClr val="003300"/>
              </a:solidFill>
              <a:latin typeface="Times New Roman" panose="02020603050405020304" pitchFamily="18" charset="0"/>
              <a:ea typeface="仿宋_GB2312" pitchFamily="49" charset="-122"/>
            </a:endParaRPr>
          </a:p>
          <a:p>
            <a:pPr algn="just"/>
            <a:r>
              <a:rPr lang="en-US" altLang="zh-CN" sz="2400" b="1" dirty="0">
                <a:solidFill>
                  <a:srgbClr val="003300"/>
                </a:solidFill>
                <a:latin typeface="Times New Roman" panose="02020603050405020304" pitchFamily="18" charset="0"/>
                <a:ea typeface="仿宋_GB2312" pitchFamily="49" charset="-122"/>
              </a:rPr>
              <a:t>procedure philosopher (i : integer);</a:t>
            </a:r>
            <a:endParaRPr lang="en-US" altLang="zh-CN" sz="2400" b="1" dirty="0">
              <a:solidFill>
                <a:srgbClr val="003300"/>
              </a:solidFill>
              <a:latin typeface="Times New Roman" panose="02020603050405020304" pitchFamily="18" charset="0"/>
              <a:ea typeface="仿宋_GB2312" pitchFamily="49" charset="-122"/>
            </a:endParaRPr>
          </a:p>
          <a:p>
            <a:pPr algn="just"/>
            <a:r>
              <a:rPr lang="en-US" altLang="zh-CN" sz="2400" b="1" dirty="0">
                <a:solidFill>
                  <a:srgbClr val="003300"/>
                </a:solidFill>
                <a:latin typeface="Times New Roman" panose="02020603050405020304" pitchFamily="18" charset="0"/>
                <a:ea typeface="仿宋_GB2312" pitchFamily="49" charset="-122"/>
              </a:rPr>
              <a:t>begin</a:t>
            </a:r>
            <a:endParaRPr lang="en-US" altLang="zh-CN" sz="2400" b="1" dirty="0">
              <a:solidFill>
                <a:srgbClr val="003300"/>
              </a:solidFill>
              <a:latin typeface="Times New Roman" panose="02020603050405020304" pitchFamily="18" charset="0"/>
              <a:ea typeface="仿宋_GB2312" pitchFamily="49" charset="-122"/>
            </a:endParaRPr>
          </a:p>
          <a:p>
            <a:pPr algn="just"/>
            <a:r>
              <a:rPr lang="en-US" altLang="zh-CN" sz="2400" b="1" dirty="0">
                <a:solidFill>
                  <a:srgbClr val="003300"/>
                </a:solidFill>
                <a:latin typeface="Times New Roman" panose="02020603050405020304" pitchFamily="18" charset="0"/>
                <a:ea typeface="仿宋_GB2312" pitchFamily="49" charset="-122"/>
              </a:rPr>
              <a:t>  repeat</a:t>
            </a:r>
            <a:endParaRPr lang="en-US" altLang="zh-CN" sz="2400" b="1" dirty="0">
              <a:solidFill>
                <a:srgbClr val="003300"/>
              </a:solidFill>
              <a:latin typeface="Times New Roman" panose="02020603050405020304" pitchFamily="18" charset="0"/>
              <a:ea typeface="仿宋_GB2312" pitchFamily="49" charset="-122"/>
            </a:endParaRPr>
          </a:p>
          <a:p>
            <a:pPr algn="just"/>
            <a:r>
              <a:rPr lang="en-US" altLang="zh-CN" sz="2400" b="1" dirty="0">
                <a:solidFill>
                  <a:srgbClr val="003300"/>
                </a:solidFill>
                <a:latin typeface="Times New Roman" panose="02020603050405020304" pitchFamily="18" charset="0"/>
                <a:ea typeface="仿宋_GB2312" pitchFamily="49" charset="-122"/>
              </a:rPr>
              <a:t>      think; </a:t>
            </a:r>
            <a:endParaRPr lang="en-US" altLang="zh-CN" sz="2400" b="1" dirty="0">
              <a:solidFill>
                <a:srgbClr val="003300"/>
              </a:solidFill>
              <a:latin typeface="Times New Roman" panose="02020603050405020304" pitchFamily="18" charset="0"/>
              <a:ea typeface="仿宋_GB2312" pitchFamily="49" charset="-122"/>
            </a:endParaRPr>
          </a:p>
          <a:p>
            <a:pPr algn="just"/>
            <a:r>
              <a:rPr lang="en-US" altLang="zh-CN" sz="2400" b="1" dirty="0">
                <a:solidFill>
                  <a:srgbClr val="003300"/>
                </a:solidFill>
                <a:latin typeface="Times New Roman" panose="02020603050405020304" pitchFamily="18" charset="0"/>
                <a:ea typeface="仿宋_GB2312" pitchFamily="49" charset="-122"/>
              </a:rPr>
              <a:t>  </a:t>
            </a:r>
            <a:r>
              <a:rPr lang="en-US" altLang="zh-CN" sz="2400" b="1" dirty="0">
                <a:solidFill>
                  <a:srgbClr val="FF0000"/>
                </a:solidFill>
                <a:latin typeface="Times New Roman" panose="02020603050405020304" pitchFamily="18" charset="0"/>
                <a:ea typeface="仿宋_GB2312" pitchFamily="49" charset="-122"/>
              </a:rPr>
              <a:t>wait(room); /*</a:t>
            </a:r>
            <a:r>
              <a:rPr lang="zh-CN" altLang="en-US" sz="2400" b="1" dirty="0">
                <a:solidFill>
                  <a:srgbClr val="FF0000"/>
                </a:solidFill>
                <a:latin typeface="Times New Roman" panose="02020603050405020304" pitchFamily="18" charset="0"/>
                <a:ea typeface="仿宋_GB2312" pitchFamily="49" charset="-122"/>
              </a:rPr>
              <a:t>第</a:t>
            </a:r>
            <a:r>
              <a:rPr lang="en-US" altLang="zh-CN" sz="2400" b="1" dirty="0">
                <a:solidFill>
                  <a:srgbClr val="FF0000"/>
                </a:solidFill>
                <a:latin typeface="Times New Roman" panose="02020603050405020304" pitchFamily="18" charset="0"/>
                <a:ea typeface="仿宋_GB2312" pitchFamily="49" charset="-122"/>
              </a:rPr>
              <a:t>5</a:t>
            </a:r>
            <a:r>
              <a:rPr lang="zh-CN" altLang="en-US" sz="2400" b="1" dirty="0">
                <a:solidFill>
                  <a:srgbClr val="FF0000"/>
                </a:solidFill>
                <a:latin typeface="Times New Roman" panose="02020603050405020304" pitchFamily="18" charset="0"/>
                <a:ea typeface="仿宋_GB2312" pitchFamily="49" charset="-122"/>
              </a:rPr>
              <a:t>位哲学家将被</a:t>
            </a:r>
            <a:r>
              <a:rPr lang="en-US" altLang="zh-CN" sz="2400" b="1" dirty="0">
                <a:solidFill>
                  <a:srgbClr val="FF0000"/>
                </a:solidFill>
                <a:latin typeface="Times New Roman" panose="02020603050405020304" pitchFamily="18" charset="0"/>
                <a:ea typeface="仿宋_GB2312" pitchFamily="49" charset="-122"/>
              </a:rPr>
              <a:t>room</a:t>
            </a:r>
            <a:r>
              <a:rPr lang="zh-CN" altLang="en-US" sz="2400" b="1" dirty="0">
                <a:solidFill>
                  <a:srgbClr val="FF0000"/>
                </a:solidFill>
                <a:latin typeface="Times New Roman" panose="02020603050405020304" pitchFamily="18" charset="0"/>
                <a:ea typeface="仿宋_GB2312" pitchFamily="49" charset="-122"/>
              </a:rPr>
              <a:t>信号量阻塞*</a:t>
            </a:r>
            <a:r>
              <a:rPr lang="en-US" altLang="zh-CN" sz="2400" b="1" dirty="0">
                <a:solidFill>
                  <a:srgbClr val="FF0000"/>
                </a:solidFill>
                <a:latin typeface="Times New Roman" panose="02020603050405020304" pitchFamily="18" charset="0"/>
                <a:ea typeface="仿宋_GB2312" pitchFamily="49" charset="-122"/>
              </a:rPr>
              <a:t>/</a:t>
            </a:r>
            <a:endParaRPr lang="en-US" altLang="zh-CN" sz="2400" b="1" dirty="0">
              <a:solidFill>
                <a:srgbClr val="FF0000"/>
              </a:solidFill>
              <a:latin typeface="Times New Roman" panose="02020603050405020304" pitchFamily="18" charset="0"/>
              <a:ea typeface="仿宋_GB2312" pitchFamily="49" charset="-122"/>
            </a:endParaRPr>
          </a:p>
          <a:p>
            <a:pPr algn="just"/>
            <a:r>
              <a:rPr lang="en-US" altLang="zh-CN" sz="2400" b="1" dirty="0">
                <a:solidFill>
                  <a:srgbClr val="003300"/>
                </a:solidFill>
                <a:latin typeface="Times New Roman" panose="02020603050405020304" pitchFamily="18" charset="0"/>
                <a:ea typeface="仿宋_GB2312" pitchFamily="49" charset="-122"/>
              </a:rPr>
              <a:t>       wait(fork[i]);</a:t>
            </a:r>
            <a:endParaRPr lang="en-US" altLang="zh-CN" sz="2400" b="1" dirty="0">
              <a:solidFill>
                <a:srgbClr val="003300"/>
              </a:solidFill>
              <a:latin typeface="Times New Roman" panose="02020603050405020304" pitchFamily="18" charset="0"/>
              <a:ea typeface="仿宋_GB2312" pitchFamily="49" charset="-122"/>
            </a:endParaRPr>
          </a:p>
          <a:p>
            <a:pPr algn="just"/>
            <a:r>
              <a:rPr lang="en-US" altLang="zh-CN" sz="2400" b="1" dirty="0">
                <a:solidFill>
                  <a:srgbClr val="003300"/>
                </a:solidFill>
                <a:latin typeface="Times New Roman" panose="02020603050405020304" pitchFamily="18" charset="0"/>
                <a:ea typeface="仿宋_GB2312" pitchFamily="49" charset="-122"/>
              </a:rPr>
              <a:t>       wait(fork[(i + 1) mod 5]);</a:t>
            </a:r>
            <a:endParaRPr lang="en-US" altLang="zh-CN" sz="2400" b="1" dirty="0">
              <a:solidFill>
                <a:srgbClr val="003300"/>
              </a:solidFill>
              <a:latin typeface="Times New Roman" panose="02020603050405020304" pitchFamily="18" charset="0"/>
              <a:ea typeface="仿宋_GB2312" pitchFamily="49" charset="-122"/>
            </a:endParaRPr>
          </a:p>
          <a:p>
            <a:pPr algn="just"/>
            <a:r>
              <a:rPr lang="en-US" altLang="zh-CN" sz="2400" b="1" dirty="0">
                <a:solidFill>
                  <a:srgbClr val="003300"/>
                </a:solidFill>
                <a:latin typeface="Times New Roman" panose="02020603050405020304" pitchFamily="18" charset="0"/>
                <a:ea typeface="仿宋_GB2312" pitchFamily="49" charset="-122"/>
              </a:rPr>
              <a:t>       eat; </a:t>
            </a:r>
            <a:endParaRPr lang="en-US" altLang="zh-CN" sz="2400" b="1" dirty="0">
              <a:solidFill>
                <a:srgbClr val="003300"/>
              </a:solidFill>
              <a:latin typeface="Times New Roman" panose="02020603050405020304" pitchFamily="18" charset="0"/>
              <a:ea typeface="仿宋_GB2312" pitchFamily="49" charset="-122"/>
            </a:endParaRPr>
          </a:p>
          <a:p>
            <a:pPr algn="just"/>
            <a:r>
              <a:rPr lang="en-US" altLang="zh-CN" sz="2400" b="1" dirty="0">
                <a:solidFill>
                  <a:srgbClr val="003300"/>
                </a:solidFill>
                <a:latin typeface="Times New Roman" panose="02020603050405020304" pitchFamily="18" charset="0"/>
                <a:ea typeface="仿宋_GB2312" pitchFamily="49" charset="-122"/>
              </a:rPr>
              <a:t>       signal(fork[(i + 1) mod 5]);</a:t>
            </a:r>
            <a:endParaRPr lang="en-US" altLang="zh-CN" sz="2400" b="1" dirty="0">
              <a:solidFill>
                <a:srgbClr val="003300"/>
              </a:solidFill>
              <a:latin typeface="Times New Roman" panose="02020603050405020304" pitchFamily="18" charset="0"/>
              <a:ea typeface="仿宋_GB2312" pitchFamily="49" charset="-122"/>
            </a:endParaRPr>
          </a:p>
          <a:p>
            <a:pPr algn="just"/>
            <a:r>
              <a:rPr lang="en-US" altLang="zh-CN" sz="2400" b="1" dirty="0">
                <a:solidFill>
                  <a:srgbClr val="003300"/>
                </a:solidFill>
                <a:latin typeface="Times New Roman" panose="02020603050405020304" pitchFamily="18" charset="0"/>
                <a:ea typeface="仿宋_GB2312" pitchFamily="49" charset="-122"/>
              </a:rPr>
              <a:t>       signal(fork[i]);    </a:t>
            </a:r>
            <a:endParaRPr lang="en-US" altLang="zh-CN" sz="2400" b="1" dirty="0">
              <a:solidFill>
                <a:srgbClr val="003300"/>
              </a:solidFill>
              <a:latin typeface="Times New Roman" panose="02020603050405020304" pitchFamily="18" charset="0"/>
              <a:ea typeface="仿宋_GB2312" pitchFamily="49" charset="-122"/>
            </a:endParaRPr>
          </a:p>
          <a:p>
            <a:pPr algn="just"/>
            <a:r>
              <a:rPr lang="en-US" altLang="zh-CN" sz="2400" b="1" dirty="0">
                <a:solidFill>
                  <a:srgbClr val="003300"/>
                </a:solidFill>
                <a:latin typeface="Times New Roman" panose="02020603050405020304" pitchFamily="18" charset="0"/>
                <a:ea typeface="仿宋_GB2312" pitchFamily="49" charset="-122"/>
              </a:rPr>
              <a:t>  </a:t>
            </a:r>
            <a:r>
              <a:rPr lang="en-US" altLang="zh-CN" sz="2400" b="1" dirty="0">
                <a:solidFill>
                  <a:srgbClr val="FF0000"/>
                </a:solidFill>
                <a:latin typeface="Times New Roman" panose="02020603050405020304" pitchFamily="18" charset="0"/>
                <a:ea typeface="仿宋_GB2312" pitchFamily="49" charset="-122"/>
              </a:rPr>
              <a:t>signal(room);/*</a:t>
            </a:r>
            <a:r>
              <a:rPr lang="zh-CN" altLang="en-US" sz="2400" b="1" dirty="0">
                <a:solidFill>
                  <a:srgbClr val="FF0000"/>
                </a:solidFill>
                <a:latin typeface="Times New Roman" panose="02020603050405020304" pitchFamily="18" charset="0"/>
                <a:ea typeface="仿宋_GB2312" pitchFamily="49" charset="-122"/>
              </a:rPr>
              <a:t>唤醒被阻塞的第</a:t>
            </a:r>
            <a:r>
              <a:rPr lang="en-US" altLang="zh-CN" sz="2400" b="1" dirty="0">
                <a:solidFill>
                  <a:srgbClr val="FF0000"/>
                </a:solidFill>
                <a:latin typeface="Times New Roman" panose="02020603050405020304" pitchFamily="18" charset="0"/>
                <a:ea typeface="仿宋_GB2312" pitchFamily="49" charset="-122"/>
              </a:rPr>
              <a:t>5</a:t>
            </a:r>
            <a:r>
              <a:rPr lang="zh-CN" altLang="en-US" sz="2400" b="1" dirty="0">
                <a:solidFill>
                  <a:srgbClr val="FF0000"/>
                </a:solidFill>
                <a:latin typeface="Times New Roman" panose="02020603050405020304" pitchFamily="18" charset="0"/>
                <a:ea typeface="仿宋_GB2312" pitchFamily="49" charset="-122"/>
              </a:rPr>
              <a:t>位哲学家*</a:t>
            </a:r>
            <a:r>
              <a:rPr lang="en-US" altLang="zh-CN" sz="2400" b="1" dirty="0">
                <a:solidFill>
                  <a:srgbClr val="FF0000"/>
                </a:solidFill>
                <a:latin typeface="Times New Roman" panose="02020603050405020304" pitchFamily="18" charset="0"/>
                <a:ea typeface="仿宋_GB2312" pitchFamily="49" charset="-122"/>
              </a:rPr>
              <a:t>/</a:t>
            </a:r>
            <a:endParaRPr lang="en-US" altLang="zh-CN" sz="2400" b="1" dirty="0">
              <a:solidFill>
                <a:srgbClr val="FF0000"/>
              </a:solidFill>
              <a:latin typeface="Times New Roman" panose="02020603050405020304" pitchFamily="18" charset="0"/>
              <a:ea typeface="仿宋_GB2312" pitchFamily="49" charset="-122"/>
            </a:endParaRPr>
          </a:p>
          <a:p>
            <a:pPr algn="just"/>
            <a:r>
              <a:rPr lang="en-US" altLang="zh-CN" sz="2400" b="1" dirty="0">
                <a:solidFill>
                  <a:srgbClr val="003300"/>
                </a:solidFill>
                <a:latin typeface="Times New Roman" panose="02020603050405020304" pitchFamily="18" charset="0"/>
                <a:ea typeface="仿宋_GB2312" pitchFamily="49" charset="-122"/>
              </a:rPr>
              <a:t>   forever</a:t>
            </a:r>
            <a:endParaRPr lang="en-US" altLang="zh-CN" sz="2400" b="1" dirty="0">
              <a:solidFill>
                <a:srgbClr val="003300"/>
              </a:solidFill>
              <a:latin typeface="Times New Roman" panose="02020603050405020304" pitchFamily="18" charset="0"/>
              <a:ea typeface="仿宋_GB2312" pitchFamily="49" charset="-122"/>
            </a:endParaRPr>
          </a:p>
          <a:p>
            <a:pPr algn="just"/>
            <a:r>
              <a:rPr lang="en-US" altLang="zh-CN" sz="2400" b="1" dirty="0">
                <a:solidFill>
                  <a:srgbClr val="003300"/>
                </a:solidFill>
                <a:latin typeface="Times New Roman" panose="02020603050405020304" pitchFamily="18" charset="0"/>
                <a:ea typeface="仿宋_GB2312" pitchFamily="49" charset="-122"/>
              </a:rPr>
              <a:t>end;</a:t>
            </a:r>
            <a:endParaRPr lang="en-US" altLang="zh-CN" sz="2400" b="1" dirty="0">
              <a:solidFill>
                <a:srgbClr val="003300"/>
              </a:solidFill>
              <a:latin typeface="Times New Roman" panose="02020603050405020304" pitchFamily="18" charset="0"/>
              <a:ea typeface="仿宋_GB2312" pitchFamily="49" charset="-122"/>
            </a:endParaRPr>
          </a:p>
          <a:p>
            <a:pPr algn="just"/>
            <a:endParaRPr lang="en-US" altLang="zh-CN" sz="2400" b="1" dirty="0">
              <a:solidFill>
                <a:srgbClr val="003300"/>
              </a:solidFill>
              <a:latin typeface="Times New Roman" panose="02020603050405020304" pitchFamily="18" charset="0"/>
              <a:ea typeface="仿宋_GB2312" pitchFamily="49" charset="-122"/>
            </a:endParaRPr>
          </a:p>
        </p:txBody>
      </p:sp>
      <p:sp>
        <p:nvSpPr>
          <p:cNvPr id="133124" name="Text Box 6"/>
          <p:cNvSpPr txBox="1"/>
          <p:nvPr/>
        </p:nvSpPr>
        <p:spPr>
          <a:xfrm>
            <a:off x="6629400" y="2895600"/>
            <a:ext cx="3200400" cy="3657600"/>
          </a:xfrm>
          <a:prstGeom prst="rect">
            <a:avLst/>
          </a:prstGeom>
          <a:noFill/>
          <a:ln w="9525">
            <a:noFill/>
          </a:ln>
        </p:spPr>
        <p:txBody>
          <a:bodyPr/>
          <a:p>
            <a:pPr algn="just"/>
            <a:endParaRPr lang="en-US" altLang="zh-CN" sz="1200" dirty="0">
              <a:solidFill>
                <a:srgbClr val="003300"/>
              </a:solidFill>
              <a:latin typeface="宋体" panose="02010600030101010101" pitchFamily="2" charset="-122"/>
            </a:endParaRPr>
          </a:p>
          <a:p>
            <a:pPr algn="just"/>
            <a:r>
              <a:rPr lang="en-US" altLang="zh-CN" sz="2400" b="1" dirty="0">
                <a:solidFill>
                  <a:srgbClr val="003300"/>
                </a:solidFill>
                <a:latin typeface="Times New Roman" panose="02020603050405020304" pitchFamily="18" charset="0"/>
              </a:rPr>
              <a:t>begin</a:t>
            </a:r>
            <a:endParaRPr lang="en-US" altLang="zh-CN" sz="2400" b="1" dirty="0">
              <a:solidFill>
                <a:srgbClr val="003300"/>
              </a:solidFill>
              <a:latin typeface="Times New Roman" panose="02020603050405020304" pitchFamily="18" charset="0"/>
            </a:endParaRPr>
          </a:p>
          <a:p>
            <a:pPr algn="just"/>
            <a:r>
              <a:rPr lang="en-US" altLang="zh-CN" sz="2400" b="1" dirty="0">
                <a:solidFill>
                  <a:srgbClr val="003300"/>
                </a:solidFill>
                <a:latin typeface="Times New Roman" panose="02020603050405020304" pitchFamily="18" charset="0"/>
              </a:rPr>
              <a:t>  parbegin</a:t>
            </a:r>
            <a:endParaRPr lang="en-US" altLang="zh-CN" sz="2400" b="1" dirty="0">
              <a:solidFill>
                <a:srgbClr val="003300"/>
              </a:solidFill>
              <a:latin typeface="Times New Roman" panose="02020603050405020304" pitchFamily="18" charset="0"/>
            </a:endParaRPr>
          </a:p>
          <a:p>
            <a:pPr algn="just"/>
            <a:r>
              <a:rPr lang="en-US" altLang="zh-CN" sz="2400" b="1" dirty="0">
                <a:solidFill>
                  <a:srgbClr val="003300"/>
                </a:solidFill>
                <a:latin typeface="Times New Roman" panose="02020603050405020304" pitchFamily="18" charset="0"/>
              </a:rPr>
              <a:t>    philosopher(0);</a:t>
            </a:r>
            <a:endParaRPr lang="en-US" altLang="zh-CN" sz="2400" b="1" dirty="0">
              <a:solidFill>
                <a:srgbClr val="003300"/>
              </a:solidFill>
              <a:latin typeface="Times New Roman" panose="02020603050405020304" pitchFamily="18" charset="0"/>
            </a:endParaRPr>
          </a:p>
          <a:p>
            <a:pPr algn="just"/>
            <a:r>
              <a:rPr lang="en-US" altLang="zh-CN" sz="2400" b="1" dirty="0">
                <a:solidFill>
                  <a:srgbClr val="003300"/>
                </a:solidFill>
                <a:latin typeface="Times New Roman" panose="02020603050405020304" pitchFamily="18" charset="0"/>
              </a:rPr>
              <a:t>    philosopher(1);</a:t>
            </a:r>
            <a:endParaRPr lang="en-US" altLang="zh-CN" sz="2400" b="1" dirty="0">
              <a:solidFill>
                <a:srgbClr val="003300"/>
              </a:solidFill>
              <a:latin typeface="Times New Roman" panose="02020603050405020304" pitchFamily="18" charset="0"/>
            </a:endParaRPr>
          </a:p>
          <a:p>
            <a:pPr algn="just"/>
            <a:r>
              <a:rPr lang="en-US" altLang="zh-CN" sz="2400" b="1" dirty="0">
                <a:solidFill>
                  <a:srgbClr val="003300"/>
                </a:solidFill>
                <a:latin typeface="Times New Roman" panose="02020603050405020304" pitchFamily="18" charset="0"/>
              </a:rPr>
              <a:t>    philosopher(2);</a:t>
            </a:r>
            <a:endParaRPr lang="en-US" altLang="zh-CN" sz="2400" b="1" dirty="0">
              <a:solidFill>
                <a:srgbClr val="003300"/>
              </a:solidFill>
              <a:latin typeface="Times New Roman" panose="02020603050405020304" pitchFamily="18" charset="0"/>
            </a:endParaRPr>
          </a:p>
          <a:p>
            <a:pPr algn="just"/>
            <a:r>
              <a:rPr lang="en-US" altLang="zh-CN" sz="2400" b="1" dirty="0">
                <a:solidFill>
                  <a:srgbClr val="003300"/>
                </a:solidFill>
                <a:latin typeface="Times New Roman" panose="02020603050405020304" pitchFamily="18" charset="0"/>
              </a:rPr>
              <a:t>    philosopher(3);</a:t>
            </a:r>
            <a:endParaRPr lang="en-US" altLang="zh-CN" sz="2400" b="1" dirty="0">
              <a:solidFill>
                <a:srgbClr val="003300"/>
              </a:solidFill>
              <a:latin typeface="Times New Roman" panose="02020603050405020304" pitchFamily="18" charset="0"/>
            </a:endParaRPr>
          </a:p>
          <a:p>
            <a:pPr algn="just"/>
            <a:r>
              <a:rPr lang="en-US" altLang="zh-CN" sz="2400" b="1" dirty="0">
                <a:solidFill>
                  <a:srgbClr val="003300"/>
                </a:solidFill>
                <a:latin typeface="Times New Roman" panose="02020603050405020304" pitchFamily="18" charset="0"/>
              </a:rPr>
              <a:t>    philosopher(4);</a:t>
            </a:r>
            <a:endParaRPr lang="en-US" altLang="zh-CN" sz="2400" b="1" dirty="0">
              <a:solidFill>
                <a:srgbClr val="003300"/>
              </a:solidFill>
              <a:latin typeface="Times New Roman" panose="02020603050405020304" pitchFamily="18" charset="0"/>
            </a:endParaRPr>
          </a:p>
          <a:p>
            <a:pPr algn="just"/>
            <a:r>
              <a:rPr lang="en-US" altLang="zh-CN" sz="2400" b="1" dirty="0">
                <a:solidFill>
                  <a:srgbClr val="003300"/>
                </a:solidFill>
                <a:latin typeface="Times New Roman" panose="02020603050405020304" pitchFamily="18" charset="0"/>
              </a:rPr>
              <a:t>  parend</a:t>
            </a:r>
            <a:endParaRPr lang="en-US" altLang="zh-CN" sz="2400" b="1" dirty="0">
              <a:solidFill>
                <a:srgbClr val="003300"/>
              </a:solidFill>
              <a:latin typeface="Times New Roman" panose="02020603050405020304" pitchFamily="18" charset="0"/>
            </a:endParaRPr>
          </a:p>
          <a:p>
            <a:pPr algn="just"/>
            <a:r>
              <a:rPr lang="en-US" altLang="zh-CN" sz="2400" b="1" dirty="0">
                <a:solidFill>
                  <a:srgbClr val="003300"/>
                </a:solidFill>
                <a:latin typeface="Times New Roman" panose="02020603050405020304" pitchFamily="18" charset="0"/>
              </a:rPr>
              <a:t>end.</a:t>
            </a:r>
            <a:endParaRPr lang="en-US" altLang="zh-CN" sz="2400" b="1" dirty="0">
              <a:solidFill>
                <a:srgbClr val="003300"/>
              </a:solidFill>
              <a:latin typeface="Times New Roman" panose="02020603050405020304" pitchFamily="18" charset="0"/>
            </a:endParaRPr>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sz="2800" b="1" dirty="0">
                <a:effectLst/>
                <a:latin typeface="Times New Roman" panose="02020603050405020304" pitchFamily="18" charset="0"/>
                <a:ea typeface="宋体" panose="02010600030101010101" pitchFamily="2" charset="-122"/>
                <a:cs typeface="Times New Roman" panose="02020603050405020304" pitchFamily="18" charset="0"/>
              </a:rPr>
              <a:t>系统中有四道作业，其提交时间和运行时间如下表所示。分别用先来先服务、短作业优先调度方法</a:t>
            </a:r>
            <a:r>
              <a:rPr lang="zh-CN" altLang="en-US" sz="2800" b="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800" b="1" dirty="0">
                <a:effectLst/>
                <a:latin typeface="Times New Roman" panose="02020603050405020304" pitchFamily="18" charset="0"/>
                <a:ea typeface="宋体" panose="02010600030101010101" pitchFamily="2" charset="-122"/>
                <a:cs typeface="Times New Roman" panose="02020603050405020304" pitchFamily="18" charset="0"/>
              </a:rPr>
              <a:t>最高响应比优先法调度</a:t>
            </a:r>
            <a:r>
              <a:rPr lang="zh-CN" altLang="en-US" sz="2800" b="1" dirty="0">
                <a:effectLst/>
                <a:latin typeface="Times New Roman" panose="02020603050405020304" pitchFamily="18" charset="0"/>
                <a:ea typeface="宋体" panose="02010600030101010101" pitchFamily="2" charset="-122"/>
                <a:cs typeface="Times New Roman" panose="02020603050405020304" pitchFamily="18" charset="0"/>
              </a:rPr>
              <a:t>、轮转调度算法</a:t>
            </a:r>
            <a:r>
              <a:rPr lang="zh-CN" altLang="zh-CN" sz="2800" b="1" dirty="0">
                <a:effectLst/>
                <a:latin typeface="Times New Roman" panose="02020603050405020304" pitchFamily="18" charset="0"/>
                <a:ea typeface="宋体" panose="02010600030101010101" pitchFamily="2" charset="-122"/>
                <a:cs typeface="Times New Roman" panose="02020603050405020304" pitchFamily="18" charset="0"/>
              </a:rPr>
              <a:t>，完成表格的计算（开始时间、结束时间、周转时间、平均带权周转时间）。单位：小时</a:t>
            </a:r>
            <a:endParaRPr lang="zh-CN" altLang="en-US" sz="2800" dirty="0"/>
          </a:p>
        </p:txBody>
      </p:sp>
      <p:sp>
        <p:nvSpPr>
          <p:cNvPr id="3" name="标题 2"/>
          <p:cNvSpPr>
            <a:spLocks noGrp="1"/>
          </p:cNvSpPr>
          <p:nvPr>
            <p:ph type="title"/>
          </p:nvPr>
        </p:nvSpPr>
        <p:spPr/>
        <p:txBody>
          <a:bodyPr/>
          <a:lstStyle/>
          <a:p>
            <a:r>
              <a:rPr lang="zh-CN" altLang="en-US" dirty="0" smtClean="0"/>
              <a:t>课堂练习</a:t>
            </a:r>
            <a:endParaRPr lang="zh-CN" altLang="en-US" dirty="0"/>
          </a:p>
        </p:txBody>
      </p:sp>
      <p:graphicFrame>
        <p:nvGraphicFramePr>
          <p:cNvPr id="9" name="表格 8"/>
          <p:cNvGraphicFramePr>
            <a:graphicFrameLocks noGrp="1"/>
          </p:cNvGraphicFramePr>
          <p:nvPr/>
        </p:nvGraphicFramePr>
        <p:xfrm>
          <a:off x="1005931" y="4310358"/>
          <a:ext cx="6683828" cy="1828800"/>
        </p:xfrm>
        <a:graphic>
          <a:graphicData uri="http://schemas.openxmlformats.org/drawingml/2006/table">
            <a:tbl>
              <a:tblPr>
                <a:tableStyleId>{BC89EF96-8CEA-46FF-86C4-4CE0E7609802}</a:tableStyleId>
              </a:tblPr>
              <a:tblGrid>
                <a:gridCol w="1486899"/>
                <a:gridCol w="2381926"/>
                <a:gridCol w="2815003"/>
              </a:tblGrid>
              <a:tr h="0">
                <a:tc>
                  <a:txBody>
                    <a:bodyPr/>
                    <a:lstStyle/>
                    <a:p>
                      <a:pPr algn="ctr"/>
                      <a:r>
                        <a:rPr lang="zh-CN" sz="2400" b="1" kern="100">
                          <a:effectLst/>
                        </a:rPr>
                        <a:t>作业</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r>
                        <a:rPr lang="zh-CN" sz="2400" b="1" kern="100">
                          <a:effectLst/>
                        </a:rPr>
                        <a:t>提交时间</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r>
                        <a:rPr lang="zh-CN" sz="2400" b="1" kern="100">
                          <a:effectLst/>
                        </a:rPr>
                        <a:t>运行时间</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r>
              <a:tr h="0">
                <a:tc>
                  <a:txBody>
                    <a:bodyPr/>
                    <a:lstStyle/>
                    <a:p>
                      <a:pPr algn="ctr"/>
                      <a:r>
                        <a:rPr lang="en-US" sz="2400" b="1" kern="100">
                          <a:effectLst/>
                        </a:rPr>
                        <a:t>1</a:t>
                      </a:r>
                      <a:endParaRPr lang="en-US"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r>
                        <a:rPr lang="en-US" sz="2400" b="1" kern="100">
                          <a:effectLst/>
                        </a:rPr>
                        <a:t>1</a:t>
                      </a:r>
                      <a:r>
                        <a:rPr lang="zh-CN" sz="2400" b="1" kern="100">
                          <a:effectLst/>
                        </a:rPr>
                        <a:t>：</a:t>
                      </a:r>
                      <a:r>
                        <a:rPr lang="en-US" sz="2400" b="1" kern="100">
                          <a:effectLst/>
                        </a:rPr>
                        <a:t>00</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r>
                        <a:rPr lang="en-US" sz="2400" b="1" kern="100" dirty="0">
                          <a:effectLst/>
                        </a:rPr>
                        <a:t>4</a:t>
                      </a:r>
                      <a:endParaRPr lang="en-US"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r>
              <a:tr h="0">
                <a:tc>
                  <a:txBody>
                    <a:bodyPr/>
                    <a:lstStyle/>
                    <a:p>
                      <a:pPr algn="ctr"/>
                      <a:r>
                        <a:rPr lang="en-US" sz="2400" b="1" kern="100">
                          <a:effectLst/>
                        </a:rPr>
                        <a:t>2</a:t>
                      </a:r>
                      <a:endParaRPr lang="en-US"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r>
                        <a:rPr lang="en-US" sz="2400" b="1" kern="100" dirty="0">
                          <a:effectLst/>
                        </a:rPr>
                        <a:t>2</a:t>
                      </a:r>
                      <a:r>
                        <a:rPr lang="zh-CN" sz="2400" b="1" kern="100" dirty="0">
                          <a:effectLst/>
                        </a:rPr>
                        <a:t>：</a:t>
                      </a:r>
                      <a:r>
                        <a:rPr lang="en-US" sz="2400" b="1" kern="100" dirty="0">
                          <a:effectLst/>
                        </a:rPr>
                        <a:t>00</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r>
                        <a:rPr lang="en-US" sz="2400" b="1" kern="100" dirty="0">
                          <a:effectLst/>
                        </a:rPr>
                        <a:t>2</a:t>
                      </a:r>
                      <a:endParaRPr lang="en-US"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r>
              <a:tr h="0">
                <a:tc>
                  <a:txBody>
                    <a:bodyPr/>
                    <a:lstStyle/>
                    <a:p>
                      <a:pPr algn="ctr"/>
                      <a:r>
                        <a:rPr lang="en-US" sz="2400" b="1" kern="100">
                          <a:effectLst/>
                        </a:rPr>
                        <a:t>3</a:t>
                      </a:r>
                      <a:endParaRPr lang="en-US"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r>
                        <a:rPr lang="en-US" sz="2400" b="1" kern="100">
                          <a:effectLst/>
                        </a:rPr>
                        <a:t>2</a:t>
                      </a:r>
                      <a:r>
                        <a:rPr lang="zh-CN" sz="2400" b="1" kern="100">
                          <a:effectLst/>
                        </a:rPr>
                        <a:t>：</a:t>
                      </a:r>
                      <a:r>
                        <a:rPr lang="en-US" sz="2400" b="1" kern="100">
                          <a:effectLst/>
                        </a:rPr>
                        <a:t>30</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r>
                        <a:rPr lang="en-US" sz="2400" b="1" kern="100" dirty="0">
                          <a:effectLst/>
                        </a:rPr>
                        <a:t>6</a:t>
                      </a:r>
                      <a:endParaRPr lang="en-US"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r>
              <a:tr h="0">
                <a:tc>
                  <a:txBody>
                    <a:bodyPr/>
                    <a:lstStyle/>
                    <a:p>
                      <a:pPr algn="ctr"/>
                      <a:r>
                        <a:rPr lang="en-US" sz="2400" b="1" kern="100">
                          <a:effectLst/>
                        </a:rPr>
                        <a:t>4</a:t>
                      </a:r>
                      <a:endParaRPr lang="en-US"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r>
                        <a:rPr lang="en-US" sz="2400" b="1" kern="100">
                          <a:effectLst/>
                        </a:rPr>
                        <a:t>3</a:t>
                      </a:r>
                      <a:r>
                        <a:rPr lang="zh-CN" sz="2400" b="1" kern="100">
                          <a:effectLst/>
                        </a:rPr>
                        <a:t>：</a:t>
                      </a:r>
                      <a:r>
                        <a:rPr lang="en-US" sz="2400" b="1" kern="100">
                          <a:effectLst/>
                        </a:rPr>
                        <a:t>00</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r>
                        <a:rPr lang="en-US" sz="2400" b="1" kern="100" dirty="0">
                          <a:effectLst/>
                        </a:rPr>
                        <a:t>1</a:t>
                      </a:r>
                      <a:endParaRPr lang="en-US"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假设一个多级反馈队列的实现共有</a:t>
            </a:r>
            <a:r>
              <a:rPr lang="en-US" altLang="zh-CN" dirty="0"/>
              <a:t>4</a:t>
            </a:r>
            <a:r>
              <a:rPr lang="zh-CN" altLang="en-US" dirty="0"/>
              <a:t>级，各个队列的时间片长度是</a:t>
            </a:r>
            <a:r>
              <a:rPr lang="en-US" altLang="zh-CN" dirty="0"/>
              <a:t>1</a:t>
            </a:r>
            <a:r>
              <a:rPr lang="zh-CN" altLang="en-US" dirty="0"/>
              <a:t>、</a:t>
            </a:r>
            <a:r>
              <a:rPr lang="en-US" altLang="zh-CN" dirty="0"/>
              <a:t>2</a:t>
            </a:r>
            <a:r>
              <a:rPr lang="zh-CN" altLang="en-US" dirty="0"/>
              <a:t>、</a:t>
            </a:r>
            <a:r>
              <a:rPr lang="en-US" altLang="zh-CN" dirty="0"/>
              <a:t>4</a:t>
            </a:r>
            <a:r>
              <a:rPr lang="zh-CN" altLang="en-US" dirty="0"/>
              <a:t>、</a:t>
            </a:r>
            <a:r>
              <a:rPr lang="en-US" altLang="zh-CN" dirty="0"/>
              <a:t>6</a:t>
            </a:r>
            <a:r>
              <a:rPr lang="zh-CN" altLang="en-US" dirty="0"/>
              <a:t>秒，已知当前仅在第一级队列上有一个执行时长为</a:t>
            </a:r>
            <a:r>
              <a:rPr lang="en-US" altLang="zh-CN" dirty="0"/>
              <a:t>10</a:t>
            </a:r>
            <a:r>
              <a:rPr lang="zh-CN" altLang="en-US" dirty="0"/>
              <a:t>秒的进程，在两秒后将有一个执行时长为</a:t>
            </a:r>
            <a:r>
              <a:rPr lang="en-US" altLang="zh-CN" dirty="0"/>
              <a:t>8</a:t>
            </a:r>
            <a:r>
              <a:rPr lang="zh-CN" altLang="en-US" dirty="0"/>
              <a:t>秒的任务</a:t>
            </a:r>
            <a:r>
              <a:rPr lang="en-US" altLang="zh-CN" dirty="0"/>
              <a:t>A</a:t>
            </a:r>
            <a:r>
              <a:rPr lang="zh-CN" altLang="en-US" dirty="0"/>
              <a:t>到达，请算出任务</a:t>
            </a:r>
            <a:r>
              <a:rPr lang="en-US" altLang="zh-CN" dirty="0"/>
              <a:t>A</a:t>
            </a:r>
            <a:r>
              <a:rPr lang="zh-CN" altLang="en-US" dirty="0"/>
              <a:t>的周转时间。</a:t>
            </a:r>
            <a:endParaRPr lang="zh-CN" altLang="en-US" dirty="0"/>
          </a:p>
        </p:txBody>
      </p:sp>
      <p:sp>
        <p:nvSpPr>
          <p:cNvPr id="3" name="标题 2"/>
          <p:cNvSpPr>
            <a:spLocks noGrp="1"/>
          </p:cNvSpPr>
          <p:nvPr>
            <p:ph type="title"/>
          </p:nvPr>
        </p:nvSpPr>
        <p:spPr/>
        <p:txBody>
          <a:bodyPr/>
          <a:lstStyle/>
          <a:p>
            <a:r>
              <a:rPr lang="zh-CN" altLang="en-US" dirty="0"/>
              <a:t>课后作业</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简述死锁的必要条件，以及预防死锁方法与必要条件的关系。</a:t>
            </a:r>
            <a:endParaRPr lang="en-US" altLang="zh-CN" dirty="0"/>
          </a:p>
          <a:p>
            <a:r>
              <a:rPr lang="zh-CN" altLang="en-US" dirty="0"/>
              <a:t>第三章习题的第</a:t>
            </a:r>
            <a:r>
              <a:rPr lang="en-US" altLang="zh-CN" dirty="0"/>
              <a:t>31</a:t>
            </a:r>
            <a:r>
              <a:rPr lang="zh-CN" altLang="en-US" dirty="0"/>
              <a:t>题</a:t>
            </a:r>
            <a:endParaRPr lang="zh-CN" altLang="en-US" dirty="0"/>
          </a:p>
        </p:txBody>
      </p:sp>
      <p:sp>
        <p:nvSpPr>
          <p:cNvPr id="3" name="标题 2"/>
          <p:cNvSpPr>
            <a:spLocks noGrp="1"/>
          </p:cNvSpPr>
          <p:nvPr>
            <p:ph type="title"/>
          </p:nvPr>
        </p:nvSpPr>
        <p:spPr/>
        <p:txBody>
          <a:bodyPr/>
          <a:lstStyle/>
          <a:p>
            <a:r>
              <a:rPr lang="zh-CN" altLang="en-US" dirty="0"/>
              <a:t>课后作业</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标题 1"/>
          <p:cNvSpPr>
            <a:spLocks noGrp="1"/>
          </p:cNvSpPr>
          <p:nvPr>
            <p:ph type="title"/>
          </p:nvPr>
        </p:nvSpPr>
        <p:spPr>
          <a:ln/>
        </p:spPr>
        <p:txBody>
          <a:bodyPr vert="horz" wrap="square" lIns="91440" tIns="45720" rIns="91440" bIns="45720" anchor="ctr" anchorCtr="0"/>
          <a:p>
            <a:r>
              <a:rPr lang="zh-CN" altLang="en-US" dirty="0"/>
              <a:t>第三章作业</a:t>
            </a:r>
            <a:endParaRPr lang="zh-CN" altLang="en-US" dirty="0"/>
          </a:p>
        </p:txBody>
      </p:sp>
      <p:sp>
        <p:nvSpPr>
          <p:cNvPr id="134147" name="内容占位符 2"/>
          <p:cNvSpPr>
            <a:spLocks noGrp="1"/>
          </p:cNvSpPr>
          <p:nvPr>
            <p:ph idx="1"/>
          </p:nvPr>
        </p:nvSpPr>
        <p:spPr>
          <a:xfrm>
            <a:off x="301625" y="1887220"/>
            <a:ext cx="8540750" cy="4498975"/>
          </a:xfrm>
          <a:ln/>
        </p:spPr>
        <p:txBody>
          <a:bodyPr vert="horz" wrap="square" lIns="91440" tIns="45720" rIns="91440" bIns="45720" anchor="t" anchorCtr="0"/>
          <a:p>
            <a:r>
              <a:rPr dirty="0"/>
              <a:t>P106:  1、5、6、7、12、14、17、19、20、21、23、24、25；</a:t>
            </a:r>
            <a:endParaRPr dirty="0"/>
          </a:p>
          <a:p>
            <a:endParaRPr dirty="0"/>
          </a:p>
          <a:p>
            <a:r>
              <a:rPr dirty="0"/>
              <a:t> P134:  1、2、8、16、17。</a:t>
            </a:r>
            <a:endParaRPr dirty="0"/>
          </a:p>
        </p:txBody>
      </p:sp>
    </p:spTree>
  </p:cSld>
  <p:clrMapOvr>
    <a:masterClrMapping/>
  </p:clrMapOvr>
  <p:transition/>
</p:sld>
</file>

<file path=ppt/tags/tag1.xml><?xml version="1.0" encoding="utf-8"?>
<p:tagLst xmlns:p="http://schemas.openxmlformats.org/presentationml/2006/main">
  <p:tag name="commondata" val="eyJoZGlkIjoiOWJkY2VmZjY5MjJkNjJkODRiYmIxZjc4Mjk2MjJmOWYifQ=="/>
</p:tagLst>
</file>

<file path=ppt/theme/theme1.xml><?xml version="1.0" encoding="utf-8"?>
<a:theme xmlns:a="http://schemas.openxmlformats.org/drawingml/2006/main" name="砖雕艺术">
  <a:themeElements>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fontScheme name="砖雕艺术">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13500000">
            <a:schemeClr val="bg2"/>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13500000">
            <a:schemeClr val="bg2"/>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clrMap bg1="lt1" tx1="dk1" bg2="lt2" tx2="dk2" accent1="accent1" accent2="accent2" accent3="accent3" accent4="accent4" accent5="accent5" accent6="accent6" hlink="hlink" folHlink="folHlink"/>
    </a:extraClrScheme>
    <a:extraClrScheme>
      <a:clrScheme name="砖雕艺术 2">
        <a:dk1>
          <a:srgbClr val="333399"/>
        </a:dk1>
        <a:lt1>
          <a:srgbClr val="ADD3AF"/>
        </a:lt1>
        <a:dk2>
          <a:srgbClr val="D65700"/>
        </a:dk2>
        <a:lt2>
          <a:srgbClr val="B2B2B2"/>
        </a:lt2>
        <a:accent1>
          <a:srgbClr val="B8E9EE"/>
        </a:accent1>
        <a:accent2>
          <a:srgbClr val="FFCC00"/>
        </a:accent2>
        <a:accent3>
          <a:srgbClr val="D3E6D4"/>
        </a:accent3>
        <a:accent4>
          <a:srgbClr val="2A2A82"/>
        </a:accent4>
        <a:accent5>
          <a:srgbClr val="D8F2F5"/>
        </a:accent5>
        <a:accent6>
          <a:srgbClr val="E7B900"/>
        </a:accent6>
        <a:hlink>
          <a:srgbClr val="008080"/>
        </a:hlink>
        <a:folHlink>
          <a:srgbClr val="003366"/>
        </a:folHlink>
      </a:clrScheme>
      <a:clrMap bg1="lt1" tx1="dk1" bg2="lt2" tx2="dk2" accent1="accent1" accent2="accent2" accent3="accent3" accent4="accent4" accent5="accent5" accent6="accent6" hlink="hlink" folHlink="folHlink"/>
    </a:extraClrScheme>
    <a:extraClrScheme>
      <a:clrScheme name="砖雕艺术 3">
        <a:dk1>
          <a:srgbClr val="003BB2"/>
        </a:dk1>
        <a:lt1>
          <a:srgbClr val="CCFFCC"/>
        </a:lt1>
        <a:dk2>
          <a:srgbClr val="003366"/>
        </a:dk2>
        <a:lt2>
          <a:srgbClr val="C0C0C0"/>
        </a:lt2>
        <a:accent1>
          <a:srgbClr val="FFFFFF"/>
        </a:accent1>
        <a:accent2>
          <a:srgbClr val="009900"/>
        </a:accent2>
        <a:accent3>
          <a:srgbClr val="E2FFE2"/>
        </a:accent3>
        <a:accent4>
          <a:srgbClr val="003197"/>
        </a:accent4>
        <a:accent5>
          <a:srgbClr val="FFFFFF"/>
        </a:accent5>
        <a:accent6>
          <a:srgbClr val="008A00"/>
        </a:accent6>
        <a:hlink>
          <a:srgbClr val="333399"/>
        </a:hlink>
        <a:folHlink>
          <a:srgbClr val="E45C00"/>
        </a:folHlink>
      </a:clrScheme>
      <a:clrMap bg1="lt1" tx1="dk1" bg2="lt2" tx2="dk2" accent1="accent1" accent2="accent2" accent3="accent3" accent4="accent4" accent5="accent5" accent6="accent6" hlink="hlink" folHlink="folHlink"/>
    </a:extraClrScheme>
    <a:extraClrScheme>
      <a:clrScheme name="砖雕艺术 4">
        <a:dk1>
          <a:srgbClr val="0000CC"/>
        </a:dk1>
        <a:lt1>
          <a:srgbClr val="CCECFF"/>
        </a:lt1>
        <a:dk2>
          <a:srgbClr val="006666"/>
        </a:dk2>
        <a:lt2>
          <a:srgbClr val="C0C0C0"/>
        </a:lt2>
        <a:accent1>
          <a:srgbClr val="FFFF99"/>
        </a:accent1>
        <a:accent2>
          <a:srgbClr val="FFCCFF"/>
        </a:accent2>
        <a:accent3>
          <a:srgbClr val="E2F4FF"/>
        </a:accent3>
        <a:accent4>
          <a:srgbClr val="0000AE"/>
        </a:accent4>
        <a:accent5>
          <a:srgbClr val="FFFFCA"/>
        </a:accent5>
        <a:accent6>
          <a:srgbClr val="E7B9E7"/>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砖雕艺术 5">
        <a:dk1>
          <a:srgbClr val="000000"/>
        </a:dk1>
        <a:lt1>
          <a:srgbClr val="FFFFCC"/>
        </a:lt1>
        <a:dk2>
          <a:srgbClr val="5A5A86"/>
        </a:dk2>
        <a:lt2>
          <a:srgbClr val="C0C0C0"/>
        </a:lt2>
        <a:accent1>
          <a:srgbClr val="D5E9F7"/>
        </a:accent1>
        <a:accent2>
          <a:srgbClr val="FFCC00"/>
        </a:accent2>
        <a:accent3>
          <a:srgbClr val="FFFFE2"/>
        </a:accent3>
        <a:accent4>
          <a:srgbClr val="000000"/>
        </a:accent4>
        <a:accent5>
          <a:srgbClr val="E7F2FA"/>
        </a:accent5>
        <a:accent6>
          <a:srgbClr val="E7B900"/>
        </a:accent6>
        <a:hlink>
          <a:srgbClr val="CC3300"/>
        </a:hlink>
        <a:folHlink>
          <a:srgbClr val="007D7A"/>
        </a:folHlink>
      </a:clrScheme>
      <a:clrMap bg1="lt1" tx1="dk1" bg2="lt2" tx2="dk2" accent1="accent1" accent2="accent2" accent3="accent3" accent4="accent4" accent5="accent5" accent6="accent6" hlink="hlink" folHlink="folHlink"/>
    </a:extraClrScheme>
    <a:extraClrScheme>
      <a:clrScheme name="砖雕艺术 6">
        <a:dk1>
          <a:srgbClr val="006666"/>
        </a:dk1>
        <a:lt1>
          <a:srgbClr val="FFECD9"/>
        </a:lt1>
        <a:dk2>
          <a:srgbClr val="000099"/>
        </a:dk2>
        <a:lt2>
          <a:srgbClr val="B2B2B2"/>
        </a:lt2>
        <a:accent1>
          <a:srgbClr val="EAEAEA"/>
        </a:accent1>
        <a:accent2>
          <a:srgbClr val="FF6600"/>
        </a:accent2>
        <a:accent3>
          <a:srgbClr val="FFF4E9"/>
        </a:accent3>
        <a:accent4>
          <a:srgbClr val="005656"/>
        </a:accent4>
        <a:accent5>
          <a:srgbClr val="F3F3F3"/>
        </a:accent5>
        <a:accent6>
          <a:srgbClr val="E75C00"/>
        </a:accent6>
        <a:hlink>
          <a:srgbClr val="0066FF"/>
        </a:hlink>
        <a:folHlink>
          <a:srgbClr val="777777"/>
        </a:folHlink>
      </a:clrScheme>
      <a:clrMap bg1="lt1" tx1="dk1" bg2="lt2" tx2="dk2" accent1="accent1" accent2="accent2" accent3="accent3" accent4="accent4" accent5="accent5" accent6="accent6" hlink="hlink" folHlink="folHlink"/>
    </a:extraClrScheme>
    <a:extraClrScheme>
      <a:clrScheme name="砖雕艺术 7">
        <a:dk1>
          <a:srgbClr val="585884"/>
        </a:dk1>
        <a:lt1>
          <a:srgbClr val="DDDDDD"/>
        </a:lt1>
        <a:dk2>
          <a:srgbClr val="000000"/>
        </a:dk2>
        <a:lt2>
          <a:srgbClr val="969696"/>
        </a:lt2>
        <a:accent1>
          <a:srgbClr val="FFFFCC"/>
        </a:accent1>
        <a:accent2>
          <a:srgbClr val="99CC00"/>
        </a:accent2>
        <a:accent3>
          <a:srgbClr val="EBEBEB"/>
        </a:accent3>
        <a:accent4>
          <a:srgbClr val="4A4A70"/>
        </a:accent4>
        <a:accent5>
          <a:srgbClr val="FFFFE2"/>
        </a:accent5>
        <a:accent6>
          <a:srgbClr val="8AB900"/>
        </a:accent6>
        <a:hlink>
          <a:srgbClr val="FF3300"/>
        </a:hlink>
        <a:folHlink>
          <a:srgbClr val="6E3B8B"/>
        </a:folHlink>
      </a:clrScheme>
      <a:clrMap bg1="lt1" tx1="dk1" bg2="lt2" tx2="dk2" accent1="accent1" accent2="accent2" accent3="accent3" accent4="accent4" accent5="accent5" accent6="accent6" hlink="hlink" folHlink="folHlink"/>
    </a:extraClrScheme>
    <a:extraClrScheme>
      <a:clrScheme name="砖雕艺术 8">
        <a:dk1>
          <a:srgbClr val="333399"/>
        </a:dk1>
        <a:lt1>
          <a:srgbClr val="FFD9D9"/>
        </a:lt1>
        <a:dk2>
          <a:srgbClr val="00716E"/>
        </a:dk2>
        <a:lt2>
          <a:srgbClr val="C0C0C0"/>
        </a:lt2>
        <a:accent1>
          <a:srgbClr val="AED2BA"/>
        </a:accent1>
        <a:accent2>
          <a:srgbClr val="FF9933"/>
        </a:accent2>
        <a:accent3>
          <a:srgbClr val="FFE9E9"/>
        </a:accent3>
        <a:accent4>
          <a:srgbClr val="2A2A82"/>
        </a:accent4>
        <a:accent5>
          <a:srgbClr val="D3E5D9"/>
        </a:accent5>
        <a:accent6>
          <a:srgbClr val="E78A2D"/>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CDESIGNJ</Template>
  <TotalTime>0</TotalTime>
  <Words>18528</Words>
  <Application>WPS 演示</Application>
  <PresentationFormat>全屏显示(4:3)</PresentationFormat>
  <Paragraphs>1629</Paragraphs>
  <Slides>136</Slides>
  <Notes>0</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13</vt:i4>
      </vt:variant>
      <vt:variant>
        <vt:lpstr>幻灯片标题</vt:lpstr>
      </vt:variant>
      <vt:variant>
        <vt:i4>136</vt:i4>
      </vt:variant>
    </vt:vector>
  </HeadingPairs>
  <TitlesOfParts>
    <vt:vector size="167" baseType="lpstr">
      <vt:lpstr>Arial</vt:lpstr>
      <vt:lpstr>宋体</vt:lpstr>
      <vt:lpstr>Wingdings</vt:lpstr>
      <vt:lpstr>Wingdings 2</vt:lpstr>
      <vt:lpstr>Calibri</vt:lpstr>
      <vt:lpstr>华文新魏</vt:lpstr>
      <vt:lpstr>Times New Roman</vt:lpstr>
      <vt:lpstr>楷体_GB2312</vt:lpstr>
      <vt:lpstr>新宋体</vt:lpstr>
      <vt:lpstr>Courier New</vt:lpstr>
      <vt:lpstr>仿宋_GB2312</vt:lpstr>
      <vt:lpstr>仿宋</vt:lpstr>
      <vt:lpstr>微软雅黑</vt:lpstr>
      <vt:lpstr>Arial Unicode MS</vt:lpstr>
      <vt:lpstr>Tahoma</vt:lpstr>
      <vt:lpstr>黑体</vt:lpstr>
      <vt:lpstr>等线</vt:lpstr>
      <vt:lpstr>砖雕艺术</vt:lpstr>
      <vt:lpstr>Visio.Drawing.4</vt:lpstr>
      <vt:lpstr>WangImage.Document</vt:lpstr>
      <vt:lpstr>Visio.Drawing.11</vt:lpstr>
      <vt:lpstr>Visio.Drawing.4</vt:lpstr>
      <vt:lpstr>Visio.Drawing.11</vt:lpstr>
      <vt:lpstr>Visio.Drawing.4</vt:lpstr>
      <vt:lpstr>Visio.Drawing.4</vt:lpstr>
      <vt:lpstr>Paint.Picture</vt:lpstr>
      <vt:lpstr>Paint.Picture</vt:lpstr>
      <vt:lpstr>WangImage.Document</vt:lpstr>
      <vt:lpstr>Equation.3</vt:lpstr>
      <vt:lpstr>Equation.3</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(2)．最低松弛度优先算法(LLF)</vt:lpstr>
      <vt:lpstr>A/B任务完成时间图</vt:lpstr>
      <vt:lpstr>利用LLF算法进行调度的情况</vt:lpstr>
      <vt:lpstr>抢占方式和时机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课堂练习</vt:lpstr>
      <vt:lpstr>课后作业</vt:lpstr>
      <vt:lpstr>课后作业</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User</dc:creator>
  <cp:lastModifiedBy>紫霞</cp:lastModifiedBy>
  <cp:revision>69</cp:revision>
  <dcterms:created xsi:type="dcterms:W3CDTF">2012-09-20T02:42:50Z</dcterms:created>
  <dcterms:modified xsi:type="dcterms:W3CDTF">2024-03-17T15:24:33Z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D2BCA3BB7FFC41079B3E3EE2455EDC07_12</vt:lpwstr>
  </property>
  <property fmtid="{D5CDD505-2E9C-101B-9397-08002B2CF9AE}" pid="3" name="KSOProductBuildVer">
    <vt:lpwstr>2052-12.1.0.16388</vt:lpwstr>
  </property>
</Properties>
</file>