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3"/>
  </p:notesMasterIdLst>
  <p:sldIdLst>
    <p:sldId id="256" r:id="rId2"/>
    <p:sldId id="438" r:id="rId3"/>
    <p:sldId id="410" r:id="rId4"/>
    <p:sldId id="260" r:id="rId5"/>
    <p:sldId id="439" r:id="rId6"/>
    <p:sldId id="421" r:id="rId7"/>
    <p:sldId id="263" r:id="rId8"/>
    <p:sldId id="264" r:id="rId9"/>
    <p:sldId id="265" r:id="rId10"/>
    <p:sldId id="440" r:id="rId11"/>
    <p:sldId id="441" r:id="rId12"/>
    <p:sldId id="266" r:id="rId13"/>
    <p:sldId id="267" r:id="rId14"/>
    <p:sldId id="268" r:id="rId15"/>
    <p:sldId id="385" r:id="rId16"/>
    <p:sldId id="269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9" r:id="rId30"/>
    <p:sldId id="400" r:id="rId31"/>
    <p:sldId id="401" r:id="rId32"/>
    <p:sldId id="402" r:id="rId33"/>
    <p:sldId id="414" r:id="rId34"/>
    <p:sldId id="415" r:id="rId35"/>
    <p:sldId id="416" r:id="rId36"/>
    <p:sldId id="417" r:id="rId37"/>
    <p:sldId id="418" r:id="rId38"/>
    <p:sldId id="41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422" r:id="rId48"/>
    <p:sldId id="423" r:id="rId49"/>
    <p:sldId id="424" r:id="rId50"/>
    <p:sldId id="426" r:id="rId51"/>
    <p:sldId id="427" r:id="rId52"/>
    <p:sldId id="428" r:id="rId53"/>
    <p:sldId id="429" r:id="rId54"/>
    <p:sldId id="430" r:id="rId55"/>
    <p:sldId id="431" r:id="rId56"/>
    <p:sldId id="432" r:id="rId57"/>
    <p:sldId id="433" r:id="rId58"/>
    <p:sldId id="434" r:id="rId59"/>
    <p:sldId id="435" r:id="rId60"/>
    <p:sldId id="436" r:id="rId61"/>
    <p:sldId id="278" r:id="rId62"/>
    <p:sldId id="279" r:id="rId63"/>
    <p:sldId id="283" r:id="rId64"/>
    <p:sldId id="284" r:id="rId65"/>
    <p:sldId id="285" r:id="rId66"/>
    <p:sldId id="286" r:id="rId67"/>
    <p:sldId id="287" r:id="rId68"/>
    <p:sldId id="288" r:id="rId69"/>
    <p:sldId id="289" r:id="rId70"/>
    <p:sldId id="290" r:id="rId71"/>
    <p:sldId id="291" r:id="rId72"/>
    <p:sldId id="292" r:id="rId73"/>
    <p:sldId id="293" r:id="rId74"/>
    <p:sldId id="294" r:id="rId75"/>
    <p:sldId id="295" r:id="rId76"/>
    <p:sldId id="296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437" r:id="rId11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5" d="100"/>
          <a:sy n="115" d="100"/>
        </p:scale>
        <p:origin x="14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1355D-CAF1-4DF5-B92A-772D6B09D6EF}" type="datetimeFigureOut">
              <a:rPr lang="zh-CN" altLang="en-US" smtClean="0"/>
              <a:pPr/>
              <a:t>2021/4/12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698F9-7806-4D67-9FB2-85C79D655A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21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3D4A15B-71D6-484E-8C5E-CF7A5A41E591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图</a:t>
            </a:r>
            <a:r>
              <a:rPr lang="en-US" altLang="zh-CN" smtClean="0"/>
              <a:t>5-3</a:t>
            </a:r>
            <a:r>
              <a:rPr lang="zh-CN" altLang="en-US" smtClean="0"/>
              <a:t>示出了字节多路通道的工作原理。它所含有的多个子通道</a:t>
            </a:r>
            <a:r>
              <a:rPr lang="en-US" altLang="zh-CN" smtClean="0"/>
              <a:t>A</a:t>
            </a:r>
            <a:r>
              <a:rPr lang="zh-CN" altLang="en-US" smtClean="0"/>
              <a:t>，</a:t>
            </a:r>
            <a:r>
              <a:rPr lang="en-US" altLang="zh-CN" smtClean="0"/>
              <a:t>B</a:t>
            </a:r>
            <a:r>
              <a:rPr lang="zh-CN" altLang="en-US" smtClean="0"/>
              <a:t>，</a:t>
            </a:r>
            <a:r>
              <a:rPr lang="en-US" altLang="zh-CN" smtClean="0"/>
              <a:t>C</a:t>
            </a:r>
            <a:r>
              <a:rPr lang="zh-CN" altLang="en-US" smtClean="0"/>
              <a:t>，</a:t>
            </a:r>
            <a:r>
              <a:rPr lang="en-US" altLang="zh-CN" smtClean="0"/>
              <a:t>D</a:t>
            </a:r>
            <a:r>
              <a:rPr lang="zh-CN" altLang="en-US" smtClean="0"/>
              <a:t>，</a:t>
            </a:r>
            <a:r>
              <a:rPr lang="en-US" altLang="zh-CN" smtClean="0"/>
              <a:t>E</a:t>
            </a:r>
            <a:r>
              <a:rPr lang="zh-CN" altLang="en-US" smtClean="0"/>
              <a:t>，</a:t>
            </a:r>
            <a:r>
              <a:rPr lang="en-US" altLang="zh-CN" smtClean="0"/>
              <a:t>…</a:t>
            </a:r>
            <a:r>
              <a:rPr lang="zh-CN" altLang="en-US" smtClean="0"/>
              <a:t>，</a:t>
            </a:r>
            <a:r>
              <a:rPr lang="en-US" altLang="zh-CN" smtClean="0"/>
              <a:t>N</a:t>
            </a:r>
            <a:r>
              <a:rPr lang="zh-CN" altLang="en-US" smtClean="0"/>
              <a:t>，</a:t>
            </a:r>
            <a:r>
              <a:rPr lang="en-US" altLang="zh-CN" smtClean="0"/>
              <a:t>…</a:t>
            </a:r>
            <a:r>
              <a:rPr lang="zh-CN" altLang="en-US" smtClean="0"/>
              <a:t>分别通过控制器各与一台设备相连。假定这些设备的速率相近，且都同时向主机传送</a:t>
            </a:r>
          </a:p>
          <a:p>
            <a:pPr eaLnBrk="1" hangingPunct="1"/>
            <a:r>
              <a:rPr lang="zh-CN" altLang="en-US" smtClean="0"/>
              <a:t>数据。设备</a:t>
            </a:r>
            <a:r>
              <a:rPr lang="en-US" altLang="zh-CN" smtClean="0"/>
              <a:t>A </a:t>
            </a:r>
            <a:r>
              <a:rPr lang="zh-CN" altLang="en-US" smtClean="0"/>
              <a:t>所传送的数据流为</a:t>
            </a:r>
            <a:r>
              <a:rPr lang="en-US" altLang="zh-CN" smtClean="0"/>
              <a:t>A1A2A3…</a:t>
            </a:r>
            <a:r>
              <a:rPr lang="zh-CN" altLang="en-US" smtClean="0"/>
              <a:t>；设备</a:t>
            </a:r>
            <a:r>
              <a:rPr lang="en-US" altLang="zh-CN" smtClean="0"/>
              <a:t>B </a:t>
            </a:r>
            <a:r>
              <a:rPr lang="zh-CN" altLang="en-US" smtClean="0"/>
              <a:t>所传送的数据流为</a:t>
            </a:r>
            <a:r>
              <a:rPr lang="en-US" altLang="zh-CN" smtClean="0"/>
              <a:t>B1B2B3…</a:t>
            </a:r>
            <a:r>
              <a:rPr lang="zh-CN" altLang="en-US" smtClean="0"/>
              <a:t>把这些数据流合成后</a:t>
            </a:r>
            <a:r>
              <a:rPr lang="en-US" altLang="zh-CN" smtClean="0"/>
              <a:t>(</a:t>
            </a:r>
            <a:r>
              <a:rPr lang="zh-CN" altLang="en-US" smtClean="0"/>
              <a:t>通过主通道</a:t>
            </a:r>
            <a:r>
              <a:rPr lang="en-US" altLang="zh-CN" smtClean="0"/>
              <a:t>)</a:t>
            </a:r>
            <a:r>
              <a:rPr lang="zh-CN" altLang="en-US" smtClean="0"/>
              <a:t>送往主机的数据流为</a:t>
            </a:r>
            <a:r>
              <a:rPr lang="en-US" altLang="zh-CN" smtClean="0"/>
              <a:t>A1B1C1D1 …A2B2C2D2 … 3B3C3D3 …</a:t>
            </a:r>
            <a:r>
              <a:rPr lang="zh-CN" altLang="en-US" smtClean="0"/>
              <a:t>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B375DC3-1FB9-4927-9004-5B67F0BF95E1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由于通道价格昂贵，致使机器中所设置的通道数量势必较少，这往往又使它成了</a:t>
            </a:r>
            <a:r>
              <a:rPr lang="en-US" altLang="zh-CN" smtClean="0"/>
              <a:t>I/O </a:t>
            </a:r>
            <a:r>
              <a:rPr lang="zh-CN" altLang="en-US" smtClean="0"/>
              <a:t>的瓶颈，进而造成整个系统吞吐量的下降。</a:t>
            </a:r>
          </a:p>
          <a:p>
            <a:pPr eaLnBrk="1" hangingPunct="1"/>
            <a:endParaRPr lang="zh-CN" altLang="en-US" smtClean="0"/>
          </a:p>
          <a:p>
            <a:pPr eaLnBrk="1" hangingPunct="1"/>
            <a:r>
              <a:rPr lang="zh-CN" altLang="en-US" smtClean="0"/>
              <a:t>例如，在图中，假设设备</a:t>
            </a:r>
            <a:r>
              <a:rPr lang="en-US" altLang="zh-CN" smtClean="0"/>
              <a:t>1</a:t>
            </a:r>
            <a:r>
              <a:rPr lang="zh-CN" altLang="en-US" smtClean="0"/>
              <a:t>至设备</a:t>
            </a:r>
            <a:r>
              <a:rPr lang="en-US" altLang="zh-CN" smtClean="0"/>
              <a:t>4</a:t>
            </a:r>
            <a:r>
              <a:rPr lang="zh-CN" altLang="en-US" smtClean="0"/>
              <a:t>是四个磁盘，为了启动磁盘</a:t>
            </a:r>
            <a:r>
              <a:rPr lang="en-US" altLang="zh-CN" smtClean="0"/>
              <a:t>4</a:t>
            </a:r>
            <a:r>
              <a:rPr lang="zh-CN" altLang="en-US" smtClean="0"/>
              <a:t>，必须用通道</a:t>
            </a:r>
            <a:r>
              <a:rPr lang="en-US" altLang="zh-CN" smtClean="0"/>
              <a:t>1 </a:t>
            </a:r>
            <a:r>
              <a:rPr lang="zh-CN" altLang="en-US" smtClean="0"/>
              <a:t>和控制器</a:t>
            </a:r>
            <a:r>
              <a:rPr lang="en-US" altLang="zh-CN" smtClean="0"/>
              <a:t>2</a:t>
            </a:r>
            <a:r>
              <a:rPr lang="zh-CN" altLang="en-US" smtClean="0"/>
              <a:t>；但若这两者已被其它设备占用，必然无法启动磁盘</a:t>
            </a:r>
            <a:r>
              <a:rPr lang="en-US" altLang="zh-CN" smtClean="0"/>
              <a:t>4</a:t>
            </a:r>
            <a:r>
              <a:rPr lang="zh-CN" altLang="en-US" smtClean="0"/>
              <a:t>。类似地，若要启动盘</a:t>
            </a:r>
            <a:r>
              <a:rPr lang="en-US" altLang="zh-CN" smtClean="0"/>
              <a:t>1 </a:t>
            </a:r>
            <a:r>
              <a:rPr lang="zh-CN" altLang="en-US" smtClean="0"/>
              <a:t>和盘</a:t>
            </a:r>
            <a:r>
              <a:rPr lang="en-US" altLang="zh-CN" smtClean="0"/>
              <a:t>2</a:t>
            </a:r>
            <a:r>
              <a:rPr lang="zh-CN" altLang="en-US" smtClean="0"/>
              <a:t>，由于它们都要用到通道</a:t>
            </a:r>
            <a:r>
              <a:rPr lang="en-US" altLang="zh-CN" smtClean="0"/>
              <a:t>1</a:t>
            </a:r>
            <a:r>
              <a:rPr lang="zh-CN" altLang="en-US" smtClean="0"/>
              <a:t>，因而也不可能启动。这些就是由于通道不足所造成的“瓶颈”现象。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3E767D-8D11-43A4-9F94-815270175B19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解决“瓶颈”问题的最有效的方法，便是增加设备到主机间的通路而不增加通道，如</a:t>
            </a:r>
          </a:p>
          <a:p>
            <a:pPr eaLnBrk="1" hangingPunct="1"/>
            <a:r>
              <a:rPr lang="zh-CN" altLang="en-US" smtClean="0"/>
              <a:t>图所示。换言之，就是把一个设备连接到多个控制器上，而一个控制器又连接到多个通</a:t>
            </a:r>
          </a:p>
          <a:p>
            <a:pPr eaLnBrk="1" hangingPunct="1"/>
            <a:r>
              <a:rPr lang="zh-CN" altLang="en-US" smtClean="0"/>
              <a:t>道上。图中的设备</a:t>
            </a:r>
            <a:r>
              <a:rPr lang="en-US" altLang="zh-CN" smtClean="0"/>
              <a:t>1</a:t>
            </a:r>
            <a:r>
              <a:rPr lang="zh-CN" altLang="en-US" smtClean="0"/>
              <a:t>、</a:t>
            </a:r>
            <a:r>
              <a:rPr lang="en-US" altLang="zh-CN" smtClean="0"/>
              <a:t>2</a:t>
            </a:r>
            <a:r>
              <a:rPr lang="zh-CN" altLang="en-US" smtClean="0"/>
              <a:t>、</a:t>
            </a:r>
            <a:r>
              <a:rPr lang="en-US" altLang="zh-CN" smtClean="0"/>
              <a:t>3</a:t>
            </a:r>
            <a:r>
              <a:rPr lang="zh-CN" altLang="en-US" smtClean="0"/>
              <a:t>和</a:t>
            </a:r>
            <a:r>
              <a:rPr lang="en-US" altLang="zh-CN" smtClean="0"/>
              <a:t>4</a:t>
            </a:r>
            <a:r>
              <a:rPr lang="zh-CN" altLang="en-US" smtClean="0"/>
              <a:t>，都有四条通往存储器的通路。例如，通过控制器</a:t>
            </a:r>
            <a:r>
              <a:rPr lang="en-US" altLang="zh-CN" smtClean="0"/>
              <a:t>1</a:t>
            </a:r>
            <a:r>
              <a:rPr lang="zh-CN" altLang="en-US" smtClean="0"/>
              <a:t>和通道</a:t>
            </a:r>
          </a:p>
          <a:p>
            <a:pPr eaLnBrk="1" hangingPunct="1"/>
            <a:r>
              <a:rPr lang="en-US" altLang="zh-CN" smtClean="0"/>
              <a:t>1 </a:t>
            </a:r>
            <a:r>
              <a:rPr lang="zh-CN" altLang="en-US" smtClean="0"/>
              <a:t>到存储器；也可通过控制器</a:t>
            </a:r>
            <a:r>
              <a:rPr lang="en-US" altLang="zh-CN" smtClean="0"/>
              <a:t>2 </a:t>
            </a:r>
            <a:r>
              <a:rPr lang="zh-CN" altLang="en-US" smtClean="0"/>
              <a:t>和通道</a:t>
            </a:r>
            <a:r>
              <a:rPr lang="en-US" altLang="zh-CN" smtClean="0"/>
              <a:t>1 </a:t>
            </a:r>
            <a:r>
              <a:rPr lang="zh-CN" altLang="en-US" smtClean="0"/>
              <a:t>到存储器。多通路方式不仅解决了“瓶颈”问题，</a:t>
            </a:r>
          </a:p>
          <a:p>
            <a:pPr eaLnBrk="1" hangingPunct="1"/>
            <a:r>
              <a:rPr lang="zh-CN" altLang="en-US" smtClean="0"/>
              <a:t>而且提高了系统的可靠性，因为个别通道或控制器的故障不会使设备和存储器之间没有</a:t>
            </a:r>
          </a:p>
          <a:p>
            <a:pPr eaLnBrk="1" hangingPunct="1"/>
            <a:r>
              <a:rPr lang="zh-CN" altLang="en-US" smtClean="0"/>
              <a:t>通路。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72EF65A-4EFA-4A93-A126-658EBB5FB3A8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81C0804-FA08-4708-9D08-E196600B1D1A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。由于中断处理与硬件紧密相关，对用户及用户程序而言，应该尽量加以屏蔽，故应该放在操作系统的底层进行中断处理，系统的其余部分尽可能少地与之发生联系。当一个进程请求</a:t>
            </a:r>
            <a:r>
              <a:rPr lang="en-US" altLang="zh-CN" smtClean="0"/>
              <a:t>I/O </a:t>
            </a:r>
            <a:r>
              <a:rPr lang="zh-CN" altLang="en-US" smtClean="0"/>
              <a:t>操作时，该进程将被挂起，直到</a:t>
            </a:r>
            <a:r>
              <a:rPr lang="en-US" altLang="zh-CN" smtClean="0"/>
              <a:t>I/O </a:t>
            </a:r>
            <a:r>
              <a:rPr lang="zh-CN" altLang="en-US" smtClean="0"/>
              <a:t>设备完成</a:t>
            </a:r>
            <a:r>
              <a:rPr lang="en-US" altLang="zh-CN" smtClean="0"/>
              <a:t>I/O </a:t>
            </a:r>
            <a:r>
              <a:rPr lang="zh-CN" altLang="en-US" smtClean="0"/>
              <a:t>操作后，设备控制器便向</a:t>
            </a:r>
            <a:r>
              <a:rPr lang="en-US" altLang="zh-CN" smtClean="0"/>
              <a:t>CPU</a:t>
            </a:r>
            <a:r>
              <a:rPr lang="zh-CN" altLang="en-US" smtClean="0"/>
              <a:t>发送一中断请求，</a:t>
            </a:r>
            <a:r>
              <a:rPr lang="en-US" altLang="zh-CN" smtClean="0"/>
              <a:t>CPU</a:t>
            </a:r>
            <a:r>
              <a:rPr lang="zh-CN" altLang="en-US" smtClean="0"/>
              <a:t>响应后便转向中断处理程序，中断处理程序执行相应的处理，处理完后解除相应进程的阻塞状态。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CD6F310-EFBE-46F5-9B45-43E84BE68710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如前所述，虚拟性是</a:t>
            </a:r>
            <a:r>
              <a:rPr lang="en-US" altLang="zh-CN" smtClean="0"/>
              <a:t>OS </a:t>
            </a:r>
            <a:r>
              <a:rPr lang="zh-CN" altLang="en-US" smtClean="0"/>
              <a:t>的四大特征之一。如果说可以通过多道程序技术将一台物理</a:t>
            </a:r>
            <a:r>
              <a:rPr lang="en-US" altLang="zh-CN" smtClean="0"/>
              <a:t>CPU </a:t>
            </a:r>
            <a:r>
              <a:rPr lang="zh-CN" altLang="en-US" smtClean="0"/>
              <a:t>虚拟为多台逻辑</a:t>
            </a:r>
            <a:r>
              <a:rPr lang="en-US" altLang="zh-CN" smtClean="0"/>
              <a:t>CPU</a:t>
            </a:r>
            <a:r>
              <a:rPr lang="zh-CN" altLang="en-US" smtClean="0"/>
              <a:t>，从而允许多个用户共享一台主机，那么，通过</a:t>
            </a:r>
            <a:r>
              <a:rPr lang="en-US" altLang="zh-CN" smtClean="0"/>
              <a:t>SPOOLing </a:t>
            </a:r>
            <a:r>
              <a:rPr lang="zh-CN" altLang="en-US" smtClean="0"/>
              <a:t>技术</a:t>
            </a:r>
          </a:p>
          <a:p>
            <a:r>
              <a:rPr lang="zh-CN" altLang="en-US" smtClean="0"/>
              <a:t>便可将一台物理</a:t>
            </a:r>
            <a:r>
              <a:rPr lang="en-US" altLang="zh-CN" smtClean="0"/>
              <a:t>I/O </a:t>
            </a:r>
            <a:r>
              <a:rPr lang="zh-CN" altLang="en-US" smtClean="0"/>
              <a:t>设备虚拟为多台逻辑</a:t>
            </a:r>
            <a:r>
              <a:rPr lang="en-US" altLang="zh-CN" smtClean="0"/>
              <a:t>I/O </a:t>
            </a:r>
            <a:r>
              <a:rPr lang="zh-CN" altLang="en-US" smtClean="0"/>
              <a:t>设备，同样允许多个用户共享一台物理</a:t>
            </a:r>
            <a:r>
              <a:rPr lang="en-US" altLang="zh-CN" smtClean="0"/>
              <a:t>I/O</a:t>
            </a:r>
            <a:r>
              <a:rPr lang="zh-CN" altLang="en-US" smtClean="0"/>
              <a:t>设备。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3319316-811F-46CC-8DC3-EFE464375F28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如前所述，虚拟性是</a:t>
            </a:r>
            <a:r>
              <a:rPr lang="en-US" altLang="zh-CN" smtClean="0"/>
              <a:t>OS </a:t>
            </a:r>
            <a:r>
              <a:rPr lang="zh-CN" altLang="en-US" smtClean="0"/>
              <a:t>的四大特征之一。如果说可以通过多道程序技术将一台物理</a:t>
            </a:r>
            <a:r>
              <a:rPr lang="en-US" altLang="zh-CN" smtClean="0"/>
              <a:t>CPU </a:t>
            </a:r>
            <a:r>
              <a:rPr lang="zh-CN" altLang="en-US" smtClean="0"/>
              <a:t>虚拟为多台逻辑</a:t>
            </a:r>
            <a:r>
              <a:rPr lang="en-US" altLang="zh-CN" smtClean="0"/>
              <a:t>CPU</a:t>
            </a:r>
            <a:r>
              <a:rPr lang="zh-CN" altLang="en-US" smtClean="0"/>
              <a:t>，从而允许多个用户共享一台主机，那么，通过</a:t>
            </a:r>
            <a:r>
              <a:rPr lang="en-US" altLang="zh-CN" smtClean="0"/>
              <a:t>SPOOLing </a:t>
            </a:r>
            <a:r>
              <a:rPr lang="zh-CN" altLang="en-US" smtClean="0"/>
              <a:t>技术</a:t>
            </a:r>
          </a:p>
          <a:p>
            <a:r>
              <a:rPr lang="zh-CN" altLang="en-US" smtClean="0"/>
              <a:t>便可将一台物理</a:t>
            </a:r>
            <a:r>
              <a:rPr lang="en-US" altLang="zh-CN" smtClean="0"/>
              <a:t>I/O </a:t>
            </a:r>
            <a:r>
              <a:rPr lang="zh-CN" altLang="en-US" smtClean="0"/>
              <a:t>设备虚拟为多台逻辑</a:t>
            </a:r>
            <a:r>
              <a:rPr lang="en-US" altLang="zh-CN" smtClean="0"/>
              <a:t>I/O </a:t>
            </a:r>
            <a:r>
              <a:rPr lang="zh-CN" altLang="en-US" smtClean="0"/>
              <a:t>设备，同样允许多个用户共享一台物理</a:t>
            </a:r>
            <a:r>
              <a:rPr lang="en-US" altLang="zh-CN" smtClean="0"/>
              <a:t>I/O</a:t>
            </a:r>
            <a:r>
              <a:rPr lang="zh-CN" altLang="en-US" smtClean="0"/>
              <a:t>设备。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1F91D89-C243-4B6F-8226-FCF65967F63B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SPOOLing</a:t>
            </a:r>
            <a:r>
              <a:rPr lang="zh-CN" altLang="en-US" smtClean="0"/>
              <a:t>系统主要有以下三部分：</a:t>
            </a:r>
          </a:p>
          <a:p>
            <a:r>
              <a:rPr lang="en-US" altLang="zh-CN" smtClean="0"/>
              <a:t>(1) </a:t>
            </a:r>
            <a:r>
              <a:rPr lang="zh-CN" altLang="en-US" smtClean="0"/>
              <a:t>输入井和输出井。这是在磁盘上开辟的两个大存储空间。输入井是模拟脱机输入时的磁盘设备，用于暂存</a:t>
            </a:r>
            <a:r>
              <a:rPr lang="en-US" altLang="zh-CN" smtClean="0"/>
              <a:t>I/O </a:t>
            </a:r>
            <a:r>
              <a:rPr lang="zh-CN" altLang="en-US" smtClean="0"/>
              <a:t>设备输入的数据；输出井是模拟脱机输出时的磁盘，用于暂存用</a:t>
            </a:r>
          </a:p>
          <a:p>
            <a:r>
              <a:rPr lang="zh-CN" altLang="en-US" smtClean="0"/>
              <a:t>户程序的输出数据。</a:t>
            </a:r>
          </a:p>
          <a:p>
            <a:r>
              <a:rPr lang="en-US" altLang="zh-CN" smtClean="0"/>
              <a:t>(2) </a:t>
            </a:r>
            <a:r>
              <a:rPr lang="zh-CN" altLang="en-US" smtClean="0"/>
              <a:t>输入缓冲区和输出缓冲区。为了缓和</a:t>
            </a:r>
            <a:r>
              <a:rPr lang="en-US" altLang="zh-CN" smtClean="0"/>
              <a:t>CPU </a:t>
            </a:r>
            <a:r>
              <a:rPr lang="zh-CN" altLang="en-US" smtClean="0"/>
              <a:t>和磁盘之间速度不匹配的矛盾，在内存中要开辟两个缓冲区：输入缓冲区和输出缓冲区。输入缓冲区用于暂存由输入设备送来的</a:t>
            </a:r>
          </a:p>
          <a:p>
            <a:r>
              <a:rPr lang="zh-CN" altLang="en-US" smtClean="0"/>
              <a:t>数据，以后再传送到输入井。输出缓冲区用于暂存从输出井送来的数据，以后再传送给输出设备。</a:t>
            </a:r>
          </a:p>
          <a:p>
            <a:r>
              <a:rPr lang="en-US" altLang="zh-CN" smtClean="0"/>
              <a:t>(3) </a:t>
            </a:r>
            <a:r>
              <a:rPr lang="zh-CN" altLang="en-US" smtClean="0"/>
              <a:t>输入进程</a:t>
            </a:r>
            <a:r>
              <a:rPr lang="en-US" altLang="zh-CN" smtClean="0"/>
              <a:t>SPi</a:t>
            </a:r>
            <a:r>
              <a:rPr lang="zh-CN" altLang="en-US" smtClean="0"/>
              <a:t>和输出进程</a:t>
            </a:r>
            <a:r>
              <a:rPr lang="en-US" altLang="zh-CN" smtClean="0"/>
              <a:t>SPo</a:t>
            </a:r>
            <a:r>
              <a:rPr lang="zh-CN" altLang="en-US" smtClean="0"/>
              <a:t>。这里利用两个进程来模拟脱机</a:t>
            </a:r>
            <a:r>
              <a:rPr lang="en-US" altLang="zh-CN" smtClean="0"/>
              <a:t>I/O </a:t>
            </a:r>
            <a:r>
              <a:rPr lang="zh-CN" altLang="en-US" smtClean="0"/>
              <a:t>时的外围控制机。其中，进程</a:t>
            </a:r>
            <a:r>
              <a:rPr lang="en-US" altLang="zh-CN" smtClean="0"/>
              <a:t>SPi</a:t>
            </a:r>
            <a:r>
              <a:rPr lang="zh-CN" altLang="en-US" smtClean="0"/>
              <a:t>模拟脱机输入时的外围控制机，将用户要求的数据从输入机通过输入缓冲区</a:t>
            </a:r>
          </a:p>
          <a:p>
            <a:r>
              <a:rPr lang="zh-CN" altLang="en-US" smtClean="0"/>
              <a:t>再送到输入井，当</a:t>
            </a:r>
            <a:r>
              <a:rPr lang="en-US" altLang="zh-CN" smtClean="0"/>
              <a:t>CPU </a:t>
            </a:r>
            <a:r>
              <a:rPr lang="zh-CN" altLang="en-US" smtClean="0"/>
              <a:t>需要输入数据时，直接从输入井读入内存；进程</a:t>
            </a:r>
            <a:r>
              <a:rPr lang="en-US" altLang="zh-CN" smtClean="0"/>
              <a:t>SPo</a:t>
            </a:r>
            <a:r>
              <a:rPr lang="zh-CN" altLang="en-US" smtClean="0"/>
              <a:t>模拟脱机输出时的外围控制机，把用户要求输出的数据先从内存送到输出井，待输出设备空闲时，再将输出井中的数据经过输出缓冲区送到输出设备上。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38BFCBC-8F9D-421E-80B0-F915180F2335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SPOOLing</a:t>
            </a:r>
            <a:r>
              <a:rPr lang="zh-CN" altLang="en-US" smtClean="0"/>
              <a:t>系统具有如下主要特点：</a:t>
            </a:r>
          </a:p>
          <a:p>
            <a:r>
              <a:rPr lang="en-US" altLang="zh-CN" smtClean="0"/>
              <a:t>(1) </a:t>
            </a:r>
            <a:r>
              <a:rPr lang="zh-CN" altLang="en-US" smtClean="0"/>
              <a:t>提高了</a:t>
            </a:r>
            <a:r>
              <a:rPr lang="en-US" altLang="zh-CN" smtClean="0"/>
              <a:t>I/O </a:t>
            </a:r>
            <a:r>
              <a:rPr lang="zh-CN" altLang="en-US" smtClean="0"/>
              <a:t>的速度。这里，对数据所进行的</a:t>
            </a:r>
            <a:r>
              <a:rPr lang="en-US" altLang="zh-CN" smtClean="0"/>
              <a:t>I/O </a:t>
            </a:r>
            <a:r>
              <a:rPr lang="zh-CN" altLang="en-US" smtClean="0"/>
              <a:t>操作，已从对低速</a:t>
            </a:r>
            <a:r>
              <a:rPr lang="en-US" altLang="zh-CN" smtClean="0"/>
              <a:t>I/O </a:t>
            </a:r>
            <a:r>
              <a:rPr lang="zh-CN" altLang="en-US" smtClean="0"/>
              <a:t>设备进行的</a:t>
            </a:r>
            <a:r>
              <a:rPr lang="en-US" altLang="zh-CN" smtClean="0"/>
              <a:t>I/O </a:t>
            </a:r>
            <a:r>
              <a:rPr lang="zh-CN" altLang="en-US" smtClean="0"/>
              <a:t>操作，演变为对输入井或输出井中数据的存取，如同脱机输入输出一样，提高了</a:t>
            </a:r>
            <a:r>
              <a:rPr lang="en-US" altLang="zh-CN" smtClean="0"/>
              <a:t>I/O </a:t>
            </a:r>
            <a:r>
              <a:rPr lang="zh-CN" altLang="en-US" smtClean="0"/>
              <a:t>速</a:t>
            </a:r>
          </a:p>
          <a:p>
            <a:r>
              <a:rPr lang="zh-CN" altLang="en-US" smtClean="0"/>
              <a:t>度，缓和了</a:t>
            </a:r>
            <a:r>
              <a:rPr lang="en-US" altLang="zh-CN" smtClean="0"/>
              <a:t>CPU</a:t>
            </a:r>
            <a:r>
              <a:rPr lang="zh-CN" altLang="en-US" smtClean="0"/>
              <a:t>与低速</a:t>
            </a:r>
            <a:r>
              <a:rPr lang="en-US" altLang="zh-CN" smtClean="0"/>
              <a:t>I/O </a:t>
            </a:r>
            <a:r>
              <a:rPr lang="zh-CN" altLang="en-US" smtClean="0"/>
              <a:t>设备之间速度不匹配的矛盾。</a:t>
            </a:r>
          </a:p>
          <a:p>
            <a:endParaRPr lang="zh-CN" altLang="en-US" smtClean="0"/>
          </a:p>
          <a:p>
            <a:r>
              <a:rPr lang="en-US" altLang="zh-CN" smtClean="0"/>
              <a:t>(2) </a:t>
            </a:r>
            <a:r>
              <a:rPr lang="zh-CN" altLang="en-US" smtClean="0"/>
              <a:t>将独占设备改造为共享设备。因为在</a:t>
            </a:r>
            <a:r>
              <a:rPr lang="en-US" altLang="zh-CN" smtClean="0"/>
              <a:t>SPOOLing </a:t>
            </a:r>
            <a:r>
              <a:rPr lang="zh-CN" altLang="en-US" smtClean="0"/>
              <a:t>系统中，实际上并没为任何进程分配设备，而只是在输入井或输出井中为进程分配一个存储区和建立一张</a:t>
            </a:r>
            <a:r>
              <a:rPr lang="en-US" altLang="zh-CN" smtClean="0"/>
              <a:t>I/O </a:t>
            </a:r>
            <a:r>
              <a:rPr lang="zh-CN" altLang="en-US" smtClean="0"/>
              <a:t>请求表。这样，</a:t>
            </a:r>
          </a:p>
          <a:p>
            <a:r>
              <a:rPr lang="zh-CN" altLang="en-US" smtClean="0"/>
              <a:t>便把独占设备改造为共享设备。</a:t>
            </a:r>
          </a:p>
          <a:p>
            <a:endParaRPr lang="zh-CN" altLang="en-US" smtClean="0"/>
          </a:p>
          <a:p>
            <a:r>
              <a:rPr lang="en-US" altLang="zh-CN" smtClean="0"/>
              <a:t>(3) </a:t>
            </a:r>
            <a:r>
              <a:rPr lang="zh-CN" altLang="en-US" smtClean="0"/>
              <a:t>实现了虚拟设备功能。宏观上，虽然是多个进程在同时使用一台独占设备，而对于每一个进程而言，他们都会认为自己是独占了一个设备。当然，该设备只是逻辑上的设备。</a:t>
            </a:r>
          </a:p>
          <a:p>
            <a:r>
              <a:rPr lang="en-US" altLang="zh-CN" smtClean="0"/>
              <a:t>SPOOLing</a:t>
            </a:r>
            <a:r>
              <a:rPr lang="zh-CN" altLang="en-US" smtClean="0"/>
              <a:t>系统实现了将独占设备变换为若干台对应的逻辑设备的功能。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63E9F6-D81F-406F-8079-BDF67D1E80F2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z="1000" smtClean="0"/>
              <a:t>打印机是经常要用到的输出设备，属于独占设备。    </a:t>
            </a:r>
          </a:p>
          <a:p>
            <a:r>
              <a:rPr lang="zh-CN" altLang="en-US" sz="1000" smtClean="0"/>
              <a:t>利用</a:t>
            </a:r>
            <a:r>
              <a:rPr lang="en-US" altLang="zh-CN" sz="1000" smtClean="0"/>
              <a:t>SPOOLing</a:t>
            </a:r>
            <a:r>
              <a:rPr lang="zh-CN" altLang="en-US" sz="1000" smtClean="0"/>
              <a:t>技术，可将之改造为一台可供多个用户共享的设备，从而提高设备的利用率，也方便了用户。</a:t>
            </a:r>
          </a:p>
          <a:p>
            <a:endParaRPr lang="zh-CN" altLang="en-US" smtClean="0"/>
          </a:p>
          <a:p>
            <a:endParaRPr lang="zh-CN" altLang="en-US" smtClean="0"/>
          </a:p>
          <a:p>
            <a:r>
              <a:rPr lang="zh-CN" altLang="en-US" smtClean="0"/>
              <a:t>当用户进程请求打印输出时，</a:t>
            </a:r>
            <a:r>
              <a:rPr lang="en-US" altLang="zh-CN" smtClean="0"/>
              <a:t>SPOOLing</a:t>
            </a:r>
            <a:r>
              <a:rPr lang="zh-CN" altLang="en-US" smtClean="0"/>
              <a:t>系统同意为它打印输出，但并不真正立即把打印机分配给该用户进程，而只为它做两件事：① 由输出进程在输出井中为之申请一个空闲磁盘块区，并将要打印的数据送入其中；② 输出进程再为用户进程申请一张空白的用户请求打印表，并将用户的打印要求填入其中，再将该表挂到请求打印队列上。</a:t>
            </a:r>
          </a:p>
          <a:p>
            <a:endParaRPr lang="zh-CN" altLang="en-US" smtClean="0"/>
          </a:p>
          <a:p>
            <a:endParaRPr lang="zh-CN" altLang="en-US" smtClean="0"/>
          </a:p>
          <a:p>
            <a:r>
              <a:rPr lang="zh-CN" altLang="en-US" smtClean="0"/>
              <a:t>如果打印机空闲，输出进程将从请求打印队列的队首取出一张请求打印表，根据表中的要求将要打印的数据，从输出井传送到内存缓冲区，再由打印机进行打印。打印完后，</a:t>
            </a:r>
          </a:p>
          <a:p>
            <a:r>
              <a:rPr lang="zh-CN" altLang="en-US" smtClean="0"/>
              <a:t>输出进程再查看请求打印队列中是否还有等待打印的请求表。若有，又取出队列中的第一张表，并根据其中的要求进行打印，如此下去，直至请求打印队列为空，输出进程才将自己阻塞起来。仅当下次再有打印请求时，输出进程才被唤醒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848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CABF8-F1F4-4951-8356-A16A503C4D6A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2EF7E5-BD7E-40F3-B29B-9011192ED2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4320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B5106-5CA7-475F-B4B0-FB1BA80CA341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7F5A0-D390-447D-A4F9-6E540201F49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7744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A9123-494C-4A01-9A33-14629B9DD6F8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22B7C-C743-41E7-82D2-77F80DB123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174725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7D794-DBD9-4757-AF0B-B100F767356A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3DE5C-8EF1-4F45-9AAE-AE41460B68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4628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784C0-5AC7-4274-AC72-16ADA4782B78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C1028-4A54-4030-9CF0-7552AF94BA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957692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722C8-7CE0-44CF-AEDD-AE5526C5DF7D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6D119-D2F8-47BB-BFDC-BAAA74D11C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5592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E7487-4548-4DC7-B9EC-B166033FB717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BD823-CA31-452D-84A3-D92BED5ECA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37561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72980-3C3C-497C-8B52-6E0261D31563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28492-DFC8-4D48-BD62-3BDB990EB2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54034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B5534-B555-4C25-875F-3DB4DC1D8291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3567E-77F4-446C-A998-E5916EAB33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2403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36846-49F6-4488-8C00-6EA5FCBB8232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D1504-0F90-4E41-A2E0-FD70C6AF2B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468630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DEF19-C257-4F40-9BC2-7AB98418C2B6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F7CAE-E896-40B8-8DB0-D6B7F5EEFA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161286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E36F0F-4F7B-42AC-B497-D7AD6AA838C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B5C01A-B792-4807-895E-F4BD9A6AD69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47459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90DA303-6035-4975-AC22-0D41ADD4275F}" type="datetimeFigureOut">
              <a:rPr lang="zh-CN" altLang="en-US"/>
              <a:pPr>
                <a:defRPr/>
              </a:pPr>
              <a:t>2021/4/12</a:t>
            </a:fld>
            <a:endParaRPr lang="en-US" altLang="zh-CN"/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7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462D9237-58E1-4CE0-9734-B216950D84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1" r:id="rId12"/>
    <p:sldLayoutId id="2147483842" r:id="rId1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/>
      <p:bldP spid="14745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0.wmf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7"/>
          <p:cNvSpPr>
            <a:spLocks noChangeArrowheads="1"/>
          </p:cNvSpPr>
          <p:nvPr/>
        </p:nvSpPr>
        <p:spPr bwMode="auto">
          <a:xfrm>
            <a:off x="1908175" y="1989138"/>
            <a:ext cx="4005263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4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第六章</a:t>
            </a:r>
            <a:r>
              <a:rPr lang="zh-CN" altLang="en-US" sz="4800" b="1" dirty="0">
                <a:solidFill>
                  <a:schemeClr val="folHlink"/>
                </a:solidFill>
              </a:rPr>
              <a:t/>
            </a:r>
            <a:br>
              <a:rPr lang="zh-CN" altLang="en-US" sz="4800" b="1" dirty="0">
                <a:solidFill>
                  <a:schemeClr val="folHlink"/>
                </a:solidFill>
              </a:rPr>
            </a:br>
            <a:r>
              <a:rPr lang="zh-CN" altLang="en-US" sz="4800" b="1" dirty="0">
                <a:solidFill>
                  <a:schemeClr val="folHlink"/>
                </a:solidFill>
              </a:rPr>
              <a:t/>
            </a:r>
            <a:br>
              <a:rPr lang="zh-CN" altLang="en-US" sz="4800" b="1" dirty="0">
                <a:solidFill>
                  <a:schemeClr val="folHlink"/>
                </a:solidFill>
              </a:rPr>
            </a:br>
            <a:r>
              <a:rPr lang="zh-CN" altLang="en-US" sz="4800" b="1" dirty="0" smtClean="0">
                <a:solidFill>
                  <a:schemeClr val="folHlink"/>
                </a:solidFill>
              </a:rPr>
              <a:t>输入输出系统</a:t>
            </a:r>
            <a:endParaRPr lang="zh-CN" altLang="en-US" sz="4800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6.1 I/O</a:t>
            </a:r>
            <a:r>
              <a:rPr lang="zh-CN" altLang="en-US" dirty="0" smtClean="0"/>
              <a:t>系统的功能、模型和接口</a:t>
            </a:r>
            <a:endParaRPr lang="en-US" altLang="zh-CN" dirty="0" smtClean="0"/>
          </a:p>
          <a:p>
            <a:r>
              <a:rPr lang="en-US" altLang="zh-CN" dirty="0" smtClean="0"/>
              <a:t>6.2 I/O</a:t>
            </a:r>
            <a:r>
              <a:rPr lang="zh-CN" altLang="en-US" dirty="0" smtClean="0"/>
              <a:t>设备和设备控制器</a:t>
            </a:r>
            <a:endParaRPr lang="en-US" altLang="zh-CN" dirty="0" smtClean="0"/>
          </a:p>
          <a:p>
            <a:r>
              <a:rPr lang="en-US" altLang="zh-CN" dirty="0" smtClean="0"/>
              <a:t>6.3 </a:t>
            </a:r>
            <a:r>
              <a:rPr lang="zh-CN" altLang="en-US" dirty="0" smtClean="0"/>
              <a:t>中断机构和中断处理程序</a:t>
            </a:r>
            <a:endParaRPr lang="en-US" altLang="zh-CN" dirty="0" smtClean="0"/>
          </a:p>
          <a:p>
            <a:r>
              <a:rPr lang="en-US" altLang="zh-CN" dirty="0" smtClean="0"/>
              <a:t>6.4 </a:t>
            </a:r>
            <a:r>
              <a:rPr lang="zh-CN" altLang="en-US" dirty="0" smtClean="0"/>
              <a:t>设备驱动程序</a:t>
            </a:r>
            <a:endParaRPr lang="en-US" altLang="zh-CN" dirty="0" smtClean="0"/>
          </a:p>
          <a:p>
            <a:r>
              <a:rPr lang="en-US" altLang="zh-CN" dirty="0" smtClean="0"/>
              <a:t>6.5 </a:t>
            </a:r>
            <a:r>
              <a:rPr lang="zh-CN" altLang="en-US" dirty="0" smtClean="0"/>
              <a:t>与设备无关的</a:t>
            </a:r>
            <a:r>
              <a:rPr lang="en-US" altLang="zh-CN" dirty="0" smtClean="0"/>
              <a:t>I/O</a:t>
            </a:r>
            <a:r>
              <a:rPr lang="zh-CN" altLang="en-US" dirty="0" smtClean="0"/>
              <a:t>软件</a:t>
            </a:r>
            <a:endParaRPr lang="en-US" altLang="zh-CN" dirty="0" smtClean="0"/>
          </a:p>
          <a:p>
            <a:r>
              <a:rPr lang="en-US" altLang="zh-CN" dirty="0" smtClean="0"/>
              <a:t>6.6 </a:t>
            </a:r>
            <a:r>
              <a:rPr lang="zh-CN" altLang="en-US" dirty="0" smtClean="0"/>
              <a:t>用户层的</a:t>
            </a:r>
            <a:r>
              <a:rPr lang="en-US" altLang="zh-CN" dirty="0" smtClean="0"/>
              <a:t>I/O</a:t>
            </a:r>
            <a:r>
              <a:rPr lang="zh-CN" altLang="en-US" dirty="0" smtClean="0"/>
              <a:t>软件</a:t>
            </a:r>
            <a:endParaRPr lang="en-US" altLang="zh-CN" dirty="0" smtClean="0"/>
          </a:p>
          <a:p>
            <a:r>
              <a:rPr lang="en-US" altLang="zh-CN" dirty="0" smtClean="0"/>
              <a:t>6.7 </a:t>
            </a:r>
            <a:r>
              <a:rPr lang="zh-CN" altLang="en-US" dirty="0" smtClean="0"/>
              <a:t>缓冲区管理</a:t>
            </a:r>
            <a:endParaRPr lang="en-US" altLang="zh-CN" dirty="0" smtClean="0"/>
          </a:p>
          <a:p>
            <a:r>
              <a:rPr lang="en-US" altLang="zh-CN" dirty="0" smtClean="0"/>
              <a:t>6.8 </a:t>
            </a:r>
            <a:r>
              <a:rPr lang="zh-CN" altLang="en-US" dirty="0" smtClean="0"/>
              <a:t>磁盘存储器的性能和调度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885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6.1 I/O</a:t>
            </a:r>
            <a:r>
              <a:rPr lang="zh-CN" altLang="en-US" b="1" dirty="0" smtClean="0"/>
              <a:t>系统的基本功能 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方便用户使用</a:t>
            </a:r>
            <a:r>
              <a:rPr lang="en-US" altLang="zh-CN" b="1" dirty="0" smtClean="0"/>
              <a:t>I/O</a:t>
            </a:r>
            <a:r>
              <a:rPr lang="zh-CN" altLang="en-US" b="1" dirty="0" smtClean="0"/>
              <a:t>设备 （包括 隐藏设备细节 ，与设备的 无关性 ）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提高 </a:t>
            </a:r>
            <a:r>
              <a:rPr lang="en-US" altLang="zh-CN" b="1" dirty="0" smtClean="0"/>
              <a:t>CPU</a:t>
            </a:r>
            <a:r>
              <a:rPr lang="zh-CN" altLang="en-US" b="1" dirty="0" smtClean="0"/>
              <a:t>和 </a:t>
            </a:r>
            <a:r>
              <a:rPr lang="en-US" altLang="zh-CN" b="1" dirty="0" smtClean="0"/>
              <a:t>I/O</a:t>
            </a:r>
            <a:r>
              <a:rPr lang="zh-CN" altLang="en-US" b="1" dirty="0" smtClean="0"/>
              <a:t>设备的利用率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为用户在共享设备时提供方便</a:t>
            </a:r>
            <a:endParaRPr lang="en-US" altLang="zh-CN" b="1" dirty="0" smtClean="0"/>
          </a:p>
          <a:p>
            <a:endParaRPr lang="zh-CN" alt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62424"/>
            <a:ext cx="8229600" cy="759162"/>
          </a:xfrm>
        </p:spPr>
        <p:txBody>
          <a:bodyPr/>
          <a:lstStyle/>
          <a:p>
            <a:pPr eaLnBrk="1" hangingPunct="1"/>
            <a:r>
              <a:rPr lang="zh-CN" altLang="en-US" sz="36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设备管理</a:t>
            </a:r>
            <a:r>
              <a:rPr lang="zh-CN" sz="36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体系结构</a:t>
            </a:r>
            <a:endParaRPr lang="zh-CN" sz="3600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79512" y="1052736"/>
            <a:ext cx="6768752" cy="5328592"/>
            <a:chOff x="0" y="0"/>
            <a:chExt cx="8100" cy="4992"/>
          </a:xfrm>
        </p:grpSpPr>
        <p:sp>
          <p:nvSpPr>
            <p:cNvPr id="7172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8100" cy="4992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80" y="156"/>
              <a:ext cx="7920" cy="4680"/>
              <a:chOff x="0" y="0"/>
              <a:chExt cx="7920" cy="4680"/>
            </a:xfrm>
          </p:grpSpPr>
          <p:sp>
            <p:nvSpPr>
              <p:cNvPr id="7174" name="Text Box 9"/>
              <p:cNvSpPr txBox="1">
                <a:spLocks noChangeArrowheads="1"/>
              </p:cNvSpPr>
              <p:nvPr/>
            </p:nvSpPr>
            <p:spPr bwMode="auto">
              <a:xfrm>
                <a:off x="360" y="0"/>
                <a:ext cx="54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zh-CN" altLang="en-US" sz="1600" dirty="0" smtClean="0">
                    <a:solidFill>
                      <a:srgbClr val="000000"/>
                    </a:solidFill>
                  </a:rPr>
                  <a:t>应用程序</a:t>
                </a:r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5" name="Text Box 10"/>
              <p:cNvSpPr txBox="1">
                <a:spLocks noChangeArrowheads="1"/>
              </p:cNvSpPr>
              <p:nvPr/>
            </p:nvSpPr>
            <p:spPr bwMode="auto">
              <a:xfrm>
                <a:off x="360" y="780"/>
                <a:ext cx="54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zh-CN" altLang="en-US" sz="1600" dirty="0">
                    <a:solidFill>
                      <a:srgbClr val="000000"/>
                    </a:solidFill>
                  </a:rPr>
                  <a:t>设备管理</a:t>
                </a:r>
              </a:p>
            </p:txBody>
          </p:sp>
          <p:sp>
            <p:nvSpPr>
              <p:cNvPr id="7176" name="Text Box 11"/>
              <p:cNvSpPr txBox="1">
                <a:spLocks noChangeArrowheads="1"/>
              </p:cNvSpPr>
              <p:nvPr/>
            </p:nvSpPr>
            <p:spPr bwMode="auto">
              <a:xfrm>
                <a:off x="177" y="1697"/>
                <a:ext cx="1443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rIns="0"/>
              <a:lstStyle/>
              <a:p>
                <a:pPr algn="ctr"/>
                <a:r>
                  <a:rPr lang="zh-CN" altLang="en-US" sz="1600" dirty="0">
                    <a:solidFill>
                      <a:srgbClr val="000000"/>
                    </a:solidFill>
                  </a:rPr>
                  <a:t>网络</a:t>
                </a:r>
                <a:r>
                  <a:rPr lang="zh-CN" altLang="en-US" sz="1600" dirty="0" smtClean="0">
                    <a:solidFill>
                      <a:srgbClr val="000000"/>
                    </a:solidFill>
                  </a:rPr>
                  <a:t>驱动程序</a:t>
                </a:r>
                <a:endParaRPr lang="zh-CN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7" name="Text Box 12"/>
              <p:cNvSpPr txBox="1">
                <a:spLocks noChangeArrowheads="1"/>
              </p:cNvSpPr>
              <p:nvPr/>
            </p:nvSpPr>
            <p:spPr bwMode="auto">
              <a:xfrm>
                <a:off x="1758" y="1697"/>
                <a:ext cx="1533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rIns="0"/>
              <a:lstStyle/>
              <a:p>
                <a:pPr algn="ctr"/>
                <a:r>
                  <a:rPr lang="zh-CN" altLang="en-US" sz="1600" dirty="0" smtClean="0">
                    <a:solidFill>
                      <a:srgbClr val="000000"/>
                    </a:solidFill>
                  </a:rPr>
                  <a:t>串口驱动程序</a:t>
                </a:r>
                <a:endParaRPr lang="zh-CN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8" name="Text Box 13"/>
              <p:cNvSpPr txBox="1">
                <a:spLocks noChangeArrowheads="1"/>
              </p:cNvSpPr>
              <p:nvPr/>
            </p:nvSpPr>
            <p:spPr bwMode="auto">
              <a:xfrm>
                <a:off x="3420" y="1697"/>
                <a:ext cx="162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rIns="0"/>
              <a:lstStyle/>
              <a:p>
                <a:pPr algn="ctr"/>
                <a:r>
                  <a:rPr lang="zh-CN" altLang="en-US" sz="1600" dirty="0" smtClean="0">
                    <a:solidFill>
                      <a:srgbClr val="000000"/>
                    </a:solidFill>
                  </a:rPr>
                  <a:t>块设备驱动程序</a:t>
                </a:r>
                <a:endParaRPr lang="zh-CN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9" name="Text Box 14"/>
              <p:cNvSpPr txBox="1">
                <a:spLocks noChangeArrowheads="1"/>
              </p:cNvSpPr>
              <p:nvPr/>
            </p:nvSpPr>
            <p:spPr bwMode="auto">
              <a:xfrm>
                <a:off x="1080" y="2942"/>
                <a:ext cx="198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rIns="0"/>
              <a:lstStyle/>
              <a:p>
                <a:pPr algn="ctr"/>
                <a:r>
                  <a:rPr lang="zh-CN" altLang="en-US" sz="1600" dirty="0">
                    <a:solidFill>
                      <a:srgbClr val="000000"/>
                    </a:solidFill>
                  </a:rPr>
                  <a:t>串口卡</a:t>
                </a:r>
                <a:r>
                  <a:rPr lang="en-US" sz="1600" dirty="0">
                    <a:solidFill>
                      <a:srgbClr val="000000"/>
                    </a:solidFill>
                  </a:rPr>
                  <a:t>A </a:t>
                </a:r>
                <a:r>
                  <a:rPr lang="zh-CN" altLang="en-US" sz="1600" dirty="0">
                    <a:solidFill>
                      <a:srgbClr val="000000"/>
                    </a:solidFill>
                  </a:rPr>
                  <a:t>硬件抽象</a:t>
                </a:r>
              </a:p>
            </p:txBody>
          </p:sp>
          <p:sp>
            <p:nvSpPr>
              <p:cNvPr id="7180" name="Text Box 15"/>
              <p:cNvSpPr txBox="1">
                <a:spLocks noChangeArrowheads="1"/>
              </p:cNvSpPr>
              <p:nvPr/>
            </p:nvSpPr>
            <p:spPr bwMode="auto">
              <a:xfrm>
                <a:off x="3240" y="2942"/>
                <a:ext cx="198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rIns="0"/>
              <a:lstStyle/>
              <a:p>
                <a:pPr algn="ctr"/>
                <a:r>
                  <a:rPr lang="zh-CN" altLang="en-US" sz="1600">
                    <a:solidFill>
                      <a:srgbClr val="000000"/>
                    </a:solidFill>
                  </a:rPr>
                  <a:t>串口卡</a:t>
                </a:r>
                <a:r>
                  <a:rPr lang="en-US" sz="1600">
                    <a:solidFill>
                      <a:srgbClr val="000000"/>
                    </a:solidFill>
                  </a:rPr>
                  <a:t>B </a:t>
                </a:r>
                <a:r>
                  <a:rPr lang="zh-CN" altLang="en-US" sz="1600">
                    <a:solidFill>
                      <a:srgbClr val="000000"/>
                    </a:solidFill>
                  </a:rPr>
                  <a:t>硬件抽象</a:t>
                </a:r>
              </a:p>
            </p:txBody>
          </p:sp>
          <p:sp>
            <p:nvSpPr>
              <p:cNvPr id="7181" name="Text Box 16"/>
              <p:cNvSpPr txBox="1">
                <a:spLocks noChangeArrowheads="1"/>
              </p:cNvSpPr>
              <p:nvPr/>
            </p:nvSpPr>
            <p:spPr bwMode="auto">
              <a:xfrm>
                <a:off x="18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串口</a:t>
                </a:r>
                <a:r>
                  <a:rPr lang="en-US" sz="160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7182" name="Text Box 17"/>
              <p:cNvSpPr txBox="1">
                <a:spLocks noChangeArrowheads="1"/>
              </p:cNvSpPr>
              <p:nvPr/>
            </p:nvSpPr>
            <p:spPr bwMode="auto">
              <a:xfrm>
                <a:off x="126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串口</a:t>
                </a:r>
                <a:r>
                  <a:rPr lang="en-US" sz="160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7183" name="Text Box 18"/>
              <p:cNvSpPr txBox="1">
                <a:spLocks noChangeArrowheads="1"/>
              </p:cNvSpPr>
              <p:nvPr/>
            </p:nvSpPr>
            <p:spPr bwMode="auto">
              <a:xfrm>
                <a:off x="342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串口</a:t>
                </a:r>
                <a:r>
                  <a:rPr lang="en-US" sz="160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7184" name="Text Box 19"/>
              <p:cNvSpPr txBox="1">
                <a:spLocks noChangeArrowheads="1"/>
              </p:cNvSpPr>
              <p:nvPr/>
            </p:nvSpPr>
            <p:spPr bwMode="auto">
              <a:xfrm>
                <a:off x="558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串口</a:t>
                </a:r>
                <a:r>
                  <a:rPr lang="en-US" sz="160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7185" name="Text Box 20"/>
              <p:cNvSpPr txBox="1">
                <a:spLocks noChangeArrowheads="1"/>
              </p:cNvSpPr>
              <p:nvPr/>
            </p:nvSpPr>
            <p:spPr bwMode="auto">
              <a:xfrm>
                <a:off x="234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串口</a:t>
                </a:r>
                <a:r>
                  <a:rPr lang="en-US" sz="160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7186" name="Text Box 21"/>
              <p:cNvSpPr txBox="1">
                <a:spLocks noChangeArrowheads="1"/>
              </p:cNvSpPr>
              <p:nvPr/>
            </p:nvSpPr>
            <p:spPr bwMode="auto">
              <a:xfrm>
                <a:off x="450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串口</a:t>
                </a:r>
                <a:r>
                  <a:rPr lang="en-US" sz="160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7187" name="Line 22"/>
              <p:cNvSpPr>
                <a:spLocks noChangeShapeType="1"/>
              </p:cNvSpPr>
              <p:nvPr/>
            </p:nvSpPr>
            <p:spPr bwMode="auto">
              <a:xfrm flipH="1">
                <a:off x="1080" y="1226"/>
                <a:ext cx="2340" cy="46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8" name="Line 23"/>
              <p:cNvSpPr>
                <a:spLocks noChangeShapeType="1"/>
              </p:cNvSpPr>
              <p:nvPr/>
            </p:nvSpPr>
            <p:spPr bwMode="auto">
              <a:xfrm flipH="1">
                <a:off x="2700" y="1226"/>
                <a:ext cx="720" cy="46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9" name="Line 24"/>
              <p:cNvSpPr>
                <a:spLocks noChangeShapeType="1"/>
              </p:cNvSpPr>
              <p:nvPr/>
            </p:nvSpPr>
            <p:spPr bwMode="auto">
              <a:xfrm>
                <a:off x="3420" y="1226"/>
                <a:ext cx="720" cy="46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0" name="Line 25"/>
              <p:cNvSpPr>
                <a:spLocks noChangeShapeType="1"/>
              </p:cNvSpPr>
              <p:nvPr/>
            </p:nvSpPr>
            <p:spPr bwMode="auto">
              <a:xfrm flipH="1">
                <a:off x="360" y="2162"/>
                <a:ext cx="540" cy="936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1" name="Line 26"/>
              <p:cNvSpPr>
                <a:spLocks noChangeShapeType="1"/>
              </p:cNvSpPr>
              <p:nvPr/>
            </p:nvSpPr>
            <p:spPr bwMode="auto">
              <a:xfrm flipH="1">
                <a:off x="1980" y="2162"/>
                <a:ext cx="540" cy="78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2" name="Line 27"/>
              <p:cNvSpPr>
                <a:spLocks noChangeShapeType="1"/>
              </p:cNvSpPr>
              <p:nvPr/>
            </p:nvSpPr>
            <p:spPr bwMode="auto">
              <a:xfrm>
                <a:off x="2520" y="2162"/>
                <a:ext cx="1440" cy="78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3" name="Line 28"/>
              <p:cNvSpPr>
                <a:spLocks noChangeShapeType="1"/>
              </p:cNvSpPr>
              <p:nvPr/>
            </p:nvSpPr>
            <p:spPr bwMode="auto">
              <a:xfrm flipH="1">
                <a:off x="720" y="3410"/>
                <a:ext cx="1260" cy="62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4" name="Line 29"/>
              <p:cNvSpPr>
                <a:spLocks noChangeShapeType="1"/>
              </p:cNvSpPr>
              <p:nvPr/>
            </p:nvSpPr>
            <p:spPr bwMode="auto">
              <a:xfrm flipH="1">
                <a:off x="1800" y="3410"/>
                <a:ext cx="180" cy="62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5" name="Line 30"/>
              <p:cNvSpPr>
                <a:spLocks noChangeShapeType="1"/>
              </p:cNvSpPr>
              <p:nvPr/>
            </p:nvSpPr>
            <p:spPr bwMode="auto">
              <a:xfrm>
                <a:off x="1980" y="3410"/>
                <a:ext cx="720" cy="62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6" name="Line 31"/>
              <p:cNvSpPr>
                <a:spLocks noChangeShapeType="1"/>
              </p:cNvSpPr>
              <p:nvPr/>
            </p:nvSpPr>
            <p:spPr bwMode="auto">
              <a:xfrm>
                <a:off x="1980" y="3410"/>
                <a:ext cx="1620" cy="62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7" name="Line 32"/>
              <p:cNvSpPr>
                <a:spLocks noChangeShapeType="1"/>
              </p:cNvSpPr>
              <p:nvPr/>
            </p:nvSpPr>
            <p:spPr bwMode="auto">
              <a:xfrm>
                <a:off x="4500" y="3410"/>
                <a:ext cx="360" cy="62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8" name="Line 33"/>
              <p:cNvSpPr>
                <a:spLocks noChangeShapeType="1"/>
              </p:cNvSpPr>
              <p:nvPr/>
            </p:nvSpPr>
            <p:spPr bwMode="auto">
              <a:xfrm>
                <a:off x="4500" y="3410"/>
                <a:ext cx="1260" cy="62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9" name="Line 34"/>
              <p:cNvSpPr>
                <a:spLocks noChangeShapeType="1"/>
              </p:cNvSpPr>
              <p:nvPr/>
            </p:nvSpPr>
            <p:spPr bwMode="auto">
              <a:xfrm>
                <a:off x="3420" y="1226"/>
                <a:ext cx="1893" cy="52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0" name="Text Box 35"/>
              <p:cNvSpPr txBox="1">
                <a:spLocks noChangeArrowheads="1"/>
              </p:cNvSpPr>
              <p:nvPr/>
            </p:nvSpPr>
            <p:spPr bwMode="auto">
              <a:xfrm>
                <a:off x="5043" y="1800"/>
                <a:ext cx="720" cy="312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/>
                <a:r>
                  <a:rPr lang="en-US" sz="1600">
                    <a:solidFill>
                      <a:srgbClr val="000000"/>
                    </a:solidFill>
                  </a:rPr>
                  <a:t>……</a:t>
                </a:r>
              </a:p>
            </p:txBody>
          </p:sp>
          <p:sp>
            <p:nvSpPr>
              <p:cNvPr id="7201" name="Line 36"/>
              <p:cNvSpPr>
                <a:spLocks noChangeShapeType="1"/>
              </p:cNvSpPr>
              <p:nvPr/>
            </p:nvSpPr>
            <p:spPr bwMode="auto">
              <a:xfrm>
                <a:off x="4140" y="2162"/>
                <a:ext cx="1440" cy="78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2" name="Text Box 37"/>
              <p:cNvSpPr txBox="1">
                <a:spLocks noChangeArrowheads="1"/>
              </p:cNvSpPr>
              <p:nvPr/>
            </p:nvSpPr>
            <p:spPr bwMode="auto">
              <a:xfrm>
                <a:off x="5400" y="2964"/>
                <a:ext cx="720" cy="312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>
                    <a:solidFill>
                      <a:srgbClr val="000000"/>
                    </a:solidFill>
                  </a:rPr>
                  <a:t>……</a:t>
                </a:r>
              </a:p>
            </p:txBody>
          </p:sp>
          <p:sp>
            <p:nvSpPr>
              <p:cNvPr id="7203" name="Text Box 38"/>
              <p:cNvSpPr txBox="1">
                <a:spLocks noChangeArrowheads="1"/>
              </p:cNvSpPr>
              <p:nvPr/>
            </p:nvSpPr>
            <p:spPr bwMode="auto">
              <a:xfrm>
                <a:off x="0" y="3098"/>
                <a:ext cx="720" cy="312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>
                    <a:solidFill>
                      <a:srgbClr val="000000"/>
                    </a:solidFill>
                  </a:rPr>
                  <a:t>……</a:t>
                </a:r>
              </a:p>
            </p:txBody>
          </p:sp>
          <p:sp>
            <p:nvSpPr>
              <p:cNvPr id="7204" name="Line 39"/>
              <p:cNvSpPr>
                <a:spLocks noChangeShapeType="1"/>
              </p:cNvSpPr>
              <p:nvPr/>
            </p:nvSpPr>
            <p:spPr bwMode="auto">
              <a:xfrm>
                <a:off x="0" y="1439"/>
                <a:ext cx="7740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5" name="Line 40"/>
              <p:cNvSpPr>
                <a:spLocks noChangeShapeType="1"/>
              </p:cNvSpPr>
              <p:nvPr/>
            </p:nvSpPr>
            <p:spPr bwMode="auto">
              <a:xfrm>
                <a:off x="0" y="2687"/>
                <a:ext cx="7740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6" name="Line 41"/>
              <p:cNvSpPr>
                <a:spLocks noChangeShapeType="1"/>
              </p:cNvSpPr>
              <p:nvPr/>
            </p:nvSpPr>
            <p:spPr bwMode="auto">
              <a:xfrm>
                <a:off x="0" y="3623"/>
                <a:ext cx="7740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7" name="Line 42"/>
              <p:cNvSpPr>
                <a:spLocks noChangeShapeType="1"/>
              </p:cNvSpPr>
              <p:nvPr/>
            </p:nvSpPr>
            <p:spPr bwMode="auto">
              <a:xfrm>
                <a:off x="0" y="4680"/>
                <a:ext cx="7740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8" name="Text Box 43"/>
              <p:cNvSpPr txBox="1">
                <a:spLocks noChangeArrowheads="1"/>
              </p:cNvSpPr>
              <p:nvPr/>
            </p:nvSpPr>
            <p:spPr bwMode="auto">
              <a:xfrm>
                <a:off x="6120" y="1716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dirty="0" smtClean="0">
                    <a:solidFill>
                      <a:srgbClr val="000000"/>
                    </a:solidFill>
                  </a:rPr>
                  <a:t>设备驱动层</a:t>
                </a:r>
                <a:endParaRPr lang="zh-CN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09" name="Text Box 44"/>
              <p:cNvSpPr txBox="1">
                <a:spLocks noChangeArrowheads="1"/>
              </p:cNvSpPr>
              <p:nvPr/>
            </p:nvSpPr>
            <p:spPr bwMode="auto">
              <a:xfrm>
                <a:off x="5940" y="2865"/>
                <a:ext cx="1781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dirty="0">
                    <a:solidFill>
                      <a:srgbClr val="000000"/>
                    </a:solidFill>
                  </a:rPr>
                  <a:t>硬件抽象</a:t>
                </a:r>
                <a:r>
                  <a:rPr lang="zh-CN" altLang="en-US" sz="1600" dirty="0" smtClean="0">
                    <a:solidFill>
                      <a:srgbClr val="000000"/>
                    </a:solidFill>
                  </a:rPr>
                  <a:t>层</a:t>
                </a:r>
                <a:endParaRPr lang="en-US" altLang="zh-CN" sz="1600" dirty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10" name="Text Box 45"/>
              <p:cNvSpPr txBox="1">
                <a:spLocks noChangeArrowheads="1"/>
              </p:cNvSpPr>
              <p:nvPr/>
            </p:nvSpPr>
            <p:spPr bwMode="auto">
              <a:xfrm>
                <a:off x="6660" y="4034"/>
                <a:ext cx="90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>
                    <a:solidFill>
                      <a:srgbClr val="000000"/>
                    </a:solidFill>
                  </a:rPr>
                  <a:t>设备</a:t>
                </a:r>
              </a:p>
            </p:txBody>
          </p:sp>
          <p:sp>
            <p:nvSpPr>
              <p:cNvPr id="7211" name="Line 46"/>
              <p:cNvSpPr>
                <a:spLocks noChangeShapeType="1"/>
              </p:cNvSpPr>
              <p:nvPr/>
            </p:nvSpPr>
            <p:spPr bwMode="auto">
              <a:xfrm>
                <a:off x="0" y="624"/>
                <a:ext cx="7740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2" name="Text Box 47"/>
              <p:cNvSpPr txBox="1">
                <a:spLocks noChangeArrowheads="1"/>
              </p:cNvSpPr>
              <p:nvPr/>
            </p:nvSpPr>
            <p:spPr bwMode="auto">
              <a:xfrm>
                <a:off x="5940" y="735"/>
                <a:ext cx="198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dirty="0">
                    <a:solidFill>
                      <a:srgbClr val="000000"/>
                    </a:solidFill>
                  </a:rPr>
                  <a:t>设备管理</a:t>
                </a:r>
                <a:r>
                  <a:rPr lang="zh-CN" altLang="en-US" sz="1600" dirty="0" smtClean="0">
                    <a:solidFill>
                      <a:srgbClr val="000000"/>
                    </a:solidFill>
                  </a:rPr>
                  <a:t>层</a:t>
                </a:r>
                <a:endParaRPr lang="zh-CN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13" name="Text Box 48"/>
              <p:cNvSpPr txBox="1">
                <a:spLocks noChangeArrowheads="1"/>
              </p:cNvSpPr>
              <p:nvPr/>
            </p:nvSpPr>
            <p:spPr bwMode="auto">
              <a:xfrm>
                <a:off x="6120" y="0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dirty="0" smtClean="0">
                    <a:solidFill>
                      <a:srgbClr val="000000"/>
                    </a:solidFill>
                  </a:rPr>
                  <a:t>用户层软件</a:t>
                </a:r>
                <a:endParaRPr lang="zh-CN" altLang="en-US" sz="160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4" name="线形标注 2 3"/>
          <p:cNvSpPr/>
          <p:nvPr/>
        </p:nvSpPr>
        <p:spPr bwMode="auto">
          <a:xfrm>
            <a:off x="7170688" y="3655283"/>
            <a:ext cx="1889546" cy="140867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8235"/>
              <a:gd name="adj6" fmla="val -361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每个硬件可能有多个端口（设备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），该层为这些</a:t>
            </a:r>
            <a:r>
              <a:rPr lang="zh-CN" altLang="en-US" sz="1400" b="1" dirty="0">
                <a:solidFill>
                  <a:srgbClr val="FF0000"/>
                </a:solidFill>
              </a:rPr>
              <a:t>端口（设备）操作的基本抽象，为驱动程序管理这些设备提供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接口。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5" name="线形标注 2 4"/>
          <p:cNvSpPr/>
          <p:nvPr/>
        </p:nvSpPr>
        <p:spPr bwMode="auto">
          <a:xfrm>
            <a:off x="7168182" y="1171220"/>
            <a:ext cx="1798970" cy="83259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508"/>
              <a:gd name="adj6" fmla="val -543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管理系统中的设备，并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向上</a:t>
            </a:r>
            <a:r>
              <a:rPr lang="zh-CN" altLang="en-US" sz="1600" b="1" dirty="0">
                <a:solidFill>
                  <a:srgbClr val="FF0000"/>
                </a:solidFill>
              </a:rPr>
              <a:t>提供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统一</a:t>
            </a:r>
            <a:r>
              <a:rPr lang="zh-CN" altLang="en-US" sz="1600" b="1" dirty="0">
                <a:solidFill>
                  <a:srgbClr val="FF0000"/>
                </a:solidFill>
              </a:rPr>
              <a:t>的接口。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线形标注 2 5"/>
          <p:cNvSpPr/>
          <p:nvPr/>
        </p:nvSpPr>
        <p:spPr bwMode="auto">
          <a:xfrm>
            <a:off x="7168181" y="2276872"/>
            <a:ext cx="1798970" cy="10801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7913"/>
              <a:gd name="adj6" fmla="val -4093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用于具体实现系统对设备发出的操作指令，驱动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I/O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设备工作。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1680" y="332656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设备相关软件的层次关系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7084" y="1289842"/>
            <a:ext cx="6818050" cy="3758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应 用 程 序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6218" y="1930512"/>
            <a:ext cx="824143" cy="511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文件系统</a:t>
            </a:r>
          </a:p>
        </p:txBody>
      </p:sp>
      <p:sp>
        <p:nvSpPr>
          <p:cNvPr id="7" name="矩形 6"/>
          <p:cNvSpPr/>
          <p:nvPr/>
        </p:nvSpPr>
        <p:spPr>
          <a:xfrm>
            <a:off x="1559651" y="1930511"/>
            <a:ext cx="824143" cy="511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虚拟</a:t>
            </a:r>
            <a:r>
              <a:rPr lang="zh-CN" altLang="en-US" sz="1200" dirty="0" smtClean="0">
                <a:solidFill>
                  <a:schemeClr val="tx1"/>
                </a:solidFill>
              </a:rPr>
              <a:t>内存管理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2170" y="3328883"/>
            <a:ext cx="2364230" cy="3023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块设备管理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04806" y="3328883"/>
            <a:ext cx="2364230" cy="3023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流设备管理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25433" y="3328883"/>
            <a:ext cx="1142451" cy="3023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网络通信软件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9854" y="386237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CD-ROM</a:t>
            </a: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驱动程序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9855" y="4518492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CD-ROM</a:t>
            </a: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中断处理程序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9854" y="5312460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CD-ROM</a:t>
            </a: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控制程序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16549" y="386237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硬盘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驱动程序</a:t>
            </a:r>
          </a:p>
        </p:txBody>
      </p:sp>
      <p:sp>
        <p:nvSpPr>
          <p:cNvPr id="15" name="矩形 14"/>
          <p:cNvSpPr/>
          <p:nvPr/>
        </p:nvSpPr>
        <p:spPr>
          <a:xfrm>
            <a:off x="1516549" y="4518492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硬盘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中断处理程序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16549" y="530943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硬盘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控制器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04806" y="3866459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键盘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驱动</a:t>
            </a:r>
            <a:r>
              <a:rPr lang="zh-CN" altLang="en-US" sz="1200" dirty="0" smtClean="0">
                <a:solidFill>
                  <a:schemeClr val="tx1"/>
                </a:solidFill>
              </a:rPr>
              <a:t>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12169" y="386237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打印机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驱动程序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904805" y="4518492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键盘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中断处理程序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12169" y="4518492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打印机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中断处理程序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03421" y="530943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键盘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控制器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112169" y="530943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打印机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控制器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25433" y="386237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网络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驱动程序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25433" y="4518492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网络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中断处理程序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625433" y="5309434"/>
            <a:ext cx="1156867" cy="424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网络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控制器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34741" y="2718333"/>
            <a:ext cx="2449820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921176" y="2718333"/>
            <a:ext cx="2449820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557390" y="2716659"/>
            <a:ext cx="1627744" cy="47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815335" y="5966050"/>
            <a:ext cx="559294" cy="5592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/>
              <a:t>硬盘驱动器</a:t>
            </a:r>
            <a:endParaRPr lang="zh-CN" altLang="en-US" sz="800" dirty="0"/>
          </a:p>
        </p:txBody>
      </p:sp>
      <p:sp>
        <p:nvSpPr>
          <p:cNvPr id="30" name="椭圆 29"/>
          <p:cNvSpPr/>
          <p:nvPr/>
        </p:nvSpPr>
        <p:spPr>
          <a:xfrm>
            <a:off x="595579" y="5966050"/>
            <a:ext cx="559294" cy="5592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/>
              <a:t>光盘驱动器</a:t>
            </a:r>
            <a:endParaRPr lang="zh-CN" altLang="en-US" sz="800" dirty="0"/>
          </a:p>
        </p:txBody>
      </p:sp>
      <p:sp>
        <p:nvSpPr>
          <p:cNvPr id="31" name="椭圆 30"/>
          <p:cNvSpPr/>
          <p:nvPr/>
        </p:nvSpPr>
        <p:spPr>
          <a:xfrm>
            <a:off x="3202282" y="5966050"/>
            <a:ext cx="559294" cy="5592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/>
              <a:t>键盘驱动器</a:t>
            </a:r>
            <a:endParaRPr lang="zh-CN" altLang="en-US" sz="800" dirty="0"/>
          </a:p>
        </p:txBody>
      </p:sp>
      <p:sp>
        <p:nvSpPr>
          <p:cNvPr id="32" name="椭圆 31"/>
          <p:cNvSpPr/>
          <p:nvPr/>
        </p:nvSpPr>
        <p:spPr>
          <a:xfrm>
            <a:off x="4409569" y="5966050"/>
            <a:ext cx="559294" cy="5592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/>
              <a:t>打印机</a:t>
            </a:r>
            <a:endParaRPr lang="zh-CN" altLang="en-US" sz="800" dirty="0"/>
          </a:p>
        </p:txBody>
      </p:sp>
      <p:sp>
        <p:nvSpPr>
          <p:cNvPr id="33" name="椭圆 32"/>
          <p:cNvSpPr/>
          <p:nvPr/>
        </p:nvSpPr>
        <p:spPr>
          <a:xfrm>
            <a:off x="5924218" y="5966050"/>
            <a:ext cx="559294" cy="5592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/>
              <a:t>网络</a:t>
            </a:r>
            <a:endParaRPr lang="zh-CN" altLang="en-US" sz="800" dirty="0"/>
          </a:p>
        </p:txBody>
      </p:sp>
      <p:sp>
        <p:nvSpPr>
          <p:cNvPr id="34" name="矩形 33"/>
          <p:cNvSpPr/>
          <p:nvPr/>
        </p:nvSpPr>
        <p:spPr>
          <a:xfrm>
            <a:off x="299854" y="5125032"/>
            <a:ext cx="6885280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>
            <a:endCxn id="6" idx="0"/>
          </p:cNvCxnSpPr>
          <p:nvPr/>
        </p:nvCxnSpPr>
        <p:spPr>
          <a:xfrm>
            <a:off x="878287" y="1665732"/>
            <a:ext cx="3" cy="264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7" idx="0"/>
          </p:cNvCxnSpPr>
          <p:nvPr/>
        </p:nvCxnSpPr>
        <p:spPr>
          <a:xfrm>
            <a:off x="1971722" y="1665732"/>
            <a:ext cx="1" cy="26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6" idx="2"/>
          </p:cNvCxnSpPr>
          <p:nvPr/>
        </p:nvCxnSpPr>
        <p:spPr>
          <a:xfrm flipH="1">
            <a:off x="875226" y="2441615"/>
            <a:ext cx="3064" cy="27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7" idx="2"/>
          </p:cNvCxnSpPr>
          <p:nvPr/>
        </p:nvCxnSpPr>
        <p:spPr>
          <a:xfrm flipH="1">
            <a:off x="1971722" y="2441614"/>
            <a:ext cx="1" cy="282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endCxn id="8" idx="0"/>
          </p:cNvCxnSpPr>
          <p:nvPr/>
        </p:nvCxnSpPr>
        <p:spPr>
          <a:xfrm flipH="1">
            <a:off x="1484285" y="2765143"/>
            <a:ext cx="1385" cy="563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endCxn id="11" idx="0"/>
          </p:cNvCxnSpPr>
          <p:nvPr/>
        </p:nvCxnSpPr>
        <p:spPr>
          <a:xfrm>
            <a:off x="875226" y="3631224"/>
            <a:ext cx="3062" cy="23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endCxn id="14" idx="0"/>
          </p:cNvCxnSpPr>
          <p:nvPr/>
        </p:nvCxnSpPr>
        <p:spPr>
          <a:xfrm>
            <a:off x="2090180" y="3629998"/>
            <a:ext cx="4803" cy="232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endCxn id="12" idx="0"/>
          </p:cNvCxnSpPr>
          <p:nvPr/>
        </p:nvCxnSpPr>
        <p:spPr>
          <a:xfrm>
            <a:off x="875226" y="4284814"/>
            <a:ext cx="3063" cy="233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5" idx="0"/>
          </p:cNvCxnSpPr>
          <p:nvPr/>
        </p:nvCxnSpPr>
        <p:spPr>
          <a:xfrm>
            <a:off x="2090180" y="4291427"/>
            <a:ext cx="4803" cy="227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2" idx="2"/>
          </p:cNvCxnSpPr>
          <p:nvPr/>
        </p:nvCxnSpPr>
        <p:spPr>
          <a:xfrm>
            <a:off x="878289" y="4943460"/>
            <a:ext cx="0" cy="184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5" idx="2"/>
          </p:cNvCxnSpPr>
          <p:nvPr/>
        </p:nvCxnSpPr>
        <p:spPr>
          <a:xfrm flipH="1">
            <a:off x="2090180" y="4943460"/>
            <a:ext cx="4803" cy="184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13" idx="0"/>
          </p:cNvCxnSpPr>
          <p:nvPr/>
        </p:nvCxnSpPr>
        <p:spPr>
          <a:xfrm>
            <a:off x="875226" y="5169238"/>
            <a:ext cx="3062" cy="143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endCxn id="16" idx="0"/>
          </p:cNvCxnSpPr>
          <p:nvPr/>
        </p:nvCxnSpPr>
        <p:spPr>
          <a:xfrm>
            <a:off x="2090180" y="5169238"/>
            <a:ext cx="4803" cy="140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13" idx="2"/>
            <a:endCxn id="30" idx="0"/>
          </p:cNvCxnSpPr>
          <p:nvPr/>
        </p:nvCxnSpPr>
        <p:spPr>
          <a:xfrm flipH="1">
            <a:off x="875226" y="5737428"/>
            <a:ext cx="3062" cy="228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16" idx="2"/>
            <a:endCxn id="29" idx="0"/>
          </p:cNvCxnSpPr>
          <p:nvPr/>
        </p:nvCxnSpPr>
        <p:spPr>
          <a:xfrm flipH="1">
            <a:off x="2094982" y="5734402"/>
            <a:ext cx="1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21" idx="2"/>
            <a:endCxn id="31" idx="0"/>
          </p:cNvCxnSpPr>
          <p:nvPr/>
        </p:nvCxnSpPr>
        <p:spPr>
          <a:xfrm>
            <a:off x="3481855" y="5734402"/>
            <a:ext cx="74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22" idx="2"/>
            <a:endCxn id="32" idx="0"/>
          </p:cNvCxnSpPr>
          <p:nvPr/>
        </p:nvCxnSpPr>
        <p:spPr>
          <a:xfrm flipH="1">
            <a:off x="4689216" y="5734402"/>
            <a:ext cx="1387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21" idx="0"/>
          </p:cNvCxnSpPr>
          <p:nvPr/>
        </p:nvCxnSpPr>
        <p:spPr>
          <a:xfrm>
            <a:off x="3481854" y="5169238"/>
            <a:ext cx="1" cy="140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endCxn id="22" idx="0"/>
          </p:cNvCxnSpPr>
          <p:nvPr/>
        </p:nvCxnSpPr>
        <p:spPr>
          <a:xfrm>
            <a:off x="4690602" y="5169238"/>
            <a:ext cx="1" cy="140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3481854" y="4943460"/>
            <a:ext cx="2" cy="17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4690602" y="4939867"/>
            <a:ext cx="2" cy="182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17" idx="2"/>
            <a:endCxn id="19" idx="0"/>
          </p:cNvCxnSpPr>
          <p:nvPr/>
        </p:nvCxnSpPr>
        <p:spPr>
          <a:xfrm flipH="1">
            <a:off x="3483239" y="4291427"/>
            <a:ext cx="1" cy="227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18" idx="2"/>
            <a:endCxn id="20" idx="0"/>
          </p:cNvCxnSpPr>
          <p:nvPr/>
        </p:nvCxnSpPr>
        <p:spPr>
          <a:xfrm>
            <a:off x="4690603" y="4287342"/>
            <a:ext cx="0" cy="23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17" idx="0"/>
          </p:cNvCxnSpPr>
          <p:nvPr/>
        </p:nvCxnSpPr>
        <p:spPr>
          <a:xfrm>
            <a:off x="3481854" y="3629998"/>
            <a:ext cx="1386" cy="23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endCxn id="18" idx="0"/>
          </p:cNvCxnSpPr>
          <p:nvPr/>
        </p:nvCxnSpPr>
        <p:spPr>
          <a:xfrm>
            <a:off x="4689216" y="3625913"/>
            <a:ext cx="1387" cy="23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endCxn id="9" idx="0"/>
          </p:cNvCxnSpPr>
          <p:nvPr/>
        </p:nvCxnSpPr>
        <p:spPr>
          <a:xfrm>
            <a:off x="4086921" y="2762725"/>
            <a:ext cx="0" cy="566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4086921" y="1665732"/>
            <a:ext cx="0" cy="1049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2639121" y="1661071"/>
            <a:ext cx="0" cy="1049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6188059" y="1668289"/>
            <a:ext cx="0" cy="1050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endCxn id="10" idx="0"/>
          </p:cNvCxnSpPr>
          <p:nvPr/>
        </p:nvCxnSpPr>
        <p:spPr>
          <a:xfrm>
            <a:off x="6188059" y="2760361"/>
            <a:ext cx="8600" cy="568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10" idx="2"/>
            <a:endCxn id="23" idx="0"/>
          </p:cNvCxnSpPr>
          <p:nvPr/>
        </p:nvCxnSpPr>
        <p:spPr>
          <a:xfrm>
            <a:off x="6196659" y="3631224"/>
            <a:ext cx="7208" cy="23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23" idx="2"/>
            <a:endCxn id="24" idx="0"/>
          </p:cNvCxnSpPr>
          <p:nvPr/>
        </p:nvCxnSpPr>
        <p:spPr>
          <a:xfrm>
            <a:off x="6203867" y="4287342"/>
            <a:ext cx="0" cy="23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24" idx="2"/>
          </p:cNvCxnSpPr>
          <p:nvPr/>
        </p:nvCxnSpPr>
        <p:spPr>
          <a:xfrm flipH="1">
            <a:off x="6203866" y="4943460"/>
            <a:ext cx="1" cy="177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25" idx="0"/>
          </p:cNvCxnSpPr>
          <p:nvPr/>
        </p:nvCxnSpPr>
        <p:spPr>
          <a:xfrm>
            <a:off x="6203865" y="5169238"/>
            <a:ext cx="2" cy="140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5" idx="2"/>
            <a:endCxn id="33" idx="0"/>
          </p:cNvCxnSpPr>
          <p:nvPr/>
        </p:nvCxnSpPr>
        <p:spPr>
          <a:xfrm flipH="1">
            <a:off x="6203865" y="5734402"/>
            <a:ext cx="2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右大括号 69"/>
          <p:cNvSpPr/>
          <p:nvPr/>
        </p:nvSpPr>
        <p:spPr>
          <a:xfrm>
            <a:off x="7322591" y="1289840"/>
            <a:ext cx="117870" cy="37844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右大括号 70"/>
          <p:cNvSpPr/>
          <p:nvPr/>
        </p:nvSpPr>
        <p:spPr>
          <a:xfrm>
            <a:off x="7212640" y="2958024"/>
            <a:ext cx="117870" cy="66788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右大括号 71"/>
          <p:cNvSpPr/>
          <p:nvPr/>
        </p:nvSpPr>
        <p:spPr>
          <a:xfrm>
            <a:off x="7212640" y="3665255"/>
            <a:ext cx="117870" cy="66788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大括号 72"/>
          <p:cNvSpPr/>
          <p:nvPr/>
        </p:nvSpPr>
        <p:spPr>
          <a:xfrm>
            <a:off x="7212640" y="4376327"/>
            <a:ext cx="117870" cy="71053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右大括号 73"/>
          <p:cNvSpPr/>
          <p:nvPr/>
        </p:nvSpPr>
        <p:spPr>
          <a:xfrm>
            <a:off x="7212640" y="5166651"/>
            <a:ext cx="117870" cy="67506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7440461" y="132389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用户层软件</a:t>
            </a:r>
            <a:endParaRPr lang="zh-CN" altLang="en-US" sz="1400" dirty="0"/>
          </a:p>
        </p:txBody>
      </p:sp>
      <p:sp>
        <p:nvSpPr>
          <p:cNvPr id="76" name="文本框 75"/>
          <p:cNvSpPr txBox="1"/>
          <p:nvPr/>
        </p:nvSpPr>
        <p:spPr>
          <a:xfrm>
            <a:off x="7348811" y="2606472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I/O </a:t>
            </a:r>
            <a:r>
              <a:rPr lang="zh-CN" altLang="en-US" sz="1400" dirty="0" smtClean="0"/>
              <a:t>系统接口</a:t>
            </a:r>
            <a:endParaRPr lang="zh-CN" altLang="en-US" sz="1400" dirty="0"/>
          </a:p>
        </p:txBody>
      </p:sp>
      <p:sp>
        <p:nvSpPr>
          <p:cNvPr id="77" name="文本框 76"/>
          <p:cNvSpPr txBox="1"/>
          <p:nvPr/>
        </p:nvSpPr>
        <p:spPr>
          <a:xfrm>
            <a:off x="7347022" y="3030358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/>
              <a:t>设备独立性</a:t>
            </a:r>
            <a:endParaRPr lang="en-US" altLang="zh-CN" sz="1400" dirty="0" smtClean="0"/>
          </a:p>
          <a:p>
            <a:pPr algn="ctr"/>
            <a:r>
              <a:rPr lang="zh-CN" altLang="en-US" sz="1400" dirty="0"/>
              <a:t>软件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7342563" y="3845310"/>
            <a:ext cx="1261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设备驱动程序</a:t>
            </a:r>
            <a:endParaRPr lang="en-US" altLang="zh-CN" sz="1400" dirty="0" smtClean="0"/>
          </a:p>
        </p:txBody>
      </p:sp>
      <p:sp>
        <p:nvSpPr>
          <p:cNvPr id="79" name="文本框 78"/>
          <p:cNvSpPr txBox="1"/>
          <p:nvPr/>
        </p:nvSpPr>
        <p:spPr>
          <a:xfrm>
            <a:off x="7342563" y="4577087"/>
            <a:ext cx="1261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中断处理程序</a:t>
            </a:r>
            <a:endParaRPr lang="en-US" altLang="zh-CN" sz="1400" dirty="0" smtClean="0"/>
          </a:p>
        </p:txBody>
      </p:sp>
      <p:sp>
        <p:nvSpPr>
          <p:cNvPr id="80" name="文本框 79"/>
          <p:cNvSpPr txBox="1"/>
          <p:nvPr/>
        </p:nvSpPr>
        <p:spPr>
          <a:xfrm>
            <a:off x="7367807" y="4994002"/>
            <a:ext cx="1217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RW/HW </a:t>
            </a:r>
            <a:r>
              <a:rPr lang="zh-CN" altLang="en-US" sz="1400" dirty="0" smtClean="0"/>
              <a:t>接口</a:t>
            </a:r>
            <a:endParaRPr lang="en-US" altLang="zh-CN" sz="1400" dirty="0" smtClean="0"/>
          </a:p>
        </p:txBody>
      </p:sp>
      <p:sp>
        <p:nvSpPr>
          <p:cNvPr id="81" name="文本框 80"/>
          <p:cNvSpPr txBox="1"/>
          <p:nvPr/>
        </p:nvSpPr>
        <p:spPr>
          <a:xfrm>
            <a:off x="7410265" y="535029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设备控制器</a:t>
            </a:r>
            <a:endParaRPr lang="en-US" altLang="zh-CN" sz="1400" dirty="0" smtClean="0"/>
          </a:p>
        </p:txBody>
      </p:sp>
      <p:sp>
        <p:nvSpPr>
          <p:cNvPr id="82" name="文本框 81"/>
          <p:cNvSpPr txBox="1"/>
          <p:nvPr/>
        </p:nvSpPr>
        <p:spPr>
          <a:xfrm>
            <a:off x="2589663" y="536580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3" name="文本框 82"/>
          <p:cNvSpPr txBox="1"/>
          <p:nvPr/>
        </p:nvSpPr>
        <p:spPr>
          <a:xfrm>
            <a:off x="2598906" y="451440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4" name="文本框 83"/>
          <p:cNvSpPr txBox="1"/>
          <p:nvPr/>
        </p:nvSpPr>
        <p:spPr>
          <a:xfrm>
            <a:off x="5226103" y="454630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5" name="文本框 84"/>
          <p:cNvSpPr txBox="1"/>
          <p:nvPr/>
        </p:nvSpPr>
        <p:spPr>
          <a:xfrm>
            <a:off x="5226103" y="536507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6" name="文本框 85"/>
          <p:cNvSpPr txBox="1"/>
          <p:nvPr/>
        </p:nvSpPr>
        <p:spPr>
          <a:xfrm>
            <a:off x="6732576" y="454488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6729547" y="536780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8" name="文本框 87"/>
          <p:cNvSpPr txBox="1"/>
          <p:nvPr/>
        </p:nvSpPr>
        <p:spPr>
          <a:xfrm>
            <a:off x="6729547" y="388876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5226940" y="388876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90" name="文本框 89"/>
          <p:cNvSpPr txBox="1"/>
          <p:nvPr/>
        </p:nvSpPr>
        <p:spPr>
          <a:xfrm>
            <a:off x="2601663" y="388996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91" name="文本框 90"/>
          <p:cNvSpPr txBox="1"/>
          <p:nvPr/>
        </p:nvSpPr>
        <p:spPr>
          <a:xfrm>
            <a:off x="242829" y="280098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块设备接口</a:t>
            </a:r>
            <a:endParaRPr lang="zh-CN" altLang="en-US" sz="1400" dirty="0"/>
          </a:p>
        </p:txBody>
      </p:sp>
      <p:sp>
        <p:nvSpPr>
          <p:cNvPr id="92" name="文本框 91"/>
          <p:cNvSpPr txBox="1"/>
          <p:nvPr/>
        </p:nvSpPr>
        <p:spPr>
          <a:xfrm>
            <a:off x="1493129" y="2785332"/>
            <a:ext cx="970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打开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关闭</a:t>
            </a:r>
            <a:endParaRPr lang="en-US" altLang="zh-CN" sz="1400" dirty="0" smtClean="0"/>
          </a:p>
          <a:p>
            <a:r>
              <a:rPr lang="zh-CN" altLang="en-US" sz="1400" dirty="0" smtClean="0"/>
              <a:t>读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写</a:t>
            </a:r>
            <a:endParaRPr lang="zh-CN" altLang="en-US" sz="1400" dirty="0"/>
          </a:p>
        </p:txBody>
      </p:sp>
      <p:sp>
        <p:nvSpPr>
          <p:cNvPr id="93" name="文本框 92"/>
          <p:cNvSpPr txBox="1"/>
          <p:nvPr/>
        </p:nvSpPr>
        <p:spPr>
          <a:xfrm>
            <a:off x="2835487" y="281327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流设备接口</a:t>
            </a:r>
            <a:endParaRPr lang="en-US" altLang="zh-CN" sz="1400" dirty="0" smtClean="0"/>
          </a:p>
        </p:txBody>
      </p:sp>
      <p:sp>
        <p:nvSpPr>
          <p:cNvPr id="94" name="文本框 93"/>
          <p:cNvSpPr txBox="1"/>
          <p:nvPr/>
        </p:nvSpPr>
        <p:spPr>
          <a:xfrm>
            <a:off x="4080784" y="2784004"/>
            <a:ext cx="745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打开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关闭</a:t>
            </a:r>
            <a:endParaRPr lang="en-US" altLang="zh-CN" sz="1000" dirty="0" smtClean="0"/>
          </a:p>
          <a:p>
            <a:r>
              <a:rPr lang="zh-CN" altLang="en-US" sz="1000" dirty="0" smtClean="0"/>
              <a:t>取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放</a:t>
            </a:r>
            <a:endParaRPr lang="en-US" altLang="zh-CN" sz="1000" dirty="0" smtClean="0"/>
          </a:p>
          <a:p>
            <a:r>
              <a:rPr lang="en-US" altLang="zh-CN" sz="1000" dirty="0" err="1" smtClean="0"/>
              <a:t>io_control</a:t>
            </a:r>
            <a:endParaRPr lang="en-US" altLang="zh-CN" sz="1000" dirty="0" smtClean="0"/>
          </a:p>
        </p:txBody>
      </p:sp>
      <p:sp>
        <p:nvSpPr>
          <p:cNvPr id="95" name="文本框 94"/>
          <p:cNvSpPr txBox="1"/>
          <p:nvPr/>
        </p:nvSpPr>
        <p:spPr>
          <a:xfrm>
            <a:off x="5431936" y="277672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网络</a:t>
            </a:r>
            <a:r>
              <a:rPr lang="zh-CN" altLang="en-US" sz="1200" dirty="0" smtClean="0"/>
              <a:t>接口</a:t>
            </a:r>
            <a:endParaRPr lang="en-US" altLang="zh-CN" sz="1200" dirty="0" smtClean="0"/>
          </a:p>
        </p:txBody>
      </p:sp>
      <p:sp>
        <p:nvSpPr>
          <p:cNvPr id="96" name="文本框 95"/>
          <p:cNvSpPr txBox="1"/>
          <p:nvPr/>
        </p:nvSpPr>
        <p:spPr>
          <a:xfrm>
            <a:off x="6203865" y="2775000"/>
            <a:ext cx="745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打开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关闭</a:t>
            </a:r>
            <a:endParaRPr lang="en-US" altLang="zh-CN" sz="1000" dirty="0" smtClean="0"/>
          </a:p>
          <a:p>
            <a:r>
              <a:rPr lang="zh-CN" altLang="en-US" sz="1000" dirty="0" smtClean="0"/>
              <a:t>读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写</a:t>
            </a:r>
            <a:endParaRPr lang="en-US" altLang="zh-CN" sz="1000" dirty="0" smtClean="0"/>
          </a:p>
          <a:p>
            <a:r>
              <a:rPr lang="zh-CN" altLang="en-US" sz="1000" dirty="0" smtClean="0"/>
              <a:t>发送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接收</a:t>
            </a:r>
            <a:endParaRPr lang="en-US" altLang="zh-CN" sz="1000" dirty="0" smtClean="0"/>
          </a:p>
        </p:txBody>
      </p:sp>
      <p:sp>
        <p:nvSpPr>
          <p:cNvPr id="97" name="文本框 96"/>
          <p:cNvSpPr txBox="1"/>
          <p:nvPr/>
        </p:nvSpPr>
        <p:spPr>
          <a:xfrm>
            <a:off x="7628661" y="60918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设备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1401935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71670" y="214290"/>
            <a:ext cx="4964821" cy="5876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lnSpc>
                <a:spcPct val="110000"/>
              </a:lnSpc>
            </a:pPr>
            <a:r>
              <a:rPr lang="en-US" sz="3200" b="1" dirty="0" smtClean="0">
                <a:solidFill>
                  <a:srgbClr val="C00000"/>
                </a:solidFill>
              </a:rPr>
              <a:t>I/O </a:t>
            </a:r>
            <a:r>
              <a:rPr lang="zh-CN" altLang="en-US" sz="3200" b="1" dirty="0" smtClean="0">
                <a:solidFill>
                  <a:srgbClr val="C00000"/>
                </a:solidFill>
              </a:rPr>
              <a:t>软件组织成四个层次：</a:t>
            </a:r>
            <a:endParaRPr lang="en-US" altLang="zh-CN" sz="3200" b="1" dirty="0" smtClean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2023577"/>
            <a:ext cx="3631223" cy="764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用户层软件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2788509"/>
            <a:ext cx="3631223" cy="764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设备独立性软件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3553441"/>
            <a:ext cx="3631223" cy="764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设备驱动程序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536" y="4318373"/>
            <a:ext cx="3631223" cy="764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中断处理程序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535" y="5083305"/>
            <a:ext cx="3631223" cy="764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硬件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41868" y="3735852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设置设备寄存器，检查寄存器状态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4741868" y="304712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映射、保护、分块、缓冲、分配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41868" y="2358388"/>
            <a:ext cx="4557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产生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请求（如读写硬盘，访问网络）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741868" y="5265716"/>
            <a:ext cx="1468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执行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操作</a:t>
            </a:r>
            <a:endParaRPr lang="zh-CN" altLang="en-US" sz="2000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62593" y="1830148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62593" y="2659556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65524" y="3471732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562593" y="4198209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62593" y="4978501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3833331" y="4819185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3833331" y="3999972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833331" y="3187796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3833331" y="2415952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3833331" y="1759457"/>
            <a:ext cx="0" cy="52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098995" y="1196752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I/O </a:t>
            </a:r>
            <a:r>
              <a:rPr lang="zh-CN" altLang="en-US" sz="2000" dirty="0" smtClean="0"/>
              <a:t>应答</a:t>
            </a:r>
            <a:endParaRPr lang="zh-CN" altLang="en-US" sz="20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79512" y="1215391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I/O </a:t>
            </a:r>
            <a:r>
              <a:rPr lang="zh-CN" altLang="en-US" sz="2000" dirty="0"/>
              <a:t>请求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500034" y="1142984"/>
            <a:ext cx="283282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folHlink"/>
                </a:solidFill>
                <a:latin typeface="Times New Roman" pitchFamily="18" charset="0"/>
              </a:rPr>
              <a:t>6.2.1</a:t>
            </a:r>
            <a:r>
              <a:rPr lang="en-US" sz="3200" b="1" dirty="0" smtClean="0">
                <a:solidFill>
                  <a:schemeClr val="folHlink"/>
                </a:solidFill>
                <a:latin typeface="Times New Roman" pitchFamily="18" charset="0"/>
              </a:rPr>
              <a:t>.  I/O</a:t>
            </a:r>
            <a:r>
              <a:rPr lang="zh-CN" altLang="en-US" sz="3200" b="1" dirty="0" smtClean="0">
                <a:solidFill>
                  <a:schemeClr val="folHlink"/>
                </a:solidFill>
                <a:latin typeface="Times New Roman" pitchFamily="18" charset="0"/>
              </a:rPr>
              <a:t>设备 </a:t>
            </a:r>
            <a:endParaRPr lang="zh-CN" altLang="en-US" sz="3200" b="1" dirty="0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285720" y="1917700"/>
            <a:ext cx="8532843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</a:rPr>
              <a:t>1.  I/O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设备的类型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       </a:t>
            </a:r>
          </a:p>
          <a:p>
            <a:pPr algn="just">
              <a:spcBef>
                <a:spcPct val="50000"/>
              </a:spcBef>
            </a:pPr>
            <a:r>
              <a:rPr lang="en-US" sz="2800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800" b="1" i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1) </a:t>
            </a:r>
            <a:r>
              <a:rPr lang="zh-CN" altLang="en-US" sz="2800" b="1" i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按传输速率</a:t>
            </a:r>
            <a:r>
              <a:rPr lang="zh-CN" altLang="en-US" sz="2800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分类</a:t>
            </a:r>
            <a:r>
              <a:rPr lang="zh-CN" altLang="en-US" sz="2400" b="1" dirty="0" smtClean="0">
                <a:latin typeface="Times New Roman" pitchFamily="18" charset="0"/>
              </a:rPr>
              <a:t>        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低速设备，</a:t>
            </a:r>
            <a:r>
              <a:rPr lang="zh-CN" altLang="en-US" sz="2400" b="1" dirty="0" smtClean="0">
                <a:latin typeface="Times New Roman" pitchFamily="18" charset="0"/>
              </a:rPr>
              <a:t>传输速率仅为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每秒钟几个字节至数百个字节</a:t>
            </a:r>
            <a:r>
              <a:rPr lang="zh-CN" altLang="en-US" sz="2400" b="1" dirty="0" smtClean="0">
                <a:latin typeface="Times New Roman" pitchFamily="18" charset="0"/>
              </a:rPr>
              <a:t>的一类设备。如键盘、 鼠标器、语音的输入和输出等设备。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中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速设备，</a:t>
            </a:r>
            <a:r>
              <a:rPr lang="zh-CN" altLang="en-US" sz="2400" b="1" dirty="0">
                <a:latin typeface="Times New Roman" pitchFamily="18" charset="0"/>
              </a:rPr>
              <a:t>传输速率在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每秒钟数千个字节至数万个字节</a:t>
            </a:r>
            <a:r>
              <a:rPr lang="zh-CN" altLang="en-US" sz="2400" b="1" dirty="0">
                <a:latin typeface="Times New Roman" pitchFamily="18" charset="0"/>
              </a:rPr>
              <a:t>的一类设备。典型的中速设备有行式打印机、激光打印机等。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高速设备</a:t>
            </a:r>
            <a:r>
              <a:rPr lang="zh-CN" altLang="en-US" sz="2400" b="1" dirty="0">
                <a:latin typeface="Times New Roman" pitchFamily="18" charset="0"/>
              </a:rPr>
              <a:t>， 传输速率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在数十兆字节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至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百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兆字节</a:t>
            </a:r>
            <a:r>
              <a:rPr lang="zh-CN" altLang="en-US" sz="2400" b="1" dirty="0">
                <a:latin typeface="Times New Roman" pitchFamily="18" charset="0"/>
              </a:rPr>
              <a:t>的一类设备。 典型的高速设备有硬盘、 光盘、</a:t>
            </a:r>
            <a:r>
              <a:rPr lang="en-US" sz="2400" b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盘、显示器等。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28662" y="214290"/>
            <a:ext cx="7489825" cy="738753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</p:spPr>
        <p:txBody>
          <a:bodyPr/>
          <a:lstStyle/>
          <a:p>
            <a:pPr lvl="0" algn="ctr"/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altLang="zh-CN" sz="44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6.2 </a:t>
            </a:r>
            <a:r>
              <a:rPr lang="en-US" sz="44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I/O</a:t>
            </a:r>
            <a:r>
              <a:rPr lang="zh-CN" altLang="en-US" sz="44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设备和设备控制器 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-5934" y="332656"/>
            <a:ext cx="9001000" cy="62642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b="1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2) </a:t>
            </a:r>
            <a:r>
              <a:rPr lang="zh-CN" altLang="en-US" b="1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按信息交换的单位</a:t>
            </a:r>
            <a:r>
              <a:rPr lang="zh-CN" altLang="en-US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分类</a:t>
            </a:r>
            <a:endParaRPr lang="en-US" altLang="zh-CN" b="1" i="1" u="sng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</a:pPr>
            <a:endParaRPr lang="zh-CN" altLang="en-US" b="1" i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b="1" u="sng" dirty="0">
                <a:solidFill>
                  <a:srgbClr val="FF0000"/>
                </a:solidFill>
              </a:rPr>
              <a:t>块</a:t>
            </a:r>
            <a:r>
              <a:rPr lang="zh-CN" altLang="en-US" b="1" u="sng" dirty="0" smtClean="0">
                <a:solidFill>
                  <a:srgbClr val="FF0000"/>
                </a:solidFill>
              </a:rPr>
              <a:t>设备，</a:t>
            </a:r>
            <a:r>
              <a:rPr lang="zh-CN" altLang="en-US" b="1" dirty="0" smtClean="0"/>
              <a:t>以</a:t>
            </a:r>
            <a:r>
              <a:rPr lang="zh-CN" altLang="en-US" b="1" dirty="0"/>
              <a:t>数据块为单位， 属于有结构设备</a:t>
            </a:r>
            <a:r>
              <a:rPr lang="zh-CN" altLang="en-US" b="1" dirty="0" smtClean="0"/>
              <a:t>。如磁盘</a:t>
            </a:r>
            <a:r>
              <a:rPr lang="zh-CN" altLang="en-US" b="1" dirty="0"/>
              <a:t>，每个盘块的大小为</a:t>
            </a:r>
            <a:r>
              <a:rPr lang="en-US" b="1" dirty="0"/>
              <a:t>512 B~4 KB</a:t>
            </a:r>
            <a:r>
              <a:rPr lang="zh-CN" altLang="en-US" b="1" dirty="0" smtClean="0"/>
              <a:t>。输</a:t>
            </a:r>
            <a:r>
              <a:rPr lang="zh-CN" altLang="en-US" b="1" dirty="0"/>
              <a:t>速率</a:t>
            </a:r>
            <a:r>
              <a:rPr lang="zh-CN" altLang="en-US" b="1" dirty="0" smtClean="0"/>
              <a:t>较高，</a:t>
            </a:r>
            <a:r>
              <a:rPr lang="en-US" altLang="zh-CN" b="1" i="1" u="sng" dirty="0" smtClean="0">
                <a:solidFill>
                  <a:srgbClr val="FF0000"/>
                </a:solidFill>
              </a:rPr>
              <a:t>DMA</a:t>
            </a:r>
            <a:r>
              <a:rPr lang="zh-CN" altLang="en-US" b="1" i="1" u="sng" dirty="0" smtClean="0">
                <a:solidFill>
                  <a:srgbClr val="FF0000"/>
                </a:solidFill>
              </a:rPr>
              <a:t>方式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 lvl="1" eaLnBrk="1" hangingPunct="1">
              <a:lnSpc>
                <a:spcPct val="110000"/>
              </a:lnSpc>
            </a:pPr>
            <a:endParaRPr lang="en-US" altLang="zh-CN" b="1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b="1" u="sng" dirty="0" smtClean="0">
                <a:solidFill>
                  <a:srgbClr val="FF0000"/>
                </a:solidFill>
              </a:rPr>
              <a:t>字符设备，</a:t>
            </a:r>
            <a:r>
              <a:rPr lang="zh-CN" altLang="en-US" b="1" dirty="0" smtClean="0"/>
              <a:t>以字符为单位， </a:t>
            </a:r>
            <a:r>
              <a:rPr lang="zh-CN" altLang="en-US" b="1" dirty="0"/>
              <a:t>如打印机、串口等。传输速度低</a:t>
            </a:r>
            <a:r>
              <a:rPr lang="zh-CN" altLang="en-US" b="1" dirty="0" smtClean="0"/>
              <a:t>，</a:t>
            </a:r>
            <a:r>
              <a:rPr lang="zh-CN" altLang="en-US" b="1" i="1" u="sng" dirty="0" smtClean="0">
                <a:solidFill>
                  <a:srgbClr val="FF0000"/>
                </a:solidFill>
              </a:rPr>
              <a:t>中断</a:t>
            </a:r>
            <a:r>
              <a:rPr lang="zh-CN" altLang="en-US" b="1" i="1" u="sng" dirty="0">
                <a:solidFill>
                  <a:srgbClr val="FF0000"/>
                </a:solidFill>
              </a:rPr>
              <a:t>驱动方式</a:t>
            </a:r>
            <a:r>
              <a:rPr lang="zh-CN" altLang="en-US" b="1" i="1" u="sng" dirty="0" smtClean="0">
                <a:solidFill>
                  <a:srgbClr val="FF0000"/>
                </a:solidFill>
              </a:rPr>
              <a:t>。</a:t>
            </a:r>
            <a:endParaRPr lang="en-US" altLang="zh-CN" b="1" i="1" u="sng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CN" b="1" i="1" u="sng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b="1" i="1" u="sng" dirty="0" smtClean="0">
                <a:solidFill>
                  <a:srgbClr val="FF0000"/>
                </a:solidFill>
              </a:rPr>
              <a:t>网络设备，</a:t>
            </a:r>
            <a:r>
              <a:rPr lang="zh-CN" altLang="en-US" b="1" dirty="0"/>
              <a:t>将计算机通过网络与网络上的其它计算机进行通信。传输速度快。</a:t>
            </a:r>
          </a:p>
          <a:p>
            <a:pPr eaLnBrk="1" hangingPunct="1">
              <a:lnSpc>
                <a:spcPct val="110000"/>
              </a:lnSpc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611188" y="981075"/>
            <a:ext cx="8077200" cy="4498975"/>
          </a:xfrm>
        </p:spPr>
        <p:txBody>
          <a:bodyPr/>
          <a:lstStyle/>
          <a:p>
            <a:pPr marL="609600" indent="-609600" eaLnBrk="1" hangingPunct="1"/>
            <a:r>
              <a:rPr lang="en-US" b="1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3) </a:t>
            </a:r>
            <a:r>
              <a:rPr lang="zh-CN" altLang="en-US" b="1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按设备的共享属性</a:t>
            </a:r>
            <a:r>
              <a:rPr lang="zh-CN" altLang="en-US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分类</a:t>
            </a:r>
            <a:endParaRPr lang="en-US" altLang="zh-CN" b="1" i="1" u="sng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609600" indent="-609600" eaLnBrk="1" hangingPunct="1"/>
            <a:endParaRPr lang="zh-CN" alt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609600" indent="-609600" eaLnBrk="1" hangingPunct="1"/>
            <a:r>
              <a:rPr lang="zh-CN" altLang="en-US" sz="2800" b="1" i="1" dirty="0">
                <a:solidFill>
                  <a:srgbClr val="FF0000"/>
                </a:solidFill>
                <a:sym typeface="Wingdings" pitchFamily="2" charset="2"/>
              </a:rPr>
              <a:t>（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1</a:t>
            </a:r>
            <a:r>
              <a:rPr lang="zh-CN" altLang="en-US" sz="2800" b="1" i="1" dirty="0">
                <a:solidFill>
                  <a:srgbClr val="FF0000"/>
                </a:solidFill>
                <a:sym typeface="Wingdings" pitchFamily="2" charset="2"/>
              </a:rPr>
              <a:t>）</a:t>
            </a:r>
            <a:r>
              <a:rPr lang="zh-CN" altLang="en-US" sz="2800" b="1" i="1" dirty="0">
                <a:solidFill>
                  <a:srgbClr val="FF0000"/>
                </a:solidFill>
              </a:rPr>
              <a:t>独占设备。</a:t>
            </a:r>
            <a:r>
              <a:rPr lang="zh-CN" altLang="en-US" sz="2800" b="1" dirty="0"/>
              <a:t>一段时间内仅允许一个进程访问的设备。 </a:t>
            </a:r>
          </a:p>
          <a:p>
            <a:pPr marL="609600" indent="-609600" eaLnBrk="1" hangingPunct="1"/>
            <a:r>
              <a:rPr lang="en-US" sz="2800" b="1" i="1" dirty="0">
                <a:solidFill>
                  <a:srgbClr val="FF0000"/>
                </a:solidFill>
              </a:rPr>
              <a:t>(2) </a:t>
            </a:r>
            <a:r>
              <a:rPr lang="zh-CN" altLang="en-US" sz="2800" b="1" i="1" dirty="0">
                <a:solidFill>
                  <a:srgbClr val="FF0000"/>
                </a:solidFill>
              </a:rPr>
              <a:t>共享设备。 </a:t>
            </a:r>
            <a:r>
              <a:rPr lang="zh-CN" altLang="en-US" sz="2800" b="1" dirty="0"/>
              <a:t>一段时间内允许多个进程同时访问的设备。</a:t>
            </a:r>
          </a:p>
          <a:p>
            <a:pPr marL="609600" indent="-609600" eaLnBrk="1" hangingPunct="1"/>
            <a:r>
              <a:rPr lang="en-US" sz="2800" b="1" i="1" dirty="0">
                <a:solidFill>
                  <a:srgbClr val="FF0000"/>
                </a:solidFill>
              </a:rPr>
              <a:t>(3) </a:t>
            </a:r>
            <a:r>
              <a:rPr lang="zh-CN" altLang="en-US" sz="2800" b="1" i="1" dirty="0">
                <a:solidFill>
                  <a:srgbClr val="FF0000"/>
                </a:solidFill>
              </a:rPr>
              <a:t>虚拟设备。</a:t>
            </a:r>
            <a:r>
              <a:rPr lang="zh-CN" altLang="en-US" sz="2800" b="1" dirty="0"/>
              <a:t>通过虚拟技术将一台独占设备变换为若干台逻辑设备，供若干个用户（进程）同时使用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188640"/>
            <a:ext cx="8540750" cy="662980"/>
          </a:xfrm>
        </p:spPr>
        <p:txBody>
          <a:bodyPr/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设备虚拟化技术简介</a:t>
            </a:r>
            <a:r>
              <a:rPr lang="en-US" altLang="zh-CN" sz="3200" dirty="0" smtClean="0">
                <a:solidFill>
                  <a:srgbClr val="FF0000"/>
                </a:solidFill>
              </a:rPr>
              <a:t>-</a:t>
            </a:r>
            <a:r>
              <a:rPr lang="en-US" altLang="zh-CN" sz="3200" dirty="0" err="1" smtClean="0">
                <a:solidFill>
                  <a:srgbClr val="FF0000"/>
                </a:solidFill>
              </a:rPr>
              <a:t>Xen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80" y="1484784"/>
            <a:ext cx="8001000" cy="501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267744" y="879103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                     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---</a:t>
            </a:r>
            <a:r>
              <a:rPr lang="zh-CN" altLang="en-US" sz="2400" dirty="0" smtClean="0">
                <a:solidFill>
                  <a:srgbClr val="FF0000"/>
                </a:solidFill>
              </a:rPr>
              <a:t>设备前后端方式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3689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线形标注 1 4"/>
          <p:cNvSpPr/>
          <p:nvPr/>
        </p:nvSpPr>
        <p:spPr bwMode="auto">
          <a:xfrm>
            <a:off x="5724128" y="1024186"/>
            <a:ext cx="2763514" cy="1008112"/>
          </a:xfrm>
          <a:prstGeom prst="borderCallout1">
            <a:avLst>
              <a:gd name="adj1" fmla="val 18750"/>
              <a:gd name="adj2" fmla="val -8333"/>
              <a:gd name="adj3" fmla="val 168797"/>
              <a:gd name="adj4" fmla="val -13471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KVM</a:t>
            </a:r>
            <a:r>
              <a:rPr lang="zh-CN" altLang="zh-CN" dirty="0" smtClean="0"/>
              <a:t>通过</a:t>
            </a:r>
            <a:r>
              <a:rPr lang="en-US" altLang="zh-CN" dirty="0" err="1" smtClean="0"/>
              <a:t>qemu</a:t>
            </a:r>
            <a:r>
              <a:rPr lang="zh-CN" altLang="en-US" dirty="0" smtClean="0"/>
              <a:t>实现对物理设备的模拟。使客户</a:t>
            </a:r>
            <a:r>
              <a:rPr lang="en-US" altLang="zh-CN" dirty="0" smtClean="0"/>
              <a:t>OS</a:t>
            </a:r>
            <a:r>
              <a:rPr lang="zh-CN" altLang="en-US" dirty="0" smtClean="0"/>
              <a:t>感觉自己独占某设备。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01625" y="188640"/>
            <a:ext cx="8540750" cy="662980"/>
          </a:xfrm>
        </p:spPr>
        <p:txBody>
          <a:bodyPr/>
          <a:lstStyle/>
          <a:p>
            <a:r>
              <a:rPr lang="zh-CN" altLang="en-US" sz="3200" dirty="0" smtClean="0"/>
              <a:t>设备虚拟化技术简介</a:t>
            </a:r>
            <a:r>
              <a:rPr lang="en-US" altLang="zh-CN" sz="3200" dirty="0" smtClean="0"/>
              <a:t>-KVM</a:t>
            </a:r>
            <a:endParaRPr lang="zh-CN" altLang="en-US" sz="3200" dirty="0"/>
          </a:p>
        </p:txBody>
      </p:sp>
      <p:pic>
        <p:nvPicPr>
          <p:cNvPr id="7" name="图片 4" descr="C:\Users\zhanghao\AppData\Roaming\Tencent\Users\550615122\QQ\WinTemp\RichOle\D19[OCKVPMVE{8(OO~DAD2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04864"/>
            <a:ext cx="7180127" cy="4135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597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683568" y="370723"/>
            <a:ext cx="51800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folHlink"/>
                </a:solidFill>
                <a:latin typeface="Times New Roman" pitchFamily="18" charset="0"/>
              </a:rPr>
              <a:t>2.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itchFamily="18" charset="0"/>
              </a:rPr>
              <a:t>设备与控制器之间的接口 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819400" y="5791200"/>
            <a:ext cx="3783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图  设备与控制器间的接口 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0" y="1268413"/>
            <a:ext cx="9144000" cy="44656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17" name="Object 6"/>
          <p:cNvGraphicFramePr>
            <a:graphicFrameLocks noChangeAspect="1"/>
          </p:cNvGraphicFramePr>
          <p:nvPr/>
        </p:nvGraphicFramePr>
        <p:xfrm>
          <a:off x="0" y="1916113"/>
          <a:ext cx="8991600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1" r:id="rId3" imgW="2872740" imgH="891540" progId="Visio.Drawing.11">
                  <p:embed/>
                </p:oleObj>
              </mc:Choice>
              <mc:Fallback>
                <p:oleObj r:id="rId3" imgW="2872740" imgH="89154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16113"/>
                        <a:ext cx="8991600" cy="27971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chemeClr val="folHlink"/>
                </a:solidFill>
              </a:rPr>
              <a:t>6</a:t>
            </a:r>
            <a:r>
              <a:rPr lang="en-US" b="1" dirty="0" smtClean="0">
                <a:solidFill>
                  <a:schemeClr val="folHlink"/>
                </a:solidFill>
              </a:rPr>
              <a:t>.</a:t>
            </a:r>
            <a:r>
              <a:rPr lang="en-US" altLang="zh-CN" b="1" dirty="0" smtClean="0">
                <a:solidFill>
                  <a:schemeClr val="folHlink"/>
                </a:solidFill>
              </a:rPr>
              <a:t>2</a:t>
            </a:r>
            <a:r>
              <a:rPr lang="en-US" b="1" dirty="0" smtClean="0">
                <a:solidFill>
                  <a:schemeClr val="folHlink"/>
                </a:solidFill>
              </a:rPr>
              <a:t>.2 </a:t>
            </a:r>
            <a:r>
              <a:rPr lang="zh-CN" altLang="en-US" b="1" dirty="0">
                <a:solidFill>
                  <a:schemeClr val="folHlink"/>
                </a:solidFill>
              </a:rPr>
              <a:t>设备控制器</a:t>
            </a:r>
          </a:p>
        </p:txBody>
      </p:sp>
      <p:sp>
        <p:nvSpPr>
          <p:cNvPr id="14339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b="1" i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I/O</a:t>
            </a:r>
            <a:r>
              <a:rPr lang="zh-CN" altLang="en-US" b="1" i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设备通常由两部分组成</a:t>
            </a:r>
            <a:r>
              <a:rPr lang="zh-CN" altLang="en-US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：</a:t>
            </a:r>
            <a:endParaRPr lang="en-US" altLang="zh-CN" b="1" i="1" u="sng" dirty="0" smtClean="0">
              <a:solidFill>
                <a:schemeClr val="tx2">
                  <a:lumMod val="60000"/>
                  <a:lumOff val="40000"/>
                </a:schemeClr>
              </a:solidFill>
              <a:latin typeface="宋体" pitchFamily="2" charset="-122"/>
            </a:endParaRPr>
          </a:p>
          <a:p>
            <a:pPr eaLnBrk="1" hangingPunct="1">
              <a:lnSpc>
                <a:spcPct val="110000"/>
              </a:lnSpc>
            </a:pPr>
            <a:endParaRPr lang="zh-CN" altLang="en-US" b="1" dirty="0">
              <a:latin typeface="宋体" pitchFamily="2" charset="-122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①由机械和电子线路执行部分，又称为输入或输出部件。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②控制机械和电子线路执行的控制部分，</a:t>
            </a:r>
            <a:r>
              <a:rPr lang="zh-CN" altLang="en-US" b="1" dirty="0">
                <a:solidFill>
                  <a:schemeClr val="folHlink"/>
                </a:solidFill>
                <a:latin typeface="宋体" pitchFamily="2" charset="-122"/>
              </a:rPr>
              <a:t>又称为控制器或称为适配器。</a:t>
            </a:r>
            <a:r>
              <a:rPr lang="zh-CN" altLang="en-US" b="1" dirty="0">
                <a:solidFill>
                  <a:schemeClr val="folHlink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414588" y="188640"/>
            <a:ext cx="428354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folHlink"/>
                </a:solidFill>
                <a:latin typeface="Times New Roman" pitchFamily="18" charset="0"/>
              </a:rPr>
              <a:t>6</a:t>
            </a:r>
            <a:r>
              <a:rPr lang="en-US" sz="4400" b="1" dirty="0" smtClean="0">
                <a:solidFill>
                  <a:schemeClr val="folHlink"/>
                </a:solidFill>
                <a:latin typeface="Times New Roman" pitchFamily="18" charset="0"/>
              </a:rPr>
              <a:t>.</a:t>
            </a:r>
            <a:r>
              <a:rPr lang="en-US" altLang="zh-CN" sz="4400" b="1" dirty="0" smtClean="0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lang="en-US" sz="4400" b="1" dirty="0" smtClean="0">
                <a:solidFill>
                  <a:schemeClr val="folHlink"/>
                </a:solidFill>
                <a:latin typeface="Times New Roman" pitchFamily="18" charset="0"/>
              </a:rPr>
              <a:t>.2 </a:t>
            </a:r>
            <a:r>
              <a:rPr lang="zh-CN" altLang="en-US" sz="4400" b="1" dirty="0">
                <a:solidFill>
                  <a:schemeClr val="folHlink"/>
                </a:solidFill>
                <a:latin typeface="Times New Roman" pitchFamily="18" charset="0"/>
              </a:rPr>
              <a:t>设备控制器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539552" y="1300122"/>
            <a:ext cx="48173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folHlink"/>
                </a:solidFill>
                <a:latin typeface="Times New Roman" pitchFamily="18" charset="0"/>
              </a:rPr>
              <a:t>1.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itchFamily="18" charset="0"/>
              </a:rPr>
              <a:t>设备控制器的基本功能 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95536" y="1988840"/>
            <a:ext cx="8572560" cy="4573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接收和识别命令 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: </a:t>
            </a:r>
            <a:r>
              <a:rPr lang="zh-CN" altLang="en-US" sz="2800" b="1" dirty="0" smtClean="0"/>
              <a:t>在控制器中的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控制寄存器</a:t>
            </a:r>
            <a:r>
              <a:rPr lang="zh-CN" altLang="en-US" sz="2800" b="1" dirty="0" smtClean="0"/>
              <a:t>，用来存放接收的命令和参数，并对所接收的命令翻译为读，写，格式化等命令。</a:t>
            </a:r>
            <a:endParaRPr lang="en-US" altLang="zh-CN" sz="2800" b="1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zh-CN" altLang="en-US" sz="2800" b="1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）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数据交换 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: </a:t>
            </a:r>
            <a:r>
              <a:rPr lang="zh-CN" altLang="en-US" sz="2800" b="1" dirty="0" smtClean="0"/>
              <a:t>这是指实现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与控制器之间、控制器与设备之间通过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数据寄存器</a:t>
            </a:r>
            <a:r>
              <a:rPr lang="zh-CN" altLang="en-US" sz="2800" b="1" dirty="0" smtClean="0"/>
              <a:t>进行数据交换。</a:t>
            </a:r>
            <a:endParaRPr lang="en-US" altLang="zh-CN" sz="2800" b="1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zh-CN" altLang="en-US" sz="2800" b="1" dirty="0" smtClean="0"/>
          </a:p>
          <a:p>
            <a:pPr eaLnBrk="1" hangingPunct="1"/>
            <a:r>
              <a:rPr lang="en-US" altLang="zh-CN" sz="2800" b="1" dirty="0" smtClean="0"/>
              <a:t> 3</a:t>
            </a:r>
            <a:r>
              <a:rPr lang="zh-CN" altLang="en-US" sz="2800" b="1" dirty="0" smtClean="0"/>
              <a:t>）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标识和报告设备的状态</a:t>
            </a:r>
            <a:r>
              <a:rPr lang="zh-CN" altLang="en-US" sz="2800" b="1" dirty="0" smtClean="0"/>
              <a:t> </a:t>
            </a:r>
            <a:endParaRPr lang="en-US" altLang="zh-CN" sz="2800" b="1" dirty="0" smtClean="0"/>
          </a:p>
          <a:p>
            <a:pPr eaLnBrk="1" hangingPunct="1"/>
            <a:r>
              <a:rPr lang="zh-CN" altLang="en-US" sz="2800" b="1" dirty="0" smtClean="0"/>
              <a:t>状态寄存器反映设备的状态。 </a:t>
            </a:r>
            <a:endParaRPr lang="zh-CN" altLang="en-US" sz="2800" b="1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928670"/>
            <a:ext cx="8540750" cy="4498975"/>
          </a:xfrm>
        </p:spPr>
        <p:txBody>
          <a:bodyPr/>
          <a:lstStyle/>
          <a:p>
            <a:pPr eaLnBrk="1" hangingPunct="1"/>
            <a:r>
              <a:rPr lang="en-US" altLang="zh-CN" b="1" dirty="0" smtClean="0"/>
              <a:t>4</a:t>
            </a:r>
            <a:r>
              <a:rPr lang="zh-CN" altLang="en-US" b="1" dirty="0" smtClean="0"/>
              <a:t>）</a:t>
            </a:r>
            <a:r>
              <a:rPr lang="zh-CN" altLang="en-US" b="1" dirty="0" smtClean="0">
                <a:solidFill>
                  <a:srgbClr val="0000FF"/>
                </a:solidFill>
              </a:rPr>
              <a:t>地址识别</a:t>
            </a:r>
            <a:r>
              <a:rPr lang="zh-CN" altLang="en-US" b="1" dirty="0" smtClean="0"/>
              <a:t>：够识别它所控制的每个设备的地址，控制器中设置地址译码器。</a:t>
            </a:r>
            <a:endParaRPr lang="en-US" altLang="zh-CN" b="1" dirty="0" smtClean="0"/>
          </a:p>
          <a:p>
            <a:pPr eaLnBrk="1" hangingPunct="1"/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 </a:t>
            </a:r>
            <a:r>
              <a:rPr lang="en-US" altLang="zh-CN" b="1" dirty="0" smtClean="0"/>
              <a:t>5</a:t>
            </a:r>
            <a:r>
              <a:rPr lang="zh-CN" altLang="en-US" b="1" dirty="0" smtClean="0"/>
              <a:t>）</a:t>
            </a:r>
            <a:r>
              <a:rPr lang="zh-CN" altLang="en-US" b="1" dirty="0" smtClean="0">
                <a:solidFill>
                  <a:srgbClr val="0000FF"/>
                </a:solidFill>
              </a:rPr>
              <a:t>数据缓冲</a:t>
            </a:r>
            <a:r>
              <a:rPr lang="zh-CN" altLang="en-US" b="1" dirty="0" smtClean="0"/>
              <a:t>：由于</a:t>
            </a:r>
            <a:r>
              <a:rPr lang="en-US" altLang="zh-CN" b="1" dirty="0" smtClean="0"/>
              <a:t>I</a:t>
            </a:r>
            <a:r>
              <a:rPr lang="zh-CN" altLang="en-US" b="1" dirty="0" smtClean="0"/>
              <a:t>／</a:t>
            </a:r>
            <a:r>
              <a:rPr lang="en-US" altLang="zh-CN" b="1" dirty="0" smtClean="0"/>
              <a:t>O</a:t>
            </a:r>
            <a:r>
              <a:rPr lang="zh-CN" altLang="en-US" b="1" dirty="0" smtClean="0"/>
              <a:t>设备的速率较低而</a:t>
            </a:r>
            <a:r>
              <a:rPr lang="en-US" altLang="zh-CN" b="1" dirty="0" smtClean="0"/>
              <a:t>CPU</a:t>
            </a:r>
            <a:r>
              <a:rPr lang="zh-CN" altLang="en-US" b="1" dirty="0" smtClean="0"/>
              <a:t>和内存的速率却很高，故在控制器中必须设置一缓冲器。</a:t>
            </a:r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 </a:t>
            </a:r>
          </a:p>
          <a:p>
            <a:pPr eaLnBrk="1" hangingPunct="1"/>
            <a:r>
              <a:rPr lang="zh-CN" altLang="en-US" b="1" dirty="0" smtClean="0"/>
              <a:t> 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）</a:t>
            </a:r>
            <a:r>
              <a:rPr lang="zh-CN" altLang="en-US" b="1" dirty="0" smtClean="0">
                <a:solidFill>
                  <a:srgbClr val="0000FF"/>
                </a:solidFill>
              </a:rPr>
              <a:t>差错控制</a:t>
            </a:r>
            <a:r>
              <a:rPr lang="zh-CN" altLang="en-US" b="1" dirty="0" smtClean="0"/>
              <a:t>：设备控制器还兼管对由</a:t>
            </a:r>
            <a:r>
              <a:rPr lang="en-US" altLang="zh-CN" b="1" dirty="0" smtClean="0"/>
              <a:t>I</a:t>
            </a:r>
            <a:r>
              <a:rPr lang="zh-CN" altLang="en-US" b="1" dirty="0" smtClean="0"/>
              <a:t>／</a:t>
            </a:r>
            <a:r>
              <a:rPr lang="en-US" altLang="zh-CN" b="1" dirty="0" smtClean="0"/>
              <a:t>O</a:t>
            </a:r>
            <a:r>
              <a:rPr lang="zh-CN" altLang="en-US" b="1" dirty="0" smtClean="0"/>
              <a:t>设备传送来的数据进行差错检测。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066800" y="692150"/>
            <a:ext cx="3486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folHlink"/>
                </a:solidFill>
                <a:latin typeface="Times New Roman" pitchFamily="18" charset="0"/>
              </a:rPr>
              <a:t>2. </a:t>
            </a:r>
            <a:r>
              <a:rPr lang="zh-CN" altLang="en-US" sz="2800" b="1">
                <a:solidFill>
                  <a:schemeClr val="folHlink"/>
                </a:solidFill>
                <a:latin typeface="Times New Roman" pitchFamily="18" charset="0"/>
              </a:rPr>
              <a:t>设备控制器的组成 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132138" y="5949950"/>
            <a:ext cx="3094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图 设备控制器的组成 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1412875"/>
            <a:ext cx="9144000" cy="446405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89" name="Object 6"/>
          <p:cNvGraphicFramePr>
            <a:graphicFrameLocks noChangeAspect="1"/>
          </p:cNvGraphicFramePr>
          <p:nvPr/>
        </p:nvGraphicFramePr>
        <p:xfrm>
          <a:off x="0" y="1557338"/>
          <a:ext cx="9144000" cy="418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5" r:id="rId3" imgW="3916680" imgH="1790700" progId="Visio.Drawing.11">
                  <p:embed/>
                </p:oleObj>
              </mc:Choice>
              <mc:Fallback>
                <p:oleObj r:id="rId3" imgW="3916680" imgH="179070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57338"/>
                        <a:ext cx="9144000" cy="41846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85728"/>
            <a:ext cx="4267515" cy="707886"/>
          </a:xfrm>
        </p:spPr>
        <p:txBody>
          <a:bodyPr wrap="none" anchor="t">
            <a:spAutoFit/>
          </a:bodyPr>
          <a:lstStyle/>
          <a:p>
            <a:pPr eaLnBrk="1" hangingPunct="1"/>
            <a:r>
              <a:rPr lang="en-US" altLang="zh-CN" sz="4000" b="1" dirty="0" smtClean="0"/>
              <a:t> 6.2.3    I</a:t>
            </a:r>
            <a:r>
              <a:rPr lang="zh-CN" altLang="en-US" sz="4000" b="1" dirty="0" smtClean="0"/>
              <a:t>／</a:t>
            </a:r>
            <a:r>
              <a:rPr lang="en-US" altLang="zh-CN" sz="4000" b="1" dirty="0" smtClean="0"/>
              <a:t>O</a:t>
            </a:r>
            <a:r>
              <a:rPr lang="zh-CN" altLang="en-US" sz="4000" b="1" dirty="0" smtClean="0"/>
              <a:t>通道 </a:t>
            </a:r>
          </a:p>
        </p:txBody>
      </p:sp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39803"/>
            <a:ext cx="8153400" cy="5410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3600" b="1" dirty="0" smtClean="0">
                <a:solidFill>
                  <a:srgbClr val="0000FF"/>
                </a:solidFill>
              </a:rPr>
              <a:t>1.  I/O</a:t>
            </a:r>
            <a:r>
              <a:rPr lang="zh-CN" altLang="en-US" sz="3600" b="1" dirty="0" smtClean="0">
                <a:solidFill>
                  <a:srgbClr val="0000FF"/>
                </a:solidFill>
              </a:rPr>
              <a:t>通道设备的引入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目的：</a:t>
            </a:r>
            <a:r>
              <a:rPr lang="zh-CN" altLang="en-US" sz="2800" b="1" dirty="0" smtClean="0"/>
              <a:t>使一些原来由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处理的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任务转由通道来承担，从而把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从繁杂的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任务中解脱出来。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 smtClean="0"/>
              <a:t> 采用通道有以下特点：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2800" b="1" dirty="0" smtClean="0"/>
              <a:t>  ①</a:t>
            </a:r>
            <a:r>
              <a:rPr lang="en-US" altLang="zh-CN" sz="2800" b="1" dirty="0" smtClean="0"/>
              <a:t>DMA</a:t>
            </a:r>
            <a:r>
              <a:rPr lang="zh-CN" altLang="en-US" sz="2800" b="1" dirty="0" smtClean="0"/>
              <a:t>（直接存储器存取）方式显著地减少了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的干预。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2800" b="1" dirty="0" smtClean="0"/>
              <a:t>  ②只需向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通道发送一条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指令，即可完成一组相关的读（或写）操作及有关控制时。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5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5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5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5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Rectangle 2"/>
          <p:cNvSpPr>
            <a:spLocks noGrp="1" noChangeArrowheads="1"/>
          </p:cNvSpPr>
          <p:nvPr>
            <p:ph/>
          </p:nvPr>
        </p:nvSpPr>
        <p:spPr>
          <a:xfrm>
            <a:off x="457200" y="1158853"/>
            <a:ext cx="8229600" cy="4267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采用通道有以下特点（续）：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③通道接到该指令后，通过执行通道程序便可完成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指定的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任务。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④可实现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、通道和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设备三者的并行操作，从而更有效地提高整个系统的资源利用率。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⑤当一次去读多个数据块且将它们分别传送到不同的内存区域，或者相反时：则须由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分别发出多条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指令及进行多次中断处理，就能完成多块数据的读入。 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685800" y="285728"/>
            <a:ext cx="4767263" cy="750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600" b="1">
                <a:solidFill>
                  <a:srgbClr val="0000FF"/>
                </a:solidFill>
              </a:rPr>
              <a:t>1.  I/O</a:t>
            </a:r>
            <a:r>
              <a:rPr lang="zh-CN" altLang="en-US" sz="3600" b="1">
                <a:solidFill>
                  <a:srgbClr val="0000FF"/>
                </a:solidFill>
              </a:rPr>
              <a:t>通道设备的引入</a:t>
            </a:r>
            <a:r>
              <a:rPr lang="zh-CN" altLang="en-US" sz="360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2986088" cy="750888"/>
          </a:xfrm>
        </p:spPr>
        <p:txBody>
          <a:bodyPr wrap="none" anchor="t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600" b="1" smtClean="0">
                <a:solidFill>
                  <a:srgbClr val="0000FF"/>
                </a:solidFill>
              </a:rPr>
              <a:t> 2</a:t>
            </a:r>
            <a:r>
              <a:rPr lang="zh-CN" altLang="en-US" sz="3600" b="1" smtClean="0">
                <a:solidFill>
                  <a:srgbClr val="0000FF"/>
                </a:solidFill>
              </a:rPr>
              <a:t>．通道类型 </a:t>
            </a:r>
          </a:p>
        </p:txBody>
      </p:sp>
      <p:sp>
        <p:nvSpPr>
          <p:cNvPr id="86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953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smtClean="0"/>
              <a:t>★</a:t>
            </a:r>
            <a:r>
              <a:rPr lang="zh-CN" altLang="en-US" sz="2800" b="1" smtClean="0"/>
              <a:t>根据信息交换方式的不同，可把通道分成以下三种类型：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b="1" smtClean="0">
                <a:solidFill>
                  <a:srgbClr val="0000FF"/>
                </a:solidFill>
              </a:rPr>
              <a:t> </a:t>
            </a:r>
            <a:r>
              <a:rPr lang="en-US" altLang="zh-CN" b="1" smtClean="0">
                <a:solidFill>
                  <a:srgbClr val="0000FF"/>
                </a:solidFill>
              </a:rPr>
              <a:t>1</a:t>
            </a:r>
            <a:r>
              <a:rPr lang="zh-CN" altLang="en-US" b="1" smtClean="0">
                <a:solidFill>
                  <a:srgbClr val="0000FF"/>
                </a:solidFill>
              </a:rPr>
              <a:t>）字节多路通道</a:t>
            </a:r>
            <a:r>
              <a:rPr lang="zh-CN" altLang="en-US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eaLnBrk="1" hangingPunct="1">
              <a:defRPr/>
            </a:pPr>
            <a:r>
              <a:rPr lang="zh-CN" altLang="en-US" sz="2800" b="1" smtClean="0"/>
              <a:t> 这是一种按字节交叉方式工作的通道。每一个子通道连接一台</a:t>
            </a:r>
            <a:r>
              <a:rPr lang="en-US" altLang="zh-CN" sz="2800" b="1" smtClean="0"/>
              <a:t>I</a:t>
            </a:r>
            <a:r>
              <a:rPr lang="zh-CN" altLang="en-US" sz="2800" b="1" smtClean="0"/>
              <a:t>／</a:t>
            </a:r>
            <a:r>
              <a:rPr lang="en-US" altLang="zh-CN" sz="2800" b="1" smtClean="0"/>
              <a:t>O</a:t>
            </a:r>
            <a:r>
              <a:rPr lang="zh-CN" altLang="en-US" sz="2800" b="1" smtClean="0"/>
              <a:t>设备，并控制该设备的</a:t>
            </a:r>
            <a:r>
              <a:rPr lang="en-US" altLang="zh-CN" sz="2800" b="1" smtClean="0"/>
              <a:t>I</a:t>
            </a:r>
            <a:r>
              <a:rPr lang="zh-CN" altLang="en-US" sz="2800" b="1" smtClean="0"/>
              <a:t>／</a:t>
            </a:r>
            <a:r>
              <a:rPr lang="en-US" altLang="zh-CN" sz="2800" b="1" smtClean="0"/>
              <a:t>O</a:t>
            </a:r>
            <a:r>
              <a:rPr lang="zh-CN" altLang="en-US" sz="2800" b="1" smtClean="0"/>
              <a:t>操作。这些子通道按时间片轮转方式共享主通道。一个子通道在一个时间片完成一个字节的信息交换。 </a:t>
            </a:r>
          </a:p>
          <a:p>
            <a:pPr eaLnBrk="1" hangingPunct="1">
              <a:defRPr/>
            </a:pPr>
            <a:r>
              <a:rPr lang="zh-CN" altLang="en-US" sz="2800" b="1" smtClean="0"/>
              <a:t>只要字节多路通道扫描每个子通道的速率足够快，而连接到子通道上的设备的速率不是太高时，便不致丢失信息。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871663" y="22526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endParaRPr lang="zh-CN" altLang="en-US"/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250825" y="1916113"/>
          <a:ext cx="8207375" cy="357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83" r:id="rId4" imgW="5818239" imgH="3546987" progId="">
                  <p:embed/>
                </p:oleObj>
              </mc:Choice>
              <mc:Fallback>
                <p:oleObj r:id="rId4" imgW="5818239" imgH="3546987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916113"/>
                        <a:ext cx="8207375" cy="357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090613" y="700088"/>
            <a:ext cx="66817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ahoma" pitchFamily="34" charset="0"/>
              </a:rPr>
              <a:t>每个子通道通过控制器与一台设备相连。</a:t>
            </a:r>
          </a:p>
        </p:txBody>
      </p:sp>
      <p:sp>
        <p:nvSpPr>
          <p:cNvPr id="36869" name="文本框 1"/>
          <p:cNvSpPr txBox="1">
            <a:spLocks noChangeArrowheads="1"/>
          </p:cNvSpPr>
          <p:nvPr/>
        </p:nvSpPr>
        <p:spPr bwMode="auto">
          <a:xfrm>
            <a:off x="2514600" y="5105400"/>
            <a:ext cx="48768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0" name="Rectangle 2"/>
          <p:cNvSpPr>
            <a:spLocks noGrp="1" noChangeArrowheads="1"/>
          </p:cNvSpPr>
          <p:nvPr>
            <p:ph/>
          </p:nvPr>
        </p:nvSpPr>
        <p:spPr>
          <a:xfrm>
            <a:off x="533400" y="1524000"/>
            <a:ext cx="83820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 数组选择通道</a:t>
            </a:r>
            <a:endParaRPr lang="zh-CN" altLang="en-US" b="1" dirty="0" smtClean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 smtClean="0"/>
              <a:t>          解决</a:t>
            </a:r>
            <a:r>
              <a:rPr lang="zh-CN" altLang="en-US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字节多路通道</a:t>
            </a:r>
            <a:r>
              <a:rPr lang="zh-CN" altLang="en-US" sz="2800" b="1" dirty="0" smtClean="0"/>
              <a:t>不适合连接高速设备；按数组方式进行数据传送，但在一段时间内只能为一台设备占用，执行一道通道程序。</a:t>
            </a:r>
          </a:p>
          <a:p>
            <a:pPr eaLnBrk="1" hangingPunct="1">
              <a:defRPr/>
            </a:pPr>
            <a:r>
              <a:rPr lang="zh-CN" altLang="en-US" sz="2800" b="1" dirty="0" smtClean="0"/>
              <a:t>由于它只含有一个分配型子通道，在一段时间内只能执行一道通道程序，控制一台设备进行数据传送，致使当某台设备占用了该通道后，便一直由它独占，即使是它无数据传送，通道被闲置，也不允许其它设备使用该通道，直至该设备传送完毕释放该通道。</a:t>
            </a:r>
          </a:p>
          <a:p>
            <a:pPr eaLnBrk="1" hangingPunct="1">
              <a:defRPr/>
            </a:pPr>
            <a:r>
              <a:rPr lang="zh-CN" altLang="en-US" sz="2800" b="1" dirty="0" smtClean="0"/>
              <a:t>利用率低。 </a:t>
            </a:r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609600" y="609600"/>
            <a:ext cx="4403725" cy="757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600" b="1">
                <a:solidFill>
                  <a:srgbClr val="0000FF"/>
                </a:solidFill>
              </a:rPr>
              <a:t> 2</a:t>
            </a:r>
            <a:r>
              <a:rPr lang="zh-CN" altLang="en-US" sz="3600" b="1">
                <a:solidFill>
                  <a:srgbClr val="0000FF"/>
                </a:solidFill>
              </a:rPr>
              <a:t>．通道类型 （续）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191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）数组多路通道</a:t>
            </a:r>
            <a:endParaRPr lang="zh-CN" altLang="en-US" b="1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smtClean="0"/>
              <a:t>综合前两者的优点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smtClean="0"/>
              <a:t>按数组方式进行数据传送，但能为多台设备占用，高速的进行数据传送。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smtClean="0"/>
              <a:t>具有根高的数据传输速率，又能获得令人满意的通道利用率。 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4114800" cy="750888"/>
          </a:xfrm>
        </p:spPr>
        <p:txBody>
          <a:bodyPr anchor="t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600" b="1" smtClean="0">
                <a:solidFill>
                  <a:srgbClr val="0000FF"/>
                </a:solidFill>
              </a:rPr>
              <a:t> 2</a:t>
            </a:r>
            <a:r>
              <a:rPr lang="zh-CN" altLang="en-US" sz="3600" b="1" smtClean="0">
                <a:solidFill>
                  <a:srgbClr val="0000FF"/>
                </a:solidFill>
              </a:rPr>
              <a:t>．通道类型（续）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24800" cy="1676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3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．</a:t>
            </a:r>
            <a:r>
              <a:rPr lang="zh-CN" altLang="en-US" sz="3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“</a:t>
            </a:r>
            <a:r>
              <a:rPr lang="zh-CN" altLang="en-US" sz="3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瓶颈</a:t>
            </a:r>
            <a:r>
              <a:rPr lang="zh-CN" altLang="en-US" sz="3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”</a:t>
            </a:r>
            <a:r>
              <a:rPr lang="zh-CN" altLang="en-US" sz="3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问题</a:t>
            </a:r>
            <a:r>
              <a:rPr lang="zh-CN" altLang="en-US" sz="3600" smtClean="0">
                <a:solidFill>
                  <a:srgbClr val="0000FF"/>
                </a:solidFill>
              </a:rPr>
              <a:t> </a:t>
            </a:r>
            <a:br>
              <a:rPr lang="zh-CN" altLang="en-US" sz="3600" smtClean="0">
                <a:solidFill>
                  <a:srgbClr val="0000FF"/>
                </a:solidFill>
              </a:rPr>
            </a:br>
            <a:r>
              <a:rPr lang="zh-CN" altLang="en-US" sz="3600" smtClean="0"/>
              <a:t/>
            </a:r>
            <a:br>
              <a:rPr lang="zh-CN" altLang="en-US" sz="3600" smtClean="0"/>
            </a:br>
            <a:r>
              <a:rPr lang="zh-CN" altLang="en-US" sz="3600" smtClean="0"/>
              <a:t>    </a:t>
            </a:r>
            <a:r>
              <a:rPr lang="zh-CN" altLang="en-US" sz="2800" b="1" smtClean="0"/>
              <a:t>由于通道不足所造成的</a:t>
            </a:r>
            <a:r>
              <a:rPr lang="zh-CN" altLang="en-US" sz="2800" b="1" smtClean="0">
                <a:latin typeface="Courier New" panose="02070309020205020404" pitchFamily="49" charset="0"/>
              </a:rPr>
              <a:t>“</a:t>
            </a:r>
            <a:r>
              <a:rPr lang="zh-CN" altLang="en-US" sz="2800" b="1" smtClean="0"/>
              <a:t>瓶颈</a:t>
            </a:r>
            <a:r>
              <a:rPr lang="zh-CN" altLang="en-US" sz="2800" b="1" smtClean="0">
                <a:latin typeface="Courier New" panose="02070309020205020404" pitchFamily="49" charset="0"/>
              </a:rPr>
              <a:t>”</a:t>
            </a:r>
            <a:r>
              <a:rPr lang="zh-CN" altLang="en-US" sz="2800" b="1" smtClean="0"/>
              <a:t>现象。</a:t>
            </a:r>
            <a:r>
              <a:rPr lang="zh-CN" altLang="en-US" sz="3600" smtClean="0"/>
              <a:t> 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1971675" y="1962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endParaRPr lang="zh-CN" altLang="en-US"/>
          </a:p>
        </p:txBody>
      </p:sp>
      <p:graphicFrame>
        <p:nvGraphicFramePr>
          <p:cNvPr id="40964" name="Object 4"/>
          <p:cNvGraphicFramePr>
            <a:graphicFrameLocks noGrp="1" noChangeAspect="1"/>
          </p:cNvGraphicFramePr>
          <p:nvPr>
            <p:ph type="dgm" idx="1"/>
          </p:nvPr>
        </p:nvGraphicFramePr>
        <p:xfrm>
          <a:off x="990600" y="2514600"/>
          <a:ext cx="6875463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07" r:id="rId4" imgW="5045186" imgH="3075709" progId="">
                  <p:embed/>
                </p:oleObj>
              </mc:Choice>
              <mc:Fallback>
                <p:oleObj r:id="rId4" imgW="5045186" imgH="3075709" progId="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6875463" cy="419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文本框 4"/>
          <p:cNvSpPr txBox="1">
            <a:spLocks noChangeArrowheads="1"/>
          </p:cNvSpPr>
          <p:nvPr/>
        </p:nvSpPr>
        <p:spPr bwMode="auto">
          <a:xfrm>
            <a:off x="2362200" y="5943600"/>
            <a:ext cx="48768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44780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2800" b="1" smtClean="0"/>
              <a:t>解决</a:t>
            </a:r>
            <a:r>
              <a:rPr lang="zh-CN" altLang="en-US" sz="2800" b="1" smtClean="0">
                <a:latin typeface="Courier New" pitchFamily="49" charset="0"/>
              </a:rPr>
              <a:t>“</a:t>
            </a:r>
            <a:r>
              <a:rPr lang="zh-CN" altLang="en-US" sz="2800" b="1" smtClean="0"/>
              <a:t>瓶颈</a:t>
            </a:r>
            <a:r>
              <a:rPr lang="zh-CN" altLang="en-US" sz="2800" b="1" smtClean="0">
                <a:latin typeface="Courier New" pitchFamily="49" charset="0"/>
              </a:rPr>
              <a:t>”</a:t>
            </a:r>
            <a:r>
              <a:rPr lang="zh-CN" altLang="en-US" sz="2800" b="1" smtClean="0"/>
              <a:t>问题的最有效的方法，便是增加设备到主机间的</a:t>
            </a:r>
            <a:r>
              <a:rPr lang="zh-CN" altLang="en-US" sz="2800" b="1" smtClean="0">
                <a:solidFill>
                  <a:srgbClr val="0000FF"/>
                </a:solidFill>
              </a:rPr>
              <a:t>通路</a:t>
            </a:r>
            <a:r>
              <a:rPr lang="zh-CN" altLang="en-US" sz="2800" b="1" smtClean="0"/>
              <a:t>而不增加</a:t>
            </a:r>
            <a:r>
              <a:rPr lang="zh-CN" altLang="en-US" sz="2800" b="1" smtClean="0">
                <a:solidFill>
                  <a:srgbClr val="0000FF"/>
                </a:solidFill>
              </a:rPr>
              <a:t>通道 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1952625" y="21288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endParaRPr lang="zh-CN" altLang="en-US"/>
          </a:p>
        </p:txBody>
      </p:sp>
      <p:graphicFrame>
        <p:nvGraphicFramePr>
          <p:cNvPr id="865284" name="Object 4"/>
          <p:cNvGraphicFramePr>
            <a:graphicFrameLocks noGrp="1" noChangeAspect="1"/>
          </p:cNvGraphicFramePr>
          <p:nvPr>
            <p:ph type="dgm" idx="1"/>
          </p:nvPr>
        </p:nvGraphicFramePr>
        <p:xfrm>
          <a:off x="990600" y="2514600"/>
          <a:ext cx="675005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1" r:id="rId4" imgW="4874741" imgH="2971800" progId="">
                  <p:embed/>
                </p:oleObj>
              </mc:Choice>
              <mc:Fallback>
                <p:oleObj r:id="rId4" imgW="4874741" imgH="2971800" progId="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6750050" cy="411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85" name="Rectangle 5"/>
          <p:cNvSpPr>
            <a:spLocks noChangeArrowheads="1"/>
          </p:cNvSpPr>
          <p:nvPr/>
        </p:nvSpPr>
        <p:spPr bwMode="auto">
          <a:xfrm>
            <a:off x="609600" y="685800"/>
            <a:ext cx="701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99">
                        <a:gamma/>
                        <a:shade val="4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．“瓶颈”问题</a:t>
            </a:r>
            <a:r>
              <a:rPr lang="zh-CN" altLang="en-US" sz="3600" b="1">
                <a:solidFill>
                  <a:srgbClr val="0000FF"/>
                </a:solidFill>
              </a:rPr>
              <a:t>（续）</a:t>
            </a:r>
          </a:p>
        </p:txBody>
      </p:sp>
      <p:sp>
        <p:nvSpPr>
          <p:cNvPr id="43014" name="文本框 5"/>
          <p:cNvSpPr txBox="1">
            <a:spLocks noChangeArrowheads="1"/>
          </p:cNvSpPr>
          <p:nvPr/>
        </p:nvSpPr>
        <p:spPr bwMode="auto">
          <a:xfrm>
            <a:off x="2209800" y="5943600"/>
            <a:ext cx="48768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7489825" cy="920735"/>
          </a:xfr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</p:spPr>
        <p:txBody>
          <a:bodyPr/>
          <a:lstStyle/>
          <a:p>
            <a:pPr eaLnBrk="1" hangingPunct="1"/>
            <a:r>
              <a:rPr lang="en-US" altLang="zh-CN" b="1" smtClean="0"/>
              <a:t> 6.3 </a:t>
            </a:r>
            <a:r>
              <a:rPr lang="zh-CN" altLang="en-US" b="1" smtClean="0"/>
              <a:t>中断机构和中断处理程序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6.3.1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中断简介</a:t>
            </a:r>
            <a:r>
              <a:rPr lang="zh-CN" altLang="en-US" sz="4000" b="1" dirty="0" smtClean="0"/>
              <a:t> 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中断和陷入</a:t>
            </a:r>
            <a:r>
              <a:rPr lang="en-US" altLang="zh-CN" sz="2800" b="1" dirty="0"/>
              <a:t>—CPU</a:t>
            </a:r>
            <a:r>
              <a:rPr lang="zh-CN" altLang="en-US" sz="2800" b="1" dirty="0"/>
              <a:t>外部事件和内部事件导致</a:t>
            </a:r>
            <a:endParaRPr lang="en-US" altLang="zh-CN" sz="2800" b="1" dirty="0"/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中断向量表和</a:t>
            </a:r>
            <a:r>
              <a:rPr lang="zh-CN" altLang="en-US" sz="2800" b="1" dirty="0" smtClean="0"/>
              <a:t>中断优先级</a:t>
            </a:r>
            <a:endParaRPr lang="en-US" altLang="zh-CN" sz="2800" b="1" dirty="0"/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800" b="1" dirty="0"/>
              <a:t>3</a:t>
            </a:r>
            <a:r>
              <a:rPr lang="en-US" altLang="zh-CN" sz="2800" b="1" dirty="0" smtClean="0"/>
              <a:t>. </a:t>
            </a:r>
            <a:r>
              <a:rPr lang="zh-CN" altLang="en-US" sz="2800" b="1" dirty="0" smtClean="0"/>
              <a:t>对</a:t>
            </a:r>
            <a:r>
              <a:rPr lang="zh-CN" altLang="en-US" sz="2800" b="1" dirty="0"/>
              <a:t>多中断源的处理</a:t>
            </a:r>
            <a:r>
              <a:rPr lang="zh-CN" altLang="en-US" sz="2800" b="1" dirty="0" smtClean="0"/>
              <a:t>方式</a:t>
            </a:r>
            <a:endParaRPr lang="en-US" altLang="zh-CN" sz="2800" b="1" dirty="0" smtClean="0"/>
          </a:p>
          <a:p>
            <a:pPr lvl="1" eaLnBrk="1" hangingPunct="1">
              <a:lnSpc>
                <a:spcPct val="115000"/>
              </a:lnSpc>
              <a:defRPr/>
            </a:pP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）屏蔽（禁止）中断</a:t>
            </a:r>
            <a:endParaRPr lang="en-US" altLang="zh-CN" sz="2400" b="1" dirty="0" smtClean="0"/>
          </a:p>
          <a:p>
            <a:pPr lvl="1" eaLnBrk="1" hangingPunct="1">
              <a:lnSpc>
                <a:spcPct val="115000"/>
              </a:lnSpc>
              <a:defRPr/>
            </a:pP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）嵌套中断</a:t>
            </a:r>
            <a:endParaRPr lang="en-US" altLang="zh-CN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8229600" cy="990600"/>
          </a:xfrm>
        </p:spPr>
        <p:txBody>
          <a:bodyPr anchor="b"/>
          <a:lstStyle/>
          <a:p>
            <a:r>
              <a:rPr lang="en-US" altLang="zh-CN" sz="4000" b="1" smtClean="0"/>
              <a:t>6.3.2 </a:t>
            </a:r>
            <a:r>
              <a:rPr lang="zh-CN" altLang="en-US" sz="4000" b="1" smtClean="0"/>
              <a:t>中断处理程序</a:t>
            </a:r>
          </a:p>
        </p:txBody>
      </p:sp>
      <p:sp>
        <p:nvSpPr>
          <p:cNvPr id="92163" name="内容占位符 2"/>
          <p:cNvSpPr>
            <a:spLocks noGrp="1"/>
          </p:cNvSpPr>
          <p:nvPr>
            <p:ph idx="4294967295"/>
          </p:nvPr>
        </p:nvSpPr>
        <p:spPr>
          <a:xfrm>
            <a:off x="457200" y="1981200"/>
            <a:ext cx="8229600" cy="32004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dirty="0" smtClean="0"/>
              <a:t>中断处理层的</a:t>
            </a:r>
            <a:r>
              <a:rPr lang="zh-CN" altLang="en-US" b="1" dirty="0" smtClean="0">
                <a:solidFill>
                  <a:srgbClr val="FF0000"/>
                </a:solidFill>
              </a:rPr>
              <a:t>主要工作</a:t>
            </a:r>
            <a:r>
              <a:rPr lang="zh-CN" altLang="en-US" b="1" dirty="0" smtClean="0"/>
              <a:t>有：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 smtClean="0"/>
              <a:t>进行进程上下文的切换，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 smtClean="0"/>
              <a:t>对处理中断信号源进行测试，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 smtClean="0"/>
              <a:t>读取设备状态和修改进程状态等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内容占位符 2"/>
          <p:cNvSpPr>
            <a:spLocks noGrp="1"/>
          </p:cNvSpPr>
          <p:nvPr>
            <p:ph idx="4294967295"/>
          </p:nvPr>
        </p:nvSpPr>
        <p:spPr>
          <a:xfrm>
            <a:off x="381000" y="1285852"/>
            <a:ext cx="8458200" cy="4953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smtClean="0"/>
              <a:t>对于为每一类设备设置一个</a:t>
            </a:r>
            <a:r>
              <a:rPr lang="en-US" altLang="zh-CN" sz="2800" b="1" smtClean="0"/>
              <a:t>I/O</a:t>
            </a:r>
            <a:r>
              <a:rPr lang="zh-CN" altLang="en-US" sz="2800" b="1" smtClean="0"/>
              <a:t>进程的设备处理方式，其</a:t>
            </a:r>
            <a:r>
              <a:rPr lang="zh-CN" altLang="en-US" sz="2800" b="1" smtClean="0">
                <a:solidFill>
                  <a:srgbClr val="FF0000"/>
                </a:solidFill>
              </a:rPr>
              <a:t>中断处理程序的处理</a:t>
            </a:r>
            <a:r>
              <a:rPr lang="zh-CN" altLang="en-US" sz="2800" b="1" smtClean="0"/>
              <a:t>过程分成以下几个步骤</a:t>
            </a:r>
          </a:p>
          <a:p>
            <a:pPr>
              <a:lnSpc>
                <a:spcPct val="120000"/>
              </a:lnSpc>
            </a:pPr>
            <a:r>
              <a:rPr lang="en-US" altLang="zh-CN" sz="3600" b="1" smtClean="0">
                <a:solidFill>
                  <a:srgbClr val="0000FF"/>
                </a:solidFill>
              </a:rPr>
              <a:t>1</a:t>
            </a:r>
            <a:r>
              <a:rPr lang="zh-CN" altLang="en-US" sz="3600" b="1" smtClean="0">
                <a:solidFill>
                  <a:srgbClr val="0000FF"/>
                </a:solidFill>
              </a:rPr>
              <a:t>．测定是否有未响应的中断信号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/>
              <a:t>程序完成当前指令后测试是否有未响应的中断信号。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/>
              <a:t>如果没有，继续执行下一条指令。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/>
              <a:t>如果有，则停止原有进程的执行，准备转去执行中断处理程序，为把处理机的控制权转交给中断处理程序做准备。</a:t>
            </a:r>
          </a:p>
          <a:p>
            <a:pPr>
              <a:lnSpc>
                <a:spcPct val="120000"/>
              </a:lnSpc>
            </a:pPr>
            <a:endParaRPr lang="en-US" altLang="zh-CN" b="1" smtClean="0"/>
          </a:p>
        </p:txBody>
      </p:sp>
      <p:sp>
        <p:nvSpPr>
          <p:cNvPr id="51203" name="标题 1"/>
          <p:cNvSpPr>
            <a:spLocks/>
          </p:cNvSpPr>
          <p:nvPr/>
        </p:nvSpPr>
        <p:spPr bwMode="auto">
          <a:xfrm>
            <a:off x="457200" y="142852"/>
            <a:ext cx="8229600" cy="990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r>
              <a:rPr lang="en-US" altLang="zh-CN" sz="4000" b="1"/>
              <a:t>6.3.2 </a:t>
            </a:r>
            <a:r>
              <a:rPr lang="zh-CN" altLang="en-US" sz="4000" b="1"/>
              <a:t>中断处理程序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8229600" cy="990600"/>
          </a:xfrm>
        </p:spPr>
        <p:txBody>
          <a:bodyPr anchor="b"/>
          <a:lstStyle/>
          <a:p>
            <a:r>
              <a:rPr lang="en-US" altLang="zh-CN" sz="3600" b="1" smtClean="0">
                <a:solidFill>
                  <a:srgbClr val="0000FF"/>
                </a:solidFill>
              </a:rPr>
              <a:t>2</a:t>
            </a:r>
            <a:r>
              <a:rPr lang="zh-CN" altLang="en-US" sz="3600" b="1" smtClean="0">
                <a:solidFill>
                  <a:srgbClr val="0000FF"/>
                </a:solidFill>
              </a:rPr>
              <a:t>．保护被中断进程的</a:t>
            </a:r>
            <a:r>
              <a:rPr lang="en-US" altLang="zh-CN" sz="3600" b="1" smtClean="0">
                <a:solidFill>
                  <a:srgbClr val="0000FF"/>
                </a:solidFill>
              </a:rPr>
              <a:t>CPU </a:t>
            </a:r>
            <a:r>
              <a:rPr lang="zh-CN" altLang="en-US" sz="3600" b="1" smtClean="0">
                <a:solidFill>
                  <a:srgbClr val="0000FF"/>
                </a:solidFill>
              </a:rPr>
              <a:t>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2286000"/>
            <a:ext cx="8383588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smtClean="0"/>
              <a:t>通常由</a:t>
            </a:r>
            <a:r>
              <a:rPr lang="zh-CN" altLang="en-US" sz="2800" b="1" smtClean="0">
                <a:solidFill>
                  <a:srgbClr val="FF0000"/>
                </a:solidFill>
              </a:rPr>
              <a:t>硬件自动</a:t>
            </a:r>
            <a:r>
              <a:rPr lang="zh-CN" altLang="en-US" sz="2800" b="1" smtClean="0"/>
              <a:t>将处理机状态字</a:t>
            </a:r>
            <a:r>
              <a:rPr lang="en-US" altLang="zh-CN" sz="2800" b="1" smtClean="0"/>
              <a:t>PSW </a:t>
            </a:r>
            <a:r>
              <a:rPr lang="zh-CN" altLang="en-US" sz="2800" b="1" smtClean="0"/>
              <a:t>和程序计数器</a:t>
            </a:r>
            <a:r>
              <a:rPr lang="en-US" altLang="zh-CN" sz="2800" b="1" smtClean="0"/>
              <a:t>(PC)</a:t>
            </a:r>
            <a:r>
              <a:rPr lang="zh-CN" altLang="en-US" sz="2800" b="1" smtClean="0"/>
              <a:t>中的内容，保存在中断保留区</a:t>
            </a:r>
            <a:r>
              <a:rPr lang="en-US" altLang="zh-CN" sz="2800" b="1" smtClean="0"/>
              <a:t>(</a:t>
            </a:r>
            <a:r>
              <a:rPr lang="zh-CN" altLang="en-US" sz="2800" b="1" smtClean="0"/>
              <a:t>栈</a:t>
            </a:r>
            <a:r>
              <a:rPr lang="en-US" altLang="zh-CN" sz="2800" b="1" smtClean="0"/>
              <a:t>)</a:t>
            </a:r>
            <a:r>
              <a:rPr lang="zh-CN" altLang="en-US" sz="2800" b="1" smtClean="0"/>
              <a:t>中，</a:t>
            </a:r>
          </a:p>
          <a:p>
            <a:pPr>
              <a:lnSpc>
                <a:spcPct val="120000"/>
              </a:lnSpc>
            </a:pPr>
            <a:r>
              <a:rPr lang="zh-CN" altLang="en-US" sz="2800" b="1" smtClean="0"/>
              <a:t>然后把被中断进程的</a:t>
            </a:r>
            <a:r>
              <a:rPr lang="en-US" altLang="zh-CN" sz="2800" b="1" smtClean="0">
                <a:solidFill>
                  <a:srgbClr val="FF0000"/>
                </a:solidFill>
              </a:rPr>
              <a:t>CPU</a:t>
            </a:r>
            <a:r>
              <a:rPr lang="zh-CN" altLang="en-US" sz="2800" b="1" smtClean="0">
                <a:solidFill>
                  <a:srgbClr val="FF0000"/>
                </a:solidFill>
              </a:rPr>
              <a:t>现场信息</a:t>
            </a:r>
            <a:r>
              <a:rPr lang="en-US" altLang="zh-CN" sz="2800" b="1" smtClean="0"/>
              <a:t>(</a:t>
            </a:r>
            <a:r>
              <a:rPr lang="zh-CN" altLang="en-US" sz="2800" b="1" smtClean="0"/>
              <a:t>即包括所有的</a:t>
            </a:r>
            <a:r>
              <a:rPr lang="en-US" altLang="zh-CN" sz="2800" b="1" smtClean="0"/>
              <a:t>CPU</a:t>
            </a:r>
            <a:r>
              <a:rPr lang="zh-CN" altLang="en-US" sz="2800" b="1" smtClean="0"/>
              <a:t>寄存器，如通用寄存器、段寄存器等内容</a:t>
            </a:r>
            <a:r>
              <a:rPr lang="en-US" altLang="zh-CN" sz="2800" b="1" smtClean="0"/>
              <a:t>)</a:t>
            </a:r>
            <a:r>
              <a:rPr lang="zh-CN" altLang="en-US" sz="2800" b="1" smtClean="0"/>
              <a:t>都</a:t>
            </a:r>
            <a:r>
              <a:rPr lang="zh-CN" altLang="en-US" sz="2800" b="1" smtClean="0">
                <a:solidFill>
                  <a:srgbClr val="FF0000"/>
                </a:solidFill>
              </a:rPr>
              <a:t>压入中断栈中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 idx="4294967295"/>
          </p:nvPr>
        </p:nvSpPr>
        <p:spPr>
          <a:xfrm>
            <a:off x="457200" y="857232"/>
            <a:ext cx="8229600" cy="685800"/>
          </a:xfrm>
        </p:spPr>
        <p:txBody>
          <a:bodyPr anchor="b"/>
          <a:lstStyle/>
          <a:p>
            <a:r>
              <a:rPr lang="en-US" altLang="zh-CN" sz="36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．转入相应的设备处理程序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1828784"/>
            <a:ext cx="8229600" cy="3581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 smtClean="0"/>
              <a:t>由处理机对各个中断源进行测试，以确定引起本次中断的</a:t>
            </a:r>
            <a:r>
              <a:rPr lang="en-US" altLang="zh-CN" sz="2800" b="1" dirty="0" smtClean="0"/>
              <a:t>I/O </a:t>
            </a:r>
            <a:r>
              <a:rPr lang="zh-CN" altLang="en-US" sz="2800" b="1" dirty="0" smtClean="0"/>
              <a:t>设备，并发送一应答信号给发出中断请求的进程，使之消除该中断请求信号，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 smtClean="0"/>
              <a:t>然后将相应的设备中断处理程序的入口地址装入到程序计数器中，使处理机转向中断处理程序。</a:t>
            </a:r>
          </a:p>
          <a:p>
            <a:pPr>
              <a:lnSpc>
                <a:spcPct val="120000"/>
              </a:lnSpc>
            </a:pPr>
            <a:endParaRPr lang="en-US" altLang="zh-CN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 idx="4294967295"/>
          </p:nvPr>
        </p:nvSpPr>
        <p:spPr>
          <a:xfrm>
            <a:off x="457200" y="500042"/>
            <a:ext cx="8229600" cy="685800"/>
          </a:xfrm>
        </p:spPr>
        <p:txBody>
          <a:bodyPr anchor="b"/>
          <a:lstStyle/>
          <a:p>
            <a:r>
              <a:rPr lang="en-US" altLang="zh-CN" sz="3600" b="1" dirty="0" smtClean="0">
                <a:solidFill>
                  <a:srgbClr val="0000FF"/>
                </a:solidFill>
              </a:rPr>
              <a:t>4</a:t>
            </a:r>
            <a:r>
              <a:rPr lang="zh-CN" altLang="en-US" sz="3600" b="1" dirty="0" smtClean="0">
                <a:solidFill>
                  <a:srgbClr val="0000FF"/>
                </a:solidFill>
              </a:rPr>
              <a:t>．中断处理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62000" y="1323956"/>
            <a:ext cx="79248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smtClean="0"/>
              <a:t>该程序首先从设备控制器中读出设备状态，以判别本次中断是正常完成中断，还是异常结束中断。</a:t>
            </a:r>
          </a:p>
          <a:p>
            <a:pPr>
              <a:lnSpc>
                <a:spcPct val="120000"/>
              </a:lnSpc>
            </a:pPr>
            <a:r>
              <a:rPr lang="zh-CN" altLang="en-US" sz="2800" b="1" smtClean="0"/>
              <a:t>若是前者，中断程序便进行结束处理；若还有命令，可再向控制器发送新的命令，进行新一轮的数据传送。</a:t>
            </a:r>
          </a:p>
          <a:p>
            <a:pPr>
              <a:lnSpc>
                <a:spcPct val="120000"/>
              </a:lnSpc>
            </a:pPr>
            <a:r>
              <a:rPr lang="zh-CN" altLang="en-US" sz="2800" b="1" smtClean="0"/>
              <a:t>若是异常结束中断，则根据发生异常的原因做相应的处理。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 idx="4294967295"/>
          </p:nvPr>
        </p:nvSpPr>
        <p:spPr>
          <a:xfrm>
            <a:off x="457200" y="642918"/>
            <a:ext cx="8229600" cy="762000"/>
          </a:xfrm>
        </p:spPr>
        <p:txBody>
          <a:bodyPr anchor="b"/>
          <a:lstStyle/>
          <a:p>
            <a:r>
              <a:rPr lang="en-US" altLang="zh-CN" sz="3600" b="1" dirty="0" smtClean="0">
                <a:solidFill>
                  <a:srgbClr val="0000FF"/>
                </a:solidFill>
              </a:rPr>
              <a:t>5</a:t>
            </a:r>
            <a:r>
              <a:rPr lang="zh-CN" altLang="en-US" sz="3600" b="1" dirty="0" smtClean="0">
                <a:solidFill>
                  <a:srgbClr val="0000FF"/>
                </a:solidFill>
              </a:rPr>
              <a:t>．恢复被中断进程的现场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1543032"/>
            <a:ext cx="8229600" cy="4343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smtClean="0"/>
              <a:t>当中断处理完成以后，便可将保存在中断栈中的被中断进程的现场信息取出，并装入到相应的寄存器中，其中包括该程序下一次要执行的指令的地址</a:t>
            </a:r>
            <a:r>
              <a:rPr lang="en-US" altLang="zh-CN" sz="2800" b="1" smtClean="0"/>
              <a:t>N+1</a:t>
            </a:r>
            <a:r>
              <a:rPr lang="zh-CN" altLang="en-US" sz="2800" b="1" smtClean="0"/>
              <a:t>、处理机状态字</a:t>
            </a:r>
            <a:r>
              <a:rPr lang="en-US" altLang="zh-CN" sz="2800" b="1" smtClean="0"/>
              <a:t>PSW</a:t>
            </a:r>
            <a:r>
              <a:rPr lang="zh-CN" altLang="en-US" sz="2800" b="1" smtClean="0"/>
              <a:t>，以及各通用寄存器和段寄存器的内容。</a:t>
            </a:r>
          </a:p>
          <a:p>
            <a:pPr>
              <a:lnSpc>
                <a:spcPct val="120000"/>
              </a:lnSpc>
            </a:pPr>
            <a:r>
              <a:rPr lang="zh-CN" altLang="en-US" sz="2800" b="1" smtClean="0"/>
              <a:t>这样，当处理机再执行本程序时，便从</a:t>
            </a:r>
            <a:r>
              <a:rPr lang="en-US" altLang="zh-CN" sz="2800" b="1" smtClean="0"/>
              <a:t>N+1</a:t>
            </a:r>
            <a:r>
              <a:rPr lang="zh-CN" altLang="en-US" sz="2800" b="1" smtClean="0"/>
              <a:t>处开始，最终返回到被中断的程序。</a:t>
            </a:r>
          </a:p>
          <a:p>
            <a:pPr>
              <a:lnSpc>
                <a:spcPct val="120000"/>
              </a:lnSpc>
            </a:pPr>
            <a:endParaRPr lang="en-US" altLang="zh-CN" sz="2800" b="1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 idx="4294967295"/>
          </p:nvPr>
        </p:nvSpPr>
        <p:spPr/>
        <p:txBody>
          <a:bodyPr anchor="b"/>
          <a:lstStyle/>
          <a:p>
            <a:endParaRPr lang="zh-CN" altLang="zh-CN" smtClean="0"/>
          </a:p>
        </p:txBody>
      </p:sp>
      <p:pic>
        <p:nvPicPr>
          <p:cNvPr id="13517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0"/>
            <a:ext cx="6934200" cy="6858000"/>
          </a:xfrm>
          <a:noFill/>
        </p:spPr>
      </p:pic>
      <p:sp>
        <p:nvSpPr>
          <p:cNvPr id="4" name="文本框 3"/>
          <p:cNvSpPr txBox="1"/>
          <p:nvPr/>
        </p:nvSpPr>
        <p:spPr>
          <a:xfrm>
            <a:off x="4191000" y="6259513"/>
            <a:ext cx="685800" cy="36988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6-11</a:t>
            </a:r>
            <a:endParaRPr lang="zh-CN" alt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4294967295"/>
          </p:nvPr>
        </p:nvSpPr>
        <p:spPr>
          <a:xfrm>
            <a:off x="457200" y="1684356"/>
            <a:ext cx="8229600" cy="4387850"/>
          </a:xfrm>
        </p:spPr>
        <p:txBody>
          <a:bodyPr/>
          <a:lstStyle/>
          <a:p>
            <a:pPr marL="273050" indent="-273050">
              <a:lnSpc>
                <a:spcPct val="120000"/>
              </a:lnSpc>
            </a:pPr>
            <a:r>
              <a:rPr lang="zh-CN" altLang="en-US" sz="2800" b="1" dirty="0"/>
              <a:t>设备驱动程序通常又称为设备处理程序，</a:t>
            </a:r>
            <a:r>
              <a:rPr lang="zh-CN" altLang="en-US" sz="2800" b="1" dirty="0">
                <a:solidFill>
                  <a:srgbClr val="FF0000"/>
                </a:solidFill>
              </a:rPr>
              <a:t>它是</a:t>
            </a:r>
            <a:r>
              <a:rPr lang="en-US" sz="2800" b="1" dirty="0">
                <a:solidFill>
                  <a:srgbClr val="FF0000"/>
                </a:solidFill>
              </a:rPr>
              <a:t>I/O </a:t>
            </a:r>
            <a:r>
              <a:rPr lang="zh-CN" altLang="en-US" sz="2800" b="1" dirty="0">
                <a:solidFill>
                  <a:srgbClr val="FF0000"/>
                </a:solidFill>
              </a:rPr>
              <a:t>进程与设备控制器之间的通信程序，</a:t>
            </a:r>
            <a:r>
              <a:rPr lang="zh-CN" altLang="en-US" sz="2800" b="1" dirty="0"/>
              <a:t>又由于它常以进程的形式存在，故以后就简称之为设备驱动进程。</a:t>
            </a:r>
            <a:endParaRPr lang="en-US" sz="2800" b="1" dirty="0"/>
          </a:p>
          <a:p>
            <a:pPr marL="273050" indent="-273050">
              <a:lnSpc>
                <a:spcPct val="120000"/>
              </a:lnSpc>
            </a:pPr>
            <a:r>
              <a:rPr lang="zh-CN" altLang="en-US" sz="2800" b="1" dirty="0"/>
              <a:t>其主要任务是</a:t>
            </a:r>
            <a:r>
              <a:rPr lang="zh-CN" altLang="en-US" sz="2800" b="1" i="1" u="sng" dirty="0">
                <a:solidFill>
                  <a:srgbClr val="FF0000"/>
                </a:solidFill>
              </a:rPr>
              <a:t>接收上层软件发来的抽象</a:t>
            </a:r>
            <a:r>
              <a:rPr lang="en-US" sz="2800" b="1" i="1" u="sng" dirty="0">
                <a:solidFill>
                  <a:srgbClr val="FF0000"/>
                </a:solidFill>
              </a:rPr>
              <a:t>I/O </a:t>
            </a:r>
            <a:r>
              <a:rPr lang="zh-CN" altLang="en-US" sz="2800" b="1" i="1" u="sng" dirty="0">
                <a:solidFill>
                  <a:srgbClr val="FF0000"/>
                </a:solidFill>
              </a:rPr>
              <a:t>要求</a:t>
            </a:r>
            <a:r>
              <a:rPr lang="zh-CN" altLang="en-US" sz="2800" b="1" dirty="0"/>
              <a:t>，如</a:t>
            </a:r>
            <a:r>
              <a:rPr lang="en-US" sz="2800" b="1" dirty="0"/>
              <a:t>read</a:t>
            </a:r>
            <a:r>
              <a:rPr lang="zh-CN" altLang="en-US" sz="2800" b="1" dirty="0"/>
              <a:t>或</a:t>
            </a:r>
            <a:r>
              <a:rPr lang="en-US" sz="2800" b="1" dirty="0"/>
              <a:t>write</a:t>
            </a:r>
            <a:r>
              <a:rPr lang="zh-CN" altLang="en-US" sz="2800" b="1" dirty="0"/>
              <a:t>命令，在</a:t>
            </a:r>
            <a:r>
              <a:rPr lang="zh-CN" altLang="en-US" sz="2800" b="1" i="1" u="sng" dirty="0">
                <a:solidFill>
                  <a:srgbClr val="FF0000"/>
                </a:solidFill>
              </a:rPr>
              <a:t>把它转换为具体要求后，发送给设备控制器，启动设备去执行</a:t>
            </a:r>
            <a:r>
              <a:rPr lang="zh-CN" altLang="en-US" sz="2800" b="1" dirty="0"/>
              <a:t>；此外，它也将由设备控制器发来的信号传送给上层软件。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38200" y="214290"/>
            <a:ext cx="7489825" cy="1158875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/>
            <a:r>
              <a:rPr lang="en-US" altLang="zh-CN" sz="4400" b="1" dirty="0"/>
              <a:t> 6.4 </a:t>
            </a:r>
            <a:r>
              <a:rPr lang="zh-CN" altLang="en-US" sz="4400" b="1" dirty="0"/>
              <a:t>设备驱动程序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内容占位符 2"/>
          <p:cNvSpPr>
            <a:spLocks noGrp="1"/>
          </p:cNvSpPr>
          <p:nvPr>
            <p:ph idx="4294967295"/>
          </p:nvPr>
        </p:nvSpPr>
        <p:spPr>
          <a:xfrm>
            <a:off x="179388" y="188913"/>
            <a:ext cx="8496300" cy="6048375"/>
          </a:xfrm>
        </p:spPr>
        <p:txBody>
          <a:bodyPr/>
          <a:lstStyle/>
          <a:p>
            <a:pPr marL="273050" indent="-273050">
              <a:lnSpc>
                <a:spcPct val="120000"/>
              </a:lnSpc>
            </a:pPr>
            <a:r>
              <a:rPr lang="en-US" b="1" dirty="0">
                <a:solidFill>
                  <a:schemeClr val="folHlink"/>
                </a:solidFill>
              </a:rPr>
              <a:t>1</a:t>
            </a:r>
            <a:r>
              <a:rPr lang="zh-CN" altLang="en-US" b="1" dirty="0">
                <a:solidFill>
                  <a:schemeClr val="folHlink"/>
                </a:solidFill>
              </a:rPr>
              <a:t>．设备驱动程序的功能</a:t>
            </a:r>
          </a:p>
          <a:p>
            <a:pPr marL="273050" indent="-273050">
              <a:lnSpc>
                <a:spcPct val="120000"/>
              </a:lnSpc>
            </a:pPr>
            <a:r>
              <a:rPr lang="zh-CN" altLang="en-US" sz="2800" b="1" dirty="0"/>
              <a:t>为了实现</a:t>
            </a:r>
            <a:r>
              <a:rPr lang="en-US" sz="2800" b="1" dirty="0"/>
              <a:t>I/O </a:t>
            </a:r>
            <a:r>
              <a:rPr lang="zh-CN" altLang="en-US" sz="2800" b="1" dirty="0"/>
              <a:t>进程与设备控制器之间的通信，设备驱动程序应具有以下功能：</a:t>
            </a:r>
          </a:p>
          <a:p>
            <a:pPr marL="273050" indent="-273050">
              <a:lnSpc>
                <a:spcPct val="120000"/>
              </a:lnSpc>
            </a:pPr>
            <a:r>
              <a:rPr lang="en-US" sz="2800" b="1" dirty="0"/>
              <a:t>(1) </a:t>
            </a:r>
            <a:r>
              <a:rPr lang="zh-CN" altLang="en-US" sz="2800" b="1" dirty="0">
                <a:solidFill>
                  <a:srgbClr val="FF0000"/>
                </a:solidFill>
              </a:rPr>
              <a:t>接收由设备独立性软件发来的命令和参数，并将命令中的抽象要求转换为具体要求</a:t>
            </a:r>
            <a:r>
              <a:rPr lang="zh-CN" altLang="en-US" sz="2800" b="1" dirty="0"/>
              <a:t>，例如，将磁盘块号转换为磁盘的盘面、磁道号及扇区号。</a:t>
            </a:r>
          </a:p>
          <a:p>
            <a:pPr marL="273050" indent="-273050">
              <a:lnSpc>
                <a:spcPct val="120000"/>
              </a:lnSpc>
            </a:pPr>
            <a:r>
              <a:rPr lang="en-US" sz="2800" b="1" dirty="0"/>
              <a:t>(2) </a:t>
            </a:r>
            <a:r>
              <a:rPr lang="zh-CN" altLang="en-US" sz="2800" b="1" dirty="0">
                <a:solidFill>
                  <a:srgbClr val="FF0000"/>
                </a:solidFill>
              </a:rPr>
              <a:t>检查用户</a:t>
            </a:r>
            <a:r>
              <a:rPr lang="en-US" sz="2800" b="1" dirty="0">
                <a:solidFill>
                  <a:srgbClr val="FF0000"/>
                </a:solidFill>
              </a:rPr>
              <a:t>I/O </a:t>
            </a:r>
            <a:r>
              <a:rPr lang="zh-CN" altLang="en-US" sz="2800" b="1" dirty="0">
                <a:solidFill>
                  <a:srgbClr val="FF0000"/>
                </a:solidFill>
              </a:rPr>
              <a:t>请求的合法性</a:t>
            </a:r>
            <a:r>
              <a:rPr lang="zh-CN" altLang="en-US" sz="2800" b="1" dirty="0"/>
              <a:t>，了解</a:t>
            </a:r>
            <a:r>
              <a:rPr lang="en-US" sz="2800" b="1" dirty="0"/>
              <a:t>I/O </a:t>
            </a:r>
            <a:r>
              <a:rPr lang="zh-CN" altLang="en-US" sz="2800" b="1" dirty="0"/>
              <a:t>设备的状态，传递有关参数，设置设备的工作方式。</a:t>
            </a:r>
          </a:p>
          <a:p>
            <a:pPr marL="273050" indent="-273050">
              <a:lnSpc>
                <a:spcPct val="120000"/>
              </a:lnSpc>
            </a:pPr>
            <a:r>
              <a:rPr lang="en-US" sz="2800" b="1" dirty="0"/>
              <a:t>(3</a:t>
            </a:r>
            <a:r>
              <a:rPr lang="en-US" sz="2800" b="1" dirty="0">
                <a:solidFill>
                  <a:srgbClr val="FFC000"/>
                </a:solidFill>
              </a:rPr>
              <a:t>) </a:t>
            </a:r>
            <a:r>
              <a:rPr lang="zh-CN" altLang="en-US" sz="2800" b="1" dirty="0">
                <a:solidFill>
                  <a:srgbClr val="FF0000"/>
                </a:solidFill>
              </a:rPr>
              <a:t>发出</a:t>
            </a:r>
            <a:r>
              <a:rPr lang="en-US" sz="2800" b="1" dirty="0">
                <a:solidFill>
                  <a:srgbClr val="FF0000"/>
                </a:solidFill>
              </a:rPr>
              <a:t>I/O </a:t>
            </a:r>
            <a:r>
              <a:rPr lang="zh-CN" altLang="en-US" sz="2800" b="1" dirty="0">
                <a:solidFill>
                  <a:srgbClr val="FF0000"/>
                </a:solidFill>
              </a:rPr>
              <a:t>命令</a:t>
            </a:r>
            <a:r>
              <a:rPr lang="zh-CN" altLang="en-US" sz="2800" b="1" dirty="0">
                <a:solidFill>
                  <a:srgbClr val="FFC000"/>
                </a:solidFill>
              </a:rPr>
              <a:t>。</a:t>
            </a:r>
            <a:r>
              <a:rPr lang="zh-CN" altLang="en-US" sz="2800" b="1" dirty="0"/>
              <a:t>如果设备空闲，便立即启动</a:t>
            </a:r>
            <a:r>
              <a:rPr lang="en-US" sz="2800" b="1" dirty="0"/>
              <a:t>I/O </a:t>
            </a:r>
            <a:r>
              <a:rPr lang="zh-CN" altLang="en-US" sz="2800" b="1" dirty="0"/>
              <a:t>设备去完成指定的</a:t>
            </a:r>
            <a:r>
              <a:rPr lang="en-US" sz="2800" b="1" dirty="0"/>
              <a:t>I/O </a:t>
            </a:r>
            <a:r>
              <a:rPr lang="zh-CN" altLang="en-US" sz="2800" b="1" dirty="0"/>
              <a:t>操作；如果设备处于忙碌状态，则将请求者的请求块挂在设备队列上等待。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2"/>
          <p:cNvSpPr>
            <a:spLocks noGrp="1"/>
          </p:cNvSpPr>
          <p:nvPr>
            <p:ph idx="4294967295"/>
          </p:nvPr>
        </p:nvSpPr>
        <p:spPr>
          <a:xfrm>
            <a:off x="457200" y="1125538"/>
            <a:ext cx="8229600" cy="4387850"/>
          </a:xfrm>
        </p:spPr>
        <p:txBody>
          <a:bodyPr/>
          <a:lstStyle/>
          <a:p>
            <a:pPr marL="273050" indent="-273050">
              <a:lnSpc>
                <a:spcPct val="150000"/>
              </a:lnSpc>
            </a:pPr>
            <a:r>
              <a:rPr lang="en-US" b="1"/>
              <a:t>(4) </a:t>
            </a:r>
            <a:r>
              <a:rPr lang="zh-CN" altLang="en-US" b="1"/>
              <a:t>及时响应由控制器或通道发来的中断请求，并根据其中断类型调用相应的中断处理程序进行处理。</a:t>
            </a:r>
          </a:p>
          <a:p>
            <a:pPr marL="273050" indent="-273050">
              <a:lnSpc>
                <a:spcPct val="150000"/>
              </a:lnSpc>
            </a:pPr>
            <a:r>
              <a:rPr lang="en-US" b="1"/>
              <a:t>(5) </a:t>
            </a:r>
            <a:r>
              <a:rPr lang="zh-CN" altLang="en-US" b="1"/>
              <a:t>对于设置有通道的计算机系统，驱动程序还应能够根据用户的</a:t>
            </a:r>
            <a:r>
              <a:rPr lang="en-US" b="1"/>
              <a:t>I/O </a:t>
            </a:r>
            <a:r>
              <a:rPr lang="zh-CN" altLang="en-US" b="1"/>
              <a:t>请求，自动地构成通道程序。</a:t>
            </a:r>
          </a:p>
          <a:p>
            <a:pPr marL="273050" indent="-273050">
              <a:lnSpc>
                <a:spcPct val="150000"/>
              </a:lnSpc>
            </a:pP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>
          <a:xfrm>
            <a:off x="107950" y="-241300"/>
            <a:ext cx="8229600" cy="1141413"/>
          </a:xfrm>
        </p:spPr>
        <p:txBody>
          <a:bodyPr lIns="0" rIns="0" bIns="0" anchor="b"/>
          <a:lstStyle/>
          <a:p>
            <a:r>
              <a:rPr lang="en-US" b="1">
                <a:solidFill>
                  <a:schemeClr val="folHlink"/>
                </a:solidFill>
              </a:rPr>
              <a:t>2.</a:t>
            </a:r>
            <a:r>
              <a:rPr lang="zh-CN" altLang="en-US" b="1">
                <a:solidFill>
                  <a:schemeClr val="folHlink"/>
                </a:solidFill>
              </a:rPr>
              <a:t>设备驱动程序的处理过程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250825" y="1054100"/>
            <a:ext cx="8569325" cy="5518172"/>
          </a:xfrm>
        </p:spPr>
        <p:txBody>
          <a:bodyPr/>
          <a:lstStyle/>
          <a:p>
            <a:pPr marL="273050" indent="-273050"/>
            <a:r>
              <a:rPr lang="zh-CN" altLang="en-US" sz="2500" b="1" dirty="0"/>
              <a:t>同类型的设备应有不同的设备驱动程序，其主要任务是启动指定设备。其具体处理过程有：</a:t>
            </a:r>
            <a:endParaRPr lang="en-US" sz="2500" b="1" dirty="0"/>
          </a:p>
          <a:p>
            <a:pPr marL="273050" indent="-273050"/>
            <a:r>
              <a:rPr lang="en-US" sz="2500" b="1" dirty="0"/>
              <a:t>1) </a:t>
            </a:r>
            <a:r>
              <a:rPr lang="zh-CN" altLang="en-US" sz="2500" b="1" dirty="0"/>
              <a:t>将抽象要求转换为具体要求。</a:t>
            </a:r>
            <a:endParaRPr lang="en-US" sz="2500" b="1" dirty="0"/>
          </a:p>
          <a:p>
            <a:pPr marL="273050" indent="-273050"/>
            <a:r>
              <a:rPr lang="en-US" sz="2500" b="1" dirty="0"/>
              <a:t>2) </a:t>
            </a:r>
            <a:r>
              <a:rPr lang="zh-CN" altLang="en-US" sz="2500" b="1" dirty="0"/>
              <a:t>检查</a:t>
            </a:r>
            <a:r>
              <a:rPr lang="en-US" sz="2500" b="1" dirty="0"/>
              <a:t>I/O </a:t>
            </a:r>
            <a:r>
              <a:rPr lang="zh-CN" altLang="en-US" sz="2500" b="1" dirty="0"/>
              <a:t>请求的合法性。</a:t>
            </a:r>
            <a:endParaRPr lang="en-US" sz="2500" b="1" dirty="0"/>
          </a:p>
          <a:p>
            <a:pPr marL="273050" indent="-273050"/>
            <a:r>
              <a:rPr lang="en-US" sz="2500" b="1" dirty="0"/>
              <a:t>3) </a:t>
            </a:r>
            <a:r>
              <a:rPr lang="zh-CN" altLang="en-US" sz="2500" b="1" dirty="0"/>
              <a:t>读出和检查设备的状态。</a:t>
            </a:r>
            <a:endParaRPr lang="en-US" sz="2500" b="1" dirty="0"/>
          </a:p>
          <a:p>
            <a:pPr marL="273050" indent="-273050"/>
            <a:r>
              <a:rPr lang="en-US" sz="2500" b="1" dirty="0"/>
              <a:t>4) </a:t>
            </a:r>
            <a:r>
              <a:rPr lang="zh-CN" altLang="en-US" sz="2500" b="1" dirty="0"/>
              <a:t>传送必要的参数。例如在启动磁盘进行读</a:t>
            </a:r>
            <a:r>
              <a:rPr lang="en-US" sz="2500" b="1" dirty="0"/>
              <a:t>/</a:t>
            </a:r>
            <a:r>
              <a:rPr lang="zh-CN" altLang="en-US" sz="2500" b="1" dirty="0"/>
              <a:t>写之前，应先将本次要传送的字节数和数据应到达的主存始址，送入控制器的相应寄存器中。</a:t>
            </a:r>
            <a:endParaRPr lang="en-US" sz="2500" b="1" dirty="0"/>
          </a:p>
          <a:p>
            <a:pPr marL="273050" indent="-273050"/>
            <a:r>
              <a:rPr lang="en-US" sz="2500" b="1" dirty="0"/>
              <a:t>5) </a:t>
            </a:r>
            <a:r>
              <a:rPr lang="zh-CN" altLang="en-US" sz="2500" b="1" dirty="0"/>
              <a:t>工作方式的设置。</a:t>
            </a:r>
            <a:endParaRPr lang="en-US" sz="2500" b="1" dirty="0"/>
          </a:p>
          <a:p>
            <a:pPr marL="273050" indent="-273050"/>
            <a:r>
              <a:rPr lang="en-US" sz="2500" b="1" dirty="0"/>
              <a:t>6) </a:t>
            </a:r>
            <a:r>
              <a:rPr lang="zh-CN" altLang="en-US" sz="2500" b="1" dirty="0"/>
              <a:t>启动</a:t>
            </a:r>
            <a:r>
              <a:rPr lang="en-US" sz="2500" b="1" dirty="0"/>
              <a:t>I/O </a:t>
            </a:r>
            <a:r>
              <a:rPr lang="zh-CN" altLang="en-US" sz="2500" b="1" dirty="0"/>
              <a:t>设备</a:t>
            </a:r>
            <a:r>
              <a:rPr lang="zh-CN" altLang="en-US" sz="2500" b="1" dirty="0" smtClean="0"/>
              <a:t>。在</a:t>
            </a:r>
            <a:r>
              <a:rPr lang="zh-CN" altLang="en-US" sz="2500" b="1" dirty="0"/>
              <a:t>完成上述各项准备工作之后，驱动程序可以向控制器中的命令寄存器传送相应的控制命令，从而完成设备的启动。</a:t>
            </a:r>
            <a:endParaRPr lang="en-US" sz="2500" b="1" dirty="0"/>
          </a:p>
          <a:p>
            <a:pPr marL="273050" indent="-273050"/>
            <a:endParaRPr lang="zh-CN" altLang="en-US" sz="2500" b="1" dirty="0"/>
          </a:p>
          <a:p>
            <a:pPr marL="273050" indent="-273050"/>
            <a:endParaRPr lang="zh-CN" altLang="en-US" sz="25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utoUpdateAnimBg="0"/>
      <p:bldP spid="54275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 idx="4294967295"/>
          </p:nvPr>
        </p:nvSpPr>
        <p:spPr>
          <a:xfrm>
            <a:off x="533400" y="214313"/>
            <a:ext cx="8077200" cy="1066800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、设备驱动程序的特点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4294967295"/>
          </p:nvPr>
        </p:nvSpPr>
        <p:spPr>
          <a:xfrm>
            <a:off x="533400" y="1571625"/>
            <a:ext cx="8077200" cy="449897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(1) </a:t>
            </a:r>
            <a:r>
              <a:rPr lang="zh-CN" altLang="en-US" b="1" dirty="0">
                <a:solidFill>
                  <a:srgbClr val="C00000"/>
                </a:solidFill>
              </a:rPr>
              <a:t>驱动程序主要是指在请求</a:t>
            </a:r>
            <a:r>
              <a:rPr lang="en-US" b="1" dirty="0">
                <a:solidFill>
                  <a:srgbClr val="C00000"/>
                </a:solidFill>
              </a:rPr>
              <a:t>I/O </a:t>
            </a:r>
            <a:r>
              <a:rPr lang="zh-CN" altLang="en-US" b="1" dirty="0">
                <a:solidFill>
                  <a:srgbClr val="C00000"/>
                </a:solidFill>
              </a:rPr>
              <a:t>的进程与设备控制器之间的一个通信和转换程序。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zh-CN" altLang="en-US" b="1" dirty="0"/>
              <a:t>它将进程的</a:t>
            </a:r>
            <a:r>
              <a:rPr lang="en-US" b="1" dirty="0"/>
              <a:t>I/O </a:t>
            </a:r>
            <a:r>
              <a:rPr lang="zh-CN" altLang="en-US" b="1" dirty="0"/>
              <a:t>请求经过转换后，传送给控制器；又把控制器中所记录的设备状态和</a:t>
            </a:r>
            <a:r>
              <a:rPr lang="en-US" b="1" dirty="0"/>
              <a:t>I/O </a:t>
            </a:r>
            <a:r>
              <a:rPr lang="zh-CN" altLang="en-US" b="1" dirty="0"/>
              <a:t>操作完成情况及时地反映给请求</a:t>
            </a:r>
            <a:r>
              <a:rPr lang="en-US" b="1" dirty="0"/>
              <a:t>I/O </a:t>
            </a:r>
            <a:r>
              <a:rPr lang="zh-CN" altLang="en-US" b="1" dirty="0"/>
              <a:t>的进程。</a:t>
            </a:r>
            <a:endParaRPr lang="en-US" b="1" dirty="0"/>
          </a:p>
          <a:p>
            <a:pPr lvl="1"/>
            <a:endParaRPr lang="en-US" b="1" dirty="0">
              <a:solidFill>
                <a:srgbClr val="FFFF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(2) </a:t>
            </a:r>
            <a:r>
              <a:rPr lang="zh-CN" altLang="en-US" b="1" dirty="0">
                <a:solidFill>
                  <a:srgbClr val="C00000"/>
                </a:solidFill>
              </a:rPr>
              <a:t>驱动程序与设备控制器和</a:t>
            </a:r>
            <a:r>
              <a:rPr lang="en-US" b="1" dirty="0">
                <a:solidFill>
                  <a:srgbClr val="C00000"/>
                </a:solidFill>
              </a:rPr>
              <a:t>I/O </a:t>
            </a:r>
            <a:r>
              <a:rPr lang="zh-CN" altLang="en-US" b="1" dirty="0">
                <a:solidFill>
                  <a:srgbClr val="C00000"/>
                </a:solidFill>
              </a:rPr>
              <a:t>设备的硬件特性紧密相关，因而对不同类型的设备应配置不同的驱动程序。</a:t>
            </a:r>
          </a:p>
          <a:p>
            <a:endParaRPr lang="en-US" b="1" dirty="0">
              <a:solidFill>
                <a:srgbClr val="FFFF00"/>
              </a:solidFill>
            </a:endParaRPr>
          </a:p>
          <a:p>
            <a:pPr lvl="1"/>
            <a:endParaRPr lang="zh-CN" altLang="en-US" b="1" dirty="0"/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内容占位符 2"/>
          <p:cNvSpPr>
            <a:spLocks noGrp="1"/>
          </p:cNvSpPr>
          <p:nvPr>
            <p:ph idx="4294967295"/>
          </p:nvPr>
        </p:nvSpPr>
        <p:spPr>
          <a:xfrm>
            <a:off x="533400" y="642938"/>
            <a:ext cx="8077200" cy="552926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(3) </a:t>
            </a:r>
            <a:r>
              <a:rPr lang="zh-CN" altLang="en-US" b="1" dirty="0">
                <a:solidFill>
                  <a:srgbClr val="C00000"/>
                </a:solidFill>
              </a:rPr>
              <a:t>驱动程序与</a:t>
            </a:r>
            <a:r>
              <a:rPr lang="en-US" b="1" dirty="0">
                <a:solidFill>
                  <a:srgbClr val="C00000"/>
                </a:solidFill>
              </a:rPr>
              <a:t>I/O </a:t>
            </a:r>
            <a:r>
              <a:rPr lang="zh-CN" altLang="en-US" b="1" dirty="0">
                <a:solidFill>
                  <a:srgbClr val="C00000"/>
                </a:solidFill>
              </a:rPr>
              <a:t>设备所采用的</a:t>
            </a:r>
            <a:r>
              <a:rPr lang="en-US" b="1" dirty="0">
                <a:solidFill>
                  <a:srgbClr val="C00000"/>
                </a:solidFill>
              </a:rPr>
              <a:t>I/O </a:t>
            </a:r>
            <a:r>
              <a:rPr lang="zh-CN" altLang="en-US" b="1" dirty="0">
                <a:solidFill>
                  <a:srgbClr val="C00000"/>
                </a:solidFill>
              </a:rPr>
              <a:t>控制方式紧密相关。中断方式与</a:t>
            </a:r>
            <a:r>
              <a:rPr lang="en-US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方式驱动程序不一样。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(4) </a:t>
            </a:r>
            <a:r>
              <a:rPr lang="zh-CN" altLang="en-US" b="1" dirty="0">
                <a:solidFill>
                  <a:srgbClr val="C00000"/>
                </a:solidFill>
              </a:rPr>
              <a:t>由于驱动程序与硬件紧密相关，因而其中的一部分必须用汇编语言书写。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(5) </a:t>
            </a:r>
            <a:r>
              <a:rPr lang="zh-CN" altLang="en-US" b="1" dirty="0">
                <a:solidFill>
                  <a:srgbClr val="C00000"/>
                </a:solidFill>
              </a:rPr>
              <a:t>驱动程序应允许可重入。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(6) </a:t>
            </a:r>
            <a:r>
              <a:rPr lang="zh-CN" altLang="en-US" b="1" dirty="0">
                <a:solidFill>
                  <a:srgbClr val="C00000"/>
                </a:solidFill>
              </a:rPr>
              <a:t>驱动程序可以使用某些系统调用。</a:t>
            </a:r>
          </a:p>
          <a:p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b="1" dirty="0">
              <a:solidFill>
                <a:srgbClr val="C00000"/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285750"/>
            <a:ext cx="8077200" cy="1066800"/>
          </a:xfrm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chemeClr val="folHlink"/>
                </a:solidFill>
              </a:rPr>
              <a:t>6</a:t>
            </a:r>
            <a:r>
              <a:rPr lang="en-US" b="1" dirty="0" smtClean="0">
                <a:solidFill>
                  <a:schemeClr val="folHlink"/>
                </a:solidFill>
              </a:rPr>
              <a:t>.</a:t>
            </a:r>
            <a:r>
              <a:rPr lang="en-US" altLang="zh-CN" b="1" dirty="0" smtClean="0">
                <a:solidFill>
                  <a:schemeClr val="folHlink"/>
                </a:solidFill>
              </a:rPr>
              <a:t>4.3</a:t>
            </a:r>
            <a:r>
              <a:rPr lang="en-US" b="1" dirty="0" smtClean="0">
                <a:solidFill>
                  <a:schemeClr val="folHlink"/>
                </a:solidFill>
              </a:rPr>
              <a:t>  </a:t>
            </a:r>
            <a:r>
              <a:rPr lang="zh-CN" altLang="en-US" b="1" dirty="0" smtClean="0">
                <a:solidFill>
                  <a:schemeClr val="folHlink"/>
                </a:solidFill>
              </a:rPr>
              <a:t>对</a:t>
            </a:r>
            <a:r>
              <a:rPr lang="en-US" b="1" dirty="0" smtClean="0">
                <a:solidFill>
                  <a:schemeClr val="folHlink"/>
                </a:solidFill>
              </a:rPr>
              <a:t>I/O</a:t>
            </a:r>
            <a:r>
              <a:rPr lang="zh-CN" altLang="en-US" b="1" dirty="0" smtClean="0">
                <a:solidFill>
                  <a:schemeClr val="folHlink"/>
                </a:solidFill>
              </a:rPr>
              <a:t>设备的控制</a:t>
            </a:r>
            <a:r>
              <a:rPr lang="zh-CN" altLang="en-US" b="1" dirty="0">
                <a:solidFill>
                  <a:schemeClr val="folHlink"/>
                </a:solidFill>
              </a:rPr>
              <a:t>方式</a:t>
            </a: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484313"/>
            <a:ext cx="8077200" cy="4498975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 smtClean="0">
                <a:solidFill>
                  <a:schemeClr val="folHlink"/>
                </a:solidFill>
              </a:rPr>
              <a:t>1. </a:t>
            </a:r>
            <a:r>
              <a:rPr lang="zh-CN" altLang="en-US" sz="3600" b="1" dirty="0" smtClean="0">
                <a:solidFill>
                  <a:schemeClr val="folHlink"/>
                </a:solidFill>
              </a:rPr>
              <a:t>轮询的</a:t>
            </a:r>
            <a:r>
              <a:rPr lang="en-US" sz="3600" b="1" dirty="0" smtClean="0">
                <a:solidFill>
                  <a:schemeClr val="folHlink"/>
                </a:solidFill>
              </a:rPr>
              <a:t>I/O</a:t>
            </a:r>
            <a:r>
              <a:rPr lang="zh-CN" altLang="en-US" sz="3600" b="1" dirty="0">
                <a:solidFill>
                  <a:schemeClr val="folHlink"/>
                </a:solidFill>
              </a:rPr>
              <a:t>方式 </a:t>
            </a:r>
            <a:endParaRPr lang="en-US" sz="3600" b="1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zh-CN" altLang="en-US" b="1" dirty="0"/>
              <a:t>	在程序</a:t>
            </a:r>
            <a:r>
              <a:rPr lang="en-US" b="1" dirty="0"/>
              <a:t>I/O</a:t>
            </a:r>
            <a:r>
              <a:rPr lang="zh-CN" altLang="en-US" b="1" dirty="0"/>
              <a:t>方式中，由于</a:t>
            </a:r>
            <a:r>
              <a:rPr lang="en-US" b="1" dirty="0"/>
              <a:t>CPU</a:t>
            </a:r>
            <a:r>
              <a:rPr lang="zh-CN" altLang="en-US" b="1" dirty="0"/>
              <a:t>的高速性和</a:t>
            </a:r>
            <a:r>
              <a:rPr lang="en-US" b="1" dirty="0"/>
              <a:t>I/O</a:t>
            </a:r>
            <a:r>
              <a:rPr lang="zh-CN" altLang="en-US" b="1" dirty="0"/>
              <a:t>设备的低速性， 致使</a:t>
            </a:r>
            <a:r>
              <a:rPr lang="en-US" b="1" dirty="0"/>
              <a:t>CPU</a:t>
            </a:r>
            <a:r>
              <a:rPr lang="zh-CN" altLang="en-US" b="1" dirty="0"/>
              <a:t>的绝大部分时间都处于等待</a:t>
            </a:r>
            <a:r>
              <a:rPr lang="en-US" b="1" dirty="0"/>
              <a:t>I/O</a:t>
            </a:r>
            <a:r>
              <a:rPr lang="zh-CN" altLang="en-US" b="1" dirty="0"/>
              <a:t>设备完成数据</a:t>
            </a:r>
            <a:r>
              <a:rPr lang="en-US" b="1" dirty="0"/>
              <a:t>I/O</a:t>
            </a:r>
            <a:r>
              <a:rPr lang="zh-CN" altLang="en-US" b="1" dirty="0"/>
              <a:t>的循环测试中， 造成对</a:t>
            </a:r>
            <a:r>
              <a:rPr lang="en-US" b="1" dirty="0"/>
              <a:t>CPU</a:t>
            </a:r>
            <a:r>
              <a:rPr lang="zh-CN" altLang="en-US" b="1" dirty="0"/>
              <a:t>的极大浪费。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zh-CN" altLang="en-US" b="1" dirty="0"/>
              <a:t>	在该方式中，</a:t>
            </a:r>
            <a:r>
              <a:rPr lang="en-US" b="1" i="1" u="sng" dirty="0">
                <a:solidFill>
                  <a:srgbClr val="FF0000"/>
                </a:solidFill>
              </a:rPr>
              <a:t>CPU</a:t>
            </a:r>
            <a:r>
              <a:rPr lang="zh-CN" altLang="en-US" b="1" i="1" u="sng" dirty="0">
                <a:solidFill>
                  <a:srgbClr val="FF0000"/>
                </a:solidFill>
              </a:rPr>
              <a:t>之所以要不断地测试</a:t>
            </a:r>
            <a:r>
              <a:rPr lang="en-US" b="1" i="1" u="sng" dirty="0">
                <a:solidFill>
                  <a:srgbClr val="FF0000"/>
                </a:solidFill>
              </a:rPr>
              <a:t>I/O</a:t>
            </a:r>
            <a:r>
              <a:rPr lang="zh-CN" altLang="en-US" b="1" i="1" u="sng" dirty="0">
                <a:solidFill>
                  <a:srgbClr val="FF0000"/>
                </a:solidFill>
              </a:rPr>
              <a:t>设备的状态，就是因为在</a:t>
            </a:r>
            <a:r>
              <a:rPr lang="en-US" b="1" i="1" u="sng" dirty="0">
                <a:solidFill>
                  <a:srgbClr val="FF0000"/>
                </a:solidFill>
              </a:rPr>
              <a:t>CPU</a:t>
            </a:r>
            <a:r>
              <a:rPr lang="zh-CN" altLang="en-US" b="1" i="1" u="sng" dirty="0">
                <a:solidFill>
                  <a:srgbClr val="FF0000"/>
                </a:solidFill>
              </a:rPr>
              <a:t>中无中断机构。 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71438" y="71414"/>
            <a:ext cx="8964612" cy="66690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Text Box 9"/>
          <p:cNvSpPr txBox="1">
            <a:spLocks noChangeArrowheads="1"/>
          </p:cNvSpPr>
          <p:nvPr/>
        </p:nvSpPr>
        <p:spPr bwMode="auto">
          <a:xfrm>
            <a:off x="4791075" y="6461125"/>
            <a:ext cx="4014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Times New Roman" pitchFamily="18" charset="0"/>
              </a:rPr>
              <a:t>图  程序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I/O</a:t>
            </a:r>
            <a:r>
              <a:rPr lang="zh-CN" altLang="en-US" sz="2000">
                <a:solidFill>
                  <a:srgbClr val="000000"/>
                </a:solidFill>
                <a:latin typeface="Times New Roman" pitchFamily="18" charset="0"/>
              </a:rPr>
              <a:t>和中断驱动方式的流程 </a:t>
            </a:r>
          </a:p>
        </p:txBody>
      </p:sp>
      <p:graphicFrame>
        <p:nvGraphicFramePr>
          <p:cNvPr id="18436" name="Object 10"/>
          <p:cNvGraphicFramePr>
            <a:graphicFrameLocks noChangeAspect="1"/>
          </p:cNvGraphicFramePr>
          <p:nvPr/>
        </p:nvGraphicFramePr>
        <p:xfrm>
          <a:off x="-395288" y="512763"/>
          <a:ext cx="9199563" cy="634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19" r:id="rId3" imgW="5394960" imgH="3596640" progId="Visio.Drawing.11">
                  <p:embed/>
                </p:oleObj>
              </mc:Choice>
              <mc:Fallback>
                <p:oleObj r:id="rId3" imgW="5394960" imgH="359664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95288" y="512763"/>
                        <a:ext cx="9199563" cy="634523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95288" y="642918"/>
            <a:ext cx="8462992" cy="5572164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在</a:t>
            </a:r>
            <a:r>
              <a:rPr lang="en-US" sz="2800" b="1" dirty="0">
                <a:solidFill>
                  <a:srgbClr val="FF0000"/>
                </a:solidFill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</a:rPr>
              <a:t>设备输入每个数据的过程中，由于无须</a:t>
            </a:r>
            <a:r>
              <a:rPr lang="en-US" sz="2800" b="1" dirty="0">
                <a:solidFill>
                  <a:srgbClr val="FF0000"/>
                </a:solidFill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</a:rPr>
              <a:t>干预</a:t>
            </a:r>
            <a:r>
              <a:rPr lang="zh-CN" altLang="en-US" sz="2800" b="1" dirty="0"/>
              <a:t>，因而可使</a:t>
            </a:r>
            <a:r>
              <a:rPr lang="en-US" sz="2800" b="1" dirty="0"/>
              <a:t>CPU</a:t>
            </a:r>
            <a:r>
              <a:rPr lang="zh-CN" altLang="en-US" sz="2800" b="1" dirty="0"/>
              <a:t>与</a:t>
            </a:r>
            <a:r>
              <a:rPr lang="en-US" sz="2800" b="1" dirty="0"/>
              <a:t>I/O</a:t>
            </a:r>
            <a:r>
              <a:rPr lang="zh-CN" altLang="en-US" sz="2800" b="1" dirty="0"/>
              <a:t>设备并行工作。仅当输完一个数据时，才需</a:t>
            </a:r>
            <a:r>
              <a:rPr lang="en-US" sz="2800" b="1" dirty="0"/>
              <a:t>CPU</a:t>
            </a:r>
            <a:r>
              <a:rPr lang="zh-CN" altLang="en-US" sz="2800" b="1" dirty="0"/>
              <a:t>花费极短的时间去做些中断处理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Ø"/>
            </a:pPr>
            <a:r>
              <a:rPr lang="zh-CN" altLang="en-US" sz="2800" b="1" dirty="0"/>
              <a:t>例如，从终端输入一个字符的时间约为</a:t>
            </a:r>
            <a:r>
              <a:rPr lang="en-US" sz="2800" b="1" dirty="0"/>
              <a:t>100 ms</a:t>
            </a:r>
            <a:r>
              <a:rPr lang="zh-CN" altLang="en-US" sz="2800" b="1" dirty="0"/>
              <a:t>， 而将字符送入终端缓冲区的时间小于 </a:t>
            </a:r>
            <a:r>
              <a:rPr lang="en-US" sz="2800" b="1" dirty="0"/>
              <a:t>0.1 ms</a:t>
            </a:r>
            <a:r>
              <a:rPr lang="zh-CN" altLang="en-US" sz="2800" b="1" dirty="0"/>
              <a:t>。 若采用程序</a:t>
            </a:r>
            <a:r>
              <a:rPr lang="en-US" sz="2800" b="1" dirty="0"/>
              <a:t>I/O</a:t>
            </a:r>
            <a:r>
              <a:rPr lang="zh-CN" altLang="en-US" sz="2800" b="1" dirty="0"/>
              <a:t>方式，</a:t>
            </a:r>
            <a:r>
              <a:rPr lang="en-US" sz="2800" b="1" dirty="0"/>
              <a:t>CPU</a:t>
            </a:r>
            <a:r>
              <a:rPr lang="zh-CN" altLang="en-US" sz="2800" b="1" dirty="0"/>
              <a:t>约有 </a:t>
            </a:r>
            <a:r>
              <a:rPr lang="en-US" sz="2800" b="1" dirty="0"/>
              <a:t>99.9 ms</a:t>
            </a:r>
            <a:r>
              <a:rPr lang="zh-CN" altLang="en-US" sz="2800" b="1" dirty="0"/>
              <a:t>的时间处于忙</a:t>
            </a:r>
            <a:r>
              <a:rPr lang="en-US" sz="2800" b="1" dirty="0"/>
              <a:t>—</a:t>
            </a:r>
            <a:r>
              <a:rPr lang="zh-CN" altLang="en-US" sz="2800" b="1" dirty="0"/>
              <a:t>等待中。 采用中断驱动方式后，</a:t>
            </a:r>
            <a:r>
              <a:rPr lang="en-US" sz="2800" b="1" dirty="0"/>
              <a:t>CPU</a:t>
            </a:r>
            <a:r>
              <a:rPr lang="zh-CN" altLang="en-US" sz="2800" b="1" dirty="0"/>
              <a:t>可利用这 </a:t>
            </a:r>
            <a:r>
              <a:rPr lang="en-US" sz="2800" b="1" dirty="0"/>
              <a:t>99.9 ms</a:t>
            </a:r>
            <a:r>
              <a:rPr lang="zh-CN" altLang="en-US" sz="2800" b="1" dirty="0"/>
              <a:t>的时间去做其它事情，而仅用 </a:t>
            </a:r>
            <a:r>
              <a:rPr lang="en-US" sz="2800" b="1" dirty="0"/>
              <a:t>0.1 ms</a:t>
            </a:r>
            <a:r>
              <a:rPr lang="zh-CN" altLang="en-US" sz="2800" b="1" dirty="0"/>
              <a:t>的时间来处理由控制器发来的中断请求。 可见，</a:t>
            </a:r>
            <a:r>
              <a:rPr lang="zh-CN" altLang="en-US" sz="2800" b="1" dirty="0">
                <a:solidFill>
                  <a:srgbClr val="FF0000"/>
                </a:solidFill>
              </a:rPr>
              <a:t>中断驱动方式可以成百倍地提高</a:t>
            </a:r>
            <a:r>
              <a:rPr lang="en-US" sz="2800" b="1" dirty="0">
                <a:solidFill>
                  <a:srgbClr val="FF0000"/>
                </a:solidFill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</a:rPr>
              <a:t>的利用率。 </a:t>
            </a:r>
          </a:p>
          <a:p>
            <a:pPr eaLnBrk="1" hangingPunct="1">
              <a:lnSpc>
                <a:spcPct val="110000"/>
              </a:lnSpc>
            </a:pPr>
            <a:endParaRPr lang="en-US" sz="28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中断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I/O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比程序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I/O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方式高效，但以字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字节为传输单位。每完成一个字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字节的传输，设备均要向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请求一次中断。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250825" y="130175"/>
            <a:ext cx="8077200" cy="1066800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solidFill>
                  <a:schemeClr val="folHlink"/>
                </a:solidFill>
              </a:rPr>
              <a:t>3.</a:t>
            </a:r>
            <a:r>
              <a:rPr lang="en-US" sz="3200" b="1" dirty="0" smtClean="0">
                <a:solidFill>
                  <a:schemeClr val="folHlink"/>
                </a:solidFill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</a:rPr>
              <a:t>直接存储器访问</a:t>
            </a:r>
            <a:r>
              <a:rPr lang="en-US" sz="3200" b="1" dirty="0">
                <a:solidFill>
                  <a:schemeClr val="folHlink"/>
                </a:solidFill>
              </a:rPr>
              <a:t>DMA I/O</a:t>
            </a:r>
            <a:r>
              <a:rPr lang="zh-CN" altLang="en-US" sz="3200" b="1" dirty="0">
                <a:solidFill>
                  <a:schemeClr val="folHlink"/>
                </a:solidFill>
              </a:rPr>
              <a:t>控制方式 </a:t>
            </a:r>
          </a:p>
        </p:txBody>
      </p:sp>
      <p:sp>
        <p:nvSpPr>
          <p:cNvPr id="2150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125538"/>
            <a:ext cx="8253442" cy="4660916"/>
          </a:xfrm>
        </p:spPr>
        <p:txBody>
          <a:bodyPr/>
          <a:lstStyle/>
          <a:p>
            <a:pPr algn="just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800" b="1" dirty="0"/>
              <a:t>该方式的特点是：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600" b="1" dirty="0"/>
              <a:t>① </a:t>
            </a:r>
            <a:r>
              <a:rPr lang="zh-CN" altLang="en-US" sz="2600" b="1" dirty="0">
                <a:solidFill>
                  <a:srgbClr val="FF0000"/>
                </a:solidFill>
              </a:rPr>
              <a:t>数据传输的基本单位是数据块</a:t>
            </a:r>
            <a:r>
              <a:rPr lang="zh-CN" altLang="en-US" sz="2600" b="1" dirty="0"/>
              <a:t>，即在</a:t>
            </a:r>
            <a:r>
              <a:rPr lang="en-US" sz="2600" b="1" dirty="0"/>
              <a:t>CPU</a:t>
            </a:r>
            <a:r>
              <a:rPr lang="zh-CN" altLang="en-US" sz="2600" b="1" dirty="0"/>
              <a:t>与</a:t>
            </a:r>
            <a:r>
              <a:rPr lang="en-US" sz="2600" b="1" dirty="0"/>
              <a:t>I/O</a:t>
            </a:r>
            <a:r>
              <a:rPr lang="zh-CN" altLang="en-US" sz="2600" b="1" dirty="0"/>
              <a:t>设备之间，每次传送至少一个数据块；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600" b="1" dirty="0"/>
              <a:t>② 所传送的数据是从</a:t>
            </a:r>
            <a:r>
              <a:rPr lang="zh-CN" altLang="en-US" sz="2600" b="1" dirty="0">
                <a:solidFill>
                  <a:schemeClr val="folHlink"/>
                </a:solidFill>
              </a:rPr>
              <a:t>设备直接送入内存</a:t>
            </a:r>
            <a:r>
              <a:rPr lang="zh-CN" altLang="en-US" sz="2600" b="1" dirty="0"/>
              <a:t>的，或者相反；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600" b="1" dirty="0"/>
              <a:t> ③ 仅在传送一个或多个数据块的开始和结束时，才需</a:t>
            </a:r>
            <a:r>
              <a:rPr lang="en-US" sz="2600" b="1" dirty="0"/>
              <a:t>CPU</a:t>
            </a:r>
            <a:r>
              <a:rPr lang="zh-CN" altLang="en-US" sz="2600" b="1" dirty="0"/>
              <a:t>干预，整块数据的传送是在控制器的控制下完成的。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600" b="1" dirty="0"/>
              <a:t>	可见，</a:t>
            </a:r>
            <a:r>
              <a:rPr lang="en-US" sz="2600" b="1" dirty="0"/>
              <a:t>DMA</a:t>
            </a:r>
            <a:r>
              <a:rPr lang="zh-CN" altLang="en-US" sz="2600" b="1" dirty="0"/>
              <a:t>方式较之中断驱动方式，又是成百倍地减少了</a:t>
            </a:r>
            <a:r>
              <a:rPr lang="en-US" sz="2600" b="1" dirty="0"/>
              <a:t>CPU</a:t>
            </a:r>
            <a:r>
              <a:rPr lang="zh-CN" altLang="en-US" sz="2600" b="1" dirty="0"/>
              <a:t>对</a:t>
            </a:r>
            <a:r>
              <a:rPr lang="en-US" sz="2600" b="1" dirty="0"/>
              <a:t>I/O</a:t>
            </a:r>
            <a:r>
              <a:rPr lang="zh-CN" altLang="en-US" sz="2600" b="1" dirty="0"/>
              <a:t>的干预，进一步提高了</a:t>
            </a:r>
            <a:r>
              <a:rPr lang="en-US" sz="2600" b="1" dirty="0"/>
              <a:t>CPU</a:t>
            </a:r>
            <a:r>
              <a:rPr lang="zh-CN" altLang="en-US" sz="2600" b="1" dirty="0"/>
              <a:t>与</a:t>
            </a:r>
            <a:r>
              <a:rPr lang="en-US" sz="2600" b="1" dirty="0"/>
              <a:t>I/O</a:t>
            </a:r>
            <a:r>
              <a:rPr lang="zh-CN" altLang="en-US" sz="2600" b="1" dirty="0"/>
              <a:t>设备的并行操作程度。 </a:t>
            </a:r>
          </a:p>
          <a:p>
            <a:pPr eaLnBrk="1" hangingPunct="1"/>
            <a:endParaRPr lang="en-US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990600" y="787400"/>
            <a:ext cx="3621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folHlink"/>
                </a:solidFill>
                <a:latin typeface="Times New Roman" pitchFamily="18" charset="0"/>
              </a:rPr>
              <a:t>2. DMA</a:t>
            </a:r>
            <a:r>
              <a:rPr lang="zh-CN" altLang="en-US" sz="2800">
                <a:solidFill>
                  <a:schemeClr val="folHlink"/>
                </a:solidFill>
                <a:latin typeface="Times New Roman" pitchFamily="18" charset="0"/>
              </a:rPr>
              <a:t>控制器的组成 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819400" y="6211888"/>
            <a:ext cx="3209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图 </a:t>
            </a:r>
            <a:r>
              <a:rPr lang="en-US" sz="2400">
                <a:latin typeface="Times New Roman" pitchFamily="18" charset="0"/>
              </a:rPr>
              <a:t>DMA</a:t>
            </a:r>
            <a:r>
              <a:rPr lang="zh-CN" altLang="en-US" sz="2400">
                <a:latin typeface="Times New Roman" pitchFamily="18" charset="0"/>
              </a:rPr>
              <a:t>控制器的组成 </a:t>
            </a: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142875" y="1412875"/>
            <a:ext cx="8893175" cy="4679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0" y="1844675"/>
          <a:ext cx="8893175" cy="394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43" r:id="rId3" imgW="3703320" imgH="1592580" progId="Visio.Drawing.11">
                  <p:embed/>
                </p:oleObj>
              </mc:Choice>
              <mc:Fallback>
                <p:oleObj r:id="rId3" imgW="3703320" imgH="159258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44675"/>
                        <a:ext cx="8893175" cy="39433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圆角矩形标注 7"/>
          <p:cNvSpPr>
            <a:spLocks noChangeArrowheads="1"/>
          </p:cNvSpPr>
          <p:nvPr/>
        </p:nvSpPr>
        <p:spPr bwMode="auto">
          <a:xfrm>
            <a:off x="5500688" y="5072063"/>
            <a:ext cx="2214562" cy="928687"/>
          </a:xfrm>
          <a:prstGeom prst="wedgeRoundRectCallout">
            <a:avLst>
              <a:gd name="adj1" fmla="val -54912"/>
              <a:gd name="adj2" fmla="val -110977"/>
              <a:gd name="adj3" fmla="val 16667"/>
            </a:avLst>
          </a:prstGeom>
          <a:solidFill>
            <a:schemeClr val="accent1"/>
          </a:solidFill>
          <a:ln w="9525" cmpd="sng">
            <a:solidFill>
              <a:schemeClr val="tx1"/>
            </a:solidFill>
            <a:bevel/>
            <a:headEnd/>
            <a:tailEnd/>
          </a:ln>
        </p:spPr>
        <p:txBody>
          <a:bodyPr/>
          <a:lstStyle/>
          <a:p>
            <a:r>
              <a:rPr lang="zh-CN" altLang="en-US" dirty="0">
                <a:latin typeface="Times New Roman" pitchFamily="18" charset="0"/>
              </a:rPr>
              <a:t>用于暂存从设备到内存，或从内存到设备</a:t>
            </a:r>
            <a:r>
              <a:rPr lang="zh-CN" altLang="en-US" dirty="0" smtClean="0">
                <a:latin typeface="Times New Roman" pitchFamily="18" charset="0"/>
              </a:rPr>
              <a:t>的控制命令。</a:t>
            </a:r>
            <a:endParaRPr lang="zh-CN" altLang="en-US" dirty="0"/>
          </a:p>
        </p:txBody>
      </p:sp>
      <p:sp>
        <p:nvSpPr>
          <p:cNvPr id="22535" name="圆角矩形标注 8"/>
          <p:cNvSpPr>
            <a:spLocks noChangeArrowheads="1"/>
          </p:cNvSpPr>
          <p:nvPr/>
        </p:nvSpPr>
        <p:spPr bwMode="auto">
          <a:xfrm>
            <a:off x="785813" y="2928938"/>
            <a:ext cx="3571875" cy="1285875"/>
          </a:xfrm>
          <a:prstGeom prst="wedgeRoundRectCallout">
            <a:avLst>
              <a:gd name="adj1" fmla="val 73981"/>
              <a:gd name="adj2" fmla="val -5222"/>
              <a:gd name="adj3" fmla="val 16667"/>
            </a:avLst>
          </a:prstGeom>
          <a:solidFill>
            <a:schemeClr val="accent1"/>
          </a:solidFill>
          <a:ln w="9525" cmpd="sng">
            <a:solidFill>
              <a:schemeClr val="tx1"/>
            </a:solidFill>
            <a:bevel/>
            <a:headEnd/>
            <a:tailEnd/>
          </a:ln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在输入时，它存放把数据从设备传送到内存的起始目标地址；在输出时，它存放由内存到设备的内存源地址。</a:t>
            </a:r>
            <a:endParaRPr lang="zh-CN" altLang="en-US"/>
          </a:p>
        </p:txBody>
      </p:sp>
      <p:sp>
        <p:nvSpPr>
          <p:cNvPr id="22536" name="矩形标注 9"/>
          <p:cNvSpPr>
            <a:spLocks noChangeArrowheads="1"/>
          </p:cNvSpPr>
          <p:nvPr/>
        </p:nvSpPr>
        <p:spPr bwMode="auto">
          <a:xfrm>
            <a:off x="2214563" y="4429125"/>
            <a:ext cx="2214562" cy="714375"/>
          </a:xfrm>
          <a:prstGeom prst="wedgeRectCallout">
            <a:avLst>
              <a:gd name="adj1" fmla="val 93861"/>
              <a:gd name="adj2" fmla="val -101310"/>
            </a:avLst>
          </a:prstGeom>
          <a:solidFill>
            <a:schemeClr val="accent1"/>
          </a:solidFill>
          <a:ln w="9525" cmpd="sng">
            <a:solidFill>
              <a:schemeClr val="tx1"/>
            </a:solidFill>
            <a:bevel/>
            <a:headEnd/>
            <a:tailEnd/>
          </a:ln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存放本次</a:t>
            </a:r>
            <a:r>
              <a:rPr lang="en-US">
                <a:latin typeface="Times New Roman" pitchFamily="18" charset="0"/>
              </a:rPr>
              <a:t>CPU</a:t>
            </a:r>
            <a:r>
              <a:rPr lang="zh-CN" altLang="en-US">
                <a:latin typeface="Times New Roman" pitchFamily="18" charset="0"/>
              </a:rPr>
              <a:t>要读或写的字</a:t>
            </a:r>
            <a:r>
              <a:rPr lang="en-US">
                <a:latin typeface="Times New Roman" pitchFamily="18" charset="0"/>
              </a:rPr>
              <a:t>(</a:t>
            </a:r>
            <a:r>
              <a:rPr lang="zh-CN" altLang="en-US">
                <a:latin typeface="Times New Roman" pitchFamily="18" charset="0"/>
              </a:rPr>
              <a:t>节</a:t>
            </a:r>
            <a:r>
              <a:rPr lang="en-US">
                <a:latin typeface="Times New Roman" pitchFamily="18" charset="0"/>
              </a:rPr>
              <a:t>)</a:t>
            </a:r>
            <a:r>
              <a:rPr lang="zh-CN" altLang="en-US">
                <a:latin typeface="Times New Roman" pitchFamily="18" charset="0"/>
              </a:rPr>
              <a:t>数。</a:t>
            </a:r>
            <a:endParaRPr lang="zh-CN" altLang="en-US"/>
          </a:p>
        </p:txBody>
      </p:sp>
      <p:sp>
        <p:nvSpPr>
          <p:cNvPr id="22537" name="矩形标注 10"/>
          <p:cNvSpPr>
            <a:spLocks noChangeArrowheads="1"/>
          </p:cNvSpPr>
          <p:nvPr/>
        </p:nvSpPr>
        <p:spPr bwMode="auto">
          <a:xfrm>
            <a:off x="5072063" y="1571625"/>
            <a:ext cx="2643187" cy="857250"/>
          </a:xfrm>
          <a:prstGeom prst="wedgeRectCallout">
            <a:avLst>
              <a:gd name="adj1" fmla="val -38954"/>
              <a:gd name="adj2" fmla="val 73926"/>
            </a:avLst>
          </a:prstGeom>
          <a:solidFill>
            <a:schemeClr val="accent1"/>
          </a:solidFill>
          <a:ln w="9525" cmpd="sng">
            <a:solidFill>
              <a:schemeClr val="tx1"/>
            </a:solidFill>
            <a:bevel/>
            <a:headEnd/>
            <a:tailEnd/>
          </a:ln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用于暂存从设备到内存，或从内存到设备的数据。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nimBg="1" autoUpdateAnimBg="0"/>
      <p:bldP spid="22535" grpId="0" animBg="1" autoUpdateAnimBg="0"/>
      <p:bldP spid="22536" grpId="0" animBg="1" autoUpdateAnimBg="0"/>
      <p:bldP spid="22537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533400" y="685800"/>
            <a:ext cx="8153400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       </a:t>
            </a:r>
            <a:r>
              <a:rPr lang="zh-CN" altLang="en-US" sz="2400">
                <a:latin typeface="Times New Roman" pitchFamily="18" charset="0"/>
              </a:rPr>
              <a:t>为了实现在主机与控制器之间成块数据的直接交换， 必须在</a:t>
            </a:r>
            <a:r>
              <a:rPr lang="en-US" sz="2400">
                <a:latin typeface="Times New Roman" pitchFamily="18" charset="0"/>
              </a:rPr>
              <a:t>DMA</a:t>
            </a:r>
            <a:r>
              <a:rPr lang="zh-CN" altLang="en-US" sz="2400">
                <a:latin typeface="Times New Roman" pitchFamily="18" charset="0"/>
              </a:rPr>
              <a:t>控制器中设置如下四类寄存器：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       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(1) 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命令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/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状态寄存器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CR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。</a:t>
            </a:r>
            <a:r>
              <a:rPr lang="zh-CN" altLang="en-US" sz="2400">
                <a:latin typeface="Times New Roman" pitchFamily="18" charset="0"/>
              </a:rPr>
              <a:t>用于接收从</a:t>
            </a:r>
            <a:r>
              <a:rPr lang="en-US" sz="2400">
                <a:latin typeface="Times New Roman" pitchFamily="18" charset="0"/>
              </a:rPr>
              <a:t>CPU</a:t>
            </a:r>
            <a:r>
              <a:rPr lang="zh-CN" altLang="en-US" sz="2400">
                <a:latin typeface="Times New Roman" pitchFamily="18" charset="0"/>
              </a:rPr>
              <a:t>发来的</a:t>
            </a:r>
            <a:r>
              <a:rPr lang="en-US" sz="2400">
                <a:latin typeface="Times New Roman" pitchFamily="18" charset="0"/>
              </a:rPr>
              <a:t>I/O</a:t>
            </a:r>
            <a:r>
              <a:rPr lang="zh-CN" altLang="en-US" sz="2400">
                <a:latin typeface="Times New Roman" pitchFamily="18" charset="0"/>
              </a:rPr>
              <a:t>命令或有关控制信息， 或设备的状态。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>
                <a:latin typeface="Times New Roman" pitchFamily="18" charset="0"/>
              </a:rPr>
              <a:t>       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(2) 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内存地址寄存器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MAR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。</a:t>
            </a:r>
            <a:r>
              <a:rPr lang="zh-CN" altLang="en-US" sz="2400">
                <a:latin typeface="Times New Roman" pitchFamily="18" charset="0"/>
              </a:rPr>
              <a:t>在输入时，它存放把数据从设备传送到内存的起始目标地址；在输出时，它存放由内存到设备的内存源地址。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>
                <a:latin typeface="Times New Roman" pitchFamily="18" charset="0"/>
              </a:rPr>
              <a:t>       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(3) 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数据寄存器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DR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。</a:t>
            </a:r>
            <a:r>
              <a:rPr lang="zh-CN" altLang="en-US" sz="2400">
                <a:latin typeface="Times New Roman" pitchFamily="18" charset="0"/>
              </a:rPr>
              <a:t>用于暂存从设备到内存，或从内存到设备的数据。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>
                <a:latin typeface="Times New Roman" pitchFamily="18" charset="0"/>
              </a:rPr>
              <a:t>        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(4) 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数据计数器</a:t>
            </a:r>
            <a:r>
              <a:rPr lang="en-US" sz="2400">
                <a:solidFill>
                  <a:schemeClr val="folHlink"/>
                </a:solidFill>
                <a:latin typeface="Times New Roman" pitchFamily="18" charset="0"/>
              </a:rPr>
              <a:t>DC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</a:rPr>
              <a:t>。</a:t>
            </a:r>
            <a:r>
              <a:rPr lang="zh-CN" altLang="en-US" sz="2400">
                <a:latin typeface="Times New Roman" pitchFamily="18" charset="0"/>
              </a:rPr>
              <a:t> 存放本次</a:t>
            </a:r>
            <a:r>
              <a:rPr lang="en-US" sz="2400">
                <a:latin typeface="Times New Roman" pitchFamily="18" charset="0"/>
              </a:rPr>
              <a:t>CPU</a:t>
            </a:r>
            <a:r>
              <a:rPr lang="zh-CN" altLang="en-US" sz="2400">
                <a:latin typeface="Times New Roman" pitchFamily="18" charset="0"/>
              </a:rPr>
              <a:t>要读或写的字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zh-CN" altLang="en-US" sz="2400">
                <a:latin typeface="Times New Roman" pitchFamily="18" charset="0"/>
              </a:rPr>
              <a:t>节</a:t>
            </a:r>
            <a:r>
              <a:rPr lang="en-US" sz="2400">
                <a:latin typeface="Times New Roman" pitchFamily="18" charset="0"/>
              </a:rPr>
              <a:t>)</a:t>
            </a:r>
            <a:r>
              <a:rPr lang="zh-CN" altLang="en-US" sz="2400">
                <a:latin typeface="Times New Roman" pitchFamily="18" charset="0"/>
              </a:rPr>
              <a:t>数。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0600" y="549275"/>
            <a:ext cx="2513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3. DMA</a:t>
            </a:r>
            <a:r>
              <a:rPr lang="zh-CN" altLang="en-US" sz="2400">
                <a:latin typeface="Times New Roman" pitchFamily="18" charset="0"/>
              </a:rPr>
              <a:t>工作过程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048000" y="6400800"/>
            <a:ext cx="3970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图 </a:t>
            </a:r>
            <a:r>
              <a:rPr lang="en-US" sz="2400">
                <a:latin typeface="Times New Roman" pitchFamily="18" charset="0"/>
              </a:rPr>
              <a:t>5-9 DMA</a:t>
            </a:r>
            <a:r>
              <a:rPr lang="zh-CN" altLang="en-US" sz="2400">
                <a:latin typeface="Times New Roman" pitchFamily="18" charset="0"/>
              </a:rPr>
              <a:t>方式的工作流程 </a:t>
            </a: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684213" y="1196975"/>
            <a:ext cx="7848600" cy="51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81" name="Object 6"/>
          <p:cNvGraphicFramePr>
            <a:graphicFrameLocks noChangeAspect="1"/>
          </p:cNvGraphicFramePr>
          <p:nvPr/>
        </p:nvGraphicFramePr>
        <p:xfrm>
          <a:off x="2843213" y="815975"/>
          <a:ext cx="4638675" cy="570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67" r:id="rId3" imgW="2156460" imgH="2651760" progId="Visio.Drawing.11">
                  <p:embed/>
                </p:oleObj>
              </mc:Choice>
              <mc:Fallback>
                <p:oleObj r:id="rId3" imgW="2156460" imgH="265176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815975"/>
                        <a:ext cx="4638675" cy="57086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2938" y="1805014"/>
            <a:ext cx="7808912" cy="4410068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dirty="0">
                <a:solidFill>
                  <a:schemeClr val="folHlink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3600" b="1" dirty="0">
                <a:solidFill>
                  <a:schemeClr val="folHlink"/>
                </a:solidFill>
                <a:latin typeface="楷体_GB2312" pitchFamily="1" charset="-122"/>
                <a:ea typeface="楷体_GB2312" pitchFamily="1" charset="-122"/>
              </a:rPr>
              <a:t>、问题的提出</a:t>
            </a:r>
          </a:p>
          <a:p>
            <a:pPr>
              <a:lnSpc>
                <a:spcPct val="90000"/>
              </a:lnSpc>
            </a:pPr>
            <a:r>
              <a:rPr lang="zh-CN" altLang="en-US" b="1" i="1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为了使应用程序的通用性和适应性得到提高，系统必须能够实现应用程序中所使用的设备与系统的物理设备无关</a:t>
            </a:r>
            <a:r>
              <a:rPr lang="zh-CN" altLang="en-US" b="1" i="1" u="sng" dirty="0" smtClean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en-US" altLang="zh-CN" b="1" i="1" u="sng" dirty="0" smtClean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endParaRPr lang="zh-CN" altLang="en-US" b="1" i="1" u="sng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3200" b="1" dirty="0">
                <a:latin typeface="楷体_GB2312" pitchFamily="1" charset="-122"/>
                <a:ea typeface="楷体_GB2312" pitchFamily="1" charset="-122"/>
              </a:rPr>
              <a:t>把应用程序中所使用的设备称为</a:t>
            </a:r>
            <a:r>
              <a:rPr lang="zh-CN" altLang="en-US" sz="3200" b="1" i="1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逻辑设备</a:t>
            </a:r>
            <a:r>
              <a:rPr lang="zh-CN" altLang="en-US" sz="3200" b="1" dirty="0">
                <a:latin typeface="楷体_GB2312" pitchFamily="1" charset="-122"/>
                <a:ea typeface="楷体_GB2312" pitchFamily="1" charset="-122"/>
              </a:rPr>
              <a:t> 。</a:t>
            </a:r>
          </a:p>
          <a:p>
            <a:pPr lvl="1">
              <a:lnSpc>
                <a:spcPct val="90000"/>
              </a:lnSpc>
            </a:pPr>
            <a:r>
              <a:rPr lang="zh-CN" altLang="en-US" sz="3200" b="1" dirty="0">
                <a:latin typeface="楷体_GB2312" pitchFamily="1" charset="-122"/>
                <a:ea typeface="楷体_GB2312" pitchFamily="1" charset="-122"/>
              </a:rPr>
              <a:t>由系统实现逻辑设备名映射为</a:t>
            </a:r>
            <a:r>
              <a:rPr lang="zh-CN" altLang="en-US" sz="3200" b="1" i="1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物理设备名</a:t>
            </a:r>
            <a:r>
              <a:rPr lang="zh-CN" altLang="en-US" sz="3200" b="1" dirty="0">
                <a:latin typeface="楷体_GB2312" pitchFamily="1" charset="-122"/>
                <a:ea typeface="楷体_GB2312" pitchFamily="1" charset="-122"/>
              </a:rPr>
              <a:t>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85786" y="198423"/>
            <a:ext cx="7489825" cy="1158875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/>
            <a:r>
              <a:rPr lang="en-US" altLang="zh-CN" sz="4400" b="1" dirty="0"/>
              <a:t> </a:t>
            </a:r>
            <a:r>
              <a:rPr lang="en-US" altLang="zh-CN" sz="4400" b="1" dirty="0" smtClean="0"/>
              <a:t>6.5 </a:t>
            </a:r>
            <a:r>
              <a:rPr lang="zh-CN" altLang="en-US" sz="4400" b="1" dirty="0" smtClean="0"/>
              <a:t>与设备无关的</a:t>
            </a:r>
            <a:r>
              <a:rPr lang="en-US" altLang="zh-CN" sz="4400" b="1" dirty="0" smtClean="0"/>
              <a:t>I/O</a:t>
            </a:r>
            <a:r>
              <a:rPr lang="zh-CN" altLang="en-US" sz="4400" b="1" dirty="0" smtClean="0"/>
              <a:t>软件</a:t>
            </a:r>
            <a:endParaRPr lang="zh-CN" altLang="en-US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3713" y="-24"/>
            <a:ext cx="7793037" cy="677862"/>
          </a:xfrm>
        </p:spPr>
        <p:txBody>
          <a:bodyPr/>
          <a:lstStyle/>
          <a:p>
            <a:r>
              <a: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、设备独立性性的实现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2938" y="892151"/>
            <a:ext cx="77724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>
                <a:latin typeface="宋体" pitchFamily="2" charset="-122"/>
                <a:cs typeface="Times New Roman" pitchFamily="18" charset="0"/>
              </a:rPr>
              <a:t>为了实现设备独立性，设置一张逻辑设备表</a:t>
            </a:r>
            <a:r>
              <a:rPr lang="en-US" sz="2800" b="1">
                <a:latin typeface="宋体" pitchFamily="2" charset="-122"/>
                <a:cs typeface="Times New Roman" pitchFamily="18" charset="0"/>
              </a:rPr>
              <a:t>LUT</a:t>
            </a:r>
            <a:r>
              <a:rPr lang="zh-CN" altLang="en-US" sz="2800" b="1">
                <a:latin typeface="宋体" pitchFamily="2" charset="-122"/>
                <a:cs typeface="Times New Roman" pitchFamily="18" charset="0"/>
              </a:rPr>
              <a:t>，用于映射应用程序中所使用的逻辑设备名为物理设备名。</a:t>
            </a:r>
            <a:endParaRPr lang="en-US" sz="2800" b="1">
              <a:latin typeface="宋体" pitchFamily="2" charset="-122"/>
              <a:cs typeface="Times New Roman" pitchFamily="18" charset="0"/>
            </a:endParaRP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976313" y="2359001"/>
            <a:ext cx="6858000" cy="1533525"/>
            <a:chOff x="0" y="0"/>
            <a:chExt cx="3212" cy="1926"/>
          </a:xfrm>
        </p:grpSpPr>
        <p:grpSp>
          <p:nvGrpSpPr>
            <p:cNvPr id="3" name="Group 49"/>
            <p:cNvGrpSpPr>
              <a:grpSpLocks/>
            </p:cNvGrpSpPr>
            <p:nvPr/>
          </p:nvGrpSpPr>
          <p:grpSpPr bwMode="auto">
            <a:xfrm>
              <a:off x="3" y="3"/>
              <a:ext cx="3206" cy="1920"/>
              <a:chOff x="0" y="0"/>
              <a:chExt cx="3206" cy="1920"/>
            </a:xfrm>
          </p:grpSpPr>
          <p:grpSp>
            <p:nvGrpSpPr>
              <p:cNvPr id="4" name="Group 20"/>
              <p:cNvGrpSpPr>
                <a:grpSpLocks/>
              </p:cNvGrpSpPr>
              <p:nvPr/>
            </p:nvGrpSpPr>
            <p:grpSpPr bwMode="auto">
              <a:xfrm>
                <a:off x="0" y="0"/>
                <a:ext cx="796" cy="384"/>
                <a:chOff x="0" y="0"/>
                <a:chExt cx="796" cy="384"/>
              </a:xfrm>
            </p:grpSpPr>
            <p:sp>
              <p:nvSpPr>
                <p:cNvPr id="59399" name="Rectangle 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zh-CN" altLang="en-US" sz="1600">
                      <a:latin typeface="宋体" pitchFamily="2" charset="-122"/>
                    </a:rPr>
                    <a:t>物理设备号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00" name="Rectangle 1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22"/>
              <p:cNvGrpSpPr>
                <a:grpSpLocks/>
              </p:cNvGrpSpPr>
              <p:nvPr/>
            </p:nvGrpSpPr>
            <p:grpSpPr bwMode="auto">
              <a:xfrm>
                <a:off x="796" y="0"/>
                <a:ext cx="1392" cy="384"/>
                <a:chOff x="0" y="0"/>
                <a:chExt cx="1392" cy="384"/>
              </a:xfrm>
            </p:grpSpPr>
            <p:sp>
              <p:nvSpPr>
                <p:cNvPr id="59402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zh-CN" altLang="en-US" sz="1600">
                      <a:latin typeface="宋体" pitchFamily="2" charset="-122"/>
                    </a:rPr>
                    <a:t>逻辑设备名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03" name="Rectangle 2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24"/>
              <p:cNvGrpSpPr>
                <a:grpSpLocks/>
              </p:cNvGrpSpPr>
              <p:nvPr/>
            </p:nvGrpSpPr>
            <p:grpSpPr bwMode="auto">
              <a:xfrm>
                <a:off x="2188" y="0"/>
                <a:ext cx="1018" cy="384"/>
                <a:chOff x="0" y="0"/>
                <a:chExt cx="1018" cy="384"/>
              </a:xfrm>
            </p:grpSpPr>
            <p:sp>
              <p:nvSpPr>
                <p:cNvPr id="59405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zh-CN" altLang="en-US" sz="1600">
                      <a:latin typeface="宋体" pitchFamily="2" charset="-122"/>
                    </a:rPr>
                    <a:t>驱动程序入口地址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06" name="Rectangle 2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26"/>
              <p:cNvGrpSpPr>
                <a:grpSpLocks/>
              </p:cNvGrpSpPr>
              <p:nvPr/>
            </p:nvGrpSpPr>
            <p:grpSpPr bwMode="auto">
              <a:xfrm>
                <a:off x="0" y="384"/>
                <a:ext cx="796" cy="384"/>
                <a:chOff x="0" y="0"/>
                <a:chExt cx="796" cy="384"/>
              </a:xfrm>
            </p:grpSpPr>
            <p:sp>
              <p:nvSpPr>
                <p:cNvPr id="59408" name="Rectangle 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09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28"/>
              <p:cNvGrpSpPr>
                <a:grpSpLocks/>
              </p:cNvGrpSpPr>
              <p:nvPr/>
            </p:nvGrpSpPr>
            <p:grpSpPr bwMode="auto">
              <a:xfrm>
                <a:off x="796" y="384"/>
                <a:ext cx="1392" cy="384"/>
                <a:chOff x="0" y="0"/>
                <a:chExt cx="1392" cy="384"/>
              </a:xfrm>
            </p:grpSpPr>
            <p:sp>
              <p:nvSpPr>
                <p:cNvPr id="59411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/dev/tty1 (</a:t>
                  </a:r>
                  <a:r>
                    <a:rPr lang="zh-CN" altLang="en-US" sz="1600">
                      <a:latin typeface="宋体" pitchFamily="2" charset="-122"/>
                    </a:rPr>
                    <a:t>键盘输入设备</a:t>
                  </a:r>
                  <a:r>
                    <a:rPr lang="en-US" sz="1600">
                      <a:latin typeface="宋体" pitchFamily="2" charset="-122"/>
                    </a:rPr>
                    <a:t>1)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12" name="Rectangle 2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30"/>
              <p:cNvGrpSpPr>
                <a:grpSpLocks/>
              </p:cNvGrpSpPr>
              <p:nvPr/>
            </p:nvGrpSpPr>
            <p:grpSpPr bwMode="auto">
              <a:xfrm>
                <a:off x="2188" y="384"/>
                <a:ext cx="1018" cy="384"/>
                <a:chOff x="0" y="0"/>
                <a:chExt cx="1018" cy="384"/>
              </a:xfrm>
            </p:grpSpPr>
            <p:sp>
              <p:nvSpPr>
                <p:cNvPr id="59414" name="Rectangle 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3000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15" name="Rectangle 2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32"/>
              <p:cNvGrpSpPr>
                <a:grpSpLocks/>
              </p:cNvGrpSpPr>
              <p:nvPr/>
            </p:nvGrpSpPr>
            <p:grpSpPr bwMode="auto">
              <a:xfrm>
                <a:off x="0" y="768"/>
                <a:ext cx="796" cy="384"/>
                <a:chOff x="0" y="0"/>
                <a:chExt cx="796" cy="384"/>
              </a:xfrm>
            </p:grpSpPr>
            <p:sp>
              <p:nvSpPr>
                <p:cNvPr id="59417" name="Rectangle 1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18" name="Rectangle 3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34"/>
              <p:cNvGrpSpPr>
                <a:grpSpLocks/>
              </p:cNvGrpSpPr>
              <p:nvPr/>
            </p:nvGrpSpPr>
            <p:grpSpPr bwMode="auto">
              <a:xfrm>
                <a:off x="796" y="768"/>
                <a:ext cx="1392" cy="384"/>
                <a:chOff x="0" y="0"/>
                <a:chExt cx="1392" cy="384"/>
              </a:xfrm>
            </p:grpSpPr>
            <p:sp>
              <p:nvSpPr>
                <p:cNvPr id="59420" name="Rectangle 1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/dev/tty2</a:t>
                  </a:r>
                  <a:r>
                    <a:rPr lang="zh-CN" altLang="en-US" sz="1600">
                      <a:latin typeface="宋体" pitchFamily="2" charset="-122"/>
                    </a:rPr>
                    <a:t>（键盘输入设备</a:t>
                  </a:r>
                  <a:r>
                    <a:rPr lang="en-US" sz="1600">
                      <a:latin typeface="宋体" pitchFamily="2" charset="-122"/>
                    </a:rPr>
                    <a:t>2</a:t>
                  </a:r>
                  <a:r>
                    <a:rPr lang="zh-CN" altLang="en-US" sz="1600">
                      <a:latin typeface="宋体" pitchFamily="2" charset="-122"/>
                    </a:rPr>
                    <a:t>）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21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36"/>
              <p:cNvGrpSpPr>
                <a:grpSpLocks/>
              </p:cNvGrpSpPr>
              <p:nvPr/>
            </p:nvGrpSpPr>
            <p:grpSpPr bwMode="auto">
              <a:xfrm>
                <a:off x="2188" y="768"/>
                <a:ext cx="1018" cy="384"/>
                <a:chOff x="0" y="0"/>
                <a:chExt cx="1018" cy="384"/>
              </a:xfrm>
            </p:grpSpPr>
            <p:sp>
              <p:nvSpPr>
                <p:cNvPr id="59423" name="Rectangle 1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3000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24" name="Rectangle 3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Group 38"/>
              <p:cNvGrpSpPr>
                <a:grpSpLocks/>
              </p:cNvGrpSpPr>
              <p:nvPr/>
            </p:nvGrpSpPr>
            <p:grpSpPr bwMode="auto">
              <a:xfrm>
                <a:off x="0" y="1152"/>
                <a:ext cx="796" cy="384"/>
                <a:chOff x="0" y="0"/>
                <a:chExt cx="796" cy="384"/>
              </a:xfrm>
            </p:grpSpPr>
            <p:sp>
              <p:nvSpPr>
                <p:cNvPr id="59426" name="Rectangle 1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5</a:t>
                  </a:r>
                  <a:r>
                    <a:rPr lang="zh-CN" altLang="en-US" sz="1600">
                      <a:latin typeface="宋体" pitchFamily="2" charset="-122"/>
                    </a:rPr>
                    <a:t>（针式打印机）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27" name="Rectangle 3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Group 40"/>
              <p:cNvGrpSpPr>
                <a:grpSpLocks/>
              </p:cNvGrpSpPr>
              <p:nvPr/>
            </p:nvGrpSpPr>
            <p:grpSpPr bwMode="auto">
              <a:xfrm>
                <a:off x="796" y="1152"/>
                <a:ext cx="1392" cy="384"/>
                <a:chOff x="0" y="0"/>
                <a:chExt cx="1392" cy="384"/>
              </a:xfrm>
            </p:grpSpPr>
            <p:sp>
              <p:nvSpPr>
                <p:cNvPr id="59429" name="Rectangle 1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 dirty="0">
                      <a:solidFill>
                        <a:schemeClr val="hlink"/>
                      </a:solidFill>
                      <a:latin typeface="宋体" pitchFamily="2" charset="-122"/>
                    </a:rPr>
                    <a:t>/dev/</a:t>
                  </a:r>
                  <a:r>
                    <a:rPr lang="en-US" sz="1600" dirty="0" err="1">
                      <a:solidFill>
                        <a:schemeClr val="hlink"/>
                      </a:solidFill>
                      <a:latin typeface="宋体" pitchFamily="2" charset="-122"/>
                    </a:rPr>
                    <a:t>lp</a:t>
                  </a:r>
                  <a:r>
                    <a:rPr lang="zh-CN" altLang="en-US" sz="1600" dirty="0">
                      <a:latin typeface="宋体" pitchFamily="2" charset="-122"/>
                    </a:rPr>
                    <a:t>（打印机）</a:t>
                  </a:r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9430" name="Rectangle 3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Group 42"/>
              <p:cNvGrpSpPr>
                <a:grpSpLocks/>
              </p:cNvGrpSpPr>
              <p:nvPr/>
            </p:nvGrpSpPr>
            <p:grpSpPr bwMode="auto">
              <a:xfrm>
                <a:off x="2188" y="1152"/>
                <a:ext cx="1018" cy="384"/>
                <a:chOff x="0" y="0"/>
                <a:chExt cx="1018" cy="384"/>
              </a:xfrm>
            </p:grpSpPr>
            <p:sp>
              <p:nvSpPr>
                <p:cNvPr id="59432" name="Rectangle 1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5000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33" name="Rectangle 4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Group 44"/>
              <p:cNvGrpSpPr>
                <a:grpSpLocks/>
              </p:cNvGrpSpPr>
              <p:nvPr/>
            </p:nvGrpSpPr>
            <p:grpSpPr bwMode="auto">
              <a:xfrm>
                <a:off x="0" y="1536"/>
                <a:ext cx="796" cy="384"/>
                <a:chOff x="0" y="0"/>
                <a:chExt cx="796" cy="384"/>
              </a:xfrm>
            </p:grpSpPr>
            <p:sp>
              <p:nvSpPr>
                <p:cNvPr id="59435" name="Rectangle 1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6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36" name="Rectangle 4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Group 46"/>
              <p:cNvGrpSpPr>
                <a:grpSpLocks/>
              </p:cNvGrpSpPr>
              <p:nvPr/>
            </p:nvGrpSpPr>
            <p:grpSpPr bwMode="auto">
              <a:xfrm>
                <a:off x="796" y="1536"/>
                <a:ext cx="1392" cy="384"/>
                <a:chOff x="0" y="0"/>
                <a:chExt cx="1392" cy="384"/>
              </a:xfrm>
            </p:grpSpPr>
            <p:sp>
              <p:nvSpPr>
                <p:cNvPr id="59438" name="Rectangle 1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/dev/ethN</a:t>
                  </a:r>
                  <a:r>
                    <a:rPr lang="zh-CN" altLang="en-US" sz="1600">
                      <a:latin typeface="宋体" pitchFamily="2" charset="-122"/>
                    </a:rPr>
                    <a:t>（网卡）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39" name="Rectangle 4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Group 48"/>
              <p:cNvGrpSpPr>
                <a:grpSpLocks/>
              </p:cNvGrpSpPr>
              <p:nvPr/>
            </p:nvGrpSpPr>
            <p:grpSpPr bwMode="auto">
              <a:xfrm>
                <a:off x="2188" y="1536"/>
                <a:ext cx="1018" cy="384"/>
                <a:chOff x="0" y="0"/>
                <a:chExt cx="1018" cy="384"/>
              </a:xfrm>
            </p:grpSpPr>
            <p:sp>
              <p:nvSpPr>
                <p:cNvPr id="59441" name="Rectangle 1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4000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42" name="Rectangle 4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9443" name="Rectangle 50"/>
            <p:cNvSpPr>
              <a:spLocks noChangeArrowheads="1"/>
            </p:cNvSpPr>
            <p:nvPr/>
          </p:nvSpPr>
          <p:spPr bwMode="auto">
            <a:xfrm>
              <a:off x="0" y="0"/>
              <a:ext cx="3212" cy="1926"/>
            </a:xfrm>
            <a:prstGeom prst="rect">
              <a:avLst/>
            </a:prstGeom>
            <a:noFill/>
            <a:ln w="9525" cmpd="sng">
              <a:solidFill>
                <a:srgbClr val="A0A0A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9444" name="Text Box 52"/>
          <p:cNvSpPr txBox="1">
            <a:spLocks noChangeArrowheads="1"/>
          </p:cNvSpPr>
          <p:nvPr/>
        </p:nvSpPr>
        <p:spPr bwMode="auto">
          <a:xfrm>
            <a:off x="1052513" y="4078263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Pct val="140000"/>
              <a:buFont typeface="Wingdings" pitchFamily="2" charset="2"/>
              <a:buChar char="§"/>
            </a:pPr>
            <a:r>
              <a:rPr 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用激光打印机替换针式打印机后的</a:t>
            </a: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LUT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表：</a:t>
            </a:r>
          </a:p>
        </p:txBody>
      </p:sp>
      <p:grpSp>
        <p:nvGrpSpPr>
          <p:cNvPr id="19" name="Group 100"/>
          <p:cNvGrpSpPr>
            <a:grpSpLocks/>
          </p:cNvGrpSpPr>
          <p:nvPr/>
        </p:nvGrpSpPr>
        <p:grpSpPr bwMode="auto">
          <a:xfrm>
            <a:off x="976313" y="4535463"/>
            <a:ext cx="6858000" cy="1905000"/>
            <a:chOff x="0" y="0"/>
            <a:chExt cx="3212" cy="1926"/>
          </a:xfrm>
        </p:grpSpPr>
        <p:grpSp>
          <p:nvGrpSpPr>
            <p:cNvPr id="20" name="Group 98"/>
            <p:cNvGrpSpPr>
              <a:grpSpLocks/>
            </p:cNvGrpSpPr>
            <p:nvPr/>
          </p:nvGrpSpPr>
          <p:grpSpPr bwMode="auto">
            <a:xfrm>
              <a:off x="3" y="3"/>
              <a:ext cx="3206" cy="1920"/>
              <a:chOff x="0" y="0"/>
              <a:chExt cx="3206" cy="1920"/>
            </a:xfrm>
          </p:grpSpPr>
          <p:grpSp>
            <p:nvGrpSpPr>
              <p:cNvPr id="21" name="Group 69"/>
              <p:cNvGrpSpPr>
                <a:grpSpLocks/>
              </p:cNvGrpSpPr>
              <p:nvPr/>
            </p:nvGrpSpPr>
            <p:grpSpPr bwMode="auto">
              <a:xfrm>
                <a:off x="0" y="0"/>
                <a:ext cx="796" cy="384"/>
                <a:chOff x="0" y="0"/>
                <a:chExt cx="796" cy="384"/>
              </a:xfrm>
            </p:grpSpPr>
            <p:sp>
              <p:nvSpPr>
                <p:cNvPr id="59448" name="Rectangle 5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zh-CN" altLang="en-US" sz="1600">
                      <a:latin typeface="宋体" pitchFamily="2" charset="-122"/>
                    </a:rPr>
                    <a:t>物理设备号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49" name="Rectangle 6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71"/>
              <p:cNvGrpSpPr>
                <a:grpSpLocks/>
              </p:cNvGrpSpPr>
              <p:nvPr/>
            </p:nvGrpSpPr>
            <p:grpSpPr bwMode="auto">
              <a:xfrm>
                <a:off x="796" y="0"/>
                <a:ext cx="1392" cy="384"/>
                <a:chOff x="0" y="0"/>
                <a:chExt cx="1392" cy="384"/>
              </a:xfrm>
            </p:grpSpPr>
            <p:sp>
              <p:nvSpPr>
                <p:cNvPr id="59451" name="Rectangle 5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zh-CN" altLang="en-US" sz="1600">
                      <a:latin typeface="宋体" pitchFamily="2" charset="-122"/>
                    </a:rPr>
                    <a:t>逻辑设备名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52" name="Rectangle 7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73"/>
              <p:cNvGrpSpPr>
                <a:grpSpLocks/>
              </p:cNvGrpSpPr>
              <p:nvPr/>
            </p:nvGrpSpPr>
            <p:grpSpPr bwMode="auto">
              <a:xfrm>
                <a:off x="2188" y="0"/>
                <a:ext cx="1018" cy="384"/>
                <a:chOff x="0" y="0"/>
                <a:chExt cx="1018" cy="384"/>
              </a:xfrm>
            </p:grpSpPr>
            <p:sp>
              <p:nvSpPr>
                <p:cNvPr id="59454" name="Rectangle 5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zh-CN" altLang="en-US" sz="1600">
                      <a:latin typeface="宋体" pitchFamily="2" charset="-122"/>
                    </a:rPr>
                    <a:t>驱动程序入口地址</a:t>
                  </a:r>
                </a:p>
              </p:txBody>
            </p:sp>
            <p:sp>
              <p:nvSpPr>
                <p:cNvPr id="59455" name="Rectangle 7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75"/>
              <p:cNvGrpSpPr>
                <a:grpSpLocks/>
              </p:cNvGrpSpPr>
              <p:nvPr/>
            </p:nvGrpSpPr>
            <p:grpSpPr bwMode="auto">
              <a:xfrm>
                <a:off x="0" y="384"/>
                <a:ext cx="796" cy="384"/>
                <a:chOff x="0" y="0"/>
                <a:chExt cx="796" cy="384"/>
              </a:xfrm>
            </p:grpSpPr>
            <p:sp>
              <p:nvSpPr>
                <p:cNvPr id="59457" name="Rectangle 5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58" name="Rectangle 7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77"/>
              <p:cNvGrpSpPr>
                <a:grpSpLocks/>
              </p:cNvGrpSpPr>
              <p:nvPr/>
            </p:nvGrpSpPr>
            <p:grpSpPr bwMode="auto">
              <a:xfrm>
                <a:off x="796" y="384"/>
                <a:ext cx="1392" cy="384"/>
                <a:chOff x="0" y="0"/>
                <a:chExt cx="1392" cy="384"/>
              </a:xfrm>
            </p:grpSpPr>
            <p:sp>
              <p:nvSpPr>
                <p:cNvPr id="59460" name="Rectangle 5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/dev/tty1 (</a:t>
                  </a:r>
                  <a:r>
                    <a:rPr lang="zh-CN" altLang="en-US" sz="1600">
                      <a:latin typeface="宋体" pitchFamily="2" charset="-122"/>
                    </a:rPr>
                    <a:t>键盘输入设备</a:t>
                  </a:r>
                  <a:r>
                    <a:rPr lang="en-US" sz="1600">
                      <a:latin typeface="宋体" pitchFamily="2" charset="-122"/>
                    </a:rPr>
                    <a:t>1)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61" name="Rectangle 7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Group 79"/>
              <p:cNvGrpSpPr>
                <a:grpSpLocks/>
              </p:cNvGrpSpPr>
              <p:nvPr/>
            </p:nvGrpSpPr>
            <p:grpSpPr bwMode="auto">
              <a:xfrm>
                <a:off x="2188" y="384"/>
                <a:ext cx="1018" cy="384"/>
                <a:chOff x="0" y="0"/>
                <a:chExt cx="1018" cy="384"/>
              </a:xfrm>
            </p:grpSpPr>
            <p:sp>
              <p:nvSpPr>
                <p:cNvPr id="59463" name="Rectangle 5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3000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64" name="Rectangle 7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81"/>
              <p:cNvGrpSpPr>
                <a:grpSpLocks/>
              </p:cNvGrpSpPr>
              <p:nvPr/>
            </p:nvGrpSpPr>
            <p:grpSpPr bwMode="auto">
              <a:xfrm>
                <a:off x="0" y="768"/>
                <a:ext cx="796" cy="384"/>
                <a:chOff x="0" y="0"/>
                <a:chExt cx="796" cy="384"/>
              </a:xfrm>
            </p:grpSpPr>
            <p:sp>
              <p:nvSpPr>
                <p:cNvPr id="59466" name="Rectangle 5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67" name="Rectangle 8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83"/>
              <p:cNvGrpSpPr>
                <a:grpSpLocks/>
              </p:cNvGrpSpPr>
              <p:nvPr/>
            </p:nvGrpSpPr>
            <p:grpSpPr bwMode="auto">
              <a:xfrm>
                <a:off x="796" y="768"/>
                <a:ext cx="1392" cy="384"/>
                <a:chOff x="0" y="0"/>
                <a:chExt cx="1392" cy="384"/>
              </a:xfrm>
            </p:grpSpPr>
            <p:sp>
              <p:nvSpPr>
                <p:cNvPr id="59469" name="Rectangle 6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/dev/tty2</a:t>
                  </a:r>
                  <a:r>
                    <a:rPr lang="zh-CN" altLang="en-US" sz="1600">
                      <a:latin typeface="宋体" pitchFamily="2" charset="-122"/>
                    </a:rPr>
                    <a:t>（键盘输入设备</a:t>
                  </a:r>
                  <a:r>
                    <a:rPr lang="en-US" sz="1600">
                      <a:latin typeface="宋体" pitchFamily="2" charset="-122"/>
                    </a:rPr>
                    <a:t>2</a:t>
                  </a:r>
                  <a:r>
                    <a:rPr lang="zh-CN" altLang="en-US" sz="1600">
                      <a:latin typeface="宋体" pitchFamily="2" charset="-122"/>
                    </a:rPr>
                    <a:t>）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70" name="Rectangle 8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85"/>
              <p:cNvGrpSpPr>
                <a:grpSpLocks/>
              </p:cNvGrpSpPr>
              <p:nvPr/>
            </p:nvGrpSpPr>
            <p:grpSpPr bwMode="auto">
              <a:xfrm>
                <a:off x="2188" y="768"/>
                <a:ext cx="1018" cy="384"/>
                <a:chOff x="0" y="0"/>
                <a:chExt cx="1018" cy="384"/>
              </a:xfrm>
            </p:grpSpPr>
            <p:sp>
              <p:nvSpPr>
                <p:cNvPr id="59472" name="Rectangle 6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3000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73" name="Rectangle 8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87"/>
              <p:cNvGrpSpPr>
                <a:grpSpLocks/>
              </p:cNvGrpSpPr>
              <p:nvPr/>
            </p:nvGrpSpPr>
            <p:grpSpPr bwMode="auto">
              <a:xfrm>
                <a:off x="0" y="1152"/>
                <a:ext cx="796" cy="384"/>
                <a:chOff x="0" y="0"/>
                <a:chExt cx="796" cy="384"/>
              </a:xfrm>
            </p:grpSpPr>
            <p:sp>
              <p:nvSpPr>
                <p:cNvPr id="59475" name="Rectangle 6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solidFill>
                        <a:schemeClr val="folHlink"/>
                      </a:solidFill>
                      <a:latin typeface="宋体" pitchFamily="2" charset="-122"/>
                    </a:rPr>
                    <a:t>7</a:t>
                  </a:r>
                  <a:r>
                    <a:rPr lang="zh-CN" altLang="en-US" sz="1600">
                      <a:solidFill>
                        <a:schemeClr val="folHlink"/>
                      </a:solidFill>
                      <a:latin typeface="宋体" pitchFamily="2" charset="-122"/>
                    </a:rPr>
                    <a:t>（激光打印机）</a:t>
                  </a:r>
                  <a:endParaRPr lang="zh-CN" altLang="en-US" sz="160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9476" name="Rectangle 8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89"/>
              <p:cNvGrpSpPr>
                <a:grpSpLocks/>
              </p:cNvGrpSpPr>
              <p:nvPr/>
            </p:nvGrpSpPr>
            <p:grpSpPr bwMode="auto">
              <a:xfrm>
                <a:off x="796" y="1152"/>
                <a:ext cx="1392" cy="384"/>
                <a:chOff x="0" y="0"/>
                <a:chExt cx="1392" cy="384"/>
              </a:xfrm>
            </p:grpSpPr>
            <p:sp>
              <p:nvSpPr>
                <p:cNvPr id="59478" name="Rectangle 6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solidFill>
                        <a:schemeClr val="hlink"/>
                      </a:solidFill>
                      <a:latin typeface="宋体" pitchFamily="2" charset="-122"/>
                    </a:rPr>
                    <a:t>/dev/lp</a:t>
                  </a:r>
                  <a:r>
                    <a:rPr lang="zh-CN" altLang="en-US" sz="1600">
                      <a:latin typeface="宋体" pitchFamily="2" charset="-122"/>
                    </a:rPr>
                    <a:t>（打印机）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79" name="Rectangle 8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392" name="Group 91"/>
              <p:cNvGrpSpPr>
                <a:grpSpLocks/>
              </p:cNvGrpSpPr>
              <p:nvPr/>
            </p:nvGrpSpPr>
            <p:grpSpPr bwMode="auto">
              <a:xfrm>
                <a:off x="2188" y="1152"/>
                <a:ext cx="1018" cy="384"/>
                <a:chOff x="0" y="0"/>
                <a:chExt cx="1018" cy="384"/>
              </a:xfrm>
            </p:grpSpPr>
            <p:sp>
              <p:nvSpPr>
                <p:cNvPr id="59481" name="Rectangle 6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solidFill>
                        <a:schemeClr val="folHlink"/>
                      </a:solidFill>
                      <a:latin typeface="宋体" pitchFamily="2" charset="-122"/>
                    </a:rPr>
                    <a:t>7000</a:t>
                  </a:r>
                  <a:endParaRPr lang="en-US" sz="160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9482" name="Rectangle 9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393" name="Group 93"/>
              <p:cNvGrpSpPr>
                <a:grpSpLocks/>
              </p:cNvGrpSpPr>
              <p:nvPr/>
            </p:nvGrpSpPr>
            <p:grpSpPr bwMode="auto">
              <a:xfrm>
                <a:off x="0" y="1536"/>
                <a:ext cx="796" cy="384"/>
                <a:chOff x="0" y="0"/>
                <a:chExt cx="796" cy="384"/>
              </a:xfrm>
            </p:grpSpPr>
            <p:sp>
              <p:nvSpPr>
                <p:cNvPr id="59484" name="Rectangle 6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10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6</a:t>
                  </a:r>
                  <a:endParaRPr 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85" name="Rectangle 9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6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396" name="Group 95"/>
              <p:cNvGrpSpPr>
                <a:grpSpLocks/>
              </p:cNvGrpSpPr>
              <p:nvPr/>
            </p:nvGrpSpPr>
            <p:grpSpPr bwMode="auto">
              <a:xfrm>
                <a:off x="796" y="1536"/>
                <a:ext cx="1392" cy="384"/>
                <a:chOff x="0" y="0"/>
                <a:chExt cx="1392" cy="384"/>
              </a:xfrm>
            </p:grpSpPr>
            <p:sp>
              <p:nvSpPr>
                <p:cNvPr id="59487" name="Rectangle 6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/dev/ethN</a:t>
                  </a:r>
                  <a:r>
                    <a:rPr lang="zh-CN" altLang="en-US" sz="1600">
                      <a:latin typeface="宋体" pitchFamily="2" charset="-122"/>
                    </a:rPr>
                    <a:t>（网卡）</a:t>
                  </a:r>
                  <a:endParaRPr lang="zh-CN" altLang="en-US" sz="1600">
                    <a:latin typeface="Times New Roman" pitchFamily="18" charset="0"/>
                  </a:endParaRPr>
                </a:p>
              </p:txBody>
            </p:sp>
            <p:sp>
              <p:nvSpPr>
                <p:cNvPr id="59488" name="Rectangle 9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2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397" name="Group 97"/>
              <p:cNvGrpSpPr>
                <a:grpSpLocks/>
              </p:cNvGrpSpPr>
              <p:nvPr/>
            </p:nvGrpSpPr>
            <p:grpSpPr bwMode="auto">
              <a:xfrm>
                <a:off x="2188" y="1536"/>
                <a:ext cx="1018" cy="384"/>
                <a:chOff x="0" y="0"/>
                <a:chExt cx="1018" cy="384"/>
              </a:xfrm>
            </p:grpSpPr>
            <p:sp>
              <p:nvSpPr>
                <p:cNvPr id="59490" name="Rectangle 6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lang="en-US" sz="1600">
                      <a:latin typeface="宋体" pitchFamily="2" charset="-122"/>
                    </a:rPr>
                    <a:t>4000</a:t>
                  </a:r>
                </a:p>
              </p:txBody>
            </p:sp>
            <p:sp>
              <p:nvSpPr>
                <p:cNvPr id="59491" name="Rectangle 9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18" cy="38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9492" name="Rectangle 99"/>
            <p:cNvSpPr>
              <a:spLocks noChangeArrowheads="1"/>
            </p:cNvSpPr>
            <p:nvPr/>
          </p:nvSpPr>
          <p:spPr bwMode="auto">
            <a:xfrm>
              <a:off x="0" y="0"/>
              <a:ext cx="3212" cy="1926"/>
            </a:xfrm>
            <a:prstGeom prst="rect">
              <a:avLst/>
            </a:prstGeom>
            <a:noFill/>
            <a:ln w="9525" cmpd="sng">
              <a:solidFill>
                <a:srgbClr val="A0A0A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4375" y="617538"/>
            <a:ext cx="7793038" cy="830262"/>
          </a:xfrm>
        </p:spPr>
        <p:txBody>
          <a:bodyPr/>
          <a:lstStyle/>
          <a:p>
            <a:r>
              <a: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、设备的查找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7188" y="1697038"/>
            <a:ext cx="8116887" cy="4303712"/>
          </a:xfrm>
        </p:spPr>
        <p:txBody>
          <a:bodyPr/>
          <a:lstStyle/>
          <a:p>
            <a:r>
              <a:rPr lang="zh-CN" altLang="en-US" sz="2800" b="1" dirty="0">
                <a:latin typeface="宋体" pitchFamily="2" charset="-122"/>
              </a:rPr>
              <a:t>当进程用逻辑设备名来请求分配</a:t>
            </a:r>
            <a:r>
              <a:rPr lang="en-US" sz="2800" b="1" dirty="0">
                <a:latin typeface="宋体" pitchFamily="2" charset="-122"/>
              </a:rPr>
              <a:t>I/O</a:t>
            </a:r>
            <a:r>
              <a:rPr lang="zh-CN" altLang="en-US" sz="2800" b="1" dirty="0">
                <a:latin typeface="宋体" pitchFamily="2" charset="-122"/>
              </a:rPr>
              <a:t>设备时，首先查逻辑设备表</a:t>
            </a:r>
            <a:r>
              <a:rPr lang="en-US" sz="2800" b="1" dirty="0">
                <a:latin typeface="宋体" pitchFamily="2" charset="-122"/>
              </a:rPr>
              <a:t>LUT</a:t>
            </a:r>
            <a:r>
              <a:rPr lang="zh-CN" altLang="en-US" sz="2800" b="1" dirty="0">
                <a:latin typeface="宋体" pitchFamily="2" charset="-122"/>
              </a:rPr>
              <a:t>，如果找到逻辑设备名，就找到了物理设备和设备驱动程序的入口地址，再由系统启动设备驱动程序完成信息输出。</a:t>
            </a:r>
            <a:r>
              <a:rPr lang="zh-CN" altLang="en-US" sz="2800" b="1" dirty="0"/>
              <a:t> </a:t>
            </a:r>
          </a:p>
          <a:p>
            <a:r>
              <a:rPr lang="zh-CN" altLang="en-US" sz="2800" b="1" dirty="0">
                <a:latin typeface="宋体" pitchFamily="2" charset="-122"/>
              </a:rPr>
              <a:t>当将针式打印机换成激光打印机时，我们仅修改逻辑设备表</a:t>
            </a:r>
            <a:r>
              <a:rPr lang="en-US" sz="2800" b="1" dirty="0">
                <a:latin typeface="宋体" pitchFamily="2" charset="-122"/>
              </a:rPr>
              <a:t>LUT</a:t>
            </a:r>
            <a:r>
              <a:rPr lang="zh-CN" altLang="en-US" sz="2800" b="1" dirty="0">
                <a:latin typeface="宋体" pitchFamily="2" charset="-122"/>
              </a:rPr>
              <a:t>，而用户使用的逻辑设备名不做修改。</a:t>
            </a:r>
            <a:r>
              <a:rPr lang="zh-CN" altLang="en-US" sz="2800" b="1" dirty="0"/>
              <a:t> </a:t>
            </a:r>
          </a:p>
          <a:p>
            <a:r>
              <a:rPr lang="zh-CN" altLang="en-US" sz="2800" b="1" dirty="0">
                <a:latin typeface="宋体" pitchFamily="2" charset="-122"/>
              </a:rPr>
              <a:t>逻辑设备名不做修改则应用程序不做修改，提高了系统管理的可适应性。</a:t>
            </a:r>
            <a:r>
              <a:rPr lang="zh-CN" altLang="en-US" sz="2800" b="1" dirty="0"/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857232"/>
            <a:ext cx="8077200" cy="469267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分配：设备、控制器和通道</a:t>
            </a:r>
          </a:p>
          <a:p>
            <a:pPr>
              <a:lnSpc>
                <a:spcPct val="110000"/>
              </a:lnSpc>
            </a:pPr>
            <a:endParaRPr lang="en-US" altLang="zh-CN" sz="2800" b="1" dirty="0" smtClean="0">
              <a:latin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b="1" dirty="0" smtClean="0">
                <a:latin typeface="宋体" pitchFamily="2" charset="-122"/>
              </a:rPr>
              <a:t>需要记录与他们相关的信息。包括：资源标识、物理连接情况、占有进程、等待进程等。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 smtClean="0">
                <a:latin typeface="宋体" pitchFamily="2" charset="-122"/>
              </a:rPr>
              <a:t>具体实现时，可以将其分为设备控制块、控制器控制块和通道控制块。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 smtClean="0">
                <a:latin typeface="宋体" pitchFamily="2" charset="-122"/>
              </a:rPr>
              <a:t>这些控制块中包含的信息在不同的系统中会有所不同 。</a:t>
            </a:r>
            <a:endParaRPr lang="zh-CN" altLang="en-US" sz="2800" b="1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95288" y="333375"/>
            <a:ext cx="8077200" cy="1066800"/>
          </a:xfrm>
        </p:spPr>
        <p:txBody>
          <a:bodyPr/>
          <a:lstStyle/>
          <a:p>
            <a:pPr eaLnBrk="1" hangingPunct="1"/>
            <a:r>
              <a:rPr lang="en-US" b="1">
                <a:solidFill>
                  <a:schemeClr val="folHlink"/>
                </a:solidFill>
              </a:rPr>
              <a:t>1.</a:t>
            </a:r>
            <a:r>
              <a:rPr lang="zh-CN" altLang="en-US" b="1">
                <a:solidFill>
                  <a:schemeClr val="folHlink"/>
                </a:solidFill>
              </a:rPr>
              <a:t>设备分配中的数据结构</a:t>
            </a:r>
          </a:p>
        </p:txBody>
      </p:sp>
      <p:sp>
        <p:nvSpPr>
          <p:cNvPr id="63491" name="Rectangle 8"/>
          <p:cNvSpPr>
            <a:spLocks noChangeArrowheads="1"/>
          </p:cNvSpPr>
          <p:nvPr/>
        </p:nvSpPr>
        <p:spPr bwMode="auto">
          <a:xfrm>
            <a:off x="71438" y="2636838"/>
            <a:ext cx="8964612" cy="3960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3492" name="Object 9"/>
          <p:cNvGraphicFramePr>
            <a:graphicFrameLocks noGrp="1" noChangeAspect="1"/>
          </p:cNvGraphicFramePr>
          <p:nvPr>
            <p:ph idx="4294967295"/>
          </p:nvPr>
        </p:nvGraphicFramePr>
        <p:xfrm>
          <a:off x="179388" y="3068638"/>
          <a:ext cx="8458200" cy="318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03" r:id="rId3" imgW="3230880" imgH="1219200" progId="Visio.Drawing.11">
                  <p:embed/>
                </p:oleObj>
              </mc:Choice>
              <mc:Fallback>
                <p:oleObj r:id="rId3" imgW="3230880" imgH="1219200" progId="Visio.Drawing.11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068638"/>
                        <a:ext cx="8458200" cy="31845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Text Box 10"/>
          <p:cNvSpPr txBox="1">
            <a:spLocks noChangeArrowheads="1"/>
          </p:cNvSpPr>
          <p:nvPr/>
        </p:nvSpPr>
        <p:spPr bwMode="auto">
          <a:xfrm>
            <a:off x="250825" y="1697038"/>
            <a:ext cx="39608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>
                <a:solidFill>
                  <a:schemeClr val="folHlink"/>
                </a:solidFill>
              </a:rPr>
              <a:t>1. </a:t>
            </a:r>
            <a:r>
              <a:rPr lang="zh-CN" altLang="en-US" sz="3200">
                <a:solidFill>
                  <a:schemeClr val="folHlink"/>
                </a:solidFill>
              </a:rPr>
              <a:t>设备控制表</a:t>
            </a:r>
            <a:r>
              <a:rPr lang="en-US" sz="3200">
                <a:solidFill>
                  <a:schemeClr val="folHlink"/>
                </a:solidFill>
              </a:rPr>
              <a:t>DCT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250825" y="457200"/>
            <a:ext cx="8077200" cy="10668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folHlink"/>
                </a:solidFill>
              </a:rPr>
              <a:t>2. </a:t>
            </a:r>
            <a:r>
              <a:rPr lang="zh-CN" altLang="en-US" sz="3200" b="1">
                <a:solidFill>
                  <a:schemeClr val="folHlink"/>
                </a:solidFill>
              </a:rPr>
              <a:t>控制器控制表、 通道控制表和系统设备表 </a:t>
            </a: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0" y="1844675"/>
            <a:ext cx="9144000" cy="43211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4516" name="Object 8"/>
          <p:cNvGraphicFramePr>
            <a:graphicFrameLocks noGrp="1" noChangeAspect="1"/>
          </p:cNvGraphicFramePr>
          <p:nvPr>
            <p:ph idx="4294967295"/>
          </p:nvPr>
        </p:nvGraphicFramePr>
        <p:xfrm>
          <a:off x="179388" y="2636838"/>
          <a:ext cx="8964612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27" r:id="rId3" imgW="5520387" imgH="1260339" progId="Visio.Drawing.11">
                  <p:embed/>
                </p:oleObj>
              </mc:Choice>
              <mc:Fallback>
                <p:oleObj r:id="rId3" imgW="5520387" imgH="1260339" progId="Visio.Drawing.11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36838"/>
                        <a:ext cx="8964612" cy="204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42852"/>
            <a:ext cx="7772400" cy="1143000"/>
          </a:xfrm>
        </p:spPr>
        <p:txBody>
          <a:bodyPr/>
          <a:lstStyle/>
          <a:p>
            <a:pPr eaLnBrk="1" hangingPunct="1"/>
            <a:r>
              <a:rPr lang="en-US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3. </a:t>
            </a:r>
            <a:r>
              <a:rPr lang="zh-CN" altLang="en-US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设备分配算法</a:t>
            </a:r>
            <a:r>
              <a:rPr lang="zh-CN" altLang="en-US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6553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685800" y="1412875"/>
            <a:ext cx="7772400" cy="45720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先来先服务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—</a:t>
            </a:r>
            <a:r>
              <a:rPr lang="zh-CN" altLang="en-US" sz="2800" b="1" dirty="0">
                <a:latin typeface="宋体" pitchFamily="2" charset="-122"/>
              </a:rPr>
              <a:t>根据进程对某设备提出请求的先后次序，将这些进程排成一个设备请求队列。设备分配程序总是把设备分配给队首的进程。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b="1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优先级高者优先服务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—</a:t>
            </a:r>
            <a:r>
              <a:rPr lang="zh-CN" altLang="en-US" sz="2800" b="1" dirty="0">
                <a:latin typeface="宋体" pitchFamily="2" charset="-122"/>
              </a:rPr>
              <a:t>根据进程优先级的高低，</a:t>
            </a:r>
            <a:r>
              <a:rPr lang="zh-CN" altLang="en-US" sz="2800" b="1" i="1" u="sng" dirty="0">
                <a:solidFill>
                  <a:srgbClr val="FF0000"/>
                </a:solidFill>
                <a:latin typeface="宋体" pitchFamily="2" charset="-122"/>
              </a:rPr>
              <a:t>将优先级高的进程排在设备等待队列的前面。</a:t>
            </a:r>
            <a:r>
              <a:rPr lang="zh-CN" altLang="en-US" sz="2800" b="1" dirty="0">
                <a:latin typeface="宋体" pitchFamily="2" charset="-122"/>
              </a:rPr>
              <a:t>对于优先级相同的进程，则按先来先服务的原则进行排队，设备分配程序总是把设备分配给排在队首的进程。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独占型设备的分配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66563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进程使用独占设备的过程：申请、使用、释放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endParaRPr lang="en-US" altLang="zh-CN" sz="2800" b="1" dirty="0" smtClean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>
              <a:lnSpc>
                <a:spcPct val="90000"/>
              </a:lnSpc>
            </a:pP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	</a:t>
            </a:r>
            <a:r>
              <a:rPr lang="en-US" altLang="en-US" sz="2800" b="1" dirty="0">
                <a:latin typeface="宋体" pitchFamily="2" charset="-122"/>
              </a:rPr>
              <a:t>1 </a:t>
            </a:r>
            <a:r>
              <a:rPr lang="zh-CN" altLang="en-US" sz="2800" b="1" dirty="0">
                <a:latin typeface="宋体" pitchFamily="2" charset="-122"/>
              </a:rPr>
              <a:t>进程申请设备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	</a:t>
            </a:r>
            <a:r>
              <a:rPr lang="en-US" altLang="en-US" sz="2800" b="1" dirty="0">
                <a:latin typeface="宋体" pitchFamily="2" charset="-122"/>
              </a:rPr>
              <a:t>2 </a:t>
            </a:r>
            <a:r>
              <a:rPr lang="zh-CN" altLang="en-US" sz="2800" b="1" dirty="0">
                <a:latin typeface="宋体" pitchFamily="2" charset="-122"/>
              </a:rPr>
              <a:t>系统分配设备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	</a:t>
            </a:r>
            <a:r>
              <a:rPr lang="en-US" altLang="en-US" sz="2800" b="1" dirty="0">
                <a:latin typeface="宋体" pitchFamily="2" charset="-122"/>
              </a:rPr>
              <a:t>3 </a:t>
            </a:r>
            <a:r>
              <a:rPr lang="zh-CN" altLang="en-US" sz="2800" b="1" dirty="0">
                <a:latin typeface="宋体" pitchFamily="2" charset="-122"/>
              </a:rPr>
              <a:t>进程发送使用命令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	</a:t>
            </a:r>
            <a:r>
              <a:rPr lang="en-US" altLang="en-US" sz="2800" b="1" dirty="0">
                <a:latin typeface="宋体" pitchFamily="2" charset="-122"/>
              </a:rPr>
              <a:t>4 </a:t>
            </a:r>
            <a:r>
              <a:rPr lang="zh-CN" altLang="en-US" sz="2800" b="1" dirty="0">
                <a:latin typeface="宋体" pitchFamily="2" charset="-122"/>
              </a:rPr>
              <a:t>系统将转到设备驱动模块完成一次</a:t>
            </a:r>
            <a:r>
              <a:rPr lang="en-US" altLang="en-US" sz="2800" b="1" dirty="0">
                <a:latin typeface="宋体" pitchFamily="2" charset="-122"/>
              </a:rPr>
              <a:t>I/O</a:t>
            </a:r>
            <a:r>
              <a:rPr lang="zh-CN" altLang="en-US" sz="2800" b="1" dirty="0">
                <a:latin typeface="宋体" pitchFamily="2" charset="-122"/>
              </a:rPr>
              <a:t>传输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	</a:t>
            </a:r>
            <a:r>
              <a:rPr lang="en-US" altLang="en-US" sz="2800" b="1" dirty="0">
                <a:latin typeface="宋体" pitchFamily="2" charset="-122"/>
              </a:rPr>
              <a:t>5 </a:t>
            </a:r>
            <a:r>
              <a:rPr lang="zh-CN" altLang="en-US" sz="2800" b="1" dirty="0">
                <a:latin typeface="宋体" pitchFamily="2" charset="-122"/>
              </a:rPr>
              <a:t>进程释放设备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	</a:t>
            </a:r>
            <a:r>
              <a:rPr lang="en-US" altLang="en-US" sz="2800" b="1" dirty="0">
                <a:latin typeface="宋体" pitchFamily="2" charset="-122"/>
              </a:rPr>
              <a:t>6 </a:t>
            </a:r>
            <a:r>
              <a:rPr lang="zh-CN" altLang="en-US" sz="2800" b="1" dirty="0">
                <a:latin typeface="宋体" pitchFamily="2" charset="-122"/>
              </a:rPr>
              <a:t>系统回收设备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itchFamily="2" charset="-122"/>
              </a:rPr>
              <a:t>当进程的一次设备申请成功，直到发出释放命令期间，一直独占设备。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共享型设备的分配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6758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01625" y="1600200"/>
            <a:ext cx="8540750" cy="490063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zh-CN" altLang="en-US" sz="2800" b="1" dirty="0">
                <a:latin typeface="宋体" pitchFamily="2" charset="-122"/>
              </a:rPr>
              <a:t>进程使用共享型设备不需要申请，当然也就不存在占用或释放设备的问题</a:t>
            </a:r>
            <a:r>
              <a:rPr lang="zh-CN" altLang="en-US" sz="2800" b="1" dirty="0" smtClean="0">
                <a:latin typeface="宋体" pitchFamily="2" charset="-122"/>
              </a:rPr>
              <a:t>。</a:t>
            </a:r>
            <a:endParaRPr lang="en-US" altLang="zh-CN" sz="2800" b="1" dirty="0" smtClean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zh-CN" altLang="en-US" sz="2800" b="1" dirty="0" smtClean="0">
                <a:latin typeface="宋体" pitchFamily="2" charset="-122"/>
              </a:rPr>
              <a:t>但是</a:t>
            </a:r>
            <a:r>
              <a:rPr lang="zh-CN" altLang="en-US" sz="2800" b="1" dirty="0">
                <a:latin typeface="宋体" pitchFamily="2" charset="-122"/>
              </a:rPr>
              <a:t>，</a:t>
            </a:r>
            <a:r>
              <a:rPr lang="en-US" altLang="en-US" sz="2800" b="1" dirty="0">
                <a:latin typeface="宋体" pitchFamily="2" charset="-122"/>
              </a:rPr>
              <a:t>I/O</a:t>
            </a:r>
            <a:r>
              <a:rPr lang="zh-CN" altLang="en-US" sz="2800" b="1" dirty="0">
                <a:latin typeface="宋体" pitchFamily="2" charset="-122"/>
              </a:rPr>
              <a:t>期间只能有一个进程使用设备。因此，进程使用共享型设备之前，有一个隐含的申请命令；使用完毕以后，有一个隐含的释放命令，以实现一次基本</a:t>
            </a:r>
            <a:r>
              <a:rPr lang="en-US" altLang="en-US" sz="2800" b="1" dirty="0">
                <a:latin typeface="宋体" pitchFamily="2" charset="-122"/>
              </a:rPr>
              <a:t>I/O</a:t>
            </a:r>
            <a:r>
              <a:rPr lang="zh-CN" altLang="en-US" sz="2800" b="1" dirty="0">
                <a:latin typeface="宋体" pitchFamily="2" charset="-122"/>
              </a:rPr>
              <a:t>传输期间的排它性，保证操作的正常进行</a:t>
            </a:r>
            <a:r>
              <a:rPr lang="zh-CN" altLang="en-US" sz="2800" b="1" dirty="0" smtClean="0">
                <a:latin typeface="宋体" pitchFamily="2" charset="-122"/>
              </a:rPr>
              <a:t>。</a:t>
            </a:r>
            <a:endParaRPr lang="en-US" altLang="zh-CN" sz="2800" b="1" dirty="0" smtClean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zh-CN" altLang="en-US" sz="2800" b="1" dirty="0" smtClean="0">
                <a:latin typeface="宋体" pitchFamily="2" charset="-122"/>
              </a:rPr>
              <a:t>使用</a:t>
            </a:r>
            <a:r>
              <a:rPr lang="zh-CN" altLang="en-US" sz="2800" b="1" dirty="0">
                <a:latin typeface="宋体" pitchFamily="2" charset="-122"/>
              </a:rPr>
              <a:t>共享型设备的过程中，进程完全有可能进入阻塞等待状态。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6477000" cy="769938"/>
          </a:xfrm>
        </p:spPr>
        <p:txBody>
          <a:bodyPr anchor="t">
            <a:spAutoFit/>
          </a:bodyPr>
          <a:lstStyle/>
          <a:p>
            <a:r>
              <a:rPr lang="en-US" altLang="zh-CN" b="1" smtClean="0"/>
              <a:t> 6.6   </a:t>
            </a:r>
            <a:r>
              <a:rPr lang="zh-CN" altLang="en-US" b="1" smtClean="0"/>
              <a:t>用户层的</a:t>
            </a:r>
            <a:r>
              <a:rPr lang="en-US" altLang="zh-CN" b="1" smtClean="0"/>
              <a:t>I/O</a:t>
            </a:r>
            <a:r>
              <a:rPr lang="zh-CN" altLang="en-US" b="1" smtClean="0"/>
              <a:t>系统 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458200" cy="49530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大部分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软件都放在操作系统内部</a:t>
            </a:r>
            <a:endParaRPr lang="en-US" altLang="zh-CN" sz="2800" b="1" dirty="0" smtClean="0"/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小部分放在用户层</a:t>
            </a:r>
            <a:endParaRPr lang="en-US" altLang="zh-CN" sz="2800" b="1" dirty="0" smtClean="0"/>
          </a:p>
          <a:p>
            <a:pPr>
              <a:lnSpc>
                <a:spcPct val="110000"/>
              </a:lnSpc>
              <a:defRPr/>
            </a:pPr>
            <a:endParaRPr lang="en-US" altLang="zh-CN" sz="2800" b="1" dirty="0" smtClean="0"/>
          </a:p>
          <a:p>
            <a:pPr marL="0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/>
              <a:t>6.6.1 </a:t>
            </a:r>
            <a:r>
              <a:rPr lang="zh-CN" altLang="en-US" b="1" dirty="0" smtClean="0">
                <a:solidFill>
                  <a:srgbClr val="0000FF"/>
                </a:solidFill>
              </a:rPr>
              <a:t>系统调用和库函数</a:t>
            </a:r>
            <a:r>
              <a:rPr lang="zh-CN" altLang="en-US" b="1" dirty="0" smtClean="0"/>
              <a:t> </a:t>
            </a:r>
            <a:endParaRPr lang="en-US" altLang="zh-CN" b="1" dirty="0" smtClean="0"/>
          </a:p>
          <a:p>
            <a:pPr marL="514350" indent="-514350">
              <a:lnSpc>
                <a:spcPct val="110000"/>
              </a:lnSpc>
              <a:buFont typeface="Wingdings" pitchFamily="2" charset="2"/>
              <a:buAutoNum type="arabicPeriod"/>
              <a:defRPr/>
            </a:pPr>
            <a:r>
              <a:rPr lang="zh-CN" altLang="en-US" b="1" dirty="0" smtClean="0"/>
              <a:t>系统调用</a:t>
            </a:r>
            <a:endParaRPr lang="en-US" altLang="zh-CN" b="1" dirty="0" smtClean="0"/>
          </a:p>
          <a:p>
            <a:pPr marL="514350" indent="-514350">
              <a:lnSpc>
                <a:spcPct val="110000"/>
              </a:lnSpc>
              <a:buFont typeface="Wingdings" pitchFamily="2" charset="2"/>
              <a:buAutoNum type="arabicPeriod"/>
              <a:defRPr/>
            </a:pPr>
            <a:r>
              <a:rPr lang="zh-CN" altLang="en-US" b="1" dirty="0"/>
              <a:t>库函数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7275513" cy="646113"/>
          </a:xfrm>
        </p:spPr>
        <p:txBody>
          <a:bodyPr wrap="none" anchor="t">
            <a:spAutoFit/>
          </a:bodyPr>
          <a:lstStyle/>
          <a:p>
            <a:r>
              <a:rPr lang="en-US" altLang="zh-CN" sz="3600" b="1" smtClean="0"/>
              <a:t> 6.6.2  </a:t>
            </a:r>
            <a:r>
              <a:rPr lang="zh-CN" altLang="en-US" sz="3600" b="1" smtClean="0"/>
              <a:t>假脱机（</a:t>
            </a:r>
            <a:r>
              <a:rPr lang="en-US" altLang="zh-CN" sz="3600" b="1" smtClean="0"/>
              <a:t>SPOOLing</a:t>
            </a:r>
            <a:r>
              <a:rPr lang="zh-CN" altLang="en-US" sz="3600" b="1" smtClean="0"/>
              <a:t>）系统 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458200" cy="495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b="1" dirty="0" smtClean="0"/>
              <a:t>通过</a:t>
            </a:r>
            <a:r>
              <a:rPr lang="en-US" altLang="zh-CN" sz="2800" b="1" dirty="0" err="1" smtClean="0"/>
              <a:t>SPOOLing</a:t>
            </a:r>
            <a:r>
              <a:rPr lang="zh-CN" altLang="en-US" sz="2800" b="1" dirty="0" smtClean="0"/>
              <a:t>技术便可将一台物理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设备虚拟为多台逻辑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设备，同样允许多个用户共享一台物理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设备。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CN" sz="3600" b="1" dirty="0" smtClean="0">
                <a:solidFill>
                  <a:srgbClr val="0000FF"/>
                </a:solidFill>
              </a:rPr>
              <a:t>1</a:t>
            </a:r>
            <a:r>
              <a:rPr lang="zh-CN" altLang="en-US" sz="3600" b="1" dirty="0" smtClean="0">
                <a:solidFill>
                  <a:srgbClr val="0000FF"/>
                </a:solidFill>
              </a:rPr>
              <a:t>．什么是</a:t>
            </a:r>
            <a:r>
              <a:rPr lang="en-US" altLang="zh-CN" sz="3600" b="1" dirty="0" err="1" smtClean="0">
                <a:solidFill>
                  <a:srgbClr val="0000FF"/>
                </a:solidFill>
              </a:rPr>
              <a:t>SPOOLing</a:t>
            </a:r>
            <a:r>
              <a:rPr lang="en-US" altLang="zh-CN" sz="3600" b="1" dirty="0" smtClean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/>
              <a:t>           </a:t>
            </a:r>
            <a:r>
              <a:rPr lang="zh-CN" altLang="en-US" sz="2800" b="1" dirty="0" smtClean="0"/>
              <a:t>在主机的直接控制下，实现脱机输入、输出功能。此时的外围操作与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对数据的处理同时进行，把这种在联机情况下实现的同时外围操作称为</a:t>
            </a:r>
            <a:r>
              <a:rPr lang="en-US" altLang="zh-CN" sz="2800" b="1" dirty="0" err="1" smtClean="0"/>
              <a:t>SPOOLing</a:t>
            </a:r>
            <a:r>
              <a:rPr lang="zh-CN" altLang="en-US" sz="2800" b="1" dirty="0" smtClean="0"/>
              <a:t>（</a:t>
            </a:r>
            <a:r>
              <a:rPr lang="en-US" altLang="zh-CN" sz="2800" b="1" dirty="0" err="1" smtClean="0"/>
              <a:t>Simultaneaus</a:t>
            </a:r>
            <a:r>
              <a:rPr lang="en-US" altLang="zh-CN" sz="2800" b="1" dirty="0" smtClean="0"/>
              <a:t> </a:t>
            </a:r>
            <a:r>
              <a:rPr lang="en-US" altLang="zh-CN" sz="2800" b="1" dirty="0" err="1" smtClean="0"/>
              <a:t>Periphernal</a:t>
            </a:r>
            <a:r>
              <a:rPr lang="en-US" altLang="zh-CN" sz="2800" b="1" dirty="0" smtClean="0"/>
              <a:t>  Operating  On Line</a:t>
            </a:r>
            <a:r>
              <a:rPr lang="zh-CN" altLang="en-US" sz="2800" b="1" dirty="0" smtClean="0"/>
              <a:t>），或称为假脱机操作。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2"/>
          <p:cNvSpPr>
            <a:spLocks noGrp="1" noChangeArrowheads="1"/>
          </p:cNvSpPr>
          <p:nvPr>
            <p:ph/>
          </p:nvPr>
        </p:nvSpPr>
        <p:spPr>
          <a:xfrm>
            <a:off x="457200" y="685800"/>
            <a:ext cx="8229600" cy="750888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．  </a:t>
            </a:r>
            <a:r>
              <a:rPr lang="en-US" altLang="zh-CN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SPOOLing</a:t>
            </a:r>
            <a:r>
              <a:rPr lang="zh-CN" altLang="en-US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系统的组成</a:t>
            </a:r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1871663" y="2019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6740" name="Text Box 5"/>
          <p:cNvSpPr txBox="1">
            <a:spLocks noChangeArrowheads="1"/>
          </p:cNvSpPr>
          <p:nvPr/>
        </p:nvSpPr>
        <p:spPr bwMode="auto">
          <a:xfrm>
            <a:off x="762000" y="1676400"/>
            <a:ext cx="67818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ahoma" pitchFamily="34" charset="0"/>
              </a:rPr>
              <a:t>1</a:t>
            </a:r>
            <a:r>
              <a:rPr lang="zh-CN" altLang="en-US" sz="2800" b="1">
                <a:latin typeface="Tahoma" pitchFamily="34" charset="0"/>
              </a:rPr>
              <a:t>）输入井和输出井；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ahoma" pitchFamily="34" charset="0"/>
              </a:rPr>
              <a:t>2</a:t>
            </a:r>
            <a:r>
              <a:rPr lang="zh-CN" altLang="en-US" sz="2800" b="1">
                <a:latin typeface="Tahoma" pitchFamily="34" charset="0"/>
              </a:rPr>
              <a:t>）输入缓冲区和输出缓冲区；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ahoma" pitchFamily="34" charset="0"/>
              </a:rPr>
              <a:t>3</a:t>
            </a:r>
            <a:r>
              <a:rPr lang="zh-CN" altLang="en-US" sz="2800" b="1">
                <a:latin typeface="Tahoma" pitchFamily="34" charset="0"/>
              </a:rPr>
              <a:t>）输入进程和输出进程。</a:t>
            </a:r>
          </a:p>
        </p:txBody>
      </p:sp>
      <p:pic>
        <p:nvPicPr>
          <p:cNvPr id="11674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644900"/>
            <a:ext cx="6897688" cy="3213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4" name="Rectangle 2"/>
          <p:cNvSpPr>
            <a:spLocks noGrp="1" noChangeArrowheads="1"/>
          </p:cNvSpPr>
          <p:nvPr>
            <p:ph/>
          </p:nvPr>
        </p:nvSpPr>
        <p:spPr>
          <a:xfrm>
            <a:off x="685800" y="1752600"/>
            <a:ext cx="7772400" cy="46482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）提高了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的速度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          缓和了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与低速</a:t>
            </a:r>
            <a:r>
              <a:rPr lang="en-US" altLang="zh-CN" sz="2800" b="1" dirty="0" smtClean="0"/>
              <a:t>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O</a:t>
            </a:r>
            <a:r>
              <a:rPr lang="zh-CN" altLang="en-US" sz="2800" b="1" dirty="0" smtClean="0"/>
              <a:t>设备之间速度不匹配的矛盾。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）将独占设备改造为共享设备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3</a:t>
            </a:r>
            <a:r>
              <a:rPr lang="zh-CN" altLang="en-US" sz="2800" b="1" dirty="0" smtClean="0"/>
              <a:t>）实现了虚拟设备功能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        </a:t>
            </a:r>
            <a:r>
              <a:rPr lang="en-US" altLang="zh-CN" sz="2800" b="1" i="1" u="sng" dirty="0" err="1" smtClean="0">
                <a:solidFill>
                  <a:srgbClr val="FF0000"/>
                </a:solidFill>
              </a:rPr>
              <a:t>SPOOLing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系统实现了将独占设备变换为若干台对应的逻辑设备的功能。   </a:t>
            </a:r>
          </a:p>
        </p:txBody>
      </p:sp>
      <p:sp>
        <p:nvSpPr>
          <p:cNvPr id="960515" name="Rectangle 3"/>
          <p:cNvSpPr>
            <a:spLocks noChangeArrowheads="1"/>
          </p:cNvSpPr>
          <p:nvPr/>
        </p:nvSpPr>
        <p:spPr bwMode="auto">
          <a:xfrm>
            <a:off x="685800" y="685800"/>
            <a:ext cx="71199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．</a:t>
            </a:r>
            <a:r>
              <a:rPr lang="en-US" altLang="zh-CN" sz="3600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SPOOLing</a:t>
            </a:r>
            <a:r>
              <a:rPr lang="zh-CN" alt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系统的特点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0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0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60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Grp="1" noChangeArrowheads="1"/>
          </p:cNvSpPr>
          <p:nvPr>
            <p:ph/>
          </p:nvPr>
        </p:nvSpPr>
        <p:spPr>
          <a:xfrm>
            <a:off x="152400" y="1271566"/>
            <a:ext cx="8839200" cy="525780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800" b="1" dirty="0" smtClean="0"/>
              <a:t>当用户进程请求打印输出时，</a:t>
            </a:r>
            <a:r>
              <a:rPr lang="en-US" altLang="zh-CN" sz="2800" b="1" dirty="0" err="1" smtClean="0"/>
              <a:t>SPOOLing</a:t>
            </a:r>
            <a:r>
              <a:rPr lang="zh-CN" altLang="en-US" sz="2800" b="1" dirty="0" smtClean="0"/>
              <a:t>系统做两件事：</a:t>
            </a:r>
          </a:p>
          <a:p>
            <a:pPr lvl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b="1" dirty="0" smtClean="0"/>
              <a:t>① 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由输出进程在输出井中为之申请一个空闲磁盘块区，并将要打印的数据送入其中；</a:t>
            </a:r>
          </a:p>
          <a:p>
            <a:pPr lvl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b="1" dirty="0" smtClean="0">
                <a:solidFill>
                  <a:srgbClr val="0070C0"/>
                </a:solidFill>
              </a:rPr>
              <a:t>② 输出进程再为用户进程申请一张空白的用户请求打印表，并将用户的打印要求填入其中，再将该表挂到请求打印队列上。</a:t>
            </a:r>
          </a:p>
          <a:p>
            <a:pPr>
              <a:lnSpc>
                <a:spcPct val="115000"/>
              </a:lnSpc>
            </a:pPr>
            <a:r>
              <a:rPr lang="zh-CN" altLang="en-US" sz="2800" b="1" dirty="0" smtClean="0"/>
              <a:t>打印机空闲，输出进程从请求打印队列的队首取出一张请求打印表，根据表中的要求将要打印的数据，从输出井传送到内存缓冲区，再由打印机进行打印。</a:t>
            </a:r>
          </a:p>
        </p:txBody>
      </p:sp>
      <p:sp>
        <p:nvSpPr>
          <p:cNvPr id="910339" name="Rectangle 3"/>
          <p:cNvSpPr>
            <a:spLocks noChangeArrowheads="1"/>
          </p:cNvSpPr>
          <p:nvPr/>
        </p:nvSpPr>
        <p:spPr bwMode="auto">
          <a:xfrm>
            <a:off x="457200" y="357166"/>
            <a:ext cx="4168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4</a:t>
            </a:r>
            <a:r>
              <a:rPr lang="zh-CN" alt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．共享打印机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0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0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0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762000" y="1524000"/>
            <a:ext cx="7772400" cy="1524000"/>
          </a:xfrm>
          <a:gradFill rotWithShape="0">
            <a:gsLst>
              <a:gs pos="0">
                <a:srgbClr val="404552"/>
              </a:gs>
              <a:gs pos="50000">
                <a:schemeClr val="accent1"/>
              </a:gs>
              <a:gs pos="100000">
                <a:srgbClr val="404552"/>
              </a:gs>
            </a:gsLst>
            <a:lin ang="5400000" scaled="1"/>
          </a:gradFill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6</a:t>
            </a:r>
            <a:r>
              <a:rPr lang="en-US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.</a:t>
            </a:r>
            <a:r>
              <a:rPr lang="en-US" altLang="zh-CN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7</a:t>
            </a:r>
            <a:r>
              <a:rPr lang="en-US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缓冲管理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990600" y="571500"/>
            <a:ext cx="45100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 dirty="0" smtClean="0">
                <a:solidFill>
                  <a:schemeClr val="folHlink"/>
                </a:solidFill>
                <a:latin typeface="Times New Roman" pitchFamily="18" charset="0"/>
              </a:rPr>
              <a:t>6.7</a:t>
            </a:r>
            <a:r>
              <a:rPr lang="en-US" sz="3600" b="1" dirty="0" smtClean="0">
                <a:solidFill>
                  <a:schemeClr val="folHlink"/>
                </a:solidFill>
                <a:latin typeface="Times New Roman" pitchFamily="18" charset="0"/>
              </a:rPr>
              <a:t>.1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itchFamily="18" charset="0"/>
              </a:rPr>
              <a:t>缓冲的引入 </a:t>
            </a: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539750" y="1220788"/>
            <a:ext cx="7788275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200000"/>
              </a:lnSpc>
              <a:buFont typeface="Arial" pitchFamily="34" charset="0"/>
              <a:buAutoNum type="arabicParenBoth"/>
            </a:pPr>
            <a:r>
              <a:rPr lang="zh-CN" altLang="en-US" sz="2800">
                <a:latin typeface="Times New Roman" pitchFamily="18" charset="0"/>
              </a:rPr>
              <a:t>缓和</a:t>
            </a:r>
            <a:r>
              <a:rPr lang="en-US" sz="2800">
                <a:latin typeface="Times New Roman" pitchFamily="18" charset="0"/>
              </a:rPr>
              <a:t>CPU</a:t>
            </a:r>
            <a:r>
              <a:rPr lang="zh-CN" altLang="en-US" sz="2800">
                <a:latin typeface="Times New Roman" pitchFamily="18" charset="0"/>
              </a:rPr>
              <a:t>与</a:t>
            </a:r>
            <a:r>
              <a:rPr lang="en-US" sz="2800">
                <a:latin typeface="Times New Roman" pitchFamily="18" charset="0"/>
              </a:rPr>
              <a:t>I/O</a:t>
            </a:r>
            <a:r>
              <a:rPr lang="zh-CN" altLang="en-US" sz="2800">
                <a:latin typeface="Times New Roman" pitchFamily="18" charset="0"/>
              </a:rPr>
              <a:t>设备间速度不匹配的矛盾。 </a:t>
            </a:r>
          </a:p>
          <a:p>
            <a:pPr marL="457200" indent="-457200">
              <a:lnSpc>
                <a:spcPct val="200000"/>
              </a:lnSpc>
            </a:pPr>
            <a:r>
              <a:rPr lang="en-US" sz="2800">
                <a:latin typeface="Times New Roman" pitchFamily="18" charset="0"/>
              </a:rPr>
              <a:t>(2) </a:t>
            </a:r>
            <a:r>
              <a:rPr lang="zh-CN" altLang="en-US" sz="2800">
                <a:latin typeface="Times New Roman" pitchFamily="18" charset="0"/>
              </a:rPr>
              <a:t>减少对</a:t>
            </a:r>
            <a:r>
              <a:rPr lang="en-US" sz="2800">
                <a:latin typeface="Times New Roman" pitchFamily="18" charset="0"/>
              </a:rPr>
              <a:t>CPU</a:t>
            </a:r>
            <a:r>
              <a:rPr lang="zh-CN" altLang="en-US" sz="2800">
                <a:latin typeface="Times New Roman" pitchFamily="18" charset="0"/>
              </a:rPr>
              <a:t>的中断频率， 放宽对</a:t>
            </a:r>
            <a:r>
              <a:rPr lang="en-US" sz="2800">
                <a:latin typeface="Times New Roman" pitchFamily="18" charset="0"/>
              </a:rPr>
              <a:t>CPU</a:t>
            </a:r>
            <a:r>
              <a:rPr lang="zh-CN" altLang="en-US" sz="2800">
                <a:latin typeface="Times New Roman" pitchFamily="18" charset="0"/>
              </a:rPr>
              <a:t>中断响应时间的限制。 </a:t>
            </a:r>
          </a:p>
          <a:p>
            <a:pPr marL="457200" indent="-457200">
              <a:lnSpc>
                <a:spcPct val="200000"/>
              </a:lnSpc>
            </a:pPr>
            <a:r>
              <a:rPr lang="en-US" sz="2800">
                <a:latin typeface="Times New Roman" pitchFamily="18" charset="0"/>
              </a:rPr>
              <a:t>(3) </a:t>
            </a:r>
            <a:r>
              <a:rPr lang="zh-CN" altLang="en-US" sz="2800">
                <a:latin typeface="Times New Roman" pitchFamily="18" charset="0"/>
              </a:rPr>
              <a:t>提高</a:t>
            </a:r>
            <a:r>
              <a:rPr lang="en-US" sz="2800">
                <a:latin typeface="Times New Roman" pitchFamily="18" charset="0"/>
              </a:rPr>
              <a:t>CPU</a:t>
            </a:r>
            <a:r>
              <a:rPr lang="zh-CN" altLang="en-US" sz="2800">
                <a:latin typeface="Times New Roman" pitchFamily="18" charset="0"/>
              </a:rPr>
              <a:t>和</a:t>
            </a:r>
            <a:r>
              <a:rPr lang="en-US" sz="2800">
                <a:latin typeface="Times New Roman" pitchFamily="18" charset="0"/>
              </a:rPr>
              <a:t>I/O</a:t>
            </a:r>
            <a:r>
              <a:rPr lang="zh-CN" altLang="en-US" sz="2800">
                <a:latin typeface="Times New Roman" pitchFamily="18" charset="0"/>
              </a:rPr>
              <a:t>设备之间的并行性。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缓冲区的组织形式</a:t>
            </a:r>
          </a:p>
        </p:txBody>
      </p:sp>
      <p:sp>
        <p:nvSpPr>
          <p:cNvPr id="30723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b="1">
              <a:effectLst>
                <a:outerShdw blurRad="38100" dist="38100" dir="2700000" algn="tl">
                  <a:srgbClr val="000000"/>
                </a:outerShdw>
              </a:effectLst>
              <a:ea typeface="仿宋_GB2312" pitchFamily="1" charset="-122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单缓冲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双缓冲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循环缓冲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缓冲池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单缓冲</a:t>
            </a:r>
          </a:p>
        </p:txBody>
      </p:sp>
      <p:sp>
        <p:nvSpPr>
          <p:cNvPr id="31747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简单，仅在内存中为进程对某个设备的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访问分配一个缓冲区，如图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2000" y="3200400"/>
            <a:ext cx="7467600" cy="2133600"/>
            <a:chOff x="0" y="0"/>
            <a:chExt cx="5764" cy="1328"/>
          </a:xfrm>
        </p:grpSpPr>
        <p:sp>
          <p:nvSpPr>
            <p:cNvPr id="31749" name="Oval 5"/>
            <p:cNvSpPr>
              <a:spLocks noChangeArrowheads="1"/>
            </p:cNvSpPr>
            <p:nvPr/>
          </p:nvSpPr>
          <p:spPr bwMode="auto">
            <a:xfrm>
              <a:off x="2089" y="0"/>
              <a:ext cx="1464" cy="1328"/>
            </a:xfrm>
            <a:prstGeom prst="ellipse">
              <a:avLst/>
            </a:prstGeom>
            <a:solidFill>
              <a:srgbClr val="CCFFFF"/>
            </a:solidFill>
            <a:ln w="95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操作系统</a:t>
              </a:r>
            </a:p>
          </p:txBody>
        </p:sp>
        <p:sp>
          <p:nvSpPr>
            <p:cNvPr id="31750" name="Oval 6"/>
            <p:cNvSpPr>
              <a:spLocks noChangeArrowheads="1"/>
            </p:cNvSpPr>
            <p:nvPr/>
          </p:nvSpPr>
          <p:spPr bwMode="auto">
            <a:xfrm>
              <a:off x="0" y="415"/>
              <a:ext cx="1354" cy="498"/>
            </a:xfrm>
            <a:prstGeom prst="ellipse">
              <a:avLst/>
            </a:prstGeom>
            <a:solidFill>
              <a:srgbClr val="CCFFFF"/>
            </a:solidFill>
            <a:ln w="95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外部设备</a:t>
              </a:r>
            </a:p>
          </p:txBody>
        </p:sp>
        <p:sp>
          <p:nvSpPr>
            <p:cNvPr id="31751" name="Oval 7"/>
            <p:cNvSpPr>
              <a:spLocks noChangeArrowheads="1"/>
            </p:cNvSpPr>
            <p:nvPr/>
          </p:nvSpPr>
          <p:spPr bwMode="auto">
            <a:xfrm>
              <a:off x="4270" y="391"/>
              <a:ext cx="1494" cy="540"/>
            </a:xfrm>
            <a:prstGeom prst="ellipse">
              <a:avLst/>
            </a:prstGeom>
            <a:solidFill>
              <a:srgbClr val="CCFFFF"/>
            </a:solidFill>
            <a:ln w="95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用户进程</a:t>
              </a:r>
            </a:p>
          </p:txBody>
        </p:sp>
        <p:sp>
          <p:nvSpPr>
            <p:cNvPr id="31752" name="Rectangle 8"/>
            <p:cNvSpPr>
              <a:spLocks noChangeArrowheads="1"/>
            </p:cNvSpPr>
            <p:nvPr/>
          </p:nvSpPr>
          <p:spPr bwMode="auto">
            <a:xfrm>
              <a:off x="2449" y="489"/>
              <a:ext cx="696" cy="332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缓冲区</a:t>
              </a:r>
            </a:p>
          </p:txBody>
        </p:sp>
        <p:sp>
          <p:nvSpPr>
            <p:cNvPr id="31753" name="Line 9"/>
            <p:cNvSpPr>
              <a:spLocks noChangeShapeType="1"/>
            </p:cNvSpPr>
            <p:nvPr/>
          </p:nvSpPr>
          <p:spPr bwMode="auto">
            <a:xfrm>
              <a:off x="1354" y="652"/>
              <a:ext cx="108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Line 10"/>
            <p:cNvSpPr>
              <a:spLocks noChangeShapeType="1"/>
            </p:cNvSpPr>
            <p:nvPr/>
          </p:nvSpPr>
          <p:spPr bwMode="auto">
            <a:xfrm>
              <a:off x="3172" y="652"/>
              <a:ext cx="1122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609600" y="44450"/>
            <a:ext cx="7772400" cy="914400"/>
          </a:xfrm>
        </p:spPr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双缓冲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31913" y="3024188"/>
            <a:ext cx="5903912" cy="3213100"/>
            <a:chOff x="0" y="0"/>
            <a:chExt cx="4704" cy="1344"/>
          </a:xfrm>
        </p:grpSpPr>
        <p:sp>
          <p:nvSpPr>
            <p:cNvPr id="32772" name="Oval 4"/>
            <p:cNvSpPr>
              <a:spLocks noChangeArrowheads="1"/>
            </p:cNvSpPr>
            <p:nvPr/>
          </p:nvSpPr>
          <p:spPr bwMode="auto">
            <a:xfrm>
              <a:off x="1705" y="0"/>
              <a:ext cx="1195" cy="1344"/>
            </a:xfrm>
            <a:prstGeom prst="ellipse">
              <a:avLst/>
            </a:prstGeom>
            <a:solidFill>
              <a:srgbClr val="CCFFFF"/>
            </a:solidFill>
            <a:ln w="95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OS</a:t>
              </a:r>
            </a:p>
          </p:txBody>
        </p:sp>
        <p:sp>
          <p:nvSpPr>
            <p:cNvPr id="32773" name="Oval 5"/>
            <p:cNvSpPr>
              <a:spLocks noChangeArrowheads="1"/>
            </p:cNvSpPr>
            <p:nvPr/>
          </p:nvSpPr>
          <p:spPr bwMode="auto">
            <a:xfrm>
              <a:off x="0" y="408"/>
              <a:ext cx="1105" cy="504"/>
            </a:xfrm>
            <a:prstGeom prst="ellipse">
              <a:avLst/>
            </a:prstGeom>
            <a:solidFill>
              <a:srgbClr val="CCFFFF"/>
            </a:solidFill>
            <a:ln w="95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外部设备</a:t>
              </a:r>
            </a:p>
          </p:txBody>
        </p:sp>
        <p:sp>
          <p:nvSpPr>
            <p:cNvPr id="32774" name="Oval 6"/>
            <p:cNvSpPr>
              <a:spLocks noChangeArrowheads="1"/>
            </p:cNvSpPr>
            <p:nvPr/>
          </p:nvSpPr>
          <p:spPr bwMode="auto">
            <a:xfrm>
              <a:off x="3485" y="361"/>
              <a:ext cx="1219" cy="550"/>
            </a:xfrm>
            <a:prstGeom prst="ellipse">
              <a:avLst/>
            </a:prstGeom>
            <a:solidFill>
              <a:srgbClr val="CCFFFF"/>
            </a:solidFill>
            <a:ln w="95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用户进程</a:t>
              </a:r>
            </a:p>
          </p:txBody>
        </p:sp>
        <p:sp>
          <p:nvSpPr>
            <p:cNvPr id="32775" name="Rectangle 7"/>
            <p:cNvSpPr>
              <a:spLocks noChangeArrowheads="1"/>
            </p:cNvSpPr>
            <p:nvPr/>
          </p:nvSpPr>
          <p:spPr bwMode="auto">
            <a:xfrm>
              <a:off x="1998" y="432"/>
              <a:ext cx="568" cy="336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 eaLnBrk="0" hangingPunct="0"/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缓冲区</a:t>
              </a:r>
            </a:p>
          </p:txBody>
        </p:sp>
        <p:sp>
          <p:nvSpPr>
            <p:cNvPr id="32776" name="Line 8"/>
            <p:cNvSpPr>
              <a:spLocks noChangeShapeType="1"/>
            </p:cNvSpPr>
            <p:nvPr/>
          </p:nvSpPr>
          <p:spPr bwMode="auto">
            <a:xfrm>
              <a:off x="1105" y="624"/>
              <a:ext cx="88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Line 9"/>
            <p:cNvSpPr>
              <a:spLocks noChangeShapeType="1"/>
            </p:cNvSpPr>
            <p:nvPr/>
          </p:nvSpPr>
          <p:spPr bwMode="auto">
            <a:xfrm>
              <a:off x="2589" y="624"/>
              <a:ext cx="915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Rectangle 10"/>
            <p:cNvSpPr>
              <a:spLocks noChangeArrowheads="1"/>
            </p:cNvSpPr>
            <p:nvPr/>
          </p:nvSpPr>
          <p:spPr bwMode="auto">
            <a:xfrm>
              <a:off x="2016" y="864"/>
              <a:ext cx="624" cy="288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 algn="ctr" eaLnBrk="0" hangingPunct="0">
                <a:buClr>
                  <a:schemeClr val="hlink"/>
                </a:buClr>
                <a:buSzPct val="65000"/>
                <a:buFont typeface="Wingdings" pitchFamily="2" charset="2"/>
                <a:buNone/>
              </a:pPr>
              <a:r>
                <a: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缓冲区</a:t>
              </a:r>
            </a:p>
          </p:txBody>
        </p:sp>
        <p:sp>
          <p:nvSpPr>
            <p:cNvPr id="32779" name="Freeform 11"/>
            <p:cNvSpPr>
              <a:spLocks/>
            </p:cNvSpPr>
            <p:nvPr/>
          </p:nvSpPr>
          <p:spPr bwMode="auto">
            <a:xfrm>
              <a:off x="1808" y="576"/>
              <a:ext cx="112" cy="240"/>
            </a:xfrm>
            <a:custGeom>
              <a:avLst/>
              <a:gdLst>
                <a:gd name="T0" fmla="*/ 16 w 112"/>
                <a:gd name="T1" fmla="*/ 0 h 240"/>
                <a:gd name="T2" fmla="*/ 16 w 112"/>
                <a:gd name="T3" fmla="*/ 144 h 240"/>
                <a:gd name="T4" fmla="*/ 112 w 112"/>
                <a:gd name="T5" fmla="*/ 240 h 240"/>
                <a:gd name="T6" fmla="*/ 0 60000 65536"/>
                <a:gd name="T7" fmla="*/ 0 60000 65536"/>
                <a:gd name="T8" fmla="*/ 0 60000 65536"/>
                <a:gd name="T9" fmla="*/ 0 w 112"/>
                <a:gd name="T10" fmla="*/ 0 h 240"/>
                <a:gd name="T11" fmla="*/ 112 w 112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240">
                  <a:moveTo>
                    <a:pt x="16" y="0"/>
                  </a:moveTo>
                  <a:cubicBezTo>
                    <a:pt x="8" y="52"/>
                    <a:pt x="0" y="104"/>
                    <a:pt x="16" y="144"/>
                  </a:cubicBezTo>
                  <a:cubicBezTo>
                    <a:pt x="32" y="184"/>
                    <a:pt x="72" y="212"/>
                    <a:pt x="112" y="24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bevel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Freeform 12"/>
            <p:cNvSpPr>
              <a:spLocks/>
            </p:cNvSpPr>
            <p:nvPr/>
          </p:nvSpPr>
          <p:spPr bwMode="auto">
            <a:xfrm>
              <a:off x="2688" y="528"/>
              <a:ext cx="192" cy="192"/>
            </a:xfrm>
            <a:custGeom>
              <a:avLst/>
              <a:gdLst>
                <a:gd name="T0" fmla="*/ 192 w 192"/>
                <a:gd name="T1" fmla="*/ 192 h 192"/>
                <a:gd name="T2" fmla="*/ 48 w 192"/>
                <a:gd name="T3" fmla="*/ 144 h 192"/>
                <a:gd name="T4" fmla="*/ 0 w 192"/>
                <a:gd name="T5" fmla="*/ 0 h 192"/>
                <a:gd name="T6" fmla="*/ 0 60000 65536"/>
                <a:gd name="T7" fmla="*/ 0 60000 65536"/>
                <a:gd name="T8" fmla="*/ 0 60000 65536"/>
                <a:gd name="T9" fmla="*/ 0 w 192"/>
                <a:gd name="T10" fmla="*/ 0 h 192"/>
                <a:gd name="T11" fmla="*/ 192 w 19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92">
                  <a:moveTo>
                    <a:pt x="192" y="192"/>
                  </a:moveTo>
                  <a:cubicBezTo>
                    <a:pt x="136" y="184"/>
                    <a:pt x="80" y="176"/>
                    <a:pt x="48" y="144"/>
                  </a:cubicBezTo>
                  <a:cubicBezTo>
                    <a:pt x="16" y="112"/>
                    <a:pt x="8" y="56"/>
                    <a:pt x="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bevel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457200" y="1125538"/>
            <a:ext cx="822960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buFont typeface="Arial" pitchFamily="34" charset="0"/>
              <a:buChar char="•"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增加一个缓冲区，两个缓冲区可以交替使用。</a:t>
            </a:r>
          </a:p>
          <a:p>
            <a:pPr algn="just">
              <a:lnSpc>
                <a:spcPct val="110000"/>
              </a:lnSpc>
              <a:buFont typeface="Arial" pitchFamily="34" charset="0"/>
              <a:buChar char="•"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当数据从缓冲区复制到用户进程空间时，输入设备不必等待，可立即开始向另一个缓冲区输入数据。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循环缓冲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33795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当用户进程处理数据的速度较快、外部设备处理数据的速度较慢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，或者用户进程阵发性输入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/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输出的数据较多时，必须考虑增加缓冲区的数量以改善系统性能，这就是</a:t>
            </a:r>
            <a:r>
              <a:rPr lang="zh-CN" altLang="en-US" sz="2800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多缓冲区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方式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endParaRPr lang="en-US" altLang="zh-CN" sz="2800" b="1" dirty="0" smtClean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多个</a:t>
            </a:r>
            <a:r>
              <a:rPr 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缓冲区常常被组织成一个环形队列，故，称为循环缓冲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endParaRPr lang="en-US" altLang="zh-CN" sz="2800" b="1" dirty="0" smtClean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实质上，双缓冲可以看作是循环缓冲的一个特例。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15888"/>
            <a:ext cx="8077200" cy="1066800"/>
          </a:xfrm>
        </p:spPr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循环缓冲</a:t>
            </a:r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331913"/>
            <a:ext cx="8077200" cy="4498975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folHlink"/>
                </a:solidFill>
              </a:rPr>
              <a:t>（</a:t>
            </a:r>
            <a:r>
              <a:rPr lang="en-US" b="1">
                <a:solidFill>
                  <a:schemeClr val="folHlink"/>
                </a:solidFill>
              </a:rPr>
              <a:t>1</a:t>
            </a:r>
            <a:r>
              <a:rPr lang="zh-CN" altLang="en-US" b="1">
                <a:solidFill>
                  <a:schemeClr val="folHlink"/>
                </a:solidFill>
              </a:rPr>
              <a:t>）多个缓冲区。 每个缓冲区的大小相同。 </a:t>
            </a:r>
          </a:p>
          <a:p>
            <a:pPr eaLnBrk="1" hangingPunct="1"/>
            <a:r>
              <a:rPr lang="zh-CN" altLang="en-US" b="1">
                <a:solidFill>
                  <a:schemeClr val="folHlink"/>
                </a:solidFill>
              </a:rPr>
              <a:t>（</a:t>
            </a:r>
            <a:r>
              <a:rPr lang="en-US" b="1">
                <a:solidFill>
                  <a:schemeClr val="folHlink"/>
                </a:solidFill>
              </a:rPr>
              <a:t>2</a:t>
            </a:r>
            <a:r>
              <a:rPr lang="zh-CN" altLang="en-US" b="1">
                <a:solidFill>
                  <a:schemeClr val="folHlink"/>
                </a:solidFill>
              </a:rPr>
              <a:t>）缓冲区可分成三种类型：</a:t>
            </a:r>
          </a:p>
          <a:p>
            <a:pPr lvl="1" eaLnBrk="1" hangingPunct="1"/>
            <a:r>
              <a:rPr lang="zh-CN" altLang="en-US" b="1"/>
              <a:t>① 空缓冲区</a:t>
            </a:r>
            <a:r>
              <a:rPr lang="en-US" b="1"/>
              <a:t>Empty</a:t>
            </a:r>
            <a:r>
              <a:rPr lang="zh-CN" altLang="en-US" b="1"/>
              <a:t>，用</a:t>
            </a:r>
            <a:r>
              <a:rPr lang="en-US" b="1"/>
              <a:t>E</a:t>
            </a:r>
            <a:r>
              <a:rPr lang="zh-CN" altLang="en-US" b="1"/>
              <a:t>表示，用于存放输入数据；</a:t>
            </a:r>
          </a:p>
          <a:p>
            <a:pPr lvl="1" eaLnBrk="1" hangingPunct="1"/>
            <a:r>
              <a:rPr lang="zh-CN" altLang="en-US" b="1"/>
              <a:t>② 已装满数据的缓冲区</a:t>
            </a:r>
            <a:r>
              <a:rPr lang="en-US" b="1"/>
              <a:t>Full</a:t>
            </a:r>
            <a:r>
              <a:rPr lang="zh-CN" altLang="en-US" b="1"/>
              <a:t>，用</a:t>
            </a:r>
            <a:r>
              <a:rPr lang="en-US" b="1"/>
              <a:t>F</a:t>
            </a:r>
            <a:r>
              <a:rPr lang="zh-CN" altLang="en-US" b="1"/>
              <a:t>表示，其中的数据提供给计算进程使用；</a:t>
            </a:r>
          </a:p>
          <a:p>
            <a:pPr lvl="1" eaLnBrk="1" hangingPunct="1"/>
            <a:r>
              <a:rPr lang="zh-CN" altLang="en-US" b="1"/>
              <a:t>③ 现行工作缓冲区</a:t>
            </a:r>
            <a:r>
              <a:rPr lang="en-US" b="1"/>
              <a:t>Current</a:t>
            </a:r>
            <a:r>
              <a:rPr lang="zh-CN" altLang="en-US" b="1"/>
              <a:t>，用</a:t>
            </a:r>
            <a:r>
              <a:rPr lang="en-US" b="1"/>
              <a:t>C</a:t>
            </a:r>
            <a:r>
              <a:rPr lang="zh-CN" altLang="en-US" b="1"/>
              <a:t>表示，这是计算进程正在使用的缓冲区。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/>
          <p:cNvSpPr>
            <a:spLocks noGrp="1"/>
          </p:cNvSpPr>
          <p:nvPr>
            <p:ph idx="4294967295"/>
          </p:nvPr>
        </p:nvSpPr>
        <p:spPr>
          <a:xfrm>
            <a:off x="301625" y="1142984"/>
            <a:ext cx="8540750" cy="4498975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作为输入的缓冲区可设置三个指针</a:t>
            </a:r>
            <a:r>
              <a:rPr lang="zh-CN" altLang="en-US" b="1" dirty="0" smtClean="0">
                <a:solidFill>
                  <a:srgbClr val="C00000"/>
                </a:solidFill>
              </a:rPr>
              <a:t>：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zh-CN" altLang="en-US" b="1" dirty="0"/>
              <a:t>用于指示计算进程下一个可用缓冲区</a:t>
            </a:r>
            <a:r>
              <a:rPr lang="en-US" b="1" dirty="0"/>
              <a:t>F</a:t>
            </a:r>
            <a:r>
              <a:rPr lang="zh-CN" altLang="en-US" b="1" dirty="0"/>
              <a:t>的指针</a:t>
            </a:r>
            <a:r>
              <a:rPr lang="en-US" b="1" dirty="0" err="1"/>
              <a:t>Nextg</a:t>
            </a:r>
            <a:r>
              <a:rPr lang="zh-CN" altLang="en-US" b="1" dirty="0"/>
              <a:t>、</a:t>
            </a:r>
            <a:endParaRPr lang="en-US" b="1" dirty="0"/>
          </a:p>
          <a:p>
            <a:pPr lvl="1"/>
            <a:r>
              <a:rPr lang="zh-CN" altLang="en-US" b="1" dirty="0"/>
              <a:t>指示输入进程下次可用的空缓冲区</a:t>
            </a:r>
            <a:r>
              <a:rPr lang="en-US" b="1" dirty="0"/>
              <a:t>E</a:t>
            </a:r>
            <a:r>
              <a:rPr lang="zh-CN" altLang="en-US" b="1" dirty="0"/>
              <a:t>的指针</a:t>
            </a:r>
            <a:r>
              <a:rPr lang="en-US" b="1" dirty="0" err="1"/>
              <a:t>Nexti</a:t>
            </a:r>
            <a:r>
              <a:rPr lang="zh-CN" altLang="en-US" b="1" dirty="0"/>
              <a:t>，</a:t>
            </a:r>
            <a:endParaRPr lang="en-US" b="1" dirty="0"/>
          </a:p>
          <a:p>
            <a:pPr lvl="1"/>
            <a:r>
              <a:rPr lang="zh-CN" altLang="en-US" b="1" dirty="0"/>
              <a:t>以及用于指示计算进程正在使用的缓冲区</a:t>
            </a:r>
            <a:r>
              <a:rPr lang="en-US" b="1" dirty="0"/>
              <a:t>C</a:t>
            </a:r>
            <a:r>
              <a:rPr lang="zh-CN" altLang="en-US" b="1" dirty="0"/>
              <a:t>的指针</a:t>
            </a:r>
            <a:r>
              <a:rPr lang="en-US" b="1" dirty="0"/>
              <a:t>Current</a:t>
            </a:r>
            <a:r>
              <a:rPr lang="zh-CN" altLang="en-US" b="1" dirty="0"/>
              <a:t>。</a:t>
            </a:r>
          </a:p>
          <a:p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循环缓冲区的组织方式 </a:t>
            </a:r>
          </a:p>
        </p:txBody>
      </p:sp>
      <p:graphicFrame>
        <p:nvGraphicFramePr>
          <p:cNvPr id="36867" name="Object 5"/>
          <p:cNvGraphicFramePr>
            <a:graphicFrameLocks noGrp="1" noChangeAspect="1"/>
          </p:cNvGraphicFramePr>
          <p:nvPr>
            <p:ph idx="4294967295"/>
          </p:nvPr>
        </p:nvGraphicFramePr>
        <p:xfrm>
          <a:off x="611188" y="2073275"/>
          <a:ext cx="7848600" cy="351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91" r:id="rId3" imgW="5504762" imgH="2467319" progId="PBrush">
                  <p:embed/>
                </p:oleObj>
              </mc:Choice>
              <mc:Fallback>
                <p:oleObj r:id="rId3" imgW="5504762" imgH="2467319" progId="PBrush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073275"/>
                        <a:ext cx="7848600" cy="351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15888"/>
            <a:ext cx="8077200" cy="1066800"/>
          </a:xfrm>
        </p:spPr>
        <p:txBody>
          <a:bodyPr/>
          <a:lstStyle/>
          <a:p>
            <a:pPr eaLnBrk="1" hangingPunct="1"/>
            <a:r>
              <a:rPr 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缓冲区的分配和回收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250825" y="1196975"/>
            <a:ext cx="8424863" cy="51117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solidFill>
                  <a:schemeClr val="folHlink"/>
                </a:solidFill>
              </a:rPr>
              <a:t>（</a:t>
            </a:r>
            <a:r>
              <a:rPr lang="en-US" sz="2800" b="1">
                <a:solidFill>
                  <a:schemeClr val="folHlink"/>
                </a:solidFill>
              </a:rPr>
              <a:t>1</a:t>
            </a:r>
            <a:r>
              <a:rPr lang="zh-CN" altLang="en-US" sz="2800" b="1">
                <a:solidFill>
                  <a:schemeClr val="folHlink"/>
                </a:solidFill>
              </a:rPr>
              <a:t>）  </a:t>
            </a:r>
            <a:r>
              <a:rPr lang="en-US" sz="2800" b="1">
                <a:solidFill>
                  <a:schemeClr val="folHlink"/>
                </a:solidFill>
              </a:rPr>
              <a:t>Getbuf</a:t>
            </a:r>
            <a:r>
              <a:rPr lang="zh-CN" altLang="en-US" sz="2800" b="1">
                <a:solidFill>
                  <a:schemeClr val="folHlink"/>
                </a:solidFill>
              </a:rPr>
              <a:t>过程</a:t>
            </a:r>
            <a:r>
              <a:rPr lang="en-US" sz="2800" b="1">
                <a:solidFill>
                  <a:schemeClr val="folHlink"/>
                </a:solidFill>
              </a:rPr>
              <a:t>(</a:t>
            </a:r>
            <a:r>
              <a:rPr lang="zh-CN" altLang="en-US" sz="2800" b="1">
                <a:solidFill>
                  <a:schemeClr val="folHlink"/>
                </a:solidFill>
              </a:rPr>
              <a:t>分配缓冲区</a:t>
            </a:r>
            <a:r>
              <a:rPr lang="en-US" sz="2800" b="1">
                <a:solidFill>
                  <a:schemeClr val="folHlink"/>
                </a:solidFill>
              </a:rPr>
              <a:t>)</a:t>
            </a:r>
            <a:r>
              <a:rPr lang="zh-CN" altLang="en-US" sz="2800" b="1">
                <a:solidFill>
                  <a:schemeClr val="folHlink"/>
                </a:solidFill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b="1">
                <a:solidFill>
                  <a:schemeClr val="folHlink"/>
                </a:solidFill>
              </a:rPr>
              <a:t>A.</a:t>
            </a:r>
            <a:r>
              <a:rPr lang="zh-CN" altLang="en-US" sz="2800" b="1">
                <a:solidFill>
                  <a:schemeClr val="folHlink"/>
                </a:solidFill>
              </a:rPr>
              <a:t>计算进程要使用缓冲区中的数据时，可调用</a:t>
            </a:r>
            <a:r>
              <a:rPr lang="en-US" sz="2800" b="1">
                <a:solidFill>
                  <a:schemeClr val="folHlink"/>
                </a:solidFill>
              </a:rPr>
              <a:t>Getbuf</a:t>
            </a:r>
            <a:r>
              <a:rPr lang="zh-CN" altLang="en-US" sz="2800" b="1">
                <a:solidFill>
                  <a:schemeClr val="folHlink"/>
                </a:solidFill>
              </a:rPr>
              <a:t>过程。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/>
              <a:t>由指针</a:t>
            </a:r>
            <a:r>
              <a:rPr lang="en-US" sz="2400" b="1"/>
              <a:t>Nextg</a:t>
            </a:r>
            <a:r>
              <a:rPr lang="zh-CN" altLang="en-US" sz="2400" b="1"/>
              <a:t>所指示的缓冲区提供给进程使用，把它改为现行工作缓冲区，并令</a:t>
            </a:r>
            <a:r>
              <a:rPr lang="en-US" sz="2400" b="1"/>
              <a:t>Current</a:t>
            </a:r>
            <a:r>
              <a:rPr lang="zh-CN" altLang="en-US" sz="2400" b="1"/>
              <a:t>指针指向该缓冲区的第一个单元，同时将</a:t>
            </a:r>
            <a:r>
              <a:rPr lang="en-US" sz="2400" b="1"/>
              <a:t>Nextg</a:t>
            </a:r>
            <a:r>
              <a:rPr lang="zh-CN" altLang="en-US" sz="2400" b="1"/>
              <a:t>移向下一个</a:t>
            </a:r>
            <a:r>
              <a:rPr lang="en-US" sz="2400" b="1">
                <a:solidFill>
                  <a:schemeClr val="folHlink"/>
                </a:solidFill>
              </a:rPr>
              <a:t>F</a:t>
            </a:r>
            <a:r>
              <a:rPr lang="zh-CN" altLang="en-US" sz="2400" b="1">
                <a:solidFill>
                  <a:schemeClr val="folHlink"/>
                </a:solidFill>
              </a:rPr>
              <a:t>缓冲区</a:t>
            </a:r>
            <a:r>
              <a:rPr lang="zh-CN" altLang="en-US" sz="2400" b="1"/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b="1"/>
              <a:t>B . </a:t>
            </a:r>
            <a:r>
              <a:rPr lang="zh-CN" altLang="en-US" sz="2800" b="1">
                <a:solidFill>
                  <a:schemeClr val="folHlink"/>
                </a:solidFill>
              </a:rPr>
              <a:t>每当输入进程要使用空缓冲区来装入数据时，也调用</a:t>
            </a:r>
            <a:r>
              <a:rPr lang="en-US" sz="2800" b="1">
                <a:solidFill>
                  <a:schemeClr val="folHlink"/>
                </a:solidFill>
              </a:rPr>
              <a:t>Getbuf</a:t>
            </a:r>
            <a:r>
              <a:rPr lang="zh-CN" altLang="en-US" sz="2800" b="1">
                <a:solidFill>
                  <a:schemeClr val="folHlink"/>
                </a:solidFill>
              </a:rPr>
              <a:t>过程</a:t>
            </a:r>
            <a:endParaRPr lang="zh-CN" altLang="en-US" sz="2800" b="1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/>
              <a:t>由该过程将指针</a:t>
            </a:r>
            <a:r>
              <a:rPr lang="en-US" sz="2400" b="1"/>
              <a:t>Nexti</a:t>
            </a:r>
            <a:r>
              <a:rPr lang="zh-CN" altLang="en-US" sz="2400" b="1"/>
              <a:t>所指示的缓冲区提供给输入进程使用，同时将</a:t>
            </a:r>
            <a:r>
              <a:rPr lang="en-US" sz="2400" b="1"/>
              <a:t>Nexti</a:t>
            </a:r>
            <a:r>
              <a:rPr lang="zh-CN" altLang="en-US" sz="2400" b="1"/>
              <a:t>指针移向下一个</a:t>
            </a:r>
            <a:r>
              <a:rPr lang="en-US" sz="2400" b="1">
                <a:solidFill>
                  <a:schemeClr val="folHlink"/>
                </a:solidFill>
              </a:rPr>
              <a:t>E</a:t>
            </a:r>
            <a:r>
              <a:rPr lang="zh-CN" altLang="en-US" sz="2400" b="1">
                <a:solidFill>
                  <a:schemeClr val="folHlink"/>
                </a:solidFill>
              </a:rPr>
              <a:t>缓冲区</a:t>
            </a:r>
            <a:r>
              <a:rPr lang="zh-CN" altLang="en-US" sz="2400" b="1"/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88913"/>
            <a:ext cx="8077200" cy="1066800"/>
          </a:xfrm>
        </p:spPr>
        <p:txBody>
          <a:bodyPr/>
          <a:lstStyle/>
          <a:p>
            <a:pPr eaLnBrk="1" hangingPunct="1"/>
            <a:r>
              <a:rPr 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缓冲区的分配和回收</a:t>
            </a:r>
          </a:p>
        </p:txBody>
      </p:sp>
      <p:sp>
        <p:nvSpPr>
          <p:cNvPr id="38915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484313"/>
            <a:ext cx="8077200" cy="44989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800" b="1">
                <a:solidFill>
                  <a:schemeClr val="folHlink"/>
                </a:solidFill>
              </a:rPr>
              <a:t>(2) Releasebuf</a:t>
            </a:r>
            <a:r>
              <a:rPr lang="zh-CN" altLang="en-US" sz="2800" b="1">
                <a:solidFill>
                  <a:schemeClr val="folHlink"/>
                </a:solidFill>
              </a:rPr>
              <a:t>过程。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b="1"/>
              <a:t>A</a:t>
            </a:r>
            <a:r>
              <a:rPr lang="zh-CN" altLang="en-US" sz="2800" b="1"/>
              <a:t>、当计算进程把</a:t>
            </a:r>
            <a:r>
              <a:rPr lang="en-US" sz="2800" b="1"/>
              <a:t>F</a:t>
            </a:r>
            <a:r>
              <a:rPr lang="zh-CN" altLang="en-US" sz="2800" b="1"/>
              <a:t>缓冲区中的数据提取完毕时，便调用</a:t>
            </a:r>
            <a:r>
              <a:rPr lang="en-US" sz="2800" b="1"/>
              <a:t>Releasebuf</a:t>
            </a:r>
            <a:r>
              <a:rPr lang="zh-CN" altLang="en-US" sz="2800" b="1"/>
              <a:t>过程，将缓冲区</a:t>
            </a:r>
            <a:r>
              <a:rPr lang="en-US" sz="2800" b="1"/>
              <a:t>F</a:t>
            </a:r>
            <a:r>
              <a:rPr lang="zh-CN" altLang="en-US" sz="2800" b="1"/>
              <a:t>释放。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/>
              <a:t>此时，把该缓冲区由当前（现行）工作缓冲区</a:t>
            </a:r>
            <a:r>
              <a:rPr lang="en-US" sz="2400" b="1"/>
              <a:t>C</a:t>
            </a:r>
            <a:r>
              <a:rPr lang="zh-CN" altLang="en-US" sz="2400" b="1"/>
              <a:t>改为空缓冲区</a:t>
            </a:r>
            <a:r>
              <a:rPr lang="en-US" sz="2400" b="1"/>
              <a:t>E.  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b="1"/>
              <a:t>B</a:t>
            </a:r>
            <a:r>
              <a:rPr lang="zh-CN" altLang="en-US" sz="2800" b="1"/>
              <a:t>、当输入进程把缓冲区装满时，也应调用</a:t>
            </a:r>
            <a:r>
              <a:rPr lang="en-US" sz="2800" b="1"/>
              <a:t>Releasebuf</a:t>
            </a:r>
            <a:r>
              <a:rPr lang="zh-CN" altLang="en-US" sz="2800" b="1"/>
              <a:t>过程，将该缓冲区释放并改为</a:t>
            </a:r>
            <a:r>
              <a:rPr lang="en-US" sz="2800" b="1"/>
              <a:t>F</a:t>
            </a:r>
            <a:r>
              <a:rPr lang="zh-CN" altLang="en-US" sz="2800" b="1"/>
              <a:t>缓冲区。 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12825" y="581025"/>
            <a:ext cx="7183438" cy="601663"/>
          </a:xfrm>
        </p:spPr>
        <p:txBody>
          <a:bodyPr/>
          <a:lstStyle/>
          <a:p>
            <a:r>
              <a:rPr lang="zh-CN" sz="3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缓冲区管理的同步问题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495425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使用输入循环缓冲，指针</a:t>
            </a:r>
            <a:r>
              <a:rPr lang="en-US" sz="2800" b="1" dirty="0" err="1"/>
              <a:t>Nexti</a:t>
            </a:r>
            <a:r>
              <a:rPr lang="zh-CN" altLang="en-US" sz="2800" b="1" dirty="0"/>
              <a:t>和指针</a:t>
            </a:r>
            <a:r>
              <a:rPr lang="en-US" sz="2800" b="1" dirty="0" err="1"/>
              <a:t>Nextg</a:t>
            </a:r>
            <a:r>
              <a:rPr lang="zh-CN" altLang="en-US" sz="2800" b="1" dirty="0"/>
              <a:t>将不断地沿着顺时针方向移动，这样就可能出现下述两种情况</a:t>
            </a:r>
            <a:r>
              <a:rPr lang="en-US" sz="2800" b="1" dirty="0"/>
              <a:t>:</a:t>
            </a:r>
          </a:p>
          <a:p>
            <a:pPr>
              <a:lnSpc>
                <a:spcPct val="90000"/>
              </a:lnSpc>
              <a:buClrTx/>
              <a:buSzTx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en-US" sz="2400" b="1" dirty="0">
                <a:solidFill>
                  <a:srgbClr val="C00000"/>
                </a:solidFill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</a:rPr>
              <a:t>）  </a:t>
            </a:r>
            <a:r>
              <a:rPr lang="en-US" sz="2400" b="1" dirty="0" err="1">
                <a:solidFill>
                  <a:srgbClr val="C00000"/>
                </a:solidFill>
              </a:rPr>
              <a:t>Nexti</a:t>
            </a:r>
            <a:r>
              <a:rPr lang="zh-CN" altLang="en-US" sz="2400" b="1" dirty="0">
                <a:solidFill>
                  <a:srgbClr val="C00000"/>
                </a:solidFill>
              </a:rPr>
              <a:t>指针追赶上</a:t>
            </a:r>
            <a:r>
              <a:rPr lang="en-US" sz="2400" b="1" dirty="0" err="1">
                <a:solidFill>
                  <a:srgbClr val="C00000"/>
                </a:solidFill>
              </a:rPr>
              <a:t>Nextg</a:t>
            </a:r>
            <a:r>
              <a:rPr lang="zh-CN" altLang="en-US" sz="2400" b="1" dirty="0">
                <a:solidFill>
                  <a:srgbClr val="C00000"/>
                </a:solidFill>
              </a:rPr>
              <a:t>指针。    </a:t>
            </a:r>
            <a:endParaRPr lang="en-US" sz="2400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buClrTx/>
              <a:buSzTx/>
              <a:buFont typeface="Wingdings" pitchFamily="2" charset="2"/>
              <a:buNone/>
            </a:pPr>
            <a:r>
              <a:rPr lang="en-US" sz="2400" b="1" dirty="0">
                <a:solidFill>
                  <a:srgbClr val="FFC000"/>
                </a:solidFill>
              </a:rPr>
              <a:t>	</a:t>
            </a:r>
            <a:r>
              <a:rPr lang="zh-CN" altLang="en-US" sz="2400" b="1" dirty="0"/>
              <a:t>这意味着输入进程输入数据的速度大于计算进程处理数据的速度，已把全部可用的空缓冲区装满，再无缓冲区可用。此时，输入进程应阻塞 </a:t>
            </a:r>
            <a:r>
              <a:rPr lang="en-US" sz="2400" b="1" dirty="0"/>
              <a:t>.</a:t>
            </a:r>
            <a:endParaRPr lang="zh-CN" altLang="en-US" sz="2400" b="1" dirty="0"/>
          </a:p>
          <a:p>
            <a:pPr algn="just">
              <a:lnSpc>
                <a:spcPct val="90000"/>
              </a:lnSpc>
              <a:buClrTx/>
              <a:buSzTx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en-US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</a:rPr>
              <a:t>）  </a:t>
            </a:r>
            <a:r>
              <a:rPr lang="en-US" sz="2400" b="1" dirty="0" err="1">
                <a:solidFill>
                  <a:srgbClr val="C00000"/>
                </a:solidFill>
              </a:rPr>
              <a:t>Nextg</a:t>
            </a:r>
            <a:r>
              <a:rPr lang="zh-CN" altLang="en-US" sz="2400" b="1" dirty="0">
                <a:solidFill>
                  <a:srgbClr val="C00000"/>
                </a:solidFill>
              </a:rPr>
              <a:t>指针追赶上</a:t>
            </a:r>
            <a:r>
              <a:rPr lang="en-US" sz="2400" b="1" dirty="0" err="1">
                <a:solidFill>
                  <a:srgbClr val="C00000"/>
                </a:solidFill>
              </a:rPr>
              <a:t>Nexti</a:t>
            </a:r>
            <a:r>
              <a:rPr lang="zh-CN" altLang="en-US" sz="2400" b="1" dirty="0">
                <a:solidFill>
                  <a:srgbClr val="C00000"/>
                </a:solidFill>
              </a:rPr>
              <a:t>指针。</a:t>
            </a:r>
          </a:p>
          <a:p>
            <a:pPr algn="just">
              <a:lnSpc>
                <a:spcPct val="90000"/>
              </a:lnSpc>
              <a:buClrTx/>
              <a:buSzTx/>
              <a:buFont typeface="Wingdings" pitchFamily="2" charset="2"/>
              <a:buNone/>
            </a:pPr>
            <a:r>
              <a:rPr lang="zh-CN" altLang="en-US" sz="2400" b="1" dirty="0"/>
              <a:t>    这意味着输入数据的速度低于计算进程处理数据的速度，使全部装有输入数据的缓冲区都被抽空，再无装有数据的缓冲区供计算进程提取数据。这时，计算进程只能阻塞。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缓冲池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40963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上述三种缓冲区的组织形式仅适用于某种特定的</a:t>
            </a:r>
            <a:r>
              <a:rPr lang="en-US" altLang="en-US" b="1" dirty="0"/>
              <a:t>I/O</a:t>
            </a:r>
            <a:r>
              <a:rPr lang="zh-CN" altLang="en-US" b="1" dirty="0"/>
              <a:t>进程和计算进程，属于专用缓冲。</a:t>
            </a:r>
          </a:p>
          <a:p>
            <a:pPr eaLnBrk="1" hangingPunct="1"/>
            <a:r>
              <a:rPr lang="zh-CN" altLang="en-US" b="1" dirty="0"/>
              <a:t>当系统中的设备很多时，将会有许多这样的循环缓冲区，消耗大量的内存空间，而且其利用率也不高。</a:t>
            </a:r>
          </a:p>
          <a:p>
            <a:pPr eaLnBrk="1" hangingPunct="1"/>
            <a:r>
              <a:rPr lang="zh-CN" altLang="en-US" b="1" dirty="0"/>
              <a:t>为了提高缓冲区的利用率，可以采用公共缓冲池技术，其中的缓冲区可为多个设备和进程服务。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30175"/>
            <a:ext cx="8077200" cy="1066800"/>
          </a:xfrm>
        </p:spPr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缓冲池</a:t>
            </a:r>
          </a:p>
        </p:txBody>
      </p:sp>
      <p:sp>
        <p:nvSpPr>
          <p:cNvPr id="4198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377950"/>
            <a:ext cx="8077200" cy="4498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两种缓冲池：分别用于</a:t>
            </a:r>
            <a:r>
              <a:rPr lang="zh-CN" altLang="en-US" b="1" i="1" u="sng" dirty="0">
                <a:solidFill>
                  <a:srgbClr val="FF0000"/>
                </a:solidFill>
              </a:rPr>
              <a:t>块型设备和字符型设备</a:t>
            </a:r>
            <a:r>
              <a:rPr lang="zh-CN" altLang="en-US" b="1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用于块型设备的缓冲池：缓冲区较大，其长度通常与外部设备物理块的长度相同；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用于字符型设备的缓冲池：缓冲区较小，其长度通常为</a:t>
            </a:r>
            <a:r>
              <a:rPr lang="en-US" altLang="en-US" b="1" dirty="0"/>
              <a:t>8</a:t>
            </a:r>
            <a:r>
              <a:rPr lang="zh-CN" altLang="en-US" b="1" dirty="0"/>
              <a:t>个字节、</a:t>
            </a:r>
            <a:r>
              <a:rPr lang="en-US" altLang="en-US" b="1" dirty="0"/>
              <a:t>16</a:t>
            </a:r>
            <a:r>
              <a:rPr lang="zh-CN" altLang="en-US" b="1" dirty="0"/>
              <a:t>个字节等。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若单个缓冲区的容量太大会造成资源浪费，而太小的缓冲区则会增加系统管理开销。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79388" y="346075"/>
            <a:ext cx="8077200" cy="1066800"/>
          </a:xfrm>
        </p:spPr>
        <p:txBody>
          <a:bodyPr/>
          <a:lstStyle/>
          <a:p>
            <a:pPr eaLnBrk="1" hangingPunct="1"/>
            <a:r>
              <a:rPr 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．缓冲池的组成</a:t>
            </a:r>
          </a:p>
        </p:txBody>
      </p:sp>
      <p:sp>
        <p:nvSpPr>
          <p:cNvPr id="4301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557338"/>
            <a:ext cx="8077200" cy="412273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solidFill>
                  <a:schemeClr val="folHlink"/>
                </a:solidFill>
              </a:rPr>
              <a:t>（</a:t>
            </a:r>
            <a:r>
              <a:rPr lang="en-US" sz="2800" b="1">
                <a:solidFill>
                  <a:schemeClr val="folHlink"/>
                </a:solidFill>
              </a:rPr>
              <a:t>1</a:t>
            </a:r>
            <a:r>
              <a:rPr lang="zh-CN" altLang="en-US" sz="2800" b="1">
                <a:solidFill>
                  <a:schemeClr val="folHlink"/>
                </a:solidFill>
              </a:rPr>
              <a:t>）空缓冲队列</a:t>
            </a:r>
            <a:r>
              <a:rPr lang="en-US" sz="2800" b="1">
                <a:solidFill>
                  <a:schemeClr val="folHlink"/>
                </a:solidFill>
              </a:rPr>
              <a:t>emq</a:t>
            </a:r>
            <a:r>
              <a:rPr lang="zh-CN" altLang="en-US" sz="2800" b="1">
                <a:solidFill>
                  <a:schemeClr val="folHlink"/>
                </a:solidFill>
              </a:rPr>
              <a:t>。</a:t>
            </a:r>
            <a:r>
              <a:rPr lang="zh-CN" altLang="en-US" sz="2800" b="1"/>
              <a:t>这是由空缓冲区所链成的队列。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solidFill>
                  <a:schemeClr val="folHlink"/>
                </a:solidFill>
              </a:rPr>
              <a:t>（</a:t>
            </a:r>
            <a:r>
              <a:rPr lang="en-US" sz="2800" b="1">
                <a:solidFill>
                  <a:schemeClr val="folHlink"/>
                </a:solidFill>
              </a:rPr>
              <a:t>2</a:t>
            </a:r>
            <a:r>
              <a:rPr lang="zh-CN" altLang="en-US" sz="2800" b="1">
                <a:solidFill>
                  <a:schemeClr val="folHlink"/>
                </a:solidFill>
              </a:rPr>
              <a:t>）输入队列</a:t>
            </a:r>
            <a:r>
              <a:rPr lang="en-US" sz="2800" b="1">
                <a:solidFill>
                  <a:schemeClr val="folHlink"/>
                </a:solidFill>
              </a:rPr>
              <a:t>inq</a:t>
            </a:r>
            <a:r>
              <a:rPr lang="zh-CN" altLang="en-US" sz="2800" b="1">
                <a:solidFill>
                  <a:schemeClr val="folHlink"/>
                </a:solidFill>
              </a:rPr>
              <a:t>。</a:t>
            </a:r>
            <a:r>
              <a:rPr lang="zh-CN" altLang="en-US" sz="2800" b="1"/>
              <a:t>这是由装满输入数据的缓冲区所链成的队列。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solidFill>
                  <a:schemeClr val="folHlink"/>
                </a:solidFill>
              </a:rPr>
              <a:t>（</a:t>
            </a:r>
            <a:r>
              <a:rPr lang="en-US" sz="2800" b="1">
                <a:solidFill>
                  <a:schemeClr val="folHlink"/>
                </a:solidFill>
              </a:rPr>
              <a:t>3</a:t>
            </a:r>
            <a:r>
              <a:rPr lang="zh-CN" altLang="en-US" sz="2800" b="1">
                <a:solidFill>
                  <a:schemeClr val="folHlink"/>
                </a:solidFill>
              </a:rPr>
              <a:t>）输出队列</a:t>
            </a:r>
            <a:r>
              <a:rPr lang="en-US" sz="2800" b="1">
                <a:solidFill>
                  <a:schemeClr val="folHlink"/>
                </a:solidFill>
              </a:rPr>
              <a:t>outq</a:t>
            </a:r>
            <a:r>
              <a:rPr lang="zh-CN" altLang="en-US" sz="2800" b="1"/>
              <a:t>，这是由装满输出数据的缓冲区所链成的队列。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solidFill>
                  <a:schemeClr val="folHlink"/>
                </a:solidFill>
              </a:rPr>
              <a:t>还应具有四种工作缓冲区：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①用于收容输入数据的工作缓冲区；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②用于提取输入数据的工作缓冲区</a:t>
            </a:r>
            <a:r>
              <a:rPr lang="en-US" b="1"/>
              <a:t>;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b="1"/>
              <a:t>③</a:t>
            </a:r>
            <a:r>
              <a:rPr lang="zh-CN" altLang="en-US" b="1"/>
              <a:t>用于收容输出数据的工作缓冲区；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④用于提取输出数据的工作缓冲区。 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762000" y="1524000"/>
            <a:ext cx="7772400" cy="1524000"/>
          </a:xfrm>
          <a:gradFill rotWithShape="0">
            <a:gsLst>
              <a:gs pos="0">
                <a:srgbClr val="404552"/>
              </a:gs>
              <a:gs pos="50000">
                <a:schemeClr val="accent1"/>
              </a:gs>
              <a:gs pos="100000">
                <a:srgbClr val="404552"/>
              </a:gs>
            </a:gsLst>
            <a:lin ang="5400000" scaled="1"/>
          </a:gradFill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6.8  </a:t>
            </a:r>
            <a:r>
              <a:rPr lang="zh-CN" altLang="en-US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磁盘存储器的性能和调度 </a:t>
            </a:r>
            <a:endParaRPr lang="zh-CN" alt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6.8.1 </a:t>
            </a:r>
            <a:r>
              <a:rPr lang="zh-CN" altLang="en-US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磁盘的性能</a:t>
            </a:r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468313" y="1700213"/>
            <a:ext cx="8280151" cy="4897139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磁盘是计算机系统最重要的外部存储设备之一 </a:t>
            </a:r>
          </a:p>
          <a:p>
            <a:pPr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影响磁盘性能和数据安全性的主要因素：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   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—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磁盘性能参数：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转速、寻道时间、磁盘缓存；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   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—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磁盘控制器：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IDE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、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SCSI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、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SATA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磁盘控制器；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   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—</a:t>
            </a:r>
            <a:r>
              <a:rPr 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RAID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等磁盘容错技术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   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—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磁盘管理算法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：磁盘调度算法、磁盘高速缓存、高性能的文件系统；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磁盘设备的物理特性</a:t>
            </a:r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76803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磁盘由若干张圆形的盘片组成，每张盘片上都涂有磁层，用于记录数据；</a:t>
            </a:r>
          </a:p>
          <a:p>
            <a:pPr algn="just"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各盘片的圆心固定在一个旋转轴上，该轴沿固定方向等速地转动，并带动磁盘组不停地旋转。</a:t>
            </a:r>
          </a:p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磁盘的基本存储单元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扇区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的寻址方式为三维地址：</a:t>
            </a:r>
            <a:r>
              <a:rPr lang="zh-CN" alt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柱面号、盘面号、扇区号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</a:p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</a:t>
            </a:r>
          </a:p>
          <a:p>
            <a:pPr algn="just" eaLnBrk="1" hangingPunct="1"/>
            <a:endParaRPr lang="en-US" b="1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684213" y="444500"/>
          <a:ext cx="7559675" cy="558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87" r:id="rId3" imgW="4038095" imgH="2980952" progId="PBrush">
                  <p:embed/>
                </p:oleObj>
              </mc:Choice>
              <mc:Fallback>
                <p:oleObj r:id="rId3" imgW="4038095" imgH="2980952" progId="PBrush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44500"/>
                        <a:ext cx="7559675" cy="558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" name="Text Box 6"/>
          <p:cNvSpPr txBox="1">
            <a:spLocks noChangeArrowheads="1"/>
          </p:cNvSpPr>
          <p:nvPr/>
        </p:nvSpPr>
        <p:spPr bwMode="auto">
          <a:xfrm>
            <a:off x="900113" y="6237288"/>
            <a:ext cx="6624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/>
              <a:t>硬盘物理结构</a:t>
            </a:r>
            <a:r>
              <a:rPr lang="en-US" sz="2800"/>
              <a:t>3D</a:t>
            </a:r>
            <a:r>
              <a:rPr lang="zh-CN" altLang="en-US" sz="2800"/>
              <a:t>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68313" y="457200"/>
            <a:ext cx="8077200" cy="1066800"/>
          </a:xfrm>
        </p:spPr>
        <p:txBody>
          <a:bodyPr/>
          <a:lstStyle/>
          <a:p>
            <a:pPr eaLnBrk="1" hangingPunct="1"/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磁盘布局图</a:t>
            </a:r>
          </a:p>
        </p:txBody>
      </p:sp>
      <p:pic>
        <p:nvPicPr>
          <p:cNvPr id="78851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450975" y="1717675"/>
            <a:ext cx="6242050" cy="4408488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15888"/>
            <a:ext cx="8077200" cy="1066800"/>
          </a:xfrm>
        </p:spPr>
        <p:txBody>
          <a:bodyPr/>
          <a:lstStyle/>
          <a:p>
            <a:pPr eaLnBrk="1" hangingPunct="1"/>
            <a:r>
              <a:rPr 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磁盘基本概念</a:t>
            </a:r>
          </a:p>
        </p:txBody>
      </p:sp>
      <p:sp>
        <p:nvSpPr>
          <p:cNvPr id="79875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331913"/>
            <a:ext cx="8077200" cy="4498975"/>
          </a:xfrm>
        </p:spPr>
        <p:txBody>
          <a:bodyPr/>
          <a:lstStyle/>
          <a:p>
            <a:pPr algn="just" eaLnBrk="1" hangingPunct="1"/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磁道号</a:t>
            </a:r>
          </a:p>
          <a:p>
            <a:pPr algn="just"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每张盘片分为上、下两个盘面，每个盘面有若干磁道，同一盘面上的所有磁道是绕旋转轴的一组同心圆，所有磁道</a:t>
            </a:r>
            <a:r>
              <a:rPr lang="zh-CN" altLang="en-US" sz="2800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由外向内依次由</a:t>
            </a:r>
            <a:r>
              <a:rPr lang="en-US" sz="2800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0</a:t>
            </a:r>
            <a:r>
              <a:rPr lang="zh-CN" altLang="en-US" sz="2800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开始编号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，称为磁道号。</a:t>
            </a:r>
          </a:p>
          <a:p>
            <a:pPr algn="just" eaLnBrk="1" hangingPunct="1"/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柱面号</a:t>
            </a:r>
          </a:p>
          <a:p>
            <a:pPr algn="just"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磁盘组中各盘面上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序号相同的磁道构成一个柱面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，由外向内依次编号，若磁盘组有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l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个柱面，则编号为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0,1,2,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仿宋_GB2312" pitchFamily="1" charset="-122"/>
              </a:rPr>
              <a:t>…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,l-1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，称为柱面号。</a:t>
            </a:r>
          </a:p>
          <a:p>
            <a:pPr algn="just" eaLnBrk="1" hangingPunct="1"/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eaLnBrk="1" hangingPunct="1"/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468313" y="750888"/>
            <a:ext cx="7772400" cy="5486400"/>
          </a:xfrm>
        </p:spPr>
        <p:txBody>
          <a:bodyPr/>
          <a:lstStyle/>
          <a:p>
            <a:pPr algn="just" eaLnBrk="1" hangingPunct="1"/>
            <a:r>
              <a:rPr lang="zh-CN" alt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盘面号</a:t>
            </a:r>
          </a:p>
          <a:p>
            <a:pPr algn="just"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若磁盘组共有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s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个盘片，则共有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2s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个盘面，但通常最上面和最下面的两个盘面作为伺服面，用以进行控制磁头定位等操作，并不存放数据，因而实际可用盘面数为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m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＝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2(s-1)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，由上至下依次编号为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0,1,2,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仿宋_GB2312" pitchFamily="1" charset="-122"/>
              </a:rPr>
              <a:t>…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,m-1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，称为盘面号。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9750" y="404813"/>
            <a:ext cx="7772400" cy="604837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扇区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整个盘面被划分为若干大小相同的扇面，它把一个磁道等分为若干个区域，一个区域称为一个</a:t>
            </a:r>
            <a:r>
              <a:rPr lang="zh-CN" altLang="en-US" sz="2800" b="1" i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扇区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。数据保存在各个扇区中，每个扇区内保存的数据量相同（为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2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的幂次，例如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512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字节、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1024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字节甚至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2048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字节），称为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仿宋_GB2312" pitchFamily="1" charset="-122"/>
              </a:rPr>
              <a:t>“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块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仿宋_GB2312" pitchFamily="1" charset="-122"/>
              </a:rPr>
              <a:t>”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 。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扇区是磁盘进行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传输的基本单位，也是磁盘空间分配的基本单位。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若扇区的数量为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n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，则每条磁道上的扇区被依次编号为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0,1, 2,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仿宋_GB2312" pitchFamily="1" charset="-122"/>
              </a:rPr>
              <a:t>…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,n-1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，称为扇区号。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内容占位符 2"/>
          <p:cNvSpPr>
            <a:spLocks noGrp="1"/>
          </p:cNvSpPr>
          <p:nvPr>
            <p:ph idx="4294967295"/>
          </p:nvPr>
        </p:nvSpPr>
        <p:spPr>
          <a:xfrm>
            <a:off x="571500" y="1143000"/>
            <a:ext cx="8077200" cy="4498975"/>
          </a:xfrm>
        </p:spPr>
        <p:txBody>
          <a:bodyPr/>
          <a:lstStyle/>
          <a:p>
            <a:r>
              <a:rPr lang="zh-CN" b="1" dirty="0"/>
              <a:t>现代磁盘不再把内外磁道划分为相同数目的扇区，而是利用外层磁道容量较内层磁道大的特点，将盘面划分成若干条环带，使得同一环带内的所有磁道具有相同的扇区数。</a:t>
            </a:r>
          </a:p>
          <a:p>
            <a:endParaRPr lang="zh-CN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44450"/>
            <a:ext cx="8077200" cy="1066800"/>
          </a:xfrm>
        </p:spPr>
        <p:txBody>
          <a:bodyPr/>
          <a:lstStyle/>
          <a:p>
            <a:pPr eaLnBrk="1" hangingPunct="1"/>
            <a:r>
              <a:rPr 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磁盘类型</a:t>
            </a:r>
          </a:p>
        </p:txBody>
      </p:sp>
      <p:sp>
        <p:nvSpPr>
          <p:cNvPr id="8397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9750" y="1268413"/>
            <a:ext cx="8077200" cy="51927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800" b="1" dirty="0">
                <a:solidFill>
                  <a:schemeClr val="folHlink"/>
                </a:solidFill>
              </a:rPr>
              <a:t>1) </a:t>
            </a:r>
            <a:r>
              <a:rPr lang="zh-CN" altLang="en-US" sz="2800" b="1" dirty="0">
                <a:solidFill>
                  <a:schemeClr val="folHlink"/>
                </a:solidFill>
              </a:rPr>
              <a:t>固定头磁盘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/>
              <a:t>        这种磁盘在</a:t>
            </a:r>
            <a:r>
              <a:rPr lang="zh-CN" altLang="en-US" sz="2400" b="1" dirty="0">
                <a:solidFill>
                  <a:schemeClr val="folHlink"/>
                </a:solidFill>
              </a:rPr>
              <a:t>每条磁道上都有一读</a:t>
            </a:r>
            <a:r>
              <a:rPr lang="en-US" sz="2400" b="1" dirty="0">
                <a:solidFill>
                  <a:schemeClr val="folHlink"/>
                </a:solidFill>
              </a:rPr>
              <a:t>/</a:t>
            </a:r>
            <a:r>
              <a:rPr lang="zh-CN" altLang="en-US" sz="2400" b="1" dirty="0">
                <a:solidFill>
                  <a:schemeClr val="folHlink"/>
                </a:solidFill>
              </a:rPr>
              <a:t>写磁头</a:t>
            </a:r>
            <a:r>
              <a:rPr lang="zh-CN" altLang="en-US" sz="2400" b="1" dirty="0"/>
              <a:t>，所有的磁头都被装在一刚性磁臂中。通过这些磁头可访问所有各磁道，并进行并行读</a:t>
            </a:r>
            <a:r>
              <a:rPr lang="en-US" sz="2400" b="1" dirty="0"/>
              <a:t>/</a:t>
            </a:r>
            <a:r>
              <a:rPr lang="zh-CN" altLang="en-US" sz="2400" b="1" dirty="0"/>
              <a:t>写，有效地提高了磁盘的</a:t>
            </a:r>
            <a:r>
              <a:rPr lang="en-US" sz="2400" b="1" dirty="0"/>
              <a:t>I/O</a:t>
            </a:r>
            <a:r>
              <a:rPr lang="zh-CN" altLang="en-US" sz="2400" b="1" dirty="0"/>
              <a:t>速度。 这种结构的磁盘主要用于大容量磁盘上。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folHlink"/>
                </a:solidFill>
              </a:rPr>
              <a:t> </a:t>
            </a:r>
            <a:r>
              <a:rPr lang="en-US" sz="2800" b="1" dirty="0">
                <a:solidFill>
                  <a:schemeClr val="folHlink"/>
                </a:solidFill>
              </a:rPr>
              <a:t>2) </a:t>
            </a:r>
            <a:r>
              <a:rPr lang="zh-CN" altLang="en-US" sz="2800" b="1" dirty="0">
                <a:solidFill>
                  <a:schemeClr val="folHlink"/>
                </a:solidFill>
              </a:rPr>
              <a:t>移动头磁盘</a:t>
            </a:r>
            <a:endParaRPr lang="zh-CN" altLang="en-US" sz="2800" b="1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/>
              <a:t>        </a:t>
            </a:r>
            <a:r>
              <a:rPr lang="zh-CN" altLang="en-US" sz="2400" b="1" dirty="0">
                <a:solidFill>
                  <a:schemeClr val="folHlink"/>
                </a:solidFill>
              </a:rPr>
              <a:t>每一个盘面仅配有一个磁头</a:t>
            </a:r>
            <a:r>
              <a:rPr lang="zh-CN" altLang="en-US" sz="2400" b="1" dirty="0"/>
              <a:t>，也被装入磁臂中。为能访问该盘面上的所有磁道，该磁头必须能移动以进行寻道。可见，移动磁头仅能以串行方式读</a:t>
            </a:r>
            <a:r>
              <a:rPr lang="en-US" sz="2400" b="1" dirty="0"/>
              <a:t>/</a:t>
            </a:r>
            <a:r>
              <a:rPr lang="zh-CN" altLang="en-US" sz="2400" b="1" dirty="0"/>
              <a:t>写，致使其</a:t>
            </a:r>
            <a:r>
              <a:rPr lang="en-US" sz="2400" b="1" dirty="0"/>
              <a:t>I/O</a:t>
            </a:r>
            <a:r>
              <a:rPr lang="zh-CN" altLang="en-US" sz="2400" b="1" dirty="0"/>
              <a:t>速度较慢；但由于其结构简单， 故仍广泛应用于中小型磁盘设备中。 </a:t>
            </a:r>
          </a:p>
          <a:p>
            <a:pPr eaLnBrk="1" hangingPunct="1">
              <a:lnSpc>
                <a:spcPct val="110000"/>
              </a:lnSpc>
            </a:pP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61963" y="457200"/>
            <a:ext cx="8077200" cy="1066800"/>
          </a:xfrm>
        </p:spPr>
        <p:txBody>
          <a:bodyPr/>
          <a:lstStyle/>
          <a:p>
            <a:pPr eaLnBrk="1" hangingPunct="1"/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影响磁盘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性能的技术指标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84995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461963" y="1673225"/>
            <a:ext cx="8077200" cy="4498975"/>
          </a:xfrm>
        </p:spPr>
        <p:txBody>
          <a:bodyPr/>
          <a:lstStyle/>
          <a:p>
            <a:pPr marL="533400" indent="-533400" eaLnBrk="1" hangingPunct="1"/>
            <a:r>
              <a:rPr 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从磁盘读数据的过程：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磁盘接收到读指令后，磁头从当前位置移到目标磁道位置，所需的时间称为</a:t>
            </a:r>
            <a:r>
              <a:rPr lang="zh-CN" sz="2800" b="1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寻道时间</a:t>
            </a:r>
            <a:r>
              <a:rPr 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；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然后，旋转磁盘，定位数据所在的扇区，所需的时间称为</a:t>
            </a:r>
            <a:r>
              <a:rPr lang="zh-CN" sz="2800" b="1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旋转延迟</a:t>
            </a:r>
            <a:r>
              <a:rPr 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；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最后，从磁盘上读取数据，所需的时间称为</a:t>
            </a:r>
            <a:r>
              <a:rPr lang="zh-CN" sz="2800" b="1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数据传输时间</a:t>
            </a:r>
            <a:r>
              <a:rPr lang="zh-CN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</a:p>
          <a:p>
            <a:pPr marL="533400" indent="-533400" eaLnBrk="1" hangingPunct="1"/>
            <a:r>
              <a:rPr lang="zh-CN" sz="2800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访问时间＝寻道时间＋旋转延迟＋传输时间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201613"/>
            <a:ext cx="8077200" cy="1066800"/>
          </a:xfrm>
        </p:spPr>
        <p:txBody>
          <a:bodyPr/>
          <a:lstStyle/>
          <a:p>
            <a:pPr eaLnBrk="1" hangingPunct="1"/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1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）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.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寻道时间</a:t>
            </a:r>
          </a:p>
        </p:txBody>
      </p:sp>
      <p:sp>
        <p:nvSpPr>
          <p:cNvPr id="8601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828675"/>
            <a:ext cx="8077200" cy="504825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800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指把磁臂</a:t>
            </a:r>
            <a:r>
              <a:rPr lang="en-US" sz="2800" b="1" dirty="0"/>
              <a:t>(</a:t>
            </a:r>
            <a:r>
              <a:rPr lang="zh-CN" altLang="en-US" sz="2800" b="1" dirty="0"/>
              <a:t>磁头</a:t>
            </a:r>
            <a:r>
              <a:rPr lang="en-US" sz="2800" b="1" dirty="0"/>
              <a:t>)</a:t>
            </a:r>
            <a:r>
              <a:rPr lang="zh-CN" altLang="en-US" sz="2800" b="1" dirty="0"/>
              <a:t>移动到指定磁道上所经历的时间。该时间是启动磁臂的时间</a:t>
            </a:r>
            <a:r>
              <a:rPr lang="en-US" sz="2800" b="1" dirty="0"/>
              <a:t>s</a:t>
            </a:r>
            <a:r>
              <a:rPr lang="zh-CN" altLang="en-US" sz="2800" b="1" dirty="0"/>
              <a:t>与磁头移动</a:t>
            </a:r>
            <a:r>
              <a:rPr lang="en-US" sz="2800" b="1" i="1" dirty="0"/>
              <a:t>n</a:t>
            </a:r>
            <a:r>
              <a:rPr lang="zh-CN" altLang="en-US" sz="2800" b="1" dirty="0"/>
              <a:t>条磁道所花费的时间之和， 即</a:t>
            </a:r>
          </a:p>
          <a:p>
            <a:pPr lvl="1" eaLnBrk="1" hangingPunct="1">
              <a:lnSpc>
                <a:spcPct val="110000"/>
              </a:lnSpc>
            </a:pPr>
            <a:r>
              <a:rPr lang="en-US" b="1" i="1" dirty="0" err="1">
                <a:solidFill>
                  <a:schemeClr val="folHlink"/>
                </a:solidFill>
              </a:rPr>
              <a:t>Ts</a:t>
            </a:r>
            <a:r>
              <a:rPr lang="en-US" b="1" i="1" dirty="0">
                <a:solidFill>
                  <a:schemeClr val="folHlink"/>
                </a:solidFill>
              </a:rPr>
              <a:t>=</a:t>
            </a:r>
            <a:r>
              <a:rPr lang="en-US" b="1" i="1" dirty="0" err="1">
                <a:solidFill>
                  <a:schemeClr val="folHlink"/>
                </a:solidFill>
              </a:rPr>
              <a:t>m×n+s</a:t>
            </a:r>
            <a:endParaRPr lang="en-US" b="1" i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其中，</a:t>
            </a:r>
            <a:r>
              <a:rPr lang="en-US" sz="2800" b="1" i="1" dirty="0"/>
              <a:t>m</a:t>
            </a:r>
            <a:r>
              <a:rPr lang="zh-CN" altLang="en-US" sz="2800" b="1" dirty="0"/>
              <a:t>是一常数，与磁盘驱动器的速度有关，对一般磁盘， </a:t>
            </a:r>
            <a:r>
              <a:rPr lang="en-US" sz="2800" b="1" i="1" dirty="0"/>
              <a:t>m</a:t>
            </a:r>
            <a:r>
              <a:rPr lang="en-US" sz="2800" b="1" dirty="0"/>
              <a:t>=0.2</a:t>
            </a:r>
            <a:r>
              <a:rPr lang="zh-CN" altLang="en-US" sz="2800" b="1" dirty="0"/>
              <a:t>；对高速磁盘，</a:t>
            </a:r>
            <a:r>
              <a:rPr lang="en-US" sz="2800" b="1" i="1" dirty="0"/>
              <a:t>m</a:t>
            </a:r>
            <a:r>
              <a:rPr lang="en-US" sz="2800" b="1" dirty="0"/>
              <a:t>≤0.1, </a:t>
            </a:r>
            <a:r>
              <a:rPr lang="zh-CN" altLang="en-US" sz="2800" b="1" dirty="0"/>
              <a:t>磁臂的启动时间约</a:t>
            </a:r>
            <a:r>
              <a:rPr lang="zh-CN" altLang="en-US" sz="2800" b="1" dirty="0" smtClean="0"/>
              <a:t>为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s=</a:t>
            </a:r>
            <a:r>
              <a:rPr lang="en-US" sz="2800" b="1" dirty="0" smtClean="0">
                <a:solidFill>
                  <a:srgbClr val="FF0000"/>
                </a:solidFill>
              </a:rPr>
              <a:t>2 </a:t>
            </a:r>
            <a:r>
              <a:rPr lang="en-US" sz="2800" b="1" dirty="0" err="1">
                <a:solidFill>
                  <a:srgbClr val="FF0000"/>
                </a:solidFill>
              </a:rPr>
              <a:t>ms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 这样，对一般的温盘， 其寻道时间将随寻道距离的增加而增大， 大体上是</a:t>
            </a:r>
            <a:r>
              <a:rPr lang="en-US" sz="2800" b="1" dirty="0"/>
              <a:t>5~30 </a:t>
            </a:r>
            <a:r>
              <a:rPr lang="en-US" sz="2800" b="1" dirty="0" err="1"/>
              <a:t>ms</a:t>
            </a:r>
            <a:r>
              <a:rPr lang="zh-CN" altLang="en-US" sz="2800" b="1" dirty="0"/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274638"/>
            <a:ext cx="8077200" cy="1066800"/>
          </a:xfrm>
        </p:spPr>
        <p:txBody>
          <a:bodyPr/>
          <a:lstStyle/>
          <a:p>
            <a:pPr eaLnBrk="1" hangingPunct="1"/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2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）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.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旋转延迟</a:t>
            </a:r>
          </a:p>
        </p:txBody>
      </p:sp>
      <p:sp>
        <p:nvSpPr>
          <p:cNvPr id="87043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95288" y="1333500"/>
            <a:ext cx="8353425" cy="5408613"/>
          </a:xfrm>
        </p:spPr>
        <p:txBody>
          <a:bodyPr/>
          <a:lstStyle/>
          <a:p>
            <a:pPr marL="609600" indent="-609600" eaLnBrk="1" hangingPunct="1"/>
            <a:r>
              <a:rPr lang="zh-CN" altLang="en-US" sz="26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旋转延迟与磁盘转速直接相关，是指旋转磁盘，</a:t>
            </a:r>
            <a:r>
              <a:rPr lang="zh-CN" altLang="en-US" sz="2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将指定扇区移动到磁头下面所需要的时间</a:t>
            </a:r>
            <a:r>
              <a:rPr lang="zh-CN" altLang="en-US" sz="26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</a:p>
          <a:p>
            <a:pPr marL="609600" indent="-609600" eaLnBrk="1" hangingPunct="1"/>
            <a:r>
              <a:rPr lang="zh-CN" alt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假设</a:t>
            </a:r>
            <a:r>
              <a:rPr 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Tr</a:t>
            </a:r>
            <a:r>
              <a:rPr lang="zh-CN" alt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为平均旋转延迟，</a:t>
            </a:r>
            <a:r>
              <a:rPr 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r</a:t>
            </a:r>
            <a:r>
              <a:rPr lang="zh-CN" alt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为磁盘转速（转数</a:t>
            </a:r>
            <a:r>
              <a:rPr 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/</a:t>
            </a:r>
            <a:r>
              <a:rPr lang="zh-CN" alt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单位时间）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zh-CN" alt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那么 </a:t>
            </a:r>
            <a:r>
              <a:rPr lang="en-US" sz="3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Tr </a:t>
            </a:r>
            <a:r>
              <a:rPr lang="zh-CN" altLang="en-US" sz="3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＝ </a:t>
            </a:r>
            <a:r>
              <a:rPr lang="en-US" sz="3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1/(2r) </a:t>
            </a:r>
            <a:r>
              <a:rPr lang="zh-CN" altLang="en-US" sz="2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（因为</a:t>
            </a:r>
            <a:r>
              <a:rPr lang="zh-CN" altLang="en-US" sz="2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平均情况下，需要旋 转半圈</a:t>
            </a:r>
            <a:r>
              <a:rPr lang="zh-CN" altLang="en-US" sz="2600" b="1">
                <a:solidFill>
                  <a:schemeClr val="folHlink"/>
                </a:solidFill>
              </a:rPr>
              <a:t> </a:t>
            </a:r>
            <a:r>
              <a:rPr lang="zh-CN" altLang="en-US" sz="2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）</a:t>
            </a:r>
            <a:endParaRPr lang="zh-CN" altLang="en-US" sz="3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例：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	对于一个转速为</a:t>
            </a: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3600rpm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的硬盘而言，其每旋转一周的时间为 </a:t>
            </a: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16.7ms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，其平均旋转延迟为</a:t>
            </a: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8.3ms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一个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5400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（转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/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每分钟）的硬盘，平均旋转延迟时间为（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1÷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（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5400÷60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））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÷2 = 5.56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毫秒</a:t>
            </a:r>
            <a:r>
              <a:rPr lang="zh-CN" altLang="en-US" sz="24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6"/>
          <p:cNvSpPr txBox="1">
            <a:spLocks noChangeArrowheads="1"/>
          </p:cNvSpPr>
          <p:nvPr/>
        </p:nvSpPr>
        <p:spPr bwMode="auto">
          <a:xfrm>
            <a:off x="468313" y="260350"/>
            <a:ext cx="80010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lang="en-US" sz="4000">
                <a:solidFill>
                  <a:schemeClr val="folHlink"/>
                </a:solidFill>
                <a:latin typeface="Times New Roman" pitchFamily="18" charset="0"/>
              </a:rPr>
              <a:t>3) </a:t>
            </a:r>
            <a:r>
              <a:rPr lang="zh-CN" altLang="en-US" sz="4000">
                <a:solidFill>
                  <a:schemeClr val="folHlink"/>
                </a:solidFill>
                <a:latin typeface="Times New Roman" pitchFamily="18" charset="0"/>
              </a:rPr>
              <a:t>传输时间</a:t>
            </a:r>
            <a:r>
              <a:rPr lang="en-US" sz="4000" i="1">
                <a:solidFill>
                  <a:schemeClr val="folHlink"/>
                </a:solidFill>
                <a:latin typeface="Times New Roman" pitchFamily="18" charset="0"/>
              </a:rPr>
              <a:t>T</a:t>
            </a:r>
            <a:r>
              <a:rPr lang="en-US" sz="4000" i="1" baseline="-25000">
                <a:solidFill>
                  <a:schemeClr val="folHlink"/>
                </a:solidFill>
                <a:latin typeface="Times New Roman" pitchFamily="18" charset="0"/>
              </a:rPr>
              <a:t>t</a:t>
            </a:r>
            <a:endParaRPr lang="en-US" sz="4000">
              <a:solidFill>
                <a:schemeClr val="folHlink"/>
              </a:solidFill>
              <a:latin typeface="Times New Roman" pitchFamily="18" charset="0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 </a:t>
            </a:r>
            <a:r>
              <a:rPr lang="zh-CN" altLang="en-US" sz="2400">
                <a:latin typeface="Times New Roman" pitchFamily="18" charset="0"/>
              </a:rPr>
              <a:t>这是指把数据从磁盘读出或向磁盘写入数据所经历的时间。 </a:t>
            </a:r>
            <a:r>
              <a:rPr lang="en-US" sz="2400" i="1">
                <a:latin typeface="Times New Roman" pitchFamily="18" charset="0"/>
              </a:rPr>
              <a:t>T</a:t>
            </a:r>
            <a:r>
              <a:rPr lang="en-US" sz="2400" i="1" baseline="-25000">
                <a:latin typeface="Times New Roman" pitchFamily="18" charset="0"/>
              </a:rPr>
              <a:t>t</a:t>
            </a:r>
            <a:r>
              <a:rPr lang="zh-CN" altLang="en-US" sz="2400">
                <a:latin typeface="Times New Roman" pitchFamily="18" charset="0"/>
              </a:rPr>
              <a:t>的大小与每次所读</a:t>
            </a:r>
            <a:r>
              <a:rPr lang="en-US" sz="2400">
                <a:latin typeface="Times New Roman" pitchFamily="18" charset="0"/>
              </a:rPr>
              <a:t>/</a:t>
            </a:r>
            <a:r>
              <a:rPr lang="zh-CN" altLang="en-US" sz="2400">
                <a:latin typeface="Times New Roman" pitchFamily="18" charset="0"/>
              </a:rPr>
              <a:t>写的字节数</a:t>
            </a:r>
            <a:r>
              <a:rPr lang="en-US" sz="2400" i="1">
                <a:latin typeface="Times New Roman" pitchFamily="18" charset="0"/>
              </a:rPr>
              <a:t>b</a:t>
            </a:r>
            <a:r>
              <a:rPr lang="zh-CN" altLang="en-US" sz="2400">
                <a:latin typeface="Times New Roman" pitchFamily="18" charset="0"/>
              </a:rPr>
              <a:t>和旋转速度有关： </a:t>
            </a:r>
          </a:p>
        </p:txBody>
      </p:sp>
      <p:sp>
        <p:nvSpPr>
          <p:cNvPr id="88067" name="Text Box 8"/>
          <p:cNvSpPr txBox="1">
            <a:spLocks noChangeArrowheads="1"/>
          </p:cNvSpPr>
          <p:nvPr/>
        </p:nvSpPr>
        <p:spPr bwMode="auto">
          <a:xfrm>
            <a:off x="611188" y="3789363"/>
            <a:ext cx="7924800" cy="217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itchFamily="18" charset="0"/>
              </a:rPr>
              <a:t>其中，</a:t>
            </a:r>
            <a:r>
              <a:rPr lang="en-US" sz="2400" i="1" dirty="0">
                <a:latin typeface="Times New Roman" pitchFamily="18" charset="0"/>
              </a:rPr>
              <a:t>r</a:t>
            </a:r>
            <a:r>
              <a:rPr lang="zh-CN" altLang="en-US" sz="2400" dirty="0">
                <a:latin typeface="Times New Roman" pitchFamily="18" charset="0"/>
              </a:rPr>
              <a:t>为磁盘每秒钟的转数；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zh-CN" altLang="en-US" sz="2400" dirty="0">
                <a:latin typeface="Times New Roman" pitchFamily="18" charset="0"/>
              </a:rPr>
              <a:t>为一条磁道上的字节数， 当一次读</a:t>
            </a:r>
            <a:r>
              <a:rPr lang="en-US" sz="2400" dirty="0">
                <a:latin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</a:rPr>
              <a:t>写的字节数相当于半条磁道上的字节数时，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i="1" baseline="-25000" dirty="0">
                <a:latin typeface="Times New Roman" pitchFamily="18" charset="0"/>
              </a:rPr>
              <a:t>t</a:t>
            </a:r>
            <a:r>
              <a:rPr lang="zh-CN" altLang="en-US" sz="2400" dirty="0">
                <a:latin typeface="Times New Roman" pitchFamily="18" charset="0"/>
              </a:rPr>
              <a:t>与</a:t>
            </a:r>
            <a:r>
              <a:rPr lang="en-US" sz="2400" i="1" dirty="0" err="1">
                <a:latin typeface="Times New Roman" pitchFamily="18" charset="0"/>
              </a:rPr>
              <a:t>T</a:t>
            </a:r>
            <a:r>
              <a:rPr lang="en-US" sz="2400" i="1" baseline="-25000" dirty="0" err="1">
                <a:latin typeface="Times New Roman" pitchFamily="18" charset="0"/>
              </a:rPr>
              <a:t>τ</a:t>
            </a:r>
            <a:r>
              <a:rPr lang="zh-CN" altLang="en-US" sz="2400" dirty="0">
                <a:latin typeface="Times New Roman" pitchFamily="18" charset="0"/>
              </a:rPr>
              <a:t>相同。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itchFamily="18" charset="0"/>
              </a:rPr>
              <a:t>访问时间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i="1" baseline="-25000" dirty="0">
                <a:latin typeface="Times New Roman" pitchFamily="18" charset="0"/>
              </a:rPr>
              <a:t>a</a:t>
            </a:r>
            <a:r>
              <a:rPr lang="zh-CN" altLang="en-US" sz="2400" dirty="0">
                <a:latin typeface="Times New Roman" pitchFamily="18" charset="0"/>
              </a:rPr>
              <a:t>表示为： </a:t>
            </a:r>
          </a:p>
        </p:txBody>
      </p:sp>
      <p:sp>
        <p:nvSpPr>
          <p:cNvPr id="88068" name="Rectangle 10"/>
          <p:cNvSpPr>
            <a:spLocks noChangeArrowheads="1"/>
          </p:cNvSpPr>
          <p:nvPr/>
        </p:nvSpPr>
        <p:spPr bwMode="auto">
          <a:xfrm>
            <a:off x="2195513" y="2492375"/>
            <a:ext cx="4176712" cy="11525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8069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706813" y="2492375"/>
          <a:ext cx="136842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0" r:id="rId3" imgW="520926" imgH="393871" progId="Equation.3">
                  <p:embed/>
                </p:oleObj>
              </mc:Choice>
              <mc:Fallback>
                <p:oleObj r:id="rId3" imgW="520926" imgH="393871" progId="Equation.3">
                  <p:embed/>
                  <p:pic>
                    <p:nvPicPr>
                      <p:cNvPr id="0" name="Picture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2492375"/>
                        <a:ext cx="136842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Rectangle 13"/>
          <p:cNvSpPr>
            <a:spLocks noChangeArrowheads="1"/>
          </p:cNvSpPr>
          <p:nvPr/>
        </p:nvSpPr>
        <p:spPr bwMode="auto">
          <a:xfrm>
            <a:off x="3494088" y="5300663"/>
            <a:ext cx="3814762" cy="11525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8071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995738" y="5365750"/>
          <a:ext cx="28797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1" r:id="rId5" imgW="1117600" imgH="393700" progId="Equation.3">
                  <p:embed/>
                </p:oleObj>
              </mc:Choice>
              <mc:Fallback>
                <p:oleObj r:id="rId5" imgW="1117600" imgH="393700" progId="Equation.3">
                  <p:embed/>
                  <p:pic>
                    <p:nvPicPr>
                      <p:cNvPr id="0" name="Picture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365750"/>
                        <a:ext cx="2879725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影响磁盘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性能的主要因素</a:t>
            </a:r>
          </a:p>
        </p:txBody>
      </p:sp>
      <p:sp>
        <p:nvSpPr>
          <p:cNvPr id="8909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816100"/>
            <a:ext cx="8077200" cy="4498975"/>
          </a:xfrm>
        </p:spPr>
        <p:txBody>
          <a:bodyPr/>
          <a:lstStyle/>
          <a:p>
            <a:pPr algn="just" eaLnBrk="1" hangingPunct="1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综上所述，传统上影响磁盘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性能的主要技术指标是</a:t>
            </a:r>
            <a:r>
              <a:rPr lang="zh-CN" altLang="en-US" b="1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平均寻道时间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和</a:t>
            </a:r>
            <a:r>
              <a:rPr lang="zh-CN" altLang="en-US" b="1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转速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endParaRPr lang="en-US" altLang="zh-CN" b="1" dirty="0" smtClean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转速则影响平均旋转延迟和数据传输时间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endParaRPr lang="en-US" altLang="zh-CN" b="1" dirty="0" smtClean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对于实际的系统而言，较大缓存也对硬盘的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性能有较大的影响，但不是决定性的。</a:t>
            </a:r>
          </a:p>
          <a:p>
            <a:pPr eaLnBrk="1" hangingPunct="1"/>
            <a:endParaRPr lang="en-US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调整磁盘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性能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90115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endParaRPr lang="en-US" b="1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为了提高磁盘的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I/O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性能，只能从磁盘调度的方式和访问数据的组织形式上入手，即</a:t>
            </a:r>
            <a:r>
              <a:rPr lang="zh-CN" alt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缩短寻道时间和旋转延迟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SSD</a:t>
            </a:r>
            <a:r>
              <a:rPr lang="zh-CN" altLang="en-US" b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固态硬盘</a:t>
            </a:r>
            <a:endParaRPr lang="zh-CN" altLang="en-US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1139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其实</a:t>
            </a:r>
            <a:r>
              <a:rPr lang="en-US" sz="2800" b="1" dirty="0"/>
              <a:t>SSD</a:t>
            </a:r>
            <a:r>
              <a:rPr lang="zh-CN" altLang="en-US" sz="2800" b="1" dirty="0"/>
              <a:t>固态硬盘是固态存储，属于</a:t>
            </a:r>
            <a:r>
              <a:rPr lang="en-US" sz="2800" b="1" dirty="0"/>
              <a:t>Flash memory</a:t>
            </a:r>
            <a:r>
              <a:rPr lang="zh-CN" altLang="en-US" sz="2800" b="1" dirty="0"/>
              <a:t>，使用寿命长，不容易损坏，抗震性强，缺点是：价格昂贵，容量小。</a:t>
            </a:r>
            <a:endParaRPr lang="en-US" sz="2800" b="1" dirty="0"/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普通硬盘里面有一盘片，工作时通过高速旋转来读写信息，极怕震动，容易损坏，优点是技术成熟，价格低，容量大，所以普及。</a:t>
            </a:r>
            <a:endParaRPr lang="en-US" sz="2800" b="1" dirty="0"/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由于固态硬盘没有普通硬盘的机械结构，也不存在机械硬盘的寻道问题，因此系统能够在低于</a:t>
            </a:r>
            <a:r>
              <a:rPr lang="en-US" sz="2800" b="1" dirty="0"/>
              <a:t>1ms</a:t>
            </a:r>
            <a:r>
              <a:rPr lang="zh-CN" altLang="en-US" sz="2800" b="1" dirty="0"/>
              <a:t>的时间内对任意位置存储单元完成输入</a:t>
            </a:r>
            <a:r>
              <a:rPr lang="en-US" sz="2800" b="1" dirty="0"/>
              <a:t>/</a:t>
            </a:r>
            <a:r>
              <a:rPr lang="zh-CN" altLang="en-US" sz="2800" b="1" dirty="0"/>
              <a:t>输出操作。</a:t>
            </a:r>
          </a:p>
          <a:p>
            <a:pPr>
              <a:lnSpc>
                <a:spcPct val="90000"/>
              </a:lnSpc>
            </a:pPr>
            <a:endParaRPr lang="zh-CN" altLang="en-US" sz="2800" b="1" dirty="0"/>
          </a:p>
          <a:p>
            <a:pPr>
              <a:lnSpc>
                <a:spcPct val="90000"/>
              </a:lnSpc>
            </a:pP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SSD</a:t>
            </a:r>
            <a:r>
              <a:rPr lang="zh-CN" altLang="en-US" b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固态硬盘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2163" name="内容占位符 2"/>
          <p:cNvSpPr>
            <a:spLocks noGrp="1"/>
          </p:cNvSpPr>
          <p:nvPr>
            <p:ph idx="4294967295"/>
          </p:nvPr>
        </p:nvSpPr>
        <p:spPr>
          <a:xfrm>
            <a:off x="533400" y="1928813"/>
            <a:ext cx="7927975" cy="4243387"/>
          </a:xfrm>
        </p:spPr>
        <p:txBody>
          <a:bodyPr/>
          <a:lstStyle/>
          <a:p>
            <a:r>
              <a:rPr lang="zh-CN" altLang="en-US" b="1" dirty="0"/>
              <a:t>以某款固态硬盘为例</a:t>
            </a:r>
            <a:r>
              <a:rPr lang="zh-CN" altLang="en-US" b="1" dirty="0" smtClean="0"/>
              <a:t>，一般读写速度达</a:t>
            </a:r>
            <a:r>
              <a:rPr lang="en-US" altLang="zh-CN" b="1" dirty="0" smtClean="0"/>
              <a:t>200-500</a:t>
            </a:r>
            <a:r>
              <a:rPr lang="en-US" b="1" dirty="0" smtClean="0"/>
              <a:t>MB/S，</a:t>
            </a:r>
            <a:endParaRPr lang="en-US" altLang="zh-CN" b="1" dirty="0" smtClean="0"/>
          </a:p>
          <a:p>
            <a:r>
              <a:rPr lang="zh-CN" altLang="en-US" b="1" dirty="0" smtClean="0"/>
              <a:t>而机械硬盘，一般速度在</a:t>
            </a:r>
            <a:r>
              <a:rPr lang="en-US" altLang="zh-CN" b="1" dirty="0" smtClean="0"/>
              <a:t>100-150MB/S</a:t>
            </a:r>
            <a:endParaRPr lang="en-US" b="1" dirty="0"/>
          </a:p>
          <a:p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6.8.2 </a:t>
            </a:r>
            <a:r>
              <a:rPr lang="zh-CN" altLang="en-US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磁盘调度算法</a:t>
            </a:r>
          </a:p>
        </p:txBody>
      </p:sp>
      <p:sp>
        <p:nvSpPr>
          <p:cNvPr id="9318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787525"/>
            <a:ext cx="8077200" cy="449897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当有多个进程都请求访问磁盘时，他们访问的位置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这里主要关心磁道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各不一样，磁头需要来回频繁移动进行寻道操作。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磁头的寻道操作属于机械运动，花费的时间较长，而且过度的寻道操作会大大缩短磁盘的寿命。因此，</a:t>
            </a:r>
            <a:r>
              <a:rPr lang="zh-CN" altLang="en-US" sz="2800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必须采用适当的磁盘调度算法，使得在尽可能公平的情况下，缩短平均寻道时间，并使磁头移动距离最小</a:t>
            </a:r>
            <a:r>
              <a:rPr lang="zh-CN" altLang="en-US" sz="28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250825" y="692150"/>
            <a:ext cx="8077200" cy="1066800"/>
          </a:xfrm>
        </p:spPr>
        <p:txBody>
          <a:bodyPr/>
          <a:lstStyle/>
          <a:p>
            <a:pPr eaLnBrk="1" hangingPunct="1"/>
            <a:r>
              <a:rPr lang="en-US" sz="4000" b="1">
                <a:solidFill>
                  <a:schemeClr val="folHlink"/>
                </a:solidFill>
              </a:rPr>
              <a:t>1</a:t>
            </a:r>
            <a:r>
              <a:rPr lang="zh-CN" altLang="en-US" sz="4000" b="1">
                <a:solidFill>
                  <a:schemeClr val="folHlink"/>
                </a:solidFill>
              </a:rPr>
              <a:t>）</a:t>
            </a:r>
            <a:r>
              <a:rPr lang="en-US" sz="4000" b="1">
                <a:solidFill>
                  <a:schemeClr val="folHlink"/>
                </a:solidFill>
              </a:rPr>
              <a:t>.</a:t>
            </a:r>
            <a:r>
              <a:rPr lang="zh-CN" altLang="en-US" sz="4000" b="1">
                <a:solidFill>
                  <a:schemeClr val="folHlink"/>
                </a:solidFill>
              </a:rPr>
              <a:t>先来先服务</a:t>
            </a:r>
            <a:r>
              <a:rPr lang="en-US" sz="4000" b="1">
                <a:solidFill>
                  <a:schemeClr val="folHlink"/>
                </a:solidFill>
              </a:rPr>
              <a:t>FCFS(First-Come, First Served) </a:t>
            </a:r>
          </a:p>
        </p:txBody>
      </p:sp>
      <p:sp>
        <p:nvSpPr>
          <p:cNvPr id="9421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2170113"/>
            <a:ext cx="7710488" cy="428307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FCFS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算法按照输入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/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输出请求的先后次序为各个进程服务。这是最公平、最简单的算法，但是效率非常低。</a:t>
            </a:r>
          </a:p>
          <a:p>
            <a:pPr algn="just" eaLnBrk="1" hangingPunct="1">
              <a:lnSpc>
                <a:spcPct val="110000"/>
              </a:lnSpc>
            </a:pPr>
            <a:endParaRPr lang="en-US" b="1">
              <a:effectLst>
                <a:outerShdw blurRad="38100" dist="38100" dir="2700000" algn="tl">
                  <a:srgbClr val="000000"/>
                </a:outerShdw>
              </a:effectLst>
              <a:ea typeface="仿宋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4" descr="未标题-1 拷贝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050" y="215900"/>
            <a:ext cx="4978400" cy="623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611188" y="404813"/>
            <a:ext cx="7999412" cy="1066800"/>
          </a:xfrm>
        </p:spPr>
        <p:txBody>
          <a:bodyPr/>
          <a:lstStyle/>
          <a:p>
            <a:pPr algn="l" eaLnBrk="1" hangingPunct="1"/>
            <a:r>
              <a:rPr lang="zh-CN" sz="3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缺陷：</a:t>
            </a:r>
          </a:p>
        </p:txBody>
      </p:sp>
      <p:sp>
        <p:nvSpPr>
          <p:cNvPr id="9625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95288" y="1341438"/>
            <a:ext cx="8077200" cy="4498975"/>
          </a:xfrm>
        </p:spPr>
        <p:txBody>
          <a:bodyPr/>
          <a:lstStyle/>
          <a:p>
            <a:pPr algn="just" eaLnBrk="1" hangingPunct="1"/>
            <a:endParaRPr lang="en-US" b="1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磁头在磁道之间来回频繁移动，不但造成较大的时间开销，影响效率，而且容易使磁头臂疲劳，磁盘很容易损坏。</a:t>
            </a:r>
          </a:p>
          <a:p>
            <a:pPr algn="just"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1" charset="-122"/>
                <a:ea typeface="仿宋_GB2312" pitchFamily="1" charset="-122"/>
              </a:rPr>
              <a:t>因此，这种简单的算法只适合于负载很轻的系统。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98488" y="777875"/>
            <a:ext cx="8077200" cy="1066800"/>
          </a:xfrm>
        </p:spPr>
        <p:txBody>
          <a:bodyPr/>
          <a:lstStyle/>
          <a:p>
            <a:pPr eaLnBrk="1" hangingPunct="1"/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2</a:t>
            </a:r>
            <a:r>
              <a:rPr lang="zh-CN" alt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）</a:t>
            </a:r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. </a:t>
            </a:r>
            <a:r>
              <a:rPr lang="zh-CN" alt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最短寻道时间优先算法</a:t>
            </a:r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SSTF</a:t>
            </a:r>
            <a:b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</a:br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(Shortest Seek Time First)</a:t>
            </a:r>
            <a:r>
              <a:rPr lang="en-US" sz="40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97283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971550" y="2349500"/>
            <a:ext cx="7345363" cy="3671888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/>
              <a:t>为了克服</a:t>
            </a:r>
            <a:r>
              <a:rPr lang="en-US" altLang="en-US" sz="2800" b="1" dirty="0"/>
              <a:t>FCFS</a:t>
            </a:r>
            <a:r>
              <a:rPr lang="zh-CN" altLang="en-US" sz="2800" b="1" dirty="0"/>
              <a:t>算法之缺点，人们提出了</a:t>
            </a:r>
            <a:r>
              <a:rPr lang="en-US" altLang="en-US" sz="2800" b="1" dirty="0"/>
              <a:t>SSTF</a:t>
            </a:r>
            <a:r>
              <a:rPr lang="zh-CN" altLang="en-US" sz="2800" b="1" dirty="0"/>
              <a:t>算法，即</a:t>
            </a:r>
            <a:r>
              <a:rPr lang="zh-CN" altLang="en-US" sz="2800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优先为距离磁头当前所在位置最近的磁道服务。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4" descr="未标题-1 拷贝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9925" y="44450"/>
            <a:ext cx="5080000" cy="621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07" name="Text Box 5"/>
          <p:cNvSpPr txBox="1">
            <a:spLocks noChangeArrowheads="1"/>
          </p:cNvSpPr>
          <p:nvPr/>
        </p:nvSpPr>
        <p:spPr bwMode="auto">
          <a:xfrm>
            <a:off x="2195513" y="6308725"/>
            <a:ext cx="52562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/>
              <a:t>图 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SSTF</a:t>
            </a:r>
            <a:r>
              <a:rPr lang="zh-CN" altLang="en-US"/>
              <a:t>算法举例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260350"/>
            <a:ext cx="8077200" cy="1066800"/>
          </a:xfrm>
        </p:spPr>
        <p:txBody>
          <a:bodyPr/>
          <a:lstStyle/>
          <a:p>
            <a:pPr eaLnBrk="1" hangingPunct="1"/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SSTF</a:t>
            </a:r>
            <a:r>
              <a:rPr lang="zh-CN" alt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算法缺陷</a:t>
            </a:r>
          </a:p>
        </p:txBody>
      </p:sp>
      <p:sp>
        <p:nvSpPr>
          <p:cNvPr id="9933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23850" y="1341438"/>
            <a:ext cx="8077200" cy="449897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Ø"/>
            </a:pPr>
            <a:r>
              <a:rPr lang="en-US" sz="2800" b="1" dirty="0"/>
              <a:t>SSTF</a:t>
            </a:r>
            <a:r>
              <a:rPr lang="zh-CN" altLang="en-US" sz="2800" b="1" dirty="0"/>
              <a:t>算法虽然能获得较好的寻道性能， 但却可能导致某个进程发生“饥饿”</a:t>
            </a:r>
            <a:r>
              <a:rPr lang="en-US" sz="2800" b="1" dirty="0"/>
              <a:t>(Starvation)</a:t>
            </a:r>
            <a:r>
              <a:rPr lang="zh-CN" altLang="en-US" sz="2800" b="1" dirty="0"/>
              <a:t>现象。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Ø"/>
            </a:pPr>
            <a:r>
              <a:rPr lang="zh-CN" altLang="en-US" sz="2800" b="1" dirty="0"/>
              <a:t>因为只要不断有新进程的请求到达，且其所要访问的磁道与磁头当前所在磁道的距离较近，这种新进程的</a:t>
            </a:r>
            <a:r>
              <a:rPr lang="en-US" sz="2800" b="1" dirty="0"/>
              <a:t>I/O</a:t>
            </a:r>
            <a:r>
              <a:rPr lang="zh-CN" altLang="en-US" sz="2800" b="1" dirty="0"/>
              <a:t>请求必须优先满足。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Ø"/>
            </a:pPr>
            <a:r>
              <a:rPr lang="zh-CN" altLang="en-US" sz="2800" b="1" dirty="0"/>
              <a:t>对</a:t>
            </a:r>
            <a:r>
              <a:rPr lang="en-US" sz="2800" b="1" dirty="0"/>
              <a:t>SSTF</a:t>
            </a:r>
            <a:r>
              <a:rPr lang="zh-CN" altLang="en-US" sz="2800" b="1" dirty="0"/>
              <a:t>算法略加修改后所形成的</a:t>
            </a:r>
            <a:r>
              <a:rPr lang="en-US" sz="2800" b="1" dirty="0"/>
              <a:t>SCAN</a:t>
            </a:r>
            <a:r>
              <a:rPr lang="zh-CN" altLang="en-US" sz="2800" b="1" dirty="0"/>
              <a:t>算法， 即可防止</a:t>
            </a:r>
            <a:r>
              <a:rPr lang="zh-CN" altLang="en-US" sz="2800" b="1" dirty="0">
                <a:solidFill>
                  <a:schemeClr val="folHlink"/>
                </a:solidFill>
              </a:rPr>
              <a:t>老进程出现“饥饿”</a:t>
            </a:r>
            <a:r>
              <a:rPr lang="zh-CN" altLang="en-US" sz="2800" b="1" dirty="0"/>
              <a:t>现象。 </a:t>
            </a:r>
          </a:p>
          <a:p>
            <a:pPr eaLnBrk="1" hangingPunct="1">
              <a:lnSpc>
                <a:spcPct val="110000"/>
              </a:lnSpc>
            </a:pP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3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）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.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扫描算法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Scan</a:t>
            </a:r>
          </a:p>
        </p:txBody>
      </p:sp>
      <p:sp>
        <p:nvSpPr>
          <p:cNvPr id="100355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基本思想：</a:t>
            </a:r>
          </a:p>
          <a:p>
            <a:pPr eaLnBrk="1" hangingPunct="1"/>
            <a:r>
              <a:rPr lang="zh-CN" altLang="en-US" b="1" dirty="0"/>
              <a:t>该算法不仅考虑到欲访问的磁道与当前磁道间的距离，更</a:t>
            </a:r>
            <a:r>
              <a:rPr lang="zh-CN" altLang="en-US" b="1" u="sng" dirty="0">
                <a:solidFill>
                  <a:schemeClr val="folHlink"/>
                </a:solidFill>
              </a:rPr>
              <a:t>优先考虑的是磁头当前的移动方向。</a:t>
            </a:r>
          </a:p>
          <a:p>
            <a:pPr eaLnBrk="1" hangingPunct="1"/>
            <a:r>
              <a:rPr lang="zh-CN" altLang="en-US" b="1" dirty="0"/>
              <a:t>例如，当磁头正在</a:t>
            </a:r>
            <a:r>
              <a:rPr lang="zh-CN" altLang="en-US" b="1" i="1" u="sng" dirty="0">
                <a:solidFill>
                  <a:schemeClr val="folHlink"/>
                </a:solidFill>
              </a:rPr>
              <a:t>自里向外</a:t>
            </a:r>
            <a:r>
              <a:rPr lang="zh-CN" altLang="en-US" b="1" dirty="0"/>
              <a:t>移动时，</a:t>
            </a:r>
            <a:r>
              <a:rPr lang="en-US" b="1" dirty="0"/>
              <a:t>SCAN</a:t>
            </a:r>
            <a:r>
              <a:rPr lang="zh-CN" altLang="en-US" b="1" dirty="0"/>
              <a:t>算法所考虑的下一个访问对象，应是其欲访问的磁道</a:t>
            </a:r>
            <a:r>
              <a:rPr lang="zh-CN" altLang="en-US" b="1" u="sng" dirty="0">
                <a:solidFill>
                  <a:schemeClr val="folHlink"/>
                </a:solidFill>
              </a:rPr>
              <a:t>既在当前磁道之外，又是距离最近的。</a:t>
            </a:r>
          </a:p>
          <a:p>
            <a:pPr eaLnBrk="1" hangingPunct="1"/>
            <a:endParaRPr lang="en-US" b="1" u="sng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60375" y="130175"/>
            <a:ext cx="8077200" cy="1066800"/>
          </a:xfrm>
        </p:spPr>
        <p:txBody>
          <a:bodyPr/>
          <a:lstStyle/>
          <a:p>
            <a:pPr eaLnBrk="1" hangingPunct="1"/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扫描算法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Scan</a:t>
            </a: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0137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214282" y="1306513"/>
            <a:ext cx="8462992" cy="4498975"/>
          </a:xfrm>
        </p:spPr>
        <p:txBody>
          <a:bodyPr/>
          <a:lstStyle/>
          <a:p>
            <a:pPr algn="just" eaLnBrk="1" hangingPunct="1"/>
            <a:r>
              <a:rPr lang="zh-CN" altLang="en-US" sz="2800" b="1" dirty="0"/>
              <a:t>也称电梯算法，其基本思想类似电梯的工作原理。其具体过程为：</a:t>
            </a:r>
          </a:p>
          <a:p>
            <a:pPr lvl="1" algn="just" eaLnBrk="1" hangingPunct="1"/>
            <a:r>
              <a:rPr lang="zh-CN" altLang="en-US" b="1" dirty="0">
                <a:solidFill>
                  <a:srgbClr val="FF0000"/>
                </a:solidFill>
                <a:cs typeface="+mn-cs"/>
              </a:rPr>
              <a:t>假定当前磁头向外磁道方向移动</a:t>
            </a:r>
            <a:r>
              <a:rPr lang="zh-CN" altLang="en-US" b="1" dirty="0">
                <a:cs typeface="+mn-cs"/>
              </a:rPr>
              <a:t>。</a:t>
            </a:r>
          </a:p>
          <a:p>
            <a:pPr lvl="1" algn="just" eaLnBrk="1" hangingPunct="1"/>
            <a:r>
              <a:rPr lang="zh-CN" altLang="en-US" b="1" dirty="0">
                <a:cs typeface="+mn-cs"/>
              </a:rPr>
              <a:t>在磁头移动过程中，如果经过的磁道有访问请求，则为其服务。</a:t>
            </a:r>
          </a:p>
          <a:p>
            <a:pPr lvl="1" algn="just" eaLnBrk="1" hangingPunct="1"/>
            <a:r>
              <a:rPr lang="zh-CN" altLang="en-US" b="1" dirty="0">
                <a:cs typeface="+mn-cs"/>
              </a:rPr>
              <a:t>然后判断当前磁道以外的磁道是否还有访问请求，如果有，则磁头继续向外磁道方向移动；否则，判断当前磁道以内的磁道是否有访问请求，若有，则磁头掉转方向朝内移动。</a:t>
            </a:r>
          </a:p>
          <a:p>
            <a:pPr lvl="1" algn="just" eaLnBrk="1" hangingPunct="1"/>
            <a:r>
              <a:rPr lang="zh-CN" altLang="en-US" b="1" dirty="0">
                <a:cs typeface="+mn-cs"/>
              </a:rPr>
              <a:t>若此时当前磁道内外均无访问请求，则磁头引臂停止不动。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4" descr="未标题-1 拷贝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5513" y="333375"/>
            <a:ext cx="4691062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03" name="Text Box 5"/>
          <p:cNvSpPr txBox="1">
            <a:spLocks noChangeArrowheads="1"/>
          </p:cNvSpPr>
          <p:nvPr/>
        </p:nvSpPr>
        <p:spPr bwMode="auto">
          <a:xfrm>
            <a:off x="2051050" y="6092825"/>
            <a:ext cx="5256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/>
              <a:t>图 </a:t>
            </a:r>
            <a:r>
              <a:rPr lang="en-US"/>
              <a:t>SCAN</a:t>
            </a:r>
            <a:r>
              <a:rPr lang="zh-CN" altLang="en-US"/>
              <a:t>算法举例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15888"/>
            <a:ext cx="8077200" cy="1066800"/>
          </a:xfrm>
        </p:spPr>
        <p:txBody>
          <a:bodyPr/>
          <a:lstStyle/>
          <a:p>
            <a:pPr eaLnBrk="1" hangingPunct="1"/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扫描算法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1" charset="-122"/>
              </a:rPr>
              <a:t>Scan</a:t>
            </a:r>
          </a:p>
        </p:txBody>
      </p:sp>
      <p:sp>
        <p:nvSpPr>
          <p:cNvPr id="10342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125538"/>
            <a:ext cx="8077200" cy="44989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chemeClr val="folHlink"/>
                </a:solidFill>
              </a:rPr>
              <a:t>优点：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1"/>
              <a:t>SCAN </a:t>
            </a:r>
            <a:r>
              <a:rPr lang="zh-CN" altLang="en-US" sz="2400" b="1"/>
              <a:t>算法既能获得较好的寻道性能，又能防止“饥饿”现象，故被</a:t>
            </a:r>
            <a:r>
              <a:rPr lang="zh-CN" altLang="en-US" sz="2400" b="1" i="1" u="sng">
                <a:solidFill>
                  <a:schemeClr val="folHlink"/>
                </a:solidFill>
              </a:rPr>
              <a:t>广泛用于大、中、小型机器和网络中的磁盘调度。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chemeClr val="folHlink"/>
                </a:solidFill>
              </a:rPr>
              <a:t>问题：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/>
              <a:t>当磁头刚从里向外移动而越过了某一磁道时，恰好又有一进程请求访问此磁道，这时，该进程必须等待，待磁头继续从里向外，然后再从外向里扫描完所有要访问的磁道后，才处理该进程的请求，致使该进程的请求被大大地推迟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/>
              <a:t>为了减少这种延迟，推出</a:t>
            </a:r>
            <a:r>
              <a:rPr lang="en-US" sz="2400" b="1"/>
              <a:t>CSCAN </a:t>
            </a:r>
            <a:r>
              <a:rPr lang="zh-CN" altLang="en-US" sz="2400" b="1"/>
              <a:t>算法，规定磁头单向移动。</a:t>
            </a:r>
          </a:p>
          <a:p>
            <a:pPr eaLnBrk="1" hangingPunct="1">
              <a:lnSpc>
                <a:spcPct val="110000"/>
              </a:lnSpc>
            </a:pPr>
            <a:endParaRPr lang="en-US" sz="2400" b="1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b="1">
                <a:solidFill>
                  <a:schemeClr val="folHlink"/>
                </a:solidFill>
              </a:rPr>
              <a:t>4</a:t>
            </a:r>
            <a:r>
              <a:rPr lang="zh-CN" altLang="en-US" b="1">
                <a:solidFill>
                  <a:schemeClr val="folHlink"/>
                </a:solidFill>
              </a:rPr>
              <a:t>）</a:t>
            </a:r>
            <a:r>
              <a:rPr lang="en-US" b="1">
                <a:solidFill>
                  <a:schemeClr val="folHlink"/>
                </a:solidFill>
              </a:rPr>
              <a:t>.</a:t>
            </a:r>
            <a:r>
              <a:rPr lang="zh-CN" altLang="en-US" b="1">
                <a:solidFill>
                  <a:schemeClr val="folHlink"/>
                </a:solidFill>
              </a:rPr>
              <a:t>循环扫描</a:t>
            </a:r>
            <a:r>
              <a:rPr lang="en-US" b="1">
                <a:solidFill>
                  <a:schemeClr val="folHlink"/>
                </a:solidFill>
              </a:rPr>
              <a:t>(CSCAN)</a:t>
            </a:r>
            <a:r>
              <a:rPr lang="zh-CN" altLang="en-US" b="1">
                <a:solidFill>
                  <a:schemeClr val="folHlink"/>
                </a:solidFill>
              </a:rPr>
              <a:t>算法</a:t>
            </a:r>
          </a:p>
        </p:txBody>
      </p:sp>
      <p:sp>
        <p:nvSpPr>
          <p:cNvPr id="104451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CSCAN </a:t>
            </a:r>
            <a:r>
              <a:rPr lang="zh-CN" altLang="en-US" b="1" dirty="0"/>
              <a:t>算法</a:t>
            </a:r>
            <a:r>
              <a:rPr lang="zh-CN" altLang="en-US" b="1" dirty="0">
                <a:solidFill>
                  <a:srgbClr val="FF0000"/>
                </a:solidFill>
              </a:rPr>
              <a:t>规定磁头单向移动</a:t>
            </a:r>
            <a:r>
              <a:rPr lang="zh-CN" altLang="en-US" b="1" dirty="0"/>
              <a:t>。</a:t>
            </a:r>
          </a:p>
          <a:p>
            <a:pPr eaLnBrk="1" hangingPunct="1"/>
            <a:r>
              <a:rPr lang="zh-CN" altLang="en-US" b="1" dirty="0"/>
              <a:t>例如，只是自里向外移动，当磁头移到最外的磁道并访问后，磁头立即返回到最里的欲访问的磁道，亦即将</a:t>
            </a:r>
            <a:r>
              <a:rPr lang="zh-CN" altLang="en-US" b="1" i="1" u="sng" dirty="0">
                <a:solidFill>
                  <a:schemeClr val="folHlink"/>
                </a:solidFill>
              </a:rPr>
              <a:t>最小磁道号紧接着最大磁道号构成循环</a:t>
            </a:r>
            <a:r>
              <a:rPr lang="zh-CN" altLang="en-US" b="1" dirty="0"/>
              <a:t>，进行循环扫描。</a:t>
            </a:r>
          </a:p>
          <a:p>
            <a:pPr eaLnBrk="1" hangingPunct="1"/>
            <a:endParaRPr lang="en-US" b="1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4" descr="未标题-1 拷贝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60350"/>
            <a:ext cx="4498975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75" name="Text Box 5"/>
          <p:cNvSpPr txBox="1">
            <a:spLocks noChangeArrowheads="1"/>
          </p:cNvSpPr>
          <p:nvPr/>
        </p:nvSpPr>
        <p:spPr bwMode="auto">
          <a:xfrm>
            <a:off x="2195513" y="6308725"/>
            <a:ext cx="52562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/>
              <a:t>图 </a:t>
            </a:r>
            <a:r>
              <a:rPr lang="en-US"/>
              <a:t>CSCAN</a:t>
            </a:r>
            <a:r>
              <a:rPr lang="zh-CN" altLang="en-US"/>
              <a:t>算法举例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33400" y="115888"/>
            <a:ext cx="8077200" cy="1066800"/>
          </a:xfrm>
        </p:spPr>
        <p:txBody>
          <a:bodyPr/>
          <a:lstStyle/>
          <a:p>
            <a:pPr eaLnBrk="1" hangingPunct="1"/>
            <a:r>
              <a:rPr lang="zh-CN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问题小结</a:t>
            </a:r>
          </a:p>
        </p:txBody>
      </p:sp>
      <p:sp>
        <p:nvSpPr>
          <p:cNvPr id="10649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33400" y="1341438"/>
            <a:ext cx="8077200" cy="44989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在</a:t>
            </a:r>
            <a:r>
              <a:rPr lang="en-US" sz="2800" b="1" dirty="0"/>
              <a:t>SSTF</a:t>
            </a:r>
            <a:r>
              <a:rPr lang="zh-CN" altLang="en-US" sz="2800" b="1" dirty="0"/>
              <a:t>、 </a:t>
            </a:r>
            <a:r>
              <a:rPr lang="en-US" sz="2800" b="1" dirty="0"/>
              <a:t>SCAN</a:t>
            </a:r>
            <a:r>
              <a:rPr lang="zh-CN" altLang="en-US" sz="2800" b="1" dirty="0"/>
              <a:t>及</a:t>
            </a:r>
            <a:r>
              <a:rPr lang="en-US" sz="2800" b="1" dirty="0"/>
              <a:t>CSCAN</a:t>
            </a:r>
            <a:r>
              <a:rPr lang="zh-CN" altLang="en-US" sz="2800" b="1" dirty="0"/>
              <a:t>几种调度算法中， 都可能出现磁臂停留在某处不动的情况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例如，有一个或几个进程对某一磁道有较高的访问频率， 即这个</a:t>
            </a:r>
            <a:r>
              <a:rPr lang="en-US" sz="2800" b="1" dirty="0"/>
              <a:t>(</a:t>
            </a:r>
            <a:r>
              <a:rPr lang="zh-CN" altLang="en-US" sz="2800" b="1" dirty="0"/>
              <a:t>些</a:t>
            </a:r>
            <a:r>
              <a:rPr lang="en-US" sz="2800" b="1" dirty="0"/>
              <a:t>)</a:t>
            </a:r>
            <a:r>
              <a:rPr lang="zh-CN" altLang="en-US" sz="2800" b="1" dirty="0"/>
              <a:t>进程反复请求对某一磁道的</a:t>
            </a:r>
            <a:r>
              <a:rPr lang="en-US" sz="2800" b="1" dirty="0"/>
              <a:t>I/O</a:t>
            </a:r>
            <a:r>
              <a:rPr lang="zh-CN" altLang="en-US" sz="2800" b="1" dirty="0"/>
              <a:t>操作，从而垄断了整个磁盘设备。 我们把这一现象称为</a:t>
            </a:r>
            <a:r>
              <a:rPr lang="zh-CN" altLang="en-US" sz="2800" b="1" dirty="0">
                <a:solidFill>
                  <a:schemeClr val="folHlink"/>
                </a:solidFill>
              </a:rPr>
              <a:t>“磁臂粘着”</a:t>
            </a:r>
            <a:r>
              <a:rPr lang="en-US" sz="2800" b="1" dirty="0">
                <a:solidFill>
                  <a:schemeClr val="folHlink"/>
                </a:solidFill>
              </a:rPr>
              <a:t>(</a:t>
            </a:r>
            <a:r>
              <a:rPr lang="en-US" sz="2800" b="1" dirty="0" err="1">
                <a:solidFill>
                  <a:schemeClr val="folHlink"/>
                </a:solidFill>
              </a:rPr>
              <a:t>Armstickiness</a:t>
            </a:r>
            <a:r>
              <a:rPr lang="en-US" sz="2800" b="1" dirty="0">
                <a:solidFill>
                  <a:schemeClr val="folHlink"/>
                </a:solidFill>
              </a:rPr>
              <a:t>)</a:t>
            </a:r>
            <a:r>
              <a:rPr lang="zh-CN" altLang="en-US" sz="2800" b="1" dirty="0"/>
              <a:t>。在高密度磁盘上容易出现此情况。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N</a:t>
            </a:r>
            <a:r>
              <a:rPr lang="zh-CN" alt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步扫描算法</a:t>
            </a:r>
            <a:r>
              <a:rPr lang="en-US" b="1" u="sng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N-Scan</a:t>
            </a: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07523" name="Rectangle 3"/>
          <p:cNvSpPr>
            <a:spLocks noGrp="1" noRot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en-US" sz="2800" b="1" dirty="0"/>
              <a:t>N</a:t>
            </a:r>
            <a:r>
              <a:rPr lang="zh-CN" altLang="en-US" sz="2800" b="1" dirty="0"/>
              <a:t>步扫描算法将磁盘请求队列分成若干个长度为</a:t>
            </a:r>
            <a:r>
              <a:rPr lang="en-US" altLang="en-US" sz="2800" b="1" dirty="0"/>
              <a:t>N</a:t>
            </a:r>
            <a:r>
              <a:rPr lang="zh-CN" altLang="en-US" sz="2800" b="1" dirty="0"/>
              <a:t>的子队列，磁盘调度程序按照</a:t>
            </a:r>
            <a:r>
              <a:rPr lang="en-US" altLang="en-US" sz="2800" b="1" dirty="0"/>
              <a:t>FCFS</a:t>
            </a:r>
            <a:r>
              <a:rPr lang="zh-CN" altLang="en-US" sz="2800" b="1" dirty="0"/>
              <a:t>算法依次处理这些子队列，而处理每一个子队列时，则按照</a:t>
            </a:r>
            <a:r>
              <a:rPr lang="en-US" altLang="en-US" sz="2800" b="1" dirty="0"/>
              <a:t>SCAN</a:t>
            </a:r>
            <a:r>
              <a:rPr lang="zh-CN" altLang="en-US" sz="2800" b="1" dirty="0"/>
              <a:t>算法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algn="just" eaLnBrk="1" hangingPunct="1"/>
            <a:endParaRPr lang="zh-CN" altLang="en-US" sz="2800" b="1" dirty="0"/>
          </a:p>
          <a:p>
            <a:pPr algn="just" eaLnBrk="1" hangingPunct="1"/>
            <a:r>
              <a:rPr lang="zh-CN" altLang="en-US" b="1" dirty="0"/>
              <a:t>对一个队列处理完后，再处理其他队列。</a:t>
            </a:r>
            <a:r>
              <a:rPr lang="zh-CN" altLang="en-US" dirty="0"/>
              <a:t>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仿宋_GB2312" pitchFamily="1" charset="-122"/>
              <a:ea typeface="仿宋_GB2312" pitchFamily="1" charset="-122"/>
            </a:endParaRPr>
          </a:p>
          <a:p>
            <a:pPr algn="just" eaLnBrk="1" hangingPunct="1"/>
            <a:r>
              <a:rPr lang="zh-CN" altLang="en-US" sz="2800" b="1" dirty="0"/>
              <a:t>当</a:t>
            </a:r>
            <a:r>
              <a:rPr lang="en-US" altLang="en-US" sz="2800" b="1" dirty="0"/>
              <a:t>N</a:t>
            </a:r>
            <a:r>
              <a:rPr lang="zh-CN" altLang="en-US" sz="2800" b="1" dirty="0"/>
              <a:t>值取得很大时，</a:t>
            </a:r>
            <a:r>
              <a:rPr lang="en-US" altLang="en-US" sz="2800" b="1" dirty="0"/>
              <a:t>N</a:t>
            </a:r>
            <a:r>
              <a:rPr lang="zh-CN" altLang="en-US" sz="2800" b="1" dirty="0"/>
              <a:t>步扫描算法的性能与</a:t>
            </a:r>
            <a:r>
              <a:rPr lang="en-US" altLang="en-US" sz="2800" b="1" dirty="0"/>
              <a:t>SCAN</a:t>
            </a:r>
            <a:r>
              <a:rPr lang="zh-CN" altLang="en-US" sz="2800" b="1" dirty="0"/>
              <a:t>算法的性能相当；当</a:t>
            </a:r>
            <a:r>
              <a:rPr lang="en-US" altLang="en-US" sz="2800" b="1" dirty="0"/>
              <a:t>N</a:t>
            </a:r>
            <a:r>
              <a:rPr lang="zh-CN" altLang="en-US" sz="2800" b="1" dirty="0"/>
              <a:t>取值为</a:t>
            </a:r>
            <a:r>
              <a:rPr lang="en-US" altLang="en-US" sz="2800" b="1" dirty="0"/>
              <a:t>1</a:t>
            </a:r>
            <a:r>
              <a:rPr lang="zh-CN" altLang="en-US" sz="2800" b="1" dirty="0"/>
              <a:t>时，</a:t>
            </a:r>
            <a:r>
              <a:rPr lang="en-US" altLang="en-US" sz="2800" b="1" dirty="0"/>
              <a:t>N</a:t>
            </a:r>
            <a:r>
              <a:rPr lang="zh-CN" altLang="en-US" sz="2800" b="1" dirty="0"/>
              <a:t>步扫描算法退化为</a:t>
            </a:r>
            <a:r>
              <a:rPr lang="en-US" altLang="en-US" sz="2800" b="1" dirty="0"/>
              <a:t>FCFS</a:t>
            </a:r>
            <a:r>
              <a:rPr lang="zh-CN" altLang="en-US" sz="2800" b="1" dirty="0"/>
              <a:t>算法。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.FSCAN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算法</a:t>
            </a:r>
          </a:p>
        </p:txBody>
      </p:sp>
      <p:sp>
        <p:nvSpPr>
          <p:cNvPr id="10854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214282" y="1557338"/>
            <a:ext cx="8643998" cy="44989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b="1" dirty="0"/>
              <a:t>FSCAN</a:t>
            </a:r>
            <a:r>
              <a:rPr lang="zh-CN" altLang="en-US" b="1" dirty="0"/>
              <a:t>算法实质上是</a:t>
            </a:r>
            <a:r>
              <a:rPr lang="en-US" b="1" dirty="0"/>
              <a:t>N</a:t>
            </a:r>
            <a:r>
              <a:rPr lang="zh-CN" altLang="en-US" b="1" dirty="0"/>
              <a:t>步</a:t>
            </a:r>
            <a:r>
              <a:rPr lang="en-US" b="1" dirty="0"/>
              <a:t>SCAN</a:t>
            </a:r>
            <a:r>
              <a:rPr lang="zh-CN" altLang="en-US" b="1" dirty="0"/>
              <a:t>算法的简化， 只将磁盘请求队列分成两个子</a:t>
            </a:r>
            <a:r>
              <a:rPr lang="zh-CN" altLang="en-US" b="1" dirty="0" smtClean="0"/>
              <a:t>队列：</a:t>
            </a:r>
            <a:endParaRPr lang="en-US" altLang="zh-CN" b="1" dirty="0" smtClean="0"/>
          </a:p>
          <a:p>
            <a:pPr eaLnBrk="1" hangingPunct="1">
              <a:lnSpc>
                <a:spcPct val="110000"/>
              </a:lnSpc>
            </a:pPr>
            <a:endParaRPr lang="zh-CN" altLang="en-US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/>
              <a:t>一个是由</a:t>
            </a:r>
            <a:r>
              <a:rPr lang="zh-CN" altLang="en-US" b="1" u="sng" dirty="0">
                <a:solidFill>
                  <a:schemeClr val="folHlink"/>
                </a:solidFill>
              </a:rPr>
              <a:t>当前所有请求磁盘</a:t>
            </a:r>
            <a:r>
              <a:rPr lang="en-US" b="1" u="sng" dirty="0">
                <a:solidFill>
                  <a:schemeClr val="folHlink"/>
                </a:solidFill>
              </a:rPr>
              <a:t>I/O</a:t>
            </a:r>
            <a:r>
              <a:rPr lang="zh-CN" altLang="en-US" b="1" u="sng" dirty="0">
                <a:solidFill>
                  <a:schemeClr val="folHlink"/>
                </a:solidFill>
              </a:rPr>
              <a:t>的进程形成的队列</a:t>
            </a:r>
            <a:r>
              <a:rPr lang="zh-CN" altLang="en-US" b="1" dirty="0"/>
              <a:t>，由磁盘调度按</a:t>
            </a:r>
            <a:r>
              <a:rPr lang="en-US" b="1" dirty="0"/>
              <a:t>SCAN</a:t>
            </a:r>
            <a:r>
              <a:rPr lang="zh-CN" altLang="en-US" b="1" dirty="0"/>
              <a:t>算法进行处理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 lvl="1" eaLnBrk="1" hangingPunct="1">
              <a:lnSpc>
                <a:spcPct val="110000"/>
              </a:lnSpc>
            </a:pPr>
            <a:endParaRPr lang="zh-CN" altLang="en-US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/>
              <a:t>在扫描期间，将新出现的所有请求磁盘</a:t>
            </a:r>
            <a:r>
              <a:rPr lang="en-US" b="1" dirty="0"/>
              <a:t>I/O</a:t>
            </a:r>
            <a:r>
              <a:rPr lang="zh-CN" altLang="en-US" b="1" dirty="0"/>
              <a:t>的进程， 放入</a:t>
            </a:r>
            <a:r>
              <a:rPr lang="zh-CN" altLang="en-US" b="1" u="sng" dirty="0">
                <a:solidFill>
                  <a:schemeClr val="folHlink"/>
                </a:solidFill>
              </a:rPr>
              <a:t>另一个等待处理的请求队列</a:t>
            </a:r>
            <a:r>
              <a:rPr lang="zh-CN" altLang="en-US" b="1" dirty="0"/>
              <a:t>。这样，所有的新请求都将被推迟到下一次扫描时处理。 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16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18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22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13500000">
            <a:schemeClr val="bg2"/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13500000">
            <a:schemeClr val="bg2"/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CDESIGNJ</Template>
  <TotalTime>2644</TotalTime>
  <Words>8385</Words>
  <Application>Microsoft Office PowerPoint</Application>
  <PresentationFormat>全屏显示(4:3)</PresentationFormat>
  <Paragraphs>640</Paragraphs>
  <Slides>111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111</vt:i4>
      </vt:variant>
    </vt:vector>
  </HeadingPairs>
  <TitlesOfParts>
    <vt:vector size="124" baseType="lpstr">
      <vt:lpstr>仿宋_GB2312</vt:lpstr>
      <vt:lpstr>楷体_GB2312</vt:lpstr>
      <vt:lpstr>宋体</vt:lpstr>
      <vt:lpstr>Arial</vt:lpstr>
      <vt:lpstr>Calibri</vt:lpstr>
      <vt:lpstr>Courier New</vt:lpstr>
      <vt:lpstr>Tahoma</vt:lpstr>
      <vt:lpstr>Times New Roman</vt:lpstr>
      <vt:lpstr>Wingdings</vt:lpstr>
      <vt:lpstr>Wingdings 2</vt:lpstr>
      <vt:lpstr>砖雕艺术</vt:lpstr>
      <vt:lpstr>Visio.Drawing.11</vt:lpstr>
      <vt:lpstr>Microsoft 公式 3.0</vt:lpstr>
      <vt:lpstr>PowerPoint 演示文稿</vt:lpstr>
      <vt:lpstr>主要内容</vt:lpstr>
      <vt:lpstr>6.1 I/O系统的基本功能 </vt:lpstr>
      <vt:lpstr>设备管理体系结构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设备虚拟化技术简介-Xen</vt:lpstr>
      <vt:lpstr>设备虚拟化技术简介-KVM</vt:lpstr>
      <vt:lpstr>PowerPoint 演示文稿</vt:lpstr>
      <vt:lpstr>6.2.2 设备控制器</vt:lpstr>
      <vt:lpstr>PowerPoint 演示文稿</vt:lpstr>
      <vt:lpstr>PowerPoint 演示文稿</vt:lpstr>
      <vt:lpstr>PowerPoint 演示文稿</vt:lpstr>
      <vt:lpstr> 6.2.3    I／O通道 </vt:lpstr>
      <vt:lpstr>PowerPoint 演示文稿</vt:lpstr>
      <vt:lpstr> 2．通道类型 </vt:lpstr>
      <vt:lpstr>PowerPoint 演示文稿</vt:lpstr>
      <vt:lpstr>PowerPoint 演示文稿</vt:lpstr>
      <vt:lpstr> 2．通道类型（续） </vt:lpstr>
      <vt:lpstr>3．“瓶颈”问题       由于通道不足所造成的“瓶颈”现象。 </vt:lpstr>
      <vt:lpstr>解决“瓶颈”问题的最有效的方法，便是增加设备到主机间的通路而不增加通道 </vt:lpstr>
      <vt:lpstr> 6.3 中断机构和中断处理程序</vt:lpstr>
      <vt:lpstr>6.3.2 中断处理程序</vt:lpstr>
      <vt:lpstr>PowerPoint 演示文稿</vt:lpstr>
      <vt:lpstr>2．保护被中断进程的CPU 环境</vt:lpstr>
      <vt:lpstr>3．转入相应的设备处理程序</vt:lpstr>
      <vt:lpstr>4．中断处理</vt:lpstr>
      <vt:lpstr>5．恢复被中断进程的现场</vt:lpstr>
      <vt:lpstr>PowerPoint 演示文稿</vt:lpstr>
      <vt:lpstr>PowerPoint 演示文稿</vt:lpstr>
      <vt:lpstr>PowerPoint 演示文稿</vt:lpstr>
      <vt:lpstr>PowerPoint 演示文稿</vt:lpstr>
      <vt:lpstr>2.设备驱动程序的处理过程</vt:lpstr>
      <vt:lpstr>3、设备驱动程序的特点</vt:lpstr>
      <vt:lpstr>PowerPoint 演示文稿</vt:lpstr>
      <vt:lpstr>6.4.3  对I/O设备的控制方式</vt:lpstr>
      <vt:lpstr>PowerPoint 演示文稿</vt:lpstr>
      <vt:lpstr>PowerPoint 演示文稿</vt:lpstr>
      <vt:lpstr>PowerPoint 演示文稿</vt:lpstr>
      <vt:lpstr>3. 直接存储器访问DMA I/O控制方式 </vt:lpstr>
      <vt:lpstr>PowerPoint 演示文稿</vt:lpstr>
      <vt:lpstr>PowerPoint 演示文稿</vt:lpstr>
      <vt:lpstr>PowerPoint 演示文稿</vt:lpstr>
      <vt:lpstr>PowerPoint 演示文稿</vt:lpstr>
      <vt:lpstr>2、设备独立性性的实现</vt:lpstr>
      <vt:lpstr>3、设备的查找</vt:lpstr>
      <vt:lpstr>PowerPoint 演示文稿</vt:lpstr>
      <vt:lpstr>1.设备分配中的数据结构</vt:lpstr>
      <vt:lpstr>2. 控制器控制表、 通道控制表和系统设备表 </vt:lpstr>
      <vt:lpstr>3. 设备分配算法 </vt:lpstr>
      <vt:lpstr>独占型设备的分配 </vt:lpstr>
      <vt:lpstr>共享型设备的分配 </vt:lpstr>
      <vt:lpstr> 6.6   用户层的I/O系统 </vt:lpstr>
      <vt:lpstr> 6.6.2  假脱机（SPOOLing）系统 </vt:lpstr>
      <vt:lpstr>PowerPoint 演示文稿</vt:lpstr>
      <vt:lpstr>PowerPoint 演示文稿</vt:lpstr>
      <vt:lpstr>PowerPoint 演示文稿</vt:lpstr>
      <vt:lpstr>6.7 缓冲管理 </vt:lpstr>
      <vt:lpstr>PowerPoint 演示文稿</vt:lpstr>
      <vt:lpstr>缓冲区的组织形式</vt:lpstr>
      <vt:lpstr>单缓冲</vt:lpstr>
      <vt:lpstr>双缓冲 </vt:lpstr>
      <vt:lpstr>循环缓冲 </vt:lpstr>
      <vt:lpstr>循环缓冲</vt:lpstr>
      <vt:lpstr>PowerPoint 演示文稿</vt:lpstr>
      <vt:lpstr>循环缓冲区的组织方式 </vt:lpstr>
      <vt:lpstr>缓冲区的分配和回收 </vt:lpstr>
      <vt:lpstr>缓冲区的分配和回收</vt:lpstr>
      <vt:lpstr>缓冲区管理的同步问题</vt:lpstr>
      <vt:lpstr>缓冲池 </vt:lpstr>
      <vt:lpstr>缓冲池</vt:lpstr>
      <vt:lpstr>1．缓冲池的组成</vt:lpstr>
      <vt:lpstr>PowerPoint 演示文稿</vt:lpstr>
      <vt:lpstr>6.8  磁盘存储器的性能和调度 </vt:lpstr>
      <vt:lpstr>6.8.1 磁盘的性能</vt:lpstr>
      <vt:lpstr>磁盘设备的物理特性 </vt:lpstr>
      <vt:lpstr>PowerPoint 演示文稿</vt:lpstr>
      <vt:lpstr>磁盘布局图</vt:lpstr>
      <vt:lpstr>磁盘基本概念</vt:lpstr>
      <vt:lpstr>PowerPoint 演示文稿</vt:lpstr>
      <vt:lpstr>PowerPoint 演示文稿</vt:lpstr>
      <vt:lpstr>PowerPoint 演示文稿</vt:lpstr>
      <vt:lpstr>磁盘类型</vt:lpstr>
      <vt:lpstr>影响磁盘I/O性能的技术指标 </vt:lpstr>
      <vt:lpstr>1）.寻道时间</vt:lpstr>
      <vt:lpstr>2）.旋转延迟</vt:lpstr>
      <vt:lpstr>PowerPoint 演示文稿</vt:lpstr>
      <vt:lpstr>影响磁盘I/O性能的主要因素</vt:lpstr>
      <vt:lpstr>调整磁盘I/O性能 </vt:lpstr>
      <vt:lpstr>SSD固态硬盘</vt:lpstr>
      <vt:lpstr>SSD固态硬盘</vt:lpstr>
      <vt:lpstr>6.8.2 磁盘调度算法</vt:lpstr>
      <vt:lpstr>1）.先来先服务FCFS(First-Come, First Served) </vt:lpstr>
      <vt:lpstr>PowerPoint 演示文稿</vt:lpstr>
      <vt:lpstr>缺陷：</vt:lpstr>
      <vt:lpstr>2）. 最短寻道时间优先算法SSTF (Shortest Seek Time First) </vt:lpstr>
      <vt:lpstr>PowerPoint 演示文稿</vt:lpstr>
      <vt:lpstr>SSTF算法缺陷</vt:lpstr>
      <vt:lpstr>3）.扫描算法Scan</vt:lpstr>
      <vt:lpstr>扫描算法Scan </vt:lpstr>
      <vt:lpstr>PowerPoint 演示文稿</vt:lpstr>
      <vt:lpstr>扫描算法Scan</vt:lpstr>
      <vt:lpstr>4）.循环扫描(CSCAN)算法</vt:lpstr>
      <vt:lpstr>PowerPoint 演示文稿</vt:lpstr>
      <vt:lpstr>问题小结</vt:lpstr>
      <vt:lpstr>5）. N步扫描算法N-Scan </vt:lpstr>
      <vt:lpstr>6）.FSCAN算法</vt:lpstr>
      <vt:lpstr>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Uestc</cp:lastModifiedBy>
  <cp:revision>112</cp:revision>
  <dcterms:created xsi:type="dcterms:W3CDTF">2012-09-20T02:42:50Z</dcterms:created>
  <dcterms:modified xsi:type="dcterms:W3CDTF">2021-04-12T08:05:22Z</dcterms:modified>
</cp:coreProperties>
</file>