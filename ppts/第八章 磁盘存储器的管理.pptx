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8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305" r:id="rId24"/>
    <p:sldId id="331" r:id="rId25"/>
    <p:sldId id="332" r:id="rId26"/>
    <p:sldId id="333"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34" r:id="rId54"/>
    <p:sldId id="335" r:id="rId55"/>
    <p:sldId id="336" r:id="rId56"/>
    <p:sldId id="337" r:id="rId57"/>
    <p:sldId id="338"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09" d="100"/>
          <a:sy n="109" d="100"/>
        </p:scale>
        <p:origin x="167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06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550B99-6F6F-469F-A595-F07A0B8D1A7D}" type="datetimeFigureOut">
              <a:rPr lang="zh-CN" altLang="en-US" smtClean="0"/>
              <a:t>2021/4/21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324744-6AD5-4F77-A455-71A7D719E5A3}" type="slidenum">
              <a:rPr lang="zh-CN" altLang="en-US" smtClean="0"/>
              <a:t>‹#›</a:t>
            </a:fld>
            <a:endParaRPr lang="zh-CN" altLang="en-US"/>
          </a:p>
        </p:txBody>
      </p:sp>
    </p:spTree>
    <p:extLst>
      <p:ext uri="{BB962C8B-B14F-4D97-AF65-F5344CB8AC3E}">
        <p14:creationId xmlns:p14="http://schemas.microsoft.com/office/powerpoint/2010/main" val="1725991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假设每个盘块大小</a:t>
            </a:r>
            <a:r>
              <a:rPr lang="en-US" altLang="zh-CN" smtClean="0"/>
              <a:t>4KB</a:t>
            </a:r>
            <a:r>
              <a:rPr lang="zh-CN" altLang="en-US" smtClean="0"/>
              <a:t>， 每个盘块号占</a:t>
            </a:r>
            <a:r>
              <a:rPr lang="en-US" altLang="zh-CN" smtClean="0"/>
              <a:t>4</a:t>
            </a:r>
            <a:r>
              <a:rPr lang="zh-CN" altLang="en-US" smtClean="0"/>
              <a:t>个字节</a:t>
            </a:r>
          </a:p>
        </p:txBody>
      </p:sp>
      <p:sp>
        <p:nvSpPr>
          <p:cNvPr id="788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F04448-0252-49AC-961A-9B288C74E4D7}" type="slidenum">
              <a:rPr lang="zh-CN" altLang="en-US"/>
              <a:pPr eaLnBrk="1" hangingPunct="1"/>
              <a:t>26</a:t>
            </a:fld>
            <a:endParaRPr lang="zh-CN" altLang="en-US"/>
          </a:p>
        </p:txBody>
      </p:sp>
    </p:spTree>
    <p:extLst>
      <p:ext uri="{BB962C8B-B14F-4D97-AF65-F5344CB8AC3E}">
        <p14:creationId xmlns:p14="http://schemas.microsoft.com/office/powerpoint/2010/main" val="966384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88F2D2-F743-4E94-9A84-3BCD605BD138}" type="slidenum">
              <a:rPr lang="zh-CN" altLang="en-US" smtClean="0"/>
              <a:pPr/>
              <a:t>‹#›</a:t>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F42B7736-BCD2-44B6-A601-AB60AFAC7488}" type="datetimeFigureOut">
              <a:rPr lang="zh-CN" altLang="en-US" smtClean="0"/>
              <a:pPr/>
              <a:t>2021/4/21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88F2D2-F743-4E94-9A84-3BCD605BD138}"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F42B7736-BCD2-44B6-A601-AB60AFAC7488}" type="datetimeFigureOut">
              <a:rPr lang="zh-CN" altLang="en-US" smtClean="0"/>
              <a:pPr/>
              <a:t>2021/4/21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1088F2D2-F743-4E94-9A84-3BCD605BD13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1.png"/><Relationship Id="rId4" Type="http://schemas.openxmlformats.org/officeDocument/2006/relationships/oleObject" Target="../embeddings/oleObject4.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2.png"/></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13.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p:cNvSpPr>
            <a:spLocks noGrp="1" noRot="1" noChangeArrowheads="1"/>
          </p:cNvSpPr>
          <p:nvPr>
            <p:ph type="title" idx="4294967295"/>
          </p:nvPr>
        </p:nvSpPr>
        <p:spPr>
          <a:xfrm>
            <a:off x="857224" y="1524000"/>
            <a:ext cx="7772400" cy="1524000"/>
          </a:xfrm>
          <a:gradFill rotWithShape="0">
            <a:gsLst>
              <a:gs pos="0">
                <a:srgbClr val="404552"/>
              </a:gs>
              <a:gs pos="50000">
                <a:schemeClr val="accent1"/>
              </a:gs>
              <a:gs pos="100000">
                <a:srgbClr val="404552"/>
              </a:gs>
            </a:gsLst>
            <a:lin ang="5400000" scaled="1"/>
          </a:gradFill>
        </p:spPr>
        <p:txBody>
          <a:bodyPr/>
          <a:lstStyle/>
          <a:p>
            <a:pPr eaLnBrk="1" hangingPunct="1">
              <a:defRPr/>
            </a:pPr>
            <a:r>
              <a:rPr lang="en-US" b="1" dirty="0" smtClean="0">
                <a:solidFill>
                  <a:srgbClr val="FF0000"/>
                </a:solidFill>
                <a:effectLst>
                  <a:outerShdw blurRad="38100" dist="38100" dir="2700000" algn="tl">
                    <a:srgbClr val="000000"/>
                  </a:outerShdw>
                </a:effectLst>
                <a:latin typeface="仿宋_GB2312" pitchFamily="1" charset="-122"/>
                <a:ea typeface="仿宋_GB2312" pitchFamily="1" charset="-122"/>
              </a:rPr>
              <a:t> </a:t>
            </a:r>
            <a:r>
              <a:rPr lang="zh-CN" altLang="en-US" b="1" dirty="0" smtClean="0">
                <a:solidFill>
                  <a:srgbClr val="FF0000"/>
                </a:solidFill>
                <a:effectLst>
                  <a:outerShdw blurRad="38100" dist="38100" dir="2700000" algn="tl">
                    <a:srgbClr val="000000"/>
                  </a:outerShdw>
                </a:effectLst>
                <a:latin typeface="仿宋_GB2312" pitchFamily="1" charset="-122"/>
                <a:ea typeface="仿宋_GB2312" pitchFamily="1" charset="-122"/>
              </a:rPr>
              <a:t>第八章 磁盘存储器的管理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9874">
                                            <p:txEl>
                                              <p:charRg st="4294967295" end="4294967295"/>
                                            </p:txEl>
                                          </p:spTgt>
                                        </p:tgtEl>
                                        <p:attrNameLst>
                                          <p:attrName>style.visibility</p:attrName>
                                        </p:attrNameLst>
                                      </p:cBhvr>
                                      <p:to>
                                        <p:strVal val="visible"/>
                                      </p:to>
                                    </p:set>
                                    <p:animEffect transition="in" filter="fade">
                                      <p:cBhvr>
                                        <p:cTn id="7" dur="2000"/>
                                        <p:tgtEl>
                                          <p:spTgt spid="79874">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p:cNvSpPr>
            <a:spLocks noGrp="1" noRot="1" noChangeArrowheads="1"/>
          </p:cNvSpPr>
          <p:nvPr>
            <p:ph type="title" idx="4294967295"/>
          </p:nvPr>
        </p:nvSpPr>
        <p:spPr>
          <a:xfrm>
            <a:off x="342928" y="361969"/>
            <a:ext cx="8229600" cy="1143000"/>
          </a:xfrm>
        </p:spPr>
        <p:txBody>
          <a:bodyPr>
            <a:normAutofit/>
          </a:bodyPr>
          <a:lstStyle/>
          <a:p>
            <a:pPr eaLnBrk="1" hangingPunct="1">
              <a:defRPr/>
            </a:pPr>
            <a:r>
              <a:rPr lang="zh-CN" b="1" u="sng" dirty="0" smtClean="0">
                <a:solidFill>
                  <a:srgbClr val="FF0000"/>
                </a:solidFill>
                <a:effectLst>
                  <a:outerShdw blurRad="38100" dist="38100" dir="2700000" algn="tl">
                    <a:srgbClr val="000000"/>
                  </a:outerShdw>
                </a:effectLst>
                <a:ea typeface="仿宋_GB2312" pitchFamily="1" charset="-122"/>
              </a:rPr>
              <a:t>文件存储空间分配的有关问题</a:t>
            </a:r>
            <a:r>
              <a:rPr lang="zh-CN" dirty="0" smtClean="0">
                <a:solidFill>
                  <a:srgbClr val="FF0000"/>
                </a:solidFill>
                <a:effectLst>
                  <a:outerShdw blurRad="38100" dist="38100" dir="2700000" algn="tl">
                    <a:srgbClr val="000000"/>
                  </a:outerShdw>
                </a:effectLst>
              </a:rPr>
              <a:t> </a:t>
            </a:r>
          </a:p>
        </p:txBody>
      </p:sp>
      <p:sp>
        <p:nvSpPr>
          <p:cNvPr id="80899" name="Rectangle 3"/>
          <p:cNvSpPr>
            <a:spLocks noGrp="1" noRot="1" noChangeArrowheads="1"/>
          </p:cNvSpPr>
          <p:nvPr>
            <p:ph type="body" idx="4294967295"/>
          </p:nvPr>
        </p:nvSpPr>
        <p:spPr>
          <a:xfrm>
            <a:off x="342928" y="1644669"/>
            <a:ext cx="8077200" cy="4498975"/>
          </a:xfrm>
        </p:spPr>
        <p:txBody>
          <a:bodyPr>
            <a:normAutofit lnSpcReduction="10000"/>
          </a:bodyPr>
          <a:lstStyle/>
          <a:p>
            <a:pPr algn="just" eaLnBrk="1" hangingPunct="1">
              <a:lnSpc>
                <a:spcPct val="110000"/>
              </a:lnSpc>
              <a:defRPr/>
            </a:pPr>
            <a:r>
              <a:rPr lang="zh-CN" altLang="en-US" sz="2800" b="1" dirty="0" smtClean="0">
                <a:solidFill>
                  <a:srgbClr val="FF0000"/>
                </a:solidFill>
                <a:effectLst>
                  <a:outerShdw blurRad="38100" dist="38100" dir="2700000" algn="tl">
                    <a:srgbClr val="000000"/>
                  </a:outerShdw>
                </a:effectLst>
                <a:ea typeface="仿宋_GB2312" pitchFamily="1" charset="-122"/>
              </a:rPr>
              <a:t>从逻辑组织的角度看，文件由若干记录构成；</a:t>
            </a:r>
          </a:p>
          <a:p>
            <a:pPr algn="just" eaLnBrk="1" hangingPunct="1">
              <a:lnSpc>
                <a:spcPct val="110000"/>
              </a:lnSpc>
              <a:defRPr/>
            </a:pPr>
            <a:r>
              <a:rPr lang="zh-CN" altLang="en-US" sz="2800" b="1" dirty="0" smtClean="0">
                <a:solidFill>
                  <a:srgbClr val="FF0000"/>
                </a:solidFill>
                <a:effectLst>
                  <a:outerShdw blurRad="38100" dist="38100" dir="2700000" algn="tl">
                    <a:srgbClr val="000000"/>
                  </a:outerShdw>
                </a:effectLst>
                <a:ea typeface="仿宋_GB2312" pitchFamily="1" charset="-122"/>
              </a:rPr>
              <a:t>从物理组织的角度看，文件由若干数据块组成</a:t>
            </a:r>
            <a:r>
              <a:rPr lang="en-US" sz="2800" b="1" dirty="0" smtClean="0">
                <a:solidFill>
                  <a:srgbClr val="FF0000"/>
                </a:solidFill>
                <a:effectLst>
                  <a:outerShdw blurRad="38100" dist="38100" dir="2700000" algn="tl">
                    <a:srgbClr val="000000"/>
                  </a:outerShdw>
                </a:effectLst>
                <a:ea typeface="仿宋_GB2312" pitchFamily="1" charset="-122"/>
              </a:rPr>
              <a:t>.</a:t>
            </a:r>
          </a:p>
          <a:p>
            <a:pPr algn="just" eaLnBrk="1" hangingPunct="1">
              <a:lnSpc>
                <a:spcPct val="110000"/>
              </a:lnSpc>
              <a:defRPr/>
            </a:pPr>
            <a:r>
              <a:rPr lang="zh-CN" altLang="en-US" sz="2800" b="1" dirty="0" smtClean="0">
                <a:effectLst>
                  <a:outerShdw blurRad="38100" dist="38100" dir="2700000" algn="tl">
                    <a:srgbClr val="000000"/>
                  </a:outerShdw>
                </a:effectLst>
                <a:ea typeface="仿宋_GB2312" pitchFamily="1" charset="-122"/>
              </a:rPr>
              <a:t>操作系统或文件管理系统负责为文件分配和管理数据块。</a:t>
            </a:r>
          </a:p>
          <a:p>
            <a:pPr algn="just" eaLnBrk="1" hangingPunct="1">
              <a:lnSpc>
                <a:spcPct val="110000"/>
              </a:lnSpc>
              <a:defRPr/>
            </a:pPr>
            <a:r>
              <a:rPr lang="zh-CN" altLang="en-US" sz="2800" b="1" dirty="0" smtClean="0">
                <a:effectLst>
                  <a:outerShdw blurRad="38100" dist="38100" dir="2700000" algn="tl">
                    <a:srgbClr val="000000"/>
                  </a:outerShdw>
                </a:effectLst>
                <a:ea typeface="仿宋_GB2312" pitchFamily="1" charset="-122"/>
              </a:rPr>
              <a:t>如何划分磁盘空间？</a:t>
            </a:r>
          </a:p>
          <a:p>
            <a:pPr algn="just" eaLnBrk="1" hangingPunct="1">
              <a:lnSpc>
                <a:spcPct val="110000"/>
              </a:lnSpc>
              <a:defRPr/>
            </a:pPr>
            <a:r>
              <a:rPr lang="zh-CN" altLang="en-US" sz="2800" b="1" dirty="0" smtClean="0">
                <a:effectLst>
                  <a:outerShdw blurRad="38100" dist="38100" dir="2700000" algn="tl">
                    <a:srgbClr val="000000"/>
                  </a:outerShdw>
                </a:effectLst>
                <a:ea typeface="仿宋_GB2312" pitchFamily="1" charset="-122"/>
              </a:rPr>
              <a:t>如何为一个新建文件分配空间？</a:t>
            </a:r>
          </a:p>
          <a:p>
            <a:pPr algn="just" eaLnBrk="1" hangingPunct="1">
              <a:lnSpc>
                <a:spcPct val="110000"/>
              </a:lnSpc>
              <a:defRPr/>
            </a:pPr>
            <a:r>
              <a:rPr lang="zh-CN" altLang="en-US" sz="2800" b="1" dirty="0" smtClean="0">
                <a:effectLst>
                  <a:outerShdw blurRad="38100" dist="38100" dir="2700000" algn="tl">
                    <a:srgbClr val="000000"/>
                  </a:outerShdw>
                </a:effectLst>
                <a:ea typeface="仿宋_GB2312" pitchFamily="1" charset="-122"/>
              </a:rPr>
              <a:t>如何为一个已存在的文件增加存储空间？</a:t>
            </a:r>
          </a:p>
          <a:p>
            <a:pPr algn="just" eaLnBrk="1" hangingPunct="1">
              <a:lnSpc>
                <a:spcPct val="110000"/>
              </a:lnSpc>
              <a:defRPr/>
            </a:pPr>
            <a:r>
              <a:rPr lang="zh-CN" altLang="en-US" sz="2800" b="1" dirty="0" smtClean="0">
                <a:effectLst>
                  <a:outerShdw blurRad="38100" dist="38100" dir="2700000" algn="tl">
                    <a:srgbClr val="000000"/>
                  </a:outerShdw>
                </a:effectLst>
                <a:ea typeface="仿宋_GB2312" pitchFamily="1" charset="-122"/>
              </a:rPr>
              <a:t>用什么数据结构记载文件已分配到的数据块和空闲数据块？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fade">
                                      <p:cBhvr>
                                        <p:cTn id="7" dur="2000"/>
                                        <p:tgtEl>
                                          <p:spTgt spid="808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899">
                                            <p:txEl>
                                              <p:pRg st="0" end="0"/>
                                            </p:txEl>
                                          </p:spTgt>
                                        </p:tgtEl>
                                        <p:attrNameLst>
                                          <p:attrName>style.visibility</p:attrName>
                                        </p:attrNameLst>
                                      </p:cBhvr>
                                      <p:to>
                                        <p:strVal val="visible"/>
                                      </p:to>
                                    </p:set>
                                    <p:animEffect transition="in" filter="fade">
                                      <p:cBhvr>
                                        <p:cTn id="12" dur="2000"/>
                                        <p:tgtEl>
                                          <p:spTgt spid="808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0899">
                                            <p:txEl>
                                              <p:pRg st="1" end="1"/>
                                            </p:txEl>
                                          </p:spTgt>
                                        </p:tgtEl>
                                        <p:attrNameLst>
                                          <p:attrName>style.visibility</p:attrName>
                                        </p:attrNameLst>
                                      </p:cBhvr>
                                      <p:to>
                                        <p:strVal val="visible"/>
                                      </p:to>
                                    </p:set>
                                    <p:animEffect transition="in" filter="fade">
                                      <p:cBhvr>
                                        <p:cTn id="17" dur="2000"/>
                                        <p:tgtEl>
                                          <p:spTgt spid="808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0899">
                                            <p:txEl>
                                              <p:pRg st="2" end="2"/>
                                            </p:txEl>
                                          </p:spTgt>
                                        </p:tgtEl>
                                        <p:attrNameLst>
                                          <p:attrName>style.visibility</p:attrName>
                                        </p:attrNameLst>
                                      </p:cBhvr>
                                      <p:to>
                                        <p:strVal val="visible"/>
                                      </p:to>
                                    </p:set>
                                    <p:animEffect transition="in" filter="fade">
                                      <p:cBhvr>
                                        <p:cTn id="22" dur="2000"/>
                                        <p:tgtEl>
                                          <p:spTgt spid="8089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0899">
                                            <p:txEl>
                                              <p:pRg st="3" end="3"/>
                                            </p:txEl>
                                          </p:spTgt>
                                        </p:tgtEl>
                                        <p:attrNameLst>
                                          <p:attrName>style.visibility</p:attrName>
                                        </p:attrNameLst>
                                      </p:cBhvr>
                                      <p:to>
                                        <p:strVal val="visible"/>
                                      </p:to>
                                    </p:set>
                                    <p:animEffect transition="in" filter="fade">
                                      <p:cBhvr>
                                        <p:cTn id="27" dur="2000"/>
                                        <p:tgtEl>
                                          <p:spTgt spid="8089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0899">
                                            <p:txEl>
                                              <p:pRg st="4" end="4"/>
                                            </p:txEl>
                                          </p:spTgt>
                                        </p:tgtEl>
                                        <p:attrNameLst>
                                          <p:attrName>style.visibility</p:attrName>
                                        </p:attrNameLst>
                                      </p:cBhvr>
                                      <p:to>
                                        <p:strVal val="visible"/>
                                      </p:to>
                                    </p:set>
                                    <p:animEffect transition="in" filter="fade">
                                      <p:cBhvr>
                                        <p:cTn id="32" dur="2000"/>
                                        <p:tgtEl>
                                          <p:spTgt spid="8089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0899">
                                            <p:txEl>
                                              <p:pRg st="5" end="5"/>
                                            </p:txEl>
                                          </p:spTgt>
                                        </p:tgtEl>
                                        <p:attrNameLst>
                                          <p:attrName>style.visibility</p:attrName>
                                        </p:attrNameLst>
                                      </p:cBhvr>
                                      <p:to>
                                        <p:strVal val="visible"/>
                                      </p:to>
                                    </p:set>
                                    <p:animEffect transition="in" filter="fade">
                                      <p:cBhvr>
                                        <p:cTn id="37" dur="2000"/>
                                        <p:tgtEl>
                                          <p:spTgt spid="8089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0899">
                                            <p:txEl>
                                              <p:pRg st="6" end="6"/>
                                            </p:txEl>
                                          </p:spTgt>
                                        </p:tgtEl>
                                        <p:attrNameLst>
                                          <p:attrName>style.visibility</p:attrName>
                                        </p:attrNameLst>
                                      </p:cBhvr>
                                      <p:to>
                                        <p:strVal val="visible"/>
                                      </p:to>
                                    </p:set>
                                    <p:animEffect transition="in" filter="fade">
                                      <p:cBhvr>
                                        <p:cTn id="42" dur="2000"/>
                                        <p:tgtEl>
                                          <p:spTgt spid="808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autoUpdateAnimBg="0"/>
      <p:bldP spid="80899"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Rot="1" noChangeArrowheads="1"/>
          </p:cNvSpPr>
          <p:nvPr>
            <p:ph type="title" idx="4294967295"/>
          </p:nvPr>
        </p:nvSpPr>
        <p:spPr>
          <a:xfrm>
            <a:off x="0" y="274638"/>
            <a:ext cx="8229600" cy="1143000"/>
          </a:xfrm>
        </p:spPr>
        <p:txBody>
          <a:bodyPr/>
          <a:lstStyle/>
          <a:p>
            <a:pPr eaLnBrk="1" hangingPunct="1">
              <a:defRPr/>
            </a:pPr>
            <a:r>
              <a:rPr lang="en-US" altLang="zh-CN" b="1" dirty="0" smtClean="0">
                <a:solidFill>
                  <a:srgbClr val="FF0000"/>
                </a:solidFill>
                <a:effectLst>
                  <a:outerShdw blurRad="38100" dist="38100" dir="2700000" algn="tl">
                    <a:srgbClr val="000000"/>
                  </a:outerShdw>
                </a:effectLst>
              </a:rPr>
              <a:t>8.1</a:t>
            </a:r>
            <a:r>
              <a:rPr lang="en-US" b="1" dirty="0" smtClean="0">
                <a:solidFill>
                  <a:srgbClr val="FF0000"/>
                </a:solidFill>
                <a:effectLst>
                  <a:outerShdw blurRad="38100" dist="38100" dir="2700000" algn="tl">
                    <a:srgbClr val="000000"/>
                  </a:outerShdw>
                </a:effectLst>
              </a:rPr>
              <a:t> </a:t>
            </a:r>
            <a:r>
              <a:rPr lang="zh-CN" altLang="en-US" b="1" dirty="0" smtClean="0">
                <a:solidFill>
                  <a:srgbClr val="FF0000"/>
                </a:solidFill>
                <a:effectLst>
                  <a:outerShdw blurRad="38100" dist="38100" dir="2700000" algn="tl">
                    <a:srgbClr val="000000"/>
                  </a:outerShdw>
                </a:effectLst>
              </a:rPr>
              <a:t>外存的组织方式</a:t>
            </a:r>
            <a:r>
              <a:rPr lang="zh-CN" altLang="en-US" dirty="0" smtClean="0">
                <a:solidFill>
                  <a:srgbClr val="FF0000"/>
                </a:solidFill>
                <a:effectLst>
                  <a:outerShdw blurRad="38100" dist="38100" dir="2700000" algn="tl">
                    <a:srgbClr val="000000"/>
                  </a:outerShdw>
                </a:effectLst>
              </a:rPr>
              <a:t> </a:t>
            </a:r>
          </a:p>
        </p:txBody>
      </p:sp>
      <p:sp>
        <p:nvSpPr>
          <p:cNvPr id="83971" name="Rectangle 3"/>
          <p:cNvSpPr>
            <a:spLocks noGrp="1" noRot="1" noChangeArrowheads="1"/>
          </p:cNvSpPr>
          <p:nvPr>
            <p:ph type="body" idx="4294967295"/>
          </p:nvPr>
        </p:nvSpPr>
        <p:spPr>
          <a:xfrm>
            <a:off x="0" y="1500188"/>
            <a:ext cx="8077200" cy="4498975"/>
          </a:xfrm>
        </p:spPr>
        <p:txBody>
          <a:bodyPr>
            <a:normAutofit lnSpcReduction="10000"/>
          </a:bodyPr>
          <a:lstStyle/>
          <a:p>
            <a:pPr eaLnBrk="1" hangingPunct="1">
              <a:lnSpc>
                <a:spcPct val="120000"/>
              </a:lnSpc>
            </a:pPr>
            <a:r>
              <a:rPr lang="zh-CN" altLang="en-US" b="1" dirty="0" smtClean="0"/>
              <a:t>在为文件分配外存空间时所要考虑的主要问题是：</a:t>
            </a:r>
            <a:endParaRPr lang="en-US" b="1" dirty="0" smtClean="0"/>
          </a:p>
          <a:p>
            <a:pPr lvl="1" eaLnBrk="1" hangingPunct="1">
              <a:lnSpc>
                <a:spcPct val="120000"/>
              </a:lnSpc>
            </a:pPr>
            <a:r>
              <a:rPr lang="zh-CN" altLang="en-US" b="1" dirty="0" smtClean="0"/>
              <a:t>怎样才能有效地利用外存空间和如何提高对文件的访问速度。</a:t>
            </a:r>
          </a:p>
          <a:p>
            <a:pPr eaLnBrk="1" hangingPunct="1">
              <a:lnSpc>
                <a:spcPct val="120000"/>
              </a:lnSpc>
            </a:pPr>
            <a:r>
              <a:rPr lang="zh-CN" altLang="en-US" b="1" dirty="0" smtClean="0"/>
              <a:t>目前，常用的外存分配方法有</a:t>
            </a:r>
            <a:r>
              <a:rPr lang="en-US" altLang="zh-CN" b="1" dirty="0" smtClean="0"/>
              <a:t>:</a:t>
            </a:r>
          </a:p>
          <a:p>
            <a:pPr lvl="1" eaLnBrk="1" hangingPunct="1">
              <a:lnSpc>
                <a:spcPct val="120000"/>
              </a:lnSpc>
            </a:pPr>
            <a:r>
              <a:rPr lang="zh-CN" altLang="en-US" b="1" dirty="0" smtClean="0"/>
              <a:t>连续分配</a:t>
            </a:r>
          </a:p>
          <a:p>
            <a:pPr lvl="1" eaLnBrk="1" hangingPunct="1">
              <a:lnSpc>
                <a:spcPct val="120000"/>
              </a:lnSpc>
            </a:pPr>
            <a:r>
              <a:rPr lang="zh-CN" altLang="en-US" b="1" dirty="0" smtClean="0"/>
              <a:t>链接分配</a:t>
            </a:r>
          </a:p>
          <a:p>
            <a:pPr lvl="1" eaLnBrk="1" hangingPunct="1">
              <a:lnSpc>
                <a:spcPct val="120000"/>
              </a:lnSpc>
            </a:pPr>
            <a:r>
              <a:rPr lang="zh-CN" altLang="en-US" b="1" dirty="0" smtClean="0"/>
              <a:t>索引分配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1922"/>
                                        </p:tgtEl>
                                        <p:attrNameLst>
                                          <p:attrName>style.visibility</p:attrName>
                                        </p:attrNameLst>
                                      </p:cBhvr>
                                      <p:to>
                                        <p:strVal val="visible"/>
                                      </p:to>
                                    </p:set>
                                    <p:animEffect transition="in" filter="fade">
                                      <p:cBhvr>
                                        <p:cTn id="7" dur="2000"/>
                                        <p:tgtEl>
                                          <p:spTgt spid="819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3971">
                                            <p:txEl>
                                              <p:pRg st="0" end="0"/>
                                            </p:txEl>
                                          </p:spTgt>
                                        </p:tgtEl>
                                        <p:attrNameLst>
                                          <p:attrName>style.visibility</p:attrName>
                                        </p:attrNameLst>
                                      </p:cBhvr>
                                      <p:to>
                                        <p:strVal val="visible"/>
                                      </p:to>
                                    </p:set>
                                    <p:animEffect transition="in" filter="fade">
                                      <p:cBhvr>
                                        <p:cTn id="12" dur="2000"/>
                                        <p:tgtEl>
                                          <p:spTgt spid="83971">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3971">
                                            <p:txEl>
                                              <p:pRg st="1" end="1"/>
                                            </p:txEl>
                                          </p:spTgt>
                                        </p:tgtEl>
                                        <p:attrNameLst>
                                          <p:attrName>style.visibility</p:attrName>
                                        </p:attrNameLst>
                                      </p:cBhvr>
                                      <p:to>
                                        <p:strVal val="visible"/>
                                      </p:to>
                                    </p:set>
                                    <p:animEffect transition="in" filter="fade">
                                      <p:cBhvr>
                                        <p:cTn id="15" dur="2000"/>
                                        <p:tgtEl>
                                          <p:spTgt spid="8397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3971">
                                            <p:txEl>
                                              <p:pRg st="2" end="2"/>
                                            </p:txEl>
                                          </p:spTgt>
                                        </p:tgtEl>
                                        <p:attrNameLst>
                                          <p:attrName>style.visibility</p:attrName>
                                        </p:attrNameLst>
                                      </p:cBhvr>
                                      <p:to>
                                        <p:strVal val="visible"/>
                                      </p:to>
                                    </p:set>
                                    <p:animEffect transition="in" filter="fade">
                                      <p:cBhvr>
                                        <p:cTn id="20" dur="2000"/>
                                        <p:tgtEl>
                                          <p:spTgt spid="83971">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3971">
                                            <p:txEl>
                                              <p:pRg st="3" end="3"/>
                                            </p:txEl>
                                          </p:spTgt>
                                        </p:tgtEl>
                                        <p:attrNameLst>
                                          <p:attrName>style.visibility</p:attrName>
                                        </p:attrNameLst>
                                      </p:cBhvr>
                                      <p:to>
                                        <p:strVal val="visible"/>
                                      </p:to>
                                    </p:set>
                                    <p:animEffect transition="in" filter="fade">
                                      <p:cBhvr>
                                        <p:cTn id="23" dur="2000"/>
                                        <p:tgtEl>
                                          <p:spTgt spid="83971">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3971">
                                            <p:txEl>
                                              <p:pRg st="4" end="4"/>
                                            </p:txEl>
                                          </p:spTgt>
                                        </p:tgtEl>
                                        <p:attrNameLst>
                                          <p:attrName>style.visibility</p:attrName>
                                        </p:attrNameLst>
                                      </p:cBhvr>
                                      <p:to>
                                        <p:strVal val="visible"/>
                                      </p:to>
                                    </p:set>
                                    <p:animEffect transition="in" filter="fade">
                                      <p:cBhvr>
                                        <p:cTn id="26" dur="2000"/>
                                        <p:tgtEl>
                                          <p:spTgt spid="83971">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3971">
                                            <p:txEl>
                                              <p:pRg st="5" end="5"/>
                                            </p:txEl>
                                          </p:spTgt>
                                        </p:tgtEl>
                                        <p:attrNameLst>
                                          <p:attrName>style.visibility</p:attrName>
                                        </p:attrNameLst>
                                      </p:cBhvr>
                                      <p:to>
                                        <p:strVal val="visible"/>
                                      </p:to>
                                    </p:set>
                                    <p:animEffect transition="in" filter="fade">
                                      <p:cBhvr>
                                        <p:cTn id="29" dur="2000"/>
                                        <p:tgtEl>
                                          <p:spTgt spid="839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utoUpdateAnimBg="0"/>
      <p:bldP spid="8397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p:cNvSpPr>
            <a:spLocks noGrp="1" noRot="1" noChangeArrowheads="1"/>
          </p:cNvSpPr>
          <p:nvPr>
            <p:ph type="title" idx="4294967295"/>
          </p:nvPr>
        </p:nvSpPr>
        <p:spPr>
          <a:xfrm>
            <a:off x="0" y="285750"/>
            <a:ext cx="8077200" cy="1066800"/>
          </a:xfrm>
        </p:spPr>
        <p:txBody>
          <a:bodyPr/>
          <a:lstStyle/>
          <a:p>
            <a:pPr eaLnBrk="1" hangingPunct="1">
              <a:defRPr/>
            </a:pPr>
            <a:r>
              <a:rPr lang="en-US" altLang="zh-CN" b="1" u="sng" dirty="0" smtClean="0">
                <a:solidFill>
                  <a:srgbClr val="FF0000"/>
                </a:solidFill>
                <a:effectLst>
                  <a:outerShdw blurRad="38100" dist="38100" dir="2700000" algn="tl">
                    <a:srgbClr val="000000"/>
                  </a:outerShdw>
                </a:effectLst>
                <a:ea typeface="仿宋_GB2312" pitchFamily="1" charset="-122"/>
              </a:rPr>
              <a:t>8.1</a:t>
            </a:r>
            <a:r>
              <a:rPr lang="en-US" b="1" u="sng" dirty="0" smtClean="0">
                <a:solidFill>
                  <a:srgbClr val="FF0000"/>
                </a:solidFill>
                <a:effectLst>
                  <a:outerShdw blurRad="38100" dist="38100" dir="2700000" algn="tl">
                    <a:srgbClr val="000000"/>
                  </a:outerShdw>
                </a:effectLst>
                <a:ea typeface="仿宋_GB2312" pitchFamily="1" charset="-122"/>
              </a:rPr>
              <a:t>.1.</a:t>
            </a:r>
            <a:r>
              <a:rPr lang="zh-CN" altLang="en-US" b="1" u="sng" dirty="0" smtClean="0">
                <a:solidFill>
                  <a:srgbClr val="FF0000"/>
                </a:solidFill>
                <a:effectLst>
                  <a:outerShdw blurRad="38100" dist="38100" dir="2700000" algn="tl">
                    <a:srgbClr val="000000"/>
                  </a:outerShdw>
                </a:effectLst>
                <a:ea typeface="仿宋_GB2312" pitchFamily="1" charset="-122"/>
              </a:rPr>
              <a:t>连续分配</a:t>
            </a:r>
            <a:r>
              <a:rPr lang="zh-CN" altLang="en-US" dirty="0" smtClean="0">
                <a:solidFill>
                  <a:srgbClr val="FF0000"/>
                </a:solidFill>
                <a:effectLst>
                  <a:outerShdw blurRad="38100" dist="38100" dir="2700000" algn="tl">
                    <a:srgbClr val="000000"/>
                  </a:outerShdw>
                </a:effectLst>
              </a:rPr>
              <a:t> </a:t>
            </a:r>
          </a:p>
        </p:txBody>
      </p:sp>
      <p:sp>
        <p:nvSpPr>
          <p:cNvPr id="82947" name="Rectangle 3"/>
          <p:cNvSpPr>
            <a:spLocks noGrp="1" noRot="1" noChangeArrowheads="1"/>
          </p:cNvSpPr>
          <p:nvPr>
            <p:ph type="body" idx="4294967295"/>
          </p:nvPr>
        </p:nvSpPr>
        <p:spPr>
          <a:xfrm>
            <a:off x="0" y="1484313"/>
            <a:ext cx="8077200" cy="5113337"/>
          </a:xfrm>
        </p:spPr>
        <p:txBody>
          <a:bodyPr/>
          <a:lstStyle/>
          <a:p>
            <a:pPr eaLnBrk="1" hangingPunct="1">
              <a:lnSpc>
                <a:spcPct val="110000"/>
              </a:lnSpc>
              <a:defRPr/>
            </a:pPr>
            <a:r>
              <a:rPr lang="zh-CN" altLang="en-US" sz="2800" b="1" dirty="0" smtClean="0"/>
              <a:t>连续分配</a:t>
            </a:r>
            <a:r>
              <a:rPr lang="en-US" altLang="en-US" sz="2800" b="1" dirty="0" smtClean="0"/>
              <a:t>(Continuous Allocation)</a:t>
            </a:r>
            <a:r>
              <a:rPr lang="zh-CN" altLang="en-US" sz="2800" b="1" dirty="0" smtClean="0"/>
              <a:t>要求为</a:t>
            </a:r>
            <a:r>
              <a:rPr lang="zh-CN" altLang="en-US" sz="2800" b="1" dirty="0" smtClean="0">
                <a:solidFill>
                  <a:srgbClr val="FF0000"/>
                </a:solidFill>
              </a:rPr>
              <a:t>每一个文件分配一组相邻接的盘块</a:t>
            </a:r>
            <a:r>
              <a:rPr lang="zh-CN" altLang="en-US" sz="2800" b="1" dirty="0" smtClean="0"/>
              <a:t>。一组盘块的地址定义了磁盘上的一段线性地址。</a:t>
            </a:r>
          </a:p>
          <a:p>
            <a:pPr algn="just" eaLnBrk="1" hangingPunct="1">
              <a:lnSpc>
                <a:spcPct val="110000"/>
              </a:lnSpc>
              <a:defRPr/>
            </a:pPr>
            <a:endParaRPr lang="zh-CN" altLang="en-US" sz="2800" b="1" dirty="0" smtClean="0">
              <a:effectLst>
                <a:outerShdw blurRad="38100" dist="38100" dir="2700000" algn="tl">
                  <a:srgbClr val="000000"/>
                </a:outerShdw>
              </a:effectLst>
              <a:ea typeface="仿宋_GB2312" pitchFamily="1" charset="-122"/>
            </a:endParaRPr>
          </a:p>
          <a:p>
            <a:pPr algn="just" eaLnBrk="1" hangingPunct="1">
              <a:lnSpc>
                <a:spcPct val="110000"/>
              </a:lnSpc>
              <a:defRPr/>
            </a:pPr>
            <a:r>
              <a:rPr lang="zh-CN" altLang="en-US" sz="2800" b="1" dirty="0" smtClean="0"/>
              <a:t>把逻辑文件中的数据顺序地存储到物理上邻接的各个数据块中，这样形成的物理文件可以进行顺序存取。</a:t>
            </a:r>
          </a:p>
          <a:p>
            <a:pPr algn="just" eaLnBrk="1" hangingPunct="1">
              <a:lnSpc>
                <a:spcPct val="110000"/>
              </a:lnSpc>
              <a:defRPr/>
            </a:pPr>
            <a:endParaRPr lang="zh-CN" altLang="en-US" sz="2800" b="1" dirty="0" smtClean="0">
              <a:effectLst>
                <a:outerShdw blurRad="38100" dist="38100" dir="2700000" algn="tl">
                  <a:srgbClr val="000000"/>
                </a:outerShdw>
              </a:effectLst>
              <a:ea typeface="仿宋_GB2312" pitchFamily="1" charset="-122"/>
            </a:endParaRPr>
          </a:p>
          <a:p>
            <a:pPr algn="just">
              <a:lnSpc>
                <a:spcPct val="110000"/>
              </a:lnSpc>
              <a:defRPr/>
            </a:pPr>
            <a:r>
              <a:rPr lang="zh-CN" altLang="en-US" sz="2800" b="1" dirty="0" smtClean="0"/>
              <a:t>优点：简单、容易实现。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fade">
                                      <p:cBhvr>
                                        <p:cTn id="7" dur="2000"/>
                                        <p:tgtEl>
                                          <p:spTgt spid="829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2947">
                                            <p:txEl>
                                              <p:pRg st="0" end="0"/>
                                            </p:txEl>
                                          </p:spTgt>
                                        </p:tgtEl>
                                        <p:attrNameLst>
                                          <p:attrName>style.visibility</p:attrName>
                                        </p:attrNameLst>
                                      </p:cBhvr>
                                      <p:to>
                                        <p:strVal val="visible"/>
                                      </p:to>
                                    </p:set>
                                    <p:animEffect transition="in" filter="fade">
                                      <p:cBhvr>
                                        <p:cTn id="12" dur="2000"/>
                                        <p:tgtEl>
                                          <p:spTgt spid="829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2947">
                                            <p:txEl>
                                              <p:pRg st="2" end="2"/>
                                            </p:txEl>
                                          </p:spTgt>
                                        </p:tgtEl>
                                        <p:attrNameLst>
                                          <p:attrName>style.visibility</p:attrName>
                                        </p:attrNameLst>
                                      </p:cBhvr>
                                      <p:to>
                                        <p:strVal val="visible"/>
                                      </p:to>
                                    </p:set>
                                    <p:animEffect transition="in" filter="fade">
                                      <p:cBhvr>
                                        <p:cTn id="17" dur="2000"/>
                                        <p:tgtEl>
                                          <p:spTgt spid="829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2947">
                                            <p:txEl>
                                              <p:pRg st="4" end="4"/>
                                            </p:txEl>
                                          </p:spTgt>
                                        </p:tgtEl>
                                        <p:attrNameLst>
                                          <p:attrName>style.visibility</p:attrName>
                                        </p:attrNameLst>
                                      </p:cBhvr>
                                      <p:to>
                                        <p:strVal val="visible"/>
                                      </p:to>
                                    </p:set>
                                    <p:animEffect transition="in" filter="fade">
                                      <p:cBhvr>
                                        <p:cTn id="22" dur="2000"/>
                                        <p:tgtEl>
                                          <p:spTgt spid="829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autoUpdateAnimBg="0"/>
      <p:bldP spid="8294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Rot="1" noChangeArrowheads="1"/>
          </p:cNvSpPr>
          <p:nvPr>
            <p:ph type="title" idx="4294967295"/>
          </p:nvPr>
        </p:nvSpPr>
        <p:spPr>
          <a:xfrm>
            <a:off x="0" y="274638"/>
            <a:ext cx="8229600" cy="1143000"/>
          </a:xfrm>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连续分配</a:t>
            </a:r>
            <a:r>
              <a:rPr lang="zh-CN" altLang="en-US" dirty="0" smtClean="0">
                <a:solidFill>
                  <a:schemeClr val="folHlink"/>
                </a:solidFill>
                <a:effectLst>
                  <a:outerShdw blurRad="38100" dist="38100" dir="2700000" algn="tl">
                    <a:srgbClr val="000000"/>
                  </a:outerShdw>
                </a:effectLst>
              </a:rPr>
              <a:t> </a:t>
            </a:r>
          </a:p>
        </p:txBody>
      </p:sp>
      <p:sp>
        <p:nvSpPr>
          <p:cNvPr id="83971" name="Rectangle 3"/>
          <p:cNvSpPr>
            <a:spLocks noGrp="1" noRot="1" noChangeArrowheads="1"/>
          </p:cNvSpPr>
          <p:nvPr>
            <p:ph type="body" idx="4294967295"/>
          </p:nvPr>
        </p:nvSpPr>
        <p:spPr>
          <a:xfrm>
            <a:off x="0" y="1600200"/>
            <a:ext cx="8229600" cy="4525963"/>
          </a:xfrm>
        </p:spPr>
        <p:txBody>
          <a:bodyPr>
            <a:normAutofit/>
          </a:bodyPr>
          <a:lstStyle/>
          <a:p>
            <a:pPr algn="just" eaLnBrk="1" hangingPunct="1">
              <a:defRPr/>
            </a:pPr>
            <a:r>
              <a:rPr lang="zh-CN" altLang="en-US" sz="2800" b="1" dirty="0" smtClean="0"/>
              <a:t>文件分配表中为每个文件建立一个表项，其中记载文件的</a:t>
            </a:r>
            <a:r>
              <a:rPr lang="zh-CN" altLang="en-US" sz="2800" b="1" dirty="0" smtClean="0">
                <a:solidFill>
                  <a:srgbClr val="FF0000"/>
                </a:solidFill>
              </a:rPr>
              <a:t>第一个数据块地址及文件长度</a:t>
            </a:r>
            <a:r>
              <a:rPr lang="zh-CN" altLang="en-US" sz="2800" b="1" dirty="0" smtClean="0"/>
              <a:t>。</a:t>
            </a:r>
          </a:p>
          <a:p>
            <a:pPr algn="just" eaLnBrk="1" hangingPunct="1">
              <a:defRPr/>
            </a:pPr>
            <a:r>
              <a:rPr lang="zh-CN" altLang="en-US" sz="2800" b="1" dirty="0" smtClean="0"/>
              <a:t>对于顺序文件，连续读</a:t>
            </a:r>
            <a:r>
              <a:rPr lang="en-US" altLang="en-US" sz="2800" b="1" dirty="0" smtClean="0"/>
              <a:t>/</a:t>
            </a:r>
            <a:r>
              <a:rPr lang="zh-CN" altLang="en-US" sz="2800" b="1" dirty="0" smtClean="0"/>
              <a:t>写多个数据块内容时，性能较好。能很快检索文件中的一个数据块。</a:t>
            </a:r>
          </a:p>
          <a:p>
            <a:pPr algn="just" eaLnBrk="1" hangingPunct="1">
              <a:defRPr/>
            </a:pPr>
            <a:r>
              <a:rPr lang="zh-CN" altLang="en-US" sz="2800" b="1" dirty="0" smtClean="0"/>
              <a:t>例如，如果一个文件的第一个数据块的序号为</a:t>
            </a:r>
            <a:r>
              <a:rPr lang="en-US" altLang="en-US" sz="2800" b="1" dirty="0" smtClean="0"/>
              <a:t>x</a:t>
            </a:r>
            <a:r>
              <a:rPr lang="zh-CN" altLang="en-US" sz="2800" b="1" dirty="0" smtClean="0"/>
              <a:t>，需要检索文件的第</a:t>
            </a:r>
            <a:r>
              <a:rPr lang="en-US" altLang="en-US" sz="2800" b="1" dirty="0" smtClean="0"/>
              <a:t>y</a:t>
            </a:r>
            <a:r>
              <a:rPr lang="zh-CN" altLang="en-US" sz="2800" b="1" dirty="0" smtClean="0"/>
              <a:t>块，则该数据块在外存中的位置为</a:t>
            </a:r>
            <a:r>
              <a:rPr lang="en-US" altLang="en-US" sz="2800" b="1" dirty="0" smtClean="0"/>
              <a:t>x+y-1</a:t>
            </a:r>
            <a:r>
              <a:rPr lang="zh-CN" altLang="en-US" sz="2800" b="1"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fade">
                                      <p:cBhvr>
                                        <p:cTn id="7" dur="2000"/>
                                        <p:tgtEl>
                                          <p:spTgt spid="839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3971">
                                            <p:txEl>
                                              <p:pRg st="0" end="0"/>
                                            </p:txEl>
                                          </p:spTgt>
                                        </p:tgtEl>
                                        <p:attrNameLst>
                                          <p:attrName>style.visibility</p:attrName>
                                        </p:attrNameLst>
                                      </p:cBhvr>
                                      <p:to>
                                        <p:strVal val="visible"/>
                                      </p:to>
                                    </p:set>
                                    <p:animEffect transition="in" filter="fade">
                                      <p:cBhvr>
                                        <p:cTn id="12" dur="2000"/>
                                        <p:tgtEl>
                                          <p:spTgt spid="839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3971">
                                            <p:txEl>
                                              <p:pRg st="1" end="1"/>
                                            </p:txEl>
                                          </p:spTgt>
                                        </p:tgtEl>
                                        <p:attrNameLst>
                                          <p:attrName>style.visibility</p:attrName>
                                        </p:attrNameLst>
                                      </p:cBhvr>
                                      <p:to>
                                        <p:strVal val="visible"/>
                                      </p:to>
                                    </p:set>
                                    <p:animEffect transition="in" filter="fade">
                                      <p:cBhvr>
                                        <p:cTn id="17" dur="2000"/>
                                        <p:tgtEl>
                                          <p:spTgt spid="839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3971">
                                            <p:txEl>
                                              <p:pRg st="2" end="2"/>
                                            </p:txEl>
                                          </p:spTgt>
                                        </p:tgtEl>
                                        <p:attrNameLst>
                                          <p:attrName>style.visibility</p:attrName>
                                        </p:attrNameLst>
                                      </p:cBhvr>
                                      <p:to>
                                        <p:strVal val="visible"/>
                                      </p:to>
                                    </p:set>
                                    <p:animEffect transition="in" filter="fade">
                                      <p:cBhvr>
                                        <p:cTn id="22" dur="2000"/>
                                        <p:tgtEl>
                                          <p:spTgt spid="839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autoUpdateAnimBg="0"/>
      <p:bldP spid="8397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73"/>
          <p:cNvSpPr>
            <a:spLocks noChangeArrowheads="1"/>
          </p:cNvSpPr>
          <p:nvPr/>
        </p:nvSpPr>
        <p:spPr bwMode="auto">
          <a:xfrm>
            <a:off x="179388" y="260350"/>
            <a:ext cx="8569325" cy="6264275"/>
          </a:xfrm>
          <a:prstGeom prst="rect">
            <a:avLst/>
          </a:prstGeom>
          <a:solidFill>
            <a:schemeClr val="bg2">
              <a:lumMod val="90000"/>
            </a:schemeClr>
          </a:solidFill>
          <a:ln w="9525">
            <a:solidFill>
              <a:schemeClr val="tx1"/>
            </a:solidFill>
            <a:miter lim="800000"/>
            <a:headEnd/>
            <a:tailEnd/>
          </a:ln>
        </p:spPr>
        <p:txBody>
          <a:bodyPr wrap="none" anchor="ctr"/>
          <a:lstStyle/>
          <a:p>
            <a:endParaRPr lang="zh-CN" altLang="en-US"/>
          </a:p>
        </p:txBody>
      </p:sp>
      <p:grpSp>
        <p:nvGrpSpPr>
          <p:cNvPr id="2" name="Group 174"/>
          <p:cNvGrpSpPr>
            <a:grpSpLocks/>
          </p:cNvGrpSpPr>
          <p:nvPr/>
        </p:nvGrpSpPr>
        <p:grpSpPr bwMode="auto">
          <a:xfrm>
            <a:off x="1042988" y="620713"/>
            <a:ext cx="6553200" cy="5334000"/>
            <a:chOff x="0" y="0"/>
            <a:chExt cx="7020" cy="4248"/>
          </a:xfrm>
        </p:grpSpPr>
        <p:grpSp>
          <p:nvGrpSpPr>
            <p:cNvPr id="3" name="Group 175"/>
            <p:cNvGrpSpPr>
              <a:grpSpLocks/>
            </p:cNvGrpSpPr>
            <p:nvPr/>
          </p:nvGrpSpPr>
          <p:grpSpPr bwMode="auto">
            <a:xfrm>
              <a:off x="0" y="0"/>
              <a:ext cx="3600" cy="3744"/>
              <a:chOff x="0" y="0"/>
              <a:chExt cx="3600" cy="3744"/>
            </a:xfrm>
          </p:grpSpPr>
          <p:sp>
            <p:nvSpPr>
              <p:cNvPr id="87072" name="Text Box 176"/>
              <p:cNvSpPr txBox="1">
                <a:spLocks noChangeArrowheads="1"/>
              </p:cNvSpPr>
              <p:nvPr/>
            </p:nvSpPr>
            <p:spPr bwMode="auto">
              <a:xfrm>
                <a:off x="720" y="1251"/>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7</a:t>
                </a:r>
              </a:p>
            </p:txBody>
          </p:sp>
          <p:sp>
            <p:nvSpPr>
              <p:cNvPr id="87073" name="Text Box 177"/>
              <p:cNvSpPr txBox="1">
                <a:spLocks noChangeArrowheads="1"/>
              </p:cNvSpPr>
              <p:nvPr/>
            </p:nvSpPr>
            <p:spPr bwMode="auto">
              <a:xfrm>
                <a:off x="1260" y="1251"/>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8</a:t>
                </a:r>
              </a:p>
            </p:txBody>
          </p:sp>
          <p:sp>
            <p:nvSpPr>
              <p:cNvPr id="87074" name="Text Box 178"/>
              <p:cNvSpPr txBox="1">
                <a:spLocks noChangeArrowheads="1"/>
              </p:cNvSpPr>
              <p:nvPr/>
            </p:nvSpPr>
            <p:spPr bwMode="auto">
              <a:xfrm>
                <a:off x="1800" y="1251"/>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9</a:t>
                </a:r>
              </a:p>
            </p:txBody>
          </p:sp>
          <p:sp>
            <p:nvSpPr>
              <p:cNvPr id="87075" name="Text Box 179"/>
              <p:cNvSpPr txBox="1">
                <a:spLocks noChangeArrowheads="1"/>
              </p:cNvSpPr>
              <p:nvPr/>
            </p:nvSpPr>
            <p:spPr bwMode="auto">
              <a:xfrm>
                <a:off x="2340" y="1248"/>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10</a:t>
                </a:r>
              </a:p>
            </p:txBody>
          </p:sp>
          <p:sp>
            <p:nvSpPr>
              <p:cNvPr id="87076" name="Text Box 180"/>
              <p:cNvSpPr txBox="1">
                <a:spLocks noChangeArrowheads="1"/>
              </p:cNvSpPr>
              <p:nvPr/>
            </p:nvSpPr>
            <p:spPr bwMode="auto">
              <a:xfrm>
                <a:off x="2880" y="1248"/>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11</a:t>
                </a:r>
              </a:p>
            </p:txBody>
          </p:sp>
          <p:grpSp>
            <p:nvGrpSpPr>
              <p:cNvPr id="4" name="Group 181"/>
              <p:cNvGrpSpPr>
                <a:grpSpLocks/>
              </p:cNvGrpSpPr>
              <p:nvPr/>
            </p:nvGrpSpPr>
            <p:grpSpPr bwMode="auto">
              <a:xfrm>
                <a:off x="0" y="0"/>
                <a:ext cx="3600" cy="3744"/>
                <a:chOff x="0" y="0"/>
                <a:chExt cx="3600" cy="3744"/>
              </a:xfrm>
            </p:grpSpPr>
            <p:sp>
              <p:nvSpPr>
                <p:cNvPr id="87078" name="Oval 182"/>
                <p:cNvSpPr>
                  <a:spLocks noChangeArrowheads="1"/>
                </p:cNvSpPr>
                <p:nvPr/>
              </p:nvSpPr>
              <p:spPr bwMode="auto">
                <a:xfrm>
                  <a:off x="0" y="0"/>
                  <a:ext cx="3600" cy="624"/>
                </a:xfrm>
                <a:prstGeom prst="ellipse">
                  <a:avLst/>
                </a:prstGeom>
                <a:solidFill>
                  <a:srgbClr val="C0C0C0">
                    <a:alpha val="50195"/>
                  </a:srgbClr>
                </a:solidFill>
                <a:ln w="9525">
                  <a:solidFill>
                    <a:srgbClr val="000000"/>
                  </a:solidFill>
                  <a:round/>
                  <a:headEnd/>
                  <a:tailEnd/>
                </a:ln>
              </p:spPr>
              <p:txBody>
                <a:bodyPr/>
                <a:lstStyle/>
                <a:p>
                  <a:endParaRPr lang="zh-CN" altLang="en-US"/>
                </a:p>
              </p:txBody>
            </p:sp>
            <p:sp>
              <p:nvSpPr>
                <p:cNvPr id="87079" name="Line 183"/>
                <p:cNvSpPr>
                  <a:spLocks noChangeShapeType="1"/>
                </p:cNvSpPr>
                <p:nvPr/>
              </p:nvSpPr>
              <p:spPr bwMode="auto">
                <a:xfrm>
                  <a:off x="0" y="312"/>
                  <a:ext cx="0" cy="3120"/>
                </a:xfrm>
                <a:prstGeom prst="line">
                  <a:avLst/>
                </a:prstGeom>
                <a:noFill/>
                <a:ln w="9525">
                  <a:solidFill>
                    <a:srgbClr val="000000"/>
                  </a:solidFill>
                  <a:round/>
                  <a:headEnd/>
                  <a:tailEnd/>
                </a:ln>
              </p:spPr>
              <p:txBody>
                <a:bodyPr/>
                <a:lstStyle/>
                <a:p>
                  <a:endParaRPr lang="zh-CN" altLang="en-US"/>
                </a:p>
              </p:txBody>
            </p:sp>
            <p:sp>
              <p:nvSpPr>
                <p:cNvPr id="87080" name="Line 184"/>
                <p:cNvSpPr>
                  <a:spLocks noChangeShapeType="1"/>
                </p:cNvSpPr>
                <p:nvPr/>
              </p:nvSpPr>
              <p:spPr bwMode="auto">
                <a:xfrm>
                  <a:off x="3600" y="312"/>
                  <a:ext cx="0" cy="3120"/>
                </a:xfrm>
                <a:prstGeom prst="line">
                  <a:avLst/>
                </a:prstGeom>
                <a:noFill/>
                <a:ln w="9525">
                  <a:solidFill>
                    <a:srgbClr val="000000"/>
                  </a:solidFill>
                  <a:round/>
                  <a:headEnd/>
                  <a:tailEnd/>
                </a:ln>
              </p:spPr>
              <p:txBody>
                <a:bodyPr/>
                <a:lstStyle/>
                <a:p>
                  <a:endParaRPr lang="zh-CN" altLang="en-US"/>
                </a:p>
              </p:txBody>
            </p:sp>
            <p:sp>
              <p:nvSpPr>
                <p:cNvPr id="87081" name="Freeform 185"/>
                <p:cNvSpPr>
                  <a:spLocks/>
                </p:cNvSpPr>
                <p:nvPr/>
              </p:nvSpPr>
              <p:spPr bwMode="auto">
                <a:xfrm>
                  <a:off x="0" y="3432"/>
                  <a:ext cx="3600" cy="312"/>
                </a:xfrm>
                <a:custGeom>
                  <a:avLst/>
                  <a:gdLst>
                    <a:gd name="T0" fmla="*/ 0 w 3420"/>
                    <a:gd name="T1" fmla="*/ 0 h 156"/>
                    <a:gd name="T2" fmla="*/ 1705 w 3420"/>
                    <a:gd name="T3" fmla="*/ 312 h 156"/>
                    <a:gd name="T4" fmla="*/ 3600 w 3420"/>
                    <a:gd name="T5" fmla="*/ 0 h 156"/>
                    <a:gd name="T6" fmla="*/ 0 60000 65536"/>
                    <a:gd name="T7" fmla="*/ 0 60000 65536"/>
                    <a:gd name="T8" fmla="*/ 0 60000 65536"/>
                    <a:gd name="T9" fmla="*/ 0 w 3420"/>
                    <a:gd name="T10" fmla="*/ 0 h 156"/>
                    <a:gd name="T11" fmla="*/ 3420 w 3420"/>
                    <a:gd name="T12" fmla="*/ 156 h 156"/>
                  </a:gdLst>
                  <a:ahLst/>
                  <a:cxnLst>
                    <a:cxn ang="T6">
                      <a:pos x="T0" y="T1"/>
                    </a:cxn>
                    <a:cxn ang="T7">
                      <a:pos x="T2" y="T3"/>
                    </a:cxn>
                    <a:cxn ang="T8">
                      <a:pos x="T4" y="T5"/>
                    </a:cxn>
                  </a:cxnLst>
                  <a:rect l="T9" t="T10" r="T11" b="T12"/>
                  <a:pathLst>
                    <a:path w="3420" h="156">
                      <a:moveTo>
                        <a:pt x="0" y="0"/>
                      </a:moveTo>
                      <a:cubicBezTo>
                        <a:pt x="525" y="78"/>
                        <a:pt x="1050" y="156"/>
                        <a:pt x="1620" y="156"/>
                      </a:cubicBezTo>
                      <a:cubicBezTo>
                        <a:pt x="2190" y="156"/>
                        <a:pt x="2805" y="78"/>
                        <a:pt x="3420" y="0"/>
                      </a:cubicBezTo>
                    </a:path>
                  </a:pathLst>
                </a:custGeom>
                <a:noFill/>
                <a:ln w="12700" cmpd="sng">
                  <a:solidFill>
                    <a:srgbClr val="000000"/>
                  </a:solidFill>
                  <a:miter lim="800000"/>
                  <a:headEnd/>
                  <a:tailEnd/>
                </a:ln>
              </p:spPr>
              <p:txBody>
                <a:bodyPr/>
                <a:lstStyle/>
                <a:p>
                  <a:endParaRPr lang="zh-CN" altLang="en-US"/>
                </a:p>
              </p:txBody>
            </p:sp>
            <p:grpSp>
              <p:nvGrpSpPr>
                <p:cNvPr id="5" name="Group 186"/>
                <p:cNvGrpSpPr>
                  <a:grpSpLocks/>
                </p:cNvGrpSpPr>
                <p:nvPr/>
              </p:nvGrpSpPr>
              <p:grpSpPr bwMode="auto">
                <a:xfrm>
                  <a:off x="360" y="2808"/>
                  <a:ext cx="3060" cy="156"/>
                  <a:chOff x="0" y="0"/>
                  <a:chExt cx="3060" cy="156"/>
                </a:xfrm>
              </p:grpSpPr>
              <p:sp>
                <p:nvSpPr>
                  <p:cNvPr id="87208" name="Text Box 187"/>
                  <p:cNvSpPr txBox="1">
                    <a:spLocks noChangeArrowheads="1"/>
                  </p:cNvSpPr>
                  <p:nvPr/>
                </p:nvSpPr>
                <p:spPr bwMode="auto">
                  <a:xfrm>
                    <a:off x="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209" name="Text Box 188"/>
                  <p:cNvSpPr txBox="1">
                    <a:spLocks noChangeArrowheads="1"/>
                  </p:cNvSpPr>
                  <p:nvPr/>
                </p:nvSpPr>
                <p:spPr bwMode="auto">
                  <a:xfrm>
                    <a:off x="54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210" name="Text Box 189"/>
                  <p:cNvSpPr txBox="1">
                    <a:spLocks noChangeArrowheads="1"/>
                  </p:cNvSpPr>
                  <p:nvPr/>
                </p:nvSpPr>
                <p:spPr bwMode="auto">
                  <a:xfrm>
                    <a:off x="108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211" name="Text Box 190"/>
                  <p:cNvSpPr txBox="1">
                    <a:spLocks noChangeArrowheads="1"/>
                  </p:cNvSpPr>
                  <p:nvPr/>
                </p:nvSpPr>
                <p:spPr bwMode="auto">
                  <a:xfrm>
                    <a:off x="162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212" name="Text Box 191"/>
                  <p:cNvSpPr txBox="1">
                    <a:spLocks noChangeArrowheads="1"/>
                  </p:cNvSpPr>
                  <p:nvPr/>
                </p:nvSpPr>
                <p:spPr bwMode="auto">
                  <a:xfrm>
                    <a:off x="216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213" name="Text Box 192"/>
                  <p:cNvSpPr txBox="1">
                    <a:spLocks noChangeArrowheads="1"/>
                  </p:cNvSpPr>
                  <p:nvPr/>
                </p:nvSpPr>
                <p:spPr bwMode="auto">
                  <a:xfrm>
                    <a:off x="270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grpSp>
              <p:nvGrpSpPr>
                <p:cNvPr id="6" name="Group 193"/>
                <p:cNvGrpSpPr>
                  <a:grpSpLocks/>
                </p:cNvGrpSpPr>
                <p:nvPr/>
              </p:nvGrpSpPr>
              <p:grpSpPr bwMode="auto">
                <a:xfrm>
                  <a:off x="180" y="2652"/>
                  <a:ext cx="3060" cy="309"/>
                  <a:chOff x="0" y="0"/>
                  <a:chExt cx="3060" cy="309"/>
                </a:xfrm>
              </p:grpSpPr>
              <p:sp>
                <p:nvSpPr>
                  <p:cNvPr id="87202" name="Text Box 194"/>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24</a:t>
                    </a:r>
                  </a:p>
                </p:txBody>
              </p:sp>
              <p:sp>
                <p:nvSpPr>
                  <p:cNvPr id="87203" name="Text Box 195"/>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25</a:t>
                    </a:r>
                  </a:p>
                </p:txBody>
              </p:sp>
              <p:sp>
                <p:nvSpPr>
                  <p:cNvPr id="87204" name="Text Box 196"/>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26</a:t>
                    </a:r>
                  </a:p>
                </p:txBody>
              </p:sp>
              <p:sp>
                <p:nvSpPr>
                  <p:cNvPr id="87205" name="Text Box 197"/>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27</a:t>
                    </a:r>
                  </a:p>
                </p:txBody>
              </p:sp>
              <p:sp>
                <p:nvSpPr>
                  <p:cNvPr id="87206" name="Text Box 198"/>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28</a:t>
                    </a:r>
                  </a:p>
                </p:txBody>
              </p:sp>
              <p:sp>
                <p:nvSpPr>
                  <p:cNvPr id="87207" name="Text Box 199"/>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29</a:t>
                    </a:r>
                  </a:p>
                </p:txBody>
              </p:sp>
            </p:grpSp>
            <p:grpSp>
              <p:nvGrpSpPr>
                <p:cNvPr id="7" name="Group 200"/>
                <p:cNvGrpSpPr>
                  <a:grpSpLocks/>
                </p:cNvGrpSpPr>
                <p:nvPr/>
              </p:nvGrpSpPr>
              <p:grpSpPr bwMode="auto">
                <a:xfrm>
                  <a:off x="180" y="627"/>
                  <a:ext cx="3240" cy="465"/>
                  <a:chOff x="0" y="0"/>
                  <a:chExt cx="3240" cy="465"/>
                </a:xfrm>
              </p:grpSpPr>
              <p:grpSp>
                <p:nvGrpSpPr>
                  <p:cNvPr id="8" name="Group 201"/>
                  <p:cNvGrpSpPr>
                    <a:grpSpLocks/>
                  </p:cNvGrpSpPr>
                  <p:nvPr/>
                </p:nvGrpSpPr>
                <p:grpSpPr bwMode="auto">
                  <a:xfrm>
                    <a:off x="0" y="153"/>
                    <a:ext cx="2880" cy="309"/>
                    <a:chOff x="0" y="0"/>
                    <a:chExt cx="2880" cy="309"/>
                  </a:xfrm>
                </p:grpSpPr>
                <p:sp>
                  <p:nvSpPr>
                    <p:cNvPr id="87196" name="Text Box 202"/>
                    <p:cNvSpPr txBox="1">
                      <a:spLocks noChangeArrowheads="1"/>
                    </p:cNvSpPr>
                    <p:nvPr/>
                  </p:nvSpPr>
                  <p:spPr bwMode="auto">
                    <a:xfrm>
                      <a:off x="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0</a:t>
                      </a:r>
                    </a:p>
                  </p:txBody>
                </p:sp>
                <p:sp>
                  <p:nvSpPr>
                    <p:cNvPr id="87197" name="Text Box 203"/>
                    <p:cNvSpPr txBox="1">
                      <a:spLocks noChangeArrowheads="1"/>
                    </p:cNvSpPr>
                    <p:nvPr/>
                  </p:nvSpPr>
                  <p:spPr bwMode="auto">
                    <a:xfrm>
                      <a:off x="54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a:t>
                      </a:r>
                    </a:p>
                  </p:txBody>
                </p:sp>
                <p:sp>
                  <p:nvSpPr>
                    <p:cNvPr id="87198" name="Text Box 204"/>
                    <p:cNvSpPr txBox="1">
                      <a:spLocks noChangeArrowheads="1"/>
                    </p:cNvSpPr>
                    <p:nvPr/>
                  </p:nvSpPr>
                  <p:spPr bwMode="auto">
                    <a:xfrm>
                      <a:off x="108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a:t>
                      </a:r>
                    </a:p>
                  </p:txBody>
                </p:sp>
                <p:sp>
                  <p:nvSpPr>
                    <p:cNvPr id="87199" name="Text Box 205"/>
                    <p:cNvSpPr txBox="1">
                      <a:spLocks noChangeArrowheads="1"/>
                    </p:cNvSpPr>
                    <p:nvPr/>
                  </p:nvSpPr>
                  <p:spPr bwMode="auto">
                    <a:xfrm>
                      <a:off x="162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a:t>
                      </a:r>
                    </a:p>
                  </p:txBody>
                </p:sp>
                <p:sp>
                  <p:nvSpPr>
                    <p:cNvPr id="87200" name="Text Box 206"/>
                    <p:cNvSpPr txBox="1">
                      <a:spLocks noChangeArrowheads="1"/>
                    </p:cNvSpPr>
                    <p:nvPr/>
                  </p:nvSpPr>
                  <p:spPr bwMode="auto">
                    <a:xfrm>
                      <a:off x="216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4</a:t>
                      </a:r>
                    </a:p>
                  </p:txBody>
                </p:sp>
                <p:sp>
                  <p:nvSpPr>
                    <p:cNvPr id="87201" name="Text Box 207"/>
                    <p:cNvSpPr txBox="1">
                      <a:spLocks noChangeArrowheads="1"/>
                    </p:cNvSpPr>
                    <p:nvPr/>
                  </p:nvSpPr>
                  <p:spPr bwMode="auto">
                    <a:xfrm>
                      <a:off x="270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5</a:t>
                      </a:r>
                    </a:p>
                  </p:txBody>
                </p:sp>
              </p:grpSp>
              <p:grpSp>
                <p:nvGrpSpPr>
                  <p:cNvPr id="9" name="Group 208"/>
                  <p:cNvGrpSpPr>
                    <a:grpSpLocks/>
                  </p:cNvGrpSpPr>
                  <p:nvPr/>
                </p:nvGrpSpPr>
                <p:grpSpPr bwMode="auto">
                  <a:xfrm>
                    <a:off x="180" y="309"/>
                    <a:ext cx="3060" cy="156"/>
                    <a:chOff x="0" y="0"/>
                    <a:chExt cx="3060" cy="156"/>
                  </a:xfrm>
                </p:grpSpPr>
                <p:sp>
                  <p:nvSpPr>
                    <p:cNvPr id="87190" name="Text Box 209"/>
                    <p:cNvSpPr txBox="1">
                      <a:spLocks noChangeArrowheads="1"/>
                    </p:cNvSpPr>
                    <p:nvPr/>
                  </p:nvSpPr>
                  <p:spPr bwMode="auto">
                    <a:xfrm>
                      <a:off x="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91" name="Text Box 210"/>
                    <p:cNvSpPr txBox="1">
                      <a:spLocks noChangeArrowheads="1"/>
                    </p:cNvSpPr>
                    <p:nvPr/>
                  </p:nvSpPr>
                  <p:spPr bwMode="auto">
                    <a:xfrm>
                      <a:off x="54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92" name="Text Box 211"/>
                    <p:cNvSpPr txBox="1">
                      <a:spLocks noChangeArrowheads="1"/>
                    </p:cNvSpPr>
                    <p:nvPr/>
                  </p:nvSpPr>
                  <p:spPr bwMode="auto">
                    <a:xfrm>
                      <a:off x="108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93" name="Text Box 212"/>
                    <p:cNvSpPr txBox="1">
                      <a:spLocks noChangeArrowheads="1"/>
                    </p:cNvSpPr>
                    <p:nvPr/>
                  </p:nvSpPr>
                  <p:spPr bwMode="auto">
                    <a:xfrm>
                      <a:off x="162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94" name="Text Box 213"/>
                    <p:cNvSpPr txBox="1">
                      <a:spLocks noChangeArrowheads="1"/>
                    </p:cNvSpPr>
                    <p:nvPr/>
                  </p:nvSpPr>
                  <p:spPr bwMode="auto">
                    <a:xfrm>
                      <a:off x="216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95" name="Text Box 214"/>
                    <p:cNvSpPr txBox="1">
                      <a:spLocks noChangeArrowheads="1"/>
                    </p:cNvSpPr>
                    <p:nvPr/>
                  </p:nvSpPr>
                  <p:spPr bwMode="auto">
                    <a:xfrm>
                      <a:off x="270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grpSp>
                <p:nvGrpSpPr>
                  <p:cNvPr id="10" name="Group 215"/>
                  <p:cNvGrpSpPr>
                    <a:grpSpLocks/>
                  </p:cNvGrpSpPr>
                  <p:nvPr/>
                </p:nvGrpSpPr>
                <p:grpSpPr bwMode="auto">
                  <a:xfrm>
                    <a:off x="720" y="309"/>
                    <a:ext cx="1980" cy="156"/>
                    <a:chOff x="0" y="0"/>
                    <a:chExt cx="1980" cy="156"/>
                  </a:xfrm>
                </p:grpSpPr>
                <p:sp>
                  <p:nvSpPr>
                    <p:cNvPr id="87182" name="Line 216"/>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87183" name="Line 217"/>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87184" name="Line 218"/>
                    <p:cNvSpPr>
                      <a:spLocks noChangeShapeType="1"/>
                    </p:cNvSpPr>
                    <p:nvPr/>
                  </p:nvSpPr>
                  <p:spPr bwMode="auto">
                    <a:xfrm flipH="1">
                      <a:off x="540" y="0"/>
                      <a:ext cx="180" cy="156"/>
                    </a:xfrm>
                    <a:prstGeom prst="line">
                      <a:avLst/>
                    </a:prstGeom>
                    <a:noFill/>
                    <a:ln w="9525">
                      <a:solidFill>
                        <a:srgbClr val="000000"/>
                      </a:solidFill>
                      <a:round/>
                      <a:headEnd/>
                      <a:tailEnd/>
                    </a:ln>
                  </p:spPr>
                  <p:txBody>
                    <a:bodyPr/>
                    <a:lstStyle/>
                    <a:p>
                      <a:endParaRPr lang="zh-CN" altLang="en-US"/>
                    </a:p>
                  </p:txBody>
                </p:sp>
                <p:sp>
                  <p:nvSpPr>
                    <p:cNvPr id="87185" name="Line 219"/>
                    <p:cNvSpPr>
                      <a:spLocks noChangeShapeType="1"/>
                    </p:cNvSpPr>
                    <p:nvPr/>
                  </p:nvSpPr>
                  <p:spPr bwMode="auto">
                    <a:xfrm flipH="1">
                      <a:off x="720" y="0"/>
                      <a:ext cx="180" cy="156"/>
                    </a:xfrm>
                    <a:prstGeom prst="line">
                      <a:avLst/>
                    </a:prstGeom>
                    <a:noFill/>
                    <a:ln w="9525">
                      <a:solidFill>
                        <a:srgbClr val="000000"/>
                      </a:solidFill>
                      <a:round/>
                      <a:headEnd/>
                      <a:tailEnd/>
                    </a:ln>
                  </p:spPr>
                  <p:txBody>
                    <a:bodyPr/>
                    <a:lstStyle/>
                    <a:p>
                      <a:endParaRPr lang="zh-CN" altLang="en-US"/>
                    </a:p>
                  </p:txBody>
                </p:sp>
                <p:sp>
                  <p:nvSpPr>
                    <p:cNvPr id="87186" name="Line 220"/>
                    <p:cNvSpPr>
                      <a:spLocks noChangeShapeType="1"/>
                    </p:cNvSpPr>
                    <p:nvPr/>
                  </p:nvSpPr>
                  <p:spPr bwMode="auto">
                    <a:xfrm flipH="1">
                      <a:off x="1080" y="0"/>
                      <a:ext cx="180" cy="156"/>
                    </a:xfrm>
                    <a:prstGeom prst="line">
                      <a:avLst/>
                    </a:prstGeom>
                    <a:noFill/>
                    <a:ln w="9525">
                      <a:solidFill>
                        <a:srgbClr val="000000"/>
                      </a:solidFill>
                      <a:round/>
                      <a:headEnd/>
                      <a:tailEnd/>
                    </a:ln>
                  </p:spPr>
                  <p:txBody>
                    <a:bodyPr/>
                    <a:lstStyle/>
                    <a:p>
                      <a:endParaRPr lang="zh-CN" altLang="en-US"/>
                    </a:p>
                  </p:txBody>
                </p:sp>
                <p:sp>
                  <p:nvSpPr>
                    <p:cNvPr id="87187" name="Line 221"/>
                    <p:cNvSpPr>
                      <a:spLocks noChangeShapeType="1"/>
                    </p:cNvSpPr>
                    <p:nvPr/>
                  </p:nvSpPr>
                  <p:spPr bwMode="auto">
                    <a:xfrm flipH="1">
                      <a:off x="1260" y="0"/>
                      <a:ext cx="180" cy="156"/>
                    </a:xfrm>
                    <a:prstGeom prst="line">
                      <a:avLst/>
                    </a:prstGeom>
                    <a:noFill/>
                    <a:ln w="9525">
                      <a:solidFill>
                        <a:srgbClr val="000000"/>
                      </a:solidFill>
                      <a:round/>
                      <a:headEnd/>
                      <a:tailEnd/>
                    </a:ln>
                  </p:spPr>
                  <p:txBody>
                    <a:bodyPr/>
                    <a:lstStyle/>
                    <a:p>
                      <a:endParaRPr lang="zh-CN" altLang="en-US"/>
                    </a:p>
                  </p:txBody>
                </p:sp>
                <p:sp>
                  <p:nvSpPr>
                    <p:cNvPr id="87188" name="Line 222"/>
                    <p:cNvSpPr>
                      <a:spLocks noChangeShapeType="1"/>
                    </p:cNvSpPr>
                    <p:nvPr/>
                  </p:nvSpPr>
                  <p:spPr bwMode="auto">
                    <a:xfrm flipH="1">
                      <a:off x="1620" y="0"/>
                      <a:ext cx="180" cy="156"/>
                    </a:xfrm>
                    <a:prstGeom prst="line">
                      <a:avLst/>
                    </a:prstGeom>
                    <a:noFill/>
                    <a:ln w="9525">
                      <a:solidFill>
                        <a:srgbClr val="000000"/>
                      </a:solidFill>
                      <a:round/>
                      <a:headEnd/>
                      <a:tailEnd/>
                    </a:ln>
                  </p:spPr>
                  <p:txBody>
                    <a:bodyPr/>
                    <a:lstStyle/>
                    <a:p>
                      <a:endParaRPr lang="zh-CN" altLang="en-US"/>
                    </a:p>
                  </p:txBody>
                </p:sp>
                <p:sp>
                  <p:nvSpPr>
                    <p:cNvPr id="87189" name="Line 223"/>
                    <p:cNvSpPr>
                      <a:spLocks noChangeShapeType="1"/>
                    </p:cNvSpPr>
                    <p:nvPr/>
                  </p:nvSpPr>
                  <p:spPr bwMode="auto">
                    <a:xfrm flipH="1">
                      <a:off x="1800" y="0"/>
                      <a:ext cx="180" cy="156"/>
                    </a:xfrm>
                    <a:prstGeom prst="line">
                      <a:avLst/>
                    </a:prstGeom>
                    <a:noFill/>
                    <a:ln w="9525">
                      <a:solidFill>
                        <a:srgbClr val="000000"/>
                      </a:solidFill>
                      <a:round/>
                      <a:headEnd/>
                      <a:tailEnd/>
                    </a:ln>
                  </p:spPr>
                  <p:txBody>
                    <a:bodyPr/>
                    <a:lstStyle/>
                    <a:p>
                      <a:endParaRPr lang="zh-CN" altLang="en-US"/>
                    </a:p>
                  </p:txBody>
                </p:sp>
              </p:grpSp>
              <p:sp>
                <p:nvSpPr>
                  <p:cNvPr id="87181" name="Text Box 224"/>
                  <p:cNvSpPr txBox="1">
                    <a:spLocks noChangeArrowheads="1"/>
                  </p:cNvSpPr>
                  <p:nvPr/>
                </p:nvSpPr>
                <p:spPr bwMode="auto">
                  <a:xfrm>
                    <a:off x="1080" y="0"/>
                    <a:ext cx="720" cy="309"/>
                  </a:xfrm>
                  <a:prstGeom prst="rect">
                    <a:avLst/>
                  </a:prstGeom>
                  <a:noFill/>
                  <a:ln w="9525">
                    <a:noFill/>
                    <a:miter lim="800000"/>
                    <a:headEnd/>
                    <a:tailEnd/>
                  </a:ln>
                </p:spPr>
                <p:txBody>
                  <a:bodyPr lIns="0" tIns="0" rIns="0" bIns="0"/>
                  <a:lstStyle/>
                  <a:p>
                    <a:pPr algn="just" eaLnBrk="0" hangingPunct="0"/>
                    <a:r>
                      <a:rPr lang="en-US" altLang="zh-CN" sz="1600" b="1" dirty="0">
                        <a:solidFill>
                          <a:srgbClr val="000000"/>
                        </a:solidFill>
                        <a:latin typeface="Times New Roman" pitchFamily="18" charset="0"/>
                      </a:rPr>
                      <a:t>FILE1</a:t>
                    </a:r>
                  </a:p>
                </p:txBody>
              </p:sp>
            </p:grpSp>
            <p:grpSp>
              <p:nvGrpSpPr>
                <p:cNvPr id="11" name="Group 225"/>
                <p:cNvGrpSpPr>
                  <a:grpSpLocks/>
                </p:cNvGrpSpPr>
                <p:nvPr/>
              </p:nvGrpSpPr>
              <p:grpSpPr bwMode="auto">
                <a:xfrm>
                  <a:off x="180" y="1095"/>
                  <a:ext cx="3240" cy="933"/>
                  <a:chOff x="0" y="0"/>
                  <a:chExt cx="3240" cy="933"/>
                </a:xfrm>
              </p:grpSpPr>
              <p:sp>
                <p:nvSpPr>
                  <p:cNvPr id="87156" name="Text Box 226"/>
                  <p:cNvSpPr txBox="1">
                    <a:spLocks noChangeArrowheads="1"/>
                  </p:cNvSpPr>
                  <p:nvPr/>
                </p:nvSpPr>
                <p:spPr bwMode="auto">
                  <a:xfrm>
                    <a:off x="0" y="156"/>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6</a:t>
                    </a:r>
                  </a:p>
                </p:txBody>
              </p:sp>
              <p:grpSp>
                <p:nvGrpSpPr>
                  <p:cNvPr id="12" name="Group 227"/>
                  <p:cNvGrpSpPr>
                    <a:grpSpLocks/>
                  </p:cNvGrpSpPr>
                  <p:nvPr/>
                </p:nvGrpSpPr>
                <p:grpSpPr bwMode="auto">
                  <a:xfrm>
                    <a:off x="0" y="621"/>
                    <a:ext cx="3060" cy="309"/>
                    <a:chOff x="0" y="0"/>
                    <a:chExt cx="3060" cy="309"/>
                  </a:xfrm>
                </p:grpSpPr>
                <p:sp>
                  <p:nvSpPr>
                    <p:cNvPr id="87172" name="Text Box 228"/>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12</a:t>
                      </a:r>
                    </a:p>
                  </p:txBody>
                </p:sp>
                <p:sp>
                  <p:nvSpPr>
                    <p:cNvPr id="87173" name="Text Box 229"/>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13</a:t>
                      </a:r>
                    </a:p>
                  </p:txBody>
                </p:sp>
                <p:sp>
                  <p:nvSpPr>
                    <p:cNvPr id="87174" name="Text Box 230"/>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14</a:t>
                      </a:r>
                    </a:p>
                  </p:txBody>
                </p:sp>
                <p:sp>
                  <p:nvSpPr>
                    <p:cNvPr id="87175" name="Text Box 231"/>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15</a:t>
                      </a:r>
                    </a:p>
                  </p:txBody>
                </p:sp>
                <p:sp>
                  <p:nvSpPr>
                    <p:cNvPr id="87176" name="Text Box 232"/>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16</a:t>
                      </a:r>
                    </a:p>
                  </p:txBody>
                </p:sp>
                <p:sp>
                  <p:nvSpPr>
                    <p:cNvPr id="87177" name="Text Box 233"/>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17</a:t>
                      </a:r>
                    </a:p>
                  </p:txBody>
                </p:sp>
              </p:grpSp>
              <p:grpSp>
                <p:nvGrpSpPr>
                  <p:cNvPr id="13" name="Group 234"/>
                  <p:cNvGrpSpPr>
                    <a:grpSpLocks/>
                  </p:cNvGrpSpPr>
                  <p:nvPr/>
                </p:nvGrpSpPr>
                <p:grpSpPr bwMode="auto">
                  <a:xfrm>
                    <a:off x="180" y="777"/>
                    <a:ext cx="3060" cy="156"/>
                    <a:chOff x="0" y="0"/>
                    <a:chExt cx="3060" cy="156"/>
                  </a:xfrm>
                </p:grpSpPr>
                <p:sp>
                  <p:nvSpPr>
                    <p:cNvPr id="87166" name="Text Box 235"/>
                    <p:cNvSpPr txBox="1">
                      <a:spLocks noChangeArrowheads="1"/>
                    </p:cNvSpPr>
                    <p:nvPr/>
                  </p:nvSpPr>
                  <p:spPr bwMode="auto">
                    <a:xfrm>
                      <a:off x="0" y="0"/>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7" name="Text Box 236"/>
                    <p:cNvSpPr txBox="1">
                      <a:spLocks noChangeArrowheads="1"/>
                    </p:cNvSpPr>
                    <p:nvPr/>
                  </p:nvSpPr>
                  <p:spPr bwMode="auto">
                    <a:xfrm>
                      <a:off x="540" y="0"/>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8" name="Text Box 237"/>
                    <p:cNvSpPr txBox="1">
                      <a:spLocks noChangeArrowheads="1"/>
                    </p:cNvSpPr>
                    <p:nvPr/>
                  </p:nvSpPr>
                  <p:spPr bwMode="auto">
                    <a:xfrm>
                      <a:off x="1080" y="0"/>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9" name="Text Box 238"/>
                    <p:cNvSpPr txBox="1">
                      <a:spLocks noChangeArrowheads="1"/>
                    </p:cNvSpPr>
                    <p:nvPr/>
                  </p:nvSpPr>
                  <p:spPr bwMode="auto">
                    <a:xfrm>
                      <a:off x="1620" y="0"/>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70" name="Text Box 239"/>
                    <p:cNvSpPr txBox="1">
                      <a:spLocks noChangeArrowheads="1"/>
                    </p:cNvSpPr>
                    <p:nvPr/>
                  </p:nvSpPr>
                  <p:spPr bwMode="auto">
                    <a:xfrm>
                      <a:off x="2160" y="0"/>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71" name="Text Box 240"/>
                    <p:cNvSpPr txBox="1">
                      <a:spLocks noChangeArrowheads="1"/>
                    </p:cNvSpPr>
                    <p:nvPr/>
                  </p:nvSpPr>
                  <p:spPr bwMode="auto">
                    <a:xfrm>
                      <a:off x="2700" y="0"/>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sp>
                <p:nvSpPr>
                  <p:cNvPr id="87159" name="Text Box 241"/>
                  <p:cNvSpPr txBox="1">
                    <a:spLocks noChangeArrowheads="1"/>
                  </p:cNvSpPr>
                  <p:nvPr/>
                </p:nvSpPr>
                <p:spPr bwMode="auto">
                  <a:xfrm>
                    <a:off x="180" y="309"/>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0" name="Text Box 242"/>
                  <p:cNvSpPr txBox="1">
                    <a:spLocks noChangeArrowheads="1"/>
                  </p:cNvSpPr>
                  <p:nvPr/>
                </p:nvSpPr>
                <p:spPr bwMode="auto">
                  <a:xfrm>
                    <a:off x="720" y="309"/>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1" name="Text Box 243"/>
                  <p:cNvSpPr txBox="1">
                    <a:spLocks noChangeArrowheads="1"/>
                  </p:cNvSpPr>
                  <p:nvPr/>
                </p:nvSpPr>
                <p:spPr bwMode="auto">
                  <a:xfrm>
                    <a:off x="1260" y="309"/>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2" name="Text Box 244"/>
                  <p:cNvSpPr txBox="1">
                    <a:spLocks noChangeArrowheads="1"/>
                  </p:cNvSpPr>
                  <p:nvPr/>
                </p:nvSpPr>
                <p:spPr bwMode="auto">
                  <a:xfrm>
                    <a:off x="1800" y="312"/>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3" name="Text Box 245"/>
                  <p:cNvSpPr txBox="1">
                    <a:spLocks noChangeArrowheads="1"/>
                  </p:cNvSpPr>
                  <p:nvPr/>
                </p:nvSpPr>
                <p:spPr bwMode="auto">
                  <a:xfrm>
                    <a:off x="2340" y="312"/>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4" name="Text Box 246"/>
                  <p:cNvSpPr txBox="1">
                    <a:spLocks noChangeArrowheads="1"/>
                  </p:cNvSpPr>
                  <p:nvPr/>
                </p:nvSpPr>
                <p:spPr bwMode="auto">
                  <a:xfrm>
                    <a:off x="2880" y="312"/>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65" name="Text Box 247"/>
                  <p:cNvSpPr txBox="1">
                    <a:spLocks noChangeArrowheads="1"/>
                  </p:cNvSpPr>
                  <p:nvPr/>
                </p:nvSpPr>
                <p:spPr bwMode="auto">
                  <a:xfrm>
                    <a:off x="2340" y="0"/>
                    <a:ext cx="720" cy="309"/>
                  </a:xfrm>
                  <a:prstGeom prst="rect">
                    <a:avLst/>
                  </a:prstGeom>
                  <a:noFill/>
                  <a:ln w="9525">
                    <a:noFill/>
                    <a:miter lim="800000"/>
                    <a:headEnd/>
                    <a:tailEnd/>
                  </a:ln>
                </p:spPr>
                <p:txBody>
                  <a:bodyPr lIns="0" tIns="0" rIns="0" bIns="0"/>
                  <a:lstStyle/>
                  <a:p>
                    <a:pPr algn="just" eaLnBrk="0" hangingPunct="0"/>
                    <a:r>
                      <a:rPr lang="en-US" altLang="zh-CN" sz="1600" b="1" dirty="0">
                        <a:solidFill>
                          <a:srgbClr val="000000"/>
                        </a:solidFill>
                        <a:latin typeface="Times New Roman" pitchFamily="18" charset="0"/>
                      </a:rPr>
                      <a:t>FILE2</a:t>
                    </a:r>
                  </a:p>
                </p:txBody>
              </p:sp>
            </p:grpSp>
            <p:grpSp>
              <p:nvGrpSpPr>
                <p:cNvPr id="14" name="Group 248"/>
                <p:cNvGrpSpPr>
                  <a:grpSpLocks/>
                </p:cNvGrpSpPr>
                <p:nvPr/>
              </p:nvGrpSpPr>
              <p:grpSpPr bwMode="auto">
                <a:xfrm>
                  <a:off x="180" y="2028"/>
                  <a:ext cx="3240" cy="468"/>
                  <a:chOff x="0" y="0"/>
                  <a:chExt cx="3240" cy="468"/>
                </a:xfrm>
              </p:grpSpPr>
              <p:grpSp>
                <p:nvGrpSpPr>
                  <p:cNvPr id="15" name="Group 249"/>
                  <p:cNvGrpSpPr>
                    <a:grpSpLocks/>
                  </p:cNvGrpSpPr>
                  <p:nvPr/>
                </p:nvGrpSpPr>
                <p:grpSpPr bwMode="auto">
                  <a:xfrm>
                    <a:off x="0" y="156"/>
                    <a:ext cx="3060" cy="309"/>
                    <a:chOff x="0" y="0"/>
                    <a:chExt cx="3060" cy="309"/>
                  </a:xfrm>
                </p:grpSpPr>
                <p:sp>
                  <p:nvSpPr>
                    <p:cNvPr id="87150" name="Text Box 250"/>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18</a:t>
                      </a:r>
                    </a:p>
                  </p:txBody>
                </p:sp>
                <p:sp>
                  <p:nvSpPr>
                    <p:cNvPr id="87151" name="Text Box 251"/>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19</a:t>
                      </a:r>
                    </a:p>
                  </p:txBody>
                </p:sp>
                <p:sp>
                  <p:nvSpPr>
                    <p:cNvPr id="87152" name="Text Box 252"/>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20</a:t>
                      </a:r>
                    </a:p>
                  </p:txBody>
                </p:sp>
                <p:sp>
                  <p:nvSpPr>
                    <p:cNvPr id="87153" name="Text Box 253"/>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21</a:t>
                      </a:r>
                    </a:p>
                  </p:txBody>
                </p:sp>
                <p:sp>
                  <p:nvSpPr>
                    <p:cNvPr id="87154" name="Text Box 254"/>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22</a:t>
                      </a:r>
                    </a:p>
                  </p:txBody>
                </p:sp>
                <p:sp>
                  <p:nvSpPr>
                    <p:cNvPr id="87155" name="Text Box 255"/>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23</a:t>
                      </a:r>
                    </a:p>
                  </p:txBody>
                </p:sp>
              </p:grpSp>
              <p:grpSp>
                <p:nvGrpSpPr>
                  <p:cNvPr id="16" name="Group 256"/>
                  <p:cNvGrpSpPr>
                    <a:grpSpLocks/>
                  </p:cNvGrpSpPr>
                  <p:nvPr/>
                </p:nvGrpSpPr>
                <p:grpSpPr bwMode="auto">
                  <a:xfrm>
                    <a:off x="180" y="312"/>
                    <a:ext cx="3060" cy="156"/>
                    <a:chOff x="0" y="0"/>
                    <a:chExt cx="3060" cy="156"/>
                  </a:xfrm>
                </p:grpSpPr>
                <p:sp>
                  <p:nvSpPr>
                    <p:cNvPr id="87144" name="Text Box 257"/>
                    <p:cNvSpPr txBox="1">
                      <a:spLocks noChangeArrowheads="1"/>
                    </p:cNvSpPr>
                    <p:nvPr/>
                  </p:nvSpPr>
                  <p:spPr bwMode="auto">
                    <a:xfrm>
                      <a:off x="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45" name="Text Box 258"/>
                    <p:cNvSpPr txBox="1">
                      <a:spLocks noChangeArrowheads="1"/>
                    </p:cNvSpPr>
                    <p:nvPr/>
                  </p:nvSpPr>
                  <p:spPr bwMode="auto">
                    <a:xfrm>
                      <a:off x="54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46" name="Text Box 259"/>
                    <p:cNvSpPr txBox="1">
                      <a:spLocks noChangeArrowheads="1"/>
                    </p:cNvSpPr>
                    <p:nvPr/>
                  </p:nvSpPr>
                  <p:spPr bwMode="auto">
                    <a:xfrm>
                      <a:off x="108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47" name="Text Box 260"/>
                    <p:cNvSpPr txBox="1">
                      <a:spLocks noChangeArrowheads="1"/>
                    </p:cNvSpPr>
                    <p:nvPr/>
                  </p:nvSpPr>
                  <p:spPr bwMode="auto">
                    <a:xfrm>
                      <a:off x="162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48" name="Text Box 261"/>
                    <p:cNvSpPr txBox="1">
                      <a:spLocks noChangeArrowheads="1"/>
                    </p:cNvSpPr>
                    <p:nvPr/>
                  </p:nvSpPr>
                  <p:spPr bwMode="auto">
                    <a:xfrm>
                      <a:off x="216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49" name="Text Box 262"/>
                    <p:cNvSpPr txBox="1">
                      <a:spLocks noChangeArrowheads="1"/>
                    </p:cNvSpPr>
                    <p:nvPr/>
                  </p:nvSpPr>
                  <p:spPr bwMode="auto">
                    <a:xfrm>
                      <a:off x="270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sp>
                <p:nvSpPr>
                  <p:cNvPr id="87131" name="Text Box 263"/>
                  <p:cNvSpPr txBox="1">
                    <a:spLocks noChangeArrowheads="1"/>
                  </p:cNvSpPr>
                  <p:nvPr/>
                </p:nvSpPr>
                <p:spPr bwMode="auto">
                  <a:xfrm>
                    <a:off x="1440" y="0"/>
                    <a:ext cx="720" cy="312"/>
                  </a:xfrm>
                  <a:prstGeom prst="rect">
                    <a:avLst/>
                  </a:prstGeom>
                  <a:noFill/>
                  <a:ln w="9525">
                    <a:noFill/>
                    <a:miter lim="800000"/>
                    <a:headEnd/>
                    <a:tailEnd/>
                  </a:ln>
                </p:spPr>
                <p:txBody>
                  <a:bodyPr lIns="0" tIns="0" rIns="0" bIns="0"/>
                  <a:lstStyle/>
                  <a:p>
                    <a:pPr algn="just" eaLnBrk="0" hangingPunct="0"/>
                    <a:r>
                      <a:rPr lang="en-US" altLang="zh-CN" sz="1600" b="1" dirty="0">
                        <a:solidFill>
                          <a:srgbClr val="000000"/>
                        </a:solidFill>
                        <a:latin typeface="Times New Roman" pitchFamily="18" charset="0"/>
                      </a:rPr>
                      <a:t>FILE3</a:t>
                    </a:r>
                  </a:p>
                </p:txBody>
              </p:sp>
              <p:grpSp>
                <p:nvGrpSpPr>
                  <p:cNvPr id="17" name="Group 264"/>
                  <p:cNvGrpSpPr>
                    <a:grpSpLocks/>
                  </p:cNvGrpSpPr>
                  <p:nvPr/>
                </p:nvGrpSpPr>
                <p:grpSpPr bwMode="auto">
                  <a:xfrm>
                    <a:off x="1800" y="312"/>
                    <a:ext cx="360" cy="156"/>
                    <a:chOff x="0" y="0"/>
                    <a:chExt cx="360" cy="156"/>
                  </a:xfrm>
                </p:grpSpPr>
                <p:sp>
                  <p:nvSpPr>
                    <p:cNvPr id="87142" name="Line 265"/>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sp>
                  <p:nvSpPr>
                    <p:cNvPr id="87143" name="Line 266"/>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grpSp>
              <p:grpSp>
                <p:nvGrpSpPr>
                  <p:cNvPr id="18" name="Group 267"/>
                  <p:cNvGrpSpPr>
                    <a:grpSpLocks/>
                  </p:cNvGrpSpPr>
                  <p:nvPr/>
                </p:nvGrpSpPr>
                <p:grpSpPr bwMode="auto">
                  <a:xfrm>
                    <a:off x="1260" y="312"/>
                    <a:ext cx="360" cy="156"/>
                    <a:chOff x="0" y="0"/>
                    <a:chExt cx="360" cy="156"/>
                  </a:xfrm>
                </p:grpSpPr>
                <p:sp>
                  <p:nvSpPr>
                    <p:cNvPr id="87140" name="Line 268"/>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sp>
                  <p:nvSpPr>
                    <p:cNvPr id="87141" name="Line 269"/>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grpSp>
              <p:grpSp>
                <p:nvGrpSpPr>
                  <p:cNvPr id="19" name="Group 270"/>
                  <p:cNvGrpSpPr>
                    <a:grpSpLocks/>
                  </p:cNvGrpSpPr>
                  <p:nvPr/>
                </p:nvGrpSpPr>
                <p:grpSpPr bwMode="auto">
                  <a:xfrm>
                    <a:off x="2340" y="312"/>
                    <a:ext cx="360" cy="156"/>
                    <a:chOff x="0" y="0"/>
                    <a:chExt cx="360" cy="156"/>
                  </a:xfrm>
                </p:grpSpPr>
                <p:sp>
                  <p:nvSpPr>
                    <p:cNvPr id="87138" name="Line 271"/>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sp>
                  <p:nvSpPr>
                    <p:cNvPr id="87139" name="Line 272"/>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grpSp>
              <p:grpSp>
                <p:nvGrpSpPr>
                  <p:cNvPr id="20" name="Group 273"/>
                  <p:cNvGrpSpPr>
                    <a:grpSpLocks/>
                  </p:cNvGrpSpPr>
                  <p:nvPr/>
                </p:nvGrpSpPr>
                <p:grpSpPr bwMode="auto">
                  <a:xfrm>
                    <a:off x="2880" y="312"/>
                    <a:ext cx="360" cy="156"/>
                    <a:chOff x="0" y="0"/>
                    <a:chExt cx="360" cy="156"/>
                  </a:xfrm>
                </p:grpSpPr>
                <p:sp>
                  <p:nvSpPr>
                    <p:cNvPr id="87136" name="Line 274"/>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sp>
                  <p:nvSpPr>
                    <p:cNvPr id="87137" name="Line 275"/>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grpSp>
            </p:grpSp>
            <p:grpSp>
              <p:nvGrpSpPr>
                <p:cNvPr id="21" name="Group 276"/>
                <p:cNvGrpSpPr>
                  <a:grpSpLocks/>
                </p:cNvGrpSpPr>
                <p:nvPr/>
              </p:nvGrpSpPr>
              <p:grpSpPr bwMode="auto">
                <a:xfrm>
                  <a:off x="180" y="2964"/>
                  <a:ext cx="3240" cy="624"/>
                  <a:chOff x="0" y="0"/>
                  <a:chExt cx="3240" cy="624"/>
                </a:xfrm>
              </p:grpSpPr>
              <p:grpSp>
                <p:nvGrpSpPr>
                  <p:cNvPr id="22" name="Group 277"/>
                  <p:cNvGrpSpPr>
                    <a:grpSpLocks/>
                  </p:cNvGrpSpPr>
                  <p:nvPr/>
                </p:nvGrpSpPr>
                <p:grpSpPr bwMode="auto">
                  <a:xfrm>
                    <a:off x="0" y="156"/>
                    <a:ext cx="3060" cy="309"/>
                    <a:chOff x="0" y="0"/>
                    <a:chExt cx="3060" cy="309"/>
                  </a:xfrm>
                </p:grpSpPr>
                <p:sp>
                  <p:nvSpPr>
                    <p:cNvPr id="87123" name="Text Box 278"/>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30</a:t>
                      </a:r>
                    </a:p>
                  </p:txBody>
                </p:sp>
                <p:sp>
                  <p:nvSpPr>
                    <p:cNvPr id="87124" name="Text Box 279"/>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31</a:t>
                      </a:r>
                    </a:p>
                  </p:txBody>
                </p:sp>
                <p:sp>
                  <p:nvSpPr>
                    <p:cNvPr id="87125" name="Text Box 280"/>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32</a:t>
                      </a:r>
                    </a:p>
                  </p:txBody>
                </p:sp>
                <p:sp>
                  <p:nvSpPr>
                    <p:cNvPr id="87126" name="Text Box 281"/>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33</a:t>
                      </a:r>
                    </a:p>
                  </p:txBody>
                </p:sp>
                <p:sp>
                  <p:nvSpPr>
                    <p:cNvPr id="87127" name="Text Box 282"/>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34</a:t>
                      </a:r>
                    </a:p>
                  </p:txBody>
                </p:sp>
                <p:sp>
                  <p:nvSpPr>
                    <p:cNvPr id="87128" name="Text Box 283"/>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35</a:t>
                      </a:r>
                    </a:p>
                  </p:txBody>
                </p:sp>
              </p:grpSp>
              <p:grpSp>
                <p:nvGrpSpPr>
                  <p:cNvPr id="23" name="Group 284"/>
                  <p:cNvGrpSpPr>
                    <a:grpSpLocks/>
                  </p:cNvGrpSpPr>
                  <p:nvPr/>
                </p:nvGrpSpPr>
                <p:grpSpPr bwMode="auto">
                  <a:xfrm>
                    <a:off x="180" y="312"/>
                    <a:ext cx="3060" cy="156"/>
                    <a:chOff x="0" y="0"/>
                    <a:chExt cx="3060" cy="156"/>
                  </a:xfrm>
                </p:grpSpPr>
                <p:sp>
                  <p:nvSpPr>
                    <p:cNvPr id="87117" name="Text Box 285"/>
                    <p:cNvSpPr txBox="1">
                      <a:spLocks noChangeArrowheads="1"/>
                    </p:cNvSpPr>
                    <p:nvPr/>
                  </p:nvSpPr>
                  <p:spPr bwMode="auto">
                    <a:xfrm>
                      <a:off x="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18" name="Text Box 286"/>
                    <p:cNvSpPr txBox="1">
                      <a:spLocks noChangeArrowheads="1"/>
                    </p:cNvSpPr>
                    <p:nvPr/>
                  </p:nvSpPr>
                  <p:spPr bwMode="auto">
                    <a:xfrm>
                      <a:off x="54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19" name="Text Box 287"/>
                    <p:cNvSpPr txBox="1">
                      <a:spLocks noChangeArrowheads="1"/>
                    </p:cNvSpPr>
                    <p:nvPr/>
                  </p:nvSpPr>
                  <p:spPr bwMode="auto">
                    <a:xfrm>
                      <a:off x="108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20" name="Text Box 288"/>
                    <p:cNvSpPr txBox="1">
                      <a:spLocks noChangeArrowheads="1"/>
                    </p:cNvSpPr>
                    <p:nvPr/>
                  </p:nvSpPr>
                  <p:spPr bwMode="auto">
                    <a:xfrm>
                      <a:off x="162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21" name="Text Box 289"/>
                    <p:cNvSpPr txBox="1">
                      <a:spLocks noChangeArrowheads="1"/>
                    </p:cNvSpPr>
                    <p:nvPr/>
                  </p:nvSpPr>
                  <p:spPr bwMode="auto">
                    <a:xfrm>
                      <a:off x="216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87122" name="Text Box 290"/>
                    <p:cNvSpPr txBox="1">
                      <a:spLocks noChangeArrowheads="1"/>
                    </p:cNvSpPr>
                    <p:nvPr/>
                  </p:nvSpPr>
                  <p:spPr bwMode="auto">
                    <a:xfrm>
                      <a:off x="270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sp>
                <p:nvSpPr>
                  <p:cNvPr id="87090" name="Text Box 291"/>
                  <p:cNvSpPr txBox="1">
                    <a:spLocks noChangeArrowheads="1"/>
                  </p:cNvSpPr>
                  <p:nvPr/>
                </p:nvSpPr>
                <p:spPr bwMode="auto">
                  <a:xfrm>
                    <a:off x="1080" y="0"/>
                    <a:ext cx="720" cy="312"/>
                  </a:xfrm>
                  <a:prstGeom prst="rect">
                    <a:avLst/>
                  </a:prstGeom>
                  <a:noFill/>
                  <a:ln w="9525">
                    <a:noFill/>
                    <a:miter lim="800000"/>
                    <a:headEnd/>
                    <a:tailEnd/>
                  </a:ln>
                </p:spPr>
                <p:txBody>
                  <a:bodyPr lIns="0" tIns="0" rIns="0" bIns="0"/>
                  <a:lstStyle/>
                  <a:p>
                    <a:pPr algn="just" eaLnBrk="0" hangingPunct="0"/>
                    <a:r>
                      <a:rPr lang="en-US" altLang="zh-CN" sz="1600" b="1" dirty="0">
                        <a:solidFill>
                          <a:srgbClr val="000000"/>
                        </a:solidFill>
                        <a:latin typeface="Times New Roman" pitchFamily="18" charset="0"/>
                      </a:rPr>
                      <a:t>FILE4</a:t>
                    </a:r>
                  </a:p>
                </p:txBody>
              </p:sp>
              <p:grpSp>
                <p:nvGrpSpPr>
                  <p:cNvPr id="24" name="Group 292"/>
                  <p:cNvGrpSpPr>
                    <a:grpSpLocks/>
                  </p:cNvGrpSpPr>
                  <p:nvPr/>
                </p:nvGrpSpPr>
                <p:grpSpPr bwMode="auto">
                  <a:xfrm>
                    <a:off x="720" y="312"/>
                    <a:ext cx="360" cy="156"/>
                    <a:chOff x="0" y="0"/>
                    <a:chExt cx="360" cy="156"/>
                  </a:xfrm>
                </p:grpSpPr>
                <p:sp>
                  <p:nvSpPr>
                    <p:cNvPr id="87113" name="Line 293"/>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87114" name="Line 294"/>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87115" name="Line 295"/>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87116" name="Line 296"/>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nvGrpSpPr>
                  <p:cNvPr id="25" name="Group 297"/>
                  <p:cNvGrpSpPr>
                    <a:grpSpLocks/>
                  </p:cNvGrpSpPr>
                  <p:nvPr/>
                </p:nvGrpSpPr>
                <p:grpSpPr bwMode="auto">
                  <a:xfrm>
                    <a:off x="1260" y="312"/>
                    <a:ext cx="360" cy="156"/>
                    <a:chOff x="0" y="0"/>
                    <a:chExt cx="360" cy="156"/>
                  </a:xfrm>
                </p:grpSpPr>
                <p:sp>
                  <p:nvSpPr>
                    <p:cNvPr id="87109" name="Line 298"/>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87110" name="Line 299"/>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87111" name="Line 300"/>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87112" name="Line 301"/>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nvGrpSpPr>
                  <p:cNvPr id="26" name="Group 302"/>
                  <p:cNvGrpSpPr>
                    <a:grpSpLocks/>
                  </p:cNvGrpSpPr>
                  <p:nvPr/>
                </p:nvGrpSpPr>
                <p:grpSpPr bwMode="auto">
                  <a:xfrm>
                    <a:off x="1800" y="312"/>
                    <a:ext cx="360" cy="156"/>
                    <a:chOff x="0" y="0"/>
                    <a:chExt cx="360" cy="156"/>
                  </a:xfrm>
                </p:grpSpPr>
                <p:sp>
                  <p:nvSpPr>
                    <p:cNvPr id="87105" name="Line 303"/>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87106" name="Line 304"/>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87107" name="Line 305"/>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87108" name="Line 306"/>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nvGrpSpPr>
                  <p:cNvPr id="27" name="Group 307"/>
                  <p:cNvGrpSpPr>
                    <a:grpSpLocks/>
                  </p:cNvGrpSpPr>
                  <p:nvPr/>
                </p:nvGrpSpPr>
                <p:grpSpPr bwMode="auto">
                  <a:xfrm>
                    <a:off x="2340" y="312"/>
                    <a:ext cx="360" cy="156"/>
                    <a:chOff x="0" y="0"/>
                    <a:chExt cx="360" cy="156"/>
                  </a:xfrm>
                </p:grpSpPr>
                <p:sp>
                  <p:nvSpPr>
                    <p:cNvPr id="87101" name="Line 308"/>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87102" name="Line 309"/>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87103" name="Line 310"/>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87104" name="Line 311"/>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nvGrpSpPr>
                  <p:cNvPr id="28" name="Group 312"/>
                  <p:cNvGrpSpPr>
                    <a:grpSpLocks/>
                  </p:cNvGrpSpPr>
                  <p:nvPr/>
                </p:nvGrpSpPr>
                <p:grpSpPr bwMode="auto">
                  <a:xfrm>
                    <a:off x="2880" y="312"/>
                    <a:ext cx="360" cy="156"/>
                    <a:chOff x="0" y="0"/>
                    <a:chExt cx="360" cy="156"/>
                  </a:xfrm>
                </p:grpSpPr>
                <p:sp>
                  <p:nvSpPr>
                    <p:cNvPr id="87097" name="Line 313"/>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87098" name="Line 314"/>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87099" name="Line 315"/>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87100" name="Line 316"/>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sp>
                <p:nvSpPr>
                  <p:cNvPr id="87096" name="Line 317"/>
                  <p:cNvSpPr>
                    <a:spLocks noChangeShapeType="1"/>
                  </p:cNvSpPr>
                  <p:nvPr/>
                </p:nvSpPr>
                <p:spPr bwMode="auto">
                  <a:xfrm>
                    <a:off x="1260" y="624"/>
                    <a:ext cx="360" cy="0"/>
                  </a:xfrm>
                  <a:prstGeom prst="line">
                    <a:avLst/>
                  </a:prstGeom>
                  <a:noFill/>
                  <a:ln w="38100" cap="rnd">
                    <a:solidFill>
                      <a:srgbClr val="000000"/>
                    </a:solidFill>
                    <a:prstDash val="sysDot"/>
                    <a:round/>
                    <a:headEnd/>
                    <a:tailEnd/>
                  </a:ln>
                </p:spPr>
                <p:txBody>
                  <a:bodyPr/>
                  <a:lstStyle/>
                  <a:p>
                    <a:endParaRPr lang="zh-CN" altLang="en-US"/>
                  </a:p>
                </p:txBody>
              </p:sp>
            </p:grpSp>
          </p:grpSp>
        </p:grpSp>
        <p:grpSp>
          <p:nvGrpSpPr>
            <p:cNvPr id="29" name="Group 318"/>
            <p:cNvGrpSpPr>
              <a:grpSpLocks/>
            </p:cNvGrpSpPr>
            <p:nvPr/>
          </p:nvGrpSpPr>
          <p:grpSpPr bwMode="auto">
            <a:xfrm>
              <a:off x="4500" y="624"/>
              <a:ext cx="2520" cy="2652"/>
              <a:chOff x="0" y="0"/>
              <a:chExt cx="2520" cy="2652"/>
            </a:xfrm>
          </p:grpSpPr>
          <p:grpSp>
            <p:nvGrpSpPr>
              <p:cNvPr id="30" name="Group 319"/>
              <p:cNvGrpSpPr>
                <a:grpSpLocks/>
              </p:cNvGrpSpPr>
              <p:nvPr/>
            </p:nvGrpSpPr>
            <p:grpSpPr bwMode="auto">
              <a:xfrm>
                <a:off x="0" y="312"/>
                <a:ext cx="2520" cy="312"/>
                <a:chOff x="0" y="0"/>
                <a:chExt cx="2520" cy="312"/>
              </a:xfrm>
            </p:grpSpPr>
            <p:sp>
              <p:nvSpPr>
                <p:cNvPr id="87069" name="Text Box 320"/>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zh-CN" altLang="en-US" sz="1600" b="1">
                      <a:solidFill>
                        <a:srgbClr val="000000"/>
                      </a:solidFill>
                      <a:latin typeface="Times New Roman" pitchFamily="18" charset="0"/>
                    </a:rPr>
                    <a:t>文件名</a:t>
                  </a:r>
                </a:p>
              </p:txBody>
            </p:sp>
            <p:sp>
              <p:nvSpPr>
                <p:cNvPr id="87070" name="Text Box 321"/>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zh-CN" altLang="en-US" sz="1600" b="1">
                      <a:solidFill>
                        <a:srgbClr val="000000"/>
                      </a:solidFill>
                      <a:latin typeface="Times New Roman" pitchFamily="18" charset="0"/>
                    </a:rPr>
                    <a:t>起始块号</a:t>
                  </a:r>
                </a:p>
              </p:txBody>
            </p:sp>
            <p:sp>
              <p:nvSpPr>
                <p:cNvPr id="87071" name="Text Box 322"/>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zh-CN" altLang="en-US" sz="1600" b="1">
                      <a:solidFill>
                        <a:srgbClr val="000000"/>
                      </a:solidFill>
                      <a:latin typeface="Times New Roman" pitchFamily="18" charset="0"/>
                    </a:rPr>
                    <a:t>文件长度</a:t>
                  </a:r>
                </a:p>
              </p:txBody>
            </p:sp>
          </p:grpSp>
          <p:sp>
            <p:nvSpPr>
              <p:cNvPr id="87048" name="Text Box 323"/>
              <p:cNvSpPr txBox="1">
                <a:spLocks noChangeArrowheads="1"/>
              </p:cNvSpPr>
              <p:nvPr/>
            </p:nvSpPr>
            <p:spPr bwMode="auto">
              <a:xfrm>
                <a:off x="0" y="0"/>
                <a:ext cx="2520" cy="312"/>
              </a:xfrm>
              <a:prstGeom prst="rect">
                <a:avLst/>
              </a:prstGeom>
              <a:noFill/>
              <a:ln w="9525">
                <a:noFill/>
                <a:miter lim="800000"/>
                <a:headEnd/>
                <a:tailEnd/>
              </a:ln>
            </p:spPr>
            <p:txBody>
              <a:bodyPr lIns="0" tIns="0" rIns="0" bIns="0"/>
              <a:lstStyle/>
              <a:p>
                <a:pPr algn="ctr" eaLnBrk="0" hangingPunct="0"/>
                <a:r>
                  <a:rPr lang="zh-CN" altLang="en-US" sz="2000" b="1">
                    <a:solidFill>
                      <a:srgbClr val="000000"/>
                    </a:solidFill>
                    <a:latin typeface="Times New Roman" pitchFamily="18" charset="0"/>
                  </a:rPr>
                  <a:t>文件分配表</a:t>
                </a:r>
              </a:p>
            </p:txBody>
          </p:sp>
          <p:grpSp>
            <p:nvGrpSpPr>
              <p:cNvPr id="31" name="Group 324"/>
              <p:cNvGrpSpPr>
                <a:grpSpLocks/>
              </p:cNvGrpSpPr>
              <p:nvPr/>
            </p:nvGrpSpPr>
            <p:grpSpPr bwMode="auto">
              <a:xfrm>
                <a:off x="0" y="624"/>
                <a:ext cx="2520" cy="312"/>
                <a:chOff x="0" y="0"/>
                <a:chExt cx="2520" cy="312"/>
              </a:xfrm>
            </p:grpSpPr>
            <p:sp>
              <p:nvSpPr>
                <p:cNvPr id="87066" name="Text Box 325"/>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FILE1</a:t>
                  </a:r>
                </a:p>
              </p:txBody>
            </p:sp>
            <p:sp>
              <p:nvSpPr>
                <p:cNvPr id="87067" name="Text Box 326"/>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1</a:t>
                  </a:r>
                </a:p>
              </p:txBody>
            </p:sp>
            <p:sp>
              <p:nvSpPr>
                <p:cNvPr id="87068" name="Text Box 327"/>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4</a:t>
                  </a:r>
                </a:p>
              </p:txBody>
            </p:sp>
          </p:grpSp>
          <p:grpSp>
            <p:nvGrpSpPr>
              <p:cNvPr id="87157" name="Group 328"/>
              <p:cNvGrpSpPr>
                <a:grpSpLocks/>
              </p:cNvGrpSpPr>
              <p:nvPr/>
            </p:nvGrpSpPr>
            <p:grpSpPr bwMode="auto">
              <a:xfrm>
                <a:off x="0" y="936"/>
                <a:ext cx="2520" cy="312"/>
                <a:chOff x="0" y="0"/>
                <a:chExt cx="2520" cy="312"/>
              </a:xfrm>
            </p:grpSpPr>
            <p:sp>
              <p:nvSpPr>
                <p:cNvPr id="87063" name="Text Box 329"/>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FILE2</a:t>
                  </a:r>
                </a:p>
              </p:txBody>
            </p:sp>
            <p:sp>
              <p:nvSpPr>
                <p:cNvPr id="87064" name="Text Box 330"/>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9</a:t>
                  </a:r>
                </a:p>
              </p:txBody>
            </p:sp>
            <p:sp>
              <p:nvSpPr>
                <p:cNvPr id="87065" name="Text Box 331"/>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2000" b="1" dirty="0">
                      <a:solidFill>
                        <a:srgbClr val="000000"/>
                      </a:solidFill>
                      <a:latin typeface="Times New Roman" pitchFamily="18" charset="0"/>
                    </a:rPr>
                    <a:t>9</a:t>
                  </a:r>
                </a:p>
              </p:txBody>
            </p:sp>
          </p:grpSp>
          <p:grpSp>
            <p:nvGrpSpPr>
              <p:cNvPr id="87158" name="Group 332"/>
              <p:cNvGrpSpPr>
                <a:grpSpLocks/>
              </p:cNvGrpSpPr>
              <p:nvPr/>
            </p:nvGrpSpPr>
            <p:grpSpPr bwMode="auto">
              <a:xfrm>
                <a:off x="0" y="1248"/>
                <a:ext cx="2520" cy="312"/>
                <a:chOff x="0" y="0"/>
                <a:chExt cx="2520" cy="312"/>
              </a:xfrm>
            </p:grpSpPr>
            <p:sp>
              <p:nvSpPr>
                <p:cNvPr id="87060" name="Text Box 333"/>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FILE3</a:t>
                  </a:r>
                </a:p>
              </p:txBody>
            </p:sp>
            <p:sp>
              <p:nvSpPr>
                <p:cNvPr id="87061" name="Text Box 334"/>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20</a:t>
                  </a:r>
                </a:p>
              </p:txBody>
            </p:sp>
            <p:sp>
              <p:nvSpPr>
                <p:cNvPr id="87062" name="Text Box 335"/>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4</a:t>
                  </a:r>
                </a:p>
              </p:txBody>
            </p:sp>
          </p:grpSp>
          <p:grpSp>
            <p:nvGrpSpPr>
              <p:cNvPr id="87178" name="Group 336"/>
              <p:cNvGrpSpPr>
                <a:grpSpLocks/>
              </p:cNvGrpSpPr>
              <p:nvPr/>
            </p:nvGrpSpPr>
            <p:grpSpPr bwMode="auto">
              <a:xfrm>
                <a:off x="0" y="1560"/>
                <a:ext cx="2520" cy="312"/>
                <a:chOff x="0" y="0"/>
                <a:chExt cx="2520" cy="312"/>
              </a:xfrm>
            </p:grpSpPr>
            <p:sp>
              <p:nvSpPr>
                <p:cNvPr id="87057" name="Text Box 337"/>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FILE4</a:t>
                  </a:r>
                </a:p>
              </p:txBody>
            </p:sp>
            <p:sp>
              <p:nvSpPr>
                <p:cNvPr id="87058" name="Text Box 338"/>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31</a:t>
                  </a:r>
                </a:p>
              </p:txBody>
            </p:sp>
            <p:sp>
              <p:nvSpPr>
                <p:cNvPr id="87059" name="Text Box 339"/>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5</a:t>
                  </a:r>
                </a:p>
              </p:txBody>
            </p:sp>
          </p:grpSp>
          <p:grpSp>
            <p:nvGrpSpPr>
              <p:cNvPr id="87179" name="Group 340"/>
              <p:cNvGrpSpPr>
                <a:grpSpLocks/>
              </p:cNvGrpSpPr>
              <p:nvPr/>
            </p:nvGrpSpPr>
            <p:grpSpPr bwMode="auto">
              <a:xfrm>
                <a:off x="0" y="1872"/>
                <a:ext cx="2520" cy="780"/>
                <a:chOff x="0" y="0"/>
                <a:chExt cx="2520" cy="312"/>
              </a:xfrm>
            </p:grpSpPr>
            <p:sp>
              <p:nvSpPr>
                <p:cNvPr id="87054" name="Text Box 341"/>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2400" b="1" dirty="0">
                      <a:solidFill>
                        <a:srgbClr val="000000"/>
                      </a:solidFill>
                      <a:latin typeface="Times New Roman" pitchFamily="18" charset="0"/>
                    </a:rPr>
                    <a:t>…</a:t>
                  </a:r>
                </a:p>
              </p:txBody>
            </p:sp>
            <p:sp>
              <p:nvSpPr>
                <p:cNvPr id="87055" name="Text Box 342"/>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2400" b="1" dirty="0">
                      <a:solidFill>
                        <a:srgbClr val="000000"/>
                      </a:solidFill>
                      <a:latin typeface="Times New Roman" pitchFamily="18" charset="0"/>
                    </a:rPr>
                    <a:t>…</a:t>
                  </a:r>
                </a:p>
              </p:txBody>
            </p:sp>
            <p:sp>
              <p:nvSpPr>
                <p:cNvPr id="87056" name="Text Box 343"/>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2400" b="1" dirty="0">
                      <a:solidFill>
                        <a:srgbClr val="000000"/>
                      </a:solidFill>
                      <a:latin typeface="Times New Roman" pitchFamily="18" charset="0"/>
                    </a:rPr>
                    <a:t>…</a:t>
                  </a:r>
                </a:p>
              </p:txBody>
            </p:sp>
          </p:grpSp>
        </p:grpSp>
        <p:sp>
          <p:nvSpPr>
            <p:cNvPr id="87046" name="Text Box 344"/>
            <p:cNvSpPr txBox="1">
              <a:spLocks noChangeArrowheads="1"/>
            </p:cNvSpPr>
            <p:nvPr/>
          </p:nvSpPr>
          <p:spPr bwMode="auto">
            <a:xfrm>
              <a:off x="180" y="3744"/>
              <a:ext cx="6840" cy="504"/>
            </a:xfrm>
            <a:prstGeom prst="rect">
              <a:avLst/>
            </a:prstGeom>
            <a:noFill/>
            <a:ln w="9525">
              <a:noFill/>
              <a:miter lim="800000"/>
              <a:headEnd/>
              <a:tailEnd/>
            </a:ln>
          </p:spPr>
          <p:txBody>
            <a:bodyPr/>
            <a:lstStyle/>
            <a:p>
              <a:pPr algn="ctr" eaLnBrk="0" hangingPunct="0"/>
              <a:r>
                <a:rPr lang="zh-CN" altLang="en-US" sz="2800" b="1">
                  <a:solidFill>
                    <a:srgbClr val="000000"/>
                  </a:solidFill>
                  <a:latin typeface="Times New Roman" pitchFamily="18" charset="0"/>
                </a:rPr>
                <a:t>图  磁盘空间的连续分配</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3"/>
          <p:cNvSpPr>
            <a:spLocks noGrp="1" noRot="1" noChangeArrowheads="1"/>
          </p:cNvSpPr>
          <p:nvPr>
            <p:ph type="body" idx="4294967295"/>
          </p:nvPr>
        </p:nvSpPr>
        <p:spPr>
          <a:xfrm>
            <a:off x="281014" y="836613"/>
            <a:ext cx="8077200" cy="5335587"/>
          </a:xfrm>
        </p:spPr>
        <p:txBody>
          <a:bodyPr/>
          <a:lstStyle/>
          <a:p>
            <a:pPr marL="609600" indent="-609600" eaLnBrk="1" hangingPunct="1">
              <a:lnSpc>
                <a:spcPct val="120000"/>
              </a:lnSpc>
            </a:pPr>
            <a:r>
              <a:rPr lang="zh-CN" altLang="en-US" b="1" dirty="0" smtClean="0">
                <a:solidFill>
                  <a:srgbClr val="FF0000"/>
                </a:solidFill>
              </a:rPr>
              <a:t>连续分配的主要优点：</a:t>
            </a:r>
          </a:p>
          <a:p>
            <a:pPr marL="990600" lvl="1" indent="-533400" eaLnBrk="1" hangingPunct="1">
              <a:lnSpc>
                <a:spcPct val="120000"/>
              </a:lnSpc>
            </a:pPr>
            <a:r>
              <a:rPr lang="zh-CN" altLang="en-US" b="1" dirty="0" smtClean="0"/>
              <a:t>（</a:t>
            </a:r>
            <a:r>
              <a:rPr lang="en-US" altLang="zh-CN" b="1" dirty="0" smtClean="0"/>
              <a:t>1</a:t>
            </a:r>
            <a:r>
              <a:rPr lang="zh-CN" altLang="en-US" b="1" dirty="0" smtClean="0"/>
              <a:t>）顺序访问容易。 </a:t>
            </a:r>
          </a:p>
          <a:p>
            <a:pPr marL="990600" lvl="1" indent="-533400" eaLnBrk="1" hangingPunct="1">
              <a:lnSpc>
                <a:spcPct val="120000"/>
              </a:lnSpc>
            </a:pPr>
            <a:r>
              <a:rPr lang="en-US" altLang="zh-CN" b="1" dirty="0" smtClean="0"/>
              <a:t>(2) </a:t>
            </a:r>
            <a:r>
              <a:rPr lang="zh-CN" altLang="en-US" b="1" dirty="0" smtClean="0"/>
              <a:t>顺序访问速度快。</a:t>
            </a:r>
          </a:p>
          <a:p>
            <a:pPr marL="609600" indent="-609600" eaLnBrk="1" hangingPunct="1">
              <a:lnSpc>
                <a:spcPct val="120000"/>
              </a:lnSpc>
            </a:pPr>
            <a:r>
              <a:rPr lang="zh-CN" altLang="en-US" b="1" dirty="0" smtClean="0">
                <a:solidFill>
                  <a:srgbClr val="FF0000"/>
                </a:solidFill>
              </a:rPr>
              <a:t>连续分配的主要缺点：</a:t>
            </a:r>
          </a:p>
          <a:p>
            <a:pPr marL="990600" lvl="1" indent="-533400" eaLnBrk="1" hangingPunct="1">
              <a:lnSpc>
                <a:spcPct val="120000"/>
              </a:lnSpc>
            </a:pPr>
            <a:r>
              <a:rPr lang="zh-CN" altLang="en-US" b="1" dirty="0" smtClean="0"/>
              <a:t>（</a:t>
            </a:r>
            <a:r>
              <a:rPr lang="en-US" altLang="zh-CN" b="1" dirty="0" smtClean="0"/>
              <a:t>1</a:t>
            </a:r>
            <a:r>
              <a:rPr lang="zh-CN" altLang="en-US" b="1" dirty="0" smtClean="0"/>
              <a:t>）要求有连续的存储空间。 </a:t>
            </a:r>
          </a:p>
          <a:p>
            <a:pPr marL="990600" lvl="1" indent="-533400" eaLnBrk="1" hangingPunct="1">
              <a:lnSpc>
                <a:spcPct val="120000"/>
              </a:lnSpc>
            </a:pPr>
            <a:r>
              <a:rPr lang="en-US" altLang="zh-CN" b="1" dirty="0" smtClean="0"/>
              <a:t>(2) </a:t>
            </a:r>
            <a:r>
              <a:rPr lang="zh-CN" altLang="en-US" b="1" dirty="0" smtClean="0"/>
              <a:t>必须事先知道文件的长度。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8066">
                                            <p:txEl>
                                              <p:pRg st="0" end="0"/>
                                            </p:txEl>
                                          </p:spTgt>
                                        </p:tgtEl>
                                        <p:attrNameLst>
                                          <p:attrName>style.visibility</p:attrName>
                                        </p:attrNameLst>
                                      </p:cBhvr>
                                      <p:to>
                                        <p:strVal val="visible"/>
                                      </p:to>
                                    </p:set>
                                    <p:animEffect transition="in" filter="fade">
                                      <p:cBhvr>
                                        <p:cTn id="7" dur="2000"/>
                                        <p:tgtEl>
                                          <p:spTgt spid="8806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8066">
                                            <p:txEl>
                                              <p:pRg st="1" end="1"/>
                                            </p:txEl>
                                          </p:spTgt>
                                        </p:tgtEl>
                                        <p:attrNameLst>
                                          <p:attrName>style.visibility</p:attrName>
                                        </p:attrNameLst>
                                      </p:cBhvr>
                                      <p:to>
                                        <p:strVal val="visible"/>
                                      </p:to>
                                    </p:set>
                                    <p:animEffect transition="in" filter="fade">
                                      <p:cBhvr>
                                        <p:cTn id="10" dur="2000"/>
                                        <p:tgtEl>
                                          <p:spTgt spid="8806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8066">
                                            <p:txEl>
                                              <p:pRg st="2" end="2"/>
                                            </p:txEl>
                                          </p:spTgt>
                                        </p:tgtEl>
                                        <p:attrNameLst>
                                          <p:attrName>style.visibility</p:attrName>
                                        </p:attrNameLst>
                                      </p:cBhvr>
                                      <p:to>
                                        <p:strVal val="visible"/>
                                      </p:to>
                                    </p:set>
                                    <p:animEffect transition="in" filter="fade">
                                      <p:cBhvr>
                                        <p:cTn id="13" dur="2000"/>
                                        <p:tgtEl>
                                          <p:spTgt spid="8806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8066">
                                            <p:txEl>
                                              <p:pRg st="3" end="3"/>
                                            </p:txEl>
                                          </p:spTgt>
                                        </p:tgtEl>
                                        <p:attrNameLst>
                                          <p:attrName>style.visibility</p:attrName>
                                        </p:attrNameLst>
                                      </p:cBhvr>
                                      <p:to>
                                        <p:strVal val="visible"/>
                                      </p:to>
                                    </p:set>
                                    <p:animEffect transition="in" filter="fade">
                                      <p:cBhvr>
                                        <p:cTn id="18" dur="2000"/>
                                        <p:tgtEl>
                                          <p:spTgt spid="88066">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8066">
                                            <p:txEl>
                                              <p:pRg st="4" end="4"/>
                                            </p:txEl>
                                          </p:spTgt>
                                        </p:tgtEl>
                                        <p:attrNameLst>
                                          <p:attrName>style.visibility</p:attrName>
                                        </p:attrNameLst>
                                      </p:cBhvr>
                                      <p:to>
                                        <p:strVal val="visible"/>
                                      </p:to>
                                    </p:set>
                                    <p:animEffect transition="in" filter="fade">
                                      <p:cBhvr>
                                        <p:cTn id="21" dur="2000"/>
                                        <p:tgtEl>
                                          <p:spTgt spid="88066">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8066">
                                            <p:txEl>
                                              <p:pRg st="5" end="5"/>
                                            </p:txEl>
                                          </p:spTgt>
                                        </p:tgtEl>
                                        <p:attrNameLst>
                                          <p:attrName>style.visibility</p:attrName>
                                        </p:attrNameLst>
                                      </p:cBhvr>
                                      <p:to>
                                        <p:strVal val="visible"/>
                                      </p:to>
                                    </p:set>
                                    <p:animEffect transition="in" filter="fade">
                                      <p:cBhvr>
                                        <p:cTn id="24" dur="2000"/>
                                        <p:tgtEl>
                                          <p:spTgt spid="8806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p:cNvSpPr>
            <a:spLocks noGrp="1" noRot="1" noChangeArrowheads="1"/>
          </p:cNvSpPr>
          <p:nvPr>
            <p:ph type="title" idx="4294967295"/>
          </p:nvPr>
        </p:nvSpPr>
        <p:spPr>
          <a:xfrm>
            <a:off x="0" y="274638"/>
            <a:ext cx="8229600" cy="1143000"/>
          </a:xfrm>
        </p:spPr>
        <p:txBody>
          <a:bodyPr/>
          <a:lstStyle/>
          <a:p>
            <a:pPr eaLnBrk="1" hangingPunct="1">
              <a:defRPr/>
            </a:pPr>
            <a:r>
              <a:rPr lang="zh-CN" b="1" u="sng" dirty="0" smtClean="0">
                <a:solidFill>
                  <a:srgbClr val="FF0000"/>
                </a:solidFill>
                <a:effectLst>
                  <a:outerShdw blurRad="38100" dist="38100" dir="2700000" algn="tl">
                    <a:srgbClr val="000000"/>
                  </a:outerShdw>
                </a:effectLst>
                <a:ea typeface="仿宋_GB2312" pitchFamily="1" charset="-122"/>
              </a:rPr>
              <a:t>连续分配存在的问题</a:t>
            </a:r>
          </a:p>
        </p:txBody>
      </p:sp>
      <p:sp>
        <p:nvSpPr>
          <p:cNvPr id="87043" name="Rectangle 3"/>
          <p:cNvSpPr>
            <a:spLocks noGrp="1" noRot="1" noChangeArrowheads="1"/>
          </p:cNvSpPr>
          <p:nvPr>
            <p:ph type="body" idx="4294967295"/>
          </p:nvPr>
        </p:nvSpPr>
        <p:spPr>
          <a:xfrm>
            <a:off x="0" y="1600200"/>
            <a:ext cx="8229600" cy="4525963"/>
          </a:xfrm>
        </p:spPr>
        <p:txBody>
          <a:bodyPr/>
          <a:lstStyle/>
          <a:p>
            <a:pPr algn="just" eaLnBrk="1" hangingPunct="1">
              <a:defRPr/>
            </a:pPr>
            <a:endParaRPr lang="en-US" dirty="0" smtClean="0"/>
          </a:p>
          <a:p>
            <a:pPr marL="990600" lvl="1" indent="-533400">
              <a:lnSpc>
                <a:spcPct val="120000"/>
              </a:lnSpc>
              <a:defRPr/>
            </a:pPr>
            <a:r>
              <a:rPr lang="zh-CN" altLang="en-US" b="1" dirty="0" smtClean="0"/>
              <a:t>该分配方案可能会导致磁盘碎片，严重降低外存空间的利用率。</a:t>
            </a:r>
          </a:p>
          <a:p>
            <a:pPr algn="just" eaLnBrk="1" hangingPunct="1">
              <a:defRPr/>
            </a:pPr>
            <a:endParaRPr lang="zh-CN" altLang="en-US" b="1" dirty="0" smtClean="0">
              <a:effectLst>
                <a:outerShdw blurRad="38100" dist="38100" dir="2700000" algn="tl">
                  <a:srgbClr val="000000"/>
                </a:outerShdw>
              </a:effectLst>
              <a:ea typeface="仿宋_GB2312" pitchFamily="1" charset="-122"/>
            </a:endParaRPr>
          </a:p>
          <a:p>
            <a:pPr marL="990600" lvl="1" indent="-533400">
              <a:lnSpc>
                <a:spcPct val="120000"/>
              </a:lnSpc>
              <a:defRPr/>
            </a:pPr>
            <a:r>
              <a:rPr lang="zh-CN" altLang="en-US" b="1" dirty="0" smtClean="0"/>
              <a:t>解决方法之一，系统定期或不定期采用紧凑技术，将小分区合并为大的、连续分区，将文件占用空间合并在一起。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7042"/>
                                        </p:tgtEl>
                                        <p:attrNameLst>
                                          <p:attrName>style.visibility</p:attrName>
                                        </p:attrNameLst>
                                      </p:cBhvr>
                                      <p:to>
                                        <p:strVal val="visible"/>
                                      </p:to>
                                    </p:set>
                                    <p:animEffect transition="in" filter="fade">
                                      <p:cBhvr>
                                        <p:cTn id="7" dur="2000"/>
                                        <p:tgtEl>
                                          <p:spTgt spid="870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7043">
                                            <p:txEl>
                                              <p:pRg st="1" end="1"/>
                                            </p:txEl>
                                          </p:spTgt>
                                        </p:tgtEl>
                                        <p:attrNameLst>
                                          <p:attrName>style.visibility</p:attrName>
                                        </p:attrNameLst>
                                      </p:cBhvr>
                                      <p:to>
                                        <p:strVal val="visible"/>
                                      </p:to>
                                    </p:set>
                                    <p:animEffect transition="in" filter="fade">
                                      <p:cBhvr>
                                        <p:cTn id="12" dur="2000"/>
                                        <p:tgtEl>
                                          <p:spTgt spid="8704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7043">
                                            <p:txEl>
                                              <p:pRg st="3" end="3"/>
                                            </p:txEl>
                                          </p:spTgt>
                                        </p:tgtEl>
                                        <p:attrNameLst>
                                          <p:attrName>style.visibility</p:attrName>
                                        </p:attrNameLst>
                                      </p:cBhvr>
                                      <p:to>
                                        <p:strVal val="visible"/>
                                      </p:to>
                                    </p:set>
                                    <p:animEffect transition="in" filter="fade">
                                      <p:cBhvr>
                                        <p:cTn id="15" dur="2000"/>
                                        <p:tgtEl>
                                          <p:spTgt spid="870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P spid="8704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71"/>
          <p:cNvSpPr>
            <a:spLocks noChangeArrowheads="1"/>
          </p:cNvSpPr>
          <p:nvPr/>
        </p:nvSpPr>
        <p:spPr bwMode="auto">
          <a:xfrm>
            <a:off x="395288" y="260350"/>
            <a:ext cx="8208962" cy="6121400"/>
          </a:xfrm>
          <a:prstGeom prst="rect">
            <a:avLst/>
          </a:prstGeom>
          <a:solidFill>
            <a:schemeClr val="bg2">
              <a:lumMod val="90000"/>
            </a:schemeClr>
          </a:solidFill>
          <a:ln w="9525">
            <a:solidFill>
              <a:schemeClr val="tx1"/>
            </a:solidFill>
            <a:miter lim="800000"/>
            <a:headEnd/>
            <a:tailEnd/>
          </a:ln>
        </p:spPr>
        <p:txBody>
          <a:bodyPr wrap="none" anchor="ctr"/>
          <a:lstStyle/>
          <a:p>
            <a:endParaRPr lang="zh-CN" altLang="en-US"/>
          </a:p>
        </p:txBody>
      </p:sp>
      <p:grpSp>
        <p:nvGrpSpPr>
          <p:cNvPr id="2" name="Group 172"/>
          <p:cNvGrpSpPr>
            <a:grpSpLocks/>
          </p:cNvGrpSpPr>
          <p:nvPr/>
        </p:nvGrpSpPr>
        <p:grpSpPr bwMode="auto">
          <a:xfrm>
            <a:off x="1042988" y="692150"/>
            <a:ext cx="5715000" cy="5006975"/>
            <a:chOff x="0" y="0"/>
            <a:chExt cx="6840" cy="4248"/>
          </a:xfrm>
        </p:grpSpPr>
        <p:grpSp>
          <p:nvGrpSpPr>
            <p:cNvPr id="3" name="Group 173"/>
            <p:cNvGrpSpPr>
              <a:grpSpLocks/>
            </p:cNvGrpSpPr>
            <p:nvPr/>
          </p:nvGrpSpPr>
          <p:grpSpPr bwMode="auto">
            <a:xfrm>
              <a:off x="4320" y="624"/>
              <a:ext cx="2520" cy="2652"/>
              <a:chOff x="0" y="0"/>
              <a:chExt cx="2520" cy="2652"/>
            </a:xfrm>
          </p:grpSpPr>
          <p:grpSp>
            <p:nvGrpSpPr>
              <p:cNvPr id="4" name="Group 174"/>
              <p:cNvGrpSpPr>
                <a:grpSpLocks/>
              </p:cNvGrpSpPr>
              <p:nvPr/>
            </p:nvGrpSpPr>
            <p:grpSpPr bwMode="auto">
              <a:xfrm>
                <a:off x="0" y="312"/>
                <a:ext cx="2520" cy="312"/>
                <a:chOff x="0" y="0"/>
                <a:chExt cx="2520" cy="312"/>
              </a:xfrm>
            </p:grpSpPr>
            <p:sp>
              <p:nvSpPr>
                <p:cNvPr id="90281" name="Text Box 175"/>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zh-CN" altLang="en-US" sz="1400" b="1">
                      <a:solidFill>
                        <a:srgbClr val="000000"/>
                      </a:solidFill>
                      <a:latin typeface="Times New Roman" pitchFamily="18" charset="0"/>
                    </a:rPr>
                    <a:t>文件名</a:t>
                  </a:r>
                </a:p>
              </p:txBody>
            </p:sp>
            <p:sp>
              <p:nvSpPr>
                <p:cNvPr id="90282" name="Text Box 176"/>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zh-CN" altLang="en-US" sz="1400" b="1">
                      <a:solidFill>
                        <a:srgbClr val="000000"/>
                      </a:solidFill>
                      <a:latin typeface="Times New Roman" pitchFamily="18" charset="0"/>
                    </a:rPr>
                    <a:t>起始块号</a:t>
                  </a:r>
                </a:p>
              </p:txBody>
            </p:sp>
            <p:sp>
              <p:nvSpPr>
                <p:cNvPr id="90283" name="Text Box 177"/>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zh-CN" altLang="en-US" sz="1400" b="1">
                      <a:solidFill>
                        <a:srgbClr val="000000"/>
                      </a:solidFill>
                      <a:latin typeface="Times New Roman" pitchFamily="18" charset="0"/>
                    </a:rPr>
                    <a:t>文件长度</a:t>
                  </a:r>
                </a:p>
              </p:txBody>
            </p:sp>
          </p:grpSp>
          <p:sp>
            <p:nvSpPr>
              <p:cNvPr id="90260" name="Text Box 178"/>
              <p:cNvSpPr txBox="1">
                <a:spLocks noChangeArrowheads="1"/>
              </p:cNvSpPr>
              <p:nvPr/>
            </p:nvSpPr>
            <p:spPr bwMode="auto">
              <a:xfrm>
                <a:off x="0" y="0"/>
                <a:ext cx="2520" cy="312"/>
              </a:xfrm>
              <a:prstGeom prst="rect">
                <a:avLst/>
              </a:prstGeom>
              <a:noFill/>
              <a:ln w="9525">
                <a:noFill/>
                <a:miter lim="800000"/>
                <a:headEnd/>
                <a:tailEnd/>
              </a:ln>
            </p:spPr>
            <p:txBody>
              <a:bodyPr lIns="0" tIns="0" rIns="0" bIns="0"/>
              <a:lstStyle/>
              <a:p>
                <a:pPr algn="ctr" eaLnBrk="0" hangingPunct="0"/>
                <a:r>
                  <a:rPr lang="zh-CN" altLang="en-US" sz="2400" b="1">
                    <a:solidFill>
                      <a:srgbClr val="000000"/>
                    </a:solidFill>
                    <a:latin typeface="Times New Roman" pitchFamily="18" charset="0"/>
                  </a:rPr>
                  <a:t>文件分配表</a:t>
                </a:r>
              </a:p>
            </p:txBody>
          </p:sp>
          <p:grpSp>
            <p:nvGrpSpPr>
              <p:cNvPr id="5" name="Group 179"/>
              <p:cNvGrpSpPr>
                <a:grpSpLocks/>
              </p:cNvGrpSpPr>
              <p:nvPr/>
            </p:nvGrpSpPr>
            <p:grpSpPr bwMode="auto">
              <a:xfrm>
                <a:off x="0" y="624"/>
                <a:ext cx="2520" cy="312"/>
                <a:chOff x="0" y="0"/>
                <a:chExt cx="2520" cy="312"/>
              </a:xfrm>
            </p:grpSpPr>
            <p:sp>
              <p:nvSpPr>
                <p:cNvPr id="90278" name="Text Box 180"/>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1400" b="1" dirty="0">
                      <a:solidFill>
                        <a:srgbClr val="000000"/>
                      </a:solidFill>
                      <a:latin typeface="Times New Roman" pitchFamily="18" charset="0"/>
                    </a:rPr>
                    <a:t>FILE1</a:t>
                  </a:r>
                </a:p>
              </p:txBody>
            </p:sp>
            <p:sp>
              <p:nvSpPr>
                <p:cNvPr id="90279" name="Text Box 181"/>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0</a:t>
                  </a:r>
                </a:p>
              </p:txBody>
            </p:sp>
            <p:sp>
              <p:nvSpPr>
                <p:cNvPr id="90280" name="Text Box 182"/>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4</a:t>
                  </a:r>
                </a:p>
              </p:txBody>
            </p:sp>
          </p:grpSp>
          <p:grpSp>
            <p:nvGrpSpPr>
              <p:cNvPr id="6" name="Group 183"/>
              <p:cNvGrpSpPr>
                <a:grpSpLocks/>
              </p:cNvGrpSpPr>
              <p:nvPr/>
            </p:nvGrpSpPr>
            <p:grpSpPr bwMode="auto">
              <a:xfrm>
                <a:off x="0" y="936"/>
                <a:ext cx="2520" cy="312"/>
                <a:chOff x="0" y="0"/>
                <a:chExt cx="2520" cy="312"/>
              </a:xfrm>
            </p:grpSpPr>
            <p:sp>
              <p:nvSpPr>
                <p:cNvPr id="90275" name="Text Box 184"/>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1400" b="1" dirty="0">
                      <a:solidFill>
                        <a:srgbClr val="000000"/>
                      </a:solidFill>
                      <a:latin typeface="Times New Roman" pitchFamily="18" charset="0"/>
                    </a:rPr>
                    <a:t>FILE2</a:t>
                  </a:r>
                </a:p>
              </p:txBody>
            </p:sp>
            <p:sp>
              <p:nvSpPr>
                <p:cNvPr id="90276" name="Text Box 185"/>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4</a:t>
                  </a:r>
                </a:p>
              </p:txBody>
            </p:sp>
            <p:sp>
              <p:nvSpPr>
                <p:cNvPr id="90277" name="Text Box 186"/>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9</a:t>
                  </a:r>
                </a:p>
              </p:txBody>
            </p:sp>
          </p:grpSp>
          <p:grpSp>
            <p:nvGrpSpPr>
              <p:cNvPr id="7" name="Group 187"/>
              <p:cNvGrpSpPr>
                <a:grpSpLocks/>
              </p:cNvGrpSpPr>
              <p:nvPr/>
            </p:nvGrpSpPr>
            <p:grpSpPr bwMode="auto">
              <a:xfrm>
                <a:off x="0" y="1248"/>
                <a:ext cx="2520" cy="312"/>
                <a:chOff x="0" y="0"/>
                <a:chExt cx="2520" cy="312"/>
              </a:xfrm>
            </p:grpSpPr>
            <p:sp>
              <p:nvSpPr>
                <p:cNvPr id="90272" name="Text Box 188"/>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FILE3</a:t>
                  </a:r>
                </a:p>
              </p:txBody>
            </p:sp>
            <p:sp>
              <p:nvSpPr>
                <p:cNvPr id="90273" name="Text Box 189"/>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13</a:t>
                  </a:r>
                </a:p>
              </p:txBody>
            </p:sp>
            <p:sp>
              <p:nvSpPr>
                <p:cNvPr id="90274" name="Text Box 190"/>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b="1" dirty="0">
                      <a:solidFill>
                        <a:srgbClr val="000000"/>
                      </a:solidFill>
                      <a:latin typeface="Times New Roman" pitchFamily="18" charset="0"/>
                    </a:rPr>
                    <a:t>4</a:t>
                  </a:r>
                </a:p>
              </p:txBody>
            </p:sp>
          </p:grpSp>
          <p:grpSp>
            <p:nvGrpSpPr>
              <p:cNvPr id="8" name="Group 191"/>
              <p:cNvGrpSpPr>
                <a:grpSpLocks/>
              </p:cNvGrpSpPr>
              <p:nvPr/>
            </p:nvGrpSpPr>
            <p:grpSpPr bwMode="auto">
              <a:xfrm>
                <a:off x="0" y="1560"/>
                <a:ext cx="2520" cy="312"/>
                <a:chOff x="0" y="0"/>
                <a:chExt cx="2520" cy="312"/>
              </a:xfrm>
            </p:grpSpPr>
            <p:sp>
              <p:nvSpPr>
                <p:cNvPr id="90269" name="Text Box 192"/>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FILE4</a:t>
                  </a:r>
                </a:p>
              </p:txBody>
            </p:sp>
            <p:sp>
              <p:nvSpPr>
                <p:cNvPr id="90270" name="Text Box 193"/>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17</a:t>
                  </a:r>
                </a:p>
              </p:txBody>
            </p:sp>
            <p:sp>
              <p:nvSpPr>
                <p:cNvPr id="90271" name="Text Box 194"/>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dirty="0">
                      <a:solidFill>
                        <a:srgbClr val="000000"/>
                      </a:solidFill>
                      <a:latin typeface="Times New Roman" pitchFamily="18" charset="0"/>
                    </a:rPr>
                    <a:t>5</a:t>
                  </a:r>
                </a:p>
              </p:txBody>
            </p:sp>
          </p:grpSp>
          <p:grpSp>
            <p:nvGrpSpPr>
              <p:cNvPr id="9" name="Group 195"/>
              <p:cNvGrpSpPr>
                <a:grpSpLocks/>
              </p:cNvGrpSpPr>
              <p:nvPr/>
            </p:nvGrpSpPr>
            <p:grpSpPr bwMode="auto">
              <a:xfrm>
                <a:off x="0" y="1872"/>
                <a:ext cx="2520" cy="780"/>
                <a:chOff x="0" y="0"/>
                <a:chExt cx="2520" cy="312"/>
              </a:xfrm>
            </p:grpSpPr>
            <p:sp>
              <p:nvSpPr>
                <p:cNvPr id="90266" name="Text Box 196"/>
                <p:cNvSpPr txBox="1">
                  <a:spLocks noChangeArrowheads="1"/>
                </p:cNvSpPr>
                <p:nvPr/>
              </p:nvSpPr>
              <p:spPr bwMode="auto">
                <a:xfrm>
                  <a:off x="0" y="3"/>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2400" b="1" dirty="0">
                      <a:solidFill>
                        <a:srgbClr val="000000"/>
                      </a:solidFill>
                      <a:latin typeface="Times New Roman" pitchFamily="18" charset="0"/>
                    </a:rPr>
                    <a:t>…</a:t>
                  </a:r>
                </a:p>
              </p:txBody>
            </p:sp>
            <p:sp>
              <p:nvSpPr>
                <p:cNvPr id="90267" name="Text Box 197"/>
                <p:cNvSpPr txBox="1">
                  <a:spLocks noChangeArrowheads="1"/>
                </p:cNvSpPr>
                <p:nvPr/>
              </p:nvSpPr>
              <p:spPr bwMode="auto">
                <a:xfrm>
                  <a:off x="7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2400" b="1" dirty="0">
                      <a:solidFill>
                        <a:srgbClr val="000000"/>
                      </a:solidFill>
                      <a:latin typeface="Times New Roman" pitchFamily="18" charset="0"/>
                    </a:rPr>
                    <a:t>…</a:t>
                  </a:r>
                </a:p>
              </p:txBody>
            </p:sp>
            <p:sp>
              <p:nvSpPr>
                <p:cNvPr id="90268" name="Text Box 198"/>
                <p:cNvSpPr txBox="1">
                  <a:spLocks noChangeArrowheads="1"/>
                </p:cNvSpPr>
                <p:nvPr/>
              </p:nvSpPr>
              <p:spPr bwMode="auto">
                <a:xfrm>
                  <a:off x="1620" y="0"/>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2400" b="1" dirty="0">
                      <a:solidFill>
                        <a:srgbClr val="000000"/>
                      </a:solidFill>
                      <a:latin typeface="Times New Roman" pitchFamily="18" charset="0"/>
                    </a:rPr>
                    <a:t>…</a:t>
                  </a:r>
                </a:p>
              </p:txBody>
            </p:sp>
          </p:grpSp>
        </p:grpSp>
        <p:sp>
          <p:nvSpPr>
            <p:cNvPr id="90117" name="Text Box 199"/>
            <p:cNvSpPr txBox="1">
              <a:spLocks noChangeArrowheads="1"/>
            </p:cNvSpPr>
            <p:nvPr/>
          </p:nvSpPr>
          <p:spPr bwMode="auto">
            <a:xfrm>
              <a:off x="0" y="3744"/>
              <a:ext cx="6840" cy="504"/>
            </a:xfrm>
            <a:prstGeom prst="rect">
              <a:avLst/>
            </a:prstGeom>
            <a:noFill/>
            <a:ln w="9525">
              <a:noFill/>
              <a:miter lim="800000"/>
              <a:headEnd/>
              <a:tailEnd/>
            </a:ln>
          </p:spPr>
          <p:txBody>
            <a:bodyPr/>
            <a:lstStyle/>
            <a:p>
              <a:pPr algn="ctr" eaLnBrk="0" hangingPunct="0"/>
              <a:r>
                <a:rPr lang="zh-CN" altLang="en-US" sz="2800" b="1">
                  <a:solidFill>
                    <a:srgbClr val="000000"/>
                  </a:solidFill>
                  <a:latin typeface="Times New Roman" pitchFamily="18" charset="0"/>
                </a:rPr>
                <a:t>图 磁盘 连续分配（紧凑以后）</a:t>
              </a:r>
            </a:p>
          </p:txBody>
        </p:sp>
        <p:grpSp>
          <p:nvGrpSpPr>
            <p:cNvPr id="10" name="Group 200"/>
            <p:cNvGrpSpPr>
              <a:grpSpLocks/>
            </p:cNvGrpSpPr>
            <p:nvPr/>
          </p:nvGrpSpPr>
          <p:grpSpPr bwMode="auto">
            <a:xfrm>
              <a:off x="0" y="0"/>
              <a:ext cx="3600" cy="3744"/>
              <a:chOff x="0" y="0"/>
              <a:chExt cx="3600" cy="3744"/>
            </a:xfrm>
          </p:grpSpPr>
          <p:grpSp>
            <p:nvGrpSpPr>
              <p:cNvPr id="11" name="Group 201"/>
              <p:cNvGrpSpPr>
                <a:grpSpLocks/>
              </p:cNvGrpSpPr>
              <p:nvPr/>
            </p:nvGrpSpPr>
            <p:grpSpPr bwMode="auto">
              <a:xfrm>
                <a:off x="0" y="936"/>
                <a:ext cx="3600" cy="2808"/>
                <a:chOff x="0" y="0"/>
                <a:chExt cx="3600" cy="2808"/>
              </a:xfrm>
            </p:grpSpPr>
            <p:sp>
              <p:nvSpPr>
                <p:cNvPr id="90243" name="Text Box 202"/>
                <p:cNvSpPr txBox="1">
                  <a:spLocks noChangeArrowheads="1"/>
                </p:cNvSpPr>
                <p:nvPr/>
              </p:nvSpPr>
              <p:spPr bwMode="auto">
                <a:xfrm>
                  <a:off x="1800" y="315"/>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9</a:t>
                  </a:r>
                </a:p>
              </p:txBody>
            </p:sp>
            <p:sp>
              <p:nvSpPr>
                <p:cNvPr id="90244" name="Text Box 203"/>
                <p:cNvSpPr txBox="1">
                  <a:spLocks noChangeArrowheads="1"/>
                </p:cNvSpPr>
                <p:nvPr/>
              </p:nvSpPr>
              <p:spPr bwMode="auto">
                <a:xfrm>
                  <a:off x="2340" y="312"/>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10</a:t>
                  </a:r>
                </a:p>
              </p:txBody>
            </p:sp>
            <p:sp>
              <p:nvSpPr>
                <p:cNvPr id="90245" name="Text Box 204"/>
                <p:cNvSpPr txBox="1">
                  <a:spLocks noChangeArrowheads="1"/>
                </p:cNvSpPr>
                <p:nvPr/>
              </p:nvSpPr>
              <p:spPr bwMode="auto">
                <a:xfrm>
                  <a:off x="2880" y="312"/>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11</a:t>
                  </a:r>
                </a:p>
              </p:txBody>
            </p:sp>
            <p:sp>
              <p:nvSpPr>
                <p:cNvPr id="90246" name="Freeform 205"/>
                <p:cNvSpPr>
                  <a:spLocks/>
                </p:cNvSpPr>
                <p:nvPr/>
              </p:nvSpPr>
              <p:spPr bwMode="auto">
                <a:xfrm>
                  <a:off x="0" y="2496"/>
                  <a:ext cx="3600" cy="312"/>
                </a:xfrm>
                <a:custGeom>
                  <a:avLst/>
                  <a:gdLst>
                    <a:gd name="T0" fmla="*/ 0 w 3420"/>
                    <a:gd name="T1" fmla="*/ 0 h 156"/>
                    <a:gd name="T2" fmla="*/ 1705 w 3420"/>
                    <a:gd name="T3" fmla="*/ 312 h 156"/>
                    <a:gd name="T4" fmla="*/ 3600 w 3420"/>
                    <a:gd name="T5" fmla="*/ 0 h 156"/>
                    <a:gd name="T6" fmla="*/ 0 60000 65536"/>
                    <a:gd name="T7" fmla="*/ 0 60000 65536"/>
                    <a:gd name="T8" fmla="*/ 0 60000 65536"/>
                    <a:gd name="T9" fmla="*/ 0 w 3420"/>
                    <a:gd name="T10" fmla="*/ 0 h 156"/>
                    <a:gd name="T11" fmla="*/ 3420 w 3420"/>
                    <a:gd name="T12" fmla="*/ 156 h 156"/>
                  </a:gdLst>
                  <a:ahLst/>
                  <a:cxnLst>
                    <a:cxn ang="T6">
                      <a:pos x="T0" y="T1"/>
                    </a:cxn>
                    <a:cxn ang="T7">
                      <a:pos x="T2" y="T3"/>
                    </a:cxn>
                    <a:cxn ang="T8">
                      <a:pos x="T4" y="T5"/>
                    </a:cxn>
                  </a:cxnLst>
                  <a:rect l="T9" t="T10" r="T11" b="T12"/>
                  <a:pathLst>
                    <a:path w="3420" h="156">
                      <a:moveTo>
                        <a:pt x="0" y="0"/>
                      </a:moveTo>
                      <a:cubicBezTo>
                        <a:pt x="525" y="78"/>
                        <a:pt x="1050" y="156"/>
                        <a:pt x="1620" y="156"/>
                      </a:cubicBezTo>
                      <a:cubicBezTo>
                        <a:pt x="2190" y="156"/>
                        <a:pt x="2805" y="78"/>
                        <a:pt x="3420" y="0"/>
                      </a:cubicBezTo>
                    </a:path>
                  </a:pathLst>
                </a:custGeom>
                <a:noFill/>
                <a:ln w="12700" cmpd="sng">
                  <a:solidFill>
                    <a:srgbClr val="000000"/>
                  </a:solidFill>
                  <a:miter lim="800000"/>
                  <a:headEnd/>
                  <a:tailEnd/>
                </a:ln>
              </p:spPr>
              <p:txBody>
                <a:bodyPr/>
                <a:lstStyle/>
                <a:p>
                  <a:endParaRPr lang="zh-CN" altLang="en-US"/>
                </a:p>
              </p:txBody>
            </p:sp>
            <p:sp>
              <p:nvSpPr>
                <p:cNvPr id="90247" name="Text Box 206"/>
                <p:cNvSpPr txBox="1">
                  <a:spLocks noChangeArrowheads="1"/>
                </p:cNvSpPr>
                <p:nvPr/>
              </p:nvSpPr>
              <p:spPr bwMode="auto">
                <a:xfrm>
                  <a:off x="36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48" name="Text Box 207"/>
                <p:cNvSpPr txBox="1">
                  <a:spLocks noChangeArrowheads="1"/>
                </p:cNvSpPr>
                <p:nvPr/>
              </p:nvSpPr>
              <p:spPr bwMode="auto">
                <a:xfrm>
                  <a:off x="90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49" name="Text Box 208"/>
                <p:cNvSpPr txBox="1">
                  <a:spLocks noChangeArrowheads="1"/>
                </p:cNvSpPr>
                <p:nvPr/>
              </p:nvSpPr>
              <p:spPr bwMode="auto">
                <a:xfrm>
                  <a:off x="144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0" name="Text Box 209"/>
                <p:cNvSpPr txBox="1">
                  <a:spLocks noChangeArrowheads="1"/>
                </p:cNvSpPr>
                <p:nvPr/>
              </p:nvSpPr>
              <p:spPr bwMode="auto">
                <a:xfrm>
                  <a:off x="897" y="93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1" name="Text Box 210"/>
                <p:cNvSpPr txBox="1">
                  <a:spLocks noChangeArrowheads="1"/>
                </p:cNvSpPr>
                <p:nvPr/>
              </p:nvSpPr>
              <p:spPr bwMode="auto">
                <a:xfrm>
                  <a:off x="1440" y="93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2" name="Text Box 211"/>
                <p:cNvSpPr txBox="1">
                  <a:spLocks noChangeArrowheads="1"/>
                </p:cNvSpPr>
                <p:nvPr/>
              </p:nvSpPr>
              <p:spPr bwMode="auto">
                <a:xfrm>
                  <a:off x="1980" y="93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3" name="Text Box 212"/>
                <p:cNvSpPr txBox="1">
                  <a:spLocks noChangeArrowheads="1"/>
                </p:cNvSpPr>
                <p:nvPr/>
              </p:nvSpPr>
              <p:spPr bwMode="auto">
                <a:xfrm>
                  <a:off x="2520" y="93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4" name="Text Box 213"/>
                <p:cNvSpPr txBox="1">
                  <a:spLocks noChangeArrowheads="1"/>
                </p:cNvSpPr>
                <p:nvPr/>
              </p:nvSpPr>
              <p:spPr bwMode="auto">
                <a:xfrm>
                  <a:off x="3060" y="93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5" name="Text Box 214"/>
                <p:cNvSpPr txBox="1">
                  <a:spLocks noChangeArrowheads="1"/>
                </p:cNvSpPr>
                <p:nvPr/>
              </p:nvSpPr>
              <p:spPr bwMode="auto">
                <a:xfrm>
                  <a:off x="360" y="140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6" name="Text Box 215"/>
                <p:cNvSpPr txBox="1">
                  <a:spLocks noChangeArrowheads="1"/>
                </p:cNvSpPr>
                <p:nvPr/>
              </p:nvSpPr>
              <p:spPr bwMode="auto">
                <a:xfrm>
                  <a:off x="900" y="140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7" name="Text Box 216"/>
                <p:cNvSpPr txBox="1">
                  <a:spLocks noChangeArrowheads="1"/>
                </p:cNvSpPr>
                <p:nvPr/>
              </p:nvSpPr>
              <p:spPr bwMode="auto">
                <a:xfrm>
                  <a:off x="1440" y="140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58" name="Text Box 217"/>
                <p:cNvSpPr txBox="1">
                  <a:spLocks noChangeArrowheads="1"/>
                </p:cNvSpPr>
                <p:nvPr/>
              </p:nvSpPr>
              <p:spPr bwMode="auto">
                <a:xfrm>
                  <a:off x="1980" y="140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grpSp>
            <p:nvGrpSpPr>
              <p:cNvPr id="12" name="Group 218"/>
              <p:cNvGrpSpPr>
                <a:grpSpLocks/>
              </p:cNvGrpSpPr>
              <p:nvPr/>
            </p:nvGrpSpPr>
            <p:grpSpPr bwMode="auto">
              <a:xfrm>
                <a:off x="0" y="0"/>
                <a:ext cx="3600" cy="3588"/>
                <a:chOff x="0" y="0"/>
                <a:chExt cx="3600" cy="3588"/>
              </a:xfrm>
            </p:grpSpPr>
            <p:grpSp>
              <p:nvGrpSpPr>
                <p:cNvPr id="13" name="Group 219"/>
                <p:cNvGrpSpPr>
                  <a:grpSpLocks/>
                </p:cNvGrpSpPr>
                <p:nvPr/>
              </p:nvGrpSpPr>
              <p:grpSpPr bwMode="auto">
                <a:xfrm>
                  <a:off x="900" y="1872"/>
                  <a:ext cx="360" cy="156"/>
                  <a:chOff x="0" y="0"/>
                  <a:chExt cx="360" cy="156"/>
                </a:xfrm>
              </p:grpSpPr>
              <p:sp>
                <p:nvSpPr>
                  <p:cNvPr id="90241" name="Line 220"/>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sp>
                <p:nvSpPr>
                  <p:cNvPr id="90242" name="Line 221"/>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grpSp>
            <p:grpSp>
              <p:nvGrpSpPr>
                <p:cNvPr id="14" name="Group 222"/>
                <p:cNvGrpSpPr>
                  <a:grpSpLocks/>
                </p:cNvGrpSpPr>
                <p:nvPr/>
              </p:nvGrpSpPr>
              <p:grpSpPr bwMode="auto">
                <a:xfrm>
                  <a:off x="3060" y="1872"/>
                  <a:ext cx="360" cy="156"/>
                  <a:chOff x="0" y="0"/>
                  <a:chExt cx="360" cy="156"/>
                </a:xfrm>
              </p:grpSpPr>
              <p:sp>
                <p:nvSpPr>
                  <p:cNvPr id="90237" name="Line 223"/>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90238" name="Line 224"/>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90239" name="Line 225"/>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90240" name="Line 226"/>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nvGrpSpPr>
                <p:cNvPr id="15" name="Group 227"/>
                <p:cNvGrpSpPr>
                  <a:grpSpLocks/>
                </p:cNvGrpSpPr>
                <p:nvPr/>
              </p:nvGrpSpPr>
              <p:grpSpPr bwMode="auto">
                <a:xfrm>
                  <a:off x="1440" y="1872"/>
                  <a:ext cx="360" cy="156"/>
                  <a:chOff x="0" y="0"/>
                  <a:chExt cx="360" cy="156"/>
                </a:xfrm>
              </p:grpSpPr>
              <p:sp>
                <p:nvSpPr>
                  <p:cNvPr id="90235" name="Line 228"/>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sp>
                <p:nvSpPr>
                  <p:cNvPr id="90236" name="Line 229"/>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grpSp>
            <p:grpSp>
              <p:nvGrpSpPr>
                <p:cNvPr id="16" name="Group 230"/>
                <p:cNvGrpSpPr>
                  <a:grpSpLocks/>
                </p:cNvGrpSpPr>
                <p:nvPr/>
              </p:nvGrpSpPr>
              <p:grpSpPr bwMode="auto">
                <a:xfrm>
                  <a:off x="1980" y="1872"/>
                  <a:ext cx="360" cy="156"/>
                  <a:chOff x="0" y="0"/>
                  <a:chExt cx="360" cy="156"/>
                </a:xfrm>
              </p:grpSpPr>
              <p:sp>
                <p:nvSpPr>
                  <p:cNvPr id="90233" name="Line 231"/>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sp>
                <p:nvSpPr>
                  <p:cNvPr id="90234" name="Line 232"/>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grpSp>
            <p:grpSp>
              <p:nvGrpSpPr>
                <p:cNvPr id="17" name="Group 233"/>
                <p:cNvGrpSpPr>
                  <a:grpSpLocks/>
                </p:cNvGrpSpPr>
                <p:nvPr/>
              </p:nvGrpSpPr>
              <p:grpSpPr bwMode="auto">
                <a:xfrm>
                  <a:off x="2520" y="1872"/>
                  <a:ext cx="360" cy="156"/>
                  <a:chOff x="0" y="0"/>
                  <a:chExt cx="360" cy="156"/>
                </a:xfrm>
              </p:grpSpPr>
              <p:sp>
                <p:nvSpPr>
                  <p:cNvPr id="90231" name="Line 234"/>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sp>
                <p:nvSpPr>
                  <p:cNvPr id="90232" name="Line 235"/>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grpSp>
            <p:grpSp>
              <p:nvGrpSpPr>
                <p:cNvPr id="18" name="Group 236"/>
                <p:cNvGrpSpPr>
                  <a:grpSpLocks/>
                </p:cNvGrpSpPr>
                <p:nvPr/>
              </p:nvGrpSpPr>
              <p:grpSpPr bwMode="auto">
                <a:xfrm>
                  <a:off x="0" y="0"/>
                  <a:ext cx="3600" cy="3588"/>
                  <a:chOff x="0" y="0"/>
                  <a:chExt cx="3600" cy="3588"/>
                </a:xfrm>
              </p:grpSpPr>
              <p:sp>
                <p:nvSpPr>
                  <p:cNvPr id="90127" name="Oval 237"/>
                  <p:cNvSpPr>
                    <a:spLocks noChangeArrowheads="1"/>
                  </p:cNvSpPr>
                  <p:nvPr/>
                </p:nvSpPr>
                <p:spPr bwMode="auto">
                  <a:xfrm>
                    <a:off x="0" y="0"/>
                    <a:ext cx="3600" cy="624"/>
                  </a:xfrm>
                  <a:prstGeom prst="ellipse">
                    <a:avLst/>
                  </a:prstGeom>
                  <a:solidFill>
                    <a:srgbClr val="C0C0C0">
                      <a:alpha val="50195"/>
                    </a:srgbClr>
                  </a:solidFill>
                  <a:ln w="9525">
                    <a:solidFill>
                      <a:srgbClr val="000000"/>
                    </a:solidFill>
                    <a:round/>
                    <a:headEnd/>
                    <a:tailEnd/>
                  </a:ln>
                </p:spPr>
                <p:txBody>
                  <a:bodyPr/>
                  <a:lstStyle/>
                  <a:p>
                    <a:endParaRPr lang="zh-CN" altLang="en-US"/>
                  </a:p>
                </p:txBody>
              </p:sp>
              <p:sp>
                <p:nvSpPr>
                  <p:cNvPr id="90128" name="Line 238"/>
                  <p:cNvSpPr>
                    <a:spLocks noChangeShapeType="1"/>
                  </p:cNvSpPr>
                  <p:nvPr/>
                </p:nvSpPr>
                <p:spPr bwMode="auto">
                  <a:xfrm>
                    <a:off x="0" y="312"/>
                    <a:ext cx="0" cy="3120"/>
                  </a:xfrm>
                  <a:prstGeom prst="line">
                    <a:avLst/>
                  </a:prstGeom>
                  <a:noFill/>
                  <a:ln w="9525">
                    <a:solidFill>
                      <a:srgbClr val="000000"/>
                    </a:solidFill>
                    <a:round/>
                    <a:headEnd/>
                    <a:tailEnd/>
                  </a:ln>
                </p:spPr>
                <p:txBody>
                  <a:bodyPr/>
                  <a:lstStyle/>
                  <a:p>
                    <a:endParaRPr lang="zh-CN" altLang="en-US"/>
                  </a:p>
                </p:txBody>
              </p:sp>
              <p:sp>
                <p:nvSpPr>
                  <p:cNvPr id="90129" name="Line 239"/>
                  <p:cNvSpPr>
                    <a:spLocks noChangeShapeType="1"/>
                  </p:cNvSpPr>
                  <p:nvPr/>
                </p:nvSpPr>
                <p:spPr bwMode="auto">
                  <a:xfrm>
                    <a:off x="3600" y="312"/>
                    <a:ext cx="0" cy="3120"/>
                  </a:xfrm>
                  <a:prstGeom prst="line">
                    <a:avLst/>
                  </a:prstGeom>
                  <a:noFill/>
                  <a:ln w="9525">
                    <a:solidFill>
                      <a:srgbClr val="000000"/>
                    </a:solidFill>
                    <a:round/>
                    <a:headEnd/>
                    <a:tailEnd/>
                  </a:ln>
                </p:spPr>
                <p:txBody>
                  <a:bodyPr/>
                  <a:lstStyle/>
                  <a:p>
                    <a:endParaRPr lang="zh-CN" altLang="en-US"/>
                  </a:p>
                </p:txBody>
              </p:sp>
              <p:grpSp>
                <p:nvGrpSpPr>
                  <p:cNvPr id="19" name="Group 240"/>
                  <p:cNvGrpSpPr>
                    <a:grpSpLocks/>
                  </p:cNvGrpSpPr>
                  <p:nvPr/>
                </p:nvGrpSpPr>
                <p:grpSpPr bwMode="auto">
                  <a:xfrm>
                    <a:off x="180" y="2652"/>
                    <a:ext cx="3240" cy="936"/>
                    <a:chOff x="0" y="0"/>
                    <a:chExt cx="3240" cy="936"/>
                  </a:xfrm>
                </p:grpSpPr>
                <p:sp>
                  <p:nvSpPr>
                    <p:cNvPr id="90205" name="Text Box 241"/>
                    <p:cNvSpPr txBox="1">
                      <a:spLocks noChangeArrowheads="1"/>
                    </p:cNvSpPr>
                    <p:nvPr/>
                  </p:nvSpPr>
                  <p:spPr bwMode="auto">
                    <a:xfrm>
                      <a:off x="18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6" name="Text Box 242"/>
                    <p:cNvSpPr txBox="1">
                      <a:spLocks noChangeArrowheads="1"/>
                    </p:cNvSpPr>
                    <p:nvPr/>
                  </p:nvSpPr>
                  <p:spPr bwMode="auto">
                    <a:xfrm>
                      <a:off x="72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7" name="Text Box 243"/>
                    <p:cNvSpPr txBox="1">
                      <a:spLocks noChangeArrowheads="1"/>
                    </p:cNvSpPr>
                    <p:nvPr/>
                  </p:nvSpPr>
                  <p:spPr bwMode="auto">
                    <a:xfrm>
                      <a:off x="126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8" name="Text Box 244"/>
                    <p:cNvSpPr txBox="1">
                      <a:spLocks noChangeArrowheads="1"/>
                    </p:cNvSpPr>
                    <p:nvPr/>
                  </p:nvSpPr>
                  <p:spPr bwMode="auto">
                    <a:xfrm>
                      <a:off x="180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9" name="Text Box 245"/>
                    <p:cNvSpPr txBox="1">
                      <a:spLocks noChangeArrowheads="1"/>
                    </p:cNvSpPr>
                    <p:nvPr/>
                  </p:nvSpPr>
                  <p:spPr bwMode="auto">
                    <a:xfrm>
                      <a:off x="234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10" name="Text Box 246"/>
                    <p:cNvSpPr txBox="1">
                      <a:spLocks noChangeArrowheads="1"/>
                    </p:cNvSpPr>
                    <p:nvPr/>
                  </p:nvSpPr>
                  <p:spPr bwMode="auto">
                    <a:xfrm>
                      <a:off x="288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11" name="Text Box 247"/>
                    <p:cNvSpPr txBox="1">
                      <a:spLocks noChangeArrowheads="1"/>
                    </p:cNvSpPr>
                    <p:nvPr/>
                  </p:nvSpPr>
                  <p:spPr bwMode="auto">
                    <a:xfrm>
                      <a:off x="180" y="62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12" name="Text Box 248"/>
                    <p:cNvSpPr txBox="1">
                      <a:spLocks noChangeArrowheads="1"/>
                    </p:cNvSpPr>
                    <p:nvPr/>
                  </p:nvSpPr>
                  <p:spPr bwMode="auto">
                    <a:xfrm>
                      <a:off x="720" y="62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13" name="Text Box 249"/>
                    <p:cNvSpPr txBox="1">
                      <a:spLocks noChangeArrowheads="1"/>
                    </p:cNvSpPr>
                    <p:nvPr/>
                  </p:nvSpPr>
                  <p:spPr bwMode="auto">
                    <a:xfrm>
                      <a:off x="1260" y="62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14" name="Text Box 250"/>
                    <p:cNvSpPr txBox="1">
                      <a:spLocks noChangeArrowheads="1"/>
                    </p:cNvSpPr>
                    <p:nvPr/>
                  </p:nvSpPr>
                  <p:spPr bwMode="auto">
                    <a:xfrm>
                      <a:off x="1800" y="62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15" name="Text Box 251"/>
                    <p:cNvSpPr txBox="1">
                      <a:spLocks noChangeArrowheads="1"/>
                    </p:cNvSpPr>
                    <p:nvPr/>
                  </p:nvSpPr>
                  <p:spPr bwMode="auto">
                    <a:xfrm>
                      <a:off x="2340" y="62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16" name="Text Box 252"/>
                    <p:cNvSpPr txBox="1">
                      <a:spLocks noChangeArrowheads="1"/>
                    </p:cNvSpPr>
                    <p:nvPr/>
                  </p:nvSpPr>
                  <p:spPr bwMode="auto">
                    <a:xfrm>
                      <a:off x="2880" y="624"/>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nvGrpSpPr>
                    <p:cNvPr id="20" name="Group 253"/>
                    <p:cNvGrpSpPr>
                      <a:grpSpLocks/>
                    </p:cNvGrpSpPr>
                    <p:nvPr/>
                  </p:nvGrpSpPr>
                  <p:grpSpPr bwMode="auto">
                    <a:xfrm>
                      <a:off x="0" y="0"/>
                      <a:ext cx="3060" cy="936"/>
                      <a:chOff x="0" y="0"/>
                      <a:chExt cx="3060" cy="936"/>
                    </a:xfrm>
                  </p:grpSpPr>
                  <p:sp>
                    <p:nvSpPr>
                      <p:cNvPr id="90218" name="Text Box 254"/>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24</a:t>
                        </a:r>
                      </a:p>
                    </p:txBody>
                  </p:sp>
                  <p:sp>
                    <p:nvSpPr>
                      <p:cNvPr id="90219" name="Text Box 255"/>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25</a:t>
                        </a:r>
                      </a:p>
                    </p:txBody>
                  </p:sp>
                  <p:sp>
                    <p:nvSpPr>
                      <p:cNvPr id="90220" name="Text Box 256"/>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26</a:t>
                        </a:r>
                      </a:p>
                    </p:txBody>
                  </p:sp>
                  <p:sp>
                    <p:nvSpPr>
                      <p:cNvPr id="90221" name="Text Box 257"/>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27</a:t>
                        </a:r>
                      </a:p>
                    </p:txBody>
                  </p:sp>
                  <p:sp>
                    <p:nvSpPr>
                      <p:cNvPr id="90222" name="Text Box 258"/>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28</a:t>
                        </a:r>
                      </a:p>
                    </p:txBody>
                  </p:sp>
                  <p:sp>
                    <p:nvSpPr>
                      <p:cNvPr id="90223" name="Text Box 259"/>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29</a:t>
                        </a:r>
                      </a:p>
                    </p:txBody>
                  </p:sp>
                  <p:sp>
                    <p:nvSpPr>
                      <p:cNvPr id="90224" name="Text Box 260"/>
                      <p:cNvSpPr txBox="1">
                        <a:spLocks noChangeArrowheads="1"/>
                      </p:cNvSpPr>
                      <p:nvPr/>
                    </p:nvSpPr>
                    <p:spPr bwMode="auto">
                      <a:xfrm>
                        <a:off x="0" y="468"/>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30</a:t>
                        </a:r>
                      </a:p>
                    </p:txBody>
                  </p:sp>
                  <p:sp>
                    <p:nvSpPr>
                      <p:cNvPr id="90225" name="Text Box 261"/>
                      <p:cNvSpPr txBox="1">
                        <a:spLocks noChangeArrowheads="1"/>
                      </p:cNvSpPr>
                      <p:nvPr/>
                    </p:nvSpPr>
                    <p:spPr bwMode="auto">
                      <a:xfrm>
                        <a:off x="540" y="468"/>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31</a:t>
                        </a:r>
                      </a:p>
                    </p:txBody>
                  </p:sp>
                  <p:sp>
                    <p:nvSpPr>
                      <p:cNvPr id="90226" name="Text Box 262"/>
                      <p:cNvSpPr txBox="1">
                        <a:spLocks noChangeArrowheads="1"/>
                      </p:cNvSpPr>
                      <p:nvPr/>
                    </p:nvSpPr>
                    <p:spPr bwMode="auto">
                      <a:xfrm>
                        <a:off x="1080" y="468"/>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32</a:t>
                        </a:r>
                      </a:p>
                    </p:txBody>
                  </p:sp>
                  <p:sp>
                    <p:nvSpPr>
                      <p:cNvPr id="90227" name="Text Box 263"/>
                      <p:cNvSpPr txBox="1">
                        <a:spLocks noChangeArrowheads="1"/>
                      </p:cNvSpPr>
                      <p:nvPr/>
                    </p:nvSpPr>
                    <p:spPr bwMode="auto">
                      <a:xfrm>
                        <a:off x="1620" y="468"/>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33</a:t>
                        </a:r>
                      </a:p>
                    </p:txBody>
                  </p:sp>
                  <p:sp>
                    <p:nvSpPr>
                      <p:cNvPr id="90228" name="Text Box 264"/>
                      <p:cNvSpPr txBox="1">
                        <a:spLocks noChangeArrowheads="1"/>
                      </p:cNvSpPr>
                      <p:nvPr/>
                    </p:nvSpPr>
                    <p:spPr bwMode="auto">
                      <a:xfrm>
                        <a:off x="2160" y="468"/>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34</a:t>
                        </a:r>
                      </a:p>
                    </p:txBody>
                  </p:sp>
                  <p:sp>
                    <p:nvSpPr>
                      <p:cNvPr id="90229" name="Text Box 265"/>
                      <p:cNvSpPr txBox="1">
                        <a:spLocks noChangeArrowheads="1"/>
                      </p:cNvSpPr>
                      <p:nvPr/>
                    </p:nvSpPr>
                    <p:spPr bwMode="auto">
                      <a:xfrm>
                        <a:off x="2700" y="468"/>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35</a:t>
                        </a:r>
                      </a:p>
                    </p:txBody>
                  </p:sp>
                  <p:sp>
                    <p:nvSpPr>
                      <p:cNvPr id="90230" name="Line 266"/>
                      <p:cNvSpPr>
                        <a:spLocks noChangeShapeType="1"/>
                      </p:cNvSpPr>
                      <p:nvPr/>
                    </p:nvSpPr>
                    <p:spPr bwMode="auto">
                      <a:xfrm>
                        <a:off x="1260" y="936"/>
                        <a:ext cx="360" cy="0"/>
                      </a:xfrm>
                      <a:prstGeom prst="line">
                        <a:avLst/>
                      </a:prstGeom>
                      <a:noFill/>
                      <a:ln w="38100" cap="rnd">
                        <a:solidFill>
                          <a:srgbClr val="000000"/>
                        </a:solidFill>
                        <a:prstDash val="sysDot"/>
                        <a:round/>
                        <a:headEnd/>
                        <a:tailEnd/>
                      </a:ln>
                    </p:spPr>
                    <p:txBody>
                      <a:bodyPr/>
                      <a:lstStyle/>
                      <a:p>
                        <a:endParaRPr lang="zh-CN" altLang="en-US"/>
                      </a:p>
                    </p:txBody>
                  </p:sp>
                </p:grpSp>
              </p:grpSp>
              <p:grpSp>
                <p:nvGrpSpPr>
                  <p:cNvPr id="21" name="Group 267"/>
                  <p:cNvGrpSpPr>
                    <a:grpSpLocks/>
                  </p:cNvGrpSpPr>
                  <p:nvPr/>
                </p:nvGrpSpPr>
                <p:grpSpPr bwMode="auto">
                  <a:xfrm>
                    <a:off x="180" y="624"/>
                    <a:ext cx="3240" cy="1404"/>
                    <a:chOff x="0" y="0"/>
                    <a:chExt cx="3240" cy="1404"/>
                  </a:xfrm>
                </p:grpSpPr>
                <p:sp>
                  <p:nvSpPr>
                    <p:cNvPr id="90174" name="Text Box 268"/>
                    <p:cNvSpPr txBox="1">
                      <a:spLocks noChangeArrowheads="1"/>
                    </p:cNvSpPr>
                    <p:nvPr/>
                  </p:nvSpPr>
                  <p:spPr bwMode="auto">
                    <a:xfrm>
                      <a:off x="540" y="156"/>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a:t>
                      </a:r>
                    </a:p>
                  </p:txBody>
                </p:sp>
                <p:sp>
                  <p:nvSpPr>
                    <p:cNvPr id="90175" name="Text Box 269"/>
                    <p:cNvSpPr txBox="1">
                      <a:spLocks noChangeArrowheads="1"/>
                    </p:cNvSpPr>
                    <p:nvPr/>
                  </p:nvSpPr>
                  <p:spPr bwMode="auto">
                    <a:xfrm>
                      <a:off x="1080" y="156"/>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a:t>
                      </a:r>
                    </a:p>
                  </p:txBody>
                </p:sp>
                <p:grpSp>
                  <p:nvGrpSpPr>
                    <p:cNvPr id="22" name="Group 270"/>
                    <p:cNvGrpSpPr>
                      <a:grpSpLocks/>
                    </p:cNvGrpSpPr>
                    <p:nvPr/>
                  </p:nvGrpSpPr>
                  <p:grpSpPr bwMode="auto">
                    <a:xfrm>
                      <a:off x="0" y="0"/>
                      <a:ext cx="3240" cy="1404"/>
                      <a:chOff x="0" y="0"/>
                      <a:chExt cx="3240" cy="1404"/>
                    </a:xfrm>
                  </p:grpSpPr>
                  <p:sp>
                    <p:nvSpPr>
                      <p:cNvPr id="90177" name="Text Box 271"/>
                      <p:cNvSpPr txBox="1">
                        <a:spLocks noChangeArrowheads="1"/>
                      </p:cNvSpPr>
                      <p:nvPr/>
                    </p:nvSpPr>
                    <p:spPr bwMode="auto">
                      <a:xfrm>
                        <a:off x="0" y="156"/>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0</a:t>
                        </a:r>
                      </a:p>
                    </p:txBody>
                  </p:sp>
                  <p:sp>
                    <p:nvSpPr>
                      <p:cNvPr id="90178" name="Text Box 272"/>
                      <p:cNvSpPr txBox="1">
                        <a:spLocks noChangeArrowheads="1"/>
                      </p:cNvSpPr>
                      <p:nvPr/>
                    </p:nvSpPr>
                    <p:spPr bwMode="auto">
                      <a:xfrm>
                        <a:off x="1620" y="156"/>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3</a:t>
                        </a:r>
                      </a:p>
                    </p:txBody>
                  </p:sp>
                  <p:sp>
                    <p:nvSpPr>
                      <p:cNvPr id="90179" name="Text Box 273"/>
                      <p:cNvSpPr txBox="1">
                        <a:spLocks noChangeArrowheads="1"/>
                      </p:cNvSpPr>
                      <p:nvPr/>
                    </p:nvSpPr>
                    <p:spPr bwMode="auto">
                      <a:xfrm>
                        <a:off x="2160" y="156"/>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4</a:t>
                        </a:r>
                      </a:p>
                    </p:txBody>
                  </p:sp>
                  <p:sp>
                    <p:nvSpPr>
                      <p:cNvPr id="90180" name="Text Box 274"/>
                      <p:cNvSpPr txBox="1">
                        <a:spLocks noChangeArrowheads="1"/>
                      </p:cNvSpPr>
                      <p:nvPr/>
                    </p:nvSpPr>
                    <p:spPr bwMode="auto">
                      <a:xfrm>
                        <a:off x="2700" y="156"/>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5</a:t>
                        </a:r>
                      </a:p>
                    </p:txBody>
                  </p:sp>
                  <p:sp>
                    <p:nvSpPr>
                      <p:cNvPr id="90181" name="Text Box 275"/>
                      <p:cNvSpPr txBox="1">
                        <a:spLocks noChangeArrowheads="1"/>
                      </p:cNvSpPr>
                      <p:nvPr/>
                    </p:nvSpPr>
                    <p:spPr bwMode="auto">
                      <a:xfrm>
                        <a:off x="540" y="0"/>
                        <a:ext cx="720" cy="309"/>
                      </a:xfrm>
                      <a:prstGeom prst="rect">
                        <a:avLst/>
                      </a:prstGeom>
                      <a:noFill/>
                      <a:ln w="9525">
                        <a:noFill/>
                        <a:miter lim="800000"/>
                        <a:headEnd/>
                        <a:tailEnd/>
                      </a:ln>
                    </p:spPr>
                    <p:txBody>
                      <a:bodyPr lIns="0" tIns="0" rIns="0" bIns="0"/>
                      <a:lstStyle/>
                      <a:p>
                        <a:pPr algn="just" eaLnBrk="0" hangingPunct="0"/>
                        <a:r>
                          <a:rPr lang="en-US" altLang="zh-CN" sz="1600" b="1" dirty="0">
                            <a:solidFill>
                              <a:srgbClr val="000000"/>
                            </a:solidFill>
                            <a:latin typeface="Times New Roman" pitchFamily="18" charset="0"/>
                          </a:rPr>
                          <a:t>FILE1</a:t>
                        </a:r>
                      </a:p>
                    </p:txBody>
                  </p:sp>
                  <p:grpSp>
                    <p:nvGrpSpPr>
                      <p:cNvPr id="23" name="Group 276"/>
                      <p:cNvGrpSpPr>
                        <a:grpSpLocks/>
                      </p:cNvGrpSpPr>
                      <p:nvPr/>
                    </p:nvGrpSpPr>
                    <p:grpSpPr bwMode="auto">
                      <a:xfrm>
                        <a:off x="180" y="312"/>
                        <a:ext cx="3060" cy="1092"/>
                        <a:chOff x="0" y="0"/>
                        <a:chExt cx="3060" cy="1092"/>
                      </a:xfrm>
                    </p:grpSpPr>
                    <p:sp>
                      <p:nvSpPr>
                        <p:cNvPr id="90196" name="Text Box 277"/>
                        <p:cNvSpPr txBox="1">
                          <a:spLocks noChangeArrowheads="1"/>
                        </p:cNvSpPr>
                        <p:nvPr/>
                      </p:nvSpPr>
                      <p:spPr bwMode="auto">
                        <a:xfrm>
                          <a:off x="2160" y="0"/>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197" name="Text Box 278"/>
                        <p:cNvSpPr txBox="1">
                          <a:spLocks noChangeArrowheads="1"/>
                        </p:cNvSpPr>
                        <p:nvPr/>
                      </p:nvSpPr>
                      <p:spPr bwMode="auto">
                        <a:xfrm>
                          <a:off x="2700" y="0"/>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198" name="Text Box 279"/>
                        <p:cNvSpPr txBox="1">
                          <a:spLocks noChangeArrowheads="1"/>
                        </p:cNvSpPr>
                        <p:nvPr/>
                      </p:nvSpPr>
                      <p:spPr bwMode="auto">
                        <a:xfrm>
                          <a:off x="0" y="936"/>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199" name="Text Box 280"/>
                        <p:cNvSpPr txBox="1">
                          <a:spLocks noChangeArrowheads="1"/>
                        </p:cNvSpPr>
                        <p:nvPr/>
                      </p:nvSpPr>
                      <p:spPr bwMode="auto">
                        <a:xfrm>
                          <a:off x="0" y="468"/>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0" name="Text Box 281"/>
                        <p:cNvSpPr txBox="1">
                          <a:spLocks noChangeArrowheads="1"/>
                        </p:cNvSpPr>
                        <p:nvPr/>
                      </p:nvSpPr>
                      <p:spPr bwMode="auto">
                        <a:xfrm>
                          <a:off x="540" y="468"/>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1" name="Text Box 282"/>
                        <p:cNvSpPr txBox="1">
                          <a:spLocks noChangeArrowheads="1"/>
                        </p:cNvSpPr>
                        <p:nvPr/>
                      </p:nvSpPr>
                      <p:spPr bwMode="auto">
                        <a:xfrm>
                          <a:off x="1080" y="468"/>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2" name="Text Box 283"/>
                        <p:cNvSpPr txBox="1">
                          <a:spLocks noChangeArrowheads="1"/>
                        </p:cNvSpPr>
                        <p:nvPr/>
                      </p:nvSpPr>
                      <p:spPr bwMode="auto">
                        <a:xfrm>
                          <a:off x="1620" y="471"/>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3" name="Text Box 284"/>
                        <p:cNvSpPr txBox="1">
                          <a:spLocks noChangeArrowheads="1"/>
                        </p:cNvSpPr>
                        <p:nvPr/>
                      </p:nvSpPr>
                      <p:spPr bwMode="auto">
                        <a:xfrm>
                          <a:off x="2160" y="471"/>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0204" name="Text Box 285"/>
                        <p:cNvSpPr txBox="1">
                          <a:spLocks noChangeArrowheads="1"/>
                        </p:cNvSpPr>
                        <p:nvPr/>
                      </p:nvSpPr>
                      <p:spPr bwMode="auto">
                        <a:xfrm>
                          <a:off x="2700" y="471"/>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sp>
                    <p:nvSpPr>
                      <p:cNvPr id="90183" name="Text Box 286"/>
                      <p:cNvSpPr txBox="1">
                        <a:spLocks noChangeArrowheads="1"/>
                      </p:cNvSpPr>
                      <p:nvPr/>
                    </p:nvSpPr>
                    <p:spPr bwMode="auto">
                      <a:xfrm>
                        <a:off x="1260" y="468"/>
                        <a:ext cx="720" cy="309"/>
                      </a:xfrm>
                      <a:prstGeom prst="rect">
                        <a:avLst/>
                      </a:prstGeom>
                      <a:noFill/>
                      <a:ln w="9525">
                        <a:noFill/>
                        <a:miter lim="800000"/>
                        <a:headEnd/>
                        <a:tailEnd/>
                      </a:ln>
                    </p:spPr>
                    <p:txBody>
                      <a:bodyPr lIns="0" tIns="0" rIns="0" bIns="0"/>
                      <a:lstStyle/>
                      <a:p>
                        <a:pPr algn="just" eaLnBrk="0" hangingPunct="0"/>
                        <a:r>
                          <a:rPr lang="en-US" altLang="zh-CN" sz="1600" b="1" dirty="0">
                            <a:solidFill>
                              <a:srgbClr val="000000"/>
                            </a:solidFill>
                            <a:latin typeface="Times New Roman" pitchFamily="18" charset="0"/>
                          </a:rPr>
                          <a:t>FILE2</a:t>
                        </a:r>
                      </a:p>
                    </p:txBody>
                  </p:sp>
                  <p:grpSp>
                    <p:nvGrpSpPr>
                      <p:cNvPr id="24" name="Group 287"/>
                      <p:cNvGrpSpPr>
                        <a:grpSpLocks/>
                      </p:cNvGrpSpPr>
                      <p:nvPr/>
                    </p:nvGrpSpPr>
                    <p:grpSpPr bwMode="auto">
                      <a:xfrm>
                        <a:off x="180" y="312"/>
                        <a:ext cx="1980" cy="156"/>
                        <a:chOff x="0" y="0"/>
                        <a:chExt cx="1980" cy="156"/>
                      </a:xfrm>
                    </p:grpSpPr>
                    <p:sp>
                      <p:nvSpPr>
                        <p:cNvPr id="90185" name="Text Box 288"/>
                        <p:cNvSpPr txBox="1">
                          <a:spLocks noChangeArrowheads="1"/>
                        </p:cNvSpPr>
                        <p:nvPr/>
                      </p:nvSpPr>
                      <p:spPr bwMode="auto">
                        <a:xfrm>
                          <a:off x="162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nvGrpSpPr>
                        <p:cNvPr id="25" name="Group 289"/>
                        <p:cNvGrpSpPr>
                          <a:grpSpLocks/>
                        </p:cNvGrpSpPr>
                        <p:nvPr/>
                      </p:nvGrpSpPr>
                      <p:grpSpPr bwMode="auto">
                        <a:xfrm>
                          <a:off x="540" y="0"/>
                          <a:ext cx="360" cy="156"/>
                          <a:chOff x="0" y="0"/>
                          <a:chExt cx="360" cy="156"/>
                        </a:xfrm>
                      </p:grpSpPr>
                      <p:sp>
                        <p:nvSpPr>
                          <p:cNvPr id="90194" name="Line 290"/>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90195" name="Line 291"/>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grpSp>
                    <p:sp>
                      <p:nvSpPr>
                        <p:cNvPr id="90187" name="Line 292"/>
                        <p:cNvSpPr>
                          <a:spLocks noChangeShapeType="1"/>
                        </p:cNvSpPr>
                        <p:nvPr/>
                      </p:nvSpPr>
                      <p:spPr bwMode="auto">
                        <a:xfrm flipH="1">
                          <a:off x="1080" y="0"/>
                          <a:ext cx="180" cy="156"/>
                        </a:xfrm>
                        <a:prstGeom prst="line">
                          <a:avLst/>
                        </a:prstGeom>
                        <a:noFill/>
                        <a:ln w="9525">
                          <a:solidFill>
                            <a:srgbClr val="000000"/>
                          </a:solidFill>
                          <a:round/>
                          <a:headEnd/>
                          <a:tailEnd/>
                        </a:ln>
                      </p:spPr>
                      <p:txBody>
                        <a:bodyPr/>
                        <a:lstStyle/>
                        <a:p>
                          <a:endParaRPr lang="zh-CN" altLang="en-US"/>
                        </a:p>
                      </p:txBody>
                    </p:sp>
                    <p:sp>
                      <p:nvSpPr>
                        <p:cNvPr id="90188" name="Line 293"/>
                        <p:cNvSpPr>
                          <a:spLocks noChangeShapeType="1"/>
                        </p:cNvSpPr>
                        <p:nvPr/>
                      </p:nvSpPr>
                      <p:spPr bwMode="auto">
                        <a:xfrm flipH="1">
                          <a:off x="1260" y="0"/>
                          <a:ext cx="180" cy="156"/>
                        </a:xfrm>
                        <a:prstGeom prst="line">
                          <a:avLst/>
                        </a:prstGeom>
                        <a:noFill/>
                        <a:ln w="9525">
                          <a:solidFill>
                            <a:srgbClr val="000000"/>
                          </a:solidFill>
                          <a:round/>
                          <a:headEnd/>
                          <a:tailEnd/>
                        </a:ln>
                      </p:spPr>
                      <p:txBody>
                        <a:bodyPr/>
                        <a:lstStyle/>
                        <a:p>
                          <a:endParaRPr lang="zh-CN" altLang="en-US"/>
                        </a:p>
                      </p:txBody>
                    </p:sp>
                    <p:sp>
                      <p:nvSpPr>
                        <p:cNvPr id="90189" name="Line 294"/>
                        <p:cNvSpPr>
                          <a:spLocks noChangeShapeType="1"/>
                        </p:cNvSpPr>
                        <p:nvPr/>
                      </p:nvSpPr>
                      <p:spPr bwMode="auto">
                        <a:xfrm flipH="1">
                          <a:off x="1620" y="0"/>
                          <a:ext cx="180" cy="156"/>
                        </a:xfrm>
                        <a:prstGeom prst="line">
                          <a:avLst/>
                        </a:prstGeom>
                        <a:noFill/>
                        <a:ln w="9525">
                          <a:solidFill>
                            <a:srgbClr val="000000"/>
                          </a:solidFill>
                          <a:round/>
                          <a:headEnd/>
                          <a:tailEnd/>
                        </a:ln>
                      </p:spPr>
                      <p:txBody>
                        <a:bodyPr/>
                        <a:lstStyle/>
                        <a:p>
                          <a:endParaRPr lang="zh-CN" altLang="en-US"/>
                        </a:p>
                      </p:txBody>
                    </p:sp>
                    <p:sp>
                      <p:nvSpPr>
                        <p:cNvPr id="90190" name="Line 295"/>
                        <p:cNvSpPr>
                          <a:spLocks noChangeShapeType="1"/>
                        </p:cNvSpPr>
                        <p:nvPr/>
                      </p:nvSpPr>
                      <p:spPr bwMode="auto">
                        <a:xfrm flipH="1">
                          <a:off x="1800" y="0"/>
                          <a:ext cx="180" cy="156"/>
                        </a:xfrm>
                        <a:prstGeom prst="line">
                          <a:avLst/>
                        </a:prstGeom>
                        <a:noFill/>
                        <a:ln w="9525">
                          <a:solidFill>
                            <a:srgbClr val="000000"/>
                          </a:solidFill>
                          <a:round/>
                          <a:headEnd/>
                          <a:tailEnd/>
                        </a:ln>
                      </p:spPr>
                      <p:txBody>
                        <a:bodyPr/>
                        <a:lstStyle/>
                        <a:p>
                          <a:endParaRPr lang="zh-CN" altLang="en-US"/>
                        </a:p>
                      </p:txBody>
                    </p:sp>
                    <p:grpSp>
                      <p:nvGrpSpPr>
                        <p:cNvPr id="26" name="Group 296"/>
                        <p:cNvGrpSpPr>
                          <a:grpSpLocks/>
                        </p:cNvGrpSpPr>
                        <p:nvPr/>
                      </p:nvGrpSpPr>
                      <p:grpSpPr bwMode="auto">
                        <a:xfrm>
                          <a:off x="0" y="0"/>
                          <a:ext cx="360" cy="156"/>
                          <a:chOff x="0" y="0"/>
                          <a:chExt cx="360" cy="156"/>
                        </a:xfrm>
                      </p:grpSpPr>
                      <p:sp>
                        <p:nvSpPr>
                          <p:cNvPr id="90192" name="Line 297"/>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90193" name="Line 298"/>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grpSp>
                  </p:grpSp>
                </p:grpSp>
              </p:grpSp>
              <p:grpSp>
                <p:nvGrpSpPr>
                  <p:cNvPr id="27" name="Group 299"/>
                  <p:cNvGrpSpPr>
                    <a:grpSpLocks/>
                  </p:cNvGrpSpPr>
                  <p:nvPr/>
                </p:nvGrpSpPr>
                <p:grpSpPr bwMode="auto">
                  <a:xfrm>
                    <a:off x="180" y="1251"/>
                    <a:ext cx="3240" cy="1245"/>
                    <a:chOff x="0" y="0"/>
                    <a:chExt cx="3240" cy="1245"/>
                  </a:xfrm>
                </p:grpSpPr>
                <p:sp>
                  <p:nvSpPr>
                    <p:cNvPr id="90133" name="Text Box 300"/>
                    <p:cNvSpPr txBox="1">
                      <a:spLocks noChangeArrowheads="1"/>
                    </p:cNvSpPr>
                    <p:nvPr/>
                  </p:nvSpPr>
                  <p:spPr bwMode="auto">
                    <a:xfrm>
                      <a:off x="1080" y="933"/>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20</a:t>
                      </a:r>
                    </a:p>
                  </p:txBody>
                </p:sp>
                <p:sp>
                  <p:nvSpPr>
                    <p:cNvPr id="90134" name="Text Box 301"/>
                    <p:cNvSpPr txBox="1">
                      <a:spLocks noChangeArrowheads="1"/>
                    </p:cNvSpPr>
                    <p:nvPr/>
                  </p:nvSpPr>
                  <p:spPr bwMode="auto">
                    <a:xfrm>
                      <a:off x="2340" y="1089"/>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nvGrpSpPr>
                    <p:cNvPr id="28" name="Group 302"/>
                    <p:cNvGrpSpPr>
                      <a:grpSpLocks/>
                    </p:cNvGrpSpPr>
                    <p:nvPr/>
                  </p:nvGrpSpPr>
                  <p:grpSpPr bwMode="auto">
                    <a:xfrm>
                      <a:off x="0" y="0"/>
                      <a:ext cx="3240" cy="1245"/>
                      <a:chOff x="0" y="0"/>
                      <a:chExt cx="3240" cy="1245"/>
                    </a:xfrm>
                  </p:grpSpPr>
                  <p:sp>
                    <p:nvSpPr>
                      <p:cNvPr id="90156" name="Text Box 303"/>
                      <p:cNvSpPr txBox="1">
                        <a:spLocks noChangeArrowheads="1"/>
                      </p:cNvSpPr>
                      <p:nvPr/>
                    </p:nvSpPr>
                    <p:spPr bwMode="auto">
                      <a:xfrm>
                        <a:off x="1620" y="465"/>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15</a:t>
                        </a:r>
                      </a:p>
                    </p:txBody>
                  </p:sp>
                  <p:sp>
                    <p:nvSpPr>
                      <p:cNvPr id="90157" name="Text Box 304"/>
                      <p:cNvSpPr txBox="1">
                        <a:spLocks noChangeArrowheads="1"/>
                      </p:cNvSpPr>
                      <p:nvPr/>
                    </p:nvSpPr>
                    <p:spPr bwMode="auto">
                      <a:xfrm>
                        <a:off x="0" y="933"/>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18</a:t>
                        </a:r>
                      </a:p>
                    </p:txBody>
                  </p:sp>
                  <p:sp>
                    <p:nvSpPr>
                      <p:cNvPr id="90158" name="Text Box 305"/>
                      <p:cNvSpPr txBox="1">
                        <a:spLocks noChangeArrowheads="1"/>
                      </p:cNvSpPr>
                      <p:nvPr/>
                    </p:nvSpPr>
                    <p:spPr bwMode="auto">
                      <a:xfrm>
                        <a:off x="540" y="933"/>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19</a:t>
                        </a:r>
                      </a:p>
                    </p:txBody>
                  </p:sp>
                  <p:sp>
                    <p:nvSpPr>
                      <p:cNvPr id="90159" name="Text Box 306"/>
                      <p:cNvSpPr txBox="1">
                        <a:spLocks noChangeArrowheads="1"/>
                      </p:cNvSpPr>
                      <p:nvPr/>
                    </p:nvSpPr>
                    <p:spPr bwMode="auto">
                      <a:xfrm>
                        <a:off x="1620" y="933"/>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21</a:t>
                        </a:r>
                      </a:p>
                    </p:txBody>
                  </p:sp>
                  <p:sp>
                    <p:nvSpPr>
                      <p:cNvPr id="90160" name="Text Box 307"/>
                      <p:cNvSpPr txBox="1">
                        <a:spLocks noChangeArrowheads="1"/>
                      </p:cNvSpPr>
                      <p:nvPr/>
                    </p:nvSpPr>
                    <p:spPr bwMode="auto">
                      <a:xfrm>
                        <a:off x="2160" y="933"/>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22</a:t>
                        </a:r>
                      </a:p>
                    </p:txBody>
                  </p:sp>
                  <p:sp>
                    <p:nvSpPr>
                      <p:cNvPr id="90161" name="Text Box 308"/>
                      <p:cNvSpPr txBox="1">
                        <a:spLocks noChangeArrowheads="1"/>
                      </p:cNvSpPr>
                      <p:nvPr/>
                    </p:nvSpPr>
                    <p:spPr bwMode="auto">
                      <a:xfrm>
                        <a:off x="2700" y="933"/>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23</a:t>
                        </a:r>
                      </a:p>
                    </p:txBody>
                  </p:sp>
                  <p:sp>
                    <p:nvSpPr>
                      <p:cNvPr id="90162" name="Text Box 309"/>
                      <p:cNvSpPr txBox="1">
                        <a:spLocks noChangeArrowheads="1"/>
                      </p:cNvSpPr>
                      <p:nvPr/>
                    </p:nvSpPr>
                    <p:spPr bwMode="auto">
                      <a:xfrm>
                        <a:off x="2880" y="1089"/>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nvGrpSpPr>
                      <p:cNvPr id="29" name="Group 310"/>
                      <p:cNvGrpSpPr>
                        <a:grpSpLocks/>
                      </p:cNvGrpSpPr>
                      <p:nvPr/>
                    </p:nvGrpSpPr>
                    <p:grpSpPr bwMode="auto">
                      <a:xfrm>
                        <a:off x="0" y="0"/>
                        <a:ext cx="3060" cy="774"/>
                        <a:chOff x="0" y="0"/>
                        <a:chExt cx="3060" cy="774"/>
                      </a:xfrm>
                    </p:grpSpPr>
                    <p:sp>
                      <p:nvSpPr>
                        <p:cNvPr id="90165" name="Text Box 311"/>
                        <p:cNvSpPr txBox="1">
                          <a:spLocks noChangeArrowheads="1"/>
                        </p:cNvSpPr>
                        <p:nvPr/>
                      </p:nvSpPr>
                      <p:spPr bwMode="auto">
                        <a:xfrm>
                          <a:off x="54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7</a:t>
                          </a:r>
                        </a:p>
                      </p:txBody>
                    </p:sp>
                    <p:sp>
                      <p:nvSpPr>
                        <p:cNvPr id="90166" name="Text Box 312"/>
                        <p:cNvSpPr txBox="1">
                          <a:spLocks noChangeArrowheads="1"/>
                        </p:cNvSpPr>
                        <p:nvPr/>
                      </p:nvSpPr>
                      <p:spPr bwMode="auto">
                        <a:xfrm>
                          <a:off x="108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8</a:t>
                          </a:r>
                        </a:p>
                      </p:txBody>
                    </p:sp>
                    <p:sp>
                      <p:nvSpPr>
                        <p:cNvPr id="90167" name="Text Box 313"/>
                        <p:cNvSpPr txBox="1">
                          <a:spLocks noChangeArrowheads="1"/>
                        </p:cNvSpPr>
                        <p:nvPr/>
                      </p:nvSpPr>
                      <p:spPr bwMode="auto">
                        <a:xfrm>
                          <a:off x="0" y="0"/>
                          <a:ext cx="18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6</a:t>
                          </a:r>
                        </a:p>
                      </p:txBody>
                    </p:sp>
                    <p:sp>
                      <p:nvSpPr>
                        <p:cNvPr id="90168" name="Text Box 314"/>
                        <p:cNvSpPr txBox="1">
                          <a:spLocks noChangeArrowheads="1"/>
                        </p:cNvSpPr>
                        <p:nvPr/>
                      </p:nvSpPr>
                      <p:spPr bwMode="auto">
                        <a:xfrm>
                          <a:off x="0" y="465"/>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12</a:t>
                          </a:r>
                        </a:p>
                      </p:txBody>
                    </p:sp>
                    <p:sp>
                      <p:nvSpPr>
                        <p:cNvPr id="90169" name="Text Box 315"/>
                        <p:cNvSpPr txBox="1">
                          <a:spLocks noChangeArrowheads="1"/>
                        </p:cNvSpPr>
                        <p:nvPr/>
                      </p:nvSpPr>
                      <p:spPr bwMode="auto">
                        <a:xfrm>
                          <a:off x="540" y="465"/>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13</a:t>
                          </a:r>
                        </a:p>
                      </p:txBody>
                    </p:sp>
                    <p:sp>
                      <p:nvSpPr>
                        <p:cNvPr id="90170" name="Text Box 316"/>
                        <p:cNvSpPr txBox="1">
                          <a:spLocks noChangeArrowheads="1"/>
                        </p:cNvSpPr>
                        <p:nvPr/>
                      </p:nvSpPr>
                      <p:spPr bwMode="auto">
                        <a:xfrm>
                          <a:off x="1080" y="465"/>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14</a:t>
                          </a:r>
                        </a:p>
                      </p:txBody>
                    </p:sp>
                    <p:sp>
                      <p:nvSpPr>
                        <p:cNvPr id="90171" name="Text Box 317"/>
                        <p:cNvSpPr txBox="1">
                          <a:spLocks noChangeArrowheads="1"/>
                        </p:cNvSpPr>
                        <p:nvPr/>
                      </p:nvSpPr>
                      <p:spPr bwMode="auto">
                        <a:xfrm>
                          <a:off x="2160" y="465"/>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16</a:t>
                          </a:r>
                        </a:p>
                      </p:txBody>
                    </p:sp>
                    <p:sp>
                      <p:nvSpPr>
                        <p:cNvPr id="90172" name="Text Box 318"/>
                        <p:cNvSpPr txBox="1">
                          <a:spLocks noChangeArrowheads="1"/>
                        </p:cNvSpPr>
                        <p:nvPr/>
                      </p:nvSpPr>
                      <p:spPr bwMode="auto">
                        <a:xfrm>
                          <a:off x="2700" y="465"/>
                          <a:ext cx="360" cy="309"/>
                        </a:xfrm>
                        <a:prstGeom prst="rect">
                          <a:avLst/>
                        </a:prstGeom>
                        <a:noFill/>
                        <a:ln w="9525">
                          <a:noFill/>
                          <a:miter lim="800000"/>
                          <a:headEnd/>
                          <a:tailEnd/>
                        </a:ln>
                      </p:spPr>
                      <p:txBody>
                        <a:bodyPr lIns="0" tIns="0" rIns="0" bIns="0"/>
                        <a:lstStyle/>
                        <a:p>
                          <a:pPr algn="just" eaLnBrk="0" hangingPunct="0"/>
                          <a:r>
                            <a:rPr lang="en-US" altLang="zh-CN" sz="1000" dirty="0">
                              <a:solidFill>
                                <a:srgbClr val="000000"/>
                              </a:solidFill>
                              <a:latin typeface="Times New Roman" pitchFamily="18" charset="0"/>
                            </a:rPr>
                            <a:t>17</a:t>
                          </a:r>
                        </a:p>
                      </p:txBody>
                    </p:sp>
                    <p:sp>
                      <p:nvSpPr>
                        <p:cNvPr id="90173" name="Text Box 319"/>
                        <p:cNvSpPr txBox="1">
                          <a:spLocks noChangeArrowheads="1"/>
                        </p:cNvSpPr>
                        <p:nvPr/>
                      </p:nvSpPr>
                      <p:spPr bwMode="auto">
                        <a:xfrm>
                          <a:off x="1080" y="309"/>
                          <a:ext cx="720" cy="312"/>
                        </a:xfrm>
                        <a:prstGeom prst="rect">
                          <a:avLst/>
                        </a:prstGeom>
                        <a:noFill/>
                        <a:ln w="9525">
                          <a:noFill/>
                          <a:miter lim="800000"/>
                          <a:headEnd/>
                          <a:tailEnd/>
                        </a:ln>
                      </p:spPr>
                      <p:txBody>
                        <a:bodyPr lIns="0" tIns="0" rIns="0" bIns="0"/>
                        <a:lstStyle/>
                        <a:p>
                          <a:pPr algn="just" eaLnBrk="0" hangingPunct="0"/>
                          <a:r>
                            <a:rPr lang="en-US" altLang="zh-CN" sz="1600" b="1" dirty="0">
                              <a:solidFill>
                                <a:srgbClr val="000000"/>
                              </a:solidFill>
                              <a:latin typeface="Times New Roman" pitchFamily="18" charset="0"/>
                            </a:rPr>
                            <a:t>FILE3</a:t>
                          </a:r>
                        </a:p>
                      </p:txBody>
                    </p:sp>
                  </p:grpSp>
                  <p:sp>
                    <p:nvSpPr>
                      <p:cNvPr id="90164" name="Text Box 320"/>
                      <p:cNvSpPr txBox="1">
                        <a:spLocks noChangeArrowheads="1"/>
                      </p:cNvSpPr>
                      <p:nvPr/>
                    </p:nvSpPr>
                    <p:spPr bwMode="auto">
                      <a:xfrm>
                        <a:off x="720" y="777"/>
                        <a:ext cx="720" cy="312"/>
                      </a:xfrm>
                      <a:prstGeom prst="rect">
                        <a:avLst/>
                      </a:prstGeom>
                      <a:noFill/>
                      <a:ln w="9525">
                        <a:noFill/>
                        <a:miter lim="800000"/>
                        <a:headEnd/>
                        <a:tailEnd/>
                      </a:ln>
                    </p:spPr>
                    <p:txBody>
                      <a:bodyPr lIns="0" tIns="0" rIns="0" bIns="0"/>
                      <a:lstStyle/>
                      <a:p>
                        <a:pPr algn="just" eaLnBrk="0" hangingPunct="0"/>
                        <a:r>
                          <a:rPr lang="en-US" altLang="zh-CN" sz="1600" b="1" dirty="0">
                            <a:solidFill>
                              <a:srgbClr val="000000"/>
                            </a:solidFill>
                            <a:latin typeface="Times New Roman" pitchFamily="18" charset="0"/>
                          </a:rPr>
                          <a:t>FILE4</a:t>
                        </a:r>
                      </a:p>
                    </p:txBody>
                  </p:sp>
                </p:grpSp>
                <p:grpSp>
                  <p:nvGrpSpPr>
                    <p:cNvPr id="30" name="Group 321"/>
                    <p:cNvGrpSpPr>
                      <a:grpSpLocks/>
                    </p:cNvGrpSpPr>
                    <p:nvPr/>
                  </p:nvGrpSpPr>
                  <p:grpSpPr bwMode="auto">
                    <a:xfrm>
                      <a:off x="180" y="1089"/>
                      <a:ext cx="360" cy="156"/>
                      <a:chOff x="0" y="0"/>
                      <a:chExt cx="360" cy="156"/>
                    </a:xfrm>
                  </p:grpSpPr>
                  <p:sp>
                    <p:nvSpPr>
                      <p:cNvPr id="90152" name="Line 322"/>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90153" name="Line 323"/>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90154" name="Line 324"/>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90155" name="Line 325"/>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nvGrpSpPr>
                    <p:cNvPr id="31" name="Group 326"/>
                    <p:cNvGrpSpPr>
                      <a:grpSpLocks/>
                    </p:cNvGrpSpPr>
                    <p:nvPr/>
                  </p:nvGrpSpPr>
                  <p:grpSpPr bwMode="auto">
                    <a:xfrm>
                      <a:off x="720" y="1089"/>
                      <a:ext cx="360" cy="156"/>
                      <a:chOff x="0" y="0"/>
                      <a:chExt cx="360" cy="156"/>
                    </a:xfrm>
                  </p:grpSpPr>
                  <p:sp>
                    <p:nvSpPr>
                      <p:cNvPr id="90148" name="Line 327"/>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90149" name="Line 328"/>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90150" name="Line 329"/>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90151" name="Line 330"/>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nvGrpSpPr>
                    <p:cNvPr id="90284" name="Group 331"/>
                    <p:cNvGrpSpPr>
                      <a:grpSpLocks/>
                    </p:cNvGrpSpPr>
                    <p:nvPr/>
                  </p:nvGrpSpPr>
                  <p:grpSpPr bwMode="auto">
                    <a:xfrm>
                      <a:off x="1260" y="1089"/>
                      <a:ext cx="360" cy="156"/>
                      <a:chOff x="0" y="0"/>
                      <a:chExt cx="360" cy="156"/>
                    </a:xfrm>
                  </p:grpSpPr>
                  <p:sp>
                    <p:nvSpPr>
                      <p:cNvPr id="90144" name="Line 332"/>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90145" name="Line 333"/>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90146" name="Line 334"/>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90147" name="Line 335"/>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nvGrpSpPr>
                    <p:cNvPr id="90285" name="Group 336"/>
                    <p:cNvGrpSpPr>
                      <a:grpSpLocks/>
                    </p:cNvGrpSpPr>
                    <p:nvPr/>
                  </p:nvGrpSpPr>
                  <p:grpSpPr bwMode="auto">
                    <a:xfrm>
                      <a:off x="1800" y="1089"/>
                      <a:ext cx="360" cy="156"/>
                      <a:chOff x="0" y="0"/>
                      <a:chExt cx="360" cy="156"/>
                    </a:xfrm>
                  </p:grpSpPr>
                  <p:sp>
                    <p:nvSpPr>
                      <p:cNvPr id="90140" name="Line 337"/>
                      <p:cNvSpPr>
                        <a:spLocks noChangeShapeType="1"/>
                      </p:cNvSpPr>
                      <p:nvPr/>
                    </p:nvSpPr>
                    <p:spPr bwMode="auto">
                      <a:xfrm flipH="1">
                        <a:off x="0" y="0"/>
                        <a:ext cx="180" cy="156"/>
                      </a:xfrm>
                      <a:prstGeom prst="line">
                        <a:avLst/>
                      </a:prstGeom>
                      <a:noFill/>
                      <a:ln w="9525">
                        <a:solidFill>
                          <a:srgbClr val="000000"/>
                        </a:solidFill>
                        <a:round/>
                        <a:headEnd/>
                        <a:tailEnd/>
                      </a:ln>
                    </p:spPr>
                    <p:txBody>
                      <a:bodyPr/>
                      <a:lstStyle/>
                      <a:p>
                        <a:endParaRPr lang="zh-CN" altLang="en-US"/>
                      </a:p>
                    </p:txBody>
                  </p:sp>
                  <p:sp>
                    <p:nvSpPr>
                      <p:cNvPr id="90141" name="Line 338"/>
                      <p:cNvSpPr>
                        <a:spLocks noChangeShapeType="1"/>
                      </p:cNvSpPr>
                      <p:nvPr/>
                    </p:nvSpPr>
                    <p:spPr bwMode="auto">
                      <a:xfrm flipH="1">
                        <a:off x="180" y="0"/>
                        <a:ext cx="180" cy="156"/>
                      </a:xfrm>
                      <a:prstGeom prst="line">
                        <a:avLst/>
                      </a:prstGeom>
                      <a:noFill/>
                      <a:ln w="9525">
                        <a:solidFill>
                          <a:srgbClr val="000000"/>
                        </a:solidFill>
                        <a:round/>
                        <a:headEnd/>
                        <a:tailEnd/>
                      </a:ln>
                    </p:spPr>
                    <p:txBody>
                      <a:bodyPr/>
                      <a:lstStyle/>
                      <a:p>
                        <a:endParaRPr lang="zh-CN" altLang="en-US"/>
                      </a:p>
                    </p:txBody>
                  </p:sp>
                  <p:sp>
                    <p:nvSpPr>
                      <p:cNvPr id="90142" name="Line 339"/>
                      <p:cNvSpPr>
                        <a:spLocks noChangeShapeType="1"/>
                      </p:cNvSpPr>
                      <p:nvPr/>
                    </p:nvSpPr>
                    <p:spPr bwMode="auto">
                      <a:xfrm>
                        <a:off x="0" y="0"/>
                        <a:ext cx="180" cy="156"/>
                      </a:xfrm>
                      <a:prstGeom prst="line">
                        <a:avLst/>
                      </a:prstGeom>
                      <a:noFill/>
                      <a:ln w="9525">
                        <a:solidFill>
                          <a:srgbClr val="000000"/>
                        </a:solidFill>
                        <a:round/>
                        <a:headEnd/>
                        <a:tailEnd/>
                      </a:ln>
                    </p:spPr>
                    <p:txBody>
                      <a:bodyPr/>
                      <a:lstStyle/>
                      <a:p>
                        <a:endParaRPr lang="zh-CN" altLang="en-US"/>
                      </a:p>
                    </p:txBody>
                  </p:sp>
                  <p:sp>
                    <p:nvSpPr>
                      <p:cNvPr id="90143" name="Line 340"/>
                      <p:cNvSpPr>
                        <a:spLocks noChangeShapeType="1"/>
                      </p:cNvSpPr>
                      <p:nvPr/>
                    </p:nvSpPr>
                    <p:spPr bwMode="auto">
                      <a:xfrm>
                        <a:off x="180" y="0"/>
                        <a:ext cx="180" cy="156"/>
                      </a:xfrm>
                      <a:prstGeom prst="line">
                        <a:avLst/>
                      </a:prstGeom>
                      <a:noFill/>
                      <a:ln w="9525">
                        <a:solidFill>
                          <a:srgbClr val="000000"/>
                        </a:solidFill>
                        <a:round/>
                        <a:headEnd/>
                        <a:tailEnd/>
                      </a:ln>
                    </p:spPr>
                    <p:txBody>
                      <a:bodyPr/>
                      <a:lstStyle/>
                      <a:p>
                        <a:endParaRPr lang="zh-CN" altLang="en-US"/>
                      </a:p>
                    </p:txBody>
                  </p:sp>
                </p:grpSp>
              </p:grpSp>
            </p:grpSp>
          </p:grpSp>
        </p:gr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Rot="1" noChangeArrowheads="1"/>
          </p:cNvSpPr>
          <p:nvPr>
            <p:ph type="title" idx="4294967295"/>
          </p:nvPr>
        </p:nvSpPr>
        <p:spPr>
          <a:xfrm>
            <a:off x="0" y="188913"/>
            <a:ext cx="8077200" cy="1066800"/>
          </a:xfrm>
        </p:spPr>
        <p:txBody>
          <a:bodyPr/>
          <a:lstStyle/>
          <a:p>
            <a:pPr eaLnBrk="1" hangingPunct="1">
              <a:defRPr/>
            </a:pPr>
            <a:r>
              <a:rPr lang="en-US" altLang="zh-CN" b="1" u="sng" dirty="0" smtClean="0">
                <a:solidFill>
                  <a:srgbClr val="FF0000"/>
                </a:solidFill>
                <a:effectLst>
                  <a:outerShdw blurRad="38100" dist="38100" dir="2700000" algn="tl">
                    <a:srgbClr val="000000"/>
                  </a:outerShdw>
                </a:effectLst>
                <a:ea typeface="仿宋_GB2312" pitchFamily="1" charset="-122"/>
              </a:rPr>
              <a:t>8.1</a:t>
            </a:r>
            <a:r>
              <a:rPr lang="en-US" b="1" u="sng" dirty="0" smtClean="0">
                <a:solidFill>
                  <a:srgbClr val="FF0000"/>
                </a:solidFill>
                <a:effectLst>
                  <a:outerShdw blurRad="38100" dist="38100" dir="2700000" algn="tl">
                    <a:srgbClr val="000000"/>
                  </a:outerShdw>
                </a:effectLst>
                <a:ea typeface="仿宋_GB2312" pitchFamily="1" charset="-122"/>
              </a:rPr>
              <a:t>.2.</a:t>
            </a:r>
            <a:r>
              <a:rPr lang="zh-CN" altLang="en-US" b="1" u="sng" dirty="0" smtClean="0">
                <a:solidFill>
                  <a:srgbClr val="FF0000"/>
                </a:solidFill>
                <a:effectLst>
                  <a:outerShdw blurRad="38100" dist="38100" dir="2700000" algn="tl">
                    <a:srgbClr val="000000"/>
                  </a:outerShdw>
                </a:effectLst>
                <a:ea typeface="仿宋_GB2312" pitchFamily="1" charset="-122"/>
              </a:rPr>
              <a:t>链接组织方式</a:t>
            </a:r>
          </a:p>
        </p:txBody>
      </p:sp>
      <p:sp>
        <p:nvSpPr>
          <p:cNvPr id="89091" name="Rectangle 3"/>
          <p:cNvSpPr>
            <a:spLocks noGrp="1" noRot="1" noChangeArrowheads="1"/>
          </p:cNvSpPr>
          <p:nvPr>
            <p:ph type="body" idx="4294967295"/>
          </p:nvPr>
        </p:nvSpPr>
        <p:spPr>
          <a:xfrm>
            <a:off x="428596" y="1500174"/>
            <a:ext cx="8077200" cy="4376738"/>
          </a:xfrm>
        </p:spPr>
        <p:txBody>
          <a:bodyPr/>
          <a:lstStyle/>
          <a:p>
            <a:pPr eaLnBrk="1" hangingPunct="1">
              <a:lnSpc>
                <a:spcPct val="110000"/>
              </a:lnSpc>
              <a:defRPr/>
            </a:pPr>
            <a:r>
              <a:rPr lang="zh-CN" altLang="en-US" sz="2800" b="1" dirty="0" smtClean="0"/>
              <a:t>如果在将一个逻辑文件存储到外存上时，并不要求为整个文件分配一块连续的空间，而是可以将文件装到多个</a:t>
            </a:r>
            <a:r>
              <a:rPr lang="zh-CN" altLang="en-US" sz="2800" b="1" dirty="0" smtClean="0">
                <a:solidFill>
                  <a:srgbClr val="FF0000"/>
                </a:solidFill>
              </a:rPr>
              <a:t>离散</a:t>
            </a:r>
            <a:r>
              <a:rPr lang="zh-CN" altLang="en-US" sz="2800" b="1" dirty="0" smtClean="0"/>
              <a:t>的盘块中。</a:t>
            </a:r>
          </a:p>
          <a:p>
            <a:pPr eaLnBrk="1" hangingPunct="1">
              <a:lnSpc>
                <a:spcPct val="110000"/>
              </a:lnSpc>
              <a:defRPr/>
            </a:pPr>
            <a:r>
              <a:rPr lang="zh-CN" sz="2800" b="1" dirty="0" smtClean="0"/>
              <a:t>采用链接分配方式时，可通过在每个盘块上的链接指针，</a:t>
            </a:r>
            <a:r>
              <a:rPr lang="zh-CN" sz="2800" b="1" dirty="0" smtClean="0">
                <a:solidFill>
                  <a:srgbClr val="FF0000"/>
                </a:solidFill>
              </a:rPr>
              <a:t>将同属于一个文件的多个离散的盘块链接成一个链表，</a:t>
            </a:r>
            <a:r>
              <a:rPr lang="zh-CN" sz="2800" b="1" dirty="0" smtClean="0"/>
              <a:t>把这样形成的物理文件称为链接文件。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fade">
                                      <p:cBhvr>
                                        <p:cTn id="7" dur="2000"/>
                                        <p:tgtEl>
                                          <p:spTgt spid="890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9091">
                                            <p:txEl>
                                              <p:pRg st="0" end="0"/>
                                            </p:txEl>
                                          </p:spTgt>
                                        </p:tgtEl>
                                        <p:attrNameLst>
                                          <p:attrName>style.visibility</p:attrName>
                                        </p:attrNameLst>
                                      </p:cBhvr>
                                      <p:to>
                                        <p:strVal val="visible"/>
                                      </p:to>
                                    </p:set>
                                    <p:animEffect transition="in" filter="fade">
                                      <p:cBhvr>
                                        <p:cTn id="12" dur="2000"/>
                                        <p:tgtEl>
                                          <p:spTgt spid="890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9091">
                                            <p:txEl>
                                              <p:pRg st="1" end="1"/>
                                            </p:txEl>
                                          </p:spTgt>
                                        </p:tgtEl>
                                        <p:attrNameLst>
                                          <p:attrName>style.visibility</p:attrName>
                                        </p:attrNameLst>
                                      </p:cBhvr>
                                      <p:to>
                                        <p:strVal val="visible"/>
                                      </p:to>
                                    </p:set>
                                    <p:animEffect transition="in" filter="fade">
                                      <p:cBhvr>
                                        <p:cTn id="17" dur="2000"/>
                                        <p:tgtEl>
                                          <p:spTgt spid="890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091"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Rectangle 3"/>
          <p:cNvSpPr>
            <a:spLocks noGrp="1" noRot="1" noChangeArrowheads="1"/>
          </p:cNvSpPr>
          <p:nvPr>
            <p:ph type="body" idx="4294967295"/>
          </p:nvPr>
        </p:nvSpPr>
        <p:spPr>
          <a:xfrm>
            <a:off x="0" y="1125538"/>
            <a:ext cx="8077200" cy="5046662"/>
          </a:xfrm>
        </p:spPr>
        <p:txBody>
          <a:bodyPr/>
          <a:lstStyle/>
          <a:p>
            <a:pPr eaLnBrk="1" hangingPunct="1">
              <a:lnSpc>
                <a:spcPct val="130000"/>
              </a:lnSpc>
            </a:pPr>
            <a:r>
              <a:rPr lang="en-US" altLang="zh-CN" b="1" dirty="0" smtClean="0">
                <a:solidFill>
                  <a:srgbClr val="FF0000"/>
                </a:solidFill>
              </a:rPr>
              <a:t>1</a:t>
            </a:r>
            <a:r>
              <a:rPr lang="zh-CN" altLang="en-US" b="1" dirty="0" smtClean="0">
                <a:solidFill>
                  <a:srgbClr val="FF0000"/>
                </a:solidFill>
              </a:rPr>
              <a:t>）．隐式链接</a:t>
            </a:r>
          </a:p>
          <a:p>
            <a:pPr eaLnBrk="1" hangingPunct="1">
              <a:lnSpc>
                <a:spcPct val="130000"/>
              </a:lnSpc>
            </a:pPr>
            <a:r>
              <a:rPr lang="zh-CN" altLang="en-US" b="1" dirty="0" smtClean="0"/>
              <a:t>在采用隐式链接分配方式时，在文件目录的每个目录项中，都须含有</a:t>
            </a:r>
            <a:r>
              <a:rPr lang="zh-CN" altLang="en-US" b="1" dirty="0" smtClean="0">
                <a:solidFill>
                  <a:srgbClr val="FF0000"/>
                </a:solidFill>
              </a:rPr>
              <a:t>指向链接文件第一个盘块和最后一个盘块的指针</a:t>
            </a:r>
            <a:r>
              <a:rPr lang="zh-CN" altLang="en-US" b="1" dirty="0" smtClean="0"/>
              <a:t>。</a:t>
            </a:r>
          </a:p>
          <a:p>
            <a:pPr eaLnBrk="1" hangingPunct="1">
              <a:lnSpc>
                <a:spcPct val="130000"/>
              </a:lnSpc>
            </a:pPr>
            <a:endParaRPr 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62">
                                            <p:txEl>
                                              <p:pRg st="0" end="0"/>
                                            </p:txEl>
                                          </p:spTgt>
                                        </p:tgtEl>
                                        <p:attrNameLst>
                                          <p:attrName>style.visibility</p:attrName>
                                        </p:attrNameLst>
                                      </p:cBhvr>
                                      <p:to>
                                        <p:strVal val="visible"/>
                                      </p:to>
                                    </p:set>
                                    <p:animEffect transition="in" filter="fade">
                                      <p:cBhvr>
                                        <p:cTn id="7" dur="2000"/>
                                        <p:tgtEl>
                                          <p:spTgt spid="921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62">
                                            <p:txEl>
                                              <p:pRg st="1" end="1"/>
                                            </p:txEl>
                                          </p:spTgt>
                                        </p:tgtEl>
                                        <p:attrNameLst>
                                          <p:attrName>style.visibility</p:attrName>
                                        </p:attrNameLst>
                                      </p:cBhvr>
                                      <p:to>
                                        <p:strVal val="visible"/>
                                      </p:to>
                                    </p:set>
                                    <p:animEffect transition="in" filter="fade">
                                      <p:cBhvr>
                                        <p:cTn id="12" dur="2000"/>
                                        <p:tgtEl>
                                          <p:spTgt spid="921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140"/>
          <p:cNvSpPr>
            <a:spLocks noChangeArrowheads="1"/>
          </p:cNvSpPr>
          <p:nvPr/>
        </p:nvSpPr>
        <p:spPr bwMode="auto">
          <a:xfrm>
            <a:off x="179388" y="404813"/>
            <a:ext cx="8569325" cy="6048375"/>
          </a:xfrm>
          <a:prstGeom prst="rect">
            <a:avLst/>
          </a:prstGeom>
          <a:solidFill>
            <a:schemeClr val="bg2">
              <a:lumMod val="90000"/>
            </a:schemeClr>
          </a:solidFill>
          <a:ln w="9525">
            <a:solidFill>
              <a:schemeClr val="tx1"/>
            </a:solidFill>
            <a:miter lim="800000"/>
            <a:headEnd/>
            <a:tailEnd/>
          </a:ln>
        </p:spPr>
        <p:txBody>
          <a:bodyPr wrap="none" anchor="ctr"/>
          <a:lstStyle/>
          <a:p>
            <a:pPr algn="ctr"/>
            <a:endParaRPr lang="zh-CN" altLang="en-US">
              <a:solidFill>
                <a:srgbClr val="000000"/>
              </a:solidFill>
            </a:endParaRPr>
          </a:p>
        </p:txBody>
      </p:sp>
      <p:graphicFrame>
        <p:nvGraphicFramePr>
          <p:cNvPr id="8194" name="Object 279"/>
          <p:cNvGraphicFramePr>
            <a:graphicFrameLocks noChangeAspect="1"/>
          </p:cNvGraphicFramePr>
          <p:nvPr/>
        </p:nvGraphicFramePr>
        <p:xfrm>
          <a:off x="1403350" y="836613"/>
          <a:ext cx="6629400" cy="5010150"/>
        </p:xfrm>
        <a:graphic>
          <a:graphicData uri="http://schemas.openxmlformats.org/presentationml/2006/ole">
            <mc:AlternateContent xmlns:mc="http://schemas.openxmlformats.org/markup-compatibility/2006">
              <mc:Choice xmlns:v="urn:schemas-microsoft-com:vml" Requires="v">
                <p:oleObj spid="_x0000_s1039" r:id="rId3" imgW="3040697" imgH="2293937" progId="Visio.Drawing.11">
                  <p:embed/>
                </p:oleObj>
              </mc:Choice>
              <mc:Fallback>
                <p:oleObj r:id="rId3" imgW="3040697" imgH="2293937" progId="Visio.Drawing.11">
                  <p:embed/>
                  <p:pic>
                    <p:nvPicPr>
                      <p:cNvPr id="0" name="Object 2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836613"/>
                        <a:ext cx="6629400" cy="501015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Text Box 280"/>
          <p:cNvSpPr txBox="1">
            <a:spLocks noChangeArrowheads="1"/>
          </p:cNvSpPr>
          <p:nvPr/>
        </p:nvSpPr>
        <p:spPr bwMode="auto">
          <a:xfrm>
            <a:off x="1763713" y="5876925"/>
            <a:ext cx="4395787" cy="457200"/>
          </a:xfrm>
          <a:prstGeom prst="rect">
            <a:avLst/>
          </a:prstGeom>
          <a:noFill/>
          <a:ln w="9525">
            <a:noFill/>
            <a:miter lim="800000"/>
            <a:headEnd/>
            <a:tailEnd/>
          </a:ln>
        </p:spPr>
        <p:txBody>
          <a:bodyPr wrap="none">
            <a:spAutoFit/>
          </a:bodyPr>
          <a:lstStyle/>
          <a:p>
            <a:r>
              <a:rPr lang="zh-CN" altLang="en-US" sz="2400" b="1">
                <a:solidFill>
                  <a:srgbClr val="000000"/>
                </a:solidFill>
                <a:latin typeface="Times New Roman" pitchFamily="18" charset="0"/>
              </a:rPr>
              <a:t>图  磁盘空间的隐式链接式分配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3"/>
          <p:cNvSpPr>
            <a:spLocks noGrp="1" noRot="1" noChangeArrowheads="1"/>
          </p:cNvSpPr>
          <p:nvPr>
            <p:ph type="body" idx="4294967295"/>
          </p:nvPr>
        </p:nvSpPr>
        <p:spPr>
          <a:xfrm>
            <a:off x="566766" y="714375"/>
            <a:ext cx="8077200" cy="5883275"/>
          </a:xfrm>
        </p:spPr>
        <p:txBody>
          <a:bodyPr/>
          <a:lstStyle/>
          <a:p>
            <a:pPr eaLnBrk="1" hangingPunct="1">
              <a:lnSpc>
                <a:spcPct val="110000"/>
              </a:lnSpc>
            </a:pPr>
            <a:r>
              <a:rPr lang="en-US" altLang="zh-CN" sz="3600" b="1" dirty="0" smtClean="0">
                <a:solidFill>
                  <a:srgbClr val="FF0000"/>
                </a:solidFill>
              </a:rPr>
              <a:t>1</a:t>
            </a:r>
            <a:r>
              <a:rPr lang="zh-CN" altLang="en-US" sz="3600" b="1" dirty="0" smtClean="0">
                <a:solidFill>
                  <a:srgbClr val="FF0000"/>
                </a:solidFill>
              </a:rPr>
              <a:t>）．隐式链接</a:t>
            </a:r>
          </a:p>
          <a:p>
            <a:pPr eaLnBrk="1" hangingPunct="1">
              <a:lnSpc>
                <a:spcPct val="110000"/>
              </a:lnSpc>
            </a:pPr>
            <a:r>
              <a:rPr lang="zh-CN" altLang="en-US" b="1" dirty="0" smtClean="0"/>
              <a:t>隐式链接分配方式的主要问题在于：</a:t>
            </a:r>
            <a:endParaRPr lang="en-US" b="1" dirty="0" smtClean="0"/>
          </a:p>
          <a:p>
            <a:pPr lvl="1" eaLnBrk="1" hangingPunct="1">
              <a:lnSpc>
                <a:spcPct val="110000"/>
              </a:lnSpc>
            </a:pPr>
            <a:r>
              <a:rPr lang="zh-CN" altLang="en-US" sz="3200" b="1" dirty="0" smtClean="0"/>
              <a:t>它只适合于顺序访问，它对随机访问是极其低效的。</a:t>
            </a:r>
          </a:p>
          <a:p>
            <a:pPr eaLnBrk="1" hangingPunct="1">
              <a:lnSpc>
                <a:spcPct val="110000"/>
              </a:lnSpc>
            </a:pPr>
            <a:endParaRPr lang="en-US" b="1" dirty="0" smtClean="0"/>
          </a:p>
          <a:p>
            <a:pPr eaLnBrk="1" hangingPunct="1">
              <a:lnSpc>
                <a:spcPct val="110000"/>
              </a:lnSpc>
            </a:pPr>
            <a:r>
              <a:rPr lang="zh-CN" altLang="en-US" b="1" dirty="0" smtClean="0"/>
              <a:t>如果要访问文件所在的第</a:t>
            </a:r>
            <a:r>
              <a:rPr lang="en-US" altLang="zh-CN" b="1" i="1" dirty="0" err="1" smtClean="0"/>
              <a:t>i</a:t>
            </a:r>
            <a:r>
              <a:rPr lang="zh-CN" altLang="en-US" b="1" dirty="0" smtClean="0"/>
              <a:t>个盘块，则必须先读出文件的第一个盘块</a:t>
            </a:r>
            <a:r>
              <a:rPr lang="en-US" altLang="zh-CN" b="1" dirty="0" smtClean="0"/>
              <a:t>……</a:t>
            </a:r>
            <a:r>
              <a:rPr lang="zh-CN" altLang="en-US" b="1" dirty="0" smtClean="0"/>
              <a:t>，就这样顺序地查找直至第</a:t>
            </a:r>
            <a:r>
              <a:rPr lang="en-US" altLang="zh-CN" b="1" i="1" dirty="0" err="1" smtClean="0"/>
              <a:t>i</a:t>
            </a:r>
            <a:r>
              <a:rPr lang="zh-CN" altLang="en-US" b="1" dirty="0" smtClean="0"/>
              <a:t>块。</a:t>
            </a:r>
          </a:p>
          <a:p>
            <a:pPr eaLnBrk="1" hangingPunct="1">
              <a:lnSpc>
                <a:spcPct val="110000"/>
              </a:lnSpc>
            </a:pPr>
            <a:endParaRPr lang="zh-CN" altLang="en-US" sz="28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animEffect transition="in" filter="fade">
                                      <p:cBhvr>
                                        <p:cTn id="7" dur="2000"/>
                                        <p:tgtEl>
                                          <p:spTgt spid="93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3186">
                                            <p:txEl>
                                              <p:pRg st="1" end="1"/>
                                            </p:txEl>
                                          </p:spTgt>
                                        </p:tgtEl>
                                        <p:attrNameLst>
                                          <p:attrName>style.visibility</p:attrName>
                                        </p:attrNameLst>
                                      </p:cBhvr>
                                      <p:to>
                                        <p:strVal val="visible"/>
                                      </p:to>
                                    </p:set>
                                    <p:animEffect transition="in" filter="fade">
                                      <p:cBhvr>
                                        <p:cTn id="12" dur="2000"/>
                                        <p:tgtEl>
                                          <p:spTgt spid="93186">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3186">
                                            <p:txEl>
                                              <p:pRg st="2" end="2"/>
                                            </p:txEl>
                                          </p:spTgt>
                                        </p:tgtEl>
                                        <p:attrNameLst>
                                          <p:attrName>style.visibility</p:attrName>
                                        </p:attrNameLst>
                                      </p:cBhvr>
                                      <p:to>
                                        <p:strVal val="visible"/>
                                      </p:to>
                                    </p:set>
                                    <p:animEffect transition="in" filter="fade">
                                      <p:cBhvr>
                                        <p:cTn id="15" dur="2000"/>
                                        <p:tgtEl>
                                          <p:spTgt spid="9318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3186">
                                            <p:txEl>
                                              <p:pRg st="4" end="4"/>
                                            </p:txEl>
                                          </p:spTgt>
                                        </p:tgtEl>
                                        <p:attrNameLst>
                                          <p:attrName>style.visibility</p:attrName>
                                        </p:attrNameLst>
                                      </p:cBhvr>
                                      <p:to>
                                        <p:strVal val="visible"/>
                                      </p:to>
                                    </p:set>
                                    <p:animEffect transition="in" filter="fade">
                                      <p:cBhvr>
                                        <p:cTn id="20" dur="2000"/>
                                        <p:tgtEl>
                                          <p:spTgt spid="9318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3"/>
          <p:cNvSpPr>
            <a:spLocks noGrp="1" noRot="1" noChangeArrowheads="1"/>
          </p:cNvSpPr>
          <p:nvPr>
            <p:ph type="body" sz="half" idx="4294967295"/>
          </p:nvPr>
        </p:nvSpPr>
        <p:spPr>
          <a:xfrm>
            <a:off x="642910" y="428604"/>
            <a:ext cx="8064500" cy="2786082"/>
          </a:xfrm>
        </p:spPr>
        <p:txBody>
          <a:bodyPr>
            <a:normAutofit fontScale="92500" lnSpcReduction="10000"/>
          </a:bodyPr>
          <a:lstStyle/>
          <a:p>
            <a:pPr eaLnBrk="1" hangingPunct="1">
              <a:lnSpc>
                <a:spcPct val="120000"/>
              </a:lnSpc>
            </a:pPr>
            <a:r>
              <a:rPr lang="en-US" altLang="zh-CN" sz="3800" b="1" dirty="0" smtClean="0">
                <a:solidFill>
                  <a:srgbClr val="FF0000"/>
                </a:solidFill>
              </a:rPr>
              <a:t>2</a:t>
            </a:r>
            <a:r>
              <a:rPr lang="zh-CN" altLang="en-US" sz="3800" b="1" dirty="0" smtClean="0">
                <a:solidFill>
                  <a:srgbClr val="FF0000"/>
                </a:solidFill>
              </a:rPr>
              <a:t>）．显式链接</a:t>
            </a:r>
          </a:p>
          <a:p>
            <a:pPr eaLnBrk="1" hangingPunct="1"/>
            <a:r>
              <a:rPr lang="zh-CN" altLang="en-US" sz="2800" b="1" dirty="0" smtClean="0"/>
              <a:t>这是指把用于</a:t>
            </a:r>
            <a:r>
              <a:rPr lang="zh-CN" altLang="en-US" sz="2800" b="1" i="1" u="sng" dirty="0" smtClean="0">
                <a:solidFill>
                  <a:srgbClr val="FF0000"/>
                </a:solidFill>
              </a:rPr>
              <a:t>链接文件各物理块的指针</a:t>
            </a:r>
            <a:r>
              <a:rPr lang="zh-CN" altLang="en-US" sz="2800" b="1" dirty="0" smtClean="0"/>
              <a:t>，显式地存放在内存的一张链接表中。该表在整个磁盘仅设置一张</a:t>
            </a:r>
            <a:r>
              <a:rPr lang="en-US" altLang="zh-CN" sz="2800" b="1" dirty="0" smtClean="0"/>
              <a:t>(</a:t>
            </a:r>
            <a:r>
              <a:rPr lang="zh-CN" altLang="en-US" sz="2800" b="1" dirty="0" smtClean="0">
                <a:solidFill>
                  <a:srgbClr val="FF0000"/>
                </a:solidFill>
              </a:rPr>
              <a:t>文件分配表</a:t>
            </a:r>
            <a:r>
              <a:rPr lang="en-US" altLang="zh-CN" sz="2800" b="1" dirty="0" smtClean="0"/>
              <a:t>)</a:t>
            </a:r>
            <a:r>
              <a:rPr lang="zh-CN" altLang="en-US" sz="2800" b="1" dirty="0" smtClean="0"/>
              <a:t>。</a:t>
            </a:r>
            <a:endParaRPr lang="en-US" sz="2800" b="1" dirty="0" smtClean="0"/>
          </a:p>
          <a:p>
            <a:pPr eaLnBrk="1" hangingPunct="1"/>
            <a:r>
              <a:rPr lang="zh-CN" altLang="en-US" sz="2800" b="1" dirty="0" smtClean="0"/>
              <a:t>文件的第一个盘块号，作为文件地址被填入相应文件的</a:t>
            </a:r>
            <a:r>
              <a:rPr lang="en-US" altLang="zh-CN" sz="2800" b="1" dirty="0" smtClean="0"/>
              <a:t>FCB </a:t>
            </a:r>
            <a:r>
              <a:rPr lang="zh-CN" altLang="en-US" sz="2800" b="1" dirty="0" smtClean="0"/>
              <a:t>的“</a:t>
            </a:r>
            <a:r>
              <a:rPr lang="zh-CN" altLang="en-US" sz="2800" b="1" i="1" u="sng" dirty="0" smtClean="0">
                <a:solidFill>
                  <a:srgbClr val="FF0000"/>
                </a:solidFill>
              </a:rPr>
              <a:t>物理地址</a:t>
            </a:r>
            <a:r>
              <a:rPr lang="zh-CN" altLang="en-US" sz="2800" b="1" dirty="0" smtClean="0"/>
              <a:t>”字段中。</a:t>
            </a:r>
          </a:p>
        </p:txBody>
      </p:sp>
      <p:sp>
        <p:nvSpPr>
          <p:cNvPr id="9220" name="Rectangle 4"/>
          <p:cNvSpPr>
            <a:spLocks noChangeArrowheads="1"/>
          </p:cNvSpPr>
          <p:nvPr/>
        </p:nvSpPr>
        <p:spPr bwMode="auto">
          <a:xfrm>
            <a:off x="857224" y="3444874"/>
            <a:ext cx="7389813" cy="3214688"/>
          </a:xfrm>
          <a:prstGeom prst="rect">
            <a:avLst/>
          </a:prstGeom>
          <a:solidFill>
            <a:schemeClr val="bg2">
              <a:lumMod val="90000"/>
            </a:schemeClr>
          </a:solidFill>
          <a:ln w="9525">
            <a:solidFill>
              <a:schemeClr val="tx1"/>
            </a:solidFill>
            <a:miter lim="800000"/>
            <a:headEnd/>
            <a:tailEnd/>
          </a:ln>
        </p:spPr>
        <p:txBody>
          <a:bodyPr wrap="none" anchor="ctr"/>
          <a:lstStyle/>
          <a:p>
            <a:endParaRPr lang="zh-CN" altLang="en-US"/>
          </a:p>
        </p:txBody>
      </p:sp>
      <p:graphicFrame>
        <p:nvGraphicFramePr>
          <p:cNvPr id="2051" name="Object 5"/>
          <p:cNvGraphicFramePr>
            <a:graphicFrameLocks noChangeAspect="1"/>
          </p:cNvGraphicFramePr>
          <p:nvPr/>
        </p:nvGraphicFramePr>
        <p:xfrm>
          <a:off x="1785918" y="3286124"/>
          <a:ext cx="5400675" cy="3341688"/>
        </p:xfrm>
        <a:graphic>
          <a:graphicData uri="http://schemas.openxmlformats.org/presentationml/2006/ole">
            <mc:AlternateContent xmlns:mc="http://schemas.openxmlformats.org/markup-compatibility/2006">
              <mc:Choice xmlns:v="urn:schemas-microsoft-com:vml" Requires="v">
                <p:oleObj spid="_x0000_s2064" r:id="rId3" imgW="2507297" imgH="1310957" progId="Visio.Drawing.11">
                  <p:embed/>
                </p:oleObj>
              </mc:Choice>
              <mc:Fallback>
                <p:oleObj r:id="rId3" imgW="2507297" imgH="1310957"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18" y="3286124"/>
                        <a:ext cx="5400675" cy="334168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20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fade">
                                      <p:cBhvr>
                                        <p:cTn id="12" dur="20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fade">
                                      <p:cBhvr>
                                        <p:cTn id="17" dur="20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3"/>
          <p:cNvSpPr>
            <a:spLocks noGrp="1" noRot="1" noChangeArrowheads="1"/>
          </p:cNvSpPr>
          <p:nvPr>
            <p:ph type="body" idx="4294967295"/>
          </p:nvPr>
        </p:nvSpPr>
        <p:spPr>
          <a:xfrm>
            <a:off x="285720" y="857232"/>
            <a:ext cx="8505828" cy="5740400"/>
          </a:xfrm>
        </p:spPr>
        <p:txBody>
          <a:bodyPr/>
          <a:lstStyle/>
          <a:p>
            <a:pPr eaLnBrk="1" hangingPunct="1">
              <a:lnSpc>
                <a:spcPct val="110000"/>
              </a:lnSpc>
            </a:pPr>
            <a:r>
              <a:rPr lang="en-US" altLang="zh-CN" sz="3600" b="1" dirty="0" smtClean="0">
                <a:solidFill>
                  <a:srgbClr val="FF0000"/>
                </a:solidFill>
              </a:rPr>
              <a:t>2</a:t>
            </a:r>
            <a:r>
              <a:rPr lang="zh-CN" altLang="en-US" sz="3600" b="1" dirty="0" smtClean="0">
                <a:solidFill>
                  <a:srgbClr val="FF0000"/>
                </a:solidFill>
              </a:rPr>
              <a:t>）．显式链接</a:t>
            </a:r>
          </a:p>
          <a:p>
            <a:pPr eaLnBrk="1" hangingPunct="1">
              <a:lnSpc>
                <a:spcPct val="110000"/>
              </a:lnSpc>
            </a:pPr>
            <a:r>
              <a:rPr lang="zh-CN" altLang="en-US" b="1" dirty="0" smtClean="0"/>
              <a:t>由于查找记录的过程是在内存中进行的，因而不仅显著地提高了检索速度，而且大大减少了访问磁盘的次数。</a:t>
            </a:r>
          </a:p>
          <a:p>
            <a:pPr eaLnBrk="1" hangingPunct="1">
              <a:lnSpc>
                <a:spcPct val="110000"/>
              </a:lnSpc>
            </a:pPr>
            <a:r>
              <a:rPr lang="zh-CN" altLang="en-US" b="1" dirty="0" smtClean="0"/>
              <a:t>由于分配给文件的所有盘块号都放在该表中，故把该表称为</a:t>
            </a:r>
            <a:r>
              <a:rPr lang="zh-CN" altLang="en-US" b="1" i="1" u="sng" dirty="0" smtClean="0">
                <a:solidFill>
                  <a:srgbClr val="FF0000"/>
                </a:solidFill>
              </a:rPr>
              <a:t>文件分配表</a:t>
            </a:r>
            <a:r>
              <a:rPr lang="en-US" altLang="zh-CN" b="1" i="1" u="sng" dirty="0" smtClean="0">
                <a:solidFill>
                  <a:srgbClr val="FF0000"/>
                </a:solidFill>
              </a:rPr>
              <a:t>FAT</a:t>
            </a:r>
            <a:r>
              <a:rPr lang="en-US" altLang="zh-CN" b="1" dirty="0" smtClean="0">
                <a:solidFill>
                  <a:srgbClr val="FF0000"/>
                </a:solidFill>
              </a:rPr>
              <a:t> </a:t>
            </a:r>
            <a:r>
              <a:rPr lang="en-US" altLang="zh-CN" b="1" dirty="0" smtClean="0"/>
              <a:t>(File Allocation Table)</a:t>
            </a:r>
            <a:r>
              <a:rPr lang="zh-CN" altLang="en-US" b="1"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210">
                                            <p:txEl>
                                              <p:pRg st="0" end="0"/>
                                            </p:txEl>
                                          </p:spTgt>
                                        </p:tgtEl>
                                        <p:attrNameLst>
                                          <p:attrName>style.visibility</p:attrName>
                                        </p:attrNameLst>
                                      </p:cBhvr>
                                      <p:to>
                                        <p:strVal val="visible"/>
                                      </p:to>
                                    </p:set>
                                    <p:animEffect transition="in" filter="fade">
                                      <p:cBhvr>
                                        <p:cTn id="7" dur="2000"/>
                                        <p:tgtEl>
                                          <p:spTgt spid="942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4210">
                                            <p:txEl>
                                              <p:pRg st="1" end="1"/>
                                            </p:txEl>
                                          </p:spTgt>
                                        </p:tgtEl>
                                        <p:attrNameLst>
                                          <p:attrName>style.visibility</p:attrName>
                                        </p:attrNameLst>
                                      </p:cBhvr>
                                      <p:to>
                                        <p:strVal val="visible"/>
                                      </p:to>
                                    </p:set>
                                    <p:animEffect transition="in" filter="fade">
                                      <p:cBhvr>
                                        <p:cTn id="12" dur="2000"/>
                                        <p:tgtEl>
                                          <p:spTgt spid="942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4210">
                                            <p:txEl>
                                              <p:pRg st="2" end="2"/>
                                            </p:txEl>
                                          </p:spTgt>
                                        </p:tgtEl>
                                        <p:attrNameLst>
                                          <p:attrName>style.visibility</p:attrName>
                                        </p:attrNameLst>
                                      </p:cBhvr>
                                      <p:to>
                                        <p:strVal val="visible"/>
                                      </p:to>
                                    </p:set>
                                    <p:animEffect transition="in" filter="fade">
                                      <p:cBhvr>
                                        <p:cTn id="17" dur="2000"/>
                                        <p:tgtEl>
                                          <p:spTgt spid="942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2"/>
          <p:cNvSpPr>
            <a:spLocks noGrp="1" noRot="1" noChangeArrowheads="1"/>
          </p:cNvSpPr>
          <p:nvPr>
            <p:ph type="title" idx="4294967295"/>
          </p:nvPr>
        </p:nvSpPr>
        <p:spPr>
          <a:xfrm>
            <a:off x="0" y="260350"/>
            <a:ext cx="8077200" cy="1066800"/>
          </a:xfrm>
        </p:spPr>
        <p:txBody>
          <a:bodyPr/>
          <a:lstStyle/>
          <a:p>
            <a:pPr eaLnBrk="1" hangingPunct="1">
              <a:defRPr/>
            </a:pPr>
            <a:r>
              <a:rPr lang="en-US" altLang="zh-CN" b="1" u="sng" dirty="0" smtClean="0">
                <a:solidFill>
                  <a:srgbClr val="FF0000"/>
                </a:solidFill>
                <a:effectLst>
                  <a:outerShdw blurRad="38100" dist="38100" dir="2700000" algn="tl">
                    <a:srgbClr val="000000"/>
                  </a:outerShdw>
                </a:effectLst>
                <a:ea typeface="仿宋_GB2312" pitchFamily="1" charset="-122"/>
              </a:rPr>
              <a:t>8.1.3</a:t>
            </a:r>
            <a:r>
              <a:rPr lang="en-US" b="1" u="sng" dirty="0" smtClean="0">
                <a:solidFill>
                  <a:srgbClr val="FF0000"/>
                </a:solidFill>
                <a:effectLst>
                  <a:outerShdw blurRad="38100" dist="38100" dir="2700000" algn="tl">
                    <a:srgbClr val="000000"/>
                  </a:outerShdw>
                </a:effectLst>
                <a:ea typeface="仿宋_GB2312" pitchFamily="1" charset="-122"/>
              </a:rPr>
              <a:t>. </a:t>
            </a:r>
            <a:r>
              <a:rPr lang="zh-CN" altLang="en-US" b="1" u="sng" dirty="0" smtClean="0">
                <a:solidFill>
                  <a:srgbClr val="FF0000"/>
                </a:solidFill>
                <a:effectLst>
                  <a:outerShdw blurRad="38100" dist="38100" dir="2700000" algn="tl">
                    <a:srgbClr val="000000"/>
                  </a:outerShdw>
                </a:effectLst>
                <a:ea typeface="仿宋_GB2312" pitchFamily="1" charset="-122"/>
              </a:rPr>
              <a:t>索引组织方式</a:t>
            </a:r>
          </a:p>
        </p:txBody>
      </p:sp>
      <p:sp>
        <p:nvSpPr>
          <p:cNvPr id="95235" name="Rectangle 3"/>
          <p:cNvSpPr>
            <a:spLocks noGrp="1" noRot="1" noChangeArrowheads="1"/>
          </p:cNvSpPr>
          <p:nvPr>
            <p:ph type="body" idx="4294967295"/>
          </p:nvPr>
        </p:nvSpPr>
        <p:spPr>
          <a:xfrm>
            <a:off x="0" y="1341438"/>
            <a:ext cx="8077200" cy="5111750"/>
          </a:xfrm>
        </p:spPr>
        <p:txBody>
          <a:bodyPr/>
          <a:lstStyle/>
          <a:p>
            <a:pPr eaLnBrk="1" hangingPunct="1">
              <a:lnSpc>
                <a:spcPct val="120000"/>
              </a:lnSpc>
            </a:pPr>
            <a:r>
              <a:rPr lang="en-US" altLang="zh-CN" b="1" dirty="0" smtClean="0">
                <a:solidFill>
                  <a:srgbClr val="FF0000"/>
                </a:solidFill>
              </a:rPr>
              <a:t>1</a:t>
            </a:r>
            <a:r>
              <a:rPr lang="zh-CN" altLang="en-US" b="1" dirty="0" smtClean="0">
                <a:solidFill>
                  <a:srgbClr val="FF0000"/>
                </a:solidFill>
              </a:rPr>
              <a:t>）</a:t>
            </a:r>
            <a:r>
              <a:rPr lang="en-US" altLang="zh-CN" b="1" dirty="0" smtClean="0">
                <a:solidFill>
                  <a:srgbClr val="FF0000"/>
                </a:solidFill>
              </a:rPr>
              <a:t>. </a:t>
            </a:r>
            <a:r>
              <a:rPr lang="zh-CN" altLang="en-US" b="1" dirty="0" smtClean="0">
                <a:solidFill>
                  <a:srgbClr val="FF0000"/>
                </a:solidFill>
              </a:rPr>
              <a:t>单级索引分配</a:t>
            </a:r>
          </a:p>
          <a:p>
            <a:pPr eaLnBrk="1" hangingPunct="1">
              <a:lnSpc>
                <a:spcPct val="120000"/>
              </a:lnSpc>
            </a:pPr>
            <a:r>
              <a:rPr lang="zh-CN" altLang="en-US" b="1" dirty="0" smtClean="0"/>
              <a:t> 链接分配方式虽然解决了连续分配方式所存在的问题， 但又出现了另外两个问题， 即：</a:t>
            </a:r>
          </a:p>
          <a:p>
            <a:pPr lvl="1" eaLnBrk="1" hangingPunct="1">
              <a:lnSpc>
                <a:spcPct val="120000"/>
              </a:lnSpc>
            </a:pPr>
            <a:r>
              <a:rPr lang="zh-CN" altLang="en-US" b="1" dirty="0" smtClean="0">
                <a:solidFill>
                  <a:srgbClr val="FF0000"/>
                </a:solidFill>
              </a:rPr>
              <a:t>  </a:t>
            </a:r>
            <a:r>
              <a:rPr lang="en-US" altLang="zh-CN" b="1" dirty="0" smtClean="0">
                <a:solidFill>
                  <a:srgbClr val="FF0000"/>
                </a:solidFill>
              </a:rPr>
              <a:t>(1) </a:t>
            </a:r>
            <a:r>
              <a:rPr lang="zh-CN" altLang="en-US" b="1" dirty="0" smtClean="0">
                <a:solidFill>
                  <a:srgbClr val="FF0000"/>
                </a:solidFill>
              </a:rPr>
              <a:t>不能支持高效的直接存取。</a:t>
            </a:r>
            <a:r>
              <a:rPr lang="zh-CN" altLang="en-US" b="1" dirty="0" smtClean="0"/>
              <a:t>要对一个较大的文件进行直接存取，须首先在</a:t>
            </a:r>
            <a:r>
              <a:rPr lang="en-US" altLang="zh-CN" b="1" dirty="0" smtClean="0"/>
              <a:t>FAT</a:t>
            </a:r>
            <a:r>
              <a:rPr lang="zh-CN" altLang="en-US" b="1" dirty="0" smtClean="0"/>
              <a:t>中顺序地查找许多盘块号。</a:t>
            </a:r>
          </a:p>
          <a:p>
            <a:pPr lvl="1" eaLnBrk="1" hangingPunct="1">
              <a:lnSpc>
                <a:spcPct val="120000"/>
              </a:lnSpc>
            </a:pPr>
            <a:r>
              <a:rPr lang="zh-CN" altLang="en-US" b="1" dirty="0" smtClean="0">
                <a:solidFill>
                  <a:schemeClr val="folHlink"/>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5234"/>
                                        </p:tgtEl>
                                        <p:attrNameLst>
                                          <p:attrName>style.visibility</p:attrName>
                                        </p:attrNameLst>
                                      </p:cBhvr>
                                      <p:to>
                                        <p:strVal val="visible"/>
                                      </p:to>
                                    </p:set>
                                    <p:animEffect transition="in" filter="fade">
                                      <p:cBhvr>
                                        <p:cTn id="7" dur="2000"/>
                                        <p:tgtEl>
                                          <p:spTgt spid="95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5235">
                                            <p:txEl>
                                              <p:pRg st="0" end="0"/>
                                            </p:txEl>
                                          </p:spTgt>
                                        </p:tgtEl>
                                        <p:attrNameLst>
                                          <p:attrName>style.visibility</p:attrName>
                                        </p:attrNameLst>
                                      </p:cBhvr>
                                      <p:to>
                                        <p:strVal val="visible"/>
                                      </p:to>
                                    </p:set>
                                    <p:animEffect transition="in" filter="fade">
                                      <p:cBhvr>
                                        <p:cTn id="12" dur="2000"/>
                                        <p:tgtEl>
                                          <p:spTgt spid="952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5235">
                                            <p:txEl>
                                              <p:pRg st="1" end="1"/>
                                            </p:txEl>
                                          </p:spTgt>
                                        </p:tgtEl>
                                        <p:attrNameLst>
                                          <p:attrName>style.visibility</p:attrName>
                                        </p:attrNameLst>
                                      </p:cBhvr>
                                      <p:to>
                                        <p:strVal val="visible"/>
                                      </p:to>
                                    </p:set>
                                    <p:animEffect transition="in" filter="fade">
                                      <p:cBhvr>
                                        <p:cTn id="17" dur="2000"/>
                                        <p:tgtEl>
                                          <p:spTgt spid="95235">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5235">
                                            <p:txEl>
                                              <p:pRg st="2" end="2"/>
                                            </p:txEl>
                                          </p:spTgt>
                                        </p:tgtEl>
                                        <p:attrNameLst>
                                          <p:attrName>style.visibility</p:attrName>
                                        </p:attrNameLst>
                                      </p:cBhvr>
                                      <p:to>
                                        <p:strVal val="visible"/>
                                      </p:to>
                                    </p:set>
                                    <p:animEffect transition="in" filter="fade">
                                      <p:cBhvr>
                                        <p:cTn id="20" dur="2000"/>
                                        <p:tgtEl>
                                          <p:spTgt spid="95235">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5235">
                                            <p:txEl>
                                              <p:pRg st="3" end="3"/>
                                            </p:txEl>
                                          </p:spTgt>
                                        </p:tgtEl>
                                        <p:attrNameLst>
                                          <p:attrName>style.visibility</p:attrName>
                                        </p:attrNameLst>
                                      </p:cBhvr>
                                      <p:to>
                                        <p:strVal val="visible"/>
                                      </p:to>
                                    </p:set>
                                    <p:animEffect transition="in" filter="fade">
                                      <p:cBhvr>
                                        <p:cTn id="23" dur="2000"/>
                                        <p:tgtEl>
                                          <p:spTgt spid="952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utoUpdateAnimBg="0"/>
      <p:bldP spid="9523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3"/>
          <p:cNvSpPr>
            <a:spLocks noGrp="1" noRot="1" noChangeArrowheads="1"/>
          </p:cNvSpPr>
          <p:nvPr>
            <p:ph type="body" idx="4294967295"/>
          </p:nvPr>
        </p:nvSpPr>
        <p:spPr>
          <a:xfrm>
            <a:off x="428596" y="981075"/>
            <a:ext cx="8077200" cy="4498975"/>
          </a:xfrm>
        </p:spPr>
        <p:txBody>
          <a:bodyPr/>
          <a:lstStyle/>
          <a:p>
            <a:pPr eaLnBrk="1" hangingPunct="1">
              <a:lnSpc>
                <a:spcPct val="120000"/>
              </a:lnSpc>
              <a:spcBef>
                <a:spcPct val="0"/>
              </a:spcBef>
              <a:buClrTx/>
              <a:buSzTx/>
              <a:buFont typeface="Wingdings" pitchFamily="2" charset="2"/>
              <a:buNone/>
            </a:pPr>
            <a:r>
              <a:rPr lang="en-US" altLang="zh-CN" b="1" dirty="0" smtClean="0">
                <a:solidFill>
                  <a:srgbClr val="FF0000"/>
                </a:solidFill>
              </a:rPr>
              <a:t>(2) FAT</a:t>
            </a:r>
            <a:r>
              <a:rPr lang="zh-CN" altLang="en-US" b="1" dirty="0" smtClean="0">
                <a:solidFill>
                  <a:srgbClr val="FF0000"/>
                </a:solidFill>
              </a:rPr>
              <a:t>需占用较大的内存空间。</a:t>
            </a:r>
          </a:p>
          <a:p>
            <a:pPr eaLnBrk="1" hangingPunct="1">
              <a:lnSpc>
                <a:spcPct val="120000"/>
              </a:lnSpc>
              <a:spcBef>
                <a:spcPct val="0"/>
              </a:spcBef>
              <a:buClrTx/>
              <a:buSzTx/>
              <a:buFont typeface="Wingdings" pitchFamily="2" charset="2"/>
              <a:buNone/>
            </a:pPr>
            <a:endParaRPr lang="zh-CN" altLang="en-US" b="1" dirty="0" smtClean="0"/>
          </a:p>
          <a:p>
            <a:pPr eaLnBrk="1" hangingPunct="1">
              <a:lnSpc>
                <a:spcPct val="120000"/>
              </a:lnSpc>
            </a:pPr>
            <a:r>
              <a:rPr lang="zh-CN" altLang="en-US" b="1" dirty="0" smtClean="0"/>
              <a:t>由于一个文件所占用盘块的盘块号是随机地分布在</a:t>
            </a:r>
            <a:r>
              <a:rPr lang="en-US" altLang="zh-CN" b="1" dirty="0" smtClean="0"/>
              <a:t>FAT</a:t>
            </a:r>
            <a:r>
              <a:rPr lang="zh-CN" altLang="en-US" b="1" dirty="0" smtClean="0"/>
              <a:t>中的，因而只有将整个</a:t>
            </a:r>
            <a:r>
              <a:rPr lang="en-US" altLang="zh-CN" b="1" dirty="0" smtClean="0"/>
              <a:t>FAT </a:t>
            </a:r>
            <a:r>
              <a:rPr lang="zh-CN" altLang="en-US" b="1" dirty="0" smtClean="0"/>
              <a:t>调入内存，才能保证在</a:t>
            </a:r>
            <a:r>
              <a:rPr lang="en-US" altLang="zh-CN" b="1" dirty="0" smtClean="0"/>
              <a:t>FAT </a:t>
            </a:r>
            <a:r>
              <a:rPr lang="zh-CN" altLang="en-US" b="1" dirty="0" smtClean="0"/>
              <a:t>中找到一个文件的所有盘块号。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6258">
                                            <p:txEl>
                                              <p:pRg st="0" end="0"/>
                                            </p:txEl>
                                          </p:spTgt>
                                        </p:tgtEl>
                                        <p:attrNameLst>
                                          <p:attrName>style.visibility</p:attrName>
                                        </p:attrNameLst>
                                      </p:cBhvr>
                                      <p:to>
                                        <p:strVal val="visible"/>
                                      </p:to>
                                    </p:set>
                                    <p:animEffect transition="in" filter="fade">
                                      <p:cBhvr>
                                        <p:cTn id="7" dur="2000"/>
                                        <p:tgtEl>
                                          <p:spTgt spid="962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6258">
                                            <p:txEl>
                                              <p:pRg st="2" end="2"/>
                                            </p:txEl>
                                          </p:spTgt>
                                        </p:tgtEl>
                                        <p:attrNameLst>
                                          <p:attrName>style.visibility</p:attrName>
                                        </p:attrNameLst>
                                      </p:cBhvr>
                                      <p:to>
                                        <p:strVal val="visible"/>
                                      </p:to>
                                    </p:set>
                                    <p:animEffect transition="in" filter="fade">
                                      <p:cBhvr>
                                        <p:cTn id="12" dur="2000"/>
                                        <p:tgtEl>
                                          <p:spTgt spid="962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3"/>
          <p:cNvSpPr>
            <a:spLocks noGrp="1" noRot="1" noChangeArrowheads="1"/>
          </p:cNvSpPr>
          <p:nvPr>
            <p:ph type="body" idx="4294967295"/>
          </p:nvPr>
        </p:nvSpPr>
        <p:spPr>
          <a:xfrm>
            <a:off x="214339" y="142875"/>
            <a:ext cx="8606133" cy="6357959"/>
          </a:xfrm>
        </p:spPr>
        <p:txBody>
          <a:bodyPr>
            <a:normAutofit/>
          </a:bodyPr>
          <a:lstStyle/>
          <a:p>
            <a:pPr eaLnBrk="1" hangingPunct="1">
              <a:lnSpc>
                <a:spcPct val="120000"/>
              </a:lnSpc>
              <a:buFont typeface="Wingdings" pitchFamily="2" charset="2"/>
              <a:buNone/>
              <a:defRPr/>
            </a:pPr>
            <a:endParaRPr lang="en-US" sz="2800" dirty="0" smtClean="0"/>
          </a:p>
          <a:p>
            <a:pPr eaLnBrk="1" hangingPunct="1">
              <a:lnSpc>
                <a:spcPct val="120000"/>
              </a:lnSpc>
              <a:defRPr/>
            </a:pPr>
            <a:r>
              <a:rPr lang="en-US" b="1" dirty="0" smtClean="0">
                <a:solidFill>
                  <a:srgbClr val="FF0000"/>
                </a:solidFill>
                <a:effectLst>
                  <a:outerShdw blurRad="38100" dist="38100" dir="2700000" algn="tl">
                    <a:srgbClr val="000000"/>
                  </a:outerShdw>
                </a:effectLst>
                <a:latin typeface="仿宋_GB2312" pitchFamily="1" charset="-122"/>
                <a:ea typeface="仿宋_GB2312" pitchFamily="1" charset="-122"/>
              </a:rPr>
              <a:t>1</a:t>
            </a:r>
            <a:r>
              <a:rPr lang="zh-CN" altLang="en-US" b="1" dirty="0" smtClean="0">
                <a:solidFill>
                  <a:srgbClr val="FF0000"/>
                </a:solidFill>
                <a:effectLst>
                  <a:outerShdw blurRad="38100" dist="38100" dir="2700000" algn="tl">
                    <a:srgbClr val="000000"/>
                  </a:outerShdw>
                </a:effectLst>
                <a:latin typeface="仿宋_GB2312" pitchFamily="1" charset="-122"/>
                <a:ea typeface="仿宋_GB2312" pitchFamily="1" charset="-122"/>
              </a:rPr>
              <a:t>）单级索引分配</a:t>
            </a:r>
            <a:endParaRPr lang="en-US" altLang="zh-CN" b="1" dirty="0" smtClean="0">
              <a:solidFill>
                <a:srgbClr val="FF0000"/>
              </a:solidFill>
              <a:effectLst>
                <a:outerShdw blurRad="38100" dist="38100" dir="2700000" algn="tl">
                  <a:srgbClr val="000000"/>
                </a:outerShdw>
              </a:effectLst>
              <a:latin typeface="仿宋_GB2312" pitchFamily="1" charset="-122"/>
              <a:ea typeface="仿宋_GB2312" pitchFamily="1" charset="-122"/>
            </a:endParaRPr>
          </a:p>
          <a:p>
            <a:pPr eaLnBrk="1" hangingPunct="1">
              <a:lnSpc>
                <a:spcPct val="120000"/>
              </a:lnSpc>
              <a:defRPr/>
            </a:pPr>
            <a:r>
              <a:rPr lang="zh-CN" altLang="en-US" b="1" dirty="0" smtClean="0"/>
              <a:t>索引分配能解决连续分配和链接分配存在的诸多问题。</a:t>
            </a:r>
          </a:p>
          <a:p>
            <a:pPr eaLnBrk="1" hangingPunct="1">
              <a:lnSpc>
                <a:spcPct val="120000"/>
              </a:lnSpc>
              <a:defRPr/>
            </a:pPr>
            <a:r>
              <a:rPr lang="zh-CN" altLang="en-US" sz="2800" b="1" dirty="0" smtClean="0">
                <a:solidFill>
                  <a:srgbClr val="FF0000"/>
                </a:solidFill>
              </a:rPr>
              <a:t>原理：</a:t>
            </a:r>
            <a:endParaRPr lang="en-US" sz="2800" b="1" dirty="0" smtClean="0">
              <a:solidFill>
                <a:srgbClr val="FF0000"/>
              </a:solidFill>
            </a:endParaRPr>
          </a:p>
          <a:p>
            <a:pPr lvl="1" eaLnBrk="1" hangingPunct="1">
              <a:lnSpc>
                <a:spcPct val="120000"/>
              </a:lnSpc>
              <a:defRPr/>
            </a:pPr>
            <a:r>
              <a:rPr lang="zh-CN" altLang="en-US" b="1" dirty="0" smtClean="0"/>
              <a:t>为</a:t>
            </a:r>
            <a:r>
              <a:rPr lang="zh-CN" altLang="en-US" b="1" dirty="0" smtClean="0">
                <a:solidFill>
                  <a:srgbClr val="FF0000"/>
                </a:solidFill>
              </a:rPr>
              <a:t>每个文件分配一个索引块</a:t>
            </a:r>
            <a:r>
              <a:rPr lang="en-US" b="1" dirty="0" smtClean="0"/>
              <a:t>(</a:t>
            </a:r>
            <a:r>
              <a:rPr lang="zh-CN" altLang="en-US" b="1" dirty="0" smtClean="0"/>
              <a:t>表</a:t>
            </a:r>
            <a:r>
              <a:rPr lang="en-US" b="1" dirty="0" smtClean="0"/>
              <a:t>)</a:t>
            </a:r>
            <a:r>
              <a:rPr lang="zh-CN" altLang="en-US" b="1" dirty="0" smtClean="0"/>
              <a:t>，用于记录分配给该文件的所有盘块号，因而该索引块就是一个含有许多盘块号的数组。</a:t>
            </a:r>
            <a:endParaRPr lang="en-US" b="1" dirty="0" smtClean="0"/>
          </a:p>
          <a:p>
            <a:pPr lvl="1" eaLnBrk="1" hangingPunct="1">
              <a:lnSpc>
                <a:spcPct val="120000"/>
              </a:lnSpc>
              <a:defRPr/>
            </a:pPr>
            <a:r>
              <a:rPr lang="zh-CN" altLang="en-US" b="1" dirty="0" smtClean="0"/>
              <a:t>在建立一个文件时，只需在为之建立的</a:t>
            </a:r>
            <a:r>
              <a:rPr lang="zh-CN" altLang="en-US" b="1" dirty="0" smtClean="0">
                <a:solidFill>
                  <a:srgbClr val="FF0000"/>
                </a:solidFill>
              </a:rPr>
              <a:t>目录项中填上指向该索引块的指针</a:t>
            </a:r>
            <a:r>
              <a:rPr lang="zh-CN" altLang="en-US" b="1" dirty="0" smtClean="0"/>
              <a:t>。</a:t>
            </a:r>
            <a:endParaRPr lang="zh-CN" altLang="en-US" b="1" dirty="0" smtClean="0">
              <a:effectLst>
                <a:outerShdw blurRad="38100" dist="38100" dir="2700000" algn="tl">
                  <a:srgbClr val="000000"/>
                </a:outerShdw>
              </a:effectLst>
              <a:latin typeface="仿宋_GB2312" pitchFamily="1" charset="-122"/>
              <a:ea typeface="仿宋_GB2312" pitchFamily="1" charset="-122"/>
            </a:endParaRPr>
          </a:p>
          <a:p>
            <a:pPr eaLnBrk="1" hangingPunct="1">
              <a:lnSpc>
                <a:spcPct val="120000"/>
              </a:lnSpc>
              <a:defRPr/>
            </a:pPr>
            <a:endParaRPr lang="en-US" sz="2800" b="1" dirty="0" smtClean="0">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7282">
                                            <p:txEl>
                                              <p:pRg st="1" end="1"/>
                                            </p:txEl>
                                          </p:spTgt>
                                        </p:tgtEl>
                                        <p:attrNameLst>
                                          <p:attrName>style.visibility</p:attrName>
                                        </p:attrNameLst>
                                      </p:cBhvr>
                                      <p:to>
                                        <p:strVal val="visible"/>
                                      </p:to>
                                    </p:set>
                                    <p:animEffect transition="in" filter="fade">
                                      <p:cBhvr>
                                        <p:cTn id="7" dur="2000"/>
                                        <p:tgtEl>
                                          <p:spTgt spid="9728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7282">
                                            <p:txEl>
                                              <p:pRg st="2" end="2"/>
                                            </p:txEl>
                                          </p:spTgt>
                                        </p:tgtEl>
                                        <p:attrNameLst>
                                          <p:attrName>style.visibility</p:attrName>
                                        </p:attrNameLst>
                                      </p:cBhvr>
                                      <p:to>
                                        <p:strVal val="visible"/>
                                      </p:to>
                                    </p:set>
                                    <p:animEffect transition="in" filter="fade">
                                      <p:cBhvr>
                                        <p:cTn id="12" dur="2000"/>
                                        <p:tgtEl>
                                          <p:spTgt spid="9728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7282">
                                            <p:txEl>
                                              <p:pRg st="3" end="3"/>
                                            </p:txEl>
                                          </p:spTgt>
                                        </p:tgtEl>
                                        <p:attrNameLst>
                                          <p:attrName>style.visibility</p:attrName>
                                        </p:attrNameLst>
                                      </p:cBhvr>
                                      <p:to>
                                        <p:strVal val="visible"/>
                                      </p:to>
                                    </p:set>
                                    <p:animEffect transition="in" filter="fade">
                                      <p:cBhvr>
                                        <p:cTn id="17" dur="2000"/>
                                        <p:tgtEl>
                                          <p:spTgt spid="97282">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7282">
                                            <p:txEl>
                                              <p:pRg st="4" end="4"/>
                                            </p:txEl>
                                          </p:spTgt>
                                        </p:tgtEl>
                                        <p:attrNameLst>
                                          <p:attrName>style.visibility</p:attrName>
                                        </p:attrNameLst>
                                      </p:cBhvr>
                                      <p:to>
                                        <p:strVal val="visible"/>
                                      </p:to>
                                    </p:set>
                                    <p:animEffect transition="in" filter="fade">
                                      <p:cBhvr>
                                        <p:cTn id="20" dur="2000"/>
                                        <p:tgtEl>
                                          <p:spTgt spid="97282">
                                            <p:txEl>
                                              <p:pRg st="4" end="4"/>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7282">
                                            <p:txEl>
                                              <p:pRg st="5" end="5"/>
                                            </p:txEl>
                                          </p:spTgt>
                                        </p:tgtEl>
                                        <p:attrNameLst>
                                          <p:attrName>style.visibility</p:attrName>
                                        </p:attrNameLst>
                                      </p:cBhvr>
                                      <p:to>
                                        <p:strVal val="visible"/>
                                      </p:to>
                                    </p:set>
                                    <p:animEffect transition="in" filter="fade">
                                      <p:cBhvr>
                                        <p:cTn id="23" dur="2000"/>
                                        <p:tgtEl>
                                          <p:spTgt spid="9728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18"/>
          <p:cNvSpPr>
            <a:spLocks noChangeArrowheads="1"/>
          </p:cNvSpPr>
          <p:nvPr/>
        </p:nvSpPr>
        <p:spPr bwMode="auto">
          <a:xfrm>
            <a:off x="539750" y="404813"/>
            <a:ext cx="8353425" cy="6048375"/>
          </a:xfrm>
          <a:prstGeom prst="rect">
            <a:avLst/>
          </a:prstGeom>
          <a:solidFill>
            <a:schemeClr val="bg2">
              <a:lumMod val="90000"/>
            </a:schemeClr>
          </a:solidFill>
          <a:ln w="9525">
            <a:solidFill>
              <a:schemeClr val="tx1"/>
            </a:solidFill>
            <a:miter lim="800000"/>
            <a:headEnd/>
            <a:tailEnd/>
          </a:ln>
        </p:spPr>
        <p:txBody>
          <a:bodyPr wrap="none" anchor="ctr"/>
          <a:lstStyle/>
          <a:p>
            <a:endParaRPr lang="zh-CN" altLang="en-US"/>
          </a:p>
        </p:txBody>
      </p:sp>
      <p:grpSp>
        <p:nvGrpSpPr>
          <p:cNvPr id="2" name="Group 119"/>
          <p:cNvGrpSpPr>
            <a:grpSpLocks/>
          </p:cNvGrpSpPr>
          <p:nvPr/>
        </p:nvGrpSpPr>
        <p:grpSpPr bwMode="auto">
          <a:xfrm>
            <a:off x="1822450" y="981075"/>
            <a:ext cx="6134100" cy="5083175"/>
            <a:chOff x="0" y="0"/>
            <a:chExt cx="3864" cy="3202"/>
          </a:xfrm>
        </p:grpSpPr>
        <p:grpSp>
          <p:nvGrpSpPr>
            <p:cNvPr id="3" name="Group 120"/>
            <p:cNvGrpSpPr>
              <a:grpSpLocks/>
            </p:cNvGrpSpPr>
            <p:nvPr/>
          </p:nvGrpSpPr>
          <p:grpSpPr bwMode="auto">
            <a:xfrm>
              <a:off x="0" y="0"/>
              <a:ext cx="3864" cy="3202"/>
              <a:chOff x="0" y="0"/>
              <a:chExt cx="5760" cy="4368"/>
            </a:xfrm>
          </p:grpSpPr>
          <p:grpSp>
            <p:nvGrpSpPr>
              <p:cNvPr id="4" name="Group 121"/>
              <p:cNvGrpSpPr>
                <a:grpSpLocks/>
              </p:cNvGrpSpPr>
              <p:nvPr/>
            </p:nvGrpSpPr>
            <p:grpSpPr bwMode="auto">
              <a:xfrm>
                <a:off x="4020" y="0"/>
                <a:ext cx="1740" cy="1752"/>
                <a:chOff x="0" y="0"/>
                <a:chExt cx="1740" cy="1752"/>
              </a:xfrm>
            </p:grpSpPr>
            <p:sp>
              <p:nvSpPr>
                <p:cNvPr id="98416" name="Text Box 122"/>
                <p:cNvSpPr txBox="1">
                  <a:spLocks noChangeArrowheads="1"/>
                </p:cNvSpPr>
                <p:nvPr/>
              </p:nvSpPr>
              <p:spPr bwMode="auto">
                <a:xfrm>
                  <a:off x="0" y="315"/>
                  <a:ext cx="720" cy="309"/>
                </a:xfrm>
                <a:prstGeom prst="rect">
                  <a:avLst/>
                </a:prstGeom>
                <a:noFill/>
                <a:ln w="9525">
                  <a:solidFill>
                    <a:srgbClr val="000000"/>
                  </a:solidFill>
                  <a:miter lim="800000"/>
                  <a:headEnd/>
                  <a:tailEnd/>
                </a:ln>
              </p:spPr>
              <p:txBody>
                <a:bodyPr lIns="0" tIns="0" rIns="0" bIns="0"/>
                <a:lstStyle/>
                <a:p>
                  <a:pPr algn="ctr" eaLnBrk="0" hangingPunct="0"/>
                  <a:r>
                    <a:rPr lang="zh-CN" altLang="en-US" sz="1600" b="1">
                      <a:solidFill>
                        <a:srgbClr val="000000"/>
                      </a:solidFill>
                      <a:latin typeface="Times New Roman" pitchFamily="18" charset="0"/>
                    </a:rPr>
                    <a:t>文件名</a:t>
                  </a:r>
                </a:p>
              </p:txBody>
            </p:sp>
            <p:sp>
              <p:nvSpPr>
                <p:cNvPr id="98417" name="Text Box 123"/>
                <p:cNvSpPr txBox="1">
                  <a:spLocks noChangeArrowheads="1"/>
                </p:cNvSpPr>
                <p:nvPr/>
              </p:nvSpPr>
              <p:spPr bwMode="auto">
                <a:xfrm>
                  <a:off x="720" y="312"/>
                  <a:ext cx="900" cy="312"/>
                </a:xfrm>
                <a:prstGeom prst="rect">
                  <a:avLst/>
                </a:prstGeom>
                <a:noFill/>
                <a:ln w="9525">
                  <a:solidFill>
                    <a:srgbClr val="000000"/>
                  </a:solidFill>
                  <a:miter lim="800000"/>
                  <a:headEnd/>
                  <a:tailEnd/>
                </a:ln>
              </p:spPr>
              <p:txBody>
                <a:bodyPr lIns="0" tIns="0" rIns="0" bIns="0"/>
                <a:lstStyle/>
                <a:p>
                  <a:pPr algn="ctr" eaLnBrk="0" hangingPunct="0"/>
                  <a:r>
                    <a:rPr lang="zh-CN" altLang="en-US" sz="1600" b="1">
                      <a:solidFill>
                        <a:srgbClr val="000000"/>
                      </a:solidFill>
                      <a:latin typeface="Times New Roman" pitchFamily="18" charset="0"/>
                    </a:rPr>
                    <a:t>索引块号</a:t>
                  </a:r>
                </a:p>
              </p:txBody>
            </p:sp>
            <p:sp>
              <p:nvSpPr>
                <p:cNvPr id="98418" name="Text Box 124"/>
                <p:cNvSpPr txBox="1">
                  <a:spLocks noChangeArrowheads="1"/>
                </p:cNvSpPr>
                <p:nvPr/>
              </p:nvSpPr>
              <p:spPr bwMode="auto">
                <a:xfrm>
                  <a:off x="0" y="0"/>
                  <a:ext cx="1740" cy="312"/>
                </a:xfrm>
                <a:prstGeom prst="rect">
                  <a:avLst/>
                </a:prstGeom>
                <a:noFill/>
                <a:ln w="9525">
                  <a:noFill/>
                  <a:miter lim="800000"/>
                  <a:headEnd/>
                  <a:tailEnd/>
                </a:ln>
              </p:spPr>
              <p:txBody>
                <a:bodyPr lIns="0" tIns="0" rIns="0" bIns="0"/>
                <a:lstStyle/>
                <a:p>
                  <a:pPr algn="ctr" eaLnBrk="0" hangingPunct="0"/>
                  <a:r>
                    <a:rPr lang="zh-CN" altLang="en-US" sz="2400" b="1">
                      <a:solidFill>
                        <a:srgbClr val="000000"/>
                      </a:solidFill>
                      <a:latin typeface="Times New Roman" pitchFamily="18" charset="0"/>
                    </a:rPr>
                    <a:t>文件分配表</a:t>
                  </a:r>
                </a:p>
              </p:txBody>
            </p:sp>
            <p:sp>
              <p:nvSpPr>
                <p:cNvPr id="98419" name="Text Box 125"/>
                <p:cNvSpPr txBox="1">
                  <a:spLocks noChangeArrowheads="1"/>
                </p:cNvSpPr>
                <p:nvPr/>
              </p:nvSpPr>
              <p:spPr bwMode="auto">
                <a:xfrm>
                  <a:off x="0" y="627"/>
                  <a:ext cx="720" cy="309"/>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FILE1</a:t>
                  </a:r>
                </a:p>
              </p:txBody>
            </p:sp>
            <p:sp>
              <p:nvSpPr>
                <p:cNvPr id="98420" name="Text Box 126"/>
                <p:cNvSpPr txBox="1">
                  <a:spLocks noChangeArrowheads="1"/>
                </p:cNvSpPr>
                <p:nvPr/>
              </p:nvSpPr>
              <p:spPr bwMode="auto">
                <a:xfrm>
                  <a:off x="720" y="624"/>
                  <a:ext cx="90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23</a:t>
                  </a:r>
                </a:p>
              </p:txBody>
            </p:sp>
            <p:sp>
              <p:nvSpPr>
                <p:cNvPr id="98421" name="Text Box 127"/>
                <p:cNvSpPr txBox="1">
                  <a:spLocks noChangeArrowheads="1"/>
                </p:cNvSpPr>
                <p:nvPr/>
              </p:nvSpPr>
              <p:spPr bwMode="auto">
                <a:xfrm>
                  <a:off x="0" y="944"/>
                  <a:ext cx="720" cy="808"/>
                </a:xfrm>
                <a:prstGeom prst="rect">
                  <a:avLst/>
                </a:prstGeom>
                <a:noFill/>
                <a:ln w="9525">
                  <a:solidFill>
                    <a:srgbClr val="000000"/>
                  </a:solidFill>
                  <a:miter lim="800000"/>
                  <a:headEnd/>
                  <a:tailEnd/>
                </a:ln>
              </p:spPr>
              <p:txBody>
                <a:bodyPr lIns="0" tIns="0" rIns="0" bIns="0"/>
                <a:lstStyle/>
                <a:p>
                  <a:pPr algn="ctr" eaLnBrk="0" hangingPunct="0"/>
                  <a:endParaRPr lang="en-US" altLang="zh-CN" sz="2400" b="1">
                    <a:solidFill>
                      <a:srgbClr val="000000"/>
                    </a:solidFill>
                    <a:latin typeface="Times New Roman" pitchFamily="18" charset="0"/>
                  </a:endParaRPr>
                </a:p>
                <a:p>
                  <a:pPr algn="ctr" eaLnBrk="0" hangingPunct="0"/>
                  <a:r>
                    <a:rPr lang="en-US" altLang="zh-CN" sz="2400" b="1">
                      <a:solidFill>
                        <a:srgbClr val="000000"/>
                      </a:solidFill>
                      <a:latin typeface="Times New Roman" pitchFamily="18" charset="0"/>
                    </a:rPr>
                    <a:t>…</a:t>
                  </a:r>
                </a:p>
              </p:txBody>
            </p:sp>
            <p:sp>
              <p:nvSpPr>
                <p:cNvPr id="98422" name="Text Box 128"/>
                <p:cNvSpPr txBox="1">
                  <a:spLocks noChangeArrowheads="1"/>
                </p:cNvSpPr>
                <p:nvPr/>
              </p:nvSpPr>
              <p:spPr bwMode="auto">
                <a:xfrm>
                  <a:off x="720" y="936"/>
                  <a:ext cx="900" cy="816"/>
                </a:xfrm>
                <a:prstGeom prst="rect">
                  <a:avLst/>
                </a:prstGeom>
                <a:noFill/>
                <a:ln w="9525">
                  <a:solidFill>
                    <a:srgbClr val="000000"/>
                  </a:solidFill>
                  <a:miter lim="800000"/>
                  <a:headEnd/>
                  <a:tailEnd/>
                </a:ln>
              </p:spPr>
              <p:txBody>
                <a:bodyPr lIns="0" tIns="0" rIns="0" bIns="0"/>
                <a:lstStyle/>
                <a:p>
                  <a:pPr algn="ctr" eaLnBrk="0" hangingPunct="0"/>
                  <a:endParaRPr lang="en-US" altLang="zh-CN" sz="2400" b="1">
                    <a:solidFill>
                      <a:srgbClr val="000000"/>
                    </a:solidFill>
                    <a:latin typeface="Times New Roman" pitchFamily="18" charset="0"/>
                  </a:endParaRPr>
                </a:p>
                <a:p>
                  <a:pPr algn="ctr" eaLnBrk="0" hangingPunct="0"/>
                  <a:r>
                    <a:rPr lang="en-US" altLang="zh-CN" sz="2400" b="1">
                      <a:solidFill>
                        <a:srgbClr val="000000"/>
                      </a:solidFill>
                      <a:latin typeface="Times New Roman" pitchFamily="18" charset="0"/>
                    </a:rPr>
                    <a:t>…</a:t>
                  </a:r>
                </a:p>
              </p:txBody>
            </p:sp>
          </p:grpSp>
          <p:sp>
            <p:nvSpPr>
              <p:cNvPr id="98313" name="Text Box 129"/>
              <p:cNvSpPr txBox="1">
                <a:spLocks noChangeArrowheads="1"/>
              </p:cNvSpPr>
              <p:nvPr/>
            </p:nvSpPr>
            <p:spPr bwMode="auto">
              <a:xfrm>
                <a:off x="0" y="3864"/>
                <a:ext cx="5760" cy="504"/>
              </a:xfrm>
              <a:prstGeom prst="rect">
                <a:avLst/>
              </a:prstGeom>
              <a:noFill/>
              <a:ln w="9525">
                <a:noFill/>
                <a:miter lim="800000"/>
                <a:headEnd/>
                <a:tailEnd/>
              </a:ln>
            </p:spPr>
            <p:txBody>
              <a:bodyPr/>
              <a:lstStyle/>
              <a:p>
                <a:pPr algn="ctr" eaLnBrk="0" hangingPunct="0"/>
                <a:r>
                  <a:rPr lang="zh-CN" altLang="en-US" sz="2400" b="1">
                    <a:solidFill>
                      <a:srgbClr val="000000"/>
                    </a:solidFill>
                    <a:latin typeface="Times New Roman" pitchFamily="18" charset="0"/>
                  </a:rPr>
                  <a:t>图   基于数据块分区的索引分配</a:t>
                </a:r>
              </a:p>
            </p:txBody>
          </p:sp>
          <p:grpSp>
            <p:nvGrpSpPr>
              <p:cNvPr id="5" name="Group 130"/>
              <p:cNvGrpSpPr>
                <a:grpSpLocks/>
              </p:cNvGrpSpPr>
              <p:nvPr/>
            </p:nvGrpSpPr>
            <p:grpSpPr bwMode="auto">
              <a:xfrm>
                <a:off x="0" y="0"/>
                <a:ext cx="4980" cy="3744"/>
                <a:chOff x="0" y="0"/>
                <a:chExt cx="4980" cy="3744"/>
              </a:xfrm>
            </p:grpSpPr>
            <p:grpSp>
              <p:nvGrpSpPr>
                <p:cNvPr id="6" name="Group 131"/>
                <p:cNvGrpSpPr>
                  <a:grpSpLocks/>
                </p:cNvGrpSpPr>
                <p:nvPr/>
              </p:nvGrpSpPr>
              <p:grpSpPr bwMode="auto">
                <a:xfrm>
                  <a:off x="900" y="1404"/>
                  <a:ext cx="900" cy="156"/>
                  <a:chOff x="0" y="0"/>
                  <a:chExt cx="900" cy="156"/>
                </a:xfrm>
              </p:grpSpPr>
              <p:sp>
                <p:nvSpPr>
                  <p:cNvPr id="98414" name="Text Box 132"/>
                  <p:cNvSpPr txBox="1">
                    <a:spLocks noChangeArrowheads="1"/>
                  </p:cNvSpPr>
                  <p:nvPr/>
                </p:nvSpPr>
                <p:spPr bwMode="auto">
                  <a:xfrm>
                    <a:off x="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15" name="Text Box 133"/>
                  <p:cNvSpPr txBox="1">
                    <a:spLocks noChangeArrowheads="1"/>
                  </p:cNvSpPr>
                  <p:nvPr/>
                </p:nvSpPr>
                <p:spPr bwMode="auto">
                  <a:xfrm>
                    <a:off x="54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grpSp>
              <p:nvGrpSpPr>
                <p:cNvPr id="7" name="Group 134"/>
                <p:cNvGrpSpPr>
                  <a:grpSpLocks/>
                </p:cNvGrpSpPr>
                <p:nvPr/>
              </p:nvGrpSpPr>
              <p:grpSpPr bwMode="auto">
                <a:xfrm>
                  <a:off x="0" y="0"/>
                  <a:ext cx="4980" cy="3744"/>
                  <a:chOff x="0" y="0"/>
                  <a:chExt cx="4980" cy="3744"/>
                </a:xfrm>
              </p:grpSpPr>
              <p:sp>
                <p:nvSpPr>
                  <p:cNvPr id="98317" name="Freeform 135"/>
                  <p:cNvSpPr>
                    <a:spLocks/>
                  </p:cNvSpPr>
                  <p:nvPr/>
                </p:nvSpPr>
                <p:spPr bwMode="auto">
                  <a:xfrm>
                    <a:off x="0" y="3432"/>
                    <a:ext cx="3600" cy="312"/>
                  </a:xfrm>
                  <a:custGeom>
                    <a:avLst/>
                    <a:gdLst>
                      <a:gd name="T0" fmla="*/ 0 w 3420"/>
                      <a:gd name="T1" fmla="*/ 0 h 156"/>
                      <a:gd name="T2" fmla="*/ 1705 w 3420"/>
                      <a:gd name="T3" fmla="*/ 312 h 156"/>
                      <a:gd name="T4" fmla="*/ 3600 w 3420"/>
                      <a:gd name="T5" fmla="*/ 0 h 156"/>
                      <a:gd name="T6" fmla="*/ 0 60000 65536"/>
                      <a:gd name="T7" fmla="*/ 0 60000 65536"/>
                      <a:gd name="T8" fmla="*/ 0 60000 65536"/>
                      <a:gd name="T9" fmla="*/ 0 w 3420"/>
                      <a:gd name="T10" fmla="*/ 0 h 156"/>
                      <a:gd name="T11" fmla="*/ 3420 w 3420"/>
                      <a:gd name="T12" fmla="*/ 156 h 156"/>
                    </a:gdLst>
                    <a:ahLst/>
                    <a:cxnLst>
                      <a:cxn ang="T6">
                        <a:pos x="T0" y="T1"/>
                      </a:cxn>
                      <a:cxn ang="T7">
                        <a:pos x="T2" y="T3"/>
                      </a:cxn>
                      <a:cxn ang="T8">
                        <a:pos x="T4" y="T5"/>
                      </a:cxn>
                    </a:cxnLst>
                    <a:rect l="T9" t="T10" r="T11" b="T12"/>
                    <a:pathLst>
                      <a:path w="3420" h="156">
                        <a:moveTo>
                          <a:pt x="0" y="0"/>
                        </a:moveTo>
                        <a:cubicBezTo>
                          <a:pt x="525" y="78"/>
                          <a:pt x="1050" y="156"/>
                          <a:pt x="1620" y="156"/>
                        </a:cubicBezTo>
                        <a:cubicBezTo>
                          <a:pt x="2190" y="156"/>
                          <a:pt x="2805" y="78"/>
                          <a:pt x="3420" y="0"/>
                        </a:cubicBezTo>
                      </a:path>
                    </a:pathLst>
                  </a:custGeom>
                  <a:noFill/>
                  <a:ln w="12700" cmpd="sng">
                    <a:solidFill>
                      <a:srgbClr val="000000"/>
                    </a:solidFill>
                    <a:miter lim="800000"/>
                    <a:headEnd/>
                    <a:tailEnd/>
                  </a:ln>
                </p:spPr>
                <p:txBody>
                  <a:bodyPr/>
                  <a:lstStyle/>
                  <a:p>
                    <a:endParaRPr lang="zh-CN" altLang="en-US"/>
                  </a:p>
                </p:txBody>
              </p:sp>
              <p:grpSp>
                <p:nvGrpSpPr>
                  <p:cNvPr id="8" name="Group 136"/>
                  <p:cNvGrpSpPr>
                    <a:grpSpLocks/>
                  </p:cNvGrpSpPr>
                  <p:nvPr/>
                </p:nvGrpSpPr>
                <p:grpSpPr bwMode="auto">
                  <a:xfrm>
                    <a:off x="0" y="0"/>
                    <a:ext cx="4980" cy="3588"/>
                    <a:chOff x="0" y="0"/>
                    <a:chExt cx="4980" cy="3588"/>
                  </a:xfrm>
                </p:grpSpPr>
                <p:grpSp>
                  <p:nvGrpSpPr>
                    <p:cNvPr id="9" name="Group 137"/>
                    <p:cNvGrpSpPr>
                      <a:grpSpLocks/>
                    </p:cNvGrpSpPr>
                    <p:nvPr/>
                  </p:nvGrpSpPr>
                  <p:grpSpPr bwMode="auto">
                    <a:xfrm>
                      <a:off x="360" y="3240"/>
                      <a:ext cx="3060" cy="156"/>
                      <a:chOff x="0" y="0"/>
                      <a:chExt cx="3060" cy="156"/>
                    </a:xfrm>
                  </p:grpSpPr>
                  <p:sp>
                    <p:nvSpPr>
                      <p:cNvPr id="98408" name="Text Box 138"/>
                      <p:cNvSpPr txBox="1">
                        <a:spLocks noChangeArrowheads="1"/>
                      </p:cNvSpPr>
                      <p:nvPr/>
                    </p:nvSpPr>
                    <p:spPr bwMode="auto">
                      <a:xfrm>
                        <a:off x="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09" name="Text Box 139"/>
                      <p:cNvSpPr txBox="1">
                        <a:spLocks noChangeArrowheads="1"/>
                      </p:cNvSpPr>
                      <p:nvPr/>
                    </p:nvSpPr>
                    <p:spPr bwMode="auto">
                      <a:xfrm>
                        <a:off x="54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10" name="Text Box 140"/>
                      <p:cNvSpPr txBox="1">
                        <a:spLocks noChangeArrowheads="1"/>
                      </p:cNvSpPr>
                      <p:nvPr/>
                    </p:nvSpPr>
                    <p:spPr bwMode="auto">
                      <a:xfrm>
                        <a:off x="108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11" name="Text Box 141"/>
                      <p:cNvSpPr txBox="1">
                        <a:spLocks noChangeArrowheads="1"/>
                      </p:cNvSpPr>
                      <p:nvPr/>
                    </p:nvSpPr>
                    <p:spPr bwMode="auto">
                      <a:xfrm>
                        <a:off x="162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12" name="Text Box 142"/>
                      <p:cNvSpPr txBox="1">
                        <a:spLocks noChangeArrowheads="1"/>
                      </p:cNvSpPr>
                      <p:nvPr/>
                    </p:nvSpPr>
                    <p:spPr bwMode="auto">
                      <a:xfrm>
                        <a:off x="216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13" name="Text Box 143"/>
                      <p:cNvSpPr txBox="1">
                        <a:spLocks noChangeArrowheads="1"/>
                      </p:cNvSpPr>
                      <p:nvPr/>
                    </p:nvSpPr>
                    <p:spPr bwMode="auto">
                      <a:xfrm>
                        <a:off x="270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sp>
                  <p:nvSpPr>
                    <p:cNvPr id="98320" name="Oval 144"/>
                    <p:cNvSpPr>
                      <a:spLocks noChangeArrowheads="1"/>
                    </p:cNvSpPr>
                    <p:nvPr/>
                  </p:nvSpPr>
                  <p:spPr bwMode="auto">
                    <a:xfrm>
                      <a:off x="0" y="0"/>
                      <a:ext cx="3600" cy="624"/>
                    </a:xfrm>
                    <a:prstGeom prst="ellipse">
                      <a:avLst/>
                    </a:prstGeom>
                    <a:solidFill>
                      <a:srgbClr val="C0C0C0">
                        <a:alpha val="50195"/>
                      </a:srgbClr>
                    </a:solidFill>
                    <a:ln w="9525">
                      <a:solidFill>
                        <a:srgbClr val="000000"/>
                      </a:solidFill>
                      <a:round/>
                      <a:headEnd/>
                      <a:tailEnd/>
                    </a:ln>
                  </p:spPr>
                  <p:txBody>
                    <a:bodyPr/>
                    <a:lstStyle/>
                    <a:p>
                      <a:endParaRPr lang="zh-CN" altLang="en-US"/>
                    </a:p>
                  </p:txBody>
                </p:sp>
                <p:sp>
                  <p:nvSpPr>
                    <p:cNvPr id="98321" name="Line 145"/>
                    <p:cNvSpPr>
                      <a:spLocks noChangeShapeType="1"/>
                    </p:cNvSpPr>
                    <p:nvPr/>
                  </p:nvSpPr>
                  <p:spPr bwMode="auto">
                    <a:xfrm>
                      <a:off x="0" y="312"/>
                      <a:ext cx="0" cy="3120"/>
                    </a:xfrm>
                    <a:prstGeom prst="line">
                      <a:avLst/>
                    </a:prstGeom>
                    <a:noFill/>
                    <a:ln w="9525">
                      <a:solidFill>
                        <a:srgbClr val="000000"/>
                      </a:solidFill>
                      <a:round/>
                      <a:headEnd/>
                      <a:tailEnd/>
                    </a:ln>
                  </p:spPr>
                  <p:txBody>
                    <a:bodyPr/>
                    <a:lstStyle/>
                    <a:p>
                      <a:endParaRPr lang="zh-CN" altLang="en-US"/>
                    </a:p>
                  </p:txBody>
                </p:sp>
                <p:sp>
                  <p:nvSpPr>
                    <p:cNvPr id="98322" name="Line 146"/>
                    <p:cNvSpPr>
                      <a:spLocks noChangeShapeType="1"/>
                    </p:cNvSpPr>
                    <p:nvPr/>
                  </p:nvSpPr>
                  <p:spPr bwMode="auto">
                    <a:xfrm>
                      <a:off x="3600" y="312"/>
                      <a:ext cx="0" cy="3120"/>
                    </a:xfrm>
                    <a:prstGeom prst="line">
                      <a:avLst/>
                    </a:prstGeom>
                    <a:noFill/>
                    <a:ln w="9525">
                      <a:solidFill>
                        <a:srgbClr val="000000"/>
                      </a:solidFill>
                      <a:round/>
                      <a:headEnd/>
                      <a:tailEnd/>
                    </a:ln>
                  </p:spPr>
                  <p:txBody>
                    <a:bodyPr/>
                    <a:lstStyle/>
                    <a:p>
                      <a:endParaRPr lang="zh-CN" altLang="en-US"/>
                    </a:p>
                  </p:txBody>
                </p:sp>
                <p:grpSp>
                  <p:nvGrpSpPr>
                    <p:cNvPr id="10" name="Group 147"/>
                    <p:cNvGrpSpPr>
                      <a:grpSpLocks/>
                    </p:cNvGrpSpPr>
                    <p:nvPr/>
                  </p:nvGrpSpPr>
                  <p:grpSpPr bwMode="auto">
                    <a:xfrm>
                      <a:off x="177" y="1716"/>
                      <a:ext cx="3240" cy="315"/>
                      <a:chOff x="0" y="0"/>
                      <a:chExt cx="3240" cy="315"/>
                    </a:xfrm>
                  </p:grpSpPr>
                  <p:sp>
                    <p:nvSpPr>
                      <p:cNvPr id="98396" name="Text Box 148"/>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12</a:t>
                        </a:r>
                      </a:p>
                    </p:txBody>
                  </p:sp>
                  <p:sp>
                    <p:nvSpPr>
                      <p:cNvPr id="98397" name="Text Box 149"/>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13</a:t>
                        </a:r>
                      </a:p>
                    </p:txBody>
                  </p:sp>
                  <p:sp>
                    <p:nvSpPr>
                      <p:cNvPr id="98398" name="Text Box 150"/>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14</a:t>
                        </a:r>
                      </a:p>
                    </p:txBody>
                  </p:sp>
                  <p:sp>
                    <p:nvSpPr>
                      <p:cNvPr id="98399" name="Text Box 151"/>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15</a:t>
                        </a:r>
                      </a:p>
                    </p:txBody>
                  </p:sp>
                  <p:sp>
                    <p:nvSpPr>
                      <p:cNvPr id="98400" name="Text Box 152"/>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16</a:t>
                        </a:r>
                      </a:p>
                    </p:txBody>
                  </p:sp>
                  <p:sp>
                    <p:nvSpPr>
                      <p:cNvPr id="98401" name="Text Box 153"/>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17</a:t>
                        </a:r>
                      </a:p>
                    </p:txBody>
                  </p:sp>
                  <p:sp>
                    <p:nvSpPr>
                      <p:cNvPr id="98402" name="Text Box 154"/>
                      <p:cNvSpPr txBox="1">
                        <a:spLocks noChangeArrowheads="1"/>
                      </p:cNvSpPr>
                      <p:nvPr/>
                    </p:nvSpPr>
                    <p:spPr bwMode="auto">
                      <a:xfrm>
                        <a:off x="18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03" name="Text Box 155"/>
                      <p:cNvSpPr txBox="1">
                        <a:spLocks noChangeArrowheads="1"/>
                      </p:cNvSpPr>
                      <p:nvPr/>
                    </p:nvSpPr>
                    <p:spPr bwMode="auto">
                      <a:xfrm>
                        <a:off x="72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04" name="Text Box 156"/>
                      <p:cNvSpPr txBox="1">
                        <a:spLocks noChangeArrowheads="1"/>
                      </p:cNvSpPr>
                      <p:nvPr/>
                    </p:nvSpPr>
                    <p:spPr bwMode="auto">
                      <a:xfrm>
                        <a:off x="126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05" name="Text Box 157"/>
                      <p:cNvSpPr txBox="1">
                        <a:spLocks noChangeArrowheads="1"/>
                      </p:cNvSpPr>
                      <p:nvPr/>
                    </p:nvSpPr>
                    <p:spPr bwMode="auto">
                      <a:xfrm>
                        <a:off x="1800" y="159"/>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06" name="Text Box 158"/>
                      <p:cNvSpPr txBox="1">
                        <a:spLocks noChangeArrowheads="1"/>
                      </p:cNvSpPr>
                      <p:nvPr/>
                    </p:nvSpPr>
                    <p:spPr bwMode="auto">
                      <a:xfrm>
                        <a:off x="234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407" name="Text Box 159"/>
                      <p:cNvSpPr txBox="1">
                        <a:spLocks noChangeArrowheads="1"/>
                      </p:cNvSpPr>
                      <p:nvPr/>
                    </p:nvSpPr>
                    <p:spPr bwMode="auto">
                      <a:xfrm>
                        <a:off x="288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grpSp>
                  <p:nvGrpSpPr>
                    <p:cNvPr id="11" name="Group 160"/>
                    <p:cNvGrpSpPr>
                      <a:grpSpLocks/>
                    </p:cNvGrpSpPr>
                    <p:nvPr/>
                  </p:nvGrpSpPr>
                  <p:grpSpPr bwMode="auto">
                    <a:xfrm>
                      <a:off x="180" y="2652"/>
                      <a:ext cx="3180" cy="315"/>
                      <a:chOff x="0" y="0"/>
                      <a:chExt cx="3180" cy="315"/>
                    </a:xfrm>
                  </p:grpSpPr>
                  <p:sp>
                    <p:nvSpPr>
                      <p:cNvPr id="98383" name="Text Box 161"/>
                      <p:cNvSpPr txBox="1">
                        <a:spLocks noChangeArrowheads="1"/>
                      </p:cNvSpPr>
                      <p:nvPr/>
                    </p:nvSpPr>
                    <p:spPr bwMode="auto">
                      <a:xfrm>
                        <a:off x="12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84" name="Text Box 162"/>
                      <p:cNvSpPr txBox="1">
                        <a:spLocks noChangeArrowheads="1"/>
                      </p:cNvSpPr>
                      <p:nvPr/>
                    </p:nvSpPr>
                    <p:spPr bwMode="auto">
                      <a:xfrm>
                        <a:off x="66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85" name="Text Box 163"/>
                      <p:cNvSpPr txBox="1">
                        <a:spLocks noChangeArrowheads="1"/>
                      </p:cNvSpPr>
                      <p:nvPr/>
                    </p:nvSpPr>
                    <p:spPr bwMode="auto">
                      <a:xfrm>
                        <a:off x="120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86" name="Text Box 164"/>
                      <p:cNvSpPr txBox="1">
                        <a:spLocks noChangeArrowheads="1"/>
                      </p:cNvSpPr>
                      <p:nvPr/>
                    </p:nvSpPr>
                    <p:spPr bwMode="auto">
                      <a:xfrm>
                        <a:off x="1740" y="159"/>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87" name="Text Box 165"/>
                      <p:cNvSpPr txBox="1">
                        <a:spLocks noChangeArrowheads="1"/>
                      </p:cNvSpPr>
                      <p:nvPr/>
                    </p:nvSpPr>
                    <p:spPr bwMode="auto">
                      <a:xfrm>
                        <a:off x="2280" y="15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88" name="Text Box 166"/>
                      <p:cNvSpPr txBox="1">
                        <a:spLocks noChangeArrowheads="1"/>
                      </p:cNvSpPr>
                      <p:nvPr/>
                    </p:nvSpPr>
                    <p:spPr bwMode="auto">
                      <a:xfrm>
                        <a:off x="2820" y="159"/>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nvGrpSpPr>
                      <p:cNvPr id="12" name="Group 167"/>
                      <p:cNvGrpSpPr>
                        <a:grpSpLocks/>
                      </p:cNvGrpSpPr>
                      <p:nvPr/>
                    </p:nvGrpSpPr>
                    <p:grpSpPr bwMode="auto">
                      <a:xfrm>
                        <a:off x="0" y="0"/>
                        <a:ext cx="3060" cy="309"/>
                        <a:chOff x="0" y="0"/>
                        <a:chExt cx="3060" cy="309"/>
                      </a:xfrm>
                    </p:grpSpPr>
                    <p:sp>
                      <p:nvSpPr>
                        <p:cNvPr id="98390" name="Text Box 168"/>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24</a:t>
                          </a:r>
                        </a:p>
                      </p:txBody>
                    </p:sp>
                    <p:sp>
                      <p:nvSpPr>
                        <p:cNvPr id="98391" name="Text Box 169"/>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25</a:t>
                          </a:r>
                        </a:p>
                      </p:txBody>
                    </p:sp>
                    <p:sp>
                      <p:nvSpPr>
                        <p:cNvPr id="98392" name="Text Box 170"/>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26</a:t>
                          </a:r>
                        </a:p>
                      </p:txBody>
                    </p:sp>
                    <p:sp>
                      <p:nvSpPr>
                        <p:cNvPr id="98393" name="Text Box 171"/>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27</a:t>
                          </a:r>
                        </a:p>
                      </p:txBody>
                    </p:sp>
                    <p:sp>
                      <p:nvSpPr>
                        <p:cNvPr id="98394" name="Text Box 172"/>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28</a:t>
                          </a:r>
                        </a:p>
                      </p:txBody>
                    </p:sp>
                    <p:sp>
                      <p:nvSpPr>
                        <p:cNvPr id="98395" name="Text Box 173"/>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29</a:t>
                          </a:r>
                        </a:p>
                      </p:txBody>
                    </p:sp>
                  </p:grpSp>
                </p:grpSp>
                <p:grpSp>
                  <p:nvGrpSpPr>
                    <p:cNvPr id="13" name="Group 174"/>
                    <p:cNvGrpSpPr>
                      <a:grpSpLocks/>
                    </p:cNvGrpSpPr>
                    <p:nvPr/>
                  </p:nvGrpSpPr>
                  <p:grpSpPr bwMode="auto">
                    <a:xfrm>
                      <a:off x="180" y="3120"/>
                      <a:ext cx="3060" cy="309"/>
                      <a:chOff x="0" y="0"/>
                      <a:chExt cx="3060" cy="309"/>
                    </a:xfrm>
                  </p:grpSpPr>
                  <p:sp>
                    <p:nvSpPr>
                      <p:cNvPr id="98377" name="Text Box 175"/>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30</a:t>
                        </a:r>
                      </a:p>
                    </p:txBody>
                  </p:sp>
                  <p:sp>
                    <p:nvSpPr>
                      <p:cNvPr id="98378" name="Text Box 176"/>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31</a:t>
                        </a:r>
                      </a:p>
                    </p:txBody>
                  </p:sp>
                  <p:sp>
                    <p:nvSpPr>
                      <p:cNvPr id="98379" name="Text Box 177"/>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32</a:t>
                        </a:r>
                      </a:p>
                    </p:txBody>
                  </p:sp>
                  <p:sp>
                    <p:nvSpPr>
                      <p:cNvPr id="98380" name="Text Box 178"/>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33</a:t>
                        </a:r>
                      </a:p>
                    </p:txBody>
                  </p:sp>
                  <p:sp>
                    <p:nvSpPr>
                      <p:cNvPr id="98381" name="Text Box 179"/>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34</a:t>
                        </a:r>
                      </a:p>
                    </p:txBody>
                  </p:sp>
                  <p:sp>
                    <p:nvSpPr>
                      <p:cNvPr id="98382" name="Text Box 180"/>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35</a:t>
                        </a:r>
                      </a:p>
                    </p:txBody>
                  </p:sp>
                </p:grpSp>
                <p:sp>
                  <p:nvSpPr>
                    <p:cNvPr id="98326" name="Line 181"/>
                    <p:cNvSpPr>
                      <a:spLocks noChangeShapeType="1"/>
                    </p:cNvSpPr>
                    <p:nvPr/>
                  </p:nvSpPr>
                  <p:spPr bwMode="auto">
                    <a:xfrm>
                      <a:off x="1440" y="3588"/>
                      <a:ext cx="360" cy="0"/>
                    </a:xfrm>
                    <a:prstGeom prst="line">
                      <a:avLst/>
                    </a:prstGeom>
                    <a:noFill/>
                    <a:ln w="38100" cap="rnd">
                      <a:solidFill>
                        <a:srgbClr val="000000"/>
                      </a:solidFill>
                      <a:prstDash val="sysDot"/>
                      <a:round/>
                      <a:headEnd/>
                      <a:tailEnd/>
                    </a:ln>
                  </p:spPr>
                  <p:txBody>
                    <a:bodyPr/>
                    <a:lstStyle/>
                    <a:p>
                      <a:endParaRPr lang="zh-CN" altLang="en-US"/>
                    </a:p>
                  </p:txBody>
                </p:sp>
                <p:grpSp>
                  <p:nvGrpSpPr>
                    <p:cNvPr id="14" name="Group 182"/>
                    <p:cNvGrpSpPr>
                      <a:grpSpLocks/>
                    </p:cNvGrpSpPr>
                    <p:nvPr/>
                  </p:nvGrpSpPr>
                  <p:grpSpPr bwMode="auto">
                    <a:xfrm>
                      <a:off x="180" y="624"/>
                      <a:ext cx="3240" cy="972"/>
                      <a:chOff x="0" y="0"/>
                      <a:chExt cx="3240" cy="972"/>
                    </a:xfrm>
                  </p:grpSpPr>
                  <p:grpSp>
                    <p:nvGrpSpPr>
                      <p:cNvPr id="15" name="Group 183"/>
                      <p:cNvGrpSpPr>
                        <a:grpSpLocks/>
                      </p:cNvGrpSpPr>
                      <p:nvPr/>
                    </p:nvGrpSpPr>
                    <p:grpSpPr bwMode="auto">
                      <a:xfrm>
                        <a:off x="180" y="780"/>
                        <a:ext cx="1980" cy="156"/>
                        <a:chOff x="0" y="0"/>
                        <a:chExt cx="1980" cy="156"/>
                      </a:xfrm>
                    </p:grpSpPr>
                    <p:sp>
                      <p:nvSpPr>
                        <p:cNvPr id="98375" name="Text Box 184"/>
                        <p:cNvSpPr txBox="1">
                          <a:spLocks noChangeArrowheads="1"/>
                        </p:cNvSpPr>
                        <p:nvPr/>
                      </p:nvSpPr>
                      <p:spPr bwMode="auto">
                        <a:xfrm>
                          <a:off x="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76" name="Text Box 185"/>
                        <p:cNvSpPr txBox="1">
                          <a:spLocks noChangeArrowheads="1"/>
                        </p:cNvSpPr>
                        <p:nvPr/>
                      </p:nvSpPr>
                      <p:spPr bwMode="auto">
                        <a:xfrm>
                          <a:off x="162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grpSp>
                    <p:nvGrpSpPr>
                      <p:cNvPr id="16" name="Group 186"/>
                      <p:cNvGrpSpPr>
                        <a:grpSpLocks/>
                      </p:cNvGrpSpPr>
                      <p:nvPr/>
                    </p:nvGrpSpPr>
                    <p:grpSpPr bwMode="auto">
                      <a:xfrm>
                        <a:off x="0" y="348"/>
                        <a:ext cx="3240" cy="624"/>
                        <a:chOff x="0" y="0"/>
                        <a:chExt cx="3240" cy="624"/>
                      </a:xfrm>
                    </p:grpSpPr>
                    <p:sp>
                      <p:nvSpPr>
                        <p:cNvPr id="98368" name="Text Box 187"/>
                        <p:cNvSpPr txBox="1">
                          <a:spLocks noChangeArrowheads="1"/>
                        </p:cNvSpPr>
                        <p:nvPr/>
                      </p:nvSpPr>
                      <p:spPr bwMode="auto">
                        <a:xfrm>
                          <a:off x="543" y="315"/>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7</a:t>
                          </a:r>
                        </a:p>
                      </p:txBody>
                    </p:sp>
                    <p:sp>
                      <p:nvSpPr>
                        <p:cNvPr id="98369" name="Text Box 188"/>
                        <p:cNvSpPr txBox="1">
                          <a:spLocks noChangeArrowheads="1"/>
                        </p:cNvSpPr>
                        <p:nvPr/>
                      </p:nvSpPr>
                      <p:spPr bwMode="auto">
                        <a:xfrm>
                          <a:off x="1083" y="315"/>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8</a:t>
                          </a:r>
                        </a:p>
                      </p:txBody>
                    </p:sp>
                    <p:sp>
                      <p:nvSpPr>
                        <p:cNvPr id="98370" name="Text Box 189"/>
                        <p:cNvSpPr txBox="1">
                          <a:spLocks noChangeArrowheads="1"/>
                        </p:cNvSpPr>
                        <p:nvPr/>
                      </p:nvSpPr>
                      <p:spPr bwMode="auto">
                        <a:xfrm>
                          <a:off x="1623" y="315"/>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9</a:t>
                          </a:r>
                        </a:p>
                      </p:txBody>
                    </p:sp>
                    <p:sp>
                      <p:nvSpPr>
                        <p:cNvPr id="98371" name="Text Box 190"/>
                        <p:cNvSpPr txBox="1">
                          <a:spLocks noChangeArrowheads="1"/>
                        </p:cNvSpPr>
                        <p:nvPr/>
                      </p:nvSpPr>
                      <p:spPr bwMode="auto">
                        <a:xfrm>
                          <a:off x="2163" y="312"/>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10</a:t>
                          </a:r>
                        </a:p>
                      </p:txBody>
                    </p:sp>
                    <p:sp>
                      <p:nvSpPr>
                        <p:cNvPr id="98372" name="Text Box 191"/>
                        <p:cNvSpPr txBox="1">
                          <a:spLocks noChangeArrowheads="1"/>
                        </p:cNvSpPr>
                        <p:nvPr/>
                      </p:nvSpPr>
                      <p:spPr bwMode="auto">
                        <a:xfrm>
                          <a:off x="2703" y="312"/>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11</a:t>
                          </a:r>
                        </a:p>
                      </p:txBody>
                    </p:sp>
                    <p:sp>
                      <p:nvSpPr>
                        <p:cNvPr id="98373" name="Text Box 192"/>
                        <p:cNvSpPr txBox="1">
                          <a:spLocks noChangeArrowheads="1"/>
                        </p:cNvSpPr>
                        <p:nvPr/>
                      </p:nvSpPr>
                      <p:spPr bwMode="auto">
                        <a:xfrm>
                          <a:off x="0" y="315"/>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6</a:t>
                          </a:r>
                        </a:p>
                      </p:txBody>
                    </p:sp>
                    <p:sp>
                      <p:nvSpPr>
                        <p:cNvPr id="98374" name="Text Box 193"/>
                        <p:cNvSpPr txBox="1">
                          <a:spLocks noChangeArrowheads="1"/>
                        </p:cNvSpPr>
                        <p:nvPr/>
                      </p:nvSpPr>
                      <p:spPr bwMode="auto">
                        <a:xfrm>
                          <a:off x="288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grpSp>
                    <p:nvGrpSpPr>
                      <p:cNvPr id="17" name="Group 194"/>
                      <p:cNvGrpSpPr>
                        <a:grpSpLocks/>
                      </p:cNvGrpSpPr>
                      <p:nvPr/>
                    </p:nvGrpSpPr>
                    <p:grpSpPr bwMode="auto">
                      <a:xfrm>
                        <a:off x="0" y="0"/>
                        <a:ext cx="2880" cy="504"/>
                        <a:chOff x="0" y="0"/>
                        <a:chExt cx="2880" cy="504"/>
                      </a:xfrm>
                    </p:grpSpPr>
                    <p:grpSp>
                      <p:nvGrpSpPr>
                        <p:cNvPr id="18" name="Group 195"/>
                        <p:cNvGrpSpPr>
                          <a:grpSpLocks/>
                        </p:cNvGrpSpPr>
                        <p:nvPr/>
                      </p:nvGrpSpPr>
                      <p:grpSpPr bwMode="auto">
                        <a:xfrm>
                          <a:off x="0" y="156"/>
                          <a:ext cx="2880" cy="309"/>
                          <a:chOff x="0" y="0"/>
                          <a:chExt cx="2880" cy="309"/>
                        </a:xfrm>
                      </p:grpSpPr>
                      <p:sp>
                        <p:nvSpPr>
                          <p:cNvPr id="98362" name="Text Box 196"/>
                          <p:cNvSpPr txBox="1">
                            <a:spLocks noChangeArrowheads="1"/>
                          </p:cNvSpPr>
                          <p:nvPr/>
                        </p:nvSpPr>
                        <p:spPr bwMode="auto">
                          <a:xfrm>
                            <a:off x="0" y="0"/>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0</a:t>
                            </a:r>
                          </a:p>
                        </p:txBody>
                      </p:sp>
                      <p:sp>
                        <p:nvSpPr>
                          <p:cNvPr id="98363" name="Text Box 197"/>
                          <p:cNvSpPr txBox="1">
                            <a:spLocks noChangeArrowheads="1"/>
                          </p:cNvSpPr>
                          <p:nvPr/>
                        </p:nvSpPr>
                        <p:spPr bwMode="auto">
                          <a:xfrm>
                            <a:off x="540" y="0"/>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a:t>
                            </a:r>
                          </a:p>
                        </p:txBody>
                      </p:sp>
                      <p:sp>
                        <p:nvSpPr>
                          <p:cNvPr id="98364" name="Text Box 198"/>
                          <p:cNvSpPr txBox="1">
                            <a:spLocks noChangeArrowheads="1"/>
                          </p:cNvSpPr>
                          <p:nvPr/>
                        </p:nvSpPr>
                        <p:spPr bwMode="auto">
                          <a:xfrm>
                            <a:off x="1080" y="0"/>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a:t>
                            </a:r>
                          </a:p>
                        </p:txBody>
                      </p:sp>
                      <p:sp>
                        <p:nvSpPr>
                          <p:cNvPr id="98365" name="Text Box 199"/>
                          <p:cNvSpPr txBox="1">
                            <a:spLocks noChangeArrowheads="1"/>
                          </p:cNvSpPr>
                          <p:nvPr/>
                        </p:nvSpPr>
                        <p:spPr bwMode="auto">
                          <a:xfrm>
                            <a:off x="1620" y="0"/>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3</a:t>
                            </a:r>
                          </a:p>
                        </p:txBody>
                      </p:sp>
                      <p:sp>
                        <p:nvSpPr>
                          <p:cNvPr id="98366" name="Text Box 200"/>
                          <p:cNvSpPr txBox="1">
                            <a:spLocks noChangeArrowheads="1"/>
                          </p:cNvSpPr>
                          <p:nvPr/>
                        </p:nvSpPr>
                        <p:spPr bwMode="auto">
                          <a:xfrm>
                            <a:off x="2160" y="0"/>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4</a:t>
                            </a:r>
                          </a:p>
                        </p:txBody>
                      </p:sp>
                      <p:sp>
                        <p:nvSpPr>
                          <p:cNvPr id="98367" name="Text Box 201"/>
                          <p:cNvSpPr txBox="1">
                            <a:spLocks noChangeArrowheads="1"/>
                          </p:cNvSpPr>
                          <p:nvPr/>
                        </p:nvSpPr>
                        <p:spPr bwMode="auto">
                          <a:xfrm>
                            <a:off x="2700" y="0"/>
                            <a:ext cx="18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5</a:t>
                            </a:r>
                          </a:p>
                        </p:txBody>
                      </p:sp>
                    </p:grpSp>
                    <p:grpSp>
                      <p:nvGrpSpPr>
                        <p:cNvPr id="19" name="Group 202"/>
                        <p:cNvGrpSpPr>
                          <a:grpSpLocks/>
                        </p:cNvGrpSpPr>
                        <p:nvPr/>
                      </p:nvGrpSpPr>
                      <p:grpSpPr bwMode="auto">
                        <a:xfrm>
                          <a:off x="180" y="312"/>
                          <a:ext cx="2460" cy="192"/>
                          <a:chOff x="0" y="0"/>
                          <a:chExt cx="2460" cy="192"/>
                        </a:xfrm>
                      </p:grpSpPr>
                      <p:sp>
                        <p:nvSpPr>
                          <p:cNvPr id="98357" name="Text Box 203"/>
                          <p:cNvSpPr txBox="1">
                            <a:spLocks noChangeArrowheads="1"/>
                          </p:cNvSpPr>
                          <p:nvPr/>
                        </p:nvSpPr>
                        <p:spPr bwMode="auto">
                          <a:xfrm>
                            <a:off x="1083" y="3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58" name="Text Box 204"/>
                          <p:cNvSpPr txBox="1">
                            <a:spLocks noChangeArrowheads="1"/>
                          </p:cNvSpPr>
                          <p:nvPr/>
                        </p:nvSpPr>
                        <p:spPr bwMode="auto">
                          <a:xfrm>
                            <a:off x="1620" y="36"/>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59" name="Text Box 205"/>
                          <p:cNvSpPr txBox="1">
                            <a:spLocks noChangeArrowheads="1"/>
                          </p:cNvSpPr>
                          <p:nvPr/>
                        </p:nvSpPr>
                        <p:spPr bwMode="auto">
                          <a:xfrm>
                            <a:off x="537" y="3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60" name="Text Box 206"/>
                          <p:cNvSpPr txBox="1">
                            <a:spLocks noChangeArrowheads="1"/>
                          </p:cNvSpPr>
                          <p:nvPr/>
                        </p:nvSpPr>
                        <p:spPr bwMode="auto">
                          <a:xfrm>
                            <a:off x="210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61" name="Text Box 207"/>
                          <p:cNvSpPr txBox="1">
                            <a:spLocks noChangeArrowheads="1"/>
                          </p:cNvSpPr>
                          <p:nvPr/>
                        </p:nvSpPr>
                        <p:spPr bwMode="auto">
                          <a:xfrm>
                            <a:off x="0" y="36"/>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sp>
                      <p:nvSpPr>
                        <p:cNvPr id="98356" name="Text Box 208"/>
                        <p:cNvSpPr txBox="1">
                          <a:spLocks noChangeArrowheads="1"/>
                        </p:cNvSpPr>
                        <p:nvPr/>
                      </p:nvSpPr>
                      <p:spPr bwMode="auto">
                        <a:xfrm>
                          <a:off x="1560" y="0"/>
                          <a:ext cx="720" cy="309"/>
                        </a:xfrm>
                        <a:prstGeom prst="rect">
                          <a:avLst/>
                        </a:prstGeom>
                        <a:noFill/>
                        <a:ln w="9525">
                          <a:noFill/>
                          <a:miter lim="800000"/>
                          <a:headEnd/>
                          <a:tailEnd/>
                        </a:ln>
                      </p:spPr>
                      <p:txBody>
                        <a:bodyPr lIns="0" tIns="0" rIns="0" bIns="0"/>
                        <a:lstStyle/>
                        <a:p>
                          <a:pPr algn="just" eaLnBrk="0" hangingPunct="0"/>
                          <a:r>
                            <a:rPr lang="en-US" altLang="zh-CN" sz="1600" b="1">
                              <a:solidFill>
                                <a:srgbClr val="000000"/>
                              </a:solidFill>
                              <a:latin typeface="Times New Roman" pitchFamily="18" charset="0"/>
                            </a:rPr>
                            <a:t>FILE1</a:t>
                          </a:r>
                        </a:p>
                      </p:txBody>
                    </p:sp>
                  </p:grpSp>
                </p:grpSp>
                <p:grpSp>
                  <p:nvGrpSpPr>
                    <p:cNvPr id="20" name="Group 209"/>
                    <p:cNvGrpSpPr>
                      <a:grpSpLocks/>
                    </p:cNvGrpSpPr>
                    <p:nvPr/>
                  </p:nvGrpSpPr>
                  <p:grpSpPr bwMode="auto">
                    <a:xfrm>
                      <a:off x="180" y="1092"/>
                      <a:ext cx="4800" cy="2496"/>
                      <a:chOff x="0" y="0"/>
                      <a:chExt cx="4800" cy="2496"/>
                    </a:xfrm>
                  </p:grpSpPr>
                  <p:sp>
                    <p:nvSpPr>
                      <p:cNvPr id="98329" name="Text Box 210"/>
                      <p:cNvSpPr txBox="1">
                        <a:spLocks noChangeArrowheads="1"/>
                      </p:cNvSpPr>
                      <p:nvPr/>
                    </p:nvSpPr>
                    <p:spPr bwMode="auto">
                      <a:xfrm>
                        <a:off x="180" y="1212"/>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30" name="Text Box 211"/>
                      <p:cNvSpPr txBox="1">
                        <a:spLocks noChangeArrowheads="1"/>
                      </p:cNvSpPr>
                      <p:nvPr/>
                    </p:nvSpPr>
                    <p:spPr bwMode="auto">
                      <a:xfrm>
                        <a:off x="720" y="1212"/>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31" name="Text Box 212"/>
                      <p:cNvSpPr txBox="1">
                        <a:spLocks noChangeArrowheads="1"/>
                      </p:cNvSpPr>
                      <p:nvPr/>
                    </p:nvSpPr>
                    <p:spPr bwMode="auto">
                      <a:xfrm>
                        <a:off x="1260" y="1212"/>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32" name="Text Box 213"/>
                      <p:cNvSpPr txBox="1">
                        <a:spLocks noChangeArrowheads="1"/>
                      </p:cNvSpPr>
                      <p:nvPr/>
                    </p:nvSpPr>
                    <p:spPr bwMode="auto">
                      <a:xfrm>
                        <a:off x="1800" y="1212"/>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33" name="Text Box 214"/>
                      <p:cNvSpPr txBox="1">
                        <a:spLocks noChangeArrowheads="1"/>
                      </p:cNvSpPr>
                      <p:nvPr/>
                    </p:nvSpPr>
                    <p:spPr bwMode="auto">
                      <a:xfrm>
                        <a:off x="2340" y="1212"/>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nvGrpSpPr>
                      <p:cNvPr id="21" name="Group 215"/>
                      <p:cNvGrpSpPr>
                        <a:grpSpLocks/>
                      </p:cNvGrpSpPr>
                      <p:nvPr/>
                    </p:nvGrpSpPr>
                    <p:grpSpPr bwMode="auto">
                      <a:xfrm>
                        <a:off x="0" y="1092"/>
                        <a:ext cx="3060" cy="309"/>
                        <a:chOff x="0" y="0"/>
                        <a:chExt cx="3060" cy="309"/>
                      </a:xfrm>
                    </p:grpSpPr>
                    <p:sp>
                      <p:nvSpPr>
                        <p:cNvPr id="98345" name="Text Box 216"/>
                        <p:cNvSpPr txBox="1">
                          <a:spLocks noChangeArrowheads="1"/>
                        </p:cNvSpPr>
                        <p:nvPr/>
                      </p:nvSpPr>
                      <p:spPr bwMode="auto">
                        <a:xfrm>
                          <a:off x="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18</a:t>
                          </a:r>
                        </a:p>
                      </p:txBody>
                    </p:sp>
                    <p:sp>
                      <p:nvSpPr>
                        <p:cNvPr id="98346" name="Text Box 217"/>
                        <p:cNvSpPr txBox="1">
                          <a:spLocks noChangeArrowheads="1"/>
                        </p:cNvSpPr>
                        <p:nvPr/>
                      </p:nvSpPr>
                      <p:spPr bwMode="auto">
                        <a:xfrm>
                          <a:off x="54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19</a:t>
                          </a:r>
                        </a:p>
                      </p:txBody>
                    </p:sp>
                    <p:sp>
                      <p:nvSpPr>
                        <p:cNvPr id="98347" name="Text Box 218"/>
                        <p:cNvSpPr txBox="1">
                          <a:spLocks noChangeArrowheads="1"/>
                        </p:cNvSpPr>
                        <p:nvPr/>
                      </p:nvSpPr>
                      <p:spPr bwMode="auto">
                        <a:xfrm>
                          <a:off x="108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20</a:t>
                          </a:r>
                        </a:p>
                      </p:txBody>
                    </p:sp>
                    <p:sp>
                      <p:nvSpPr>
                        <p:cNvPr id="98348" name="Text Box 219"/>
                        <p:cNvSpPr txBox="1">
                          <a:spLocks noChangeArrowheads="1"/>
                        </p:cNvSpPr>
                        <p:nvPr/>
                      </p:nvSpPr>
                      <p:spPr bwMode="auto">
                        <a:xfrm>
                          <a:off x="162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21</a:t>
                          </a:r>
                        </a:p>
                      </p:txBody>
                    </p:sp>
                    <p:sp>
                      <p:nvSpPr>
                        <p:cNvPr id="98349" name="Text Box 220"/>
                        <p:cNvSpPr txBox="1">
                          <a:spLocks noChangeArrowheads="1"/>
                        </p:cNvSpPr>
                        <p:nvPr/>
                      </p:nvSpPr>
                      <p:spPr bwMode="auto">
                        <a:xfrm>
                          <a:off x="216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22</a:t>
                          </a:r>
                        </a:p>
                      </p:txBody>
                    </p:sp>
                    <p:sp>
                      <p:nvSpPr>
                        <p:cNvPr id="98350" name="Text Box 221"/>
                        <p:cNvSpPr txBox="1">
                          <a:spLocks noChangeArrowheads="1"/>
                        </p:cNvSpPr>
                        <p:nvPr/>
                      </p:nvSpPr>
                      <p:spPr bwMode="auto">
                        <a:xfrm>
                          <a:off x="2700" y="0"/>
                          <a:ext cx="360" cy="309"/>
                        </a:xfrm>
                        <a:prstGeom prst="rect">
                          <a:avLst/>
                        </a:prstGeom>
                        <a:noFill/>
                        <a:ln w="9525">
                          <a:noFill/>
                          <a:miter lim="800000"/>
                          <a:headEnd/>
                          <a:tailEnd/>
                        </a:ln>
                      </p:spPr>
                      <p:txBody>
                        <a:bodyPr lIns="0" tIns="0" rIns="0" bIns="0"/>
                        <a:lstStyle/>
                        <a:p>
                          <a:pPr algn="just" eaLnBrk="0" hangingPunct="0"/>
                          <a:r>
                            <a:rPr lang="en-US" altLang="zh-CN" sz="1000">
                              <a:solidFill>
                                <a:srgbClr val="000000"/>
                              </a:solidFill>
                              <a:latin typeface="Times New Roman" pitchFamily="18" charset="0"/>
                            </a:rPr>
                            <a:t>23</a:t>
                          </a:r>
                        </a:p>
                      </p:txBody>
                    </p:sp>
                  </p:grpSp>
                  <p:grpSp>
                    <p:nvGrpSpPr>
                      <p:cNvPr id="22" name="Group 222"/>
                      <p:cNvGrpSpPr>
                        <a:grpSpLocks/>
                      </p:cNvGrpSpPr>
                      <p:nvPr/>
                    </p:nvGrpSpPr>
                    <p:grpSpPr bwMode="auto">
                      <a:xfrm>
                        <a:off x="1920" y="0"/>
                        <a:ext cx="2880" cy="2496"/>
                        <a:chOff x="0" y="0"/>
                        <a:chExt cx="2880" cy="2496"/>
                      </a:xfrm>
                    </p:grpSpPr>
                    <p:sp>
                      <p:nvSpPr>
                        <p:cNvPr id="98336" name="Text Box 223"/>
                        <p:cNvSpPr txBox="1">
                          <a:spLocks noChangeArrowheads="1"/>
                        </p:cNvSpPr>
                        <p:nvPr/>
                      </p:nvSpPr>
                      <p:spPr bwMode="auto">
                        <a:xfrm>
                          <a:off x="960" y="1212"/>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37" name="Line 224"/>
                        <p:cNvSpPr>
                          <a:spLocks noChangeShapeType="1"/>
                        </p:cNvSpPr>
                        <p:nvPr/>
                      </p:nvSpPr>
                      <p:spPr bwMode="auto">
                        <a:xfrm flipH="1">
                          <a:off x="0" y="1404"/>
                          <a:ext cx="900" cy="312"/>
                        </a:xfrm>
                        <a:prstGeom prst="line">
                          <a:avLst/>
                        </a:prstGeom>
                        <a:noFill/>
                        <a:ln w="9525">
                          <a:solidFill>
                            <a:srgbClr val="000000"/>
                          </a:solidFill>
                          <a:round/>
                          <a:headEnd/>
                          <a:tailEnd type="triangle" w="med" len="med"/>
                        </a:ln>
                      </p:spPr>
                      <p:txBody>
                        <a:bodyPr/>
                        <a:lstStyle/>
                        <a:p>
                          <a:endParaRPr lang="zh-CN" altLang="en-US"/>
                        </a:p>
                      </p:txBody>
                    </p:sp>
                    <p:sp>
                      <p:nvSpPr>
                        <p:cNvPr id="98338" name="Line 225"/>
                        <p:cNvSpPr>
                          <a:spLocks noChangeShapeType="1"/>
                        </p:cNvSpPr>
                        <p:nvPr/>
                      </p:nvSpPr>
                      <p:spPr bwMode="auto">
                        <a:xfrm flipH="1" flipV="1">
                          <a:off x="180" y="936"/>
                          <a:ext cx="900" cy="312"/>
                        </a:xfrm>
                        <a:prstGeom prst="line">
                          <a:avLst/>
                        </a:prstGeom>
                        <a:noFill/>
                        <a:ln w="9525">
                          <a:solidFill>
                            <a:srgbClr val="000000"/>
                          </a:solidFill>
                          <a:round/>
                          <a:headEnd/>
                          <a:tailEnd type="triangle" w="med" len="med"/>
                        </a:ln>
                      </p:spPr>
                      <p:txBody>
                        <a:bodyPr/>
                        <a:lstStyle/>
                        <a:p>
                          <a:endParaRPr lang="zh-CN" altLang="en-US"/>
                        </a:p>
                      </p:txBody>
                    </p:sp>
                    <p:sp>
                      <p:nvSpPr>
                        <p:cNvPr id="98339" name="Line 226"/>
                        <p:cNvSpPr>
                          <a:spLocks noChangeShapeType="1"/>
                        </p:cNvSpPr>
                        <p:nvPr/>
                      </p:nvSpPr>
                      <p:spPr bwMode="auto">
                        <a:xfrm flipH="1" flipV="1">
                          <a:off x="720" y="468"/>
                          <a:ext cx="360" cy="780"/>
                        </a:xfrm>
                        <a:prstGeom prst="line">
                          <a:avLst/>
                        </a:prstGeom>
                        <a:noFill/>
                        <a:ln w="9525">
                          <a:solidFill>
                            <a:srgbClr val="000000"/>
                          </a:solidFill>
                          <a:round/>
                          <a:headEnd/>
                          <a:tailEnd type="triangle" w="med" len="med"/>
                        </a:ln>
                      </p:spPr>
                      <p:txBody>
                        <a:bodyPr/>
                        <a:lstStyle/>
                        <a:p>
                          <a:endParaRPr lang="zh-CN" altLang="en-US"/>
                        </a:p>
                      </p:txBody>
                    </p:sp>
                    <p:sp>
                      <p:nvSpPr>
                        <p:cNvPr id="98340" name="Freeform 227"/>
                        <p:cNvSpPr>
                          <a:spLocks/>
                        </p:cNvSpPr>
                        <p:nvPr/>
                      </p:nvSpPr>
                      <p:spPr bwMode="auto">
                        <a:xfrm>
                          <a:off x="180" y="0"/>
                          <a:ext cx="1290" cy="1248"/>
                        </a:xfrm>
                        <a:custGeom>
                          <a:avLst/>
                          <a:gdLst>
                            <a:gd name="T0" fmla="*/ 1080 w 1290"/>
                            <a:gd name="T1" fmla="*/ 1248 h 1248"/>
                            <a:gd name="T2" fmla="*/ 1260 w 1290"/>
                            <a:gd name="T3" fmla="*/ 936 h 1248"/>
                            <a:gd name="T4" fmla="*/ 1080 w 1290"/>
                            <a:gd name="T5" fmla="*/ 312 h 1248"/>
                            <a:gd name="T6" fmla="*/ 0 w 1290"/>
                            <a:gd name="T7" fmla="*/ 0 h 1248"/>
                            <a:gd name="T8" fmla="*/ 0 60000 65536"/>
                            <a:gd name="T9" fmla="*/ 0 60000 65536"/>
                            <a:gd name="T10" fmla="*/ 0 60000 65536"/>
                            <a:gd name="T11" fmla="*/ 0 60000 65536"/>
                            <a:gd name="T12" fmla="*/ 0 w 1290"/>
                            <a:gd name="T13" fmla="*/ 0 h 1248"/>
                            <a:gd name="T14" fmla="*/ 1290 w 1290"/>
                            <a:gd name="T15" fmla="*/ 1248 h 1248"/>
                          </a:gdLst>
                          <a:ahLst/>
                          <a:cxnLst>
                            <a:cxn ang="T8">
                              <a:pos x="T0" y="T1"/>
                            </a:cxn>
                            <a:cxn ang="T9">
                              <a:pos x="T2" y="T3"/>
                            </a:cxn>
                            <a:cxn ang="T10">
                              <a:pos x="T4" y="T5"/>
                            </a:cxn>
                            <a:cxn ang="T11">
                              <a:pos x="T6" y="T7"/>
                            </a:cxn>
                          </a:cxnLst>
                          <a:rect l="T12" t="T13" r="T14" b="T15"/>
                          <a:pathLst>
                            <a:path w="1290" h="1248">
                              <a:moveTo>
                                <a:pt x="1080" y="1248"/>
                              </a:moveTo>
                              <a:cubicBezTo>
                                <a:pt x="1170" y="1170"/>
                                <a:pt x="1260" y="1092"/>
                                <a:pt x="1260" y="936"/>
                              </a:cubicBezTo>
                              <a:cubicBezTo>
                                <a:pt x="1260" y="780"/>
                                <a:pt x="1290" y="468"/>
                                <a:pt x="1080" y="312"/>
                              </a:cubicBezTo>
                              <a:cubicBezTo>
                                <a:pt x="870" y="156"/>
                                <a:pt x="435" y="78"/>
                                <a:pt x="0" y="0"/>
                              </a:cubicBezTo>
                            </a:path>
                          </a:pathLst>
                        </a:custGeom>
                        <a:noFill/>
                        <a:ln w="9525" cmpd="sng">
                          <a:solidFill>
                            <a:srgbClr val="000000"/>
                          </a:solidFill>
                          <a:miter lim="800000"/>
                          <a:headEnd/>
                          <a:tailEnd type="triangle" w="med" len="med"/>
                        </a:ln>
                      </p:spPr>
                      <p:txBody>
                        <a:bodyPr/>
                        <a:lstStyle/>
                        <a:p>
                          <a:endParaRPr lang="zh-CN" altLang="en-US"/>
                        </a:p>
                      </p:txBody>
                    </p:sp>
                    <p:sp>
                      <p:nvSpPr>
                        <p:cNvPr id="98341" name="Line 228"/>
                        <p:cNvSpPr>
                          <a:spLocks noChangeShapeType="1"/>
                        </p:cNvSpPr>
                        <p:nvPr/>
                      </p:nvSpPr>
                      <p:spPr bwMode="auto">
                        <a:xfrm>
                          <a:off x="1080" y="1404"/>
                          <a:ext cx="0" cy="312"/>
                        </a:xfrm>
                        <a:prstGeom prst="line">
                          <a:avLst/>
                        </a:prstGeom>
                        <a:noFill/>
                        <a:ln w="9525">
                          <a:solidFill>
                            <a:srgbClr val="000000"/>
                          </a:solidFill>
                          <a:round/>
                          <a:headEnd/>
                          <a:tailEnd type="triangle" w="med" len="med"/>
                        </a:ln>
                      </p:spPr>
                      <p:txBody>
                        <a:bodyPr/>
                        <a:lstStyle/>
                        <a:p>
                          <a:endParaRPr lang="zh-CN" altLang="en-US"/>
                        </a:p>
                      </p:txBody>
                    </p:sp>
                    <p:sp>
                      <p:nvSpPr>
                        <p:cNvPr id="98342" name="Text Box 229"/>
                        <p:cNvSpPr txBox="1">
                          <a:spLocks noChangeArrowheads="1"/>
                        </p:cNvSpPr>
                        <p:nvPr/>
                      </p:nvSpPr>
                      <p:spPr bwMode="auto">
                        <a:xfrm>
                          <a:off x="2340" y="936"/>
                          <a:ext cx="540" cy="1560"/>
                        </a:xfrm>
                        <a:prstGeom prst="rect">
                          <a:avLst/>
                        </a:prstGeom>
                        <a:noFill/>
                        <a:ln w="9525">
                          <a:solidFill>
                            <a:srgbClr val="000000"/>
                          </a:solidFill>
                          <a:miter lim="800000"/>
                          <a:headEnd/>
                          <a:tailEnd/>
                        </a:ln>
                      </p:spPr>
                      <p:txBody>
                        <a:bodyPr lIns="0" tIns="0" rIns="0" bIns="0"/>
                        <a:lstStyle/>
                        <a:p>
                          <a:pPr algn="ctr" eaLnBrk="0" hangingPunct="0"/>
                          <a:r>
                            <a:rPr lang="en-US" altLang="zh-CN" sz="2400" b="1">
                              <a:solidFill>
                                <a:srgbClr val="000000"/>
                              </a:solidFill>
                              <a:latin typeface="Times New Roman" pitchFamily="18" charset="0"/>
                            </a:rPr>
                            <a:t>3</a:t>
                          </a:r>
                        </a:p>
                        <a:p>
                          <a:pPr algn="ctr" eaLnBrk="0" hangingPunct="0"/>
                          <a:r>
                            <a:rPr lang="en-US" altLang="zh-CN" sz="2400" b="1">
                              <a:solidFill>
                                <a:srgbClr val="000000"/>
                              </a:solidFill>
                              <a:latin typeface="Times New Roman" pitchFamily="18" charset="0"/>
                            </a:rPr>
                            <a:t>10</a:t>
                          </a:r>
                        </a:p>
                        <a:p>
                          <a:pPr algn="ctr" eaLnBrk="0" hangingPunct="0"/>
                          <a:r>
                            <a:rPr lang="en-US" altLang="zh-CN" sz="2400" b="1">
                              <a:solidFill>
                                <a:srgbClr val="000000"/>
                              </a:solidFill>
                              <a:latin typeface="Times New Roman" pitchFamily="18" charset="0"/>
                            </a:rPr>
                            <a:t>27</a:t>
                          </a:r>
                        </a:p>
                        <a:p>
                          <a:pPr algn="ctr" eaLnBrk="0" hangingPunct="0"/>
                          <a:r>
                            <a:rPr lang="en-US" altLang="zh-CN" sz="2400" b="1">
                              <a:solidFill>
                                <a:srgbClr val="000000"/>
                              </a:solidFill>
                              <a:latin typeface="Times New Roman" pitchFamily="18" charset="0"/>
                            </a:rPr>
                            <a:t>29</a:t>
                          </a:r>
                        </a:p>
                        <a:p>
                          <a:pPr algn="ctr" eaLnBrk="0" hangingPunct="0"/>
                          <a:r>
                            <a:rPr lang="en-US" altLang="zh-CN" sz="2400" b="1">
                              <a:solidFill>
                                <a:srgbClr val="000000"/>
                              </a:solidFill>
                              <a:latin typeface="Times New Roman" pitchFamily="18" charset="0"/>
                            </a:rPr>
                            <a:t>15</a:t>
                          </a:r>
                        </a:p>
                      </p:txBody>
                    </p:sp>
                    <p:sp>
                      <p:nvSpPr>
                        <p:cNvPr id="98343" name="Line 230"/>
                        <p:cNvSpPr>
                          <a:spLocks noChangeShapeType="1"/>
                        </p:cNvSpPr>
                        <p:nvPr/>
                      </p:nvSpPr>
                      <p:spPr bwMode="auto">
                        <a:xfrm flipV="1">
                          <a:off x="1260" y="936"/>
                          <a:ext cx="1080" cy="312"/>
                        </a:xfrm>
                        <a:prstGeom prst="line">
                          <a:avLst/>
                        </a:prstGeom>
                        <a:noFill/>
                        <a:ln w="9525">
                          <a:solidFill>
                            <a:srgbClr val="000000"/>
                          </a:solidFill>
                          <a:prstDash val="sysDot"/>
                          <a:round/>
                          <a:headEnd/>
                          <a:tailEnd/>
                        </a:ln>
                      </p:spPr>
                      <p:txBody>
                        <a:bodyPr/>
                        <a:lstStyle/>
                        <a:p>
                          <a:endParaRPr lang="zh-CN" altLang="en-US"/>
                        </a:p>
                      </p:txBody>
                    </p:sp>
                    <p:sp>
                      <p:nvSpPr>
                        <p:cNvPr id="98344" name="Line 231"/>
                        <p:cNvSpPr>
                          <a:spLocks noChangeShapeType="1"/>
                        </p:cNvSpPr>
                        <p:nvPr/>
                      </p:nvSpPr>
                      <p:spPr bwMode="auto">
                        <a:xfrm>
                          <a:off x="1260" y="1404"/>
                          <a:ext cx="1080" cy="1092"/>
                        </a:xfrm>
                        <a:prstGeom prst="line">
                          <a:avLst/>
                        </a:prstGeom>
                        <a:noFill/>
                        <a:ln w="9525">
                          <a:solidFill>
                            <a:srgbClr val="000000"/>
                          </a:solidFill>
                          <a:prstDash val="sysDot"/>
                          <a:round/>
                          <a:headEnd/>
                          <a:tailEnd/>
                        </a:ln>
                      </p:spPr>
                      <p:txBody>
                        <a:bodyPr/>
                        <a:lstStyle/>
                        <a:p>
                          <a:endParaRPr lang="zh-CN" altLang="en-US"/>
                        </a:p>
                      </p:txBody>
                    </p:sp>
                  </p:grpSp>
                </p:grpSp>
              </p:grpSp>
            </p:grpSp>
          </p:grpSp>
        </p:grpSp>
        <p:grpSp>
          <p:nvGrpSpPr>
            <p:cNvPr id="23" name="Group 232"/>
            <p:cNvGrpSpPr>
              <a:grpSpLocks/>
            </p:cNvGrpSpPr>
            <p:nvPr/>
          </p:nvGrpSpPr>
          <p:grpSpPr bwMode="auto">
            <a:xfrm>
              <a:off x="1633" y="1062"/>
              <a:ext cx="672" cy="96"/>
              <a:chOff x="0" y="0"/>
              <a:chExt cx="900" cy="159"/>
            </a:xfrm>
          </p:grpSpPr>
          <p:sp>
            <p:nvSpPr>
              <p:cNvPr id="98310" name="Text Box 233"/>
              <p:cNvSpPr txBox="1">
                <a:spLocks noChangeArrowheads="1"/>
              </p:cNvSpPr>
              <p:nvPr/>
            </p:nvSpPr>
            <p:spPr bwMode="auto">
              <a:xfrm>
                <a:off x="0" y="3"/>
                <a:ext cx="360" cy="156"/>
              </a:xfrm>
              <a:prstGeom prst="rect">
                <a:avLst/>
              </a:prstGeom>
              <a:solidFill>
                <a:srgbClr val="969696"/>
              </a:solid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sp>
            <p:nvSpPr>
              <p:cNvPr id="98311" name="Text Box 234"/>
              <p:cNvSpPr txBox="1">
                <a:spLocks noChangeArrowheads="1"/>
              </p:cNvSpPr>
              <p:nvPr/>
            </p:nvSpPr>
            <p:spPr bwMode="auto">
              <a:xfrm>
                <a:off x="540" y="0"/>
                <a:ext cx="360" cy="156"/>
              </a:xfrm>
              <a:prstGeom prst="rect">
                <a:avLst/>
              </a:prstGeom>
              <a:noFill/>
              <a:ln w="9525">
                <a:solidFill>
                  <a:srgbClr val="000000"/>
                </a:solidFill>
                <a:miter lim="800000"/>
                <a:headEnd/>
                <a:tailEnd/>
              </a:ln>
            </p:spPr>
            <p:txBody>
              <a:bodyPr/>
              <a:lstStyle/>
              <a:p>
                <a:pPr algn="just" eaLnBrk="0" hangingPunct="0"/>
                <a:endParaRPr lang="zh-CN" altLang="en-US" sz="1000">
                  <a:solidFill>
                    <a:srgbClr val="000000"/>
                  </a:solidFill>
                  <a:latin typeface="Times New Roman" pitchFamily="18" charset="0"/>
                </a:endParaRPr>
              </a:p>
            </p:txBody>
          </p:sp>
        </p:gr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3"/>
          <p:cNvSpPr>
            <a:spLocks noGrp="1" noRot="1" noChangeArrowheads="1"/>
          </p:cNvSpPr>
          <p:nvPr>
            <p:ph type="body" idx="4294967295"/>
          </p:nvPr>
        </p:nvSpPr>
        <p:spPr>
          <a:xfrm>
            <a:off x="396901" y="285750"/>
            <a:ext cx="8318503" cy="5984875"/>
          </a:xfrm>
        </p:spPr>
        <p:txBody>
          <a:bodyPr/>
          <a:lstStyle/>
          <a:p>
            <a:pPr algn="just" eaLnBrk="1" hangingPunct="1">
              <a:lnSpc>
                <a:spcPct val="120000"/>
              </a:lnSpc>
              <a:buFont typeface="Wingdings" pitchFamily="2" charset="2"/>
              <a:buNone/>
              <a:defRPr/>
            </a:pPr>
            <a:endParaRPr lang="en-US" sz="2800" b="1" dirty="0" smtClean="0">
              <a:effectLst>
                <a:outerShdw blurRad="38100" dist="38100" dir="2700000" algn="tl">
                  <a:srgbClr val="000000"/>
                </a:outerShdw>
              </a:effectLst>
              <a:ea typeface="仿宋_GB2312" pitchFamily="1" charset="-122"/>
            </a:endParaRPr>
          </a:p>
          <a:p>
            <a:pPr eaLnBrk="1" hangingPunct="1">
              <a:defRPr/>
            </a:pPr>
            <a:r>
              <a:rPr lang="zh-CN" altLang="en-US" sz="2800" b="1" dirty="0" smtClean="0">
                <a:solidFill>
                  <a:srgbClr val="FF0000"/>
                </a:solidFill>
              </a:rPr>
              <a:t>优点：</a:t>
            </a:r>
            <a:r>
              <a:rPr lang="zh-CN" altLang="en-US" sz="2800" b="1" dirty="0" smtClean="0">
                <a:solidFill>
                  <a:srgbClr val="FFFF00"/>
                </a:solidFill>
              </a:rPr>
              <a:t>：</a:t>
            </a:r>
            <a:endParaRPr lang="en-US" sz="2800" b="1" dirty="0" smtClean="0">
              <a:solidFill>
                <a:srgbClr val="FFFF00"/>
              </a:solidFill>
            </a:endParaRPr>
          </a:p>
          <a:p>
            <a:pPr lvl="1" eaLnBrk="1" hangingPunct="1">
              <a:defRPr/>
            </a:pPr>
            <a:r>
              <a:rPr lang="zh-CN" altLang="en-US" b="1" dirty="0" smtClean="0"/>
              <a:t>索引分配方式支持直接访问，可直接从索引块中找到某个盘块的盘块号；</a:t>
            </a:r>
            <a:endParaRPr lang="en-US" altLang="zh-CN" b="1" dirty="0" smtClean="0"/>
          </a:p>
          <a:p>
            <a:pPr lvl="1" eaLnBrk="1" hangingPunct="1">
              <a:defRPr/>
            </a:pPr>
            <a:endParaRPr lang="zh-CN" altLang="en-US" b="1" dirty="0" smtClean="0">
              <a:effectLst>
                <a:outerShdw blurRad="38100" dist="38100" dir="2700000" algn="tl">
                  <a:srgbClr val="000000"/>
                </a:outerShdw>
              </a:effectLst>
              <a:ea typeface="仿宋_GB2312" pitchFamily="1" charset="-122"/>
            </a:endParaRPr>
          </a:p>
          <a:p>
            <a:pPr eaLnBrk="1" hangingPunct="1">
              <a:defRPr/>
            </a:pPr>
            <a:r>
              <a:rPr lang="zh-CN" altLang="en-US" sz="2800" b="1" dirty="0" smtClean="0">
                <a:solidFill>
                  <a:srgbClr val="FF0000"/>
                </a:solidFill>
                <a:effectLst>
                  <a:outerShdw blurRad="38100" dist="38100" dir="2700000" algn="tl">
                    <a:srgbClr val="000000"/>
                  </a:outerShdw>
                </a:effectLst>
              </a:rPr>
              <a:t>存在的问题：</a:t>
            </a:r>
            <a:endParaRPr lang="en-US" sz="2800" b="1" dirty="0" smtClean="0">
              <a:solidFill>
                <a:srgbClr val="FF0000"/>
              </a:solidFill>
              <a:effectLst>
                <a:outerShdw blurRad="38100" dist="38100" dir="2700000" algn="tl">
                  <a:srgbClr val="000000"/>
                </a:outerShdw>
              </a:effectLst>
            </a:endParaRPr>
          </a:p>
          <a:p>
            <a:pPr lvl="1" eaLnBrk="1" hangingPunct="1">
              <a:defRPr/>
            </a:pPr>
            <a:r>
              <a:rPr lang="zh-CN" altLang="en-US" b="1" dirty="0" smtClean="0"/>
              <a:t>可能要花费较多的外存空间。每当建立一个文件时，便须为之分配一个索引块。</a:t>
            </a:r>
            <a:endParaRPr lang="en-US" b="1" dirty="0" smtClean="0"/>
          </a:p>
          <a:p>
            <a:pPr lvl="1" eaLnBrk="1" hangingPunct="1">
              <a:defRPr/>
            </a:pPr>
            <a:r>
              <a:rPr lang="zh-CN" altLang="en-US" b="1" dirty="0" smtClean="0"/>
              <a:t>对于小文件如果采用这种方式，索引块的利用率将是极低的。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9330">
                                            <p:txEl>
                                              <p:pRg st="1" end="1"/>
                                            </p:txEl>
                                          </p:spTgt>
                                        </p:tgtEl>
                                        <p:attrNameLst>
                                          <p:attrName>style.visibility</p:attrName>
                                        </p:attrNameLst>
                                      </p:cBhvr>
                                      <p:to>
                                        <p:strVal val="visible"/>
                                      </p:to>
                                    </p:set>
                                    <p:animEffect transition="in" filter="fade">
                                      <p:cBhvr>
                                        <p:cTn id="7" dur="2000"/>
                                        <p:tgtEl>
                                          <p:spTgt spid="99330">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9330">
                                            <p:txEl>
                                              <p:pRg st="2" end="2"/>
                                            </p:txEl>
                                          </p:spTgt>
                                        </p:tgtEl>
                                        <p:attrNameLst>
                                          <p:attrName>style.visibility</p:attrName>
                                        </p:attrNameLst>
                                      </p:cBhvr>
                                      <p:to>
                                        <p:strVal val="visible"/>
                                      </p:to>
                                    </p:set>
                                    <p:animEffect transition="in" filter="fade">
                                      <p:cBhvr>
                                        <p:cTn id="10" dur="2000"/>
                                        <p:tgtEl>
                                          <p:spTgt spid="99330">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9330">
                                            <p:txEl>
                                              <p:pRg st="4" end="4"/>
                                            </p:txEl>
                                          </p:spTgt>
                                        </p:tgtEl>
                                        <p:attrNameLst>
                                          <p:attrName>style.visibility</p:attrName>
                                        </p:attrNameLst>
                                      </p:cBhvr>
                                      <p:to>
                                        <p:strVal val="visible"/>
                                      </p:to>
                                    </p:set>
                                    <p:animEffect transition="in" filter="fade">
                                      <p:cBhvr>
                                        <p:cTn id="15" dur="2000"/>
                                        <p:tgtEl>
                                          <p:spTgt spid="99330">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9330">
                                            <p:txEl>
                                              <p:pRg st="5" end="5"/>
                                            </p:txEl>
                                          </p:spTgt>
                                        </p:tgtEl>
                                        <p:attrNameLst>
                                          <p:attrName>style.visibility</p:attrName>
                                        </p:attrNameLst>
                                      </p:cBhvr>
                                      <p:to>
                                        <p:strVal val="visible"/>
                                      </p:to>
                                    </p:set>
                                    <p:animEffect transition="in" filter="fade">
                                      <p:cBhvr>
                                        <p:cTn id="18" dur="2000"/>
                                        <p:tgtEl>
                                          <p:spTgt spid="99330">
                                            <p:txEl>
                                              <p:pRg st="5" end="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9330">
                                            <p:txEl>
                                              <p:pRg st="6" end="6"/>
                                            </p:txEl>
                                          </p:spTgt>
                                        </p:tgtEl>
                                        <p:attrNameLst>
                                          <p:attrName>style.visibility</p:attrName>
                                        </p:attrNameLst>
                                      </p:cBhvr>
                                      <p:to>
                                        <p:strVal val="visible"/>
                                      </p:to>
                                    </p:set>
                                    <p:animEffect transition="in" filter="fade">
                                      <p:cBhvr>
                                        <p:cTn id="21" dur="2000"/>
                                        <p:tgtEl>
                                          <p:spTgt spid="993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3"/>
          <p:cNvSpPr>
            <a:spLocks noGrp="1" noRot="1" noChangeArrowheads="1"/>
          </p:cNvSpPr>
          <p:nvPr>
            <p:ph type="body" idx="4294967295"/>
          </p:nvPr>
        </p:nvSpPr>
        <p:spPr>
          <a:xfrm>
            <a:off x="423890" y="666750"/>
            <a:ext cx="8434390" cy="6191250"/>
          </a:xfrm>
        </p:spPr>
        <p:txBody>
          <a:bodyPr/>
          <a:lstStyle/>
          <a:p>
            <a:pPr eaLnBrk="1" hangingPunct="1">
              <a:lnSpc>
                <a:spcPct val="110000"/>
              </a:lnSpc>
            </a:pPr>
            <a:r>
              <a:rPr lang="en-US" altLang="zh-CN" b="1" dirty="0" smtClean="0">
                <a:solidFill>
                  <a:srgbClr val="FF0000"/>
                </a:solidFill>
              </a:rPr>
              <a:t>2</a:t>
            </a:r>
            <a:r>
              <a:rPr lang="zh-CN" altLang="en-US" b="1" dirty="0" smtClean="0">
                <a:solidFill>
                  <a:srgbClr val="FF0000"/>
                </a:solidFill>
              </a:rPr>
              <a:t>．多级索引分配</a:t>
            </a:r>
            <a:endParaRPr lang="en-US" altLang="zh-CN" b="1" dirty="0" smtClean="0">
              <a:solidFill>
                <a:srgbClr val="FF0000"/>
              </a:solidFill>
            </a:endParaRPr>
          </a:p>
          <a:p>
            <a:pPr eaLnBrk="1" hangingPunct="1">
              <a:lnSpc>
                <a:spcPct val="110000"/>
              </a:lnSpc>
            </a:pPr>
            <a:r>
              <a:rPr lang="zh-CN" altLang="en-US" b="1" dirty="0" smtClean="0"/>
              <a:t>当 </a:t>
            </a:r>
            <a:r>
              <a:rPr lang="en-US" altLang="zh-CN" b="1" dirty="0" smtClean="0"/>
              <a:t>OS</a:t>
            </a:r>
            <a:r>
              <a:rPr lang="zh-CN" altLang="en-US" b="1" dirty="0" smtClean="0"/>
              <a:t>为一个大文件分配磁盘空间时，会增加许多索引块。</a:t>
            </a:r>
          </a:p>
          <a:p>
            <a:pPr eaLnBrk="1" hangingPunct="1">
              <a:lnSpc>
                <a:spcPct val="110000"/>
              </a:lnSpc>
            </a:pPr>
            <a:r>
              <a:rPr lang="zh-CN" altLang="en-US" b="1" dirty="0" smtClean="0"/>
              <a:t>显然，当文件太大，</a:t>
            </a:r>
            <a:r>
              <a:rPr lang="zh-CN" altLang="en-US" b="1" i="1" u="sng" dirty="0" smtClean="0">
                <a:solidFill>
                  <a:srgbClr val="FF0000"/>
                </a:solidFill>
              </a:rPr>
              <a:t>当一个索引块 已经装满时 ，需要再增加一个索引块</a:t>
            </a:r>
            <a:r>
              <a:rPr lang="zh-CN" altLang="en-US" b="1" dirty="0" smtClean="0"/>
              <a:t>，并将以后继续为之分配的盘块号记录其中，再通过连接指针将所有的索引块连起来。当索引块太多时，这种方法是低效的。</a:t>
            </a:r>
            <a:endParaRPr lang="en-US" b="1" dirty="0" smtClean="0"/>
          </a:p>
          <a:p>
            <a:pPr eaLnBrk="1" hangingPunct="1">
              <a:lnSpc>
                <a:spcPct val="110000"/>
              </a:lnSpc>
            </a:pPr>
            <a:r>
              <a:rPr lang="zh-CN" altLang="en-US" b="1" dirty="0" smtClean="0"/>
              <a:t>解决办法：</a:t>
            </a:r>
            <a:r>
              <a:rPr lang="zh-CN" altLang="en-US" b="1" i="1" u="sng" dirty="0" smtClean="0">
                <a:solidFill>
                  <a:srgbClr val="FF0000"/>
                </a:solidFill>
              </a:rPr>
              <a:t>多级索引分配方式。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54">
                                            <p:txEl>
                                              <p:pRg st="0" end="0"/>
                                            </p:txEl>
                                          </p:spTgt>
                                        </p:tgtEl>
                                        <p:attrNameLst>
                                          <p:attrName>style.visibility</p:attrName>
                                        </p:attrNameLst>
                                      </p:cBhvr>
                                      <p:to>
                                        <p:strVal val="visible"/>
                                      </p:to>
                                    </p:set>
                                    <p:animEffect transition="in" filter="fade">
                                      <p:cBhvr>
                                        <p:cTn id="7" dur="2000"/>
                                        <p:tgtEl>
                                          <p:spTgt spid="1003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354">
                                            <p:txEl>
                                              <p:pRg st="1" end="1"/>
                                            </p:txEl>
                                          </p:spTgt>
                                        </p:tgtEl>
                                        <p:attrNameLst>
                                          <p:attrName>style.visibility</p:attrName>
                                        </p:attrNameLst>
                                      </p:cBhvr>
                                      <p:to>
                                        <p:strVal val="visible"/>
                                      </p:to>
                                    </p:set>
                                    <p:animEffect transition="in" filter="fade">
                                      <p:cBhvr>
                                        <p:cTn id="12" dur="2000"/>
                                        <p:tgtEl>
                                          <p:spTgt spid="1003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354">
                                            <p:txEl>
                                              <p:pRg st="2" end="2"/>
                                            </p:txEl>
                                          </p:spTgt>
                                        </p:tgtEl>
                                        <p:attrNameLst>
                                          <p:attrName>style.visibility</p:attrName>
                                        </p:attrNameLst>
                                      </p:cBhvr>
                                      <p:to>
                                        <p:strVal val="visible"/>
                                      </p:to>
                                    </p:set>
                                    <p:animEffect transition="in" filter="fade">
                                      <p:cBhvr>
                                        <p:cTn id="17" dur="2000"/>
                                        <p:tgtEl>
                                          <p:spTgt spid="1003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0354">
                                            <p:txEl>
                                              <p:pRg st="3" end="3"/>
                                            </p:txEl>
                                          </p:spTgt>
                                        </p:tgtEl>
                                        <p:attrNameLst>
                                          <p:attrName>style.visibility</p:attrName>
                                        </p:attrNameLst>
                                      </p:cBhvr>
                                      <p:to>
                                        <p:strVal val="visible"/>
                                      </p:to>
                                    </p:set>
                                    <p:animEffect transition="in" filter="fade">
                                      <p:cBhvr>
                                        <p:cTn id="22" dur="2000"/>
                                        <p:tgtEl>
                                          <p:spTgt spid="1003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Rectangle 6"/>
          <p:cNvSpPr>
            <a:spLocks noGrp="1" noRot="1" noChangeArrowheads="1"/>
          </p:cNvSpPr>
          <p:nvPr>
            <p:ph type="title" idx="4294967295"/>
          </p:nvPr>
        </p:nvSpPr>
        <p:spPr>
          <a:xfrm>
            <a:off x="0" y="188913"/>
            <a:ext cx="8077200" cy="523875"/>
          </a:xfrm>
        </p:spPr>
        <p:txBody>
          <a:bodyPr>
            <a:normAutofit fontScale="90000"/>
          </a:bodyPr>
          <a:lstStyle/>
          <a:p>
            <a:pPr eaLnBrk="1" hangingPunct="1">
              <a:defRPr/>
            </a:pPr>
            <a:r>
              <a:rPr lang="zh-CN" sz="4000" b="1" dirty="0" smtClean="0">
                <a:solidFill>
                  <a:srgbClr val="FF0000"/>
                </a:solidFill>
                <a:effectLst>
                  <a:outerShdw blurRad="38100" dist="38100" dir="2700000" algn="tl">
                    <a:srgbClr val="000000"/>
                  </a:outerShdw>
                </a:effectLst>
              </a:rPr>
              <a:t>两级索引分配</a:t>
            </a:r>
          </a:p>
        </p:txBody>
      </p:sp>
      <p:sp>
        <p:nvSpPr>
          <p:cNvPr id="10244" name="Rectangle 3"/>
          <p:cNvSpPr>
            <a:spLocks noGrp="1" noRot="1" noChangeArrowheads="1"/>
          </p:cNvSpPr>
          <p:nvPr>
            <p:ph type="body" sz="half" idx="4294967295"/>
          </p:nvPr>
        </p:nvSpPr>
        <p:spPr>
          <a:xfrm>
            <a:off x="0" y="1843128"/>
            <a:ext cx="3962400" cy="4498975"/>
          </a:xfrm>
        </p:spPr>
        <p:txBody>
          <a:bodyPr/>
          <a:lstStyle/>
          <a:p>
            <a:pPr eaLnBrk="1" hangingPunct="1"/>
            <a:r>
              <a:rPr lang="en-US" altLang="zh-CN" sz="2800" smtClean="0"/>
              <a:t>=</a:t>
            </a:r>
          </a:p>
        </p:txBody>
      </p:sp>
      <p:sp>
        <p:nvSpPr>
          <p:cNvPr id="10245" name="Rectangle 4"/>
          <p:cNvSpPr>
            <a:spLocks noChangeArrowheads="1"/>
          </p:cNvSpPr>
          <p:nvPr/>
        </p:nvSpPr>
        <p:spPr bwMode="auto">
          <a:xfrm>
            <a:off x="428596" y="955697"/>
            <a:ext cx="8424863" cy="5761038"/>
          </a:xfrm>
          <a:prstGeom prst="rect">
            <a:avLst/>
          </a:prstGeom>
          <a:solidFill>
            <a:schemeClr val="bg2">
              <a:lumMod val="90000"/>
            </a:schemeClr>
          </a:solidFill>
          <a:ln w="9525">
            <a:solidFill>
              <a:schemeClr val="tx1"/>
            </a:solidFill>
            <a:miter lim="800000"/>
            <a:headEnd/>
            <a:tailEnd/>
          </a:ln>
        </p:spPr>
        <p:txBody>
          <a:bodyPr wrap="none" anchor="ctr"/>
          <a:lstStyle/>
          <a:p>
            <a:endParaRPr lang="zh-CN" altLang="en-US"/>
          </a:p>
        </p:txBody>
      </p:sp>
      <p:graphicFrame>
        <p:nvGraphicFramePr>
          <p:cNvPr id="3075" name="Object 5"/>
          <p:cNvGraphicFramePr>
            <a:graphicFrameLocks noChangeAspect="1"/>
          </p:cNvGraphicFramePr>
          <p:nvPr/>
        </p:nvGraphicFramePr>
        <p:xfrm>
          <a:off x="1027127" y="857232"/>
          <a:ext cx="5973765" cy="5973765"/>
        </p:xfrm>
        <a:graphic>
          <a:graphicData uri="http://schemas.openxmlformats.org/presentationml/2006/ole">
            <mc:AlternateContent xmlns:mc="http://schemas.openxmlformats.org/markup-compatibility/2006">
              <mc:Choice xmlns:v="urn:schemas-microsoft-com:vml" Requires="v">
                <p:oleObj spid="_x0000_s3088" r:id="rId3" imgW="3375977" imgH="3375977" progId="Visio.Drawing.11">
                  <p:embed/>
                </p:oleObj>
              </mc:Choice>
              <mc:Fallback>
                <p:oleObj r:id="rId3" imgW="3375977" imgH="3375977"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127" y="857232"/>
                        <a:ext cx="5973765" cy="5973765"/>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fade">
                                      <p:cBhvr>
                                        <p:cTn id="7" dur="2000"/>
                                        <p:tgtEl>
                                          <p:spTgt spid="1013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4">
                                            <p:txEl>
                                              <p:pRg st="0" end="0"/>
                                            </p:txEl>
                                          </p:spTgt>
                                        </p:tgtEl>
                                        <p:attrNameLst>
                                          <p:attrName>style.visibility</p:attrName>
                                        </p:attrNameLst>
                                      </p:cBhvr>
                                      <p:to>
                                        <p:strVal val="visible"/>
                                      </p:to>
                                    </p:set>
                                    <p:animEffect transition="in" filter="fade">
                                      <p:cBhvr>
                                        <p:cTn id="12" dur="2000"/>
                                        <p:tgtEl>
                                          <p:spTgt spid="102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utoUpdateAnimBg="0"/>
      <p:bldP spid="10244"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714356"/>
            <a:ext cx="8229600" cy="4525963"/>
          </a:xfrm>
        </p:spPr>
        <p:txBody>
          <a:bodyPr/>
          <a:lstStyle/>
          <a:p>
            <a:r>
              <a:rPr lang="en-US" altLang="zh-CN" b="1" dirty="0" smtClean="0">
                <a:solidFill>
                  <a:srgbClr val="FF0000"/>
                </a:solidFill>
              </a:rPr>
              <a:t>2</a:t>
            </a:r>
            <a:r>
              <a:rPr lang="zh-CN" altLang="en-US" b="1" dirty="0" smtClean="0">
                <a:solidFill>
                  <a:srgbClr val="FF0000"/>
                </a:solidFill>
              </a:rPr>
              <a:t>．两级索引分配</a:t>
            </a:r>
            <a:endParaRPr lang="en-US" altLang="zh-CN" b="1" dirty="0" smtClean="0">
              <a:solidFill>
                <a:srgbClr val="FF0000"/>
              </a:solidFill>
            </a:endParaRPr>
          </a:p>
          <a:p>
            <a:r>
              <a:rPr lang="zh-CN" altLang="en-US" b="1" dirty="0" smtClean="0">
                <a:solidFill>
                  <a:srgbClr val="FF0000"/>
                </a:solidFill>
              </a:rPr>
              <a:t>优点：</a:t>
            </a:r>
            <a:r>
              <a:rPr lang="zh-CN" altLang="en-US" b="1" dirty="0" smtClean="0"/>
              <a:t>大大加快了对大型文件的查找速度。</a:t>
            </a:r>
            <a:endParaRPr lang="en-US" altLang="zh-CN" b="1" dirty="0" smtClean="0"/>
          </a:p>
          <a:p>
            <a:endParaRPr lang="en-US" altLang="zh-CN" b="1" dirty="0" smtClean="0">
              <a:solidFill>
                <a:srgbClr val="FF0000"/>
              </a:solidFill>
            </a:endParaRPr>
          </a:p>
          <a:p>
            <a:r>
              <a:rPr lang="zh-CN" altLang="en-US" b="1" dirty="0" smtClean="0">
                <a:solidFill>
                  <a:srgbClr val="FF0000"/>
                </a:solidFill>
              </a:rPr>
              <a:t>缺点：</a:t>
            </a:r>
            <a:r>
              <a:rPr lang="zh-CN" altLang="en-US" b="1" dirty="0" smtClean="0"/>
              <a:t>在访问一个盘块时，其所需要启动磁盘的次数随着索引级数的增加而增多。即使对于小文件也如此。</a:t>
            </a:r>
            <a:endParaRPr lang="en-US" altLang="zh-CN" b="1" dirty="0" smtClean="0"/>
          </a:p>
          <a:p>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4771" name="Text Box 3"/>
          <p:cNvSpPr txBox="1">
            <a:spLocks noChangeArrowheads="1"/>
          </p:cNvSpPr>
          <p:nvPr/>
        </p:nvSpPr>
        <p:spPr bwMode="auto">
          <a:xfrm>
            <a:off x="395536" y="1412776"/>
            <a:ext cx="8520112" cy="4721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0000"/>
              </a:spcBef>
            </a:pPr>
            <a:r>
              <a:rPr kumimoji="1" lang="zh-CN" altLang="en-US" sz="3200" b="1" dirty="0"/>
              <a:t>设文件系统采用两级索引分配方式，如果每个</a:t>
            </a:r>
          </a:p>
          <a:p>
            <a:pPr eaLnBrk="1" hangingPunct="1">
              <a:lnSpc>
                <a:spcPct val="110000"/>
              </a:lnSpc>
              <a:spcBef>
                <a:spcPct val="20000"/>
              </a:spcBef>
            </a:pPr>
            <a:r>
              <a:rPr kumimoji="1" lang="zh-CN" altLang="en-US" sz="3200" b="1" dirty="0"/>
              <a:t>磁盘块的大小为</a:t>
            </a:r>
            <a:r>
              <a:rPr kumimoji="1" lang="en-US" altLang="zh-CN" sz="3200" b="1" dirty="0"/>
              <a:t>1KB</a:t>
            </a:r>
            <a:r>
              <a:rPr kumimoji="1" lang="zh-CN" altLang="en-US" sz="3200" b="1" dirty="0"/>
              <a:t>，每个盘块号占</a:t>
            </a:r>
            <a:r>
              <a:rPr kumimoji="1" lang="en-US" altLang="zh-CN" sz="3200" b="1" dirty="0"/>
              <a:t>4B</a:t>
            </a:r>
            <a:r>
              <a:rPr kumimoji="1" lang="zh-CN" altLang="en-US" sz="3200" b="1" dirty="0"/>
              <a:t>，则单</a:t>
            </a:r>
          </a:p>
          <a:p>
            <a:pPr eaLnBrk="1" hangingPunct="1">
              <a:lnSpc>
                <a:spcPct val="110000"/>
              </a:lnSpc>
              <a:spcBef>
                <a:spcPct val="20000"/>
              </a:spcBef>
            </a:pPr>
            <a:r>
              <a:rPr kumimoji="1" lang="zh-CN" altLang="en-US" sz="3200" b="1" dirty="0"/>
              <a:t>个文件的最大长度是多少？</a:t>
            </a:r>
          </a:p>
          <a:p>
            <a:pPr eaLnBrk="1" hangingPunct="1">
              <a:lnSpc>
                <a:spcPct val="110000"/>
              </a:lnSpc>
              <a:spcBef>
                <a:spcPct val="20000"/>
              </a:spcBef>
            </a:pPr>
            <a:r>
              <a:rPr kumimoji="1" lang="zh-CN" altLang="en-US" sz="3200" b="1" dirty="0"/>
              <a:t>解：每个盘块可有</a:t>
            </a:r>
            <a:r>
              <a:rPr kumimoji="1" lang="en-US" altLang="zh-CN" sz="3200" b="1" dirty="0"/>
              <a:t>1KB/ 4B=256</a:t>
            </a:r>
            <a:r>
              <a:rPr kumimoji="1" lang="zh-CN" altLang="en-US" sz="3200" b="1" dirty="0"/>
              <a:t>个索引项，则</a:t>
            </a:r>
          </a:p>
          <a:p>
            <a:pPr eaLnBrk="1" hangingPunct="1">
              <a:lnSpc>
                <a:spcPct val="110000"/>
              </a:lnSpc>
              <a:spcBef>
                <a:spcPct val="20000"/>
              </a:spcBef>
            </a:pPr>
            <a:r>
              <a:rPr kumimoji="1" lang="zh-CN" altLang="en-US" sz="3200" b="1" dirty="0"/>
              <a:t>两级索引下单个文件最大长度：</a:t>
            </a:r>
          </a:p>
          <a:p>
            <a:pPr eaLnBrk="1" hangingPunct="1">
              <a:lnSpc>
                <a:spcPct val="110000"/>
              </a:lnSpc>
              <a:spcBef>
                <a:spcPct val="20000"/>
              </a:spcBef>
            </a:pPr>
            <a:r>
              <a:rPr kumimoji="1" lang="zh-CN" altLang="en-US" sz="3200" b="1" dirty="0"/>
              <a:t>     </a:t>
            </a:r>
            <a:r>
              <a:rPr kumimoji="1" lang="en-US" altLang="zh-CN" sz="3200" b="1" dirty="0" smtClean="0"/>
              <a:t>256*256*1KB=64MB</a:t>
            </a:r>
          </a:p>
          <a:p>
            <a:pPr eaLnBrk="1" hangingPunct="1">
              <a:lnSpc>
                <a:spcPct val="110000"/>
              </a:lnSpc>
              <a:spcBef>
                <a:spcPct val="20000"/>
              </a:spcBef>
            </a:pPr>
            <a:r>
              <a:rPr kumimoji="1" lang="zh-CN" altLang="en-US" sz="2400" b="1" dirty="0" smtClean="0">
                <a:solidFill>
                  <a:srgbClr val="FF0000"/>
                </a:solidFill>
              </a:rPr>
              <a:t>如果盘块大小为</a:t>
            </a:r>
            <a:r>
              <a:rPr kumimoji="1" lang="en-US" altLang="zh-CN" sz="2400" b="1" dirty="0" smtClean="0">
                <a:solidFill>
                  <a:srgbClr val="FF0000"/>
                </a:solidFill>
              </a:rPr>
              <a:t>4KB</a:t>
            </a:r>
            <a:r>
              <a:rPr kumimoji="1" lang="zh-CN" altLang="en-US" sz="2400" b="1" dirty="0" smtClean="0">
                <a:solidFill>
                  <a:srgbClr val="FF0000"/>
                </a:solidFill>
              </a:rPr>
              <a:t>，则两级索引所允许的最大文件长度可达到</a:t>
            </a:r>
            <a:r>
              <a:rPr kumimoji="1" lang="en-US" altLang="zh-CN" sz="2400" b="1" dirty="0" smtClean="0">
                <a:solidFill>
                  <a:srgbClr val="FF0000"/>
                </a:solidFill>
              </a:rPr>
              <a:t>4GB</a:t>
            </a:r>
            <a:r>
              <a:rPr kumimoji="1" lang="zh-CN" altLang="en-US" sz="2400" b="1" dirty="0" smtClean="0">
                <a:solidFill>
                  <a:srgbClr val="FF0000"/>
                </a:solidFill>
              </a:rPr>
              <a:t>。</a:t>
            </a:r>
            <a:endParaRPr kumimoji="1" lang="en-US" altLang="zh-CN" sz="2400" b="1" dirty="0">
              <a:solidFill>
                <a:srgbClr val="FF0000"/>
              </a:solidFill>
            </a:endParaRPr>
          </a:p>
        </p:txBody>
      </p:sp>
      <p:sp>
        <p:nvSpPr>
          <p:cNvPr id="55299" name="Rectangle 5"/>
          <p:cNvSpPr>
            <a:spLocks noChangeArrowheads="1"/>
          </p:cNvSpPr>
          <p:nvPr/>
        </p:nvSpPr>
        <p:spPr bwMode="auto">
          <a:xfrm>
            <a:off x="3059113" y="549275"/>
            <a:ext cx="28797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buFont typeface="Wingdings" panose="05000000000000000000" pitchFamily="2" charset="2"/>
              <a:buNone/>
            </a:pPr>
            <a:r>
              <a:rPr kumimoji="1" lang="zh-CN" altLang="en-US" sz="4000" b="1" dirty="0"/>
              <a:t>综合举例</a:t>
            </a:r>
            <a:endParaRPr kumimoji="1" lang="en-US" altLang="zh-CN" sz="4000" b="1" dirty="0"/>
          </a:p>
        </p:txBody>
      </p:sp>
    </p:spTree>
    <p:extLst>
      <p:ext uri="{BB962C8B-B14F-4D97-AF65-F5344CB8AC3E}">
        <p14:creationId xmlns:p14="http://schemas.microsoft.com/office/powerpoint/2010/main" val="1830787255"/>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464771">
                                            <p:txEl>
                                              <p:pRg st="3" end="3"/>
                                            </p:txEl>
                                          </p:spTgt>
                                        </p:tgtEl>
                                        <p:attrNameLst>
                                          <p:attrName>style.visibility</p:attrName>
                                        </p:attrNameLst>
                                      </p:cBhvr>
                                      <p:to>
                                        <p:strVal val="visible"/>
                                      </p:to>
                                    </p:set>
                                    <p:animEffect transition="in" filter="wipe(down)">
                                      <p:cBhvr>
                                        <p:cTn id="7" dur="500"/>
                                        <p:tgtEl>
                                          <p:spTgt spid="2464771">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464771">
                                            <p:txEl>
                                              <p:pRg st="4" end="4"/>
                                            </p:txEl>
                                          </p:spTgt>
                                        </p:tgtEl>
                                        <p:attrNameLst>
                                          <p:attrName>style.visibility</p:attrName>
                                        </p:attrNameLst>
                                      </p:cBhvr>
                                      <p:to>
                                        <p:strVal val="visible"/>
                                      </p:to>
                                    </p:set>
                                    <p:animEffect transition="in" filter="wipe(down)">
                                      <p:cBhvr>
                                        <p:cTn id="10" dur="500"/>
                                        <p:tgtEl>
                                          <p:spTgt spid="2464771">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464771">
                                            <p:txEl>
                                              <p:pRg st="5" end="5"/>
                                            </p:txEl>
                                          </p:spTgt>
                                        </p:tgtEl>
                                        <p:attrNameLst>
                                          <p:attrName>style.visibility</p:attrName>
                                        </p:attrNameLst>
                                      </p:cBhvr>
                                      <p:to>
                                        <p:strVal val="visible"/>
                                      </p:to>
                                    </p:set>
                                    <p:animEffect transition="in" filter="wipe(down)">
                                      <p:cBhvr>
                                        <p:cTn id="13" dur="500"/>
                                        <p:tgtEl>
                                          <p:spTgt spid="2464771">
                                            <p:txEl>
                                              <p:pRg st="5" end="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464771">
                                            <p:txEl>
                                              <p:pRg st="6" end="6"/>
                                            </p:txEl>
                                          </p:spTgt>
                                        </p:tgtEl>
                                        <p:attrNameLst>
                                          <p:attrName>style.visibility</p:attrName>
                                        </p:attrNameLst>
                                      </p:cBhvr>
                                      <p:to>
                                        <p:strVal val="visible"/>
                                      </p:to>
                                    </p:set>
                                    <p:animEffect transition="in" filter="wipe(down)">
                                      <p:cBhvr>
                                        <p:cTn id="16" dur="500"/>
                                        <p:tgtEl>
                                          <p:spTgt spid="24647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en-US" altLang="zh-CN" smtClean="0"/>
              <a:t>3. </a:t>
            </a:r>
            <a:r>
              <a:rPr lang="zh-CN" altLang="en-US" smtClean="0"/>
              <a:t>增量式索引分配</a:t>
            </a:r>
          </a:p>
        </p:txBody>
      </p:sp>
      <p:sp>
        <p:nvSpPr>
          <p:cNvPr id="3" name="内容占位符 2"/>
          <p:cNvSpPr>
            <a:spLocks noGrp="1"/>
          </p:cNvSpPr>
          <p:nvPr>
            <p:ph idx="1"/>
          </p:nvPr>
        </p:nvSpPr>
        <p:spPr/>
        <p:txBody>
          <a:bodyPr/>
          <a:lstStyle/>
          <a:p>
            <a:pPr>
              <a:defRPr/>
            </a:pPr>
            <a:r>
              <a:rPr lang="en-US" altLang="zh-CN" dirty="0" smtClean="0"/>
              <a:t>UNIX </a:t>
            </a:r>
            <a:r>
              <a:rPr lang="en-US" altLang="zh-CN" dirty="0"/>
              <a:t>System V</a:t>
            </a:r>
            <a:r>
              <a:rPr lang="zh-CN" altLang="en-US" dirty="0"/>
              <a:t>的组织</a:t>
            </a:r>
            <a:r>
              <a:rPr lang="zh-CN" altLang="en-US" dirty="0" smtClean="0"/>
              <a:t>方式</a:t>
            </a:r>
            <a:endParaRPr lang="en-US" altLang="zh-CN" dirty="0" smtClean="0"/>
          </a:p>
          <a:p>
            <a:pPr lvl="1">
              <a:defRPr/>
            </a:pPr>
            <a:r>
              <a:rPr lang="zh-CN" altLang="en-US" dirty="0" smtClean="0"/>
              <a:t>在</a:t>
            </a:r>
            <a:r>
              <a:rPr lang="en-US" altLang="zh-CN" dirty="0"/>
              <a:t>UNIX System V</a:t>
            </a:r>
            <a:r>
              <a:rPr lang="zh-CN" altLang="en-US" dirty="0"/>
              <a:t>的索引结点中设有</a:t>
            </a:r>
            <a:r>
              <a:rPr lang="en-US" altLang="zh-CN" dirty="0"/>
              <a:t>13</a:t>
            </a:r>
            <a:r>
              <a:rPr lang="zh-CN" altLang="en-US" dirty="0"/>
              <a:t>个地址项，即</a:t>
            </a:r>
            <a:r>
              <a:rPr lang="en-US" altLang="zh-CN" dirty="0" err="1"/>
              <a:t>i.addr</a:t>
            </a:r>
            <a:r>
              <a:rPr lang="en-US" altLang="zh-CN" dirty="0"/>
              <a:t>(0)</a:t>
            </a:r>
            <a:r>
              <a:rPr lang="zh-CN" altLang="en-US" dirty="0"/>
              <a:t>～</a:t>
            </a:r>
            <a:r>
              <a:rPr lang="en-US" altLang="zh-CN" dirty="0" err="1"/>
              <a:t>i.addr</a:t>
            </a:r>
            <a:r>
              <a:rPr lang="en-US" altLang="zh-CN" dirty="0"/>
              <a:t>(12</a:t>
            </a:r>
            <a:r>
              <a:rPr lang="en-US" altLang="zh-CN" dirty="0" smtClean="0"/>
              <a:t>)</a:t>
            </a:r>
            <a:r>
              <a:rPr lang="zh-CN" altLang="en-US" dirty="0" smtClean="0"/>
              <a:t> </a:t>
            </a:r>
            <a:r>
              <a:rPr lang="zh-CN" altLang="en-US" sz="2400" dirty="0" smtClean="0"/>
              <a:t>。</a:t>
            </a:r>
            <a:r>
              <a:rPr lang="zh-CN" altLang="en-US" dirty="0"/>
              <a:t/>
            </a:r>
            <a:br>
              <a:rPr lang="zh-CN" altLang="en-US" dirty="0"/>
            </a:br>
            <a:r>
              <a:rPr lang="zh-CN" altLang="en-US" dirty="0"/>
              <a:t>　　</a:t>
            </a:r>
            <a:r>
              <a:rPr lang="en-US" altLang="zh-CN" dirty="0"/>
              <a:t>(1) </a:t>
            </a:r>
            <a:r>
              <a:rPr lang="zh-CN" altLang="en-US" dirty="0" smtClean="0"/>
              <a:t>直接地址  </a:t>
            </a:r>
            <a:r>
              <a:rPr lang="en-US" altLang="zh-CN" dirty="0" smtClean="0"/>
              <a:t>direct blocks</a:t>
            </a:r>
            <a:r>
              <a:rPr lang="zh-CN" altLang="en-US" dirty="0"/>
              <a:t/>
            </a:r>
            <a:br>
              <a:rPr lang="zh-CN" altLang="en-US" dirty="0"/>
            </a:br>
            <a:r>
              <a:rPr lang="zh-CN" altLang="en-US" dirty="0"/>
              <a:t>　　</a:t>
            </a:r>
            <a:r>
              <a:rPr lang="en-US" altLang="zh-CN" dirty="0"/>
              <a:t>(2) </a:t>
            </a:r>
            <a:r>
              <a:rPr lang="zh-CN" altLang="en-US" dirty="0"/>
              <a:t>一次</a:t>
            </a:r>
            <a:r>
              <a:rPr lang="zh-CN" altLang="en-US" dirty="0" smtClean="0"/>
              <a:t>间接地址  </a:t>
            </a:r>
            <a:r>
              <a:rPr lang="en-US" altLang="zh-CN" dirty="0" smtClean="0"/>
              <a:t>single indirect</a:t>
            </a:r>
            <a:r>
              <a:rPr lang="zh-CN" altLang="en-US" dirty="0"/>
              <a:t/>
            </a:r>
            <a:br>
              <a:rPr lang="zh-CN" altLang="en-US" dirty="0"/>
            </a:br>
            <a:r>
              <a:rPr lang="zh-CN" altLang="en-US" dirty="0"/>
              <a:t>　　</a:t>
            </a:r>
            <a:r>
              <a:rPr lang="en-US" altLang="zh-CN" dirty="0"/>
              <a:t>(3) </a:t>
            </a:r>
            <a:r>
              <a:rPr lang="zh-CN" altLang="en-US" dirty="0"/>
              <a:t>多次</a:t>
            </a:r>
            <a:r>
              <a:rPr lang="zh-CN" altLang="en-US" dirty="0" smtClean="0"/>
              <a:t>间接地址  </a:t>
            </a:r>
            <a:endParaRPr lang="en-US" altLang="zh-CN" dirty="0" smtClean="0"/>
          </a:p>
          <a:p>
            <a:pPr marL="457200" lvl="1" indent="0">
              <a:buFont typeface="Wingdings" panose="05000000000000000000" pitchFamily="2" charset="2"/>
              <a:buNone/>
              <a:defRPr/>
            </a:pPr>
            <a:r>
              <a:rPr lang="en-US" altLang="zh-CN" dirty="0" smtClean="0"/>
              <a:t>                double indirect or triple indirect</a:t>
            </a:r>
            <a:endParaRPr lang="zh-CN" altLang="en-US" dirty="0"/>
          </a:p>
        </p:txBody>
      </p:sp>
    </p:spTree>
    <p:extLst>
      <p:ext uri="{BB962C8B-B14F-4D97-AF65-F5344CB8AC3E}">
        <p14:creationId xmlns:p14="http://schemas.microsoft.com/office/powerpoint/2010/main" val="15617977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smtClean="0"/>
              <a:t>混合索引方式</a:t>
            </a:r>
            <a:endParaRPr lang="zh-CN" altLang="zh-CN" smtClean="0"/>
          </a:p>
        </p:txBody>
      </p:sp>
      <p:pic>
        <p:nvPicPr>
          <p:cNvPr id="57347" name="Picture 4" descr="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628775"/>
            <a:ext cx="7834312"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1209675" y="6308725"/>
            <a:ext cx="1295400" cy="433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dirty="0">
                <a:solidFill>
                  <a:schemeClr val="tx1">
                    <a:lumMod val="85000"/>
                    <a:lumOff val="15000"/>
                  </a:schemeClr>
                </a:solidFill>
              </a:rPr>
              <a:t>FCB</a:t>
            </a:r>
            <a:endParaRPr lang="zh-CN" altLang="en-US" sz="1600" dirty="0">
              <a:solidFill>
                <a:schemeClr val="tx1">
                  <a:lumMod val="85000"/>
                  <a:lumOff val="15000"/>
                </a:schemeClr>
              </a:solidFill>
            </a:endParaRPr>
          </a:p>
        </p:txBody>
      </p:sp>
      <p:sp>
        <p:nvSpPr>
          <p:cNvPr id="3" name="矩形 2"/>
          <p:cNvSpPr/>
          <p:nvPr/>
        </p:nvSpPr>
        <p:spPr>
          <a:xfrm>
            <a:off x="1403350" y="4941888"/>
            <a:ext cx="936625"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Times New Roman" panose="02020603050405020304" pitchFamily="18" charset="0"/>
                <a:cs typeface="Times New Roman" panose="02020603050405020304" pitchFamily="18" charset="0"/>
              </a:rPr>
              <a:t>i.addr (9)</a:t>
            </a:r>
            <a:endParaRPr lang="zh-CN" altLang="en-US" sz="14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6" name="矩形 5"/>
          <p:cNvSpPr/>
          <p:nvPr/>
        </p:nvSpPr>
        <p:spPr>
          <a:xfrm>
            <a:off x="1209675" y="5229225"/>
            <a:ext cx="1258888" cy="287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400"/>
              </a:lnSpc>
              <a:defRPr/>
            </a:pPr>
            <a:r>
              <a:rPr lang="en-US" altLang="zh-CN" sz="1400" dirty="0">
                <a:solidFill>
                  <a:schemeClr val="tx1">
                    <a:lumMod val="85000"/>
                    <a:lumOff val="15000"/>
                  </a:schemeClr>
                </a:solidFill>
                <a:latin typeface="Times New Roman" panose="02020603050405020304" pitchFamily="18" charset="0"/>
                <a:cs typeface="Times New Roman" panose="02020603050405020304" pitchFamily="18" charset="0"/>
              </a:rPr>
              <a:t>i.addr (10) single indirect</a:t>
            </a:r>
            <a:endParaRPr lang="zh-CN" altLang="en-US" sz="14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7" name="矩形 6"/>
          <p:cNvSpPr/>
          <p:nvPr/>
        </p:nvSpPr>
        <p:spPr>
          <a:xfrm>
            <a:off x="1209675" y="5589588"/>
            <a:ext cx="1258888" cy="287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400"/>
              </a:lnSpc>
              <a:defRPr/>
            </a:pPr>
            <a:r>
              <a:rPr lang="en-US" altLang="zh-CN" sz="1400" dirty="0">
                <a:solidFill>
                  <a:schemeClr val="tx1">
                    <a:lumMod val="85000"/>
                    <a:lumOff val="15000"/>
                  </a:schemeClr>
                </a:solidFill>
                <a:latin typeface="Times New Roman" panose="02020603050405020304" pitchFamily="18" charset="0"/>
                <a:cs typeface="Times New Roman" panose="02020603050405020304" pitchFamily="18" charset="0"/>
              </a:rPr>
              <a:t>i.addr (11) double indirect</a:t>
            </a:r>
            <a:endParaRPr lang="zh-CN" altLang="en-US" sz="14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8" name="矩形 7"/>
          <p:cNvSpPr/>
          <p:nvPr/>
        </p:nvSpPr>
        <p:spPr>
          <a:xfrm>
            <a:off x="1246188" y="6021388"/>
            <a:ext cx="1258887" cy="287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400"/>
              </a:lnSpc>
              <a:defRPr/>
            </a:pPr>
            <a:r>
              <a:rPr lang="en-US" altLang="zh-CN" sz="1400" dirty="0">
                <a:solidFill>
                  <a:schemeClr val="tx1">
                    <a:lumMod val="85000"/>
                    <a:lumOff val="15000"/>
                  </a:schemeClr>
                </a:solidFill>
                <a:latin typeface="Times New Roman" panose="02020603050405020304" pitchFamily="18" charset="0"/>
                <a:cs typeface="Times New Roman" panose="02020603050405020304" pitchFamily="18" charset="0"/>
              </a:rPr>
              <a:t>i.addr (12) triple indirect</a:t>
            </a:r>
            <a:endParaRPr lang="zh-CN" altLang="en-US" sz="14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4" name="线形标注 1 3"/>
          <p:cNvSpPr/>
          <p:nvPr/>
        </p:nvSpPr>
        <p:spPr>
          <a:xfrm>
            <a:off x="5939830" y="1196752"/>
            <a:ext cx="2880320" cy="1368177"/>
          </a:xfrm>
          <a:prstGeom prst="borderCallout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zh-CN" altLang="en-US" dirty="0" smtClean="0"/>
              <a:t>存放文件数据所在盘块的盘块号。如果盘块大小为</a:t>
            </a:r>
            <a:r>
              <a:rPr lang="en-US" altLang="zh-CN" dirty="0" smtClean="0"/>
              <a:t>4K</a:t>
            </a:r>
            <a:r>
              <a:rPr lang="zh-CN" altLang="en-US" dirty="0" smtClean="0"/>
              <a:t>，大小小于</a:t>
            </a:r>
            <a:r>
              <a:rPr lang="en-US" altLang="zh-CN" dirty="0" smtClean="0"/>
              <a:t>40K</a:t>
            </a:r>
            <a:r>
              <a:rPr lang="zh-CN" altLang="en-US" dirty="0" smtClean="0"/>
              <a:t>时，可直接读取文件</a:t>
            </a:r>
            <a:endParaRPr lang="zh-CN" altLang="en-US" dirty="0"/>
          </a:p>
        </p:txBody>
      </p:sp>
      <p:sp>
        <p:nvSpPr>
          <p:cNvPr id="5" name="线形标注 1 4"/>
          <p:cNvSpPr/>
          <p:nvPr/>
        </p:nvSpPr>
        <p:spPr>
          <a:xfrm>
            <a:off x="6526238" y="3698961"/>
            <a:ext cx="2160562" cy="828501"/>
          </a:xfrm>
          <a:prstGeom prst="borderCallout1">
            <a:avLst>
              <a:gd name="adj1" fmla="val 18750"/>
              <a:gd name="adj2" fmla="val -8333"/>
              <a:gd name="adj3" fmla="val 153888"/>
              <a:gd name="adj4" fmla="val -43216"/>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一级索引分配。</a:t>
            </a:r>
            <a:endParaRPr lang="en-US" altLang="zh-CN" dirty="0" smtClean="0"/>
          </a:p>
          <a:p>
            <a:pPr algn="ctr"/>
            <a:r>
              <a:rPr lang="zh-CN" altLang="en-US" dirty="0" smtClean="0"/>
              <a:t>可存放</a:t>
            </a:r>
            <a:r>
              <a:rPr lang="en-US" altLang="zh-CN" dirty="0" smtClean="0"/>
              <a:t>1K</a:t>
            </a:r>
            <a:r>
              <a:rPr lang="zh-CN" altLang="en-US" dirty="0" smtClean="0"/>
              <a:t>个盘块，允许文件长达</a:t>
            </a:r>
            <a:r>
              <a:rPr lang="en-US" altLang="zh-CN" dirty="0" smtClean="0"/>
              <a:t>4MB</a:t>
            </a:r>
            <a:r>
              <a:rPr lang="zh-CN" altLang="en-US" dirty="0" smtClean="0"/>
              <a:t>。</a:t>
            </a:r>
            <a:endParaRPr lang="zh-CN" altLang="en-US" dirty="0"/>
          </a:p>
        </p:txBody>
      </p:sp>
      <p:sp>
        <p:nvSpPr>
          <p:cNvPr id="9" name="线形标注 1 8"/>
          <p:cNvSpPr/>
          <p:nvPr/>
        </p:nvSpPr>
        <p:spPr>
          <a:xfrm>
            <a:off x="3671900" y="6016352"/>
            <a:ext cx="2412268" cy="792435"/>
          </a:xfrm>
          <a:prstGeom prst="borderCallout1">
            <a:avLst>
              <a:gd name="adj1" fmla="val 18750"/>
              <a:gd name="adj2" fmla="val -8333"/>
              <a:gd name="adj3" fmla="val -76120"/>
              <a:gd name="adj4" fmla="val 146284"/>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smtClean="0"/>
              <a:t>相当于两级索引分配方式。文件最大长度可达</a:t>
            </a:r>
            <a:r>
              <a:rPr lang="en-US" altLang="zh-CN" dirty="0" smtClean="0"/>
              <a:t>4GB</a:t>
            </a:r>
            <a:r>
              <a:rPr lang="zh-CN" altLang="en-US" dirty="0" smtClean="0"/>
              <a:t>。</a:t>
            </a:r>
            <a:endParaRPr lang="zh-CN" altLang="en-US" dirty="0"/>
          </a:p>
        </p:txBody>
      </p:sp>
    </p:spTree>
    <p:extLst>
      <p:ext uri="{BB962C8B-B14F-4D97-AF65-F5344CB8AC3E}">
        <p14:creationId xmlns:p14="http://schemas.microsoft.com/office/powerpoint/2010/main" val="13707475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Rectangle 2"/>
          <p:cNvSpPr>
            <a:spLocks noGrp="1" noChangeArrowheads="1"/>
          </p:cNvSpPr>
          <p:nvPr>
            <p:ph type="title" idx="4294967295"/>
          </p:nvPr>
        </p:nvSpPr>
        <p:spPr>
          <a:xfrm>
            <a:off x="0" y="457200"/>
            <a:ext cx="8467725" cy="1066800"/>
          </a:xfrm>
        </p:spPr>
        <p:txBody>
          <a:bodyPr/>
          <a:lstStyle/>
          <a:p>
            <a:r>
              <a:rPr lang="en-US" altLang="zh-CN" sz="4000" b="1" dirty="0" smtClean="0">
                <a:solidFill>
                  <a:srgbClr val="FF0000"/>
                </a:solidFill>
                <a:latin typeface="宋体" pitchFamily="2" charset="-122"/>
              </a:rPr>
              <a:t>8.1.4 FAT</a:t>
            </a:r>
            <a:r>
              <a:rPr lang="zh-CN" altLang="en-US" sz="4000" b="1" dirty="0" smtClean="0">
                <a:solidFill>
                  <a:srgbClr val="FF0000"/>
                </a:solidFill>
                <a:latin typeface="宋体" pitchFamily="2" charset="-122"/>
              </a:rPr>
              <a:t>文件系统、</a:t>
            </a:r>
            <a:r>
              <a:rPr lang="en-US" altLang="zh-CN" sz="4000" b="1" dirty="0" smtClean="0">
                <a:solidFill>
                  <a:srgbClr val="FF0000"/>
                </a:solidFill>
                <a:latin typeface="宋体" pitchFamily="2" charset="-122"/>
              </a:rPr>
              <a:t>NTFS</a:t>
            </a:r>
            <a:r>
              <a:rPr lang="zh-CN" altLang="en-US" sz="4000" b="1" dirty="0" smtClean="0">
                <a:solidFill>
                  <a:srgbClr val="FF0000"/>
                </a:solidFill>
                <a:latin typeface="宋体" pitchFamily="2" charset="-122"/>
              </a:rPr>
              <a:t>文件系统</a:t>
            </a:r>
            <a:endParaRPr lang="zh-CN" altLang="en-US" sz="4000" b="1" dirty="0" smtClean="0">
              <a:solidFill>
                <a:srgbClr val="FF0000"/>
              </a:solidFill>
            </a:endParaRPr>
          </a:p>
        </p:txBody>
      </p:sp>
      <p:sp>
        <p:nvSpPr>
          <p:cNvPr id="101379" name="Rectangle 3"/>
          <p:cNvSpPr>
            <a:spLocks noGrp="1" noChangeArrowheads="1"/>
          </p:cNvSpPr>
          <p:nvPr>
            <p:ph type="body" idx="4294967295"/>
          </p:nvPr>
        </p:nvSpPr>
        <p:spPr>
          <a:xfrm>
            <a:off x="495328" y="1571625"/>
            <a:ext cx="8077200" cy="4498975"/>
          </a:xfrm>
        </p:spPr>
        <p:txBody>
          <a:bodyPr>
            <a:normAutofit lnSpcReduction="10000"/>
          </a:bodyPr>
          <a:lstStyle/>
          <a:p>
            <a:pPr>
              <a:buFont typeface="Wingdings" pitchFamily="2" charset="2"/>
              <a:buNone/>
            </a:pPr>
            <a:r>
              <a:rPr lang="en-US" altLang="zh-CN" b="1" dirty="0" smtClean="0">
                <a:solidFill>
                  <a:srgbClr val="FF0000"/>
                </a:solidFill>
                <a:latin typeface="宋体" pitchFamily="2" charset="-122"/>
              </a:rPr>
              <a:t>1</a:t>
            </a:r>
            <a:r>
              <a:rPr lang="zh-CN" altLang="en-US" b="1" dirty="0" smtClean="0">
                <a:solidFill>
                  <a:srgbClr val="FF0000"/>
                </a:solidFill>
                <a:latin typeface="宋体" pitchFamily="2" charset="-122"/>
              </a:rPr>
              <a:t>．磁盘卷</a:t>
            </a:r>
            <a:endParaRPr lang="zh-CN" altLang="en-US" dirty="0" smtClean="0">
              <a:solidFill>
                <a:srgbClr val="FF0000"/>
              </a:solidFill>
            </a:endParaRPr>
          </a:p>
          <a:p>
            <a:r>
              <a:rPr lang="zh-CN" altLang="en-US" sz="2800" b="1" dirty="0" smtClean="0">
                <a:solidFill>
                  <a:srgbClr val="0070C0"/>
                </a:solidFill>
                <a:latin typeface="宋体" pitchFamily="2" charset="-122"/>
              </a:rPr>
              <a:t>在</a:t>
            </a:r>
            <a:r>
              <a:rPr lang="en-US" altLang="zh-CN" sz="2800" b="1" dirty="0" smtClean="0">
                <a:solidFill>
                  <a:srgbClr val="0070C0"/>
                </a:solidFill>
                <a:latin typeface="宋体" pitchFamily="2" charset="-122"/>
              </a:rPr>
              <a:t>FAT</a:t>
            </a:r>
            <a:r>
              <a:rPr lang="zh-CN" altLang="en-US" sz="2800" b="1" dirty="0" smtClean="0">
                <a:solidFill>
                  <a:srgbClr val="0070C0"/>
                </a:solidFill>
                <a:latin typeface="宋体" pitchFamily="2" charset="-122"/>
              </a:rPr>
              <a:t>文件系统中引入“卷”的概念，作为管理磁盘的最大单位</a:t>
            </a:r>
            <a:r>
              <a:rPr lang="zh-CN" altLang="en-US" sz="2800" b="1" dirty="0" smtClean="0">
                <a:solidFill>
                  <a:srgbClr val="0070C0"/>
                </a:solidFill>
              </a:rPr>
              <a:t> </a:t>
            </a:r>
            <a:r>
              <a:rPr lang="zh-CN" altLang="en-US" sz="2800" b="1" dirty="0" smtClean="0"/>
              <a:t>。</a:t>
            </a:r>
          </a:p>
          <a:p>
            <a:r>
              <a:rPr lang="zh-CN" altLang="en-US" sz="2800" b="1" dirty="0" smtClean="0"/>
              <a:t>将一个物理磁盘分成四个逻辑磁盘，</a:t>
            </a:r>
            <a:r>
              <a:rPr lang="zh-CN" altLang="en-US" sz="2800" b="1" i="1" u="sng" dirty="0" smtClean="0">
                <a:solidFill>
                  <a:srgbClr val="FF0000"/>
                </a:solidFill>
              </a:rPr>
              <a:t>每个逻辑磁盘就是一个卷</a:t>
            </a:r>
            <a:r>
              <a:rPr lang="en-US" altLang="zh-CN" sz="2800" b="1" i="1" u="sng" dirty="0" smtClean="0">
                <a:solidFill>
                  <a:srgbClr val="FF0000"/>
                </a:solidFill>
              </a:rPr>
              <a:t>(</a:t>
            </a:r>
            <a:r>
              <a:rPr lang="zh-CN" altLang="en-US" sz="2800" b="1" i="1" u="sng" dirty="0" smtClean="0">
                <a:solidFill>
                  <a:srgbClr val="FF0000"/>
                </a:solidFill>
              </a:rPr>
              <a:t>也称为分区</a:t>
            </a:r>
            <a:r>
              <a:rPr lang="en-US" altLang="zh-CN" sz="2800" b="1" i="1" u="sng" dirty="0" smtClean="0">
                <a:solidFill>
                  <a:srgbClr val="FF0000"/>
                </a:solidFill>
              </a:rPr>
              <a:t>)</a:t>
            </a:r>
            <a:r>
              <a:rPr lang="zh-CN" altLang="en-US" sz="2800" b="1" dirty="0" smtClean="0"/>
              <a:t>，也就是说每个卷都是一个能够被单独格式化和使用的逻辑单元，供文件系统分配空间时使用。一个卷中包含了文件系统信息、一组文件以及空闲空间</a:t>
            </a:r>
            <a:r>
              <a:rPr lang="en-US" altLang="zh-CN" sz="2800" b="1" dirty="0" smtClean="0"/>
              <a:t>.</a:t>
            </a:r>
          </a:p>
          <a:p>
            <a:r>
              <a:rPr lang="zh-CN" altLang="en-US" sz="2800" b="1" dirty="0" smtClean="0">
                <a:solidFill>
                  <a:srgbClr val="FF0000"/>
                </a:solidFill>
              </a:rPr>
              <a:t>每个卷都专门划出一个单独区域来存放自己的目录和</a:t>
            </a:r>
            <a:r>
              <a:rPr lang="en-US" altLang="zh-CN" sz="2800" b="1" dirty="0" smtClean="0">
                <a:solidFill>
                  <a:srgbClr val="FF0000"/>
                </a:solidFill>
              </a:rPr>
              <a:t>FAT</a:t>
            </a:r>
            <a:r>
              <a:rPr lang="zh-CN" altLang="en-US" sz="2800" b="1" dirty="0" smtClean="0">
                <a:solidFill>
                  <a:srgbClr val="FF0000"/>
                </a:solidFill>
              </a:rPr>
              <a:t>表</a:t>
            </a:r>
            <a:r>
              <a:rPr lang="zh-CN" altLang="en-US" sz="2800" b="1" dirty="0" smtClean="0"/>
              <a:t>，以及自己的逻辑驱动器字母</a:t>
            </a:r>
            <a:r>
              <a:rPr lang="zh-CN" altLang="en-US" dirty="0" smtClean="0"/>
              <a:t>。</a:t>
            </a:r>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fade">
                                      <p:cBhvr>
                                        <p:cTn id="7" dur="2000"/>
                                        <p:tgtEl>
                                          <p:spTgt spid="1013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1379">
                                            <p:txEl>
                                              <p:pRg st="0" end="0"/>
                                            </p:txEl>
                                          </p:spTgt>
                                        </p:tgtEl>
                                        <p:attrNameLst>
                                          <p:attrName>style.visibility</p:attrName>
                                        </p:attrNameLst>
                                      </p:cBhvr>
                                      <p:to>
                                        <p:strVal val="visible"/>
                                      </p:to>
                                    </p:set>
                                    <p:animEffect transition="in" filter="fade">
                                      <p:cBhvr>
                                        <p:cTn id="12" dur="2000"/>
                                        <p:tgtEl>
                                          <p:spTgt spid="1013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1379">
                                            <p:txEl>
                                              <p:pRg st="1" end="1"/>
                                            </p:txEl>
                                          </p:spTgt>
                                        </p:tgtEl>
                                        <p:attrNameLst>
                                          <p:attrName>style.visibility</p:attrName>
                                        </p:attrNameLst>
                                      </p:cBhvr>
                                      <p:to>
                                        <p:strVal val="visible"/>
                                      </p:to>
                                    </p:set>
                                    <p:animEffect transition="in" filter="fade">
                                      <p:cBhvr>
                                        <p:cTn id="17" dur="2000"/>
                                        <p:tgtEl>
                                          <p:spTgt spid="1013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1379">
                                            <p:txEl>
                                              <p:pRg st="2" end="2"/>
                                            </p:txEl>
                                          </p:spTgt>
                                        </p:tgtEl>
                                        <p:attrNameLst>
                                          <p:attrName>style.visibility</p:attrName>
                                        </p:attrNameLst>
                                      </p:cBhvr>
                                      <p:to>
                                        <p:strVal val="visible"/>
                                      </p:to>
                                    </p:set>
                                    <p:animEffect transition="in" filter="fade">
                                      <p:cBhvr>
                                        <p:cTn id="22" dur="2000"/>
                                        <p:tgtEl>
                                          <p:spTgt spid="10137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1379">
                                            <p:txEl>
                                              <p:pRg st="3" end="3"/>
                                            </p:txEl>
                                          </p:spTgt>
                                        </p:tgtEl>
                                        <p:attrNameLst>
                                          <p:attrName>style.visibility</p:attrName>
                                        </p:attrNameLst>
                                      </p:cBhvr>
                                      <p:to>
                                        <p:strVal val="visible"/>
                                      </p:to>
                                    </p:set>
                                    <p:animEffect transition="in" filter="fade">
                                      <p:cBhvr>
                                        <p:cTn id="27" dur="2000"/>
                                        <p:tgtEl>
                                          <p:spTgt spid="1013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utoUpdateAnimBg="0"/>
      <p:bldP spid="101379"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3"/>
          <p:cNvSpPr>
            <a:spLocks noGrp="1" noChangeArrowheads="1"/>
          </p:cNvSpPr>
          <p:nvPr>
            <p:ph type="body" sz="half" idx="4294967295"/>
          </p:nvPr>
        </p:nvSpPr>
        <p:spPr>
          <a:xfrm>
            <a:off x="285752" y="571480"/>
            <a:ext cx="8501090" cy="5286395"/>
          </a:xfrm>
        </p:spPr>
        <p:txBody>
          <a:bodyPr>
            <a:normAutofit lnSpcReduction="10000"/>
          </a:bodyPr>
          <a:lstStyle/>
          <a:p>
            <a:pPr>
              <a:lnSpc>
                <a:spcPct val="90000"/>
              </a:lnSpc>
            </a:pPr>
            <a:r>
              <a:rPr lang="en-US" altLang="zh-CN" sz="4000" b="1" dirty="0" smtClean="0">
                <a:solidFill>
                  <a:srgbClr val="FF0000"/>
                </a:solidFill>
                <a:latin typeface="宋体" pitchFamily="2" charset="-122"/>
              </a:rPr>
              <a:t>2.</a:t>
            </a:r>
            <a:r>
              <a:rPr lang="zh-CN" altLang="en-US" sz="4000" b="1" dirty="0" smtClean="0">
                <a:solidFill>
                  <a:srgbClr val="FF0000"/>
                </a:solidFill>
                <a:latin typeface="宋体" pitchFamily="2" charset="-122"/>
              </a:rPr>
              <a:t>簇</a:t>
            </a:r>
            <a:endParaRPr lang="en-US" altLang="zh-CN" sz="4000" b="1" dirty="0" smtClean="0">
              <a:solidFill>
                <a:srgbClr val="FF0000"/>
              </a:solidFill>
              <a:latin typeface="宋体" pitchFamily="2" charset="-122"/>
            </a:endParaRPr>
          </a:p>
          <a:p>
            <a:pPr>
              <a:lnSpc>
                <a:spcPct val="90000"/>
              </a:lnSpc>
            </a:pPr>
            <a:endParaRPr lang="en-US" sz="4000" b="1" dirty="0" smtClean="0">
              <a:solidFill>
                <a:srgbClr val="FF0000"/>
              </a:solidFill>
              <a:latin typeface="宋体" pitchFamily="2" charset="-122"/>
            </a:endParaRPr>
          </a:p>
          <a:p>
            <a:pPr>
              <a:lnSpc>
                <a:spcPct val="90000"/>
              </a:lnSpc>
            </a:pPr>
            <a:r>
              <a:rPr lang="en-US" altLang="zh-CN" sz="2800" b="1" dirty="0" smtClean="0">
                <a:solidFill>
                  <a:srgbClr val="FF0000"/>
                </a:solidFill>
                <a:latin typeface="宋体" pitchFamily="2" charset="-122"/>
              </a:rPr>
              <a:t>FAT</a:t>
            </a:r>
            <a:r>
              <a:rPr lang="zh-CN" altLang="en-US" sz="2800" b="1" dirty="0" smtClean="0">
                <a:solidFill>
                  <a:srgbClr val="FF0000"/>
                </a:solidFill>
                <a:latin typeface="宋体" pitchFamily="2" charset="-122"/>
              </a:rPr>
              <a:t>文件系统格式化的盘卷以簇为单位</a:t>
            </a:r>
            <a:r>
              <a:rPr lang="zh-CN" altLang="en-US" sz="2800" b="1" dirty="0" smtClean="0">
                <a:latin typeface="宋体" pitchFamily="2" charset="-122"/>
              </a:rPr>
              <a:t>进行分配。</a:t>
            </a:r>
            <a:r>
              <a:rPr lang="zh-CN" altLang="en-US" sz="2800" b="1" dirty="0" smtClean="0"/>
              <a:t> </a:t>
            </a:r>
          </a:p>
          <a:p>
            <a:r>
              <a:rPr lang="zh-CN" altLang="en-US" sz="2800" b="1" dirty="0" smtClean="0">
                <a:latin typeface="宋体" pitchFamily="2" charset="-122"/>
              </a:rPr>
              <a:t>簇的概念</a:t>
            </a:r>
            <a:r>
              <a:rPr lang="zh-CN" altLang="en-US" sz="2800" b="1" dirty="0" smtClean="0"/>
              <a:t> </a:t>
            </a:r>
            <a:r>
              <a:rPr lang="en-US" altLang="zh-CN" sz="2800" b="1" dirty="0" smtClean="0">
                <a:latin typeface="Times New Roman" pitchFamily="18" charset="0"/>
              </a:rPr>
              <a:t>——</a:t>
            </a:r>
            <a:r>
              <a:rPr lang="zh-CN" altLang="en-US" sz="2800" b="1" dirty="0" smtClean="0">
                <a:solidFill>
                  <a:srgbClr val="FF0000"/>
                </a:solidFill>
              </a:rPr>
              <a:t>簇是一组连续的扇区</a:t>
            </a:r>
            <a:r>
              <a:rPr lang="zh-CN" altLang="en-US" sz="2800" b="1" dirty="0" smtClean="0"/>
              <a:t>，在</a:t>
            </a:r>
            <a:r>
              <a:rPr lang="en-US" altLang="zh-CN" sz="2800" b="1" dirty="0" smtClean="0"/>
              <a:t>FAT</a:t>
            </a:r>
            <a:r>
              <a:rPr lang="zh-CN" altLang="en-US" sz="2800" b="1" dirty="0" smtClean="0"/>
              <a:t>中它是作为一个虚拟扇区，簇的大小一般是</a:t>
            </a:r>
            <a:r>
              <a:rPr lang="en-US" altLang="zh-CN" sz="2800" b="1" dirty="0" smtClean="0"/>
              <a:t>2</a:t>
            </a:r>
            <a:r>
              <a:rPr lang="en-US" altLang="zh-CN" sz="2800" b="1" i="1" dirty="0" smtClean="0"/>
              <a:t>n</a:t>
            </a:r>
          </a:p>
          <a:p>
            <a:r>
              <a:rPr lang="en-US" altLang="zh-CN" sz="2800" b="1" dirty="0" smtClean="0"/>
              <a:t>(</a:t>
            </a:r>
            <a:r>
              <a:rPr lang="en-US" altLang="zh-CN" sz="2800" b="1" i="1" dirty="0" smtClean="0"/>
              <a:t>n </a:t>
            </a:r>
            <a:r>
              <a:rPr lang="zh-CN" altLang="en-US" sz="2800" b="1" i="1" dirty="0" smtClean="0"/>
              <a:t>为整数</a:t>
            </a:r>
            <a:r>
              <a:rPr lang="en-US" altLang="zh-CN" sz="2800" b="1" i="1" dirty="0" smtClean="0"/>
              <a:t>)</a:t>
            </a:r>
            <a:r>
              <a:rPr lang="zh-CN" altLang="en-US" sz="2800" b="1" i="1" dirty="0" smtClean="0"/>
              <a:t>个盘块，</a:t>
            </a:r>
            <a:r>
              <a:rPr lang="zh-CN" altLang="en-US" sz="2800" b="1" dirty="0" smtClean="0"/>
              <a:t>在分配磁盘时 以簇为单位进行分配。</a:t>
            </a:r>
            <a:endParaRPr lang="en-US" altLang="zh-CN" sz="2800" b="1" dirty="0" smtClean="0"/>
          </a:p>
          <a:p>
            <a:endParaRPr lang="en-US" sz="2800" b="1" i="1" dirty="0" smtClean="0"/>
          </a:p>
          <a:p>
            <a:r>
              <a:rPr lang="zh-CN" altLang="en-US" sz="2800" b="1" dirty="0" smtClean="0"/>
              <a:t>例如，以</a:t>
            </a:r>
            <a:r>
              <a:rPr lang="en-US" altLang="zh-CN" sz="2800" b="1" dirty="0" smtClean="0"/>
              <a:t>FAT12</a:t>
            </a:r>
            <a:r>
              <a:rPr lang="zh-CN" altLang="en-US" sz="2800" b="1" dirty="0" smtClean="0"/>
              <a:t>为例，当一个簇仅有一个扇区时，磁盘的最大容量为</a:t>
            </a:r>
            <a:r>
              <a:rPr lang="en-US" altLang="zh-CN" sz="2800" b="1" dirty="0" smtClean="0"/>
              <a:t>8 MB</a:t>
            </a:r>
            <a:r>
              <a:rPr lang="zh-CN" altLang="en-US" sz="2800" b="1" dirty="0" smtClean="0"/>
              <a:t>（</a:t>
            </a:r>
            <a:r>
              <a:rPr lang="en-US" altLang="zh-CN" sz="2800" b="1" dirty="0" smtClean="0"/>
              <a:t>4096</a:t>
            </a:r>
            <a:r>
              <a:rPr lang="zh-CN" altLang="en-US" sz="2800" b="1" dirty="0" smtClean="0"/>
              <a:t>*（</a:t>
            </a:r>
            <a:r>
              <a:rPr lang="en-US" altLang="zh-CN" sz="2800" b="1" dirty="0" smtClean="0"/>
              <a:t>512B</a:t>
            </a:r>
            <a:r>
              <a:rPr lang="zh-CN" altLang="en-US" sz="2800" b="1" dirty="0" smtClean="0"/>
              <a:t>）</a:t>
            </a:r>
            <a:r>
              <a:rPr lang="en-US" altLang="zh-CN" sz="2800" b="1" dirty="0" smtClean="0"/>
              <a:t>*4</a:t>
            </a:r>
            <a:r>
              <a:rPr lang="zh-CN" altLang="en-US" sz="2800" b="1" dirty="0" smtClean="0"/>
              <a:t>（个分区））；</a:t>
            </a:r>
          </a:p>
          <a:p>
            <a:endParaRPr lang="zh-CN" altLang="en-US" sz="28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02">
                                            <p:txEl>
                                              <p:pRg st="0" end="0"/>
                                            </p:txEl>
                                          </p:spTgt>
                                        </p:tgtEl>
                                        <p:attrNameLst>
                                          <p:attrName>style.visibility</p:attrName>
                                        </p:attrNameLst>
                                      </p:cBhvr>
                                      <p:to>
                                        <p:strVal val="visible"/>
                                      </p:to>
                                    </p:set>
                                    <p:animEffect transition="in" filter="fade">
                                      <p:cBhvr>
                                        <p:cTn id="7" dur="2000"/>
                                        <p:tgtEl>
                                          <p:spTgt spid="1024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02">
                                            <p:txEl>
                                              <p:pRg st="2" end="2"/>
                                            </p:txEl>
                                          </p:spTgt>
                                        </p:tgtEl>
                                        <p:attrNameLst>
                                          <p:attrName>style.visibility</p:attrName>
                                        </p:attrNameLst>
                                      </p:cBhvr>
                                      <p:to>
                                        <p:strVal val="visible"/>
                                      </p:to>
                                    </p:set>
                                    <p:animEffect transition="in" filter="fade">
                                      <p:cBhvr>
                                        <p:cTn id="12" dur="2000"/>
                                        <p:tgtEl>
                                          <p:spTgt spid="10240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402">
                                            <p:txEl>
                                              <p:pRg st="3" end="3"/>
                                            </p:txEl>
                                          </p:spTgt>
                                        </p:tgtEl>
                                        <p:attrNameLst>
                                          <p:attrName>style.visibility</p:attrName>
                                        </p:attrNameLst>
                                      </p:cBhvr>
                                      <p:to>
                                        <p:strVal val="visible"/>
                                      </p:to>
                                    </p:set>
                                    <p:animEffect transition="in" filter="fade">
                                      <p:cBhvr>
                                        <p:cTn id="17" dur="2000"/>
                                        <p:tgtEl>
                                          <p:spTgt spid="10240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402">
                                            <p:txEl>
                                              <p:pRg st="4" end="4"/>
                                            </p:txEl>
                                          </p:spTgt>
                                        </p:tgtEl>
                                        <p:attrNameLst>
                                          <p:attrName>style.visibility</p:attrName>
                                        </p:attrNameLst>
                                      </p:cBhvr>
                                      <p:to>
                                        <p:strVal val="visible"/>
                                      </p:to>
                                    </p:set>
                                    <p:animEffect transition="in" filter="fade">
                                      <p:cBhvr>
                                        <p:cTn id="22" dur="2000"/>
                                        <p:tgtEl>
                                          <p:spTgt spid="10240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402">
                                            <p:txEl>
                                              <p:pRg st="6" end="6"/>
                                            </p:txEl>
                                          </p:spTgt>
                                        </p:tgtEl>
                                        <p:attrNameLst>
                                          <p:attrName>style.visibility</p:attrName>
                                        </p:attrNameLst>
                                      </p:cBhvr>
                                      <p:to>
                                        <p:strVal val="visible"/>
                                      </p:to>
                                    </p:set>
                                    <p:animEffect transition="in" filter="fade">
                                      <p:cBhvr>
                                        <p:cTn id="27" dur="2000"/>
                                        <p:tgtEl>
                                          <p:spTgt spid="1024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标题 1"/>
          <p:cNvSpPr>
            <a:spLocks noGrp="1"/>
          </p:cNvSpPr>
          <p:nvPr>
            <p:ph type="title" idx="4294967295"/>
          </p:nvPr>
        </p:nvSpPr>
        <p:spPr>
          <a:xfrm>
            <a:off x="0" y="274638"/>
            <a:ext cx="8229600" cy="1143000"/>
          </a:xfrm>
        </p:spPr>
        <p:txBody>
          <a:bodyPr/>
          <a:lstStyle/>
          <a:p>
            <a:r>
              <a:rPr lang="en-US" altLang="zh-CN" b="1" smtClean="0"/>
              <a:t>FAT12</a:t>
            </a:r>
            <a:r>
              <a:rPr lang="zh-CN" altLang="en-US" b="1" smtClean="0"/>
              <a:t>、</a:t>
            </a:r>
            <a:r>
              <a:rPr lang="en-US" altLang="zh-CN" b="1" smtClean="0"/>
              <a:t>FAT16</a:t>
            </a:r>
            <a:endParaRPr lang="zh-CN" altLang="en-US" b="1" smtClean="0"/>
          </a:p>
        </p:txBody>
      </p:sp>
      <p:sp>
        <p:nvSpPr>
          <p:cNvPr id="104451" name="内容占位符 2"/>
          <p:cNvSpPr>
            <a:spLocks noGrp="1"/>
          </p:cNvSpPr>
          <p:nvPr>
            <p:ph idx="4294967295"/>
          </p:nvPr>
        </p:nvSpPr>
        <p:spPr>
          <a:xfrm>
            <a:off x="414366" y="1600200"/>
            <a:ext cx="8229600" cy="4525963"/>
          </a:xfrm>
        </p:spPr>
        <p:txBody>
          <a:bodyPr>
            <a:normAutofit lnSpcReduction="10000"/>
          </a:bodyPr>
          <a:lstStyle/>
          <a:p>
            <a:pPr>
              <a:defRPr/>
            </a:pPr>
            <a:r>
              <a:rPr lang="en-US" b="1" dirty="0" smtClean="0"/>
              <a:t>FAT12</a:t>
            </a:r>
            <a:r>
              <a:rPr lang="zh-CN" altLang="en-US" b="1" dirty="0" smtClean="0"/>
              <a:t>的文件分配表最多有</a:t>
            </a:r>
            <a:r>
              <a:rPr lang="en-US" b="1" dirty="0" smtClean="0"/>
              <a:t>4096</a:t>
            </a:r>
            <a:r>
              <a:rPr lang="zh-CN" altLang="en-US" b="1" dirty="0" smtClean="0"/>
              <a:t>个表项，最多只能将一个磁盘分区分为</a:t>
            </a:r>
            <a:r>
              <a:rPr lang="en-US" b="1" dirty="0" smtClean="0"/>
              <a:t>4096 </a:t>
            </a:r>
            <a:r>
              <a:rPr lang="zh-CN" altLang="en-US" b="1" dirty="0" smtClean="0"/>
              <a:t>个簇。</a:t>
            </a:r>
            <a:endParaRPr lang="en-US" altLang="zh-CN" b="1" dirty="0" smtClean="0"/>
          </a:p>
          <a:p>
            <a:pPr>
              <a:defRPr/>
            </a:pPr>
            <a:endParaRPr lang="zh-CN" altLang="en-US" b="1" dirty="0" smtClean="0"/>
          </a:p>
          <a:p>
            <a:pPr>
              <a:defRPr/>
            </a:pPr>
            <a:r>
              <a:rPr lang="en-US" b="1" dirty="0" smtClean="0"/>
              <a:t>FAT16</a:t>
            </a:r>
            <a:r>
              <a:rPr lang="zh-CN" altLang="en-US" b="1" dirty="0" smtClean="0"/>
              <a:t>最大表项数将增至</a:t>
            </a:r>
            <a:r>
              <a:rPr lang="en-US" b="1" dirty="0" smtClean="0"/>
              <a:t>65536 </a:t>
            </a:r>
            <a:r>
              <a:rPr lang="zh-CN" altLang="en-US" b="1" dirty="0" smtClean="0"/>
              <a:t>（</a:t>
            </a:r>
            <a:r>
              <a:rPr lang="en-US" b="1" dirty="0" smtClean="0"/>
              <a:t>2</a:t>
            </a:r>
            <a:r>
              <a:rPr lang="en-US" b="1" baseline="30000" dirty="0" smtClean="0">
                <a:effectLst>
                  <a:outerShdw blurRad="38100" dist="38100" dir="2700000" algn="tl">
                    <a:srgbClr val="000000"/>
                  </a:outerShdw>
                </a:effectLst>
              </a:rPr>
              <a:t>16</a:t>
            </a:r>
            <a:r>
              <a:rPr lang="zh-CN" altLang="en-US" b="1" dirty="0" smtClean="0"/>
              <a:t>）个，因此一个磁盘分区具有</a:t>
            </a:r>
            <a:r>
              <a:rPr lang="en-US" b="1" dirty="0" smtClean="0"/>
              <a:t>65536</a:t>
            </a:r>
            <a:r>
              <a:rPr lang="zh-CN" altLang="en-US" b="1" dirty="0" smtClean="0"/>
              <a:t>个簇。在</a:t>
            </a:r>
            <a:r>
              <a:rPr lang="en-US" b="1" dirty="0" smtClean="0"/>
              <a:t>FAT16 </a:t>
            </a:r>
            <a:r>
              <a:rPr lang="zh-CN" altLang="en-US" b="1" dirty="0" smtClean="0"/>
              <a:t>的每个簇中可以有的盘块数为</a:t>
            </a:r>
            <a:r>
              <a:rPr lang="en-US" b="1" dirty="0" smtClean="0"/>
              <a:t>4</a:t>
            </a:r>
            <a:r>
              <a:rPr lang="zh-CN" altLang="en-US" b="1" dirty="0" smtClean="0"/>
              <a:t>、</a:t>
            </a:r>
            <a:r>
              <a:rPr lang="en-US" b="1" dirty="0" smtClean="0"/>
              <a:t>8</a:t>
            </a:r>
            <a:r>
              <a:rPr lang="zh-CN" altLang="en-US" b="1" dirty="0" smtClean="0"/>
              <a:t>、</a:t>
            </a:r>
            <a:r>
              <a:rPr lang="en-US" b="1" dirty="0" smtClean="0"/>
              <a:t>16</a:t>
            </a:r>
            <a:r>
              <a:rPr lang="zh-CN" altLang="en-US" b="1" dirty="0" smtClean="0"/>
              <a:t>、</a:t>
            </a:r>
            <a:r>
              <a:rPr lang="en-US" b="1" dirty="0" smtClean="0"/>
              <a:t>32 </a:t>
            </a:r>
            <a:r>
              <a:rPr lang="zh-CN" altLang="en-US" b="1" dirty="0" smtClean="0"/>
              <a:t>直到</a:t>
            </a:r>
            <a:r>
              <a:rPr lang="en-US" b="1" dirty="0" smtClean="0"/>
              <a:t>64</a:t>
            </a:r>
            <a:r>
              <a:rPr lang="zh-CN" altLang="en-US" b="1" dirty="0" smtClean="0"/>
              <a:t>，由此得出</a:t>
            </a:r>
            <a:r>
              <a:rPr lang="en-US" b="1" dirty="0" smtClean="0"/>
              <a:t>FAT16 </a:t>
            </a:r>
            <a:r>
              <a:rPr lang="zh-CN" altLang="en-US" b="1" dirty="0" smtClean="0"/>
              <a:t>可以管理的最大分区空间为</a:t>
            </a:r>
            <a:r>
              <a:rPr lang="en-US" b="1" dirty="0" smtClean="0"/>
              <a:t>2</a:t>
            </a:r>
            <a:r>
              <a:rPr lang="en-US" b="1" baseline="30000" dirty="0" smtClean="0"/>
              <a:t>16</a:t>
            </a:r>
            <a:r>
              <a:rPr lang="en-US" b="1" dirty="0" smtClean="0"/>
              <a:t> × 64 × 512 = 2048 MB</a:t>
            </a:r>
            <a:r>
              <a:rPr lang="zh-CN" altLang="en-US" b="1" dirty="0" smtClean="0"/>
              <a:t>。</a:t>
            </a:r>
          </a:p>
          <a:p>
            <a:pPr>
              <a:defRPr/>
            </a:pPr>
            <a:endParaRPr lang="zh-CN" altLang="en-US" b="1" dirty="0" smtClean="0"/>
          </a:p>
          <a:p>
            <a:pPr>
              <a:defRPr/>
            </a:pPr>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3426"/>
                                        </p:tgtEl>
                                        <p:attrNameLst>
                                          <p:attrName>style.visibility</p:attrName>
                                        </p:attrNameLst>
                                      </p:cBhvr>
                                      <p:to>
                                        <p:strVal val="visible"/>
                                      </p:to>
                                    </p:set>
                                    <p:animEffect transition="in" filter="fade">
                                      <p:cBhvr>
                                        <p:cTn id="7" dur="2000"/>
                                        <p:tgtEl>
                                          <p:spTgt spid="1034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Effect transition="in" filter="fade">
                                      <p:cBhvr>
                                        <p:cTn id="12" dur="2000"/>
                                        <p:tgtEl>
                                          <p:spTgt spid="1044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451">
                                            <p:txEl>
                                              <p:pRg st="2" end="2"/>
                                            </p:txEl>
                                          </p:spTgt>
                                        </p:tgtEl>
                                        <p:attrNameLst>
                                          <p:attrName>style.visibility</p:attrName>
                                        </p:attrNameLst>
                                      </p:cBhvr>
                                      <p:to>
                                        <p:strVal val="visible"/>
                                      </p:to>
                                    </p:set>
                                    <p:animEffect transition="in" filter="fade">
                                      <p:cBhvr>
                                        <p:cTn id="17" dur="2000"/>
                                        <p:tgtEl>
                                          <p:spTgt spid="1044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autoUpdateAnimBg="0"/>
      <p:bldP spid="104451"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标题 1"/>
          <p:cNvSpPr>
            <a:spLocks noGrp="1"/>
          </p:cNvSpPr>
          <p:nvPr>
            <p:ph type="title" idx="4294967295"/>
          </p:nvPr>
        </p:nvSpPr>
        <p:spPr>
          <a:xfrm>
            <a:off x="0" y="71438"/>
            <a:ext cx="8077200" cy="1066800"/>
          </a:xfrm>
        </p:spPr>
        <p:txBody>
          <a:bodyPr/>
          <a:lstStyle/>
          <a:p>
            <a:r>
              <a:rPr lang="zh-CN" altLang="en-US" b="1" smtClean="0"/>
              <a:t>问题</a:t>
            </a:r>
          </a:p>
        </p:txBody>
      </p:sp>
      <p:sp>
        <p:nvSpPr>
          <p:cNvPr id="104451" name="内容占位符 2"/>
          <p:cNvSpPr>
            <a:spLocks noGrp="1"/>
          </p:cNvSpPr>
          <p:nvPr>
            <p:ph idx="4294967295"/>
          </p:nvPr>
        </p:nvSpPr>
        <p:spPr>
          <a:xfrm>
            <a:off x="352452" y="1287463"/>
            <a:ext cx="8434390" cy="4498975"/>
          </a:xfrm>
        </p:spPr>
        <p:txBody>
          <a:bodyPr>
            <a:normAutofit lnSpcReduction="10000"/>
          </a:bodyPr>
          <a:lstStyle/>
          <a:p>
            <a:r>
              <a:rPr lang="zh-CN" altLang="en-US" b="1" dirty="0" smtClean="0"/>
              <a:t>当磁盘容量迅速增加时，如果再继续使用</a:t>
            </a:r>
            <a:r>
              <a:rPr lang="en-US" altLang="zh-CN" b="1" dirty="0" smtClean="0"/>
              <a:t>FAT16</a:t>
            </a:r>
            <a:r>
              <a:rPr lang="zh-CN" altLang="en-US" b="1" dirty="0" smtClean="0"/>
              <a:t>，由此所形成的簇内碎片所造成的浪费也越大。</a:t>
            </a:r>
            <a:endParaRPr lang="en-US" b="1" dirty="0" smtClean="0"/>
          </a:p>
          <a:p>
            <a:r>
              <a:rPr lang="zh-CN" altLang="en-US" b="1" dirty="0" smtClean="0"/>
              <a:t>例如，当要求磁盘分区的大小为</a:t>
            </a:r>
            <a:r>
              <a:rPr lang="en-US" altLang="zh-CN" b="1" dirty="0" smtClean="0"/>
              <a:t>8 GB</a:t>
            </a:r>
            <a:r>
              <a:rPr lang="zh-CN" altLang="en-US" b="1" dirty="0" smtClean="0"/>
              <a:t>时，则每个簇的大小达到</a:t>
            </a:r>
            <a:r>
              <a:rPr lang="en-US" altLang="zh-CN" b="1" dirty="0" smtClean="0"/>
              <a:t>128 KB</a:t>
            </a:r>
            <a:r>
              <a:rPr lang="zh-CN" altLang="en-US" b="1" dirty="0" smtClean="0"/>
              <a:t>，这意味着内部零头最大可达到</a:t>
            </a:r>
            <a:r>
              <a:rPr lang="en-US" altLang="zh-CN" b="1" dirty="0" smtClean="0"/>
              <a:t>128 KB</a:t>
            </a:r>
            <a:r>
              <a:rPr lang="zh-CN" altLang="en-US" b="1" dirty="0" smtClean="0"/>
              <a:t>。</a:t>
            </a:r>
            <a:endParaRPr lang="en-US" b="1" dirty="0" smtClean="0"/>
          </a:p>
          <a:p>
            <a:r>
              <a:rPr lang="zh-CN" altLang="en-US" b="1" dirty="0" smtClean="0"/>
              <a:t>。一般而言，对于</a:t>
            </a:r>
            <a:r>
              <a:rPr lang="en-US" altLang="zh-CN" b="1" dirty="0" smtClean="0"/>
              <a:t>1</a:t>
            </a:r>
            <a:r>
              <a:rPr lang="zh-CN" altLang="en-US" b="1" dirty="0" smtClean="0"/>
              <a:t>～</a:t>
            </a:r>
            <a:r>
              <a:rPr lang="en-US" altLang="zh-CN" b="1" dirty="0" smtClean="0"/>
              <a:t>4 GB</a:t>
            </a:r>
            <a:r>
              <a:rPr lang="zh-CN" altLang="en-US" b="1" dirty="0" smtClean="0"/>
              <a:t>的硬盘来说，大约会浪费</a:t>
            </a:r>
            <a:r>
              <a:rPr lang="en-US" altLang="zh-CN" b="1" dirty="0" smtClean="0"/>
              <a:t>10</a:t>
            </a:r>
            <a:r>
              <a:rPr lang="zh-CN" altLang="en-US" b="1" dirty="0" smtClean="0"/>
              <a:t>％～</a:t>
            </a:r>
            <a:r>
              <a:rPr lang="en-US" altLang="zh-CN" b="1" dirty="0" smtClean="0"/>
              <a:t>20</a:t>
            </a:r>
            <a:r>
              <a:rPr lang="zh-CN" altLang="en-US" b="1" dirty="0" smtClean="0"/>
              <a:t>％的空间。</a:t>
            </a:r>
            <a:endParaRPr lang="en-US" b="1" dirty="0" smtClean="0"/>
          </a:p>
          <a:p>
            <a:r>
              <a:rPr lang="zh-CN" altLang="en-US" b="1" dirty="0" smtClean="0"/>
              <a:t>为了解决这一问题，微软推出了</a:t>
            </a:r>
            <a:r>
              <a:rPr lang="en-US" altLang="zh-CN" b="1" dirty="0" smtClean="0"/>
              <a:t>FAT32</a:t>
            </a:r>
            <a:r>
              <a:rPr lang="zh-CN" altLang="en-US" b="1" dirty="0" smtClean="0"/>
              <a:t>。</a:t>
            </a:r>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fade">
                                      <p:cBhvr>
                                        <p:cTn id="7" dur="2000"/>
                                        <p:tgtEl>
                                          <p:spTgt spid="1044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Effect transition="in" filter="fade">
                                      <p:cBhvr>
                                        <p:cTn id="12" dur="2000"/>
                                        <p:tgtEl>
                                          <p:spTgt spid="1044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Effect transition="in" filter="fade">
                                      <p:cBhvr>
                                        <p:cTn id="17" dur="2000"/>
                                        <p:tgtEl>
                                          <p:spTgt spid="1044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Effect transition="in" filter="fade">
                                      <p:cBhvr>
                                        <p:cTn id="22" dur="2000"/>
                                        <p:tgtEl>
                                          <p:spTgt spid="10445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Effect transition="in" filter="fade">
                                      <p:cBhvr>
                                        <p:cTn id="27" dur="2000"/>
                                        <p:tgtEl>
                                          <p:spTgt spid="1044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4" name="标题 1"/>
          <p:cNvSpPr>
            <a:spLocks noGrp="1"/>
          </p:cNvSpPr>
          <p:nvPr>
            <p:ph type="title" idx="4294967295"/>
          </p:nvPr>
        </p:nvSpPr>
        <p:spPr>
          <a:xfrm>
            <a:off x="0" y="71438"/>
            <a:ext cx="8077200" cy="1066800"/>
          </a:xfrm>
        </p:spPr>
        <p:txBody>
          <a:bodyPr/>
          <a:lstStyle/>
          <a:p>
            <a:r>
              <a:rPr lang="en-US" altLang="zh-CN" b="1" smtClean="0"/>
              <a:t>FAT32</a:t>
            </a:r>
            <a:endParaRPr lang="zh-CN" altLang="en-US" b="1" smtClean="0"/>
          </a:p>
        </p:txBody>
      </p:sp>
      <p:sp>
        <p:nvSpPr>
          <p:cNvPr id="105475" name="内容占位符 2"/>
          <p:cNvSpPr>
            <a:spLocks noGrp="1"/>
          </p:cNvSpPr>
          <p:nvPr>
            <p:ph idx="4294967295"/>
          </p:nvPr>
        </p:nvSpPr>
        <p:spPr>
          <a:xfrm>
            <a:off x="319114" y="1287463"/>
            <a:ext cx="8539166" cy="4899025"/>
          </a:xfrm>
        </p:spPr>
        <p:txBody>
          <a:bodyPr>
            <a:normAutofit fontScale="92500" lnSpcReduction="10000"/>
          </a:bodyPr>
          <a:lstStyle/>
          <a:p>
            <a:r>
              <a:rPr lang="zh-CN" altLang="en-US" b="1" dirty="0" smtClean="0"/>
              <a:t>为了减少簇内零头，也就应当增加</a:t>
            </a:r>
            <a:r>
              <a:rPr lang="en-US" altLang="zh-CN" b="1" dirty="0" smtClean="0"/>
              <a:t>FAT </a:t>
            </a:r>
            <a:r>
              <a:rPr lang="zh-CN" altLang="en-US" b="1" dirty="0" smtClean="0"/>
              <a:t>表的长度，因此从</a:t>
            </a:r>
            <a:r>
              <a:rPr lang="en-US" altLang="zh-CN" b="1" dirty="0" smtClean="0"/>
              <a:t>FAT16</a:t>
            </a:r>
            <a:r>
              <a:rPr lang="zh-CN" altLang="en-US" b="1" dirty="0" smtClean="0"/>
              <a:t>增加到</a:t>
            </a:r>
            <a:r>
              <a:rPr lang="en-US" altLang="zh-CN" b="1" dirty="0" smtClean="0"/>
              <a:t>FAT32</a:t>
            </a:r>
            <a:r>
              <a:rPr lang="zh-CN" altLang="en-US" b="1" dirty="0" smtClean="0"/>
              <a:t>。</a:t>
            </a:r>
            <a:endParaRPr lang="en-US" altLang="zh-CN" b="1" dirty="0" smtClean="0"/>
          </a:p>
          <a:p>
            <a:endParaRPr lang="en-US" b="1" dirty="0" smtClean="0"/>
          </a:p>
          <a:p>
            <a:r>
              <a:rPr lang="en-US" altLang="zh-CN" b="1" dirty="0" smtClean="0"/>
              <a:t>FAT </a:t>
            </a:r>
            <a:r>
              <a:rPr lang="zh-CN" altLang="en-US" b="1" dirty="0" smtClean="0"/>
              <a:t>表可以表示</a:t>
            </a:r>
            <a:r>
              <a:rPr lang="en-US" altLang="zh-CN" b="1" dirty="0" smtClean="0"/>
              <a:t>4 294 967 296</a:t>
            </a:r>
            <a:r>
              <a:rPr lang="zh-CN" altLang="en-US" b="1" dirty="0" smtClean="0"/>
              <a:t>（</a:t>
            </a:r>
            <a:r>
              <a:rPr lang="en-US" altLang="zh-CN" b="1" dirty="0" smtClean="0"/>
              <a:t>2 </a:t>
            </a:r>
            <a:r>
              <a:rPr lang="en-US" altLang="zh-CN" b="1" baseline="30000" dirty="0" smtClean="0"/>
              <a:t>32</a:t>
            </a:r>
            <a:r>
              <a:rPr lang="zh-CN" altLang="en-US" b="1" dirty="0" smtClean="0"/>
              <a:t>）</a:t>
            </a:r>
            <a:r>
              <a:rPr lang="en-US" b="1" dirty="0" smtClean="0"/>
              <a:t> </a:t>
            </a:r>
            <a:r>
              <a:rPr lang="zh-CN" altLang="en-US" b="1" dirty="0" smtClean="0"/>
              <a:t>项</a:t>
            </a:r>
          </a:p>
          <a:p>
            <a:r>
              <a:rPr lang="zh-CN" altLang="en-US" b="1" dirty="0" smtClean="0"/>
              <a:t>这样就允许在</a:t>
            </a:r>
            <a:r>
              <a:rPr lang="en-US" altLang="zh-CN" b="1" dirty="0" smtClean="0"/>
              <a:t>FAT32 </a:t>
            </a:r>
            <a:r>
              <a:rPr lang="zh-CN" altLang="en-US" b="1" dirty="0" smtClean="0"/>
              <a:t>中采用较小的簇，</a:t>
            </a:r>
            <a:r>
              <a:rPr lang="en-US" altLang="zh-CN" b="1" dirty="0" smtClean="0"/>
              <a:t>FAT32 </a:t>
            </a:r>
            <a:r>
              <a:rPr lang="zh-CN" altLang="en-US" b="1" dirty="0" smtClean="0"/>
              <a:t>的每个簇都固定为</a:t>
            </a:r>
            <a:r>
              <a:rPr lang="en-US" altLang="zh-CN" b="1" dirty="0" smtClean="0"/>
              <a:t>4 KB</a:t>
            </a:r>
            <a:r>
              <a:rPr lang="zh-CN" altLang="en-US" b="1" dirty="0" smtClean="0"/>
              <a:t>，即每簇用</a:t>
            </a:r>
            <a:r>
              <a:rPr lang="en-US" altLang="zh-CN" b="1" dirty="0" smtClean="0"/>
              <a:t>8 </a:t>
            </a:r>
            <a:r>
              <a:rPr lang="zh-CN" altLang="en-US" b="1" dirty="0" smtClean="0"/>
              <a:t>个盘块代替</a:t>
            </a:r>
            <a:r>
              <a:rPr lang="en-US" altLang="zh-CN" b="1" dirty="0" smtClean="0"/>
              <a:t>FAT16</a:t>
            </a:r>
            <a:r>
              <a:rPr lang="zh-CN" altLang="en-US" b="1" dirty="0" smtClean="0"/>
              <a:t>的</a:t>
            </a:r>
            <a:r>
              <a:rPr lang="en-US" altLang="zh-CN" b="1" dirty="0" smtClean="0"/>
              <a:t>64 </a:t>
            </a:r>
            <a:r>
              <a:rPr lang="zh-CN" altLang="en-US" b="1" dirty="0" smtClean="0"/>
              <a:t>个盘块，每个盘块仍为</a:t>
            </a:r>
            <a:r>
              <a:rPr lang="en-US" altLang="zh-CN" b="1" dirty="0" smtClean="0"/>
              <a:t>512</a:t>
            </a:r>
            <a:r>
              <a:rPr lang="zh-CN" altLang="en-US" b="1" dirty="0" smtClean="0"/>
              <a:t>字节。</a:t>
            </a:r>
            <a:endParaRPr lang="en-US" altLang="zh-CN" b="1" dirty="0" smtClean="0"/>
          </a:p>
          <a:p>
            <a:endParaRPr lang="en-US" b="1" dirty="0" smtClean="0"/>
          </a:p>
          <a:p>
            <a:r>
              <a:rPr lang="en-US" altLang="zh-CN" b="1" dirty="0" smtClean="0"/>
              <a:t>FAT32 </a:t>
            </a:r>
            <a:r>
              <a:rPr lang="zh-CN" altLang="en-US" b="1" dirty="0" smtClean="0"/>
              <a:t>分区格式可以管理的单个最大磁盘空间大到</a:t>
            </a:r>
            <a:r>
              <a:rPr lang="en-US" altLang="zh-CN" b="1" dirty="0" smtClean="0"/>
              <a:t>4 KB×2</a:t>
            </a:r>
            <a:r>
              <a:rPr lang="en-US" altLang="zh-CN" b="1" baseline="30000" dirty="0" smtClean="0"/>
              <a:t>32 </a:t>
            </a:r>
            <a:r>
              <a:rPr lang="en-US" altLang="zh-CN" b="1" dirty="0" smtClean="0"/>
              <a:t>= 2 TB</a:t>
            </a:r>
            <a:r>
              <a:rPr lang="zh-CN" altLang="en-US" b="1" dirty="0" smtClean="0"/>
              <a:t>。</a:t>
            </a:r>
            <a:endParaRPr lang="en-US" b="1" dirty="0" smtClean="0"/>
          </a:p>
          <a:p>
            <a:endParaRPr lang="zh-CN" altLang="en-US" b="1" dirty="0" smtClean="0"/>
          </a:p>
          <a:p>
            <a:endParaRPr lang="zh-CN" altLang="en-US" b="1" dirty="0" smtClean="0"/>
          </a:p>
          <a:p>
            <a:endParaRPr lang="zh-CN" altLang="en-US" b="1" dirty="0" smtClean="0"/>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5474"/>
                                        </p:tgtEl>
                                        <p:attrNameLst>
                                          <p:attrName>style.visibility</p:attrName>
                                        </p:attrNameLst>
                                      </p:cBhvr>
                                      <p:to>
                                        <p:strVal val="visible"/>
                                      </p:to>
                                    </p:set>
                                    <p:animEffect transition="in" filter="fade">
                                      <p:cBhvr>
                                        <p:cTn id="7" dur="2000"/>
                                        <p:tgtEl>
                                          <p:spTgt spid="1054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5475">
                                            <p:txEl>
                                              <p:pRg st="0" end="0"/>
                                            </p:txEl>
                                          </p:spTgt>
                                        </p:tgtEl>
                                        <p:attrNameLst>
                                          <p:attrName>style.visibility</p:attrName>
                                        </p:attrNameLst>
                                      </p:cBhvr>
                                      <p:to>
                                        <p:strVal val="visible"/>
                                      </p:to>
                                    </p:set>
                                    <p:animEffect transition="in" filter="fade">
                                      <p:cBhvr>
                                        <p:cTn id="12" dur="2000"/>
                                        <p:tgtEl>
                                          <p:spTgt spid="1054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5475">
                                            <p:txEl>
                                              <p:pRg st="2" end="2"/>
                                            </p:txEl>
                                          </p:spTgt>
                                        </p:tgtEl>
                                        <p:attrNameLst>
                                          <p:attrName>style.visibility</p:attrName>
                                        </p:attrNameLst>
                                      </p:cBhvr>
                                      <p:to>
                                        <p:strVal val="visible"/>
                                      </p:to>
                                    </p:set>
                                    <p:animEffect transition="in" filter="fade">
                                      <p:cBhvr>
                                        <p:cTn id="17" dur="2000"/>
                                        <p:tgtEl>
                                          <p:spTgt spid="1054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5475">
                                            <p:txEl>
                                              <p:pRg st="3" end="3"/>
                                            </p:txEl>
                                          </p:spTgt>
                                        </p:tgtEl>
                                        <p:attrNameLst>
                                          <p:attrName>style.visibility</p:attrName>
                                        </p:attrNameLst>
                                      </p:cBhvr>
                                      <p:to>
                                        <p:strVal val="visible"/>
                                      </p:to>
                                    </p:set>
                                    <p:animEffect transition="in" filter="fade">
                                      <p:cBhvr>
                                        <p:cTn id="22" dur="2000"/>
                                        <p:tgtEl>
                                          <p:spTgt spid="1054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5475">
                                            <p:txEl>
                                              <p:pRg st="5" end="5"/>
                                            </p:txEl>
                                          </p:spTgt>
                                        </p:tgtEl>
                                        <p:attrNameLst>
                                          <p:attrName>style.visibility</p:attrName>
                                        </p:attrNameLst>
                                      </p:cBhvr>
                                      <p:to>
                                        <p:strVal val="visible"/>
                                      </p:to>
                                    </p:set>
                                    <p:animEffect transition="in" filter="fade">
                                      <p:cBhvr>
                                        <p:cTn id="27" dur="2000"/>
                                        <p:tgtEl>
                                          <p:spTgt spid="1054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标题 1"/>
          <p:cNvSpPr>
            <a:spLocks noGrp="1"/>
          </p:cNvSpPr>
          <p:nvPr>
            <p:ph type="title" idx="4294967295"/>
          </p:nvPr>
        </p:nvSpPr>
        <p:spPr>
          <a:xfrm>
            <a:off x="0" y="274638"/>
            <a:ext cx="8229600" cy="1143000"/>
          </a:xfrm>
        </p:spPr>
        <p:txBody>
          <a:bodyPr/>
          <a:lstStyle/>
          <a:p>
            <a:r>
              <a:rPr lang="zh-CN" altLang="en-US" b="1" smtClean="0"/>
              <a:t>对比</a:t>
            </a:r>
          </a:p>
        </p:txBody>
      </p:sp>
      <p:sp>
        <p:nvSpPr>
          <p:cNvPr id="106499" name="内容占位符 2"/>
          <p:cNvSpPr>
            <a:spLocks noGrp="1"/>
          </p:cNvSpPr>
          <p:nvPr>
            <p:ph idx="4294967295"/>
          </p:nvPr>
        </p:nvSpPr>
        <p:spPr>
          <a:xfrm>
            <a:off x="0" y="1600200"/>
            <a:ext cx="8229600" cy="4525963"/>
          </a:xfrm>
        </p:spPr>
        <p:txBody>
          <a:bodyPr/>
          <a:lstStyle/>
          <a:p>
            <a:r>
              <a:rPr lang="en-US" altLang="zh-CN" b="1" dirty="0" smtClean="0"/>
              <a:t>FAT32 </a:t>
            </a:r>
            <a:r>
              <a:rPr lang="zh-CN" altLang="en-US" b="1" dirty="0" smtClean="0"/>
              <a:t>比</a:t>
            </a:r>
            <a:r>
              <a:rPr lang="en-US" altLang="zh-CN" b="1" dirty="0" smtClean="0"/>
              <a:t>FAT16 </a:t>
            </a:r>
            <a:r>
              <a:rPr lang="zh-CN" altLang="en-US" b="1" dirty="0" smtClean="0"/>
              <a:t>支持更小的簇和更大的磁盘容量，这就大大减少了磁盘空间的浪费，使得 </a:t>
            </a:r>
            <a:r>
              <a:rPr lang="en-US" altLang="zh-CN" b="1" dirty="0" smtClean="0"/>
              <a:t>FAT32 </a:t>
            </a:r>
            <a:r>
              <a:rPr lang="zh-CN" altLang="en-US" b="1" dirty="0" smtClean="0"/>
              <a:t>分区的空间分配更有效率。</a:t>
            </a:r>
            <a:endParaRPr lang="en-US" altLang="zh-CN" b="1" dirty="0" smtClean="0"/>
          </a:p>
          <a:p>
            <a:endParaRPr lang="en-US" altLang="zh-CN" b="1" dirty="0" smtClean="0"/>
          </a:p>
          <a:p>
            <a:r>
              <a:rPr lang="zh-CN" altLang="en-US" b="1" dirty="0" smtClean="0"/>
              <a:t>但是</a:t>
            </a:r>
            <a:r>
              <a:rPr lang="en-US" altLang="zh-CN" b="1" dirty="0" smtClean="0"/>
              <a:t>FAT 32</a:t>
            </a:r>
            <a:r>
              <a:rPr lang="zh-CN" altLang="en-US" b="1" dirty="0" smtClean="0"/>
              <a:t>要求一个卷至少有</a:t>
            </a:r>
            <a:r>
              <a:rPr lang="en-US" altLang="zh-CN" b="1" dirty="0" smtClean="0"/>
              <a:t>65537</a:t>
            </a:r>
            <a:r>
              <a:rPr lang="zh-CN" altLang="en-US" b="1" dirty="0" smtClean="0"/>
              <a:t>个簇，所以</a:t>
            </a:r>
            <a:r>
              <a:rPr lang="en-US" altLang="zh-CN" b="1" dirty="0" smtClean="0"/>
              <a:t>FAT 32</a:t>
            </a:r>
            <a:r>
              <a:rPr lang="zh-CN" altLang="en-US" b="1" dirty="0" smtClean="0"/>
              <a:t>不支持容量小于 </a:t>
            </a:r>
            <a:r>
              <a:rPr lang="en-US" altLang="zh-CN" b="1" dirty="0" smtClean="0"/>
              <a:t>512MB</a:t>
            </a:r>
            <a:r>
              <a:rPr lang="zh-CN" altLang="en-US" b="1" dirty="0" smtClean="0"/>
              <a:t>的分区。</a:t>
            </a:r>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fade">
                                      <p:cBhvr>
                                        <p:cTn id="7" dur="2000"/>
                                        <p:tgtEl>
                                          <p:spTgt spid="106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6499">
                                            <p:txEl>
                                              <p:pRg st="0" end="0"/>
                                            </p:txEl>
                                          </p:spTgt>
                                        </p:tgtEl>
                                        <p:attrNameLst>
                                          <p:attrName>style.visibility</p:attrName>
                                        </p:attrNameLst>
                                      </p:cBhvr>
                                      <p:to>
                                        <p:strVal val="visible"/>
                                      </p:to>
                                    </p:set>
                                    <p:animEffect transition="in" filter="fade">
                                      <p:cBhvr>
                                        <p:cTn id="12" dur="2000"/>
                                        <p:tgtEl>
                                          <p:spTgt spid="1064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6499">
                                            <p:txEl>
                                              <p:pRg st="2" end="2"/>
                                            </p:txEl>
                                          </p:spTgt>
                                        </p:tgtEl>
                                        <p:attrNameLst>
                                          <p:attrName>style.visibility</p:attrName>
                                        </p:attrNameLst>
                                      </p:cBhvr>
                                      <p:to>
                                        <p:strVal val="visible"/>
                                      </p:to>
                                    </p:set>
                                    <p:animEffect transition="in" filter="fade">
                                      <p:cBhvr>
                                        <p:cTn id="17" dur="2000"/>
                                        <p:tgtEl>
                                          <p:spTgt spid="106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utoUpdateAnimBg="0"/>
      <p:bldP spid="106499"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标题 1"/>
          <p:cNvSpPr>
            <a:spLocks noGrp="1"/>
          </p:cNvSpPr>
          <p:nvPr>
            <p:ph type="title" idx="4294967295"/>
          </p:nvPr>
        </p:nvSpPr>
        <p:spPr>
          <a:xfrm>
            <a:off x="0" y="274638"/>
            <a:ext cx="8229600" cy="1143000"/>
          </a:xfrm>
        </p:spPr>
        <p:txBody>
          <a:bodyPr/>
          <a:lstStyle/>
          <a:p>
            <a:r>
              <a:rPr lang="en-US" altLang="zh-CN" dirty="0" smtClean="0"/>
              <a:t>8.1.4 NTFS</a:t>
            </a:r>
            <a:r>
              <a:rPr lang="zh-CN" altLang="en-US" dirty="0" smtClean="0"/>
              <a:t>的文件组织方式</a:t>
            </a:r>
          </a:p>
        </p:txBody>
      </p:sp>
      <p:sp>
        <p:nvSpPr>
          <p:cNvPr id="107523" name="内容占位符 2"/>
          <p:cNvSpPr>
            <a:spLocks noGrp="1"/>
          </p:cNvSpPr>
          <p:nvPr>
            <p:ph idx="4294967295"/>
          </p:nvPr>
        </p:nvSpPr>
        <p:spPr>
          <a:xfrm>
            <a:off x="0" y="1600200"/>
            <a:ext cx="8229600" cy="4525963"/>
          </a:xfrm>
        </p:spPr>
        <p:txBody>
          <a:bodyPr/>
          <a:lstStyle/>
          <a:p>
            <a:r>
              <a:rPr lang="en-US" altLang="zh-CN" dirty="0" smtClean="0"/>
              <a:t>NTFS(New Technology File System)</a:t>
            </a:r>
            <a:r>
              <a:rPr lang="zh-CN" altLang="en-US" dirty="0" smtClean="0"/>
              <a:t>是一个专门为</a:t>
            </a:r>
            <a:r>
              <a:rPr lang="en-US" altLang="zh-CN" dirty="0" smtClean="0"/>
              <a:t>Windows NT</a:t>
            </a:r>
            <a:r>
              <a:rPr lang="zh-CN" altLang="en-US" dirty="0" smtClean="0"/>
              <a:t>开发的、全新的文件系统，并适用于</a:t>
            </a:r>
            <a:r>
              <a:rPr lang="en-US" altLang="zh-CN" dirty="0" smtClean="0"/>
              <a:t>Windows </a:t>
            </a:r>
            <a:r>
              <a:rPr lang="en-US" altLang="zh-CN" dirty="0" smtClean="0"/>
              <a:t>2000/XP/2003</a:t>
            </a:r>
            <a:r>
              <a:rPr lang="zh-CN" altLang="en-US"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fade">
                                      <p:cBhvr>
                                        <p:cTn id="7" dur="2000"/>
                                        <p:tgtEl>
                                          <p:spTgt spid="1075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7523">
                                            <p:txEl>
                                              <p:pRg st="0" end="0"/>
                                            </p:txEl>
                                          </p:spTgt>
                                        </p:tgtEl>
                                        <p:attrNameLst>
                                          <p:attrName>style.visibility</p:attrName>
                                        </p:attrNameLst>
                                      </p:cBhvr>
                                      <p:to>
                                        <p:strVal val="visible"/>
                                      </p:to>
                                    </p:set>
                                    <p:animEffect transition="in" filter="fade">
                                      <p:cBhvr>
                                        <p:cTn id="12" dur="2000"/>
                                        <p:tgtEl>
                                          <p:spTgt spid="1075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utoUpdateAnimBg="0"/>
      <p:bldP spid="107523"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标题 1"/>
          <p:cNvSpPr>
            <a:spLocks noGrp="1"/>
          </p:cNvSpPr>
          <p:nvPr>
            <p:ph type="title" idx="4294967295"/>
          </p:nvPr>
        </p:nvSpPr>
        <p:spPr>
          <a:xfrm>
            <a:off x="0" y="274638"/>
            <a:ext cx="8229600" cy="1143000"/>
          </a:xfrm>
        </p:spPr>
        <p:txBody>
          <a:bodyPr/>
          <a:lstStyle/>
          <a:p>
            <a:r>
              <a:rPr lang="en-US" altLang="zh-CN" smtClean="0"/>
              <a:t>NTFS</a:t>
            </a:r>
            <a:r>
              <a:rPr lang="zh-CN" altLang="en-US" smtClean="0"/>
              <a:t>文件系统特征</a:t>
            </a:r>
          </a:p>
        </p:txBody>
      </p:sp>
      <p:sp>
        <p:nvSpPr>
          <p:cNvPr id="108547" name="内容占位符 2"/>
          <p:cNvSpPr>
            <a:spLocks noGrp="1"/>
          </p:cNvSpPr>
          <p:nvPr>
            <p:ph idx="4294967295"/>
          </p:nvPr>
        </p:nvSpPr>
        <p:spPr>
          <a:xfrm>
            <a:off x="281014" y="1500174"/>
            <a:ext cx="8505828" cy="4999059"/>
          </a:xfrm>
        </p:spPr>
        <p:txBody>
          <a:bodyPr>
            <a:normAutofit/>
          </a:bodyPr>
          <a:lstStyle/>
          <a:p>
            <a:pPr>
              <a:lnSpc>
                <a:spcPct val="80000"/>
              </a:lnSpc>
            </a:pPr>
            <a:r>
              <a:rPr lang="en-US" altLang="zh-CN" sz="2800" b="1" dirty="0" smtClean="0"/>
              <a:t>NTFS</a:t>
            </a:r>
            <a:r>
              <a:rPr lang="zh-CN" altLang="en-US" sz="2800" b="1" dirty="0" smtClean="0"/>
              <a:t>具有许多新的特征：簇的大小可由格式化命令按照磁盘容量来确定，可为</a:t>
            </a:r>
            <a:r>
              <a:rPr lang="en-US" altLang="zh-CN" sz="2800" b="1" dirty="0" smtClean="0"/>
              <a:t>512B</a:t>
            </a:r>
            <a:r>
              <a:rPr lang="zh-CN" altLang="en-US" sz="2800" b="1" dirty="0" smtClean="0"/>
              <a:t>，</a:t>
            </a:r>
            <a:r>
              <a:rPr lang="en-US" altLang="zh-CN" sz="2800" b="1" dirty="0" smtClean="0"/>
              <a:t>1KB</a:t>
            </a:r>
            <a:r>
              <a:rPr lang="zh-CN" altLang="en-US" sz="2800" b="1" dirty="0" smtClean="0"/>
              <a:t>，</a:t>
            </a:r>
            <a:r>
              <a:rPr lang="en-US" altLang="zh-CN" sz="2800" b="1" dirty="0" smtClean="0"/>
              <a:t>…</a:t>
            </a:r>
            <a:r>
              <a:rPr lang="zh-CN" altLang="en-US" sz="2800" b="1" dirty="0" smtClean="0"/>
              <a:t>最大到</a:t>
            </a:r>
            <a:r>
              <a:rPr lang="en-US" altLang="zh-CN" sz="2800" b="1" dirty="0" smtClean="0"/>
              <a:t>64KB </a:t>
            </a:r>
            <a:r>
              <a:rPr lang="zh-CN" altLang="en-US" sz="2800" b="1" dirty="0" smtClean="0"/>
              <a:t>；如小硬盘 （小于 </a:t>
            </a:r>
            <a:r>
              <a:rPr lang="en-US" altLang="zh-CN" sz="2800" b="1" dirty="0" smtClean="0"/>
              <a:t>512MB </a:t>
            </a:r>
            <a:r>
              <a:rPr lang="zh-CN" altLang="en-US" sz="2800" b="1" dirty="0" smtClean="0"/>
              <a:t>），默认簇大小为</a:t>
            </a:r>
            <a:r>
              <a:rPr lang="en-US" altLang="zh-CN" sz="2800" b="1" dirty="0" smtClean="0"/>
              <a:t>512</a:t>
            </a:r>
            <a:r>
              <a:rPr lang="zh-CN" altLang="en-US" sz="2800" b="1" dirty="0" smtClean="0"/>
              <a:t>字节 ，大多数情况下一个簇 为</a:t>
            </a:r>
            <a:r>
              <a:rPr lang="en-US" altLang="zh-CN" sz="2800" b="1" dirty="0" smtClean="0"/>
              <a:t>4KB</a:t>
            </a:r>
            <a:r>
              <a:rPr lang="zh-CN" altLang="en-US" sz="2800" b="1" dirty="0" smtClean="0"/>
              <a:t>。</a:t>
            </a:r>
            <a:endParaRPr lang="en-US" altLang="zh-CN" sz="2800" b="1" dirty="0" smtClean="0"/>
          </a:p>
          <a:p>
            <a:pPr>
              <a:lnSpc>
                <a:spcPct val="80000"/>
              </a:lnSpc>
            </a:pPr>
            <a:r>
              <a:rPr lang="zh-CN" altLang="en-US" sz="2800" b="1" dirty="0" smtClean="0"/>
              <a:t>为每个卷设置一张主控文件表</a:t>
            </a:r>
            <a:r>
              <a:rPr lang="en-US" altLang="zh-CN" sz="2800" b="1" dirty="0" smtClean="0"/>
              <a:t>MFT</a:t>
            </a:r>
            <a:r>
              <a:rPr lang="zh-CN" altLang="en-US" sz="2800" b="1" dirty="0" smtClean="0"/>
              <a:t>，卷中每个文件作为一条记录在</a:t>
            </a:r>
            <a:r>
              <a:rPr lang="en-US" altLang="zh-CN" sz="2800" b="1" dirty="0" smtClean="0"/>
              <a:t>MFT</a:t>
            </a:r>
            <a:r>
              <a:rPr lang="zh-CN" altLang="en-US" sz="2800" b="1" dirty="0" smtClean="0"/>
              <a:t>中占有一行。</a:t>
            </a:r>
            <a:endParaRPr lang="en-US" sz="2800" b="1" dirty="0" smtClean="0"/>
          </a:p>
          <a:p>
            <a:pPr>
              <a:lnSpc>
                <a:spcPct val="80000"/>
              </a:lnSpc>
            </a:pPr>
            <a:r>
              <a:rPr lang="zh-CN" altLang="en-US" sz="2800" b="1" dirty="0" smtClean="0"/>
              <a:t>其次，在</a:t>
            </a:r>
            <a:r>
              <a:rPr lang="en-US" altLang="zh-CN" sz="2800" b="1" dirty="0" smtClean="0"/>
              <a:t>NTFS</a:t>
            </a:r>
            <a:r>
              <a:rPr lang="zh-CN" altLang="en-US" sz="2800" b="1" dirty="0" smtClean="0"/>
              <a:t>中可以很好地支持长文件名，单个文件名限制在</a:t>
            </a:r>
            <a:r>
              <a:rPr lang="en-US" altLang="zh-CN" sz="2800" b="1" dirty="0" smtClean="0"/>
              <a:t>255 </a:t>
            </a:r>
            <a:r>
              <a:rPr lang="zh-CN" altLang="en-US" sz="2800" b="1" dirty="0" smtClean="0"/>
              <a:t>个字符以内，全路径名为</a:t>
            </a:r>
            <a:r>
              <a:rPr lang="en-US" altLang="zh-CN" sz="2800" b="1" dirty="0" smtClean="0"/>
              <a:t>32 767 </a:t>
            </a:r>
            <a:r>
              <a:rPr lang="zh-CN" altLang="en-US" sz="2800" b="1" dirty="0" smtClean="0"/>
              <a:t>个字符；</a:t>
            </a:r>
            <a:endParaRPr lang="en-US" sz="2800" b="1" dirty="0" smtClean="0"/>
          </a:p>
          <a:p>
            <a:pPr>
              <a:lnSpc>
                <a:spcPct val="80000"/>
              </a:lnSpc>
            </a:pPr>
            <a:r>
              <a:rPr lang="zh-CN" altLang="en-US" sz="2800" b="1" dirty="0" smtClean="0"/>
              <a:t>第三，具有系统容错功能，即在系统出现故障或差错时，仍能保证系统正常运行，</a:t>
            </a:r>
          </a:p>
          <a:p>
            <a:pPr>
              <a:lnSpc>
                <a:spcPct val="80000"/>
              </a:lnSpc>
            </a:pPr>
            <a:r>
              <a:rPr lang="en-US" altLang="zh-CN" sz="2800" b="1" dirty="0" smtClean="0"/>
              <a:t>NTFS</a:t>
            </a:r>
            <a:r>
              <a:rPr lang="zh-CN" altLang="en-US" sz="2800" b="1" dirty="0" smtClean="0"/>
              <a:t>还提供了文件加密、文件压缩等功能。</a:t>
            </a:r>
          </a:p>
          <a:p>
            <a:pPr>
              <a:lnSpc>
                <a:spcPct val="80000"/>
              </a:lnSpc>
            </a:pPr>
            <a:endParaRPr lang="zh-CN" altLang="en-US" sz="2800" b="1" dirty="0" smtClean="0"/>
          </a:p>
          <a:p>
            <a:pPr>
              <a:lnSpc>
                <a:spcPct val="80000"/>
              </a:lnSpc>
            </a:pPr>
            <a:endParaRPr lang="zh-CN" altLang="en-US" sz="28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8546"/>
                                        </p:tgtEl>
                                        <p:attrNameLst>
                                          <p:attrName>style.visibility</p:attrName>
                                        </p:attrNameLst>
                                      </p:cBhvr>
                                      <p:to>
                                        <p:strVal val="visible"/>
                                      </p:to>
                                    </p:set>
                                    <p:animEffect transition="in" filter="fade">
                                      <p:cBhvr>
                                        <p:cTn id="7" dur="2000"/>
                                        <p:tgtEl>
                                          <p:spTgt spid="1085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547">
                                            <p:txEl>
                                              <p:pRg st="0" end="0"/>
                                            </p:txEl>
                                          </p:spTgt>
                                        </p:tgtEl>
                                        <p:attrNameLst>
                                          <p:attrName>style.visibility</p:attrName>
                                        </p:attrNameLst>
                                      </p:cBhvr>
                                      <p:to>
                                        <p:strVal val="visible"/>
                                      </p:to>
                                    </p:set>
                                    <p:animEffect transition="in" filter="fade">
                                      <p:cBhvr>
                                        <p:cTn id="12" dur="2000"/>
                                        <p:tgtEl>
                                          <p:spTgt spid="1085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8547">
                                            <p:txEl>
                                              <p:pRg st="1" end="1"/>
                                            </p:txEl>
                                          </p:spTgt>
                                        </p:tgtEl>
                                        <p:attrNameLst>
                                          <p:attrName>style.visibility</p:attrName>
                                        </p:attrNameLst>
                                      </p:cBhvr>
                                      <p:to>
                                        <p:strVal val="visible"/>
                                      </p:to>
                                    </p:set>
                                    <p:animEffect transition="in" filter="fade">
                                      <p:cBhvr>
                                        <p:cTn id="17" dur="2000"/>
                                        <p:tgtEl>
                                          <p:spTgt spid="10854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8547">
                                            <p:txEl>
                                              <p:pRg st="2" end="2"/>
                                            </p:txEl>
                                          </p:spTgt>
                                        </p:tgtEl>
                                        <p:attrNameLst>
                                          <p:attrName>style.visibility</p:attrName>
                                        </p:attrNameLst>
                                      </p:cBhvr>
                                      <p:to>
                                        <p:strVal val="visible"/>
                                      </p:to>
                                    </p:set>
                                    <p:animEffect transition="in" filter="fade">
                                      <p:cBhvr>
                                        <p:cTn id="22" dur="2000"/>
                                        <p:tgtEl>
                                          <p:spTgt spid="10854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8547">
                                            <p:txEl>
                                              <p:pRg st="3" end="3"/>
                                            </p:txEl>
                                          </p:spTgt>
                                        </p:tgtEl>
                                        <p:attrNameLst>
                                          <p:attrName>style.visibility</p:attrName>
                                        </p:attrNameLst>
                                      </p:cBhvr>
                                      <p:to>
                                        <p:strVal val="visible"/>
                                      </p:to>
                                    </p:set>
                                    <p:animEffect transition="in" filter="fade">
                                      <p:cBhvr>
                                        <p:cTn id="27" dur="2000"/>
                                        <p:tgtEl>
                                          <p:spTgt spid="10854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8547">
                                            <p:txEl>
                                              <p:pRg st="4" end="4"/>
                                            </p:txEl>
                                          </p:spTgt>
                                        </p:tgtEl>
                                        <p:attrNameLst>
                                          <p:attrName>style.visibility</p:attrName>
                                        </p:attrNameLst>
                                      </p:cBhvr>
                                      <p:to>
                                        <p:strVal val="visible"/>
                                      </p:to>
                                    </p:set>
                                    <p:animEffect transition="in" filter="fade">
                                      <p:cBhvr>
                                        <p:cTn id="32" dur="2000"/>
                                        <p:tgtEl>
                                          <p:spTgt spid="108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utoUpdateAnimBg="0"/>
      <p:bldP spid="108547"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标题 1"/>
          <p:cNvSpPr>
            <a:spLocks noGrp="1"/>
          </p:cNvSpPr>
          <p:nvPr>
            <p:ph type="title" idx="4294967295"/>
          </p:nvPr>
        </p:nvSpPr>
        <p:spPr>
          <a:xfrm>
            <a:off x="0" y="274638"/>
            <a:ext cx="8229600" cy="1143000"/>
          </a:xfrm>
        </p:spPr>
        <p:txBody>
          <a:bodyPr/>
          <a:lstStyle/>
          <a:p>
            <a:r>
              <a:rPr lang="zh-CN" altLang="en-US" smtClean="0"/>
              <a:t>作业</a:t>
            </a:r>
          </a:p>
        </p:txBody>
      </p:sp>
      <p:sp>
        <p:nvSpPr>
          <p:cNvPr id="109571" name="内容占位符 2"/>
          <p:cNvSpPr>
            <a:spLocks noGrp="1"/>
          </p:cNvSpPr>
          <p:nvPr>
            <p:ph idx="4294967295"/>
          </p:nvPr>
        </p:nvSpPr>
        <p:spPr>
          <a:xfrm>
            <a:off x="0" y="1600200"/>
            <a:ext cx="8229600" cy="4525963"/>
          </a:xfrm>
        </p:spPr>
        <p:txBody>
          <a:bodyPr/>
          <a:lstStyle/>
          <a:p>
            <a:r>
              <a:rPr lang="zh-CN" altLang="en-US" b="1" smtClean="0"/>
              <a:t>请查询资料学习</a:t>
            </a:r>
            <a:r>
              <a:rPr lang="en-US" altLang="zh-CN" b="1" smtClean="0"/>
              <a:t>Linux</a:t>
            </a:r>
            <a:r>
              <a:rPr lang="zh-CN" altLang="en-US" b="1" smtClean="0"/>
              <a:t>中的</a:t>
            </a:r>
            <a:r>
              <a:rPr lang="en-US" altLang="zh-CN" b="1" smtClean="0"/>
              <a:t>Ext2</a:t>
            </a:r>
            <a:r>
              <a:rPr lang="zh-CN" altLang="en-US" b="1" smtClean="0"/>
              <a:t>、</a:t>
            </a:r>
            <a:r>
              <a:rPr lang="en-US" altLang="zh-CN" b="1" smtClean="0"/>
              <a:t>ext3</a:t>
            </a:r>
            <a:r>
              <a:rPr lang="zh-CN" altLang="en-US" b="1" smtClean="0"/>
              <a:t>、</a:t>
            </a:r>
            <a:r>
              <a:rPr lang="en-US" altLang="zh-CN" b="1" smtClean="0"/>
              <a:t>ext4</a:t>
            </a:r>
            <a:r>
              <a:rPr lang="zh-CN" altLang="en-US" b="1" smtClean="0"/>
              <a:t>文件系统如何对磁盘中的文件进行存储和管理的？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9570"/>
                                        </p:tgtEl>
                                        <p:attrNameLst>
                                          <p:attrName>style.visibility</p:attrName>
                                        </p:attrNameLst>
                                      </p:cBhvr>
                                      <p:to>
                                        <p:strVal val="visible"/>
                                      </p:to>
                                    </p:set>
                                    <p:animEffect transition="in" filter="fade">
                                      <p:cBhvr>
                                        <p:cTn id="7" dur="2000"/>
                                        <p:tgtEl>
                                          <p:spTgt spid="1095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9571">
                                            <p:txEl>
                                              <p:pRg st="0" end="0"/>
                                            </p:txEl>
                                          </p:spTgt>
                                        </p:tgtEl>
                                        <p:attrNameLst>
                                          <p:attrName>style.visibility</p:attrName>
                                        </p:attrNameLst>
                                      </p:cBhvr>
                                      <p:to>
                                        <p:strVal val="visible"/>
                                      </p:to>
                                    </p:set>
                                    <p:animEffect transition="in" filter="fade">
                                      <p:cBhvr>
                                        <p:cTn id="12" dur="2000"/>
                                        <p:tgtEl>
                                          <p:spTgt spid="1095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autoUpdateAnimBg="0"/>
      <p:bldP spid="109571"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2"/>
          <p:cNvSpPr>
            <a:spLocks noGrp="1" noRot="1" noChangeArrowheads="1"/>
          </p:cNvSpPr>
          <p:nvPr>
            <p:ph type="title" idx="4294967295"/>
          </p:nvPr>
        </p:nvSpPr>
        <p:spPr>
          <a:xfrm>
            <a:off x="1066800" y="260350"/>
            <a:ext cx="8077200" cy="1066800"/>
          </a:xfrm>
        </p:spPr>
        <p:txBody>
          <a:bodyPr/>
          <a:lstStyle/>
          <a:p>
            <a:pPr eaLnBrk="1" hangingPunct="1">
              <a:defRPr/>
            </a:pPr>
            <a:r>
              <a:rPr lang="en-US" altLang="zh-CN" sz="4800" dirty="0" smtClean="0">
                <a:solidFill>
                  <a:srgbClr val="FF0000"/>
                </a:solidFill>
                <a:effectLst>
                  <a:outerShdw blurRad="38100" dist="38100" dir="2700000" algn="tl">
                    <a:srgbClr val="000000"/>
                  </a:outerShdw>
                </a:effectLst>
              </a:rPr>
              <a:t>8.2</a:t>
            </a:r>
            <a:r>
              <a:rPr lang="en-US" sz="4800" dirty="0" smtClean="0">
                <a:solidFill>
                  <a:srgbClr val="FF0000"/>
                </a:solidFill>
                <a:effectLst>
                  <a:outerShdw blurRad="38100" dist="38100" dir="2700000" algn="tl">
                    <a:srgbClr val="000000"/>
                  </a:outerShdw>
                </a:effectLst>
              </a:rPr>
              <a:t> </a:t>
            </a:r>
            <a:r>
              <a:rPr lang="zh-CN" altLang="en-US" sz="4800" b="1" dirty="0" smtClean="0">
                <a:solidFill>
                  <a:srgbClr val="FF0000"/>
                </a:solidFill>
                <a:effectLst>
                  <a:outerShdw blurRad="38100" dist="38100" dir="2700000" algn="tl">
                    <a:srgbClr val="000000"/>
                  </a:outerShdw>
                </a:effectLst>
              </a:rPr>
              <a:t>文件存储空间的管理</a:t>
            </a:r>
          </a:p>
        </p:txBody>
      </p:sp>
      <p:sp>
        <p:nvSpPr>
          <p:cNvPr id="110595" name="Rectangle 3"/>
          <p:cNvSpPr>
            <a:spLocks noGrp="1" noRot="1" noChangeArrowheads="1"/>
          </p:cNvSpPr>
          <p:nvPr>
            <p:ph type="body" idx="4294967295"/>
          </p:nvPr>
        </p:nvSpPr>
        <p:spPr>
          <a:xfrm>
            <a:off x="314074" y="1412776"/>
            <a:ext cx="8434390" cy="4995863"/>
          </a:xfrm>
        </p:spPr>
        <p:txBody>
          <a:bodyPr>
            <a:normAutofit/>
          </a:bodyPr>
          <a:lstStyle/>
          <a:p>
            <a:pPr eaLnBrk="1" hangingPunct="1">
              <a:lnSpc>
                <a:spcPct val="110000"/>
              </a:lnSpc>
            </a:pPr>
            <a:r>
              <a:rPr lang="zh-CN" b="1" dirty="0" smtClean="0"/>
              <a:t>文件管理要解决的重要问题之一：</a:t>
            </a:r>
            <a:r>
              <a:rPr lang="zh-CN" b="1" dirty="0" smtClean="0">
                <a:solidFill>
                  <a:srgbClr val="FF0000"/>
                </a:solidFill>
              </a:rPr>
              <a:t>如何为新创建的文件分配存储空间。</a:t>
            </a:r>
          </a:p>
          <a:p>
            <a:pPr eaLnBrk="1" hangingPunct="1">
              <a:lnSpc>
                <a:spcPct val="110000"/>
              </a:lnSpc>
            </a:pPr>
            <a:r>
              <a:rPr lang="zh-CN" b="1" dirty="0" smtClean="0"/>
              <a:t>存储空间的基本分配单位是磁盘块。</a:t>
            </a:r>
          </a:p>
          <a:p>
            <a:pPr eaLnBrk="1" hangingPunct="1">
              <a:lnSpc>
                <a:spcPct val="110000"/>
              </a:lnSpc>
            </a:pPr>
            <a:r>
              <a:rPr lang="zh-CN" b="1" dirty="0" smtClean="0"/>
              <a:t>其分配方法与内存的分配有许多相似之处，即同样可采取连续分配方式或离散分配方式。</a:t>
            </a:r>
          </a:p>
          <a:p>
            <a:pPr eaLnBrk="1" hangingPunct="1">
              <a:lnSpc>
                <a:spcPct val="110000"/>
              </a:lnSpc>
            </a:pPr>
            <a:r>
              <a:rPr lang="zh-CN" b="1" dirty="0" smtClean="0"/>
              <a:t>系统应为分配存储空间而设置相应的数据结构；其次，系统应提供对存储空间进行分配和回收的手段。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fade">
                                      <p:cBhvr>
                                        <p:cTn id="7" dur="2000"/>
                                        <p:tgtEl>
                                          <p:spTgt spid="1116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0595">
                                            <p:txEl>
                                              <p:pRg st="0" end="0"/>
                                            </p:txEl>
                                          </p:spTgt>
                                        </p:tgtEl>
                                        <p:attrNameLst>
                                          <p:attrName>style.visibility</p:attrName>
                                        </p:attrNameLst>
                                      </p:cBhvr>
                                      <p:to>
                                        <p:strVal val="visible"/>
                                      </p:to>
                                    </p:set>
                                    <p:animEffect transition="in" filter="fade">
                                      <p:cBhvr>
                                        <p:cTn id="12" dur="2000"/>
                                        <p:tgtEl>
                                          <p:spTgt spid="1105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0595">
                                            <p:txEl>
                                              <p:pRg st="1" end="1"/>
                                            </p:txEl>
                                          </p:spTgt>
                                        </p:tgtEl>
                                        <p:attrNameLst>
                                          <p:attrName>style.visibility</p:attrName>
                                        </p:attrNameLst>
                                      </p:cBhvr>
                                      <p:to>
                                        <p:strVal val="visible"/>
                                      </p:to>
                                    </p:set>
                                    <p:animEffect transition="in" filter="fade">
                                      <p:cBhvr>
                                        <p:cTn id="17" dur="2000"/>
                                        <p:tgtEl>
                                          <p:spTgt spid="1105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0595">
                                            <p:txEl>
                                              <p:pRg st="2" end="2"/>
                                            </p:txEl>
                                          </p:spTgt>
                                        </p:tgtEl>
                                        <p:attrNameLst>
                                          <p:attrName>style.visibility</p:attrName>
                                        </p:attrNameLst>
                                      </p:cBhvr>
                                      <p:to>
                                        <p:strVal val="visible"/>
                                      </p:to>
                                    </p:set>
                                    <p:animEffect transition="in" filter="fade">
                                      <p:cBhvr>
                                        <p:cTn id="22" dur="2000"/>
                                        <p:tgtEl>
                                          <p:spTgt spid="11059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0595">
                                            <p:txEl>
                                              <p:pRg st="3" end="3"/>
                                            </p:txEl>
                                          </p:spTgt>
                                        </p:tgtEl>
                                        <p:attrNameLst>
                                          <p:attrName>style.visibility</p:attrName>
                                        </p:attrNameLst>
                                      </p:cBhvr>
                                      <p:to>
                                        <p:strVal val="visible"/>
                                      </p:to>
                                    </p:set>
                                    <p:animEffect transition="in" filter="fade">
                                      <p:cBhvr>
                                        <p:cTn id="27" dur="2000"/>
                                        <p:tgtEl>
                                          <p:spTgt spid="110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utoUpdateAnimBg="0"/>
      <p:bldP spid="110595"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3" name="Rectangle 3"/>
          <p:cNvSpPr>
            <a:spLocks noGrp="1" noRot="1" noChangeArrowheads="1"/>
          </p:cNvSpPr>
          <p:nvPr>
            <p:ph type="body" idx="4294967295"/>
          </p:nvPr>
        </p:nvSpPr>
        <p:spPr>
          <a:xfrm>
            <a:off x="714348" y="1071546"/>
            <a:ext cx="8077200" cy="4111625"/>
          </a:xfrm>
        </p:spPr>
        <p:txBody>
          <a:bodyPr/>
          <a:lstStyle/>
          <a:p>
            <a:pPr algn="just" eaLnBrk="1" hangingPunct="1">
              <a:defRPr/>
            </a:pPr>
            <a:r>
              <a:rPr lang="zh-CN" altLang="en-US" sz="4000" b="1" dirty="0" smtClean="0">
                <a:solidFill>
                  <a:srgbClr val="FF0000"/>
                </a:solidFill>
              </a:rPr>
              <a:t>文件存储空间的管理方法：</a:t>
            </a:r>
            <a:endParaRPr lang="en-US" altLang="zh-CN" sz="4000" b="1" dirty="0" smtClean="0">
              <a:solidFill>
                <a:srgbClr val="FF0000"/>
              </a:solidFill>
            </a:endParaRPr>
          </a:p>
          <a:p>
            <a:pPr algn="just" eaLnBrk="1" hangingPunct="1">
              <a:defRPr/>
            </a:pPr>
            <a:endParaRPr lang="zh-CN" altLang="en-US" sz="4000" b="1" dirty="0" smtClean="0">
              <a:solidFill>
                <a:srgbClr val="FF0000"/>
              </a:solidFill>
              <a:effectLst>
                <a:outerShdw blurRad="38100" dist="38100" dir="2700000" algn="tl">
                  <a:srgbClr val="000000"/>
                </a:outerShdw>
              </a:effectLst>
              <a:ea typeface="仿宋_GB2312" pitchFamily="1" charset="-122"/>
            </a:endParaRPr>
          </a:p>
          <a:p>
            <a:pPr lvl="1" algn="just" eaLnBrk="1" hangingPunct="1">
              <a:defRPr/>
            </a:pPr>
            <a:r>
              <a:rPr lang="zh-CN" altLang="en-US" sz="3200" b="1" dirty="0" smtClean="0">
                <a:ea typeface="仿宋_GB2312" pitchFamily="1" charset="-122"/>
              </a:rPr>
              <a:t>空闲分区表</a:t>
            </a:r>
          </a:p>
          <a:p>
            <a:pPr lvl="1" algn="just" eaLnBrk="1" hangingPunct="1">
              <a:defRPr/>
            </a:pPr>
            <a:r>
              <a:rPr lang="zh-CN" altLang="en-US" sz="3200" b="1" dirty="0" smtClean="0">
                <a:ea typeface="仿宋_GB2312" pitchFamily="1" charset="-122"/>
              </a:rPr>
              <a:t>空闲链表法</a:t>
            </a:r>
          </a:p>
          <a:p>
            <a:pPr lvl="1" algn="just" eaLnBrk="1" hangingPunct="1">
              <a:defRPr/>
            </a:pPr>
            <a:r>
              <a:rPr lang="zh-CN" altLang="en-US" sz="3200" b="1" dirty="0" smtClean="0">
                <a:ea typeface="仿宋_GB2312" pitchFamily="1" charset="-122"/>
              </a:rPr>
              <a:t>位示图</a:t>
            </a:r>
          </a:p>
          <a:p>
            <a:pPr eaLnBrk="1" hangingPunct="1">
              <a:defRPr/>
            </a:pPr>
            <a:endParaRPr lang="en-US" b="1" dirty="0" smtClean="0">
              <a:effectLst>
                <a:outerShdw blurRad="38100" dist="38100" dir="2700000" algn="tl">
                  <a:srgbClr val="000000"/>
                </a:outerShdw>
              </a:effectLst>
              <a:ea typeface="仿宋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Effect transition="in" filter="fade">
                                      <p:cBhvr>
                                        <p:cTn id="7" dur="2000"/>
                                        <p:tgtEl>
                                          <p:spTgt spid="11264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2643">
                                            <p:txEl>
                                              <p:pRg st="2" end="2"/>
                                            </p:txEl>
                                          </p:spTgt>
                                        </p:tgtEl>
                                        <p:attrNameLst>
                                          <p:attrName>style.visibility</p:attrName>
                                        </p:attrNameLst>
                                      </p:cBhvr>
                                      <p:to>
                                        <p:strVal val="visible"/>
                                      </p:to>
                                    </p:set>
                                    <p:animEffect transition="in" filter="fade">
                                      <p:cBhvr>
                                        <p:cTn id="10" dur="2000"/>
                                        <p:tgtEl>
                                          <p:spTgt spid="11264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2643">
                                            <p:txEl>
                                              <p:pRg st="3" end="3"/>
                                            </p:txEl>
                                          </p:spTgt>
                                        </p:tgtEl>
                                        <p:attrNameLst>
                                          <p:attrName>style.visibility</p:attrName>
                                        </p:attrNameLst>
                                      </p:cBhvr>
                                      <p:to>
                                        <p:strVal val="visible"/>
                                      </p:to>
                                    </p:set>
                                    <p:animEffect transition="in" filter="fade">
                                      <p:cBhvr>
                                        <p:cTn id="13" dur="2000"/>
                                        <p:tgtEl>
                                          <p:spTgt spid="11264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2643">
                                            <p:txEl>
                                              <p:pRg st="4" end="4"/>
                                            </p:txEl>
                                          </p:spTgt>
                                        </p:tgtEl>
                                        <p:attrNameLst>
                                          <p:attrName>style.visibility</p:attrName>
                                        </p:attrNameLst>
                                      </p:cBhvr>
                                      <p:to>
                                        <p:strVal val="visible"/>
                                      </p:to>
                                    </p:set>
                                    <p:animEffect transition="in" filter="fade">
                                      <p:cBhvr>
                                        <p:cTn id="16" dur="2000"/>
                                        <p:tgtEl>
                                          <p:spTgt spid="1126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Rectangle 2"/>
          <p:cNvSpPr>
            <a:spLocks noGrp="1" noRot="1" noChangeArrowheads="1"/>
          </p:cNvSpPr>
          <p:nvPr>
            <p:ph type="title" idx="4294967295"/>
          </p:nvPr>
        </p:nvSpPr>
        <p:spPr>
          <a:xfrm>
            <a:off x="0" y="188913"/>
            <a:ext cx="8077200" cy="1066800"/>
          </a:xfrm>
        </p:spPr>
        <p:txBody>
          <a:bodyPr/>
          <a:lstStyle/>
          <a:p>
            <a:pPr eaLnBrk="1" hangingPunct="1">
              <a:defRPr/>
            </a:pPr>
            <a:r>
              <a:rPr lang="en-US" b="1" u="sng" dirty="0" smtClean="0">
                <a:solidFill>
                  <a:srgbClr val="FF0000"/>
                </a:solidFill>
                <a:effectLst>
                  <a:outerShdw blurRad="38100" dist="38100" dir="2700000" algn="tl">
                    <a:srgbClr val="000000"/>
                  </a:outerShdw>
                </a:effectLst>
                <a:ea typeface="仿宋_GB2312" pitchFamily="1" charset="-122"/>
              </a:rPr>
              <a:t>1.</a:t>
            </a:r>
            <a:r>
              <a:rPr lang="zh-CN" altLang="en-US" b="1" u="sng" dirty="0" smtClean="0">
                <a:solidFill>
                  <a:srgbClr val="FF0000"/>
                </a:solidFill>
                <a:effectLst>
                  <a:outerShdw blurRad="38100" dist="38100" dir="2700000" algn="tl">
                    <a:srgbClr val="000000"/>
                  </a:outerShdw>
                </a:effectLst>
                <a:ea typeface="仿宋_GB2312" pitchFamily="1" charset="-122"/>
              </a:rPr>
              <a:t>空闲分区表</a:t>
            </a:r>
            <a:r>
              <a:rPr lang="zh-CN" altLang="en-US" dirty="0" smtClean="0">
                <a:solidFill>
                  <a:srgbClr val="FF0000"/>
                </a:solidFill>
                <a:effectLst>
                  <a:outerShdw blurRad="38100" dist="38100" dir="2700000" algn="tl">
                    <a:srgbClr val="000000"/>
                  </a:outerShdw>
                </a:effectLst>
              </a:rPr>
              <a:t> </a:t>
            </a:r>
          </a:p>
        </p:txBody>
      </p:sp>
      <p:sp>
        <p:nvSpPr>
          <p:cNvPr id="113667" name="Rectangle 3"/>
          <p:cNvSpPr>
            <a:spLocks noGrp="1" noRot="1" noChangeArrowheads="1"/>
          </p:cNvSpPr>
          <p:nvPr>
            <p:ph type="body" idx="4294967295"/>
          </p:nvPr>
        </p:nvSpPr>
        <p:spPr>
          <a:xfrm>
            <a:off x="423890" y="1196975"/>
            <a:ext cx="8324574" cy="2663825"/>
          </a:xfrm>
        </p:spPr>
        <p:txBody>
          <a:bodyPr/>
          <a:lstStyle/>
          <a:p>
            <a:pPr>
              <a:lnSpc>
                <a:spcPct val="110000"/>
              </a:lnSpc>
              <a:defRPr/>
            </a:pPr>
            <a:r>
              <a:rPr lang="zh-CN" altLang="en-US" sz="2800" b="1" dirty="0" smtClean="0"/>
              <a:t>空闲表法属于连续分配方式，为</a:t>
            </a:r>
            <a:r>
              <a:rPr lang="zh-CN" altLang="en-US" sz="2800" b="1" dirty="0" smtClean="0">
                <a:solidFill>
                  <a:srgbClr val="FF0000"/>
                </a:solidFill>
              </a:rPr>
              <a:t>每个文件分配一块连续的存储空间。</a:t>
            </a:r>
            <a:endParaRPr lang="en-US" sz="2800" b="1" dirty="0" smtClean="0">
              <a:solidFill>
                <a:srgbClr val="FF0000"/>
              </a:solidFill>
            </a:endParaRPr>
          </a:p>
          <a:p>
            <a:pPr eaLnBrk="1" hangingPunct="1">
              <a:lnSpc>
                <a:spcPct val="90000"/>
              </a:lnSpc>
              <a:defRPr/>
            </a:pPr>
            <a:r>
              <a:rPr lang="zh-CN" altLang="en-US" sz="2800" b="1" i="1" u="sng" dirty="0" smtClean="0">
                <a:solidFill>
                  <a:srgbClr val="FF0000"/>
                </a:solidFill>
                <a:effectLst>
                  <a:outerShdw blurRad="38100" dist="38100" dir="2700000" algn="tl">
                    <a:srgbClr val="000000"/>
                  </a:outerShdw>
                </a:effectLst>
              </a:rPr>
              <a:t>系统也为外存上的所有空闲区建立一张空闲表，每个空闲区对应于一个空闲表项</a:t>
            </a:r>
            <a:r>
              <a:rPr lang="zh-CN" altLang="en-US" sz="2800" b="1" dirty="0" smtClean="0">
                <a:effectLst>
                  <a:outerShdw blurRad="38100" dist="38100" dir="2700000" algn="tl">
                    <a:srgbClr val="000000"/>
                  </a:outerShdw>
                </a:effectLst>
              </a:rPr>
              <a:t>，</a:t>
            </a:r>
            <a:r>
              <a:rPr lang="zh-CN" altLang="en-US" sz="2800" b="1" dirty="0" smtClean="0"/>
              <a:t>其中包括表项序号、该空闲区的第一个盘块号、该区的空闲盘块数等信息。见表 </a:t>
            </a:r>
            <a:r>
              <a:rPr lang="en-US" altLang="en-US" sz="2800" b="1" dirty="0" smtClean="0"/>
              <a:t>:</a:t>
            </a:r>
          </a:p>
          <a:p>
            <a:pPr eaLnBrk="1" hangingPunct="1">
              <a:lnSpc>
                <a:spcPct val="90000"/>
              </a:lnSpc>
              <a:defRPr/>
            </a:pPr>
            <a:endParaRPr lang="en-US" sz="2800" dirty="0" smtClean="0"/>
          </a:p>
        </p:txBody>
      </p:sp>
      <p:pic>
        <p:nvPicPr>
          <p:cNvPr id="112644" name="Picture 61"/>
          <p:cNvPicPr>
            <a:picLocks noChangeAspect="1" noChangeArrowheads="1"/>
          </p:cNvPicPr>
          <p:nvPr/>
        </p:nvPicPr>
        <p:blipFill>
          <a:blip r:embed="rId2"/>
          <a:srcRect/>
          <a:stretch>
            <a:fillRect/>
          </a:stretch>
        </p:blipFill>
        <p:spPr bwMode="auto">
          <a:xfrm>
            <a:off x="500063" y="4143375"/>
            <a:ext cx="8064500" cy="24241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3666"/>
                                        </p:tgtEl>
                                        <p:attrNameLst>
                                          <p:attrName>style.visibility</p:attrName>
                                        </p:attrNameLst>
                                      </p:cBhvr>
                                      <p:to>
                                        <p:strVal val="visible"/>
                                      </p:to>
                                    </p:set>
                                    <p:animEffect transition="in" filter="fade">
                                      <p:cBhvr>
                                        <p:cTn id="7" dur="2000"/>
                                        <p:tgtEl>
                                          <p:spTgt spid="1136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3667">
                                            <p:txEl>
                                              <p:pRg st="0" end="0"/>
                                            </p:txEl>
                                          </p:spTgt>
                                        </p:tgtEl>
                                        <p:attrNameLst>
                                          <p:attrName>style.visibility</p:attrName>
                                        </p:attrNameLst>
                                      </p:cBhvr>
                                      <p:to>
                                        <p:strVal val="visible"/>
                                      </p:to>
                                    </p:set>
                                    <p:animEffect transition="in" filter="fade">
                                      <p:cBhvr>
                                        <p:cTn id="12" dur="2000"/>
                                        <p:tgtEl>
                                          <p:spTgt spid="1136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3667">
                                            <p:txEl>
                                              <p:pRg st="1" end="1"/>
                                            </p:txEl>
                                          </p:spTgt>
                                        </p:tgtEl>
                                        <p:attrNameLst>
                                          <p:attrName>style.visibility</p:attrName>
                                        </p:attrNameLst>
                                      </p:cBhvr>
                                      <p:to>
                                        <p:strVal val="visible"/>
                                      </p:to>
                                    </p:set>
                                    <p:animEffect transition="in" filter="fade">
                                      <p:cBhvr>
                                        <p:cTn id="17" dur="2000"/>
                                        <p:tgtEl>
                                          <p:spTgt spid="1136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autoUpdateAnimBg="0"/>
      <p:bldP spid="113667"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p:cNvSpPr>
            <a:spLocks noGrp="1" noRot="1" noChangeArrowheads="1"/>
          </p:cNvSpPr>
          <p:nvPr>
            <p:ph type="title" idx="4294967295"/>
          </p:nvPr>
        </p:nvSpPr>
        <p:spPr>
          <a:xfrm>
            <a:off x="0" y="300038"/>
            <a:ext cx="7486650" cy="681037"/>
          </a:xfrm>
        </p:spPr>
        <p:txBody>
          <a:bodyPr>
            <a:normAutofit fontScale="90000"/>
          </a:bodyPr>
          <a:lstStyle/>
          <a:p>
            <a:pPr eaLnBrk="1" hangingPunct="1">
              <a:defRPr/>
            </a:pPr>
            <a:r>
              <a:rPr lang="en-US" b="1" u="sng" dirty="0" smtClean="0">
                <a:solidFill>
                  <a:srgbClr val="FF0000"/>
                </a:solidFill>
                <a:effectLst>
                  <a:outerShdw blurRad="38100" dist="38100" dir="2700000" algn="tl">
                    <a:srgbClr val="000000"/>
                  </a:outerShdw>
                </a:effectLst>
                <a:ea typeface="仿宋_GB2312" pitchFamily="1" charset="-122"/>
              </a:rPr>
              <a:t>1.</a:t>
            </a:r>
            <a:r>
              <a:rPr lang="zh-CN" altLang="en-US" b="1" u="sng" dirty="0" smtClean="0">
                <a:solidFill>
                  <a:srgbClr val="FF0000"/>
                </a:solidFill>
                <a:effectLst>
                  <a:outerShdw blurRad="38100" dist="38100" dir="2700000" algn="tl">
                    <a:srgbClr val="000000"/>
                  </a:outerShdw>
                </a:effectLst>
                <a:ea typeface="仿宋_GB2312" pitchFamily="1" charset="-122"/>
              </a:rPr>
              <a:t>空闲分区表</a:t>
            </a:r>
          </a:p>
        </p:txBody>
      </p:sp>
      <p:sp>
        <p:nvSpPr>
          <p:cNvPr id="114691" name="Rectangle 3"/>
          <p:cNvSpPr>
            <a:spLocks noGrp="1" noRot="1" noChangeArrowheads="1"/>
          </p:cNvSpPr>
          <p:nvPr>
            <p:ph type="body" idx="4294967295"/>
          </p:nvPr>
        </p:nvSpPr>
        <p:spPr>
          <a:xfrm>
            <a:off x="71438" y="1263672"/>
            <a:ext cx="8786842" cy="5237162"/>
          </a:xfrm>
        </p:spPr>
        <p:txBody>
          <a:bodyPr/>
          <a:lstStyle/>
          <a:p>
            <a:pPr algn="just" eaLnBrk="1" hangingPunct="1">
              <a:lnSpc>
                <a:spcPct val="110000"/>
              </a:lnSpc>
              <a:defRPr/>
            </a:pPr>
            <a:r>
              <a:rPr lang="zh-CN" altLang="en-US" sz="2800" b="1" dirty="0" smtClean="0"/>
              <a:t>适合于可变大小分区的连续分配方式。</a:t>
            </a:r>
          </a:p>
          <a:p>
            <a:pPr algn="just">
              <a:lnSpc>
                <a:spcPct val="110000"/>
              </a:lnSpc>
              <a:defRPr/>
            </a:pPr>
            <a:r>
              <a:rPr lang="zh-CN" altLang="en-US" sz="2800" b="1" dirty="0" smtClean="0"/>
              <a:t>为文件分配存储空间的步骤：</a:t>
            </a:r>
            <a:endParaRPr lang="en-US" altLang="en-US" sz="2800" b="1" dirty="0" smtClean="0"/>
          </a:p>
          <a:p>
            <a:pPr lvl="1" algn="just" eaLnBrk="1" hangingPunct="1">
              <a:lnSpc>
                <a:spcPct val="110000"/>
              </a:lnSpc>
              <a:defRPr/>
            </a:pPr>
            <a:r>
              <a:rPr lang="zh-CN" altLang="en-US" b="1" dirty="0" smtClean="0"/>
              <a:t>首先顺序查找空闲分区表中的各个表项，直至</a:t>
            </a:r>
            <a:r>
              <a:rPr lang="zh-CN" altLang="en-US" b="1" dirty="0" smtClean="0">
                <a:solidFill>
                  <a:srgbClr val="FF0000"/>
                </a:solidFill>
              </a:rPr>
              <a:t>找到第一个大小适合的空闲分区</a:t>
            </a:r>
            <a:r>
              <a:rPr lang="zh-CN" altLang="en-US" b="1" dirty="0" smtClean="0"/>
              <a:t>。</a:t>
            </a:r>
          </a:p>
          <a:p>
            <a:pPr lvl="1" algn="just">
              <a:lnSpc>
                <a:spcPct val="110000"/>
              </a:lnSpc>
              <a:defRPr/>
            </a:pPr>
            <a:r>
              <a:rPr lang="zh-CN" altLang="en-US" b="1" dirty="0" smtClean="0"/>
              <a:t>然后，将该分区分配给文件，同时修改空闲分区表，删除相应表项。</a:t>
            </a:r>
            <a:endParaRPr lang="en-US" altLang="zh-CN" b="1" dirty="0" smtClean="0"/>
          </a:p>
          <a:p>
            <a:pPr lvl="1" algn="just">
              <a:lnSpc>
                <a:spcPct val="110000"/>
              </a:lnSpc>
              <a:defRPr/>
            </a:pPr>
            <a:endParaRPr lang="zh-CN" altLang="en-US" b="1" dirty="0" smtClean="0"/>
          </a:p>
          <a:p>
            <a:pPr algn="just">
              <a:lnSpc>
                <a:spcPct val="110000"/>
              </a:lnSpc>
              <a:defRPr/>
            </a:pPr>
            <a:r>
              <a:rPr lang="zh-CN" altLang="en-US" sz="2800" b="1" dirty="0" smtClean="0"/>
              <a:t>当删除文件释放出空间时，系统回收其存储空间，合并相邻空闲分区</a:t>
            </a:r>
            <a:r>
              <a:rPr lang="en-US" altLang="en-US" sz="2800" b="1"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fade">
                                      <p:cBhvr>
                                        <p:cTn id="7" dur="2000"/>
                                        <p:tgtEl>
                                          <p:spTgt spid="1146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4691">
                                            <p:txEl>
                                              <p:pRg st="0" end="0"/>
                                            </p:txEl>
                                          </p:spTgt>
                                        </p:tgtEl>
                                        <p:attrNameLst>
                                          <p:attrName>style.visibility</p:attrName>
                                        </p:attrNameLst>
                                      </p:cBhvr>
                                      <p:to>
                                        <p:strVal val="visible"/>
                                      </p:to>
                                    </p:set>
                                    <p:animEffect transition="in" filter="fade">
                                      <p:cBhvr>
                                        <p:cTn id="12" dur="2000"/>
                                        <p:tgtEl>
                                          <p:spTgt spid="1146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4691">
                                            <p:txEl>
                                              <p:pRg st="1" end="1"/>
                                            </p:txEl>
                                          </p:spTgt>
                                        </p:tgtEl>
                                        <p:attrNameLst>
                                          <p:attrName>style.visibility</p:attrName>
                                        </p:attrNameLst>
                                      </p:cBhvr>
                                      <p:to>
                                        <p:strVal val="visible"/>
                                      </p:to>
                                    </p:set>
                                    <p:animEffect transition="in" filter="fade">
                                      <p:cBhvr>
                                        <p:cTn id="17" dur="2000"/>
                                        <p:tgtEl>
                                          <p:spTgt spid="114691">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4691">
                                            <p:txEl>
                                              <p:pRg st="2" end="2"/>
                                            </p:txEl>
                                          </p:spTgt>
                                        </p:tgtEl>
                                        <p:attrNameLst>
                                          <p:attrName>style.visibility</p:attrName>
                                        </p:attrNameLst>
                                      </p:cBhvr>
                                      <p:to>
                                        <p:strVal val="visible"/>
                                      </p:to>
                                    </p:set>
                                    <p:animEffect transition="in" filter="fade">
                                      <p:cBhvr>
                                        <p:cTn id="20" dur="2000"/>
                                        <p:tgtEl>
                                          <p:spTgt spid="114691">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4691">
                                            <p:txEl>
                                              <p:pRg st="3" end="3"/>
                                            </p:txEl>
                                          </p:spTgt>
                                        </p:tgtEl>
                                        <p:attrNameLst>
                                          <p:attrName>style.visibility</p:attrName>
                                        </p:attrNameLst>
                                      </p:cBhvr>
                                      <p:to>
                                        <p:strVal val="visible"/>
                                      </p:to>
                                    </p:set>
                                    <p:animEffect transition="in" filter="fade">
                                      <p:cBhvr>
                                        <p:cTn id="23" dur="2000"/>
                                        <p:tgtEl>
                                          <p:spTgt spid="11469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4691">
                                            <p:txEl>
                                              <p:pRg st="5" end="5"/>
                                            </p:txEl>
                                          </p:spTgt>
                                        </p:tgtEl>
                                        <p:attrNameLst>
                                          <p:attrName>style.visibility</p:attrName>
                                        </p:attrNameLst>
                                      </p:cBhvr>
                                      <p:to>
                                        <p:strVal val="visible"/>
                                      </p:to>
                                    </p:set>
                                    <p:animEffect transition="in" filter="fade">
                                      <p:cBhvr>
                                        <p:cTn id="28" dur="2000"/>
                                        <p:tgtEl>
                                          <p:spTgt spid="1146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utoUpdateAnimBg="0"/>
      <p:bldP spid="114691"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4" name="Rectangle 2"/>
          <p:cNvSpPr>
            <a:spLocks noGrp="1" noRot="1" noChangeArrowheads="1"/>
          </p:cNvSpPr>
          <p:nvPr>
            <p:ph type="title" idx="4294967295"/>
          </p:nvPr>
        </p:nvSpPr>
        <p:spPr>
          <a:xfrm>
            <a:off x="-32" y="274677"/>
            <a:ext cx="7772400" cy="914400"/>
          </a:xfrm>
        </p:spPr>
        <p:txBody>
          <a:bodyPr/>
          <a:lstStyle/>
          <a:p>
            <a:pPr eaLnBrk="1" hangingPunct="1">
              <a:defRPr/>
            </a:pPr>
            <a:r>
              <a:rPr lang="en-US" b="1" u="sng" dirty="0" smtClean="0">
                <a:solidFill>
                  <a:srgbClr val="FF0000"/>
                </a:solidFill>
                <a:effectLst>
                  <a:outerShdw blurRad="38100" dist="38100" dir="2700000" algn="tl">
                    <a:srgbClr val="000000"/>
                  </a:outerShdw>
                </a:effectLst>
                <a:ea typeface="仿宋_GB2312" pitchFamily="1" charset="-122"/>
              </a:rPr>
              <a:t>1.</a:t>
            </a:r>
            <a:r>
              <a:rPr lang="zh-CN" altLang="en-US" b="1" u="sng" dirty="0" smtClean="0">
                <a:solidFill>
                  <a:srgbClr val="FF0000"/>
                </a:solidFill>
                <a:effectLst>
                  <a:outerShdw blurRad="38100" dist="38100" dir="2700000" algn="tl">
                    <a:srgbClr val="000000"/>
                  </a:outerShdw>
                </a:effectLst>
                <a:ea typeface="仿宋_GB2312" pitchFamily="1" charset="-122"/>
              </a:rPr>
              <a:t>空闲分区表</a:t>
            </a:r>
          </a:p>
        </p:txBody>
      </p:sp>
      <p:sp>
        <p:nvSpPr>
          <p:cNvPr id="115715" name="Rectangle 3"/>
          <p:cNvSpPr>
            <a:spLocks noGrp="1" noRot="1" noChangeArrowheads="1"/>
          </p:cNvSpPr>
          <p:nvPr>
            <p:ph type="body" idx="4294967295"/>
          </p:nvPr>
        </p:nvSpPr>
        <p:spPr>
          <a:xfrm>
            <a:off x="428564" y="1373211"/>
            <a:ext cx="8351838" cy="5413375"/>
          </a:xfrm>
        </p:spPr>
        <p:txBody>
          <a:bodyPr>
            <a:normAutofit/>
          </a:bodyPr>
          <a:lstStyle/>
          <a:p>
            <a:pPr algn="just">
              <a:lnSpc>
                <a:spcPct val="110000"/>
              </a:lnSpc>
              <a:defRPr/>
            </a:pPr>
            <a:r>
              <a:rPr lang="zh-CN" altLang="en-US" sz="2800" b="1" dirty="0" smtClean="0"/>
              <a:t>实现简单。对于最佳适应分配算法，可以将各空闲分区按照（长度）从小到大的顺序进行排列，再利用有效的查找算法，能很快找到需要大小的空闲分区。</a:t>
            </a:r>
            <a:endParaRPr lang="en-US" altLang="zh-CN" sz="2800" b="1" dirty="0" smtClean="0"/>
          </a:p>
          <a:p>
            <a:pPr algn="just">
              <a:lnSpc>
                <a:spcPct val="110000"/>
              </a:lnSpc>
              <a:defRPr/>
            </a:pPr>
            <a:endParaRPr lang="zh-CN" altLang="en-US" sz="2800" b="1" dirty="0" smtClean="0"/>
          </a:p>
          <a:p>
            <a:pPr algn="just">
              <a:lnSpc>
                <a:spcPct val="110000"/>
              </a:lnSpc>
              <a:defRPr/>
            </a:pPr>
            <a:r>
              <a:rPr lang="zh-CN" altLang="en-US" sz="2800" b="1" dirty="0" smtClean="0"/>
              <a:t>但是，当存储空间中的空闲分区分布较分散且数量较多时，空闲分区表将会很大。需要很大的内存空间，会降低空闲分区表的检索速度。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fade">
                                      <p:cBhvr>
                                        <p:cTn id="7" dur="2000"/>
                                        <p:tgtEl>
                                          <p:spTgt spid="1157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5715">
                                            <p:txEl>
                                              <p:pRg st="0" end="0"/>
                                            </p:txEl>
                                          </p:spTgt>
                                        </p:tgtEl>
                                        <p:attrNameLst>
                                          <p:attrName>style.visibility</p:attrName>
                                        </p:attrNameLst>
                                      </p:cBhvr>
                                      <p:to>
                                        <p:strVal val="visible"/>
                                      </p:to>
                                    </p:set>
                                    <p:animEffect transition="in" filter="fade">
                                      <p:cBhvr>
                                        <p:cTn id="12" dur="2000"/>
                                        <p:tgtEl>
                                          <p:spTgt spid="1157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5715">
                                            <p:txEl>
                                              <p:pRg st="2" end="2"/>
                                            </p:txEl>
                                          </p:spTgt>
                                        </p:tgtEl>
                                        <p:attrNameLst>
                                          <p:attrName>style.visibility</p:attrName>
                                        </p:attrNameLst>
                                      </p:cBhvr>
                                      <p:to>
                                        <p:strVal val="visible"/>
                                      </p:to>
                                    </p:set>
                                    <p:animEffect transition="in" filter="fade">
                                      <p:cBhvr>
                                        <p:cTn id="17" dur="2000"/>
                                        <p:tgtEl>
                                          <p:spTgt spid="1157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autoUpdateAnimBg="0"/>
      <p:bldP spid="115715"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Rectangle 2"/>
          <p:cNvSpPr>
            <a:spLocks noGrp="1" noRot="1" noChangeArrowheads="1"/>
          </p:cNvSpPr>
          <p:nvPr>
            <p:ph type="title" idx="4294967295"/>
          </p:nvPr>
        </p:nvSpPr>
        <p:spPr>
          <a:xfrm>
            <a:off x="0" y="274638"/>
            <a:ext cx="8229600" cy="1143000"/>
          </a:xfrm>
        </p:spPr>
        <p:txBody>
          <a:bodyPr/>
          <a:lstStyle/>
          <a:p>
            <a:pPr eaLnBrk="1" hangingPunct="1">
              <a:defRPr/>
            </a:pPr>
            <a:r>
              <a:rPr lang="en-US" b="1" u="sng" dirty="0" smtClean="0">
                <a:solidFill>
                  <a:srgbClr val="FF0000"/>
                </a:solidFill>
                <a:effectLst>
                  <a:outerShdw blurRad="38100" dist="38100" dir="2700000" algn="tl">
                    <a:srgbClr val="000000"/>
                  </a:outerShdw>
                </a:effectLst>
                <a:ea typeface="仿宋_GB2312" pitchFamily="1" charset="-122"/>
              </a:rPr>
              <a:t>1.</a:t>
            </a:r>
            <a:r>
              <a:rPr lang="zh-CN" altLang="en-US" b="1" u="sng" dirty="0" smtClean="0">
                <a:solidFill>
                  <a:srgbClr val="FF0000"/>
                </a:solidFill>
                <a:effectLst>
                  <a:outerShdw blurRad="38100" dist="38100" dir="2700000" algn="tl">
                    <a:srgbClr val="000000"/>
                  </a:outerShdw>
                </a:effectLst>
                <a:ea typeface="仿宋_GB2312" pitchFamily="1" charset="-122"/>
              </a:rPr>
              <a:t>空闲分区表</a:t>
            </a:r>
          </a:p>
        </p:txBody>
      </p:sp>
      <p:sp>
        <p:nvSpPr>
          <p:cNvPr id="115715" name="Rectangle 3"/>
          <p:cNvSpPr>
            <a:spLocks noGrp="1" noRot="1" noChangeArrowheads="1"/>
          </p:cNvSpPr>
          <p:nvPr>
            <p:ph type="body" idx="4294967295"/>
          </p:nvPr>
        </p:nvSpPr>
        <p:spPr>
          <a:xfrm>
            <a:off x="0" y="1600200"/>
            <a:ext cx="8229600" cy="4525963"/>
          </a:xfrm>
        </p:spPr>
        <p:txBody>
          <a:bodyPr/>
          <a:lstStyle/>
          <a:p>
            <a:pPr eaLnBrk="1" hangingPunct="1">
              <a:lnSpc>
                <a:spcPct val="110000"/>
              </a:lnSpc>
            </a:pPr>
            <a:r>
              <a:rPr lang="zh-CN" altLang="en-US" b="1" dirty="0" smtClean="0"/>
              <a:t>对交换分区一般都采用连续分配方式。</a:t>
            </a:r>
          </a:p>
          <a:p>
            <a:pPr eaLnBrk="1" hangingPunct="1">
              <a:lnSpc>
                <a:spcPct val="110000"/>
              </a:lnSpc>
            </a:pPr>
            <a:r>
              <a:rPr lang="zh-CN" altLang="en-US" b="1" dirty="0" smtClean="0"/>
              <a:t>对于文件系统，当文件较小</a:t>
            </a:r>
            <a:r>
              <a:rPr lang="en-US" altLang="zh-CN" b="1" dirty="0" smtClean="0"/>
              <a:t>(1</a:t>
            </a:r>
            <a:r>
              <a:rPr lang="zh-CN" altLang="en-US" b="1" dirty="0" smtClean="0"/>
              <a:t>～</a:t>
            </a:r>
            <a:r>
              <a:rPr lang="en-US" altLang="zh-CN" b="1" dirty="0" smtClean="0"/>
              <a:t>4</a:t>
            </a:r>
            <a:r>
              <a:rPr lang="zh-CN" altLang="en-US" b="1" dirty="0" smtClean="0"/>
              <a:t>个盘块</a:t>
            </a:r>
            <a:r>
              <a:rPr lang="en-US" altLang="zh-CN" b="1" dirty="0" smtClean="0"/>
              <a:t>)</a:t>
            </a:r>
            <a:r>
              <a:rPr lang="zh-CN" altLang="en-US" b="1" dirty="0" smtClean="0"/>
              <a:t>时，仍采用连续分配方式，为文件分配相邻接的几个盘块；</a:t>
            </a:r>
          </a:p>
          <a:p>
            <a:pPr eaLnBrk="1" hangingPunct="1">
              <a:lnSpc>
                <a:spcPct val="110000"/>
              </a:lnSpc>
            </a:pPr>
            <a:r>
              <a:rPr lang="zh-CN" altLang="en-US" b="1" dirty="0" smtClean="0"/>
              <a:t>当文件较大时，便采用离散分配方式。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738"/>
                                        </p:tgtEl>
                                        <p:attrNameLst>
                                          <p:attrName>style.visibility</p:attrName>
                                        </p:attrNameLst>
                                      </p:cBhvr>
                                      <p:to>
                                        <p:strVal val="visible"/>
                                      </p:to>
                                    </p:set>
                                    <p:animEffect transition="in" filter="fade">
                                      <p:cBhvr>
                                        <p:cTn id="7" dur="2000"/>
                                        <p:tgtEl>
                                          <p:spTgt spid="1167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5715">
                                            <p:txEl>
                                              <p:pRg st="0" end="0"/>
                                            </p:txEl>
                                          </p:spTgt>
                                        </p:tgtEl>
                                        <p:attrNameLst>
                                          <p:attrName>style.visibility</p:attrName>
                                        </p:attrNameLst>
                                      </p:cBhvr>
                                      <p:to>
                                        <p:strVal val="visible"/>
                                      </p:to>
                                    </p:set>
                                    <p:animEffect transition="in" filter="fade">
                                      <p:cBhvr>
                                        <p:cTn id="12" dur="2000"/>
                                        <p:tgtEl>
                                          <p:spTgt spid="1157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5715">
                                            <p:txEl>
                                              <p:pRg st="1" end="1"/>
                                            </p:txEl>
                                          </p:spTgt>
                                        </p:tgtEl>
                                        <p:attrNameLst>
                                          <p:attrName>style.visibility</p:attrName>
                                        </p:attrNameLst>
                                      </p:cBhvr>
                                      <p:to>
                                        <p:strVal val="visible"/>
                                      </p:to>
                                    </p:set>
                                    <p:animEffect transition="in" filter="fade">
                                      <p:cBhvr>
                                        <p:cTn id="17" dur="2000"/>
                                        <p:tgtEl>
                                          <p:spTgt spid="11571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5715">
                                            <p:txEl>
                                              <p:pRg st="2" end="2"/>
                                            </p:txEl>
                                          </p:spTgt>
                                        </p:tgtEl>
                                        <p:attrNameLst>
                                          <p:attrName>style.visibility</p:attrName>
                                        </p:attrNameLst>
                                      </p:cBhvr>
                                      <p:to>
                                        <p:strVal val="visible"/>
                                      </p:to>
                                    </p:set>
                                    <p:animEffect transition="in" filter="fade">
                                      <p:cBhvr>
                                        <p:cTn id="22" dur="2000"/>
                                        <p:tgtEl>
                                          <p:spTgt spid="1157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autoUpdateAnimBg="0"/>
      <p:bldP spid="115715"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Rectangle 2"/>
          <p:cNvSpPr>
            <a:spLocks noGrp="1" noRot="1" noChangeArrowheads="1"/>
          </p:cNvSpPr>
          <p:nvPr>
            <p:ph type="title" idx="4294967295"/>
          </p:nvPr>
        </p:nvSpPr>
        <p:spPr>
          <a:xfrm>
            <a:off x="0" y="188913"/>
            <a:ext cx="8077200" cy="1066800"/>
          </a:xfrm>
        </p:spPr>
        <p:txBody>
          <a:bodyPr/>
          <a:lstStyle/>
          <a:p>
            <a:pPr eaLnBrk="1" hangingPunct="1">
              <a:defRPr/>
            </a:pPr>
            <a:r>
              <a:rPr lang="en-US" b="1" u="sng" dirty="0" smtClean="0">
                <a:solidFill>
                  <a:srgbClr val="FF0000"/>
                </a:solidFill>
                <a:effectLst>
                  <a:outerShdw blurRad="38100" dist="38100" dir="2700000" algn="tl">
                    <a:srgbClr val="000000"/>
                  </a:outerShdw>
                </a:effectLst>
                <a:ea typeface="仿宋_GB2312" pitchFamily="1" charset="-122"/>
              </a:rPr>
              <a:t>2. </a:t>
            </a:r>
            <a:r>
              <a:rPr lang="zh-CN" altLang="en-US" b="1" u="sng" dirty="0" smtClean="0">
                <a:solidFill>
                  <a:srgbClr val="FF0000"/>
                </a:solidFill>
                <a:effectLst>
                  <a:outerShdw blurRad="38100" dist="38100" dir="2700000" algn="tl">
                    <a:srgbClr val="000000"/>
                  </a:outerShdw>
                </a:effectLst>
                <a:ea typeface="仿宋_GB2312" pitchFamily="1" charset="-122"/>
              </a:rPr>
              <a:t>空闲链表法</a:t>
            </a:r>
            <a:r>
              <a:rPr lang="zh-CN" altLang="en-US" dirty="0" smtClean="0">
                <a:solidFill>
                  <a:srgbClr val="FF0000"/>
                </a:solidFill>
                <a:effectLst>
                  <a:outerShdw blurRad="38100" dist="38100" dir="2700000" algn="tl">
                    <a:srgbClr val="000000"/>
                  </a:outerShdw>
                </a:effectLst>
              </a:rPr>
              <a:t> </a:t>
            </a:r>
          </a:p>
        </p:txBody>
      </p:sp>
      <p:sp>
        <p:nvSpPr>
          <p:cNvPr id="117763" name="Rectangle 3"/>
          <p:cNvSpPr>
            <a:spLocks noGrp="1" noRot="1" noChangeArrowheads="1"/>
          </p:cNvSpPr>
          <p:nvPr>
            <p:ph type="body" idx="4294967295"/>
          </p:nvPr>
        </p:nvSpPr>
        <p:spPr>
          <a:xfrm>
            <a:off x="0" y="1428736"/>
            <a:ext cx="8643966" cy="5113337"/>
          </a:xfrm>
        </p:spPr>
        <p:txBody>
          <a:bodyPr>
            <a:normAutofit lnSpcReduction="10000"/>
          </a:bodyPr>
          <a:lstStyle/>
          <a:p>
            <a:pPr algn="just" eaLnBrk="1" hangingPunct="1">
              <a:defRPr/>
            </a:pPr>
            <a:r>
              <a:rPr lang="zh-CN" altLang="en-US" b="1" dirty="0" smtClean="0"/>
              <a:t>用专门的空闲分区表登记空闲分区信息会浪费一定的存储空间，而且不适合登记分散且数目很多的空闲分区。</a:t>
            </a:r>
            <a:endParaRPr lang="en-US" altLang="en-US" b="1" dirty="0" smtClean="0"/>
          </a:p>
          <a:p>
            <a:pPr algn="just" eaLnBrk="1" hangingPunct="1">
              <a:defRPr/>
            </a:pPr>
            <a:r>
              <a:rPr lang="zh-CN" altLang="en-US" b="1" dirty="0" smtClean="0"/>
              <a:t>不利于基于存储块的链接文件和索引文件的存储空间分配。</a:t>
            </a:r>
          </a:p>
          <a:p>
            <a:pPr algn="just" eaLnBrk="1" hangingPunct="1">
              <a:defRPr/>
            </a:pPr>
            <a:r>
              <a:rPr lang="zh-CN" altLang="en-US" b="1" dirty="0" smtClean="0"/>
              <a:t>空闲链表法是将所有空闲盘区拉成一条空闲链。根据构成链所用基本元素的不同，可把链表分成两种形式：</a:t>
            </a:r>
          </a:p>
          <a:p>
            <a:pPr lvl="1" eaLnBrk="1" hangingPunct="1">
              <a:defRPr/>
            </a:pPr>
            <a:r>
              <a:rPr lang="zh-CN" altLang="en-US" b="1" dirty="0" smtClean="0">
                <a:solidFill>
                  <a:srgbClr val="FF0000"/>
                </a:solidFill>
              </a:rPr>
              <a:t>空闲盘块链</a:t>
            </a:r>
          </a:p>
          <a:p>
            <a:pPr lvl="1" eaLnBrk="1" hangingPunct="1">
              <a:defRPr/>
            </a:pPr>
            <a:r>
              <a:rPr lang="zh-CN" altLang="en-US" b="1" dirty="0" smtClean="0">
                <a:solidFill>
                  <a:srgbClr val="FF0000"/>
                </a:solidFill>
              </a:rPr>
              <a:t>空闲盘区链</a:t>
            </a:r>
          </a:p>
          <a:p>
            <a:pPr algn="just" eaLnBrk="1" hangingPunct="1">
              <a:defRPr/>
            </a:pPr>
            <a:endParaRPr lang="en-US" b="1" dirty="0" smtClean="0">
              <a:solidFill>
                <a:schemeClr val="folHlink"/>
              </a:solidFill>
              <a:effectLst>
                <a:outerShdw blurRad="38100" dist="38100" dir="2700000" algn="tl">
                  <a:srgbClr val="000000"/>
                </a:outerShdw>
              </a:effectLst>
              <a:ea typeface="仿宋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7762"/>
                                        </p:tgtEl>
                                        <p:attrNameLst>
                                          <p:attrName>style.visibility</p:attrName>
                                        </p:attrNameLst>
                                      </p:cBhvr>
                                      <p:to>
                                        <p:strVal val="visible"/>
                                      </p:to>
                                    </p:set>
                                    <p:animEffect transition="in" filter="fade">
                                      <p:cBhvr>
                                        <p:cTn id="7" dur="2000"/>
                                        <p:tgtEl>
                                          <p:spTgt spid="1177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7763">
                                            <p:txEl>
                                              <p:pRg st="0" end="0"/>
                                            </p:txEl>
                                          </p:spTgt>
                                        </p:tgtEl>
                                        <p:attrNameLst>
                                          <p:attrName>style.visibility</p:attrName>
                                        </p:attrNameLst>
                                      </p:cBhvr>
                                      <p:to>
                                        <p:strVal val="visible"/>
                                      </p:to>
                                    </p:set>
                                    <p:animEffect transition="in" filter="fade">
                                      <p:cBhvr>
                                        <p:cTn id="12" dur="2000"/>
                                        <p:tgtEl>
                                          <p:spTgt spid="1177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7763">
                                            <p:txEl>
                                              <p:pRg st="1" end="1"/>
                                            </p:txEl>
                                          </p:spTgt>
                                        </p:tgtEl>
                                        <p:attrNameLst>
                                          <p:attrName>style.visibility</p:attrName>
                                        </p:attrNameLst>
                                      </p:cBhvr>
                                      <p:to>
                                        <p:strVal val="visible"/>
                                      </p:to>
                                    </p:set>
                                    <p:animEffect transition="in" filter="fade">
                                      <p:cBhvr>
                                        <p:cTn id="17" dur="2000"/>
                                        <p:tgtEl>
                                          <p:spTgt spid="11776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7763">
                                            <p:txEl>
                                              <p:pRg st="2" end="2"/>
                                            </p:txEl>
                                          </p:spTgt>
                                        </p:tgtEl>
                                        <p:attrNameLst>
                                          <p:attrName>style.visibility</p:attrName>
                                        </p:attrNameLst>
                                      </p:cBhvr>
                                      <p:to>
                                        <p:strVal val="visible"/>
                                      </p:to>
                                    </p:set>
                                    <p:animEffect transition="in" filter="fade">
                                      <p:cBhvr>
                                        <p:cTn id="22" dur="2000"/>
                                        <p:tgtEl>
                                          <p:spTgt spid="117763">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7763">
                                            <p:txEl>
                                              <p:pRg st="3" end="3"/>
                                            </p:txEl>
                                          </p:spTgt>
                                        </p:tgtEl>
                                        <p:attrNameLst>
                                          <p:attrName>style.visibility</p:attrName>
                                        </p:attrNameLst>
                                      </p:cBhvr>
                                      <p:to>
                                        <p:strVal val="visible"/>
                                      </p:to>
                                    </p:set>
                                    <p:animEffect transition="in" filter="fade">
                                      <p:cBhvr>
                                        <p:cTn id="25" dur="2000"/>
                                        <p:tgtEl>
                                          <p:spTgt spid="117763">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7763">
                                            <p:txEl>
                                              <p:pRg st="4" end="4"/>
                                            </p:txEl>
                                          </p:spTgt>
                                        </p:tgtEl>
                                        <p:attrNameLst>
                                          <p:attrName>style.visibility</p:attrName>
                                        </p:attrNameLst>
                                      </p:cBhvr>
                                      <p:to>
                                        <p:strVal val="visible"/>
                                      </p:to>
                                    </p:set>
                                    <p:animEffect transition="in" filter="fade">
                                      <p:cBhvr>
                                        <p:cTn id="28" dur="2000"/>
                                        <p:tgtEl>
                                          <p:spTgt spid="1177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autoUpdateAnimBg="0"/>
      <p:bldP spid="117763"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Rectangle 2"/>
          <p:cNvSpPr>
            <a:spLocks noGrp="1" noRot="1" noChangeArrowheads="1"/>
          </p:cNvSpPr>
          <p:nvPr>
            <p:ph type="title" idx="4294967295"/>
          </p:nvPr>
        </p:nvSpPr>
        <p:spPr>
          <a:xfrm>
            <a:off x="0" y="277813"/>
            <a:ext cx="8077200" cy="936625"/>
          </a:xfrm>
        </p:spPr>
        <p:txBody>
          <a:bodyPr/>
          <a:lstStyle/>
          <a:p>
            <a:pPr eaLnBrk="1" hangingPunct="1">
              <a:defRPr/>
            </a:pPr>
            <a:r>
              <a:rPr lang="en-US" dirty="0" smtClean="0">
                <a:solidFill>
                  <a:srgbClr val="FF0000"/>
                </a:solidFill>
                <a:effectLst>
                  <a:outerShdw blurRad="38100" dist="38100" dir="2700000" algn="tl">
                    <a:srgbClr val="000000"/>
                  </a:outerShdw>
                </a:effectLst>
              </a:rPr>
              <a:t>1</a:t>
            </a:r>
            <a:r>
              <a:rPr lang="zh-CN" altLang="en-US" dirty="0" smtClean="0">
                <a:solidFill>
                  <a:srgbClr val="FF0000"/>
                </a:solidFill>
                <a:effectLst>
                  <a:outerShdw blurRad="38100" dist="38100" dir="2700000" algn="tl">
                    <a:srgbClr val="000000"/>
                  </a:outerShdw>
                </a:effectLst>
              </a:rPr>
              <a:t>）</a:t>
            </a:r>
            <a:r>
              <a:rPr lang="zh-CN" altLang="en-US" b="1" dirty="0" smtClean="0">
                <a:solidFill>
                  <a:srgbClr val="FF0000"/>
                </a:solidFill>
                <a:effectLst>
                  <a:outerShdw blurRad="38100" dist="38100" dir="2700000" algn="tl">
                    <a:srgbClr val="000000"/>
                  </a:outerShdw>
                </a:effectLst>
              </a:rPr>
              <a:t>空闲盘块链</a:t>
            </a:r>
          </a:p>
        </p:txBody>
      </p:sp>
      <p:sp>
        <p:nvSpPr>
          <p:cNvPr id="117763" name="Rectangle 3"/>
          <p:cNvSpPr>
            <a:spLocks noGrp="1" noRot="1" noChangeArrowheads="1"/>
          </p:cNvSpPr>
          <p:nvPr>
            <p:ph type="body" idx="4294967295"/>
          </p:nvPr>
        </p:nvSpPr>
        <p:spPr>
          <a:xfrm>
            <a:off x="500034" y="1285875"/>
            <a:ext cx="8142287" cy="5167313"/>
          </a:xfrm>
        </p:spPr>
        <p:txBody>
          <a:bodyPr/>
          <a:lstStyle/>
          <a:p>
            <a:pPr eaLnBrk="1" hangingPunct="1">
              <a:lnSpc>
                <a:spcPct val="110000"/>
              </a:lnSpc>
            </a:pPr>
            <a:r>
              <a:rPr lang="en-US" altLang="zh-CN" sz="2800" b="1" dirty="0" smtClean="0"/>
              <a:t>(1) </a:t>
            </a:r>
            <a:r>
              <a:rPr lang="zh-CN" altLang="en-US" sz="2800" b="1" dirty="0" smtClean="0"/>
              <a:t>将磁盘上的所有空闲空间，</a:t>
            </a:r>
            <a:r>
              <a:rPr lang="zh-CN" altLang="en-US" sz="2800" b="1" i="1" u="sng" dirty="0" smtClean="0">
                <a:solidFill>
                  <a:srgbClr val="FF0000"/>
                </a:solidFill>
              </a:rPr>
              <a:t>以盘块为单位拉成一条链</a:t>
            </a:r>
            <a:r>
              <a:rPr lang="zh-CN" altLang="en-US" sz="2800" b="1" dirty="0" smtClean="0">
                <a:solidFill>
                  <a:srgbClr val="FF0000"/>
                </a:solidFill>
              </a:rPr>
              <a:t>。</a:t>
            </a:r>
          </a:p>
          <a:p>
            <a:pPr eaLnBrk="1" hangingPunct="1">
              <a:lnSpc>
                <a:spcPct val="110000"/>
              </a:lnSpc>
            </a:pPr>
            <a:r>
              <a:rPr lang="zh-CN" altLang="en-US" sz="2800" b="1" dirty="0" smtClean="0"/>
              <a:t>当因创建文件而请求分配存储空间时：</a:t>
            </a:r>
            <a:endParaRPr lang="en-US" sz="2800" b="1" dirty="0" smtClean="0"/>
          </a:p>
          <a:p>
            <a:pPr lvl="1" eaLnBrk="1" hangingPunct="1">
              <a:lnSpc>
                <a:spcPct val="110000"/>
              </a:lnSpc>
            </a:pPr>
            <a:r>
              <a:rPr lang="zh-CN" altLang="en-US" sz="2400" b="1" dirty="0" smtClean="0"/>
              <a:t>系统从链首开始，依次摘下适当数目的空闲盘块分配给用户。</a:t>
            </a:r>
          </a:p>
          <a:p>
            <a:pPr eaLnBrk="1" hangingPunct="1">
              <a:lnSpc>
                <a:spcPct val="110000"/>
              </a:lnSpc>
            </a:pPr>
            <a:r>
              <a:rPr lang="zh-CN" altLang="en-US" sz="2800" b="1" dirty="0" smtClean="0"/>
              <a:t>当用户因删除文件而释放存储空间时：</a:t>
            </a:r>
            <a:endParaRPr lang="en-US" sz="2800" b="1" dirty="0" smtClean="0"/>
          </a:p>
          <a:p>
            <a:pPr lvl="1" eaLnBrk="1" hangingPunct="1">
              <a:lnSpc>
                <a:spcPct val="110000"/>
              </a:lnSpc>
            </a:pPr>
            <a:r>
              <a:rPr lang="zh-CN" altLang="en-US" sz="2400" b="1" dirty="0" smtClean="0"/>
              <a:t>系统将回收的盘块依次插入空闲盘块链的末尾。</a:t>
            </a:r>
          </a:p>
          <a:p>
            <a:pPr eaLnBrk="1" hangingPunct="1">
              <a:lnSpc>
                <a:spcPct val="110000"/>
              </a:lnSpc>
            </a:pPr>
            <a:r>
              <a:rPr lang="zh-CN" altLang="en-US" sz="2800" b="1" dirty="0" smtClean="0"/>
              <a:t>这种方法的</a:t>
            </a:r>
            <a:r>
              <a:rPr lang="zh-CN" altLang="en-US" sz="2800" b="1" dirty="0" smtClean="0">
                <a:solidFill>
                  <a:srgbClr val="FF0000"/>
                </a:solidFill>
              </a:rPr>
              <a:t>优点：</a:t>
            </a:r>
            <a:r>
              <a:rPr lang="zh-CN" altLang="en-US" sz="2800" b="1" dirty="0" smtClean="0"/>
              <a:t>用于分配和回收一个盘块的过程非常简单</a:t>
            </a:r>
            <a:r>
              <a:rPr lang="en-US" altLang="zh-CN" sz="2800" b="1" dirty="0" smtClean="0"/>
              <a:t>.</a:t>
            </a:r>
          </a:p>
          <a:p>
            <a:pPr eaLnBrk="1" hangingPunct="1">
              <a:lnSpc>
                <a:spcPct val="110000"/>
              </a:lnSpc>
            </a:pPr>
            <a:endParaRPr lang="en-US" sz="28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8786"/>
                                        </p:tgtEl>
                                        <p:attrNameLst>
                                          <p:attrName>style.visibility</p:attrName>
                                        </p:attrNameLst>
                                      </p:cBhvr>
                                      <p:to>
                                        <p:strVal val="visible"/>
                                      </p:to>
                                    </p:set>
                                    <p:animEffect transition="in" filter="fade">
                                      <p:cBhvr>
                                        <p:cTn id="7" dur="2000"/>
                                        <p:tgtEl>
                                          <p:spTgt spid="1187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7763">
                                            <p:txEl>
                                              <p:pRg st="0" end="0"/>
                                            </p:txEl>
                                          </p:spTgt>
                                        </p:tgtEl>
                                        <p:attrNameLst>
                                          <p:attrName>style.visibility</p:attrName>
                                        </p:attrNameLst>
                                      </p:cBhvr>
                                      <p:to>
                                        <p:strVal val="visible"/>
                                      </p:to>
                                    </p:set>
                                    <p:animEffect transition="in" filter="fade">
                                      <p:cBhvr>
                                        <p:cTn id="12" dur="2000"/>
                                        <p:tgtEl>
                                          <p:spTgt spid="1177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7763">
                                            <p:txEl>
                                              <p:pRg st="1" end="1"/>
                                            </p:txEl>
                                          </p:spTgt>
                                        </p:tgtEl>
                                        <p:attrNameLst>
                                          <p:attrName>style.visibility</p:attrName>
                                        </p:attrNameLst>
                                      </p:cBhvr>
                                      <p:to>
                                        <p:strVal val="visible"/>
                                      </p:to>
                                    </p:set>
                                    <p:animEffect transition="in" filter="fade">
                                      <p:cBhvr>
                                        <p:cTn id="17" dur="2000"/>
                                        <p:tgtEl>
                                          <p:spTgt spid="117763">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7763">
                                            <p:txEl>
                                              <p:pRg st="2" end="2"/>
                                            </p:txEl>
                                          </p:spTgt>
                                        </p:tgtEl>
                                        <p:attrNameLst>
                                          <p:attrName>style.visibility</p:attrName>
                                        </p:attrNameLst>
                                      </p:cBhvr>
                                      <p:to>
                                        <p:strVal val="visible"/>
                                      </p:to>
                                    </p:set>
                                    <p:animEffect transition="in" filter="fade">
                                      <p:cBhvr>
                                        <p:cTn id="20" dur="2000"/>
                                        <p:tgtEl>
                                          <p:spTgt spid="11776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7763">
                                            <p:txEl>
                                              <p:pRg st="3" end="3"/>
                                            </p:txEl>
                                          </p:spTgt>
                                        </p:tgtEl>
                                        <p:attrNameLst>
                                          <p:attrName>style.visibility</p:attrName>
                                        </p:attrNameLst>
                                      </p:cBhvr>
                                      <p:to>
                                        <p:strVal val="visible"/>
                                      </p:to>
                                    </p:set>
                                    <p:animEffect transition="in" filter="fade">
                                      <p:cBhvr>
                                        <p:cTn id="25" dur="2000"/>
                                        <p:tgtEl>
                                          <p:spTgt spid="117763">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7763">
                                            <p:txEl>
                                              <p:pRg st="4" end="4"/>
                                            </p:txEl>
                                          </p:spTgt>
                                        </p:tgtEl>
                                        <p:attrNameLst>
                                          <p:attrName>style.visibility</p:attrName>
                                        </p:attrNameLst>
                                      </p:cBhvr>
                                      <p:to>
                                        <p:strVal val="visible"/>
                                      </p:to>
                                    </p:set>
                                    <p:animEffect transition="in" filter="fade">
                                      <p:cBhvr>
                                        <p:cTn id="28" dur="2000"/>
                                        <p:tgtEl>
                                          <p:spTgt spid="11776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7763">
                                            <p:txEl>
                                              <p:pRg st="5" end="5"/>
                                            </p:txEl>
                                          </p:spTgt>
                                        </p:tgtEl>
                                        <p:attrNameLst>
                                          <p:attrName>style.visibility</p:attrName>
                                        </p:attrNameLst>
                                      </p:cBhvr>
                                      <p:to>
                                        <p:strVal val="visible"/>
                                      </p:to>
                                    </p:set>
                                    <p:animEffect transition="in" filter="fade">
                                      <p:cBhvr>
                                        <p:cTn id="33" dur="2000"/>
                                        <p:tgtEl>
                                          <p:spTgt spid="1177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autoUpdateAnimBg="0"/>
      <p:bldP spid="11776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2"/>
          <p:cNvSpPr>
            <a:spLocks noGrp="1" noRot="1" noChangeArrowheads="1"/>
          </p:cNvSpPr>
          <p:nvPr>
            <p:ph type="title" idx="4294967295"/>
          </p:nvPr>
        </p:nvSpPr>
        <p:spPr>
          <a:xfrm>
            <a:off x="0" y="115888"/>
            <a:ext cx="8077200" cy="1066800"/>
          </a:xfrm>
        </p:spPr>
        <p:txBody>
          <a:bodyPr/>
          <a:lstStyle/>
          <a:p>
            <a:pPr eaLnBrk="1" hangingPunct="1">
              <a:defRPr/>
            </a:pPr>
            <a:r>
              <a:rPr lang="en-US" b="1" dirty="0" smtClean="0">
                <a:solidFill>
                  <a:srgbClr val="FF0000"/>
                </a:solidFill>
                <a:effectLst>
                  <a:outerShdw blurRad="38100" dist="38100" dir="2700000" algn="tl">
                    <a:srgbClr val="000000"/>
                  </a:outerShdw>
                </a:effectLst>
              </a:rPr>
              <a:t>2) </a:t>
            </a:r>
            <a:r>
              <a:rPr lang="zh-CN" altLang="en-US" b="1" dirty="0" smtClean="0">
                <a:solidFill>
                  <a:srgbClr val="FF0000"/>
                </a:solidFill>
                <a:effectLst>
                  <a:outerShdw blurRad="38100" dist="38100" dir="2700000" algn="tl">
                    <a:srgbClr val="000000"/>
                  </a:outerShdw>
                </a:effectLst>
              </a:rPr>
              <a:t>空闲盘区链</a:t>
            </a:r>
          </a:p>
        </p:txBody>
      </p:sp>
      <p:sp>
        <p:nvSpPr>
          <p:cNvPr id="118787" name="Rectangle 3"/>
          <p:cNvSpPr>
            <a:spLocks noGrp="1" noRot="1" noChangeArrowheads="1"/>
          </p:cNvSpPr>
          <p:nvPr>
            <p:ph type="body" idx="4294967295"/>
          </p:nvPr>
        </p:nvSpPr>
        <p:spPr>
          <a:xfrm>
            <a:off x="209576" y="1404938"/>
            <a:ext cx="8505828" cy="5192712"/>
          </a:xfrm>
        </p:spPr>
        <p:txBody>
          <a:bodyPr/>
          <a:lstStyle/>
          <a:p>
            <a:pPr eaLnBrk="1" hangingPunct="1"/>
            <a:r>
              <a:rPr lang="zh-CN" altLang="en-US" sz="2800" b="1" dirty="0" smtClean="0"/>
              <a:t>将磁盘上的所有</a:t>
            </a:r>
            <a:r>
              <a:rPr lang="zh-CN" altLang="en-US" sz="2800" b="1" i="1" u="sng" dirty="0" smtClean="0">
                <a:solidFill>
                  <a:srgbClr val="FF0000"/>
                </a:solidFill>
              </a:rPr>
              <a:t>空闲盘区</a:t>
            </a:r>
            <a:r>
              <a:rPr lang="en-US" altLang="zh-CN" sz="2800" b="1" i="1" u="sng" dirty="0" smtClean="0">
                <a:solidFill>
                  <a:srgbClr val="FF0000"/>
                </a:solidFill>
              </a:rPr>
              <a:t>(</a:t>
            </a:r>
            <a:r>
              <a:rPr lang="zh-CN" altLang="en-US" sz="2800" b="1" i="1" u="sng" dirty="0" smtClean="0">
                <a:solidFill>
                  <a:srgbClr val="FF0000"/>
                </a:solidFill>
              </a:rPr>
              <a:t>每个盘区可包含若干个盘块</a:t>
            </a:r>
            <a:r>
              <a:rPr lang="en-US" altLang="zh-CN" sz="2800" b="1" i="1" u="sng" dirty="0" smtClean="0">
                <a:solidFill>
                  <a:srgbClr val="FF0000"/>
                </a:solidFill>
              </a:rPr>
              <a:t>)</a:t>
            </a:r>
            <a:r>
              <a:rPr lang="zh-CN" altLang="en-US" sz="2800" b="1" dirty="0" smtClean="0"/>
              <a:t>拉成一条链。</a:t>
            </a:r>
          </a:p>
          <a:p>
            <a:pPr eaLnBrk="1" hangingPunct="1"/>
            <a:r>
              <a:rPr lang="zh-CN" altLang="en-US" sz="2800" b="1" dirty="0" smtClean="0"/>
              <a:t>在每个盘区上含有用于指示下一个空闲盘区的指针和能指明本盘区大小</a:t>
            </a:r>
            <a:r>
              <a:rPr lang="en-US" altLang="zh-CN" sz="2800" b="1" dirty="0" smtClean="0"/>
              <a:t>(</a:t>
            </a:r>
            <a:r>
              <a:rPr lang="zh-CN" altLang="en-US" sz="2800" b="1" dirty="0" smtClean="0"/>
              <a:t>盘块数</a:t>
            </a:r>
            <a:r>
              <a:rPr lang="en-US" altLang="zh-CN" sz="2800" b="1" dirty="0" smtClean="0"/>
              <a:t>)</a:t>
            </a:r>
            <a:r>
              <a:rPr lang="zh-CN" altLang="en-US" sz="2800" b="1" dirty="0" smtClean="0"/>
              <a:t>的信息。</a:t>
            </a:r>
          </a:p>
          <a:p>
            <a:pPr eaLnBrk="1" hangingPunct="1"/>
            <a:r>
              <a:rPr lang="zh-CN" altLang="en-US" sz="2800" b="1" dirty="0" smtClean="0"/>
              <a:t>分配盘区的方法与内存的动态分区分配类似，</a:t>
            </a:r>
            <a:r>
              <a:rPr lang="zh-CN" altLang="en-US" sz="2800" b="1" dirty="0" smtClean="0">
                <a:solidFill>
                  <a:srgbClr val="FF0000"/>
                </a:solidFill>
              </a:rPr>
              <a:t>通常采用首次适应算法。</a:t>
            </a:r>
          </a:p>
          <a:p>
            <a:pPr eaLnBrk="1" hangingPunct="1"/>
            <a:r>
              <a:rPr lang="zh-CN" altLang="en-US" sz="2800" b="1" dirty="0" smtClean="0"/>
              <a:t>在回收盘区时，同样也要将回收区与相邻接的空闲盘区相合并。</a:t>
            </a:r>
          </a:p>
          <a:p>
            <a:pPr eaLnBrk="1" hangingPunct="1"/>
            <a:endParaRPr lang="en-US" sz="28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9810"/>
                                        </p:tgtEl>
                                        <p:attrNameLst>
                                          <p:attrName>style.visibility</p:attrName>
                                        </p:attrNameLst>
                                      </p:cBhvr>
                                      <p:to>
                                        <p:strVal val="visible"/>
                                      </p:to>
                                    </p:set>
                                    <p:animEffect transition="in" filter="fade">
                                      <p:cBhvr>
                                        <p:cTn id="7" dur="2000"/>
                                        <p:tgtEl>
                                          <p:spTgt spid="1198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8787">
                                            <p:txEl>
                                              <p:pRg st="0" end="0"/>
                                            </p:txEl>
                                          </p:spTgt>
                                        </p:tgtEl>
                                        <p:attrNameLst>
                                          <p:attrName>style.visibility</p:attrName>
                                        </p:attrNameLst>
                                      </p:cBhvr>
                                      <p:to>
                                        <p:strVal val="visible"/>
                                      </p:to>
                                    </p:set>
                                    <p:animEffect transition="in" filter="fade">
                                      <p:cBhvr>
                                        <p:cTn id="12" dur="2000"/>
                                        <p:tgtEl>
                                          <p:spTgt spid="1187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8787">
                                            <p:txEl>
                                              <p:pRg st="1" end="1"/>
                                            </p:txEl>
                                          </p:spTgt>
                                        </p:tgtEl>
                                        <p:attrNameLst>
                                          <p:attrName>style.visibility</p:attrName>
                                        </p:attrNameLst>
                                      </p:cBhvr>
                                      <p:to>
                                        <p:strVal val="visible"/>
                                      </p:to>
                                    </p:set>
                                    <p:animEffect transition="in" filter="fade">
                                      <p:cBhvr>
                                        <p:cTn id="17" dur="2000"/>
                                        <p:tgtEl>
                                          <p:spTgt spid="11878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8787">
                                            <p:txEl>
                                              <p:pRg st="2" end="2"/>
                                            </p:txEl>
                                          </p:spTgt>
                                        </p:tgtEl>
                                        <p:attrNameLst>
                                          <p:attrName>style.visibility</p:attrName>
                                        </p:attrNameLst>
                                      </p:cBhvr>
                                      <p:to>
                                        <p:strVal val="visible"/>
                                      </p:to>
                                    </p:set>
                                    <p:animEffect transition="in" filter="fade">
                                      <p:cBhvr>
                                        <p:cTn id="22" dur="2000"/>
                                        <p:tgtEl>
                                          <p:spTgt spid="11878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8787">
                                            <p:txEl>
                                              <p:pRg st="3" end="3"/>
                                            </p:txEl>
                                          </p:spTgt>
                                        </p:tgtEl>
                                        <p:attrNameLst>
                                          <p:attrName>style.visibility</p:attrName>
                                        </p:attrNameLst>
                                      </p:cBhvr>
                                      <p:to>
                                        <p:strVal val="visible"/>
                                      </p:to>
                                    </p:set>
                                    <p:animEffect transition="in" filter="fade">
                                      <p:cBhvr>
                                        <p:cTn id="27" dur="2000"/>
                                        <p:tgtEl>
                                          <p:spTgt spid="1187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autoUpdateAnimBg="0"/>
      <p:bldP spid="118787"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Rot="1" noChangeArrowheads="1"/>
          </p:cNvSpPr>
          <p:nvPr>
            <p:ph type="title" idx="4294967295"/>
          </p:nvPr>
        </p:nvSpPr>
        <p:spPr>
          <a:xfrm>
            <a:off x="0" y="201613"/>
            <a:ext cx="8077200" cy="1066800"/>
          </a:xfrm>
        </p:spPr>
        <p:txBody>
          <a:bodyPr/>
          <a:lstStyle/>
          <a:p>
            <a:pPr eaLnBrk="1" hangingPunct="1">
              <a:defRPr/>
            </a:pPr>
            <a:r>
              <a:rPr lang="en-US" b="1" dirty="0" smtClean="0">
                <a:solidFill>
                  <a:srgbClr val="FF0000"/>
                </a:solidFill>
                <a:effectLst>
                  <a:outerShdw blurRad="38100" dist="38100" dir="2700000" algn="tl">
                    <a:srgbClr val="000000"/>
                  </a:outerShdw>
                </a:effectLst>
              </a:rPr>
              <a:t>2) </a:t>
            </a:r>
            <a:r>
              <a:rPr lang="zh-CN" altLang="en-US" b="1" dirty="0" smtClean="0">
                <a:solidFill>
                  <a:srgbClr val="FF0000"/>
                </a:solidFill>
                <a:effectLst>
                  <a:outerShdw blurRad="38100" dist="38100" dir="2700000" algn="tl">
                    <a:srgbClr val="000000"/>
                  </a:outerShdw>
                </a:effectLst>
              </a:rPr>
              <a:t>空闲盘区链</a:t>
            </a:r>
          </a:p>
        </p:txBody>
      </p:sp>
      <p:sp>
        <p:nvSpPr>
          <p:cNvPr id="119811" name="Rectangle 3"/>
          <p:cNvSpPr>
            <a:spLocks noGrp="1" noRot="1" noChangeArrowheads="1"/>
          </p:cNvSpPr>
          <p:nvPr>
            <p:ph type="body" idx="4294967295"/>
          </p:nvPr>
        </p:nvSpPr>
        <p:spPr>
          <a:xfrm>
            <a:off x="71438" y="1601787"/>
            <a:ext cx="8643966" cy="1684337"/>
          </a:xfrm>
        </p:spPr>
        <p:txBody>
          <a:bodyPr>
            <a:noAutofit/>
          </a:bodyPr>
          <a:lstStyle/>
          <a:p>
            <a:pPr eaLnBrk="1" hangingPunct="1">
              <a:lnSpc>
                <a:spcPct val="110000"/>
              </a:lnSpc>
            </a:pPr>
            <a:r>
              <a:rPr lang="zh-CN" sz="2800" b="1" dirty="0" smtClean="0"/>
              <a:t>为了提高对空闲盘区的检索速度，可以采用显式链接方法，亦即，在内存中为空闲盘区建立一张链表。</a:t>
            </a:r>
          </a:p>
          <a:p>
            <a:pPr eaLnBrk="1" hangingPunct="1">
              <a:lnSpc>
                <a:spcPct val="110000"/>
              </a:lnSpc>
            </a:pPr>
            <a:r>
              <a:rPr lang="zh-CN" sz="2800" b="1" dirty="0" smtClean="0"/>
              <a:t>每个分区结点内容：</a:t>
            </a:r>
            <a:r>
              <a:rPr lang="zh-CN" sz="2800" b="1" dirty="0" smtClean="0">
                <a:solidFill>
                  <a:srgbClr val="FF0000"/>
                </a:solidFill>
              </a:rPr>
              <a:t>起始盘块号、盘块数、指向下一个空闲盘区的指针。</a:t>
            </a:r>
          </a:p>
        </p:txBody>
      </p:sp>
      <p:sp>
        <p:nvSpPr>
          <p:cNvPr id="119812" name="Rectangle 36"/>
          <p:cNvSpPr>
            <a:spLocks noChangeArrowheads="1"/>
          </p:cNvSpPr>
          <p:nvPr/>
        </p:nvSpPr>
        <p:spPr bwMode="auto">
          <a:xfrm>
            <a:off x="539750" y="4124346"/>
            <a:ext cx="8135938" cy="2305050"/>
          </a:xfrm>
          <a:prstGeom prst="rect">
            <a:avLst/>
          </a:prstGeom>
          <a:solidFill>
            <a:schemeClr val="bg2">
              <a:lumMod val="90000"/>
            </a:schemeClr>
          </a:solidFill>
          <a:ln w="9525">
            <a:solidFill>
              <a:schemeClr val="tx1"/>
            </a:solidFill>
            <a:miter lim="800000"/>
            <a:headEnd/>
            <a:tailEnd/>
          </a:ln>
        </p:spPr>
        <p:txBody>
          <a:bodyPr wrap="none" anchor="ctr"/>
          <a:lstStyle/>
          <a:p>
            <a:endParaRPr lang="zh-CN" altLang="en-US"/>
          </a:p>
        </p:txBody>
      </p:sp>
      <p:grpSp>
        <p:nvGrpSpPr>
          <p:cNvPr id="2" name="Group 37"/>
          <p:cNvGrpSpPr>
            <a:grpSpLocks/>
          </p:cNvGrpSpPr>
          <p:nvPr/>
        </p:nvGrpSpPr>
        <p:grpSpPr bwMode="auto">
          <a:xfrm>
            <a:off x="755650" y="4365625"/>
            <a:ext cx="7632700" cy="2232025"/>
            <a:chOff x="0" y="0"/>
            <a:chExt cx="7920" cy="1752"/>
          </a:xfrm>
        </p:grpSpPr>
        <p:sp>
          <p:nvSpPr>
            <p:cNvPr id="119814" name="Text Box 38"/>
            <p:cNvSpPr txBox="1">
              <a:spLocks noChangeArrowheads="1"/>
            </p:cNvSpPr>
            <p:nvPr/>
          </p:nvSpPr>
          <p:spPr bwMode="auto">
            <a:xfrm>
              <a:off x="180" y="1248"/>
              <a:ext cx="7740" cy="504"/>
            </a:xfrm>
            <a:prstGeom prst="rect">
              <a:avLst/>
            </a:prstGeom>
            <a:noFill/>
            <a:ln w="9525">
              <a:noFill/>
              <a:miter lim="800000"/>
              <a:headEnd/>
              <a:tailEnd/>
            </a:ln>
          </p:spPr>
          <p:txBody>
            <a:bodyPr/>
            <a:lstStyle/>
            <a:p>
              <a:pPr algn="ctr" eaLnBrk="0" hangingPunct="0"/>
              <a:r>
                <a:rPr lang="zh-CN" altLang="en-US" b="1">
                  <a:solidFill>
                    <a:srgbClr val="000000"/>
                  </a:solidFill>
                  <a:latin typeface="Times New Roman" pitchFamily="18" charset="0"/>
                </a:rPr>
                <a:t>表  空闲分区链表</a:t>
              </a:r>
            </a:p>
          </p:txBody>
        </p:sp>
        <p:grpSp>
          <p:nvGrpSpPr>
            <p:cNvPr id="3" name="Group 39"/>
            <p:cNvGrpSpPr>
              <a:grpSpLocks/>
            </p:cNvGrpSpPr>
            <p:nvPr/>
          </p:nvGrpSpPr>
          <p:grpSpPr bwMode="auto">
            <a:xfrm>
              <a:off x="180" y="777"/>
              <a:ext cx="7740" cy="315"/>
              <a:chOff x="0" y="0"/>
              <a:chExt cx="7740" cy="315"/>
            </a:xfrm>
          </p:grpSpPr>
          <p:grpSp>
            <p:nvGrpSpPr>
              <p:cNvPr id="4" name="Group 40"/>
              <p:cNvGrpSpPr>
                <a:grpSpLocks/>
              </p:cNvGrpSpPr>
              <p:nvPr/>
            </p:nvGrpSpPr>
            <p:grpSpPr bwMode="auto">
              <a:xfrm>
                <a:off x="6660" y="3"/>
                <a:ext cx="1080" cy="312"/>
                <a:chOff x="0" y="0"/>
                <a:chExt cx="1080" cy="312"/>
              </a:xfrm>
            </p:grpSpPr>
            <p:sp>
              <p:nvSpPr>
                <p:cNvPr id="119842" name="Text Box 41"/>
                <p:cNvSpPr txBox="1">
                  <a:spLocks noChangeArrowheads="1"/>
                </p:cNvSpPr>
                <p:nvPr/>
              </p:nvSpPr>
              <p:spPr bwMode="auto">
                <a:xfrm>
                  <a:off x="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a:t>
                  </a:r>
                </a:p>
              </p:txBody>
            </p:sp>
            <p:sp>
              <p:nvSpPr>
                <p:cNvPr id="119843" name="Text Box 42"/>
                <p:cNvSpPr txBox="1">
                  <a:spLocks noChangeArrowheads="1"/>
                </p:cNvSpPr>
                <p:nvPr/>
              </p:nvSpPr>
              <p:spPr bwMode="auto">
                <a:xfrm>
                  <a:off x="36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a:t>
                  </a:r>
                </a:p>
              </p:txBody>
            </p:sp>
            <p:sp>
              <p:nvSpPr>
                <p:cNvPr id="119844" name="Text Box 43"/>
                <p:cNvSpPr txBox="1">
                  <a:spLocks noChangeArrowheads="1"/>
                </p:cNvSpPr>
                <p:nvPr/>
              </p:nvSpPr>
              <p:spPr bwMode="auto">
                <a:xfrm>
                  <a:off x="72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a:t>
                  </a:r>
                </a:p>
              </p:txBody>
            </p:sp>
          </p:grpSp>
          <p:grpSp>
            <p:nvGrpSpPr>
              <p:cNvPr id="5" name="Group 44"/>
              <p:cNvGrpSpPr>
                <a:grpSpLocks/>
              </p:cNvGrpSpPr>
              <p:nvPr/>
            </p:nvGrpSpPr>
            <p:grpSpPr bwMode="auto">
              <a:xfrm>
                <a:off x="0" y="0"/>
                <a:ext cx="6120" cy="315"/>
                <a:chOff x="0" y="0"/>
                <a:chExt cx="6120" cy="315"/>
              </a:xfrm>
            </p:grpSpPr>
            <p:grpSp>
              <p:nvGrpSpPr>
                <p:cNvPr id="6" name="Group 45"/>
                <p:cNvGrpSpPr>
                  <a:grpSpLocks/>
                </p:cNvGrpSpPr>
                <p:nvPr/>
              </p:nvGrpSpPr>
              <p:grpSpPr bwMode="auto">
                <a:xfrm>
                  <a:off x="0" y="0"/>
                  <a:ext cx="1080" cy="312"/>
                  <a:chOff x="0" y="0"/>
                  <a:chExt cx="1080" cy="312"/>
                </a:xfrm>
              </p:grpSpPr>
              <p:sp>
                <p:nvSpPr>
                  <p:cNvPr id="119839" name="Text Box 46"/>
                  <p:cNvSpPr txBox="1">
                    <a:spLocks noChangeArrowheads="1"/>
                  </p:cNvSpPr>
                  <p:nvPr/>
                </p:nvSpPr>
                <p:spPr bwMode="auto">
                  <a:xfrm>
                    <a:off x="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0</a:t>
                    </a:r>
                  </a:p>
                </p:txBody>
              </p:sp>
              <p:sp>
                <p:nvSpPr>
                  <p:cNvPr id="119840" name="Text Box 47"/>
                  <p:cNvSpPr txBox="1">
                    <a:spLocks noChangeArrowheads="1"/>
                  </p:cNvSpPr>
                  <p:nvPr/>
                </p:nvSpPr>
                <p:spPr bwMode="auto">
                  <a:xfrm>
                    <a:off x="36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1</a:t>
                    </a:r>
                  </a:p>
                </p:txBody>
              </p:sp>
              <p:sp>
                <p:nvSpPr>
                  <p:cNvPr id="119841" name="Text Box 48"/>
                  <p:cNvSpPr txBox="1">
                    <a:spLocks noChangeArrowheads="1"/>
                  </p:cNvSpPr>
                  <p:nvPr/>
                </p:nvSpPr>
                <p:spPr bwMode="auto">
                  <a:xfrm>
                    <a:off x="720" y="0"/>
                    <a:ext cx="360" cy="312"/>
                  </a:xfrm>
                  <a:prstGeom prst="rect">
                    <a:avLst/>
                  </a:prstGeom>
                  <a:noFill/>
                  <a:ln w="9525">
                    <a:solidFill>
                      <a:srgbClr val="000000"/>
                    </a:solidFill>
                    <a:miter lim="800000"/>
                    <a:headEnd/>
                    <a:tailEnd/>
                  </a:ln>
                </p:spPr>
                <p:txBody>
                  <a:bodyPr lIns="0" tIns="0" rIns="0" bIns="0"/>
                  <a:lstStyle/>
                  <a:p>
                    <a:pPr algn="ctr" eaLnBrk="0" hangingPunct="0"/>
                    <a:endParaRPr lang="zh-CN" altLang="en-US" sz="1600" b="1">
                      <a:solidFill>
                        <a:srgbClr val="000000"/>
                      </a:solidFill>
                      <a:latin typeface="Times New Roman" pitchFamily="18" charset="0"/>
                    </a:endParaRPr>
                  </a:p>
                </p:txBody>
              </p:sp>
            </p:grpSp>
            <p:grpSp>
              <p:nvGrpSpPr>
                <p:cNvPr id="7" name="Group 49"/>
                <p:cNvGrpSpPr>
                  <a:grpSpLocks/>
                </p:cNvGrpSpPr>
                <p:nvPr/>
              </p:nvGrpSpPr>
              <p:grpSpPr bwMode="auto">
                <a:xfrm>
                  <a:off x="1440" y="0"/>
                  <a:ext cx="1080" cy="312"/>
                  <a:chOff x="0" y="0"/>
                  <a:chExt cx="1080" cy="312"/>
                </a:xfrm>
              </p:grpSpPr>
              <p:sp>
                <p:nvSpPr>
                  <p:cNvPr id="119836" name="Text Box 50"/>
                  <p:cNvSpPr txBox="1">
                    <a:spLocks noChangeArrowheads="1"/>
                  </p:cNvSpPr>
                  <p:nvPr/>
                </p:nvSpPr>
                <p:spPr bwMode="auto">
                  <a:xfrm>
                    <a:off x="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5</a:t>
                    </a:r>
                  </a:p>
                </p:txBody>
              </p:sp>
              <p:sp>
                <p:nvSpPr>
                  <p:cNvPr id="119837" name="Text Box 51"/>
                  <p:cNvSpPr txBox="1">
                    <a:spLocks noChangeArrowheads="1"/>
                  </p:cNvSpPr>
                  <p:nvPr/>
                </p:nvSpPr>
                <p:spPr bwMode="auto">
                  <a:xfrm>
                    <a:off x="36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4</a:t>
                    </a:r>
                  </a:p>
                </p:txBody>
              </p:sp>
              <p:sp>
                <p:nvSpPr>
                  <p:cNvPr id="119838" name="Text Box 52"/>
                  <p:cNvSpPr txBox="1">
                    <a:spLocks noChangeArrowheads="1"/>
                  </p:cNvSpPr>
                  <p:nvPr/>
                </p:nvSpPr>
                <p:spPr bwMode="auto">
                  <a:xfrm>
                    <a:off x="720" y="0"/>
                    <a:ext cx="360" cy="312"/>
                  </a:xfrm>
                  <a:prstGeom prst="rect">
                    <a:avLst/>
                  </a:prstGeom>
                  <a:noFill/>
                  <a:ln w="9525">
                    <a:solidFill>
                      <a:srgbClr val="000000"/>
                    </a:solidFill>
                    <a:miter lim="800000"/>
                    <a:headEnd/>
                    <a:tailEnd/>
                  </a:ln>
                </p:spPr>
                <p:txBody>
                  <a:bodyPr lIns="0" tIns="0" rIns="0" bIns="0"/>
                  <a:lstStyle/>
                  <a:p>
                    <a:pPr algn="ctr" eaLnBrk="0" hangingPunct="0"/>
                    <a:endParaRPr lang="zh-CN" altLang="en-US" sz="1600" b="1">
                      <a:solidFill>
                        <a:srgbClr val="000000"/>
                      </a:solidFill>
                      <a:latin typeface="Times New Roman" pitchFamily="18" charset="0"/>
                    </a:endParaRPr>
                  </a:p>
                </p:txBody>
              </p:sp>
            </p:grpSp>
            <p:grpSp>
              <p:nvGrpSpPr>
                <p:cNvPr id="8" name="Group 53"/>
                <p:cNvGrpSpPr>
                  <a:grpSpLocks/>
                </p:cNvGrpSpPr>
                <p:nvPr/>
              </p:nvGrpSpPr>
              <p:grpSpPr bwMode="auto">
                <a:xfrm>
                  <a:off x="2880" y="0"/>
                  <a:ext cx="1080" cy="312"/>
                  <a:chOff x="0" y="0"/>
                  <a:chExt cx="1080" cy="312"/>
                </a:xfrm>
              </p:grpSpPr>
              <p:sp>
                <p:nvSpPr>
                  <p:cNvPr id="119833" name="Text Box 54"/>
                  <p:cNvSpPr txBox="1">
                    <a:spLocks noChangeArrowheads="1"/>
                  </p:cNvSpPr>
                  <p:nvPr/>
                </p:nvSpPr>
                <p:spPr bwMode="auto">
                  <a:xfrm>
                    <a:off x="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18</a:t>
                    </a:r>
                  </a:p>
                </p:txBody>
              </p:sp>
              <p:sp>
                <p:nvSpPr>
                  <p:cNvPr id="119834" name="Text Box 55"/>
                  <p:cNvSpPr txBox="1">
                    <a:spLocks noChangeArrowheads="1"/>
                  </p:cNvSpPr>
                  <p:nvPr/>
                </p:nvSpPr>
                <p:spPr bwMode="auto">
                  <a:xfrm>
                    <a:off x="36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2</a:t>
                    </a:r>
                  </a:p>
                </p:txBody>
              </p:sp>
              <p:sp>
                <p:nvSpPr>
                  <p:cNvPr id="119835" name="Text Box 56"/>
                  <p:cNvSpPr txBox="1">
                    <a:spLocks noChangeArrowheads="1"/>
                  </p:cNvSpPr>
                  <p:nvPr/>
                </p:nvSpPr>
                <p:spPr bwMode="auto">
                  <a:xfrm>
                    <a:off x="720" y="0"/>
                    <a:ext cx="360" cy="312"/>
                  </a:xfrm>
                  <a:prstGeom prst="rect">
                    <a:avLst/>
                  </a:prstGeom>
                  <a:noFill/>
                  <a:ln w="9525">
                    <a:solidFill>
                      <a:srgbClr val="000000"/>
                    </a:solidFill>
                    <a:miter lim="800000"/>
                    <a:headEnd/>
                    <a:tailEnd/>
                  </a:ln>
                </p:spPr>
                <p:txBody>
                  <a:bodyPr lIns="0" tIns="0" rIns="0" bIns="0"/>
                  <a:lstStyle/>
                  <a:p>
                    <a:pPr algn="ctr" eaLnBrk="0" hangingPunct="0"/>
                    <a:endParaRPr lang="zh-CN" altLang="en-US" sz="1600" b="1">
                      <a:solidFill>
                        <a:srgbClr val="000000"/>
                      </a:solidFill>
                      <a:latin typeface="Times New Roman" pitchFamily="18" charset="0"/>
                    </a:endParaRPr>
                  </a:p>
                </p:txBody>
              </p:sp>
            </p:grpSp>
            <p:grpSp>
              <p:nvGrpSpPr>
                <p:cNvPr id="9" name="Group 57"/>
                <p:cNvGrpSpPr>
                  <a:grpSpLocks/>
                </p:cNvGrpSpPr>
                <p:nvPr/>
              </p:nvGrpSpPr>
              <p:grpSpPr bwMode="auto">
                <a:xfrm>
                  <a:off x="4320" y="0"/>
                  <a:ext cx="1080" cy="312"/>
                  <a:chOff x="0" y="0"/>
                  <a:chExt cx="1080" cy="312"/>
                </a:xfrm>
              </p:grpSpPr>
              <p:sp>
                <p:nvSpPr>
                  <p:cNvPr id="119830" name="Text Box 58"/>
                  <p:cNvSpPr txBox="1">
                    <a:spLocks noChangeArrowheads="1"/>
                  </p:cNvSpPr>
                  <p:nvPr/>
                </p:nvSpPr>
                <p:spPr bwMode="auto">
                  <a:xfrm>
                    <a:off x="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24</a:t>
                    </a:r>
                  </a:p>
                </p:txBody>
              </p:sp>
              <p:sp>
                <p:nvSpPr>
                  <p:cNvPr id="119831" name="Text Box 59"/>
                  <p:cNvSpPr txBox="1">
                    <a:spLocks noChangeArrowheads="1"/>
                  </p:cNvSpPr>
                  <p:nvPr/>
                </p:nvSpPr>
                <p:spPr bwMode="auto">
                  <a:xfrm>
                    <a:off x="360" y="0"/>
                    <a:ext cx="360" cy="312"/>
                  </a:xfrm>
                  <a:prstGeom prst="rect">
                    <a:avLst/>
                  </a:prstGeom>
                  <a:noFill/>
                  <a:ln w="9525">
                    <a:solidFill>
                      <a:srgbClr val="000000"/>
                    </a:solid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7</a:t>
                    </a:r>
                  </a:p>
                </p:txBody>
              </p:sp>
              <p:sp>
                <p:nvSpPr>
                  <p:cNvPr id="119832" name="Text Box 60"/>
                  <p:cNvSpPr txBox="1">
                    <a:spLocks noChangeArrowheads="1"/>
                  </p:cNvSpPr>
                  <p:nvPr/>
                </p:nvSpPr>
                <p:spPr bwMode="auto">
                  <a:xfrm>
                    <a:off x="720" y="0"/>
                    <a:ext cx="360" cy="312"/>
                  </a:xfrm>
                  <a:prstGeom prst="rect">
                    <a:avLst/>
                  </a:prstGeom>
                  <a:noFill/>
                  <a:ln w="9525">
                    <a:solidFill>
                      <a:srgbClr val="000000"/>
                    </a:solidFill>
                    <a:miter lim="800000"/>
                    <a:headEnd/>
                    <a:tailEnd/>
                  </a:ln>
                </p:spPr>
                <p:txBody>
                  <a:bodyPr lIns="0" tIns="0" rIns="0" bIns="0"/>
                  <a:lstStyle/>
                  <a:p>
                    <a:pPr algn="ctr" eaLnBrk="0" hangingPunct="0"/>
                    <a:endParaRPr lang="zh-CN" altLang="en-US" sz="1600" b="1">
                      <a:solidFill>
                        <a:srgbClr val="000000"/>
                      </a:solidFill>
                      <a:latin typeface="Times New Roman" pitchFamily="18" charset="0"/>
                    </a:endParaRPr>
                  </a:p>
                </p:txBody>
              </p:sp>
            </p:grpSp>
            <p:sp>
              <p:nvSpPr>
                <p:cNvPr id="119825" name="Line 61"/>
                <p:cNvSpPr>
                  <a:spLocks noChangeShapeType="1"/>
                </p:cNvSpPr>
                <p:nvPr/>
              </p:nvSpPr>
              <p:spPr bwMode="auto">
                <a:xfrm>
                  <a:off x="900" y="156"/>
                  <a:ext cx="540" cy="0"/>
                </a:xfrm>
                <a:prstGeom prst="line">
                  <a:avLst/>
                </a:prstGeom>
                <a:noFill/>
                <a:ln w="9525">
                  <a:solidFill>
                    <a:srgbClr val="000000"/>
                  </a:solidFill>
                  <a:round/>
                  <a:headEnd/>
                  <a:tailEnd type="triangle" w="med" len="med"/>
                </a:ln>
              </p:spPr>
              <p:txBody>
                <a:bodyPr/>
                <a:lstStyle/>
                <a:p>
                  <a:endParaRPr lang="zh-CN" altLang="en-US"/>
                </a:p>
              </p:txBody>
            </p:sp>
            <p:sp>
              <p:nvSpPr>
                <p:cNvPr id="119826" name="Line 62"/>
                <p:cNvSpPr>
                  <a:spLocks noChangeShapeType="1"/>
                </p:cNvSpPr>
                <p:nvPr/>
              </p:nvSpPr>
              <p:spPr bwMode="auto">
                <a:xfrm>
                  <a:off x="2340" y="156"/>
                  <a:ext cx="540" cy="0"/>
                </a:xfrm>
                <a:prstGeom prst="line">
                  <a:avLst/>
                </a:prstGeom>
                <a:noFill/>
                <a:ln w="9525">
                  <a:solidFill>
                    <a:srgbClr val="000000"/>
                  </a:solidFill>
                  <a:round/>
                  <a:headEnd/>
                  <a:tailEnd type="triangle" w="med" len="med"/>
                </a:ln>
              </p:spPr>
              <p:txBody>
                <a:bodyPr/>
                <a:lstStyle/>
                <a:p>
                  <a:endParaRPr lang="zh-CN" altLang="en-US"/>
                </a:p>
              </p:txBody>
            </p:sp>
            <p:sp>
              <p:nvSpPr>
                <p:cNvPr id="119827" name="Line 63"/>
                <p:cNvSpPr>
                  <a:spLocks noChangeShapeType="1"/>
                </p:cNvSpPr>
                <p:nvPr/>
              </p:nvSpPr>
              <p:spPr bwMode="auto">
                <a:xfrm>
                  <a:off x="3780" y="156"/>
                  <a:ext cx="540" cy="0"/>
                </a:xfrm>
                <a:prstGeom prst="line">
                  <a:avLst/>
                </a:prstGeom>
                <a:noFill/>
                <a:ln w="9525">
                  <a:solidFill>
                    <a:srgbClr val="000000"/>
                  </a:solidFill>
                  <a:round/>
                  <a:headEnd/>
                  <a:tailEnd type="triangle" w="med" len="med"/>
                </a:ln>
              </p:spPr>
              <p:txBody>
                <a:bodyPr/>
                <a:lstStyle/>
                <a:p>
                  <a:endParaRPr lang="zh-CN" altLang="en-US"/>
                </a:p>
              </p:txBody>
            </p:sp>
            <p:sp>
              <p:nvSpPr>
                <p:cNvPr id="119828" name="Line 64"/>
                <p:cNvSpPr>
                  <a:spLocks noChangeShapeType="1"/>
                </p:cNvSpPr>
                <p:nvPr/>
              </p:nvSpPr>
              <p:spPr bwMode="auto">
                <a:xfrm>
                  <a:off x="5220" y="156"/>
                  <a:ext cx="540" cy="0"/>
                </a:xfrm>
                <a:prstGeom prst="line">
                  <a:avLst/>
                </a:prstGeom>
                <a:noFill/>
                <a:ln w="9525">
                  <a:solidFill>
                    <a:srgbClr val="000000"/>
                  </a:solidFill>
                  <a:round/>
                  <a:headEnd/>
                  <a:tailEnd type="triangle" w="med" len="med"/>
                </a:ln>
              </p:spPr>
              <p:txBody>
                <a:bodyPr/>
                <a:lstStyle/>
                <a:p>
                  <a:endParaRPr lang="zh-CN" altLang="en-US"/>
                </a:p>
              </p:txBody>
            </p:sp>
            <p:sp>
              <p:nvSpPr>
                <p:cNvPr id="119829" name="Text Box 65"/>
                <p:cNvSpPr txBox="1">
                  <a:spLocks noChangeArrowheads="1"/>
                </p:cNvSpPr>
                <p:nvPr/>
              </p:nvSpPr>
              <p:spPr bwMode="auto">
                <a:xfrm>
                  <a:off x="5760" y="3"/>
                  <a:ext cx="360" cy="312"/>
                </a:xfrm>
                <a:prstGeom prst="rect">
                  <a:avLst/>
                </a:prstGeom>
                <a:noFill/>
                <a:ln w="9525">
                  <a:noFill/>
                  <a:miter lim="800000"/>
                  <a:headEnd/>
                  <a:tailEnd/>
                </a:ln>
              </p:spPr>
              <p:txBody>
                <a:bodyPr lIns="0" tIns="0" rIns="0" bIns="0"/>
                <a:lstStyle/>
                <a:p>
                  <a:pPr algn="ctr" eaLnBrk="0" hangingPunct="0"/>
                  <a:r>
                    <a:rPr lang="en-US" altLang="zh-CN" sz="1600" b="1">
                      <a:solidFill>
                        <a:srgbClr val="000000"/>
                      </a:solidFill>
                      <a:latin typeface="Times New Roman" pitchFamily="18" charset="0"/>
                    </a:rPr>
                    <a:t>…</a:t>
                  </a:r>
                </a:p>
              </p:txBody>
            </p:sp>
          </p:grpSp>
          <p:sp>
            <p:nvSpPr>
              <p:cNvPr id="119820" name="Line 66"/>
              <p:cNvSpPr>
                <a:spLocks noChangeShapeType="1"/>
              </p:cNvSpPr>
              <p:nvPr/>
            </p:nvSpPr>
            <p:spPr bwMode="auto">
              <a:xfrm>
                <a:off x="6300" y="159"/>
                <a:ext cx="360" cy="0"/>
              </a:xfrm>
              <a:prstGeom prst="line">
                <a:avLst/>
              </a:prstGeom>
              <a:noFill/>
              <a:ln w="9525">
                <a:solidFill>
                  <a:srgbClr val="000000"/>
                </a:solidFill>
                <a:round/>
                <a:headEnd/>
                <a:tailEnd type="triangle" w="med" len="med"/>
              </a:ln>
            </p:spPr>
            <p:txBody>
              <a:bodyPr/>
              <a:lstStyle/>
              <a:p>
                <a:endParaRPr lang="zh-CN" altLang="en-US"/>
              </a:p>
            </p:txBody>
          </p:sp>
        </p:grpSp>
        <p:sp>
          <p:nvSpPr>
            <p:cNvPr id="119816" name="Text Box 67"/>
            <p:cNvSpPr txBox="1">
              <a:spLocks noChangeArrowheads="1"/>
            </p:cNvSpPr>
            <p:nvPr/>
          </p:nvSpPr>
          <p:spPr bwMode="auto">
            <a:xfrm>
              <a:off x="0" y="0"/>
              <a:ext cx="720" cy="468"/>
            </a:xfrm>
            <a:prstGeom prst="rect">
              <a:avLst/>
            </a:prstGeom>
            <a:noFill/>
            <a:ln w="9525">
              <a:solidFill>
                <a:srgbClr val="000000"/>
              </a:solidFill>
              <a:miter lim="800000"/>
              <a:headEnd/>
              <a:tailEnd/>
            </a:ln>
          </p:spPr>
          <p:txBody>
            <a:bodyPr/>
            <a:lstStyle/>
            <a:p>
              <a:pPr algn="just" eaLnBrk="0" hangingPunct="0"/>
              <a:r>
                <a:rPr lang="en-US" altLang="zh-CN" sz="1600" b="1">
                  <a:solidFill>
                    <a:srgbClr val="000000"/>
                  </a:solidFill>
                  <a:latin typeface="Times New Roman" pitchFamily="18" charset="0"/>
                </a:rPr>
                <a:t>head</a:t>
              </a:r>
            </a:p>
          </p:txBody>
        </p:sp>
        <p:sp>
          <p:nvSpPr>
            <p:cNvPr id="119817" name="Line 68"/>
            <p:cNvSpPr>
              <a:spLocks noChangeShapeType="1"/>
            </p:cNvSpPr>
            <p:nvPr/>
          </p:nvSpPr>
          <p:spPr bwMode="auto">
            <a:xfrm>
              <a:off x="360" y="468"/>
              <a:ext cx="0" cy="312"/>
            </a:xfrm>
            <a:prstGeom prst="line">
              <a:avLst/>
            </a:prstGeom>
            <a:noFill/>
            <a:ln w="9525">
              <a:solidFill>
                <a:srgbClr val="000000"/>
              </a:solidFill>
              <a:round/>
              <a:headEnd/>
              <a:tailEnd type="triangl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0834"/>
                                        </p:tgtEl>
                                        <p:attrNameLst>
                                          <p:attrName>style.visibility</p:attrName>
                                        </p:attrNameLst>
                                      </p:cBhvr>
                                      <p:to>
                                        <p:strVal val="visible"/>
                                      </p:to>
                                    </p:set>
                                    <p:animEffect transition="in" filter="fade">
                                      <p:cBhvr>
                                        <p:cTn id="7" dur="2000"/>
                                        <p:tgtEl>
                                          <p:spTgt spid="1208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9811">
                                            <p:txEl>
                                              <p:pRg st="0" end="0"/>
                                            </p:txEl>
                                          </p:spTgt>
                                        </p:tgtEl>
                                        <p:attrNameLst>
                                          <p:attrName>style.visibility</p:attrName>
                                        </p:attrNameLst>
                                      </p:cBhvr>
                                      <p:to>
                                        <p:strVal val="visible"/>
                                      </p:to>
                                    </p:set>
                                    <p:animEffect transition="in" filter="fade">
                                      <p:cBhvr>
                                        <p:cTn id="12" dur="2000"/>
                                        <p:tgtEl>
                                          <p:spTgt spid="1198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9811">
                                            <p:txEl>
                                              <p:pRg st="1" end="1"/>
                                            </p:txEl>
                                          </p:spTgt>
                                        </p:tgtEl>
                                        <p:attrNameLst>
                                          <p:attrName>style.visibility</p:attrName>
                                        </p:attrNameLst>
                                      </p:cBhvr>
                                      <p:to>
                                        <p:strVal val="visible"/>
                                      </p:to>
                                    </p:set>
                                    <p:animEffect transition="in" filter="fade">
                                      <p:cBhvr>
                                        <p:cTn id="17" dur="2000"/>
                                        <p:tgtEl>
                                          <p:spTgt spid="1198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autoUpdateAnimBg="0"/>
      <p:bldP spid="119811"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2"/>
          <p:cNvSpPr>
            <a:spLocks noGrp="1" noRot="1" noChangeArrowheads="1"/>
          </p:cNvSpPr>
          <p:nvPr>
            <p:ph type="title" idx="4294967295"/>
          </p:nvPr>
        </p:nvSpPr>
        <p:spPr>
          <a:xfrm>
            <a:off x="0" y="274638"/>
            <a:ext cx="8077200" cy="1066800"/>
          </a:xfrm>
        </p:spPr>
        <p:txBody>
          <a:bodyPr/>
          <a:lstStyle/>
          <a:p>
            <a:pPr eaLnBrk="1" hangingPunct="1">
              <a:defRPr/>
            </a:pPr>
            <a:r>
              <a:rPr lang="en-US" b="1" dirty="0" smtClean="0">
                <a:solidFill>
                  <a:srgbClr val="FF0000"/>
                </a:solidFill>
                <a:effectLst>
                  <a:outerShdw blurRad="38100" dist="38100" dir="2700000" algn="tl">
                    <a:srgbClr val="000000"/>
                  </a:outerShdw>
                </a:effectLst>
              </a:rPr>
              <a:t>2) </a:t>
            </a:r>
            <a:r>
              <a:rPr lang="zh-CN" altLang="en-US" b="1" dirty="0" smtClean="0">
                <a:solidFill>
                  <a:srgbClr val="FF0000"/>
                </a:solidFill>
                <a:effectLst>
                  <a:outerShdw blurRad="38100" dist="38100" dir="2700000" algn="tl">
                    <a:srgbClr val="000000"/>
                  </a:outerShdw>
                </a:effectLst>
              </a:rPr>
              <a:t>空闲盘区链</a:t>
            </a:r>
            <a:r>
              <a:rPr lang="en-US" b="1" dirty="0" smtClean="0">
                <a:solidFill>
                  <a:srgbClr val="FF0000"/>
                </a:solidFill>
                <a:effectLst>
                  <a:outerShdw blurRad="38100" dist="38100" dir="2700000" algn="tl">
                    <a:srgbClr val="000000"/>
                  </a:outerShdw>
                </a:effectLst>
                <a:ea typeface="仿宋_GB2312" pitchFamily="1" charset="-122"/>
              </a:rPr>
              <a:t>:  </a:t>
            </a:r>
            <a:r>
              <a:rPr lang="zh-CN" altLang="en-US" b="1" dirty="0" smtClean="0">
                <a:solidFill>
                  <a:srgbClr val="FF0000"/>
                </a:solidFill>
                <a:effectLst>
                  <a:outerShdw blurRad="38100" dist="38100" dir="2700000" algn="tl">
                    <a:srgbClr val="000000"/>
                  </a:outerShdw>
                </a:effectLst>
                <a:ea typeface="仿宋_GB2312" pitchFamily="1" charset="-122"/>
              </a:rPr>
              <a:t>问题</a:t>
            </a:r>
          </a:p>
        </p:txBody>
      </p:sp>
      <p:sp>
        <p:nvSpPr>
          <p:cNvPr id="121859" name="Rectangle 3"/>
          <p:cNvSpPr>
            <a:spLocks noGrp="1" noRot="1" noChangeArrowheads="1"/>
          </p:cNvSpPr>
          <p:nvPr>
            <p:ph type="body" idx="4294967295"/>
          </p:nvPr>
        </p:nvSpPr>
        <p:spPr>
          <a:xfrm>
            <a:off x="0" y="1547813"/>
            <a:ext cx="8715404" cy="4976812"/>
          </a:xfrm>
        </p:spPr>
        <p:txBody>
          <a:bodyPr>
            <a:normAutofit/>
          </a:bodyPr>
          <a:lstStyle/>
          <a:p>
            <a:pPr algn="just" eaLnBrk="1" hangingPunct="1">
              <a:lnSpc>
                <a:spcPct val="110000"/>
              </a:lnSpc>
              <a:defRPr/>
            </a:pPr>
            <a:r>
              <a:rPr lang="zh-CN" sz="3000" b="1" dirty="0" smtClean="0"/>
              <a:t>一段时间以后，可能会使空闲分区链表中包含太多小分区，使文件分配到的存储空间过分离散。</a:t>
            </a:r>
          </a:p>
          <a:p>
            <a:pPr algn="just" eaLnBrk="1" hangingPunct="1">
              <a:lnSpc>
                <a:spcPct val="110000"/>
              </a:lnSpc>
              <a:defRPr/>
            </a:pPr>
            <a:r>
              <a:rPr lang="zh-CN" sz="3000" b="1" dirty="0" smtClean="0"/>
              <a:t>删除一个由许多离散小分区组成的文件时，将回收的小分区链接到空闲分区链表中需要很长时间。</a:t>
            </a:r>
          </a:p>
          <a:p>
            <a:pPr algn="just" eaLnBrk="1" hangingPunct="1">
              <a:lnSpc>
                <a:spcPct val="110000"/>
              </a:lnSpc>
              <a:defRPr/>
            </a:pPr>
            <a:r>
              <a:rPr lang="zh-CN" sz="3000" b="1" dirty="0" smtClean="0"/>
              <a:t>若一个文件申请连续存储空间，则需要花费较长的时间查找相邻的空闲分区。</a:t>
            </a:r>
          </a:p>
          <a:p>
            <a:pPr algn="just" eaLnBrk="1" hangingPunct="1">
              <a:lnSpc>
                <a:spcPct val="110000"/>
              </a:lnSpc>
              <a:defRPr/>
            </a:pPr>
            <a:r>
              <a:rPr lang="zh-CN" sz="3000" b="1" dirty="0" smtClean="0"/>
              <a:t>因此，这种空闲空间组织方法</a:t>
            </a:r>
            <a:r>
              <a:rPr lang="zh-CN" sz="3000" b="1" dirty="0" smtClean="0">
                <a:solidFill>
                  <a:srgbClr val="FF0000"/>
                </a:solidFill>
              </a:rPr>
              <a:t>适合于非连续存储文件</a:t>
            </a:r>
            <a:r>
              <a:rPr lang="zh-CN" sz="3000" b="1"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1858"/>
                                        </p:tgtEl>
                                        <p:attrNameLst>
                                          <p:attrName>style.visibility</p:attrName>
                                        </p:attrNameLst>
                                      </p:cBhvr>
                                      <p:to>
                                        <p:strVal val="visible"/>
                                      </p:to>
                                    </p:set>
                                    <p:animEffect transition="in" filter="fade">
                                      <p:cBhvr>
                                        <p:cTn id="7" dur="2000"/>
                                        <p:tgtEl>
                                          <p:spTgt spid="1218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859">
                                            <p:txEl>
                                              <p:pRg st="0" end="0"/>
                                            </p:txEl>
                                          </p:spTgt>
                                        </p:tgtEl>
                                        <p:attrNameLst>
                                          <p:attrName>style.visibility</p:attrName>
                                        </p:attrNameLst>
                                      </p:cBhvr>
                                      <p:to>
                                        <p:strVal val="visible"/>
                                      </p:to>
                                    </p:set>
                                    <p:animEffect transition="in" filter="fade">
                                      <p:cBhvr>
                                        <p:cTn id="12" dur="2000"/>
                                        <p:tgtEl>
                                          <p:spTgt spid="1218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1859">
                                            <p:txEl>
                                              <p:pRg st="1" end="1"/>
                                            </p:txEl>
                                          </p:spTgt>
                                        </p:tgtEl>
                                        <p:attrNameLst>
                                          <p:attrName>style.visibility</p:attrName>
                                        </p:attrNameLst>
                                      </p:cBhvr>
                                      <p:to>
                                        <p:strVal val="visible"/>
                                      </p:to>
                                    </p:set>
                                    <p:animEffect transition="in" filter="fade">
                                      <p:cBhvr>
                                        <p:cTn id="17" dur="2000"/>
                                        <p:tgtEl>
                                          <p:spTgt spid="1218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1859">
                                            <p:txEl>
                                              <p:pRg st="2" end="2"/>
                                            </p:txEl>
                                          </p:spTgt>
                                        </p:tgtEl>
                                        <p:attrNameLst>
                                          <p:attrName>style.visibility</p:attrName>
                                        </p:attrNameLst>
                                      </p:cBhvr>
                                      <p:to>
                                        <p:strVal val="visible"/>
                                      </p:to>
                                    </p:set>
                                    <p:animEffect transition="in" filter="fade">
                                      <p:cBhvr>
                                        <p:cTn id="22" dur="2000"/>
                                        <p:tgtEl>
                                          <p:spTgt spid="12185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1859">
                                            <p:txEl>
                                              <p:pRg st="3" end="3"/>
                                            </p:txEl>
                                          </p:spTgt>
                                        </p:tgtEl>
                                        <p:attrNameLst>
                                          <p:attrName>style.visibility</p:attrName>
                                        </p:attrNameLst>
                                      </p:cBhvr>
                                      <p:to>
                                        <p:strVal val="visible"/>
                                      </p:to>
                                    </p:set>
                                    <p:animEffect transition="in" filter="fade">
                                      <p:cBhvr>
                                        <p:cTn id="27" dur="2000"/>
                                        <p:tgtEl>
                                          <p:spTgt spid="1218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autoUpdateAnimBg="0"/>
      <p:bldP spid="121859"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Rot="1" noChangeArrowheads="1"/>
          </p:cNvSpPr>
          <p:nvPr>
            <p:ph type="title" idx="4294967295"/>
          </p:nvPr>
        </p:nvSpPr>
        <p:spPr>
          <a:xfrm>
            <a:off x="0" y="115888"/>
            <a:ext cx="8077200" cy="1066800"/>
          </a:xfrm>
        </p:spPr>
        <p:txBody>
          <a:bodyPr/>
          <a:lstStyle/>
          <a:p>
            <a:pPr eaLnBrk="1" hangingPunct="1">
              <a:defRPr/>
            </a:pPr>
            <a:r>
              <a:rPr lang="en-US" b="1" dirty="0" smtClean="0">
                <a:solidFill>
                  <a:srgbClr val="FF0000"/>
                </a:solidFill>
                <a:effectLst>
                  <a:outerShdw blurRad="38100" dist="38100" dir="2700000" algn="tl">
                    <a:srgbClr val="000000"/>
                  </a:outerShdw>
                </a:effectLst>
                <a:ea typeface="仿宋_GB2312" pitchFamily="1" charset="-122"/>
              </a:rPr>
              <a:t>3</a:t>
            </a:r>
            <a:r>
              <a:rPr lang="zh-CN" altLang="en-US" b="1" dirty="0" smtClean="0">
                <a:solidFill>
                  <a:srgbClr val="FF0000"/>
                </a:solidFill>
                <a:effectLst>
                  <a:outerShdw blurRad="38100" dist="38100" dir="2700000" algn="tl">
                    <a:srgbClr val="000000"/>
                  </a:outerShdw>
                </a:effectLst>
                <a:ea typeface="仿宋_GB2312" pitchFamily="1" charset="-122"/>
              </a:rPr>
              <a:t>）</a:t>
            </a:r>
            <a:r>
              <a:rPr lang="en-US" b="1" dirty="0" smtClean="0">
                <a:solidFill>
                  <a:srgbClr val="FF0000"/>
                </a:solidFill>
                <a:effectLst>
                  <a:outerShdw blurRad="38100" dist="38100" dir="2700000" algn="tl">
                    <a:srgbClr val="000000"/>
                  </a:outerShdw>
                </a:effectLst>
                <a:ea typeface="仿宋_GB2312" pitchFamily="1" charset="-122"/>
              </a:rPr>
              <a:t>.</a:t>
            </a:r>
            <a:r>
              <a:rPr lang="zh-CN" altLang="en-US" b="1" dirty="0" smtClean="0">
                <a:solidFill>
                  <a:srgbClr val="FF0000"/>
                </a:solidFill>
                <a:effectLst>
                  <a:outerShdw blurRad="38100" dist="38100" dir="2700000" algn="tl">
                    <a:srgbClr val="000000"/>
                  </a:outerShdw>
                </a:effectLst>
                <a:ea typeface="仿宋_GB2312" pitchFamily="1" charset="-122"/>
              </a:rPr>
              <a:t>位示图</a:t>
            </a:r>
          </a:p>
        </p:txBody>
      </p:sp>
      <p:sp>
        <p:nvSpPr>
          <p:cNvPr id="122883" name="Rectangle 3"/>
          <p:cNvSpPr>
            <a:spLocks noGrp="1" noRot="1" noChangeArrowheads="1"/>
          </p:cNvSpPr>
          <p:nvPr>
            <p:ph type="body" idx="4294967295"/>
          </p:nvPr>
        </p:nvSpPr>
        <p:spPr>
          <a:xfrm>
            <a:off x="71438" y="1331913"/>
            <a:ext cx="8786842" cy="5097483"/>
          </a:xfrm>
        </p:spPr>
        <p:txBody>
          <a:bodyPr>
            <a:normAutofit lnSpcReduction="10000"/>
          </a:bodyPr>
          <a:lstStyle/>
          <a:p>
            <a:pPr algn="just">
              <a:lnSpc>
                <a:spcPct val="120000"/>
              </a:lnSpc>
              <a:defRPr/>
            </a:pPr>
            <a:r>
              <a:rPr lang="zh-CN" altLang="en-US" sz="3000" b="1" dirty="0" smtClean="0"/>
              <a:t>利用二进制位</a:t>
            </a:r>
            <a:r>
              <a:rPr lang="en-US" sz="3000" b="1" dirty="0" smtClean="0"/>
              <a:t>0</a:t>
            </a:r>
            <a:r>
              <a:rPr lang="zh-CN" altLang="en-US" sz="3000" b="1" dirty="0" smtClean="0"/>
              <a:t>、</a:t>
            </a:r>
            <a:r>
              <a:rPr lang="en-US" sz="3000" b="1" dirty="0" smtClean="0"/>
              <a:t>1</a:t>
            </a:r>
            <a:r>
              <a:rPr lang="zh-CN" altLang="en-US" sz="3000" b="1" dirty="0" smtClean="0"/>
              <a:t>表示存储空间中存储块的使用状态。</a:t>
            </a:r>
            <a:endParaRPr lang="en-US" sz="3000" b="1" dirty="0" smtClean="0"/>
          </a:p>
          <a:p>
            <a:pPr lvl="1" eaLnBrk="1" hangingPunct="1">
              <a:defRPr/>
            </a:pPr>
            <a:r>
              <a:rPr lang="zh-CN" altLang="en-US" sz="2400" b="1" dirty="0" smtClean="0">
                <a:solidFill>
                  <a:srgbClr val="FF0000"/>
                </a:solidFill>
                <a:effectLst>
                  <a:outerShdw blurRad="38100" dist="38100" dir="2700000" algn="tl">
                    <a:srgbClr val="000000"/>
                  </a:outerShdw>
                </a:effectLst>
                <a:ea typeface="仿宋_GB2312" pitchFamily="1" charset="-122"/>
              </a:rPr>
              <a:t>空闲分区</a:t>
            </a:r>
            <a:r>
              <a:rPr lang="en-US" sz="2400" b="1" dirty="0" smtClean="0">
                <a:solidFill>
                  <a:srgbClr val="FF0000"/>
                </a:solidFill>
                <a:effectLst>
                  <a:outerShdw blurRad="38100" dist="38100" dir="2700000" algn="tl">
                    <a:srgbClr val="000000"/>
                  </a:outerShdw>
                </a:effectLst>
                <a:ea typeface="仿宋_GB2312" pitchFamily="1" charset="-122"/>
              </a:rPr>
              <a:t>:0</a:t>
            </a:r>
            <a:r>
              <a:rPr lang="zh-CN" altLang="en-US" sz="2400" b="1" dirty="0" smtClean="0">
                <a:solidFill>
                  <a:srgbClr val="FF0000"/>
                </a:solidFill>
                <a:effectLst>
                  <a:outerShdw blurRad="38100" dist="38100" dir="2700000" algn="tl">
                    <a:srgbClr val="000000"/>
                  </a:outerShdw>
                </a:effectLst>
                <a:ea typeface="仿宋_GB2312" pitchFamily="1" charset="-122"/>
              </a:rPr>
              <a:t>，</a:t>
            </a:r>
            <a:endParaRPr lang="en-US" sz="2400" b="1" dirty="0" smtClean="0">
              <a:solidFill>
                <a:srgbClr val="FF0000"/>
              </a:solidFill>
              <a:effectLst>
                <a:outerShdw blurRad="38100" dist="38100" dir="2700000" algn="tl">
                  <a:srgbClr val="000000"/>
                </a:outerShdw>
              </a:effectLst>
              <a:ea typeface="仿宋_GB2312" pitchFamily="1" charset="-122"/>
            </a:endParaRPr>
          </a:p>
          <a:p>
            <a:pPr lvl="1" eaLnBrk="1" hangingPunct="1">
              <a:defRPr/>
            </a:pPr>
            <a:r>
              <a:rPr lang="zh-CN" altLang="en-US" sz="2400" b="1" dirty="0" smtClean="0">
                <a:solidFill>
                  <a:srgbClr val="FF0000"/>
                </a:solidFill>
                <a:effectLst>
                  <a:outerShdw blurRad="38100" dist="38100" dir="2700000" algn="tl">
                    <a:srgbClr val="000000"/>
                  </a:outerShdw>
                </a:effectLst>
                <a:ea typeface="仿宋_GB2312" pitchFamily="1" charset="-122"/>
              </a:rPr>
              <a:t>已分配分区</a:t>
            </a:r>
            <a:r>
              <a:rPr lang="en-US" sz="2400" b="1" dirty="0" smtClean="0">
                <a:solidFill>
                  <a:srgbClr val="FF0000"/>
                </a:solidFill>
                <a:effectLst>
                  <a:outerShdw blurRad="38100" dist="38100" dir="2700000" algn="tl">
                    <a:srgbClr val="000000"/>
                  </a:outerShdw>
                </a:effectLst>
                <a:ea typeface="仿宋_GB2312" pitchFamily="1" charset="-122"/>
              </a:rPr>
              <a:t>:1</a:t>
            </a:r>
            <a:r>
              <a:rPr lang="zh-CN" altLang="en-US" sz="2400" b="1" dirty="0" smtClean="0">
                <a:solidFill>
                  <a:srgbClr val="FF0000"/>
                </a:solidFill>
                <a:effectLst>
                  <a:outerShdw blurRad="38100" dist="38100" dir="2700000" algn="tl">
                    <a:srgbClr val="000000"/>
                  </a:outerShdw>
                </a:effectLst>
                <a:ea typeface="仿宋_GB2312" pitchFamily="1" charset="-122"/>
              </a:rPr>
              <a:t>。</a:t>
            </a:r>
            <a:endParaRPr lang="en-US" altLang="zh-CN" sz="2400" b="1" dirty="0" smtClean="0">
              <a:solidFill>
                <a:srgbClr val="FF0000"/>
              </a:solidFill>
              <a:effectLst>
                <a:outerShdw blurRad="38100" dist="38100" dir="2700000" algn="tl">
                  <a:srgbClr val="000000"/>
                </a:outerShdw>
              </a:effectLst>
              <a:ea typeface="仿宋_GB2312" pitchFamily="1" charset="-122"/>
            </a:endParaRPr>
          </a:p>
          <a:p>
            <a:pPr lvl="1" eaLnBrk="1" hangingPunct="1">
              <a:defRPr/>
            </a:pPr>
            <a:endParaRPr lang="zh-CN" altLang="en-US" sz="2400" b="1" dirty="0" smtClean="0">
              <a:solidFill>
                <a:srgbClr val="FF0000"/>
              </a:solidFill>
              <a:effectLst>
                <a:outerShdw blurRad="38100" dist="38100" dir="2700000" algn="tl">
                  <a:srgbClr val="000000"/>
                </a:outerShdw>
              </a:effectLst>
              <a:ea typeface="仿宋_GB2312" pitchFamily="1" charset="-122"/>
            </a:endParaRPr>
          </a:p>
          <a:p>
            <a:pPr eaLnBrk="1" hangingPunct="1">
              <a:defRPr/>
            </a:pPr>
            <a:r>
              <a:rPr lang="zh-CN" altLang="en-US" sz="2800" b="1" dirty="0" smtClean="0"/>
              <a:t>磁盘上的所有盘块都有一个二进制位，由所有盘块所对应的位构成一个集合，称为位示图。</a:t>
            </a:r>
          </a:p>
          <a:p>
            <a:pPr eaLnBrk="1" hangingPunct="1">
              <a:defRPr/>
            </a:pPr>
            <a:r>
              <a:rPr lang="zh-CN" altLang="en-US" sz="2800" b="1" dirty="0" smtClean="0"/>
              <a:t>通常可用</a:t>
            </a:r>
            <a:r>
              <a:rPr lang="en-US" sz="2800" b="1" i="1" dirty="0" smtClean="0"/>
              <a:t>m </a:t>
            </a:r>
            <a:r>
              <a:rPr lang="en-US" sz="2800" b="1" dirty="0" smtClean="0"/>
              <a:t>× </a:t>
            </a:r>
            <a:r>
              <a:rPr lang="en-US" sz="2800" b="1" i="1" dirty="0" smtClean="0"/>
              <a:t>n </a:t>
            </a:r>
            <a:r>
              <a:rPr lang="zh-CN" altLang="en-US" sz="2800" b="1" dirty="0" smtClean="0"/>
              <a:t>个位数来构成位示图，并使</a:t>
            </a:r>
            <a:r>
              <a:rPr lang="en-US" sz="2800" b="1" i="1" dirty="0" smtClean="0"/>
              <a:t>m </a:t>
            </a:r>
            <a:r>
              <a:rPr lang="en-US" sz="2800" b="1" dirty="0" smtClean="0"/>
              <a:t>× </a:t>
            </a:r>
            <a:r>
              <a:rPr lang="en-US" sz="2800" b="1" i="1" dirty="0" smtClean="0"/>
              <a:t>n</a:t>
            </a:r>
            <a:r>
              <a:rPr lang="zh-CN" altLang="en-US" sz="2800" b="1" dirty="0" smtClean="0"/>
              <a:t>等于磁盘的总块数。</a:t>
            </a:r>
          </a:p>
          <a:p>
            <a:pPr eaLnBrk="1" hangingPunct="1">
              <a:defRPr/>
            </a:pPr>
            <a:r>
              <a:rPr lang="zh-CN" altLang="en-US" sz="2800" b="1" dirty="0" smtClean="0"/>
              <a:t>位示图也可描述为一个二维数组</a:t>
            </a:r>
            <a:r>
              <a:rPr lang="en-US" sz="2800" b="1" dirty="0" smtClean="0"/>
              <a:t>map</a:t>
            </a:r>
            <a:r>
              <a:rPr lang="zh-CN" altLang="en-US" sz="2800" b="1" dirty="0" smtClean="0"/>
              <a:t>：</a:t>
            </a:r>
          </a:p>
          <a:p>
            <a:pPr lvl="1" eaLnBrk="1" hangingPunct="1">
              <a:defRPr/>
            </a:pPr>
            <a:r>
              <a:rPr lang="en-US" sz="2400" b="1" dirty="0" err="1" smtClean="0"/>
              <a:t>Var</a:t>
            </a:r>
            <a:r>
              <a:rPr lang="en-US" sz="2400" b="1" dirty="0" smtClean="0"/>
              <a:t> map: array of bit</a:t>
            </a:r>
            <a:r>
              <a:rPr lang="zh-CN" altLang="en-US" sz="2400" b="1"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2882"/>
                                        </p:tgtEl>
                                        <p:attrNameLst>
                                          <p:attrName>style.visibility</p:attrName>
                                        </p:attrNameLst>
                                      </p:cBhvr>
                                      <p:to>
                                        <p:strVal val="visible"/>
                                      </p:to>
                                    </p:set>
                                    <p:animEffect transition="in" filter="fade">
                                      <p:cBhvr>
                                        <p:cTn id="7" dur="2000"/>
                                        <p:tgtEl>
                                          <p:spTgt spid="1228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883">
                                            <p:txEl>
                                              <p:pRg st="0" end="0"/>
                                            </p:txEl>
                                          </p:spTgt>
                                        </p:tgtEl>
                                        <p:attrNameLst>
                                          <p:attrName>style.visibility</p:attrName>
                                        </p:attrNameLst>
                                      </p:cBhvr>
                                      <p:to>
                                        <p:strVal val="visible"/>
                                      </p:to>
                                    </p:set>
                                    <p:animEffect transition="in" filter="fade">
                                      <p:cBhvr>
                                        <p:cTn id="12" dur="2000"/>
                                        <p:tgtEl>
                                          <p:spTgt spid="12288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2883">
                                            <p:txEl>
                                              <p:pRg st="1" end="1"/>
                                            </p:txEl>
                                          </p:spTgt>
                                        </p:tgtEl>
                                        <p:attrNameLst>
                                          <p:attrName>style.visibility</p:attrName>
                                        </p:attrNameLst>
                                      </p:cBhvr>
                                      <p:to>
                                        <p:strVal val="visible"/>
                                      </p:to>
                                    </p:set>
                                    <p:animEffect transition="in" filter="fade">
                                      <p:cBhvr>
                                        <p:cTn id="15" dur="2000"/>
                                        <p:tgtEl>
                                          <p:spTgt spid="12288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2883">
                                            <p:txEl>
                                              <p:pRg st="2" end="2"/>
                                            </p:txEl>
                                          </p:spTgt>
                                        </p:tgtEl>
                                        <p:attrNameLst>
                                          <p:attrName>style.visibility</p:attrName>
                                        </p:attrNameLst>
                                      </p:cBhvr>
                                      <p:to>
                                        <p:strVal val="visible"/>
                                      </p:to>
                                    </p:set>
                                    <p:animEffect transition="in" filter="fade">
                                      <p:cBhvr>
                                        <p:cTn id="18" dur="2000"/>
                                        <p:tgtEl>
                                          <p:spTgt spid="12288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2883">
                                            <p:txEl>
                                              <p:pRg st="4" end="4"/>
                                            </p:txEl>
                                          </p:spTgt>
                                        </p:tgtEl>
                                        <p:attrNameLst>
                                          <p:attrName>style.visibility</p:attrName>
                                        </p:attrNameLst>
                                      </p:cBhvr>
                                      <p:to>
                                        <p:strVal val="visible"/>
                                      </p:to>
                                    </p:set>
                                    <p:animEffect transition="in" filter="fade">
                                      <p:cBhvr>
                                        <p:cTn id="23" dur="2000"/>
                                        <p:tgtEl>
                                          <p:spTgt spid="12288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2883">
                                            <p:txEl>
                                              <p:pRg st="5" end="5"/>
                                            </p:txEl>
                                          </p:spTgt>
                                        </p:tgtEl>
                                        <p:attrNameLst>
                                          <p:attrName>style.visibility</p:attrName>
                                        </p:attrNameLst>
                                      </p:cBhvr>
                                      <p:to>
                                        <p:strVal val="visible"/>
                                      </p:to>
                                    </p:set>
                                    <p:animEffect transition="in" filter="fade">
                                      <p:cBhvr>
                                        <p:cTn id="28" dur="2000"/>
                                        <p:tgtEl>
                                          <p:spTgt spid="12288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2883">
                                            <p:txEl>
                                              <p:pRg st="6" end="6"/>
                                            </p:txEl>
                                          </p:spTgt>
                                        </p:tgtEl>
                                        <p:attrNameLst>
                                          <p:attrName>style.visibility</p:attrName>
                                        </p:attrNameLst>
                                      </p:cBhvr>
                                      <p:to>
                                        <p:strVal val="visible"/>
                                      </p:to>
                                    </p:set>
                                    <p:animEffect transition="in" filter="fade">
                                      <p:cBhvr>
                                        <p:cTn id="33" dur="2000"/>
                                        <p:tgtEl>
                                          <p:spTgt spid="12288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2883">
                                            <p:txEl>
                                              <p:pRg st="7" end="7"/>
                                            </p:txEl>
                                          </p:spTgt>
                                        </p:tgtEl>
                                        <p:attrNameLst>
                                          <p:attrName>style.visibility</p:attrName>
                                        </p:attrNameLst>
                                      </p:cBhvr>
                                      <p:to>
                                        <p:strVal val="visible"/>
                                      </p:to>
                                    </p:set>
                                    <p:animEffect transition="in" filter="fade">
                                      <p:cBhvr>
                                        <p:cTn id="36" dur="2000"/>
                                        <p:tgtEl>
                                          <p:spTgt spid="1228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utoUpdateAnimBg="0"/>
      <p:bldP spid="12288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2"/>
          <p:cNvSpPr>
            <a:spLocks noGrp="1" noRot="1" noChangeArrowheads="1"/>
          </p:cNvSpPr>
          <p:nvPr>
            <p:ph type="title" idx="4294967295"/>
          </p:nvPr>
        </p:nvSpPr>
        <p:spPr>
          <a:xfrm>
            <a:off x="0" y="274638"/>
            <a:ext cx="8229600" cy="1143000"/>
          </a:xfrm>
        </p:spPr>
        <p:txBody>
          <a:bodyPr/>
          <a:lstStyle/>
          <a:p>
            <a:pPr eaLnBrk="1" hangingPunct="1">
              <a:defRPr/>
            </a:pPr>
            <a:r>
              <a:rPr lang="en-US" b="1" dirty="0" smtClean="0">
                <a:solidFill>
                  <a:srgbClr val="FF0000"/>
                </a:solidFill>
                <a:effectLst>
                  <a:outerShdw blurRad="38100" dist="38100" dir="2700000" algn="tl">
                    <a:srgbClr val="000000"/>
                  </a:outerShdw>
                </a:effectLst>
                <a:ea typeface="仿宋_GB2312" pitchFamily="1" charset="-122"/>
              </a:rPr>
              <a:t>3</a:t>
            </a:r>
            <a:r>
              <a:rPr lang="zh-CN" altLang="en-US" b="1" dirty="0" smtClean="0">
                <a:solidFill>
                  <a:srgbClr val="FF0000"/>
                </a:solidFill>
                <a:effectLst>
                  <a:outerShdw blurRad="38100" dist="38100" dir="2700000" algn="tl">
                    <a:srgbClr val="000000"/>
                  </a:outerShdw>
                </a:effectLst>
                <a:ea typeface="仿宋_GB2312" pitchFamily="1" charset="-122"/>
              </a:rPr>
              <a:t>）</a:t>
            </a:r>
            <a:r>
              <a:rPr lang="en-US" b="1" dirty="0" smtClean="0">
                <a:solidFill>
                  <a:srgbClr val="FF0000"/>
                </a:solidFill>
                <a:effectLst>
                  <a:outerShdw blurRad="38100" dist="38100" dir="2700000" algn="tl">
                    <a:srgbClr val="000000"/>
                  </a:outerShdw>
                </a:effectLst>
                <a:ea typeface="仿宋_GB2312" pitchFamily="1" charset="-122"/>
              </a:rPr>
              <a:t>.</a:t>
            </a:r>
            <a:r>
              <a:rPr lang="zh-CN" altLang="en-US" b="1" dirty="0" smtClean="0">
                <a:solidFill>
                  <a:srgbClr val="FF0000"/>
                </a:solidFill>
                <a:effectLst>
                  <a:outerShdw blurRad="38100" dist="38100" dir="2700000" algn="tl">
                    <a:srgbClr val="000000"/>
                  </a:outerShdw>
                </a:effectLst>
                <a:ea typeface="仿宋_GB2312" pitchFamily="1" charset="-122"/>
              </a:rPr>
              <a:t>位示图</a:t>
            </a:r>
          </a:p>
        </p:txBody>
      </p:sp>
      <p:pic>
        <p:nvPicPr>
          <p:cNvPr id="122883" name="Picture 4" descr="未标题-1 拷贝"/>
          <p:cNvPicPr>
            <a:picLocks noChangeAspect="1" noChangeArrowheads="1"/>
          </p:cNvPicPr>
          <p:nvPr/>
        </p:nvPicPr>
        <p:blipFill>
          <a:blip r:embed="rId2"/>
          <a:srcRect/>
          <a:stretch>
            <a:fillRect/>
          </a:stretch>
        </p:blipFill>
        <p:spPr bwMode="auto">
          <a:xfrm>
            <a:off x="381000" y="2276475"/>
            <a:ext cx="8763000" cy="4170363"/>
          </a:xfrm>
          <a:prstGeom prst="rect">
            <a:avLst/>
          </a:prstGeom>
          <a:noFill/>
          <a:ln w="9525">
            <a:noFill/>
            <a:miter lim="800000"/>
            <a:headEnd/>
            <a:tailEnd/>
          </a:ln>
        </p:spPr>
      </p:pic>
      <p:sp>
        <p:nvSpPr>
          <p:cNvPr id="122884" name="Text Box 6"/>
          <p:cNvSpPr txBox="1">
            <a:spLocks noChangeArrowheads="1"/>
          </p:cNvSpPr>
          <p:nvPr/>
        </p:nvSpPr>
        <p:spPr bwMode="auto">
          <a:xfrm>
            <a:off x="287338" y="1484313"/>
            <a:ext cx="4500562" cy="579437"/>
          </a:xfrm>
          <a:prstGeom prst="rect">
            <a:avLst/>
          </a:prstGeom>
          <a:noFill/>
          <a:ln w="9525">
            <a:noFill/>
            <a:miter lim="800000"/>
            <a:headEnd/>
            <a:tailEnd/>
          </a:ln>
        </p:spPr>
        <p:txBody>
          <a:bodyPr>
            <a:spAutoFit/>
          </a:bodyPr>
          <a:lstStyle/>
          <a:p>
            <a:pPr>
              <a:spcBef>
                <a:spcPct val="50000"/>
              </a:spcBef>
            </a:pPr>
            <a:r>
              <a:rPr lang="zh-CN" altLang="en-US" sz="3200" b="1" dirty="0">
                <a:solidFill>
                  <a:srgbClr val="FF0000"/>
                </a:solidFill>
              </a:rPr>
              <a:t>（</a:t>
            </a:r>
            <a:r>
              <a:rPr lang="en-US" altLang="zh-CN" sz="3200" b="1" dirty="0">
                <a:solidFill>
                  <a:srgbClr val="FF0000"/>
                </a:solidFill>
              </a:rPr>
              <a:t>1</a:t>
            </a:r>
            <a:r>
              <a:rPr lang="zh-CN" altLang="en-US" sz="3200" b="1" dirty="0">
                <a:solidFill>
                  <a:srgbClr val="FF0000"/>
                </a:solidFill>
              </a:rPr>
              <a:t>）．位示图描述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fade">
                                      <p:cBhvr>
                                        <p:cTn id="7" dur="2000"/>
                                        <p:tgtEl>
                                          <p:spTgt spid="123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2"/>
          <p:cNvSpPr>
            <a:spLocks noGrp="1" noRot="1" noChangeArrowheads="1"/>
          </p:cNvSpPr>
          <p:nvPr>
            <p:ph type="title" idx="4294967295"/>
          </p:nvPr>
        </p:nvSpPr>
        <p:spPr>
          <a:xfrm>
            <a:off x="0" y="188913"/>
            <a:ext cx="8077200" cy="1066800"/>
          </a:xfrm>
        </p:spPr>
        <p:txBody>
          <a:bodyPr/>
          <a:lstStyle/>
          <a:p>
            <a:pPr eaLnBrk="1" hangingPunct="1"/>
            <a:r>
              <a:rPr lang="zh-CN" altLang="en-US" b="1" dirty="0" smtClean="0">
                <a:solidFill>
                  <a:srgbClr val="FF0000"/>
                </a:solidFill>
              </a:rPr>
              <a:t>（</a:t>
            </a:r>
            <a:r>
              <a:rPr lang="en-US" altLang="zh-CN" b="1" dirty="0" smtClean="0">
                <a:solidFill>
                  <a:srgbClr val="FF0000"/>
                </a:solidFill>
              </a:rPr>
              <a:t>2</a:t>
            </a:r>
            <a:r>
              <a:rPr lang="zh-CN" altLang="en-US" b="1" dirty="0" smtClean="0">
                <a:solidFill>
                  <a:srgbClr val="FF0000"/>
                </a:solidFill>
              </a:rPr>
              <a:t>）盘块的分配</a:t>
            </a:r>
          </a:p>
        </p:txBody>
      </p:sp>
      <p:sp>
        <p:nvSpPr>
          <p:cNvPr id="123907" name="Rectangle 3"/>
          <p:cNvSpPr>
            <a:spLocks noGrp="1" noRot="1" noChangeArrowheads="1"/>
          </p:cNvSpPr>
          <p:nvPr>
            <p:ph type="body" idx="4294967295"/>
          </p:nvPr>
        </p:nvSpPr>
        <p:spPr>
          <a:xfrm>
            <a:off x="214314" y="1358917"/>
            <a:ext cx="8643966" cy="4498975"/>
          </a:xfrm>
        </p:spPr>
        <p:txBody>
          <a:bodyPr>
            <a:normAutofit lnSpcReduction="10000"/>
          </a:bodyPr>
          <a:lstStyle/>
          <a:p>
            <a:pPr eaLnBrk="1" hangingPunct="1">
              <a:lnSpc>
                <a:spcPct val="110000"/>
              </a:lnSpc>
            </a:pPr>
            <a:r>
              <a:rPr lang="zh-CN" altLang="en-US" sz="2800" b="1" dirty="0" smtClean="0"/>
              <a:t>根据位示图进行盘块分配时，可分三步进行：</a:t>
            </a:r>
          </a:p>
          <a:p>
            <a:pPr eaLnBrk="1" hangingPunct="1">
              <a:lnSpc>
                <a:spcPct val="110000"/>
              </a:lnSpc>
            </a:pPr>
            <a:r>
              <a:rPr lang="en-US" altLang="zh-CN" sz="2800" b="1" dirty="0" smtClean="0"/>
              <a:t>(1) </a:t>
            </a:r>
            <a:r>
              <a:rPr lang="zh-CN" altLang="en-US" sz="2800" b="1" dirty="0" smtClean="0">
                <a:solidFill>
                  <a:srgbClr val="FF0000"/>
                </a:solidFill>
              </a:rPr>
              <a:t>顺序扫描位示图</a:t>
            </a:r>
            <a:r>
              <a:rPr lang="zh-CN" altLang="en-US" sz="2800" b="1" dirty="0" smtClean="0"/>
              <a:t>，从中找出一个或一组其值为“</a:t>
            </a:r>
            <a:r>
              <a:rPr lang="en-US" altLang="zh-CN" sz="2800" b="1" dirty="0" smtClean="0"/>
              <a:t>0”</a:t>
            </a:r>
            <a:r>
              <a:rPr lang="zh-CN" altLang="en-US" sz="2800" b="1" dirty="0" smtClean="0"/>
              <a:t>的二进制位</a:t>
            </a:r>
            <a:r>
              <a:rPr lang="en-US" altLang="zh-CN" sz="2800" b="1" dirty="0" smtClean="0"/>
              <a:t>(“0”</a:t>
            </a:r>
            <a:r>
              <a:rPr lang="zh-CN" altLang="en-US" sz="2800" b="1" dirty="0" smtClean="0"/>
              <a:t>表示空闲时</a:t>
            </a:r>
            <a:r>
              <a:rPr lang="en-US" altLang="zh-CN" sz="2800" b="1" dirty="0" smtClean="0"/>
              <a:t>)</a:t>
            </a:r>
            <a:r>
              <a:rPr lang="zh-CN" altLang="en-US" sz="2800" b="1" dirty="0" smtClean="0"/>
              <a:t>。</a:t>
            </a:r>
          </a:p>
          <a:p>
            <a:pPr eaLnBrk="1" hangingPunct="1">
              <a:lnSpc>
                <a:spcPct val="110000"/>
              </a:lnSpc>
            </a:pPr>
            <a:r>
              <a:rPr lang="en-US" altLang="zh-CN" sz="2800" b="1" dirty="0" smtClean="0"/>
              <a:t>(2) </a:t>
            </a:r>
            <a:r>
              <a:rPr lang="zh-CN" altLang="en-US" sz="2800" b="1" dirty="0" smtClean="0">
                <a:solidFill>
                  <a:srgbClr val="FF0000"/>
                </a:solidFill>
              </a:rPr>
              <a:t>将所找到的一个或一组二进制位转换成与之相应的盘块号。</a:t>
            </a:r>
          </a:p>
          <a:p>
            <a:pPr eaLnBrk="1" hangingPunct="1">
              <a:lnSpc>
                <a:spcPct val="110000"/>
              </a:lnSpc>
            </a:pPr>
            <a:r>
              <a:rPr lang="zh-CN" altLang="en-US" sz="2800" b="1" dirty="0" smtClean="0"/>
              <a:t>假定找到的其值为“</a:t>
            </a:r>
            <a:r>
              <a:rPr lang="en-US" altLang="zh-CN" sz="2800" b="1" dirty="0" smtClean="0"/>
              <a:t>0”</a:t>
            </a:r>
            <a:r>
              <a:rPr lang="zh-CN" altLang="en-US" sz="2800" b="1" dirty="0" smtClean="0"/>
              <a:t>的二进制位位于位示图的第</a:t>
            </a:r>
            <a:r>
              <a:rPr lang="en-US" altLang="zh-CN" sz="2800" b="1" dirty="0" err="1" smtClean="0"/>
              <a:t>i</a:t>
            </a:r>
            <a:r>
              <a:rPr lang="en-US" altLang="zh-CN" sz="2800" b="1" dirty="0" smtClean="0"/>
              <a:t> </a:t>
            </a:r>
            <a:r>
              <a:rPr lang="zh-CN" altLang="en-US" sz="2800" b="1" dirty="0" smtClean="0"/>
              <a:t>行、第</a:t>
            </a:r>
            <a:r>
              <a:rPr lang="en-US" altLang="zh-CN" sz="2800" b="1" dirty="0" smtClean="0"/>
              <a:t>j</a:t>
            </a:r>
            <a:r>
              <a:rPr lang="zh-CN" altLang="en-US" sz="2800" b="1" dirty="0" smtClean="0"/>
              <a:t>列，则其相应的盘块号应按下式计算：</a:t>
            </a:r>
          </a:p>
          <a:p>
            <a:pPr lvl="1" eaLnBrk="1" hangingPunct="1">
              <a:lnSpc>
                <a:spcPct val="110000"/>
              </a:lnSpc>
            </a:pPr>
            <a:r>
              <a:rPr lang="en-US" altLang="zh-CN" b="1" dirty="0" smtClean="0"/>
              <a:t>b = n(</a:t>
            </a:r>
            <a:r>
              <a:rPr lang="en-US" altLang="zh-CN" b="1" dirty="0" err="1" smtClean="0"/>
              <a:t>i</a:t>
            </a:r>
            <a:r>
              <a:rPr lang="en-US" altLang="zh-CN" b="1" dirty="0" smtClean="0"/>
              <a:t>- 1) + j (n</a:t>
            </a:r>
            <a:r>
              <a:rPr lang="zh-CN" altLang="en-US" b="1" dirty="0" smtClean="0"/>
              <a:t>为行数</a:t>
            </a:r>
            <a:r>
              <a:rPr lang="en-US" altLang="zh-CN" b="1" dirty="0" smtClean="0"/>
              <a:t>)</a:t>
            </a:r>
          </a:p>
          <a:p>
            <a:pPr eaLnBrk="1" hangingPunct="1">
              <a:lnSpc>
                <a:spcPct val="110000"/>
              </a:lnSpc>
            </a:pPr>
            <a:r>
              <a:rPr lang="en-US" altLang="zh-CN" sz="2800" b="1" dirty="0" smtClean="0"/>
              <a:t>(3) </a:t>
            </a:r>
            <a:r>
              <a:rPr lang="zh-CN" altLang="en-US" sz="2800" b="1" dirty="0" smtClean="0">
                <a:solidFill>
                  <a:srgbClr val="FF0000"/>
                </a:solidFill>
              </a:rPr>
              <a:t>修改位示图</a:t>
            </a:r>
            <a:r>
              <a:rPr lang="zh-CN" altLang="en-US" sz="2800" b="1" dirty="0" smtClean="0">
                <a:solidFill>
                  <a:schemeClr val="folHlink"/>
                </a:solidFill>
              </a:rPr>
              <a:t>，</a:t>
            </a:r>
            <a:r>
              <a:rPr lang="zh-CN" altLang="en-US" sz="2800" b="1" dirty="0" smtClean="0"/>
              <a:t>令</a:t>
            </a:r>
            <a:r>
              <a:rPr lang="en-US" altLang="zh-CN" sz="2800" b="1" dirty="0" smtClean="0"/>
              <a:t>map[</a:t>
            </a:r>
            <a:r>
              <a:rPr lang="en-US" altLang="zh-CN" sz="2800" b="1" dirty="0" err="1" smtClean="0"/>
              <a:t>i,j</a:t>
            </a:r>
            <a:r>
              <a:rPr lang="en-US" altLang="zh-CN" sz="2800" b="1" dirty="0" smtClean="0"/>
              <a:t>]=1</a:t>
            </a:r>
            <a:r>
              <a:rPr lang="zh-CN" altLang="en-US" sz="2800" b="1"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fade">
                                      <p:cBhvr>
                                        <p:cTn id="7" dur="2000"/>
                                        <p:tgtEl>
                                          <p:spTgt spid="1239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3907">
                                            <p:txEl>
                                              <p:pRg st="0" end="0"/>
                                            </p:txEl>
                                          </p:spTgt>
                                        </p:tgtEl>
                                        <p:attrNameLst>
                                          <p:attrName>style.visibility</p:attrName>
                                        </p:attrNameLst>
                                      </p:cBhvr>
                                      <p:to>
                                        <p:strVal val="visible"/>
                                      </p:to>
                                    </p:set>
                                    <p:animEffect transition="in" filter="fade">
                                      <p:cBhvr>
                                        <p:cTn id="12" dur="2000"/>
                                        <p:tgtEl>
                                          <p:spTgt spid="12390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3907">
                                            <p:txEl>
                                              <p:pRg st="1" end="1"/>
                                            </p:txEl>
                                          </p:spTgt>
                                        </p:tgtEl>
                                        <p:attrNameLst>
                                          <p:attrName>style.visibility</p:attrName>
                                        </p:attrNameLst>
                                      </p:cBhvr>
                                      <p:to>
                                        <p:strVal val="visible"/>
                                      </p:to>
                                    </p:set>
                                    <p:animEffect transition="in" filter="fade">
                                      <p:cBhvr>
                                        <p:cTn id="17" dur="2000"/>
                                        <p:tgtEl>
                                          <p:spTgt spid="12390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3907">
                                            <p:txEl>
                                              <p:pRg st="2" end="2"/>
                                            </p:txEl>
                                          </p:spTgt>
                                        </p:tgtEl>
                                        <p:attrNameLst>
                                          <p:attrName>style.visibility</p:attrName>
                                        </p:attrNameLst>
                                      </p:cBhvr>
                                      <p:to>
                                        <p:strVal val="visible"/>
                                      </p:to>
                                    </p:set>
                                    <p:animEffect transition="in" filter="fade">
                                      <p:cBhvr>
                                        <p:cTn id="22" dur="2000"/>
                                        <p:tgtEl>
                                          <p:spTgt spid="12390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3907">
                                            <p:txEl>
                                              <p:pRg st="3" end="3"/>
                                            </p:txEl>
                                          </p:spTgt>
                                        </p:tgtEl>
                                        <p:attrNameLst>
                                          <p:attrName>style.visibility</p:attrName>
                                        </p:attrNameLst>
                                      </p:cBhvr>
                                      <p:to>
                                        <p:strVal val="visible"/>
                                      </p:to>
                                    </p:set>
                                    <p:animEffect transition="in" filter="fade">
                                      <p:cBhvr>
                                        <p:cTn id="27" dur="2000"/>
                                        <p:tgtEl>
                                          <p:spTgt spid="123907">
                                            <p:txEl>
                                              <p:pRg st="3" end="3"/>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3907">
                                            <p:txEl>
                                              <p:pRg st="4" end="4"/>
                                            </p:txEl>
                                          </p:spTgt>
                                        </p:tgtEl>
                                        <p:attrNameLst>
                                          <p:attrName>style.visibility</p:attrName>
                                        </p:attrNameLst>
                                      </p:cBhvr>
                                      <p:to>
                                        <p:strVal val="visible"/>
                                      </p:to>
                                    </p:set>
                                    <p:animEffect transition="in" filter="fade">
                                      <p:cBhvr>
                                        <p:cTn id="30" dur="2000"/>
                                        <p:tgtEl>
                                          <p:spTgt spid="12390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3907">
                                            <p:txEl>
                                              <p:pRg st="5" end="5"/>
                                            </p:txEl>
                                          </p:spTgt>
                                        </p:tgtEl>
                                        <p:attrNameLst>
                                          <p:attrName>style.visibility</p:attrName>
                                        </p:attrNameLst>
                                      </p:cBhvr>
                                      <p:to>
                                        <p:strVal val="visible"/>
                                      </p:to>
                                    </p:set>
                                    <p:animEffect transition="in" filter="fade">
                                      <p:cBhvr>
                                        <p:cTn id="35" dur="2000"/>
                                        <p:tgtEl>
                                          <p:spTgt spid="1239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autoUpdateAnimBg="0"/>
      <p:bldP spid="123907"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Rot="1" noChangeArrowheads="1"/>
          </p:cNvSpPr>
          <p:nvPr>
            <p:ph type="title" idx="4294967295"/>
          </p:nvPr>
        </p:nvSpPr>
        <p:spPr>
          <a:xfrm>
            <a:off x="0" y="274638"/>
            <a:ext cx="8229600" cy="1143000"/>
          </a:xfrm>
        </p:spPr>
        <p:txBody>
          <a:bodyPr/>
          <a:lstStyle/>
          <a:p>
            <a:pPr eaLnBrk="1" hangingPunct="1">
              <a:defRPr/>
            </a:pPr>
            <a:r>
              <a:rPr lang="zh-CN" altLang="en-US" b="1" dirty="0" smtClean="0">
                <a:solidFill>
                  <a:srgbClr val="FF0000"/>
                </a:solidFill>
                <a:effectLst>
                  <a:outerShdw blurRad="38100" dist="38100" dir="2700000" algn="tl">
                    <a:srgbClr val="000000"/>
                  </a:outerShdw>
                </a:effectLst>
              </a:rPr>
              <a:t>（</a:t>
            </a:r>
            <a:r>
              <a:rPr lang="en-US" b="1" dirty="0" smtClean="0">
                <a:solidFill>
                  <a:srgbClr val="FF0000"/>
                </a:solidFill>
                <a:effectLst>
                  <a:outerShdw blurRad="38100" dist="38100" dir="2700000" algn="tl">
                    <a:srgbClr val="000000"/>
                  </a:outerShdw>
                </a:effectLst>
              </a:rPr>
              <a:t>3</a:t>
            </a:r>
            <a:r>
              <a:rPr lang="zh-CN" altLang="en-US" b="1" dirty="0" smtClean="0">
                <a:solidFill>
                  <a:srgbClr val="FF0000"/>
                </a:solidFill>
                <a:effectLst>
                  <a:outerShdw blurRad="38100" dist="38100" dir="2700000" algn="tl">
                    <a:srgbClr val="000000"/>
                  </a:outerShdw>
                </a:effectLst>
              </a:rPr>
              <a:t>）．盘块的回收</a:t>
            </a:r>
          </a:p>
        </p:txBody>
      </p:sp>
      <p:sp>
        <p:nvSpPr>
          <p:cNvPr id="124931" name="Rectangle 3"/>
          <p:cNvSpPr>
            <a:spLocks noGrp="1" noRot="1" noChangeArrowheads="1"/>
          </p:cNvSpPr>
          <p:nvPr>
            <p:ph type="body" idx="4294967295"/>
          </p:nvPr>
        </p:nvSpPr>
        <p:spPr>
          <a:xfrm>
            <a:off x="414366" y="1600200"/>
            <a:ext cx="8229600" cy="4525963"/>
          </a:xfrm>
        </p:spPr>
        <p:txBody>
          <a:bodyPr/>
          <a:lstStyle/>
          <a:p>
            <a:pPr eaLnBrk="1" hangingPunct="1">
              <a:buFont typeface="Wingdings" pitchFamily="2" charset="2"/>
              <a:buNone/>
            </a:pPr>
            <a:r>
              <a:rPr lang="zh-CN" altLang="en-US" b="1" dirty="0" smtClean="0">
                <a:solidFill>
                  <a:srgbClr val="FF0000"/>
                </a:solidFill>
              </a:rPr>
              <a:t>盘块的回收分两步：</a:t>
            </a:r>
          </a:p>
          <a:p>
            <a:pPr eaLnBrk="1" hangingPunct="1"/>
            <a:r>
              <a:rPr lang="en-US" altLang="zh-CN" b="1" dirty="0" smtClean="0"/>
              <a:t>(1) </a:t>
            </a:r>
            <a:r>
              <a:rPr lang="zh-CN" altLang="en-US" b="1" dirty="0" smtClean="0"/>
              <a:t>将回收盘块的盘块号转换成位示图中的行号和列号。转换公式为：</a:t>
            </a:r>
          </a:p>
          <a:p>
            <a:pPr lvl="1" eaLnBrk="1" hangingPunct="1"/>
            <a:r>
              <a:rPr lang="en-US" altLang="zh-CN" b="1" dirty="0" err="1" smtClean="0"/>
              <a:t>i</a:t>
            </a:r>
            <a:r>
              <a:rPr lang="en-US" altLang="zh-CN" b="1" dirty="0" smtClean="0"/>
              <a:t> = (b - 1)DIV n + 1</a:t>
            </a:r>
          </a:p>
          <a:p>
            <a:pPr lvl="1" eaLnBrk="1" hangingPunct="1"/>
            <a:r>
              <a:rPr lang="en-US" altLang="zh-CN" b="1" dirty="0" smtClean="0"/>
              <a:t>j = (b - 1)MOD n + 1</a:t>
            </a:r>
          </a:p>
          <a:p>
            <a:pPr eaLnBrk="1" hangingPunct="1"/>
            <a:r>
              <a:rPr lang="en-US" altLang="zh-CN" b="1" dirty="0" smtClean="0"/>
              <a:t>(2) </a:t>
            </a:r>
            <a:r>
              <a:rPr lang="zh-CN" altLang="en-US" b="1" dirty="0" smtClean="0"/>
              <a:t>修改位示图。令</a:t>
            </a:r>
            <a:r>
              <a:rPr lang="en-US" altLang="zh-CN" b="1" dirty="0" smtClean="0"/>
              <a:t>map[</a:t>
            </a:r>
            <a:r>
              <a:rPr lang="en-US" altLang="zh-CN" b="1" dirty="0" err="1" smtClean="0"/>
              <a:t>i,j</a:t>
            </a:r>
            <a:r>
              <a:rPr lang="en-US" altLang="zh-CN" b="1" dirty="0" smtClean="0"/>
              <a:t>] =0</a:t>
            </a:r>
            <a:r>
              <a:rPr lang="zh-CN" altLang="en-US" b="1"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5954"/>
                                        </p:tgtEl>
                                        <p:attrNameLst>
                                          <p:attrName>style.visibility</p:attrName>
                                        </p:attrNameLst>
                                      </p:cBhvr>
                                      <p:to>
                                        <p:strVal val="visible"/>
                                      </p:to>
                                    </p:set>
                                    <p:animEffect transition="in" filter="fade">
                                      <p:cBhvr>
                                        <p:cTn id="7" dur="2000"/>
                                        <p:tgtEl>
                                          <p:spTgt spid="1259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4931">
                                            <p:txEl>
                                              <p:pRg st="0" end="0"/>
                                            </p:txEl>
                                          </p:spTgt>
                                        </p:tgtEl>
                                        <p:attrNameLst>
                                          <p:attrName>style.visibility</p:attrName>
                                        </p:attrNameLst>
                                      </p:cBhvr>
                                      <p:to>
                                        <p:strVal val="visible"/>
                                      </p:to>
                                    </p:set>
                                    <p:animEffect transition="in" filter="fade">
                                      <p:cBhvr>
                                        <p:cTn id="12" dur="2000"/>
                                        <p:tgtEl>
                                          <p:spTgt spid="1249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4931">
                                            <p:txEl>
                                              <p:pRg st="1" end="1"/>
                                            </p:txEl>
                                          </p:spTgt>
                                        </p:tgtEl>
                                        <p:attrNameLst>
                                          <p:attrName>style.visibility</p:attrName>
                                        </p:attrNameLst>
                                      </p:cBhvr>
                                      <p:to>
                                        <p:strVal val="visible"/>
                                      </p:to>
                                    </p:set>
                                    <p:animEffect transition="in" filter="fade">
                                      <p:cBhvr>
                                        <p:cTn id="17" dur="2000"/>
                                        <p:tgtEl>
                                          <p:spTgt spid="124931">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4931">
                                            <p:txEl>
                                              <p:pRg st="2" end="2"/>
                                            </p:txEl>
                                          </p:spTgt>
                                        </p:tgtEl>
                                        <p:attrNameLst>
                                          <p:attrName>style.visibility</p:attrName>
                                        </p:attrNameLst>
                                      </p:cBhvr>
                                      <p:to>
                                        <p:strVal val="visible"/>
                                      </p:to>
                                    </p:set>
                                    <p:animEffect transition="in" filter="fade">
                                      <p:cBhvr>
                                        <p:cTn id="20" dur="2000"/>
                                        <p:tgtEl>
                                          <p:spTgt spid="124931">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4931">
                                            <p:txEl>
                                              <p:pRg st="3" end="3"/>
                                            </p:txEl>
                                          </p:spTgt>
                                        </p:tgtEl>
                                        <p:attrNameLst>
                                          <p:attrName>style.visibility</p:attrName>
                                        </p:attrNameLst>
                                      </p:cBhvr>
                                      <p:to>
                                        <p:strVal val="visible"/>
                                      </p:to>
                                    </p:set>
                                    <p:animEffect transition="in" filter="fade">
                                      <p:cBhvr>
                                        <p:cTn id="23" dur="2000"/>
                                        <p:tgtEl>
                                          <p:spTgt spid="12493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4931">
                                            <p:txEl>
                                              <p:pRg st="4" end="4"/>
                                            </p:txEl>
                                          </p:spTgt>
                                        </p:tgtEl>
                                        <p:attrNameLst>
                                          <p:attrName>style.visibility</p:attrName>
                                        </p:attrNameLst>
                                      </p:cBhvr>
                                      <p:to>
                                        <p:strVal val="visible"/>
                                      </p:to>
                                    </p:set>
                                    <p:animEffect transition="in" filter="fade">
                                      <p:cBhvr>
                                        <p:cTn id="28" dur="2000"/>
                                        <p:tgtEl>
                                          <p:spTgt spid="1249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autoUpdateAnimBg="0"/>
      <p:bldP spid="124931"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Rectangle 2"/>
          <p:cNvSpPr>
            <a:spLocks noGrp="1" noRot="1" noChangeArrowheads="1"/>
          </p:cNvSpPr>
          <p:nvPr>
            <p:ph type="title" idx="4294967295"/>
          </p:nvPr>
        </p:nvSpPr>
        <p:spPr>
          <a:xfrm>
            <a:off x="0" y="274638"/>
            <a:ext cx="8229600" cy="1143000"/>
          </a:xfrm>
        </p:spPr>
        <p:txBody>
          <a:bodyPr/>
          <a:lstStyle/>
          <a:p>
            <a:pPr eaLnBrk="1" hangingPunct="1">
              <a:defRPr/>
            </a:pPr>
            <a:r>
              <a:rPr lang="zh-CN" b="1" u="sng" dirty="0" smtClean="0">
                <a:solidFill>
                  <a:srgbClr val="FF0000"/>
                </a:solidFill>
                <a:effectLst>
                  <a:outerShdw blurRad="38100" dist="38100" dir="2700000" algn="tl">
                    <a:srgbClr val="000000"/>
                  </a:outerShdw>
                </a:effectLst>
                <a:ea typeface="仿宋_GB2312" pitchFamily="1" charset="-122"/>
              </a:rPr>
              <a:t>位示图 优点</a:t>
            </a:r>
          </a:p>
        </p:txBody>
      </p:sp>
      <p:sp>
        <p:nvSpPr>
          <p:cNvPr id="126979" name="Rectangle 3"/>
          <p:cNvSpPr>
            <a:spLocks noGrp="1" noRot="1" noChangeArrowheads="1"/>
          </p:cNvSpPr>
          <p:nvPr>
            <p:ph type="body" idx="4294967295"/>
          </p:nvPr>
        </p:nvSpPr>
        <p:spPr>
          <a:xfrm>
            <a:off x="0" y="1600200"/>
            <a:ext cx="8786842" cy="4525963"/>
          </a:xfrm>
        </p:spPr>
        <p:txBody>
          <a:bodyPr/>
          <a:lstStyle/>
          <a:p>
            <a:pPr eaLnBrk="1" hangingPunct="1">
              <a:lnSpc>
                <a:spcPct val="120000"/>
              </a:lnSpc>
              <a:defRPr/>
            </a:pPr>
            <a:r>
              <a:rPr lang="zh-CN" altLang="en-US" b="1" dirty="0" smtClean="0"/>
              <a:t>可以容易地找到一个或一组连续的空闲分区。</a:t>
            </a:r>
            <a:endParaRPr lang="en-US" altLang="zh-CN" b="1" dirty="0" smtClean="0"/>
          </a:p>
          <a:p>
            <a:pPr eaLnBrk="1" hangingPunct="1">
              <a:lnSpc>
                <a:spcPct val="120000"/>
              </a:lnSpc>
              <a:defRPr/>
            </a:pPr>
            <a:endParaRPr lang="zh-CN" altLang="en-US" b="1" dirty="0" smtClean="0"/>
          </a:p>
          <a:p>
            <a:pPr>
              <a:lnSpc>
                <a:spcPct val="120000"/>
              </a:lnSpc>
              <a:defRPr/>
            </a:pPr>
            <a:r>
              <a:rPr lang="zh-CN" altLang="en-US" b="1" dirty="0" smtClean="0"/>
              <a:t>例如，我们需要找到</a:t>
            </a:r>
            <a:r>
              <a:rPr lang="en-US" altLang="en-US" b="1" dirty="0" smtClean="0"/>
              <a:t>8</a:t>
            </a:r>
            <a:r>
              <a:rPr lang="zh-CN" altLang="en-US" b="1" dirty="0" smtClean="0"/>
              <a:t>个相邻接的空闲盘块，这只需在位示图中找出</a:t>
            </a:r>
            <a:r>
              <a:rPr lang="en-US" altLang="en-US" b="1" dirty="0" smtClean="0"/>
              <a:t>8</a:t>
            </a:r>
            <a:r>
              <a:rPr lang="zh-CN" altLang="en-US" b="1" dirty="0" smtClean="0"/>
              <a:t>个其值连续为“</a:t>
            </a:r>
            <a:r>
              <a:rPr lang="en-US" altLang="en-US" b="1" dirty="0" smtClean="0"/>
              <a:t>0”</a:t>
            </a:r>
            <a:r>
              <a:rPr lang="zh-CN" altLang="en-US" b="1" dirty="0" smtClean="0"/>
              <a:t>的位即可。</a:t>
            </a:r>
          </a:p>
          <a:p>
            <a:pPr eaLnBrk="1" hangingPunct="1">
              <a:lnSpc>
                <a:spcPct val="120000"/>
              </a:lnSpc>
              <a:defRPr/>
            </a:pPr>
            <a:endParaRPr lang="zh-CN" altLang="en-US" b="1" dirty="0" smtClean="0">
              <a:effectLst>
                <a:outerShdw blurRad="38100" dist="38100" dir="2700000" algn="tl">
                  <a:srgbClr val="000000"/>
                </a:outerShdw>
              </a:effectLst>
              <a:latin typeface="仿宋_GB2312" pitchFamily="1" charset="-122"/>
              <a:ea typeface="仿宋_GB2312" pitchFamily="1" charset="-122"/>
            </a:endParaRPr>
          </a:p>
          <a:p>
            <a:pPr eaLnBrk="1" hangingPunct="1">
              <a:lnSpc>
                <a:spcPct val="120000"/>
              </a:lnSpc>
              <a:defRPr/>
            </a:pPr>
            <a:endParaRPr lang="en-US" b="1" dirty="0" smtClean="0">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6978"/>
                                        </p:tgtEl>
                                        <p:attrNameLst>
                                          <p:attrName>style.visibility</p:attrName>
                                        </p:attrNameLst>
                                      </p:cBhvr>
                                      <p:to>
                                        <p:strVal val="visible"/>
                                      </p:to>
                                    </p:set>
                                    <p:animEffect transition="in" filter="fade">
                                      <p:cBhvr>
                                        <p:cTn id="7" dur="2000"/>
                                        <p:tgtEl>
                                          <p:spTgt spid="1269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6979">
                                            <p:txEl>
                                              <p:pRg st="0" end="0"/>
                                            </p:txEl>
                                          </p:spTgt>
                                        </p:tgtEl>
                                        <p:attrNameLst>
                                          <p:attrName>style.visibility</p:attrName>
                                        </p:attrNameLst>
                                      </p:cBhvr>
                                      <p:to>
                                        <p:strVal val="visible"/>
                                      </p:to>
                                    </p:set>
                                    <p:animEffect transition="in" filter="fade">
                                      <p:cBhvr>
                                        <p:cTn id="12" dur="2000"/>
                                        <p:tgtEl>
                                          <p:spTgt spid="1269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6979">
                                            <p:txEl>
                                              <p:pRg st="2" end="2"/>
                                            </p:txEl>
                                          </p:spTgt>
                                        </p:tgtEl>
                                        <p:attrNameLst>
                                          <p:attrName>style.visibility</p:attrName>
                                        </p:attrNameLst>
                                      </p:cBhvr>
                                      <p:to>
                                        <p:strVal val="visible"/>
                                      </p:to>
                                    </p:set>
                                    <p:animEffect transition="in" filter="fade">
                                      <p:cBhvr>
                                        <p:cTn id="17" dur="2000"/>
                                        <p:tgtEl>
                                          <p:spTgt spid="1269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autoUpdateAnimBg="0"/>
      <p:bldP spid="126979"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Rectangle 2"/>
          <p:cNvSpPr>
            <a:spLocks noGrp="1" noRot="1" noChangeArrowheads="1"/>
          </p:cNvSpPr>
          <p:nvPr>
            <p:ph type="title" idx="4294967295"/>
          </p:nvPr>
        </p:nvSpPr>
        <p:spPr>
          <a:xfrm>
            <a:off x="0" y="274638"/>
            <a:ext cx="8229600" cy="1143000"/>
          </a:xfrm>
        </p:spPr>
        <p:txBody>
          <a:bodyPr/>
          <a:lstStyle/>
          <a:p>
            <a:pPr eaLnBrk="1" hangingPunct="1">
              <a:defRPr/>
            </a:pPr>
            <a:r>
              <a:rPr lang="zh-CN" b="1" u="sng" dirty="0" smtClean="0">
                <a:solidFill>
                  <a:srgbClr val="FF0000"/>
                </a:solidFill>
                <a:effectLst>
                  <a:outerShdw blurRad="38100" dist="38100" dir="2700000" algn="tl">
                    <a:srgbClr val="000000"/>
                  </a:outerShdw>
                </a:effectLst>
                <a:ea typeface="仿宋_GB2312" pitchFamily="1" charset="-122"/>
              </a:rPr>
              <a:t>位示图 缺点</a:t>
            </a:r>
          </a:p>
        </p:txBody>
      </p:sp>
      <p:sp>
        <p:nvSpPr>
          <p:cNvPr id="128003" name="Rectangle 3"/>
          <p:cNvSpPr>
            <a:spLocks noGrp="1" noRot="1" noChangeArrowheads="1"/>
          </p:cNvSpPr>
          <p:nvPr>
            <p:ph type="body" idx="4294967295"/>
          </p:nvPr>
        </p:nvSpPr>
        <p:spPr>
          <a:xfrm>
            <a:off x="414366" y="1600200"/>
            <a:ext cx="8229600" cy="4525963"/>
          </a:xfrm>
        </p:spPr>
        <p:txBody>
          <a:bodyPr/>
          <a:lstStyle/>
          <a:p>
            <a:pPr algn="just" eaLnBrk="1" hangingPunct="1">
              <a:lnSpc>
                <a:spcPct val="120000"/>
              </a:lnSpc>
              <a:defRPr/>
            </a:pPr>
            <a:r>
              <a:rPr lang="zh-CN" altLang="en-US" b="1" dirty="0" smtClean="0"/>
              <a:t>很难一次性将该位示图全部装入内存。</a:t>
            </a:r>
            <a:endParaRPr lang="en-US" altLang="en-US" b="1" dirty="0" smtClean="0"/>
          </a:p>
          <a:p>
            <a:pPr algn="just" eaLnBrk="1" hangingPunct="1">
              <a:lnSpc>
                <a:spcPct val="120000"/>
              </a:lnSpc>
              <a:defRPr/>
            </a:pPr>
            <a:r>
              <a:rPr lang="zh-CN" altLang="en-US" b="1" dirty="0" smtClean="0"/>
              <a:t>即使内存足够大，可以存放全部或绝大部分位示图数据，搜索一个很大的位示图将会降低文件系统的性能。</a:t>
            </a:r>
          </a:p>
          <a:p>
            <a:pPr algn="just" eaLnBrk="1" hangingPunct="1">
              <a:lnSpc>
                <a:spcPct val="120000"/>
              </a:lnSpc>
              <a:defRPr/>
            </a:pPr>
            <a:endParaRPr lang="zh-CN" altLang="en-US" sz="2800" b="1" dirty="0" smtClean="0">
              <a:effectLst>
                <a:outerShdw blurRad="38100" dist="38100" dir="2700000" algn="tl">
                  <a:srgbClr val="000000"/>
                </a:outerShdw>
              </a:effectLst>
              <a:ea typeface="仿宋_GB2312" pitchFamily="1" charset="-122"/>
            </a:endParaRPr>
          </a:p>
          <a:p>
            <a:pPr algn="just" eaLnBrk="1" hangingPunct="1">
              <a:lnSpc>
                <a:spcPct val="90000"/>
              </a:lnSpc>
              <a:defRPr/>
            </a:pPr>
            <a:endParaRPr lang="zh-CN" altLang="en-US" sz="2800" b="1" dirty="0" smtClean="0">
              <a:effectLst>
                <a:outerShdw blurRad="38100" dist="38100" dir="2700000" algn="tl">
                  <a:srgbClr val="000000"/>
                </a:outerShdw>
              </a:effectLst>
              <a:ea typeface="仿宋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8002"/>
                                        </p:tgtEl>
                                        <p:attrNameLst>
                                          <p:attrName>style.visibility</p:attrName>
                                        </p:attrNameLst>
                                      </p:cBhvr>
                                      <p:to>
                                        <p:strVal val="visible"/>
                                      </p:to>
                                    </p:set>
                                    <p:animEffect transition="in" filter="fade">
                                      <p:cBhvr>
                                        <p:cTn id="7" dur="2000"/>
                                        <p:tgtEl>
                                          <p:spTgt spid="1280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8003">
                                            <p:txEl>
                                              <p:pRg st="0" end="0"/>
                                            </p:txEl>
                                          </p:spTgt>
                                        </p:tgtEl>
                                        <p:attrNameLst>
                                          <p:attrName>style.visibility</p:attrName>
                                        </p:attrNameLst>
                                      </p:cBhvr>
                                      <p:to>
                                        <p:strVal val="visible"/>
                                      </p:to>
                                    </p:set>
                                    <p:animEffect transition="in" filter="fade">
                                      <p:cBhvr>
                                        <p:cTn id="12" dur="2000"/>
                                        <p:tgtEl>
                                          <p:spTgt spid="12800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8003">
                                            <p:txEl>
                                              <p:pRg st="1" end="1"/>
                                            </p:txEl>
                                          </p:spTgt>
                                        </p:tgtEl>
                                        <p:attrNameLst>
                                          <p:attrName>style.visibility</p:attrName>
                                        </p:attrNameLst>
                                      </p:cBhvr>
                                      <p:to>
                                        <p:strVal val="visible"/>
                                      </p:to>
                                    </p:set>
                                    <p:animEffect transition="in" filter="fade">
                                      <p:cBhvr>
                                        <p:cTn id="17" dur="2000"/>
                                        <p:tgtEl>
                                          <p:spTgt spid="1280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autoUpdateAnimBg="0"/>
      <p:bldP spid="128003"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80162" name="Rectangle 2"/>
          <p:cNvSpPr>
            <a:spLocks noGrp="1" noRot="1" noChangeArrowheads="1"/>
          </p:cNvSpPr>
          <p:nvPr>
            <p:ph type="body" idx="1"/>
          </p:nvPr>
        </p:nvSpPr>
        <p:spPr>
          <a:xfrm>
            <a:off x="228600" y="685800"/>
            <a:ext cx="8702675" cy="6096000"/>
          </a:xfrm>
        </p:spPr>
        <p:txBody>
          <a:bodyPr>
            <a:normAutofit/>
          </a:bodyPr>
          <a:lstStyle/>
          <a:p>
            <a:pPr>
              <a:lnSpc>
                <a:spcPct val="120000"/>
              </a:lnSpc>
              <a:buFont typeface="Wingdings" panose="05000000000000000000" pitchFamily="2" charset="2"/>
              <a:buNone/>
              <a:defRPr/>
            </a:pPr>
            <a:r>
              <a:rPr kumimoji="1" lang="en-US" altLang="zh-CN" sz="4000" dirty="0" smtClean="0">
                <a:solidFill>
                  <a:srgbClr val="FF0000"/>
                </a:solidFill>
                <a:latin typeface="+mn-ea"/>
              </a:rPr>
              <a:t>4</a:t>
            </a:r>
            <a:r>
              <a:rPr kumimoji="1" lang="zh-CN" altLang="en-US" sz="4000" dirty="0" smtClean="0">
                <a:solidFill>
                  <a:srgbClr val="FF0000"/>
                </a:solidFill>
                <a:latin typeface="+mn-ea"/>
              </a:rPr>
              <a:t>）成组</a:t>
            </a:r>
            <a:r>
              <a:rPr kumimoji="1" lang="zh-CN" altLang="en-US" sz="4000" dirty="0">
                <a:solidFill>
                  <a:srgbClr val="FF0000"/>
                </a:solidFill>
                <a:latin typeface="+mn-ea"/>
              </a:rPr>
              <a:t>链接法</a:t>
            </a:r>
          </a:p>
          <a:p>
            <a:pPr>
              <a:lnSpc>
                <a:spcPct val="120000"/>
              </a:lnSpc>
              <a:buClr>
                <a:schemeClr val="tx1"/>
              </a:buClr>
              <a:buSzTx/>
              <a:buFont typeface="Wingdings" panose="05000000000000000000" pitchFamily="2" charset="2"/>
              <a:buNone/>
              <a:defRPr/>
            </a:pPr>
            <a:r>
              <a:rPr lang="en-US" altLang="zh-CN" sz="2800" i="1" dirty="0" smtClean="0">
                <a:solidFill>
                  <a:srgbClr val="00B0F0"/>
                </a:solidFill>
                <a:latin typeface="+mn-ea"/>
              </a:rPr>
              <a:t>A. </a:t>
            </a:r>
            <a:r>
              <a:rPr lang="zh-CN" altLang="en-US" sz="2800" i="1" dirty="0" smtClean="0">
                <a:solidFill>
                  <a:srgbClr val="00B0F0"/>
                </a:solidFill>
                <a:latin typeface="+mn-ea"/>
              </a:rPr>
              <a:t>空闲</a:t>
            </a:r>
            <a:r>
              <a:rPr lang="zh-CN" altLang="en-US" sz="2800" i="1" dirty="0">
                <a:solidFill>
                  <a:srgbClr val="00B0F0"/>
                </a:solidFill>
                <a:latin typeface="+mn-ea"/>
              </a:rPr>
              <a:t>盘块的组织 </a:t>
            </a:r>
          </a:p>
          <a:p>
            <a:pPr lvl="1">
              <a:lnSpc>
                <a:spcPct val="120000"/>
              </a:lnSpc>
              <a:buClr>
                <a:srgbClr val="006600"/>
              </a:buClr>
              <a:buSzTx/>
              <a:buFont typeface="Wingdings" panose="05000000000000000000" pitchFamily="2" charset="2"/>
              <a:buChar char="ü"/>
              <a:defRPr/>
            </a:pPr>
            <a:r>
              <a:rPr lang="zh-CN" altLang="en-US" sz="2400" dirty="0">
                <a:latin typeface="+mn-ea"/>
              </a:rPr>
              <a:t>将磁盘所有空闲盘块分组；</a:t>
            </a:r>
          </a:p>
          <a:p>
            <a:pPr lvl="1">
              <a:lnSpc>
                <a:spcPct val="120000"/>
              </a:lnSpc>
              <a:buClr>
                <a:srgbClr val="006600"/>
              </a:buClr>
              <a:buSzTx/>
              <a:buFont typeface="Wingdings" panose="05000000000000000000" pitchFamily="2" charset="2"/>
              <a:buChar char="ü"/>
              <a:defRPr/>
            </a:pPr>
            <a:r>
              <a:rPr lang="zh-CN" altLang="en-US" sz="2400" dirty="0">
                <a:latin typeface="+mn-ea"/>
              </a:rPr>
              <a:t>设置</a:t>
            </a:r>
            <a:r>
              <a:rPr lang="zh-CN" altLang="en-US" sz="2400" i="1" dirty="0">
                <a:solidFill>
                  <a:srgbClr val="FF0000"/>
                </a:solidFill>
                <a:latin typeface="+mn-ea"/>
              </a:rPr>
              <a:t>空闲盘块号栈</a:t>
            </a:r>
            <a:r>
              <a:rPr lang="zh-CN" altLang="en-US" sz="2400" dirty="0">
                <a:latin typeface="+mn-ea"/>
              </a:rPr>
              <a:t>，</a:t>
            </a:r>
            <a:r>
              <a:rPr lang="zh-CN" altLang="en-US" sz="2400" dirty="0" smtClean="0">
                <a:latin typeface="+mn-ea"/>
              </a:rPr>
              <a:t>存放当前可用的一</a:t>
            </a:r>
            <a:r>
              <a:rPr lang="zh-CN" altLang="en-US" sz="2400" dirty="0">
                <a:latin typeface="+mn-ea"/>
              </a:rPr>
              <a:t>组空闲盘</a:t>
            </a:r>
            <a:r>
              <a:rPr lang="zh-CN" altLang="en-US" sz="2400" dirty="0" smtClean="0">
                <a:latin typeface="+mn-ea"/>
              </a:rPr>
              <a:t>块的盘块号</a:t>
            </a:r>
            <a:r>
              <a:rPr lang="en-US" altLang="zh-CN" sz="2400" dirty="0" smtClean="0">
                <a:latin typeface="+mn-ea"/>
              </a:rPr>
              <a:t>(</a:t>
            </a:r>
            <a:r>
              <a:rPr lang="zh-CN" altLang="en-US" sz="2400" dirty="0" smtClean="0">
                <a:latin typeface="+mn-ea"/>
              </a:rPr>
              <a:t>最多</a:t>
            </a:r>
            <a:r>
              <a:rPr lang="en-US" altLang="zh-CN" sz="2400" dirty="0" smtClean="0">
                <a:latin typeface="+mn-ea"/>
              </a:rPr>
              <a:t>100</a:t>
            </a:r>
            <a:r>
              <a:rPr lang="zh-CN" altLang="en-US" sz="2400" dirty="0" smtClean="0">
                <a:latin typeface="+mn-ea"/>
              </a:rPr>
              <a:t>个号</a:t>
            </a:r>
            <a:r>
              <a:rPr lang="en-US" altLang="zh-CN" sz="2400" dirty="0" smtClean="0">
                <a:latin typeface="+mn-ea"/>
              </a:rPr>
              <a:t>)</a:t>
            </a:r>
            <a:r>
              <a:rPr lang="zh-CN" altLang="en-US" sz="2400" dirty="0" smtClean="0">
                <a:latin typeface="+mn-ea"/>
              </a:rPr>
              <a:t>，和栈中尚有的空闲盘块总数</a:t>
            </a:r>
            <a:r>
              <a:rPr lang="en-US" altLang="zh-CN" sz="2400" dirty="0" smtClean="0">
                <a:latin typeface="+mn-ea"/>
              </a:rPr>
              <a:t>N</a:t>
            </a:r>
            <a:r>
              <a:rPr lang="zh-CN" altLang="en-US" sz="2400" dirty="0" smtClean="0">
                <a:latin typeface="+mn-ea"/>
              </a:rPr>
              <a:t>；</a:t>
            </a:r>
            <a:endParaRPr lang="zh-CN" altLang="en-US" sz="2400" dirty="0">
              <a:latin typeface="+mn-ea"/>
            </a:endParaRPr>
          </a:p>
          <a:p>
            <a:pPr lvl="1">
              <a:lnSpc>
                <a:spcPct val="120000"/>
              </a:lnSpc>
              <a:buClr>
                <a:srgbClr val="006600"/>
              </a:buClr>
              <a:buSzTx/>
              <a:buFont typeface="Wingdings" panose="05000000000000000000" pitchFamily="2" charset="2"/>
              <a:buChar char="ü"/>
              <a:defRPr/>
            </a:pPr>
            <a:r>
              <a:rPr lang="zh-CN" altLang="en-US" sz="2400" dirty="0">
                <a:latin typeface="+mn-ea"/>
              </a:rPr>
              <a:t>后一组的所有盘块号以及盘块总数登记在前一组的第一个盘块中</a:t>
            </a:r>
            <a:r>
              <a:rPr lang="en-US" altLang="zh-CN" sz="2400" dirty="0">
                <a:latin typeface="+mn-ea"/>
              </a:rPr>
              <a:t>……</a:t>
            </a:r>
            <a:r>
              <a:rPr lang="zh-CN" altLang="en-US" sz="2400" dirty="0">
                <a:latin typeface="+mn-ea"/>
              </a:rPr>
              <a:t>依次类推，组与组之间形成链接关系；</a:t>
            </a:r>
          </a:p>
          <a:p>
            <a:pPr lvl="1">
              <a:lnSpc>
                <a:spcPct val="120000"/>
              </a:lnSpc>
              <a:buClr>
                <a:srgbClr val="006600"/>
              </a:buClr>
              <a:buSzTx/>
              <a:buFont typeface="Wingdings" panose="05000000000000000000" pitchFamily="2" charset="2"/>
              <a:buChar char="ü"/>
              <a:defRPr/>
            </a:pPr>
            <a:r>
              <a:rPr lang="zh-CN" altLang="en-US" sz="2400" dirty="0" smtClean="0">
                <a:latin typeface="+mn-ea"/>
              </a:rPr>
              <a:t>最后</a:t>
            </a:r>
            <a:r>
              <a:rPr lang="zh-CN" altLang="en-US" sz="2400" dirty="0">
                <a:latin typeface="+mn-ea"/>
              </a:rPr>
              <a:t>一组少登记一个盘块号，多登记一个空闲盘块链的结束标志。</a:t>
            </a:r>
          </a:p>
        </p:txBody>
      </p:sp>
      <p:graphicFrame>
        <p:nvGraphicFramePr>
          <p:cNvPr id="3074" name="Object 2"/>
          <p:cNvGraphicFramePr>
            <a:graphicFrameLocks/>
          </p:cNvGraphicFramePr>
          <p:nvPr/>
        </p:nvGraphicFramePr>
        <p:xfrm>
          <a:off x="2971800" y="381000"/>
          <a:ext cx="5761038" cy="73025"/>
        </p:xfrm>
        <a:graphic>
          <a:graphicData uri="http://schemas.openxmlformats.org/presentationml/2006/ole">
            <mc:AlternateContent xmlns:mc="http://schemas.openxmlformats.org/markup-compatibility/2006">
              <mc:Choice xmlns:v="urn:schemas-microsoft-com:vml" Requires="v">
                <p:oleObj spid="_x0000_s36868" name="剪辑" r:id="rId4" imgW="6857143" imgH="48963" progId="MS_ClipArt_Gallery.2">
                  <p:embed/>
                </p:oleObj>
              </mc:Choice>
              <mc:Fallback>
                <p:oleObj name="剪辑" r:id="rId4" imgW="6857143" imgH="48963" progId="MS_ClipArt_Gallery.2">
                  <p:embed/>
                  <p:pic>
                    <p:nvPicPr>
                      <p:cNvPr id="3074" name="Object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381000"/>
                        <a:ext cx="5761038" cy="7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662566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80162">
                                            <p:txEl>
                                              <p:pRg st="0" end="0"/>
                                            </p:txEl>
                                          </p:spTgt>
                                        </p:tgtEl>
                                        <p:attrNameLst>
                                          <p:attrName>style.visibility</p:attrName>
                                        </p:attrNameLst>
                                      </p:cBhvr>
                                      <p:to>
                                        <p:strVal val="visible"/>
                                      </p:to>
                                    </p:set>
                                    <p:anim calcmode="lin" valueType="num">
                                      <p:cBhvr additive="base">
                                        <p:cTn id="7" dur="500" fill="hold"/>
                                        <p:tgtEl>
                                          <p:spTgt spid="27801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78016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80162">
                                            <p:txEl>
                                              <p:pRg st="1" end="1"/>
                                            </p:txEl>
                                          </p:spTgt>
                                        </p:tgtEl>
                                        <p:attrNameLst>
                                          <p:attrName>style.visibility</p:attrName>
                                        </p:attrNameLst>
                                      </p:cBhvr>
                                      <p:to>
                                        <p:strVal val="visible"/>
                                      </p:to>
                                    </p:set>
                                    <p:anim calcmode="lin" valueType="num">
                                      <p:cBhvr additive="base">
                                        <p:cTn id="13" dur="500" fill="hold"/>
                                        <p:tgtEl>
                                          <p:spTgt spid="278016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78016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2780162">
                                            <p:txEl>
                                              <p:pRg st="2" end="2"/>
                                            </p:txEl>
                                          </p:spTgt>
                                        </p:tgtEl>
                                        <p:attrNameLst>
                                          <p:attrName>style.visibility</p:attrName>
                                        </p:attrNameLst>
                                      </p:cBhvr>
                                      <p:to>
                                        <p:strVal val="visible"/>
                                      </p:to>
                                    </p:set>
                                    <p:anim calcmode="lin" valueType="num">
                                      <p:cBhvr additive="base">
                                        <p:cTn id="17" dur="500" fill="hold"/>
                                        <p:tgtEl>
                                          <p:spTgt spid="278016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78016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2780162">
                                            <p:txEl>
                                              <p:pRg st="3" end="3"/>
                                            </p:txEl>
                                          </p:spTgt>
                                        </p:tgtEl>
                                        <p:attrNameLst>
                                          <p:attrName>style.visibility</p:attrName>
                                        </p:attrNameLst>
                                      </p:cBhvr>
                                      <p:to>
                                        <p:strVal val="visible"/>
                                      </p:to>
                                    </p:set>
                                    <p:anim calcmode="lin" valueType="num">
                                      <p:cBhvr additive="base">
                                        <p:cTn id="21" dur="500" fill="hold"/>
                                        <p:tgtEl>
                                          <p:spTgt spid="2780162">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780162">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2780162">
                                            <p:txEl>
                                              <p:pRg st="4" end="4"/>
                                            </p:txEl>
                                          </p:spTgt>
                                        </p:tgtEl>
                                        <p:attrNameLst>
                                          <p:attrName>style.visibility</p:attrName>
                                        </p:attrNameLst>
                                      </p:cBhvr>
                                      <p:to>
                                        <p:strVal val="visible"/>
                                      </p:to>
                                    </p:set>
                                    <p:anim calcmode="lin" valueType="num">
                                      <p:cBhvr additive="base">
                                        <p:cTn id="25" dur="500" fill="hold"/>
                                        <p:tgtEl>
                                          <p:spTgt spid="2780162">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780162">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0162"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3276600" y="188913"/>
            <a:ext cx="32448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200" b="1" dirty="0">
                <a:solidFill>
                  <a:srgbClr val="FF0000"/>
                </a:solidFill>
                <a:latin typeface="黑体" panose="02010609060101010101" pitchFamily="49" charset="-122"/>
                <a:ea typeface="黑体" panose="02010609060101010101" pitchFamily="49" charset="-122"/>
              </a:rPr>
              <a:t>成组链接法示意 </a:t>
            </a:r>
          </a:p>
        </p:txBody>
      </p:sp>
      <p:graphicFrame>
        <p:nvGraphicFramePr>
          <p:cNvPr id="4098" name="Object 3"/>
          <p:cNvGraphicFramePr>
            <a:graphicFrameLocks noChangeAspect="1"/>
          </p:cNvGraphicFramePr>
          <p:nvPr/>
        </p:nvGraphicFramePr>
        <p:xfrm>
          <a:off x="0" y="908050"/>
          <a:ext cx="9144000" cy="5907088"/>
        </p:xfrm>
        <a:graphic>
          <a:graphicData uri="http://schemas.openxmlformats.org/presentationml/2006/ole">
            <mc:AlternateContent xmlns:mc="http://schemas.openxmlformats.org/markup-compatibility/2006">
              <mc:Choice xmlns:v="urn:schemas-microsoft-com:vml" Requires="v">
                <p:oleObj spid="_x0000_s37892" name="位图图像" r:id="rId3" imgW="7085714" imgH="4486901" progId="Paint.Picture">
                  <p:embed/>
                </p:oleObj>
              </mc:Choice>
              <mc:Fallback>
                <p:oleObj name="位图图像" r:id="rId3" imgW="7085714" imgH="4486901" progId="Paint.Picture">
                  <p:embed/>
                  <p:pic>
                    <p:nvPicPr>
                      <p:cNvPr id="409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08050"/>
                        <a:ext cx="9144000" cy="590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 name="直接连接符 4"/>
          <p:cNvCxnSpPr/>
          <p:nvPr/>
        </p:nvCxnSpPr>
        <p:spPr>
          <a:xfrm>
            <a:off x="6443663" y="1700213"/>
            <a:ext cx="36036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276911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2"/>
          <p:cNvSpPr txBox="1">
            <a:spLocks noChangeArrowheads="1"/>
          </p:cNvSpPr>
          <p:nvPr/>
        </p:nvSpPr>
        <p:spPr bwMode="auto">
          <a:xfrm>
            <a:off x="539552" y="1196752"/>
            <a:ext cx="8435975" cy="408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5000"/>
              </a:lnSpc>
              <a:buFont typeface="Wingdings" panose="05000000000000000000" pitchFamily="2" charset="2"/>
              <a:buNone/>
            </a:pPr>
            <a:r>
              <a:rPr lang="en-US" altLang="zh-CN" sz="3200" b="1" i="1" dirty="0">
                <a:solidFill>
                  <a:srgbClr val="00B0F0"/>
                </a:solidFill>
                <a:latin typeface="宋体" panose="02010600030101010101" pitchFamily="2" charset="-122"/>
              </a:rPr>
              <a:t>2</a:t>
            </a:r>
            <a:r>
              <a:rPr lang="zh-CN" altLang="en-US" sz="3200" b="1" i="1" dirty="0">
                <a:solidFill>
                  <a:srgbClr val="00B0F0"/>
                </a:solidFill>
                <a:latin typeface="宋体" panose="02010600030101010101" pitchFamily="2" charset="-122"/>
              </a:rPr>
              <a:t>）空闲盘块的分配</a:t>
            </a:r>
            <a:r>
              <a:rPr kumimoji="1" lang="zh-CN" altLang="en-US" sz="2400" i="1" dirty="0">
                <a:solidFill>
                  <a:srgbClr val="00B0F0"/>
                </a:solidFill>
                <a:latin typeface="宋体" panose="02010600030101010101" pitchFamily="2" charset="-122"/>
              </a:rPr>
              <a:t>    </a:t>
            </a:r>
          </a:p>
          <a:p>
            <a:pPr algn="just" eaLnBrk="1" hangingPunct="1">
              <a:lnSpc>
                <a:spcPct val="135000"/>
              </a:lnSpc>
              <a:buClr>
                <a:srgbClr val="006600"/>
              </a:buClr>
              <a:buFont typeface="Wingdings" panose="05000000000000000000" pitchFamily="2" charset="2"/>
              <a:buChar char="ü"/>
            </a:pPr>
            <a:r>
              <a:rPr kumimoji="1" lang="zh-CN" altLang="en-US" sz="2800" b="1" dirty="0">
                <a:latin typeface="宋体" panose="02010600030101010101" pitchFamily="2" charset="-122"/>
              </a:rPr>
              <a:t> </a:t>
            </a:r>
            <a:r>
              <a:rPr kumimoji="1" lang="zh-CN" altLang="en-US" sz="3200" b="1" dirty="0">
                <a:ea typeface="楷体_GB2312" pitchFamily="49" charset="-122"/>
              </a:rPr>
              <a:t>首先检查空闲盘块号栈是否上锁，如未上锁，从栈顶取出一空闲盘块号，分配与之对应的盘块给用户，将栈顶指针下移一格</a:t>
            </a:r>
          </a:p>
          <a:p>
            <a:pPr algn="just" eaLnBrk="1" hangingPunct="1">
              <a:lnSpc>
                <a:spcPct val="135000"/>
              </a:lnSpc>
              <a:buClr>
                <a:srgbClr val="006600"/>
              </a:buClr>
              <a:buFont typeface="Wingdings" panose="05000000000000000000" pitchFamily="2" charset="2"/>
              <a:buChar char="ü"/>
            </a:pPr>
            <a:r>
              <a:rPr kumimoji="1" lang="zh-CN" altLang="en-US" sz="3200" b="1" dirty="0">
                <a:ea typeface="楷体_GB2312" pitchFamily="49" charset="-122"/>
              </a:rPr>
              <a:t> 若该盘块号已是栈底，即</a:t>
            </a:r>
            <a:r>
              <a:rPr kumimoji="1" lang="en-US" altLang="zh-CN" sz="3200" b="1" dirty="0" err="1">
                <a:ea typeface="楷体_GB2312" pitchFamily="49" charset="-122"/>
              </a:rPr>
              <a:t>S.free</a:t>
            </a:r>
            <a:r>
              <a:rPr kumimoji="1" lang="en-US" altLang="zh-CN" sz="3200" b="1" dirty="0">
                <a:ea typeface="楷体_GB2312" pitchFamily="49" charset="-122"/>
              </a:rPr>
              <a:t>(0)</a:t>
            </a:r>
            <a:r>
              <a:rPr kumimoji="1" lang="zh-CN" altLang="en-US" sz="3200" b="1" dirty="0">
                <a:ea typeface="楷体_GB2312" pitchFamily="49" charset="-122"/>
              </a:rPr>
              <a:t>，这是当前栈中最后一个可分配的盘块号 </a:t>
            </a:r>
          </a:p>
        </p:txBody>
      </p:sp>
      <p:graphicFrame>
        <p:nvGraphicFramePr>
          <p:cNvPr id="5122" name="Object 2"/>
          <p:cNvGraphicFramePr>
            <a:graphicFrameLocks/>
          </p:cNvGraphicFramePr>
          <p:nvPr/>
        </p:nvGraphicFramePr>
        <p:xfrm>
          <a:off x="3492500" y="476250"/>
          <a:ext cx="4748213" cy="73025"/>
        </p:xfrm>
        <a:graphic>
          <a:graphicData uri="http://schemas.openxmlformats.org/presentationml/2006/ole">
            <mc:AlternateContent xmlns:mc="http://schemas.openxmlformats.org/markup-compatibility/2006">
              <mc:Choice xmlns:v="urn:schemas-microsoft-com:vml" Requires="v">
                <p:oleObj spid="_x0000_s38916" name="剪辑" r:id="rId3" imgW="6857143" imgH="48963" progId="MS_ClipArt_Gallery.2">
                  <p:embed/>
                </p:oleObj>
              </mc:Choice>
              <mc:Fallback>
                <p:oleObj name="剪辑" r:id="rId3" imgW="6857143" imgH="48963" progId="MS_ClipArt_Gallery.2">
                  <p:embed/>
                  <p:pic>
                    <p:nvPicPr>
                      <p:cNvPr id="5122"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476250"/>
                        <a:ext cx="4748213" cy="7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79378407"/>
      </p:ext>
    </p:extLst>
  </p:cSld>
  <p:clrMapOvr>
    <a:masterClrMapping/>
  </p:clrMapOvr>
  <p:transition>
    <p:blinds dir="vert"/>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2"/>
          <p:cNvSpPr txBox="1">
            <a:spLocks noChangeArrowheads="1"/>
          </p:cNvSpPr>
          <p:nvPr/>
        </p:nvSpPr>
        <p:spPr bwMode="auto">
          <a:xfrm>
            <a:off x="457200" y="765175"/>
            <a:ext cx="8305800" cy="469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5000"/>
              </a:lnSpc>
              <a:buClr>
                <a:srgbClr val="006600"/>
              </a:buClr>
              <a:buFont typeface="Wingdings" panose="05000000000000000000" pitchFamily="2" charset="2"/>
              <a:buChar char="ü"/>
            </a:pPr>
            <a:r>
              <a:rPr kumimoji="1" lang="en-US" altLang="zh-CN" sz="3200" b="1" dirty="0">
                <a:ea typeface="楷体_GB2312" pitchFamily="49" charset="-122"/>
              </a:rPr>
              <a:t> </a:t>
            </a:r>
            <a:r>
              <a:rPr kumimoji="1" lang="zh-CN" altLang="en-US" sz="3200" b="1" dirty="0">
                <a:ea typeface="楷体_GB2312" pitchFamily="49" charset="-122"/>
              </a:rPr>
              <a:t>由于在该盘块号所对应的盘块中记有下一组可用的盘块号，调用磁盘读过程将栈底盘块号所对应盘块的内容读入栈中，作为新的盘块号栈的内容，并把原栈底对应的盘块分配出去 </a:t>
            </a:r>
          </a:p>
          <a:p>
            <a:pPr algn="just" eaLnBrk="1" hangingPunct="1">
              <a:lnSpc>
                <a:spcPct val="135000"/>
              </a:lnSpc>
              <a:buClr>
                <a:srgbClr val="006600"/>
              </a:buClr>
              <a:buFont typeface="Wingdings" panose="05000000000000000000" pitchFamily="2" charset="2"/>
              <a:buChar char="ü"/>
            </a:pPr>
            <a:r>
              <a:rPr kumimoji="1" lang="zh-CN" altLang="en-US" sz="3200" b="1" dirty="0">
                <a:ea typeface="楷体_GB2312" pitchFamily="49" charset="-122"/>
              </a:rPr>
              <a:t> 分配一相应的缓冲区作为该盘块的缓冲区</a:t>
            </a:r>
          </a:p>
          <a:p>
            <a:pPr algn="just" eaLnBrk="1" hangingPunct="1">
              <a:lnSpc>
                <a:spcPct val="135000"/>
              </a:lnSpc>
              <a:buClr>
                <a:srgbClr val="006600"/>
              </a:buClr>
              <a:buFont typeface="Wingdings" panose="05000000000000000000" pitchFamily="2" charset="2"/>
              <a:buChar char="ü"/>
            </a:pPr>
            <a:r>
              <a:rPr kumimoji="1" lang="zh-CN" altLang="en-US" sz="3200" b="1" dirty="0">
                <a:ea typeface="楷体_GB2312" pitchFamily="49" charset="-122"/>
              </a:rPr>
              <a:t> 最后，把栈中的空闲盘块数减</a:t>
            </a:r>
            <a:r>
              <a:rPr kumimoji="1" lang="en-US" altLang="zh-CN" sz="3200" b="1" dirty="0">
                <a:ea typeface="楷体_GB2312" pitchFamily="49" charset="-122"/>
              </a:rPr>
              <a:t>1</a:t>
            </a:r>
            <a:r>
              <a:rPr kumimoji="1" lang="zh-CN" altLang="en-US" sz="3200" b="1" dirty="0">
                <a:ea typeface="楷体_GB2312" pitchFamily="49" charset="-122"/>
              </a:rPr>
              <a:t>并返回  </a:t>
            </a:r>
          </a:p>
        </p:txBody>
      </p:sp>
      <p:graphicFrame>
        <p:nvGraphicFramePr>
          <p:cNvPr id="6146" name="Object 2"/>
          <p:cNvGraphicFramePr>
            <a:graphicFrameLocks/>
          </p:cNvGraphicFramePr>
          <p:nvPr/>
        </p:nvGraphicFramePr>
        <p:xfrm>
          <a:off x="2843213" y="476250"/>
          <a:ext cx="5397500" cy="73025"/>
        </p:xfrm>
        <a:graphic>
          <a:graphicData uri="http://schemas.openxmlformats.org/presentationml/2006/ole">
            <mc:AlternateContent xmlns:mc="http://schemas.openxmlformats.org/markup-compatibility/2006">
              <mc:Choice xmlns:v="urn:schemas-microsoft-com:vml" Requires="v">
                <p:oleObj spid="_x0000_s39940" name="剪辑" r:id="rId3" imgW="6857143" imgH="48963" progId="MS_ClipArt_Gallery.2">
                  <p:embed/>
                </p:oleObj>
              </mc:Choice>
              <mc:Fallback>
                <p:oleObj name="剪辑" r:id="rId3" imgW="6857143" imgH="48963" progId="MS_ClipArt_Gallery.2">
                  <p:embed/>
                  <p:pic>
                    <p:nvPicPr>
                      <p:cNvPr id="6146"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476250"/>
                        <a:ext cx="5397500" cy="7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12452146"/>
      </p:ext>
    </p:extLst>
  </p:cSld>
  <p:clrMapOvr>
    <a:masterClrMapping/>
  </p:clrMapOvr>
  <p:transition>
    <p:blinds dir="vert"/>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
          <p:cNvSpPr txBox="1">
            <a:spLocks noChangeArrowheads="1"/>
          </p:cNvSpPr>
          <p:nvPr/>
        </p:nvSpPr>
        <p:spPr bwMode="auto">
          <a:xfrm>
            <a:off x="381000" y="692150"/>
            <a:ext cx="8280400"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5000"/>
              </a:lnSpc>
              <a:buFont typeface="Wingdings" panose="05000000000000000000" pitchFamily="2" charset="2"/>
              <a:buNone/>
            </a:pPr>
            <a:r>
              <a:rPr lang="en-US" altLang="zh-CN" sz="3200" b="1" i="1" dirty="0">
                <a:solidFill>
                  <a:srgbClr val="00B0F0"/>
                </a:solidFill>
                <a:latin typeface="宋体" panose="02010600030101010101" pitchFamily="2" charset="-122"/>
              </a:rPr>
              <a:t>3</a:t>
            </a:r>
            <a:r>
              <a:rPr lang="zh-CN" altLang="en-US" sz="3200" b="1" i="1" dirty="0">
                <a:solidFill>
                  <a:srgbClr val="00B0F0"/>
                </a:solidFill>
                <a:latin typeface="宋体" panose="02010600030101010101" pitchFamily="2" charset="-122"/>
              </a:rPr>
              <a:t>）空闲盘块的回收 </a:t>
            </a:r>
          </a:p>
          <a:p>
            <a:pPr algn="just" eaLnBrk="1" hangingPunct="1">
              <a:lnSpc>
                <a:spcPct val="135000"/>
              </a:lnSpc>
              <a:buClr>
                <a:srgbClr val="006600"/>
              </a:buClr>
              <a:buFont typeface="Wingdings" panose="05000000000000000000" pitchFamily="2" charset="2"/>
              <a:buChar char="ü"/>
            </a:pPr>
            <a:r>
              <a:rPr kumimoji="1" lang="zh-CN" altLang="en-US" sz="3200" b="1" dirty="0">
                <a:ea typeface="楷体_GB2312" pitchFamily="49" charset="-122"/>
              </a:rPr>
              <a:t> 调用盘块回收过程进行回收：将回收盘块</a:t>
            </a:r>
          </a:p>
          <a:p>
            <a:pPr algn="just" eaLnBrk="1" hangingPunct="1">
              <a:lnSpc>
                <a:spcPct val="135000"/>
              </a:lnSpc>
              <a:buClr>
                <a:srgbClr val="006600"/>
              </a:buClr>
              <a:buFont typeface="Wingdings" panose="05000000000000000000" pitchFamily="2" charset="2"/>
              <a:buNone/>
            </a:pPr>
            <a:r>
              <a:rPr kumimoji="1" lang="zh-CN" altLang="en-US" sz="3200" b="1" dirty="0">
                <a:ea typeface="楷体_GB2312" pitchFamily="49" charset="-122"/>
              </a:rPr>
              <a:t>   的盘块号记入空闲盘块号栈的顶部，并执行</a:t>
            </a:r>
          </a:p>
          <a:p>
            <a:pPr algn="just" eaLnBrk="1" hangingPunct="1">
              <a:lnSpc>
                <a:spcPct val="135000"/>
              </a:lnSpc>
              <a:buClr>
                <a:srgbClr val="006600"/>
              </a:buClr>
              <a:buFont typeface="Wingdings" panose="05000000000000000000" pitchFamily="2" charset="2"/>
              <a:buNone/>
            </a:pPr>
            <a:r>
              <a:rPr kumimoji="1" lang="zh-CN" altLang="en-US" sz="3200" b="1" dirty="0">
                <a:ea typeface="楷体_GB2312" pitchFamily="49" charset="-122"/>
              </a:rPr>
              <a:t>   空闲盘块数加</a:t>
            </a:r>
            <a:r>
              <a:rPr kumimoji="1" lang="en-US" altLang="zh-CN" sz="3200" b="1" dirty="0">
                <a:ea typeface="楷体_GB2312" pitchFamily="49" charset="-122"/>
              </a:rPr>
              <a:t>1</a:t>
            </a:r>
            <a:r>
              <a:rPr kumimoji="1" lang="zh-CN" altLang="en-US" sz="3200" b="1" dirty="0">
                <a:ea typeface="楷体_GB2312" pitchFamily="49" charset="-122"/>
              </a:rPr>
              <a:t>操作</a:t>
            </a:r>
          </a:p>
          <a:p>
            <a:pPr algn="just" eaLnBrk="1" hangingPunct="1">
              <a:lnSpc>
                <a:spcPct val="135000"/>
              </a:lnSpc>
              <a:buClr>
                <a:srgbClr val="006600"/>
              </a:buClr>
              <a:buFont typeface="Wingdings" panose="05000000000000000000" pitchFamily="2" charset="2"/>
              <a:buChar char="ü"/>
            </a:pPr>
            <a:r>
              <a:rPr kumimoji="1" lang="zh-CN" altLang="en-US" sz="3200" b="1" dirty="0">
                <a:ea typeface="楷体_GB2312" pitchFamily="49" charset="-122"/>
              </a:rPr>
              <a:t> 当栈中空闲盘块号数目已达</a:t>
            </a:r>
            <a:r>
              <a:rPr kumimoji="1" lang="en-US" altLang="zh-CN" sz="3200" b="1" dirty="0">
                <a:ea typeface="楷体_GB2312" pitchFamily="49" charset="-122"/>
              </a:rPr>
              <a:t>100</a:t>
            </a:r>
            <a:r>
              <a:rPr kumimoji="1" lang="zh-CN" altLang="en-US" sz="3200" b="1" dirty="0">
                <a:ea typeface="楷体_GB2312" pitchFamily="49" charset="-122"/>
              </a:rPr>
              <a:t>时，表示栈</a:t>
            </a:r>
          </a:p>
          <a:p>
            <a:pPr algn="just" eaLnBrk="1" hangingPunct="1">
              <a:lnSpc>
                <a:spcPct val="135000"/>
              </a:lnSpc>
              <a:buClr>
                <a:srgbClr val="006600"/>
              </a:buClr>
              <a:buFont typeface="Wingdings" panose="05000000000000000000" pitchFamily="2" charset="2"/>
              <a:buNone/>
            </a:pPr>
            <a:r>
              <a:rPr kumimoji="1" lang="zh-CN" altLang="en-US" sz="3200" b="1" dirty="0">
                <a:ea typeface="楷体_GB2312" pitchFamily="49" charset="-122"/>
              </a:rPr>
              <a:t>   已满，便将现有栈中的</a:t>
            </a:r>
            <a:r>
              <a:rPr kumimoji="1" lang="en-US" altLang="zh-CN" sz="3200" b="1" dirty="0">
                <a:ea typeface="楷体_GB2312" pitchFamily="49" charset="-122"/>
              </a:rPr>
              <a:t>100</a:t>
            </a:r>
            <a:r>
              <a:rPr kumimoji="1" lang="zh-CN" altLang="en-US" sz="3200" b="1" dirty="0">
                <a:ea typeface="楷体_GB2312" pitchFamily="49" charset="-122"/>
              </a:rPr>
              <a:t>个盘块号，记入</a:t>
            </a:r>
          </a:p>
          <a:p>
            <a:pPr algn="just" eaLnBrk="1" hangingPunct="1">
              <a:lnSpc>
                <a:spcPct val="135000"/>
              </a:lnSpc>
              <a:buClr>
                <a:srgbClr val="006600"/>
              </a:buClr>
              <a:buFont typeface="Wingdings" panose="05000000000000000000" pitchFamily="2" charset="2"/>
              <a:buNone/>
            </a:pPr>
            <a:r>
              <a:rPr kumimoji="1" lang="zh-CN" altLang="en-US" sz="3200" b="1" dirty="0">
                <a:ea typeface="楷体_GB2312" pitchFamily="49" charset="-122"/>
              </a:rPr>
              <a:t>   新回收的盘块中，再将其盘块号作为新栈底</a:t>
            </a:r>
          </a:p>
        </p:txBody>
      </p:sp>
      <p:graphicFrame>
        <p:nvGraphicFramePr>
          <p:cNvPr id="7170" name="Object 2"/>
          <p:cNvGraphicFramePr>
            <a:graphicFrameLocks/>
          </p:cNvGraphicFramePr>
          <p:nvPr/>
        </p:nvGraphicFramePr>
        <p:xfrm>
          <a:off x="3059113" y="476250"/>
          <a:ext cx="5181600" cy="73025"/>
        </p:xfrm>
        <a:graphic>
          <a:graphicData uri="http://schemas.openxmlformats.org/presentationml/2006/ole">
            <mc:AlternateContent xmlns:mc="http://schemas.openxmlformats.org/markup-compatibility/2006">
              <mc:Choice xmlns:v="urn:schemas-microsoft-com:vml" Requires="v">
                <p:oleObj spid="_x0000_s40964" name="剪辑" r:id="rId3" imgW="6857143" imgH="48963" progId="MS_ClipArt_Gallery.2">
                  <p:embed/>
                </p:oleObj>
              </mc:Choice>
              <mc:Fallback>
                <p:oleObj name="剪辑" r:id="rId3" imgW="6857143" imgH="48963" progId="MS_ClipArt_Gallery.2">
                  <p:embed/>
                  <p:pic>
                    <p:nvPicPr>
                      <p:cNvPr id="7170"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476250"/>
                        <a:ext cx="5181600" cy="7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83288427"/>
      </p:ext>
    </p:extLst>
  </p:cSld>
  <p:clrMapOvr>
    <a:masterClrMapping/>
  </p:clrMapOvr>
  <p:transition>
    <p:blinds dir="ver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Rot="1" noChangeArrowheads="1"/>
          </p:cNvSpPr>
          <p:nvPr>
            <p:ph type="title"/>
          </p:nvPr>
        </p:nvSpPr>
        <p:spPr/>
        <p:txBody>
          <a:bodyPr/>
          <a:lstStyle/>
          <a:p>
            <a:pPr eaLnBrk="1" hangingPunct="1">
              <a:defRPr/>
            </a:pPr>
            <a:r>
              <a:rPr lang="en-US" altLang="zh-CN" b="1" u="sng" dirty="0" smtClean="0">
                <a:solidFill>
                  <a:srgbClr val="FF0000"/>
                </a:solidFill>
                <a:ea typeface="仿宋_GB2312" pitchFamily="49" charset="-122"/>
              </a:rPr>
              <a:t>8.3 </a:t>
            </a:r>
            <a:r>
              <a:rPr lang="zh-CN" altLang="en-US" b="1" u="sng" dirty="0" smtClean="0">
                <a:solidFill>
                  <a:srgbClr val="FF0000"/>
                </a:solidFill>
                <a:ea typeface="仿宋_GB2312" pitchFamily="49" charset="-122"/>
              </a:rPr>
              <a:t>提高磁盘</a:t>
            </a:r>
            <a:r>
              <a:rPr lang="en-US" altLang="zh-CN" b="1" u="sng" dirty="0" smtClean="0">
                <a:solidFill>
                  <a:srgbClr val="FF0000"/>
                </a:solidFill>
                <a:ea typeface="仿宋_GB2312" pitchFamily="49" charset="-122"/>
              </a:rPr>
              <a:t>I/O</a:t>
            </a:r>
            <a:r>
              <a:rPr lang="zh-CN" altLang="en-US" b="1" u="sng" dirty="0" smtClean="0">
                <a:solidFill>
                  <a:srgbClr val="FF0000"/>
                </a:solidFill>
                <a:ea typeface="仿宋_GB2312" pitchFamily="49" charset="-122"/>
              </a:rPr>
              <a:t>速度的途径</a:t>
            </a:r>
          </a:p>
        </p:txBody>
      </p:sp>
      <p:sp>
        <p:nvSpPr>
          <p:cNvPr id="100355" name="Rectangle 3"/>
          <p:cNvSpPr>
            <a:spLocks noGrp="1" noRot="1" noChangeArrowheads="1"/>
          </p:cNvSpPr>
          <p:nvPr>
            <p:ph type="body" idx="1"/>
          </p:nvPr>
        </p:nvSpPr>
        <p:spPr/>
        <p:txBody>
          <a:bodyPr/>
          <a:lstStyle/>
          <a:p>
            <a:pPr eaLnBrk="1" hangingPunct="1"/>
            <a:r>
              <a:rPr lang="en-US" altLang="zh-CN" b="1" dirty="0" smtClean="0">
                <a:solidFill>
                  <a:srgbClr val="0070C0"/>
                </a:solidFill>
              </a:rPr>
              <a:t>8.3.1 </a:t>
            </a:r>
            <a:r>
              <a:rPr lang="zh-CN" altLang="en-US" b="1" dirty="0" smtClean="0">
                <a:solidFill>
                  <a:srgbClr val="0070C0"/>
                </a:solidFill>
              </a:rPr>
              <a:t>磁盘高速缓存</a:t>
            </a:r>
            <a:endParaRPr lang="en-US" altLang="zh-CN" b="1" dirty="0" smtClean="0">
              <a:solidFill>
                <a:srgbClr val="0070C0"/>
              </a:solidFill>
            </a:endParaRPr>
          </a:p>
          <a:p>
            <a:pPr eaLnBrk="1" hangingPunct="1"/>
            <a:r>
              <a:rPr lang="zh-CN" altLang="en-US" b="1" dirty="0" smtClean="0"/>
              <a:t>目前，磁盘的</a:t>
            </a:r>
            <a:r>
              <a:rPr lang="en-US" altLang="zh-CN" b="1" dirty="0" smtClean="0"/>
              <a:t>I/O </a:t>
            </a:r>
            <a:r>
              <a:rPr lang="zh-CN" altLang="en-US" b="1" dirty="0" smtClean="0"/>
              <a:t>速度远低于对内存的访问速度，通常要低上</a:t>
            </a:r>
            <a:r>
              <a:rPr lang="en-US" altLang="zh-CN" b="1" dirty="0" smtClean="0"/>
              <a:t>4</a:t>
            </a:r>
            <a:r>
              <a:rPr lang="zh-CN" altLang="en-US" b="1" dirty="0" smtClean="0"/>
              <a:t>～</a:t>
            </a:r>
            <a:r>
              <a:rPr lang="en-US" altLang="zh-CN" b="1" dirty="0" smtClean="0"/>
              <a:t>6 </a:t>
            </a:r>
            <a:r>
              <a:rPr lang="zh-CN" altLang="en-US" b="1" dirty="0" smtClean="0"/>
              <a:t>个数量级。因此，磁盘的</a:t>
            </a:r>
            <a:r>
              <a:rPr lang="en-US" altLang="zh-CN" b="1" dirty="0" smtClean="0"/>
              <a:t>I/O </a:t>
            </a:r>
            <a:r>
              <a:rPr lang="zh-CN" altLang="en-US" b="1" dirty="0" smtClean="0"/>
              <a:t>已成为计算机系统的瓶颈。</a:t>
            </a:r>
          </a:p>
          <a:p>
            <a:pPr eaLnBrk="1" hangingPunct="1"/>
            <a:r>
              <a:rPr lang="zh-CN" altLang="en-US" b="1" dirty="0" smtClean="0"/>
              <a:t>于是，人们便千方百计地去提高磁盘</a:t>
            </a:r>
            <a:r>
              <a:rPr lang="en-US" altLang="zh-CN" b="1" dirty="0" smtClean="0"/>
              <a:t>I/O </a:t>
            </a:r>
            <a:r>
              <a:rPr lang="zh-CN" altLang="en-US" b="1" dirty="0" smtClean="0"/>
              <a:t>的速度，其中最主要的技术便是采用</a:t>
            </a:r>
            <a:r>
              <a:rPr lang="zh-CN" altLang="en-US" b="1" dirty="0" smtClean="0">
                <a:solidFill>
                  <a:srgbClr val="FF0000"/>
                </a:solidFill>
              </a:rPr>
              <a:t>磁盘高速缓存</a:t>
            </a:r>
            <a:r>
              <a:rPr lang="en-US" altLang="zh-CN" b="1" dirty="0" smtClean="0">
                <a:solidFill>
                  <a:srgbClr val="FF0000"/>
                </a:solidFill>
              </a:rPr>
              <a:t>(Disk Cache)</a:t>
            </a:r>
            <a:r>
              <a:rPr lang="zh-CN" altLang="en-US" b="1" dirty="0" smtClean="0">
                <a:solidFill>
                  <a:srgbClr val="FF0000"/>
                </a:solidFill>
              </a:rPr>
              <a:t>。</a:t>
            </a:r>
          </a:p>
          <a:p>
            <a:pPr eaLnBrk="1" hangingPunct="1"/>
            <a:endParaRPr lang="en-US" altLang="zh-CN" b="1" dirty="0" smtClean="0">
              <a:solidFill>
                <a:schemeClr val="folHlink"/>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Rot="1" noChangeArrowheads="1"/>
          </p:cNvSpPr>
          <p:nvPr>
            <p:ph type="title"/>
          </p:nvPr>
        </p:nvSpPr>
        <p:spPr>
          <a:xfrm>
            <a:off x="533400" y="115888"/>
            <a:ext cx="8077200" cy="1066800"/>
          </a:xfrm>
        </p:spPr>
        <p:txBody>
          <a:bodyPr/>
          <a:lstStyle/>
          <a:p>
            <a:pPr eaLnBrk="1" hangingPunct="1">
              <a:defRPr/>
            </a:pPr>
            <a:r>
              <a:rPr lang="en-US" altLang="zh-CN" b="1" dirty="0" smtClean="0">
                <a:solidFill>
                  <a:srgbClr val="FF0000"/>
                </a:solidFill>
              </a:rPr>
              <a:t>Disk Cache </a:t>
            </a:r>
            <a:r>
              <a:rPr lang="zh-CN" altLang="en-US" b="1" dirty="0" smtClean="0">
                <a:solidFill>
                  <a:srgbClr val="FF0000"/>
                </a:solidFill>
              </a:rPr>
              <a:t>工作原理</a:t>
            </a:r>
          </a:p>
        </p:txBody>
      </p:sp>
      <p:sp>
        <p:nvSpPr>
          <p:cNvPr id="413699" name="Rectangle 3"/>
          <p:cNvSpPr>
            <a:spLocks noGrp="1" noRot="1" noChangeArrowheads="1"/>
          </p:cNvSpPr>
          <p:nvPr>
            <p:ph type="body" idx="1"/>
          </p:nvPr>
        </p:nvSpPr>
        <p:spPr>
          <a:xfrm>
            <a:off x="214282" y="1268414"/>
            <a:ext cx="8534430" cy="5446734"/>
          </a:xfrm>
        </p:spPr>
        <p:txBody>
          <a:bodyPr>
            <a:normAutofit/>
          </a:bodyPr>
          <a:lstStyle/>
          <a:p>
            <a:pPr>
              <a:defRPr/>
            </a:pPr>
            <a:r>
              <a:rPr lang="zh-CN" altLang="en-US" sz="2800" b="1" dirty="0" smtClean="0">
                <a:solidFill>
                  <a:srgbClr val="FF0000"/>
                </a:solidFill>
              </a:rPr>
              <a:t>当用户进程请求从磁盘读入一个扇区时，系统首先在</a:t>
            </a:r>
            <a:r>
              <a:rPr lang="en-US" altLang="zh-CN" sz="2800" b="1" dirty="0" smtClean="0">
                <a:solidFill>
                  <a:srgbClr val="FF0000"/>
                </a:solidFill>
              </a:rPr>
              <a:t>disk cache</a:t>
            </a:r>
            <a:r>
              <a:rPr lang="zh-CN" altLang="en-US" sz="2800" b="1" dirty="0" smtClean="0">
                <a:solidFill>
                  <a:srgbClr val="FF0000"/>
                </a:solidFill>
              </a:rPr>
              <a:t>中寻找该扇区的副本</a:t>
            </a:r>
          </a:p>
          <a:p>
            <a:pPr eaLnBrk="1" hangingPunct="1">
              <a:buFont typeface="Wingdings" pitchFamily="2" charset="2"/>
              <a:buNone/>
              <a:defRPr/>
            </a:pPr>
            <a:r>
              <a:rPr lang="zh-CN" altLang="en-US" sz="2400" b="1" dirty="0" smtClean="0">
                <a:effectLst>
                  <a:outerShdw blurRad="38100" dist="38100" dir="2700000" algn="tl">
                    <a:srgbClr val="000000"/>
                  </a:outerShdw>
                </a:effectLst>
                <a:latin typeface="楷体_GB2312" pitchFamily="49" charset="-122"/>
                <a:ea typeface="楷体_GB2312" pitchFamily="49" charset="-122"/>
              </a:rPr>
              <a:t>   </a:t>
            </a:r>
            <a:r>
              <a:rPr lang="en-US" altLang="zh-CN" sz="2400" b="1" dirty="0" smtClean="0">
                <a:effectLst>
                  <a:outerShdw blurRad="38100" dist="38100" dir="2700000" algn="tl">
                    <a:srgbClr val="000000"/>
                  </a:outerShdw>
                </a:effectLst>
                <a:latin typeface="楷体_GB2312" pitchFamily="49" charset="-122"/>
                <a:ea typeface="楷体_GB2312" pitchFamily="49" charset="-122"/>
              </a:rPr>
              <a:t>- </a:t>
            </a:r>
            <a:r>
              <a:rPr lang="zh-CN" altLang="en-US" sz="2400" b="1" dirty="0" smtClean="0">
                <a:latin typeface="楷体_GB2312" pitchFamily="49" charset="-122"/>
                <a:ea typeface="楷体_GB2312" pitchFamily="49" charset="-122"/>
              </a:rPr>
              <a:t>如果能够找到，那么系统将从</a:t>
            </a:r>
            <a:r>
              <a:rPr lang="en-US" altLang="zh-CN" sz="2400" b="1" dirty="0" smtClean="0">
                <a:ea typeface="楷体_GB2312" pitchFamily="49" charset="-122"/>
              </a:rPr>
              <a:t>disk cache</a:t>
            </a:r>
            <a:r>
              <a:rPr lang="zh-CN" altLang="en-US" sz="2400" b="1" dirty="0" smtClean="0">
                <a:latin typeface="楷体_GB2312" pitchFamily="49" charset="-122"/>
                <a:ea typeface="楷体_GB2312" pitchFamily="49" charset="-122"/>
              </a:rPr>
              <a:t>中取出该扇区的副本并返给用户进程；</a:t>
            </a:r>
          </a:p>
          <a:p>
            <a:pPr eaLnBrk="1" hangingPunct="1">
              <a:buFont typeface="Wingdings" pitchFamily="2" charset="2"/>
              <a:buNone/>
              <a:defRPr/>
            </a:pPr>
            <a:r>
              <a:rPr lang="zh-CN" altLang="en-US" sz="2400" b="1" dirty="0" smtClean="0">
                <a:latin typeface="楷体_GB2312" pitchFamily="49" charset="-122"/>
                <a:ea typeface="楷体_GB2312" pitchFamily="49" charset="-122"/>
              </a:rPr>
              <a:t>   </a:t>
            </a:r>
            <a:r>
              <a:rPr lang="en-US" altLang="zh-CN" sz="2400" b="1" dirty="0" smtClean="0">
                <a:latin typeface="楷体_GB2312" pitchFamily="49" charset="-122"/>
                <a:ea typeface="楷体_GB2312" pitchFamily="49" charset="-122"/>
              </a:rPr>
              <a:t>- </a:t>
            </a:r>
            <a:r>
              <a:rPr lang="zh-CN" altLang="en-US" sz="2400" b="1" dirty="0" smtClean="0">
                <a:latin typeface="楷体_GB2312" pitchFamily="49" charset="-122"/>
                <a:ea typeface="楷体_GB2312" pitchFamily="49" charset="-122"/>
              </a:rPr>
              <a:t>否则，系统首先从磁盘上读入该扇区并在</a:t>
            </a:r>
            <a:r>
              <a:rPr lang="en-US" altLang="zh-CN" sz="2400" b="1" dirty="0" smtClean="0">
                <a:ea typeface="楷体_GB2312" pitchFamily="49" charset="-122"/>
              </a:rPr>
              <a:t>disk cache</a:t>
            </a:r>
            <a:r>
              <a:rPr lang="zh-CN" altLang="en-US" sz="2400" b="1" dirty="0" smtClean="0">
                <a:latin typeface="楷体_GB2312" pitchFamily="49" charset="-122"/>
                <a:ea typeface="楷体_GB2312" pitchFamily="49" charset="-122"/>
              </a:rPr>
              <a:t>中为其建立一个副本，然后将该副本返给用户进程。</a:t>
            </a:r>
          </a:p>
          <a:p>
            <a:pPr>
              <a:defRPr/>
            </a:pPr>
            <a:r>
              <a:rPr lang="zh-CN" altLang="en-US" sz="3000" b="1" dirty="0" smtClean="0">
                <a:solidFill>
                  <a:srgbClr val="FF0000"/>
                </a:solidFill>
              </a:rPr>
              <a:t>当用户进程请求修改磁盘的一个扇区时，系统同样首先在</a:t>
            </a:r>
            <a:r>
              <a:rPr lang="en-US" altLang="zh-CN" sz="3000" b="1" dirty="0" smtClean="0">
                <a:solidFill>
                  <a:srgbClr val="FF0000"/>
                </a:solidFill>
              </a:rPr>
              <a:t>disk cache</a:t>
            </a:r>
            <a:r>
              <a:rPr lang="zh-CN" altLang="en-US" sz="3000" b="1" dirty="0" smtClean="0">
                <a:solidFill>
                  <a:srgbClr val="FF0000"/>
                </a:solidFill>
              </a:rPr>
              <a:t>中寻找该扇区的副本</a:t>
            </a:r>
          </a:p>
          <a:p>
            <a:pPr eaLnBrk="1" hangingPunct="1">
              <a:buFont typeface="Wingdings" pitchFamily="2" charset="2"/>
              <a:buNone/>
              <a:defRPr/>
            </a:pPr>
            <a:r>
              <a:rPr lang="zh-CN" altLang="en-US" sz="2400" b="1" dirty="0" smtClean="0">
                <a:effectLst>
                  <a:outerShdw blurRad="38100" dist="38100" dir="2700000" algn="tl">
                    <a:srgbClr val="000000"/>
                  </a:outerShdw>
                </a:effectLst>
                <a:latin typeface="楷体_GB2312" pitchFamily="49" charset="-122"/>
                <a:ea typeface="楷体_GB2312" pitchFamily="49" charset="-122"/>
              </a:rPr>
              <a:t>  </a:t>
            </a:r>
            <a:r>
              <a:rPr lang="en-US" altLang="zh-CN" sz="2400" b="1" dirty="0" smtClean="0">
                <a:effectLst>
                  <a:outerShdw blurRad="38100" dist="38100" dir="2700000" algn="tl">
                    <a:srgbClr val="000000"/>
                  </a:outerShdw>
                </a:effectLst>
                <a:latin typeface="楷体_GB2312" pitchFamily="49" charset="-122"/>
                <a:ea typeface="楷体_GB2312" pitchFamily="49" charset="-122"/>
              </a:rPr>
              <a:t>- </a:t>
            </a:r>
            <a:r>
              <a:rPr lang="zh-CN" altLang="en-US" sz="2400" b="1" dirty="0" smtClean="0">
                <a:latin typeface="楷体_GB2312" pitchFamily="49" charset="-122"/>
                <a:ea typeface="楷体_GB2312" pitchFamily="49" charset="-122"/>
              </a:rPr>
              <a:t>如果能够找到，那么系统将根据用户进程的请求修改该扇区的副本；</a:t>
            </a:r>
          </a:p>
          <a:p>
            <a:pPr eaLnBrk="1" hangingPunct="1">
              <a:buFont typeface="Wingdings" pitchFamily="2" charset="2"/>
              <a:buNone/>
              <a:defRPr/>
            </a:pPr>
            <a:r>
              <a:rPr lang="zh-CN" altLang="en-US" sz="2400" b="1" dirty="0" smtClean="0">
                <a:latin typeface="楷体_GB2312" pitchFamily="49" charset="-122"/>
                <a:ea typeface="楷体_GB2312" pitchFamily="49" charset="-122"/>
              </a:rPr>
              <a:t>  </a:t>
            </a:r>
            <a:r>
              <a:rPr lang="en-US" altLang="zh-CN" sz="2400" b="1" dirty="0" smtClean="0">
                <a:latin typeface="楷体_GB2312" pitchFamily="49" charset="-122"/>
                <a:ea typeface="楷体_GB2312" pitchFamily="49" charset="-122"/>
              </a:rPr>
              <a:t>- </a:t>
            </a:r>
            <a:r>
              <a:rPr lang="zh-CN" altLang="en-US" sz="2400" b="1" dirty="0" smtClean="0">
                <a:latin typeface="楷体_GB2312" pitchFamily="49" charset="-122"/>
                <a:ea typeface="楷体_GB2312" pitchFamily="49" charset="-122"/>
              </a:rPr>
              <a:t>否则，系统同样首先从磁盘上读入该扇区并在</a:t>
            </a:r>
            <a:r>
              <a:rPr lang="en-US" altLang="zh-CN" sz="2400" b="1" dirty="0" smtClean="0">
                <a:ea typeface="楷体_GB2312" pitchFamily="49" charset="-122"/>
              </a:rPr>
              <a:t>disk cache</a:t>
            </a:r>
            <a:r>
              <a:rPr lang="zh-CN" altLang="en-US" sz="2400" b="1" dirty="0" smtClean="0">
                <a:latin typeface="楷体_GB2312" pitchFamily="49" charset="-122"/>
                <a:ea typeface="楷体_GB2312" pitchFamily="49" charset="-122"/>
              </a:rPr>
              <a:t>中为其建立一个副本，然后根据用户进程的请求修改该副本。</a:t>
            </a:r>
            <a:endParaRPr lang="zh-CN" altLang="en-US" sz="2400" dirty="0" smtClean="0"/>
          </a:p>
          <a:p>
            <a:pPr eaLnBrk="1" hangingPunct="1">
              <a:defRPr/>
            </a:pPr>
            <a:endParaRPr lang="en-US" altLang="zh-CN" sz="2400" dirty="0" smtClean="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Rot="1" noChangeArrowheads="1"/>
          </p:cNvSpPr>
          <p:nvPr>
            <p:ph type="title"/>
          </p:nvPr>
        </p:nvSpPr>
        <p:spPr/>
        <p:txBody>
          <a:bodyPr/>
          <a:lstStyle/>
          <a:p>
            <a:pPr eaLnBrk="1" hangingPunct="1">
              <a:defRPr/>
            </a:pPr>
            <a:r>
              <a:rPr lang="en-US" altLang="zh-CN" b="1" dirty="0" smtClean="0">
                <a:solidFill>
                  <a:srgbClr val="FF0000"/>
                </a:solidFill>
                <a:ea typeface="仿宋_GB2312" pitchFamily="49" charset="-122"/>
              </a:rPr>
              <a:t>1</a:t>
            </a:r>
            <a:r>
              <a:rPr lang="zh-CN" altLang="en-US" b="1" dirty="0" smtClean="0">
                <a:solidFill>
                  <a:srgbClr val="FF0000"/>
                </a:solidFill>
                <a:ea typeface="仿宋_GB2312" pitchFamily="49" charset="-122"/>
              </a:rPr>
              <a:t>）磁盘高速缓存的实现形式</a:t>
            </a:r>
          </a:p>
        </p:txBody>
      </p:sp>
      <p:sp>
        <p:nvSpPr>
          <p:cNvPr id="397315" name="Rectangle 3"/>
          <p:cNvSpPr>
            <a:spLocks noGrp="1" noRot="1" noChangeArrowheads="1"/>
          </p:cNvSpPr>
          <p:nvPr>
            <p:ph type="body" idx="1"/>
          </p:nvPr>
        </p:nvSpPr>
        <p:spPr/>
        <p:txBody>
          <a:bodyPr/>
          <a:lstStyle/>
          <a:p>
            <a:pPr eaLnBrk="1" hangingPunct="1"/>
            <a:r>
              <a:rPr kumimoji="1" lang="zh-CN" altLang="en-US" b="1" dirty="0" smtClean="0"/>
              <a:t>指利用内存中的存储空间，来暂存从磁盘中读出的一系列盘块中的信息。高速缓存在内存中可分成两种形式：</a:t>
            </a:r>
          </a:p>
          <a:p>
            <a:pPr lvl="1" eaLnBrk="1" hangingPunct="1"/>
            <a:r>
              <a:rPr kumimoji="1" lang="zh-CN" altLang="en-US" b="1" dirty="0" smtClean="0"/>
              <a:t>第一种是在</a:t>
            </a:r>
            <a:r>
              <a:rPr kumimoji="1" lang="zh-CN" altLang="en-US" b="1" dirty="0" smtClean="0">
                <a:solidFill>
                  <a:srgbClr val="FF0000"/>
                </a:solidFill>
              </a:rPr>
              <a:t>内存中开辟一个单独的存储空间</a:t>
            </a:r>
            <a:r>
              <a:rPr kumimoji="1" lang="zh-CN" altLang="en-US" b="1" dirty="0" smtClean="0"/>
              <a:t>来作为磁盘高速缓存，其大小是固定的；</a:t>
            </a:r>
          </a:p>
          <a:p>
            <a:pPr lvl="1" eaLnBrk="1" hangingPunct="1"/>
            <a:r>
              <a:rPr kumimoji="1" lang="zh-CN" altLang="en-US" b="1" dirty="0" smtClean="0"/>
              <a:t>第二种是把所有</a:t>
            </a:r>
            <a:r>
              <a:rPr kumimoji="1" lang="zh-CN" altLang="en-US" b="1" dirty="0" smtClean="0">
                <a:solidFill>
                  <a:srgbClr val="FF0000"/>
                </a:solidFill>
              </a:rPr>
              <a:t>未利用的内存空间变为一个缓冲池</a:t>
            </a:r>
            <a:r>
              <a:rPr kumimoji="1" lang="zh-CN" altLang="en-US" b="1" dirty="0" smtClean="0"/>
              <a:t>，供请求分页系统和磁盘</a:t>
            </a:r>
            <a:r>
              <a:rPr kumimoji="1" lang="en-US" altLang="zh-CN" b="1" dirty="0" smtClean="0"/>
              <a:t>I/O</a:t>
            </a:r>
            <a:r>
              <a:rPr kumimoji="1" lang="zh-CN" altLang="en-US" b="1" dirty="0" smtClean="0"/>
              <a:t>时</a:t>
            </a:r>
            <a:r>
              <a:rPr kumimoji="1" lang="en-US" altLang="zh-CN" b="1" dirty="0" smtClean="0"/>
              <a:t>(</a:t>
            </a:r>
            <a:r>
              <a:rPr kumimoji="1" lang="zh-CN" altLang="en-US" b="1" dirty="0" smtClean="0"/>
              <a:t>作为磁盘高速缓存</a:t>
            </a:r>
            <a:r>
              <a:rPr kumimoji="1" lang="en-US" altLang="zh-CN" b="1" dirty="0" smtClean="0"/>
              <a:t>)</a:t>
            </a:r>
            <a:r>
              <a:rPr kumimoji="1" lang="zh-CN" altLang="en-US" b="1" dirty="0" smtClean="0"/>
              <a:t>共享。此时高速缓存的大小，显然不再是固定的。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7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7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rrowheads="1"/>
          </p:cNvSpPr>
          <p:nvPr>
            <p:ph type="title"/>
          </p:nvPr>
        </p:nvSpPr>
        <p:spPr/>
        <p:txBody>
          <a:bodyPr/>
          <a:lstStyle/>
          <a:p>
            <a:pPr eaLnBrk="1" hangingPunct="1"/>
            <a:r>
              <a:rPr kumimoji="1" lang="en-US" altLang="zh-CN" b="1" dirty="0" smtClean="0">
                <a:solidFill>
                  <a:srgbClr val="FF0000"/>
                </a:solidFill>
                <a:effectLst/>
              </a:rPr>
              <a:t>2</a:t>
            </a:r>
            <a:r>
              <a:rPr kumimoji="1" lang="zh-CN" altLang="en-US" b="1" dirty="0" smtClean="0">
                <a:solidFill>
                  <a:srgbClr val="FF0000"/>
                </a:solidFill>
                <a:effectLst/>
              </a:rPr>
              <a:t>）数据交付方式</a:t>
            </a:r>
          </a:p>
        </p:txBody>
      </p:sp>
      <p:sp>
        <p:nvSpPr>
          <p:cNvPr id="103427" name="Rectangle 3"/>
          <p:cNvSpPr>
            <a:spLocks noGrp="1" noRot="1" noChangeArrowheads="1"/>
          </p:cNvSpPr>
          <p:nvPr>
            <p:ph type="body" idx="1"/>
          </p:nvPr>
        </p:nvSpPr>
        <p:spPr>
          <a:xfrm>
            <a:off x="533400" y="1628775"/>
            <a:ext cx="8077200" cy="5040313"/>
          </a:xfrm>
        </p:spPr>
        <p:txBody>
          <a:bodyPr/>
          <a:lstStyle/>
          <a:p>
            <a:pPr eaLnBrk="1" hangingPunct="1">
              <a:lnSpc>
                <a:spcPct val="110000"/>
              </a:lnSpc>
            </a:pPr>
            <a:r>
              <a:rPr kumimoji="1" lang="zh-CN" altLang="en-US" sz="2800" b="1" dirty="0" smtClean="0"/>
              <a:t>系统可以采取两种方式， 将数据交付给请求进程：</a:t>
            </a:r>
          </a:p>
          <a:p>
            <a:pPr eaLnBrk="1" hangingPunct="1">
              <a:lnSpc>
                <a:spcPct val="110000"/>
              </a:lnSpc>
            </a:pPr>
            <a:r>
              <a:rPr kumimoji="1" lang="en-US" altLang="zh-CN" sz="2800" b="1" dirty="0" smtClean="0">
                <a:solidFill>
                  <a:srgbClr val="FF0000"/>
                </a:solidFill>
              </a:rPr>
              <a:t>(1) </a:t>
            </a:r>
            <a:r>
              <a:rPr kumimoji="1" lang="zh-CN" altLang="en-US" sz="2800" b="1" dirty="0" smtClean="0">
                <a:solidFill>
                  <a:srgbClr val="FF0000"/>
                </a:solidFill>
              </a:rPr>
              <a:t>数据交付。</a:t>
            </a:r>
            <a:r>
              <a:rPr kumimoji="1" lang="zh-CN" altLang="en-US" sz="2800" b="1" dirty="0" smtClean="0"/>
              <a:t>这是直接将高速缓存中的数据， 传送到请求者进程的内存工作区中。</a:t>
            </a:r>
          </a:p>
          <a:p>
            <a:pPr eaLnBrk="1" hangingPunct="1">
              <a:lnSpc>
                <a:spcPct val="110000"/>
              </a:lnSpc>
            </a:pPr>
            <a:r>
              <a:rPr kumimoji="1" lang="en-US" altLang="zh-CN" sz="2800" b="1" dirty="0" smtClean="0">
                <a:solidFill>
                  <a:srgbClr val="FF0000"/>
                </a:solidFill>
              </a:rPr>
              <a:t>(2) </a:t>
            </a:r>
            <a:r>
              <a:rPr kumimoji="1" lang="zh-CN" altLang="en-US" sz="2800" b="1" dirty="0" smtClean="0">
                <a:solidFill>
                  <a:srgbClr val="FF0000"/>
                </a:solidFill>
              </a:rPr>
              <a:t>指针交付。</a:t>
            </a:r>
            <a:r>
              <a:rPr kumimoji="1" lang="zh-CN" altLang="en-US" sz="2800" b="1" dirty="0" smtClean="0"/>
              <a:t>只将指向高速缓存中某区域的指针， 交付给请求者进程。</a:t>
            </a:r>
          </a:p>
          <a:p>
            <a:pPr eaLnBrk="1" hangingPunct="1">
              <a:lnSpc>
                <a:spcPct val="110000"/>
              </a:lnSpc>
            </a:pPr>
            <a:r>
              <a:rPr kumimoji="1" lang="zh-CN" altLang="en-US" sz="2800" b="1" dirty="0" smtClean="0"/>
              <a:t>    后一种方式由于所传送的数据量少，因而节省了数据从磁盘高速缓存存储空间到进程的内存工作区的时间。</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rrowheads="1"/>
          </p:cNvSpPr>
          <p:nvPr>
            <p:ph type="title"/>
          </p:nvPr>
        </p:nvSpPr>
        <p:spPr/>
        <p:txBody>
          <a:bodyPr/>
          <a:lstStyle/>
          <a:p>
            <a:pPr eaLnBrk="1" hangingPunct="1"/>
            <a:r>
              <a:rPr kumimoji="1" lang="en-US" altLang="zh-CN" b="1" dirty="0" smtClean="0">
                <a:solidFill>
                  <a:srgbClr val="FF0000"/>
                </a:solidFill>
                <a:effectLst/>
              </a:rPr>
              <a:t>3</a:t>
            </a:r>
            <a:r>
              <a:rPr kumimoji="1" lang="zh-CN" altLang="en-US" b="1" dirty="0" smtClean="0">
                <a:solidFill>
                  <a:srgbClr val="FF0000"/>
                </a:solidFill>
                <a:effectLst/>
              </a:rPr>
              <a:t>）置换算法</a:t>
            </a:r>
          </a:p>
        </p:txBody>
      </p:sp>
      <p:sp>
        <p:nvSpPr>
          <p:cNvPr id="104451" name="Rectangle 3"/>
          <p:cNvSpPr>
            <a:spLocks noGrp="1" noRot="1" noChangeArrowheads="1"/>
          </p:cNvSpPr>
          <p:nvPr>
            <p:ph type="body" idx="1"/>
          </p:nvPr>
        </p:nvSpPr>
        <p:spPr/>
        <p:txBody>
          <a:bodyPr/>
          <a:lstStyle/>
          <a:p>
            <a:pPr eaLnBrk="1" hangingPunct="1">
              <a:lnSpc>
                <a:spcPct val="110000"/>
              </a:lnSpc>
            </a:pPr>
            <a:r>
              <a:rPr lang="zh-CN" altLang="en-US" b="1" dirty="0" smtClean="0"/>
              <a:t>如同请求调页</a:t>
            </a:r>
            <a:r>
              <a:rPr lang="en-US" altLang="zh-CN" b="1" dirty="0" smtClean="0"/>
              <a:t>(</a:t>
            </a:r>
            <a:r>
              <a:rPr lang="zh-CN" altLang="en-US" b="1" dirty="0" smtClean="0"/>
              <a:t>段</a:t>
            </a:r>
            <a:r>
              <a:rPr lang="en-US" altLang="zh-CN" b="1" dirty="0" smtClean="0"/>
              <a:t>)</a:t>
            </a:r>
            <a:r>
              <a:rPr lang="zh-CN" altLang="en-US" b="1" dirty="0" smtClean="0"/>
              <a:t>一样，在将磁盘中的盘块数据读入高速缓存时，同样会出现</a:t>
            </a:r>
            <a:r>
              <a:rPr lang="zh-CN" altLang="en-US" b="1" dirty="0" smtClean="0">
                <a:solidFill>
                  <a:srgbClr val="FF0000"/>
                </a:solidFill>
              </a:rPr>
              <a:t>因高速缓存中已装满</a:t>
            </a:r>
            <a:r>
              <a:rPr lang="zh-CN" altLang="en-US" b="1" dirty="0" smtClean="0"/>
              <a:t>盘块数据而需要将该数据先换出的问题。</a:t>
            </a:r>
          </a:p>
          <a:p>
            <a:pPr eaLnBrk="1" hangingPunct="1">
              <a:lnSpc>
                <a:spcPct val="110000"/>
              </a:lnSpc>
            </a:pPr>
            <a:r>
              <a:rPr lang="zh-CN" altLang="en-US" b="1" dirty="0" smtClean="0"/>
              <a:t>因此必然存在着采用哪种置换算法的问题。较常用的置换算法仍然是最近最久未使用算法</a:t>
            </a:r>
            <a:r>
              <a:rPr lang="en-US" altLang="zh-CN" b="1" dirty="0" smtClean="0"/>
              <a:t>LRU</a:t>
            </a:r>
            <a:r>
              <a:rPr lang="zh-CN" altLang="en-US" b="1" dirty="0" smtClean="0"/>
              <a:t>、最近未使用算法</a:t>
            </a:r>
            <a:r>
              <a:rPr lang="en-US" altLang="zh-CN" b="1" dirty="0" smtClean="0"/>
              <a:t>NRU</a:t>
            </a:r>
            <a:r>
              <a:rPr lang="zh-CN" altLang="en-US" b="1" dirty="0" smtClean="0"/>
              <a:t>及最少使用算法</a:t>
            </a:r>
            <a:r>
              <a:rPr lang="en-US" altLang="zh-CN" b="1" dirty="0" smtClean="0"/>
              <a:t>LFU</a:t>
            </a:r>
            <a:r>
              <a:rPr lang="zh-CN" altLang="en-US" b="1" dirty="0" smtClean="0"/>
              <a:t>等。</a:t>
            </a:r>
          </a:p>
          <a:p>
            <a:pPr eaLnBrk="1" hangingPunct="1">
              <a:lnSpc>
                <a:spcPct val="110000"/>
              </a:lnSpc>
            </a:pPr>
            <a:endParaRPr lang="en-US" altLang="zh-CN" b="1" dirty="0" smtClean="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rrowheads="1"/>
          </p:cNvSpPr>
          <p:nvPr>
            <p:ph type="title"/>
          </p:nvPr>
        </p:nvSpPr>
        <p:spPr/>
        <p:txBody>
          <a:bodyPr/>
          <a:lstStyle/>
          <a:p>
            <a:pPr eaLnBrk="1" hangingPunct="1"/>
            <a:r>
              <a:rPr kumimoji="1" lang="en-US" altLang="zh-CN" b="1" dirty="0" smtClean="0">
                <a:solidFill>
                  <a:srgbClr val="FF0000"/>
                </a:solidFill>
                <a:effectLst/>
              </a:rPr>
              <a:t>4</a:t>
            </a:r>
            <a:r>
              <a:rPr kumimoji="1" lang="zh-CN" altLang="en-US" b="1" dirty="0" smtClean="0">
                <a:solidFill>
                  <a:srgbClr val="FF0000"/>
                </a:solidFill>
                <a:effectLst/>
              </a:rPr>
              <a:t>）周期性地写回磁盘</a:t>
            </a:r>
          </a:p>
        </p:txBody>
      </p:sp>
      <p:sp>
        <p:nvSpPr>
          <p:cNvPr id="105475" name="Rectangle 3"/>
          <p:cNvSpPr>
            <a:spLocks noGrp="1" noRot="1" noChangeArrowheads="1"/>
          </p:cNvSpPr>
          <p:nvPr>
            <p:ph type="body" idx="1"/>
          </p:nvPr>
        </p:nvSpPr>
        <p:spPr>
          <a:xfrm>
            <a:off x="533400" y="1666875"/>
            <a:ext cx="8077200" cy="4498975"/>
          </a:xfrm>
        </p:spPr>
        <p:txBody>
          <a:bodyPr/>
          <a:lstStyle/>
          <a:p>
            <a:pPr eaLnBrk="1" hangingPunct="1"/>
            <a:r>
              <a:rPr kumimoji="1" lang="zh-CN" altLang="en-US" b="1" dirty="0" smtClean="0"/>
              <a:t>在</a:t>
            </a:r>
            <a:r>
              <a:rPr kumimoji="1" lang="en-US" altLang="zh-CN" b="1" dirty="0" smtClean="0"/>
              <a:t>UNIX</a:t>
            </a:r>
            <a:r>
              <a:rPr kumimoji="1" lang="zh-CN" altLang="en-US" b="1" dirty="0" smtClean="0"/>
              <a:t>系统中专门增设了一个修改</a:t>
            </a:r>
            <a:r>
              <a:rPr kumimoji="1" lang="en-US" altLang="zh-CN" b="1" dirty="0" smtClean="0"/>
              <a:t>(update)</a:t>
            </a:r>
            <a:r>
              <a:rPr kumimoji="1" lang="zh-CN" altLang="en-US" b="1" dirty="0" smtClean="0"/>
              <a:t>程序， 使之在后台运行，该程序周期性地调用一个系统调用</a:t>
            </a:r>
            <a:r>
              <a:rPr kumimoji="1" lang="en-US" altLang="zh-CN" b="1" dirty="0" smtClean="0"/>
              <a:t>SYNC</a:t>
            </a:r>
            <a:r>
              <a:rPr kumimoji="1" lang="zh-CN" altLang="en-US" b="1" dirty="0" smtClean="0"/>
              <a:t>。</a:t>
            </a:r>
          </a:p>
          <a:p>
            <a:pPr eaLnBrk="1" hangingPunct="1"/>
            <a:r>
              <a:rPr kumimoji="1" lang="en-US" altLang="zh-CN" b="1" dirty="0" smtClean="0"/>
              <a:t>SYNC</a:t>
            </a:r>
            <a:r>
              <a:rPr kumimoji="1" lang="zh-CN" altLang="en-US" b="1" dirty="0" smtClean="0"/>
              <a:t>的主要功能是</a:t>
            </a:r>
            <a:r>
              <a:rPr kumimoji="1" lang="zh-CN" altLang="en-US" b="1" dirty="0" smtClean="0">
                <a:solidFill>
                  <a:srgbClr val="FF0000"/>
                </a:solidFill>
              </a:rPr>
              <a:t>强制性地将所有在高速缓存中已修改的盘块数据写回磁盘</a:t>
            </a:r>
            <a:r>
              <a:rPr kumimoji="1" lang="zh-CN" altLang="en-US" b="1" dirty="0" smtClean="0"/>
              <a:t>。一般是把两次调用</a:t>
            </a:r>
            <a:r>
              <a:rPr kumimoji="1" lang="en-US" altLang="zh-CN" b="1" dirty="0" smtClean="0"/>
              <a:t>SYNC</a:t>
            </a:r>
            <a:r>
              <a:rPr kumimoji="1" lang="zh-CN" altLang="en-US" b="1" dirty="0" smtClean="0"/>
              <a:t>的时间间隔定为</a:t>
            </a:r>
            <a:r>
              <a:rPr kumimoji="1" lang="en-US" altLang="zh-CN" b="1" dirty="0" smtClean="0"/>
              <a:t>30 s</a:t>
            </a:r>
            <a:r>
              <a:rPr kumimoji="1" lang="zh-CN" altLang="en-US" b="1" dirty="0" smtClean="0"/>
              <a:t>。</a:t>
            </a:r>
          </a:p>
          <a:p>
            <a:pPr eaLnBrk="1" hangingPunct="1"/>
            <a:endParaRPr lang="en-US" altLang="zh-CN" b="1" dirty="0" smtClean="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rrowheads="1"/>
          </p:cNvSpPr>
          <p:nvPr>
            <p:ph type="title"/>
          </p:nvPr>
        </p:nvSpPr>
        <p:spPr/>
        <p:txBody>
          <a:bodyPr/>
          <a:lstStyle/>
          <a:p>
            <a:pPr eaLnBrk="1" hangingPunct="1">
              <a:defRPr/>
            </a:pPr>
            <a:r>
              <a:rPr lang="en-US" altLang="zh-CN" b="1" u="sng" dirty="0" smtClean="0">
                <a:solidFill>
                  <a:srgbClr val="FF0000"/>
                </a:solidFill>
                <a:ea typeface="仿宋_GB2312" pitchFamily="49" charset="-122"/>
              </a:rPr>
              <a:t>5</a:t>
            </a:r>
            <a:r>
              <a:rPr lang="zh-CN" altLang="en-US" b="1" u="sng" dirty="0" smtClean="0">
                <a:solidFill>
                  <a:srgbClr val="FF0000"/>
                </a:solidFill>
                <a:ea typeface="仿宋_GB2312" pitchFamily="49" charset="-122"/>
              </a:rPr>
              <a:t>）磁盘高速缓存的特点</a:t>
            </a:r>
          </a:p>
        </p:txBody>
      </p:sp>
      <p:sp>
        <p:nvSpPr>
          <p:cNvPr id="243715" name="Rectangle 3"/>
          <p:cNvSpPr>
            <a:spLocks noGrp="1" noRot="1" noChangeArrowheads="1"/>
          </p:cNvSpPr>
          <p:nvPr>
            <p:ph type="body" idx="1"/>
          </p:nvPr>
        </p:nvSpPr>
        <p:spPr/>
        <p:txBody>
          <a:bodyPr>
            <a:normAutofit lnSpcReduction="10000"/>
          </a:bodyPr>
          <a:lstStyle/>
          <a:p>
            <a:pPr algn="just" eaLnBrk="1" hangingPunct="1">
              <a:lnSpc>
                <a:spcPct val="110000"/>
              </a:lnSpc>
              <a:defRPr/>
            </a:pPr>
            <a:r>
              <a:rPr kumimoji="1" lang="zh-CN" altLang="en-US" b="1" dirty="0" smtClean="0"/>
              <a:t>容量较大；</a:t>
            </a:r>
          </a:p>
          <a:p>
            <a:pPr algn="just" eaLnBrk="1" hangingPunct="1">
              <a:lnSpc>
                <a:spcPct val="110000"/>
              </a:lnSpc>
              <a:defRPr/>
            </a:pPr>
            <a:r>
              <a:rPr kumimoji="1" lang="zh-CN" altLang="en-US" b="1" dirty="0" smtClean="0"/>
              <a:t>常存储全局范围、经常访问的重要数据：文件系统的目录、文件分配表、索引块等；</a:t>
            </a:r>
          </a:p>
          <a:p>
            <a:pPr algn="just" eaLnBrk="1" hangingPunct="1">
              <a:lnSpc>
                <a:spcPct val="110000"/>
              </a:lnSpc>
              <a:defRPr/>
            </a:pPr>
            <a:endParaRPr lang="zh-CN" altLang="en-US" sz="2800" b="1" dirty="0" smtClean="0">
              <a:effectLst>
                <a:outerShdw blurRad="38100" dist="38100" dir="2700000" algn="tl">
                  <a:srgbClr val="000000"/>
                </a:outerShdw>
              </a:effectLst>
              <a:latin typeface="仿宋_GB2312" pitchFamily="49" charset="-122"/>
              <a:ea typeface="仿宋_GB2312" pitchFamily="49" charset="-122"/>
            </a:endParaRPr>
          </a:p>
          <a:p>
            <a:pPr algn="just">
              <a:lnSpc>
                <a:spcPct val="110000"/>
              </a:lnSpc>
              <a:defRPr/>
            </a:pPr>
            <a:r>
              <a:rPr kumimoji="1" lang="zh-CN" altLang="en-US" b="1" dirty="0" smtClean="0"/>
              <a:t>对于高档的服务器而言，大的硬件缓存更能提高磁盘</a:t>
            </a:r>
            <a:r>
              <a:rPr kumimoji="1" lang="en-US" altLang="zh-CN" b="1" dirty="0" smtClean="0"/>
              <a:t>I/O</a:t>
            </a:r>
            <a:r>
              <a:rPr kumimoji="1" lang="zh-CN" altLang="en-US" b="1" dirty="0" smtClean="0"/>
              <a:t>的性能。但是，若磁盘机和磁盘控制器上没有缓存，那么，就需要依靠磁盘高速缓存的作用。</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796925" y="920750"/>
            <a:ext cx="7794121" cy="707886"/>
          </a:xfrm>
          <a:prstGeom prst="rect">
            <a:avLst/>
          </a:prstGeom>
          <a:noFill/>
          <a:ln w="9525">
            <a:noFill/>
            <a:miter lim="800000"/>
            <a:headEnd/>
            <a:tailEnd/>
          </a:ln>
        </p:spPr>
        <p:txBody>
          <a:bodyPr wrap="none">
            <a:spAutoFit/>
          </a:bodyPr>
          <a:lstStyle/>
          <a:p>
            <a:r>
              <a:rPr kumimoji="1" lang="en-US" altLang="zh-CN" sz="4000" dirty="0" smtClean="0">
                <a:solidFill>
                  <a:srgbClr val="0070C0"/>
                </a:solidFill>
                <a:latin typeface="Times New Roman" pitchFamily="18" charset="0"/>
              </a:rPr>
              <a:t>8.3.2 </a:t>
            </a:r>
            <a:r>
              <a:rPr kumimoji="1" lang="zh-CN" altLang="en-US" sz="4000" dirty="0">
                <a:solidFill>
                  <a:srgbClr val="0070C0"/>
                </a:solidFill>
                <a:latin typeface="Times New Roman" pitchFamily="18" charset="0"/>
              </a:rPr>
              <a:t>提高磁盘</a:t>
            </a:r>
            <a:r>
              <a:rPr kumimoji="1" lang="en-US" altLang="zh-CN" sz="4000" dirty="0">
                <a:solidFill>
                  <a:srgbClr val="0070C0"/>
                </a:solidFill>
                <a:latin typeface="Times New Roman" pitchFamily="18" charset="0"/>
              </a:rPr>
              <a:t>I/O</a:t>
            </a:r>
            <a:r>
              <a:rPr kumimoji="1" lang="zh-CN" altLang="en-US" sz="4000" dirty="0">
                <a:solidFill>
                  <a:srgbClr val="0070C0"/>
                </a:solidFill>
                <a:latin typeface="Times New Roman" pitchFamily="18" charset="0"/>
              </a:rPr>
              <a:t>速度的其它方法 </a:t>
            </a:r>
          </a:p>
        </p:txBody>
      </p:sp>
      <p:sp>
        <p:nvSpPr>
          <p:cNvPr id="107523" name="Text Box 3"/>
          <p:cNvSpPr txBox="1">
            <a:spLocks noChangeArrowheads="1"/>
          </p:cNvSpPr>
          <p:nvPr/>
        </p:nvSpPr>
        <p:spPr bwMode="auto">
          <a:xfrm>
            <a:off x="1676400" y="1784350"/>
            <a:ext cx="4483100" cy="3990975"/>
          </a:xfrm>
          <a:prstGeom prst="rect">
            <a:avLst/>
          </a:prstGeom>
          <a:noFill/>
          <a:ln w="9525">
            <a:noFill/>
            <a:miter lim="800000"/>
            <a:headEnd/>
            <a:tailEnd/>
          </a:ln>
        </p:spPr>
        <p:txBody>
          <a:bodyPr wrap="none">
            <a:spAutoFit/>
          </a:bodyPr>
          <a:lstStyle/>
          <a:p>
            <a:pPr marL="457200" indent="-457200">
              <a:lnSpc>
                <a:spcPct val="200000"/>
              </a:lnSpc>
            </a:pPr>
            <a:r>
              <a:rPr kumimoji="1" lang="en-US" altLang="zh-CN" sz="3200" dirty="0">
                <a:latin typeface="Times New Roman" pitchFamily="18" charset="0"/>
              </a:rPr>
              <a:t>1 ).</a:t>
            </a:r>
            <a:r>
              <a:rPr kumimoji="1" lang="zh-CN" altLang="en-US" sz="3200" dirty="0">
                <a:latin typeface="Times New Roman" pitchFamily="18" charset="0"/>
              </a:rPr>
              <a:t>提前读</a:t>
            </a:r>
            <a:r>
              <a:rPr kumimoji="1" lang="en-US" altLang="zh-CN" sz="3200" dirty="0">
                <a:latin typeface="Times New Roman" pitchFamily="18" charset="0"/>
              </a:rPr>
              <a:t>(Read-Ahead) </a:t>
            </a:r>
          </a:p>
          <a:p>
            <a:pPr marL="457200" indent="-457200">
              <a:lnSpc>
                <a:spcPct val="200000"/>
              </a:lnSpc>
            </a:pPr>
            <a:r>
              <a:rPr kumimoji="1" lang="en-US" altLang="zh-CN" sz="3200" dirty="0">
                <a:latin typeface="Times New Roman" pitchFamily="18" charset="0"/>
              </a:rPr>
              <a:t>2).</a:t>
            </a:r>
            <a:r>
              <a:rPr kumimoji="1" lang="zh-CN" altLang="en-US" sz="3200" dirty="0">
                <a:latin typeface="Times New Roman" pitchFamily="18" charset="0"/>
              </a:rPr>
              <a:t>延迟写 </a:t>
            </a:r>
          </a:p>
          <a:p>
            <a:pPr marL="457200" indent="-457200">
              <a:lnSpc>
                <a:spcPct val="200000"/>
              </a:lnSpc>
            </a:pPr>
            <a:r>
              <a:rPr kumimoji="1" lang="en-US" altLang="zh-CN" sz="3200" dirty="0">
                <a:latin typeface="Times New Roman" pitchFamily="18" charset="0"/>
              </a:rPr>
              <a:t>3).</a:t>
            </a:r>
            <a:r>
              <a:rPr kumimoji="1" lang="zh-CN" altLang="en-US" sz="3200" dirty="0">
                <a:latin typeface="Times New Roman" pitchFamily="18" charset="0"/>
              </a:rPr>
              <a:t>优化物理块的分布 </a:t>
            </a:r>
          </a:p>
          <a:p>
            <a:pPr marL="457200" indent="-457200">
              <a:lnSpc>
                <a:spcPct val="200000"/>
              </a:lnSpc>
            </a:pPr>
            <a:r>
              <a:rPr kumimoji="1" lang="en-US" altLang="zh-CN" sz="3200" dirty="0">
                <a:latin typeface="Times New Roman" pitchFamily="18" charset="0"/>
              </a:rPr>
              <a:t>4).</a:t>
            </a:r>
            <a:r>
              <a:rPr kumimoji="1" lang="zh-CN" altLang="en-US" sz="3200" dirty="0">
                <a:latin typeface="Times New Roman" pitchFamily="18" charset="0"/>
              </a:rPr>
              <a:t>虚拟盘 </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rrowheads="1"/>
          </p:cNvSpPr>
          <p:nvPr>
            <p:ph type="title"/>
          </p:nvPr>
        </p:nvSpPr>
        <p:spPr/>
        <p:txBody>
          <a:bodyPr/>
          <a:lstStyle/>
          <a:p>
            <a:pPr eaLnBrk="1" hangingPunct="1"/>
            <a:r>
              <a:rPr kumimoji="1" lang="en-US" altLang="zh-CN" b="1" dirty="0" smtClean="0">
                <a:solidFill>
                  <a:srgbClr val="FFC000"/>
                </a:solidFill>
                <a:effectLst/>
              </a:rPr>
              <a:t>1 ).</a:t>
            </a:r>
            <a:r>
              <a:rPr kumimoji="1" lang="zh-CN" altLang="en-US" b="1" dirty="0" smtClean="0">
                <a:solidFill>
                  <a:srgbClr val="FFC000"/>
                </a:solidFill>
                <a:effectLst/>
              </a:rPr>
              <a:t>提前读</a:t>
            </a:r>
            <a:r>
              <a:rPr kumimoji="1" lang="en-US" altLang="zh-CN" b="1" dirty="0" smtClean="0">
                <a:solidFill>
                  <a:srgbClr val="FFC000"/>
                </a:solidFill>
                <a:effectLst/>
              </a:rPr>
              <a:t>(Read-Ahead)</a:t>
            </a:r>
          </a:p>
        </p:txBody>
      </p:sp>
      <p:sp>
        <p:nvSpPr>
          <p:cNvPr id="108547" name="Rectangle 3"/>
          <p:cNvSpPr>
            <a:spLocks noGrp="1" noRot="1" noChangeArrowheads="1"/>
          </p:cNvSpPr>
          <p:nvPr>
            <p:ph type="body" idx="1"/>
          </p:nvPr>
        </p:nvSpPr>
        <p:spPr>
          <a:xfrm>
            <a:off x="533400" y="1557338"/>
            <a:ext cx="8077200" cy="4498975"/>
          </a:xfrm>
        </p:spPr>
        <p:txBody>
          <a:bodyPr/>
          <a:lstStyle/>
          <a:p>
            <a:pPr eaLnBrk="1" hangingPunct="1">
              <a:lnSpc>
                <a:spcPct val="110000"/>
              </a:lnSpc>
            </a:pPr>
            <a:r>
              <a:rPr lang="zh-CN" altLang="en-US" sz="2800" b="1" dirty="0" smtClean="0"/>
              <a:t>预先读方式，即</a:t>
            </a:r>
            <a:r>
              <a:rPr lang="zh-CN" altLang="en-US" sz="2800" b="1" i="1" u="sng" dirty="0" smtClean="0">
                <a:solidFill>
                  <a:srgbClr val="FFC000"/>
                </a:solidFill>
              </a:rPr>
              <a:t>在读当前块的同时，还要求将下一个盘块</a:t>
            </a:r>
            <a:r>
              <a:rPr lang="en-US" altLang="zh-CN" sz="2800" b="1" i="1" u="sng" dirty="0" smtClean="0">
                <a:solidFill>
                  <a:srgbClr val="FFC000"/>
                </a:solidFill>
              </a:rPr>
              <a:t>(</a:t>
            </a:r>
            <a:r>
              <a:rPr lang="zh-CN" altLang="en-US" sz="2800" b="1" i="1" u="sng" dirty="0" smtClean="0">
                <a:solidFill>
                  <a:srgbClr val="FFC000"/>
                </a:solidFill>
              </a:rPr>
              <a:t>提前读的块</a:t>
            </a:r>
            <a:r>
              <a:rPr lang="en-US" altLang="zh-CN" sz="2800" b="1" i="1" u="sng" dirty="0" smtClean="0">
                <a:solidFill>
                  <a:srgbClr val="FFC000"/>
                </a:solidFill>
              </a:rPr>
              <a:t>)</a:t>
            </a:r>
            <a:r>
              <a:rPr lang="zh-CN" altLang="en-US" sz="2800" b="1" i="1" u="sng" dirty="0" smtClean="0">
                <a:solidFill>
                  <a:srgbClr val="FFC000"/>
                </a:solidFill>
              </a:rPr>
              <a:t>中的数据也读入缓冲区</a:t>
            </a:r>
            <a:r>
              <a:rPr lang="zh-CN" altLang="en-US" sz="2800" b="1" dirty="0" smtClean="0"/>
              <a:t>。</a:t>
            </a:r>
          </a:p>
          <a:p>
            <a:pPr eaLnBrk="1" hangingPunct="1">
              <a:lnSpc>
                <a:spcPct val="110000"/>
              </a:lnSpc>
            </a:pPr>
            <a:r>
              <a:rPr lang="zh-CN" altLang="en-US" sz="2800" b="1" dirty="0" smtClean="0"/>
              <a:t>当下一次要读该盘块中的数据时，便可直接从</a:t>
            </a:r>
          </a:p>
          <a:p>
            <a:pPr eaLnBrk="1" hangingPunct="1">
              <a:lnSpc>
                <a:spcPct val="110000"/>
              </a:lnSpc>
              <a:buFont typeface="Wingdings" pitchFamily="2" charset="2"/>
              <a:buNone/>
            </a:pPr>
            <a:r>
              <a:rPr lang="zh-CN" altLang="en-US" sz="2800" b="1" dirty="0" smtClean="0"/>
              <a:t>	缓冲区中取得下一盘块的数据，而不需再去启动磁盘</a:t>
            </a:r>
            <a:r>
              <a:rPr lang="en-US" altLang="zh-CN" sz="2800" b="1" dirty="0" smtClean="0"/>
              <a:t>I/O</a:t>
            </a:r>
            <a:r>
              <a:rPr lang="zh-CN" altLang="en-US" sz="2800" b="1" dirty="0" smtClean="0"/>
              <a:t>，从而提高了磁盘</a:t>
            </a:r>
            <a:r>
              <a:rPr lang="en-US" altLang="zh-CN" sz="2800" b="1" dirty="0" smtClean="0"/>
              <a:t>I/O </a:t>
            </a:r>
            <a:r>
              <a:rPr lang="zh-CN" altLang="en-US" sz="2800" b="1" dirty="0" smtClean="0"/>
              <a:t>的速度。 </a:t>
            </a:r>
          </a:p>
          <a:p>
            <a:pPr eaLnBrk="1" hangingPunct="1">
              <a:lnSpc>
                <a:spcPct val="110000"/>
              </a:lnSpc>
            </a:pPr>
            <a:r>
              <a:rPr lang="zh-CN" altLang="en-US" sz="2800" b="1" dirty="0" smtClean="0"/>
              <a:t>“提前读”功能已被广泛采用，如在</a:t>
            </a:r>
            <a:r>
              <a:rPr lang="en-US" altLang="zh-CN" sz="2800" b="1" dirty="0" smtClean="0"/>
              <a:t>UNIX </a:t>
            </a:r>
            <a:r>
              <a:rPr lang="zh-CN" altLang="en-US" sz="2800" b="1" dirty="0" smtClean="0"/>
              <a:t>系统、</a:t>
            </a:r>
            <a:r>
              <a:rPr lang="en-US" altLang="zh-CN" sz="2800" b="1" dirty="0" smtClean="0"/>
              <a:t>OS/2</a:t>
            </a:r>
            <a:r>
              <a:rPr lang="zh-CN" altLang="en-US" sz="2800" b="1" dirty="0" smtClean="0"/>
              <a:t>，以及在</a:t>
            </a:r>
            <a:r>
              <a:rPr lang="en-US" altLang="zh-CN" sz="2800" b="1" dirty="0" smtClean="0"/>
              <a:t>3 Plus </a:t>
            </a:r>
            <a:r>
              <a:rPr lang="zh-CN" altLang="en-US" sz="2800" b="1" dirty="0" smtClean="0"/>
              <a:t>和</a:t>
            </a:r>
            <a:r>
              <a:rPr lang="en-US" altLang="zh-CN" sz="2800" b="1" dirty="0" smtClean="0"/>
              <a:t>Netware</a:t>
            </a:r>
            <a:r>
              <a:rPr lang="zh-CN" altLang="en-US" sz="2800" b="1" dirty="0" smtClean="0"/>
              <a:t>等的网络</a:t>
            </a:r>
            <a:r>
              <a:rPr lang="en-US" altLang="zh-CN" sz="2800" b="1" dirty="0" smtClean="0"/>
              <a:t>OS</a:t>
            </a:r>
            <a:r>
              <a:rPr lang="zh-CN" altLang="en-US" sz="2800" b="1" dirty="0" smtClean="0"/>
              <a:t>中，都已采用该功能。</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rrowheads="1"/>
          </p:cNvSpPr>
          <p:nvPr>
            <p:ph type="title"/>
          </p:nvPr>
        </p:nvSpPr>
        <p:spPr>
          <a:xfrm>
            <a:off x="539750" y="219060"/>
            <a:ext cx="8077200" cy="1066800"/>
          </a:xfrm>
        </p:spPr>
        <p:txBody>
          <a:bodyPr/>
          <a:lstStyle/>
          <a:p>
            <a:pPr eaLnBrk="1" hangingPunct="1"/>
            <a:r>
              <a:rPr kumimoji="1" lang="en-US" altLang="zh-CN" b="1" dirty="0" smtClean="0">
                <a:solidFill>
                  <a:srgbClr val="FFC000"/>
                </a:solidFill>
                <a:effectLst/>
              </a:rPr>
              <a:t>2).</a:t>
            </a:r>
            <a:r>
              <a:rPr kumimoji="1" lang="zh-CN" altLang="en-US" b="1" dirty="0" smtClean="0">
                <a:solidFill>
                  <a:srgbClr val="FFC000"/>
                </a:solidFill>
                <a:effectLst/>
              </a:rPr>
              <a:t>延迟写</a:t>
            </a:r>
          </a:p>
        </p:txBody>
      </p:sp>
      <p:sp>
        <p:nvSpPr>
          <p:cNvPr id="109571" name="Rectangle 3"/>
          <p:cNvSpPr>
            <a:spLocks noGrp="1" noRot="1" noChangeArrowheads="1"/>
          </p:cNvSpPr>
          <p:nvPr>
            <p:ph type="body" idx="1"/>
          </p:nvPr>
        </p:nvSpPr>
        <p:spPr>
          <a:xfrm>
            <a:off x="428596" y="1411289"/>
            <a:ext cx="8324880" cy="4803793"/>
          </a:xfrm>
        </p:spPr>
        <p:txBody>
          <a:bodyPr/>
          <a:lstStyle/>
          <a:p>
            <a:pPr eaLnBrk="1" hangingPunct="1">
              <a:lnSpc>
                <a:spcPct val="110000"/>
              </a:lnSpc>
            </a:pPr>
            <a:r>
              <a:rPr lang="zh-CN" altLang="en-US" b="1" dirty="0" smtClean="0"/>
              <a:t>延迟写是指在缓冲区</a:t>
            </a:r>
            <a:r>
              <a:rPr lang="en-US" altLang="zh-CN" b="1" dirty="0" smtClean="0"/>
              <a:t>A</a:t>
            </a:r>
            <a:r>
              <a:rPr lang="zh-CN" altLang="en-US" b="1" dirty="0" smtClean="0"/>
              <a:t>中的数据，本应立即写回磁盘，但考虑到此数据在不久之后可能还会再被本进程或其它进程访问</a:t>
            </a:r>
            <a:r>
              <a:rPr lang="en-US" altLang="zh-CN" b="1" dirty="0" smtClean="0"/>
              <a:t>(</a:t>
            </a:r>
            <a:r>
              <a:rPr lang="zh-CN" altLang="en-US" b="1" dirty="0" smtClean="0"/>
              <a:t>共享资源</a:t>
            </a:r>
            <a:r>
              <a:rPr lang="en-US" altLang="zh-CN" b="1" dirty="0" smtClean="0"/>
              <a:t>)</a:t>
            </a:r>
            <a:r>
              <a:rPr lang="zh-CN" altLang="en-US" b="1" dirty="0" smtClean="0"/>
              <a:t>，因而并不立即将该缓冲区</a:t>
            </a:r>
            <a:r>
              <a:rPr lang="en-US" altLang="zh-CN" b="1" dirty="0" smtClean="0"/>
              <a:t>A </a:t>
            </a:r>
            <a:r>
              <a:rPr lang="zh-CN" altLang="en-US" b="1" dirty="0" smtClean="0"/>
              <a:t>中的数据写入磁盘，而是将它挂在空闲缓冲区队列的末尾。</a:t>
            </a:r>
          </a:p>
          <a:p>
            <a:pPr eaLnBrk="1" hangingPunct="1">
              <a:lnSpc>
                <a:spcPct val="110000"/>
              </a:lnSpc>
            </a:pPr>
            <a:r>
              <a:rPr lang="zh-CN" altLang="en-US" b="1" dirty="0" smtClean="0"/>
              <a:t>随着空闲缓冲区的使用，缓冲区也缓缓往前移动，直至移到空闲缓冲队列之首。</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rrowheads="1"/>
          </p:cNvSpPr>
          <p:nvPr>
            <p:ph type="title"/>
          </p:nvPr>
        </p:nvSpPr>
        <p:spPr/>
        <p:txBody>
          <a:bodyPr/>
          <a:lstStyle/>
          <a:p>
            <a:pPr eaLnBrk="1" hangingPunct="1"/>
            <a:r>
              <a:rPr kumimoji="1" lang="en-US" altLang="zh-CN" b="1" dirty="0" smtClean="0">
                <a:solidFill>
                  <a:srgbClr val="FFC000"/>
                </a:solidFill>
                <a:effectLst/>
              </a:rPr>
              <a:t>2).</a:t>
            </a:r>
            <a:r>
              <a:rPr kumimoji="1" lang="zh-CN" altLang="en-US" b="1" dirty="0" smtClean="0">
                <a:solidFill>
                  <a:srgbClr val="FFC000"/>
                </a:solidFill>
                <a:effectLst/>
              </a:rPr>
              <a:t>延迟写</a:t>
            </a:r>
          </a:p>
        </p:txBody>
      </p:sp>
      <p:sp>
        <p:nvSpPr>
          <p:cNvPr id="110595" name="Rectangle 3"/>
          <p:cNvSpPr>
            <a:spLocks noGrp="1" noRot="1" noChangeArrowheads="1"/>
          </p:cNvSpPr>
          <p:nvPr>
            <p:ph type="body" idx="1"/>
          </p:nvPr>
        </p:nvSpPr>
        <p:spPr>
          <a:xfrm>
            <a:off x="323850" y="1484313"/>
            <a:ext cx="8286750" cy="4498975"/>
          </a:xfrm>
        </p:spPr>
        <p:txBody>
          <a:bodyPr/>
          <a:lstStyle/>
          <a:p>
            <a:pPr eaLnBrk="1" hangingPunct="1">
              <a:lnSpc>
                <a:spcPct val="110000"/>
              </a:lnSpc>
            </a:pPr>
            <a:r>
              <a:rPr lang="zh-CN" altLang="en-US" sz="2800" b="1" dirty="0" smtClean="0"/>
              <a:t>当再有进程申请到该缓冲区时，才将该缓冲区中的数据写入磁盘，而把该缓冲区作为空闲缓冲区分配出去。</a:t>
            </a:r>
          </a:p>
          <a:p>
            <a:pPr eaLnBrk="1" hangingPunct="1">
              <a:lnSpc>
                <a:spcPct val="110000"/>
              </a:lnSpc>
            </a:pPr>
            <a:r>
              <a:rPr lang="zh-CN" altLang="en-US" sz="2800" b="1" dirty="0" smtClean="0"/>
              <a:t>当该缓冲区</a:t>
            </a:r>
            <a:r>
              <a:rPr lang="en-US" altLang="zh-CN" sz="2800" b="1" dirty="0" smtClean="0"/>
              <a:t>A</a:t>
            </a:r>
            <a:r>
              <a:rPr lang="zh-CN" altLang="en-US" sz="2800" b="1" dirty="0" smtClean="0"/>
              <a:t>仍在队列中时，任何访问该数据的进程，都可直接读出其中的数据而不必去访问磁盘。这样，又可进一步减小等效的磁盘</a:t>
            </a:r>
            <a:r>
              <a:rPr lang="en-US" altLang="zh-CN" sz="2800" b="1" dirty="0" smtClean="0"/>
              <a:t>I/O</a:t>
            </a:r>
            <a:r>
              <a:rPr lang="zh-CN" altLang="en-US" sz="2800" b="1" dirty="0" smtClean="0"/>
              <a:t>时间。</a:t>
            </a:r>
          </a:p>
          <a:p>
            <a:pPr eaLnBrk="1" hangingPunct="1">
              <a:lnSpc>
                <a:spcPct val="110000"/>
              </a:lnSpc>
            </a:pPr>
            <a:r>
              <a:rPr lang="zh-CN" altLang="en-US" sz="2800" b="1" dirty="0" smtClean="0"/>
              <a:t>“延迟写”功能已在</a:t>
            </a:r>
            <a:r>
              <a:rPr lang="en-US" altLang="zh-CN" sz="2800" b="1" dirty="0" smtClean="0"/>
              <a:t>UNIX</a:t>
            </a:r>
            <a:r>
              <a:rPr lang="zh-CN" altLang="en-US" sz="2800" b="1" dirty="0" smtClean="0"/>
              <a:t>系统、</a:t>
            </a:r>
            <a:r>
              <a:rPr lang="en-US" altLang="zh-CN" sz="2800" b="1" dirty="0" smtClean="0"/>
              <a:t>OS/2</a:t>
            </a:r>
            <a:r>
              <a:rPr lang="zh-CN" altLang="en-US" sz="2800" b="1" dirty="0" smtClean="0"/>
              <a:t>等</a:t>
            </a:r>
            <a:r>
              <a:rPr lang="en-US" altLang="zh-CN" sz="2800" b="1" dirty="0" smtClean="0"/>
              <a:t>OS</a:t>
            </a:r>
            <a:r>
              <a:rPr lang="zh-CN" altLang="en-US" sz="2800" b="1" dirty="0" smtClean="0"/>
              <a:t>中被广泛采用。，“延迟写”功能已在</a:t>
            </a:r>
            <a:r>
              <a:rPr lang="en-US" altLang="zh-CN" sz="2800" b="1" dirty="0" smtClean="0"/>
              <a:t>UNIX</a:t>
            </a:r>
            <a:r>
              <a:rPr lang="zh-CN" altLang="en-US" sz="2800" b="1" dirty="0" smtClean="0"/>
              <a:t>系统、</a:t>
            </a:r>
            <a:r>
              <a:rPr lang="en-US" altLang="zh-CN" sz="2800" b="1" dirty="0" smtClean="0"/>
              <a:t>OS/2</a:t>
            </a:r>
            <a:r>
              <a:rPr lang="zh-CN" altLang="en-US" sz="2800" b="1" dirty="0" smtClean="0"/>
              <a:t>等</a:t>
            </a:r>
            <a:r>
              <a:rPr lang="en-US" altLang="zh-CN" sz="2800" b="1" dirty="0" smtClean="0"/>
              <a:t>OS</a:t>
            </a:r>
            <a:r>
              <a:rPr lang="zh-CN" altLang="en-US" sz="2800" b="1" dirty="0" smtClean="0"/>
              <a:t>中被广泛采用。</a:t>
            </a:r>
          </a:p>
          <a:p>
            <a:pPr eaLnBrk="1" hangingPunct="1">
              <a:lnSpc>
                <a:spcPct val="110000"/>
              </a:lnSpc>
            </a:pPr>
            <a:endParaRPr lang="en-US" altLang="zh-CN" sz="2800" b="1" dirty="0" smtClean="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rrowheads="1"/>
          </p:cNvSpPr>
          <p:nvPr>
            <p:ph type="title"/>
          </p:nvPr>
        </p:nvSpPr>
        <p:spPr/>
        <p:txBody>
          <a:bodyPr/>
          <a:lstStyle/>
          <a:p>
            <a:pPr eaLnBrk="1" hangingPunct="1"/>
            <a:r>
              <a:rPr kumimoji="1" lang="en-US" altLang="zh-CN" sz="4000" b="1" dirty="0" smtClean="0">
                <a:solidFill>
                  <a:srgbClr val="FFC000"/>
                </a:solidFill>
                <a:effectLst/>
              </a:rPr>
              <a:t>3).</a:t>
            </a:r>
            <a:r>
              <a:rPr kumimoji="1" lang="zh-CN" altLang="en-US" sz="4000" b="1" dirty="0" smtClean="0">
                <a:solidFill>
                  <a:srgbClr val="FFC000"/>
                </a:solidFill>
                <a:effectLst/>
              </a:rPr>
              <a:t>优化物理块的分布 </a:t>
            </a:r>
          </a:p>
        </p:txBody>
      </p:sp>
      <p:sp>
        <p:nvSpPr>
          <p:cNvPr id="111619" name="Rectangle 3"/>
          <p:cNvSpPr>
            <a:spLocks noGrp="1" noRot="1" noChangeArrowheads="1"/>
          </p:cNvSpPr>
          <p:nvPr>
            <p:ph type="body" idx="1"/>
          </p:nvPr>
        </p:nvSpPr>
        <p:spPr/>
        <p:txBody>
          <a:bodyPr/>
          <a:lstStyle/>
          <a:p>
            <a:pPr eaLnBrk="1" hangingPunct="1">
              <a:lnSpc>
                <a:spcPct val="110000"/>
              </a:lnSpc>
            </a:pPr>
            <a:r>
              <a:rPr lang="zh-CN" altLang="en-US" b="1" dirty="0" smtClean="0"/>
              <a:t>另一种提高磁盘</a:t>
            </a:r>
            <a:r>
              <a:rPr lang="en-US" altLang="zh-CN" b="1" dirty="0" smtClean="0"/>
              <a:t>I/O </a:t>
            </a:r>
            <a:r>
              <a:rPr lang="zh-CN" altLang="en-US" b="1" dirty="0" smtClean="0"/>
              <a:t>速度的重要措施是优化文件物理块的分布，使磁头的移动距离最小。</a:t>
            </a:r>
          </a:p>
          <a:p>
            <a:pPr eaLnBrk="1" hangingPunct="1">
              <a:lnSpc>
                <a:spcPct val="110000"/>
              </a:lnSpc>
            </a:pPr>
            <a:r>
              <a:rPr lang="zh-CN" altLang="en-US" b="1" dirty="0" smtClean="0"/>
              <a:t>对文件盘块位置的优化，应在为文件分配盘块时进行。</a:t>
            </a:r>
          </a:p>
          <a:p>
            <a:pPr eaLnBrk="1" hangingPunct="1"/>
            <a:r>
              <a:rPr lang="zh-CN" altLang="en-US" b="1" i="1" u="sng" dirty="0" smtClean="0">
                <a:solidFill>
                  <a:srgbClr val="FFC000"/>
                </a:solidFill>
              </a:rPr>
              <a:t>措施：</a:t>
            </a:r>
            <a:r>
              <a:rPr lang="zh-CN" altLang="en-US" b="1" dirty="0" smtClean="0">
                <a:solidFill>
                  <a:srgbClr val="FFC000"/>
                </a:solidFill>
              </a:rPr>
              <a:t>尽量</a:t>
            </a:r>
            <a:r>
              <a:rPr lang="zh-CN" altLang="en-US" b="1" i="1" u="sng" dirty="0" smtClean="0">
                <a:solidFill>
                  <a:srgbClr val="FFC000"/>
                </a:solidFill>
              </a:rPr>
              <a:t>将同属于一个文件的盘块安排在同一条磁道上或相邻的磁道上</a:t>
            </a:r>
            <a:r>
              <a:rPr lang="zh-CN" altLang="en-US" b="1" dirty="0" smtClean="0">
                <a:solidFill>
                  <a:srgbClr val="FFC000"/>
                </a:solidFill>
              </a:rPr>
              <a:t>。</a:t>
            </a:r>
          </a:p>
          <a:p>
            <a:pPr eaLnBrk="1" hangingPunct="1">
              <a:lnSpc>
                <a:spcPct val="110000"/>
              </a:lnSpc>
              <a:buFont typeface="Wingdings" pitchFamily="2" charset="2"/>
              <a:buNone/>
            </a:pPr>
            <a:endParaRPr lang="en-US" altLang="zh-CN" b="1" dirty="0"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3"/>
          <p:cNvSpPr>
            <a:spLocks noGrp="1" noRot="1" noChangeArrowheads="1"/>
          </p:cNvSpPr>
          <p:nvPr>
            <p:ph type="body" idx="1"/>
          </p:nvPr>
        </p:nvSpPr>
        <p:spPr>
          <a:xfrm>
            <a:off x="533400" y="620713"/>
            <a:ext cx="8077200" cy="5551487"/>
          </a:xfrm>
        </p:spPr>
        <p:txBody>
          <a:bodyPr/>
          <a:lstStyle/>
          <a:p>
            <a:pPr algn="just" eaLnBrk="1" hangingPunct="1">
              <a:lnSpc>
                <a:spcPct val="110000"/>
              </a:lnSpc>
              <a:defRPr/>
            </a:pPr>
            <a:r>
              <a:rPr lang="zh-CN" altLang="en-US" b="1" dirty="0" smtClean="0"/>
              <a:t>若将分散到多个柱面或磁道上的文件进行类似内存分配过程中的碎片整理（紧凑），使这些文件在物理上连续存储，则能提高文件的读</a:t>
            </a:r>
            <a:r>
              <a:rPr lang="en-US" altLang="zh-CN" b="1" dirty="0" smtClean="0"/>
              <a:t>/</a:t>
            </a:r>
            <a:r>
              <a:rPr lang="zh-CN" altLang="en-US" b="1" dirty="0" smtClean="0"/>
              <a:t>写性能，减少寻道时间和平均旋转延迟，从而提高整个系统效的效率，减少磁盘的机械损耗。</a:t>
            </a:r>
          </a:p>
          <a:p>
            <a:pPr algn="just" eaLnBrk="1" hangingPunct="1">
              <a:lnSpc>
                <a:spcPct val="110000"/>
              </a:lnSpc>
              <a:defRPr/>
            </a:pPr>
            <a:r>
              <a:rPr lang="zh-CN" altLang="en-US" b="1" dirty="0" smtClean="0"/>
              <a:t>因此，人们经常使用</a:t>
            </a:r>
            <a:r>
              <a:rPr lang="en-US" altLang="zh-CN" b="1" dirty="0" smtClean="0"/>
              <a:t>MS-DOS</a:t>
            </a:r>
            <a:r>
              <a:rPr lang="zh-CN" altLang="en-US" b="1" dirty="0" smtClean="0"/>
              <a:t>、</a:t>
            </a:r>
            <a:r>
              <a:rPr lang="en-US" altLang="zh-CN" b="1" dirty="0" smtClean="0"/>
              <a:t>Windows</a:t>
            </a:r>
            <a:r>
              <a:rPr lang="zh-CN" altLang="en-US" b="1" dirty="0" smtClean="0"/>
              <a:t>等操作系统提供的磁盘碎片整理功能，以提高系统工作效率。</a:t>
            </a:r>
          </a:p>
          <a:p>
            <a:pPr eaLnBrk="1" hangingPunct="1">
              <a:lnSpc>
                <a:spcPct val="110000"/>
              </a:lnSpc>
              <a:defRPr/>
            </a:pPr>
            <a:endParaRPr lang="en-US" altLang="zh-CN" dirty="0"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Rot="1" noChangeArrowheads="1"/>
          </p:cNvSpPr>
          <p:nvPr>
            <p:ph type="title"/>
          </p:nvPr>
        </p:nvSpPr>
        <p:spPr/>
        <p:txBody>
          <a:bodyPr/>
          <a:lstStyle/>
          <a:p>
            <a:pPr eaLnBrk="1" hangingPunct="1">
              <a:defRPr/>
            </a:pPr>
            <a:r>
              <a:rPr lang="en-US" altLang="zh-CN" b="1" dirty="0" smtClean="0">
                <a:solidFill>
                  <a:srgbClr val="FFC000"/>
                </a:solidFill>
              </a:rPr>
              <a:t>4</a:t>
            </a:r>
            <a:r>
              <a:rPr lang="zh-CN" altLang="en-US" b="1" dirty="0" smtClean="0">
                <a:solidFill>
                  <a:srgbClr val="FFC000"/>
                </a:solidFill>
              </a:rPr>
              <a:t>）虚拟盘</a:t>
            </a:r>
          </a:p>
        </p:txBody>
      </p:sp>
      <p:sp>
        <p:nvSpPr>
          <p:cNvPr id="113667" name="Rectangle 3"/>
          <p:cNvSpPr>
            <a:spLocks noGrp="1" noRot="1" noChangeArrowheads="1"/>
          </p:cNvSpPr>
          <p:nvPr>
            <p:ph type="body" idx="1"/>
          </p:nvPr>
        </p:nvSpPr>
        <p:spPr>
          <a:xfrm>
            <a:off x="539750" y="1700213"/>
            <a:ext cx="8077200" cy="4498975"/>
          </a:xfrm>
        </p:spPr>
        <p:txBody>
          <a:bodyPr/>
          <a:lstStyle/>
          <a:p>
            <a:pPr eaLnBrk="1" hangingPunct="1">
              <a:lnSpc>
                <a:spcPct val="110000"/>
              </a:lnSpc>
            </a:pPr>
            <a:r>
              <a:rPr lang="zh-CN" altLang="en-US" b="1" dirty="0" smtClean="0"/>
              <a:t>所谓虚拟盘，是指利用内存空间去仿真磁盘，又称为</a:t>
            </a:r>
            <a:r>
              <a:rPr lang="en-US" altLang="zh-CN" b="1" dirty="0" smtClean="0"/>
              <a:t>RAM </a:t>
            </a:r>
            <a:r>
              <a:rPr lang="zh-CN" altLang="en-US" b="1" dirty="0" smtClean="0"/>
              <a:t>盘。</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rrowheads="1"/>
          </p:cNvSpPr>
          <p:nvPr>
            <p:ph type="title"/>
          </p:nvPr>
        </p:nvSpPr>
        <p:spPr>
          <a:xfrm>
            <a:off x="539750" y="188913"/>
            <a:ext cx="8077200" cy="1066800"/>
          </a:xfrm>
        </p:spPr>
        <p:txBody>
          <a:bodyPr/>
          <a:lstStyle/>
          <a:p>
            <a:pPr eaLnBrk="1" hangingPunct="1"/>
            <a:r>
              <a:rPr kumimoji="1" lang="en-US" altLang="zh-CN" b="1" dirty="0" smtClean="0">
                <a:solidFill>
                  <a:schemeClr val="folHlink"/>
                </a:solidFill>
                <a:effectLst/>
              </a:rPr>
              <a:t>8.3.3 </a:t>
            </a:r>
            <a:r>
              <a:rPr kumimoji="1" lang="zh-CN" altLang="en-US" b="1" dirty="0" smtClean="0">
                <a:solidFill>
                  <a:schemeClr val="folHlink"/>
                </a:solidFill>
                <a:effectLst/>
              </a:rPr>
              <a:t>廉价磁盘冗余阵列</a:t>
            </a:r>
          </a:p>
        </p:txBody>
      </p:sp>
      <p:sp>
        <p:nvSpPr>
          <p:cNvPr id="114691" name="Rectangle 3"/>
          <p:cNvSpPr>
            <a:spLocks noGrp="1" noRot="1" noChangeArrowheads="1"/>
          </p:cNvSpPr>
          <p:nvPr>
            <p:ph type="body" idx="1"/>
          </p:nvPr>
        </p:nvSpPr>
        <p:spPr>
          <a:xfrm>
            <a:off x="533400" y="1404938"/>
            <a:ext cx="8077200" cy="4498975"/>
          </a:xfrm>
        </p:spPr>
        <p:txBody>
          <a:bodyPr/>
          <a:lstStyle/>
          <a:p>
            <a:pPr eaLnBrk="1" hangingPunct="1">
              <a:lnSpc>
                <a:spcPct val="110000"/>
              </a:lnSpc>
            </a:pPr>
            <a:r>
              <a:rPr lang="zh-CN" altLang="en-US" sz="2800" b="1" dirty="0" smtClean="0"/>
              <a:t>廉价磁盘冗余阵列</a:t>
            </a:r>
            <a:r>
              <a:rPr lang="en-US" altLang="zh-CN" sz="2800" b="1" dirty="0" smtClean="0"/>
              <a:t>(RAID</a:t>
            </a:r>
            <a:r>
              <a:rPr lang="zh-CN" altLang="en-US" sz="2800" b="1" dirty="0" smtClean="0"/>
              <a:t>，</a:t>
            </a:r>
            <a:r>
              <a:rPr lang="en-US" altLang="zh-CN" sz="2800" b="1" dirty="0" smtClean="0"/>
              <a:t>Redundant Array of Inexpensive Disk)</a:t>
            </a:r>
            <a:r>
              <a:rPr lang="zh-CN" altLang="en-US" sz="2800" b="1" dirty="0" smtClean="0"/>
              <a:t>是</a:t>
            </a:r>
            <a:r>
              <a:rPr lang="en-US" altLang="zh-CN" sz="2800" b="1" dirty="0" smtClean="0"/>
              <a:t>1987 </a:t>
            </a:r>
            <a:r>
              <a:rPr lang="zh-CN" altLang="en-US" sz="2800" b="1" dirty="0" smtClean="0"/>
              <a:t>年由美国加利福尼亚大学伯克莱分校提出的，现在已开始广泛地应用于大、中型计算机系统和计算机网络中。</a:t>
            </a:r>
          </a:p>
          <a:p>
            <a:pPr eaLnBrk="1" hangingPunct="1">
              <a:lnSpc>
                <a:spcPct val="110000"/>
              </a:lnSpc>
            </a:pPr>
            <a:r>
              <a:rPr lang="zh-CN" altLang="en-US" sz="2800" b="1" dirty="0" smtClean="0">
                <a:solidFill>
                  <a:schemeClr val="folHlink"/>
                </a:solidFill>
              </a:rPr>
              <a:t>思想：</a:t>
            </a:r>
            <a:r>
              <a:rPr lang="zh-CN" altLang="en-US" sz="2800" b="1" dirty="0" smtClean="0"/>
              <a:t>利用一台磁盘阵列控制器，来统一管理和控制一组</a:t>
            </a:r>
            <a:r>
              <a:rPr lang="en-US" altLang="zh-CN" sz="2800" b="1" dirty="0" smtClean="0"/>
              <a:t>(</a:t>
            </a:r>
            <a:r>
              <a:rPr lang="zh-CN" altLang="en-US" sz="2800" b="1" dirty="0" smtClean="0"/>
              <a:t>几台到几十台</a:t>
            </a:r>
            <a:r>
              <a:rPr lang="en-US" altLang="zh-CN" sz="2800" b="1" dirty="0" smtClean="0"/>
              <a:t>)</a:t>
            </a:r>
            <a:r>
              <a:rPr lang="zh-CN" altLang="en-US" sz="2800" b="1" dirty="0" smtClean="0"/>
              <a:t>磁盘驱动器，组成一个高度可靠的、快速的大容量磁盘系统。</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1" name="Rectangle 3"/>
          <p:cNvSpPr>
            <a:spLocks noGrp="1" noRot="1" noChangeArrowheads="1"/>
          </p:cNvSpPr>
          <p:nvPr>
            <p:ph type="body" idx="1"/>
          </p:nvPr>
        </p:nvSpPr>
        <p:spPr>
          <a:xfrm>
            <a:off x="533400" y="928670"/>
            <a:ext cx="8077200" cy="5335587"/>
          </a:xfrm>
        </p:spPr>
        <p:txBody>
          <a:bodyPr>
            <a:normAutofit/>
          </a:bodyPr>
          <a:lstStyle/>
          <a:p>
            <a:pPr algn="just" eaLnBrk="1" hangingPunct="1">
              <a:defRPr/>
            </a:pPr>
            <a:r>
              <a:rPr lang="zh-CN" altLang="en-US" b="1" dirty="0" smtClean="0"/>
              <a:t>一组可以并行工作的磁盘所构成的磁盘阵列</a:t>
            </a:r>
            <a:endParaRPr lang="en-US" altLang="zh-CN" b="1" dirty="0" smtClean="0"/>
          </a:p>
          <a:p>
            <a:pPr algn="just" eaLnBrk="1" hangingPunct="1">
              <a:defRPr/>
            </a:pPr>
            <a:endParaRPr lang="zh-CN" altLang="en-US" b="1" dirty="0" smtClean="0"/>
          </a:p>
          <a:p>
            <a:pPr algn="just" eaLnBrk="1" hangingPunct="1">
              <a:defRPr/>
            </a:pPr>
            <a:r>
              <a:rPr lang="zh-CN" altLang="en-US" b="1" dirty="0" smtClean="0"/>
              <a:t>在磁盘子系统中执行的或者在主机系统中执行的磁盘阵列管理软件。</a:t>
            </a:r>
          </a:p>
          <a:p>
            <a:pPr lvl="1" algn="just" eaLnBrk="1" hangingPunct="1">
              <a:defRPr/>
            </a:pPr>
            <a:r>
              <a:rPr lang="zh-CN" altLang="en-US" sz="3200" b="1" dirty="0" smtClean="0">
                <a:solidFill>
                  <a:srgbClr val="FFC000"/>
                </a:solidFill>
              </a:rPr>
              <a:t>磁盘阵列管理软件把逻辑上连续的一组数据交叉分布存储在磁盘阵列中的各个磁盘上。</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400050" y="260350"/>
            <a:ext cx="3130550" cy="579438"/>
          </a:xfrm>
          <a:prstGeom prst="rect">
            <a:avLst/>
          </a:prstGeom>
          <a:noFill/>
          <a:ln w="9525">
            <a:noFill/>
            <a:miter lim="800000"/>
            <a:headEnd/>
            <a:tailEnd/>
          </a:ln>
        </p:spPr>
        <p:txBody>
          <a:bodyPr wrap="none">
            <a:spAutoFit/>
          </a:bodyPr>
          <a:lstStyle/>
          <a:p>
            <a:pPr algn="ctr"/>
            <a:r>
              <a:rPr kumimoji="1" lang="en-US" altLang="zh-CN" sz="3200">
                <a:solidFill>
                  <a:schemeClr val="folHlink"/>
                </a:solidFill>
                <a:latin typeface="Times New Roman" pitchFamily="18" charset="0"/>
              </a:rPr>
              <a:t>1. </a:t>
            </a:r>
            <a:r>
              <a:rPr kumimoji="1" lang="zh-CN" altLang="en-US" sz="3200">
                <a:solidFill>
                  <a:schemeClr val="folHlink"/>
                </a:solidFill>
                <a:latin typeface="Times New Roman" pitchFamily="18" charset="0"/>
              </a:rPr>
              <a:t>并行交叉存取 </a:t>
            </a:r>
          </a:p>
        </p:txBody>
      </p:sp>
      <p:sp>
        <p:nvSpPr>
          <p:cNvPr id="13316" name="Text Box 4"/>
          <p:cNvSpPr txBox="1">
            <a:spLocks noChangeArrowheads="1"/>
          </p:cNvSpPr>
          <p:nvPr/>
        </p:nvSpPr>
        <p:spPr bwMode="auto">
          <a:xfrm>
            <a:off x="2895600" y="6284913"/>
            <a:ext cx="3765550" cy="457200"/>
          </a:xfrm>
          <a:prstGeom prst="rect">
            <a:avLst/>
          </a:prstGeom>
          <a:noFill/>
          <a:ln w="9525">
            <a:noFill/>
            <a:miter lim="800000"/>
            <a:headEnd/>
            <a:tailEnd/>
          </a:ln>
        </p:spPr>
        <p:txBody>
          <a:bodyPr wrap="none">
            <a:spAutoFit/>
          </a:bodyPr>
          <a:lstStyle/>
          <a:p>
            <a:r>
              <a:rPr kumimoji="1" lang="zh-CN" altLang="en-US" sz="2400">
                <a:latin typeface="Times New Roman" pitchFamily="18" charset="0"/>
              </a:rPr>
              <a:t>图 磁盘并行交叉存取方式  </a:t>
            </a:r>
          </a:p>
        </p:txBody>
      </p:sp>
      <p:sp>
        <p:nvSpPr>
          <p:cNvPr id="403462" name="Text Box 6"/>
          <p:cNvSpPr txBox="1">
            <a:spLocks noChangeArrowheads="1"/>
          </p:cNvSpPr>
          <p:nvPr/>
        </p:nvSpPr>
        <p:spPr bwMode="auto">
          <a:xfrm>
            <a:off x="433388" y="765175"/>
            <a:ext cx="8099425" cy="3381375"/>
          </a:xfrm>
          <a:prstGeom prst="rect">
            <a:avLst/>
          </a:prstGeom>
          <a:noFill/>
          <a:ln w="9525">
            <a:noFill/>
            <a:miter lim="800000"/>
            <a:headEnd/>
            <a:tailEnd/>
          </a:ln>
        </p:spPr>
        <p:txBody>
          <a:bodyPr>
            <a:spAutoFit/>
          </a:bodyPr>
          <a:lstStyle/>
          <a:p>
            <a:pPr>
              <a:lnSpc>
                <a:spcPct val="110000"/>
              </a:lnSpc>
              <a:buFont typeface="Wingdings" pitchFamily="2" charset="2"/>
              <a:buChar char="Ø"/>
            </a:pPr>
            <a:r>
              <a:rPr lang="zh-CN" altLang="en-US" sz="2800"/>
              <a:t>在该系统中，有多台磁盘驱动器，系统将每一盘块中的数据分为若干个子盘块数据，再把每一个子盘块的数据分别存储到各个不同磁盘中的相同位置上。</a:t>
            </a:r>
          </a:p>
          <a:p>
            <a:pPr>
              <a:lnSpc>
                <a:spcPct val="110000"/>
              </a:lnSpc>
              <a:buFont typeface="Wingdings" pitchFamily="2" charset="2"/>
              <a:buChar char="Ø"/>
            </a:pPr>
            <a:r>
              <a:rPr lang="zh-CN" altLang="en-US" sz="2800"/>
              <a:t>当要将一个盘块的数据传送到内存时，采取并行传输方式，将各个盘块中的子盘块数据同时向内存中传输，从而使传输时间大大减少。</a:t>
            </a:r>
          </a:p>
        </p:txBody>
      </p:sp>
      <p:graphicFrame>
        <p:nvGraphicFramePr>
          <p:cNvPr id="403466" name="Object 10"/>
          <p:cNvGraphicFramePr>
            <a:graphicFrameLocks noChangeAspect="1"/>
          </p:cNvGraphicFramePr>
          <p:nvPr/>
        </p:nvGraphicFramePr>
        <p:xfrm>
          <a:off x="0" y="4221163"/>
          <a:ext cx="9144000" cy="1857375"/>
        </p:xfrm>
        <a:graphic>
          <a:graphicData uri="http://schemas.openxmlformats.org/presentationml/2006/ole">
            <mc:AlternateContent xmlns:mc="http://schemas.openxmlformats.org/markup-compatibility/2006">
              <mc:Choice xmlns:v="urn:schemas-microsoft-com:vml" Requires="v">
                <p:oleObj spid="_x0000_s35855" name="VISIO" r:id="rId3" imgW="3868560" imgH="785160" progId="Visio.Drawing.4">
                  <p:embed/>
                </p:oleObj>
              </mc:Choice>
              <mc:Fallback>
                <p:oleObj name="VISIO" r:id="rId3" imgW="3868560" imgH="785160" progId="Visio.Drawing.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221163"/>
                        <a:ext cx="9144000"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03462">
                                            <p:txEl>
                                              <p:pRg st="0" end="0"/>
                                            </p:txEl>
                                          </p:spTgt>
                                        </p:tgtEl>
                                        <p:attrNameLst>
                                          <p:attrName>style.visibility</p:attrName>
                                        </p:attrNameLst>
                                      </p:cBhvr>
                                      <p:to>
                                        <p:strVal val="visible"/>
                                      </p:to>
                                    </p:set>
                                    <p:animEffect transition="in" filter="box(in)">
                                      <p:cBhvr>
                                        <p:cTn id="7" dur="500"/>
                                        <p:tgtEl>
                                          <p:spTgt spid="4034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03462">
                                            <p:txEl>
                                              <p:pRg st="1" end="1"/>
                                            </p:txEl>
                                          </p:spTgt>
                                        </p:tgtEl>
                                        <p:attrNameLst>
                                          <p:attrName>style.visibility</p:attrName>
                                        </p:attrNameLst>
                                      </p:cBhvr>
                                      <p:to>
                                        <p:strVal val="visible"/>
                                      </p:to>
                                    </p:set>
                                    <p:animEffect transition="in" filter="box(in)">
                                      <p:cBhvr>
                                        <p:cTn id="12" dur="500"/>
                                        <p:tgtEl>
                                          <p:spTgt spid="4034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03466"/>
                                        </p:tgtEl>
                                        <p:attrNameLst>
                                          <p:attrName>style.visibility</p:attrName>
                                        </p:attrNameLst>
                                      </p:cBhvr>
                                      <p:to>
                                        <p:strVal val="visible"/>
                                      </p:to>
                                    </p:set>
                                    <p:animEffect transition="in" filter="box(in)">
                                      <p:cBhvr>
                                        <p:cTn id="17" dur="500"/>
                                        <p:tgtEl>
                                          <p:spTgt spid="403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p:cNvSpPr>
            <a:spLocks noGrp="1" noRot="1" noChangeArrowheads="1"/>
          </p:cNvSpPr>
          <p:nvPr>
            <p:ph type="body" idx="1"/>
          </p:nvPr>
        </p:nvSpPr>
        <p:spPr>
          <a:xfrm>
            <a:off x="533400" y="765175"/>
            <a:ext cx="8077200" cy="5407025"/>
          </a:xfrm>
        </p:spPr>
        <p:txBody>
          <a:bodyPr/>
          <a:lstStyle/>
          <a:p>
            <a:pPr eaLnBrk="1" hangingPunct="1"/>
            <a:r>
              <a:rPr lang="zh-CN" altLang="en-US" b="1" dirty="0" smtClean="0">
                <a:solidFill>
                  <a:schemeClr val="folHlink"/>
                </a:solidFill>
              </a:rPr>
              <a:t>例如，在存放一个文件时的方法：</a:t>
            </a:r>
          </a:p>
          <a:p>
            <a:pPr lvl="1" eaLnBrk="1" hangingPunct="1"/>
            <a:r>
              <a:rPr lang="zh-CN" altLang="en-US" b="1" dirty="0" smtClean="0"/>
              <a:t>可将该文件中的第一个数据子块放在第一个磁盘驱动器上；</a:t>
            </a:r>
          </a:p>
          <a:p>
            <a:pPr lvl="1" eaLnBrk="1" hangingPunct="1"/>
            <a:r>
              <a:rPr lang="zh-CN" altLang="en-US" b="1" dirty="0" smtClean="0"/>
              <a:t>将文件的第二个数据子块放在第二个盘上；</a:t>
            </a:r>
            <a:r>
              <a:rPr lang="en-US" altLang="zh-CN" b="1" dirty="0" smtClean="0"/>
              <a:t>……</a:t>
            </a:r>
            <a:r>
              <a:rPr lang="zh-CN" altLang="en-US" b="1" dirty="0" smtClean="0"/>
              <a:t>；</a:t>
            </a:r>
          </a:p>
          <a:p>
            <a:pPr lvl="1" eaLnBrk="1" hangingPunct="1"/>
            <a:r>
              <a:rPr lang="zh-CN" altLang="en-US" b="1" dirty="0" smtClean="0"/>
              <a:t>将第</a:t>
            </a:r>
            <a:r>
              <a:rPr lang="en-US" altLang="zh-CN" b="1" i="1" dirty="0" smtClean="0"/>
              <a:t>N </a:t>
            </a:r>
            <a:r>
              <a:rPr lang="zh-CN" altLang="en-US" b="1" dirty="0" smtClean="0"/>
              <a:t>个数据子块，放在第</a:t>
            </a:r>
            <a:r>
              <a:rPr lang="en-US" altLang="zh-CN" b="1" i="1" dirty="0" smtClean="0"/>
              <a:t>N</a:t>
            </a:r>
            <a:r>
              <a:rPr lang="zh-CN" altLang="en-US" b="1" dirty="0" smtClean="0"/>
              <a:t>个驱动器上。</a:t>
            </a:r>
          </a:p>
          <a:p>
            <a:pPr lvl="1" eaLnBrk="1" hangingPunct="1"/>
            <a:r>
              <a:rPr lang="zh-CN" altLang="en-US" b="1" dirty="0" smtClean="0"/>
              <a:t>以后在读取数据时，采取并行读取方式，即同时从第</a:t>
            </a:r>
            <a:r>
              <a:rPr lang="en-US" altLang="zh-CN" b="1" dirty="0" smtClean="0"/>
              <a:t>1</a:t>
            </a:r>
            <a:r>
              <a:rPr lang="zh-CN" altLang="en-US" b="1" dirty="0" smtClean="0"/>
              <a:t>～</a:t>
            </a:r>
            <a:r>
              <a:rPr lang="en-US" altLang="zh-CN" b="1" i="1" dirty="0" smtClean="0"/>
              <a:t>N</a:t>
            </a:r>
            <a:r>
              <a:rPr lang="zh-CN" altLang="en-US" b="1" dirty="0" smtClean="0"/>
              <a:t>个数据子块读出数据，这样便把磁盘</a:t>
            </a:r>
            <a:r>
              <a:rPr lang="en-US" altLang="zh-CN" b="1" dirty="0" smtClean="0"/>
              <a:t>I/O </a:t>
            </a:r>
            <a:r>
              <a:rPr lang="zh-CN" altLang="en-US" b="1" dirty="0" smtClean="0"/>
              <a:t>的速度提高了</a:t>
            </a:r>
            <a:r>
              <a:rPr lang="en-US" altLang="zh-CN" b="1" i="1" dirty="0" smtClean="0"/>
              <a:t>N</a:t>
            </a:r>
            <a:r>
              <a:rPr lang="en-US" altLang="zh-CN" b="1" dirty="0" smtClean="0"/>
              <a:t>-1 </a:t>
            </a:r>
            <a:r>
              <a:rPr lang="zh-CN" altLang="en-US" b="1" dirty="0" smtClean="0"/>
              <a:t>倍。</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
          <p:cNvSpPr>
            <a:spLocks noChangeArrowheads="1"/>
          </p:cNvSpPr>
          <p:nvPr/>
        </p:nvSpPr>
        <p:spPr bwMode="auto">
          <a:xfrm>
            <a:off x="0" y="0"/>
            <a:ext cx="9144000" cy="6858000"/>
          </a:xfrm>
          <a:prstGeom prst="rect">
            <a:avLst/>
          </a:prstGeom>
          <a:solidFill>
            <a:schemeClr val="bg2">
              <a:lumMod val="90000"/>
            </a:schemeClr>
          </a:solidFill>
          <a:ln w="9525">
            <a:solidFill>
              <a:schemeClr val="tx1"/>
            </a:solidFill>
            <a:miter lim="800000"/>
            <a:headEnd/>
            <a:tailEnd/>
          </a:ln>
        </p:spPr>
        <p:txBody>
          <a:bodyPr wrap="none" anchor="ctr"/>
          <a:lstStyle/>
          <a:p>
            <a:endParaRPr lang="zh-CN" altLang="en-US"/>
          </a:p>
        </p:txBody>
      </p:sp>
      <p:grpSp>
        <p:nvGrpSpPr>
          <p:cNvPr id="2" name="Group 5"/>
          <p:cNvGrpSpPr>
            <a:grpSpLocks/>
          </p:cNvGrpSpPr>
          <p:nvPr/>
        </p:nvGrpSpPr>
        <p:grpSpPr bwMode="auto">
          <a:xfrm>
            <a:off x="395288" y="0"/>
            <a:ext cx="7772400" cy="6858000"/>
            <a:chOff x="1764" y="5447"/>
            <a:chExt cx="7035" cy="4727"/>
          </a:xfrm>
        </p:grpSpPr>
        <p:sp>
          <p:nvSpPr>
            <p:cNvPr id="117764" name="Rectangle 6"/>
            <p:cNvSpPr>
              <a:spLocks noChangeArrowheads="1"/>
            </p:cNvSpPr>
            <p:nvPr/>
          </p:nvSpPr>
          <p:spPr bwMode="auto">
            <a:xfrm>
              <a:off x="3864" y="5447"/>
              <a:ext cx="840" cy="272"/>
            </a:xfrm>
            <a:prstGeom prst="rect">
              <a:avLst/>
            </a:prstGeom>
            <a:noFill/>
            <a:ln w="9525">
              <a:noFill/>
              <a:miter lim="800000"/>
              <a:headEnd/>
              <a:tailEnd/>
            </a:ln>
          </p:spPr>
          <p:txBody>
            <a:bodyPr lIns="0" tIns="0" rIns="0" bIns="0"/>
            <a:lstStyle/>
            <a:p>
              <a:pPr algn="ctr" eaLnBrk="0" hangingPunct="0"/>
              <a:r>
                <a:rPr lang="zh-CN" altLang="en-US">
                  <a:solidFill>
                    <a:srgbClr val="000000"/>
                  </a:solidFill>
                  <a:latin typeface="仿宋_GB2312" pitchFamily="49" charset="-122"/>
                  <a:ea typeface="仿宋_GB2312" pitchFamily="49" charset="-122"/>
                </a:rPr>
                <a:t>物理磁盘</a:t>
              </a:r>
              <a:r>
                <a:rPr lang="en-US" altLang="zh-CN">
                  <a:solidFill>
                    <a:srgbClr val="000000"/>
                  </a:solidFill>
                  <a:latin typeface="仿宋_GB2312" pitchFamily="49" charset="-122"/>
                  <a:ea typeface="仿宋_GB2312" pitchFamily="49" charset="-122"/>
                </a:rPr>
                <a:t>0</a:t>
              </a:r>
            </a:p>
          </p:txBody>
        </p:sp>
        <p:grpSp>
          <p:nvGrpSpPr>
            <p:cNvPr id="3" name="Group 7"/>
            <p:cNvGrpSpPr>
              <a:grpSpLocks/>
            </p:cNvGrpSpPr>
            <p:nvPr/>
          </p:nvGrpSpPr>
          <p:grpSpPr bwMode="auto">
            <a:xfrm>
              <a:off x="1844" y="5758"/>
              <a:ext cx="680" cy="4416"/>
              <a:chOff x="2814" y="5683"/>
              <a:chExt cx="680" cy="4416"/>
            </a:xfrm>
          </p:grpSpPr>
          <p:sp>
            <p:nvSpPr>
              <p:cNvPr id="117824" name="AutoShape 8"/>
              <p:cNvSpPr>
                <a:spLocks noChangeArrowheads="1"/>
              </p:cNvSpPr>
              <p:nvPr/>
            </p:nvSpPr>
            <p:spPr bwMode="auto">
              <a:xfrm>
                <a:off x="2814" y="9730"/>
                <a:ext cx="680" cy="369"/>
              </a:xfrm>
              <a:prstGeom prst="flowChartMagneticDisk">
                <a:avLst/>
              </a:prstGeom>
              <a:solidFill>
                <a:srgbClr val="FFFFFF"/>
              </a:solidFill>
              <a:ln w="12700">
                <a:solidFill>
                  <a:srgbClr val="000000"/>
                </a:solidFill>
                <a:prstDash val="sysDot"/>
                <a:round/>
                <a:headEnd/>
                <a:tailEnd/>
              </a:ln>
            </p:spPr>
            <p:txBody>
              <a:bodyPr lIns="0" tIns="28800" rIns="0" bIns="0"/>
              <a:lstStyle/>
              <a:p>
                <a:pPr algn="ctr" eaLnBrk="0" hangingPunct="0"/>
                <a:endParaRPr lang="zh-CN" altLang="zh-CN">
                  <a:solidFill>
                    <a:srgbClr val="000000"/>
                  </a:solidFill>
                  <a:latin typeface="仿宋_GB2312" pitchFamily="49" charset="-122"/>
                  <a:ea typeface="仿宋_GB2312" pitchFamily="49" charset="-122"/>
                </a:endParaRPr>
              </a:p>
            </p:txBody>
          </p:sp>
          <p:sp>
            <p:nvSpPr>
              <p:cNvPr id="117825" name="AutoShape 9"/>
              <p:cNvSpPr>
                <a:spLocks noChangeArrowheads="1"/>
              </p:cNvSpPr>
              <p:nvPr/>
            </p:nvSpPr>
            <p:spPr bwMode="auto">
              <a:xfrm>
                <a:off x="2814" y="9477"/>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15</a:t>
                </a:r>
              </a:p>
            </p:txBody>
          </p:sp>
          <p:sp>
            <p:nvSpPr>
              <p:cNvPr id="117826" name="AutoShape 10"/>
              <p:cNvSpPr>
                <a:spLocks noChangeArrowheads="1"/>
              </p:cNvSpPr>
              <p:nvPr/>
            </p:nvSpPr>
            <p:spPr bwMode="auto">
              <a:xfrm>
                <a:off x="2814" y="924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14</a:t>
                </a:r>
              </a:p>
            </p:txBody>
          </p:sp>
          <p:sp>
            <p:nvSpPr>
              <p:cNvPr id="117827" name="AutoShape 11"/>
              <p:cNvSpPr>
                <a:spLocks noChangeArrowheads="1"/>
              </p:cNvSpPr>
              <p:nvPr/>
            </p:nvSpPr>
            <p:spPr bwMode="auto">
              <a:xfrm>
                <a:off x="2814" y="8990"/>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13</a:t>
                </a:r>
              </a:p>
            </p:txBody>
          </p:sp>
          <p:sp>
            <p:nvSpPr>
              <p:cNvPr id="117828" name="AutoShape 12"/>
              <p:cNvSpPr>
                <a:spLocks noChangeArrowheads="1"/>
              </p:cNvSpPr>
              <p:nvPr/>
            </p:nvSpPr>
            <p:spPr bwMode="auto">
              <a:xfrm>
                <a:off x="2814" y="8737"/>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12</a:t>
                </a:r>
              </a:p>
            </p:txBody>
          </p:sp>
          <p:sp>
            <p:nvSpPr>
              <p:cNvPr id="117829" name="AutoShape 13"/>
              <p:cNvSpPr>
                <a:spLocks noChangeArrowheads="1"/>
              </p:cNvSpPr>
              <p:nvPr/>
            </p:nvSpPr>
            <p:spPr bwMode="auto">
              <a:xfrm>
                <a:off x="2814" y="8486"/>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11</a:t>
                </a:r>
              </a:p>
            </p:txBody>
          </p:sp>
          <p:sp>
            <p:nvSpPr>
              <p:cNvPr id="117830" name="AutoShape 14"/>
              <p:cNvSpPr>
                <a:spLocks noChangeArrowheads="1"/>
              </p:cNvSpPr>
              <p:nvPr/>
            </p:nvSpPr>
            <p:spPr bwMode="auto">
              <a:xfrm>
                <a:off x="2814" y="8233"/>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10</a:t>
                </a:r>
              </a:p>
            </p:txBody>
          </p:sp>
          <p:sp>
            <p:nvSpPr>
              <p:cNvPr id="117831" name="AutoShape 15"/>
              <p:cNvSpPr>
                <a:spLocks noChangeArrowheads="1"/>
              </p:cNvSpPr>
              <p:nvPr/>
            </p:nvSpPr>
            <p:spPr bwMode="auto">
              <a:xfrm>
                <a:off x="2814" y="7982"/>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9</a:t>
                </a:r>
              </a:p>
            </p:txBody>
          </p:sp>
          <p:sp>
            <p:nvSpPr>
              <p:cNvPr id="117832" name="AutoShape 16"/>
              <p:cNvSpPr>
                <a:spLocks noChangeArrowheads="1"/>
              </p:cNvSpPr>
              <p:nvPr/>
            </p:nvSpPr>
            <p:spPr bwMode="auto">
              <a:xfrm>
                <a:off x="2814" y="7729"/>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8</a:t>
                </a:r>
              </a:p>
            </p:txBody>
          </p:sp>
          <p:sp>
            <p:nvSpPr>
              <p:cNvPr id="117833" name="AutoShape 17"/>
              <p:cNvSpPr>
                <a:spLocks noChangeArrowheads="1"/>
              </p:cNvSpPr>
              <p:nvPr/>
            </p:nvSpPr>
            <p:spPr bwMode="auto">
              <a:xfrm>
                <a:off x="2814" y="7478"/>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7</a:t>
                </a:r>
              </a:p>
            </p:txBody>
          </p:sp>
          <p:sp>
            <p:nvSpPr>
              <p:cNvPr id="117834" name="AutoShape 18"/>
              <p:cNvSpPr>
                <a:spLocks noChangeArrowheads="1"/>
              </p:cNvSpPr>
              <p:nvPr/>
            </p:nvSpPr>
            <p:spPr bwMode="auto">
              <a:xfrm>
                <a:off x="2814" y="7225"/>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6</a:t>
                </a:r>
              </a:p>
            </p:txBody>
          </p:sp>
          <p:sp>
            <p:nvSpPr>
              <p:cNvPr id="117835" name="AutoShape 19"/>
              <p:cNvSpPr>
                <a:spLocks noChangeArrowheads="1"/>
              </p:cNvSpPr>
              <p:nvPr/>
            </p:nvSpPr>
            <p:spPr bwMode="auto">
              <a:xfrm>
                <a:off x="2814" y="6959"/>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5</a:t>
                </a:r>
              </a:p>
            </p:txBody>
          </p:sp>
          <p:sp>
            <p:nvSpPr>
              <p:cNvPr id="117836" name="AutoShape 20"/>
              <p:cNvSpPr>
                <a:spLocks noChangeArrowheads="1"/>
              </p:cNvSpPr>
              <p:nvPr/>
            </p:nvSpPr>
            <p:spPr bwMode="auto">
              <a:xfrm>
                <a:off x="2814" y="6708"/>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4</a:t>
                </a:r>
              </a:p>
            </p:txBody>
          </p:sp>
          <p:sp>
            <p:nvSpPr>
              <p:cNvPr id="117837" name="AutoShape 21"/>
              <p:cNvSpPr>
                <a:spLocks noChangeArrowheads="1"/>
              </p:cNvSpPr>
              <p:nvPr/>
            </p:nvSpPr>
            <p:spPr bwMode="auto">
              <a:xfrm>
                <a:off x="2814" y="6455"/>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3</a:t>
                </a:r>
              </a:p>
            </p:txBody>
          </p:sp>
          <p:sp>
            <p:nvSpPr>
              <p:cNvPr id="117838" name="AutoShape 22"/>
              <p:cNvSpPr>
                <a:spLocks noChangeArrowheads="1"/>
              </p:cNvSpPr>
              <p:nvPr/>
            </p:nvSpPr>
            <p:spPr bwMode="auto">
              <a:xfrm>
                <a:off x="2814" y="6204"/>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2</a:t>
                </a:r>
              </a:p>
            </p:txBody>
          </p:sp>
          <p:sp>
            <p:nvSpPr>
              <p:cNvPr id="117839" name="AutoShape 23"/>
              <p:cNvSpPr>
                <a:spLocks noChangeArrowheads="1"/>
              </p:cNvSpPr>
              <p:nvPr/>
            </p:nvSpPr>
            <p:spPr bwMode="auto">
              <a:xfrm>
                <a:off x="2814" y="595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a:t>
                </a:r>
              </a:p>
            </p:txBody>
          </p:sp>
          <p:sp>
            <p:nvSpPr>
              <p:cNvPr id="117840" name="AutoShape 24"/>
              <p:cNvSpPr>
                <a:spLocks noChangeArrowheads="1"/>
              </p:cNvSpPr>
              <p:nvPr/>
            </p:nvSpPr>
            <p:spPr bwMode="auto">
              <a:xfrm>
                <a:off x="2814" y="5685"/>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0</a:t>
                </a:r>
              </a:p>
            </p:txBody>
          </p:sp>
          <p:sp>
            <p:nvSpPr>
              <p:cNvPr id="117841" name="Oval 25"/>
              <p:cNvSpPr>
                <a:spLocks noChangeArrowheads="1"/>
              </p:cNvSpPr>
              <p:nvPr/>
            </p:nvSpPr>
            <p:spPr bwMode="auto">
              <a:xfrm>
                <a:off x="2814" y="5683"/>
                <a:ext cx="680" cy="125"/>
              </a:xfrm>
              <a:prstGeom prst="ellipse">
                <a:avLst/>
              </a:prstGeom>
              <a:solidFill>
                <a:srgbClr val="B2B2B2"/>
              </a:solidFill>
              <a:ln w="12700">
                <a:solidFill>
                  <a:srgbClr val="000000"/>
                </a:solidFill>
                <a:round/>
                <a:headEnd/>
                <a:tailEnd/>
              </a:ln>
            </p:spPr>
            <p:txBody>
              <a:bodyPr/>
              <a:lstStyle/>
              <a:p>
                <a:endParaRPr lang="zh-CN" altLang="en-US"/>
              </a:p>
            </p:txBody>
          </p:sp>
        </p:grpSp>
        <p:grpSp>
          <p:nvGrpSpPr>
            <p:cNvPr id="4" name="Group 26"/>
            <p:cNvGrpSpPr>
              <a:grpSpLocks/>
            </p:cNvGrpSpPr>
            <p:nvPr/>
          </p:nvGrpSpPr>
          <p:grpSpPr bwMode="auto">
            <a:xfrm>
              <a:off x="3919" y="5758"/>
              <a:ext cx="680" cy="1375"/>
              <a:chOff x="4494" y="5758"/>
              <a:chExt cx="680" cy="1375"/>
            </a:xfrm>
          </p:grpSpPr>
          <p:sp>
            <p:nvSpPr>
              <p:cNvPr id="117818" name="AutoShape 27"/>
              <p:cNvSpPr>
                <a:spLocks noChangeArrowheads="1"/>
              </p:cNvSpPr>
              <p:nvPr/>
            </p:nvSpPr>
            <p:spPr bwMode="auto">
              <a:xfrm>
                <a:off x="4494" y="6764"/>
                <a:ext cx="680" cy="369"/>
              </a:xfrm>
              <a:prstGeom prst="flowChartMagneticDisk">
                <a:avLst/>
              </a:prstGeom>
              <a:solidFill>
                <a:srgbClr val="FFFFFF"/>
              </a:solidFill>
              <a:ln w="12700">
                <a:solidFill>
                  <a:srgbClr val="000000"/>
                </a:solidFill>
                <a:prstDash val="sysDot"/>
                <a:round/>
                <a:headEnd/>
                <a:tailEnd/>
              </a:ln>
            </p:spPr>
            <p:txBody>
              <a:bodyPr lIns="0" tIns="28800" rIns="0" bIns="0"/>
              <a:lstStyle/>
              <a:p>
                <a:pPr algn="ctr" eaLnBrk="0" hangingPunct="0"/>
                <a:endParaRPr lang="zh-CN" altLang="zh-CN">
                  <a:solidFill>
                    <a:srgbClr val="000000"/>
                  </a:solidFill>
                  <a:latin typeface="仿宋_GB2312" pitchFamily="49" charset="-122"/>
                  <a:ea typeface="仿宋_GB2312" pitchFamily="49" charset="-122"/>
                </a:endParaRPr>
              </a:p>
            </p:txBody>
          </p:sp>
          <p:sp>
            <p:nvSpPr>
              <p:cNvPr id="117819" name="AutoShape 28"/>
              <p:cNvSpPr>
                <a:spLocks noChangeArrowheads="1"/>
              </p:cNvSpPr>
              <p:nvPr/>
            </p:nvSpPr>
            <p:spPr bwMode="auto">
              <a:xfrm>
                <a:off x="4494" y="651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12</a:t>
                </a:r>
              </a:p>
            </p:txBody>
          </p:sp>
          <p:sp>
            <p:nvSpPr>
              <p:cNvPr id="117820" name="AutoShape 29"/>
              <p:cNvSpPr>
                <a:spLocks noChangeArrowheads="1"/>
              </p:cNvSpPr>
              <p:nvPr/>
            </p:nvSpPr>
            <p:spPr bwMode="auto">
              <a:xfrm>
                <a:off x="4494" y="6275"/>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8</a:t>
                </a:r>
              </a:p>
            </p:txBody>
          </p:sp>
          <p:sp>
            <p:nvSpPr>
              <p:cNvPr id="117821" name="AutoShape 30"/>
              <p:cNvSpPr>
                <a:spLocks noChangeArrowheads="1"/>
              </p:cNvSpPr>
              <p:nvPr/>
            </p:nvSpPr>
            <p:spPr bwMode="auto">
              <a:xfrm>
                <a:off x="4494" y="6024"/>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4</a:t>
                </a:r>
              </a:p>
            </p:txBody>
          </p:sp>
          <p:sp>
            <p:nvSpPr>
              <p:cNvPr id="117822" name="AutoShape 31"/>
              <p:cNvSpPr>
                <a:spLocks noChangeArrowheads="1"/>
              </p:cNvSpPr>
              <p:nvPr/>
            </p:nvSpPr>
            <p:spPr bwMode="auto">
              <a:xfrm>
                <a:off x="4494" y="577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0</a:t>
                </a:r>
              </a:p>
            </p:txBody>
          </p:sp>
          <p:sp>
            <p:nvSpPr>
              <p:cNvPr id="117823" name="Oval 32"/>
              <p:cNvSpPr>
                <a:spLocks noChangeArrowheads="1"/>
              </p:cNvSpPr>
              <p:nvPr/>
            </p:nvSpPr>
            <p:spPr bwMode="auto">
              <a:xfrm>
                <a:off x="4494" y="5758"/>
                <a:ext cx="680" cy="125"/>
              </a:xfrm>
              <a:prstGeom prst="ellipse">
                <a:avLst/>
              </a:prstGeom>
              <a:solidFill>
                <a:srgbClr val="B2B2B2"/>
              </a:solidFill>
              <a:ln w="12700">
                <a:solidFill>
                  <a:srgbClr val="000000"/>
                </a:solidFill>
                <a:round/>
                <a:headEnd/>
                <a:tailEnd/>
              </a:ln>
            </p:spPr>
            <p:txBody>
              <a:bodyPr/>
              <a:lstStyle/>
              <a:p>
                <a:endParaRPr lang="zh-CN" altLang="en-US"/>
              </a:p>
            </p:txBody>
          </p:sp>
        </p:grpSp>
        <p:grpSp>
          <p:nvGrpSpPr>
            <p:cNvPr id="5" name="Group 33"/>
            <p:cNvGrpSpPr>
              <a:grpSpLocks/>
            </p:cNvGrpSpPr>
            <p:nvPr/>
          </p:nvGrpSpPr>
          <p:grpSpPr bwMode="auto">
            <a:xfrm>
              <a:off x="5334" y="5758"/>
              <a:ext cx="680" cy="1375"/>
              <a:chOff x="5544" y="5758"/>
              <a:chExt cx="680" cy="1375"/>
            </a:xfrm>
          </p:grpSpPr>
          <p:sp>
            <p:nvSpPr>
              <p:cNvPr id="117812" name="AutoShape 34"/>
              <p:cNvSpPr>
                <a:spLocks noChangeArrowheads="1"/>
              </p:cNvSpPr>
              <p:nvPr/>
            </p:nvSpPr>
            <p:spPr bwMode="auto">
              <a:xfrm>
                <a:off x="5544" y="6764"/>
                <a:ext cx="680" cy="369"/>
              </a:xfrm>
              <a:prstGeom prst="flowChartMagneticDisk">
                <a:avLst/>
              </a:prstGeom>
              <a:solidFill>
                <a:srgbClr val="FFFFFF"/>
              </a:solidFill>
              <a:ln w="12700">
                <a:solidFill>
                  <a:srgbClr val="000000"/>
                </a:solidFill>
                <a:prstDash val="sysDot"/>
                <a:round/>
                <a:headEnd/>
                <a:tailEnd/>
              </a:ln>
            </p:spPr>
            <p:txBody>
              <a:bodyPr lIns="0" tIns="28800" rIns="0" bIns="0"/>
              <a:lstStyle/>
              <a:p>
                <a:pPr algn="ctr" eaLnBrk="0" hangingPunct="0"/>
                <a:endParaRPr lang="zh-CN" altLang="zh-CN">
                  <a:solidFill>
                    <a:srgbClr val="000000"/>
                  </a:solidFill>
                  <a:latin typeface="仿宋_GB2312" pitchFamily="49" charset="-122"/>
                  <a:ea typeface="仿宋_GB2312" pitchFamily="49" charset="-122"/>
                </a:endParaRPr>
              </a:p>
            </p:txBody>
          </p:sp>
          <p:sp>
            <p:nvSpPr>
              <p:cNvPr id="117813" name="AutoShape 35"/>
              <p:cNvSpPr>
                <a:spLocks noChangeArrowheads="1"/>
              </p:cNvSpPr>
              <p:nvPr/>
            </p:nvSpPr>
            <p:spPr bwMode="auto">
              <a:xfrm>
                <a:off x="5544" y="651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13</a:t>
                </a:r>
              </a:p>
            </p:txBody>
          </p:sp>
          <p:sp>
            <p:nvSpPr>
              <p:cNvPr id="117814" name="AutoShape 36"/>
              <p:cNvSpPr>
                <a:spLocks noChangeArrowheads="1"/>
              </p:cNvSpPr>
              <p:nvPr/>
            </p:nvSpPr>
            <p:spPr bwMode="auto">
              <a:xfrm>
                <a:off x="5544" y="6275"/>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9</a:t>
                </a:r>
              </a:p>
            </p:txBody>
          </p:sp>
          <p:sp>
            <p:nvSpPr>
              <p:cNvPr id="117815" name="AutoShape 37"/>
              <p:cNvSpPr>
                <a:spLocks noChangeArrowheads="1"/>
              </p:cNvSpPr>
              <p:nvPr/>
            </p:nvSpPr>
            <p:spPr bwMode="auto">
              <a:xfrm>
                <a:off x="5544" y="6024"/>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5</a:t>
                </a:r>
              </a:p>
            </p:txBody>
          </p:sp>
          <p:sp>
            <p:nvSpPr>
              <p:cNvPr id="117816" name="AutoShape 38"/>
              <p:cNvSpPr>
                <a:spLocks noChangeArrowheads="1"/>
              </p:cNvSpPr>
              <p:nvPr/>
            </p:nvSpPr>
            <p:spPr bwMode="auto">
              <a:xfrm>
                <a:off x="5544" y="577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a:t>
                </a:r>
              </a:p>
            </p:txBody>
          </p:sp>
          <p:sp>
            <p:nvSpPr>
              <p:cNvPr id="117817" name="Oval 39"/>
              <p:cNvSpPr>
                <a:spLocks noChangeArrowheads="1"/>
              </p:cNvSpPr>
              <p:nvPr/>
            </p:nvSpPr>
            <p:spPr bwMode="auto">
              <a:xfrm>
                <a:off x="5544" y="5758"/>
                <a:ext cx="680" cy="125"/>
              </a:xfrm>
              <a:prstGeom prst="ellipse">
                <a:avLst/>
              </a:prstGeom>
              <a:solidFill>
                <a:srgbClr val="B2B2B2"/>
              </a:solidFill>
              <a:ln w="12700">
                <a:solidFill>
                  <a:srgbClr val="000000"/>
                </a:solidFill>
                <a:round/>
                <a:headEnd/>
                <a:tailEnd/>
              </a:ln>
            </p:spPr>
            <p:txBody>
              <a:bodyPr/>
              <a:lstStyle/>
              <a:p>
                <a:endParaRPr lang="zh-CN" altLang="en-US"/>
              </a:p>
            </p:txBody>
          </p:sp>
        </p:grpSp>
        <p:grpSp>
          <p:nvGrpSpPr>
            <p:cNvPr id="6" name="Group 40"/>
            <p:cNvGrpSpPr>
              <a:grpSpLocks/>
            </p:cNvGrpSpPr>
            <p:nvPr/>
          </p:nvGrpSpPr>
          <p:grpSpPr bwMode="auto">
            <a:xfrm>
              <a:off x="6699" y="5758"/>
              <a:ext cx="680" cy="1375"/>
              <a:chOff x="6594" y="5758"/>
              <a:chExt cx="680" cy="1375"/>
            </a:xfrm>
          </p:grpSpPr>
          <p:sp>
            <p:nvSpPr>
              <p:cNvPr id="117806" name="AutoShape 41"/>
              <p:cNvSpPr>
                <a:spLocks noChangeArrowheads="1"/>
              </p:cNvSpPr>
              <p:nvPr/>
            </p:nvSpPr>
            <p:spPr bwMode="auto">
              <a:xfrm>
                <a:off x="6594" y="6764"/>
                <a:ext cx="680" cy="369"/>
              </a:xfrm>
              <a:prstGeom prst="flowChartMagneticDisk">
                <a:avLst/>
              </a:prstGeom>
              <a:solidFill>
                <a:srgbClr val="FFFFFF"/>
              </a:solidFill>
              <a:ln w="12700">
                <a:solidFill>
                  <a:srgbClr val="000000"/>
                </a:solidFill>
                <a:prstDash val="sysDot"/>
                <a:round/>
                <a:headEnd/>
                <a:tailEnd/>
              </a:ln>
            </p:spPr>
            <p:txBody>
              <a:bodyPr lIns="0" tIns="28800" rIns="0" bIns="0"/>
              <a:lstStyle/>
              <a:p>
                <a:pPr algn="ctr" eaLnBrk="0" hangingPunct="0"/>
                <a:endParaRPr lang="zh-CN" altLang="zh-CN">
                  <a:solidFill>
                    <a:srgbClr val="000000"/>
                  </a:solidFill>
                  <a:latin typeface="仿宋_GB2312" pitchFamily="49" charset="-122"/>
                  <a:ea typeface="仿宋_GB2312" pitchFamily="49" charset="-122"/>
                </a:endParaRPr>
              </a:p>
            </p:txBody>
          </p:sp>
          <p:sp>
            <p:nvSpPr>
              <p:cNvPr id="117807" name="AutoShape 42"/>
              <p:cNvSpPr>
                <a:spLocks noChangeArrowheads="1"/>
              </p:cNvSpPr>
              <p:nvPr/>
            </p:nvSpPr>
            <p:spPr bwMode="auto">
              <a:xfrm>
                <a:off x="6594" y="651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14</a:t>
                </a:r>
              </a:p>
            </p:txBody>
          </p:sp>
          <p:sp>
            <p:nvSpPr>
              <p:cNvPr id="117808" name="AutoShape 43"/>
              <p:cNvSpPr>
                <a:spLocks noChangeArrowheads="1"/>
              </p:cNvSpPr>
              <p:nvPr/>
            </p:nvSpPr>
            <p:spPr bwMode="auto">
              <a:xfrm>
                <a:off x="6594" y="6275"/>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10</a:t>
                </a:r>
              </a:p>
            </p:txBody>
          </p:sp>
          <p:sp>
            <p:nvSpPr>
              <p:cNvPr id="117809" name="AutoShape 44"/>
              <p:cNvSpPr>
                <a:spLocks noChangeArrowheads="1"/>
              </p:cNvSpPr>
              <p:nvPr/>
            </p:nvSpPr>
            <p:spPr bwMode="auto">
              <a:xfrm>
                <a:off x="6594" y="6024"/>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6</a:t>
                </a:r>
              </a:p>
            </p:txBody>
          </p:sp>
          <p:sp>
            <p:nvSpPr>
              <p:cNvPr id="117810" name="AutoShape 45"/>
              <p:cNvSpPr>
                <a:spLocks noChangeArrowheads="1"/>
              </p:cNvSpPr>
              <p:nvPr/>
            </p:nvSpPr>
            <p:spPr bwMode="auto">
              <a:xfrm>
                <a:off x="6594" y="577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2</a:t>
                </a:r>
              </a:p>
            </p:txBody>
          </p:sp>
          <p:sp>
            <p:nvSpPr>
              <p:cNvPr id="117811" name="Oval 46"/>
              <p:cNvSpPr>
                <a:spLocks noChangeArrowheads="1"/>
              </p:cNvSpPr>
              <p:nvPr/>
            </p:nvSpPr>
            <p:spPr bwMode="auto">
              <a:xfrm>
                <a:off x="6594" y="5758"/>
                <a:ext cx="680" cy="125"/>
              </a:xfrm>
              <a:prstGeom prst="ellipse">
                <a:avLst/>
              </a:prstGeom>
              <a:solidFill>
                <a:srgbClr val="B2B2B2"/>
              </a:solidFill>
              <a:ln w="12700">
                <a:solidFill>
                  <a:srgbClr val="000000"/>
                </a:solidFill>
                <a:round/>
                <a:headEnd/>
                <a:tailEnd/>
              </a:ln>
            </p:spPr>
            <p:txBody>
              <a:bodyPr/>
              <a:lstStyle/>
              <a:p>
                <a:endParaRPr lang="zh-CN" altLang="en-US"/>
              </a:p>
            </p:txBody>
          </p:sp>
        </p:grpSp>
        <p:grpSp>
          <p:nvGrpSpPr>
            <p:cNvPr id="7" name="Group 47"/>
            <p:cNvGrpSpPr>
              <a:grpSpLocks/>
            </p:cNvGrpSpPr>
            <p:nvPr/>
          </p:nvGrpSpPr>
          <p:grpSpPr bwMode="auto">
            <a:xfrm>
              <a:off x="8039" y="5758"/>
              <a:ext cx="680" cy="1375"/>
              <a:chOff x="7539" y="5758"/>
              <a:chExt cx="680" cy="1375"/>
            </a:xfrm>
          </p:grpSpPr>
          <p:sp>
            <p:nvSpPr>
              <p:cNvPr id="117800" name="AutoShape 48"/>
              <p:cNvSpPr>
                <a:spLocks noChangeArrowheads="1"/>
              </p:cNvSpPr>
              <p:nvPr/>
            </p:nvSpPr>
            <p:spPr bwMode="auto">
              <a:xfrm>
                <a:off x="7539" y="6764"/>
                <a:ext cx="680" cy="369"/>
              </a:xfrm>
              <a:prstGeom prst="flowChartMagneticDisk">
                <a:avLst/>
              </a:prstGeom>
              <a:solidFill>
                <a:srgbClr val="FFFFFF"/>
              </a:solidFill>
              <a:ln w="12700">
                <a:solidFill>
                  <a:srgbClr val="000000"/>
                </a:solidFill>
                <a:prstDash val="sysDot"/>
                <a:round/>
                <a:headEnd/>
                <a:tailEnd/>
              </a:ln>
            </p:spPr>
            <p:txBody>
              <a:bodyPr lIns="0" tIns="28800" rIns="0" bIns="0"/>
              <a:lstStyle/>
              <a:p>
                <a:pPr algn="ctr" eaLnBrk="0" hangingPunct="0"/>
                <a:endParaRPr lang="zh-CN" altLang="zh-CN">
                  <a:solidFill>
                    <a:srgbClr val="000000"/>
                  </a:solidFill>
                  <a:latin typeface="仿宋_GB2312" pitchFamily="49" charset="-122"/>
                  <a:ea typeface="仿宋_GB2312" pitchFamily="49" charset="-122"/>
                </a:endParaRPr>
              </a:p>
            </p:txBody>
          </p:sp>
          <p:sp>
            <p:nvSpPr>
              <p:cNvPr id="117801" name="AutoShape 49"/>
              <p:cNvSpPr>
                <a:spLocks noChangeArrowheads="1"/>
              </p:cNvSpPr>
              <p:nvPr/>
            </p:nvSpPr>
            <p:spPr bwMode="auto">
              <a:xfrm>
                <a:off x="7539" y="651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15</a:t>
                </a:r>
              </a:p>
            </p:txBody>
          </p:sp>
          <p:sp>
            <p:nvSpPr>
              <p:cNvPr id="117802" name="AutoShape 50"/>
              <p:cNvSpPr>
                <a:spLocks noChangeArrowheads="1"/>
              </p:cNvSpPr>
              <p:nvPr/>
            </p:nvSpPr>
            <p:spPr bwMode="auto">
              <a:xfrm>
                <a:off x="7539" y="6275"/>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11</a:t>
                </a:r>
              </a:p>
            </p:txBody>
          </p:sp>
          <p:sp>
            <p:nvSpPr>
              <p:cNvPr id="117803" name="AutoShape 51"/>
              <p:cNvSpPr>
                <a:spLocks noChangeArrowheads="1"/>
              </p:cNvSpPr>
              <p:nvPr/>
            </p:nvSpPr>
            <p:spPr bwMode="auto">
              <a:xfrm>
                <a:off x="7539" y="6024"/>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7</a:t>
                </a:r>
              </a:p>
            </p:txBody>
          </p:sp>
          <p:sp>
            <p:nvSpPr>
              <p:cNvPr id="117804" name="AutoShape 52"/>
              <p:cNvSpPr>
                <a:spLocks noChangeArrowheads="1"/>
              </p:cNvSpPr>
              <p:nvPr/>
            </p:nvSpPr>
            <p:spPr bwMode="auto">
              <a:xfrm>
                <a:off x="7539" y="5771"/>
                <a:ext cx="680" cy="369"/>
              </a:xfrm>
              <a:prstGeom prst="flowChartMagneticDisk">
                <a:avLst/>
              </a:prstGeom>
              <a:solidFill>
                <a:srgbClr val="FFFFFF"/>
              </a:solidFill>
              <a:ln w="12700">
                <a:solidFill>
                  <a:srgbClr val="000000"/>
                </a:solidFill>
                <a:round/>
                <a:headEnd/>
                <a:tailEnd/>
              </a:ln>
            </p:spPr>
            <p:txBody>
              <a:bodyPr lIns="0" tIns="28800" rIns="0" bIns="0"/>
              <a:lstStyle/>
              <a:p>
                <a:pPr algn="ctr" eaLnBrk="0" hangingPunct="0"/>
                <a:r>
                  <a:rPr lang="zh-CN" altLang="en-US">
                    <a:solidFill>
                      <a:srgbClr val="000000"/>
                    </a:solidFill>
                    <a:latin typeface="仿宋_GB2312" pitchFamily="49" charset="-122"/>
                    <a:ea typeface="仿宋_GB2312" pitchFamily="49" charset="-122"/>
                  </a:rPr>
                  <a:t>条带</a:t>
                </a:r>
                <a:r>
                  <a:rPr lang="en-US" altLang="zh-CN">
                    <a:solidFill>
                      <a:srgbClr val="000000"/>
                    </a:solidFill>
                    <a:latin typeface="仿宋_GB2312" pitchFamily="49" charset="-122"/>
                    <a:ea typeface="仿宋_GB2312" pitchFamily="49" charset="-122"/>
                  </a:rPr>
                  <a:t>3</a:t>
                </a:r>
              </a:p>
            </p:txBody>
          </p:sp>
          <p:sp>
            <p:nvSpPr>
              <p:cNvPr id="117805" name="Oval 53"/>
              <p:cNvSpPr>
                <a:spLocks noChangeArrowheads="1"/>
              </p:cNvSpPr>
              <p:nvPr/>
            </p:nvSpPr>
            <p:spPr bwMode="auto">
              <a:xfrm>
                <a:off x="7539" y="5758"/>
                <a:ext cx="680" cy="125"/>
              </a:xfrm>
              <a:prstGeom prst="ellipse">
                <a:avLst/>
              </a:prstGeom>
              <a:solidFill>
                <a:srgbClr val="B2B2B2"/>
              </a:solidFill>
              <a:ln w="12700">
                <a:solidFill>
                  <a:srgbClr val="000000"/>
                </a:solidFill>
                <a:round/>
                <a:headEnd/>
                <a:tailEnd/>
              </a:ln>
            </p:spPr>
            <p:txBody>
              <a:bodyPr/>
              <a:lstStyle/>
              <a:p>
                <a:endParaRPr lang="zh-CN" altLang="en-US"/>
              </a:p>
            </p:txBody>
          </p:sp>
        </p:grpSp>
        <p:sp>
          <p:nvSpPr>
            <p:cNvPr id="117770" name="Rectangle 54"/>
            <p:cNvSpPr>
              <a:spLocks noChangeArrowheads="1"/>
            </p:cNvSpPr>
            <p:nvPr/>
          </p:nvSpPr>
          <p:spPr bwMode="auto">
            <a:xfrm>
              <a:off x="5229" y="5447"/>
              <a:ext cx="840" cy="272"/>
            </a:xfrm>
            <a:prstGeom prst="rect">
              <a:avLst/>
            </a:prstGeom>
            <a:noFill/>
            <a:ln w="9525">
              <a:noFill/>
              <a:miter lim="800000"/>
              <a:headEnd/>
              <a:tailEnd/>
            </a:ln>
          </p:spPr>
          <p:txBody>
            <a:bodyPr lIns="0" tIns="0" rIns="0" bIns="0"/>
            <a:lstStyle/>
            <a:p>
              <a:pPr algn="ctr" eaLnBrk="0" hangingPunct="0"/>
              <a:r>
                <a:rPr lang="zh-CN" altLang="en-US">
                  <a:solidFill>
                    <a:srgbClr val="000000"/>
                  </a:solidFill>
                  <a:latin typeface="仿宋_GB2312" pitchFamily="49" charset="-122"/>
                  <a:ea typeface="仿宋_GB2312" pitchFamily="49" charset="-122"/>
                </a:rPr>
                <a:t>物理磁盘</a:t>
              </a:r>
              <a:r>
                <a:rPr lang="en-US" altLang="zh-CN">
                  <a:solidFill>
                    <a:srgbClr val="000000"/>
                  </a:solidFill>
                  <a:latin typeface="仿宋_GB2312" pitchFamily="49" charset="-122"/>
                  <a:ea typeface="仿宋_GB2312" pitchFamily="49" charset="-122"/>
                </a:rPr>
                <a:t>1</a:t>
              </a:r>
            </a:p>
          </p:txBody>
        </p:sp>
        <p:sp>
          <p:nvSpPr>
            <p:cNvPr id="117771" name="Rectangle 55"/>
            <p:cNvSpPr>
              <a:spLocks noChangeArrowheads="1"/>
            </p:cNvSpPr>
            <p:nvPr/>
          </p:nvSpPr>
          <p:spPr bwMode="auto">
            <a:xfrm>
              <a:off x="6594" y="5447"/>
              <a:ext cx="840" cy="272"/>
            </a:xfrm>
            <a:prstGeom prst="rect">
              <a:avLst/>
            </a:prstGeom>
            <a:noFill/>
            <a:ln w="9525">
              <a:noFill/>
              <a:miter lim="800000"/>
              <a:headEnd/>
              <a:tailEnd/>
            </a:ln>
          </p:spPr>
          <p:txBody>
            <a:bodyPr lIns="0" tIns="0" rIns="0" bIns="0"/>
            <a:lstStyle/>
            <a:p>
              <a:pPr algn="ctr" eaLnBrk="0" hangingPunct="0"/>
              <a:r>
                <a:rPr lang="zh-CN" altLang="en-US">
                  <a:solidFill>
                    <a:srgbClr val="000000"/>
                  </a:solidFill>
                  <a:latin typeface="仿宋_GB2312" pitchFamily="49" charset="-122"/>
                  <a:ea typeface="仿宋_GB2312" pitchFamily="49" charset="-122"/>
                </a:rPr>
                <a:t>物理磁盘</a:t>
              </a:r>
              <a:r>
                <a:rPr lang="en-US" altLang="zh-CN">
                  <a:solidFill>
                    <a:srgbClr val="000000"/>
                  </a:solidFill>
                  <a:latin typeface="仿宋_GB2312" pitchFamily="49" charset="-122"/>
                  <a:ea typeface="仿宋_GB2312" pitchFamily="49" charset="-122"/>
                </a:rPr>
                <a:t>2</a:t>
              </a:r>
            </a:p>
          </p:txBody>
        </p:sp>
        <p:sp>
          <p:nvSpPr>
            <p:cNvPr id="117772" name="Rectangle 56"/>
            <p:cNvSpPr>
              <a:spLocks noChangeArrowheads="1"/>
            </p:cNvSpPr>
            <p:nvPr/>
          </p:nvSpPr>
          <p:spPr bwMode="auto">
            <a:xfrm>
              <a:off x="7959" y="5447"/>
              <a:ext cx="840" cy="272"/>
            </a:xfrm>
            <a:prstGeom prst="rect">
              <a:avLst/>
            </a:prstGeom>
            <a:noFill/>
            <a:ln w="9525">
              <a:noFill/>
              <a:miter lim="800000"/>
              <a:headEnd/>
              <a:tailEnd/>
            </a:ln>
          </p:spPr>
          <p:txBody>
            <a:bodyPr lIns="0" tIns="0" rIns="0" bIns="0"/>
            <a:lstStyle/>
            <a:p>
              <a:pPr algn="ctr" eaLnBrk="0" hangingPunct="0"/>
              <a:r>
                <a:rPr lang="zh-CN" altLang="en-US">
                  <a:solidFill>
                    <a:srgbClr val="000000"/>
                  </a:solidFill>
                  <a:latin typeface="仿宋_GB2312" pitchFamily="49" charset="-122"/>
                  <a:ea typeface="仿宋_GB2312" pitchFamily="49" charset="-122"/>
                </a:rPr>
                <a:t>物理磁盘</a:t>
              </a:r>
              <a:r>
                <a:rPr lang="en-US" altLang="zh-CN">
                  <a:solidFill>
                    <a:srgbClr val="000000"/>
                  </a:solidFill>
                  <a:latin typeface="仿宋_GB2312" pitchFamily="49" charset="-122"/>
                  <a:ea typeface="仿宋_GB2312" pitchFamily="49" charset="-122"/>
                </a:rPr>
                <a:t>3</a:t>
              </a:r>
            </a:p>
          </p:txBody>
        </p:sp>
        <p:sp>
          <p:nvSpPr>
            <p:cNvPr id="117773" name="Rectangle 57"/>
            <p:cNvSpPr>
              <a:spLocks noChangeArrowheads="1"/>
            </p:cNvSpPr>
            <p:nvPr/>
          </p:nvSpPr>
          <p:spPr bwMode="auto">
            <a:xfrm>
              <a:off x="1764" y="5447"/>
              <a:ext cx="840" cy="272"/>
            </a:xfrm>
            <a:prstGeom prst="rect">
              <a:avLst/>
            </a:prstGeom>
            <a:noFill/>
            <a:ln w="9525">
              <a:noFill/>
              <a:miter lim="800000"/>
              <a:headEnd/>
              <a:tailEnd/>
            </a:ln>
          </p:spPr>
          <p:txBody>
            <a:bodyPr lIns="0" tIns="0" rIns="0" bIns="0"/>
            <a:lstStyle/>
            <a:p>
              <a:pPr algn="ctr" eaLnBrk="0" hangingPunct="0"/>
              <a:r>
                <a:rPr lang="zh-CN" altLang="en-US">
                  <a:solidFill>
                    <a:srgbClr val="000000"/>
                  </a:solidFill>
                  <a:latin typeface="仿宋_GB2312" pitchFamily="49" charset="-122"/>
                  <a:ea typeface="仿宋_GB2312" pitchFamily="49" charset="-122"/>
                </a:rPr>
                <a:t>逻辑磁盘</a:t>
              </a:r>
            </a:p>
          </p:txBody>
        </p:sp>
        <p:sp>
          <p:nvSpPr>
            <p:cNvPr id="117774" name="Rectangle 58"/>
            <p:cNvSpPr>
              <a:spLocks noChangeArrowheads="1"/>
            </p:cNvSpPr>
            <p:nvPr/>
          </p:nvSpPr>
          <p:spPr bwMode="auto">
            <a:xfrm>
              <a:off x="3444" y="7654"/>
              <a:ext cx="1050" cy="815"/>
            </a:xfrm>
            <a:prstGeom prst="rect">
              <a:avLst/>
            </a:prstGeom>
            <a:solidFill>
              <a:srgbClr val="DDDDDD"/>
            </a:solidFill>
            <a:ln w="9525">
              <a:solidFill>
                <a:srgbClr val="000000"/>
              </a:solidFill>
              <a:miter lim="800000"/>
              <a:headEnd/>
              <a:tailEnd/>
            </a:ln>
          </p:spPr>
          <p:txBody>
            <a:bodyPr tIns="100800"/>
            <a:lstStyle/>
            <a:p>
              <a:pPr algn="ctr" eaLnBrk="0" hangingPunct="0"/>
              <a:r>
                <a:rPr lang="zh-CN" altLang="en-US">
                  <a:solidFill>
                    <a:srgbClr val="000000"/>
                  </a:solidFill>
                  <a:latin typeface="仿宋_GB2312" pitchFamily="49" charset="-122"/>
                  <a:ea typeface="仿宋_GB2312" pitchFamily="49" charset="-122"/>
                </a:rPr>
                <a:t>磁盘阵列</a:t>
              </a:r>
            </a:p>
            <a:p>
              <a:pPr algn="ctr" eaLnBrk="0" hangingPunct="0"/>
              <a:r>
                <a:rPr lang="zh-CN" altLang="en-US">
                  <a:solidFill>
                    <a:srgbClr val="000000"/>
                  </a:solidFill>
                  <a:latin typeface="仿宋_GB2312" pitchFamily="49" charset="-122"/>
                  <a:ea typeface="仿宋_GB2312" pitchFamily="49" charset="-122"/>
                </a:rPr>
                <a:t>管理软件</a:t>
              </a:r>
            </a:p>
          </p:txBody>
        </p:sp>
        <p:grpSp>
          <p:nvGrpSpPr>
            <p:cNvPr id="8" name="Group 59"/>
            <p:cNvGrpSpPr>
              <a:grpSpLocks/>
            </p:cNvGrpSpPr>
            <p:nvPr/>
          </p:nvGrpSpPr>
          <p:grpSpPr bwMode="auto">
            <a:xfrm>
              <a:off x="2514" y="5960"/>
              <a:ext cx="5526" cy="2346"/>
              <a:chOff x="2514" y="5960"/>
              <a:chExt cx="5526" cy="2346"/>
            </a:xfrm>
          </p:grpSpPr>
          <p:sp>
            <p:nvSpPr>
              <p:cNvPr id="117776" name="Line 60"/>
              <p:cNvSpPr>
                <a:spLocks noChangeShapeType="1"/>
              </p:cNvSpPr>
              <p:nvPr/>
            </p:nvSpPr>
            <p:spPr bwMode="auto">
              <a:xfrm>
                <a:off x="2514" y="5964"/>
                <a:ext cx="735" cy="0"/>
              </a:xfrm>
              <a:prstGeom prst="line">
                <a:avLst/>
              </a:prstGeom>
              <a:noFill/>
              <a:ln w="15875">
                <a:solidFill>
                  <a:srgbClr val="000000"/>
                </a:solidFill>
                <a:prstDash val="sysDot"/>
                <a:round/>
                <a:headEnd/>
                <a:tailEnd/>
              </a:ln>
            </p:spPr>
            <p:txBody>
              <a:bodyPr/>
              <a:lstStyle/>
              <a:p>
                <a:endParaRPr lang="zh-CN" altLang="en-US"/>
              </a:p>
            </p:txBody>
          </p:sp>
          <p:sp>
            <p:nvSpPr>
              <p:cNvPr id="117777" name="Line 61"/>
              <p:cNvSpPr>
                <a:spLocks noChangeShapeType="1"/>
              </p:cNvSpPr>
              <p:nvPr/>
            </p:nvSpPr>
            <p:spPr bwMode="auto">
              <a:xfrm>
                <a:off x="3234" y="5968"/>
                <a:ext cx="0" cy="1843"/>
              </a:xfrm>
              <a:prstGeom prst="line">
                <a:avLst/>
              </a:prstGeom>
              <a:noFill/>
              <a:ln w="15875">
                <a:solidFill>
                  <a:srgbClr val="000000"/>
                </a:solidFill>
                <a:prstDash val="sysDot"/>
                <a:round/>
                <a:headEnd/>
                <a:tailEnd/>
              </a:ln>
            </p:spPr>
            <p:txBody>
              <a:bodyPr/>
              <a:lstStyle/>
              <a:p>
                <a:endParaRPr lang="zh-CN" altLang="en-US"/>
              </a:p>
            </p:txBody>
          </p:sp>
          <p:sp>
            <p:nvSpPr>
              <p:cNvPr id="117778" name="Line 62"/>
              <p:cNvSpPr>
                <a:spLocks noChangeShapeType="1"/>
              </p:cNvSpPr>
              <p:nvPr/>
            </p:nvSpPr>
            <p:spPr bwMode="auto">
              <a:xfrm>
                <a:off x="2530" y="6218"/>
                <a:ext cx="533" cy="0"/>
              </a:xfrm>
              <a:prstGeom prst="line">
                <a:avLst/>
              </a:prstGeom>
              <a:noFill/>
              <a:ln w="15875">
                <a:solidFill>
                  <a:srgbClr val="000000"/>
                </a:solidFill>
                <a:prstDash val="sysDot"/>
                <a:round/>
                <a:headEnd/>
                <a:tailEnd/>
              </a:ln>
            </p:spPr>
            <p:txBody>
              <a:bodyPr/>
              <a:lstStyle/>
              <a:p>
                <a:endParaRPr lang="zh-CN" altLang="en-US"/>
              </a:p>
            </p:txBody>
          </p:sp>
          <p:sp>
            <p:nvSpPr>
              <p:cNvPr id="117779" name="Line 63"/>
              <p:cNvSpPr>
                <a:spLocks noChangeShapeType="1"/>
              </p:cNvSpPr>
              <p:nvPr/>
            </p:nvSpPr>
            <p:spPr bwMode="auto">
              <a:xfrm>
                <a:off x="2530" y="6473"/>
                <a:ext cx="357" cy="0"/>
              </a:xfrm>
              <a:prstGeom prst="line">
                <a:avLst/>
              </a:prstGeom>
              <a:noFill/>
              <a:ln w="15875">
                <a:solidFill>
                  <a:srgbClr val="000000"/>
                </a:solidFill>
                <a:prstDash val="sysDot"/>
                <a:round/>
                <a:headEnd/>
                <a:tailEnd/>
              </a:ln>
            </p:spPr>
            <p:txBody>
              <a:bodyPr/>
              <a:lstStyle/>
              <a:p>
                <a:endParaRPr lang="zh-CN" altLang="en-US"/>
              </a:p>
            </p:txBody>
          </p:sp>
          <p:sp>
            <p:nvSpPr>
              <p:cNvPr id="117780" name="Line 64"/>
              <p:cNvSpPr>
                <a:spLocks noChangeShapeType="1"/>
              </p:cNvSpPr>
              <p:nvPr/>
            </p:nvSpPr>
            <p:spPr bwMode="auto">
              <a:xfrm>
                <a:off x="2530" y="6728"/>
                <a:ext cx="176" cy="0"/>
              </a:xfrm>
              <a:prstGeom prst="line">
                <a:avLst/>
              </a:prstGeom>
              <a:noFill/>
              <a:ln w="15875">
                <a:solidFill>
                  <a:srgbClr val="000000"/>
                </a:solidFill>
                <a:prstDash val="sysDot"/>
                <a:round/>
                <a:headEnd/>
                <a:tailEnd/>
              </a:ln>
            </p:spPr>
            <p:txBody>
              <a:bodyPr/>
              <a:lstStyle/>
              <a:p>
                <a:endParaRPr lang="zh-CN" altLang="en-US"/>
              </a:p>
            </p:txBody>
          </p:sp>
          <p:sp>
            <p:nvSpPr>
              <p:cNvPr id="117781" name="Line 65"/>
              <p:cNvSpPr>
                <a:spLocks noChangeShapeType="1"/>
              </p:cNvSpPr>
              <p:nvPr/>
            </p:nvSpPr>
            <p:spPr bwMode="auto">
              <a:xfrm>
                <a:off x="3234" y="7817"/>
                <a:ext cx="210" cy="0"/>
              </a:xfrm>
              <a:prstGeom prst="line">
                <a:avLst/>
              </a:prstGeom>
              <a:noFill/>
              <a:ln w="15875">
                <a:solidFill>
                  <a:srgbClr val="000000"/>
                </a:solidFill>
                <a:prstDash val="sysDot"/>
                <a:round/>
                <a:headEnd/>
                <a:tailEnd/>
              </a:ln>
            </p:spPr>
            <p:txBody>
              <a:bodyPr/>
              <a:lstStyle/>
              <a:p>
                <a:endParaRPr lang="zh-CN" altLang="en-US"/>
              </a:p>
            </p:txBody>
          </p:sp>
          <p:sp>
            <p:nvSpPr>
              <p:cNvPr id="117782" name="Line 66"/>
              <p:cNvSpPr>
                <a:spLocks noChangeShapeType="1"/>
              </p:cNvSpPr>
              <p:nvPr/>
            </p:nvSpPr>
            <p:spPr bwMode="auto">
              <a:xfrm>
                <a:off x="3056" y="7980"/>
                <a:ext cx="380" cy="0"/>
              </a:xfrm>
              <a:prstGeom prst="line">
                <a:avLst/>
              </a:prstGeom>
              <a:noFill/>
              <a:ln w="15875">
                <a:solidFill>
                  <a:srgbClr val="000000"/>
                </a:solidFill>
                <a:prstDash val="sysDot"/>
                <a:round/>
                <a:headEnd/>
                <a:tailEnd/>
              </a:ln>
            </p:spPr>
            <p:txBody>
              <a:bodyPr/>
              <a:lstStyle/>
              <a:p>
                <a:endParaRPr lang="zh-CN" altLang="en-US"/>
              </a:p>
            </p:txBody>
          </p:sp>
          <p:sp>
            <p:nvSpPr>
              <p:cNvPr id="117783" name="Line 67"/>
              <p:cNvSpPr>
                <a:spLocks noChangeShapeType="1"/>
              </p:cNvSpPr>
              <p:nvPr/>
            </p:nvSpPr>
            <p:spPr bwMode="auto">
              <a:xfrm>
                <a:off x="2887" y="8143"/>
                <a:ext cx="556" cy="0"/>
              </a:xfrm>
              <a:prstGeom prst="line">
                <a:avLst/>
              </a:prstGeom>
              <a:noFill/>
              <a:ln w="15875">
                <a:solidFill>
                  <a:srgbClr val="000000"/>
                </a:solidFill>
                <a:prstDash val="sysDot"/>
                <a:round/>
                <a:headEnd/>
                <a:tailEnd/>
              </a:ln>
            </p:spPr>
            <p:txBody>
              <a:bodyPr/>
              <a:lstStyle/>
              <a:p>
                <a:endParaRPr lang="zh-CN" altLang="en-US"/>
              </a:p>
            </p:txBody>
          </p:sp>
          <p:sp>
            <p:nvSpPr>
              <p:cNvPr id="117784" name="Line 68"/>
              <p:cNvSpPr>
                <a:spLocks noChangeShapeType="1"/>
              </p:cNvSpPr>
              <p:nvPr/>
            </p:nvSpPr>
            <p:spPr bwMode="auto">
              <a:xfrm>
                <a:off x="2709" y="8306"/>
                <a:ext cx="735" cy="0"/>
              </a:xfrm>
              <a:prstGeom prst="line">
                <a:avLst/>
              </a:prstGeom>
              <a:noFill/>
              <a:ln w="15875">
                <a:solidFill>
                  <a:srgbClr val="000000"/>
                </a:solidFill>
                <a:prstDash val="sysDot"/>
                <a:round/>
                <a:headEnd/>
                <a:tailEnd/>
              </a:ln>
            </p:spPr>
            <p:txBody>
              <a:bodyPr/>
              <a:lstStyle/>
              <a:p>
                <a:endParaRPr lang="zh-CN" altLang="en-US"/>
              </a:p>
            </p:txBody>
          </p:sp>
          <p:sp>
            <p:nvSpPr>
              <p:cNvPr id="117785" name="Line 69"/>
              <p:cNvSpPr>
                <a:spLocks noChangeShapeType="1"/>
              </p:cNvSpPr>
              <p:nvPr/>
            </p:nvSpPr>
            <p:spPr bwMode="auto">
              <a:xfrm>
                <a:off x="3059" y="6232"/>
                <a:ext cx="0" cy="1748"/>
              </a:xfrm>
              <a:prstGeom prst="line">
                <a:avLst/>
              </a:prstGeom>
              <a:noFill/>
              <a:ln w="15875">
                <a:solidFill>
                  <a:srgbClr val="000000"/>
                </a:solidFill>
                <a:prstDash val="sysDot"/>
                <a:round/>
                <a:headEnd/>
                <a:tailEnd/>
              </a:ln>
            </p:spPr>
            <p:txBody>
              <a:bodyPr/>
              <a:lstStyle/>
              <a:p>
                <a:endParaRPr lang="zh-CN" altLang="en-US"/>
              </a:p>
            </p:txBody>
          </p:sp>
          <p:sp>
            <p:nvSpPr>
              <p:cNvPr id="117786" name="Line 70"/>
              <p:cNvSpPr>
                <a:spLocks noChangeShapeType="1"/>
              </p:cNvSpPr>
              <p:nvPr/>
            </p:nvSpPr>
            <p:spPr bwMode="auto">
              <a:xfrm>
                <a:off x="2884" y="6473"/>
                <a:ext cx="0" cy="1670"/>
              </a:xfrm>
              <a:prstGeom prst="line">
                <a:avLst/>
              </a:prstGeom>
              <a:noFill/>
              <a:ln w="15875">
                <a:solidFill>
                  <a:srgbClr val="000000"/>
                </a:solidFill>
                <a:prstDash val="sysDot"/>
                <a:round/>
                <a:headEnd/>
                <a:tailEnd/>
              </a:ln>
            </p:spPr>
            <p:txBody>
              <a:bodyPr/>
              <a:lstStyle/>
              <a:p>
                <a:endParaRPr lang="zh-CN" altLang="en-US"/>
              </a:p>
            </p:txBody>
          </p:sp>
          <p:sp>
            <p:nvSpPr>
              <p:cNvPr id="117787" name="Line 71"/>
              <p:cNvSpPr>
                <a:spLocks noChangeShapeType="1"/>
              </p:cNvSpPr>
              <p:nvPr/>
            </p:nvSpPr>
            <p:spPr bwMode="auto">
              <a:xfrm>
                <a:off x="2709" y="6724"/>
                <a:ext cx="0" cy="1582"/>
              </a:xfrm>
              <a:prstGeom prst="line">
                <a:avLst/>
              </a:prstGeom>
              <a:noFill/>
              <a:ln w="15875">
                <a:solidFill>
                  <a:srgbClr val="000000"/>
                </a:solidFill>
                <a:prstDash val="sysDot"/>
                <a:round/>
                <a:headEnd/>
                <a:tailEnd/>
              </a:ln>
            </p:spPr>
            <p:txBody>
              <a:bodyPr/>
              <a:lstStyle/>
              <a:p>
                <a:endParaRPr lang="zh-CN" altLang="en-US"/>
              </a:p>
            </p:txBody>
          </p:sp>
          <p:sp>
            <p:nvSpPr>
              <p:cNvPr id="117788" name="Line 72"/>
              <p:cNvSpPr>
                <a:spLocks noChangeShapeType="1"/>
              </p:cNvSpPr>
              <p:nvPr/>
            </p:nvSpPr>
            <p:spPr bwMode="auto">
              <a:xfrm>
                <a:off x="4494" y="7817"/>
                <a:ext cx="315" cy="0"/>
              </a:xfrm>
              <a:prstGeom prst="line">
                <a:avLst/>
              </a:prstGeom>
              <a:noFill/>
              <a:ln w="15875">
                <a:solidFill>
                  <a:srgbClr val="000000"/>
                </a:solidFill>
                <a:prstDash val="sysDot"/>
                <a:round/>
                <a:headEnd/>
                <a:tailEnd/>
              </a:ln>
            </p:spPr>
            <p:txBody>
              <a:bodyPr/>
              <a:lstStyle/>
              <a:p>
                <a:endParaRPr lang="zh-CN" altLang="en-US"/>
              </a:p>
            </p:txBody>
          </p:sp>
          <p:sp>
            <p:nvSpPr>
              <p:cNvPr id="117789" name="Line 73"/>
              <p:cNvSpPr>
                <a:spLocks noChangeShapeType="1"/>
              </p:cNvSpPr>
              <p:nvPr/>
            </p:nvSpPr>
            <p:spPr bwMode="auto">
              <a:xfrm>
                <a:off x="4494" y="7980"/>
                <a:ext cx="630" cy="0"/>
              </a:xfrm>
              <a:prstGeom prst="line">
                <a:avLst/>
              </a:prstGeom>
              <a:noFill/>
              <a:ln w="15875">
                <a:solidFill>
                  <a:srgbClr val="000000"/>
                </a:solidFill>
                <a:prstDash val="sysDot"/>
                <a:round/>
                <a:headEnd/>
                <a:tailEnd/>
              </a:ln>
            </p:spPr>
            <p:txBody>
              <a:bodyPr/>
              <a:lstStyle/>
              <a:p>
                <a:endParaRPr lang="zh-CN" altLang="en-US"/>
              </a:p>
            </p:txBody>
          </p:sp>
          <p:sp>
            <p:nvSpPr>
              <p:cNvPr id="117790" name="Line 74"/>
              <p:cNvSpPr>
                <a:spLocks noChangeShapeType="1"/>
              </p:cNvSpPr>
              <p:nvPr/>
            </p:nvSpPr>
            <p:spPr bwMode="auto">
              <a:xfrm>
                <a:off x="4494" y="8143"/>
                <a:ext cx="1995" cy="0"/>
              </a:xfrm>
              <a:prstGeom prst="line">
                <a:avLst/>
              </a:prstGeom>
              <a:noFill/>
              <a:ln w="15875">
                <a:solidFill>
                  <a:srgbClr val="000000"/>
                </a:solidFill>
                <a:prstDash val="sysDot"/>
                <a:round/>
                <a:headEnd/>
                <a:tailEnd/>
              </a:ln>
            </p:spPr>
            <p:txBody>
              <a:bodyPr/>
              <a:lstStyle/>
              <a:p>
                <a:endParaRPr lang="zh-CN" altLang="en-US"/>
              </a:p>
            </p:txBody>
          </p:sp>
          <p:sp>
            <p:nvSpPr>
              <p:cNvPr id="117791" name="Line 75"/>
              <p:cNvSpPr>
                <a:spLocks noChangeShapeType="1"/>
              </p:cNvSpPr>
              <p:nvPr/>
            </p:nvSpPr>
            <p:spPr bwMode="auto">
              <a:xfrm>
                <a:off x="4494" y="8306"/>
                <a:ext cx="3360" cy="0"/>
              </a:xfrm>
              <a:prstGeom prst="line">
                <a:avLst/>
              </a:prstGeom>
              <a:noFill/>
              <a:ln w="15875">
                <a:solidFill>
                  <a:srgbClr val="000000"/>
                </a:solidFill>
                <a:prstDash val="sysDot"/>
                <a:round/>
                <a:headEnd/>
                <a:tailEnd/>
              </a:ln>
            </p:spPr>
            <p:txBody>
              <a:bodyPr/>
              <a:lstStyle/>
              <a:p>
                <a:endParaRPr lang="zh-CN" altLang="en-US"/>
              </a:p>
            </p:txBody>
          </p:sp>
          <p:sp>
            <p:nvSpPr>
              <p:cNvPr id="117792" name="Line 76"/>
              <p:cNvSpPr>
                <a:spLocks noChangeShapeType="1"/>
              </p:cNvSpPr>
              <p:nvPr/>
            </p:nvSpPr>
            <p:spPr bwMode="auto">
              <a:xfrm>
                <a:off x="4599" y="5964"/>
                <a:ext cx="210" cy="0"/>
              </a:xfrm>
              <a:prstGeom prst="line">
                <a:avLst/>
              </a:prstGeom>
              <a:noFill/>
              <a:ln w="15875">
                <a:solidFill>
                  <a:srgbClr val="000000"/>
                </a:solidFill>
                <a:prstDash val="sysDot"/>
                <a:round/>
                <a:headEnd/>
                <a:tailEnd/>
              </a:ln>
            </p:spPr>
            <p:txBody>
              <a:bodyPr/>
              <a:lstStyle/>
              <a:p>
                <a:endParaRPr lang="zh-CN" altLang="en-US"/>
              </a:p>
            </p:txBody>
          </p:sp>
          <p:sp>
            <p:nvSpPr>
              <p:cNvPr id="117793" name="Line 77"/>
              <p:cNvSpPr>
                <a:spLocks noChangeShapeType="1"/>
              </p:cNvSpPr>
              <p:nvPr/>
            </p:nvSpPr>
            <p:spPr bwMode="auto">
              <a:xfrm>
                <a:off x="6489" y="5964"/>
                <a:ext cx="210" cy="0"/>
              </a:xfrm>
              <a:prstGeom prst="line">
                <a:avLst/>
              </a:prstGeom>
              <a:noFill/>
              <a:ln w="15875">
                <a:solidFill>
                  <a:srgbClr val="000000"/>
                </a:solidFill>
                <a:prstDash val="sysDot"/>
                <a:round/>
                <a:headEnd/>
                <a:tailEnd/>
              </a:ln>
            </p:spPr>
            <p:txBody>
              <a:bodyPr/>
              <a:lstStyle/>
              <a:p>
                <a:endParaRPr lang="zh-CN" altLang="en-US"/>
              </a:p>
            </p:txBody>
          </p:sp>
          <p:sp>
            <p:nvSpPr>
              <p:cNvPr id="117794" name="Line 78"/>
              <p:cNvSpPr>
                <a:spLocks noChangeShapeType="1"/>
              </p:cNvSpPr>
              <p:nvPr/>
            </p:nvSpPr>
            <p:spPr bwMode="auto">
              <a:xfrm>
                <a:off x="7854" y="5964"/>
                <a:ext cx="186" cy="0"/>
              </a:xfrm>
              <a:prstGeom prst="line">
                <a:avLst/>
              </a:prstGeom>
              <a:noFill/>
              <a:ln w="15875">
                <a:solidFill>
                  <a:srgbClr val="000000"/>
                </a:solidFill>
                <a:prstDash val="sysDot"/>
                <a:round/>
                <a:headEnd/>
                <a:tailEnd/>
              </a:ln>
            </p:spPr>
            <p:txBody>
              <a:bodyPr/>
              <a:lstStyle/>
              <a:p>
                <a:endParaRPr lang="zh-CN" altLang="en-US"/>
              </a:p>
            </p:txBody>
          </p:sp>
          <p:sp>
            <p:nvSpPr>
              <p:cNvPr id="117795" name="Line 79"/>
              <p:cNvSpPr>
                <a:spLocks noChangeShapeType="1"/>
              </p:cNvSpPr>
              <p:nvPr/>
            </p:nvSpPr>
            <p:spPr bwMode="auto">
              <a:xfrm>
                <a:off x="5124" y="5964"/>
                <a:ext cx="210" cy="0"/>
              </a:xfrm>
              <a:prstGeom prst="line">
                <a:avLst/>
              </a:prstGeom>
              <a:noFill/>
              <a:ln w="15875">
                <a:solidFill>
                  <a:srgbClr val="000000"/>
                </a:solidFill>
                <a:prstDash val="sysDot"/>
                <a:round/>
                <a:headEnd/>
                <a:tailEnd/>
              </a:ln>
            </p:spPr>
            <p:txBody>
              <a:bodyPr/>
              <a:lstStyle/>
              <a:p>
                <a:endParaRPr lang="zh-CN" altLang="en-US"/>
              </a:p>
            </p:txBody>
          </p:sp>
          <p:sp>
            <p:nvSpPr>
              <p:cNvPr id="117796" name="Line 80"/>
              <p:cNvSpPr>
                <a:spLocks noChangeShapeType="1"/>
              </p:cNvSpPr>
              <p:nvPr/>
            </p:nvSpPr>
            <p:spPr bwMode="auto">
              <a:xfrm>
                <a:off x="4809" y="5976"/>
                <a:ext cx="0" cy="1843"/>
              </a:xfrm>
              <a:prstGeom prst="line">
                <a:avLst/>
              </a:prstGeom>
              <a:noFill/>
              <a:ln w="15875">
                <a:solidFill>
                  <a:srgbClr val="000000"/>
                </a:solidFill>
                <a:prstDash val="sysDot"/>
                <a:round/>
                <a:headEnd/>
                <a:tailEnd/>
              </a:ln>
            </p:spPr>
            <p:txBody>
              <a:bodyPr/>
              <a:lstStyle/>
              <a:p>
                <a:endParaRPr lang="zh-CN" altLang="en-US"/>
              </a:p>
            </p:txBody>
          </p:sp>
          <p:sp>
            <p:nvSpPr>
              <p:cNvPr id="117797" name="Line 81"/>
              <p:cNvSpPr>
                <a:spLocks noChangeShapeType="1"/>
              </p:cNvSpPr>
              <p:nvPr/>
            </p:nvSpPr>
            <p:spPr bwMode="auto">
              <a:xfrm>
                <a:off x="5124" y="5960"/>
                <a:ext cx="0" cy="2020"/>
              </a:xfrm>
              <a:prstGeom prst="line">
                <a:avLst/>
              </a:prstGeom>
              <a:noFill/>
              <a:ln w="15875">
                <a:solidFill>
                  <a:srgbClr val="000000"/>
                </a:solidFill>
                <a:prstDash val="sysDot"/>
                <a:round/>
                <a:headEnd/>
                <a:tailEnd/>
              </a:ln>
            </p:spPr>
            <p:txBody>
              <a:bodyPr/>
              <a:lstStyle/>
              <a:p>
                <a:endParaRPr lang="zh-CN" altLang="en-US"/>
              </a:p>
            </p:txBody>
          </p:sp>
          <p:sp>
            <p:nvSpPr>
              <p:cNvPr id="117798" name="Line 82"/>
              <p:cNvSpPr>
                <a:spLocks noChangeShapeType="1"/>
              </p:cNvSpPr>
              <p:nvPr/>
            </p:nvSpPr>
            <p:spPr bwMode="auto">
              <a:xfrm>
                <a:off x="6489" y="5960"/>
                <a:ext cx="0" cy="2183"/>
              </a:xfrm>
              <a:prstGeom prst="line">
                <a:avLst/>
              </a:prstGeom>
              <a:noFill/>
              <a:ln w="15875">
                <a:solidFill>
                  <a:srgbClr val="000000"/>
                </a:solidFill>
                <a:prstDash val="sysDot"/>
                <a:round/>
                <a:headEnd/>
                <a:tailEnd/>
              </a:ln>
            </p:spPr>
            <p:txBody>
              <a:bodyPr/>
              <a:lstStyle/>
              <a:p>
                <a:endParaRPr lang="zh-CN" altLang="en-US"/>
              </a:p>
            </p:txBody>
          </p:sp>
          <p:sp>
            <p:nvSpPr>
              <p:cNvPr id="117799" name="Line 83"/>
              <p:cNvSpPr>
                <a:spLocks noChangeShapeType="1"/>
              </p:cNvSpPr>
              <p:nvPr/>
            </p:nvSpPr>
            <p:spPr bwMode="auto">
              <a:xfrm>
                <a:off x="7854" y="5960"/>
                <a:ext cx="0" cy="2346"/>
              </a:xfrm>
              <a:prstGeom prst="line">
                <a:avLst/>
              </a:prstGeom>
              <a:noFill/>
              <a:ln w="15875">
                <a:solidFill>
                  <a:srgbClr val="000000"/>
                </a:solidFill>
                <a:prstDash val="sysDot"/>
                <a:round/>
                <a:headEnd/>
                <a:tailEnd/>
              </a:ln>
            </p:spPr>
            <p:txBody>
              <a:bodyPr/>
              <a:lstStyle/>
              <a:p>
                <a:endParaRPr lang="zh-CN" altLang="en-US"/>
              </a:p>
            </p:txBody>
          </p:sp>
        </p:gr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5" name="Rectangle 3"/>
          <p:cNvSpPr>
            <a:spLocks noGrp="1" noRot="1" noChangeArrowheads="1"/>
          </p:cNvSpPr>
          <p:nvPr>
            <p:ph type="body" idx="1"/>
          </p:nvPr>
        </p:nvSpPr>
        <p:spPr>
          <a:xfrm>
            <a:off x="461962" y="620713"/>
            <a:ext cx="8324880" cy="5951559"/>
          </a:xfrm>
        </p:spPr>
        <p:txBody>
          <a:bodyPr>
            <a:normAutofit/>
          </a:bodyPr>
          <a:lstStyle/>
          <a:p>
            <a:pPr lvl="1">
              <a:defRPr/>
            </a:pPr>
            <a:r>
              <a:rPr lang="zh-CN" altLang="en-US" sz="3200" b="1" dirty="0" smtClean="0"/>
              <a:t>如果磁盘阵列管理软件在主机系统中执行，则属软件实现的</a:t>
            </a:r>
            <a:r>
              <a:rPr lang="en-US" altLang="zh-CN" sz="3200" b="1" dirty="0" smtClean="0"/>
              <a:t>RAID</a:t>
            </a:r>
            <a:r>
              <a:rPr lang="zh-CN" altLang="en-US" sz="3200" b="1" dirty="0" smtClean="0"/>
              <a:t>；</a:t>
            </a:r>
          </a:p>
          <a:p>
            <a:pPr lvl="1">
              <a:defRPr/>
            </a:pPr>
            <a:r>
              <a:rPr lang="zh-CN" altLang="en-US" sz="3200" b="1" dirty="0" smtClean="0"/>
              <a:t>如果磁盘阵列管理软件在磁盘子系统中执行，则属硬件实现的</a:t>
            </a:r>
            <a:r>
              <a:rPr lang="en-US" altLang="zh-CN" sz="3200" b="1" dirty="0" smtClean="0"/>
              <a:t>RAID</a:t>
            </a:r>
            <a:r>
              <a:rPr lang="zh-CN" altLang="en-US" sz="3200" b="1" dirty="0" smtClean="0"/>
              <a:t>，相应的硬件称为</a:t>
            </a:r>
            <a:r>
              <a:rPr lang="en-US" altLang="zh-CN" sz="3200" b="1" dirty="0" smtClean="0"/>
              <a:t>RAID</a:t>
            </a:r>
            <a:r>
              <a:rPr lang="zh-CN" altLang="en-US" sz="3200" b="1" dirty="0" smtClean="0"/>
              <a:t>控制器或</a:t>
            </a:r>
            <a:r>
              <a:rPr lang="en-US" altLang="zh-CN" sz="3200" b="1" dirty="0" smtClean="0"/>
              <a:t>RAID</a:t>
            </a:r>
            <a:r>
              <a:rPr lang="zh-CN" altLang="en-US" sz="3200" b="1" dirty="0" smtClean="0"/>
              <a:t>卡。</a:t>
            </a:r>
          </a:p>
          <a:p>
            <a:pPr lvl="1">
              <a:defRPr/>
            </a:pPr>
            <a:endParaRPr lang="zh-CN" altLang="en-US" sz="3200" b="1" dirty="0" smtClean="0"/>
          </a:p>
          <a:p>
            <a:pPr lvl="1">
              <a:defRPr/>
            </a:pPr>
            <a:r>
              <a:rPr lang="zh-CN" altLang="en-US" sz="3200" b="1" dirty="0" smtClean="0"/>
              <a:t>采用</a:t>
            </a:r>
            <a:r>
              <a:rPr lang="en-US" altLang="zh-CN" sz="3200" b="1" dirty="0" smtClean="0"/>
              <a:t>RAID</a:t>
            </a:r>
            <a:r>
              <a:rPr lang="zh-CN" altLang="en-US" sz="3200" b="1" dirty="0" smtClean="0"/>
              <a:t>控制器方案的成本较高，但其效率高，不增加主机负担。此类</a:t>
            </a:r>
            <a:r>
              <a:rPr lang="en-US" altLang="zh-CN" sz="3200" b="1" dirty="0" smtClean="0"/>
              <a:t>RAID</a:t>
            </a:r>
            <a:r>
              <a:rPr lang="zh-CN" altLang="en-US" sz="3200" b="1" dirty="0" smtClean="0"/>
              <a:t>技术对主机完全透明，在主机看来，</a:t>
            </a:r>
            <a:r>
              <a:rPr lang="en-US" altLang="zh-CN" sz="3200" b="1" dirty="0" smtClean="0"/>
              <a:t>RAID</a:t>
            </a:r>
            <a:r>
              <a:rPr lang="zh-CN" altLang="en-US" sz="3200" b="1" dirty="0" smtClean="0"/>
              <a:t>就是一个容量大、速度快、可靠性高的磁盘。</a:t>
            </a:r>
          </a:p>
          <a:p>
            <a:pPr eaLnBrk="1" hangingPunct="1">
              <a:defRPr/>
            </a:pPr>
            <a:endParaRPr lang="en-US" altLang="zh-CN" dirty="0" smtClean="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971550" y="260350"/>
            <a:ext cx="4176713" cy="579438"/>
          </a:xfrm>
          <a:prstGeom prst="rect">
            <a:avLst/>
          </a:prstGeom>
          <a:noFill/>
          <a:ln w="9525">
            <a:noFill/>
            <a:miter lim="800000"/>
            <a:headEnd/>
            <a:tailEnd/>
          </a:ln>
        </p:spPr>
        <p:txBody>
          <a:bodyPr>
            <a:spAutoFit/>
          </a:bodyPr>
          <a:lstStyle/>
          <a:p>
            <a:r>
              <a:rPr kumimoji="1" lang="en-US" altLang="zh-CN" sz="3200">
                <a:solidFill>
                  <a:schemeClr val="folHlink"/>
                </a:solidFill>
                <a:latin typeface="Times New Roman" pitchFamily="18" charset="0"/>
              </a:rPr>
              <a:t>2. RAID</a:t>
            </a:r>
            <a:r>
              <a:rPr kumimoji="1" lang="zh-CN" altLang="en-US" sz="3200">
                <a:solidFill>
                  <a:schemeClr val="folHlink"/>
                </a:solidFill>
                <a:latin typeface="Times New Roman" pitchFamily="18" charset="0"/>
              </a:rPr>
              <a:t>的分级</a:t>
            </a:r>
          </a:p>
        </p:txBody>
      </p:sp>
      <p:sp>
        <p:nvSpPr>
          <p:cNvPr id="119811" name="Text Box 3"/>
          <p:cNvSpPr txBox="1">
            <a:spLocks noChangeArrowheads="1"/>
          </p:cNvSpPr>
          <p:nvPr/>
        </p:nvSpPr>
        <p:spPr bwMode="auto">
          <a:xfrm>
            <a:off x="539750" y="981075"/>
            <a:ext cx="8064500" cy="5451475"/>
          </a:xfrm>
          <a:prstGeom prst="rect">
            <a:avLst/>
          </a:prstGeom>
          <a:noFill/>
          <a:ln w="9525">
            <a:noFill/>
            <a:miter lim="800000"/>
            <a:headEnd/>
            <a:tailEnd/>
          </a:ln>
        </p:spPr>
        <p:txBody>
          <a:bodyPr>
            <a:spAutoFit/>
          </a:bodyPr>
          <a:lstStyle/>
          <a:p>
            <a:pPr marL="457200" indent="-457200">
              <a:lnSpc>
                <a:spcPct val="200000"/>
              </a:lnSpc>
              <a:buFontTx/>
              <a:buAutoNum type="arabicParenBoth"/>
            </a:pPr>
            <a:r>
              <a:rPr kumimoji="1" lang="en-US" altLang="zh-CN" sz="2800">
                <a:solidFill>
                  <a:schemeClr val="folHlink"/>
                </a:solidFill>
                <a:latin typeface="Times New Roman" pitchFamily="18" charset="0"/>
              </a:rPr>
              <a:t>RAID 0</a:t>
            </a:r>
            <a:r>
              <a:rPr kumimoji="1" lang="zh-CN" altLang="en-US" sz="2800">
                <a:solidFill>
                  <a:schemeClr val="folHlink"/>
                </a:solidFill>
                <a:latin typeface="Times New Roman" pitchFamily="18" charset="0"/>
              </a:rPr>
              <a:t>级：</a:t>
            </a:r>
            <a:r>
              <a:rPr kumimoji="1" lang="zh-CN" altLang="en-US" sz="2800">
                <a:solidFill>
                  <a:schemeClr val="folHlink"/>
                </a:solidFill>
              </a:rPr>
              <a:t>本级仅提供了并行交叉存取</a:t>
            </a:r>
            <a:r>
              <a:rPr kumimoji="1" lang="zh-CN" altLang="en-US" sz="2400"/>
              <a:t>。</a:t>
            </a:r>
          </a:p>
          <a:p>
            <a:pPr marL="457200" indent="-457200"/>
            <a:r>
              <a:rPr kumimoji="1" lang="zh-CN" altLang="en-US" sz="2400"/>
              <a:t>优点：虽能有效地提高磁盘</a:t>
            </a:r>
            <a:r>
              <a:rPr kumimoji="1" lang="en-US" altLang="zh-CN" sz="2400"/>
              <a:t>I/O </a:t>
            </a:r>
            <a:r>
              <a:rPr kumimoji="1" lang="zh-CN" altLang="en-US" sz="2400"/>
              <a:t>速度。</a:t>
            </a:r>
          </a:p>
          <a:p>
            <a:pPr marL="457200" indent="-457200"/>
            <a:r>
              <a:rPr kumimoji="1" lang="zh-CN" altLang="en-US" sz="2400"/>
              <a:t>缺点：并无冗余校验功能，致使磁盘系统的可靠性不好。只要阵列中有一个磁盘损坏，便会造成不可弥补的数据丢失，故较少使用。</a:t>
            </a:r>
            <a:endParaRPr kumimoji="1" lang="zh-CN" altLang="en-US" sz="2400">
              <a:latin typeface="Times New Roman" pitchFamily="18" charset="0"/>
            </a:endParaRPr>
          </a:p>
          <a:p>
            <a:pPr marL="457200" indent="-457200">
              <a:lnSpc>
                <a:spcPct val="200000"/>
              </a:lnSpc>
            </a:pPr>
            <a:r>
              <a:rPr kumimoji="1" lang="en-US" altLang="zh-CN" sz="2800">
                <a:solidFill>
                  <a:schemeClr val="folHlink"/>
                </a:solidFill>
                <a:latin typeface="Times New Roman" pitchFamily="18" charset="0"/>
              </a:rPr>
              <a:t>(2) RAID 1</a:t>
            </a:r>
            <a:r>
              <a:rPr kumimoji="1" lang="zh-CN" altLang="en-US" sz="2800">
                <a:solidFill>
                  <a:schemeClr val="folHlink"/>
                </a:solidFill>
                <a:latin typeface="Times New Roman" pitchFamily="18" charset="0"/>
              </a:rPr>
              <a:t>级：</a:t>
            </a:r>
            <a:r>
              <a:rPr kumimoji="1" lang="zh-CN" altLang="en-US" sz="2800">
                <a:solidFill>
                  <a:schemeClr val="folHlink"/>
                </a:solidFill>
              </a:rPr>
              <a:t>它具有磁盘镜像功能</a:t>
            </a:r>
          </a:p>
          <a:p>
            <a:pPr marL="457200" indent="-457200"/>
            <a:r>
              <a:rPr kumimoji="1" lang="zh-CN" altLang="en-US" sz="2400"/>
              <a:t>例如，当磁盘阵列中具有</a:t>
            </a:r>
            <a:r>
              <a:rPr kumimoji="1" lang="en-US" altLang="zh-CN" sz="2400"/>
              <a:t>8 </a:t>
            </a:r>
            <a:r>
              <a:rPr kumimoji="1" lang="zh-CN" altLang="en-US" sz="2400"/>
              <a:t>个盘时，可利用其中</a:t>
            </a:r>
            <a:r>
              <a:rPr kumimoji="1" lang="en-US" altLang="zh-CN" sz="2400"/>
              <a:t>4 </a:t>
            </a:r>
            <a:r>
              <a:rPr kumimoji="1" lang="zh-CN" altLang="en-US" sz="2400"/>
              <a:t>个作为数据盘，另外</a:t>
            </a:r>
            <a:r>
              <a:rPr kumimoji="1" lang="en-US" altLang="zh-CN" sz="2400"/>
              <a:t>4 </a:t>
            </a:r>
            <a:r>
              <a:rPr kumimoji="1" lang="zh-CN" altLang="en-US" sz="2400"/>
              <a:t>个作为镜像盘，在每次访问磁盘时，可利用并行读、写特性，将数据分块同时写入主盘和镜像盘。</a:t>
            </a:r>
          </a:p>
          <a:p>
            <a:pPr marL="457200" indent="-457200"/>
            <a:r>
              <a:rPr kumimoji="1" lang="zh-CN" altLang="en-US" sz="2400"/>
              <a:t>优点：比传统的镜像盘速度快，</a:t>
            </a:r>
          </a:p>
          <a:p>
            <a:pPr marL="457200" indent="-457200"/>
            <a:r>
              <a:rPr kumimoji="1" lang="zh-CN" altLang="en-US" sz="2400"/>
              <a:t>缺点：但其磁盘容量的利用率只有</a:t>
            </a:r>
            <a:r>
              <a:rPr kumimoji="1" lang="en-US" altLang="zh-CN" sz="2400"/>
              <a:t>50%</a:t>
            </a:r>
            <a:r>
              <a:rPr kumimoji="1" lang="zh-CN" altLang="en-US" sz="2400"/>
              <a:t>，它是以牺牲磁盘容量为代价的。</a:t>
            </a: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a:spLocks noGrp="1" noRot="1" noChangeArrowheads="1"/>
          </p:cNvSpPr>
          <p:nvPr>
            <p:ph type="body" idx="1"/>
          </p:nvPr>
        </p:nvSpPr>
        <p:spPr>
          <a:xfrm>
            <a:off x="533400" y="620713"/>
            <a:ext cx="8077200" cy="5688012"/>
          </a:xfrm>
        </p:spPr>
        <p:txBody>
          <a:bodyPr/>
          <a:lstStyle/>
          <a:p>
            <a:pPr eaLnBrk="1" hangingPunct="1">
              <a:lnSpc>
                <a:spcPct val="110000"/>
              </a:lnSpc>
            </a:pPr>
            <a:r>
              <a:rPr kumimoji="1" lang="en-US" altLang="zh-CN" b="1" smtClean="0">
                <a:solidFill>
                  <a:schemeClr val="folHlink"/>
                </a:solidFill>
              </a:rPr>
              <a:t>(3) RAID 3</a:t>
            </a:r>
            <a:r>
              <a:rPr kumimoji="1" lang="zh-CN" altLang="en-US" b="1" smtClean="0">
                <a:solidFill>
                  <a:schemeClr val="folHlink"/>
                </a:solidFill>
              </a:rPr>
              <a:t>级。这是具有并行传输功能的磁盘阵列。</a:t>
            </a:r>
          </a:p>
          <a:p>
            <a:pPr eaLnBrk="1" hangingPunct="1">
              <a:lnSpc>
                <a:spcPct val="110000"/>
              </a:lnSpc>
            </a:pPr>
            <a:r>
              <a:rPr kumimoji="1" lang="en-US" altLang="en-US" b="1" smtClean="0"/>
              <a:t>它利用一台奇偶校验盘来完成数据的校验功能，比起磁盘镜像，它减少了所需要的冗余磁盘数。</a:t>
            </a:r>
            <a:endParaRPr kumimoji="1" lang="zh-CN" altLang="en-US" b="1" smtClean="0"/>
          </a:p>
          <a:p>
            <a:pPr eaLnBrk="1" hangingPunct="1">
              <a:lnSpc>
                <a:spcPct val="110000"/>
              </a:lnSpc>
            </a:pPr>
            <a:r>
              <a:rPr kumimoji="1" lang="en-US" altLang="en-US" b="1" smtClean="0"/>
              <a:t>例如，当阵列中只有7 个盘时，可利用6 个盘作数据盘，一个盘作校验盘。</a:t>
            </a:r>
            <a:endParaRPr kumimoji="1" lang="zh-CN" altLang="en-US" b="1" smtClean="0"/>
          </a:p>
          <a:p>
            <a:pPr eaLnBrk="1" hangingPunct="1">
              <a:lnSpc>
                <a:spcPct val="110000"/>
              </a:lnSpc>
            </a:pPr>
            <a:r>
              <a:rPr kumimoji="1" lang="en-US" altLang="zh-CN" b="1" smtClean="0"/>
              <a:t>RAID 3</a:t>
            </a:r>
            <a:r>
              <a:rPr kumimoji="1" lang="zh-CN" altLang="en-US" b="1" smtClean="0"/>
              <a:t>级经常用于科学计算和图像处理。</a:t>
            </a:r>
          </a:p>
          <a:p>
            <a:pPr eaLnBrk="1" hangingPunct="1">
              <a:lnSpc>
                <a:spcPct val="110000"/>
              </a:lnSpc>
            </a:pPr>
            <a:r>
              <a:rPr kumimoji="1" lang="zh-CN" altLang="en-US" b="1" smtClean="0"/>
              <a:t>优点：将磁盘的利用率提高为</a:t>
            </a:r>
            <a:r>
              <a:rPr kumimoji="1" lang="en-US" altLang="zh-CN" b="1" smtClean="0"/>
              <a:t>6/7</a:t>
            </a:r>
            <a:r>
              <a:rPr kumimoji="1" lang="zh-CN" altLang="en-US" b="1" smtClean="0"/>
              <a:t>。</a:t>
            </a:r>
          </a:p>
          <a:p>
            <a:pPr eaLnBrk="1" hangingPunct="1">
              <a:lnSpc>
                <a:spcPct val="110000"/>
              </a:lnSpc>
            </a:pPr>
            <a:endParaRPr kumimoji="1" lang="zh-CN" altLang="en-US" b="1" smtClean="0"/>
          </a:p>
          <a:p>
            <a:pPr eaLnBrk="1" hangingPunct="1">
              <a:lnSpc>
                <a:spcPct val="110000"/>
              </a:lnSpc>
            </a:pPr>
            <a:endParaRPr kumimoji="1" lang="en-US" altLang="zh-CN" b="1" smtClean="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Rot="1" noChangeArrowheads="1"/>
          </p:cNvSpPr>
          <p:nvPr>
            <p:ph type="body" idx="1"/>
          </p:nvPr>
        </p:nvSpPr>
        <p:spPr>
          <a:xfrm>
            <a:off x="533400" y="908050"/>
            <a:ext cx="8077200" cy="4498975"/>
          </a:xfrm>
        </p:spPr>
        <p:txBody>
          <a:bodyPr/>
          <a:lstStyle/>
          <a:p>
            <a:pPr eaLnBrk="1" hangingPunct="1">
              <a:lnSpc>
                <a:spcPct val="110000"/>
              </a:lnSpc>
            </a:pPr>
            <a:r>
              <a:rPr kumimoji="1" lang="en-US" altLang="zh-CN" b="1" smtClean="0">
                <a:solidFill>
                  <a:schemeClr val="folHlink"/>
                </a:solidFill>
              </a:rPr>
              <a:t>(4) RAID 5</a:t>
            </a:r>
            <a:r>
              <a:rPr kumimoji="1" lang="zh-CN" altLang="en-US" b="1" smtClean="0">
                <a:solidFill>
                  <a:schemeClr val="folHlink"/>
                </a:solidFill>
              </a:rPr>
              <a:t>级。这是具有并行传输功能的磁盘阵列。</a:t>
            </a:r>
          </a:p>
          <a:p>
            <a:pPr eaLnBrk="1" hangingPunct="1">
              <a:lnSpc>
                <a:spcPct val="110000"/>
              </a:lnSpc>
            </a:pPr>
            <a:r>
              <a:rPr kumimoji="1" lang="zh-CN" altLang="en-US" b="1" smtClean="0"/>
              <a:t>每个驱动器都各有自己独立的数据通路，独立地进行读</a:t>
            </a:r>
            <a:r>
              <a:rPr kumimoji="1" lang="en-US" altLang="zh-CN" b="1" smtClean="0"/>
              <a:t>/</a:t>
            </a:r>
            <a:r>
              <a:rPr kumimoji="1" lang="zh-CN" altLang="en-US" b="1" smtClean="0"/>
              <a:t>写，且无专门的校验盘。用来进行纠错的校验信息，是以螺旋</a:t>
            </a:r>
            <a:r>
              <a:rPr kumimoji="1" lang="en-US" altLang="zh-CN" b="1" smtClean="0"/>
              <a:t>(Spiral)</a:t>
            </a:r>
            <a:r>
              <a:rPr kumimoji="1" lang="zh-CN" altLang="en-US" b="1" smtClean="0"/>
              <a:t>方式散布在所有数据盘上。</a:t>
            </a:r>
          </a:p>
          <a:p>
            <a:pPr eaLnBrk="1" hangingPunct="1">
              <a:lnSpc>
                <a:spcPct val="110000"/>
              </a:lnSpc>
            </a:pPr>
            <a:r>
              <a:rPr kumimoji="1" lang="en-US" altLang="zh-CN" b="1" smtClean="0"/>
              <a:t>RAID 5</a:t>
            </a:r>
            <a:r>
              <a:rPr kumimoji="1" lang="zh-CN" altLang="en-US" b="1" smtClean="0"/>
              <a:t>级常用于</a:t>
            </a:r>
            <a:r>
              <a:rPr kumimoji="1" lang="en-US" altLang="zh-CN" b="1" smtClean="0"/>
              <a:t>I/O </a:t>
            </a:r>
            <a:r>
              <a:rPr kumimoji="1" lang="zh-CN" altLang="en-US" b="1" smtClean="0"/>
              <a:t>较频繁的事务处理中。</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Grp="1" noRot="1" noChangeArrowheads="1"/>
          </p:cNvSpPr>
          <p:nvPr>
            <p:ph type="body" idx="1"/>
          </p:nvPr>
        </p:nvSpPr>
        <p:spPr>
          <a:xfrm>
            <a:off x="533400" y="981075"/>
            <a:ext cx="8077200" cy="5400675"/>
          </a:xfrm>
        </p:spPr>
        <p:txBody>
          <a:bodyPr/>
          <a:lstStyle/>
          <a:p>
            <a:pPr eaLnBrk="1" hangingPunct="1">
              <a:lnSpc>
                <a:spcPct val="110000"/>
              </a:lnSpc>
            </a:pPr>
            <a:r>
              <a:rPr kumimoji="1" lang="en-US" altLang="zh-CN" sz="2800" b="1" smtClean="0">
                <a:solidFill>
                  <a:schemeClr val="folHlink"/>
                </a:solidFill>
              </a:rPr>
              <a:t>(5) RAID 6</a:t>
            </a:r>
            <a:r>
              <a:rPr kumimoji="1" lang="zh-CN" altLang="en-US" sz="2800" b="1" smtClean="0">
                <a:solidFill>
                  <a:schemeClr val="folHlink"/>
                </a:solidFill>
              </a:rPr>
              <a:t>级和</a:t>
            </a:r>
            <a:r>
              <a:rPr kumimoji="1" lang="en-US" altLang="zh-CN" sz="2800" b="1" smtClean="0">
                <a:solidFill>
                  <a:schemeClr val="folHlink"/>
                </a:solidFill>
              </a:rPr>
              <a:t>RAID 7</a:t>
            </a:r>
            <a:r>
              <a:rPr kumimoji="1" lang="zh-CN" altLang="en-US" sz="2800" b="1" smtClean="0">
                <a:solidFill>
                  <a:schemeClr val="folHlink"/>
                </a:solidFill>
              </a:rPr>
              <a:t>级。 这是强化了的</a:t>
            </a:r>
            <a:r>
              <a:rPr kumimoji="1" lang="en-US" altLang="zh-CN" sz="2800" b="1" smtClean="0">
                <a:solidFill>
                  <a:schemeClr val="folHlink"/>
                </a:solidFill>
              </a:rPr>
              <a:t>RAID</a:t>
            </a:r>
            <a:r>
              <a:rPr kumimoji="1" lang="zh-CN" altLang="en-US" sz="2800" b="1" smtClean="0">
                <a:solidFill>
                  <a:schemeClr val="folHlink"/>
                </a:solidFill>
              </a:rPr>
              <a:t>。在</a:t>
            </a:r>
            <a:r>
              <a:rPr kumimoji="1" lang="en-US" altLang="zh-CN" sz="2800" b="1" smtClean="0">
                <a:solidFill>
                  <a:schemeClr val="folHlink"/>
                </a:solidFill>
              </a:rPr>
              <a:t>RAID 6</a:t>
            </a:r>
            <a:r>
              <a:rPr kumimoji="1" lang="zh-CN" altLang="en-US" sz="2800" b="1" smtClean="0">
                <a:solidFill>
                  <a:schemeClr val="folHlink"/>
                </a:solidFill>
              </a:rPr>
              <a:t>级的阵列中，设置了一个专用的、可快速访问的异步校验盘。</a:t>
            </a:r>
          </a:p>
          <a:p>
            <a:pPr eaLnBrk="1" hangingPunct="1">
              <a:lnSpc>
                <a:spcPct val="110000"/>
              </a:lnSpc>
            </a:pPr>
            <a:r>
              <a:rPr kumimoji="1" lang="zh-CN" altLang="en-US" sz="2800" b="1" smtClean="0"/>
              <a:t>该盘具有独立的数据访问通路，具有比</a:t>
            </a:r>
            <a:r>
              <a:rPr kumimoji="1" lang="en-US" altLang="zh-CN" sz="2800" b="1" smtClean="0"/>
              <a:t>RAID 3 </a:t>
            </a:r>
            <a:r>
              <a:rPr kumimoji="1" lang="zh-CN" altLang="en-US" sz="2800" b="1" smtClean="0"/>
              <a:t>级及</a:t>
            </a:r>
            <a:r>
              <a:rPr kumimoji="1" lang="en-US" altLang="zh-CN" sz="2800" b="1" smtClean="0"/>
              <a:t>RAID 5 </a:t>
            </a:r>
            <a:r>
              <a:rPr kumimoji="1" lang="zh-CN" altLang="en-US" sz="2800" b="1" smtClean="0"/>
              <a:t>级更好的性能，但其性能改进得很有限，且价格昂贵。</a:t>
            </a:r>
          </a:p>
          <a:p>
            <a:pPr eaLnBrk="1" hangingPunct="1">
              <a:lnSpc>
                <a:spcPct val="110000"/>
              </a:lnSpc>
            </a:pPr>
            <a:r>
              <a:rPr kumimoji="1" lang="en-US" altLang="zh-CN" sz="2800" b="1" smtClean="0"/>
              <a:t>RAID 7 </a:t>
            </a:r>
            <a:r>
              <a:rPr kumimoji="1" lang="zh-CN" altLang="en-US" sz="2800" b="1" smtClean="0"/>
              <a:t>级是对</a:t>
            </a:r>
            <a:r>
              <a:rPr kumimoji="1" lang="en-US" altLang="zh-CN" sz="2800" b="1" smtClean="0"/>
              <a:t>RAID 6 </a:t>
            </a:r>
            <a:r>
              <a:rPr kumimoji="1" lang="zh-CN" altLang="en-US" sz="2800" b="1" smtClean="0"/>
              <a:t>级的改进，在该阵列中的所有磁盘，都具有较高的传输速率和优异的性能，是目前最高档次的磁盘阵列，但其价格也较高。</a:t>
            </a:r>
          </a:p>
          <a:p>
            <a:pPr eaLnBrk="1" hangingPunct="1">
              <a:lnSpc>
                <a:spcPct val="110000"/>
              </a:lnSpc>
            </a:pPr>
            <a:endParaRPr lang="zh-CN" altLang="en-US" sz="2800" b="1" smtClean="0"/>
          </a:p>
          <a:p>
            <a:pPr eaLnBrk="1" hangingPunct="1">
              <a:lnSpc>
                <a:spcPct val="110000"/>
              </a:lnSpc>
            </a:pPr>
            <a:endParaRPr lang="en-US" altLang="zh-CN" sz="2800" b="1" smtClean="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lstStyle/>
          <a:p>
            <a:r>
              <a:rPr lang="en-US" altLang="zh-CN" dirty="0" smtClean="0"/>
              <a:t>11</a:t>
            </a:r>
            <a:r>
              <a:rPr lang="zh-CN" altLang="en-US" dirty="0" smtClean="0"/>
              <a:t>，</a:t>
            </a:r>
            <a:r>
              <a:rPr lang="en-US" altLang="zh-CN" dirty="0" smtClean="0"/>
              <a:t>12</a:t>
            </a:r>
            <a:r>
              <a:rPr lang="zh-CN" altLang="en-US" dirty="0" smtClean="0"/>
              <a:t>，</a:t>
            </a:r>
            <a:r>
              <a:rPr lang="en-US" altLang="zh-CN" dirty="0" smtClean="0"/>
              <a:t>14</a:t>
            </a:r>
            <a:r>
              <a:rPr lang="zh-CN" altLang="en-US" dirty="0" smtClean="0"/>
              <a:t>，</a:t>
            </a:r>
            <a:r>
              <a:rPr lang="en-US" altLang="zh-CN" dirty="0" smtClean="0"/>
              <a:t>15</a:t>
            </a:r>
            <a:r>
              <a:rPr lang="zh-CN" altLang="en-US" dirty="0" smtClean="0"/>
              <a:t>，</a:t>
            </a:r>
            <a:r>
              <a:rPr lang="en-US" altLang="zh-CN" dirty="0" smtClean="0"/>
              <a:t>16</a:t>
            </a:r>
            <a:endParaRPr lang="zh-CN" alt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1393</TotalTime>
  <Words>6063</Words>
  <Application>Microsoft Office PowerPoint</Application>
  <PresentationFormat>全屏显示(4:3)</PresentationFormat>
  <Paragraphs>580</Paragraphs>
  <Slides>82</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82</vt:i4>
      </vt:variant>
    </vt:vector>
  </HeadingPairs>
  <TitlesOfParts>
    <vt:vector size="100" baseType="lpstr">
      <vt:lpstr>等线</vt:lpstr>
      <vt:lpstr>仿宋_GB2312</vt:lpstr>
      <vt:lpstr>黑体</vt:lpstr>
      <vt:lpstr>华文楷体</vt:lpstr>
      <vt:lpstr>楷体_GB2312</vt:lpstr>
      <vt:lpstr>隶书</vt:lpstr>
      <vt:lpstr>宋体</vt:lpstr>
      <vt:lpstr>Arial</vt:lpstr>
      <vt:lpstr>Cambria</vt:lpstr>
      <vt:lpstr>Maiandra GD</vt:lpstr>
      <vt:lpstr>Times New Roman</vt:lpstr>
      <vt:lpstr>Wingdings</vt:lpstr>
      <vt:lpstr>Wingdings 2</vt:lpstr>
      <vt:lpstr>龙腾四海</vt:lpstr>
      <vt:lpstr>Visio.Drawing.11</vt:lpstr>
      <vt:lpstr>剪辑</vt:lpstr>
      <vt:lpstr>位图图像</vt:lpstr>
      <vt:lpstr>VISIO</vt:lpstr>
      <vt:lpstr> 第八章 磁盘存储器的管理 </vt:lpstr>
      <vt:lpstr>文件存储空间分配的有关问题 </vt:lpstr>
      <vt:lpstr>8.1 外存的组织方式 </vt:lpstr>
      <vt:lpstr>8.1.1.连续分配 </vt:lpstr>
      <vt:lpstr>连续分配 </vt:lpstr>
      <vt:lpstr>PowerPoint 演示文稿</vt:lpstr>
      <vt:lpstr>PowerPoint 演示文稿</vt:lpstr>
      <vt:lpstr>连续分配存在的问题</vt:lpstr>
      <vt:lpstr>PowerPoint 演示文稿</vt:lpstr>
      <vt:lpstr>8.1.2.链接组织方式</vt:lpstr>
      <vt:lpstr>PowerPoint 演示文稿</vt:lpstr>
      <vt:lpstr>PowerPoint 演示文稿</vt:lpstr>
      <vt:lpstr>PowerPoint 演示文稿</vt:lpstr>
      <vt:lpstr>PowerPoint 演示文稿</vt:lpstr>
      <vt:lpstr>PowerPoint 演示文稿</vt:lpstr>
      <vt:lpstr>8.1.3. 索引组织方式</vt:lpstr>
      <vt:lpstr>PowerPoint 演示文稿</vt:lpstr>
      <vt:lpstr>PowerPoint 演示文稿</vt:lpstr>
      <vt:lpstr>PowerPoint 演示文稿</vt:lpstr>
      <vt:lpstr>PowerPoint 演示文稿</vt:lpstr>
      <vt:lpstr>PowerPoint 演示文稿</vt:lpstr>
      <vt:lpstr>两级索引分配</vt:lpstr>
      <vt:lpstr>PowerPoint 演示文稿</vt:lpstr>
      <vt:lpstr>PowerPoint 演示文稿</vt:lpstr>
      <vt:lpstr>3. 增量式索引分配</vt:lpstr>
      <vt:lpstr>混合索引方式</vt:lpstr>
      <vt:lpstr>8.1.4 FAT文件系统、NTFS文件系统</vt:lpstr>
      <vt:lpstr>PowerPoint 演示文稿</vt:lpstr>
      <vt:lpstr>FAT12、FAT16</vt:lpstr>
      <vt:lpstr>问题</vt:lpstr>
      <vt:lpstr>FAT32</vt:lpstr>
      <vt:lpstr>对比</vt:lpstr>
      <vt:lpstr>8.1.4 NTFS的文件组织方式</vt:lpstr>
      <vt:lpstr>NTFS文件系统特征</vt:lpstr>
      <vt:lpstr>作业</vt:lpstr>
      <vt:lpstr>8.2 文件存储空间的管理</vt:lpstr>
      <vt:lpstr>PowerPoint 演示文稿</vt:lpstr>
      <vt:lpstr>1.空闲分区表 </vt:lpstr>
      <vt:lpstr>1.空闲分区表</vt:lpstr>
      <vt:lpstr>1.空闲分区表</vt:lpstr>
      <vt:lpstr>1.空闲分区表</vt:lpstr>
      <vt:lpstr>2. 空闲链表法 </vt:lpstr>
      <vt:lpstr>1）空闲盘块链</vt:lpstr>
      <vt:lpstr>2) 空闲盘区链</vt:lpstr>
      <vt:lpstr>2) 空闲盘区链</vt:lpstr>
      <vt:lpstr>2) 空闲盘区链:  问题</vt:lpstr>
      <vt:lpstr>3）.位示图</vt:lpstr>
      <vt:lpstr>3）.位示图</vt:lpstr>
      <vt:lpstr>（2）盘块的分配</vt:lpstr>
      <vt:lpstr>（3）．盘块的回收</vt:lpstr>
      <vt:lpstr>位示图 优点</vt:lpstr>
      <vt:lpstr>位示图 缺点</vt:lpstr>
      <vt:lpstr>PowerPoint 演示文稿</vt:lpstr>
      <vt:lpstr>PowerPoint 演示文稿</vt:lpstr>
      <vt:lpstr>PowerPoint 演示文稿</vt:lpstr>
      <vt:lpstr>PowerPoint 演示文稿</vt:lpstr>
      <vt:lpstr>PowerPoint 演示文稿</vt:lpstr>
      <vt:lpstr>8.3 提高磁盘I/O速度的途径</vt:lpstr>
      <vt:lpstr>Disk Cache 工作原理</vt:lpstr>
      <vt:lpstr>1）磁盘高速缓存的实现形式</vt:lpstr>
      <vt:lpstr>2）数据交付方式</vt:lpstr>
      <vt:lpstr>3）置换算法</vt:lpstr>
      <vt:lpstr>4）周期性地写回磁盘</vt:lpstr>
      <vt:lpstr>5）磁盘高速缓存的特点</vt:lpstr>
      <vt:lpstr>PowerPoint 演示文稿</vt:lpstr>
      <vt:lpstr>1 ).提前读(Read-Ahead)</vt:lpstr>
      <vt:lpstr>2).延迟写</vt:lpstr>
      <vt:lpstr>2).延迟写</vt:lpstr>
      <vt:lpstr>3).优化物理块的分布 </vt:lpstr>
      <vt:lpstr>PowerPoint 演示文稿</vt:lpstr>
      <vt:lpstr>4）虚拟盘</vt:lpstr>
      <vt:lpstr>8.3.3 廉价磁盘冗余阵列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dc:title>
  <dc:creator>User</dc:creator>
  <cp:lastModifiedBy>Uestc</cp:lastModifiedBy>
  <cp:revision>16</cp:revision>
  <dcterms:created xsi:type="dcterms:W3CDTF">2015-06-10T04:57:59Z</dcterms:created>
  <dcterms:modified xsi:type="dcterms:W3CDTF">2021-04-21T07:43:28Z</dcterms:modified>
</cp:coreProperties>
</file>